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gif" ContentType="image/gif"/>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57" r:id="rId2"/>
    <p:sldId id="258" r:id="rId3"/>
    <p:sldId id="259" r:id="rId4"/>
    <p:sldId id="260" r:id="rId5"/>
    <p:sldId id="261" r:id="rId6"/>
    <p:sldId id="267" r:id="rId7"/>
    <p:sldId id="262" r:id="rId8"/>
    <p:sldId id="263" r:id="rId9"/>
    <p:sldId id="264" r:id="rId10"/>
    <p:sldId id="265" r:id="rId11"/>
    <p:sldId id="266" r:id="rId12"/>
    <p:sldId id="268"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2" d="100"/>
          <a:sy n="112" d="100"/>
        </p:scale>
        <p:origin x="-152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interSettings" Target="printerSettings/printerSettings1.bin"/><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B1D9BF-7A6B-2447-B955-CA641ABA54C7}" type="datetimeFigureOut">
              <a:rPr lang="en-US" smtClean="0"/>
              <a:t>9/24/15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4C504E-E251-6445-A103-2BEE4FAC2E8D}" type="slidenum">
              <a:rPr lang="en-US" smtClean="0"/>
              <a:t>‹#›</a:t>
            </a:fld>
            <a:endParaRPr lang="en-US"/>
          </a:p>
        </p:txBody>
      </p:sp>
    </p:spTree>
    <p:extLst>
      <p:ext uri="{BB962C8B-B14F-4D97-AF65-F5344CB8AC3E}">
        <p14:creationId xmlns:p14="http://schemas.microsoft.com/office/powerpoint/2010/main" val="34455613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pPr>
              <a:defRPr/>
            </a:pPr>
            <a:fld id="{0C123297-CA6C-48F9-94E3-71CDB3C52E89}" type="slidenum">
              <a:rPr lang="en-US" smtClean="0">
                <a:solidFill>
                  <a:prstClr val="black"/>
                </a:solidFill>
              </a:rPr>
              <a:pPr>
                <a:defRPr/>
              </a:pPr>
              <a:t>1</a:t>
            </a:fld>
            <a:endParaRPr lang="en-US" dirty="0">
              <a:solidFill>
                <a:prstClr val="black"/>
              </a:solidFill>
            </a:endParaRPr>
          </a:p>
        </p:txBody>
      </p:sp>
    </p:spTree>
    <p:extLst>
      <p:ext uri="{BB962C8B-B14F-4D97-AF65-F5344CB8AC3E}">
        <p14:creationId xmlns:p14="http://schemas.microsoft.com/office/powerpoint/2010/main" val="691534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Text Box 18"/>
          <p:cNvSpPr txBox="1">
            <a:spLocks noChangeArrowheads="1"/>
          </p:cNvSpPr>
          <p:nvPr/>
        </p:nvSpPr>
        <p:spPr bwMode="auto">
          <a:xfrm>
            <a:off x="8739188" y="214313"/>
            <a:ext cx="74612" cy="214312"/>
          </a:xfrm>
          <a:prstGeom prst="rect">
            <a:avLst/>
          </a:prstGeom>
          <a:noFill/>
          <a:ln>
            <a:noFill/>
          </a:ln>
          <a:extLst/>
        </p:spPr>
        <p:txBody>
          <a:bodyPr wrap="none" lIns="0" rIns="0">
            <a:spAutoFit/>
          </a:bodyPr>
          <a:lstStyle>
            <a:lvl1pPr eaLnBrk="0" hangingPunct="0">
              <a:defRPr sz="1000" b="1">
                <a:solidFill>
                  <a:schemeClr val="tx1"/>
                </a:solidFill>
                <a:latin typeface="CG Times" charset="0"/>
                <a:ea typeface="MS PGothic" pitchFamily="34" charset="-128"/>
              </a:defRPr>
            </a:lvl1pPr>
            <a:lvl2pPr marL="742950" indent="-285750" eaLnBrk="0" hangingPunct="0">
              <a:defRPr sz="1000" b="1">
                <a:solidFill>
                  <a:schemeClr val="tx1"/>
                </a:solidFill>
                <a:latin typeface="CG Times" charset="0"/>
                <a:ea typeface="MS PGothic" pitchFamily="34" charset="-128"/>
              </a:defRPr>
            </a:lvl2pPr>
            <a:lvl3pPr marL="1143000" indent="-228600" eaLnBrk="0" hangingPunct="0">
              <a:defRPr sz="1000" b="1">
                <a:solidFill>
                  <a:schemeClr val="tx1"/>
                </a:solidFill>
                <a:latin typeface="CG Times" charset="0"/>
                <a:ea typeface="MS PGothic" pitchFamily="34" charset="-128"/>
              </a:defRPr>
            </a:lvl3pPr>
            <a:lvl4pPr marL="1600200" indent="-228600" eaLnBrk="0" hangingPunct="0">
              <a:defRPr sz="1000" b="1">
                <a:solidFill>
                  <a:schemeClr val="tx1"/>
                </a:solidFill>
                <a:latin typeface="CG Times" charset="0"/>
                <a:ea typeface="MS PGothic" pitchFamily="34" charset="-128"/>
              </a:defRPr>
            </a:lvl4pPr>
            <a:lvl5pPr marL="2057400" indent="-228600" eaLnBrk="0" hangingPunct="0">
              <a:defRPr sz="1000" b="1">
                <a:solidFill>
                  <a:schemeClr val="tx1"/>
                </a:solidFill>
                <a:latin typeface="CG Times"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charset="0"/>
                <a:ea typeface="MS PGothic" pitchFamily="34" charset="-128"/>
              </a:defRPr>
            </a:lvl9pPr>
          </a:lstStyle>
          <a:p>
            <a:pPr defTabSz="914400" fontAlgn="base">
              <a:spcBef>
                <a:spcPct val="0"/>
              </a:spcBef>
              <a:spcAft>
                <a:spcPct val="0"/>
              </a:spcAft>
              <a:defRPr/>
            </a:pPr>
            <a:r>
              <a:rPr lang="en-US" sz="800" dirty="0" smtClean="0">
                <a:solidFill>
                  <a:srgbClr val="FFFFFF"/>
                </a:solidFill>
                <a:latin typeface="Arial" pitchFamily="34" charset="0"/>
              </a:rPr>
              <a:t>®</a:t>
            </a:r>
          </a:p>
        </p:txBody>
      </p:sp>
      <p:pic>
        <p:nvPicPr>
          <p:cNvPr id="5" name="Picture 10" descr="OGC header 20101220.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3875" name="Rectangle 3"/>
          <p:cNvSpPr>
            <a:spLocks noGrp="1" noChangeArrowheads="1"/>
          </p:cNvSpPr>
          <p:nvPr>
            <p:ph type="ctrTitle"/>
          </p:nvPr>
        </p:nvSpPr>
        <p:spPr>
          <a:xfrm>
            <a:off x="762000" y="3276600"/>
            <a:ext cx="7772400" cy="1143000"/>
          </a:xfrm>
        </p:spPr>
        <p:txBody>
          <a:bodyPr/>
          <a:lstStyle>
            <a:lvl1pPr>
              <a:defRPr sz="3200">
                <a:latin typeface="Arial Black" pitchFamily="34" charset="0"/>
              </a:defRPr>
            </a:lvl1pPr>
          </a:lstStyle>
          <a:p>
            <a:r>
              <a:rPr lang="en-US" dirty="0" smtClean="0"/>
              <a:t>Click to edit Master title style</a:t>
            </a:r>
            <a:endParaRPr lang="en-US" dirty="0"/>
          </a:p>
        </p:txBody>
      </p:sp>
      <p:sp>
        <p:nvSpPr>
          <p:cNvPr id="463876" name="Rectangle 4"/>
          <p:cNvSpPr>
            <a:spLocks noGrp="1" noChangeArrowheads="1"/>
          </p:cNvSpPr>
          <p:nvPr>
            <p:ph type="subTitle" idx="1"/>
          </p:nvPr>
        </p:nvSpPr>
        <p:spPr>
          <a:xfrm>
            <a:off x="1447800" y="4572000"/>
            <a:ext cx="6400800" cy="1371600"/>
          </a:xfrm>
        </p:spPr>
        <p:txBody>
          <a:bodyPr/>
          <a:lstStyle>
            <a:lvl1pPr marL="0" indent="0" algn="ctr">
              <a:buFontTx/>
              <a:buNone/>
              <a:defRPr sz="1800">
                <a:solidFill>
                  <a:srgbClr val="092E5C"/>
                </a:solidFill>
              </a:defRPr>
            </a:lvl1pPr>
          </a:lstStyle>
          <a:p>
            <a:r>
              <a:rPr lang="en-US" dirty="0" smtClean="0"/>
              <a:t>Click to edit Master subtitle style</a:t>
            </a:r>
            <a:endParaRPr lang="en-US" dirty="0"/>
          </a:p>
        </p:txBody>
      </p:sp>
      <p:sp>
        <p:nvSpPr>
          <p:cNvPr id="11" name="Rectangle 2"/>
          <p:cNvSpPr>
            <a:spLocks noGrp="1" noChangeArrowheads="1"/>
          </p:cNvSpPr>
          <p:nvPr>
            <p:ph type="ftr" sz="quarter" idx="10"/>
          </p:nvPr>
        </p:nvSpPr>
        <p:spPr>
          <a:xfrm>
            <a:off x="3009900" y="6400800"/>
            <a:ext cx="3276600" cy="304800"/>
          </a:xfrm>
        </p:spPr>
        <p:txBody>
          <a:bodyPr/>
          <a:lstStyle>
            <a:lvl1pPr>
              <a:defRPr>
                <a:effectLst>
                  <a:outerShdw blurRad="38100" dist="38100" dir="2700000" algn="tl">
                    <a:srgbClr val="C0C0C0"/>
                  </a:outerShdw>
                </a:effectLst>
              </a:defRPr>
            </a:lvl1pPr>
          </a:lstStyle>
          <a:p>
            <a:pPr>
              <a:defRPr/>
            </a:pPr>
            <a:r>
              <a:rPr lang="en-GB" smtClean="0"/>
              <a:t>5th, Workshop of OGC Hydro DWG, New York, 11-15 Aug 2014</a:t>
            </a:r>
            <a:endParaRPr lang="en-US" dirty="0"/>
          </a:p>
        </p:txBody>
      </p:sp>
      <p:pic>
        <p:nvPicPr>
          <p:cNvPr id="7" name="Picture 11" descr="Picture 7.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47650" y="6115050"/>
            <a:ext cx="13811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3781489"/>
      </p:ext>
    </p:extLst>
  </p:cSld>
  <p:clrMapOvr>
    <a:masterClrMapping/>
  </p:clrMapOvr>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xfrm>
            <a:off x="2667000" y="6553200"/>
            <a:ext cx="4495800" cy="228600"/>
          </a:xfrm>
          <a:ln/>
        </p:spPr>
        <p:txBody>
          <a:bodyPr/>
          <a:lstStyle>
            <a:lvl1pPr>
              <a:defRPr sz="900"/>
            </a:lvl1pPr>
          </a:lstStyle>
          <a:p>
            <a:r>
              <a:rPr lang="en-GB" altLang="en-US" kern="0" smtClean="0">
                <a:cs typeface="Arial" pitchFamily="34" charset="0"/>
              </a:rPr>
              <a:t>5th, Workshop of OGC Hydro DWG, New York, 11-15 Aug 2014</a:t>
            </a:r>
            <a:endParaRPr lang="en-US" altLang="en-US" kern="0" dirty="0" smtClean="0">
              <a:cs typeface="Arial" pitchFamily="34" charset="0"/>
            </a:endParaRPr>
          </a:p>
        </p:txBody>
      </p:sp>
      <p:sp>
        <p:nvSpPr>
          <p:cNvPr id="5" name="Rectangle 6"/>
          <p:cNvSpPr>
            <a:spLocks noGrp="1" noChangeArrowheads="1"/>
          </p:cNvSpPr>
          <p:nvPr>
            <p:ph type="sldNum" sz="quarter" idx="11"/>
          </p:nvPr>
        </p:nvSpPr>
        <p:spPr>
          <a:ln/>
        </p:spPr>
        <p:txBody>
          <a:bodyPr/>
          <a:lstStyle>
            <a:lvl1pPr>
              <a:defRPr/>
            </a:lvl1pPr>
          </a:lstStyle>
          <a:p>
            <a:pPr>
              <a:defRPr/>
            </a:pPr>
            <a:fld id="{3ED129D0-DFFA-44F8-BA3B-A4FAE77A70BA}" type="slidenum">
              <a:rPr lang="en-US"/>
              <a:pPr>
                <a:defRPr/>
              </a:pPr>
              <a:t>‹#›</a:t>
            </a:fld>
            <a:endParaRPr lang="en-US" dirty="0"/>
          </a:p>
        </p:txBody>
      </p:sp>
    </p:spTree>
    <p:extLst>
      <p:ext uri="{BB962C8B-B14F-4D97-AF65-F5344CB8AC3E}">
        <p14:creationId xmlns:p14="http://schemas.microsoft.com/office/powerpoint/2010/main" val="3243569442"/>
      </p:ext>
    </p:extLst>
  </p:cSld>
  <p:clrMapOvr>
    <a:masterClrMapping/>
  </p:clrMapOvr>
  <p:timing>
    <p:tnLst>
      <p:par>
        <p:cTn xmlns:p14="http://schemas.microsoft.com/office/powerpoint/2010/mai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GB" smtClean="0"/>
              <a:t>5th, Workshop of OGC Hydro DWG, New York, 11-15 Aug 2014</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314E36BA-EB45-43BA-8973-92FEFA06CE3A}" type="slidenum">
              <a:rPr lang="en-US"/>
              <a:pPr>
                <a:defRPr/>
              </a:pPr>
              <a:t>‹#›</a:t>
            </a:fld>
            <a:endParaRPr lang="en-US" dirty="0"/>
          </a:p>
        </p:txBody>
      </p:sp>
    </p:spTree>
    <p:extLst>
      <p:ext uri="{BB962C8B-B14F-4D97-AF65-F5344CB8AC3E}">
        <p14:creationId xmlns:p14="http://schemas.microsoft.com/office/powerpoint/2010/main" val="688526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460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13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GB" smtClean="0"/>
              <a:t>5th, Workshop of OGC Hydro DWG, New York, 11-15 Aug 2014</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51031678-7CCE-4001-AE80-C0DA3761CC30}" type="slidenum">
              <a:rPr lang="en-US"/>
              <a:pPr>
                <a:defRPr/>
              </a:pPr>
              <a:t>‹#›</a:t>
            </a:fld>
            <a:endParaRPr lang="en-US" dirty="0"/>
          </a:p>
        </p:txBody>
      </p:sp>
    </p:spTree>
    <p:extLst>
      <p:ext uri="{BB962C8B-B14F-4D97-AF65-F5344CB8AC3E}">
        <p14:creationId xmlns:p14="http://schemas.microsoft.com/office/powerpoint/2010/main" val="232108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GB" smtClean="0"/>
              <a:t>5th, Workshop of OGC Hydro DWG, New York, 11-15 Aug 2014</a:t>
            </a:r>
            <a:endParaRPr lang="en-US" dirty="0"/>
          </a:p>
        </p:txBody>
      </p:sp>
      <p:sp>
        <p:nvSpPr>
          <p:cNvPr id="8" name="Rectangle 6"/>
          <p:cNvSpPr>
            <a:spLocks noGrp="1" noChangeArrowheads="1"/>
          </p:cNvSpPr>
          <p:nvPr>
            <p:ph type="sldNum" sz="quarter" idx="11"/>
          </p:nvPr>
        </p:nvSpPr>
        <p:spPr>
          <a:ln/>
        </p:spPr>
        <p:txBody>
          <a:bodyPr/>
          <a:lstStyle>
            <a:lvl1pPr>
              <a:defRPr/>
            </a:lvl1pPr>
          </a:lstStyle>
          <a:p>
            <a:pPr>
              <a:defRPr/>
            </a:pPr>
            <a:fld id="{FB168557-3EC0-4E40-BD03-BD918E1CDD05}" type="slidenum">
              <a:rPr lang="en-US"/>
              <a:pPr>
                <a:defRPr/>
              </a:pPr>
              <a:t>‹#›</a:t>
            </a:fld>
            <a:endParaRPr lang="en-US" dirty="0"/>
          </a:p>
        </p:txBody>
      </p:sp>
    </p:spTree>
    <p:extLst>
      <p:ext uri="{BB962C8B-B14F-4D97-AF65-F5344CB8AC3E}">
        <p14:creationId xmlns:p14="http://schemas.microsoft.com/office/powerpoint/2010/main" val="459066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GB" smtClean="0"/>
              <a:t>5th, Workshop of OGC Hydro DWG, New York, 11-15 Aug 2014</a:t>
            </a:r>
            <a:endParaRPr lang="en-US" dirty="0"/>
          </a:p>
        </p:txBody>
      </p:sp>
      <p:sp>
        <p:nvSpPr>
          <p:cNvPr id="4" name="Rectangle 6"/>
          <p:cNvSpPr>
            <a:spLocks noGrp="1" noChangeArrowheads="1"/>
          </p:cNvSpPr>
          <p:nvPr>
            <p:ph type="sldNum" sz="quarter" idx="11"/>
          </p:nvPr>
        </p:nvSpPr>
        <p:spPr>
          <a:ln/>
        </p:spPr>
        <p:txBody>
          <a:bodyPr/>
          <a:lstStyle>
            <a:lvl1pPr>
              <a:defRPr/>
            </a:lvl1pPr>
          </a:lstStyle>
          <a:p>
            <a:pPr>
              <a:defRPr/>
            </a:pPr>
            <a:fld id="{15CCDBE2-DD47-41F3-8579-D8E533D95D6F}" type="slidenum">
              <a:rPr lang="en-US"/>
              <a:pPr>
                <a:defRPr/>
              </a:pPr>
              <a:t>‹#›</a:t>
            </a:fld>
            <a:endParaRPr lang="en-US" dirty="0"/>
          </a:p>
        </p:txBody>
      </p:sp>
    </p:spTree>
    <p:extLst>
      <p:ext uri="{BB962C8B-B14F-4D97-AF65-F5344CB8AC3E}">
        <p14:creationId xmlns:p14="http://schemas.microsoft.com/office/powerpoint/2010/main" val="1696119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GB" smtClean="0"/>
              <a:t>5th, Workshop of OGC Hydro DWG, New York, 11-15 Aug 2014</a:t>
            </a:r>
            <a:endParaRPr lang="en-US" dirty="0"/>
          </a:p>
        </p:txBody>
      </p:sp>
      <p:sp>
        <p:nvSpPr>
          <p:cNvPr id="3" name="Rectangle 6"/>
          <p:cNvSpPr>
            <a:spLocks noGrp="1" noChangeArrowheads="1"/>
          </p:cNvSpPr>
          <p:nvPr>
            <p:ph type="sldNum" sz="quarter" idx="11"/>
          </p:nvPr>
        </p:nvSpPr>
        <p:spPr>
          <a:ln/>
        </p:spPr>
        <p:txBody>
          <a:bodyPr/>
          <a:lstStyle>
            <a:lvl1pPr>
              <a:defRPr/>
            </a:lvl1pPr>
          </a:lstStyle>
          <a:p>
            <a:pPr>
              <a:defRPr/>
            </a:pPr>
            <a:fld id="{ED12E1BE-8CDA-4433-BFF1-BAA91AEA66D9}" type="slidenum">
              <a:rPr lang="en-US"/>
              <a:pPr>
                <a:defRPr/>
              </a:pPr>
              <a:t>‹#›</a:t>
            </a:fld>
            <a:endParaRPr lang="en-US" dirty="0"/>
          </a:p>
        </p:txBody>
      </p:sp>
    </p:spTree>
    <p:extLst>
      <p:ext uri="{BB962C8B-B14F-4D97-AF65-F5344CB8AC3E}">
        <p14:creationId xmlns:p14="http://schemas.microsoft.com/office/powerpoint/2010/main" val="2462902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GB" smtClean="0"/>
              <a:t>5th, Workshop of OGC Hydro DWG, New York, 11-15 Aug 2014</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9C38BDE7-1BD4-413C-B8BF-A4EA12E83AD7}" type="slidenum">
              <a:rPr lang="en-US"/>
              <a:pPr>
                <a:defRPr/>
              </a:pPr>
              <a:t>‹#›</a:t>
            </a:fld>
            <a:endParaRPr lang="en-US" dirty="0"/>
          </a:p>
        </p:txBody>
      </p:sp>
    </p:spTree>
    <p:extLst>
      <p:ext uri="{BB962C8B-B14F-4D97-AF65-F5344CB8AC3E}">
        <p14:creationId xmlns:p14="http://schemas.microsoft.com/office/powerpoint/2010/main" val="3365740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GB" smtClean="0"/>
              <a:t>5th, Workshop of OGC Hydro DWG, New York, 11-15 Aug 2014</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217C245E-A03E-4E42-9FEE-C11F743D1CCF}" type="slidenum">
              <a:rPr lang="en-US"/>
              <a:pPr>
                <a:defRPr/>
              </a:pPr>
              <a:t>‹#›</a:t>
            </a:fld>
            <a:endParaRPr lang="en-US" dirty="0"/>
          </a:p>
        </p:txBody>
      </p:sp>
    </p:spTree>
    <p:extLst>
      <p:ext uri="{BB962C8B-B14F-4D97-AF65-F5344CB8AC3E}">
        <p14:creationId xmlns:p14="http://schemas.microsoft.com/office/powerpoint/2010/main" val="2888330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GB" smtClean="0"/>
              <a:t>5th, Workshop of OGC Hydro DWG, New York, 11-15 Aug 2014</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39E16C38-7E66-41AF-931A-501F5F45D453}" type="slidenum">
              <a:rPr lang="en-US"/>
              <a:pPr>
                <a:defRPr/>
              </a:pPr>
              <a:t>‹#›</a:t>
            </a:fld>
            <a:endParaRPr lang="en-US" dirty="0"/>
          </a:p>
        </p:txBody>
      </p:sp>
    </p:spTree>
    <p:extLst>
      <p:ext uri="{BB962C8B-B14F-4D97-AF65-F5344CB8AC3E}">
        <p14:creationId xmlns:p14="http://schemas.microsoft.com/office/powerpoint/2010/main" val="1944589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5288" y="136525"/>
            <a:ext cx="2170112" cy="60340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31775" y="136525"/>
            <a:ext cx="6361113" cy="60340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GB" smtClean="0"/>
              <a:t>5th, Workshop of OGC Hydro DWG, New York, 11-15 Aug 2014</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7AD134C2-33D7-4F0D-85DC-CBD7B3525529}" type="slidenum">
              <a:rPr lang="en-US"/>
              <a:pPr>
                <a:defRPr/>
              </a:pPr>
              <a:t>‹#›</a:t>
            </a:fld>
            <a:endParaRPr lang="en-US" dirty="0"/>
          </a:p>
        </p:txBody>
      </p:sp>
    </p:spTree>
    <p:extLst>
      <p:ext uri="{BB962C8B-B14F-4D97-AF65-F5344CB8AC3E}">
        <p14:creationId xmlns:p14="http://schemas.microsoft.com/office/powerpoint/2010/main" val="197191258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5125" y="776288"/>
            <a:ext cx="845502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2850" name="Rectangle 2"/>
          <p:cNvSpPr>
            <a:spLocks noGrp="1" noChangeArrowheads="1"/>
          </p:cNvSpPr>
          <p:nvPr>
            <p:ph type="title"/>
          </p:nvPr>
        </p:nvSpPr>
        <p:spPr bwMode="auto">
          <a:xfrm>
            <a:off x="231775" y="136525"/>
            <a:ext cx="8683625"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Rectangle 3"/>
          <p:cNvSpPr>
            <a:spLocks noGrp="1" noChangeArrowheads="1"/>
          </p:cNvSpPr>
          <p:nvPr>
            <p:ph type="body" idx="1"/>
          </p:nvPr>
        </p:nvSpPr>
        <p:spPr bwMode="auto">
          <a:xfrm>
            <a:off x="346075" y="1279525"/>
            <a:ext cx="84582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sp>
        <p:nvSpPr>
          <p:cNvPr id="462852" name="Rectangle 4"/>
          <p:cNvSpPr>
            <a:spLocks noGrp="1" noChangeArrowheads="1"/>
          </p:cNvSpPr>
          <p:nvPr>
            <p:ph type="ftr" sz="quarter" idx="3"/>
          </p:nvPr>
        </p:nvSpPr>
        <p:spPr bwMode="auto">
          <a:xfrm>
            <a:off x="2973388" y="6515100"/>
            <a:ext cx="3579812"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900" b="0">
                <a:solidFill>
                  <a:srgbClr val="092E5C"/>
                </a:solidFill>
                <a:latin typeface="Arial" pitchFamily="34" charset="0"/>
              </a:defRPr>
            </a:lvl1pPr>
          </a:lstStyle>
          <a:p>
            <a:pPr defTabSz="914400" fontAlgn="base">
              <a:spcBef>
                <a:spcPct val="0"/>
              </a:spcBef>
              <a:spcAft>
                <a:spcPct val="0"/>
              </a:spcAft>
              <a:defRPr/>
            </a:pPr>
            <a:r>
              <a:rPr lang="en-GB" dirty="0" smtClean="0">
                <a:ea typeface="MS PGothic" pitchFamily="34" charset="-128"/>
              </a:rPr>
              <a:t>5th, Workshop of OGC Hydro DWG, New York, 11-15 Aug 2014</a:t>
            </a:r>
            <a:endParaRPr lang="en-US" dirty="0">
              <a:ea typeface="MS PGothic" pitchFamily="34" charset="-128"/>
            </a:endParaRPr>
          </a:p>
        </p:txBody>
      </p:sp>
      <p:sp>
        <p:nvSpPr>
          <p:cNvPr id="462854" name="Rectangle 6"/>
          <p:cNvSpPr>
            <a:spLocks noGrp="1" noChangeArrowheads="1"/>
          </p:cNvSpPr>
          <p:nvPr>
            <p:ph type="sldNum" sz="quarter" idx="4"/>
          </p:nvPr>
        </p:nvSpPr>
        <p:spPr bwMode="auto">
          <a:xfrm>
            <a:off x="6896100" y="65532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900" b="0">
                <a:solidFill>
                  <a:srgbClr val="092E5C"/>
                </a:solidFill>
                <a:latin typeface="Arial" pitchFamily="34" charset="0"/>
              </a:defRPr>
            </a:lvl1pPr>
          </a:lstStyle>
          <a:p>
            <a:pPr defTabSz="914400" fontAlgn="base">
              <a:spcBef>
                <a:spcPct val="0"/>
              </a:spcBef>
              <a:spcAft>
                <a:spcPct val="0"/>
              </a:spcAft>
              <a:defRPr/>
            </a:pPr>
            <a:fld id="{7E725F1A-1E3F-4657-9D4B-5DCBC0B76A54}" type="slidenum">
              <a:rPr lang="en-US">
                <a:ea typeface="MS PGothic" pitchFamily="34" charset="-128"/>
              </a:rPr>
              <a:pPr defTabSz="914400" fontAlgn="base">
                <a:spcBef>
                  <a:spcPct val="0"/>
                </a:spcBef>
                <a:spcAft>
                  <a:spcPct val="0"/>
                </a:spcAft>
                <a:defRPr/>
              </a:pPr>
              <a:t>‹#›</a:t>
            </a:fld>
            <a:endParaRPr lang="en-US" dirty="0">
              <a:ea typeface="MS PGothic" pitchFamily="34" charset="-128"/>
            </a:endParaRPr>
          </a:p>
        </p:txBody>
      </p:sp>
      <p:sp>
        <p:nvSpPr>
          <p:cNvPr id="1031" name="Text Box 16"/>
          <p:cNvSpPr txBox="1">
            <a:spLocks noChangeArrowheads="1"/>
          </p:cNvSpPr>
          <p:nvPr/>
        </p:nvSpPr>
        <p:spPr bwMode="auto">
          <a:xfrm>
            <a:off x="333375" y="6219825"/>
            <a:ext cx="1157288" cy="609600"/>
          </a:xfrm>
          <a:prstGeom prst="rect">
            <a:avLst/>
          </a:prstGeom>
          <a:noFill/>
          <a:ln>
            <a:noFill/>
          </a:ln>
          <a:extLst/>
        </p:spPr>
        <p:txBody>
          <a:bodyPr wrap="none" lIns="0" tIns="0" rIns="0" bIns="0">
            <a:spAutoFit/>
          </a:bodyPr>
          <a:lstStyle>
            <a:lvl1pPr eaLnBrk="0" hangingPunct="0">
              <a:defRPr sz="1000" b="1">
                <a:solidFill>
                  <a:schemeClr val="tx1"/>
                </a:solidFill>
                <a:latin typeface="CG Times" charset="0"/>
                <a:ea typeface="MS PGothic" charset="0"/>
                <a:cs typeface="MS PGothic" charset="0"/>
              </a:defRPr>
            </a:lvl1pPr>
            <a:lvl2pPr marL="742950" indent="-285750" eaLnBrk="0" hangingPunct="0">
              <a:defRPr sz="1000" b="1">
                <a:solidFill>
                  <a:schemeClr val="tx1"/>
                </a:solidFill>
                <a:latin typeface="CG Times" charset="0"/>
                <a:ea typeface="MS PGothic" charset="0"/>
                <a:cs typeface="MS PGothic" charset="0"/>
              </a:defRPr>
            </a:lvl2pPr>
            <a:lvl3pPr marL="1143000" indent="-228600" eaLnBrk="0" hangingPunct="0">
              <a:defRPr sz="1000" b="1">
                <a:solidFill>
                  <a:schemeClr val="tx1"/>
                </a:solidFill>
                <a:latin typeface="CG Times" charset="0"/>
                <a:ea typeface="MS PGothic" charset="0"/>
                <a:cs typeface="MS PGothic" charset="0"/>
              </a:defRPr>
            </a:lvl3pPr>
            <a:lvl4pPr marL="1600200" indent="-228600" eaLnBrk="0" hangingPunct="0">
              <a:defRPr sz="1000" b="1">
                <a:solidFill>
                  <a:schemeClr val="tx1"/>
                </a:solidFill>
                <a:latin typeface="CG Times" charset="0"/>
                <a:ea typeface="MS PGothic" charset="0"/>
                <a:cs typeface="MS PGothic" charset="0"/>
              </a:defRPr>
            </a:lvl4pPr>
            <a:lvl5pPr marL="2057400" indent="-228600" eaLnBrk="0" hangingPunct="0">
              <a:defRPr sz="1000" b="1">
                <a:solidFill>
                  <a:schemeClr val="tx1"/>
                </a:solidFill>
                <a:latin typeface="CG Times" charset="0"/>
                <a:ea typeface="MS PGothic" charset="0"/>
                <a:cs typeface="MS PGothic" charset="0"/>
              </a:defRPr>
            </a:lvl5pPr>
            <a:lvl6pPr marL="2514600" indent="-228600" eaLnBrk="0" fontAlgn="base" hangingPunct="0">
              <a:spcBef>
                <a:spcPct val="0"/>
              </a:spcBef>
              <a:spcAft>
                <a:spcPct val="0"/>
              </a:spcAft>
              <a:defRPr sz="1000" b="1">
                <a:solidFill>
                  <a:schemeClr val="tx1"/>
                </a:solidFill>
                <a:latin typeface="CG Times" charset="0"/>
                <a:ea typeface="MS PGothic" charset="0"/>
                <a:cs typeface="MS PGothic" charset="0"/>
              </a:defRPr>
            </a:lvl6pPr>
            <a:lvl7pPr marL="2971800" indent="-228600" eaLnBrk="0" fontAlgn="base" hangingPunct="0">
              <a:spcBef>
                <a:spcPct val="0"/>
              </a:spcBef>
              <a:spcAft>
                <a:spcPct val="0"/>
              </a:spcAft>
              <a:defRPr sz="1000" b="1">
                <a:solidFill>
                  <a:schemeClr val="tx1"/>
                </a:solidFill>
                <a:latin typeface="CG Times" charset="0"/>
                <a:ea typeface="MS PGothic" charset="0"/>
                <a:cs typeface="MS PGothic" charset="0"/>
              </a:defRPr>
            </a:lvl7pPr>
            <a:lvl8pPr marL="3429000" indent="-228600" eaLnBrk="0" fontAlgn="base" hangingPunct="0">
              <a:spcBef>
                <a:spcPct val="0"/>
              </a:spcBef>
              <a:spcAft>
                <a:spcPct val="0"/>
              </a:spcAft>
              <a:defRPr sz="1000" b="1">
                <a:solidFill>
                  <a:schemeClr val="tx1"/>
                </a:solidFill>
                <a:latin typeface="CG Times" charset="0"/>
                <a:ea typeface="MS PGothic" charset="0"/>
                <a:cs typeface="MS PGothic" charset="0"/>
              </a:defRPr>
            </a:lvl8pPr>
            <a:lvl9pPr marL="3886200" indent="-228600" eaLnBrk="0" fontAlgn="base" hangingPunct="0">
              <a:spcBef>
                <a:spcPct val="0"/>
              </a:spcBef>
              <a:spcAft>
                <a:spcPct val="0"/>
              </a:spcAft>
              <a:defRPr sz="1000" b="1">
                <a:solidFill>
                  <a:schemeClr val="tx1"/>
                </a:solidFill>
                <a:latin typeface="CG Times" charset="0"/>
                <a:ea typeface="MS PGothic" charset="0"/>
                <a:cs typeface="MS PGothic" charset="0"/>
              </a:defRPr>
            </a:lvl9pPr>
          </a:lstStyle>
          <a:p>
            <a:pPr defTabSz="914400" fontAlgn="base">
              <a:spcBef>
                <a:spcPct val="0"/>
              </a:spcBef>
              <a:spcAft>
                <a:spcPct val="0"/>
              </a:spcAft>
              <a:defRPr/>
            </a:pPr>
            <a:r>
              <a:rPr lang="en-US" sz="4000" dirty="0" smtClean="0">
                <a:solidFill>
                  <a:srgbClr val="092E5C"/>
                </a:solidFill>
                <a:latin typeface="Times New Roman" charset="0"/>
              </a:rPr>
              <a:t>OGC</a:t>
            </a:r>
          </a:p>
        </p:txBody>
      </p:sp>
      <p:sp>
        <p:nvSpPr>
          <p:cNvPr id="1032" name="Text Box 20"/>
          <p:cNvSpPr txBox="1">
            <a:spLocks noChangeArrowheads="1"/>
          </p:cNvSpPr>
          <p:nvPr/>
        </p:nvSpPr>
        <p:spPr bwMode="auto">
          <a:xfrm>
            <a:off x="1498600" y="6270625"/>
            <a:ext cx="93663" cy="244475"/>
          </a:xfrm>
          <a:prstGeom prst="rect">
            <a:avLst/>
          </a:prstGeom>
          <a:noFill/>
          <a:ln>
            <a:noFill/>
          </a:ln>
          <a:extLst/>
        </p:spPr>
        <p:txBody>
          <a:bodyPr wrap="none" lIns="0" rIns="0">
            <a:spAutoFit/>
          </a:bodyPr>
          <a:lstStyle>
            <a:lvl1pPr eaLnBrk="0" hangingPunct="0">
              <a:defRPr sz="1000" b="1">
                <a:solidFill>
                  <a:schemeClr val="tx1"/>
                </a:solidFill>
                <a:latin typeface="CG Times" charset="0"/>
                <a:ea typeface="MS PGothic" pitchFamily="34" charset="-128"/>
              </a:defRPr>
            </a:lvl1pPr>
            <a:lvl2pPr marL="742950" indent="-285750" eaLnBrk="0" hangingPunct="0">
              <a:defRPr sz="1000" b="1">
                <a:solidFill>
                  <a:schemeClr val="tx1"/>
                </a:solidFill>
                <a:latin typeface="CG Times" charset="0"/>
                <a:ea typeface="MS PGothic" pitchFamily="34" charset="-128"/>
              </a:defRPr>
            </a:lvl2pPr>
            <a:lvl3pPr marL="1143000" indent="-228600" eaLnBrk="0" hangingPunct="0">
              <a:defRPr sz="1000" b="1">
                <a:solidFill>
                  <a:schemeClr val="tx1"/>
                </a:solidFill>
                <a:latin typeface="CG Times" charset="0"/>
                <a:ea typeface="MS PGothic" pitchFamily="34" charset="-128"/>
              </a:defRPr>
            </a:lvl3pPr>
            <a:lvl4pPr marL="1600200" indent="-228600" eaLnBrk="0" hangingPunct="0">
              <a:defRPr sz="1000" b="1">
                <a:solidFill>
                  <a:schemeClr val="tx1"/>
                </a:solidFill>
                <a:latin typeface="CG Times" charset="0"/>
                <a:ea typeface="MS PGothic" pitchFamily="34" charset="-128"/>
              </a:defRPr>
            </a:lvl4pPr>
            <a:lvl5pPr marL="2057400" indent="-228600" eaLnBrk="0" hangingPunct="0">
              <a:defRPr sz="1000" b="1">
                <a:solidFill>
                  <a:schemeClr val="tx1"/>
                </a:solidFill>
                <a:latin typeface="CG Times"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charset="0"/>
                <a:ea typeface="MS PGothic" pitchFamily="34" charset="-128"/>
              </a:defRPr>
            </a:lvl9pPr>
          </a:lstStyle>
          <a:p>
            <a:pPr defTabSz="914400" fontAlgn="base">
              <a:spcBef>
                <a:spcPct val="0"/>
              </a:spcBef>
              <a:spcAft>
                <a:spcPct val="0"/>
              </a:spcAft>
              <a:defRPr/>
            </a:pPr>
            <a:r>
              <a:rPr lang="en-US" dirty="0" smtClean="0">
                <a:solidFill>
                  <a:srgbClr val="092E5C"/>
                </a:solidFill>
                <a:latin typeface="Arial" pitchFamily="34" charset="0"/>
              </a:rPr>
              <a:t>®</a:t>
            </a:r>
          </a:p>
        </p:txBody>
      </p:sp>
    </p:spTree>
    <p:extLst>
      <p:ext uri="{BB962C8B-B14F-4D97-AF65-F5344CB8AC3E}">
        <p14:creationId xmlns:p14="http://schemas.microsoft.com/office/powerpoint/2010/main" val="17869194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xmlns:p14="http://schemas.microsoft.com/office/powerpoint/2010/main" id="1" dur="indefinite" restart="never" nodeType="tmRoot"/>
      </p:par>
    </p:tnLst>
  </p:timing>
  <p:hf hdr="0" dt="0"/>
  <p:txStyles>
    <p:titleStyle>
      <a:lvl1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mj-lt"/>
          <a:ea typeface="MS PGothic" pitchFamily="34" charset="-128"/>
          <a:cs typeface="MS PGothic" charset="0"/>
        </a:defRPr>
      </a:lvl1pPr>
      <a:lvl2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2pPr>
      <a:lvl3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3pPr>
      <a:lvl4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4pPr>
      <a:lvl5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5pPr>
      <a:lvl6pPr marL="4572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6pPr>
      <a:lvl7pPr marL="9144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7pPr>
      <a:lvl8pPr marL="13716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8pPr>
      <a:lvl9pPr marL="18288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9pPr>
    </p:titleStyle>
    <p:bodyStyle>
      <a:lvl1pPr marL="233363" indent="-233363" algn="l" rtl="0" eaLnBrk="0" fontAlgn="base" hangingPunct="0">
        <a:spcBef>
          <a:spcPct val="20000"/>
        </a:spcBef>
        <a:spcAft>
          <a:spcPct val="0"/>
        </a:spcAft>
        <a:buClr>
          <a:srgbClr val="092E5C"/>
        </a:buClr>
        <a:buChar char="•"/>
        <a:defRPr sz="2400">
          <a:solidFill>
            <a:schemeClr val="tx2"/>
          </a:solidFill>
          <a:latin typeface="+mn-lt"/>
          <a:ea typeface="MS PGothic" pitchFamily="34" charset="-128"/>
          <a:cs typeface="MS PGothic" charset="0"/>
        </a:defRPr>
      </a:lvl1pPr>
      <a:lvl2pPr marL="569913" indent="-222250" algn="l" rtl="0" eaLnBrk="0" fontAlgn="base" hangingPunct="0">
        <a:spcBef>
          <a:spcPct val="20000"/>
        </a:spcBef>
        <a:spcAft>
          <a:spcPct val="0"/>
        </a:spcAft>
        <a:buClr>
          <a:srgbClr val="092E5C"/>
        </a:buClr>
        <a:buChar char="–"/>
        <a:defRPr sz="2000">
          <a:solidFill>
            <a:schemeClr val="tx2"/>
          </a:solidFill>
          <a:latin typeface="+mn-lt"/>
          <a:ea typeface="MS PGothic" pitchFamily="34" charset="-128"/>
          <a:cs typeface="MS PGothic" charset="0"/>
        </a:defRPr>
      </a:lvl2pPr>
      <a:lvl3pPr marL="912813" indent="-228600" algn="l" rtl="0" eaLnBrk="0" fontAlgn="base" hangingPunct="0">
        <a:spcBef>
          <a:spcPct val="20000"/>
        </a:spcBef>
        <a:spcAft>
          <a:spcPct val="0"/>
        </a:spcAft>
        <a:buClr>
          <a:srgbClr val="092E5C"/>
        </a:buClr>
        <a:buChar char="•"/>
        <a:defRPr>
          <a:solidFill>
            <a:schemeClr val="tx2"/>
          </a:solidFill>
          <a:latin typeface="+mn-lt"/>
          <a:ea typeface="MS PGothic" pitchFamily="34" charset="-128"/>
          <a:cs typeface="MS PGothic" charset="0"/>
        </a:defRPr>
      </a:lvl3pPr>
      <a:lvl4pPr marL="12557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cs typeface="MS PGothic" charset="0"/>
        </a:defRPr>
      </a:lvl4pPr>
      <a:lvl5pPr marL="15986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cs typeface="MS PGothic" charset="0"/>
        </a:defRPr>
      </a:lvl5pPr>
      <a:lvl6pPr marL="2055813" indent="-228600" algn="l" rtl="0" eaLnBrk="0" fontAlgn="base" hangingPunct="0">
        <a:spcBef>
          <a:spcPct val="20000"/>
        </a:spcBef>
        <a:spcAft>
          <a:spcPct val="0"/>
        </a:spcAft>
        <a:buClr>
          <a:srgbClr val="092E5C"/>
        </a:buClr>
        <a:buChar char="»"/>
        <a:defRPr sz="1600">
          <a:solidFill>
            <a:schemeClr val="tx2"/>
          </a:solidFill>
          <a:latin typeface="+mn-lt"/>
        </a:defRPr>
      </a:lvl6pPr>
      <a:lvl7pPr marL="2513013" indent="-228600" algn="l" rtl="0" eaLnBrk="0" fontAlgn="base" hangingPunct="0">
        <a:spcBef>
          <a:spcPct val="20000"/>
        </a:spcBef>
        <a:spcAft>
          <a:spcPct val="0"/>
        </a:spcAft>
        <a:buClr>
          <a:srgbClr val="092E5C"/>
        </a:buClr>
        <a:buChar char="»"/>
        <a:defRPr sz="1600">
          <a:solidFill>
            <a:schemeClr val="tx2"/>
          </a:solidFill>
          <a:latin typeface="+mn-lt"/>
        </a:defRPr>
      </a:lvl7pPr>
      <a:lvl8pPr marL="2970213" indent="-228600" algn="l" rtl="0" eaLnBrk="0" fontAlgn="base" hangingPunct="0">
        <a:spcBef>
          <a:spcPct val="20000"/>
        </a:spcBef>
        <a:spcAft>
          <a:spcPct val="0"/>
        </a:spcAft>
        <a:buClr>
          <a:srgbClr val="092E5C"/>
        </a:buClr>
        <a:buChar char="»"/>
        <a:defRPr sz="1600">
          <a:solidFill>
            <a:schemeClr val="tx2"/>
          </a:solidFill>
          <a:latin typeface="+mn-lt"/>
        </a:defRPr>
      </a:lvl8pPr>
      <a:lvl9pPr marL="3427413" indent="-228600" algn="l" rtl="0" eaLnBrk="0" fontAlgn="base" hangingPunct="0">
        <a:spcBef>
          <a:spcPct val="20000"/>
        </a:spcBef>
        <a:spcAft>
          <a:spcPct val="0"/>
        </a:spcAft>
        <a:buClr>
          <a:srgbClr val="092E5C"/>
        </a:buClr>
        <a:buChar char="»"/>
        <a:defRPr sz="16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portal.opengeospatial.org/files/?artifact_id=59651&amp;version=1" TargetMode="External"/><Relationship Id="rId3" Type="http://schemas.openxmlformats.org/officeDocument/2006/relationships/hyperlink" Target="https://portal.opengeospatial.org/files/?artifact_id=44438&amp;version=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82" name="Rectangle 2"/>
          <p:cNvSpPr>
            <a:spLocks noGrp="1" noChangeArrowheads="1"/>
          </p:cNvSpPr>
          <p:nvPr>
            <p:ph type="ctrTitle"/>
          </p:nvPr>
        </p:nvSpPr>
        <p:spPr>
          <a:xfrm>
            <a:off x="381000" y="2428552"/>
            <a:ext cx="8382000" cy="1349087"/>
          </a:xfrm>
        </p:spPr>
        <p:txBody>
          <a:bodyPr wrap="square">
            <a:spAutoFit/>
          </a:bodyPr>
          <a:lstStyle/>
          <a:p>
            <a:pPr>
              <a:lnSpc>
                <a:spcPct val="150000"/>
              </a:lnSpc>
              <a:spcBef>
                <a:spcPts val="600"/>
              </a:spcBef>
              <a:spcAft>
                <a:spcPts val="600"/>
              </a:spcAft>
              <a:defRPr/>
            </a:pPr>
            <a:r>
              <a:rPr lang="en-US" sz="2800" i="1" dirty="0" smtClean="0"/>
              <a:t>Continuous Water Quality Sensor Data Exchange Interoperability</a:t>
            </a:r>
            <a:endParaRPr lang="en-US" sz="2400" dirty="0">
              <a:effectLst>
                <a:outerShdw blurRad="38100" dist="38100" dir="2700000" algn="tl">
                  <a:srgbClr val="000000">
                    <a:alpha val="43137"/>
                  </a:srgbClr>
                </a:outerShdw>
              </a:effectLst>
              <a:latin typeface="+mn-lt"/>
            </a:endParaRPr>
          </a:p>
        </p:txBody>
      </p:sp>
      <p:sp>
        <p:nvSpPr>
          <p:cNvPr id="3075" name="Rectangle 3"/>
          <p:cNvSpPr>
            <a:spLocks noGrp="1" noChangeArrowheads="1"/>
          </p:cNvSpPr>
          <p:nvPr>
            <p:ph type="subTitle" idx="1"/>
          </p:nvPr>
        </p:nvSpPr>
        <p:spPr>
          <a:xfrm>
            <a:off x="1371600" y="4419600"/>
            <a:ext cx="6400800" cy="1371600"/>
          </a:xfrm>
        </p:spPr>
        <p:txBody>
          <a:bodyPr/>
          <a:lstStyle/>
          <a:p>
            <a:r>
              <a:rPr lang="en-US" altLang="en-US" dirty="0">
                <a:cs typeface="Arial" charset="0"/>
              </a:rPr>
              <a:t>6</a:t>
            </a:r>
            <a:r>
              <a:rPr lang="en-US" altLang="en-US" baseline="30000" dirty="0">
                <a:cs typeface="Arial" charset="0"/>
              </a:rPr>
              <a:t>th</a:t>
            </a:r>
            <a:r>
              <a:rPr lang="en-US" altLang="en-US" dirty="0">
                <a:cs typeface="Arial" charset="0"/>
              </a:rPr>
              <a:t>, WMO/OGC Hydrology DWG</a:t>
            </a:r>
          </a:p>
          <a:p>
            <a:r>
              <a:rPr lang="en-US" altLang="en-US" dirty="0">
                <a:cs typeface="Arial" charset="0"/>
              </a:rPr>
              <a:t> Orleans, BRGM, September 21 – 23, 2015</a:t>
            </a:r>
          </a:p>
          <a:p>
            <a:pPr>
              <a:spcBef>
                <a:spcPct val="0"/>
              </a:spcBef>
            </a:pPr>
            <a:endParaRPr lang="en-US" altLang="en-US" dirty="0">
              <a:cs typeface="Arial" charset="0"/>
            </a:endParaRPr>
          </a:p>
          <a:p>
            <a:pPr>
              <a:spcBef>
                <a:spcPct val="0"/>
              </a:spcBef>
            </a:pPr>
            <a:r>
              <a:rPr lang="en-US" altLang="en-US" dirty="0" smtClean="0">
                <a:cs typeface="Arial" charset="0"/>
              </a:rPr>
              <a:t>David Blodgett – U.S. Geological Survey</a:t>
            </a:r>
            <a:endParaRPr lang="en-US" altLang="en-US" dirty="0">
              <a:cs typeface="Arial" charset="0"/>
            </a:endParaRPr>
          </a:p>
        </p:txBody>
      </p:sp>
      <p:pic>
        <p:nvPicPr>
          <p:cNvPr id="6" name="Grafik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9510" y="1328737"/>
            <a:ext cx="1704975" cy="695325"/>
          </a:xfrm>
          <a:prstGeom prst="rect">
            <a:avLst/>
          </a:prstGeom>
        </p:spPr>
      </p:pic>
      <p:sp>
        <p:nvSpPr>
          <p:cNvPr id="2" name="TextBox 1"/>
          <p:cNvSpPr txBox="1"/>
          <p:nvPr/>
        </p:nvSpPr>
        <p:spPr>
          <a:xfrm>
            <a:off x="889000" y="6315364"/>
            <a:ext cx="914400" cy="914400"/>
          </a:xfrm>
          <a:prstGeom prst="rect">
            <a:avLst/>
          </a:prstGeom>
          <a:noFill/>
        </p:spPr>
        <p:txBody>
          <a:bodyPr wrap="none" rtlCol="0">
            <a:noAutofit/>
          </a:bodyPr>
          <a:lstStyle/>
          <a:p>
            <a:endParaRPr lang="en-US" dirty="0" err="1" smtClean="0"/>
          </a:p>
        </p:txBody>
      </p:sp>
    </p:spTree>
    <p:extLst>
      <p:ext uri="{BB962C8B-B14F-4D97-AF65-F5344CB8AC3E}">
        <p14:creationId xmlns:p14="http://schemas.microsoft.com/office/powerpoint/2010/main" val="42116849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a:t>
            </a:r>
            <a:endParaRPr lang="en-US" dirty="0"/>
          </a:p>
        </p:txBody>
      </p:sp>
      <p:sp>
        <p:nvSpPr>
          <p:cNvPr id="3" name="Content Placeholder 2"/>
          <p:cNvSpPr>
            <a:spLocks noGrp="1"/>
          </p:cNvSpPr>
          <p:nvPr>
            <p:ph idx="1"/>
          </p:nvPr>
        </p:nvSpPr>
        <p:spPr/>
        <p:txBody>
          <a:bodyPr/>
          <a:lstStyle/>
          <a:p>
            <a:r>
              <a:rPr lang="en-US" dirty="0" smtClean="0"/>
              <a:t>Generally, “Continuous Water Quality Sensor Data” (CWQSD) is becoming ubiquitous in research and operations. An exchange best practice is needed.</a:t>
            </a:r>
          </a:p>
          <a:p>
            <a:endParaRPr lang="en-US" dirty="0" smtClean="0"/>
          </a:p>
          <a:p>
            <a:r>
              <a:rPr lang="en-US" sz="2000" i="1" dirty="0"/>
              <a:t>“… goal of the U.S. Environmental Protection Agency (EPA) to promote the use of innovative technology in the sharing and use of sensor data as part of the EPA Office of Water’s Technology Blueprint.</a:t>
            </a:r>
            <a:r>
              <a:rPr lang="en-US" sz="2000" i="1" dirty="0" smtClean="0"/>
              <a:t>”</a:t>
            </a:r>
          </a:p>
          <a:p>
            <a:endParaRPr lang="en-US" i="1" dirty="0" smtClean="0"/>
          </a:p>
          <a:p>
            <a:r>
              <a:rPr lang="en-US" dirty="0" smtClean="0"/>
              <a:t>Ostensibly, WaterML2 Part 1 and 2 will support CWQSD use cases. These use cases need to be explored, tested, and documented. Any refinements or extensions of standards should be pursued.</a:t>
            </a:r>
            <a:endParaRPr lang="en-US" dirty="0"/>
          </a:p>
        </p:txBody>
      </p:sp>
      <p:sp>
        <p:nvSpPr>
          <p:cNvPr id="5" name="Slide Number Placeholder 4"/>
          <p:cNvSpPr>
            <a:spLocks noGrp="1"/>
          </p:cNvSpPr>
          <p:nvPr>
            <p:ph type="sldNum" sz="quarter" idx="11"/>
          </p:nvPr>
        </p:nvSpPr>
        <p:spPr/>
        <p:txBody>
          <a:bodyPr/>
          <a:lstStyle/>
          <a:p>
            <a:pPr>
              <a:defRPr/>
            </a:pPr>
            <a:fld id="{3ED129D0-DFFA-44F8-BA3B-A4FAE77A70BA}" type="slidenum">
              <a:rPr lang="en-US" smtClean="0"/>
              <a:pPr>
                <a:defRPr/>
              </a:pPr>
              <a:t>2</a:t>
            </a:fld>
            <a:endParaRPr lang="en-US" dirty="0"/>
          </a:p>
        </p:txBody>
      </p:sp>
    </p:spTree>
    <p:extLst>
      <p:ext uri="{BB962C8B-B14F-4D97-AF65-F5344CB8AC3E}">
        <p14:creationId xmlns:p14="http://schemas.microsoft.com/office/powerpoint/2010/main" val="3042367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3ED129D0-DFFA-44F8-BA3B-A4FAE77A70BA}" type="slidenum">
              <a:rPr lang="en-US" smtClean="0"/>
              <a:pPr>
                <a:defRPr/>
              </a:pPr>
              <a:t>3</a:t>
            </a:fld>
            <a:endParaRPr lang="en-US" dirty="0"/>
          </a:p>
        </p:txBody>
      </p:sp>
      <p:pic>
        <p:nvPicPr>
          <p:cNvPr id="7" name="Picture 6" descr="Screen Shot 2015-09-22 at 9.27.59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4172" y="67140"/>
            <a:ext cx="5316812" cy="6714660"/>
          </a:xfrm>
          <a:prstGeom prst="rect">
            <a:avLst/>
          </a:prstGeom>
        </p:spPr>
      </p:pic>
    </p:spTree>
    <p:extLst>
      <p:ext uri="{BB962C8B-B14F-4D97-AF65-F5344CB8AC3E}">
        <p14:creationId xmlns:p14="http://schemas.microsoft.com/office/powerpoint/2010/main" val="1944168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 and Timeline of EPA Pilots</a:t>
            </a:r>
            <a:endParaRPr lang="en-US" dirty="0"/>
          </a:p>
        </p:txBody>
      </p:sp>
      <p:sp>
        <p:nvSpPr>
          <p:cNvPr id="3" name="Content Placeholder 2"/>
          <p:cNvSpPr>
            <a:spLocks noGrp="1"/>
          </p:cNvSpPr>
          <p:nvPr>
            <p:ph idx="1"/>
          </p:nvPr>
        </p:nvSpPr>
        <p:spPr/>
        <p:txBody>
          <a:bodyPr/>
          <a:lstStyle/>
          <a:p>
            <a:r>
              <a:rPr lang="en-US" sz="1800" dirty="0"/>
              <a:t>From EPA </a:t>
            </a:r>
            <a:r>
              <a:rPr lang="en-US" sz="1800" dirty="0" smtClean="0"/>
              <a:t>study: “</a:t>
            </a:r>
            <a:r>
              <a:rPr lang="en-US" sz="1800" i="1" dirty="0" smtClean="0"/>
              <a:t>OGC </a:t>
            </a:r>
            <a:r>
              <a:rPr lang="en-US" sz="1800" i="1" dirty="0"/>
              <a:t>will collaborate on the development of mechanisms for effectively tying CWQSD datasets to related QC data, such as pre‐, intra‐ and post‐deployment lab and site discrete sample measurements</a:t>
            </a:r>
            <a:r>
              <a:rPr lang="en-US" sz="1800" i="1" dirty="0" smtClean="0"/>
              <a:t>.”</a:t>
            </a:r>
            <a:endParaRPr lang="en-US" sz="1800" i="1" dirty="0"/>
          </a:p>
          <a:p>
            <a:pPr marL="0" indent="0">
              <a:buNone/>
            </a:pPr>
            <a:endParaRPr lang="en-US" sz="1800" dirty="0"/>
          </a:p>
          <a:p>
            <a:pPr marL="0" indent="0">
              <a:buNone/>
            </a:pPr>
            <a:r>
              <a:rPr lang="en-US" sz="1800" u="sng" dirty="0" smtClean="0"/>
              <a:t>2015 - 2016</a:t>
            </a:r>
          </a:p>
          <a:p>
            <a:r>
              <a:rPr lang="en-US" sz="1800" dirty="0" smtClean="0"/>
              <a:t>Pilot </a:t>
            </a:r>
            <a:r>
              <a:rPr lang="en-US" sz="1800" dirty="0"/>
              <a:t>and refine - establishing workflows and testing standards in the context of this </a:t>
            </a:r>
            <a:r>
              <a:rPr lang="en-US" sz="1800" dirty="0" smtClean="0"/>
              <a:t>network.</a:t>
            </a:r>
          </a:p>
          <a:p>
            <a:r>
              <a:rPr lang="en-US" sz="1800" dirty="0" smtClean="0"/>
              <a:t>Opportunity </a:t>
            </a:r>
            <a:r>
              <a:rPr lang="en-US" sz="1800" dirty="0"/>
              <a:t>(requirement?) to develop best practices that could be candidates for the OGC process</a:t>
            </a:r>
            <a:r>
              <a:rPr lang="en-US" sz="1800" dirty="0" smtClean="0"/>
              <a:t>.</a:t>
            </a:r>
            <a:endParaRPr lang="en-US" sz="1800" dirty="0"/>
          </a:p>
          <a:p>
            <a:pPr marL="0" indent="0">
              <a:buNone/>
            </a:pPr>
            <a:r>
              <a:rPr lang="en-US" sz="1800" u="sng" dirty="0"/>
              <a:t>2017 </a:t>
            </a:r>
            <a:r>
              <a:rPr lang="en-US" sz="1800" u="sng" dirty="0" smtClean="0"/>
              <a:t>- </a:t>
            </a:r>
            <a:r>
              <a:rPr lang="en-US" sz="1800" u="sng" dirty="0"/>
              <a:t>2018 </a:t>
            </a:r>
            <a:endParaRPr lang="en-US" sz="1800" u="sng" dirty="0" smtClean="0"/>
          </a:p>
          <a:p>
            <a:r>
              <a:rPr lang="en-US" sz="1800" dirty="0" smtClean="0"/>
              <a:t>Build </a:t>
            </a:r>
            <a:r>
              <a:rPr lang="en-US" sz="1800" dirty="0"/>
              <a:t>and test working infrastructures</a:t>
            </a:r>
          </a:p>
          <a:p>
            <a:r>
              <a:rPr lang="en-US" sz="1800" dirty="0" smtClean="0"/>
              <a:t>Opportunity </a:t>
            </a:r>
            <a:r>
              <a:rPr lang="en-US" sz="1800" dirty="0"/>
              <a:t>to formalize (standardize?) documentation of best practices</a:t>
            </a:r>
            <a:r>
              <a:rPr lang="en-US" sz="1800" dirty="0" smtClean="0"/>
              <a:t>.</a:t>
            </a:r>
          </a:p>
          <a:p>
            <a:pPr marL="0" indent="0">
              <a:buNone/>
            </a:pPr>
            <a:r>
              <a:rPr lang="en-US" sz="1800" u="sng" dirty="0"/>
              <a:t>2019 and beyond</a:t>
            </a:r>
          </a:p>
          <a:p>
            <a:r>
              <a:rPr lang="en-US" sz="1800" dirty="0" smtClean="0"/>
              <a:t>Scale </a:t>
            </a:r>
            <a:r>
              <a:rPr lang="en-US" sz="1800" dirty="0"/>
              <a:t>up to operations</a:t>
            </a:r>
          </a:p>
          <a:p>
            <a:endParaRPr lang="en-US" sz="1800" dirty="0"/>
          </a:p>
        </p:txBody>
      </p:sp>
      <p:sp>
        <p:nvSpPr>
          <p:cNvPr id="5" name="Slide Number Placeholder 4"/>
          <p:cNvSpPr>
            <a:spLocks noGrp="1"/>
          </p:cNvSpPr>
          <p:nvPr>
            <p:ph type="sldNum" sz="quarter" idx="11"/>
          </p:nvPr>
        </p:nvSpPr>
        <p:spPr/>
        <p:txBody>
          <a:bodyPr/>
          <a:lstStyle/>
          <a:p>
            <a:pPr>
              <a:defRPr/>
            </a:pPr>
            <a:fld id="{3ED129D0-DFFA-44F8-BA3B-A4FAE77A70BA}" type="slidenum">
              <a:rPr lang="en-US" smtClean="0"/>
              <a:pPr>
                <a:defRPr/>
              </a:pPr>
              <a:t>4</a:t>
            </a:fld>
            <a:endParaRPr lang="en-US" dirty="0"/>
          </a:p>
        </p:txBody>
      </p:sp>
    </p:spTree>
    <p:extLst>
      <p:ext uri="{BB962C8B-B14F-4D97-AF65-F5344CB8AC3E}">
        <p14:creationId xmlns:p14="http://schemas.microsoft.com/office/powerpoint/2010/main" val="375389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DRAFT Architecture for Pilot Evaluation</a:t>
            </a:r>
            <a:endParaRPr lang="en-US" dirty="0"/>
          </a:p>
        </p:txBody>
      </p:sp>
      <p:sp>
        <p:nvSpPr>
          <p:cNvPr id="5" name="Slide Number Placeholder 4"/>
          <p:cNvSpPr>
            <a:spLocks noGrp="1"/>
          </p:cNvSpPr>
          <p:nvPr>
            <p:ph type="sldNum" sz="quarter" idx="11"/>
          </p:nvPr>
        </p:nvSpPr>
        <p:spPr/>
        <p:txBody>
          <a:bodyPr/>
          <a:lstStyle/>
          <a:p>
            <a:pPr>
              <a:defRPr/>
            </a:pPr>
            <a:fld id="{3ED129D0-DFFA-44F8-BA3B-A4FAE77A70BA}" type="slidenum">
              <a:rPr lang="en-US" smtClean="0"/>
              <a:pPr>
                <a:defRPr/>
              </a:pPr>
              <a:t>5</a:t>
            </a:fld>
            <a:endParaRPr lang="en-US" dirty="0"/>
          </a:p>
        </p:txBody>
      </p:sp>
      <p:pic>
        <p:nvPicPr>
          <p:cNvPr id="7" name="Picture 6" descr="Screen Shot 2015-09-20 at 4.30.51 PM.png"/>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1674087" y="850030"/>
            <a:ext cx="6695959" cy="6035675"/>
          </a:xfrm>
          <a:prstGeom prst="rect">
            <a:avLst/>
          </a:prstGeom>
        </p:spPr>
      </p:pic>
    </p:spTree>
    <p:extLst>
      <p:ext uri="{BB962C8B-B14F-4D97-AF65-F5344CB8AC3E}">
        <p14:creationId xmlns:p14="http://schemas.microsoft.com/office/powerpoint/2010/main" val="3365118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Draft Recommendation</a:t>
            </a:r>
            <a:endParaRPr lang="en-US" dirty="0"/>
          </a:p>
        </p:txBody>
      </p:sp>
      <p:sp>
        <p:nvSpPr>
          <p:cNvPr id="3" name="Content Placeholder 2"/>
          <p:cNvSpPr>
            <a:spLocks noGrp="1"/>
          </p:cNvSpPr>
          <p:nvPr>
            <p:ph idx="1"/>
          </p:nvPr>
        </p:nvSpPr>
        <p:spPr/>
        <p:txBody>
          <a:bodyPr/>
          <a:lstStyle/>
          <a:p>
            <a:pPr marL="0" indent="0">
              <a:buNone/>
            </a:pPr>
            <a:r>
              <a:rPr lang="en-US" i="1" dirty="0"/>
              <a:t>“The data appliance will ingest and store observational data, perform a series of automated quality control steps, and make the data and relevant metadata available through data services compliant with the Open Geospatial Consortium (OGC</a:t>
            </a:r>
            <a:r>
              <a:rPr lang="en-US" i="1" dirty="0" smtClean="0"/>
              <a:t>) Approaches </a:t>
            </a:r>
            <a:r>
              <a:rPr lang="en-US" i="1" dirty="0"/>
              <a:t>for Sharing Continuous Monitoring Data Sensor Observation Service (SOS) standard. OGC SOS provides access to data through the </a:t>
            </a:r>
            <a:r>
              <a:rPr lang="en-US" i="1" dirty="0" err="1"/>
              <a:t>WaterML</a:t>
            </a:r>
            <a:r>
              <a:rPr lang="en-US" i="1" dirty="0"/>
              <a:t> 2.0 standard and to metadata through the </a:t>
            </a:r>
            <a:r>
              <a:rPr lang="en-US" i="1" dirty="0" err="1"/>
              <a:t>SensorML</a:t>
            </a:r>
            <a:r>
              <a:rPr lang="en-US" i="1" dirty="0"/>
              <a:t> standard</a:t>
            </a:r>
            <a:r>
              <a:rPr lang="en-US" i="1" dirty="0" smtClean="0"/>
              <a:t>.”</a:t>
            </a:r>
            <a:endParaRPr lang="en-US" i="1" dirty="0"/>
          </a:p>
        </p:txBody>
      </p:sp>
      <p:sp>
        <p:nvSpPr>
          <p:cNvPr id="5" name="Slide Number Placeholder 4"/>
          <p:cNvSpPr>
            <a:spLocks noGrp="1"/>
          </p:cNvSpPr>
          <p:nvPr>
            <p:ph type="sldNum" sz="quarter" idx="11"/>
          </p:nvPr>
        </p:nvSpPr>
        <p:spPr/>
        <p:txBody>
          <a:bodyPr/>
          <a:lstStyle/>
          <a:p>
            <a:pPr>
              <a:defRPr/>
            </a:pPr>
            <a:fld id="{3ED129D0-DFFA-44F8-BA3B-A4FAE77A70BA}" type="slidenum">
              <a:rPr lang="en-US" smtClean="0"/>
              <a:pPr>
                <a:defRPr/>
              </a:pPr>
              <a:t>6</a:t>
            </a:fld>
            <a:endParaRPr lang="en-US" dirty="0"/>
          </a:p>
        </p:txBody>
      </p:sp>
    </p:spTree>
    <p:extLst>
      <p:ext uri="{BB962C8B-B14F-4D97-AF65-F5344CB8AC3E}">
        <p14:creationId xmlns:p14="http://schemas.microsoft.com/office/powerpoint/2010/main" val="3124846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Aspects of existing standards for discussion.</a:t>
            </a:r>
            <a:endParaRPr lang="en-US" dirty="0"/>
          </a:p>
        </p:txBody>
      </p:sp>
      <p:sp>
        <p:nvSpPr>
          <p:cNvPr id="3" name="Content Placeholder 2"/>
          <p:cNvSpPr>
            <a:spLocks noGrp="1"/>
          </p:cNvSpPr>
          <p:nvPr>
            <p:ph idx="1"/>
          </p:nvPr>
        </p:nvSpPr>
        <p:spPr/>
        <p:txBody>
          <a:bodyPr/>
          <a:lstStyle/>
          <a:p>
            <a:r>
              <a:rPr lang="en-US" dirty="0" smtClean="0"/>
              <a:t>WaterML2 Part 1: Handling of (inherent and inherited) sensor properties associated with a time series.</a:t>
            </a:r>
          </a:p>
          <a:p>
            <a:endParaRPr lang="en-US" dirty="0"/>
          </a:p>
          <a:p>
            <a:r>
              <a:rPr lang="en-US" dirty="0" smtClean="0"/>
              <a:t>WaterML2 Part 2 (?): Handling of reference to related discrete water quality samples and calibration information.</a:t>
            </a:r>
          </a:p>
          <a:p>
            <a:endParaRPr lang="en-US" dirty="0"/>
          </a:p>
          <a:p>
            <a:r>
              <a:rPr lang="en-US" dirty="0" err="1" smtClean="0"/>
              <a:t>SensorML</a:t>
            </a:r>
            <a:r>
              <a:rPr lang="en-US" dirty="0" smtClean="0"/>
              <a:t>… Starfish Fungus Language?  (For discussion)</a:t>
            </a:r>
            <a:endParaRPr lang="en-US" dirty="0"/>
          </a:p>
        </p:txBody>
      </p:sp>
      <p:sp>
        <p:nvSpPr>
          <p:cNvPr id="5" name="Slide Number Placeholder 4"/>
          <p:cNvSpPr>
            <a:spLocks noGrp="1"/>
          </p:cNvSpPr>
          <p:nvPr>
            <p:ph type="sldNum" sz="quarter" idx="11"/>
          </p:nvPr>
        </p:nvSpPr>
        <p:spPr/>
        <p:txBody>
          <a:bodyPr/>
          <a:lstStyle/>
          <a:p>
            <a:pPr>
              <a:defRPr/>
            </a:pPr>
            <a:fld id="{3ED129D0-DFFA-44F8-BA3B-A4FAE77A70BA}" type="slidenum">
              <a:rPr lang="en-US" smtClean="0"/>
              <a:pPr>
                <a:defRPr/>
              </a:pPr>
              <a:t>7</a:t>
            </a:fld>
            <a:endParaRPr lang="en-US" dirty="0"/>
          </a:p>
        </p:txBody>
      </p:sp>
    </p:spTree>
    <p:extLst>
      <p:ext uri="{BB962C8B-B14F-4D97-AF65-F5344CB8AC3E}">
        <p14:creationId xmlns:p14="http://schemas.microsoft.com/office/powerpoint/2010/main" val="3754592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Finding a pragmatic approach… *FL ??</a:t>
            </a:r>
            <a:endParaRPr lang="en-US" dirty="0"/>
          </a:p>
        </p:txBody>
      </p:sp>
      <p:sp>
        <p:nvSpPr>
          <p:cNvPr id="3" name="Content Placeholder 2"/>
          <p:cNvSpPr>
            <a:spLocks noGrp="1"/>
          </p:cNvSpPr>
          <p:nvPr>
            <p:ph idx="1"/>
          </p:nvPr>
        </p:nvSpPr>
        <p:spPr/>
        <p:txBody>
          <a:bodyPr/>
          <a:lstStyle/>
          <a:p>
            <a:r>
              <a:rPr lang="en-US" dirty="0"/>
              <a:t>Two parts: </a:t>
            </a:r>
            <a:r>
              <a:rPr lang="en-US" dirty="0" smtClean="0"/>
              <a:t>Sensor and deployment/calibration</a:t>
            </a:r>
          </a:p>
          <a:p>
            <a:pPr marL="0" indent="0">
              <a:buNone/>
            </a:pPr>
            <a:r>
              <a:rPr lang="en-US" dirty="0" smtClean="0"/>
              <a:t>	Inherent properties of a sensor of a given model. 	(Specified / guaranteed by the manufacturer) </a:t>
            </a:r>
          </a:p>
          <a:p>
            <a:pPr marL="0" indent="0">
              <a:buNone/>
            </a:pPr>
            <a:r>
              <a:rPr lang="en-US" dirty="0"/>
              <a:t>	</a:t>
            </a:r>
            <a:endParaRPr lang="en-US" dirty="0" smtClean="0"/>
          </a:p>
          <a:p>
            <a:pPr marL="0" indent="0">
              <a:buNone/>
            </a:pPr>
            <a:r>
              <a:rPr lang="en-US" dirty="0"/>
              <a:t>	</a:t>
            </a:r>
            <a:r>
              <a:rPr lang="en-US" dirty="0" smtClean="0"/>
              <a:t>Acquired properties of a deployed sensor. </a:t>
            </a:r>
          </a:p>
          <a:p>
            <a:pPr marL="0" indent="0">
              <a:buNone/>
            </a:pPr>
            <a:r>
              <a:rPr lang="en-US" dirty="0"/>
              <a:t>	</a:t>
            </a:r>
            <a:r>
              <a:rPr lang="en-US" dirty="0" smtClean="0"/>
              <a:t>(Specified by the sensor </a:t>
            </a:r>
            <a:r>
              <a:rPr lang="en-US" dirty="0" err="1" smtClean="0"/>
              <a:t>deployer</a:t>
            </a:r>
            <a:r>
              <a:rPr lang="en-US" dirty="0" smtClean="0"/>
              <a:t> or maintainer) </a:t>
            </a:r>
          </a:p>
          <a:p>
            <a:endParaRPr lang="en-US" dirty="0"/>
          </a:p>
        </p:txBody>
      </p:sp>
      <p:sp>
        <p:nvSpPr>
          <p:cNvPr id="4" name="Footer Placeholder 3"/>
          <p:cNvSpPr>
            <a:spLocks noGrp="1"/>
          </p:cNvSpPr>
          <p:nvPr>
            <p:ph type="ftr" sz="quarter" idx="10"/>
          </p:nvPr>
        </p:nvSpPr>
        <p:spPr/>
        <p:txBody>
          <a:bodyPr/>
          <a:lstStyle/>
          <a:p>
            <a:r>
              <a:rPr lang="en-GB" altLang="en-US" kern="0" smtClean="0">
                <a:cs typeface="Arial" pitchFamily="34" charset="0"/>
              </a:rPr>
              <a:t>5th, Workshop of OGC Hydro DWG, New York, 11-15 Aug 2014</a:t>
            </a:r>
            <a:endParaRPr lang="en-US" altLang="en-US" kern="0" dirty="0" smtClean="0">
              <a:cs typeface="Arial" pitchFamily="34" charset="0"/>
            </a:endParaRPr>
          </a:p>
        </p:txBody>
      </p:sp>
      <p:sp>
        <p:nvSpPr>
          <p:cNvPr id="5" name="Slide Number Placeholder 4"/>
          <p:cNvSpPr>
            <a:spLocks noGrp="1"/>
          </p:cNvSpPr>
          <p:nvPr>
            <p:ph type="sldNum" sz="quarter" idx="11"/>
          </p:nvPr>
        </p:nvSpPr>
        <p:spPr/>
        <p:txBody>
          <a:bodyPr/>
          <a:lstStyle/>
          <a:p>
            <a:pPr>
              <a:defRPr/>
            </a:pPr>
            <a:fld id="{3ED129D0-DFFA-44F8-BA3B-A4FAE77A70BA}" type="slidenum">
              <a:rPr lang="en-US" smtClean="0"/>
              <a:pPr>
                <a:defRPr/>
              </a:pPr>
              <a:t>8</a:t>
            </a:fld>
            <a:endParaRPr lang="en-US" dirty="0"/>
          </a:p>
        </p:txBody>
      </p:sp>
      <p:pic>
        <p:nvPicPr>
          <p:cNvPr id="6" name="Picture 5" descr="Screen Shot 2015-09-22 at 9.57.13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4982" y="4037003"/>
            <a:ext cx="5472545" cy="2744797"/>
          </a:xfrm>
          <a:prstGeom prst="rect">
            <a:avLst/>
          </a:prstGeom>
        </p:spPr>
      </p:pic>
    </p:spTree>
    <p:extLst>
      <p:ext uri="{BB962C8B-B14F-4D97-AF65-F5344CB8AC3E}">
        <p14:creationId xmlns:p14="http://schemas.microsoft.com/office/powerpoint/2010/main" val="814099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GB" altLang="en-US" kern="0" smtClean="0">
                <a:cs typeface="Arial" pitchFamily="34" charset="0"/>
              </a:rPr>
              <a:t>5th, Workshop of OGC Hydro DWG, New York, 11-15 Aug 2014</a:t>
            </a:r>
            <a:endParaRPr lang="en-US" altLang="en-US" kern="0" dirty="0" smtClean="0">
              <a:cs typeface="Arial" pitchFamily="34" charset="0"/>
            </a:endParaRPr>
          </a:p>
        </p:txBody>
      </p:sp>
      <p:sp>
        <p:nvSpPr>
          <p:cNvPr id="5" name="Slide Number Placeholder 4"/>
          <p:cNvSpPr>
            <a:spLocks noGrp="1"/>
          </p:cNvSpPr>
          <p:nvPr>
            <p:ph type="sldNum" sz="quarter" idx="11"/>
          </p:nvPr>
        </p:nvSpPr>
        <p:spPr/>
        <p:txBody>
          <a:bodyPr/>
          <a:lstStyle/>
          <a:p>
            <a:pPr>
              <a:defRPr/>
            </a:pPr>
            <a:fld id="{3ED129D0-DFFA-44F8-BA3B-A4FAE77A70BA}" type="slidenum">
              <a:rPr lang="en-US" smtClean="0"/>
              <a:pPr>
                <a:defRPr/>
              </a:pPr>
              <a:t>9</a:t>
            </a:fld>
            <a:endParaRPr lang="en-US" dirty="0"/>
          </a:p>
        </p:txBody>
      </p:sp>
      <p:pic>
        <p:nvPicPr>
          <p:cNvPr id="6" name="Picture 5" descr="Screen Shot 2015-09-22 at 9.51.38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153" y="0"/>
            <a:ext cx="8492947" cy="6858000"/>
          </a:xfrm>
          <a:prstGeom prst="rect">
            <a:avLst/>
          </a:prstGeom>
        </p:spPr>
      </p:pic>
      <p:sp>
        <p:nvSpPr>
          <p:cNvPr id="2" name="Title 1"/>
          <p:cNvSpPr>
            <a:spLocks noGrp="1"/>
          </p:cNvSpPr>
          <p:nvPr>
            <p:ph type="title"/>
          </p:nvPr>
        </p:nvSpPr>
        <p:spPr>
          <a:xfrm>
            <a:off x="3752273" y="136525"/>
            <a:ext cx="5163127" cy="685800"/>
          </a:xfrm>
        </p:spPr>
        <p:txBody>
          <a:bodyPr/>
          <a:lstStyle/>
          <a:p>
            <a:r>
              <a:rPr lang="en-US" dirty="0" smtClean="0"/>
              <a:t>Static/Sensor Module</a:t>
            </a:r>
            <a:endParaRPr lang="en-US" dirty="0"/>
          </a:p>
        </p:txBody>
      </p:sp>
    </p:spTree>
    <p:extLst>
      <p:ext uri="{BB962C8B-B14F-4D97-AF65-F5344CB8AC3E}">
        <p14:creationId xmlns:p14="http://schemas.microsoft.com/office/powerpoint/2010/main" val="1724980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(Deployment / Calibration)</a:t>
            </a:r>
            <a:endParaRPr lang="en-US" dirty="0"/>
          </a:p>
        </p:txBody>
      </p:sp>
      <p:sp>
        <p:nvSpPr>
          <p:cNvPr id="5" name="Slide Number Placeholder 4"/>
          <p:cNvSpPr>
            <a:spLocks noGrp="1"/>
          </p:cNvSpPr>
          <p:nvPr>
            <p:ph type="sldNum" sz="quarter" idx="11"/>
          </p:nvPr>
        </p:nvSpPr>
        <p:spPr/>
        <p:txBody>
          <a:bodyPr/>
          <a:lstStyle/>
          <a:p>
            <a:pPr>
              <a:defRPr/>
            </a:pPr>
            <a:fld id="{3ED129D0-DFFA-44F8-BA3B-A4FAE77A70BA}" type="slidenum">
              <a:rPr lang="en-US" smtClean="0"/>
              <a:pPr>
                <a:defRPr/>
              </a:pPr>
              <a:t>10</a:t>
            </a:fld>
            <a:endParaRPr lang="en-US" dirty="0"/>
          </a:p>
        </p:txBody>
      </p:sp>
      <p:pic>
        <p:nvPicPr>
          <p:cNvPr id="6" name="Picture 5" descr="Screen Shot 2015-09-22 at 9.54.40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04273"/>
            <a:ext cx="9144000" cy="5043209"/>
          </a:xfrm>
          <a:prstGeom prst="rect">
            <a:avLst/>
          </a:prstGeom>
        </p:spPr>
      </p:pic>
    </p:spTree>
    <p:extLst>
      <p:ext uri="{BB962C8B-B14F-4D97-AF65-F5344CB8AC3E}">
        <p14:creationId xmlns:p14="http://schemas.microsoft.com/office/powerpoint/2010/main" val="760462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a:t>
            </a:r>
            <a:r>
              <a:rPr lang="en-US" dirty="0"/>
              <a:t>P</a:t>
            </a:r>
            <a:r>
              <a:rPr lang="en-US" dirty="0" smtClean="0"/>
              <a:t>roposed Activity</a:t>
            </a:r>
            <a:endParaRPr lang="en-US" dirty="0"/>
          </a:p>
        </p:txBody>
      </p:sp>
      <p:sp>
        <p:nvSpPr>
          <p:cNvPr id="3" name="Content Placeholder 2"/>
          <p:cNvSpPr>
            <a:spLocks noGrp="1"/>
          </p:cNvSpPr>
          <p:nvPr>
            <p:ph idx="1"/>
          </p:nvPr>
        </p:nvSpPr>
        <p:spPr/>
        <p:txBody>
          <a:bodyPr/>
          <a:lstStyle/>
          <a:p>
            <a:r>
              <a:rPr lang="en-US" dirty="0" smtClean="0"/>
              <a:t>Evaluate existing system of standards for delivery of well documented CWQSD through use case and data analysis.</a:t>
            </a:r>
          </a:p>
          <a:p>
            <a:endParaRPr lang="en-US" dirty="0"/>
          </a:p>
          <a:p>
            <a:pPr lvl="1"/>
            <a:r>
              <a:rPr lang="en-US" dirty="0" smtClean="0"/>
              <a:t>Hydrology Profile of SOS 2.0</a:t>
            </a:r>
          </a:p>
          <a:p>
            <a:pPr lvl="1"/>
            <a:r>
              <a:rPr lang="en-US" dirty="0" smtClean="0"/>
              <a:t>WaterML2 Part 2</a:t>
            </a:r>
          </a:p>
          <a:p>
            <a:pPr lvl="1"/>
            <a:r>
              <a:rPr lang="en-US" dirty="0" smtClean="0"/>
              <a:t>CSW / ISO metadata (?)</a:t>
            </a:r>
          </a:p>
          <a:p>
            <a:pPr lvl="1"/>
            <a:endParaRPr lang="en-US" dirty="0"/>
          </a:p>
          <a:p>
            <a:pPr marL="347663" lvl="1" indent="0">
              <a:buNone/>
            </a:pPr>
            <a:r>
              <a:rPr lang="en-US" dirty="0" smtClean="0"/>
              <a:t>Outcome would be an ER summarizing the outcomes, what a best practice might look like, and what changes to existing specs may be warranted. </a:t>
            </a:r>
          </a:p>
          <a:p>
            <a:pPr marL="347663" lvl="1" indent="0">
              <a:buNone/>
            </a:pPr>
            <a:endParaRPr lang="en-US" dirty="0"/>
          </a:p>
          <a:p>
            <a:pPr marL="347663" lvl="1" indent="0">
              <a:buNone/>
            </a:pPr>
            <a:endParaRPr lang="en-US" dirty="0"/>
          </a:p>
        </p:txBody>
      </p:sp>
      <p:sp>
        <p:nvSpPr>
          <p:cNvPr id="5" name="Slide Number Placeholder 4"/>
          <p:cNvSpPr>
            <a:spLocks noGrp="1"/>
          </p:cNvSpPr>
          <p:nvPr>
            <p:ph type="sldNum" sz="quarter" idx="11"/>
          </p:nvPr>
        </p:nvSpPr>
        <p:spPr/>
        <p:txBody>
          <a:bodyPr/>
          <a:lstStyle/>
          <a:p>
            <a:pPr>
              <a:defRPr/>
            </a:pPr>
            <a:fld id="{3ED129D0-DFFA-44F8-BA3B-A4FAE77A70BA}" type="slidenum">
              <a:rPr lang="en-US" smtClean="0"/>
              <a:pPr>
                <a:defRPr/>
              </a:pPr>
              <a:t>11</a:t>
            </a:fld>
            <a:endParaRPr lang="en-US" dirty="0"/>
          </a:p>
        </p:txBody>
      </p:sp>
    </p:spTree>
    <p:extLst>
      <p:ext uri="{BB962C8B-B14F-4D97-AF65-F5344CB8AC3E}">
        <p14:creationId xmlns:p14="http://schemas.microsoft.com/office/powerpoint/2010/main" val="253864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WaterML2 </a:t>
            </a:r>
            <a:r>
              <a:rPr lang="en-US" dirty="0"/>
              <a:t>Water Quality: </a:t>
            </a:r>
            <a:r>
              <a:rPr lang="en-US" dirty="0">
                <a:hlinkClick r:id="rId2"/>
              </a:rPr>
              <a:t>https://portal.opengeospatial.org/files/?artifact_id=59651&amp;version=</a:t>
            </a:r>
            <a:r>
              <a:rPr lang="en-US" dirty="0" smtClean="0">
                <a:hlinkClick r:id="rId2"/>
              </a:rPr>
              <a:t>1</a:t>
            </a:r>
            <a:endParaRPr lang="en-US" dirty="0" smtClean="0"/>
          </a:p>
          <a:p>
            <a:endParaRPr lang="en-US" dirty="0"/>
          </a:p>
          <a:p>
            <a:r>
              <a:rPr lang="en-US" dirty="0" err="1" smtClean="0"/>
              <a:t>StarFish</a:t>
            </a:r>
            <a:r>
              <a:rPr lang="en-US" dirty="0" smtClean="0"/>
              <a:t> </a:t>
            </a:r>
            <a:r>
              <a:rPr lang="en-US" dirty="0"/>
              <a:t>Fungus Language: </a:t>
            </a:r>
            <a:r>
              <a:rPr lang="en-US" dirty="0">
                <a:hlinkClick r:id="rId3"/>
              </a:rPr>
              <a:t>https://portal.opengeospatial.org/files/?artifact_id=44438&amp;version=</a:t>
            </a:r>
            <a:r>
              <a:rPr lang="en-US" dirty="0" smtClean="0">
                <a:hlinkClick r:id="rId3"/>
              </a:rPr>
              <a:t>2</a:t>
            </a:r>
            <a:endParaRPr lang="en-US" dirty="0" smtClean="0"/>
          </a:p>
          <a:p>
            <a:endParaRPr lang="en-US" dirty="0"/>
          </a:p>
        </p:txBody>
      </p:sp>
      <p:sp>
        <p:nvSpPr>
          <p:cNvPr id="4" name="Footer Placeholder 3"/>
          <p:cNvSpPr>
            <a:spLocks noGrp="1"/>
          </p:cNvSpPr>
          <p:nvPr>
            <p:ph type="ftr" sz="quarter" idx="10"/>
          </p:nvPr>
        </p:nvSpPr>
        <p:spPr/>
        <p:txBody>
          <a:bodyPr/>
          <a:lstStyle/>
          <a:p>
            <a:r>
              <a:rPr lang="en-GB" altLang="en-US" kern="0" smtClean="0">
                <a:cs typeface="Arial" pitchFamily="34" charset="0"/>
              </a:rPr>
              <a:t>5th, Workshop of OGC Hydro DWG, New York, 11-15 Aug 2014</a:t>
            </a:r>
            <a:endParaRPr lang="en-US" altLang="en-US" kern="0" dirty="0" smtClean="0">
              <a:cs typeface="Arial" pitchFamily="34" charset="0"/>
            </a:endParaRPr>
          </a:p>
        </p:txBody>
      </p:sp>
      <p:sp>
        <p:nvSpPr>
          <p:cNvPr id="5" name="Slide Number Placeholder 4"/>
          <p:cNvSpPr>
            <a:spLocks noGrp="1"/>
          </p:cNvSpPr>
          <p:nvPr>
            <p:ph type="sldNum" sz="quarter" idx="11"/>
          </p:nvPr>
        </p:nvSpPr>
        <p:spPr/>
        <p:txBody>
          <a:bodyPr/>
          <a:lstStyle/>
          <a:p>
            <a:pPr>
              <a:defRPr/>
            </a:pPr>
            <a:fld id="{3ED129D0-DFFA-44F8-BA3B-A4FAE77A70BA}" type="slidenum">
              <a:rPr lang="en-US" smtClean="0"/>
              <a:pPr>
                <a:defRPr/>
              </a:pPr>
              <a:t>12</a:t>
            </a:fld>
            <a:endParaRPr lang="en-US" dirty="0"/>
          </a:p>
        </p:txBody>
      </p:sp>
    </p:spTree>
    <p:extLst>
      <p:ext uri="{BB962C8B-B14F-4D97-AF65-F5344CB8AC3E}">
        <p14:creationId xmlns:p14="http://schemas.microsoft.com/office/powerpoint/2010/main" val="2373797234"/>
      </p:ext>
    </p:extLst>
  </p:cSld>
  <p:clrMapOvr>
    <a:masterClrMapping/>
  </p:clrMapOvr>
</p:sld>
</file>

<file path=ppt/theme/theme1.xml><?xml version="1.0" encoding="utf-8"?>
<a:theme xmlns:a="http://schemas.openxmlformats.org/drawingml/2006/main" name="OGC_PowerPoint_Template">
  <a:themeElements>
    <a:clrScheme name="">
      <a:dk1>
        <a:srgbClr val="000000"/>
      </a:dk1>
      <a:lt1>
        <a:srgbClr val="FFFFCC"/>
      </a:lt1>
      <a:dk2>
        <a:srgbClr val="092E5C"/>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OGC_PowerPoint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rgbClr val="969696"/>
          </a:solidFill>
          <a:prstDash val="solid"/>
          <a:round/>
          <a:headEnd type="none" w="med" len="med"/>
          <a:tailEnd type="none" w="med" len="med"/>
        </a:ln>
        <a:effectLst/>
      </a:spPr>
      <a:bodyPr rtlCol="0" anchor="ctr"/>
      <a:lstStyle>
        <a:defPPr algn="ctr">
          <a:defRPr/>
        </a:defPPr>
      </a:lstStyle>
    </a:spDef>
    <a:lnDef>
      <a:spPr bwMode="auto">
        <a:noFill/>
        <a:ln w="12700" cap="flat" cmpd="sng" algn="ctr">
          <a:solidFill>
            <a:srgbClr val="969696"/>
          </a:solidFill>
          <a:prstDash val="solid"/>
          <a:round/>
          <a:headEnd type="none" w="med" len="med"/>
          <a:tailEnd type="none" w="med" len="med"/>
        </a:ln>
        <a:effectLst/>
      </a:spPr>
      <a:bodyPr/>
      <a:lstStyle/>
    </a:lnDef>
    <a:txDef>
      <a:spPr>
        <a:noFill/>
      </a:spPr>
      <a:bodyPr wrap="none" rtlCol="0">
        <a:noAutofit/>
      </a:bodyPr>
      <a:lstStyle>
        <a:defPPr>
          <a:defRPr dirty="0" err="1" smtClean="0"/>
        </a:defPPr>
      </a:lstStyle>
    </a:txDef>
  </a:objectDefaults>
  <a:extraClrSchemeLst>
    <a:extraClrScheme>
      <a:clrScheme name="OGC_PowerPoint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GC_PowerPoint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GC_PowerPoint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GC_PowerPoint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GC_PowerPoint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GC_PowerPoint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GC_PowerPoint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191</TotalTime>
  <Words>552</Words>
  <Application>Microsoft Macintosh PowerPoint</Application>
  <PresentationFormat>On-screen Show (4:3)</PresentationFormat>
  <Paragraphs>66</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OGC_PowerPoint_Template</vt:lpstr>
      <vt:lpstr>Continuous Water Quality Sensor Data Exchange Interoperability</vt:lpstr>
      <vt:lpstr>Motivation</vt:lpstr>
      <vt:lpstr>PowerPoint Presentation</vt:lpstr>
      <vt:lpstr>Concept and Timeline of EPA Pilots</vt:lpstr>
      <vt:lpstr>DRAFT Architecture for Pilot Evaluation</vt:lpstr>
      <vt:lpstr>Draft Recommendation</vt:lpstr>
      <vt:lpstr>Aspects of existing standards for discussion.</vt:lpstr>
      <vt:lpstr>Finding a pragmatic approach… *FL ??</vt:lpstr>
      <vt:lpstr>Static/Sensor Module</vt:lpstr>
      <vt:lpstr>Dynamic (Deployment / Calibration)</vt:lpstr>
      <vt:lpstr>A Proposed Activity</vt:lpstr>
      <vt:lpstr>References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Water Quality Sensor Data Exchange Interoperability</dc:title>
  <dc:creator>David Blodgett</dc:creator>
  <cp:lastModifiedBy>David Blodgett</cp:lastModifiedBy>
  <cp:revision>13</cp:revision>
  <dcterms:created xsi:type="dcterms:W3CDTF">2015-09-22T07:15:31Z</dcterms:created>
  <dcterms:modified xsi:type="dcterms:W3CDTF">2015-09-24T13:36:07Z</dcterms:modified>
</cp:coreProperties>
</file>