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8" r:id="rId2"/>
    <p:sldId id="336" r:id="rId3"/>
    <p:sldId id="350" r:id="rId4"/>
    <p:sldId id="341" r:id="rId5"/>
  </p:sldIdLst>
  <p:sldSz cx="9144000" cy="6858000" type="screen4x3"/>
  <p:notesSz cx="7099300" cy="10234613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D9D"/>
    <a:srgbClr val="81FA26"/>
    <a:srgbClr val="3A7A8F"/>
    <a:srgbClr val="33B3B3"/>
    <a:srgbClr val="FF9218"/>
    <a:srgbClr val="66CC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21" autoAdjust="0"/>
    <p:restoredTop sz="94660"/>
  </p:normalViewPr>
  <p:slideViewPr>
    <p:cSldViewPr>
      <p:cViewPr varScale="1">
        <p:scale>
          <a:sx n="81" d="100"/>
          <a:sy n="81" d="100"/>
        </p:scale>
        <p:origin x="81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937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" pitchFamily="18" charset="0"/>
              </a:defRPr>
            </a:lvl1pPr>
          </a:lstStyle>
          <a:p>
            <a:fld id="{33DA42C1-DA04-4DF4-9561-6734786B60B0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9083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937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574" y="4861441"/>
            <a:ext cx="5206153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" pitchFamily="18" charset="0"/>
              </a:defRPr>
            </a:lvl1pPr>
          </a:lstStyle>
          <a:p>
            <a:fld id="{B814575C-EC0B-41C9-B019-DBF56983308E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34036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14575C-EC0B-41C9-B019-DBF56983308E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83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29119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28800" y="1295400"/>
            <a:ext cx="6781800" cy="3657600"/>
          </a:xfrm>
        </p:spPr>
        <p:txBody>
          <a:bodyPr anchor="ctr"/>
          <a:lstStyle>
            <a:lvl1pPr algn="r">
              <a:defRPr sz="4800"/>
            </a:lvl1pPr>
          </a:lstStyle>
          <a:p>
            <a:pPr lvl="0"/>
            <a:r>
              <a:rPr lang="fr-FR" noProof="0" smtClean="0"/>
              <a:t>Modifiez le style du titre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5943600"/>
            <a:ext cx="5638800" cy="609600"/>
          </a:xfrm>
        </p:spPr>
        <p:txBody>
          <a:bodyPr anchor="b"/>
          <a:lstStyle>
            <a:lvl1pPr marL="0" indent="0">
              <a:buFontTx/>
              <a:buNone/>
              <a:defRPr sz="1400" b="0"/>
            </a:lvl1pPr>
          </a:lstStyle>
          <a:p>
            <a:pPr lvl="0"/>
            <a:r>
              <a:rPr lang="fr-FR" noProof="0" smtClean="0"/>
              <a:t>Modifiez le style des sous-titres du masque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381000" y="304800"/>
            <a:ext cx="8382000" cy="6248400"/>
          </a:xfrm>
          <a:prstGeom prst="rect">
            <a:avLst/>
          </a:prstGeom>
          <a:noFill/>
          <a:ln w="12700">
            <a:solidFill>
              <a:srgbClr val="3A7A8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9230" name="Rectangle 14"/>
          <p:cNvSpPr>
            <a:spLocks noGrp="1" noChangeArrowheads="1"/>
          </p:cNvSpPr>
          <p:nvPr>
            <p:ph type="dt" sz="quarter" idx="2"/>
          </p:nvPr>
        </p:nvSpPr>
        <p:spPr>
          <a:xfrm>
            <a:off x="381000" y="6553200"/>
            <a:ext cx="3276600" cy="304800"/>
          </a:xfrm>
        </p:spPr>
        <p:txBody>
          <a:bodyPr/>
          <a:lstStyle>
            <a:lvl1pPr>
              <a:defRPr sz="1200"/>
            </a:lvl1pPr>
          </a:lstStyle>
          <a:p>
            <a:fld id="{EE027328-AF77-497C-ACAD-8DD8AF08CB0A}" type="datetime2">
              <a:rPr lang="fr-FR"/>
              <a:pPr/>
              <a:t>mardi 20 juin 2017</a:t>
            </a:fld>
            <a:endParaRPr lang="fr-FR" sz="1400" b="1">
              <a:latin typeface="Times" pitchFamily="18" charset="0"/>
            </a:endParaRPr>
          </a:p>
        </p:txBody>
      </p:sp>
      <p:pic>
        <p:nvPicPr>
          <p:cNvPr id="9231" name="Picture 15" descr="&#10;Frise_ppt.jpg                                                  0001758CInformatique                   B836A67F: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850" y="312738"/>
            <a:ext cx="4121150" cy="41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2" name="Picture 16" descr="BRGM_log_RVB_OK copie.jpg                                      0001758CInformatique                   B836A67F: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770563"/>
            <a:ext cx="1789113" cy="706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5AB3EA-ADE0-4DAC-886B-C474BD3B74C9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C0D72CD9-A247-4912-BFD1-6E7DD107D632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866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7F15F1-95A7-480A-93BA-F5FD77EB9451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4831642F-9A48-476C-99F7-D190911CE8FC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472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306513" y="1371600"/>
            <a:ext cx="315595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14863" y="1371600"/>
            <a:ext cx="3157537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B0D768-9D44-4F1D-AB4C-30062714F841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7F99C49C-0F7F-4892-8C9F-248984567316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42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2C0F16-C17B-41DE-8A41-13698432514E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424A3869-0C3F-48B4-BF30-FA0B0CAF76E5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092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00CE75-BC77-4048-AEA4-67E97F4FE482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BC7B207C-E62C-450C-94B6-2933A15854D7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14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243201-3636-4836-83C0-B4A164E5CFF0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C8BE5DAE-9109-41E9-9FDA-B6443877C9A8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769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B53A83A-948B-468D-AE19-439E5E979F57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D3AB18ED-EFE1-4A75-BFF8-7D666CB0A916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703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F81C03-1E9F-4C84-8AA5-5562DCD7DC1B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C78FF34B-A223-46E3-86FB-AE793176ECEB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00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FDE939-39C1-4072-8C85-D4C6F1488AD8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7FCB5D8D-255A-405C-996C-ADEFAC9F27BC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948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5924550" y="304800"/>
            <a:ext cx="1847850" cy="55626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5391150" cy="556260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C81A7E-17B3-4235-AD93-75E60B0CE9A4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FC03FE9A-3C6D-4CEC-AEBF-253148A92F64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27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04800"/>
            <a:ext cx="5791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et modifiez le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06513" y="1371600"/>
            <a:ext cx="6465887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7162800" y="62484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fr-FR" sz="2400" b="0">
              <a:latin typeface="Times" pitchFamily="18" charset="0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381000" y="304800"/>
            <a:ext cx="8382000" cy="6248400"/>
          </a:xfrm>
          <a:prstGeom prst="rect">
            <a:avLst/>
          </a:prstGeom>
          <a:noFill/>
          <a:ln w="12700">
            <a:solidFill>
              <a:srgbClr val="3A7A8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47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53200"/>
            <a:ext cx="19050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/>
            </a:lvl1pPr>
          </a:lstStyle>
          <a:p>
            <a:fld id="{E6C32AE2-FEE4-4828-889E-8EB2ED0CF187}" type="datetime2">
              <a:rPr lang="fr-FR"/>
              <a:pPr/>
              <a:t>mardi 20 juin 2017</a:t>
            </a:fld>
            <a:endParaRPr lang="fr-FR"/>
          </a:p>
        </p:txBody>
      </p:sp>
      <p:sp>
        <p:nvSpPr>
          <p:cNvPr id="1048" name="Rectangle 2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1000" y="6248400"/>
            <a:ext cx="2819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1049" name="Rectangle 2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53200"/>
            <a:ext cx="1981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3A7A8F"/>
                </a:solidFill>
              </a:defRPr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326A04FC-8C6F-47C1-801A-7B666C115344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A7A8F"/>
        </a:buClr>
        <a:buSzPct val="150000"/>
        <a:buChar char="&gt;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3A7A8F"/>
        </a:buClr>
        <a:buSzPct val="150000"/>
        <a:buFont typeface="Times" pitchFamily="18" charset="0"/>
        <a:buChar char="•"/>
        <a:defRPr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A7A8F"/>
        </a:buClr>
        <a:buSzPct val="150000"/>
        <a:buChar char="–"/>
        <a:defRPr sz="1600">
          <a:solidFill>
            <a:schemeClr val="tx1"/>
          </a:solidFill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xternal.opengis.org/twiki_public/pub/HydrologyDWG/WorkshopKoblenz2016/20160614_Inspire_OM_SWE_requirements_Grellet.ppt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inspire.ec.europa.eu/id/document/tg/download-sos" TargetMode="External"/><Relationship Id="rId4" Type="http://schemas.openxmlformats.org/officeDocument/2006/relationships/hyperlink" Target="http://inspire.ec.europa.eu/id/document/tg/d2.9-o&amp;m-sw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4"/>
          <p:cNvSpPr>
            <a:spLocks noGrp="1" noChangeArrowheads="1"/>
          </p:cNvSpPr>
          <p:nvPr>
            <p:ph type="dt" sz="quarter" idx="2"/>
          </p:nvPr>
        </p:nvSpPr>
        <p:spPr>
          <a:xfrm>
            <a:off x="381000" y="6553200"/>
            <a:ext cx="4623048" cy="304800"/>
          </a:xfrm>
        </p:spPr>
        <p:txBody>
          <a:bodyPr/>
          <a:lstStyle/>
          <a:p>
            <a:r>
              <a:rPr lang="en-US" dirty="0" smtClean="0"/>
              <a:t>OGC Hydro DWG Workshop </a:t>
            </a:r>
            <a:r>
              <a:rPr lang="en-US" dirty="0" smtClean="0"/>
              <a:t>2017 </a:t>
            </a:r>
            <a:r>
              <a:rPr lang="en-US" dirty="0"/>
              <a:t>– </a:t>
            </a:r>
            <a:r>
              <a:rPr lang="en-US" dirty="0" smtClean="0"/>
              <a:t> </a:t>
            </a:r>
            <a:r>
              <a:rPr lang="en-US" dirty="0"/>
              <a:t>Tuscaloosa </a:t>
            </a:r>
            <a:r>
              <a:rPr lang="en-US" dirty="0" smtClean="0"/>
              <a:t>– </a:t>
            </a:r>
            <a:r>
              <a:rPr lang="en-US" dirty="0" smtClean="0"/>
              <a:t>2017-06-20</a:t>
            </a:r>
            <a:endParaRPr lang="fr-FR" sz="1400" b="1" dirty="0">
              <a:latin typeface="Times" pitchFamily="18" charset="0"/>
            </a:endParaRPr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15616" y="1700808"/>
            <a:ext cx="6997824" cy="2376264"/>
          </a:xfrm>
        </p:spPr>
        <p:txBody>
          <a:bodyPr/>
          <a:lstStyle/>
          <a:p>
            <a:pPr algn="ctr"/>
            <a:r>
              <a:rPr lang="fr-FR" sz="3600" dirty="0" smtClean="0"/>
              <a:t>Inspire </a:t>
            </a:r>
            <a:r>
              <a:rPr lang="fr-FR" sz="3600" dirty="0"/>
              <a:t>O&amp;M &amp; SWE </a:t>
            </a:r>
            <a:r>
              <a:rPr lang="fr-FR" sz="3600" dirty="0" err="1"/>
              <a:t>requirements</a:t>
            </a:r>
            <a:r>
              <a:rPr lang="fr-FR" sz="3600" dirty="0"/>
              <a:t> </a:t>
            </a:r>
            <a:r>
              <a:rPr lang="fr-FR" sz="3600" dirty="0" smtClean="0"/>
              <a:t>/ </a:t>
            </a:r>
            <a:r>
              <a:rPr lang="fr-FR" sz="3600" dirty="0" err="1" smtClean="0"/>
              <a:t>technical</a:t>
            </a:r>
            <a:r>
              <a:rPr lang="fr-FR" sz="3600" dirty="0" smtClean="0"/>
              <a:t> guidance</a:t>
            </a:r>
            <a:endParaRPr lang="fr-FR" sz="1600" dirty="0"/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BRGM – </a:t>
            </a:r>
            <a:r>
              <a:rPr lang="fr-FR" dirty="0" err="1" smtClean="0"/>
              <a:t>S.Grellet</a:t>
            </a:r>
            <a:endParaRPr lang="fr-FR" dirty="0" smtClean="0"/>
          </a:p>
        </p:txBody>
      </p:sp>
      <p:pic>
        <p:nvPicPr>
          <p:cNvPr id="67591" name="Picture 7" descr="D:\Dce Alain\logo janvier 2003\logos 2003 validés alain\version fevrier 2003\pcx\BRGM\BRGM couleur.pcx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663" y="5591175"/>
            <a:ext cx="2057400" cy="94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Context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 years of work updating EU INSPIRE rules regarding O&amp;M &amp; SWE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TC Washington 2016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HydroDWG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presentation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TC 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Dublin 2016 SWE DWG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presentation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see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OGC portal)</a:t>
            </a:r>
          </a:p>
          <a:p>
            <a:pPr lvl="1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Documents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circulated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to SWE DWG and Hydro DWG</a:t>
            </a:r>
          </a:p>
          <a:p>
            <a:pPr lvl="1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Feedback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EU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member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states</a:t>
            </a:r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Now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officially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endorsed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dirty="0">
                <a:hlinkClick r:id="rId4"/>
              </a:rPr>
              <a:t>Guidelines for the use of Observations &amp; Measurements and Sensor Web Enablement-related standards in INSPIRE</a:t>
            </a:r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>
                <a:hlinkClick r:id="rId5"/>
              </a:rPr>
              <a:t>Technical Guidance for implementing download services using the OGC Sensor Observation Service and ISO 19143 Filter </a:t>
            </a:r>
            <a:r>
              <a:rPr lang="en-GB" dirty="0" smtClean="0">
                <a:hlinkClick r:id="rId5"/>
              </a:rPr>
              <a:t>Encoding</a:t>
            </a:r>
            <a:endParaRPr lang="en-GB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2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47699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Proposal</a:t>
            </a:r>
            <a:r>
              <a:rPr lang="fr-FR" dirty="0" smtClean="0"/>
              <a:t> </a:t>
            </a:r>
            <a:r>
              <a:rPr lang="fr-FR" dirty="0" err="1" smtClean="0"/>
              <a:t>stemming</a:t>
            </a:r>
            <a:r>
              <a:rPr lang="fr-FR" dirty="0" smtClean="0"/>
              <a:t> out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exercise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Have the « Guidelines for the use of Observations &amp; Measurements and Sensor Web Enablement-related standards in INSPIRE” as an OGC BP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Already modular specification structure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Contains an updated proposal for the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GetDataAvailability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operation and also for a hierarchical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ObservationOffering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structure</a:t>
            </a:r>
          </a:p>
          <a:p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Already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start working/testing the ‘expected next steps’ identified in that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document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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O&amp;M and SWE JSON encoding rules,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Out of band issues,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Official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GetDataAvailability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operation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Standard functionality to merge multiple observations into SWE data arrays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3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36694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Windows\Web\Wallpaper\BRGM\fond_ecran_2013_0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52736"/>
            <a:ext cx="8525746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70409" y="1124744"/>
            <a:ext cx="7441951" cy="4495800"/>
          </a:xfrm>
          <a:noFill/>
        </p:spPr>
        <p:txBody>
          <a:bodyPr/>
          <a:lstStyle/>
          <a:p>
            <a:pPr marL="0" indent="0">
              <a:buNone/>
            </a:pPr>
            <a:r>
              <a:rPr lang="fr-FR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s.grellet@brgm.fr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4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2017 –  Tuscaloosa – 2017-06-20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60128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_PowerPoint_BRGM">
  <a:themeElements>
    <a:clrScheme name="Thèm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hème 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hèm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Modèle_PowerPoint_BRGM</Template>
  <TotalTime>5930</TotalTime>
  <Words>152</Words>
  <Application>Microsoft Office PowerPoint</Application>
  <PresentationFormat>Affichage à l'écran (4:3)</PresentationFormat>
  <Paragraphs>40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Arial</vt:lpstr>
      <vt:lpstr>Calibri</vt:lpstr>
      <vt:lpstr>Times</vt:lpstr>
      <vt:lpstr>Times New Roman</vt:lpstr>
      <vt:lpstr>Wingdings</vt:lpstr>
      <vt:lpstr>Modèle_PowerPoint_BRGM</vt:lpstr>
      <vt:lpstr>Inspire O&amp;M &amp; SWE requirements / technical guidance</vt:lpstr>
      <vt:lpstr>Context</vt:lpstr>
      <vt:lpstr>Proposal stemming out from that exercise</vt:lpstr>
      <vt:lpstr>Thank you</vt:lpstr>
    </vt:vector>
  </TitlesOfParts>
  <Company>BRGM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  exemple de réalisation</dc:title>
  <dc:creator>J.J.Serrano</dc:creator>
  <cp:lastModifiedBy>Grellet Sylvain</cp:lastModifiedBy>
  <cp:revision>677</cp:revision>
  <cp:lastPrinted>2014-02-12T08:10:37Z</cp:lastPrinted>
  <dcterms:created xsi:type="dcterms:W3CDTF">2013-06-19T08:50:55Z</dcterms:created>
  <dcterms:modified xsi:type="dcterms:W3CDTF">2017-06-20T21:25:09Z</dcterms:modified>
</cp:coreProperties>
</file>