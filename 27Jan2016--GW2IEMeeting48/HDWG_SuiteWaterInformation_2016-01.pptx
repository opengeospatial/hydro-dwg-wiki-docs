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27" r:id="rId2"/>
  </p:sldIdLst>
  <p:sldSz cx="9144000" cy="6858000" type="screen4x3"/>
  <p:notesSz cx="6797675" cy="9926638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7">
          <p15:clr>
            <a:srgbClr val="A4A3A4"/>
          </p15:clr>
        </p15:guide>
        <p15:guide id="2" pos="351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3366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51" autoAdjust="0"/>
    <p:restoredTop sz="94671"/>
  </p:normalViewPr>
  <p:slideViewPr>
    <p:cSldViewPr showGuides="1">
      <p:cViewPr varScale="1">
        <p:scale>
          <a:sx n="87" d="100"/>
          <a:sy n="87" d="100"/>
        </p:scale>
        <p:origin x="1242" y="60"/>
      </p:cViewPr>
      <p:guideLst>
        <p:guide orient="horz" pos="2387"/>
        <p:guide pos="351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5710"/>
            <a:ext cx="5438775" cy="4466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Textmasterformate durch Klicken bearbeiten</a:t>
            </a:r>
          </a:p>
          <a:p>
            <a:pPr lvl="1"/>
            <a:r>
              <a:rPr lang="en-GB" noProof="0" smtClean="0"/>
              <a:t>Zweite Ebene</a:t>
            </a:r>
          </a:p>
          <a:p>
            <a:pPr lvl="2"/>
            <a:r>
              <a:rPr lang="en-GB" noProof="0" smtClean="0"/>
              <a:t>Dritte Ebene</a:t>
            </a:r>
          </a:p>
          <a:p>
            <a:pPr lvl="3"/>
            <a:r>
              <a:rPr lang="en-GB" noProof="0" smtClean="0"/>
              <a:t>Vierte Ebene</a:t>
            </a:r>
          </a:p>
          <a:p>
            <a:pPr lvl="4"/>
            <a:r>
              <a:rPr lang="en-GB" noProof="0" smtClean="0"/>
              <a:t>Fünfte Ebene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242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242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4051F01-34EE-4C5C-955A-7F8BEA0B182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65233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F8AB36FB-2821-4605-99FD-4619310A020B}" type="datetime1">
              <a:rPr lang="en-GB"/>
              <a:pPr>
                <a:defRPr/>
              </a:pPr>
              <a:t>15/01/2016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</p:spTree>
    <p:extLst>
      <p:ext uri="{BB962C8B-B14F-4D97-AF65-F5344CB8AC3E}">
        <p14:creationId xmlns:p14="http://schemas.microsoft.com/office/powerpoint/2010/main" val="4093972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BA22C867-C22E-4754-81A7-E0EEF1D3A57C}" type="datetime1">
              <a:rPr lang="en-GB"/>
              <a:pPr>
                <a:defRPr/>
              </a:pPr>
              <a:t>15/01/2016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</p:spTree>
    <p:extLst>
      <p:ext uri="{BB962C8B-B14F-4D97-AF65-F5344CB8AC3E}">
        <p14:creationId xmlns:p14="http://schemas.microsoft.com/office/powerpoint/2010/main" val="3142590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1C33763D-F0CA-45F0-8FED-A96FB84EC3D6}" type="datetime1">
              <a:rPr lang="en-GB"/>
              <a:pPr>
                <a:defRPr/>
              </a:pPr>
              <a:t>15/01/2016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79C470-7F4B-4806-B818-14613218D19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6209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47EE6D58-24F0-4820-A003-3BCDF39B2FDF}" type="datetime1">
              <a:rPr lang="en-GB"/>
              <a:pPr>
                <a:defRPr/>
              </a:pPr>
              <a:t>15/01/2016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682B35-AD0E-4469-837B-ADF61669901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8730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A02DF2B4-C32F-4877-9494-B9A0BF6392DA}" type="datetime1">
              <a:rPr lang="en-GB"/>
              <a:pPr>
                <a:defRPr/>
              </a:pPr>
              <a:t>15/01/2016</a:t>
            </a:fld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3ECD94-67D7-4A2C-B6DB-FD8DD08711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0803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7519FEBF-4983-444F-8A83-B2C2D35D227F}" type="datetime1">
              <a:rPr lang="en-GB"/>
              <a:pPr>
                <a:defRPr/>
              </a:pPr>
              <a:t>15/01/2016</a:t>
            </a:fld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9D8986-C530-4D59-8C8A-212DE80876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5506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C1FC57EB-AA14-432F-BC49-F838223CF465}" type="datetime1">
              <a:rPr lang="en-GB"/>
              <a:pPr>
                <a:defRPr/>
              </a:pPr>
              <a:t>15/01/2016</a:t>
            </a:fld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E5E1B8-E1EA-4035-BEA1-DAA38DD3A5E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0274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4D810332-8693-4A5C-B0A0-9BC6A33292B8}" type="datetime1">
              <a:rPr lang="en-GB"/>
              <a:pPr>
                <a:defRPr/>
              </a:pPr>
              <a:t>15/01/2016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B8CDB3-C5F1-43F6-941B-7229598B94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199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197350F4-4FF4-4A4D-8E78-8EA80586E666}" type="datetime1">
              <a:rPr lang="en-GB"/>
              <a:pPr>
                <a:defRPr/>
              </a:pPr>
              <a:t>15/01/2016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3713B8-542A-4299-9891-2CE5FE12FF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2593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C110AD65-1A73-4C8A-8006-BFA10DA19E32}" type="datetime1">
              <a:rPr lang="en-GB"/>
              <a:pPr>
                <a:defRPr/>
              </a:pPr>
              <a:t>15/01/2016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6D320C-68CF-4EFB-82E7-A9B9F3E70B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7492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58369FA2-0200-41B8-89DC-EDA4FE3817DE}" type="datetime1">
              <a:rPr lang="en-GB"/>
              <a:pPr>
                <a:defRPr/>
              </a:pPr>
              <a:t>15/01/2016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50DE84-48AF-4B31-83D8-F5A85BC012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267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Textmasterformate durch Klicken bearbeiten</a:t>
            </a:r>
          </a:p>
          <a:p>
            <a:pPr lvl="1"/>
            <a:r>
              <a:rPr lang="en-GB" altLang="en-US" smtClean="0"/>
              <a:t>Zweite Ebene</a:t>
            </a:r>
          </a:p>
          <a:p>
            <a:pPr lvl="2"/>
            <a:r>
              <a:rPr lang="en-GB" altLang="en-US" smtClean="0"/>
              <a:t>Dritte Ebene</a:t>
            </a:r>
          </a:p>
          <a:p>
            <a:pPr lvl="3"/>
            <a:r>
              <a:rPr lang="en-GB" altLang="en-US" smtClean="0"/>
              <a:t>Vierte Ebene</a:t>
            </a:r>
          </a:p>
          <a:p>
            <a:pPr lvl="4"/>
            <a:r>
              <a:rPr lang="en-GB" altLang="en-US" smtClean="0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627313" y="6381750"/>
            <a:ext cx="295275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3366"/>
                </a:solidFill>
              </a:defRPr>
            </a:lvl1pPr>
          </a:lstStyle>
          <a:p>
            <a:pPr>
              <a:defRPr/>
            </a:pPr>
            <a:r>
              <a:rPr lang="en-GB"/>
              <a:t>Koblenz, </a:t>
            </a:r>
            <a:fld id="{61FD13C3-70D0-4E51-8230-7AFA0AAAA86A}" type="datetime1">
              <a:rPr lang="en-GB"/>
              <a:pPr>
                <a:defRPr/>
              </a:pPr>
              <a:t>15/01/2016</a:t>
            </a:fld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03350" y="6408738"/>
            <a:ext cx="489743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3366"/>
                </a:solidFill>
              </a:defRPr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pic>
        <p:nvPicPr>
          <p:cNvPr id="1033" name="Picture 10" descr="wmo_black_400 Kopie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39944" y="6180047"/>
            <a:ext cx="493712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64" name="Text Box 16"/>
          <p:cNvSpPr txBox="1">
            <a:spLocks noChangeArrowheads="1"/>
          </p:cNvSpPr>
          <p:nvPr userDrawn="1"/>
        </p:nvSpPr>
        <p:spPr bwMode="auto">
          <a:xfrm>
            <a:off x="174625" y="6092825"/>
            <a:ext cx="115728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hangingPunct="0">
              <a:defRPr/>
            </a:pPr>
            <a:r>
              <a:rPr lang="en-US" sz="4000" b="1" smtClean="0">
                <a:solidFill>
                  <a:srgbClr val="003366"/>
                </a:solidFill>
                <a:latin typeface="Times New Roman" pitchFamily="18" charset="0"/>
              </a:rPr>
              <a:t>OGC</a:t>
            </a:r>
          </a:p>
        </p:txBody>
      </p:sp>
      <p:sp>
        <p:nvSpPr>
          <p:cNvPr id="1035" name="Line 13"/>
          <p:cNvSpPr>
            <a:spLocks noChangeShapeType="1"/>
          </p:cNvSpPr>
          <p:nvPr userDrawn="1"/>
        </p:nvSpPr>
        <p:spPr bwMode="auto">
          <a:xfrm>
            <a:off x="468313" y="1196975"/>
            <a:ext cx="8207375" cy="0"/>
          </a:xfrm>
          <a:prstGeom prst="line">
            <a:avLst/>
          </a:prstGeom>
          <a:noFill/>
          <a:ln w="19050">
            <a:solidFill>
              <a:srgbClr val="669FD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6" name="Line 14"/>
          <p:cNvSpPr>
            <a:spLocks noChangeShapeType="1"/>
          </p:cNvSpPr>
          <p:nvPr userDrawn="1"/>
        </p:nvSpPr>
        <p:spPr bwMode="auto">
          <a:xfrm>
            <a:off x="468313" y="6130925"/>
            <a:ext cx="8207375" cy="0"/>
          </a:xfrm>
          <a:prstGeom prst="line">
            <a:avLst/>
          </a:prstGeom>
          <a:noFill/>
          <a:ln w="19050">
            <a:solidFill>
              <a:srgbClr val="669FD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15888"/>
            <a:ext cx="8713787" cy="1143000"/>
          </a:xfrm>
        </p:spPr>
        <p:txBody>
          <a:bodyPr/>
          <a:lstStyle/>
          <a:p>
            <a:pPr eaLnBrk="1" hangingPunct="1"/>
            <a:r>
              <a:rPr lang="en-GB" altLang="en-US" sz="3200" dirty="0" smtClean="0">
                <a:solidFill>
                  <a:srgbClr val="003366"/>
                </a:solidFill>
              </a:rPr>
              <a:t>WMO/OGC Hydrology Domain Working Group</a:t>
            </a:r>
            <a:br>
              <a:rPr lang="en-GB" altLang="en-US" sz="3200" dirty="0" smtClean="0">
                <a:solidFill>
                  <a:srgbClr val="003366"/>
                </a:solidFill>
              </a:rPr>
            </a:br>
            <a:r>
              <a:rPr lang="en-GB" altLang="en-US" sz="3200" dirty="0" smtClean="0">
                <a:solidFill>
                  <a:srgbClr val="003366"/>
                </a:solidFill>
              </a:rPr>
              <a:t>WaterML2 suite</a:t>
            </a:r>
          </a:p>
        </p:txBody>
      </p:sp>
      <p:grpSp>
        <p:nvGrpSpPr>
          <p:cNvPr id="6" name="Gruppieren 5"/>
          <p:cNvGrpSpPr/>
          <p:nvPr/>
        </p:nvGrpSpPr>
        <p:grpSpPr>
          <a:xfrm>
            <a:off x="962468" y="1498847"/>
            <a:ext cx="7285351" cy="4724623"/>
            <a:chOff x="934404" y="1573378"/>
            <a:chExt cx="7285351" cy="4724623"/>
          </a:xfrm>
        </p:grpSpPr>
        <p:sp>
          <p:nvSpPr>
            <p:cNvPr id="7" name="Ellipse 6"/>
            <p:cNvSpPr/>
            <p:nvPr/>
          </p:nvSpPr>
          <p:spPr bwMode="auto">
            <a:xfrm>
              <a:off x="934404" y="1573378"/>
              <a:ext cx="7285351" cy="4724623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feld 15"/>
            <p:cNvSpPr txBox="1"/>
            <p:nvPr/>
          </p:nvSpPr>
          <p:spPr>
            <a:xfrm>
              <a:off x="1885696" y="3177529"/>
              <a:ext cx="545388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400" u="sng" dirty="0" smtClean="0">
                  <a:solidFill>
                    <a:srgbClr val="002060"/>
                  </a:solidFill>
                </a:rPr>
                <a:t>Suite </a:t>
              </a:r>
              <a:r>
                <a:rPr lang="de-DE" sz="2400" u="sng" dirty="0" err="1" smtClean="0">
                  <a:solidFill>
                    <a:srgbClr val="002060"/>
                  </a:solidFill>
                </a:rPr>
                <a:t>of</a:t>
              </a:r>
              <a:r>
                <a:rPr lang="de-DE" sz="2400" u="sng" dirty="0" smtClean="0">
                  <a:solidFill>
                    <a:srgbClr val="002060"/>
                  </a:solidFill>
                </a:rPr>
                <a:t> </a:t>
              </a:r>
              <a:r>
                <a:rPr lang="de-DE" sz="2400" u="sng" dirty="0" err="1" smtClean="0">
                  <a:solidFill>
                    <a:srgbClr val="002060"/>
                  </a:solidFill>
                </a:rPr>
                <a:t>Water</a:t>
              </a:r>
              <a:r>
                <a:rPr lang="de-DE" sz="2400" u="sng" dirty="0" smtClean="0">
                  <a:solidFill>
                    <a:srgbClr val="002060"/>
                  </a:solidFill>
                </a:rPr>
                <a:t> Information Standards</a:t>
              </a:r>
              <a:r>
                <a:rPr lang="de-DE" sz="2400" dirty="0" smtClean="0">
                  <a:solidFill>
                    <a:srgbClr val="002060"/>
                  </a:solidFill>
                </a:rPr>
                <a:t>: </a:t>
              </a:r>
              <a:r>
                <a:rPr lang="de-DE" sz="2400" dirty="0" err="1" smtClean="0">
                  <a:solidFill>
                    <a:srgbClr val="002060"/>
                  </a:solidFill>
                </a:rPr>
                <a:t>towards</a:t>
              </a:r>
              <a:r>
                <a:rPr lang="de-DE" sz="2400" dirty="0" smtClean="0">
                  <a:solidFill>
                    <a:srgbClr val="002060"/>
                  </a:solidFill>
                </a:rPr>
                <a:t> </a:t>
              </a:r>
              <a:r>
                <a:rPr lang="de-DE" sz="2400" dirty="0" err="1" smtClean="0">
                  <a:solidFill>
                    <a:srgbClr val="002060"/>
                  </a:solidFill>
                </a:rPr>
                <a:t>the</a:t>
              </a:r>
              <a:r>
                <a:rPr lang="de-DE" sz="2400" dirty="0" smtClean="0">
                  <a:solidFill>
                    <a:srgbClr val="002060"/>
                  </a:solidFill>
                </a:rPr>
                <a:t> </a:t>
              </a:r>
              <a:r>
                <a:rPr lang="de-DE" sz="2400" dirty="0" err="1" smtClean="0">
                  <a:solidFill>
                    <a:srgbClr val="002060"/>
                  </a:solidFill>
                </a:rPr>
                <a:t>identification</a:t>
              </a:r>
              <a:r>
                <a:rPr lang="de-DE" sz="2400" dirty="0" smtClean="0">
                  <a:solidFill>
                    <a:srgbClr val="002060"/>
                  </a:solidFill>
                </a:rPr>
                <a:t>, </a:t>
              </a:r>
              <a:r>
                <a:rPr lang="de-DE" sz="2400" dirty="0" err="1" smtClean="0">
                  <a:solidFill>
                    <a:srgbClr val="002060"/>
                  </a:solidFill>
                </a:rPr>
                <a:t>observation</a:t>
              </a:r>
              <a:r>
                <a:rPr lang="de-DE" sz="2400" dirty="0" smtClean="0">
                  <a:solidFill>
                    <a:srgbClr val="002060"/>
                  </a:solidFill>
                </a:rPr>
                <a:t> </a:t>
              </a:r>
              <a:r>
                <a:rPr lang="de-DE" sz="2400" dirty="0" err="1" smtClean="0">
                  <a:solidFill>
                    <a:srgbClr val="002060"/>
                  </a:solidFill>
                </a:rPr>
                <a:t>and</a:t>
              </a:r>
              <a:r>
                <a:rPr lang="de-DE" sz="2400" dirty="0" smtClean="0">
                  <a:solidFill>
                    <a:srgbClr val="002060"/>
                  </a:solidFill>
                </a:rPr>
                <a:t> </a:t>
              </a:r>
              <a:r>
                <a:rPr lang="de-DE" sz="2400" dirty="0" err="1" smtClean="0">
                  <a:solidFill>
                    <a:srgbClr val="002060"/>
                  </a:solidFill>
                </a:rPr>
                <a:t>representation</a:t>
              </a:r>
              <a:r>
                <a:rPr lang="de-DE" sz="2400" dirty="0" smtClean="0">
                  <a:solidFill>
                    <a:srgbClr val="002060"/>
                  </a:solidFill>
                </a:rPr>
                <a:t> </a:t>
              </a:r>
              <a:r>
                <a:rPr lang="de-DE" sz="2400" dirty="0" err="1" smtClean="0">
                  <a:solidFill>
                    <a:srgbClr val="002060"/>
                  </a:solidFill>
                </a:rPr>
                <a:t>of</a:t>
              </a:r>
              <a:r>
                <a:rPr lang="de-DE" sz="2400" dirty="0" smtClean="0">
                  <a:solidFill>
                    <a:srgbClr val="002060"/>
                  </a:solidFill>
                </a:rPr>
                <a:t> </a:t>
              </a:r>
              <a:r>
                <a:rPr lang="de-DE" sz="2400" dirty="0" err="1" smtClean="0">
                  <a:solidFill>
                    <a:srgbClr val="002060"/>
                  </a:solidFill>
                </a:rPr>
                <a:t>hydrologic</a:t>
              </a:r>
              <a:r>
                <a:rPr lang="de-DE" sz="2400" dirty="0" smtClean="0">
                  <a:solidFill>
                    <a:srgbClr val="002060"/>
                  </a:solidFill>
                </a:rPr>
                <a:t> </a:t>
              </a:r>
              <a:r>
                <a:rPr lang="de-DE" sz="2400" dirty="0" err="1" smtClean="0">
                  <a:solidFill>
                    <a:srgbClr val="002060"/>
                  </a:solidFill>
                </a:rPr>
                <a:t>features</a:t>
              </a:r>
              <a:r>
                <a:rPr lang="de-DE" sz="2400" dirty="0" smtClean="0">
                  <a:solidFill>
                    <a:srgbClr val="002060"/>
                  </a:solidFill>
                </a:rPr>
                <a:t> </a:t>
              </a:r>
              <a:r>
                <a:rPr lang="de-DE" sz="2400" dirty="0" err="1" smtClean="0">
                  <a:solidFill>
                    <a:srgbClr val="002060"/>
                  </a:solidFill>
                </a:rPr>
                <a:t>using</a:t>
              </a:r>
              <a:r>
                <a:rPr lang="de-DE" sz="2400" dirty="0" smtClean="0">
                  <a:solidFill>
                    <a:srgbClr val="002060"/>
                  </a:solidFill>
                </a:rPr>
                <a:t> </a:t>
              </a:r>
              <a:r>
                <a:rPr lang="de-DE" sz="2400" dirty="0" err="1" smtClean="0">
                  <a:solidFill>
                    <a:srgbClr val="002060"/>
                  </a:solidFill>
                </a:rPr>
                <a:t>standards</a:t>
              </a:r>
              <a:endParaRPr lang="en-US" sz="2400" dirty="0" err="1" smtClean="0">
                <a:solidFill>
                  <a:srgbClr val="002060"/>
                </a:solidFill>
              </a:endParaRPr>
            </a:p>
          </p:txBody>
        </p:sp>
      </p:grpSp>
      <p:sp>
        <p:nvSpPr>
          <p:cNvPr id="28" name="File"/>
          <p:cNvSpPr>
            <a:spLocks noEditPoints="1" noChangeArrowheads="1"/>
          </p:cNvSpPr>
          <p:nvPr/>
        </p:nvSpPr>
        <p:spPr bwMode="auto">
          <a:xfrm>
            <a:off x="541271" y="3895438"/>
            <a:ext cx="1420684" cy="114821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dirty="0" err="1" smtClean="0">
                <a:solidFill>
                  <a:srgbClr val="002060"/>
                </a:solidFill>
              </a:rPr>
              <a:t>TimeseriesML</a:t>
            </a:r>
            <a:r>
              <a:rPr lang="en-GB" sz="1100" dirty="0" smtClean="0">
                <a:solidFill>
                  <a:srgbClr val="002060"/>
                </a:solidFill>
              </a:rPr>
              <a:t> 1.0</a:t>
            </a:r>
          </a:p>
          <a:p>
            <a:pPr algn="ctr"/>
            <a:r>
              <a:rPr lang="en-GB" sz="1100" b="1" dirty="0" err="1" smtClean="0">
                <a:solidFill>
                  <a:srgbClr val="002060"/>
                </a:solidFill>
              </a:rPr>
              <a:t>Timeseries</a:t>
            </a:r>
            <a:r>
              <a:rPr lang="en-GB" sz="1100" b="1" dirty="0" smtClean="0">
                <a:solidFill>
                  <a:srgbClr val="002060"/>
                </a:solidFill>
              </a:rPr>
              <a:t>   </a:t>
            </a:r>
          </a:p>
          <a:p>
            <a:pPr algn="ctr"/>
            <a:r>
              <a:rPr lang="en-GB" sz="1100" b="1" dirty="0" smtClean="0">
                <a:solidFill>
                  <a:srgbClr val="002060"/>
                </a:solidFill>
              </a:rPr>
              <a:t> </a:t>
            </a:r>
            <a:r>
              <a:rPr lang="en-GB" sz="1100" dirty="0" smtClean="0">
                <a:solidFill>
                  <a:srgbClr val="002060"/>
                </a:solidFill>
              </a:rPr>
              <a:t>(OGC IS 15-042r3)</a:t>
            </a:r>
          </a:p>
          <a:p>
            <a:pPr algn="ctr"/>
            <a:r>
              <a:rPr lang="en-GB" sz="1100" dirty="0" smtClean="0">
                <a:solidFill>
                  <a:srgbClr val="002060"/>
                </a:solidFill>
              </a:rPr>
              <a:t>(OGC IS 15-043r3)</a:t>
            </a:r>
            <a:endParaRPr lang="en-GB" sz="1100" dirty="0">
              <a:solidFill>
                <a:srgbClr val="002060"/>
              </a:solidFill>
            </a:endParaRPr>
          </a:p>
        </p:txBody>
      </p:sp>
      <p:sp>
        <p:nvSpPr>
          <p:cNvPr id="30" name="File"/>
          <p:cNvSpPr>
            <a:spLocks noEditPoints="1" noChangeArrowheads="1"/>
          </p:cNvSpPr>
          <p:nvPr/>
        </p:nvSpPr>
        <p:spPr bwMode="auto">
          <a:xfrm>
            <a:off x="4183669" y="5072506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dirty="0" smtClean="0">
                <a:solidFill>
                  <a:srgbClr val="002060"/>
                </a:solidFill>
              </a:rPr>
              <a:t>CSML3 component:</a:t>
            </a:r>
          </a:p>
          <a:p>
            <a:pPr algn="ctr"/>
            <a:r>
              <a:rPr lang="en-GB" sz="1100" b="1" dirty="0" smtClean="0">
                <a:solidFill>
                  <a:srgbClr val="002060"/>
                </a:solidFill>
              </a:rPr>
              <a:t>Atmospheric-water</a:t>
            </a:r>
            <a:r>
              <a:rPr lang="en-GB" sz="1100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</a:t>
            </a:r>
          </a:p>
          <a:p>
            <a:pPr algn="ctr"/>
            <a:r>
              <a:rPr lang="en-GB" sz="1100" dirty="0" smtClean="0">
                <a:solidFill>
                  <a:srgbClr val="002060"/>
                </a:solidFill>
              </a:rPr>
              <a:t> (collaboration </a:t>
            </a:r>
            <a:r>
              <a:rPr lang="en-GB" sz="1100" dirty="0" err="1" smtClean="0">
                <a:solidFill>
                  <a:srgbClr val="002060"/>
                </a:solidFill>
              </a:rPr>
              <a:t>tbd</a:t>
            </a:r>
            <a:r>
              <a:rPr lang="en-GB" sz="1100" dirty="0" smtClean="0">
                <a:solidFill>
                  <a:srgbClr val="002060"/>
                </a:solidFill>
              </a:rPr>
              <a:t>) </a:t>
            </a:r>
            <a:endParaRPr lang="en-GB" sz="1100" b="1" dirty="0">
              <a:solidFill>
                <a:srgbClr val="000000">
                  <a:lumMod val="50000"/>
                  <a:lumOff val="50000"/>
                </a:srgbClr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31" name="File"/>
          <p:cNvSpPr>
            <a:spLocks noEditPoints="1" noChangeArrowheads="1"/>
          </p:cNvSpPr>
          <p:nvPr/>
        </p:nvSpPr>
        <p:spPr bwMode="auto">
          <a:xfrm>
            <a:off x="2206138" y="4886419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dirty="0" err="1" smtClean="0">
                <a:solidFill>
                  <a:srgbClr val="002060"/>
                </a:solidFill>
                <a:latin typeface="+mn-lt"/>
                <a:ea typeface="MS PGothic" pitchFamily="34" charset="-128"/>
              </a:rPr>
              <a:t>SoilML</a:t>
            </a:r>
            <a:r>
              <a:rPr lang="en-GB" sz="1100" dirty="0" smtClean="0">
                <a:solidFill>
                  <a:srgbClr val="002060"/>
                </a:solidFill>
                <a:latin typeface="+mn-lt"/>
                <a:ea typeface="MS PGothic" pitchFamily="34" charset="-128"/>
              </a:rPr>
              <a:t> component:</a:t>
            </a:r>
            <a:endParaRPr lang="en-GB" sz="1100" dirty="0">
              <a:solidFill>
                <a:srgbClr val="002060"/>
              </a:solidFill>
              <a:latin typeface="+mn-lt"/>
              <a:ea typeface="MS PGothic" pitchFamily="34" charset="-128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100" b="1" dirty="0" smtClean="0">
                <a:solidFill>
                  <a:srgbClr val="002060"/>
                </a:solidFill>
                <a:latin typeface="+mn-lt"/>
                <a:ea typeface="MS PGothic" pitchFamily="34" charset="-128"/>
              </a:rPr>
              <a:t>Soil-water</a:t>
            </a:r>
            <a:r>
              <a:rPr lang="en-GB" sz="1100" dirty="0" smtClean="0">
                <a:solidFill>
                  <a:srgbClr val="002060"/>
                </a:solidFill>
                <a:latin typeface="+mn-lt"/>
                <a:ea typeface="MS PGothic" pitchFamily="34" charset="-128"/>
              </a:rPr>
              <a:t> (collaboration </a:t>
            </a:r>
            <a:r>
              <a:rPr lang="en-GB" sz="1100" dirty="0" err="1" smtClean="0">
                <a:solidFill>
                  <a:srgbClr val="002060"/>
                </a:solidFill>
                <a:latin typeface="+mn-lt"/>
                <a:ea typeface="MS PGothic" pitchFamily="34" charset="-128"/>
              </a:rPr>
              <a:t>tbd</a:t>
            </a:r>
            <a:r>
              <a:rPr lang="en-GB" sz="1100" dirty="0" smtClean="0">
                <a:solidFill>
                  <a:srgbClr val="002060"/>
                </a:solidFill>
                <a:latin typeface="+mn-lt"/>
                <a:ea typeface="MS PGothic" pitchFamily="34" charset="-128"/>
              </a:rPr>
              <a:t>)  </a:t>
            </a:r>
          </a:p>
        </p:txBody>
      </p:sp>
      <p:sp>
        <p:nvSpPr>
          <p:cNvPr id="17" name="File"/>
          <p:cNvSpPr>
            <a:spLocks noEditPoints="1" noChangeArrowheads="1"/>
          </p:cNvSpPr>
          <p:nvPr/>
        </p:nvSpPr>
        <p:spPr bwMode="auto">
          <a:xfrm>
            <a:off x="6101852" y="4790702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100" dirty="0" err="1" smtClean="0">
                <a:solidFill>
                  <a:srgbClr val="002060"/>
                </a:solidFill>
                <a:latin typeface="+mn-lt"/>
                <a:ea typeface="MS PGothic" pitchFamily="34" charset="-128"/>
              </a:rPr>
              <a:t>RiverML</a:t>
            </a:r>
            <a:r>
              <a:rPr lang="en-US" sz="1100" dirty="0" smtClean="0">
                <a:solidFill>
                  <a:srgbClr val="002060"/>
                </a:solidFill>
                <a:latin typeface="+mn-lt"/>
                <a:ea typeface="MS PGothic" pitchFamily="34" charset="-128"/>
              </a:rPr>
              <a:t> </a:t>
            </a:r>
            <a:r>
              <a:rPr lang="en-US" sz="1100" dirty="0" smtClean="0">
                <a:solidFill>
                  <a:srgbClr val="002060"/>
                </a:solidFill>
                <a:latin typeface="+mn-lt"/>
              </a:rPr>
              <a:t>component</a:t>
            </a:r>
            <a:endParaRPr lang="en-US" sz="1100" dirty="0">
              <a:solidFill>
                <a:srgbClr val="002060"/>
              </a:solidFill>
              <a:latin typeface="+mn-lt"/>
            </a:endParaRPr>
          </a:p>
          <a:p>
            <a:pPr algn="ctr"/>
            <a:r>
              <a:rPr lang="en-US" sz="1100" b="1" dirty="0" smtClean="0">
                <a:solidFill>
                  <a:srgbClr val="002060"/>
                </a:solidFill>
                <a:latin typeface="+mn-lt"/>
              </a:rPr>
              <a:t>Channel geometry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 smtClean="0">
                <a:solidFill>
                  <a:srgbClr val="002060"/>
                </a:solidFill>
                <a:latin typeface="+mn-lt"/>
                <a:ea typeface="MS PGothic" pitchFamily="34" charset="-128"/>
              </a:rPr>
              <a:t>(initiated, continuation </a:t>
            </a:r>
            <a:r>
              <a:rPr lang="en-US" sz="1100" dirty="0" err="1" smtClean="0">
                <a:solidFill>
                  <a:srgbClr val="002060"/>
                </a:solidFill>
                <a:latin typeface="+mn-lt"/>
                <a:ea typeface="MS PGothic" pitchFamily="34" charset="-128"/>
              </a:rPr>
              <a:t>tbd</a:t>
            </a:r>
            <a:r>
              <a:rPr lang="en-US" sz="1100" dirty="0" smtClean="0">
                <a:solidFill>
                  <a:srgbClr val="002060"/>
                </a:solidFill>
                <a:latin typeface="+mn-lt"/>
                <a:ea typeface="MS PGothic" pitchFamily="34" charset="-128"/>
              </a:rPr>
              <a:t>)</a:t>
            </a:r>
            <a:r>
              <a:rPr lang="en-AU" sz="1100" dirty="0" smtClean="0">
                <a:solidFill>
                  <a:srgbClr val="002060"/>
                </a:solidFill>
                <a:latin typeface="+mn-lt"/>
                <a:ea typeface="MS PGothic" pitchFamily="34" charset="-128"/>
              </a:rPr>
              <a:t> </a:t>
            </a:r>
            <a:endParaRPr lang="en-GB" sz="1100" dirty="0">
              <a:solidFill>
                <a:srgbClr val="002060"/>
              </a:solidFill>
              <a:latin typeface="+mn-lt"/>
              <a:ea typeface="MS PGothic" pitchFamily="34" charset="-128"/>
            </a:endParaRPr>
          </a:p>
        </p:txBody>
      </p:sp>
      <p:sp>
        <p:nvSpPr>
          <p:cNvPr id="22" name="File"/>
          <p:cNvSpPr>
            <a:spLocks noEditPoints="1" noChangeArrowheads="1"/>
          </p:cNvSpPr>
          <p:nvPr/>
        </p:nvSpPr>
        <p:spPr bwMode="auto">
          <a:xfrm>
            <a:off x="7395712" y="3520647"/>
            <a:ext cx="1529841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dirty="0" smtClean="0">
                <a:solidFill>
                  <a:srgbClr val="002060"/>
                </a:solidFill>
                <a:latin typeface="+mn-lt"/>
                <a:ea typeface="MS PGothic" pitchFamily="34" charset="-128"/>
              </a:rPr>
              <a:t>WaterML2Part5</a:t>
            </a:r>
            <a:r>
              <a:rPr lang="en-GB" sz="1100" b="1" dirty="0" smtClean="0">
                <a:solidFill>
                  <a:srgbClr val="002060"/>
                </a:solidFill>
                <a:latin typeface="+mn-lt"/>
                <a:ea typeface="MS PGothic" pitchFamily="34" charset="-128"/>
              </a:rPr>
              <a:t>:</a:t>
            </a:r>
            <a:r>
              <a:rPr lang="en-GB" sz="1100" b="1" dirty="0">
                <a:solidFill>
                  <a:srgbClr val="002060"/>
                </a:solidFill>
                <a:latin typeface="+mn-lt"/>
                <a:ea typeface="MS PGothic" pitchFamily="34" charset="-128"/>
              </a:rPr>
              <a:t/>
            </a:r>
            <a:br>
              <a:rPr lang="en-GB" sz="1100" b="1" dirty="0">
                <a:solidFill>
                  <a:srgbClr val="002060"/>
                </a:solidFill>
                <a:latin typeface="+mn-lt"/>
                <a:ea typeface="MS PGothic" pitchFamily="34" charset="-128"/>
              </a:rPr>
            </a:br>
            <a:r>
              <a:rPr lang="en-GB" sz="1100" b="1" dirty="0">
                <a:solidFill>
                  <a:srgbClr val="002060"/>
                </a:solidFill>
                <a:latin typeface="+mn-lt"/>
                <a:ea typeface="MS PGothic" pitchFamily="34" charset="-128"/>
              </a:rPr>
              <a:t>Water Quality </a:t>
            </a:r>
            <a:r>
              <a:rPr lang="en-GB" sz="1100" dirty="0" smtClean="0">
                <a:solidFill>
                  <a:srgbClr val="002060"/>
                </a:solidFill>
                <a:latin typeface="+mn-lt"/>
                <a:ea typeface="MS PGothic" pitchFamily="34" charset="-128"/>
              </a:rPr>
              <a:t>Observation</a:t>
            </a:r>
            <a:r>
              <a:rPr lang="en-GB" sz="1100" b="1" dirty="0" smtClean="0">
                <a:solidFill>
                  <a:srgbClr val="002060"/>
                </a:solidFill>
                <a:latin typeface="+mn-lt"/>
                <a:ea typeface="MS PGothic" pitchFamily="34" charset="-128"/>
              </a:rPr>
              <a:t>   </a:t>
            </a:r>
            <a:r>
              <a:rPr lang="en-GB" sz="1100" dirty="0" smtClean="0">
                <a:solidFill>
                  <a:srgbClr val="002060"/>
                </a:solidFill>
                <a:latin typeface="+mn-lt"/>
                <a:ea typeface="MS PGothic" pitchFamily="34" charset="-128"/>
              </a:rPr>
              <a:t>(OGC </a:t>
            </a:r>
            <a:r>
              <a:rPr lang="en-GB" sz="1100" dirty="0">
                <a:solidFill>
                  <a:srgbClr val="002060"/>
                </a:solidFill>
                <a:latin typeface="+mn-lt"/>
                <a:ea typeface="MS PGothic" pitchFamily="34" charset="-128"/>
              </a:rPr>
              <a:t>BP 14-003</a:t>
            </a:r>
            <a:r>
              <a:rPr lang="en-GB" sz="1100" b="1" dirty="0" smtClean="0">
                <a:solidFill>
                  <a:srgbClr val="002060"/>
                </a:solidFill>
                <a:latin typeface="+mn-lt"/>
                <a:ea typeface="MS PGothic" pitchFamily="34" charset="-128"/>
              </a:rPr>
              <a:t>)</a:t>
            </a:r>
            <a:endParaRPr lang="en-GB" sz="1100" b="1" dirty="0">
              <a:solidFill>
                <a:srgbClr val="002060"/>
              </a:solidFill>
              <a:latin typeface="+mn-lt"/>
              <a:ea typeface="MS PGothic" pitchFamily="34" charset="-128"/>
            </a:endParaRPr>
          </a:p>
        </p:txBody>
      </p:sp>
      <p:sp>
        <p:nvSpPr>
          <p:cNvPr id="23" name="File"/>
          <p:cNvSpPr>
            <a:spLocks noEditPoints="1" noChangeArrowheads="1"/>
          </p:cNvSpPr>
          <p:nvPr/>
        </p:nvSpPr>
        <p:spPr bwMode="auto">
          <a:xfrm>
            <a:off x="2102011" y="1310638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dirty="0">
                <a:solidFill>
                  <a:srgbClr val="002060"/>
                </a:solidFill>
                <a:latin typeface="+mn-lt"/>
                <a:ea typeface="MS PGothic" pitchFamily="34" charset="-128"/>
              </a:rPr>
              <a:t>WaterML2Part1: </a:t>
            </a:r>
          </a:p>
          <a:p>
            <a:pPr algn="ctr"/>
            <a:r>
              <a:rPr lang="en-GB" sz="1100" b="1" dirty="0" err="1" smtClean="0">
                <a:solidFill>
                  <a:srgbClr val="002060"/>
                </a:solidFill>
                <a:latin typeface="+mn-lt"/>
                <a:ea typeface="MS PGothic" pitchFamily="34" charset="-128"/>
              </a:rPr>
              <a:t>Timeseries</a:t>
            </a:r>
            <a:endParaRPr lang="en-GB" sz="1100" b="1" dirty="0" smtClean="0">
              <a:solidFill>
                <a:srgbClr val="002060"/>
              </a:solidFill>
              <a:latin typeface="+mn-lt"/>
              <a:ea typeface="MS PGothic" pitchFamily="34" charset="-128"/>
            </a:endParaRPr>
          </a:p>
          <a:p>
            <a:pPr algn="ctr"/>
            <a:r>
              <a:rPr lang="en-GB" sz="1100" dirty="0" smtClean="0">
                <a:solidFill>
                  <a:srgbClr val="002060"/>
                </a:solidFill>
                <a:latin typeface="+mn-lt"/>
                <a:ea typeface="MS PGothic" pitchFamily="34" charset="-128"/>
              </a:rPr>
              <a:t>Observation</a:t>
            </a:r>
            <a:endParaRPr lang="en-GB" sz="1100" dirty="0">
              <a:solidFill>
                <a:srgbClr val="002060"/>
              </a:solidFill>
              <a:latin typeface="+mn-lt"/>
              <a:ea typeface="MS PGothic" pitchFamily="34" charset="-128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100" dirty="0" smtClean="0">
                <a:solidFill>
                  <a:srgbClr val="002060"/>
                </a:solidFill>
                <a:latin typeface="+mn-lt"/>
                <a:ea typeface="MS PGothic" pitchFamily="34" charset="-128"/>
              </a:rPr>
              <a:t>(OGC IS 10-126r4)</a:t>
            </a:r>
            <a:endParaRPr lang="en-GB" sz="1100" dirty="0">
              <a:solidFill>
                <a:srgbClr val="002060"/>
              </a:solidFill>
              <a:latin typeface="+mn-lt"/>
              <a:ea typeface="MS PGothic" pitchFamily="34" charset="-128"/>
            </a:endParaRPr>
          </a:p>
        </p:txBody>
      </p:sp>
      <p:sp>
        <p:nvSpPr>
          <p:cNvPr id="24" name="File"/>
          <p:cNvSpPr>
            <a:spLocks noEditPoints="1" noChangeArrowheads="1"/>
          </p:cNvSpPr>
          <p:nvPr/>
        </p:nvSpPr>
        <p:spPr bwMode="auto">
          <a:xfrm>
            <a:off x="3979558" y="1227727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100" dirty="0" smtClean="0">
                <a:solidFill>
                  <a:srgbClr val="002060"/>
                </a:solidFill>
                <a:latin typeface="+mn-lt"/>
                <a:ea typeface="MS PGothic" pitchFamily="34" charset="-128"/>
              </a:rPr>
              <a:t>WaterML2Part2</a:t>
            </a:r>
            <a:r>
              <a:rPr lang="en-GB" sz="1100" dirty="0">
                <a:solidFill>
                  <a:srgbClr val="002060"/>
                </a:solidFill>
                <a:latin typeface="+mn-lt"/>
                <a:ea typeface="MS PGothic" pitchFamily="34" charset="-128"/>
              </a:rPr>
              <a:t>:</a:t>
            </a:r>
            <a:r>
              <a:rPr lang="en-GB" sz="1100" b="1" dirty="0">
                <a:solidFill>
                  <a:srgbClr val="002060"/>
                </a:solidFill>
                <a:latin typeface="+mn-lt"/>
                <a:ea typeface="MS PGothic" pitchFamily="34" charset="-128"/>
              </a:rPr>
              <a:t> </a:t>
            </a:r>
            <a:r>
              <a:rPr lang="en-GB" sz="1100" b="1" dirty="0" smtClean="0">
                <a:solidFill>
                  <a:srgbClr val="002060"/>
                </a:solidFill>
                <a:latin typeface="+mn-lt"/>
                <a:ea typeface="MS PGothic" pitchFamily="34" charset="-128"/>
              </a:rPr>
              <a:t>         Ratings,   </a:t>
            </a:r>
            <a:r>
              <a:rPr lang="en-GB" sz="1100" b="1" dirty="0" err="1" smtClean="0">
                <a:solidFill>
                  <a:srgbClr val="002060"/>
                </a:solidFill>
                <a:latin typeface="+mn-lt"/>
                <a:ea typeface="MS PGothic" pitchFamily="34" charset="-128"/>
              </a:rPr>
              <a:t>Gaugings</a:t>
            </a:r>
            <a:r>
              <a:rPr lang="en-GB" sz="1100" b="1" dirty="0" smtClean="0">
                <a:solidFill>
                  <a:srgbClr val="002060"/>
                </a:solidFill>
                <a:latin typeface="+mn-lt"/>
                <a:ea typeface="MS PGothic" pitchFamily="34" charset="-128"/>
              </a:rPr>
              <a:t> 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100" dirty="0" smtClean="0">
                <a:solidFill>
                  <a:srgbClr val="002060"/>
                </a:solidFill>
                <a:latin typeface="+mn-lt"/>
                <a:ea typeface="MS PGothic" pitchFamily="34" charset="-128"/>
              </a:rPr>
              <a:t>(OGC IS 15-018r1)</a:t>
            </a:r>
            <a:endParaRPr lang="en-GB" sz="1100" dirty="0">
              <a:solidFill>
                <a:srgbClr val="002060"/>
              </a:solidFill>
              <a:latin typeface="+mn-lt"/>
              <a:ea typeface="MS PGothic" pitchFamily="34" charset="-128"/>
            </a:endParaRPr>
          </a:p>
        </p:txBody>
      </p:sp>
      <p:sp>
        <p:nvSpPr>
          <p:cNvPr id="25" name="File"/>
          <p:cNvSpPr>
            <a:spLocks noEditPoints="1" noChangeArrowheads="1"/>
          </p:cNvSpPr>
          <p:nvPr/>
        </p:nvSpPr>
        <p:spPr bwMode="auto">
          <a:xfrm>
            <a:off x="5750481" y="1461939"/>
            <a:ext cx="1411595" cy="1024721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7200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dirty="0" smtClean="0">
                <a:solidFill>
                  <a:srgbClr val="002060"/>
                </a:solidFill>
                <a:latin typeface="+mn-lt"/>
                <a:ea typeface="MS PGothic" pitchFamily="34" charset="-128"/>
              </a:rPr>
              <a:t>WaterML2Part3</a:t>
            </a:r>
            <a:r>
              <a:rPr lang="en-GB" sz="1100" dirty="0" smtClean="0">
                <a:solidFill>
                  <a:srgbClr val="002060"/>
                </a:solidFill>
                <a:latin typeface="+mn-lt"/>
              </a:rPr>
              <a:t>: </a:t>
            </a:r>
            <a:r>
              <a:rPr lang="en-GB" sz="1100" b="1" dirty="0" smtClean="0">
                <a:solidFill>
                  <a:srgbClr val="002060"/>
                </a:solidFill>
                <a:latin typeface="+mn-lt"/>
              </a:rPr>
              <a:t>Surface Water </a:t>
            </a:r>
            <a:r>
              <a:rPr lang="en-GB" sz="1100" dirty="0" smtClean="0">
                <a:solidFill>
                  <a:srgbClr val="002060"/>
                </a:solidFill>
                <a:latin typeface="+mn-lt"/>
              </a:rPr>
              <a:t>Features</a:t>
            </a:r>
            <a:endParaRPr lang="en-GB" sz="1100" dirty="0">
              <a:solidFill>
                <a:srgbClr val="002060"/>
              </a:solidFill>
              <a:latin typeface="+mn-lt"/>
            </a:endParaRPr>
          </a:p>
          <a:p>
            <a:pPr algn="ctr"/>
            <a:r>
              <a:rPr lang="en-US" sz="1100" dirty="0" smtClean="0">
                <a:solidFill>
                  <a:srgbClr val="00206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002060"/>
                </a:solidFill>
                <a:latin typeface="+mn-lt"/>
              </a:rPr>
              <a:t>OGC IS </a:t>
            </a:r>
            <a:r>
              <a:rPr lang="en-US" sz="1100" dirty="0" smtClean="0">
                <a:solidFill>
                  <a:srgbClr val="002060"/>
                </a:solidFill>
                <a:latin typeface="+mn-lt"/>
              </a:rPr>
              <a:t>16-XXX)</a:t>
            </a:r>
            <a:endParaRPr lang="en-US" sz="1100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2" name="File"/>
          <p:cNvSpPr>
            <a:spLocks noEditPoints="1" noChangeArrowheads="1"/>
          </p:cNvSpPr>
          <p:nvPr/>
        </p:nvSpPr>
        <p:spPr bwMode="auto">
          <a:xfrm>
            <a:off x="7378391" y="2091676"/>
            <a:ext cx="1420684" cy="114821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dirty="0" smtClean="0">
                <a:solidFill>
                  <a:srgbClr val="002060"/>
                </a:solidFill>
                <a:latin typeface="+mn-lt"/>
                <a:ea typeface="MS PGothic" pitchFamily="34" charset="-128"/>
              </a:rPr>
              <a:t>WaterML2Part4</a:t>
            </a:r>
            <a:r>
              <a:rPr lang="en-US" sz="1100" dirty="0" smtClean="0">
                <a:solidFill>
                  <a:schemeClr val="tx2"/>
                </a:solidFill>
                <a:latin typeface="+mn-lt"/>
              </a:rPr>
              <a:t>: </a:t>
            </a:r>
            <a:r>
              <a:rPr lang="en-US" sz="1100" b="1" dirty="0">
                <a:solidFill>
                  <a:srgbClr val="002060"/>
                </a:solidFill>
                <a:latin typeface="+mn-lt"/>
                <a:ea typeface="MS PGothic" pitchFamily="34" charset="-128"/>
              </a:rPr>
              <a:t>Groundwater</a:t>
            </a:r>
            <a:r>
              <a:rPr lang="en-US" sz="11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1100" dirty="0" smtClean="0">
                <a:solidFill>
                  <a:schemeClr val="tx2"/>
                </a:solidFill>
                <a:latin typeface="+mn-lt"/>
              </a:rPr>
              <a:t>Features</a:t>
            </a:r>
            <a:endParaRPr lang="en-AU" sz="1100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1100" dirty="0" smtClean="0">
                <a:solidFill>
                  <a:srgbClr val="002060"/>
                </a:solidFill>
                <a:latin typeface="+mn-lt"/>
                <a:ea typeface="MS PGothic" pitchFamily="34" charset="-128"/>
              </a:rPr>
              <a:t>(OGC IS 16-XXX</a:t>
            </a:r>
            <a:r>
              <a:rPr lang="en-AU" sz="1100" dirty="0" smtClean="0">
                <a:solidFill>
                  <a:schemeClr val="tx2"/>
                </a:solidFill>
                <a:latin typeface="+mn-lt"/>
              </a:rPr>
              <a:t>)</a:t>
            </a:r>
            <a:endParaRPr lang="en-GB" sz="1100" dirty="0">
              <a:solidFill>
                <a:schemeClr val="tx2"/>
              </a:solidFill>
              <a:latin typeface="+mn-lt"/>
              <a:ea typeface="MS PGothic" pitchFamily="34" charset="-128"/>
            </a:endParaRPr>
          </a:p>
        </p:txBody>
      </p:sp>
      <p:sp>
        <p:nvSpPr>
          <p:cNvPr id="18" name="File"/>
          <p:cNvSpPr>
            <a:spLocks noEditPoints="1" noChangeArrowheads="1"/>
          </p:cNvSpPr>
          <p:nvPr/>
        </p:nvSpPr>
        <p:spPr bwMode="auto">
          <a:xfrm>
            <a:off x="474101" y="2388677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dirty="0">
                <a:solidFill>
                  <a:srgbClr val="002060"/>
                </a:solidFill>
                <a:latin typeface="+mn-lt"/>
                <a:ea typeface="MS PGothic" pitchFamily="34" charset="-128"/>
              </a:rPr>
              <a:t>SOS 2.0 </a:t>
            </a:r>
          </a:p>
          <a:p>
            <a:pPr algn="ctr"/>
            <a:r>
              <a:rPr lang="en-GB" sz="1100" b="1" dirty="0">
                <a:solidFill>
                  <a:srgbClr val="002060"/>
                </a:solidFill>
                <a:latin typeface="+mn-lt"/>
                <a:ea typeface="MS PGothic" pitchFamily="34" charset="-128"/>
              </a:rPr>
              <a:t>Hydrology Profile </a:t>
            </a:r>
            <a:r>
              <a:rPr lang="en-GB" sz="1100" dirty="0">
                <a:latin typeface="+mn-lt"/>
              </a:rPr>
              <a:t> </a:t>
            </a:r>
            <a:r>
              <a:rPr lang="en-GB" sz="1100" dirty="0" smtClean="0">
                <a:solidFill>
                  <a:srgbClr val="002060"/>
                </a:solidFill>
                <a:latin typeface="+mn-lt"/>
                <a:ea typeface="MS PGothic" pitchFamily="34" charset="-128"/>
              </a:rPr>
              <a:t> </a:t>
            </a:r>
            <a:endParaRPr lang="en-GB" sz="1100" dirty="0">
              <a:solidFill>
                <a:srgbClr val="002060"/>
              </a:solidFill>
              <a:latin typeface="+mn-lt"/>
              <a:ea typeface="MS PGothic" pitchFamily="34" charset="-128"/>
            </a:endParaRPr>
          </a:p>
          <a:p>
            <a:pPr algn="ctr"/>
            <a:r>
              <a:rPr lang="en-GB" sz="1100" dirty="0">
                <a:solidFill>
                  <a:srgbClr val="002060"/>
                </a:solidFill>
                <a:latin typeface="+mn-lt"/>
                <a:ea typeface="MS PGothic" pitchFamily="34" charset="-128"/>
              </a:rPr>
              <a:t>(OGC BP 14-004r1)</a:t>
            </a:r>
          </a:p>
        </p:txBody>
      </p:sp>
      <p:sp>
        <p:nvSpPr>
          <p:cNvPr id="19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410866" y="6408738"/>
            <a:ext cx="4897438" cy="4762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dirty="0" smtClean="0">
                <a:solidFill>
                  <a:srgbClr val="003366"/>
                </a:solidFill>
              </a:rPr>
              <a:t>6 January 2016</a:t>
            </a:r>
            <a:endParaRPr lang="en-GB" altLang="en-US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81781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111</Words>
  <Application>Microsoft Office PowerPoint</Application>
  <PresentationFormat>On-screen Show (4:3)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MS PGothic</vt:lpstr>
      <vt:lpstr>Arial</vt:lpstr>
      <vt:lpstr>CG Times</vt:lpstr>
      <vt:lpstr>Times New Roman</vt:lpstr>
      <vt:lpstr>Standarddesign</vt:lpstr>
      <vt:lpstr>WMO/OGC Hydrology Domain Working Group WaterML2 suite</vt:lpstr>
    </vt:vector>
  </TitlesOfParts>
  <Company>bfg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Hydrologic Feature Model  HY_Features</dc:title>
  <dc:creator>ID</dc:creator>
  <cp:lastModifiedBy>Simons, Bruce (L&amp;W, Highett)</cp:lastModifiedBy>
  <cp:revision>99</cp:revision>
  <cp:lastPrinted>2015-06-18T08:54:24Z</cp:lastPrinted>
  <dcterms:created xsi:type="dcterms:W3CDTF">2013-04-26T08:54:16Z</dcterms:created>
  <dcterms:modified xsi:type="dcterms:W3CDTF">2016-01-15T01:06:22Z</dcterms:modified>
</cp:coreProperties>
</file>