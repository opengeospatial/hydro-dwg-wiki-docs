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65" r:id="rId3"/>
    <p:sldId id="266" r:id="rId4"/>
    <p:sldId id="267" r:id="rId5"/>
    <p:sldId id="269" r:id="rId6"/>
    <p:sldId id="273" r:id="rId7"/>
    <p:sldId id="277" r:id="rId8"/>
    <p:sldId id="261" r:id="rId9"/>
    <p:sldId id="275" r:id="rId10"/>
    <p:sldId id="257" r:id="rId11"/>
    <p:sldId id="276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 snapToGrid="0">
      <p:cViewPr varScale="1">
        <p:scale>
          <a:sx n="80" d="100"/>
          <a:sy n="80" d="100"/>
        </p:scale>
        <p:origin x="2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Chart%20in%20Microsoft%20PowerPoint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aseline="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'[Chart in Microsoft PowerPoint]Sheet1'!$A$16:$A$20</c:f>
              <c:strCache>
                <c:ptCount val="5"/>
                <c:pt idx="0">
                  <c:v>Commercial</c:v>
                </c:pt>
                <c:pt idx="1">
                  <c:v>Government </c:v>
                </c:pt>
                <c:pt idx="2">
                  <c:v>Academic</c:v>
                </c:pt>
                <c:pt idx="3">
                  <c:v>Research</c:v>
                </c:pt>
                <c:pt idx="4">
                  <c:v>Not For Profit</c:v>
                </c:pt>
              </c:strCache>
            </c:strRef>
          </c:cat>
          <c:val>
            <c:numRef>
              <c:f>'[Chart in Microsoft PowerPoint]Sheet1'!$B$16:$B$20</c:f>
              <c:numCache>
                <c:formatCode>General</c:formatCode>
                <c:ptCount val="5"/>
                <c:pt idx="0">
                  <c:v>178.0</c:v>
                </c:pt>
                <c:pt idx="1">
                  <c:v>75.0</c:v>
                </c:pt>
                <c:pt idx="2">
                  <c:v>97.0</c:v>
                </c:pt>
                <c:pt idx="3">
                  <c:v>23.0</c:v>
                </c:pt>
                <c:pt idx="4">
                  <c:v>36.0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03763882202389"/>
          <c:y val="0.148822434757186"/>
          <c:w val="0.261660227052961"/>
          <c:h val="0.588125306935637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dLbls>
            <c:dLbl>
              <c:idx val="0"/>
              <c:spPr/>
              <c:txPr>
                <a:bodyPr/>
                <a:lstStyle/>
                <a:p>
                  <a:pPr>
                    <a:defRPr sz="1400" baseline="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08234470691164"/>
                  <c:y val="-0.141298118985127"/>
                </c:manualLayout>
              </c:layout>
              <c:spPr/>
              <c:txPr>
                <a:bodyPr/>
                <a:lstStyle/>
                <a:p>
                  <a:pPr>
                    <a:defRPr sz="1400" baseline="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1400" baseline="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400" baseline="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Sheet1!$A$2:$A$7</c:f>
              <c:strCache>
                <c:ptCount val="6"/>
                <c:pt idx="0">
                  <c:v>Europe</c:v>
                </c:pt>
                <c:pt idx="1">
                  <c:v>N. America</c:v>
                </c:pt>
                <c:pt idx="2">
                  <c:v>Asia / Pacific</c:v>
                </c:pt>
                <c:pt idx="3">
                  <c:v>Middle East</c:v>
                </c:pt>
                <c:pt idx="4">
                  <c:v>Africa</c:v>
                </c:pt>
                <c:pt idx="5">
                  <c:v>S. America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207.0</c:v>
                </c:pt>
                <c:pt idx="1">
                  <c:v>173.0</c:v>
                </c:pt>
                <c:pt idx="2">
                  <c:v>68.0</c:v>
                </c:pt>
                <c:pt idx="3">
                  <c:v>8.0</c:v>
                </c:pt>
                <c:pt idx="4">
                  <c:v>5.0</c:v>
                </c:pt>
                <c:pt idx="5">
                  <c:v>3.0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38644699928941"/>
          <c:y val="0.220113260298984"/>
          <c:w val="0.21738033919469"/>
          <c:h val="0.490932899691886"/>
        </c:manualLayout>
      </c:layout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AC1FA-82C7-8B4F-A08B-DD9430B37CE8}" type="datetimeFigureOut">
              <a:rPr lang="en-US" smtClean="0"/>
              <a:t>9/24/15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F1D83-6492-D041-A8F1-85620D54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8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EEBCC4E-3281-4868-A816-29908C3311B7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2" tIns="45716" rIns="91432" bIns="45716"/>
          <a:lstStyle/>
          <a:p>
            <a:r>
              <a:rPr lang="en-US" smtClean="0">
                <a:latin typeface="Arial" pitchFamily="34" charset="0"/>
              </a:rPr>
              <a:t>The </a:t>
            </a:r>
            <a:r>
              <a:rPr lang="en-US" smtClean="0">
                <a:latin typeface="Arial" pitchFamily="34" charset="0"/>
                <a:cs typeface="Times New Roman" pitchFamily="18" charset="0"/>
              </a:rPr>
              <a:t>OGC is a not for profit consortium dedicated to the development of specifications that enable geospatial technologies to “plug and play” across any device, platform or network. </a:t>
            </a:r>
            <a:r>
              <a:rPr lang="en-US" smtClean="0">
                <a:latin typeface="Palatino Linotype" pitchFamily="18" charset="0"/>
                <a:cs typeface="Times New Roman" pitchFamily="18" charset="0"/>
              </a:rPr>
              <a:t>The OGC consists of 380+ members - geospatial technology software vendors, systems integrators, government agencies and universities  - participating in a consensus process to develop, test, and document publicly available interface specifications and encodings for the geospatial industry. Open interfaces and protocols defined by OpenGIS® Specifications are designed to support interoperable solutions that "geo-enable" the Web, wireless and location-based services, and mainstream IT, and to empower technology developers to make complex spatial information and services accessible and useful to all kinds of applications.</a:t>
            </a:r>
          </a:p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86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CC68FD-3D5C-4AE8-81C2-0029F30F0D8F}" type="slidenum">
              <a:rPr lang="en-US" smtClean="0">
                <a:ea typeface="ＭＳ Ｐゴシック" pitchFamily="-65" charset="-128"/>
              </a:rPr>
              <a:pPr/>
              <a:t>3</a:t>
            </a:fld>
            <a:endParaRPr lang="en-US" dirty="0" smtClean="0">
              <a:ea typeface="ＭＳ Ｐゴシック" pitchFamily="-65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42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CC68FD-3D5C-4AE8-81C2-0029F30F0D8F}" type="slidenum">
              <a:rPr lang="en-US" smtClean="0">
                <a:ea typeface="ＭＳ Ｐゴシック" pitchFamily="-65" charset="-128"/>
              </a:rPr>
              <a:pPr/>
              <a:t>4</a:t>
            </a:fld>
            <a:endParaRPr lang="en-US" dirty="0" smtClean="0">
              <a:ea typeface="ＭＳ Ｐゴシック" pitchFamily="-65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15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9A220-0DFC-4683-8829-77C89720CA4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2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4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7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7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8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0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2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4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0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8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3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9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0D1A0-936E-4844-A554-76D1736439E6}" type="datetimeFigureOut">
              <a:rPr lang="en-US" smtClean="0"/>
              <a:t>9/24/15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E0351-680C-4E7A-B08E-C40388E69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hyperlink" Target="http://external.opengis.org/twiki_public/bin/view/HydrologyDWG/WebHom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7983" y="3277554"/>
            <a:ext cx="9144000" cy="23876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Hydro DWG at the RDA Plenary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err="1" smtClean="0">
                <a:solidFill>
                  <a:srgbClr val="FF0000"/>
                </a:solidFill>
              </a:rPr>
              <a:t>BoF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- Improve </a:t>
            </a:r>
            <a:r>
              <a:rPr lang="en-US" b="1" dirty="0">
                <a:solidFill>
                  <a:srgbClr val="FF0000"/>
                </a:solidFill>
              </a:rPr>
              <a:t>sharing of water resource data globally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524000" y="4051823"/>
            <a:ext cx="9144000" cy="3918131"/>
          </a:xfrm>
        </p:spPr>
        <p:txBody>
          <a:bodyPr>
            <a:normAutofit/>
          </a:bodyPr>
          <a:lstStyle/>
          <a:p>
            <a:endParaRPr lang="en-US" sz="3600" dirty="0" smtClean="0"/>
          </a:p>
          <a:p>
            <a:r>
              <a:rPr lang="en-US" sz="3600" b="1" dirty="0"/>
              <a:t>24 September 2015- BREAKOUT 5 - </a:t>
            </a:r>
            <a:r>
              <a:rPr lang="en-US" sz="3600" b="1" dirty="0" smtClean="0"/>
              <a:t>13:30-15:00</a:t>
            </a:r>
            <a:endParaRPr lang="en-US" sz="3600" b="1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1446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/>
              </a:rPr>
              <a:t>What is the OGC?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Open Geospatial Consortium, Inc. (OGC) is a non-profit, international voluntary consensus standards organization that is leading the development of standards for geospatial and location based services.</a:t>
            </a:r>
          </a:p>
          <a:p>
            <a:pPr lvl="1"/>
            <a:endParaRPr lang="en-US" dirty="0">
              <a:solidFill>
                <a:srgbClr val="000000"/>
              </a:solidFill>
              <a:cs typeface="Arial" pitchFamily="34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The OGC facilitates a consensus process in which government, private industry, NGOs, and academia collaborate to create open and extensible software application programming interfaces for geospatial and other mainstream information technologies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8598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2596"/>
            <a:ext cx="10515600" cy="1325563"/>
          </a:xfrm>
        </p:spPr>
        <p:txBody>
          <a:bodyPr/>
          <a:lstStyle/>
          <a:p>
            <a:r>
              <a:rPr lang="en-US" dirty="0" smtClean="0"/>
              <a:t>OGC Snapshot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1870076" y="1279525"/>
            <a:ext cx="4772025" cy="4891088"/>
          </a:xfrm>
        </p:spPr>
        <p:txBody>
          <a:bodyPr>
            <a:normAutofit fontScale="92500"/>
          </a:bodyPr>
          <a:lstStyle/>
          <a:p>
            <a:pPr>
              <a:spcBef>
                <a:spcPts val="1176"/>
              </a:spcBef>
            </a:pPr>
            <a:r>
              <a:rPr lang="en-US" dirty="0" smtClean="0"/>
              <a:t>A Voluntary Consensus Standards Organization, founded in 1994.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480 members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38 adopted standards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Hundreds of product implementations 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Broad user community implementation worldwide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Alliance partnerships with 30+ standards &amp; professional orgs</a:t>
            </a: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2012, Open Geospatial Consortium.</a:t>
            </a:r>
          </a:p>
        </p:txBody>
      </p:sp>
      <p:sp>
        <p:nvSpPr>
          <p:cNvPr id="9223" name="Text Box 29"/>
          <p:cNvSpPr txBox="1">
            <a:spLocks noChangeArrowheads="1"/>
          </p:cNvSpPr>
          <p:nvPr/>
        </p:nvSpPr>
        <p:spPr bwMode="auto">
          <a:xfrm>
            <a:off x="6744072" y="1665041"/>
            <a:ext cx="27510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</a:pPr>
            <a:r>
              <a:rPr lang="en-US" sz="1400" b="1" dirty="0">
                <a:solidFill>
                  <a:srgbClr val="092E5C"/>
                </a:solidFill>
                <a:latin typeface="Arial" pitchFamily="34" charset="0"/>
                <a:cs typeface="Arial" pitchFamily="34" charset="0"/>
              </a:rPr>
              <a:t>OGC Membership Distribution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6884957"/>
              </p:ext>
            </p:extLst>
          </p:nvPr>
        </p:nvGraphicFramePr>
        <p:xfrm>
          <a:off x="6023992" y="1709913"/>
          <a:ext cx="4948808" cy="4005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3264938"/>
      </p:ext>
    </p:extLst>
  </p:cSld>
  <p:clrMapOvr>
    <a:masterClrMapping/>
  </p:clrMapOvr>
  <p:transition advTm="12000">
    <p:zoom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4976" y="67408"/>
            <a:ext cx="10515600" cy="1325563"/>
          </a:xfrm>
        </p:spPr>
        <p:txBody>
          <a:bodyPr/>
          <a:lstStyle/>
          <a:p>
            <a:r>
              <a:rPr lang="en-US" dirty="0" smtClean="0"/>
              <a:t>OGC Snapshot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1870076" y="1279525"/>
            <a:ext cx="4772025" cy="4891088"/>
          </a:xfrm>
        </p:spPr>
        <p:txBody>
          <a:bodyPr>
            <a:normAutofit fontScale="92500"/>
          </a:bodyPr>
          <a:lstStyle/>
          <a:p>
            <a:pPr>
              <a:spcBef>
                <a:spcPts val="1176"/>
              </a:spcBef>
            </a:pPr>
            <a:r>
              <a:rPr lang="en-US" dirty="0" smtClean="0"/>
              <a:t>A Voluntary Consensus Standards Organization, founded in 1994.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480 members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38 adopted standards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Hundreds of product implementations 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Broad user community implementation worldwide</a:t>
            </a:r>
          </a:p>
          <a:p>
            <a:pPr>
              <a:spcBef>
                <a:spcPts val="1176"/>
              </a:spcBef>
            </a:pPr>
            <a:r>
              <a:rPr lang="en-US" dirty="0" smtClean="0"/>
              <a:t>Alliance partnerships with 30+ standards &amp; professional orgs</a:t>
            </a: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2012, Open Geospatial Consortium</a:t>
            </a:r>
          </a:p>
        </p:txBody>
      </p:sp>
      <p:sp>
        <p:nvSpPr>
          <p:cNvPr id="9224" name="AutoShape 32"/>
          <p:cNvSpPr>
            <a:spLocks noChangeAspect="1" noChangeArrowheads="1" noTextEdit="1"/>
          </p:cNvSpPr>
          <p:nvPr/>
        </p:nvSpPr>
        <p:spPr bwMode="auto">
          <a:xfrm>
            <a:off x="6863936" y="2074407"/>
            <a:ext cx="4152900" cy="320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</a:pPr>
            <a:endParaRPr lang="en-US" sz="1000" dirty="0">
              <a:solidFill>
                <a:srgbClr val="092E5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6813849" y="1570602"/>
            <a:ext cx="27510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</a:pPr>
            <a:r>
              <a:rPr lang="en-US" sz="1400" b="1" dirty="0">
                <a:solidFill>
                  <a:srgbClr val="092E5C"/>
                </a:solidFill>
                <a:latin typeface="Arial" pitchFamily="34" charset="0"/>
                <a:cs typeface="Arial" pitchFamily="34" charset="0"/>
              </a:rPr>
              <a:t>OGC Membership Distribution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9460900"/>
              </p:ext>
            </p:extLst>
          </p:nvPr>
        </p:nvGraphicFramePr>
        <p:xfrm>
          <a:off x="5517705" y="1888573"/>
          <a:ext cx="6120680" cy="3799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4582378"/>
      </p:ext>
    </p:extLst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Calibri" charset="0"/>
              </a:rPr>
              <a:t>An </a:t>
            </a:r>
            <a:r>
              <a:rPr lang="en-US" b="1" dirty="0">
                <a:solidFill>
                  <a:schemeClr val="tx1"/>
                </a:solidFill>
                <a:latin typeface="Calibri" charset="0"/>
              </a:rPr>
              <a:t>OGC standard </a:t>
            </a:r>
            <a:r>
              <a:rPr lang="en-US" dirty="0">
                <a:latin typeface="Calibri" charset="0"/>
              </a:rPr>
              <a:t>is a document, established by consensus and approved by the OGC Membership, that describe rules, guidelines or characteristics for interfaces and encodings aimed at the achievement of the optimum degree of interoperability.</a:t>
            </a:r>
          </a:p>
          <a:p>
            <a:pPr eaLnBrk="1" hangingPunct="1"/>
            <a:r>
              <a:rPr lang="en-US" b="1" dirty="0">
                <a:latin typeface="Calibri" charset="0"/>
              </a:rPr>
              <a:t>Domain Working Groups (DWG or WG)</a:t>
            </a:r>
            <a:r>
              <a:rPr lang="en-US" dirty="0">
                <a:latin typeface="Calibri" charset="0"/>
              </a:rPr>
              <a:t> provide a forum for discussion of key interoperability requirements and issues, discussion and review of implementation specifications, and presentations on key technology areas relevant to solving geospatial interoperability issues.</a:t>
            </a:r>
          </a:p>
          <a:p>
            <a:r>
              <a:rPr lang="en-US" b="1" dirty="0">
                <a:latin typeface="Corbel" charset="0"/>
              </a:rPr>
              <a:t>Standards Working Groups (SWG) </a:t>
            </a:r>
            <a:r>
              <a:rPr lang="en-US" dirty="0">
                <a:latin typeface="Corbel" charset="0"/>
              </a:rPr>
              <a:t>have specific charter of working on a candidate standard prior to approval as an OGC standard or on making revisions to an existing OGC standard</a:t>
            </a:r>
            <a:r>
              <a:rPr lang="en-US" dirty="0" smtClean="0">
                <a:latin typeface="Corbel" charset="0"/>
              </a:rPr>
              <a:t>.</a:t>
            </a:r>
            <a:endParaRPr lang="en-US" sz="2000" dirty="0">
              <a:latin typeface="Corbe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2013 Open Geospatial Consortium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2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117"/>
            <a:ext cx="10515600" cy="1325563"/>
          </a:xfrm>
        </p:spPr>
        <p:txBody>
          <a:bodyPr/>
          <a:lstStyle/>
          <a:p>
            <a:r>
              <a:rPr lang="en-US" dirty="0" smtClean="0"/>
              <a:t>International Standardization for Water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989" y="1465054"/>
            <a:ext cx="7106245" cy="1717427"/>
          </a:xfrm>
        </p:spPr>
        <p:txBody>
          <a:bodyPr>
            <a:normAutofit fontScale="25000" lnSpcReduction="20000"/>
          </a:bodyPr>
          <a:lstStyle/>
          <a:p>
            <a:pPr defTabSz="914144">
              <a:spcBef>
                <a:spcPts val="0"/>
              </a:spcBef>
              <a:defRPr/>
            </a:pPr>
            <a:r>
              <a:rPr lang="en-US" sz="9600" dirty="0">
                <a:solidFill>
                  <a:srgbClr val="FF0000"/>
                </a:solidFill>
              </a:rPr>
              <a:t>Hydrology Domain Working Group</a:t>
            </a:r>
          </a:p>
          <a:p>
            <a:pPr lvl="1" defTabSz="914144">
              <a:spcBef>
                <a:spcPts val="0"/>
              </a:spcBef>
              <a:defRPr/>
            </a:pPr>
            <a:r>
              <a:rPr lang="en-US" sz="9600" dirty="0">
                <a:solidFill>
                  <a:srgbClr val="000000"/>
                </a:solidFill>
              </a:rPr>
              <a:t>standards for water data: </a:t>
            </a:r>
            <a:r>
              <a:rPr lang="en-US" sz="9600" b="1" dirty="0" err="1">
                <a:solidFill>
                  <a:srgbClr val="000000"/>
                </a:solidFill>
              </a:rPr>
              <a:t>WaterML</a:t>
            </a:r>
            <a:r>
              <a:rPr lang="en-US" sz="9600" b="1" dirty="0">
                <a:solidFill>
                  <a:srgbClr val="000000"/>
                </a:solidFill>
              </a:rPr>
              <a:t> 2.0 suite</a:t>
            </a:r>
          </a:p>
          <a:p>
            <a:pPr lvl="1" defTabSz="914144">
              <a:spcBef>
                <a:spcPts val="0"/>
              </a:spcBef>
              <a:defRPr/>
            </a:pPr>
            <a:r>
              <a:rPr lang="en-US" sz="9600" dirty="0">
                <a:solidFill>
                  <a:srgbClr val="000000"/>
                </a:solidFill>
              </a:rPr>
              <a:t>organizing Interoperability Experiments (IEs)                 focused on different sub-domains of water</a:t>
            </a:r>
          </a:p>
          <a:p>
            <a:pPr marL="0" indent="0">
              <a:buNone/>
            </a:pPr>
            <a:endParaRPr lang="en-US" sz="96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8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8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8000" dirty="0">
              <a:solidFill>
                <a:srgbClr val="000000"/>
              </a:solidFill>
            </a:endParaRPr>
          </a:p>
          <a:p>
            <a:r>
              <a:rPr lang="en-US" sz="9600" dirty="0">
                <a:solidFill>
                  <a:srgbClr val="000000"/>
                </a:solidFill>
              </a:rPr>
              <a:t>Chairs: </a:t>
            </a:r>
          </a:p>
          <a:p>
            <a:pPr lvl="1"/>
            <a:r>
              <a:rPr lang="en-US" sz="9600" dirty="0" err="1" smtClean="0">
                <a:solidFill>
                  <a:srgbClr val="000000"/>
                </a:solidFill>
              </a:rPr>
              <a:t>Ilya</a:t>
            </a:r>
            <a:r>
              <a:rPr lang="en-US" sz="9600" dirty="0" smtClean="0">
                <a:solidFill>
                  <a:srgbClr val="000000"/>
                </a:solidFill>
              </a:rPr>
              <a:t> </a:t>
            </a:r>
            <a:r>
              <a:rPr lang="en-US" sz="9600" dirty="0" err="1">
                <a:solidFill>
                  <a:srgbClr val="000000"/>
                </a:solidFill>
              </a:rPr>
              <a:t>Zaslavsky</a:t>
            </a:r>
            <a:r>
              <a:rPr lang="en-US" sz="9600" dirty="0">
                <a:solidFill>
                  <a:srgbClr val="000000"/>
                </a:solidFill>
              </a:rPr>
              <a:t> (USA</a:t>
            </a:r>
            <a:r>
              <a:rPr lang="en-US" sz="9600" dirty="0" smtClean="0">
                <a:solidFill>
                  <a:srgbClr val="000000"/>
                </a:solidFill>
              </a:rPr>
              <a:t>)</a:t>
            </a:r>
          </a:p>
          <a:p>
            <a:pPr lvl="1"/>
            <a:r>
              <a:rPr lang="en-US" sz="9600" dirty="0" smtClean="0">
                <a:solidFill>
                  <a:srgbClr val="000000"/>
                </a:solidFill>
              </a:rPr>
              <a:t>Tony Boston (Australia)</a:t>
            </a:r>
          </a:p>
          <a:p>
            <a:pPr lvl="1"/>
            <a:r>
              <a:rPr lang="en-US" sz="9600" dirty="0" err="1" smtClean="0">
                <a:solidFill>
                  <a:srgbClr val="000000"/>
                </a:solidFill>
              </a:rPr>
              <a:t>Silvano</a:t>
            </a:r>
            <a:r>
              <a:rPr lang="en-US" sz="9600" dirty="0" smtClean="0">
                <a:solidFill>
                  <a:srgbClr val="000000"/>
                </a:solidFill>
              </a:rPr>
              <a:t> </a:t>
            </a:r>
            <a:r>
              <a:rPr lang="en-US" sz="9600" dirty="0" err="1" smtClean="0">
                <a:solidFill>
                  <a:srgbClr val="000000"/>
                </a:solidFill>
              </a:rPr>
              <a:t>Pecora</a:t>
            </a:r>
            <a:r>
              <a:rPr lang="en-US" sz="9600" dirty="0" smtClean="0">
                <a:solidFill>
                  <a:srgbClr val="000000"/>
                </a:solidFill>
              </a:rPr>
              <a:t> (Italy) </a:t>
            </a:r>
            <a:r>
              <a:rPr lang="en-US" sz="9600" dirty="0">
                <a:solidFill>
                  <a:srgbClr val="000000"/>
                </a:solidFill>
              </a:rPr>
              <a:t/>
            </a:r>
            <a:br>
              <a:rPr lang="en-US" sz="9600" dirty="0">
                <a:solidFill>
                  <a:srgbClr val="000000"/>
                </a:solidFill>
              </a:rPr>
            </a:br>
            <a:r>
              <a:rPr lang="en-US" sz="9600" dirty="0">
                <a:solidFill>
                  <a:srgbClr val="000000"/>
                </a:solidFill>
              </a:rPr>
              <a:t>	</a:t>
            </a:r>
            <a:endParaRPr lang="en-US" sz="9600" b="1" dirty="0"/>
          </a:p>
        </p:txBody>
      </p:sp>
      <p:pic>
        <p:nvPicPr>
          <p:cNvPr id="5" name="Picture 4" descr="wmo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275" y="5949280"/>
            <a:ext cx="826527" cy="864096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5879976" y="3014896"/>
            <a:ext cx="4437952" cy="3294424"/>
            <a:chOff x="4598544" y="3327176"/>
            <a:chExt cx="4437952" cy="3294424"/>
          </a:xfrm>
        </p:grpSpPr>
        <p:sp>
          <p:nvSpPr>
            <p:cNvPr id="26" name="TextBox 9"/>
            <p:cNvSpPr txBox="1">
              <a:spLocks noChangeArrowheads="1"/>
            </p:cNvSpPr>
            <p:nvPr/>
          </p:nvSpPr>
          <p:spPr bwMode="auto">
            <a:xfrm>
              <a:off x="5593055" y="3327176"/>
              <a:ext cx="2518062" cy="399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13" tIns="45655" rIns="91313" bIns="45655">
              <a:spAutoFit/>
            </a:bodyPr>
            <a:lstStyle/>
            <a:p>
              <a:pPr defTabSz="914144">
                <a:defRPr/>
              </a:pPr>
              <a:r>
                <a:rPr lang="en-US" sz="2000" dirty="0">
                  <a:solidFill>
                    <a:srgbClr val="FF0000"/>
                  </a:solidFill>
                </a:rPr>
                <a:t>Iterative Development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8544" y="3727146"/>
              <a:ext cx="4437952" cy="2894454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364704" y="3851270"/>
            <a:ext cx="3672408" cy="1988002"/>
          </a:xfrm>
          <a:prstGeom prst="rect">
            <a:avLst/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44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76142" y="6453337"/>
            <a:ext cx="6104235" cy="307645"/>
          </a:xfrm>
          <a:prstGeom prst="rect">
            <a:avLst/>
          </a:prstGeom>
          <a:noFill/>
        </p:spPr>
        <p:txBody>
          <a:bodyPr wrap="none" lIns="91313" tIns="45655" rIns="91313" bIns="45655">
            <a:spAutoFit/>
          </a:bodyPr>
          <a:lstStyle/>
          <a:p>
            <a:pPr defTabSz="914144">
              <a:defRPr/>
            </a:pPr>
            <a:r>
              <a:rPr lang="en-US" sz="1400" dirty="0">
                <a:solidFill>
                  <a:srgbClr val="000000"/>
                </a:solidFill>
                <a:hlinkClick r:id="rId5"/>
              </a:rPr>
              <a:t>http://external.opengis.org/twiki_public/bin/view/HydrologyDWG/WebHome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26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738314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dirty="0">
                <a:solidFill>
                  <a:srgbClr val="003366"/>
                </a:solidFill>
              </a:rPr>
              <a:t>Water Information Standards Suite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2487989" y="1335422"/>
            <a:ext cx="7285351" cy="4724623"/>
            <a:chOff x="934404" y="1573378"/>
            <a:chExt cx="7285351" cy="4724623"/>
          </a:xfrm>
        </p:grpSpPr>
        <p:sp>
          <p:nvSpPr>
            <p:cNvPr id="7" name="Ellipse 6"/>
            <p:cNvSpPr/>
            <p:nvPr/>
          </p:nvSpPr>
          <p:spPr bwMode="auto">
            <a:xfrm>
              <a:off x="934404" y="1573378"/>
              <a:ext cx="7285351" cy="4724623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1894179" y="3521715"/>
              <a:ext cx="54538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 err="1">
                  <a:solidFill>
                    <a:srgbClr val="002060"/>
                  </a:solidFill>
                </a:rPr>
                <a:t>Towards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the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identification</a:t>
              </a:r>
              <a:r>
                <a:rPr lang="de-DE" sz="2400" dirty="0">
                  <a:solidFill>
                    <a:srgbClr val="002060"/>
                  </a:solidFill>
                </a:rPr>
                <a:t>, </a:t>
              </a:r>
              <a:r>
                <a:rPr lang="de-DE" sz="2400" dirty="0" err="1">
                  <a:solidFill>
                    <a:srgbClr val="002060"/>
                  </a:solidFill>
                </a:rPr>
                <a:t>observation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and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representation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of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hydrologic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features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using</a:t>
              </a:r>
              <a:r>
                <a:rPr lang="de-DE" sz="2400" dirty="0">
                  <a:solidFill>
                    <a:srgbClr val="002060"/>
                  </a:solidFill>
                </a:rPr>
                <a:t> </a:t>
              </a:r>
              <a:r>
                <a:rPr lang="de-DE" sz="2400" dirty="0" err="1">
                  <a:solidFill>
                    <a:srgbClr val="002060"/>
                  </a:solidFill>
                </a:rPr>
                <a:t>standards</a:t>
              </a:r>
              <a:endParaRPr lang="en-US" sz="2400" dirty="0" err="1">
                <a:solidFill>
                  <a:srgbClr val="002060"/>
                </a:solidFill>
              </a:endParaRPr>
            </a:p>
          </p:txBody>
        </p:sp>
      </p:grpSp>
      <p:sp>
        <p:nvSpPr>
          <p:cNvPr id="30" name="File"/>
          <p:cNvSpPr>
            <a:spLocks noEditPoints="1" noChangeArrowheads="1"/>
          </p:cNvSpPr>
          <p:nvPr/>
        </p:nvSpPr>
        <p:spPr bwMode="auto">
          <a:xfrm>
            <a:off x="2474715" y="1466182"/>
            <a:ext cx="1201579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>
                <a:solidFill>
                  <a:srgbClr val="002060"/>
                </a:solidFill>
              </a:rPr>
              <a:t>TimeseriesML1:</a:t>
            </a:r>
          </a:p>
          <a:p>
            <a:pPr algn="ctr"/>
            <a:r>
              <a:rPr lang="en-GB" sz="1100" b="1" dirty="0" err="1">
                <a:solidFill>
                  <a:srgbClr val="002060"/>
                </a:solidFill>
              </a:rPr>
              <a:t>Timeseries</a:t>
            </a:r>
            <a:endParaRPr lang="en-GB" sz="1100" b="1" dirty="0">
              <a:solidFill>
                <a:srgbClr val="002060"/>
              </a:solidFill>
            </a:endParaRPr>
          </a:p>
          <a:p>
            <a:pPr algn="ctr"/>
            <a:r>
              <a:rPr lang="en-GB" sz="1100" b="1" dirty="0">
                <a:solidFill>
                  <a:srgbClr val="002060"/>
                </a:solidFill>
              </a:rPr>
              <a:t>Observation </a:t>
            </a:r>
            <a:endParaRPr lang="en-GB" sz="1100" b="1" dirty="0" smtClean="0">
              <a:solidFill>
                <a:srgbClr val="002060"/>
              </a:solidFill>
            </a:endParaRP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(</a:t>
            </a:r>
            <a:r>
              <a:rPr lang="en-GB" sz="1100" dirty="0">
                <a:solidFill>
                  <a:srgbClr val="002060"/>
                </a:solidFill>
              </a:rPr>
              <a:t>OGC </a:t>
            </a:r>
            <a:r>
              <a:rPr lang="en-GB" sz="1100" dirty="0"/>
              <a:t>15-042r1)</a:t>
            </a:r>
            <a:r>
              <a:rPr lang="en-GB" sz="1100" dirty="0">
                <a:solidFill>
                  <a:srgbClr val="002060"/>
                </a:solidFill>
              </a:rPr>
              <a:t>   </a:t>
            </a: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8832305" y="3282476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ea typeface="MS PGothic" pitchFamily="34" charset="-128"/>
              </a:rPr>
              <a:t>Groundwater</a:t>
            </a:r>
            <a:r>
              <a:rPr lang="en-US" sz="1100" dirty="0">
                <a:solidFill>
                  <a:srgbClr val="002060"/>
                </a:solidFill>
                <a:ea typeface="MS PGothic" pitchFamily="34" charset="-128"/>
              </a:rPr>
              <a:t>:</a:t>
            </a:r>
          </a:p>
          <a:p>
            <a:pPr algn="ctr"/>
            <a:r>
              <a:rPr lang="en-US" sz="1100" dirty="0">
                <a:solidFill>
                  <a:srgbClr val="002060"/>
                </a:solidFill>
                <a:ea typeface="MS PGothic" pitchFamily="34" charset="-128"/>
              </a:rPr>
              <a:t>Conceptual model</a:t>
            </a:r>
            <a:r>
              <a:rPr lang="en-US" sz="1100" dirty="0">
                <a:solidFill>
                  <a:schemeClr val="tx2"/>
                </a:solidFill>
              </a:rPr>
              <a:t> (OGC IS 16-XXX)</a:t>
            </a:r>
            <a:endParaRPr lang="en-AU" sz="1100" dirty="0">
              <a:solidFill>
                <a:schemeClr val="tx2"/>
              </a:solidFill>
            </a:endParaRPr>
          </a:p>
        </p:txBody>
      </p:sp>
      <p:sp>
        <p:nvSpPr>
          <p:cNvPr id="23" name="File"/>
          <p:cNvSpPr>
            <a:spLocks noEditPoints="1" noChangeArrowheads="1"/>
          </p:cNvSpPr>
          <p:nvPr/>
        </p:nvSpPr>
        <p:spPr bwMode="auto">
          <a:xfrm>
            <a:off x="3676294" y="14584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WaterML2Part1: </a:t>
            </a:r>
          </a:p>
          <a:p>
            <a:pPr algn="ctr"/>
            <a:r>
              <a:rPr lang="en-GB" sz="1100" b="1" dirty="0" err="1">
                <a:solidFill>
                  <a:srgbClr val="002060"/>
                </a:solidFill>
                <a:ea typeface="MS PGothic" pitchFamily="34" charset="-128"/>
              </a:rPr>
              <a:t>Timeseries</a:t>
            </a:r>
            <a:endParaRPr lang="en-GB" sz="1100" b="1" dirty="0">
              <a:solidFill>
                <a:srgbClr val="002060"/>
              </a:solidFill>
              <a:ea typeface="MS PGothic" pitchFamily="34" charset="-128"/>
            </a:endParaRPr>
          </a:p>
          <a:p>
            <a:pPr algn="ctr"/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Observation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(OGC IS 10-126r4)</a:t>
            </a:r>
          </a:p>
        </p:txBody>
      </p:sp>
      <p:sp>
        <p:nvSpPr>
          <p:cNvPr id="24" name="File"/>
          <p:cNvSpPr>
            <a:spLocks noEditPoints="1" noChangeArrowheads="1"/>
          </p:cNvSpPr>
          <p:nvPr/>
        </p:nvSpPr>
        <p:spPr bwMode="auto">
          <a:xfrm>
            <a:off x="5843175" y="1251076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WaterML2Part2:</a:t>
            </a:r>
            <a:r>
              <a:rPr lang="en-GB" sz="1100" b="1" dirty="0">
                <a:solidFill>
                  <a:srgbClr val="002060"/>
                </a:solidFill>
                <a:ea typeface="MS PGothic" pitchFamily="34" charset="-128"/>
              </a:rPr>
              <a:t>          Ratings,   </a:t>
            </a:r>
            <a:r>
              <a:rPr lang="en-GB" sz="1100" b="1" dirty="0" err="1">
                <a:solidFill>
                  <a:srgbClr val="002060"/>
                </a:solidFill>
                <a:ea typeface="MS PGothic" pitchFamily="34" charset="-128"/>
              </a:rPr>
              <a:t>Gaugings</a:t>
            </a:r>
            <a:r>
              <a:rPr lang="en-GB" sz="1100" b="1" dirty="0">
                <a:solidFill>
                  <a:srgbClr val="002060"/>
                </a:solidFill>
                <a:ea typeface="MS PGothic" pitchFamily="34" charset="-128"/>
              </a:rPr>
              <a:t> &amp; Sections 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(OGC IS 15-018r1)</a:t>
            </a:r>
          </a:p>
        </p:txBody>
      </p:sp>
      <p:sp>
        <p:nvSpPr>
          <p:cNvPr id="25" name="File"/>
          <p:cNvSpPr>
            <a:spLocks noEditPoints="1" noChangeArrowheads="1"/>
          </p:cNvSpPr>
          <p:nvPr/>
        </p:nvSpPr>
        <p:spPr bwMode="auto">
          <a:xfrm>
            <a:off x="8019964" y="1702949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WaterML2Part3: </a:t>
            </a:r>
            <a:r>
              <a:rPr lang="en-GB" sz="1100" b="1" dirty="0">
                <a:solidFill>
                  <a:srgbClr val="002060"/>
                </a:solidFill>
                <a:ea typeface="MS PGothic" pitchFamily="34" charset="-128"/>
              </a:rPr>
              <a:t>Water Quality Observation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(OGC BP 14-003</a:t>
            </a:r>
            <a:r>
              <a:rPr lang="en-GB" sz="1100" b="1" dirty="0">
                <a:solidFill>
                  <a:srgbClr val="002060"/>
                </a:solidFill>
                <a:ea typeface="MS PGothic" pitchFamily="34" charset="-128"/>
              </a:rPr>
              <a:t>)</a:t>
            </a:r>
          </a:p>
        </p:txBody>
      </p:sp>
      <p:sp>
        <p:nvSpPr>
          <p:cNvPr id="32" name="File"/>
          <p:cNvSpPr>
            <a:spLocks noEditPoints="1" noChangeArrowheads="1"/>
          </p:cNvSpPr>
          <p:nvPr/>
        </p:nvSpPr>
        <p:spPr bwMode="auto">
          <a:xfrm>
            <a:off x="3149763" y="4670619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1" dirty="0">
                <a:solidFill>
                  <a:srgbClr val="002060"/>
                </a:solidFill>
              </a:rPr>
              <a:t>Hydrologic Features </a:t>
            </a:r>
            <a:r>
              <a:rPr lang="en-GB" sz="1100" dirty="0">
                <a:solidFill>
                  <a:srgbClr val="002060"/>
                </a:solidFill>
              </a:rPr>
              <a:t>Part1: Conceptual model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 </a:t>
            </a:r>
            <a:r>
              <a:rPr lang="en-US" sz="1100" dirty="0">
                <a:solidFill>
                  <a:srgbClr val="002060"/>
                </a:solidFill>
              </a:rPr>
              <a:t>(OGC IS 15-XXX)</a:t>
            </a:r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1969931" y="3102771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SOS 2.0 </a:t>
            </a:r>
          </a:p>
          <a:p>
            <a:pPr algn="ctr"/>
            <a:r>
              <a:rPr lang="en-GB" sz="1100" b="1" dirty="0">
                <a:solidFill>
                  <a:srgbClr val="002060"/>
                </a:solidFill>
                <a:ea typeface="MS PGothic" pitchFamily="34" charset="-128"/>
              </a:rPr>
              <a:t>Hydrology Profile </a:t>
            </a:r>
            <a:r>
              <a:rPr lang="en-GB" sz="1100" dirty="0"/>
              <a:t> </a:t>
            </a:r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 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  <a:ea typeface="MS PGothic" pitchFamily="34" charset="-128"/>
              </a:rPr>
              <a:t>(OGC BP 14-004r1)</a:t>
            </a: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828850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err="1" smtClean="0">
                <a:solidFill>
                  <a:srgbClr val="003366"/>
                </a:solidFill>
              </a:rPr>
              <a:t>HydroDWG</a:t>
            </a:r>
            <a:r>
              <a:rPr lang="en-GB" altLang="en-US" dirty="0" smtClean="0">
                <a:solidFill>
                  <a:srgbClr val="003366"/>
                </a:solidFill>
              </a:rPr>
              <a:t> </a:t>
            </a:r>
            <a:r>
              <a:rPr lang="en-GB" altLang="en-US" dirty="0">
                <a:solidFill>
                  <a:srgbClr val="003366"/>
                </a:solidFill>
              </a:rPr>
              <a:t>@ </a:t>
            </a:r>
            <a:r>
              <a:rPr lang="en-GB" altLang="en-US" dirty="0" smtClean="0">
                <a:solidFill>
                  <a:srgbClr val="003366"/>
                </a:solidFill>
              </a:rPr>
              <a:t>RDA Plenary 24 September 2015</a:t>
            </a:r>
            <a:endParaRPr lang="en-GB" altLang="en-US" dirty="0">
              <a:solidFill>
                <a:srgbClr val="003366"/>
              </a:solidFill>
            </a:endParaRPr>
          </a:p>
        </p:txBody>
      </p:sp>
      <p:sp>
        <p:nvSpPr>
          <p:cNvPr id="20" name="File"/>
          <p:cNvSpPr>
            <a:spLocks noEditPoints="1" noChangeArrowheads="1"/>
          </p:cNvSpPr>
          <p:nvPr/>
        </p:nvSpPr>
        <p:spPr bwMode="auto">
          <a:xfrm>
            <a:off x="5287426" y="491311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1" dirty="0">
                <a:solidFill>
                  <a:srgbClr val="002060"/>
                </a:solidFill>
              </a:rPr>
              <a:t>Hydrologic Features </a:t>
            </a:r>
            <a:r>
              <a:rPr lang="en-GB" sz="1100" dirty="0">
                <a:solidFill>
                  <a:srgbClr val="002060"/>
                </a:solidFill>
              </a:rPr>
              <a:t>Part2: GML schema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 </a:t>
            </a:r>
            <a:r>
              <a:rPr lang="en-US" sz="1100" dirty="0">
                <a:solidFill>
                  <a:srgbClr val="002060"/>
                </a:solidFill>
              </a:rPr>
              <a:t>(OGC IS 15-XXX)</a:t>
            </a:r>
          </a:p>
        </p:txBody>
      </p:sp>
      <p:sp>
        <p:nvSpPr>
          <p:cNvPr id="21" name="File"/>
          <p:cNvSpPr>
            <a:spLocks noEditPoints="1" noChangeArrowheads="1"/>
          </p:cNvSpPr>
          <p:nvPr/>
        </p:nvSpPr>
        <p:spPr bwMode="auto">
          <a:xfrm>
            <a:off x="7480967" y="4706139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1" dirty="0">
                <a:solidFill>
                  <a:srgbClr val="002060"/>
                </a:solidFill>
              </a:rPr>
              <a:t>Hydrologic Features </a:t>
            </a:r>
            <a:r>
              <a:rPr lang="en-GB" sz="1100" dirty="0">
                <a:solidFill>
                  <a:srgbClr val="002060"/>
                </a:solidFill>
              </a:rPr>
              <a:t>Part3: </a:t>
            </a:r>
            <a:r>
              <a:rPr lang="en-US" sz="1100" dirty="0">
                <a:solidFill>
                  <a:schemeClr val="tx2"/>
                </a:solidFill>
              </a:rPr>
              <a:t>OWL and RDF representation</a:t>
            </a:r>
            <a:r>
              <a:rPr lang="en-GB" sz="1100" dirty="0">
                <a:solidFill>
                  <a:srgbClr val="002060"/>
                </a:solidFill>
              </a:rPr>
              <a:t> </a:t>
            </a:r>
            <a:r>
              <a:rPr lang="en-US" sz="1100" dirty="0">
                <a:solidFill>
                  <a:srgbClr val="002060"/>
                </a:solidFill>
              </a:rPr>
              <a:t>(OGC IS 15-XXX)</a:t>
            </a:r>
          </a:p>
        </p:txBody>
      </p:sp>
      <p:pic>
        <p:nvPicPr>
          <p:cNvPr id="17" name="Picture 10" descr="wmo_black_400 Kopi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37884" y="6267339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1872565" y="6180117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sz="4000" b="1" dirty="0" smtClean="0">
                <a:solidFill>
                  <a:srgbClr val="003366"/>
                </a:solidFill>
                <a:latin typeface="Times New Roman" pitchFamily="18" charset="0"/>
              </a:rPr>
              <a:t>OGC</a:t>
            </a:r>
          </a:p>
        </p:txBody>
      </p:sp>
      <p:sp>
        <p:nvSpPr>
          <p:cNvPr id="27" name="Line 14"/>
          <p:cNvSpPr>
            <a:spLocks noChangeShapeType="1"/>
          </p:cNvSpPr>
          <p:nvPr/>
        </p:nvSpPr>
        <p:spPr bwMode="auto">
          <a:xfrm>
            <a:off x="2166253" y="6218217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446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BoF</a:t>
            </a:r>
            <a:r>
              <a:rPr lang="en-US" b="1" dirty="0" smtClean="0">
                <a:solidFill>
                  <a:srgbClr val="FF0000"/>
                </a:solidFill>
              </a:rPr>
              <a:t>: to assess interest to move to IG or WG, or retire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031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IG :</a:t>
            </a:r>
          </a:p>
          <a:p>
            <a:pPr lvl="1"/>
            <a:r>
              <a:rPr lang="en-US" dirty="0" smtClean="0"/>
              <a:t>Charter</a:t>
            </a:r>
          </a:p>
          <a:p>
            <a:pPr lvl="1"/>
            <a:r>
              <a:rPr lang="en-US" dirty="0" smtClean="0"/>
              <a:t>2-4 co-chairs</a:t>
            </a:r>
          </a:p>
          <a:p>
            <a:pPr lvl="1"/>
            <a:r>
              <a:rPr lang="en-US" dirty="0" smtClean="0"/>
              <a:t>Members from 3 continents</a:t>
            </a:r>
          </a:p>
          <a:p>
            <a:pPr lvl="1"/>
            <a:r>
              <a:rPr lang="en-US" dirty="0" smtClean="0"/>
              <a:t>Examples of IGs: agriculture data; biodiversity data integration; data fabric; data foundations and terminology; domain repositories; digital practices in history; geospatial; marine data; metabolomics data; vocabulary services; structural biology….</a:t>
            </a:r>
          </a:p>
          <a:p>
            <a:r>
              <a:rPr lang="en-US" dirty="0" smtClean="0"/>
              <a:t>WG:</a:t>
            </a:r>
          </a:p>
          <a:p>
            <a:pPr lvl="1"/>
            <a:r>
              <a:rPr lang="en-US" dirty="0" smtClean="0"/>
              <a:t>Case statement, proposed, plan, scope, 2-4 co-chairs, concrete deliverables</a:t>
            </a:r>
          </a:p>
          <a:p>
            <a:pPr lvl="1"/>
            <a:r>
              <a:rPr lang="en-US" dirty="0" smtClean="0"/>
              <a:t>Examples of WGs: brokering governance, data citation, registry interoperability, metadata standards catalog, data type registry, publishing data workflow, wheat data interoperability</a:t>
            </a:r>
            <a:endParaRPr lang="en-US" dirty="0"/>
          </a:p>
        </p:txBody>
      </p:sp>
      <p:pic>
        <p:nvPicPr>
          <p:cNvPr id="1026" name="Picture 2" descr="https://www.rd-alliance.org/sites/default/files/IG_Charter_Review.png#overlay-context=group/working-group-process-task-force/wiki/group-processes-and-procedures.htm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051" y="1216027"/>
            <a:ext cx="8483704" cy="177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82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Towards a Water Resource Data Sharing IG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To represent stakeholders producing</a:t>
            </a:r>
            <a:r>
              <a:rPr lang="en-US" dirty="0"/>
              <a:t>, managing, aggregating, sharing and consuming </a:t>
            </a:r>
            <a:r>
              <a:rPr lang="en-US" dirty="0" smtClean="0"/>
              <a:t>water data, globally</a:t>
            </a:r>
          </a:p>
          <a:p>
            <a:r>
              <a:rPr lang="en-US" dirty="0" smtClean="0"/>
              <a:t>Explore existing infrastructures for water data, find commonalities and best practices</a:t>
            </a:r>
          </a:p>
          <a:p>
            <a:r>
              <a:rPr lang="en-US" dirty="0" smtClean="0"/>
              <a:t>Promote use of international water standards developed by HWG, and standards-based </a:t>
            </a:r>
            <a:r>
              <a:rPr lang="en-US" dirty="0" err="1" smtClean="0"/>
              <a:t>eInfrastructure</a:t>
            </a:r>
            <a:r>
              <a:rPr lang="en-US" dirty="0" smtClean="0"/>
              <a:t> components</a:t>
            </a:r>
          </a:p>
          <a:p>
            <a:r>
              <a:rPr lang="en-US" dirty="0" smtClean="0"/>
              <a:t>Re-use infrastructure components recommended by RDA or developed by RDA partners, including data type and other registries related to water data, PIDs, vocabulary services, linked data approaches, cross-scales catalogs…</a:t>
            </a:r>
          </a:p>
          <a:p>
            <a:r>
              <a:rPr lang="en-US" dirty="0" smtClean="0"/>
              <a:t>Explore policies for water data sharing, recommend best practices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6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Hydro </a:t>
            </a:r>
            <a:r>
              <a:rPr lang="en-US" b="1" dirty="0" err="1" smtClean="0">
                <a:solidFill>
                  <a:srgbClr val="FF0000"/>
                </a:solidFill>
              </a:rPr>
              <a:t>BoF</a:t>
            </a:r>
            <a:r>
              <a:rPr lang="en-US" b="1" dirty="0" smtClean="0">
                <a:solidFill>
                  <a:srgbClr val="FF0000"/>
                </a:solidFill>
              </a:rPr>
              <a:t>: Questions to all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5005"/>
            <a:ext cx="10515600" cy="4925128"/>
          </a:xfrm>
        </p:spPr>
        <p:txBody>
          <a:bodyPr>
            <a:normAutofit/>
          </a:bodyPr>
          <a:lstStyle/>
          <a:p>
            <a:r>
              <a:rPr lang="en-US" dirty="0" smtClean="0"/>
              <a:t>Does RDA and OGC have any formal relationship or </a:t>
            </a:r>
            <a:r>
              <a:rPr lang="en-US" dirty="0" err="1" smtClean="0"/>
              <a:t>MoU</a:t>
            </a:r>
            <a:r>
              <a:rPr lang="en-US" dirty="0" smtClean="0"/>
              <a:t>?</a:t>
            </a:r>
          </a:p>
          <a:p>
            <a:r>
              <a:rPr lang="en-US" dirty="0" smtClean="0"/>
              <a:t>What are benefits of having an RDA IG (and possibly WGs)?</a:t>
            </a:r>
          </a:p>
          <a:p>
            <a:r>
              <a:rPr lang="en-US" dirty="0" smtClean="0"/>
              <a:t>How RDA Hydro IG agenda would differ from </a:t>
            </a:r>
            <a:r>
              <a:rPr lang="en-US" dirty="0" err="1" smtClean="0"/>
              <a:t>HydroDWG</a:t>
            </a:r>
            <a:r>
              <a:rPr lang="en-US" dirty="0" smtClean="0"/>
              <a:t>?</a:t>
            </a:r>
          </a:p>
          <a:p>
            <a:r>
              <a:rPr lang="en-US" dirty="0" smtClean="0"/>
              <a:t>What would be specific outcomes of potential WGs?</a:t>
            </a:r>
          </a:p>
          <a:p>
            <a:r>
              <a:rPr lang="en-US" dirty="0" smtClean="0"/>
              <a:t>Who would be potentially interested in participating?</a:t>
            </a:r>
          </a:p>
          <a:p>
            <a:r>
              <a:rPr lang="en-US" dirty="0" smtClean="0"/>
              <a:t>What are the expectations of </a:t>
            </a:r>
            <a:r>
              <a:rPr lang="en-US" dirty="0" err="1" smtClean="0"/>
              <a:t>BoF</a:t>
            </a:r>
            <a:r>
              <a:rPr lang="en-US" dirty="0" smtClean="0"/>
              <a:t> participants?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3989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Potential working </a:t>
            </a:r>
            <a:r>
              <a:rPr lang="en-US" b="1" dirty="0" smtClean="0">
                <a:solidFill>
                  <a:srgbClr val="FF0000"/>
                </a:solidFill>
              </a:rPr>
              <a:t>groups / specific issues for </a:t>
            </a:r>
            <a:r>
              <a:rPr lang="en-US" b="1" dirty="0" err="1" smtClean="0">
                <a:solidFill>
                  <a:srgbClr val="FF0000"/>
                </a:solidFill>
              </a:rPr>
              <a:t>hydroIG</a:t>
            </a:r>
            <a:r>
              <a:rPr lang="en-US" b="1" dirty="0" smtClean="0">
                <a:solidFill>
                  <a:srgbClr val="FF0000"/>
                </a:solidFill>
              </a:rPr>
              <a:t>-RDA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 Data Citation for hydrologic time series</a:t>
            </a:r>
          </a:p>
          <a:p>
            <a:r>
              <a:rPr lang="en-US" dirty="0" smtClean="0"/>
              <a:t>Water data publication connected with articles</a:t>
            </a:r>
          </a:p>
          <a:p>
            <a:r>
              <a:rPr lang="en-US" dirty="0" smtClean="0"/>
              <a:t>Use cases from other domains</a:t>
            </a:r>
          </a:p>
          <a:p>
            <a:r>
              <a:rPr lang="en-US" dirty="0" smtClean="0"/>
              <a:t>Underpinnings of existing systems for water data sharing</a:t>
            </a:r>
          </a:p>
          <a:p>
            <a:r>
              <a:rPr lang="en-US" dirty="0" smtClean="0"/>
              <a:t>Foundations: information models and registries – as being adopted in RDA</a:t>
            </a:r>
          </a:p>
          <a:p>
            <a:r>
              <a:rPr lang="en-US" dirty="0" smtClean="0"/>
              <a:t>Making global hydro data sharing part of a bigger data sharing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92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Pain points with water data where RDA can help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Scaling water balance and flow forecasting models</a:t>
            </a:r>
          </a:p>
          <a:p>
            <a:r>
              <a:rPr lang="en-US" dirty="0" smtClean="0"/>
              <a:t>Integrating with land data</a:t>
            </a:r>
          </a:p>
          <a:p>
            <a:r>
              <a:rPr lang="en-US" dirty="0" smtClean="0"/>
              <a:t>No water theme: lack of coordination (RDA cannot help, but can embarrass enough)</a:t>
            </a:r>
          </a:p>
          <a:p>
            <a:r>
              <a:rPr lang="en-US" dirty="0" smtClean="0"/>
              <a:t>More complete ontologies for water, integrated with ENVO and others</a:t>
            </a:r>
          </a:p>
          <a:p>
            <a:r>
              <a:rPr lang="en-US" dirty="0" smtClean="0"/>
              <a:t>Cross-validating hydro databases against other DBs – to ensure that physics is correct!</a:t>
            </a:r>
          </a:p>
          <a:p>
            <a:r>
              <a:rPr lang="en-US" dirty="0" smtClean="0"/>
              <a:t>Get better user input, larger community, across domains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0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Connections with other RDA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Need use cases with them:</a:t>
            </a:r>
          </a:p>
          <a:p>
            <a:pPr lvl="1"/>
            <a:r>
              <a:rPr lang="en-US" dirty="0" smtClean="0"/>
              <a:t>Agriculture</a:t>
            </a:r>
          </a:p>
          <a:p>
            <a:pPr lvl="1"/>
            <a:r>
              <a:rPr lang="en-US" dirty="0" smtClean="0"/>
              <a:t>Biodiversity</a:t>
            </a:r>
          </a:p>
          <a:p>
            <a:pPr lvl="1"/>
            <a:r>
              <a:rPr lang="en-US" dirty="0" smtClean="0"/>
              <a:t>Earth Systems Science</a:t>
            </a:r>
            <a:endParaRPr lang="en-US" dirty="0"/>
          </a:p>
          <a:p>
            <a:r>
              <a:rPr lang="en-US" dirty="0" smtClean="0"/>
              <a:t>Technological:</a:t>
            </a:r>
          </a:p>
          <a:p>
            <a:pPr lvl="1"/>
            <a:r>
              <a:rPr lang="en-US" dirty="0" smtClean="0"/>
              <a:t>PIDs, registry, metadata, data linking infrastructure, controlled vocabularies, etc…</a:t>
            </a:r>
          </a:p>
          <a:p>
            <a:pPr lvl="1"/>
            <a:r>
              <a:rPr lang="en-US" dirty="0" smtClean="0"/>
              <a:t>Need better scheduling for plenaries</a:t>
            </a:r>
          </a:p>
          <a:p>
            <a:r>
              <a:rPr lang="en-US" dirty="0" smtClean="0"/>
              <a:t>RDA as a way to bring back academics into hydro infrastructure development</a:t>
            </a:r>
          </a:p>
          <a:p>
            <a:r>
              <a:rPr lang="en-US" dirty="0" smtClean="0"/>
              <a:t>“OGC for RDA” paper?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3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to outline potential WGs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Matt, Sylvain, </a:t>
            </a:r>
            <a:r>
              <a:rPr lang="en-US" dirty="0" err="1" smtClean="0"/>
              <a:t>Ilya</a:t>
            </a:r>
            <a:r>
              <a:rPr lang="en-US" smtClean="0"/>
              <a:t>, Tony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1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1052</Words>
  <Application>Microsoft Macintosh PowerPoint</Application>
  <PresentationFormat>Widescreen</PresentationFormat>
  <Paragraphs>127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Calibri Light</vt:lpstr>
      <vt:lpstr>Corbel</vt:lpstr>
      <vt:lpstr>MS PGothic</vt:lpstr>
      <vt:lpstr>ＭＳ Ｐゴシック</vt:lpstr>
      <vt:lpstr>Palatino Linotype</vt:lpstr>
      <vt:lpstr>Times New Roman</vt:lpstr>
      <vt:lpstr>Arial</vt:lpstr>
      <vt:lpstr>Office Theme</vt:lpstr>
      <vt:lpstr>   Hydro DWG at the RDA Plenary BoF - Improve sharing of water resource data globally  </vt:lpstr>
      <vt:lpstr>What is the OGC?</vt:lpstr>
      <vt:lpstr>OGC Snapshot</vt:lpstr>
      <vt:lpstr>OGC Snapshot</vt:lpstr>
      <vt:lpstr>Standards</vt:lpstr>
      <vt:lpstr>International Standardization for Water Data</vt:lpstr>
      <vt:lpstr>Water Information Standards Suite</vt:lpstr>
      <vt:lpstr>BoF: to assess interest to move to IG or WG, or retire</vt:lpstr>
      <vt:lpstr>Towards a Water Resource Data Sharing IG</vt:lpstr>
      <vt:lpstr>Hydro BoF: Questions to all</vt:lpstr>
      <vt:lpstr>Potential working groups / specific issues for hydroIG-RDA</vt:lpstr>
      <vt:lpstr>Pain points with water data where RDA can help</vt:lpstr>
      <vt:lpstr>Connections with other RDA groups</vt:lpstr>
      <vt:lpstr>Need to outline potential WGs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RDA plan</dc:title>
  <dc:creator>Zaslavsky, Ilya</dc:creator>
  <cp:lastModifiedBy>Microsoft Office User</cp:lastModifiedBy>
  <cp:revision>36</cp:revision>
  <dcterms:created xsi:type="dcterms:W3CDTF">2015-09-21T17:39:08Z</dcterms:created>
  <dcterms:modified xsi:type="dcterms:W3CDTF">2015-09-24T13:00:32Z</dcterms:modified>
</cp:coreProperties>
</file>