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6" r:id="rId4"/>
  </p:sldMasterIdLst>
  <p:notesMasterIdLst>
    <p:notesMasterId r:id="rId37"/>
  </p:notesMasterIdLst>
  <p:sldIdLst>
    <p:sldId id="256" r:id="rId5"/>
    <p:sldId id="336" r:id="rId6"/>
    <p:sldId id="344" r:id="rId7"/>
    <p:sldId id="330" r:id="rId8"/>
    <p:sldId id="331" r:id="rId9"/>
    <p:sldId id="304" r:id="rId10"/>
    <p:sldId id="351" r:id="rId11"/>
    <p:sldId id="352" r:id="rId12"/>
    <p:sldId id="343" r:id="rId13"/>
    <p:sldId id="286" r:id="rId14"/>
    <p:sldId id="287" r:id="rId15"/>
    <p:sldId id="334" r:id="rId16"/>
    <p:sldId id="335" r:id="rId17"/>
    <p:sldId id="346" r:id="rId18"/>
    <p:sldId id="348" r:id="rId19"/>
    <p:sldId id="356" r:id="rId20"/>
    <p:sldId id="350" r:id="rId21"/>
    <p:sldId id="341" r:id="rId22"/>
    <p:sldId id="337" r:id="rId23"/>
    <p:sldId id="327" r:id="rId24"/>
    <p:sldId id="328" r:id="rId25"/>
    <p:sldId id="342" r:id="rId26"/>
    <p:sldId id="315" r:id="rId27"/>
    <p:sldId id="329" r:id="rId28"/>
    <p:sldId id="357" r:id="rId29"/>
    <p:sldId id="347" r:id="rId30"/>
    <p:sldId id="353" r:id="rId31"/>
    <p:sldId id="332" r:id="rId32"/>
    <p:sldId id="311" r:id="rId33"/>
    <p:sldId id="340" r:id="rId34"/>
    <p:sldId id="279" r:id="rId35"/>
    <p:sldId id="277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6079097-15CD-4D69-B4DB-A194035B4B6D}">
          <p14:sldIdLst>
            <p14:sldId id="256"/>
            <p14:sldId id="336"/>
          </p14:sldIdLst>
        </p14:section>
        <p14:section name="River Geometry" id="{21146550-A370-4E24-847E-DF2CD710D847}">
          <p14:sldIdLst>
            <p14:sldId id="344"/>
            <p14:sldId id="330"/>
            <p14:sldId id="331"/>
            <p14:sldId id="304"/>
          </p14:sldIdLst>
        </p14:section>
        <p14:section name="River Observations" id="{1851259D-4DA3-4717-A503-487AF56BE193}">
          <p14:sldIdLst>
            <p14:sldId id="351"/>
            <p14:sldId id="352"/>
          </p14:sldIdLst>
        </p14:section>
        <p14:section name="Prototype: HEC-GeoRAS" id="{6EAEDB72-33DD-420B-A4E3-9117445AF20E}">
          <p14:sldIdLst>
            <p14:sldId id="343"/>
            <p14:sldId id="286"/>
            <p14:sldId id="287"/>
            <p14:sldId id="334"/>
            <p14:sldId id="335"/>
          </p14:sldIdLst>
        </p14:section>
        <p14:section name="Proposed: RiverML" id="{BE528D92-D7CA-4780-ABCA-17B8BD2D1BAD}">
          <p14:sldIdLst>
            <p14:sldId id="346"/>
            <p14:sldId id="348"/>
            <p14:sldId id="356"/>
            <p14:sldId id="350"/>
          </p14:sldIdLst>
        </p14:section>
        <p14:section name="Workflow" id="{3F8F950D-B5E9-4039-9EB1-D0F0E855EAE9}">
          <p14:sldIdLst>
            <p14:sldId id="341"/>
            <p14:sldId id="337"/>
            <p14:sldId id="327"/>
            <p14:sldId id="328"/>
          </p14:sldIdLst>
        </p14:section>
        <p14:section name="Discussion" id="{211480B1-FF42-47AB-843C-58E49FFC22D0}">
          <p14:sldIdLst>
            <p14:sldId id="342"/>
            <p14:sldId id="315"/>
            <p14:sldId id="329"/>
            <p14:sldId id="357"/>
            <p14:sldId id="347"/>
          </p14:sldIdLst>
        </p14:section>
        <p14:section name="Other Slides" id="{6FADEC3A-DADC-424F-B713-0BEC7A15601C}">
          <p14:sldIdLst>
            <p14:sldId id="353"/>
            <p14:sldId id="332"/>
            <p14:sldId id="311"/>
          </p14:sldIdLst>
        </p14:section>
        <p14:section name="Research and Development" id="{F8132205-245A-4768-BEE0-2F6665A59199}">
          <p14:sldIdLst>
            <p14:sldId id="340"/>
            <p14:sldId id="279"/>
            <p14:sldId id="277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8" autoAdjust="0"/>
    <p:restoredTop sz="94660"/>
  </p:normalViewPr>
  <p:slideViewPr>
    <p:cSldViewPr snapToGrid="0">
      <p:cViewPr varScale="1">
        <p:scale>
          <a:sx n="80" d="100"/>
          <a:sy n="80" d="100"/>
        </p:scale>
        <p:origin x="-936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B91E83-CFEA-49D9-99FA-17529E487E50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F6F9D0-85C6-4283-A8B2-0AEBAD91C8B2}">
      <dgm:prSet phldrT="[Text]"/>
      <dgm:spPr/>
      <dgm:t>
        <a:bodyPr/>
        <a:lstStyle/>
        <a:p>
          <a:r>
            <a:rPr lang="en-US" dirty="0" smtClean="0">
              <a:solidFill>
                <a:schemeClr val="accent2"/>
              </a:solidFill>
            </a:rPr>
            <a:t>SPRINT </a:t>
          </a:r>
        </a:p>
        <a:p>
          <a:r>
            <a:rPr lang="en-US" dirty="0" smtClean="0">
              <a:solidFill>
                <a:schemeClr val="accent2"/>
              </a:solidFill>
            </a:rPr>
            <a:t>Node Network</a:t>
          </a:r>
          <a:endParaRPr lang="en-US" dirty="0">
            <a:solidFill>
              <a:schemeClr val="accent2"/>
            </a:solidFill>
          </a:endParaRPr>
        </a:p>
      </dgm:t>
    </dgm:pt>
    <dgm:pt modelId="{3CCE11C4-C3E4-42A6-AAF2-F6C0B6077F1A}" type="parTrans" cxnId="{40900315-BC23-441D-964C-D40110DC57AB}">
      <dgm:prSet/>
      <dgm:spPr/>
      <dgm:t>
        <a:bodyPr/>
        <a:lstStyle/>
        <a:p>
          <a:endParaRPr lang="en-US"/>
        </a:p>
      </dgm:t>
    </dgm:pt>
    <dgm:pt modelId="{F3200751-F118-4611-B61F-E8D469F25C3F}" type="sibTrans" cxnId="{40900315-BC23-441D-964C-D40110DC57AB}">
      <dgm:prSet/>
      <dgm:spPr/>
      <dgm:t>
        <a:bodyPr/>
        <a:lstStyle/>
        <a:p>
          <a:endParaRPr lang="en-US"/>
        </a:p>
      </dgm:t>
    </dgm:pt>
    <dgm:pt modelId="{65C1CC48-8ADA-40B3-A2C1-528D569AF6E3}">
      <dgm:prSet phldrT="[Text]"/>
      <dgm:spPr/>
      <dgm:t>
        <a:bodyPr/>
        <a:lstStyle/>
        <a:p>
          <a:r>
            <a:rPr lang="en-US" dirty="0" smtClean="0">
              <a:solidFill>
                <a:schemeClr val="accent2"/>
              </a:solidFill>
            </a:rPr>
            <a:t>ArcGIS </a:t>
          </a:r>
        </a:p>
        <a:p>
          <a:r>
            <a:rPr lang="en-US" dirty="0" smtClean="0">
              <a:solidFill>
                <a:schemeClr val="accent2"/>
              </a:solidFill>
            </a:rPr>
            <a:t>River Network</a:t>
          </a:r>
          <a:endParaRPr lang="en-US" dirty="0">
            <a:solidFill>
              <a:schemeClr val="accent2"/>
            </a:solidFill>
          </a:endParaRPr>
        </a:p>
      </dgm:t>
    </dgm:pt>
    <dgm:pt modelId="{43E114EA-F829-4984-9EA5-3E9E9C9F0C33}" type="parTrans" cxnId="{70F7C6A8-F32D-4A90-A6BE-F03DFAC6F214}">
      <dgm:prSet/>
      <dgm:spPr/>
      <dgm:t>
        <a:bodyPr/>
        <a:lstStyle/>
        <a:p>
          <a:endParaRPr lang="en-US"/>
        </a:p>
      </dgm:t>
    </dgm:pt>
    <dgm:pt modelId="{B028855E-7E5D-49CB-A410-DE9820A2D44C}" type="sibTrans" cxnId="{70F7C6A8-F32D-4A90-A6BE-F03DFAC6F214}">
      <dgm:prSet/>
      <dgm:spPr/>
      <dgm:t>
        <a:bodyPr/>
        <a:lstStyle/>
        <a:p>
          <a:endParaRPr lang="en-US"/>
        </a:p>
      </dgm:t>
    </dgm:pt>
    <dgm:pt modelId="{5D2FCB39-6BAF-4BE2-A4DD-811619243BB9}" type="pres">
      <dgm:prSet presAssocID="{0DB91E83-CFEA-49D9-99FA-17529E487E5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10F090-E2C5-47FD-B8B0-D7309405C8C9}" type="pres">
      <dgm:prSet presAssocID="{A9F6F9D0-85C6-4283-A8B2-0AEBAD91C8B2}" presName="dummy" presStyleCnt="0"/>
      <dgm:spPr/>
    </dgm:pt>
    <dgm:pt modelId="{DFE2691B-914D-406D-AB1A-3CD9A3B04A75}" type="pres">
      <dgm:prSet presAssocID="{A9F6F9D0-85C6-4283-A8B2-0AEBAD91C8B2}" presName="node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2CEBDF-7270-4548-9199-DDBE396D17DB}" type="pres">
      <dgm:prSet presAssocID="{F3200751-F118-4611-B61F-E8D469F25C3F}" presName="sibTrans" presStyleLbl="node1" presStyleIdx="0" presStyleCnt="2"/>
      <dgm:spPr/>
      <dgm:t>
        <a:bodyPr/>
        <a:lstStyle/>
        <a:p>
          <a:endParaRPr lang="en-US"/>
        </a:p>
      </dgm:t>
    </dgm:pt>
    <dgm:pt modelId="{2BC22B11-5EF8-45B5-9EAE-0295E5481027}" type="pres">
      <dgm:prSet presAssocID="{65C1CC48-8ADA-40B3-A2C1-528D569AF6E3}" presName="dummy" presStyleCnt="0"/>
      <dgm:spPr/>
    </dgm:pt>
    <dgm:pt modelId="{68B0DF50-47D5-4AF3-B471-9A74DE7F2CB7}" type="pres">
      <dgm:prSet presAssocID="{65C1CC48-8ADA-40B3-A2C1-528D569AF6E3}" presName="node" presStyleLbl="revTx" presStyleIdx="1" presStyleCnt="2" custScaleY="6349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18CBC4-72D5-4823-A153-2B8B2984F39E}" type="pres">
      <dgm:prSet presAssocID="{B028855E-7E5D-49CB-A410-DE9820A2D44C}" presName="sibTrans" presStyleLbl="node1" presStyleIdx="1" presStyleCnt="2" custScaleY="99387"/>
      <dgm:spPr/>
      <dgm:t>
        <a:bodyPr/>
        <a:lstStyle/>
        <a:p>
          <a:endParaRPr lang="en-US"/>
        </a:p>
      </dgm:t>
    </dgm:pt>
  </dgm:ptLst>
  <dgm:cxnLst>
    <dgm:cxn modelId="{9D29133A-0FE9-4C83-8C7B-845F1452F465}" type="presOf" srcId="{0DB91E83-CFEA-49D9-99FA-17529E487E50}" destId="{5D2FCB39-6BAF-4BE2-A4DD-811619243BB9}" srcOrd="0" destOrd="0" presId="urn:microsoft.com/office/officeart/2005/8/layout/cycle1"/>
    <dgm:cxn modelId="{40900315-BC23-441D-964C-D40110DC57AB}" srcId="{0DB91E83-CFEA-49D9-99FA-17529E487E50}" destId="{A9F6F9D0-85C6-4283-A8B2-0AEBAD91C8B2}" srcOrd="0" destOrd="0" parTransId="{3CCE11C4-C3E4-42A6-AAF2-F6C0B6077F1A}" sibTransId="{F3200751-F118-4611-B61F-E8D469F25C3F}"/>
    <dgm:cxn modelId="{C955E2C5-944D-4875-91AD-8F05E4861B91}" type="presOf" srcId="{A9F6F9D0-85C6-4283-A8B2-0AEBAD91C8B2}" destId="{DFE2691B-914D-406D-AB1A-3CD9A3B04A75}" srcOrd="0" destOrd="0" presId="urn:microsoft.com/office/officeart/2005/8/layout/cycle1"/>
    <dgm:cxn modelId="{A25A5811-E6BF-4658-8E50-7ABCC87F71BB}" type="presOf" srcId="{65C1CC48-8ADA-40B3-A2C1-528D569AF6E3}" destId="{68B0DF50-47D5-4AF3-B471-9A74DE7F2CB7}" srcOrd="0" destOrd="0" presId="urn:microsoft.com/office/officeart/2005/8/layout/cycle1"/>
    <dgm:cxn modelId="{F091391E-EB6F-444C-8FA3-D3F7F11E7287}" type="presOf" srcId="{F3200751-F118-4611-B61F-E8D469F25C3F}" destId="{222CEBDF-7270-4548-9199-DDBE396D17DB}" srcOrd="0" destOrd="0" presId="urn:microsoft.com/office/officeart/2005/8/layout/cycle1"/>
    <dgm:cxn modelId="{70F7C6A8-F32D-4A90-A6BE-F03DFAC6F214}" srcId="{0DB91E83-CFEA-49D9-99FA-17529E487E50}" destId="{65C1CC48-8ADA-40B3-A2C1-528D569AF6E3}" srcOrd="1" destOrd="0" parTransId="{43E114EA-F829-4984-9EA5-3E9E9C9F0C33}" sibTransId="{B028855E-7E5D-49CB-A410-DE9820A2D44C}"/>
    <dgm:cxn modelId="{F487D6EE-8AE1-4490-941D-542B1CB6E60E}" type="presOf" srcId="{B028855E-7E5D-49CB-A410-DE9820A2D44C}" destId="{5118CBC4-72D5-4823-A153-2B8B2984F39E}" srcOrd="0" destOrd="0" presId="urn:microsoft.com/office/officeart/2005/8/layout/cycle1"/>
    <dgm:cxn modelId="{069732FB-770B-4E9A-8910-30AE12864C1B}" type="presParOf" srcId="{5D2FCB39-6BAF-4BE2-A4DD-811619243BB9}" destId="{9110F090-E2C5-47FD-B8B0-D7309405C8C9}" srcOrd="0" destOrd="0" presId="urn:microsoft.com/office/officeart/2005/8/layout/cycle1"/>
    <dgm:cxn modelId="{FC0489DD-5068-4543-8AC0-02C57B99414D}" type="presParOf" srcId="{5D2FCB39-6BAF-4BE2-A4DD-811619243BB9}" destId="{DFE2691B-914D-406D-AB1A-3CD9A3B04A75}" srcOrd="1" destOrd="0" presId="urn:microsoft.com/office/officeart/2005/8/layout/cycle1"/>
    <dgm:cxn modelId="{1952BA4D-4344-42F3-A383-57365D0C7C7B}" type="presParOf" srcId="{5D2FCB39-6BAF-4BE2-A4DD-811619243BB9}" destId="{222CEBDF-7270-4548-9199-DDBE396D17DB}" srcOrd="2" destOrd="0" presId="urn:microsoft.com/office/officeart/2005/8/layout/cycle1"/>
    <dgm:cxn modelId="{E365139B-02AA-4AEE-B3B0-FC5CA0F23945}" type="presParOf" srcId="{5D2FCB39-6BAF-4BE2-A4DD-811619243BB9}" destId="{2BC22B11-5EF8-45B5-9EAE-0295E5481027}" srcOrd="3" destOrd="0" presId="urn:microsoft.com/office/officeart/2005/8/layout/cycle1"/>
    <dgm:cxn modelId="{BADB05E3-412E-4F5A-9191-EE6FDEE801E0}" type="presParOf" srcId="{5D2FCB39-6BAF-4BE2-A4DD-811619243BB9}" destId="{68B0DF50-47D5-4AF3-B471-9A74DE7F2CB7}" srcOrd="4" destOrd="0" presId="urn:microsoft.com/office/officeart/2005/8/layout/cycle1"/>
    <dgm:cxn modelId="{CE757D11-B0AD-47E3-B3EA-FBF1A0B92235}" type="presParOf" srcId="{5D2FCB39-6BAF-4BE2-A4DD-811619243BB9}" destId="{5118CBC4-72D5-4823-A153-2B8B2984F39E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2691B-914D-406D-AB1A-3CD9A3B04A75}">
      <dsp:nvSpPr>
        <dsp:cNvPr id="0" name=""/>
        <dsp:cNvSpPr/>
      </dsp:nvSpPr>
      <dsp:spPr>
        <a:xfrm>
          <a:off x="2086402" y="611903"/>
          <a:ext cx="1160164" cy="1160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accent2"/>
              </a:solidFill>
            </a:rPr>
            <a:t>SPRINT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accent2"/>
              </a:solidFill>
            </a:rPr>
            <a:t>Node Network</a:t>
          </a:r>
          <a:endParaRPr lang="en-US" sz="1400" kern="1200" dirty="0">
            <a:solidFill>
              <a:schemeClr val="accent2"/>
            </a:solidFill>
          </a:endParaRPr>
        </a:p>
      </dsp:txBody>
      <dsp:txXfrm>
        <a:off x="2086402" y="611903"/>
        <a:ext cx="1160164" cy="1160164"/>
      </dsp:txXfrm>
    </dsp:sp>
    <dsp:sp modelId="{222CEBDF-7270-4548-9199-DDBE396D17DB}">
      <dsp:nvSpPr>
        <dsp:cNvPr id="0" name=""/>
        <dsp:cNvSpPr/>
      </dsp:nvSpPr>
      <dsp:spPr>
        <a:xfrm>
          <a:off x="526950" y="-324"/>
          <a:ext cx="2384619" cy="2384619"/>
        </a:xfrm>
        <a:prstGeom prst="circularArrow">
          <a:avLst>
            <a:gd name="adj1" fmla="val 9487"/>
            <a:gd name="adj2" fmla="val 685351"/>
            <a:gd name="adj3" fmla="val 8741783"/>
            <a:gd name="adj4" fmla="val 2265802"/>
            <a:gd name="adj5" fmla="val 11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0DF50-47D5-4AF3-B471-9A74DE7F2CB7}">
      <dsp:nvSpPr>
        <dsp:cNvPr id="0" name=""/>
        <dsp:cNvSpPr/>
      </dsp:nvSpPr>
      <dsp:spPr>
        <a:xfrm>
          <a:off x="191952" y="823685"/>
          <a:ext cx="1160164" cy="736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accent2"/>
              </a:solidFill>
            </a:rPr>
            <a:t>ArcGIS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accent2"/>
              </a:solidFill>
            </a:rPr>
            <a:t>River Network</a:t>
          </a:r>
          <a:endParaRPr lang="en-US" sz="1400" kern="1200" dirty="0">
            <a:solidFill>
              <a:schemeClr val="accent2"/>
            </a:solidFill>
          </a:endParaRPr>
        </a:p>
      </dsp:txBody>
      <dsp:txXfrm>
        <a:off x="191952" y="823685"/>
        <a:ext cx="1160164" cy="736600"/>
      </dsp:txXfrm>
    </dsp:sp>
    <dsp:sp modelId="{5118CBC4-72D5-4823-A153-2B8B2984F39E}">
      <dsp:nvSpPr>
        <dsp:cNvPr id="0" name=""/>
        <dsp:cNvSpPr/>
      </dsp:nvSpPr>
      <dsp:spPr>
        <a:xfrm>
          <a:off x="526950" y="6984"/>
          <a:ext cx="2384619" cy="2370002"/>
        </a:xfrm>
        <a:prstGeom prst="circularArrow">
          <a:avLst>
            <a:gd name="adj1" fmla="val 9487"/>
            <a:gd name="adj2" fmla="val 685351"/>
            <a:gd name="adj3" fmla="val 18648847"/>
            <a:gd name="adj4" fmla="val 12172866"/>
            <a:gd name="adj5" fmla="val 11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Relationship Id="rId2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Relationship Id="rId2" Type="http://schemas.openxmlformats.org/officeDocument/2006/relationships/image" Target="../media/image14.wmf"/><Relationship Id="rId3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1B8F6-1F6C-4ED0-A881-C9BE728C6AC8}" type="datetimeFigureOut">
              <a:rPr lang="en-US" smtClean="0"/>
              <a:t>6/17/13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D3CE4-073B-41E2-A1C5-EF4EA95D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39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5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52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5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52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52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5A29D3-4EF2-408E-9DB6-83AFE84245B6}" type="datetimeFigureOut">
              <a:rPr lang="en-US" smtClean="0"/>
              <a:t>6/17/13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07F707-2EF6-44A2-84D7-E2DEEF12A31B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23.wmf"/><Relationship Id="rId6" Type="http://schemas.openxmlformats.org/officeDocument/2006/relationships/oleObject" Target="../embeddings/oleObject4.bin"/><Relationship Id="rId7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24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14.wmf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oleObject" Target="../embeddings/oleObject7.bin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23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23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89" y="1528177"/>
            <a:ext cx="8305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 smtClean="0">
                <a:solidFill>
                  <a:schemeClr val="accent1"/>
                </a:solidFill>
              </a:rPr>
              <a:t>RiverML</a:t>
            </a:r>
            <a:r>
              <a:rPr lang="en-US" dirty="0" smtClean="0">
                <a:solidFill>
                  <a:schemeClr val="accent1"/>
                </a:solidFill>
              </a:rPr>
              <a:t>: A River Geometry and Observation Exchange Language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85351" y="4224972"/>
            <a:ext cx="40843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Stephen </a:t>
            </a:r>
            <a:r>
              <a:rPr lang="en-US" dirty="0" smtClean="0"/>
              <a:t>R. Jackson</a:t>
            </a:r>
            <a:endParaRPr lang="en-US" dirty="0"/>
          </a:p>
          <a:p>
            <a:pPr algn="r"/>
            <a:r>
              <a:rPr lang="en-US" dirty="0" smtClean="0"/>
              <a:t>David K. </a:t>
            </a:r>
            <a:r>
              <a:rPr lang="en-US" dirty="0" err="1" smtClean="0"/>
              <a:t>Arctur</a:t>
            </a:r>
            <a:endParaRPr lang="en-US" dirty="0" smtClean="0"/>
          </a:p>
          <a:p>
            <a:pPr algn="r"/>
            <a:r>
              <a:rPr lang="en-US" dirty="0" smtClean="0"/>
              <a:t>David R. </a:t>
            </a:r>
            <a:r>
              <a:rPr lang="en-US" dirty="0" err="1" smtClean="0"/>
              <a:t>Maidment</a:t>
            </a:r>
            <a:endParaRPr lang="en-US" dirty="0" smtClean="0"/>
          </a:p>
          <a:p>
            <a:pPr algn="r"/>
            <a:r>
              <a:rPr lang="en-US" dirty="0" smtClean="0"/>
              <a:t>Center for Research in Water Resources</a:t>
            </a:r>
          </a:p>
          <a:p>
            <a:pPr algn="r"/>
            <a:r>
              <a:rPr lang="en-US" dirty="0" smtClean="0"/>
              <a:t>University of Texas at Austin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4394200"/>
            <a:ext cx="1219200" cy="1276350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>
                <a:alpha val="25000"/>
              </a:schemeClr>
            </a:glow>
            <a:outerShdw dist="35921" dir="2700000" algn="ctr" rotWithShape="0">
              <a:schemeClr val="bg2"/>
            </a:outerShdw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99388" y="3356707"/>
            <a:ext cx="4808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OGC Hydro DWG Workshop Quebec City 2013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17 June 2013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3" descr="C:\Users\dtarb\Dave\Projects\CUAHSI\HydroShare\Logo\Hydroshare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01" y="5943600"/>
            <a:ext cx="3749633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5867399" y="5803965"/>
            <a:ext cx="3172871" cy="977835"/>
            <a:chOff x="6175648" y="5857940"/>
            <a:chExt cx="2939777" cy="977835"/>
          </a:xfrm>
        </p:grpSpPr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175648" y="5857940"/>
              <a:ext cx="2939777" cy="977835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0" name="Picture 11" descr="nsf4c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284092" y="5934140"/>
              <a:ext cx="809383" cy="786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7067648" y="6068601"/>
              <a:ext cx="200268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4389438"/>
              <a:r>
                <a:rPr lang="en-US" sz="1400" dirty="0" smtClean="0"/>
                <a:t>OCI</a:t>
              </a:r>
              <a:r>
                <a:rPr lang="en-US" sz="1400" dirty="0"/>
                <a:t>-1148453 (</a:t>
              </a:r>
              <a:r>
                <a:rPr lang="en-US" sz="1400" dirty="0" smtClean="0"/>
                <a:t>2012-2017)</a:t>
              </a:r>
            </a:p>
            <a:p>
              <a:pPr defTabSz="4389438"/>
              <a:r>
                <a:rPr lang="en-US" sz="1400" dirty="0"/>
                <a:t>OCI-1148090 (2012-2017</a:t>
              </a:r>
              <a:r>
                <a:rPr lang="en-US" sz="1400" dirty="0" smtClean="0"/>
                <a:t>)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9349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>
            <a:normAutofit/>
          </a:bodyPr>
          <a:lstStyle/>
          <a:p>
            <a:r>
              <a:rPr lang="en-US" dirty="0" smtClean="0"/>
              <a:t>River Geometry</a:t>
            </a:r>
          </a:p>
          <a:p>
            <a:r>
              <a:rPr lang="en-US" dirty="0" smtClean="0"/>
              <a:t>River Observations</a:t>
            </a:r>
          </a:p>
          <a:p>
            <a:r>
              <a:rPr lang="en-US" dirty="0" smtClean="0"/>
              <a:t>Prototype Exchange Format: HEC-</a:t>
            </a:r>
            <a:r>
              <a:rPr lang="en-US" dirty="0" err="1" smtClean="0"/>
              <a:t>GeoRAS</a:t>
            </a:r>
            <a:endParaRPr lang="en-US" dirty="0" smtClean="0"/>
          </a:p>
          <a:p>
            <a:r>
              <a:rPr lang="en-US" dirty="0" smtClean="0"/>
              <a:t>Proposed Exchange Format: </a:t>
            </a:r>
            <a:r>
              <a:rPr lang="en-US" dirty="0" err="1" smtClean="0"/>
              <a:t>RiverML</a:t>
            </a:r>
            <a:endParaRPr lang="en-US" dirty="0" smtClean="0"/>
          </a:p>
          <a:p>
            <a:r>
              <a:rPr lang="en-US" dirty="0" smtClean="0"/>
              <a:t>Implications for Standard Workflow</a:t>
            </a:r>
          </a:p>
          <a:p>
            <a:r>
              <a:rPr lang="en-US" dirty="0" smtClean="0"/>
              <a:t>Implications for Innovation</a:t>
            </a:r>
          </a:p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4" name="Text Box 27"/>
          <p:cNvSpPr txBox="1">
            <a:spLocks noChangeArrowheads="1"/>
          </p:cNvSpPr>
          <p:nvPr/>
        </p:nvSpPr>
        <p:spPr bwMode="auto">
          <a:xfrm>
            <a:off x="3468802" y="504830"/>
            <a:ext cx="20883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Overview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07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River Geometry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39552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How do we store and view river terrain information?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7" name="Text Box 27"/>
          <p:cNvSpPr txBox="1">
            <a:spLocks noChangeArrowheads="1"/>
          </p:cNvSpPr>
          <p:nvPr/>
        </p:nvSpPr>
        <p:spPr bwMode="auto">
          <a:xfrm>
            <a:off x="1528517" y="519791"/>
            <a:ext cx="64748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Typical Terrain Representations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33" y="1377811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47" y="1377810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1233504" y="3666192"/>
            <a:ext cx="2004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Raw </a:t>
            </a:r>
            <a:r>
              <a:rPr lang="en-US" dirty="0" err="1" smtClean="0">
                <a:solidFill>
                  <a:schemeClr val="accent2"/>
                </a:solidFill>
              </a:rPr>
              <a:t>LiDAR</a:t>
            </a:r>
            <a:r>
              <a:rPr lang="en-US" dirty="0" smtClean="0">
                <a:solidFill>
                  <a:schemeClr val="accent2"/>
                </a:solidFill>
              </a:rPr>
              <a:t> Points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4826258" y="3666191"/>
            <a:ext cx="391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Triangulated Irregular Network (TIN)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6" name="Text Box 20"/>
          <p:cNvSpPr txBox="1">
            <a:spLocks noChangeArrowheads="1"/>
          </p:cNvSpPr>
          <p:nvPr/>
        </p:nvSpPr>
        <p:spPr bwMode="auto">
          <a:xfrm>
            <a:off x="1830142" y="6315916"/>
            <a:ext cx="811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Raster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5973914" y="6283650"/>
            <a:ext cx="1617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Cross Sections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47" y="403552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32" y="403552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51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56" y="138074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696" y="138074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56" y="403250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696" y="4032504"/>
            <a:ext cx="4033838" cy="228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1690258" y="519791"/>
            <a:ext cx="61513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Cross Sections and Flow Lines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1427435" y="3663172"/>
            <a:ext cx="1617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Cross Sections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5835022" y="3685192"/>
            <a:ext cx="18751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Center Flow Line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1091609" y="6320885"/>
            <a:ext cx="2289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Overbank Flow Lines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543151" y="6320885"/>
            <a:ext cx="24589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Topological Flow Lines</a:t>
            </a:r>
            <a:endParaRPr lang="en-US" sz="1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6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332" name="Picture 4" descr="C:\Temp\bi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871" y="1314764"/>
            <a:ext cx="6065838" cy="471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95686" y="2635793"/>
            <a:ext cx="330901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Advanced computational approaches use various forms of a dense mesh for </a:t>
            </a:r>
            <a:r>
              <a:rPr lang="en-US" dirty="0" smtClean="0">
                <a:solidFill>
                  <a:srgbClr val="FF0000"/>
                </a:solidFill>
              </a:rPr>
              <a:t>finite element analysis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From a data format perspective, this fits with a Cross Section &amp; Flow Line model</a:t>
            </a:r>
            <a:endParaRPr lang="en-US" dirty="0"/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2426778" y="519791"/>
            <a:ext cx="46783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Finite Element Models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3572684" y="6032814"/>
            <a:ext cx="47484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Geospatial Representation of River Channels </a:t>
            </a:r>
            <a:br>
              <a:rPr lang="en-US" dirty="0" smtClean="0">
                <a:solidFill>
                  <a:schemeClr val="accent2"/>
                </a:solidFill>
              </a:rPr>
            </a:br>
            <a:r>
              <a:rPr lang="en-US" dirty="0" smtClean="0">
                <a:solidFill>
                  <a:schemeClr val="accent2"/>
                </a:solidFill>
              </a:rPr>
              <a:t>by </a:t>
            </a:r>
            <a:r>
              <a:rPr lang="en-US" dirty="0" err="1" smtClean="0">
                <a:solidFill>
                  <a:schemeClr val="accent2"/>
                </a:solidFill>
              </a:rPr>
              <a:t>Venkatesh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Merwade</a:t>
            </a:r>
            <a:endParaRPr lang="en-US" sz="1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70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River Observations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39552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What form do model results typically take?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8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133" y="1547850"/>
            <a:ext cx="2926132" cy="182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1943864" y="519791"/>
            <a:ext cx="56441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Cross Section Observations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486439" y="1148821"/>
            <a:ext cx="2823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Single Value (Steady State)</a:t>
            </a:r>
            <a:endParaRPr lang="en-US" sz="1800" dirty="0">
              <a:solidFill>
                <a:schemeClr val="accent2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963648"/>
              </p:ext>
            </p:extLst>
          </p:nvPr>
        </p:nvGraphicFramePr>
        <p:xfrm>
          <a:off x="482482" y="3887633"/>
          <a:ext cx="5503450" cy="255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851"/>
                <a:gridCol w="1210734"/>
                <a:gridCol w="2573865"/>
              </a:tblGrid>
              <a:tr h="6546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Time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Flow Rate (m</a:t>
                      </a:r>
                      <a:r>
                        <a:rPr lang="en-US" sz="1600" baseline="30000" dirty="0" smtClean="0"/>
                        <a:t>3</a:t>
                      </a:r>
                      <a:r>
                        <a:rPr lang="en-US" sz="1600" dirty="0" smtClean="0"/>
                        <a:t>/s)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Water</a:t>
                      </a:r>
                      <a:r>
                        <a:rPr lang="en-US" sz="1600" baseline="0" dirty="0" smtClean="0"/>
                        <a:t> Surface Elevation </a:t>
                      </a:r>
                    </a:p>
                    <a:p>
                      <a:pPr algn="ctr"/>
                      <a:r>
                        <a:rPr lang="en-US" sz="1600" baseline="0" dirty="0" smtClean="0"/>
                        <a:t>(m)</a:t>
                      </a:r>
                      <a:endParaRPr lang="en-US" sz="1600" dirty="0"/>
                    </a:p>
                  </a:txBody>
                  <a:tcPr/>
                </a:tc>
              </a:tr>
              <a:tr h="3843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2002-07-12 01:00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20.1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3.8</a:t>
                      </a:r>
                      <a:endParaRPr lang="en-US" sz="1600" dirty="0"/>
                    </a:p>
                  </a:txBody>
                  <a:tcPr/>
                </a:tc>
              </a:tr>
              <a:tr h="3792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2002-07-12 02:00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4.1</a:t>
                      </a:r>
                      <a:endParaRPr lang="en-US" sz="1600" dirty="0"/>
                    </a:p>
                  </a:txBody>
                  <a:tcPr/>
                </a:tc>
              </a:tr>
              <a:tr h="3792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2002-07-12 03:00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27.3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5.0</a:t>
                      </a:r>
                      <a:endParaRPr lang="en-US" sz="1600" dirty="0"/>
                    </a:p>
                  </a:txBody>
                  <a:tcPr/>
                </a:tc>
              </a:tr>
              <a:tr h="3792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2002-07-12 04:00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42.8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6.2</a:t>
                      </a:r>
                      <a:endParaRPr lang="en-US" sz="1600" dirty="0"/>
                    </a:p>
                  </a:txBody>
                  <a:tcPr/>
                </a:tc>
              </a:tr>
              <a:tr h="3792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2002-07-12 05:00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31.9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5.3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775794"/>
              </p:ext>
            </p:extLst>
          </p:nvPr>
        </p:nvGraphicFramePr>
        <p:xfrm>
          <a:off x="487632" y="1547850"/>
          <a:ext cx="5481368" cy="1933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435"/>
                <a:gridCol w="897466"/>
                <a:gridCol w="872067"/>
                <a:gridCol w="982133"/>
                <a:gridCol w="1202267"/>
              </a:tblGrid>
              <a:tr h="386846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10-Year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25-Year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50-Year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100-Year</a:t>
                      </a:r>
                      <a:endParaRPr lang="en-US" sz="1600" dirty="0"/>
                    </a:p>
                  </a:txBody>
                  <a:tcPr/>
                </a:tc>
              </a:tr>
              <a:tr h="6769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Flow Rate (m</a:t>
                      </a:r>
                      <a:r>
                        <a:rPr lang="en-US" sz="1600" baseline="30000" dirty="0" smtClean="0"/>
                        <a:t>3</a:t>
                      </a:r>
                      <a:r>
                        <a:rPr lang="en-US" sz="1600" dirty="0" smtClean="0"/>
                        <a:t>/s)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10.7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42.9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68.7</a:t>
                      </a:r>
                      <a:endParaRPr lang="en-US" sz="1600" dirty="0"/>
                    </a:p>
                  </a:txBody>
                  <a:tcPr/>
                </a:tc>
              </a:tr>
              <a:tr h="6769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Water Surface Elevation</a:t>
                      </a:r>
                      <a:r>
                        <a:rPr lang="en-US" sz="1600" baseline="0" dirty="0" smtClean="0"/>
                        <a:t> (m)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4.1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7.4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486439" y="3536975"/>
            <a:ext cx="2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Time Series (Hydrograph)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44460" y="1547850"/>
            <a:ext cx="3924540" cy="375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6701513" y="1601373"/>
            <a:ext cx="17730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Scenario Names</a:t>
            </a:r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197837" y="1739025"/>
            <a:ext cx="387577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6720350" y="3893978"/>
            <a:ext cx="18755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Scenario Name: 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“July 2002 Flood”</a:t>
            </a:r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163185" y="4217144"/>
            <a:ext cx="387577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2"/>
          <p:cNvGrpSpPr>
            <a:grpSpLocks/>
          </p:cNvGrpSpPr>
          <p:nvPr/>
        </p:nvGrpSpPr>
        <p:grpSpPr bwMode="auto">
          <a:xfrm>
            <a:off x="6044690" y="4459860"/>
            <a:ext cx="2616710" cy="2144140"/>
            <a:chOff x="4368" y="1728"/>
            <a:chExt cx="1264" cy="960"/>
          </a:xfrm>
        </p:grpSpPr>
        <p:graphicFrame>
          <p:nvGraphicFramePr>
            <p:cNvPr id="1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4613992"/>
                </p:ext>
              </p:extLst>
            </p:nvPr>
          </p:nvGraphicFramePr>
          <p:xfrm>
            <a:off x="4378" y="1880"/>
            <a:ext cx="1180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8" name="VISIO" r:id="rId4" imgW="1873800" imgH="1282680" progId="Visio.Drawing.6">
                    <p:embed/>
                  </p:oleObj>
                </mc:Choice>
                <mc:Fallback>
                  <p:oleObj name="VISIO" r:id="rId4" imgW="1873800" imgH="128268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1880"/>
                          <a:ext cx="1180" cy="8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4"/>
            <p:cNvSpPr>
              <a:spLocks noChangeShapeType="1"/>
            </p:cNvSpPr>
            <p:nvPr/>
          </p:nvSpPr>
          <p:spPr bwMode="auto">
            <a:xfrm>
              <a:off x="4378" y="2688"/>
              <a:ext cx="12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 flipV="1">
              <a:off x="4378" y="1776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4368" y="1728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/>
                <a:t>Flow</a:t>
              </a: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5280" y="2352"/>
              <a:ext cx="3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37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7" grpId="0" animBg="1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Prototype Exchange Format: </a:t>
            </a:r>
          </a:p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HEC-</a:t>
            </a:r>
            <a:r>
              <a:rPr lang="en-US" sz="4000" dirty="0" err="1" smtClean="0">
                <a:solidFill>
                  <a:schemeClr val="accent1"/>
                </a:solidFill>
              </a:rPr>
              <a:t>GeoRAS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4301092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What existing strategies have been developed to handle river data exchange?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3014724" y="519791"/>
            <a:ext cx="350243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HEC-RAS Model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214" y="1299420"/>
            <a:ext cx="4828860" cy="2592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9" y="1299420"/>
            <a:ext cx="3786582" cy="393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550524" y="5236065"/>
            <a:ext cx="3122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Georeferenced</a:t>
            </a:r>
            <a:r>
              <a:rPr lang="en-US" dirty="0" smtClean="0"/>
              <a:t> Cross Sections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514401" y="3901861"/>
            <a:ext cx="2052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Cross Section Data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126214" y="4774400"/>
            <a:ext cx="4513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Given Flow Rate at each Cross Section for multiple scenarios, calculates a Water Surface Elevation for each scenario.</a:t>
            </a:r>
          </a:p>
        </p:txBody>
      </p:sp>
    </p:spTree>
    <p:extLst>
      <p:ext uri="{BB962C8B-B14F-4D97-AF65-F5344CB8AC3E}">
        <p14:creationId xmlns:p14="http://schemas.microsoft.com/office/powerpoint/2010/main" val="331262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17" y="1283145"/>
            <a:ext cx="5626358" cy="5176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25" y="5365495"/>
            <a:ext cx="12763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08675" y="2722273"/>
            <a:ext cx="30663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Uses graphical tools to extract geometry data from Raster or TIN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Interpolates calculated Water Surface Elevation between cross sections</a:t>
            </a:r>
            <a:endParaRPr lang="en-US" dirty="0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1003761" y="519791"/>
            <a:ext cx="75243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ArcGIS with HEC-</a:t>
            </a:r>
            <a:r>
              <a:rPr lang="en-US" sz="3600" dirty="0" err="1" smtClean="0">
                <a:solidFill>
                  <a:schemeClr val="accent2"/>
                </a:solidFill>
              </a:rPr>
              <a:t>GeoRAS</a:t>
            </a:r>
            <a:r>
              <a:rPr lang="en-US" sz="3600" dirty="0" smtClean="0">
                <a:solidFill>
                  <a:schemeClr val="accent2"/>
                </a:solidFill>
              </a:rPr>
              <a:t> Extension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21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70"/>
          <a:stretch/>
        </p:blipFill>
        <p:spPr bwMode="auto">
          <a:xfrm>
            <a:off x="335457" y="1439333"/>
            <a:ext cx="5486400" cy="450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C:\geosnsn\NSNWRCons\Ch05\Images\pline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61" y="4282377"/>
            <a:ext cx="3759201" cy="238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821857" y="1380066"/>
            <a:ext cx="306631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Header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Spatial Extent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Network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Names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Center Lines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Connectivity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Cross Sections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Station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Roughness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Additional Attributes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Geometry</a:t>
            </a:r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392347" y="519791"/>
            <a:ext cx="87472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GIS to HEC-RAS: XML Geometry Exchange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29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21"/>
          <a:stretch/>
        </p:blipFill>
        <p:spPr bwMode="auto">
          <a:xfrm>
            <a:off x="172785" y="1490132"/>
            <a:ext cx="5615865" cy="468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765800" y="1456918"/>
            <a:ext cx="33782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Header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Spatial Extent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Profiles (Scenarios)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Network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Names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Center Lines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Reach Connectivity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700" dirty="0" smtClean="0"/>
              <a:t>Cross Sections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Station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700" dirty="0" smtClean="0"/>
              <a:t>Water Surface Elevation</a:t>
            </a:r>
            <a:endParaRPr lang="en-US" dirty="0" smtClean="0"/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5995515" y="4256084"/>
            <a:ext cx="2395220" cy="2037766"/>
            <a:chOff x="4368" y="1728"/>
            <a:chExt cx="1264" cy="960"/>
          </a:xfrm>
        </p:grpSpPr>
        <p:graphicFrame>
          <p:nvGraphicFramePr>
            <p:cNvPr id="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5441210"/>
                </p:ext>
              </p:extLst>
            </p:nvPr>
          </p:nvGraphicFramePr>
          <p:xfrm>
            <a:off x="4378" y="1880"/>
            <a:ext cx="1180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4" name="VISIO" r:id="rId4" imgW="1873800" imgH="1282680" progId="Visio.Drawing.6">
                    <p:embed/>
                  </p:oleObj>
                </mc:Choice>
                <mc:Fallback>
                  <p:oleObj name="VISIO" r:id="rId4" imgW="1873800" imgH="128268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1880"/>
                          <a:ext cx="1180" cy="8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4378" y="2688"/>
              <a:ext cx="12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 flipV="1">
              <a:off x="4378" y="1776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4368" y="1728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/>
                <a:t>Flow</a:t>
              </a: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5280" y="2352"/>
              <a:ext cx="3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</p:grp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0" y="519790"/>
            <a:ext cx="92433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HEC-RAS to GIS: XML Observation Exchange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01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Proposed Exchange Format: </a:t>
            </a:r>
            <a:r>
              <a:rPr lang="en-US" sz="4000" dirty="0" err="1" smtClean="0">
                <a:solidFill>
                  <a:schemeClr val="accent1"/>
                </a:solidFill>
              </a:rPr>
              <a:t>RiverML</a:t>
            </a:r>
            <a:r>
              <a:rPr lang="en-US" sz="4000" dirty="0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4301092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How do we generalize the HEC-</a:t>
            </a:r>
            <a:r>
              <a:rPr lang="en-US" sz="2000" dirty="0" err="1" smtClean="0">
                <a:solidFill>
                  <a:schemeClr val="accent1"/>
                </a:solidFill>
              </a:rPr>
              <a:t>GeoRAS</a:t>
            </a:r>
            <a:r>
              <a:rPr lang="en-US" sz="2000" dirty="0" smtClean="0">
                <a:solidFill>
                  <a:schemeClr val="accent1"/>
                </a:solidFill>
              </a:rPr>
              <a:t> XML to form an adaptable standard?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70933" y="1117600"/>
            <a:ext cx="4114799" cy="5393267"/>
          </a:xfrm>
          <a:prstGeom prst="rect">
            <a:avLst/>
          </a:prstGeom>
          <a:solidFill>
            <a:schemeClr val="accent1">
              <a:alpha val="14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65959" y="1117600"/>
            <a:ext cx="3982552" cy="5393267"/>
          </a:xfrm>
          <a:prstGeom prst="rect">
            <a:avLst/>
          </a:prstGeom>
          <a:solidFill>
            <a:schemeClr val="accent5">
              <a:lumMod val="75000"/>
              <a:alpha val="14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1575478" y="489055"/>
            <a:ext cx="63809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 err="1" smtClean="0">
                <a:solidFill>
                  <a:schemeClr val="accent2"/>
                </a:solidFill>
              </a:rPr>
              <a:t>HY_Features</a:t>
            </a:r>
            <a:r>
              <a:rPr lang="en-US" sz="2800" dirty="0" smtClean="0">
                <a:solidFill>
                  <a:schemeClr val="accent2"/>
                </a:solidFill>
              </a:rPr>
              <a:t> Class: Reach-Outfall-Basin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14338" name="Picture 10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95" y="1367591"/>
            <a:ext cx="8020743" cy="4995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823795"/>
              </p:ext>
            </p:extLst>
          </p:nvPr>
        </p:nvGraphicFramePr>
        <p:xfrm>
          <a:off x="7319222" y="1117600"/>
          <a:ext cx="1429289" cy="100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VISIO" r:id="rId4" imgW="3359393" imgH="2685384" progId="Visio.Drawing.6">
                  <p:embed/>
                </p:oleObj>
              </mc:Choice>
              <mc:Fallback>
                <p:oleObj name="VISIO" r:id="rId4" imgW="3359393" imgH="2685384" progId="Visio.Drawing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222" y="1117600"/>
                        <a:ext cx="1429289" cy="1003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614789"/>
              </p:ext>
            </p:extLst>
          </p:nvPr>
        </p:nvGraphicFramePr>
        <p:xfrm>
          <a:off x="2968111" y="1117600"/>
          <a:ext cx="1417621" cy="1227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VISIO" r:id="rId6" imgW="2612136" imgH="2359152" progId="Visio.Drawing.6">
                  <p:embed/>
                </p:oleObj>
              </mc:Choice>
              <mc:Fallback>
                <p:oleObj name="VISIO" r:id="rId6" imgW="2612136" imgH="2359152" progId="Visio.Drawing.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111" y="1117600"/>
                        <a:ext cx="1417621" cy="1227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4895" y="1083733"/>
            <a:ext cx="1355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Hydraulic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858667" y="1092200"/>
            <a:ext cx="160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Hydrologic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887777" y="6488668"/>
            <a:ext cx="286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Figure </a:t>
            </a:r>
            <a:r>
              <a:rPr lang="en-US" dirty="0" smtClean="0">
                <a:latin typeface="+mj-lt"/>
              </a:rPr>
              <a:t>10, OGC 11-039r2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720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2" grpId="0"/>
      <p:bldP spid="13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2134503" y="519790"/>
            <a:ext cx="49743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err="1" smtClean="0">
                <a:solidFill>
                  <a:schemeClr val="accent2"/>
                </a:solidFill>
              </a:rPr>
              <a:t>RiverML</a:t>
            </a:r>
            <a:r>
              <a:rPr lang="en-US" sz="3600" dirty="0" smtClean="0">
                <a:solidFill>
                  <a:schemeClr val="accent2"/>
                </a:solidFill>
              </a:rPr>
              <a:t> &amp; </a:t>
            </a:r>
            <a:r>
              <a:rPr lang="en-US" sz="3600" dirty="0" err="1" smtClean="0">
                <a:solidFill>
                  <a:schemeClr val="accent2"/>
                </a:solidFill>
              </a:rPr>
              <a:t>HY_Features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16" name="Picture 2" descr="\\austin.utexas.edu\disk\engr\research\crwr\Projects\LiDAR_Experiments\RiverML Documentation\Draft Documents\riverML-featu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955" y="1166121"/>
            <a:ext cx="5950858" cy="545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7108813" y="6094751"/>
            <a:ext cx="15431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2"/>
                </a:solidFill>
              </a:rPr>
              <a:t/>
            </a:r>
            <a:br>
              <a:rPr lang="en-US" sz="1400" dirty="0" smtClean="0">
                <a:solidFill>
                  <a:schemeClr val="accent2"/>
                </a:solidFill>
              </a:rPr>
            </a:br>
            <a:r>
              <a:rPr lang="en-US" sz="1400" dirty="0" smtClean="0">
                <a:solidFill>
                  <a:schemeClr val="accent2"/>
                </a:solidFill>
              </a:rPr>
              <a:t>by Irina </a:t>
            </a:r>
            <a:r>
              <a:rPr lang="en-US" sz="1400" dirty="0" err="1" smtClean="0">
                <a:solidFill>
                  <a:schemeClr val="accent2"/>
                </a:solidFill>
              </a:rPr>
              <a:t>Dornblut</a:t>
            </a:r>
            <a:endParaRPr lang="en-US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38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3133944" y="489055"/>
            <a:ext cx="32640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 err="1" smtClean="0">
                <a:solidFill>
                  <a:schemeClr val="accent2"/>
                </a:solidFill>
              </a:rPr>
              <a:t>RiverML</a:t>
            </a:r>
            <a:r>
              <a:rPr lang="en-US" sz="2800" dirty="0" smtClean="0">
                <a:solidFill>
                  <a:schemeClr val="accent2"/>
                </a:solidFill>
              </a:rPr>
              <a:t> Templates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15362" name="Picture 2" descr="E:\Dropbox\OGC\RiverML\RiverML-UM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059" y="1248512"/>
            <a:ext cx="5781675" cy="560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1667" y="1012275"/>
            <a:ext cx="31430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Geometry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Reach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Flow Line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Cross Section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Section Property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Structure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Reference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3267" y="1248512"/>
            <a:ext cx="1955800" cy="2205888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71334" y="2836334"/>
            <a:ext cx="5266266" cy="68580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3522134" y="2768600"/>
            <a:ext cx="5494667" cy="3953935"/>
            <a:chOff x="3522134" y="2768600"/>
            <a:chExt cx="5494667" cy="3953935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4563534" y="4614333"/>
              <a:ext cx="0" cy="208018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9016801" y="2777066"/>
              <a:ext cx="0" cy="394546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522134" y="3843867"/>
              <a:ext cx="0" cy="78590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570133" y="2768600"/>
              <a:ext cx="0" cy="105833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4563534" y="6694514"/>
              <a:ext cx="445326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522134" y="4629770"/>
              <a:ext cx="1041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6570133" y="2768600"/>
              <a:ext cx="2446668" cy="84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522134" y="3826933"/>
              <a:ext cx="304799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/>
          <p:cNvSpPr txBox="1"/>
          <p:nvPr/>
        </p:nvSpPr>
        <p:spPr>
          <a:xfrm>
            <a:off x="2885935" y="1082924"/>
            <a:ext cx="36841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 consistent set of </a:t>
            </a:r>
            <a:r>
              <a:rPr lang="en-US" dirty="0" err="1" smtClean="0"/>
              <a:t>RiverML</a:t>
            </a:r>
            <a:r>
              <a:rPr lang="en-US" dirty="0" smtClean="0"/>
              <a:t> files shares the same set of Cross Section Reference Points. This allows models to be created modularly and joined unambiguously.</a:t>
            </a:r>
            <a:endParaRPr lang="en-US" dirty="0"/>
          </a:p>
        </p:txBody>
      </p:sp>
      <p:grpSp>
        <p:nvGrpSpPr>
          <p:cNvPr id="15385" name="Group 15384"/>
          <p:cNvGrpSpPr/>
          <p:nvPr/>
        </p:nvGrpSpPr>
        <p:grpSpPr>
          <a:xfrm>
            <a:off x="3376738" y="2709333"/>
            <a:ext cx="5168246" cy="3716869"/>
            <a:chOff x="3376738" y="2709333"/>
            <a:chExt cx="5168246" cy="3716869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3376738" y="3683000"/>
              <a:ext cx="4234" cy="27432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380972" y="3683000"/>
              <a:ext cx="335849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463648" y="4944534"/>
              <a:ext cx="244515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4463648" y="4944534"/>
              <a:ext cx="0" cy="148166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3380972" y="6426200"/>
              <a:ext cx="1082676" cy="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540750" y="2709333"/>
              <a:ext cx="2117" cy="97366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743701" y="2709333"/>
              <a:ext cx="0" cy="97366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743701" y="2709333"/>
              <a:ext cx="180128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6908800" y="3683000"/>
              <a:ext cx="0" cy="126772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6908800" y="3683000"/>
              <a:ext cx="163195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/>
          <p:cNvSpPr txBox="1"/>
          <p:nvPr/>
        </p:nvSpPr>
        <p:spPr>
          <a:xfrm>
            <a:off x="211667" y="3029216"/>
            <a:ext cx="3143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River Network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Channel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Reach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Junction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Cross Section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Reference Point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7926" y="4637311"/>
            <a:ext cx="3143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Catchments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Basin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Outfall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Reference Point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926" y="5771184"/>
            <a:ext cx="3143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7030A0"/>
                </a:solidFill>
              </a:rPr>
              <a:t>Observations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Observation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Reference Point</a:t>
            </a:r>
          </a:p>
        </p:txBody>
      </p:sp>
    </p:spTree>
    <p:extLst>
      <p:ext uri="{BB962C8B-B14F-4D97-AF65-F5344CB8AC3E}">
        <p14:creationId xmlns:p14="http://schemas.microsoft.com/office/powerpoint/2010/main" val="292950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56" grpId="0"/>
      <p:bldP spid="92" grpId="0"/>
      <p:bldP spid="93" grpId="0"/>
      <p:bldP spid="9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Implications for Standard Workflows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39552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How does </a:t>
            </a:r>
            <a:r>
              <a:rPr lang="en-US" sz="2000" dirty="0" err="1" smtClean="0">
                <a:solidFill>
                  <a:schemeClr val="accent1"/>
                </a:solidFill>
              </a:rPr>
              <a:t>RiverML</a:t>
            </a:r>
            <a:r>
              <a:rPr lang="en-US" sz="2000" dirty="0" smtClean="0">
                <a:solidFill>
                  <a:schemeClr val="accent1"/>
                </a:solidFill>
              </a:rPr>
              <a:t> improve the status quo?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3718023" y="3256299"/>
            <a:ext cx="8881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ArcGIS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3363113" y="1663433"/>
            <a:ext cx="1152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AutoCAD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5373054" y="2304440"/>
            <a:ext cx="27491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2"/>
                </a:solidFill>
              </a:rPr>
              <a:t>MicroStation</a:t>
            </a:r>
            <a:r>
              <a:rPr lang="en-US" dirty="0" smtClean="0">
                <a:solidFill>
                  <a:schemeClr val="accent2"/>
                </a:solidFill>
              </a:rPr>
              <a:t> &amp; </a:t>
            </a:r>
            <a:r>
              <a:rPr lang="en-US" dirty="0" err="1" smtClean="0">
                <a:solidFill>
                  <a:schemeClr val="accent2"/>
                </a:solidFill>
              </a:rPr>
              <a:t>PondPack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5029976" y="4416349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MIKE Flood HD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1111788" y="4617333"/>
            <a:ext cx="24759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HEC-RAS &amp; HEC-HMS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655" y="1751990"/>
            <a:ext cx="18859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443" y="3622595"/>
            <a:ext cx="1262691" cy="978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561" y="3392752"/>
            <a:ext cx="1004087" cy="103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69" y="5603917"/>
            <a:ext cx="1701329" cy="37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2719711" y="5972152"/>
            <a:ext cx="6899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ICPR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7028404" y="4456552"/>
            <a:ext cx="1324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XP-SWMM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644" y="2519716"/>
            <a:ext cx="15049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648" y="3831092"/>
            <a:ext cx="8191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52" y="1928158"/>
            <a:ext cx="2083477" cy="5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175217" y="2493284"/>
            <a:ext cx="8675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Flo-2D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612" y="1350776"/>
            <a:ext cx="1543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6" b="9996"/>
          <a:stretch/>
        </p:blipFill>
        <p:spPr bwMode="auto">
          <a:xfrm>
            <a:off x="4823510" y="5435499"/>
            <a:ext cx="171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4864154" y="5883946"/>
            <a:ext cx="16738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FESWMS-2DH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2990356" y="494239"/>
            <a:ext cx="32317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Software Buffet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68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4981407" y="2716780"/>
            <a:ext cx="3406870" cy="64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Hydrologic Calculation Software</a:t>
            </a:r>
          </a:p>
          <a:p>
            <a:pPr algn="ctr"/>
            <a:r>
              <a:rPr lang="en-US" dirty="0" smtClean="0">
                <a:solidFill>
                  <a:schemeClr val="accent2"/>
                </a:solidFill>
              </a:rPr>
              <a:t>(HEC-HMS, </a:t>
            </a:r>
            <a:r>
              <a:rPr lang="en-US" dirty="0" err="1" smtClean="0">
                <a:solidFill>
                  <a:schemeClr val="accent2"/>
                </a:solidFill>
              </a:rPr>
              <a:t>PondPack</a:t>
            </a:r>
            <a:r>
              <a:rPr lang="en-US" dirty="0" smtClean="0">
                <a:solidFill>
                  <a:schemeClr val="accent2"/>
                </a:solidFill>
              </a:rPr>
              <a:t>, etc.)</a:t>
            </a:r>
            <a:endParaRPr lang="en-US" sz="1800" dirty="0">
              <a:solidFill>
                <a:schemeClr val="accent2"/>
              </a:solidFill>
            </a:endParaRPr>
          </a:p>
        </p:txBody>
      </p:sp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956778"/>
              </p:ext>
            </p:extLst>
          </p:nvPr>
        </p:nvGraphicFramePr>
        <p:xfrm>
          <a:off x="798394" y="4221938"/>
          <a:ext cx="1279218" cy="1106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" name="VISIO" r:id="rId3" imgW="2610000" imgH="2357640" progId="Visio.Drawing.6">
                  <p:embed/>
                </p:oleObj>
              </mc:Choice>
              <mc:Fallback>
                <p:oleObj name="VISIO" r:id="rId3" imgW="2610000" imgH="2357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94" y="4221938"/>
                        <a:ext cx="1279218" cy="1106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6342410" y="4474687"/>
            <a:ext cx="1360715" cy="896863"/>
            <a:chOff x="4368" y="1728"/>
            <a:chExt cx="1264" cy="960"/>
          </a:xfrm>
        </p:grpSpPr>
        <p:graphicFrame>
          <p:nvGraphicFramePr>
            <p:cNvPr id="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24141"/>
                </p:ext>
              </p:extLst>
            </p:nvPr>
          </p:nvGraphicFramePr>
          <p:xfrm>
            <a:off x="4378" y="1880"/>
            <a:ext cx="1180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" name="VISIO" r:id="rId5" imgW="1873800" imgH="1282680" progId="Visio.Drawing.6">
                    <p:embed/>
                  </p:oleObj>
                </mc:Choice>
                <mc:Fallback>
                  <p:oleObj name="VISIO" r:id="rId5" imgW="1873800" imgH="128268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1880"/>
                          <a:ext cx="1180" cy="8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4378" y="2688"/>
              <a:ext cx="12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 flipV="1">
              <a:off x="4378" y="1776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4368" y="1728"/>
              <a:ext cx="3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/>
                <a:t>Flow</a:t>
              </a: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5280" y="2352"/>
              <a:ext cx="3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</p:grpSp>
      <p:pic>
        <p:nvPicPr>
          <p:cNvPr id="4098" name="Picture 2" descr="C:\Temporary GIS Files\Edgar Ranch\Edgar Ranch Comparison\Images\Raster_View1a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82" y="1322849"/>
            <a:ext cx="2034165" cy="146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57196" y="2747109"/>
            <a:ext cx="29391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Terrain Processing Software</a:t>
            </a:r>
          </a:p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(ArcGIS, AutoCAD, etc.)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2392438" y="6017193"/>
            <a:ext cx="34453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Hydraulic Calculation Software</a:t>
            </a:r>
          </a:p>
          <a:p>
            <a:pPr algn="ctr"/>
            <a:r>
              <a:rPr lang="en-US" dirty="0" smtClean="0">
                <a:solidFill>
                  <a:schemeClr val="accent2"/>
                </a:solidFill>
              </a:rPr>
              <a:t>(HEC-RAS, MIKE Flood HD, </a:t>
            </a:r>
            <a:r>
              <a:rPr lang="en-US" dirty="0" err="1" smtClean="0">
                <a:solidFill>
                  <a:schemeClr val="accent2"/>
                </a:solidFill>
              </a:rPr>
              <a:t>etc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959404" y="494240"/>
            <a:ext cx="716728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River Modeling: Existing Workflow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15" y="4616313"/>
            <a:ext cx="2073615" cy="140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01" name="Group 4100"/>
          <p:cNvGrpSpPr/>
          <p:nvPr/>
        </p:nvGrpSpPr>
        <p:grpSpPr>
          <a:xfrm>
            <a:off x="3963196" y="1322849"/>
            <a:ext cx="1103086" cy="391109"/>
            <a:chOff x="3352800" y="2525486"/>
            <a:chExt cx="1103086" cy="391109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352800" y="2525486"/>
              <a:ext cx="333829" cy="3911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Straight Connector 4095"/>
            <p:cNvCxnSpPr/>
            <p:nvPr/>
          </p:nvCxnSpPr>
          <p:spPr>
            <a:xfrm>
              <a:off x="3686629" y="2916594"/>
              <a:ext cx="4284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098"/>
            <p:cNvCxnSpPr/>
            <p:nvPr/>
          </p:nvCxnSpPr>
          <p:spPr>
            <a:xfrm flipV="1">
              <a:off x="4115123" y="2525486"/>
              <a:ext cx="340763" cy="391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Arrow 38"/>
          <p:cNvSpPr/>
          <p:nvPr/>
        </p:nvSpPr>
        <p:spPr>
          <a:xfrm rot="1953324">
            <a:off x="4911464" y="1565185"/>
            <a:ext cx="543950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rot="5400000">
            <a:off x="1211713" y="3642943"/>
            <a:ext cx="630101" cy="297543"/>
          </a:xfrm>
          <a:prstGeom prst="rightArrow">
            <a:avLst>
              <a:gd name="adj1" fmla="val 50000"/>
              <a:gd name="adj2" fmla="val 525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2292230" y="4908726"/>
            <a:ext cx="657151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 rot="5400000">
            <a:off x="6518563" y="3758117"/>
            <a:ext cx="630101" cy="297543"/>
          </a:xfrm>
          <a:prstGeom prst="rightArrow">
            <a:avLst>
              <a:gd name="adj1" fmla="val 50000"/>
              <a:gd name="adj2" fmla="val 525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 rot="10800000">
            <a:off x="5492736" y="4760105"/>
            <a:ext cx="657151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2"/>
          <p:cNvGrpSpPr>
            <a:grpSpLocks/>
          </p:cNvGrpSpPr>
          <p:nvPr/>
        </p:nvGrpSpPr>
        <p:grpSpPr bwMode="auto">
          <a:xfrm>
            <a:off x="3449274" y="2925856"/>
            <a:ext cx="1360715" cy="896862"/>
            <a:chOff x="4368" y="1728"/>
            <a:chExt cx="1264" cy="960"/>
          </a:xfrm>
        </p:grpSpPr>
        <p:graphicFrame>
          <p:nvGraphicFramePr>
            <p:cNvPr id="4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1394709"/>
                </p:ext>
              </p:extLst>
            </p:nvPr>
          </p:nvGraphicFramePr>
          <p:xfrm>
            <a:off x="4378" y="1995"/>
            <a:ext cx="1180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9" name="VISIO" r:id="rId9" imgW="1873800" imgH="1282680" progId="Visio.Drawing.6">
                    <p:embed/>
                  </p:oleObj>
                </mc:Choice>
                <mc:Fallback>
                  <p:oleObj name="VISIO" r:id="rId9" imgW="1873800" imgH="128268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1995"/>
                          <a:ext cx="1180" cy="6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4"/>
            <p:cNvSpPr>
              <a:spLocks noChangeShapeType="1"/>
            </p:cNvSpPr>
            <p:nvPr/>
          </p:nvSpPr>
          <p:spPr bwMode="auto">
            <a:xfrm>
              <a:off x="4378" y="2688"/>
              <a:ext cx="12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5"/>
            <p:cNvSpPr>
              <a:spLocks noChangeShapeType="1"/>
            </p:cNvSpPr>
            <p:nvPr/>
          </p:nvSpPr>
          <p:spPr bwMode="auto">
            <a:xfrm flipV="1">
              <a:off x="4378" y="1776"/>
              <a:ext cx="0" cy="9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4368" y="1728"/>
              <a:ext cx="627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Depth</a:t>
              </a:r>
              <a:endParaRPr lang="en-US" sz="1400" dirty="0"/>
            </a:p>
          </p:txBody>
        </p:sp>
        <p:sp>
          <p:nvSpPr>
            <p:cNvPr id="49" name="Text Box 7"/>
            <p:cNvSpPr txBox="1">
              <a:spLocks noChangeArrowheads="1"/>
            </p:cNvSpPr>
            <p:nvPr/>
          </p:nvSpPr>
          <p:spPr bwMode="auto">
            <a:xfrm>
              <a:off x="5280" y="2352"/>
              <a:ext cx="35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</p:grpSp>
      <p:sp>
        <p:nvSpPr>
          <p:cNvPr id="51" name="Right Arrow 50"/>
          <p:cNvSpPr/>
          <p:nvPr/>
        </p:nvSpPr>
        <p:spPr>
          <a:xfrm rot="16200000">
            <a:off x="3841901" y="4262678"/>
            <a:ext cx="385455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12768452">
            <a:off x="2749741" y="2627152"/>
            <a:ext cx="657151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3786761" y="1755738"/>
            <a:ext cx="147374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Simplified Cross Sections for Routing</a:t>
            </a:r>
            <a:endParaRPr lang="en-US" sz="1100" dirty="0">
              <a:solidFill>
                <a:schemeClr val="accent2"/>
              </a:solidFill>
            </a:endParaRPr>
          </a:p>
        </p:txBody>
      </p:sp>
      <p:graphicFrame>
        <p:nvGraphicFramePr>
          <p:cNvPr id="5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538933"/>
              </p:ext>
            </p:extLst>
          </p:nvPr>
        </p:nvGraphicFramePr>
        <p:xfrm>
          <a:off x="5492735" y="1438291"/>
          <a:ext cx="1906397" cy="1337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" name="VISIO" r:id="rId10" imgW="3361680" imgH="2688120" progId="Visio.Drawing.6">
                  <p:embed/>
                </p:oleObj>
              </mc:Choice>
              <mc:Fallback>
                <p:oleObj name="VISIO" r:id="rId10" imgW="3361680" imgH="2688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35" y="1438291"/>
                        <a:ext cx="1906397" cy="13376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8"/>
          <p:cNvSpPr txBox="1">
            <a:spLocks noChangeArrowheads="1"/>
          </p:cNvSpPr>
          <p:nvPr/>
        </p:nvSpPr>
        <p:spPr bwMode="auto">
          <a:xfrm>
            <a:off x="3003057" y="3857246"/>
            <a:ext cx="2257453" cy="43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Translate WSEL results to format 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suitable for mapping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0" name="Text Box 8"/>
          <p:cNvSpPr txBox="1">
            <a:spLocks noChangeArrowheads="1"/>
          </p:cNvSpPr>
          <p:nvPr/>
        </p:nvSpPr>
        <p:spPr bwMode="auto">
          <a:xfrm>
            <a:off x="5752777" y="5416393"/>
            <a:ext cx="25442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Translate flow rate at watershed outlet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to flow rate at Cross Sections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8" name="Text Box 17"/>
          <p:cNvSpPr txBox="1">
            <a:spLocks noChangeArrowheads="1"/>
          </p:cNvSpPr>
          <p:nvPr/>
        </p:nvSpPr>
        <p:spPr bwMode="auto">
          <a:xfrm>
            <a:off x="220739" y="5405517"/>
            <a:ext cx="2612048" cy="4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Extract Cross Section Geometry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Translate to Hydraulic Software Format</a:t>
            </a:r>
            <a:endParaRPr lang="en-US" sz="11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92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20" grpId="0"/>
      <p:bldP spid="39" grpId="0" animBg="1"/>
      <p:bldP spid="40" grpId="0" animBg="1"/>
      <p:bldP spid="41" grpId="0" animBg="1"/>
      <p:bldP spid="42" grpId="0" animBg="1"/>
      <p:bldP spid="43" grpId="0" animBg="1"/>
      <p:bldP spid="51" grpId="0" animBg="1"/>
      <p:bldP spid="52" grpId="0" animBg="1"/>
      <p:bldP spid="54" grpId="0"/>
      <p:bldP spid="59" grpId="0"/>
      <p:bldP spid="60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5040404" y="2693953"/>
            <a:ext cx="3406870" cy="64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Hydrologic Calculation Software</a:t>
            </a:r>
          </a:p>
          <a:p>
            <a:pPr algn="ctr"/>
            <a:r>
              <a:rPr lang="en-US" dirty="0" smtClean="0">
                <a:solidFill>
                  <a:schemeClr val="accent2"/>
                </a:solidFill>
              </a:rPr>
              <a:t>(HEC-HMS, </a:t>
            </a:r>
            <a:r>
              <a:rPr lang="en-US" dirty="0" err="1" smtClean="0">
                <a:solidFill>
                  <a:schemeClr val="accent2"/>
                </a:solidFill>
              </a:rPr>
              <a:t>PondPack</a:t>
            </a:r>
            <a:r>
              <a:rPr lang="en-US" dirty="0" smtClean="0">
                <a:solidFill>
                  <a:schemeClr val="accent2"/>
                </a:solidFill>
              </a:rPr>
              <a:t>, etc.)</a:t>
            </a:r>
            <a:endParaRPr lang="en-US" sz="1800" dirty="0">
              <a:solidFill>
                <a:schemeClr val="accent2"/>
              </a:solidFill>
            </a:endParaRPr>
          </a:p>
        </p:txBody>
      </p:sp>
      <p:pic>
        <p:nvPicPr>
          <p:cNvPr id="4098" name="Picture 2" descr="C:\Temporary GIS Files\Edgar Ranch\Edgar Ranch Comparison\Images\Raster_View1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82" y="1322849"/>
            <a:ext cx="2034165" cy="146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57196" y="2747109"/>
            <a:ext cx="29391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Terrain Processing Software</a:t>
            </a:r>
          </a:p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(ArcGIS, AutoCAD, etc.)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2392438" y="6054977"/>
            <a:ext cx="34453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800" dirty="0" smtClean="0">
                <a:solidFill>
                  <a:schemeClr val="accent2"/>
                </a:solidFill>
              </a:rPr>
              <a:t>Hydraulic Calculation Software</a:t>
            </a:r>
          </a:p>
          <a:p>
            <a:pPr algn="ctr"/>
            <a:r>
              <a:rPr lang="en-US" dirty="0" smtClean="0">
                <a:solidFill>
                  <a:schemeClr val="accent2"/>
                </a:solidFill>
              </a:rPr>
              <a:t>(HEC-RAS, MIKE Flood HD, </a:t>
            </a:r>
            <a:r>
              <a:rPr lang="en-US" dirty="0" err="1" smtClean="0">
                <a:solidFill>
                  <a:schemeClr val="accent2"/>
                </a:solidFill>
              </a:rPr>
              <a:t>etc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861629" y="509354"/>
            <a:ext cx="74266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River Modeling: Proposed Workflow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15" y="4616313"/>
            <a:ext cx="2073615" cy="140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ight Arrow 38"/>
          <p:cNvSpPr/>
          <p:nvPr/>
        </p:nvSpPr>
        <p:spPr>
          <a:xfrm>
            <a:off x="2743284" y="1759683"/>
            <a:ext cx="2517226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rot="3080824">
            <a:off x="2178478" y="3919263"/>
            <a:ext cx="1166167" cy="297543"/>
          </a:xfrm>
          <a:prstGeom prst="rightArrow">
            <a:avLst>
              <a:gd name="adj1" fmla="val 50000"/>
              <a:gd name="adj2" fmla="val 525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13725948">
            <a:off x="2534489" y="3675216"/>
            <a:ext cx="1092272" cy="297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223953"/>
              </p:ext>
            </p:extLst>
          </p:nvPr>
        </p:nvGraphicFramePr>
        <p:xfrm>
          <a:off x="5492735" y="1438291"/>
          <a:ext cx="1906397" cy="1337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VISIO" r:id="rId5" imgW="3361680" imgH="2688120" progId="Visio.Drawing.6">
                  <p:embed/>
                </p:oleObj>
              </mc:Choice>
              <mc:Fallback>
                <p:oleObj name="VISIO" r:id="rId5" imgW="3361680" imgH="2688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35" y="1438291"/>
                        <a:ext cx="1906397" cy="13376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8"/>
          <p:cNvSpPr txBox="1">
            <a:spLocks noChangeArrowheads="1"/>
          </p:cNvSpPr>
          <p:nvPr/>
        </p:nvSpPr>
        <p:spPr bwMode="auto">
          <a:xfrm>
            <a:off x="5293373" y="3935679"/>
            <a:ext cx="17395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r>
              <a:rPr lang="en-US" sz="1100" dirty="0" smtClean="0">
                <a:solidFill>
                  <a:schemeClr val="accent2"/>
                </a:solidFill>
              </a:rPr>
              <a:t> 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(Flow Rate Observations)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2638407" y="1354447"/>
            <a:ext cx="259878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endParaRPr lang="en-US" sz="1100" dirty="0" smtClean="0">
              <a:solidFill>
                <a:schemeClr val="accent2"/>
              </a:solidFill>
            </a:endParaRP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(Geometry, Catchment, River Network)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2989866" y="3147742"/>
            <a:ext cx="1656223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r>
              <a:rPr lang="en-US" sz="1100" dirty="0" smtClean="0">
                <a:solidFill>
                  <a:schemeClr val="accent2"/>
                </a:solidFill>
              </a:rPr>
              <a:t> 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(Water Surface </a:t>
            </a: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Elevation Observations)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958546" y="4089001"/>
            <a:ext cx="18501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endParaRPr lang="en-US" sz="1100" dirty="0" smtClean="0">
              <a:solidFill>
                <a:schemeClr val="accent2"/>
              </a:solidFill>
            </a:endParaRPr>
          </a:p>
          <a:p>
            <a:pPr algn="ctr"/>
            <a:r>
              <a:rPr lang="en-US" sz="1100" dirty="0" smtClean="0">
                <a:solidFill>
                  <a:schemeClr val="accent2"/>
                </a:solidFill>
              </a:rPr>
              <a:t>(Geometry, River Network)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5" name="Right Arrow 54"/>
          <p:cNvSpPr/>
          <p:nvPr/>
        </p:nvSpPr>
        <p:spPr>
          <a:xfrm rot="8007808">
            <a:off x="4605450" y="3824601"/>
            <a:ext cx="1166167" cy="297543"/>
          </a:xfrm>
          <a:prstGeom prst="rightArrow">
            <a:avLst>
              <a:gd name="adj1" fmla="val 50000"/>
              <a:gd name="adj2" fmla="val 525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7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20" grpId="0"/>
      <p:bldP spid="39" grpId="0" animBg="1"/>
      <p:bldP spid="40" grpId="0" animBg="1"/>
      <p:bldP spid="52" grpId="0" animBg="1"/>
      <p:bldP spid="60" grpId="0"/>
      <p:bldP spid="38" grpId="0"/>
      <p:bldP spid="50" grpId="0"/>
      <p:bldP spid="53" grpId="0"/>
      <p:bldP spid="5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Discussion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39552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Where do we go from here?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841" y="1436915"/>
            <a:ext cx="8393289" cy="4862286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How to handle </a:t>
            </a:r>
            <a:r>
              <a:rPr lang="en-US" dirty="0" smtClean="0">
                <a:solidFill>
                  <a:srgbClr val="FF0000"/>
                </a:solidFill>
              </a:rPr>
              <a:t>differing taxonomies </a:t>
            </a:r>
            <a:r>
              <a:rPr lang="en-US" dirty="0" smtClean="0"/>
              <a:t>of diversions, barriers, flow lines, and roughness?</a:t>
            </a:r>
          </a:p>
          <a:p>
            <a:pPr lvl="1"/>
            <a:r>
              <a:rPr lang="en-US" dirty="0" smtClean="0"/>
              <a:t>Would it be useful to support </a:t>
            </a:r>
            <a:r>
              <a:rPr lang="en-US" dirty="0" smtClean="0">
                <a:solidFill>
                  <a:srgbClr val="FF0000"/>
                </a:solidFill>
              </a:rPr>
              <a:t>multiple templates </a:t>
            </a:r>
            <a:r>
              <a:rPr lang="en-US" dirty="0" smtClean="0"/>
              <a:t>for simple versus complex river characteristics (culverts, bridges, levees, etc.)?</a:t>
            </a:r>
          </a:p>
          <a:p>
            <a:r>
              <a:rPr lang="en-US" dirty="0" smtClean="0"/>
              <a:t>How to handle</a:t>
            </a:r>
            <a:r>
              <a:rPr lang="en-US" dirty="0" smtClean="0">
                <a:solidFill>
                  <a:srgbClr val="FF0000"/>
                </a:solidFill>
              </a:rPr>
              <a:t> provenance </a:t>
            </a:r>
            <a:r>
              <a:rPr lang="en-US" dirty="0" smtClean="0"/>
              <a:t>through workflows ?</a:t>
            </a:r>
          </a:p>
          <a:p>
            <a:pPr lvl="1"/>
            <a:r>
              <a:rPr lang="en-US" dirty="0" smtClean="0"/>
              <a:t>Generating Software</a:t>
            </a:r>
            <a:endParaRPr lang="en-US" dirty="0"/>
          </a:p>
          <a:p>
            <a:pPr lvl="1"/>
            <a:r>
              <a:rPr lang="en-US" dirty="0" smtClean="0"/>
              <a:t>Author </a:t>
            </a:r>
          </a:p>
          <a:p>
            <a:pPr lvl="1"/>
            <a:r>
              <a:rPr lang="en-US" dirty="0" smtClean="0"/>
              <a:t>Scenario </a:t>
            </a:r>
          </a:p>
          <a:p>
            <a:pPr lvl="1"/>
            <a:r>
              <a:rPr lang="en-US" dirty="0" smtClean="0"/>
              <a:t>How to reference other </a:t>
            </a:r>
            <a:r>
              <a:rPr lang="en-US" dirty="0" err="1" smtClean="0"/>
              <a:t>RiverML</a:t>
            </a:r>
            <a:r>
              <a:rPr lang="en-US" dirty="0" smtClean="0"/>
              <a:t> Geometry files</a:t>
            </a:r>
          </a:p>
          <a:p>
            <a:r>
              <a:rPr lang="en-US" dirty="0" smtClean="0"/>
              <a:t>How to handle </a:t>
            </a:r>
            <a:r>
              <a:rPr lang="en-US" dirty="0" smtClean="0">
                <a:solidFill>
                  <a:srgbClr val="FF0000"/>
                </a:solidFill>
              </a:rPr>
              <a:t>error ranges </a:t>
            </a:r>
            <a:r>
              <a:rPr lang="en-US" dirty="0" smtClean="0"/>
              <a:t>and other measures of </a:t>
            </a:r>
            <a:r>
              <a:rPr lang="en-US" dirty="0" smtClean="0">
                <a:solidFill>
                  <a:srgbClr val="FF0000"/>
                </a:solidFill>
              </a:rPr>
              <a:t>uncertainty</a:t>
            </a:r>
            <a:r>
              <a:rPr lang="en-US" dirty="0" smtClean="0"/>
              <a:t>?</a:t>
            </a:r>
          </a:p>
          <a:p>
            <a:r>
              <a:rPr lang="en-US" dirty="0" smtClean="0"/>
              <a:t>How to handle different </a:t>
            </a:r>
            <a:r>
              <a:rPr lang="en-US" dirty="0" smtClean="0">
                <a:solidFill>
                  <a:srgbClr val="FF0000"/>
                </a:solidFill>
              </a:rPr>
              <a:t>units of measure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languages</a:t>
            </a:r>
            <a:r>
              <a:rPr lang="en-US" dirty="0" smtClean="0"/>
              <a:t>?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How to encode standard </a:t>
            </a:r>
            <a:r>
              <a:rPr lang="en-US" dirty="0" smtClean="0">
                <a:solidFill>
                  <a:srgbClr val="FF0000"/>
                </a:solidFill>
              </a:rPr>
              <a:t>coordinate reference systems</a:t>
            </a:r>
            <a:r>
              <a:rPr lang="en-US" dirty="0" smtClean="0"/>
              <a:t>?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How to handle coordinate reference systems which are not in EPSG?</a:t>
            </a:r>
          </a:p>
        </p:txBody>
      </p:sp>
      <p:sp>
        <p:nvSpPr>
          <p:cNvPr id="4" name="Text Box 27"/>
          <p:cNvSpPr txBox="1">
            <a:spLocks noChangeArrowheads="1"/>
          </p:cNvSpPr>
          <p:nvPr/>
        </p:nvSpPr>
        <p:spPr bwMode="auto">
          <a:xfrm>
            <a:off x="2221893" y="509353"/>
            <a:ext cx="44871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Discussion: Technical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91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830" y="1596571"/>
            <a:ext cx="8398530" cy="4826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Where does </a:t>
            </a:r>
            <a:r>
              <a:rPr lang="en-US" dirty="0" err="1" smtClean="0"/>
              <a:t>RiverML</a:t>
            </a:r>
            <a:r>
              <a:rPr lang="en-US" dirty="0" smtClean="0"/>
              <a:t> fit within the </a:t>
            </a:r>
            <a:r>
              <a:rPr lang="en-US" dirty="0" smtClean="0">
                <a:solidFill>
                  <a:srgbClr val="FF0000"/>
                </a:solidFill>
              </a:rPr>
              <a:t>existing standards </a:t>
            </a:r>
            <a:r>
              <a:rPr lang="en-US" dirty="0" smtClean="0"/>
              <a:t>landscape?</a:t>
            </a:r>
          </a:p>
          <a:p>
            <a:pPr lvl="1"/>
            <a:r>
              <a:rPr lang="en-US" dirty="0" err="1" smtClean="0"/>
              <a:t>HY_Features</a:t>
            </a:r>
            <a:endParaRPr lang="en-US" dirty="0" smtClean="0"/>
          </a:p>
          <a:p>
            <a:pPr lvl="1"/>
            <a:r>
              <a:rPr lang="en-US" dirty="0" err="1" smtClean="0"/>
              <a:t>OM_Observations</a:t>
            </a:r>
            <a:endParaRPr lang="en-US" dirty="0" smtClean="0"/>
          </a:p>
          <a:p>
            <a:pPr lvl="1"/>
            <a:r>
              <a:rPr lang="en-US" dirty="0" smtClean="0"/>
              <a:t>GML Simple Features Profile</a:t>
            </a:r>
          </a:p>
          <a:p>
            <a:r>
              <a:rPr lang="en-US" dirty="0" smtClean="0"/>
              <a:t>Can </a:t>
            </a:r>
            <a:r>
              <a:rPr lang="en-US" dirty="0" err="1" smtClean="0"/>
              <a:t>RiverML</a:t>
            </a:r>
            <a:r>
              <a:rPr lang="en-US" dirty="0" smtClean="0"/>
              <a:t> be considered consistent with </a:t>
            </a:r>
            <a:r>
              <a:rPr lang="en-US" dirty="0" smtClean="0">
                <a:solidFill>
                  <a:srgbClr val="FF0000"/>
                </a:solidFill>
              </a:rPr>
              <a:t>GML Simple Features Profile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In other words, could this be immediately consumable with ArcGIS software?</a:t>
            </a:r>
          </a:p>
          <a:p>
            <a:pPr lvl="1"/>
            <a:r>
              <a:rPr lang="en-US" dirty="0" smtClean="0"/>
              <a:t>Does the inclusion of </a:t>
            </a:r>
            <a:r>
              <a:rPr lang="en-US" dirty="0" err="1" smtClean="0"/>
              <a:t>OM_Observations</a:t>
            </a:r>
            <a:r>
              <a:rPr lang="en-US" dirty="0" smtClean="0"/>
              <a:t> inhibit this?</a:t>
            </a:r>
          </a:p>
          <a:p>
            <a:r>
              <a:rPr lang="en-US" dirty="0" smtClean="0"/>
              <a:t>Would it be better for these to be </a:t>
            </a:r>
            <a:r>
              <a:rPr lang="en-US" dirty="0" smtClean="0">
                <a:solidFill>
                  <a:srgbClr val="FF0000"/>
                </a:solidFill>
              </a:rPr>
              <a:t>Application Schemas </a:t>
            </a:r>
            <a:r>
              <a:rPr lang="en-US" dirty="0" smtClean="0"/>
              <a:t>of:</a:t>
            </a:r>
          </a:p>
          <a:p>
            <a:pPr lvl="1"/>
            <a:r>
              <a:rPr lang="en-US" dirty="0" smtClean="0"/>
              <a:t>GML Simple Features Profile?</a:t>
            </a:r>
          </a:p>
          <a:p>
            <a:pPr lvl="1"/>
            <a:r>
              <a:rPr lang="en-US" dirty="0" err="1" smtClean="0"/>
              <a:t>GeoSciML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CityGML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What </a:t>
            </a:r>
            <a:r>
              <a:rPr lang="en-US" dirty="0" smtClean="0">
                <a:solidFill>
                  <a:srgbClr val="FF0000"/>
                </a:solidFill>
              </a:rPr>
              <a:t>assertions</a:t>
            </a:r>
            <a:r>
              <a:rPr lang="en-US" dirty="0" smtClean="0"/>
              <a:t> are needed to define the standard for compliance purposes?</a:t>
            </a:r>
          </a:p>
          <a:p>
            <a:r>
              <a:rPr lang="en-US" dirty="0" smtClean="0"/>
              <a:t>Who wants to help charter a </a:t>
            </a:r>
            <a:r>
              <a:rPr lang="en-US" dirty="0" smtClean="0">
                <a:solidFill>
                  <a:srgbClr val="FF0000"/>
                </a:solidFill>
              </a:rPr>
              <a:t>working group </a:t>
            </a:r>
            <a:r>
              <a:rPr lang="en-US" dirty="0" smtClean="0"/>
              <a:t>to finish this for OGC adoption?</a:t>
            </a:r>
          </a:p>
        </p:txBody>
      </p:sp>
      <p:sp>
        <p:nvSpPr>
          <p:cNvPr id="4" name="Text Box 27"/>
          <p:cNvSpPr txBox="1">
            <a:spLocks noChangeArrowheads="1"/>
          </p:cNvSpPr>
          <p:nvPr/>
        </p:nvSpPr>
        <p:spPr bwMode="auto">
          <a:xfrm>
            <a:off x="1390621" y="509354"/>
            <a:ext cx="65675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Discussion: Standards Adoption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94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7846"/>
            <a:ext cx="9144000" cy="5030154"/>
          </a:xfrm>
          <a:prstGeom prst="rect">
            <a:avLst/>
          </a:prstGeom>
        </p:spPr>
      </p:pic>
      <p:sp>
        <p:nvSpPr>
          <p:cNvPr id="4" name="Text Box 27"/>
          <p:cNvSpPr txBox="1">
            <a:spLocks noChangeArrowheads="1"/>
          </p:cNvSpPr>
          <p:nvPr/>
        </p:nvSpPr>
        <p:spPr bwMode="auto">
          <a:xfrm>
            <a:off x="542772" y="556979"/>
            <a:ext cx="85622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err="1" smtClean="0">
                <a:solidFill>
                  <a:schemeClr val="accent2"/>
                </a:solidFill>
              </a:rPr>
              <a:t>HydroShare.org</a:t>
            </a:r>
            <a:r>
              <a:rPr lang="en-US" sz="3600" dirty="0" smtClean="0">
                <a:solidFill>
                  <a:schemeClr val="accent2"/>
                </a:solidFill>
              </a:rPr>
              <a:t>: Web-based collaborative</a:t>
            </a:r>
          </a:p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environment for sharing data &amp; models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4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9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Supplemental Information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19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1514" y="1794101"/>
            <a:ext cx="38844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River wireframe models can readily be built either using lines of constant elevation (contours) or lines of constant risk (100-Year floodplain)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395" y="1576031"/>
            <a:ext cx="4840605" cy="274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1514" y="4067578"/>
            <a:ext cx="747308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Advantages of Wireframe: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Low data density compared to TIN or Raster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Low file size for transfer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Rapid rendering time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High Information content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Reveals </a:t>
            </a:r>
            <a:r>
              <a:rPr lang="en-US" dirty="0"/>
              <a:t>f</a:t>
            </a:r>
            <a:r>
              <a:rPr lang="en-US" dirty="0" smtClean="0"/>
              <a:t>eatures such as tributaries and islands which are not visible with cross sections alone.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Allows additional cross sections to be interpolated with much higher accuracy than possible with cross sections alone.</a:t>
            </a:r>
            <a:endParaRPr lang="en-US" dirty="0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2818776" y="519791"/>
            <a:ext cx="38943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Wireframe Models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0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59" y="1352426"/>
            <a:ext cx="5719195" cy="512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49853" y="2722273"/>
            <a:ext cx="2925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Results of  interpolated Water Surface Elevation for a single Scenario (100-Year Floodplain)</a:t>
            </a:r>
            <a:endParaRPr lang="en-US" dirty="0"/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2825669" y="519791"/>
            <a:ext cx="3880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Floodplain Results</a:t>
            </a:r>
          </a:p>
        </p:txBody>
      </p:sp>
    </p:spTree>
    <p:extLst>
      <p:ext uri="{BB962C8B-B14F-4D97-AF65-F5344CB8AC3E}">
        <p14:creationId xmlns:p14="http://schemas.microsoft.com/office/powerpoint/2010/main" val="185184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/>
          </p:cNvSpPr>
          <p:nvPr/>
        </p:nvSpPr>
        <p:spPr>
          <a:xfrm>
            <a:off x="457200" y="27106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accent1"/>
                </a:solidFill>
              </a:rPr>
              <a:t>Implications for Innovation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Title 5"/>
          <p:cNvSpPr txBox="1">
            <a:spLocks/>
          </p:cNvSpPr>
          <p:nvPr/>
        </p:nvSpPr>
        <p:spPr>
          <a:xfrm>
            <a:off x="457200" y="3955288"/>
            <a:ext cx="8305800" cy="69160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smtClean="0">
                <a:solidFill>
                  <a:schemeClr val="accent1"/>
                </a:solidFill>
              </a:rPr>
              <a:t>How does </a:t>
            </a:r>
            <a:r>
              <a:rPr lang="en-US" sz="2000" dirty="0" err="1" smtClean="0">
                <a:solidFill>
                  <a:schemeClr val="accent1"/>
                </a:solidFill>
              </a:rPr>
              <a:t>RiverML</a:t>
            </a:r>
            <a:r>
              <a:rPr lang="en-US" sz="2000" dirty="0" smtClean="0">
                <a:solidFill>
                  <a:schemeClr val="accent1"/>
                </a:solidFill>
              </a:rPr>
              <a:t> impact emerging technologies?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79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5172" y="1721393"/>
            <a:ext cx="77794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SPRINT (Simulation Program for </a:t>
            </a:r>
            <a:r>
              <a:rPr lang="en-US" dirty="0" err="1"/>
              <a:t>RIver</a:t>
            </a:r>
            <a:r>
              <a:rPr lang="en-US" dirty="0"/>
              <a:t> </a:t>
            </a:r>
            <a:r>
              <a:rPr lang="en-US" dirty="0" err="1"/>
              <a:t>NeTworks</a:t>
            </a:r>
            <a:r>
              <a:rPr lang="en-US" dirty="0"/>
              <a:t>) is an high performance river network simulator </a:t>
            </a:r>
            <a:r>
              <a:rPr lang="en-US" dirty="0" smtClean="0"/>
              <a:t>developed at </a:t>
            </a:r>
            <a:r>
              <a:rPr lang="en-US" dirty="0"/>
              <a:t>IBM Research </a:t>
            </a:r>
            <a:r>
              <a:rPr lang="en-US" dirty="0" smtClean="0"/>
              <a:t>Austin. Based on the similarities between river networks and microprocessor design, it </a:t>
            </a:r>
            <a:r>
              <a:rPr lang="en-US" dirty="0"/>
              <a:t>provides fully dynamic solutions to </a:t>
            </a:r>
            <a:r>
              <a:rPr lang="en-US" dirty="0" smtClean="0"/>
              <a:t>St </a:t>
            </a:r>
            <a:r>
              <a:rPr lang="en-US" dirty="0" err="1"/>
              <a:t>Venant</a:t>
            </a:r>
            <a:r>
              <a:rPr lang="en-US" dirty="0"/>
              <a:t> </a:t>
            </a:r>
            <a:r>
              <a:rPr lang="en-US" dirty="0" smtClean="0"/>
              <a:t>equations for very large networks </a:t>
            </a:r>
            <a:r>
              <a:rPr lang="en-US" dirty="0"/>
              <a:t>of river branches.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71" y="3374835"/>
            <a:ext cx="3601399" cy="2380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114" y="3263949"/>
            <a:ext cx="3402081" cy="238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10133" y="5760750"/>
            <a:ext cx="1983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Network of Nodes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860704" y="5662872"/>
            <a:ext cx="176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SPRINT Output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904191" y="5975128"/>
            <a:ext cx="36788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/>
              <a:t>(Water Depth at each node at each time step)</a:t>
            </a:r>
            <a:endParaRPr lang="en-US" sz="1400" dirty="0"/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2433490" y="509354"/>
            <a:ext cx="37700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Use Case: SPRINT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67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423" y="3123448"/>
            <a:ext cx="3026292" cy="2213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61" y="2857661"/>
            <a:ext cx="2595537" cy="27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500743" y="1480402"/>
            <a:ext cx="82150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Accelerates the development of research tools such as SPRINT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Developers can focus on innovative computational methods rather than continually reinventing input/output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Allows simple data exchange between both common and customized software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170991531"/>
              </p:ext>
            </p:extLst>
          </p:nvPr>
        </p:nvGraphicFramePr>
        <p:xfrm>
          <a:off x="2532605" y="3025479"/>
          <a:ext cx="3438520" cy="2383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/>
          <p:cNvSpPr/>
          <p:nvPr/>
        </p:nvSpPr>
        <p:spPr>
          <a:xfrm>
            <a:off x="414866" y="5972897"/>
            <a:ext cx="8238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With </a:t>
            </a:r>
            <a:r>
              <a:rPr lang="en-US" dirty="0" err="1" smtClean="0"/>
              <a:t>RiverML</a:t>
            </a:r>
            <a:r>
              <a:rPr lang="en-US" dirty="0" smtClean="0"/>
              <a:t>, the feature extraction and visualization capabilities of GIS could readily be used by specialized calculation packages such as SPRINT</a:t>
            </a:r>
            <a:endParaRPr lang="en-US" dirty="0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6378" y="2829146"/>
            <a:ext cx="135005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r>
              <a:rPr lang="en-US" sz="1100" dirty="0" smtClean="0">
                <a:solidFill>
                  <a:schemeClr val="accent2"/>
                </a:solidFill>
              </a:rPr>
              <a:t> Geometry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492183" y="5336877"/>
            <a:ext cx="155844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100" dirty="0" err="1" smtClean="0">
                <a:solidFill>
                  <a:schemeClr val="accent2"/>
                </a:solidFill>
              </a:rPr>
              <a:t>RiverML</a:t>
            </a:r>
            <a:r>
              <a:rPr lang="en-US" sz="1100" dirty="0" smtClean="0">
                <a:solidFill>
                  <a:schemeClr val="accent2"/>
                </a:solidFill>
              </a:rPr>
              <a:t> Observations</a:t>
            </a: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2327692" y="509354"/>
            <a:ext cx="41257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Benefits of </a:t>
            </a:r>
            <a:r>
              <a:rPr lang="en-US" sz="3600" dirty="0" err="1" smtClean="0">
                <a:solidFill>
                  <a:schemeClr val="accent2"/>
                </a:solidFill>
              </a:rPr>
              <a:t>RiverML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39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Graphic spid="3" grpId="0">
        <p:bldAsOne/>
      </p:bldGraphic>
      <p:bldP spid="2" grpId="0"/>
      <p:bldP spid="8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EsriMapsInfo xmlns="ESRI.ArcGIS.Mapping.OfficeIntegration.PowerPointInfo">
  <Version>Version1</Version>
  <RequiresSignIn>False</RequiresSignIn>
</EsriMapsInfo>
</file>

<file path=customXml/item2.xml><?xml version="1.0" encoding="utf-8"?>
<EsriMapsInfo xmlns="ESRI.ArcGIS.Mapping.OfficeIntegration.PowerPointInfo">
  <Version>Version1</Version>
  <RequiresSignIn>False</RequiresSignIn>
</EsriMapsInfo>
</file>

<file path=customXml/item3.xml><?xml version="1.0" encoding="utf-8"?>
<EsriMapsInfo xmlns="ESRI.ArcGIS.Mapping.OfficeIntegration.PowerPointInfo">
  <Version>Version1</Version>
  <RequiresSignIn>False</RequiresSignIn>
</EsriMapsInfo>
</file>

<file path=customXml/itemProps1.xml><?xml version="1.0" encoding="utf-8"?>
<ds:datastoreItem xmlns:ds="http://schemas.openxmlformats.org/officeDocument/2006/customXml" ds:itemID="{7708513B-D678-4FB7-A2F9-ED257890090A}">
  <ds:schemaRefs>
    <ds:schemaRef ds:uri="ESRI.ArcGIS.Mapping.OfficeIntegration.PowerPointInfo"/>
  </ds:schemaRefs>
</ds:datastoreItem>
</file>

<file path=customXml/itemProps2.xml><?xml version="1.0" encoding="utf-8"?>
<ds:datastoreItem xmlns:ds="http://schemas.openxmlformats.org/officeDocument/2006/customXml" ds:itemID="{12675997-C184-4DF8-A851-EC88ADBD4A43}">
  <ds:schemaRefs>
    <ds:schemaRef ds:uri="ESRI.ArcGIS.Mapping.OfficeIntegration.PowerPointInfo"/>
  </ds:schemaRefs>
</ds:datastoreItem>
</file>

<file path=customXml/itemProps3.xml><?xml version="1.0" encoding="utf-8"?>
<ds:datastoreItem xmlns:ds="http://schemas.openxmlformats.org/officeDocument/2006/customXml" ds:itemID="{2BE8A915-63D3-4629-A7ED-019E7896A384}">
  <ds:schemaRefs>
    <ds:schemaRef ds:uri="ESRI.ArcGIS.Mapping.OfficeIntegration.PowerPointInfo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4890</TotalTime>
  <Words>1203</Words>
  <Application>Microsoft Macintosh PowerPoint</Application>
  <PresentationFormat>On-screen Show (4:3)</PresentationFormat>
  <Paragraphs>256</Paragraphs>
  <Slides>32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Flow</vt:lpstr>
      <vt:lpstr>VISIO</vt:lpstr>
      <vt:lpstr>RiverML: A River Geometry and Observation Exchange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the Functionality of ArcGIS Through Tool Building</dc:title>
  <dc:creator>Stephen Jackson</dc:creator>
  <cp:lastModifiedBy>David Arctur</cp:lastModifiedBy>
  <cp:revision>303</cp:revision>
  <dcterms:created xsi:type="dcterms:W3CDTF">2012-12-05T03:37:00Z</dcterms:created>
  <dcterms:modified xsi:type="dcterms:W3CDTF">2013-06-17T13:43:15Z</dcterms:modified>
</cp:coreProperties>
</file>