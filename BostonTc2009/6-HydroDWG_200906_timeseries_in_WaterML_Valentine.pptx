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Lst>
  <p:notesMasterIdLst>
    <p:notesMasterId r:id="rId28"/>
  </p:notesMasterIdLst>
  <p:handoutMasterIdLst>
    <p:handoutMasterId r:id="rId29"/>
  </p:handoutMasterIdLst>
  <p:sldIdLst>
    <p:sldId id="492" r:id="rId3"/>
    <p:sldId id="591" r:id="rId4"/>
    <p:sldId id="512" r:id="rId5"/>
    <p:sldId id="628" r:id="rId6"/>
    <p:sldId id="431" r:id="rId7"/>
    <p:sldId id="625" r:id="rId8"/>
    <p:sldId id="623" r:id="rId9"/>
    <p:sldId id="595" r:id="rId10"/>
    <p:sldId id="622" r:id="rId11"/>
    <p:sldId id="627" r:id="rId12"/>
    <p:sldId id="599" r:id="rId13"/>
    <p:sldId id="616" r:id="rId14"/>
    <p:sldId id="618" r:id="rId15"/>
    <p:sldId id="617" r:id="rId16"/>
    <p:sldId id="619" r:id="rId17"/>
    <p:sldId id="626" r:id="rId18"/>
    <p:sldId id="620" r:id="rId19"/>
    <p:sldId id="613" r:id="rId20"/>
    <p:sldId id="614" r:id="rId21"/>
    <p:sldId id="615" r:id="rId22"/>
    <p:sldId id="612" r:id="rId23"/>
    <p:sldId id="602" r:id="rId24"/>
    <p:sldId id="603" r:id="rId25"/>
    <p:sldId id="601" r:id="rId26"/>
    <p:sldId id="562"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FFFF99"/>
    <a:srgbClr val="FFFF00"/>
    <a:srgbClr val="3333CC"/>
    <a:srgbClr val="FF0000"/>
    <a:srgbClr val="CC3300"/>
    <a:srgbClr val="FF9900"/>
    <a:srgbClr val="0066FF"/>
    <a:srgbClr val="CCFF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72" autoAdjust="0"/>
    <p:restoredTop sz="84813" autoAdjust="0"/>
  </p:normalViewPr>
  <p:slideViewPr>
    <p:cSldViewPr>
      <p:cViewPr>
        <p:scale>
          <a:sx n="60" d="100"/>
          <a:sy n="60" d="100"/>
        </p:scale>
        <p:origin x="-1188" y="-47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atin typeface="Arial" charset="0"/>
              </a:defRPr>
            </a:lvl1pPr>
          </a:lstStyle>
          <a:p>
            <a:pPr>
              <a:defRPr/>
            </a:pPr>
            <a:endParaRPr lang="en-US"/>
          </a:p>
        </p:txBody>
      </p:sp>
      <p:sp>
        <p:nvSpPr>
          <p:cNvPr id="1679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E03C6E72-028C-4E8D-AC04-4A8CFA7B34DD}" type="datetimeFigureOut">
              <a:rPr lang="en-US"/>
              <a:pPr>
                <a:defRPr/>
              </a:pPr>
              <a:t>6/21/2009</a:t>
            </a:fld>
            <a:endParaRPr lang="en-US"/>
          </a:p>
        </p:txBody>
      </p:sp>
      <p:sp>
        <p:nvSpPr>
          <p:cNvPr id="1679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atin typeface="Arial" charset="0"/>
              </a:defRPr>
            </a:lvl1pPr>
          </a:lstStyle>
          <a:p>
            <a:pPr>
              <a:defRPr/>
            </a:pPr>
            <a:endParaRPr lang="en-US"/>
          </a:p>
        </p:txBody>
      </p:sp>
      <p:sp>
        <p:nvSpPr>
          <p:cNvPr id="1679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Arial" charset="0"/>
              </a:defRPr>
            </a:lvl1pPr>
          </a:lstStyle>
          <a:p>
            <a:pPr>
              <a:defRPr/>
            </a:pPr>
            <a:fld id="{1672F085-0EC0-4C0A-BCF0-D4F7AC17EA32}"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2E0288FD-056A-46AD-B054-7A64481950D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ChangeArrowheads="1" noTextEdit="1"/>
          </p:cNvSpPr>
          <p:nvPr>
            <p:ph type="sldImg"/>
          </p:nvPr>
        </p:nvSpPr>
        <p:spPr>
          <a:ln/>
        </p:spPr>
      </p:sp>
      <p:sp>
        <p:nvSpPr>
          <p:cNvPr id="31746" name="Rectangle 3"/>
          <p:cNvSpPr>
            <a:spLocks noGrp="1" noChangeArrowheads="1"/>
          </p:cNvSpPr>
          <p:nvPr>
            <p:ph type="body" idx="1"/>
          </p:nvPr>
        </p:nvSpPr>
        <p:spPr>
          <a:xfrm>
            <a:off x="914400" y="4341813"/>
            <a:ext cx="5029200" cy="4116387"/>
          </a:xfrm>
          <a:noFill/>
          <a:ln/>
        </p:spPr>
        <p:txBody>
          <a:bodyPr/>
          <a:lstStyle/>
          <a:p>
            <a:endParaRPr lang="en-AU"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a:ln/>
        </p:spPr>
      </p:sp>
      <p:sp>
        <p:nvSpPr>
          <p:cNvPr id="36866" name="Notes Placeholder 2"/>
          <p:cNvSpPr>
            <a:spLocks noGrp="1"/>
          </p:cNvSpPr>
          <p:nvPr>
            <p:ph type="body" idx="1"/>
          </p:nvPr>
        </p:nvSpPr>
        <p:spPr>
          <a:noFill/>
          <a:ln/>
        </p:spPr>
        <p:txBody>
          <a:bodyPr/>
          <a:lstStyle/>
          <a:p>
            <a:r>
              <a:rPr lang="en-US" smtClean="0">
                <a:latin typeface="Arial" pitchFamily="34" charset="0"/>
              </a:rPr>
              <a:t>The CUAHSI Hydrologic Information System (CUAHSI-HIS) provides web services, tools, standards and procedures that enhance access to more and better data for hydrologic analysis. </a:t>
            </a:r>
          </a:p>
          <a:p>
            <a:r>
              <a:rPr lang="en-US" smtClean="0">
                <a:latin typeface="Arial" pitchFamily="34" charset="0"/>
              </a:rPr>
              <a:t>The web services use an XML based format for communicating hydrologic data, called WaterML. HIS web services support access to National Datasets such as the USGS National Water Information System (NWIS) and EPA Storage and Retrieval System (STORET), in a standard way. Users anywhere with access to the internet can save their data in a relational database format, called ODM, and register it with CUAHSI HIS to publish their data. Popular software for working with data, such as Excel, MATLAB and a variety of computer programming languages can access HIS data directly using web services. This lets users work with familiar software rather than having to learn something new. </a:t>
            </a:r>
          </a:p>
          <a:p>
            <a:endParaRPr lang="en-US" smtClean="0">
              <a:latin typeface="Arial" pitchFamily="34" charset="0"/>
            </a:endParaRPr>
          </a:p>
        </p:txBody>
      </p:sp>
      <p:sp>
        <p:nvSpPr>
          <p:cNvPr id="36867" name="Slide Number Placeholder 3"/>
          <p:cNvSpPr>
            <a:spLocks noGrp="1"/>
          </p:cNvSpPr>
          <p:nvPr>
            <p:ph type="sldNum" sz="quarter" idx="5"/>
          </p:nvPr>
        </p:nvSpPr>
        <p:spPr>
          <a:noFill/>
        </p:spPr>
        <p:txBody>
          <a:bodyPr/>
          <a:lstStyle/>
          <a:p>
            <a:fld id="{2E9EB705-F1AB-4861-9612-718C7FDD63E4}" type="slidenum">
              <a:rPr lang="en-US" smtClean="0">
                <a:latin typeface="Arial" pitchFamily="34" charset="0"/>
              </a:rPr>
              <a:pPr/>
              <a:t>2</a:t>
            </a:fld>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ChangeArrowheads="1" noTextEdit="1"/>
          </p:cNvSpPr>
          <p:nvPr>
            <p:ph type="sldImg"/>
          </p:nvPr>
        </p:nvSpPr>
        <p:spPr>
          <a:xfrm>
            <a:off x="1165225" y="701675"/>
            <a:ext cx="4584700" cy="3438525"/>
          </a:xfrm>
          <a:ln/>
        </p:spPr>
      </p:sp>
      <p:sp>
        <p:nvSpPr>
          <p:cNvPr id="46082" name="Rectangle 3"/>
          <p:cNvSpPr>
            <a:spLocks noGrp="1" noChangeArrowheads="1"/>
          </p:cNvSpPr>
          <p:nvPr>
            <p:ph type="body" idx="1"/>
          </p:nvPr>
        </p:nvSpPr>
        <p:spPr>
          <a:xfrm>
            <a:off x="931863" y="4352925"/>
            <a:ext cx="5048250" cy="4138613"/>
          </a:xfrm>
          <a:noFill/>
          <a:ln/>
        </p:spPr>
        <p:txBody>
          <a:bodyPr lIns="90182" tIns="44298" rIns="90182" bIns="44298"/>
          <a:lstStyle/>
          <a:p>
            <a:r>
              <a:rPr lang="en-US" sz="800" smtClean="0">
                <a:latin typeface="Arial" pitchFamily="34" charset="0"/>
              </a:rPr>
              <a:t>Hydrologic Information System Service Oriented Architecture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p:spPr>
        <p:txBody>
          <a:bodyPr/>
          <a:lstStyle/>
          <a:p>
            <a:fld id="{B0D6F12B-B7A5-456A-BCD8-7BF0DA5B1CAB}" type="slidenum">
              <a:rPr lang="en-US" smtClean="0">
                <a:latin typeface="Arial" pitchFamily="34" charset="0"/>
              </a:rPr>
              <a:pPr/>
              <a:t>5</a:t>
            </a:fld>
            <a:endParaRPr lang="en-US" smtClean="0">
              <a:latin typeface="Arial" pitchFamily="34" charset="0"/>
            </a:endParaRPr>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p:spPr>
        <p:txBody>
          <a:bodyPr/>
          <a:lstStyle/>
          <a:p>
            <a:fld id="{C8CC80BC-CA83-4EA9-A370-B62D4B3F6E70}" type="slidenum">
              <a:rPr lang="en-US" smtClean="0">
                <a:latin typeface="Arial" pitchFamily="34" charset="0"/>
              </a:rPr>
              <a:pPr/>
              <a:t>8</a:t>
            </a:fld>
            <a:endParaRPr lang="en-US" smtClean="0">
              <a:latin typeface="Arial" pitchFamily="34" charset="0"/>
            </a:endParaRPr>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914400" y="4341813"/>
            <a:ext cx="5029200" cy="4116387"/>
          </a:xfrm>
          <a:noFill/>
          <a:ln/>
        </p:spPr>
        <p:txBody>
          <a:bodyPr lIns="90182" tIns="44298" rIns="90182" bIns="44298"/>
          <a:lstStyle/>
          <a:p>
            <a:endParaRPr lang="en-AU"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a:ln/>
        </p:spPr>
      </p:sp>
      <p:sp>
        <p:nvSpPr>
          <p:cNvPr id="61442"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ChangeArrowheads="1" noTextEdit="1"/>
          </p:cNvSpPr>
          <p:nvPr>
            <p:ph type="sldImg"/>
          </p:nvPr>
        </p:nvSpPr>
        <p:spPr>
          <a:ln/>
        </p:spPr>
      </p:sp>
      <p:sp>
        <p:nvSpPr>
          <p:cNvPr id="58370"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Placeholder 2"/>
          <p:cNvSpPr>
            <a:spLocks noGrp="1" noRot="1" noChangeAspect="1" noChangeArrowheads="1" noTextEdit="1"/>
          </p:cNvSpPr>
          <p:nvPr>
            <p:ph type="sldImg"/>
          </p:nvPr>
        </p:nvSpPr>
        <p:spPr>
          <a:ln/>
        </p:spPr>
      </p:sp>
      <p:sp>
        <p:nvSpPr>
          <p:cNvPr id="63490" name="Placeholder 3"/>
          <p:cNvSpPr>
            <a:spLocks noGrp="1" noChangeArrowheads="1"/>
          </p:cNvSpPr>
          <p:nvPr>
            <p:ph type="body" idx="1"/>
          </p:nvPr>
        </p:nvSpPr>
        <p:spPr>
          <a:noFill/>
          <a:ln/>
        </p:spPr>
        <p:txBody>
          <a:bodyPr/>
          <a:lstStyle/>
          <a:p>
            <a:endParaRPr lang="en-AU" smtClean="0">
              <a:latin typeface="Times"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Placeholder 2"/>
          <p:cNvSpPr>
            <a:spLocks noGrp="1" noRot="1" noChangeAspect="1" noChangeArrowheads="1" noTextEdit="1"/>
          </p:cNvSpPr>
          <p:nvPr>
            <p:ph type="sldImg"/>
          </p:nvPr>
        </p:nvSpPr>
        <p:spPr>
          <a:ln/>
        </p:spPr>
      </p:sp>
      <p:sp>
        <p:nvSpPr>
          <p:cNvPr id="65538" name="Placeholder 3"/>
          <p:cNvSpPr>
            <a:spLocks noGrp="1" noChangeArrowheads="1"/>
          </p:cNvSpPr>
          <p:nvPr>
            <p:ph type="body" idx="1"/>
          </p:nvPr>
        </p:nvSpPr>
        <p:spPr>
          <a:noFill/>
          <a:ln/>
        </p:spPr>
        <p:txBody>
          <a:bodyPr/>
          <a:lstStyle/>
          <a:p>
            <a:endParaRPr lang="en-AU" smtClean="0">
              <a:latin typeface="Times"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Placeholder 2"/>
          <p:cNvSpPr>
            <a:spLocks noGrp="1" noRot="1" noChangeAspect="1" noChangeArrowheads="1" noTextEdit="1"/>
          </p:cNvSpPr>
          <p:nvPr>
            <p:ph type="sldImg"/>
          </p:nvPr>
        </p:nvSpPr>
        <p:spPr>
          <a:ln/>
        </p:spPr>
      </p:sp>
      <p:sp>
        <p:nvSpPr>
          <p:cNvPr id="67586" name="Rectangle 3"/>
          <p:cNvSpPr>
            <a:spLocks noGrp="1" noChangeArrowheads="1"/>
          </p:cNvSpPr>
          <p:nvPr>
            <p:ph type="body" idx="1"/>
          </p:nvPr>
        </p:nvSpPr>
        <p:spPr>
          <a:noFill/>
          <a:ln/>
        </p:spPr>
        <p:txBody>
          <a:bodyPr/>
          <a:lstStyle/>
          <a:p>
            <a:r>
              <a:rPr lang="en-US" smtClean="0">
                <a:latin typeface="Times" pitchFamily="18" charset="0"/>
              </a:rPr>
              <a:t>Series is part of a site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Placeholder 2"/>
          <p:cNvSpPr>
            <a:spLocks noGrp="1" noRot="1" noChangeAspect="1" noChangeArrowheads="1" noTextEdit="1"/>
          </p:cNvSpPr>
          <p:nvPr>
            <p:ph type="sldImg"/>
          </p:nvPr>
        </p:nvSpPr>
        <p:spPr>
          <a:ln/>
        </p:spPr>
      </p:sp>
      <p:sp>
        <p:nvSpPr>
          <p:cNvPr id="69634" name="Placeholder 3"/>
          <p:cNvSpPr>
            <a:spLocks noGrp="1" noChangeArrowheads="1"/>
          </p:cNvSpPr>
          <p:nvPr>
            <p:ph type="body" idx="1"/>
          </p:nvPr>
        </p:nvSpPr>
        <p:spPr>
          <a:noFill/>
          <a:ln/>
        </p:spPr>
        <p:txBody>
          <a:bodyPr/>
          <a:lstStyle/>
          <a:p>
            <a:endParaRPr lang="en-AU" smtClean="0">
              <a:latin typeface="Times"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a:ln/>
        </p:spPr>
      </p:sp>
      <p:sp>
        <p:nvSpPr>
          <p:cNvPr id="71682"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p:spPr>
        <p:txBody>
          <a:bodyPr/>
          <a:lstStyle/>
          <a:p>
            <a:pPr algn="ctr" eaLnBrk="0" hangingPunct="0"/>
            <a:fld id="{C7F8BBC6-CB8D-4218-87BB-A8D1EEAB6952}" type="slidenum">
              <a:rPr lang="en-US" smtClean="0">
                <a:latin typeface="Arial" pitchFamily="34" charset="0"/>
              </a:rPr>
              <a:pPr algn="ctr" eaLnBrk="0" hangingPunct="0"/>
              <a:t>17</a:t>
            </a:fld>
            <a:endParaRPr lang="en-US" smtClean="0">
              <a:latin typeface="Arial" pitchFamily="34" charset="0"/>
            </a:endParaRPr>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p:spPr>
        <p:txBody>
          <a:bodyPr/>
          <a:lstStyle/>
          <a:p>
            <a:r>
              <a:rPr lang="en-US" dirty="0" smtClean="0">
                <a:latin typeface="Times" pitchFamily="18" charset="0"/>
              </a:rPr>
              <a:t>This is a sequence to discuss the time series.</a:t>
            </a:r>
          </a:p>
          <a:p>
            <a:r>
              <a:rPr lang="en-US" dirty="0" smtClean="0">
                <a:latin typeface="Times" pitchFamily="18" charset="0"/>
              </a:rPr>
              <a:t>It opens with the </a:t>
            </a:r>
            <a:r>
              <a:rPr lang="en-US" dirty="0" err="1" smtClean="0">
                <a:latin typeface="Times" pitchFamily="18" charset="0"/>
              </a:rPr>
              <a:t>queryInfo</a:t>
            </a:r>
            <a:r>
              <a:rPr lang="en-US" dirty="0" smtClean="0">
                <a:latin typeface="Times" pitchFamily="18" charset="0"/>
              </a:rPr>
              <a:t>, which is in all responses.</a:t>
            </a:r>
          </a:p>
          <a:p>
            <a:r>
              <a:rPr lang="en-US" dirty="0" smtClean="0">
                <a:latin typeface="Times" pitchFamily="18" charset="0"/>
              </a:rPr>
              <a:t>Next is the </a:t>
            </a:r>
            <a:r>
              <a:rPr lang="en-US" dirty="0" err="1" smtClean="0">
                <a:latin typeface="Times" pitchFamily="18" charset="0"/>
              </a:rPr>
              <a:t>sourceInfo</a:t>
            </a:r>
            <a:r>
              <a:rPr lang="en-US" dirty="0" smtClean="0">
                <a:latin typeface="Times" pitchFamily="18" charset="0"/>
              </a:rPr>
              <a:t>. The </a:t>
            </a:r>
            <a:r>
              <a:rPr lang="en-US" dirty="0" err="1" smtClean="0">
                <a:latin typeface="Times" pitchFamily="18" charset="0"/>
              </a:rPr>
              <a:t>sourceInfo</a:t>
            </a:r>
            <a:r>
              <a:rPr lang="en-US" dirty="0" smtClean="0">
                <a:latin typeface="Times" pitchFamily="18" charset="0"/>
              </a:rPr>
              <a:t> is polymorphic. It can also be a dataset, which is used when returning information from </a:t>
            </a:r>
            <a:r>
              <a:rPr lang="en-US" dirty="0" err="1" smtClean="0">
                <a:latin typeface="Times" pitchFamily="18" charset="0"/>
              </a:rPr>
              <a:t>datasources</a:t>
            </a:r>
            <a:r>
              <a:rPr lang="en-US" dirty="0" smtClean="0">
                <a:latin typeface="Times" pitchFamily="18" charset="0"/>
              </a:rPr>
              <a:t> like </a:t>
            </a:r>
            <a:r>
              <a:rPr lang="en-US" dirty="0" err="1" smtClean="0">
                <a:latin typeface="Times" pitchFamily="18" charset="0"/>
              </a:rPr>
              <a:t>DayMet</a:t>
            </a:r>
            <a:endParaRPr lang="en-US" dirty="0" smtClean="0">
              <a:latin typeface="Times" pitchFamily="18" charset="0"/>
            </a:endParaRPr>
          </a:p>
          <a:p>
            <a:r>
              <a:rPr lang="en-US" dirty="0" smtClean="0">
                <a:latin typeface="Times" pitchFamily="18" charset="0"/>
              </a:rPr>
              <a:t>Next is the Variable</a:t>
            </a:r>
          </a:p>
          <a:p>
            <a:r>
              <a:rPr lang="en-US" dirty="0" smtClean="0">
                <a:latin typeface="Times" pitchFamily="18" charset="0"/>
              </a:rPr>
              <a:t>The next clicks take you though the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a:ln/>
        </p:spPr>
      </p:sp>
      <p:sp>
        <p:nvSpPr>
          <p:cNvPr id="75778"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a:ln/>
        </p:spPr>
      </p:sp>
      <p:sp>
        <p:nvSpPr>
          <p:cNvPr id="77826"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ChangeArrowheads="1" noTextEdit="1"/>
          </p:cNvSpPr>
          <p:nvPr>
            <p:ph type="sldImg"/>
          </p:nvPr>
        </p:nvSpPr>
        <p:spPr>
          <a:ln/>
        </p:spPr>
      </p:sp>
      <p:sp>
        <p:nvSpPr>
          <p:cNvPr id="79874"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ChangeArrowheads="1" noTextEdit="1"/>
          </p:cNvSpPr>
          <p:nvPr>
            <p:ph type="sldImg"/>
          </p:nvPr>
        </p:nvSpPr>
        <p:spPr>
          <a:ln/>
        </p:spPr>
      </p:sp>
      <p:sp>
        <p:nvSpPr>
          <p:cNvPr id="81922"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Rot="1" noChangeAspect="1" noChangeArrowheads="1" noTextEdit="1"/>
          </p:cNvSpPr>
          <p:nvPr>
            <p:ph type="sldImg"/>
          </p:nvPr>
        </p:nvSpPr>
        <p:spPr>
          <a:ln/>
        </p:spPr>
      </p:sp>
      <p:sp>
        <p:nvSpPr>
          <p:cNvPr id="92162"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Rot="1" noChangeAspect="1" noChangeArrowheads="1" noTextEdit="1"/>
          </p:cNvSpPr>
          <p:nvPr>
            <p:ph type="sldImg"/>
          </p:nvPr>
        </p:nvSpPr>
        <p:spPr>
          <a:ln/>
        </p:spPr>
      </p:sp>
      <p:sp>
        <p:nvSpPr>
          <p:cNvPr id="94210"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Rot="1" noChangeAspect="1" noChangeArrowheads="1" noTextEdit="1"/>
          </p:cNvSpPr>
          <p:nvPr>
            <p:ph type="sldImg"/>
          </p:nvPr>
        </p:nvSpPr>
        <p:spPr>
          <a:ln/>
        </p:spPr>
      </p:sp>
      <p:sp>
        <p:nvSpPr>
          <p:cNvPr id="96258"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ln/>
        </p:spPr>
      </p:sp>
      <p:sp>
        <p:nvSpPr>
          <p:cNvPr id="100354" name="Rectangle 3"/>
          <p:cNvSpPr>
            <a:spLocks noGrp="1" noChangeArrowheads="1"/>
          </p:cNvSpPr>
          <p:nvPr>
            <p:ph type="body" idx="1"/>
          </p:nvPr>
        </p:nvSpPr>
        <p:spPr>
          <a:noFill/>
          <a:ln/>
        </p:spPr>
        <p:txBody>
          <a:bodyPr/>
          <a:lstStyle/>
          <a:p>
            <a:endParaRPr lang="en-AU"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5F5F4C-A440-496C-83A8-DCED2EDE314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660FAA-2DA9-4C61-B047-C2B58EE5498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D491141-4BCB-4756-9615-E60248691FA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5C5CBB2-32C4-4A4C-8C32-9754A378C7F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0DF8BF8-11FB-4898-B712-6F494B7514D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1A41D17-7138-4A7E-B9A6-88CA61871AE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5DF0A69-BAA5-4705-9237-353E18F290B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5770273-F2F0-4A74-A118-F0DEC261B74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5D20E12-13CB-460C-82B6-19B3FC27EFD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582A673-537C-4969-A9CD-454669EE7A9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BB1D86C-F509-4317-8C74-3BD14EE80D0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2688115-4127-47F6-8171-195F936C0EE9}"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CB978157-8333-48C5-B444-6E3E08EA86C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C720EB88-0CB2-4427-9161-1DD4CA6DA4E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2" r:id="rId2"/>
    <p:sldLayoutId id="2147483661" r:id="rId3"/>
    <p:sldLayoutId id="2147483660" r:id="rId4"/>
    <p:sldLayoutId id="2147483659" r:id="rId5"/>
    <p:sldLayoutId id="2147483658" r:id="rId6"/>
    <p:sldLayoutId id="2147483657" r:id="rId7"/>
    <p:sldLayoutId id="2147483656" r:id="rId8"/>
    <p:sldLayoutId id="2147483655" r:id="rId9"/>
    <p:sldLayoutId id="2147483654" r:id="rId10"/>
    <p:sldLayoutId id="2147483653" r:id="rId11"/>
    <p:sldLayoutId id="2147483652" r:id="rId12"/>
    <p:sldLayoutId id="214748365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25462"/>
            </a:gs>
          </a:gsLst>
          <a:lin ang="5400000" scaled="1"/>
        </a:gradFill>
        <a:effectLst/>
      </p:bgPr>
    </p:bg>
    <p:spTree>
      <p:nvGrpSpPr>
        <p:cNvPr id="1" name=""/>
        <p:cNvGrpSpPr/>
        <p:nvPr/>
      </p:nvGrpSpPr>
      <p:grpSpPr>
        <a:xfrm>
          <a:off x="0" y="0"/>
          <a:ext cx="0" cy="0"/>
          <a:chOff x="0" y="0"/>
          <a:chExt cx="0" cy="0"/>
        </a:xfrm>
      </p:grpSpPr>
      <p:sp>
        <p:nvSpPr>
          <p:cNvPr id="103427" name="Rectangle 153"/>
          <p:cNvSpPr>
            <a:spLocks noGrp="1" noRot="1" noChangeArrowheads="1"/>
          </p:cNvSpPr>
          <p:nvPr>
            <p:ph type="title"/>
          </p:nvPr>
        </p:nvSpPr>
        <p:spPr bwMode="auto">
          <a:xfrm>
            <a:off x="301625" y="228600"/>
            <a:ext cx="85407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3428" name="Rectangle 157"/>
          <p:cNvSpPr>
            <a:spLocks noGrp="1" noRot="1" noChangeArrowheads="1"/>
          </p:cNvSpPr>
          <p:nvPr>
            <p:ph type="body" idx="1"/>
          </p:nvPr>
        </p:nvSpPr>
        <p:spPr bwMode="auto">
          <a:xfrm>
            <a:off x="301625" y="1600200"/>
            <a:ext cx="8540750" cy="449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66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itchFamily="34" charset="0"/>
        </a:defRPr>
      </a:lvl2pPr>
      <a:lvl3pPr algn="ctr" rtl="0" eaLnBrk="0" fontAlgn="base" hangingPunct="0">
        <a:spcBef>
          <a:spcPct val="0"/>
        </a:spcBef>
        <a:spcAft>
          <a:spcPct val="0"/>
        </a:spcAft>
        <a:defRPr sz="4400">
          <a:solidFill>
            <a:schemeClr val="tx2"/>
          </a:solidFill>
          <a:latin typeface="Tahoma" pitchFamily="34" charset="0"/>
        </a:defRPr>
      </a:lvl3pPr>
      <a:lvl4pPr algn="ctr" rtl="0" eaLnBrk="0" fontAlgn="base" hangingPunct="0">
        <a:spcBef>
          <a:spcPct val="0"/>
        </a:spcBef>
        <a:spcAft>
          <a:spcPct val="0"/>
        </a:spcAft>
        <a:defRPr sz="4400">
          <a:solidFill>
            <a:schemeClr val="tx2"/>
          </a:solidFill>
          <a:latin typeface="Tahoma" pitchFamily="34" charset="0"/>
        </a:defRPr>
      </a:lvl4pPr>
      <a:lvl5pPr algn="ctr" rtl="0" eaLnBrk="0" fontAlgn="base" hangingPunct="0">
        <a:spcBef>
          <a:spcPct val="0"/>
        </a:spcBef>
        <a:spcAft>
          <a:spcPct val="0"/>
        </a:spcAft>
        <a:defRPr sz="4400">
          <a:solidFill>
            <a:schemeClr val="tx2"/>
          </a:solidFill>
          <a:latin typeface="Tahoma" pitchFamily="34" charset="0"/>
        </a:defRPr>
      </a:lvl5pPr>
      <a:lvl6pPr marL="457200" algn="ctr" rtl="0" eaLnBrk="0" fontAlgn="base" hangingPunct="0">
        <a:spcBef>
          <a:spcPct val="0"/>
        </a:spcBef>
        <a:spcAft>
          <a:spcPct val="0"/>
        </a:spcAft>
        <a:defRPr sz="4400">
          <a:solidFill>
            <a:schemeClr val="tx2"/>
          </a:solidFill>
          <a:latin typeface="Tahoma" pitchFamily="34" charset="0"/>
        </a:defRPr>
      </a:lvl6pPr>
      <a:lvl7pPr marL="914400" algn="ctr" rtl="0" eaLnBrk="0" fontAlgn="base" hangingPunct="0">
        <a:spcBef>
          <a:spcPct val="0"/>
        </a:spcBef>
        <a:spcAft>
          <a:spcPct val="0"/>
        </a:spcAft>
        <a:defRPr sz="4400">
          <a:solidFill>
            <a:schemeClr val="tx2"/>
          </a:solidFill>
          <a:latin typeface="Tahoma" pitchFamily="34" charset="0"/>
        </a:defRPr>
      </a:lvl7pPr>
      <a:lvl8pPr marL="1371600" algn="ctr" rtl="0" eaLnBrk="0" fontAlgn="base" hangingPunct="0">
        <a:spcBef>
          <a:spcPct val="0"/>
        </a:spcBef>
        <a:spcAft>
          <a:spcPct val="0"/>
        </a:spcAft>
        <a:defRPr sz="4400">
          <a:solidFill>
            <a:schemeClr val="tx2"/>
          </a:solidFill>
          <a:latin typeface="Tahoma" pitchFamily="34" charset="0"/>
        </a:defRPr>
      </a:lvl8pPr>
      <a:lvl9pPr marL="1828800" algn="ctr" rtl="0" eaLnBrk="0" fontAlgn="base" hangingPunct="0">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80000"/>
        <a:buFont typeface="Arial"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80000"/>
        <a:buFont typeface="Arial" pitchFamily="34" charset="0"/>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80000"/>
        <a:buFont typeface="Arial" pitchFamily="34" charset="0"/>
        <a:buChar char="►"/>
        <a:defRPr sz="2000">
          <a:solidFill>
            <a:schemeClr val="tx1"/>
          </a:solidFill>
          <a:latin typeface="+mn-lt"/>
        </a:defRPr>
      </a:lvl5pPr>
      <a:lvl6pPr marL="25146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6pPr>
      <a:lvl7pPr marL="29718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7pPr>
      <a:lvl8pPr marL="34290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8pPr>
      <a:lvl9pPr marL="38862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hiscentral.cuahsi.org/" TargetMode="External"/><Relationship Id="rId3" Type="http://schemas.openxmlformats.org/officeDocument/2006/relationships/image" Target="../media/image1.jpeg"/><Relationship Id="rId7" Type="http://schemas.openxmlformats.org/officeDocument/2006/relationships/hyperlink" Target="http://his.cuahsi.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hyperlink" Target="http://images.google.com/imgres?imgurl=http://moat.nlanr.net/Workshops/HPIIS-2001/sdsc_logo.gif&amp;imgrefurl=http://moat.nlanr.net/Workshops/HPIIS-2001/&amp;h=73&amp;w=158&amp;sz=3&amp;hl=en&amp;start=8&amp;um=1&amp;tbnid=zTbA6qFh_r1TAM:&amp;tbnh=45&amp;tbnw=97&amp;prev=/images?q=sdsc+logo&amp;svnum=10&amp;um=1&amp;hl=en&amp;rls=GFRC,GFRC:2006-50,GFRC:en&amp;sa=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emf"/><Relationship Id="rId18" Type="http://schemas.openxmlformats.org/officeDocument/2006/relationships/image" Target="../media/image20.jpeg"/><Relationship Id="rId3" Type="http://schemas.openxmlformats.org/officeDocument/2006/relationships/notesSlide" Target="../notesSlides/notesSlide3.xml"/><Relationship Id="rId21" Type="http://schemas.openxmlformats.org/officeDocument/2006/relationships/image" Target="../media/image21.jpeg"/><Relationship Id="rId7" Type="http://schemas.openxmlformats.org/officeDocument/2006/relationships/image" Target="../media/image9.png"/><Relationship Id="rId12" Type="http://schemas.openxmlformats.org/officeDocument/2006/relationships/image" Target="../media/image14.emf"/><Relationship Id="rId17" Type="http://schemas.openxmlformats.org/officeDocument/2006/relationships/image" Target="../media/image19.jpeg"/><Relationship Id="rId2" Type="http://schemas.openxmlformats.org/officeDocument/2006/relationships/slideLayout" Target="../slideLayouts/slideLayout7.xml"/><Relationship Id="rId16" Type="http://schemas.openxmlformats.org/officeDocument/2006/relationships/image" Target="../media/image18.emf"/><Relationship Id="rId20" Type="http://schemas.openxmlformats.org/officeDocument/2006/relationships/hyperlink" Target="http://www.antweb.org/images/google_earth_4.jpg" TargetMode="External"/><Relationship Id="rId1" Type="http://schemas.openxmlformats.org/officeDocument/2006/relationships/vmlDrawing" Target="../drawings/vmlDrawing1.vml"/><Relationship Id="rId6" Type="http://schemas.openxmlformats.org/officeDocument/2006/relationships/image" Target="../media/image8.png"/><Relationship Id="rId11" Type="http://schemas.openxmlformats.org/officeDocument/2006/relationships/image" Target="../media/image13.emf"/><Relationship Id="rId24" Type="http://schemas.openxmlformats.org/officeDocument/2006/relationships/image" Target="../media/image24.png"/><Relationship Id="rId5" Type="http://schemas.openxmlformats.org/officeDocument/2006/relationships/image" Target="../media/image7.png"/><Relationship Id="rId15" Type="http://schemas.openxmlformats.org/officeDocument/2006/relationships/image" Target="../media/image17.emf"/><Relationship Id="rId23" Type="http://schemas.openxmlformats.org/officeDocument/2006/relationships/image" Target="../media/image23.png"/><Relationship Id="rId10" Type="http://schemas.openxmlformats.org/officeDocument/2006/relationships/image" Target="../media/image12.emf"/><Relationship Id="rId19" Type="http://schemas.openxmlformats.org/officeDocument/2006/relationships/oleObject" Target="../embeddings/oleObject1.bin"/><Relationship Id="rId4" Type="http://schemas.openxmlformats.org/officeDocument/2006/relationships/image" Target="../media/image6.png"/><Relationship Id="rId9" Type="http://schemas.openxmlformats.org/officeDocument/2006/relationships/image" Target="../media/image11.emf"/><Relationship Id="rId14" Type="http://schemas.openxmlformats.org/officeDocument/2006/relationships/image" Target="../media/image16.emf"/><Relationship Id="rId22"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hyperlink" Target="http://river.sdsc.edu/wiki/HIS%20Desktop%20Database.ashx" TargetMode="External"/><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ctrTitle"/>
          </p:nvPr>
        </p:nvSpPr>
        <p:spPr>
          <a:xfrm>
            <a:off x="228600" y="1447800"/>
            <a:ext cx="8534400" cy="1470025"/>
          </a:xfrm>
        </p:spPr>
        <p:txBody>
          <a:bodyPr/>
          <a:lstStyle/>
          <a:p>
            <a:r>
              <a:rPr lang="en-US" dirty="0" smtClean="0"/>
              <a:t>Time series management in </a:t>
            </a:r>
            <a:r>
              <a:rPr lang="en-US" dirty="0" err="1" smtClean="0"/>
              <a:t>WaterML</a:t>
            </a:r>
            <a:r>
              <a:rPr lang="en-US" dirty="0" smtClean="0"/>
              <a:t> 1.1 and </a:t>
            </a:r>
            <a:br>
              <a:rPr lang="en-US" dirty="0" smtClean="0"/>
            </a:br>
            <a:r>
              <a:rPr lang="en-US" dirty="0" smtClean="0"/>
              <a:t>CUAHSI Water Data Services</a:t>
            </a:r>
            <a:br>
              <a:rPr lang="en-US" dirty="0" smtClean="0"/>
            </a:br>
            <a:endParaRPr lang="en-US" b="1" dirty="0" smtClean="0"/>
          </a:p>
        </p:txBody>
      </p:sp>
      <p:sp>
        <p:nvSpPr>
          <p:cNvPr id="30722" name="Rectangle 3"/>
          <p:cNvSpPr>
            <a:spLocks noGrp="1" noChangeArrowheads="1"/>
          </p:cNvSpPr>
          <p:nvPr>
            <p:ph type="subTitle" idx="1"/>
          </p:nvPr>
        </p:nvSpPr>
        <p:spPr>
          <a:xfrm>
            <a:off x="914400" y="3810000"/>
            <a:ext cx="6858000" cy="1447800"/>
          </a:xfrm>
        </p:spPr>
        <p:txBody>
          <a:bodyPr/>
          <a:lstStyle/>
          <a:p>
            <a:pPr>
              <a:lnSpc>
                <a:spcPct val="85000"/>
              </a:lnSpc>
            </a:pPr>
            <a:r>
              <a:rPr lang="en-US" sz="1800" dirty="0" smtClean="0"/>
              <a:t>David Valentine, </a:t>
            </a:r>
            <a:r>
              <a:rPr lang="en-US" sz="1800" dirty="0" err="1" smtClean="0"/>
              <a:t>Ilya</a:t>
            </a:r>
            <a:r>
              <a:rPr lang="en-US" sz="1800" dirty="0" smtClean="0"/>
              <a:t> </a:t>
            </a:r>
            <a:r>
              <a:rPr lang="en-US" sz="1800" dirty="0" err="1" smtClean="0"/>
              <a:t>Zaslavsky</a:t>
            </a:r>
            <a:endParaRPr lang="en-US" sz="1800" dirty="0" smtClean="0"/>
          </a:p>
          <a:p>
            <a:pPr>
              <a:lnSpc>
                <a:spcPct val="85000"/>
              </a:lnSpc>
            </a:pPr>
            <a:endParaRPr lang="en-US" sz="1800" dirty="0" smtClean="0"/>
          </a:p>
          <a:p>
            <a:pPr>
              <a:lnSpc>
                <a:spcPct val="85000"/>
              </a:lnSpc>
            </a:pPr>
            <a:r>
              <a:rPr lang="en-US" sz="1800" dirty="0" smtClean="0"/>
              <a:t> Spatial Information Systems Lab</a:t>
            </a:r>
          </a:p>
          <a:p>
            <a:pPr>
              <a:lnSpc>
                <a:spcPct val="85000"/>
              </a:lnSpc>
            </a:pPr>
            <a:r>
              <a:rPr lang="en-US" sz="1800" dirty="0" smtClean="0"/>
              <a:t>San Diego Supercomputer Center</a:t>
            </a:r>
          </a:p>
          <a:p>
            <a:pPr>
              <a:lnSpc>
                <a:spcPct val="85000"/>
              </a:lnSpc>
            </a:pPr>
            <a:r>
              <a:rPr lang="en-US" sz="1800" dirty="0" smtClean="0"/>
              <a:t>UCSD</a:t>
            </a:r>
          </a:p>
        </p:txBody>
      </p:sp>
      <p:pic>
        <p:nvPicPr>
          <p:cNvPr id="30723" name="Picture 410" descr="logo"/>
          <p:cNvPicPr>
            <a:picLocks noChangeAspect="1" noChangeArrowheads="1"/>
          </p:cNvPicPr>
          <p:nvPr/>
        </p:nvPicPr>
        <p:blipFill>
          <a:blip r:embed="rId3" cstate="print"/>
          <a:srcRect/>
          <a:stretch>
            <a:fillRect/>
          </a:stretch>
        </p:blipFill>
        <p:spPr bwMode="auto">
          <a:xfrm>
            <a:off x="6629400" y="3886200"/>
            <a:ext cx="2157413" cy="649288"/>
          </a:xfrm>
          <a:prstGeom prst="rect">
            <a:avLst/>
          </a:prstGeom>
          <a:noFill/>
          <a:ln w="9525">
            <a:noFill/>
            <a:miter lim="800000"/>
            <a:headEnd/>
            <a:tailEnd/>
          </a:ln>
        </p:spPr>
      </p:pic>
      <p:pic>
        <p:nvPicPr>
          <p:cNvPr id="30724" name="Picture 418" descr="sdsc_logo">
            <a:hlinkClick r:id="rId4"/>
          </p:cNvPr>
          <p:cNvPicPr>
            <a:picLocks noChangeAspect="1" noChangeArrowheads="1"/>
          </p:cNvPicPr>
          <p:nvPr/>
        </p:nvPicPr>
        <p:blipFill>
          <a:blip r:embed="rId5" cstate="print"/>
          <a:srcRect/>
          <a:stretch>
            <a:fillRect/>
          </a:stretch>
        </p:blipFill>
        <p:spPr bwMode="auto">
          <a:xfrm>
            <a:off x="6858000" y="4800600"/>
            <a:ext cx="1920875" cy="890588"/>
          </a:xfrm>
          <a:prstGeom prst="rect">
            <a:avLst/>
          </a:prstGeom>
          <a:noFill/>
          <a:ln w="9525">
            <a:noFill/>
            <a:miter lim="800000"/>
            <a:headEnd/>
            <a:tailEnd/>
          </a:ln>
        </p:spPr>
      </p:pic>
      <p:pic>
        <p:nvPicPr>
          <p:cNvPr id="30725" name="Picture 412" descr="sponsor_1"/>
          <p:cNvPicPr>
            <a:picLocks noChangeAspect="1" noChangeArrowheads="1"/>
          </p:cNvPicPr>
          <p:nvPr/>
        </p:nvPicPr>
        <p:blipFill>
          <a:blip r:embed="rId6" cstate="print"/>
          <a:srcRect/>
          <a:stretch>
            <a:fillRect/>
          </a:stretch>
        </p:blipFill>
        <p:spPr bwMode="auto">
          <a:xfrm>
            <a:off x="457200" y="3810000"/>
            <a:ext cx="1371600" cy="1371600"/>
          </a:xfrm>
          <a:prstGeom prst="rect">
            <a:avLst/>
          </a:prstGeom>
          <a:noFill/>
          <a:ln w="9525">
            <a:noFill/>
            <a:miter lim="800000"/>
            <a:headEnd/>
            <a:tailEnd/>
          </a:ln>
        </p:spPr>
      </p:pic>
      <p:sp>
        <p:nvSpPr>
          <p:cNvPr id="30726" name="TextBox 10"/>
          <p:cNvSpPr txBox="1">
            <a:spLocks noChangeArrowheads="1"/>
          </p:cNvSpPr>
          <p:nvPr/>
        </p:nvSpPr>
        <p:spPr bwMode="auto">
          <a:xfrm>
            <a:off x="2199343" y="6473825"/>
            <a:ext cx="4600875" cy="307777"/>
          </a:xfrm>
          <a:prstGeom prst="rect">
            <a:avLst/>
          </a:prstGeom>
          <a:noFill/>
          <a:ln w="9525">
            <a:noFill/>
            <a:miter lim="800000"/>
            <a:headEnd/>
            <a:tailEnd/>
          </a:ln>
        </p:spPr>
        <p:txBody>
          <a:bodyPr wrap="none">
            <a:spAutoFit/>
          </a:bodyPr>
          <a:lstStyle/>
          <a:p>
            <a:pPr algn="ctr"/>
            <a:r>
              <a:rPr lang="en-US" sz="1400" dirty="0" smtClean="0"/>
              <a:t>Hydrology DWG, OGC TC meeting,  Boston, June 2009</a:t>
            </a:r>
            <a:endParaRPr lang="en-US" sz="1400" dirty="0"/>
          </a:p>
        </p:txBody>
      </p:sp>
      <p:cxnSp>
        <p:nvCxnSpPr>
          <p:cNvPr id="30727" name="Straight Connector 12"/>
          <p:cNvCxnSpPr>
            <a:cxnSpLocks noChangeShapeType="1"/>
          </p:cNvCxnSpPr>
          <p:nvPr/>
        </p:nvCxnSpPr>
        <p:spPr bwMode="auto">
          <a:xfrm>
            <a:off x="152400" y="6399213"/>
            <a:ext cx="8763000" cy="1587"/>
          </a:xfrm>
          <a:prstGeom prst="line">
            <a:avLst/>
          </a:prstGeom>
          <a:noFill/>
          <a:ln w="9525" algn="ctr">
            <a:solidFill>
              <a:schemeClr val="tx1"/>
            </a:solidFill>
            <a:round/>
            <a:headEnd/>
            <a:tailEnd/>
          </a:ln>
        </p:spPr>
      </p:cxnSp>
      <p:sp>
        <p:nvSpPr>
          <p:cNvPr id="30728" name="TextBox 13"/>
          <p:cNvSpPr txBox="1">
            <a:spLocks noChangeArrowheads="1"/>
          </p:cNvSpPr>
          <p:nvPr/>
        </p:nvSpPr>
        <p:spPr bwMode="auto">
          <a:xfrm>
            <a:off x="457200" y="5602069"/>
            <a:ext cx="2877711" cy="646331"/>
          </a:xfrm>
          <a:prstGeom prst="rect">
            <a:avLst/>
          </a:prstGeom>
          <a:noFill/>
          <a:ln w="9525">
            <a:noFill/>
            <a:miter lim="800000"/>
            <a:headEnd/>
            <a:tailEnd/>
          </a:ln>
        </p:spPr>
        <p:txBody>
          <a:bodyPr wrap="none">
            <a:spAutoFit/>
          </a:bodyPr>
          <a:lstStyle/>
          <a:p>
            <a:r>
              <a:rPr lang="en-US" dirty="0">
                <a:hlinkClick r:id="rId7"/>
              </a:rPr>
              <a:t>http://his.cuahsi.org</a:t>
            </a:r>
            <a:endParaRPr lang="en-US" dirty="0"/>
          </a:p>
          <a:p>
            <a:r>
              <a:rPr lang="en-US" dirty="0">
                <a:hlinkClick r:id="rId8"/>
              </a:rPr>
              <a:t>http://</a:t>
            </a:r>
            <a:r>
              <a:rPr lang="en-US" dirty="0" smtClean="0">
                <a:hlinkClick r:id="rId8"/>
              </a:rPr>
              <a:t>hiscentral.cuahsi.org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6"/>
          <p:cNvPicPr>
            <a:picLocks noChangeAspect="1" noChangeArrowheads="1"/>
          </p:cNvPicPr>
          <p:nvPr/>
        </p:nvPicPr>
        <p:blipFill>
          <a:blip r:embed="rId3" cstate="print"/>
          <a:srcRect t="12283" b="2437"/>
          <a:stretch>
            <a:fillRect/>
          </a:stretch>
        </p:blipFill>
        <p:spPr bwMode="auto">
          <a:xfrm>
            <a:off x="152400" y="1066800"/>
            <a:ext cx="5715000" cy="4495800"/>
          </a:xfrm>
          <a:prstGeom prst="rect">
            <a:avLst/>
          </a:prstGeom>
          <a:noFill/>
          <a:ln w="9525">
            <a:noFill/>
            <a:miter lim="800000"/>
            <a:headEnd/>
            <a:tailEnd/>
          </a:ln>
        </p:spPr>
      </p:pic>
      <p:sp>
        <p:nvSpPr>
          <p:cNvPr id="35842" name="Rectangle 3"/>
          <p:cNvSpPr>
            <a:spLocks noChangeArrowheads="1"/>
          </p:cNvSpPr>
          <p:nvPr/>
        </p:nvSpPr>
        <p:spPr bwMode="auto">
          <a:xfrm>
            <a:off x="5791200" y="1219200"/>
            <a:ext cx="3352800" cy="4062651"/>
          </a:xfrm>
          <a:prstGeom prst="rect">
            <a:avLst/>
          </a:prstGeom>
          <a:noFill/>
          <a:ln w="9525">
            <a:noFill/>
            <a:miter lim="800000"/>
            <a:headEnd/>
            <a:tailEnd/>
          </a:ln>
        </p:spPr>
        <p:txBody>
          <a:bodyPr>
            <a:spAutoFit/>
          </a:bodyPr>
          <a:lstStyle/>
          <a:p>
            <a:r>
              <a:rPr lang="en-US" b="1" dirty="0">
                <a:solidFill>
                  <a:srgbClr val="FF0000"/>
                </a:solidFill>
              </a:rPr>
              <a:t>CUAHSI HIS</a:t>
            </a:r>
            <a:r>
              <a:rPr lang="en-US" dirty="0"/>
              <a:t>: NSF </a:t>
            </a:r>
            <a:r>
              <a:rPr lang="en-US" dirty="0" smtClean="0"/>
              <a:t>support (GEO)</a:t>
            </a:r>
            <a:endParaRPr lang="en-US" dirty="0"/>
          </a:p>
          <a:p>
            <a:endParaRPr lang="en-US" sz="600" dirty="0"/>
          </a:p>
          <a:p>
            <a:r>
              <a:rPr lang="en-US" b="1" dirty="0">
                <a:solidFill>
                  <a:srgbClr val="FF0000"/>
                </a:solidFill>
              </a:rPr>
              <a:t>Partners:</a:t>
            </a:r>
          </a:p>
          <a:p>
            <a:r>
              <a:rPr lang="en-US" b="1" dirty="0">
                <a:solidFill>
                  <a:srgbClr val="3333CC"/>
                </a:solidFill>
              </a:rPr>
              <a:t>Academic</a:t>
            </a:r>
            <a:r>
              <a:rPr lang="en-US" dirty="0"/>
              <a:t>:  11 NSF hydrologic observatories, CEO:P projects, LTER…</a:t>
            </a:r>
          </a:p>
          <a:p>
            <a:r>
              <a:rPr lang="en-US" b="1" dirty="0">
                <a:solidFill>
                  <a:srgbClr val="3333CC"/>
                </a:solidFill>
              </a:rPr>
              <a:t>Government</a:t>
            </a:r>
            <a:r>
              <a:rPr lang="en-US" dirty="0"/>
              <a:t>: USGS, EPA, NCDC, NWS, state  and local</a:t>
            </a:r>
          </a:p>
          <a:p>
            <a:r>
              <a:rPr lang="en-US" b="1" dirty="0">
                <a:solidFill>
                  <a:srgbClr val="3333CC"/>
                </a:solidFill>
              </a:rPr>
              <a:t>Commercial</a:t>
            </a:r>
            <a:r>
              <a:rPr lang="en-US" dirty="0"/>
              <a:t>: Microsoft, ESRI, </a:t>
            </a:r>
            <a:r>
              <a:rPr lang="en-US" dirty="0" err="1"/>
              <a:t>Kisters</a:t>
            </a:r>
            <a:endParaRPr lang="en-US" dirty="0"/>
          </a:p>
          <a:p>
            <a:r>
              <a:rPr lang="en-US" b="1" dirty="0">
                <a:solidFill>
                  <a:srgbClr val="3333CC"/>
                </a:solidFill>
              </a:rPr>
              <a:t>International</a:t>
            </a:r>
            <a:r>
              <a:rPr lang="en-US" dirty="0"/>
              <a:t>: Australia, UK</a:t>
            </a:r>
          </a:p>
          <a:p>
            <a:r>
              <a:rPr lang="en-US" b="1" dirty="0">
                <a:solidFill>
                  <a:srgbClr val="3333CC"/>
                </a:solidFill>
              </a:rPr>
              <a:t>Standardization</a:t>
            </a:r>
            <a:r>
              <a:rPr lang="en-US" dirty="0"/>
              <a:t>: OGC, WMO (Hydrology Domain WG, </a:t>
            </a:r>
            <a:r>
              <a:rPr lang="en-US" dirty="0" err="1"/>
              <a:t>CHy</a:t>
            </a:r>
            <a:r>
              <a:rPr lang="en-US" dirty="0"/>
              <a:t>); adopted by USGS, NCDC</a:t>
            </a:r>
          </a:p>
        </p:txBody>
      </p:sp>
      <p:sp>
        <p:nvSpPr>
          <p:cNvPr id="35843" name="TextBox 4"/>
          <p:cNvSpPr txBox="1">
            <a:spLocks noChangeArrowheads="1"/>
          </p:cNvSpPr>
          <p:nvPr/>
        </p:nvSpPr>
        <p:spPr bwMode="auto">
          <a:xfrm>
            <a:off x="304800" y="5781675"/>
            <a:ext cx="8229600" cy="923925"/>
          </a:xfrm>
          <a:prstGeom prst="rect">
            <a:avLst/>
          </a:prstGeom>
          <a:solidFill>
            <a:srgbClr val="FFFF99"/>
          </a:solidFill>
          <a:ln w="9525">
            <a:noFill/>
            <a:miter lim="800000"/>
            <a:headEnd/>
            <a:tailEnd/>
          </a:ln>
        </p:spPr>
        <p:txBody>
          <a:bodyPr>
            <a:spAutoFit/>
          </a:bodyPr>
          <a:lstStyle/>
          <a:p>
            <a:pPr algn="ctr"/>
            <a:r>
              <a:rPr lang="en-US"/>
              <a:t>An online distributed system to support the </a:t>
            </a:r>
            <a:r>
              <a:rPr lang="en-US">
                <a:solidFill>
                  <a:srgbClr val="FF0000"/>
                </a:solidFill>
              </a:rPr>
              <a:t>sharing of hydrologic data</a:t>
            </a:r>
            <a:r>
              <a:rPr lang="en-US"/>
              <a:t> from multiple repositories and databases via standard </a:t>
            </a:r>
            <a:r>
              <a:rPr lang="en-US">
                <a:solidFill>
                  <a:srgbClr val="FF0000"/>
                </a:solidFill>
              </a:rPr>
              <a:t>water data service</a:t>
            </a:r>
            <a:r>
              <a:rPr lang="en-US"/>
              <a:t> protocols; software for data </a:t>
            </a:r>
            <a:r>
              <a:rPr lang="en-US">
                <a:solidFill>
                  <a:srgbClr val="FF0000"/>
                </a:solidFill>
              </a:rPr>
              <a:t>publication, discovery, access and integration</a:t>
            </a:r>
            <a:r>
              <a:rPr lang="en-US"/>
              <a:t>.</a:t>
            </a:r>
          </a:p>
        </p:txBody>
      </p:sp>
      <p:sp>
        <p:nvSpPr>
          <p:cNvPr id="8" name="Rectangle 2"/>
          <p:cNvSpPr txBox="1">
            <a:spLocks noChangeArrowheads="1"/>
          </p:cNvSpPr>
          <p:nvPr/>
        </p:nvSpPr>
        <p:spPr bwMode="auto">
          <a:xfrm>
            <a:off x="457200" y="198438"/>
            <a:ext cx="8229600" cy="715962"/>
          </a:xfrm>
          <a:prstGeom prst="rect">
            <a:avLst/>
          </a:prstGeom>
          <a:noFill/>
          <a:ln w="9525">
            <a:noFill/>
            <a:miter lim="800000"/>
            <a:headEnd/>
            <a:tailEnd/>
          </a:ln>
        </p:spPr>
        <p:txBody>
          <a:bodyPr anchor="ctr"/>
          <a:lstStyle/>
          <a:p>
            <a:pPr algn="ctr">
              <a:defRPr/>
            </a:pPr>
            <a:r>
              <a:rPr lang="en-US" sz="4000" kern="0" dirty="0">
                <a:solidFill>
                  <a:schemeClr val="tx2"/>
                </a:solidFill>
                <a:latin typeface="+mj-lt"/>
                <a:ea typeface="+mj-ea"/>
                <a:cs typeface="+mj-cs"/>
              </a:rPr>
              <a:t>What is the CUAHSI HIS?</a:t>
            </a:r>
          </a:p>
        </p:txBody>
      </p:sp>
    </p:spTree>
  </p:cSld>
  <p:clrMapOvr>
    <a:masterClrMapping/>
  </p:clrMapOvr>
  <p:transition advTm="564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r>
              <a:rPr lang="en-US" dirty="0" smtClean="0"/>
              <a:t>How you create an information system where…</a:t>
            </a:r>
            <a:br>
              <a:rPr lang="en-US" dirty="0" smtClean="0"/>
            </a:br>
            <a:endParaRPr lang="en-US" dirty="0"/>
          </a:p>
        </p:txBody>
      </p:sp>
      <p:sp>
        <p:nvSpPr>
          <p:cNvPr id="3" name="Content Placeholder 2"/>
          <p:cNvSpPr>
            <a:spLocks noGrp="1"/>
          </p:cNvSpPr>
          <p:nvPr>
            <p:ph idx="1"/>
          </p:nvPr>
        </p:nvSpPr>
        <p:spPr>
          <a:xfrm>
            <a:off x="228600" y="1447800"/>
            <a:ext cx="8763000" cy="5410200"/>
          </a:xfrm>
        </p:spPr>
        <p:txBody>
          <a:bodyPr>
            <a:normAutofit fontScale="62500" lnSpcReduction="20000"/>
          </a:bodyPr>
          <a:lstStyle/>
          <a:p>
            <a:r>
              <a:rPr lang="en-US" dirty="0" smtClean="0"/>
              <a:t>There are </a:t>
            </a:r>
            <a:r>
              <a:rPr lang="en-US" dirty="0" smtClean="0">
                <a:solidFill>
                  <a:srgbClr val="002060"/>
                </a:solidFill>
              </a:rPr>
              <a:t>N (widely distributed) sites </a:t>
            </a:r>
            <a:r>
              <a:rPr lang="en-US" dirty="0" smtClean="0"/>
              <a:t>that collect local data, possibly over time, organized in multiple observation networks</a:t>
            </a:r>
          </a:p>
          <a:p>
            <a:r>
              <a:rPr lang="en-US" dirty="0" smtClean="0"/>
              <a:t>Each site may collect a </a:t>
            </a:r>
            <a:r>
              <a:rPr lang="en-US" dirty="0" smtClean="0">
                <a:solidFill>
                  <a:srgbClr val="002060"/>
                </a:solidFill>
              </a:rPr>
              <a:t>different set of data variables </a:t>
            </a:r>
            <a:r>
              <a:rPr lang="en-US" dirty="0" err="1" smtClean="0"/>
              <a:t>V</a:t>
            </a:r>
            <a:r>
              <a:rPr lang="en-US" sz="2200" i="1" dirty="0" err="1" smtClean="0"/>
              <a:t>ij</a:t>
            </a:r>
            <a:endParaRPr lang="en-US" i="1" dirty="0" smtClean="0"/>
          </a:p>
          <a:p>
            <a:r>
              <a:rPr lang="en-US" dirty="0" smtClean="0"/>
              <a:t>Any </a:t>
            </a:r>
            <a:r>
              <a:rPr lang="en-US" dirty="0" err="1" smtClean="0"/>
              <a:t>V</a:t>
            </a:r>
            <a:r>
              <a:rPr lang="en-US" sz="2400" i="1" dirty="0" err="1" smtClean="0"/>
              <a:t>ij</a:t>
            </a:r>
            <a:r>
              <a:rPr lang="en-US" sz="3200" i="1" dirty="0" smtClean="0"/>
              <a:t> </a:t>
            </a:r>
            <a:r>
              <a:rPr lang="en-US" dirty="0" smtClean="0"/>
              <a:t>might come from </a:t>
            </a:r>
            <a:r>
              <a:rPr lang="en-US" dirty="0" smtClean="0">
                <a:solidFill>
                  <a:srgbClr val="002060"/>
                </a:solidFill>
              </a:rPr>
              <a:t>sensor streams, local stores, compiled archives</a:t>
            </a:r>
            <a:r>
              <a:rPr lang="en-US" dirty="0" smtClean="0"/>
              <a:t>, differently aggregated and accessed…</a:t>
            </a:r>
          </a:p>
          <a:p>
            <a:r>
              <a:rPr lang="en-US" dirty="0" smtClean="0"/>
              <a:t>The data collection points N </a:t>
            </a:r>
            <a:r>
              <a:rPr lang="en-US" dirty="0" smtClean="0">
                <a:solidFill>
                  <a:srgbClr val="002060"/>
                </a:solidFill>
              </a:rPr>
              <a:t>may be spatially related </a:t>
            </a:r>
            <a:r>
              <a:rPr lang="en-US" dirty="0" smtClean="0"/>
              <a:t>(e.g., in a river network, along a mountain ridge)</a:t>
            </a:r>
          </a:p>
          <a:p>
            <a:r>
              <a:rPr lang="en-US" dirty="0" smtClean="0"/>
              <a:t>Variables and values may be related through [evolving] </a:t>
            </a:r>
            <a:r>
              <a:rPr lang="en-US" dirty="0" err="1" smtClean="0">
                <a:solidFill>
                  <a:srgbClr val="002060"/>
                </a:solidFill>
              </a:rPr>
              <a:t>ontologies</a:t>
            </a:r>
            <a:endParaRPr lang="en-US" dirty="0" smtClean="0">
              <a:solidFill>
                <a:srgbClr val="002060"/>
              </a:solidFill>
            </a:endParaRPr>
          </a:p>
          <a:p>
            <a:r>
              <a:rPr lang="en-US" dirty="0" smtClean="0"/>
              <a:t>Queries will have </a:t>
            </a:r>
            <a:r>
              <a:rPr lang="en-US" dirty="0" smtClean="0">
                <a:solidFill>
                  <a:srgbClr val="002060"/>
                </a:solidFill>
              </a:rPr>
              <a:t>different spatiotemporal aggregate functions </a:t>
            </a:r>
            <a:r>
              <a:rPr lang="en-US" dirty="0" smtClean="0"/>
              <a:t>over data variables, and the spatial relationships across their sites</a:t>
            </a:r>
          </a:p>
          <a:p>
            <a:r>
              <a:rPr lang="en-US" dirty="0" smtClean="0"/>
              <a:t>The integration of data may need </a:t>
            </a:r>
            <a:r>
              <a:rPr lang="en-US" dirty="0" smtClean="0">
                <a:solidFill>
                  <a:srgbClr val="002060"/>
                </a:solidFill>
              </a:rPr>
              <a:t>variable reconciliation  </a:t>
            </a:r>
            <a:r>
              <a:rPr lang="en-US" dirty="0" smtClean="0"/>
              <a:t>and value reconciliation, </a:t>
            </a:r>
            <a:r>
              <a:rPr lang="en-US" dirty="0" err="1" smtClean="0"/>
              <a:t>spatio</a:t>
            </a:r>
            <a:r>
              <a:rPr lang="en-US" dirty="0" smtClean="0"/>
              <a:t>-temporal interpolation</a:t>
            </a:r>
          </a:p>
          <a:p>
            <a:r>
              <a:rPr lang="en-US" dirty="0" smtClean="0"/>
              <a:t>There are multiple </a:t>
            </a:r>
            <a:r>
              <a:rPr lang="en-US" dirty="0" smtClean="0">
                <a:solidFill>
                  <a:srgbClr val="002060"/>
                </a:solidFill>
              </a:rPr>
              <a:t>user roles, research scenarios, models</a:t>
            </a:r>
          </a:p>
          <a:p>
            <a:r>
              <a:rPr lang="en-US" dirty="0" smtClean="0"/>
              <a:t>Other types of information (e.g. remote sensing, climate change projections) are generated at different spatial and temporal resolution, and need to be </a:t>
            </a:r>
            <a:r>
              <a:rPr lang="en-US" dirty="0" smtClean="0">
                <a:solidFill>
                  <a:srgbClr val="002060"/>
                </a:solidFill>
              </a:rPr>
              <a:t>interoperable</a:t>
            </a:r>
            <a:r>
              <a:rPr lang="en-US" dirty="0" smtClean="0"/>
              <a:t>. Also: publications; multimedia; catalogs, web pages; policies and rules… </a:t>
            </a:r>
          </a:p>
          <a:p>
            <a:r>
              <a:rPr lang="en-US" dirty="0" smtClean="0"/>
              <a:t>… and there are </a:t>
            </a:r>
            <a:r>
              <a:rPr lang="en-US" dirty="0" smtClean="0">
                <a:solidFill>
                  <a:srgbClr val="002060"/>
                </a:solidFill>
              </a:rPr>
              <a:t>millions </a:t>
            </a:r>
            <a:r>
              <a:rPr lang="en-US" dirty="0" smtClean="0"/>
              <a:t>of catalog records, and TBs of data</a:t>
            </a:r>
          </a:p>
          <a:p>
            <a:r>
              <a:rPr lang="en-US" dirty="0" smtClean="0"/>
              <a:t>. .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458788" y="152400"/>
            <a:ext cx="8228012" cy="1143000"/>
          </a:xfrm>
        </p:spPr>
        <p:txBody>
          <a:bodyPr/>
          <a:lstStyle/>
          <a:p>
            <a:pPr eaLnBrk="1" hangingPunct="1"/>
            <a:r>
              <a:rPr lang="en-US" smtClean="0"/>
              <a:t>Water Data Services</a:t>
            </a:r>
          </a:p>
        </p:txBody>
      </p:sp>
      <p:sp>
        <p:nvSpPr>
          <p:cNvPr id="60418" name="Rectangle 3"/>
          <p:cNvSpPr>
            <a:spLocks noGrp="1" noChangeArrowheads="1"/>
          </p:cNvSpPr>
          <p:nvPr>
            <p:ph type="body" sz="half" idx="1"/>
          </p:nvPr>
        </p:nvSpPr>
        <p:spPr>
          <a:xfrm>
            <a:off x="457200" y="1295400"/>
            <a:ext cx="4038600" cy="4525963"/>
          </a:xfrm>
        </p:spPr>
        <p:txBody>
          <a:bodyPr/>
          <a:lstStyle/>
          <a:p>
            <a:pPr eaLnBrk="1" hangingPunct="1"/>
            <a:r>
              <a:rPr lang="en-US" smtClean="0"/>
              <a:t>Set of </a:t>
            </a:r>
            <a:r>
              <a:rPr lang="en-US" smtClean="0">
                <a:solidFill>
                  <a:srgbClr val="0066FF"/>
                </a:solidFill>
              </a:rPr>
              <a:t>query</a:t>
            </a:r>
            <a:r>
              <a:rPr lang="en-US" smtClean="0"/>
              <a:t> functions</a:t>
            </a:r>
          </a:p>
        </p:txBody>
      </p:sp>
      <p:sp>
        <p:nvSpPr>
          <p:cNvPr id="60419" name="Rectangle 4"/>
          <p:cNvSpPr>
            <a:spLocks noGrp="1" noChangeArrowheads="1"/>
          </p:cNvSpPr>
          <p:nvPr>
            <p:ph type="body" sz="half" idx="2"/>
          </p:nvPr>
        </p:nvSpPr>
        <p:spPr>
          <a:xfrm>
            <a:off x="4648200" y="1295400"/>
            <a:ext cx="4038600" cy="4525963"/>
          </a:xfrm>
        </p:spPr>
        <p:txBody>
          <a:bodyPr/>
          <a:lstStyle/>
          <a:p>
            <a:pPr eaLnBrk="1" hangingPunct="1"/>
            <a:r>
              <a:rPr lang="en-US" sz="2000" smtClean="0"/>
              <a:t>Returns data in </a:t>
            </a:r>
            <a:r>
              <a:rPr lang="en-US" b="1" smtClean="0">
                <a:solidFill>
                  <a:srgbClr val="0066FF"/>
                </a:solidFill>
              </a:rPr>
              <a:t>WaterML</a:t>
            </a:r>
            <a:endParaRPr lang="en-US" sz="2000" b="1" smtClean="0">
              <a:solidFill>
                <a:srgbClr val="0066FF"/>
              </a:solidFill>
            </a:endParaRPr>
          </a:p>
        </p:txBody>
      </p:sp>
      <p:pic>
        <p:nvPicPr>
          <p:cNvPr id="60420" name="Picture 5"/>
          <p:cNvPicPr>
            <a:picLocks noChangeAspect="1" noChangeArrowheads="1"/>
          </p:cNvPicPr>
          <p:nvPr/>
        </p:nvPicPr>
        <p:blipFill>
          <a:blip r:embed="rId4" cstate="print"/>
          <a:srcRect/>
          <a:stretch>
            <a:fillRect/>
          </a:stretch>
        </p:blipFill>
        <p:spPr bwMode="auto">
          <a:xfrm>
            <a:off x="381000" y="1905000"/>
            <a:ext cx="3971925" cy="4714875"/>
          </a:xfrm>
          <a:prstGeom prst="rect">
            <a:avLst/>
          </a:prstGeom>
          <a:noFill/>
          <a:ln w="9525">
            <a:solidFill>
              <a:schemeClr val="tx1"/>
            </a:solidFill>
            <a:miter lim="800000"/>
            <a:headEnd/>
            <a:tailEnd/>
          </a:ln>
        </p:spPr>
      </p:pic>
      <p:pic>
        <p:nvPicPr>
          <p:cNvPr id="60421" name="Picture 6"/>
          <p:cNvPicPr>
            <a:picLocks noChangeAspect="1" noChangeArrowheads="1"/>
          </p:cNvPicPr>
          <p:nvPr/>
        </p:nvPicPr>
        <p:blipFill>
          <a:blip r:embed="rId5" cstate="print"/>
          <a:srcRect/>
          <a:stretch>
            <a:fillRect/>
          </a:stretch>
        </p:blipFill>
        <p:spPr bwMode="auto">
          <a:xfrm>
            <a:off x="4800600" y="1905000"/>
            <a:ext cx="3895725" cy="4714875"/>
          </a:xfrm>
          <a:prstGeom prst="rect">
            <a:avLst/>
          </a:prstGeom>
          <a:noFill/>
          <a:ln w="9525">
            <a:solidFill>
              <a:schemeClr val="tx1"/>
            </a:solidFill>
            <a:miter lim="800000"/>
            <a:headEnd/>
            <a:tailEnd/>
          </a:ln>
        </p:spPr>
      </p:pic>
      <p:sp>
        <p:nvSpPr>
          <p:cNvPr id="402439" name="Text Box 8"/>
          <p:cNvSpPr txBox="1">
            <a:spLocks noChangeArrowheads="1"/>
          </p:cNvSpPr>
          <p:nvPr/>
        </p:nvSpPr>
        <p:spPr bwMode="auto">
          <a:xfrm>
            <a:off x="3097213" y="5530850"/>
            <a:ext cx="5970587" cy="1250950"/>
          </a:xfrm>
          <a:prstGeom prst="rect">
            <a:avLst/>
          </a:prstGeom>
          <a:solidFill>
            <a:srgbClr val="0033CC"/>
          </a:solidFill>
          <a:ln w="9525" algn="ctr">
            <a:noFill/>
            <a:miter lim="800000"/>
            <a:headEnd/>
            <a:tailEnd/>
          </a:ln>
        </p:spPr>
        <p:txBody>
          <a:bodyPr lIns="274320" tIns="137160" rIns="274320" bIns="137160">
            <a:spAutoFit/>
          </a:bodyPr>
          <a:lstStyle/>
          <a:p>
            <a:pPr eaLnBrk="0" hangingPunct="0"/>
            <a:r>
              <a:rPr lang="en-US" sz="1600" b="1" i="1">
                <a:solidFill>
                  <a:srgbClr val="FFFF66"/>
                </a:solidFill>
                <a:latin typeface="Helvetica"/>
              </a:rPr>
              <a:t>NWIS Daily Values (discharge), NWIS Ground Water, NWIS Unit Values (real time), NWIS Instantaneous Irregular Data, EPA STORET, NCDC ASOS, DAYMET, MODIS, NAM12K, USGS SNOTEL, ODM (multiple sites)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2439"/>
                                        </p:tgtEl>
                                        <p:attrNameLst>
                                          <p:attrName>style.visibility</p:attrName>
                                        </p:attrNameLst>
                                      </p:cBhvr>
                                      <p:to>
                                        <p:strVal val="visible"/>
                                      </p:to>
                                    </p:set>
                                    <p:anim calcmode="lin" valueType="num">
                                      <p:cBhvr additive="base">
                                        <p:cTn id="7" dur="500" fill="hold"/>
                                        <p:tgtEl>
                                          <p:spTgt spid="402439"/>
                                        </p:tgtEl>
                                        <p:attrNameLst>
                                          <p:attrName>ppt_x</p:attrName>
                                        </p:attrNameLst>
                                      </p:cBhvr>
                                      <p:tavLst>
                                        <p:tav tm="0">
                                          <p:val>
                                            <p:strVal val="#ppt_x"/>
                                          </p:val>
                                        </p:tav>
                                        <p:tav tm="100000">
                                          <p:val>
                                            <p:strVal val="#ppt_x"/>
                                          </p:val>
                                        </p:tav>
                                      </p:tavLst>
                                    </p:anim>
                                    <p:anim calcmode="lin" valueType="num">
                                      <p:cBhvr additive="base">
                                        <p:cTn id="8" dur="500" fill="hold"/>
                                        <p:tgtEl>
                                          <p:spTgt spid="4024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idx="4294967295"/>
          </p:nvPr>
        </p:nvSpPr>
        <p:spPr/>
        <p:txBody>
          <a:bodyPr/>
          <a:lstStyle/>
          <a:p>
            <a:r>
              <a:rPr lang="en-US" smtClean="0">
                <a:latin typeface="Tahoma" pitchFamily="34" charset="0"/>
              </a:rPr>
              <a:t>Water Web Services</a:t>
            </a:r>
          </a:p>
        </p:txBody>
      </p:sp>
      <p:sp>
        <p:nvSpPr>
          <p:cNvPr id="50178" name="Content Placeholder 2"/>
          <p:cNvSpPr>
            <a:spLocks noGrp="1"/>
          </p:cNvSpPr>
          <p:nvPr>
            <p:ph idx="4294967295"/>
          </p:nvPr>
        </p:nvSpPr>
        <p:spPr>
          <a:xfrm>
            <a:off x="301625" y="1371600"/>
            <a:ext cx="8540750" cy="4498975"/>
          </a:xfrm>
        </p:spPr>
        <p:txBody>
          <a:bodyPr/>
          <a:lstStyle/>
          <a:p>
            <a:r>
              <a:rPr lang="en-US" dirty="0" smtClean="0">
                <a:latin typeface="Tahoma" pitchFamily="34" charset="0"/>
              </a:rPr>
              <a:t>Low barrier to entry</a:t>
            </a:r>
          </a:p>
          <a:p>
            <a:pPr lvl="1"/>
            <a:r>
              <a:rPr lang="en-US" dirty="0" smtClean="0">
                <a:latin typeface="Tahoma" pitchFamily="34" charset="0"/>
              </a:rPr>
              <a:t>Deliver data</a:t>
            </a:r>
          </a:p>
          <a:p>
            <a:pPr lvl="1"/>
            <a:r>
              <a:rPr lang="en-US" dirty="0" smtClean="0">
                <a:latin typeface="Tahoma" pitchFamily="34" charset="0"/>
              </a:rPr>
              <a:t>Variable, Sites, Series for a site, </a:t>
            </a:r>
            <a:r>
              <a:rPr lang="en-US" dirty="0" err="1" smtClean="0">
                <a:latin typeface="Tahoma" pitchFamily="34" charset="0"/>
              </a:rPr>
              <a:t>DataValues</a:t>
            </a:r>
            <a:r>
              <a:rPr lang="en-US" dirty="0" smtClean="0">
                <a:latin typeface="Tahoma" pitchFamily="34" charset="0"/>
              </a:rPr>
              <a:t> for a series.</a:t>
            </a:r>
          </a:p>
          <a:p>
            <a:r>
              <a:rPr lang="en-US" dirty="0" smtClean="0">
                <a:latin typeface="Tahoma" pitchFamily="34" charset="0"/>
              </a:rPr>
              <a:t>Is the data source appropriate</a:t>
            </a:r>
          </a:p>
          <a:p>
            <a:pPr lvl="1"/>
            <a:r>
              <a:rPr lang="en-US" dirty="0" smtClean="0">
                <a:latin typeface="Tahoma" pitchFamily="34" charset="0"/>
              </a:rPr>
              <a:t>Does it have the variables I am interested in</a:t>
            </a:r>
          </a:p>
          <a:p>
            <a:r>
              <a:rPr lang="en-US" dirty="0" smtClean="0">
                <a:latin typeface="Tahoma" pitchFamily="34" charset="0"/>
              </a:rPr>
              <a:t>Sites</a:t>
            </a:r>
          </a:p>
          <a:p>
            <a:pPr lvl="1"/>
            <a:r>
              <a:rPr lang="en-US" dirty="0" smtClean="0">
                <a:latin typeface="Tahoma" pitchFamily="34" charset="0"/>
              </a:rPr>
              <a:t>What sites are </a:t>
            </a:r>
            <a:r>
              <a:rPr lang="en-US" dirty="0" smtClean="0">
                <a:latin typeface="Tahoma" pitchFamily="34" charset="0"/>
              </a:rPr>
              <a:t>available</a:t>
            </a:r>
          </a:p>
          <a:p>
            <a:pPr lvl="1"/>
            <a:r>
              <a:rPr lang="en-US" dirty="0" smtClean="0">
                <a:latin typeface="Tahoma" pitchFamily="34" charset="0"/>
              </a:rPr>
              <a:t>For sites in my region of interest, collect series information (in a central metadata catalog)</a:t>
            </a:r>
            <a:endParaRPr lang="en-US" dirty="0" smtClean="0">
              <a:latin typeface="Tahoma"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idx="4294967295"/>
          </p:nvPr>
        </p:nvSpPr>
        <p:spPr/>
        <p:txBody>
          <a:bodyPr/>
          <a:lstStyle/>
          <a:p>
            <a:r>
              <a:rPr lang="en-US" smtClean="0">
                <a:latin typeface="Tahoma" pitchFamily="34" charset="0"/>
              </a:rPr>
              <a:t>WaterML Responses</a:t>
            </a:r>
          </a:p>
        </p:txBody>
      </p:sp>
      <p:sp>
        <p:nvSpPr>
          <p:cNvPr id="3" name="Content Placeholder 2"/>
          <p:cNvSpPr>
            <a:spLocks noGrp="1"/>
          </p:cNvSpPr>
          <p:nvPr>
            <p:ph idx="4294967295"/>
          </p:nvPr>
        </p:nvSpPr>
        <p:spPr>
          <a:xfrm>
            <a:off x="301625" y="1295400"/>
            <a:ext cx="8613775" cy="5257800"/>
          </a:xfrm>
        </p:spPr>
        <p:txBody>
          <a:bodyPr>
            <a:normAutofit/>
          </a:bodyPr>
          <a:lstStyle/>
          <a:p>
            <a:pPr>
              <a:lnSpc>
                <a:spcPct val="80000"/>
              </a:lnSpc>
            </a:pPr>
            <a:r>
              <a:rPr lang="en-US" sz="3000" b="1" smtClean="0">
                <a:solidFill>
                  <a:schemeClr val="folHlink"/>
                </a:solidFill>
                <a:latin typeface="Tahoma" pitchFamily="34" charset="0"/>
              </a:rPr>
              <a:t>GetVariableInfo</a:t>
            </a:r>
            <a:r>
              <a:rPr lang="en-US" sz="3000" smtClean="0">
                <a:latin typeface="Tahoma" pitchFamily="34" charset="0"/>
              </a:rPr>
              <a:t> returns a list of variables</a:t>
            </a:r>
          </a:p>
          <a:p>
            <a:pPr lvl="1">
              <a:lnSpc>
                <a:spcPct val="80000"/>
              </a:lnSpc>
            </a:pPr>
            <a:r>
              <a:rPr lang="en-US" sz="2600" smtClean="0">
                <a:latin typeface="Tahoma" pitchFamily="34" charset="0"/>
              </a:rPr>
              <a:t>variablesResponse</a:t>
            </a:r>
          </a:p>
          <a:p>
            <a:pPr>
              <a:lnSpc>
                <a:spcPct val="80000"/>
              </a:lnSpc>
            </a:pPr>
            <a:r>
              <a:rPr lang="en-US" sz="3000" b="1" smtClean="0">
                <a:solidFill>
                  <a:schemeClr val="folHlink"/>
                </a:solidFill>
                <a:latin typeface="Tahoma" pitchFamily="34" charset="0"/>
              </a:rPr>
              <a:t>GetSites</a:t>
            </a:r>
            <a:r>
              <a:rPr lang="en-US" sz="3000" smtClean="0">
                <a:latin typeface="Tahoma" pitchFamily="34" charset="0"/>
              </a:rPr>
              <a:t> returns a list of site information records</a:t>
            </a:r>
          </a:p>
          <a:p>
            <a:pPr lvl="1">
              <a:lnSpc>
                <a:spcPct val="80000"/>
              </a:lnSpc>
            </a:pPr>
            <a:r>
              <a:rPr lang="en-US" sz="2600" smtClean="0">
                <a:latin typeface="Tahoma" pitchFamily="34" charset="0"/>
              </a:rPr>
              <a:t>sitesResponse (multiple sites, with no series information)</a:t>
            </a:r>
          </a:p>
          <a:p>
            <a:pPr>
              <a:lnSpc>
                <a:spcPct val="80000"/>
              </a:lnSpc>
            </a:pPr>
            <a:r>
              <a:rPr lang="en-US" sz="3000" b="1" smtClean="0">
                <a:solidFill>
                  <a:schemeClr val="folHlink"/>
                </a:solidFill>
                <a:latin typeface="Tahoma" pitchFamily="34" charset="0"/>
              </a:rPr>
              <a:t>GetSiteInfo</a:t>
            </a:r>
            <a:r>
              <a:rPr lang="en-US" sz="3000" smtClean="0">
                <a:latin typeface="Tahoma" pitchFamily="34" charset="0"/>
              </a:rPr>
              <a:t> returns site information with list of observations</a:t>
            </a:r>
          </a:p>
          <a:p>
            <a:pPr lvl="1">
              <a:lnSpc>
                <a:spcPct val="80000"/>
              </a:lnSpc>
            </a:pPr>
            <a:r>
              <a:rPr lang="en-US" sz="2600" smtClean="0">
                <a:latin typeface="Tahoma" pitchFamily="34" charset="0"/>
              </a:rPr>
              <a:t>sitesResponse (single site with series information)</a:t>
            </a:r>
          </a:p>
          <a:p>
            <a:pPr>
              <a:lnSpc>
                <a:spcPct val="80000"/>
              </a:lnSpc>
            </a:pPr>
            <a:r>
              <a:rPr lang="en-US" sz="3000" b="1" smtClean="0">
                <a:solidFill>
                  <a:schemeClr val="folHlink"/>
                </a:solidFill>
                <a:latin typeface="Tahoma" pitchFamily="34" charset="0"/>
              </a:rPr>
              <a:t>GetValues</a:t>
            </a:r>
            <a:r>
              <a:rPr lang="en-US" sz="3000" smtClean="0">
                <a:latin typeface="Tahoma" pitchFamily="34" charset="0"/>
              </a:rPr>
              <a:t> returns a Time-series of data values and associated metadata (site information, variable</a:t>
            </a:r>
          </a:p>
          <a:p>
            <a:pPr lvl="1">
              <a:lnSpc>
                <a:spcPct val="80000"/>
              </a:lnSpc>
            </a:pPr>
            <a:r>
              <a:rPr lang="en-US" sz="2600" smtClean="0">
                <a:latin typeface="Tahoma" pitchFamily="34" charset="0"/>
              </a:rPr>
              <a:t>timeSeriesResponse</a:t>
            </a:r>
          </a:p>
        </p:txBody>
      </p:sp>
      <p:sp>
        <p:nvSpPr>
          <p:cNvPr id="51204" name="Text Box 4"/>
          <p:cNvSpPr txBox="1">
            <a:spLocks noChangeArrowheads="1"/>
          </p:cNvSpPr>
          <p:nvPr/>
        </p:nvSpPr>
        <p:spPr bwMode="auto">
          <a:xfrm>
            <a:off x="4953000" y="2362200"/>
            <a:ext cx="4130675" cy="2101850"/>
          </a:xfrm>
          <a:prstGeom prst="rect">
            <a:avLst/>
          </a:prstGeom>
          <a:solidFill>
            <a:srgbClr val="3333CC"/>
          </a:solidFill>
          <a:ln w="9525">
            <a:noFill/>
            <a:miter lim="800000"/>
            <a:headEnd/>
            <a:tailEnd/>
          </a:ln>
          <a:effectLst/>
        </p:spPr>
        <p:txBody>
          <a:bodyPr wrap="none">
            <a:spAutoFit/>
          </a:bodyPr>
          <a:lstStyle/>
          <a:p>
            <a:endParaRPr lang="en-AU" sz="4400"/>
          </a:p>
          <a:p>
            <a:r>
              <a:rPr lang="en-AU" sz="4400"/>
              <a:t> … OGC SOS? </a:t>
            </a:r>
          </a:p>
          <a:p>
            <a:endParaRPr lang="en-AU" sz="4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 calcmode="lin" valueType="num">
                                      <p:cBhvr additive="base">
                                        <p:cTn id="7" dur="1000" fill="hold"/>
                                        <p:tgtEl>
                                          <p:spTgt spid="51204"/>
                                        </p:tgtEl>
                                        <p:attrNameLst>
                                          <p:attrName>ppt_x</p:attrName>
                                        </p:attrNameLst>
                                      </p:cBhvr>
                                      <p:tavLst>
                                        <p:tav tm="0">
                                          <p:val>
                                            <p:strVal val="#ppt_x"/>
                                          </p:val>
                                        </p:tav>
                                        <p:tav tm="100000">
                                          <p:val>
                                            <p:strVal val="#ppt_x"/>
                                          </p:val>
                                        </p:tav>
                                      </p:tavLst>
                                    </p:anim>
                                    <p:anim calcmode="lin" valueType="num">
                                      <p:cBhvr additive="base">
                                        <p:cTn id="8" dur="1000" fill="hold"/>
                                        <p:tgtEl>
                                          <p:spTgt spid="51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lIns="90487" tIns="44450" rIns="90487" bIns="44450"/>
          <a:lstStyle/>
          <a:p>
            <a:pPr eaLnBrk="1" hangingPunct="1"/>
            <a:r>
              <a:rPr lang="en-US" sz="3200" smtClean="0">
                <a:latin typeface="Tahoma" pitchFamily="34" charset="0"/>
              </a:rPr>
              <a:t>Requirements for a community data exchange protocol</a:t>
            </a:r>
          </a:p>
        </p:txBody>
      </p:sp>
      <p:sp>
        <p:nvSpPr>
          <p:cNvPr id="4099" name="Rectangle 3"/>
          <p:cNvSpPr>
            <a:spLocks noGrp="1" noChangeArrowheads="1"/>
          </p:cNvSpPr>
          <p:nvPr>
            <p:ph idx="4294967295"/>
          </p:nvPr>
        </p:nvSpPr>
        <p:spPr/>
        <p:txBody>
          <a:bodyPr lIns="90487" tIns="44450" rIns="90487" bIns="44450">
            <a:normAutofit fontScale="92500"/>
          </a:bodyPr>
          <a:lstStyle/>
          <a:p>
            <a:pPr>
              <a:buFont typeface="Arial" charset="0"/>
              <a:buChar char="►"/>
              <a:defRPr/>
            </a:pPr>
            <a:r>
              <a:rPr lang="en-US" sz="1800" dirty="0" smtClean="0"/>
              <a:t>Ability to accommodate structurally and syntactically different data sources</a:t>
            </a:r>
          </a:p>
          <a:p>
            <a:pPr>
              <a:buFont typeface="Arial" charset="0"/>
              <a:buChar char="►"/>
              <a:defRPr/>
            </a:pPr>
            <a:r>
              <a:rPr lang="en-US" sz="1800" dirty="0" smtClean="0"/>
              <a:t>Conformance with accepted semantics of hydrologic data discovery and retrieval</a:t>
            </a:r>
          </a:p>
          <a:p>
            <a:pPr>
              <a:buFont typeface="Arial" charset="0"/>
              <a:buChar char="►"/>
              <a:defRPr/>
            </a:pPr>
            <a:r>
              <a:rPr lang="en-US" sz="1800" dirty="0" smtClean="0"/>
              <a:t>Following common use cases, and alignment with the CUAHSI ODM</a:t>
            </a:r>
          </a:p>
          <a:p>
            <a:pPr>
              <a:buFont typeface="Arial" charset="0"/>
              <a:buChar char="►"/>
              <a:defRPr/>
            </a:pPr>
            <a:r>
              <a:rPr lang="en-US" sz="1800" dirty="0" smtClean="0"/>
              <a:t>Ability to express and re-use common structural components of the information model</a:t>
            </a:r>
          </a:p>
          <a:p>
            <a:pPr>
              <a:buFont typeface="Arial" charset="0"/>
              <a:buChar char="►"/>
              <a:defRPr/>
            </a:pPr>
            <a:r>
              <a:rPr lang="en-US" sz="1800" dirty="0" smtClean="0"/>
              <a:t>Relative simplicity and transparency, to ease community adoption</a:t>
            </a:r>
          </a:p>
          <a:p>
            <a:pPr>
              <a:buFont typeface="Arial" charset="0"/>
              <a:buChar char="►"/>
              <a:defRPr/>
            </a:pPr>
            <a:r>
              <a:rPr lang="en-US" sz="1800" dirty="0" smtClean="0"/>
              <a:t>Ability to integrate with other datasets within and across research domains</a:t>
            </a:r>
          </a:p>
          <a:p>
            <a:pPr>
              <a:buFont typeface="Arial" charset="0"/>
              <a:buChar char="►"/>
              <a:defRPr/>
            </a:pPr>
            <a:r>
              <a:rPr lang="en-US" sz="1800" dirty="0" smtClean="0"/>
              <a:t>Fidelity and reliability in relaying core information on hydrologic observations</a:t>
            </a:r>
          </a:p>
          <a:p>
            <a:pPr>
              <a:buFont typeface="Arial" charset="0"/>
              <a:buChar char="►"/>
              <a:defRPr/>
            </a:pPr>
            <a:r>
              <a:rPr lang="en-US" sz="1800" dirty="0" smtClean="0"/>
              <a:t>A governance structure, where site and variable identifiers, vocabulary and ontology conventions, structural definitions for data interchange, and other components of the exchange protocol are managed across observation networks</a:t>
            </a:r>
          </a:p>
          <a:p>
            <a:pPr>
              <a:buFont typeface="Arial" charset="0"/>
              <a:buChar char="►"/>
              <a:defRPr/>
            </a:pPr>
            <a:r>
              <a:rPr lang="en-US" sz="1800" dirty="0" smtClean="0"/>
              <a:t>Reliance on implementation best practices, protocol implementation in the context of an operational distributed information system for hydrologic data</a:t>
            </a:r>
          </a:p>
          <a:p>
            <a:pPr>
              <a:buFont typeface="Arial" charset="0"/>
              <a:buChar char="►"/>
              <a:defRPr/>
            </a:pPr>
            <a:r>
              <a:rPr lang="en-US" sz="1800" dirty="0" smtClean="0"/>
              <a:t>Ability to reliably and efficiently relay hydrologic information when metadata and data are at physically different locations</a:t>
            </a:r>
          </a:p>
        </p:txBody>
      </p:sp>
    </p:spTree>
  </p:cSld>
  <p:clrMapOvr>
    <a:masterClrMapping/>
  </p:clrMapOvr>
  <p:transition advTm="536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itle 1"/>
          <p:cNvSpPr>
            <a:spLocks noGrp="1"/>
          </p:cNvSpPr>
          <p:nvPr>
            <p:ph type="title" idx="4294967295"/>
          </p:nvPr>
        </p:nvSpPr>
        <p:spPr/>
        <p:txBody>
          <a:bodyPr/>
          <a:lstStyle/>
          <a:p>
            <a:r>
              <a:rPr lang="en-US" smtClean="0">
                <a:latin typeface="Tahoma" pitchFamily="34" charset="0"/>
              </a:rPr>
              <a:t>WaterML Components</a:t>
            </a:r>
          </a:p>
        </p:txBody>
      </p:sp>
      <p:graphicFrame>
        <p:nvGraphicFramePr>
          <p:cNvPr id="48130" name="Content Placeholder 3"/>
          <p:cNvGraphicFramePr>
            <a:graphicFrameLocks noChangeAspect="1"/>
          </p:cNvGraphicFramePr>
          <p:nvPr>
            <p:ph idx="4294967295"/>
          </p:nvPr>
        </p:nvGraphicFramePr>
        <p:xfrm>
          <a:off x="990600" y="1371600"/>
          <a:ext cx="6907213" cy="5000625"/>
        </p:xfrm>
        <a:graphic>
          <a:graphicData uri="http://schemas.openxmlformats.org/presentationml/2006/ole">
            <p:oleObj spid="_x0000_s48130" name="Visio" r:id="rId4" imgW="9522865" imgH="6896837" progId="Visio.Drawing.11">
              <p:embed/>
            </p:oleObj>
          </a:graphicData>
        </a:graphic>
      </p:graphicFrame>
      <p:sp>
        <p:nvSpPr>
          <p:cNvPr id="4" name="TextBox 3"/>
          <p:cNvSpPr txBox="1"/>
          <p:nvPr/>
        </p:nvSpPr>
        <p:spPr>
          <a:xfrm>
            <a:off x="274880" y="5867400"/>
            <a:ext cx="8792920" cy="492443"/>
          </a:xfrm>
          <a:prstGeom prst="rect">
            <a:avLst/>
          </a:prstGeom>
          <a:noFill/>
        </p:spPr>
        <p:txBody>
          <a:bodyPr wrap="none" rtlCol="0">
            <a:spAutoFit/>
          </a:bodyPr>
          <a:lstStyle/>
          <a:p>
            <a:r>
              <a:rPr lang="en-US" sz="2600" dirty="0" smtClean="0"/>
              <a:t>See http://water.sdsc.edu/doc/waterMldoc/v11/default.html</a:t>
            </a:r>
            <a:endParaRPr lang="en-US" sz="2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6" name="Picture 4"/>
          <p:cNvPicPr>
            <a:picLocks noChangeAspect="1" noChangeArrowheads="1"/>
          </p:cNvPicPr>
          <p:nvPr/>
        </p:nvPicPr>
        <p:blipFill>
          <a:blip r:embed="rId3" cstate="print"/>
          <a:srcRect/>
          <a:stretch>
            <a:fillRect/>
          </a:stretch>
        </p:blipFill>
        <p:spPr bwMode="auto">
          <a:xfrm>
            <a:off x="2971800" y="2590800"/>
            <a:ext cx="4972050" cy="962025"/>
          </a:xfrm>
          <a:prstGeom prst="rect">
            <a:avLst/>
          </a:prstGeom>
          <a:noFill/>
          <a:ln w="9525">
            <a:noFill/>
            <a:miter lim="800000"/>
            <a:headEnd/>
            <a:tailEnd/>
          </a:ln>
        </p:spPr>
      </p:pic>
      <p:pic>
        <p:nvPicPr>
          <p:cNvPr id="19" name="Picture 11"/>
          <p:cNvPicPr>
            <a:picLocks noChangeAspect="1" noChangeArrowheads="1"/>
          </p:cNvPicPr>
          <p:nvPr/>
        </p:nvPicPr>
        <p:blipFill>
          <a:blip r:embed="rId4" cstate="print"/>
          <a:srcRect/>
          <a:stretch>
            <a:fillRect/>
          </a:stretch>
        </p:blipFill>
        <p:spPr bwMode="auto">
          <a:xfrm>
            <a:off x="0" y="1371600"/>
            <a:ext cx="8686800" cy="1949450"/>
          </a:xfrm>
          <a:prstGeom prst="rect">
            <a:avLst/>
          </a:prstGeom>
          <a:noFill/>
          <a:ln w="9525">
            <a:noFill/>
            <a:miter lim="800000"/>
            <a:headEnd/>
            <a:tailEnd/>
          </a:ln>
        </p:spPr>
      </p:pic>
      <p:pic>
        <p:nvPicPr>
          <p:cNvPr id="54282" name="Picture 10"/>
          <p:cNvPicPr>
            <a:picLocks noChangeAspect="1" noChangeArrowheads="1"/>
          </p:cNvPicPr>
          <p:nvPr/>
        </p:nvPicPr>
        <p:blipFill>
          <a:blip r:embed="rId5" cstate="print"/>
          <a:srcRect/>
          <a:stretch>
            <a:fillRect/>
          </a:stretch>
        </p:blipFill>
        <p:spPr bwMode="auto">
          <a:xfrm>
            <a:off x="420688" y="2667000"/>
            <a:ext cx="7808912" cy="1552575"/>
          </a:xfrm>
          <a:prstGeom prst="rect">
            <a:avLst/>
          </a:prstGeom>
          <a:noFill/>
          <a:ln w="9525">
            <a:noFill/>
            <a:miter lim="800000"/>
            <a:headEnd/>
            <a:tailEnd/>
          </a:ln>
        </p:spPr>
      </p:pic>
      <p:pic>
        <p:nvPicPr>
          <p:cNvPr id="54283" name="Picture 11"/>
          <p:cNvPicPr>
            <a:picLocks noChangeAspect="1" noChangeArrowheads="1"/>
          </p:cNvPicPr>
          <p:nvPr/>
        </p:nvPicPr>
        <p:blipFill>
          <a:blip r:embed="rId4" cstate="print"/>
          <a:srcRect/>
          <a:stretch>
            <a:fillRect/>
          </a:stretch>
        </p:blipFill>
        <p:spPr bwMode="auto">
          <a:xfrm>
            <a:off x="381000" y="4419600"/>
            <a:ext cx="8686800" cy="1949450"/>
          </a:xfrm>
          <a:prstGeom prst="rect">
            <a:avLst/>
          </a:prstGeom>
          <a:noFill/>
          <a:ln w="9525">
            <a:noFill/>
            <a:miter lim="800000"/>
            <a:headEnd/>
            <a:tailEnd/>
          </a:ln>
        </p:spPr>
      </p:pic>
      <p:sp>
        <p:nvSpPr>
          <p:cNvPr id="52229" name="Title 1"/>
          <p:cNvSpPr>
            <a:spLocks noGrp="1"/>
          </p:cNvSpPr>
          <p:nvPr>
            <p:ph type="title"/>
          </p:nvPr>
        </p:nvSpPr>
        <p:spPr/>
        <p:txBody>
          <a:bodyPr/>
          <a:lstStyle/>
          <a:p>
            <a:r>
              <a:rPr lang="en-US" smtClean="0"/>
              <a:t>WaterML Responses</a:t>
            </a:r>
          </a:p>
        </p:txBody>
      </p:sp>
      <p:pic>
        <p:nvPicPr>
          <p:cNvPr id="54275" name="Picture 3"/>
          <p:cNvPicPr>
            <a:picLocks noChangeAspect="1" noChangeArrowheads="1"/>
          </p:cNvPicPr>
          <p:nvPr/>
        </p:nvPicPr>
        <p:blipFill>
          <a:blip r:embed="rId6" cstate="print"/>
          <a:srcRect/>
          <a:stretch>
            <a:fillRect/>
          </a:stretch>
        </p:blipFill>
        <p:spPr bwMode="auto">
          <a:xfrm>
            <a:off x="2438400" y="3505200"/>
            <a:ext cx="5114925" cy="1695450"/>
          </a:xfrm>
          <a:prstGeom prst="rect">
            <a:avLst/>
          </a:prstGeom>
          <a:noFill/>
          <a:ln w="9525">
            <a:noFill/>
            <a:miter lim="800000"/>
            <a:headEnd/>
            <a:tailEnd/>
          </a:ln>
        </p:spPr>
      </p:pic>
      <p:grpSp>
        <p:nvGrpSpPr>
          <p:cNvPr id="10" name="Group 9"/>
          <p:cNvGrpSpPr>
            <a:grpSpLocks/>
          </p:cNvGrpSpPr>
          <p:nvPr/>
        </p:nvGrpSpPr>
        <p:grpSpPr bwMode="auto">
          <a:xfrm>
            <a:off x="685800" y="3581400"/>
            <a:ext cx="6000750" cy="3200400"/>
            <a:chOff x="381000" y="3657600"/>
            <a:chExt cx="6000750" cy="3200400"/>
          </a:xfrm>
        </p:grpSpPr>
        <p:pic>
          <p:nvPicPr>
            <p:cNvPr id="52237" name="Picture 7"/>
            <p:cNvPicPr>
              <a:picLocks noChangeAspect="1" noChangeArrowheads="1"/>
            </p:cNvPicPr>
            <p:nvPr/>
          </p:nvPicPr>
          <p:blipFill>
            <a:blip r:embed="rId7" cstate="print"/>
            <a:srcRect/>
            <a:stretch>
              <a:fillRect/>
            </a:stretch>
          </p:blipFill>
          <p:spPr bwMode="auto">
            <a:xfrm>
              <a:off x="1905000" y="3762375"/>
              <a:ext cx="4476750" cy="3095625"/>
            </a:xfrm>
            <a:prstGeom prst="rect">
              <a:avLst/>
            </a:prstGeom>
            <a:noFill/>
            <a:ln w="9525">
              <a:noFill/>
              <a:miter lim="800000"/>
              <a:headEnd/>
              <a:tailEnd/>
            </a:ln>
          </p:spPr>
        </p:pic>
        <p:sp>
          <p:nvSpPr>
            <p:cNvPr id="52238" name="TextBox 8"/>
            <p:cNvSpPr txBox="1">
              <a:spLocks noChangeArrowheads="1"/>
            </p:cNvSpPr>
            <p:nvPr/>
          </p:nvSpPr>
          <p:spPr bwMode="auto">
            <a:xfrm>
              <a:off x="381000" y="3657600"/>
              <a:ext cx="1828800" cy="923330"/>
            </a:xfrm>
            <a:prstGeom prst="rect">
              <a:avLst/>
            </a:prstGeom>
            <a:solidFill>
              <a:schemeClr val="bg1"/>
            </a:solidFill>
            <a:ln w="9525">
              <a:noFill/>
              <a:miter lim="800000"/>
              <a:headEnd/>
              <a:tailEnd/>
            </a:ln>
          </p:spPr>
          <p:txBody>
            <a:bodyPr>
              <a:spAutoFit/>
            </a:bodyPr>
            <a:lstStyle/>
            <a:p>
              <a:pPr algn="ctr"/>
              <a:r>
                <a:rPr lang="en-US"/>
                <a:t>GetSites</a:t>
              </a:r>
            </a:p>
            <a:p>
              <a:pPr algn="ctr"/>
              <a:r>
                <a:rPr lang="en-US"/>
                <a:t>Basic Site Information only</a:t>
              </a:r>
            </a:p>
          </p:txBody>
        </p:sp>
      </p:grpSp>
      <p:grpSp>
        <p:nvGrpSpPr>
          <p:cNvPr id="12" name="Group 11"/>
          <p:cNvGrpSpPr>
            <a:grpSpLocks/>
          </p:cNvGrpSpPr>
          <p:nvPr/>
        </p:nvGrpSpPr>
        <p:grpSpPr bwMode="auto">
          <a:xfrm>
            <a:off x="762000" y="3657600"/>
            <a:ext cx="8123238" cy="2095500"/>
            <a:chOff x="304800" y="4191000"/>
            <a:chExt cx="8123237" cy="2095500"/>
          </a:xfrm>
        </p:grpSpPr>
        <p:pic>
          <p:nvPicPr>
            <p:cNvPr id="52235" name="Picture 5"/>
            <p:cNvPicPr>
              <a:picLocks noChangeAspect="1" noChangeArrowheads="1"/>
            </p:cNvPicPr>
            <p:nvPr/>
          </p:nvPicPr>
          <p:blipFill>
            <a:blip r:embed="rId8" cstate="print"/>
            <a:srcRect/>
            <a:stretch>
              <a:fillRect/>
            </a:stretch>
          </p:blipFill>
          <p:spPr bwMode="auto">
            <a:xfrm>
              <a:off x="1905000" y="4191000"/>
              <a:ext cx="6523037" cy="2095500"/>
            </a:xfrm>
            <a:prstGeom prst="rect">
              <a:avLst/>
            </a:prstGeom>
            <a:noFill/>
            <a:ln w="9525">
              <a:noFill/>
              <a:miter lim="800000"/>
              <a:headEnd/>
              <a:tailEnd/>
            </a:ln>
          </p:spPr>
        </p:pic>
        <p:sp>
          <p:nvSpPr>
            <p:cNvPr id="52236" name="TextBox 10"/>
            <p:cNvSpPr txBox="1">
              <a:spLocks noChangeArrowheads="1"/>
            </p:cNvSpPr>
            <p:nvPr/>
          </p:nvSpPr>
          <p:spPr bwMode="auto">
            <a:xfrm>
              <a:off x="304800" y="4267200"/>
              <a:ext cx="1600200" cy="923330"/>
            </a:xfrm>
            <a:prstGeom prst="rect">
              <a:avLst/>
            </a:prstGeom>
            <a:solidFill>
              <a:schemeClr val="bg1"/>
            </a:solidFill>
            <a:ln w="9525">
              <a:noFill/>
              <a:miter lim="800000"/>
              <a:headEnd/>
              <a:tailEnd/>
            </a:ln>
          </p:spPr>
          <p:txBody>
            <a:bodyPr>
              <a:spAutoFit/>
            </a:bodyPr>
            <a:lstStyle/>
            <a:p>
              <a:pPr algn="ctr"/>
              <a:r>
                <a:rPr lang="en-US"/>
                <a:t>GetSiteInfo</a:t>
              </a:r>
            </a:p>
            <a:p>
              <a:pPr algn="ctr"/>
              <a:r>
                <a:rPr lang="en-US"/>
                <a:t>Site and Series</a:t>
              </a:r>
            </a:p>
          </p:txBody>
        </p:sp>
      </p:grpSp>
      <p:pic>
        <p:nvPicPr>
          <p:cNvPr id="54281" name="Picture 9"/>
          <p:cNvPicPr>
            <a:picLocks noChangeAspect="1" noChangeArrowheads="1"/>
          </p:cNvPicPr>
          <p:nvPr/>
        </p:nvPicPr>
        <p:blipFill>
          <a:blip r:embed="rId9" cstate="print"/>
          <a:srcRect/>
          <a:stretch>
            <a:fillRect/>
          </a:stretch>
        </p:blipFill>
        <p:spPr bwMode="auto">
          <a:xfrm>
            <a:off x="96838" y="1600200"/>
            <a:ext cx="7599362" cy="933450"/>
          </a:xfrm>
          <a:prstGeom prst="rect">
            <a:avLst/>
          </a:prstGeom>
          <a:noFill/>
          <a:ln w="9525">
            <a:noFill/>
            <a:miter lim="800000"/>
            <a:headEnd/>
            <a:tailEnd/>
          </a:ln>
        </p:spPr>
      </p:pic>
      <p:pic>
        <p:nvPicPr>
          <p:cNvPr id="20" name="Picture 10"/>
          <p:cNvPicPr>
            <a:picLocks noChangeAspect="1" noChangeArrowheads="1"/>
          </p:cNvPicPr>
          <p:nvPr/>
        </p:nvPicPr>
        <p:blipFill>
          <a:blip r:embed="rId5" cstate="print"/>
          <a:srcRect/>
          <a:stretch>
            <a:fillRect/>
          </a:stretch>
        </p:blipFill>
        <p:spPr bwMode="auto">
          <a:xfrm>
            <a:off x="457200" y="1371600"/>
            <a:ext cx="7808913" cy="1552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81"/>
                                        </p:tgtEl>
                                        <p:attrNameLst>
                                          <p:attrName>style.visibility</p:attrName>
                                        </p:attrNameLst>
                                      </p:cBhvr>
                                      <p:to>
                                        <p:strVal val="visible"/>
                                      </p:to>
                                    </p:set>
                                    <p:anim calcmode="lin" valueType="num">
                                      <p:cBhvr additive="base">
                                        <p:cTn id="7" dur="500" fill="hold"/>
                                        <p:tgtEl>
                                          <p:spTgt spid="54281"/>
                                        </p:tgtEl>
                                        <p:attrNameLst>
                                          <p:attrName>ppt_x</p:attrName>
                                        </p:attrNameLst>
                                      </p:cBhvr>
                                      <p:tavLst>
                                        <p:tav tm="0">
                                          <p:val>
                                            <p:strVal val="#ppt_x"/>
                                          </p:val>
                                        </p:tav>
                                        <p:tav tm="100000">
                                          <p:val>
                                            <p:strVal val="#ppt_x"/>
                                          </p:val>
                                        </p:tav>
                                      </p:tavLst>
                                    </p:anim>
                                    <p:anim calcmode="lin" valueType="num">
                                      <p:cBhvr additive="base">
                                        <p:cTn id="8" dur="500" fill="hold"/>
                                        <p:tgtEl>
                                          <p:spTgt spid="5428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282"/>
                                        </p:tgtEl>
                                        <p:attrNameLst>
                                          <p:attrName>style.visibility</p:attrName>
                                        </p:attrNameLst>
                                      </p:cBhvr>
                                      <p:to>
                                        <p:strVal val="visible"/>
                                      </p:to>
                                    </p:set>
                                    <p:anim calcmode="lin" valueType="num">
                                      <p:cBhvr additive="base">
                                        <p:cTn id="11" dur="500" fill="hold"/>
                                        <p:tgtEl>
                                          <p:spTgt spid="54282"/>
                                        </p:tgtEl>
                                        <p:attrNameLst>
                                          <p:attrName>ppt_x</p:attrName>
                                        </p:attrNameLst>
                                      </p:cBhvr>
                                      <p:tavLst>
                                        <p:tav tm="0">
                                          <p:val>
                                            <p:strVal val="#ppt_x"/>
                                          </p:val>
                                        </p:tav>
                                        <p:tav tm="100000">
                                          <p:val>
                                            <p:strVal val="#ppt_x"/>
                                          </p:val>
                                        </p:tav>
                                      </p:tavLst>
                                    </p:anim>
                                    <p:anim calcmode="lin" valueType="num">
                                      <p:cBhvr additive="base">
                                        <p:cTn id="12" dur="500" fill="hold"/>
                                        <p:tgtEl>
                                          <p:spTgt spid="5428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4283"/>
                                        </p:tgtEl>
                                        <p:attrNameLst>
                                          <p:attrName>style.visibility</p:attrName>
                                        </p:attrNameLst>
                                      </p:cBhvr>
                                      <p:to>
                                        <p:strVal val="visible"/>
                                      </p:to>
                                    </p:set>
                                    <p:anim calcmode="lin" valueType="num">
                                      <p:cBhvr additive="base">
                                        <p:cTn id="15" dur="500" fill="hold"/>
                                        <p:tgtEl>
                                          <p:spTgt spid="54283"/>
                                        </p:tgtEl>
                                        <p:attrNameLst>
                                          <p:attrName>ppt_x</p:attrName>
                                        </p:attrNameLst>
                                      </p:cBhvr>
                                      <p:tavLst>
                                        <p:tav tm="0">
                                          <p:val>
                                            <p:strVal val="#ppt_x"/>
                                          </p:val>
                                        </p:tav>
                                        <p:tav tm="100000">
                                          <p:val>
                                            <p:strVal val="#ppt_x"/>
                                          </p:val>
                                        </p:tav>
                                      </p:tavLst>
                                    </p:anim>
                                    <p:anim calcmode="lin" valueType="num">
                                      <p:cBhvr additive="base">
                                        <p:cTn id="16" dur="500" fill="hold"/>
                                        <p:tgtEl>
                                          <p:spTgt spid="5428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nodeType="clickEffect">
                                  <p:stCondLst>
                                    <p:cond delay="0"/>
                                  </p:stCondLst>
                                  <p:childTnLst>
                                    <p:animEffect transition="out" filter="dissolve">
                                      <p:cBhvr>
                                        <p:cTn id="20" dur="500"/>
                                        <p:tgtEl>
                                          <p:spTgt spid="54282"/>
                                        </p:tgtEl>
                                      </p:cBhvr>
                                    </p:animEffect>
                                    <p:set>
                                      <p:cBhvr>
                                        <p:cTn id="21" dur="1" fill="hold">
                                          <p:stCondLst>
                                            <p:cond delay="499"/>
                                          </p:stCondLst>
                                        </p:cTn>
                                        <p:tgtEl>
                                          <p:spTgt spid="54282"/>
                                        </p:tgtEl>
                                        <p:attrNameLst>
                                          <p:attrName>style.visibility</p:attrName>
                                        </p:attrNameLst>
                                      </p:cBhvr>
                                      <p:to>
                                        <p:strVal val="hidden"/>
                                      </p:to>
                                    </p:set>
                                  </p:childTnLst>
                                </p:cTn>
                              </p:par>
                              <p:par>
                                <p:cTn id="22" presetID="9" presetClass="exit" presetSubtype="0" fill="hold" nodeType="withEffect">
                                  <p:stCondLst>
                                    <p:cond delay="0"/>
                                  </p:stCondLst>
                                  <p:childTnLst>
                                    <p:animEffect transition="out" filter="dissolve">
                                      <p:cBhvr>
                                        <p:cTn id="23" dur="500"/>
                                        <p:tgtEl>
                                          <p:spTgt spid="54283"/>
                                        </p:tgtEl>
                                      </p:cBhvr>
                                    </p:animEffect>
                                    <p:set>
                                      <p:cBhvr>
                                        <p:cTn id="24" dur="1" fill="hold">
                                          <p:stCondLst>
                                            <p:cond delay="499"/>
                                          </p:stCondLst>
                                        </p:cTn>
                                        <p:tgtEl>
                                          <p:spTgt spid="54283"/>
                                        </p:tgtEl>
                                        <p:attrNameLst>
                                          <p:attrName>style.visibility</p:attrName>
                                        </p:attrNameLst>
                                      </p:cBhvr>
                                      <p:to>
                                        <p:strVal val="hidden"/>
                                      </p:to>
                                    </p:set>
                                  </p:childTnLst>
                                </p:cTn>
                              </p:par>
                              <p:par>
                                <p:cTn id="25" presetID="2" presetClass="entr" presetSubtype="4" fill="hold" nodeType="withEffect">
                                  <p:stCondLst>
                                    <p:cond delay="0"/>
                                  </p:stCondLst>
                                  <p:childTnLst>
                                    <p:set>
                                      <p:cBhvr>
                                        <p:cTn id="26" dur="1" fill="hold">
                                          <p:stCondLst>
                                            <p:cond delay="0"/>
                                          </p:stCondLst>
                                        </p:cTn>
                                        <p:tgtEl>
                                          <p:spTgt spid="54276"/>
                                        </p:tgtEl>
                                        <p:attrNameLst>
                                          <p:attrName>style.visibility</p:attrName>
                                        </p:attrNameLst>
                                      </p:cBhvr>
                                      <p:to>
                                        <p:strVal val="visible"/>
                                      </p:to>
                                    </p:set>
                                    <p:anim calcmode="lin" valueType="num">
                                      <p:cBhvr additive="base">
                                        <p:cTn id="27" dur="500" fill="hold"/>
                                        <p:tgtEl>
                                          <p:spTgt spid="54276"/>
                                        </p:tgtEl>
                                        <p:attrNameLst>
                                          <p:attrName>ppt_x</p:attrName>
                                        </p:attrNameLst>
                                      </p:cBhvr>
                                      <p:tavLst>
                                        <p:tav tm="0">
                                          <p:val>
                                            <p:strVal val="#ppt_x"/>
                                          </p:val>
                                        </p:tav>
                                        <p:tav tm="100000">
                                          <p:val>
                                            <p:strVal val="#ppt_x"/>
                                          </p:val>
                                        </p:tav>
                                      </p:tavLst>
                                    </p:anim>
                                    <p:anim calcmode="lin" valueType="num">
                                      <p:cBhvr additive="base">
                                        <p:cTn id="28" dur="500" fill="hold"/>
                                        <p:tgtEl>
                                          <p:spTgt spid="5427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54276"/>
                                        </p:tgtEl>
                                      </p:cBhvr>
                                    </p:animEffect>
                                    <p:set>
                                      <p:cBhvr>
                                        <p:cTn id="33" dur="1" fill="hold">
                                          <p:stCondLst>
                                            <p:cond delay="499"/>
                                          </p:stCondLst>
                                        </p:cTn>
                                        <p:tgtEl>
                                          <p:spTgt spid="54276"/>
                                        </p:tgtEl>
                                        <p:attrNameLst>
                                          <p:attrName>style.visibility</p:attrName>
                                        </p:attrNameLst>
                                      </p:cBhvr>
                                      <p:to>
                                        <p:strVal val="hidden"/>
                                      </p:to>
                                    </p:set>
                                  </p:childTnLst>
                                </p:cTn>
                              </p:par>
                              <p:par>
                                <p:cTn id="34" presetID="9" presetClass="exit" presetSubtype="0" fill="hold" nodeType="withEffect">
                                  <p:stCondLst>
                                    <p:cond delay="0"/>
                                  </p:stCondLst>
                                  <p:childTnLst>
                                    <p:animEffect transition="out" filter="dissolve">
                                      <p:cBhvr>
                                        <p:cTn id="35" dur="500"/>
                                        <p:tgtEl>
                                          <p:spTgt spid="54281"/>
                                        </p:tgtEl>
                                      </p:cBhvr>
                                    </p:animEffect>
                                    <p:set>
                                      <p:cBhvr>
                                        <p:cTn id="36" dur="1" fill="hold">
                                          <p:stCondLst>
                                            <p:cond delay="499"/>
                                          </p:stCondLst>
                                        </p:cTn>
                                        <p:tgtEl>
                                          <p:spTgt spid="54281"/>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9" presetClass="exit" presetSubtype="0" fill="hold" nodeType="clickEffect">
                                  <p:stCondLst>
                                    <p:cond delay="0"/>
                                  </p:stCondLst>
                                  <p:childTnLst>
                                    <p:animEffect transition="out" filter="dissolve">
                                      <p:cBhvr>
                                        <p:cTn id="48" dur="500"/>
                                        <p:tgtEl>
                                          <p:spTgt spid="12"/>
                                        </p:tgtEl>
                                      </p:cBhvr>
                                    </p:animEffect>
                                    <p:set>
                                      <p:cBhvr>
                                        <p:cTn id="49" dur="1" fill="hold">
                                          <p:stCondLst>
                                            <p:cond delay="499"/>
                                          </p:stCondLst>
                                        </p:cTn>
                                        <p:tgtEl>
                                          <p:spTgt spid="12"/>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9" presetClass="exit" presetSubtype="0" fill="hold" nodeType="clickEffect">
                                  <p:stCondLst>
                                    <p:cond delay="0"/>
                                  </p:stCondLst>
                                  <p:childTnLst>
                                    <p:animEffect transition="out" filter="dissolve">
                                      <p:cBhvr>
                                        <p:cTn id="59" dur="500"/>
                                        <p:tgtEl>
                                          <p:spTgt spid="10"/>
                                        </p:tgtEl>
                                      </p:cBhvr>
                                    </p:animEffect>
                                    <p:set>
                                      <p:cBhvr>
                                        <p:cTn id="60" dur="1" fill="hold">
                                          <p:stCondLst>
                                            <p:cond delay="499"/>
                                          </p:stCondLst>
                                        </p:cTn>
                                        <p:tgtEl>
                                          <p:spTgt spid="1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9" presetClass="exit" presetSubtype="0" fill="hold" nodeType="clickEffect">
                                  <p:stCondLst>
                                    <p:cond delay="0"/>
                                  </p:stCondLst>
                                  <p:childTnLst>
                                    <p:animEffect transition="out" filter="dissolve">
                                      <p:cBhvr>
                                        <p:cTn id="64" dur="500"/>
                                        <p:tgtEl>
                                          <p:spTgt spid="20"/>
                                        </p:tgtEl>
                                      </p:cBhvr>
                                    </p:animEffect>
                                    <p:set>
                                      <p:cBhvr>
                                        <p:cTn id="65" dur="1" fill="hold">
                                          <p:stCondLst>
                                            <p:cond delay="499"/>
                                          </p:stCondLst>
                                        </p:cTn>
                                        <p:tgtEl>
                                          <p:spTgt spid="20"/>
                                        </p:tgtEl>
                                        <p:attrNameLst>
                                          <p:attrName>style.visibility</p:attrName>
                                        </p:attrNameLst>
                                      </p:cBhvr>
                                      <p:to>
                                        <p:strVal val="hidden"/>
                                      </p:to>
                                    </p:set>
                                  </p:childTnLst>
                                </p:cTn>
                              </p:par>
                              <p:par>
                                <p:cTn id="66" presetID="9" presetClass="exit" presetSubtype="0" fill="hold" nodeType="withEffect">
                                  <p:stCondLst>
                                    <p:cond delay="0"/>
                                  </p:stCondLst>
                                  <p:childTnLst>
                                    <p:animEffect transition="out" filter="dissolve">
                                      <p:cBhvr>
                                        <p:cTn id="67" dur="500"/>
                                        <p:tgtEl>
                                          <p:spTgt spid="54281"/>
                                        </p:tgtEl>
                                      </p:cBhvr>
                                    </p:animEffect>
                                    <p:set>
                                      <p:cBhvr>
                                        <p:cTn id="68" dur="1" fill="hold">
                                          <p:stCondLst>
                                            <p:cond delay="499"/>
                                          </p:stCondLst>
                                        </p:cTn>
                                        <p:tgtEl>
                                          <p:spTgt spid="54281"/>
                                        </p:tgtEl>
                                        <p:attrNameLst>
                                          <p:attrName>style.visibility</p:attrName>
                                        </p:attrNameLst>
                                      </p:cBhvr>
                                      <p:to>
                                        <p:strVal val="hidden"/>
                                      </p:to>
                                    </p:set>
                                  </p:childTnLst>
                                </p:cTn>
                              </p:par>
                              <p:par>
                                <p:cTn id="69" presetID="2" presetClass="entr" presetSubtype="4" fill="hold" nodeType="withEffect">
                                  <p:stCondLst>
                                    <p:cond delay="0"/>
                                  </p:stCondLst>
                                  <p:childTnLst>
                                    <p:set>
                                      <p:cBhvr>
                                        <p:cTn id="70" dur="1" fill="hold">
                                          <p:stCondLst>
                                            <p:cond delay="0"/>
                                          </p:stCondLst>
                                        </p:cTn>
                                        <p:tgtEl>
                                          <p:spTgt spid="54275"/>
                                        </p:tgtEl>
                                        <p:attrNameLst>
                                          <p:attrName>style.visibility</p:attrName>
                                        </p:attrNameLst>
                                      </p:cBhvr>
                                      <p:to>
                                        <p:strVal val="visible"/>
                                      </p:to>
                                    </p:set>
                                    <p:anim calcmode="lin" valueType="num">
                                      <p:cBhvr additive="base">
                                        <p:cTn id="71" dur="500" fill="hold"/>
                                        <p:tgtEl>
                                          <p:spTgt spid="54275"/>
                                        </p:tgtEl>
                                        <p:attrNameLst>
                                          <p:attrName>ppt_x</p:attrName>
                                        </p:attrNameLst>
                                      </p:cBhvr>
                                      <p:tavLst>
                                        <p:tav tm="0">
                                          <p:val>
                                            <p:strVal val="#ppt_x"/>
                                          </p:val>
                                        </p:tav>
                                        <p:tav tm="100000">
                                          <p:val>
                                            <p:strVal val="#ppt_x"/>
                                          </p:val>
                                        </p:tav>
                                      </p:tavLst>
                                    </p:anim>
                                    <p:anim calcmode="lin" valueType="num">
                                      <p:cBhvr additive="base">
                                        <p:cTn id="72" dur="500" fill="hold"/>
                                        <p:tgtEl>
                                          <p:spTgt spid="54275"/>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idx="4294967295"/>
          </p:nvPr>
        </p:nvSpPr>
        <p:spPr>
          <a:xfrm>
            <a:off x="301625" y="76200"/>
            <a:ext cx="8540750" cy="1143000"/>
          </a:xfrm>
        </p:spPr>
        <p:txBody>
          <a:bodyPr/>
          <a:lstStyle/>
          <a:p>
            <a:r>
              <a:rPr lang="en-US" smtClean="0">
                <a:latin typeface="Tahoma" pitchFamily="34" charset="0"/>
              </a:rPr>
              <a:t>WaterML Evolution</a:t>
            </a:r>
          </a:p>
        </p:txBody>
      </p:sp>
      <p:sp>
        <p:nvSpPr>
          <p:cNvPr id="57346" name="Content Placeholder 3"/>
          <p:cNvSpPr>
            <a:spLocks noGrp="1"/>
          </p:cNvSpPr>
          <p:nvPr>
            <p:ph idx="4294967295"/>
          </p:nvPr>
        </p:nvSpPr>
        <p:spPr>
          <a:xfrm>
            <a:off x="228600" y="1219200"/>
            <a:ext cx="8842375" cy="4498975"/>
          </a:xfrm>
        </p:spPr>
        <p:txBody>
          <a:bodyPr/>
          <a:lstStyle/>
          <a:p>
            <a:r>
              <a:rPr lang="en-US" smtClean="0">
                <a:solidFill>
                  <a:srgbClr val="FFFF00"/>
                </a:solidFill>
                <a:latin typeface="Tahoma" pitchFamily="34" charset="0"/>
              </a:rPr>
              <a:t>WaterML 1.0</a:t>
            </a:r>
            <a:r>
              <a:rPr lang="en-US" smtClean="0">
                <a:latin typeface="Tahoma" pitchFamily="34" charset="0"/>
              </a:rPr>
              <a:t>: OGC Discussion Paper, 2007 </a:t>
            </a:r>
          </a:p>
          <a:p>
            <a:r>
              <a:rPr lang="en-US" smtClean="0">
                <a:solidFill>
                  <a:srgbClr val="FFFF00"/>
                </a:solidFill>
                <a:latin typeface="Tahoma" pitchFamily="34" charset="0"/>
              </a:rPr>
              <a:t>WaterML 1.1</a:t>
            </a:r>
            <a:r>
              <a:rPr lang="en-US" smtClean="0">
                <a:latin typeface="Tahoma" pitchFamily="34" charset="0"/>
              </a:rPr>
              <a:t>: mid-2008</a:t>
            </a:r>
          </a:p>
          <a:p>
            <a:pPr lvl="1"/>
            <a:r>
              <a:rPr lang="en-US" smtClean="0">
                <a:latin typeface="Tahoma" pitchFamily="34" charset="0"/>
              </a:rPr>
              <a:t>To reflect changes in ODM 1.1 (expose additional fields)</a:t>
            </a:r>
          </a:p>
          <a:p>
            <a:pPr lvl="1"/>
            <a:r>
              <a:rPr lang="en-US" smtClean="0">
                <a:latin typeface="Tahoma" pitchFamily="34" charset="0"/>
              </a:rPr>
              <a:t>To remove enumerations used to implement controlled vocabularies (e.g. for ValueType, DataType, GeneralCategory)</a:t>
            </a:r>
          </a:p>
          <a:p>
            <a:pPr lvl="1"/>
            <a:r>
              <a:rPr lang="en-US" smtClean="0">
                <a:latin typeface="Tahoma" pitchFamily="34" charset="0"/>
              </a:rPr>
              <a:t>Consistency (e.g. remove reliance on IDs; units</a:t>
            </a:r>
          </a:p>
          <a:p>
            <a:r>
              <a:rPr lang="en-US" smtClean="0">
                <a:solidFill>
                  <a:srgbClr val="FFFF00"/>
                </a:solidFill>
                <a:latin typeface="Tahoma" pitchFamily="34" charset="0"/>
              </a:rPr>
              <a:t>WaterML 2.0</a:t>
            </a:r>
            <a:r>
              <a:rPr lang="en-US" smtClean="0">
                <a:latin typeface="Tahoma" pitchFamily="34" charset="0"/>
              </a:rPr>
              <a:t>: harmonizing WaterML 1.1 with O&amp;M, to be accessed via SOS and/or WFS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4953000" y="0"/>
            <a:ext cx="4191000" cy="1600200"/>
          </a:xfrm>
        </p:spPr>
        <p:txBody>
          <a:bodyPr/>
          <a:lstStyle/>
          <a:p>
            <a:pPr eaLnBrk="1" hangingPunct="1"/>
            <a:r>
              <a:rPr lang="en-US" smtClean="0"/>
              <a:t>Site Information (Descriptive)</a:t>
            </a:r>
          </a:p>
        </p:txBody>
      </p:sp>
      <p:sp>
        <p:nvSpPr>
          <p:cNvPr id="62466" name="Text Placeholder 3"/>
          <p:cNvSpPr>
            <a:spLocks noGrp="1"/>
          </p:cNvSpPr>
          <p:nvPr>
            <p:ph type="body" idx="1"/>
          </p:nvPr>
        </p:nvSpPr>
        <p:spPr/>
        <p:txBody>
          <a:bodyPr/>
          <a:lstStyle/>
          <a:p>
            <a:pPr eaLnBrk="1" hangingPunct="1"/>
            <a:endParaRPr lang="en-AU" smtClean="0"/>
          </a:p>
        </p:txBody>
      </p:sp>
      <p:sp>
        <p:nvSpPr>
          <p:cNvPr id="62467" name="Text Placeholder 5"/>
          <p:cNvSpPr>
            <a:spLocks noGrp="1"/>
          </p:cNvSpPr>
          <p:nvPr>
            <p:ph type="body" sz="quarter" idx="3"/>
          </p:nvPr>
        </p:nvSpPr>
        <p:spPr/>
        <p:txBody>
          <a:bodyPr/>
          <a:lstStyle/>
          <a:p>
            <a:pPr eaLnBrk="1" hangingPunct="1"/>
            <a:endParaRPr lang="en-AU" smtClean="0"/>
          </a:p>
        </p:txBody>
      </p:sp>
      <p:sp>
        <p:nvSpPr>
          <p:cNvPr id="62468" name="Content Placeholder 6"/>
          <p:cNvSpPr>
            <a:spLocks noGrp="1"/>
          </p:cNvSpPr>
          <p:nvPr>
            <p:ph sz="quarter" idx="4"/>
          </p:nvPr>
        </p:nvSpPr>
        <p:spPr/>
        <p:txBody>
          <a:bodyPr/>
          <a:lstStyle/>
          <a:p>
            <a:pPr eaLnBrk="1" hangingPunct="1"/>
            <a:endParaRPr lang="en-AU" smtClean="0"/>
          </a:p>
        </p:txBody>
      </p:sp>
      <p:pic>
        <p:nvPicPr>
          <p:cNvPr id="62469" name="Picture 6"/>
          <p:cNvPicPr>
            <a:picLocks noChangeAspect="1" noChangeArrowheads="1"/>
          </p:cNvPicPr>
          <p:nvPr/>
        </p:nvPicPr>
        <p:blipFill>
          <a:blip r:embed="rId3" cstate="print"/>
          <a:srcRect/>
          <a:stretch>
            <a:fillRect/>
          </a:stretch>
        </p:blipFill>
        <p:spPr bwMode="auto">
          <a:xfrm>
            <a:off x="152400" y="381000"/>
            <a:ext cx="4876800" cy="5986463"/>
          </a:xfrm>
          <a:prstGeom prst="rect">
            <a:avLst/>
          </a:prstGeom>
          <a:noFill/>
          <a:ln w="9525">
            <a:noFill/>
            <a:miter lim="800000"/>
            <a:headEnd/>
            <a:tailEnd/>
          </a:ln>
        </p:spPr>
      </p:pic>
      <p:pic>
        <p:nvPicPr>
          <p:cNvPr id="50178" name="Picture 2"/>
          <p:cNvPicPr>
            <a:picLocks noGrp="1" noChangeAspect="1" noChangeArrowheads="1"/>
          </p:cNvPicPr>
          <p:nvPr>
            <p:ph sz="half" idx="4294967295"/>
          </p:nvPr>
        </p:nvPicPr>
        <p:blipFill>
          <a:blip r:embed="rId4" cstate="print"/>
          <a:srcRect/>
          <a:stretch>
            <a:fillRect/>
          </a:stretch>
        </p:blipFill>
        <p:spPr>
          <a:xfrm>
            <a:off x="1143000" y="1524000"/>
            <a:ext cx="7239000" cy="4589463"/>
          </a:xfrm>
        </p:spPr>
      </p:pic>
      <p:grpSp>
        <p:nvGrpSpPr>
          <p:cNvPr id="22" name="Group 21"/>
          <p:cNvGrpSpPr>
            <a:grpSpLocks/>
          </p:cNvGrpSpPr>
          <p:nvPr/>
        </p:nvGrpSpPr>
        <p:grpSpPr bwMode="auto">
          <a:xfrm>
            <a:off x="1981200" y="838200"/>
            <a:ext cx="4876800" cy="1447800"/>
            <a:chOff x="1981200" y="838200"/>
            <a:chExt cx="4876800" cy="1447800"/>
          </a:xfrm>
        </p:grpSpPr>
        <p:sp>
          <p:nvSpPr>
            <p:cNvPr id="62479" name="Rounded Rectangle 8"/>
            <p:cNvSpPr>
              <a:spLocks noChangeArrowheads="1"/>
            </p:cNvSpPr>
            <p:nvPr/>
          </p:nvSpPr>
          <p:spPr bwMode="auto">
            <a:xfrm>
              <a:off x="2743200" y="2057400"/>
              <a:ext cx="1295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2480" name="Rounded Rectangle 11"/>
            <p:cNvSpPr>
              <a:spLocks noChangeArrowheads="1"/>
            </p:cNvSpPr>
            <p:nvPr/>
          </p:nvSpPr>
          <p:spPr bwMode="auto">
            <a:xfrm>
              <a:off x="5105400" y="2057400"/>
              <a:ext cx="17526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13" name="TextBox 12"/>
            <p:cNvSpPr txBox="1"/>
            <p:nvPr/>
          </p:nvSpPr>
          <p:spPr>
            <a:xfrm>
              <a:off x="1981200" y="838200"/>
              <a:ext cx="3048000" cy="646113"/>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t>Unique Reference:</a:t>
              </a:r>
            </a:p>
            <a:p>
              <a:pPr algn="ctr">
                <a:defRPr/>
              </a:pPr>
              <a:r>
                <a:rPr lang="en-US" dirty="0"/>
                <a:t>LBR:USU-LBR-Wellsville</a:t>
              </a:r>
            </a:p>
          </p:txBody>
        </p:sp>
        <p:cxnSp>
          <p:nvCxnSpPr>
            <p:cNvPr id="62482" name="Straight Arrow Connector 14"/>
            <p:cNvCxnSpPr>
              <a:cxnSpLocks noChangeShapeType="1"/>
            </p:cNvCxnSpPr>
            <p:nvPr/>
          </p:nvCxnSpPr>
          <p:spPr bwMode="auto">
            <a:xfrm rot="10800000" flipV="1">
              <a:off x="3048000" y="1524000"/>
              <a:ext cx="838200" cy="533400"/>
            </a:xfrm>
            <a:prstGeom prst="straightConnector1">
              <a:avLst/>
            </a:prstGeom>
            <a:noFill/>
            <a:ln w="9525" algn="ctr">
              <a:solidFill>
                <a:schemeClr val="tx1"/>
              </a:solidFill>
              <a:round/>
              <a:headEnd/>
              <a:tailEnd type="arrow" w="med" len="med"/>
            </a:ln>
          </p:spPr>
        </p:cxnSp>
        <p:cxnSp>
          <p:nvCxnSpPr>
            <p:cNvPr id="62483" name="Straight Arrow Connector 16"/>
            <p:cNvCxnSpPr>
              <a:cxnSpLocks noChangeShapeType="1"/>
            </p:cNvCxnSpPr>
            <p:nvPr/>
          </p:nvCxnSpPr>
          <p:spPr bwMode="auto">
            <a:xfrm>
              <a:off x="3886200" y="1524000"/>
              <a:ext cx="1447800" cy="533400"/>
            </a:xfrm>
            <a:prstGeom prst="straightConnector1">
              <a:avLst/>
            </a:prstGeom>
            <a:noFill/>
            <a:ln w="9525" algn="ctr">
              <a:solidFill>
                <a:schemeClr val="tx1"/>
              </a:solidFill>
              <a:round/>
              <a:headEnd/>
              <a:tailEnd type="arrow" w="med" len="med"/>
            </a:ln>
          </p:spPr>
        </p:cxnSp>
      </p:grpSp>
      <p:grpSp>
        <p:nvGrpSpPr>
          <p:cNvPr id="62472" name="Group 22"/>
          <p:cNvGrpSpPr>
            <a:grpSpLocks/>
          </p:cNvGrpSpPr>
          <p:nvPr/>
        </p:nvGrpSpPr>
        <p:grpSpPr bwMode="auto">
          <a:xfrm>
            <a:off x="457200" y="2438400"/>
            <a:ext cx="7239000" cy="762000"/>
            <a:chOff x="457200" y="2438400"/>
            <a:chExt cx="7239000" cy="762000"/>
          </a:xfrm>
        </p:grpSpPr>
        <p:sp>
          <p:nvSpPr>
            <p:cNvPr id="62476" name="Rounded Rectangle 13"/>
            <p:cNvSpPr>
              <a:spLocks noChangeArrowheads="1"/>
            </p:cNvSpPr>
            <p:nvPr/>
          </p:nvSpPr>
          <p:spPr bwMode="auto">
            <a:xfrm>
              <a:off x="2209800" y="2438400"/>
              <a:ext cx="5486400" cy="7620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2477" name="Rounded Rectangle 15"/>
            <p:cNvSpPr>
              <a:spLocks noChangeArrowheads="1"/>
            </p:cNvSpPr>
            <p:nvPr/>
          </p:nvSpPr>
          <p:spPr bwMode="auto">
            <a:xfrm>
              <a:off x="3505200" y="2438400"/>
              <a:ext cx="2438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20" name="TextBox 19"/>
            <p:cNvSpPr txBox="1"/>
            <p:nvPr/>
          </p:nvSpPr>
          <p:spPr>
            <a:xfrm>
              <a:off x="457200" y="2438400"/>
              <a:ext cx="1600200" cy="646113"/>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t>Location:</a:t>
              </a:r>
            </a:p>
            <a:p>
              <a:pPr algn="ctr">
                <a:defRPr/>
              </a:pPr>
              <a:r>
                <a:rPr lang="en-US" dirty="0"/>
                <a:t>Type: Point</a:t>
              </a:r>
            </a:p>
          </p:txBody>
        </p:sp>
      </p:grpSp>
      <p:grpSp>
        <p:nvGrpSpPr>
          <p:cNvPr id="24" name="Group 23"/>
          <p:cNvGrpSpPr>
            <a:grpSpLocks/>
          </p:cNvGrpSpPr>
          <p:nvPr/>
        </p:nvGrpSpPr>
        <p:grpSpPr bwMode="auto">
          <a:xfrm>
            <a:off x="152400" y="4419600"/>
            <a:ext cx="7162800" cy="533400"/>
            <a:chOff x="152400" y="4419600"/>
            <a:chExt cx="7162800" cy="533400"/>
          </a:xfrm>
        </p:grpSpPr>
        <p:sp>
          <p:nvSpPr>
            <p:cNvPr id="62474" name="Rounded Rectangle 17"/>
            <p:cNvSpPr>
              <a:spLocks noChangeArrowheads="1"/>
            </p:cNvSpPr>
            <p:nvPr/>
          </p:nvSpPr>
          <p:spPr bwMode="auto">
            <a:xfrm>
              <a:off x="1828800" y="4572000"/>
              <a:ext cx="5486400" cy="3810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21" name="TextBox 20"/>
            <p:cNvSpPr txBox="1"/>
            <p:nvPr/>
          </p:nvSpPr>
          <p:spPr>
            <a:xfrm>
              <a:off x="152400" y="4419600"/>
              <a:ext cx="1600200" cy="369888"/>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t>Properties</a:t>
              </a:r>
            </a:p>
          </p:txBody>
        </p:sp>
      </p:grpSp>
      <p:sp>
        <p:nvSpPr>
          <p:cNvPr id="62485" name="Text Box 21"/>
          <p:cNvSpPr txBox="1">
            <a:spLocks noChangeArrowheads="1"/>
          </p:cNvSpPr>
          <p:nvPr/>
        </p:nvSpPr>
        <p:spPr bwMode="auto">
          <a:xfrm>
            <a:off x="4724400" y="3276600"/>
            <a:ext cx="4222750" cy="1190625"/>
          </a:xfrm>
          <a:prstGeom prst="rect">
            <a:avLst/>
          </a:prstGeom>
          <a:solidFill>
            <a:srgbClr val="3333CC"/>
          </a:solidFill>
          <a:ln w="9525">
            <a:noFill/>
            <a:miter lim="800000"/>
            <a:headEnd/>
            <a:tailEnd/>
          </a:ln>
          <a:effectLst/>
        </p:spPr>
        <p:txBody>
          <a:bodyPr wrap="none">
            <a:spAutoFit/>
          </a:bodyPr>
          <a:lstStyle/>
          <a:p>
            <a:r>
              <a:rPr lang="en-AU" sz="3600">
                <a:solidFill>
                  <a:schemeClr val="bg1"/>
                </a:solidFill>
              </a:rPr>
              <a:t>feature of interest </a:t>
            </a:r>
          </a:p>
          <a:p>
            <a:r>
              <a:rPr lang="en-AU" sz="3600">
                <a:solidFill>
                  <a:schemeClr val="bg1"/>
                </a:solidFill>
              </a:rPr>
              <a:t>(Sampling Feature)</a:t>
            </a:r>
            <a:r>
              <a:rPr lang="en-AU" sz="36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additive="base">
                                        <p:cTn id="7" dur="500" fill="hold"/>
                                        <p:tgtEl>
                                          <p:spTgt spid="50178"/>
                                        </p:tgtEl>
                                        <p:attrNameLst>
                                          <p:attrName>ppt_x</p:attrName>
                                        </p:attrNameLst>
                                      </p:cBhvr>
                                      <p:tavLst>
                                        <p:tav tm="0">
                                          <p:val>
                                            <p:strVal val="#ppt_x"/>
                                          </p:val>
                                        </p:tav>
                                        <p:tav tm="100000">
                                          <p:val>
                                            <p:strVal val="#ppt_x"/>
                                          </p:val>
                                        </p:tav>
                                      </p:tavLst>
                                    </p:anim>
                                    <p:anim calcmode="lin" valueType="num">
                                      <p:cBhvr additive="base">
                                        <p:cTn id="8"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472"/>
                                        </p:tgtEl>
                                        <p:attrNameLst>
                                          <p:attrName>style.visibility</p:attrName>
                                        </p:attrNameLst>
                                      </p:cBhvr>
                                      <p:to>
                                        <p:strVal val="visible"/>
                                      </p:to>
                                    </p:set>
                                    <p:anim calcmode="lin" valueType="num">
                                      <p:cBhvr additive="base">
                                        <p:cTn id="13" dur="500" fill="hold"/>
                                        <p:tgtEl>
                                          <p:spTgt spid="62472"/>
                                        </p:tgtEl>
                                        <p:attrNameLst>
                                          <p:attrName>ppt_x</p:attrName>
                                        </p:attrNameLst>
                                      </p:cBhvr>
                                      <p:tavLst>
                                        <p:tav tm="0">
                                          <p:val>
                                            <p:strVal val="#ppt_x"/>
                                          </p:val>
                                        </p:tav>
                                        <p:tav tm="100000">
                                          <p:val>
                                            <p:strVal val="#ppt_x"/>
                                          </p:val>
                                        </p:tav>
                                      </p:tavLst>
                                    </p:anim>
                                    <p:anim calcmode="lin" valueType="num">
                                      <p:cBhvr additive="base">
                                        <p:cTn id="14" dur="500" fill="hold"/>
                                        <p:tgtEl>
                                          <p:spTgt spid="624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2485"/>
                                        </p:tgtEl>
                                        <p:attrNameLst>
                                          <p:attrName>style.visibility</p:attrName>
                                        </p:attrNameLst>
                                      </p:cBhvr>
                                      <p:to>
                                        <p:strVal val="visible"/>
                                      </p:to>
                                    </p:set>
                                    <p:anim calcmode="lin" valueType="num">
                                      <p:cBhvr additive="base">
                                        <p:cTn id="31" dur="1000" fill="hold"/>
                                        <p:tgtEl>
                                          <p:spTgt spid="62485"/>
                                        </p:tgtEl>
                                        <p:attrNameLst>
                                          <p:attrName>ppt_x</p:attrName>
                                        </p:attrNameLst>
                                      </p:cBhvr>
                                      <p:tavLst>
                                        <p:tav tm="0">
                                          <p:val>
                                            <p:strVal val="#ppt_x"/>
                                          </p:val>
                                        </p:tav>
                                        <p:tav tm="100000">
                                          <p:val>
                                            <p:strVal val="#ppt_x"/>
                                          </p:val>
                                        </p:tav>
                                      </p:tavLst>
                                    </p:anim>
                                    <p:anim calcmode="lin" valueType="num">
                                      <p:cBhvr additive="base">
                                        <p:cTn id="32" dur="1000" fill="hold"/>
                                        <p:tgtEl>
                                          <p:spTgt spid="62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8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Placeholder 3"/>
          <p:cNvSpPr>
            <a:spLocks noGrp="1"/>
          </p:cNvSpPr>
          <p:nvPr>
            <p:ph type="body" idx="1"/>
          </p:nvPr>
        </p:nvSpPr>
        <p:spPr/>
        <p:txBody>
          <a:bodyPr/>
          <a:lstStyle/>
          <a:p>
            <a:pPr eaLnBrk="1" hangingPunct="1"/>
            <a:endParaRPr lang="en-AU" smtClean="0"/>
          </a:p>
        </p:txBody>
      </p:sp>
      <p:sp>
        <p:nvSpPr>
          <p:cNvPr id="64514" name="Content Placeholder 4"/>
          <p:cNvSpPr>
            <a:spLocks noGrp="1"/>
          </p:cNvSpPr>
          <p:nvPr>
            <p:ph sz="half" idx="2"/>
          </p:nvPr>
        </p:nvSpPr>
        <p:spPr/>
        <p:txBody>
          <a:bodyPr/>
          <a:lstStyle/>
          <a:p>
            <a:pPr eaLnBrk="1" hangingPunct="1"/>
            <a:endParaRPr lang="en-AU" smtClean="0"/>
          </a:p>
        </p:txBody>
      </p:sp>
      <p:sp>
        <p:nvSpPr>
          <p:cNvPr id="64515" name="Text Placeholder 5"/>
          <p:cNvSpPr>
            <a:spLocks noGrp="1"/>
          </p:cNvSpPr>
          <p:nvPr>
            <p:ph type="body" sz="quarter" idx="3"/>
          </p:nvPr>
        </p:nvSpPr>
        <p:spPr/>
        <p:txBody>
          <a:bodyPr/>
          <a:lstStyle/>
          <a:p>
            <a:pPr eaLnBrk="1" hangingPunct="1"/>
            <a:endParaRPr lang="en-AU" smtClean="0"/>
          </a:p>
        </p:txBody>
      </p:sp>
      <p:pic>
        <p:nvPicPr>
          <p:cNvPr id="64516" name="Picture 2"/>
          <p:cNvPicPr>
            <a:picLocks noChangeAspect="1" noChangeArrowheads="1"/>
          </p:cNvPicPr>
          <p:nvPr/>
        </p:nvPicPr>
        <p:blipFill>
          <a:blip r:embed="rId3" cstate="print"/>
          <a:srcRect l="18073"/>
          <a:stretch>
            <a:fillRect/>
          </a:stretch>
        </p:blipFill>
        <p:spPr bwMode="auto">
          <a:xfrm>
            <a:off x="0" y="381000"/>
            <a:ext cx="5181600" cy="5705475"/>
          </a:xfrm>
          <a:prstGeom prst="rect">
            <a:avLst/>
          </a:prstGeom>
          <a:noFill/>
          <a:ln w="9525">
            <a:noFill/>
            <a:miter lim="800000"/>
            <a:headEnd/>
            <a:tailEnd/>
          </a:ln>
        </p:spPr>
      </p:pic>
      <p:pic>
        <p:nvPicPr>
          <p:cNvPr id="48130" name="Picture 2"/>
          <p:cNvPicPr>
            <a:picLocks noChangeAspect="1" noChangeArrowheads="1"/>
          </p:cNvPicPr>
          <p:nvPr/>
        </p:nvPicPr>
        <p:blipFill>
          <a:blip r:embed="rId4" cstate="print"/>
          <a:srcRect/>
          <a:stretch>
            <a:fillRect/>
          </a:stretch>
        </p:blipFill>
        <p:spPr bwMode="auto">
          <a:xfrm>
            <a:off x="1752600" y="708025"/>
            <a:ext cx="6629400" cy="6149975"/>
          </a:xfrm>
          <a:prstGeom prst="rect">
            <a:avLst/>
          </a:prstGeom>
          <a:noFill/>
          <a:ln w="9525">
            <a:noFill/>
            <a:miter lim="800000"/>
            <a:headEnd/>
            <a:tailEnd/>
          </a:ln>
        </p:spPr>
      </p:pic>
      <p:sp>
        <p:nvSpPr>
          <p:cNvPr id="64518" name="Title 1"/>
          <p:cNvSpPr>
            <a:spLocks noGrp="1"/>
          </p:cNvSpPr>
          <p:nvPr>
            <p:ph type="title"/>
          </p:nvPr>
        </p:nvSpPr>
        <p:spPr>
          <a:xfrm>
            <a:off x="4876800" y="0"/>
            <a:ext cx="3962400" cy="1143000"/>
          </a:xfrm>
        </p:spPr>
        <p:txBody>
          <a:bodyPr/>
          <a:lstStyle/>
          <a:p>
            <a:pPr eaLnBrk="1" hangingPunct="1"/>
            <a:r>
              <a:rPr lang="en-US" smtClean="0"/>
              <a:t>Variable</a:t>
            </a:r>
          </a:p>
        </p:txBody>
      </p:sp>
      <p:grpSp>
        <p:nvGrpSpPr>
          <p:cNvPr id="39" name="Group 38"/>
          <p:cNvGrpSpPr>
            <a:grpSpLocks/>
          </p:cNvGrpSpPr>
          <p:nvPr/>
        </p:nvGrpSpPr>
        <p:grpSpPr bwMode="auto">
          <a:xfrm>
            <a:off x="1828800" y="152400"/>
            <a:ext cx="3962400" cy="1600200"/>
            <a:chOff x="1828800" y="152400"/>
            <a:chExt cx="3962400" cy="1600200"/>
          </a:xfrm>
        </p:grpSpPr>
        <p:sp>
          <p:nvSpPr>
            <p:cNvPr id="64533" name="Rounded Rectangle 14"/>
            <p:cNvSpPr>
              <a:spLocks noChangeArrowheads="1"/>
            </p:cNvSpPr>
            <p:nvPr/>
          </p:nvSpPr>
          <p:spPr bwMode="auto">
            <a:xfrm>
              <a:off x="3733800" y="1524000"/>
              <a:ext cx="533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34" name="Rounded Rectangle 15"/>
            <p:cNvSpPr>
              <a:spLocks noChangeArrowheads="1"/>
            </p:cNvSpPr>
            <p:nvPr/>
          </p:nvSpPr>
          <p:spPr bwMode="auto">
            <a:xfrm>
              <a:off x="4038600" y="1295400"/>
              <a:ext cx="17526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17" name="TextBox 16"/>
            <p:cNvSpPr txBox="1"/>
            <p:nvPr/>
          </p:nvSpPr>
          <p:spPr>
            <a:xfrm>
              <a:off x="1828800" y="152400"/>
              <a:ext cx="3429000" cy="646113"/>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t>Unique Vocabulary Reference:</a:t>
              </a:r>
            </a:p>
            <a:p>
              <a:pPr algn="ctr">
                <a:defRPr/>
              </a:pPr>
              <a:r>
                <a:rPr lang="en-US" dirty="0"/>
                <a:t>LBR:USU6</a:t>
              </a:r>
            </a:p>
          </p:txBody>
        </p:sp>
        <p:cxnSp>
          <p:nvCxnSpPr>
            <p:cNvPr id="64536" name="Straight Arrow Connector 17"/>
            <p:cNvCxnSpPr>
              <a:cxnSpLocks noChangeShapeType="1"/>
            </p:cNvCxnSpPr>
            <p:nvPr/>
          </p:nvCxnSpPr>
          <p:spPr bwMode="auto">
            <a:xfrm rot="5400000">
              <a:off x="3505200" y="1143000"/>
              <a:ext cx="762000" cy="1588"/>
            </a:xfrm>
            <a:prstGeom prst="straightConnector1">
              <a:avLst/>
            </a:prstGeom>
            <a:noFill/>
            <a:ln w="9525" algn="ctr">
              <a:solidFill>
                <a:schemeClr val="tx1"/>
              </a:solidFill>
              <a:round/>
              <a:headEnd/>
              <a:tailEnd type="arrow" w="med" len="med"/>
            </a:ln>
          </p:spPr>
        </p:cxnSp>
        <p:cxnSp>
          <p:nvCxnSpPr>
            <p:cNvPr id="64537" name="Straight Arrow Connector 18"/>
            <p:cNvCxnSpPr>
              <a:cxnSpLocks noChangeShapeType="1"/>
            </p:cNvCxnSpPr>
            <p:nvPr/>
          </p:nvCxnSpPr>
          <p:spPr bwMode="auto">
            <a:xfrm>
              <a:off x="4114800" y="838200"/>
              <a:ext cx="1219200" cy="457200"/>
            </a:xfrm>
            <a:prstGeom prst="straightConnector1">
              <a:avLst/>
            </a:prstGeom>
            <a:noFill/>
            <a:ln w="9525" algn="ctr">
              <a:solidFill>
                <a:schemeClr val="tx1"/>
              </a:solidFill>
              <a:round/>
              <a:headEnd/>
              <a:tailEnd type="arrow" w="med" len="med"/>
            </a:ln>
          </p:spPr>
        </p:cxnSp>
      </p:grpSp>
      <p:grpSp>
        <p:nvGrpSpPr>
          <p:cNvPr id="35" name="Group 34"/>
          <p:cNvGrpSpPr>
            <a:grpSpLocks/>
          </p:cNvGrpSpPr>
          <p:nvPr/>
        </p:nvGrpSpPr>
        <p:grpSpPr bwMode="auto">
          <a:xfrm>
            <a:off x="304800" y="1752600"/>
            <a:ext cx="8001000" cy="4191000"/>
            <a:chOff x="304800" y="1752600"/>
            <a:chExt cx="8001000" cy="4191000"/>
          </a:xfrm>
        </p:grpSpPr>
        <p:sp>
          <p:nvSpPr>
            <p:cNvPr id="64521" name="Rounded Rectangle 9"/>
            <p:cNvSpPr>
              <a:spLocks noChangeArrowheads="1"/>
            </p:cNvSpPr>
            <p:nvPr/>
          </p:nvSpPr>
          <p:spPr bwMode="auto">
            <a:xfrm>
              <a:off x="2667000" y="1752600"/>
              <a:ext cx="4343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22" name="Rounded Rectangle 10"/>
            <p:cNvSpPr>
              <a:spLocks noChangeArrowheads="1"/>
            </p:cNvSpPr>
            <p:nvPr/>
          </p:nvSpPr>
          <p:spPr bwMode="auto">
            <a:xfrm>
              <a:off x="2667000" y="1981200"/>
              <a:ext cx="4343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23" name="Rounded Rectangle 11"/>
            <p:cNvSpPr>
              <a:spLocks noChangeArrowheads="1"/>
            </p:cNvSpPr>
            <p:nvPr/>
          </p:nvSpPr>
          <p:spPr bwMode="auto">
            <a:xfrm>
              <a:off x="2667000" y="2209800"/>
              <a:ext cx="4343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24" name="Rounded Rectangle 12"/>
            <p:cNvSpPr>
              <a:spLocks noChangeArrowheads="1"/>
            </p:cNvSpPr>
            <p:nvPr/>
          </p:nvSpPr>
          <p:spPr bwMode="auto">
            <a:xfrm>
              <a:off x="2667000" y="2667000"/>
              <a:ext cx="4343400" cy="2286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25" name="Rounded Rectangle 13"/>
            <p:cNvSpPr>
              <a:spLocks noChangeArrowheads="1"/>
            </p:cNvSpPr>
            <p:nvPr/>
          </p:nvSpPr>
          <p:spPr bwMode="auto">
            <a:xfrm>
              <a:off x="2590800" y="2895600"/>
              <a:ext cx="5715000" cy="12954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4526" name="Rounded Rectangle 19"/>
            <p:cNvSpPr>
              <a:spLocks noChangeArrowheads="1"/>
            </p:cNvSpPr>
            <p:nvPr/>
          </p:nvSpPr>
          <p:spPr bwMode="auto">
            <a:xfrm>
              <a:off x="2590800" y="4419600"/>
              <a:ext cx="5715000" cy="15240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21" name="TextBox 20"/>
            <p:cNvSpPr txBox="1"/>
            <p:nvPr/>
          </p:nvSpPr>
          <p:spPr>
            <a:xfrm>
              <a:off x="304800" y="2819400"/>
              <a:ext cx="2057400" cy="369888"/>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t>Unique Variable</a:t>
              </a:r>
            </a:p>
          </p:txBody>
        </p:sp>
        <p:cxnSp>
          <p:nvCxnSpPr>
            <p:cNvPr id="64528" name="Straight Arrow Connector 21"/>
            <p:cNvCxnSpPr>
              <a:cxnSpLocks noChangeShapeType="1"/>
            </p:cNvCxnSpPr>
            <p:nvPr/>
          </p:nvCxnSpPr>
          <p:spPr bwMode="auto">
            <a:xfrm rot="5400000" flipH="1" flipV="1">
              <a:off x="1866900" y="2019300"/>
              <a:ext cx="990600" cy="609600"/>
            </a:xfrm>
            <a:prstGeom prst="straightConnector1">
              <a:avLst/>
            </a:prstGeom>
            <a:noFill/>
            <a:ln w="9525" algn="ctr">
              <a:solidFill>
                <a:schemeClr val="tx1"/>
              </a:solidFill>
              <a:round/>
              <a:headEnd/>
              <a:tailEnd type="arrow" w="med" len="med"/>
            </a:ln>
          </p:spPr>
        </p:cxnSp>
        <p:cxnSp>
          <p:nvCxnSpPr>
            <p:cNvPr id="64529" name="Straight Arrow Connector 25"/>
            <p:cNvCxnSpPr>
              <a:cxnSpLocks noChangeShapeType="1"/>
            </p:cNvCxnSpPr>
            <p:nvPr/>
          </p:nvCxnSpPr>
          <p:spPr bwMode="auto">
            <a:xfrm rot="16200000" flipH="1">
              <a:off x="1409700" y="3695700"/>
              <a:ext cx="1676400" cy="685800"/>
            </a:xfrm>
            <a:prstGeom prst="straightConnector1">
              <a:avLst/>
            </a:prstGeom>
            <a:noFill/>
            <a:ln w="9525" algn="ctr">
              <a:solidFill>
                <a:schemeClr val="tx1"/>
              </a:solidFill>
              <a:round/>
              <a:headEnd/>
              <a:tailEnd type="arrow" w="med" len="med"/>
            </a:ln>
          </p:spPr>
        </p:cxnSp>
        <p:cxnSp>
          <p:nvCxnSpPr>
            <p:cNvPr id="64530" name="Straight Arrow Connector 27"/>
            <p:cNvCxnSpPr>
              <a:cxnSpLocks noChangeShapeType="1"/>
            </p:cNvCxnSpPr>
            <p:nvPr/>
          </p:nvCxnSpPr>
          <p:spPr bwMode="auto">
            <a:xfrm rot="5400000" flipH="1" flipV="1">
              <a:off x="2133600" y="2286000"/>
              <a:ext cx="762000" cy="304800"/>
            </a:xfrm>
            <a:prstGeom prst="straightConnector1">
              <a:avLst/>
            </a:prstGeom>
            <a:noFill/>
            <a:ln w="9525" algn="ctr">
              <a:solidFill>
                <a:schemeClr val="tx1"/>
              </a:solidFill>
              <a:round/>
              <a:headEnd/>
              <a:tailEnd type="arrow" w="med" len="med"/>
            </a:ln>
          </p:spPr>
        </p:cxnSp>
        <p:cxnSp>
          <p:nvCxnSpPr>
            <p:cNvPr id="64531" name="Straight Arrow Connector 28"/>
            <p:cNvCxnSpPr>
              <a:cxnSpLocks noChangeShapeType="1"/>
              <a:stCxn id="21" idx="3"/>
            </p:cNvCxnSpPr>
            <p:nvPr/>
          </p:nvCxnSpPr>
          <p:spPr bwMode="auto">
            <a:xfrm flipV="1">
              <a:off x="2362200" y="2743200"/>
              <a:ext cx="304800" cy="260866"/>
            </a:xfrm>
            <a:prstGeom prst="straightConnector1">
              <a:avLst/>
            </a:prstGeom>
            <a:noFill/>
            <a:ln w="9525" algn="ctr">
              <a:solidFill>
                <a:schemeClr val="tx1"/>
              </a:solidFill>
              <a:round/>
              <a:headEnd/>
              <a:tailEnd type="arrow" w="med" len="med"/>
            </a:ln>
          </p:spPr>
        </p:cxnSp>
        <p:cxnSp>
          <p:nvCxnSpPr>
            <p:cNvPr id="64532" name="Straight Arrow Connector 31"/>
            <p:cNvCxnSpPr>
              <a:cxnSpLocks noChangeShapeType="1"/>
            </p:cNvCxnSpPr>
            <p:nvPr/>
          </p:nvCxnSpPr>
          <p:spPr bwMode="auto">
            <a:xfrm rot="16200000" flipH="1">
              <a:off x="1981200" y="3276600"/>
              <a:ext cx="685800" cy="533400"/>
            </a:xfrm>
            <a:prstGeom prst="straightConnector1">
              <a:avLst/>
            </a:prstGeom>
            <a:noFill/>
            <a:ln w="9525" algn="ctr">
              <a:solidFill>
                <a:schemeClr val="tx1"/>
              </a:solidFill>
              <a:round/>
              <a:headEnd/>
              <a:tailEnd type="arrow" w="med" len="med"/>
            </a:ln>
          </p:spPr>
        </p:cxnSp>
      </p:grpSp>
      <p:sp>
        <p:nvSpPr>
          <p:cNvPr id="64539" name="Text Box 27"/>
          <p:cNvSpPr txBox="1">
            <a:spLocks noChangeArrowheads="1"/>
          </p:cNvSpPr>
          <p:nvPr/>
        </p:nvSpPr>
        <p:spPr bwMode="auto">
          <a:xfrm>
            <a:off x="5029200" y="2222500"/>
            <a:ext cx="3994150" cy="1739900"/>
          </a:xfrm>
          <a:prstGeom prst="rect">
            <a:avLst/>
          </a:prstGeom>
          <a:solidFill>
            <a:srgbClr val="3333CC"/>
          </a:solidFill>
          <a:ln w="9525">
            <a:noFill/>
            <a:miter lim="800000"/>
            <a:headEnd/>
            <a:tailEnd/>
          </a:ln>
          <a:effectLst/>
        </p:spPr>
        <p:txBody>
          <a:bodyPr wrap="none">
            <a:spAutoFit/>
          </a:bodyPr>
          <a:lstStyle/>
          <a:p>
            <a:r>
              <a:rPr lang="en-AU" sz="3600">
                <a:solidFill>
                  <a:schemeClr val="bg1"/>
                </a:solidFill>
              </a:rPr>
              <a:t>observed property </a:t>
            </a:r>
          </a:p>
          <a:p>
            <a:r>
              <a:rPr lang="en-AU" sz="3600">
                <a:solidFill>
                  <a:schemeClr val="bg1"/>
                </a:solidFill>
              </a:rPr>
              <a:t>(Property Type) </a:t>
            </a:r>
            <a:br>
              <a:rPr lang="en-AU" sz="3600">
                <a:solidFill>
                  <a:schemeClr val="bg1"/>
                </a:solidFill>
              </a:rPr>
            </a:br>
            <a:r>
              <a:rPr lang="en-AU" sz="3600">
                <a:solidFill>
                  <a:schemeClr val="bg1"/>
                </a:solidFill>
              </a:rPr>
              <a:t>+ uom</a:t>
            </a:r>
            <a:r>
              <a:rPr lang="en-AU" sz="36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additive="base">
                                        <p:cTn id="7" dur="500" fill="hold"/>
                                        <p:tgtEl>
                                          <p:spTgt spid="48130"/>
                                        </p:tgtEl>
                                        <p:attrNameLst>
                                          <p:attrName>ppt_x</p:attrName>
                                        </p:attrNameLst>
                                      </p:cBhvr>
                                      <p:tavLst>
                                        <p:tav tm="0">
                                          <p:val>
                                            <p:strVal val="#ppt_x"/>
                                          </p:val>
                                        </p:tav>
                                        <p:tav tm="100000">
                                          <p:val>
                                            <p:strVal val="#ppt_x"/>
                                          </p:val>
                                        </p:tav>
                                      </p:tavLst>
                                    </p:anim>
                                    <p:anim calcmode="lin" valueType="num">
                                      <p:cBhvr additive="base">
                                        <p:cTn id="8" dur="500" fill="hold"/>
                                        <p:tgtEl>
                                          <p:spTgt spid="481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ppt_x"/>
                                          </p:val>
                                        </p:tav>
                                        <p:tav tm="100000">
                                          <p:val>
                                            <p:strVal val="#ppt_x"/>
                                          </p:val>
                                        </p:tav>
                                      </p:tavLst>
                                    </p:anim>
                                    <p:anim calcmode="lin" valueType="num">
                                      <p:cBhvr additive="base">
                                        <p:cTn id="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4539"/>
                                        </p:tgtEl>
                                        <p:attrNameLst>
                                          <p:attrName>style.visibility</p:attrName>
                                        </p:attrNameLst>
                                      </p:cBhvr>
                                      <p:to>
                                        <p:strVal val="visible"/>
                                      </p:to>
                                    </p:set>
                                    <p:anim calcmode="lin" valueType="num">
                                      <p:cBhvr additive="base">
                                        <p:cTn id="25" dur="1000" fill="hold"/>
                                        <p:tgtEl>
                                          <p:spTgt spid="64539"/>
                                        </p:tgtEl>
                                        <p:attrNameLst>
                                          <p:attrName>ppt_x</p:attrName>
                                        </p:attrNameLst>
                                      </p:cBhvr>
                                      <p:tavLst>
                                        <p:tav tm="0">
                                          <p:val>
                                            <p:strVal val="#ppt_x"/>
                                          </p:val>
                                        </p:tav>
                                        <p:tav tm="100000">
                                          <p:val>
                                            <p:strVal val="#ppt_x"/>
                                          </p:val>
                                        </p:tav>
                                      </p:tavLst>
                                    </p:anim>
                                    <p:anim calcmode="lin" valueType="num">
                                      <p:cBhvr additive="base">
                                        <p:cTn id="26" dur="1000" fill="hold"/>
                                        <p:tgtEl>
                                          <p:spTgt spid="645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 Placeholder 3"/>
          <p:cNvSpPr>
            <a:spLocks noGrp="1"/>
          </p:cNvSpPr>
          <p:nvPr>
            <p:ph type="body" idx="1"/>
          </p:nvPr>
        </p:nvSpPr>
        <p:spPr/>
        <p:txBody>
          <a:bodyPr/>
          <a:lstStyle/>
          <a:p>
            <a:pPr eaLnBrk="1" hangingPunct="1"/>
            <a:endParaRPr lang="en-AU" smtClean="0"/>
          </a:p>
        </p:txBody>
      </p:sp>
      <p:sp>
        <p:nvSpPr>
          <p:cNvPr id="66562" name="Content Placeholder 4"/>
          <p:cNvSpPr>
            <a:spLocks noGrp="1"/>
          </p:cNvSpPr>
          <p:nvPr>
            <p:ph sz="half" idx="2"/>
          </p:nvPr>
        </p:nvSpPr>
        <p:spPr/>
        <p:txBody>
          <a:bodyPr/>
          <a:lstStyle/>
          <a:p>
            <a:pPr eaLnBrk="1" hangingPunct="1"/>
            <a:endParaRPr lang="en-AU" smtClean="0"/>
          </a:p>
        </p:txBody>
      </p:sp>
      <p:sp>
        <p:nvSpPr>
          <p:cNvPr id="66563" name="Text Placeholder 5"/>
          <p:cNvSpPr>
            <a:spLocks noGrp="1"/>
          </p:cNvSpPr>
          <p:nvPr>
            <p:ph type="body" sz="quarter" idx="3"/>
          </p:nvPr>
        </p:nvSpPr>
        <p:spPr/>
        <p:txBody>
          <a:bodyPr/>
          <a:lstStyle/>
          <a:p>
            <a:pPr eaLnBrk="1" hangingPunct="1"/>
            <a:endParaRPr lang="en-AU" smtClean="0"/>
          </a:p>
        </p:txBody>
      </p:sp>
      <p:pic>
        <p:nvPicPr>
          <p:cNvPr id="66564" name="Picture 2"/>
          <p:cNvPicPr>
            <a:picLocks noChangeAspect="1" noChangeArrowheads="1"/>
          </p:cNvPicPr>
          <p:nvPr/>
        </p:nvPicPr>
        <p:blipFill>
          <a:blip r:embed="rId3" cstate="print"/>
          <a:srcRect/>
          <a:stretch>
            <a:fillRect/>
          </a:stretch>
        </p:blipFill>
        <p:spPr bwMode="auto">
          <a:xfrm>
            <a:off x="304800" y="601663"/>
            <a:ext cx="5715000" cy="6256337"/>
          </a:xfrm>
          <a:prstGeom prst="rect">
            <a:avLst/>
          </a:prstGeom>
          <a:noFill/>
          <a:ln w="9525">
            <a:noFill/>
            <a:miter lim="800000"/>
            <a:headEnd/>
            <a:tailEnd/>
          </a:ln>
        </p:spPr>
      </p:pic>
      <p:pic>
        <p:nvPicPr>
          <p:cNvPr id="66565" name="Picture 2"/>
          <p:cNvPicPr>
            <a:picLocks noGrp="1" noChangeAspect="1" noChangeArrowheads="1"/>
          </p:cNvPicPr>
          <p:nvPr>
            <p:ph sz="quarter" idx="4"/>
          </p:nvPr>
        </p:nvPicPr>
        <p:blipFill>
          <a:blip r:embed="rId4" cstate="print"/>
          <a:srcRect/>
          <a:stretch>
            <a:fillRect/>
          </a:stretch>
        </p:blipFill>
        <p:spPr>
          <a:xfrm>
            <a:off x="1981200" y="603250"/>
            <a:ext cx="6800850" cy="6254750"/>
          </a:xfrm>
        </p:spPr>
      </p:pic>
      <p:sp>
        <p:nvSpPr>
          <p:cNvPr id="66566" name="Title 1"/>
          <p:cNvSpPr>
            <a:spLocks noGrp="1"/>
          </p:cNvSpPr>
          <p:nvPr>
            <p:ph type="title"/>
          </p:nvPr>
        </p:nvSpPr>
        <p:spPr>
          <a:xfrm>
            <a:off x="533400" y="0"/>
            <a:ext cx="8458200" cy="533400"/>
          </a:xfrm>
        </p:spPr>
        <p:txBody>
          <a:bodyPr/>
          <a:lstStyle/>
          <a:p>
            <a:pPr eaLnBrk="1" hangingPunct="1"/>
            <a:r>
              <a:rPr lang="en-US" smtClean="0"/>
              <a:t>Series (Observation)</a:t>
            </a:r>
          </a:p>
        </p:txBody>
      </p:sp>
      <p:grpSp>
        <p:nvGrpSpPr>
          <p:cNvPr id="16" name="Group 15"/>
          <p:cNvGrpSpPr/>
          <p:nvPr/>
        </p:nvGrpSpPr>
        <p:grpSpPr>
          <a:xfrm>
            <a:off x="533400" y="533400"/>
            <a:ext cx="7239000" cy="2057400"/>
            <a:chOff x="533400" y="533400"/>
            <a:chExt cx="7239000" cy="2057400"/>
          </a:xfrm>
        </p:grpSpPr>
        <p:sp>
          <p:nvSpPr>
            <p:cNvPr id="66567" name="Rounded Rectangle 7"/>
            <p:cNvSpPr>
              <a:spLocks noChangeArrowheads="1"/>
            </p:cNvSpPr>
            <p:nvPr/>
          </p:nvSpPr>
          <p:spPr bwMode="auto">
            <a:xfrm>
              <a:off x="2971800" y="1524000"/>
              <a:ext cx="2286000" cy="1524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6568" name="Rounded Rectangle 8"/>
            <p:cNvSpPr>
              <a:spLocks noChangeArrowheads="1"/>
            </p:cNvSpPr>
            <p:nvPr/>
          </p:nvSpPr>
          <p:spPr bwMode="auto">
            <a:xfrm>
              <a:off x="2971800" y="1828800"/>
              <a:ext cx="4800600" cy="7620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66569" name="Rounded Rectangle 9"/>
            <p:cNvSpPr>
              <a:spLocks noChangeArrowheads="1"/>
            </p:cNvSpPr>
            <p:nvPr/>
          </p:nvSpPr>
          <p:spPr bwMode="auto">
            <a:xfrm>
              <a:off x="1981200" y="533400"/>
              <a:ext cx="2667000" cy="381000"/>
            </a:xfrm>
            <a:prstGeom prst="roundRect">
              <a:avLst>
                <a:gd name="adj" fmla="val 16667"/>
              </a:avLst>
            </a:prstGeom>
            <a:noFill/>
            <a:ln w="28575" algn="ctr">
              <a:solidFill>
                <a:srgbClr val="00B0F0"/>
              </a:solidFill>
              <a:round/>
              <a:headEnd/>
              <a:tailEnd/>
            </a:ln>
          </p:spPr>
          <p:txBody>
            <a:bodyPr wrap="none" anchor="ctr"/>
            <a:lstStyle/>
            <a:p>
              <a:pPr algn="ctr"/>
              <a:endParaRPr lang="en-AU"/>
            </a:p>
          </p:txBody>
        </p:sp>
        <p:sp>
          <p:nvSpPr>
            <p:cNvPr id="11" name="TextBox 10"/>
            <p:cNvSpPr txBox="1"/>
            <p:nvPr/>
          </p:nvSpPr>
          <p:spPr>
            <a:xfrm>
              <a:off x="533400" y="1524000"/>
              <a:ext cx="1752600" cy="923925"/>
            </a:xfrm>
            <a:prstGeom prst="rect">
              <a:avLst/>
            </a:prstGeom>
            <a:solidFill>
              <a:schemeClr val="accent3"/>
            </a:solidFill>
            <a:ln w="28575">
              <a:solidFill>
                <a:srgbClr val="00B0F0"/>
              </a:solidFill>
            </a:ln>
          </p:spPr>
          <p:txBody>
            <a:bodyPr>
              <a:spAutoFit/>
            </a:bodyPr>
            <a:lstStyle/>
            <a:p>
              <a:pPr algn="ctr">
                <a:defRPr/>
              </a:pPr>
              <a:r>
                <a:rPr lang="en-US" dirty="0">
                  <a:latin typeface="Arial" charset="0"/>
                </a:rPr>
                <a:t>Site</a:t>
              </a:r>
            </a:p>
            <a:p>
              <a:pPr algn="ctr">
                <a:defRPr/>
              </a:pPr>
              <a:r>
                <a:rPr lang="en-US" dirty="0">
                  <a:latin typeface="Arial" charset="0"/>
                </a:rPr>
                <a:t>Variable</a:t>
              </a:r>
            </a:p>
            <a:p>
              <a:pPr algn="ctr">
                <a:defRPr/>
              </a:pPr>
              <a:r>
                <a:rPr lang="en-US" dirty="0" err="1">
                  <a:latin typeface="Arial" charset="0"/>
                </a:rPr>
                <a:t>TimePeriod</a:t>
              </a:r>
              <a:endParaRPr lang="en-US" dirty="0">
                <a:latin typeface="Arial" charset="0"/>
              </a:endParaRPr>
            </a:p>
          </p:txBody>
        </p:sp>
        <p:cxnSp>
          <p:nvCxnSpPr>
            <p:cNvPr id="66571" name="Straight Arrow Connector 12"/>
            <p:cNvCxnSpPr>
              <a:cxnSpLocks noChangeShapeType="1"/>
            </p:cNvCxnSpPr>
            <p:nvPr/>
          </p:nvCxnSpPr>
          <p:spPr bwMode="auto">
            <a:xfrm rot="5400000" flipH="1" flipV="1">
              <a:off x="1790700" y="1104900"/>
              <a:ext cx="533400" cy="152400"/>
            </a:xfrm>
            <a:prstGeom prst="straightConnector1">
              <a:avLst/>
            </a:prstGeom>
            <a:noFill/>
            <a:ln w="9525" algn="ctr">
              <a:solidFill>
                <a:schemeClr val="tx1"/>
              </a:solidFill>
              <a:round/>
              <a:headEnd/>
              <a:tailEnd type="arrow" w="med" len="med"/>
            </a:ln>
          </p:spPr>
        </p:cxnSp>
        <p:cxnSp>
          <p:nvCxnSpPr>
            <p:cNvPr id="66572" name="Straight Arrow Connector 14"/>
            <p:cNvCxnSpPr>
              <a:cxnSpLocks noChangeShapeType="1"/>
              <a:endCxn id="66567" idx="1"/>
            </p:cNvCxnSpPr>
            <p:nvPr/>
          </p:nvCxnSpPr>
          <p:spPr bwMode="auto">
            <a:xfrm flipV="1">
              <a:off x="2286000" y="1600200"/>
              <a:ext cx="685800" cy="228600"/>
            </a:xfrm>
            <a:prstGeom prst="straightConnector1">
              <a:avLst/>
            </a:prstGeom>
            <a:noFill/>
            <a:ln w="9525" algn="ctr">
              <a:solidFill>
                <a:schemeClr val="tx1"/>
              </a:solidFill>
              <a:round/>
              <a:headEnd/>
              <a:tailEnd type="arrow" w="med" len="med"/>
            </a:ln>
          </p:spPr>
        </p:cxnSp>
        <p:cxnSp>
          <p:nvCxnSpPr>
            <p:cNvPr id="66573" name="Straight Arrow Connector 16"/>
            <p:cNvCxnSpPr>
              <a:cxnSpLocks noChangeShapeType="1"/>
              <a:stCxn id="11" idx="3"/>
            </p:cNvCxnSpPr>
            <p:nvPr/>
          </p:nvCxnSpPr>
          <p:spPr bwMode="auto">
            <a:xfrm>
              <a:off x="2286000" y="1985963"/>
              <a:ext cx="685800" cy="147637"/>
            </a:xfrm>
            <a:prstGeom prst="straightConnector1">
              <a:avLst/>
            </a:prstGeom>
            <a:noFill/>
            <a:ln w="9525" algn="ctr">
              <a:solidFill>
                <a:schemeClr val="tx1"/>
              </a:solidFill>
              <a:round/>
              <a:headEnd/>
              <a:tailEnd type="arrow" w="med" len="med"/>
            </a:ln>
          </p:spPr>
        </p:cxnSp>
      </p:grpSp>
      <p:sp>
        <p:nvSpPr>
          <p:cNvPr id="66575" name="Text Box 15"/>
          <p:cNvSpPr txBox="1">
            <a:spLocks noChangeArrowheads="1"/>
          </p:cNvSpPr>
          <p:nvPr/>
        </p:nvSpPr>
        <p:spPr bwMode="auto">
          <a:xfrm>
            <a:off x="4724400" y="3048000"/>
            <a:ext cx="4044950" cy="1739900"/>
          </a:xfrm>
          <a:prstGeom prst="rect">
            <a:avLst/>
          </a:prstGeom>
          <a:solidFill>
            <a:srgbClr val="3333CC"/>
          </a:solidFill>
          <a:ln w="9525">
            <a:noFill/>
            <a:miter lim="800000"/>
            <a:headEnd/>
            <a:tailEnd/>
          </a:ln>
          <a:effectLst/>
        </p:spPr>
        <p:txBody>
          <a:bodyPr wrap="none">
            <a:spAutoFit/>
          </a:bodyPr>
          <a:lstStyle/>
          <a:p>
            <a:r>
              <a:rPr lang="en-AU" sz="3600">
                <a:solidFill>
                  <a:schemeClr val="bg1"/>
                </a:solidFill>
              </a:rPr>
              <a:t>temporal sampling </a:t>
            </a:r>
            <a:br>
              <a:rPr lang="en-AU" sz="3600">
                <a:solidFill>
                  <a:schemeClr val="bg1"/>
                </a:solidFill>
              </a:rPr>
            </a:br>
            <a:r>
              <a:rPr lang="en-AU" sz="3600">
                <a:solidFill>
                  <a:schemeClr val="bg1"/>
                </a:solidFill>
              </a:rPr>
              <a:t>regime is linked to </a:t>
            </a:r>
            <a:br>
              <a:rPr lang="en-AU" sz="3600">
                <a:solidFill>
                  <a:schemeClr val="bg1"/>
                </a:solidFill>
              </a:rPr>
            </a:br>
            <a:r>
              <a:rPr lang="en-AU" sz="3600">
                <a:solidFill>
                  <a:schemeClr val="bg1"/>
                </a:solidFill>
              </a:rPr>
              <a:t>the site</a:t>
            </a:r>
            <a:r>
              <a:rPr lang="en-AU" sz="36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5"/>
                                        </p:tgtEl>
                                        <p:attrNameLst>
                                          <p:attrName>style.visibility</p:attrName>
                                        </p:attrNameLst>
                                      </p:cBhvr>
                                      <p:to>
                                        <p:strVal val="visible"/>
                                      </p:to>
                                    </p:set>
                                    <p:anim calcmode="lin" valueType="num">
                                      <p:cBhvr additive="base">
                                        <p:cTn id="7" dur="500" fill="hold"/>
                                        <p:tgtEl>
                                          <p:spTgt spid="66565"/>
                                        </p:tgtEl>
                                        <p:attrNameLst>
                                          <p:attrName>ppt_x</p:attrName>
                                        </p:attrNameLst>
                                      </p:cBhvr>
                                      <p:tavLst>
                                        <p:tav tm="0">
                                          <p:val>
                                            <p:strVal val="#ppt_x"/>
                                          </p:val>
                                        </p:tav>
                                        <p:tav tm="100000">
                                          <p:val>
                                            <p:strVal val="#ppt_x"/>
                                          </p:val>
                                        </p:tav>
                                      </p:tavLst>
                                    </p:anim>
                                    <p:anim calcmode="lin" valueType="num">
                                      <p:cBhvr additive="base">
                                        <p:cTn id="8" dur="500" fill="hold"/>
                                        <p:tgtEl>
                                          <p:spTgt spid="665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75"/>
                                        </p:tgtEl>
                                        <p:attrNameLst>
                                          <p:attrName>style.visibility</p:attrName>
                                        </p:attrNameLst>
                                      </p:cBhvr>
                                      <p:to>
                                        <p:strVal val="visible"/>
                                      </p:to>
                                    </p:set>
                                    <p:anim calcmode="lin" valueType="num">
                                      <p:cBhvr additive="base">
                                        <p:cTn id="19" dur="1000" fill="hold"/>
                                        <p:tgtEl>
                                          <p:spTgt spid="66575"/>
                                        </p:tgtEl>
                                        <p:attrNameLst>
                                          <p:attrName>ppt_x</p:attrName>
                                        </p:attrNameLst>
                                      </p:cBhvr>
                                      <p:tavLst>
                                        <p:tav tm="0">
                                          <p:val>
                                            <p:strVal val="#ppt_x"/>
                                          </p:val>
                                        </p:tav>
                                        <p:tav tm="100000">
                                          <p:val>
                                            <p:strVal val="#ppt_x"/>
                                          </p:val>
                                        </p:tav>
                                      </p:tavLst>
                                    </p:anim>
                                    <p:anim calcmode="lin" valueType="num">
                                      <p:cBhvr additive="base">
                                        <p:cTn id="20" dur="1000" fill="hold"/>
                                        <p:tgtEl>
                                          <p:spTgt spid="665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4572000" y="228600"/>
            <a:ext cx="4343400" cy="731838"/>
          </a:xfrm>
        </p:spPr>
        <p:txBody>
          <a:bodyPr/>
          <a:lstStyle/>
          <a:p>
            <a:pPr eaLnBrk="1" hangingPunct="1"/>
            <a:r>
              <a:rPr lang="en-US" smtClean="0"/>
              <a:t>Values, </a:t>
            </a:r>
            <a:br>
              <a:rPr lang="en-US" smtClean="0"/>
            </a:br>
            <a:r>
              <a:rPr lang="en-US" smtClean="0"/>
              <a:t>aka Time Series</a:t>
            </a:r>
          </a:p>
        </p:txBody>
      </p:sp>
      <p:sp>
        <p:nvSpPr>
          <p:cNvPr id="68610" name="Text Placeholder 3"/>
          <p:cNvSpPr>
            <a:spLocks noGrp="1"/>
          </p:cNvSpPr>
          <p:nvPr>
            <p:ph type="body" idx="1"/>
          </p:nvPr>
        </p:nvSpPr>
        <p:spPr/>
        <p:txBody>
          <a:bodyPr/>
          <a:lstStyle/>
          <a:p>
            <a:pPr eaLnBrk="1" hangingPunct="1"/>
            <a:endParaRPr lang="en-AU" smtClean="0"/>
          </a:p>
        </p:txBody>
      </p:sp>
      <p:sp>
        <p:nvSpPr>
          <p:cNvPr id="68611" name="Text Placeholder 5"/>
          <p:cNvSpPr>
            <a:spLocks noGrp="1"/>
          </p:cNvSpPr>
          <p:nvPr>
            <p:ph type="body" sz="quarter" idx="3"/>
          </p:nvPr>
        </p:nvSpPr>
        <p:spPr/>
        <p:txBody>
          <a:bodyPr/>
          <a:lstStyle/>
          <a:p>
            <a:pPr eaLnBrk="1" hangingPunct="1"/>
            <a:endParaRPr lang="en-AU" smtClean="0"/>
          </a:p>
        </p:txBody>
      </p:sp>
      <p:pic>
        <p:nvPicPr>
          <p:cNvPr id="68612" name="Picture 2"/>
          <p:cNvPicPr>
            <a:picLocks noGrp="1" noChangeAspect="1" noChangeArrowheads="1"/>
          </p:cNvPicPr>
          <p:nvPr>
            <p:ph sz="half" idx="2"/>
          </p:nvPr>
        </p:nvPicPr>
        <p:blipFill>
          <a:blip r:embed="rId3" cstate="print"/>
          <a:srcRect/>
          <a:stretch>
            <a:fillRect/>
          </a:stretch>
        </p:blipFill>
        <p:spPr>
          <a:xfrm>
            <a:off x="-20638" y="0"/>
            <a:ext cx="4792663" cy="6618288"/>
          </a:xfrm>
        </p:spPr>
      </p:pic>
      <p:grpSp>
        <p:nvGrpSpPr>
          <p:cNvPr id="14" name="Group 13"/>
          <p:cNvGrpSpPr>
            <a:grpSpLocks/>
          </p:cNvGrpSpPr>
          <p:nvPr/>
        </p:nvGrpSpPr>
        <p:grpSpPr bwMode="auto">
          <a:xfrm>
            <a:off x="152400" y="762000"/>
            <a:ext cx="6343650" cy="2762250"/>
            <a:chOff x="838200" y="3352800"/>
            <a:chExt cx="6343650" cy="2762250"/>
          </a:xfrm>
        </p:grpSpPr>
        <p:pic>
          <p:nvPicPr>
            <p:cNvPr id="68620" name="Picture 3"/>
            <p:cNvPicPr>
              <a:picLocks noChangeAspect="1" noChangeArrowheads="1"/>
            </p:cNvPicPr>
            <p:nvPr/>
          </p:nvPicPr>
          <p:blipFill>
            <a:blip r:embed="rId4" cstate="print"/>
            <a:srcRect/>
            <a:stretch>
              <a:fillRect/>
            </a:stretch>
          </p:blipFill>
          <p:spPr bwMode="auto">
            <a:xfrm>
              <a:off x="838200" y="3733800"/>
              <a:ext cx="6343650" cy="2381250"/>
            </a:xfrm>
            <a:prstGeom prst="rect">
              <a:avLst/>
            </a:prstGeom>
            <a:noFill/>
            <a:ln w="38100">
              <a:solidFill>
                <a:schemeClr val="tx1"/>
              </a:solidFill>
              <a:miter lim="800000"/>
              <a:headEnd/>
              <a:tailEnd/>
            </a:ln>
          </p:spPr>
        </p:pic>
        <p:sp>
          <p:nvSpPr>
            <p:cNvPr id="68621" name="TextBox 12"/>
            <p:cNvSpPr txBox="1">
              <a:spLocks noChangeArrowheads="1"/>
            </p:cNvSpPr>
            <p:nvPr/>
          </p:nvSpPr>
          <p:spPr bwMode="auto">
            <a:xfrm>
              <a:off x="914400" y="3352800"/>
              <a:ext cx="5486400" cy="369332"/>
            </a:xfrm>
            <a:prstGeom prst="rect">
              <a:avLst/>
            </a:prstGeom>
            <a:solidFill>
              <a:schemeClr val="bg1"/>
            </a:solidFill>
            <a:ln w="9525">
              <a:noFill/>
              <a:miter lim="800000"/>
              <a:headEnd/>
              <a:tailEnd/>
            </a:ln>
          </p:spPr>
          <p:txBody>
            <a:bodyPr>
              <a:spAutoFit/>
            </a:bodyPr>
            <a:lstStyle/>
            <a:p>
              <a:pPr algn="ctr"/>
              <a:r>
                <a:rPr lang="en-US"/>
                <a:t>With source, method, and sample information</a:t>
              </a:r>
            </a:p>
          </p:txBody>
        </p:sp>
      </p:grpSp>
      <p:grpSp>
        <p:nvGrpSpPr>
          <p:cNvPr id="10" name="Group 9"/>
          <p:cNvGrpSpPr>
            <a:grpSpLocks/>
          </p:cNvGrpSpPr>
          <p:nvPr/>
        </p:nvGrpSpPr>
        <p:grpSpPr bwMode="auto">
          <a:xfrm>
            <a:off x="304800" y="1524000"/>
            <a:ext cx="7656513" cy="1971675"/>
            <a:chOff x="762000" y="990600"/>
            <a:chExt cx="7656513" cy="1971675"/>
          </a:xfrm>
        </p:grpSpPr>
        <p:pic>
          <p:nvPicPr>
            <p:cNvPr id="68618" name="Picture 3"/>
            <p:cNvPicPr>
              <a:picLocks noChangeAspect="1" noChangeArrowheads="1"/>
            </p:cNvPicPr>
            <p:nvPr/>
          </p:nvPicPr>
          <p:blipFill>
            <a:blip r:embed="rId5" cstate="print"/>
            <a:srcRect/>
            <a:stretch>
              <a:fillRect/>
            </a:stretch>
          </p:blipFill>
          <p:spPr bwMode="auto">
            <a:xfrm>
              <a:off x="762000" y="1371600"/>
              <a:ext cx="7656513" cy="1590675"/>
            </a:xfrm>
            <a:prstGeom prst="rect">
              <a:avLst/>
            </a:prstGeom>
            <a:noFill/>
            <a:ln w="38100">
              <a:solidFill>
                <a:schemeClr val="tx1"/>
              </a:solidFill>
              <a:miter lim="800000"/>
              <a:headEnd/>
              <a:tailEnd/>
            </a:ln>
          </p:spPr>
        </p:pic>
        <p:sp>
          <p:nvSpPr>
            <p:cNvPr id="68619" name="TextBox 7"/>
            <p:cNvSpPr txBox="1">
              <a:spLocks noChangeArrowheads="1"/>
            </p:cNvSpPr>
            <p:nvPr/>
          </p:nvSpPr>
          <p:spPr bwMode="auto">
            <a:xfrm>
              <a:off x="838200" y="990600"/>
              <a:ext cx="3200400" cy="369332"/>
            </a:xfrm>
            <a:prstGeom prst="rect">
              <a:avLst/>
            </a:prstGeom>
            <a:solidFill>
              <a:schemeClr val="bg1"/>
            </a:solidFill>
            <a:ln w="9525">
              <a:noFill/>
              <a:miter lim="800000"/>
              <a:headEnd/>
              <a:tailEnd/>
            </a:ln>
          </p:spPr>
          <p:txBody>
            <a:bodyPr>
              <a:spAutoFit/>
            </a:bodyPr>
            <a:lstStyle/>
            <a:p>
              <a:pPr algn="ctr"/>
              <a:r>
                <a:rPr lang="en-US"/>
                <a:t>Minimal with Qualifiers</a:t>
              </a:r>
            </a:p>
          </p:txBody>
        </p:sp>
      </p:grpSp>
      <p:grpSp>
        <p:nvGrpSpPr>
          <p:cNvPr id="11" name="Group 10"/>
          <p:cNvGrpSpPr>
            <a:grpSpLocks/>
          </p:cNvGrpSpPr>
          <p:nvPr/>
        </p:nvGrpSpPr>
        <p:grpSpPr bwMode="auto">
          <a:xfrm>
            <a:off x="533400" y="2057400"/>
            <a:ext cx="5953125" cy="4371975"/>
            <a:chOff x="1295400" y="2133600"/>
            <a:chExt cx="5953125" cy="4371975"/>
          </a:xfrm>
        </p:grpSpPr>
        <p:sp>
          <p:nvSpPr>
            <p:cNvPr id="68616" name="TextBox 8"/>
            <p:cNvSpPr txBox="1">
              <a:spLocks noChangeArrowheads="1"/>
            </p:cNvSpPr>
            <p:nvPr/>
          </p:nvSpPr>
          <p:spPr bwMode="auto">
            <a:xfrm>
              <a:off x="1295400" y="2133600"/>
              <a:ext cx="2438400" cy="369332"/>
            </a:xfrm>
            <a:prstGeom prst="rect">
              <a:avLst/>
            </a:prstGeom>
            <a:solidFill>
              <a:schemeClr val="bg1"/>
            </a:solidFill>
            <a:ln w="9525">
              <a:noFill/>
              <a:miter lim="800000"/>
              <a:headEnd/>
              <a:tailEnd/>
            </a:ln>
          </p:spPr>
          <p:txBody>
            <a:bodyPr>
              <a:spAutoFit/>
            </a:bodyPr>
            <a:lstStyle/>
            <a:p>
              <a:pPr algn="ctr"/>
              <a:r>
                <a:rPr lang="en-US"/>
                <a:t>Coded</a:t>
              </a:r>
            </a:p>
          </p:txBody>
        </p:sp>
        <p:pic>
          <p:nvPicPr>
            <p:cNvPr id="68617" name="Picture 2"/>
            <p:cNvPicPr>
              <a:picLocks noChangeAspect="1" noChangeArrowheads="1"/>
            </p:cNvPicPr>
            <p:nvPr/>
          </p:nvPicPr>
          <p:blipFill>
            <a:blip r:embed="rId6" cstate="print"/>
            <a:srcRect/>
            <a:stretch>
              <a:fillRect/>
            </a:stretch>
          </p:blipFill>
          <p:spPr bwMode="auto">
            <a:xfrm>
              <a:off x="1371600" y="2438400"/>
              <a:ext cx="5876925" cy="4067175"/>
            </a:xfrm>
            <a:prstGeom prst="rect">
              <a:avLst/>
            </a:prstGeom>
            <a:noFill/>
            <a:ln w="38100">
              <a:solidFill>
                <a:schemeClr val="tx1"/>
              </a:solidFill>
              <a:miter lim="800000"/>
              <a:headEnd/>
              <a:tailEnd/>
            </a:ln>
          </p:spPr>
        </p:pic>
      </p:grpSp>
      <p:sp>
        <p:nvSpPr>
          <p:cNvPr id="68623" name="Text Box 15"/>
          <p:cNvSpPr txBox="1">
            <a:spLocks noChangeArrowheads="1"/>
          </p:cNvSpPr>
          <p:nvPr/>
        </p:nvSpPr>
        <p:spPr bwMode="auto">
          <a:xfrm>
            <a:off x="4724400" y="3276600"/>
            <a:ext cx="4273550" cy="1190625"/>
          </a:xfrm>
          <a:prstGeom prst="rect">
            <a:avLst/>
          </a:prstGeom>
          <a:solidFill>
            <a:srgbClr val="3333CC"/>
          </a:solidFill>
          <a:ln w="9525">
            <a:noFill/>
            <a:miter lim="800000"/>
            <a:headEnd/>
            <a:tailEnd/>
          </a:ln>
          <a:effectLst/>
        </p:spPr>
        <p:txBody>
          <a:bodyPr wrap="none">
            <a:spAutoFit/>
          </a:bodyPr>
          <a:lstStyle/>
          <a:p>
            <a:r>
              <a:rPr lang="en-AU" sz="3600">
                <a:solidFill>
                  <a:schemeClr val="bg1"/>
                </a:solidFill>
              </a:rPr>
              <a:t>result </a:t>
            </a:r>
          </a:p>
          <a:p>
            <a:r>
              <a:rPr lang="en-AU" sz="3600">
                <a:solidFill>
                  <a:schemeClr val="bg1"/>
                </a:solidFill>
              </a:rPr>
              <a:t>(temporal coverage)</a:t>
            </a:r>
            <a:endParaRPr lang="en-AU" sz="3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8623"/>
                                        </p:tgtEl>
                                        <p:attrNameLst>
                                          <p:attrName>style.visibility</p:attrName>
                                        </p:attrNameLst>
                                      </p:cBhvr>
                                      <p:to>
                                        <p:strVal val="visible"/>
                                      </p:to>
                                    </p:set>
                                    <p:anim calcmode="lin" valueType="num">
                                      <p:cBhvr additive="base">
                                        <p:cTn id="25" dur="1000" fill="hold"/>
                                        <p:tgtEl>
                                          <p:spTgt spid="68623"/>
                                        </p:tgtEl>
                                        <p:attrNameLst>
                                          <p:attrName>ppt_x</p:attrName>
                                        </p:attrNameLst>
                                      </p:cBhvr>
                                      <p:tavLst>
                                        <p:tav tm="0">
                                          <p:val>
                                            <p:strVal val="#ppt_x"/>
                                          </p:val>
                                        </p:tav>
                                        <p:tav tm="100000">
                                          <p:val>
                                            <p:strVal val="#ppt_x"/>
                                          </p:val>
                                        </p:tav>
                                      </p:tavLst>
                                    </p:anim>
                                    <p:anim calcmode="lin" valueType="num">
                                      <p:cBhvr additive="base">
                                        <p:cTn id="26" dur="1000" fill="hold"/>
                                        <p:tgtEl>
                                          <p:spTgt spid="686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6"/>
          <p:cNvSpPr>
            <a:spLocks noGrp="1"/>
          </p:cNvSpPr>
          <p:nvPr>
            <p:ph type="title" idx="4294967295"/>
          </p:nvPr>
        </p:nvSpPr>
        <p:spPr/>
        <p:txBody>
          <a:bodyPr/>
          <a:lstStyle/>
          <a:p>
            <a:r>
              <a:rPr lang="en-US" smtClean="0">
                <a:latin typeface="Tahoma" pitchFamily="34" charset="0"/>
              </a:rPr>
              <a:t>Time Series</a:t>
            </a:r>
          </a:p>
        </p:txBody>
      </p:sp>
      <p:pic>
        <p:nvPicPr>
          <p:cNvPr id="70658" name="Picture 2"/>
          <p:cNvPicPr>
            <a:picLocks noGrp="1" noChangeAspect="1" noChangeArrowheads="1"/>
          </p:cNvPicPr>
          <p:nvPr>
            <p:ph idx="4294967295"/>
          </p:nvPr>
        </p:nvPicPr>
        <p:blipFill>
          <a:blip r:embed="rId3" cstate="print"/>
          <a:srcRect/>
          <a:stretch>
            <a:fillRect/>
          </a:stretch>
        </p:blipFill>
        <p:spPr>
          <a:xfrm>
            <a:off x="304800" y="1447800"/>
            <a:ext cx="8540750" cy="1887538"/>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7" name="Picture 5"/>
          <p:cNvPicPr>
            <a:picLocks noChangeAspect="1" noChangeArrowheads="1"/>
          </p:cNvPicPr>
          <p:nvPr/>
        </p:nvPicPr>
        <p:blipFill>
          <a:blip r:embed="rId3" cstate="print"/>
          <a:srcRect/>
          <a:stretch>
            <a:fillRect/>
          </a:stretch>
        </p:blipFill>
        <p:spPr bwMode="auto">
          <a:xfrm>
            <a:off x="1295400" y="1249363"/>
            <a:ext cx="7218363" cy="1562100"/>
          </a:xfrm>
          <a:prstGeom prst="rect">
            <a:avLst/>
          </a:prstGeom>
          <a:noFill/>
          <a:ln w="9525">
            <a:noFill/>
            <a:miter lim="800000"/>
            <a:headEnd/>
            <a:tailEnd/>
          </a:ln>
        </p:spPr>
      </p:pic>
      <p:sp>
        <p:nvSpPr>
          <p:cNvPr id="72706" name="Rectangle 2"/>
          <p:cNvSpPr>
            <a:spLocks noGrp="1" noChangeArrowheads="1"/>
          </p:cNvSpPr>
          <p:nvPr>
            <p:ph type="title"/>
          </p:nvPr>
        </p:nvSpPr>
        <p:spPr>
          <a:xfrm>
            <a:off x="457200" y="76200"/>
            <a:ext cx="8229600" cy="1143000"/>
          </a:xfrm>
        </p:spPr>
        <p:txBody>
          <a:bodyPr/>
          <a:lstStyle/>
          <a:p>
            <a:pPr eaLnBrk="1" hangingPunct="1"/>
            <a:r>
              <a:rPr lang="en-US" smtClean="0"/>
              <a:t>TimeSeries response</a:t>
            </a:r>
          </a:p>
        </p:txBody>
      </p:sp>
      <p:pic>
        <p:nvPicPr>
          <p:cNvPr id="49156" name="Picture 4"/>
          <p:cNvPicPr>
            <a:picLocks noChangeAspect="1" noChangeArrowheads="1"/>
          </p:cNvPicPr>
          <p:nvPr/>
        </p:nvPicPr>
        <p:blipFill>
          <a:blip r:embed="rId4" cstate="print"/>
          <a:srcRect/>
          <a:stretch>
            <a:fillRect/>
          </a:stretch>
        </p:blipFill>
        <p:spPr bwMode="auto">
          <a:xfrm>
            <a:off x="1295400" y="1249363"/>
            <a:ext cx="7199313" cy="3324225"/>
          </a:xfrm>
          <a:prstGeom prst="rect">
            <a:avLst/>
          </a:prstGeom>
          <a:noFill/>
          <a:ln w="9525">
            <a:noFill/>
            <a:miter lim="800000"/>
            <a:headEnd/>
            <a:tailEnd/>
          </a:ln>
        </p:spPr>
      </p:pic>
      <p:pic>
        <p:nvPicPr>
          <p:cNvPr id="49158" name="Picture 6"/>
          <p:cNvPicPr>
            <a:picLocks noChangeAspect="1" noChangeArrowheads="1"/>
          </p:cNvPicPr>
          <p:nvPr/>
        </p:nvPicPr>
        <p:blipFill>
          <a:blip r:embed="rId5" cstate="print"/>
          <a:srcRect/>
          <a:stretch>
            <a:fillRect/>
          </a:stretch>
        </p:blipFill>
        <p:spPr bwMode="auto">
          <a:xfrm>
            <a:off x="1295400" y="1249363"/>
            <a:ext cx="7218363" cy="3362325"/>
          </a:xfrm>
          <a:prstGeom prst="rect">
            <a:avLst/>
          </a:prstGeom>
          <a:noFill/>
          <a:ln w="9525">
            <a:noFill/>
            <a:miter lim="800000"/>
            <a:headEnd/>
            <a:tailEnd/>
          </a:ln>
        </p:spPr>
      </p:pic>
      <p:pic>
        <p:nvPicPr>
          <p:cNvPr id="49159" name="Picture 7"/>
          <p:cNvPicPr>
            <a:picLocks noChangeAspect="1" noChangeArrowheads="1"/>
          </p:cNvPicPr>
          <p:nvPr/>
        </p:nvPicPr>
        <p:blipFill>
          <a:blip r:embed="rId6" cstate="print"/>
          <a:srcRect/>
          <a:stretch>
            <a:fillRect/>
          </a:stretch>
        </p:blipFill>
        <p:spPr bwMode="auto">
          <a:xfrm>
            <a:off x="1295400" y="1249363"/>
            <a:ext cx="7094538" cy="3581400"/>
          </a:xfrm>
          <a:prstGeom prst="rect">
            <a:avLst/>
          </a:prstGeom>
          <a:noFill/>
          <a:ln w="9525">
            <a:noFill/>
            <a:miter lim="800000"/>
            <a:headEnd/>
            <a:tailEnd/>
          </a:ln>
        </p:spPr>
      </p:pic>
      <p:pic>
        <p:nvPicPr>
          <p:cNvPr id="49160" name="Picture 8"/>
          <p:cNvPicPr>
            <a:picLocks noChangeAspect="1" noChangeArrowheads="1"/>
          </p:cNvPicPr>
          <p:nvPr/>
        </p:nvPicPr>
        <p:blipFill>
          <a:blip r:embed="rId6" cstate="print"/>
          <a:srcRect/>
          <a:stretch>
            <a:fillRect/>
          </a:stretch>
        </p:blipFill>
        <p:spPr bwMode="auto">
          <a:xfrm>
            <a:off x="1295400" y="1249363"/>
            <a:ext cx="7094538" cy="3581400"/>
          </a:xfrm>
          <a:prstGeom prst="rect">
            <a:avLst/>
          </a:prstGeom>
          <a:noFill/>
          <a:ln w="9525">
            <a:noFill/>
            <a:miter lim="800000"/>
            <a:headEnd/>
            <a:tailEnd/>
          </a:ln>
        </p:spPr>
      </p:pic>
      <p:pic>
        <p:nvPicPr>
          <p:cNvPr id="49161" name="Picture 9"/>
          <p:cNvPicPr>
            <a:picLocks noChangeAspect="1" noChangeArrowheads="1"/>
          </p:cNvPicPr>
          <p:nvPr/>
        </p:nvPicPr>
        <p:blipFill>
          <a:blip r:embed="rId7" cstate="print"/>
          <a:srcRect/>
          <a:stretch>
            <a:fillRect/>
          </a:stretch>
        </p:blipFill>
        <p:spPr bwMode="auto">
          <a:xfrm>
            <a:off x="1219200" y="1249363"/>
            <a:ext cx="7142163" cy="4924425"/>
          </a:xfrm>
          <a:prstGeom prst="rect">
            <a:avLst/>
          </a:prstGeom>
          <a:noFill/>
          <a:ln w="9525">
            <a:noFill/>
            <a:miter lim="800000"/>
            <a:headEnd/>
            <a:tailEnd/>
          </a:ln>
        </p:spPr>
      </p:pic>
      <p:pic>
        <p:nvPicPr>
          <p:cNvPr id="49162" name="Picture 10"/>
          <p:cNvPicPr>
            <a:picLocks noChangeAspect="1" noChangeArrowheads="1"/>
          </p:cNvPicPr>
          <p:nvPr/>
        </p:nvPicPr>
        <p:blipFill>
          <a:blip r:embed="rId8" cstate="print"/>
          <a:srcRect/>
          <a:stretch>
            <a:fillRect/>
          </a:stretch>
        </p:blipFill>
        <p:spPr bwMode="auto">
          <a:xfrm>
            <a:off x="1295400" y="1249363"/>
            <a:ext cx="7075488" cy="4067175"/>
          </a:xfrm>
          <a:prstGeom prst="rect">
            <a:avLst/>
          </a:prstGeom>
          <a:noFill/>
          <a:ln w="9525">
            <a:noFill/>
            <a:miter lim="800000"/>
            <a:headEnd/>
            <a:tailEnd/>
          </a:ln>
        </p:spPr>
      </p:pic>
      <p:pic>
        <p:nvPicPr>
          <p:cNvPr id="49164" name="Picture 12"/>
          <p:cNvPicPr>
            <a:picLocks noChangeAspect="1" noChangeArrowheads="1"/>
          </p:cNvPicPr>
          <p:nvPr/>
        </p:nvPicPr>
        <p:blipFill>
          <a:blip r:embed="rId9" cstate="print"/>
          <a:srcRect/>
          <a:stretch>
            <a:fillRect/>
          </a:stretch>
        </p:blipFill>
        <p:spPr bwMode="auto">
          <a:xfrm>
            <a:off x="1447800" y="182563"/>
            <a:ext cx="7151688" cy="6675437"/>
          </a:xfrm>
          <a:prstGeom prst="rect">
            <a:avLst/>
          </a:prstGeom>
          <a:noFill/>
          <a:ln w="9525">
            <a:noFill/>
            <a:miter lim="800000"/>
            <a:headEnd/>
            <a:tailEnd/>
          </a:ln>
        </p:spPr>
      </p:pic>
      <p:pic>
        <p:nvPicPr>
          <p:cNvPr id="49166" name="Picture 14"/>
          <p:cNvPicPr>
            <a:picLocks noChangeAspect="1" noChangeArrowheads="1"/>
          </p:cNvPicPr>
          <p:nvPr/>
        </p:nvPicPr>
        <p:blipFill>
          <a:blip r:embed="rId10" cstate="print"/>
          <a:srcRect/>
          <a:stretch>
            <a:fillRect/>
          </a:stretch>
        </p:blipFill>
        <p:spPr bwMode="auto">
          <a:xfrm>
            <a:off x="1219200" y="1249363"/>
            <a:ext cx="7180263" cy="500062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dissolve">
                                      <p:cBhvr>
                                        <p:cTn id="7" dur="500"/>
                                        <p:tgtEl>
                                          <p:spTgt spid="49156"/>
                                        </p:tgtEl>
                                      </p:cBhvr>
                                    </p:animEffect>
                                  </p:childTnLst>
                                </p:cTn>
                              </p:par>
                              <p:par>
                                <p:cTn id="8" presetID="9" presetClass="exit" presetSubtype="0" fill="hold" nodeType="withEffect">
                                  <p:stCondLst>
                                    <p:cond delay="0"/>
                                  </p:stCondLst>
                                  <p:childTnLst>
                                    <p:animEffect transition="out" filter="dissolve">
                                      <p:cBhvr>
                                        <p:cTn id="9" dur="500"/>
                                        <p:tgtEl>
                                          <p:spTgt spid="49157"/>
                                        </p:tgtEl>
                                      </p:cBhvr>
                                    </p:animEffect>
                                    <p:set>
                                      <p:cBhvr>
                                        <p:cTn id="10" dur="1" fill="hold">
                                          <p:stCondLst>
                                            <p:cond delay="499"/>
                                          </p:stCondLst>
                                        </p:cTn>
                                        <p:tgtEl>
                                          <p:spTgt spid="4915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49156"/>
                                        </p:tgtEl>
                                      </p:cBhvr>
                                    </p:animEffect>
                                    <p:set>
                                      <p:cBhvr>
                                        <p:cTn id="15" dur="1" fill="hold">
                                          <p:stCondLst>
                                            <p:cond delay="499"/>
                                          </p:stCondLst>
                                        </p:cTn>
                                        <p:tgtEl>
                                          <p:spTgt spid="49156"/>
                                        </p:tgtEl>
                                        <p:attrNameLst>
                                          <p:attrName>style.visibility</p:attrName>
                                        </p:attrNameLst>
                                      </p:cBhvr>
                                      <p:to>
                                        <p:strVal val="hidden"/>
                                      </p:to>
                                    </p:set>
                                  </p:childTnLst>
                                </p:cTn>
                              </p:par>
                              <p:par>
                                <p:cTn id="16" presetID="9" presetClass="entr" presetSubtype="0" fill="hold" nodeType="withEffect">
                                  <p:stCondLst>
                                    <p:cond delay="0"/>
                                  </p:stCondLst>
                                  <p:childTnLst>
                                    <p:set>
                                      <p:cBhvr>
                                        <p:cTn id="17" dur="1" fill="hold">
                                          <p:stCondLst>
                                            <p:cond delay="0"/>
                                          </p:stCondLst>
                                        </p:cTn>
                                        <p:tgtEl>
                                          <p:spTgt spid="49158"/>
                                        </p:tgtEl>
                                        <p:attrNameLst>
                                          <p:attrName>style.visibility</p:attrName>
                                        </p:attrNameLst>
                                      </p:cBhvr>
                                      <p:to>
                                        <p:strVal val="visible"/>
                                      </p:to>
                                    </p:set>
                                    <p:animEffect transition="in" filter="dissolve">
                                      <p:cBhvr>
                                        <p:cTn id="18" dur="500"/>
                                        <p:tgtEl>
                                          <p:spTgt spid="4915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xit" presetSubtype="0" fill="hold" nodeType="clickEffect">
                                  <p:stCondLst>
                                    <p:cond delay="0"/>
                                  </p:stCondLst>
                                  <p:childTnLst>
                                    <p:animEffect transition="out" filter="dissolve">
                                      <p:cBhvr>
                                        <p:cTn id="22" dur="500"/>
                                        <p:tgtEl>
                                          <p:spTgt spid="49158"/>
                                        </p:tgtEl>
                                      </p:cBhvr>
                                    </p:animEffect>
                                    <p:set>
                                      <p:cBhvr>
                                        <p:cTn id="23" dur="1" fill="hold">
                                          <p:stCondLst>
                                            <p:cond delay="499"/>
                                          </p:stCondLst>
                                        </p:cTn>
                                        <p:tgtEl>
                                          <p:spTgt spid="49158"/>
                                        </p:tgtEl>
                                        <p:attrNameLst>
                                          <p:attrName>style.visibility</p:attrName>
                                        </p:attrNameLst>
                                      </p:cBhvr>
                                      <p:to>
                                        <p:strVal val="hidden"/>
                                      </p:to>
                                    </p:set>
                                  </p:childTnLst>
                                </p:cTn>
                              </p:par>
                              <p:par>
                                <p:cTn id="24" presetID="9" presetClass="entr" presetSubtype="0" fill="hold" nodeType="withEffect">
                                  <p:stCondLst>
                                    <p:cond delay="0"/>
                                  </p:stCondLst>
                                  <p:childTnLst>
                                    <p:set>
                                      <p:cBhvr>
                                        <p:cTn id="25" dur="1" fill="hold">
                                          <p:stCondLst>
                                            <p:cond delay="0"/>
                                          </p:stCondLst>
                                        </p:cTn>
                                        <p:tgtEl>
                                          <p:spTgt spid="49159"/>
                                        </p:tgtEl>
                                        <p:attrNameLst>
                                          <p:attrName>style.visibility</p:attrName>
                                        </p:attrNameLst>
                                      </p:cBhvr>
                                      <p:to>
                                        <p:strVal val="visible"/>
                                      </p:to>
                                    </p:set>
                                    <p:animEffect transition="in" filter="dissolve">
                                      <p:cBhvr>
                                        <p:cTn id="26" dur="500"/>
                                        <p:tgtEl>
                                          <p:spTgt spid="4915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500"/>
                                        <p:tgtEl>
                                          <p:spTgt spid="49159"/>
                                        </p:tgtEl>
                                      </p:cBhvr>
                                    </p:animEffect>
                                    <p:set>
                                      <p:cBhvr>
                                        <p:cTn id="31" dur="1" fill="hold">
                                          <p:stCondLst>
                                            <p:cond delay="499"/>
                                          </p:stCondLst>
                                        </p:cTn>
                                        <p:tgtEl>
                                          <p:spTgt spid="49159"/>
                                        </p:tgtEl>
                                        <p:attrNameLst>
                                          <p:attrName>style.visibility</p:attrName>
                                        </p:attrNameLst>
                                      </p:cBhvr>
                                      <p:to>
                                        <p:strVal val="hidden"/>
                                      </p:to>
                                    </p:set>
                                  </p:childTnLst>
                                </p:cTn>
                              </p:par>
                              <p:par>
                                <p:cTn id="32" presetID="9" presetClass="entr" presetSubtype="0" fill="hold" nodeType="withEffect">
                                  <p:stCondLst>
                                    <p:cond delay="0"/>
                                  </p:stCondLst>
                                  <p:childTnLst>
                                    <p:set>
                                      <p:cBhvr>
                                        <p:cTn id="33" dur="1" fill="hold">
                                          <p:stCondLst>
                                            <p:cond delay="0"/>
                                          </p:stCondLst>
                                        </p:cTn>
                                        <p:tgtEl>
                                          <p:spTgt spid="49160"/>
                                        </p:tgtEl>
                                        <p:attrNameLst>
                                          <p:attrName>style.visibility</p:attrName>
                                        </p:attrNameLst>
                                      </p:cBhvr>
                                      <p:to>
                                        <p:strVal val="visible"/>
                                      </p:to>
                                    </p:set>
                                    <p:animEffect transition="in" filter="dissolve">
                                      <p:cBhvr>
                                        <p:cTn id="34" dur="500"/>
                                        <p:tgtEl>
                                          <p:spTgt spid="4916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xit" presetSubtype="0" fill="hold" nodeType="clickEffect">
                                  <p:stCondLst>
                                    <p:cond delay="0"/>
                                  </p:stCondLst>
                                  <p:childTnLst>
                                    <p:animEffect transition="out" filter="dissolve">
                                      <p:cBhvr>
                                        <p:cTn id="38" dur="500"/>
                                        <p:tgtEl>
                                          <p:spTgt spid="49160"/>
                                        </p:tgtEl>
                                      </p:cBhvr>
                                    </p:animEffect>
                                    <p:set>
                                      <p:cBhvr>
                                        <p:cTn id="39" dur="1" fill="hold">
                                          <p:stCondLst>
                                            <p:cond delay="499"/>
                                          </p:stCondLst>
                                        </p:cTn>
                                        <p:tgtEl>
                                          <p:spTgt spid="49160"/>
                                        </p:tgtEl>
                                        <p:attrNameLst>
                                          <p:attrName>style.visibility</p:attrName>
                                        </p:attrNameLst>
                                      </p:cBhvr>
                                      <p:to>
                                        <p:strVal val="hidden"/>
                                      </p:to>
                                    </p:set>
                                  </p:childTnLst>
                                </p:cTn>
                              </p:par>
                              <p:par>
                                <p:cTn id="40" presetID="9" presetClass="entr" presetSubtype="0" fill="hold" nodeType="withEffect">
                                  <p:stCondLst>
                                    <p:cond delay="0"/>
                                  </p:stCondLst>
                                  <p:childTnLst>
                                    <p:set>
                                      <p:cBhvr>
                                        <p:cTn id="41" dur="1" fill="hold">
                                          <p:stCondLst>
                                            <p:cond delay="0"/>
                                          </p:stCondLst>
                                        </p:cTn>
                                        <p:tgtEl>
                                          <p:spTgt spid="49161"/>
                                        </p:tgtEl>
                                        <p:attrNameLst>
                                          <p:attrName>style.visibility</p:attrName>
                                        </p:attrNameLst>
                                      </p:cBhvr>
                                      <p:to>
                                        <p:strVal val="visible"/>
                                      </p:to>
                                    </p:set>
                                    <p:animEffect transition="in" filter="dissolve">
                                      <p:cBhvr>
                                        <p:cTn id="42" dur="500"/>
                                        <p:tgtEl>
                                          <p:spTgt spid="4916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nodeType="clickEffect">
                                  <p:stCondLst>
                                    <p:cond delay="0"/>
                                  </p:stCondLst>
                                  <p:childTnLst>
                                    <p:animEffect transition="out" filter="dissolve">
                                      <p:cBhvr>
                                        <p:cTn id="46" dur="500"/>
                                        <p:tgtEl>
                                          <p:spTgt spid="49161"/>
                                        </p:tgtEl>
                                      </p:cBhvr>
                                    </p:animEffect>
                                    <p:set>
                                      <p:cBhvr>
                                        <p:cTn id="47" dur="1" fill="hold">
                                          <p:stCondLst>
                                            <p:cond delay="499"/>
                                          </p:stCondLst>
                                        </p:cTn>
                                        <p:tgtEl>
                                          <p:spTgt spid="49161"/>
                                        </p:tgtEl>
                                        <p:attrNameLst>
                                          <p:attrName>style.visibility</p:attrName>
                                        </p:attrNameLst>
                                      </p:cBhvr>
                                      <p:to>
                                        <p:strVal val="hidden"/>
                                      </p:to>
                                    </p:set>
                                  </p:childTnLst>
                                </p:cTn>
                              </p:par>
                              <p:par>
                                <p:cTn id="48" presetID="9" presetClass="entr" presetSubtype="0" fill="hold" nodeType="withEffect">
                                  <p:stCondLst>
                                    <p:cond delay="0"/>
                                  </p:stCondLst>
                                  <p:childTnLst>
                                    <p:set>
                                      <p:cBhvr>
                                        <p:cTn id="49" dur="1" fill="hold">
                                          <p:stCondLst>
                                            <p:cond delay="0"/>
                                          </p:stCondLst>
                                        </p:cTn>
                                        <p:tgtEl>
                                          <p:spTgt spid="49162"/>
                                        </p:tgtEl>
                                        <p:attrNameLst>
                                          <p:attrName>style.visibility</p:attrName>
                                        </p:attrNameLst>
                                      </p:cBhvr>
                                      <p:to>
                                        <p:strVal val="visible"/>
                                      </p:to>
                                    </p:set>
                                    <p:animEffect transition="in" filter="dissolve">
                                      <p:cBhvr>
                                        <p:cTn id="50" dur="500"/>
                                        <p:tgtEl>
                                          <p:spTgt spid="4916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xit" presetSubtype="0" fill="hold" nodeType="clickEffect">
                                  <p:stCondLst>
                                    <p:cond delay="0"/>
                                  </p:stCondLst>
                                  <p:childTnLst>
                                    <p:animEffect transition="out" filter="dissolve">
                                      <p:cBhvr>
                                        <p:cTn id="54" dur="500"/>
                                        <p:tgtEl>
                                          <p:spTgt spid="49162"/>
                                        </p:tgtEl>
                                      </p:cBhvr>
                                    </p:animEffect>
                                    <p:set>
                                      <p:cBhvr>
                                        <p:cTn id="55" dur="1" fill="hold">
                                          <p:stCondLst>
                                            <p:cond delay="499"/>
                                          </p:stCondLst>
                                        </p:cTn>
                                        <p:tgtEl>
                                          <p:spTgt spid="49162"/>
                                        </p:tgtEl>
                                        <p:attrNameLst>
                                          <p:attrName>style.visibility</p:attrName>
                                        </p:attrNameLst>
                                      </p:cBhvr>
                                      <p:to>
                                        <p:strVal val="hidden"/>
                                      </p:to>
                                    </p:set>
                                  </p:childTnLst>
                                </p:cTn>
                              </p:par>
                              <p:par>
                                <p:cTn id="56" presetID="9" presetClass="entr" presetSubtype="0" fill="hold" nodeType="withEffect">
                                  <p:stCondLst>
                                    <p:cond delay="0"/>
                                  </p:stCondLst>
                                  <p:childTnLst>
                                    <p:set>
                                      <p:cBhvr>
                                        <p:cTn id="57" dur="1" fill="hold">
                                          <p:stCondLst>
                                            <p:cond delay="0"/>
                                          </p:stCondLst>
                                        </p:cTn>
                                        <p:tgtEl>
                                          <p:spTgt spid="49164"/>
                                        </p:tgtEl>
                                        <p:attrNameLst>
                                          <p:attrName>style.visibility</p:attrName>
                                        </p:attrNameLst>
                                      </p:cBhvr>
                                      <p:to>
                                        <p:strVal val="visible"/>
                                      </p:to>
                                    </p:set>
                                    <p:animEffect transition="in" filter="dissolve">
                                      <p:cBhvr>
                                        <p:cTn id="58" dur="500"/>
                                        <p:tgtEl>
                                          <p:spTgt spid="49164"/>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xit" presetSubtype="0" fill="hold" nodeType="clickEffect">
                                  <p:stCondLst>
                                    <p:cond delay="0"/>
                                  </p:stCondLst>
                                  <p:childTnLst>
                                    <p:animEffect transition="out" filter="dissolve">
                                      <p:cBhvr>
                                        <p:cTn id="62" dur="500"/>
                                        <p:tgtEl>
                                          <p:spTgt spid="49164"/>
                                        </p:tgtEl>
                                      </p:cBhvr>
                                    </p:animEffect>
                                    <p:set>
                                      <p:cBhvr>
                                        <p:cTn id="63" dur="1" fill="hold">
                                          <p:stCondLst>
                                            <p:cond delay="499"/>
                                          </p:stCondLst>
                                        </p:cTn>
                                        <p:tgtEl>
                                          <p:spTgt spid="49164"/>
                                        </p:tgtEl>
                                        <p:attrNameLst>
                                          <p:attrName>style.visibility</p:attrName>
                                        </p:attrNameLst>
                                      </p:cBhvr>
                                      <p:to>
                                        <p:strVal val="hidden"/>
                                      </p:to>
                                    </p:set>
                                  </p:childTnLst>
                                </p:cTn>
                              </p:par>
                              <p:par>
                                <p:cTn id="64" presetID="9" presetClass="entr" presetSubtype="0" fill="hold" nodeType="withEffect">
                                  <p:stCondLst>
                                    <p:cond delay="0"/>
                                  </p:stCondLst>
                                  <p:childTnLst>
                                    <p:set>
                                      <p:cBhvr>
                                        <p:cTn id="65" dur="1" fill="hold">
                                          <p:stCondLst>
                                            <p:cond delay="0"/>
                                          </p:stCondLst>
                                        </p:cTn>
                                        <p:tgtEl>
                                          <p:spTgt spid="49166"/>
                                        </p:tgtEl>
                                        <p:attrNameLst>
                                          <p:attrName>style.visibility</p:attrName>
                                        </p:attrNameLst>
                                      </p:cBhvr>
                                      <p:to>
                                        <p:strVal val="visible"/>
                                      </p:to>
                                    </p:set>
                                    <p:animEffect transition="in" filter="dissolve">
                                      <p:cBhvr>
                                        <p:cTn id="66" dur="500"/>
                                        <p:tgtEl>
                                          <p:spTgt spid="49166"/>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xit" presetSubtype="0" fill="hold" nodeType="clickEffect">
                                  <p:stCondLst>
                                    <p:cond delay="0"/>
                                  </p:stCondLst>
                                  <p:childTnLst>
                                    <p:animEffect transition="out" filter="dissolve">
                                      <p:cBhvr>
                                        <p:cTn id="70" dur="500"/>
                                        <p:tgtEl>
                                          <p:spTgt spid="49166"/>
                                        </p:tgtEl>
                                      </p:cBhvr>
                                    </p:animEffect>
                                    <p:set>
                                      <p:cBhvr>
                                        <p:cTn id="71" dur="1" fill="hold">
                                          <p:stCondLst>
                                            <p:cond delay="499"/>
                                          </p:stCondLst>
                                        </p:cTn>
                                        <p:tgtEl>
                                          <p:spTgt spid="491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idx="4294967295"/>
          </p:nvPr>
        </p:nvSpPr>
        <p:spPr/>
        <p:txBody>
          <a:bodyPr/>
          <a:lstStyle/>
          <a:p>
            <a:r>
              <a:rPr lang="en-US" smtClean="0">
                <a:latin typeface="Tahoma" pitchFamily="34" charset="0"/>
              </a:rPr>
              <a:t>WaterML 1.1: additional </a:t>
            </a:r>
            <a:r>
              <a:rPr lang="en-US" i="1" smtClean="0">
                <a:latin typeface="Tahoma" pitchFamily="34" charset="0"/>
              </a:rPr>
              <a:t>sample</a:t>
            </a:r>
            <a:r>
              <a:rPr lang="en-US" smtClean="0">
                <a:latin typeface="Tahoma" pitchFamily="34" charset="0"/>
              </a:rPr>
              <a:t> elements</a:t>
            </a:r>
          </a:p>
        </p:txBody>
      </p:sp>
      <p:pic>
        <p:nvPicPr>
          <p:cNvPr id="74754" name="Content Placeholder 3"/>
          <p:cNvPicPr>
            <a:picLocks noGrp="1"/>
          </p:cNvPicPr>
          <p:nvPr>
            <p:ph idx="4294967295"/>
          </p:nvPr>
        </p:nvPicPr>
        <p:blipFill>
          <a:blip r:embed="rId3" cstate="print"/>
          <a:srcRect/>
          <a:stretch>
            <a:fillRect/>
          </a:stretch>
        </p:blipFill>
        <p:spPr>
          <a:xfrm>
            <a:off x="457200" y="1524000"/>
            <a:ext cx="8382000" cy="4267200"/>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idx="4294967295"/>
          </p:nvPr>
        </p:nvSpPr>
        <p:spPr/>
        <p:txBody>
          <a:bodyPr/>
          <a:lstStyle/>
          <a:p>
            <a:r>
              <a:rPr lang="en-US" smtClean="0">
                <a:latin typeface="Tahoma" pitchFamily="34" charset="0"/>
              </a:rPr>
              <a:t>WaterML 1.1: Extensibility</a:t>
            </a:r>
          </a:p>
        </p:txBody>
      </p:sp>
      <p:pic>
        <p:nvPicPr>
          <p:cNvPr id="76802" name="Content Placeholder 3"/>
          <p:cNvPicPr>
            <a:picLocks noGrp="1"/>
          </p:cNvPicPr>
          <p:nvPr>
            <p:ph idx="4294967295"/>
          </p:nvPr>
        </p:nvPicPr>
        <p:blipFill>
          <a:blip r:embed="rId3" cstate="print"/>
          <a:srcRect/>
          <a:stretch>
            <a:fillRect/>
          </a:stretch>
        </p:blipFill>
        <p:spPr>
          <a:xfrm>
            <a:off x="452438" y="1314450"/>
            <a:ext cx="8239125" cy="4248150"/>
          </a:xfrm>
        </p:spPr>
      </p:pic>
      <p:sp>
        <p:nvSpPr>
          <p:cNvPr id="76803" name="TextBox 4"/>
          <p:cNvSpPr txBox="1">
            <a:spLocks noChangeArrowheads="1"/>
          </p:cNvSpPr>
          <p:nvPr/>
        </p:nvSpPr>
        <p:spPr bwMode="auto">
          <a:xfrm>
            <a:off x="76200" y="5867400"/>
            <a:ext cx="8686800" cy="923925"/>
          </a:xfrm>
          <a:prstGeom prst="rect">
            <a:avLst/>
          </a:prstGeom>
          <a:noFill/>
          <a:ln w="9525">
            <a:noFill/>
            <a:miter lim="800000"/>
            <a:headEnd/>
            <a:tailEnd/>
          </a:ln>
        </p:spPr>
        <p:txBody>
          <a:bodyPr>
            <a:spAutoFit/>
          </a:bodyPr>
          <a:lstStyle/>
          <a:p>
            <a:pPr lvl="2"/>
            <a:r>
              <a:rPr lang="en-US"/>
              <a:t>Additional elements: siteInfo/siteProperty; variable/variableProperty;</a:t>
            </a:r>
            <a:br>
              <a:rPr lang="en-US"/>
            </a:br>
            <a:r>
              <a:rPr lang="en-US"/>
              <a:t>series/seriesProperty; values/valuesProperty</a:t>
            </a:r>
          </a:p>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idx="4294967295"/>
          </p:nvPr>
        </p:nvSpPr>
        <p:spPr/>
        <p:txBody>
          <a:bodyPr/>
          <a:lstStyle/>
          <a:p>
            <a:r>
              <a:rPr lang="en-US" smtClean="0">
                <a:latin typeface="Tahoma" pitchFamily="34" charset="0"/>
              </a:rPr>
              <a:t>WaterML 1.1: other</a:t>
            </a:r>
          </a:p>
        </p:txBody>
      </p:sp>
      <p:sp>
        <p:nvSpPr>
          <p:cNvPr id="3" name="Content Placeholder 2"/>
          <p:cNvSpPr>
            <a:spLocks noGrp="1"/>
          </p:cNvSpPr>
          <p:nvPr>
            <p:ph idx="4294967295"/>
          </p:nvPr>
        </p:nvSpPr>
        <p:spPr>
          <a:xfrm>
            <a:off x="301625" y="1368425"/>
            <a:ext cx="8540750" cy="4498975"/>
          </a:xfrm>
        </p:spPr>
        <p:txBody>
          <a:bodyPr>
            <a:normAutofit fontScale="92500" lnSpcReduction="20000"/>
          </a:bodyPr>
          <a:lstStyle/>
          <a:p>
            <a:pPr>
              <a:buFont typeface="Arial" charset="0"/>
              <a:buChar char="►"/>
              <a:defRPr/>
            </a:pPr>
            <a:r>
              <a:rPr lang="en-US" sz="2800" dirty="0" smtClean="0"/>
              <a:t>Space-delimited qualifiers</a:t>
            </a:r>
          </a:p>
          <a:p>
            <a:pPr>
              <a:buFont typeface="Arial" charset="0"/>
              <a:buChar char="►"/>
              <a:defRPr/>
            </a:pPr>
            <a:r>
              <a:rPr lang="en-US" sz="2800" dirty="0" smtClean="0"/>
              <a:t>Added </a:t>
            </a:r>
            <a:r>
              <a:rPr lang="en-US" sz="2800" i="1" dirty="0" err="1" smtClean="0"/>
              <a:t>SiteType</a:t>
            </a:r>
            <a:r>
              <a:rPr lang="en-US" sz="2800" dirty="0" smtClean="0"/>
              <a:t> as used by EPA and USGS</a:t>
            </a:r>
          </a:p>
          <a:p>
            <a:pPr>
              <a:buFont typeface="Arial" charset="0"/>
              <a:buChar char="►"/>
              <a:defRPr/>
            </a:pPr>
            <a:r>
              <a:rPr lang="en-US" sz="2800" dirty="0" smtClean="0"/>
              <a:t>Added </a:t>
            </a:r>
            <a:r>
              <a:rPr lang="en-US" sz="2800" i="1" dirty="0" smtClean="0"/>
              <a:t>Speciation </a:t>
            </a:r>
            <a:r>
              <a:rPr lang="en-US" sz="2800" dirty="0" smtClean="0"/>
              <a:t>to </a:t>
            </a:r>
            <a:r>
              <a:rPr lang="en-US" sz="2800" i="1" dirty="0" err="1" smtClean="0"/>
              <a:t>VariableInfo</a:t>
            </a:r>
            <a:r>
              <a:rPr lang="en-US" sz="2800" i="1" dirty="0" smtClean="0"/>
              <a:t> </a:t>
            </a:r>
            <a:r>
              <a:rPr lang="en-US" sz="2800" dirty="0" smtClean="0"/>
              <a:t>Type</a:t>
            </a:r>
          </a:p>
          <a:p>
            <a:pPr>
              <a:buFont typeface="Arial" charset="0"/>
              <a:buChar char="►"/>
              <a:defRPr/>
            </a:pPr>
            <a:r>
              <a:rPr lang="en-US" sz="2800" dirty="0" smtClean="0"/>
              <a:t>Suggested lists of terms instead of enforced enumerations (doesn’t throw an error on unknown terms)</a:t>
            </a:r>
          </a:p>
          <a:p>
            <a:pPr>
              <a:buFont typeface="Arial" charset="0"/>
              <a:buChar char="►"/>
              <a:defRPr/>
            </a:pPr>
            <a:r>
              <a:rPr lang="en-US" sz="2800" dirty="0" smtClean="0"/>
              <a:t>Multiple </a:t>
            </a:r>
            <a:r>
              <a:rPr lang="en-US" sz="2800" i="1" dirty="0" smtClean="0"/>
              <a:t>Values </a:t>
            </a:r>
            <a:r>
              <a:rPr lang="en-US" sz="2800" dirty="0" smtClean="0"/>
              <a:t>(change cardinality to 1+)</a:t>
            </a:r>
          </a:p>
          <a:p>
            <a:pPr lvl="1">
              <a:defRPr/>
            </a:pPr>
            <a:r>
              <a:rPr lang="en-US" sz="1800" dirty="0" smtClean="0"/>
              <a:t>A USGS site can have multiple streams of the same variable parameter from different instruments, e.g. </a:t>
            </a:r>
            <a:r>
              <a:rPr lang="en-US" sz="1600" dirty="0" smtClean="0">
                <a:solidFill>
                  <a:srgbClr val="FFFF00"/>
                </a:solidFill>
              </a:rPr>
              <a:t>Variable: NWISDV:00065  or NWISDV:00065/statistic=00003 or NWISDV:00065/</a:t>
            </a:r>
            <a:r>
              <a:rPr lang="en-US" sz="1600" dirty="0" err="1" smtClean="0">
                <a:solidFill>
                  <a:srgbClr val="FFFF00"/>
                </a:solidFill>
              </a:rPr>
              <a:t>ValueType</a:t>
            </a:r>
            <a:r>
              <a:rPr lang="en-US" sz="1600" dirty="0" smtClean="0">
                <a:solidFill>
                  <a:srgbClr val="FFFF00"/>
                </a:solidFill>
              </a:rPr>
              <a:t>=Average</a:t>
            </a:r>
          </a:p>
          <a:p>
            <a:pPr>
              <a:buFont typeface="Arial" charset="0"/>
              <a:buChar char="►"/>
              <a:defRPr/>
            </a:pPr>
            <a:r>
              <a:rPr lang="en-US" sz="2800" dirty="0" smtClean="0"/>
              <a:t>Changes in method names (for consistency)</a:t>
            </a:r>
          </a:p>
          <a:p>
            <a:pPr>
              <a:buFont typeface="Arial" charset="0"/>
              <a:buChar char="►"/>
              <a:defRPr/>
            </a:pPr>
            <a:r>
              <a:rPr lang="en-US" sz="2800" dirty="0" smtClean="0"/>
              <a:t>Added </a:t>
            </a:r>
            <a:r>
              <a:rPr lang="en-US" sz="2800" dirty="0" err="1" smtClean="0"/>
              <a:t>timeScale</a:t>
            </a:r>
            <a:r>
              <a:rPr lang="en-US" sz="2800" dirty="0" smtClean="0"/>
              <a:t> to handle “Time” associated variable information</a:t>
            </a:r>
          </a:p>
          <a:p>
            <a:pPr>
              <a:buFont typeface="Arial" charset="0"/>
              <a:buChar char="►"/>
              <a:defRPr/>
            </a:pP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idx="4294967295"/>
          </p:nvPr>
        </p:nvSpPr>
        <p:spPr/>
        <p:txBody>
          <a:bodyPr/>
          <a:lstStyle/>
          <a:p>
            <a:r>
              <a:rPr lang="en-US" smtClean="0">
                <a:latin typeface="Tahoma" pitchFamily="34" charset="0"/>
              </a:rPr>
              <a:t>Toward WaterML 2.0</a:t>
            </a:r>
          </a:p>
        </p:txBody>
      </p:sp>
      <p:sp>
        <p:nvSpPr>
          <p:cNvPr id="80898" name="Content Placeholder 2"/>
          <p:cNvSpPr>
            <a:spLocks noGrp="1"/>
          </p:cNvSpPr>
          <p:nvPr>
            <p:ph idx="4294967295"/>
          </p:nvPr>
        </p:nvSpPr>
        <p:spPr>
          <a:xfrm>
            <a:off x="304800" y="1520825"/>
            <a:ext cx="8540750" cy="4498975"/>
          </a:xfrm>
        </p:spPr>
        <p:txBody>
          <a:bodyPr/>
          <a:lstStyle/>
          <a:p>
            <a:r>
              <a:rPr lang="en-US" sz="2800" smtClean="0">
                <a:latin typeface="Tahoma" pitchFamily="34" charset="0"/>
              </a:rPr>
              <a:t>Use Simple GML</a:t>
            </a:r>
          </a:p>
          <a:p>
            <a:r>
              <a:rPr lang="en-US" sz="2800" smtClean="0">
                <a:latin typeface="Tahoma" pitchFamily="34" charset="0"/>
              </a:rPr>
              <a:t>Utilize XML namespaces (though need a wrapper)</a:t>
            </a:r>
          </a:p>
          <a:p>
            <a:r>
              <a:rPr lang="en-US" sz="2800" smtClean="0">
                <a:latin typeface="Tahoma" pitchFamily="34" charset="0"/>
              </a:rPr>
              <a:t>Extensible to additional use cases</a:t>
            </a:r>
          </a:p>
          <a:p>
            <a:r>
              <a:rPr lang="en-US" sz="2800" smtClean="0">
                <a:latin typeface="Tahoma" pitchFamily="34" charset="0"/>
              </a:rPr>
              <a:t>Prototype implementations demonstrating the use cases</a:t>
            </a:r>
          </a:p>
          <a:p>
            <a:r>
              <a:rPr lang="en-US" sz="2800" smtClean="0">
                <a:latin typeface="Tahoma" pitchFamily="34" charset="0"/>
              </a:rPr>
              <a:t>Deliver information over modified Water Data Services, or WFS/WCS/SOS</a:t>
            </a:r>
          </a:p>
          <a:p>
            <a:r>
              <a:rPr lang="en-US" sz="2800" smtClean="0">
                <a:latin typeface="Tahoma" pitchFamily="34" charset="0"/>
              </a:rPr>
              <a:t>Understand the implications of the change to the user community</a:t>
            </a:r>
          </a:p>
          <a:p>
            <a:r>
              <a:rPr lang="en-US" sz="2800" smtClean="0">
                <a:latin typeface="Tahoma" pitchFamily="34" charset="0"/>
              </a:rPr>
              <a:t>Best Practices: Units of Measures</a:t>
            </a:r>
          </a:p>
          <a:p>
            <a:endParaRPr lang="en-US" sz="2800" smtClean="0">
              <a:latin typeface="Tahoma"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ctrTitle" idx="4294967295"/>
          </p:nvPr>
        </p:nvSpPr>
        <p:spPr>
          <a:xfrm>
            <a:off x="685800" y="2130425"/>
            <a:ext cx="7772400" cy="1470025"/>
          </a:xfrm>
        </p:spPr>
        <p:txBody>
          <a:bodyPr/>
          <a:lstStyle/>
          <a:p>
            <a:r>
              <a:rPr lang="en-US" smtClean="0">
                <a:latin typeface="Tahoma" pitchFamily="34" charset="0"/>
              </a:rPr>
              <a:t>Some trade-offs…</a:t>
            </a:r>
          </a:p>
        </p:txBody>
      </p:sp>
      <p:sp>
        <p:nvSpPr>
          <p:cNvPr id="91138" name="Subtitle 2"/>
          <p:cNvSpPr>
            <a:spLocks noGrp="1"/>
          </p:cNvSpPr>
          <p:nvPr>
            <p:ph type="subTitle" idx="4294967295"/>
          </p:nvPr>
        </p:nvSpPr>
        <p:spPr>
          <a:xfrm>
            <a:off x="1371600" y="3886200"/>
            <a:ext cx="6400800" cy="1752600"/>
          </a:xfrm>
        </p:spPr>
        <p:txBody>
          <a:bodyPr/>
          <a:lstStyle/>
          <a:p>
            <a:pPr marL="0" indent="0" algn="ctr">
              <a:buFont typeface="Arial" pitchFamily="34" charset="0"/>
              <a:buNone/>
            </a:pPr>
            <a:endParaRPr lang="en-AU" smtClean="0">
              <a:latin typeface="Tahoma"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idx="4294967295"/>
          </p:nvPr>
        </p:nvSpPr>
        <p:spPr>
          <a:xfrm>
            <a:off x="301625" y="76200"/>
            <a:ext cx="8540750" cy="1143000"/>
          </a:xfrm>
        </p:spPr>
        <p:txBody>
          <a:bodyPr/>
          <a:lstStyle/>
          <a:p>
            <a:r>
              <a:rPr lang="en-US" smtClean="0">
                <a:latin typeface="Tahoma" pitchFamily="34" charset="0"/>
              </a:rPr>
              <a:t>WhichML</a:t>
            </a:r>
          </a:p>
        </p:txBody>
      </p:sp>
      <p:sp>
        <p:nvSpPr>
          <p:cNvPr id="93186" name="Content Placeholder 2"/>
          <p:cNvSpPr>
            <a:spLocks noGrp="1"/>
          </p:cNvSpPr>
          <p:nvPr>
            <p:ph idx="4294967295"/>
          </p:nvPr>
        </p:nvSpPr>
        <p:spPr>
          <a:xfrm>
            <a:off x="298450" y="1219200"/>
            <a:ext cx="8540750" cy="4498975"/>
          </a:xfrm>
        </p:spPr>
        <p:txBody>
          <a:bodyPr/>
          <a:lstStyle/>
          <a:p>
            <a:pPr>
              <a:buFont typeface="Arial" pitchFamily="34" charset="0"/>
              <a:buNone/>
            </a:pPr>
            <a:r>
              <a:rPr lang="en-US" sz="2400" smtClean="0">
                <a:latin typeface="Tahoma" pitchFamily="34" charset="0"/>
              </a:rPr>
              <a:t>Must be considered in the context of specific information they were designed to communicate, and implementation use cases they were intended to support</a:t>
            </a:r>
          </a:p>
          <a:p>
            <a:r>
              <a:rPr lang="en-US" sz="2800" smtClean="0">
                <a:solidFill>
                  <a:srgbClr val="FFFF00"/>
                </a:solidFill>
                <a:latin typeface="Tahoma" pitchFamily="34" charset="0"/>
              </a:rPr>
              <a:t>USGS HydroML (mirrors NWIS)</a:t>
            </a:r>
          </a:p>
          <a:p>
            <a:r>
              <a:rPr lang="en-US" sz="2800" smtClean="0">
                <a:solidFill>
                  <a:srgbClr val="FFFF00"/>
                </a:solidFill>
                <a:latin typeface="Tahoma" pitchFamily="34" charset="0"/>
              </a:rPr>
              <a:t>EPA’s WQX (to submit “activity” data; </a:t>
            </a:r>
            <a:r>
              <a:rPr lang="en-US" sz="2800" i="1" smtClean="0">
                <a:solidFill>
                  <a:srgbClr val="FFFF00"/>
                </a:solidFill>
                <a:latin typeface="Tahoma" pitchFamily="34" charset="0"/>
              </a:rPr>
              <a:t>activity-method-sample-result</a:t>
            </a:r>
            <a:r>
              <a:rPr lang="en-US" sz="2800" smtClean="0">
                <a:solidFill>
                  <a:srgbClr val="FFFF00"/>
                </a:solidFill>
                <a:latin typeface="Tahoma" pitchFamily="34" charset="0"/>
              </a:rPr>
              <a:t>)</a:t>
            </a:r>
          </a:p>
          <a:p>
            <a:r>
              <a:rPr lang="en-US" sz="2800" smtClean="0">
                <a:solidFill>
                  <a:srgbClr val="FFFF00"/>
                </a:solidFill>
                <a:latin typeface="Tahoma" pitchFamily="34" charset="0"/>
              </a:rPr>
              <a:t>IWDTF (GML simple features)</a:t>
            </a:r>
          </a:p>
          <a:p>
            <a:r>
              <a:rPr lang="en-US" sz="2800" smtClean="0">
                <a:solidFill>
                  <a:srgbClr val="FFFF00"/>
                </a:solidFill>
                <a:latin typeface="Tahoma" pitchFamily="34" charset="0"/>
              </a:rPr>
              <a:t>GRDC (ISO/TC211 compliant)</a:t>
            </a:r>
          </a:p>
          <a:p>
            <a:r>
              <a:rPr lang="en-US" sz="2800" smtClean="0">
                <a:solidFill>
                  <a:srgbClr val="FFFF00"/>
                </a:solidFill>
                <a:latin typeface="Tahoma" pitchFamily="34" charset="0"/>
              </a:rPr>
              <a:t>O&amp;M-compliant</a:t>
            </a:r>
          </a:p>
          <a:p>
            <a:r>
              <a:rPr lang="en-US" smtClean="0">
                <a:solidFill>
                  <a:srgbClr val="FFFF00"/>
                </a:solidFill>
                <a:latin typeface="Tahoma" pitchFamily="34" charset="0"/>
              </a:rPr>
              <a:t>…</a:t>
            </a:r>
          </a:p>
          <a:p>
            <a:pPr lvl="1">
              <a:buFont typeface="Wingdings" pitchFamily="2" charset="2"/>
              <a:buNone/>
            </a:pPr>
            <a:r>
              <a:rPr lang="en-US" sz="2000" smtClean="0">
                <a:latin typeface="Tahoma" pitchFamily="34" charset="0"/>
              </a:rPr>
              <a:t>no simple schema will be able to fully communicate the details of a rich variety of information used in hydrologic modeling</a:t>
            </a:r>
          </a:p>
          <a:p>
            <a:endParaRPr lang="en-US" smtClean="0">
              <a:latin typeface="Tahoma" pitchFamily="34" charset="0"/>
            </a:endParaRPr>
          </a:p>
          <a:p>
            <a:endParaRPr lang="en-US" smtClean="0">
              <a:latin typeface="Tahoma"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idx="4294967295"/>
          </p:nvPr>
        </p:nvSpPr>
        <p:spPr>
          <a:xfrm>
            <a:off x="301625" y="76200"/>
            <a:ext cx="8540750" cy="1143000"/>
          </a:xfrm>
        </p:spPr>
        <p:txBody>
          <a:bodyPr/>
          <a:lstStyle/>
          <a:p>
            <a:r>
              <a:rPr lang="en-US" smtClean="0">
                <a:latin typeface="Tahoma" pitchFamily="34" charset="0"/>
              </a:rPr>
              <a:t>Series vs Observations</a:t>
            </a:r>
          </a:p>
        </p:txBody>
      </p:sp>
      <p:sp>
        <p:nvSpPr>
          <p:cNvPr id="95234" name="Content Placeholder 2"/>
          <p:cNvSpPr>
            <a:spLocks noGrp="1"/>
          </p:cNvSpPr>
          <p:nvPr>
            <p:ph idx="4294967295"/>
          </p:nvPr>
        </p:nvSpPr>
        <p:spPr>
          <a:xfrm>
            <a:off x="301625" y="1066800"/>
            <a:ext cx="8540750" cy="4498975"/>
          </a:xfrm>
        </p:spPr>
        <p:txBody>
          <a:bodyPr/>
          <a:lstStyle/>
          <a:p>
            <a:r>
              <a:rPr lang="en-US" sz="2400" smtClean="0">
                <a:latin typeface="Tahoma" pitchFamily="34" charset="0"/>
              </a:rPr>
              <a:t>a series: data values associated with a unique site, variable, method, source, and quality control level combination, collected between a start and end date and time. </a:t>
            </a:r>
          </a:p>
          <a:p>
            <a:r>
              <a:rPr lang="en-US" sz="2400" smtClean="0">
                <a:latin typeface="Tahoma" pitchFamily="34" charset="0"/>
              </a:rPr>
              <a:t>Key construct in WaterML; most metadata associated with it</a:t>
            </a:r>
          </a:p>
          <a:p>
            <a:r>
              <a:rPr lang="en-US" sz="2400" smtClean="0">
                <a:latin typeface="Tahoma" pitchFamily="34" charset="0"/>
              </a:rPr>
              <a:t>Advantages:</a:t>
            </a:r>
          </a:p>
          <a:p>
            <a:pPr lvl="1"/>
            <a:r>
              <a:rPr lang="en-US" sz="2000" smtClean="0">
                <a:latin typeface="Tahoma" pitchFamily="34" charset="0"/>
              </a:rPr>
              <a:t>better alignment with common usage scenarios;</a:t>
            </a:r>
          </a:p>
          <a:p>
            <a:pPr lvl="1"/>
            <a:r>
              <a:rPr lang="en-US" sz="2000" smtClean="0">
                <a:latin typeface="Tahoma" pitchFamily="34" charset="0"/>
              </a:rPr>
              <a:t>easier interpretation and compactness, without excessive references</a:t>
            </a:r>
          </a:p>
          <a:p>
            <a:pPr lvl="1"/>
            <a:r>
              <a:rPr lang="en-US" sz="2000" smtClean="0">
                <a:latin typeface="Tahoma" pitchFamily="34" charset="0"/>
              </a:rPr>
              <a:t>support of efficient implementation of the entire discovery phase over a SeriesCatalog.</a:t>
            </a:r>
          </a:p>
          <a:p>
            <a:pPr lvl="2"/>
            <a:r>
              <a:rPr lang="en-US" sz="1800" smtClean="0">
                <a:latin typeface="Tahoma" pitchFamily="34" charset="0"/>
              </a:rPr>
              <a:t>1.75 million stations; 134 million observation series,</a:t>
            </a:r>
          </a:p>
          <a:p>
            <a:pPr lvl="1"/>
            <a:r>
              <a:rPr lang="en-US" sz="2000" smtClean="0">
                <a:latin typeface="Tahoma" pitchFamily="34" charset="0"/>
              </a:rPr>
              <a:t>efficient formulation of “data carts” as collections of series. </a:t>
            </a:r>
          </a:p>
          <a:p>
            <a:r>
              <a:rPr lang="en-US" sz="1800" smtClean="0">
                <a:latin typeface="Tahoma" pitchFamily="34" charset="0"/>
              </a:rPr>
              <a:t>Most recent: </a:t>
            </a:r>
            <a:r>
              <a:rPr lang="en-US" sz="1800" smtClean="0">
                <a:latin typeface="Tahoma" pitchFamily="34" charset="0"/>
                <a:hlinkClick r:id="rId3"/>
              </a:rPr>
              <a:t>http://river.sdsc.edu/wiki/HIS%20Desktop%20Database.ashx</a:t>
            </a:r>
            <a:endParaRPr lang="en-US" sz="2400" smtClean="0">
              <a:latin typeface="Tahoma"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457200" y="0"/>
            <a:ext cx="8229600" cy="990600"/>
          </a:xfrm>
        </p:spPr>
        <p:txBody>
          <a:bodyPr/>
          <a:lstStyle/>
          <a:p>
            <a:r>
              <a:rPr lang="en-US" smtClean="0"/>
              <a:t>Summary</a:t>
            </a:r>
          </a:p>
        </p:txBody>
      </p:sp>
      <p:sp>
        <p:nvSpPr>
          <p:cNvPr id="29699" name="Content Placeholder 2"/>
          <p:cNvSpPr>
            <a:spLocks noGrp="1"/>
          </p:cNvSpPr>
          <p:nvPr>
            <p:ph idx="1"/>
          </p:nvPr>
        </p:nvSpPr>
        <p:spPr>
          <a:xfrm>
            <a:off x="152400" y="990600"/>
            <a:ext cx="8991600" cy="4724400"/>
          </a:xfrm>
        </p:spPr>
        <p:txBody>
          <a:bodyPr/>
          <a:lstStyle/>
          <a:p>
            <a:pPr eaLnBrk="1" hangingPunct="1">
              <a:defRPr/>
            </a:pPr>
            <a:r>
              <a:rPr lang="en-US" sz="2400" dirty="0" smtClean="0"/>
              <a:t>Generic method for managing and publishing observational data</a:t>
            </a:r>
          </a:p>
          <a:p>
            <a:pPr lvl="1" eaLnBrk="1" hangingPunct="1">
              <a:defRPr/>
            </a:pPr>
            <a:r>
              <a:rPr lang="en-US" sz="2000" dirty="0" smtClean="0"/>
              <a:t>Supports </a:t>
            </a:r>
            <a:r>
              <a:rPr lang="en-US" sz="2000" dirty="0" smtClean="0">
                <a:solidFill>
                  <a:srgbClr val="FF0000"/>
                </a:solidFill>
              </a:rPr>
              <a:t>many types </a:t>
            </a:r>
            <a:r>
              <a:rPr lang="en-US" sz="2000" dirty="0" smtClean="0"/>
              <a:t>of point observational data</a:t>
            </a:r>
          </a:p>
          <a:p>
            <a:pPr lvl="1" eaLnBrk="1" hangingPunct="1">
              <a:defRPr/>
            </a:pPr>
            <a:r>
              <a:rPr lang="en-US" sz="2000" dirty="0" smtClean="0"/>
              <a:t>Overcomes </a:t>
            </a:r>
            <a:r>
              <a:rPr lang="en-US" sz="2000" dirty="0" smtClean="0">
                <a:solidFill>
                  <a:srgbClr val="FF0000"/>
                </a:solidFill>
              </a:rPr>
              <a:t>syntactic and semantic heterogeneity </a:t>
            </a:r>
            <a:r>
              <a:rPr lang="en-US" sz="2000" dirty="0" smtClean="0"/>
              <a:t>using a standard data model and controlled vocabularies</a:t>
            </a:r>
          </a:p>
          <a:p>
            <a:pPr lvl="1" eaLnBrk="1" hangingPunct="1">
              <a:defRPr/>
            </a:pPr>
            <a:r>
              <a:rPr lang="en-US" sz="2000" dirty="0" smtClean="0"/>
              <a:t>Supports a national network of observatory test beds but </a:t>
            </a:r>
            <a:r>
              <a:rPr lang="en-US" sz="2000" dirty="0" smtClean="0">
                <a:solidFill>
                  <a:srgbClr val="FF0000"/>
                </a:solidFill>
              </a:rPr>
              <a:t>can grow!</a:t>
            </a:r>
          </a:p>
          <a:p>
            <a:pPr eaLnBrk="1" hangingPunct="1">
              <a:defRPr/>
            </a:pPr>
            <a:r>
              <a:rPr lang="en-US" sz="2400" dirty="0" err="1" smtClean="0">
                <a:solidFill>
                  <a:srgbClr val="FF0000"/>
                </a:solidFill>
              </a:rPr>
              <a:t>WaterML</a:t>
            </a:r>
            <a:r>
              <a:rPr lang="en-US" sz="2400" dirty="0" smtClean="0"/>
              <a:t> is a standard language for consistently communicating water observations data from academic and government sources using web services – develops towards OGC standards</a:t>
            </a:r>
          </a:p>
          <a:p>
            <a:pPr eaLnBrk="1" hangingPunct="1">
              <a:defRPr/>
            </a:pPr>
            <a:r>
              <a:rPr lang="en-US" sz="2400" dirty="0" smtClean="0">
                <a:solidFill>
                  <a:srgbClr val="FF0000"/>
                </a:solidFill>
              </a:rPr>
              <a:t>National Water Metadata Catalog </a:t>
            </a:r>
            <a:r>
              <a:rPr lang="en-US" sz="2400" dirty="0" smtClean="0"/>
              <a:t>is the most comprehensive index of the nation’s water observations presently existing</a:t>
            </a:r>
          </a:p>
          <a:p>
            <a:pPr eaLnBrk="1" hangingPunct="1">
              <a:defRPr/>
            </a:pPr>
            <a:endParaRPr lang="en-US" sz="2400" dirty="0" smtClean="0"/>
          </a:p>
          <a:p>
            <a:pPr eaLnBrk="1" hangingPunct="1">
              <a:buFontTx/>
              <a:buNone/>
              <a:defRPr/>
            </a:pPr>
            <a:r>
              <a:rPr lang="en-US" b="1" dirty="0" smtClean="0">
                <a:solidFill>
                  <a:schemeClr val="accent6">
                    <a:lumMod val="75000"/>
                  </a:schemeClr>
                </a:solidFill>
              </a:rPr>
              <a:t>         Join the Water Data Federation!</a:t>
            </a:r>
          </a:p>
        </p:txBody>
      </p:sp>
      <p:cxnSp>
        <p:nvCxnSpPr>
          <p:cNvPr id="99331" name="Straight Connector 4"/>
          <p:cNvCxnSpPr>
            <a:cxnSpLocks noChangeShapeType="1"/>
          </p:cNvCxnSpPr>
          <p:nvPr/>
        </p:nvCxnSpPr>
        <p:spPr bwMode="auto">
          <a:xfrm>
            <a:off x="381000" y="5713413"/>
            <a:ext cx="8305800" cy="1587"/>
          </a:xfrm>
          <a:prstGeom prst="line">
            <a:avLst/>
          </a:prstGeom>
          <a:noFill/>
          <a:ln w="9525" algn="ctr">
            <a:solidFill>
              <a:schemeClr val="tx1"/>
            </a:solidFill>
            <a:round/>
            <a:headEnd/>
            <a:tailEnd/>
          </a:ln>
        </p:spPr>
      </p:cxn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8"/>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mpass">
  <a:themeElements>
    <a:clrScheme name="Compass 1">
      <a:dk1>
        <a:srgbClr val="00007A"/>
      </a:dk1>
      <a:lt1>
        <a:srgbClr val="FFFFFF"/>
      </a:lt1>
      <a:dk2>
        <a:srgbClr val="000066"/>
      </a:dk2>
      <a:lt2>
        <a:srgbClr val="CCECFF"/>
      </a:lt2>
      <a:accent1>
        <a:srgbClr val="6F64C2"/>
      </a:accent1>
      <a:accent2>
        <a:srgbClr val="0089BA"/>
      </a:accent2>
      <a:accent3>
        <a:srgbClr val="AAAAB8"/>
      </a:accent3>
      <a:accent4>
        <a:srgbClr val="DADADA"/>
      </a:accent4>
      <a:accent5>
        <a:srgbClr val="BBB8DD"/>
      </a:accent5>
      <a:accent6>
        <a:srgbClr val="007CA8"/>
      </a:accent6>
      <a:hlink>
        <a:srgbClr val="66CCFF"/>
      </a:hlink>
      <a:folHlink>
        <a:srgbClr val="00CC99"/>
      </a:folHlink>
    </a:clrScheme>
    <a:fontScheme name="1_Compass">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ompass 1">
        <a:dk1>
          <a:srgbClr val="00007A"/>
        </a:dk1>
        <a:lt1>
          <a:srgbClr val="FFFFFF"/>
        </a:lt1>
        <a:dk2>
          <a:srgbClr val="000066"/>
        </a:dk2>
        <a:lt2>
          <a:srgbClr val="CCECFF"/>
        </a:lt2>
        <a:accent1>
          <a:srgbClr val="6F64C2"/>
        </a:accent1>
        <a:accent2>
          <a:srgbClr val="0089BA"/>
        </a:accent2>
        <a:accent3>
          <a:srgbClr val="AAAAB8"/>
        </a:accent3>
        <a:accent4>
          <a:srgbClr val="DADADA"/>
        </a:accent4>
        <a:accent5>
          <a:srgbClr val="BBB8DD"/>
        </a:accent5>
        <a:accent6>
          <a:srgbClr val="007CA8"/>
        </a:accent6>
        <a:hlink>
          <a:srgbClr val="66CCFF"/>
        </a:hlink>
        <a:folHlink>
          <a:srgbClr val="00CC99"/>
        </a:folHlink>
      </a:clrScheme>
      <a:clrMap bg1="dk2" tx1="lt1" bg2="dk1" tx2="lt2" accent1="accent1" accent2="accent2" accent3="accent3" accent4="accent4" accent5="accent5" accent6="accent6" hlink="hlink" folHlink="folHlink"/>
    </a:extraClrScheme>
    <a:extraClrScheme>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clrMap bg1="dk2" tx1="lt1" bg2="dk1" tx2="lt2" accent1="accent1" accent2="accent2" accent3="accent3" accent4="accent4" accent5="accent5" accent6="accent6" hlink="hlink" folHlink="folHlink"/>
    </a:extraClrScheme>
    <a:extraClrScheme>
      <a:clrScheme name="Compass 3">
        <a:dk1>
          <a:srgbClr val="860000"/>
        </a:dk1>
        <a:lt1>
          <a:srgbClr val="FFFFFF"/>
        </a:lt1>
        <a:dk2>
          <a:srgbClr val="800000"/>
        </a:dk2>
        <a:lt2>
          <a:srgbClr val="FFFFCC"/>
        </a:lt2>
        <a:accent1>
          <a:srgbClr val="FF6600"/>
        </a:accent1>
        <a:accent2>
          <a:srgbClr val="FF9933"/>
        </a:accent2>
        <a:accent3>
          <a:srgbClr val="C0AAAA"/>
        </a:accent3>
        <a:accent4>
          <a:srgbClr val="DADADA"/>
        </a:accent4>
        <a:accent5>
          <a:srgbClr val="FFB8AA"/>
        </a:accent5>
        <a:accent6>
          <a:srgbClr val="E78A2D"/>
        </a:accent6>
        <a:hlink>
          <a:srgbClr val="FFCC00"/>
        </a:hlink>
        <a:folHlink>
          <a:srgbClr val="CC9900"/>
        </a:folHlink>
      </a:clrScheme>
      <a:clrMap bg1="dk2" tx1="lt1" bg2="dk1" tx2="lt2" accent1="accent1" accent2="accent2" accent3="accent3" accent4="accent4" accent5="accent5" accent6="accent6" hlink="hlink" folHlink="folHlink"/>
    </a:extraClrScheme>
    <a:extraClrScheme>
      <a:clrScheme name="Compass 4">
        <a:dk1>
          <a:srgbClr val="676A5C"/>
        </a:dk1>
        <a:lt1>
          <a:srgbClr val="FFFFFF"/>
        </a:lt1>
        <a:dk2>
          <a:srgbClr val="686B5D"/>
        </a:dk2>
        <a:lt2>
          <a:srgbClr val="FFFFCC"/>
        </a:lt2>
        <a:accent1>
          <a:srgbClr val="CC6600"/>
        </a:accent1>
        <a:accent2>
          <a:srgbClr val="809EA8"/>
        </a:accent2>
        <a:accent3>
          <a:srgbClr val="B9BAB6"/>
        </a:accent3>
        <a:accent4>
          <a:srgbClr val="DADADA"/>
        </a:accent4>
        <a:accent5>
          <a:srgbClr val="E2B8AA"/>
        </a:accent5>
        <a:accent6>
          <a:srgbClr val="738F98"/>
        </a:accent6>
        <a:hlink>
          <a:srgbClr val="DDBF4F"/>
        </a:hlink>
        <a:folHlink>
          <a:srgbClr val="B7B6A3"/>
        </a:folHlink>
      </a:clrScheme>
      <a:clrMap bg1="dk2" tx1="lt1" bg2="dk1" tx2="lt2" accent1="accent1" accent2="accent2" accent3="accent3" accent4="accent4" accent5="accent5" accent6="accent6" hlink="hlink" folHlink="folHlink"/>
    </a:extraClrScheme>
    <a:extraClrScheme>
      <a:clrScheme name="Compass 5">
        <a:dk1>
          <a:srgbClr val="AC835E"/>
        </a:dk1>
        <a:lt1>
          <a:srgbClr val="FFFFFF"/>
        </a:lt1>
        <a:dk2>
          <a:srgbClr val="AE8764"/>
        </a:dk2>
        <a:lt2>
          <a:srgbClr val="FFFFCC"/>
        </a:lt2>
        <a:accent1>
          <a:srgbClr val="CC6600"/>
        </a:accent1>
        <a:accent2>
          <a:srgbClr val="FF5050"/>
        </a:accent2>
        <a:accent3>
          <a:srgbClr val="D3C3B8"/>
        </a:accent3>
        <a:accent4>
          <a:srgbClr val="DADADA"/>
        </a:accent4>
        <a:accent5>
          <a:srgbClr val="E2B8AA"/>
        </a:accent5>
        <a:accent6>
          <a:srgbClr val="E74848"/>
        </a:accent6>
        <a:hlink>
          <a:srgbClr val="FFCC99"/>
        </a:hlink>
        <a:folHlink>
          <a:srgbClr val="FF9966"/>
        </a:folHlink>
      </a:clrScheme>
      <a:clrMap bg1="dk2" tx1="lt1" bg2="dk1" tx2="lt2" accent1="accent1" accent2="accent2" accent3="accent3" accent4="accent4" accent5="accent5" accent6="accent6" hlink="hlink" folHlink="folHlink"/>
    </a:extraClrScheme>
    <a:extraClrScheme>
      <a:clrScheme name="Compass 6">
        <a:dk1>
          <a:srgbClr val="526133"/>
        </a:dk1>
        <a:lt1>
          <a:srgbClr val="FFFFFF"/>
        </a:lt1>
        <a:dk2>
          <a:srgbClr val="4E5D31"/>
        </a:dk2>
        <a:lt2>
          <a:srgbClr val="FFFFCC"/>
        </a:lt2>
        <a:accent1>
          <a:srgbClr val="99CC00"/>
        </a:accent1>
        <a:accent2>
          <a:srgbClr val="7A9505"/>
        </a:accent2>
        <a:accent3>
          <a:srgbClr val="B2B6AD"/>
        </a:accent3>
        <a:accent4>
          <a:srgbClr val="DADADA"/>
        </a:accent4>
        <a:accent5>
          <a:srgbClr val="CAE2AA"/>
        </a:accent5>
        <a:accent6>
          <a:srgbClr val="6E8704"/>
        </a:accent6>
        <a:hlink>
          <a:srgbClr val="FFCC00"/>
        </a:hlink>
        <a:folHlink>
          <a:srgbClr val="CCCC00"/>
        </a:folHlink>
      </a:clrScheme>
      <a:clrMap bg1="dk2" tx1="lt1" bg2="dk1" tx2="lt2" accent1="accent1" accent2="accent2" accent3="accent3" accent4="accent4" accent5="accent5" accent6="accent6" hlink="hlink" folHlink="folHlink"/>
    </a:extraClrScheme>
    <a:extraClrScheme>
      <a:clrScheme name="Compass 7">
        <a:dk1>
          <a:srgbClr val="000000"/>
        </a:dk1>
        <a:lt1>
          <a:srgbClr val="DDDCC5"/>
        </a:lt1>
        <a:dk2>
          <a:srgbClr val="95934B"/>
        </a:dk2>
        <a:lt2>
          <a:srgbClr val="DBDAC3"/>
        </a:lt2>
        <a:accent1>
          <a:srgbClr val="EAEBE1"/>
        </a:accent1>
        <a:accent2>
          <a:srgbClr val="9DB0B7"/>
        </a:accent2>
        <a:accent3>
          <a:srgbClr val="EBEBDF"/>
        </a:accent3>
        <a:accent4>
          <a:srgbClr val="000000"/>
        </a:accent4>
        <a:accent5>
          <a:srgbClr val="F3F3EE"/>
        </a:accent5>
        <a:accent6>
          <a:srgbClr val="8E9FA6"/>
        </a:accent6>
        <a:hlink>
          <a:srgbClr val="009900"/>
        </a:hlink>
        <a:folHlink>
          <a:srgbClr val="808000"/>
        </a:folHlink>
      </a:clrScheme>
      <a:clrMap bg1="lt1" tx1="dk1" bg2="lt2" tx2="dk2" accent1="accent1" accent2="accent2" accent3="accent3" accent4="accent4" accent5="accent5" accent6="accent6" hlink="hlink" folHlink="folHlink"/>
    </a:extraClrScheme>
    <a:extraClrScheme>
      <a:clrScheme name="Compass 8">
        <a:dk1>
          <a:srgbClr val="007E7B"/>
        </a:dk1>
        <a:lt1>
          <a:srgbClr val="FFFFFF"/>
        </a:lt1>
        <a:dk2>
          <a:srgbClr val="008080"/>
        </a:dk2>
        <a:lt2>
          <a:srgbClr val="FFFF99"/>
        </a:lt2>
        <a:accent1>
          <a:srgbClr val="33CCCC"/>
        </a:accent1>
        <a:accent2>
          <a:srgbClr val="00CC66"/>
        </a:accent2>
        <a:accent3>
          <a:srgbClr val="AAC0C0"/>
        </a:accent3>
        <a:accent4>
          <a:srgbClr val="DADADA"/>
        </a:accent4>
        <a:accent5>
          <a:srgbClr val="ADE2E2"/>
        </a:accent5>
        <a:accent6>
          <a:srgbClr val="00B95C"/>
        </a:accent6>
        <a:hlink>
          <a:srgbClr val="CCFFCC"/>
        </a:hlink>
        <a:folHlink>
          <a:srgbClr val="FFFFCC"/>
        </a:folHlink>
      </a:clrScheme>
      <a:clrMap bg1="dk2" tx1="lt1" bg2="dk1" tx2="lt2" accent1="accent1" accent2="accent2" accent3="accent3" accent4="accent4" accent5="accent5" accent6="accent6" hlink="hlink" folHlink="folHlink"/>
    </a:extraClrScheme>
    <a:extraClrScheme>
      <a:clrScheme name="Compass 9">
        <a:dk1>
          <a:srgbClr val="000000"/>
        </a:dk1>
        <a:lt1>
          <a:srgbClr val="FFFFFF"/>
        </a:lt1>
        <a:dk2>
          <a:srgbClr val="000000"/>
        </a:dk2>
        <a:lt2>
          <a:srgbClr val="FEFEFE"/>
        </a:lt2>
        <a:accent1>
          <a:srgbClr val="E1E1FF"/>
        </a:accent1>
        <a:accent2>
          <a:srgbClr val="D9FFF8"/>
        </a:accent2>
        <a:accent3>
          <a:srgbClr val="FFFFFF"/>
        </a:accent3>
        <a:accent4>
          <a:srgbClr val="000000"/>
        </a:accent4>
        <a:accent5>
          <a:srgbClr val="EEEEFF"/>
        </a:accent5>
        <a:accent6>
          <a:srgbClr val="C4E7E1"/>
        </a:accent6>
        <a:hlink>
          <a:srgbClr val="9966FF"/>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16873</TotalTime>
  <Words>1573</Words>
  <Application>Microsoft Office PowerPoint</Application>
  <PresentationFormat>On-screen Show (4:3)</PresentationFormat>
  <Paragraphs>204</Paragraphs>
  <Slides>25</Slides>
  <Notes>24</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2</vt:i4>
      </vt:variant>
      <vt:variant>
        <vt:lpstr>Slide Titles</vt:lpstr>
      </vt:variant>
      <vt:variant>
        <vt:i4>25</vt:i4>
      </vt:variant>
    </vt:vector>
  </HeadingPairs>
  <TitlesOfParts>
    <vt:vector size="37" baseType="lpstr">
      <vt:lpstr>Arial</vt:lpstr>
      <vt:lpstr>Tahoma</vt:lpstr>
      <vt:lpstr>Wingdings</vt:lpstr>
      <vt:lpstr>Calibri</vt:lpstr>
      <vt:lpstr>Helvetica</vt:lpstr>
      <vt:lpstr>Times New Roman</vt:lpstr>
      <vt:lpstr>ＭＳ Ｐゴシック</vt:lpstr>
      <vt:lpstr>Times</vt:lpstr>
      <vt:lpstr>Default Design</vt:lpstr>
      <vt:lpstr>1_Compass</vt:lpstr>
      <vt:lpstr>Image</vt:lpstr>
      <vt:lpstr>Visio</vt:lpstr>
      <vt:lpstr>Time series management in WaterML 1.1 and  CUAHSI Water Data Services </vt:lpstr>
      <vt:lpstr>Slide 2</vt:lpstr>
      <vt:lpstr>Slide 3</vt:lpstr>
      <vt:lpstr>How you create an information system where… </vt:lpstr>
      <vt:lpstr>Water Data Services</vt:lpstr>
      <vt:lpstr>Water Web Services</vt:lpstr>
      <vt:lpstr>WaterML Responses</vt:lpstr>
      <vt:lpstr>Requirements for a community data exchange protocol</vt:lpstr>
      <vt:lpstr>WaterML Components</vt:lpstr>
      <vt:lpstr>WaterML Responses</vt:lpstr>
      <vt:lpstr>WaterML Evolution</vt:lpstr>
      <vt:lpstr>Site Information (Descriptive)</vt:lpstr>
      <vt:lpstr>Variable</vt:lpstr>
      <vt:lpstr>Series (Observation)</vt:lpstr>
      <vt:lpstr>Values,  aka Time Series</vt:lpstr>
      <vt:lpstr>Time Series</vt:lpstr>
      <vt:lpstr>TimeSeries response</vt:lpstr>
      <vt:lpstr>WaterML 1.1: additional sample elements</vt:lpstr>
      <vt:lpstr>WaterML 1.1: Extensibility</vt:lpstr>
      <vt:lpstr>WaterML 1.1: other</vt:lpstr>
      <vt:lpstr>Toward WaterML 2.0</vt:lpstr>
      <vt:lpstr>Some trade-offs…</vt:lpstr>
      <vt:lpstr>WhichML</vt:lpstr>
      <vt:lpstr>Series vs Observations</vt:lpstr>
      <vt:lpstr>Summary</vt:lpstr>
    </vt:vector>
  </TitlesOfParts>
  <Company>University of Texas at Austin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maidment</dc:creator>
  <cp:lastModifiedBy>Ilya</cp:lastModifiedBy>
  <cp:revision>164</cp:revision>
  <dcterms:created xsi:type="dcterms:W3CDTF">2006-11-06T14:37:11Z</dcterms:created>
  <dcterms:modified xsi:type="dcterms:W3CDTF">2009-06-22T17:40:36Z</dcterms:modified>
</cp:coreProperties>
</file>