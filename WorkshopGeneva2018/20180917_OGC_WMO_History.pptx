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  <p:sldMasterId id="2147483801" r:id="rId2"/>
  </p:sldMasterIdLst>
  <p:notesMasterIdLst>
    <p:notesMasterId r:id="rId7"/>
  </p:notesMasterIdLst>
  <p:handoutMasterIdLst>
    <p:handoutMasterId r:id="rId8"/>
  </p:handoutMasterIdLst>
  <p:sldIdLst>
    <p:sldId id="1775" r:id="rId3"/>
    <p:sldId id="1777" r:id="rId4"/>
    <p:sldId id="1778" r:id="rId5"/>
    <p:sldId id="1776" r:id="rId6"/>
  </p:sldIdLst>
  <p:sldSz cx="9144000" cy="6858000" type="screen4x3"/>
  <p:notesSz cx="6904038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8F8F8"/>
    <a:srgbClr val="999999"/>
    <a:srgbClr val="FFFDAD"/>
    <a:srgbClr val="1317C8"/>
    <a:srgbClr val="092E5C"/>
    <a:srgbClr val="FF0000"/>
    <a:srgbClr val="006600"/>
    <a:srgbClr val="0000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06" autoAdjust="0"/>
    <p:restoredTop sz="95470" autoAdjust="0"/>
  </p:normalViewPr>
  <p:slideViewPr>
    <p:cSldViewPr>
      <p:cViewPr varScale="1">
        <p:scale>
          <a:sx n="98" d="100"/>
          <a:sy n="98" d="100"/>
        </p:scale>
        <p:origin x="104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6" d="100"/>
        <a:sy n="126" d="100"/>
      </p:scale>
      <p:origin x="0" y="-8352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77A3A7E-F5CD-46D3-A13A-1E89DDCE1BD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3841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CFA596D1-2086-497E-B86B-EDC648C59B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0609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7763" y="692150"/>
            <a:ext cx="4610100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A596D1-2086-497E-B86B-EDC648C59BE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262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 dirty="0" smtClean="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07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BD8CA8-DA42-484A-8C65-92CBA5C05D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60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5BCBD8-8BAC-44FF-BE88-B3175AA249A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997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7514E-C3C4-42A2-B5AA-F3D4B7D68D8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58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47A2C-5780-4146-81E5-0EB263958C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494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78970-3676-47DA-89CC-BC19C9DF27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039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00FB9-A2BE-4B3E-B073-9718403746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74CA9-66D6-4CFA-A5DB-CEC6E7E8B1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515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CA338-4672-4C59-A13E-A6A8CE13BF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291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FCC2AF-53E3-4102-9F9B-95E02476E4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84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A3254-DEF5-4971-86C6-25BD74B383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976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9" y="214316"/>
            <a:ext cx="76944" cy="215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 type="none" w="med" len="lg"/>
                <a:tailEnd/>
              </a14:hiddenLine>
            </a:ext>
          </a:extLst>
        </p:spPr>
        <p:txBody>
          <a:bodyPr wrap="none" lIns="0" tIns="45709" rIns="0" bIns="45709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800" dirty="0">
                <a:solidFill>
                  <a:srgbClr val="FFFFFF"/>
                </a:solidFill>
                <a:latin typeface="Helvetica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whitelogo_OGC2-01-0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93" b="14664"/>
          <a:stretch>
            <a:fillRect/>
          </a:stretch>
        </p:blipFill>
        <p:spPr bwMode="auto">
          <a:xfrm>
            <a:off x="7024688" y="69850"/>
            <a:ext cx="21193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2667000"/>
            <a:ext cx="7772400" cy="11430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1148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77000"/>
            <a:ext cx="3276600" cy="152400"/>
          </a:xfrm>
          <a:prstGeom prst="rect">
            <a:avLst/>
          </a:prstGeom>
        </p:spPr>
        <p:txBody>
          <a:bodyPr/>
          <a:lstStyle>
            <a:lvl1pPr eaLnBrk="0" hangingPunct="0">
              <a:defRPr b="0">
                <a:effectLst/>
                <a:latin typeface="Helvetica Neue Medium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160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3"/>
          </p:nvPr>
        </p:nvSpPr>
        <p:spPr>
          <a:xfrm>
            <a:off x="231775" y="6516827"/>
            <a:ext cx="8683625" cy="204649"/>
          </a:xfrm>
          <a:prstGeom prst="rect">
            <a:avLst/>
          </a:prstGeom>
        </p:spPr>
        <p:txBody>
          <a:bodyPr lIns="91416" tIns="45709" rIns="91416" bIns="45709"/>
          <a:lstStyle>
            <a:lvl1pPr algn="ctr" eaLnBrk="0" hangingPunct="0">
              <a:defRPr sz="800" b="0" i="0" baseline="0">
                <a:solidFill>
                  <a:srgbClr val="002C43"/>
                </a:solidFill>
                <a:effectLst/>
                <a:latin typeface="Helvetica Neue Medium"/>
                <a:ea typeface="+mn-ea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555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82" indent="0">
              <a:buNone/>
              <a:defRPr sz="1800"/>
            </a:lvl2pPr>
            <a:lvl3pPr marL="914165" indent="0">
              <a:buNone/>
              <a:defRPr sz="1600"/>
            </a:lvl3pPr>
            <a:lvl4pPr marL="1371250" indent="0">
              <a:buNone/>
              <a:defRPr sz="1400"/>
            </a:lvl4pPr>
            <a:lvl5pPr marL="1828332" indent="0">
              <a:buNone/>
              <a:defRPr sz="1400"/>
            </a:lvl5pPr>
            <a:lvl6pPr marL="2285415" indent="0">
              <a:buNone/>
              <a:defRPr sz="1400"/>
            </a:lvl6pPr>
            <a:lvl7pPr marL="2742500" indent="0">
              <a:buNone/>
              <a:defRPr sz="1400"/>
            </a:lvl7pPr>
            <a:lvl8pPr marL="3199580" indent="0">
              <a:buNone/>
              <a:defRPr sz="1400"/>
            </a:lvl8pPr>
            <a:lvl9pPr marL="3656665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062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 noChangeArrowheads="1"/>
          </p:cNvSpPr>
          <p:nvPr>
            <p:ph type="ftr" sz="quarter" idx="3"/>
          </p:nvPr>
        </p:nvSpPr>
        <p:spPr>
          <a:xfrm>
            <a:off x="231775" y="6551462"/>
            <a:ext cx="8683625" cy="204649"/>
          </a:xfrm>
          <a:prstGeom prst="rect">
            <a:avLst/>
          </a:prstGeom>
        </p:spPr>
        <p:txBody>
          <a:bodyPr lIns="91416" tIns="45709" rIns="91416" bIns="45709"/>
          <a:lstStyle>
            <a:lvl1pPr algn="ctr" eaLnBrk="0" hangingPunct="0">
              <a:defRPr sz="800" b="0" i="0" baseline="0">
                <a:solidFill>
                  <a:srgbClr val="002C43"/>
                </a:solidFill>
                <a:effectLst/>
                <a:latin typeface="Helvetica Neue Medium"/>
                <a:ea typeface="+mn-ea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69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Picture 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6324600"/>
            <a:ext cx="12827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 noChangeArrowheads="1"/>
          </p:cNvSpPr>
          <p:nvPr>
            <p:ph type="ftr" sz="quarter" idx="3"/>
          </p:nvPr>
        </p:nvSpPr>
        <p:spPr>
          <a:xfrm>
            <a:off x="231775" y="6516827"/>
            <a:ext cx="8683625" cy="204649"/>
          </a:xfrm>
          <a:prstGeom prst="rect">
            <a:avLst/>
          </a:prstGeom>
        </p:spPr>
        <p:txBody>
          <a:bodyPr lIns="91416" tIns="45709" rIns="91416" bIns="45709"/>
          <a:lstStyle>
            <a:lvl1pPr algn="ctr" eaLnBrk="0" hangingPunct="0">
              <a:defRPr sz="800" b="0" i="0" baseline="0">
                <a:solidFill>
                  <a:srgbClr val="002C43"/>
                </a:solidFill>
                <a:effectLst/>
                <a:latin typeface="Helvetica Neue Medium"/>
                <a:ea typeface="+mn-ea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9403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3357555" y="0"/>
            <a:ext cx="5357850" cy="285728"/>
          </a:xfrm>
        </p:spPr>
        <p:txBody>
          <a:bodyPr anchor="ctr"/>
          <a:lstStyle>
            <a:lvl1pPr algn="r">
              <a:buNone/>
              <a:defRPr sz="1400" b="0" baseline="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357188" y="6492875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fld id="{B4C852EF-6DE9-4BC4-AB86-A7A39B2E9E6B}" type="slidenum">
              <a:rPr lang="en-US" sz="1800" b="0">
                <a:solidFill>
                  <a:prstClr val="black"/>
                </a:solidFill>
                <a:latin typeface="Helvetica Neue Light"/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0" b="0" dirty="0">
              <a:solidFill>
                <a:prstClr val="black"/>
              </a:solidFill>
              <a:latin typeface="Helvetica Neue Ligh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3529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 smtClean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653A9A5-426D-4CBC-B501-7694E86E5C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dirty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sldNum="0" hd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6" y="776293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6" tIns="45709" rIns="91416" bIns="457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16" tIns="45709" rIns="91416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62853" name="Text Box 5"/>
          <p:cNvSpPr txBox="1">
            <a:spLocks noChangeArrowheads="1"/>
          </p:cNvSpPr>
          <p:nvPr/>
        </p:nvSpPr>
        <p:spPr bwMode="auto">
          <a:xfrm>
            <a:off x="-1539875" y="3059118"/>
            <a:ext cx="184663" cy="308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16" tIns="45709" rIns="91416" bIns="45709">
            <a:spAutoFit/>
          </a:bodyPr>
          <a:lstStyle/>
          <a:p>
            <a:pPr eaLnBrk="0" hangingPunct="0">
              <a:defRPr/>
            </a:pPr>
            <a:endParaRPr lang="en-US" sz="1400" dirty="0">
              <a:solidFill>
                <a:srgbClr val="002C43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Helvetica"/>
              <a:ea typeface="ＭＳ Ｐゴシック" charset="0"/>
              <a:cs typeface="ＭＳ Ｐゴシック" charset="0"/>
            </a:endParaRPr>
          </a:p>
        </p:txBody>
      </p:sp>
      <p:sp>
        <p:nvSpPr>
          <p:cNvPr id="70662" name="Text Box 16"/>
          <p:cNvSpPr txBox="1">
            <a:spLocks noChangeArrowheads="1"/>
          </p:cNvSpPr>
          <p:nvPr/>
        </p:nvSpPr>
        <p:spPr bwMode="auto">
          <a:xfrm>
            <a:off x="333379" y="6219829"/>
            <a:ext cx="1170721" cy="61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4000" dirty="0">
                <a:solidFill>
                  <a:srgbClr val="002C43"/>
                </a:solidFill>
                <a:latin typeface="Times New Roman" charset="0"/>
              </a:rPr>
              <a:t>OGC</a:t>
            </a:r>
          </a:p>
        </p:txBody>
      </p:sp>
      <p:sp>
        <p:nvSpPr>
          <p:cNvPr id="70663" name="Text Box 20"/>
          <p:cNvSpPr txBox="1">
            <a:spLocks noChangeArrowheads="1"/>
          </p:cNvSpPr>
          <p:nvPr/>
        </p:nvSpPr>
        <p:spPr bwMode="auto">
          <a:xfrm>
            <a:off x="1498601" y="6270628"/>
            <a:ext cx="94490" cy="24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 type="none" w="med" len="lg"/>
                <a:tailEnd/>
              </a14:hiddenLine>
            </a:ext>
          </a:extLst>
        </p:spPr>
        <p:txBody>
          <a:bodyPr wrap="none" lIns="0" tIns="45709" rIns="0" bIns="45709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solidFill>
                  <a:srgbClr val="002C43"/>
                </a:solidFill>
                <a:latin typeface="Helvetica"/>
              </a:rPr>
              <a:t>®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ftr" sz="quarter" idx="3"/>
          </p:nvPr>
        </p:nvSpPr>
        <p:spPr>
          <a:xfrm>
            <a:off x="231775" y="6551462"/>
            <a:ext cx="8683625" cy="204649"/>
          </a:xfrm>
          <a:prstGeom prst="rect">
            <a:avLst/>
          </a:prstGeom>
        </p:spPr>
        <p:txBody>
          <a:bodyPr lIns="91416" tIns="45709" rIns="91416" bIns="45709"/>
          <a:lstStyle>
            <a:lvl1pPr algn="ctr" eaLnBrk="0" hangingPunct="0">
              <a:defRPr sz="800" b="0" i="0" baseline="0">
                <a:solidFill>
                  <a:srgbClr val="002C43"/>
                </a:solidFill>
                <a:effectLst/>
                <a:latin typeface="Helvetica Neue Medium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36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</p:sldLayoutIdLst>
  <p:hf sldNum="0" hd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aseline="0">
          <a:solidFill>
            <a:srgbClr val="092E5C"/>
          </a:solidFill>
          <a:effectLst/>
          <a:latin typeface="Bree Serif"/>
          <a:ea typeface="ＭＳ Ｐゴシック" charset="0"/>
          <a:cs typeface="ＭＳ Ｐゴシック" charset="0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DDDDDD"/>
            </a:outerShdw>
          </a:effectLst>
          <a:latin typeface="Arial" pitchFamily="-65" charset="0"/>
          <a:ea typeface="ＭＳ Ｐゴシック" charset="0"/>
          <a:cs typeface="ＭＳ Ｐゴシック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DDDDDD"/>
            </a:outerShdw>
          </a:effectLst>
          <a:latin typeface="Arial" pitchFamily="-65" charset="0"/>
          <a:ea typeface="ＭＳ Ｐゴシック" charset="0"/>
          <a:cs typeface="ＭＳ Ｐゴシック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DDDDDD"/>
            </a:outerShdw>
          </a:effectLst>
          <a:latin typeface="Arial" pitchFamily="-65" charset="0"/>
          <a:ea typeface="ＭＳ Ｐゴシック" charset="0"/>
          <a:cs typeface="ＭＳ Ｐゴシック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DDDDDD"/>
            </a:outerShdw>
          </a:effectLst>
          <a:latin typeface="Arial" pitchFamily="-65" charset="0"/>
          <a:ea typeface="ＭＳ Ｐゴシック" charset="0"/>
          <a:cs typeface="ＭＳ Ｐゴシック" charset="0"/>
        </a:defRPr>
      </a:lvl5pPr>
      <a:lvl6pPr marL="457082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DDDDDD"/>
            </a:outerShdw>
          </a:effectLst>
          <a:latin typeface="Arial" pitchFamily="-65" charset="0"/>
        </a:defRPr>
      </a:lvl6pPr>
      <a:lvl7pPr marL="914165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DDDDDD"/>
            </a:outerShdw>
          </a:effectLst>
          <a:latin typeface="Arial" pitchFamily="-65" charset="0"/>
        </a:defRPr>
      </a:lvl7pPr>
      <a:lvl8pPr marL="137125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DDDDDD"/>
            </a:outerShdw>
          </a:effectLst>
          <a:latin typeface="Arial" pitchFamily="-65" charset="0"/>
        </a:defRPr>
      </a:lvl8pPr>
      <a:lvl9pPr marL="1828332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DDDDDD"/>
            </a:outerShdw>
          </a:effectLst>
          <a:latin typeface="Arial" pitchFamily="-65" charset="0"/>
        </a:defRPr>
      </a:lvl9pPr>
    </p:titleStyle>
    <p:bodyStyle>
      <a:lvl1pPr marL="233303" indent="-233303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Helvetica Neue Thin"/>
          <a:ea typeface="ＭＳ Ｐゴシック" charset="0"/>
          <a:cs typeface="ＭＳ Ｐゴシック" charset="0"/>
        </a:defRPr>
      </a:lvl1pPr>
      <a:lvl2pPr marL="569768" indent="-222193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Helvetica Neue Thin"/>
          <a:ea typeface="ＭＳ Ｐゴシック" pitchFamily="-65" charset="-128"/>
          <a:cs typeface="ＭＳ Ｐゴシック"/>
        </a:defRPr>
      </a:lvl2pPr>
      <a:lvl3pPr marL="912580" indent="-228541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defRPr>
          <a:solidFill>
            <a:schemeClr val="tx2"/>
          </a:solidFill>
          <a:latin typeface="+mn-lt"/>
          <a:ea typeface="ＭＳ Ｐゴシック" pitchFamily="-65" charset="-128"/>
          <a:cs typeface="ＭＳ Ｐゴシック"/>
        </a:defRPr>
      </a:lvl3pPr>
      <a:lvl4pPr marL="1255393" indent="-228541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defRPr sz="1600">
          <a:solidFill>
            <a:schemeClr val="tx2"/>
          </a:solidFill>
          <a:latin typeface="+mn-lt"/>
          <a:ea typeface="ＭＳ Ｐゴシック" pitchFamily="-65" charset="-128"/>
          <a:cs typeface="ＭＳ Ｐゴシック"/>
        </a:defRPr>
      </a:lvl4pPr>
      <a:lvl5pPr marL="1598204" indent="-228541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defRPr sz="1600">
          <a:solidFill>
            <a:schemeClr val="tx2"/>
          </a:solidFill>
          <a:latin typeface="+mn-lt"/>
          <a:ea typeface="ＭＳ Ｐゴシック" pitchFamily="-65" charset="-128"/>
          <a:cs typeface="ＭＳ Ｐゴシック"/>
        </a:defRPr>
      </a:lvl5pPr>
      <a:lvl6pPr marL="2055288" indent="-228541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ＭＳ Ｐゴシック" pitchFamily="-65" charset="-128"/>
        </a:defRPr>
      </a:lvl6pPr>
      <a:lvl7pPr marL="2512372" indent="-228541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ＭＳ Ｐゴシック" pitchFamily="-65" charset="-128"/>
        </a:defRPr>
      </a:lvl7pPr>
      <a:lvl8pPr marL="2969453" indent="-228541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ＭＳ Ｐゴシック" pitchFamily="-65" charset="-128"/>
        </a:defRPr>
      </a:lvl8pPr>
      <a:lvl9pPr marL="3426537" indent="-228541" algn="l" rtl="0" eaLnBrk="1" fontAlgn="base" hangingPunct="1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0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2" algn="l" defTabSz="4570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65" algn="l" defTabSz="4570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0" algn="l" defTabSz="4570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32" algn="l" defTabSz="4570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15" algn="l" defTabSz="4570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00" algn="l" defTabSz="4570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80" algn="l" defTabSz="4570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65" algn="l" defTabSz="4570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42E3D6-ECA0-4791-8EFF-2296B9560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590800"/>
            <a:ext cx="7772400" cy="2209800"/>
          </a:xfrm>
        </p:spPr>
        <p:txBody>
          <a:bodyPr/>
          <a:lstStyle/>
          <a:p>
            <a:r>
              <a:rPr lang="en-US" dirty="0"/>
              <a:t>Celebrating 10 Years of </a:t>
            </a:r>
            <a:br>
              <a:rPr lang="en-US" dirty="0"/>
            </a:br>
            <a:r>
              <a:rPr lang="en-US" dirty="0"/>
              <a:t>OGC and WMO Cooperation: </a:t>
            </a:r>
            <a:br>
              <a:rPr lang="en-US" dirty="0"/>
            </a:br>
            <a:r>
              <a:rPr lang="en-US" dirty="0"/>
              <a:t>OGC Perspective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C444D-8078-544B-80CE-74B36AA7C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7800" y="5257800"/>
            <a:ext cx="6400800" cy="1371600"/>
          </a:xfrm>
        </p:spPr>
        <p:txBody>
          <a:bodyPr/>
          <a:lstStyle/>
          <a:p>
            <a:r>
              <a:rPr lang="en-US" dirty="0"/>
              <a:t>George </a:t>
            </a:r>
            <a:r>
              <a:rPr lang="en-US" dirty="0" err="1"/>
              <a:t>Percivall</a:t>
            </a:r>
            <a:r>
              <a:rPr lang="en-US" dirty="0"/>
              <a:t> and Marie-Françoise </a:t>
            </a:r>
            <a:r>
              <a:rPr lang="en-US" dirty="0" err="1"/>
              <a:t>Voidrot</a:t>
            </a:r>
            <a:r>
              <a:rPr lang="en-US" dirty="0"/>
              <a:t>-Martinez</a:t>
            </a:r>
          </a:p>
          <a:p>
            <a:r>
              <a:rPr lang="en-US" dirty="0"/>
              <a:t>Hydrology Domain Working Group Workshop</a:t>
            </a:r>
            <a:br>
              <a:rPr lang="en-US" dirty="0"/>
            </a:br>
            <a:r>
              <a:rPr lang="en-US" dirty="0"/>
              <a:t>Geneva - 17-20 September 2018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19A4DB-0306-1A4D-BD6F-3FB9C53DF1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2018 Open Geospatial Consortium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933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9A5C-6D2F-F44B-A970-53FBE8727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Pre-WMO coordination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A7B0A-0B55-EC4A-81E9-F32725DF2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36638" indent="-1023938">
              <a:spcBef>
                <a:spcPts val="1176"/>
              </a:spcBef>
              <a:buNone/>
            </a:pPr>
            <a:r>
              <a:rPr lang="en-US" dirty="0"/>
              <a:t>2007 – </a:t>
            </a:r>
            <a:r>
              <a:rPr lang="en-US" dirty="0" err="1"/>
              <a:t>WaterML</a:t>
            </a:r>
            <a:r>
              <a:rPr lang="en-US" dirty="0"/>
              <a:t> approved as an OGC discussion paper, </a:t>
            </a:r>
            <a:br>
              <a:rPr lang="en-US" dirty="0"/>
            </a:br>
            <a:r>
              <a:rPr lang="en-US" dirty="0"/>
              <a:t>for OGC Technical Committee, Ottawa</a:t>
            </a:r>
          </a:p>
          <a:p>
            <a:pPr marL="1036638" indent="-1023938">
              <a:spcBef>
                <a:spcPts val="1176"/>
              </a:spcBef>
              <a:buNone/>
            </a:pPr>
            <a:r>
              <a:rPr lang="en-US" dirty="0"/>
              <a:t>2008 – OGC Hydrology Domain Working Group formed, approved at Atlanta TC, 2008-09</a:t>
            </a:r>
          </a:p>
          <a:p>
            <a:pPr marL="1036638" indent="-1023938">
              <a:spcBef>
                <a:spcPts val="1176"/>
              </a:spcBef>
              <a:buNone/>
            </a:pPr>
            <a:r>
              <a:rPr lang="en-US" dirty="0"/>
              <a:t>2008 – OGC attends WMO Commission for Hydrology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F85F2-FD0E-8842-9C1F-30B78CE65D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897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9A5C-6D2F-F44B-A970-53FBE8727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OGC – MOU 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A7B0A-0B55-EC4A-81E9-F32725DF2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36638" indent="-1023938">
              <a:spcBef>
                <a:spcPts val="1176"/>
              </a:spcBef>
              <a:buNone/>
            </a:pPr>
            <a:r>
              <a:rPr lang="en-US" dirty="0"/>
              <a:t>2008 – 1st Workshop on use of GIS/OGC standards in Meteorology</a:t>
            </a:r>
          </a:p>
          <a:p>
            <a:pPr marL="1036638" indent="-1023938">
              <a:spcBef>
                <a:spcPts val="1176"/>
              </a:spcBef>
              <a:buNone/>
            </a:pPr>
            <a:r>
              <a:rPr lang="en-US" dirty="0"/>
              <a:t>2009 – Formation of Joint OGC/WMO Hydrology </a:t>
            </a:r>
            <a:br>
              <a:rPr lang="en-US" dirty="0"/>
            </a:br>
            <a:r>
              <a:rPr lang="en-US" dirty="0"/>
              <a:t>Domain Working Group</a:t>
            </a:r>
          </a:p>
          <a:p>
            <a:pPr marL="1036638" indent="-1023938">
              <a:spcBef>
                <a:spcPts val="1176"/>
              </a:spcBef>
              <a:buNone/>
            </a:pPr>
            <a:r>
              <a:rPr lang="en-US" dirty="0"/>
              <a:t>2009 – Formation of Joint OGC/WMO Meteorology </a:t>
            </a:r>
            <a:br>
              <a:rPr lang="en-US" dirty="0"/>
            </a:br>
            <a:r>
              <a:rPr lang="en-US" dirty="0"/>
              <a:t>(now Met/Ocean) Domain Working Group</a:t>
            </a:r>
          </a:p>
          <a:p>
            <a:pPr marL="1036638" indent="-1023938">
              <a:spcBef>
                <a:spcPts val="1176"/>
              </a:spcBef>
              <a:buNone/>
            </a:pPr>
            <a:r>
              <a:rPr lang="en-US" dirty="0"/>
              <a:t>2009 – MOU between WMO and OGC signed</a:t>
            </a:r>
          </a:p>
          <a:p>
            <a:pPr marL="1438275" lvl="2" indent="-323850">
              <a:spcBef>
                <a:spcPts val="576"/>
              </a:spcBef>
            </a:pPr>
            <a:r>
              <a:rPr lang="en-US" sz="2400" dirty="0"/>
              <a:t>Initial focus: OGC standards, WIS, and TC 211  </a:t>
            </a:r>
          </a:p>
          <a:p>
            <a:pPr marL="1438275" lvl="2" indent="-323850">
              <a:spcBef>
                <a:spcPts val="576"/>
              </a:spcBef>
            </a:pPr>
            <a:r>
              <a:rPr lang="en-US" sz="2400" dirty="0"/>
              <a:t>For: Met, Ocean, Hydro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F85F2-FD0E-8842-9C1F-30B78CE65D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765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9A5C-6D2F-F44B-A970-53FBE8727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Maturing the standards through coordination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A7B0A-0B55-EC4A-81E9-F32725DF2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indent="-1257300">
              <a:spcBef>
                <a:spcPts val="776"/>
              </a:spcBef>
              <a:buNone/>
            </a:pPr>
            <a:r>
              <a:rPr lang="en-US" dirty="0"/>
              <a:t>2010+  – OGC Interoperability Experiments, Pilot and Testbeds using </a:t>
            </a:r>
            <a:r>
              <a:rPr lang="en-US" dirty="0" err="1"/>
              <a:t>WaterML</a:t>
            </a:r>
            <a:endParaRPr lang="en-US" dirty="0"/>
          </a:p>
          <a:p>
            <a:pPr marL="1270000" indent="-1257300">
              <a:spcBef>
                <a:spcPts val="776"/>
              </a:spcBef>
              <a:buNone/>
            </a:pPr>
            <a:r>
              <a:rPr lang="en-US" dirty="0"/>
              <a:t>2011 – Formation of OGC Standards Working Group (SWG) for WaterML2.0 development</a:t>
            </a:r>
          </a:p>
          <a:p>
            <a:pPr marL="1270000" indent="-1257300">
              <a:spcBef>
                <a:spcPts val="776"/>
              </a:spcBef>
              <a:buNone/>
            </a:pPr>
            <a:r>
              <a:rPr lang="en-US" dirty="0"/>
              <a:t>2012 – OGC adopts </a:t>
            </a:r>
            <a:r>
              <a:rPr lang="en-US" dirty="0" err="1"/>
              <a:t>WaterML</a:t>
            </a:r>
            <a:r>
              <a:rPr lang="en-US" dirty="0"/>
              <a:t> 2.0, Part 1 - Hydrologic Time Series Encoding Standard</a:t>
            </a:r>
          </a:p>
          <a:p>
            <a:pPr marL="1270000" indent="-1257300">
              <a:spcBef>
                <a:spcPts val="776"/>
              </a:spcBef>
              <a:buNone/>
            </a:pPr>
            <a:r>
              <a:rPr lang="en-US" dirty="0"/>
              <a:t>2012+  – Global operational implementations post adoption of WaterML2</a:t>
            </a:r>
          </a:p>
          <a:p>
            <a:pPr marL="1270000" indent="-1257300">
              <a:spcBef>
                <a:spcPts val="776"/>
              </a:spcBef>
              <a:buNone/>
            </a:pPr>
            <a:r>
              <a:rPr lang="en-US" dirty="0"/>
              <a:t>– WaterML2: Part 2 (2015), Part 3 (2017) and Part 4 (2016).</a:t>
            </a:r>
          </a:p>
          <a:p>
            <a:pPr marL="1270000" indent="-1257300">
              <a:spcBef>
                <a:spcPts val="776"/>
              </a:spcBef>
              <a:buNone/>
            </a:pPr>
            <a:r>
              <a:rPr lang="en-US" dirty="0"/>
              <a:t>2017 – Action by WMO Executive Council: </a:t>
            </a:r>
            <a:br>
              <a:rPr lang="en-US" dirty="0"/>
            </a:br>
            <a:r>
              <a:rPr lang="en-US" dirty="0"/>
              <a:t>		WaterML2 and </a:t>
            </a:r>
            <a:r>
              <a:rPr lang="en-US" dirty="0" err="1"/>
              <a:t>TimeSeriesML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F85F2-FD0E-8842-9C1F-30B78CE65D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2018 Open Geospatial Consortium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67726"/>
      </p:ext>
    </p:extLst>
  </p:cSld>
  <p:clrMapOvr>
    <a:masterClrMapping/>
  </p:clrMapOvr>
</p:sld>
</file>

<file path=ppt/theme/theme1.xml><?xml version="1.0" encoding="utf-8"?>
<a:theme xmlns:a="http://schemas.openxmlformats.org/drawingml/2006/main" name="20140528_OGC_PowerPoint_presentation_template_pptx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gc2014">
  <a:themeElements>
    <a:clrScheme name="Inspiration">
      <a:dk1>
        <a:sysClr val="windowText" lastClr="000000"/>
      </a:dk1>
      <a:lt1>
        <a:sysClr val="window" lastClr="FFFFFF"/>
      </a:lt1>
      <a:dk2>
        <a:srgbClr val="2F2F26"/>
      </a:dk2>
      <a:lt2>
        <a:srgbClr val="9FA795"/>
      </a:lt2>
      <a:accent1>
        <a:srgbClr val="749805"/>
      </a:accent1>
      <a:accent2>
        <a:srgbClr val="BACC82"/>
      </a:accent2>
      <a:accent3>
        <a:srgbClr val="6E9EC2"/>
      </a:accent3>
      <a:accent4>
        <a:srgbClr val="2046A5"/>
      </a:accent4>
      <a:accent5>
        <a:srgbClr val="5039C6"/>
      </a:accent5>
      <a:accent6>
        <a:srgbClr val="7411D0"/>
      </a:accent6>
      <a:hlink>
        <a:srgbClr val="FFC000"/>
      </a:hlink>
      <a:folHlink>
        <a:srgbClr val="C0C000"/>
      </a:folHlink>
    </a:clrScheme>
    <a:fontScheme name="OGC">
      <a:majorFont>
        <a:latin typeface="Bree Serif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Helvetica Neue Ligh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969696"/>
          </a:solidFill>
          <a:prstDash val="solid"/>
          <a:round/>
          <a:headEnd type="stealth" w="med" len="lg"/>
          <a:tailEnd type="none" w="med" len="med"/>
        </a:ln>
        <a:effectLst/>
      </a:spPr>
      <a:bodyPr vert="horz" wrap="none" lIns="0" tIns="45720" rIns="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G 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969696"/>
          </a:solidFill>
          <a:prstDash val="solid"/>
          <a:round/>
          <a:headEnd type="stealth" w="med" len="lg"/>
          <a:tailEnd type="none" w="med" len="med"/>
        </a:ln>
        <a:effectLst/>
      </a:spPr>
      <a:bodyPr vert="horz" wrap="none" lIns="0" tIns="45720" rIns="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G Times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20140528_OGC_PowerPoint_presentation_template_pptx.pptx</Template>
  <TotalTime>9165</TotalTime>
  <Words>54</Words>
  <Application>Microsoft Macintosh PowerPoint</Application>
  <PresentationFormat>On-screen Show (4:3)</PresentationFormat>
  <Paragraphs>26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8" baseType="lpstr">
      <vt:lpstr>ＭＳ Ｐゴシック</vt:lpstr>
      <vt:lpstr>ＭＳ Ｐゴシック</vt:lpstr>
      <vt:lpstr>Arial</vt:lpstr>
      <vt:lpstr>Arial Black</vt:lpstr>
      <vt:lpstr>Bree Serif</vt:lpstr>
      <vt:lpstr>CG Times</vt:lpstr>
      <vt:lpstr>Helvetica</vt:lpstr>
      <vt:lpstr>Helvetica Neue Light</vt:lpstr>
      <vt:lpstr>Helvetica Neue Medium</vt:lpstr>
      <vt:lpstr>Helvetica Neue Thin</vt:lpstr>
      <vt:lpstr>Times New Roman</vt:lpstr>
      <vt:lpstr>Verdana</vt:lpstr>
      <vt:lpstr>20140528_OGC_PowerPoint_presentation_template_pptx</vt:lpstr>
      <vt:lpstr>ogc2014</vt:lpstr>
      <vt:lpstr>Celebrating 10 Years of  OGC and WMO Cooperation:  OGC Perspective </vt:lpstr>
      <vt:lpstr>Pre-WMO coordination</vt:lpstr>
      <vt:lpstr>OGC – MOU Formation</vt:lpstr>
      <vt:lpstr>Maturing the standards through coordination</vt:lpstr>
    </vt:vector>
  </TitlesOfParts>
  <Company>OGC</Company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Carl Reed</dc:creator>
  <cp:lastModifiedBy>George Percivall</cp:lastModifiedBy>
  <cp:revision>294</cp:revision>
  <cp:lastPrinted>2014-07-24T20:15:58Z</cp:lastPrinted>
  <dcterms:created xsi:type="dcterms:W3CDTF">2009-10-20T16:54:31Z</dcterms:created>
  <dcterms:modified xsi:type="dcterms:W3CDTF">2018-09-14T09:45:37Z</dcterms:modified>
</cp:coreProperties>
</file>