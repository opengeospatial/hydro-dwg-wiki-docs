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5" r:id="rId2"/>
  </p:sldMasterIdLst>
  <p:notesMasterIdLst>
    <p:notesMasterId r:id="rId50"/>
  </p:notesMasterIdLst>
  <p:sldIdLst>
    <p:sldId id="337" r:id="rId3"/>
    <p:sldId id="369" r:id="rId4"/>
    <p:sldId id="257" r:id="rId5"/>
    <p:sldId id="386" r:id="rId6"/>
    <p:sldId id="414" r:id="rId7"/>
    <p:sldId id="388" r:id="rId8"/>
    <p:sldId id="393" r:id="rId9"/>
    <p:sldId id="413" r:id="rId10"/>
    <p:sldId id="383" r:id="rId11"/>
    <p:sldId id="376" r:id="rId12"/>
    <p:sldId id="389" r:id="rId13"/>
    <p:sldId id="390" r:id="rId14"/>
    <p:sldId id="396" r:id="rId15"/>
    <p:sldId id="417" r:id="rId16"/>
    <p:sldId id="420" r:id="rId17"/>
    <p:sldId id="392" r:id="rId18"/>
    <p:sldId id="419" r:id="rId19"/>
    <p:sldId id="421" r:id="rId20"/>
    <p:sldId id="433" r:id="rId21"/>
    <p:sldId id="398" r:id="rId22"/>
    <p:sldId id="399" r:id="rId23"/>
    <p:sldId id="400" r:id="rId24"/>
    <p:sldId id="431" r:id="rId25"/>
    <p:sldId id="408" r:id="rId26"/>
    <p:sldId id="381" r:id="rId27"/>
    <p:sldId id="321" r:id="rId28"/>
    <p:sldId id="385" r:id="rId29"/>
    <p:sldId id="409" r:id="rId30"/>
    <p:sldId id="422" r:id="rId31"/>
    <p:sldId id="410" r:id="rId32"/>
    <p:sldId id="430" r:id="rId33"/>
    <p:sldId id="411" r:id="rId34"/>
    <p:sldId id="412" r:id="rId35"/>
    <p:sldId id="391" r:id="rId36"/>
    <p:sldId id="425" r:id="rId37"/>
    <p:sldId id="426" r:id="rId38"/>
    <p:sldId id="427" r:id="rId39"/>
    <p:sldId id="401" r:id="rId40"/>
    <p:sldId id="402" r:id="rId41"/>
    <p:sldId id="403" r:id="rId42"/>
    <p:sldId id="404" r:id="rId43"/>
    <p:sldId id="405" r:id="rId44"/>
    <p:sldId id="428" r:id="rId45"/>
    <p:sldId id="432" r:id="rId46"/>
    <p:sldId id="406" r:id="rId47"/>
    <p:sldId id="424" r:id="rId48"/>
    <p:sldId id="407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1D2"/>
    <a:srgbClr val="DFF0FA"/>
    <a:srgbClr val="0014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1" autoAdjust="0"/>
    <p:restoredTop sz="94689" autoAdjust="0"/>
  </p:normalViewPr>
  <p:slideViewPr>
    <p:cSldViewPr snapToGrid="0">
      <p:cViewPr varScale="1">
        <p:scale>
          <a:sx n="70" d="100"/>
          <a:sy n="70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-3798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47B62-08E7-4C73-AA7F-26D70C6DCF77}" type="datetimeFigureOut">
              <a:rPr lang="en-US" smtClean="0"/>
              <a:t>8/12/2014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2C077-1FD5-458A-BF67-0F37CEF6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1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919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3CE4-073B-41E2-A1C5-EF4EA95D140B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919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376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06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05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92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33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0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45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84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6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92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DBF5F9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4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62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98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82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5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05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22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75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18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3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68621525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14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D5A29D3-4EF2-408E-9DB6-83AFE84245B6}" type="datetimeFigureOut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8/12/2014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07F707-2EF6-44A2-84D7-E2DEEF12A31B}" type="slidenum">
              <a:rPr lang="en-US" smtClean="0">
                <a:solidFill>
                  <a:srgbClr val="04617B">
                    <a:shade val="90000"/>
                  </a:srgbClr>
                </a:solidFill>
              </a:rPr>
              <a:pPr/>
              <a:t>‹#›</a:t>
            </a:fld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lang="en-US" sz="18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106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6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71099" y="1681216"/>
            <a:ext cx="8135283" cy="673665"/>
          </a:xfrm>
        </p:spPr>
        <p:txBody>
          <a:bodyPr>
            <a:normAutofit fontScale="90000"/>
          </a:bodyPr>
          <a:lstStyle/>
          <a:p>
            <a:r>
              <a:rPr lang="en-US" sz="4000" dirty="0" err="1" smtClean="0">
                <a:solidFill>
                  <a:schemeClr val="accent1"/>
                </a:solidFill>
              </a:rPr>
              <a:t>RiverML</a:t>
            </a:r>
            <a:r>
              <a:rPr lang="en-US" sz="4000" dirty="0" smtClean="0">
                <a:solidFill>
                  <a:schemeClr val="accent1"/>
                </a:solidFill>
              </a:rPr>
              <a:t>:</a:t>
            </a:r>
            <a:br>
              <a:rPr lang="en-US" sz="4000" dirty="0" smtClean="0">
                <a:solidFill>
                  <a:schemeClr val="accent1"/>
                </a:solidFill>
              </a:rPr>
            </a:br>
            <a:r>
              <a:rPr lang="en-US" sz="4000" dirty="0" smtClean="0">
                <a:solidFill>
                  <a:schemeClr val="accent1"/>
                </a:solidFill>
              </a:rPr>
              <a:t>A Harmonized Transfer Language</a:t>
            </a:r>
            <a:br>
              <a:rPr lang="en-US" sz="4000" dirty="0" smtClean="0">
                <a:solidFill>
                  <a:schemeClr val="accent1"/>
                </a:solidFill>
              </a:rPr>
            </a:br>
            <a:r>
              <a:rPr lang="en-US" sz="4000" dirty="0" smtClean="0">
                <a:solidFill>
                  <a:schemeClr val="accent1"/>
                </a:solidFill>
              </a:rPr>
              <a:t>for River Hydraulic Models</a:t>
            </a:r>
            <a:endParaRPr lang="en-US" sz="4000" dirty="0">
              <a:solidFill>
                <a:schemeClr val="accent1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648199"/>
            <a:ext cx="933635" cy="977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 descr="C:\Users\dtarb\Dave\Projects\CUAHSI\HydroShare\Logo\Hydroshare_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9" y="6063097"/>
            <a:ext cx="2940422" cy="59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5749606" y="5688479"/>
            <a:ext cx="3172871" cy="977835"/>
            <a:chOff x="6175648" y="5857940"/>
            <a:chExt cx="2939777" cy="977835"/>
          </a:xfrm>
        </p:grpSpPr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175648" y="5857940"/>
              <a:ext cx="2939777" cy="977835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pic>
          <p:nvPicPr>
            <p:cNvPr id="11" name="Picture 11" descr="nsf4c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284092" y="5934140"/>
              <a:ext cx="809383" cy="786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7067648" y="6068601"/>
              <a:ext cx="2002683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defTabSz="4389438"/>
              <a:r>
                <a:rPr lang="en-US" sz="1400" dirty="0">
                  <a:solidFill>
                    <a:prstClr val="black"/>
                  </a:solidFill>
                </a:rPr>
                <a:t>OCI-1148453 (2012-2017)</a:t>
              </a:r>
            </a:p>
            <a:p>
              <a:pPr defTabSz="4389438"/>
              <a:r>
                <a:rPr lang="en-US" sz="1400" dirty="0">
                  <a:solidFill>
                    <a:prstClr val="black"/>
                  </a:solidFill>
                </a:rPr>
                <a:t>OCI-1148090 (2012-2017)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845902" y="4211151"/>
            <a:ext cx="40842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prstClr val="black"/>
                </a:solidFill>
              </a:rPr>
              <a:t>Stephen R. Jackson</a:t>
            </a:r>
          </a:p>
          <a:p>
            <a:pPr algn="r"/>
            <a:r>
              <a:rPr lang="en-US" dirty="0">
                <a:solidFill>
                  <a:prstClr val="black"/>
                </a:solidFill>
              </a:rPr>
              <a:t>David R. </a:t>
            </a:r>
            <a:r>
              <a:rPr lang="en-US" dirty="0" err="1">
                <a:solidFill>
                  <a:prstClr val="black"/>
                </a:solidFill>
              </a:rPr>
              <a:t>Maidment</a:t>
            </a:r>
            <a:endParaRPr lang="en-US" dirty="0">
              <a:solidFill>
                <a:prstClr val="black"/>
              </a:solidFill>
            </a:endParaRPr>
          </a:p>
          <a:p>
            <a:pPr algn="r"/>
            <a:r>
              <a:rPr lang="en-US" dirty="0">
                <a:solidFill>
                  <a:prstClr val="black"/>
                </a:solidFill>
              </a:rPr>
              <a:t>David K. </a:t>
            </a:r>
            <a:r>
              <a:rPr lang="en-US" dirty="0" err="1">
                <a:solidFill>
                  <a:prstClr val="black"/>
                </a:solidFill>
              </a:rPr>
              <a:t>Arctur</a:t>
            </a:r>
            <a:endParaRPr lang="en-US" dirty="0">
              <a:solidFill>
                <a:prstClr val="black"/>
              </a:solidFill>
            </a:endParaRPr>
          </a:p>
          <a:p>
            <a:pPr algn="r"/>
            <a:r>
              <a:rPr lang="en-US" dirty="0">
                <a:solidFill>
                  <a:prstClr val="black"/>
                </a:solidFill>
              </a:rPr>
              <a:t>Center for Research in Water Resources</a:t>
            </a:r>
          </a:p>
          <a:p>
            <a:pPr algn="r"/>
            <a:r>
              <a:rPr lang="en-US" dirty="0" smtClean="0">
                <a:solidFill>
                  <a:prstClr val="black"/>
                </a:solidFill>
              </a:rPr>
              <a:t>The University </a:t>
            </a:r>
            <a:r>
              <a:rPr lang="en-US" dirty="0">
                <a:solidFill>
                  <a:prstClr val="black"/>
                </a:solidFill>
              </a:rPr>
              <a:t>of Texas at Austin</a:t>
            </a:r>
          </a:p>
        </p:txBody>
      </p:sp>
      <p:sp>
        <p:nvSpPr>
          <p:cNvPr id="2" name="Rectangle 1"/>
          <p:cNvSpPr/>
          <p:nvPr/>
        </p:nvSpPr>
        <p:spPr>
          <a:xfrm>
            <a:off x="486127" y="2790343"/>
            <a:ext cx="81477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latin typeface="+mj-lt"/>
              </a:rPr>
              <a:t>Presented to OGC/WMO Hydrology DWG Workshop 2014, New York City</a:t>
            </a:r>
          </a:p>
          <a:p>
            <a:r>
              <a:rPr lang="en-US" sz="1600" dirty="0" smtClean="0">
                <a:latin typeface="+mj-lt"/>
              </a:rPr>
              <a:t>August 15, 2014</a:t>
            </a:r>
          </a:p>
        </p:txBody>
      </p:sp>
    </p:spTree>
    <p:extLst>
      <p:ext uri="{BB962C8B-B14F-4D97-AF65-F5344CB8AC3E}">
        <p14:creationId xmlns:p14="http://schemas.microsoft.com/office/powerpoint/2010/main" val="372866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\\austin.utexas.edu\disk\engr\research\crwr\Projects\LiDAR_Experiments\RiverML Documentation\OGC Quebec\Quebec_Workshop\P1070931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4"/>
          <a:stretch/>
        </p:blipFill>
        <p:spPr bwMode="auto">
          <a:xfrm>
            <a:off x="5573027" y="1828796"/>
            <a:ext cx="3455469" cy="263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209" y="1436915"/>
            <a:ext cx="8410074" cy="48622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RiverML</a:t>
            </a:r>
            <a:r>
              <a:rPr lang="en-US" dirty="0" smtClean="0"/>
              <a:t> is a collaborative effort that has already benefited greatly from the input of many people, including: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/>
              <a:t>David </a:t>
            </a:r>
            <a:r>
              <a:rPr lang="en-US" sz="2300" dirty="0" err="1"/>
              <a:t>Maidment</a:t>
            </a:r>
            <a:r>
              <a:rPr lang="en-US" sz="2300" dirty="0"/>
              <a:t> (UT Austin, USA)</a:t>
            </a:r>
          </a:p>
          <a:p>
            <a:r>
              <a:rPr lang="en-US" sz="2300" dirty="0"/>
              <a:t>David </a:t>
            </a:r>
            <a:r>
              <a:rPr lang="en-US" sz="2300" dirty="0" err="1"/>
              <a:t>Arctur</a:t>
            </a:r>
            <a:r>
              <a:rPr lang="en-US" sz="2300" dirty="0"/>
              <a:t> (UT Austin, USA)</a:t>
            </a:r>
          </a:p>
          <a:p>
            <a:r>
              <a:rPr lang="en-US" sz="2300" dirty="0"/>
              <a:t>David </a:t>
            </a:r>
            <a:r>
              <a:rPr lang="en-US" sz="2300" dirty="0" err="1"/>
              <a:t>Tarboton</a:t>
            </a:r>
            <a:r>
              <a:rPr lang="en-US" sz="2300" dirty="0"/>
              <a:t> (Utah State University, USA)</a:t>
            </a:r>
          </a:p>
          <a:p>
            <a:r>
              <a:rPr lang="en-US" sz="2300" dirty="0"/>
              <a:t>Ulrich Looser (Federal Institute of Hydrology, Germany)</a:t>
            </a:r>
          </a:p>
          <a:p>
            <a:r>
              <a:rPr lang="en-US" sz="2300" dirty="0"/>
              <a:t>Irina </a:t>
            </a:r>
            <a:r>
              <a:rPr lang="en-US" sz="2300" dirty="0" err="1"/>
              <a:t>Dornblut</a:t>
            </a:r>
            <a:r>
              <a:rPr lang="en-US" sz="2300" dirty="0"/>
              <a:t> (Federal Institute of Hydrology, Germany)</a:t>
            </a:r>
          </a:p>
          <a:p>
            <a:r>
              <a:rPr lang="en-US" sz="2300" dirty="0"/>
              <a:t>David Valentine (UC San Diego, USA)</a:t>
            </a:r>
          </a:p>
          <a:p>
            <a:r>
              <a:rPr lang="en-US" sz="2300" dirty="0"/>
              <a:t>Alva Couch (Tufts University, USA)</a:t>
            </a:r>
          </a:p>
          <a:p>
            <a:r>
              <a:rPr lang="en-US" sz="2300" dirty="0"/>
              <a:t>Peter Taylor (CSIRO, Australia)</a:t>
            </a:r>
          </a:p>
          <a:p>
            <a:r>
              <a:rPr lang="en-US" sz="2300" dirty="0"/>
              <a:t>Rob Atkinson (CSIRO, Australia)</a:t>
            </a:r>
          </a:p>
          <a:p>
            <a:r>
              <a:rPr lang="en-US" sz="2300" dirty="0"/>
              <a:t>Simon Cox (CSIRO, Australia)</a:t>
            </a:r>
          </a:p>
          <a:p>
            <a:r>
              <a:rPr lang="en-US" sz="2300" dirty="0"/>
              <a:t>Dean </a:t>
            </a:r>
            <a:r>
              <a:rPr lang="en-US" sz="2300" dirty="0" err="1"/>
              <a:t>Djokic</a:t>
            </a:r>
            <a:r>
              <a:rPr lang="en-US" sz="2300" dirty="0"/>
              <a:t> (ESRI, USA)</a:t>
            </a:r>
          </a:p>
          <a:p>
            <a:r>
              <a:rPr lang="en-US" sz="2300" dirty="0" err="1"/>
              <a:t>Venkatesh</a:t>
            </a:r>
            <a:r>
              <a:rPr lang="en-US" sz="2300" dirty="0"/>
              <a:t> </a:t>
            </a:r>
            <a:r>
              <a:rPr lang="en-US" sz="2300" dirty="0" err="1"/>
              <a:t>Merwade</a:t>
            </a:r>
            <a:r>
              <a:rPr lang="en-US" sz="2300" dirty="0"/>
              <a:t> (Purdue University, USA)</a:t>
            </a:r>
          </a:p>
          <a:p>
            <a:r>
              <a:rPr lang="en-US" sz="2300" dirty="0"/>
              <a:t>OGC Hydro DWG Working Group</a:t>
            </a:r>
          </a:p>
          <a:p>
            <a:r>
              <a:rPr lang="en-US" sz="2300" dirty="0" err="1"/>
              <a:t>HydroShare</a:t>
            </a:r>
            <a:r>
              <a:rPr lang="en-US" sz="2300" dirty="0"/>
              <a:t> Development Team</a:t>
            </a:r>
          </a:p>
          <a:p>
            <a:endParaRPr lang="en-US" sz="2300" dirty="0"/>
          </a:p>
          <a:p>
            <a:pPr defTabSz="4389438">
              <a:buFont typeface="Wingdings" panose="05000000000000000000" pitchFamily="2" charset="2"/>
              <a:buChar char="Ø"/>
            </a:pPr>
            <a:r>
              <a:rPr lang="en-US" sz="2300" dirty="0"/>
              <a:t>Funding for this research has been provided by the National Science Foundation </a:t>
            </a:r>
            <a:br>
              <a:rPr lang="en-US" sz="2300" dirty="0"/>
            </a:br>
            <a:r>
              <a:rPr lang="en-US" sz="2100" dirty="0"/>
              <a:t>[</a:t>
            </a:r>
            <a:r>
              <a:rPr lang="en-US" sz="2200" dirty="0"/>
              <a:t>OCI-1148453 (2012-2017) OCI-1148090 (2012-2017)]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300" dirty="0"/>
          </a:p>
          <a:p>
            <a:endParaRPr lang="en-US" dirty="0" smtClean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0671" y="810768"/>
            <a:ext cx="7763703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Acknowledgements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26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389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From the NSF project proposal: “As </a:t>
            </a:r>
            <a:r>
              <a:rPr lang="en-US" dirty="0"/>
              <a:t>an exemplar for advancing data access, we will establish a </a:t>
            </a:r>
            <a:r>
              <a:rPr lang="en-US" dirty="0">
                <a:solidFill>
                  <a:srgbClr val="FF0000"/>
                </a:solidFill>
              </a:rPr>
              <a:t>national repository </a:t>
            </a:r>
            <a:r>
              <a:rPr lang="en-US" dirty="0"/>
              <a:t>within </a:t>
            </a:r>
            <a:r>
              <a:rPr lang="en-US" dirty="0" err="1" smtClean="0"/>
              <a:t>HydroShare</a:t>
            </a:r>
            <a:r>
              <a:rPr lang="en-US" dirty="0"/>
              <a:t> </a:t>
            </a:r>
            <a:r>
              <a:rPr lang="en-US" dirty="0" smtClean="0"/>
              <a:t>for </a:t>
            </a:r>
            <a:r>
              <a:rPr lang="en-US" dirty="0">
                <a:solidFill>
                  <a:srgbClr val="FF0000"/>
                </a:solidFill>
              </a:rPr>
              <a:t>river channel cross section data: </a:t>
            </a:r>
            <a:r>
              <a:rPr lang="en-US" dirty="0"/>
              <a:t>a new data type not presently supported by CUAHSI </a:t>
            </a:r>
            <a:r>
              <a:rPr lang="en-US" dirty="0" smtClean="0"/>
              <a:t>HIS. Since </a:t>
            </a:r>
            <a:r>
              <a:rPr lang="en-US" dirty="0"/>
              <a:t>2003, the United States has spent more than $2 billion on digital flood map </a:t>
            </a:r>
            <a:r>
              <a:rPr lang="en-US" dirty="0" smtClean="0"/>
              <a:t>modernization.  A </a:t>
            </a:r>
            <a:r>
              <a:rPr lang="en-US" dirty="0"/>
              <a:t>great deal of river channel cross-section, morphology and hydraulic modeling data has been </a:t>
            </a:r>
            <a:r>
              <a:rPr lang="en-US" dirty="0" smtClean="0"/>
              <a:t>developed to </a:t>
            </a:r>
            <a:r>
              <a:rPr lang="en-US" dirty="0"/>
              <a:t>support this mapping and some of that could be repurposed to advance water science. This </a:t>
            </a:r>
            <a:r>
              <a:rPr lang="en-US" dirty="0" smtClean="0"/>
              <a:t>repository will </a:t>
            </a:r>
            <a:r>
              <a:rPr lang="en-US" dirty="0"/>
              <a:t>include </a:t>
            </a:r>
            <a:r>
              <a:rPr lang="en-US" dirty="0">
                <a:solidFill>
                  <a:srgbClr val="FF0000"/>
                </a:solidFill>
              </a:rPr>
              <a:t>a mechanism for voluntary submission of information </a:t>
            </a:r>
            <a:r>
              <a:rPr lang="en-US" dirty="0"/>
              <a:t>and it will provide </a:t>
            </a:r>
            <a:r>
              <a:rPr lang="en-US" dirty="0">
                <a:solidFill>
                  <a:srgbClr val="FF0000"/>
                </a:solidFill>
              </a:rPr>
              <a:t>access to this data </a:t>
            </a:r>
            <a:r>
              <a:rPr lang="en-US" dirty="0" smtClean="0">
                <a:solidFill>
                  <a:srgbClr val="FF0000"/>
                </a:solidFill>
              </a:rPr>
              <a:t>in a </a:t>
            </a:r>
            <a:r>
              <a:rPr lang="en-US" dirty="0">
                <a:solidFill>
                  <a:srgbClr val="FF0000"/>
                </a:solidFill>
              </a:rPr>
              <a:t>standard way </a:t>
            </a:r>
            <a:r>
              <a:rPr lang="en-US" dirty="0"/>
              <a:t>such that it is easy to run </a:t>
            </a:r>
            <a:r>
              <a:rPr lang="en-US" dirty="0">
                <a:solidFill>
                  <a:srgbClr val="FF0000"/>
                </a:solidFill>
              </a:rPr>
              <a:t>hydraulic models</a:t>
            </a:r>
            <a:r>
              <a:rPr lang="en-US" dirty="0"/>
              <a:t> that use this data on either local or </a:t>
            </a:r>
            <a:r>
              <a:rPr lang="en-US" dirty="0" smtClean="0"/>
              <a:t>HPC environments.”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60671" y="810768"/>
            <a:ext cx="7763703" cy="484632"/>
          </a:xfrm>
        </p:spPr>
        <p:txBody>
          <a:bodyPr>
            <a:noAutofit/>
          </a:bodyPr>
          <a:lstStyle/>
          <a:p>
            <a:r>
              <a:rPr lang="en-US" sz="4400" dirty="0" err="1" smtClean="0"/>
              <a:t>HydroShare</a:t>
            </a:r>
            <a:r>
              <a:rPr lang="en-US" sz="4400" dirty="0" smtClean="0"/>
              <a:t> Channel Data</a:t>
            </a:r>
            <a:endParaRPr lang="en-US" sz="44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00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67" y="1235667"/>
            <a:ext cx="7997588" cy="51456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327546" y="810768"/>
            <a:ext cx="8757188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Interoperability in Hydraulic Modeling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30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93" y="1307698"/>
            <a:ext cx="5082084" cy="3189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669" y="3356559"/>
            <a:ext cx="4827539" cy="308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Building on </a:t>
            </a:r>
            <a:r>
              <a:rPr lang="en-US" sz="4400" dirty="0" err="1" smtClean="0"/>
              <a:t>WaterML</a:t>
            </a:r>
            <a:r>
              <a:rPr lang="en-US" sz="4400" dirty="0" smtClean="0"/>
              <a:t> 2.0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20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60" y="1751576"/>
            <a:ext cx="4068947" cy="41347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114" y="1751576"/>
            <a:ext cx="4123748" cy="41347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56221" y="6083864"/>
            <a:ext cx="2264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</a:t>
            </a:r>
            <a:r>
              <a:rPr lang="en-US" dirty="0" err="1" smtClean="0"/>
              <a:t>Scharffenberg</a:t>
            </a:r>
            <a:r>
              <a:rPr lang="en-US" dirty="0"/>
              <a:t>, 2013)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Hydrologic Data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8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457" y="1281391"/>
            <a:ext cx="6449994" cy="52965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Hydraulic Data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10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7072" y="1668438"/>
            <a:ext cx="8747593" cy="4389120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Advantages of building from </a:t>
            </a:r>
            <a:r>
              <a:rPr lang="en-US" dirty="0" err="1" smtClean="0"/>
              <a:t>WaterML</a:t>
            </a:r>
            <a:r>
              <a:rPr lang="en-US" dirty="0" smtClean="0"/>
              <a:t> 2.0: </a:t>
            </a:r>
          </a:p>
          <a:p>
            <a:pPr lvl="1"/>
            <a:r>
              <a:rPr lang="en-US" dirty="0" smtClean="0"/>
              <a:t>Proven development process through Hydrology DWG</a:t>
            </a:r>
          </a:p>
          <a:p>
            <a:pPr lvl="1"/>
            <a:r>
              <a:rPr lang="en-US" dirty="0" smtClean="0"/>
              <a:t>Proven framework (O&amp;M Observations + GML)</a:t>
            </a:r>
          </a:p>
          <a:p>
            <a:pPr lvl="1"/>
            <a:r>
              <a:rPr lang="en-US" dirty="0" smtClean="0"/>
              <a:t>Ready mechanism for time series (discharge, WSEL, etc.)</a:t>
            </a:r>
          </a:p>
          <a:p>
            <a:pPr lvl="1"/>
            <a:endParaRPr lang="en-US" dirty="0"/>
          </a:p>
          <a:p>
            <a:r>
              <a:rPr lang="en-US" dirty="0" smtClean="0"/>
              <a:t>New challenges:</a:t>
            </a:r>
          </a:p>
          <a:p>
            <a:pPr lvl="1"/>
            <a:r>
              <a:rPr lang="en-US" dirty="0" smtClean="0"/>
              <a:t>Geometry rather than point locations</a:t>
            </a:r>
          </a:p>
          <a:p>
            <a:pPr lvl="1"/>
            <a:r>
              <a:rPr lang="en-US" dirty="0" smtClean="0"/>
              <a:t>Need to support Scenario-based workflows (snapshots in time)</a:t>
            </a:r>
          </a:p>
          <a:p>
            <a:pPr lvl="1"/>
            <a:r>
              <a:rPr lang="en-US" dirty="0" smtClean="0"/>
              <a:t>Need a clear mechanism for relating features to one another (i.e. Upstream/Downstream relationships)</a:t>
            </a:r>
          </a:p>
          <a:p>
            <a:pPr lvl="1"/>
            <a:r>
              <a:rPr lang="en-US" dirty="0" smtClean="0"/>
              <a:t>Content of observations is much more complex than a time/value pair. </a:t>
            </a:r>
          </a:p>
          <a:p>
            <a:pPr lvl="2"/>
            <a:r>
              <a:rPr lang="en-US" dirty="0" smtClean="0"/>
              <a:t>2D vs. 3D representations</a:t>
            </a:r>
          </a:p>
          <a:p>
            <a:pPr lvl="2"/>
            <a:r>
              <a:rPr lang="en-US" dirty="0" smtClean="0"/>
              <a:t>Attributes which vary along geometry (Manning’s N coefficient)</a:t>
            </a:r>
          </a:p>
          <a:p>
            <a:pPr lvl="1"/>
            <a:endParaRPr lang="en-US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: First Look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13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44277"/>
              </p:ext>
            </p:extLst>
          </p:nvPr>
        </p:nvGraphicFramePr>
        <p:xfrm>
          <a:off x="1237427" y="1502005"/>
          <a:ext cx="6559964" cy="5008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9432"/>
                <a:gridCol w="1775902"/>
                <a:gridCol w="1884630"/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Organization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Category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Arc Hydro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GIS in Water Resources Consortium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Data Model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Arc River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Dankook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University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Data Model</a:t>
                      </a: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Geofabric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Australian Bureau of Meteorology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Data Model</a:t>
                      </a: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GML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Open Geospatial Consortium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Exchange Format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HEC-</a:t>
                      </a:r>
                      <a:r>
                        <a:rPr lang="en-US" sz="1100" u="none" strike="noStrike" dirty="0" err="1">
                          <a:effectLst/>
                          <a:latin typeface="+mn-lt"/>
                        </a:rPr>
                        <a:t>GeoRAS</a:t>
                      </a:r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 / SDF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USACE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Exchange </a:t>
                      </a:r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Format</a:t>
                      </a: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HEC-HMS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USACE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Software</a:t>
                      </a: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HEC-RAS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USACE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Software</a:t>
                      </a: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HillTop  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Hilltop Software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Data Model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HY_Features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 Geospatial Consortium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 Model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  <a:latin typeface="+mn-lt"/>
                        </a:rPr>
                        <a:t>LandXML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Exchange Format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ICPR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Streamline Technologies, Inc.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Software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MIKE 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DHI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Software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MIKE Flood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DHI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Software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  <a:latin typeface="+mn-lt"/>
                        </a:rPr>
                        <a:t>NHDPlus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US EPA, USGS, Horizon Systems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Data Model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  <a:latin typeface="+mn-lt"/>
                        </a:rPr>
                        <a:t>OpenMI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OpenMI Association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Exchange/Interface Format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  <a:latin typeface="+mn-lt"/>
                        </a:rPr>
                        <a:t>Shapefile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ESRI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Exchange Format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Simulation Program for River Networks (</a:t>
                      </a:r>
                      <a:r>
                        <a:rPr lang="en-US" sz="1100" u="none" strike="noStrike" dirty="0" smtClean="0">
                          <a:effectLst/>
                          <a:latin typeface="+mn-lt"/>
                        </a:rPr>
                        <a:t>SPRNT</a:t>
                      </a:r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) Netlist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  <a:latin typeface="+mn-lt"/>
                        </a:rPr>
                        <a:t>University of Texas &amp; IBM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Exchange Format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WaterML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2.0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 Geospatial Consortium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Exchange Format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River Modeling: Relevant Initiatives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28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762" y="2724162"/>
            <a:ext cx="4637700" cy="2489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1" y="1772437"/>
            <a:ext cx="3997726" cy="415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60671" y="810768"/>
            <a:ext cx="8439396" cy="484632"/>
          </a:xfrm>
        </p:spPr>
        <p:txBody>
          <a:bodyPr>
            <a:noAutofit/>
          </a:bodyPr>
          <a:lstStyle/>
          <a:p>
            <a:r>
              <a:rPr lang="en-US" sz="4400" dirty="0" smtClean="0"/>
              <a:t>HEC-RAS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556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42" y="1386326"/>
            <a:ext cx="5486400" cy="453199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545" y="2516105"/>
            <a:ext cx="5486400" cy="37585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5546234" y="6274670"/>
            <a:ext cx="1511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(DHI</a:t>
            </a:r>
            <a:r>
              <a:rPr lang="en-US" dirty="0"/>
              <a:t>, 2012 d)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0671" y="810768"/>
            <a:ext cx="8439396" cy="484632"/>
          </a:xfrm>
        </p:spPr>
        <p:txBody>
          <a:bodyPr>
            <a:noAutofit/>
          </a:bodyPr>
          <a:lstStyle/>
          <a:p>
            <a:r>
              <a:rPr lang="en-US" sz="4400" dirty="0" smtClean="0"/>
              <a:t>MIKE 11 / MIKE FLOOD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16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15" y="1555845"/>
            <a:ext cx="8600209" cy="44573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4946" y="6178603"/>
            <a:ext cx="3519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(Streamline Technologies, 2014 b)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60671" y="810768"/>
            <a:ext cx="8439396" cy="484632"/>
          </a:xfrm>
        </p:spPr>
        <p:txBody>
          <a:bodyPr>
            <a:noAutofit/>
          </a:bodyPr>
          <a:lstStyle/>
          <a:p>
            <a:r>
              <a:rPr lang="en-US" sz="4400" dirty="0" smtClean="0"/>
              <a:t>ICPR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77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64" y="1361628"/>
            <a:ext cx="6818734" cy="473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30735" y="6194761"/>
            <a:ext cx="1900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(Kim et al., 2014)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60671" y="810768"/>
            <a:ext cx="8439396" cy="484632"/>
          </a:xfrm>
        </p:spPr>
        <p:txBody>
          <a:bodyPr>
            <a:noAutofit/>
          </a:bodyPr>
          <a:lstStyle/>
          <a:p>
            <a:r>
              <a:rPr lang="en-US" sz="4400" dirty="0" smtClean="0"/>
              <a:t>Arc Hydro / Arc River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56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7072" y="1327246"/>
            <a:ext cx="8747593" cy="525097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Fairly close agreement among key features such as cross sections and linear attributes</a:t>
            </a:r>
          </a:p>
          <a:p>
            <a:pPr lvl="1"/>
            <a:r>
              <a:rPr lang="en-US" dirty="0" smtClean="0"/>
              <a:t>Differences are mostly matter of conventions</a:t>
            </a:r>
          </a:p>
          <a:p>
            <a:pPr lvl="1"/>
            <a:r>
              <a:rPr lang="en-US" dirty="0" smtClean="0"/>
              <a:t>GML shapes plus clearly defined properties should allow high degree of interoperability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Challenges:</a:t>
            </a:r>
          </a:p>
          <a:p>
            <a:pPr lvl="1"/>
            <a:r>
              <a:rPr lang="en-US" dirty="0" smtClean="0"/>
              <a:t>How complex to make the model (balancing simplicity with completeness)</a:t>
            </a:r>
          </a:p>
          <a:p>
            <a:pPr lvl="2"/>
            <a:r>
              <a:rPr lang="en-US" dirty="0" smtClean="0"/>
              <a:t>How many alternate representations to support (2D geometry, 3D geometry, tabular, processed). </a:t>
            </a:r>
          </a:p>
          <a:p>
            <a:pPr lvl="2"/>
            <a:r>
              <a:rPr lang="en-US" dirty="0"/>
              <a:t>Which features should have their own Observations? (Surfaces, structures, linear attributes)</a:t>
            </a:r>
            <a:endParaRPr lang="en-US" dirty="0" smtClean="0"/>
          </a:p>
          <a:p>
            <a:pPr lvl="1"/>
            <a:r>
              <a:rPr lang="en-US" dirty="0" smtClean="0"/>
              <a:t>Features which vary across time or scenario</a:t>
            </a:r>
          </a:p>
          <a:p>
            <a:pPr lvl="1"/>
            <a:r>
              <a:rPr lang="en-US" dirty="0" smtClean="0"/>
              <a:t>Relating a wireframe model of cross sections and profile lines to a complete DEM which could be used for coupled 1D-2D models.</a:t>
            </a:r>
          </a:p>
          <a:p>
            <a:pPr lvl="1"/>
            <a:r>
              <a:rPr lang="en-US" dirty="0" smtClean="0"/>
              <a:t>Relating </a:t>
            </a:r>
            <a:r>
              <a:rPr lang="en-US" dirty="0"/>
              <a:t>features to one another in a way that supports hydraulic modeling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2" name="Rectangle 1"/>
          <p:cNvSpPr/>
          <p:nvPr/>
        </p:nvSpPr>
        <p:spPr>
          <a:xfrm>
            <a:off x="436728" y="5807125"/>
            <a:ext cx="8074223" cy="580030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60671" y="810768"/>
            <a:ext cx="8439396" cy="484632"/>
          </a:xfrm>
        </p:spPr>
        <p:txBody>
          <a:bodyPr>
            <a:noAutofit/>
          </a:bodyPr>
          <a:lstStyle/>
          <a:p>
            <a:r>
              <a:rPr lang="en-US" sz="4400" dirty="0" smtClean="0"/>
              <a:t>Harmonization Findings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5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76" y="1357587"/>
            <a:ext cx="6414448" cy="4910319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2D and 3D Representations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39440" y="6062846"/>
            <a:ext cx="34079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 smtClean="0"/>
              <a:t>Georeferenced</a:t>
            </a:r>
            <a:r>
              <a:rPr lang="en-US" dirty="0" smtClean="0"/>
              <a:t> Cross Sections</a:t>
            </a:r>
          </a:p>
          <a:p>
            <a:pPr algn="ctr"/>
            <a:r>
              <a:rPr lang="en-US" dirty="0" smtClean="0"/>
              <a:t>With and without elevation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1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35" b="5648"/>
          <a:stretch/>
        </p:blipFill>
        <p:spPr bwMode="auto">
          <a:xfrm>
            <a:off x="775344" y="1295395"/>
            <a:ext cx="2560320" cy="4723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36478" y="810768"/>
            <a:ext cx="8948256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Tabular and Processed Representations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8610" y="6054402"/>
            <a:ext cx="39808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Tabular Cross Sections</a:t>
            </a:r>
          </a:p>
          <a:p>
            <a:pPr algn="ctr"/>
            <a:r>
              <a:rPr lang="en-US" dirty="0" smtClean="0"/>
              <a:t>(non-</a:t>
            </a:r>
            <a:r>
              <a:rPr lang="en-US" dirty="0" err="1" smtClean="0"/>
              <a:t>georeferenced</a:t>
            </a:r>
            <a:r>
              <a:rPr lang="en-US" dirty="0" smtClean="0"/>
              <a:t> station/elevation)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02528" y="6052460"/>
            <a:ext cx="44414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Processed Cross Sections</a:t>
            </a:r>
          </a:p>
          <a:p>
            <a:pPr algn="ctr"/>
            <a:r>
              <a:rPr lang="en-US" dirty="0" smtClean="0"/>
              <a:t>(non-</a:t>
            </a:r>
            <a:r>
              <a:rPr lang="en-US" dirty="0" err="1" smtClean="0"/>
              <a:t>georeferenced</a:t>
            </a:r>
            <a:r>
              <a:rPr lang="en-US" dirty="0"/>
              <a:t> </a:t>
            </a:r>
            <a:r>
              <a:rPr lang="en-US" dirty="0" smtClean="0"/>
              <a:t>area/hydraulic radius)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51" r="443" b="5648"/>
          <a:stretch/>
        </p:blipFill>
        <p:spPr bwMode="auto">
          <a:xfrm>
            <a:off x="5188822" y="1315554"/>
            <a:ext cx="2560320" cy="47232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43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865" y="1208726"/>
            <a:ext cx="3859098" cy="21076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06" y="3773185"/>
            <a:ext cx="2032541" cy="22362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8273" y="6417302"/>
            <a:ext cx="2264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Scharffenberg</a:t>
            </a:r>
            <a:r>
              <a:rPr lang="en-US" dirty="0"/>
              <a:t>, 2013)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770" y="6062039"/>
            <a:ext cx="3513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Topological (Schematic) Network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563674" y="6009433"/>
            <a:ext cx="21458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Geometric Network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757868" y="3177529"/>
            <a:ext cx="974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Relative</a:t>
            </a:r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Reference Systems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16" y="1171022"/>
            <a:ext cx="2249720" cy="2006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040" y="3712762"/>
            <a:ext cx="3988365" cy="232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747418" y="3404695"/>
            <a:ext cx="143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Topographic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0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-Right Arrow 3"/>
          <p:cNvSpPr/>
          <p:nvPr/>
        </p:nvSpPr>
        <p:spPr>
          <a:xfrm>
            <a:off x="1464862" y="2224375"/>
            <a:ext cx="6356945" cy="69603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200" y="2387727"/>
            <a:ext cx="14334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Schematic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7745608" y="2372338"/>
            <a:ext cx="1463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Geometric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2915722" y="1713901"/>
            <a:ext cx="1149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HEC-RAS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74061" y="1639670"/>
            <a:ext cx="10086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MIKE </a:t>
            </a:r>
            <a:r>
              <a:rPr lang="en-US" sz="2400" dirty="0" smtClean="0"/>
              <a:t>11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263665" y="3109942"/>
            <a:ext cx="891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SPRNT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933439" y="1696566"/>
            <a:ext cx="689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ICPR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452291" y="1713901"/>
            <a:ext cx="1136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NHDPlus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252614" y="3109942"/>
            <a:ext cx="1152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Geofabric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022018" y="1713901"/>
            <a:ext cx="1208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Arc Hydro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915722" y="3109248"/>
            <a:ext cx="1458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HY_Features</a:t>
            </a:r>
            <a:endParaRPr lang="en-US" dirty="0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Reference System Spectrum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875" y="3644873"/>
            <a:ext cx="3608037" cy="321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264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27072" y="1682087"/>
            <a:ext cx="8747593" cy="2753436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RiverML</a:t>
            </a:r>
            <a:r>
              <a:rPr lang="en-US" dirty="0" smtClean="0"/>
              <a:t> </a:t>
            </a:r>
            <a:r>
              <a:rPr lang="en-US" dirty="0" smtClean="0"/>
              <a:t>0.2:</a:t>
            </a:r>
          </a:p>
          <a:p>
            <a:pPr lvl="1"/>
            <a:r>
              <a:rPr lang="en-US" dirty="0"/>
              <a:t>Demonstrates a feasible approach to addressing the identified challenges.</a:t>
            </a:r>
            <a:endParaRPr lang="en-US" dirty="0" smtClean="0"/>
          </a:p>
          <a:p>
            <a:pPr lvl="1"/>
            <a:r>
              <a:rPr lang="en-US" dirty="0" smtClean="0"/>
              <a:t>Rough around the edges</a:t>
            </a:r>
          </a:p>
          <a:p>
            <a:pPr lvl="1"/>
            <a:r>
              <a:rPr lang="en-US" dirty="0" smtClean="0"/>
              <a:t>May require significant overhaul to align with OGC best practices and </a:t>
            </a:r>
            <a:r>
              <a:rPr lang="en-US" dirty="0" err="1" smtClean="0"/>
              <a:t>HY_Features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 0.2 Prototype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84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61" y="1295400"/>
            <a:ext cx="6537277" cy="5428059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 0.2 Overview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32761" y="1295399"/>
            <a:ext cx="2402009" cy="11611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34770" y="1295398"/>
            <a:ext cx="2402009" cy="11611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685729" y="2210937"/>
            <a:ext cx="2402009" cy="668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933662" y="2989428"/>
            <a:ext cx="2402009" cy="580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40653" y="3570027"/>
            <a:ext cx="2665866" cy="9746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2761" y="3964106"/>
            <a:ext cx="1733270" cy="785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5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15" y="1503373"/>
            <a:ext cx="7746074" cy="412586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 0.2 Scenario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48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8" y="1132765"/>
            <a:ext cx="8223912" cy="50019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 0.2 Schematic Reference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37731" y="1433015"/>
            <a:ext cx="1746914" cy="9553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07475" y="1514901"/>
            <a:ext cx="2349689" cy="107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055660" y="2895600"/>
            <a:ext cx="2167719" cy="107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37514" y="4901821"/>
            <a:ext cx="2349689" cy="107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43015" y="4901821"/>
            <a:ext cx="2349689" cy="107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60672" y="2895600"/>
            <a:ext cx="3494988" cy="107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5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33" y="1314166"/>
            <a:ext cx="6837528" cy="5446281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 0.2 </a:t>
            </a:r>
            <a:r>
              <a:rPr lang="en-US" sz="4400" dirty="0" err="1" smtClean="0"/>
              <a:t>RiverFeatureObservation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82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7465326" cy="514278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 0.2 </a:t>
            </a:r>
            <a:r>
              <a:rPr lang="en-US" sz="4400" dirty="0" err="1" smtClean="0"/>
              <a:t>CrossSectionObservation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9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462012" y="1734855"/>
            <a:ext cx="612227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dirty="0" err="1" smtClean="0">
                <a:solidFill>
                  <a:srgbClr val="009DD9"/>
                </a:solidFill>
                <a:latin typeface="Calibri"/>
              </a:rPr>
              <a:t>RiverML</a:t>
            </a:r>
            <a:r>
              <a:rPr lang="en-US" dirty="0" smtClean="0">
                <a:solidFill>
                  <a:srgbClr val="009DD9"/>
                </a:solidFill>
                <a:latin typeface="Calibri"/>
              </a:rPr>
              <a:t> 0.1 Prototype</a:t>
            </a:r>
            <a:endParaRPr lang="en-US" dirty="0">
              <a:solidFill>
                <a:srgbClr val="009DD9"/>
              </a:solidFill>
              <a:latin typeface="Calibri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Focus on 1D Inundation Mapping Use Case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Demonstrate plausible information </a:t>
            </a:r>
            <a:r>
              <a:rPr lang="en-US" dirty="0" smtClean="0">
                <a:solidFill>
                  <a:srgbClr val="009DD9"/>
                </a:solidFill>
                <a:latin typeface="Calibri"/>
              </a:rPr>
              <a:t>structure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9DD9"/>
                </a:solidFill>
                <a:latin typeface="Calibri"/>
              </a:rPr>
              <a:t>Harmonization </a:t>
            </a:r>
            <a:r>
              <a:rPr lang="en-US" b="1" dirty="0" smtClean="0">
                <a:solidFill>
                  <a:srgbClr val="009DD9"/>
                </a:solidFill>
                <a:latin typeface="Calibri"/>
              </a:rPr>
              <a:t>Paper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 smtClean="0">
                <a:solidFill>
                  <a:srgbClr val="009DD9"/>
                </a:solidFill>
                <a:latin typeface="Calibri"/>
              </a:rPr>
              <a:t>RiverML</a:t>
            </a:r>
            <a:r>
              <a:rPr lang="en-US" b="1" dirty="0" smtClean="0">
                <a:solidFill>
                  <a:srgbClr val="009DD9"/>
                </a:solidFill>
                <a:latin typeface="Calibri"/>
              </a:rPr>
              <a:t> 0.2 Prototype</a:t>
            </a:r>
            <a:endParaRPr lang="en-US" b="1" dirty="0">
              <a:solidFill>
                <a:srgbClr val="009DD9"/>
              </a:solidFill>
              <a:latin typeface="Calibri"/>
            </a:endParaRPr>
          </a:p>
          <a:p>
            <a:pPr lvl="1"/>
            <a:endParaRPr lang="en-US" b="1" dirty="0" smtClean="0">
              <a:solidFill>
                <a:srgbClr val="009DD9"/>
              </a:solidFill>
              <a:latin typeface="Calibri"/>
            </a:endParaRPr>
          </a:p>
          <a:p>
            <a:pPr marL="800100" lvl="1" indent="-342900">
              <a:buFont typeface="+mj-lt"/>
              <a:buAutoNum type="alphaUcPeriod"/>
            </a:pPr>
            <a:endParaRPr lang="en-US" b="1" dirty="0">
              <a:solidFill>
                <a:srgbClr val="009DD9"/>
              </a:solidFill>
              <a:latin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dirty="0" smtClean="0">
                <a:solidFill>
                  <a:srgbClr val="009DD9"/>
                </a:solidFill>
                <a:latin typeface="Calibri"/>
              </a:rPr>
              <a:t>OGC Review/Revise Prototype to create </a:t>
            </a:r>
            <a:r>
              <a:rPr lang="en-US" dirty="0" err="1" smtClean="0">
                <a:solidFill>
                  <a:srgbClr val="009DD9"/>
                </a:solidFill>
                <a:latin typeface="Calibri"/>
              </a:rPr>
              <a:t>RiverML</a:t>
            </a:r>
            <a:r>
              <a:rPr lang="en-US" dirty="0" smtClean="0">
                <a:solidFill>
                  <a:srgbClr val="009DD9"/>
                </a:solidFill>
                <a:latin typeface="Calibri"/>
              </a:rPr>
              <a:t> 0.3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smtClean="0">
                <a:solidFill>
                  <a:srgbClr val="009DD9"/>
                </a:solidFill>
                <a:latin typeface="Calibri"/>
              </a:rPr>
              <a:t>OGC </a:t>
            </a:r>
            <a:r>
              <a:rPr lang="en-US" dirty="0">
                <a:solidFill>
                  <a:srgbClr val="009DD9"/>
                </a:solidFill>
                <a:latin typeface="Calibri"/>
              </a:rPr>
              <a:t>Interoperability Experiment (</a:t>
            </a:r>
            <a:r>
              <a:rPr lang="en-US" dirty="0" err="1">
                <a:solidFill>
                  <a:srgbClr val="009DD9"/>
                </a:solidFill>
                <a:latin typeface="Calibri"/>
              </a:rPr>
              <a:t>RiverML</a:t>
            </a:r>
            <a:r>
              <a:rPr lang="en-US" dirty="0">
                <a:solidFill>
                  <a:srgbClr val="009DD9"/>
                </a:solidFill>
                <a:latin typeface="Calibri"/>
              </a:rPr>
              <a:t> </a:t>
            </a:r>
            <a:r>
              <a:rPr lang="en-US" dirty="0" smtClean="0">
                <a:solidFill>
                  <a:srgbClr val="009DD9"/>
                </a:solidFill>
                <a:latin typeface="Calibri"/>
              </a:rPr>
              <a:t>0.3)</a:t>
            </a:r>
            <a:endParaRPr lang="en-US" dirty="0">
              <a:solidFill>
                <a:srgbClr val="009DD9"/>
              </a:solidFill>
              <a:latin typeface="Calibri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Organize a larger scale test of </a:t>
            </a:r>
            <a:r>
              <a:rPr lang="en-US" dirty="0" err="1">
                <a:solidFill>
                  <a:srgbClr val="009DD9"/>
                </a:solidFill>
                <a:latin typeface="Calibri"/>
              </a:rPr>
              <a:t>RiverML</a:t>
            </a:r>
            <a:r>
              <a:rPr lang="en-US" dirty="0">
                <a:solidFill>
                  <a:srgbClr val="009DD9"/>
                </a:solidFill>
                <a:latin typeface="Calibri"/>
              </a:rPr>
              <a:t> with multiple agency/industry </a:t>
            </a:r>
            <a:r>
              <a:rPr lang="en-US" dirty="0" smtClean="0">
                <a:solidFill>
                  <a:srgbClr val="009DD9"/>
                </a:solidFill>
                <a:latin typeface="Calibri"/>
              </a:rPr>
              <a:t>participants</a:t>
            </a:r>
          </a:p>
          <a:p>
            <a:pPr marL="800100" lvl="1" indent="-342900">
              <a:buFont typeface="+mj-lt"/>
              <a:buAutoNum type="alphaUcPeriod"/>
            </a:pPr>
            <a:endParaRPr lang="en-US" dirty="0">
              <a:solidFill>
                <a:srgbClr val="009DD9"/>
              </a:solidFill>
              <a:latin typeface="Calibri"/>
            </a:endParaRPr>
          </a:p>
          <a:p>
            <a:pPr marL="800100" lvl="1" indent="-342900">
              <a:buFont typeface="+mj-lt"/>
              <a:buAutoNum type="alphaUcPeriod"/>
            </a:pPr>
            <a:endParaRPr lang="en-US" dirty="0">
              <a:solidFill>
                <a:srgbClr val="009DD9"/>
              </a:solidFill>
              <a:latin typeface="Calibri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OGC Standards Working Group (</a:t>
            </a:r>
            <a:r>
              <a:rPr lang="en-US" dirty="0" err="1">
                <a:solidFill>
                  <a:srgbClr val="009DD9"/>
                </a:solidFill>
                <a:latin typeface="Calibri"/>
              </a:rPr>
              <a:t>RiverML</a:t>
            </a:r>
            <a:r>
              <a:rPr lang="en-US" dirty="0">
                <a:solidFill>
                  <a:srgbClr val="009DD9"/>
                </a:solidFill>
                <a:latin typeface="Calibri"/>
              </a:rPr>
              <a:t> </a:t>
            </a:r>
            <a:r>
              <a:rPr lang="en-US" dirty="0" smtClean="0">
                <a:solidFill>
                  <a:srgbClr val="009DD9"/>
                </a:solidFill>
                <a:latin typeface="Calibri"/>
              </a:rPr>
              <a:t>1.0</a:t>
            </a:r>
            <a:r>
              <a:rPr lang="en-US" dirty="0">
                <a:solidFill>
                  <a:srgbClr val="009DD9"/>
                </a:solidFill>
                <a:latin typeface="Calibri"/>
              </a:rPr>
              <a:t>)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Modify based on results of Interoperability Experiment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Expand to additional Use Cases</a:t>
            </a:r>
          </a:p>
          <a:p>
            <a:pPr marL="800100" lvl="1" indent="-342900">
              <a:buFont typeface="+mj-lt"/>
              <a:buAutoNum type="alphaUcPeriod"/>
            </a:pPr>
            <a:r>
              <a:rPr lang="en-US" dirty="0">
                <a:solidFill>
                  <a:srgbClr val="009DD9"/>
                </a:solidFill>
                <a:latin typeface="Calibri"/>
              </a:rPr>
              <a:t>Create rigorous design ready for OGC adoption</a:t>
            </a:r>
          </a:p>
          <a:p>
            <a:pPr marL="685800" lvl="1" indent="-228600">
              <a:buFont typeface="+mj-lt"/>
              <a:buAutoNum type="alphaUcPeriod"/>
            </a:pPr>
            <a:endParaRPr lang="en-US" dirty="0">
              <a:solidFill>
                <a:srgbClr val="009DD9"/>
              </a:solidFill>
              <a:latin typeface="Calibri"/>
            </a:endParaRPr>
          </a:p>
        </p:txBody>
      </p:sp>
      <p:sp>
        <p:nvSpPr>
          <p:cNvPr id="2" name="Right Brace 1"/>
          <p:cNvSpPr/>
          <p:nvPr/>
        </p:nvSpPr>
        <p:spPr>
          <a:xfrm>
            <a:off x="6658657" y="1905000"/>
            <a:ext cx="441542" cy="12194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157150" y="2300807"/>
            <a:ext cx="1227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2013 - 2014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6658657" y="3617572"/>
            <a:ext cx="441542" cy="114549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128251" y="3977859"/>
            <a:ext cx="1229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2014 - 2015</a:t>
            </a:r>
            <a:endParaRPr lang="en-US" dirty="0"/>
          </a:p>
        </p:txBody>
      </p:sp>
      <p:sp>
        <p:nvSpPr>
          <p:cNvPr id="8" name="Right Brace 7"/>
          <p:cNvSpPr/>
          <p:nvPr/>
        </p:nvSpPr>
        <p:spPr>
          <a:xfrm>
            <a:off x="6658657" y="5405967"/>
            <a:ext cx="498493" cy="11599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231523" y="5801267"/>
            <a:ext cx="1232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2015 - 2016</a:t>
            </a:r>
            <a:endParaRPr lang="en-US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60671" y="810768"/>
            <a:ext cx="8390824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RiverML</a:t>
            </a:r>
            <a:r>
              <a:rPr lang="en-US" sz="4400" dirty="0" smtClean="0"/>
              <a:t>: Roadmap for Development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218" name="Picture 2" descr="C:\Users\sj23456\AppData\Local\Microsoft\Windows\Temporary Internet Files\Content.IE5\STPDD5ES\MC900432530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93" y="1807501"/>
            <a:ext cx="284019" cy="19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sj23456\AppData\Local\Microsoft\Windows\Temporary Internet Files\Content.IE5\STPDD5ES\MC900432530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01" y="2601899"/>
            <a:ext cx="284019" cy="19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sj23456\AppData\Local\Microsoft\Windows\Temporary Internet Files\Content.IE5\STPDD5ES\MC900432530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37" y="2929467"/>
            <a:ext cx="284019" cy="19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89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189885" y="1667105"/>
            <a:ext cx="6764230" cy="2873828"/>
          </a:xfrm>
        </p:spPr>
        <p:txBody>
          <a:bodyPr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dirty="0" smtClean="0">
                <a:latin typeface="+mj-lt"/>
              </a:rPr>
              <a:t>Stephen Jackson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 smtClean="0">
                <a:latin typeface="+mj-lt"/>
              </a:rPr>
              <a:t>Graduate Research Assistant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 smtClean="0">
                <a:latin typeface="+mj-lt"/>
              </a:rPr>
              <a:t>Center for Research in Water Resources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 smtClean="0">
                <a:latin typeface="+mj-lt"/>
              </a:rPr>
              <a:t>The University of Texas at Austin</a:t>
            </a:r>
          </a:p>
          <a:p>
            <a:pPr marL="0" indent="0" algn="ctr">
              <a:buNone/>
            </a:pPr>
            <a:endParaRPr lang="en-US" dirty="0">
              <a:latin typeface="+mj-lt"/>
            </a:endParaRPr>
          </a:p>
          <a:p>
            <a:pPr marL="0" indent="0" algn="ctr">
              <a:buNone/>
            </a:pPr>
            <a:r>
              <a:rPr lang="en-US" dirty="0" smtClean="0">
                <a:latin typeface="+mj-lt"/>
              </a:rPr>
              <a:t>srj9@utexas.edu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188293" y="810768"/>
            <a:ext cx="2767415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Questions?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1138" y="5688512"/>
            <a:ext cx="809468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XML Schema Location</a:t>
            </a:r>
            <a:r>
              <a:rPr lang="en-US" sz="2000" dirty="0"/>
              <a:t>: </a:t>
            </a:r>
            <a:r>
              <a:rPr lang="en-US" sz="2000" u="sng" dirty="0">
                <a:solidFill>
                  <a:srgbClr val="2191D2"/>
                </a:solidFill>
              </a:rPr>
              <a:t>http://</a:t>
            </a:r>
            <a:r>
              <a:rPr lang="en-US" sz="2000" u="sng" dirty="0" smtClean="0">
                <a:solidFill>
                  <a:srgbClr val="2191D2"/>
                </a:solidFill>
              </a:rPr>
              <a:t>tools.crwr.utexas.edu/RiverML/index.html </a:t>
            </a:r>
            <a:endParaRPr lang="en-US" sz="2000" u="sng" dirty="0">
              <a:solidFill>
                <a:srgbClr val="2191D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1138" y="4664030"/>
            <a:ext cx="809468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Harmonization Report Location:</a:t>
            </a:r>
          </a:p>
          <a:p>
            <a:pPr algn="ctr"/>
            <a:r>
              <a:rPr lang="en-US" sz="2000" dirty="0" smtClean="0"/>
              <a:t> </a:t>
            </a:r>
            <a:r>
              <a:rPr lang="en-US" sz="2000" u="sng" dirty="0">
                <a:solidFill>
                  <a:srgbClr val="2191D2"/>
                </a:solidFill>
              </a:rPr>
              <a:t>http://www.crwr.utexas.edu/reports/2014/rpt14-5.shtml</a:t>
            </a:r>
          </a:p>
        </p:txBody>
      </p:sp>
    </p:spTree>
    <p:extLst>
      <p:ext uri="{BB962C8B-B14F-4D97-AF65-F5344CB8AC3E}">
        <p14:creationId xmlns:p14="http://schemas.microsoft.com/office/powerpoint/2010/main" val="253723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359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384" y="1475483"/>
            <a:ext cx="5443282" cy="492474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Sample Project: Rebecca Creek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81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8"/>
          <a:stretch/>
        </p:blipFill>
        <p:spPr bwMode="auto">
          <a:xfrm>
            <a:off x="232010" y="1545610"/>
            <a:ext cx="8775512" cy="43877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Sample Project: Rebecca Creek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41427" y="5933366"/>
            <a:ext cx="21458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Geometric Network</a:t>
            </a:r>
          </a:p>
          <a:p>
            <a:pPr algn="ctr"/>
            <a:r>
              <a:rPr lang="en-US" dirty="0" smtClean="0"/>
              <a:t>(</a:t>
            </a:r>
            <a:r>
              <a:rPr lang="en-US" dirty="0" err="1" smtClean="0"/>
              <a:t>NHDPlus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545187" y="5913106"/>
            <a:ext cx="2126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Schematic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0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56"/>
          <a:stretch/>
        </p:blipFill>
        <p:spPr bwMode="auto">
          <a:xfrm>
            <a:off x="560672" y="2182504"/>
            <a:ext cx="8412872" cy="35086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Sample Project: Rebecca Creek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16136" y="5816043"/>
            <a:ext cx="1813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Hydrologic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6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0"/>
          <a:stretch/>
        </p:blipFill>
        <p:spPr bwMode="auto">
          <a:xfrm>
            <a:off x="383251" y="1723294"/>
            <a:ext cx="8150158" cy="366757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Sample Project: Rebecca Creek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38716" y="5390865"/>
            <a:ext cx="1687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Hydraulic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2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43" y="1012746"/>
            <a:ext cx="6356145" cy="517780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Sample Project: Rebecca Creek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99410" y="6190552"/>
            <a:ext cx="3412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Existing and Proposed Scenarios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5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51665" b="7780"/>
          <a:stretch/>
        </p:blipFill>
        <p:spPr bwMode="auto">
          <a:xfrm>
            <a:off x="5568287" y="3317349"/>
            <a:ext cx="3575713" cy="3329112"/>
          </a:xfrm>
          <a:prstGeom prst="rect">
            <a:avLst/>
          </a:prstGeom>
          <a:noFill/>
          <a:ln>
            <a:noFill/>
          </a:ln>
          <a:effectLst>
            <a:reflection endPos="0" dist="50800" dir="5400000" sy="-100000" algn="bl" rotWithShape="0"/>
          </a:effectLst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227072" y="1272655"/>
            <a:ext cx="8747593" cy="438912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Simplistic example still has many key qualities:</a:t>
            </a:r>
          </a:p>
          <a:p>
            <a:pPr lvl="1"/>
            <a:r>
              <a:rPr lang="en-US" dirty="0"/>
              <a:t>Schematic &amp; Geometric network</a:t>
            </a:r>
          </a:p>
          <a:p>
            <a:pPr lvl="2"/>
            <a:r>
              <a:rPr lang="en-US" dirty="0"/>
              <a:t>Schematic for hydrology</a:t>
            </a:r>
          </a:p>
          <a:p>
            <a:pPr lvl="2"/>
            <a:r>
              <a:rPr lang="en-US" dirty="0"/>
              <a:t>Geometric for </a:t>
            </a:r>
            <a:r>
              <a:rPr lang="en-US" dirty="0" smtClean="0"/>
              <a:t>hydraulics</a:t>
            </a:r>
          </a:p>
          <a:p>
            <a:pPr lvl="1"/>
            <a:r>
              <a:rPr lang="en-US" dirty="0"/>
              <a:t>Junction of two </a:t>
            </a:r>
            <a:r>
              <a:rPr lang="en-US" dirty="0" smtClean="0"/>
              <a:t>streams</a:t>
            </a:r>
          </a:p>
          <a:p>
            <a:pPr lvl="1"/>
            <a:r>
              <a:rPr lang="en-US" dirty="0" smtClean="0"/>
              <a:t>Authoritative geometric network (</a:t>
            </a:r>
            <a:r>
              <a:rPr lang="en-US" dirty="0" err="1" smtClean="0"/>
              <a:t>NHDPlus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Two-dimensional cross sections (auto generated)</a:t>
            </a:r>
          </a:p>
          <a:p>
            <a:pPr lvl="1"/>
            <a:r>
              <a:rPr lang="en-US" dirty="0" smtClean="0"/>
              <a:t>Three-dimensional cross sections (extracted from terrain)</a:t>
            </a:r>
          </a:p>
          <a:p>
            <a:pPr lvl="1"/>
            <a:r>
              <a:rPr lang="en-US" dirty="0" smtClean="0"/>
              <a:t>Two types of profile lines:</a:t>
            </a:r>
          </a:p>
          <a:p>
            <a:pPr lvl="2"/>
            <a:r>
              <a:rPr lang="en-US" dirty="0" smtClean="0"/>
              <a:t>Center lines (derived from </a:t>
            </a:r>
            <a:r>
              <a:rPr lang="en-US" dirty="0" err="1" smtClean="0"/>
              <a:t>NHDPlus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Bank lines (manually drawn)</a:t>
            </a:r>
          </a:p>
          <a:p>
            <a:pPr lvl="1"/>
            <a:r>
              <a:rPr lang="en-US" dirty="0" smtClean="0"/>
              <a:t>Linear attributes (Manning’s N Coefficient)</a:t>
            </a:r>
          </a:p>
          <a:p>
            <a:pPr lvl="1"/>
            <a:r>
              <a:rPr lang="en-US" dirty="0" smtClean="0"/>
              <a:t>Scenarios (Existing and Proposed)</a:t>
            </a:r>
          </a:p>
          <a:p>
            <a:pPr lvl="1"/>
            <a:r>
              <a:rPr lang="en-US" dirty="0" smtClean="0"/>
              <a:t>Risk-based discharge values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Sample Project: Rebecca Creek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5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" y="1110886"/>
            <a:ext cx="7206018" cy="51359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16657" y="6246842"/>
            <a:ext cx="1492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(Taylor, 2012)</a:t>
            </a:r>
          </a:p>
        </p:txBody>
      </p:sp>
    </p:spTree>
    <p:extLst>
      <p:ext uri="{BB962C8B-B14F-4D97-AF65-F5344CB8AC3E}">
        <p14:creationId xmlns:p14="http://schemas.microsoft.com/office/powerpoint/2010/main" val="32734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74" y="1236804"/>
            <a:ext cx="6605517" cy="548472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Overview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52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15" y="1503373"/>
            <a:ext cx="7746074" cy="412586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smtClean="0"/>
              <a:t>Scenario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21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8" y="1132765"/>
            <a:ext cx="8223912" cy="50019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SchematicReferenceFeature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46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59" y="1255595"/>
            <a:ext cx="8569365" cy="520410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GeometricReferenceFeature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50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56" y="1295398"/>
            <a:ext cx="7283826" cy="5458655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GeometricReferenceFeature</a:t>
            </a:r>
            <a:r>
              <a:rPr lang="en-US" sz="4400" dirty="0" smtClean="0"/>
              <a:t> - Point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4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661" y="1295400"/>
            <a:ext cx="6199802" cy="556260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GeometricReferenceFeature</a:t>
            </a:r>
            <a:r>
              <a:rPr lang="en-US" sz="4400" dirty="0" smtClean="0"/>
              <a:t> - Edge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3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38" y="1160060"/>
            <a:ext cx="7228580" cy="555362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SurfaceObservation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7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73" y="1216044"/>
            <a:ext cx="7083188" cy="5641956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RiverFeatureObservation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1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67801"/>
            <a:ext cx="7465326" cy="514278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CrossSectionObservation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31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14" y="1295400"/>
            <a:ext cx="7397086" cy="5440796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ProfileLineObservation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39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64" y="1392072"/>
            <a:ext cx="8609276" cy="530506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GeometryFeature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3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33" y="1094773"/>
            <a:ext cx="8598089" cy="5492229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GeometryFeature</a:t>
            </a:r>
            <a:r>
              <a:rPr lang="en-US" sz="4400" dirty="0" smtClean="0"/>
              <a:t> - </a:t>
            </a:r>
            <a:r>
              <a:rPr lang="en-US" sz="4400" dirty="0" err="1" smtClean="0"/>
              <a:t>LineFeature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26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432" y="1075020"/>
            <a:ext cx="5871949" cy="578298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60672" y="810768"/>
            <a:ext cx="8524062" cy="484632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 smtClean="0"/>
              <a:t>GeometryProperty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20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1093</Words>
  <Application>Microsoft Office PowerPoint</Application>
  <PresentationFormat>On-screen Show (4:3)</PresentationFormat>
  <Paragraphs>234</Paragraphs>
  <Slides>47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Flow</vt:lpstr>
      <vt:lpstr>2_Flow</vt:lpstr>
      <vt:lpstr>RiverML: A Harmonized Transfer Language for River Hydraulic Models</vt:lpstr>
      <vt:lpstr>PowerPoint Presentation</vt:lpstr>
      <vt:lpstr>HydroShare Channel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HEC-RAS</vt:lpstr>
      <vt:lpstr>MIKE 11 / MIKE FLOOD</vt:lpstr>
      <vt:lpstr>ICPR</vt:lpstr>
      <vt:lpstr>Arc Hydro / Arc River</vt:lpstr>
      <vt:lpstr>Harmonization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Cockrell School of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HydroShare – Channel</dc:title>
  <dc:creator>Maidment, David R</dc:creator>
  <cp:lastModifiedBy>crwr</cp:lastModifiedBy>
  <cp:revision>155</cp:revision>
  <dcterms:created xsi:type="dcterms:W3CDTF">2013-07-02T16:53:27Z</dcterms:created>
  <dcterms:modified xsi:type="dcterms:W3CDTF">2014-08-13T00:58:31Z</dcterms:modified>
</cp:coreProperties>
</file>