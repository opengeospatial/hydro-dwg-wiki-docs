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32"/>
  </p:notesMasterIdLst>
  <p:sldIdLst>
    <p:sldId id="257" r:id="rId2"/>
    <p:sldId id="316" r:id="rId3"/>
    <p:sldId id="311" r:id="rId4"/>
    <p:sldId id="312" r:id="rId5"/>
    <p:sldId id="339" r:id="rId6"/>
    <p:sldId id="340" r:id="rId7"/>
    <p:sldId id="341" r:id="rId8"/>
    <p:sldId id="268" r:id="rId9"/>
    <p:sldId id="318" r:id="rId10"/>
    <p:sldId id="319" r:id="rId11"/>
    <p:sldId id="321" r:id="rId12"/>
    <p:sldId id="322" r:id="rId13"/>
    <p:sldId id="323" r:id="rId14"/>
    <p:sldId id="325" r:id="rId15"/>
    <p:sldId id="335" r:id="rId16"/>
    <p:sldId id="334" r:id="rId17"/>
    <p:sldId id="336" r:id="rId18"/>
    <p:sldId id="317" r:id="rId19"/>
    <p:sldId id="333" r:id="rId20"/>
    <p:sldId id="330" r:id="rId21"/>
    <p:sldId id="331" r:id="rId22"/>
    <p:sldId id="324" r:id="rId23"/>
    <p:sldId id="326" r:id="rId24"/>
    <p:sldId id="327" r:id="rId25"/>
    <p:sldId id="328" r:id="rId26"/>
    <p:sldId id="329" r:id="rId27"/>
    <p:sldId id="338" r:id="rId28"/>
    <p:sldId id="337" r:id="rId29"/>
    <p:sldId id="343" r:id="rId30"/>
    <p:sldId id="342"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mpara, Mathew" initials="MM" lastIdx="1" clrIdx="0">
    <p:extLst>
      <p:ext uri="{19B8F6BF-5375-455C-9EA6-DF929625EA0E}">
        <p15:presenceInfo xmlns:p15="http://schemas.microsoft.com/office/powerpoint/2012/main" userId="S-1-5-21-507921405-73586283-725345543-115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3072" autoAdjust="0"/>
  </p:normalViewPr>
  <p:slideViewPr>
    <p:cSldViewPr snapToGrid="0">
      <p:cViewPr varScale="1">
        <p:scale>
          <a:sx n="85" d="100"/>
          <a:sy n="85" d="100"/>
        </p:scale>
        <p:origin x="2112" y="84"/>
      </p:cViewPr>
      <p:guideLst>
        <p:guide orient="horz" pos="2160"/>
        <p:guide pos="2880"/>
      </p:guideLst>
    </p:cSldViewPr>
  </p:slid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77" d="100"/>
          <a:sy n="77" d="100"/>
        </p:scale>
        <p:origin x="2370" y="11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F9617F-DC25-024F-83B8-220DBBF5F982}" type="doc">
      <dgm:prSet loTypeId="urn:microsoft.com/office/officeart/2005/8/layout/bProcess3" loCatId="" qsTypeId="urn:microsoft.com/office/officeart/2005/8/quickstyle/simple4" qsCatId="simple" csTypeId="urn:microsoft.com/office/officeart/2005/8/colors/accent5_2" csCatId="accent5" phldr="1"/>
      <dgm:spPr/>
      <dgm:t>
        <a:bodyPr/>
        <a:lstStyle/>
        <a:p>
          <a:endParaRPr lang="en-US"/>
        </a:p>
      </dgm:t>
    </dgm:pt>
    <dgm:pt modelId="{CFA11FF2-355D-BE45-8C83-5A2CBA5B95A7}">
      <dgm:prSet phldrT="[Text]"/>
      <dgm:spPr/>
      <dgm:t>
        <a:bodyPr/>
        <a:lstStyle/>
        <a:p>
          <a:r>
            <a:rPr lang="en-US" dirty="0"/>
            <a:t>Tools &amp; Methods </a:t>
          </a:r>
        </a:p>
      </dgm:t>
    </dgm:pt>
    <dgm:pt modelId="{75B353A9-5C6D-4946-9E01-90D79BC81E7D}" type="parTrans" cxnId="{2EBC1C3A-B277-DE4D-8BF0-0A8056A72182}">
      <dgm:prSet/>
      <dgm:spPr/>
      <dgm:t>
        <a:bodyPr/>
        <a:lstStyle/>
        <a:p>
          <a:endParaRPr lang="en-US"/>
        </a:p>
      </dgm:t>
    </dgm:pt>
    <dgm:pt modelId="{F37213D5-F611-F44E-A52B-F8A8FEFD2418}" type="sibTrans" cxnId="{2EBC1C3A-B277-DE4D-8BF0-0A8056A72182}">
      <dgm:prSet/>
      <dgm:spPr/>
      <dgm:t>
        <a:bodyPr/>
        <a:lstStyle/>
        <a:p>
          <a:endParaRPr lang="en-US"/>
        </a:p>
      </dgm:t>
    </dgm:pt>
    <dgm:pt modelId="{30F04675-4E11-7949-A5FF-9A387D439820}">
      <dgm:prSet phldrT="[Text]"/>
      <dgm:spPr/>
      <dgm:t>
        <a:bodyPr/>
        <a:lstStyle/>
        <a:p>
          <a:r>
            <a:rPr lang="en-US"/>
            <a:t>Gaps</a:t>
          </a:r>
        </a:p>
      </dgm:t>
    </dgm:pt>
    <dgm:pt modelId="{6B9C2BD3-0C68-D343-ADDD-8B9B410B54AA}" type="parTrans" cxnId="{EF48E27C-D9E8-CA45-8356-D28DFE103AC3}">
      <dgm:prSet/>
      <dgm:spPr/>
      <dgm:t>
        <a:bodyPr/>
        <a:lstStyle/>
        <a:p>
          <a:endParaRPr lang="en-US"/>
        </a:p>
      </dgm:t>
    </dgm:pt>
    <dgm:pt modelId="{27927AD8-8AF6-F44B-9F1A-EB7D516F3C28}" type="sibTrans" cxnId="{EF48E27C-D9E8-CA45-8356-D28DFE103AC3}">
      <dgm:prSet/>
      <dgm:spPr/>
      <dgm:t>
        <a:bodyPr/>
        <a:lstStyle/>
        <a:p>
          <a:endParaRPr lang="en-US"/>
        </a:p>
      </dgm:t>
    </dgm:pt>
    <dgm:pt modelId="{07F09943-4E06-BE4D-B0F1-6768C9D2CA73}">
      <dgm:prSet phldrT="[Text]"/>
      <dgm:spPr/>
      <dgm:t>
        <a:bodyPr/>
        <a:lstStyle/>
        <a:p>
          <a:r>
            <a:rPr lang="en-US"/>
            <a:t>Priorities</a:t>
          </a:r>
        </a:p>
      </dgm:t>
    </dgm:pt>
    <dgm:pt modelId="{76AD39A3-B230-CE4F-A96F-70FD5CB5CD0E}" type="parTrans" cxnId="{2E295118-389B-4C42-9736-4F56BFB29218}">
      <dgm:prSet/>
      <dgm:spPr/>
      <dgm:t>
        <a:bodyPr/>
        <a:lstStyle/>
        <a:p>
          <a:endParaRPr lang="en-US"/>
        </a:p>
      </dgm:t>
    </dgm:pt>
    <dgm:pt modelId="{DF499806-D372-9743-B1B3-791DA6EBC10B}" type="sibTrans" cxnId="{2E295118-389B-4C42-9736-4F56BFB29218}">
      <dgm:prSet/>
      <dgm:spPr/>
      <dgm:t>
        <a:bodyPr/>
        <a:lstStyle/>
        <a:p>
          <a:endParaRPr lang="en-US"/>
        </a:p>
      </dgm:t>
    </dgm:pt>
    <dgm:pt modelId="{3AE9A884-6FE6-5E4F-94FB-1D8410708548}">
      <dgm:prSet phldrT="[Text]"/>
      <dgm:spPr/>
      <dgm:t>
        <a:bodyPr/>
        <a:lstStyle/>
        <a:p>
          <a:r>
            <a:rPr lang="en-US"/>
            <a:t>Prototype</a:t>
          </a:r>
        </a:p>
      </dgm:t>
    </dgm:pt>
    <dgm:pt modelId="{B876E8A3-5454-5A4E-B450-0A759FDBC267}" type="parTrans" cxnId="{7E755B32-8551-1D4C-AFAA-C51910A49DFA}">
      <dgm:prSet/>
      <dgm:spPr/>
      <dgm:t>
        <a:bodyPr/>
        <a:lstStyle/>
        <a:p>
          <a:endParaRPr lang="en-US"/>
        </a:p>
      </dgm:t>
    </dgm:pt>
    <dgm:pt modelId="{8BBEF039-12E2-734B-9D25-C0848D5CA8D5}" type="sibTrans" cxnId="{7E755B32-8551-1D4C-AFAA-C51910A49DFA}">
      <dgm:prSet/>
      <dgm:spPr/>
      <dgm:t>
        <a:bodyPr/>
        <a:lstStyle/>
        <a:p>
          <a:endParaRPr lang="en-US"/>
        </a:p>
      </dgm:t>
    </dgm:pt>
    <dgm:pt modelId="{3C71DF7D-BCFF-7740-AA82-350E47BF7CCE}">
      <dgm:prSet phldrT="[Text]"/>
      <dgm:spPr/>
      <dgm:t>
        <a:bodyPr/>
        <a:lstStyle/>
        <a:p>
          <a:r>
            <a:rPr lang="en-US"/>
            <a:t>Capability Maturity Model (CMM) </a:t>
          </a:r>
        </a:p>
      </dgm:t>
    </dgm:pt>
    <dgm:pt modelId="{CE80A4D4-1B5D-2840-A14C-0C17151009C6}" type="parTrans" cxnId="{006A2ED3-FC2A-C84E-A270-6EAB16A35BDB}">
      <dgm:prSet/>
      <dgm:spPr/>
      <dgm:t>
        <a:bodyPr/>
        <a:lstStyle/>
        <a:p>
          <a:endParaRPr lang="en-US"/>
        </a:p>
      </dgm:t>
    </dgm:pt>
    <dgm:pt modelId="{BA18A26B-43A6-F944-9C55-405D4BD52DBF}" type="sibTrans" cxnId="{006A2ED3-FC2A-C84E-A270-6EAB16A35BDB}">
      <dgm:prSet/>
      <dgm:spPr/>
      <dgm:t>
        <a:bodyPr/>
        <a:lstStyle/>
        <a:p>
          <a:endParaRPr lang="en-US"/>
        </a:p>
      </dgm:t>
    </dgm:pt>
    <dgm:pt modelId="{F906BB5E-CB85-A14F-A8E6-F3156A6702D7}">
      <dgm:prSet/>
      <dgm:spPr/>
      <dgm:t>
        <a:bodyPr/>
        <a:lstStyle/>
        <a:p>
          <a:r>
            <a:rPr lang="en-US"/>
            <a:t>Requirements</a:t>
          </a:r>
        </a:p>
      </dgm:t>
    </dgm:pt>
    <dgm:pt modelId="{3579AA94-930A-9346-9284-BB95DD694A14}" type="parTrans" cxnId="{15EA2CA4-5C00-E64A-B4A3-3DD994C080E5}">
      <dgm:prSet/>
      <dgm:spPr/>
      <dgm:t>
        <a:bodyPr/>
        <a:lstStyle/>
        <a:p>
          <a:endParaRPr lang="en-US"/>
        </a:p>
      </dgm:t>
    </dgm:pt>
    <dgm:pt modelId="{AC9D3CBF-06B3-F041-9456-F0B776EE3BE5}" type="sibTrans" cxnId="{15EA2CA4-5C00-E64A-B4A3-3DD994C080E5}">
      <dgm:prSet/>
      <dgm:spPr/>
      <dgm:t>
        <a:bodyPr/>
        <a:lstStyle/>
        <a:p>
          <a:endParaRPr lang="en-US"/>
        </a:p>
      </dgm:t>
    </dgm:pt>
    <dgm:pt modelId="{E1F192B0-08D5-5844-A9A8-924D69D342E4}">
      <dgm:prSet/>
      <dgm:spPr/>
      <dgm:t>
        <a:bodyPr/>
        <a:lstStyle/>
        <a:p>
          <a:r>
            <a:rPr lang="en-US"/>
            <a:t>Data Standards &amp; Specifications</a:t>
          </a:r>
        </a:p>
      </dgm:t>
    </dgm:pt>
    <dgm:pt modelId="{18376FC8-4E84-7447-B9DD-792BCC0893FE}" type="parTrans" cxnId="{EF10AC4A-1752-DE4A-BD17-2D32B851F4BD}">
      <dgm:prSet/>
      <dgm:spPr/>
      <dgm:t>
        <a:bodyPr/>
        <a:lstStyle/>
        <a:p>
          <a:endParaRPr lang="en-US"/>
        </a:p>
      </dgm:t>
    </dgm:pt>
    <dgm:pt modelId="{9826CEA5-9652-4E43-81E6-04E06455055D}" type="sibTrans" cxnId="{EF10AC4A-1752-DE4A-BD17-2D32B851F4BD}">
      <dgm:prSet/>
      <dgm:spPr/>
      <dgm:t>
        <a:bodyPr/>
        <a:lstStyle/>
        <a:p>
          <a:endParaRPr lang="en-US"/>
        </a:p>
      </dgm:t>
    </dgm:pt>
    <dgm:pt modelId="{45A4398D-287A-1149-ADC6-5D406911FE08}" type="pres">
      <dgm:prSet presAssocID="{98F9617F-DC25-024F-83B8-220DBBF5F982}" presName="Name0" presStyleCnt="0">
        <dgm:presLayoutVars>
          <dgm:dir/>
          <dgm:resizeHandles val="exact"/>
        </dgm:presLayoutVars>
      </dgm:prSet>
      <dgm:spPr/>
      <dgm:t>
        <a:bodyPr/>
        <a:lstStyle/>
        <a:p>
          <a:endParaRPr lang="en-US"/>
        </a:p>
      </dgm:t>
    </dgm:pt>
    <dgm:pt modelId="{66F8014B-E687-A149-9E30-780DB3B953B9}" type="pres">
      <dgm:prSet presAssocID="{CFA11FF2-355D-BE45-8C83-5A2CBA5B95A7}" presName="node" presStyleLbl="node1" presStyleIdx="0" presStyleCnt="7">
        <dgm:presLayoutVars>
          <dgm:bulletEnabled val="1"/>
        </dgm:presLayoutVars>
      </dgm:prSet>
      <dgm:spPr/>
      <dgm:t>
        <a:bodyPr/>
        <a:lstStyle/>
        <a:p>
          <a:endParaRPr lang="en-US"/>
        </a:p>
      </dgm:t>
    </dgm:pt>
    <dgm:pt modelId="{D11AE3EC-B6EF-0E4C-8319-E65930849F37}" type="pres">
      <dgm:prSet presAssocID="{F37213D5-F611-F44E-A52B-F8A8FEFD2418}" presName="sibTrans" presStyleLbl="sibTrans1D1" presStyleIdx="0" presStyleCnt="6"/>
      <dgm:spPr/>
      <dgm:t>
        <a:bodyPr/>
        <a:lstStyle/>
        <a:p>
          <a:endParaRPr lang="en-US"/>
        </a:p>
      </dgm:t>
    </dgm:pt>
    <dgm:pt modelId="{DFB456AC-4E51-C046-B79C-094E0F073F06}" type="pres">
      <dgm:prSet presAssocID="{F37213D5-F611-F44E-A52B-F8A8FEFD2418}" presName="connectorText" presStyleLbl="sibTrans1D1" presStyleIdx="0" presStyleCnt="6"/>
      <dgm:spPr/>
      <dgm:t>
        <a:bodyPr/>
        <a:lstStyle/>
        <a:p>
          <a:endParaRPr lang="en-US"/>
        </a:p>
      </dgm:t>
    </dgm:pt>
    <dgm:pt modelId="{8E787FD8-D5E2-D845-B77A-61566C77661E}" type="pres">
      <dgm:prSet presAssocID="{30F04675-4E11-7949-A5FF-9A387D439820}" presName="node" presStyleLbl="node1" presStyleIdx="1" presStyleCnt="7">
        <dgm:presLayoutVars>
          <dgm:bulletEnabled val="1"/>
        </dgm:presLayoutVars>
      </dgm:prSet>
      <dgm:spPr/>
      <dgm:t>
        <a:bodyPr/>
        <a:lstStyle/>
        <a:p>
          <a:endParaRPr lang="en-US"/>
        </a:p>
      </dgm:t>
    </dgm:pt>
    <dgm:pt modelId="{54F3A716-74D5-7B40-AA91-2C45C2289C95}" type="pres">
      <dgm:prSet presAssocID="{27927AD8-8AF6-F44B-9F1A-EB7D516F3C28}" presName="sibTrans" presStyleLbl="sibTrans1D1" presStyleIdx="1" presStyleCnt="6"/>
      <dgm:spPr/>
      <dgm:t>
        <a:bodyPr/>
        <a:lstStyle/>
        <a:p>
          <a:endParaRPr lang="en-US"/>
        </a:p>
      </dgm:t>
    </dgm:pt>
    <dgm:pt modelId="{9A285E04-575D-2944-9F65-E9A8234A8CBD}" type="pres">
      <dgm:prSet presAssocID="{27927AD8-8AF6-F44B-9F1A-EB7D516F3C28}" presName="connectorText" presStyleLbl="sibTrans1D1" presStyleIdx="1" presStyleCnt="6"/>
      <dgm:spPr/>
      <dgm:t>
        <a:bodyPr/>
        <a:lstStyle/>
        <a:p>
          <a:endParaRPr lang="en-US"/>
        </a:p>
      </dgm:t>
    </dgm:pt>
    <dgm:pt modelId="{2C0F8299-7D62-9F4A-B9E3-29E6745B4BEB}" type="pres">
      <dgm:prSet presAssocID="{07F09943-4E06-BE4D-B0F1-6768C9D2CA73}" presName="node" presStyleLbl="node1" presStyleIdx="2" presStyleCnt="7">
        <dgm:presLayoutVars>
          <dgm:bulletEnabled val="1"/>
        </dgm:presLayoutVars>
      </dgm:prSet>
      <dgm:spPr/>
      <dgm:t>
        <a:bodyPr/>
        <a:lstStyle/>
        <a:p>
          <a:endParaRPr lang="en-US"/>
        </a:p>
      </dgm:t>
    </dgm:pt>
    <dgm:pt modelId="{F8622872-EA98-7F4D-9724-93D659F74F8F}" type="pres">
      <dgm:prSet presAssocID="{DF499806-D372-9743-B1B3-791DA6EBC10B}" presName="sibTrans" presStyleLbl="sibTrans1D1" presStyleIdx="2" presStyleCnt="6"/>
      <dgm:spPr/>
      <dgm:t>
        <a:bodyPr/>
        <a:lstStyle/>
        <a:p>
          <a:endParaRPr lang="en-US"/>
        </a:p>
      </dgm:t>
    </dgm:pt>
    <dgm:pt modelId="{E29ECE97-2CA6-E741-8D88-67A991304B5D}" type="pres">
      <dgm:prSet presAssocID="{DF499806-D372-9743-B1B3-791DA6EBC10B}" presName="connectorText" presStyleLbl="sibTrans1D1" presStyleIdx="2" presStyleCnt="6"/>
      <dgm:spPr/>
      <dgm:t>
        <a:bodyPr/>
        <a:lstStyle/>
        <a:p>
          <a:endParaRPr lang="en-US"/>
        </a:p>
      </dgm:t>
    </dgm:pt>
    <dgm:pt modelId="{AB4272DF-8034-A743-9D5F-E9084C5B08F7}" type="pres">
      <dgm:prSet presAssocID="{3AE9A884-6FE6-5E4F-94FB-1D8410708548}" presName="node" presStyleLbl="node1" presStyleIdx="3" presStyleCnt="7">
        <dgm:presLayoutVars>
          <dgm:bulletEnabled val="1"/>
        </dgm:presLayoutVars>
      </dgm:prSet>
      <dgm:spPr/>
      <dgm:t>
        <a:bodyPr/>
        <a:lstStyle/>
        <a:p>
          <a:endParaRPr lang="en-US"/>
        </a:p>
      </dgm:t>
    </dgm:pt>
    <dgm:pt modelId="{A04F792B-E80D-E14E-87DE-07E03857D47A}" type="pres">
      <dgm:prSet presAssocID="{8BBEF039-12E2-734B-9D25-C0848D5CA8D5}" presName="sibTrans" presStyleLbl="sibTrans1D1" presStyleIdx="3" presStyleCnt="6"/>
      <dgm:spPr/>
      <dgm:t>
        <a:bodyPr/>
        <a:lstStyle/>
        <a:p>
          <a:endParaRPr lang="en-US"/>
        </a:p>
      </dgm:t>
    </dgm:pt>
    <dgm:pt modelId="{949725D4-B8B2-5640-81EE-48CEE79B3612}" type="pres">
      <dgm:prSet presAssocID="{8BBEF039-12E2-734B-9D25-C0848D5CA8D5}" presName="connectorText" presStyleLbl="sibTrans1D1" presStyleIdx="3" presStyleCnt="6"/>
      <dgm:spPr/>
      <dgm:t>
        <a:bodyPr/>
        <a:lstStyle/>
        <a:p>
          <a:endParaRPr lang="en-US"/>
        </a:p>
      </dgm:t>
    </dgm:pt>
    <dgm:pt modelId="{5E8BAFCA-805F-A243-B20E-41959295A888}" type="pres">
      <dgm:prSet presAssocID="{3C71DF7D-BCFF-7740-AA82-350E47BF7CCE}" presName="node" presStyleLbl="node1" presStyleIdx="4" presStyleCnt="7">
        <dgm:presLayoutVars>
          <dgm:bulletEnabled val="1"/>
        </dgm:presLayoutVars>
      </dgm:prSet>
      <dgm:spPr/>
      <dgm:t>
        <a:bodyPr/>
        <a:lstStyle/>
        <a:p>
          <a:endParaRPr lang="en-US"/>
        </a:p>
      </dgm:t>
    </dgm:pt>
    <dgm:pt modelId="{498602AA-2786-2047-BDB2-0D3E3E1998A4}" type="pres">
      <dgm:prSet presAssocID="{BA18A26B-43A6-F944-9C55-405D4BD52DBF}" presName="sibTrans" presStyleLbl="sibTrans1D1" presStyleIdx="4" presStyleCnt="6"/>
      <dgm:spPr/>
      <dgm:t>
        <a:bodyPr/>
        <a:lstStyle/>
        <a:p>
          <a:endParaRPr lang="en-US"/>
        </a:p>
      </dgm:t>
    </dgm:pt>
    <dgm:pt modelId="{44C0B4E1-5AA8-3C41-8FFA-6621CE26EC05}" type="pres">
      <dgm:prSet presAssocID="{BA18A26B-43A6-F944-9C55-405D4BD52DBF}" presName="connectorText" presStyleLbl="sibTrans1D1" presStyleIdx="4" presStyleCnt="6"/>
      <dgm:spPr/>
      <dgm:t>
        <a:bodyPr/>
        <a:lstStyle/>
        <a:p>
          <a:endParaRPr lang="en-US"/>
        </a:p>
      </dgm:t>
    </dgm:pt>
    <dgm:pt modelId="{760DB03D-3853-F041-BA74-C4959B99679B}" type="pres">
      <dgm:prSet presAssocID="{F906BB5E-CB85-A14F-A8E6-F3156A6702D7}" presName="node" presStyleLbl="node1" presStyleIdx="5" presStyleCnt="7">
        <dgm:presLayoutVars>
          <dgm:bulletEnabled val="1"/>
        </dgm:presLayoutVars>
      </dgm:prSet>
      <dgm:spPr/>
      <dgm:t>
        <a:bodyPr/>
        <a:lstStyle/>
        <a:p>
          <a:endParaRPr lang="en-US"/>
        </a:p>
      </dgm:t>
    </dgm:pt>
    <dgm:pt modelId="{2181A152-503A-004D-B5EF-54CEBD6B7412}" type="pres">
      <dgm:prSet presAssocID="{AC9D3CBF-06B3-F041-9456-F0B776EE3BE5}" presName="sibTrans" presStyleLbl="sibTrans1D1" presStyleIdx="5" presStyleCnt="6"/>
      <dgm:spPr/>
      <dgm:t>
        <a:bodyPr/>
        <a:lstStyle/>
        <a:p>
          <a:endParaRPr lang="en-US"/>
        </a:p>
      </dgm:t>
    </dgm:pt>
    <dgm:pt modelId="{45B12507-7E6F-CE42-AA22-D85684A4FD17}" type="pres">
      <dgm:prSet presAssocID="{AC9D3CBF-06B3-F041-9456-F0B776EE3BE5}" presName="connectorText" presStyleLbl="sibTrans1D1" presStyleIdx="5" presStyleCnt="6"/>
      <dgm:spPr/>
      <dgm:t>
        <a:bodyPr/>
        <a:lstStyle/>
        <a:p>
          <a:endParaRPr lang="en-US"/>
        </a:p>
      </dgm:t>
    </dgm:pt>
    <dgm:pt modelId="{F40B8716-63A0-DB4C-B030-D77E8CF15384}" type="pres">
      <dgm:prSet presAssocID="{E1F192B0-08D5-5844-A9A8-924D69D342E4}" presName="node" presStyleLbl="node1" presStyleIdx="6" presStyleCnt="7">
        <dgm:presLayoutVars>
          <dgm:bulletEnabled val="1"/>
        </dgm:presLayoutVars>
      </dgm:prSet>
      <dgm:spPr/>
      <dgm:t>
        <a:bodyPr/>
        <a:lstStyle/>
        <a:p>
          <a:endParaRPr lang="en-US"/>
        </a:p>
      </dgm:t>
    </dgm:pt>
  </dgm:ptLst>
  <dgm:cxnLst>
    <dgm:cxn modelId="{15EA2CA4-5C00-E64A-B4A3-3DD994C080E5}" srcId="{98F9617F-DC25-024F-83B8-220DBBF5F982}" destId="{F906BB5E-CB85-A14F-A8E6-F3156A6702D7}" srcOrd="5" destOrd="0" parTransId="{3579AA94-930A-9346-9284-BB95DD694A14}" sibTransId="{AC9D3CBF-06B3-F041-9456-F0B776EE3BE5}"/>
    <dgm:cxn modelId="{98E121A7-4E84-45EA-AB1E-BF40CD8D7D7F}" type="presOf" srcId="{8BBEF039-12E2-734B-9D25-C0848D5CA8D5}" destId="{949725D4-B8B2-5640-81EE-48CEE79B3612}" srcOrd="1" destOrd="0" presId="urn:microsoft.com/office/officeart/2005/8/layout/bProcess3"/>
    <dgm:cxn modelId="{0E0E4FDF-6B18-48BA-B3E8-5A9A42FA4756}" type="presOf" srcId="{F906BB5E-CB85-A14F-A8E6-F3156A6702D7}" destId="{760DB03D-3853-F041-BA74-C4959B99679B}" srcOrd="0" destOrd="0" presId="urn:microsoft.com/office/officeart/2005/8/layout/bProcess3"/>
    <dgm:cxn modelId="{0F4F7454-4A49-4D03-9540-AC0DB8BC6715}" type="presOf" srcId="{27927AD8-8AF6-F44B-9F1A-EB7D516F3C28}" destId="{54F3A716-74D5-7B40-AA91-2C45C2289C95}" srcOrd="0" destOrd="0" presId="urn:microsoft.com/office/officeart/2005/8/layout/bProcess3"/>
    <dgm:cxn modelId="{E7CB0418-0658-4D92-A0ED-91B8BEFBFCB4}" type="presOf" srcId="{8BBEF039-12E2-734B-9D25-C0848D5CA8D5}" destId="{A04F792B-E80D-E14E-87DE-07E03857D47A}" srcOrd="0" destOrd="0" presId="urn:microsoft.com/office/officeart/2005/8/layout/bProcess3"/>
    <dgm:cxn modelId="{E1AC797B-2570-47F8-B010-F1497A44C9CA}" type="presOf" srcId="{27927AD8-8AF6-F44B-9F1A-EB7D516F3C28}" destId="{9A285E04-575D-2944-9F65-E9A8234A8CBD}" srcOrd="1" destOrd="0" presId="urn:microsoft.com/office/officeart/2005/8/layout/bProcess3"/>
    <dgm:cxn modelId="{FF7D558F-46BA-455D-8DAD-0E7F22286079}" type="presOf" srcId="{30F04675-4E11-7949-A5FF-9A387D439820}" destId="{8E787FD8-D5E2-D845-B77A-61566C77661E}" srcOrd="0" destOrd="0" presId="urn:microsoft.com/office/officeart/2005/8/layout/bProcess3"/>
    <dgm:cxn modelId="{C2D386B4-8522-41F6-A31C-217C3EB8E4FD}" type="presOf" srcId="{07F09943-4E06-BE4D-B0F1-6768C9D2CA73}" destId="{2C0F8299-7D62-9F4A-B9E3-29E6745B4BEB}" srcOrd="0" destOrd="0" presId="urn:microsoft.com/office/officeart/2005/8/layout/bProcess3"/>
    <dgm:cxn modelId="{EF10AC4A-1752-DE4A-BD17-2D32B851F4BD}" srcId="{98F9617F-DC25-024F-83B8-220DBBF5F982}" destId="{E1F192B0-08D5-5844-A9A8-924D69D342E4}" srcOrd="6" destOrd="0" parTransId="{18376FC8-4E84-7447-B9DD-792BCC0893FE}" sibTransId="{9826CEA5-9652-4E43-81E6-04E06455055D}"/>
    <dgm:cxn modelId="{E8E6E3F5-BCFF-450B-BA60-A61DFBA6FB43}" type="presOf" srcId="{DF499806-D372-9743-B1B3-791DA6EBC10B}" destId="{F8622872-EA98-7F4D-9724-93D659F74F8F}" srcOrd="0" destOrd="0" presId="urn:microsoft.com/office/officeart/2005/8/layout/bProcess3"/>
    <dgm:cxn modelId="{7EE2302E-9571-46F5-BAC0-B6D549E793AD}" type="presOf" srcId="{BA18A26B-43A6-F944-9C55-405D4BD52DBF}" destId="{44C0B4E1-5AA8-3C41-8FFA-6621CE26EC05}" srcOrd="1" destOrd="0" presId="urn:microsoft.com/office/officeart/2005/8/layout/bProcess3"/>
    <dgm:cxn modelId="{9CFD2BDC-65B2-44D8-984D-DA4C9D63411F}" type="presOf" srcId="{98F9617F-DC25-024F-83B8-220DBBF5F982}" destId="{45A4398D-287A-1149-ADC6-5D406911FE08}" srcOrd="0" destOrd="0" presId="urn:microsoft.com/office/officeart/2005/8/layout/bProcess3"/>
    <dgm:cxn modelId="{2EBC1C3A-B277-DE4D-8BF0-0A8056A72182}" srcId="{98F9617F-DC25-024F-83B8-220DBBF5F982}" destId="{CFA11FF2-355D-BE45-8C83-5A2CBA5B95A7}" srcOrd="0" destOrd="0" parTransId="{75B353A9-5C6D-4946-9E01-90D79BC81E7D}" sibTransId="{F37213D5-F611-F44E-A52B-F8A8FEFD2418}"/>
    <dgm:cxn modelId="{006A2ED3-FC2A-C84E-A270-6EAB16A35BDB}" srcId="{98F9617F-DC25-024F-83B8-220DBBF5F982}" destId="{3C71DF7D-BCFF-7740-AA82-350E47BF7CCE}" srcOrd="4" destOrd="0" parTransId="{CE80A4D4-1B5D-2840-A14C-0C17151009C6}" sibTransId="{BA18A26B-43A6-F944-9C55-405D4BD52DBF}"/>
    <dgm:cxn modelId="{F4E979CD-CB1B-4063-9B7F-A0F54E481679}" type="presOf" srcId="{E1F192B0-08D5-5844-A9A8-924D69D342E4}" destId="{F40B8716-63A0-DB4C-B030-D77E8CF15384}" srcOrd="0" destOrd="0" presId="urn:microsoft.com/office/officeart/2005/8/layout/bProcess3"/>
    <dgm:cxn modelId="{4668FB7C-311A-496F-BA12-9D339B260632}" type="presOf" srcId="{AC9D3CBF-06B3-F041-9456-F0B776EE3BE5}" destId="{45B12507-7E6F-CE42-AA22-D85684A4FD17}" srcOrd="1" destOrd="0" presId="urn:microsoft.com/office/officeart/2005/8/layout/bProcess3"/>
    <dgm:cxn modelId="{4F0BF046-F94D-4EF8-889D-73BC3450A961}" type="presOf" srcId="{CFA11FF2-355D-BE45-8C83-5A2CBA5B95A7}" destId="{66F8014B-E687-A149-9E30-780DB3B953B9}" srcOrd="0" destOrd="0" presId="urn:microsoft.com/office/officeart/2005/8/layout/bProcess3"/>
    <dgm:cxn modelId="{DB6CBC4F-DE77-47C1-BE8F-EBBD6A7915B3}" type="presOf" srcId="{F37213D5-F611-F44E-A52B-F8A8FEFD2418}" destId="{D11AE3EC-B6EF-0E4C-8319-E65930849F37}" srcOrd="0" destOrd="0" presId="urn:microsoft.com/office/officeart/2005/8/layout/bProcess3"/>
    <dgm:cxn modelId="{0626677A-4458-4975-BA7A-8A7EBB9594CE}" type="presOf" srcId="{F37213D5-F611-F44E-A52B-F8A8FEFD2418}" destId="{DFB456AC-4E51-C046-B79C-094E0F073F06}" srcOrd="1" destOrd="0" presId="urn:microsoft.com/office/officeart/2005/8/layout/bProcess3"/>
    <dgm:cxn modelId="{8270DA2F-318D-4A63-9944-155B7EC66357}" type="presOf" srcId="{BA18A26B-43A6-F944-9C55-405D4BD52DBF}" destId="{498602AA-2786-2047-BDB2-0D3E3E1998A4}" srcOrd="0" destOrd="0" presId="urn:microsoft.com/office/officeart/2005/8/layout/bProcess3"/>
    <dgm:cxn modelId="{0BD340D5-151F-4EB1-9206-CC6481BFCCE6}" type="presOf" srcId="{DF499806-D372-9743-B1B3-791DA6EBC10B}" destId="{E29ECE97-2CA6-E741-8D88-67A991304B5D}" srcOrd="1" destOrd="0" presId="urn:microsoft.com/office/officeart/2005/8/layout/bProcess3"/>
    <dgm:cxn modelId="{BEEBD87A-8F57-4B29-BEC0-CAFF25798A81}" type="presOf" srcId="{AC9D3CBF-06B3-F041-9456-F0B776EE3BE5}" destId="{2181A152-503A-004D-B5EF-54CEBD6B7412}" srcOrd="0" destOrd="0" presId="urn:microsoft.com/office/officeart/2005/8/layout/bProcess3"/>
    <dgm:cxn modelId="{7E755B32-8551-1D4C-AFAA-C51910A49DFA}" srcId="{98F9617F-DC25-024F-83B8-220DBBF5F982}" destId="{3AE9A884-6FE6-5E4F-94FB-1D8410708548}" srcOrd="3" destOrd="0" parTransId="{B876E8A3-5454-5A4E-B450-0A759FDBC267}" sibTransId="{8BBEF039-12E2-734B-9D25-C0848D5CA8D5}"/>
    <dgm:cxn modelId="{2E295118-389B-4C42-9736-4F56BFB29218}" srcId="{98F9617F-DC25-024F-83B8-220DBBF5F982}" destId="{07F09943-4E06-BE4D-B0F1-6768C9D2CA73}" srcOrd="2" destOrd="0" parTransId="{76AD39A3-B230-CE4F-A96F-70FD5CB5CD0E}" sibTransId="{DF499806-D372-9743-B1B3-791DA6EBC10B}"/>
    <dgm:cxn modelId="{D08817E6-FD9C-494B-914D-9577E049CC02}" type="presOf" srcId="{3AE9A884-6FE6-5E4F-94FB-1D8410708548}" destId="{AB4272DF-8034-A743-9D5F-E9084C5B08F7}" srcOrd="0" destOrd="0" presId="urn:microsoft.com/office/officeart/2005/8/layout/bProcess3"/>
    <dgm:cxn modelId="{EF48E27C-D9E8-CA45-8356-D28DFE103AC3}" srcId="{98F9617F-DC25-024F-83B8-220DBBF5F982}" destId="{30F04675-4E11-7949-A5FF-9A387D439820}" srcOrd="1" destOrd="0" parTransId="{6B9C2BD3-0C68-D343-ADDD-8B9B410B54AA}" sibTransId="{27927AD8-8AF6-F44B-9F1A-EB7D516F3C28}"/>
    <dgm:cxn modelId="{A98AA7D0-1D0D-43BE-AE2E-4DC426B1AE18}" type="presOf" srcId="{3C71DF7D-BCFF-7740-AA82-350E47BF7CCE}" destId="{5E8BAFCA-805F-A243-B20E-41959295A888}" srcOrd="0" destOrd="0" presId="urn:microsoft.com/office/officeart/2005/8/layout/bProcess3"/>
    <dgm:cxn modelId="{912ABAAE-EA24-4605-AA59-4BD5EA5E036D}" type="presParOf" srcId="{45A4398D-287A-1149-ADC6-5D406911FE08}" destId="{66F8014B-E687-A149-9E30-780DB3B953B9}" srcOrd="0" destOrd="0" presId="urn:microsoft.com/office/officeart/2005/8/layout/bProcess3"/>
    <dgm:cxn modelId="{BBC90A8F-6255-436C-9836-1F8AEDEADB3D}" type="presParOf" srcId="{45A4398D-287A-1149-ADC6-5D406911FE08}" destId="{D11AE3EC-B6EF-0E4C-8319-E65930849F37}" srcOrd="1" destOrd="0" presId="urn:microsoft.com/office/officeart/2005/8/layout/bProcess3"/>
    <dgm:cxn modelId="{B0C97BDE-60C3-4D63-A899-AFEE67EC62ED}" type="presParOf" srcId="{D11AE3EC-B6EF-0E4C-8319-E65930849F37}" destId="{DFB456AC-4E51-C046-B79C-094E0F073F06}" srcOrd="0" destOrd="0" presId="urn:microsoft.com/office/officeart/2005/8/layout/bProcess3"/>
    <dgm:cxn modelId="{C3BDDF64-C9B2-419C-B18A-3F25DBD1A255}" type="presParOf" srcId="{45A4398D-287A-1149-ADC6-5D406911FE08}" destId="{8E787FD8-D5E2-D845-B77A-61566C77661E}" srcOrd="2" destOrd="0" presId="urn:microsoft.com/office/officeart/2005/8/layout/bProcess3"/>
    <dgm:cxn modelId="{79979564-781C-426D-A707-F43CA50FB9EB}" type="presParOf" srcId="{45A4398D-287A-1149-ADC6-5D406911FE08}" destId="{54F3A716-74D5-7B40-AA91-2C45C2289C95}" srcOrd="3" destOrd="0" presId="urn:microsoft.com/office/officeart/2005/8/layout/bProcess3"/>
    <dgm:cxn modelId="{051E1A9E-01F4-4B98-A9F6-55345EDC664F}" type="presParOf" srcId="{54F3A716-74D5-7B40-AA91-2C45C2289C95}" destId="{9A285E04-575D-2944-9F65-E9A8234A8CBD}" srcOrd="0" destOrd="0" presId="urn:microsoft.com/office/officeart/2005/8/layout/bProcess3"/>
    <dgm:cxn modelId="{EE8D3342-9EDB-425B-B5B7-1E8EA46684C0}" type="presParOf" srcId="{45A4398D-287A-1149-ADC6-5D406911FE08}" destId="{2C0F8299-7D62-9F4A-B9E3-29E6745B4BEB}" srcOrd="4" destOrd="0" presId="urn:microsoft.com/office/officeart/2005/8/layout/bProcess3"/>
    <dgm:cxn modelId="{260C33AC-0EDA-4C37-AF44-0C14F2552F27}" type="presParOf" srcId="{45A4398D-287A-1149-ADC6-5D406911FE08}" destId="{F8622872-EA98-7F4D-9724-93D659F74F8F}" srcOrd="5" destOrd="0" presId="urn:microsoft.com/office/officeart/2005/8/layout/bProcess3"/>
    <dgm:cxn modelId="{E918DC25-2DB3-4319-B38B-BA1396A31F08}" type="presParOf" srcId="{F8622872-EA98-7F4D-9724-93D659F74F8F}" destId="{E29ECE97-2CA6-E741-8D88-67A991304B5D}" srcOrd="0" destOrd="0" presId="urn:microsoft.com/office/officeart/2005/8/layout/bProcess3"/>
    <dgm:cxn modelId="{45F5A841-09B2-4626-A505-1A68F3458008}" type="presParOf" srcId="{45A4398D-287A-1149-ADC6-5D406911FE08}" destId="{AB4272DF-8034-A743-9D5F-E9084C5B08F7}" srcOrd="6" destOrd="0" presId="urn:microsoft.com/office/officeart/2005/8/layout/bProcess3"/>
    <dgm:cxn modelId="{DBB7BE6D-69BC-4B92-8B3A-9653F858E163}" type="presParOf" srcId="{45A4398D-287A-1149-ADC6-5D406911FE08}" destId="{A04F792B-E80D-E14E-87DE-07E03857D47A}" srcOrd="7" destOrd="0" presId="urn:microsoft.com/office/officeart/2005/8/layout/bProcess3"/>
    <dgm:cxn modelId="{E94C564D-83C9-4694-913E-A4A617C1EAB5}" type="presParOf" srcId="{A04F792B-E80D-E14E-87DE-07E03857D47A}" destId="{949725D4-B8B2-5640-81EE-48CEE79B3612}" srcOrd="0" destOrd="0" presId="urn:microsoft.com/office/officeart/2005/8/layout/bProcess3"/>
    <dgm:cxn modelId="{2A0E0BA2-582D-4171-85BA-90B928E8EC72}" type="presParOf" srcId="{45A4398D-287A-1149-ADC6-5D406911FE08}" destId="{5E8BAFCA-805F-A243-B20E-41959295A888}" srcOrd="8" destOrd="0" presId="urn:microsoft.com/office/officeart/2005/8/layout/bProcess3"/>
    <dgm:cxn modelId="{A6954998-E8F2-4816-9698-65AEEA9D2326}" type="presParOf" srcId="{45A4398D-287A-1149-ADC6-5D406911FE08}" destId="{498602AA-2786-2047-BDB2-0D3E3E1998A4}" srcOrd="9" destOrd="0" presId="urn:microsoft.com/office/officeart/2005/8/layout/bProcess3"/>
    <dgm:cxn modelId="{56CFB40B-A8BD-49BF-B105-85B5DB5CEE97}" type="presParOf" srcId="{498602AA-2786-2047-BDB2-0D3E3E1998A4}" destId="{44C0B4E1-5AA8-3C41-8FFA-6621CE26EC05}" srcOrd="0" destOrd="0" presId="urn:microsoft.com/office/officeart/2005/8/layout/bProcess3"/>
    <dgm:cxn modelId="{11909679-9450-4AE4-A2ED-27277D7006EC}" type="presParOf" srcId="{45A4398D-287A-1149-ADC6-5D406911FE08}" destId="{760DB03D-3853-F041-BA74-C4959B99679B}" srcOrd="10" destOrd="0" presId="urn:microsoft.com/office/officeart/2005/8/layout/bProcess3"/>
    <dgm:cxn modelId="{DFCE4DE2-B2A1-4DE9-84A5-3EB43A7DC75F}" type="presParOf" srcId="{45A4398D-287A-1149-ADC6-5D406911FE08}" destId="{2181A152-503A-004D-B5EF-54CEBD6B7412}" srcOrd="11" destOrd="0" presId="urn:microsoft.com/office/officeart/2005/8/layout/bProcess3"/>
    <dgm:cxn modelId="{501143D6-E0B7-4C50-8B66-9243AAADACE2}" type="presParOf" srcId="{2181A152-503A-004D-B5EF-54CEBD6B7412}" destId="{45B12507-7E6F-CE42-AA22-D85684A4FD17}" srcOrd="0" destOrd="0" presId="urn:microsoft.com/office/officeart/2005/8/layout/bProcess3"/>
    <dgm:cxn modelId="{6D466C5E-26BE-481C-A352-C7B1A1E1DF2B}" type="presParOf" srcId="{45A4398D-287A-1149-ADC6-5D406911FE08}" destId="{F40B8716-63A0-DB4C-B030-D77E8CF15384}" srcOrd="12"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648E29-19AE-4C89-BC5F-478FF74B967D}"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EF29D969-85E3-41E4-A76E-8CBB2BA00FF7}">
      <dgm:prSet phldrT="[Text]" custT="1"/>
      <dgm:spPr/>
      <dgm:t>
        <a:bodyPr/>
        <a:lstStyle/>
        <a:p>
          <a:r>
            <a:rPr lang="en-US" sz="1600" b="0" dirty="0" smtClean="0"/>
            <a:t>Level 1</a:t>
          </a:r>
        </a:p>
        <a:p>
          <a:r>
            <a:rPr lang="en-US" sz="1600" b="1" dirty="0" smtClean="0"/>
            <a:t>-Limited capabilities and participation in developing, maintaining, and disseminating flood forecasting data/information</a:t>
          </a:r>
        </a:p>
      </dgm:t>
    </dgm:pt>
    <dgm:pt modelId="{49837D2D-C570-424E-A872-4C865A89B172}" type="parTrans" cxnId="{BD12BD6D-3146-450D-A3BF-59B7EF3B55FB}">
      <dgm:prSet/>
      <dgm:spPr/>
      <dgm:t>
        <a:bodyPr/>
        <a:lstStyle/>
        <a:p>
          <a:endParaRPr lang="en-US" sz="1600"/>
        </a:p>
      </dgm:t>
    </dgm:pt>
    <dgm:pt modelId="{75F929CE-0D2C-4010-BF96-2A577F2268C3}" type="sibTrans" cxnId="{BD12BD6D-3146-450D-A3BF-59B7EF3B55FB}">
      <dgm:prSet/>
      <dgm:spPr/>
      <dgm:t>
        <a:bodyPr/>
        <a:lstStyle/>
        <a:p>
          <a:endParaRPr lang="en-US" sz="1600"/>
        </a:p>
      </dgm:t>
    </dgm:pt>
    <dgm:pt modelId="{48B63C81-BA41-4567-9EAB-BAABE27A04E9}">
      <dgm:prSet phldrT="[Text]" custT="1"/>
      <dgm:spPr/>
      <dgm:t>
        <a:bodyPr/>
        <a:lstStyle/>
        <a:p>
          <a:r>
            <a:rPr lang="en-US" sz="1600" b="0" dirty="0" smtClean="0"/>
            <a:t>Level 2</a:t>
          </a:r>
        </a:p>
        <a:p>
          <a:r>
            <a:rPr lang="en-US" sz="1600" b="1" dirty="0" smtClean="0"/>
            <a:t>-Beginning to develop capabilities to allow for participation in operational flood forecasting</a:t>
          </a:r>
        </a:p>
      </dgm:t>
    </dgm:pt>
    <dgm:pt modelId="{8BE7293B-D5E7-4DBA-AF10-1F31CDC169AE}" type="parTrans" cxnId="{EDA99764-6547-4F57-9C26-B968BD1A2C8A}">
      <dgm:prSet/>
      <dgm:spPr/>
      <dgm:t>
        <a:bodyPr/>
        <a:lstStyle/>
        <a:p>
          <a:endParaRPr lang="en-US" sz="1600"/>
        </a:p>
      </dgm:t>
    </dgm:pt>
    <dgm:pt modelId="{A3BAA09B-9C9B-4218-A0DB-D77C3E68776D}" type="sibTrans" cxnId="{EDA99764-6547-4F57-9C26-B968BD1A2C8A}">
      <dgm:prSet/>
      <dgm:spPr/>
      <dgm:t>
        <a:bodyPr/>
        <a:lstStyle/>
        <a:p>
          <a:endParaRPr lang="en-US" sz="1600"/>
        </a:p>
      </dgm:t>
    </dgm:pt>
    <dgm:pt modelId="{A63D8E84-59C8-4562-9CC0-451CC93213D5}">
      <dgm:prSet phldrT="[Text]" custT="1"/>
      <dgm:spPr/>
      <dgm:t>
        <a:bodyPr/>
        <a:lstStyle/>
        <a:p>
          <a:r>
            <a:rPr lang="en-US" sz="1600" b="0" dirty="0" smtClean="0"/>
            <a:t>Level 3</a:t>
          </a:r>
        </a:p>
        <a:p>
          <a:r>
            <a:rPr lang="en-US" sz="1600" b="1" dirty="0" smtClean="0"/>
            <a:t>-On the verge of participating in advanced flood event forecasting and decision making</a:t>
          </a:r>
        </a:p>
      </dgm:t>
    </dgm:pt>
    <dgm:pt modelId="{8187C7D0-FC3C-41E5-8AEB-AE3D095824E2}" type="parTrans" cxnId="{76D4C7E6-FB4B-4D8E-8118-BCC4C8F3913D}">
      <dgm:prSet/>
      <dgm:spPr/>
      <dgm:t>
        <a:bodyPr/>
        <a:lstStyle/>
        <a:p>
          <a:endParaRPr lang="en-US" sz="1600"/>
        </a:p>
      </dgm:t>
    </dgm:pt>
    <dgm:pt modelId="{5B8E5C32-4278-44C5-AF45-8D930C03BC08}" type="sibTrans" cxnId="{76D4C7E6-FB4B-4D8E-8118-BCC4C8F3913D}">
      <dgm:prSet/>
      <dgm:spPr/>
      <dgm:t>
        <a:bodyPr/>
        <a:lstStyle/>
        <a:p>
          <a:endParaRPr lang="en-US" sz="1600"/>
        </a:p>
      </dgm:t>
    </dgm:pt>
    <dgm:pt modelId="{E96EB50A-0EBC-4F72-A5C9-D3941575DF0A}">
      <dgm:prSet custT="1"/>
      <dgm:spPr/>
      <dgm:t>
        <a:bodyPr/>
        <a:lstStyle/>
        <a:p>
          <a:r>
            <a:rPr lang="en-US" sz="1600" dirty="0" smtClean="0"/>
            <a:t>Level 4</a:t>
          </a:r>
        </a:p>
        <a:p>
          <a:r>
            <a:rPr lang="en-US" sz="1600" b="1" dirty="0" smtClean="0"/>
            <a:t>-Fairly advanced predictive weather and flood monitoring in place</a:t>
          </a:r>
          <a:endParaRPr lang="en-US" sz="1600" dirty="0" smtClean="0"/>
        </a:p>
      </dgm:t>
    </dgm:pt>
    <dgm:pt modelId="{C0549755-7AEC-42F8-AF6D-1C5C1C063E89}" type="sibTrans" cxnId="{CE79EADC-5053-47A9-A4D4-4C0BC9FE9B0A}">
      <dgm:prSet/>
      <dgm:spPr/>
      <dgm:t>
        <a:bodyPr/>
        <a:lstStyle/>
        <a:p>
          <a:endParaRPr lang="en-US" sz="1600"/>
        </a:p>
      </dgm:t>
    </dgm:pt>
    <dgm:pt modelId="{1DBD9CF8-17AC-4519-A6F8-D0BCB9FF8F58}" type="parTrans" cxnId="{CE79EADC-5053-47A9-A4D4-4C0BC9FE9B0A}">
      <dgm:prSet/>
      <dgm:spPr/>
      <dgm:t>
        <a:bodyPr/>
        <a:lstStyle/>
        <a:p>
          <a:endParaRPr lang="en-US" sz="1600"/>
        </a:p>
      </dgm:t>
    </dgm:pt>
    <dgm:pt modelId="{D47FBC2F-75CF-4072-A1ED-9E400C171C68}" type="pres">
      <dgm:prSet presAssocID="{12648E29-19AE-4C89-BC5F-478FF74B967D}" presName="rootnode" presStyleCnt="0">
        <dgm:presLayoutVars>
          <dgm:chMax/>
          <dgm:chPref/>
          <dgm:dir/>
          <dgm:animLvl val="lvl"/>
        </dgm:presLayoutVars>
      </dgm:prSet>
      <dgm:spPr/>
      <dgm:t>
        <a:bodyPr/>
        <a:lstStyle/>
        <a:p>
          <a:endParaRPr lang="en-US"/>
        </a:p>
      </dgm:t>
    </dgm:pt>
    <dgm:pt modelId="{10B4ADEC-F991-49A3-9CCE-07128395AF6F}" type="pres">
      <dgm:prSet presAssocID="{EF29D969-85E3-41E4-A76E-8CBB2BA00FF7}" presName="composite" presStyleCnt="0"/>
      <dgm:spPr/>
    </dgm:pt>
    <dgm:pt modelId="{2E62F765-A169-44E0-8AAE-60B50B8F0486}" type="pres">
      <dgm:prSet presAssocID="{EF29D969-85E3-41E4-A76E-8CBB2BA00FF7}" presName="LShape" presStyleLbl="alignNode1" presStyleIdx="0" presStyleCnt="7"/>
      <dgm:spPr/>
    </dgm:pt>
    <dgm:pt modelId="{1B90981B-A12A-426D-AFF9-CB39F6A42189}" type="pres">
      <dgm:prSet presAssocID="{EF29D969-85E3-41E4-A76E-8CBB2BA00FF7}" presName="ParentText" presStyleLbl="revTx" presStyleIdx="0" presStyleCnt="4">
        <dgm:presLayoutVars>
          <dgm:chMax val="0"/>
          <dgm:chPref val="0"/>
          <dgm:bulletEnabled val="1"/>
        </dgm:presLayoutVars>
      </dgm:prSet>
      <dgm:spPr/>
      <dgm:t>
        <a:bodyPr/>
        <a:lstStyle/>
        <a:p>
          <a:endParaRPr lang="en-US"/>
        </a:p>
      </dgm:t>
    </dgm:pt>
    <dgm:pt modelId="{FF88B363-F5EB-4316-8A49-FC5F7D91C87E}" type="pres">
      <dgm:prSet presAssocID="{EF29D969-85E3-41E4-A76E-8CBB2BA00FF7}" presName="Triangle" presStyleLbl="alignNode1" presStyleIdx="1" presStyleCnt="7"/>
      <dgm:spPr/>
    </dgm:pt>
    <dgm:pt modelId="{733315B7-4D55-41D0-B10F-1F81B89CFBAF}" type="pres">
      <dgm:prSet presAssocID="{75F929CE-0D2C-4010-BF96-2A577F2268C3}" presName="sibTrans" presStyleCnt="0"/>
      <dgm:spPr/>
    </dgm:pt>
    <dgm:pt modelId="{8AC2F362-95B1-43F2-B544-C7DE75AD472B}" type="pres">
      <dgm:prSet presAssocID="{75F929CE-0D2C-4010-BF96-2A577F2268C3}" presName="space" presStyleCnt="0"/>
      <dgm:spPr/>
    </dgm:pt>
    <dgm:pt modelId="{7DFC64D6-1549-49F1-A87E-159257711F6A}" type="pres">
      <dgm:prSet presAssocID="{48B63C81-BA41-4567-9EAB-BAABE27A04E9}" presName="composite" presStyleCnt="0"/>
      <dgm:spPr/>
    </dgm:pt>
    <dgm:pt modelId="{AAF940FF-8E94-424A-ACC4-52C8809E7316}" type="pres">
      <dgm:prSet presAssocID="{48B63C81-BA41-4567-9EAB-BAABE27A04E9}" presName="LShape" presStyleLbl="alignNode1" presStyleIdx="2" presStyleCnt="7"/>
      <dgm:spPr/>
    </dgm:pt>
    <dgm:pt modelId="{2A5B905C-DFAD-43B9-99BF-6050460D9063}" type="pres">
      <dgm:prSet presAssocID="{48B63C81-BA41-4567-9EAB-BAABE27A04E9}" presName="ParentText" presStyleLbl="revTx" presStyleIdx="1" presStyleCnt="4" custScaleX="103132" custLinFactNeighborX="-295" custLinFactNeighborY="1650">
        <dgm:presLayoutVars>
          <dgm:chMax val="0"/>
          <dgm:chPref val="0"/>
          <dgm:bulletEnabled val="1"/>
        </dgm:presLayoutVars>
      </dgm:prSet>
      <dgm:spPr/>
      <dgm:t>
        <a:bodyPr/>
        <a:lstStyle/>
        <a:p>
          <a:endParaRPr lang="en-US"/>
        </a:p>
      </dgm:t>
    </dgm:pt>
    <dgm:pt modelId="{4373F177-BEB1-4C79-8698-97EC5C7CCC13}" type="pres">
      <dgm:prSet presAssocID="{48B63C81-BA41-4567-9EAB-BAABE27A04E9}" presName="Triangle" presStyleLbl="alignNode1" presStyleIdx="3" presStyleCnt="7"/>
      <dgm:spPr/>
    </dgm:pt>
    <dgm:pt modelId="{77A8001A-8DAF-4917-A1F4-A0A7B10D70D5}" type="pres">
      <dgm:prSet presAssocID="{A3BAA09B-9C9B-4218-A0DB-D77C3E68776D}" presName="sibTrans" presStyleCnt="0"/>
      <dgm:spPr/>
    </dgm:pt>
    <dgm:pt modelId="{C3F00164-EF93-4298-8F1B-A7824D23CEA2}" type="pres">
      <dgm:prSet presAssocID="{A3BAA09B-9C9B-4218-A0DB-D77C3E68776D}" presName="space" presStyleCnt="0"/>
      <dgm:spPr/>
    </dgm:pt>
    <dgm:pt modelId="{05C545B6-DABE-4921-BB8A-E989D760A793}" type="pres">
      <dgm:prSet presAssocID="{A63D8E84-59C8-4562-9CC0-451CC93213D5}" presName="composite" presStyleCnt="0"/>
      <dgm:spPr/>
    </dgm:pt>
    <dgm:pt modelId="{E757C0AE-EA4C-4947-A02B-6AFBD2BBCB68}" type="pres">
      <dgm:prSet presAssocID="{A63D8E84-59C8-4562-9CC0-451CC93213D5}" presName="LShape" presStyleLbl="alignNode1" presStyleIdx="4" presStyleCnt="7"/>
      <dgm:spPr/>
    </dgm:pt>
    <dgm:pt modelId="{7B93C302-A85D-4373-86D4-34772289446F}" type="pres">
      <dgm:prSet presAssocID="{A63D8E84-59C8-4562-9CC0-451CC93213D5}" presName="ParentText" presStyleLbl="revTx" presStyleIdx="2" presStyleCnt="4" custScaleX="113477" custLinFactNeighborX="7862" custLinFactNeighborY="1093">
        <dgm:presLayoutVars>
          <dgm:chMax val="0"/>
          <dgm:chPref val="0"/>
          <dgm:bulletEnabled val="1"/>
        </dgm:presLayoutVars>
      </dgm:prSet>
      <dgm:spPr/>
      <dgm:t>
        <a:bodyPr/>
        <a:lstStyle/>
        <a:p>
          <a:endParaRPr lang="en-US"/>
        </a:p>
      </dgm:t>
    </dgm:pt>
    <dgm:pt modelId="{57C38C9D-774D-40CC-A835-0AF0FA1CF4E6}" type="pres">
      <dgm:prSet presAssocID="{A63D8E84-59C8-4562-9CC0-451CC93213D5}" presName="Triangle" presStyleLbl="alignNode1" presStyleIdx="5" presStyleCnt="7"/>
      <dgm:spPr/>
    </dgm:pt>
    <dgm:pt modelId="{CCCD52B1-C0EC-4D69-9C2E-ED494B986FEA}" type="pres">
      <dgm:prSet presAssocID="{5B8E5C32-4278-44C5-AF45-8D930C03BC08}" presName="sibTrans" presStyleCnt="0"/>
      <dgm:spPr/>
    </dgm:pt>
    <dgm:pt modelId="{B7A85018-CAB8-447A-B268-2EE97BAFB3F0}" type="pres">
      <dgm:prSet presAssocID="{5B8E5C32-4278-44C5-AF45-8D930C03BC08}" presName="space" presStyleCnt="0"/>
      <dgm:spPr/>
    </dgm:pt>
    <dgm:pt modelId="{CF08685B-9BAE-4905-BED7-11A576380B06}" type="pres">
      <dgm:prSet presAssocID="{E96EB50A-0EBC-4F72-A5C9-D3941575DF0A}" presName="composite" presStyleCnt="0"/>
      <dgm:spPr/>
    </dgm:pt>
    <dgm:pt modelId="{D56228B2-ABF3-461F-9C06-ED4D1C36D74B}" type="pres">
      <dgm:prSet presAssocID="{E96EB50A-0EBC-4F72-A5C9-D3941575DF0A}" presName="LShape" presStyleLbl="alignNode1" presStyleIdx="6" presStyleCnt="7"/>
      <dgm:spPr/>
    </dgm:pt>
    <dgm:pt modelId="{CA799994-DF07-42FF-B62D-55429573898F}" type="pres">
      <dgm:prSet presAssocID="{E96EB50A-0EBC-4F72-A5C9-D3941575DF0A}" presName="ParentText" presStyleLbl="revTx" presStyleIdx="3" presStyleCnt="4">
        <dgm:presLayoutVars>
          <dgm:chMax val="0"/>
          <dgm:chPref val="0"/>
          <dgm:bulletEnabled val="1"/>
        </dgm:presLayoutVars>
      </dgm:prSet>
      <dgm:spPr/>
      <dgm:t>
        <a:bodyPr/>
        <a:lstStyle/>
        <a:p>
          <a:endParaRPr lang="en-US"/>
        </a:p>
      </dgm:t>
    </dgm:pt>
  </dgm:ptLst>
  <dgm:cxnLst>
    <dgm:cxn modelId="{CE79EADC-5053-47A9-A4D4-4C0BC9FE9B0A}" srcId="{12648E29-19AE-4C89-BC5F-478FF74B967D}" destId="{E96EB50A-0EBC-4F72-A5C9-D3941575DF0A}" srcOrd="3" destOrd="0" parTransId="{1DBD9CF8-17AC-4519-A6F8-D0BCB9FF8F58}" sibTransId="{C0549755-7AEC-42F8-AF6D-1C5C1C063E89}"/>
    <dgm:cxn modelId="{0A977948-D3A9-42F2-8E23-BE791DEA8240}" type="presOf" srcId="{48B63C81-BA41-4567-9EAB-BAABE27A04E9}" destId="{2A5B905C-DFAD-43B9-99BF-6050460D9063}" srcOrd="0" destOrd="0" presId="urn:microsoft.com/office/officeart/2009/3/layout/StepUpProcess"/>
    <dgm:cxn modelId="{BD12BD6D-3146-450D-A3BF-59B7EF3B55FB}" srcId="{12648E29-19AE-4C89-BC5F-478FF74B967D}" destId="{EF29D969-85E3-41E4-A76E-8CBB2BA00FF7}" srcOrd="0" destOrd="0" parTransId="{49837D2D-C570-424E-A872-4C865A89B172}" sibTransId="{75F929CE-0D2C-4010-BF96-2A577F2268C3}"/>
    <dgm:cxn modelId="{7017DB5C-575F-4108-87A8-AE2223DDF4B8}" type="presOf" srcId="{EF29D969-85E3-41E4-A76E-8CBB2BA00FF7}" destId="{1B90981B-A12A-426D-AFF9-CB39F6A42189}" srcOrd="0" destOrd="0" presId="urn:microsoft.com/office/officeart/2009/3/layout/StepUpProcess"/>
    <dgm:cxn modelId="{963567EB-813A-48FD-893C-5E7CE20B9964}" type="presOf" srcId="{12648E29-19AE-4C89-BC5F-478FF74B967D}" destId="{D47FBC2F-75CF-4072-A1ED-9E400C171C68}" srcOrd="0" destOrd="0" presId="urn:microsoft.com/office/officeart/2009/3/layout/StepUpProcess"/>
    <dgm:cxn modelId="{466B177C-8106-4FDD-8148-63FFA79BDC15}" type="presOf" srcId="{E96EB50A-0EBC-4F72-A5C9-D3941575DF0A}" destId="{CA799994-DF07-42FF-B62D-55429573898F}" srcOrd="0" destOrd="0" presId="urn:microsoft.com/office/officeart/2009/3/layout/StepUpProcess"/>
    <dgm:cxn modelId="{76D4C7E6-FB4B-4D8E-8118-BCC4C8F3913D}" srcId="{12648E29-19AE-4C89-BC5F-478FF74B967D}" destId="{A63D8E84-59C8-4562-9CC0-451CC93213D5}" srcOrd="2" destOrd="0" parTransId="{8187C7D0-FC3C-41E5-8AEB-AE3D095824E2}" sibTransId="{5B8E5C32-4278-44C5-AF45-8D930C03BC08}"/>
    <dgm:cxn modelId="{EDA99764-6547-4F57-9C26-B968BD1A2C8A}" srcId="{12648E29-19AE-4C89-BC5F-478FF74B967D}" destId="{48B63C81-BA41-4567-9EAB-BAABE27A04E9}" srcOrd="1" destOrd="0" parTransId="{8BE7293B-D5E7-4DBA-AF10-1F31CDC169AE}" sibTransId="{A3BAA09B-9C9B-4218-A0DB-D77C3E68776D}"/>
    <dgm:cxn modelId="{B5586302-849D-448E-922D-00606E9E2056}" type="presOf" srcId="{A63D8E84-59C8-4562-9CC0-451CC93213D5}" destId="{7B93C302-A85D-4373-86D4-34772289446F}" srcOrd="0" destOrd="0" presId="urn:microsoft.com/office/officeart/2009/3/layout/StepUpProcess"/>
    <dgm:cxn modelId="{3EEB0E08-632D-4D66-8FA6-B41114E6B7D1}" type="presParOf" srcId="{D47FBC2F-75CF-4072-A1ED-9E400C171C68}" destId="{10B4ADEC-F991-49A3-9CCE-07128395AF6F}" srcOrd="0" destOrd="0" presId="urn:microsoft.com/office/officeart/2009/3/layout/StepUpProcess"/>
    <dgm:cxn modelId="{993677C8-BDFA-4D99-AC4F-9DAD80C64B3A}" type="presParOf" srcId="{10B4ADEC-F991-49A3-9CCE-07128395AF6F}" destId="{2E62F765-A169-44E0-8AAE-60B50B8F0486}" srcOrd="0" destOrd="0" presId="urn:microsoft.com/office/officeart/2009/3/layout/StepUpProcess"/>
    <dgm:cxn modelId="{4C61137F-5057-4F22-808D-A5EF61A8F1B1}" type="presParOf" srcId="{10B4ADEC-F991-49A3-9CCE-07128395AF6F}" destId="{1B90981B-A12A-426D-AFF9-CB39F6A42189}" srcOrd="1" destOrd="0" presId="urn:microsoft.com/office/officeart/2009/3/layout/StepUpProcess"/>
    <dgm:cxn modelId="{6DD0DCBF-12AF-4823-9D0E-55E7A217AED9}" type="presParOf" srcId="{10B4ADEC-F991-49A3-9CCE-07128395AF6F}" destId="{FF88B363-F5EB-4316-8A49-FC5F7D91C87E}" srcOrd="2" destOrd="0" presId="urn:microsoft.com/office/officeart/2009/3/layout/StepUpProcess"/>
    <dgm:cxn modelId="{4D884999-2A64-4147-9AF1-1597FFC2BF95}" type="presParOf" srcId="{D47FBC2F-75CF-4072-A1ED-9E400C171C68}" destId="{733315B7-4D55-41D0-B10F-1F81B89CFBAF}" srcOrd="1" destOrd="0" presId="urn:microsoft.com/office/officeart/2009/3/layout/StepUpProcess"/>
    <dgm:cxn modelId="{7C7F54E8-A4DB-49A7-B8A4-89FDE5AE21BC}" type="presParOf" srcId="{733315B7-4D55-41D0-B10F-1F81B89CFBAF}" destId="{8AC2F362-95B1-43F2-B544-C7DE75AD472B}" srcOrd="0" destOrd="0" presId="urn:microsoft.com/office/officeart/2009/3/layout/StepUpProcess"/>
    <dgm:cxn modelId="{7C2DD421-17F3-496D-86E2-925E22769E9F}" type="presParOf" srcId="{D47FBC2F-75CF-4072-A1ED-9E400C171C68}" destId="{7DFC64D6-1549-49F1-A87E-159257711F6A}" srcOrd="2" destOrd="0" presId="urn:microsoft.com/office/officeart/2009/3/layout/StepUpProcess"/>
    <dgm:cxn modelId="{436A9C54-68D0-4CEC-AD6F-D805BAC8168C}" type="presParOf" srcId="{7DFC64D6-1549-49F1-A87E-159257711F6A}" destId="{AAF940FF-8E94-424A-ACC4-52C8809E7316}" srcOrd="0" destOrd="0" presId="urn:microsoft.com/office/officeart/2009/3/layout/StepUpProcess"/>
    <dgm:cxn modelId="{6702DCCF-5ADD-4DE6-90EB-40BC5FF80867}" type="presParOf" srcId="{7DFC64D6-1549-49F1-A87E-159257711F6A}" destId="{2A5B905C-DFAD-43B9-99BF-6050460D9063}" srcOrd="1" destOrd="0" presId="urn:microsoft.com/office/officeart/2009/3/layout/StepUpProcess"/>
    <dgm:cxn modelId="{1E216A54-AFCC-49E1-A02B-D64258AF3977}" type="presParOf" srcId="{7DFC64D6-1549-49F1-A87E-159257711F6A}" destId="{4373F177-BEB1-4C79-8698-97EC5C7CCC13}" srcOrd="2" destOrd="0" presId="urn:microsoft.com/office/officeart/2009/3/layout/StepUpProcess"/>
    <dgm:cxn modelId="{52D7E662-F8F7-42E6-AC77-DD033152C58E}" type="presParOf" srcId="{D47FBC2F-75CF-4072-A1ED-9E400C171C68}" destId="{77A8001A-8DAF-4917-A1F4-A0A7B10D70D5}" srcOrd="3" destOrd="0" presId="urn:microsoft.com/office/officeart/2009/3/layout/StepUpProcess"/>
    <dgm:cxn modelId="{3804D505-9BA5-4882-822A-98E8223F9D52}" type="presParOf" srcId="{77A8001A-8DAF-4917-A1F4-A0A7B10D70D5}" destId="{C3F00164-EF93-4298-8F1B-A7824D23CEA2}" srcOrd="0" destOrd="0" presId="urn:microsoft.com/office/officeart/2009/3/layout/StepUpProcess"/>
    <dgm:cxn modelId="{ECC62CB5-2C63-4281-BF85-3BFDA36D3A95}" type="presParOf" srcId="{D47FBC2F-75CF-4072-A1ED-9E400C171C68}" destId="{05C545B6-DABE-4921-BB8A-E989D760A793}" srcOrd="4" destOrd="0" presId="urn:microsoft.com/office/officeart/2009/3/layout/StepUpProcess"/>
    <dgm:cxn modelId="{75E6985D-47B7-4F93-8DAE-FC55B4EB90AB}" type="presParOf" srcId="{05C545B6-DABE-4921-BB8A-E989D760A793}" destId="{E757C0AE-EA4C-4947-A02B-6AFBD2BBCB68}" srcOrd="0" destOrd="0" presId="urn:microsoft.com/office/officeart/2009/3/layout/StepUpProcess"/>
    <dgm:cxn modelId="{F32F1557-247E-475A-A234-F794178BA05A}" type="presParOf" srcId="{05C545B6-DABE-4921-BB8A-E989D760A793}" destId="{7B93C302-A85D-4373-86D4-34772289446F}" srcOrd="1" destOrd="0" presId="urn:microsoft.com/office/officeart/2009/3/layout/StepUpProcess"/>
    <dgm:cxn modelId="{C2E758C3-D61E-4156-8EF2-377E8CB33C56}" type="presParOf" srcId="{05C545B6-DABE-4921-BB8A-E989D760A793}" destId="{57C38C9D-774D-40CC-A835-0AF0FA1CF4E6}" srcOrd="2" destOrd="0" presId="urn:microsoft.com/office/officeart/2009/3/layout/StepUpProcess"/>
    <dgm:cxn modelId="{8E12DC07-EB3B-43C3-B621-E8C9AB9CDDF6}" type="presParOf" srcId="{D47FBC2F-75CF-4072-A1ED-9E400C171C68}" destId="{CCCD52B1-C0EC-4D69-9C2E-ED494B986FEA}" srcOrd="5" destOrd="0" presId="urn:microsoft.com/office/officeart/2009/3/layout/StepUpProcess"/>
    <dgm:cxn modelId="{CC5F100A-37A1-40CD-B036-56AE348C3587}" type="presParOf" srcId="{CCCD52B1-C0EC-4D69-9C2E-ED494B986FEA}" destId="{B7A85018-CAB8-447A-B268-2EE97BAFB3F0}" srcOrd="0" destOrd="0" presId="urn:microsoft.com/office/officeart/2009/3/layout/StepUpProcess"/>
    <dgm:cxn modelId="{BE0E33AF-D40A-4222-B1B3-552945E756BC}" type="presParOf" srcId="{D47FBC2F-75CF-4072-A1ED-9E400C171C68}" destId="{CF08685B-9BAE-4905-BED7-11A576380B06}" srcOrd="6" destOrd="0" presId="urn:microsoft.com/office/officeart/2009/3/layout/StepUpProcess"/>
    <dgm:cxn modelId="{ABA46A54-9CDA-42C4-BC35-B88AC2E06D45}" type="presParOf" srcId="{CF08685B-9BAE-4905-BED7-11A576380B06}" destId="{D56228B2-ABF3-461F-9C06-ED4D1C36D74B}" srcOrd="0" destOrd="0" presId="urn:microsoft.com/office/officeart/2009/3/layout/StepUpProcess"/>
    <dgm:cxn modelId="{27A4CC23-DD76-46ED-BC5B-0B8C1C6845F6}" type="presParOf" srcId="{CF08685B-9BAE-4905-BED7-11A576380B06}" destId="{CA799994-DF07-42FF-B62D-55429573898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45D888-4CDF-4C2B-80AC-45063BB09A54}" type="doc">
      <dgm:prSet loTypeId="urn:microsoft.com/office/officeart/2005/8/layout/radial1" loCatId="cycle" qsTypeId="urn:microsoft.com/office/officeart/2005/8/quickstyle/simple5" qsCatId="simple" csTypeId="urn:microsoft.com/office/officeart/2005/8/colors/colorful5" csCatId="colorful" phldr="1"/>
      <dgm:spPr/>
      <dgm:t>
        <a:bodyPr/>
        <a:lstStyle/>
        <a:p>
          <a:endParaRPr lang="en-US"/>
        </a:p>
      </dgm:t>
    </dgm:pt>
    <dgm:pt modelId="{B78D1486-AE91-4E66-B368-00CCA92A41EB}">
      <dgm:prSet phldrT="[Text]" custT="1"/>
      <dgm:spPr/>
      <dgm:t>
        <a:bodyPr/>
        <a:lstStyle/>
        <a:p>
          <a:r>
            <a:rPr lang="en-US" sz="1800" dirty="0" smtClean="0"/>
            <a:t>Job Roles</a:t>
          </a:r>
          <a:endParaRPr lang="en-US" sz="1800" dirty="0"/>
        </a:p>
      </dgm:t>
    </dgm:pt>
    <dgm:pt modelId="{46AD8EEE-051D-445D-834F-2603DDBDA0A4}" type="parTrans" cxnId="{5BAC9097-CB3B-452F-B672-47E248EBA9DF}">
      <dgm:prSet/>
      <dgm:spPr/>
      <dgm:t>
        <a:bodyPr/>
        <a:lstStyle/>
        <a:p>
          <a:endParaRPr lang="en-US" sz="1200"/>
        </a:p>
      </dgm:t>
    </dgm:pt>
    <dgm:pt modelId="{7ED58E6D-92BD-42E8-A972-7727B77F81D3}" type="sibTrans" cxnId="{5BAC9097-CB3B-452F-B672-47E248EBA9DF}">
      <dgm:prSet/>
      <dgm:spPr/>
      <dgm:t>
        <a:bodyPr/>
        <a:lstStyle/>
        <a:p>
          <a:endParaRPr lang="en-US" sz="1200"/>
        </a:p>
      </dgm:t>
    </dgm:pt>
    <dgm:pt modelId="{8F5E2F4D-21D3-4CCF-883D-29FF8D219566}">
      <dgm:prSet phldrT="[Text]" custT="1"/>
      <dgm:spPr/>
      <dgm:t>
        <a:bodyPr/>
        <a:lstStyle/>
        <a:p>
          <a:r>
            <a:rPr lang="en-US" sz="1200" dirty="0" smtClean="0"/>
            <a:t>Sustainability</a:t>
          </a:r>
          <a:endParaRPr lang="en-US" sz="1200" dirty="0"/>
        </a:p>
      </dgm:t>
    </dgm:pt>
    <dgm:pt modelId="{65D8F87B-FD0D-4E32-A158-DDFA6F75BABA}" type="parTrans" cxnId="{DD781838-E658-4E3D-B5EC-6462E8D7D204}">
      <dgm:prSet custT="1"/>
      <dgm:spPr/>
      <dgm:t>
        <a:bodyPr/>
        <a:lstStyle/>
        <a:p>
          <a:endParaRPr lang="en-US" sz="1200"/>
        </a:p>
      </dgm:t>
    </dgm:pt>
    <dgm:pt modelId="{ABE67E78-4980-4D46-B9C0-2BA83755465E}" type="sibTrans" cxnId="{DD781838-E658-4E3D-B5EC-6462E8D7D204}">
      <dgm:prSet/>
      <dgm:spPr/>
      <dgm:t>
        <a:bodyPr/>
        <a:lstStyle/>
        <a:p>
          <a:endParaRPr lang="en-US" sz="1200"/>
        </a:p>
      </dgm:t>
    </dgm:pt>
    <dgm:pt modelId="{4B86BD5D-D834-41D2-94B5-A10BEB700C4A}">
      <dgm:prSet phldrT="[Text]" custT="1"/>
      <dgm:spPr/>
      <dgm:t>
        <a:bodyPr/>
        <a:lstStyle/>
        <a:p>
          <a:r>
            <a:rPr lang="en-US" sz="1200" dirty="0" smtClean="0"/>
            <a:t>Drainage</a:t>
          </a:r>
          <a:endParaRPr lang="en-US" sz="1200" dirty="0"/>
        </a:p>
      </dgm:t>
    </dgm:pt>
    <dgm:pt modelId="{D9513D86-77A6-4956-9CF7-2A1E3E6462E9}" type="parTrans" cxnId="{EA97561D-1136-4F6D-8E52-405532617D36}">
      <dgm:prSet custT="1"/>
      <dgm:spPr/>
      <dgm:t>
        <a:bodyPr/>
        <a:lstStyle/>
        <a:p>
          <a:endParaRPr lang="en-US" sz="1200"/>
        </a:p>
      </dgm:t>
    </dgm:pt>
    <dgm:pt modelId="{912D845A-8B32-47ED-B300-59FE0870E58D}" type="sibTrans" cxnId="{EA97561D-1136-4F6D-8E52-405532617D36}">
      <dgm:prSet/>
      <dgm:spPr/>
      <dgm:t>
        <a:bodyPr/>
        <a:lstStyle/>
        <a:p>
          <a:endParaRPr lang="en-US" sz="1200"/>
        </a:p>
      </dgm:t>
    </dgm:pt>
    <dgm:pt modelId="{441D007C-B25F-4BF3-B89C-1B1C8EDA860E}">
      <dgm:prSet phldrT="[Text]" custT="1"/>
      <dgm:spPr/>
      <dgm:t>
        <a:bodyPr/>
        <a:lstStyle/>
        <a:p>
          <a:r>
            <a:rPr lang="en-US" sz="1200" dirty="0" smtClean="0"/>
            <a:t>Emergency Management &amp; Operations</a:t>
          </a:r>
          <a:endParaRPr lang="en-US" sz="1200" dirty="0"/>
        </a:p>
      </dgm:t>
    </dgm:pt>
    <dgm:pt modelId="{E728768E-1C60-4B5D-A190-E32A2284F27D}" type="parTrans" cxnId="{1F64252A-AE18-425A-AA7E-AE04012F7D87}">
      <dgm:prSet custT="1"/>
      <dgm:spPr/>
      <dgm:t>
        <a:bodyPr/>
        <a:lstStyle/>
        <a:p>
          <a:endParaRPr lang="en-US" sz="1200"/>
        </a:p>
      </dgm:t>
    </dgm:pt>
    <dgm:pt modelId="{0B0981E8-08FC-4C9B-85B0-191791905DFB}" type="sibTrans" cxnId="{1F64252A-AE18-425A-AA7E-AE04012F7D87}">
      <dgm:prSet/>
      <dgm:spPr/>
      <dgm:t>
        <a:bodyPr/>
        <a:lstStyle/>
        <a:p>
          <a:endParaRPr lang="en-US" sz="1200"/>
        </a:p>
      </dgm:t>
    </dgm:pt>
    <dgm:pt modelId="{D3ABA101-A7B2-4D4D-9CC2-8DADE3A8F6EC}">
      <dgm:prSet phldrT="[Text]" custT="1"/>
      <dgm:spPr/>
      <dgm:t>
        <a:bodyPr/>
        <a:lstStyle/>
        <a:p>
          <a:r>
            <a:rPr lang="en-US" sz="1200" dirty="0" smtClean="0"/>
            <a:t>Traffic Management</a:t>
          </a:r>
          <a:endParaRPr lang="en-US" sz="1200" dirty="0"/>
        </a:p>
      </dgm:t>
    </dgm:pt>
    <dgm:pt modelId="{A288A6EE-4BE3-43E6-85AB-EA27FDDAD425}" type="parTrans" cxnId="{1CB5E3D8-F072-4DD1-8A72-F903F1355BF0}">
      <dgm:prSet custT="1"/>
      <dgm:spPr/>
      <dgm:t>
        <a:bodyPr/>
        <a:lstStyle/>
        <a:p>
          <a:endParaRPr lang="en-US" sz="1200"/>
        </a:p>
      </dgm:t>
    </dgm:pt>
    <dgm:pt modelId="{54E8C90E-9B76-4E00-AA71-7083E585836E}" type="sibTrans" cxnId="{1CB5E3D8-F072-4DD1-8A72-F903F1355BF0}">
      <dgm:prSet/>
      <dgm:spPr/>
      <dgm:t>
        <a:bodyPr/>
        <a:lstStyle/>
        <a:p>
          <a:endParaRPr lang="en-US" sz="1200"/>
        </a:p>
      </dgm:t>
    </dgm:pt>
    <dgm:pt modelId="{68A81FA4-BB4D-4468-B374-08173256FB33}">
      <dgm:prSet custT="1"/>
      <dgm:spPr/>
      <dgm:t>
        <a:bodyPr/>
        <a:lstStyle/>
        <a:p>
          <a:r>
            <a:rPr lang="en-US" sz="1200" dirty="0" smtClean="0"/>
            <a:t>Maintenance &amp; Operations </a:t>
          </a:r>
          <a:endParaRPr lang="en-US" sz="1200" dirty="0"/>
        </a:p>
      </dgm:t>
    </dgm:pt>
    <dgm:pt modelId="{F7C033F6-80B7-4728-8E6B-70E25CEC805A}" type="parTrans" cxnId="{0CED271C-EEF7-42CB-92B2-2EC9314AA718}">
      <dgm:prSet custT="1"/>
      <dgm:spPr/>
      <dgm:t>
        <a:bodyPr/>
        <a:lstStyle/>
        <a:p>
          <a:endParaRPr lang="en-US" sz="1200"/>
        </a:p>
      </dgm:t>
    </dgm:pt>
    <dgm:pt modelId="{24BE0312-57A1-4B80-A2EF-5ED99CBF3A11}" type="sibTrans" cxnId="{0CED271C-EEF7-42CB-92B2-2EC9314AA718}">
      <dgm:prSet/>
      <dgm:spPr/>
      <dgm:t>
        <a:bodyPr/>
        <a:lstStyle/>
        <a:p>
          <a:endParaRPr lang="en-US" sz="1200"/>
        </a:p>
      </dgm:t>
    </dgm:pt>
    <dgm:pt modelId="{B861729D-985C-4C7C-AE35-EAFA1D84FDCC}">
      <dgm:prSet custT="1"/>
      <dgm:spPr/>
      <dgm:t>
        <a:bodyPr/>
        <a:lstStyle/>
        <a:p>
          <a:r>
            <a:rPr lang="en-US" sz="1200" dirty="0" smtClean="0"/>
            <a:t>Hydraulic Engineering</a:t>
          </a:r>
          <a:endParaRPr lang="en-US" sz="1200" dirty="0"/>
        </a:p>
      </dgm:t>
    </dgm:pt>
    <dgm:pt modelId="{F962A664-0DCF-40FE-BECC-776714911E22}" type="parTrans" cxnId="{218B0281-E136-440A-A6BC-8C74A7DC3321}">
      <dgm:prSet custT="1"/>
      <dgm:spPr/>
      <dgm:t>
        <a:bodyPr/>
        <a:lstStyle/>
        <a:p>
          <a:endParaRPr lang="en-US" sz="1200"/>
        </a:p>
      </dgm:t>
    </dgm:pt>
    <dgm:pt modelId="{D299A985-9CBD-4C75-B950-95B7D4DBDD3E}" type="sibTrans" cxnId="{218B0281-E136-440A-A6BC-8C74A7DC3321}">
      <dgm:prSet/>
      <dgm:spPr/>
      <dgm:t>
        <a:bodyPr/>
        <a:lstStyle/>
        <a:p>
          <a:endParaRPr lang="en-US" sz="1200"/>
        </a:p>
      </dgm:t>
    </dgm:pt>
    <dgm:pt modelId="{C09E846B-F971-4A43-A842-DED48286E128}">
      <dgm:prSet custT="1"/>
      <dgm:spPr/>
      <dgm:t>
        <a:bodyPr/>
        <a:lstStyle/>
        <a:p>
          <a:r>
            <a:rPr lang="en-US" sz="1200" dirty="0" smtClean="0"/>
            <a:t>Geospatial Services</a:t>
          </a:r>
          <a:endParaRPr lang="en-US" sz="1200" dirty="0"/>
        </a:p>
      </dgm:t>
    </dgm:pt>
    <dgm:pt modelId="{75831A4F-4639-4381-A304-D482240FFB01}" type="parTrans" cxnId="{DEE68674-A752-4419-B0F5-6BEF7AEF4EA4}">
      <dgm:prSet custT="1"/>
      <dgm:spPr/>
      <dgm:t>
        <a:bodyPr/>
        <a:lstStyle/>
        <a:p>
          <a:endParaRPr lang="en-US" sz="1200"/>
        </a:p>
      </dgm:t>
    </dgm:pt>
    <dgm:pt modelId="{9D483E85-4534-467F-85EA-01FB3495A092}" type="sibTrans" cxnId="{DEE68674-A752-4419-B0F5-6BEF7AEF4EA4}">
      <dgm:prSet/>
      <dgm:spPr/>
      <dgm:t>
        <a:bodyPr/>
        <a:lstStyle/>
        <a:p>
          <a:endParaRPr lang="en-US" sz="1200"/>
        </a:p>
      </dgm:t>
    </dgm:pt>
    <dgm:pt modelId="{52BC55E3-D60B-4C48-BB78-5790404B8180}" type="pres">
      <dgm:prSet presAssocID="{D745D888-4CDF-4C2B-80AC-45063BB09A54}" presName="cycle" presStyleCnt="0">
        <dgm:presLayoutVars>
          <dgm:chMax val="1"/>
          <dgm:dir/>
          <dgm:animLvl val="ctr"/>
          <dgm:resizeHandles val="exact"/>
        </dgm:presLayoutVars>
      </dgm:prSet>
      <dgm:spPr/>
      <dgm:t>
        <a:bodyPr/>
        <a:lstStyle/>
        <a:p>
          <a:endParaRPr lang="en-US"/>
        </a:p>
      </dgm:t>
    </dgm:pt>
    <dgm:pt modelId="{7F4EE0CD-842C-46E4-A73D-DA694BDF0DBA}" type="pres">
      <dgm:prSet presAssocID="{B78D1486-AE91-4E66-B368-00CCA92A41EB}" presName="centerShape" presStyleLbl="node0" presStyleIdx="0" presStyleCnt="1"/>
      <dgm:spPr/>
      <dgm:t>
        <a:bodyPr/>
        <a:lstStyle/>
        <a:p>
          <a:endParaRPr lang="en-US"/>
        </a:p>
      </dgm:t>
    </dgm:pt>
    <dgm:pt modelId="{0F22DCAE-445A-4307-B6E1-4A6565AFEE75}" type="pres">
      <dgm:prSet presAssocID="{65D8F87B-FD0D-4E32-A158-DDFA6F75BABA}" presName="Name9" presStyleLbl="parChTrans1D2" presStyleIdx="0" presStyleCnt="7"/>
      <dgm:spPr/>
      <dgm:t>
        <a:bodyPr/>
        <a:lstStyle/>
        <a:p>
          <a:endParaRPr lang="en-US"/>
        </a:p>
      </dgm:t>
    </dgm:pt>
    <dgm:pt modelId="{59394A72-AADF-4B41-B419-9FF9118377F3}" type="pres">
      <dgm:prSet presAssocID="{65D8F87B-FD0D-4E32-A158-DDFA6F75BABA}" presName="connTx" presStyleLbl="parChTrans1D2" presStyleIdx="0" presStyleCnt="7"/>
      <dgm:spPr/>
      <dgm:t>
        <a:bodyPr/>
        <a:lstStyle/>
        <a:p>
          <a:endParaRPr lang="en-US"/>
        </a:p>
      </dgm:t>
    </dgm:pt>
    <dgm:pt modelId="{0B2662D3-9D59-439B-8D4B-AE4CBC4D3FA2}" type="pres">
      <dgm:prSet presAssocID="{8F5E2F4D-21D3-4CCF-883D-29FF8D219566}" presName="node" presStyleLbl="node1" presStyleIdx="0" presStyleCnt="7">
        <dgm:presLayoutVars>
          <dgm:bulletEnabled val="1"/>
        </dgm:presLayoutVars>
      </dgm:prSet>
      <dgm:spPr/>
      <dgm:t>
        <a:bodyPr/>
        <a:lstStyle/>
        <a:p>
          <a:endParaRPr lang="en-US"/>
        </a:p>
      </dgm:t>
    </dgm:pt>
    <dgm:pt modelId="{2A1116DE-D8FF-418D-96B1-C3391F48B694}" type="pres">
      <dgm:prSet presAssocID="{D9513D86-77A6-4956-9CF7-2A1E3E6462E9}" presName="Name9" presStyleLbl="parChTrans1D2" presStyleIdx="1" presStyleCnt="7"/>
      <dgm:spPr/>
      <dgm:t>
        <a:bodyPr/>
        <a:lstStyle/>
        <a:p>
          <a:endParaRPr lang="en-US"/>
        </a:p>
      </dgm:t>
    </dgm:pt>
    <dgm:pt modelId="{222DD21E-0B6B-4BB6-A76A-9531F02C68EE}" type="pres">
      <dgm:prSet presAssocID="{D9513D86-77A6-4956-9CF7-2A1E3E6462E9}" presName="connTx" presStyleLbl="parChTrans1D2" presStyleIdx="1" presStyleCnt="7"/>
      <dgm:spPr/>
      <dgm:t>
        <a:bodyPr/>
        <a:lstStyle/>
        <a:p>
          <a:endParaRPr lang="en-US"/>
        </a:p>
      </dgm:t>
    </dgm:pt>
    <dgm:pt modelId="{4A69AFD6-7FEC-4637-93D1-E487E531AA4A}" type="pres">
      <dgm:prSet presAssocID="{4B86BD5D-D834-41D2-94B5-A10BEB700C4A}" presName="node" presStyleLbl="node1" presStyleIdx="1" presStyleCnt="7">
        <dgm:presLayoutVars>
          <dgm:bulletEnabled val="1"/>
        </dgm:presLayoutVars>
      </dgm:prSet>
      <dgm:spPr/>
      <dgm:t>
        <a:bodyPr/>
        <a:lstStyle/>
        <a:p>
          <a:endParaRPr lang="en-US"/>
        </a:p>
      </dgm:t>
    </dgm:pt>
    <dgm:pt modelId="{BAA3597E-53E9-4237-828D-00DDEDCAF142}" type="pres">
      <dgm:prSet presAssocID="{E728768E-1C60-4B5D-A190-E32A2284F27D}" presName="Name9" presStyleLbl="parChTrans1D2" presStyleIdx="2" presStyleCnt="7"/>
      <dgm:spPr/>
      <dgm:t>
        <a:bodyPr/>
        <a:lstStyle/>
        <a:p>
          <a:endParaRPr lang="en-US"/>
        </a:p>
      </dgm:t>
    </dgm:pt>
    <dgm:pt modelId="{3D161C08-1730-49ED-9730-1EEA3C1DF163}" type="pres">
      <dgm:prSet presAssocID="{E728768E-1C60-4B5D-A190-E32A2284F27D}" presName="connTx" presStyleLbl="parChTrans1D2" presStyleIdx="2" presStyleCnt="7"/>
      <dgm:spPr/>
      <dgm:t>
        <a:bodyPr/>
        <a:lstStyle/>
        <a:p>
          <a:endParaRPr lang="en-US"/>
        </a:p>
      </dgm:t>
    </dgm:pt>
    <dgm:pt modelId="{14B0317C-2B7A-426D-9566-CBF3CBCE6EF3}" type="pres">
      <dgm:prSet presAssocID="{441D007C-B25F-4BF3-B89C-1B1C8EDA860E}" presName="node" presStyleLbl="node1" presStyleIdx="2" presStyleCnt="7">
        <dgm:presLayoutVars>
          <dgm:bulletEnabled val="1"/>
        </dgm:presLayoutVars>
      </dgm:prSet>
      <dgm:spPr/>
      <dgm:t>
        <a:bodyPr/>
        <a:lstStyle/>
        <a:p>
          <a:endParaRPr lang="en-US"/>
        </a:p>
      </dgm:t>
    </dgm:pt>
    <dgm:pt modelId="{E98DE145-C2A3-4F6B-9A41-EF324239777B}" type="pres">
      <dgm:prSet presAssocID="{A288A6EE-4BE3-43E6-85AB-EA27FDDAD425}" presName="Name9" presStyleLbl="parChTrans1D2" presStyleIdx="3" presStyleCnt="7"/>
      <dgm:spPr/>
      <dgm:t>
        <a:bodyPr/>
        <a:lstStyle/>
        <a:p>
          <a:endParaRPr lang="en-US"/>
        </a:p>
      </dgm:t>
    </dgm:pt>
    <dgm:pt modelId="{DAADCC25-7605-403A-B112-A560EC94992D}" type="pres">
      <dgm:prSet presAssocID="{A288A6EE-4BE3-43E6-85AB-EA27FDDAD425}" presName="connTx" presStyleLbl="parChTrans1D2" presStyleIdx="3" presStyleCnt="7"/>
      <dgm:spPr/>
      <dgm:t>
        <a:bodyPr/>
        <a:lstStyle/>
        <a:p>
          <a:endParaRPr lang="en-US"/>
        </a:p>
      </dgm:t>
    </dgm:pt>
    <dgm:pt modelId="{6331988E-0929-46E6-8CF8-7E66CE07E670}" type="pres">
      <dgm:prSet presAssocID="{D3ABA101-A7B2-4D4D-9CC2-8DADE3A8F6EC}" presName="node" presStyleLbl="node1" presStyleIdx="3" presStyleCnt="7">
        <dgm:presLayoutVars>
          <dgm:bulletEnabled val="1"/>
        </dgm:presLayoutVars>
      </dgm:prSet>
      <dgm:spPr/>
      <dgm:t>
        <a:bodyPr/>
        <a:lstStyle/>
        <a:p>
          <a:endParaRPr lang="en-US"/>
        </a:p>
      </dgm:t>
    </dgm:pt>
    <dgm:pt modelId="{A58EB9D4-DE0D-4903-874E-0F1641D582A7}" type="pres">
      <dgm:prSet presAssocID="{75831A4F-4639-4381-A304-D482240FFB01}" presName="Name9" presStyleLbl="parChTrans1D2" presStyleIdx="4" presStyleCnt="7"/>
      <dgm:spPr/>
      <dgm:t>
        <a:bodyPr/>
        <a:lstStyle/>
        <a:p>
          <a:endParaRPr lang="en-US"/>
        </a:p>
      </dgm:t>
    </dgm:pt>
    <dgm:pt modelId="{EFED3A35-557B-4E19-99C8-002A52B55BB7}" type="pres">
      <dgm:prSet presAssocID="{75831A4F-4639-4381-A304-D482240FFB01}" presName="connTx" presStyleLbl="parChTrans1D2" presStyleIdx="4" presStyleCnt="7"/>
      <dgm:spPr/>
      <dgm:t>
        <a:bodyPr/>
        <a:lstStyle/>
        <a:p>
          <a:endParaRPr lang="en-US"/>
        </a:p>
      </dgm:t>
    </dgm:pt>
    <dgm:pt modelId="{3CA69716-EC83-42EA-92E3-B265F1FAA1E1}" type="pres">
      <dgm:prSet presAssocID="{C09E846B-F971-4A43-A842-DED48286E128}" presName="node" presStyleLbl="node1" presStyleIdx="4" presStyleCnt="7">
        <dgm:presLayoutVars>
          <dgm:bulletEnabled val="1"/>
        </dgm:presLayoutVars>
      </dgm:prSet>
      <dgm:spPr/>
      <dgm:t>
        <a:bodyPr/>
        <a:lstStyle/>
        <a:p>
          <a:endParaRPr lang="en-US"/>
        </a:p>
      </dgm:t>
    </dgm:pt>
    <dgm:pt modelId="{B43C937B-E3F8-4BFC-A02B-A99F20D50322}" type="pres">
      <dgm:prSet presAssocID="{F7C033F6-80B7-4728-8E6B-70E25CEC805A}" presName="Name9" presStyleLbl="parChTrans1D2" presStyleIdx="5" presStyleCnt="7"/>
      <dgm:spPr/>
      <dgm:t>
        <a:bodyPr/>
        <a:lstStyle/>
        <a:p>
          <a:endParaRPr lang="en-US"/>
        </a:p>
      </dgm:t>
    </dgm:pt>
    <dgm:pt modelId="{C3570736-3515-494A-B008-12530DFABBFD}" type="pres">
      <dgm:prSet presAssocID="{F7C033F6-80B7-4728-8E6B-70E25CEC805A}" presName="connTx" presStyleLbl="parChTrans1D2" presStyleIdx="5" presStyleCnt="7"/>
      <dgm:spPr/>
      <dgm:t>
        <a:bodyPr/>
        <a:lstStyle/>
        <a:p>
          <a:endParaRPr lang="en-US"/>
        </a:p>
      </dgm:t>
    </dgm:pt>
    <dgm:pt modelId="{3CC8D655-0595-4782-A71C-EABB44D86107}" type="pres">
      <dgm:prSet presAssocID="{68A81FA4-BB4D-4468-B374-08173256FB33}" presName="node" presStyleLbl="node1" presStyleIdx="5" presStyleCnt="7">
        <dgm:presLayoutVars>
          <dgm:bulletEnabled val="1"/>
        </dgm:presLayoutVars>
      </dgm:prSet>
      <dgm:spPr/>
      <dgm:t>
        <a:bodyPr/>
        <a:lstStyle/>
        <a:p>
          <a:endParaRPr lang="en-US"/>
        </a:p>
      </dgm:t>
    </dgm:pt>
    <dgm:pt modelId="{A55644AC-11BA-4E74-872C-45D214680D1B}" type="pres">
      <dgm:prSet presAssocID="{F962A664-0DCF-40FE-BECC-776714911E22}" presName="Name9" presStyleLbl="parChTrans1D2" presStyleIdx="6" presStyleCnt="7"/>
      <dgm:spPr/>
      <dgm:t>
        <a:bodyPr/>
        <a:lstStyle/>
        <a:p>
          <a:endParaRPr lang="en-US"/>
        </a:p>
      </dgm:t>
    </dgm:pt>
    <dgm:pt modelId="{B6DA60B7-C2A6-4000-9381-0729B544F0F5}" type="pres">
      <dgm:prSet presAssocID="{F962A664-0DCF-40FE-BECC-776714911E22}" presName="connTx" presStyleLbl="parChTrans1D2" presStyleIdx="6" presStyleCnt="7"/>
      <dgm:spPr/>
      <dgm:t>
        <a:bodyPr/>
        <a:lstStyle/>
        <a:p>
          <a:endParaRPr lang="en-US"/>
        </a:p>
      </dgm:t>
    </dgm:pt>
    <dgm:pt modelId="{0791B066-4DBA-4F6B-95D2-EDE16E161C50}" type="pres">
      <dgm:prSet presAssocID="{B861729D-985C-4C7C-AE35-EAFA1D84FDCC}" presName="node" presStyleLbl="node1" presStyleIdx="6" presStyleCnt="7">
        <dgm:presLayoutVars>
          <dgm:bulletEnabled val="1"/>
        </dgm:presLayoutVars>
      </dgm:prSet>
      <dgm:spPr/>
      <dgm:t>
        <a:bodyPr/>
        <a:lstStyle/>
        <a:p>
          <a:endParaRPr lang="en-US"/>
        </a:p>
      </dgm:t>
    </dgm:pt>
  </dgm:ptLst>
  <dgm:cxnLst>
    <dgm:cxn modelId="{EA97561D-1136-4F6D-8E52-405532617D36}" srcId="{B78D1486-AE91-4E66-B368-00CCA92A41EB}" destId="{4B86BD5D-D834-41D2-94B5-A10BEB700C4A}" srcOrd="1" destOrd="0" parTransId="{D9513D86-77A6-4956-9CF7-2A1E3E6462E9}" sibTransId="{912D845A-8B32-47ED-B300-59FE0870E58D}"/>
    <dgm:cxn modelId="{1CB5E3D8-F072-4DD1-8A72-F903F1355BF0}" srcId="{B78D1486-AE91-4E66-B368-00CCA92A41EB}" destId="{D3ABA101-A7B2-4D4D-9CC2-8DADE3A8F6EC}" srcOrd="3" destOrd="0" parTransId="{A288A6EE-4BE3-43E6-85AB-EA27FDDAD425}" sibTransId="{54E8C90E-9B76-4E00-AA71-7083E585836E}"/>
    <dgm:cxn modelId="{F8488ACB-581E-4A2E-989C-ECCFBDFF222C}" type="presOf" srcId="{4B86BD5D-D834-41D2-94B5-A10BEB700C4A}" destId="{4A69AFD6-7FEC-4637-93D1-E487E531AA4A}" srcOrd="0" destOrd="0" presId="urn:microsoft.com/office/officeart/2005/8/layout/radial1"/>
    <dgm:cxn modelId="{A4B3021A-A39B-4CF5-BD7E-8B0ED934FD9B}" type="presOf" srcId="{A288A6EE-4BE3-43E6-85AB-EA27FDDAD425}" destId="{E98DE145-C2A3-4F6B-9A41-EF324239777B}" srcOrd="0" destOrd="0" presId="urn:microsoft.com/office/officeart/2005/8/layout/radial1"/>
    <dgm:cxn modelId="{C2B7F7F1-066A-4D8C-A7F9-3191FB658281}" type="presOf" srcId="{F7C033F6-80B7-4728-8E6B-70E25CEC805A}" destId="{B43C937B-E3F8-4BFC-A02B-A99F20D50322}" srcOrd="0" destOrd="0" presId="urn:microsoft.com/office/officeart/2005/8/layout/radial1"/>
    <dgm:cxn modelId="{DB7CD094-A8BF-48FA-8C44-C884E8F5996B}" type="presOf" srcId="{C09E846B-F971-4A43-A842-DED48286E128}" destId="{3CA69716-EC83-42EA-92E3-B265F1FAA1E1}" srcOrd="0" destOrd="0" presId="urn:microsoft.com/office/officeart/2005/8/layout/radial1"/>
    <dgm:cxn modelId="{63684480-2F69-4246-BC2D-220CFAEE6F0B}" type="presOf" srcId="{D9513D86-77A6-4956-9CF7-2A1E3E6462E9}" destId="{222DD21E-0B6B-4BB6-A76A-9531F02C68EE}" srcOrd="1" destOrd="0" presId="urn:microsoft.com/office/officeart/2005/8/layout/radial1"/>
    <dgm:cxn modelId="{38C814D3-AD40-42E2-AD12-A4D5E244908B}" type="presOf" srcId="{A288A6EE-4BE3-43E6-85AB-EA27FDDAD425}" destId="{DAADCC25-7605-403A-B112-A560EC94992D}" srcOrd="1" destOrd="0" presId="urn:microsoft.com/office/officeart/2005/8/layout/radial1"/>
    <dgm:cxn modelId="{9C9C60DE-5DC4-486A-852C-0B1F7643822B}" type="presOf" srcId="{E728768E-1C60-4B5D-A190-E32A2284F27D}" destId="{3D161C08-1730-49ED-9730-1EEA3C1DF163}" srcOrd="1" destOrd="0" presId="urn:microsoft.com/office/officeart/2005/8/layout/radial1"/>
    <dgm:cxn modelId="{801775D2-3D31-4130-B2F9-40DE8AC756C3}" type="presOf" srcId="{8F5E2F4D-21D3-4CCF-883D-29FF8D219566}" destId="{0B2662D3-9D59-439B-8D4B-AE4CBC4D3FA2}" srcOrd="0" destOrd="0" presId="urn:microsoft.com/office/officeart/2005/8/layout/radial1"/>
    <dgm:cxn modelId="{0BBD29B8-9643-4432-BEE8-A9E7371BF789}" type="presOf" srcId="{F7C033F6-80B7-4728-8E6B-70E25CEC805A}" destId="{C3570736-3515-494A-B008-12530DFABBFD}" srcOrd="1" destOrd="0" presId="urn:microsoft.com/office/officeart/2005/8/layout/radial1"/>
    <dgm:cxn modelId="{FEE1CE76-E8A9-4D4A-BB76-22D4680BD32F}" type="presOf" srcId="{F962A664-0DCF-40FE-BECC-776714911E22}" destId="{B6DA60B7-C2A6-4000-9381-0729B544F0F5}" srcOrd="1" destOrd="0" presId="urn:microsoft.com/office/officeart/2005/8/layout/radial1"/>
    <dgm:cxn modelId="{8546ED5C-7875-468F-A8C6-C0C4F7CB10F1}" type="presOf" srcId="{B78D1486-AE91-4E66-B368-00CCA92A41EB}" destId="{7F4EE0CD-842C-46E4-A73D-DA694BDF0DBA}" srcOrd="0" destOrd="0" presId="urn:microsoft.com/office/officeart/2005/8/layout/radial1"/>
    <dgm:cxn modelId="{79B053CE-277B-413D-B6DC-99BA8A27E51F}" type="presOf" srcId="{D9513D86-77A6-4956-9CF7-2A1E3E6462E9}" destId="{2A1116DE-D8FF-418D-96B1-C3391F48B694}" srcOrd="0" destOrd="0" presId="urn:microsoft.com/office/officeart/2005/8/layout/radial1"/>
    <dgm:cxn modelId="{8C95003A-194A-444E-933F-75973F2EEEBE}" type="presOf" srcId="{D745D888-4CDF-4C2B-80AC-45063BB09A54}" destId="{52BC55E3-D60B-4C48-BB78-5790404B8180}" srcOrd="0" destOrd="0" presId="urn:microsoft.com/office/officeart/2005/8/layout/radial1"/>
    <dgm:cxn modelId="{A2169A45-85E7-4692-AB8D-0CC8FA07D143}" type="presOf" srcId="{68A81FA4-BB4D-4468-B374-08173256FB33}" destId="{3CC8D655-0595-4782-A71C-EABB44D86107}" srcOrd="0" destOrd="0" presId="urn:microsoft.com/office/officeart/2005/8/layout/radial1"/>
    <dgm:cxn modelId="{908238AF-CD65-4F38-91E6-90713546F8D3}" type="presOf" srcId="{F962A664-0DCF-40FE-BECC-776714911E22}" destId="{A55644AC-11BA-4E74-872C-45D214680D1B}" srcOrd="0" destOrd="0" presId="urn:microsoft.com/office/officeart/2005/8/layout/radial1"/>
    <dgm:cxn modelId="{6E063F12-9C16-4276-A8C8-ADDA916273BF}" type="presOf" srcId="{65D8F87B-FD0D-4E32-A158-DDFA6F75BABA}" destId="{0F22DCAE-445A-4307-B6E1-4A6565AFEE75}" srcOrd="0" destOrd="0" presId="urn:microsoft.com/office/officeart/2005/8/layout/radial1"/>
    <dgm:cxn modelId="{CA7F2DCD-AA36-4D6D-BABC-C9F8A67CB7CB}" type="presOf" srcId="{75831A4F-4639-4381-A304-D482240FFB01}" destId="{A58EB9D4-DE0D-4903-874E-0F1641D582A7}" srcOrd="0" destOrd="0" presId="urn:microsoft.com/office/officeart/2005/8/layout/radial1"/>
    <dgm:cxn modelId="{852EA854-1987-49D8-8F1E-E98BC6B2ADC2}" type="presOf" srcId="{65D8F87B-FD0D-4E32-A158-DDFA6F75BABA}" destId="{59394A72-AADF-4B41-B419-9FF9118377F3}" srcOrd="1" destOrd="0" presId="urn:microsoft.com/office/officeart/2005/8/layout/radial1"/>
    <dgm:cxn modelId="{1F64252A-AE18-425A-AA7E-AE04012F7D87}" srcId="{B78D1486-AE91-4E66-B368-00CCA92A41EB}" destId="{441D007C-B25F-4BF3-B89C-1B1C8EDA860E}" srcOrd="2" destOrd="0" parTransId="{E728768E-1C60-4B5D-A190-E32A2284F27D}" sibTransId="{0B0981E8-08FC-4C9B-85B0-191791905DFB}"/>
    <dgm:cxn modelId="{1590822A-53CE-4D7F-9B1E-7F41097EFCFB}" type="presOf" srcId="{E728768E-1C60-4B5D-A190-E32A2284F27D}" destId="{BAA3597E-53E9-4237-828D-00DDEDCAF142}" srcOrd="0" destOrd="0" presId="urn:microsoft.com/office/officeart/2005/8/layout/radial1"/>
    <dgm:cxn modelId="{5BF575DE-DC39-43FB-95A2-45C575A5C78E}" type="presOf" srcId="{D3ABA101-A7B2-4D4D-9CC2-8DADE3A8F6EC}" destId="{6331988E-0929-46E6-8CF8-7E66CE07E670}" srcOrd="0" destOrd="0" presId="urn:microsoft.com/office/officeart/2005/8/layout/radial1"/>
    <dgm:cxn modelId="{1150CC8F-E7FF-45A5-973B-2B50E353ECC6}" type="presOf" srcId="{75831A4F-4639-4381-A304-D482240FFB01}" destId="{EFED3A35-557B-4E19-99C8-002A52B55BB7}" srcOrd="1" destOrd="0" presId="urn:microsoft.com/office/officeart/2005/8/layout/radial1"/>
    <dgm:cxn modelId="{0CED271C-EEF7-42CB-92B2-2EC9314AA718}" srcId="{B78D1486-AE91-4E66-B368-00CCA92A41EB}" destId="{68A81FA4-BB4D-4468-B374-08173256FB33}" srcOrd="5" destOrd="0" parTransId="{F7C033F6-80B7-4728-8E6B-70E25CEC805A}" sibTransId="{24BE0312-57A1-4B80-A2EF-5ED99CBF3A11}"/>
    <dgm:cxn modelId="{DEE68674-A752-4419-B0F5-6BEF7AEF4EA4}" srcId="{B78D1486-AE91-4E66-B368-00CCA92A41EB}" destId="{C09E846B-F971-4A43-A842-DED48286E128}" srcOrd="4" destOrd="0" parTransId="{75831A4F-4639-4381-A304-D482240FFB01}" sibTransId="{9D483E85-4534-467F-85EA-01FB3495A092}"/>
    <dgm:cxn modelId="{218B0281-E136-440A-A6BC-8C74A7DC3321}" srcId="{B78D1486-AE91-4E66-B368-00CCA92A41EB}" destId="{B861729D-985C-4C7C-AE35-EAFA1D84FDCC}" srcOrd="6" destOrd="0" parTransId="{F962A664-0DCF-40FE-BECC-776714911E22}" sibTransId="{D299A985-9CBD-4C75-B950-95B7D4DBDD3E}"/>
    <dgm:cxn modelId="{0DC34D64-B735-4196-A284-78EA1B064CA1}" type="presOf" srcId="{441D007C-B25F-4BF3-B89C-1B1C8EDA860E}" destId="{14B0317C-2B7A-426D-9566-CBF3CBCE6EF3}" srcOrd="0" destOrd="0" presId="urn:microsoft.com/office/officeart/2005/8/layout/radial1"/>
    <dgm:cxn modelId="{3793CA1E-EEB5-4218-BA2E-0ECC1E9097A6}" type="presOf" srcId="{B861729D-985C-4C7C-AE35-EAFA1D84FDCC}" destId="{0791B066-4DBA-4F6B-95D2-EDE16E161C50}" srcOrd="0" destOrd="0" presId="urn:microsoft.com/office/officeart/2005/8/layout/radial1"/>
    <dgm:cxn modelId="{DD781838-E658-4E3D-B5EC-6462E8D7D204}" srcId="{B78D1486-AE91-4E66-B368-00CCA92A41EB}" destId="{8F5E2F4D-21D3-4CCF-883D-29FF8D219566}" srcOrd="0" destOrd="0" parTransId="{65D8F87B-FD0D-4E32-A158-DDFA6F75BABA}" sibTransId="{ABE67E78-4980-4D46-B9C0-2BA83755465E}"/>
    <dgm:cxn modelId="{5BAC9097-CB3B-452F-B672-47E248EBA9DF}" srcId="{D745D888-4CDF-4C2B-80AC-45063BB09A54}" destId="{B78D1486-AE91-4E66-B368-00CCA92A41EB}" srcOrd="0" destOrd="0" parTransId="{46AD8EEE-051D-445D-834F-2603DDBDA0A4}" sibTransId="{7ED58E6D-92BD-42E8-A972-7727B77F81D3}"/>
    <dgm:cxn modelId="{1DA71AC6-265C-4C38-903B-91CCFF5D9D49}" type="presParOf" srcId="{52BC55E3-D60B-4C48-BB78-5790404B8180}" destId="{7F4EE0CD-842C-46E4-A73D-DA694BDF0DBA}" srcOrd="0" destOrd="0" presId="urn:microsoft.com/office/officeart/2005/8/layout/radial1"/>
    <dgm:cxn modelId="{F80A267F-08D9-42FF-88ED-D758EE8EBCFF}" type="presParOf" srcId="{52BC55E3-D60B-4C48-BB78-5790404B8180}" destId="{0F22DCAE-445A-4307-B6E1-4A6565AFEE75}" srcOrd="1" destOrd="0" presId="urn:microsoft.com/office/officeart/2005/8/layout/radial1"/>
    <dgm:cxn modelId="{B9B54149-9D2A-4FCC-ABAA-52F92BF8AE93}" type="presParOf" srcId="{0F22DCAE-445A-4307-B6E1-4A6565AFEE75}" destId="{59394A72-AADF-4B41-B419-9FF9118377F3}" srcOrd="0" destOrd="0" presId="urn:microsoft.com/office/officeart/2005/8/layout/radial1"/>
    <dgm:cxn modelId="{405DF9E1-EE22-4B90-A915-36303B230DEB}" type="presParOf" srcId="{52BC55E3-D60B-4C48-BB78-5790404B8180}" destId="{0B2662D3-9D59-439B-8D4B-AE4CBC4D3FA2}" srcOrd="2" destOrd="0" presId="urn:microsoft.com/office/officeart/2005/8/layout/radial1"/>
    <dgm:cxn modelId="{C60027C8-D4AF-4B16-902E-788C28E4062F}" type="presParOf" srcId="{52BC55E3-D60B-4C48-BB78-5790404B8180}" destId="{2A1116DE-D8FF-418D-96B1-C3391F48B694}" srcOrd="3" destOrd="0" presId="urn:microsoft.com/office/officeart/2005/8/layout/radial1"/>
    <dgm:cxn modelId="{454FE564-580A-4863-A05D-0CE84204099E}" type="presParOf" srcId="{2A1116DE-D8FF-418D-96B1-C3391F48B694}" destId="{222DD21E-0B6B-4BB6-A76A-9531F02C68EE}" srcOrd="0" destOrd="0" presId="urn:microsoft.com/office/officeart/2005/8/layout/radial1"/>
    <dgm:cxn modelId="{46345252-EDEC-40FC-AFE8-58AFB318275F}" type="presParOf" srcId="{52BC55E3-D60B-4C48-BB78-5790404B8180}" destId="{4A69AFD6-7FEC-4637-93D1-E487E531AA4A}" srcOrd="4" destOrd="0" presId="urn:microsoft.com/office/officeart/2005/8/layout/radial1"/>
    <dgm:cxn modelId="{F91F8D73-B2F7-49DC-8403-5EEAEF9AD102}" type="presParOf" srcId="{52BC55E3-D60B-4C48-BB78-5790404B8180}" destId="{BAA3597E-53E9-4237-828D-00DDEDCAF142}" srcOrd="5" destOrd="0" presId="urn:microsoft.com/office/officeart/2005/8/layout/radial1"/>
    <dgm:cxn modelId="{6ABDF22F-F8B8-472C-B5D9-6D91201E27B7}" type="presParOf" srcId="{BAA3597E-53E9-4237-828D-00DDEDCAF142}" destId="{3D161C08-1730-49ED-9730-1EEA3C1DF163}" srcOrd="0" destOrd="0" presId="urn:microsoft.com/office/officeart/2005/8/layout/radial1"/>
    <dgm:cxn modelId="{112C5E3F-FD85-4216-9D09-5885ADBB7D2D}" type="presParOf" srcId="{52BC55E3-D60B-4C48-BB78-5790404B8180}" destId="{14B0317C-2B7A-426D-9566-CBF3CBCE6EF3}" srcOrd="6" destOrd="0" presId="urn:microsoft.com/office/officeart/2005/8/layout/radial1"/>
    <dgm:cxn modelId="{EED1295E-3EA6-4EE3-B70F-F71ED6C0FC8C}" type="presParOf" srcId="{52BC55E3-D60B-4C48-BB78-5790404B8180}" destId="{E98DE145-C2A3-4F6B-9A41-EF324239777B}" srcOrd="7" destOrd="0" presId="urn:microsoft.com/office/officeart/2005/8/layout/radial1"/>
    <dgm:cxn modelId="{DC6B2E91-9709-4406-96DE-9AB68716A1AC}" type="presParOf" srcId="{E98DE145-C2A3-4F6B-9A41-EF324239777B}" destId="{DAADCC25-7605-403A-B112-A560EC94992D}" srcOrd="0" destOrd="0" presId="urn:microsoft.com/office/officeart/2005/8/layout/radial1"/>
    <dgm:cxn modelId="{DAB54CC9-6279-43C0-BAD6-7138A3959502}" type="presParOf" srcId="{52BC55E3-D60B-4C48-BB78-5790404B8180}" destId="{6331988E-0929-46E6-8CF8-7E66CE07E670}" srcOrd="8" destOrd="0" presId="urn:microsoft.com/office/officeart/2005/8/layout/radial1"/>
    <dgm:cxn modelId="{809F61D5-9868-4900-9893-BDEE8AE1FDFE}" type="presParOf" srcId="{52BC55E3-D60B-4C48-BB78-5790404B8180}" destId="{A58EB9D4-DE0D-4903-874E-0F1641D582A7}" srcOrd="9" destOrd="0" presId="urn:microsoft.com/office/officeart/2005/8/layout/radial1"/>
    <dgm:cxn modelId="{A300E6F7-FA60-45B9-A08F-15851972524E}" type="presParOf" srcId="{A58EB9D4-DE0D-4903-874E-0F1641D582A7}" destId="{EFED3A35-557B-4E19-99C8-002A52B55BB7}" srcOrd="0" destOrd="0" presId="urn:microsoft.com/office/officeart/2005/8/layout/radial1"/>
    <dgm:cxn modelId="{EA31F226-F096-4ED8-8ECD-3D38E12C8549}" type="presParOf" srcId="{52BC55E3-D60B-4C48-BB78-5790404B8180}" destId="{3CA69716-EC83-42EA-92E3-B265F1FAA1E1}" srcOrd="10" destOrd="0" presId="urn:microsoft.com/office/officeart/2005/8/layout/radial1"/>
    <dgm:cxn modelId="{E7DFCD39-4C10-41A5-8B6F-69C0441F3EA6}" type="presParOf" srcId="{52BC55E3-D60B-4C48-BB78-5790404B8180}" destId="{B43C937B-E3F8-4BFC-A02B-A99F20D50322}" srcOrd="11" destOrd="0" presId="urn:microsoft.com/office/officeart/2005/8/layout/radial1"/>
    <dgm:cxn modelId="{07FF8762-E35B-4817-B7B7-22A87E3D80C2}" type="presParOf" srcId="{B43C937B-E3F8-4BFC-A02B-A99F20D50322}" destId="{C3570736-3515-494A-B008-12530DFABBFD}" srcOrd="0" destOrd="0" presId="urn:microsoft.com/office/officeart/2005/8/layout/radial1"/>
    <dgm:cxn modelId="{E0FF1412-8060-49F2-9ECA-88A562E5E480}" type="presParOf" srcId="{52BC55E3-D60B-4C48-BB78-5790404B8180}" destId="{3CC8D655-0595-4782-A71C-EABB44D86107}" srcOrd="12" destOrd="0" presId="urn:microsoft.com/office/officeart/2005/8/layout/radial1"/>
    <dgm:cxn modelId="{AD0FEC5E-95F5-49D8-8864-A3E7C41F7425}" type="presParOf" srcId="{52BC55E3-D60B-4C48-BB78-5790404B8180}" destId="{A55644AC-11BA-4E74-872C-45D214680D1B}" srcOrd="13" destOrd="0" presId="urn:microsoft.com/office/officeart/2005/8/layout/radial1"/>
    <dgm:cxn modelId="{9B84968F-2E88-4A0D-B8AE-1B0F577987B1}" type="presParOf" srcId="{A55644AC-11BA-4E74-872C-45D214680D1B}" destId="{B6DA60B7-C2A6-4000-9381-0729B544F0F5}" srcOrd="0" destOrd="0" presId="urn:microsoft.com/office/officeart/2005/8/layout/radial1"/>
    <dgm:cxn modelId="{A2C222EB-96E5-4F84-B64E-D6319D2F0682}" type="presParOf" srcId="{52BC55E3-D60B-4C48-BB78-5790404B8180}" destId="{0791B066-4DBA-4F6B-95D2-EDE16E161C50}" srcOrd="14"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1AE3EC-B6EF-0E4C-8319-E65930849F37}">
      <dsp:nvSpPr>
        <dsp:cNvPr id="0" name=""/>
        <dsp:cNvSpPr/>
      </dsp:nvSpPr>
      <dsp:spPr>
        <a:xfrm>
          <a:off x="1555731" y="822982"/>
          <a:ext cx="327298" cy="91440"/>
        </a:xfrm>
        <a:custGeom>
          <a:avLst/>
          <a:gdLst/>
          <a:ahLst/>
          <a:cxnLst/>
          <a:rect l="0" t="0" r="0" b="0"/>
          <a:pathLst>
            <a:path>
              <a:moveTo>
                <a:pt x="0" y="45720"/>
              </a:moveTo>
              <a:lnTo>
                <a:pt x="327298"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1710432" y="866913"/>
        <a:ext cx="17894" cy="3578"/>
      </dsp:txXfrm>
    </dsp:sp>
    <dsp:sp modelId="{66F8014B-E687-A149-9E30-780DB3B953B9}">
      <dsp:nvSpPr>
        <dsp:cNvPr id="0" name=""/>
        <dsp:cNvSpPr/>
      </dsp:nvSpPr>
      <dsp:spPr>
        <a:xfrm>
          <a:off x="1452" y="401879"/>
          <a:ext cx="1556078" cy="93364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US" sz="1600" kern="1200" dirty="0"/>
            <a:t>Tools &amp; Methods </a:t>
          </a:r>
        </a:p>
      </dsp:txBody>
      <dsp:txXfrm>
        <a:off x="1452" y="401879"/>
        <a:ext cx="1556078" cy="933647"/>
      </dsp:txXfrm>
    </dsp:sp>
    <dsp:sp modelId="{54F3A716-74D5-7B40-AA91-2C45C2289C95}">
      <dsp:nvSpPr>
        <dsp:cNvPr id="0" name=""/>
        <dsp:cNvSpPr/>
      </dsp:nvSpPr>
      <dsp:spPr>
        <a:xfrm>
          <a:off x="3469707" y="822982"/>
          <a:ext cx="327298" cy="91440"/>
        </a:xfrm>
        <a:custGeom>
          <a:avLst/>
          <a:gdLst/>
          <a:ahLst/>
          <a:cxnLst/>
          <a:rect l="0" t="0" r="0" b="0"/>
          <a:pathLst>
            <a:path>
              <a:moveTo>
                <a:pt x="0" y="45720"/>
              </a:moveTo>
              <a:lnTo>
                <a:pt x="327298"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624409" y="866913"/>
        <a:ext cx="17894" cy="3578"/>
      </dsp:txXfrm>
    </dsp:sp>
    <dsp:sp modelId="{8E787FD8-D5E2-D845-B77A-61566C77661E}">
      <dsp:nvSpPr>
        <dsp:cNvPr id="0" name=""/>
        <dsp:cNvSpPr/>
      </dsp:nvSpPr>
      <dsp:spPr>
        <a:xfrm>
          <a:off x="1915429" y="401879"/>
          <a:ext cx="1556078" cy="93364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US" sz="1600" kern="1200"/>
            <a:t>Gaps</a:t>
          </a:r>
        </a:p>
      </dsp:txBody>
      <dsp:txXfrm>
        <a:off x="1915429" y="401879"/>
        <a:ext cx="1556078" cy="933647"/>
      </dsp:txXfrm>
    </dsp:sp>
    <dsp:sp modelId="{F8622872-EA98-7F4D-9724-93D659F74F8F}">
      <dsp:nvSpPr>
        <dsp:cNvPr id="0" name=""/>
        <dsp:cNvSpPr/>
      </dsp:nvSpPr>
      <dsp:spPr>
        <a:xfrm>
          <a:off x="5383683" y="822982"/>
          <a:ext cx="327298" cy="91440"/>
        </a:xfrm>
        <a:custGeom>
          <a:avLst/>
          <a:gdLst/>
          <a:ahLst/>
          <a:cxnLst/>
          <a:rect l="0" t="0" r="0" b="0"/>
          <a:pathLst>
            <a:path>
              <a:moveTo>
                <a:pt x="0" y="45720"/>
              </a:moveTo>
              <a:lnTo>
                <a:pt x="327298"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538385" y="866913"/>
        <a:ext cx="17894" cy="3578"/>
      </dsp:txXfrm>
    </dsp:sp>
    <dsp:sp modelId="{2C0F8299-7D62-9F4A-B9E3-29E6745B4BEB}">
      <dsp:nvSpPr>
        <dsp:cNvPr id="0" name=""/>
        <dsp:cNvSpPr/>
      </dsp:nvSpPr>
      <dsp:spPr>
        <a:xfrm>
          <a:off x="3829405" y="401879"/>
          <a:ext cx="1556078" cy="93364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US" sz="1600" kern="1200"/>
            <a:t>Priorities</a:t>
          </a:r>
        </a:p>
      </dsp:txBody>
      <dsp:txXfrm>
        <a:off x="3829405" y="401879"/>
        <a:ext cx="1556078" cy="933647"/>
      </dsp:txXfrm>
    </dsp:sp>
    <dsp:sp modelId="{A04F792B-E80D-E14E-87DE-07E03857D47A}">
      <dsp:nvSpPr>
        <dsp:cNvPr id="0" name=""/>
        <dsp:cNvSpPr/>
      </dsp:nvSpPr>
      <dsp:spPr>
        <a:xfrm>
          <a:off x="779491" y="1333726"/>
          <a:ext cx="5741929" cy="327298"/>
        </a:xfrm>
        <a:custGeom>
          <a:avLst/>
          <a:gdLst/>
          <a:ahLst/>
          <a:cxnLst/>
          <a:rect l="0" t="0" r="0" b="0"/>
          <a:pathLst>
            <a:path>
              <a:moveTo>
                <a:pt x="5741929" y="0"/>
              </a:moveTo>
              <a:lnTo>
                <a:pt x="5741929" y="180749"/>
              </a:lnTo>
              <a:lnTo>
                <a:pt x="0" y="180749"/>
              </a:lnTo>
              <a:lnTo>
                <a:pt x="0" y="327298"/>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506629" y="1495586"/>
        <a:ext cx="287653" cy="3578"/>
      </dsp:txXfrm>
    </dsp:sp>
    <dsp:sp modelId="{AB4272DF-8034-A743-9D5F-E9084C5B08F7}">
      <dsp:nvSpPr>
        <dsp:cNvPr id="0" name=""/>
        <dsp:cNvSpPr/>
      </dsp:nvSpPr>
      <dsp:spPr>
        <a:xfrm>
          <a:off x="5743381" y="401879"/>
          <a:ext cx="1556078" cy="93364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US" sz="1600" kern="1200"/>
            <a:t>Prototype</a:t>
          </a:r>
        </a:p>
      </dsp:txBody>
      <dsp:txXfrm>
        <a:off x="5743381" y="401879"/>
        <a:ext cx="1556078" cy="933647"/>
      </dsp:txXfrm>
    </dsp:sp>
    <dsp:sp modelId="{498602AA-2786-2047-BDB2-0D3E3E1998A4}">
      <dsp:nvSpPr>
        <dsp:cNvPr id="0" name=""/>
        <dsp:cNvSpPr/>
      </dsp:nvSpPr>
      <dsp:spPr>
        <a:xfrm>
          <a:off x="1555731" y="2114528"/>
          <a:ext cx="327298" cy="91440"/>
        </a:xfrm>
        <a:custGeom>
          <a:avLst/>
          <a:gdLst/>
          <a:ahLst/>
          <a:cxnLst/>
          <a:rect l="0" t="0" r="0" b="0"/>
          <a:pathLst>
            <a:path>
              <a:moveTo>
                <a:pt x="0" y="45720"/>
              </a:moveTo>
              <a:lnTo>
                <a:pt x="327298"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1710432" y="2158458"/>
        <a:ext cx="17894" cy="3578"/>
      </dsp:txXfrm>
    </dsp:sp>
    <dsp:sp modelId="{5E8BAFCA-805F-A243-B20E-41959295A888}">
      <dsp:nvSpPr>
        <dsp:cNvPr id="0" name=""/>
        <dsp:cNvSpPr/>
      </dsp:nvSpPr>
      <dsp:spPr>
        <a:xfrm>
          <a:off x="1452" y="1693424"/>
          <a:ext cx="1556078" cy="93364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US" sz="1600" kern="1200"/>
            <a:t>Capability Maturity Model (CMM) </a:t>
          </a:r>
        </a:p>
      </dsp:txBody>
      <dsp:txXfrm>
        <a:off x="1452" y="1693424"/>
        <a:ext cx="1556078" cy="933647"/>
      </dsp:txXfrm>
    </dsp:sp>
    <dsp:sp modelId="{2181A152-503A-004D-B5EF-54CEBD6B7412}">
      <dsp:nvSpPr>
        <dsp:cNvPr id="0" name=""/>
        <dsp:cNvSpPr/>
      </dsp:nvSpPr>
      <dsp:spPr>
        <a:xfrm>
          <a:off x="3469707" y="2114528"/>
          <a:ext cx="327298" cy="91440"/>
        </a:xfrm>
        <a:custGeom>
          <a:avLst/>
          <a:gdLst/>
          <a:ahLst/>
          <a:cxnLst/>
          <a:rect l="0" t="0" r="0" b="0"/>
          <a:pathLst>
            <a:path>
              <a:moveTo>
                <a:pt x="0" y="45720"/>
              </a:moveTo>
              <a:lnTo>
                <a:pt x="327298"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624409" y="2158458"/>
        <a:ext cx="17894" cy="3578"/>
      </dsp:txXfrm>
    </dsp:sp>
    <dsp:sp modelId="{760DB03D-3853-F041-BA74-C4959B99679B}">
      <dsp:nvSpPr>
        <dsp:cNvPr id="0" name=""/>
        <dsp:cNvSpPr/>
      </dsp:nvSpPr>
      <dsp:spPr>
        <a:xfrm>
          <a:off x="1915429" y="1693424"/>
          <a:ext cx="1556078" cy="93364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US" sz="1600" kern="1200"/>
            <a:t>Requirements</a:t>
          </a:r>
        </a:p>
      </dsp:txBody>
      <dsp:txXfrm>
        <a:off x="1915429" y="1693424"/>
        <a:ext cx="1556078" cy="933647"/>
      </dsp:txXfrm>
    </dsp:sp>
    <dsp:sp modelId="{F40B8716-63A0-DB4C-B030-D77E8CF15384}">
      <dsp:nvSpPr>
        <dsp:cNvPr id="0" name=""/>
        <dsp:cNvSpPr/>
      </dsp:nvSpPr>
      <dsp:spPr>
        <a:xfrm>
          <a:off x="3829405" y="1693424"/>
          <a:ext cx="1556078" cy="93364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US" sz="1600" kern="1200"/>
            <a:t>Data Standards &amp; Specifications</a:t>
          </a:r>
        </a:p>
      </dsp:txBody>
      <dsp:txXfrm>
        <a:off x="3829405" y="1693424"/>
        <a:ext cx="1556078" cy="9336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4EE0CD-842C-46E4-A73D-DA694BDF0DBA}">
      <dsp:nvSpPr>
        <dsp:cNvPr id="0" name=""/>
        <dsp:cNvSpPr/>
      </dsp:nvSpPr>
      <dsp:spPr>
        <a:xfrm>
          <a:off x="5036566" y="2116275"/>
          <a:ext cx="1396055" cy="1396055"/>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Job Roles</a:t>
          </a:r>
          <a:endParaRPr lang="en-US" sz="1800" kern="1200" dirty="0"/>
        </a:p>
      </dsp:txBody>
      <dsp:txXfrm>
        <a:off x="5241014" y="2320723"/>
        <a:ext cx="987159" cy="987159"/>
      </dsp:txXfrm>
    </dsp:sp>
    <dsp:sp modelId="{0F22DCAE-445A-4307-B6E1-4A6565AFEE75}">
      <dsp:nvSpPr>
        <dsp:cNvPr id="0" name=""/>
        <dsp:cNvSpPr/>
      </dsp:nvSpPr>
      <dsp:spPr>
        <a:xfrm rot="16200000">
          <a:off x="5384865" y="1755592"/>
          <a:ext cx="699456" cy="21909"/>
        </a:xfrm>
        <a:custGeom>
          <a:avLst/>
          <a:gdLst/>
          <a:ahLst/>
          <a:cxnLst/>
          <a:rect l="0" t="0" r="0" b="0"/>
          <a:pathLst>
            <a:path>
              <a:moveTo>
                <a:pt x="0" y="10954"/>
              </a:moveTo>
              <a:lnTo>
                <a:pt x="699456" y="1095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US" sz="1200" kern="1200"/>
        </a:p>
      </dsp:txBody>
      <dsp:txXfrm>
        <a:off x="5717107" y="1749061"/>
        <a:ext cx="34972" cy="34972"/>
      </dsp:txXfrm>
    </dsp:sp>
    <dsp:sp modelId="{0B2662D3-9D59-439B-8D4B-AE4CBC4D3FA2}">
      <dsp:nvSpPr>
        <dsp:cNvPr id="0" name=""/>
        <dsp:cNvSpPr/>
      </dsp:nvSpPr>
      <dsp:spPr>
        <a:xfrm>
          <a:off x="5036566" y="20764"/>
          <a:ext cx="1396055" cy="1396055"/>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Sustainability</a:t>
          </a:r>
          <a:endParaRPr lang="en-US" sz="1200" kern="1200" dirty="0"/>
        </a:p>
      </dsp:txBody>
      <dsp:txXfrm>
        <a:off x="5241014" y="225212"/>
        <a:ext cx="987159" cy="987159"/>
      </dsp:txXfrm>
    </dsp:sp>
    <dsp:sp modelId="{2A1116DE-D8FF-418D-96B1-C3391F48B694}">
      <dsp:nvSpPr>
        <dsp:cNvPr id="0" name=""/>
        <dsp:cNvSpPr/>
      </dsp:nvSpPr>
      <dsp:spPr>
        <a:xfrm rot="19285714">
          <a:off x="6204034" y="2150083"/>
          <a:ext cx="699456" cy="21909"/>
        </a:xfrm>
        <a:custGeom>
          <a:avLst/>
          <a:gdLst/>
          <a:ahLst/>
          <a:cxnLst/>
          <a:rect l="0" t="0" r="0" b="0"/>
          <a:pathLst>
            <a:path>
              <a:moveTo>
                <a:pt x="0" y="10954"/>
              </a:moveTo>
              <a:lnTo>
                <a:pt x="699456" y="1095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US" sz="1200" kern="1200"/>
        </a:p>
      </dsp:txBody>
      <dsp:txXfrm>
        <a:off x="6536276" y="2143551"/>
        <a:ext cx="34972" cy="34972"/>
      </dsp:txXfrm>
    </dsp:sp>
    <dsp:sp modelId="{4A69AFD6-7FEC-4637-93D1-E487E531AA4A}">
      <dsp:nvSpPr>
        <dsp:cNvPr id="0" name=""/>
        <dsp:cNvSpPr/>
      </dsp:nvSpPr>
      <dsp:spPr>
        <a:xfrm>
          <a:off x="6674903" y="809745"/>
          <a:ext cx="1396055" cy="1396055"/>
        </a:xfrm>
        <a:prstGeom prst="ellipse">
          <a:avLst/>
        </a:prstGeom>
        <a:gradFill rotWithShape="0">
          <a:gsLst>
            <a:gs pos="0">
              <a:schemeClr val="accent5">
                <a:hueOff val="-1225557"/>
                <a:satOff val="-1705"/>
                <a:lumOff val="-654"/>
                <a:alphaOff val="0"/>
                <a:satMod val="103000"/>
                <a:lumMod val="102000"/>
                <a:tint val="94000"/>
              </a:schemeClr>
            </a:gs>
            <a:gs pos="50000">
              <a:schemeClr val="accent5">
                <a:hueOff val="-1225557"/>
                <a:satOff val="-1705"/>
                <a:lumOff val="-654"/>
                <a:alphaOff val="0"/>
                <a:satMod val="110000"/>
                <a:lumMod val="100000"/>
                <a:shade val="100000"/>
              </a:schemeClr>
            </a:gs>
            <a:gs pos="100000">
              <a:schemeClr val="accent5">
                <a:hueOff val="-1225557"/>
                <a:satOff val="-1705"/>
                <a:lumOff val="-65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Drainage</a:t>
          </a:r>
          <a:endParaRPr lang="en-US" sz="1200" kern="1200" dirty="0"/>
        </a:p>
      </dsp:txBody>
      <dsp:txXfrm>
        <a:off x="6879351" y="1014193"/>
        <a:ext cx="987159" cy="987159"/>
      </dsp:txXfrm>
    </dsp:sp>
    <dsp:sp modelId="{BAA3597E-53E9-4237-828D-00DDEDCAF142}">
      <dsp:nvSpPr>
        <dsp:cNvPr id="0" name=""/>
        <dsp:cNvSpPr/>
      </dsp:nvSpPr>
      <dsp:spPr>
        <a:xfrm rot="771429">
          <a:off x="6406352" y="3036496"/>
          <a:ext cx="699456" cy="21909"/>
        </a:xfrm>
        <a:custGeom>
          <a:avLst/>
          <a:gdLst/>
          <a:ahLst/>
          <a:cxnLst/>
          <a:rect l="0" t="0" r="0" b="0"/>
          <a:pathLst>
            <a:path>
              <a:moveTo>
                <a:pt x="0" y="10954"/>
              </a:moveTo>
              <a:lnTo>
                <a:pt x="699456" y="1095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US" sz="1200" kern="1200"/>
        </a:p>
      </dsp:txBody>
      <dsp:txXfrm>
        <a:off x="6738593" y="3029964"/>
        <a:ext cx="34972" cy="34972"/>
      </dsp:txXfrm>
    </dsp:sp>
    <dsp:sp modelId="{14B0317C-2B7A-426D-9566-CBF3CBCE6EF3}">
      <dsp:nvSpPr>
        <dsp:cNvPr id="0" name=""/>
        <dsp:cNvSpPr/>
      </dsp:nvSpPr>
      <dsp:spPr>
        <a:xfrm>
          <a:off x="7079539" y="2582571"/>
          <a:ext cx="1396055" cy="1396055"/>
        </a:xfrm>
        <a:prstGeom prst="ellipse">
          <a:avLst/>
        </a:prstGeom>
        <a:gradFill rotWithShape="0">
          <a:gsLst>
            <a:gs pos="0">
              <a:schemeClr val="accent5">
                <a:hueOff val="-2451115"/>
                <a:satOff val="-3409"/>
                <a:lumOff val="-1307"/>
                <a:alphaOff val="0"/>
                <a:satMod val="103000"/>
                <a:lumMod val="102000"/>
                <a:tint val="94000"/>
              </a:schemeClr>
            </a:gs>
            <a:gs pos="50000">
              <a:schemeClr val="accent5">
                <a:hueOff val="-2451115"/>
                <a:satOff val="-3409"/>
                <a:lumOff val="-1307"/>
                <a:alphaOff val="0"/>
                <a:satMod val="110000"/>
                <a:lumMod val="100000"/>
                <a:shade val="100000"/>
              </a:schemeClr>
            </a:gs>
            <a:gs pos="100000">
              <a:schemeClr val="accent5">
                <a:hueOff val="-2451115"/>
                <a:satOff val="-3409"/>
                <a:lumOff val="-13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Emergency Management &amp; Operations</a:t>
          </a:r>
          <a:endParaRPr lang="en-US" sz="1200" kern="1200" dirty="0"/>
        </a:p>
      </dsp:txBody>
      <dsp:txXfrm>
        <a:off x="7283987" y="2787019"/>
        <a:ext cx="987159" cy="987159"/>
      </dsp:txXfrm>
    </dsp:sp>
    <dsp:sp modelId="{E98DE145-C2A3-4F6B-9A41-EF324239777B}">
      <dsp:nvSpPr>
        <dsp:cNvPr id="0" name=""/>
        <dsp:cNvSpPr/>
      </dsp:nvSpPr>
      <dsp:spPr>
        <a:xfrm rot="3857143">
          <a:off x="5839469" y="3747343"/>
          <a:ext cx="699456" cy="21909"/>
        </a:xfrm>
        <a:custGeom>
          <a:avLst/>
          <a:gdLst/>
          <a:ahLst/>
          <a:cxnLst/>
          <a:rect l="0" t="0" r="0" b="0"/>
          <a:pathLst>
            <a:path>
              <a:moveTo>
                <a:pt x="0" y="10954"/>
              </a:moveTo>
              <a:lnTo>
                <a:pt x="699456" y="1095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US" sz="1200" kern="1200"/>
        </a:p>
      </dsp:txBody>
      <dsp:txXfrm>
        <a:off x="6171711" y="3740812"/>
        <a:ext cx="34972" cy="34972"/>
      </dsp:txXfrm>
    </dsp:sp>
    <dsp:sp modelId="{6331988E-0929-46E6-8CF8-7E66CE07E670}">
      <dsp:nvSpPr>
        <dsp:cNvPr id="0" name=""/>
        <dsp:cNvSpPr/>
      </dsp:nvSpPr>
      <dsp:spPr>
        <a:xfrm>
          <a:off x="5945774" y="4004266"/>
          <a:ext cx="1396055" cy="1396055"/>
        </a:xfrm>
        <a:prstGeom prst="ellipse">
          <a:avLst/>
        </a:prstGeom>
        <a:gradFill rotWithShape="0">
          <a:gsLst>
            <a:gs pos="0">
              <a:schemeClr val="accent5">
                <a:hueOff val="-3676672"/>
                <a:satOff val="-5114"/>
                <a:lumOff val="-1961"/>
                <a:alphaOff val="0"/>
                <a:satMod val="103000"/>
                <a:lumMod val="102000"/>
                <a:tint val="94000"/>
              </a:schemeClr>
            </a:gs>
            <a:gs pos="50000">
              <a:schemeClr val="accent5">
                <a:hueOff val="-3676672"/>
                <a:satOff val="-5114"/>
                <a:lumOff val="-1961"/>
                <a:alphaOff val="0"/>
                <a:satMod val="110000"/>
                <a:lumMod val="100000"/>
                <a:shade val="100000"/>
              </a:schemeClr>
            </a:gs>
            <a:gs pos="100000">
              <a:schemeClr val="accent5">
                <a:hueOff val="-3676672"/>
                <a:satOff val="-5114"/>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Traffic Management</a:t>
          </a:r>
          <a:endParaRPr lang="en-US" sz="1200" kern="1200" dirty="0"/>
        </a:p>
      </dsp:txBody>
      <dsp:txXfrm>
        <a:off x="6150222" y="4208714"/>
        <a:ext cx="987159" cy="987159"/>
      </dsp:txXfrm>
    </dsp:sp>
    <dsp:sp modelId="{A58EB9D4-DE0D-4903-874E-0F1641D582A7}">
      <dsp:nvSpPr>
        <dsp:cNvPr id="0" name=""/>
        <dsp:cNvSpPr/>
      </dsp:nvSpPr>
      <dsp:spPr>
        <a:xfrm rot="6942857">
          <a:off x="4930261" y="3747343"/>
          <a:ext cx="699456" cy="21909"/>
        </a:xfrm>
        <a:custGeom>
          <a:avLst/>
          <a:gdLst/>
          <a:ahLst/>
          <a:cxnLst/>
          <a:rect l="0" t="0" r="0" b="0"/>
          <a:pathLst>
            <a:path>
              <a:moveTo>
                <a:pt x="0" y="10954"/>
              </a:moveTo>
              <a:lnTo>
                <a:pt x="699456" y="1095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US" sz="1200" kern="1200"/>
        </a:p>
      </dsp:txBody>
      <dsp:txXfrm rot="10800000">
        <a:off x="5262503" y="3740812"/>
        <a:ext cx="34972" cy="34972"/>
      </dsp:txXfrm>
    </dsp:sp>
    <dsp:sp modelId="{3CA69716-EC83-42EA-92E3-B265F1FAA1E1}">
      <dsp:nvSpPr>
        <dsp:cNvPr id="0" name=""/>
        <dsp:cNvSpPr/>
      </dsp:nvSpPr>
      <dsp:spPr>
        <a:xfrm>
          <a:off x="4127358" y="4004266"/>
          <a:ext cx="1396055" cy="1396055"/>
        </a:xfrm>
        <a:prstGeom prst="ellipse">
          <a:avLst/>
        </a:prstGeom>
        <a:gradFill rotWithShape="0">
          <a:gsLst>
            <a:gs pos="0">
              <a:schemeClr val="accent5">
                <a:hueOff val="-4902230"/>
                <a:satOff val="-6819"/>
                <a:lumOff val="-2615"/>
                <a:alphaOff val="0"/>
                <a:satMod val="103000"/>
                <a:lumMod val="102000"/>
                <a:tint val="94000"/>
              </a:schemeClr>
            </a:gs>
            <a:gs pos="50000">
              <a:schemeClr val="accent5">
                <a:hueOff val="-4902230"/>
                <a:satOff val="-6819"/>
                <a:lumOff val="-2615"/>
                <a:alphaOff val="0"/>
                <a:satMod val="110000"/>
                <a:lumMod val="100000"/>
                <a:shade val="100000"/>
              </a:schemeClr>
            </a:gs>
            <a:gs pos="100000">
              <a:schemeClr val="accent5">
                <a:hueOff val="-4902230"/>
                <a:satOff val="-6819"/>
                <a:lumOff val="-261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Geospatial Services</a:t>
          </a:r>
          <a:endParaRPr lang="en-US" sz="1200" kern="1200" dirty="0"/>
        </a:p>
      </dsp:txBody>
      <dsp:txXfrm>
        <a:off x="4331806" y="4208714"/>
        <a:ext cx="987159" cy="987159"/>
      </dsp:txXfrm>
    </dsp:sp>
    <dsp:sp modelId="{B43C937B-E3F8-4BFC-A02B-A99F20D50322}">
      <dsp:nvSpPr>
        <dsp:cNvPr id="0" name=""/>
        <dsp:cNvSpPr/>
      </dsp:nvSpPr>
      <dsp:spPr>
        <a:xfrm rot="10028571">
          <a:off x="4363379" y="3036496"/>
          <a:ext cx="699456" cy="21909"/>
        </a:xfrm>
        <a:custGeom>
          <a:avLst/>
          <a:gdLst/>
          <a:ahLst/>
          <a:cxnLst/>
          <a:rect l="0" t="0" r="0" b="0"/>
          <a:pathLst>
            <a:path>
              <a:moveTo>
                <a:pt x="0" y="10954"/>
              </a:moveTo>
              <a:lnTo>
                <a:pt x="699456" y="1095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US" sz="1200" kern="1200"/>
        </a:p>
      </dsp:txBody>
      <dsp:txXfrm rot="10800000">
        <a:off x="4695621" y="3029964"/>
        <a:ext cx="34972" cy="34972"/>
      </dsp:txXfrm>
    </dsp:sp>
    <dsp:sp modelId="{3CC8D655-0595-4782-A71C-EABB44D86107}">
      <dsp:nvSpPr>
        <dsp:cNvPr id="0" name=""/>
        <dsp:cNvSpPr/>
      </dsp:nvSpPr>
      <dsp:spPr>
        <a:xfrm>
          <a:off x="2993593" y="2582571"/>
          <a:ext cx="1396055" cy="1396055"/>
        </a:xfrm>
        <a:prstGeom prst="ellipse">
          <a:avLst/>
        </a:prstGeom>
        <a:gradFill rotWithShape="0">
          <a:gsLst>
            <a:gs pos="0">
              <a:schemeClr val="accent5">
                <a:hueOff val="-6127787"/>
                <a:satOff val="-8523"/>
                <a:lumOff val="-3268"/>
                <a:alphaOff val="0"/>
                <a:satMod val="103000"/>
                <a:lumMod val="102000"/>
                <a:tint val="94000"/>
              </a:schemeClr>
            </a:gs>
            <a:gs pos="50000">
              <a:schemeClr val="accent5">
                <a:hueOff val="-6127787"/>
                <a:satOff val="-8523"/>
                <a:lumOff val="-3268"/>
                <a:alphaOff val="0"/>
                <a:satMod val="110000"/>
                <a:lumMod val="100000"/>
                <a:shade val="100000"/>
              </a:schemeClr>
            </a:gs>
            <a:gs pos="100000">
              <a:schemeClr val="accent5">
                <a:hueOff val="-6127787"/>
                <a:satOff val="-8523"/>
                <a:lumOff val="-326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Maintenance &amp; Operations </a:t>
          </a:r>
          <a:endParaRPr lang="en-US" sz="1200" kern="1200" dirty="0"/>
        </a:p>
      </dsp:txBody>
      <dsp:txXfrm>
        <a:off x="3198041" y="2787019"/>
        <a:ext cx="987159" cy="987159"/>
      </dsp:txXfrm>
    </dsp:sp>
    <dsp:sp modelId="{A55644AC-11BA-4E74-872C-45D214680D1B}">
      <dsp:nvSpPr>
        <dsp:cNvPr id="0" name=""/>
        <dsp:cNvSpPr/>
      </dsp:nvSpPr>
      <dsp:spPr>
        <a:xfrm rot="13114286">
          <a:off x="4565697" y="2150083"/>
          <a:ext cx="699456" cy="21909"/>
        </a:xfrm>
        <a:custGeom>
          <a:avLst/>
          <a:gdLst/>
          <a:ahLst/>
          <a:cxnLst/>
          <a:rect l="0" t="0" r="0" b="0"/>
          <a:pathLst>
            <a:path>
              <a:moveTo>
                <a:pt x="0" y="10954"/>
              </a:moveTo>
              <a:lnTo>
                <a:pt x="699456" y="1095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US" sz="1200" kern="1200"/>
        </a:p>
      </dsp:txBody>
      <dsp:txXfrm rot="10800000">
        <a:off x="4897939" y="2143551"/>
        <a:ext cx="34972" cy="34972"/>
      </dsp:txXfrm>
    </dsp:sp>
    <dsp:sp modelId="{0791B066-4DBA-4F6B-95D2-EDE16E161C50}">
      <dsp:nvSpPr>
        <dsp:cNvPr id="0" name=""/>
        <dsp:cNvSpPr/>
      </dsp:nvSpPr>
      <dsp:spPr>
        <a:xfrm>
          <a:off x="3398229" y="809745"/>
          <a:ext cx="1396055" cy="1396055"/>
        </a:xfrm>
        <a:prstGeom prst="ellipse">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Hydraulic Engineering</a:t>
          </a:r>
          <a:endParaRPr lang="en-US" sz="1200" kern="1200" dirty="0"/>
        </a:p>
      </dsp:txBody>
      <dsp:txXfrm>
        <a:off x="3602677" y="1014193"/>
        <a:ext cx="987159" cy="987159"/>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84AA2-ED15-4580-91F7-2BDF67D3A46A}" type="datetimeFigureOut">
              <a:rPr lang="en-US" smtClean="0"/>
              <a:pPr/>
              <a:t>6/20/2017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198EC0-ACF3-4A15-ADA8-9BF4FFC0F5DF}" type="slidenum">
              <a:rPr lang="en-US" smtClean="0"/>
              <a:pPr/>
              <a:t>‹#›</a:t>
            </a:fld>
            <a:endParaRPr lang="en-US"/>
          </a:p>
        </p:txBody>
      </p:sp>
    </p:spTree>
    <p:extLst>
      <p:ext uri="{BB962C8B-B14F-4D97-AF65-F5344CB8AC3E}">
        <p14:creationId xmlns:p14="http://schemas.microsoft.com/office/powerpoint/2010/main" val="659183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1C36154-22D9-4479-BB96-BF4A3C77082E}" type="slidenum">
              <a:rPr lang="en-US" smtClean="0"/>
              <a:pPr/>
              <a:t>1</a:t>
            </a:fld>
            <a:endParaRPr lang="en-US"/>
          </a:p>
        </p:txBody>
      </p:sp>
    </p:spTree>
    <p:extLst>
      <p:ext uri="{BB962C8B-B14F-4D97-AF65-F5344CB8AC3E}">
        <p14:creationId xmlns:p14="http://schemas.microsoft.com/office/powerpoint/2010/main" val="672621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p:spPr>
      </p:sp>
      <p:sp>
        <p:nvSpPr>
          <p:cNvPr id="378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
        <p:nvSpPr>
          <p:cNvPr id="4" name="Slide Number Placeholder 3"/>
          <p:cNvSpPr>
            <a:spLocks noGrp="1"/>
          </p:cNvSpPr>
          <p:nvPr>
            <p:ph type="sldNum" sz="quarter" idx="5"/>
          </p:nvPr>
        </p:nvSpPr>
        <p:spPr/>
        <p:txBody>
          <a:bodyPr/>
          <a:lstStyle/>
          <a:p>
            <a:pPr>
              <a:defRPr/>
            </a:pPr>
            <a:fld id="{8D9F1D60-EF99-4FCC-948A-58533B908BA2}" type="slidenum">
              <a:rPr lang="en-US" smtClean="0"/>
              <a:pPr>
                <a:defRPr/>
              </a:pPr>
              <a:t>2</a:t>
            </a:fld>
            <a:endParaRPr lang="en-US"/>
          </a:p>
        </p:txBody>
      </p:sp>
    </p:spTree>
    <p:extLst>
      <p:ext uri="{BB962C8B-B14F-4D97-AF65-F5344CB8AC3E}">
        <p14:creationId xmlns:p14="http://schemas.microsoft.com/office/powerpoint/2010/main" val="2338827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C36154-22D9-4479-BB96-BF4A3C77082E}" type="slidenum">
              <a:rPr lang="en-US" smtClean="0"/>
              <a:pPr/>
              <a:t>3</a:t>
            </a:fld>
            <a:endParaRPr lang="en-US"/>
          </a:p>
        </p:txBody>
      </p:sp>
    </p:spTree>
    <p:extLst>
      <p:ext uri="{BB962C8B-B14F-4D97-AF65-F5344CB8AC3E}">
        <p14:creationId xmlns:p14="http://schemas.microsoft.com/office/powerpoint/2010/main" val="3641798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C36154-22D9-4479-BB96-BF4A3C77082E}" type="slidenum">
              <a:rPr lang="en-US" smtClean="0"/>
              <a:pPr/>
              <a:t>4</a:t>
            </a:fld>
            <a:endParaRPr lang="en-US"/>
          </a:p>
        </p:txBody>
      </p:sp>
    </p:spTree>
    <p:extLst>
      <p:ext uri="{BB962C8B-B14F-4D97-AF65-F5344CB8AC3E}">
        <p14:creationId xmlns:p14="http://schemas.microsoft.com/office/powerpoint/2010/main" val="4111355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C36154-22D9-4479-BB96-BF4A3C77082E}" type="slidenum">
              <a:rPr lang="en-US" smtClean="0"/>
              <a:pPr/>
              <a:t>5</a:t>
            </a:fld>
            <a:endParaRPr lang="en-US"/>
          </a:p>
        </p:txBody>
      </p:sp>
    </p:spTree>
    <p:extLst>
      <p:ext uri="{BB962C8B-B14F-4D97-AF65-F5344CB8AC3E}">
        <p14:creationId xmlns:p14="http://schemas.microsoft.com/office/powerpoint/2010/main" val="2010604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C36154-22D9-4479-BB96-BF4A3C77082E}" type="slidenum">
              <a:rPr lang="en-US" smtClean="0"/>
              <a:pPr/>
              <a:t>6</a:t>
            </a:fld>
            <a:endParaRPr lang="en-US"/>
          </a:p>
        </p:txBody>
      </p:sp>
    </p:spTree>
    <p:extLst>
      <p:ext uri="{BB962C8B-B14F-4D97-AF65-F5344CB8AC3E}">
        <p14:creationId xmlns:p14="http://schemas.microsoft.com/office/powerpoint/2010/main" val="1775044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C36154-22D9-4479-BB96-BF4A3C77082E}" type="slidenum">
              <a:rPr lang="en-US" smtClean="0"/>
              <a:pPr/>
              <a:t>7</a:t>
            </a:fld>
            <a:endParaRPr lang="en-US"/>
          </a:p>
        </p:txBody>
      </p:sp>
    </p:spTree>
    <p:extLst>
      <p:ext uri="{BB962C8B-B14F-4D97-AF65-F5344CB8AC3E}">
        <p14:creationId xmlns:p14="http://schemas.microsoft.com/office/powerpoint/2010/main" val="2297309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5B198EC0-ACF3-4A15-ADA8-9BF4FFC0F5DF}" type="slidenum">
              <a:rPr lang="en-US" smtClean="0"/>
              <a:pPr/>
              <a:t>8</a:t>
            </a:fld>
            <a:endParaRPr lang="en-US"/>
          </a:p>
        </p:txBody>
      </p:sp>
    </p:spTree>
    <p:extLst>
      <p:ext uri="{BB962C8B-B14F-4D97-AF65-F5344CB8AC3E}">
        <p14:creationId xmlns:p14="http://schemas.microsoft.com/office/powerpoint/2010/main" val="3237769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Stage</a:t>
            </a:r>
            <a:r>
              <a:rPr lang="en-US" baseline="0" dirty="0" smtClean="0"/>
              <a:t> Discharge Predictions and Flood Extents: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mn-lt"/>
                <a:ea typeface="+mn-ea"/>
                <a:cs typeface="+mn-cs"/>
              </a:rPr>
              <a:t>The system displays floodplain inundation extent predictions based on Advanced Hydrologic Prediction Service (AHPS) river gage stage-discharge forecasts for various NWS-defined flood stages. This module represents the hydrometeorology and flood mapping component of flood forecasting to not only understand how much flooding there might be, but also when and the where. </a:t>
            </a:r>
            <a:endParaRPr lang="en-US" sz="1200" kern="1200" dirty="0" smtClean="0">
              <a:solidFill>
                <a:schemeClr val="tx1"/>
              </a:solidFill>
              <a:effectLst/>
              <a:latin typeface="+mn-lt"/>
              <a:ea typeface="+mn-ea"/>
              <a:cs typeface="+mn-cs"/>
            </a:endParaRPr>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5B198EC0-ACF3-4A15-ADA8-9BF4FFC0F5DF}" type="slidenum">
              <a:rPr lang="en-US" smtClean="0"/>
              <a:pPr/>
              <a:t>9</a:t>
            </a:fld>
            <a:endParaRPr lang="en-US"/>
          </a:p>
        </p:txBody>
      </p:sp>
    </p:spTree>
    <p:extLst>
      <p:ext uri="{BB962C8B-B14F-4D97-AF65-F5344CB8AC3E}">
        <p14:creationId xmlns:p14="http://schemas.microsoft.com/office/powerpoint/2010/main" val="2831347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EM &amp; Ops: </a:t>
            </a:r>
          </a:p>
          <a:p>
            <a:r>
              <a:rPr lang="en-US" sz="1200" kern="1200" dirty="0" smtClean="0">
                <a:solidFill>
                  <a:schemeClr val="tx1"/>
                </a:solidFill>
                <a:effectLst/>
                <a:latin typeface="+mn-lt"/>
                <a:ea typeface="+mn-ea"/>
                <a:cs typeface="+mn-cs"/>
              </a:rPr>
              <a:t>The system displays the forecasted riverine flood extents overlaid on critical transportation assets. In 2-hour increments from the baseline flood event, the system shows how the status of assets change as the flood event develops.</a:t>
            </a:r>
            <a:endParaRPr lang="en-US" baseline="0" dirty="0" smtClean="0"/>
          </a:p>
          <a:p>
            <a:endParaRPr lang="en-US" baseline="0" dirty="0" smtClean="0"/>
          </a:p>
          <a:p>
            <a:r>
              <a:rPr lang="en-US" sz="1200" kern="1200" dirty="0" smtClean="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5B198EC0-ACF3-4A15-ADA8-9BF4FFC0F5DF}" type="slidenum">
              <a:rPr lang="en-US" smtClean="0"/>
              <a:pPr/>
              <a:t>10</a:t>
            </a:fld>
            <a:endParaRPr lang="en-US"/>
          </a:p>
        </p:txBody>
      </p:sp>
    </p:spTree>
    <p:extLst>
      <p:ext uri="{BB962C8B-B14F-4D97-AF65-F5344CB8AC3E}">
        <p14:creationId xmlns:p14="http://schemas.microsoft.com/office/powerpoint/2010/main" val="2085666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Incident Reporting and Damage Estimates: </a:t>
            </a:r>
          </a:p>
          <a:p>
            <a:r>
              <a:rPr lang="en-US" sz="1200" kern="1200" dirty="0" smtClean="0">
                <a:solidFill>
                  <a:schemeClr val="tx1"/>
                </a:solidFill>
                <a:effectLst/>
                <a:latin typeface="+mn-lt"/>
                <a:ea typeface="+mn-ea"/>
                <a:cs typeface="+mn-cs"/>
              </a:rPr>
              <a:t>Incident tracking and summary tools provide streamlined workflows, centralized tracking, and rapid synthesis of flood event analytics to facilitate both active flood event response and assists with post-disaster recovery and reimbursement activities. The system’s incident report features allows users to document attributes of impacted assets.</a:t>
            </a:r>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5B198EC0-ACF3-4A15-ADA8-9BF4FFC0F5DF}" type="slidenum">
              <a:rPr lang="en-US" smtClean="0"/>
              <a:pPr/>
              <a:t>11</a:t>
            </a:fld>
            <a:endParaRPr lang="en-US"/>
          </a:p>
        </p:txBody>
      </p:sp>
    </p:spTree>
    <p:extLst>
      <p:ext uri="{BB962C8B-B14F-4D97-AF65-F5344CB8AC3E}">
        <p14:creationId xmlns:p14="http://schemas.microsoft.com/office/powerpoint/2010/main" val="3032276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Event Summary: </a:t>
            </a:r>
          </a:p>
          <a:p>
            <a:r>
              <a:rPr lang="en-US" sz="1200" kern="1200" dirty="0" smtClean="0">
                <a:solidFill>
                  <a:schemeClr val="tx1"/>
                </a:solidFill>
                <a:effectLst/>
                <a:latin typeface="+mn-lt"/>
                <a:ea typeface="+mn-ea"/>
                <a:cs typeface="+mn-cs"/>
              </a:rPr>
              <a:t>The system stores information on historical flood events in the Event Summary record database.  This event summarization feature can help DOTs with event debriefing and planning, as agencies can take note of assets that are repetitively flooded to inform mitigation activities and can review event response work flows during debriefing exercises.</a:t>
            </a:r>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5B198EC0-ACF3-4A15-ADA8-9BF4FFC0F5DF}" type="slidenum">
              <a:rPr lang="en-US" smtClean="0"/>
              <a:pPr/>
              <a:t>12</a:t>
            </a:fld>
            <a:endParaRPr lang="en-US"/>
          </a:p>
        </p:txBody>
      </p:sp>
    </p:spTree>
    <p:extLst>
      <p:ext uri="{BB962C8B-B14F-4D97-AF65-F5344CB8AC3E}">
        <p14:creationId xmlns:p14="http://schemas.microsoft.com/office/powerpoint/2010/main" val="3936732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Communication: </a:t>
            </a:r>
          </a:p>
          <a:p>
            <a:r>
              <a:rPr lang="en-US" sz="1200" kern="1200" dirty="0" smtClean="0">
                <a:solidFill>
                  <a:schemeClr val="tx1"/>
                </a:solidFill>
                <a:effectLst/>
                <a:latin typeface="+mn-lt"/>
                <a:ea typeface="+mn-ea"/>
                <a:cs typeface="+mn-cs"/>
              </a:rPr>
              <a:t>The communication component is a key functionality of the </a:t>
            </a:r>
            <a:r>
              <a:rPr lang="en-US" sz="1200" kern="1200" dirty="0" err="1" smtClean="0">
                <a:solidFill>
                  <a:schemeClr val="tx1"/>
                </a:solidFill>
                <a:effectLst/>
                <a:latin typeface="+mn-lt"/>
                <a:ea typeface="+mn-ea"/>
                <a:cs typeface="+mn-cs"/>
              </a:rPr>
              <a:t>FloodCast</a:t>
            </a:r>
            <a:r>
              <a:rPr lang="en-US" sz="1200" kern="1200" dirty="0" smtClean="0">
                <a:solidFill>
                  <a:schemeClr val="tx1"/>
                </a:solidFill>
                <a:effectLst/>
                <a:latin typeface="+mn-lt"/>
                <a:ea typeface="+mn-ea"/>
                <a:cs typeface="+mn-cs"/>
              </a:rPr>
              <a:t> prototype, providing a means to deliver automatic alerts to all registered users of the system via e-mail or SMS message. The communications portion of the tool provides a warning system that allows users to monitor the status, criticality and </a:t>
            </a:r>
            <a:r>
              <a:rPr lang="en-US" sz="1200" kern="1200" dirty="0" err="1" smtClean="0">
                <a:solidFill>
                  <a:schemeClr val="tx1"/>
                </a:solidFill>
                <a:effectLst/>
                <a:latin typeface="+mn-lt"/>
                <a:ea typeface="+mn-ea"/>
                <a:cs typeface="+mn-cs"/>
              </a:rPr>
              <a:t>passability</a:t>
            </a:r>
            <a:r>
              <a:rPr lang="en-US" sz="1200" kern="1200" dirty="0" smtClean="0">
                <a:solidFill>
                  <a:schemeClr val="tx1"/>
                </a:solidFill>
                <a:effectLst/>
                <a:latin typeface="+mn-lt"/>
                <a:ea typeface="+mn-ea"/>
                <a:cs typeface="+mn-cs"/>
              </a:rPr>
              <a:t> of all assets within their affected municipality. Alerts include a visualization of the predicted floodplain extent and system-generated hyperlink to additional information about the event. </a:t>
            </a:r>
            <a:endParaRPr lang="en-US" dirty="0"/>
          </a:p>
        </p:txBody>
      </p:sp>
      <p:sp>
        <p:nvSpPr>
          <p:cNvPr id="4" name="Slide Number Placeholder 3"/>
          <p:cNvSpPr>
            <a:spLocks noGrp="1"/>
          </p:cNvSpPr>
          <p:nvPr>
            <p:ph type="sldNum" sz="quarter" idx="10"/>
          </p:nvPr>
        </p:nvSpPr>
        <p:spPr/>
        <p:txBody>
          <a:bodyPr/>
          <a:lstStyle/>
          <a:p>
            <a:fld id="{5B198EC0-ACF3-4A15-ADA8-9BF4FFC0F5DF}" type="slidenum">
              <a:rPr lang="en-US" smtClean="0"/>
              <a:pPr/>
              <a:t>13</a:t>
            </a:fld>
            <a:endParaRPr lang="en-US"/>
          </a:p>
        </p:txBody>
      </p:sp>
    </p:spTree>
    <p:extLst>
      <p:ext uri="{BB962C8B-B14F-4D97-AF65-F5344CB8AC3E}">
        <p14:creationId xmlns:p14="http://schemas.microsoft.com/office/powerpoint/2010/main" val="1837909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This CMM was developed to help State DOTs define the key data, technologies and practices required to effectively achieve progress towards flood forecasting and response. The CMM was organized into capability dimensions (i.e., Meteorology, Hydrology &amp; Hydraulics, Asset Management, Communication &amp; Information Transfer and Incident Management) with tiers indicating levels of maturity toward that objective. Tiers can then be used by interested entities to identify a pathway toward improving capabilities along each dimension. The research team utilized the </a:t>
            </a:r>
            <a:r>
              <a:rPr lang="en-US" sz="1200" kern="1200" dirty="0" err="1" smtClean="0">
                <a:solidFill>
                  <a:schemeClr val="tx1"/>
                </a:solidFill>
                <a:effectLst/>
                <a:latin typeface="+mn-lt"/>
                <a:ea typeface="+mn-ea"/>
                <a:cs typeface="+mn-cs"/>
              </a:rPr>
              <a:t>FloodCast</a:t>
            </a:r>
            <a:r>
              <a:rPr lang="en-US" sz="1200" kern="1200" dirty="0" smtClean="0">
                <a:solidFill>
                  <a:schemeClr val="tx1"/>
                </a:solidFill>
                <a:effectLst/>
                <a:latin typeface="+mn-lt"/>
                <a:ea typeface="+mn-ea"/>
                <a:cs typeface="+mn-cs"/>
              </a:rPr>
              <a:t> CMM to identify participant DOTs representing a mix of both early stage and more mature practitioners with respect to the 5 dimensions of the CMM.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14</a:t>
            </a:fld>
            <a:endParaRPr lang="en-US"/>
          </a:p>
        </p:txBody>
      </p:sp>
    </p:spTree>
    <p:extLst>
      <p:ext uri="{BB962C8B-B14F-4D97-AF65-F5344CB8AC3E}">
        <p14:creationId xmlns:p14="http://schemas.microsoft.com/office/powerpoint/2010/main" val="3953831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This CMM was developed to help State DOTs define the key data, technologies and practices required to effectively achieve progress towards flood forecasting and response. The CMM was organized into capability dimensions (i.e., Meteorology, Hydrology &amp; Hydraulics, Asset Management, Communication &amp; Information Transfer and Incident Management) with tiers indicating levels of maturity toward that objective. Tiers can then be used by interested entities to identify a pathway toward improving capabilities along each dimension. The research team utilized the </a:t>
            </a:r>
            <a:r>
              <a:rPr lang="en-US" sz="1200" kern="1200" dirty="0" err="1" smtClean="0">
                <a:solidFill>
                  <a:schemeClr val="tx1"/>
                </a:solidFill>
                <a:effectLst/>
                <a:latin typeface="+mn-lt"/>
                <a:ea typeface="+mn-ea"/>
                <a:cs typeface="+mn-cs"/>
              </a:rPr>
              <a:t>FloodCast</a:t>
            </a:r>
            <a:r>
              <a:rPr lang="en-US" sz="1200" kern="1200" dirty="0" smtClean="0">
                <a:solidFill>
                  <a:schemeClr val="tx1"/>
                </a:solidFill>
                <a:effectLst/>
                <a:latin typeface="+mn-lt"/>
                <a:ea typeface="+mn-ea"/>
                <a:cs typeface="+mn-cs"/>
              </a:rPr>
              <a:t> CMM to identify participant DOTs representing a mix of both early stage and more mature practitioners with respect to the 5 dimensions of the CMM.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15</a:t>
            </a:fld>
            <a:endParaRPr lang="en-US"/>
          </a:p>
        </p:txBody>
      </p:sp>
    </p:spTree>
    <p:extLst>
      <p:ext uri="{BB962C8B-B14F-4D97-AF65-F5344CB8AC3E}">
        <p14:creationId xmlns:p14="http://schemas.microsoft.com/office/powerpoint/2010/main" val="15664476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16</a:t>
            </a:fld>
            <a:endParaRPr lang="en-US"/>
          </a:p>
        </p:txBody>
      </p:sp>
    </p:spTree>
    <p:extLst>
      <p:ext uri="{BB962C8B-B14F-4D97-AF65-F5344CB8AC3E}">
        <p14:creationId xmlns:p14="http://schemas.microsoft.com/office/powerpoint/2010/main" val="34989745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17</a:t>
            </a:fld>
            <a:endParaRPr lang="en-US"/>
          </a:p>
        </p:txBody>
      </p:sp>
    </p:spTree>
    <p:extLst>
      <p:ext uri="{BB962C8B-B14F-4D97-AF65-F5344CB8AC3E}">
        <p14:creationId xmlns:p14="http://schemas.microsoft.com/office/powerpoint/2010/main" val="30190754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18</a:t>
            </a:fld>
            <a:endParaRPr lang="en-US"/>
          </a:p>
        </p:txBody>
      </p:sp>
    </p:spTree>
    <p:extLst>
      <p:ext uri="{BB962C8B-B14F-4D97-AF65-F5344CB8AC3E}">
        <p14:creationId xmlns:p14="http://schemas.microsoft.com/office/powerpoint/2010/main" val="40319372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19</a:t>
            </a:fld>
            <a:endParaRPr lang="en-US"/>
          </a:p>
        </p:txBody>
      </p:sp>
    </p:spTree>
    <p:extLst>
      <p:ext uri="{BB962C8B-B14F-4D97-AF65-F5344CB8AC3E}">
        <p14:creationId xmlns:p14="http://schemas.microsoft.com/office/powerpoint/2010/main" val="1037525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“functional” requirements that define specific capabilities that the system will perform and provide.</a:t>
            </a:r>
          </a:p>
          <a:p>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Requirements were organized by functional category (</a:t>
            </a:r>
            <a:r>
              <a:rPr lang="en-US" sz="1200" kern="1200" dirty="0" err="1" smtClean="0">
                <a:solidFill>
                  <a:schemeClr val="tx1"/>
                </a:solidFill>
                <a:effectLst/>
                <a:latin typeface="+mn-lt"/>
                <a:ea typeface="+mn-ea"/>
                <a:cs typeface="+mn-cs"/>
              </a:rPr>
              <a:t>e.g</a:t>
            </a:r>
            <a:r>
              <a:rPr lang="en-US" sz="1200" kern="1200" dirty="0" smtClean="0">
                <a:solidFill>
                  <a:schemeClr val="tx1"/>
                </a:solidFill>
                <a:effectLst/>
                <a:latin typeface="+mn-lt"/>
                <a:ea typeface="+mn-ea"/>
                <a:cs typeface="+mn-cs"/>
              </a:rPr>
              <a:t>, Incident Pre/Reporting, Additional Map Layers/Content, Analysis and Modeling, Viewing Data, Flood Alerts/Notifications, Data Sharing and Consumption, and Flood Event Record-Keeping) and </a:t>
            </a:r>
            <a:r>
              <a:rPr lang="en-US" sz="1200" kern="1200" dirty="0" err="1" smtClean="0">
                <a:solidFill>
                  <a:schemeClr val="tx1"/>
                </a:solidFill>
                <a:effectLst/>
                <a:latin typeface="+mn-lt"/>
                <a:ea typeface="+mn-ea"/>
                <a:cs typeface="+mn-cs"/>
              </a:rPr>
              <a:t>FloodCast</a:t>
            </a:r>
            <a:r>
              <a:rPr lang="en-US" sz="1200" kern="1200" dirty="0" smtClean="0">
                <a:solidFill>
                  <a:schemeClr val="tx1"/>
                </a:solidFill>
                <a:effectLst/>
                <a:latin typeface="+mn-lt"/>
                <a:ea typeface="+mn-ea"/>
                <a:cs typeface="+mn-cs"/>
              </a:rPr>
              <a:t> module (e.g., Forecasting, Incident Reporting, Flood Extents &amp; Emergency Operations, Communications, and Event Summary). In some cases, stakeholders provided requirements that do not fit into any of the existing </a:t>
            </a:r>
            <a:r>
              <a:rPr lang="en-US" sz="1200" kern="1200" dirty="0" err="1" smtClean="0">
                <a:solidFill>
                  <a:schemeClr val="tx1"/>
                </a:solidFill>
                <a:effectLst/>
                <a:latin typeface="+mn-lt"/>
                <a:ea typeface="+mn-ea"/>
                <a:cs typeface="+mn-cs"/>
              </a:rPr>
              <a:t>FloodCast</a:t>
            </a:r>
            <a:r>
              <a:rPr lang="en-US" sz="1200" kern="1200" dirty="0" smtClean="0">
                <a:solidFill>
                  <a:schemeClr val="tx1"/>
                </a:solidFill>
                <a:effectLst/>
                <a:latin typeface="+mn-lt"/>
                <a:ea typeface="+mn-ea"/>
                <a:cs typeface="+mn-cs"/>
              </a:rPr>
              <a:t> modules and would require a new module such as visualizing future Sea Level Rise inundation scenarios.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20</a:t>
            </a:fld>
            <a:endParaRPr lang="en-US"/>
          </a:p>
        </p:txBody>
      </p:sp>
    </p:spTree>
    <p:extLst>
      <p:ext uri="{BB962C8B-B14F-4D97-AF65-F5344CB8AC3E}">
        <p14:creationId xmlns:p14="http://schemas.microsoft.com/office/powerpoint/2010/main" val="31861625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non-functional” requirements that inform overall system/solution design</a:t>
            </a:r>
          </a:p>
          <a:p>
            <a:r>
              <a:rPr lang="en-US" sz="1200" kern="1200" dirty="0" smtClean="0">
                <a:solidFill>
                  <a:schemeClr val="tx1"/>
                </a:solidFill>
                <a:effectLst/>
                <a:latin typeface="+mn-lt"/>
                <a:ea typeface="+mn-ea"/>
                <a:cs typeface="+mn-cs"/>
              </a:rPr>
              <a:t>Non-functional requirements</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address application usability, configurability, computability, interoperability and similar qualities</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21</a:t>
            </a:fld>
            <a:endParaRPr lang="en-US"/>
          </a:p>
        </p:txBody>
      </p:sp>
    </p:spTree>
    <p:extLst>
      <p:ext uri="{BB962C8B-B14F-4D97-AF65-F5344CB8AC3E}">
        <p14:creationId xmlns:p14="http://schemas.microsoft.com/office/powerpoint/2010/main" val="157790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22</a:t>
            </a:fld>
            <a:endParaRPr lang="en-US"/>
          </a:p>
        </p:txBody>
      </p:sp>
    </p:spTree>
    <p:extLst>
      <p:ext uri="{BB962C8B-B14F-4D97-AF65-F5344CB8AC3E}">
        <p14:creationId xmlns:p14="http://schemas.microsoft.com/office/powerpoint/2010/main" val="2960740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23</a:t>
            </a:fld>
            <a:endParaRPr lang="en-US"/>
          </a:p>
        </p:txBody>
      </p:sp>
    </p:spTree>
    <p:extLst>
      <p:ext uri="{BB962C8B-B14F-4D97-AF65-F5344CB8AC3E}">
        <p14:creationId xmlns:p14="http://schemas.microsoft.com/office/powerpoint/2010/main" val="1659578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24</a:t>
            </a:fld>
            <a:endParaRPr lang="en-US"/>
          </a:p>
        </p:txBody>
      </p:sp>
    </p:spTree>
    <p:extLst>
      <p:ext uri="{BB962C8B-B14F-4D97-AF65-F5344CB8AC3E}">
        <p14:creationId xmlns:p14="http://schemas.microsoft.com/office/powerpoint/2010/main" val="18484178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25</a:t>
            </a:fld>
            <a:endParaRPr lang="en-US"/>
          </a:p>
        </p:txBody>
      </p:sp>
    </p:spTree>
    <p:extLst>
      <p:ext uri="{BB962C8B-B14F-4D97-AF65-F5344CB8AC3E}">
        <p14:creationId xmlns:p14="http://schemas.microsoft.com/office/powerpoint/2010/main" val="37752981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198EC0-ACF3-4A15-ADA8-9BF4FFC0F5DF}" type="slidenum">
              <a:rPr lang="en-US" smtClean="0"/>
              <a:pPr/>
              <a:t>26</a:t>
            </a:fld>
            <a:endParaRPr lang="en-US"/>
          </a:p>
        </p:txBody>
      </p:sp>
    </p:spTree>
    <p:extLst>
      <p:ext uri="{BB962C8B-B14F-4D97-AF65-F5344CB8AC3E}">
        <p14:creationId xmlns:p14="http://schemas.microsoft.com/office/powerpoint/2010/main" val="2168203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we develop standards in isolation,</a:t>
            </a:r>
            <a:r>
              <a:rPr lang="en-US" baseline="0" dirty="0" smtClean="0"/>
              <a:t> won’t be useful</a:t>
            </a:r>
          </a:p>
          <a:p>
            <a:endParaRPr lang="en-US" dirty="0" smtClean="0"/>
          </a:p>
          <a:p>
            <a:r>
              <a:rPr lang="en-US" dirty="0" smtClean="0"/>
              <a:t>How does </a:t>
            </a:r>
            <a:r>
              <a:rPr lang="en-US" dirty="0" err="1" smtClean="0"/>
              <a:t>HY_features</a:t>
            </a:r>
            <a:r>
              <a:rPr lang="en-US" dirty="0" smtClean="0"/>
              <a:t> fit in?</a:t>
            </a:r>
          </a:p>
          <a:p>
            <a:r>
              <a:rPr lang="en-US" dirty="0" smtClean="0"/>
              <a:t>Can it be adapted? Can we have another layer that joins with HY?</a:t>
            </a:r>
          </a:p>
          <a:p>
            <a:endParaRPr lang="en-US" dirty="0" smtClean="0"/>
          </a:p>
          <a:p>
            <a:r>
              <a:rPr lang="en-US" dirty="0" smtClean="0"/>
              <a:t>How does HAND fit in?</a:t>
            </a:r>
          </a:p>
          <a:p>
            <a:endParaRPr lang="en-US" dirty="0" smtClean="0"/>
          </a:p>
          <a:p>
            <a:r>
              <a:rPr lang="en-US" dirty="0" smtClean="0"/>
              <a:t>How does</a:t>
            </a:r>
            <a:r>
              <a:rPr lang="en-US" baseline="0" dirty="0" smtClean="0"/>
              <a:t> </a:t>
            </a:r>
            <a:r>
              <a:rPr lang="en-US" baseline="0" dirty="0" err="1" smtClean="0"/>
              <a:t>Water_ML</a:t>
            </a:r>
            <a:r>
              <a:rPr lang="en-US" baseline="0" dirty="0" smtClean="0"/>
              <a:t> fit in?</a:t>
            </a:r>
          </a:p>
          <a:p>
            <a:endParaRPr lang="en-US" baseline="0" dirty="0" smtClean="0"/>
          </a:p>
          <a:p>
            <a:r>
              <a:rPr lang="en-US" baseline="0" dirty="0" smtClean="0"/>
              <a:t>Sensors/crowd sourced data? Are there standards?</a:t>
            </a:r>
          </a:p>
          <a:p>
            <a:endParaRPr lang="en-US" baseline="0" dirty="0" smtClean="0"/>
          </a:p>
          <a:p>
            <a:r>
              <a:rPr lang="en-US" baseline="0" dirty="0" smtClean="0"/>
              <a:t>N American </a:t>
            </a:r>
            <a:r>
              <a:rPr lang="en-US" baseline="0" dirty="0" err="1" smtClean="0"/>
              <a:t>WaterWatch</a:t>
            </a:r>
            <a:r>
              <a:rPr lang="en-US" baseline="0" dirty="0" smtClean="0"/>
              <a:t> – how do they report AHPS information? </a:t>
            </a:r>
            <a:endParaRPr lang="en-US" dirty="0"/>
          </a:p>
        </p:txBody>
      </p:sp>
      <p:sp>
        <p:nvSpPr>
          <p:cNvPr id="4" name="Slide Number Placeholder 3"/>
          <p:cNvSpPr>
            <a:spLocks noGrp="1"/>
          </p:cNvSpPr>
          <p:nvPr>
            <p:ph type="sldNum" sz="quarter" idx="10"/>
          </p:nvPr>
        </p:nvSpPr>
        <p:spPr/>
        <p:txBody>
          <a:bodyPr/>
          <a:lstStyle/>
          <a:p>
            <a:fld id="{5B198EC0-ACF3-4A15-ADA8-9BF4FFC0F5DF}" type="slidenum">
              <a:rPr lang="en-US" smtClean="0"/>
              <a:pPr/>
              <a:t>27</a:t>
            </a:fld>
            <a:endParaRPr lang="en-US"/>
          </a:p>
        </p:txBody>
      </p:sp>
    </p:spTree>
    <p:extLst>
      <p:ext uri="{BB962C8B-B14F-4D97-AF65-F5344CB8AC3E}">
        <p14:creationId xmlns:p14="http://schemas.microsoft.com/office/powerpoint/2010/main" val="22017972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State</a:t>
            </a:r>
            <a:r>
              <a:rPr lang="en-US" baseline="0" dirty="0" smtClean="0"/>
              <a:t> DOTs receive hydro-met data from multiple state agencies and try to put this info together to increase situational awareness before a flood event, but having high resolution accurate data that is hard to interpret or requires significant manipulation prior to integration within web-based services used to support decision-making is of limited use during emergency events. </a:t>
            </a:r>
          </a:p>
          <a:p>
            <a:endParaRPr lang="en-US" baseline="0" dirty="0" smtClean="0"/>
          </a:p>
          <a:p>
            <a:r>
              <a:rPr lang="en-US" baseline="0" dirty="0" smtClean="0"/>
              <a:t>**key requirement: DOTs want inundation extents and depth predictions at both gaged and ungagged locations</a:t>
            </a:r>
          </a:p>
          <a:p>
            <a:r>
              <a:rPr lang="en-US" baseline="0" dirty="0" smtClean="0"/>
              <a:t>but there is no standard for how stage/discharge, or flow estimates are translated into inundation extents. </a:t>
            </a:r>
          </a:p>
          <a:p>
            <a:endParaRPr lang="en-US" baseline="0" dirty="0" smtClean="0"/>
          </a:p>
          <a:p>
            <a:r>
              <a:rPr lang="en-US" baseline="0" dirty="0" smtClean="0"/>
              <a:t>Standardization of this type is essential for internal communication with field crews as well as cross-entity collaboration. </a:t>
            </a:r>
          </a:p>
          <a:p>
            <a:endParaRPr lang="en-US" baseline="0" dirty="0" smtClean="0"/>
          </a:p>
          <a:p>
            <a:r>
              <a:rPr lang="en-US" sz="1200" b="0" i="0" u="none" strike="noStrike" kern="1200" baseline="0" dirty="0" smtClean="0">
                <a:solidFill>
                  <a:schemeClr val="tx1"/>
                </a:solidFill>
                <a:latin typeface="+mn-lt"/>
                <a:ea typeface="+mn-ea"/>
                <a:cs typeface="+mn-cs"/>
              </a:rPr>
              <a:t>Information flows through a wide range of channels within and across institutional hierarchies. Channels include traditional telecommunication (telephone, television, radio); social media; DOT and emergency management software; and innumerable sensors, some of which are static (e.g., stream gages, RWIS) and some of which are mobile (e.g., smartphones and tablets, Global Positioning System [GPS], aerial photogrammetry). DOT personnel; cooperating agencies; local, county, or national entities; and the public may be sending or receiving information at any given time. Communication tools are used to enhance situational awareness, coordinate response activities, and execute specific actions. Given the large number of channels and users, it can be desirable to employ automation techniques to facilitate communication to appropriate audiences and software platforms. </a:t>
            </a:r>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5B198EC0-ACF3-4A15-ADA8-9BF4FFC0F5DF}" type="slidenum">
              <a:rPr lang="en-US" smtClean="0"/>
              <a:pPr/>
              <a:t>28</a:t>
            </a:fld>
            <a:endParaRPr lang="en-US"/>
          </a:p>
        </p:txBody>
      </p:sp>
    </p:spTree>
    <p:extLst>
      <p:ext uri="{BB962C8B-B14F-4D97-AF65-F5344CB8AC3E}">
        <p14:creationId xmlns:p14="http://schemas.microsoft.com/office/powerpoint/2010/main" val="8702322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Near-real time </a:t>
            </a:r>
          </a:p>
        </p:txBody>
      </p:sp>
      <p:sp>
        <p:nvSpPr>
          <p:cNvPr id="4" name="Slide Number Placeholder 3"/>
          <p:cNvSpPr>
            <a:spLocks noGrp="1"/>
          </p:cNvSpPr>
          <p:nvPr>
            <p:ph type="sldNum" sz="quarter" idx="10"/>
          </p:nvPr>
        </p:nvSpPr>
        <p:spPr/>
        <p:txBody>
          <a:bodyPr/>
          <a:lstStyle/>
          <a:p>
            <a:fld id="{5B198EC0-ACF3-4A15-ADA8-9BF4FFC0F5DF}" type="slidenum">
              <a:rPr lang="en-US" smtClean="0"/>
              <a:pPr/>
              <a:t>30</a:t>
            </a:fld>
            <a:endParaRPr lang="en-US"/>
          </a:p>
        </p:txBody>
      </p:sp>
    </p:spTree>
    <p:extLst>
      <p:ext uri="{BB962C8B-B14F-4D97-AF65-F5344CB8AC3E}">
        <p14:creationId xmlns:p14="http://schemas.microsoft.com/office/powerpoint/2010/main" val="2005573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33924AF-8F92-49A2-9280-00AE5549E047}" type="datetimeFigureOut">
              <a:rPr lang="en-US" smtClean="0"/>
              <a:pPr/>
              <a:t>6/20/2017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3070479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33924AF-8F92-49A2-9280-00AE5549E047}" type="datetimeFigureOut">
              <a:rPr lang="en-US" smtClean="0"/>
              <a:pPr/>
              <a:t>6/20/2017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887180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33924AF-8F92-49A2-9280-00AE5549E047}" type="datetimeFigureOut">
              <a:rPr lang="en-US" smtClean="0"/>
              <a:pPr/>
              <a:t>6/20/2017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4279590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33924AF-8F92-49A2-9280-00AE5549E047}" type="datetimeFigureOut">
              <a:rPr lang="en-US" smtClean="0"/>
              <a:pPr/>
              <a:t>6/20/2017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2478328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33924AF-8F92-49A2-9280-00AE5549E047}" type="datetimeFigureOut">
              <a:rPr lang="en-US" smtClean="0"/>
              <a:pPr/>
              <a:t>6/20/2017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2950509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33924AF-8F92-49A2-9280-00AE5549E047}" type="datetimeFigureOut">
              <a:rPr lang="en-US" smtClean="0"/>
              <a:pPr/>
              <a:t>6/20/2017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2273029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3924AF-8F92-49A2-9280-00AE5549E047}" type="datetimeFigureOut">
              <a:rPr lang="en-US" smtClean="0"/>
              <a:pPr/>
              <a:t>6/20/2017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3172353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3924AF-8F92-49A2-9280-00AE5549E047}" type="datetimeFigureOut">
              <a:rPr lang="en-US" smtClean="0"/>
              <a:pPr/>
              <a:t>6/20/2017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511256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3924AF-8F92-49A2-9280-00AE5549E047}" type="datetimeFigureOut">
              <a:rPr lang="en-US" smtClean="0"/>
              <a:pPr/>
              <a:t>6/20/2017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3858039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33924AF-8F92-49A2-9280-00AE5549E047}" type="datetimeFigureOut">
              <a:rPr lang="en-US" smtClean="0"/>
              <a:pPr/>
              <a:t>6/20/2017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1623798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33924AF-8F92-49A2-9280-00AE5549E047}" type="datetimeFigureOut">
              <a:rPr lang="en-US" smtClean="0"/>
              <a:pPr/>
              <a:t>6/20/2017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93FCF-A5DF-4837-BCFD-1CEB86EF6B26}" type="slidenum">
              <a:rPr lang="en-US" smtClean="0"/>
              <a:pPr/>
              <a:t>‹#›</a:t>
            </a:fld>
            <a:endParaRPr lang="en-US"/>
          </a:p>
        </p:txBody>
      </p:sp>
    </p:spTree>
    <p:extLst>
      <p:ext uri="{BB962C8B-B14F-4D97-AF65-F5344CB8AC3E}">
        <p14:creationId xmlns:p14="http://schemas.microsoft.com/office/powerpoint/2010/main" val="6155139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1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5334000"/>
            <a:ext cx="7239000" cy="609600"/>
          </a:xfrm>
        </p:spPr>
        <p:txBody>
          <a:bodyPr>
            <a:noAutofit/>
          </a:bodyPr>
          <a:lstStyle>
            <a:lvl1pPr marL="0" indent="0" algn="l">
              <a:buNone/>
              <a:defRPr sz="24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5"/>
          <p:cNvSpPr>
            <a:spLocks noGrp="1"/>
          </p:cNvSpPr>
          <p:nvPr>
            <p:ph type="title"/>
          </p:nvPr>
        </p:nvSpPr>
        <p:spPr>
          <a:xfrm>
            <a:off x="609600" y="4572000"/>
            <a:ext cx="7239000" cy="838200"/>
          </a:xfrm>
        </p:spPr>
        <p:txBody>
          <a:bodyPr anchor="b">
            <a:noAutofit/>
          </a:bodyPr>
          <a:lstStyle>
            <a:lvl1pPr algn="l">
              <a:defRPr sz="3000" b="1"/>
            </a:lvl1pPr>
          </a:lstStyle>
          <a:p>
            <a:r>
              <a:rPr lang="en-US" dirty="0" smtClean="0"/>
              <a:t>Click to edit Master title style</a:t>
            </a:r>
            <a:endParaRPr lang="en-US" dirty="0"/>
          </a:p>
        </p:txBody>
      </p:sp>
      <p:pic>
        <p:nvPicPr>
          <p:cNvPr id="1026" name="Picture 2" descr="Z:\Graphics\Logos\Dewberry logos\jpeg logo\Dewberry logo RGB.jpg"/>
          <p:cNvPicPr>
            <a:picLocks noChangeAspect="1" noChangeArrowheads="1"/>
          </p:cNvPicPr>
          <p:nvPr userDrawn="1"/>
        </p:nvPicPr>
        <p:blipFill>
          <a:blip r:embed="rId2" cstate="print"/>
          <a:srcRect/>
          <a:stretch>
            <a:fillRect/>
          </a:stretch>
        </p:blipFill>
        <p:spPr bwMode="auto">
          <a:xfrm>
            <a:off x="7239000" y="359577"/>
            <a:ext cx="1600200" cy="244015"/>
          </a:xfrm>
          <a:prstGeom prst="rect">
            <a:avLst/>
          </a:prstGeom>
          <a:noFill/>
        </p:spPr>
      </p:pic>
      <p:sp>
        <p:nvSpPr>
          <p:cNvPr id="13" name="Rectangle 12"/>
          <p:cNvSpPr/>
          <p:nvPr userDrawn="1"/>
        </p:nvSpPr>
        <p:spPr>
          <a:xfrm>
            <a:off x="9067800" y="353568"/>
            <a:ext cx="91440" cy="256032"/>
          </a:xfrm>
          <a:prstGeom prst="rect">
            <a:avLst/>
          </a:prstGeom>
          <a:solidFill>
            <a:srgbClr val="CB99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 name="Group 15"/>
          <p:cNvGrpSpPr/>
          <p:nvPr userDrawn="1"/>
        </p:nvGrpSpPr>
        <p:grpSpPr>
          <a:xfrm>
            <a:off x="-228600" y="4572000"/>
            <a:ext cx="585216" cy="1517904"/>
            <a:chOff x="0" y="2590800"/>
            <a:chExt cx="585216" cy="1517904"/>
          </a:xfrm>
        </p:grpSpPr>
        <p:sp>
          <p:nvSpPr>
            <p:cNvPr id="14" name="Rectangle 13"/>
            <p:cNvSpPr/>
            <p:nvPr userDrawn="1"/>
          </p:nvSpPr>
          <p:spPr>
            <a:xfrm>
              <a:off x="0" y="2590800"/>
              <a:ext cx="585216" cy="1517904"/>
            </a:xfrm>
            <a:prstGeom prst="rect">
              <a:avLst/>
            </a:prstGeom>
            <a:solidFill>
              <a:srgbClr val="7D14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Rectangle 14"/>
            <p:cNvSpPr/>
            <p:nvPr userDrawn="1"/>
          </p:nvSpPr>
          <p:spPr>
            <a:xfrm>
              <a:off x="502920" y="2590800"/>
              <a:ext cx="82296" cy="1517904"/>
            </a:xfrm>
            <a:prstGeom prst="rect">
              <a:avLst/>
            </a:prstGeom>
            <a:solidFill>
              <a:srgbClr val="CB99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9" name="Picture Placeholder 18"/>
          <p:cNvSpPr>
            <a:spLocks noGrp="1"/>
          </p:cNvSpPr>
          <p:nvPr>
            <p:ph type="pic" sz="quarter" idx="10"/>
          </p:nvPr>
        </p:nvSpPr>
        <p:spPr>
          <a:xfrm>
            <a:off x="0" y="990600"/>
            <a:ext cx="9144000" cy="2971800"/>
          </a:xfrm>
        </p:spPr>
        <p:txBody>
          <a:bodyPr/>
          <a:lstStyle/>
          <a:p>
            <a:endParaRPr lang="en-US"/>
          </a:p>
        </p:txBody>
      </p:sp>
      <p:pic>
        <p:nvPicPr>
          <p:cNvPr id="16" name="Picture 15"/>
          <p:cNvPicPr>
            <a:picLocks noChangeAspect="1"/>
          </p:cNvPicPr>
          <p:nvPr userDrawn="1"/>
        </p:nvPicPr>
        <p:blipFill>
          <a:blip r:embed="rId3" cstate="print"/>
          <a:stretch>
            <a:fillRect/>
          </a:stretch>
        </p:blipFill>
        <p:spPr>
          <a:xfrm>
            <a:off x="6598920" y="6378671"/>
            <a:ext cx="2560320" cy="479329"/>
          </a:xfrm>
          <a:prstGeom prst="rect">
            <a:avLst/>
          </a:prstGeom>
        </p:spPr>
      </p:pic>
    </p:spTree>
    <p:extLst>
      <p:ext uri="{BB962C8B-B14F-4D97-AF65-F5344CB8AC3E}">
        <p14:creationId xmlns:p14="http://schemas.microsoft.com/office/powerpoint/2010/main" val="190133062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71601"/>
            <a:ext cx="8153400" cy="4754563"/>
          </a:xfrm>
        </p:spPr>
        <p:txBody>
          <a:bodyPr/>
          <a:lstStyle>
            <a:lvl1pPr>
              <a:spcBef>
                <a:spcPts val="1350"/>
              </a:spcBef>
              <a:defRPr/>
            </a:lvl1pPr>
            <a:lvl2pPr>
              <a:defRPr>
                <a:solidFill>
                  <a:schemeClr val="tx1">
                    <a:lumMod val="50000"/>
                    <a:lumOff val="50000"/>
                  </a:schemeClr>
                </a:solidFill>
              </a:defRPr>
            </a:lvl2pPr>
            <a:lvl3pPr>
              <a:defRPr>
                <a:solidFill>
                  <a:schemeClr val="bg1">
                    <a:lumMod val="65000"/>
                  </a:schemeClr>
                </a:solidFill>
              </a:defRPr>
            </a:lvl3pPr>
            <a:lvl4pPr>
              <a:defRPr>
                <a:solidFill>
                  <a:schemeClr val="bg1">
                    <a:lumMod val="65000"/>
                  </a:schemeClr>
                </a:solidFill>
              </a:defRPr>
            </a:lvl4pPr>
            <a:lvl5pPr>
              <a:defRPr>
                <a:solidFill>
                  <a:schemeClr val="bg1">
                    <a:lumMod val="65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Title 9"/>
          <p:cNvSpPr>
            <a:spLocks noGrp="1"/>
          </p:cNvSpPr>
          <p:nvPr>
            <p:ph type="title"/>
          </p:nvPr>
        </p:nvSpPr>
        <p:spPr>
          <a:xfrm>
            <a:off x="609600" y="228600"/>
            <a:ext cx="8153400" cy="639762"/>
          </a:xfrm>
        </p:spPr>
        <p:txBody>
          <a:bodyPr anchor="ctr">
            <a:noAutofit/>
          </a:bodyPr>
          <a:lstStyle>
            <a:lvl1pPr algn="l">
              <a:defRPr sz="3000" b="1"/>
            </a:lvl1pPr>
          </a:lstStyle>
          <a:p>
            <a:r>
              <a:rPr lang="en-US" dirty="0" smtClean="0"/>
              <a:t>Click to edit Master title style</a:t>
            </a:r>
            <a:endParaRPr lang="en-US" dirty="0"/>
          </a:p>
        </p:txBody>
      </p:sp>
      <p:cxnSp>
        <p:nvCxnSpPr>
          <p:cNvPr id="9" name="Straight Connector 8"/>
          <p:cNvCxnSpPr/>
          <p:nvPr userDrawn="1"/>
        </p:nvCxnSpPr>
        <p:spPr>
          <a:xfrm>
            <a:off x="-304800" y="6324454"/>
            <a:ext cx="9753600" cy="146"/>
          </a:xfrm>
          <a:prstGeom prst="line">
            <a:avLst/>
          </a:prstGeom>
          <a:ln w="6350">
            <a:solidFill>
              <a:schemeClr val="bg1">
                <a:lumMod val="50000"/>
              </a:schemeClr>
            </a:solidFill>
          </a:ln>
        </p:spPr>
        <p:style>
          <a:lnRef idx="1">
            <a:schemeClr val="dk1"/>
          </a:lnRef>
          <a:fillRef idx="0">
            <a:schemeClr val="dk1"/>
          </a:fillRef>
          <a:effectRef idx="0">
            <a:schemeClr val="dk1"/>
          </a:effectRef>
          <a:fontRef idx="minor">
            <a:schemeClr val="tx1"/>
          </a:fontRef>
        </p:style>
      </p:cxnSp>
      <p:pic>
        <p:nvPicPr>
          <p:cNvPr id="8" name="Picture 2" descr="Z:\Graphics\Logos\Dewberry logos\jpeg logo\Dewberry logo RGB.jpg"/>
          <p:cNvPicPr>
            <a:picLocks noChangeAspect="1" noChangeArrowheads="1"/>
          </p:cNvPicPr>
          <p:nvPr userDrawn="1"/>
        </p:nvPicPr>
        <p:blipFill>
          <a:blip r:embed="rId2" cstate="print"/>
          <a:srcRect/>
          <a:stretch>
            <a:fillRect/>
          </a:stretch>
        </p:blipFill>
        <p:spPr bwMode="auto">
          <a:xfrm>
            <a:off x="7239000" y="6477002"/>
            <a:ext cx="1600200" cy="244015"/>
          </a:xfrm>
          <a:prstGeom prst="rect">
            <a:avLst/>
          </a:prstGeom>
          <a:noFill/>
        </p:spPr>
      </p:pic>
      <p:sp>
        <p:nvSpPr>
          <p:cNvPr id="13" name="Rectangle 12"/>
          <p:cNvSpPr/>
          <p:nvPr userDrawn="1"/>
        </p:nvSpPr>
        <p:spPr>
          <a:xfrm>
            <a:off x="9067800" y="6449568"/>
            <a:ext cx="91440" cy="256032"/>
          </a:xfrm>
          <a:prstGeom prst="rect">
            <a:avLst/>
          </a:prstGeom>
          <a:solidFill>
            <a:srgbClr val="CB99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 name="Group 16"/>
          <p:cNvGrpSpPr/>
          <p:nvPr userDrawn="1"/>
        </p:nvGrpSpPr>
        <p:grpSpPr>
          <a:xfrm>
            <a:off x="-228600" y="228600"/>
            <a:ext cx="585216" cy="640080"/>
            <a:chOff x="0" y="310896"/>
            <a:chExt cx="585216" cy="640080"/>
          </a:xfrm>
        </p:grpSpPr>
        <p:sp>
          <p:nvSpPr>
            <p:cNvPr id="15" name="Rectangle 14"/>
            <p:cNvSpPr/>
            <p:nvPr userDrawn="1"/>
          </p:nvSpPr>
          <p:spPr>
            <a:xfrm>
              <a:off x="0" y="310896"/>
              <a:ext cx="585216" cy="640080"/>
            </a:xfrm>
            <a:prstGeom prst="rect">
              <a:avLst/>
            </a:prstGeom>
            <a:solidFill>
              <a:srgbClr val="7D14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15"/>
            <p:cNvSpPr/>
            <p:nvPr userDrawn="1"/>
          </p:nvSpPr>
          <p:spPr>
            <a:xfrm>
              <a:off x="502920" y="310896"/>
              <a:ext cx="82296" cy="640080"/>
            </a:xfrm>
            <a:prstGeom prst="rect">
              <a:avLst/>
            </a:prstGeom>
            <a:solidFill>
              <a:srgbClr val="CB99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2" name="Picture 11"/>
          <p:cNvPicPr>
            <a:picLocks noChangeAspect="1"/>
          </p:cNvPicPr>
          <p:nvPr userDrawn="1"/>
        </p:nvPicPr>
        <p:blipFill>
          <a:blip r:embed="rId3" cstate="print"/>
          <a:stretch>
            <a:fillRect/>
          </a:stretch>
        </p:blipFill>
        <p:spPr>
          <a:xfrm>
            <a:off x="0" y="6366670"/>
            <a:ext cx="2357120" cy="441287"/>
          </a:xfrm>
          <a:prstGeom prst="rect">
            <a:avLst/>
          </a:prstGeom>
        </p:spPr>
      </p:pic>
    </p:spTree>
    <p:extLst>
      <p:ext uri="{BB962C8B-B14F-4D97-AF65-F5344CB8AC3E}">
        <p14:creationId xmlns:p14="http://schemas.microsoft.com/office/powerpoint/2010/main" val="85540943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3924AF-8F92-49A2-9280-00AE5549E047}" type="datetimeFigureOut">
              <a:rPr lang="en-US" smtClean="0"/>
              <a:pPr/>
              <a:t>6/20/2017</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693FCF-A5DF-4837-BCFD-1CEB86EF6B26}" type="slidenum">
              <a:rPr lang="en-US" smtClean="0"/>
              <a:pPr/>
              <a:t>‹#›</a:t>
            </a:fld>
            <a:endParaRPr lang="en-US"/>
          </a:p>
        </p:txBody>
      </p:sp>
    </p:spTree>
    <p:extLst>
      <p:ext uri="{BB962C8B-B14F-4D97-AF65-F5344CB8AC3E}">
        <p14:creationId xmlns:p14="http://schemas.microsoft.com/office/powerpoint/2010/main" val="426546584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6.jpe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7.emf"/><Relationship Id="rId7" Type="http://schemas.openxmlformats.org/officeDocument/2006/relationships/image" Target="../media/image11.emf"/><Relationship Id="rId12" Type="http://schemas.openxmlformats.org/officeDocument/2006/relationships/image" Target="../media/image16.emf"/><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0.emf"/><Relationship Id="rId11" Type="http://schemas.openxmlformats.org/officeDocument/2006/relationships/image" Target="../media/image15.emf"/><Relationship Id="rId5" Type="http://schemas.openxmlformats.org/officeDocument/2006/relationships/image" Target="../media/image9.emf"/><Relationship Id="rId10" Type="http://schemas.openxmlformats.org/officeDocument/2006/relationships/image" Target="../media/image14.emf"/><Relationship Id="rId4" Type="http://schemas.openxmlformats.org/officeDocument/2006/relationships/image" Target="../media/image8.emf"/><Relationship Id="rId9" Type="http://schemas.openxmlformats.org/officeDocument/2006/relationships/image" Target="../media/image13.emf"/></Relationships>
</file>

<file path=ppt/slides/_rels/slide4.xml.rels><?xml version="1.0" encoding="UTF-8" standalone="yes"?>
<Relationships xmlns="http://schemas.openxmlformats.org/package/2006/relationships"><Relationship Id="rId8" Type="http://schemas.openxmlformats.org/officeDocument/2006/relationships/image" Target="../media/image18.emf"/><Relationship Id="rId13" Type="http://schemas.openxmlformats.org/officeDocument/2006/relationships/image" Target="../media/image12.emf"/><Relationship Id="rId3" Type="http://schemas.openxmlformats.org/officeDocument/2006/relationships/image" Target="../media/image8.emf"/><Relationship Id="rId7" Type="http://schemas.openxmlformats.org/officeDocument/2006/relationships/image" Target="../media/image13.emf"/><Relationship Id="rId12" Type="http://schemas.openxmlformats.org/officeDocument/2006/relationships/image" Target="../media/image7.emf"/><Relationship Id="rId2" Type="http://schemas.openxmlformats.org/officeDocument/2006/relationships/notesSlide" Target="../notesSlides/notesSlide4.xml"/><Relationship Id="rId16" Type="http://schemas.openxmlformats.org/officeDocument/2006/relationships/image" Target="../media/image21.emf"/><Relationship Id="rId1" Type="http://schemas.openxmlformats.org/officeDocument/2006/relationships/slideLayout" Target="../slideLayouts/slideLayout13.xml"/><Relationship Id="rId6" Type="http://schemas.openxmlformats.org/officeDocument/2006/relationships/image" Target="../media/image10.emf"/><Relationship Id="rId11" Type="http://schemas.openxmlformats.org/officeDocument/2006/relationships/image" Target="../media/image20.emf"/><Relationship Id="rId5" Type="http://schemas.openxmlformats.org/officeDocument/2006/relationships/image" Target="../media/image11.emf"/><Relationship Id="rId15" Type="http://schemas.openxmlformats.org/officeDocument/2006/relationships/image" Target="../media/image9.emf"/><Relationship Id="rId10" Type="http://schemas.openxmlformats.org/officeDocument/2006/relationships/image" Target="../media/image14.emf"/><Relationship Id="rId4" Type="http://schemas.openxmlformats.org/officeDocument/2006/relationships/image" Target="../media/image17.emf"/><Relationship Id="rId9" Type="http://schemas.openxmlformats.org/officeDocument/2006/relationships/image" Target="../media/image19.emf"/><Relationship Id="rId14" Type="http://schemas.openxmlformats.org/officeDocument/2006/relationships/image" Target="../media/image15.emf"/></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68512" y="4471416"/>
            <a:ext cx="7304926" cy="681228"/>
          </a:xfrm>
        </p:spPr>
        <p:txBody>
          <a:bodyPr/>
          <a:lstStyle/>
          <a:p>
            <a:pPr algn="ctr"/>
            <a:r>
              <a:rPr lang="en-US" sz="2100" dirty="0" smtClean="0"/>
              <a:t>NCHRP 20-59(53)</a:t>
            </a:r>
            <a:r>
              <a:rPr lang="en-US" sz="1000" dirty="0" smtClean="0"/>
              <a:t/>
            </a:r>
            <a:br>
              <a:rPr lang="en-US" sz="1000" dirty="0" smtClean="0"/>
            </a:br>
            <a:r>
              <a:rPr lang="en-US" sz="1000" dirty="0" smtClean="0">
                <a:effectLst>
                  <a:outerShdw blurRad="38100" dist="38100" dir="2700000" algn="tl">
                    <a:srgbClr val="000000">
                      <a:alpha val="43137"/>
                    </a:srgbClr>
                  </a:outerShdw>
                </a:effectLst>
              </a:rPr>
              <a:t/>
            </a:r>
            <a:br>
              <a:rPr lang="en-US" sz="1000" dirty="0" smtClean="0">
                <a:effectLst>
                  <a:outerShdw blurRad="38100" dist="38100" dir="2700000" algn="tl">
                    <a:srgbClr val="000000">
                      <a:alpha val="43137"/>
                    </a:srgbClr>
                  </a:outerShdw>
                </a:effectLst>
              </a:rPr>
            </a:br>
            <a:r>
              <a:rPr lang="en-US" sz="2800" dirty="0" err="1"/>
              <a:t>FloodCast</a:t>
            </a:r>
            <a:r>
              <a:rPr lang="en-US" sz="2800" dirty="0"/>
              <a:t>: A Framework for Enhanced Flood Event Decision Making for Transportation </a:t>
            </a:r>
            <a:r>
              <a:rPr lang="en-US" sz="2800" dirty="0" smtClean="0"/>
              <a:t>Resilience</a:t>
            </a:r>
            <a:r>
              <a:rPr lang="en-US" sz="1000" dirty="0" smtClean="0"/>
              <a:t/>
            </a:r>
            <a:br>
              <a:rPr lang="en-US" sz="1000" dirty="0" smtClean="0"/>
            </a:br>
            <a:r>
              <a:rPr lang="en-US" sz="1000" dirty="0">
                <a:effectLst>
                  <a:outerShdw blurRad="38100" dist="38100" dir="2700000" algn="tl">
                    <a:srgbClr val="000000">
                      <a:alpha val="43137"/>
                    </a:srgbClr>
                  </a:outerShdw>
                </a:effectLst>
              </a:rPr>
              <a:t/>
            </a:r>
            <a:br>
              <a:rPr lang="en-US" sz="1000" dirty="0">
                <a:effectLst>
                  <a:outerShdw blurRad="38100" dist="38100" dir="2700000" algn="tl">
                    <a:srgbClr val="000000">
                      <a:alpha val="43137"/>
                    </a:srgbClr>
                  </a:outerShdw>
                </a:effectLst>
              </a:rPr>
            </a:br>
            <a:r>
              <a:rPr lang="en-US" sz="750" dirty="0">
                <a:effectLst>
                  <a:outerShdw blurRad="38100" dist="38100" dir="2700000" algn="tl">
                    <a:srgbClr val="000000">
                      <a:alpha val="43137"/>
                    </a:srgbClr>
                  </a:outerShdw>
                </a:effectLst>
              </a:rPr>
              <a:t/>
            </a:r>
            <a:br>
              <a:rPr lang="en-US" sz="750" dirty="0">
                <a:effectLst>
                  <a:outerShdw blurRad="38100" dist="38100" dir="2700000" algn="tl">
                    <a:srgbClr val="000000">
                      <a:alpha val="43137"/>
                    </a:srgbClr>
                  </a:outerShdw>
                </a:effectLst>
              </a:rPr>
            </a:br>
            <a:r>
              <a:rPr lang="en-US" sz="1800" dirty="0" smtClean="0"/>
              <a:t>April 2017</a:t>
            </a:r>
            <a:endParaRPr lang="en-US" sz="1800" dirty="0"/>
          </a:p>
        </p:txBody>
      </p:sp>
      <p:sp>
        <p:nvSpPr>
          <p:cNvPr id="9" name="TextBox 8"/>
          <p:cNvSpPr txBox="1"/>
          <p:nvPr/>
        </p:nvSpPr>
        <p:spPr>
          <a:xfrm>
            <a:off x="2569464" y="5311223"/>
            <a:ext cx="4186936" cy="715581"/>
          </a:xfrm>
          <a:prstGeom prst="rect">
            <a:avLst/>
          </a:prstGeom>
          <a:noFill/>
        </p:spPr>
        <p:txBody>
          <a:bodyPr wrap="square" rtlCol="0">
            <a:spAutoFit/>
          </a:bodyPr>
          <a:lstStyle/>
          <a:p>
            <a:pPr algn="ctr"/>
            <a:r>
              <a:rPr lang="en-US" sz="1350" dirty="0"/>
              <a:t>Presenters:</a:t>
            </a:r>
          </a:p>
          <a:p>
            <a:pPr algn="ctr"/>
            <a:r>
              <a:rPr lang="en-US" sz="1350" dirty="0" smtClean="0"/>
              <a:t>Siva Selvanathan and Alaurah Moss</a:t>
            </a:r>
            <a:endParaRPr lang="en-US" sz="1350" dirty="0"/>
          </a:p>
          <a:p>
            <a:pPr algn="ctr"/>
            <a:endParaRPr lang="en-US" sz="1350" dirty="0"/>
          </a:p>
        </p:txBody>
      </p:sp>
      <p:pic>
        <p:nvPicPr>
          <p:cNvPr id="1028" name="Picture 4" descr="https://upload.wikimedia.org/wikipedia/commons/c/c4/Flood_waters,_Gem_Roa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6895" y="1142638"/>
            <a:ext cx="2235200"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farm2.staticflickr.com/1296/561183286_ff66f416f2_o_d.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10811"/>
          <a:stretch/>
        </p:blipFill>
        <p:spPr bwMode="auto">
          <a:xfrm>
            <a:off x="5805853" y="1145572"/>
            <a:ext cx="2240867"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s://farm7.staticflickr.com/6184/6102959612_cf03fe1527_o_d.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52500" y="1145572"/>
            <a:ext cx="2227376" cy="1670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6370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txBox="1">
            <a:spLocks/>
          </p:cNvSpPr>
          <p:nvPr/>
        </p:nvSpPr>
        <p:spPr>
          <a:xfrm>
            <a:off x="-1228725" y="285433"/>
            <a:ext cx="6115050" cy="479822"/>
          </a:xfrm>
          <a:prstGeom prst="rect">
            <a:avLst/>
          </a:prstGeom>
        </p:spPr>
        <p:txBody>
          <a:bodyPr vert="horz" lIns="68580" tIns="34290" rIns="68580" bIns="34290" rtlCol="0" anchor="ctr">
            <a:noAutofit/>
          </a:bodyPr>
          <a:lstStyle/>
          <a:p>
            <a:pPr algn="ctr">
              <a:spcBef>
                <a:spcPct val="0"/>
              </a:spcBef>
              <a:defRPr/>
            </a:pPr>
            <a:r>
              <a:rPr lang="en-US" sz="3000" b="1" dirty="0" smtClean="0">
                <a:latin typeface="+mj-lt"/>
                <a:ea typeface="+mj-ea"/>
                <a:cs typeface="+mj-cs"/>
              </a:rPr>
              <a:t>Project Overview</a:t>
            </a:r>
            <a:endParaRPr lang="en-US" sz="3000" b="1" dirty="0">
              <a:latin typeface="+mj-lt"/>
              <a:ea typeface="+mj-ea"/>
              <a:cs typeface="+mj-cs"/>
            </a:endParaRPr>
          </a:p>
        </p:txBody>
      </p:sp>
      <p:sp>
        <p:nvSpPr>
          <p:cNvPr id="3" name="Rectangle 2"/>
          <p:cNvSpPr/>
          <p:nvPr/>
        </p:nvSpPr>
        <p:spPr>
          <a:xfrm>
            <a:off x="514350" y="943334"/>
            <a:ext cx="7429500" cy="4801314"/>
          </a:xfrm>
          <a:prstGeom prst="rect">
            <a:avLst/>
          </a:prstGeom>
        </p:spPr>
        <p:txBody>
          <a:bodyPr wrap="square">
            <a:spAutoFit/>
          </a:bodyPr>
          <a:lstStyle/>
          <a:p>
            <a:r>
              <a:rPr lang="en-US" dirty="0">
                <a:solidFill>
                  <a:srgbClr val="000000"/>
                </a:solidFill>
                <a:latin typeface="Arial" panose="020B0604020202020204" pitchFamily="34" charset="0"/>
              </a:rPr>
              <a:t>The objectives of this research are to develop a </a:t>
            </a:r>
            <a:r>
              <a:rPr lang="en-US" b="1" dirty="0">
                <a:solidFill>
                  <a:srgbClr val="000000"/>
                </a:solidFill>
                <a:latin typeface="Arial" panose="020B0604020202020204" pitchFamily="34" charset="0"/>
              </a:rPr>
              <a:t>strategic framework </a:t>
            </a:r>
            <a:r>
              <a:rPr lang="en-US" dirty="0">
                <a:solidFill>
                  <a:srgbClr val="000000"/>
                </a:solidFill>
                <a:latin typeface="Arial" panose="020B0604020202020204" pitchFamily="34" charset="0"/>
              </a:rPr>
              <a:t>and a </a:t>
            </a:r>
            <a:r>
              <a:rPr lang="en-US" b="1" dirty="0">
                <a:solidFill>
                  <a:srgbClr val="000000"/>
                </a:solidFill>
                <a:latin typeface="Arial" panose="020B0604020202020204" pitchFamily="34" charset="0"/>
              </a:rPr>
              <a:t>prototype tool </a:t>
            </a:r>
            <a:r>
              <a:rPr lang="en-US" dirty="0">
                <a:solidFill>
                  <a:srgbClr val="000000"/>
                </a:solidFill>
                <a:latin typeface="Arial" panose="020B0604020202020204" pitchFamily="34" charset="0"/>
              </a:rPr>
              <a:t>for enhanced flood event decision making. </a:t>
            </a:r>
            <a:endParaRPr lang="en-US" dirty="0" smtClean="0">
              <a:solidFill>
                <a:srgbClr val="000000"/>
              </a:solidFill>
              <a:latin typeface="Arial" panose="020B0604020202020204" pitchFamily="34" charset="0"/>
            </a:endParaRPr>
          </a:p>
          <a:p>
            <a:endParaRPr lang="en-US" dirty="0">
              <a:solidFill>
                <a:srgbClr val="000000"/>
              </a:solidFill>
              <a:latin typeface="Arial" panose="020B0604020202020204" pitchFamily="34" charset="0"/>
            </a:endParaRPr>
          </a:p>
          <a:p>
            <a:endParaRPr lang="en-US" dirty="0" smtClean="0">
              <a:solidFill>
                <a:srgbClr val="000000"/>
              </a:solidFill>
              <a:latin typeface="Arial" panose="020B0604020202020204" pitchFamily="34" charset="0"/>
            </a:endParaRPr>
          </a:p>
          <a:p>
            <a:endParaRPr lang="en-US" dirty="0">
              <a:solidFill>
                <a:srgbClr val="000000"/>
              </a:solidFill>
              <a:latin typeface="Arial" panose="020B0604020202020204" pitchFamily="34" charset="0"/>
            </a:endParaRPr>
          </a:p>
          <a:p>
            <a:endParaRPr lang="en-US" dirty="0" smtClean="0">
              <a:solidFill>
                <a:srgbClr val="000000"/>
              </a:solidFill>
              <a:latin typeface="Arial" panose="020B0604020202020204" pitchFamily="34" charset="0"/>
            </a:endParaRPr>
          </a:p>
          <a:p>
            <a:endParaRPr lang="en-US" dirty="0">
              <a:solidFill>
                <a:srgbClr val="000000"/>
              </a:solidFill>
              <a:latin typeface="Arial" panose="020B0604020202020204" pitchFamily="34" charset="0"/>
            </a:endParaRPr>
          </a:p>
          <a:p>
            <a:endParaRPr lang="en-US" dirty="0" smtClean="0">
              <a:solidFill>
                <a:srgbClr val="000000"/>
              </a:solidFill>
              <a:latin typeface="Arial" panose="020B0604020202020204" pitchFamily="34" charset="0"/>
            </a:endParaRPr>
          </a:p>
          <a:p>
            <a:endParaRPr lang="en-US" dirty="0" smtClean="0">
              <a:solidFill>
                <a:srgbClr val="000000"/>
              </a:solidFill>
              <a:latin typeface="Arial" panose="020B0604020202020204" pitchFamily="34" charset="0"/>
            </a:endParaRPr>
          </a:p>
          <a:p>
            <a:endParaRPr lang="en-US" dirty="0">
              <a:solidFill>
                <a:srgbClr val="000000"/>
              </a:solidFill>
              <a:latin typeface="Arial" panose="020B0604020202020204" pitchFamily="34" charset="0"/>
            </a:endParaRPr>
          </a:p>
          <a:p>
            <a:endParaRPr lang="en-US" dirty="0" smtClean="0">
              <a:solidFill>
                <a:srgbClr val="000000"/>
              </a:solidFill>
              <a:latin typeface="Arial" panose="020B0604020202020204" pitchFamily="34" charset="0"/>
            </a:endParaRPr>
          </a:p>
          <a:p>
            <a:endParaRPr lang="en-US" dirty="0">
              <a:solidFill>
                <a:srgbClr val="000000"/>
              </a:solidFill>
              <a:latin typeface="Arial" panose="020B0604020202020204" pitchFamily="34" charset="0"/>
            </a:endParaRPr>
          </a:p>
          <a:p>
            <a:r>
              <a:rPr lang="en-US" dirty="0" smtClean="0">
                <a:solidFill>
                  <a:srgbClr val="000000"/>
                </a:solidFill>
                <a:latin typeface="Arial" panose="020B0604020202020204" pitchFamily="34" charset="0"/>
              </a:rPr>
              <a:t>The </a:t>
            </a:r>
            <a:r>
              <a:rPr lang="en-US" dirty="0">
                <a:solidFill>
                  <a:srgbClr val="000000"/>
                </a:solidFill>
                <a:latin typeface="Arial" panose="020B0604020202020204" pitchFamily="34" charset="0"/>
              </a:rPr>
              <a:t>framework and tool should help state </a:t>
            </a:r>
            <a:r>
              <a:rPr lang="en-US" dirty="0" smtClean="0">
                <a:solidFill>
                  <a:srgbClr val="000000"/>
                </a:solidFill>
                <a:latin typeface="Arial" panose="020B0604020202020204" pitchFamily="34" charset="0"/>
              </a:rPr>
              <a:t>DOTs:</a:t>
            </a:r>
          </a:p>
          <a:p>
            <a:pPr marL="285750" indent="-285750">
              <a:buFont typeface="Arial" panose="020B0604020202020204" pitchFamily="34" charset="0"/>
              <a:buChar char="•"/>
            </a:pPr>
            <a:r>
              <a:rPr lang="en-US" dirty="0" smtClean="0">
                <a:solidFill>
                  <a:srgbClr val="000000"/>
                </a:solidFill>
                <a:latin typeface="Arial" panose="020B0604020202020204" pitchFamily="34" charset="0"/>
              </a:rPr>
              <a:t>Plan</a:t>
            </a:r>
          </a:p>
          <a:p>
            <a:pPr marL="285750" indent="-285750">
              <a:buFont typeface="Arial" panose="020B0604020202020204" pitchFamily="34" charset="0"/>
              <a:buChar char="•"/>
            </a:pPr>
            <a:r>
              <a:rPr lang="en-US" dirty="0" smtClean="0">
                <a:solidFill>
                  <a:srgbClr val="000000"/>
                </a:solidFill>
                <a:latin typeface="Arial" panose="020B0604020202020204" pitchFamily="34" charset="0"/>
              </a:rPr>
              <a:t>Manage risks</a:t>
            </a:r>
          </a:p>
          <a:p>
            <a:pPr marL="285750" indent="-285750">
              <a:buFont typeface="Arial" panose="020B0604020202020204" pitchFamily="34" charset="0"/>
              <a:buChar char="•"/>
            </a:pPr>
            <a:r>
              <a:rPr lang="en-US" dirty="0" smtClean="0">
                <a:solidFill>
                  <a:srgbClr val="000000"/>
                </a:solidFill>
                <a:latin typeface="Arial" panose="020B0604020202020204" pitchFamily="34" charset="0"/>
              </a:rPr>
              <a:t>Mitigate hazards</a:t>
            </a:r>
          </a:p>
          <a:p>
            <a:pPr marL="285750" indent="-285750">
              <a:buFont typeface="Arial" panose="020B0604020202020204" pitchFamily="34" charset="0"/>
              <a:buChar char="•"/>
            </a:pPr>
            <a:r>
              <a:rPr lang="en-US" dirty="0" smtClean="0">
                <a:solidFill>
                  <a:srgbClr val="000000"/>
                </a:solidFill>
                <a:latin typeface="Arial" panose="020B0604020202020204" pitchFamily="34" charset="0"/>
              </a:rPr>
              <a:t>Respond </a:t>
            </a:r>
            <a:r>
              <a:rPr lang="en-US" dirty="0">
                <a:solidFill>
                  <a:srgbClr val="000000"/>
                </a:solidFill>
                <a:latin typeface="Arial" panose="020B0604020202020204" pitchFamily="34" charset="0"/>
              </a:rPr>
              <a:t>to flood and flash flood </a:t>
            </a:r>
            <a:r>
              <a:rPr lang="en-US" dirty="0" smtClean="0">
                <a:solidFill>
                  <a:srgbClr val="000000"/>
                </a:solidFill>
                <a:latin typeface="Arial" panose="020B0604020202020204" pitchFamily="34" charset="0"/>
              </a:rPr>
              <a:t>events</a:t>
            </a:r>
            <a:endParaRPr lang="en-US" dirty="0"/>
          </a:p>
        </p:txBody>
      </p:sp>
      <p:graphicFrame>
        <p:nvGraphicFramePr>
          <p:cNvPr id="10" name="Diagram 9"/>
          <p:cNvGraphicFramePr/>
          <p:nvPr>
            <p:extLst/>
          </p:nvPr>
        </p:nvGraphicFramePr>
        <p:xfrm>
          <a:off x="642937" y="1457324"/>
          <a:ext cx="7300913" cy="30289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4409235" y="3108761"/>
            <a:ext cx="1641609" cy="102297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218303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18464" y="1415526"/>
            <a:ext cx="1676250" cy="1687500"/>
          </a:xfrm>
          <a:prstGeom prst="rect">
            <a:avLst/>
          </a:prstGeom>
        </p:spPr>
      </p:pic>
      <p:pic>
        <p:nvPicPr>
          <p:cNvPr id="5" name="Picture 4"/>
          <p:cNvPicPr>
            <a:picLocks noChangeAspect="1"/>
          </p:cNvPicPr>
          <p:nvPr/>
        </p:nvPicPr>
        <p:blipFill>
          <a:blip r:embed="rId4"/>
          <a:stretch>
            <a:fillRect/>
          </a:stretch>
        </p:blipFill>
        <p:spPr>
          <a:xfrm>
            <a:off x="4375548" y="3364463"/>
            <a:ext cx="1766250" cy="1777500"/>
          </a:xfrm>
          <a:prstGeom prst="rect">
            <a:avLst/>
          </a:prstGeom>
        </p:spPr>
      </p:pic>
      <p:sp>
        <p:nvSpPr>
          <p:cNvPr id="3" name="Title 2"/>
          <p:cNvSpPr>
            <a:spLocks noGrp="1"/>
          </p:cNvSpPr>
          <p:nvPr>
            <p:ph type="title"/>
          </p:nvPr>
        </p:nvSpPr>
        <p:spPr/>
        <p:txBody>
          <a:bodyPr/>
          <a:lstStyle/>
          <a:p>
            <a:r>
              <a:rPr lang="en-US" dirty="0" smtClean="0"/>
              <a:t>Data Sources</a:t>
            </a:r>
            <a:endParaRPr lang="en-US" dirty="0"/>
          </a:p>
        </p:txBody>
      </p:sp>
      <p:pic>
        <p:nvPicPr>
          <p:cNvPr id="25" name="Picture 24"/>
          <p:cNvPicPr>
            <a:picLocks noChangeAspect="1"/>
          </p:cNvPicPr>
          <p:nvPr/>
        </p:nvPicPr>
        <p:blipFill>
          <a:blip r:embed="rId5"/>
          <a:stretch>
            <a:fillRect/>
          </a:stretch>
        </p:blipFill>
        <p:spPr>
          <a:xfrm>
            <a:off x="2134642" y="2008275"/>
            <a:ext cx="4972501" cy="1248750"/>
          </a:xfrm>
          <a:prstGeom prst="rect">
            <a:avLst/>
          </a:prstGeom>
        </p:spPr>
      </p:pic>
      <p:pic>
        <p:nvPicPr>
          <p:cNvPr id="6" name="Picture 5"/>
          <p:cNvPicPr>
            <a:picLocks noChangeAspect="1"/>
          </p:cNvPicPr>
          <p:nvPr/>
        </p:nvPicPr>
        <p:blipFill>
          <a:blip r:embed="rId6"/>
          <a:stretch>
            <a:fillRect/>
          </a:stretch>
        </p:blipFill>
        <p:spPr>
          <a:xfrm>
            <a:off x="3051770" y="3637039"/>
            <a:ext cx="1406250" cy="1417500"/>
          </a:xfrm>
          <a:prstGeom prst="rect">
            <a:avLst/>
          </a:prstGeom>
        </p:spPr>
      </p:pic>
      <p:pic>
        <p:nvPicPr>
          <p:cNvPr id="7" name="Picture 6"/>
          <p:cNvPicPr>
            <a:picLocks noChangeAspect="1"/>
          </p:cNvPicPr>
          <p:nvPr/>
        </p:nvPicPr>
        <p:blipFill>
          <a:blip r:embed="rId7"/>
          <a:stretch>
            <a:fillRect/>
          </a:stretch>
        </p:blipFill>
        <p:spPr>
          <a:xfrm>
            <a:off x="2026159" y="3709964"/>
            <a:ext cx="1125000" cy="1113750"/>
          </a:xfrm>
          <a:prstGeom prst="rect">
            <a:avLst/>
          </a:prstGeom>
        </p:spPr>
      </p:pic>
      <p:pic>
        <p:nvPicPr>
          <p:cNvPr id="9" name="Picture 8"/>
          <p:cNvPicPr>
            <a:picLocks noChangeAspect="1"/>
          </p:cNvPicPr>
          <p:nvPr/>
        </p:nvPicPr>
        <p:blipFill>
          <a:blip r:embed="rId8"/>
          <a:stretch>
            <a:fillRect/>
          </a:stretch>
        </p:blipFill>
        <p:spPr>
          <a:xfrm>
            <a:off x="939089" y="4240176"/>
            <a:ext cx="1417500" cy="1395000"/>
          </a:xfrm>
          <a:prstGeom prst="rect">
            <a:avLst/>
          </a:prstGeom>
        </p:spPr>
      </p:pic>
      <p:pic>
        <p:nvPicPr>
          <p:cNvPr id="10" name="Picture 9"/>
          <p:cNvPicPr>
            <a:picLocks noChangeAspect="1"/>
          </p:cNvPicPr>
          <p:nvPr/>
        </p:nvPicPr>
        <p:blipFill>
          <a:blip r:embed="rId9"/>
          <a:stretch>
            <a:fillRect/>
          </a:stretch>
        </p:blipFill>
        <p:spPr>
          <a:xfrm>
            <a:off x="457200" y="2641938"/>
            <a:ext cx="1766250" cy="1755000"/>
          </a:xfrm>
          <a:prstGeom prst="rect">
            <a:avLst/>
          </a:prstGeom>
        </p:spPr>
      </p:pic>
      <p:pic>
        <p:nvPicPr>
          <p:cNvPr id="12" name="Picture 11"/>
          <p:cNvPicPr>
            <a:picLocks noChangeAspect="1"/>
          </p:cNvPicPr>
          <p:nvPr/>
        </p:nvPicPr>
        <p:blipFill>
          <a:blip r:embed="rId10"/>
          <a:stretch>
            <a:fillRect/>
          </a:stretch>
        </p:blipFill>
        <p:spPr>
          <a:xfrm>
            <a:off x="4335303" y="1555336"/>
            <a:ext cx="1631250" cy="1125000"/>
          </a:xfrm>
          <a:prstGeom prst="rect">
            <a:avLst/>
          </a:prstGeom>
        </p:spPr>
      </p:pic>
      <p:pic>
        <p:nvPicPr>
          <p:cNvPr id="14" name="Picture 13"/>
          <p:cNvPicPr>
            <a:picLocks noChangeAspect="1"/>
          </p:cNvPicPr>
          <p:nvPr/>
        </p:nvPicPr>
        <p:blipFill>
          <a:blip r:embed="rId11"/>
          <a:stretch>
            <a:fillRect/>
          </a:stretch>
        </p:blipFill>
        <p:spPr>
          <a:xfrm>
            <a:off x="5029200" y="4038600"/>
            <a:ext cx="3633750" cy="1507500"/>
          </a:xfrm>
          <a:prstGeom prst="rect">
            <a:avLst/>
          </a:prstGeom>
        </p:spPr>
      </p:pic>
      <p:pic>
        <p:nvPicPr>
          <p:cNvPr id="16" name="Picture 15"/>
          <p:cNvPicPr>
            <a:picLocks noChangeAspect="1"/>
          </p:cNvPicPr>
          <p:nvPr/>
        </p:nvPicPr>
        <p:blipFill>
          <a:blip r:embed="rId12"/>
          <a:stretch>
            <a:fillRect/>
          </a:stretch>
        </p:blipFill>
        <p:spPr>
          <a:xfrm>
            <a:off x="7239000" y="5635176"/>
            <a:ext cx="1237500" cy="146250"/>
          </a:xfrm>
          <a:prstGeom prst="rect">
            <a:avLst/>
          </a:prstGeom>
        </p:spPr>
      </p:pic>
    </p:spTree>
    <p:extLst>
      <p:ext uri="{BB962C8B-B14F-4D97-AF65-F5344CB8AC3E}">
        <p14:creationId xmlns:p14="http://schemas.microsoft.com/office/powerpoint/2010/main" val="383515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1000"/>
                                        <p:tgtEl>
                                          <p:spTgt spid="5"/>
                                        </p:tgtEl>
                                      </p:cBhvr>
                                    </p:animEffect>
                                    <p:anim calcmode="lin" valueType="num">
                                      <p:cBhvr>
                                        <p:cTn id="43" dur="1000" fill="hold"/>
                                        <p:tgtEl>
                                          <p:spTgt spid="5"/>
                                        </p:tgtEl>
                                        <p:attrNameLst>
                                          <p:attrName>ppt_x</p:attrName>
                                        </p:attrNameLst>
                                      </p:cBhvr>
                                      <p:tavLst>
                                        <p:tav tm="0">
                                          <p:val>
                                            <p:strVal val="#ppt_x"/>
                                          </p:val>
                                        </p:tav>
                                        <p:tav tm="100000">
                                          <p:val>
                                            <p:strVal val="#ppt_x"/>
                                          </p:val>
                                        </p:tav>
                                      </p:tavLst>
                                    </p:anim>
                                    <p:anim calcmode="lin" valueType="num">
                                      <p:cBhvr>
                                        <p:cTn id="4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par>
                                <p:cTn id="50" presetID="10" presetClass="entr" presetSubtype="0"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8" presetClass="emph" presetSubtype="0" fill="hold" nodeType="clickEffect">
                                  <p:stCondLst>
                                    <p:cond delay="0"/>
                                  </p:stCondLst>
                                  <p:childTnLst>
                                    <p:animRot by="21600000">
                                      <p:cBhvr>
                                        <p:cTn id="61" dur="2000" fill="hold"/>
                                        <p:tgtEl>
                                          <p:spTgt spid="11"/>
                                        </p:tgtEl>
                                        <p:attrNameLst>
                                          <p:attrName>r</p:attrName>
                                        </p:attrNameLst>
                                      </p:cBhvr>
                                    </p:animRot>
                                  </p:childTnLst>
                                </p:cTn>
                              </p:par>
                              <p:par>
                                <p:cTn id="62" presetID="8" presetClass="emph" presetSubtype="0" fill="hold" nodeType="withEffect">
                                  <p:stCondLst>
                                    <p:cond delay="0"/>
                                  </p:stCondLst>
                                  <p:childTnLst>
                                    <p:animRot by="-21600000">
                                      <p:cBhvr>
                                        <p:cTn id="63" dur="2000" fill="hold"/>
                                        <p:tgtEl>
                                          <p:spTgt spid="10"/>
                                        </p:tgtEl>
                                        <p:attrNameLst>
                                          <p:attrName>r</p:attrName>
                                        </p:attrNameLst>
                                      </p:cBhvr>
                                    </p:animRot>
                                  </p:childTnLst>
                                </p:cTn>
                              </p:par>
                              <p:par>
                                <p:cTn id="64" presetID="8" presetClass="emph" presetSubtype="0" fill="hold" nodeType="withEffect">
                                  <p:stCondLst>
                                    <p:cond delay="0"/>
                                  </p:stCondLst>
                                  <p:childTnLst>
                                    <p:animRot by="-21600000">
                                      <p:cBhvr>
                                        <p:cTn id="65" dur="2000" fill="hold"/>
                                        <p:tgtEl>
                                          <p:spTgt spid="9"/>
                                        </p:tgtEl>
                                        <p:attrNameLst>
                                          <p:attrName>r</p:attrName>
                                        </p:attrNameLst>
                                      </p:cBhvr>
                                    </p:animRot>
                                  </p:childTnLst>
                                </p:cTn>
                              </p:par>
                              <p:par>
                                <p:cTn id="66" presetID="8" presetClass="emph" presetSubtype="0" fill="hold" nodeType="withEffect">
                                  <p:stCondLst>
                                    <p:cond delay="0"/>
                                  </p:stCondLst>
                                  <p:childTnLst>
                                    <p:animRot by="21600000">
                                      <p:cBhvr>
                                        <p:cTn id="67" dur="2000" fill="hold"/>
                                        <p:tgtEl>
                                          <p:spTgt spid="7"/>
                                        </p:tgtEl>
                                        <p:attrNameLst>
                                          <p:attrName>r</p:attrName>
                                        </p:attrNameLst>
                                      </p:cBhvr>
                                    </p:animRot>
                                  </p:childTnLst>
                                </p:cTn>
                              </p:par>
                              <p:par>
                                <p:cTn id="68" presetID="8" presetClass="emph" presetSubtype="0" fill="hold" nodeType="withEffect">
                                  <p:stCondLst>
                                    <p:cond delay="0"/>
                                  </p:stCondLst>
                                  <p:childTnLst>
                                    <p:animRot by="21600000">
                                      <p:cBhvr>
                                        <p:cTn id="69" dur="2000" fill="hold"/>
                                        <p:tgtEl>
                                          <p:spTgt spid="6"/>
                                        </p:tgtEl>
                                        <p:attrNameLst>
                                          <p:attrName>r</p:attrName>
                                        </p:attrNameLst>
                                      </p:cBhvr>
                                    </p:animRot>
                                  </p:childTnLst>
                                </p:cTn>
                              </p:par>
                              <p:par>
                                <p:cTn id="70" presetID="8" presetClass="emph" presetSubtype="0" fill="hold" nodeType="withEffect">
                                  <p:stCondLst>
                                    <p:cond delay="0"/>
                                  </p:stCondLst>
                                  <p:childTnLst>
                                    <p:animRot by="-21600000">
                                      <p:cBhvr>
                                        <p:cTn id="71" dur="2000" fill="hold"/>
                                        <p:tgtEl>
                                          <p:spTgt spid="5"/>
                                        </p:tgtEl>
                                        <p:attrNameLst>
                                          <p:attrName>r</p:attrName>
                                        </p:attrNameLst>
                                      </p:cBhvr>
                                    </p:animRot>
                                  </p:childTnLst>
                                </p:cTn>
                              </p:par>
                              <p:par>
                                <p:cTn id="72" presetID="10" presetClass="entr" presetSubtype="0" fill="hold" nodeType="with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tretch>
            <a:fillRect/>
          </a:stretch>
        </p:blipFill>
        <p:spPr>
          <a:xfrm>
            <a:off x="4375548" y="3364463"/>
            <a:ext cx="1766250" cy="1777500"/>
          </a:xfrm>
          <a:prstGeom prst="rect">
            <a:avLst/>
          </a:prstGeom>
        </p:spPr>
      </p:pic>
      <p:pic>
        <p:nvPicPr>
          <p:cNvPr id="16" name="Picture 15"/>
          <p:cNvPicPr>
            <a:picLocks noChangeAspect="1"/>
          </p:cNvPicPr>
          <p:nvPr/>
        </p:nvPicPr>
        <p:blipFill>
          <a:blip r:embed="rId4"/>
          <a:stretch>
            <a:fillRect/>
          </a:stretch>
        </p:blipFill>
        <p:spPr>
          <a:xfrm>
            <a:off x="4375548" y="3364463"/>
            <a:ext cx="1766250" cy="1777500"/>
          </a:xfrm>
          <a:prstGeom prst="rect">
            <a:avLst/>
          </a:prstGeom>
        </p:spPr>
      </p:pic>
      <p:pic>
        <p:nvPicPr>
          <p:cNvPr id="7" name="Picture 6"/>
          <p:cNvPicPr>
            <a:picLocks noChangeAspect="1"/>
          </p:cNvPicPr>
          <p:nvPr/>
        </p:nvPicPr>
        <p:blipFill>
          <a:blip r:embed="rId5"/>
          <a:stretch>
            <a:fillRect/>
          </a:stretch>
        </p:blipFill>
        <p:spPr>
          <a:xfrm>
            <a:off x="2026159" y="3709964"/>
            <a:ext cx="1125000" cy="1113750"/>
          </a:xfrm>
          <a:prstGeom prst="rect">
            <a:avLst/>
          </a:prstGeom>
        </p:spPr>
      </p:pic>
      <p:pic>
        <p:nvPicPr>
          <p:cNvPr id="6" name="Picture 5"/>
          <p:cNvPicPr>
            <a:picLocks noChangeAspect="1"/>
          </p:cNvPicPr>
          <p:nvPr/>
        </p:nvPicPr>
        <p:blipFill>
          <a:blip r:embed="rId6"/>
          <a:stretch>
            <a:fillRect/>
          </a:stretch>
        </p:blipFill>
        <p:spPr>
          <a:xfrm>
            <a:off x="3051770" y="3637039"/>
            <a:ext cx="1406250" cy="1417500"/>
          </a:xfrm>
          <a:prstGeom prst="rect">
            <a:avLst/>
          </a:prstGeom>
        </p:spPr>
      </p:pic>
      <p:pic>
        <p:nvPicPr>
          <p:cNvPr id="10" name="Picture 9"/>
          <p:cNvPicPr>
            <a:picLocks noChangeAspect="1"/>
          </p:cNvPicPr>
          <p:nvPr/>
        </p:nvPicPr>
        <p:blipFill>
          <a:blip r:embed="rId7"/>
          <a:stretch>
            <a:fillRect/>
          </a:stretch>
        </p:blipFill>
        <p:spPr>
          <a:xfrm>
            <a:off x="457200" y="2641938"/>
            <a:ext cx="1766250" cy="1755000"/>
          </a:xfrm>
          <a:prstGeom prst="rect">
            <a:avLst/>
          </a:prstGeom>
        </p:spPr>
      </p:pic>
      <p:pic>
        <p:nvPicPr>
          <p:cNvPr id="13" name="Picture 12"/>
          <p:cNvPicPr>
            <a:picLocks noChangeAspect="1"/>
          </p:cNvPicPr>
          <p:nvPr/>
        </p:nvPicPr>
        <p:blipFill>
          <a:blip r:embed="rId8"/>
          <a:stretch>
            <a:fillRect/>
          </a:stretch>
        </p:blipFill>
        <p:spPr>
          <a:xfrm>
            <a:off x="457200" y="2633274"/>
            <a:ext cx="1766250" cy="1755000"/>
          </a:xfrm>
          <a:prstGeom prst="rect">
            <a:avLst/>
          </a:prstGeom>
        </p:spPr>
      </p:pic>
      <p:pic>
        <p:nvPicPr>
          <p:cNvPr id="15" name="Picture 14"/>
          <p:cNvPicPr>
            <a:picLocks noChangeAspect="1"/>
          </p:cNvPicPr>
          <p:nvPr/>
        </p:nvPicPr>
        <p:blipFill>
          <a:blip r:embed="rId9"/>
          <a:stretch>
            <a:fillRect/>
          </a:stretch>
        </p:blipFill>
        <p:spPr>
          <a:xfrm>
            <a:off x="2026159" y="3709964"/>
            <a:ext cx="1125000" cy="1113750"/>
          </a:xfrm>
          <a:prstGeom prst="rect">
            <a:avLst/>
          </a:prstGeom>
        </p:spPr>
      </p:pic>
      <p:sp>
        <p:nvSpPr>
          <p:cNvPr id="3" name="Title 2"/>
          <p:cNvSpPr>
            <a:spLocks noGrp="1"/>
          </p:cNvSpPr>
          <p:nvPr>
            <p:ph type="title"/>
          </p:nvPr>
        </p:nvSpPr>
        <p:spPr/>
        <p:txBody>
          <a:bodyPr/>
          <a:lstStyle/>
          <a:p>
            <a:r>
              <a:rPr lang="en-US" dirty="0" smtClean="0"/>
              <a:t>Data Sources</a:t>
            </a:r>
            <a:endParaRPr lang="en-US" dirty="0"/>
          </a:p>
        </p:txBody>
      </p:sp>
      <p:pic>
        <p:nvPicPr>
          <p:cNvPr id="12" name="Picture 11"/>
          <p:cNvPicPr>
            <a:picLocks noChangeAspect="1"/>
          </p:cNvPicPr>
          <p:nvPr/>
        </p:nvPicPr>
        <p:blipFill>
          <a:blip r:embed="rId10"/>
          <a:stretch>
            <a:fillRect/>
          </a:stretch>
        </p:blipFill>
        <p:spPr>
          <a:xfrm>
            <a:off x="4335303" y="1555336"/>
            <a:ext cx="1631250" cy="1125000"/>
          </a:xfrm>
          <a:prstGeom prst="rect">
            <a:avLst/>
          </a:prstGeom>
        </p:spPr>
      </p:pic>
      <p:pic>
        <p:nvPicPr>
          <p:cNvPr id="18" name="Picture 17"/>
          <p:cNvPicPr>
            <a:picLocks noChangeAspect="1"/>
          </p:cNvPicPr>
          <p:nvPr/>
        </p:nvPicPr>
        <p:blipFill>
          <a:blip r:embed="rId11"/>
          <a:stretch>
            <a:fillRect/>
          </a:stretch>
        </p:blipFill>
        <p:spPr>
          <a:xfrm>
            <a:off x="6856319" y="5715000"/>
            <a:ext cx="956250" cy="146250"/>
          </a:xfrm>
          <a:prstGeom prst="rect">
            <a:avLst/>
          </a:prstGeom>
        </p:spPr>
      </p:pic>
      <p:pic>
        <p:nvPicPr>
          <p:cNvPr id="11" name="Picture 10"/>
          <p:cNvPicPr>
            <a:picLocks noChangeAspect="1"/>
          </p:cNvPicPr>
          <p:nvPr/>
        </p:nvPicPr>
        <p:blipFill>
          <a:blip r:embed="rId12"/>
          <a:stretch>
            <a:fillRect/>
          </a:stretch>
        </p:blipFill>
        <p:spPr>
          <a:xfrm>
            <a:off x="1518464" y="1415526"/>
            <a:ext cx="1676250" cy="1687500"/>
          </a:xfrm>
          <a:prstGeom prst="rect">
            <a:avLst/>
          </a:prstGeom>
        </p:spPr>
      </p:pic>
      <p:pic>
        <p:nvPicPr>
          <p:cNvPr id="9" name="Picture 8"/>
          <p:cNvPicPr>
            <a:picLocks noChangeAspect="1"/>
          </p:cNvPicPr>
          <p:nvPr/>
        </p:nvPicPr>
        <p:blipFill>
          <a:blip r:embed="rId13"/>
          <a:stretch>
            <a:fillRect/>
          </a:stretch>
        </p:blipFill>
        <p:spPr>
          <a:xfrm>
            <a:off x="939089" y="4240176"/>
            <a:ext cx="1417500" cy="1395000"/>
          </a:xfrm>
          <a:prstGeom prst="rect">
            <a:avLst/>
          </a:prstGeom>
        </p:spPr>
      </p:pic>
      <p:pic>
        <p:nvPicPr>
          <p:cNvPr id="14" name="Picture 13"/>
          <p:cNvPicPr>
            <a:picLocks noChangeAspect="1"/>
          </p:cNvPicPr>
          <p:nvPr/>
        </p:nvPicPr>
        <p:blipFill>
          <a:blip r:embed="rId14"/>
          <a:stretch>
            <a:fillRect/>
          </a:stretch>
        </p:blipFill>
        <p:spPr>
          <a:xfrm>
            <a:off x="5039444" y="4038600"/>
            <a:ext cx="3633750" cy="1507500"/>
          </a:xfrm>
          <a:prstGeom prst="rect">
            <a:avLst/>
          </a:prstGeom>
        </p:spPr>
      </p:pic>
      <p:pic>
        <p:nvPicPr>
          <p:cNvPr id="25" name="Picture 24"/>
          <p:cNvPicPr>
            <a:picLocks noChangeAspect="1"/>
          </p:cNvPicPr>
          <p:nvPr/>
        </p:nvPicPr>
        <p:blipFill>
          <a:blip r:embed="rId15"/>
          <a:stretch>
            <a:fillRect/>
          </a:stretch>
        </p:blipFill>
        <p:spPr>
          <a:xfrm>
            <a:off x="2134642" y="2008275"/>
            <a:ext cx="4972501" cy="1248750"/>
          </a:xfrm>
          <a:prstGeom prst="rect">
            <a:avLst/>
          </a:prstGeom>
        </p:spPr>
      </p:pic>
      <p:pic>
        <p:nvPicPr>
          <p:cNvPr id="8" name="Picture 7"/>
          <p:cNvPicPr>
            <a:picLocks noChangeAspect="1"/>
          </p:cNvPicPr>
          <p:nvPr/>
        </p:nvPicPr>
        <p:blipFill>
          <a:blip r:embed="rId16"/>
          <a:stretch>
            <a:fillRect/>
          </a:stretch>
        </p:blipFill>
        <p:spPr>
          <a:xfrm>
            <a:off x="5030990" y="4038600"/>
            <a:ext cx="2576250" cy="1507500"/>
          </a:xfrm>
          <a:prstGeom prst="rect">
            <a:avLst/>
          </a:prstGeom>
        </p:spPr>
      </p:pic>
    </p:spTree>
    <p:extLst>
      <p:ext uri="{BB962C8B-B14F-4D97-AF65-F5344CB8AC3E}">
        <p14:creationId xmlns:p14="http://schemas.microsoft.com/office/powerpoint/2010/main" val="2773118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down)">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down)">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mph" presetSubtype="0" fill="hold" nodeType="clickEffect">
                                  <p:stCondLst>
                                    <p:cond delay="0"/>
                                  </p:stCondLst>
                                  <p:childTnLst>
                                    <p:animRot by="-21600000">
                                      <p:cBhvr>
                                        <p:cTn id="34" dur="2000" fill="hold"/>
                                        <p:tgtEl>
                                          <p:spTgt spid="13"/>
                                        </p:tgtEl>
                                        <p:attrNameLst>
                                          <p:attrName>r</p:attrName>
                                        </p:attrNameLst>
                                      </p:cBhvr>
                                    </p:animRot>
                                  </p:childTnLst>
                                </p:cTn>
                              </p:par>
                              <p:par>
                                <p:cTn id="35" presetID="8" presetClass="emph" presetSubtype="0" fill="hold" nodeType="withEffect">
                                  <p:stCondLst>
                                    <p:cond delay="0"/>
                                  </p:stCondLst>
                                  <p:childTnLst>
                                    <p:animRot by="21600000">
                                      <p:cBhvr>
                                        <p:cTn id="36" dur="2000" fill="hold"/>
                                        <p:tgtEl>
                                          <p:spTgt spid="15"/>
                                        </p:tgtEl>
                                        <p:attrNameLst>
                                          <p:attrName>r</p:attrName>
                                        </p:attrNameLst>
                                      </p:cBhvr>
                                    </p:animRot>
                                  </p:childTnLst>
                                </p:cTn>
                              </p:par>
                              <p:par>
                                <p:cTn id="37" presetID="8" presetClass="emph" presetSubtype="0" fill="hold" nodeType="withEffect">
                                  <p:stCondLst>
                                    <p:cond delay="0"/>
                                  </p:stCondLst>
                                  <p:childTnLst>
                                    <p:animRot by="21600000">
                                      <p:cBhvr>
                                        <p:cTn id="38" dur="2000" fill="hold"/>
                                        <p:tgtEl>
                                          <p:spTgt spid="16"/>
                                        </p:tgtEl>
                                        <p:attrNameLst>
                                          <p:attrName>r</p:attrName>
                                        </p:attrNameLst>
                                      </p:cBhvr>
                                    </p:animRot>
                                  </p:childTnLst>
                                </p:cTn>
                              </p:par>
                              <p:par>
                                <p:cTn id="39" presetID="8" presetClass="emph" presetSubtype="0" fill="hold" nodeType="withEffect">
                                  <p:stCondLst>
                                    <p:cond delay="0"/>
                                  </p:stCondLst>
                                  <p:childTnLst>
                                    <p:animRot by="-21600000">
                                      <p:cBhvr>
                                        <p:cTn id="40" dur="2000" fill="hold"/>
                                        <p:tgtEl>
                                          <p:spTgt spid="6"/>
                                        </p:tgtEl>
                                        <p:attrNameLst>
                                          <p:attrName>r</p:attrName>
                                        </p:attrNameLst>
                                      </p:cBhvr>
                                    </p:animRot>
                                  </p:childTnLst>
                                </p:cTn>
                              </p:par>
                              <p:par>
                                <p:cTn id="41" presetID="8" presetClass="emph" presetSubtype="0" fill="hold" nodeType="withEffect">
                                  <p:stCondLst>
                                    <p:cond delay="0"/>
                                  </p:stCondLst>
                                  <p:childTnLst>
                                    <p:animRot by="-21600000">
                                      <p:cBhvr>
                                        <p:cTn id="42" dur="2000" fill="hold"/>
                                        <p:tgtEl>
                                          <p:spTgt spid="9"/>
                                        </p:tgtEl>
                                        <p:attrNameLst>
                                          <p:attrName>r</p:attrName>
                                        </p:attrNameLst>
                                      </p:cBhvr>
                                    </p:animRot>
                                  </p:childTnLst>
                                </p:cTn>
                              </p:par>
                              <p:par>
                                <p:cTn id="43" presetID="8" presetClass="emph" presetSubtype="0" fill="hold" nodeType="withEffect">
                                  <p:stCondLst>
                                    <p:cond delay="0"/>
                                  </p:stCondLst>
                                  <p:childTnLst>
                                    <p:animRot by="21600000">
                                      <p:cBhvr>
                                        <p:cTn id="44" dur="2000" fill="hold"/>
                                        <p:tgtEl>
                                          <p:spTgt spid="11"/>
                                        </p:tgtEl>
                                        <p:attrNameLst>
                                          <p:attrName>r</p:attrName>
                                        </p:attrNameLst>
                                      </p:cBhvr>
                                    </p:animRot>
                                  </p:childTnLst>
                                </p:cTn>
                              </p:par>
                              <p:par>
                                <p:cTn id="45" presetID="8" presetClass="emph" presetSubtype="0" fill="hold" nodeType="withEffect">
                                  <p:stCondLst>
                                    <p:cond delay="0"/>
                                  </p:stCondLst>
                                  <p:childTnLst>
                                    <p:animRot by="21600000">
                                      <p:cBhvr>
                                        <p:cTn id="46" dur="2000" fill="hold"/>
                                        <p:tgtEl>
                                          <p:spTgt spid="7"/>
                                        </p:tgtEl>
                                        <p:attrNameLst>
                                          <p:attrName>r</p:attrName>
                                        </p:attrNameLst>
                                      </p:cBhvr>
                                    </p:animRot>
                                  </p:childTnLst>
                                </p:cTn>
                              </p:par>
                              <p:par>
                                <p:cTn id="47" presetID="8" presetClass="emph" presetSubtype="0" fill="hold" nodeType="withEffect">
                                  <p:stCondLst>
                                    <p:cond delay="0"/>
                                  </p:stCondLst>
                                  <p:childTnLst>
                                    <p:animRot by="-21600000">
                                      <p:cBhvr>
                                        <p:cTn id="48" dur="2000" fill="hold"/>
                                        <p:tgtEl>
                                          <p:spTgt spid="10"/>
                                        </p:tgtEl>
                                        <p:attrNameLst>
                                          <p:attrName>r</p:attrName>
                                        </p:attrNameLst>
                                      </p:cBhvr>
                                    </p:animRot>
                                  </p:childTnLst>
                                </p:cTn>
                              </p:par>
                              <p:par>
                                <p:cTn id="49" presetID="10" presetClass="entr" presetSubtype="0" fill="hold"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childTnLst>
                                </p:cTn>
                              </p:par>
                              <p:par>
                                <p:cTn id="52" presetID="8" presetClass="emph" presetSubtype="0" fill="hold" nodeType="withEffect">
                                  <p:stCondLst>
                                    <p:cond delay="0"/>
                                  </p:stCondLst>
                                  <p:childTnLst>
                                    <p:animRot by="21600000">
                                      <p:cBhvr>
                                        <p:cTn id="53" dur="2000" fill="hold"/>
                                        <p:tgtEl>
                                          <p:spTgt spid="1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NWM Outputs</a:t>
            </a:r>
            <a:endParaRPr lang="en-US" dirty="0"/>
          </a:p>
        </p:txBody>
      </p:sp>
      <p:pic>
        <p:nvPicPr>
          <p:cNvPr id="20" name="Picture 19"/>
          <p:cNvPicPr/>
          <p:nvPr/>
        </p:nvPicPr>
        <p:blipFill>
          <a:blip r:embed="rId3"/>
          <a:stretch>
            <a:fillRect/>
          </a:stretch>
        </p:blipFill>
        <p:spPr>
          <a:xfrm>
            <a:off x="609600" y="868362"/>
            <a:ext cx="6307493" cy="5345826"/>
          </a:xfrm>
          <a:prstGeom prst="rect">
            <a:avLst/>
          </a:prstGeom>
        </p:spPr>
      </p:pic>
    </p:spTree>
    <p:extLst>
      <p:ext uri="{BB962C8B-B14F-4D97-AF65-F5344CB8AC3E}">
        <p14:creationId xmlns:p14="http://schemas.microsoft.com/office/powerpoint/2010/main" val="5366461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Flood Inundation Extent &amp; Depth Predictions</a:t>
            </a:r>
            <a:endParaRPr lang="en-US" dirty="0"/>
          </a:p>
        </p:txBody>
      </p:sp>
      <p:pic>
        <p:nvPicPr>
          <p:cNvPr id="2" name="Picture 1"/>
          <p:cNvPicPr>
            <a:picLocks noChangeAspect="1"/>
          </p:cNvPicPr>
          <p:nvPr/>
        </p:nvPicPr>
        <p:blipFill>
          <a:blip r:embed="rId3"/>
          <a:stretch>
            <a:fillRect/>
          </a:stretch>
        </p:blipFill>
        <p:spPr>
          <a:xfrm>
            <a:off x="609600" y="868361"/>
            <a:ext cx="8153400" cy="5314725"/>
          </a:xfrm>
          <a:prstGeom prst="rect">
            <a:avLst/>
          </a:prstGeom>
        </p:spPr>
      </p:pic>
    </p:spTree>
    <p:extLst>
      <p:ext uri="{BB962C8B-B14F-4D97-AF65-F5344CB8AC3E}">
        <p14:creationId xmlns:p14="http://schemas.microsoft.com/office/powerpoint/2010/main" val="12752758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Flood Inundation Extent &amp; Depth Predictions</a:t>
            </a:r>
            <a:endParaRPr lang="en-US" dirty="0"/>
          </a:p>
        </p:txBody>
      </p:sp>
      <p:pic>
        <p:nvPicPr>
          <p:cNvPr id="4" name="Picture 3"/>
          <p:cNvPicPr>
            <a:picLocks noChangeAspect="1"/>
          </p:cNvPicPr>
          <p:nvPr/>
        </p:nvPicPr>
        <p:blipFill>
          <a:blip r:embed="rId3"/>
          <a:stretch>
            <a:fillRect/>
          </a:stretch>
        </p:blipFill>
        <p:spPr>
          <a:xfrm>
            <a:off x="424264" y="1204264"/>
            <a:ext cx="8417918" cy="4375442"/>
          </a:xfrm>
          <a:prstGeom prst="rect">
            <a:avLst/>
          </a:prstGeom>
        </p:spPr>
      </p:pic>
    </p:spTree>
    <p:extLst>
      <p:ext uri="{BB962C8B-B14F-4D97-AF65-F5344CB8AC3E}">
        <p14:creationId xmlns:p14="http://schemas.microsoft.com/office/powerpoint/2010/main" val="1061968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FloodCast</a:t>
            </a:r>
            <a:r>
              <a:rPr lang="en-US" dirty="0" smtClean="0"/>
              <a:t> Prototype System Modules</a:t>
            </a:r>
            <a:endParaRPr lang="en-US" dirty="0"/>
          </a:p>
        </p:txBody>
      </p:sp>
      <p:pic>
        <p:nvPicPr>
          <p:cNvPr id="4" name="Picture 3"/>
          <p:cNvPicPr>
            <a:picLocks noChangeAspect="1"/>
          </p:cNvPicPr>
          <p:nvPr/>
        </p:nvPicPr>
        <p:blipFill>
          <a:blip r:embed="rId3"/>
          <a:stretch>
            <a:fillRect/>
          </a:stretch>
        </p:blipFill>
        <p:spPr>
          <a:xfrm>
            <a:off x="609600" y="1242831"/>
            <a:ext cx="8216167" cy="5014278"/>
          </a:xfrm>
          <a:prstGeom prst="rect">
            <a:avLst/>
          </a:prstGeom>
        </p:spPr>
      </p:pic>
      <p:sp>
        <p:nvSpPr>
          <p:cNvPr id="7" name="Title 2"/>
          <p:cNvSpPr txBox="1">
            <a:spLocks/>
          </p:cNvSpPr>
          <p:nvPr/>
        </p:nvSpPr>
        <p:spPr>
          <a:xfrm>
            <a:off x="609600" y="694509"/>
            <a:ext cx="8153400" cy="6397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b="0" i="1" dirty="0" smtClean="0"/>
              <a:t>Forecasting</a:t>
            </a:r>
            <a:endParaRPr lang="en-US" b="0" i="1" dirty="0"/>
          </a:p>
        </p:txBody>
      </p:sp>
    </p:spTree>
    <p:extLst>
      <p:ext uri="{BB962C8B-B14F-4D97-AF65-F5344CB8AC3E}">
        <p14:creationId xmlns:p14="http://schemas.microsoft.com/office/powerpoint/2010/main" val="20267485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FloodCast</a:t>
            </a:r>
            <a:r>
              <a:rPr lang="en-US" dirty="0" smtClean="0"/>
              <a:t> Prototype System Modules</a:t>
            </a:r>
            <a:endParaRPr lang="en-US" dirty="0"/>
          </a:p>
        </p:txBody>
      </p:sp>
      <p:sp>
        <p:nvSpPr>
          <p:cNvPr id="5" name="Title 2"/>
          <p:cNvSpPr txBox="1">
            <a:spLocks/>
          </p:cNvSpPr>
          <p:nvPr/>
        </p:nvSpPr>
        <p:spPr>
          <a:xfrm>
            <a:off x="609600" y="694509"/>
            <a:ext cx="8153400" cy="6397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b="0" i="1" dirty="0" smtClean="0"/>
              <a:t>Stage Discharge Predictions &amp; Flood Extents</a:t>
            </a:r>
            <a:endParaRPr lang="en-US" b="0" i="1" dirty="0"/>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609600" y="1334271"/>
            <a:ext cx="7672251" cy="4935900"/>
          </a:xfrm>
          <a:prstGeom prst="rect">
            <a:avLst/>
          </a:prstGeom>
        </p:spPr>
      </p:pic>
    </p:spTree>
    <p:extLst>
      <p:ext uri="{BB962C8B-B14F-4D97-AF65-F5344CB8AC3E}">
        <p14:creationId xmlns:p14="http://schemas.microsoft.com/office/powerpoint/2010/main" val="41893317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FloodCast</a:t>
            </a:r>
            <a:r>
              <a:rPr lang="en-US" dirty="0" smtClean="0"/>
              <a:t> Prototype System Modules</a:t>
            </a:r>
            <a:endParaRPr lang="en-US" dirty="0"/>
          </a:p>
        </p:txBody>
      </p:sp>
      <p:sp>
        <p:nvSpPr>
          <p:cNvPr id="5" name="Title 2"/>
          <p:cNvSpPr txBox="1">
            <a:spLocks/>
          </p:cNvSpPr>
          <p:nvPr/>
        </p:nvSpPr>
        <p:spPr>
          <a:xfrm>
            <a:off x="609600" y="694509"/>
            <a:ext cx="8153400" cy="6397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b="0" i="1" dirty="0" smtClean="0"/>
              <a:t>Emergency Management &amp; Operations</a:t>
            </a:r>
            <a:endParaRPr lang="en-US" b="0" i="1" dirty="0"/>
          </a:p>
        </p:txBody>
      </p:sp>
      <p:pic>
        <p:nvPicPr>
          <p:cNvPr id="7" name="Picture 6"/>
          <p:cNvPicPr/>
          <p:nvPr/>
        </p:nvPicPr>
        <p:blipFill>
          <a:blip r:embed="rId3"/>
          <a:stretch>
            <a:fillRect/>
          </a:stretch>
        </p:blipFill>
        <p:spPr>
          <a:xfrm>
            <a:off x="701040" y="1216705"/>
            <a:ext cx="7452361" cy="4988151"/>
          </a:xfrm>
          <a:prstGeom prst="rect">
            <a:avLst/>
          </a:prstGeom>
        </p:spPr>
      </p:pic>
    </p:spTree>
    <p:extLst>
      <p:ext uri="{BB962C8B-B14F-4D97-AF65-F5344CB8AC3E}">
        <p14:creationId xmlns:p14="http://schemas.microsoft.com/office/powerpoint/2010/main" val="32148655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FloodCast</a:t>
            </a:r>
            <a:r>
              <a:rPr lang="en-US" dirty="0" smtClean="0"/>
              <a:t> Prototype System Modules</a:t>
            </a:r>
            <a:endParaRPr lang="en-US" dirty="0"/>
          </a:p>
        </p:txBody>
      </p:sp>
      <p:sp>
        <p:nvSpPr>
          <p:cNvPr id="5" name="Title 2"/>
          <p:cNvSpPr txBox="1">
            <a:spLocks/>
          </p:cNvSpPr>
          <p:nvPr/>
        </p:nvSpPr>
        <p:spPr>
          <a:xfrm>
            <a:off x="609600" y="694509"/>
            <a:ext cx="8153400" cy="6397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b="0" i="1" dirty="0" smtClean="0"/>
              <a:t>Incident Reporting &amp; Damage Estimates </a:t>
            </a:r>
            <a:endParaRPr lang="en-US" b="0" i="1" dirty="0"/>
          </a:p>
        </p:txBody>
      </p:sp>
      <p:pic>
        <p:nvPicPr>
          <p:cNvPr id="2" name="Picture 1"/>
          <p:cNvPicPr>
            <a:picLocks noChangeAspect="1"/>
          </p:cNvPicPr>
          <p:nvPr/>
        </p:nvPicPr>
        <p:blipFill>
          <a:blip r:embed="rId3"/>
          <a:stretch>
            <a:fillRect/>
          </a:stretch>
        </p:blipFill>
        <p:spPr>
          <a:xfrm>
            <a:off x="406174" y="1190580"/>
            <a:ext cx="8560252" cy="5040148"/>
          </a:xfrm>
          <a:prstGeom prst="rect">
            <a:avLst/>
          </a:prstGeom>
        </p:spPr>
      </p:pic>
    </p:spTree>
    <p:extLst>
      <p:ext uri="{BB962C8B-B14F-4D97-AF65-F5344CB8AC3E}">
        <p14:creationId xmlns:p14="http://schemas.microsoft.com/office/powerpoint/2010/main" val="42314252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FloodCast</a:t>
            </a:r>
            <a:r>
              <a:rPr lang="en-US" dirty="0" smtClean="0"/>
              <a:t> Prototype System Modules</a:t>
            </a:r>
            <a:endParaRPr lang="en-US" dirty="0"/>
          </a:p>
        </p:txBody>
      </p:sp>
      <p:sp>
        <p:nvSpPr>
          <p:cNvPr id="5" name="Title 2"/>
          <p:cNvSpPr txBox="1">
            <a:spLocks/>
          </p:cNvSpPr>
          <p:nvPr/>
        </p:nvSpPr>
        <p:spPr>
          <a:xfrm>
            <a:off x="609600" y="694509"/>
            <a:ext cx="8153400" cy="6397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b="0" i="1" dirty="0" smtClean="0"/>
              <a:t>Event Summary</a:t>
            </a:r>
            <a:endParaRPr lang="en-US" b="0" i="1" dirty="0"/>
          </a:p>
        </p:txBody>
      </p:sp>
      <p:pic>
        <p:nvPicPr>
          <p:cNvPr id="2" name="Picture 1"/>
          <p:cNvPicPr>
            <a:picLocks noChangeAspect="1"/>
          </p:cNvPicPr>
          <p:nvPr/>
        </p:nvPicPr>
        <p:blipFill>
          <a:blip r:embed="rId3"/>
          <a:stretch>
            <a:fillRect/>
          </a:stretch>
        </p:blipFill>
        <p:spPr>
          <a:xfrm>
            <a:off x="204650" y="1334271"/>
            <a:ext cx="8850615" cy="4530952"/>
          </a:xfrm>
          <a:prstGeom prst="rect">
            <a:avLst/>
          </a:prstGeom>
        </p:spPr>
      </p:pic>
    </p:spTree>
    <p:extLst>
      <p:ext uri="{BB962C8B-B14F-4D97-AF65-F5344CB8AC3E}">
        <p14:creationId xmlns:p14="http://schemas.microsoft.com/office/powerpoint/2010/main" val="23766157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FloodCast</a:t>
            </a:r>
            <a:r>
              <a:rPr lang="en-US" dirty="0" smtClean="0"/>
              <a:t> Prototype System Modules</a:t>
            </a:r>
            <a:endParaRPr lang="en-US" dirty="0"/>
          </a:p>
        </p:txBody>
      </p:sp>
      <p:sp>
        <p:nvSpPr>
          <p:cNvPr id="5" name="Title 2"/>
          <p:cNvSpPr txBox="1">
            <a:spLocks/>
          </p:cNvSpPr>
          <p:nvPr/>
        </p:nvSpPr>
        <p:spPr>
          <a:xfrm>
            <a:off x="609600" y="694509"/>
            <a:ext cx="8153400" cy="6397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b="0" i="1" dirty="0" smtClean="0"/>
              <a:t>Communication</a:t>
            </a:r>
            <a:endParaRPr lang="en-US" b="0" i="1" dirty="0"/>
          </a:p>
        </p:txBody>
      </p:sp>
      <p:pic>
        <p:nvPicPr>
          <p:cNvPr id="2" name="Picture 1"/>
          <p:cNvPicPr>
            <a:picLocks noChangeAspect="1"/>
          </p:cNvPicPr>
          <p:nvPr/>
        </p:nvPicPr>
        <p:blipFill>
          <a:blip r:embed="rId3"/>
          <a:stretch>
            <a:fillRect/>
          </a:stretch>
        </p:blipFill>
        <p:spPr>
          <a:xfrm>
            <a:off x="609599" y="1334271"/>
            <a:ext cx="7902103" cy="4792209"/>
          </a:xfrm>
          <a:prstGeom prst="rect">
            <a:avLst/>
          </a:prstGeom>
        </p:spPr>
      </p:pic>
    </p:spTree>
    <p:extLst>
      <p:ext uri="{BB962C8B-B14F-4D97-AF65-F5344CB8AC3E}">
        <p14:creationId xmlns:p14="http://schemas.microsoft.com/office/powerpoint/2010/main" val="33867242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Capability Maturity Model</a:t>
            </a:r>
            <a:endParaRPr lang="en-US" dirty="0"/>
          </a:p>
        </p:txBody>
      </p:sp>
      <p:pic>
        <p:nvPicPr>
          <p:cNvPr id="5" name="Picture 4"/>
          <p:cNvPicPr/>
          <p:nvPr/>
        </p:nvPicPr>
        <p:blipFill>
          <a:blip r:embed="rId3"/>
          <a:stretch>
            <a:fillRect/>
          </a:stretch>
        </p:blipFill>
        <p:spPr>
          <a:xfrm>
            <a:off x="165463" y="1181371"/>
            <a:ext cx="8834846" cy="4135211"/>
          </a:xfrm>
          <a:prstGeom prst="rect">
            <a:avLst/>
          </a:prstGeom>
        </p:spPr>
      </p:pic>
    </p:spTree>
    <p:extLst>
      <p:ext uri="{BB962C8B-B14F-4D97-AF65-F5344CB8AC3E}">
        <p14:creationId xmlns:p14="http://schemas.microsoft.com/office/powerpoint/2010/main" val="3323349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3928484458"/>
              </p:ext>
            </p:extLst>
          </p:nvPr>
        </p:nvGraphicFramePr>
        <p:xfrm>
          <a:off x="246017" y="241663"/>
          <a:ext cx="8897983" cy="57222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a:xfrm>
            <a:off x="411480" y="241663"/>
            <a:ext cx="8153400" cy="639762"/>
          </a:xfrm>
        </p:spPr>
        <p:txBody>
          <a:bodyPr/>
          <a:lstStyle/>
          <a:p>
            <a:r>
              <a:rPr lang="en-US" dirty="0" smtClean="0"/>
              <a:t>Capability Maturity Model</a:t>
            </a:r>
            <a:endParaRPr lang="en-US" dirty="0"/>
          </a:p>
        </p:txBody>
      </p:sp>
    </p:spTree>
    <p:extLst>
      <p:ext uri="{BB962C8B-B14F-4D97-AF65-F5344CB8AC3E}">
        <p14:creationId xmlns:p14="http://schemas.microsoft.com/office/powerpoint/2010/main" val="6806647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Capability Maturity Model</a:t>
            </a:r>
            <a:endParaRPr lang="en-US" dirty="0"/>
          </a:p>
        </p:txBody>
      </p:sp>
      <p:pic>
        <p:nvPicPr>
          <p:cNvPr id="2" name="Picture 1"/>
          <p:cNvPicPr>
            <a:picLocks noChangeAspect="1"/>
          </p:cNvPicPr>
          <p:nvPr/>
        </p:nvPicPr>
        <p:blipFill>
          <a:blip r:embed="rId3"/>
          <a:stretch>
            <a:fillRect/>
          </a:stretch>
        </p:blipFill>
        <p:spPr>
          <a:xfrm>
            <a:off x="386246" y="972865"/>
            <a:ext cx="8376754" cy="4552724"/>
          </a:xfrm>
          <a:prstGeom prst="rect">
            <a:avLst/>
          </a:prstGeom>
        </p:spPr>
      </p:pic>
    </p:spTree>
    <p:extLst>
      <p:ext uri="{BB962C8B-B14F-4D97-AF65-F5344CB8AC3E}">
        <p14:creationId xmlns:p14="http://schemas.microsoft.com/office/powerpoint/2010/main" val="34960740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Capability Maturity Model</a:t>
            </a:r>
            <a:endParaRPr lang="en-US" dirty="0"/>
          </a:p>
        </p:txBody>
      </p:sp>
      <p:pic>
        <p:nvPicPr>
          <p:cNvPr id="4" name="Picture 3"/>
          <p:cNvPicPr>
            <a:picLocks noChangeAspect="1"/>
          </p:cNvPicPr>
          <p:nvPr/>
        </p:nvPicPr>
        <p:blipFill>
          <a:blip r:embed="rId3"/>
          <a:stretch>
            <a:fillRect/>
          </a:stretch>
        </p:blipFill>
        <p:spPr>
          <a:xfrm>
            <a:off x="609600" y="868362"/>
            <a:ext cx="8190940" cy="5362156"/>
          </a:xfrm>
          <a:prstGeom prst="rect">
            <a:avLst/>
          </a:prstGeom>
        </p:spPr>
      </p:pic>
    </p:spTree>
    <p:extLst>
      <p:ext uri="{BB962C8B-B14F-4D97-AF65-F5344CB8AC3E}">
        <p14:creationId xmlns:p14="http://schemas.microsoft.com/office/powerpoint/2010/main" val="31510400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Detailed Requirements Analysis </a:t>
            </a:r>
            <a:endParaRPr lang="en-US" dirty="0"/>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3344" t="23397" r="3150" b="21006"/>
          <a:stretch/>
        </p:blipFill>
        <p:spPr>
          <a:xfrm>
            <a:off x="217652" y="1092649"/>
            <a:ext cx="8937295" cy="4687049"/>
          </a:xfrm>
          <a:prstGeom prst="rect">
            <a:avLst/>
          </a:prstGeom>
        </p:spPr>
      </p:pic>
    </p:spTree>
    <p:extLst>
      <p:ext uri="{BB962C8B-B14F-4D97-AF65-F5344CB8AC3E}">
        <p14:creationId xmlns:p14="http://schemas.microsoft.com/office/powerpoint/2010/main" val="22146954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Project Stakeholders: DOT Job Roles </a:t>
            </a:r>
            <a:endParaRPr lang="en-US" dirty="0"/>
          </a:p>
        </p:txBody>
      </p:sp>
      <p:graphicFrame>
        <p:nvGraphicFramePr>
          <p:cNvPr id="18" name="Diagram 17"/>
          <p:cNvGraphicFramePr/>
          <p:nvPr>
            <p:extLst>
              <p:ext uri="{D42A27DB-BD31-4B8C-83A1-F6EECF244321}">
                <p14:modId xmlns:p14="http://schemas.microsoft.com/office/powerpoint/2010/main" val="874562503"/>
              </p:ext>
            </p:extLst>
          </p:nvPr>
        </p:nvGraphicFramePr>
        <p:xfrm>
          <a:off x="-1332412" y="757646"/>
          <a:ext cx="11469188" cy="54210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493192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2035" y="267788"/>
            <a:ext cx="8153400" cy="639762"/>
          </a:xfrm>
        </p:spPr>
        <p:txBody>
          <a:bodyPr/>
          <a:lstStyle/>
          <a:p>
            <a:r>
              <a:rPr lang="en-US" dirty="0" smtClean="0"/>
              <a:t>Functional Requirements </a:t>
            </a:r>
            <a:br>
              <a:rPr lang="en-US" dirty="0" smtClean="0"/>
            </a:br>
            <a:endParaRPr lang="en-US" b="0" i="1" dirty="0"/>
          </a:p>
        </p:txBody>
      </p:sp>
      <p:pic>
        <p:nvPicPr>
          <p:cNvPr id="2" name="Picture 1"/>
          <p:cNvPicPr>
            <a:picLocks noChangeAspect="1"/>
          </p:cNvPicPr>
          <p:nvPr/>
        </p:nvPicPr>
        <p:blipFill>
          <a:blip r:embed="rId3"/>
          <a:stretch>
            <a:fillRect/>
          </a:stretch>
        </p:blipFill>
        <p:spPr>
          <a:xfrm>
            <a:off x="492035" y="679268"/>
            <a:ext cx="8153400" cy="5461710"/>
          </a:xfrm>
          <a:prstGeom prst="rect">
            <a:avLst/>
          </a:prstGeom>
        </p:spPr>
      </p:pic>
    </p:spTree>
    <p:extLst>
      <p:ext uri="{BB962C8B-B14F-4D97-AF65-F5344CB8AC3E}">
        <p14:creationId xmlns:p14="http://schemas.microsoft.com/office/powerpoint/2010/main" val="5879580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2035" y="267788"/>
            <a:ext cx="8153400" cy="639762"/>
          </a:xfrm>
        </p:spPr>
        <p:txBody>
          <a:bodyPr/>
          <a:lstStyle/>
          <a:p>
            <a:r>
              <a:rPr lang="en-US" dirty="0" smtClean="0"/>
              <a:t>Non-Functional Requirements </a:t>
            </a:r>
            <a:br>
              <a:rPr lang="en-US" dirty="0" smtClean="0"/>
            </a:br>
            <a:endParaRPr lang="en-US" b="0" i="1" dirty="0"/>
          </a:p>
        </p:txBody>
      </p:sp>
      <p:pic>
        <p:nvPicPr>
          <p:cNvPr id="4" name="Picture 3"/>
          <p:cNvPicPr>
            <a:picLocks noChangeAspect="1"/>
          </p:cNvPicPr>
          <p:nvPr/>
        </p:nvPicPr>
        <p:blipFill>
          <a:blip r:embed="rId3"/>
          <a:stretch>
            <a:fillRect/>
          </a:stretch>
        </p:blipFill>
        <p:spPr>
          <a:xfrm>
            <a:off x="492035" y="679109"/>
            <a:ext cx="8153400" cy="5510624"/>
          </a:xfrm>
          <a:prstGeom prst="rect">
            <a:avLst/>
          </a:prstGeom>
        </p:spPr>
      </p:pic>
    </p:spTree>
    <p:extLst>
      <p:ext uri="{BB962C8B-B14F-4D97-AF65-F5344CB8AC3E}">
        <p14:creationId xmlns:p14="http://schemas.microsoft.com/office/powerpoint/2010/main" val="19599272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2663" y="280851"/>
            <a:ext cx="8153400" cy="639762"/>
          </a:xfrm>
        </p:spPr>
        <p:txBody>
          <a:bodyPr/>
          <a:lstStyle/>
          <a:p>
            <a:r>
              <a:rPr lang="en-US" dirty="0" smtClean="0"/>
              <a:t>Flood Forecasting Dimension:</a:t>
            </a:r>
            <a:br>
              <a:rPr lang="en-US" dirty="0" smtClean="0"/>
            </a:br>
            <a:r>
              <a:rPr lang="en-US" b="0" i="1" dirty="0" smtClean="0"/>
              <a:t>Meteorology </a:t>
            </a:r>
            <a:endParaRPr lang="en-US" b="0" i="1" dirty="0"/>
          </a:p>
        </p:txBody>
      </p:sp>
      <p:graphicFrame>
        <p:nvGraphicFramePr>
          <p:cNvPr id="4" name="Table 3"/>
          <p:cNvGraphicFramePr>
            <a:graphicFrameLocks noGrp="1"/>
          </p:cNvGraphicFramePr>
          <p:nvPr>
            <p:extLst>
              <p:ext uri="{D42A27DB-BD31-4B8C-83A1-F6EECF244321}">
                <p14:modId xmlns:p14="http://schemas.microsoft.com/office/powerpoint/2010/main" val="1272521491"/>
              </p:ext>
            </p:extLst>
          </p:nvPr>
        </p:nvGraphicFramePr>
        <p:xfrm>
          <a:off x="715192" y="1207997"/>
          <a:ext cx="7697288" cy="4735603"/>
        </p:xfrm>
        <a:graphic>
          <a:graphicData uri="http://schemas.openxmlformats.org/drawingml/2006/table">
            <a:tbl>
              <a:tblPr firstRow="1" bandRow="1">
                <a:tableStyleId>{5C22544A-7EE6-4342-B048-85BDC9FD1C3A}</a:tableStyleId>
              </a:tblPr>
              <a:tblGrid>
                <a:gridCol w="3702875"/>
                <a:gridCol w="3994413"/>
              </a:tblGrid>
              <a:tr h="457681">
                <a:tc>
                  <a:txBody>
                    <a:bodyPr/>
                    <a:lstStyle/>
                    <a:p>
                      <a:r>
                        <a:rPr lang="en-US" sz="1800" b="1" kern="1200" dirty="0" smtClean="0">
                          <a:solidFill>
                            <a:schemeClr val="lt1"/>
                          </a:solidFill>
                          <a:effectLst/>
                          <a:latin typeface="+mn-lt"/>
                          <a:ea typeface="+mn-ea"/>
                          <a:cs typeface="+mn-cs"/>
                        </a:rPr>
                        <a:t>Existing Capability Summary </a:t>
                      </a:r>
                      <a:endParaRPr lang="en-US" dirty="0"/>
                    </a:p>
                  </a:txBody>
                  <a:tcPr/>
                </a:tc>
                <a:tc>
                  <a:txBody>
                    <a:bodyPr/>
                    <a:lstStyle/>
                    <a:p>
                      <a:r>
                        <a:rPr lang="en-US" sz="1800" b="1" kern="1200" dirty="0" smtClean="0">
                          <a:solidFill>
                            <a:schemeClr val="lt1"/>
                          </a:solidFill>
                          <a:effectLst/>
                          <a:latin typeface="+mn-lt"/>
                          <a:ea typeface="+mn-ea"/>
                          <a:cs typeface="+mn-cs"/>
                        </a:rPr>
                        <a:t>Gap/Requirement </a:t>
                      </a:r>
                      <a:endParaRPr lang="en-US" dirty="0"/>
                    </a:p>
                  </a:txBody>
                  <a:tcPr/>
                </a:tc>
              </a:tr>
              <a:tr h="4277922">
                <a:tc>
                  <a:txBody>
                    <a:bodyPr/>
                    <a:lstStyle/>
                    <a:p>
                      <a:pPr marL="285750" lvl="0" indent="-285750">
                        <a:buFont typeface="Arial" panose="020B0604020202020204" pitchFamily="34" charset="0"/>
                        <a:buChar char="•"/>
                      </a:pPr>
                      <a:r>
                        <a:rPr lang="en-US" sz="1800" kern="1200" dirty="0" smtClean="0">
                          <a:solidFill>
                            <a:schemeClr val="dk1"/>
                          </a:solidFill>
                          <a:effectLst/>
                          <a:latin typeface="+mn-lt"/>
                          <a:ea typeface="+mn-ea"/>
                          <a:cs typeface="+mn-cs"/>
                        </a:rPr>
                        <a:t>The majority of DOTs surveyed for this project actively consult predictive weather forecasts to prepare for flood events, most commonly from resources/alerts produced by NWS, NOAA, USGS, NHC, and FEMA. </a:t>
                      </a:r>
                    </a:p>
                    <a:p>
                      <a:pPr marL="285750" indent="-285750">
                        <a:buFont typeface="Arial" panose="020B0604020202020204" pitchFamily="34" charset="0"/>
                        <a:buChar char="•"/>
                      </a:pPr>
                      <a:r>
                        <a:rPr lang="en-US" sz="1800" kern="1200" dirty="0" smtClean="0">
                          <a:solidFill>
                            <a:schemeClr val="dk1"/>
                          </a:solidFill>
                          <a:effectLst/>
                          <a:latin typeface="+mn-lt"/>
                          <a:ea typeface="+mn-ea"/>
                          <a:cs typeface="+mn-cs"/>
                        </a:rPr>
                        <a:t>Most agencies gather precipitation forecast data separately from each source every time they need an update rather than having one central system that stores all weather and hydrologic data in one place. </a:t>
                      </a:r>
                      <a:endParaRPr lang="en-US" dirty="0"/>
                    </a:p>
                  </a:txBody>
                  <a:tcPr/>
                </a:tc>
                <a:tc>
                  <a:txBody>
                    <a:bodyPr/>
                    <a:lstStyle/>
                    <a:p>
                      <a:pPr marL="285750" indent="-285750">
                        <a:buFont typeface="Arial" panose="020B0604020202020204" pitchFamily="34" charset="0"/>
                        <a:buChar char="•"/>
                      </a:pPr>
                      <a:r>
                        <a:rPr lang="en-US" sz="1800" kern="1200" dirty="0" smtClean="0">
                          <a:solidFill>
                            <a:schemeClr val="dk1"/>
                          </a:solidFill>
                          <a:effectLst/>
                          <a:latin typeface="+mn-lt"/>
                          <a:ea typeface="+mn-ea"/>
                          <a:cs typeface="+mn-cs"/>
                        </a:rPr>
                        <a:t>A flood forecasting system that could serve as a centralized repository for flood forecasts to save time and improve situational awareness. </a:t>
                      </a:r>
                      <a:endParaRPr lang="en-US" dirty="0"/>
                    </a:p>
                  </a:txBody>
                  <a:tcPr/>
                </a:tc>
              </a:tr>
            </a:tbl>
          </a:graphicData>
        </a:graphic>
      </p:graphicFrame>
    </p:spTree>
    <p:extLst>
      <p:ext uri="{BB962C8B-B14F-4D97-AF65-F5344CB8AC3E}">
        <p14:creationId xmlns:p14="http://schemas.microsoft.com/office/powerpoint/2010/main" val="17018064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2663" y="280851"/>
            <a:ext cx="8153400" cy="639762"/>
          </a:xfrm>
        </p:spPr>
        <p:txBody>
          <a:bodyPr/>
          <a:lstStyle/>
          <a:p>
            <a:r>
              <a:rPr lang="en-US" dirty="0" smtClean="0"/>
              <a:t>Flood Forecasting Dimension:</a:t>
            </a:r>
            <a:br>
              <a:rPr lang="en-US" dirty="0" smtClean="0"/>
            </a:br>
            <a:r>
              <a:rPr lang="en-US" b="0" i="1" dirty="0" smtClean="0"/>
              <a:t>Hydrology &amp; Hydraulics  </a:t>
            </a:r>
            <a:endParaRPr lang="en-US" b="0" i="1" dirty="0"/>
          </a:p>
        </p:txBody>
      </p:sp>
      <p:graphicFrame>
        <p:nvGraphicFramePr>
          <p:cNvPr id="4" name="Table 3"/>
          <p:cNvGraphicFramePr>
            <a:graphicFrameLocks noGrp="1"/>
          </p:cNvGraphicFramePr>
          <p:nvPr>
            <p:extLst>
              <p:ext uri="{D42A27DB-BD31-4B8C-83A1-F6EECF244321}">
                <p14:modId xmlns:p14="http://schemas.microsoft.com/office/powerpoint/2010/main" val="3391807876"/>
              </p:ext>
            </p:extLst>
          </p:nvPr>
        </p:nvGraphicFramePr>
        <p:xfrm>
          <a:off x="715191" y="1129621"/>
          <a:ext cx="8060872" cy="4931546"/>
        </p:xfrm>
        <a:graphic>
          <a:graphicData uri="http://schemas.openxmlformats.org/drawingml/2006/table">
            <a:tbl>
              <a:tblPr firstRow="1" bandRow="1">
                <a:tableStyleId>{5C22544A-7EE6-4342-B048-85BDC9FD1C3A}</a:tableStyleId>
              </a:tblPr>
              <a:tblGrid>
                <a:gridCol w="3877782"/>
                <a:gridCol w="4183090"/>
              </a:tblGrid>
              <a:tr h="373965">
                <a:tc>
                  <a:txBody>
                    <a:bodyPr/>
                    <a:lstStyle/>
                    <a:p>
                      <a:r>
                        <a:rPr lang="en-US" sz="1800" b="1" kern="1200" dirty="0" smtClean="0">
                          <a:solidFill>
                            <a:schemeClr val="lt1"/>
                          </a:solidFill>
                          <a:effectLst/>
                          <a:latin typeface="+mn-lt"/>
                          <a:ea typeface="+mn-ea"/>
                          <a:cs typeface="+mn-cs"/>
                        </a:rPr>
                        <a:t>Existing Capability Summary </a:t>
                      </a:r>
                      <a:endParaRPr lang="en-US" dirty="0"/>
                    </a:p>
                  </a:txBody>
                  <a:tcPr/>
                </a:tc>
                <a:tc>
                  <a:txBody>
                    <a:bodyPr/>
                    <a:lstStyle/>
                    <a:p>
                      <a:r>
                        <a:rPr lang="en-US" sz="1800" b="1" kern="1200" dirty="0" smtClean="0">
                          <a:solidFill>
                            <a:schemeClr val="lt1"/>
                          </a:solidFill>
                          <a:effectLst/>
                          <a:latin typeface="+mn-lt"/>
                          <a:ea typeface="+mn-ea"/>
                          <a:cs typeface="+mn-cs"/>
                        </a:rPr>
                        <a:t>Gap/Requirement </a:t>
                      </a:r>
                      <a:endParaRPr lang="en-US" dirty="0"/>
                    </a:p>
                  </a:txBody>
                  <a:tcPr/>
                </a:tc>
              </a:tr>
              <a:tr h="4557581">
                <a:tc>
                  <a:txBody>
                    <a:bodyPr/>
                    <a:lstStyle/>
                    <a:p>
                      <a:pPr marL="285750" lvl="0" indent="-285750">
                        <a:buFont typeface="Arial" panose="020B0604020202020204" pitchFamily="34" charset="0"/>
                        <a:buChar char="•"/>
                      </a:pPr>
                      <a:r>
                        <a:rPr lang="en-US" sz="1650" kern="1200" dirty="0" smtClean="0">
                          <a:solidFill>
                            <a:schemeClr val="dk1"/>
                          </a:solidFill>
                          <a:effectLst/>
                          <a:latin typeface="+mn-lt"/>
                          <a:ea typeface="+mn-ea"/>
                          <a:cs typeface="+mn-cs"/>
                        </a:rPr>
                        <a:t>Several DOTs use the National Flood Insurance Program’s (NFIP) National Flood Hazard Layer (NFHL) for 100-year and 500-year flood events or the NWS’s Advanced Hydrologic Prediction Service (AHPS) depth grids and extents for NWS-defined flood stages. However, it appears that most of this information is being used for long-term infrastructure planning decisions rather than predictive flood risk planning. </a:t>
                      </a:r>
                    </a:p>
                    <a:p>
                      <a:pPr marL="285750" indent="-285750">
                        <a:buFont typeface="Arial" panose="020B0604020202020204" pitchFamily="34" charset="0"/>
                        <a:buChar char="•"/>
                      </a:pPr>
                      <a:r>
                        <a:rPr lang="en-US" sz="1650" kern="1200" dirty="0" smtClean="0">
                          <a:solidFill>
                            <a:schemeClr val="dk1"/>
                          </a:solidFill>
                          <a:effectLst/>
                          <a:latin typeface="+mn-lt"/>
                          <a:ea typeface="+mn-ea"/>
                          <a:cs typeface="+mn-cs"/>
                        </a:rPr>
                        <a:t>There are a few DOTs that use USGS rating curves (or similar regression equations) or the USGS </a:t>
                      </a:r>
                      <a:r>
                        <a:rPr lang="en-US" sz="1650" kern="1200" dirty="0" err="1" smtClean="0">
                          <a:solidFill>
                            <a:schemeClr val="dk1"/>
                          </a:solidFill>
                          <a:effectLst/>
                          <a:latin typeface="+mn-lt"/>
                          <a:ea typeface="+mn-ea"/>
                          <a:cs typeface="+mn-cs"/>
                        </a:rPr>
                        <a:t>StreamStats</a:t>
                      </a:r>
                      <a:r>
                        <a:rPr lang="en-US" sz="1650" kern="1200" dirty="0" smtClean="0">
                          <a:solidFill>
                            <a:schemeClr val="dk1"/>
                          </a:solidFill>
                          <a:effectLst/>
                          <a:latin typeface="+mn-lt"/>
                          <a:ea typeface="+mn-ea"/>
                          <a:cs typeface="+mn-cs"/>
                        </a:rPr>
                        <a:t> program to estimate inundation extent and depth predictions for ungauged locations. </a:t>
                      </a:r>
                      <a:endParaRPr lang="en-US" sz="1650" dirty="0"/>
                    </a:p>
                  </a:txBody>
                  <a:tcPr/>
                </a:tc>
                <a:tc>
                  <a:txBody>
                    <a:bodyPr/>
                    <a:lstStyle/>
                    <a:p>
                      <a:pPr marL="285750" indent="-285750">
                        <a:buFont typeface="Arial" panose="020B0604020202020204" pitchFamily="34" charset="0"/>
                        <a:buChar char="•"/>
                      </a:pPr>
                      <a:r>
                        <a:rPr lang="en-US" sz="1650" kern="1200" dirty="0" smtClean="0">
                          <a:solidFill>
                            <a:schemeClr val="dk1"/>
                          </a:solidFill>
                          <a:effectLst/>
                          <a:latin typeface="+mn-lt"/>
                          <a:ea typeface="+mn-ea"/>
                          <a:cs typeface="+mn-cs"/>
                        </a:rPr>
                        <a:t>Dynamic inundation mapping (i.e. event-based) that allows for rapid translation of stream flow predictions to extent and depth predictions, especially accurate flood modeling at ungauged locations. In particular, multiple survey respondents expressed the need to answer the following key questions in advance of an event: When will it flood? Where will it flood? and How deep will flooding be?</a:t>
                      </a:r>
                      <a:endParaRPr lang="en-US" sz="1650" dirty="0"/>
                    </a:p>
                  </a:txBody>
                  <a:tcPr/>
                </a:tc>
              </a:tr>
            </a:tbl>
          </a:graphicData>
        </a:graphic>
      </p:graphicFrame>
    </p:spTree>
    <p:extLst>
      <p:ext uri="{BB962C8B-B14F-4D97-AF65-F5344CB8AC3E}">
        <p14:creationId xmlns:p14="http://schemas.microsoft.com/office/powerpoint/2010/main" val="5712909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2663" y="280851"/>
            <a:ext cx="8153400" cy="639762"/>
          </a:xfrm>
        </p:spPr>
        <p:txBody>
          <a:bodyPr/>
          <a:lstStyle/>
          <a:p>
            <a:r>
              <a:rPr lang="en-US" dirty="0" smtClean="0"/>
              <a:t>Flood Forecasting Dimension:</a:t>
            </a:r>
            <a:br>
              <a:rPr lang="en-US" dirty="0" smtClean="0"/>
            </a:br>
            <a:r>
              <a:rPr lang="en-US" b="0" i="1" dirty="0" smtClean="0"/>
              <a:t>Asset Management </a:t>
            </a:r>
            <a:endParaRPr lang="en-US" b="0" i="1" dirty="0"/>
          </a:p>
        </p:txBody>
      </p:sp>
      <p:graphicFrame>
        <p:nvGraphicFramePr>
          <p:cNvPr id="4" name="Table 3"/>
          <p:cNvGraphicFramePr>
            <a:graphicFrameLocks noGrp="1"/>
          </p:cNvGraphicFramePr>
          <p:nvPr>
            <p:extLst>
              <p:ext uri="{D42A27DB-BD31-4B8C-83A1-F6EECF244321}">
                <p14:modId xmlns:p14="http://schemas.microsoft.com/office/powerpoint/2010/main" val="1454494798"/>
              </p:ext>
            </p:extLst>
          </p:nvPr>
        </p:nvGraphicFramePr>
        <p:xfrm>
          <a:off x="715191" y="1129621"/>
          <a:ext cx="7958546" cy="4042063"/>
        </p:xfrm>
        <a:graphic>
          <a:graphicData uri="http://schemas.openxmlformats.org/drawingml/2006/table">
            <a:tbl>
              <a:tblPr firstRow="1" bandRow="1">
                <a:tableStyleId>{5C22544A-7EE6-4342-B048-85BDC9FD1C3A}</a:tableStyleId>
              </a:tblPr>
              <a:tblGrid>
                <a:gridCol w="3828557"/>
                <a:gridCol w="4129989"/>
              </a:tblGrid>
              <a:tr h="301653">
                <a:tc>
                  <a:txBody>
                    <a:bodyPr/>
                    <a:lstStyle/>
                    <a:p>
                      <a:r>
                        <a:rPr lang="en-US" sz="1800" b="1" kern="1200" dirty="0" smtClean="0">
                          <a:solidFill>
                            <a:schemeClr val="lt1"/>
                          </a:solidFill>
                          <a:effectLst/>
                          <a:latin typeface="+mn-lt"/>
                          <a:ea typeface="+mn-ea"/>
                          <a:cs typeface="+mn-cs"/>
                        </a:rPr>
                        <a:t>Existing Capability Summary </a:t>
                      </a:r>
                      <a:endParaRPr lang="en-US" dirty="0"/>
                    </a:p>
                  </a:txBody>
                  <a:tcPr/>
                </a:tc>
                <a:tc>
                  <a:txBody>
                    <a:bodyPr/>
                    <a:lstStyle/>
                    <a:p>
                      <a:r>
                        <a:rPr lang="en-US" sz="1800" b="1" kern="1200" dirty="0" smtClean="0">
                          <a:solidFill>
                            <a:schemeClr val="lt1"/>
                          </a:solidFill>
                          <a:effectLst/>
                          <a:latin typeface="+mn-lt"/>
                          <a:ea typeface="+mn-ea"/>
                          <a:cs typeface="+mn-cs"/>
                        </a:rPr>
                        <a:t>Gap/Requirement </a:t>
                      </a:r>
                      <a:endParaRPr lang="en-US" dirty="0"/>
                    </a:p>
                  </a:txBody>
                  <a:tcPr/>
                </a:tc>
              </a:tr>
              <a:tr h="3676303">
                <a:tc>
                  <a:txBody>
                    <a:bodyPr/>
                    <a:lstStyle/>
                    <a:p>
                      <a:pPr marL="285750" lvl="0" indent="-285750">
                        <a:buFont typeface="Arial" panose="020B0604020202020204" pitchFamily="34" charset="0"/>
                        <a:buChar char="•"/>
                      </a:pPr>
                      <a:r>
                        <a:rPr lang="en-US" sz="1800" kern="1200" dirty="0" smtClean="0">
                          <a:solidFill>
                            <a:schemeClr val="dk1"/>
                          </a:solidFill>
                          <a:effectLst/>
                          <a:latin typeface="+mn-lt"/>
                          <a:ea typeface="+mn-ea"/>
                          <a:cs typeface="+mn-cs"/>
                        </a:rPr>
                        <a:t>Most DOTs have some sort of asset management system, but the majority of these databases are not complete, only show DOT-owned assets, are not in GIS format, do not include information about asset fragility and vulnerability to flood conditions, do not have or only have partial topology enforcement, and are missing asset elevation attributes. </a:t>
                      </a:r>
                      <a:endParaRPr lang="en-US" sz="1650" dirty="0"/>
                    </a:p>
                  </a:txBody>
                  <a:tcPr/>
                </a:tc>
                <a:tc>
                  <a:txBody>
                    <a:bodyPr/>
                    <a:lstStyle/>
                    <a:p>
                      <a:pPr marL="285750" indent="-285750">
                        <a:buFont typeface="Arial" panose="020B0604020202020204" pitchFamily="34" charset="0"/>
                        <a:buChar char="•"/>
                      </a:pPr>
                      <a:r>
                        <a:rPr lang="en-US" sz="1800" kern="1200" dirty="0" smtClean="0">
                          <a:solidFill>
                            <a:schemeClr val="dk1"/>
                          </a:solidFill>
                          <a:effectLst/>
                          <a:latin typeface="+mn-lt"/>
                          <a:ea typeface="+mn-ea"/>
                          <a:cs typeface="+mn-cs"/>
                        </a:rPr>
                        <a:t>System should facilitate data asset data collection (i.e. field personnel could gather geo-located asset data), could easily update additions and changes to assets, and could interface with H&amp;H data outputs to anticipate asset failure.</a:t>
                      </a:r>
                      <a:endParaRPr lang="en-US" sz="1650" dirty="0"/>
                    </a:p>
                  </a:txBody>
                  <a:tcPr/>
                </a:tc>
              </a:tr>
            </a:tbl>
          </a:graphicData>
        </a:graphic>
      </p:graphicFrame>
    </p:spTree>
    <p:extLst>
      <p:ext uri="{BB962C8B-B14F-4D97-AF65-F5344CB8AC3E}">
        <p14:creationId xmlns:p14="http://schemas.microsoft.com/office/powerpoint/2010/main" val="36895343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2663" y="280851"/>
            <a:ext cx="8153400" cy="639762"/>
          </a:xfrm>
        </p:spPr>
        <p:txBody>
          <a:bodyPr/>
          <a:lstStyle/>
          <a:p>
            <a:r>
              <a:rPr lang="en-US" dirty="0" smtClean="0"/>
              <a:t>Flood Forecasting Dimension:</a:t>
            </a:r>
            <a:br>
              <a:rPr lang="en-US" dirty="0" smtClean="0"/>
            </a:br>
            <a:r>
              <a:rPr lang="en-US" b="0" i="1" dirty="0" smtClean="0"/>
              <a:t>Communication &amp; Information Transfer </a:t>
            </a:r>
            <a:endParaRPr lang="en-US" b="0" i="1" dirty="0"/>
          </a:p>
        </p:txBody>
      </p:sp>
      <p:graphicFrame>
        <p:nvGraphicFramePr>
          <p:cNvPr id="4" name="Table 3"/>
          <p:cNvGraphicFramePr>
            <a:graphicFrameLocks noGrp="1"/>
          </p:cNvGraphicFramePr>
          <p:nvPr>
            <p:extLst>
              <p:ext uri="{D42A27DB-BD31-4B8C-83A1-F6EECF244321}">
                <p14:modId xmlns:p14="http://schemas.microsoft.com/office/powerpoint/2010/main" val="2412667945"/>
              </p:ext>
            </p:extLst>
          </p:nvPr>
        </p:nvGraphicFramePr>
        <p:xfrm>
          <a:off x="720090" y="1077369"/>
          <a:ext cx="7958546" cy="5120640"/>
        </p:xfrm>
        <a:graphic>
          <a:graphicData uri="http://schemas.openxmlformats.org/drawingml/2006/table">
            <a:tbl>
              <a:tblPr firstRow="1" bandRow="1">
                <a:tableStyleId>{5C22544A-7EE6-4342-B048-85BDC9FD1C3A}</a:tableStyleId>
              </a:tblPr>
              <a:tblGrid>
                <a:gridCol w="3828557"/>
                <a:gridCol w="4129989"/>
              </a:tblGrid>
              <a:tr h="301653">
                <a:tc>
                  <a:txBody>
                    <a:bodyPr/>
                    <a:lstStyle/>
                    <a:p>
                      <a:r>
                        <a:rPr lang="en-US" sz="1800" b="1" kern="1200" dirty="0" smtClean="0">
                          <a:solidFill>
                            <a:schemeClr val="lt1"/>
                          </a:solidFill>
                          <a:effectLst/>
                          <a:latin typeface="+mn-lt"/>
                          <a:ea typeface="+mn-ea"/>
                          <a:cs typeface="+mn-cs"/>
                        </a:rPr>
                        <a:t>Existing Capability Summary </a:t>
                      </a:r>
                      <a:endParaRPr lang="en-US" dirty="0"/>
                    </a:p>
                  </a:txBody>
                  <a:tcPr/>
                </a:tc>
                <a:tc>
                  <a:txBody>
                    <a:bodyPr/>
                    <a:lstStyle/>
                    <a:p>
                      <a:r>
                        <a:rPr lang="en-US" sz="1800" b="1" kern="1200" dirty="0" smtClean="0">
                          <a:solidFill>
                            <a:schemeClr val="lt1"/>
                          </a:solidFill>
                          <a:effectLst/>
                          <a:latin typeface="+mn-lt"/>
                          <a:ea typeface="+mn-ea"/>
                          <a:cs typeface="+mn-cs"/>
                        </a:rPr>
                        <a:t>Gap/Requirement </a:t>
                      </a:r>
                      <a:endParaRPr lang="en-US" dirty="0"/>
                    </a:p>
                  </a:txBody>
                  <a:tcPr/>
                </a:tc>
              </a:tr>
              <a:tr h="3676303">
                <a:tc>
                  <a:txBody>
                    <a:bodyPr/>
                    <a:lstStyle/>
                    <a:p>
                      <a:pPr marL="285750" lvl="0" indent="-285750">
                        <a:buFont typeface="Arial" panose="020B0604020202020204" pitchFamily="34" charset="0"/>
                        <a:buChar char="•"/>
                      </a:pPr>
                      <a:r>
                        <a:rPr lang="en-US" sz="1800" kern="1200" dirty="0" smtClean="0">
                          <a:solidFill>
                            <a:schemeClr val="dk1"/>
                          </a:solidFill>
                          <a:effectLst/>
                          <a:latin typeface="+mn-lt"/>
                          <a:ea typeface="+mn-ea"/>
                          <a:cs typeface="+mn-cs"/>
                        </a:rPr>
                        <a:t>Many DOTs use dispatch lines or state 511 systems to communicate and deliver alerts about traffic incidents, closures, and detours. However, these alerts are rarely automated and occur during or post-event rather than delivering predictive information about potential flood risk pre-event. </a:t>
                      </a:r>
                    </a:p>
                    <a:p>
                      <a:pPr marL="285750" lvl="0" indent="-285750">
                        <a:buFont typeface="Arial" panose="020B0604020202020204" pitchFamily="34" charset="0"/>
                        <a:buChar char="•"/>
                      </a:pPr>
                      <a:r>
                        <a:rPr lang="en-US" sz="1800" kern="1200" dirty="0" smtClean="0">
                          <a:solidFill>
                            <a:schemeClr val="dk1"/>
                          </a:solidFill>
                          <a:effectLst/>
                          <a:latin typeface="+mn-lt"/>
                          <a:ea typeface="+mn-ea"/>
                          <a:cs typeface="+mn-cs"/>
                        </a:rPr>
                        <a:t>The</a:t>
                      </a:r>
                      <a:r>
                        <a:rPr lang="en-US" sz="1800" kern="1200" baseline="0" dirty="0" smtClean="0">
                          <a:solidFill>
                            <a:schemeClr val="dk1"/>
                          </a:solidFill>
                          <a:effectLst/>
                          <a:latin typeface="+mn-lt"/>
                          <a:ea typeface="+mn-ea"/>
                          <a:cs typeface="+mn-cs"/>
                        </a:rPr>
                        <a:t> majority of existing communication platforms do not enable two-way communication with response crews. </a:t>
                      </a:r>
                    </a:p>
                    <a:p>
                      <a:pPr marL="285750" lvl="0" indent="-285750">
                        <a:buFont typeface="Arial" panose="020B0604020202020204" pitchFamily="34" charset="0"/>
                        <a:buChar char="•"/>
                      </a:pPr>
                      <a:r>
                        <a:rPr lang="en-US" sz="1800" kern="1200" baseline="0" dirty="0" smtClean="0">
                          <a:solidFill>
                            <a:schemeClr val="dk1"/>
                          </a:solidFill>
                          <a:effectLst/>
                          <a:latin typeface="+mn-lt"/>
                          <a:ea typeface="+mn-ea"/>
                          <a:cs typeface="+mn-cs"/>
                        </a:rPr>
                        <a:t>Most DOTs do not, or are not aware of the Open Geospatial Consortium (OGS) guidelines for geospatial data dissemination for sharing data. </a:t>
                      </a:r>
                      <a:endParaRPr lang="en-US" sz="1650" dirty="0"/>
                    </a:p>
                  </a:txBody>
                  <a:tcPr/>
                </a:tc>
                <a:tc>
                  <a:txBody>
                    <a:bodyPr/>
                    <a:lstStyle/>
                    <a:p>
                      <a:pPr marL="285750" indent="-285750">
                        <a:buFont typeface="Arial" panose="020B0604020202020204" pitchFamily="34" charset="0"/>
                        <a:buChar char="•"/>
                      </a:pPr>
                      <a:r>
                        <a:rPr lang="en-US" sz="1800" kern="1200" dirty="0" smtClean="0">
                          <a:solidFill>
                            <a:schemeClr val="dk1"/>
                          </a:solidFill>
                          <a:effectLst/>
                          <a:latin typeface="+mn-lt"/>
                          <a:ea typeface="+mn-ea"/>
                          <a:cs typeface="+mn-cs"/>
                        </a:rPr>
                        <a:t>One-click automated communication tools that can help streamline efforts for DOTs to get the word out internally, to partner agencies, to infrastructure owners, and the public is desirable.</a:t>
                      </a:r>
                    </a:p>
                    <a:p>
                      <a:pPr marL="285750" indent="-285750">
                        <a:buFont typeface="Arial" panose="020B0604020202020204" pitchFamily="34" charset="0"/>
                        <a:buChar char="•"/>
                      </a:pPr>
                      <a:r>
                        <a:rPr lang="en-US" sz="1800" kern="1200" dirty="0" smtClean="0">
                          <a:solidFill>
                            <a:schemeClr val="dk1"/>
                          </a:solidFill>
                          <a:effectLst/>
                          <a:latin typeface="+mn-lt"/>
                          <a:ea typeface="+mn-ea"/>
                          <a:cs typeface="+mn-cs"/>
                        </a:rPr>
                        <a:t>The system should be structured to adhere to data</a:t>
                      </a:r>
                      <a:r>
                        <a:rPr lang="en-US" sz="1800" kern="1200" baseline="0" dirty="0" smtClean="0">
                          <a:solidFill>
                            <a:schemeClr val="dk1"/>
                          </a:solidFill>
                          <a:effectLst/>
                          <a:latin typeface="+mn-lt"/>
                          <a:ea typeface="+mn-ea"/>
                          <a:cs typeface="+mn-cs"/>
                        </a:rPr>
                        <a:t> standards and specifications</a:t>
                      </a:r>
                      <a:r>
                        <a:rPr lang="en-US" sz="1800" kern="1200" dirty="0" smtClean="0">
                          <a:solidFill>
                            <a:schemeClr val="dk1"/>
                          </a:solidFill>
                          <a:effectLst/>
                          <a:latin typeface="+mn-lt"/>
                          <a:ea typeface="+mn-ea"/>
                          <a:cs typeface="+mn-cs"/>
                        </a:rPr>
                        <a:t> so that DOT-collected data can be seamlessly</a:t>
                      </a:r>
                      <a:r>
                        <a:rPr lang="en-US" sz="1800" kern="1200" baseline="0" dirty="0" smtClean="0">
                          <a:solidFill>
                            <a:schemeClr val="dk1"/>
                          </a:solidFill>
                          <a:effectLst/>
                          <a:latin typeface="+mn-lt"/>
                          <a:ea typeface="+mn-ea"/>
                          <a:cs typeface="+mn-cs"/>
                        </a:rPr>
                        <a:t> transferred to external users such as partnering agencies and the public. </a:t>
                      </a:r>
                      <a:endParaRPr lang="en-US" sz="1800" kern="1200" dirty="0" smtClean="0">
                        <a:solidFill>
                          <a:schemeClr val="dk1"/>
                        </a:solidFill>
                        <a:effectLst/>
                        <a:latin typeface="+mn-lt"/>
                        <a:ea typeface="+mn-ea"/>
                        <a:cs typeface="+mn-cs"/>
                      </a:endParaRPr>
                    </a:p>
                  </a:txBody>
                  <a:tcPr/>
                </a:tc>
              </a:tr>
            </a:tbl>
          </a:graphicData>
        </a:graphic>
      </p:graphicFrame>
    </p:spTree>
    <p:extLst>
      <p:ext uri="{BB962C8B-B14F-4D97-AF65-F5344CB8AC3E}">
        <p14:creationId xmlns:p14="http://schemas.microsoft.com/office/powerpoint/2010/main" val="31489108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2663" y="280851"/>
            <a:ext cx="8153400" cy="639762"/>
          </a:xfrm>
        </p:spPr>
        <p:txBody>
          <a:bodyPr/>
          <a:lstStyle/>
          <a:p>
            <a:r>
              <a:rPr lang="en-US" dirty="0" smtClean="0"/>
              <a:t>Flood Forecasting Dimension:</a:t>
            </a:r>
            <a:br>
              <a:rPr lang="en-US" dirty="0" smtClean="0"/>
            </a:br>
            <a:r>
              <a:rPr lang="en-US" b="0" i="1" dirty="0" smtClean="0"/>
              <a:t>Incident Management </a:t>
            </a:r>
            <a:endParaRPr lang="en-US" b="0" i="1" dirty="0"/>
          </a:p>
        </p:txBody>
      </p:sp>
      <p:graphicFrame>
        <p:nvGraphicFramePr>
          <p:cNvPr id="4" name="Table 3"/>
          <p:cNvGraphicFramePr>
            <a:graphicFrameLocks noGrp="1"/>
          </p:cNvGraphicFramePr>
          <p:nvPr>
            <p:extLst>
              <p:ext uri="{D42A27DB-BD31-4B8C-83A1-F6EECF244321}">
                <p14:modId xmlns:p14="http://schemas.microsoft.com/office/powerpoint/2010/main" val="1964658163"/>
              </p:ext>
            </p:extLst>
          </p:nvPr>
        </p:nvGraphicFramePr>
        <p:xfrm>
          <a:off x="715191" y="1129621"/>
          <a:ext cx="7958546" cy="4846320"/>
        </p:xfrm>
        <a:graphic>
          <a:graphicData uri="http://schemas.openxmlformats.org/drawingml/2006/table">
            <a:tbl>
              <a:tblPr firstRow="1" bandRow="1">
                <a:tableStyleId>{5C22544A-7EE6-4342-B048-85BDC9FD1C3A}</a:tableStyleId>
              </a:tblPr>
              <a:tblGrid>
                <a:gridCol w="3828557"/>
                <a:gridCol w="4129989"/>
              </a:tblGrid>
              <a:tr h="301653">
                <a:tc>
                  <a:txBody>
                    <a:bodyPr/>
                    <a:lstStyle/>
                    <a:p>
                      <a:r>
                        <a:rPr lang="en-US" sz="1800" b="1" kern="1200" dirty="0" smtClean="0">
                          <a:solidFill>
                            <a:schemeClr val="lt1"/>
                          </a:solidFill>
                          <a:effectLst/>
                          <a:latin typeface="+mn-lt"/>
                          <a:ea typeface="+mn-ea"/>
                          <a:cs typeface="+mn-cs"/>
                        </a:rPr>
                        <a:t>Existing Capability Summary </a:t>
                      </a:r>
                      <a:endParaRPr lang="en-US" dirty="0"/>
                    </a:p>
                  </a:txBody>
                  <a:tcPr/>
                </a:tc>
                <a:tc>
                  <a:txBody>
                    <a:bodyPr/>
                    <a:lstStyle/>
                    <a:p>
                      <a:r>
                        <a:rPr lang="en-US" sz="1800" b="1" kern="1200" dirty="0" smtClean="0">
                          <a:solidFill>
                            <a:schemeClr val="lt1"/>
                          </a:solidFill>
                          <a:effectLst/>
                          <a:latin typeface="+mn-lt"/>
                          <a:ea typeface="+mn-ea"/>
                          <a:cs typeface="+mn-cs"/>
                        </a:rPr>
                        <a:t>Gap/Requirement </a:t>
                      </a:r>
                      <a:endParaRPr lang="en-US" dirty="0"/>
                    </a:p>
                  </a:txBody>
                  <a:tcPr/>
                </a:tc>
              </a:tr>
              <a:tr h="3676303">
                <a:tc>
                  <a:txBody>
                    <a:bodyPr/>
                    <a:lstStyle/>
                    <a:p>
                      <a:pPr marL="285750" lvl="0" indent="-285750">
                        <a:buFont typeface="Arial" panose="020B0604020202020204" pitchFamily="34" charset="0"/>
                        <a:buChar char="•"/>
                      </a:pPr>
                      <a:r>
                        <a:rPr lang="en-US" sz="1800" kern="1200" dirty="0" smtClean="0">
                          <a:solidFill>
                            <a:schemeClr val="dk1"/>
                          </a:solidFill>
                          <a:effectLst/>
                          <a:latin typeface="+mn-lt"/>
                          <a:ea typeface="+mn-ea"/>
                          <a:cs typeface="+mn-cs"/>
                        </a:rPr>
                        <a:t>Many DOTs expressed that their agency has a good understanding of locations and assets that are prone to flooding; most of this information is stored as institutional knowledge (i.e. experts who have experience with multiple historical flood events). </a:t>
                      </a:r>
                    </a:p>
                    <a:p>
                      <a:pPr marL="285750" indent="-285750">
                        <a:buFont typeface="Arial" panose="020B0604020202020204" pitchFamily="34" charset="0"/>
                        <a:buChar char="•"/>
                      </a:pPr>
                      <a:r>
                        <a:rPr lang="en-US" sz="1800" kern="1200" dirty="0" smtClean="0">
                          <a:solidFill>
                            <a:schemeClr val="dk1"/>
                          </a:solidFill>
                          <a:effectLst/>
                          <a:latin typeface="+mn-lt"/>
                          <a:ea typeface="+mn-ea"/>
                          <a:cs typeface="+mn-cs"/>
                        </a:rPr>
                        <a:t>Only several agencies maintain an incident tracking database in GIS format (extent of flood and location of impacted assets) with associated damage analytics (i.e. high water mark data, how long infrastructure was inundation, damage estimates, repair/cleanup activities, etc.).</a:t>
                      </a:r>
                      <a:endParaRPr lang="en-US" sz="1650" dirty="0"/>
                    </a:p>
                  </a:txBody>
                  <a:tcPr/>
                </a:tc>
                <a:tc>
                  <a:txBody>
                    <a:bodyPr/>
                    <a:lstStyle/>
                    <a:p>
                      <a:pPr marL="285750" indent="-285750">
                        <a:buFont typeface="Arial" panose="020B0604020202020204" pitchFamily="34" charset="0"/>
                        <a:buChar char="•"/>
                      </a:pPr>
                      <a:r>
                        <a:rPr lang="en-US" sz="1800" kern="1200" dirty="0" smtClean="0">
                          <a:solidFill>
                            <a:schemeClr val="dk1"/>
                          </a:solidFill>
                          <a:effectLst/>
                          <a:latin typeface="+mn-lt"/>
                          <a:ea typeface="+mn-ea"/>
                          <a:cs typeface="+mn-cs"/>
                        </a:rPr>
                        <a:t>System should allow for rapid synthesis of flood event analytics to facilitate both active flood event </a:t>
                      </a:r>
                      <a:r>
                        <a:rPr lang="en-US" sz="1800" kern="1200" smtClean="0">
                          <a:solidFill>
                            <a:schemeClr val="dk1"/>
                          </a:solidFill>
                          <a:effectLst/>
                          <a:latin typeface="+mn-lt"/>
                          <a:ea typeface="+mn-ea"/>
                          <a:cs typeface="+mn-cs"/>
                        </a:rPr>
                        <a:t>response s </a:t>
                      </a:r>
                      <a:r>
                        <a:rPr lang="en-US" sz="1800" kern="1200" dirty="0" smtClean="0">
                          <a:solidFill>
                            <a:schemeClr val="dk1"/>
                          </a:solidFill>
                          <a:effectLst/>
                          <a:latin typeface="+mn-lt"/>
                          <a:ea typeface="+mn-ea"/>
                          <a:cs typeface="+mn-cs"/>
                        </a:rPr>
                        <a:t>well as assist with post-disaster recovery and reimbursement activities. </a:t>
                      </a:r>
                      <a:endParaRPr lang="en-US" sz="1650" dirty="0"/>
                    </a:p>
                  </a:txBody>
                  <a:tcPr/>
                </a:tc>
              </a:tr>
            </a:tbl>
          </a:graphicData>
        </a:graphic>
      </p:graphicFrame>
    </p:spTree>
    <p:extLst>
      <p:ext uri="{BB962C8B-B14F-4D97-AF65-F5344CB8AC3E}">
        <p14:creationId xmlns:p14="http://schemas.microsoft.com/office/powerpoint/2010/main" val="34530496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Develop data standards for the key data components of </a:t>
            </a:r>
            <a:r>
              <a:rPr lang="en-US" dirty="0" err="1" smtClean="0"/>
              <a:t>FloodCast</a:t>
            </a:r>
            <a:endParaRPr lang="en-US" dirty="0" smtClean="0"/>
          </a:p>
          <a:p>
            <a:endParaRPr lang="en-US" dirty="0" smtClean="0"/>
          </a:p>
          <a:p>
            <a:endParaRPr lang="en-US" dirty="0"/>
          </a:p>
          <a:p>
            <a:endParaRPr lang="en-US" dirty="0" smtClean="0"/>
          </a:p>
          <a:p>
            <a:endParaRPr lang="en-US" dirty="0"/>
          </a:p>
          <a:p>
            <a:endParaRPr lang="en-US" dirty="0" smtClean="0"/>
          </a:p>
          <a:p>
            <a:r>
              <a:rPr lang="en-US" dirty="0" smtClean="0"/>
              <a:t>Create tool for checking data compliance with the standard.</a:t>
            </a:r>
            <a:endParaRPr lang="en-US" dirty="0"/>
          </a:p>
        </p:txBody>
      </p:sp>
      <p:sp>
        <p:nvSpPr>
          <p:cNvPr id="3" name="Title 2"/>
          <p:cNvSpPr>
            <a:spLocks noGrp="1"/>
          </p:cNvSpPr>
          <p:nvPr>
            <p:ph type="title"/>
          </p:nvPr>
        </p:nvSpPr>
        <p:spPr/>
        <p:txBody>
          <a:bodyPr/>
          <a:lstStyle/>
          <a:p>
            <a:r>
              <a:rPr lang="en-US" dirty="0" smtClean="0"/>
              <a:t>Data Standards for </a:t>
            </a:r>
            <a:r>
              <a:rPr lang="en-US" dirty="0" err="1" smtClean="0"/>
              <a:t>FloodCast</a:t>
            </a:r>
            <a:endParaRPr lang="en-US" dirty="0"/>
          </a:p>
        </p:txBody>
      </p:sp>
      <p:pic>
        <p:nvPicPr>
          <p:cNvPr id="4" name="Picture 3"/>
          <p:cNvPicPr/>
          <p:nvPr/>
        </p:nvPicPr>
        <p:blipFill>
          <a:blip r:embed="rId3"/>
          <a:stretch>
            <a:fillRect/>
          </a:stretch>
        </p:blipFill>
        <p:spPr>
          <a:xfrm>
            <a:off x="731519" y="2144682"/>
            <a:ext cx="7547957" cy="3059085"/>
          </a:xfrm>
          <a:prstGeom prst="rect">
            <a:avLst/>
          </a:prstGeom>
        </p:spPr>
      </p:pic>
      <p:sp>
        <p:nvSpPr>
          <p:cNvPr id="5" name="Rectangle 4"/>
          <p:cNvSpPr/>
          <p:nvPr/>
        </p:nvSpPr>
        <p:spPr>
          <a:xfrm>
            <a:off x="897775" y="2527069"/>
            <a:ext cx="2909454" cy="256032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54576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868362"/>
            <a:ext cx="8153400" cy="4754563"/>
          </a:xfrm>
        </p:spPr>
        <p:txBody>
          <a:bodyPr>
            <a:normAutofit fontScale="77500" lnSpcReduction="20000"/>
          </a:bodyPr>
          <a:lstStyle/>
          <a:p>
            <a:pPr marL="0" indent="0">
              <a:buNone/>
            </a:pPr>
            <a:r>
              <a:rPr lang="en-US" i="1" dirty="0" smtClean="0"/>
              <a:t>During a flood emergency, information flows through a wide range of channels:</a:t>
            </a:r>
          </a:p>
          <a:p>
            <a:r>
              <a:rPr lang="en-US" sz="2400" dirty="0" smtClean="0"/>
              <a:t>Data suppliers: NWS, USGS, NOAA, sensors, the public </a:t>
            </a:r>
          </a:p>
          <a:p>
            <a:r>
              <a:rPr lang="en-US" sz="2400" dirty="0" smtClean="0"/>
              <a:t>Data consumers: </a:t>
            </a:r>
            <a:r>
              <a:rPr lang="en-US" sz="2400" dirty="0" err="1" smtClean="0"/>
              <a:t>StateDOTs</a:t>
            </a:r>
            <a:r>
              <a:rPr lang="en-US" sz="2400" dirty="0" smtClean="0"/>
              <a:t> and partnering Emergency Managers</a:t>
            </a:r>
          </a:p>
          <a:p>
            <a:pPr marL="0" indent="0">
              <a:buNone/>
            </a:pPr>
            <a:endParaRPr lang="en-US" dirty="0" smtClean="0"/>
          </a:p>
          <a:p>
            <a:pPr marL="0" indent="0">
              <a:buNone/>
            </a:pPr>
            <a:r>
              <a:rPr lang="en-US" i="1" dirty="0" smtClean="0"/>
              <a:t>*Key Requirement: State DOTs want flood inundation extent &amp; depth predictions at both gauged and ungauged locations</a:t>
            </a:r>
          </a:p>
          <a:p>
            <a:endParaRPr lang="en-US" dirty="0" smtClean="0"/>
          </a:p>
          <a:p>
            <a:pPr marL="0" indent="0">
              <a:buNone/>
            </a:pPr>
            <a:r>
              <a:rPr lang="en-US" i="1" dirty="0" smtClean="0"/>
              <a:t>Major interoperability challenges include:</a:t>
            </a:r>
          </a:p>
          <a:p>
            <a:r>
              <a:rPr lang="en-US" sz="2400" dirty="0" smtClean="0"/>
              <a:t>Need standards for generation &amp; dissemination of flood extent &amp; depth digital data (preferably in real-time rather than inundation libraries).</a:t>
            </a:r>
          </a:p>
          <a:p>
            <a:r>
              <a:rPr lang="en-US" sz="2400" dirty="0" smtClean="0"/>
              <a:t>How do flood extents link to their flooding source?</a:t>
            </a:r>
          </a:p>
          <a:p>
            <a:r>
              <a:rPr lang="en-US" sz="2400" dirty="0" smtClean="0"/>
              <a:t>How do NWM flow estimates link to NHD stream segments?</a:t>
            </a:r>
          </a:p>
          <a:p>
            <a:endParaRPr lang="en-US" dirty="0"/>
          </a:p>
        </p:txBody>
      </p:sp>
      <p:sp>
        <p:nvSpPr>
          <p:cNvPr id="3" name="Title 2"/>
          <p:cNvSpPr>
            <a:spLocks noGrp="1"/>
          </p:cNvSpPr>
          <p:nvPr>
            <p:ph type="title"/>
          </p:nvPr>
        </p:nvSpPr>
        <p:spPr/>
        <p:txBody>
          <a:bodyPr/>
          <a:lstStyle/>
          <a:p>
            <a:r>
              <a:rPr lang="en-US" dirty="0" smtClean="0"/>
              <a:t>Future of </a:t>
            </a:r>
            <a:r>
              <a:rPr lang="en-US" dirty="0" err="1" smtClean="0"/>
              <a:t>FloodCast</a:t>
            </a:r>
            <a:endParaRPr lang="en-US" dirty="0"/>
          </a:p>
        </p:txBody>
      </p:sp>
    </p:spTree>
    <p:extLst>
      <p:ext uri="{BB962C8B-B14F-4D97-AF65-F5344CB8AC3E}">
        <p14:creationId xmlns:p14="http://schemas.microsoft.com/office/powerpoint/2010/main" val="3280450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Event-Driven Flood Use Case</a:t>
            </a:r>
            <a:endParaRPr lang="en-US" dirty="0"/>
          </a:p>
        </p:txBody>
      </p:sp>
      <p:sp>
        <p:nvSpPr>
          <p:cNvPr id="10" name="TextBox 9"/>
          <p:cNvSpPr txBox="1"/>
          <p:nvPr/>
        </p:nvSpPr>
        <p:spPr>
          <a:xfrm>
            <a:off x="6297322" y="1064237"/>
            <a:ext cx="2139745" cy="307777"/>
          </a:xfrm>
          <a:prstGeom prst="rect">
            <a:avLst/>
          </a:prstGeom>
          <a:noFill/>
        </p:spPr>
        <p:txBody>
          <a:bodyPr wrap="square" rtlCol="0">
            <a:spAutoFit/>
          </a:bodyPr>
          <a:lstStyle/>
          <a:p>
            <a:r>
              <a:rPr lang="en-US" sz="1400" i="1" dirty="0" smtClean="0">
                <a:solidFill>
                  <a:schemeClr val="bg1">
                    <a:lumMod val="50000"/>
                  </a:schemeClr>
                </a:solidFill>
              </a:rPr>
              <a:t>Flow Forecasts from NWM</a:t>
            </a:r>
            <a:endParaRPr lang="en-US" sz="1400" i="1" dirty="0">
              <a:solidFill>
                <a:schemeClr val="bg1">
                  <a:lumMod val="50000"/>
                </a:schemeClr>
              </a:solidFill>
            </a:endParaRPr>
          </a:p>
        </p:txBody>
      </p:sp>
      <p:sp>
        <p:nvSpPr>
          <p:cNvPr id="14" name="TextBox 13"/>
          <p:cNvSpPr txBox="1"/>
          <p:nvPr/>
        </p:nvSpPr>
        <p:spPr>
          <a:xfrm>
            <a:off x="1432228" y="2083657"/>
            <a:ext cx="1615132" cy="369332"/>
          </a:xfrm>
          <a:prstGeom prst="rect">
            <a:avLst/>
          </a:prstGeom>
          <a:noFill/>
        </p:spPr>
        <p:txBody>
          <a:bodyPr wrap="square" rtlCol="0">
            <a:spAutoFit/>
          </a:bodyPr>
          <a:lstStyle/>
          <a:p>
            <a:r>
              <a:rPr lang="en-US" i="1" dirty="0" smtClean="0">
                <a:solidFill>
                  <a:schemeClr val="bg1">
                    <a:lumMod val="50000"/>
                  </a:schemeClr>
                </a:solidFill>
              </a:rPr>
              <a:t>Flood Event 1</a:t>
            </a:r>
            <a:endParaRPr lang="en-US" i="1" dirty="0">
              <a:solidFill>
                <a:schemeClr val="bg1">
                  <a:lumMod val="50000"/>
                </a:schemeClr>
              </a:solidFill>
            </a:endParaRPr>
          </a:p>
        </p:txBody>
      </p:sp>
      <p:sp>
        <p:nvSpPr>
          <p:cNvPr id="18" name="Bent-Up Arrow 17"/>
          <p:cNvSpPr/>
          <p:nvPr/>
        </p:nvSpPr>
        <p:spPr>
          <a:xfrm rot="10800000">
            <a:off x="1672280" y="1372014"/>
            <a:ext cx="818558" cy="685954"/>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p:cNvPicPr>
            <a:picLocks noChangeAspect="1"/>
          </p:cNvPicPr>
          <p:nvPr/>
        </p:nvPicPr>
        <p:blipFill rotWithShape="1">
          <a:blip r:embed="rId2"/>
          <a:srcRect t="5400"/>
          <a:stretch/>
        </p:blipFill>
        <p:spPr>
          <a:xfrm>
            <a:off x="4109211" y="2461933"/>
            <a:ext cx="1309472" cy="1155621"/>
          </a:xfrm>
          <a:prstGeom prst="rect">
            <a:avLst/>
          </a:prstGeom>
        </p:spPr>
      </p:pic>
      <p:pic>
        <p:nvPicPr>
          <p:cNvPr id="27" name="Picture 26"/>
          <p:cNvPicPr>
            <a:picLocks noChangeAspect="1"/>
          </p:cNvPicPr>
          <p:nvPr/>
        </p:nvPicPr>
        <p:blipFill>
          <a:blip r:embed="rId3"/>
          <a:stretch>
            <a:fillRect/>
          </a:stretch>
        </p:blipFill>
        <p:spPr>
          <a:xfrm>
            <a:off x="2766350" y="801949"/>
            <a:ext cx="3530973" cy="1299261"/>
          </a:xfrm>
          <a:prstGeom prst="rect">
            <a:avLst/>
          </a:prstGeom>
        </p:spPr>
      </p:pic>
      <p:grpSp>
        <p:nvGrpSpPr>
          <p:cNvPr id="36" name="Group 35"/>
          <p:cNvGrpSpPr/>
          <p:nvPr/>
        </p:nvGrpSpPr>
        <p:grpSpPr>
          <a:xfrm>
            <a:off x="257466" y="2430097"/>
            <a:ext cx="4854272" cy="3270487"/>
            <a:chOff x="257467" y="2430097"/>
            <a:chExt cx="4430948" cy="3764757"/>
          </a:xfrm>
        </p:grpSpPr>
        <p:sp>
          <p:nvSpPr>
            <p:cNvPr id="8" name="Rounded Rectangle 7"/>
            <p:cNvSpPr/>
            <p:nvPr/>
          </p:nvSpPr>
          <p:spPr>
            <a:xfrm>
              <a:off x="257467" y="2430097"/>
              <a:ext cx="3276566" cy="3764757"/>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p:nvPicPr>
          <p:blipFill>
            <a:blip r:embed="rId4"/>
            <a:stretch>
              <a:fillRect/>
            </a:stretch>
          </p:blipFill>
          <p:spPr>
            <a:xfrm>
              <a:off x="659566" y="2690481"/>
              <a:ext cx="2460032" cy="2263622"/>
            </a:xfrm>
            <a:prstGeom prst="rect">
              <a:avLst/>
            </a:prstGeom>
          </p:spPr>
        </p:pic>
        <p:sp>
          <p:nvSpPr>
            <p:cNvPr id="20" name="Isosceles Triangle 19"/>
            <p:cNvSpPr/>
            <p:nvPr/>
          </p:nvSpPr>
          <p:spPr>
            <a:xfrm>
              <a:off x="2171990" y="4489719"/>
              <a:ext cx="189986" cy="156519"/>
            </a:xfrm>
            <a:prstGeom prs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TextBox 10"/>
            <p:cNvSpPr txBox="1"/>
            <p:nvPr/>
          </p:nvSpPr>
          <p:spPr>
            <a:xfrm>
              <a:off x="4085489" y="3939044"/>
              <a:ext cx="602926" cy="276999"/>
            </a:xfrm>
            <a:prstGeom prst="rect">
              <a:avLst/>
            </a:prstGeom>
            <a:noFill/>
          </p:spPr>
          <p:txBody>
            <a:bodyPr wrap="square" rtlCol="0">
              <a:spAutoFit/>
            </a:bodyPr>
            <a:lstStyle/>
            <a:p>
              <a:r>
                <a:rPr lang="en-US" sz="1200" b="1" i="1" dirty="0" smtClean="0">
                  <a:solidFill>
                    <a:schemeClr val="tx1">
                      <a:lumMod val="85000"/>
                      <a:lumOff val="15000"/>
                    </a:schemeClr>
                  </a:solidFill>
                </a:rPr>
                <a:t>Gauge</a:t>
              </a:r>
              <a:endParaRPr lang="en-US" sz="1200" b="1" i="1" dirty="0">
                <a:solidFill>
                  <a:schemeClr val="tx1">
                    <a:lumMod val="85000"/>
                    <a:lumOff val="15000"/>
                  </a:schemeClr>
                </a:solidFill>
              </a:endParaRPr>
            </a:p>
          </p:txBody>
        </p:sp>
        <p:sp>
          <p:nvSpPr>
            <p:cNvPr id="33" name="Rectangle 32"/>
            <p:cNvSpPr/>
            <p:nvPr/>
          </p:nvSpPr>
          <p:spPr>
            <a:xfrm>
              <a:off x="329514" y="5140411"/>
              <a:ext cx="3113902" cy="6260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solidFill>
                    <a:schemeClr val="tx1">
                      <a:lumMod val="85000"/>
                      <a:lumOff val="15000"/>
                    </a:schemeClr>
                  </a:solidFill>
                </a:rPr>
                <a:t>Linked features: Gage, flooding source, assets (bridges, culverts)</a:t>
              </a:r>
              <a:endParaRPr lang="en-US" sz="1600" dirty="0">
                <a:solidFill>
                  <a:schemeClr val="tx1">
                    <a:lumMod val="85000"/>
                    <a:lumOff val="15000"/>
                  </a:schemeClr>
                </a:solidFill>
              </a:endParaRPr>
            </a:p>
          </p:txBody>
        </p:sp>
      </p:grpSp>
      <p:grpSp>
        <p:nvGrpSpPr>
          <p:cNvPr id="37" name="Group 36"/>
          <p:cNvGrpSpPr/>
          <p:nvPr/>
        </p:nvGrpSpPr>
        <p:grpSpPr>
          <a:xfrm>
            <a:off x="5701102" y="2829772"/>
            <a:ext cx="2799359" cy="3183850"/>
            <a:chOff x="5156886" y="2829772"/>
            <a:chExt cx="3343575" cy="3159136"/>
          </a:xfrm>
        </p:grpSpPr>
        <p:sp>
          <p:nvSpPr>
            <p:cNvPr id="28" name="Rounded Rectangle 27"/>
            <p:cNvSpPr/>
            <p:nvPr/>
          </p:nvSpPr>
          <p:spPr>
            <a:xfrm>
              <a:off x="5156886" y="2829772"/>
              <a:ext cx="3343575" cy="3159136"/>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p:cNvPicPr>
              <a:picLocks noChangeAspect="1"/>
            </p:cNvPicPr>
            <p:nvPr/>
          </p:nvPicPr>
          <p:blipFill>
            <a:blip r:embed="rId5"/>
            <a:stretch>
              <a:fillRect/>
            </a:stretch>
          </p:blipFill>
          <p:spPr>
            <a:xfrm>
              <a:off x="5816718" y="2961760"/>
              <a:ext cx="2270870" cy="1849137"/>
            </a:xfrm>
            <a:prstGeom prst="rect">
              <a:avLst/>
            </a:prstGeom>
          </p:spPr>
        </p:pic>
        <p:sp>
          <p:nvSpPr>
            <p:cNvPr id="34" name="Rectangle 33"/>
            <p:cNvSpPr/>
            <p:nvPr/>
          </p:nvSpPr>
          <p:spPr>
            <a:xfrm>
              <a:off x="5310842" y="4982430"/>
              <a:ext cx="3113902" cy="6958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solidFill>
                    <a:schemeClr val="tx1">
                      <a:lumMod val="85000"/>
                      <a:lumOff val="15000"/>
                    </a:schemeClr>
                  </a:solidFill>
                </a:rPr>
                <a:t>Linked features: Gage, flooding source, assets (bridges, culverts)</a:t>
              </a:r>
              <a:endParaRPr lang="en-US" sz="1600" dirty="0">
                <a:solidFill>
                  <a:schemeClr val="tx1">
                    <a:lumMod val="85000"/>
                    <a:lumOff val="15000"/>
                  </a:schemeClr>
                </a:solidFill>
              </a:endParaRPr>
            </a:p>
          </p:txBody>
        </p:sp>
      </p:grpSp>
      <p:sp>
        <p:nvSpPr>
          <p:cNvPr id="35" name="TextBox 34"/>
          <p:cNvSpPr txBox="1"/>
          <p:nvPr/>
        </p:nvSpPr>
        <p:spPr>
          <a:xfrm>
            <a:off x="5856413" y="2452989"/>
            <a:ext cx="1615132" cy="369332"/>
          </a:xfrm>
          <a:prstGeom prst="rect">
            <a:avLst/>
          </a:prstGeom>
          <a:noFill/>
        </p:spPr>
        <p:txBody>
          <a:bodyPr wrap="square" rtlCol="0">
            <a:spAutoFit/>
          </a:bodyPr>
          <a:lstStyle/>
          <a:p>
            <a:r>
              <a:rPr lang="en-US" i="1" dirty="0" smtClean="0">
                <a:solidFill>
                  <a:schemeClr val="bg1">
                    <a:lumMod val="50000"/>
                  </a:schemeClr>
                </a:solidFill>
              </a:rPr>
              <a:t>Flood Event 2</a:t>
            </a:r>
            <a:endParaRPr lang="en-US" i="1" dirty="0">
              <a:solidFill>
                <a:schemeClr val="bg1">
                  <a:lumMod val="50000"/>
                </a:schemeClr>
              </a:solidFill>
            </a:endParaRPr>
          </a:p>
        </p:txBody>
      </p:sp>
      <p:sp>
        <p:nvSpPr>
          <p:cNvPr id="39" name="Bent-Up Arrow 38"/>
          <p:cNvSpPr/>
          <p:nvPr/>
        </p:nvSpPr>
        <p:spPr>
          <a:xfrm rot="10800000" flipH="1">
            <a:off x="6422185" y="1640763"/>
            <a:ext cx="922510" cy="617148"/>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Pentagon 39"/>
          <p:cNvSpPr/>
          <p:nvPr/>
        </p:nvSpPr>
        <p:spPr>
          <a:xfrm rot="5400000">
            <a:off x="3909136" y="5348453"/>
            <a:ext cx="1729899" cy="1289195"/>
          </a:xfrm>
          <a:prstGeom prst="homePlate">
            <a:avLst/>
          </a:prstGeom>
          <a:solidFill>
            <a:schemeClr val="accent2">
              <a:lumMod val="60000"/>
              <a:lumOff val="4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smtClean="0">
                <a:solidFill>
                  <a:schemeClr val="tx1">
                    <a:lumMod val="85000"/>
                    <a:lumOff val="15000"/>
                  </a:schemeClr>
                </a:solidFill>
              </a:rPr>
              <a:t>RESPONSE(S)</a:t>
            </a:r>
            <a:endParaRPr lang="en-US" dirty="0">
              <a:solidFill>
                <a:schemeClr val="tx1">
                  <a:lumMod val="85000"/>
                  <a:lumOff val="15000"/>
                </a:schemeClr>
              </a:solidFill>
            </a:endParaRPr>
          </a:p>
        </p:txBody>
      </p:sp>
      <p:sp>
        <p:nvSpPr>
          <p:cNvPr id="42" name="Bent-Up Arrow 41"/>
          <p:cNvSpPr/>
          <p:nvPr/>
        </p:nvSpPr>
        <p:spPr>
          <a:xfrm rot="10800000" flipH="1">
            <a:off x="3908245" y="4439367"/>
            <a:ext cx="688922" cy="619193"/>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Bent-Up Arrow 42"/>
          <p:cNvSpPr/>
          <p:nvPr/>
        </p:nvSpPr>
        <p:spPr>
          <a:xfrm rot="10800000">
            <a:off x="4898614" y="4437322"/>
            <a:ext cx="703212" cy="619193"/>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Isosceles Triangle 43"/>
          <p:cNvSpPr/>
          <p:nvPr/>
        </p:nvSpPr>
        <p:spPr>
          <a:xfrm>
            <a:off x="6154261" y="4613887"/>
            <a:ext cx="208137" cy="135970"/>
          </a:xfrm>
          <a:prstGeom prs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Freeform 45"/>
          <p:cNvSpPr/>
          <p:nvPr/>
        </p:nvSpPr>
        <p:spPr>
          <a:xfrm>
            <a:off x="2223083" y="2617365"/>
            <a:ext cx="176168" cy="2030136"/>
          </a:xfrm>
          <a:custGeom>
            <a:avLst/>
            <a:gdLst>
              <a:gd name="connsiteX0" fmla="*/ 16778 w 176168"/>
              <a:gd name="connsiteY0" fmla="*/ 2030136 h 2030136"/>
              <a:gd name="connsiteX1" fmla="*/ 8389 w 176168"/>
              <a:gd name="connsiteY1" fmla="*/ 1862356 h 2030136"/>
              <a:gd name="connsiteX2" fmla="*/ 0 w 176168"/>
              <a:gd name="connsiteY2" fmla="*/ 1837189 h 2030136"/>
              <a:gd name="connsiteX3" fmla="*/ 8389 w 176168"/>
              <a:gd name="connsiteY3" fmla="*/ 1610686 h 2030136"/>
              <a:gd name="connsiteX4" fmla="*/ 25167 w 176168"/>
              <a:gd name="connsiteY4" fmla="*/ 1543574 h 2030136"/>
              <a:gd name="connsiteX5" fmla="*/ 50334 w 176168"/>
              <a:gd name="connsiteY5" fmla="*/ 1459685 h 2030136"/>
              <a:gd name="connsiteX6" fmla="*/ 67112 w 176168"/>
              <a:gd name="connsiteY6" fmla="*/ 1426129 h 2030136"/>
              <a:gd name="connsiteX7" fmla="*/ 67112 w 176168"/>
              <a:gd name="connsiteY7" fmla="*/ 570452 h 2030136"/>
              <a:gd name="connsiteX8" fmla="*/ 75501 w 176168"/>
              <a:gd name="connsiteY8" fmla="*/ 536896 h 2030136"/>
              <a:gd name="connsiteX9" fmla="*/ 92278 w 176168"/>
              <a:gd name="connsiteY9" fmla="*/ 461395 h 2030136"/>
              <a:gd name="connsiteX10" fmla="*/ 109056 w 176168"/>
              <a:gd name="connsiteY10" fmla="*/ 411061 h 2030136"/>
              <a:gd name="connsiteX11" fmla="*/ 117445 w 176168"/>
              <a:gd name="connsiteY11" fmla="*/ 369116 h 2030136"/>
              <a:gd name="connsiteX12" fmla="*/ 125834 w 176168"/>
              <a:gd name="connsiteY12" fmla="*/ 335560 h 2030136"/>
              <a:gd name="connsiteX13" fmla="*/ 142612 w 176168"/>
              <a:gd name="connsiteY13" fmla="*/ 243281 h 2030136"/>
              <a:gd name="connsiteX14" fmla="*/ 159390 w 176168"/>
              <a:gd name="connsiteY14" fmla="*/ 192947 h 2030136"/>
              <a:gd name="connsiteX15" fmla="*/ 176168 w 176168"/>
              <a:gd name="connsiteY15" fmla="*/ 0 h 203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168" h="2030136">
                <a:moveTo>
                  <a:pt x="16778" y="2030136"/>
                </a:moveTo>
                <a:cubicBezTo>
                  <a:pt x="13982" y="1974209"/>
                  <a:pt x="13240" y="1918142"/>
                  <a:pt x="8389" y="1862356"/>
                </a:cubicBezTo>
                <a:cubicBezTo>
                  <a:pt x="7623" y="1853546"/>
                  <a:pt x="0" y="1846032"/>
                  <a:pt x="0" y="1837189"/>
                </a:cubicBezTo>
                <a:cubicBezTo>
                  <a:pt x="0" y="1761636"/>
                  <a:pt x="1937" y="1685963"/>
                  <a:pt x="8389" y="1610686"/>
                </a:cubicBezTo>
                <a:cubicBezTo>
                  <a:pt x="10358" y="1587711"/>
                  <a:pt x="19574" y="1565945"/>
                  <a:pt x="25167" y="1543574"/>
                </a:cubicBezTo>
                <a:cubicBezTo>
                  <a:pt x="31188" y="1519489"/>
                  <a:pt x="40121" y="1480110"/>
                  <a:pt x="50334" y="1459685"/>
                </a:cubicBezTo>
                <a:lnTo>
                  <a:pt x="67112" y="1426129"/>
                </a:lnTo>
                <a:cubicBezTo>
                  <a:pt x="63444" y="1319748"/>
                  <a:pt x="29794" y="719724"/>
                  <a:pt x="67112" y="570452"/>
                </a:cubicBezTo>
                <a:cubicBezTo>
                  <a:pt x="69908" y="559267"/>
                  <a:pt x="73000" y="548151"/>
                  <a:pt x="75501" y="536896"/>
                </a:cubicBezTo>
                <a:cubicBezTo>
                  <a:pt x="82339" y="506123"/>
                  <a:pt x="83514" y="490608"/>
                  <a:pt x="92278" y="461395"/>
                </a:cubicBezTo>
                <a:cubicBezTo>
                  <a:pt x="97360" y="444455"/>
                  <a:pt x="105588" y="428403"/>
                  <a:pt x="109056" y="411061"/>
                </a:cubicBezTo>
                <a:cubicBezTo>
                  <a:pt x="111852" y="397079"/>
                  <a:pt x="114352" y="383035"/>
                  <a:pt x="117445" y="369116"/>
                </a:cubicBezTo>
                <a:cubicBezTo>
                  <a:pt x="119946" y="357861"/>
                  <a:pt x="123573" y="346866"/>
                  <a:pt x="125834" y="335560"/>
                </a:cubicBezTo>
                <a:cubicBezTo>
                  <a:pt x="130630" y="311580"/>
                  <a:pt x="135864" y="268023"/>
                  <a:pt x="142612" y="243281"/>
                </a:cubicBezTo>
                <a:cubicBezTo>
                  <a:pt x="147265" y="226219"/>
                  <a:pt x="159390" y="192947"/>
                  <a:pt x="159390" y="192947"/>
                </a:cubicBezTo>
                <a:cubicBezTo>
                  <a:pt x="167406" y="128822"/>
                  <a:pt x="176168" y="64881"/>
                  <a:pt x="176168" y="0"/>
                </a:cubicBezTo>
              </a:path>
            </a:pathLst>
          </a:cu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3307474" y="2982210"/>
            <a:ext cx="660528" cy="240632"/>
          </a:xfrm>
          <a:prstGeom prst="rect">
            <a:avLst/>
          </a:prstGeom>
          <a:noFill/>
        </p:spPr>
        <p:txBody>
          <a:bodyPr wrap="square" rtlCol="0">
            <a:spAutoFit/>
          </a:bodyPr>
          <a:lstStyle/>
          <a:p>
            <a:r>
              <a:rPr lang="en-US" sz="1200" b="1" i="1" dirty="0" smtClean="0">
                <a:solidFill>
                  <a:schemeClr val="tx1">
                    <a:lumMod val="85000"/>
                    <a:lumOff val="15000"/>
                  </a:schemeClr>
                </a:solidFill>
              </a:rPr>
              <a:t>Gauge</a:t>
            </a:r>
            <a:endParaRPr lang="en-US" sz="1200" b="1" i="1" dirty="0">
              <a:solidFill>
                <a:schemeClr val="tx1">
                  <a:lumMod val="85000"/>
                  <a:lumOff val="15000"/>
                </a:schemeClr>
              </a:solidFill>
            </a:endParaRPr>
          </a:p>
        </p:txBody>
      </p:sp>
      <p:sp>
        <p:nvSpPr>
          <p:cNvPr id="49" name="Isosceles Triangle 48"/>
          <p:cNvSpPr/>
          <p:nvPr/>
        </p:nvSpPr>
        <p:spPr>
          <a:xfrm>
            <a:off x="4197112" y="3798116"/>
            <a:ext cx="208137" cy="135970"/>
          </a:xfrm>
          <a:prstGeom prs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0" name="Freeform 49"/>
          <p:cNvSpPr/>
          <p:nvPr/>
        </p:nvSpPr>
        <p:spPr>
          <a:xfrm>
            <a:off x="4197112" y="4126647"/>
            <a:ext cx="299387" cy="92668"/>
          </a:xfrm>
          <a:custGeom>
            <a:avLst/>
            <a:gdLst>
              <a:gd name="connsiteX0" fmla="*/ 0 w 453005"/>
              <a:gd name="connsiteY0" fmla="*/ 118183 h 151739"/>
              <a:gd name="connsiteX1" fmla="*/ 41945 w 453005"/>
              <a:gd name="connsiteY1" fmla="*/ 67849 h 151739"/>
              <a:gd name="connsiteX2" fmla="*/ 151001 w 453005"/>
              <a:gd name="connsiteY2" fmla="*/ 67849 h 151739"/>
              <a:gd name="connsiteX3" fmla="*/ 184557 w 453005"/>
              <a:gd name="connsiteY3" fmla="*/ 118183 h 151739"/>
              <a:gd name="connsiteX4" fmla="*/ 192946 w 453005"/>
              <a:gd name="connsiteY4" fmla="*/ 143350 h 151739"/>
              <a:gd name="connsiteX5" fmla="*/ 218113 w 453005"/>
              <a:gd name="connsiteY5" fmla="*/ 151739 h 151739"/>
              <a:gd name="connsiteX6" fmla="*/ 310392 w 453005"/>
              <a:gd name="connsiteY6" fmla="*/ 143350 h 151739"/>
              <a:gd name="connsiteX7" fmla="*/ 327170 w 453005"/>
              <a:gd name="connsiteY7" fmla="*/ 93016 h 151739"/>
              <a:gd name="connsiteX8" fmla="*/ 377504 w 453005"/>
              <a:gd name="connsiteY8" fmla="*/ 34293 h 151739"/>
              <a:gd name="connsiteX9" fmla="*/ 385893 w 453005"/>
              <a:gd name="connsiteY9" fmla="*/ 9126 h 151739"/>
              <a:gd name="connsiteX10" fmla="*/ 453005 w 453005"/>
              <a:gd name="connsiteY10" fmla="*/ 737 h 15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3005" h="151739">
                <a:moveTo>
                  <a:pt x="0" y="118183"/>
                </a:moveTo>
                <a:cubicBezTo>
                  <a:pt x="13982" y="101405"/>
                  <a:pt x="25509" y="82231"/>
                  <a:pt x="41945" y="67849"/>
                </a:cubicBezTo>
                <a:cubicBezTo>
                  <a:pt x="64979" y="47694"/>
                  <a:pt x="149817" y="67731"/>
                  <a:pt x="151001" y="67849"/>
                </a:cubicBezTo>
                <a:cubicBezTo>
                  <a:pt x="162186" y="84627"/>
                  <a:pt x="178180" y="99053"/>
                  <a:pt x="184557" y="118183"/>
                </a:cubicBezTo>
                <a:cubicBezTo>
                  <a:pt x="187353" y="126572"/>
                  <a:pt x="186693" y="137097"/>
                  <a:pt x="192946" y="143350"/>
                </a:cubicBezTo>
                <a:cubicBezTo>
                  <a:pt x="199199" y="149603"/>
                  <a:pt x="209724" y="148943"/>
                  <a:pt x="218113" y="151739"/>
                </a:cubicBezTo>
                <a:lnTo>
                  <a:pt x="310392" y="143350"/>
                </a:lnTo>
                <a:cubicBezTo>
                  <a:pt x="325964" y="134965"/>
                  <a:pt x="314664" y="105522"/>
                  <a:pt x="327170" y="93016"/>
                </a:cubicBezTo>
                <a:cubicBezTo>
                  <a:pt x="362224" y="57962"/>
                  <a:pt x="345219" y="77340"/>
                  <a:pt x="377504" y="34293"/>
                </a:cubicBezTo>
                <a:cubicBezTo>
                  <a:pt x="380300" y="25904"/>
                  <a:pt x="379640" y="15379"/>
                  <a:pt x="385893" y="9126"/>
                </a:cubicBezTo>
                <a:cubicBezTo>
                  <a:pt x="398703" y="-3684"/>
                  <a:pt x="442727" y="737"/>
                  <a:pt x="453005" y="737"/>
                </a:cubicBezTo>
              </a:path>
            </a:pathLst>
          </a:cu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p:cNvSpPr txBox="1"/>
          <p:nvPr/>
        </p:nvSpPr>
        <p:spPr>
          <a:xfrm>
            <a:off x="4488607" y="4019871"/>
            <a:ext cx="1059436" cy="276999"/>
          </a:xfrm>
          <a:prstGeom prst="rect">
            <a:avLst/>
          </a:prstGeom>
          <a:noFill/>
        </p:spPr>
        <p:txBody>
          <a:bodyPr wrap="square" rtlCol="0">
            <a:spAutoFit/>
          </a:bodyPr>
          <a:lstStyle/>
          <a:p>
            <a:r>
              <a:rPr lang="en-US" sz="1200" b="1" i="1" dirty="0" smtClean="0">
                <a:solidFill>
                  <a:schemeClr val="tx1">
                    <a:lumMod val="85000"/>
                    <a:lumOff val="15000"/>
                  </a:schemeClr>
                </a:solidFill>
              </a:rPr>
              <a:t>River/Stream</a:t>
            </a:r>
            <a:endParaRPr lang="en-US" sz="1200" b="1" i="1" dirty="0">
              <a:solidFill>
                <a:schemeClr val="tx1">
                  <a:lumMod val="85000"/>
                  <a:lumOff val="15000"/>
                </a:schemeClr>
              </a:solidFill>
            </a:endParaRPr>
          </a:p>
        </p:txBody>
      </p:sp>
      <p:sp>
        <p:nvSpPr>
          <p:cNvPr id="53" name="Freeform 52"/>
          <p:cNvSpPr/>
          <p:nvPr/>
        </p:nvSpPr>
        <p:spPr>
          <a:xfrm>
            <a:off x="7021585" y="3699545"/>
            <a:ext cx="813732" cy="234892"/>
          </a:xfrm>
          <a:custGeom>
            <a:avLst/>
            <a:gdLst>
              <a:gd name="connsiteX0" fmla="*/ 0 w 813732"/>
              <a:gd name="connsiteY0" fmla="*/ 234892 h 234892"/>
              <a:gd name="connsiteX1" fmla="*/ 209725 w 813732"/>
              <a:gd name="connsiteY1" fmla="*/ 218114 h 234892"/>
              <a:gd name="connsiteX2" fmla="*/ 234892 w 813732"/>
              <a:gd name="connsiteY2" fmla="*/ 209725 h 234892"/>
              <a:gd name="connsiteX3" fmla="*/ 285226 w 813732"/>
              <a:gd name="connsiteY3" fmla="*/ 167780 h 234892"/>
              <a:gd name="connsiteX4" fmla="*/ 335560 w 813732"/>
              <a:gd name="connsiteY4" fmla="*/ 134224 h 234892"/>
              <a:gd name="connsiteX5" fmla="*/ 385894 w 813732"/>
              <a:gd name="connsiteY5" fmla="*/ 117446 h 234892"/>
              <a:gd name="connsiteX6" fmla="*/ 411061 w 813732"/>
              <a:gd name="connsiteY6" fmla="*/ 109057 h 234892"/>
              <a:gd name="connsiteX7" fmla="*/ 478173 w 813732"/>
              <a:gd name="connsiteY7" fmla="*/ 100668 h 234892"/>
              <a:gd name="connsiteX8" fmla="*/ 528507 w 813732"/>
              <a:gd name="connsiteY8" fmla="*/ 67112 h 234892"/>
              <a:gd name="connsiteX9" fmla="*/ 604008 w 813732"/>
              <a:gd name="connsiteY9" fmla="*/ 41945 h 234892"/>
              <a:gd name="connsiteX10" fmla="*/ 629175 w 813732"/>
              <a:gd name="connsiteY10" fmla="*/ 33556 h 234892"/>
              <a:gd name="connsiteX11" fmla="*/ 654342 w 813732"/>
              <a:gd name="connsiteY11" fmla="*/ 25167 h 234892"/>
              <a:gd name="connsiteX12" fmla="*/ 780176 w 813732"/>
              <a:gd name="connsiteY12" fmla="*/ 16778 h 234892"/>
              <a:gd name="connsiteX13" fmla="*/ 813732 w 813732"/>
              <a:gd name="connsiteY13" fmla="*/ 0 h 23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3732" h="234892">
                <a:moveTo>
                  <a:pt x="0" y="234892"/>
                </a:moveTo>
                <a:cubicBezTo>
                  <a:pt x="118397" y="229254"/>
                  <a:pt x="132723" y="240114"/>
                  <a:pt x="209725" y="218114"/>
                </a:cubicBezTo>
                <a:cubicBezTo>
                  <a:pt x="218228" y="215685"/>
                  <a:pt x="226983" y="213680"/>
                  <a:pt x="234892" y="209725"/>
                </a:cubicBezTo>
                <a:cubicBezTo>
                  <a:pt x="270865" y="191739"/>
                  <a:pt x="251830" y="193754"/>
                  <a:pt x="285226" y="167780"/>
                </a:cubicBezTo>
                <a:cubicBezTo>
                  <a:pt x="301143" y="155400"/>
                  <a:pt x="316430" y="140601"/>
                  <a:pt x="335560" y="134224"/>
                </a:cubicBezTo>
                <a:lnTo>
                  <a:pt x="385894" y="117446"/>
                </a:lnTo>
                <a:cubicBezTo>
                  <a:pt x="394283" y="114650"/>
                  <a:pt x="402287" y="110154"/>
                  <a:pt x="411061" y="109057"/>
                </a:cubicBezTo>
                <a:lnTo>
                  <a:pt x="478173" y="100668"/>
                </a:lnTo>
                <a:cubicBezTo>
                  <a:pt x="494951" y="89483"/>
                  <a:pt x="509377" y="73489"/>
                  <a:pt x="528507" y="67112"/>
                </a:cubicBezTo>
                <a:lnTo>
                  <a:pt x="604008" y="41945"/>
                </a:lnTo>
                <a:lnTo>
                  <a:pt x="629175" y="33556"/>
                </a:lnTo>
                <a:cubicBezTo>
                  <a:pt x="637564" y="30760"/>
                  <a:pt x="645519" y="25755"/>
                  <a:pt x="654342" y="25167"/>
                </a:cubicBezTo>
                <a:lnTo>
                  <a:pt x="780176" y="16778"/>
                </a:lnTo>
                <a:lnTo>
                  <a:pt x="813732" y="0"/>
                </a:lnTo>
              </a:path>
            </a:pathLst>
          </a:custGeom>
          <a:no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3507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868362"/>
            <a:ext cx="8153400" cy="4754563"/>
          </a:xfrm>
        </p:spPr>
        <p:txBody>
          <a:bodyPr>
            <a:normAutofit/>
          </a:bodyPr>
          <a:lstStyle/>
          <a:p>
            <a:r>
              <a:rPr lang="en-US" dirty="0" smtClean="0"/>
              <a:t>How do we translate flow forecasts from the NWM to floodplain extents on a real-time or near-real time basis?</a:t>
            </a:r>
          </a:p>
          <a:p>
            <a:pPr lvl="1"/>
            <a:r>
              <a:rPr lang="en-US" dirty="0" smtClean="0"/>
              <a:t>Height Above Nearest Drainage (HAND)/Modified HAND method? </a:t>
            </a:r>
          </a:p>
          <a:p>
            <a:pPr lvl="1"/>
            <a:r>
              <a:rPr lang="en-US" dirty="0" smtClean="0"/>
              <a:t>Adapt basin-scale hydraulic models to translate flows to floodplain extents? </a:t>
            </a:r>
          </a:p>
          <a:p>
            <a:endParaRPr lang="en-US" dirty="0" smtClean="0"/>
          </a:p>
          <a:p>
            <a:endParaRPr lang="en-US" dirty="0"/>
          </a:p>
        </p:txBody>
      </p:sp>
      <p:sp>
        <p:nvSpPr>
          <p:cNvPr id="3" name="Title 2"/>
          <p:cNvSpPr>
            <a:spLocks noGrp="1"/>
          </p:cNvSpPr>
          <p:nvPr>
            <p:ph type="title"/>
          </p:nvPr>
        </p:nvSpPr>
        <p:spPr/>
        <p:txBody>
          <a:bodyPr/>
          <a:lstStyle/>
          <a:p>
            <a:r>
              <a:rPr lang="en-US" dirty="0" smtClean="0"/>
              <a:t>Future of </a:t>
            </a:r>
            <a:r>
              <a:rPr lang="en-US" dirty="0" err="1" smtClean="0"/>
              <a:t>FloodCast</a:t>
            </a:r>
            <a:endParaRPr lang="en-US" dirty="0"/>
          </a:p>
        </p:txBody>
      </p:sp>
    </p:spTree>
    <p:extLst>
      <p:ext uri="{BB962C8B-B14F-4D97-AF65-F5344CB8AC3E}">
        <p14:creationId xmlns:p14="http://schemas.microsoft.com/office/powerpoint/2010/main" val="9330733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14233</TotalTime>
  <Words>2133</Words>
  <Application>Microsoft Office PowerPoint</Application>
  <PresentationFormat>On-screen Show (4:3)</PresentationFormat>
  <Paragraphs>212</Paragraphs>
  <Slides>30</Slides>
  <Notes>29</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NCHRP 20-59(53)  FloodCast: A Framework for Enhanced Flood Event Decision Making for Transportation Resilience   April 2017</vt:lpstr>
      <vt:lpstr>PowerPoint Presentation</vt:lpstr>
      <vt:lpstr>Data Sources</vt:lpstr>
      <vt:lpstr>Data Sources</vt:lpstr>
      <vt:lpstr>NWM Outputs</vt:lpstr>
      <vt:lpstr>Flood Inundation Extent &amp; Depth Predictions</vt:lpstr>
      <vt:lpstr>Flood Inundation Extent &amp; Depth Predictions</vt:lpstr>
      <vt:lpstr>FloodCast Prototype System Modules</vt:lpstr>
      <vt:lpstr>FloodCast Prototype System Modules</vt:lpstr>
      <vt:lpstr>FloodCast Prototype System Modules</vt:lpstr>
      <vt:lpstr>FloodCast Prototype System Modules</vt:lpstr>
      <vt:lpstr>FloodCast Prototype System Modules</vt:lpstr>
      <vt:lpstr>FloodCast Prototype System Modules</vt:lpstr>
      <vt:lpstr>Capability Maturity Model</vt:lpstr>
      <vt:lpstr>Capability Maturity Model</vt:lpstr>
      <vt:lpstr>Capability Maturity Model</vt:lpstr>
      <vt:lpstr>Capability Maturity Model</vt:lpstr>
      <vt:lpstr>Detailed Requirements Analysis </vt:lpstr>
      <vt:lpstr>Project Stakeholders: DOT Job Roles </vt:lpstr>
      <vt:lpstr>Functional Requirements  </vt:lpstr>
      <vt:lpstr>Non-Functional Requirements  </vt:lpstr>
      <vt:lpstr>Flood Forecasting Dimension: Meteorology </vt:lpstr>
      <vt:lpstr>Flood Forecasting Dimension: Hydrology &amp; Hydraulics  </vt:lpstr>
      <vt:lpstr>Flood Forecasting Dimension: Asset Management </vt:lpstr>
      <vt:lpstr>Flood Forecasting Dimension: Communication &amp; Information Transfer </vt:lpstr>
      <vt:lpstr>Flood Forecasting Dimension: Incident Management </vt:lpstr>
      <vt:lpstr>Data Standards for FloodCast</vt:lpstr>
      <vt:lpstr>Future of FloodCast</vt:lpstr>
      <vt:lpstr>Event-Driven Flood Use Case</vt:lpstr>
      <vt:lpstr>Future of FloodCast</vt:lpstr>
    </vt:vector>
  </TitlesOfParts>
  <Company>Dewberry &amp; Davis LLC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ACRP 02-40 Climate Change Adaptation Planning: Risk Assessment for Airports using the Airport Climate Operational Risk Screening Tool   Case Study Workshops ∙ Fall 2014</dc:title>
  <dc:creator>Rand, Krista</dc:creator>
  <cp:lastModifiedBy>Moss, Alaurah</cp:lastModifiedBy>
  <cp:revision>138</cp:revision>
  <dcterms:created xsi:type="dcterms:W3CDTF">2015-08-20T14:13:11Z</dcterms:created>
  <dcterms:modified xsi:type="dcterms:W3CDTF">2017-06-21T13:55:11Z</dcterms:modified>
</cp:coreProperties>
</file>