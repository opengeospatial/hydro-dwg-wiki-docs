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96" r:id="rId2"/>
  </p:sldMasterIdLst>
  <p:notesMasterIdLst>
    <p:notesMasterId r:id="rId19"/>
  </p:notesMasterIdLst>
  <p:sldIdLst>
    <p:sldId id="283" r:id="rId3"/>
    <p:sldId id="284" r:id="rId4"/>
    <p:sldId id="297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306" r:id="rId15"/>
    <p:sldId id="307" r:id="rId16"/>
    <p:sldId id="308" r:id="rId17"/>
    <p:sldId id="30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8"/>
    <p:restoredTop sz="72169"/>
  </p:normalViewPr>
  <p:slideViewPr>
    <p:cSldViewPr snapToGrid="0" snapToObjects="1">
      <p:cViewPr varScale="1">
        <p:scale>
          <a:sx n="89" d="100"/>
          <a:sy n="89" d="100"/>
        </p:scale>
        <p:origin x="6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1A50F-AE41-C945-9F03-E3AB649C46BF}" type="datetimeFigureOut">
              <a:rPr lang="en-US" smtClean="0"/>
              <a:t>12/3/17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9A670-BD5E-D143-B033-50C33C176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6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9A670-BD5E-D143-B033-50C33C176B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96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55EE3B-AF96-4131-A6C5-457848FAAB5E}" type="slidenum">
              <a:rPr lang="en-NZ" smtClean="0">
                <a:solidFill>
                  <a:prstClr val="black"/>
                </a:solidFill>
              </a:rPr>
              <a:pPr/>
              <a:t>4</a:t>
            </a:fld>
            <a:endParaRPr lang="en-NZ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977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55EE3B-AF96-4131-A6C5-457848FAAB5E}" type="slidenum">
              <a:rPr lang="en-NZ" smtClean="0">
                <a:solidFill>
                  <a:prstClr val="black"/>
                </a:solidFill>
              </a:rPr>
              <a:pPr/>
              <a:t>7</a:t>
            </a:fld>
            <a:endParaRPr lang="en-NZ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479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55EE3B-AF96-4131-A6C5-457848FAAB5E}" type="slidenum">
              <a:rPr lang="en-NZ" smtClean="0">
                <a:solidFill>
                  <a:prstClr val="black"/>
                </a:solidFill>
              </a:rPr>
              <a:pPr/>
              <a:t>10</a:t>
            </a:fld>
            <a:endParaRPr lang="en-NZ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582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9A670-BD5E-D143-B033-50C33C176B5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25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tiff"/><Relationship Id="rId5" Type="http://schemas.openxmlformats.org/officeDocument/2006/relationships/image" Target="../media/image5.tiff"/><Relationship Id="rId6" Type="http://schemas.openxmlformats.org/officeDocument/2006/relationships/image" Target="../media/image6.tiff"/><Relationship Id="rId7" Type="http://schemas.openxmlformats.org/officeDocument/2006/relationships/image" Target="../media/image7.tiff"/><Relationship Id="rId8" Type="http://schemas.openxmlformats.org/officeDocument/2006/relationships/image" Target="../media/image8.tif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e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904" y="2316458"/>
            <a:ext cx="2743200" cy="6629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2870" y="2353390"/>
            <a:ext cx="2738377" cy="5882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615" y="2089507"/>
            <a:ext cx="2235200" cy="1117600"/>
          </a:xfrm>
          <a:prstGeom prst="rect">
            <a:avLst/>
          </a:prstGeom>
        </p:spPr>
      </p:pic>
      <p:sp>
        <p:nvSpPr>
          <p:cNvPr id="15" name="Text Box 5"/>
          <p:cNvSpPr txBox="1">
            <a:spLocks noChangeArrowheads="1"/>
          </p:cNvSpPr>
          <p:nvPr userDrawn="1"/>
        </p:nvSpPr>
        <p:spPr bwMode="auto">
          <a:xfrm>
            <a:off x="7099324" y="997538"/>
            <a:ext cx="1166986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>
                <a:solidFill>
                  <a:prstClr val="black"/>
                </a:solidFill>
                <a:latin typeface="Arial" charset="0"/>
              </a:rPr>
              <a:t>Supporting Partner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06" y="1245504"/>
            <a:ext cx="2387159" cy="7093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200" y="1066800"/>
            <a:ext cx="2631735" cy="1038346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4093561" y="2018424"/>
            <a:ext cx="1109278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prstClr val="black"/>
                </a:solidFill>
                <a:latin typeface="Arial" charset="0"/>
              </a:rPr>
              <a:t>Meeting Sponsors</a:t>
            </a:r>
          </a:p>
        </p:txBody>
      </p:sp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3843492" y="997538"/>
            <a:ext cx="804708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>
                <a:solidFill>
                  <a:prstClr val="black"/>
                </a:solidFill>
                <a:latin typeface="Arial" charset="0"/>
              </a:rPr>
              <a:t>Meeting Host</a:t>
            </a:r>
          </a:p>
        </p:txBody>
      </p: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MWLR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59" t="-1" r="1159" b="51189"/>
          <a:stretch/>
        </p:blipFill>
        <p:spPr bwMode="auto">
          <a:xfrm>
            <a:off x="0" y="4608512"/>
            <a:ext cx="9144000" cy="224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610122" y="3292078"/>
            <a:ext cx="3860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spc="10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smtClean="0"/>
              <a:t>MANAAKI WHENUA – LANDCARE RESEARCH</a:t>
            </a:r>
            <a:endParaRPr lang="en-US" dirty="0"/>
          </a:p>
        </p:txBody>
      </p:sp>
      <p:pic>
        <p:nvPicPr>
          <p:cNvPr id="10" name="Picture 5" descr="C:\nic\branding\logo files\MW_LR_landscape_white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0192" y="441763"/>
            <a:ext cx="2560542" cy="103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971600" y="2400000"/>
            <a:ext cx="6912768" cy="1043691"/>
          </a:xfrm>
        </p:spPr>
        <p:txBody>
          <a:bodyPr>
            <a:noAutofit/>
          </a:bodyPr>
          <a:lstStyle>
            <a:lvl1pPr>
              <a:lnSpc>
                <a:spcPts val="4780"/>
              </a:lnSpc>
              <a:defRPr sz="400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dirty="0" smtClean="0"/>
              <a:t>Click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71600" y="3792000"/>
            <a:ext cx="6912768" cy="107716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add author</a:t>
            </a:r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+ org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59" t="-1" r="1159" b="51189"/>
          <a:stretch/>
        </p:blipFill>
        <p:spPr bwMode="auto">
          <a:xfrm>
            <a:off x="0" y="4608512"/>
            <a:ext cx="9144000" cy="224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6120000" y="0"/>
            <a:ext cx="302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800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6444208" y="1604433"/>
            <a:ext cx="2448272" cy="374438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pPr lvl="0"/>
            <a:r>
              <a:rPr lang="en-NZ" dirty="0" smtClean="0"/>
              <a:t>Add extra logos here</a:t>
            </a:r>
            <a:endParaRPr lang="en-NZ" dirty="0"/>
          </a:p>
        </p:txBody>
      </p:sp>
      <p:pic>
        <p:nvPicPr>
          <p:cNvPr id="15" name="Picture 3" descr="C:\nic\branding\logo files\MW_LR_Landscape_big.png"/>
          <p:cNvPicPr>
            <a:picLocks noChangeAspect="1" noChangeArrowheads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44209" y="356659"/>
            <a:ext cx="2421541" cy="936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971600" y="2400000"/>
            <a:ext cx="4824536" cy="1043691"/>
          </a:xfrm>
        </p:spPr>
        <p:txBody>
          <a:bodyPr>
            <a:noAutofit/>
          </a:bodyPr>
          <a:lstStyle>
            <a:lvl1pPr>
              <a:lnSpc>
                <a:spcPts val="4780"/>
              </a:lnSpc>
              <a:defRPr sz="400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19" name="Date Placeholder 2"/>
          <p:cNvSpPr>
            <a:spLocks noGrp="1"/>
          </p:cNvSpPr>
          <p:nvPr>
            <p:ph type="dt" sz="half" idx="10"/>
          </p:nvPr>
        </p:nvSpPr>
        <p:spPr>
          <a:xfrm rot="16200000">
            <a:off x="-232067" y="5777084"/>
            <a:ext cx="1104691" cy="248949"/>
          </a:xfrm>
        </p:spPr>
        <p:txBody>
          <a:bodyPr/>
          <a:lstStyle>
            <a:lvl1pPr>
              <a:defRPr b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CF4EECB-FF81-8745-8B7F-DD548822C679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4"/>
          </p:nvPr>
        </p:nvSpPr>
        <p:spPr>
          <a:xfrm rot="16200000">
            <a:off x="-1557024" y="3272634"/>
            <a:ext cx="3754603" cy="273844"/>
          </a:xfrm>
        </p:spPr>
        <p:txBody>
          <a:bodyPr/>
          <a:lstStyle>
            <a:lvl1pPr>
              <a:defRPr b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TITLE GOES HERE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15"/>
          </p:nvPr>
        </p:nvSpPr>
        <p:spPr>
          <a:xfrm rot="16200000">
            <a:off x="-251222" y="761477"/>
            <a:ext cx="1143000" cy="273844"/>
          </a:xfrm>
        </p:spPr>
        <p:txBody>
          <a:bodyPr/>
          <a:lstStyle>
            <a:lvl1pPr>
              <a:defRPr b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443663" y="5829300"/>
            <a:ext cx="2449512" cy="670984"/>
          </a:xfrm>
        </p:spPr>
        <p:txBody>
          <a:bodyPr/>
          <a:lstStyle>
            <a:lvl1pPr>
              <a:defRPr sz="900"/>
            </a:lvl1pPr>
          </a:lstStyle>
          <a:p>
            <a:pPr lvl="0"/>
            <a:r>
              <a:rPr lang="en-US" dirty="0" smtClean="0"/>
              <a:t>Add affiliation names here</a:t>
            </a:r>
            <a:endParaRPr lang="en-NZ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71600" y="3792000"/>
            <a:ext cx="4824536" cy="107716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add author</a:t>
            </a:r>
            <a:endParaRPr lang="en-NZ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-15795" r="2318" b="60139"/>
          <a:stretch/>
        </p:blipFill>
        <p:spPr bwMode="auto">
          <a:xfrm>
            <a:off x="0" y="4416491"/>
            <a:ext cx="9144000" cy="256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C:\nic\branding\logo files\MW_LR_Landscape_big.pn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23888" y="452670"/>
            <a:ext cx="2016224" cy="78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48547" y="5748401"/>
            <a:ext cx="1137403" cy="27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CF4EECB-FF81-8745-8B7F-DD548822C679}" type="datetime6">
              <a:rPr lang="en-NZ" smtClean="0">
                <a:solidFill>
                  <a:prstClr val="white"/>
                </a:solidFill>
              </a:rPr>
              <a:pPr/>
              <a:t>December 17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57024" y="3256277"/>
            <a:ext cx="37546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MANAAKI WHENUA – LANDCARE RESEARCH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-251223" y="761477"/>
            <a:ext cx="1143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 spc="1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9" name="Picture 5" descr="C:\nic\branding\logo files\MW_LR_landscape_white.png"/>
          <p:cNvPicPr>
            <a:picLocks noChangeAspect="1" noChangeArrowheads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63216" y="164637"/>
            <a:ext cx="57328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71600" y="3792000"/>
            <a:ext cx="6336704" cy="1077160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add section title</a:t>
            </a:r>
            <a:endParaRPr lang="en-NZ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83569" y="672001"/>
            <a:ext cx="8133139" cy="50861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1"/>
          </p:nvPr>
        </p:nvSpPr>
        <p:spPr>
          <a:xfrm rot="16200000">
            <a:off x="-280072" y="5776515"/>
            <a:ext cx="1200701" cy="248949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12"/>
          </p:nvPr>
        </p:nvSpPr>
        <p:spPr>
          <a:xfrm rot="16200000">
            <a:off x="-1509018" y="3238410"/>
            <a:ext cx="3658592" cy="273844"/>
          </a:xfrm>
        </p:spPr>
        <p:txBody>
          <a:bodyPr/>
          <a:lstStyle>
            <a:lvl1pPr>
              <a:defRPr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3"/>
          </p:nvPr>
        </p:nvSpPr>
        <p:spPr>
          <a:xfrm rot="16200000">
            <a:off x="-251222" y="808913"/>
            <a:ext cx="1143000" cy="27384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84214" y="1508787"/>
            <a:ext cx="8135937" cy="4896908"/>
          </a:xfr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baseline="0"/>
            </a:lvl1pPr>
            <a:lvl2pPr>
              <a:defRPr/>
            </a:lvl2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1:2 text:Conten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049200" y="0"/>
            <a:ext cx="60948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pic>
        <p:nvPicPr>
          <p:cNvPr id="17" name="Picture 3" descr="C:\nic\branding\logo files\MW_LR_Landscape_big.pn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533072" y="164637"/>
            <a:ext cx="50410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347864" y="1508787"/>
            <a:ext cx="5288950" cy="48965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add text</a:t>
            </a:r>
          </a:p>
          <a:p>
            <a:pPr lvl="0"/>
            <a:r>
              <a:rPr lang="en-US" dirty="0" smtClean="0"/>
              <a:t>Click icon to add content</a:t>
            </a:r>
          </a:p>
        </p:txBody>
      </p:sp>
      <p:sp>
        <p:nvSpPr>
          <p:cNvPr id="22" name="Date Placeholder 2"/>
          <p:cNvSpPr>
            <a:spLocks noGrp="1"/>
          </p:cNvSpPr>
          <p:nvPr>
            <p:ph type="dt" sz="half" idx="10"/>
          </p:nvPr>
        </p:nvSpPr>
        <p:spPr>
          <a:xfrm rot="16200000">
            <a:off x="-232067" y="5777084"/>
            <a:ext cx="1104691" cy="248949"/>
          </a:xfrm>
        </p:spPr>
        <p:txBody>
          <a:bodyPr/>
          <a:lstStyle>
            <a:lvl1pPr>
              <a:defRPr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CF4EECB-FF81-8745-8B7F-DD548822C679}" type="datetime6">
              <a:rPr lang="en-NZ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December 17</a:t>
            </a:fld>
            <a:endParaRPr 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3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-1557024" y="3272634"/>
            <a:ext cx="3754603" cy="273844"/>
          </a:xfrm>
        </p:spPr>
        <p:txBody>
          <a:bodyPr/>
          <a:lstStyle>
            <a:lvl1pPr>
              <a:defRPr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TITLE GOES HERE</a:t>
            </a:r>
            <a:endParaRPr 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4" name="Slide Number Placeholder 4"/>
          <p:cNvSpPr>
            <a:spLocks noGrp="1"/>
          </p:cNvSpPr>
          <p:nvPr>
            <p:ph type="sldNum" sz="quarter" idx="12"/>
          </p:nvPr>
        </p:nvSpPr>
        <p:spPr>
          <a:xfrm rot="16200000">
            <a:off x="-251222" y="761477"/>
            <a:ext cx="1143000" cy="273844"/>
          </a:xfrm>
        </p:spPr>
        <p:txBody>
          <a:bodyPr/>
          <a:lstStyle>
            <a:lvl1pPr>
              <a:defRPr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title" hasCustomPrompt="1"/>
          </p:nvPr>
        </p:nvSpPr>
        <p:spPr>
          <a:xfrm>
            <a:off x="683568" y="672001"/>
            <a:ext cx="7920880" cy="50861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84213" y="1412776"/>
            <a:ext cx="2159000" cy="4992555"/>
          </a:xfrm>
        </p:spPr>
        <p:txBody>
          <a:bodyPr>
            <a:noAutofit/>
          </a:bodyPr>
          <a:lstStyle>
            <a:lvl1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smtClean="0"/>
              <a:t>Click to add text</a:t>
            </a:r>
            <a:endParaRPr lang="en-NZ" dirty="0"/>
          </a:p>
        </p:txBody>
      </p:sp>
    </p:spTree>
    <p:extLst/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 descr="C:\nic\branding\logo files\MW_LR_Landscape_big.pn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533072" y="164637"/>
            <a:ext cx="50410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 descr="C:\nic\branding\logo files\MW_LR_landscape_white.png"/>
          <p:cNvPicPr>
            <a:picLocks noChangeAspect="1" noChangeArrowheads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63216" y="164637"/>
            <a:ext cx="57328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32067" y="5824522"/>
            <a:ext cx="1104691" cy="248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363906D1-DDE2-9B46-86F5-0B6EF91A9704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610122" y="3292078"/>
            <a:ext cx="3860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TITLE GOES HERE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-251222" y="761477"/>
            <a:ext cx="1143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Calibri Light"/>
              </a:defRPr>
            </a:lvl1pPr>
          </a:lstStyle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4000" y="1508787"/>
            <a:ext cx="8136830" cy="5019759"/>
          </a:xfrm>
        </p:spPr>
        <p:txBody>
          <a:bodyPr>
            <a:noAutofit/>
          </a:bodyPr>
          <a:lstStyle>
            <a:lvl1pPr marL="180975" indent="-180975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742950" indent="-285750">
              <a:buFont typeface="Ebrima" panose="02000000000000000000" pitchFamily="2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endParaRPr lang="en-US" dirty="0" smtClean="0"/>
          </a:p>
          <a:p>
            <a:pPr lvl="2"/>
            <a:endParaRPr lang="en-US" dirty="0" smtClean="0"/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84001" y="672001"/>
            <a:ext cx="8133139" cy="50861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1:2 text: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>
            <a:spLocks/>
          </p:cNvSpPr>
          <p:nvPr userDrawn="1"/>
        </p:nvSpPr>
        <p:spPr>
          <a:xfrm>
            <a:off x="683569" y="904162"/>
            <a:ext cx="2160240" cy="5086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 smtClean="0">
                <a:solidFill>
                  <a:srgbClr val="000000"/>
                </a:solidFill>
              </a:rPr>
              <a:t>Click to add title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049200" y="0"/>
            <a:ext cx="60948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3" descr="C:\nic\branding\logo files\MW_LR_Landscape_big.pn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533072" y="164637"/>
            <a:ext cx="50410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Date Placeholder 2"/>
          <p:cNvSpPr>
            <a:spLocks noGrp="1"/>
          </p:cNvSpPr>
          <p:nvPr>
            <p:ph type="dt" sz="half" idx="10"/>
          </p:nvPr>
        </p:nvSpPr>
        <p:spPr>
          <a:xfrm rot="16200000">
            <a:off x="-280072" y="5729079"/>
            <a:ext cx="1200701" cy="248949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8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-1509018" y="3190974"/>
            <a:ext cx="3658592" cy="273844"/>
          </a:xfrm>
        </p:spPr>
        <p:txBody>
          <a:bodyPr/>
          <a:lstStyle>
            <a:lvl1pPr>
              <a:defRPr b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TITLE GOES HERE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9" name="Slide Number Placeholder 4"/>
          <p:cNvSpPr>
            <a:spLocks noGrp="1"/>
          </p:cNvSpPr>
          <p:nvPr>
            <p:ph type="sldNum" sz="quarter" idx="12"/>
          </p:nvPr>
        </p:nvSpPr>
        <p:spPr>
          <a:xfrm rot="16200000">
            <a:off x="-251222" y="761477"/>
            <a:ext cx="1143000" cy="27384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84213" y="672000"/>
            <a:ext cx="2159000" cy="508000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add title</a:t>
            </a:r>
            <a:endParaRPr lang="en-NZ" dirty="0"/>
          </a:p>
        </p:txBody>
      </p:sp>
      <p:sp>
        <p:nvSpPr>
          <p:cNvPr id="12" name="Content Placeholder 2"/>
          <p:cNvSpPr>
            <a:spLocks noGrp="1"/>
          </p:cNvSpPr>
          <p:nvPr>
            <p:ph idx="15" hasCustomPrompt="1"/>
          </p:nvPr>
        </p:nvSpPr>
        <p:spPr>
          <a:xfrm>
            <a:off x="3347864" y="1412776"/>
            <a:ext cx="5288950" cy="49925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add text</a:t>
            </a:r>
          </a:p>
          <a:p>
            <a:pPr lvl="0"/>
            <a:r>
              <a:rPr lang="en-US" dirty="0" smtClean="0"/>
              <a:t>Click icon to add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84213" y="1412777"/>
            <a:ext cx="2159000" cy="5020121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  <a:lvl2pPr marL="742950" indent="-285750">
              <a:buFont typeface="Ebrima" panose="02000000000000000000" pitchFamily="2" charset="0"/>
              <a:buChar char="−"/>
              <a:defRPr sz="1400">
                <a:solidFill>
                  <a:schemeClr val="bg1"/>
                </a:solidFill>
              </a:defRPr>
            </a:lvl2pPr>
            <a:lvl3pPr marL="17145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 smtClean="0"/>
              <a:t>Click to edit text </a:t>
            </a:r>
            <a:r>
              <a:rPr lang="en-US" sz="1200" dirty="0" smtClean="0"/>
              <a:t>	</a:t>
            </a:r>
          </a:p>
          <a:p>
            <a:pPr lvl="2"/>
            <a:endParaRPr lang="en-US" sz="1200" dirty="0" smtClean="0"/>
          </a:p>
          <a:p>
            <a:pPr lvl="2"/>
            <a:endParaRPr lang="en-US" sz="1200" dirty="0" smtClean="0"/>
          </a:p>
        </p:txBody>
      </p:sp>
    </p:spTree>
    <p:extLst/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icon to add picture</a:t>
            </a:r>
            <a:endParaRPr lang="en-NZ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48547" y="5748401"/>
            <a:ext cx="1137403" cy="27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spc="1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BCF4EECB-FF81-8745-8B7F-DD548822C679}" type="datetime6">
              <a:rPr lang="en-NZ" smtClean="0">
                <a:solidFill>
                  <a:prstClr val="white"/>
                </a:solidFill>
              </a:rPr>
              <a:pPr/>
              <a:t>December 17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57024" y="3256277"/>
            <a:ext cx="37546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spc="1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MANAAKI WHENUA – LANDCARE RESEARCH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-251223" y="761477"/>
            <a:ext cx="1143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 spc="1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5" descr="C:\nic\branding\logo files\MW_LR_landscape_white.pn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63216" y="164637"/>
            <a:ext cx="57328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/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media</a:t>
            </a:r>
            <a:endParaRPr lang="en-NZ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48547" y="5748401"/>
            <a:ext cx="1137403" cy="27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spc="1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BCF4EECB-FF81-8745-8B7F-DD548822C679}" type="datetime6">
              <a:rPr lang="en-NZ" smtClean="0">
                <a:solidFill>
                  <a:prstClr val="white"/>
                </a:solidFill>
              </a:rPr>
              <a:pPr/>
              <a:t>December 17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57024" y="3256277"/>
            <a:ext cx="37546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spc="1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MANAAKI WHENUA – LANDCARE RESEARCH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-251223" y="761477"/>
            <a:ext cx="1143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 spc="1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5" descr="C:\nic\branding\logo files\MW_LR_landscape_white.pn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63216" y="164637"/>
            <a:ext cx="57328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/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+ Head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icon to add picture</a:t>
            </a:r>
            <a:endParaRPr lang="en-NZ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48547" y="5748401"/>
            <a:ext cx="1137403" cy="27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spc="1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BCF4EECB-FF81-8745-8B7F-DD548822C679}" type="datetime6">
              <a:rPr lang="en-NZ" smtClean="0">
                <a:solidFill>
                  <a:prstClr val="white"/>
                </a:solidFill>
              </a:rPr>
              <a:pPr/>
              <a:t>December 17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57024" y="3256277"/>
            <a:ext cx="37546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spc="1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smtClean="0">
                <a:solidFill>
                  <a:prstClr val="white"/>
                </a:solidFill>
              </a:rPr>
              <a:t>MANAAKI WHENUA – LANDCARE RESEARCH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-251223" y="761477"/>
            <a:ext cx="1143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 spc="1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prstClr val="white"/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972000" y="5349214"/>
            <a:ext cx="5904656" cy="1056117"/>
          </a:xfrm>
        </p:spPr>
        <p:txBody>
          <a:bodyPr>
            <a:noAutofit/>
          </a:bodyPr>
          <a:lstStyle>
            <a:lvl1pPr>
              <a:lnSpc>
                <a:spcPts val="4780"/>
              </a:lnSpc>
              <a:defRPr sz="2000" b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text</a:t>
            </a:r>
            <a:endParaRPr lang="en-US" dirty="0"/>
          </a:p>
        </p:txBody>
      </p:sp>
      <p:pic>
        <p:nvPicPr>
          <p:cNvPr id="11" name="Picture 5" descr="C:\nic\branding\logo files\MW_LR_landscape_white.pn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63216" y="164637"/>
            <a:ext cx="57328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/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2:1 content:content/tex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085122" y="0"/>
            <a:ext cx="30492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pic>
        <p:nvPicPr>
          <p:cNvPr id="9" name="Picture 3" descr="C:\nic\branding\logo files\MW_LR_Landscape_big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533072" y="164637"/>
            <a:ext cx="50410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12"/>
          <p:cNvSpPr>
            <a:spLocks noGrp="1"/>
          </p:cNvSpPr>
          <p:nvPr>
            <p:ph sz="quarter" idx="14" hasCustomPrompt="1"/>
          </p:nvPr>
        </p:nvSpPr>
        <p:spPr>
          <a:xfrm>
            <a:off x="6300192" y="672000"/>
            <a:ext cx="2592288" cy="58293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add text/content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48547" y="5748401"/>
            <a:ext cx="1137403" cy="27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CF4EECB-FF81-8745-8B7F-DD548822C679}" type="datetime6">
              <a:rPr lang="en-NZ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December 17</a:t>
            </a:fld>
            <a:endParaRPr 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57024" y="3256277"/>
            <a:ext cx="37546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MANAAKI WHENUA – LANDCARE RESEARCH</a:t>
            </a:r>
            <a:endParaRPr 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-251223" y="761477"/>
            <a:ext cx="1143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683568" y="1412776"/>
            <a:ext cx="5256584" cy="5115768"/>
          </a:xfrm>
        </p:spPr>
        <p:txBody>
          <a:bodyPr>
            <a:noAutofit/>
          </a:bodyPr>
          <a:lstStyle>
            <a:lvl1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742950" indent="-285750">
              <a:buFont typeface="Ebrima" panose="02000000000000000000" pitchFamily="2" charset="0"/>
              <a:buChar char="−"/>
              <a:defRPr/>
            </a:lvl2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30" name="Title 1"/>
          <p:cNvSpPr>
            <a:spLocks noGrp="1"/>
          </p:cNvSpPr>
          <p:nvPr>
            <p:ph type="title" hasCustomPrompt="1"/>
          </p:nvPr>
        </p:nvSpPr>
        <p:spPr>
          <a:xfrm>
            <a:off x="683570" y="672001"/>
            <a:ext cx="5256583" cy="50861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text: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 hasCustomPrompt="1"/>
          </p:nvPr>
        </p:nvSpPr>
        <p:spPr>
          <a:xfrm>
            <a:off x="4860033" y="672000"/>
            <a:ext cx="3925193" cy="5733331"/>
          </a:xfrm>
        </p:spPr>
        <p:txBody>
          <a:bodyPr>
            <a:noAutofit/>
          </a:bodyPr>
          <a:lstStyle>
            <a:lvl1pPr>
              <a:defRPr sz="1600" baseline="0"/>
            </a:lvl1pPr>
          </a:lstStyle>
          <a:p>
            <a:pPr lvl="0"/>
            <a:r>
              <a:rPr lang="en-US" dirty="0" smtClean="0"/>
              <a:t>Click icon to add content</a:t>
            </a:r>
          </a:p>
        </p:txBody>
      </p:sp>
      <p:pic>
        <p:nvPicPr>
          <p:cNvPr id="10" name="Picture 3" descr="C:\nic\branding\logo files\MW_LR_Landscape_big.pn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533072" y="164637"/>
            <a:ext cx="50410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48547" y="5748401"/>
            <a:ext cx="1137403" cy="27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spc="1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CF4EECB-FF81-8745-8B7F-DD548822C679}" type="datetime6">
              <a:rPr lang="en-NZ" smtClean="0">
                <a:solidFill>
                  <a:srgbClr val="000000">
                    <a:tint val="75000"/>
                  </a:srgbClr>
                </a:solidFill>
              </a:rPr>
              <a:pPr/>
              <a:t>December 17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57024" y="3256277"/>
            <a:ext cx="37546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spc="1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>
                <a:solidFill>
                  <a:srgbClr val="000000">
                    <a:tint val="75000"/>
                  </a:srgbClr>
                </a:solidFill>
              </a:rPr>
              <a:t>MANAAKI WHENUA – LANDCARE RESEARCH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-251223" y="761477"/>
            <a:ext cx="1143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 spc="1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>
                <a:solidFill>
                  <a:srgbClr val="000000">
                    <a:tint val="75000"/>
                  </a:srgb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683569" y="672001"/>
            <a:ext cx="3672408" cy="50861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84214" y="1508787"/>
            <a:ext cx="3671887" cy="4896544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 marL="742950" indent="-285750">
              <a:buFont typeface="Ebrima" panose="02000000000000000000" pitchFamily="2" charset="0"/>
              <a:buChar char="−"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NZ" dirty="0"/>
          </a:p>
        </p:txBody>
      </p:sp>
    </p:spTree>
    <p:extLst/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EECB-FF81-8745-8B7F-DD548822C679}" type="datetime6">
              <a:rPr lang="en-NZ" smtClean="0">
                <a:solidFill>
                  <a:srgbClr val="000000">
                    <a:tint val="75000"/>
                  </a:srgbClr>
                </a:solidFill>
              </a:rPr>
              <a:pPr/>
              <a:t>December 17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MANAAKI WHENUA – LANDCARE RESEARCH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>
                    <a:tint val="75000"/>
                  </a:srgb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5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ea typeface="MS PGothic" charset="-128"/>
              </a:rPr>
              <a:t>Copyright © </a:t>
            </a:r>
            <a:r>
              <a:rPr lang="en-US" altLang="en-US" dirty="0" smtClean="0">
                <a:ea typeface="MS PGothic" charset="-128"/>
              </a:rPr>
              <a:t>2017 </a:t>
            </a:r>
            <a:r>
              <a:rPr lang="en-US" altLang="en-US" dirty="0">
                <a:ea typeface="MS PGothic" charset="-128"/>
              </a:rPr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27D0F9EB-4EAC-1044-9312-C01285DE51F3}" type="slidenum">
              <a:rPr lang="en-US" altLang="en-US">
                <a:ea typeface="MS PGothic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charset="-128"/>
            </a:endParaRPr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smtClean="0">
                <a:solidFill>
                  <a:srgbClr val="44546A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mtClean="0">
                <a:solidFill>
                  <a:srgbClr val="44546A"/>
                </a:solidFill>
                <a:latin typeface="Arial" charset="0"/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114563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568" y="672000"/>
            <a:ext cx="7488832" cy="4787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568" y="1508787"/>
            <a:ext cx="7488832" cy="5019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sz="1200" dirty="0" smtClean="0"/>
              <a:t>	</a:t>
            </a:r>
          </a:p>
          <a:p>
            <a:pPr lvl="2"/>
            <a:endParaRPr lang="en-US" sz="1200" dirty="0" smtClean="0"/>
          </a:p>
          <a:p>
            <a:pPr lvl="2"/>
            <a:endParaRPr lang="en-US" sz="1200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4"/>
            <a:endParaRPr lang="en-US" sz="1000" dirty="0" smtClean="0"/>
          </a:p>
          <a:p>
            <a:pPr lvl="5"/>
            <a:endParaRPr lang="en-US" sz="1000" dirty="0" smtClean="0"/>
          </a:p>
          <a:p>
            <a:pPr lvl="6"/>
            <a:endParaRPr lang="en-US" sz="1000" dirty="0" smtClean="0"/>
          </a:p>
          <a:p>
            <a:pPr lvl="7"/>
            <a:endParaRPr lang="en-US" sz="1000" dirty="0" smtClean="0"/>
          </a:p>
          <a:p>
            <a:pPr lvl="8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32067" y="5777084"/>
            <a:ext cx="1104691" cy="248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0" spc="100" baseline="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BCF4EECB-FF81-8745-8B7F-DD548822C679}" type="datetime6">
              <a:rPr lang="en-NZ" smtClean="0">
                <a:solidFill>
                  <a:srgbClr val="000000">
                    <a:tint val="75000"/>
                  </a:srgbClr>
                </a:solidFill>
              </a:rPr>
              <a:pPr/>
              <a:t>December 17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557024" y="3272634"/>
            <a:ext cx="37546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 b="0" spc="100" baseline="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 smtClean="0">
                <a:solidFill>
                  <a:srgbClr val="000000">
                    <a:tint val="75000"/>
                  </a:srgbClr>
                </a:solidFill>
              </a:rPr>
              <a:t>MANAAKI WHENUA – LANDCARE RESEARCH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-251222" y="761477"/>
            <a:ext cx="1143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i="0" spc="100" baseline="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 smtClean="0">
                <a:solidFill>
                  <a:srgbClr val="000000">
                    <a:tint val="75000"/>
                  </a:srgb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Picture 3" descr="C:\nic\branding\logo files\MW_LR_Landscape_big.png"/>
          <p:cNvPicPr>
            <a:picLocks noChangeAspect="1" noChangeArrowheads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533072" y="164637"/>
            <a:ext cx="50410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04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171450" indent="-171450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50" indent="-171450" algn="l" defTabSz="457200" rtl="0" eaLnBrk="1" latinLnBrk="0" hangingPunct="1">
        <a:lnSpc>
          <a:spcPct val="100000"/>
        </a:lnSpc>
        <a:spcBef>
          <a:spcPts val="300"/>
        </a:spcBef>
        <a:buFont typeface="Ebrima" panose="02000000000000000000" pitchFamily="2" charset="0"/>
        <a:buChar char="−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171450" algn="l" defTabSz="457200" rtl="0" eaLnBrk="1" latinLnBrk="0" hangingPunct="1">
        <a:lnSpc>
          <a:spcPct val="100000"/>
        </a:lnSpc>
        <a:spcBef>
          <a:spcPts val="300"/>
        </a:spcBef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100000"/>
        </a:lnSpc>
        <a:spcBef>
          <a:spcPts val="3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100000"/>
        </a:lnSpc>
        <a:spcBef>
          <a:spcPts val="3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lnSpc>
          <a:spcPct val="100000"/>
        </a:lnSpc>
        <a:spcBef>
          <a:spcPts val="3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lnSpc>
          <a:spcPct val="100000"/>
        </a:lnSpc>
        <a:spcBef>
          <a:spcPts val="3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lnSpc>
          <a:spcPct val="100000"/>
        </a:lnSpc>
        <a:spcBef>
          <a:spcPts val="3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lnSpc>
          <a:spcPct val="100000"/>
        </a:lnSpc>
        <a:spcBef>
          <a:spcPts val="3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geospatial/ELFIE" TargetMode="External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example.org/id/some-thing" TargetMode="External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dblodgett@usgs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HDWG ELFIE Update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smtClean="0">
                <a:ea typeface="MS PGothic" charset="-128"/>
              </a:rPr>
              <a:t>105th </a:t>
            </a:r>
            <a:r>
              <a:rPr lang="en-US" altLang="en-US" dirty="0">
                <a:ea typeface="MS PGothic" charset="-128"/>
              </a:rPr>
              <a:t>OGC Technical Committee</a:t>
            </a:r>
          </a:p>
          <a:p>
            <a:r>
              <a:rPr lang="en-US" altLang="en-US" dirty="0" smtClean="0">
                <a:ea typeface="MS PGothic" charset="-128"/>
              </a:rPr>
              <a:t>Palmerston North, New Zealand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David Blodgett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04 December 2017</a:t>
            </a:r>
          </a:p>
          <a:p>
            <a:r>
              <a:rPr lang="en-US" altLang="en-US" dirty="0" smtClean="0">
                <a:ea typeface="MS PGothic" charset="-128"/>
              </a:rPr>
              <a:t>Slides Credit: Alistair Ritchie (</a:t>
            </a:r>
            <a:r>
              <a:rPr lang="en-US" altLang="en-US" dirty="0" err="1" smtClean="0">
                <a:ea typeface="MS PGothic" charset="-128"/>
              </a:rPr>
              <a:t>Landcare</a:t>
            </a:r>
            <a:r>
              <a:rPr lang="en-US" altLang="en-US" dirty="0" smtClean="0">
                <a:ea typeface="MS PGothic" charset="-128"/>
              </a:rPr>
              <a:t> Research)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b="1" dirty="0" err="1" smtClean="0">
              <a:solidFill>
                <a:prstClr val="black"/>
              </a:solidFill>
              <a:latin typeface="CG Times" charset="0"/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05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857375"/>
            <a:ext cx="8458200" cy="4313238"/>
          </a:xfrm>
        </p:spPr>
        <p:txBody>
          <a:bodyPr/>
          <a:lstStyle/>
          <a:p>
            <a:r>
              <a:rPr lang="en-US" dirty="0" smtClean="0"/>
              <a:t>ELFIE </a:t>
            </a:r>
            <a:r>
              <a:rPr lang="en-US" dirty="0" smtClean="0"/>
              <a:t>Update and </a:t>
            </a:r>
            <a:r>
              <a:rPr lang="en-US" dirty="0" smtClean="0"/>
              <a:t>Review</a:t>
            </a:r>
          </a:p>
          <a:p>
            <a:r>
              <a:rPr lang="en-US" dirty="0" smtClean="0"/>
              <a:t>ELFIE Preliminary Findings</a:t>
            </a:r>
            <a:endParaRPr lang="en-US" dirty="0" smtClean="0"/>
          </a:p>
          <a:p>
            <a:pPr lvl="1"/>
            <a:r>
              <a:rPr lang="en-US" dirty="0" smtClean="0"/>
              <a:t>Excerpted from a talk by Alistair Ritchie on Soil </a:t>
            </a:r>
            <a:r>
              <a:rPr lang="en-US" dirty="0" err="1" smtClean="0"/>
              <a:t>IEand</a:t>
            </a:r>
            <a:r>
              <a:rPr lang="en-US" dirty="0" smtClean="0"/>
              <a:t> ELFIE.</a:t>
            </a:r>
          </a:p>
          <a:p>
            <a:r>
              <a:rPr lang="en-US" dirty="0" smtClean="0"/>
              <a:t>Invitation to contribute to ELFIE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513" y="3948907"/>
            <a:ext cx="33782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6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Environmental Linked Features IE Time Line!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ELFIE kicked off at the Linking Environmental Data and Samples Symposium in June 2017.</a:t>
            </a:r>
          </a:p>
          <a:p>
            <a:r>
              <a:rPr lang="en-US" dirty="0" smtClean="0"/>
              <a:t>Face to face meetings at Summer HDWG and TC as well as Spring TC.</a:t>
            </a:r>
          </a:p>
          <a:p>
            <a:r>
              <a:rPr lang="en-US" dirty="0" smtClean="0"/>
              <a:t>Have been working on details after TCs and bringing demos together. </a:t>
            </a:r>
          </a:p>
          <a:p>
            <a:r>
              <a:rPr lang="en-US" dirty="0" smtClean="0"/>
              <a:t>Slow going, but the end is in site!</a:t>
            </a:r>
          </a:p>
          <a:p>
            <a:endParaRPr lang="en-US" dirty="0"/>
          </a:p>
          <a:p>
            <a:r>
              <a:rPr lang="en-US" b="1" dirty="0" smtClean="0"/>
              <a:t>So what did we find?</a:t>
            </a:r>
          </a:p>
          <a:p>
            <a:endParaRPr lang="en-US" b="1" dirty="0"/>
          </a:p>
          <a:p>
            <a:r>
              <a:rPr lang="en-US" b="1" dirty="0" smtClean="0"/>
              <a:t>(Slides that follow created by Alistair Ritchie</a:t>
            </a:r>
            <a:r>
              <a:rPr lang="en-US" b="1" smtClean="0"/>
              <a:t>) Thanks!!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900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[</a:t>
            </a:r>
            <a:r>
              <a:rPr lang="mr-IN" dirty="0" smtClean="0"/>
              <a:t>…</a:t>
            </a:r>
            <a:r>
              <a:rPr lang="en-US" dirty="0" smtClean="0"/>
              <a:t> So how do we do that? ]</a:t>
            </a:r>
            <a:br>
              <a:rPr lang="en-US" dirty="0" smtClean="0"/>
            </a:br>
            <a:r>
              <a:rPr lang="en-NZ" dirty="0" smtClean="0"/>
              <a:t>What </a:t>
            </a:r>
            <a:r>
              <a:rPr lang="en-NZ" dirty="0"/>
              <a:t>does that even mean?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NZ" dirty="0" smtClean="0"/>
              <a:t>Yeah, but … </a:t>
            </a:r>
            <a:r>
              <a:rPr lang="en-NZ" dirty="0"/>
              <a:t>‘the HTML for environmental data</a:t>
            </a:r>
            <a:r>
              <a:rPr lang="en-NZ" dirty="0" smtClean="0"/>
              <a:t>’?</a:t>
            </a:r>
          </a:p>
          <a:p>
            <a:r>
              <a:rPr lang="en-NZ" dirty="0" smtClean="0"/>
              <a:t>HTML is pervasive web technology and used without thought or controversy.</a:t>
            </a:r>
          </a:p>
          <a:p>
            <a:r>
              <a:rPr lang="en-NZ" dirty="0" smtClean="0"/>
              <a:t>OGC X(G)ML and web services are widely regarded as a Bad Thing</a:t>
            </a:r>
          </a:p>
          <a:p>
            <a:r>
              <a:rPr lang="en-NZ" dirty="0" smtClean="0"/>
              <a:t>REST and JSON are a Good Thing</a:t>
            </a:r>
          </a:p>
          <a:p>
            <a:r>
              <a:rPr lang="en-NZ" dirty="0" smtClean="0"/>
              <a:t>(Depending on your perspective.)</a:t>
            </a:r>
          </a:p>
          <a:p>
            <a:r>
              <a:rPr lang="en-NZ" dirty="0" smtClean="0"/>
              <a:t>It’s a pointless argument … there’s no one way of doing things … but imagine …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1156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Environmental Data on the (Google-able) Web</a:t>
            </a:r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5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NZ" dirty="0" smtClean="0"/>
              <a:t>… being able to search for a monitoring station by name (location?)</a:t>
            </a:r>
          </a:p>
          <a:p>
            <a:r>
              <a:rPr lang="en-NZ" dirty="0" smtClean="0"/>
              <a:t>Get a summary in a Google Knowledge Panel (or equivalent)</a:t>
            </a:r>
          </a:p>
          <a:p>
            <a:endParaRPr lang="en-NZ" dirty="0" smtClean="0"/>
          </a:p>
          <a:p>
            <a:r>
              <a:rPr lang="en-NZ" dirty="0" smtClean="0"/>
              <a:t>Find out about related features</a:t>
            </a:r>
          </a:p>
          <a:p>
            <a:pPr lvl="1"/>
            <a:r>
              <a:rPr lang="en-NZ" dirty="0"/>
              <a:t>m</a:t>
            </a:r>
            <a:r>
              <a:rPr lang="en-NZ" dirty="0" smtClean="0"/>
              <a:t>onitoring station -&gt; reach -&gt; river -&gt; catchment -&gt; …</a:t>
            </a:r>
          </a:p>
          <a:p>
            <a:pPr lvl="1"/>
            <a:r>
              <a:rPr lang="en-NZ" dirty="0"/>
              <a:t>m</a:t>
            </a:r>
            <a:r>
              <a:rPr lang="en-NZ" dirty="0" smtClean="0"/>
              <a:t>oisture sensor -&gt; paddock -&gt; irrigator -&gt; aquifer -&gt; …</a:t>
            </a:r>
          </a:p>
          <a:p>
            <a:endParaRPr lang="en-NZ" dirty="0"/>
          </a:p>
          <a:p>
            <a:r>
              <a:rPr lang="en-NZ" dirty="0" smtClean="0"/>
              <a:t>Data may be distributed across multiple</a:t>
            </a:r>
          </a:p>
          <a:p>
            <a:pPr marL="182563" indent="0">
              <a:buNone/>
            </a:pPr>
            <a:r>
              <a:rPr lang="en-NZ" dirty="0"/>
              <a:t>d</a:t>
            </a:r>
            <a:r>
              <a:rPr lang="en-NZ" dirty="0" smtClean="0"/>
              <a:t>ata stores/agencies</a:t>
            </a:r>
          </a:p>
          <a:p>
            <a:endParaRPr lang="en-NZ" dirty="0"/>
          </a:p>
          <a:p>
            <a:r>
              <a:rPr lang="en-NZ" dirty="0" smtClean="0"/>
              <a:t>Standard interoperability problem, but …</a:t>
            </a:r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709280"/>
            <a:ext cx="2487586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9" y="2709280"/>
            <a:ext cx="4073457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718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Environmental Data on the </a:t>
            </a:r>
            <a:r>
              <a:rPr lang="en-NZ" dirty="0" smtClean="0"/>
              <a:t>Web</a:t>
            </a:r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NZ" dirty="0" smtClean="0"/>
              <a:t>… needs to be solved in a way that is friendly to web developers</a:t>
            </a:r>
          </a:p>
          <a:p>
            <a:endParaRPr lang="en-NZ" dirty="0" smtClean="0"/>
          </a:p>
          <a:p>
            <a:r>
              <a:rPr lang="en-NZ" dirty="0" smtClean="0"/>
              <a:t>No strange formats, protocols or bewildering (and numerous) data structures</a:t>
            </a:r>
          </a:p>
          <a:p>
            <a:pPr lvl="1"/>
            <a:r>
              <a:rPr lang="en-NZ" dirty="0" smtClean="0"/>
              <a:t>They like </a:t>
            </a:r>
            <a:r>
              <a:rPr lang="en-NZ" dirty="0" err="1" smtClean="0"/>
              <a:t>ReST</a:t>
            </a:r>
            <a:r>
              <a:rPr lang="en-NZ" dirty="0" smtClean="0"/>
              <a:t> and JSON and get scared and angry when dealing with anything else</a:t>
            </a:r>
          </a:p>
          <a:p>
            <a:endParaRPr lang="en-NZ" dirty="0" smtClean="0"/>
          </a:p>
          <a:p>
            <a:r>
              <a:rPr lang="en-NZ" dirty="0" smtClean="0"/>
              <a:t>But also need to maintain discipline</a:t>
            </a:r>
          </a:p>
          <a:p>
            <a:pPr lvl="1"/>
            <a:r>
              <a:rPr lang="en-NZ" dirty="0" smtClean="0"/>
              <a:t>If you want to seamlessly link data across servers the data need to be consistent – standardized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5642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Environmental Linked Feature Interoperability Experiment</a:t>
            </a:r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NZ" dirty="0" smtClean="0"/>
              <a:t>‘Demonstrate </a:t>
            </a:r>
            <a:r>
              <a:rPr lang="en-NZ" dirty="0"/>
              <a:t>the use of existing and pending OGC standards for the encoding of environmental observation data in an integrated dataset of features linked according to </a:t>
            </a:r>
            <a:r>
              <a:rPr lang="en-NZ" dirty="0" err="1"/>
              <a:t>ReSTful</a:t>
            </a:r>
            <a:r>
              <a:rPr lang="en-NZ" dirty="0"/>
              <a:t> and Linked Data principles</a:t>
            </a:r>
            <a:r>
              <a:rPr lang="en-NZ" dirty="0" smtClean="0"/>
              <a:t>.’</a:t>
            </a:r>
          </a:p>
          <a:p>
            <a:pPr marL="0" indent="0" algn="r">
              <a:buNone/>
            </a:pPr>
            <a:r>
              <a:rPr lang="en-NZ" sz="1200" dirty="0"/>
              <a:t>From: </a:t>
            </a:r>
            <a:r>
              <a:rPr lang="en-NZ" sz="1200" dirty="0">
                <a:hlinkClick r:id="rId3"/>
              </a:rPr>
              <a:t>https://github.com/opengeospatial/ELFIE</a:t>
            </a:r>
            <a:endParaRPr lang="en-NZ" sz="1200" dirty="0"/>
          </a:p>
          <a:p>
            <a:r>
              <a:rPr lang="en-NZ" dirty="0" smtClean="0"/>
              <a:t>Initiators:</a:t>
            </a:r>
            <a:endParaRPr lang="en-NZ" dirty="0"/>
          </a:p>
          <a:p>
            <a:pPr lvl="1"/>
            <a:r>
              <a:rPr lang="en-NZ" dirty="0"/>
              <a:t>U.S. Geological Survey (</a:t>
            </a:r>
            <a:r>
              <a:rPr lang="en-NZ" dirty="0" smtClean="0"/>
              <a:t>US)</a:t>
            </a:r>
            <a:endParaRPr lang="en-NZ" dirty="0"/>
          </a:p>
          <a:p>
            <a:pPr lvl="1"/>
            <a:r>
              <a:rPr lang="en-NZ" dirty="0"/>
              <a:t>Land Information New </a:t>
            </a:r>
            <a:r>
              <a:rPr lang="en-NZ" dirty="0" smtClean="0"/>
              <a:t>Zealand (NZ)</a:t>
            </a:r>
            <a:endParaRPr lang="en-NZ" dirty="0"/>
          </a:p>
          <a:p>
            <a:pPr lvl="1"/>
            <a:r>
              <a:rPr lang="en-NZ" dirty="0" smtClean="0"/>
              <a:t>BRGM (FR)</a:t>
            </a:r>
            <a:endParaRPr lang="en-NZ" dirty="0"/>
          </a:p>
          <a:p>
            <a:r>
              <a:rPr lang="en-NZ" dirty="0" smtClean="0"/>
              <a:t>Participants</a:t>
            </a:r>
            <a:endParaRPr lang="en-NZ" dirty="0"/>
          </a:p>
          <a:p>
            <a:pPr lvl="1"/>
            <a:r>
              <a:rPr lang="en-NZ" dirty="0" smtClean="0"/>
              <a:t>Horizons Regional Council (NZ)</a:t>
            </a:r>
          </a:p>
          <a:p>
            <a:pPr lvl="1"/>
            <a:r>
              <a:rPr lang="en-NZ" dirty="0" smtClean="0"/>
              <a:t>Manaaki Whenua - Landcare Research (NZ)</a:t>
            </a:r>
            <a:endParaRPr lang="en-NZ" dirty="0"/>
          </a:p>
          <a:p>
            <a:pPr lvl="1"/>
            <a:r>
              <a:rPr lang="en-NZ" dirty="0"/>
              <a:t>Natural Resources </a:t>
            </a:r>
            <a:r>
              <a:rPr lang="en-NZ" dirty="0" smtClean="0"/>
              <a:t>Canada (CA)</a:t>
            </a:r>
            <a:endParaRPr lang="en-NZ" dirty="0"/>
          </a:p>
          <a:p>
            <a:pPr lvl="1"/>
            <a:r>
              <a:rPr lang="en-NZ" dirty="0" smtClean="0"/>
              <a:t>ESRI (US)</a:t>
            </a:r>
            <a:endParaRPr lang="en-NZ" dirty="0"/>
          </a:p>
          <a:p>
            <a:pPr lvl="1"/>
            <a:r>
              <a:rPr lang="en-NZ" dirty="0"/>
              <a:t>Tumbling </a:t>
            </a:r>
            <a:r>
              <a:rPr lang="en-NZ" dirty="0" smtClean="0"/>
              <a:t>Walls (US)</a:t>
            </a:r>
          </a:p>
          <a:p>
            <a:pPr lvl="1"/>
            <a:r>
              <a:rPr lang="en-NZ" dirty="0" smtClean="0"/>
              <a:t>Meta-linkage (AU)</a:t>
            </a:r>
          </a:p>
          <a:p>
            <a:pPr lvl="1"/>
            <a:r>
              <a:rPr lang="en-NZ" dirty="0" smtClean="0"/>
              <a:t>INSPIRE (EU)</a:t>
            </a:r>
          </a:p>
          <a:p>
            <a:pPr lvl="1"/>
            <a:endParaRPr lang="en-NZ" dirty="0"/>
          </a:p>
          <a:p>
            <a:endParaRPr lang="en-NZ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032" y="3140968"/>
            <a:ext cx="317543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0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Applying OGC/W3C Best Practices</a:t>
            </a:r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>
          <a:xfrm rot="16200000">
            <a:off x="-74267" y="5161056"/>
            <a:ext cx="900526" cy="248949"/>
          </a:xfrm>
        </p:spPr>
        <p:txBody>
          <a:bodyPr/>
          <a:lstStyle/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95396" y="1988841"/>
            <a:ext cx="8135937" cy="3672681"/>
          </a:xfrm>
        </p:spPr>
        <p:txBody>
          <a:bodyPr/>
          <a:lstStyle/>
          <a:p>
            <a:endParaRPr lang="en-NZ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88841"/>
            <a:ext cx="680085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827584" y="2237964"/>
            <a:ext cx="7422290" cy="1335053"/>
            <a:chOff x="827584" y="1380713"/>
            <a:chExt cx="7422290" cy="1335053"/>
          </a:xfrm>
        </p:grpSpPr>
        <p:sp>
          <p:nvSpPr>
            <p:cNvPr id="8" name="Rectangle 7"/>
            <p:cNvSpPr/>
            <p:nvPr/>
          </p:nvSpPr>
          <p:spPr>
            <a:xfrm>
              <a:off x="827584" y="2211710"/>
              <a:ext cx="1296144" cy="2880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prstClr val="white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23936" y="1380713"/>
              <a:ext cx="3425938" cy="80021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sz="1600" dirty="0">
                  <a:solidFill>
                    <a:srgbClr val="000000"/>
                  </a:solidFill>
                </a:rPr>
                <a:t>The engine … the ID </a:t>
              </a:r>
              <a:r>
                <a:rPr lang="en-NZ" sz="1600" i="1" dirty="0">
                  <a:solidFill>
                    <a:srgbClr val="000000"/>
                  </a:solidFill>
                </a:rPr>
                <a:t>and</a:t>
              </a:r>
              <a:r>
                <a:rPr lang="en-NZ" sz="1600" dirty="0">
                  <a:solidFill>
                    <a:srgbClr val="000000"/>
                  </a:solidFill>
                </a:rPr>
                <a:t> the link</a:t>
              </a:r>
            </a:p>
            <a:p>
              <a:pPr lvl="1"/>
              <a:r>
                <a:rPr lang="en-NZ" sz="1400" dirty="0">
                  <a:solidFill>
                    <a:srgbClr val="000000"/>
                  </a:solidFill>
                  <a:hlinkClick r:id="rId3"/>
                </a:rPr>
                <a:t>https://data.example.org/id/some-thing</a:t>
              </a:r>
              <a:endParaRPr lang="en-NZ" sz="1400" dirty="0">
                <a:solidFill>
                  <a:srgbClr val="000000"/>
                </a:solidFill>
              </a:endParaRPr>
            </a:p>
            <a:p>
              <a:r>
                <a:rPr lang="en-NZ" sz="1600" dirty="0">
                  <a:solidFill>
                    <a:srgbClr val="000000"/>
                  </a:solidFill>
                </a:rPr>
                <a:t>‘</a:t>
              </a:r>
              <a:r>
                <a:rPr lang="en-NZ" sz="1600" dirty="0" err="1">
                  <a:solidFill>
                    <a:srgbClr val="000000"/>
                  </a:solidFill>
                </a:rPr>
                <a:t>ReST</a:t>
              </a:r>
              <a:r>
                <a:rPr lang="en-NZ" sz="1600" dirty="0">
                  <a:solidFill>
                    <a:srgbClr val="000000"/>
                  </a:solidFill>
                </a:rPr>
                <a:t> with discipline’</a:t>
              </a:r>
            </a:p>
          </p:txBody>
        </p:sp>
        <p:cxnSp>
          <p:nvCxnSpPr>
            <p:cNvPr id="11" name="Straight Connector 10"/>
            <p:cNvCxnSpPr>
              <a:stCxn id="8" idx="3"/>
              <a:endCxn id="9" idx="1"/>
            </p:cNvCxnSpPr>
            <p:nvPr/>
          </p:nvCxnSpPr>
          <p:spPr>
            <a:xfrm flipV="1">
              <a:off x="2123728" y="1780823"/>
              <a:ext cx="2700208" cy="57490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3419872" y="2283718"/>
              <a:ext cx="720000" cy="1800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51720" y="2535766"/>
              <a:ext cx="360000" cy="180000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prstClr val="white"/>
                </a:solidFill>
              </a:endParaRPr>
            </a:p>
          </p:txBody>
        </p:sp>
      </p:grp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157192"/>
            <a:ext cx="51816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827584" y="3234462"/>
            <a:ext cx="5589450" cy="664820"/>
            <a:chOff x="827584" y="2377212"/>
            <a:chExt cx="5589450" cy="664820"/>
          </a:xfrm>
        </p:grpSpPr>
        <p:sp>
          <p:nvSpPr>
            <p:cNvPr id="18" name="Rectangle 17"/>
            <p:cNvSpPr/>
            <p:nvPr/>
          </p:nvSpPr>
          <p:spPr>
            <a:xfrm>
              <a:off x="827584" y="2754000"/>
              <a:ext cx="1296144" cy="2880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prstClr val="white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526499" y="2377212"/>
              <a:ext cx="2890535" cy="33855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sz="1600" dirty="0" err="1">
                  <a:solidFill>
                    <a:srgbClr val="000000"/>
                  </a:solidFill>
                </a:rPr>
                <a:t>GeoJSON</a:t>
              </a:r>
              <a:r>
                <a:rPr lang="en-NZ" sz="1600" dirty="0">
                  <a:solidFill>
                    <a:srgbClr val="000000"/>
                  </a:solidFill>
                </a:rPr>
                <a:t>, Well Known Text, …</a:t>
              </a:r>
            </a:p>
          </p:txBody>
        </p:sp>
        <p:cxnSp>
          <p:nvCxnSpPr>
            <p:cNvPr id="22" name="Straight Connector 21"/>
            <p:cNvCxnSpPr>
              <a:stCxn id="18" idx="3"/>
              <a:endCxn id="21" idx="1"/>
            </p:cNvCxnSpPr>
            <p:nvPr/>
          </p:nvCxnSpPr>
          <p:spPr>
            <a:xfrm flipV="1">
              <a:off x="2123728" y="2546489"/>
              <a:ext cx="1402771" cy="35152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827584" y="4293096"/>
            <a:ext cx="4621526" cy="686186"/>
            <a:chOff x="827584" y="3435846"/>
            <a:chExt cx="4621526" cy="686186"/>
          </a:xfrm>
        </p:grpSpPr>
        <p:sp>
          <p:nvSpPr>
            <p:cNvPr id="19" name="Rectangle 18"/>
            <p:cNvSpPr/>
            <p:nvPr/>
          </p:nvSpPr>
          <p:spPr>
            <a:xfrm>
              <a:off x="827584" y="3834000"/>
              <a:ext cx="1332000" cy="2880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prstClr val="white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69520" y="3435846"/>
              <a:ext cx="1779590" cy="33855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sz="1600" dirty="0">
                  <a:solidFill>
                    <a:srgbClr val="000000"/>
                  </a:solidFill>
                </a:rPr>
                <a:t>KEEP IT SIMPLE!</a:t>
              </a:r>
            </a:p>
          </p:txBody>
        </p:sp>
        <p:cxnSp>
          <p:nvCxnSpPr>
            <p:cNvPr id="26" name="Straight Connector 25"/>
            <p:cNvCxnSpPr>
              <a:stCxn id="19" idx="3"/>
              <a:endCxn id="25" idx="1"/>
            </p:cNvCxnSpPr>
            <p:nvPr/>
          </p:nvCxnSpPr>
          <p:spPr>
            <a:xfrm flipV="1">
              <a:off x="2159584" y="3605123"/>
              <a:ext cx="1509936" cy="37289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827585" y="4932457"/>
            <a:ext cx="7383857" cy="898068"/>
            <a:chOff x="827584" y="4075207"/>
            <a:chExt cx="7383857" cy="898068"/>
          </a:xfrm>
        </p:grpSpPr>
        <p:sp>
          <p:nvSpPr>
            <p:cNvPr id="20" name="Rectangle 19"/>
            <p:cNvSpPr/>
            <p:nvPr/>
          </p:nvSpPr>
          <p:spPr>
            <a:xfrm>
              <a:off x="827584" y="4685243"/>
              <a:ext cx="1296144" cy="2880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prstClr val="white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518040" y="4075207"/>
              <a:ext cx="4693401" cy="58477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NZ" sz="1600" dirty="0">
                  <a:solidFill>
                    <a:srgbClr val="000000"/>
                  </a:solidFill>
                </a:rPr>
                <a:t>HTML landing pages with structured data mark-up</a:t>
              </a:r>
            </a:p>
            <a:p>
              <a:r>
                <a:rPr lang="en-NZ" sz="1600" dirty="0">
                  <a:solidFill>
                    <a:srgbClr val="000000"/>
                  </a:solidFill>
                </a:rPr>
                <a:t>Don’t rely on specialist registries or catalogue services</a:t>
              </a:r>
            </a:p>
          </p:txBody>
        </p:sp>
        <p:cxnSp>
          <p:nvCxnSpPr>
            <p:cNvPr id="29" name="Straight Connector 28"/>
            <p:cNvCxnSpPr>
              <a:stCxn id="20" idx="3"/>
              <a:endCxn id="28" idx="1"/>
            </p:cNvCxnSpPr>
            <p:nvPr/>
          </p:nvCxnSpPr>
          <p:spPr>
            <a:xfrm flipV="1">
              <a:off x="2123728" y="4367595"/>
              <a:ext cx="1394312" cy="46166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547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JSON-LD – JSON for the Semantic Web</a:t>
            </a:r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9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NZ" dirty="0" smtClean="0"/>
              <a:t>Need a disciplined approach – some way of standardizing content</a:t>
            </a:r>
          </a:p>
          <a:p>
            <a:pPr lvl="1"/>
            <a:r>
              <a:rPr lang="en-NZ" dirty="0" smtClean="0"/>
              <a:t>Properties</a:t>
            </a:r>
          </a:p>
          <a:p>
            <a:pPr lvl="1"/>
            <a:r>
              <a:rPr lang="en-NZ" dirty="0" err="1" smtClean="0"/>
              <a:t>Defininitions</a:t>
            </a:r>
            <a:endParaRPr lang="en-NZ" dirty="0" smtClean="0"/>
          </a:p>
          <a:p>
            <a:pPr lvl="1"/>
            <a:r>
              <a:rPr lang="en-NZ" dirty="0" smtClean="0"/>
              <a:t>Vocabularies</a:t>
            </a:r>
          </a:p>
          <a:p>
            <a:pPr lvl="1"/>
            <a:r>
              <a:rPr lang="en-NZ" dirty="0" smtClean="0"/>
              <a:t>Links (aka relations)</a:t>
            </a:r>
          </a:p>
          <a:p>
            <a:pPr lvl="1"/>
            <a:endParaRPr lang="en-NZ" dirty="0"/>
          </a:p>
          <a:p>
            <a:r>
              <a:rPr lang="en-NZ" dirty="0" smtClean="0"/>
              <a:t>JSON-LD</a:t>
            </a:r>
          </a:p>
          <a:p>
            <a:pPr lvl="1"/>
            <a:r>
              <a:rPr lang="en-NZ" dirty="0" smtClean="0"/>
              <a:t>Looks like JSON</a:t>
            </a:r>
          </a:p>
          <a:p>
            <a:pPr lvl="1"/>
            <a:r>
              <a:rPr lang="en-NZ" dirty="0" smtClean="0"/>
              <a:t>Linked/embedded ‘context’</a:t>
            </a:r>
          </a:p>
          <a:p>
            <a:pPr lvl="1"/>
            <a:r>
              <a:rPr lang="en-NZ" dirty="0" smtClean="0"/>
              <a:t>Binds to RDF Schema/</a:t>
            </a:r>
          </a:p>
          <a:p>
            <a:pPr lvl="1" indent="0">
              <a:buNone/>
            </a:pPr>
            <a:r>
              <a:rPr lang="en-NZ" dirty="0" smtClean="0"/>
              <a:t>OWL ontology</a:t>
            </a:r>
          </a:p>
          <a:p>
            <a:pPr lvl="1"/>
            <a:r>
              <a:rPr lang="en-NZ" dirty="0" smtClean="0"/>
              <a:t>Objects have @ids (URIs)</a:t>
            </a:r>
          </a:p>
          <a:p>
            <a:pPr lvl="1"/>
            <a:r>
              <a:rPr lang="en-NZ" dirty="0" smtClean="0"/>
              <a:t>Can be converted to RDF</a:t>
            </a:r>
          </a:p>
          <a:p>
            <a:pPr lvl="1"/>
            <a:endParaRPr lang="en-NZ" dirty="0" smtClean="0"/>
          </a:p>
          <a:p>
            <a:pPr lvl="1"/>
            <a:endParaRPr lang="en-NZ" dirty="0" smtClean="0"/>
          </a:p>
          <a:p>
            <a:pPr lvl="1"/>
            <a:endParaRPr lang="en-NZ" dirty="0"/>
          </a:p>
          <a:p>
            <a:pPr lvl="1"/>
            <a:endParaRPr lang="en-NZ" dirty="0" smtClean="0"/>
          </a:p>
          <a:p>
            <a:pPr marL="0" indent="0">
              <a:buNone/>
            </a:pPr>
            <a:r>
              <a:rPr lang="en-NZ" sz="1200" dirty="0"/>
              <a:t>https://www.w3.org/TR/json-ld/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378" y="2457192"/>
            <a:ext cx="4444959" cy="27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434" y="3249280"/>
            <a:ext cx="4178071" cy="27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7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Use Cases</a:t>
            </a:r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10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84214" y="1988841"/>
            <a:ext cx="8135937" cy="3672681"/>
          </a:xfrm>
        </p:spPr>
        <p:txBody>
          <a:bodyPr/>
          <a:lstStyle/>
          <a:p>
            <a:r>
              <a:rPr lang="en-NZ" dirty="0" smtClean="0"/>
              <a:t>NZ: </a:t>
            </a:r>
            <a:r>
              <a:rPr lang="en-NZ" dirty="0"/>
              <a:t>Stream Monitoring Quantity / </a:t>
            </a:r>
            <a:r>
              <a:rPr lang="en-NZ" dirty="0" smtClean="0"/>
              <a:t>Quality (impacts of water allocation decisions):</a:t>
            </a:r>
          </a:p>
          <a:p>
            <a:pPr lvl="1"/>
            <a:r>
              <a:rPr lang="en-NZ" dirty="0" smtClean="0"/>
              <a:t>Monitoring </a:t>
            </a:r>
            <a:r>
              <a:rPr lang="en-NZ" dirty="0"/>
              <a:t>sites</a:t>
            </a:r>
          </a:p>
          <a:p>
            <a:pPr lvl="1"/>
            <a:r>
              <a:rPr lang="en-NZ" dirty="0"/>
              <a:t>Existing water allocations</a:t>
            </a:r>
          </a:p>
          <a:p>
            <a:pPr lvl="1"/>
            <a:r>
              <a:rPr lang="en-NZ" dirty="0"/>
              <a:t>Diversions / discharges</a:t>
            </a:r>
          </a:p>
          <a:p>
            <a:pPr lvl="1"/>
            <a:r>
              <a:rPr lang="en-NZ" dirty="0"/>
              <a:t>Water quality</a:t>
            </a:r>
          </a:p>
          <a:p>
            <a:pPr lvl="1"/>
            <a:r>
              <a:rPr lang="en-NZ" dirty="0"/>
              <a:t>Blue line </a:t>
            </a:r>
            <a:r>
              <a:rPr lang="en-NZ" dirty="0" smtClean="0"/>
              <a:t>network</a:t>
            </a:r>
            <a:endParaRPr lang="en-NZ" dirty="0"/>
          </a:p>
          <a:p>
            <a:r>
              <a:rPr lang="en-NZ" dirty="0" smtClean="0"/>
              <a:t>NZ: Agriculture (soil </a:t>
            </a:r>
            <a:r>
              <a:rPr lang="en-NZ" dirty="0"/>
              <a:t>moisture state for irrigation application </a:t>
            </a:r>
            <a:r>
              <a:rPr lang="en-NZ" dirty="0" smtClean="0"/>
              <a:t>decisions)</a:t>
            </a:r>
            <a:endParaRPr lang="en-NZ" dirty="0"/>
          </a:p>
          <a:p>
            <a:pPr lvl="1"/>
            <a:r>
              <a:rPr lang="en-NZ" dirty="0"/>
              <a:t>Soil moisture time series</a:t>
            </a:r>
          </a:p>
          <a:p>
            <a:pPr lvl="1"/>
            <a:r>
              <a:rPr lang="en-NZ" dirty="0"/>
              <a:t>Allowed to pump / consent data.</a:t>
            </a:r>
          </a:p>
          <a:p>
            <a:pPr lvl="1"/>
            <a:r>
              <a:rPr lang="en-NZ" dirty="0"/>
              <a:t>Water allocation</a:t>
            </a:r>
          </a:p>
          <a:p>
            <a:r>
              <a:rPr lang="en-NZ" dirty="0" smtClean="0"/>
              <a:t>US: </a:t>
            </a:r>
            <a:r>
              <a:rPr lang="en-NZ" dirty="0"/>
              <a:t>Watershed Boundary Dataset Monitoring Summary </a:t>
            </a:r>
          </a:p>
          <a:p>
            <a:r>
              <a:rPr lang="en-NZ" dirty="0" smtClean="0"/>
              <a:t>US and Canada: </a:t>
            </a:r>
            <a:r>
              <a:rPr lang="en-NZ" dirty="0"/>
              <a:t>Monitoring Index </a:t>
            </a:r>
            <a:endParaRPr lang="en-NZ" dirty="0" smtClean="0"/>
          </a:p>
          <a:p>
            <a:r>
              <a:rPr lang="en-NZ" dirty="0" smtClean="0"/>
              <a:t>France: Surface/ground </a:t>
            </a:r>
            <a:r>
              <a:rPr lang="en-NZ" dirty="0"/>
              <a:t>water </a:t>
            </a:r>
            <a:r>
              <a:rPr lang="en-NZ" dirty="0" smtClean="0"/>
              <a:t>interaction</a:t>
            </a:r>
          </a:p>
          <a:p>
            <a:r>
              <a:rPr lang="en-NZ" dirty="0" smtClean="0"/>
              <a:t>France: Ground </a:t>
            </a:r>
            <a:r>
              <a:rPr lang="en-NZ" dirty="0"/>
              <a:t>water level </a:t>
            </a:r>
            <a:r>
              <a:rPr lang="en-NZ" dirty="0" smtClean="0"/>
              <a:t>forecast</a:t>
            </a:r>
          </a:p>
          <a:p>
            <a:r>
              <a:rPr lang="en-NZ" dirty="0" smtClean="0"/>
              <a:t>And a bunch more …</a:t>
            </a:r>
            <a:endParaRPr lang="en-NZ" dirty="0"/>
          </a:p>
          <a:p>
            <a:endParaRPr lang="en-NZ" b="1" dirty="0"/>
          </a:p>
        </p:txBody>
      </p:sp>
    </p:spTree>
    <p:extLst>
      <p:ext uri="{BB962C8B-B14F-4D97-AF65-F5344CB8AC3E}">
        <p14:creationId xmlns:p14="http://schemas.microsoft.com/office/powerpoint/2010/main" val="98813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Demonstrations</a:t>
            </a:r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NZ" dirty="0" smtClean="0"/>
              <a:t>Not finished, nothing to be demonstrated (could show you but would have to kill you)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2348880"/>
            <a:ext cx="3408365" cy="27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252056"/>
            <a:ext cx="3240360" cy="2553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7" y="2457192"/>
            <a:ext cx="3052695" cy="2411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807192"/>
            <a:ext cx="2296552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9" y="4148880"/>
            <a:ext cx="2276943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498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(Preliminary) Results</a:t>
            </a:r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6F4938-89D3-EA49-9476-C12B68B35068}" type="datetime6">
              <a:rPr lang="en-NZ" smtClean="0">
                <a:solidFill>
                  <a:prstClr val="white">
                    <a:lumMod val="50000"/>
                  </a:prstClr>
                </a:solidFill>
              </a:rPr>
              <a:pPr/>
              <a:t>December 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MANAAKI WHENUA – LANDCARE RESEARCH</a:t>
            </a:r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prstClr val="white">
                    <a:lumMod val="50000"/>
                  </a:prstClr>
                </a:solidFill>
              </a:rPr>
              <a:t>PAGE </a:t>
            </a:r>
            <a:fld id="{6A6AB139-2661-3948-B7F5-9F6549F45E4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12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NZ" dirty="0" smtClean="0"/>
              <a:t>Can use JSON (as JSON-LD) and </a:t>
            </a:r>
            <a:r>
              <a:rPr lang="en-NZ" dirty="0" err="1" smtClean="0"/>
              <a:t>ReST</a:t>
            </a:r>
            <a:r>
              <a:rPr lang="en-NZ" dirty="0" smtClean="0"/>
              <a:t> (as Linked Data)</a:t>
            </a:r>
          </a:p>
          <a:p>
            <a:r>
              <a:rPr lang="en-NZ" dirty="0" smtClean="0"/>
              <a:t>Data can be linked across servers (well, it is the web)</a:t>
            </a:r>
          </a:p>
          <a:p>
            <a:r>
              <a:rPr lang="en-NZ" dirty="0" smtClean="0"/>
              <a:t>Data can be indexed for search engines</a:t>
            </a:r>
          </a:p>
          <a:p>
            <a:r>
              <a:rPr lang="en-NZ" dirty="0" smtClean="0"/>
              <a:t>There are useful ‘core’ ontologies to standardize basic content</a:t>
            </a:r>
          </a:p>
          <a:p>
            <a:pPr lvl="1"/>
            <a:r>
              <a:rPr lang="en-NZ" dirty="0" smtClean="0"/>
              <a:t>SKOS, schema.org, SOSA, OWL-Time …</a:t>
            </a:r>
          </a:p>
          <a:p>
            <a:r>
              <a:rPr lang="en-NZ" dirty="0" smtClean="0"/>
              <a:t>There are useful OGC application schema for environmental data</a:t>
            </a:r>
          </a:p>
          <a:p>
            <a:pPr lvl="1"/>
            <a:r>
              <a:rPr lang="en-NZ" dirty="0" err="1" smtClean="0"/>
              <a:t>WaterML</a:t>
            </a:r>
            <a:r>
              <a:rPr lang="en-NZ" dirty="0" smtClean="0"/>
              <a:t> 2.0 Parts 1 to 3; </a:t>
            </a:r>
            <a:r>
              <a:rPr lang="en-NZ" dirty="0" err="1" smtClean="0"/>
              <a:t>GroundwaterML</a:t>
            </a:r>
            <a:r>
              <a:rPr lang="en-NZ" dirty="0" smtClean="0"/>
              <a:t> 2; </a:t>
            </a:r>
            <a:r>
              <a:rPr lang="en-NZ" dirty="0" err="1" smtClean="0"/>
              <a:t>HY_Features</a:t>
            </a:r>
            <a:r>
              <a:rPr lang="en-NZ" dirty="0" smtClean="0"/>
              <a:t>; </a:t>
            </a:r>
            <a:r>
              <a:rPr lang="en-NZ" dirty="0" err="1" smtClean="0"/>
              <a:t>GeoSciML</a:t>
            </a:r>
            <a:r>
              <a:rPr lang="en-NZ" dirty="0" smtClean="0"/>
              <a:t>, …</a:t>
            </a:r>
          </a:p>
          <a:p>
            <a:pPr lvl="1"/>
            <a:r>
              <a:rPr lang="en-NZ" dirty="0" smtClean="0"/>
              <a:t>But … very few of them are RDF-ready (now OWL-RDF ontologies)</a:t>
            </a:r>
          </a:p>
          <a:p>
            <a:r>
              <a:rPr lang="en-NZ" dirty="0" smtClean="0"/>
              <a:t>Solves a ‘mass-market’ problem but doesn’t meet all needs</a:t>
            </a:r>
          </a:p>
          <a:p>
            <a:pPr lvl="1"/>
            <a:r>
              <a:rPr lang="en-NZ" dirty="0" smtClean="0"/>
              <a:t>Advanced geospatial querying</a:t>
            </a:r>
          </a:p>
          <a:p>
            <a:pPr lvl="1"/>
            <a:r>
              <a:rPr lang="en-NZ" dirty="0" smtClean="0"/>
              <a:t>Semantic web </a:t>
            </a:r>
            <a:r>
              <a:rPr lang="en-NZ" dirty="0" err="1" smtClean="0"/>
              <a:t>interencing</a:t>
            </a:r>
            <a:r>
              <a:rPr lang="en-NZ" dirty="0" smtClean="0"/>
              <a:t>/reasons</a:t>
            </a:r>
          </a:p>
          <a:p>
            <a:pPr lvl="1"/>
            <a:r>
              <a:rPr lang="en-NZ" dirty="0" smtClean="0"/>
              <a:t>Good entry point though</a:t>
            </a:r>
          </a:p>
          <a:p>
            <a:pPr lvl="1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4221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Environmental Linked Features IE Time Line!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ELFIE kicked off at the Linking Environmental Data and Samples Symposium in June 2017.</a:t>
            </a:r>
          </a:p>
          <a:p>
            <a:r>
              <a:rPr lang="en-US" dirty="0" smtClean="0"/>
              <a:t>Face to face meetings at Summer HDWG and TC as well as Spring TC.</a:t>
            </a:r>
          </a:p>
          <a:p>
            <a:r>
              <a:rPr lang="en-US" dirty="0" smtClean="0"/>
              <a:t>Have been working on details after TCs and bringing demos together. </a:t>
            </a:r>
          </a:p>
          <a:p>
            <a:r>
              <a:rPr lang="en-US" dirty="0" smtClean="0"/>
              <a:t>Slow going, but the end is in site!</a:t>
            </a:r>
          </a:p>
          <a:p>
            <a:endParaRPr lang="en-US" dirty="0"/>
          </a:p>
          <a:p>
            <a:r>
              <a:rPr lang="en-US" b="1" dirty="0" smtClean="0"/>
              <a:t>So what did we find?</a:t>
            </a:r>
          </a:p>
          <a:p>
            <a:endParaRPr lang="en-US" b="1" dirty="0"/>
          </a:p>
          <a:p>
            <a:r>
              <a:rPr lang="en-US" b="1" dirty="0" smtClean="0"/>
              <a:t>(Slides that follow created by Alistair Ritchie</a:t>
            </a:r>
            <a:r>
              <a:rPr lang="en-US" b="1" smtClean="0"/>
              <a:t>) Thanks!!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5030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8" y="665377"/>
            <a:ext cx="9144000" cy="55241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051" y="2224553"/>
            <a:ext cx="659667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dirty="0" smtClean="0">
                <a:solidFill>
                  <a:schemeClr val="bg2">
                    <a:lumMod val="75000"/>
                  </a:schemeClr>
                </a:solidFill>
              </a:rPr>
              <a:t>DRAFT</a:t>
            </a:r>
            <a:endParaRPr lang="en-US" sz="15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847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97"/>
            <a:ext cx="9144000" cy="63671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051" y="2224553"/>
            <a:ext cx="659667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dirty="0" smtClean="0">
                <a:solidFill>
                  <a:schemeClr val="bg2">
                    <a:lumMod val="75000"/>
                  </a:schemeClr>
                </a:solidFill>
              </a:rPr>
              <a:t>DRAFT</a:t>
            </a:r>
            <a:endParaRPr lang="en-US" sz="150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687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ELFIE Needs You! (to contribute)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763000" cy="4495800"/>
          </a:xfrm>
        </p:spPr>
        <p:txBody>
          <a:bodyPr/>
          <a:lstStyle/>
          <a:p>
            <a:r>
              <a:rPr lang="en-US" dirty="0" smtClean="0"/>
              <a:t>Have GIS data that could be linked? </a:t>
            </a:r>
          </a:p>
          <a:p>
            <a:pPr lvl="1"/>
            <a:r>
              <a:rPr lang="en-US" dirty="0" smtClean="0"/>
              <a:t>We have a simple template for generating ELFIE JSON-LD data</a:t>
            </a:r>
          </a:p>
          <a:p>
            <a:pPr lvl="1"/>
            <a:r>
              <a:rPr lang="en-US" dirty="0" smtClean="0"/>
              <a:t>Submit some linked features (10s max) </a:t>
            </a:r>
          </a:p>
          <a:p>
            <a:pPr lvl="1"/>
            <a:r>
              <a:rPr lang="en-US" dirty="0" smtClean="0"/>
              <a:t>We’ll convert them</a:t>
            </a:r>
          </a:p>
          <a:p>
            <a:pPr lvl="1"/>
            <a:r>
              <a:rPr lang="en-US" dirty="0" smtClean="0"/>
              <a:t>If time allows, you can create a simple data visualization using the linked features.</a:t>
            </a:r>
          </a:p>
          <a:p>
            <a:pPr lvl="1"/>
            <a:endParaRPr lang="en-US" dirty="0"/>
          </a:p>
          <a:p>
            <a:r>
              <a:rPr lang="en-US" dirty="0" smtClean="0"/>
              <a:t>If interested, contact me! </a:t>
            </a:r>
            <a:r>
              <a:rPr lang="en-US" dirty="0" smtClean="0">
                <a:hlinkClick r:id="rId3"/>
              </a:rPr>
              <a:t>dblodgett@usgs.gov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348269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6x9 MWLR template">
  <a:themeElements>
    <a:clrScheme name="Manaaki Whenua">
      <a:dk1>
        <a:srgbClr val="000000"/>
      </a:dk1>
      <a:lt1>
        <a:sysClr val="window" lastClr="FFFFFF"/>
      </a:lt1>
      <a:dk2>
        <a:srgbClr val="7F7F7F"/>
      </a:dk2>
      <a:lt2>
        <a:srgbClr val="BFBFBF"/>
      </a:lt2>
      <a:accent1>
        <a:srgbClr val="4D4D4D"/>
      </a:accent1>
      <a:accent2>
        <a:srgbClr val="64A70B"/>
      </a:accent2>
      <a:accent3>
        <a:srgbClr val="B7DB57"/>
      </a:accent3>
      <a:accent4>
        <a:srgbClr val="009CBD"/>
      </a:accent4>
      <a:accent5>
        <a:srgbClr val="00C1D5"/>
      </a:accent5>
      <a:accent6>
        <a:srgbClr val="EBB700"/>
      </a:accent6>
      <a:hlink>
        <a:srgbClr val="00C1D5"/>
      </a:hlink>
      <a:folHlink>
        <a:srgbClr val="009CBD"/>
      </a:folHlink>
    </a:clrScheme>
    <a:fontScheme name="Custom 1">
      <a:majorFont>
        <a:latin typeface="Ebrima"/>
        <a:ea typeface=""/>
        <a:cs typeface=""/>
      </a:majorFont>
      <a:minorFont>
        <a:latin typeface="Ebri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3237</TotalTime>
  <Words>1004</Words>
  <Application>Microsoft Macintosh PowerPoint</Application>
  <PresentationFormat>On-screen Show (4:3)</PresentationFormat>
  <Paragraphs>175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 Black</vt:lpstr>
      <vt:lpstr>Calibri</vt:lpstr>
      <vt:lpstr>Calibri Light</vt:lpstr>
      <vt:lpstr>CG Times</vt:lpstr>
      <vt:lpstr>Courier New</vt:lpstr>
      <vt:lpstr>Ebrima</vt:lpstr>
      <vt:lpstr>MS PGothic</vt:lpstr>
      <vt:lpstr>Times New Roman</vt:lpstr>
      <vt:lpstr>Arial</vt:lpstr>
      <vt:lpstr>OGC_PowerPoint_Template</vt:lpstr>
      <vt:lpstr>16x9 MWLR template</vt:lpstr>
      <vt:lpstr>HDWG ELFIE Update</vt:lpstr>
      <vt:lpstr>Presentation Plan</vt:lpstr>
      <vt:lpstr>Environmental Linked Features IE Time Line!</vt:lpstr>
      <vt:lpstr>[… So how do we do that? ] What does that even mean?</vt:lpstr>
      <vt:lpstr>Environmental Data on the (Google-able) Web</vt:lpstr>
      <vt:lpstr>Environmental Data on the Web</vt:lpstr>
      <vt:lpstr>Environmental Linked Feature Interoperability Experiment</vt:lpstr>
      <vt:lpstr>Applying OGC/W3C Best Practices</vt:lpstr>
      <vt:lpstr>JSON-LD – JSON for the Semantic Web</vt:lpstr>
      <vt:lpstr>Use Cases</vt:lpstr>
      <vt:lpstr>Demonstrations</vt:lpstr>
      <vt:lpstr>(Preliminary) Results</vt:lpstr>
      <vt:lpstr>Environmental Linked Features IE Time Line!</vt:lpstr>
      <vt:lpstr>PowerPoint Presentation</vt:lpstr>
      <vt:lpstr>PowerPoint Presentation</vt:lpstr>
      <vt:lpstr>ELFIE Needs You! (to contribute)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USGS Goals and Applications of the Network Linked Data Index</dc:title>
  <dc:creator>David Blodgett</dc:creator>
  <cp:lastModifiedBy>David Blodgett</cp:lastModifiedBy>
  <cp:revision>73</cp:revision>
  <dcterms:created xsi:type="dcterms:W3CDTF">2016-07-06T23:12:06Z</dcterms:created>
  <dcterms:modified xsi:type="dcterms:W3CDTF">2017-12-03T21:58:27Z</dcterms:modified>
</cp:coreProperties>
</file>