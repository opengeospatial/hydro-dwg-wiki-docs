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theme/theme8.xml" ContentType="application/vnd.openxmlformats-officedocument.them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emf" ContentType="image/x-emf"/>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8" r:id="rId2"/>
    <p:sldMasterId id="2147483660" r:id="rId3"/>
    <p:sldMasterId id="2147483662" r:id="rId4"/>
    <p:sldMasterId id="2147483704" r:id="rId5"/>
    <p:sldMasterId id="2147483733" r:id="rId6"/>
  </p:sldMasterIdLst>
  <p:notesMasterIdLst>
    <p:notesMasterId r:id="rId25"/>
  </p:notesMasterIdLst>
  <p:handoutMasterIdLst>
    <p:handoutMasterId r:id="rId26"/>
  </p:handoutMasterIdLst>
  <p:sldIdLst>
    <p:sldId id="328" r:id="rId7"/>
    <p:sldId id="459" r:id="rId8"/>
    <p:sldId id="460" r:id="rId9"/>
    <p:sldId id="476" r:id="rId10"/>
    <p:sldId id="461" r:id="rId11"/>
    <p:sldId id="462" r:id="rId12"/>
    <p:sldId id="463" r:id="rId13"/>
    <p:sldId id="474" r:id="rId14"/>
    <p:sldId id="465" r:id="rId15"/>
    <p:sldId id="466" r:id="rId16"/>
    <p:sldId id="467" r:id="rId17"/>
    <p:sldId id="477" r:id="rId18"/>
    <p:sldId id="468" r:id="rId19"/>
    <p:sldId id="475" r:id="rId20"/>
    <p:sldId id="471" r:id="rId21"/>
    <p:sldId id="473" r:id="rId22"/>
    <p:sldId id="384" r:id="rId23"/>
    <p:sldId id="470" r:id="rId24"/>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EDCB"/>
    <a:srgbClr val="FFDDC1"/>
    <a:srgbClr val="FFFFFF"/>
    <a:srgbClr val="CAEE9C"/>
    <a:srgbClr val="FFC5C5"/>
    <a:srgbClr val="007F9B"/>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1383" autoAdjust="0"/>
    <p:restoredTop sz="86425" autoAdjust="0"/>
  </p:normalViewPr>
  <p:slideViewPr>
    <p:cSldViewPr>
      <p:cViewPr>
        <p:scale>
          <a:sx n="100" d="100"/>
          <a:sy n="100" d="100"/>
        </p:scale>
        <p:origin x="-72" y="210"/>
      </p:cViewPr>
      <p:guideLst>
        <p:guide orient="horz" pos="2160"/>
        <p:guide pos="2880"/>
      </p:guideLst>
    </p:cSldViewPr>
  </p:slideViewPr>
  <p:outlineViewPr>
    <p:cViewPr>
      <p:scale>
        <a:sx n="33" d="100"/>
        <a:sy n="33" d="100"/>
      </p:scale>
      <p:origin x="0" y="14871"/>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0822B87D-93FF-4700-A1F4-E34DF07EC39B}" type="datetimeFigureOut">
              <a:rPr lang="en-AU"/>
              <a:pPr>
                <a:defRPr/>
              </a:pPr>
              <a:t>12/08/2014</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5D3CF2F3-2778-4A50-84FF-437EBBCAEB25}" type="slidenum">
              <a:rPr lang="en-AU"/>
              <a:pPr>
                <a:defRPr/>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15C2A18D-19A7-4C58-9621-BB17B5750FDA}" type="datetimeFigureOut">
              <a:rPr lang="en-AU"/>
              <a:pPr>
                <a:defRPr/>
              </a:pPr>
              <a:t>12/08/2014</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9B3AFCFB-5FBD-40BC-9128-C1A22C77A012}"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Example of the data mapped between the HH and NGIS  databases.</a:t>
            </a:r>
          </a:p>
          <a:p>
            <a:r>
              <a:rPr lang="en-AU" dirty="0" smtClean="0"/>
              <a:t>Pretty good:</a:t>
            </a:r>
          </a:p>
          <a:p>
            <a:r>
              <a:rPr lang="en-AU" dirty="0" smtClean="0"/>
              <a:t>	Mostly</a:t>
            </a:r>
            <a:r>
              <a:rPr lang="en-AU" baseline="0" dirty="0" smtClean="0"/>
              <a:t> </a:t>
            </a:r>
            <a:r>
              <a:rPr lang="en-AU" dirty="0" smtClean="0"/>
              <a:t>separates Units and methods from the observable property</a:t>
            </a:r>
          </a:p>
          <a:p>
            <a:r>
              <a:rPr lang="en-AU" dirty="0" smtClean="0"/>
              <a:t>	Maps to terms from other related vocabularies (CAS, IUPAC, WDTF)</a:t>
            </a:r>
          </a:p>
          <a:p>
            <a:r>
              <a:rPr lang="en-AU" dirty="0" smtClean="0"/>
              <a:t>	Some</a:t>
            </a:r>
            <a:r>
              <a:rPr lang="en-AU" baseline="0" dirty="0" smtClean="0"/>
              <a:t> grouping (simple hierarchy) and collections</a:t>
            </a:r>
          </a:p>
          <a:p>
            <a:endParaRPr lang="en-AU" baseline="0" dirty="0" smtClean="0"/>
          </a:p>
          <a:p>
            <a:pPr>
              <a:buFont typeface="Arial" pitchFamily="34" charset="0"/>
              <a:buChar char="•"/>
            </a:pPr>
            <a:r>
              <a:rPr lang="en-AU" dirty="0" smtClean="0"/>
              <a:t> Not modular</a:t>
            </a:r>
          </a:p>
          <a:p>
            <a:pPr lvl="1"/>
            <a:r>
              <a:rPr lang="en-US" dirty="0" smtClean="0"/>
              <a:t>difficult to incorporate vocabularies not governed by that discipline (e.g. ‘units of measure’</a:t>
            </a:r>
            <a:r>
              <a:rPr lang="en-AU" baseline="0" dirty="0" smtClean="0"/>
              <a:t>)</a:t>
            </a:r>
            <a:endParaRPr lang="en-AU" dirty="0" smtClean="0"/>
          </a:p>
          <a:p>
            <a:pPr>
              <a:buFont typeface="Arial" pitchFamily="34" charset="0"/>
              <a:buChar char="•"/>
            </a:pPr>
            <a:r>
              <a:rPr lang="en-AU" dirty="0" smtClean="0"/>
              <a:t> Inconsistent Governance</a:t>
            </a:r>
          </a:p>
          <a:p>
            <a:pPr lvl="1"/>
            <a:r>
              <a:rPr lang="en-US" dirty="0" smtClean="0"/>
              <a:t>same concepts (different terms?) appear in multiple vocabularies, </a:t>
            </a:r>
          </a:p>
          <a:p>
            <a:pPr lvl="1"/>
            <a:r>
              <a:rPr lang="en-US" dirty="0" smtClean="0"/>
              <a:t>no relationships between terms and collections from different data providers, </a:t>
            </a:r>
            <a:endParaRPr lang="en-AU" dirty="0" smtClean="0"/>
          </a:p>
          <a:p>
            <a:pPr>
              <a:buFont typeface="Arial" pitchFamily="34" charset="0"/>
              <a:buChar char="•"/>
            </a:pPr>
            <a:r>
              <a:rPr lang="en-AU" dirty="0" smtClean="0"/>
              <a:t> Not interoperable</a:t>
            </a:r>
          </a:p>
          <a:p>
            <a:pPr lvl="1"/>
            <a:r>
              <a:rPr lang="en-US" dirty="0" smtClean="0"/>
              <a:t>local, non-resolvable identifiers, </a:t>
            </a:r>
          </a:p>
          <a:p>
            <a:pPr lvl="1"/>
            <a:r>
              <a:rPr lang="en-US" dirty="0" smtClean="0"/>
              <a:t>lack of a formal definitions,</a:t>
            </a:r>
          </a:p>
          <a:p>
            <a:pPr lvl="1"/>
            <a:r>
              <a:rPr lang="en-US" dirty="0" smtClean="0"/>
              <a:t>lack of an ontology describing the relationship between concepts</a:t>
            </a:r>
          </a:p>
          <a:p>
            <a:pPr>
              <a:buFont typeface="Arial" pitchFamily="34" charset="0"/>
              <a:buChar char="•"/>
            </a:pPr>
            <a:r>
              <a:rPr lang="en-AU" dirty="0" smtClean="0"/>
              <a:t>Ambiguity</a:t>
            </a:r>
          </a:p>
          <a:p>
            <a:pPr lvl="1"/>
            <a:r>
              <a:rPr lang="en-US" dirty="0" smtClean="0"/>
              <a:t>concepts are poorly defined, </a:t>
            </a:r>
            <a:endParaRPr lang="en-AU" dirty="0"/>
          </a:p>
        </p:txBody>
      </p:sp>
      <p:sp>
        <p:nvSpPr>
          <p:cNvPr id="4" name="Slide Number Placeholder 3"/>
          <p:cNvSpPr>
            <a:spLocks noGrp="1"/>
          </p:cNvSpPr>
          <p:nvPr>
            <p:ph type="sldNum" sz="quarter" idx="10"/>
          </p:nvPr>
        </p:nvSpPr>
        <p:spPr/>
        <p:txBody>
          <a:bodyPr/>
          <a:lstStyle/>
          <a:p>
            <a:pPr>
              <a:defRPr/>
            </a:pPr>
            <a:fld id="{348E5230-3F12-4A60-B83A-70DD9883D08A}" type="slidenum">
              <a:rPr lang="en-US" smtClean="0">
                <a:solidFill>
                  <a:prstClr val="black"/>
                </a:solidFill>
              </a:rPr>
              <a:pPr>
                <a:defRPr/>
              </a:pPr>
              <a:t>2</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NVS is probably the most widely used large vocabulary service. </a:t>
            </a:r>
          </a:p>
          <a:p>
            <a:r>
              <a:rPr lang="en-US" dirty="0" smtClean="0"/>
              <a:t>The “P01” vocabulary contains an inventory</a:t>
            </a:r>
            <a:r>
              <a:rPr lang="en-US" baseline="0" dirty="0" smtClean="0"/>
              <a:t> of observed properties from the oceanography community. </a:t>
            </a:r>
          </a:p>
          <a:p>
            <a:r>
              <a:rPr lang="en-US" baseline="0" dirty="0" smtClean="0"/>
              <a:t>It contains 30,000+ entries, most of which have long names because they are very specific. </a:t>
            </a:r>
          </a:p>
          <a:p>
            <a:r>
              <a:rPr lang="en-US" baseline="0" dirty="0" smtClean="0"/>
              <a:t>More later … </a:t>
            </a:r>
            <a:endParaRPr lang="en-AU" dirty="0"/>
          </a:p>
        </p:txBody>
      </p:sp>
      <p:sp>
        <p:nvSpPr>
          <p:cNvPr id="4" name="Slide Number Placeholder 3"/>
          <p:cNvSpPr>
            <a:spLocks noGrp="1"/>
          </p:cNvSpPr>
          <p:nvPr>
            <p:ph type="sldNum" sz="quarter" idx="10"/>
          </p:nvPr>
        </p:nvSpPr>
        <p:spPr/>
        <p:txBody>
          <a:bodyPr/>
          <a:lstStyle/>
          <a:p>
            <a:pPr>
              <a:defRPr/>
            </a:pPr>
            <a:fld id="{9B3AFCFB-5FBD-40BC-9128-C1A22C77A012}" type="slidenum">
              <a:rPr lang="en-AU" smtClean="0"/>
              <a:pPr>
                <a:defRPr/>
              </a:pPr>
              <a:t>4</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rPr>
              <a:pPr>
                <a:defRPr/>
              </a:pPr>
              <a:t>5</a:t>
            </a:fld>
            <a:endParaRPr lang="en-US">
              <a:solidFill>
                <a:prstClr val="black"/>
              </a:solidFill>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If we look at a ‘nitrogen’ example we have the</a:t>
            </a:r>
            <a:r>
              <a:rPr lang="en-AU" baseline="0" dirty="0" smtClean="0"/>
              <a:t> </a:t>
            </a:r>
            <a:r>
              <a:rPr lang="en-AU" baseline="0" dirty="0" err="1" smtClean="0"/>
              <a:t>ScaledQuantityKind</a:t>
            </a:r>
            <a:r>
              <a:rPr lang="en-AU" baseline="0" dirty="0" smtClean="0"/>
              <a:t> </a:t>
            </a:r>
            <a:r>
              <a:rPr lang="en-AU" dirty="0" smtClean="0"/>
              <a:t>“dissolved nitrogen concentration” which has the more general concept “nitrogen concentration”, which in turn is a specialization of “Concentration”.</a:t>
            </a:r>
          </a:p>
          <a:p>
            <a:endParaRPr lang="en-AU" dirty="0" smtClean="0"/>
          </a:p>
          <a:p>
            <a:r>
              <a:rPr lang="en-AU" dirty="0" smtClean="0"/>
              <a:t>“dissolved nitrogen concentration” can be measured in “</a:t>
            </a:r>
            <a:r>
              <a:rPr lang="en-AU" dirty="0" err="1" smtClean="0"/>
              <a:t>MolPerCent</a:t>
            </a:r>
            <a:r>
              <a:rPr lang="en-AU" dirty="0" smtClean="0"/>
              <a:t>” units, which can be used for “Concentration” </a:t>
            </a:r>
            <a:r>
              <a:rPr lang="en-AU" dirty="0" err="1" smtClean="0"/>
              <a:t>QuantityKinds</a:t>
            </a:r>
            <a:r>
              <a:rPr lang="en-AU" dirty="0" smtClean="0"/>
              <a:t>, or</a:t>
            </a:r>
            <a:r>
              <a:rPr lang="en-AU" baseline="0" dirty="0" smtClean="0"/>
              <a:t> “</a:t>
            </a:r>
            <a:r>
              <a:rPr lang="en-AU" baseline="0" dirty="0" err="1" smtClean="0"/>
              <a:t>MilliGramsPerLitre</a:t>
            </a:r>
            <a:r>
              <a:rPr lang="en-AU" baseline="0" dirty="0" smtClean="0"/>
              <a:t>” which can be used for “</a:t>
            </a:r>
            <a:r>
              <a:rPr lang="en-AU" baseline="0" dirty="0" err="1" smtClean="0"/>
              <a:t>AmountOfSubstancePerUnitVolume</a:t>
            </a:r>
            <a:r>
              <a:rPr lang="en-AU" baseline="0" dirty="0" smtClean="0"/>
              <a:t>” </a:t>
            </a:r>
            <a:r>
              <a:rPr lang="en-AU" baseline="0" dirty="0" err="1" smtClean="0"/>
              <a:t>QuantityKinds</a:t>
            </a:r>
            <a:r>
              <a:rPr lang="en-AU" baseline="0" dirty="0" smtClean="0"/>
              <a:t>.</a:t>
            </a:r>
          </a:p>
          <a:p>
            <a:endParaRPr lang="en-AU" baseline="0" dirty="0" smtClean="0"/>
          </a:p>
          <a:p>
            <a:r>
              <a:rPr lang="en-AU" dirty="0" smtClean="0"/>
              <a:t>“dissolved nitrogen concentration”  is a measure of the “nitrogen” </a:t>
            </a:r>
            <a:r>
              <a:rPr lang="en-AU" dirty="0" err="1" smtClean="0"/>
              <a:t>SubstanceOrTaxon</a:t>
            </a:r>
            <a:r>
              <a:rPr lang="en-AU" dirty="0" smtClean="0"/>
              <a:t>,</a:t>
            </a:r>
            <a:r>
              <a:rPr lang="en-AU" baseline="0" dirty="0" smtClean="0"/>
              <a:t> which is an </a:t>
            </a:r>
            <a:r>
              <a:rPr lang="en-AU" baseline="0" dirty="0" err="1" smtClean="0"/>
              <a:t>exactMatch</a:t>
            </a:r>
            <a:r>
              <a:rPr lang="en-AU" baseline="0" dirty="0" smtClean="0"/>
              <a:t> of the ChEBI “elemental nitrogen” concept.</a:t>
            </a:r>
            <a:endParaRPr lang="en-AU" dirty="0"/>
          </a:p>
        </p:txBody>
      </p:sp>
      <p:sp>
        <p:nvSpPr>
          <p:cNvPr id="4" name="Slide Number Placeholder 3"/>
          <p:cNvSpPr>
            <a:spLocks noGrp="1"/>
          </p:cNvSpPr>
          <p:nvPr>
            <p:ph type="sldNum" sz="quarter" idx="10"/>
          </p:nvPr>
        </p:nvSpPr>
        <p:spPr/>
        <p:txBody>
          <a:bodyPr/>
          <a:lstStyle/>
          <a:p>
            <a:pPr>
              <a:defRPr/>
            </a:pPr>
            <a:fld id="{348E5230-3F12-4A60-B83A-70DD9883D08A}" type="slidenum">
              <a:rPr lang="en-US" smtClean="0"/>
              <a:pPr>
                <a:defRPr/>
              </a:pPr>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latin typeface="+mn-lt"/>
                <a:ea typeface="+mn-ea"/>
                <a:cs typeface="+mn-cs"/>
              </a:rPr>
              <a:t>A number of formal units of measure systems exist: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‘The Unified Code For Units of Measure’ (UCUM; </a:t>
            </a:r>
            <a:r>
              <a:rPr lang="en-US" sz="1200" kern="1200" dirty="0" err="1" smtClean="0">
                <a:solidFill>
                  <a:schemeClr val="tx1"/>
                </a:solidFill>
                <a:latin typeface="+mn-lt"/>
                <a:ea typeface="+mn-ea"/>
                <a:cs typeface="+mn-cs"/>
              </a:rPr>
              <a:t>Schadow</a:t>
            </a:r>
            <a:r>
              <a:rPr lang="en-US" sz="1200" kern="1200" dirty="0" smtClean="0">
                <a:solidFill>
                  <a:schemeClr val="tx1"/>
                </a:solidFill>
                <a:latin typeface="+mn-lt"/>
                <a:ea typeface="+mn-ea"/>
                <a:cs typeface="+mn-cs"/>
              </a:rPr>
              <a:t> and McDonald, 2009),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‘Ontology of units of measure’ (OM; </a:t>
            </a:r>
            <a:r>
              <a:rPr lang="en-US" sz="1200" kern="1200" dirty="0" err="1" smtClean="0">
                <a:solidFill>
                  <a:schemeClr val="tx1"/>
                </a:solidFill>
                <a:latin typeface="+mn-lt"/>
                <a:ea typeface="+mn-ea"/>
                <a:cs typeface="+mn-cs"/>
              </a:rPr>
              <a:t>Rijgersberg</a:t>
            </a:r>
            <a:r>
              <a:rPr lang="en-US" sz="1200" kern="1200" dirty="0" smtClean="0">
                <a:solidFill>
                  <a:schemeClr val="tx1"/>
                </a:solidFill>
                <a:latin typeface="+mn-lt"/>
                <a:ea typeface="+mn-ea"/>
                <a:cs typeface="+mn-cs"/>
              </a:rPr>
              <a:t> et al., 2013),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‘Measurement Units Ontology’ (MUO; </a:t>
            </a:r>
            <a:r>
              <a:rPr lang="en-US" sz="1200" kern="1200" dirty="0" err="1" smtClean="0">
                <a:solidFill>
                  <a:schemeClr val="tx1"/>
                </a:solidFill>
                <a:latin typeface="+mn-lt"/>
                <a:ea typeface="+mn-ea"/>
                <a:cs typeface="+mn-cs"/>
              </a:rPr>
              <a:t>Berrueta</a:t>
            </a:r>
            <a:r>
              <a:rPr lang="en-US" sz="1200" kern="1200" dirty="0" smtClean="0">
                <a:solidFill>
                  <a:schemeClr val="tx1"/>
                </a:solidFill>
                <a:latin typeface="+mn-lt"/>
                <a:ea typeface="+mn-ea"/>
                <a:cs typeface="+mn-cs"/>
              </a:rPr>
              <a:t> and Polo, 2009),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‘Ontology of Units of Measurement’ (UO),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‘Semantic Web for Earth and Environmental Terminology’ (SWEET v2.2), </a:t>
            </a:r>
            <a:endParaRPr lang="en-AU" sz="1200" kern="1200" dirty="0" smtClean="0">
              <a:solidFill>
                <a:schemeClr val="tx1"/>
              </a:solidFill>
              <a:latin typeface="+mn-lt"/>
              <a:ea typeface="+mn-ea"/>
              <a:cs typeface="+mn-cs"/>
            </a:endParaRP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‘Quantities, Units, Dimensions, Values’ (QUDV; de </a:t>
            </a:r>
            <a:r>
              <a:rPr lang="en-US" sz="1200" kern="1200" dirty="0" err="1" smtClean="0">
                <a:solidFill>
                  <a:schemeClr val="tx1"/>
                </a:solidFill>
                <a:latin typeface="+mn-lt"/>
                <a:ea typeface="+mn-ea"/>
                <a:cs typeface="+mn-cs"/>
              </a:rPr>
              <a:t>Kooning</a:t>
            </a:r>
            <a:r>
              <a:rPr lang="en-US" sz="1200" kern="1200" dirty="0" smtClean="0">
                <a:solidFill>
                  <a:schemeClr val="tx1"/>
                </a:solidFill>
                <a:latin typeface="+mn-lt"/>
                <a:ea typeface="+mn-ea"/>
                <a:cs typeface="+mn-cs"/>
              </a:rPr>
              <a:t> et al. 2009) </a:t>
            </a:r>
          </a:p>
          <a:p>
            <a:pPr lvl="0"/>
            <a:r>
              <a:rPr lang="en-US" sz="1200" kern="1200" dirty="0" smtClean="0">
                <a:solidFill>
                  <a:schemeClr val="tx1"/>
                </a:solidFill>
                <a:latin typeface="+mn-lt"/>
                <a:ea typeface="+mn-ea"/>
                <a:cs typeface="+mn-cs"/>
              </a:rPr>
              <a:t>‘Quantities, Units, Dimensions and Data Types’ (QUDT; Hodgson and Keller, 2011). </a:t>
            </a:r>
            <a:endParaRPr lang="en-AU" sz="1200" kern="1200" dirty="0" smtClean="0">
              <a:solidFill>
                <a:schemeClr val="tx1"/>
              </a:solidFill>
              <a:latin typeface="+mn-lt"/>
              <a:ea typeface="+mn-ea"/>
              <a:cs typeface="+mn-cs"/>
            </a:endParaRPr>
          </a:p>
          <a:p>
            <a:pPr lvl="0"/>
            <a:endParaRPr lang="en-AU"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These all use different </a:t>
            </a:r>
            <a:r>
              <a:rPr lang="en-US" sz="1200" kern="1200" dirty="0" err="1" smtClean="0">
                <a:solidFill>
                  <a:schemeClr val="tx1"/>
                </a:solidFill>
                <a:latin typeface="+mn-lt"/>
                <a:ea typeface="+mn-ea"/>
                <a:cs typeface="+mn-cs"/>
              </a:rPr>
              <a:t>modelling</a:t>
            </a:r>
            <a:r>
              <a:rPr lang="en-US" sz="1200" kern="1200" dirty="0" smtClean="0">
                <a:solidFill>
                  <a:schemeClr val="tx1"/>
                </a:solidFill>
                <a:latin typeface="+mn-lt"/>
                <a:ea typeface="+mn-ea"/>
                <a:cs typeface="+mn-cs"/>
              </a:rPr>
              <a:t> approaches and formalisms ranging from simple vocabularies enumerating units of measures, to alignment of measurement related concepts to upper </a:t>
            </a:r>
            <a:r>
              <a:rPr lang="en-US" sz="1200" kern="1200" dirty="0" err="1" smtClean="0">
                <a:solidFill>
                  <a:schemeClr val="tx1"/>
                </a:solidFill>
                <a:latin typeface="+mn-lt"/>
                <a:ea typeface="+mn-ea"/>
                <a:cs typeface="+mn-cs"/>
              </a:rPr>
              <a:t>ontologies</a:t>
            </a:r>
            <a:r>
              <a:rPr lang="en-US" sz="1200" kern="1200" dirty="0" smtClean="0">
                <a:solidFill>
                  <a:schemeClr val="tx1"/>
                </a:solidFill>
                <a:latin typeface="+mn-lt"/>
                <a:ea typeface="+mn-ea"/>
                <a:cs typeface="+mn-cs"/>
              </a:rPr>
              <a:t>. They also differ in their coverage of the set of unit of measures. Of the established and well-governed unit of measure ontology options, QUDT is well-aligned with our understanding of the relationships between measurements and units of measure. </a:t>
            </a:r>
            <a:endParaRPr lang="en-AU" sz="1200" kern="1200" dirty="0" smtClean="0">
              <a:solidFill>
                <a:schemeClr val="tx1"/>
              </a:solidFill>
              <a:latin typeface="+mn-lt"/>
              <a:ea typeface="+mn-ea"/>
              <a:cs typeface="+mn-cs"/>
            </a:endParaRPr>
          </a:p>
          <a:p>
            <a:endParaRPr lang="en-AU" dirty="0" smtClean="0"/>
          </a:p>
          <a:p>
            <a:r>
              <a:rPr lang="en-AU" dirty="0" smtClean="0"/>
              <a:t>Our extension to QUDT recognised that </a:t>
            </a:r>
            <a:r>
              <a:rPr lang="en-AU" dirty="0" err="1" smtClean="0"/>
              <a:t>QuantityKinds</a:t>
            </a:r>
            <a:r>
              <a:rPr lang="en-AU" dirty="0" smtClean="0"/>
              <a:t> are the subset of all </a:t>
            </a:r>
            <a:r>
              <a:rPr lang="en-AU" dirty="0" err="1" smtClean="0"/>
              <a:t>PropertyKinds</a:t>
            </a:r>
            <a:r>
              <a:rPr lang="en-AU" dirty="0" smtClean="0"/>
              <a:t> that can be measured. We created the </a:t>
            </a:r>
            <a:r>
              <a:rPr lang="en-AU" dirty="0" err="1" smtClean="0"/>
              <a:t>ScaledQuantityKind</a:t>
            </a:r>
            <a:r>
              <a:rPr lang="en-AU" dirty="0" smtClean="0"/>
              <a:t> class as an equivalent class to allow specifying the units associated with the </a:t>
            </a:r>
            <a:r>
              <a:rPr lang="en-AU" dirty="0" err="1" smtClean="0"/>
              <a:t>QuantityKind</a:t>
            </a:r>
            <a:r>
              <a:rPr lang="en-AU" dirty="0" smtClean="0"/>
              <a:t> via the </a:t>
            </a:r>
            <a:r>
              <a:rPr lang="en-AU" dirty="0" err="1" smtClean="0"/>
              <a:t>qudt:unit</a:t>
            </a:r>
            <a:r>
              <a:rPr lang="en-AU" dirty="0" smtClean="0"/>
              <a:t> property. I understand that QUDT v2 intends to </a:t>
            </a:r>
            <a:r>
              <a:rPr lang="en-AU" baseline="0" dirty="0" smtClean="0"/>
              <a:t>add this property to </a:t>
            </a:r>
            <a:r>
              <a:rPr lang="en-AU" baseline="0" dirty="0" err="1" smtClean="0"/>
              <a:t>QuantityKind</a:t>
            </a:r>
            <a:r>
              <a:rPr lang="en-AU" baseline="0" dirty="0" smtClean="0"/>
              <a:t>, making </a:t>
            </a:r>
            <a:r>
              <a:rPr lang="en-AU" baseline="0" dirty="0" err="1" smtClean="0"/>
              <a:t>ScaledQuantityKind</a:t>
            </a:r>
            <a:r>
              <a:rPr lang="en-AU" baseline="0" dirty="0" smtClean="0"/>
              <a:t> redundant.</a:t>
            </a:r>
          </a:p>
          <a:p>
            <a:endParaRPr lang="en-AU" baseline="0" dirty="0" smtClean="0"/>
          </a:p>
          <a:p>
            <a:r>
              <a:rPr lang="en-AU" baseline="0" dirty="0" smtClean="0"/>
              <a:t>The </a:t>
            </a:r>
            <a:r>
              <a:rPr lang="en-AU" baseline="0" dirty="0" err="1" smtClean="0"/>
              <a:t>objectOfInterest</a:t>
            </a:r>
            <a:r>
              <a:rPr lang="en-AU" baseline="0" dirty="0" smtClean="0"/>
              <a:t> property allows specifying what the substance (or </a:t>
            </a:r>
            <a:r>
              <a:rPr lang="en-AU" baseline="0" dirty="0" err="1" smtClean="0"/>
              <a:t>taxon</a:t>
            </a:r>
            <a:r>
              <a:rPr lang="en-AU" baseline="0" dirty="0" smtClean="0"/>
              <a:t> if biological) is that is being measured.</a:t>
            </a:r>
          </a:p>
          <a:p>
            <a:r>
              <a:rPr lang="en-AU" dirty="0" smtClean="0"/>
              <a:t> </a:t>
            </a:r>
          </a:p>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Vocabularies for the units of measure (instances of the ‘</a:t>
            </a:r>
            <a:r>
              <a:rPr lang="en-US" sz="1200" i="1" kern="1200" dirty="0" err="1" smtClean="0">
                <a:solidFill>
                  <a:schemeClr val="tx1"/>
                </a:solidFill>
                <a:latin typeface="+mn-lt"/>
                <a:ea typeface="+mn-ea"/>
                <a:cs typeface="+mn-cs"/>
              </a:rPr>
              <a:t>qudt:Unit</a:t>
            </a:r>
            <a:r>
              <a:rPr lang="en-US" sz="1200" kern="1200" dirty="0" smtClean="0">
                <a:solidFill>
                  <a:schemeClr val="tx1"/>
                </a:solidFill>
                <a:latin typeface="+mn-lt"/>
                <a:ea typeface="+mn-ea"/>
                <a:cs typeface="+mn-cs"/>
              </a:rPr>
              <a:t>’ concept) and the kinds of quantities (instances of the ‘</a:t>
            </a:r>
            <a:r>
              <a:rPr lang="en-US" sz="1200" i="1" kern="1200" dirty="0" err="1" smtClean="0">
                <a:solidFill>
                  <a:schemeClr val="tx1"/>
                </a:solidFill>
                <a:latin typeface="+mn-lt"/>
                <a:ea typeface="+mn-ea"/>
                <a:cs typeface="+mn-cs"/>
              </a:rPr>
              <a:t>qudt:QuantityKind</a:t>
            </a:r>
            <a:r>
              <a:rPr lang="en-US" sz="1200" kern="1200" dirty="0" smtClean="0">
                <a:solidFill>
                  <a:schemeClr val="tx1"/>
                </a:solidFill>
                <a:latin typeface="+mn-lt"/>
                <a:ea typeface="+mn-ea"/>
                <a:cs typeface="+mn-cs"/>
              </a:rPr>
              <a:t>’ concept) were imported from QUDT, supplemented with units of measure from the existing water quality vocabularies and any additional required quantity kinds.</a:t>
            </a:r>
            <a:endParaRPr lang="en-AU" sz="1200" kern="1200" dirty="0" smtClean="0">
              <a:solidFill>
                <a:schemeClr val="tx1"/>
              </a:solidFill>
              <a:latin typeface="+mn-lt"/>
              <a:ea typeface="+mn-ea"/>
              <a:cs typeface="+mn-cs"/>
            </a:endParaRPr>
          </a:p>
          <a:p>
            <a:endParaRPr lang="en-AU" dirty="0" smtClean="0"/>
          </a:p>
          <a:p>
            <a:pPr marL="0" marR="0" indent="0" algn="l" defTabSz="457200" rtl="0" eaLnBrk="0" fontAlgn="base" latinLnBrk="0" hangingPunct="0">
              <a:lnSpc>
                <a:spcPct val="100000"/>
              </a:lnSpc>
              <a:spcBef>
                <a:spcPct val="30000"/>
              </a:spcBef>
              <a:spcAft>
                <a:spcPct val="0"/>
              </a:spcAft>
              <a:buClrTx/>
              <a:buSzTx/>
              <a:buFontTx/>
              <a:buNone/>
              <a:tabLst/>
              <a:defRPr/>
            </a:pPr>
            <a:r>
              <a:rPr lang="en-AU" sz="1200" kern="1200" dirty="0" smtClean="0">
                <a:solidFill>
                  <a:schemeClr val="tx1"/>
                </a:solidFill>
                <a:latin typeface="+mn-lt"/>
                <a:ea typeface="+mn-ea"/>
                <a:cs typeface="+mn-cs"/>
              </a:rPr>
              <a:t>QUDT contains 1484 instances of units of measure and 236 quantity kinds.  </a:t>
            </a:r>
          </a:p>
          <a:p>
            <a:pPr marL="0" marR="0" indent="0" algn="l" defTabSz="457200" rtl="0" eaLnBrk="0" fontAlgn="base" latinLnBrk="0" hangingPunct="0">
              <a:lnSpc>
                <a:spcPct val="100000"/>
              </a:lnSpc>
              <a:spcBef>
                <a:spcPct val="30000"/>
              </a:spcBef>
              <a:spcAft>
                <a:spcPct val="0"/>
              </a:spcAft>
              <a:buClrTx/>
              <a:buSzTx/>
              <a:buFontTx/>
              <a:buNone/>
              <a:tabLst/>
              <a:defRPr/>
            </a:pPr>
            <a:r>
              <a:rPr lang="en-AU" sz="1200" kern="1200" dirty="0" smtClean="0">
                <a:solidFill>
                  <a:schemeClr val="tx1"/>
                </a:solidFill>
                <a:latin typeface="+mn-lt"/>
                <a:ea typeface="+mn-ea"/>
                <a:cs typeface="+mn-cs"/>
              </a:rPr>
              <a:t>However, it is missing some units of measure and kinds of quantities required for the water quality data. To rectify this, we added 41 additional units of measure, and 17 quantity kinds, all in separate namespaces to the original QUDT. </a:t>
            </a:r>
          </a:p>
          <a:p>
            <a:pPr marL="0" marR="0" indent="0" algn="l" defTabSz="457200" rtl="0" eaLnBrk="0" fontAlgn="base" latinLnBrk="0" hangingPunct="0">
              <a:lnSpc>
                <a:spcPct val="100000"/>
              </a:lnSpc>
              <a:spcBef>
                <a:spcPct val="30000"/>
              </a:spcBef>
              <a:spcAft>
                <a:spcPct val="0"/>
              </a:spcAft>
              <a:buClrTx/>
              <a:buSzTx/>
              <a:buFontTx/>
              <a:buNone/>
              <a:tabLst/>
              <a:defRPr/>
            </a:pPr>
            <a:r>
              <a:rPr lang="en-AU" sz="1200" kern="1200" dirty="0" smtClean="0">
                <a:solidFill>
                  <a:schemeClr val="tx1"/>
                </a:solidFill>
                <a:latin typeface="+mn-lt"/>
                <a:ea typeface="+mn-ea"/>
                <a:cs typeface="+mn-cs"/>
              </a:rPr>
              <a:t>The conversion factors between these new units and the existing QUDT units still need to be defined using the QUDT mechanics.</a:t>
            </a:r>
          </a:p>
          <a:p>
            <a:endParaRPr lang="en-AU" dirty="0"/>
          </a:p>
        </p:txBody>
      </p:sp>
      <p:sp>
        <p:nvSpPr>
          <p:cNvPr id="4" name="Slide Number Placeholder 3"/>
          <p:cNvSpPr>
            <a:spLocks noGrp="1"/>
          </p:cNvSpPr>
          <p:nvPr>
            <p:ph type="sldNum" sz="quarter" idx="10"/>
          </p:nvPr>
        </p:nvSpPr>
        <p:spPr/>
        <p:txBody>
          <a:bodyPr/>
          <a:lstStyle/>
          <a:p>
            <a:pPr>
              <a:defRPr/>
            </a:pPr>
            <a:fld id="{348E5230-3F12-4A60-B83A-70DD9883D08A}" type="slidenum">
              <a:rPr lang="en-US" smtClean="0"/>
              <a:pPr>
                <a:defRPr/>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Going back to the NVS parameters:</a:t>
            </a:r>
          </a:p>
          <a:p>
            <a:r>
              <a:rPr lang="en-US" dirty="0" smtClean="0"/>
              <a:t>The</a:t>
            </a:r>
            <a:r>
              <a:rPr lang="en-US" baseline="0" dirty="0" smtClean="0"/>
              <a:t> name is a combination of facets. </a:t>
            </a:r>
          </a:p>
          <a:p>
            <a:r>
              <a:rPr lang="en-US" baseline="0" dirty="0" smtClean="0"/>
              <a:t>For example, most of the ‘concentration of’ or ‘abundance of’ parameters are specified in terms of </a:t>
            </a:r>
          </a:p>
          <a:p>
            <a:pPr>
              <a:buFontTx/>
              <a:buChar char="-"/>
            </a:pPr>
            <a:r>
              <a:rPr lang="en-US" baseline="0" dirty="0" smtClean="0"/>
              <a:t>The substance (</a:t>
            </a:r>
            <a:r>
              <a:rPr lang="en-US" baseline="0" dirty="0" err="1" smtClean="0"/>
              <a:t>benzanthracene</a:t>
            </a:r>
            <a:r>
              <a:rPr lang="en-US" baseline="0" dirty="0" smtClean="0"/>
              <a:t>)</a:t>
            </a:r>
          </a:p>
          <a:p>
            <a:pPr>
              <a:buFontTx/>
              <a:buChar char="-"/>
            </a:pPr>
            <a:r>
              <a:rPr lang="en-US" baseline="0" dirty="0" smtClean="0"/>
              <a:t>The matrix (liver)</a:t>
            </a:r>
          </a:p>
          <a:p>
            <a:pPr>
              <a:buFontTx/>
              <a:buChar char="-"/>
            </a:pPr>
            <a:r>
              <a:rPr lang="en-US" baseline="0" dirty="0" smtClean="0"/>
              <a:t>Matrix context (</a:t>
            </a:r>
            <a:r>
              <a:rPr lang="en-US" baseline="0" dirty="0" err="1" smtClean="0"/>
              <a:t>Limanda</a:t>
            </a:r>
            <a:r>
              <a:rPr lang="en-US" baseline="0" dirty="0" smtClean="0"/>
              <a:t> </a:t>
            </a:r>
            <a:r>
              <a:rPr lang="en-US" baseline="0" dirty="0" err="1" smtClean="0"/>
              <a:t>limanda</a:t>
            </a:r>
            <a:r>
              <a:rPr lang="en-US" baseline="0" dirty="0" smtClean="0"/>
              <a:t> – male)</a:t>
            </a:r>
          </a:p>
          <a:p>
            <a:pPr>
              <a:buFontTx/>
              <a:buChar char="-"/>
            </a:pPr>
            <a:r>
              <a:rPr lang="en-US" baseline="0" dirty="0" smtClean="0"/>
              <a:t>Matrix relationship (per unit weight of biota) </a:t>
            </a:r>
          </a:p>
          <a:p>
            <a:pPr>
              <a:buFontTx/>
              <a:buChar char="-"/>
            </a:pPr>
            <a:r>
              <a:rPr lang="en-US" baseline="0" dirty="0" smtClean="0"/>
              <a:t>A method (sensor, instrument, protocol – not specified in this case) </a:t>
            </a:r>
          </a:p>
          <a:p>
            <a:pPr>
              <a:buFontTx/>
              <a:buChar char="-"/>
            </a:pPr>
            <a:endParaRPr lang="en-US" baseline="0" dirty="0" smtClean="0"/>
          </a:p>
          <a:p>
            <a:pPr>
              <a:buFontTx/>
              <a:buChar char="-"/>
            </a:pPr>
            <a:r>
              <a:rPr lang="en-US" baseline="0" dirty="0" smtClean="0"/>
              <a:t> With even small numbers of these facets, in combination you can get to a large number of specialized parameters</a:t>
            </a:r>
          </a:p>
          <a:p>
            <a:pPr>
              <a:buFontTx/>
              <a:buChar char="-"/>
            </a:pPr>
            <a:r>
              <a:rPr lang="en-US" baseline="0" dirty="0" smtClean="0"/>
              <a:t> Roy Lowry (NVS) refers to the combination of multiple facets as ‘one armed bandit wheels’ </a:t>
            </a:r>
          </a:p>
          <a:p>
            <a:pPr>
              <a:buFontTx/>
              <a:buChar char="-"/>
            </a:pPr>
            <a:endParaRPr lang="en-US" baseline="0" dirty="0" smtClean="0"/>
          </a:p>
          <a:p>
            <a:pPr>
              <a:buFontTx/>
              <a:buChar char="-"/>
            </a:pPr>
            <a:r>
              <a:rPr lang="en-US" baseline="0" dirty="0" smtClean="0"/>
              <a:t>In terms of the OP ontology, these facets are all ‘constraints’, but the specific ones used in NVS could be pointers to a refinement or specialization of OP. </a:t>
            </a:r>
            <a:endParaRPr lang="en-AU" dirty="0"/>
          </a:p>
        </p:txBody>
      </p:sp>
      <p:sp>
        <p:nvSpPr>
          <p:cNvPr id="4" name="Slide Number Placeholder 3"/>
          <p:cNvSpPr>
            <a:spLocks noGrp="1"/>
          </p:cNvSpPr>
          <p:nvPr>
            <p:ph type="sldNum" sz="quarter" idx="10"/>
          </p:nvPr>
        </p:nvSpPr>
        <p:spPr/>
        <p:txBody>
          <a:bodyPr/>
          <a:lstStyle/>
          <a:p>
            <a:pPr>
              <a:defRPr/>
            </a:pPr>
            <a:fld id="{9B3AFCFB-5FBD-40BC-9128-C1A22C77A012}" type="slidenum">
              <a:rPr lang="en-AU" smtClean="0"/>
              <a:pPr>
                <a:defRPr/>
              </a:pPr>
              <a:t>12</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Looking</a:t>
            </a:r>
            <a:r>
              <a:rPr lang="en-US" sz="1200" kern="1200" baseline="0" dirty="0" smtClean="0">
                <a:solidFill>
                  <a:schemeClr val="tx1"/>
                </a:solidFill>
                <a:latin typeface="+mn-lt"/>
                <a:ea typeface="+mn-ea"/>
                <a:cs typeface="+mn-cs"/>
              </a:rPr>
              <a:t> at these properties:</a:t>
            </a:r>
          </a:p>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The model for observable properties can be mapped to the model for Property Types described in Observations and Measurements v1.0.</a:t>
            </a:r>
          </a:p>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The key concept from O&amp;M for our purposes is the </a:t>
            </a:r>
            <a:r>
              <a:rPr lang="en-US" sz="1200" b="1" kern="1200" dirty="0" err="1" smtClean="0">
                <a:solidFill>
                  <a:schemeClr val="tx1"/>
                </a:solidFill>
                <a:latin typeface="+mn-lt"/>
                <a:ea typeface="+mn-ea"/>
                <a:cs typeface="+mn-cs"/>
              </a:rPr>
              <a:t>ConstrainedPropertyType</a:t>
            </a:r>
            <a:r>
              <a:rPr lang="en-US" sz="1200" b="1" kern="1200" dirty="0" smtClean="0">
                <a:solidFill>
                  <a:schemeClr val="tx1"/>
                </a:solidFill>
                <a:latin typeface="+mn-lt"/>
                <a:ea typeface="+mn-ea"/>
                <a:cs typeface="+mn-cs"/>
              </a:rPr>
              <a:t> </a:t>
            </a:r>
            <a:r>
              <a:rPr lang="en-US" sz="1200" kern="1200" dirty="0" smtClean="0">
                <a:solidFill>
                  <a:schemeClr val="tx1"/>
                </a:solidFill>
                <a:latin typeface="+mn-lt"/>
                <a:ea typeface="+mn-ea"/>
                <a:cs typeface="+mn-cs"/>
              </a:rPr>
              <a:t>class</a:t>
            </a:r>
            <a:r>
              <a:rPr lang="en-US" sz="1200" b="1" kern="1200" dirty="0" smtClean="0">
                <a:solidFill>
                  <a:schemeClr val="tx1"/>
                </a:solidFill>
                <a:latin typeface="+mn-lt"/>
                <a:ea typeface="+mn-ea"/>
                <a:cs typeface="+mn-cs"/>
              </a:rPr>
              <a:t>. </a:t>
            </a:r>
          </a:p>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mn-lt"/>
                <a:ea typeface="+mn-ea"/>
                <a:cs typeface="+mn-cs"/>
              </a:rPr>
              <a:t>This specializes a generic </a:t>
            </a:r>
            <a:r>
              <a:rPr lang="en-US" sz="1200" b="1" kern="1200" dirty="0" err="1" smtClean="0">
                <a:solidFill>
                  <a:schemeClr val="tx1"/>
                </a:solidFill>
                <a:latin typeface="+mn-lt"/>
                <a:ea typeface="+mn-ea"/>
                <a:cs typeface="+mn-cs"/>
              </a:rPr>
              <a:t>PropertyType</a:t>
            </a:r>
            <a:r>
              <a:rPr lang="en-US" sz="1200" kern="1200" dirty="0" smtClean="0">
                <a:solidFill>
                  <a:schemeClr val="tx1"/>
                </a:solidFill>
                <a:latin typeface="+mn-lt"/>
                <a:ea typeface="+mn-ea"/>
                <a:cs typeface="+mn-cs"/>
              </a:rPr>
              <a:t> by modifying a </a:t>
            </a:r>
            <a:r>
              <a:rPr lang="en-US" sz="1200" b="1" kern="1200" dirty="0" smtClean="0">
                <a:solidFill>
                  <a:schemeClr val="tx1"/>
                </a:solidFill>
                <a:latin typeface="+mn-lt"/>
                <a:ea typeface="+mn-ea"/>
                <a:cs typeface="+mn-cs"/>
              </a:rPr>
              <a:t>base</a:t>
            </a:r>
            <a:r>
              <a:rPr lang="en-US" sz="1200" kern="1200" dirty="0" smtClean="0">
                <a:solidFill>
                  <a:schemeClr val="tx1"/>
                </a:solidFill>
                <a:latin typeface="+mn-lt"/>
                <a:ea typeface="+mn-ea"/>
                <a:cs typeface="+mn-cs"/>
              </a:rPr>
              <a:t> with the addition of constraints. </a:t>
            </a:r>
            <a:endParaRPr lang="en-AU"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 the implementation described here, ‘base’ is mapped to </a:t>
            </a:r>
            <a:r>
              <a:rPr lang="en-US" sz="1200" kern="1200" dirty="0" err="1" smtClean="0">
                <a:solidFill>
                  <a:schemeClr val="tx1"/>
                </a:solidFill>
                <a:latin typeface="+mn-lt"/>
                <a:ea typeface="+mn-ea"/>
                <a:cs typeface="+mn-cs"/>
              </a:rPr>
              <a:t>qudt:generalization</a:t>
            </a:r>
            <a:r>
              <a:rPr lang="en-US" sz="1200" kern="1200" dirty="0" smtClean="0">
                <a:solidFill>
                  <a:schemeClr val="tx1"/>
                </a:solidFill>
                <a:latin typeface="+mn-lt"/>
                <a:ea typeface="+mn-ea"/>
                <a:cs typeface="+mn-cs"/>
              </a:rPr>
              <a:t>, which we have asserted is equivalent to </a:t>
            </a:r>
            <a:r>
              <a:rPr lang="en-US" sz="1200" kern="1200" dirty="0" err="1" smtClean="0">
                <a:solidFill>
                  <a:schemeClr val="tx1"/>
                </a:solidFill>
                <a:latin typeface="+mn-lt"/>
                <a:ea typeface="+mn-ea"/>
                <a:cs typeface="+mn-cs"/>
              </a:rPr>
              <a:t>skos:broader</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singleConstraint</a:t>
            </a:r>
            <a:r>
              <a:rPr lang="en-US" sz="1200" kern="1200" dirty="0" smtClean="0">
                <a:solidFill>
                  <a:schemeClr val="tx1"/>
                </a:solidFill>
                <a:latin typeface="+mn-lt"/>
                <a:ea typeface="+mn-ea"/>
                <a:cs typeface="+mn-cs"/>
              </a:rPr>
              <a:t>’ is implemented as </a:t>
            </a:r>
            <a:r>
              <a:rPr lang="en-US" sz="1200" kern="1200" dirty="0" err="1" smtClean="0">
                <a:solidFill>
                  <a:schemeClr val="tx1"/>
                </a:solidFill>
                <a:latin typeface="+mn-lt"/>
                <a:ea typeface="+mn-ea"/>
                <a:cs typeface="+mn-cs"/>
              </a:rPr>
              <a:t>wqop:constraint</a:t>
            </a:r>
            <a:r>
              <a:rPr lang="en-US" sz="1200" kern="1200" dirty="0" smtClean="0">
                <a:solidFill>
                  <a:schemeClr val="tx1"/>
                </a:solidFill>
                <a:latin typeface="+mn-lt"/>
                <a:ea typeface="+mn-ea"/>
                <a:cs typeface="+mn-cs"/>
              </a:rPr>
              <a:t>, with a </a:t>
            </a:r>
            <a:r>
              <a:rPr lang="en-US" sz="1200" kern="1200" dirty="0" err="1" smtClean="0">
                <a:solidFill>
                  <a:schemeClr val="tx1"/>
                </a:solidFill>
                <a:latin typeface="+mn-lt"/>
                <a:ea typeface="+mn-ea"/>
                <a:cs typeface="+mn-cs"/>
              </a:rPr>
              <a:t>subProperty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wqop:objectOfInterest</a:t>
            </a:r>
            <a:r>
              <a:rPr lang="en-US" sz="1200" kern="1200" dirty="0" smtClean="0">
                <a:solidFill>
                  <a:schemeClr val="tx1"/>
                </a:solidFill>
                <a:latin typeface="+mn-lt"/>
                <a:ea typeface="+mn-ea"/>
                <a:cs typeface="+mn-cs"/>
              </a:rPr>
              <a:t>.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So a </a:t>
            </a:r>
            <a:r>
              <a:rPr lang="en-US" sz="1200" kern="1200" dirty="0" err="1" smtClean="0">
                <a:solidFill>
                  <a:schemeClr val="tx1"/>
                </a:solidFill>
                <a:latin typeface="+mn-lt"/>
                <a:ea typeface="+mn-ea"/>
                <a:cs typeface="+mn-cs"/>
              </a:rPr>
              <a:t>ScaledQuantityKind</a:t>
            </a:r>
            <a:r>
              <a:rPr lang="en-US" sz="1200" kern="1200" dirty="0" smtClean="0">
                <a:solidFill>
                  <a:schemeClr val="tx1"/>
                </a:solidFill>
                <a:latin typeface="+mn-lt"/>
                <a:ea typeface="+mn-ea"/>
                <a:cs typeface="+mn-cs"/>
              </a:rPr>
              <a:t>, such as “nitrogen concentration”, may be a narrower concept</a:t>
            </a:r>
            <a:r>
              <a:rPr lang="en-US" sz="1200" kern="1200" baseline="0" dirty="0" smtClean="0">
                <a:solidFill>
                  <a:schemeClr val="tx1"/>
                </a:solidFill>
                <a:latin typeface="+mn-lt"/>
                <a:ea typeface="+mn-ea"/>
                <a:cs typeface="+mn-cs"/>
              </a:rPr>
              <a:t> of “concentration” with a “nitrogen” </a:t>
            </a:r>
            <a:r>
              <a:rPr lang="en-US" sz="1200" kern="1200" baseline="0" dirty="0" err="1" smtClean="0">
                <a:solidFill>
                  <a:schemeClr val="tx1"/>
                </a:solidFill>
                <a:latin typeface="+mn-lt"/>
                <a:ea typeface="+mn-ea"/>
                <a:cs typeface="+mn-cs"/>
              </a:rPr>
              <a:t>objectOfInterest</a:t>
            </a:r>
            <a:r>
              <a:rPr lang="en-US" sz="1200" kern="1200" baseline="0" dirty="0" smtClean="0">
                <a:solidFill>
                  <a:schemeClr val="tx1"/>
                </a:solidFill>
                <a:latin typeface="+mn-lt"/>
                <a:ea typeface="+mn-ea"/>
                <a:cs typeface="+mn-cs"/>
              </a:rPr>
              <a:t>.</a:t>
            </a:r>
            <a:endParaRPr lang="en-AU" dirty="0"/>
          </a:p>
        </p:txBody>
      </p:sp>
      <p:sp>
        <p:nvSpPr>
          <p:cNvPr id="4" name="Slide Number Placeholder 3"/>
          <p:cNvSpPr>
            <a:spLocks noGrp="1"/>
          </p:cNvSpPr>
          <p:nvPr>
            <p:ph type="sldNum" sz="quarter" idx="10"/>
          </p:nvPr>
        </p:nvSpPr>
        <p:spPr/>
        <p:txBody>
          <a:bodyPr/>
          <a:lstStyle/>
          <a:p>
            <a:pPr>
              <a:defRPr/>
            </a:pPr>
            <a:fld id="{348E5230-3F12-4A60-B83A-70DD9883D08A}" type="slidenum">
              <a:rPr lang="en-US" smtClean="0"/>
              <a:pPr>
                <a:defRPr/>
              </a:pPr>
              <a:t>15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Also links to </a:t>
            </a:r>
          </a:p>
          <a:p>
            <a:pPr>
              <a:buFontTx/>
              <a:buChar char="-"/>
            </a:pPr>
            <a:r>
              <a:rPr lang="en-AU" dirty="0" smtClean="0"/>
              <a:t>SWEET</a:t>
            </a:r>
          </a:p>
          <a:p>
            <a:pPr>
              <a:buFontTx/>
              <a:buChar char="-"/>
            </a:pPr>
            <a:r>
              <a:rPr lang="en-AU" dirty="0" err="1" smtClean="0"/>
              <a:t>DBPedia</a:t>
            </a:r>
            <a:endParaRPr lang="en-AU" dirty="0" smtClean="0"/>
          </a:p>
          <a:p>
            <a:pPr>
              <a:buFontTx/>
              <a:buChar char="-"/>
            </a:pPr>
            <a:r>
              <a:rPr lang="en-AU" dirty="0" smtClean="0"/>
              <a:t>QUDT units and quantity</a:t>
            </a:r>
            <a:r>
              <a:rPr lang="en-AU" baseline="0" dirty="0" smtClean="0"/>
              <a:t> instances</a:t>
            </a:r>
          </a:p>
          <a:p>
            <a:pPr>
              <a:buFontTx/>
              <a:buChar char="-"/>
            </a:pPr>
            <a:r>
              <a:rPr lang="en-AU" baseline="0" dirty="0" smtClean="0"/>
              <a:t>X-walk to NERC</a:t>
            </a:r>
          </a:p>
          <a:p>
            <a:pPr lvl="1">
              <a:buFontTx/>
              <a:buChar char="-"/>
            </a:pPr>
            <a:r>
              <a:rPr lang="en-AU" baseline="0" dirty="0" smtClean="0"/>
              <a:t>*match predicates</a:t>
            </a:r>
            <a:endParaRPr lang="en-AU" dirty="0"/>
          </a:p>
        </p:txBody>
      </p:sp>
      <p:sp>
        <p:nvSpPr>
          <p:cNvPr id="4" name="Slide Number Placeholder 3"/>
          <p:cNvSpPr>
            <a:spLocks noGrp="1"/>
          </p:cNvSpPr>
          <p:nvPr>
            <p:ph type="sldNum" sz="quarter" idx="10"/>
          </p:nvPr>
        </p:nvSpPr>
        <p:spPr/>
        <p:txBody>
          <a:bodyPr/>
          <a:lstStyle/>
          <a:p>
            <a:pPr>
              <a:defRPr/>
            </a:pPr>
            <a:fld id="{9B3AFCFB-5FBD-40BC-9128-C1A22C77A012}" type="slidenum">
              <a:rPr lang="en-AU" smtClean="0"/>
              <a:pPr>
                <a:defRPr/>
              </a:pPr>
              <a:t>16</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Most of the identified objects in our water quality vocabulary are chemical entities. It was therefore important to align these with chemistry definitions, which we took from the </a:t>
            </a:r>
            <a:r>
              <a:rPr lang="en-US" sz="1200" i="1" kern="1200" dirty="0" smtClean="0">
                <a:solidFill>
                  <a:schemeClr val="tx1"/>
                </a:solidFill>
                <a:latin typeface="+mn-lt"/>
                <a:ea typeface="+mn-ea"/>
                <a:cs typeface="+mn-cs"/>
              </a:rPr>
              <a:t>Chemistry Entities of Biological Interest </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ChEBI</a:t>
            </a:r>
            <a:r>
              <a:rPr lang="en-US" sz="1200" kern="1200" dirty="0" smtClean="0">
                <a:solidFill>
                  <a:schemeClr val="tx1"/>
                </a:solidFill>
                <a:latin typeface="+mn-lt"/>
                <a:ea typeface="+mn-ea"/>
                <a:cs typeface="+mn-cs"/>
              </a:rPr>
              <a:t>) ontology.</a:t>
            </a:r>
          </a:p>
          <a:p>
            <a:r>
              <a:rPr lang="en-US" sz="1200" kern="1200" dirty="0" smtClean="0">
                <a:solidFill>
                  <a:schemeClr val="tx1"/>
                </a:solidFill>
                <a:latin typeface="+mn-lt"/>
                <a:ea typeface="+mn-ea"/>
                <a:cs typeface="+mn-cs"/>
              </a:rPr>
              <a:t>This</a:t>
            </a:r>
            <a:r>
              <a:rPr lang="en-AU" sz="1200" kern="1200" dirty="0" smtClean="0">
                <a:solidFill>
                  <a:schemeClr val="tx1"/>
                </a:solidFill>
                <a:latin typeface="+mn-lt"/>
                <a:ea typeface="+mn-ea"/>
                <a:cs typeface="+mn-cs"/>
              </a:rPr>
              <a:t> provides access to definitions, synonyms, relationships and properties created as a result of considerable domain expertise input. </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However, the chemical entities and substances in </a:t>
            </a:r>
            <a:r>
              <a:rPr lang="en-US" sz="1200" kern="1200" dirty="0" err="1" smtClean="0">
                <a:solidFill>
                  <a:schemeClr val="tx1"/>
                </a:solidFill>
                <a:latin typeface="+mn-lt"/>
                <a:ea typeface="+mn-ea"/>
                <a:cs typeface="+mn-cs"/>
              </a:rPr>
              <a:t>ChEBI</a:t>
            </a:r>
            <a:r>
              <a:rPr lang="en-US" sz="1200" kern="1200" dirty="0" smtClean="0">
                <a:solidFill>
                  <a:schemeClr val="tx1"/>
                </a:solidFill>
                <a:latin typeface="+mn-lt"/>
                <a:ea typeface="+mn-ea"/>
                <a:cs typeface="+mn-cs"/>
              </a:rPr>
              <a:t> are defined as OWL Classes. </a:t>
            </a:r>
          </a:p>
          <a:p>
            <a:r>
              <a:rPr lang="en-US" sz="1200" kern="1200" dirty="0" smtClean="0">
                <a:solidFill>
                  <a:schemeClr val="tx1"/>
                </a:solidFill>
                <a:latin typeface="+mn-lt"/>
                <a:ea typeface="+mn-ea"/>
                <a:cs typeface="+mn-cs"/>
              </a:rPr>
              <a:t>This presents a challenge as our observable property model includes properties which are to apply at the level of instances or ‘individuals’, rather than classes. </a:t>
            </a:r>
          </a:p>
          <a:p>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There are two potential responses to this:</a:t>
            </a:r>
          </a:p>
          <a:p>
            <a:pPr lvl="0"/>
            <a:r>
              <a:rPr lang="en-AU" sz="1200" kern="1200" dirty="0" smtClean="0">
                <a:solidFill>
                  <a:schemeClr val="tx1"/>
                </a:solidFill>
                <a:latin typeface="+mn-lt"/>
                <a:ea typeface="+mn-ea"/>
                <a:cs typeface="+mn-cs"/>
              </a:rPr>
              <a:t>1. Mirror the relevant external ChEBI </a:t>
            </a:r>
            <a:r>
              <a:rPr lang="en-AU" sz="1200" kern="1200" dirty="0" err="1" smtClean="0">
                <a:solidFill>
                  <a:schemeClr val="tx1"/>
                </a:solidFill>
                <a:latin typeface="+mn-lt"/>
                <a:ea typeface="+mn-ea"/>
                <a:cs typeface="+mn-cs"/>
              </a:rPr>
              <a:t>owl:Classes</a:t>
            </a:r>
            <a:r>
              <a:rPr lang="en-AU" sz="1200" kern="1200" dirty="0" smtClean="0">
                <a:solidFill>
                  <a:schemeClr val="tx1"/>
                </a:solidFill>
                <a:latin typeface="+mn-lt"/>
                <a:ea typeface="+mn-ea"/>
                <a:cs typeface="+mn-cs"/>
              </a:rPr>
              <a:t> as </a:t>
            </a:r>
            <a:r>
              <a:rPr lang="en-AU" sz="1200" kern="1200" dirty="0" err="1" smtClean="0">
                <a:solidFill>
                  <a:schemeClr val="tx1"/>
                </a:solidFill>
                <a:latin typeface="+mn-lt"/>
                <a:ea typeface="+mn-ea"/>
                <a:cs typeface="+mn-cs"/>
              </a:rPr>
              <a:t>skos:Concepts</a:t>
            </a:r>
            <a:r>
              <a:rPr lang="en-AU" sz="1200" kern="1200" dirty="0" smtClean="0">
                <a:solidFill>
                  <a:schemeClr val="tx1"/>
                </a:solidFill>
                <a:latin typeface="+mn-lt"/>
                <a:ea typeface="+mn-ea"/>
                <a:cs typeface="+mn-cs"/>
              </a:rPr>
              <a:t> in a new namespace, convert required properties such as:</a:t>
            </a:r>
            <a:br>
              <a:rPr lang="en-AU" sz="1200" kern="1200" dirty="0" smtClean="0">
                <a:solidFill>
                  <a:schemeClr val="tx1"/>
                </a:solidFill>
                <a:latin typeface="+mn-lt"/>
                <a:ea typeface="+mn-ea"/>
                <a:cs typeface="+mn-cs"/>
              </a:rPr>
            </a:br>
            <a:r>
              <a:rPr lang="en-US" sz="1200" i="1" kern="1200" dirty="0" err="1" smtClean="0">
                <a:solidFill>
                  <a:schemeClr val="tx1"/>
                </a:solidFill>
                <a:latin typeface="+mn-lt"/>
                <a:ea typeface="+mn-ea"/>
                <a:cs typeface="+mn-cs"/>
              </a:rPr>
              <a:t>rdfs:subClassOf</a:t>
            </a:r>
            <a:r>
              <a:rPr lang="en-US" sz="1200" kern="1200" dirty="0" smtClean="0">
                <a:solidFill>
                  <a:schemeClr val="tx1"/>
                </a:solidFill>
                <a:latin typeface="+mn-lt"/>
                <a:ea typeface="+mn-ea"/>
                <a:cs typeface="+mn-cs"/>
              </a:rPr>
              <a:t> converted to </a:t>
            </a:r>
            <a:r>
              <a:rPr lang="en-US" sz="1200" i="1" kern="1200" dirty="0" err="1" smtClean="0">
                <a:solidFill>
                  <a:schemeClr val="tx1"/>
                </a:solidFill>
                <a:latin typeface="+mn-lt"/>
                <a:ea typeface="+mn-ea"/>
                <a:cs typeface="+mn-cs"/>
              </a:rPr>
              <a:t>skos:broader</a:t>
            </a:r>
            <a:r>
              <a:rPr lang="en-US"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lvl="0"/>
            <a:r>
              <a:rPr lang="en-US" sz="1200" i="1" kern="1200" dirty="0" smtClean="0">
                <a:solidFill>
                  <a:schemeClr val="tx1"/>
                </a:solidFill>
                <a:latin typeface="+mn-lt"/>
                <a:ea typeface="+mn-ea"/>
                <a:cs typeface="+mn-cs"/>
              </a:rPr>
              <a:t>obo2:Definition</a:t>
            </a:r>
            <a:r>
              <a:rPr lang="en-US" sz="1200" kern="1200" dirty="0" smtClean="0">
                <a:solidFill>
                  <a:schemeClr val="tx1"/>
                </a:solidFill>
                <a:latin typeface="+mn-lt"/>
                <a:ea typeface="+mn-ea"/>
                <a:cs typeface="+mn-cs"/>
              </a:rPr>
              <a:t> converted to </a:t>
            </a:r>
            <a:r>
              <a:rPr lang="en-US" sz="1200" i="1" kern="1200" dirty="0" err="1" smtClean="0">
                <a:solidFill>
                  <a:schemeClr val="tx1"/>
                </a:solidFill>
                <a:latin typeface="+mn-lt"/>
                <a:ea typeface="+mn-ea"/>
                <a:cs typeface="+mn-cs"/>
              </a:rPr>
              <a:t>skos:definition</a:t>
            </a:r>
            <a:r>
              <a:rPr lang="en-US"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lvl="0"/>
            <a:r>
              <a:rPr lang="en-US" sz="1200" i="1" kern="1200" dirty="0" err="1" smtClean="0">
                <a:solidFill>
                  <a:schemeClr val="tx1"/>
                </a:solidFill>
                <a:latin typeface="+mn-lt"/>
                <a:ea typeface="+mn-ea"/>
                <a:cs typeface="+mn-cs"/>
              </a:rPr>
              <a:t>rdfs:label</a:t>
            </a:r>
            <a:r>
              <a:rPr lang="en-US" sz="1200" kern="1200" dirty="0" smtClean="0">
                <a:solidFill>
                  <a:schemeClr val="tx1"/>
                </a:solidFill>
                <a:latin typeface="+mn-lt"/>
                <a:ea typeface="+mn-ea"/>
                <a:cs typeface="+mn-cs"/>
              </a:rPr>
              <a:t> converted to </a:t>
            </a:r>
            <a:r>
              <a:rPr lang="en-US" sz="1200" i="1" kern="1200" dirty="0" err="1" smtClean="0">
                <a:solidFill>
                  <a:schemeClr val="tx1"/>
                </a:solidFill>
                <a:latin typeface="+mn-lt"/>
                <a:ea typeface="+mn-ea"/>
                <a:cs typeface="+mn-cs"/>
              </a:rPr>
              <a:t>skos:prefLabel</a:t>
            </a:r>
            <a:r>
              <a:rPr lang="en-US"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pPr marL="228600" lvl="0" indent="-228600">
              <a:buNone/>
            </a:pPr>
            <a:endParaRPr lang="en-AU" sz="1200" kern="1200" dirty="0" smtClean="0">
              <a:solidFill>
                <a:schemeClr val="tx1"/>
              </a:solidFill>
              <a:latin typeface="+mn-lt"/>
              <a:ea typeface="+mn-ea"/>
              <a:cs typeface="+mn-cs"/>
            </a:endParaRPr>
          </a:p>
          <a:p>
            <a:pPr marL="228600" lvl="0" indent="-228600">
              <a:buNone/>
            </a:pPr>
            <a:r>
              <a:rPr lang="en-AU" sz="1200" kern="1200" dirty="0" smtClean="0">
                <a:solidFill>
                  <a:schemeClr val="tx1"/>
                </a:solidFill>
                <a:latin typeface="+mn-lt"/>
                <a:ea typeface="+mn-ea"/>
                <a:cs typeface="+mn-cs"/>
              </a:rPr>
              <a:t>use</a:t>
            </a:r>
            <a:r>
              <a:rPr lang="en-AU" sz="1200" kern="1200" baseline="0" dirty="0" smtClean="0">
                <a:solidFill>
                  <a:schemeClr val="tx1"/>
                </a:solidFill>
                <a:latin typeface="+mn-lt"/>
                <a:ea typeface="+mn-ea"/>
                <a:cs typeface="+mn-cs"/>
              </a:rPr>
              <a:t> </a:t>
            </a:r>
            <a:r>
              <a:rPr lang="en-AU" sz="1200" kern="1200" baseline="0" dirty="0" err="1" smtClean="0">
                <a:solidFill>
                  <a:schemeClr val="tx1"/>
                </a:solidFill>
                <a:latin typeface="+mn-lt"/>
                <a:ea typeface="+mn-ea"/>
                <a:cs typeface="+mn-cs"/>
              </a:rPr>
              <a:t>skos:exactMatch</a:t>
            </a:r>
            <a:r>
              <a:rPr lang="en-AU" sz="1200" kern="1200" baseline="0" dirty="0" smtClean="0">
                <a:solidFill>
                  <a:schemeClr val="tx1"/>
                </a:solidFill>
                <a:latin typeface="+mn-lt"/>
                <a:ea typeface="+mn-ea"/>
                <a:cs typeface="+mn-cs"/>
              </a:rPr>
              <a:t> to map between the ChEBI and Water Quality </a:t>
            </a:r>
            <a:r>
              <a:rPr lang="en-AU" sz="1200" kern="1200" baseline="0" dirty="0" err="1" smtClean="0">
                <a:solidFill>
                  <a:schemeClr val="tx1"/>
                </a:solidFill>
                <a:latin typeface="+mn-lt"/>
                <a:ea typeface="+mn-ea"/>
                <a:cs typeface="+mn-cs"/>
              </a:rPr>
              <a:t>skos:Concepts</a:t>
            </a:r>
            <a:endParaRPr lang="en-AU" sz="1200" kern="1200" dirty="0" smtClean="0">
              <a:solidFill>
                <a:schemeClr val="tx1"/>
              </a:solidFill>
              <a:latin typeface="+mn-lt"/>
              <a:ea typeface="+mn-ea"/>
              <a:cs typeface="+mn-cs"/>
            </a:endParaRPr>
          </a:p>
          <a:p>
            <a:r>
              <a:rPr lang="en-US" sz="1200" i="1" kern="1200" dirty="0" err="1" smtClean="0">
                <a:solidFill>
                  <a:schemeClr val="tx1"/>
                </a:solidFill>
                <a:latin typeface="+mn-lt"/>
                <a:ea typeface="+mn-ea"/>
                <a:cs typeface="+mn-cs"/>
              </a:rPr>
              <a:t>prov:hadPrimarySource</a:t>
            </a:r>
            <a:r>
              <a:rPr lang="en-US" sz="1200" i="1" kern="1200" dirty="0" smtClean="0">
                <a:solidFill>
                  <a:schemeClr val="tx1"/>
                </a:solidFill>
                <a:latin typeface="+mn-lt"/>
                <a:ea typeface="+mn-ea"/>
                <a:cs typeface="+mn-cs"/>
              </a:rPr>
              <a:t> </a:t>
            </a:r>
            <a:r>
              <a:rPr lang="en-US" sz="1200" i="0" kern="1200" dirty="0" smtClean="0">
                <a:solidFill>
                  <a:schemeClr val="tx1"/>
                </a:solidFill>
                <a:latin typeface="+mn-lt"/>
                <a:ea typeface="+mn-ea"/>
                <a:cs typeface="+mn-cs"/>
              </a:rPr>
              <a:t>was</a:t>
            </a:r>
            <a:r>
              <a:rPr lang="en-US" sz="1200" i="1" kern="1200" dirty="0" smtClean="0">
                <a:solidFill>
                  <a:schemeClr val="tx1"/>
                </a:solidFill>
                <a:latin typeface="+mn-lt"/>
                <a:ea typeface="+mn-ea"/>
                <a:cs typeface="+mn-cs"/>
              </a:rPr>
              <a:t> </a:t>
            </a:r>
            <a:r>
              <a:rPr lang="en-US" sz="1200" kern="1200" dirty="0" smtClean="0">
                <a:solidFill>
                  <a:schemeClr val="tx1"/>
                </a:solidFill>
                <a:latin typeface="+mn-lt"/>
                <a:ea typeface="+mn-ea"/>
                <a:cs typeface="+mn-cs"/>
              </a:rPr>
              <a:t>added to provide a reference to the URI of the original </a:t>
            </a:r>
            <a:r>
              <a:rPr lang="en-US" sz="1200" kern="1200" dirty="0" err="1" smtClean="0">
                <a:solidFill>
                  <a:schemeClr val="tx1"/>
                </a:solidFill>
                <a:latin typeface="+mn-lt"/>
                <a:ea typeface="+mn-ea"/>
                <a:cs typeface="+mn-cs"/>
              </a:rPr>
              <a:t>ChEBI</a:t>
            </a:r>
            <a:r>
              <a:rPr lang="en-US" sz="1200" kern="1200" dirty="0" smtClean="0">
                <a:solidFill>
                  <a:schemeClr val="tx1"/>
                </a:solidFill>
                <a:latin typeface="+mn-lt"/>
                <a:ea typeface="+mn-ea"/>
                <a:cs typeface="+mn-cs"/>
              </a:rPr>
              <a:t> </a:t>
            </a:r>
            <a:r>
              <a:rPr lang="en-US" sz="1200" i="1" kern="1200" dirty="0" err="1" smtClean="0">
                <a:solidFill>
                  <a:schemeClr val="tx1"/>
                </a:solidFill>
                <a:latin typeface="+mn-lt"/>
                <a:ea typeface="+mn-ea"/>
                <a:cs typeface="+mn-cs"/>
              </a:rPr>
              <a:t>owl:Class</a:t>
            </a:r>
            <a:r>
              <a:rPr lang="en-US" sz="1200" kern="1200" dirty="0" smtClean="0">
                <a:solidFill>
                  <a:schemeClr val="tx1"/>
                </a:solidFill>
                <a:latin typeface="+mn-lt"/>
                <a:ea typeface="+mn-ea"/>
                <a:cs typeface="+mn-cs"/>
              </a:rPr>
              <a:t>.</a:t>
            </a:r>
            <a:endParaRPr lang="en-US" sz="1200" i="1"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2. The alternative approach we probably should have taken was to accept the use of SKOS relations between instances and classes, and rely on the ‘punning’ capability of OWL2-DL </a:t>
            </a:r>
          </a:p>
          <a:p>
            <a:endParaRPr lang="en-AU" sz="1200" kern="1200" dirty="0" smtClean="0">
              <a:solidFill>
                <a:schemeClr val="tx1"/>
              </a:solidFill>
              <a:latin typeface="+mn-lt"/>
              <a:ea typeface="+mn-ea"/>
              <a:cs typeface="+mn-cs"/>
            </a:endParaRPr>
          </a:p>
          <a:p>
            <a:pPr marL="0" marR="0" indent="0" algn="l" defTabSz="457200" rtl="0" eaLnBrk="0" fontAlgn="base" latinLnBrk="0" hangingPunct="0">
              <a:lnSpc>
                <a:spcPct val="100000"/>
              </a:lnSpc>
              <a:spcBef>
                <a:spcPct val="30000"/>
              </a:spcBef>
              <a:spcAft>
                <a:spcPct val="0"/>
              </a:spcAft>
              <a:buClrTx/>
              <a:buSzTx/>
              <a:buFontTx/>
              <a:buNone/>
              <a:tabLst/>
              <a:defRPr/>
            </a:pPr>
            <a:r>
              <a:rPr lang="en-AU" sz="1200" kern="1200" dirty="0" smtClean="0">
                <a:solidFill>
                  <a:schemeClr val="tx1"/>
                </a:solidFill>
                <a:latin typeface="+mn-lt"/>
                <a:ea typeface="+mn-ea"/>
                <a:cs typeface="+mn-cs"/>
              </a:rPr>
              <a:t>Linking to the ontology, rather than replicating it, ensures that governance and currency concerns are addressed.</a:t>
            </a:r>
          </a:p>
        </p:txBody>
      </p:sp>
      <p:sp>
        <p:nvSpPr>
          <p:cNvPr id="4" name="Slide Number Placeholder 3"/>
          <p:cNvSpPr>
            <a:spLocks noGrp="1"/>
          </p:cNvSpPr>
          <p:nvPr>
            <p:ph type="sldNum" sz="quarter" idx="10"/>
          </p:nvPr>
        </p:nvSpPr>
        <p:spPr/>
        <p:txBody>
          <a:bodyPr/>
          <a:lstStyle/>
          <a:p>
            <a:pPr>
              <a:defRPr/>
            </a:pPr>
            <a:fld id="{348E5230-3F12-4A60-B83A-70DD9883D08A}" type="slidenum">
              <a:rPr lang="en-US" smtClean="0"/>
              <a:pPr>
                <a:defRPr/>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5069" name="Title Placeholder 1"/>
          <p:cNvSpPr>
            <a:spLocks noGrp="1"/>
          </p:cNvSpPr>
          <p:nvPr>
            <p:ph type="ctrTitle"/>
          </p:nvPr>
        </p:nvSpPr>
        <p:spPr>
          <a:xfrm>
            <a:off x="358775" y="3105150"/>
            <a:ext cx="8461375" cy="1096963"/>
          </a:xfrm>
        </p:spPr>
        <p:txBody>
          <a:bodyPr anchor="b"/>
          <a:lstStyle>
            <a:lvl1pPr>
              <a:defRPr sz="4400" smtClean="0">
                <a:solidFill>
                  <a:schemeClr val="bg1"/>
                </a:solidFill>
              </a:defRPr>
            </a:lvl1pPr>
          </a:lstStyle>
          <a:p>
            <a:r>
              <a:rPr lang="en-US" smtClean="0"/>
              <a:t>Click to edit Master title style</a:t>
            </a:r>
            <a:endParaRPr lang="en-AU" smtClean="0"/>
          </a:p>
        </p:txBody>
      </p:sp>
      <p:sp>
        <p:nvSpPr>
          <p:cNvPr id="45070" name="Text Placeholder 2"/>
          <p:cNvSpPr>
            <a:spLocks noGrp="1"/>
          </p:cNvSpPr>
          <p:nvPr>
            <p:ph type="subTitle" idx="1"/>
          </p:nvPr>
        </p:nvSpPr>
        <p:spPr>
          <a:xfrm>
            <a:off x="358775" y="4257675"/>
            <a:ext cx="8461375" cy="396875"/>
          </a:xfrm>
        </p:spPr>
        <p:txBody>
          <a:bodyPr/>
          <a:lstStyle>
            <a:lvl1pPr marL="0" indent="0">
              <a:buFont typeface="Arial" charset="0"/>
              <a:buNone/>
              <a:defRPr sz="2200" b="1" smtClean="0">
                <a:solidFill>
                  <a:schemeClr val="bg1"/>
                </a:solidFill>
              </a:defRPr>
            </a:lvl1pPr>
          </a:lstStyle>
          <a:p>
            <a:r>
              <a:rPr lang="en-US" smtClean="0"/>
              <a:t>Click to edit Master subtitle style</a:t>
            </a:r>
            <a:endParaRPr lang="en-AU" smtClean="0"/>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45102" name="Group 25"/>
          <p:cNvGrpSpPr>
            <a:grpSpLocks/>
          </p:cNvGrpSpPr>
          <p:nvPr/>
        </p:nvGrpSpPr>
        <p:grpSpPr bwMode="auto">
          <a:xfrm>
            <a:off x="1588" y="5500688"/>
            <a:ext cx="9170987" cy="1357312"/>
            <a:chOff x="1497" y="5500319"/>
            <a:chExt cx="9170984" cy="1357681"/>
          </a:xfrm>
        </p:grpSpPr>
        <p:sp>
          <p:nvSpPr>
            <p:cNvPr id="20" name="Rectangle 19"/>
            <p:cNvSpPr/>
            <p:nvPr/>
          </p:nvSpPr>
          <p:spPr>
            <a:xfrm>
              <a:off x="1497" y="5940176"/>
              <a:ext cx="9158284" cy="91782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AU"/>
            </a:p>
          </p:txBody>
        </p:sp>
        <p:sp>
          <p:nvSpPr>
            <p:cNvPr id="21" name="Freeform 7"/>
            <p:cNvSpPr>
              <a:spLocks noEditPoints="1"/>
            </p:cNvSpPr>
            <p:nvPr/>
          </p:nvSpPr>
          <p:spPr bwMode="auto">
            <a:xfrm>
              <a:off x="1497" y="5563836"/>
              <a:ext cx="9170984" cy="932115"/>
            </a:xfrm>
            <a:custGeom>
              <a:avLst/>
              <a:gdLst/>
              <a:ahLst/>
              <a:cxnLst>
                <a:cxn ang="0">
                  <a:pos x="2313" y="117"/>
                </a:cxn>
                <a:cxn ang="0">
                  <a:pos x="0" y="117"/>
                </a:cxn>
                <a:cxn ang="0">
                  <a:pos x="0" y="137"/>
                </a:cxn>
                <a:cxn ang="0">
                  <a:pos x="2030" y="137"/>
                </a:cxn>
                <a:cxn ang="0">
                  <a:pos x="2313" y="117"/>
                </a:cxn>
                <a:cxn ang="0">
                  <a:pos x="2880" y="0"/>
                </a:cxn>
                <a:cxn ang="0">
                  <a:pos x="2880" y="0"/>
                </a:cxn>
                <a:cxn ang="0">
                  <a:pos x="2880" y="117"/>
                </a:cxn>
                <a:cxn ang="0">
                  <a:pos x="2313" y="117"/>
                </a:cxn>
                <a:cxn ang="0">
                  <a:pos x="2784" y="293"/>
                </a:cxn>
                <a:cxn ang="0">
                  <a:pos x="2880" y="293"/>
                </a:cxn>
                <a:cxn ang="0">
                  <a:pos x="2880" y="0"/>
                </a:cxn>
              </a:cxnLst>
              <a:rect l="0" t="0" r="r" b="b"/>
              <a:pathLst>
                <a:path w="2880" h="293">
                  <a:moveTo>
                    <a:pt x="2313" y="117"/>
                  </a:moveTo>
                  <a:cubicBezTo>
                    <a:pt x="0" y="117"/>
                    <a:pt x="0" y="117"/>
                    <a:pt x="0" y="117"/>
                  </a:cubicBezTo>
                  <a:cubicBezTo>
                    <a:pt x="0" y="137"/>
                    <a:pt x="0" y="137"/>
                    <a:pt x="0" y="137"/>
                  </a:cubicBezTo>
                  <a:cubicBezTo>
                    <a:pt x="2030" y="137"/>
                    <a:pt x="2030" y="137"/>
                    <a:pt x="2030" y="137"/>
                  </a:cubicBezTo>
                  <a:cubicBezTo>
                    <a:pt x="2214" y="137"/>
                    <a:pt x="2274" y="132"/>
                    <a:pt x="2313" y="117"/>
                  </a:cubicBezTo>
                  <a:moveTo>
                    <a:pt x="2880" y="0"/>
                  </a:moveTo>
                  <a:cubicBezTo>
                    <a:pt x="2880" y="0"/>
                    <a:pt x="2880" y="0"/>
                    <a:pt x="2880" y="0"/>
                  </a:cubicBezTo>
                  <a:cubicBezTo>
                    <a:pt x="2880" y="117"/>
                    <a:pt x="2880" y="117"/>
                    <a:pt x="2880" y="117"/>
                  </a:cubicBezTo>
                  <a:cubicBezTo>
                    <a:pt x="2313" y="117"/>
                    <a:pt x="2313" y="117"/>
                    <a:pt x="2313" y="117"/>
                  </a:cubicBezTo>
                  <a:cubicBezTo>
                    <a:pt x="2411" y="197"/>
                    <a:pt x="2542" y="293"/>
                    <a:pt x="2784" y="293"/>
                  </a:cubicBezTo>
                  <a:cubicBezTo>
                    <a:pt x="2842" y="293"/>
                    <a:pt x="2880" y="293"/>
                    <a:pt x="2880" y="293"/>
                  </a:cubicBezTo>
                  <a:cubicBezTo>
                    <a:pt x="2880" y="0"/>
                    <a:pt x="2880" y="0"/>
                    <a:pt x="2880" y="0"/>
                  </a:cubicBezTo>
                </a:path>
              </a:pathLst>
            </a:custGeom>
            <a:solidFill>
              <a:srgbClr val="BFBFBF"/>
            </a:solidFill>
            <a:ln w="9525">
              <a:noFill/>
              <a:round/>
              <a:headEnd/>
              <a:tailEnd/>
            </a:ln>
          </p:spPr>
          <p:txBody>
            <a:bodyPr/>
            <a:lstStyle/>
            <a:p>
              <a:pPr defTabSz="457200">
                <a:defRPr/>
              </a:pPr>
              <a:endParaRPr lang="en-AU"/>
            </a:p>
          </p:txBody>
        </p:sp>
        <p:sp>
          <p:nvSpPr>
            <p:cNvPr id="22" name="Freeform 8"/>
            <p:cNvSpPr>
              <a:spLocks noEditPoints="1"/>
            </p:cNvSpPr>
            <p:nvPr/>
          </p:nvSpPr>
          <p:spPr bwMode="auto">
            <a:xfrm>
              <a:off x="1497" y="5500319"/>
              <a:ext cx="9170984" cy="435093"/>
            </a:xfrm>
            <a:custGeom>
              <a:avLst/>
              <a:gdLst/>
              <a:ahLst/>
              <a:cxnLst>
                <a:cxn ang="0">
                  <a:pos x="2880" y="20"/>
                </a:cxn>
                <a:cxn ang="0">
                  <a:pos x="2789" y="20"/>
                </a:cxn>
                <a:cxn ang="0">
                  <a:pos x="2313" y="137"/>
                </a:cxn>
                <a:cxn ang="0">
                  <a:pos x="2313" y="137"/>
                </a:cxn>
                <a:cxn ang="0">
                  <a:pos x="2880" y="137"/>
                </a:cxn>
                <a:cxn ang="0">
                  <a:pos x="2880" y="20"/>
                </a:cxn>
                <a:cxn ang="0">
                  <a:pos x="1860" y="0"/>
                </a:cxn>
                <a:cxn ang="0">
                  <a:pos x="0" y="0"/>
                </a:cxn>
                <a:cxn ang="0">
                  <a:pos x="0" y="137"/>
                </a:cxn>
                <a:cxn ang="0">
                  <a:pos x="2313" y="137"/>
                </a:cxn>
                <a:cxn ang="0">
                  <a:pos x="2313" y="137"/>
                </a:cxn>
                <a:cxn ang="0">
                  <a:pos x="2313" y="137"/>
                </a:cxn>
                <a:cxn ang="0">
                  <a:pos x="2313" y="137"/>
                </a:cxn>
                <a:cxn ang="0">
                  <a:pos x="1860" y="0"/>
                </a:cxn>
              </a:cxnLst>
              <a:rect l="0" t="0" r="r" b="b"/>
              <a:pathLst>
                <a:path w="2880" h="137">
                  <a:moveTo>
                    <a:pt x="2880" y="20"/>
                  </a:moveTo>
                  <a:cubicBezTo>
                    <a:pt x="2789" y="20"/>
                    <a:pt x="2789" y="20"/>
                    <a:pt x="2789" y="20"/>
                  </a:cubicBezTo>
                  <a:cubicBezTo>
                    <a:pt x="2500" y="20"/>
                    <a:pt x="2393" y="107"/>
                    <a:pt x="2313" y="137"/>
                  </a:cubicBezTo>
                  <a:cubicBezTo>
                    <a:pt x="2313" y="137"/>
                    <a:pt x="2313" y="137"/>
                    <a:pt x="2313" y="137"/>
                  </a:cubicBezTo>
                  <a:cubicBezTo>
                    <a:pt x="2880" y="137"/>
                    <a:pt x="2880" y="137"/>
                    <a:pt x="2880" y="137"/>
                  </a:cubicBezTo>
                  <a:cubicBezTo>
                    <a:pt x="2880" y="20"/>
                    <a:pt x="2880" y="20"/>
                    <a:pt x="2880" y="20"/>
                  </a:cubicBezTo>
                  <a:moveTo>
                    <a:pt x="1860" y="0"/>
                  </a:moveTo>
                  <a:cubicBezTo>
                    <a:pt x="0" y="0"/>
                    <a:pt x="0" y="0"/>
                    <a:pt x="0" y="0"/>
                  </a:cubicBezTo>
                  <a:cubicBezTo>
                    <a:pt x="0" y="137"/>
                    <a:pt x="0" y="137"/>
                    <a:pt x="0" y="137"/>
                  </a:cubicBezTo>
                  <a:cubicBezTo>
                    <a:pt x="2313" y="137"/>
                    <a:pt x="2313" y="137"/>
                    <a:pt x="2313" y="137"/>
                  </a:cubicBezTo>
                  <a:cubicBezTo>
                    <a:pt x="2313" y="137"/>
                    <a:pt x="2313" y="137"/>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w="9525">
              <a:noFill/>
              <a:round/>
              <a:headEnd/>
              <a:tailEnd/>
            </a:ln>
          </p:spPr>
          <p:txBody>
            <a:bodyPr/>
            <a:lstStyle/>
            <a:p>
              <a:pPr defTabSz="457200">
                <a:defRPr/>
              </a:pPr>
              <a:endParaRPr lang="en-AU"/>
            </a:p>
          </p:txBody>
        </p:sp>
        <p:sp>
          <p:nvSpPr>
            <p:cNvPr id="23" name="Freeform 9"/>
            <p:cNvSpPr>
              <a:spLocks/>
            </p:cNvSpPr>
            <p:nvPr/>
          </p:nvSpPr>
          <p:spPr bwMode="auto">
            <a:xfrm>
              <a:off x="1497" y="5563836"/>
              <a:ext cx="7365998" cy="431917"/>
            </a:xfrm>
            <a:custGeom>
              <a:avLst/>
              <a:gdLst/>
              <a:ahLst/>
              <a:cxnLst>
                <a:cxn ang="0">
                  <a:pos x="2313" y="117"/>
                </a:cxn>
                <a:cxn ang="0">
                  <a:pos x="1860" y="0"/>
                </a:cxn>
                <a:cxn ang="0">
                  <a:pos x="0" y="0"/>
                </a:cxn>
                <a:cxn ang="0">
                  <a:pos x="0" y="136"/>
                </a:cxn>
                <a:cxn ang="0">
                  <a:pos x="2030" y="136"/>
                </a:cxn>
                <a:cxn ang="0">
                  <a:pos x="2313" y="117"/>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w="9525">
              <a:noFill/>
              <a:round/>
              <a:headEnd/>
              <a:tailEnd/>
            </a:ln>
          </p:spPr>
          <p:txBody>
            <a:bodyPr/>
            <a:lstStyle/>
            <a:p>
              <a:pPr defTabSz="457200">
                <a:defRPr/>
              </a:pPr>
              <a:endParaRPr lang="en-AU"/>
            </a:p>
          </p:txBody>
        </p:sp>
        <p:sp>
          <p:nvSpPr>
            <p:cNvPr id="24" name="Freeform 10"/>
            <p:cNvSpPr>
              <a:spLocks/>
            </p:cNvSpPr>
            <p:nvPr/>
          </p:nvSpPr>
          <p:spPr bwMode="auto">
            <a:xfrm>
              <a:off x="7367495" y="5563836"/>
              <a:ext cx="1804986" cy="868598"/>
            </a:xfrm>
            <a:custGeom>
              <a:avLst/>
              <a:gdLst/>
              <a:ahLst/>
              <a:cxnLst>
                <a:cxn ang="0">
                  <a:pos x="476" y="0"/>
                </a:cxn>
                <a:cxn ang="0">
                  <a:pos x="0" y="117"/>
                </a:cxn>
                <a:cxn ang="0">
                  <a:pos x="471" y="273"/>
                </a:cxn>
                <a:cxn ang="0">
                  <a:pos x="567" y="273"/>
                </a:cxn>
                <a:cxn ang="0">
                  <a:pos x="567" y="0"/>
                </a:cxn>
                <a:cxn ang="0">
                  <a:pos x="476" y="0"/>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w="9525">
              <a:noFill/>
              <a:round/>
              <a:headEnd/>
              <a:tailEnd/>
            </a:ln>
          </p:spPr>
          <p:txBody>
            <a:bodyPr/>
            <a:lstStyle/>
            <a:p>
              <a:pPr defTabSz="457200">
                <a:defRPr/>
              </a:pPr>
              <a:endParaRPr lang="en-AU"/>
            </a:p>
          </p:txBody>
        </p:sp>
        <p:pic>
          <p:nvPicPr>
            <p:cNvPr id="45108"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6" name="Group 19"/>
            <p:cNvGrpSpPr/>
            <p:nvPr/>
          </p:nvGrpSpPr>
          <p:grpSpPr>
            <a:xfrm>
              <a:off x="360000" y="5807505"/>
              <a:ext cx="814388" cy="95250"/>
              <a:chOff x="3495675" y="5969000"/>
              <a:chExt cx="814388" cy="95250"/>
            </a:xfrm>
            <a:solidFill>
              <a:schemeClr val="accent1"/>
            </a:solidFill>
          </p:grpSpPr>
          <p:sp>
            <p:nvSpPr>
              <p:cNvPr id="2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3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3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3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3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2"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3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3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Footer Placeholder 4"/>
          <p:cNvSpPr>
            <a:spLocks noGrp="1"/>
          </p:cNvSpPr>
          <p:nvPr>
            <p:ph type="ftr" sz="quarter" idx="10"/>
          </p:nvPr>
        </p:nvSpPr>
        <p:spPr/>
        <p:txBody>
          <a:bodyPr/>
          <a:lstStyle>
            <a:lvl1pPr>
              <a:defRPr/>
            </a:lvl1pPr>
          </a:lstStyle>
          <a:p>
            <a:r>
              <a:rPr lang="en-AU" smtClean="0"/>
              <a:t>Cox, Simons, Yu | Observable property ontology</a:t>
            </a:r>
            <a:endParaRPr lang="en-AU" dirty="0"/>
          </a:p>
        </p:txBody>
      </p:sp>
      <p:sp>
        <p:nvSpPr>
          <p:cNvPr id="5" name="Slide Number Placeholder 17"/>
          <p:cNvSpPr>
            <a:spLocks noGrp="1"/>
          </p:cNvSpPr>
          <p:nvPr>
            <p:ph type="sldNum" sz="quarter" idx="11"/>
          </p:nvPr>
        </p:nvSpPr>
        <p:spPr/>
        <p:txBody>
          <a:bodyPr/>
          <a:lstStyle>
            <a:lvl1pPr>
              <a:defRPr/>
            </a:lvl1pPr>
          </a:lstStyle>
          <a:p>
            <a:pPr>
              <a:defRPr/>
            </a:pPr>
            <a:fld id="{A111B642-03BA-413E-9BF3-A9DB15D631A2}"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AU" dirty="0"/>
          </a:p>
        </p:txBody>
      </p:sp>
      <p:sp>
        <p:nvSpPr>
          <p:cNvPr id="3" name="Content Placeholder 2"/>
          <p:cNvSpPr>
            <a:spLocks noGrp="1"/>
          </p:cNvSpPr>
          <p:nvPr>
            <p:ph idx="1"/>
          </p:nvPr>
        </p:nvSpPr>
        <p:spPr/>
        <p:txBody>
          <a:bodyPr numCol="2" spcCol="360000"/>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17"/>
          <p:cNvSpPr>
            <a:spLocks noGrp="1"/>
          </p:cNvSpPr>
          <p:nvPr>
            <p:ph type="sldNum" sz="quarter" idx="11"/>
          </p:nvPr>
        </p:nvSpPr>
        <p:spPr/>
        <p:txBody>
          <a:bodyPr/>
          <a:lstStyle>
            <a:lvl1pPr>
              <a:defRPr/>
            </a:lvl1pPr>
          </a:lstStyle>
          <a:p>
            <a:pPr>
              <a:defRPr/>
            </a:pPr>
            <a:fld id="{C1B567E1-F98A-4884-8788-C7EA2286B307}"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6" name="Text Placeholder 7"/>
          <p:cNvSpPr>
            <a:spLocks noGrp="1"/>
          </p:cNvSpPr>
          <p:nvPr>
            <p:ph type="body" sz="quarter" idx="13"/>
          </p:nvPr>
        </p:nvSpPr>
        <p:spPr>
          <a:xfrm>
            <a:off x="360363" y="270000"/>
            <a:ext cx="8460000" cy="853200"/>
          </a:xfrm>
        </p:spPr>
        <p:txBody>
          <a:bodyPr>
            <a:normAutofit/>
          </a:bodyPr>
          <a:lstStyle>
            <a:lvl1pPr marL="0" indent="0">
              <a:lnSpc>
                <a:spcPct val="100000"/>
              </a:lnSpc>
              <a:spcBef>
                <a:spcPts val="0"/>
              </a:spcBef>
              <a:spcAft>
                <a:spcPts val="300"/>
              </a:spcAft>
              <a:buNone/>
              <a:defRPr sz="3200" b="1">
                <a:solidFill>
                  <a:schemeClr val="accent2"/>
                </a:solidFill>
              </a:defRPr>
            </a:lvl1pPr>
            <a:lvl2pPr marL="0" indent="0">
              <a:lnSpc>
                <a:spcPct val="80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4" name="Footer Placeholder 4"/>
          <p:cNvSpPr>
            <a:spLocks noGrp="1"/>
          </p:cNvSpPr>
          <p:nvPr>
            <p:ph type="ftr" sz="quarter" idx="14"/>
          </p:nvPr>
        </p:nvSpPr>
        <p:spPr/>
        <p:txBody>
          <a:bodyPr/>
          <a:lstStyle>
            <a:lvl1pPr>
              <a:defRPr/>
            </a:lvl1pPr>
          </a:lstStyle>
          <a:p>
            <a:r>
              <a:rPr lang="en-AU" smtClean="0"/>
              <a:t>Cox, Simons, Yu | Observable property ontology</a:t>
            </a:r>
            <a:endParaRPr lang="en-AU"/>
          </a:p>
        </p:txBody>
      </p:sp>
      <p:sp>
        <p:nvSpPr>
          <p:cNvPr id="5" name="Slide Number Placeholder 17"/>
          <p:cNvSpPr>
            <a:spLocks noGrp="1"/>
          </p:cNvSpPr>
          <p:nvPr>
            <p:ph type="sldNum" sz="quarter" idx="15"/>
          </p:nvPr>
        </p:nvSpPr>
        <p:spPr/>
        <p:txBody>
          <a:bodyPr/>
          <a:lstStyle>
            <a:lvl1pPr>
              <a:defRPr/>
            </a:lvl1pPr>
          </a:lstStyle>
          <a:p>
            <a:pPr>
              <a:defRPr/>
            </a:pPr>
            <a:fld id="{D844F3ED-1BEA-45E1-BB5A-D5272E67B4CE}"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038600" cy="4525963"/>
          </a:xfrm>
        </p:spPr>
        <p:txBody>
          <a:bodyPr/>
          <a:lstStyle>
            <a:lvl1pPr>
              <a:defRPr sz="2400"/>
            </a:lvl1pPr>
            <a:lvl2pPr>
              <a:defRPr sz="2000"/>
            </a:lvl2pPr>
            <a:lvl3pPr>
              <a:defRPr sz="2000"/>
            </a:lvl3pPr>
            <a:lvl4pPr>
              <a:defRPr sz="20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Content Placeholder 3"/>
          <p:cNvSpPr>
            <a:spLocks noGrp="1"/>
          </p:cNvSpPr>
          <p:nvPr>
            <p:ph sz="half" idx="2"/>
          </p:nvPr>
        </p:nvSpPr>
        <p:spPr>
          <a:xfrm>
            <a:off x="4781550" y="1268413"/>
            <a:ext cx="4038600" cy="4525963"/>
          </a:xfrm>
        </p:spPr>
        <p:txBody>
          <a:bodyPr/>
          <a:lstStyle>
            <a:lvl1pPr>
              <a:defRPr sz="2400"/>
            </a:lvl1pPr>
            <a:lvl2pPr>
              <a:defRPr sz="2000"/>
            </a:lvl2pPr>
            <a:lvl3pPr>
              <a:defRPr sz="2000"/>
            </a:lvl3pPr>
            <a:lvl4pPr>
              <a:defRPr sz="20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17"/>
          <p:cNvSpPr>
            <a:spLocks noGrp="1"/>
          </p:cNvSpPr>
          <p:nvPr>
            <p:ph type="sldNum" sz="quarter" idx="11"/>
          </p:nvPr>
        </p:nvSpPr>
        <p:spPr/>
        <p:txBody>
          <a:bodyPr/>
          <a:lstStyle>
            <a:lvl1pPr>
              <a:defRPr/>
            </a:lvl1pPr>
          </a:lstStyle>
          <a:p>
            <a:pPr>
              <a:defRPr/>
            </a:pPr>
            <a:fld id="{EFDC2610-573F-409D-8EEB-77423E5DF58A}"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4" name="Slide Number Placeholder 17"/>
          <p:cNvSpPr>
            <a:spLocks noGrp="1"/>
          </p:cNvSpPr>
          <p:nvPr>
            <p:ph type="sldNum" sz="quarter" idx="11"/>
          </p:nvPr>
        </p:nvSpPr>
        <p:spPr/>
        <p:txBody>
          <a:bodyPr/>
          <a:lstStyle>
            <a:lvl1pPr>
              <a:defRPr/>
            </a:lvl1pPr>
          </a:lstStyle>
          <a:p>
            <a:pPr>
              <a:defRPr/>
            </a:pPr>
            <a:fld id="{5D797139-D64F-4654-960D-B46F379C7236}"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3" name="Slide Number Placeholder 17"/>
          <p:cNvSpPr>
            <a:spLocks noGrp="1"/>
          </p:cNvSpPr>
          <p:nvPr>
            <p:ph type="sldNum" sz="quarter" idx="11"/>
          </p:nvPr>
        </p:nvSpPr>
        <p:spPr/>
        <p:txBody>
          <a:bodyPr/>
          <a:lstStyle>
            <a:lvl1pPr>
              <a:defRPr/>
            </a:lvl1pPr>
          </a:lstStyle>
          <a:p>
            <a:pPr>
              <a:defRPr/>
            </a:pPr>
            <a:fld id="{AAE0F9EA-6C01-410C-8E9C-954AFAADFC7A}"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5" name="Content Placeholder 2"/>
          <p:cNvSpPr>
            <a:spLocks noGrp="1"/>
          </p:cNvSpPr>
          <p:nvPr>
            <p:ph idx="1"/>
          </p:nvPr>
        </p:nvSpPr>
        <p:spPr>
          <a:xfrm>
            <a:off x="360000" y="1276350"/>
            <a:ext cx="8460000" cy="4559300"/>
          </a:xfrm>
        </p:spPr>
        <p:txBody>
          <a:bodyPr/>
          <a:lstStyle>
            <a:lvl1pPr>
              <a:lnSpc>
                <a:spcPct val="85000"/>
              </a:lnSpc>
              <a:spcAft>
                <a:spcPts val="0"/>
              </a:spcAft>
              <a:buFontTx/>
              <a:buNone/>
              <a:defRPr sz="4000" b="1">
                <a:solidFill>
                  <a:schemeClr val="accent1">
                    <a:lumMod val="75000"/>
                  </a:schemeClr>
                </a:solidFill>
              </a:defRPr>
            </a:lvl1pPr>
            <a:lvl2pPr marL="0" indent="0">
              <a:lnSpc>
                <a:spcPct val="85000"/>
              </a:lnSpc>
              <a:spcAft>
                <a:spcPts val="0"/>
              </a:spcAft>
              <a:buNone/>
              <a:defRPr sz="4000" b="1">
                <a:solidFill>
                  <a:schemeClr val="accent2"/>
                </a:solidFill>
              </a:defRPr>
            </a:lvl2pPr>
            <a:lvl3pPr marL="0" indent="0">
              <a:spcBef>
                <a:spcPts val="2200"/>
              </a:spcBef>
              <a:buNone/>
              <a:defRPr b="1">
                <a:solidFill>
                  <a:srgbClr val="00313C"/>
                </a:solidFill>
              </a:defRPr>
            </a:lvl3pPr>
          </a:lstStyle>
          <a:p>
            <a:pPr lvl="0"/>
            <a:r>
              <a:rPr lang="en-US" smtClean="0"/>
              <a:t>Click to edit Master text styles</a:t>
            </a:r>
          </a:p>
          <a:p>
            <a:pPr lvl="1"/>
            <a:r>
              <a:rPr lang="en-US" smtClean="0"/>
              <a:t>Second level</a:t>
            </a:r>
          </a:p>
          <a:p>
            <a:pPr lvl="2"/>
            <a:r>
              <a:rPr lang="en-US" smtClean="0"/>
              <a:t>Third level</a:t>
            </a:r>
          </a:p>
        </p:txBody>
      </p:sp>
      <p:sp>
        <p:nvSpPr>
          <p:cNvPr id="4"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17"/>
          <p:cNvSpPr>
            <a:spLocks noGrp="1"/>
          </p:cNvSpPr>
          <p:nvPr>
            <p:ph type="sldNum" sz="quarter" idx="11"/>
          </p:nvPr>
        </p:nvSpPr>
        <p:spPr/>
        <p:txBody>
          <a:bodyPr/>
          <a:lstStyle>
            <a:lvl1pPr>
              <a:defRPr/>
            </a:lvl1pPr>
          </a:lstStyle>
          <a:p>
            <a:pPr>
              <a:defRPr/>
            </a:pPr>
            <a:fld id="{76C9712D-9D14-4D50-993A-9DF224AD27BF}" type="slidenum">
              <a:rPr lang="en-AU"/>
              <a:pPr>
                <a:defRPr/>
              </a:pPr>
              <a:t>‹#›</a:t>
            </a:fld>
            <a:r>
              <a:rPr lang="en-AU" dirty="0"/>
              <a:t>  |</a:t>
            </a:r>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solidFill>
        <a:effectLst/>
      </p:bgPr>
    </p:bg>
    <p:spTree>
      <p:nvGrpSpPr>
        <p:cNvPr id="1" name=""/>
        <p:cNvGrpSpPr/>
        <p:nvPr/>
      </p:nvGrpSpPr>
      <p:grpSpPr>
        <a:xfrm>
          <a:off x="0" y="0"/>
          <a:ext cx="0" cy="0"/>
          <a:chOff x="0" y="0"/>
          <a:chExt cx="0" cy="0"/>
        </a:xfrm>
      </p:grpSpPr>
      <p:grpSp>
        <p:nvGrpSpPr>
          <p:cNvPr id="3" name="Group 14"/>
          <p:cNvGrpSpPr>
            <a:grpSpLocks/>
          </p:cNvGrpSpPr>
          <p:nvPr/>
        </p:nvGrpSpPr>
        <p:grpSpPr bwMode="auto">
          <a:xfrm>
            <a:off x="-7938" y="6056313"/>
            <a:ext cx="9161463" cy="801687"/>
            <a:chOff x="-7938" y="6056313"/>
            <a:chExt cx="9161463" cy="801687"/>
          </a:xfrm>
        </p:grpSpPr>
        <p:sp>
          <p:nvSpPr>
            <p:cNvPr id="4" name="AutoShape 4"/>
            <p:cNvSpPr>
              <a:spLocks noChangeAspect="1" noChangeArrowheads="1" noTextEdit="1"/>
            </p:cNvSpPr>
            <p:nvPr/>
          </p:nvSpPr>
          <p:spPr bwMode="auto">
            <a:xfrm>
              <a:off x="-7938" y="6056313"/>
              <a:ext cx="9161463" cy="801687"/>
            </a:xfrm>
            <a:prstGeom prst="rect">
              <a:avLst/>
            </a:prstGeom>
            <a:noFill/>
            <a:ln>
              <a:noFill/>
            </a:ln>
            <a:extLst/>
          </p:spPr>
          <p:txBody>
            <a:bodyPr/>
            <a:lstStyle/>
            <a:p>
              <a:pPr defTabSz="457200">
                <a:defRPr/>
              </a:pPr>
              <a:endParaRPr lang="en-AU"/>
            </a:p>
          </p:txBody>
        </p:sp>
        <p:grpSp>
          <p:nvGrpSpPr>
            <p:cNvPr id="5" name="Group 1"/>
            <p:cNvGrpSpPr>
              <a:grpSpLocks/>
            </p:cNvGrpSpPr>
            <p:nvPr/>
          </p:nvGrpSpPr>
          <p:grpSpPr bwMode="auto">
            <a:xfrm>
              <a:off x="1588" y="6065838"/>
              <a:ext cx="9142412" cy="690562"/>
              <a:chOff x="1495" y="6065893"/>
              <a:chExt cx="9143026" cy="690563"/>
            </a:xfrm>
          </p:grpSpPr>
          <p:sp>
            <p:nvSpPr>
              <p:cNvPr id="7" name="Freeform 8"/>
              <p:cNvSpPr>
                <a:spLocks noEditPoints="1"/>
              </p:cNvSpPr>
              <p:nvPr/>
            </p:nvSpPr>
            <p:spPr bwMode="auto">
              <a:xfrm>
                <a:off x="1495" y="6065893"/>
                <a:ext cx="9143026" cy="690563"/>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chemeClr val="accent2">
                  <a:lumMod val="75000"/>
                </a:schemeClr>
              </a:solidFill>
              <a:ln>
                <a:noFill/>
              </a:ln>
            </p:spPr>
            <p:txBody>
              <a:bodyPr/>
              <a:lstStyle/>
              <a:p>
                <a:pPr defTabSz="457200">
                  <a:defRPr/>
                </a:pPr>
                <a:endParaRPr lang="en-AU"/>
              </a:p>
            </p:txBody>
          </p:sp>
          <p:sp>
            <p:nvSpPr>
              <p:cNvPr id="8" name="Freeform 9"/>
              <p:cNvSpPr>
                <a:spLocks noEditPoints="1"/>
              </p:cNvSpPr>
              <p:nvPr/>
            </p:nvSpPr>
            <p:spPr bwMode="auto">
              <a:xfrm>
                <a:off x="1495" y="6367518"/>
                <a:ext cx="9143026" cy="388938"/>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495" y="6110343"/>
                <a:ext cx="7891992" cy="298450"/>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7893487" y="6110343"/>
                <a:ext cx="1251034" cy="601663"/>
              </a:xfrm>
              <a:custGeom>
                <a:avLst/>
                <a:gdLst>
                  <a:gd name="T0" fmla="*/ 331 w 394"/>
                  <a:gd name="T1" fmla="*/ 0 h 189"/>
                  <a:gd name="T2" fmla="*/ 0 w 394"/>
                  <a:gd name="T3" fmla="*/ 81 h 189"/>
                  <a:gd name="T4" fmla="*/ 327 w 394"/>
                  <a:gd name="T5" fmla="*/ 189 h 189"/>
                  <a:gd name="T6" fmla="*/ 394 w 394"/>
                  <a:gd name="T7" fmla="*/ 189 h 189"/>
                  <a:gd name="T8" fmla="*/ 394 w 394"/>
                  <a:gd name="T9" fmla="*/ 0 h 189"/>
                  <a:gd name="T10" fmla="*/ 331 w 394"/>
                  <a:gd name="T11" fmla="*/ 0 h 189"/>
                </a:gdLst>
                <a:ahLst/>
                <a:cxnLst>
                  <a:cxn ang="0">
                    <a:pos x="T0" y="T1"/>
                  </a:cxn>
                  <a:cxn ang="0">
                    <a:pos x="T2" y="T3"/>
                  </a:cxn>
                  <a:cxn ang="0">
                    <a:pos x="T4" y="T5"/>
                  </a:cxn>
                  <a:cxn ang="0">
                    <a:pos x="T6" y="T7"/>
                  </a:cxn>
                  <a:cxn ang="0">
                    <a:pos x="T8" y="T9"/>
                  </a:cxn>
                  <a:cxn ang="0">
                    <a:pos x="T10" y="T11"/>
                  </a:cxn>
                </a:cxnLst>
                <a:rect l="0" t="0" r="r" b="b"/>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chemeClr val="bg1"/>
              </a:solidFill>
              <a:ln>
                <a:noFill/>
              </a:ln>
              <a:extLst/>
            </p:spPr>
            <p:txBody>
              <a:bodyPr/>
              <a:lstStyle/>
              <a:p>
                <a:pPr defTabSz="457200">
                  <a:defRPr/>
                </a:pPr>
                <a:endParaRPr lang="en-AU"/>
              </a:p>
            </p:txBody>
          </p:sp>
        </p:grpSp>
        <p:pic>
          <p:nvPicPr>
            <p:cNvPr id="6" name="Picture 78"/>
            <p:cNvPicPr>
              <a:picLocks noChangeAspect="1" noChangeArrowheads="1"/>
            </p:cNvPicPr>
            <p:nvPr/>
          </p:nvPicPr>
          <p:blipFill>
            <a:blip r:embed="rId3" cstate="print"/>
            <a:srcRect/>
            <a:stretch>
              <a:fillRect/>
            </a:stretch>
          </p:blipFill>
          <p:spPr bwMode="auto">
            <a:xfrm>
              <a:off x="8459788" y="6191250"/>
              <a:ext cx="454025" cy="454025"/>
            </a:xfrm>
            <a:prstGeom prst="rect">
              <a:avLst/>
            </a:prstGeom>
            <a:noFill/>
            <a:ln w="9525">
              <a:noFill/>
              <a:miter lim="800000"/>
              <a:headEnd/>
              <a:tailEnd/>
            </a:ln>
          </p:spPr>
        </p:pic>
      </p:grpSp>
      <p:sp>
        <p:nvSpPr>
          <p:cNvPr id="39" name="Text Placeholder 8"/>
          <p:cNvSpPr>
            <a:spLocks noGrp="1"/>
          </p:cNvSpPr>
          <p:nvPr>
            <p:ph type="body" sz="quarter" idx="10"/>
          </p:nvPr>
        </p:nvSpPr>
        <p:spPr>
          <a:xfrm>
            <a:off x="360000" y="1276350"/>
            <a:ext cx="7477125" cy="4559301"/>
          </a:xfrm>
        </p:spPr>
        <p:txBody>
          <a:bodyPr/>
          <a:lstStyle>
            <a:lvl1pPr>
              <a:spcAft>
                <a:spcPts val="0"/>
              </a:spcAft>
              <a:buFontTx/>
              <a:buNone/>
              <a:defRPr sz="4400" b="1">
                <a:solidFill>
                  <a:schemeClr val="accent1"/>
                </a:solidFill>
              </a:defRPr>
            </a:lvl1pPr>
            <a:lvl2pPr marL="0" indent="0">
              <a:lnSpc>
                <a:spcPct val="75000"/>
              </a:lnSpc>
              <a:spcAft>
                <a:spcPts val="850"/>
              </a:spcAft>
              <a:buNone/>
              <a:defRPr sz="4400" b="1">
                <a:solidFill>
                  <a:schemeClr val="bg1"/>
                </a:solidFill>
              </a:defRPr>
            </a:lvl2pPr>
            <a:lvl3pPr marL="0" indent="0">
              <a:buNone/>
              <a:defRPr sz="2200" b="1">
                <a:solidFill>
                  <a:srgbClr val="FFFFFF"/>
                </a:solidFill>
              </a:defRPr>
            </a:lvl3pPr>
          </a:lstStyle>
          <a:p>
            <a:pPr lvl="0"/>
            <a:r>
              <a:rPr lang="en-US" smtClean="0"/>
              <a:t>Click to edit Master text styles</a:t>
            </a:r>
          </a:p>
          <a:p>
            <a:pPr lvl="1"/>
            <a:r>
              <a:rPr lang="en-US" smtClean="0"/>
              <a:t>Second level</a:t>
            </a:r>
          </a:p>
          <a:p>
            <a:pPr lvl="2"/>
            <a:r>
              <a:rPr lang="en-US" smtClean="0"/>
              <a:t>Third level</a:t>
            </a:r>
          </a:p>
        </p:txBody>
      </p:sp>
      <p:sp>
        <p:nvSpPr>
          <p:cNvPr id="11" name="Footer Placeholder 3"/>
          <p:cNvSpPr>
            <a:spLocks noGrp="1"/>
          </p:cNvSpPr>
          <p:nvPr>
            <p:ph type="ftr" sz="quarter" idx="11"/>
          </p:nvPr>
        </p:nvSpPr>
        <p:spPr/>
        <p:txBody>
          <a:bodyPr/>
          <a:lstStyle>
            <a:lvl1pPr>
              <a:defRPr/>
            </a:lvl1pPr>
          </a:lstStyle>
          <a:p>
            <a:r>
              <a:rPr lang="en-AU" smtClean="0"/>
              <a:t>Cox, Simons, Yu | Observable property ontology</a:t>
            </a:r>
            <a:endParaRPr lang="en-AU"/>
          </a:p>
        </p:txBody>
      </p:sp>
      <p:sp>
        <p:nvSpPr>
          <p:cNvPr id="12" name="Slide Number Placeholder 17"/>
          <p:cNvSpPr>
            <a:spLocks noGrp="1"/>
          </p:cNvSpPr>
          <p:nvPr>
            <p:ph type="sldNum" sz="quarter" idx="12"/>
          </p:nvPr>
        </p:nvSpPr>
        <p:spPr/>
        <p:txBody>
          <a:bodyPr/>
          <a:lstStyle>
            <a:lvl1pPr algn="r">
              <a:defRPr sz="900" smtClean="0">
                <a:solidFill>
                  <a:schemeClr val="bg1"/>
                </a:solidFill>
              </a:defRPr>
            </a:lvl1pPr>
          </a:lstStyle>
          <a:p>
            <a:pPr>
              <a:defRPr/>
            </a:pPr>
            <a:fld id="{44485D46-5146-4123-AF90-ABC009F0FE32}" type="slidenum">
              <a:rPr lang="en-AU"/>
              <a:pPr>
                <a:defRPr/>
              </a:pPr>
              <a:t>‹#›</a:t>
            </a:fld>
            <a:r>
              <a:rPr lang="en-AU" dirty="0"/>
              <a:t>  |</a:t>
            </a: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0808" y="1304926"/>
            <a:ext cx="8229600" cy="4932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3" y="270000"/>
            <a:ext cx="8460000" cy="900000"/>
          </a:xfrm>
        </p:spPr>
        <p:txBody>
          <a:bodyPr>
            <a:noAutofit/>
          </a:bodyPr>
          <a:lstStyle>
            <a:lvl1pPr marL="0" indent="0">
              <a:lnSpc>
                <a:spcPct val="85000"/>
              </a:lnSpc>
              <a:spcBef>
                <a:spcPts val="0"/>
              </a:spcBef>
              <a:spcAft>
                <a:spcPts val="283"/>
              </a:spcAft>
              <a:buNone/>
              <a:defRPr sz="2800" b="1">
                <a:solidFill>
                  <a:schemeClr val="accent2"/>
                </a:solidFill>
              </a:defRPr>
            </a:lvl1pPr>
            <a:lvl2pPr marL="0" indent="0">
              <a:lnSpc>
                <a:spcPct val="85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11" name="Text Placeholder 10"/>
          <p:cNvSpPr>
            <a:spLocks noGrp="1"/>
          </p:cNvSpPr>
          <p:nvPr>
            <p:ph type="body" sz="quarter" idx="15"/>
          </p:nvPr>
        </p:nvSpPr>
        <p:spPr>
          <a:xfrm>
            <a:off x="360363" y="1276350"/>
            <a:ext cx="8459787" cy="4559300"/>
          </a:xfrm>
        </p:spPr>
        <p:txBody>
          <a:bodyPr>
            <a:noAutofit/>
          </a:bodyPr>
          <a:lstStyle>
            <a:lvl1pPr marL="378000" indent="-378000">
              <a:buFont typeface="+mj-lt"/>
              <a:buAutoNum type="arabicPeriod"/>
              <a:defRPr/>
            </a:lvl1pPr>
            <a:lvl2pPr marL="648000" indent="-270000">
              <a:defRPr/>
            </a:lvl2pPr>
            <a:lvl3pPr marL="648000" indent="-270000">
              <a:defRPr/>
            </a:lvl3pPr>
            <a:lvl4pPr marL="648000" indent="-270000">
              <a:defRPr/>
            </a:lvl4pPr>
            <a:lvl5pPr marL="648000" indent="-270000">
              <a:defRPr/>
            </a:lvl5pPr>
            <a:lvl6pPr marL="648000" indent="-270000">
              <a:defRPr/>
            </a:lvl6pPr>
            <a:lvl7pPr marL="648000" indent="-270000">
              <a:defRPr/>
            </a:lvl7pPr>
            <a:lvl8pPr marL="648000" indent="-270000">
              <a:defRPr/>
            </a:lvl8pPr>
            <a:lvl9pPr marL="648000" indent="-270000">
              <a:defRPr/>
            </a:lvl9pPr>
          </a:lstStyle>
          <a:p>
            <a:pPr lvl="0"/>
            <a:r>
              <a:rPr lang="en-US" smtClean="0"/>
              <a:t>Click to edit Master text styles</a:t>
            </a:r>
          </a:p>
          <a:p>
            <a:pPr lvl="1"/>
            <a:r>
              <a:rPr lang="en-US" smtClean="0"/>
              <a:t>Second level</a:t>
            </a:r>
          </a:p>
        </p:txBody>
      </p:sp>
      <p:sp>
        <p:nvSpPr>
          <p:cNvPr id="5" name="Footer Placeholder 3"/>
          <p:cNvSpPr txBox="1">
            <a:spLocks/>
          </p:cNvSpPr>
          <p:nvPr userDrawn="1"/>
        </p:nvSpPr>
        <p:spPr>
          <a:xfrm>
            <a:off x="394013" y="6574088"/>
            <a:ext cx="6119812" cy="107950"/>
          </a:xfrm>
          <a:prstGeom prst="rect">
            <a:avLst/>
          </a:prstGeom>
        </p:spPr>
        <p:txBody>
          <a:bodyPr vert="horz"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smtClean="0">
                <a:ln>
                  <a:noFill/>
                </a:ln>
                <a:solidFill>
                  <a:schemeClr val="bg1"/>
                </a:solidFill>
                <a:effectLst/>
                <a:uLnTx/>
                <a:uFillTx/>
                <a:latin typeface="+mn-lt"/>
                <a:ea typeface="+mn-ea"/>
                <a:cs typeface="+mn-cs"/>
              </a:rPr>
              <a:t>AGU Fall 2013  |  IN52B-08  |  Cox, Simons, Yu  |  Vocabulary re-use</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0921"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0922"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0925" name="Group 38"/>
          <p:cNvGrpSpPr>
            <a:grpSpLocks/>
          </p:cNvGrpSpPr>
          <p:nvPr/>
        </p:nvGrpSpPr>
        <p:grpSpPr bwMode="auto">
          <a:xfrm>
            <a:off x="-26988" y="357188"/>
            <a:ext cx="9199563" cy="6500812"/>
            <a:chOff x="-26988" y="357188"/>
            <a:chExt cx="9199469" cy="6500812"/>
          </a:xfrm>
        </p:grpSpPr>
        <p:grpSp>
          <p:nvGrpSpPr>
            <p:cNvPr id="80926" name="Group 66"/>
            <p:cNvGrpSpPr>
              <a:grpSpLocks/>
            </p:cNvGrpSpPr>
            <p:nvPr/>
          </p:nvGrpSpPr>
          <p:grpSpPr bwMode="auto">
            <a:xfrm>
              <a:off x="-26988" y="357188"/>
              <a:ext cx="9178926" cy="2571750"/>
              <a:chOff x="-17463" y="357188"/>
              <a:chExt cx="9186863" cy="2571750"/>
            </a:xfrm>
          </p:grpSpPr>
          <p:sp>
            <p:nvSpPr>
              <p:cNvPr id="42" name="Freeform 17"/>
              <p:cNvSpPr>
                <a:spLocks/>
              </p:cNvSpPr>
              <p:nvPr/>
            </p:nvSpPr>
            <p:spPr bwMode="auto">
              <a:xfrm>
                <a:off x="-17463" y="1971675"/>
                <a:ext cx="9186769" cy="957263"/>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 name="Freeform 18"/>
              <p:cNvSpPr>
                <a:spLocks/>
              </p:cNvSpPr>
              <p:nvPr/>
            </p:nvSpPr>
            <p:spPr bwMode="auto">
              <a:xfrm>
                <a:off x="-17463" y="2449513"/>
                <a:ext cx="9186769"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44" name="Freeform 19"/>
              <p:cNvSpPr>
                <a:spLocks/>
              </p:cNvSpPr>
              <p:nvPr/>
            </p:nvSpPr>
            <p:spPr bwMode="auto">
              <a:xfrm>
                <a:off x="-17463" y="1655763"/>
                <a:ext cx="9186769" cy="954087"/>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45" name="Freeform 20"/>
              <p:cNvSpPr>
                <a:spLocks/>
              </p:cNvSpPr>
              <p:nvPr/>
            </p:nvSpPr>
            <p:spPr bwMode="auto">
              <a:xfrm>
                <a:off x="-17463" y="2130425"/>
                <a:ext cx="9186769"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46" name="Freeform 21"/>
              <p:cNvSpPr>
                <a:spLocks/>
              </p:cNvSpPr>
              <p:nvPr/>
            </p:nvSpPr>
            <p:spPr bwMode="auto">
              <a:xfrm>
                <a:off x="-17463" y="1336675"/>
                <a:ext cx="9186769" cy="954088"/>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47" name="Freeform 22"/>
              <p:cNvSpPr>
                <a:spLocks/>
              </p:cNvSpPr>
              <p:nvPr/>
            </p:nvSpPr>
            <p:spPr bwMode="auto">
              <a:xfrm>
                <a:off x="-17463" y="1811338"/>
                <a:ext cx="9186769" cy="479425"/>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48" name="Freeform 23"/>
              <p:cNvSpPr>
                <a:spLocks/>
              </p:cNvSpPr>
              <p:nvPr/>
            </p:nvSpPr>
            <p:spPr bwMode="auto">
              <a:xfrm>
                <a:off x="-17463" y="357188"/>
                <a:ext cx="9186769" cy="957262"/>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49" name="Freeform 24"/>
              <p:cNvSpPr>
                <a:spLocks/>
              </p:cNvSpPr>
              <p:nvPr/>
            </p:nvSpPr>
            <p:spPr bwMode="auto">
              <a:xfrm>
                <a:off x="-17463" y="357188"/>
                <a:ext cx="9186769" cy="477837"/>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50" name="Freeform 25"/>
              <p:cNvSpPr>
                <a:spLocks/>
              </p:cNvSpPr>
              <p:nvPr/>
            </p:nvSpPr>
            <p:spPr bwMode="auto">
              <a:xfrm>
                <a:off x="-17463" y="676275"/>
                <a:ext cx="9186769" cy="954088"/>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51" name="Freeform 26"/>
              <p:cNvSpPr>
                <a:spLocks/>
              </p:cNvSpPr>
              <p:nvPr/>
            </p:nvSpPr>
            <p:spPr bwMode="auto">
              <a:xfrm>
                <a:off x="-17463" y="676275"/>
                <a:ext cx="9186769" cy="47783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52" name="Freeform 27"/>
              <p:cNvSpPr>
                <a:spLocks/>
              </p:cNvSpPr>
              <p:nvPr/>
            </p:nvSpPr>
            <p:spPr bwMode="auto">
              <a:xfrm>
                <a:off x="-17463" y="995363"/>
                <a:ext cx="9186769" cy="954087"/>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53" name="Freeform 28"/>
              <p:cNvSpPr>
                <a:spLocks/>
              </p:cNvSpPr>
              <p:nvPr/>
            </p:nvSpPr>
            <p:spPr bwMode="auto">
              <a:xfrm>
                <a:off x="-17463" y="995363"/>
                <a:ext cx="9186769" cy="474662"/>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grpSp>
        <p:grpSp>
          <p:nvGrpSpPr>
            <p:cNvPr id="80939" name="Group 37"/>
            <p:cNvGrpSpPr>
              <a:grpSpLocks/>
            </p:cNvGrpSpPr>
            <p:nvPr/>
          </p:nvGrpSpPr>
          <p:grpSpPr bwMode="auto">
            <a:xfrm>
              <a:off x="1497" y="5500319"/>
              <a:ext cx="9170984" cy="1357681"/>
              <a:chOff x="1497" y="5500319"/>
              <a:chExt cx="9170984" cy="1357681"/>
            </a:xfrm>
          </p:grpSpPr>
          <p:sp>
            <p:nvSpPr>
              <p:cNvPr id="22" name="Rectangle 21"/>
              <p:cNvSpPr/>
              <p:nvPr/>
            </p:nvSpPr>
            <p:spPr>
              <a:xfrm>
                <a:off x="1588" y="5940425"/>
                <a:ext cx="9158193" cy="9175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AU"/>
              </a:p>
            </p:txBody>
          </p:sp>
          <p:grpSp>
            <p:nvGrpSpPr>
              <p:cNvPr id="80941" name="Group 41"/>
              <p:cNvGrpSpPr>
                <a:grpSpLocks/>
              </p:cNvGrpSpPr>
              <p:nvPr/>
            </p:nvGrpSpPr>
            <p:grpSpPr bwMode="auto">
              <a:xfrm>
                <a:off x="1497" y="5500319"/>
                <a:ext cx="9170984" cy="996231"/>
                <a:chOff x="1497" y="5500319"/>
                <a:chExt cx="9170984" cy="996231"/>
              </a:xfrm>
            </p:grpSpPr>
            <p:sp>
              <p:nvSpPr>
                <p:cNvPr id="38" name="Freeform 7"/>
                <p:cNvSpPr>
                  <a:spLocks noEditPoints="1"/>
                </p:cNvSpPr>
                <p:nvPr/>
              </p:nvSpPr>
              <p:spPr bwMode="auto">
                <a:xfrm>
                  <a:off x="1588" y="5564188"/>
                  <a:ext cx="9170893" cy="931862"/>
                </a:xfrm>
                <a:custGeom>
                  <a:avLst/>
                  <a:gdLst/>
                  <a:ahLst/>
                  <a:cxnLst>
                    <a:cxn ang="0">
                      <a:pos x="2313" y="117"/>
                    </a:cxn>
                    <a:cxn ang="0">
                      <a:pos x="0" y="117"/>
                    </a:cxn>
                    <a:cxn ang="0">
                      <a:pos x="0" y="137"/>
                    </a:cxn>
                    <a:cxn ang="0">
                      <a:pos x="2030" y="137"/>
                    </a:cxn>
                    <a:cxn ang="0">
                      <a:pos x="2313" y="117"/>
                    </a:cxn>
                    <a:cxn ang="0">
                      <a:pos x="2880" y="0"/>
                    </a:cxn>
                    <a:cxn ang="0">
                      <a:pos x="2880" y="0"/>
                    </a:cxn>
                    <a:cxn ang="0">
                      <a:pos x="2880" y="117"/>
                    </a:cxn>
                    <a:cxn ang="0">
                      <a:pos x="2313" y="117"/>
                    </a:cxn>
                    <a:cxn ang="0">
                      <a:pos x="2784" y="293"/>
                    </a:cxn>
                    <a:cxn ang="0">
                      <a:pos x="2880" y="293"/>
                    </a:cxn>
                    <a:cxn ang="0">
                      <a:pos x="2880" y="0"/>
                    </a:cxn>
                  </a:cxnLst>
                  <a:rect l="0" t="0" r="r" b="b"/>
                  <a:pathLst>
                    <a:path w="2880" h="293">
                      <a:moveTo>
                        <a:pt x="2313" y="117"/>
                      </a:moveTo>
                      <a:cubicBezTo>
                        <a:pt x="0" y="117"/>
                        <a:pt x="0" y="117"/>
                        <a:pt x="0" y="117"/>
                      </a:cubicBezTo>
                      <a:cubicBezTo>
                        <a:pt x="0" y="137"/>
                        <a:pt x="0" y="137"/>
                        <a:pt x="0" y="137"/>
                      </a:cubicBezTo>
                      <a:cubicBezTo>
                        <a:pt x="2030" y="137"/>
                        <a:pt x="2030" y="137"/>
                        <a:pt x="2030" y="137"/>
                      </a:cubicBezTo>
                      <a:cubicBezTo>
                        <a:pt x="2214" y="137"/>
                        <a:pt x="2274" y="132"/>
                        <a:pt x="2313" y="117"/>
                      </a:cubicBezTo>
                      <a:moveTo>
                        <a:pt x="2880" y="0"/>
                      </a:moveTo>
                      <a:cubicBezTo>
                        <a:pt x="2880" y="0"/>
                        <a:pt x="2880" y="0"/>
                        <a:pt x="2880" y="0"/>
                      </a:cubicBezTo>
                      <a:cubicBezTo>
                        <a:pt x="2880" y="117"/>
                        <a:pt x="2880" y="117"/>
                        <a:pt x="2880" y="117"/>
                      </a:cubicBezTo>
                      <a:cubicBezTo>
                        <a:pt x="2313" y="117"/>
                        <a:pt x="2313" y="117"/>
                        <a:pt x="2313" y="117"/>
                      </a:cubicBezTo>
                      <a:cubicBezTo>
                        <a:pt x="2411" y="197"/>
                        <a:pt x="2542" y="293"/>
                        <a:pt x="2784" y="293"/>
                      </a:cubicBezTo>
                      <a:cubicBezTo>
                        <a:pt x="2842" y="293"/>
                        <a:pt x="2880" y="293"/>
                        <a:pt x="2880" y="293"/>
                      </a:cubicBezTo>
                      <a:cubicBezTo>
                        <a:pt x="2880" y="0"/>
                        <a:pt x="2880" y="0"/>
                        <a:pt x="2880" y="0"/>
                      </a:cubicBezTo>
                    </a:path>
                  </a:pathLst>
                </a:custGeom>
                <a:solidFill>
                  <a:srgbClr val="BFBFBF"/>
                </a:solidFill>
                <a:ln w="9525">
                  <a:noFill/>
                  <a:round/>
                  <a:headEnd/>
                  <a:tailEnd/>
                </a:ln>
              </p:spPr>
              <p:txBody>
                <a:bodyPr/>
                <a:lstStyle/>
                <a:p>
                  <a:pPr defTabSz="457200">
                    <a:defRPr/>
                  </a:pPr>
                  <a:endParaRPr lang="en-AU"/>
                </a:p>
              </p:txBody>
            </p:sp>
            <p:sp>
              <p:nvSpPr>
                <p:cNvPr id="39" name="Freeform 8"/>
                <p:cNvSpPr>
                  <a:spLocks noEditPoints="1"/>
                </p:cNvSpPr>
                <p:nvPr/>
              </p:nvSpPr>
              <p:spPr bwMode="auto">
                <a:xfrm>
                  <a:off x="1588" y="5500688"/>
                  <a:ext cx="9170893" cy="434975"/>
                </a:xfrm>
                <a:custGeom>
                  <a:avLst/>
                  <a:gdLst/>
                  <a:ahLst/>
                  <a:cxnLst>
                    <a:cxn ang="0">
                      <a:pos x="2880" y="20"/>
                    </a:cxn>
                    <a:cxn ang="0">
                      <a:pos x="2789" y="20"/>
                    </a:cxn>
                    <a:cxn ang="0">
                      <a:pos x="2313" y="137"/>
                    </a:cxn>
                    <a:cxn ang="0">
                      <a:pos x="2313" y="137"/>
                    </a:cxn>
                    <a:cxn ang="0">
                      <a:pos x="2880" y="137"/>
                    </a:cxn>
                    <a:cxn ang="0">
                      <a:pos x="2880" y="20"/>
                    </a:cxn>
                    <a:cxn ang="0">
                      <a:pos x="1860" y="0"/>
                    </a:cxn>
                    <a:cxn ang="0">
                      <a:pos x="0" y="0"/>
                    </a:cxn>
                    <a:cxn ang="0">
                      <a:pos x="0" y="137"/>
                    </a:cxn>
                    <a:cxn ang="0">
                      <a:pos x="2313" y="137"/>
                    </a:cxn>
                    <a:cxn ang="0">
                      <a:pos x="2313" y="137"/>
                    </a:cxn>
                    <a:cxn ang="0">
                      <a:pos x="2313" y="137"/>
                    </a:cxn>
                    <a:cxn ang="0">
                      <a:pos x="2313" y="137"/>
                    </a:cxn>
                    <a:cxn ang="0">
                      <a:pos x="1860" y="0"/>
                    </a:cxn>
                  </a:cxnLst>
                  <a:rect l="0" t="0" r="r" b="b"/>
                  <a:pathLst>
                    <a:path w="2880" h="137">
                      <a:moveTo>
                        <a:pt x="2880" y="20"/>
                      </a:moveTo>
                      <a:cubicBezTo>
                        <a:pt x="2789" y="20"/>
                        <a:pt x="2789" y="20"/>
                        <a:pt x="2789" y="20"/>
                      </a:cubicBezTo>
                      <a:cubicBezTo>
                        <a:pt x="2500" y="20"/>
                        <a:pt x="2393" y="107"/>
                        <a:pt x="2313" y="137"/>
                      </a:cubicBezTo>
                      <a:cubicBezTo>
                        <a:pt x="2313" y="137"/>
                        <a:pt x="2313" y="137"/>
                        <a:pt x="2313" y="137"/>
                      </a:cubicBezTo>
                      <a:cubicBezTo>
                        <a:pt x="2880" y="137"/>
                        <a:pt x="2880" y="137"/>
                        <a:pt x="2880" y="137"/>
                      </a:cubicBezTo>
                      <a:cubicBezTo>
                        <a:pt x="2880" y="20"/>
                        <a:pt x="2880" y="20"/>
                        <a:pt x="2880" y="20"/>
                      </a:cubicBezTo>
                      <a:moveTo>
                        <a:pt x="1860" y="0"/>
                      </a:moveTo>
                      <a:cubicBezTo>
                        <a:pt x="0" y="0"/>
                        <a:pt x="0" y="0"/>
                        <a:pt x="0" y="0"/>
                      </a:cubicBezTo>
                      <a:cubicBezTo>
                        <a:pt x="0" y="137"/>
                        <a:pt x="0" y="137"/>
                        <a:pt x="0" y="137"/>
                      </a:cubicBezTo>
                      <a:cubicBezTo>
                        <a:pt x="2313" y="137"/>
                        <a:pt x="2313" y="137"/>
                        <a:pt x="2313" y="137"/>
                      </a:cubicBezTo>
                      <a:cubicBezTo>
                        <a:pt x="2313" y="137"/>
                        <a:pt x="2313" y="137"/>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w="9525">
                  <a:noFill/>
                  <a:round/>
                  <a:headEnd/>
                  <a:tailEnd/>
                </a:ln>
              </p:spPr>
              <p:txBody>
                <a:bodyPr/>
                <a:lstStyle/>
                <a:p>
                  <a:pPr defTabSz="457200">
                    <a:defRPr/>
                  </a:pPr>
                  <a:endParaRPr lang="en-AU"/>
                </a:p>
              </p:txBody>
            </p:sp>
            <p:sp>
              <p:nvSpPr>
                <p:cNvPr id="40" name="Freeform 9"/>
                <p:cNvSpPr>
                  <a:spLocks/>
                </p:cNvSpPr>
                <p:nvPr/>
              </p:nvSpPr>
              <p:spPr bwMode="auto">
                <a:xfrm>
                  <a:off x="1588" y="5564188"/>
                  <a:ext cx="7365925" cy="431800"/>
                </a:xfrm>
                <a:custGeom>
                  <a:avLst/>
                  <a:gdLst/>
                  <a:ahLst/>
                  <a:cxnLst>
                    <a:cxn ang="0">
                      <a:pos x="2313" y="117"/>
                    </a:cxn>
                    <a:cxn ang="0">
                      <a:pos x="1860" y="0"/>
                    </a:cxn>
                    <a:cxn ang="0">
                      <a:pos x="0" y="0"/>
                    </a:cxn>
                    <a:cxn ang="0">
                      <a:pos x="0" y="136"/>
                    </a:cxn>
                    <a:cxn ang="0">
                      <a:pos x="2030" y="136"/>
                    </a:cxn>
                    <a:cxn ang="0">
                      <a:pos x="2313" y="117"/>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w="9525">
                  <a:noFill/>
                  <a:round/>
                  <a:headEnd/>
                  <a:tailEnd/>
                </a:ln>
              </p:spPr>
              <p:txBody>
                <a:bodyPr/>
                <a:lstStyle/>
                <a:p>
                  <a:pPr defTabSz="457200">
                    <a:defRPr/>
                  </a:pPr>
                  <a:endParaRPr lang="en-AU"/>
                </a:p>
              </p:txBody>
            </p:sp>
            <p:sp>
              <p:nvSpPr>
                <p:cNvPr id="41" name="Freeform 10"/>
                <p:cNvSpPr>
                  <a:spLocks/>
                </p:cNvSpPr>
                <p:nvPr/>
              </p:nvSpPr>
              <p:spPr bwMode="auto">
                <a:xfrm>
                  <a:off x="7367513" y="5564188"/>
                  <a:ext cx="1804968" cy="868362"/>
                </a:xfrm>
                <a:custGeom>
                  <a:avLst/>
                  <a:gdLst/>
                  <a:ahLst/>
                  <a:cxnLst>
                    <a:cxn ang="0">
                      <a:pos x="476" y="0"/>
                    </a:cxn>
                    <a:cxn ang="0">
                      <a:pos x="0" y="117"/>
                    </a:cxn>
                    <a:cxn ang="0">
                      <a:pos x="471" y="273"/>
                    </a:cxn>
                    <a:cxn ang="0">
                      <a:pos x="567" y="273"/>
                    </a:cxn>
                    <a:cxn ang="0">
                      <a:pos x="567" y="0"/>
                    </a:cxn>
                    <a:cxn ang="0">
                      <a:pos x="476" y="0"/>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w="9525">
                  <a:noFill/>
                  <a:round/>
                  <a:headEnd/>
                  <a:tailEnd/>
                </a:ln>
              </p:spPr>
              <p:txBody>
                <a:bodyPr/>
                <a:lstStyle/>
                <a:p>
                  <a:pPr defTabSz="457200">
                    <a:defRPr/>
                  </a:pPr>
                  <a:endParaRPr lang="en-AU"/>
                </a:p>
              </p:txBody>
            </p:sp>
          </p:grpSp>
          <p:pic>
            <p:nvPicPr>
              <p:cNvPr id="80946"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5" name="Group 19"/>
              <p:cNvGrpSpPr/>
              <p:nvPr/>
            </p:nvGrpSpPr>
            <p:grpSpPr>
              <a:xfrm>
                <a:off x="360000" y="5807505"/>
                <a:ext cx="814388" cy="95250"/>
                <a:chOff x="3495675" y="5969000"/>
                <a:chExt cx="814388" cy="95250"/>
              </a:xfrm>
              <a:solidFill>
                <a:schemeClr val="accent1"/>
              </a:solidFill>
            </p:grpSpPr>
            <p:sp>
              <p:nvSpPr>
                <p:cNvPr id="26"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7"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8"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9"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30"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31"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2"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33"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34"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35"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3"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37"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grpSp>
    </p:spTree>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63CAC834-2FD6-4696-84D4-6AB161425A59}"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BE64472B-5B5E-445B-A58E-A04D9A22A19B}"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A72FE502-BB81-4C87-98A3-520F2C64BE8F}"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8" name="Slide Number Placeholder 7"/>
          <p:cNvSpPr>
            <a:spLocks noGrp="1"/>
          </p:cNvSpPr>
          <p:nvPr>
            <p:ph type="sldNum" sz="quarter" idx="11"/>
          </p:nvPr>
        </p:nvSpPr>
        <p:spPr/>
        <p:txBody>
          <a:bodyPr/>
          <a:lstStyle>
            <a:lvl1pPr>
              <a:defRPr/>
            </a:lvl1pPr>
          </a:lstStyle>
          <a:p>
            <a:pPr>
              <a:defRPr/>
            </a:pPr>
            <a:fld id="{6F779F2E-E8B4-47E0-8335-F3BFAB4A672E}"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4" name="Slide Number Placeholder 3"/>
          <p:cNvSpPr>
            <a:spLocks noGrp="1"/>
          </p:cNvSpPr>
          <p:nvPr>
            <p:ph type="sldNum" sz="quarter" idx="11"/>
          </p:nvPr>
        </p:nvSpPr>
        <p:spPr/>
        <p:txBody>
          <a:bodyPr/>
          <a:lstStyle>
            <a:lvl1pPr>
              <a:defRPr/>
            </a:lvl1pPr>
          </a:lstStyle>
          <a:p>
            <a:pPr>
              <a:defRPr/>
            </a:pPr>
            <a:fld id="{539A3BA8-8EA4-49F5-A59C-5101A6016B1F}"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3" name="Slide Number Placeholder 2"/>
          <p:cNvSpPr>
            <a:spLocks noGrp="1"/>
          </p:cNvSpPr>
          <p:nvPr>
            <p:ph type="sldNum" sz="quarter" idx="11"/>
          </p:nvPr>
        </p:nvSpPr>
        <p:spPr/>
        <p:txBody>
          <a:bodyPr/>
          <a:lstStyle>
            <a:lvl1pPr>
              <a:defRPr/>
            </a:lvl1pPr>
          </a:lstStyle>
          <a:p>
            <a:pPr>
              <a:defRPr/>
            </a:pPr>
            <a:fld id="{F4D39E0D-57C2-4467-8A8F-5E857B16B8C3}" type="slidenum">
              <a:rPr lang="en-AU"/>
              <a:pPr>
                <a:defRPr/>
              </a:pPr>
              <a:t>‹#›</a:t>
            </a:fld>
            <a:r>
              <a:rPr lang="en-AU"/>
              <a:t>  |</a:t>
            </a:r>
            <a:endParaRPr lang="en-AU"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5C615FE9-4222-4DE6-82E7-4CAFF48997EE}" type="slidenum">
              <a:rPr lang="en-AU"/>
              <a:pPr>
                <a:defRPr/>
              </a:pPr>
              <a:t>‹#›</a:t>
            </a:fld>
            <a:r>
              <a:rPr lang="en-AU"/>
              <a:t>  |</a:t>
            </a:r>
            <a:endParaRPr lang="en-AU"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0C2716C1-7234-4E62-9489-FD1BBD6930C9}"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A3ABA3C9-0FEB-4016-87FC-1C33C259C43D}"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171A9F96-9AEE-44A8-9FB7-7CEB457D5BC6}"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2955"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2956"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2960" name="Group 35"/>
          <p:cNvGrpSpPr>
            <a:grpSpLocks/>
          </p:cNvGrpSpPr>
          <p:nvPr/>
        </p:nvGrpSpPr>
        <p:grpSpPr bwMode="auto">
          <a:xfrm>
            <a:off x="0" y="5500688"/>
            <a:ext cx="9167813" cy="996950"/>
            <a:chOff x="608" y="5500319"/>
            <a:chExt cx="9167813" cy="996950"/>
          </a:xfrm>
        </p:grpSpPr>
        <p:grpSp>
          <p:nvGrpSpPr>
            <p:cNvPr id="82961"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7938" y="5668963"/>
                <a:ext cx="9167813" cy="99695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p>
            </p:txBody>
          </p:sp>
          <p:sp>
            <p:nvSpPr>
              <p:cNvPr id="50" name="Freeform 24"/>
              <p:cNvSpPr>
                <a:spLocks/>
              </p:cNvSpPr>
              <p:nvPr/>
            </p:nvSpPr>
            <p:spPr bwMode="auto">
              <a:xfrm>
                <a:off x="-7938" y="5732463"/>
                <a:ext cx="7362825" cy="433387"/>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p>
            </p:txBody>
          </p:sp>
          <p:sp>
            <p:nvSpPr>
              <p:cNvPr id="51" name="Freeform 25"/>
              <p:cNvSpPr>
                <a:spLocks/>
              </p:cNvSpPr>
              <p:nvPr/>
            </p:nvSpPr>
            <p:spPr bwMode="auto">
              <a:xfrm>
                <a:off x="7354887" y="5732463"/>
                <a:ext cx="1804988" cy="869950"/>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p>
            </p:txBody>
          </p:sp>
        </p:grpSp>
        <p:pic>
          <p:nvPicPr>
            <p:cNvPr id="82965"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spTree>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D219307C-080A-46E7-882A-6A6A7387B840}" type="slidenum">
              <a:rPr lang="en-AU"/>
              <a:pPr>
                <a:defRPr/>
              </a:pPr>
              <a:t>‹#›</a:t>
            </a:fld>
            <a:r>
              <a:rPr lang="en-AU"/>
              <a:t>  |</a:t>
            </a:r>
            <a:endParaRPr lang="en-AU" dirty="0"/>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8CE77216-F63E-4D50-AF41-F5BDADEA9762}" type="slidenum">
              <a:rPr lang="en-AU"/>
              <a:pPr>
                <a:defRPr/>
              </a:pPr>
              <a:t>‹#›</a:t>
            </a:fld>
            <a:r>
              <a:rPr lang="en-AU"/>
              <a:t>  |</a:t>
            </a:r>
            <a:endParaRPr lang="en-AU" dirty="0"/>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449156FC-71DD-40B9-A1DD-D007098B8FFF}" type="slidenum">
              <a:rPr lang="en-AU"/>
              <a:pPr>
                <a:defRPr/>
              </a:pPr>
              <a:t>‹#›</a:t>
            </a:fld>
            <a:r>
              <a:rPr lang="en-AU"/>
              <a:t>  |</a:t>
            </a:r>
            <a:endParaRPr lang="en-AU"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8" name="Slide Number Placeholder 7"/>
          <p:cNvSpPr>
            <a:spLocks noGrp="1"/>
          </p:cNvSpPr>
          <p:nvPr>
            <p:ph type="sldNum" sz="quarter" idx="11"/>
          </p:nvPr>
        </p:nvSpPr>
        <p:spPr/>
        <p:txBody>
          <a:bodyPr/>
          <a:lstStyle>
            <a:lvl1pPr>
              <a:defRPr/>
            </a:lvl1pPr>
          </a:lstStyle>
          <a:p>
            <a:pPr>
              <a:defRPr/>
            </a:pPr>
            <a:fld id="{714FFEA7-557C-4D87-A8D3-77739310CB83}"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4" name="Slide Number Placeholder 3"/>
          <p:cNvSpPr>
            <a:spLocks noGrp="1"/>
          </p:cNvSpPr>
          <p:nvPr>
            <p:ph type="sldNum" sz="quarter" idx="11"/>
          </p:nvPr>
        </p:nvSpPr>
        <p:spPr/>
        <p:txBody>
          <a:bodyPr/>
          <a:lstStyle>
            <a:lvl1pPr>
              <a:defRPr/>
            </a:lvl1pPr>
          </a:lstStyle>
          <a:p>
            <a:pPr>
              <a:defRPr/>
            </a:pPr>
            <a:fld id="{C1294416-3B22-425D-BB5B-21DDEA7FBD93}"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3" name="Slide Number Placeholder 2"/>
          <p:cNvSpPr>
            <a:spLocks noGrp="1"/>
          </p:cNvSpPr>
          <p:nvPr>
            <p:ph type="sldNum" sz="quarter" idx="11"/>
          </p:nvPr>
        </p:nvSpPr>
        <p:spPr/>
        <p:txBody>
          <a:bodyPr/>
          <a:lstStyle>
            <a:lvl1pPr>
              <a:defRPr/>
            </a:lvl1pPr>
          </a:lstStyle>
          <a:p>
            <a:pPr>
              <a:defRPr/>
            </a:pPr>
            <a:fld id="{81566DA9-AB3D-4049-AE84-1F9D2FBF43A5}"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91D077FD-71D6-41C3-8FBA-4DE233614B86}"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ABA24F59-A6A7-4A62-A353-895A55D29635}" type="slidenum">
              <a:rPr lang="en-AU"/>
              <a:pPr>
                <a:defRPr/>
              </a:pPr>
              <a:t>‹#›</a:t>
            </a:fld>
            <a:r>
              <a:rPr lang="en-AU"/>
              <a:t>  |</a:t>
            </a:r>
            <a:endParaRPr lang="en-AU" dirty="0"/>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80AB1CA8-D382-4960-ADB9-4F0E546322F7}" type="slidenum">
              <a:rPr lang="en-AU"/>
              <a:pPr>
                <a:defRPr/>
              </a:pPr>
              <a:t>‹#›</a:t>
            </a:fld>
            <a:r>
              <a:rPr lang="en-AU"/>
              <a:t>  |</a:t>
            </a:r>
            <a:endParaRPr lang="en-AU" dirty="0"/>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15DC8C04-0A98-412E-ACAA-B428105D2605}" type="slidenum">
              <a:rPr lang="en-AU"/>
              <a:pPr>
                <a:defRPr/>
              </a:pPr>
              <a:t>‹#›</a:t>
            </a:fld>
            <a:r>
              <a:rPr lang="en-AU"/>
              <a:t>  |</a:t>
            </a:r>
            <a:endParaRPr lang="en-AU" dirty="0"/>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5003"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5004"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5008" name="Group 66"/>
          <p:cNvGrpSpPr>
            <a:grpSpLocks/>
          </p:cNvGrpSpPr>
          <p:nvPr/>
        </p:nvGrpSpPr>
        <p:grpSpPr bwMode="auto">
          <a:xfrm>
            <a:off x="-26988" y="357188"/>
            <a:ext cx="9178926" cy="2571750"/>
            <a:chOff x="-17463" y="357188"/>
            <a:chExt cx="9186863" cy="2571750"/>
          </a:xfrm>
        </p:grpSpPr>
        <p:sp>
          <p:nvSpPr>
            <p:cNvPr id="2" name="Freeform 17"/>
            <p:cNvSpPr>
              <a:spLocks/>
            </p:cNvSpPr>
            <p:nvPr userDrawn="1"/>
          </p:nvSpPr>
          <p:spPr bwMode="auto">
            <a:xfrm>
              <a:off x="-17463" y="1971675"/>
              <a:ext cx="9186863" cy="957263"/>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3" name="Freeform 18"/>
            <p:cNvSpPr>
              <a:spLocks/>
            </p:cNvSpPr>
            <p:nvPr userDrawn="1"/>
          </p:nvSpPr>
          <p:spPr bwMode="auto">
            <a:xfrm>
              <a:off x="-17463" y="2449513"/>
              <a:ext cx="9186863"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4" name="Freeform 19"/>
            <p:cNvSpPr>
              <a:spLocks/>
            </p:cNvSpPr>
            <p:nvPr userDrawn="1"/>
          </p:nvSpPr>
          <p:spPr bwMode="auto">
            <a:xfrm>
              <a:off x="-17463" y="1655763"/>
              <a:ext cx="9186863" cy="954087"/>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 name="Freeform 20"/>
            <p:cNvSpPr>
              <a:spLocks/>
            </p:cNvSpPr>
            <p:nvPr userDrawn="1"/>
          </p:nvSpPr>
          <p:spPr bwMode="auto">
            <a:xfrm>
              <a:off x="-17463" y="2130425"/>
              <a:ext cx="9186863"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2" name="Freeform 21"/>
            <p:cNvSpPr>
              <a:spLocks/>
            </p:cNvSpPr>
            <p:nvPr userDrawn="1"/>
          </p:nvSpPr>
          <p:spPr bwMode="auto">
            <a:xfrm>
              <a:off x="-17463" y="1336675"/>
              <a:ext cx="9186863" cy="954088"/>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3" name="Freeform 22"/>
            <p:cNvSpPr>
              <a:spLocks/>
            </p:cNvSpPr>
            <p:nvPr userDrawn="1"/>
          </p:nvSpPr>
          <p:spPr bwMode="auto">
            <a:xfrm>
              <a:off x="-17463" y="1811338"/>
              <a:ext cx="9186863" cy="479425"/>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4" name="Freeform 23"/>
            <p:cNvSpPr>
              <a:spLocks/>
            </p:cNvSpPr>
            <p:nvPr userDrawn="1"/>
          </p:nvSpPr>
          <p:spPr bwMode="auto">
            <a:xfrm>
              <a:off x="-17463" y="357188"/>
              <a:ext cx="9186863" cy="957262"/>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5" name="Freeform 24"/>
            <p:cNvSpPr>
              <a:spLocks/>
            </p:cNvSpPr>
            <p:nvPr userDrawn="1"/>
          </p:nvSpPr>
          <p:spPr bwMode="auto">
            <a:xfrm>
              <a:off x="-17463" y="357188"/>
              <a:ext cx="9186863" cy="477837"/>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6" name="Freeform 25"/>
            <p:cNvSpPr>
              <a:spLocks/>
            </p:cNvSpPr>
            <p:nvPr userDrawn="1"/>
          </p:nvSpPr>
          <p:spPr bwMode="auto">
            <a:xfrm>
              <a:off x="-17463" y="676275"/>
              <a:ext cx="9186863" cy="954088"/>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7" name="Freeform 26"/>
            <p:cNvSpPr>
              <a:spLocks/>
            </p:cNvSpPr>
            <p:nvPr userDrawn="1"/>
          </p:nvSpPr>
          <p:spPr bwMode="auto">
            <a:xfrm>
              <a:off x="-17463" y="676275"/>
              <a:ext cx="9186863" cy="47783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8" name="Freeform 27"/>
            <p:cNvSpPr>
              <a:spLocks/>
            </p:cNvSpPr>
            <p:nvPr userDrawn="1"/>
          </p:nvSpPr>
          <p:spPr bwMode="auto">
            <a:xfrm>
              <a:off x="-17463" y="995363"/>
              <a:ext cx="9186863" cy="954087"/>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9" name="Freeform 28"/>
            <p:cNvSpPr>
              <a:spLocks/>
            </p:cNvSpPr>
            <p:nvPr userDrawn="1"/>
          </p:nvSpPr>
          <p:spPr bwMode="auto">
            <a:xfrm>
              <a:off x="-17463" y="995363"/>
              <a:ext cx="9186863" cy="474662"/>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grpSp>
      <p:grpSp>
        <p:nvGrpSpPr>
          <p:cNvPr id="85030" name="Group 36"/>
          <p:cNvGrpSpPr>
            <a:grpSpLocks/>
          </p:cNvGrpSpPr>
          <p:nvPr/>
        </p:nvGrpSpPr>
        <p:grpSpPr bwMode="auto">
          <a:xfrm>
            <a:off x="-26988" y="357188"/>
            <a:ext cx="9194801" cy="6140450"/>
            <a:chOff x="-26988" y="357188"/>
            <a:chExt cx="9195409" cy="6140081"/>
          </a:xfrm>
        </p:grpSpPr>
        <p:grpSp>
          <p:nvGrpSpPr>
            <p:cNvPr id="85031" name="Group 35"/>
            <p:cNvGrpSpPr>
              <a:grpSpLocks/>
            </p:cNvGrpSpPr>
            <p:nvPr/>
          </p:nvGrpSpPr>
          <p:grpSpPr bwMode="auto">
            <a:xfrm>
              <a:off x="608" y="5500319"/>
              <a:ext cx="9167813" cy="996950"/>
              <a:chOff x="608" y="5500319"/>
              <a:chExt cx="9167813" cy="996950"/>
            </a:xfrm>
          </p:grpSpPr>
          <p:grpSp>
            <p:nvGrpSpPr>
              <p:cNvPr id="85032"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8544" y="5669023"/>
                  <a:ext cx="9168419" cy="99689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p>
              </p:txBody>
            </p:sp>
            <p:sp>
              <p:nvSpPr>
                <p:cNvPr id="50" name="Freeform 24"/>
                <p:cNvSpPr>
                  <a:spLocks/>
                </p:cNvSpPr>
                <p:nvPr/>
              </p:nvSpPr>
              <p:spPr bwMode="auto">
                <a:xfrm>
                  <a:off x="-8544" y="5732519"/>
                  <a:ext cx="7363312" cy="433361"/>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p>
              </p:txBody>
            </p:sp>
            <p:sp>
              <p:nvSpPr>
                <p:cNvPr id="51" name="Freeform 25"/>
                <p:cNvSpPr>
                  <a:spLocks/>
                </p:cNvSpPr>
                <p:nvPr/>
              </p:nvSpPr>
              <p:spPr bwMode="auto">
                <a:xfrm>
                  <a:off x="7354768" y="5732519"/>
                  <a:ext cx="1805107" cy="869898"/>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p>
              </p:txBody>
            </p:sp>
          </p:grpSp>
          <p:pic>
            <p:nvPicPr>
              <p:cNvPr id="85036"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6"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7"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grpSp>
          <p:nvGrpSpPr>
            <p:cNvPr id="85038" name="Group 66"/>
            <p:cNvGrpSpPr>
              <a:grpSpLocks/>
            </p:cNvGrpSpPr>
            <p:nvPr/>
          </p:nvGrpSpPr>
          <p:grpSpPr bwMode="auto">
            <a:xfrm>
              <a:off x="-26988" y="357188"/>
              <a:ext cx="9178926" cy="2571750"/>
              <a:chOff x="-17463" y="357188"/>
              <a:chExt cx="9186863" cy="2571750"/>
            </a:xfrm>
          </p:grpSpPr>
          <p:sp>
            <p:nvSpPr>
              <p:cNvPr id="22" name="Freeform 17"/>
              <p:cNvSpPr>
                <a:spLocks/>
              </p:cNvSpPr>
              <p:nvPr/>
            </p:nvSpPr>
            <p:spPr bwMode="auto">
              <a:xfrm>
                <a:off x="-17463" y="1971578"/>
                <a:ext cx="9187471" cy="957205"/>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3" name="Freeform 18"/>
              <p:cNvSpPr>
                <a:spLocks/>
              </p:cNvSpPr>
              <p:nvPr/>
            </p:nvSpPr>
            <p:spPr bwMode="auto">
              <a:xfrm>
                <a:off x="-17463" y="2449387"/>
                <a:ext cx="9187471" cy="479396"/>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24" name="Freeform 19"/>
              <p:cNvSpPr>
                <a:spLocks/>
              </p:cNvSpPr>
              <p:nvPr/>
            </p:nvSpPr>
            <p:spPr bwMode="auto">
              <a:xfrm>
                <a:off x="-17463" y="1655685"/>
                <a:ext cx="9187471" cy="954030"/>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25" name="Freeform 20"/>
              <p:cNvSpPr>
                <a:spLocks/>
              </p:cNvSpPr>
              <p:nvPr/>
            </p:nvSpPr>
            <p:spPr bwMode="auto">
              <a:xfrm>
                <a:off x="-17463" y="2130318"/>
                <a:ext cx="9187471" cy="479396"/>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26" name="Freeform 21"/>
              <p:cNvSpPr>
                <a:spLocks/>
              </p:cNvSpPr>
              <p:nvPr/>
            </p:nvSpPr>
            <p:spPr bwMode="auto">
              <a:xfrm>
                <a:off x="-17463" y="1336616"/>
                <a:ext cx="9187471" cy="954031"/>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7" name="Freeform 22"/>
              <p:cNvSpPr>
                <a:spLocks/>
              </p:cNvSpPr>
              <p:nvPr/>
            </p:nvSpPr>
            <p:spPr bwMode="auto">
              <a:xfrm>
                <a:off x="-17463" y="1811250"/>
                <a:ext cx="9187471" cy="479396"/>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28" name="Freeform 23"/>
              <p:cNvSpPr>
                <a:spLocks/>
              </p:cNvSpPr>
              <p:nvPr/>
            </p:nvSpPr>
            <p:spPr bwMode="auto">
              <a:xfrm>
                <a:off x="-17463" y="357188"/>
                <a:ext cx="9187471" cy="957204"/>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29" name="Freeform 24"/>
              <p:cNvSpPr>
                <a:spLocks/>
              </p:cNvSpPr>
              <p:nvPr/>
            </p:nvSpPr>
            <p:spPr bwMode="auto">
              <a:xfrm>
                <a:off x="-17463" y="357188"/>
                <a:ext cx="9187471" cy="47780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30" name="Freeform 25"/>
              <p:cNvSpPr>
                <a:spLocks/>
              </p:cNvSpPr>
              <p:nvPr/>
            </p:nvSpPr>
            <p:spPr bwMode="auto">
              <a:xfrm>
                <a:off x="-17463" y="676256"/>
                <a:ext cx="9187471" cy="954031"/>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31" name="Freeform 26"/>
              <p:cNvSpPr>
                <a:spLocks/>
              </p:cNvSpPr>
              <p:nvPr/>
            </p:nvSpPr>
            <p:spPr bwMode="auto">
              <a:xfrm>
                <a:off x="-17463" y="676256"/>
                <a:ext cx="9187471" cy="477809"/>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32" name="Freeform 27"/>
              <p:cNvSpPr>
                <a:spLocks/>
              </p:cNvSpPr>
              <p:nvPr/>
            </p:nvSpPr>
            <p:spPr bwMode="auto">
              <a:xfrm>
                <a:off x="-17463" y="995325"/>
                <a:ext cx="9187471" cy="954030"/>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33" name="Freeform 28"/>
              <p:cNvSpPr>
                <a:spLocks/>
              </p:cNvSpPr>
              <p:nvPr/>
            </p:nvSpPr>
            <p:spPr bwMode="auto">
              <a:xfrm>
                <a:off x="-17463" y="995325"/>
                <a:ext cx="9187471" cy="474633"/>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grpSp>
      </p:grpSp>
    </p:spTree>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24BDA09F-FC67-4E82-AAE8-1FCC1B78623D}"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075941D5-138D-4337-8F86-A87EBA058CB0}"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1FE60F56-E6DA-4A29-8F3F-E547226C85A6}"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8" name="Slide Number Placeholder 7"/>
          <p:cNvSpPr>
            <a:spLocks noGrp="1"/>
          </p:cNvSpPr>
          <p:nvPr>
            <p:ph type="sldNum" sz="quarter" idx="11"/>
          </p:nvPr>
        </p:nvSpPr>
        <p:spPr/>
        <p:txBody>
          <a:bodyPr/>
          <a:lstStyle>
            <a:lvl1pPr>
              <a:defRPr/>
            </a:lvl1pPr>
          </a:lstStyle>
          <a:p>
            <a:pPr>
              <a:defRPr/>
            </a:pPr>
            <a:fld id="{A7557C0D-6070-4893-8A71-8795261E25B4}"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4" name="Slide Number Placeholder 3"/>
          <p:cNvSpPr>
            <a:spLocks noGrp="1"/>
          </p:cNvSpPr>
          <p:nvPr>
            <p:ph type="sldNum" sz="quarter" idx="11"/>
          </p:nvPr>
        </p:nvSpPr>
        <p:spPr/>
        <p:txBody>
          <a:bodyPr/>
          <a:lstStyle>
            <a:lvl1pPr>
              <a:defRPr/>
            </a:lvl1pPr>
          </a:lstStyle>
          <a:p>
            <a:pPr>
              <a:defRPr/>
            </a:pPr>
            <a:fld id="{4A5AD381-0E0D-4F13-8FDE-396E5C61DA95}" type="slidenum">
              <a:rPr lang="en-AU"/>
              <a:pPr>
                <a:defRPr/>
              </a:pPr>
              <a:t>‹#›</a:t>
            </a:fld>
            <a:r>
              <a:rPr lang="en-AU"/>
              <a:t>  |</a:t>
            </a:r>
            <a:endParaRPr lang="en-AU" dirty="0"/>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3" name="Slide Number Placeholder 2"/>
          <p:cNvSpPr>
            <a:spLocks noGrp="1"/>
          </p:cNvSpPr>
          <p:nvPr>
            <p:ph type="sldNum" sz="quarter" idx="11"/>
          </p:nvPr>
        </p:nvSpPr>
        <p:spPr/>
        <p:txBody>
          <a:bodyPr/>
          <a:lstStyle>
            <a:lvl1pPr>
              <a:defRPr/>
            </a:lvl1pPr>
          </a:lstStyle>
          <a:p>
            <a:pPr>
              <a:defRPr/>
            </a:pPr>
            <a:fld id="{FB3D9201-73B3-41F2-8EF2-7E35A53558F0}"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5F823EDE-F553-4836-A741-04347AE7A842}" type="slidenum">
              <a:rPr lang="en-AU"/>
              <a:pPr>
                <a:defRPr/>
              </a:pPr>
              <a:t>‹#›</a:t>
            </a:fld>
            <a:r>
              <a:rPr lang="en-AU"/>
              <a:t>  |</a:t>
            </a:r>
            <a:endParaRPr lang="en-AU" dirty="0"/>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F98D8D98-6B29-4B3A-B934-74891CC64673}" type="slidenum">
              <a:rPr lang="en-AU"/>
              <a:pPr>
                <a:defRPr/>
              </a:pPr>
              <a:t>‹#›</a:t>
            </a:fld>
            <a:r>
              <a:rPr lang="en-AU"/>
              <a:t>  |</a:t>
            </a:r>
            <a:endParaRPr lang="en-AU" dirty="0"/>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345FDED5-7A37-4CE5-BD36-48A064ACCE06}" type="slidenum">
              <a:rPr lang="en-AU"/>
              <a:pPr>
                <a:defRPr/>
              </a:pPr>
              <a:t>‹#›</a:t>
            </a:fld>
            <a:r>
              <a:rPr lang="en-AU"/>
              <a:t>  |</a:t>
            </a:r>
            <a:endParaRPr lang="en-AU" dirty="0"/>
          </a:p>
        </p:txBody>
      </p:sp>
    </p:spTree>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B57C4FC2-280F-48EB-A0FF-7EACEDD5CD0A}" type="slidenum">
              <a:rPr lang="en-AU"/>
              <a:pPr>
                <a:defRPr/>
              </a:pPr>
              <a:t>‹#›</a:t>
            </a:fld>
            <a:r>
              <a:rPr lang="en-AU"/>
              <a:t>  |</a:t>
            </a:r>
            <a:endParaRPr lang="en-AU" dirty="0"/>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2955"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2956"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grpSp>
        <p:nvGrpSpPr>
          <p:cNvPr id="2" name="Group 35"/>
          <p:cNvGrpSpPr>
            <a:grpSpLocks/>
          </p:cNvGrpSpPr>
          <p:nvPr/>
        </p:nvGrpSpPr>
        <p:grpSpPr bwMode="auto">
          <a:xfrm>
            <a:off x="0" y="5500688"/>
            <a:ext cx="9167813" cy="996950"/>
            <a:chOff x="608" y="5500319"/>
            <a:chExt cx="9167813" cy="996950"/>
          </a:xfrm>
        </p:grpSpPr>
        <p:grpSp>
          <p:nvGrpSpPr>
            <p:cNvPr id="4"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7938" y="5668963"/>
                <a:ext cx="9167813" cy="99695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solidFill>
                    <a:srgbClr val="000000"/>
                  </a:solidFill>
                </a:endParaRPr>
              </a:p>
            </p:txBody>
          </p:sp>
          <p:sp>
            <p:nvSpPr>
              <p:cNvPr id="50" name="Freeform 24"/>
              <p:cNvSpPr>
                <a:spLocks/>
              </p:cNvSpPr>
              <p:nvPr/>
            </p:nvSpPr>
            <p:spPr bwMode="auto">
              <a:xfrm>
                <a:off x="-7938" y="5732463"/>
                <a:ext cx="7362825" cy="433387"/>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solidFill>
                    <a:srgbClr val="000000"/>
                  </a:solidFill>
                </a:endParaRPr>
              </a:p>
            </p:txBody>
          </p:sp>
          <p:sp>
            <p:nvSpPr>
              <p:cNvPr id="51" name="Freeform 25"/>
              <p:cNvSpPr>
                <a:spLocks/>
              </p:cNvSpPr>
              <p:nvPr/>
            </p:nvSpPr>
            <p:spPr bwMode="auto">
              <a:xfrm>
                <a:off x="7354887" y="5732463"/>
                <a:ext cx="1804988" cy="869950"/>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solidFill>
                    <a:srgbClr val="000000"/>
                  </a:solidFill>
                </a:endParaRPr>
              </a:p>
            </p:txBody>
          </p:sp>
        </p:grpSp>
        <p:pic>
          <p:nvPicPr>
            <p:cNvPr id="82965"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5"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solidFill>
                    <a:srgbClr val="000000"/>
                  </a:solidFill>
                </a:endParaRPr>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solidFill>
                    <a:srgbClr val="000000"/>
                  </a:solidFill>
                </a:endParaRPr>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solidFill>
                    <a:srgbClr val="000000"/>
                  </a:solidFill>
                </a:endParaRPr>
              </a:p>
            </p:txBody>
          </p:sp>
          <p:sp>
            <p:nvSpPr>
              <p:cNvPr id="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solidFill>
                    <a:srgbClr val="000000"/>
                  </a:solidFill>
                </a:endParaRPr>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solidFill>
                    <a:srgbClr val="000000"/>
                  </a:solidFill>
                </a:endParaRPr>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solidFill>
                    <a:srgbClr val="000000"/>
                  </a:solidFill>
                </a:endParaRPr>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solidFill>
                    <a:srgbClr val="000000"/>
                  </a:solidFill>
                </a:endParaRPr>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solidFill>
                    <a:srgbClr val="000000"/>
                  </a:solidFill>
                </a:endParaRPr>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solidFill>
                    <a:srgbClr val="000000"/>
                  </a:solidFill>
                </a:endParaRPr>
              </a:p>
            </p:txBody>
          </p:sp>
        </p:grpSp>
      </p:grpSp>
    </p:spTree>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D219307C-080A-46E7-882A-6A6A7387B840}"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8CE77216-F63E-4D50-AF41-F5BDADEA9762}"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449156FC-71DD-40B9-A1DD-D007098B8FFF}"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8" name="Slide Number Placeholder 7"/>
          <p:cNvSpPr>
            <a:spLocks noGrp="1"/>
          </p:cNvSpPr>
          <p:nvPr>
            <p:ph type="sldNum" sz="quarter" idx="11"/>
          </p:nvPr>
        </p:nvSpPr>
        <p:spPr/>
        <p:txBody>
          <a:bodyPr/>
          <a:lstStyle>
            <a:lvl1pPr>
              <a:defRPr/>
            </a:lvl1pPr>
          </a:lstStyle>
          <a:p>
            <a:pPr>
              <a:defRPr/>
            </a:pPr>
            <a:fld id="{714FFEA7-557C-4D87-A8D3-77739310CB83}"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4" name="Slide Number Placeholder 3"/>
          <p:cNvSpPr>
            <a:spLocks noGrp="1"/>
          </p:cNvSpPr>
          <p:nvPr>
            <p:ph type="sldNum" sz="quarter" idx="11"/>
          </p:nvPr>
        </p:nvSpPr>
        <p:spPr/>
        <p:txBody>
          <a:bodyPr/>
          <a:lstStyle>
            <a:lvl1pPr>
              <a:defRPr/>
            </a:lvl1pPr>
          </a:lstStyle>
          <a:p>
            <a:pPr>
              <a:defRPr/>
            </a:pPr>
            <a:fld id="{C1294416-3B22-425D-BB5B-21DDEA7FBD93}"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3" name="Slide Number Placeholder 2"/>
          <p:cNvSpPr>
            <a:spLocks noGrp="1"/>
          </p:cNvSpPr>
          <p:nvPr>
            <p:ph type="sldNum" sz="quarter" idx="11"/>
          </p:nvPr>
        </p:nvSpPr>
        <p:spPr/>
        <p:txBody>
          <a:bodyPr/>
          <a:lstStyle>
            <a:lvl1pPr>
              <a:defRPr/>
            </a:lvl1pPr>
          </a:lstStyle>
          <a:p>
            <a:pPr>
              <a:defRPr/>
            </a:pPr>
            <a:fld id="{81566DA9-AB3D-4049-AE84-1F9D2FBF43A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91D077FD-71D6-41C3-8FBA-4DE233614B86}"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6" name="Slide Number Placeholder 5"/>
          <p:cNvSpPr>
            <a:spLocks noGrp="1"/>
          </p:cNvSpPr>
          <p:nvPr>
            <p:ph type="sldNum" sz="quarter" idx="11"/>
          </p:nvPr>
        </p:nvSpPr>
        <p:spPr/>
        <p:txBody>
          <a:bodyPr/>
          <a:lstStyle>
            <a:lvl1pPr>
              <a:defRPr/>
            </a:lvl1pPr>
          </a:lstStyle>
          <a:p>
            <a:pPr>
              <a:defRPr/>
            </a:pPr>
            <a:fld id="{ABA24F59-A6A7-4A62-A353-895A55D2963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80AB1CA8-D382-4960-ADB9-4F0E546322F7}"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Cox, Simons, Yu | Observable property ontology</a:t>
            </a:r>
            <a:endParaRPr lang="en-AU"/>
          </a:p>
        </p:txBody>
      </p:sp>
      <p:sp>
        <p:nvSpPr>
          <p:cNvPr id="5" name="Slide Number Placeholder 4"/>
          <p:cNvSpPr>
            <a:spLocks noGrp="1"/>
          </p:cNvSpPr>
          <p:nvPr>
            <p:ph type="sldNum" sz="quarter" idx="11"/>
          </p:nvPr>
        </p:nvSpPr>
        <p:spPr/>
        <p:txBody>
          <a:bodyPr/>
          <a:lstStyle>
            <a:lvl1pPr>
              <a:defRPr/>
            </a:lvl1pPr>
          </a:lstStyle>
          <a:p>
            <a:pPr>
              <a:defRPr/>
            </a:pPr>
            <a:fld id="{15DC8C04-0A98-412E-ACAA-B428105D260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alphaModFix amt="20000"/>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75000"/>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1143000"/>
          </a:xfrm>
        </p:spPr>
        <p:txBody>
          <a:bodyPr/>
          <a:lstStyle>
            <a:lvl1pPr>
              <a:defRPr sz="3200">
                <a:solidFill>
                  <a:srgbClr val="FFFF00"/>
                </a:solidFill>
                <a:effectLst>
                  <a:outerShdw blurRad="123825" dist="114300" dir="2700000" algn="tl" rotWithShape="0">
                    <a:srgbClr val="000000">
                      <a:alpha val="73000"/>
                    </a:srgb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alphaModFix amt="20000"/>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alphaModFix amt="75000"/>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153400" cy="1143000"/>
          </a:xfrm>
        </p:spPr>
        <p:txBody>
          <a:bodyPr/>
          <a:lstStyle>
            <a:lvl1pPr>
              <a:defRPr sz="3600">
                <a:solidFill>
                  <a:srgbClr val="FFFF00"/>
                </a:solidFill>
                <a:effectLst>
                  <a:outerShdw blurRad="95250" dist="114300" dir="2700000" algn="tl" rotWithShape="0">
                    <a:srgbClr val="000000">
                      <a:alpha val="73000"/>
                    </a:srgbClr>
                  </a:outerShdw>
                </a:effectLst>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51EA17-A275-4486-B3D2-5AB5889AFED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5_Custom Layout">
    <p:spTree>
      <p:nvGrpSpPr>
        <p:cNvPr id="1" name=""/>
        <p:cNvGrpSpPr/>
        <p:nvPr/>
      </p:nvGrpSpPr>
      <p:grpSpPr>
        <a:xfrm>
          <a:off x="0" y="0"/>
          <a:ext cx="0" cy="0"/>
          <a:chOff x="0" y="0"/>
          <a:chExt cx="0" cy="0"/>
        </a:xfrm>
      </p:grpSpPr>
      <p:sp>
        <p:nvSpPr>
          <p:cNvPr id="3" name="Rectangle 2"/>
          <p:cNvSpPr>
            <a:spLocks noChangeArrowheads="1"/>
          </p:cNvSpPr>
          <p:nvPr userDrawn="1"/>
        </p:nvSpPr>
        <p:spPr bwMode="auto">
          <a:xfrm>
            <a:off x="0" y="0"/>
            <a:ext cx="9144000" cy="846138"/>
          </a:xfrm>
          <a:prstGeom prst="rect">
            <a:avLst/>
          </a:prstGeom>
          <a:solidFill>
            <a:srgbClr val="FDBE11"/>
          </a:solidFill>
          <a:ln w="9525">
            <a:noFill/>
            <a:miter lim="800000"/>
            <a:headEnd/>
            <a:tailEnd/>
          </a:ln>
          <a:effectLst/>
        </p:spPr>
        <p:txBody>
          <a:bodyPr wrap="none" anchor="ctr"/>
          <a:lstStyle/>
          <a:p>
            <a:pPr defTabSz="457200" fontAlgn="auto">
              <a:spcBef>
                <a:spcPts val="0"/>
              </a:spcBef>
              <a:spcAft>
                <a:spcPts val="0"/>
              </a:spcAft>
              <a:defRPr/>
            </a:pPr>
            <a:endParaRPr lang="en-US" dirty="0">
              <a:solidFill>
                <a:prstClr val="black"/>
              </a:solidFill>
              <a:latin typeface="Verdana"/>
              <a:ea typeface="ＭＳ Ｐゴシック" charset="-128"/>
            </a:endParaRPr>
          </a:p>
        </p:txBody>
      </p:sp>
      <p:pic>
        <p:nvPicPr>
          <p:cNvPr id="5" name="Picture 9" descr="TQ_Logo_Blue_Rectangle-compact.png"/>
          <p:cNvPicPr>
            <a:picLocks noChangeAspect="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857250" cy="846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857325" y="0"/>
            <a:ext cx="8286675" cy="846667"/>
          </a:xfrm>
          <a:noFill/>
        </p:spPr>
        <p:txBody>
          <a:bodyPr/>
          <a:lstStyle>
            <a:lvl1pPr algn="l">
              <a:defRPr sz="3600">
                <a:solidFill>
                  <a:srgbClr val="004897"/>
                </a:solidFill>
              </a:defRPr>
            </a:lvl1pPr>
          </a:lstStyle>
          <a:p>
            <a:r>
              <a:rPr lang="en-US" smtClean="0"/>
              <a:t>Click to edit Master title style</a:t>
            </a:r>
            <a:endParaRPr lang="en-US" dirty="0"/>
          </a:p>
        </p:txBody>
      </p:sp>
      <p:sp>
        <p:nvSpPr>
          <p:cNvPr id="6" name="Rectangle 2"/>
          <p:cNvSpPr txBox="1">
            <a:spLocks noGrp="1" noChangeArrowheads="1"/>
          </p:cNvSpPr>
          <p:nvPr userDrawn="1"/>
        </p:nvSpPr>
        <p:spPr bwMode="auto">
          <a:xfrm>
            <a:off x="0" y="6629400"/>
            <a:ext cx="9144000" cy="228600"/>
          </a:xfrm>
          <a:prstGeom prst="rect">
            <a:avLst/>
          </a:prstGeom>
          <a:noFill/>
          <a:ln w="9525">
            <a:noFill/>
            <a:miter lim="800000"/>
            <a:headEnd/>
            <a:tailEnd/>
          </a:ln>
        </p:spPr>
        <p:txBody>
          <a:bodyPr wrap="none" lIns="92075" tIns="46038" rIns="92075" bIns="46038" anchor="ctr"/>
          <a:lstStyle/>
          <a:p>
            <a:pPr defTabSz="457200" eaLnBrk="0" fontAlgn="auto" hangingPunct="0">
              <a:spcBef>
                <a:spcPts val="0"/>
              </a:spcBef>
              <a:spcAft>
                <a:spcPts val="0"/>
              </a:spcAft>
              <a:tabLst>
                <a:tab pos="7489825" algn="l"/>
              </a:tabLst>
              <a:defRPr/>
            </a:pPr>
            <a:r>
              <a:rPr lang="en-US" sz="900" dirty="0">
                <a:solidFill>
                  <a:srgbClr val="595959"/>
                </a:solidFill>
                <a:latin typeface="Comic Sans MS" charset="0"/>
                <a:ea typeface="ＭＳ Ｐゴシック" charset="-128"/>
              </a:rPr>
              <a:t>© Copyright </a:t>
            </a:r>
            <a:r>
              <a:rPr lang="en-US" sz="900" dirty="0" smtClean="0">
                <a:solidFill>
                  <a:srgbClr val="595959"/>
                </a:solidFill>
                <a:latin typeface="Comic Sans MS" charset="0"/>
                <a:ea typeface="ＭＳ Ｐゴシック" charset="-128"/>
              </a:rPr>
              <a:t>2011 </a:t>
            </a:r>
            <a:r>
              <a:rPr lang="en-US" sz="900" dirty="0">
                <a:solidFill>
                  <a:srgbClr val="595959"/>
                </a:solidFill>
                <a:latin typeface="Comic Sans MS" charset="0"/>
                <a:ea typeface="ＭＳ Ｐゴシック" charset="-128"/>
              </a:rPr>
              <a:t>TopQuadrant Inc.	                         Slide </a:t>
            </a:r>
            <a:fld id="{20B65BE2-3E83-4276-B71D-D367B73E2975}" type="slidenum">
              <a:rPr lang="en-US" sz="900">
                <a:solidFill>
                  <a:srgbClr val="595959"/>
                </a:solidFill>
                <a:latin typeface="Comic Sans MS" charset="0"/>
                <a:ea typeface="ＭＳ Ｐゴシック" charset="-128"/>
              </a:rPr>
              <a:pPr defTabSz="457200" eaLnBrk="0" fontAlgn="auto" hangingPunct="0">
                <a:spcBef>
                  <a:spcPts val="0"/>
                </a:spcBef>
                <a:spcAft>
                  <a:spcPts val="0"/>
                </a:spcAft>
                <a:tabLst>
                  <a:tab pos="7489825" algn="l"/>
                </a:tabLst>
                <a:defRPr/>
              </a:pPr>
              <a:t>‹#›</a:t>
            </a:fld>
            <a:endParaRPr lang="en-US" sz="900" dirty="0">
              <a:solidFill>
                <a:srgbClr val="595959"/>
              </a:solidFill>
              <a:latin typeface="Comic Sans MS" charset="0"/>
              <a:ea typeface="ＭＳ Ｐゴシック" charset="-128"/>
            </a:endParaRPr>
          </a:p>
        </p:txBody>
      </p:sp>
    </p:spTree>
    <p:extLst>
      <p:ext uri="{BB962C8B-B14F-4D97-AF65-F5344CB8AC3E}">
        <p14:creationId xmlns:p14="http://schemas.microsoft.com/office/powerpoint/2010/main" xmlns="" val="25091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emf"/><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emf"/><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emf"/><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theme" Target="../theme/theme6.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6" Type="http://schemas.openxmlformats.org/officeDocument/2006/relationships/image" Target="../media/image4.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1"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30751"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3072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endParaRPr lang="en-AU" smtClean="0"/>
          </a:p>
        </p:txBody>
      </p:sp>
      <p:sp>
        <p:nvSpPr>
          <p:cNvPr id="3072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Calibri" pitchFamily="34" charset="0"/>
              </a:defRPr>
            </a:lvl1pPr>
          </a:lstStyle>
          <a:p>
            <a:r>
              <a:rPr lang="en-AU" smtClean="0"/>
              <a:t>Cox, Simons, Yu | Observable property ontology</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CF931A3B-F406-4BF3-9CB0-9C1A1E1EA5A9}"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57" r:id="rId1"/>
    <p:sldLayoutId id="2147483664" r:id="rId2"/>
    <p:sldLayoutId id="2147483665" r:id="rId3"/>
    <p:sldLayoutId id="2147483666" r:id="rId4"/>
    <p:sldLayoutId id="2147483667" r:id="rId5"/>
    <p:sldLayoutId id="2147483668" r:id="rId6"/>
    <p:sldLayoutId id="2147483669" r:id="rId7"/>
    <p:sldLayoutId id="2147483670" r:id="rId8"/>
    <p:sldLayoutId id="2147483701" r:id="rId9"/>
    <p:sldLayoutId id="2147483716" r:id="rId10"/>
    <p:sldLayoutId id="2147483732" r:id="rId11"/>
  </p:sldLayoutIdLst>
  <p:transition>
    <p:fade/>
  </p:transition>
  <p:timing>
    <p:tnLst>
      <p:par>
        <p:cTn id="1" dur="indefinite" restart="never" nodeType="tmRoot"/>
      </p:par>
    </p:tnLst>
  </p:timing>
  <p:hf hdr="0" dt="0"/>
  <p:txStyles>
    <p:titleStyle>
      <a:lvl1pPr algn="l" rtl="0" eaLnBrk="1" fontAlgn="base" hangingPunct="1">
        <a:spcBef>
          <a:spcPct val="0"/>
        </a:spcBef>
        <a:spcAft>
          <a:spcPct val="0"/>
        </a:spcAft>
        <a:defRPr sz="3600" b="1" kern="1200">
          <a:solidFill>
            <a:schemeClr val="accent2"/>
          </a:solidFill>
          <a:latin typeface="+mj-lt"/>
          <a:ea typeface="+mj-ea"/>
          <a:cs typeface="+mj-cs"/>
        </a:defRPr>
      </a:lvl1pPr>
      <a:lvl2pPr algn="l" rtl="0" eaLnBrk="1" fontAlgn="base" hangingPunct="1">
        <a:spcBef>
          <a:spcPct val="0"/>
        </a:spcBef>
        <a:spcAft>
          <a:spcPct val="0"/>
        </a:spcAft>
        <a:defRPr sz="3600" b="1">
          <a:solidFill>
            <a:schemeClr val="accent2"/>
          </a:solidFill>
          <a:latin typeface="Calibri" pitchFamily="34" charset="0"/>
        </a:defRPr>
      </a:lvl2pPr>
      <a:lvl3pPr algn="l" rtl="0" eaLnBrk="1" fontAlgn="base" hangingPunct="1">
        <a:spcBef>
          <a:spcPct val="0"/>
        </a:spcBef>
        <a:spcAft>
          <a:spcPct val="0"/>
        </a:spcAft>
        <a:defRPr sz="3600" b="1">
          <a:solidFill>
            <a:schemeClr val="accent2"/>
          </a:solidFill>
          <a:latin typeface="Calibri" pitchFamily="34" charset="0"/>
        </a:defRPr>
      </a:lvl3pPr>
      <a:lvl4pPr algn="l" rtl="0" eaLnBrk="1" fontAlgn="base" hangingPunct="1">
        <a:spcBef>
          <a:spcPct val="0"/>
        </a:spcBef>
        <a:spcAft>
          <a:spcPct val="0"/>
        </a:spcAft>
        <a:defRPr sz="3600" b="1">
          <a:solidFill>
            <a:schemeClr val="accent2"/>
          </a:solidFill>
          <a:latin typeface="Calibri" pitchFamily="34" charset="0"/>
        </a:defRPr>
      </a:lvl4pPr>
      <a:lvl5pPr algn="l" rtl="0" eaLnBrk="1" fontAlgn="base" hangingPunct="1">
        <a:spcBef>
          <a:spcPct val="0"/>
        </a:spcBef>
        <a:spcAft>
          <a:spcPct val="0"/>
        </a:spcAft>
        <a:defRPr sz="3600" b="1">
          <a:solidFill>
            <a:schemeClr val="accent2"/>
          </a:solidFill>
          <a:latin typeface="Calibri" pitchFamily="34" charset="0"/>
        </a:defRPr>
      </a:lvl5pPr>
      <a:lvl6pPr marL="457200" algn="l" rtl="0" eaLnBrk="1" fontAlgn="base" hangingPunct="1">
        <a:spcBef>
          <a:spcPct val="0"/>
        </a:spcBef>
        <a:spcAft>
          <a:spcPct val="0"/>
        </a:spcAft>
        <a:defRPr sz="3600" b="1">
          <a:solidFill>
            <a:schemeClr val="accent2"/>
          </a:solidFill>
          <a:latin typeface="Calibri" pitchFamily="34" charset="0"/>
        </a:defRPr>
      </a:lvl6pPr>
      <a:lvl7pPr marL="914400" algn="l" rtl="0" eaLnBrk="1" fontAlgn="base" hangingPunct="1">
        <a:spcBef>
          <a:spcPct val="0"/>
        </a:spcBef>
        <a:spcAft>
          <a:spcPct val="0"/>
        </a:spcAft>
        <a:defRPr sz="3600" b="1">
          <a:solidFill>
            <a:schemeClr val="accent2"/>
          </a:solidFill>
          <a:latin typeface="Calibri" pitchFamily="34" charset="0"/>
        </a:defRPr>
      </a:lvl7pPr>
      <a:lvl8pPr marL="1371600" algn="l" rtl="0" eaLnBrk="1" fontAlgn="base" hangingPunct="1">
        <a:spcBef>
          <a:spcPct val="0"/>
        </a:spcBef>
        <a:spcAft>
          <a:spcPct val="0"/>
        </a:spcAft>
        <a:defRPr sz="3600" b="1">
          <a:solidFill>
            <a:schemeClr val="accent2"/>
          </a:solidFill>
          <a:latin typeface="Calibri" pitchFamily="34" charset="0"/>
        </a:defRPr>
      </a:lvl8pPr>
      <a:lvl9pPr marL="1828800" algn="l" rtl="0" eaLnBrk="1" fontAlgn="base" hangingPunct="1">
        <a:spcBef>
          <a:spcPct val="0"/>
        </a:spcBef>
        <a:spcAft>
          <a:spcPct val="0"/>
        </a:spcAft>
        <a:defRPr sz="3600" b="1">
          <a:solidFill>
            <a:schemeClr val="accent2"/>
          </a:solidFill>
          <a:latin typeface="Calibri" pitchFamily="34" charset="0"/>
        </a:defRPr>
      </a:lvl9pPr>
    </p:titleStyle>
    <p:bodyStyle>
      <a:lvl1pPr marL="215900" indent="-215900" algn="l" rtl="0" eaLnBrk="1" fontAlgn="base" hangingPunct="1">
        <a:lnSpc>
          <a:spcPct val="90000"/>
        </a:lnSpc>
        <a:spcBef>
          <a:spcPts val="600"/>
        </a:spcBef>
        <a:spcAft>
          <a:spcPct val="0"/>
        </a:spcAft>
        <a:buFont typeface="Arial" charset="0"/>
        <a:buChar char="•"/>
        <a:defRPr sz="2400" kern="1200">
          <a:solidFill>
            <a:schemeClr val="tx1"/>
          </a:solidFill>
          <a:latin typeface="+mn-lt"/>
          <a:ea typeface="+mn-ea"/>
          <a:cs typeface="+mn-cs"/>
        </a:defRPr>
      </a:lvl1pPr>
      <a:lvl2pPr marL="4318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2pPr>
      <a:lvl3pPr marL="6477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3pPr>
      <a:lvl4pPr marL="8636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4pPr>
      <a:lvl5pPr marL="1079500" indent="-215900" algn="l" rtl="0" eaLnBrk="1" fontAlgn="base" hangingPunct="1">
        <a:lnSpc>
          <a:spcPct val="90000"/>
        </a:lnSpc>
        <a:spcBef>
          <a:spcPts val="600"/>
        </a:spcBef>
        <a:spcAft>
          <a:spcPct val="0"/>
        </a:spcAft>
        <a:buFont typeface="Calibri" pitchFamily="34" charset="0"/>
        <a:buChar char="•"/>
        <a:defRPr kern="1200">
          <a:solidFill>
            <a:schemeClr val="accent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79893"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79903"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79885"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79886"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Cox, Simons, Yu | Observable property ontology</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660D17EE-D26E-4E7E-88ED-5FDED297F975}"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59"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ransition>
    <p:fade/>
  </p:transition>
  <p:timing>
    <p:tnLst>
      <p:par>
        <p:cTn id="1" dur="indefinite" restart="never" nodeType="tmRoot"/>
      </p:par>
    </p:tnLst>
  </p:timing>
  <p:hf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1941"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81951"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8193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193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Cox, Simons, Yu | Observable property ontology</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006F2D36-124F-4F48-9E4C-98EE088E01D6}"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ransition>
    <p:fade/>
  </p:transition>
  <p:timing>
    <p:tnLst>
      <p:par>
        <p:cTn id="1" dur="indefinite" restart="never" nodeType="tmRoot"/>
      </p:par>
    </p:tnLst>
  </p:timing>
  <p:hf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3989"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83999"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83981"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3982"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Cox, Simons, Yu | Observable property ontology</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6AE1574B-A033-4C51-A0AA-19C42B3BBB5D}"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63"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ransition>
    <p:fade/>
  </p:transition>
  <p:timing>
    <p:tnLst>
      <p:par>
        <p:cTn id="1" dur="indefinite" restart="never" nodeType="tmRoot"/>
      </p:par>
    </p:tnLst>
  </p:timing>
  <p:hf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solidFill>
                  <a:srgbClr val="000000"/>
                </a:solidFill>
              </a:endParaRPr>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solidFill>
                  <a:srgbClr val="000000"/>
                </a:solidFill>
              </a:endParaRPr>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solidFill>
                  <a:srgbClr val="000000"/>
                </a:solidFill>
              </a:endParaRPr>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solidFill>
                  <a:srgbClr val="000000"/>
                </a:solidFill>
              </a:endParaRPr>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solidFill>
                  <a:srgbClr val="000000"/>
                </a:solidFill>
              </a:endParaRPr>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solidFill>
                  <a:srgbClr val="000000"/>
                </a:solidFill>
              </a:endParaRPr>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solidFill>
                  <a:srgbClr val="000000"/>
                </a:solidFill>
              </a:endParaRPr>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solidFill>
                  <a:srgbClr val="000000"/>
                </a:solidFill>
              </a:endParaRPr>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solidFill>
                  <a:srgbClr val="000000"/>
                </a:solidFill>
              </a:endParaRPr>
            </a:p>
          </p:txBody>
        </p:sp>
        <p:pic>
          <p:nvPicPr>
            <p:cNvPr id="81951"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solidFill>
                  <a:srgbClr val="000000"/>
                </a:solidFill>
              </a:endParaRPr>
            </a:p>
          </p:txBody>
        </p:sp>
      </p:grpSp>
      <p:sp>
        <p:nvSpPr>
          <p:cNvPr id="8193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193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Cox, Simons, Yu | Observable property ontology</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006F2D36-124F-4F48-9E4C-98EE088E01D6}" type="slidenum">
              <a:rPr lang="en-AU">
                <a:solidFill>
                  <a:srgbClr val="FFFFFF"/>
                </a:solidFill>
              </a:rPr>
              <a:pPr>
                <a:defRPr/>
              </a:pPr>
              <a:t>‹#›</a:t>
            </a:fld>
            <a:r>
              <a:rPr lang="en-AU" dirty="0">
                <a:solidFill>
                  <a:srgbClr val="FFFFFF"/>
                </a:solidFill>
              </a:rPr>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ransition>
    <p:fade/>
  </p:transition>
  <p:timing>
    <p:tnLst>
      <p:par>
        <p:cTn id="1" dur="indefinite" restart="never" nodeType="tmRoot"/>
      </p:par>
    </p:tnLst>
  </p:timing>
  <p:hf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20000"/>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0"/>
            <a:ext cx="7467600" cy="11430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295400"/>
            <a:ext cx="82296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400800"/>
            <a:ext cx="2590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Verdana"/>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AU" smtClean="0">
                <a:solidFill>
                  <a:prstClr val="black">
                    <a:tint val="75000"/>
                  </a:prstClr>
                </a:solidFill>
                <a:latin typeface="Verdana"/>
              </a:rPr>
              <a:t>Cox, Simons, Yu | Observable property ontology</a:t>
            </a:r>
            <a:endParaRPr lang="en-US">
              <a:solidFill>
                <a:prstClr val="black">
                  <a:tint val="75000"/>
                </a:prstClr>
              </a:solidFill>
              <a:latin typeface="Verdana"/>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A151EA17-A275-4486-B3D2-5AB5889AFED1}" type="slidenum">
              <a:rPr lang="en-US" smtClean="0">
                <a:solidFill>
                  <a:prstClr val="black">
                    <a:tint val="75000"/>
                  </a:prstClr>
                </a:solidFill>
                <a:latin typeface="Verdana"/>
              </a:rPr>
              <a:pPr fontAlgn="auto">
                <a:spcBef>
                  <a:spcPts val="0"/>
                </a:spcBef>
                <a:spcAft>
                  <a:spcPts val="0"/>
                </a:spcAft>
              </a:pPr>
              <a:t>‹#›</a:t>
            </a:fld>
            <a:endParaRPr lang="en-US">
              <a:solidFill>
                <a:prstClr val="black">
                  <a:tint val="75000"/>
                </a:prstClr>
              </a:solidFill>
              <a:latin typeface="Verdana"/>
            </a:endParaRPr>
          </a:p>
        </p:txBody>
      </p:sp>
      <p:pic>
        <p:nvPicPr>
          <p:cNvPr id="9" name="Picture 6" descr="4Color"/>
          <p:cNvPicPr>
            <a:picLocks noChangeAspect="1" noChangeArrowheads="1"/>
          </p:cNvPicPr>
          <p:nvPr/>
        </p:nvPicPr>
        <p:blipFill>
          <a:blip r:embed="rId15" cstate="print"/>
          <a:srcRect/>
          <a:stretch>
            <a:fillRect/>
          </a:stretch>
        </p:blipFill>
        <p:spPr bwMode="auto">
          <a:xfrm>
            <a:off x="8280400" y="0"/>
            <a:ext cx="863600" cy="715962"/>
          </a:xfrm>
          <a:prstGeom prst="rect">
            <a:avLst/>
          </a:prstGeom>
          <a:noFill/>
          <a:ln w="9525">
            <a:noFill/>
            <a:miter lim="800000"/>
            <a:headEnd/>
            <a:tailEnd/>
          </a:ln>
        </p:spPr>
      </p:pic>
      <p:pic>
        <p:nvPicPr>
          <p:cNvPr id="10" name="Picture 9" descr="TQ_Logo_Blue_Rectangle-compact.png"/>
          <p:cNvPicPr>
            <a:picLocks noChangeAspect="1"/>
          </p:cNvPicPr>
          <p:nvPr/>
        </p:nvPicPr>
        <p:blipFill>
          <a:blip r:embed="rId16" cstate="print"/>
          <a:srcRect/>
          <a:stretch>
            <a:fillRect/>
          </a:stretch>
        </p:blipFill>
        <p:spPr bwMode="auto">
          <a:xfrm>
            <a:off x="0" y="0"/>
            <a:ext cx="857250" cy="8461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Lst>
  <p:hf hdr="0" dt="0"/>
  <p:txStyles>
    <p:titleStyle>
      <a:lvl1pPr algn="ctr" defTabSz="914400" rtl="0" eaLnBrk="1" latinLnBrk="0" hangingPunct="1">
        <a:spcBef>
          <a:spcPct val="0"/>
        </a:spcBef>
        <a:buNone/>
        <a:defRPr sz="4000" b="1" kern="1200">
          <a:solidFill>
            <a:schemeClr val="tx1"/>
          </a:solidFill>
          <a:latin typeface="+mj-lt"/>
          <a:ea typeface="+mj-ea"/>
          <a:cs typeface="+mj-cs"/>
        </a:defRPr>
      </a:lvl1pPr>
    </p:titleStyle>
    <p:bodyStyle>
      <a:lvl1pPr marL="574675" indent="-574675" algn="l" defTabSz="914400" rtl="0" eaLnBrk="1" latinLnBrk="0" hangingPunct="1">
        <a:spcBef>
          <a:spcPct val="20000"/>
        </a:spcBef>
        <a:buFont typeface="Wingdings" charset="2"/>
        <a:buChar char="ü"/>
        <a:defRPr sz="3000" kern="1200">
          <a:solidFill>
            <a:schemeClr val="tx1"/>
          </a:solidFill>
          <a:latin typeface="+mn-lt"/>
          <a:ea typeface="+mn-ea"/>
          <a:cs typeface="+mn-cs"/>
        </a:defRPr>
      </a:lvl1pPr>
      <a:lvl2pPr marL="914400" indent="-457200" algn="l" defTabSz="914400" rtl="0" eaLnBrk="1" latinLnBrk="0" hangingPunct="1">
        <a:spcBef>
          <a:spcPct val="20000"/>
        </a:spcBef>
        <a:buFont typeface="Arial"/>
        <a:buChar char="•"/>
        <a:defRPr sz="2400" kern="1200">
          <a:solidFill>
            <a:schemeClr val="tx1"/>
          </a:solidFill>
          <a:latin typeface="+mn-lt"/>
          <a:ea typeface="+mn-ea"/>
          <a:cs typeface="+mn-cs"/>
        </a:defRPr>
      </a:lvl2pPr>
      <a:lvl3pPr marL="1257300" indent="-342900" algn="l" defTabSz="914400" rtl="0" eaLnBrk="1" latinLnBrk="0" hangingPunct="1">
        <a:spcBef>
          <a:spcPct val="20000"/>
        </a:spcBef>
        <a:buFont typeface="Courier New"/>
        <a:buChar char="o"/>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auscope-services-test.arrc.csiro.au/elda-demo/nerc/resource?uri=http://vocab.nerc.ac.uk/collection/P01/current/BCMMCF07/" TargetMode="External"/><Relationship Id="rId3" Type="http://schemas.openxmlformats.org/officeDocument/2006/relationships/hyperlink" Target="http://auscope-services-test.arrc.csiro.au/elda-demo/nerc/resource?uri=http://vocab.nerc.ac.uk/collection/P01/current/TEMPPR01/" TargetMode="External"/><Relationship Id="rId7" Type="http://schemas.openxmlformats.org/officeDocument/2006/relationships/hyperlink" Target="http://vocab.nerc.ac.uk/collection/P01/current/N601S20Z/"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auscope-services-test.arrc.csiro.au/elda-demo/nerc/resource?uri=http://vocab.nerc.ac.uk/collection/P01/current/N601S20Z/" TargetMode="External"/><Relationship Id="rId4" Type="http://schemas.openxmlformats.org/officeDocument/2006/relationships/image" Target="../media/image9.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hyperlink" Target="http://auscope-services-test.arrc.csiro.au/elda-demo/nerc/resource?uri=http://vocab.nerc.ac.uk/collection/P01/current/BCMMCF07/"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hyperlink" Target="http://environment.data.gov.au/def/property/" TargetMode="External"/><Relationship Id="rId7" Type="http://schemas.openxmlformats.org/officeDocument/2006/relationships/hyperlink" Target="http://sissvoc.ereefs.info/search"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environment.data.gov.au/def/op" TargetMode="External"/><Relationship Id="rId5" Type="http://schemas.openxmlformats.org/officeDocument/2006/relationships/hyperlink" Target="http://environment.data.gov.au/def/unit/" TargetMode="External"/><Relationship Id="rId4" Type="http://schemas.openxmlformats.org/officeDocument/2006/relationships/hyperlink" Target="http://environment.data.gov.au/def/objec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9" name="Rectangle 9"/>
          <p:cNvSpPr>
            <a:spLocks noGrp="1"/>
          </p:cNvSpPr>
          <p:nvPr>
            <p:ph type="ctrTitle"/>
          </p:nvPr>
        </p:nvSpPr>
        <p:spPr/>
        <p:txBody>
          <a:bodyPr/>
          <a:lstStyle/>
          <a:p>
            <a:r>
              <a:rPr lang="en-AU" sz="3600" b="0" dirty="0"/>
              <a:t>Observable properties ontology </a:t>
            </a:r>
            <a:r>
              <a:rPr lang="en-AU" sz="3600" b="0" dirty="0" smtClean="0"/>
              <a:t/>
            </a:r>
            <a:br>
              <a:rPr lang="en-AU" sz="3600" b="0" dirty="0" smtClean="0"/>
            </a:br>
            <a:r>
              <a:rPr lang="en-AU" sz="3600" b="0" dirty="0" smtClean="0"/>
              <a:t>– </a:t>
            </a:r>
            <a:r>
              <a:rPr lang="en-AU" sz="3600" b="0" dirty="0"/>
              <a:t>alignment and usability</a:t>
            </a:r>
            <a:endParaRPr lang="en-US" sz="3600" dirty="0"/>
          </a:p>
        </p:txBody>
      </p:sp>
      <p:sp>
        <p:nvSpPr>
          <p:cNvPr id="20486" name="Footer Placeholder 2"/>
          <p:cNvSpPr txBox="1">
            <a:spLocks/>
          </p:cNvSpPr>
          <p:nvPr/>
        </p:nvSpPr>
        <p:spPr bwMode="auto">
          <a:xfrm>
            <a:off x="360363" y="4700588"/>
            <a:ext cx="8042275" cy="250825"/>
          </a:xfrm>
          <a:prstGeom prst="rect">
            <a:avLst/>
          </a:prstGeom>
          <a:noFill/>
          <a:ln w="9525">
            <a:noFill/>
            <a:miter lim="800000"/>
            <a:headEnd/>
            <a:tailEnd/>
          </a:ln>
        </p:spPr>
        <p:txBody>
          <a:bodyPr lIns="0" tIns="0" rIns="0" bIns="0"/>
          <a:lstStyle/>
          <a:p>
            <a:r>
              <a:rPr lang="en-AU" sz="1600" b="1" dirty="0" smtClean="0">
                <a:solidFill>
                  <a:schemeClr val="bg1"/>
                </a:solidFill>
                <a:latin typeface="Calibri" pitchFamily="34" charset="0"/>
              </a:rPr>
              <a:t>Simon Cox, Bruce Simons, Jonathan Yu</a:t>
            </a:r>
            <a:r>
              <a:rPr lang="en-AU" sz="1600" dirty="0" smtClean="0">
                <a:solidFill>
                  <a:schemeClr val="bg1"/>
                </a:solidFill>
                <a:latin typeface="Calibri" pitchFamily="34" charset="0"/>
              </a:rPr>
              <a:t>  |  Environmental Information Systems</a:t>
            </a:r>
            <a:endParaRPr lang="en-AU" sz="1600" dirty="0">
              <a:solidFill>
                <a:schemeClr val="bg1"/>
              </a:solidFill>
              <a:latin typeface="Calibri" pitchFamily="34" charset="0"/>
            </a:endParaRPr>
          </a:p>
        </p:txBody>
      </p:sp>
      <p:sp>
        <p:nvSpPr>
          <p:cNvPr id="20487" name="Footer Placeholder 2"/>
          <p:cNvSpPr txBox="1">
            <a:spLocks/>
          </p:cNvSpPr>
          <p:nvPr/>
        </p:nvSpPr>
        <p:spPr bwMode="auto">
          <a:xfrm>
            <a:off x="361950" y="4962525"/>
            <a:ext cx="8042275" cy="252413"/>
          </a:xfrm>
          <a:prstGeom prst="rect">
            <a:avLst/>
          </a:prstGeom>
          <a:noFill/>
          <a:ln w="9525">
            <a:noFill/>
            <a:miter lim="800000"/>
            <a:headEnd/>
            <a:tailEnd/>
          </a:ln>
        </p:spPr>
        <p:txBody>
          <a:bodyPr lIns="0" tIns="0" rIns="0" bIns="0"/>
          <a:lstStyle/>
          <a:p>
            <a:r>
              <a:rPr lang="en-AU" sz="1600" dirty="0" smtClean="0">
                <a:solidFill>
                  <a:schemeClr val="bg1"/>
                </a:solidFill>
                <a:latin typeface="Calibri" pitchFamily="34" charset="0"/>
              </a:rPr>
              <a:t>12 June 2014</a:t>
            </a:r>
            <a:endParaRPr lang="en-AU" sz="1600" dirty="0">
              <a:solidFill>
                <a:schemeClr val="bg1"/>
              </a:solidFill>
              <a:latin typeface="Calibri" pitchFamily="34" charset="0"/>
            </a:endParaRPr>
          </a:p>
        </p:txBody>
      </p:sp>
      <p:sp>
        <p:nvSpPr>
          <p:cNvPr id="14" name="Text Placeholder 13"/>
          <p:cNvSpPr>
            <a:spLocks/>
          </p:cNvSpPr>
          <p:nvPr/>
        </p:nvSpPr>
        <p:spPr bwMode="auto">
          <a:xfrm>
            <a:off x="360363" y="5626100"/>
            <a:ext cx="4751387" cy="144463"/>
          </a:xfrm>
          <a:prstGeom prst="rect">
            <a:avLst/>
          </a:prstGeom>
          <a:noFill/>
          <a:ln w="9525">
            <a:noFill/>
            <a:miter lim="800000"/>
            <a:headEnd/>
            <a:tailEnd/>
          </a:ln>
        </p:spPr>
        <p:txBody>
          <a:bodyPr lIns="0" tIns="0" rIns="0" bIns="0" anchor="ctr"/>
          <a:lstStyle/>
          <a:p>
            <a:pPr marL="216000" indent="-216000" fontAlgn="auto">
              <a:lnSpc>
                <a:spcPct val="90000"/>
              </a:lnSpc>
              <a:spcBef>
                <a:spcPts val="600"/>
              </a:spcBef>
              <a:spcAft>
                <a:spcPts val="0"/>
              </a:spcAft>
              <a:defRPr/>
            </a:pPr>
            <a:r>
              <a:rPr lang="en-AU" sz="1200" b="1" cap="all" dirty="0" smtClean="0">
                <a:solidFill>
                  <a:schemeClr val="bg1"/>
                </a:solidFill>
                <a:latin typeface="+mn-lt"/>
              </a:rPr>
              <a:t>Land and water</a:t>
            </a:r>
            <a:endParaRPr lang="en-AU" sz="1200" b="1" cap="all" dirty="0">
              <a:solidFill>
                <a:schemeClr val="bg1"/>
              </a:solidFill>
              <a:latin typeface="+mn-lt"/>
            </a:endParaRPr>
          </a:p>
        </p:txBody>
      </p:sp>
      <p:sp>
        <p:nvSpPr>
          <p:cNvPr id="20491" name="Rectangle 11"/>
          <p:cNvSpPr>
            <a:spLocks noGrp="1"/>
          </p:cNvSpPr>
          <p:nvPr>
            <p:ph type="subTitle" idx="1"/>
          </p:nvPr>
        </p:nvSpPr>
        <p:spPr/>
        <p:txBody>
          <a:bodyPr/>
          <a:lstStyle/>
          <a:p>
            <a:endParaRPr lang="en-US" dirty="0"/>
          </a:p>
        </p:txBody>
      </p:sp>
      <p:pic>
        <p:nvPicPr>
          <p:cNvPr id="8" name="Picture 7" descr="P1120600.JPG"/>
          <p:cNvPicPr>
            <a:picLocks noChangeAspect="1"/>
          </p:cNvPicPr>
          <p:nvPr/>
        </p:nvPicPr>
        <p:blipFill>
          <a:blip r:embed="rId2" cstate="print"/>
          <a:srcRect t="23750" b="35300"/>
          <a:stretch>
            <a:fillRect/>
          </a:stretch>
        </p:blipFill>
        <p:spPr>
          <a:xfrm>
            <a:off x="0" y="-27384"/>
            <a:ext cx="9144000" cy="2808312"/>
          </a:xfrm>
          <a:prstGeom prst="rect">
            <a:avLst/>
          </a:prstGeom>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7863" y="270000"/>
            <a:ext cx="8460000" cy="900000"/>
          </a:xfrm>
        </p:spPr>
        <p:txBody>
          <a:bodyPr/>
          <a:lstStyle/>
          <a:p>
            <a:pPr lvl="0"/>
            <a:r>
              <a:rPr lang="en-AU" dirty="0" smtClean="0"/>
              <a:t>Healthy Headwater - NGIS Terms</a:t>
            </a:r>
          </a:p>
          <a:p>
            <a:endParaRPr lang="en-AU" dirty="0"/>
          </a:p>
        </p:txBody>
      </p:sp>
      <p:sp>
        <p:nvSpPr>
          <p:cNvPr id="3" name="Text Placeholder 2"/>
          <p:cNvSpPr>
            <a:spLocks noGrp="1"/>
          </p:cNvSpPr>
          <p:nvPr>
            <p:ph type="body" sz="quarter" idx="15"/>
          </p:nvPr>
        </p:nvSpPr>
        <p:spPr/>
        <p:txBody>
          <a:bodyPr/>
          <a:lstStyle/>
          <a:p>
            <a:endParaRPr lang="en-AU"/>
          </a:p>
        </p:txBody>
      </p:sp>
      <p:sp>
        <p:nvSpPr>
          <p:cNvPr id="4" name="Text Placeholder 1"/>
          <p:cNvSpPr txBox="1">
            <a:spLocks/>
          </p:cNvSpPr>
          <p:nvPr/>
        </p:nvSpPr>
        <p:spPr bwMode="auto">
          <a:xfrm>
            <a:off x="360363" y="270000"/>
            <a:ext cx="8460000" cy="900000"/>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p>
            <a:pPr defTabSz="457200">
              <a:lnSpc>
                <a:spcPct val="85000"/>
              </a:lnSpc>
              <a:spcBef>
                <a:spcPts val="0"/>
              </a:spcBef>
              <a:spcAft>
                <a:spcPts val="283"/>
              </a:spcAft>
              <a:buFont typeface="Arial" charset="0"/>
              <a:buNone/>
              <a:defRPr/>
            </a:pPr>
            <a:endParaRPr lang="en-AU" sz="2800" b="1" dirty="0">
              <a:solidFill>
                <a:srgbClr val="4A7729"/>
              </a:solidFill>
              <a:latin typeface="Calibri"/>
            </a:endParaRPr>
          </a:p>
        </p:txBody>
      </p:sp>
      <p:graphicFrame>
        <p:nvGraphicFramePr>
          <p:cNvPr id="5" name="Table 4"/>
          <p:cNvGraphicFramePr>
            <a:graphicFrameLocks noGrp="1"/>
          </p:cNvGraphicFramePr>
          <p:nvPr/>
        </p:nvGraphicFramePr>
        <p:xfrm>
          <a:off x="59376" y="759328"/>
          <a:ext cx="8989619" cy="5239428"/>
        </p:xfrm>
        <a:graphic>
          <a:graphicData uri="http://schemas.openxmlformats.org/drawingml/2006/table">
            <a:tbl>
              <a:tblPr>
                <a:tableStyleId>{284E427A-3D55-4303-BF80-6455036E1DE7}</a:tableStyleId>
              </a:tblPr>
              <a:tblGrid>
                <a:gridCol w="617518"/>
                <a:gridCol w="581890"/>
                <a:gridCol w="2381492"/>
                <a:gridCol w="724768"/>
                <a:gridCol w="962752"/>
                <a:gridCol w="954251"/>
                <a:gridCol w="736270"/>
                <a:gridCol w="678497"/>
                <a:gridCol w="843760"/>
                <a:gridCol w="508421"/>
              </a:tblGrid>
              <a:tr h="269474">
                <a:tc>
                  <a:txBody>
                    <a:bodyPr/>
                    <a:lstStyle/>
                    <a:p>
                      <a:pPr>
                        <a:spcAft>
                          <a:spcPts val="0"/>
                        </a:spcAft>
                      </a:pPr>
                      <a:r>
                        <a:rPr lang="en-AU" sz="1000" b="1" dirty="0" err="1">
                          <a:solidFill>
                            <a:srgbClr val="000000"/>
                          </a:solidFill>
                          <a:latin typeface="Calibri"/>
                          <a:ea typeface="Times New Roman"/>
                          <a:cs typeface="Times New Roman"/>
                        </a:rPr>
                        <a:t>cas_rn</a:t>
                      </a:r>
                      <a:r>
                        <a:rPr lang="en-AU" sz="1000" b="1" dirty="0">
                          <a:solidFill>
                            <a:srgbClr val="000000"/>
                          </a:solidFill>
                          <a:latin typeface="Calibri"/>
                          <a:ea typeface="Times New Roman"/>
                          <a:cs typeface="Times New Roman"/>
                        </a:rPr>
                        <a:t/>
                      </a:r>
                      <a:br>
                        <a:rPr lang="en-AU" sz="1000" b="1" dirty="0">
                          <a:solidFill>
                            <a:srgbClr val="000000"/>
                          </a:solidFill>
                          <a:latin typeface="Calibri"/>
                          <a:ea typeface="Times New Roman"/>
                          <a:cs typeface="Times New Roman"/>
                        </a:rPr>
                      </a:br>
                      <a:r>
                        <a:rPr lang="en-AU" sz="1000" b="1" dirty="0">
                          <a:solidFill>
                            <a:srgbClr val="000000"/>
                          </a:solidFill>
                          <a:latin typeface="Calibri"/>
                          <a:ea typeface="Times New Roman"/>
                          <a:cs typeface="Times New Roman"/>
                        </a:rPr>
                        <a:t>number</a:t>
                      </a:r>
                      <a:endParaRPr lang="en-AU" sz="1000" dirty="0">
                        <a:solidFill>
                          <a:srgbClr val="000000"/>
                        </a:solidFill>
                        <a:latin typeface="Calibri"/>
                        <a:ea typeface="Calibri"/>
                        <a:cs typeface="Times New Roman"/>
                      </a:endParaRPr>
                    </a:p>
                  </a:txBody>
                  <a:tcPr marL="68580" marR="68580" marT="0" marB="0" anchor="b">
                    <a:solidFill>
                      <a:schemeClr val="accent1">
                        <a:alpha val="20000"/>
                      </a:schemeClr>
                    </a:solidFill>
                  </a:tcPr>
                </a:tc>
                <a:tc>
                  <a:txBody>
                    <a:bodyPr/>
                    <a:lstStyle/>
                    <a:p>
                      <a:pPr>
                        <a:spcAft>
                          <a:spcPts val="0"/>
                        </a:spcAft>
                      </a:pPr>
                      <a:r>
                        <a:rPr lang="en-AU" sz="1000" b="1" dirty="0"/>
                        <a:t>ANGDTS Code</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a:t>ANGDTS Description</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err="1"/>
                        <a:t>Units_used</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a:t>WDTF Parameter</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a:t>chemical name</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a:t>ADWG name</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a:t>IUPAC name</a:t>
                      </a:r>
                      <a:endParaRPr lang="en-AU" sz="1000" b="1">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pPr>
                        <a:spcAft>
                          <a:spcPts val="0"/>
                        </a:spcAft>
                      </a:pPr>
                      <a:r>
                        <a:rPr lang="en-AU" sz="1000" b="1" dirty="0"/>
                        <a:t>Group</a:t>
                      </a:r>
                      <a:endParaRPr lang="en-AU" sz="1000" b="1" dirty="0">
                        <a:solidFill>
                          <a:srgbClr val="000000"/>
                        </a:solidFill>
                        <a:latin typeface="Calibri"/>
                        <a:ea typeface="Calibri"/>
                        <a:cs typeface="Times New Roman"/>
                      </a:endParaRPr>
                    </a:p>
                  </a:txBody>
                  <a:tcPr marL="45202" marR="45202" marT="0" marB="0" anchor="b">
                    <a:solidFill>
                      <a:schemeClr val="accent1">
                        <a:alpha val="20000"/>
                      </a:schemeClr>
                    </a:solidFill>
                  </a:tcPr>
                </a:tc>
                <a:tc>
                  <a:txBody>
                    <a:bodyPr/>
                    <a:lstStyle/>
                    <a:p>
                      <a:r>
                        <a:rPr lang="en-AU" sz="1000" b="1" dirty="0" smtClean="0">
                          <a:latin typeface="Calibri"/>
                          <a:ea typeface="Times New Roman"/>
                          <a:cs typeface="Times New Roman"/>
                        </a:rPr>
                        <a:t>Ion</a:t>
                      </a:r>
                      <a:endParaRPr lang="en-AU" sz="1000" b="1" dirty="0">
                        <a:latin typeface="Calibri"/>
                        <a:ea typeface="Times New Roman"/>
                        <a:cs typeface="Times New Roman"/>
                      </a:endParaRPr>
                    </a:p>
                  </a:txBody>
                  <a:tcPr marL="45202" marR="45202" marT="0" marB="0" anchor="b">
                    <a:solidFill>
                      <a:schemeClr val="accent1">
                        <a:alpha val="20000"/>
                      </a:schemeClr>
                    </a:solidFill>
                  </a:tcPr>
                </a:tc>
              </a:tr>
              <a:tr h="673684">
                <a:tc>
                  <a:txBody>
                    <a:bodyPr/>
                    <a:lstStyle/>
                    <a:p>
                      <a:pPr>
                        <a:spcAft>
                          <a:spcPts val="0"/>
                        </a:spcAft>
                      </a:pPr>
                      <a:r>
                        <a:rPr lang="en-AU" sz="1000" dirty="0">
                          <a:solidFill>
                            <a:srgbClr val="000000"/>
                          </a:solidFill>
                          <a:latin typeface="Calibri"/>
                          <a:ea typeface="Times New Roman"/>
                          <a:cs typeface="Times New Roman"/>
                        </a:rPr>
                        <a:t>EC</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EC</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ease at which conduction current can be caused to flow through material in </a:t>
                      </a:r>
                      <a:r>
                        <a:rPr lang="en-AU" sz="1000" dirty="0" err="1"/>
                        <a:t>microSiemens</a:t>
                      </a:r>
                      <a:r>
                        <a:rPr lang="en-AU" sz="1000" dirty="0"/>
                        <a:t>/centimetre</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us/cm </a:t>
                      </a:r>
                      <a:endParaRPr lang="en-AU" sz="1000" dirty="0" smtClean="0"/>
                    </a:p>
                    <a:p>
                      <a:pPr algn="ctr">
                        <a:spcAft>
                          <a:spcPts val="0"/>
                        </a:spcAft>
                      </a:pPr>
                      <a:r>
                        <a:rPr lang="en-AU" sz="1000" dirty="0" smtClean="0"/>
                        <a:t>ms/cm </a:t>
                      </a:r>
                    </a:p>
                    <a:p>
                      <a:pPr algn="ctr">
                        <a:spcAft>
                          <a:spcPts val="0"/>
                        </a:spcAft>
                      </a:pPr>
                      <a:r>
                        <a:rPr lang="en-AU" sz="1000" dirty="0" smtClean="0"/>
                        <a:t>mg/L</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a:t>ElectricalConductivityAt25C_uScm</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Electrical Conductivity</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dirty="0">
                        <a:latin typeface="Calibri"/>
                        <a:ea typeface="Times New Roman"/>
                        <a:cs typeface="Times New Roman"/>
                      </a:endParaRPr>
                    </a:p>
                  </a:txBody>
                  <a:tcPr marL="45202" marR="45202" marT="0" marB="0" anchor="b"/>
                </a:tc>
                <a:tc>
                  <a:txBody>
                    <a:bodyPr/>
                    <a:lstStyle/>
                    <a:p>
                      <a:endParaRPr lang="en-AU" sz="1000" dirty="0">
                        <a:latin typeface="Calibri"/>
                        <a:ea typeface="Times New Roman"/>
                        <a:cs typeface="Times New Roman"/>
                      </a:endParaRPr>
                    </a:p>
                  </a:txBody>
                  <a:tcPr marL="45202" marR="45202" marT="0" marB="0" anchor="b"/>
                </a:tc>
                <a:tc>
                  <a:txBody>
                    <a:bodyPr/>
                    <a:lstStyle/>
                    <a:p>
                      <a:pPr>
                        <a:spcAft>
                          <a:spcPts val="0"/>
                        </a:spcAft>
                      </a:pPr>
                      <a:r>
                        <a:rPr lang="en-AU" sz="1000" dirty="0"/>
                        <a:t>Conductivity</a:t>
                      </a:r>
                      <a:endParaRPr lang="en-AU" sz="1000" dirty="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382336">
                <a:tc>
                  <a:txBody>
                    <a:bodyPr/>
                    <a:lstStyle/>
                    <a:p>
                      <a:pPr>
                        <a:spcAft>
                          <a:spcPts val="0"/>
                        </a:spcAft>
                      </a:pPr>
                      <a:r>
                        <a:rPr lang="en-AU" sz="1000" dirty="0">
                          <a:solidFill>
                            <a:srgbClr val="000000"/>
                          </a:solidFill>
                          <a:latin typeface="Calibri"/>
                          <a:ea typeface="Times New Roman"/>
                          <a:cs typeface="Times New Roman"/>
                        </a:rPr>
                        <a:t>PH</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pH</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negative logarithm of hydrogen ion concentration in ph units</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pH units</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a:t>WaterpH_pH</a:t>
                      </a:r>
                      <a:endParaRPr lang="en-AU" sz="100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a:t>pH</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pH</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dirty="0"/>
                        <a:t>pH, alkalinity, acidity</a:t>
                      </a:r>
                      <a:endParaRPr lang="en-AU" sz="1000" dirty="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404210">
                <a:tc>
                  <a:txBody>
                    <a:bodyPr/>
                    <a:lstStyle/>
                    <a:p>
                      <a:pPr>
                        <a:spcAft>
                          <a:spcPts val="0"/>
                        </a:spcAft>
                      </a:pPr>
                      <a:r>
                        <a:rPr lang="en-AU" sz="1000" dirty="0">
                          <a:solidFill>
                            <a:srgbClr val="000000"/>
                          </a:solidFill>
                          <a:latin typeface="Calibri"/>
                          <a:ea typeface="Times New Roman"/>
                          <a:cs typeface="Times New Roman"/>
                        </a:rPr>
                        <a:t>16887-00-6</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16887-00-6</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concentration of chloride as </a:t>
                      </a:r>
                      <a:r>
                        <a:rPr lang="en-AU" sz="1000" dirty="0" err="1"/>
                        <a:t>Cl</a:t>
                      </a:r>
                      <a:r>
                        <a:rPr lang="en-AU" sz="1000" dirty="0"/>
                        <a:t> in milligrams/litre</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mg/L </a:t>
                      </a:r>
                      <a:endParaRPr lang="en-AU" sz="1000" dirty="0" smtClean="0"/>
                    </a:p>
                    <a:p>
                      <a:pPr algn="ctr">
                        <a:spcAft>
                          <a:spcPts val="0"/>
                        </a:spcAft>
                      </a:pPr>
                      <a:r>
                        <a:rPr lang="en-AU" sz="1000" dirty="0" smtClean="0"/>
                        <a:t>mg/kg </a:t>
                      </a:r>
                      <a:endParaRPr lang="en-AU" sz="1000" dirty="0">
                        <a:solidFill>
                          <a:srgbClr val="000000"/>
                        </a:solidFill>
                        <a:latin typeface="Calibri"/>
                        <a:ea typeface="Calibri"/>
                        <a:cs typeface="Times New Roman"/>
                      </a:endParaRPr>
                    </a:p>
                  </a:txBody>
                  <a:tcPr marL="45202" marR="45202" marT="0" marB="0" anchor="ctr"/>
                </a:tc>
                <a:tc>
                  <a:txBody>
                    <a:bodyPr/>
                    <a:lstStyle/>
                    <a:p>
                      <a:endParaRPr lang="en-AU" sz="1000">
                        <a:latin typeface="Calibri"/>
                        <a:ea typeface="Times New Roman"/>
                        <a:cs typeface="Times New Roman"/>
                      </a:endParaRPr>
                    </a:p>
                  </a:txBody>
                  <a:tcPr marL="45202" marR="45202" marT="0" marB="0" anchor="ctr"/>
                </a:tc>
                <a:tc>
                  <a:txBody>
                    <a:bodyPr/>
                    <a:lstStyle/>
                    <a:p>
                      <a:pPr>
                        <a:spcAft>
                          <a:spcPts val="0"/>
                        </a:spcAft>
                      </a:pPr>
                      <a:r>
                        <a:rPr lang="en-AU" sz="1000"/>
                        <a:t>Chloride</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a:t>Chloride</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Chloride</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Anion</a:t>
                      </a:r>
                      <a:endParaRPr lang="en-AU" sz="1000">
                        <a:solidFill>
                          <a:srgbClr val="000000"/>
                        </a:solidFill>
                        <a:latin typeface="Calibri"/>
                        <a:ea typeface="Calibri"/>
                        <a:cs typeface="Times New Roman"/>
                      </a:endParaRPr>
                    </a:p>
                  </a:txBody>
                  <a:tcPr marL="45202" marR="45202" marT="0" marB="0" anchor="b"/>
                </a:tc>
              </a:tr>
              <a:tr h="538947">
                <a:tc>
                  <a:txBody>
                    <a:bodyPr/>
                    <a:lstStyle/>
                    <a:p>
                      <a:pPr>
                        <a:spcAft>
                          <a:spcPts val="0"/>
                        </a:spcAft>
                      </a:pPr>
                      <a:r>
                        <a:rPr lang="en-AU" sz="1000" dirty="0">
                          <a:solidFill>
                            <a:srgbClr val="000000"/>
                          </a:solidFill>
                          <a:latin typeface="Calibri"/>
                          <a:ea typeface="Times New Roman"/>
                          <a:cs typeface="Times New Roman"/>
                        </a:rPr>
                        <a:t>TDS</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TDS</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the portion of total solids that passes through filter and deemed to have been dissolved in sample in milligrams/litre</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mg/L</a:t>
                      </a:r>
                      <a:endParaRPr lang="en-AU" sz="1000" dirty="0">
                        <a:solidFill>
                          <a:srgbClr val="000000"/>
                        </a:solidFill>
                        <a:latin typeface="Calibri"/>
                        <a:ea typeface="Calibri"/>
                        <a:cs typeface="Times New Roman"/>
                      </a:endParaRPr>
                    </a:p>
                  </a:txBody>
                  <a:tcPr marL="45202" marR="45202" marT="0" marB="0" anchor="ctr"/>
                </a:tc>
                <a:tc>
                  <a:txBody>
                    <a:bodyPr/>
                    <a:lstStyle/>
                    <a:p>
                      <a:endParaRPr lang="en-AU" sz="1000">
                        <a:latin typeface="Calibri"/>
                        <a:ea typeface="Times New Roman"/>
                        <a:cs typeface="Times New Roman"/>
                      </a:endParaRPr>
                    </a:p>
                  </a:txBody>
                  <a:tcPr marL="45202" marR="45202" marT="0" marB="0" anchor="ctr"/>
                </a:tc>
                <a:tc>
                  <a:txBody>
                    <a:bodyPr/>
                    <a:lstStyle/>
                    <a:p>
                      <a:pPr>
                        <a:spcAft>
                          <a:spcPts val="0"/>
                        </a:spcAft>
                      </a:pPr>
                      <a:r>
                        <a:rPr lang="en-AU" sz="1000"/>
                        <a:t>Total Dissolved Solids</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dirty="0"/>
                        <a:t>Total Dissolved Solids</a:t>
                      </a:r>
                      <a:endParaRPr lang="en-AU" sz="1000" dirty="0">
                        <a:solidFill>
                          <a:srgbClr val="000000"/>
                        </a:solidFill>
                        <a:latin typeface="Calibri"/>
                        <a:ea typeface="Calibri"/>
                        <a:cs typeface="Times New Roman"/>
                      </a:endParaRPr>
                    </a:p>
                  </a:txBody>
                  <a:tcPr marL="45202" marR="45202" marT="0" marB="0" anchor="b"/>
                </a:tc>
                <a:tc>
                  <a:txBody>
                    <a:bodyPr/>
                    <a:lstStyle/>
                    <a:p>
                      <a:endParaRPr lang="en-AU" sz="1000" dirty="0">
                        <a:latin typeface="Calibri"/>
                        <a:ea typeface="Times New Roman"/>
                        <a:cs typeface="Times New Roman"/>
                      </a:endParaRPr>
                    </a:p>
                  </a:txBody>
                  <a:tcPr marL="45202" marR="45202" marT="0" marB="0" anchor="b"/>
                </a:tc>
                <a:tc>
                  <a:txBody>
                    <a:bodyPr/>
                    <a:lstStyle/>
                    <a:p>
                      <a:pPr>
                        <a:spcAft>
                          <a:spcPts val="0"/>
                        </a:spcAft>
                      </a:pPr>
                      <a:r>
                        <a:rPr lang="en-AU" sz="1000"/>
                        <a:t>Salinity</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538947">
                <a:tc>
                  <a:txBody>
                    <a:bodyPr/>
                    <a:lstStyle/>
                    <a:p>
                      <a:pPr>
                        <a:spcAft>
                          <a:spcPts val="0"/>
                        </a:spcAft>
                      </a:pPr>
                      <a:r>
                        <a:rPr lang="en-AU" sz="1000" dirty="0">
                          <a:solidFill>
                            <a:srgbClr val="000000"/>
                          </a:solidFill>
                          <a:latin typeface="Calibri"/>
                          <a:ea typeface="Times New Roman"/>
                          <a:cs typeface="Times New Roman"/>
                        </a:rPr>
                        <a:t>TOTALALKALINITY</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ALKT</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concentration in milligrams/litre CaCO3 of </a:t>
                      </a:r>
                      <a:r>
                        <a:rPr lang="en-AU" sz="1000" dirty="0" err="1"/>
                        <a:t>titratable</a:t>
                      </a:r>
                      <a:r>
                        <a:rPr lang="en-AU" sz="1000" dirty="0"/>
                        <a:t> bases using a methyl-orange endpoint of about pH 4.3 </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a:t>mg/L</a:t>
                      </a:r>
                      <a:endParaRPr lang="en-AU" sz="1000">
                        <a:solidFill>
                          <a:srgbClr val="000000"/>
                        </a:solidFill>
                        <a:latin typeface="Calibri"/>
                        <a:ea typeface="Calibri"/>
                        <a:cs typeface="Times New Roman"/>
                      </a:endParaRPr>
                    </a:p>
                  </a:txBody>
                  <a:tcPr marL="45202" marR="45202" marT="0" marB="0" anchor="ctr"/>
                </a:tc>
                <a:tc>
                  <a:txBody>
                    <a:bodyPr/>
                    <a:lstStyle/>
                    <a:p>
                      <a:endParaRPr lang="en-AU" sz="1000" dirty="0">
                        <a:latin typeface="Calibri"/>
                        <a:ea typeface="Times New Roman"/>
                        <a:cs typeface="Times New Roman"/>
                      </a:endParaRPr>
                    </a:p>
                  </a:txBody>
                  <a:tcPr marL="45202" marR="45202" marT="0" marB="0" anchor="ctr"/>
                </a:tc>
                <a:tc>
                  <a:txBody>
                    <a:bodyPr/>
                    <a:lstStyle/>
                    <a:p>
                      <a:pPr>
                        <a:spcAft>
                          <a:spcPts val="0"/>
                        </a:spcAft>
                      </a:pPr>
                      <a:r>
                        <a:rPr lang="en-AU" sz="1000"/>
                        <a:t>Total Alkalinity (as CaCO3)</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a:t>pH, alkalinity, acidity</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538947">
                <a:tc>
                  <a:txBody>
                    <a:bodyPr/>
                    <a:lstStyle/>
                    <a:p>
                      <a:pPr>
                        <a:spcAft>
                          <a:spcPts val="0"/>
                        </a:spcAft>
                      </a:pPr>
                      <a:r>
                        <a:rPr lang="en-AU" sz="1000" dirty="0">
                          <a:solidFill>
                            <a:srgbClr val="000000"/>
                          </a:solidFill>
                          <a:latin typeface="Calibri"/>
                          <a:ea typeface="Times New Roman"/>
                          <a:cs typeface="Times New Roman"/>
                        </a:rPr>
                        <a:t>HARDNESS_CACO3</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HARD</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the ability of water to precipitate soap and is sum of calcium and magnesium concentrations as milligrams/litre CaCO3</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a:t>mg/L</a:t>
                      </a:r>
                      <a:endParaRPr lang="en-AU" sz="1000">
                        <a:solidFill>
                          <a:srgbClr val="000000"/>
                        </a:solidFill>
                        <a:latin typeface="Calibri"/>
                        <a:ea typeface="Calibri"/>
                        <a:cs typeface="Times New Roman"/>
                      </a:endParaRPr>
                    </a:p>
                  </a:txBody>
                  <a:tcPr marL="45202" marR="45202" marT="0" marB="0" anchor="ctr"/>
                </a:tc>
                <a:tc>
                  <a:txBody>
                    <a:bodyPr/>
                    <a:lstStyle/>
                    <a:p>
                      <a:endParaRPr lang="en-AU" sz="1000" dirty="0">
                        <a:latin typeface="Calibri"/>
                        <a:ea typeface="Times New Roman"/>
                        <a:cs typeface="Times New Roman"/>
                      </a:endParaRPr>
                    </a:p>
                  </a:txBody>
                  <a:tcPr marL="45202" marR="45202" marT="0" marB="0" anchor="ctr"/>
                </a:tc>
                <a:tc>
                  <a:txBody>
                    <a:bodyPr/>
                    <a:lstStyle/>
                    <a:p>
                      <a:pPr>
                        <a:spcAft>
                          <a:spcPts val="0"/>
                        </a:spcAft>
                      </a:pPr>
                      <a:r>
                        <a:rPr lang="en-AU" sz="1000" dirty="0"/>
                        <a:t>Hardness (as CaCO3)</a:t>
                      </a:r>
                      <a:endParaRPr lang="en-AU" sz="1000" dirty="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Hardness (as calcium carbonate)</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a:t>Hardness (as calcium carbonate)</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404210">
                <a:tc>
                  <a:txBody>
                    <a:bodyPr/>
                    <a:lstStyle/>
                    <a:p>
                      <a:pPr>
                        <a:spcAft>
                          <a:spcPts val="0"/>
                        </a:spcAft>
                      </a:pPr>
                      <a:r>
                        <a:rPr lang="en-AU" sz="1000" dirty="0">
                          <a:solidFill>
                            <a:srgbClr val="000000"/>
                          </a:solidFill>
                          <a:latin typeface="Calibri"/>
                          <a:ea typeface="Times New Roman"/>
                          <a:cs typeface="Times New Roman"/>
                        </a:rPr>
                        <a:t>SAR</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SAR</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ratio of sodium to magnesium and calcium and used to assess risk of excess sodium in irrigation water</a:t>
                      </a:r>
                      <a:endParaRPr lang="en-AU" sz="1000" dirty="0">
                        <a:solidFill>
                          <a:srgbClr val="000000"/>
                        </a:solidFill>
                        <a:latin typeface="Calibri"/>
                        <a:ea typeface="Calibri"/>
                        <a:cs typeface="Times New Roman"/>
                      </a:endParaRPr>
                    </a:p>
                  </a:txBody>
                  <a:tcPr marL="45202" marR="45202" marT="0" marB="0" anchor="b"/>
                </a:tc>
                <a:tc>
                  <a:txBody>
                    <a:bodyPr/>
                    <a:lstStyle/>
                    <a:p>
                      <a:pPr algn="ctr">
                        <a:spcAft>
                          <a:spcPts val="0"/>
                        </a:spcAft>
                      </a:pPr>
                      <a:r>
                        <a:rPr lang="en-AU" sz="1000"/>
                        <a:t>Ratio</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a:t>Sodium Adsorption Ratio</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dirty="0">
                        <a:latin typeface="Calibri"/>
                        <a:ea typeface="Times New Roman"/>
                        <a:cs typeface="Times New Roman"/>
                      </a:endParaRPr>
                    </a:p>
                  </a:txBody>
                  <a:tcPr marL="45202" marR="45202" marT="0" marB="0" anchor="b"/>
                </a:tc>
                <a:tc>
                  <a:txBody>
                    <a:bodyPr/>
                    <a:lstStyle/>
                    <a:p>
                      <a:endParaRPr lang="en-AU" sz="1000" dirty="0">
                        <a:latin typeface="Calibri"/>
                        <a:ea typeface="Times New Roman"/>
                        <a:cs typeface="Times New Roman"/>
                      </a:endParaRPr>
                    </a:p>
                  </a:txBody>
                  <a:tcPr marL="45202" marR="45202" marT="0" marB="0" anchor="b"/>
                </a:tc>
                <a:tc>
                  <a:txBody>
                    <a:bodyPr/>
                    <a:lstStyle/>
                    <a:p>
                      <a:pPr>
                        <a:spcAft>
                          <a:spcPts val="0"/>
                        </a:spcAft>
                      </a:pPr>
                      <a:r>
                        <a:rPr lang="en-AU" sz="1000" dirty="0"/>
                        <a:t>Salinity</a:t>
                      </a:r>
                      <a:endParaRPr lang="en-AU" sz="1000" dirty="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404210">
                <a:tc>
                  <a:txBody>
                    <a:bodyPr/>
                    <a:lstStyle/>
                    <a:p>
                      <a:pPr>
                        <a:spcAft>
                          <a:spcPts val="0"/>
                        </a:spcAft>
                      </a:pPr>
                      <a:r>
                        <a:rPr lang="en-AU" sz="1000" dirty="0">
                          <a:solidFill>
                            <a:srgbClr val="000000"/>
                          </a:solidFill>
                          <a:latin typeface="Calibri"/>
                          <a:ea typeface="Times New Roman"/>
                          <a:cs typeface="Times New Roman"/>
                        </a:rPr>
                        <a:t>3812-32-6</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ALKC</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alkalinity ascribed to carbonate in milligrams/litre CO3</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mg/L </a:t>
                      </a:r>
                      <a:endParaRPr lang="en-AU" sz="1000" dirty="0" smtClean="0"/>
                    </a:p>
                    <a:p>
                      <a:pPr algn="ctr">
                        <a:spcAft>
                          <a:spcPts val="0"/>
                        </a:spcAft>
                      </a:pPr>
                      <a:r>
                        <a:rPr lang="en-AU" sz="1000" dirty="0" smtClean="0"/>
                        <a:t>%MOL</a:t>
                      </a:r>
                      <a:endParaRPr lang="en-AU" sz="1000" dirty="0">
                        <a:solidFill>
                          <a:srgbClr val="000000"/>
                        </a:solidFill>
                        <a:latin typeface="Calibri"/>
                        <a:ea typeface="Calibri"/>
                        <a:cs typeface="Times New Roman"/>
                      </a:endParaRPr>
                    </a:p>
                  </a:txBody>
                  <a:tcPr marL="45202" marR="45202" marT="0" marB="0" anchor="ctr"/>
                </a:tc>
                <a:tc>
                  <a:txBody>
                    <a:bodyPr/>
                    <a:lstStyle/>
                    <a:p>
                      <a:endParaRPr lang="en-AU" sz="1000">
                        <a:latin typeface="Calibri"/>
                        <a:ea typeface="Times New Roman"/>
                        <a:cs typeface="Times New Roman"/>
                      </a:endParaRPr>
                    </a:p>
                  </a:txBody>
                  <a:tcPr marL="45202" marR="45202" marT="0" marB="0" anchor="ctr"/>
                </a:tc>
                <a:tc>
                  <a:txBody>
                    <a:bodyPr/>
                    <a:lstStyle/>
                    <a:p>
                      <a:pPr>
                        <a:spcAft>
                          <a:spcPts val="0"/>
                        </a:spcAft>
                      </a:pPr>
                      <a:r>
                        <a:rPr lang="en-AU" sz="1000"/>
                        <a:t>Carbonate Alkalinity (as CaCO3)</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dirty="0"/>
                        <a:t>Carbonate</a:t>
                      </a:r>
                      <a:endParaRPr lang="en-AU" sz="1000" dirty="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dirty="0"/>
                        <a:t>pH, alkalinity, acidity</a:t>
                      </a:r>
                      <a:endParaRPr lang="en-AU" sz="1000" dirty="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r>
              <a:tr h="404210">
                <a:tc>
                  <a:txBody>
                    <a:bodyPr/>
                    <a:lstStyle/>
                    <a:p>
                      <a:pPr>
                        <a:spcAft>
                          <a:spcPts val="0"/>
                        </a:spcAft>
                      </a:pPr>
                      <a:r>
                        <a:rPr lang="en-AU" sz="1000" dirty="0">
                          <a:solidFill>
                            <a:srgbClr val="000000"/>
                          </a:solidFill>
                          <a:latin typeface="Calibri"/>
                          <a:ea typeface="Times New Roman"/>
                          <a:cs typeface="Times New Roman"/>
                        </a:rPr>
                        <a:t>NITRATE</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14797-55-8</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concentration of nitrate as N in milligrams/litre</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mg/L </a:t>
                      </a:r>
                      <a:endParaRPr lang="en-AU" sz="1000" dirty="0" smtClean="0"/>
                    </a:p>
                    <a:p>
                      <a:pPr algn="ctr">
                        <a:spcAft>
                          <a:spcPts val="0"/>
                        </a:spcAft>
                      </a:pPr>
                      <a:r>
                        <a:rPr lang="en-AU" sz="1000" dirty="0" smtClean="0"/>
                        <a:t>mg/kg</a:t>
                      </a:r>
                      <a:endParaRPr lang="en-AU" sz="1000" dirty="0">
                        <a:solidFill>
                          <a:srgbClr val="000000"/>
                        </a:solidFill>
                        <a:latin typeface="Calibri"/>
                        <a:ea typeface="Calibri"/>
                        <a:cs typeface="Times New Roman"/>
                      </a:endParaRPr>
                    </a:p>
                  </a:txBody>
                  <a:tcPr marL="45202" marR="45202" marT="0" marB="0" anchor="ctr"/>
                </a:tc>
                <a:tc>
                  <a:txBody>
                    <a:bodyPr/>
                    <a:lstStyle/>
                    <a:p>
                      <a:endParaRPr lang="en-AU" sz="1000">
                        <a:latin typeface="Calibri"/>
                        <a:ea typeface="Times New Roman"/>
                        <a:cs typeface="Times New Roman"/>
                      </a:endParaRPr>
                    </a:p>
                  </a:txBody>
                  <a:tcPr marL="45202" marR="45202" marT="0" marB="0" anchor="ctr"/>
                </a:tc>
                <a:tc>
                  <a:txBody>
                    <a:bodyPr/>
                    <a:lstStyle/>
                    <a:p>
                      <a:pPr>
                        <a:spcAft>
                          <a:spcPts val="0"/>
                        </a:spcAft>
                      </a:pPr>
                      <a:r>
                        <a:rPr lang="en-AU" sz="1000"/>
                        <a:t>Nitrate</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Nitrate and Nitrite</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dirty="0"/>
                        <a:t>Nitrate and Nitrite</a:t>
                      </a:r>
                      <a:endParaRPr lang="en-AU" sz="1000" dirty="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dirty="0"/>
                        <a:t>Anion</a:t>
                      </a:r>
                      <a:endParaRPr lang="en-AU" sz="1000" dirty="0">
                        <a:solidFill>
                          <a:srgbClr val="000000"/>
                        </a:solidFill>
                        <a:latin typeface="Calibri"/>
                        <a:ea typeface="Calibri"/>
                        <a:cs typeface="Times New Roman"/>
                      </a:endParaRPr>
                    </a:p>
                  </a:txBody>
                  <a:tcPr marL="45202" marR="45202" marT="0" marB="0" anchor="b"/>
                </a:tc>
              </a:tr>
              <a:tr h="538947">
                <a:tc>
                  <a:txBody>
                    <a:bodyPr/>
                    <a:lstStyle/>
                    <a:p>
                      <a:pPr>
                        <a:spcAft>
                          <a:spcPts val="0"/>
                        </a:spcAft>
                      </a:pPr>
                      <a:r>
                        <a:rPr lang="en-AU" sz="1000" dirty="0">
                          <a:solidFill>
                            <a:srgbClr val="000000"/>
                          </a:solidFill>
                          <a:latin typeface="Calibri"/>
                          <a:ea typeface="Times New Roman"/>
                          <a:cs typeface="Times New Roman"/>
                        </a:rPr>
                        <a:t>7439-89-6</a:t>
                      </a:r>
                      <a:endParaRPr lang="en-AU" sz="1000" dirty="0">
                        <a:solidFill>
                          <a:srgbClr val="000000"/>
                        </a:solidFill>
                        <a:latin typeface="Calibri"/>
                        <a:ea typeface="Calibri"/>
                        <a:cs typeface="Times New Roman"/>
                      </a:endParaRPr>
                    </a:p>
                  </a:txBody>
                  <a:tcPr marL="68580" marR="68580" marT="0" marB="0" anchor="ctr"/>
                </a:tc>
                <a:tc>
                  <a:txBody>
                    <a:bodyPr/>
                    <a:lstStyle/>
                    <a:p>
                      <a:pPr algn="ctr">
                        <a:spcAft>
                          <a:spcPts val="0"/>
                        </a:spcAft>
                      </a:pPr>
                      <a:r>
                        <a:rPr lang="en-AU" sz="1000" dirty="0"/>
                        <a:t>7439-89-6</a:t>
                      </a:r>
                      <a:endParaRPr lang="en-AU" sz="1000" dirty="0">
                        <a:solidFill>
                          <a:srgbClr val="000000"/>
                        </a:solidFill>
                        <a:latin typeface="Calibri"/>
                        <a:ea typeface="Calibri"/>
                        <a:cs typeface="Times New Roman"/>
                      </a:endParaRPr>
                    </a:p>
                  </a:txBody>
                  <a:tcPr marL="45202" marR="45202" marT="0" marB="0" anchor="ctr"/>
                </a:tc>
                <a:tc>
                  <a:txBody>
                    <a:bodyPr/>
                    <a:lstStyle/>
                    <a:p>
                      <a:pPr>
                        <a:spcAft>
                          <a:spcPts val="0"/>
                        </a:spcAft>
                      </a:pPr>
                      <a:r>
                        <a:rPr lang="en-AU" sz="1000" dirty="0"/>
                        <a:t>concentration of iron as Fe in milligrams/litre</a:t>
                      </a:r>
                      <a:endParaRPr lang="en-AU" sz="1000" dirty="0">
                        <a:solidFill>
                          <a:srgbClr val="000000"/>
                        </a:solidFill>
                        <a:latin typeface="Calibri"/>
                        <a:ea typeface="Calibri"/>
                        <a:cs typeface="Times New Roman"/>
                      </a:endParaRPr>
                    </a:p>
                  </a:txBody>
                  <a:tcPr marL="45202" marR="45202" marT="0" marB="0" anchor="ctr"/>
                </a:tc>
                <a:tc>
                  <a:txBody>
                    <a:bodyPr/>
                    <a:lstStyle/>
                    <a:p>
                      <a:pPr algn="ctr">
                        <a:spcAft>
                          <a:spcPts val="0"/>
                        </a:spcAft>
                      </a:pPr>
                      <a:r>
                        <a:rPr lang="en-AU" sz="1000" dirty="0"/>
                        <a:t>mg/L </a:t>
                      </a:r>
                      <a:endParaRPr lang="en-AU" sz="1000" dirty="0" smtClean="0"/>
                    </a:p>
                    <a:p>
                      <a:pPr algn="ctr">
                        <a:spcAft>
                          <a:spcPts val="0"/>
                        </a:spcAft>
                      </a:pPr>
                      <a:r>
                        <a:rPr lang="en-AU" sz="1000" dirty="0" smtClean="0"/>
                        <a:t>mg/kg </a:t>
                      </a:r>
                    </a:p>
                    <a:p>
                      <a:pPr algn="ctr">
                        <a:spcAft>
                          <a:spcPts val="0"/>
                        </a:spcAft>
                      </a:pPr>
                      <a:r>
                        <a:rPr lang="en-AU" sz="1000" dirty="0" err="1" smtClean="0"/>
                        <a:t>ug</a:t>
                      </a:r>
                      <a:r>
                        <a:rPr lang="en-AU" sz="1000" dirty="0" smtClean="0"/>
                        <a:t>/L</a:t>
                      </a:r>
                      <a:endParaRPr lang="en-AU" sz="1000" dirty="0">
                        <a:solidFill>
                          <a:srgbClr val="000000"/>
                        </a:solidFill>
                        <a:latin typeface="Calibri"/>
                        <a:ea typeface="Calibri"/>
                        <a:cs typeface="Times New Roman"/>
                      </a:endParaRPr>
                    </a:p>
                  </a:txBody>
                  <a:tcPr marL="45202" marR="45202" marT="0" marB="0" anchor="ctr"/>
                </a:tc>
                <a:tc>
                  <a:txBody>
                    <a:bodyPr/>
                    <a:lstStyle/>
                    <a:p>
                      <a:endParaRPr lang="en-AU" sz="1000">
                        <a:latin typeface="Calibri"/>
                        <a:ea typeface="Times New Roman"/>
                        <a:cs typeface="Times New Roman"/>
                      </a:endParaRPr>
                    </a:p>
                  </a:txBody>
                  <a:tcPr marL="45202" marR="45202" marT="0" marB="0" anchor="ctr"/>
                </a:tc>
                <a:tc>
                  <a:txBody>
                    <a:bodyPr/>
                    <a:lstStyle/>
                    <a:p>
                      <a:pPr>
                        <a:spcAft>
                          <a:spcPts val="0"/>
                        </a:spcAft>
                      </a:pPr>
                      <a:r>
                        <a:rPr lang="en-AU" sz="1000"/>
                        <a:t>Iron</a:t>
                      </a:r>
                      <a:endParaRPr lang="en-AU" sz="1000">
                        <a:solidFill>
                          <a:srgbClr val="000000"/>
                        </a:solidFill>
                        <a:latin typeface="Calibri"/>
                        <a:ea typeface="Calibri"/>
                        <a:cs typeface="Times New Roman"/>
                      </a:endParaRPr>
                    </a:p>
                  </a:txBody>
                  <a:tcPr marL="45202" marR="45202" marT="0" marB="0" anchor="b"/>
                </a:tc>
                <a:tc>
                  <a:txBody>
                    <a:bodyPr/>
                    <a:lstStyle/>
                    <a:p>
                      <a:endParaRPr lang="en-AU" sz="1000">
                        <a:latin typeface="Calibri"/>
                        <a:ea typeface="Times New Roman"/>
                        <a:cs typeface="Times New Roman"/>
                      </a:endParaRPr>
                    </a:p>
                  </a:txBody>
                  <a:tcPr marL="45202" marR="45202" marT="0" marB="0" anchor="b"/>
                </a:tc>
                <a:tc>
                  <a:txBody>
                    <a:bodyPr/>
                    <a:lstStyle/>
                    <a:p>
                      <a:pPr>
                        <a:spcAft>
                          <a:spcPts val="0"/>
                        </a:spcAft>
                      </a:pPr>
                      <a:r>
                        <a:rPr lang="en-AU" sz="1000"/>
                        <a:t>Iron </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a:t>Metal</a:t>
                      </a:r>
                      <a:endParaRPr lang="en-AU" sz="1000">
                        <a:solidFill>
                          <a:srgbClr val="000000"/>
                        </a:solidFill>
                        <a:latin typeface="Calibri"/>
                        <a:ea typeface="Calibri"/>
                        <a:cs typeface="Times New Roman"/>
                      </a:endParaRPr>
                    </a:p>
                  </a:txBody>
                  <a:tcPr marL="45202" marR="45202" marT="0" marB="0" anchor="b"/>
                </a:tc>
                <a:tc>
                  <a:txBody>
                    <a:bodyPr/>
                    <a:lstStyle/>
                    <a:p>
                      <a:pPr>
                        <a:spcAft>
                          <a:spcPts val="0"/>
                        </a:spcAft>
                      </a:pPr>
                      <a:r>
                        <a:rPr lang="en-AU" sz="1000" dirty="0" err="1"/>
                        <a:t>Cation</a:t>
                      </a:r>
                      <a:endParaRPr lang="en-AU" sz="1000" dirty="0">
                        <a:solidFill>
                          <a:srgbClr val="000000"/>
                        </a:solidFill>
                        <a:latin typeface="Calibri"/>
                        <a:ea typeface="Calibri"/>
                        <a:cs typeface="Times New Roman"/>
                      </a:endParaRPr>
                    </a:p>
                  </a:txBody>
                  <a:tcPr marL="45202" marR="45202" marT="0" marB="0" anchor="b"/>
                </a:tc>
              </a:tr>
            </a:tbl>
          </a:graphicData>
        </a:graphic>
      </p:graphicFrame>
      <p:sp>
        <p:nvSpPr>
          <p:cNvPr id="6" name="TextBox 5"/>
          <p:cNvSpPr txBox="1"/>
          <p:nvPr/>
        </p:nvSpPr>
        <p:spPr>
          <a:xfrm>
            <a:off x="7897052" y="296883"/>
            <a:ext cx="1146468" cy="369332"/>
          </a:xfrm>
          <a:prstGeom prst="rect">
            <a:avLst/>
          </a:prstGeom>
          <a:solidFill>
            <a:schemeClr val="accent1">
              <a:alpha val="50000"/>
            </a:schemeClr>
          </a:solidFill>
        </p:spPr>
        <p:txBody>
          <a:bodyPr wrap="none" rtlCol="0">
            <a:spAutoFit/>
          </a:bodyPr>
          <a:lstStyle/>
          <a:p>
            <a:r>
              <a:rPr lang="en-AU" dirty="0" smtClean="0">
                <a:solidFill>
                  <a:srgbClr val="000000"/>
                </a:solidFill>
              </a:rPr>
              <a:t>collection</a:t>
            </a:r>
          </a:p>
        </p:txBody>
      </p:sp>
      <p:sp>
        <p:nvSpPr>
          <p:cNvPr id="7" name="TextBox 6"/>
          <p:cNvSpPr txBox="1"/>
          <p:nvPr/>
        </p:nvSpPr>
        <p:spPr>
          <a:xfrm>
            <a:off x="5033149" y="318657"/>
            <a:ext cx="1210588" cy="369332"/>
          </a:xfrm>
          <a:prstGeom prst="rect">
            <a:avLst/>
          </a:prstGeom>
          <a:solidFill>
            <a:schemeClr val="accent1">
              <a:alpha val="50000"/>
            </a:schemeClr>
          </a:solidFill>
        </p:spPr>
        <p:txBody>
          <a:bodyPr wrap="none" rtlCol="0">
            <a:spAutoFit/>
          </a:bodyPr>
          <a:lstStyle/>
          <a:p>
            <a:r>
              <a:rPr lang="en-AU" dirty="0" smtClean="0">
                <a:solidFill>
                  <a:srgbClr val="000000"/>
                </a:solidFill>
              </a:rPr>
              <a:t>alt names</a:t>
            </a:r>
          </a:p>
        </p:txBody>
      </p:sp>
      <p:cxnSp>
        <p:nvCxnSpPr>
          <p:cNvPr id="10" name="Straight Connector 9"/>
          <p:cNvCxnSpPr>
            <a:stCxn id="27" idx="2"/>
          </p:cNvCxnSpPr>
          <p:nvPr/>
        </p:nvCxnSpPr>
        <p:spPr>
          <a:xfrm>
            <a:off x="7236783" y="674135"/>
            <a:ext cx="660308" cy="145262"/>
          </a:xfrm>
          <a:prstGeom prst="line">
            <a:avLst/>
          </a:prstGeom>
          <a:ln w="38100">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6" idx="2"/>
          </p:cNvCxnSpPr>
          <p:nvPr/>
        </p:nvCxnSpPr>
        <p:spPr>
          <a:xfrm>
            <a:off x="8470286" y="666215"/>
            <a:ext cx="353080" cy="176933"/>
          </a:xfrm>
          <a:prstGeom prst="line">
            <a:avLst/>
          </a:prstGeom>
          <a:ln w="38100">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7" idx="2"/>
          </p:cNvCxnSpPr>
          <p:nvPr/>
        </p:nvCxnSpPr>
        <p:spPr>
          <a:xfrm>
            <a:off x="5638443" y="687989"/>
            <a:ext cx="726731" cy="178910"/>
          </a:xfrm>
          <a:prstGeom prst="line">
            <a:avLst/>
          </a:prstGeom>
          <a:ln w="38100">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7" idx="2"/>
          </p:cNvCxnSpPr>
          <p:nvPr/>
        </p:nvCxnSpPr>
        <p:spPr>
          <a:xfrm>
            <a:off x="5638443" y="687989"/>
            <a:ext cx="109208" cy="190785"/>
          </a:xfrm>
          <a:prstGeom prst="line">
            <a:avLst/>
          </a:prstGeom>
          <a:ln w="38100">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7" idx="2"/>
          </p:cNvCxnSpPr>
          <p:nvPr/>
        </p:nvCxnSpPr>
        <p:spPr>
          <a:xfrm flipH="1">
            <a:off x="4940135" y="687989"/>
            <a:ext cx="698308" cy="131408"/>
          </a:xfrm>
          <a:prstGeom prst="line">
            <a:avLst/>
          </a:prstGeom>
          <a:ln w="38100">
            <a:solidFill>
              <a:schemeClr val="accent1"/>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669961" y="304803"/>
            <a:ext cx="1133644" cy="369332"/>
          </a:xfrm>
          <a:prstGeom prst="rect">
            <a:avLst/>
          </a:prstGeom>
          <a:solidFill>
            <a:schemeClr val="accent1">
              <a:alpha val="50000"/>
            </a:schemeClr>
          </a:solidFill>
        </p:spPr>
        <p:txBody>
          <a:bodyPr wrap="none" rtlCol="0">
            <a:spAutoFit/>
          </a:bodyPr>
          <a:lstStyle/>
          <a:p>
            <a:r>
              <a:rPr lang="en-AU" dirty="0" smtClean="0">
                <a:solidFill>
                  <a:srgbClr val="000000"/>
                </a:solidFill>
              </a:rPr>
              <a:t>hierarchy</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p:txBody>
          <a:bodyPr/>
          <a:lstStyle/>
          <a:p>
            <a:pPr eaLnBrk="1" hangingPunct="1"/>
            <a:r>
              <a:rPr lang="en-AU" smtClean="0"/>
              <a:t>Are these the same?</a:t>
            </a:r>
          </a:p>
        </p:txBody>
      </p:sp>
      <p:sp>
        <p:nvSpPr>
          <p:cNvPr id="122883" name="Footer Placeholder 3"/>
          <p:cNvSpPr>
            <a:spLocks noGrp="1"/>
          </p:cNvSpPr>
          <p:nvPr>
            <p:ph type="ftr" sz="quarter" idx="10"/>
          </p:nvPr>
        </p:nvSpPr>
        <p:spPr bwMode="auto">
          <a:noFill/>
          <a:ln>
            <a:miter lim="800000"/>
            <a:headEnd/>
            <a:tailEnd/>
          </a:ln>
        </p:spPr>
        <p:txBody>
          <a:bodyPr/>
          <a:lstStyle/>
          <a:p>
            <a:r>
              <a:rPr lang="en-AU" smtClean="0">
                <a:cs typeface="Arial" pitchFamily="34" charset="0"/>
              </a:rPr>
              <a:t>Cox, Simons, Yu | Observable property ontology</a:t>
            </a:r>
            <a:endParaRPr lang="en-AU" dirty="0" smtClean="0">
              <a:cs typeface="Arial" pitchFamily="34" charset="0"/>
            </a:endParaRPr>
          </a:p>
        </p:txBody>
      </p:sp>
      <p:sp>
        <p:nvSpPr>
          <p:cNvPr id="122885" name="Text Placeholder 2"/>
          <p:cNvSpPr>
            <a:spLocks noGrp="1"/>
          </p:cNvSpPr>
          <p:nvPr>
            <p:ph idx="1"/>
          </p:nvPr>
        </p:nvSpPr>
        <p:spPr>
          <a:ln w="38100">
            <a:noFill/>
          </a:ln>
        </p:spPr>
        <p:txBody>
          <a:bodyPr/>
          <a:lstStyle/>
          <a:p>
            <a:pPr marL="0" lvl="1" eaLnBrk="1" hangingPunct="1">
              <a:buFont typeface="Calibri" pitchFamily="34" charset="0"/>
              <a:buNone/>
            </a:pPr>
            <a:r>
              <a:rPr lang="en-AU" i="1" dirty="0" smtClean="0"/>
              <a:t>“nitrogen”</a:t>
            </a:r>
          </a:p>
          <a:p>
            <a:pPr marL="0" lvl="1" eaLnBrk="1" hangingPunct="1">
              <a:buFont typeface="Calibri" pitchFamily="34" charset="0"/>
              <a:buNone/>
            </a:pPr>
            <a:r>
              <a:rPr lang="en-AU" i="1" dirty="0" smtClean="0"/>
              <a:t>“dissolved nitrogen”</a:t>
            </a:r>
          </a:p>
          <a:p>
            <a:pPr marL="0" lvl="1" eaLnBrk="1" hangingPunct="1">
              <a:buFont typeface="Calibri" pitchFamily="34" charset="0"/>
              <a:buNone/>
            </a:pPr>
            <a:r>
              <a:rPr lang="en-AU" dirty="0" smtClean="0"/>
              <a:t>“</a:t>
            </a:r>
            <a:r>
              <a:rPr lang="en-US" i="1" dirty="0" smtClean="0"/>
              <a:t>Total nitrogen, water, filtered, milligrams per liter”</a:t>
            </a:r>
          </a:p>
          <a:p>
            <a:pPr marL="0" lvl="1" eaLnBrk="1" hangingPunct="1">
              <a:buFont typeface="Calibri" pitchFamily="34" charset="0"/>
              <a:buNone/>
            </a:pPr>
            <a:r>
              <a:rPr lang="en-US" i="1" dirty="0" smtClean="0"/>
              <a:t>“</a:t>
            </a:r>
            <a:r>
              <a:rPr lang="en-AU" i="1" dirty="0" smtClean="0"/>
              <a:t>Concentration of nitrogen (total) per unit volume of the water body [dissolved plus reactive particulate phase] by oxidation and colorimetric </a:t>
            </a:r>
            <a:r>
              <a:rPr lang="en-AU" i="1" dirty="0" err="1" smtClean="0"/>
              <a:t>autoanalysis</a:t>
            </a:r>
            <a:r>
              <a:rPr lang="en-AU" i="1" dirty="0" smtClean="0"/>
              <a:t>“</a:t>
            </a:r>
          </a:p>
          <a:p>
            <a:pPr marL="0" lvl="1" eaLnBrk="1" hangingPunct="1">
              <a:buFont typeface="Calibri" pitchFamily="34" charset="0"/>
              <a:buNone/>
            </a:pPr>
            <a:r>
              <a:rPr lang="en-AU" i="1" dirty="0" smtClean="0"/>
              <a:t>“Concentration of nitrogen (total) per unit mass of the water body [dissolved plus reactive particulate &lt;GF/F phase] by filtration and high temperature Pt catalytic oxidation”</a:t>
            </a:r>
          </a:p>
          <a:p>
            <a:pPr marL="0" lvl="1" eaLnBrk="1" hangingPunct="1">
              <a:buFont typeface="Calibri" pitchFamily="34" charset="0"/>
              <a:buNone/>
            </a:pPr>
            <a:r>
              <a:rPr lang="en-AU" i="1" dirty="0" smtClean="0"/>
              <a:t>“Concentration (moles or mass) of total nitrogen (i.e. nitrogen in all chemical forms) in suspended particulate material per unit volume of the water column.”</a:t>
            </a:r>
          </a:p>
          <a:p>
            <a:pPr marL="0" lvl="1" eaLnBrk="1" hangingPunct="1">
              <a:buFont typeface="Calibri" pitchFamily="34" charset="0"/>
              <a:buNone/>
            </a:pPr>
            <a:r>
              <a:rPr lang="en-AU" i="1" dirty="0" smtClean="0"/>
              <a:t>“Concentration of nitrogen (total) {'PON'} per unit volume of the water body [particulate 2-10um phase] by filtration, acidification and elemental analysis”</a:t>
            </a:r>
          </a:p>
          <a:p>
            <a:pPr marL="0" lvl="1" eaLnBrk="1" hangingPunct="1">
              <a:buFont typeface="Calibri" pitchFamily="34" charset="0"/>
              <a:buNone/>
            </a:pPr>
            <a:r>
              <a:rPr lang="en-AU" i="1" dirty="0" smtClean="0"/>
              <a:t>“Dissolved total and organic nitrogen concentrations in the water column”</a:t>
            </a:r>
          </a:p>
        </p:txBody>
      </p:sp>
      <p:pic>
        <p:nvPicPr>
          <p:cNvPr id="7" name="Picture 6" descr="Brueghel-tower-of-babel.jpg"/>
          <p:cNvPicPr>
            <a:picLocks noChangeAspect="1"/>
          </p:cNvPicPr>
          <p:nvPr/>
        </p:nvPicPr>
        <p:blipFill>
          <a:blip r:embed="rId2" cstate="print"/>
          <a:srcRect/>
          <a:stretch>
            <a:fillRect/>
          </a:stretch>
        </p:blipFill>
        <p:spPr bwMode="auto">
          <a:xfrm>
            <a:off x="1258888" y="1012825"/>
            <a:ext cx="6643687" cy="5008563"/>
          </a:xfrm>
          <a:prstGeom prst="rect">
            <a:avLst/>
          </a:prstGeom>
          <a:noFill/>
          <a:ln w="9525">
            <a:noFill/>
            <a:miter lim="800000"/>
            <a:headEnd/>
            <a:tailEnd/>
          </a:ln>
        </p:spPr>
      </p:pic>
      <p:sp>
        <p:nvSpPr>
          <p:cNvPr id="6" name="Slide Number Placeholder 5"/>
          <p:cNvSpPr>
            <a:spLocks noGrp="1"/>
          </p:cNvSpPr>
          <p:nvPr>
            <p:ph type="sldNum" sz="quarter" idx="11"/>
          </p:nvPr>
        </p:nvSpPr>
        <p:spPr/>
        <p:txBody>
          <a:bodyPr/>
          <a:lstStyle/>
          <a:p>
            <a:pPr>
              <a:defRPr/>
            </a:pPr>
            <a:fld id="{A111B642-03BA-413E-9BF3-A9DB15D631A2}" type="slidenum">
              <a:rPr lang="en-AU" smtClean="0"/>
              <a:pPr>
                <a:defRPr/>
              </a:pPr>
              <a:t>3</a:t>
            </a:fld>
            <a:r>
              <a:rPr lang="en-AU" smtClean="0"/>
              <a:t>  |</a:t>
            </a:r>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5">
                                            <p:txEl>
                                              <p:pRg st="0" end="0"/>
                                            </p:txEl>
                                          </p:spTgt>
                                        </p:tgtEl>
                                        <p:attrNameLst>
                                          <p:attrName>style.visibility</p:attrName>
                                        </p:attrNameLst>
                                      </p:cBhvr>
                                      <p:to>
                                        <p:strVal val="visible"/>
                                      </p:to>
                                    </p:set>
                                    <p:animEffect transition="in" filter="wipe(left)">
                                      <p:cBhvr>
                                        <p:cTn id="7" dur="500"/>
                                        <p:tgtEl>
                                          <p:spTgt spid="12288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2885">
                                            <p:txEl>
                                              <p:pRg st="1" end="1"/>
                                            </p:txEl>
                                          </p:spTgt>
                                        </p:tgtEl>
                                        <p:attrNameLst>
                                          <p:attrName>style.visibility</p:attrName>
                                        </p:attrNameLst>
                                      </p:cBhvr>
                                      <p:to>
                                        <p:strVal val="visible"/>
                                      </p:to>
                                    </p:set>
                                    <p:animEffect transition="in" filter="wipe(left)">
                                      <p:cBhvr>
                                        <p:cTn id="11" dur="500"/>
                                        <p:tgtEl>
                                          <p:spTgt spid="12288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2885">
                                            <p:txEl>
                                              <p:pRg st="2" end="2"/>
                                            </p:txEl>
                                          </p:spTgt>
                                        </p:tgtEl>
                                        <p:attrNameLst>
                                          <p:attrName>style.visibility</p:attrName>
                                        </p:attrNameLst>
                                      </p:cBhvr>
                                      <p:to>
                                        <p:strVal val="visible"/>
                                      </p:to>
                                    </p:set>
                                    <p:animEffect transition="in" filter="wipe(left)">
                                      <p:cBhvr>
                                        <p:cTn id="15" dur="500"/>
                                        <p:tgtEl>
                                          <p:spTgt spid="12288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2885">
                                            <p:txEl>
                                              <p:pRg st="3" end="3"/>
                                            </p:txEl>
                                          </p:spTgt>
                                        </p:tgtEl>
                                        <p:attrNameLst>
                                          <p:attrName>style.visibility</p:attrName>
                                        </p:attrNameLst>
                                      </p:cBhvr>
                                      <p:to>
                                        <p:strVal val="visible"/>
                                      </p:to>
                                    </p:set>
                                    <p:animEffect transition="in" filter="wipe(left)">
                                      <p:cBhvr>
                                        <p:cTn id="19" dur="500"/>
                                        <p:tgtEl>
                                          <p:spTgt spid="122885">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22885">
                                            <p:txEl>
                                              <p:pRg st="4" end="4"/>
                                            </p:txEl>
                                          </p:spTgt>
                                        </p:tgtEl>
                                        <p:attrNameLst>
                                          <p:attrName>style.visibility</p:attrName>
                                        </p:attrNameLst>
                                      </p:cBhvr>
                                      <p:to>
                                        <p:strVal val="visible"/>
                                      </p:to>
                                    </p:set>
                                    <p:animEffect transition="in" filter="wipe(left)">
                                      <p:cBhvr>
                                        <p:cTn id="23" dur="500"/>
                                        <p:tgtEl>
                                          <p:spTgt spid="122885">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22885">
                                            <p:txEl>
                                              <p:pRg st="5" end="5"/>
                                            </p:txEl>
                                          </p:spTgt>
                                        </p:tgtEl>
                                        <p:attrNameLst>
                                          <p:attrName>style.visibility</p:attrName>
                                        </p:attrNameLst>
                                      </p:cBhvr>
                                      <p:to>
                                        <p:strVal val="visible"/>
                                      </p:to>
                                    </p:set>
                                    <p:animEffect transition="in" filter="wipe(left)">
                                      <p:cBhvr>
                                        <p:cTn id="27" dur="500"/>
                                        <p:tgtEl>
                                          <p:spTgt spid="122885">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22885">
                                            <p:txEl>
                                              <p:pRg st="6" end="6"/>
                                            </p:txEl>
                                          </p:spTgt>
                                        </p:tgtEl>
                                        <p:attrNameLst>
                                          <p:attrName>style.visibility</p:attrName>
                                        </p:attrNameLst>
                                      </p:cBhvr>
                                      <p:to>
                                        <p:strVal val="visible"/>
                                      </p:to>
                                    </p:set>
                                    <p:animEffect transition="in" filter="wipe(left)">
                                      <p:cBhvr>
                                        <p:cTn id="31" dur="500"/>
                                        <p:tgtEl>
                                          <p:spTgt spid="122885">
                                            <p:txEl>
                                              <p:pRg st="6" end="6"/>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22885">
                                            <p:txEl>
                                              <p:pRg st="7" end="7"/>
                                            </p:txEl>
                                          </p:spTgt>
                                        </p:tgtEl>
                                        <p:attrNameLst>
                                          <p:attrName>style.visibility</p:attrName>
                                        </p:attrNameLst>
                                      </p:cBhvr>
                                      <p:to>
                                        <p:strVal val="visible"/>
                                      </p:to>
                                    </p:set>
                                    <p:animEffect transition="in" filter="wipe(left)">
                                      <p:cBhvr>
                                        <p:cTn id="35" dur="500"/>
                                        <p:tgtEl>
                                          <p:spTgt spid="122885">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‘Parameters’ in an environmental science vocabulary (NVS)</a:t>
            </a:r>
            <a:endParaRPr lang="en-AU" dirty="0"/>
          </a:p>
        </p:txBody>
      </p:sp>
      <p:pic>
        <p:nvPicPr>
          <p:cNvPr id="3" name="Picture 2">
            <a:hlinkClick r:id="rId3"/>
          </p:cNvPr>
          <p:cNvPicPr>
            <a:picLocks noChangeAspect="1" noChangeArrowheads="1"/>
          </p:cNvPicPr>
          <p:nvPr/>
        </p:nvPicPr>
        <p:blipFill>
          <a:blip r:embed="rId4" cstate="print"/>
          <a:srcRect/>
          <a:stretch>
            <a:fillRect/>
          </a:stretch>
        </p:blipFill>
        <p:spPr bwMode="auto">
          <a:xfrm>
            <a:off x="3679254" y="764704"/>
            <a:ext cx="5429250" cy="7467600"/>
          </a:xfrm>
          <a:prstGeom prst="rect">
            <a:avLst/>
          </a:prstGeom>
          <a:noFill/>
          <a:ln w="9525">
            <a:noFill/>
            <a:miter lim="800000"/>
            <a:headEnd/>
            <a:tailEnd/>
          </a:ln>
        </p:spPr>
      </p:pic>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sp>
        <p:nvSpPr>
          <p:cNvPr id="5" name="Slide Number Placeholder 4"/>
          <p:cNvSpPr>
            <a:spLocks noGrp="1"/>
          </p:cNvSpPr>
          <p:nvPr>
            <p:ph type="sldNum" sz="quarter" idx="11"/>
          </p:nvPr>
        </p:nvSpPr>
        <p:spPr/>
        <p:txBody>
          <a:bodyPr/>
          <a:lstStyle/>
          <a:p>
            <a:pPr>
              <a:defRPr/>
            </a:pPr>
            <a:fld id="{A111B642-03BA-413E-9BF3-A9DB15D631A2}" type="slidenum">
              <a:rPr lang="en-AU" smtClean="0"/>
              <a:pPr>
                <a:defRPr/>
              </a:pPr>
              <a:t>4</a:t>
            </a:fld>
            <a:r>
              <a:rPr lang="en-AU" smtClean="0"/>
              <a:t>  |</a:t>
            </a:r>
            <a:endParaRPr lang="en-AU" dirty="0"/>
          </a:p>
        </p:txBody>
      </p:sp>
      <p:pic>
        <p:nvPicPr>
          <p:cNvPr id="1026" name="Picture 2">
            <a:hlinkClick r:id="rId5"/>
          </p:cNvPr>
          <p:cNvPicPr>
            <a:picLocks noChangeAspect="1" noChangeArrowheads="1"/>
          </p:cNvPicPr>
          <p:nvPr/>
        </p:nvPicPr>
        <p:blipFill>
          <a:blip r:embed="rId6" cstate="print"/>
          <a:srcRect/>
          <a:stretch>
            <a:fillRect/>
          </a:stretch>
        </p:blipFill>
        <p:spPr bwMode="auto">
          <a:xfrm>
            <a:off x="323528" y="1412776"/>
            <a:ext cx="6010275" cy="3448050"/>
          </a:xfrm>
          <a:prstGeom prst="rect">
            <a:avLst/>
          </a:prstGeom>
          <a:noFill/>
          <a:ln w="9525">
            <a:noFill/>
            <a:miter lim="800000"/>
            <a:headEnd/>
            <a:tailEnd/>
          </a:ln>
        </p:spPr>
      </p:pic>
      <p:sp>
        <p:nvSpPr>
          <p:cNvPr id="9" name="TextBox 8"/>
          <p:cNvSpPr txBox="1"/>
          <p:nvPr/>
        </p:nvSpPr>
        <p:spPr>
          <a:xfrm>
            <a:off x="179512" y="4941168"/>
            <a:ext cx="4374916" cy="276999"/>
          </a:xfrm>
          <a:prstGeom prst="rect">
            <a:avLst/>
          </a:prstGeom>
          <a:solidFill>
            <a:schemeClr val="bg1"/>
          </a:solidFill>
        </p:spPr>
        <p:txBody>
          <a:bodyPr wrap="none" rtlCol="0">
            <a:spAutoFit/>
          </a:bodyPr>
          <a:lstStyle/>
          <a:p>
            <a:r>
              <a:rPr lang="en-AU" sz="1200" b="1" dirty="0" smtClean="0">
                <a:hlinkClick r:id="rId7"/>
              </a:rPr>
              <a:t>http://vocab.nerc.ac.uk/collection/P01/current/N601S20Z/</a:t>
            </a:r>
            <a:r>
              <a:rPr lang="en-AU" sz="1200" b="1" dirty="0" smtClean="0"/>
              <a:t> </a:t>
            </a:r>
            <a:endParaRPr lang="en-AU" sz="1200" b="1" dirty="0"/>
          </a:p>
        </p:txBody>
      </p:sp>
      <p:pic>
        <p:nvPicPr>
          <p:cNvPr id="1027" name="Picture 3">
            <a:hlinkClick r:id="rId8"/>
          </p:cNvPr>
          <p:cNvPicPr>
            <a:picLocks noChangeAspect="1" noChangeArrowheads="1"/>
          </p:cNvPicPr>
          <p:nvPr/>
        </p:nvPicPr>
        <p:blipFill>
          <a:blip r:embed="rId9" cstate="print"/>
          <a:srcRect/>
          <a:stretch>
            <a:fillRect/>
          </a:stretch>
        </p:blipFill>
        <p:spPr bwMode="auto">
          <a:xfrm>
            <a:off x="2603698" y="2564904"/>
            <a:ext cx="6000750" cy="3857625"/>
          </a:xfrm>
          <a:prstGeom prst="rect">
            <a:avLst/>
          </a:prstGeom>
          <a:noFill/>
          <a:ln w="9525">
            <a:noFill/>
            <a:miter lim="800000"/>
            <a:headEnd/>
            <a:tailEnd/>
          </a:ln>
        </p:spPr>
      </p:pic>
      <p:sp>
        <p:nvSpPr>
          <p:cNvPr id="10" name="TextBox 9"/>
          <p:cNvSpPr txBox="1"/>
          <p:nvPr/>
        </p:nvSpPr>
        <p:spPr>
          <a:xfrm>
            <a:off x="3635896" y="6453336"/>
            <a:ext cx="4581703" cy="276999"/>
          </a:xfrm>
          <a:prstGeom prst="rect">
            <a:avLst/>
          </a:prstGeom>
          <a:solidFill>
            <a:schemeClr val="bg1"/>
          </a:solidFill>
        </p:spPr>
        <p:txBody>
          <a:bodyPr wrap="none" rtlCol="0">
            <a:spAutoFit/>
          </a:bodyPr>
          <a:lstStyle/>
          <a:p>
            <a:r>
              <a:rPr lang="en-AU" sz="1200" b="1" dirty="0" smtClean="0">
                <a:hlinkClick r:id="rId7"/>
              </a:rPr>
              <a:t>http://vocab.nerc.ac.uk/collection/P01/current/BCMMCF07/ </a:t>
            </a:r>
            <a:r>
              <a:rPr lang="en-AU" sz="1200" b="1" dirty="0" smtClean="0"/>
              <a:t>  </a:t>
            </a:r>
            <a:endParaRPr lang="en-AU" sz="1200" b="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79"/>
          <p:cNvSpPr>
            <a:spLocks noGrp="1"/>
          </p:cNvSpPr>
          <p:nvPr>
            <p:ph type="title"/>
          </p:nvPr>
        </p:nvSpPr>
        <p:spPr/>
        <p:txBody>
          <a:bodyPr/>
          <a:lstStyle/>
          <a:p>
            <a:pPr eaLnBrk="1" hangingPunct="1"/>
            <a:r>
              <a:rPr lang="en-AU" smtClean="0"/>
              <a:t>O&amp;M</a:t>
            </a:r>
          </a:p>
        </p:txBody>
      </p:sp>
      <p:pic>
        <p:nvPicPr>
          <p:cNvPr id="121859" name="Picture 2"/>
          <p:cNvPicPr>
            <a:picLocks noChangeAspect="1" noChangeArrowheads="1"/>
          </p:cNvPicPr>
          <p:nvPr/>
        </p:nvPicPr>
        <p:blipFill>
          <a:blip r:embed="rId3" cstate="print"/>
          <a:srcRect l="19768" r="4651" b="19113"/>
          <a:stretch>
            <a:fillRect/>
          </a:stretch>
        </p:blipFill>
        <p:spPr bwMode="auto">
          <a:xfrm>
            <a:off x="34925" y="44450"/>
            <a:ext cx="4681538" cy="4392613"/>
          </a:xfrm>
          <a:prstGeom prst="rect">
            <a:avLst/>
          </a:prstGeom>
          <a:noFill/>
          <a:ln w="9525">
            <a:noFill/>
            <a:miter lim="800000"/>
            <a:headEnd/>
            <a:tailEnd/>
          </a:ln>
          <a:effectLst>
            <a:outerShdw blurRad="50800" dist="38100" dir="18900000" algn="bl" rotWithShape="0">
              <a:prstClr val="black">
                <a:alpha val="40000"/>
              </a:prstClr>
            </a:outerShdw>
          </a:effectLst>
        </p:spPr>
      </p:pic>
      <p:sp>
        <p:nvSpPr>
          <p:cNvPr id="177" name="Rectangle 176"/>
          <p:cNvSpPr/>
          <p:nvPr/>
        </p:nvSpPr>
        <p:spPr>
          <a:xfrm>
            <a:off x="6804025" y="1916113"/>
            <a:ext cx="1728788" cy="93662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solidFill>
                <a:srgbClr val="FFFFFF"/>
              </a:solidFill>
            </a:endParaRPr>
          </a:p>
        </p:txBody>
      </p:sp>
      <p:grpSp>
        <p:nvGrpSpPr>
          <p:cNvPr id="2" name="Group 271"/>
          <p:cNvGrpSpPr>
            <a:grpSpLocks/>
          </p:cNvGrpSpPr>
          <p:nvPr/>
        </p:nvGrpSpPr>
        <p:grpSpPr bwMode="auto">
          <a:xfrm>
            <a:off x="5114925" y="1989138"/>
            <a:ext cx="1574800" cy="1152525"/>
            <a:chOff x="3464" y="2111"/>
            <a:chExt cx="1074" cy="726"/>
          </a:xfrm>
        </p:grpSpPr>
        <p:sp>
          <p:nvSpPr>
            <p:cNvPr id="122003"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2004"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endParaRPr lang="en-AU">
                <a:solidFill>
                  <a:srgbClr val="000000"/>
                </a:solidFill>
                <a:latin typeface="Arial" pitchFamily="34" charset="0"/>
              </a:endParaRPr>
            </a:p>
          </p:txBody>
        </p:sp>
        <p:sp>
          <p:nvSpPr>
            <p:cNvPr id="122005"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endParaRPr lang="en-AU">
                <a:solidFill>
                  <a:srgbClr val="000000"/>
                </a:solidFill>
                <a:latin typeface="Arial" pitchFamily="34" charset="0"/>
              </a:endParaRPr>
            </a:p>
          </p:txBody>
        </p:sp>
        <p:sp>
          <p:nvSpPr>
            <p:cNvPr id="122006"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endParaRPr lang="en-AU">
                <a:solidFill>
                  <a:srgbClr val="000000"/>
                </a:solidFill>
                <a:latin typeface="Arial" pitchFamily="34" charset="0"/>
              </a:endParaRPr>
            </a:p>
          </p:txBody>
        </p:sp>
        <p:sp>
          <p:nvSpPr>
            <p:cNvPr id="122007"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endParaRPr lang="en-AU">
                <a:solidFill>
                  <a:srgbClr val="000000"/>
                </a:solidFill>
                <a:latin typeface="Arial" pitchFamily="34" charset="0"/>
              </a:endParaRPr>
            </a:p>
          </p:txBody>
        </p:sp>
        <p:sp>
          <p:nvSpPr>
            <p:cNvPr id="122008"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endParaRPr lang="en-AU">
                <a:solidFill>
                  <a:srgbClr val="000000"/>
                </a:solidFill>
                <a:latin typeface="Arial" pitchFamily="34" charset="0"/>
              </a:endParaRPr>
            </a:p>
          </p:txBody>
        </p:sp>
        <p:sp>
          <p:nvSpPr>
            <p:cNvPr id="122009"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endParaRPr lang="en-AU">
                <a:solidFill>
                  <a:srgbClr val="000000"/>
                </a:solidFill>
                <a:latin typeface="Arial" pitchFamily="34" charset="0"/>
              </a:endParaRPr>
            </a:p>
          </p:txBody>
        </p:sp>
        <p:sp>
          <p:nvSpPr>
            <p:cNvPr id="122010"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endParaRPr lang="en-AU">
                <a:solidFill>
                  <a:srgbClr val="000000"/>
                </a:solidFill>
                <a:latin typeface="Arial" pitchFamily="34" charset="0"/>
              </a:endParaRPr>
            </a:p>
          </p:txBody>
        </p:sp>
        <p:sp>
          <p:nvSpPr>
            <p:cNvPr id="122011"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endParaRPr lang="en-AU">
                <a:solidFill>
                  <a:srgbClr val="000000"/>
                </a:solidFill>
                <a:latin typeface="Arial" pitchFamily="34" charset="0"/>
              </a:endParaRPr>
            </a:p>
          </p:txBody>
        </p:sp>
        <p:sp>
          <p:nvSpPr>
            <p:cNvPr id="122012"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endParaRPr lang="en-AU">
                <a:solidFill>
                  <a:srgbClr val="000000"/>
                </a:solidFill>
                <a:latin typeface="Arial" pitchFamily="34" charset="0"/>
              </a:endParaRPr>
            </a:p>
          </p:txBody>
        </p:sp>
        <p:sp>
          <p:nvSpPr>
            <p:cNvPr id="122013"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endParaRPr lang="en-AU">
                <a:solidFill>
                  <a:srgbClr val="000000"/>
                </a:solidFill>
                <a:latin typeface="Arial" pitchFamily="34" charset="0"/>
              </a:endParaRPr>
            </a:p>
          </p:txBody>
        </p:sp>
        <p:sp>
          <p:nvSpPr>
            <p:cNvPr id="122014"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endParaRPr lang="en-AU">
                <a:solidFill>
                  <a:srgbClr val="000000"/>
                </a:solidFill>
                <a:latin typeface="Arial" pitchFamily="34" charset="0"/>
              </a:endParaRPr>
            </a:p>
          </p:txBody>
        </p:sp>
        <p:sp>
          <p:nvSpPr>
            <p:cNvPr id="122015"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endParaRPr lang="en-AU">
                <a:solidFill>
                  <a:srgbClr val="000000"/>
                </a:solidFill>
                <a:latin typeface="Arial" pitchFamily="34" charset="0"/>
              </a:endParaRPr>
            </a:p>
          </p:txBody>
        </p:sp>
        <p:sp>
          <p:nvSpPr>
            <p:cNvPr id="122016"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2017"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OM_Observation</a:t>
              </a:r>
              <a:endParaRPr lang="en-US">
                <a:solidFill>
                  <a:srgbClr val="000000"/>
                </a:solidFill>
                <a:latin typeface="Arial" pitchFamily="34" charset="0"/>
              </a:endParaRPr>
            </a:p>
          </p:txBody>
        </p:sp>
        <p:sp>
          <p:nvSpPr>
            <p:cNvPr id="122018"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endParaRPr lang="en-AU"/>
            </a:p>
          </p:txBody>
        </p:sp>
        <p:sp>
          <p:nvSpPr>
            <p:cNvPr id="122019"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0"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phenomenonTime</a:t>
              </a:r>
              <a:endParaRPr lang="en-US">
                <a:solidFill>
                  <a:srgbClr val="000000"/>
                </a:solidFill>
                <a:latin typeface="Arial" pitchFamily="34" charset="0"/>
              </a:endParaRPr>
            </a:p>
          </p:txBody>
        </p:sp>
        <p:sp>
          <p:nvSpPr>
            <p:cNvPr id="122021"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2"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resultTime</a:t>
              </a:r>
              <a:endParaRPr lang="en-US">
                <a:solidFill>
                  <a:srgbClr val="000000"/>
                </a:solidFill>
                <a:latin typeface="Arial" pitchFamily="34" charset="0"/>
              </a:endParaRPr>
            </a:p>
          </p:txBody>
        </p:sp>
        <p:sp>
          <p:nvSpPr>
            <p:cNvPr id="122023"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4"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validTime [0..1]</a:t>
              </a:r>
              <a:endParaRPr lang="en-US">
                <a:solidFill>
                  <a:srgbClr val="000000"/>
                </a:solidFill>
                <a:latin typeface="Arial" pitchFamily="34" charset="0"/>
              </a:endParaRPr>
            </a:p>
          </p:txBody>
        </p:sp>
        <p:sp>
          <p:nvSpPr>
            <p:cNvPr id="122025"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6"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resultQuality [0..*]</a:t>
              </a:r>
              <a:endParaRPr lang="en-US">
                <a:solidFill>
                  <a:srgbClr val="000000"/>
                </a:solidFill>
                <a:latin typeface="Arial" pitchFamily="34" charset="0"/>
              </a:endParaRPr>
            </a:p>
          </p:txBody>
        </p:sp>
        <p:sp>
          <p:nvSpPr>
            <p:cNvPr id="122027"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8"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parameter [0..*]</a:t>
              </a:r>
              <a:endParaRPr lang="en-US">
                <a:solidFill>
                  <a:srgbClr val="000000"/>
                </a:solidFill>
                <a:latin typeface="Arial" pitchFamily="34" charset="0"/>
              </a:endParaRPr>
            </a:p>
          </p:txBody>
        </p:sp>
      </p:grpSp>
      <p:grpSp>
        <p:nvGrpSpPr>
          <p:cNvPr id="3" name="Group 269"/>
          <p:cNvGrpSpPr>
            <a:grpSpLocks/>
          </p:cNvGrpSpPr>
          <p:nvPr/>
        </p:nvGrpSpPr>
        <p:grpSpPr bwMode="auto">
          <a:xfrm>
            <a:off x="7015163" y="2027238"/>
            <a:ext cx="1373187" cy="542925"/>
            <a:chOff x="4760" y="2135"/>
            <a:chExt cx="759" cy="342"/>
          </a:xfrm>
        </p:grpSpPr>
        <p:sp>
          <p:nvSpPr>
            <p:cNvPr id="121975" name="Rectangle 38"/>
            <p:cNvSpPr>
              <a:spLocks noChangeArrowheads="1"/>
            </p:cNvSpPr>
            <p:nvPr/>
          </p:nvSpPr>
          <p:spPr bwMode="auto">
            <a:xfrm>
              <a:off x="4778" y="2153"/>
              <a:ext cx="708"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76" name="Rectangle 39"/>
            <p:cNvSpPr>
              <a:spLocks noChangeArrowheads="1"/>
            </p:cNvSpPr>
            <p:nvPr/>
          </p:nvSpPr>
          <p:spPr bwMode="auto">
            <a:xfrm>
              <a:off x="4760" y="2135"/>
              <a:ext cx="12" cy="324"/>
            </a:xfrm>
            <a:prstGeom prst="rect">
              <a:avLst/>
            </a:prstGeom>
            <a:solidFill>
              <a:srgbClr val="B5E8E8"/>
            </a:solidFill>
            <a:ln w="9525">
              <a:noFill/>
              <a:miter lim="800000"/>
              <a:headEnd/>
              <a:tailEnd/>
            </a:ln>
          </p:spPr>
          <p:txBody>
            <a:bodyPr/>
            <a:lstStyle/>
            <a:p>
              <a:endParaRPr lang="en-AU">
                <a:solidFill>
                  <a:srgbClr val="000000"/>
                </a:solidFill>
                <a:latin typeface="Arial" pitchFamily="34" charset="0"/>
              </a:endParaRPr>
            </a:p>
          </p:txBody>
        </p:sp>
        <p:sp>
          <p:nvSpPr>
            <p:cNvPr id="121977" name="Rectangle 40"/>
            <p:cNvSpPr>
              <a:spLocks noChangeArrowheads="1"/>
            </p:cNvSpPr>
            <p:nvPr/>
          </p:nvSpPr>
          <p:spPr bwMode="auto">
            <a:xfrm>
              <a:off x="4772" y="2135"/>
              <a:ext cx="12" cy="324"/>
            </a:xfrm>
            <a:prstGeom prst="rect">
              <a:avLst/>
            </a:prstGeom>
            <a:solidFill>
              <a:srgbClr val="B6E9E9"/>
            </a:solidFill>
            <a:ln w="9525">
              <a:noFill/>
              <a:miter lim="800000"/>
              <a:headEnd/>
              <a:tailEnd/>
            </a:ln>
          </p:spPr>
          <p:txBody>
            <a:bodyPr/>
            <a:lstStyle/>
            <a:p>
              <a:endParaRPr lang="en-AU">
                <a:solidFill>
                  <a:srgbClr val="000000"/>
                </a:solidFill>
                <a:latin typeface="Arial" pitchFamily="34" charset="0"/>
              </a:endParaRPr>
            </a:p>
          </p:txBody>
        </p:sp>
        <p:sp>
          <p:nvSpPr>
            <p:cNvPr id="121978" name="Rectangle 41"/>
            <p:cNvSpPr>
              <a:spLocks noChangeArrowheads="1"/>
            </p:cNvSpPr>
            <p:nvPr/>
          </p:nvSpPr>
          <p:spPr bwMode="auto">
            <a:xfrm>
              <a:off x="4784" y="2135"/>
              <a:ext cx="18" cy="324"/>
            </a:xfrm>
            <a:prstGeom prst="rect">
              <a:avLst/>
            </a:prstGeom>
            <a:solidFill>
              <a:srgbClr val="B7EAEA"/>
            </a:solidFill>
            <a:ln w="9525">
              <a:noFill/>
              <a:miter lim="800000"/>
              <a:headEnd/>
              <a:tailEnd/>
            </a:ln>
          </p:spPr>
          <p:txBody>
            <a:bodyPr/>
            <a:lstStyle/>
            <a:p>
              <a:endParaRPr lang="en-AU">
                <a:solidFill>
                  <a:srgbClr val="000000"/>
                </a:solidFill>
                <a:latin typeface="Arial" pitchFamily="34" charset="0"/>
              </a:endParaRPr>
            </a:p>
          </p:txBody>
        </p:sp>
        <p:sp>
          <p:nvSpPr>
            <p:cNvPr id="121979" name="Rectangle 42"/>
            <p:cNvSpPr>
              <a:spLocks noChangeArrowheads="1"/>
            </p:cNvSpPr>
            <p:nvPr/>
          </p:nvSpPr>
          <p:spPr bwMode="auto">
            <a:xfrm>
              <a:off x="4802" y="2135"/>
              <a:ext cx="12" cy="324"/>
            </a:xfrm>
            <a:prstGeom prst="rect">
              <a:avLst/>
            </a:prstGeom>
            <a:solidFill>
              <a:srgbClr val="B8EBEB"/>
            </a:solidFill>
            <a:ln w="9525">
              <a:noFill/>
              <a:miter lim="800000"/>
              <a:headEnd/>
              <a:tailEnd/>
            </a:ln>
          </p:spPr>
          <p:txBody>
            <a:bodyPr/>
            <a:lstStyle/>
            <a:p>
              <a:endParaRPr lang="en-AU">
                <a:solidFill>
                  <a:srgbClr val="000000"/>
                </a:solidFill>
                <a:latin typeface="Arial" pitchFamily="34" charset="0"/>
              </a:endParaRPr>
            </a:p>
          </p:txBody>
        </p:sp>
        <p:sp>
          <p:nvSpPr>
            <p:cNvPr id="121980" name="Rectangle 43"/>
            <p:cNvSpPr>
              <a:spLocks noChangeArrowheads="1"/>
            </p:cNvSpPr>
            <p:nvPr/>
          </p:nvSpPr>
          <p:spPr bwMode="auto">
            <a:xfrm>
              <a:off x="4814" y="2135"/>
              <a:ext cx="18" cy="324"/>
            </a:xfrm>
            <a:prstGeom prst="rect">
              <a:avLst/>
            </a:prstGeom>
            <a:solidFill>
              <a:srgbClr val="B9ECEC"/>
            </a:solidFill>
            <a:ln w="9525">
              <a:noFill/>
              <a:miter lim="800000"/>
              <a:headEnd/>
              <a:tailEnd/>
            </a:ln>
          </p:spPr>
          <p:txBody>
            <a:bodyPr/>
            <a:lstStyle/>
            <a:p>
              <a:endParaRPr lang="en-AU">
                <a:solidFill>
                  <a:srgbClr val="000000"/>
                </a:solidFill>
                <a:latin typeface="Arial" pitchFamily="34" charset="0"/>
              </a:endParaRPr>
            </a:p>
          </p:txBody>
        </p:sp>
        <p:sp>
          <p:nvSpPr>
            <p:cNvPr id="121981" name="Rectangle 44"/>
            <p:cNvSpPr>
              <a:spLocks noChangeArrowheads="1"/>
            </p:cNvSpPr>
            <p:nvPr/>
          </p:nvSpPr>
          <p:spPr bwMode="auto">
            <a:xfrm>
              <a:off x="4832" y="2135"/>
              <a:ext cx="12" cy="324"/>
            </a:xfrm>
            <a:prstGeom prst="rect">
              <a:avLst/>
            </a:prstGeom>
            <a:solidFill>
              <a:srgbClr val="BAEDED"/>
            </a:solidFill>
            <a:ln w="9525">
              <a:noFill/>
              <a:miter lim="800000"/>
              <a:headEnd/>
              <a:tailEnd/>
            </a:ln>
          </p:spPr>
          <p:txBody>
            <a:bodyPr/>
            <a:lstStyle/>
            <a:p>
              <a:endParaRPr lang="en-AU">
                <a:solidFill>
                  <a:srgbClr val="000000"/>
                </a:solidFill>
                <a:latin typeface="Arial" pitchFamily="34" charset="0"/>
              </a:endParaRPr>
            </a:p>
          </p:txBody>
        </p:sp>
        <p:sp>
          <p:nvSpPr>
            <p:cNvPr id="121982" name="Rectangle 45"/>
            <p:cNvSpPr>
              <a:spLocks noChangeArrowheads="1"/>
            </p:cNvSpPr>
            <p:nvPr/>
          </p:nvSpPr>
          <p:spPr bwMode="auto">
            <a:xfrm>
              <a:off x="4844" y="2135"/>
              <a:ext cx="12" cy="324"/>
            </a:xfrm>
            <a:prstGeom prst="rect">
              <a:avLst/>
            </a:prstGeom>
            <a:solidFill>
              <a:srgbClr val="BBEEEE"/>
            </a:solidFill>
            <a:ln w="9525">
              <a:noFill/>
              <a:miter lim="800000"/>
              <a:headEnd/>
              <a:tailEnd/>
            </a:ln>
          </p:spPr>
          <p:txBody>
            <a:bodyPr/>
            <a:lstStyle/>
            <a:p>
              <a:endParaRPr lang="en-AU">
                <a:solidFill>
                  <a:srgbClr val="000000"/>
                </a:solidFill>
                <a:latin typeface="Arial" pitchFamily="34" charset="0"/>
              </a:endParaRPr>
            </a:p>
          </p:txBody>
        </p:sp>
        <p:sp>
          <p:nvSpPr>
            <p:cNvPr id="121983" name="Rectangle 46"/>
            <p:cNvSpPr>
              <a:spLocks noChangeArrowheads="1"/>
            </p:cNvSpPr>
            <p:nvPr/>
          </p:nvSpPr>
          <p:spPr bwMode="auto">
            <a:xfrm>
              <a:off x="4856" y="2135"/>
              <a:ext cx="18" cy="324"/>
            </a:xfrm>
            <a:prstGeom prst="rect">
              <a:avLst/>
            </a:prstGeom>
            <a:solidFill>
              <a:srgbClr val="BCEFEF"/>
            </a:solidFill>
            <a:ln w="9525">
              <a:noFill/>
              <a:miter lim="800000"/>
              <a:headEnd/>
              <a:tailEnd/>
            </a:ln>
          </p:spPr>
          <p:txBody>
            <a:bodyPr/>
            <a:lstStyle/>
            <a:p>
              <a:endParaRPr lang="en-AU">
                <a:solidFill>
                  <a:srgbClr val="000000"/>
                </a:solidFill>
                <a:latin typeface="Arial" pitchFamily="34" charset="0"/>
              </a:endParaRPr>
            </a:p>
          </p:txBody>
        </p:sp>
        <p:sp>
          <p:nvSpPr>
            <p:cNvPr id="121984" name="Rectangle 47"/>
            <p:cNvSpPr>
              <a:spLocks noChangeArrowheads="1"/>
            </p:cNvSpPr>
            <p:nvPr/>
          </p:nvSpPr>
          <p:spPr bwMode="auto">
            <a:xfrm>
              <a:off x="4874" y="2135"/>
              <a:ext cx="12" cy="324"/>
            </a:xfrm>
            <a:prstGeom prst="rect">
              <a:avLst/>
            </a:prstGeom>
            <a:solidFill>
              <a:srgbClr val="BDF0F0"/>
            </a:solidFill>
            <a:ln w="9525">
              <a:noFill/>
              <a:miter lim="800000"/>
              <a:headEnd/>
              <a:tailEnd/>
            </a:ln>
          </p:spPr>
          <p:txBody>
            <a:bodyPr/>
            <a:lstStyle/>
            <a:p>
              <a:endParaRPr lang="en-AU">
                <a:solidFill>
                  <a:srgbClr val="000000"/>
                </a:solidFill>
                <a:latin typeface="Arial" pitchFamily="34" charset="0"/>
              </a:endParaRPr>
            </a:p>
          </p:txBody>
        </p:sp>
        <p:sp>
          <p:nvSpPr>
            <p:cNvPr id="121985" name="Rectangle 48"/>
            <p:cNvSpPr>
              <a:spLocks noChangeArrowheads="1"/>
            </p:cNvSpPr>
            <p:nvPr/>
          </p:nvSpPr>
          <p:spPr bwMode="auto">
            <a:xfrm>
              <a:off x="4886" y="2135"/>
              <a:ext cx="18" cy="324"/>
            </a:xfrm>
            <a:prstGeom prst="rect">
              <a:avLst/>
            </a:prstGeom>
            <a:solidFill>
              <a:srgbClr val="BEF1F1"/>
            </a:solidFill>
            <a:ln w="9525">
              <a:noFill/>
              <a:miter lim="800000"/>
              <a:headEnd/>
              <a:tailEnd/>
            </a:ln>
          </p:spPr>
          <p:txBody>
            <a:bodyPr/>
            <a:lstStyle/>
            <a:p>
              <a:endParaRPr lang="en-AU">
                <a:solidFill>
                  <a:srgbClr val="000000"/>
                </a:solidFill>
                <a:latin typeface="Arial" pitchFamily="34" charset="0"/>
              </a:endParaRPr>
            </a:p>
          </p:txBody>
        </p:sp>
        <p:sp>
          <p:nvSpPr>
            <p:cNvPr id="121986" name="Rectangle 49"/>
            <p:cNvSpPr>
              <a:spLocks noChangeArrowheads="1"/>
            </p:cNvSpPr>
            <p:nvPr/>
          </p:nvSpPr>
          <p:spPr bwMode="auto">
            <a:xfrm>
              <a:off x="4904" y="2135"/>
              <a:ext cx="12" cy="324"/>
            </a:xfrm>
            <a:prstGeom prst="rect">
              <a:avLst/>
            </a:prstGeom>
            <a:solidFill>
              <a:srgbClr val="BFF2F2"/>
            </a:solidFill>
            <a:ln w="9525">
              <a:noFill/>
              <a:miter lim="800000"/>
              <a:headEnd/>
              <a:tailEnd/>
            </a:ln>
          </p:spPr>
          <p:txBody>
            <a:bodyPr/>
            <a:lstStyle/>
            <a:p>
              <a:endParaRPr lang="en-AU">
                <a:solidFill>
                  <a:srgbClr val="000000"/>
                </a:solidFill>
                <a:latin typeface="Arial" pitchFamily="34" charset="0"/>
              </a:endParaRPr>
            </a:p>
          </p:txBody>
        </p:sp>
        <p:sp>
          <p:nvSpPr>
            <p:cNvPr id="121987" name="Rectangle 50"/>
            <p:cNvSpPr>
              <a:spLocks noChangeArrowheads="1"/>
            </p:cNvSpPr>
            <p:nvPr/>
          </p:nvSpPr>
          <p:spPr bwMode="auto">
            <a:xfrm>
              <a:off x="4916" y="2135"/>
              <a:ext cx="18" cy="324"/>
            </a:xfrm>
            <a:prstGeom prst="rect">
              <a:avLst/>
            </a:prstGeom>
            <a:solidFill>
              <a:srgbClr val="C0F3F3"/>
            </a:solidFill>
            <a:ln w="9525">
              <a:noFill/>
              <a:miter lim="800000"/>
              <a:headEnd/>
              <a:tailEnd/>
            </a:ln>
          </p:spPr>
          <p:txBody>
            <a:bodyPr/>
            <a:lstStyle/>
            <a:p>
              <a:endParaRPr lang="en-AU">
                <a:solidFill>
                  <a:srgbClr val="000000"/>
                </a:solidFill>
                <a:latin typeface="Arial" pitchFamily="34" charset="0"/>
              </a:endParaRPr>
            </a:p>
          </p:txBody>
        </p:sp>
        <p:sp>
          <p:nvSpPr>
            <p:cNvPr id="121988" name="Rectangle 51"/>
            <p:cNvSpPr>
              <a:spLocks noChangeArrowheads="1"/>
            </p:cNvSpPr>
            <p:nvPr/>
          </p:nvSpPr>
          <p:spPr bwMode="auto">
            <a:xfrm>
              <a:off x="4934" y="2135"/>
              <a:ext cx="18" cy="324"/>
            </a:xfrm>
            <a:prstGeom prst="rect">
              <a:avLst/>
            </a:prstGeom>
            <a:solidFill>
              <a:srgbClr val="C1F4F4"/>
            </a:solidFill>
            <a:ln w="9525">
              <a:noFill/>
              <a:miter lim="800000"/>
              <a:headEnd/>
              <a:tailEnd/>
            </a:ln>
          </p:spPr>
          <p:txBody>
            <a:bodyPr/>
            <a:lstStyle/>
            <a:p>
              <a:endParaRPr lang="en-AU">
                <a:solidFill>
                  <a:srgbClr val="000000"/>
                </a:solidFill>
                <a:latin typeface="Arial" pitchFamily="34" charset="0"/>
              </a:endParaRPr>
            </a:p>
          </p:txBody>
        </p:sp>
        <p:sp>
          <p:nvSpPr>
            <p:cNvPr id="121989" name="Rectangle 52"/>
            <p:cNvSpPr>
              <a:spLocks noChangeArrowheads="1"/>
            </p:cNvSpPr>
            <p:nvPr/>
          </p:nvSpPr>
          <p:spPr bwMode="auto">
            <a:xfrm>
              <a:off x="4952" y="2135"/>
              <a:ext cx="24" cy="324"/>
            </a:xfrm>
            <a:prstGeom prst="rect">
              <a:avLst/>
            </a:prstGeom>
            <a:solidFill>
              <a:srgbClr val="C2F5F5"/>
            </a:solidFill>
            <a:ln w="9525">
              <a:noFill/>
              <a:miter lim="800000"/>
              <a:headEnd/>
              <a:tailEnd/>
            </a:ln>
          </p:spPr>
          <p:txBody>
            <a:bodyPr/>
            <a:lstStyle/>
            <a:p>
              <a:endParaRPr lang="en-AU">
                <a:solidFill>
                  <a:srgbClr val="000000"/>
                </a:solidFill>
                <a:latin typeface="Arial" pitchFamily="34" charset="0"/>
              </a:endParaRPr>
            </a:p>
          </p:txBody>
        </p:sp>
        <p:sp>
          <p:nvSpPr>
            <p:cNvPr id="121990" name="Rectangle 53"/>
            <p:cNvSpPr>
              <a:spLocks noChangeArrowheads="1"/>
            </p:cNvSpPr>
            <p:nvPr/>
          </p:nvSpPr>
          <p:spPr bwMode="auto">
            <a:xfrm>
              <a:off x="4976" y="2135"/>
              <a:ext cx="18" cy="324"/>
            </a:xfrm>
            <a:prstGeom prst="rect">
              <a:avLst/>
            </a:prstGeom>
            <a:solidFill>
              <a:srgbClr val="C3F6F6"/>
            </a:solidFill>
            <a:ln w="9525">
              <a:noFill/>
              <a:miter lim="800000"/>
              <a:headEnd/>
              <a:tailEnd/>
            </a:ln>
          </p:spPr>
          <p:txBody>
            <a:bodyPr/>
            <a:lstStyle/>
            <a:p>
              <a:endParaRPr lang="en-AU">
                <a:solidFill>
                  <a:srgbClr val="000000"/>
                </a:solidFill>
                <a:latin typeface="Arial" pitchFamily="34" charset="0"/>
              </a:endParaRPr>
            </a:p>
          </p:txBody>
        </p:sp>
        <p:sp>
          <p:nvSpPr>
            <p:cNvPr id="121991" name="Rectangle 54"/>
            <p:cNvSpPr>
              <a:spLocks noChangeArrowheads="1"/>
            </p:cNvSpPr>
            <p:nvPr/>
          </p:nvSpPr>
          <p:spPr bwMode="auto">
            <a:xfrm>
              <a:off x="4994" y="2135"/>
              <a:ext cx="12" cy="324"/>
            </a:xfrm>
            <a:prstGeom prst="rect">
              <a:avLst/>
            </a:prstGeom>
            <a:solidFill>
              <a:srgbClr val="C4F7F7"/>
            </a:solidFill>
            <a:ln w="9525">
              <a:noFill/>
              <a:miter lim="800000"/>
              <a:headEnd/>
              <a:tailEnd/>
            </a:ln>
          </p:spPr>
          <p:txBody>
            <a:bodyPr/>
            <a:lstStyle/>
            <a:p>
              <a:endParaRPr lang="en-AU">
                <a:solidFill>
                  <a:srgbClr val="000000"/>
                </a:solidFill>
                <a:latin typeface="Arial" pitchFamily="34" charset="0"/>
              </a:endParaRPr>
            </a:p>
          </p:txBody>
        </p:sp>
        <p:sp>
          <p:nvSpPr>
            <p:cNvPr id="121992" name="Rectangle 55"/>
            <p:cNvSpPr>
              <a:spLocks noChangeArrowheads="1"/>
            </p:cNvSpPr>
            <p:nvPr/>
          </p:nvSpPr>
          <p:spPr bwMode="auto">
            <a:xfrm>
              <a:off x="5006" y="2135"/>
              <a:ext cx="18" cy="324"/>
            </a:xfrm>
            <a:prstGeom prst="rect">
              <a:avLst/>
            </a:prstGeom>
            <a:solidFill>
              <a:srgbClr val="C5F8F8"/>
            </a:solidFill>
            <a:ln w="9525">
              <a:noFill/>
              <a:miter lim="800000"/>
              <a:headEnd/>
              <a:tailEnd/>
            </a:ln>
          </p:spPr>
          <p:txBody>
            <a:bodyPr/>
            <a:lstStyle/>
            <a:p>
              <a:endParaRPr lang="en-AU">
                <a:solidFill>
                  <a:srgbClr val="000000"/>
                </a:solidFill>
                <a:latin typeface="Arial" pitchFamily="34" charset="0"/>
              </a:endParaRPr>
            </a:p>
          </p:txBody>
        </p:sp>
        <p:sp>
          <p:nvSpPr>
            <p:cNvPr id="121993" name="Rectangle 56"/>
            <p:cNvSpPr>
              <a:spLocks noChangeArrowheads="1"/>
            </p:cNvSpPr>
            <p:nvPr/>
          </p:nvSpPr>
          <p:spPr bwMode="auto">
            <a:xfrm>
              <a:off x="5024" y="2135"/>
              <a:ext cx="12" cy="324"/>
            </a:xfrm>
            <a:prstGeom prst="rect">
              <a:avLst/>
            </a:prstGeom>
            <a:solidFill>
              <a:srgbClr val="C6F9F9"/>
            </a:solidFill>
            <a:ln w="9525">
              <a:noFill/>
              <a:miter lim="800000"/>
              <a:headEnd/>
              <a:tailEnd/>
            </a:ln>
          </p:spPr>
          <p:txBody>
            <a:bodyPr/>
            <a:lstStyle/>
            <a:p>
              <a:endParaRPr lang="en-AU">
                <a:solidFill>
                  <a:srgbClr val="000000"/>
                </a:solidFill>
                <a:latin typeface="Arial" pitchFamily="34" charset="0"/>
              </a:endParaRPr>
            </a:p>
          </p:txBody>
        </p:sp>
        <p:sp>
          <p:nvSpPr>
            <p:cNvPr id="121994" name="Rectangle 57"/>
            <p:cNvSpPr>
              <a:spLocks noChangeArrowheads="1"/>
            </p:cNvSpPr>
            <p:nvPr/>
          </p:nvSpPr>
          <p:spPr bwMode="auto">
            <a:xfrm>
              <a:off x="5036" y="2135"/>
              <a:ext cx="12" cy="324"/>
            </a:xfrm>
            <a:prstGeom prst="rect">
              <a:avLst/>
            </a:prstGeom>
            <a:solidFill>
              <a:srgbClr val="C7FAFA"/>
            </a:solidFill>
            <a:ln w="9525">
              <a:noFill/>
              <a:miter lim="800000"/>
              <a:headEnd/>
              <a:tailEnd/>
            </a:ln>
          </p:spPr>
          <p:txBody>
            <a:bodyPr/>
            <a:lstStyle/>
            <a:p>
              <a:endParaRPr lang="en-AU">
                <a:solidFill>
                  <a:srgbClr val="000000"/>
                </a:solidFill>
                <a:latin typeface="Arial" pitchFamily="34" charset="0"/>
              </a:endParaRPr>
            </a:p>
          </p:txBody>
        </p:sp>
        <p:sp>
          <p:nvSpPr>
            <p:cNvPr id="121995" name="Rectangle 58"/>
            <p:cNvSpPr>
              <a:spLocks noChangeArrowheads="1"/>
            </p:cNvSpPr>
            <p:nvPr/>
          </p:nvSpPr>
          <p:spPr bwMode="auto">
            <a:xfrm>
              <a:off x="5048" y="2135"/>
              <a:ext cx="18" cy="324"/>
            </a:xfrm>
            <a:prstGeom prst="rect">
              <a:avLst/>
            </a:prstGeom>
            <a:solidFill>
              <a:srgbClr val="C8FBFB"/>
            </a:solidFill>
            <a:ln w="9525">
              <a:noFill/>
              <a:miter lim="800000"/>
              <a:headEnd/>
              <a:tailEnd/>
            </a:ln>
          </p:spPr>
          <p:txBody>
            <a:bodyPr/>
            <a:lstStyle/>
            <a:p>
              <a:endParaRPr lang="en-AU">
                <a:solidFill>
                  <a:srgbClr val="000000"/>
                </a:solidFill>
                <a:latin typeface="Arial" pitchFamily="34" charset="0"/>
              </a:endParaRPr>
            </a:p>
          </p:txBody>
        </p:sp>
        <p:sp>
          <p:nvSpPr>
            <p:cNvPr id="121996" name="Rectangle 59"/>
            <p:cNvSpPr>
              <a:spLocks noChangeArrowheads="1"/>
            </p:cNvSpPr>
            <p:nvPr/>
          </p:nvSpPr>
          <p:spPr bwMode="auto">
            <a:xfrm>
              <a:off x="5066" y="2135"/>
              <a:ext cx="12" cy="324"/>
            </a:xfrm>
            <a:prstGeom prst="rect">
              <a:avLst/>
            </a:prstGeom>
            <a:solidFill>
              <a:srgbClr val="C9FCFC"/>
            </a:solidFill>
            <a:ln w="9525">
              <a:noFill/>
              <a:miter lim="800000"/>
              <a:headEnd/>
              <a:tailEnd/>
            </a:ln>
          </p:spPr>
          <p:txBody>
            <a:bodyPr/>
            <a:lstStyle/>
            <a:p>
              <a:endParaRPr lang="en-AU">
                <a:solidFill>
                  <a:srgbClr val="000000"/>
                </a:solidFill>
                <a:latin typeface="Arial" pitchFamily="34" charset="0"/>
              </a:endParaRPr>
            </a:p>
          </p:txBody>
        </p:sp>
        <p:sp>
          <p:nvSpPr>
            <p:cNvPr id="121997" name="Rectangle 60"/>
            <p:cNvSpPr>
              <a:spLocks noChangeArrowheads="1"/>
            </p:cNvSpPr>
            <p:nvPr/>
          </p:nvSpPr>
          <p:spPr bwMode="auto">
            <a:xfrm>
              <a:off x="5078" y="2135"/>
              <a:ext cx="18" cy="324"/>
            </a:xfrm>
            <a:prstGeom prst="rect">
              <a:avLst/>
            </a:prstGeom>
            <a:solidFill>
              <a:srgbClr val="CAFDFD"/>
            </a:solidFill>
            <a:ln w="9525">
              <a:noFill/>
              <a:miter lim="800000"/>
              <a:headEnd/>
              <a:tailEnd/>
            </a:ln>
          </p:spPr>
          <p:txBody>
            <a:bodyPr/>
            <a:lstStyle/>
            <a:p>
              <a:endParaRPr lang="en-AU">
                <a:solidFill>
                  <a:srgbClr val="000000"/>
                </a:solidFill>
                <a:latin typeface="Arial" pitchFamily="34" charset="0"/>
              </a:endParaRPr>
            </a:p>
          </p:txBody>
        </p:sp>
        <p:sp>
          <p:nvSpPr>
            <p:cNvPr id="121998" name="Rectangle 61"/>
            <p:cNvSpPr>
              <a:spLocks noChangeArrowheads="1"/>
            </p:cNvSpPr>
            <p:nvPr/>
          </p:nvSpPr>
          <p:spPr bwMode="auto">
            <a:xfrm>
              <a:off x="5096" y="2135"/>
              <a:ext cx="12" cy="324"/>
            </a:xfrm>
            <a:prstGeom prst="rect">
              <a:avLst/>
            </a:prstGeom>
            <a:solidFill>
              <a:srgbClr val="CBFEFE"/>
            </a:solidFill>
            <a:ln w="9525">
              <a:noFill/>
              <a:miter lim="800000"/>
              <a:headEnd/>
              <a:tailEnd/>
            </a:ln>
          </p:spPr>
          <p:txBody>
            <a:bodyPr/>
            <a:lstStyle/>
            <a:p>
              <a:endParaRPr lang="en-AU">
                <a:solidFill>
                  <a:srgbClr val="000000"/>
                </a:solidFill>
                <a:latin typeface="Arial" pitchFamily="34" charset="0"/>
              </a:endParaRPr>
            </a:p>
          </p:txBody>
        </p:sp>
        <p:sp>
          <p:nvSpPr>
            <p:cNvPr id="121999" name="Rectangle 62"/>
            <p:cNvSpPr>
              <a:spLocks noChangeArrowheads="1"/>
            </p:cNvSpPr>
            <p:nvPr/>
          </p:nvSpPr>
          <p:spPr bwMode="auto">
            <a:xfrm>
              <a:off x="5108" y="2135"/>
              <a:ext cx="360" cy="324"/>
            </a:xfrm>
            <a:prstGeom prst="rect">
              <a:avLst/>
            </a:prstGeom>
            <a:solidFill>
              <a:srgbClr val="CCFFFF"/>
            </a:solidFill>
            <a:ln w="9525">
              <a:noFill/>
              <a:miter lim="800000"/>
              <a:headEnd/>
              <a:tailEnd/>
            </a:ln>
          </p:spPr>
          <p:txBody>
            <a:bodyPr/>
            <a:lstStyle/>
            <a:p>
              <a:endParaRPr lang="en-AU">
                <a:solidFill>
                  <a:srgbClr val="000000"/>
                </a:solidFill>
                <a:latin typeface="Arial" pitchFamily="34" charset="0"/>
              </a:endParaRPr>
            </a:p>
          </p:txBody>
        </p:sp>
        <p:sp>
          <p:nvSpPr>
            <p:cNvPr id="122000" name="Rectangle 63"/>
            <p:cNvSpPr>
              <a:spLocks noChangeArrowheads="1"/>
            </p:cNvSpPr>
            <p:nvPr/>
          </p:nvSpPr>
          <p:spPr bwMode="auto">
            <a:xfrm>
              <a:off x="4760" y="2135"/>
              <a:ext cx="708"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2001" name="Rectangle 64"/>
            <p:cNvSpPr>
              <a:spLocks noChangeArrowheads="1"/>
            </p:cNvSpPr>
            <p:nvPr/>
          </p:nvSpPr>
          <p:spPr bwMode="auto">
            <a:xfrm>
              <a:off x="4802" y="2189"/>
              <a:ext cx="717"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GF_PropertyType</a:t>
              </a:r>
              <a:endParaRPr lang="en-US">
                <a:solidFill>
                  <a:srgbClr val="000000"/>
                </a:solidFill>
                <a:latin typeface="Arial" pitchFamily="34" charset="0"/>
              </a:endParaRPr>
            </a:p>
          </p:txBody>
        </p:sp>
        <p:sp>
          <p:nvSpPr>
            <p:cNvPr id="122002" name="Line 65"/>
            <p:cNvSpPr>
              <a:spLocks noChangeShapeType="1"/>
            </p:cNvSpPr>
            <p:nvPr/>
          </p:nvSpPr>
          <p:spPr bwMode="auto">
            <a:xfrm>
              <a:off x="4760" y="2315"/>
              <a:ext cx="708" cy="0"/>
            </a:xfrm>
            <a:prstGeom prst="line">
              <a:avLst/>
            </a:prstGeom>
            <a:noFill/>
            <a:ln w="9525">
              <a:solidFill>
                <a:srgbClr val="000000"/>
              </a:solidFill>
              <a:miter lim="800000"/>
              <a:headEnd/>
              <a:tailEnd/>
            </a:ln>
          </p:spPr>
          <p:txBody>
            <a:bodyPr/>
            <a:lstStyle/>
            <a:p>
              <a:endParaRPr lang="en-AU"/>
            </a:p>
          </p:txBody>
        </p:sp>
      </p:grpSp>
      <p:grpSp>
        <p:nvGrpSpPr>
          <p:cNvPr id="4" name="Group 264"/>
          <p:cNvGrpSpPr>
            <a:grpSpLocks/>
          </p:cNvGrpSpPr>
          <p:nvPr/>
        </p:nvGrpSpPr>
        <p:grpSpPr bwMode="auto">
          <a:xfrm>
            <a:off x="6875463" y="476250"/>
            <a:ext cx="1066800" cy="542925"/>
            <a:chOff x="1790" y="2225"/>
            <a:chExt cx="606" cy="342"/>
          </a:xfrm>
        </p:grpSpPr>
        <p:sp>
          <p:nvSpPr>
            <p:cNvPr id="121947"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48"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endParaRPr lang="en-AU">
                <a:solidFill>
                  <a:srgbClr val="000000"/>
                </a:solidFill>
                <a:latin typeface="Arial" pitchFamily="34" charset="0"/>
              </a:endParaRPr>
            </a:p>
          </p:txBody>
        </p:sp>
        <p:sp>
          <p:nvSpPr>
            <p:cNvPr id="121949"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endParaRPr lang="en-AU">
                <a:solidFill>
                  <a:srgbClr val="000000"/>
                </a:solidFill>
                <a:latin typeface="Arial" pitchFamily="34" charset="0"/>
              </a:endParaRPr>
            </a:p>
          </p:txBody>
        </p:sp>
        <p:sp>
          <p:nvSpPr>
            <p:cNvPr id="121950"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endParaRPr lang="en-AU">
                <a:solidFill>
                  <a:srgbClr val="000000"/>
                </a:solidFill>
                <a:latin typeface="Arial" pitchFamily="34" charset="0"/>
              </a:endParaRPr>
            </a:p>
          </p:txBody>
        </p:sp>
        <p:sp>
          <p:nvSpPr>
            <p:cNvPr id="121951"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endParaRPr lang="en-AU">
                <a:solidFill>
                  <a:srgbClr val="000000"/>
                </a:solidFill>
                <a:latin typeface="Arial" pitchFamily="34" charset="0"/>
              </a:endParaRPr>
            </a:p>
          </p:txBody>
        </p:sp>
        <p:sp>
          <p:nvSpPr>
            <p:cNvPr id="121952"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endParaRPr lang="en-AU">
                <a:solidFill>
                  <a:srgbClr val="000000"/>
                </a:solidFill>
                <a:latin typeface="Arial" pitchFamily="34" charset="0"/>
              </a:endParaRPr>
            </a:p>
          </p:txBody>
        </p:sp>
        <p:sp>
          <p:nvSpPr>
            <p:cNvPr id="121953"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endParaRPr lang="en-AU">
                <a:solidFill>
                  <a:srgbClr val="000000"/>
                </a:solidFill>
                <a:latin typeface="Arial" pitchFamily="34" charset="0"/>
              </a:endParaRPr>
            </a:p>
          </p:txBody>
        </p:sp>
        <p:sp>
          <p:nvSpPr>
            <p:cNvPr id="121954"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endParaRPr lang="en-AU">
                <a:solidFill>
                  <a:srgbClr val="000000"/>
                </a:solidFill>
                <a:latin typeface="Arial" pitchFamily="34" charset="0"/>
              </a:endParaRPr>
            </a:p>
          </p:txBody>
        </p:sp>
        <p:sp>
          <p:nvSpPr>
            <p:cNvPr id="121955"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endParaRPr lang="en-AU">
                <a:solidFill>
                  <a:srgbClr val="000000"/>
                </a:solidFill>
                <a:latin typeface="Arial" pitchFamily="34" charset="0"/>
              </a:endParaRPr>
            </a:p>
          </p:txBody>
        </p:sp>
        <p:sp>
          <p:nvSpPr>
            <p:cNvPr id="121956"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endParaRPr lang="en-AU">
                <a:solidFill>
                  <a:srgbClr val="000000"/>
                </a:solidFill>
                <a:latin typeface="Arial" pitchFamily="34" charset="0"/>
              </a:endParaRPr>
            </a:p>
          </p:txBody>
        </p:sp>
        <p:sp>
          <p:nvSpPr>
            <p:cNvPr id="121957"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endParaRPr lang="en-AU">
                <a:solidFill>
                  <a:srgbClr val="000000"/>
                </a:solidFill>
                <a:latin typeface="Arial" pitchFamily="34" charset="0"/>
              </a:endParaRPr>
            </a:p>
          </p:txBody>
        </p:sp>
        <p:sp>
          <p:nvSpPr>
            <p:cNvPr id="121958"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endParaRPr lang="en-AU">
                <a:solidFill>
                  <a:srgbClr val="000000"/>
                </a:solidFill>
                <a:latin typeface="Arial" pitchFamily="34" charset="0"/>
              </a:endParaRPr>
            </a:p>
          </p:txBody>
        </p:sp>
        <p:sp>
          <p:nvSpPr>
            <p:cNvPr id="121959"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endParaRPr lang="en-AU">
                <a:solidFill>
                  <a:srgbClr val="000000"/>
                </a:solidFill>
                <a:latin typeface="Arial" pitchFamily="34" charset="0"/>
              </a:endParaRPr>
            </a:p>
          </p:txBody>
        </p:sp>
        <p:sp>
          <p:nvSpPr>
            <p:cNvPr id="121960"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endParaRPr lang="en-AU">
                <a:solidFill>
                  <a:srgbClr val="000000"/>
                </a:solidFill>
                <a:latin typeface="Arial" pitchFamily="34" charset="0"/>
              </a:endParaRPr>
            </a:p>
          </p:txBody>
        </p:sp>
        <p:sp>
          <p:nvSpPr>
            <p:cNvPr id="121961"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endParaRPr lang="en-AU">
                <a:solidFill>
                  <a:srgbClr val="000000"/>
                </a:solidFill>
                <a:latin typeface="Arial" pitchFamily="34" charset="0"/>
              </a:endParaRPr>
            </a:p>
          </p:txBody>
        </p:sp>
        <p:sp>
          <p:nvSpPr>
            <p:cNvPr id="121962"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endParaRPr lang="en-AU">
                <a:solidFill>
                  <a:srgbClr val="000000"/>
                </a:solidFill>
                <a:latin typeface="Arial" pitchFamily="34" charset="0"/>
              </a:endParaRPr>
            </a:p>
          </p:txBody>
        </p:sp>
        <p:sp>
          <p:nvSpPr>
            <p:cNvPr id="121963"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endParaRPr lang="en-AU">
                <a:solidFill>
                  <a:srgbClr val="000000"/>
                </a:solidFill>
                <a:latin typeface="Arial" pitchFamily="34" charset="0"/>
              </a:endParaRPr>
            </a:p>
          </p:txBody>
        </p:sp>
        <p:sp>
          <p:nvSpPr>
            <p:cNvPr id="121964"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endParaRPr lang="en-AU">
                <a:solidFill>
                  <a:srgbClr val="000000"/>
                </a:solidFill>
                <a:latin typeface="Arial" pitchFamily="34" charset="0"/>
              </a:endParaRPr>
            </a:p>
          </p:txBody>
        </p:sp>
        <p:sp>
          <p:nvSpPr>
            <p:cNvPr id="121965"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endParaRPr lang="en-AU">
                <a:solidFill>
                  <a:srgbClr val="000000"/>
                </a:solidFill>
                <a:latin typeface="Arial" pitchFamily="34" charset="0"/>
              </a:endParaRPr>
            </a:p>
          </p:txBody>
        </p:sp>
        <p:sp>
          <p:nvSpPr>
            <p:cNvPr id="121966"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endParaRPr lang="en-AU">
                <a:solidFill>
                  <a:srgbClr val="000000"/>
                </a:solidFill>
                <a:latin typeface="Arial" pitchFamily="34" charset="0"/>
              </a:endParaRPr>
            </a:p>
          </p:txBody>
        </p:sp>
        <p:sp>
          <p:nvSpPr>
            <p:cNvPr id="121967"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endParaRPr lang="en-AU">
                <a:solidFill>
                  <a:srgbClr val="000000"/>
                </a:solidFill>
                <a:latin typeface="Arial" pitchFamily="34" charset="0"/>
              </a:endParaRPr>
            </a:p>
          </p:txBody>
        </p:sp>
        <p:sp>
          <p:nvSpPr>
            <p:cNvPr id="121968"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endParaRPr lang="en-AU">
                <a:solidFill>
                  <a:srgbClr val="000000"/>
                </a:solidFill>
                <a:latin typeface="Arial" pitchFamily="34" charset="0"/>
              </a:endParaRPr>
            </a:p>
          </p:txBody>
        </p:sp>
        <p:sp>
          <p:nvSpPr>
            <p:cNvPr id="121969"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endParaRPr lang="en-AU">
                <a:solidFill>
                  <a:srgbClr val="000000"/>
                </a:solidFill>
                <a:latin typeface="Arial" pitchFamily="34" charset="0"/>
              </a:endParaRPr>
            </a:p>
          </p:txBody>
        </p:sp>
        <p:sp>
          <p:nvSpPr>
            <p:cNvPr id="121970"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endParaRPr lang="en-AU">
                <a:solidFill>
                  <a:srgbClr val="000000"/>
                </a:solidFill>
                <a:latin typeface="Arial" pitchFamily="34" charset="0"/>
              </a:endParaRPr>
            </a:p>
          </p:txBody>
        </p:sp>
        <p:sp>
          <p:nvSpPr>
            <p:cNvPr id="121971"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endParaRPr lang="en-AU">
                <a:solidFill>
                  <a:srgbClr val="000000"/>
                </a:solidFill>
                <a:latin typeface="Arial" pitchFamily="34" charset="0"/>
              </a:endParaRPr>
            </a:p>
          </p:txBody>
        </p:sp>
        <p:sp>
          <p:nvSpPr>
            <p:cNvPr id="121972"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73"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GFI_Feature</a:t>
              </a:r>
              <a:endParaRPr lang="en-US">
                <a:solidFill>
                  <a:srgbClr val="000000"/>
                </a:solidFill>
                <a:latin typeface="Arial" pitchFamily="34" charset="0"/>
              </a:endParaRPr>
            </a:p>
          </p:txBody>
        </p:sp>
        <p:sp>
          <p:nvSpPr>
            <p:cNvPr id="121974"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endParaRPr lang="en-AU"/>
            </a:p>
          </p:txBody>
        </p:sp>
      </p:grpSp>
      <p:grpSp>
        <p:nvGrpSpPr>
          <p:cNvPr id="5" name="Group 267"/>
          <p:cNvGrpSpPr>
            <a:grpSpLocks/>
          </p:cNvGrpSpPr>
          <p:nvPr/>
        </p:nvGrpSpPr>
        <p:grpSpPr bwMode="auto">
          <a:xfrm>
            <a:off x="5238750" y="3836988"/>
            <a:ext cx="1133475" cy="542925"/>
            <a:chOff x="3548" y="3275"/>
            <a:chExt cx="594" cy="342"/>
          </a:xfrm>
        </p:grpSpPr>
        <p:sp>
          <p:nvSpPr>
            <p:cNvPr id="121919"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20"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endParaRPr lang="en-AU">
                <a:solidFill>
                  <a:srgbClr val="000000"/>
                </a:solidFill>
                <a:latin typeface="Arial" pitchFamily="34" charset="0"/>
              </a:endParaRPr>
            </a:p>
          </p:txBody>
        </p:sp>
        <p:sp>
          <p:nvSpPr>
            <p:cNvPr id="121921"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endParaRPr lang="en-AU">
                <a:solidFill>
                  <a:srgbClr val="000000"/>
                </a:solidFill>
                <a:latin typeface="Arial" pitchFamily="34" charset="0"/>
              </a:endParaRPr>
            </a:p>
          </p:txBody>
        </p:sp>
        <p:sp>
          <p:nvSpPr>
            <p:cNvPr id="121922"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endParaRPr lang="en-AU">
                <a:solidFill>
                  <a:srgbClr val="000000"/>
                </a:solidFill>
                <a:latin typeface="Arial" pitchFamily="34" charset="0"/>
              </a:endParaRPr>
            </a:p>
          </p:txBody>
        </p:sp>
        <p:sp>
          <p:nvSpPr>
            <p:cNvPr id="121923"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endParaRPr lang="en-AU">
                <a:solidFill>
                  <a:srgbClr val="000000"/>
                </a:solidFill>
                <a:latin typeface="Arial" pitchFamily="34" charset="0"/>
              </a:endParaRPr>
            </a:p>
          </p:txBody>
        </p:sp>
        <p:sp>
          <p:nvSpPr>
            <p:cNvPr id="121924"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endParaRPr lang="en-AU">
                <a:solidFill>
                  <a:srgbClr val="000000"/>
                </a:solidFill>
                <a:latin typeface="Arial" pitchFamily="34" charset="0"/>
              </a:endParaRPr>
            </a:p>
          </p:txBody>
        </p:sp>
        <p:sp>
          <p:nvSpPr>
            <p:cNvPr id="121925"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endParaRPr lang="en-AU">
                <a:solidFill>
                  <a:srgbClr val="000000"/>
                </a:solidFill>
                <a:latin typeface="Arial" pitchFamily="34" charset="0"/>
              </a:endParaRPr>
            </a:p>
          </p:txBody>
        </p:sp>
        <p:sp>
          <p:nvSpPr>
            <p:cNvPr id="121926"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endParaRPr lang="en-AU">
                <a:solidFill>
                  <a:srgbClr val="000000"/>
                </a:solidFill>
                <a:latin typeface="Arial" pitchFamily="34" charset="0"/>
              </a:endParaRPr>
            </a:p>
          </p:txBody>
        </p:sp>
        <p:sp>
          <p:nvSpPr>
            <p:cNvPr id="121927"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endParaRPr lang="en-AU">
                <a:solidFill>
                  <a:srgbClr val="000000"/>
                </a:solidFill>
                <a:latin typeface="Arial" pitchFamily="34" charset="0"/>
              </a:endParaRPr>
            </a:p>
          </p:txBody>
        </p:sp>
        <p:sp>
          <p:nvSpPr>
            <p:cNvPr id="121928"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endParaRPr lang="en-AU">
                <a:solidFill>
                  <a:srgbClr val="000000"/>
                </a:solidFill>
                <a:latin typeface="Arial" pitchFamily="34" charset="0"/>
              </a:endParaRPr>
            </a:p>
          </p:txBody>
        </p:sp>
        <p:sp>
          <p:nvSpPr>
            <p:cNvPr id="121929"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endParaRPr lang="en-AU">
                <a:solidFill>
                  <a:srgbClr val="000000"/>
                </a:solidFill>
                <a:latin typeface="Arial" pitchFamily="34" charset="0"/>
              </a:endParaRPr>
            </a:p>
          </p:txBody>
        </p:sp>
        <p:sp>
          <p:nvSpPr>
            <p:cNvPr id="121930"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endParaRPr lang="en-AU">
                <a:solidFill>
                  <a:srgbClr val="000000"/>
                </a:solidFill>
                <a:latin typeface="Arial" pitchFamily="34" charset="0"/>
              </a:endParaRPr>
            </a:p>
          </p:txBody>
        </p:sp>
        <p:sp>
          <p:nvSpPr>
            <p:cNvPr id="121931"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endParaRPr lang="en-AU">
                <a:solidFill>
                  <a:srgbClr val="000000"/>
                </a:solidFill>
                <a:latin typeface="Arial" pitchFamily="34" charset="0"/>
              </a:endParaRPr>
            </a:p>
          </p:txBody>
        </p:sp>
        <p:sp>
          <p:nvSpPr>
            <p:cNvPr id="121932"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endParaRPr lang="en-AU">
                <a:solidFill>
                  <a:srgbClr val="000000"/>
                </a:solidFill>
                <a:latin typeface="Arial" pitchFamily="34" charset="0"/>
              </a:endParaRPr>
            </a:p>
          </p:txBody>
        </p:sp>
        <p:sp>
          <p:nvSpPr>
            <p:cNvPr id="121933"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endParaRPr lang="en-AU">
                <a:solidFill>
                  <a:srgbClr val="000000"/>
                </a:solidFill>
                <a:latin typeface="Arial" pitchFamily="34" charset="0"/>
              </a:endParaRPr>
            </a:p>
          </p:txBody>
        </p:sp>
        <p:sp>
          <p:nvSpPr>
            <p:cNvPr id="121934"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endParaRPr lang="en-AU">
                <a:solidFill>
                  <a:srgbClr val="000000"/>
                </a:solidFill>
                <a:latin typeface="Arial" pitchFamily="34" charset="0"/>
              </a:endParaRPr>
            </a:p>
          </p:txBody>
        </p:sp>
        <p:sp>
          <p:nvSpPr>
            <p:cNvPr id="121935"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endParaRPr lang="en-AU">
                <a:solidFill>
                  <a:srgbClr val="000000"/>
                </a:solidFill>
                <a:latin typeface="Arial" pitchFamily="34" charset="0"/>
              </a:endParaRPr>
            </a:p>
          </p:txBody>
        </p:sp>
        <p:sp>
          <p:nvSpPr>
            <p:cNvPr id="121936"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endParaRPr lang="en-AU">
                <a:solidFill>
                  <a:srgbClr val="000000"/>
                </a:solidFill>
                <a:latin typeface="Arial" pitchFamily="34" charset="0"/>
              </a:endParaRPr>
            </a:p>
          </p:txBody>
        </p:sp>
        <p:sp>
          <p:nvSpPr>
            <p:cNvPr id="121937"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endParaRPr lang="en-AU">
                <a:solidFill>
                  <a:srgbClr val="000000"/>
                </a:solidFill>
                <a:latin typeface="Arial" pitchFamily="34" charset="0"/>
              </a:endParaRPr>
            </a:p>
          </p:txBody>
        </p:sp>
        <p:sp>
          <p:nvSpPr>
            <p:cNvPr id="121938"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endParaRPr lang="en-AU">
                <a:solidFill>
                  <a:srgbClr val="000000"/>
                </a:solidFill>
                <a:latin typeface="Arial" pitchFamily="34" charset="0"/>
              </a:endParaRPr>
            </a:p>
          </p:txBody>
        </p:sp>
        <p:sp>
          <p:nvSpPr>
            <p:cNvPr id="121939"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endParaRPr lang="en-AU">
                <a:solidFill>
                  <a:srgbClr val="000000"/>
                </a:solidFill>
                <a:latin typeface="Arial" pitchFamily="34" charset="0"/>
              </a:endParaRPr>
            </a:p>
          </p:txBody>
        </p:sp>
        <p:sp>
          <p:nvSpPr>
            <p:cNvPr id="121940"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endParaRPr lang="en-AU">
                <a:solidFill>
                  <a:srgbClr val="000000"/>
                </a:solidFill>
                <a:latin typeface="Arial" pitchFamily="34" charset="0"/>
              </a:endParaRPr>
            </a:p>
          </p:txBody>
        </p:sp>
        <p:sp>
          <p:nvSpPr>
            <p:cNvPr id="121941"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endParaRPr lang="en-AU">
                <a:solidFill>
                  <a:srgbClr val="000000"/>
                </a:solidFill>
                <a:latin typeface="Arial" pitchFamily="34" charset="0"/>
              </a:endParaRPr>
            </a:p>
          </p:txBody>
        </p:sp>
        <p:sp>
          <p:nvSpPr>
            <p:cNvPr id="121942"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endParaRPr lang="en-AU">
                <a:solidFill>
                  <a:srgbClr val="000000"/>
                </a:solidFill>
                <a:latin typeface="Arial" pitchFamily="34" charset="0"/>
              </a:endParaRPr>
            </a:p>
          </p:txBody>
        </p:sp>
        <p:sp>
          <p:nvSpPr>
            <p:cNvPr id="121943"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endParaRPr lang="en-AU">
                <a:solidFill>
                  <a:srgbClr val="000000"/>
                </a:solidFill>
                <a:latin typeface="Arial" pitchFamily="34" charset="0"/>
              </a:endParaRPr>
            </a:p>
          </p:txBody>
        </p:sp>
        <p:sp>
          <p:nvSpPr>
            <p:cNvPr id="121944"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45"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OM_Process</a:t>
              </a:r>
              <a:endParaRPr lang="en-US">
                <a:solidFill>
                  <a:srgbClr val="000000"/>
                </a:solidFill>
                <a:latin typeface="Arial" pitchFamily="34" charset="0"/>
              </a:endParaRPr>
            </a:p>
          </p:txBody>
        </p:sp>
        <p:sp>
          <p:nvSpPr>
            <p:cNvPr id="121946"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endParaRPr lang="en-AU"/>
            </a:p>
          </p:txBody>
        </p:sp>
      </p:grpSp>
      <p:grpSp>
        <p:nvGrpSpPr>
          <p:cNvPr id="6" name="Group 268"/>
          <p:cNvGrpSpPr>
            <a:grpSpLocks/>
          </p:cNvGrpSpPr>
          <p:nvPr/>
        </p:nvGrpSpPr>
        <p:grpSpPr bwMode="auto">
          <a:xfrm>
            <a:off x="7119938" y="3846513"/>
            <a:ext cx="809625" cy="542925"/>
            <a:chOff x="4832" y="3281"/>
            <a:chExt cx="552" cy="342"/>
          </a:xfrm>
        </p:grpSpPr>
        <p:sp>
          <p:nvSpPr>
            <p:cNvPr id="121891"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892"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endParaRPr lang="en-AU">
                <a:solidFill>
                  <a:srgbClr val="000000"/>
                </a:solidFill>
                <a:latin typeface="Arial" pitchFamily="34" charset="0"/>
              </a:endParaRPr>
            </a:p>
          </p:txBody>
        </p:sp>
        <p:sp>
          <p:nvSpPr>
            <p:cNvPr id="121893"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endParaRPr lang="en-AU">
                <a:solidFill>
                  <a:srgbClr val="000000"/>
                </a:solidFill>
                <a:latin typeface="Arial" pitchFamily="34" charset="0"/>
              </a:endParaRPr>
            </a:p>
          </p:txBody>
        </p:sp>
        <p:sp>
          <p:nvSpPr>
            <p:cNvPr id="121894"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endParaRPr lang="en-AU">
                <a:solidFill>
                  <a:srgbClr val="000000"/>
                </a:solidFill>
                <a:latin typeface="Arial" pitchFamily="34" charset="0"/>
              </a:endParaRPr>
            </a:p>
          </p:txBody>
        </p:sp>
        <p:sp>
          <p:nvSpPr>
            <p:cNvPr id="121895"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endParaRPr lang="en-AU">
                <a:solidFill>
                  <a:srgbClr val="000000"/>
                </a:solidFill>
                <a:latin typeface="Arial" pitchFamily="34" charset="0"/>
              </a:endParaRPr>
            </a:p>
          </p:txBody>
        </p:sp>
        <p:sp>
          <p:nvSpPr>
            <p:cNvPr id="121896"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endParaRPr lang="en-AU">
                <a:solidFill>
                  <a:srgbClr val="000000"/>
                </a:solidFill>
                <a:latin typeface="Arial" pitchFamily="34" charset="0"/>
              </a:endParaRPr>
            </a:p>
          </p:txBody>
        </p:sp>
        <p:sp>
          <p:nvSpPr>
            <p:cNvPr id="121897"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endParaRPr lang="en-AU">
                <a:solidFill>
                  <a:srgbClr val="000000"/>
                </a:solidFill>
                <a:latin typeface="Arial" pitchFamily="34" charset="0"/>
              </a:endParaRPr>
            </a:p>
          </p:txBody>
        </p:sp>
        <p:sp>
          <p:nvSpPr>
            <p:cNvPr id="121898"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endParaRPr lang="en-AU">
                <a:solidFill>
                  <a:srgbClr val="000000"/>
                </a:solidFill>
                <a:latin typeface="Arial" pitchFamily="34" charset="0"/>
              </a:endParaRPr>
            </a:p>
          </p:txBody>
        </p:sp>
        <p:sp>
          <p:nvSpPr>
            <p:cNvPr id="121899"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endParaRPr lang="en-AU">
                <a:solidFill>
                  <a:srgbClr val="000000"/>
                </a:solidFill>
                <a:latin typeface="Arial" pitchFamily="34" charset="0"/>
              </a:endParaRPr>
            </a:p>
          </p:txBody>
        </p:sp>
        <p:sp>
          <p:nvSpPr>
            <p:cNvPr id="121900"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endParaRPr lang="en-AU">
                <a:solidFill>
                  <a:srgbClr val="000000"/>
                </a:solidFill>
                <a:latin typeface="Arial" pitchFamily="34" charset="0"/>
              </a:endParaRPr>
            </a:p>
          </p:txBody>
        </p:sp>
        <p:sp>
          <p:nvSpPr>
            <p:cNvPr id="121901"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endParaRPr lang="en-AU">
                <a:solidFill>
                  <a:srgbClr val="000000"/>
                </a:solidFill>
                <a:latin typeface="Arial" pitchFamily="34" charset="0"/>
              </a:endParaRPr>
            </a:p>
          </p:txBody>
        </p:sp>
        <p:sp>
          <p:nvSpPr>
            <p:cNvPr id="121902"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endParaRPr lang="en-AU">
                <a:solidFill>
                  <a:srgbClr val="000000"/>
                </a:solidFill>
                <a:latin typeface="Arial" pitchFamily="34" charset="0"/>
              </a:endParaRPr>
            </a:p>
          </p:txBody>
        </p:sp>
        <p:sp>
          <p:nvSpPr>
            <p:cNvPr id="121903"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endParaRPr lang="en-AU">
                <a:solidFill>
                  <a:srgbClr val="000000"/>
                </a:solidFill>
                <a:latin typeface="Arial" pitchFamily="34" charset="0"/>
              </a:endParaRPr>
            </a:p>
          </p:txBody>
        </p:sp>
        <p:sp>
          <p:nvSpPr>
            <p:cNvPr id="121904"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endParaRPr lang="en-AU">
                <a:solidFill>
                  <a:srgbClr val="000000"/>
                </a:solidFill>
                <a:latin typeface="Arial" pitchFamily="34" charset="0"/>
              </a:endParaRPr>
            </a:p>
          </p:txBody>
        </p:sp>
        <p:sp>
          <p:nvSpPr>
            <p:cNvPr id="121905"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endParaRPr lang="en-AU">
                <a:solidFill>
                  <a:srgbClr val="000000"/>
                </a:solidFill>
                <a:latin typeface="Arial" pitchFamily="34" charset="0"/>
              </a:endParaRPr>
            </a:p>
          </p:txBody>
        </p:sp>
        <p:sp>
          <p:nvSpPr>
            <p:cNvPr id="121906"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endParaRPr lang="en-AU">
                <a:solidFill>
                  <a:srgbClr val="000000"/>
                </a:solidFill>
                <a:latin typeface="Arial" pitchFamily="34" charset="0"/>
              </a:endParaRPr>
            </a:p>
          </p:txBody>
        </p:sp>
        <p:sp>
          <p:nvSpPr>
            <p:cNvPr id="121907"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endParaRPr lang="en-AU">
                <a:solidFill>
                  <a:srgbClr val="000000"/>
                </a:solidFill>
                <a:latin typeface="Arial" pitchFamily="34" charset="0"/>
              </a:endParaRPr>
            </a:p>
          </p:txBody>
        </p:sp>
        <p:sp>
          <p:nvSpPr>
            <p:cNvPr id="121908"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endParaRPr lang="en-AU">
                <a:solidFill>
                  <a:srgbClr val="000000"/>
                </a:solidFill>
                <a:latin typeface="Arial" pitchFamily="34" charset="0"/>
              </a:endParaRPr>
            </a:p>
          </p:txBody>
        </p:sp>
        <p:sp>
          <p:nvSpPr>
            <p:cNvPr id="121909"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endParaRPr lang="en-AU">
                <a:solidFill>
                  <a:srgbClr val="000000"/>
                </a:solidFill>
                <a:latin typeface="Arial" pitchFamily="34" charset="0"/>
              </a:endParaRPr>
            </a:p>
          </p:txBody>
        </p:sp>
        <p:sp>
          <p:nvSpPr>
            <p:cNvPr id="121910"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endParaRPr lang="en-AU">
                <a:solidFill>
                  <a:srgbClr val="000000"/>
                </a:solidFill>
                <a:latin typeface="Arial" pitchFamily="34" charset="0"/>
              </a:endParaRPr>
            </a:p>
          </p:txBody>
        </p:sp>
        <p:sp>
          <p:nvSpPr>
            <p:cNvPr id="121911"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endParaRPr lang="en-AU">
                <a:solidFill>
                  <a:srgbClr val="000000"/>
                </a:solidFill>
                <a:latin typeface="Arial" pitchFamily="34" charset="0"/>
              </a:endParaRPr>
            </a:p>
          </p:txBody>
        </p:sp>
        <p:sp>
          <p:nvSpPr>
            <p:cNvPr id="121912"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endParaRPr lang="en-AU">
                <a:solidFill>
                  <a:srgbClr val="000000"/>
                </a:solidFill>
                <a:latin typeface="Arial" pitchFamily="34" charset="0"/>
              </a:endParaRPr>
            </a:p>
          </p:txBody>
        </p:sp>
        <p:sp>
          <p:nvSpPr>
            <p:cNvPr id="121913"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endParaRPr lang="en-AU">
                <a:solidFill>
                  <a:srgbClr val="000000"/>
                </a:solidFill>
                <a:latin typeface="Arial" pitchFamily="34" charset="0"/>
              </a:endParaRPr>
            </a:p>
          </p:txBody>
        </p:sp>
        <p:sp>
          <p:nvSpPr>
            <p:cNvPr id="121914"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endParaRPr lang="en-AU">
                <a:solidFill>
                  <a:srgbClr val="000000"/>
                </a:solidFill>
                <a:latin typeface="Arial" pitchFamily="34" charset="0"/>
              </a:endParaRPr>
            </a:p>
          </p:txBody>
        </p:sp>
        <p:sp>
          <p:nvSpPr>
            <p:cNvPr id="121915"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endParaRPr lang="en-AU">
                <a:solidFill>
                  <a:srgbClr val="000000"/>
                </a:solidFill>
                <a:latin typeface="Arial" pitchFamily="34" charset="0"/>
              </a:endParaRPr>
            </a:p>
          </p:txBody>
        </p:sp>
        <p:sp>
          <p:nvSpPr>
            <p:cNvPr id="121916"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17"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Any</a:t>
              </a:r>
              <a:endParaRPr lang="en-US">
                <a:solidFill>
                  <a:srgbClr val="000000"/>
                </a:solidFill>
                <a:latin typeface="Arial" pitchFamily="34" charset="0"/>
              </a:endParaRPr>
            </a:p>
          </p:txBody>
        </p:sp>
        <p:sp>
          <p:nvSpPr>
            <p:cNvPr id="121918"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endParaRPr lang="en-AU"/>
            </a:p>
          </p:txBody>
        </p:sp>
      </p:grpSp>
      <p:grpSp>
        <p:nvGrpSpPr>
          <p:cNvPr id="7" name="Group 273"/>
          <p:cNvGrpSpPr>
            <a:grpSpLocks/>
          </p:cNvGrpSpPr>
          <p:nvPr/>
        </p:nvGrpSpPr>
        <p:grpSpPr bwMode="auto">
          <a:xfrm>
            <a:off x="6672263" y="2341563"/>
            <a:ext cx="1546225" cy="431800"/>
            <a:chOff x="4526" y="2333"/>
            <a:chExt cx="1055" cy="272"/>
          </a:xfrm>
        </p:grpSpPr>
        <p:sp>
          <p:nvSpPr>
            <p:cNvPr id="121887"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endParaRPr lang="en-AU"/>
            </a:p>
          </p:txBody>
        </p:sp>
        <p:sp>
          <p:nvSpPr>
            <p:cNvPr id="121888"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endParaRPr lang="en-AU"/>
            </a:p>
          </p:txBody>
        </p:sp>
        <p:sp>
          <p:nvSpPr>
            <p:cNvPr id="121889"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+observedProperty</a:t>
              </a:r>
              <a:endParaRPr lang="en-US" sz="3600">
                <a:solidFill>
                  <a:srgbClr val="000000"/>
                </a:solidFill>
                <a:latin typeface="Arial" pitchFamily="34" charset="0"/>
              </a:endParaRPr>
            </a:p>
          </p:txBody>
        </p:sp>
        <p:sp>
          <p:nvSpPr>
            <p:cNvPr id="121890"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grpSp>
      <p:grpSp>
        <p:nvGrpSpPr>
          <p:cNvPr id="8" name="Group 178"/>
          <p:cNvGrpSpPr>
            <a:grpSpLocks/>
          </p:cNvGrpSpPr>
          <p:nvPr/>
        </p:nvGrpSpPr>
        <p:grpSpPr bwMode="auto">
          <a:xfrm rot="7440675">
            <a:off x="6020595" y="1418431"/>
            <a:ext cx="1281112" cy="180975"/>
            <a:chOff x="3532889" y="2379360"/>
            <a:chExt cx="1582615" cy="190500"/>
          </a:xfrm>
        </p:grpSpPr>
        <p:sp>
          <p:nvSpPr>
            <p:cNvPr id="121885"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endParaRPr lang="en-AU"/>
            </a:p>
          </p:txBody>
        </p:sp>
        <p:sp>
          <p:nvSpPr>
            <p:cNvPr id="121886"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endParaRPr lang="en-AU"/>
            </a:p>
          </p:txBody>
        </p:sp>
      </p:grpSp>
      <p:sp>
        <p:nvSpPr>
          <p:cNvPr id="121868" name="Rectangle 232"/>
          <p:cNvSpPr>
            <a:spLocks noChangeArrowheads="1"/>
          </p:cNvSpPr>
          <p:nvPr/>
        </p:nvSpPr>
        <p:spPr bwMode="auto">
          <a:xfrm>
            <a:off x="6084888" y="1773238"/>
            <a:ext cx="153987"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0..*</a:t>
            </a:r>
            <a:endParaRPr lang="en-US">
              <a:solidFill>
                <a:srgbClr val="000000"/>
              </a:solidFill>
              <a:latin typeface="Arial" pitchFamily="34" charset="0"/>
            </a:endParaRPr>
          </a:p>
        </p:txBody>
      </p:sp>
      <p:sp>
        <p:nvSpPr>
          <p:cNvPr id="121869" name="Rectangle 233"/>
          <p:cNvSpPr>
            <a:spLocks noChangeArrowheads="1"/>
          </p:cNvSpPr>
          <p:nvPr/>
        </p:nvSpPr>
        <p:spPr bwMode="auto">
          <a:xfrm>
            <a:off x="5580063" y="1052513"/>
            <a:ext cx="1244600" cy="184150"/>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+featureOfInterest</a:t>
            </a:r>
            <a:endParaRPr lang="en-US" sz="3600">
              <a:solidFill>
                <a:srgbClr val="000000"/>
              </a:solidFill>
              <a:latin typeface="Arial" pitchFamily="34" charset="0"/>
            </a:endParaRPr>
          </a:p>
        </p:txBody>
      </p:sp>
      <p:sp>
        <p:nvSpPr>
          <p:cNvPr id="121870" name="Rectangle 234"/>
          <p:cNvSpPr>
            <a:spLocks noChangeArrowheads="1"/>
          </p:cNvSpPr>
          <p:nvPr/>
        </p:nvSpPr>
        <p:spPr bwMode="auto">
          <a:xfrm>
            <a:off x="7164388" y="1052513"/>
            <a:ext cx="46037" cy="123825"/>
          </a:xfrm>
          <a:prstGeom prst="rect">
            <a:avLst/>
          </a:prstGeom>
          <a:noFill/>
          <a:ln w="9525">
            <a:noFill/>
            <a:miter lim="800000"/>
            <a:headEnd/>
            <a:tailEnd/>
          </a:ln>
        </p:spPr>
        <p:txBody>
          <a:bodyPr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sp>
        <p:nvSpPr>
          <p:cNvPr id="121871" name="Line 241"/>
          <p:cNvSpPr>
            <a:spLocks noChangeShapeType="1"/>
          </p:cNvSpPr>
          <p:nvPr/>
        </p:nvSpPr>
        <p:spPr bwMode="auto">
          <a:xfrm flipH="1">
            <a:off x="5546725" y="3122613"/>
            <a:ext cx="280988" cy="714375"/>
          </a:xfrm>
          <a:prstGeom prst="line">
            <a:avLst/>
          </a:prstGeom>
          <a:noFill/>
          <a:ln w="9525">
            <a:solidFill>
              <a:srgbClr val="000000"/>
            </a:solidFill>
            <a:miter lim="800000"/>
            <a:headEnd/>
            <a:tailEnd/>
          </a:ln>
        </p:spPr>
        <p:txBody>
          <a:bodyPr/>
          <a:lstStyle/>
          <a:p>
            <a:endParaRPr lang="en-AU"/>
          </a:p>
        </p:txBody>
      </p:sp>
      <p:sp>
        <p:nvSpPr>
          <p:cNvPr id="121872" name="Freeform 242"/>
          <p:cNvSpPr>
            <a:spLocks noEditPoints="1"/>
          </p:cNvSpPr>
          <p:nvPr/>
        </p:nvSpPr>
        <p:spPr bwMode="auto">
          <a:xfrm>
            <a:off x="5546725" y="3684588"/>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endParaRPr lang="en-AU"/>
          </a:p>
        </p:txBody>
      </p:sp>
      <p:sp>
        <p:nvSpPr>
          <p:cNvPr id="121873" name="Rectangle 244"/>
          <p:cNvSpPr>
            <a:spLocks noChangeArrowheads="1"/>
          </p:cNvSpPr>
          <p:nvPr/>
        </p:nvSpPr>
        <p:spPr bwMode="auto">
          <a:xfrm>
            <a:off x="5818188" y="3294063"/>
            <a:ext cx="155575"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0..*</a:t>
            </a:r>
            <a:endParaRPr lang="en-US">
              <a:solidFill>
                <a:srgbClr val="000000"/>
              </a:solidFill>
              <a:latin typeface="Arial" pitchFamily="34" charset="0"/>
            </a:endParaRPr>
          </a:p>
        </p:txBody>
      </p:sp>
      <p:sp>
        <p:nvSpPr>
          <p:cNvPr id="121874" name="Rectangle 245"/>
          <p:cNvSpPr>
            <a:spLocks noChangeArrowheads="1"/>
          </p:cNvSpPr>
          <p:nvPr/>
        </p:nvSpPr>
        <p:spPr bwMode="auto">
          <a:xfrm>
            <a:off x="5724525" y="3573463"/>
            <a:ext cx="777875" cy="184150"/>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+procedure</a:t>
            </a:r>
            <a:endParaRPr lang="en-US" sz="3600">
              <a:solidFill>
                <a:srgbClr val="000000"/>
              </a:solidFill>
              <a:latin typeface="Arial" pitchFamily="34" charset="0"/>
            </a:endParaRPr>
          </a:p>
        </p:txBody>
      </p:sp>
      <p:sp>
        <p:nvSpPr>
          <p:cNvPr id="121875" name="Rectangle 246"/>
          <p:cNvSpPr>
            <a:spLocks noChangeArrowheads="1"/>
          </p:cNvSpPr>
          <p:nvPr/>
        </p:nvSpPr>
        <p:spPr bwMode="auto">
          <a:xfrm>
            <a:off x="5370513" y="3627438"/>
            <a:ext cx="57150"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sp>
        <p:nvSpPr>
          <p:cNvPr id="121876" name="Line 258"/>
          <p:cNvSpPr>
            <a:spLocks noChangeShapeType="1"/>
          </p:cNvSpPr>
          <p:nvPr/>
        </p:nvSpPr>
        <p:spPr bwMode="auto">
          <a:xfrm flipH="1" flipV="1">
            <a:off x="6672263" y="3094038"/>
            <a:ext cx="782637" cy="752475"/>
          </a:xfrm>
          <a:prstGeom prst="line">
            <a:avLst/>
          </a:prstGeom>
          <a:noFill/>
          <a:ln w="9525">
            <a:solidFill>
              <a:srgbClr val="000000"/>
            </a:solidFill>
            <a:miter lim="800000"/>
            <a:headEnd/>
            <a:tailEnd/>
          </a:ln>
        </p:spPr>
        <p:txBody>
          <a:bodyPr/>
          <a:lstStyle/>
          <a:p>
            <a:endParaRPr lang="en-AU"/>
          </a:p>
        </p:txBody>
      </p:sp>
      <p:sp>
        <p:nvSpPr>
          <p:cNvPr id="121877" name="Freeform 259"/>
          <p:cNvSpPr>
            <a:spLocks/>
          </p:cNvSpPr>
          <p:nvPr/>
        </p:nvSpPr>
        <p:spPr bwMode="auto">
          <a:xfrm>
            <a:off x="6672263" y="309403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endParaRPr lang="en-AU"/>
          </a:p>
        </p:txBody>
      </p:sp>
      <p:sp>
        <p:nvSpPr>
          <p:cNvPr id="121878" name="Freeform 260"/>
          <p:cNvSpPr>
            <a:spLocks/>
          </p:cNvSpPr>
          <p:nvPr/>
        </p:nvSpPr>
        <p:spPr bwMode="auto">
          <a:xfrm>
            <a:off x="6672263" y="309403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endParaRPr lang="en-AU"/>
          </a:p>
        </p:txBody>
      </p:sp>
      <p:sp>
        <p:nvSpPr>
          <p:cNvPr id="121879" name="Freeform 261"/>
          <p:cNvSpPr>
            <a:spLocks noEditPoints="1"/>
          </p:cNvSpPr>
          <p:nvPr/>
        </p:nvSpPr>
        <p:spPr bwMode="auto">
          <a:xfrm>
            <a:off x="7323138" y="3713163"/>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endParaRPr lang="en-AU"/>
          </a:p>
        </p:txBody>
      </p:sp>
      <p:sp>
        <p:nvSpPr>
          <p:cNvPr id="121880" name="Rectangle 262"/>
          <p:cNvSpPr>
            <a:spLocks noChangeArrowheads="1"/>
          </p:cNvSpPr>
          <p:nvPr/>
        </p:nvSpPr>
        <p:spPr bwMode="auto">
          <a:xfrm>
            <a:off x="7524750" y="3603625"/>
            <a:ext cx="465138" cy="185738"/>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+result</a:t>
            </a:r>
            <a:endParaRPr lang="en-US" sz="3600">
              <a:solidFill>
                <a:srgbClr val="000000"/>
              </a:solidFill>
              <a:latin typeface="Arial" pitchFamily="34" charset="0"/>
            </a:endParaRPr>
          </a:p>
        </p:txBody>
      </p:sp>
      <p:sp>
        <p:nvSpPr>
          <p:cNvPr id="905497" name="Rectangle 281"/>
          <p:cNvSpPr>
            <a:spLocks noChangeArrowheads="1"/>
          </p:cNvSpPr>
          <p:nvPr/>
        </p:nvSpPr>
        <p:spPr bwMode="auto">
          <a:xfrm>
            <a:off x="34925" y="5122863"/>
            <a:ext cx="8776762" cy="923330"/>
          </a:xfrm>
          <a:prstGeom prst="rect">
            <a:avLst/>
          </a:prstGeom>
          <a:noFill/>
          <a:ln w="9525">
            <a:noFill/>
            <a:miter lim="800000"/>
            <a:headEnd/>
            <a:tailEnd/>
          </a:ln>
        </p:spPr>
        <p:txBody>
          <a:bodyPr wrap="none">
            <a:spAutoFit/>
          </a:bodyPr>
          <a:lstStyle/>
          <a:p>
            <a:pPr marL="342900" indent="-342900"/>
            <a:r>
              <a:rPr lang="en-AU" dirty="0">
                <a:solidFill>
                  <a:srgbClr val="0F3277"/>
                </a:solidFill>
                <a:latin typeface="Arial" pitchFamily="34" charset="0"/>
              </a:rPr>
              <a:t>An </a:t>
            </a:r>
            <a:r>
              <a:rPr lang="en-AU" dirty="0">
                <a:solidFill>
                  <a:srgbClr val="FF0066"/>
                </a:solidFill>
                <a:latin typeface="Arial" pitchFamily="34" charset="0"/>
              </a:rPr>
              <a:t>Observation</a:t>
            </a:r>
            <a:r>
              <a:rPr lang="en-AU" dirty="0">
                <a:solidFill>
                  <a:srgbClr val="0F3277"/>
                </a:solidFill>
                <a:latin typeface="Arial" pitchFamily="34" charset="0"/>
              </a:rPr>
              <a:t> is an action whose </a:t>
            </a:r>
            <a:r>
              <a:rPr lang="en-AU" dirty="0">
                <a:solidFill>
                  <a:srgbClr val="006600"/>
                </a:solidFill>
                <a:latin typeface="Arial" pitchFamily="34" charset="0"/>
              </a:rPr>
              <a:t>result</a:t>
            </a:r>
            <a:r>
              <a:rPr lang="en-AU" dirty="0">
                <a:solidFill>
                  <a:srgbClr val="0F3277"/>
                </a:solidFill>
                <a:latin typeface="Arial" pitchFamily="34" charset="0"/>
              </a:rPr>
              <a:t> is an estimate of the value </a:t>
            </a:r>
            <a:br>
              <a:rPr lang="en-AU" dirty="0">
                <a:solidFill>
                  <a:srgbClr val="0F3277"/>
                </a:solidFill>
                <a:latin typeface="Arial" pitchFamily="34" charset="0"/>
              </a:rPr>
            </a:br>
            <a:r>
              <a:rPr lang="en-AU" dirty="0">
                <a:solidFill>
                  <a:srgbClr val="0F3277"/>
                </a:solidFill>
                <a:latin typeface="Arial" pitchFamily="34" charset="0"/>
              </a:rPr>
              <a:t>of some </a:t>
            </a:r>
            <a:r>
              <a:rPr lang="en-AU" b="1" dirty="0">
                <a:solidFill>
                  <a:srgbClr val="78BE20"/>
                </a:solidFill>
                <a:latin typeface="Arial" pitchFamily="34" charset="0"/>
              </a:rPr>
              <a:t>property</a:t>
            </a:r>
            <a:r>
              <a:rPr lang="en-AU" dirty="0">
                <a:solidFill>
                  <a:srgbClr val="0F3277"/>
                </a:solidFill>
                <a:latin typeface="Arial" pitchFamily="34" charset="0"/>
              </a:rPr>
              <a:t> of the </a:t>
            </a:r>
            <a:r>
              <a:rPr lang="en-AU" dirty="0">
                <a:solidFill>
                  <a:srgbClr val="FF9933"/>
                </a:solidFill>
                <a:latin typeface="Arial" pitchFamily="34" charset="0"/>
              </a:rPr>
              <a:t>feature-of-interest</a:t>
            </a:r>
            <a:r>
              <a:rPr lang="en-AU" dirty="0">
                <a:solidFill>
                  <a:srgbClr val="0F3277"/>
                </a:solidFill>
                <a:latin typeface="Arial" pitchFamily="34" charset="0"/>
              </a:rPr>
              <a:t>, obtained using a specified </a:t>
            </a:r>
            <a:r>
              <a:rPr lang="en-AU" dirty="0">
                <a:solidFill>
                  <a:srgbClr val="660066"/>
                </a:solidFill>
                <a:latin typeface="Arial" pitchFamily="34" charset="0"/>
              </a:rPr>
              <a:t>procedure</a:t>
            </a:r>
          </a:p>
          <a:p>
            <a:pPr marL="342900" indent="-342900"/>
            <a:endParaRPr lang="en-AU" dirty="0">
              <a:solidFill>
                <a:srgbClr val="660066"/>
              </a:solidFill>
              <a:latin typeface="Arial" pitchFamily="34" charset="0"/>
            </a:endParaRPr>
          </a:p>
        </p:txBody>
      </p:sp>
      <p:sp>
        <p:nvSpPr>
          <p:cNvPr id="121883" name="Footer Placeholder 174"/>
          <p:cNvSpPr>
            <a:spLocks noGrp="1"/>
          </p:cNvSpPr>
          <p:nvPr>
            <p:ph type="ftr" sz="quarter" idx="10"/>
          </p:nvPr>
        </p:nvSpPr>
        <p:spPr bwMode="auto">
          <a:noFill/>
          <a:ln>
            <a:miter lim="800000"/>
            <a:headEnd/>
            <a:tailEnd/>
          </a:ln>
        </p:spPr>
        <p:txBody>
          <a:bodyPr/>
          <a:lstStyle/>
          <a:p>
            <a:r>
              <a:rPr lang="en-AU" smtClean="0">
                <a:cs typeface="Arial" pitchFamily="34" charset="0"/>
              </a:rPr>
              <a:t>Cox, Simons, Yu | Observable property ontology</a:t>
            </a:r>
          </a:p>
        </p:txBody>
      </p:sp>
      <p:sp>
        <p:nvSpPr>
          <p:cNvPr id="121884" name="TextBox 175"/>
          <p:cNvSpPr txBox="1">
            <a:spLocks noChangeArrowheads="1"/>
          </p:cNvSpPr>
          <p:nvPr/>
        </p:nvSpPr>
        <p:spPr bwMode="auto">
          <a:xfrm>
            <a:off x="403490" y="6084004"/>
            <a:ext cx="4384534" cy="369332"/>
          </a:xfrm>
          <a:prstGeom prst="rect">
            <a:avLst/>
          </a:prstGeom>
          <a:noFill/>
          <a:ln w="9525">
            <a:noFill/>
            <a:miter lim="800000"/>
            <a:headEnd/>
            <a:tailEnd/>
          </a:ln>
        </p:spPr>
        <p:txBody>
          <a:bodyPr wrap="none">
            <a:spAutoFit/>
          </a:bodyPr>
          <a:lstStyle/>
          <a:p>
            <a:r>
              <a:rPr lang="en-AU" sz="900" i="1" dirty="0">
                <a:solidFill>
                  <a:srgbClr val="FFFFFF"/>
                </a:solidFill>
                <a:latin typeface="Arial" pitchFamily="34" charset="0"/>
              </a:rPr>
              <a:t>Cox, OGC Abstract Specification – Topic 20: Observations and Measurements 2.0</a:t>
            </a:r>
            <a:br>
              <a:rPr lang="en-AU" sz="900" i="1" dirty="0">
                <a:solidFill>
                  <a:srgbClr val="FFFFFF"/>
                </a:solidFill>
                <a:latin typeface="Arial" pitchFamily="34" charset="0"/>
              </a:rPr>
            </a:br>
            <a:r>
              <a:rPr lang="en-AU" sz="900" i="1" dirty="0">
                <a:solidFill>
                  <a:srgbClr val="FFFFFF"/>
                </a:solidFill>
                <a:latin typeface="Arial" pitchFamily="34" charset="0"/>
              </a:rPr>
              <a:t>I</a:t>
            </a:r>
            <a:r>
              <a:rPr lang="en-AU" sz="900" i="1" dirty="0" smtClean="0">
                <a:solidFill>
                  <a:srgbClr val="FFFFFF"/>
                </a:solidFill>
                <a:latin typeface="Arial" pitchFamily="34" charset="0"/>
              </a:rPr>
              <a:t>SO </a:t>
            </a:r>
            <a:r>
              <a:rPr lang="en-AU" sz="900" i="1" dirty="0">
                <a:solidFill>
                  <a:srgbClr val="FFFFFF"/>
                </a:solidFill>
                <a:latin typeface="Arial" pitchFamily="34" charset="0"/>
              </a:rPr>
              <a:t>19156:2011 Geographic Information – Observations and measurements</a:t>
            </a:r>
          </a:p>
        </p:txBody>
      </p:sp>
      <p:sp>
        <p:nvSpPr>
          <p:cNvPr id="172" name="Slide Number Placeholder 171"/>
          <p:cNvSpPr>
            <a:spLocks noGrp="1"/>
          </p:cNvSpPr>
          <p:nvPr>
            <p:ph type="sldNum" sz="quarter" idx="11"/>
          </p:nvPr>
        </p:nvSpPr>
        <p:spPr/>
        <p:txBody>
          <a:bodyPr/>
          <a:lstStyle/>
          <a:p>
            <a:pPr>
              <a:defRPr/>
            </a:pPr>
            <a:fld id="{A111B642-03BA-413E-9BF3-A9DB15D631A2}" type="slidenum">
              <a:rPr lang="en-AU" smtClean="0"/>
              <a:pPr>
                <a:defRPr/>
              </a:pPr>
              <a:t>5</a:t>
            </a:fld>
            <a:r>
              <a:rPr lang="en-AU" smtClean="0"/>
              <a:t>  |</a:t>
            </a:r>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05497">
                                            <p:txEl>
                                              <p:pRg st="0" end="0"/>
                                            </p:txEl>
                                          </p:spTgt>
                                        </p:tgtEl>
                                        <p:attrNameLst>
                                          <p:attrName>style.visibility</p:attrName>
                                        </p:attrNameLst>
                                      </p:cBhvr>
                                      <p:to>
                                        <p:strVal val="visible"/>
                                      </p:to>
                                    </p:set>
                                    <p:animEffect transition="in" filter="wipe(left)">
                                      <p:cBhvr>
                                        <p:cTn id="7" dur="500"/>
                                        <p:tgtEl>
                                          <p:spTgt spid="9054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blinds(horizontal)">
                                      <p:cBhvr>
                                        <p:cTn id="12"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Requirements</a:t>
            </a:r>
            <a:endParaRPr lang="en-AU" dirty="0"/>
          </a:p>
        </p:txBody>
      </p:sp>
      <p:sp>
        <p:nvSpPr>
          <p:cNvPr id="3" name="Content Placeholder 2"/>
          <p:cNvSpPr>
            <a:spLocks noGrp="1"/>
          </p:cNvSpPr>
          <p:nvPr>
            <p:ph idx="1"/>
          </p:nvPr>
        </p:nvSpPr>
        <p:spPr/>
        <p:txBody>
          <a:bodyPr/>
          <a:lstStyle/>
          <a:p>
            <a:r>
              <a:rPr lang="en-AU" dirty="0" smtClean="0"/>
              <a:t>Simple properties</a:t>
            </a:r>
          </a:p>
          <a:p>
            <a:r>
              <a:rPr lang="en-AU" dirty="0" smtClean="0"/>
              <a:t>Constrained properties</a:t>
            </a:r>
          </a:p>
          <a:p>
            <a:r>
              <a:rPr lang="en-AU" dirty="0" smtClean="0"/>
              <a:t>Compound properties</a:t>
            </a:r>
          </a:p>
          <a:p>
            <a:r>
              <a:rPr lang="en-AU" dirty="0" smtClean="0"/>
              <a:t>Property series</a:t>
            </a:r>
          </a:p>
          <a:p>
            <a:r>
              <a:rPr lang="en-AU" dirty="0" smtClean="0"/>
              <a:t>Composite properties</a:t>
            </a:r>
          </a:p>
          <a:p>
            <a:endParaRPr lang="en-AU" dirty="0"/>
          </a:p>
        </p:txBody>
      </p:sp>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sp>
        <p:nvSpPr>
          <p:cNvPr id="5" name="Slide Number Placeholder 4"/>
          <p:cNvSpPr>
            <a:spLocks noGrp="1"/>
          </p:cNvSpPr>
          <p:nvPr>
            <p:ph type="sldNum" sz="quarter" idx="11"/>
          </p:nvPr>
        </p:nvSpPr>
        <p:spPr/>
        <p:txBody>
          <a:bodyPr/>
          <a:lstStyle/>
          <a:p>
            <a:pPr>
              <a:defRPr/>
            </a:pPr>
            <a:fld id="{A111B642-03BA-413E-9BF3-A9DB15D631A2}" type="slidenum">
              <a:rPr lang="en-AU" smtClean="0"/>
              <a:pPr>
                <a:defRPr/>
              </a:pPr>
              <a:t>6</a:t>
            </a:fld>
            <a:r>
              <a:rPr lang="en-AU" smtClean="0"/>
              <a:t>  |</a:t>
            </a:r>
            <a:endParaRPr lang="en-AU" dirty="0"/>
          </a:p>
        </p:txBody>
      </p:sp>
      <p:pic>
        <p:nvPicPr>
          <p:cNvPr id="6" name="Picture 2" descr="C:\Users\cox075\Documents\standards\Ogc\OM\OM_2007\Figure phenomenon.emf"/>
          <p:cNvPicPr>
            <a:picLocks noChangeAspect="1" noChangeArrowheads="1"/>
          </p:cNvPicPr>
          <p:nvPr/>
        </p:nvPicPr>
        <p:blipFill>
          <a:blip r:embed="rId2" cstate="print"/>
          <a:srcRect/>
          <a:stretch>
            <a:fillRect/>
          </a:stretch>
        </p:blipFill>
        <p:spPr bwMode="auto">
          <a:xfrm>
            <a:off x="2972899" y="1388417"/>
            <a:ext cx="5919581" cy="4198268"/>
          </a:xfrm>
          <a:prstGeom prst="rect">
            <a:avLst/>
          </a:prstGeom>
          <a:noFill/>
        </p:spPr>
      </p:pic>
      <p:sp>
        <p:nvSpPr>
          <p:cNvPr id="7" name="TextBox 175"/>
          <p:cNvSpPr txBox="1">
            <a:spLocks noChangeArrowheads="1"/>
          </p:cNvSpPr>
          <p:nvPr/>
        </p:nvSpPr>
        <p:spPr bwMode="auto">
          <a:xfrm>
            <a:off x="395536" y="6150496"/>
            <a:ext cx="6768752" cy="230832"/>
          </a:xfrm>
          <a:prstGeom prst="rect">
            <a:avLst/>
          </a:prstGeom>
          <a:noFill/>
          <a:ln w="9525">
            <a:noFill/>
            <a:miter lim="800000"/>
            <a:headEnd/>
            <a:tailEnd/>
          </a:ln>
        </p:spPr>
        <p:txBody>
          <a:bodyPr wrap="square">
            <a:spAutoFit/>
          </a:bodyPr>
          <a:lstStyle/>
          <a:p>
            <a:r>
              <a:rPr lang="en-AU" sz="900" i="1" dirty="0">
                <a:solidFill>
                  <a:srgbClr val="FFFFFF"/>
                </a:solidFill>
                <a:latin typeface="Arial" pitchFamily="34" charset="0"/>
              </a:rPr>
              <a:t>Cox, OGC </a:t>
            </a:r>
            <a:r>
              <a:rPr lang="en-AU" sz="900" i="1" dirty="0" smtClean="0">
                <a:solidFill>
                  <a:srgbClr val="FFFFFF"/>
                </a:solidFill>
                <a:latin typeface="Arial" pitchFamily="34" charset="0"/>
              </a:rPr>
              <a:t>Implementation Specification – Observations </a:t>
            </a:r>
            <a:r>
              <a:rPr lang="en-AU" sz="900" i="1" dirty="0">
                <a:solidFill>
                  <a:srgbClr val="FFFFFF"/>
                </a:solidFill>
                <a:latin typeface="Arial" pitchFamily="34" charset="0"/>
              </a:rPr>
              <a:t>and Measurements </a:t>
            </a:r>
            <a:r>
              <a:rPr lang="en-AU" sz="900" i="1" dirty="0" smtClean="0">
                <a:solidFill>
                  <a:srgbClr val="FFFFFF"/>
                </a:solidFill>
                <a:latin typeface="Arial" pitchFamily="34" charset="0"/>
              </a:rPr>
              <a:t>1.0 – Part 1 – Observation Schema</a:t>
            </a:r>
            <a:endParaRPr lang="en-AU" sz="900" i="1" dirty="0">
              <a:solidFill>
                <a:srgbClr val="FFFFFF"/>
              </a:solidFill>
              <a:latin typeface="Arial" pitchFamily="34" charset="0"/>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74638"/>
            <a:ext cx="3133105" cy="1138138"/>
          </a:xfrm>
        </p:spPr>
        <p:txBody>
          <a:bodyPr/>
          <a:lstStyle/>
          <a:p>
            <a:r>
              <a:rPr lang="en-AU" dirty="0" smtClean="0"/>
              <a:t>We are not alone!</a:t>
            </a:r>
            <a:endParaRPr lang="en-AU" dirty="0"/>
          </a:p>
        </p:txBody>
      </p:sp>
      <p:sp>
        <p:nvSpPr>
          <p:cNvPr id="3" name="Content Placeholder 2"/>
          <p:cNvSpPr>
            <a:spLocks noGrp="1"/>
          </p:cNvSpPr>
          <p:nvPr>
            <p:ph idx="1"/>
          </p:nvPr>
        </p:nvSpPr>
        <p:spPr>
          <a:xfrm>
            <a:off x="358775" y="1556792"/>
            <a:ext cx="3205113" cy="4285208"/>
          </a:xfrm>
        </p:spPr>
        <p:txBody>
          <a:bodyPr/>
          <a:lstStyle/>
          <a:p>
            <a:pPr>
              <a:buNone/>
            </a:pPr>
            <a:r>
              <a:rPr lang="en-AU" dirty="0" smtClean="0"/>
              <a:t>OKFN Linked Open </a:t>
            </a:r>
            <a:br>
              <a:rPr lang="en-AU" dirty="0" smtClean="0"/>
            </a:br>
            <a:r>
              <a:rPr lang="en-AU" dirty="0" smtClean="0"/>
              <a:t>Vocabularies</a:t>
            </a:r>
          </a:p>
          <a:p>
            <a:pPr>
              <a:buNone/>
            </a:pPr>
            <a:endParaRPr lang="en-AU" dirty="0" smtClean="0"/>
          </a:p>
        </p:txBody>
      </p:sp>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sp>
        <p:nvSpPr>
          <p:cNvPr id="5" name="Slide Number Placeholder 4"/>
          <p:cNvSpPr>
            <a:spLocks noGrp="1"/>
          </p:cNvSpPr>
          <p:nvPr>
            <p:ph type="sldNum" sz="quarter" idx="11"/>
          </p:nvPr>
        </p:nvSpPr>
        <p:spPr/>
        <p:txBody>
          <a:bodyPr/>
          <a:lstStyle/>
          <a:p>
            <a:pPr>
              <a:defRPr/>
            </a:pPr>
            <a:fld id="{A111B642-03BA-413E-9BF3-A9DB15D631A2}" type="slidenum">
              <a:rPr lang="en-AU" smtClean="0"/>
              <a:pPr>
                <a:defRPr/>
              </a:pPr>
              <a:t>7</a:t>
            </a:fld>
            <a:r>
              <a:rPr lang="en-AU" smtClean="0"/>
              <a:t>  |</a:t>
            </a:r>
            <a:endParaRPr lang="en-AU" dirty="0"/>
          </a:p>
        </p:txBody>
      </p:sp>
      <p:pic>
        <p:nvPicPr>
          <p:cNvPr id="4098" name="Picture 2"/>
          <p:cNvPicPr>
            <a:picLocks noChangeAspect="1" noChangeArrowheads="1"/>
          </p:cNvPicPr>
          <p:nvPr/>
        </p:nvPicPr>
        <p:blipFill>
          <a:blip r:embed="rId2" cstate="print"/>
          <a:srcRect/>
          <a:stretch>
            <a:fillRect/>
          </a:stretch>
        </p:blipFill>
        <p:spPr bwMode="auto">
          <a:xfrm>
            <a:off x="3780133" y="1"/>
            <a:ext cx="5246993" cy="675326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3779913" y="-963488"/>
            <a:ext cx="5246993" cy="7780713"/>
          </a:xfrm>
          <a:prstGeom prst="rect">
            <a:avLst/>
          </a:prstGeom>
          <a:noFill/>
          <a:ln w="9525">
            <a:noFill/>
            <a:miter lim="800000"/>
            <a:headEnd/>
            <a:tailEnd/>
          </a:ln>
        </p:spPr>
      </p:pic>
      <p:sp>
        <p:nvSpPr>
          <p:cNvPr id="8" name="TextBox 175"/>
          <p:cNvSpPr txBox="1">
            <a:spLocks noChangeArrowheads="1"/>
          </p:cNvSpPr>
          <p:nvPr/>
        </p:nvSpPr>
        <p:spPr bwMode="auto">
          <a:xfrm>
            <a:off x="395536" y="6150496"/>
            <a:ext cx="6768752" cy="230832"/>
          </a:xfrm>
          <a:prstGeom prst="rect">
            <a:avLst/>
          </a:prstGeom>
          <a:noFill/>
          <a:ln w="9525">
            <a:noFill/>
            <a:miter lim="800000"/>
            <a:headEnd/>
            <a:tailEnd/>
          </a:ln>
        </p:spPr>
        <p:txBody>
          <a:bodyPr wrap="square">
            <a:spAutoFit/>
          </a:bodyPr>
          <a:lstStyle/>
          <a:p>
            <a:r>
              <a:rPr lang="en-AU" sz="900" dirty="0" smtClean="0">
                <a:solidFill>
                  <a:srgbClr val="FFFFFF"/>
                </a:solidFill>
              </a:rPr>
              <a:t>http://lov.okfn.org/dataset/lov/</a:t>
            </a:r>
            <a:endParaRPr lang="en-AU" sz="900" i="1" dirty="0">
              <a:solidFill>
                <a:srgbClr val="FFFFFF"/>
              </a:solidFill>
              <a:latin typeface="Arial" pitchFamily="34" charset="0"/>
            </a:endParaRPr>
          </a:p>
        </p:txBody>
      </p:sp>
      <p:pic>
        <p:nvPicPr>
          <p:cNvPr id="4101" name="Picture 5"/>
          <p:cNvPicPr>
            <a:picLocks noChangeAspect="1" noChangeArrowheads="1"/>
          </p:cNvPicPr>
          <p:nvPr/>
        </p:nvPicPr>
        <p:blipFill>
          <a:blip r:embed="rId4" cstate="print"/>
          <a:srcRect/>
          <a:stretch>
            <a:fillRect/>
          </a:stretch>
        </p:blipFill>
        <p:spPr bwMode="auto">
          <a:xfrm>
            <a:off x="3779912" y="-823321"/>
            <a:ext cx="5246993" cy="7780713"/>
          </a:xfrm>
          <a:prstGeom prst="rect">
            <a:avLst/>
          </a:prstGeom>
          <a:noFill/>
          <a:ln w="9525">
            <a:noFill/>
            <a:miter lim="800000"/>
            <a:headEnd/>
            <a:tailEnd/>
          </a:ln>
        </p:spPr>
      </p:pic>
      <p:sp>
        <p:nvSpPr>
          <p:cNvPr id="10" name="Rectangle 9"/>
          <p:cNvSpPr/>
          <p:nvPr/>
        </p:nvSpPr>
        <p:spPr>
          <a:xfrm>
            <a:off x="3635896" y="4365104"/>
            <a:ext cx="4536504" cy="21602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1000" fill="hold"/>
                                        <p:tgtEl>
                                          <p:spTgt spid="4099"/>
                                        </p:tgtEl>
                                        <p:attrNameLst>
                                          <p:attrName>ppt_x</p:attrName>
                                        </p:attrNameLst>
                                      </p:cBhvr>
                                      <p:tavLst>
                                        <p:tav tm="0">
                                          <p:val>
                                            <p:strVal val="#ppt_x"/>
                                          </p:val>
                                        </p:tav>
                                        <p:tav tm="100000">
                                          <p:val>
                                            <p:strVal val="#ppt_x"/>
                                          </p:val>
                                        </p:tav>
                                      </p:tavLst>
                                    </p:anim>
                                    <p:anim calcmode="lin" valueType="num">
                                      <p:cBhvr additive="base">
                                        <p:cTn id="8" dur="1000" fill="hold"/>
                                        <p:tgtEl>
                                          <p:spTgt spid="4099"/>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4101"/>
                                        </p:tgtEl>
                                        <p:attrNameLst>
                                          <p:attrName>style.visibility</p:attrName>
                                        </p:attrNameLst>
                                      </p:cBhvr>
                                      <p:to>
                                        <p:strVal val="visible"/>
                                      </p:to>
                                    </p:set>
                                    <p:anim calcmode="lin" valueType="num">
                                      <p:cBhvr additive="base">
                                        <p:cTn id="12" dur="500" fill="hold"/>
                                        <p:tgtEl>
                                          <p:spTgt spid="4101"/>
                                        </p:tgtEl>
                                        <p:attrNameLst>
                                          <p:attrName>ppt_x</p:attrName>
                                        </p:attrNameLst>
                                      </p:cBhvr>
                                      <p:tavLst>
                                        <p:tav tm="0">
                                          <p:val>
                                            <p:strVal val="#ppt_x"/>
                                          </p:val>
                                        </p:tav>
                                        <p:tav tm="100000">
                                          <p:val>
                                            <p:strVal val="#ppt_x"/>
                                          </p:val>
                                        </p:tav>
                                      </p:tavLst>
                                    </p:anim>
                                    <p:anim calcmode="lin" valueType="num">
                                      <p:cBhvr additive="base">
                                        <p:cTn id="13" dur="500" fill="hold"/>
                                        <p:tgtEl>
                                          <p:spTgt spid="4101"/>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Conceptual Model of QUDT</a:t>
            </a:r>
            <a:endParaRPr lang="en-US" dirty="0"/>
          </a:p>
        </p:txBody>
      </p:sp>
      <p:pic>
        <p:nvPicPr>
          <p:cNvPr id="5" name="Picture 4" descr="Screen Shot 2013-05-17 at 11.35.52 PM.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200" y="1447800"/>
            <a:ext cx="7569200" cy="4889500"/>
          </a:xfrm>
          <a:prstGeom prst="rect">
            <a:avLst/>
          </a:prstGeom>
        </p:spPr>
      </p:pic>
      <p:sp>
        <p:nvSpPr>
          <p:cNvPr id="6" name="Footer Placeholder 5"/>
          <p:cNvSpPr>
            <a:spLocks noGrp="1"/>
          </p:cNvSpPr>
          <p:nvPr>
            <p:ph type="ftr" sz="quarter" idx="11"/>
          </p:nvPr>
        </p:nvSpPr>
        <p:spPr/>
        <p:txBody>
          <a:bodyPr/>
          <a:lstStyle/>
          <a:p>
            <a:r>
              <a:rPr lang="en-AU" smtClean="0">
                <a:solidFill>
                  <a:prstClr val="black">
                    <a:tint val="75000"/>
                  </a:prstClr>
                </a:solidFill>
              </a:rPr>
              <a:t>Cox, Simons, Yu | Observable property ontology</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151EA17-A275-4486-B3D2-5AB5889AFED1}" type="slidenum">
              <a:rPr lang="en-US" smtClean="0">
                <a:solidFill>
                  <a:prstClr val="black">
                    <a:tint val="75000"/>
                  </a:prstClr>
                </a:solidFill>
              </a:rPr>
              <a:pPr/>
              <a:t>8</a:t>
            </a:fld>
            <a:endParaRPr lang="en-US">
              <a:solidFill>
                <a:prstClr val="black">
                  <a:tint val="75000"/>
                </a:prstClr>
              </a:solidFill>
            </a:endParaRPr>
          </a:p>
        </p:txBody>
      </p:sp>
      <p:pic>
        <p:nvPicPr>
          <p:cNvPr id="8" name="Picture 7" descr="qudt.png"/>
          <p:cNvPicPr>
            <a:picLocks noChangeAspect="1"/>
          </p:cNvPicPr>
          <p:nvPr/>
        </p:nvPicPr>
        <p:blipFill>
          <a:blip r:embed="rId3" cstate="print"/>
          <a:stretch>
            <a:fillRect/>
          </a:stretch>
        </p:blipFill>
        <p:spPr>
          <a:xfrm>
            <a:off x="0" y="1720800"/>
            <a:ext cx="9144000" cy="4084464"/>
          </a:xfrm>
          <a:prstGeom prst="rect">
            <a:avLst/>
          </a:prstGeom>
        </p:spPr>
      </p:pic>
    </p:spTree>
    <p:extLst>
      <p:ext uri="{BB962C8B-B14F-4D97-AF65-F5344CB8AC3E}">
        <p14:creationId xmlns:p14="http://schemas.microsoft.com/office/powerpoint/2010/main" xmlns="" val="395222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74638"/>
            <a:ext cx="3709169" cy="1786210"/>
          </a:xfrm>
        </p:spPr>
        <p:txBody>
          <a:bodyPr/>
          <a:lstStyle/>
          <a:p>
            <a:r>
              <a:rPr lang="en-AU" dirty="0" smtClean="0"/>
              <a:t>Standard ontology of chemicals</a:t>
            </a:r>
            <a:endParaRPr lang="en-AU" dirty="0"/>
          </a:p>
        </p:txBody>
      </p:sp>
      <p:pic>
        <p:nvPicPr>
          <p:cNvPr id="7" name="Content Placeholder 6" descr="ChEBI-tree.PNG"/>
          <p:cNvPicPr>
            <a:picLocks noGrp="1" noChangeAspect="1"/>
          </p:cNvPicPr>
          <p:nvPr>
            <p:ph idx="1"/>
          </p:nvPr>
        </p:nvPicPr>
        <p:blipFill>
          <a:blip r:embed="rId2" cstate="print"/>
          <a:stretch>
            <a:fillRect/>
          </a:stretch>
        </p:blipFill>
        <p:spPr>
          <a:xfrm>
            <a:off x="958510" y="1569161"/>
            <a:ext cx="6133770" cy="7044415"/>
          </a:xfrm>
        </p:spPr>
      </p:pic>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pic>
        <p:nvPicPr>
          <p:cNvPr id="2051" name="Picture 3"/>
          <p:cNvPicPr>
            <a:picLocks noChangeAspect="1" noChangeArrowheads="1"/>
          </p:cNvPicPr>
          <p:nvPr/>
        </p:nvPicPr>
        <p:blipFill>
          <a:blip r:embed="rId3" cstate="print"/>
          <a:srcRect/>
          <a:stretch>
            <a:fillRect/>
          </a:stretch>
        </p:blipFill>
        <p:spPr bwMode="auto">
          <a:xfrm>
            <a:off x="4211960" y="281201"/>
            <a:ext cx="4680520" cy="6460167"/>
          </a:xfrm>
          <a:prstGeom prst="rect">
            <a:avLst/>
          </a:prstGeom>
          <a:noFill/>
          <a:ln w="9525">
            <a:noFill/>
            <a:miter lim="800000"/>
            <a:headEnd/>
            <a:tailEnd/>
          </a:ln>
        </p:spPr>
      </p:pic>
      <p:sp>
        <p:nvSpPr>
          <p:cNvPr id="8" name="TextBox 7"/>
          <p:cNvSpPr txBox="1"/>
          <p:nvPr/>
        </p:nvSpPr>
        <p:spPr>
          <a:xfrm>
            <a:off x="2987824" y="6165304"/>
            <a:ext cx="4078874" cy="369332"/>
          </a:xfrm>
          <a:prstGeom prst="rect">
            <a:avLst/>
          </a:prstGeom>
          <a:solidFill>
            <a:srgbClr val="FFFFFF"/>
          </a:solidFill>
          <a:ln>
            <a:solidFill>
              <a:schemeClr val="accent1"/>
            </a:solidFill>
          </a:ln>
        </p:spPr>
        <p:txBody>
          <a:bodyPr wrap="none" rtlCol="0">
            <a:spAutoFit/>
          </a:bodyPr>
          <a:lstStyle/>
          <a:p>
            <a:r>
              <a:rPr lang="en-AU" dirty="0" smtClean="0"/>
              <a:t>http://purl.obolibrary.org/obo/chebi.owl</a:t>
            </a:r>
            <a:endParaRPr lang="en-AU" dirty="0"/>
          </a:p>
        </p:txBody>
      </p:sp>
      <p:sp>
        <p:nvSpPr>
          <p:cNvPr id="9" name="Rectangle 8"/>
          <p:cNvSpPr/>
          <p:nvPr/>
        </p:nvSpPr>
        <p:spPr>
          <a:xfrm>
            <a:off x="5292080" y="2492896"/>
            <a:ext cx="129614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2987824" y="5661248"/>
            <a:ext cx="2794355" cy="369332"/>
          </a:xfrm>
          <a:prstGeom prst="rect">
            <a:avLst/>
          </a:prstGeom>
          <a:solidFill>
            <a:srgbClr val="FFFFFF"/>
          </a:solidFill>
          <a:ln>
            <a:solidFill>
              <a:schemeClr val="accent1"/>
            </a:solidFill>
          </a:ln>
        </p:spPr>
        <p:txBody>
          <a:bodyPr wrap="none" rtlCol="0">
            <a:spAutoFit/>
          </a:bodyPr>
          <a:lstStyle/>
          <a:p>
            <a:r>
              <a:rPr lang="en-AU" dirty="0" smtClean="0"/>
              <a:t>&gt;36 000 chemical entities</a:t>
            </a:r>
            <a:endParaRPr lang="en-AU" dirty="0"/>
          </a:p>
        </p:txBody>
      </p:sp>
      <p:sp>
        <p:nvSpPr>
          <p:cNvPr id="11" name="Slide Number Placeholder 10"/>
          <p:cNvSpPr>
            <a:spLocks noGrp="1"/>
          </p:cNvSpPr>
          <p:nvPr>
            <p:ph type="sldNum" sz="quarter" idx="11"/>
          </p:nvPr>
        </p:nvSpPr>
        <p:spPr/>
        <p:txBody>
          <a:bodyPr/>
          <a:lstStyle/>
          <a:p>
            <a:pPr>
              <a:defRPr/>
            </a:pPr>
            <a:fld id="{A111B642-03BA-413E-9BF3-A9DB15D631A2}" type="slidenum">
              <a:rPr lang="en-AU" smtClean="0"/>
              <a:pPr>
                <a:defRPr/>
              </a:pPr>
              <a:t>9</a:t>
            </a:fld>
            <a:r>
              <a:rPr lang="en-AU" smtClean="0"/>
              <a:t>  |</a:t>
            </a:r>
            <a:endParaRPr lang="en-AU" dirty="0"/>
          </a:p>
        </p:txBody>
      </p:sp>
      <p:sp>
        <p:nvSpPr>
          <p:cNvPr id="12" name="Rectangle 11"/>
          <p:cNvSpPr/>
          <p:nvPr/>
        </p:nvSpPr>
        <p:spPr>
          <a:xfrm>
            <a:off x="5292080" y="1844824"/>
            <a:ext cx="129614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AU" dirty="0" smtClean="0"/>
              <a:t>Dissolved nitrogen concentration objects</a:t>
            </a:r>
            <a:endParaRPr lang="en-AU" dirty="0"/>
          </a:p>
        </p:txBody>
      </p:sp>
      <p:pic>
        <p:nvPicPr>
          <p:cNvPr id="12" name="Picture 11" descr="Nitrogen_Object.emf"/>
          <p:cNvPicPr>
            <a:picLocks noChangeAspect="1"/>
          </p:cNvPicPr>
          <p:nvPr/>
        </p:nvPicPr>
        <p:blipFill>
          <a:blip r:embed="rId3" cstate="print"/>
          <a:stretch>
            <a:fillRect/>
          </a:stretch>
        </p:blipFill>
        <p:spPr>
          <a:xfrm>
            <a:off x="-26667" y="911272"/>
            <a:ext cx="9170667" cy="5050141"/>
          </a:xfrm>
          <a:prstGeom prst="rect">
            <a:avLst/>
          </a:prstGeom>
        </p:spPr>
      </p:pic>
      <p:sp>
        <p:nvSpPr>
          <p:cNvPr id="4" name="TextBox 3"/>
          <p:cNvSpPr txBox="1"/>
          <p:nvPr/>
        </p:nvSpPr>
        <p:spPr>
          <a:xfrm>
            <a:off x="4144489" y="712519"/>
            <a:ext cx="2210862" cy="369332"/>
          </a:xfrm>
          <a:prstGeom prst="rect">
            <a:avLst/>
          </a:prstGeom>
          <a:noFill/>
        </p:spPr>
        <p:txBody>
          <a:bodyPr wrap="none" rtlCol="0">
            <a:spAutoFit/>
          </a:bodyPr>
          <a:lstStyle/>
          <a:p>
            <a:r>
              <a:rPr lang="en-AU" dirty="0" err="1" smtClean="0">
                <a:solidFill>
                  <a:schemeClr val="accent1"/>
                </a:solidFill>
              </a:rPr>
              <a:t>ScaledQuantityKind</a:t>
            </a:r>
            <a:endParaRPr lang="en-AU" dirty="0" smtClean="0">
              <a:solidFill>
                <a:schemeClr val="accent1"/>
              </a:solidFill>
            </a:endParaRPr>
          </a:p>
        </p:txBody>
      </p:sp>
      <p:cxnSp>
        <p:nvCxnSpPr>
          <p:cNvPr id="6" name="Straight Arrow Connector 5"/>
          <p:cNvCxnSpPr>
            <a:stCxn id="4" idx="2"/>
          </p:cNvCxnSpPr>
          <p:nvPr/>
        </p:nvCxnSpPr>
        <p:spPr>
          <a:xfrm flipH="1">
            <a:off x="4298868" y="1081851"/>
            <a:ext cx="951052" cy="545068"/>
          </a:xfrm>
          <a:prstGeom prst="straightConnector1">
            <a:avLst/>
          </a:prstGeom>
          <a:ln w="25400">
            <a:solidFill>
              <a:schemeClr val="accent1"/>
            </a:solidFill>
            <a:tailEnd type="arrow" w="lg" len="lg"/>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stCxn id="4" idx="2"/>
          </p:cNvCxnSpPr>
          <p:nvPr/>
        </p:nvCxnSpPr>
        <p:spPr>
          <a:xfrm>
            <a:off x="5249920" y="1081851"/>
            <a:ext cx="1352761" cy="271936"/>
          </a:xfrm>
          <a:prstGeom prst="straightConnector1">
            <a:avLst/>
          </a:prstGeom>
          <a:ln w="25400">
            <a:solidFill>
              <a:schemeClr val="accent1"/>
            </a:solidFill>
            <a:tailEnd type="arrow" w="lg" len="lg"/>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4281" y="615538"/>
            <a:ext cx="2146806" cy="369332"/>
          </a:xfrm>
          <a:prstGeom prst="rect">
            <a:avLst/>
          </a:prstGeom>
          <a:noFill/>
        </p:spPr>
        <p:txBody>
          <a:bodyPr wrap="none" rtlCol="0">
            <a:spAutoFit/>
          </a:bodyPr>
          <a:lstStyle/>
          <a:p>
            <a:r>
              <a:rPr lang="en-AU" dirty="0" err="1" smtClean="0">
                <a:solidFill>
                  <a:schemeClr val="accent1"/>
                </a:solidFill>
              </a:rPr>
              <a:t>SubstanceOrTaxon</a:t>
            </a:r>
            <a:endParaRPr lang="en-AU" dirty="0" smtClean="0">
              <a:solidFill>
                <a:schemeClr val="accent1"/>
              </a:solidFill>
            </a:endParaRPr>
          </a:p>
        </p:txBody>
      </p:sp>
      <p:cxnSp>
        <p:nvCxnSpPr>
          <p:cNvPr id="14" name="Straight Arrow Connector 13"/>
          <p:cNvCxnSpPr>
            <a:stCxn id="13" idx="2"/>
          </p:cNvCxnSpPr>
          <p:nvPr/>
        </p:nvCxnSpPr>
        <p:spPr>
          <a:xfrm flipH="1">
            <a:off x="1306286" y="984870"/>
            <a:ext cx="121398" cy="202662"/>
          </a:xfrm>
          <a:prstGeom prst="straightConnector1">
            <a:avLst/>
          </a:prstGeom>
          <a:ln w="25400">
            <a:solidFill>
              <a:schemeClr val="accent1"/>
            </a:solidFill>
            <a:tailEnd type="arrow" w="lg" len="lg"/>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66904" y="4819402"/>
            <a:ext cx="595035" cy="369332"/>
          </a:xfrm>
          <a:prstGeom prst="rect">
            <a:avLst/>
          </a:prstGeom>
          <a:noFill/>
        </p:spPr>
        <p:txBody>
          <a:bodyPr wrap="none" rtlCol="0">
            <a:spAutoFit/>
          </a:bodyPr>
          <a:lstStyle/>
          <a:p>
            <a:r>
              <a:rPr lang="en-AU" dirty="0" smtClean="0">
                <a:solidFill>
                  <a:schemeClr val="accent1"/>
                </a:solidFill>
              </a:rPr>
              <a:t>Unit</a:t>
            </a:r>
          </a:p>
        </p:txBody>
      </p:sp>
      <p:cxnSp>
        <p:nvCxnSpPr>
          <p:cNvPr id="17" name="Straight Arrow Connector 16"/>
          <p:cNvCxnSpPr>
            <a:stCxn id="16" idx="1"/>
          </p:cNvCxnSpPr>
          <p:nvPr/>
        </p:nvCxnSpPr>
        <p:spPr>
          <a:xfrm flipH="1">
            <a:off x="4263242" y="5004068"/>
            <a:ext cx="603662" cy="268576"/>
          </a:xfrm>
          <a:prstGeom prst="straightConnector1">
            <a:avLst/>
          </a:prstGeom>
          <a:ln w="25400">
            <a:solidFill>
              <a:schemeClr val="accent1"/>
            </a:solidFill>
            <a:tailEnd type="arrow" w="lg" len="lg"/>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16" idx="1"/>
          </p:cNvCxnSpPr>
          <p:nvPr/>
        </p:nvCxnSpPr>
        <p:spPr>
          <a:xfrm flipH="1" flipV="1">
            <a:off x="4678879" y="4572001"/>
            <a:ext cx="188025" cy="432067"/>
          </a:xfrm>
          <a:prstGeom prst="straightConnector1">
            <a:avLst/>
          </a:prstGeom>
          <a:ln w="25400">
            <a:solidFill>
              <a:schemeClr val="accent1"/>
            </a:solidFill>
            <a:tailEnd type="arrow" w="lg" len="lg"/>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wqop-complete.png"/>
          <p:cNvPicPr>
            <a:picLocks noChangeAspect="1"/>
          </p:cNvPicPr>
          <p:nvPr/>
        </p:nvPicPr>
        <p:blipFill>
          <a:blip r:embed="rId3" cstate="print"/>
          <a:stretch>
            <a:fillRect/>
          </a:stretch>
        </p:blipFill>
        <p:spPr>
          <a:xfrm>
            <a:off x="1115616" y="764704"/>
            <a:ext cx="7236226" cy="5184576"/>
          </a:xfrm>
          <a:prstGeom prst="rect">
            <a:avLst/>
          </a:prstGeom>
        </p:spPr>
      </p:pic>
      <p:sp>
        <p:nvSpPr>
          <p:cNvPr id="2" name="Text Placeholder 1"/>
          <p:cNvSpPr>
            <a:spLocks noGrp="1"/>
          </p:cNvSpPr>
          <p:nvPr>
            <p:ph type="body" sz="quarter" idx="13"/>
          </p:nvPr>
        </p:nvSpPr>
        <p:spPr/>
        <p:txBody>
          <a:bodyPr/>
          <a:lstStyle/>
          <a:p>
            <a:r>
              <a:rPr lang="en-AU" dirty="0" smtClean="0"/>
              <a:t>Water Quality extension to QUDT</a:t>
            </a:r>
          </a:p>
        </p:txBody>
      </p:sp>
      <p:grpSp>
        <p:nvGrpSpPr>
          <p:cNvPr id="15" name="Group 14"/>
          <p:cNvGrpSpPr/>
          <p:nvPr/>
        </p:nvGrpSpPr>
        <p:grpSpPr>
          <a:xfrm>
            <a:off x="1043608" y="3933056"/>
            <a:ext cx="7344816" cy="2016224"/>
            <a:chOff x="1043608" y="3933056"/>
            <a:chExt cx="7344816" cy="2016224"/>
          </a:xfrm>
        </p:grpSpPr>
        <p:sp>
          <p:nvSpPr>
            <p:cNvPr id="19" name="TextBox 18"/>
            <p:cNvSpPr txBox="1"/>
            <p:nvPr/>
          </p:nvSpPr>
          <p:spPr>
            <a:xfrm>
              <a:off x="1331640" y="5013176"/>
              <a:ext cx="1008609" cy="369332"/>
            </a:xfrm>
            <a:prstGeom prst="rect">
              <a:avLst/>
            </a:prstGeom>
            <a:solidFill>
              <a:srgbClr val="FFDDC1">
                <a:alpha val="27059"/>
              </a:srgbClr>
            </a:solidFill>
          </p:spPr>
          <p:txBody>
            <a:bodyPr wrap="none" rtlCol="0">
              <a:spAutoFit/>
            </a:bodyPr>
            <a:lstStyle/>
            <a:p>
              <a:pPr>
                <a:buFont typeface="Wingdings" pitchFamily="2" charset="2"/>
                <a:buChar char="§"/>
              </a:pPr>
              <a:r>
                <a:rPr lang="en-AU" dirty="0" smtClean="0"/>
                <a:t> QUDT</a:t>
              </a:r>
            </a:p>
          </p:txBody>
        </p:sp>
        <p:sp>
          <p:nvSpPr>
            <p:cNvPr id="27" name="Rectangle 26"/>
            <p:cNvSpPr/>
            <p:nvPr/>
          </p:nvSpPr>
          <p:spPr>
            <a:xfrm>
              <a:off x="1043608" y="3933056"/>
              <a:ext cx="3240360" cy="648072"/>
            </a:xfrm>
            <a:prstGeom prst="rect">
              <a:avLst/>
            </a:prstGeom>
            <a:solidFill>
              <a:srgbClr val="FFDDC1">
                <a:alpha val="2705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8" name="Rectangle 27"/>
            <p:cNvSpPr/>
            <p:nvPr/>
          </p:nvSpPr>
          <p:spPr>
            <a:xfrm>
              <a:off x="5364088" y="4005064"/>
              <a:ext cx="3024336" cy="1944216"/>
            </a:xfrm>
            <a:prstGeom prst="rect">
              <a:avLst/>
            </a:prstGeom>
            <a:solidFill>
              <a:srgbClr val="FFDDC1">
                <a:alpha val="2705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16" name="Group 15"/>
          <p:cNvGrpSpPr/>
          <p:nvPr/>
        </p:nvGrpSpPr>
        <p:grpSpPr>
          <a:xfrm>
            <a:off x="1187624" y="692696"/>
            <a:ext cx="7204672" cy="2885390"/>
            <a:chOff x="1187624" y="692696"/>
            <a:chExt cx="7204672" cy="2885390"/>
          </a:xfrm>
        </p:grpSpPr>
        <p:sp>
          <p:nvSpPr>
            <p:cNvPr id="39" name="Rectangle 38"/>
            <p:cNvSpPr/>
            <p:nvPr/>
          </p:nvSpPr>
          <p:spPr>
            <a:xfrm>
              <a:off x="6084168" y="692696"/>
              <a:ext cx="2308128" cy="581134"/>
            </a:xfrm>
            <a:prstGeom prst="rect">
              <a:avLst/>
            </a:prstGeom>
            <a:solidFill>
              <a:schemeClr val="accent2">
                <a:lumMod val="40000"/>
                <a:lumOff val="6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1" name="TextBox 20"/>
            <p:cNvSpPr txBox="1"/>
            <p:nvPr/>
          </p:nvSpPr>
          <p:spPr>
            <a:xfrm>
              <a:off x="1187624" y="2420888"/>
              <a:ext cx="1085554" cy="369332"/>
            </a:xfrm>
            <a:prstGeom prst="rect">
              <a:avLst/>
            </a:prstGeom>
            <a:solidFill>
              <a:schemeClr val="accent2">
                <a:lumMod val="40000"/>
                <a:lumOff val="60000"/>
                <a:alpha val="20000"/>
              </a:schemeClr>
            </a:solidFill>
          </p:spPr>
          <p:txBody>
            <a:bodyPr wrap="none" rtlCol="0">
              <a:spAutoFit/>
            </a:bodyPr>
            <a:lstStyle/>
            <a:p>
              <a:pPr>
                <a:buFont typeface="Wingdings" pitchFamily="2" charset="2"/>
                <a:buChar char="§"/>
              </a:pPr>
              <a:r>
                <a:rPr lang="en-AU" dirty="0" smtClean="0"/>
                <a:t> WQOP</a:t>
              </a:r>
            </a:p>
          </p:txBody>
        </p:sp>
        <p:sp>
          <p:nvSpPr>
            <p:cNvPr id="23" name="Rectangle 22"/>
            <p:cNvSpPr/>
            <p:nvPr/>
          </p:nvSpPr>
          <p:spPr>
            <a:xfrm>
              <a:off x="2843808" y="2996952"/>
              <a:ext cx="2092104" cy="581134"/>
            </a:xfrm>
            <a:prstGeom prst="rect">
              <a:avLst/>
            </a:prstGeom>
            <a:solidFill>
              <a:schemeClr val="accent2">
                <a:lumMod val="40000"/>
                <a:lumOff val="6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4" name="Rectangle 23"/>
            <p:cNvSpPr/>
            <p:nvPr/>
          </p:nvSpPr>
          <p:spPr>
            <a:xfrm>
              <a:off x="5652120" y="2996952"/>
              <a:ext cx="2376264" cy="581134"/>
            </a:xfrm>
            <a:prstGeom prst="rect">
              <a:avLst/>
            </a:prstGeom>
            <a:solidFill>
              <a:schemeClr val="accent2">
                <a:lumMod val="40000"/>
                <a:lumOff val="6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6" name="Rectangle 25"/>
            <p:cNvSpPr/>
            <p:nvPr/>
          </p:nvSpPr>
          <p:spPr>
            <a:xfrm>
              <a:off x="2627784" y="836712"/>
              <a:ext cx="3240360" cy="1584176"/>
            </a:xfrm>
            <a:prstGeom prst="rect">
              <a:avLst/>
            </a:prstGeom>
            <a:solidFill>
              <a:schemeClr val="accent2">
                <a:lumMod val="40000"/>
                <a:lumOff val="6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a:hlinkClick r:id="rId3"/>
          </p:cNvPr>
          <p:cNvPicPr>
            <a:picLocks noChangeAspect="1" noChangeArrowheads="1"/>
          </p:cNvPicPr>
          <p:nvPr/>
        </p:nvPicPr>
        <p:blipFill>
          <a:blip r:embed="rId4" cstate="print"/>
          <a:srcRect/>
          <a:stretch>
            <a:fillRect/>
          </a:stretch>
        </p:blipFill>
        <p:spPr bwMode="auto">
          <a:xfrm>
            <a:off x="323528" y="1299567"/>
            <a:ext cx="6000750" cy="38576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Mix-n-match parameter definitions</a:t>
            </a:r>
            <a:endParaRPr lang="en-AU" dirty="0"/>
          </a:p>
        </p:txBody>
      </p:sp>
      <p:sp>
        <p:nvSpPr>
          <p:cNvPr id="3" name="Content Placeholder 2"/>
          <p:cNvSpPr>
            <a:spLocks noGrp="1"/>
          </p:cNvSpPr>
          <p:nvPr>
            <p:ph idx="1"/>
          </p:nvPr>
        </p:nvSpPr>
        <p:spPr>
          <a:xfrm>
            <a:off x="395536" y="1412776"/>
            <a:ext cx="8462714" cy="1296144"/>
          </a:xfrm>
          <a:solidFill>
            <a:srgbClr val="FFDDC1"/>
          </a:solidFill>
        </p:spPr>
        <p:txBody>
          <a:bodyPr/>
          <a:lstStyle/>
          <a:p>
            <a:pPr>
              <a:buNone/>
            </a:pPr>
            <a:r>
              <a:rPr lang="en-AU" sz="1800" i="1" dirty="0" smtClean="0"/>
              <a:t>Concentration of / </a:t>
            </a:r>
            <a:br>
              <a:rPr lang="en-AU" sz="1800" i="1" dirty="0" smtClean="0"/>
            </a:br>
            <a:r>
              <a:rPr lang="en-AU" sz="1800" i="1" dirty="0" smtClean="0"/>
              <a:t>          </a:t>
            </a:r>
            <a:r>
              <a:rPr lang="en-AU" sz="1800" i="1" dirty="0" err="1" smtClean="0"/>
              <a:t>benz</a:t>
            </a:r>
            <a:r>
              <a:rPr lang="en-AU" sz="1800" i="1" dirty="0" smtClean="0"/>
              <a:t>(a)</a:t>
            </a:r>
            <a:r>
              <a:rPr lang="en-AU" sz="1800" i="1" dirty="0" err="1" smtClean="0"/>
              <a:t>anthracene</a:t>
            </a:r>
            <a:r>
              <a:rPr lang="en-AU" sz="1800" i="1" dirty="0" smtClean="0"/>
              <a:t> {CAS 56-55-3}  / </a:t>
            </a:r>
            <a:br>
              <a:rPr lang="en-AU" sz="1800" i="1" dirty="0" smtClean="0"/>
            </a:br>
            <a:r>
              <a:rPr lang="en-AU" sz="1800" i="1" dirty="0" smtClean="0"/>
              <a:t>                            per unit wet weight of biota  / </a:t>
            </a:r>
            <a:br>
              <a:rPr lang="en-AU" sz="1800" i="1" dirty="0" smtClean="0"/>
            </a:br>
            <a:r>
              <a:rPr lang="en-AU" sz="1800" i="1" dirty="0" smtClean="0"/>
              <a:t>                                             {</a:t>
            </a:r>
            <a:r>
              <a:rPr lang="en-AU" sz="1800" i="1" dirty="0" err="1" smtClean="0"/>
              <a:t>Limanda</a:t>
            </a:r>
            <a:r>
              <a:rPr lang="en-AU" sz="1800" i="1" dirty="0" smtClean="0"/>
              <a:t> </a:t>
            </a:r>
            <a:r>
              <a:rPr lang="en-AU" sz="1800" i="1" dirty="0" err="1" smtClean="0"/>
              <a:t>limanda</a:t>
            </a:r>
            <a:r>
              <a:rPr lang="en-AU" sz="1800" i="1" dirty="0" smtClean="0"/>
              <a:t> (ITIS: 172881: </a:t>
            </a:r>
            <a:r>
              <a:rPr lang="en-AU" sz="1800" i="1" dirty="0" err="1" smtClean="0"/>
              <a:t>WoRMS</a:t>
            </a:r>
            <a:r>
              <a:rPr lang="en-AU" sz="1800" i="1" dirty="0" smtClean="0"/>
              <a:t> 127139) [Sex: male  /</a:t>
            </a:r>
            <a:br>
              <a:rPr lang="en-AU" sz="1800" i="1" dirty="0" smtClean="0"/>
            </a:br>
            <a:r>
              <a:rPr lang="en-AU" sz="1800" i="1" dirty="0" smtClean="0"/>
              <a:t>                                                                               Subcomponent: liver]}</a:t>
            </a:r>
          </a:p>
          <a:p>
            <a:pPr algn="ctr"/>
            <a:endParaRPr lang="en-AU" sz="1800" dirty="0"/>
          </a:p>
        </p:txBody>
      </p:sp>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sp>
        <p:nvSpPr>
          <p:cNvPr id="5" name="Slide Number Placeholder 4"/>
          <p:cNvSpPr>
            <a:spLocks noGrp="1"/>
          </p:cNvSpPr>
          <p:nvPr>
            <p:ph type="sldNum" sz="quarter" idx="11"/>
          </p:nvPr>
        </p:nvSpPr>
        <p:spPr/>
        <p:txBody>
          <a:bodyPr/>
          <a:lstStyle/>
          <a:p>
            <a:pPr>
              <a:defRPr/>
            </a:pPr>
            <a:fld id="{A111B642-03BA-413E-9BF3-A9DB15D631A2}" type="slidenum">
              <a:rPr lang="en-AU" smtClean="0"/>
              <a:pPr>
                <a:defRPr/>
              </a:pPr>
              <a:t>12</a:t>
            </a:fld>
            <a:r>
              <a:rPr lang="en-AU" smtClean="0"/>
              <a:t>  |</a:t>
            </a:r>
            <a:endParaRPr lang="en-AU" dirty="0"/>
          </a:p>
        </p:txBody>
      </p:sp>
      <p:sp>
        <p:nvSpPr>
          <p:cNvPr id="7" name="Content Placeholder 2"/>
          <p:cNvSpPr txBox="1">
            <a:spLocks/>
          </p:cNvSpPr>
          <p:nvPr/>
        </p:nvSpPr>
        <p:spPr bwMode="auto">
          <a:xfrm>
            <a:off x="395536" y="2708920"/>
            <a:ext cx="8461375" cy="360040"/>
          </a:xfrm>
          <a:prstGeom prst="rect">
            <a:avLst/>
          </a:prstGeom>
          <a:solidFill>
            <a:srgbClr val="D9EDCB"/>
          </a:solidFill>
          <a:ln w="9525">
            <a:noFill/>
            <a:miter lim="800000"/>
            <a:headEnd/>
            <a:tailEnd/>
          </a:ln>
        </p:spPr>
        <p:txBody>
          <a:bodyPr vert="horz" wrap="square" lIns="36000" tIns="36000" rIns="36000" bIns="36000" numCol="1" anchor="t" anchorCtr="0" compatLnSpc="1">
            <a:prstTxWarp prst="textNoShape">
              <a:avLst/>
            </a:prstTxWarp>
          </a:bodyPr>
          <a:lstStyle/>
          <a:p>
            <a:pPr marL="215900" lvl="0" indent="-215900" algn="ctr">
              <a:lnSpc>
                <a:spcPct val="90000"/>
              </a:lnSpc>
              <a:spcBef>
                <a:spcPts val="600"/>
              </a:spcBef>
              <a:defRPr/>
            </a:pPr>
            <a:r>
              <a:rPr kumimoji="0" lang="en-AU" sz="2000" b="1" i="0" u="none" strike="noStrike" kern="1200" cap="none" spc="0" normalizeH="0" baseline="0" noProof="0" dirty="0" smtClean="0">
                <a:ln>
                  <a:noFill/>
                </a:ln>
                <a:solidFill>
                  <a:schemeClr val="tx1"/>
                </a:solidFill>
                <a:effectLst/>
                <a:uLnTx/>
                <a:uFillTx/>
                <a:latin typeface="+mn-lt"/>
                <a:ea typeface="+mn-ea"/>
                <a:cs typeface="+mn-cs"/>
              </a:rPr>
              <a:t>Substance | matrix-relationship | context of matrix (taxon) </a:t>
            </a:r>
            <a:r>
              <a:rPr lang="en-AU" sz="2000" b="1" dirty="0" smtClean="0">
                <a:latin typeface="+mn-lt"/>
              </a:rPr>
              <a:t>| matrix | method</a:t>
            </a:r>
            <a:endParaRPr kumimoji="0" lang="en-AU" sz="2000" b="1" i="0" u="none" strike="noStrike" kern="1200" cap="none" spc="0" normalizeH="0" baseline="0" noProof="0" dirty="0" smtClean="0">
              <a:ln>
                <a:noFill/>
              </a:ln>
              <a:solidFill>
                <a:schemeClr val="tx1"/>
              </a:solidFill>
              <a:effectLst/>
              <a:uLnTx/>
              <a:uFillTx/>
              <a:latin typeface="+mn-lt"/>
              <a:ea typeface="+mn-ea"/>
              <a:cs typeface="+mn-cs"/>
            </a:endParaRPr>
          </a:p>
          <a:p>
            <a:pPr marL="215900" marR="0" lvl="0" indent="-215900" algn="ctr" defTabSz="914400" rtl="0" eaLnBrk="1" fontAlgn="base" latinLnBrk="0" hangingPunct="1">
              <a:lnSpc>
                <a:spcPct val="90000"/>
              </a:lnSpc>
              <a:spcBef>
                <a:spcPts val="600"/>
              </a:spcBef>
              <a:spcAft>
                <a:spcPct val="0"/>
              </a:spcAft>
              <a:buClrTx/>
              <a:buSzTx/>
              <a:tabLst/>
              <a:defRPr/>
            </a:pPr>
            <a:endParaRPr kumimoji="0" lang="en-AU" sz="2000" b="1" i="0" u="none" strike="noStrike" kern="1200" cap="none" spc="0" normalizeH="0" baseline="0" noProof="0" dirty="0">
              <a:ln>
                <a:noFill/>
              </a:ln>
              <a:solidFill>
                <a:schemeClr val="tx1"/>
              </a:solidFill>
              <a:effectLst/>
              <a:uLnTx/>
              <a:uFillTx/>
              <a:latin typeface="+mn-lt"/>
              <a:ea typeface="+mn-ea"/>
              <a:cs typeface="+mn-cs"/>
            </a:endParaRPr>
          </a:p>
        </p:txBody>
      </p:sp>
      <p:pic>
        <p:nvPicPr>
          <p:cNvPr id="2050" name="Picture 2" descr="http://croonerlabs.com/wp-content/uploads/2013/09/slotmachine.jpg"/>
          <p:cNvPicPr>
            <a:picLocks noChangeAspect="1" noChangeArrowheads="1"/>
          </p:cNvPicPr>
          <p:nvPr/>
        </p:nvPicPr>
        <p:blipFill>
          <a:blip r:embed="rId5" cstate="print"/>
          <a:srcRect/>
          <a:stretch>
            <a:fillRect/>
          </a:stretch>
        </p:blipFill>
        <p:spPr bwMode="auto">
          <a:xfrm>
            <a:off x="1403648" y="1052736"/>
            <a:ext cx="6136598" cy="4608512"/>
          </a:xfrm>
          <a:prstGeom prst="rect">
            <a:avLst/>
          </a:prstGeom>
          <a:no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wqop-skos.png"/>
          <p:cNvPicPr>
            <a:picLocks noChangeAspect="1"/>
          </p:cNvPicPr>
          <p:nvPr/>
        </p:nvPicPr>
        <p:blipFill>
          <a:blip r:embed="rId2" cstate="print"/>
          <a:stretch>
            <a:fillRect/>
          </a:stretch>
        </p:blipFill>
        <p:spPr>
          <a:xfrm>
            <a:off x="1979712" y="1268760"/>
            <a:ext cx="4915326" cy="2720576"/>
          </a:xfrm>
          <a:prstGeom prst="rect">
            <a:avLst/>
          </a:prstGeom>
        </p:spPr>
      </p:pic>
      <p:sp>
        <p:nvSpPr>
          <p:cNvPr id="2" name="Text Placeholder 1"/>
          <p:cNvSpPr>
            <a:spLocks noGrp="1"/>
          </p:cNvSpPr>
          <p:nvPr>
            <p:ph type="body" sz="quarter" idx="13"/>
          </p:nvPr>
        </p:nvSpPr>
        <p:spPr/>
        <p:txBody>
          <a:bodyPr/>
          <a:lstStyle/>
          <a:p>
            <a:r>
              <a:rPr lang="en-AU" dirty="0" smtClean="0"/>
              <a:t>Linked to SKOS</a:t>
            </a:r>
            <a:endParaRPr lang="en-AU" dirty="0"/>
          </a:p>
        </p:txBody>
      </p:sp>
      <p:pic>
        <p:nvPicPr>
          <p:cNvPr id="8" name="Picture 7" descr="WQOP-properties.PNG"/>
          <p:cNvPicPr>
            <a:picLocks noChangeAspect="1"/>
          </p:cNvPicPr>
          <p:nvPr/>
        </p:nvPicPr>
        <p:blipFill>
          <a:blip r:embed="rId3" cstate="print"/>
          <a:srcRect r="38272"/>
          <a:stretch>
            <a:fillRect/>
          </a:stretch>
        </p:blipFill>
        <p:spPr>
          <a:xfrm>
            <a:off x="6948264" y="158903"/>
            <a:ext cx="1944216" cy="4231621"/>
          </a:xfrm>
          <a:prstGeom prst="rect">
            <a:avLst/>
          </a:prstGeom>
        </p:spPr>
      </p:pic>
      <p:sp>
        <p:nvSpPr>
          <p:cNvPr id="10" name="Rectangle 9"/>
          <p:cNvSpPr/>
          <p:nvPr/>
        </p:nvSpPr>
        <p:spPr>
          <a:xfrm>
            <a:off x="7092280" y="2492896"/>
            <a:ext cx="1872208" cy="17281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p:cNvSpPr/>
          <p:nvPr/>
        </p:nvSpPr>
        <p:spPr>
          <a:xfrm>
            <a:off x="395536" y="4221088"/>
            <a:ext cx="1872208" cy="17281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p:cNvSpPr/>
          <p:nvPr/>
        </p:nvSpPr>
        <p:spPr>
          <a:xfrm>
            <a:off x="3779912" y="1196752"/>
            <a:ext cx="1512168" cy="648072"/>
          </a:xfrm>
          <a:prstGeom prst="rect">
            <a:avLst/>
          </a:prstGeom>
          <a:solidFill>
            <a:srgbClr val="D9EDCB">
              <a:alpha val="25882"/>
            </a:srgb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descr="WQOP-classes.PNG"/>
          <p:cNvPicPr>
            <a:picLocks noChangeAspect="1"/>
          </p:cNvPicPr>
          <p:nvPr/>
        </p:nvPicPr>
        <p:blipFill>
          <a:blip r:embed="rId4" cstate="print"/>
          <a:srcRect r="32314"/>
          <a:stretch>
            <a:fillRect/>
          </a:stretch>
        </p:blipFill>
        <p:spPr>
          <a:xfrm>
            <a:off x="0" y="3212976"/>
            <a:ext cx="2195736" cy="2880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p:cNvSpPr>
            <a:spLocks noGrp="1"/>
          </p:cNvSpPr>
          <p:nvPr>
            <p:ph type="title"/>
          </p:nvPr>
        </p:nvSpPr>
        <p:spPr/>
        <p:txBody>
          <a:bodyPr/>
          <a:lstStyle/>
          <a:p>
            <a:pPr eaLnBrk="1" hangingPunct="1"/>
            <a:endParaRPr lang="en-AU" smtClean="0"/>
          </a:p>
        </p:txBody>
      </p:sp>
      <p:sp>
        <p:nvSpPr>
          <p:cNvPr id="124931" name="Footer Placeholder 3"/>
          <p:cNvSpPr>
            <a:spLocks noGrp="1"/>
          </p:cNvSpPr>
          <p:nvPr>
            <p:ph type="ftr" sz="quarter" idx="10"/>
          </p:nvPr>
        </p:nvSpPr>
        <p:spPr bwMode="auto">
          <a:noFill/>
          <a:ln>
            <a:miter lim="800000"/>
            <a:headEnd/>
            <a:tailEnd/>
          </a:ln>
        </p:spPr>
        <p:txBody>
          <a:bodyPr/>
          <a:lstStyle/>
          <a:p>
            <a:r>
              <a:rPr lang="en-AU" dirty="0" smtClean="0">
                <a:cs typeface="Arial" pitchFamily="34" charset="0"/>
              </a:rPr>
              <a:t>Cox, Simons, Yu | Observable property ontology</a:t>
            </a:r>
          </a:p>
        </p:txBody>
      </p:sp>
      <p:sp>
        <p:nvSpPr>
          <p:cNvPr id="7" name="Slide Number Placeholder 6"/>
          <p:cNvSpPr>
            <a:spLocks noGrp="1"/>
          </p:cNvSpPr>
          <p:nvPr>
            <p:ph type="sldNum" sz="quarter" idx="11"/>
          </p:nvPr>
        </p:nvSpPr>
        <p:spPr/>
        <p:txBody>
          <a:bodyPr/>
          <a:lstStyle/>
          <a:p>
            <a:pPr>
              <a:defRPr/>
            </a:pPr>
            <a:fld id="{A111B642-03BA-413E-9BF3-A9DB15D631A2}" type="slidenum">
              <a:rPr lang="en-AU" smtClean="0"/>
              <a:pPr>
                <a:defRPr/>
              </a:pPr>
              <a:t>14</a:t>
            </a:fld>
            <a:r>
              <a:rPr lang="en-AU" smtClean="0"/>
              <a:t>  |</a:t>
            </a:r>
            <a:endParaRPr lang="en-AU" dirty="0"/>
          </a:p>
        </p:txBody>
      </p:sp>
      <p:sp>
        <p:nvSpPr>
          <p:cNvPr id="8" name="Content Placeholder 7"/>
          <p:cNvSpPr>
            <a:spLocks noGrp="1"/>
          </p:cNvSpPr>
          <p:nvPr>
            <p:ph idx="1"/>
          </p:nvPr>
        </p:nvSpPr>
        <p:spPr/>
        <p:txBody>
          <a:bodyPr/>
          <a:lstStyle/>
          <a:p>
            <a:endParaRPr lang="en-AU"/>
          </a:p>
        </p:txBody>
      </p:sp>
      <p:pic>
        <p:nvPicPr>
          <p:cNvPr id="5123" name="Picture 3"/>
          <p:cNvPicPr>
            <a:picLocks noChangeAspect="1" noChangeArrowheads="1"/>
          </p:cNvPicPr>
          <p:nvPr/>
        </p:nvPicPr>
        <p:blipFill>
          <a:blip r:embed="rId2" cstate="print"/>
          <a:srcRect/>
          <a:stretch>
            <a:fillRect/>
          </a:stretch>
        </p:blipFill>
        <p:spPr bwMode="auto">
          <a:xfrm>
            <a:off x="179512" y="188640"/>
            <a:ext cx="5223026" cy="5605537"/>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3851920" y="908720"/>
            <a:ext cx="5041668" cy="5760639"/>
          </a:xfrm>
          <a:prstGeom prst="rect">
            <a:avLst/>
          </a:prstGeom>
          <a:noFill/>
          <a:ln w="9525">
            <a:noFill/>
            <a:miter lim="800000"/>
            <a:headEnd/>
            <a:tailEnd/>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AU" dirty="0" smtClean="0"/>
              <a:t>How does this relate to O&amp;M?</a:t>
            </a:r>
          </a:p>
        </p:txBody>
      </p:sp>
      <p:pic>
        <p:nvPicPr>
          <p:cNvPr id="5" name="Picture 4" descr="O&amp;M_v1_AnnexC_Figure6.emf"/>
          <p:cNvPicPr>
            <a:picLocks noChangeAspect="1"/>
          </p:cNvPicPr>
          <p:nvPr/>
        </p:nvPicPr>
        <p:blipFill>
          <a:blip r:embed="rId3" cstate="print"/>
          <a:stretch>
            <a:fillRect/>
          </a:stretch>
        </p:blipFill>
        <p:spPr>
          <a:xfrm>
            <a:off x="2699792" y="712068"/>
            <a:ext cx="3300376" cy="4229100"/>
          </a:xfrm>
          <a:prstGeom prst="rect">
            <a:avLst/>
          </a:prstGeom>
        </p:spPr>
      </p:pic>
      <p:sp>
        <p:nvSpPr>
          <p:cNvPr id="4" name="TextBox 3"/>
          <p:cNvSpPr txBox="1"/>
          <p:nvPr/>
        </p:nvSpPr>
        <p:spPr>
          <a:xfrm>
            <a:off x="251520" y="3068960"/>
            <a:ext cx="2339102" cy="369332"/>
          </a:xfrm>
          <a:prstGeom prst="rect">
            <a:avLst/>
          </a:prstGeom>
          <a:noFill/>
          <a:ln w="38100">
            <a:solidFill>
              <a:schemeClr val="accent1"/>
            </a:solidFill>
          </a:ln>
        </p:spPr>
        <p:txBody>
          <a:bodyPr wrap="none" rtlCol="0">
            <a:spAutoFit/>
          </a:bodyPr>
          <a:lstStyle/>
          <a:p>
            <a:r>
              <a:rPr lang="en-US" dirty="0" smtClean="0"/>
              <a:t>[Scaled]</a:t>
            </a:r>
            <a:r>
              <a:rPr lang="en-US" dirty="0" err="1" smtClean="0"/>
              <a:t>QuantityKind</a:t>
            </a:r>
            <a:endParaRPr lang="en-AU" dirty="0" err="1" smtClean="0"/>
          </a:p>
        </p:txBody>
      </p:sp>
      <p:sp>
        <p:nvSpPr>
          <p:cNvPr id="6" name="TextBox 5"/>
          <p:cNvSpPr txBox="1"/>
          <p:nvPr/>
        </p:nvSpPr>
        <p:spPr>
          <a:xfrm>
            <a:off x="323528" y="1805050"/>
            <a:ext cx="2133918" cy="369332"/>
          </a:xfrm>
          <a:prstGeom prst="rect">
            <a:avLst/>
          </a:prstGeom>
          <a:noFill/>
          <a:ln w="38100">
            <a:solidFill>
              <a:schemeClr val="accent1"/>
            </a:solidFill>
          </a:ln>
        </p:spPr>
        <p:txBody>
          <a:bodyPr wrap="none" rtlCol="0">
            <a:spAutoFit/>
          </a:bodyPr>
          <a:lstStyle/>
          <a:p>
            <a:r>
              <a:rPr lang="en-AU" dirty="0" err="1" smtClean="0"/>
              <a:t>qudt:generalization</a:t>
            </a:r>
            <a:endParaRPr lang="en-AU" dirty="0" smtClean="0"/>
          </a:p>
        </p:txBody>
      </p:sp>
      <p:sp>
        <p:nvSpPr>
          <p:cNvPr id="7" name="TextBox 6"/>
          <p:cNvSpPr txBox="1"/>
          <p:nvPr/>
        </p:nvSpPr>
        <p:spPr>
          <a:xfrm>
            <a:off x="6732240" y="2708920"/>
            <a:ext cx="1505540" cy="369332"/>
          </a:xfrm>
          <a:prstGeom prst="rect">
            <a:avLst/>
          </a:prstGeom>
          <a:noFill/>
          <a:ln w="38100">
            <a:solidFill>
              <a:schemeClr val="accent1"/>
            </a:solidFill>
          </a:ln>
        </p:spPr>
        <p:txBody>
          <a:bodyPr wrap="none" rtlCol="0">
            <a:spAutoFit/>
          </a:bodyPr>
          <a:lstStyle/>
          <a:p>
            <a:r>
              <a:rPr lang="en-AU" dirty="0" err="1" smtClean="0"/>
              <a:t>op:constraint</a:t>
            </a:r>
            <a:endParaRPr lang="en-AU" dirty="0" smtClean="0"/>
          </a:p>
        </p:txBody>
      </p:sp>
      <p:cxnSp>
        <p:nvCxnSpPr>
          <p:cNvPr id="10" name="Straight Arrow Connector 9"/>
          <p:cNvCxnSpPr>
            <a:stCxn id="8" idx="0"/>
            <a:endCxn id="7" idx="2"/>
          </p:cNvCxnSpPr>
          <p:nvPr/>
        </p:nvCxnSpPr>
        <p:spPr>
          <a:xfrm flipV="1">
            <a:off x="6961425" y="3078252"/>
            <a:ext cx="523585" cy="1934924"/>
          </a:xfrm>
          <a:prstGeom prst="straightConnector1">
            <a:avLst/>
          </a:prstGeom>
          <a:ln w="38100">
            <a:solidFill>
              <a:schemeClr val="tx2">
                <a:lumMod val="40000"/>
                <a:lumOff val="60000"/>
              </a:schemeClr>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347864" y="1331917"/>
            <a:ext cx="665018" cy="296883"/>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4" name="Straight Connector 13"/>
          <p:cNvCxnSpPr>
            <a:stCxn id="12" idx="2"/>
            <a:endCxn id="6" idx="3"/>
          </p:cNvCxnSpPr>
          <p:nvPr/>
        </p:nvCxnSpPr>
        <p:spPr>
          <a:xfrm flipH="1">
            <a:off x="2457446" y="1480359"/>
            <a:ext cx="890418" cy="509357"/>
          </a:xfrm>
          <a:prstGeom prst="line">
            <a:avLst/>
          </a:prstGeom>
          <a:ln w="38100">
            <a:solidFill>
              <a:schemeClr val="accent1"/>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203848" y="4149080"/>
            <a:ext cx="1944216" cy="288032"/>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6" name="Straight Connector 15"/>
          <p:cNvCxnSpPr>
            <a:stCxn id="15" idx="6"/>
            <a:endCxn id="7" idx="1"/>
          </p:cNvCxnSpPr>
          <p:nvPr/>
        </p:nvCxnSpPr>
        <p:spPr>
          <a:xfrm flipV="1">
            <a:off x="5148064" y="2893586"/>
            <a:ext cx="1584176" cy="1399510"/>
          </a:xfrm>
          <a:prstGeom prst="line">
            <a:avLst/>
          </a:prstGeom>
          <a:ln w="38100">
            <a:solidFill>
              <a:schemeClr val="accent1"/>
            </a:solidFill>
            <a:tailEnd type="none"/>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419873" y="3717032"/>
            <a:ext cx="1800200" cy="296883"/>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20" name="Straight Connector 19"/>
          <p:cNvCxnSpPr>
            <a:stCxn id="19" idx="2"/>
            <a:endCxn id="4" idx="3"/>
          </p:cNvCxnSpPr>
          <p:nvPr/>
        </p:nvCxnSpPr>
        <p:spPr>
          <a:xfrm flipH="1" flipV="1">
            <a:off x="2590622" y="3253626"/>
            <a:ext cx="829251" cy="611848"/>
          </a:xfrm>
          <a:prstGeom prst="line">
            <a:avLst/>
          </a:prstGeom>
          <a:ln w="38100">
            <a:solidFill>
              <a:schemeClr val="accent1"/>
            </a:solidFill>
            <a:tailEnd type="none"/>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50236" y="6053089"/>
            <a:ext cx="7125669" cy="400110"/>
          </a:xfrm>
          <a:prstGeom prst="rect">
            <a:avLst/>
          </a:prstGeom>
          <a:noFill/>
        </p:spPr>
        <p:txBody>
          <a:bodyPr wrap="square" rtlCol="0">
            <a:spAutoFit/>
          </a:bodyPr>
          <a:lstStyle/>
          <a:p>
            <a:pPr>
              <a:spcAft>
                <a:spcPts val="0"/>
              </a:spcAft>
            </a:pPr>
            <a:r>
              <a:rPr lang="en-AU" sz="1000" dirty="0" smtClean="0">
                <a:solidFill>
                  <a:schemeClr val="bg1"/>
                </a:solidFill>
              </a:rPr>
              <a:t>Cox, S. J. D. (ed.) (2007). Observations and Measurements – Part 1 - Observation schema. OGC 07-022r1, Open Geospatial Consortium Inc.</a:t>
            </a:r>
          </a:p>
        </p:txBody>
      </p:sp>
      <p:grpSp>
        <p:nvGrpSpPr>
          <p:cNvPr id="3" name="Group 21"/>
          <p:cNvGrpSpPr/>
          <p:nvPr/>
        </p:nvGrpSpPr>
        <p:grpSpPr>
          <a:xfrm>
            <a:off x="615538" y="2289958"/>
            <a:ext cx="1798594" cy="3658798"/>
            <a:chOff x="615538" y="2289958"/>
            <a:chExt cx="1798594" cy="3658798"/>
          </a:xfrm>
        </p:grpSpPr>
        <p:sp>
          <p:nvSpPr>
            <p:cNvPr id="18" name="TextBox 17"/>
            <p:cNvSpPr txBox="1"/>
            <p:nvPr/>
          </p:nvSpPr>
          <p:spPr>
            <a:xfrm>
              <a:off x="639287" y="2289958"/>
              <a:ext cx="1774845" cy="369332"/>
            </a:xfrm>
            <a:prstGeom prst="rect">
              <a:avLst/>
            </a:prstGeom>
            <a:noFill/>
          </p:spPr>
          <p:txBody>
            <a:bodyPr wrap="none" rtlCol="0">
              <a:spAutoFit/>
            </a:bodyPr>
            <a:lstStyle/>
            <a:p>
              <a:r>
                <a:rPr lang="en-AU" dirty="0" smtClean="0">
                  <a:solidFill>
                    <a:schemeClr val="accent3"/>
                  </a:solidFill>
                </a:rPr>
                <a:t>“Concentration”</a:t>
              </a:r>
            </a:p>
          </p:txBody>
        </p:sp>
        <p:sp>
          <p:nvSpPr>
            <p:cNvPr id="21" name="TextBox 20"/>
            <p:cNvSpPr txBox="1"/>
            <p:nvPr/>
          </p:nvSpPr>
          <p:spPr>
            <a:xfrm>
              <a:off x="615538" y="5579424"/>
              <a:ext cx="1172116" cy="369332"/>
            </a:xfrm>
            <a:prstGeom prst="rect">
              <a:avLst/>
            </a:prstGeom>
            <a:noFill/>
          </p:spPr>
          <p:txBody>
            <a:bodyPr wrap="none" rtlCol="0">
              <a:spAutoFit/>
            </a:bodyPr>
            <a:lstStyle/>
            <a:p>
              <a:r>
                <a:rPr lang="en-AU" dirty="0" smtClean="0">
                  <a:solidFill>
                    <a:schemeClr val="accent3"/>
                  </a:solidFill>
                </a:rPr>
                <a:t>“nitrogen”</a:t>
              </a:r>
            </a:p>
          </p:txBody>
        </p:sp>
      </p:grpSp>
      <p:sp>
        <p:nvSpPr>
          <p:cNvPr id="22" name="TextBox 21"/>
          <p:cNvSpPr txBox="1"/>
          <p:nvPr/>
        </p:nvSpPr>
        <p:spPr>
          <a:xfrm>
            <a:off x="6583962" y="5589240"/>
            <a:ext cx="2236510" cy="369332"/>
          </a:xfrm>
          <a:prstGeom prst="rect">
            <a:avLst/>
          </a:prstGeom>
          <a:noFill/>
          <a:ln w="38100">
            <a:solidFill>
              <a:schemeClr val="accent1"/>
            </a:solidFill>
          </a:ln>
        </p:spPr>
        <p:txBody>
          <a:bodyPr wrap="none" rtlCol="0">
            <a:spAutoFit/>
          </a:bodyPr>
          <a:lstStyle/>
          <a:p>
            <a:r>
              <a:rPr lang="en-AU" dirty="0" err="1" smtClean="0"/>
              <a:t>op:featureOfInterest</a:t>
            </a:r>
            <a:endParaRPr lang="en-AU" dirty="0" smtClean="0"/>
          </a:p>
        </p:txBody>
      </p:sp>
      <p:cxnSp>
        <p:nvCxnSpPr>
          <p:cNvPr id="25" name="Straight Arrow Connector 24"/>
          <p:cNvCxnSpPr>
            <a:stCxn id="22" idx="0"/>
            <a:endCxn id="7" idx="2"/>
          </p:cNvCxnSpPr>
          <p:nvPr/>
        </p:nvCxnSpPr>
        <p:spPr>
          <a:xfrm flipH="1" flipV="1">
            <a:off x="7485010" y="3078252"/>
            <a:ext cx="217207" cy="2510988"/>
          </a:xfrm>
          <a:prstGeom prst="straightConnector1">
            <a:avLst/>
          </a:prstGeom>
          <a:ln w="38100">
            <a:solidFill>
              <a:schemeClr val="tx2">
                <a:lumMod val="40000"/>
                <a:lumOff val="60000"/>
              </a:schemeClr>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24" idx="0"/>
            <a:endCxn id="7" idx="2"/>
          </p:cNvCxnSpPr>
          <p:nvPr/>
        </p:nvCxnSpPr>
        <p:spPr>
          <a:xfrm flipH="1" flipV="1">
            <a:off x="7485010" y="3078252"/>
            <a:ext cx="635464" cy="854804"/>
          </a:xfrm>
          <a:prstGeom prst="straightConnector1">
            <a:avLst/>
          </a:prstGeom>
          <a:ln w="38100">
            <a:solidFill>
              <a:schemeClr val="tx2">
                <a:lumMod val="40000"/>
                <a:lumOff val="60000"/>
              </a:schemeClr>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48468" y="3933056"/>
            <a:ext cx="1544012" cy="369332"/>
          </a:xfrm>
          <a:prstGeom prst="rect">
            <a:avLst/>
          </a:prstGeom>
          <a:solidFill>
            <a:srgbClr val="FFFFFF"/>
          </a:solidFill>
          <a:ln w="38100">
            <a:solidFill>
              <a:schemeClr val="accent1"/>
            </a:solidFill>
          </a:ln>
        </p:spPr>
        <p:txBody>
          <a:bodyPr wrap="none" rtlCol="0">
            <a:spAutoFit/>
          </a:bodyPr>
          <a:lstStyle/>
          <a:p>
            <a:r>
              <a:rPr lang="en-AU" dirty="0" err="1" smtClean="0"/>
              <a:t>op:procedure</a:t>
            </a:r>
            <a:endParaRPr lang="en-AU" dirty="0" smtClean="0"/>
          </a:p>
        </p:txBody>
      </p:sp>
      <p:sp>
        <p:nvSpPr>
          <p:cNvPr id="55" name="TextBox 54"/>
          <p:cNvSpPr txBox="1"/>
          <p:nvPr/>
        </p:nvSpPr>
        <p:spPr>
          <a:xfrm>
            <a:off x="6516216" y="836712"/>
            <a:ext cx="1518364" cy="369332"/>
          </a:xfrm>
          <a:prstGeom prst="rect">
            <a:avLst/>
          </a:prstGeom>
          <a:noFill/>
          <a:ln w="38100">
            <a:solidFill>
              <a:schemeClr val="accent1"/>
            </a:solidFill>
          </a:ln>
        </p:spPr>
        <p:txBody>
          <a:bodyPr wrap="none" rtlCol="0">
            <a:spAutoFit/>
          </a:bodyPr>
          <a:lstStyle/>
          <a:p>
            <a:r>
              <a:rPr lang="en-US" dirty="0" err="1" smtClean="0"/>
              <a:t>PropertyKind</a:t>
            </a:r>
            <a:endParaRPr lang="en-AU" dirty="0" err="1" smtClean="0"/>
          </a:p>
        </p:txBody>
      </p:sp>
      <p:sp>
        <p:nvSpPr>
          <p:cNvPr id="56" name="Oval 55"/>
          <p:cNvSpPr/>
          <p:nvPr/>
        </p:nvSpPr>
        <p:spPr>
          <a:xfrm>
            <a:off x="4139952" y="1340769"/>
            <a:ext cx="1224136" cy="288032"/>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57" name="Straight Connector 56"/>
          <p:cNvCxnSpPr>
            <a:stCxn id="56" idx="6"/>
            <a:endCxn id="55" idx="1"/>
          </p:cNvCxnSpPr>
          <p:nvPr/>
        </p:nvCxnSpPr>
        <p:spPr>
          <a:xfrm flipV="1">
            <a:off x="5364088" y="1021378"/>
            <a:ext cx="1152128" cy="463407"/>
          </a:xfrm>
          <a:prstGeom prst="line">
            <a:avLst/>
          </a:prstGeom>
          <a:ln w="38100">
            <a:solidFill>
              <a:schemeClr val="accent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27" idx="0"/>
            <a:endCxn id="7" idx="2"/>
          </p:cNvCxnSpPr>
          <p:nvPr/>
        </p:nvCxnSpPr>
        <p:spPr>
          <a:xfrm flipV="1">
            <a:off x="6597466" y="3078252"/>
            <a:ext cx="887544" cy="1070828"/>
          </a:xfrm>
          <a:prstGeom prst="straightConnector1">
            <a:avLst/>
          </a:prstGeom>
          <a:ln w="38100">
            <a:solidFill>
              <a:schemeClr val="tx2">
                <a:lumMod val="40000"/>
                <a:lumOff val="60000"/>
              </a:schemeClr>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30644" y="4149080"/>
            <a:ext cx="1133644" cy="369332"/>
          </a:xfrm>
          <a:prstGeom prst="rect">
            <a:avLst/>
          </a:prstGeom>
          <a:solidFill>
            <a:srgbClr val="FFFFFF"/>
          </a:solidFill>
          <a:ln w="38100">
            <a:solidFill>
              <a:schemeClr val="accent1"/>
            </a:solidFill>
          </a:ln>
        </p:spPr>
        <p:txBody>
          <a:bodyPr wrap="none" rtlCol="0">
            <a:spAutoFit/>
          </a:bodyPr>
          <a:lstStyle/>
          <a:p>
            <a:r>
              <a:rPr lang="en-AU" dirty="0" err="1" smtClean="0"/>
              <a:t>op:matrix</a:t>
            </a:r>
            <a:endParaRPr lang="en-AU" dirty="0" smtClean="0"/>
          </a:p>
        </p:txBody>
      </p:sp>
      <p:sp>
        <p:nvSpPr>
          <p:cNvPr id="8" name="TextBox 7"/>
          <p:cNvSpPr txBox="1"/>
          <p:nvPr/>
        </p:nvSpPr>
        <p:spPr>
          <a:xfrm>
            <a:off x="5894466" y="5013176"/>
            <a:ext cx="2133918" cy="369332"/>
          </a:xfrm>
          <a:prstGeom prst="rect">
            <a:avLst/>
          </a:prstGeom>
          <a:solidFill>
            <a:schemeClr val="bg1"/>
          </a:solidFill>
          <a:ln w="38100">
            <a:solidFill>
              <a:schemeClr val="accent1"/>
            </a:solidFill>
          </a:ln>
        </p:spPr>
        <p:txBody>
          <a:bodyPr wrap="none" rtlCol="0">
            <a:spAutoFit/>
          </a:bodyPr>
          <a:lstStyle/>
          <a:p>
            <a:r>
              <a:rPr lang="en-AU" dirty="0" err="1" smtClean="0"/>
              <a:t>op:objectOfInterest</a:t>
            </a:r>
            <a:endParaRPr lang="en-AU"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2" grpId="0" animBg="1"/>
      <p:bldP spid="15" grpId="0" animBg="1"/>
      <p:bldP spid="19" grpId="0" animBg="1"/>
      <p:bldP spid="22" grpId="0" animBg="1"/>
      <p:bldP spid="24" grpId="0" animBg="1"/>
      <p:bldP spid="55" grpId="0" animBg="1"/>
      <p:bldP spid="56" grpId="0" animBg="1"/>
      <p:bldP spid="2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AU" sz="3200" dirty="0" smtClean="0"/>
              <a:t>Summary</a:t>
            </a:r>
            <a:endParaRPr lang="en-AU" sz="3200" dirty="0"/>
          </a:p>
        </p:txBody>
      </p:sp>
      <p:sp>
        <p:nvSpPr>
          <p:cNvPr id="3" name="Content Placeholder 2"/>
          <p:cNvSpPr>
            <a:spLocks noGrp="1"/>
          </p:cNvSpPr>
          <p:nvPr>
            <p:ph idx="1"/>
          </p:nvPr>
        </p:nvSpPr>
        <p:spPr/>
        <p:txBody>
          <a:bodyPr/>
          <a:lstStyle/>
          <a:p>
            <a:r>
              <a:rPr lang="en-AU" dirty="0" smtClean="0"/>
              <a:t>Observable property vocabularies should be</a:t>
            </a:r>
          </a:p>
          <a:p>
            <a:pPr lvl="1"/>
            <a:r>
              <a:rPr lang="en-AU" dirty="0" smtClean="0"/>
              <a:t>Standardized</a:t>
            </a:r>
          </a:p>
          <a:p>
            <a:pPr lvl="1"/>
            <a:r>
              <a:rPr lang="en-AU" dirty="0" smtClean="0"/>
              <a:t>Published</a:t>
            </a:r>
          </a:p>
          <a:p>
            <a:pPr lvl="1"/>
            <a:endParaRPr lang="en-AU" dirty="0" smtClean="0"/>
          </a:p>
          <a:p>
            <a:r>
              <a:rPr lang="en-AU" dirty="0" smtClean="0"/>
              <a:t>Extend / re-use existing vocabularies where possible</a:t>
            </a:r>
          </a:p>
          <a:p>
            <a:endParaRPr lang="en-US" dirty="0" smtClean="0"/>
          </a:p>
          <a:p>
            <a:r>
              <a:rPr lang="en-US" dirty="0" smtClean="0"/>
              <a:t>Publish it somewhere good</a:t>
            </a:r>
            <a:endParaRPr lang="en-AU" dirty="0" smtClean="0"/>
          </a:p>
          <a:p>
            <a:pPr lvl="1">
              <a:buNone/>
            </a:pPr>
            <a:r>
              <a:rPr lang="en-AU" dirty="0" smtClean="0">
                <a:hlinkClick r:id="rId3"/>
              </a:rPr>
              <a:t>http://</a:t>
            </a:r>
            <a:r>
              <a:rPr lang="en-AU" b="1" dirty="0" smtClean="0">
                <a:hlinkClick r:id="rId3"/>
              </a:rPr>
              <a:t>environment.data.gov.au</a:t>
            </a:r>
            <a:r>
              <a:rPr lang="en-AU" dirty="0" smtClean="0">
                <a:hlinkClick r:id="rId3"/>
              </a:rPr>
              <a:t>/def/property/</a:t>
            </a:r>
            <a:r>
              <a:rPr lang="en-AU" dirty="0" smtClean="0"/>
              <a:t> </a:t>
            </a:r>
          </a:p>
          <a:p>
            <a:pPr lvl="1">
              <a:buNone/>
            </a:pPr>
            <a:r>
              <a:rPr lang="en-AU" dirty="0" smtClean="0">
                <a:hlinkClick r:id="rId4"/>
              </a:rPr>
              <a:t>http://</a:t>
            </a:r>
            <a:r>
              <a:rPr lang="en-AU" b="1" dirty="0" smtClean="0">
                <a:hlinkClick r:id="rId4"/>
              </a:rPr>
              <a:t>environment.data.gov.au</a:t>
            </a:r>
            <a:r>
              <a:rPr lang="en-AU" dirty="0" smtClean="0">
                <a:hlinkClick r:id="rId4"/>
              </a:rPr>
              <a:t>/def/object/</a:t>
            </a:r>
            <a:r>
              <a:rPr lang="en-AU" dirty="0" smtClean="0"/>
              <a:t> </a:t>
            </a:r>
          </a:p>
          <a:p>
            <a:pPr lvl="1">
              <a:buNone/>
            </a:pPr>
            <a:r>
              <a:rPr lang="en-AU" dirty="0" smtClean="0">
                <a:hlinkClick r:id="rId5"/>
              </a:rPr>
              <a:t>http://</a:t>
            </a:r>
            <a:r>
              <a:rPr lang="en-AU" b="1" dirty="0" smtClean="0">
                <a:hlinkClick r:id="rId5"/>
              </a:rPr>
              <a:t>environment.data.gov.au</a:t>
            </a:r>
            <a:r>
              <a:rPr lang="en-AU" dirty="0" smtClean="0">
                <a:hlinkClick r:id="rId5"/>
              </a:rPr>
              <a:t>/def/unit/</a:t>
            </a:r>
            <a:r>
              <a:rPr lang="en-AU" dirty="0" smtClean="0"/>
              <a:t> </a:t>
            </a:r>
          </a:p>
          <a:p>
            <a:pPr lvl="1">
              <a:buNone/>
            </a:pPr>
            <a:r>
              <a:rPr lang="en-AU" dirty="0" smtClean="0">
                <a:hlinkClick r:id="rId6"/>
              </a:rPr>
              <a:t>http://</a:t>
            </a:r>
            <a:r>
              <a:rPr lang="en-AU" b="1" dirty="0" smtClean="0">
                <a:hlinkClick r:id="rId6"/>
              </a:rPr>
              <a:t>environment.data.gov.au</a:t>
            </a:r>
            <a:r>
              <a:rPr lang="en-AU" dirty="0" smtClean="0">
                <a:hlinkClick r:id="rId6"/>
              </a:rPr>
              <a:t>/def/op</a:t>
            </a:r>
            <a:r>
              <a:rPr lang="en-AU" dirty="0" smtClean="0"/>
              <a:t>  </a:t>
            </a:r>
          </a:p>
          <a:p>
            <a:pPr lvl="1">
              <a:buNone/>
            </a:pPr>
            <a:r>
              <a:rPr lang="en-AU" dirty="0" smtClean="0">
                <a:hlinkClick r:id="rId7"/>
              </a:rPr>
              <a:t>http://sissvoc.ereefs.info/search</a:t>
            </a:r>
            <a:r>
              <a:rPr lang="en-AU" dirty="0" smtClean="0"/>
              <a:t> </a:t>
            </a:r>
          </a:p>
          <a:p>
            <a:pPr lvl="1"/>
            <a:endParaRPr lang="en-AU" dirty="0" smtClean="0"/>
          </a:p>
          <a:p>
            <a:endParaRPr lang="en-AU" dirty="0" smtClean="0"/>
          </a:p>
          <a:p>
            <a:endParaRPr lang="en-AU" dirty="0" smtClean="0"/>
          </a:p>
        </p:txBody>
      </p:sp>
      <p:sp>
        <p:nvSpPr>
          <p:cNvPr id="4" name="Footer Placeholder 3"/>
          <p:cNvSpPr>
            <a:spLocks noGrp="1"/>
          </p:cNvSpPr>
          <p:nvPr>
            <p:ph type="ftr" sz="quarter" idx="10"/>
          </p:nvPr>
        </p:nvSpPr>
        <p:spPr/>
        <p:txBody>
          <a:bodyPr/>
          <a:lstStyle/>
          <a:p>
            <a:r>
              <a:rPr lang="en-AU" smtClean="0"/>
              <a:t>Cox, Simons, Yu | Observable property ontology</a:t>
            </a:r>
            <a:endParaRPr lang="en-AU" dirty="0"/>
          </a:p>
        </p:txBody>
      </p:sp>
      <p:sp>
        <p:nvSpPr>
          <p:cNvPr id="5" name="Slide Number Placeholder 4"/>
          <p:cNvSpPr>
            <a:spLocks noGrp="1"/>
          </p:cNvSpPr>
          <p:nvPr>
            <p:ph type="sldNum" sz="quarter" idx="11"/>
          </p:nvPr>
        </p:nvSpPr>
        <p:spPr/>
        <p:txBody>
          <a:bodyPr/>
          <a:lstStyle/>
          <a:p>
            <a:pPr>
              <a:defRPr/>
            </a:pPr>
            <a:fld id="{A111B642-03BA-413E-9BF3-A9DB15D631A2}" type="slidenum">
              <a:rPr lang="en-AU" smtClean="0"/>
              <a:pPr>
                <a:defRPr/>
              </a:pPr>
              <a:t>16</a:t>
            </a:fld>
            <a:r>
              <a:rPr lang="en-AU" smtClean="0"/>
              <a:t>  |</a:t>
            </a:r>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p:cNvSpPr>
            <a:spLocks/>
          </p:cNvSpPr>
          <p:nvPr/>
        </p:nvSpPr>
        <p:spPr bwMode="auto">
          <a:xfrm>
            <a:off x="360363" y="5626100"/>
            <a:ext cx="4751387" cy="144463"/>
          </a:xfrm>
          <a:prstGeom prst="rect">
            <a:avLst/>
          </a:prstGeom>
          <a:noFill/>
          <a:ln w="9525">
            <a:noFill/>
            <a:miter lim="800000"/>
            <a:headEnd/>
            <a:tailEnd/>
          </a:ln>
        </p:spPr>
        <p:txBody>
          <a:bodyPr lIns="0" tIns="0" rIns="0" bIns="0" anchor="ctr"/>
          <a:lstStyle/>
          <a:p>
            <a:pPr marL="216000" indent="-216000" fontAlgn="auto">
              <a:lnSpc>
                <a:spcPct val="90000"/>
              </a:lnSpc>
              <a:spcBef>
                <a:spcPts val="600"/>
              </a:spcBef>
              <a:spcAft>
                <a:spcPts val="0"/>
              </a:spcAft>
              <a:defRPr/>
            </a:pPr>
            <a:r>
              <a:rPr lang="en-AU" sz="1200" b="1" cap="all" dirty="0" smtClean="0">
                <a:solidFill>
                  <a:srgbClr val="FFFFFF"/>
                </a:solidFill>
                <a:latin typeface="Calibri"/>
              </a:rPr>
              <a:t>Land </a:t>
            </a:r>
            <a:r>
              <a:rPr lang="en-AU" sz="1200" b="1" cap="all" smtClean="0">
                <a:solidFill>
                  <a:srgbClr val="FFFFFF"/>
                </a:solidFill>
                <a:latin typeface="Calibri"/>
              </a:rPr>
              <a:t>and water</a:t>
            </a:r>
            <a:endParaRPr lang="en-AU" sz="1200" b="1" cap="all" dirty="0">
              <a:solidFill>
                <a:srgbClr val="FFFFFF"/>
              </a:solidFill>
              <a:latin typeface="Calibri"/>
            </a:endParaRPr>
          </a:p>
        </p:txBody>
      </p:sp>
      <p:sp>
        <p:nvSpPr>
          <p:cNvPr id="31754" name="Title 3"/>
          <p:cNvSpPr>
            <a:spLocks/>
          </p:cNvSpPr>
          <p:nvPr/>
        </p:nvSpPr>
        <p:spPr bwMode="auto">
          <a:xfrm>
            <a:off x="360363" y="2867025"/>
            <a:ext cx="7469187" cy="719138"/>
          </a:xfrm>
          <a:prstGeom prst="rect">
            <a:avLst/>
          </a:prstGeom>
          <a:noFill/>
          <a:ln w="9525">
            <a:noFill/>
            <a:miter lim="800000"/>
            <a:headEnd/>
            <a:tailEnd/>
          </a:ln>
        </p:spPr>
        <p:txBody>
          <a:bodyPr lIns="0" tIns="0" rIns="0" bIns="0"/>
          <a:lstStyle/>
          <a:p>
            <a:pPr>
              <a:lnSpc>
                <a:spcPct val="85000"/>
              </a:lnSpc>
            </a:pPr>
            <a:r>
              <a:rPr lang="en-AU" sz="6700" b="1">
                <a:solidFill>
                  <a:srgbClr val="FFFFFF"/>
                </a:solidFill>
                <a:latin typeface="Calibri" pitchFamily="34" charset="0"/>
              </a:rPr>
              <a:t>Thank you</a:t>
            </a:r>
          </a:p>
        </p:txBody>
      </p:sp>
      <p:sp>
        <p:nvSpPr>
          <p:cNvPr id="7" name="Text Placeholder 1"/>
          <p:cNvSpPr>
            <a:spLocks/>
          </p:cNvSpPr>
          <p:nvPr/>
        </p:nvSpPr>
        <p:spPr bwMode="auto">
          <a:xfrm>
            <a:off x="360363" y="3713163"/>
            <a:ext cx="3203525" cy="1528762"/>
          </a:xfrm>
          <a:prstGeom prst="rect">
            <a:avLst/>
          </a:prstGeom>
          <a:noFill/>
          <a:ln w="9525">
            <a:noFill/>
            <a:miter lim="800000"/>
            <a:headEnd/>
            <a:tailEnd/>
          </a:ln>
        </p:spPr>
        <p:txBody>
          <a:bodyPr lIns="0" tIns="0" rIns="0" bIns="0"/>
          <a:lstStyle/>
          <a:p>
            <a:pPr defTabSz="457200">
              <a:lnSpc>
                <a:spcPct val="90000"/>
              </a:lnSpc>
              <a:buFont typeface="Arial" charset="0"/>
              <a:buNone/>
            </a:pPr>
            <a:r>
              <a:rPr lang="en-AU" sz="1600" b="1" dirty="0" smtClean="0">
                <a:solidFill>
                  <a:srgbClr val="FFFFFF"/>
                </a:solidFill>
                <a:latin typeface="Calibri" pitchFamily="34" charset="0"/>
              </a:rPr>
              <a:t>CSIRO Land and Water</a:t>
            </a:r>
            <a:endParaRPr lang="en-AU" sz="1600" b="1" dirty="0">
              <a:solidFill>
                <a:srgbClr val="FFFFFF"/>
              </a:solidFill>
              <a:latin typeface="Calibri" pitchFamily="34" charset="0"/>
            </a:endParaRPr>
          </a:p>
          <a:p>
            <a:pPr marL="0" lvl="1" defTabSz="457200">
              <a:lnSpc>
                <a:spcPct val="90000"/>
              </a:lnSpc>
              <a:spcAft>
                <a:spcPts val="600"/>
              </a:spcAft>
              <a:buFont typeface="Calibri" pitchFamily="34" charset="0"/>
              <a:buNone/>
            </a:pPr>
            <a:r>
              <a:rPr lang="en-AU" sz="1600" dirty="0" smtClean="0">
                <a:solidFill>
                  <a:srgbClr val="FFFFFF"/>
                </a:solidFill>
                <a:latin typeface="Calibri" pitchFamily="34" charset="0"/>
              </a:rPr>
              <a:t>Simon Cox</a:t>
            </a:r>
            <a:r>
              <a:rPr lang="en-AU" sz="1600" dirty="0">
                <a:solidFill>
                  <a:srgbClr val="FFFFFF"/>
                </a:solidFill>
                <a:latin typeface="Calibri" pitchFamily="34" charset="0"/>
              </a:rPr>
              <a:t/>
            </a:r>
            <a:br>
              <a:rPr lang="en-AU" sz="1600" dirty="0">
                <a:solidFill>
                  <a:srgbClr val="FFFFFF"/>
                </a:solidFill>
                <a:latin typeface="Calibri" pitchFamily="34" charset="0"/>
              </a:rPr>
            </a:br>
            <a:r>
              <a:rPr lang="en-AU" sz="1600" dirty="0" smtClean="0">
                <a:solidFill>
                  <a:srgbClr val="FFFFFF"/>
                </a:solidFill>
                <a:latin typeface="Calibri" pitchFamily="34" charset="0"/>
              </a:rPr>
              <a:t>Research Scientist</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t</a:t>
            </a:r>
            <a:r>
              <a:rPr lang="en-AU" sz="1600" dirty="0">
                <a:solidFill>
                  <a:srgbClr val="FFFFFF"/>
                </a:solidFill>
                <a:latin typeface="Calibri" pitchFamily="34" charset="0"/>
              </a:rPr>
              <a:t>	+61 </a:t>
            </a:r>
            <a:r>
              <a:rPr lang="en-AU" sz="1600" dirty="0" smtClean="0">
                <a:solidFill>
                  <a:srgbClr val="FFFFFF"/>
                </a:solidFill>
                <a:latin typeface="Calibri" pitchFamily="34" charset="0"/>
              </a:rPr>
              <a:t>3 9252 6342</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e</a:t>
            </a:r>
            <a:r>
              <a:rPr lang="en-AU" sz="1600" dirty="0">
                <a:solidFill>
                  <a:srgbClr val="FFFFFF"/>
                </a:solidFill>
                <a:latin typeface="Calibri" pitchFamily="34" charset="0"/>
              </a:rPr>
              <a:t>	</a:t>
            </a:r>
            <a:r>
              <a:rPr lang="en-AU" sz="1600" dirty="0" smtClean="0">
                <a:solidFill>
                  <a:srgbClr val="FFFFFF"/>
                </a:solidFill>
                <a:latin typeface="Calibri" pitchFamily="34" charset="0"/>
              </a:rPr>
              <a:t>simon.cox@csiro.au</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w</a:t>
            </a:r>
            <a:r>
              <a:rPr lang="en-AU" sz="1600" dirty="0">
                <a:solidFill>
                  <a:srgbClr val="FFFFFF"/>
                </a:solidFill>
                <a:latin typeface="Calibri" pitchFamily="34" charset="0"/>
              </a:rPr>
              <a:t>	</a:t>
            </a:r>
            <a:r>
              <a:rPr lang="en-AU" sz="1600" dirty="0" smtClean="0">
                <a:solidFill>
                  <a:srgbClr val="FFFFFF"/>
                </a:solidFill>
                <a:latin typeface="Calibri" pitchFamily="34" charset="0"/>
              </a:rPr>
              <a:t>www.csiro.au/people/simon.cox</a:t>
            </a:r>
            <a:endParaRPr lang="en-AU" sz="1600" dirty="0">
              <a:solidFill>
                <a:srgbClr val="FFFFFF"/>
              </a:solidFill>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13"/>
          <p:cNvGrpSpPr/>
          <p:nvPr/>
        </p:nvGrpSpPr>
        <p:grpSpPr>
          <a:xfrm>
            <a:off x="643590" y="1524410"/>
            <a:ext cx="1357205" cy="1220427"/>
            <a:chOff x="990439" y="1401335"/>
            <a:chExt cx="1133332" cy="953311"/>
          </a:xfrm>
        </p:grpSpPr>
        <p:grpSp>
          <p:nvGrpSpPr>
            <p:cNvPr id="3" name="Group 23"/>
            <p:cNvGrpSpPr/>
            <p:nvPr/>
          </p:nvGrpSpPr>
          <p:grpSpPr>
            <a:xfrm>
              <a:off x="990439" y="1401335"/>
              <a:ext cx="1011677" cy="953311"/>
              <a:chOff x="758756" y="1277722"/>
              <a:chExt cx="1011677" cy="953311"/>
            </a:xfrm>
            <a:solidFill>
              <a:schemeClr val="bg1">
                <a:lumMod val="90000"/>
              </a:schemeClr>
            </a:solidFill>
          </p:grpSpPr>
          <p:sp>
            <p:nvSpPr>
              <p:cNvPr id="11" name="Oval 10"/>
              <p:cNvSpPr/>
              <p:nvPr/>
            </p:nvSpPr>
            <p:spPr>
              <a:xfrm>
                <a:off x="758756" y="1277722"/>
                <a:ext cx="1011677" cy="953311"/>
              </a:xfrm>
              <a:prstGeom prst="ellipse">
                <a:avLst/>
              </a:prstGeom>
              <a:grp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4" name="Group 33"/>
              <p:cNvGrpSpPr/>
              <p:nvPr/>
            </p:nvGrpSpPr>
            <p:grpSpPr>
              <a:xfrm>
                <a:off x="1077017" y="1455258"/>
                <a:ext cx="509080" cy="477144"/>
                <a:chOff x="1822313" y="1591445"/>
                <a:chExt cx="509080" cy="477144"/>
              </a:xfrm>
              <a:grpFill/>
            </p:grpSpPr>
            <p:sp>
              <p:nvSpPr>
                <p:cNvPr id="13" name="Oval 12"/>
                <p:cNvSpPr/>
                <p:nvPr/>
              </p:nvSpPr>
              <p:spPr>
                <a:xfrm>
                  <a:off x="1822313" y="1591445"/>
                  <a:ext cx="136187" cy="136187"/>
                </a:xfrm>
                <a:prstGeom prst="ellipse">
                  <a:avLst/>
                </a:prstGeom>
                <a:grp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Oval 13"/>
                <p:cNvSpPr/>
                <p:nvPr/>
              </p:nvSpPr>
              <p:spPr>
                <a:xfrm>
                  <a:off x="1990926" y="1760058"/>
                  <a:ext cx="136187" cy="136187"/>
                </a:xfrm>
                <a:prstGeom prst="ellipse">
                  <a:avLst/>
                </a:prstGeom>
                <a:grp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5" name="Oval 14"/>
                <p:cNvSpPr/>
                <p:nvPr/>
              </p:nvSpPr>
              <p:spPr>
                <a:xfrm>
                  <a:off x="2195206" y="1932402"/>
                  <a:ext cx="136187" cy="136187"/>
                </a:xfrm>
                <a:prstGeom prst="ellipse">
                  <a:avLst/>
                </a:prstGeom>
                <a:grp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Oval 15"/>
                <p:cNvSpPr/>
                <p:nvPr/>
              </p:nvSpPr>
              <p:spPr>
                <a:xfrm>
                  <a:off x="1822313" y="1932402"/>
                  <a:ext cx="136187" cy="136187"/>
                </a:xfrm>
                <a:prstGeom prst="ellipse">
                  <a:avLst/>
                </a:prstGeom>
                <a:grp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7" name="Straight Connector 16"/>
                <p:cNvCxnSpPr>
                  <a:stCxn id="13" idx="5"/>
                  <a:endCxn id="14" idx="1"/>
                </p:cNvCxnSpPr>
                <p:nvPr/>
              </p:nvCxnSpPr>
              <p:spPr>
                <a:xfrm>
                  <a:off x="1938556" y="1707688"/>
                  <a:ext cx="72314" cy="72314"/>
                </a:xfrm>
                <a:prstGeom prst="line">
                  <a:avLst/>
                </a:prstGeom>
                <a:grpFill/>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4" idx="5"/>
                  <a:endCxn id="15" idx="1"/>
                </p:cNvCxnSpPr>
                <p:nvPr/>
              </p:nvCxnSpPr>
              <p:spPr>
                <a:xfrm>
                  <a:off x="2107169" y="1876301"/>
                  <a:ext cx="107981" cy="76045"/>
                </a:xfrm>
                <a:prstGeom prst="line">
                  <a:avLst/>
                </a:prstGeom>
                <a:grpFill/>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14" idx="3"/>
                  <a:endCxn id="16" idx="7"/>
                </p:cNvCxnSpPr>
                <p:nvPr/>
              </p:nvCxnSpPr>
              <p:spPr>
                <a:xfrm flipH="1">
                  <a:off x="1938556" y="1876301"/>
                  <a:ext cx="72314" cy="76045"/>
                </a:xfrm>
                <a:prstGeom prst="line">
                  <a:avLst/>
                </a:prstGeom>
                <a:grpFill/>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grpSp>
        <p:sp>
          <p:nvSpPr>
            <p:cNvPr id="10" name="TextBox 9"/>
            <p:cNvSpPr txBox="1"/>
            <p:nvPr/>
          </p:nvSpPr>
          <p:spPr>
            <a:xfrm>
              <a:off x="1126874" y="2074824"/>
              <a:ext cx="996897" cy="216372"/>
            </a:xfrm>
            <a:prstGeom prst="rect">
              <a:avLst/>
            </a:prstGeom>
            <a:noFill/>
          </p:spPr>
          <p:txBody>
            <a:bodyPr wrap="square" rtlCol="0">
              <a:spAutoFit/>
            </a:bodyPr>
            <a:lstStyle/>
            <a:p>
              <a:r>
                <a:rPr lang="en-AU" sz="1200" dirty="0" smtClean="0"/>
                <a:t>object.ttl</a:t>
              </a:r>
            </a:p>
          </p:txBody>
        </p:sp>
      </p:grpSp>
      <p:grpSp>
        <p:nvGrpSpPr>
          <p:cNvPr id="5" name="Group 109"/>
          <p:cNvGrpSpPr/>
          <p:nvPr/>
        </p:nvGrpSpPr>
        <p:grpSpPr>
          <a:xfrm>
            <a:off x="7154260" y="658435"/>
            <a:ext cx="1368939" cy="1220427"/>
            <a:chOff x="5909181" y="270000"/>
            <a:chExt cx="1143130" cy="953311"/>
          </a:xfrm>
        </p:grpSpPr>
        <p:grpSp>
          <p:nvGrpSpPr>
            <p:cNvPr id="6" name="Group 86"/>
            <p:cNvGrpSpPr/>
            <p:nvPr/>
          </p:nvGrpSpPr>
          <p:grpSpPr>
            <a:xfrm>
              <a:off x="6107282" y="367401"/>
              <a:ext cx="500943" cy="593387"/>
              <a:chOff x="4383774" y="3071384"/>
              <a:chExt cx="500943" cy="593387"/>
            </a:xfrm>
          </p:grpSpPr>
          <p:sp>
            <p:nvSpPr>
              <p:cNvPr id="35" name="Oval 34"/>
              <p:cNvSpPr/>
              <p:nvPr/>
            </p:nvSpPr>
            <p:spPr>
              <a:xfrm>
                <a:off x="4559973" y="3071384"/>
                <a:ext cx="136187" cy="136187"/>
              </a:xfrm>
              <a:prstGeom prst="ellipse">
                <a:avLst/>
              </a:prstGeom>
              <a:solidFill>
                <a:srgbClr val="2A754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6" name="Oval 35"/>
              <p:cNvSpPr/>
              <p:nvPr/>
            </p:nvSpPr>
            <p:spPr>
              <a:xfrm>
                <a:off x="4728586" y="3239997"/>
                <a:ext cx="136187" cy="136187"/>
              </a:xfrm>
              <a:prstGeom prst="ellipse">
                <a:avLst/>
              </a:prstGeom>
              <a:solidFill>
                <a:srgbClr val="2A754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7" name="Oval 36"/>
              <p:cNvSpPr/>
              <p:nvPr/>
            </p:nvSpPr>
            <p:spPr>
              <a:xfrm>
                <a:off x="4748530" y="3528584"/>
                <a:ext cx="136187" cy="136187"/>
              </a:xfrm>
              <a:prstGeom prst="ellipse">
                <a:avLst/>
              </a:prstGeom>
              <a:solidFill>
                <a:srgbClr val="2A754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8" name="Oval 37"/>
              <p:cNvSpPr/>
              <p:nvPr/>
            </p:nvSpPr>
            <p:spPr>
              <a:xfrm>
                <a:off x="4383774" y="3258480"/>
                <a:ext cx="136187" cy="136187"/>
              </a:xfrm>
              <a:prstGeom prst="ellipse">
                <a:avLst/>
              </a:prstGeom>
              <a:solidFill>
                <a:srgbClr val="2A754A"/>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39" name="Straight Connector 38"/>
              <p:cNvCxnSpPr>
                <a:stCxn id="35" idx="5"/>
                <a:endCxn id="36" idx="1"/>
              </p:cNvCxnSpPr>
              <p:nvPr/>
            </p:nvCxnSpPr>
            <p:spPr>
              <a:xfrm>
                <a:off x="4676216" y="3187627"/>
                <a:ext cx="72314" cy="72314"/>
              </a:xfrm>
              <a:prstGeom prst="line">
                <a:avLst/>
              </a:prstGeom>
              <a:ln w="12700">
                <a:solidFill>
                  <a:srgbClr val="C0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36" idx="4"/>
                <a:endCxn id="37" idx="0"/>
              </p:cNvCxnSpPr>
              <p:nvPr/>
            </p:nvCxnSpPr>
            <p:spPr>
              <a:xfrm>
                <a:off x="4796680" y="3376184"/>
                <a:ext cx="19944" cy="152400"/>
              </a:xfrm>
              <a:prstGeom prst="line">
                <a:avLst/>
              </a:prstGeom>
              <a:ln w="12700">
                <a:solidFill>
                  <a:srgbClr val="C00000"/>
                </a:solidFill>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a:stCxn id="35" idx="3"/>
                <a:endCxn id="38" idx="7"/>
              </p:cNvCxnSpPr>
              <p:nvPr/>
            </p:nvCxnSpPr>
            <p:spPr>
              <a:xfrm flipH="1">
                <a:off x="4500017" y="3187627"/>
                <a:ext cx="79900" cy="90797"/>
              </a:xfrm>
              <a:prstGeom prst="line">
                <a:avLst/>
              </a:prstGeom>
              <a:ln w="12700">
                <a:solidFill>
                  <a:srgbClr val="C00000"/>
                </a:solidFill>
                <a:tailEnd type="none"/>
              </a:ln>
              <a:effectLst/>
            </p:spPr>
            <p:style>
              <a:lnRef idx="2">
                <a:schemeClr val="accent1"/>
              </a:lnRef>
              <a:fillRef idx="0">
                <a:schemeClr val="accent1"/>
              </a:fillRef>
              <a:effectRef idx="1">
                <a:schemeClr val="accent1"/>
              </a:effectRef>
              <a:fontRef idx="minor">
                <a:schemeClr val="tx1"/>
              </a:fontRef>
            </p:style>
          </p:cxnSp>
        </p:grpSp>
        <p:sp>
          <p:nvSpPr>
            <p:cNvPr id="33" name="Oval 32"/>
            <p:cNvSpPr/>
            <p:nvPr/>
          </p:nvSpPr>
          <p:spPr>
            <a:xfrm>
              <a:off x="5909181" y="270000"/>
              <a:ext cx="1011677" cy="953311"/>
            </a:xfrm>
            <a:prstGeom prst="ellipse">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4" name="TextBox 33"/>
            <p:cNvSpPr txBox="1"/>
            <p:nvPr/>
          </p:nvSpPr>
          <p:spPr>
            <a:xfrm>
              <a:off x="6055414" y="945352"/>
              <a:ext cx="996897" cy="215444"/>
            </a:xfrm>
            <a:prstGeom prst="rect">
              <a:avLst/>
            </a:prstGeom>
            <a:noFill/>
          </p:spPr>
          <p:txBody>
            <a:bodyPr wrap="square" rtlCol="0">
              <a:spAutoFit/>
            </a:bodyPr>
            <a:lstStyle/>
            <a:p>
              <a:r>
                <a:rPr lang="en-AU" sz="1200" dirty="0" smtClean="0"/>
                <a:t>chebi.owl</a:t>
              </a:r>
            </a:p>
          </p:txBody>
        </p:sp>
      </p:grpSp>
      <p:grpSp>
        <p:nvGrpSpPr>
          <p:cNvPr id="7" name="Group 197"/>
          <p:cNvGrpSpPr/>
          <p:nvPr/>
        </p:nvGrpSpPr>
        <p:grpSpPr>
          <a:xfrm>
            <a:off x="565748" y="4678927"/>
            <a:ext cx="1415240" cy="1414369"/>
            <a:chOff x="1389214" y="3644270"/>
            <a:chExt cx="1181794" cy="1104805"/>
          </a:xfrm>
        </p:grpSpPr>
        <p:sp>
          <p:nvSpPr>
            <p:cNvPr id="43" name="Oval 42"/>
            <p:cNvSpPr/>
            <p:nvPr/>
          </p:nvSpPr>
          <p:spPr>
            <a:xfrm>
              <a:off x="1389214" y="3644270"/>
              <a:ext cx="1181794" cy="1104805"/>
            </a:xfrm>
            <a:prstGeom prst="ellipse">
              <a:avLst/>
            </a:prstGeom>
            <a:solidFill>
              <a:schemeClr val="bg1">
                <a:lumMod val="90000"/>
              </a:schemeClr>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8" name="Group 149"/>
            <p:cNvGrpSpPr/>
            <p:nvPr/>
          </p:nvGrpSpPr>
          <p:grpSpPr>
            <a:xfrm>
              <a:off x="1871867" y="3878167"/>
              <a:ext cx="529024" cy="306261"/>
              <a:chOff x="3749086" y="3986103"/>
              <a:chExt cx="529024" cy="306261"/>
            </a:xfrm>
          </p:grpSpPr>
          <p:sp>
            <p:nvSpPr>
              <p:cNvPr id="64" name="Oval 63"/>
              <p:cNvSpPr/>
              <p:nvPr/>
            </p:nvSpPr>
            <p:spPr>
              <a:xfrm>
                <a:off x="3749086" y="4136233"/>
                <a:ext cx="136187" cy="136187"/>
              </a:xfrm>
              <a:prstGeom prst="ellipse">
                <a:avLst/>
              </a:prstGeom>
              <a:solidFill>
                <a:schemeClr val="bg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5" name="Oval 64"/>
              <p:cNvSpPr/>
              <p:nvPr/>
            </p:nvSpPr>
            <p:spPr>
              <a:xfrm>
                <a:off x="3953366" y="3986103"/>
                <a:ext cx="136187" cy="136187"/>
              </a:xfrm>
              <a:prstGeom prst="ellipse">
                <a:avLst/>
              </a:prstGeom>
              <a:solidFill>
                <a:schemeClr val="bg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6" name="Oval 65"/>
              <p:cNvSpPr/>
              <p:nvPr/>
            </p:nvSpPr>
            <p:spPr>
              <a:xfrm>
                <a:off x="4141923" y="4156177"/>
                <a:ext cx="136187" cy="136187"/>
              </a:xfrm>
              <a:prstGeom prst="ellipse">
                <a:avLst/>
              </a:prstGeom>
              <a:solidFill>
                <a:schemeClr val="bg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67" name="Straight Connector 66"/>
              <p:cNvCxnSpPr>
                <a:stCxn id="65" idx="5"/>
                <a:endCxn id="66" idx="1"/>
              </p:cNvCxnSpPr>
              <p:nvPr/>
            </p:nvCxnSpPr>
            <p:spPr>
              <a:xfrm>
                <a:off x="4069609" y="4102346"/>
                <a:ext cx="92258" cy="73775"/>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a:stCxn id="65" idx="3"/>
                <a:endCxn id="64" idx="7"/>
              </p:cNvCxnSpPr>
              <p:nvPr/>
            </p:nvCxnSpPr>
            <p:spPr>
              <a:xfrm flipH="1">
                <a:off x="3865329" y="4102346"/>
                <a:ext cx="107981" cy="53831"/>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grpSp>
          <p:nvGrpSpPr>
            <p:cNvPr id="9" name="Group 139"/>
            <p:cNvGrpSpPr/>
            <p:nvPr/>
          </p:nvGrpSpPr>
          <p:grpSpPr>
            <a:xfrm>
              <a:off x="1532315" y="3862685"/>
              <a:ext cx="500943" cy="593387"/>
              <a:chOff x="4219747" y="3817854"/>
              <a:chExt cx="500943" cy="593387"/>
            </a:xfrm>
          </p:grpSpPr>
          <p:sp>
            <p:nvSpPr>
              <p:cNvPr id="57" name="Oval 56"/>
              <p:cNvSpPr/>
              <p:nvPr/>
            </p:nvSpPr>
            <p:spPr>
              <a:xfrm>
                <a:off x="4395946" y="3817854"/>
                <a:ext cx="136187" cy="136187"/>
              </a:xfrm>
              <a:prstGeom prst="ellipse">
                <a:avLst/>
              </a:prstGeom>
              <a:solidFill>
                <a:srgbClr val="2A754A"/>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8" name="Oval 57"/>
              <p:cNvSpPr/>
              <p:nvPr/>
            </p:nvSpPr>
            <p:spPr>
              <a:xfrm>
                <a:off x="4564559" y="3986467"/>
                <a:ext cx="136187" cy="136187"/>
              </a:xfrm>
              <a:prstGeom prst="ellipse">
                <a:avLst/>
              </a:prstGeom>
              <a:solidFill>
                <a:srgbClr val="2A754A"/>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9" name="Oval 58"/>
              <p:cNvSpPr/>
              <p:nvPr/>
            </p:nvSpPr>
            <p:spPr>
              <a:xfrm>
                <a:off x="4584503" y="4275054"/>
                <a:ext cx="136187" cy="136187"/>
              </a:xfrm>
              <a:prstGeom prst="ellipse">
                <a:avLst/>
              </a:prstGeom>
              <a:solidFill>
                <a:srgbClr val="2A754A"/>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0" name="Oval 59"/>
              <p:cNvSpPr/>
              <p:nvPr/>
            </p:nvSpPr>
            <p:spPr>
              <a:xfrm>
                <a:off x="4219747" y="4004950"/>
                <a:ext cx="136187" cy="136187"/>
              </a:xfrm>
              <a:prstGeom prst="ellipse">
                <a:avLst/>
              </a:prstGeom>
              <a:solidFill>
                <a:srgbClr val="2A754A"/>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61" name="Straight Connector 60"/>
              <p:cNvCxnSpPr>
                <a:stCxn id="57" idx="5"/>
                <a:endCxn id="58" idx="1"/>
              </p:cNvCxnSpPr>
              <p:nvPr/>
            </p:nvCxnSpPr>
            <p:spPr>
              <a:xfrm>
                <a:off x="4512189" y="3934097"/>
                <a:ext cx="72314" cy="72314"/>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58" idx="4"/>
                <a:endCxn id="59" idx="0"/>
              </p:cNvCxnSpPr>
              <p:nvPr/>
            </p:nvCxnSpPr>
            <p:spPr>
              <a:xfrm>
                <a:off x="4632653" y="4122654"/>
                <a:ext cx="19944" cy="15240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57" idx="3"/>
                <a:endCxn id="60" idx="7"/>
              </p:cNvCxnSpPr>
              <p:nvPr/>
            </p:nvCxnSpPr>
            <p:spPr>
              <a:xfrm flipH="1">
                <a:off x="4335990" y="3934097"/>
                <a:ext cx="79900" cy="90797"/>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grpSp>
          <p:nvGrpSpPr>
            <p:cNvPr id="12" name="Group 33"/>
            <p:cNvGrpSpPr/>
            <p:nvPr/>
          </p:nvGrpSpPr>
          <p:grpSpPr>
            <a:xfrm>
              <a:off x="1707475" y="3866416"/>
              <a:ext cx="509080" cy="477144"/>
              <a:chOff x="1822313" y="1591445"/>
              <a:chExt cx="509080" cy="477144"/>
            </a:xfrm>
          </p:grpSpPr>
          <p:sp>
            <p:nvSpPr>
              <p:cNvPr id="50" name="Oval 49"/>
              <p:cNvSpPr/>
              <p:nvPr/>
            </p:nvSpPr>
            <p:spPr>
              <a:xfrm>
                <a:off x="1822313" y="1591445"/>
                <a:ext cx="136187" cy="136187"/>
              </a:xfrm>
              <a:prstGeom prst="ellipse">
                <a:avLst/>
              </a:prstGeom>
              <a:solidFill>
                <a:schemeClr val="bg2"/>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1" name="Oval 50"/>
              <p:cNvSpPr/>
              <p:nvPr/>
            </p:nvSpPr>
            <p:spPr>
              <a:xfrm>
                <a:off x="1990926" y="1760058"/>
                <a:ext cx="136187" cy="136187"/>
              </a:xfrm>
              <a:prstGeom prst="ellipse">
                <a:avLst/>
              </a:pr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2" name="Oval 51"/>
              <p:cNvSpPr/>
              <p:nvPr/>
            </p:nvSpPr>
            <p:spPr>
              <a:xfrm>
                <a:off x="2195206" y="1932402"/>
                <a:ext cx="136187" cy="136187"/>
              </a:xfrm>
              <a:prstGeom prst="ellipse">
                <a:avLst/>
              </a:pr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3" name="Oval 52"/>
              <p:cNvSpPr/>
              <p:nvPr/>
            </p:nvSpPr>
            <p:spPr>
              <a:xfrm>
                <a:off x="1822313" y="1932402"/>
                <a:ext cx="136187" cy="136187"/>
              </a:xfrm>
              <a:prstGeom prst="ellipse">
                <a:avLst/>
              </a:pr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54" name="Straight Connector 53"/>
              <p:cNvCxnSpPr>
                <a:stCxn id="50" idx="5"/>
                <a:endCxn id="51" idx="1"/>
              </p:cNvCxnSpPr>
              <p:nvPr/>
            </p:nvCxnSpPr>
            <p:spPr>
              <a:xfrm>
                <a:off x="1938556" y="1707688"/>
                <a:ext cx="72314" cy="72314"/>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51" idx="5"/>
                <a:endCxn id="52" idx="1"/>
              </p:cNvCxnSpPr>
              <p:nvPr/>
            </p:nvCxnSpPr>
            <p:spPr>
              <a:xfrm>
                <a:off x="2107169" y="1876301"/>
                <a:ext cx="107981" cy="76045"/>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1" idx="3"/>
                <a:endCxn id="53" idx="7"/>
              </p:cNvCxnSpPr>
              <p:nvPr/>
            </p:nvCxnSpPr>
            <p:spPr>
              <a:xfrm flipH="1">
                <a:off x="1938556" y="1876301"/>
                <a:ext cx="72314" cy="76045"/>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sp>
          <p:nvSpPr>
            <p:cNvPr id="47" name="TextBox 46"/>
            <p:cNvSpPr txBox="1"/>
            <p:nvPr/>
          </p:nvSpPr>
          <p:spPr>
            <a:xfrm>
              <a:off x="1680479" y="4474624"/>
              <a:ext cx="864857" cy="216372"/>
            </a:xfrm>
            <a:prstGeom prst="rect">
              <a:avLst/>
            </a:prstGeom>
            <a:noFill/>
          </p:spPr>
          <p:txBody>
            <a:bodyPr wrap="square" rtlCol="0">
              <a:spAutoFit/>
            </a:bodyPr>
            <a:lstStyle/>
            <a:p>
              <a:r>
                <a:rPr lang="en-AU" sz="1200" dirty="0" smtClean="0"/>
                <a:t>wq.ttl</a:t>
              </a:r>
            </a:p>
          </p:txBody>
        </p:sp>
        <p:sp>
          <p:nvSpPr>
            <p:cNvPr id="48" name="Oval 47"/>
            <p:cNvSpPr/>
            <p:nvPr/>
          </p:nvSpPr>
          <p:spPr>
            <a:xfrm>
              <a:off x="1878047" y="3715123"/>
              <a:ext cx="136187" cy="136187"/>
            </a:xfrm>
            <a:prstGeom prst="ellipse">
              <a:avLst/>
            </a:prstGeom>
            <a:solidFill>
              <a:srgbClr val="FF0000"/>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49" name="Straight Connector 48"/>
            <p:cNvCxnSpPr>
              <a:stCxn id="48" idx="3"/>
              <a:endCxn id="50" idx="7"/>
            </p:cNvCxnSpPr>
            <p:nvPr/>
          </p:nvCxnSpPr>
          <p:spPr>
            <a:xfrm flipH="1">
              <a:off x="1823718" y="3831366"/>
              <a:ext cx="74273" cy="54994"/>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cxnSp>
        <p:nvCxnSpPr>
          <p:cNvPr id="71" name="Straight Arrow Connector 70"/>
          <p:cNvCxnSpPr>
            <a:stCxn id="11" idx="4"/>
            <a:endCxn id="43" idx="0"/>
          </p:cNvCxnSpPr>
          <p:nvPr/>
        </p:nvCxnSpPr>
        <p:spPr>
          <a:xfrm>
            <a:off x="1249350" y="2744837"/>
            <a:ext cx="24018" cy="1934090"/>
          </a:xfrm>
          <a:prstGeom prst="straightConnector1">
            <a:avLst/>
          </a:prstGeom>
          <a:ln w="25400">
            <a:solidFill>
              <a:schemeClr val="tx1"/>
            </a:solidFill>
            <a:tailEnd type="arrow" w="lg" len="lg"/>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68242" y="3480657"/>
            <a:ext cx="688009" cy="461665"/>
          </a:xfrm>
          <a:prstGeom prst="rect">
            <a:avLst/>
          </a:prstGeom>
          <a:noFill/>
        </p:spPr>
        <p:txBody>
          <a:bodyPr wrap="none" rtlCol="0">
            <a:spAutoFit/>
          </a:bodyPr>
          <a:lstStyle/>
          <a:p>
            <a:r>
              <a:rPr lang="en-AU" sz="1200" dirty="0" smtClean="0"/>
              <a:t>imports</a:t>
            </a:r>
          </a:p>
          <a:p>
            <a:r>
              <a:rPr lang="en-AU" sz="1200" dirty="0" smtClean="0"/>
              <a:t>into</a:t>
            </a:r>
          </a:p>
        </p:txBody>
      </p:sp>
      <p:grpSp>
        <p:nvGrpSpPr>
          <p:cNvPr id="20" name="Group 223"/>
          <p:cNvGrpSpPr/>
          <p:nvPr/>
        </p:nvGrpSpPr>
        <p:grpSpPr>
          <a:xfrm>
            <a:off x="5471022" y="2490943"/>
            <a:ext cx="1223381" cy="1220427"/>
            <a:chOff x="5612037" y="3185568"/>
            <a:chExt cx="1021582" cy="953311"/>
          </a:xfrm>
        </p:grpSpPr>
        <p:grpSp>
          <p:nvGrpSpPr>
            <p:cNvPr id="21" name="Group 222"/>
            <p:cNvGrpSpPr/>
            <p:nvPr/>
          </p:nvGrpSpPr>
          <p:grpSpPr>
            <a:xfrm>
              <a:off x="5612037" y="3185568"/>
              <a:ext cx="1011678" cy="953311"/>
              <a:chOff x="5408994" y="2302299"/>
              <a:chExt cx="1011678" cy="953311"/>
            </a:xfrm>
          </p:grpSpPr>
          <p:sp>
            <p:nvSpPr>
              <p:cNvPr id="78" name="Oval 77"/>
              <p:cNvSpPr/>
              <p:nvPr/>
            </p:nvSpPr>
            <p:spPr>
              <a:xfrm>
                <a:off x="5408994" y="2302299"/>
                <a:ext cx="1011678" cy="953311"/>
              </a:xfrm>
              <a:prstGeom prst="ellipse">
                <a:avLst/>
              </a:prstGeom>
              <a:solidFill>
                <a:schemeClr val="bg1">
                  <a:lumMod val="90000"/>
                </a:schemeClr>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nvGrpSpPr>
              <p:cNvPr id="22" name="Group 86"/>
              <p:cNvGrpSpPr/>
              <p:nvPr/>
            </p:nvGrpSpPr>
            <p:grpSpPr>
              <a:xfrm>
                <a:off x="5607095" y="2346258"/>
                <a:ext cx="500943" cy="593387"/>
                <a:chOff x="4383774" y="3071384"/>
                <a:chExt cx="500943" cy="593387"/>
              </a:xfrm>
            </p:grpSpPr>
            <p:sp>
              <p:nvSpPr>
                <p:cNvPr id="80" name="Oval 79"/>
                <p:cNvSpPr/>
                <p:nvPr/>
              </p:nvSpPr>
              <p:spPr>
                <a:xfrm>
                  <a:off x="4559973" y="3071384"/>
                  <a:ext cx="136187" cy="136187"/>
                </a:xfrm>
                <a:prstGeom prst="ellipse">
                  <a:avLst/>
                </a:prstGeom>
                <a:solidFill>
                  <a:srgbClr val="2A754A"/>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1" name="Oval 80"/>
                <p:cNvSpPr/>
                <p:nvPr/>
              </p:nvSpPr>
              <p:spPr>
                <a:xfrm>
                  <a:off x="4728586" y="3239997"/>
                  <a:ext cx="136187" cy="136187"/>
                </a:xfrm>
                <a:prstGeom prst="ellipse">
                  <a:avLst/>
                </a:prstGeom>
                <a:solidFill>
                  <a:srgbClr val="2A754A"/>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2" name="Oval 81"/>
                <p:cNvSpPr/>
                <p:nvPr/>
              </p:nvSpPr>
              <p:spPr>
                <a:xfrm>
                  <a:off x="4748530" y="3528584"/>
                  <a:ext cx="136187" cy="136187"/>
                </a:xfrm>
                <a:prstGeom prst="ellipse">
                  <a:avLst/>
                </a:prstGeom>
                <a:solidFill>
                  <a:srgbClr val="2A754A"/>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3" name="Oval 82"/>
                <p:cNvSpPr/>
                <p:nvPr/>
              </p:nvSpPr>
              <p:spPr>
                <a:xfrm>
                  <a:off x="4383774" y="3258480"/>
                  <a:ext cx="136187" cy="136187"/>
                </a:xfrm>
                <a:prstGeom prst="ellipse">
                  <a:avLst/>
                </a:prstGeom>
                <a:solidFill>
                  <a:srgbClr val="2A754A"/>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84" name="Straight Connector 83"/>
                <p:cNvCxnSpPr>
                  <a:stCxn id="80" idx="5"/>
                  <a:endCxn id="81" idx="1"/>
                </p:cNvCxnSpPr>
                <p:nvPr/>
              </p:nvCxnSpPr>
              <p:spPr>
                <a:xfrm>
                  <a:off x="4676216" y="3187627"/>
                  <a:ext cx="72314" cy="72314"/>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85" name="Straight Connector 84"/>
                <p:cNvCxnSpPr>
                  <a:stCxn id="81" idx="4"/>
                  <a:endCxn id="82" idx="0"/>
                </p:cNvCxnSpPr>
                <p:nvPr/>
              </p:nvCxnSpPr>
              <p:spPr>
                <a:xfrm>
                  <a:off x="4796680" y="3376184"/>
                  <a:ext cx="19944" cy="152400"/>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80" idx="3"/>
                  <a:endCxn id="83" idx="7"/>
                </p:cNvCxnSpPr>
                <p:nvPr/>
              </p:nvCxnSpPr>
              <p:spPr>
                <a:xfrm flipH="1">
                  <a:off x="4500017" y="3187627"/>
                  <a:ext cx="79900" cy="90797"/>
                </a:xfrm>
                <a:prstGeom prst="line">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grpSp>
        <p:sp>
          <p:nvSpPr>
            <p:cNvPr id="77" name="TextBox 76"/>
            <p:cNvSpPr txBox="1"/>
            <p:nvPr/>
          </p:nvSpPr>
          <p:spPr>
            <a:xfrm>
              <a:off x="5636722" y="3783898"/>
              <a:ext cx="996897" cy="215444"/>
            </a:xfrm>
            <a:prstGeom prst="rect">
              <a:avLst/>
            </a:prstGeom>
            <a:noFill/>
          </p:spPr>
          <p:txBody>
            <a:bodyPr wrap="square" rtlCol="0">
              <a:spAutoFit/>
            </a:bodyPr>
            <a:lstStyle/>
            <a:p>
              <a:r>
                <a:rPr lang="en-AU" sz="1200" dirty="0" smtClean="0"/>
                <a:t>chebi_skos.ttl</a:t>
              </a:r>
            </a:p>
          </p:txBody>
        </p:sp>
      </p:grpSp>
      <p:cxnSp>
        <p:nvCxnSpPr>
          <p:cNvPr id="87" name="Straight Arrow Connector 86"/>
          <p:cNvCxnSpPr>
            <a:stCxn id="34" idx="1"/>
            <a:endCxn id="78" idx="7"/>
          </p:cNvCxnSpPr>
          <p:nvPr/>
        </p:nvCxnSpPr>
        <p:spPr>
          <a:xfrm flipH="1">
            <a:off x="6505120" y="1660925"/>
            <a:ext cx="824259" cy="1008745"/>
          </a:xfrm>
          <a:prstGeom prst="straightConnector1">
            <a:avLst/>
          </a:prstGeom>
          <a:ln w="25400">
            <a:solidFill>
              <a:schemeClr val="tx1"/>
            </a:solidFill>
            <a:prstDash val="dash"/>
            <a:tailEnd type="arrow" w="lg" len="lg"/>
          </a:ln>
          <a:effectLst/>
        </p:spPr>
        <p:style>
          <a:lnRef idx="2">
            <a:schemeClr val="accent1"/>
          </a:lnRef>
          <a:fillRef idx="0">
            <a:schemeClr val="accent1"/>
          </a:fillRef>
          <a:effectRef idx="1">
            <a:schemeClr val="accent1"/>
          </a:effectRef>
          <a:fontRef idx="minor">
            <a:schemeClr val="tx1"/>
          </a:fontRef>
        </p:style>
      </p:cxnSp>
      <p:grpSp>
        <p:nvGrpSpPr>
          <p:cNvPr id="23" name="Group 246"/>
          <p:cNvGrpSpPr/>
          <p:nvPr/>
        </p:nvGrpSpPr>
        <p:grpSpPr>
          <a:xfrm>
            <a:off x="3681219" y="3738115"/>
            <a:ext cx="1232852" cy="1220427"/>
            <a:chOff x="3500469" y="2629846"/>
            <a:chExt cx="1029491" cy="953311"/>
          </a:xfrm>
        </p:grpSpPr>
        <p:sp>
          <p:nvSpPr>
            <p:cNvPr id="99" name="Oval 98"/>
            <p:cNvSpPr/>
            <p:nvPr/>
          </p:nvSpPr>
          <p:spPr>
            <a:xfrm>
              <a:off x="3500469" y="2629846"/>
              <a:ext cx="1011677" cy="953311"/>
            </a:xfrm>
            <a:prstGeom prst="ellipse">
              <a:avLst/>
            </a:prstGeom>
            <a:solidFill>
              <a:schemeClr val="bg1">
                <a:lumMod val="90000"/>
              </a:schemeClr>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00" name="Oval 99"/>
            <p:cNvSpPr/>
            <p:nvPr/>
          </p:nvSpPr>
          <p:spPr>
            <a:xfrm>
              <a:off x="3794636" y="2803974"/>
              <a:ext cx="136187" cy="136187"/>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01" name="Oval 100"/>
            <p:cNvSpPr/>
            <p:nvPr/>
          </p:nvSpPr>
          <p:spPr>
            <a:xfrm>
              <a:off x="4095771" y="2806128"/>
              <a:ext cx="136187" cy="136187"/>
            </a:xfrm>
            <a:prstGeom prst="ellipse">
              <a:avLst/>
            </a:prstGeom>
            <a:solidFill>
              <a:srgbClr val="2A754A"/>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02" name="Straight Connector 101"/>
            <p:cNvCxnSpPr>
              <a:stCxn id="101" idx="2"/>
              <a:endCxn id="100" idx="6"/>
            </p:cNvCxnSpPr>
            <p:nvPr/>
          </p:nvCxnSpPr>
          <p:spPr>
            <a:xfrm flipH="1" flipV="1">
              <a:off x="3930823" y="2872068"/>
              <a:ext cx="164948" cy="2154"/>
            </a:xfrm>
            <a:prstGeom prst="line">
              <a:avLst/>
            </a:prstGeom>
            <a:ln w="12700">
              <a:solidFill>
                <a:schemeClr val="tx1"/>
              </a:solidFill>
              <a:prstDash val="sysDot"/>
              <a:tailEnd type="none"/>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3597518" y="3090497"/>
              <a:ext cx="932442" cy="360620"/>
            </a:xfrm>
            <a:prstGeom prst="rect">
              <a:avLst/>
            </a:prstGeom>
            <a:noFill/>
          </p:spPr>
          <p:txBody>
            <a:bodyPr wrap="square" rtlCol="0">
              <a:spAutoFit/>
            </a:bodyPr>
            <a:lstStyle/>
            <a:p>
              <a:r>
                <a:rPr lang="en-AU" sz="1200" dirty="0" smtClean="0"/>
                <a:t>object-</a:t>
              </a:r>
              <a:r>
                <a:rPr lang="en-AU" sz="1200" dirty="0" err="1" smtClean="0"/>
                <a:t>chebi</a:t>
              </a:r>
              <a:endParaRPr lang="en-AU" sz="1200" dirty="0" smtClean="0"/>
            </a:p>
            <a:p>
              <a:r>
                <a:rPr lang="en-AU" sz="1200" dirty="0" smtClean="0"/>
                <a:t>-mapping.ttl</a:t>
              </a:r>
            </a:p>
          </p:txBody>
        </p:sp>
      </p:grpSp>
      <p:cxnSp>
        <p:nvCxnSpPr>
          <p:cNvPr id="110" name="Straight Arrow Connector 109"/>
          <p:cNvCxnSpPr>
            <a:stCxn id="99" idx="2"/>
            <a:endCxn id="43" idx="7"/>
          </p:cNvCxnSpPr>
          <p:nvPr/>
        </p:nvCxnSpPr>
        <p:spPr>
          <a:xfrm flipH="1">
            <a:off x="1773730" y="4348329"/>
            <a:ext cx="1907488" cy="537728"/>
          </a:xfrm>
          <a:prstGeom prst="straightConnector1">
            <a:avLst/>
          </a:prstGeom>
          <a:ln w="25400">
            <a:solidFill>
              <a:schemeClr val="tx1"/>
            </a:solidFill>
            <a:tailEnd type="arrow" w="lg" len="lg"/>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510308" y="4677370"/>
            <a:ext cx="731289" cy="461665"/>
          </a:xfrm>
          <a:prstGeom prst="rect">
            <a:avLst/>
          </a:prstGeom>
          <a:noFill/>
        </p:spPr>
        <p:txBody>
          <a:bodyPr wrap="none" rtlCol="0">
            <a:spAutoFit/>
          </a:bodyPr>
          <a:lstStyle/>
          <a:p>
            <a:r>
              <a:rPr lang="en-AU" sz="1200" dirty="0" smtClean="0"/>
              <a:t>imports </a:t>
            </a:r>
          </a:p>
          <a:p>
            <a:r>
              <a:rPr lang="en-AU" sz="1200" dirty="0" smtClean="0"/>
              <a:t>into</a:t>
            </a:r>
          </a:p>
        </p:txBody>
      </p:sp>
      <p:cxnSp>
        <p:nvCxnSpPr>
          <p:cNvPr id="112" name="Straight Arrow Connector 111"/>
          <p:cNvCxnSpPr>
            <a:stCxn id="78" idx="3"/>
            <a:endCxn id="99" idx="7"/>
          </p:cNvCxnSpPr>
          <p:nvPr/>
        </p:nvCxnSpPr>
        <p:spPr>
          <a:xfrm flipH="1">
            <a:off x="4715315" y="3532643"/>
            <a:ext cx="933130" cy="384199"/>
          </a:xfrm>
          <a:prstGeom prst="straightConnector1">
            <a:avLst/>
          </a:prstGeom>
          <a:ln w="25400">
            <a:solidFill>
              <a:schemeClr val="tx1"/>
            </a:solidFill>
            <a:tailEnd type="arrow" w="lg" len="lg"/>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03924" y="3795338"/>
            <a:ext cx="731289" cy="461665"/>
          </a:xfrm>
          <a:prstGeom prst="rect">
            <a:avLst/>
          </a:prstGeom>
          <a:noFill/>
        </p:spPr>
        <p:txBody>
          <a:bodyPr wrap="none" rtlCol="0">
            <a:spAutoFit/>
          </a:bodyPr>
          <a:lstStyle/>
          <a:p>
            <a:r>
              <a:rPr lang="en-AU" sz="1200" dirty="0" smtClean="0"/>
              <a:t>imports </a:t>
            </a:r>
          </a:p>
          <a:p>
            <a:r>
              <a:rPr lang="en-AU" sz="1200" dirty="0" smtClean="0"/>
              <a:t>into</a:t>
            </a:r>
          </a:p>
        </p:txBody>
      </p:sp>
      <p:sp>
        <p:nvSpPr>
          <p:cNvPr id="114" name="TextBox 113"/>
          <p:cNvSpPr txBox="1"/>
          <p:nvPr/>
        </p:nvSpPr>
        <p:spPr>
          <a:xfrm>
            <a:off x="3808191" y="5047693"/>
            <a:ext cx="1329211" cy="646331"/>
          </a:xfrm>
          <a:prstGeom prst="rect">
            <a:avLst/>
          </a:prstGeom>
          <a:noFill/>
        </p:spPr>
        <p:txBody>
          <a:bodyPr wrap="none" rtlCol="0">
            <a:spAutoFit/>
          </a:bodyPr>
          <a:lstStyle/>
          <a:p>
            <a:r>
              <a:rPr lang="en-AU" sz="1200" dirty="0" smtClean="0"/>
              <a:t>manually create </a:t>
            </a:r>
          </a:p>
          <a:p>
            <a:r>
              <a:rPr lang="en-AU" sz="1200" dirty="0" err="1" smtClean="0"/>
              <a:t>skos:exactMatch</a:t>
            </a:r>
            <a:endParaRPr lang="en-AU" sz="1200" dirty="0" smtClean="0"/>
          </a:p>
          <a:p>
            <a:r>
              <a:rPr lang="en-AU" sz="1200" dirty="0" smtClean="0"/>
              <a:t>statements</a:t>
            </a:r>
          </a:p>
        </p:txBody>
      </p:sp>
      <p:sp>
        <p:nvSpPr>
          <p:cNvPr id="115" name="TextBox 114"/>
          <p:cNvSpPr txBox="1"/>
          <p:nvPr/>
        </p:nvSpPr>
        <p:spPr>
          <a:xfrm>
            <a:off x="6878144" y="2143408"/>
            <a:ext cx="2199641" cy="830997"/>
          </a:xfrm>
          <a:prstGeom prst="rect">
            <a:avLst/>
          </a:prstGeom>
          <a:noFill/>
        </p:spPr>
        <p:txBody>
          <a:bodyPr wrap="none" rtlCol="0">
            <a:spAutoFit/>
          </a:bodyPr>
          <a:lstStyle/>
          <a:p>
            <a:r>
              <a:rPr lang="en-AU" sz="1200" dirty="0" smtClean="0"/>
              <a:t>transform subset of </a:t>
            </a:r>
            <a:r>
              <a:rPr lang="en-AU" sz="1200" dirty="0" err="1" smtClean="0"/>
              <a:t>owl:Class</a:t>
            </a:r>
            <a:endParaRPr lang="en-AU" sz="1200" dirty="0" smtClean="0"/>
          </a:p>
          <a:p>
            <a:r>
              <a:rPr lang="en-AU" sz="1200" dirty="0" smtClean="0"/>
              <a:t>to </a:t>
            </a:r>
            <a:r>
              <a:rPr lang="en-AU" sz="1200" dirty="0" err="1" smtClean="0"/>
              <a:t>skos:Concept</a:t>
            </a:r>
            <a:r>
              <a:rPr lang="en-AU" sz="1200" dirty="0" smtClean="0"/>
              <a:t/>
            </a:r>
            <a:br>
              <a:rPr lang="en-AU" sz="1200" dirty="0" smtClean="0"/>
            </a:br>
            <a:endParaRPr lang="en-AU" sz="1200" dirty="0" smtClean="0"/>
          </a:p>
          <a:p>
            <a:r>
              <a:rPr lang="en-AU" sz="1200" dirty="0" smtClean="0"/>
              <a:t>add </a:t>
            </a:r>
            <a:r>
              <a:rPr lang="en-AU" sz="1200" dirty="0" err="1" smtClean="0"/>
              <a:t>prov:hadPrimarySource</a:t>
            </a:r>
            <a:endParaRPr lang="en-AU" sz="1200" dirty="0" smtClean="0"/>
          </a:p>
        </p:txBody>
      </p:sp>
      <p:cxnSp>
        <p:nvCxnSpPr>
          <p:cNvPr id="120" name="Straight Connector 119"/>
          <p:cNvCxnSpPr>
            <a:stCxn id="11" idx="5"/>
            <a:endCxn id="99" idx="1"/>
          </p:cNvCxnSpPr>
          <p:nvPr/>
        </p:nvCxnSpPr>
        <p:spPr>
          <a:xfrm>
            <a:off x="1677686" y="2566110"/>
            <a:ext cx="2180956" cy="1350732"/>
          </a:xfrm>
          <a:prstGeom prst="line">
            <a:avLst/>
          </a:prstGeom>
          <a:ln w="25400">
            <a:solidFill>
              <a:schemeClr val="tx1"/>
            </a:solidFill>
            <a:prstDash val="sysDot"/>
            <a:tailEnd type="arrow" w="lg" len="lg"/>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2413411" y="2598418"/>
            <a:ext cx="1490087" cy="461665"/>
          </a:xfrm>
          <a:prstGeom prst="rect">
            <a:avLst/>
          </a:prstGeom>
          <a:noFill/>
          <a:ln>
            <a:noFill/>
          </a:ln>
        </p:spPr>
        <p:txBody>
          <a:bodyPr wrap="none" rtlCol="0">
            <a:spAutoFit/>
          </a:bodyPr>
          <a:lstStyle/>
          <a:p>
            <a:r>
              <a:rPr lang="en-AU" sz="1200" dirty="0" smtClean="0"/>
              <a:t>Subset of </a:t>
            </a:r>
          </a:p>
          <a:p>
            <a:r>
              <a:rPr lang="en-AU" sz="1200" dirty="0" err="1" smtClean="0"/>
              <a:t>SubstanceOrTaxon</a:t>
            </a:r>
            <a:endParaRPr lang="en-AU" sz="1200" dirty="0" smtClean="0"/>
          </a:p>
        </p:txBody>
      </p:sp>
      <p:sp>
        <p:nvSpPr>
          <p:cNvPr id="122" name="Text Placeholder 1"/>
          <p:cNvSpPr>
            <a:spLocks noGrp="1"/>
          </p:cNvSpPr>
          <p:nvPr>
            <p:ph type="body" sz="quarter" idx="13"/>
          </p:nvPr>
        </p:nvSpPr>
        <p:spPr>
          <a:xfrm>
            <a:off x="283169" y="270000"/>
            <a:ext cx="8460000" cy="900000"/>
          </a:xfrm>
        </p:spPr>
        <p:txBody>
          <a:bodyPr/>
          <a:lstStyle/>
          <a:p>
            <a:r>
              <a:rPr lang="en-AU" dirty="0" smtClean="0"/>
              <a:t>Mapping chemical substances to ChEBI</a:t>
            </a:r>
            <a:endParaRPr lang="en-AU" dirty="0"/>
          </a:p>
        </p:txBody>
      </p:sp>
      <p:grpSp>
        <p:nvGrpSpPr>
          <p:cNvPr id="24" name="Group 94"/>
          <p:cNvGrpSpPr/>
          <p:nvPr/>
        </p:nvGrpSpPr>
        <p:grpSpPr>
          <a:xfrm>
            <a:off x="3408176" y="617521"/>
            <a:ext cx="3746083" cy="3120595"/>
            <a:chOff x="3408176" y="617521"/>
            <a:chExt cx="3746083" cy="3120595"/>
          </a:xfrm>
        </p:grpSpPr>
        <p:cxnSp>
          <p:nvCxnSpPr>
            <p:cNvPr id="91" name="Elbow Connector 90"/>
            <p:cNvCxnSpPr>
              <a:stCxn id="99" idx="0"/>
              <a:endCxn id="33" idx="2"/>
            </p:cNvCxnSpPr>
            <p:nvPr/>
          </p:nvCxnSpPr>
          <p:spPr>
            <a:xfrm rot="5400000" flipH="1" flipV="1">
              <a:off x="4485886" y="1069742"/>
              <a:ext cx="2469466" cy="2867281"/>
            </a:xfrm>
            <a:prstGeom prst="bentConnector2">
              <a:avLst/>
            </a:prstGeom>
            <a:ln w="25400">
              <a:solidFill>
                <a:schemeClr val="accent1"/>
              </a:solidFill>
              <a:prstDash val="dash"/>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4494981" y="1399989"/>
              <a:ext cx="1329211" cy="646331"/>
            </a:xfrm>
            <a:prstGeom prst="rect">
              <a:avLst/>
            </a:prstGeom>
            <a:noFill/>
          </p:spPr>
          <p:txBody>
            <a:bodyPr wrap="none" rtlCol="0">
              <a:spAutoFit/>
            </a:bodyPr>
            <a:lstStyle/>
            <a:p>
              <a:r>
                <a:rPr lang="en-AU" sz="1200" dirty="0" smtClean="0">
                  <a:solidFill>
                    <a:schemeClr val="accent1"/>
                  </a:solidFill>
                </a:rPr>
                <a:t>manually create </a:t>
              </a:r>
            </a:p>
            <a:p>
              <a:r>
                <a:rPr lang="en-AU" sz="1200" dirty="0" err="1" smtClean="0">
                  <a:solidFill>
                    <a:schemeClr val="accent1"/>
                  </a:solidFill>
                </a:rPr>
                <a:t>skos:exactMatch</a:t>
              </a:r>
              <a:endParaRPr lang="en-AU" sz="1200" dirty="0" smtClean="0">
                <a:solidFill>
                  <a:schemeClr val="accent1"/>
                </a:solidFill>
              </a:endParaRPr>
            </a:p>
            <a:p>
              <a:r>
                <a:rPr lang="en-AU" sz="1200" dirty="0" smtClean="0">
                  <a:solidFill>
                    <a:schemeClr val="accent1"/>
                  </a:solidFill>
                </a:rPr>
                <a:t>statements</a:t>
              </a:r>
            </a:p>
          </p:txBody>
        </p:sp>
        <p:sp>
          <p:nvSpPr>
            <p:cNvPr id="94" name="TextBox 93"/>
            <p:cNvSpPr txBox="1"/>
            <p:nvPr/>
          </p:nvSpPr>
          <p:spPr>
            <a:xfrm>
              <a:off x="3408176" y="617521"/>
              <a:ext cx="3479484" cy="646331"/>
            </a:xfrm>
            <a:prstGeom prst="rect">
              <a:avLst/>
            </a:prstGeom>
            <a:noFill/>
          </p:spPr>
          <p:txBody>
            <a:bodyPr wrap="square" rtlCol="0">
              <a:spAutoFit/>
            </a:bodyPr>
            <a:lstStyle/>
            <a:p>
              <a:r>
                <a:rPr lang="en-AU" dirty="0" smtClean="0">
                  <a:solidFill>
                    <a:schemeClr val="accent1"/>
                  </a:solidFill>
                </a:rPr>
                <a:t>Alternative approach to map </a:t>
              </a:r>
              <a:r>
                <a:rPr lang="en-AU" dirty="0" err="1" smtClean="0">
                  <a:solidFill>
                    <a:schemeClr val="accent1"/>
                  </a:solidFill>
                </a:rPr>
                <a:t>skos</a:t>
              </a:r>
              <a:r>
                <a:rPr lang="en-AU" dirty="0" smtClean="0">
                  <a:solidFill>
                    <a:schemeClr val="accent1"/>
                  </a:solidFill>
                </a:rPr>
                <a:t> concepts to ChEBI classes</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SIRO_PowerPoint_Forest_120223">
  <a:themeElements>
    <a:clrScheme name="CSIRO Theme 1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fonts">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1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1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1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SIRO Theme 2">
  <a:themeElements>
    <a:clrScheme name="CSIRO Theme 2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2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2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2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SIRO Theme 3">
  <a:themeElements>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3">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3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3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SIRO Theme 4">
  <a:themeElements>
    <a:clrScheme name="CSIRO Theme 4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4">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4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4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4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CSIRO Theme 3">
  <a:themeElements>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3">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3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3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PDE2013 NASA QUDT Handbook - v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SIRO Theme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themeOverride>
</file>

<file path=docProps/app.xml><?xml version="1.0" encoding="utf-8"?>
<Properties xmlns="http://schemas.openxmlformats.org/officeDocument/2006/extended-properties" xmlns:vt="http://schemas.openxmlformats.org/officeDocument/2006/docPropsVTypes">
  <Template>CSIRO_PowerPoint_Forest_120223</Template>
  <TotalTime>16047</TotalTime>
  <Words>1868</Words>
  <Application>Microsoft Office PowerPoint</Application>
  <PresentationFormat>On-screen Show (4:3)</PresentationFormat>
  <Paragraphs>339</Paragraphs>
  <Slides>18</Slides>
  <Notes>9</Notes>
  <HiddenSlides>3</HiddenSlides>
  <MMClips>0</MMClips>
  <ScaleCrop>false</ScaleCrop>
  <HeadingPairs>
    <vt:vector size="4" baseType="variant">
      <vt:variant>
        <vt:lpstr>Theme</vt:lpstr>
      </vt:variant>
      <vt:variant>
        <vt:i4>6</vt:i4>
      </vt:variant>
      <vt:variant>
        <vt:lpstr>Slide Titles</vt:lpstr>
      </vt:variant>
      <vt:variant>
        <vt:i4>18</vt:i4>
      </vt:variant>
    </vt:vector>
  </HeadingPairs>
  <TitlesOfParts>
    <vt:vector size="24" baseType="lpstr">
      <vt:lpstr>CSIRO_PowerPoint_Forest_120223</vt:lpstr>
      <vt:lpstr>CSIRO Theme 2</vt:lpstr>
      <vt:lpstr>CSIRO Theme 3</vt:lpstr>
      <vt:lpstr>CSIRO Theme 4</vt:lpstr>
      <vt:lpstr>1_CSIRO Theme 3</vt:lpstr>
      <vt:lpstr>PDE2013 NASA QUDT Handbook - v3</vt:lpstr>
      <vt:lpstr>Observable properties ontology  – alignment and usability</vt:lpstr>
      <vt:lpstr>Slide 2</vt:lpstr>
      <vt:lpstr>Are these the same?</vt:lpstr>
      <vt:lpstr>‘Parameters’ in an environmental science vocabulary (NVS)</vt:lpstr>
      <vt:lpstr>O&amp;M</vt:lpstr>
      <vt:lpstr>Requirements</vt:lpstr>
      <vt:lpstr>We are not alone!</vt:lpstr>
      <vt:lpstr>Conceptual Model of QUDT</vt:lpstr>
      <vt:lpstr>Standard ontology of chemicals</vt:lpstr>
      <vt:lpstr>Slide 10</vt:lpstr>
      <vt:lpstr>Slide 11</vt:lpstr>
      <vt:lpstr>Mix-n-match parameter definitions</vt:lpstr>
      <vt:lpstr>Slide 13</vt:lpstr>
      <vt:lpstr>Slide 14</vt:lpstr>
      <vt:lpstr>Slide 15</vt:lpstr>
      <vt:lpstr>Summary</vt:lpstr>
      <vt:lpstr>Slide 17</vt:lpstr>
      <vt:lpstr>Slide 18</vt:lpstr>
    </vt:vector>
  </TitlesOfParts>
  <Company>CSIRO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Linking to controlled vocabularies</dc:title>
  <dc:creator>Cox, Simon (CESRE, Kensington)</dc:creator>
  <cp:lastModifiedBy>Cox, Simon (L&amp;W, Highett)</cp:lastModifiedBy>
  <cp:revision>545</cp:revision>
  <dcterms:created xsi:type="dcterms:W3CDTF">2013-01-30T02:45:05Z</dcterms:created>
  <dcterms:modified xsi:type="dcterms:W3CDTF">2014-08-11T21:19:29Z</dcterms:modified>
</cp:coreProperties>
</file>