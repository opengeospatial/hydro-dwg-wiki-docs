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93" r:id="rId3"/>
    <p:sldId id="315" r:id="rId4"/>
    <p:sldId id="314" r:id="rId5"/>
    <p:sldId id="312" r:id="rId6"/>
    <p:sldId id="311" r:id="rId7"/>
    <p:sldId id="317" r:id="rId8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71"/>
    <a:srgbClr val="89B4E0"/>
    <a:srgbClr val="0075BF"/>
    <a:srgbClr val="A3CA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23" autoAdjust="0"/>
    <p:restoredTop sz="67466" autoAdjust="0"/>
  </p:normalViewPr>
  <p:slideViewPr>
    <p:cSldViewPr showGuides="1">
      <p:cViewPr varScale="1">
        <p:scale>
          <a:sx n="59" d="100"/>
          <a:sy n="59" d="100"/>
        </p:scale>
        <p:origin x="-2486" y="-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53" d="100"/>
          <a:sy n="53" d="100"/>
        </p:scale>
        <p:origin x="-2640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BC4725-0FC2-470F-A5EE-EE49B11C41C1}" type="doc">
      <dgm:prSet loTypeId="urn:microsoft.com/office/officeart/2005/8/layout/radial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8217DEE8-280C-4209-B3CD-A117303E954F}">
      <dgm:prSet phldrT="[Text]"/>
      <dgm:spPr>
        <a:solidFill>
          <a:srgbClr val="0075BF"/>
        </a:solidFill>
        <a:ln>
          <a:solidFill>
            <a:srgbClr val="004371"/>
          </a:solidFill>
        </a:ln>
      </dgm:spPr>
      <dgm:t>
        <a:bodyPr/>
        <a:lstStyle/>
        <a:p>
          <a:r>
            <a:rPr lang="de-DE" dirty="0" smtClean="0">
              <a:latin typeface="Arial" panose="020B0604020202020204" pitchFamily="34" charset="0"/>
              <a:cs typeface="Arial" panose="020B0604020202020204" pitchFamily="34" charset="0"/>
            </a:rPr>
            <a:t>Observation</a:t>
          </a:r>
          <a:endParaRPr lang="de-D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0DCBF45-37FB-43CB-A36D-2C4DBE6A1873}" type="parTrans" cxnId="{33CA5D99-E718-47BE-AAF8-09C37FCDB8BA}">
      <dgm:prSet/>
      <dgm:spPr/>
      <dgm:t>
        <a:bodyPr/>
        <a:lstStyle/>
        <a:p>
          <a:endParaRPr lang="de-D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85D2241-1A7D-456E-B7C0-1FBB264469D0}" type="sibTrans" cxnId="{33CA5D99-E718-47BE-AAF8-09C37FCDB8BA}">
      <dgm:prSet/>
      <dgm:spPr/>
      <dgm:t>
        <a:bodyPr/>
        <a:lstStyle/>
        <a:p>
          <a:endParaRPr lang="de-D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4CF06E4-6357-4DAA-8803-3EDCC00A9BBE}">
      <dgm:prSet phldrT="[Text]"/>
      <dgm:spPr>
        <a:solidFill>
          <a:srgbClr val="0075BF"/>
        </a:solidFill>
        <a:ln>
          <a:solidFill>
            <a:srgbClr val="004371"/>
          </a:solidFill>
        </a:ln>
      </dgm:spPr>
      <dgm:t>
        <a:bodyPr/>
        <a:lstStyle/>
        <a:p>
          <a:r>
            <a:rPr lang="de-DE" dirty="0" err="1" smtClean="0">
              <a:latin typeface="+mj-lt"/>
              <a:cs typeface="Arial" panose="020B0604020202020204" pitchFamily="34" charset="0"/>
            </a:rPr>
            <a:t>Where</a:t>
          </a:r>
          <a:r>
            <a:rPr lang="de-DE" dirty="0" smtClean="0">
              <a:latin typeface="+mj-lt"/>
              <a:cs typeface="Arial" panose="020B0604020202020204" pitchFamily="34" charset="0"/>
            </a:rPr>
            <a:t>?</a:t>
          </a:r>
          <a:endParaRPr lang="de-DE" dirty="0">
            <a:latin typeface="+mj-lt"/>
            <a:cs typeface="Arial" panose="020B0604020202020204" pitchFamily="34" charset="0"/>
          </a:endParaRPr>
        </a:p>
      </dgm:t>
    </dgm:pt>
    <dgm:pt modelId="{F1299E6C-12BA-4CA2-ABA6-A957FBA5892A}" type="parTrans" cxnId="{38A4B80B-B3FA-414A-8DC1-1226FD022CED}">
      <dgm:prSet/>
      <dgm:spPr>
        <a:ln>
          <a:solidFill>
            <a:srgbClr val="004371"/>
          </a:solidFill>
        </a:ln>
      </dgm:spPr>
      <dgm:t>
        <a:bodyPr/>
        <a:lstStyle/>
        <a:p>
          <a:endParaRPr lang="de-D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DC7F2D9-A83C-44CD-94AE-E1D044DD55EC}" type="sibTrans" cxnId="{38A4B80B-B3FA-414A-8DC1-1226FD022CED}">
      <dgm:prSet/>
      <dgm:spPr/>
      <dgm:t>
        <a:bodyPr/>
        <a:lstStyle/>
        <a:p>
          <a:endParaRPr lang="de-D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77F7986-D34D-484C-B8F2-5DFCBB749DB4}">
      <dgm:prSet phldrT="[Text]" custT="1"/>
      <dgm:spPr>
        <a:solidFill>
          <a:srgbClr val="0075BF"/>
        </a:solidFill>
        <a:ln>
          <a:solidFill>
            <a:srgbClr val="004371"/>
          </a:solidFill>
        </a:ln>
      </dgm:spPr>
      <dgm:t>
        <a:bodyPr/>
        <a:lstStyle/>
        <a:p>
          <a:r>
            <a:rPr lang="de-DE" sz="1800" dirty="0" err="1" smtClean="0">
              <a:latin typeface="Arial" panose="020B0604020202020204" pitchFamily="34" charset="0"/>
              <a:cs typeface="Arial" panose="020B0604020202020204" pitchFamily="34" charset="0"/>
            </a:rPr>
            <a:t>How</a:t>
          </a:r>
          <a:r>
            <a:rPr lang="de-DE" sz="1800" dirty="0" smtClean="0">
              <a:latin typeface="Arial" panose="020B0604020202020204" pitchFamily="34" charset="0"/>
              <a:cs typeface="Arial" panose="020B0604020202020204" pitchFamily="34" charset="0"/>
            </a:rPr>
            <a:t>?</a:t>
          </a:r>
        </a:p>
        <a:p>
          <a:r>
            <a:rPr lang="de-DE" sz="1400" dirty="0" err="1" smtClean="0">
              <a:latin typeface="Arial" panose="020B0604020202020204" pitchFamily="34" charset="0"/>
              <a:cs typeface="Arial" panose="020B0604020202020204" pitchFamily="34" charset="0"/>
            </a:rPr>
            <a:t>Method</a:t>
          </a:r>
          <a:endParaRPr lang="de-DE" sz="1400" dirty="0" smtClean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9336139-BF55-4BBD-8021-D078E7EE6791}" type="parTrans" cxnId="{5975869E-0814-41E9-AEE1-722E4CBD7811}">
      <dgm:prSet/>
      <dgm:spPr>
        <a:ln>
          <a:solidFill>
            <a:srgbClr val="004371"/>
          </a:solidFill>
        </a:ln>
      </dgm:spPr>
      <dgm:t>
        <a:bodyPr/>
        <a:lstStyle/>
        <a:p>
          <a:endParaRPr lang="de-D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17299E-B4A0-48FA-A7E1-BF8CF2E99563}" type="sibTrans" cxnId="{5975869E-0814-41E9-AEE1-722E4CBD7811}">
      <dgm:prSet/>
      <dgm:spPr/>
      <dgm:t>
        <a:bodyPr/>
        <a:lstStyle/>
        <a:p>
          <a:endParaRPr lang="de-D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DE666F9-3BE2-4494-8BB8-5954540167DA}">
      <dgm:prSet phldrT="[Text]"/>
      <dgm:spPr>
        <a:solidFill>
          <a:srgbClr val="0075BF"/>
        </a:solidFill>
        <a:ln>
          <a:solidFill>
            <a:srgbClr val="004371"/>
          </a:solidFill>
        </a:ln>
      </dgm:spPr>
      <dgm:t>
        <a:bodyPr/>
        <a:lstStyle/>
        <a:p>
          <a:r>
            <a:rPr lang="de-DE" dirty="0" err="1" smtClean="0">
              <a:latin typeface="Arial" panose="020B0604020202020204" pitchFamily="34" charset="0"/>
              <a:cs typeface="Arial" panose="020B0604020202020204" pitchFamily="34" charset="0"/>
            </a:rPr>
            <a:t>Result</a:t>
          </a:r>
          <a:endParaRPr lang="de-D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87F8540-0ACA-4A8A-A6E6-466FF06371F0}" type="parTrans" cxnId="{C41F2975-0639-4AE5-AFF7-546028BE2FBE}">
      <dgm:prSet/>
      <dgm:spPr>
        <a:ln>
          <a:solidFill>
            <a:srgbClr val="004371"/>
          </a:solidFill>
          <a:tailEnd type="triangle"/>
        </a:ln>
      </dgm:spPr>
      <dgm:t>
        <a:bodyPr/>
        <a:lstStyle/>
        <a:p>
          <a:endParaRPr lang="de-D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508AF04-8578-4580-87A7-A9778E28E817}" type="sibTrans" cxnId="{C41F2975-0639-4AE5-AFF7-546028BE2FBE}">
      <dgm:prSet/>
      <dgm:spPr/>
      <dgm:t>
        <a:bodyPr/>
        <a:lstStyle/>
        <a:p>
          <a:endParaRPr lang="de-D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01CF2E9-2961-409B-BCBD-233FE76C4827}">
      <dgm:prSet phldrT="[Text]" custT="1"/>
      <dgm:spPr>
        <a:solidFill>
          <a:srgbClr val="0075BF"/>
        </a:solidFill>
        <a:ln>
          <a:solidFill>
            <a:srgbClr val="004371"/>
          </a:solidFill>
        </a:ln>
      </dgm:spPr>
      <dgm:t>
        <a:bodyPr/>
        <a:lstStyle/>
        <a:p>
          <a:r>
            <a:rPr lang="de-DE" sz="1800" dirty="0" err="1" smtClean="0">
              <a:latin typeface="Arial" panose="020B0604020202020204" pitchFamily="34" charset="0"/>
              <a:cs typeface="Arial" panose="020B0604020202020204" pitchFamily="34" charset="0"/>
            </a:rPr>
            <a:t>What</a:t>
          </a:r>
          <a:r>
            <a:rPr lang="de-DE" sz="1800" dirty="0" smtClean="0">
              <a:latin typeface="Arial" panose="020B0604020202020204" pitchFamily="34" charset="0"/>
              <a:cs typeface="Arial" panose="020B0604020202020204" pitchFamily="34" charset="0"/>
            </a:rPr>
            <a:t>?</a:t>
          </a:r>
        </a:p>
        <a:p>
          <a:r>
            <a:rPr lang="de-DE" sz="1400" dirty="0" smtClean="0">
              <a:latin typeface="Arial" panose="020B0604020202020204" pitchFamily="34" charset="0"/>
              <a:cs typeface="Arial" panose="020B0604020202020204" pitchFamily="34" charset="0"/>
            </a:rPr>
            <a:t>Parameter</a:t>
          </a:r>
        </a:p>
      </dgm:t>
    </dgm:pt>
    <dgm:pt modelId="{B39282A5-9D7F-40D3-A276-443AFA95EEF7}" type="parTrans" cxnId="{FAD7FEDF-30AE-4292-8AF3-D93B1A52C640}">
      <dgm:prSet/>
      <dgm:spPr>
        <a:ln>
          <a:solidFill>
            <a:srgbClr val="004371"/>
          </a:solidFill>
        </a:ln>
      </dgm:spPr>
      <dgm:t>
        <a:bodyPr/>
        <a:lstStyle/>
        <a:p>
          <a:endParaRPr lang="de-D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F21F822-D611-4DD0-8550-14D3551FD023}" type="sibTrans" cxnId="{FAD7FEDF-30AE-4292-8AF3-D93B1A52C640}">
      <dgm:prSet/>
      <dgm:spPr/>
      <dgm:t>
        <a:bodyPr/>
        <a:lstStyle/>
        <a:p>
          <a:endParaRPr lang="de-D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25BFDBD-4519-4CE9-9DD3-8FFDFAC00BE9}" type="pres">
      <dgm:prSet presAssocID="{EFBC4725-0FC2-470F-A5EE-EE49B11C41C1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AD8AB719-35B3-488D-BDDB-F3AA76878012}" type="pres">
      <dgm:prSet presAssocID="{8217DEE8-280C-4209-B3CD-A117303E954F}" presName="centerShape" presStyleLbl="node0" presStyleIdx="0" presStyleCnt="1"/>
      <dgm:spPr>
        <a:prstGeom prst="roundRect">
          <a:avLst/>
        </a:prstGeom>
      </dgm:spPr>
      <dgm:t>
        <a:bodyPr/>
        <a:lstStyle/>
        <a:p>
          <a:endParaRPr lang="de-DE"/>
        </a:p>
      </dgm:t>
    </dgm:pt>
    <dgm:pt modelId="{F31E9127-DE58-460D-955C-676F69D34D24}" type="pres">
      <dgm:prSet presAssocID="{F1299E6C-12BA-4CA2-ABA6-A957FBA5892A}" presName="Name9" presStyleLbl="parChTrans1D2" presStyleIdx="0" presStyleCnt="4"/>
      <dgm:spPr/>
      <dgm:t>
        <a:bodyPr/>
        <a:lstStyle/>
        <a:p>
          <a:endParaRPr lang="de-DE"/>
        </a:p>
      </dgm:t>
    </dgm:pt>
    <dgm:pt modelId="{3C1B7999-5BFA-46DF-8678-B65536D64D4E}" type="pres">
      <dgm:prSet presAssocID="{F1299E6C-12BA-4CA2-ABA6-A957FBA5892A}" presName="connTx" presStyleLbl="parChTrans1D2" presStyleIdx="0" presStyleCnt="4"/>
      <dgm:spPr/>
      <dgm:t>
        <a:bodyPr/>
        <a:lstStyle/>
        <a:p>
          <a:endParaRPr lang="de-DE"/>
        </a:p>
      </dgm:t>
    </dgm:pt>
    <dgm:pt modelId="{E2203D5C-FEB3-4B07-8911-3D9060F8FA89}" type="pres">
      <dgm:prSet presAssocID="{14CF06E4-6357-4DAA-8803-3EDCC00A9BBE}" presName="node" presStyleLbl="node1" presStyleIdx="0" presStyleCnt="4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de-DE"/>
        </a:p>
      </dgm:t>
    </dgm:pt>
    <dgm:pt modelId="{06396F28-72B1-4047-9FEC-3DB787C5D9BB}" type="pres">
      <dgm:prSet presAssocID="{19336139-BF55-4BBD-8021-D078E7EE6791}" presName="Name9" presStyleLbl="parChTrans1D2" presStyleIdx="1" presStyleCnt="4"/>
      <dgm:spPr/>
      <dgm:t>
        <a:bodyPr/>
        <a:lstStyle/>
        <a:p>
          <a:endParaRPr lang="de-DE"/>
        </a:p>
      </dgm:t>
    </dgm:pt>
    <dgm:pt modelId="{CCA98C03-89D0-498F-A441-C44CE30BBD5F}" type="pres">
      <dgm:prSet presAssocID="{19336139-BF55-4BBD-8021-D078E7EE6791}" presName="connTx" presStyleLbl="parChTrans1D2" presStyleIdx="1" presStyleCnt="4"/>
      <dgm:spPr/>
      <dgm:t>
        <a:bodyPr/>
        <a:lstStyle/>
        <a:p>
          <a:endParaRPr lang="de-DE"/>
        </a:p>
      </dgm:t>
    </dgm:pt>
    <dgm:pt modelId="{08FC1805-6712-4D19-BEC8-D3534A413AF1}" type="pres">
      <dgm:prSet presAssocID="{877F7986-D34D-484C-B8F2-5DFCBB749DB4}" presName="node" presStyleLbl="node1" presStyleIdx="1" presStyleCnt="4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de-DE"/>
        </a:p>
      </dgm:t>
    </dgm:pt>
    <dgm:pt modelId="{DF49EBF1-E5BE-4E14-9A59-613369EB1E9A}" type="pres">
      <dgm:prSet presAssocID="{287F8540-0ACA-4A8A-A6E6-466FF06371F0}" presName="Name9" presStyleLbl="parChTrans1D2" presStyleIdx="2" presStyleCnt="4"/>
      <dgm:spPr/>
      <dgm:t>
        <a:bodyPr/>
        <a:lstStyle/>
        <a:p>
          <a:endParaRPr lang="de-DE"/>
        </a:p>
      </dgm:t>
    </dgm:pt>
    <dgm:pt modelId="{A92C14D0-EEF8-4101-948F-0CECC9679C0D}" type="pres">
      <dgm:prSet presAssocID="{287F8540-0ACA-4A8A-A6E6-466FF06371F0}" presName="connTx" presStyleLbl="parChTrans1D2" presStyleIdx="2" presStyleCnt="4"/>
      <dgm:spPr/>
      <dgm:t>
        <a:bodyPr/>
        <a:lstStyle/>
        <a:p>
          <a:endParaRPr lang="de-DE"/>
        </a:p>
      </dgm:t>
    </dgm:pt>
    <dgm:pt modelId="{9B56A1F6-A18A-4D86-B20C-14A611B8CAAE}" type="pres">
      <dgm:prSet presAssocID="{1DE666F9-3BE2-4494-8BB8-5954540167DA}" presName="node" presStyleLbl="node1" presStyleIdx="2" presStyleCnt="4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de-DE"/>
        </a:p>
      </dgm:t>
    </dgm:pt>
    <dgm:pt modelId="{B8C17CA9-2020-4642-8C25-3F4104CAE03C}" type="pres">
      <dgm:prSet presAssocID="{B39282A5-9D7F-40D3-A276-443AFA95EEF7}" presName="Name9" presStyleLbl="parChTrans1D2" presStyleIdx="3" presStyleCnt="4"/>
      <dgm:spPr/>
      <dgm:t>
        <a:bodyPr/>
        <a:lstStyle/>
        <a:p>
          <a:endParaRPr lang="de-DE"/>
        </a:p>
      </dgm:t>
    </dgm:pt>
    <dgm:pt modelId="{D0BF6B76-FCEC-47FF-B9F6-51297B9C2A85}" type="pres">
      <dgm:prSet presAssocID="{B39282A5-9D7F-40D3-A276-443AFA95EEF7}" presName="connTx" presStyleLbl="parChTrans1D2" presStyleIdx="3" presStyleCnt="4"/>
      <dgm:spPr/>
      <dgm:t>
        <a:bodyPr/>
        <a:lstStyle/>
        <a:p>
          <a:endParaRPr lang="de-DE"/>
        </a:p>
      </dgm:t>
    </dgm:pt>
    <dgm:pt modelId="{615A9705-3E2A-4325-AEFF-21CEAC322E8F}" type="pres">
      <dgm:prSet presAssocID="{C01CF2E9-2961-409B-BCBD-233FE76C4827}" presName="node" presStyleLbl="node1" presStyleIdx="3" presStyleCnt="4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de-DE"/>
        </a:p>
      </dgm:t>
    </dgm:pt>
  </dgm:ptLst>
  <dgm:cxnLst>
    <dgm:cxn modelId="{39B444EE-ED4A-4B9E-A81A-A755A3EAEF6E}" type="presOf" srcId="{B39282A5-9D7F-40D3-A276-443AFA95EEF7}" destId="{B8C17CA9-2020-4642-8C25-3F4104CAE03C}" srcOrd="0" destOrd="0" presId="urn:microsoft.com/office/officeart/2005/8/layout/radial1"/>
    <dgm:cxn modelId="{EF848F00-45E9-4576-8428-28F9A833F0F9}" type="presOf" srcId="{F1299E6C-12BA-4CA2-ABA6-A957FBA5892A}" destId="{3C1B7999-5BFA-46DF-8678-B65536D64D4E}" srcOrd="1" destOrd="0" presId="urn:microsoft.com/office/officeart/2005/8/layout/radial1"/>
    <dgm:cxn modelId="{824A7714-7263-47C2-B5DE-49F70D185AED}" type="presOf" srcId="{877F7986-D34D-484C-B8F2-5DFCBB749DB4}" destId="{08FC1805-6712-4D19-BEC8-D3534A413AF1}" srcOrd="0" destOrd="0" presId="urn:microsoft.com/office/officeart/2005/8/layout/radial1"/>
    <dgm:cxn modelId="{4A5130B2-4F29-4177-8DB8-B2DF0A7F9C65}" type="presOf" srcId="{14CF06E4-6357-4DAA-8803-3EDCC00A9BBE}" destId="{E2203D5C-FEB3-4B07-8911-3D9060F8FA89}" srcOrd="0" destOrd="0" presId="urn:microsoft.com/office/officeart/2005/8/layout/radial1"/>
    <dgm:cxn modelId="{0C4E8FB0-EF93-40EB-BC0D-3DCE51600CBF}" type="presOf" srcId="{B39282A5-9D7F-40D3-A276-443AFA95EEF7}" destId="{D0BF6B76-FCEC-47FF-B9F6-51297B9C2A85}" srcOrd="1" destOrd="0" presId="urn:microsoft.com/office/officeart/2005/8/layout/radial1"/>
    <dgm:cxn modelId="{421396F0-0ACD-4BC5-A5A8-CF5C29DAA4AA}" type="presOf" srcId="{287F8540-0ACA-4A8A-A6E6-466FF06371F0}" destId="{DF49EBF1-E5BE-4E14-9A59-613369EB1E9A}" srcOrd="0" destOrd="0" presId="urn:microsoft.com/office/officeart/2005/8/layout/radial1"/>
    <dgm:cxn modelId="{33CA5D99-E718-47BE-AAF8-09C37FCDB8BA}" srcId="{EFBC4725-0FC2-470F-A5EE-EE49B11C41C1}" destId="{8217DEE8-280C-4209-B3CD-A117303E954F}" srcOrd="0" destOrd="0" parTransId="{30DCBF45-37FB-43CB-A36D-2C4DBE6A1873}" sibTransId="{B85D2241-1A7D-456E-B7C0-1FBB264469D0}"/>
    <dgm:cxn modelId="{38A4B80B-B3FA-414A-8DC1-1226FD022CED}" srcId="{8217DEE8-280C-4209-B3CD-A117303E954F}" destId="{14CF06E4-6357-4DAA-8803-3EDCC00A9BBE}" srcOrd="0" destOrd="0" parTransId="{F1299E6C-12BA-4CA2-ABA6-A957FBA5892A}" sibTransId="{ADC7F2D9-A83C-44CD-94AE-E1D044DD55EC}"/>
    <dgm:cxn modelId="{20D3ED79-77BF-4324-8D9C-D761E23CCE69}" type="presOf" srcId="{287F8540-0ACA-4A8A-A6E6-466FF06371F0}" destId="{A92C14D0-EEF8-4101-948F-0CECC9679C0D}" srcOrd="1" destOrd="0" presId="urn:microsoft.com/office/officeart/2005/8/layout/radial1"/>
    <dgm:cxn modelId="{3974E506-5BFB-4D0C-9C4E-B84FFF71B492}" type="presOf" srcId="{8217DEE8-280C-4209-B3CD-A117303E954F}" destId="{AD8AB719-35B3-488D-BDDB-F3AA76878012}" srcOrd="0" destOrd="0" presId="urn:microsoft.com/office/officeart/2005/8/layout/radial1"/>
    <dgm:cxn modelId="{1CAC0317-F981-4B90-9C3A-0255CB66BAD3}" type="presOf" srcId="{1DE666F9-3BE2-4494-8BB8-5954540167DA}" destId="{9B56A1F6-A18A-4D86-B20C-14A611B8CAAE}" srcOrd="0" destOrd="0" presId="urn:microsoft.com/office/officeart/2005/8/layout/radial1"/>
    <dgm:cxn modelId="{90CC05B6-FB6D-4E69-B824-42D163B6ED5B}" type="presOf" srcId="{EFBC4725-0FC2-470F-A5EE-EE49B11C41C1}" destId="{125BFDBD-4519-4CE9-9DD3-8FFDFAC00BE9}" srcOrd="0" destOrd="0" presId="urn:microsoft.com/office/officeart/2005/8/layout/radial1"/>
    <dgm:cxn modelId="{C41F2975-0639-4AE5-AFF7-546028BE2FBE}" srcId="{8217DEE8-280C-4209-B3CD-A117303E954F}" destId="{1DE666F9-3BE2-4494-8BB8-5954540167DA}" srcOrd="2" destOrd="0" parTransId="{287F8540-0ACA-4A8A-A6E6-466FF06371F0}" sibTransId="{D508AF04-8578-4580-87A7-A9778E28E817}"/>
    <dgm:cxn modelId="{97987B43-7FC7-462A-B9E1-02AF2C475516}" type="presOf" srcId="{19336139-BF55-4BBD-8021-D078E7EE6791}" destId="{06396F28-72B1-4047-9FEC-3DB787C5D9BB}" srcOrd="0" destOrd="0" presId="urn:microsoft.com/office/officeart/2005/8/layout/radial1"/>
    <dgm:cxn modelId="{18BA86B4-3530-4239-BEB5-94EBBAA09657}" type="presOf" srcId="{F1299E6C-12BA-4CA2-ABA6-A957FBA5892A}" destId="{F31E9127-DE58-460D-955C-676F69D34D24}" srcOrd="0" destOrd="0" presId="urn:microsoft.com/office/officeart/2005/8/layout/radial1"/>
    <dgm:cxn modelId="{305CA761-096D-4CAD-98B8-ABE64BA8788A}" type="presOf" srcId="{C01CF2E9-2961-409B-BCBD-233FE76C4827}" destId="{615A9705-3E2A-4325-AEFF-21CEAC322E8F}" srcOrd="0" destOrd="0" presId="urn:microsoft.com/office/officeart/2005/8/layout/radial1"/>
    <dgm:cxn modelId="{5975869E-0814-41E9-AEE1-722E4CBD7811}" srcId="{8217DEE8-280C-4209-B3CD-A117303E954F}" destId="{877F7986-D34D-484C-B8F2-5DFCBB749DB4}" srcOrd="1" destOrd="0" parTransId="{19336139-BF55-4BBD-8021-D078E7EE6791}" sibTransId="{2F17299E-B4A0-48FA-A7E1-BF8CF2E99563}"/>
    <dgm:cxn modelId="{67F1C4F4-7738-4563-8859-204CD09A5CF0}" type="presOf" srcId="{19336139-BF55-4BBD-8021-D078E7EE6791}" destId="{CCA98C03-89D0-498F-A441-C44CE30BBD5F}" srcOrd="1" destOrd="0" presId="urn:microsoft.com/office/officeart/2005/8/layout/radial1"/>
    <dgm:cxn modelId="{FAD7FEDF-30AE-4292-8AF3-D93B1A52C640}" srcId="{8217DEE8-280C-4209-B3CD-A117303E954F}" destId="{C01CF2E9-2961-409B-BCBD-233FE76C4827}" srcOrd="3" destOrd="0" parTransId="{B39282A5-9D7F-40D3-A276-443AFA95EEF7}" sibTransId="{FF21F822-D611-4DD0-8550-14D3551FD023}"/>
    <dgm:cxn modelId="{D0E009A5-55D6-42AD-8FB2-5E3201455DA6}" type="presParOf" srcId="{125BFDBD-4519-4CE9-9DD3-8FFDFAC00BE9}" destId="{AD8AB719-35B3-488D-BDDB-F3AA76878012}" srcOrd="0" destOrd="0" presId="urn:microsoft.com/office/officeart/2005/8/layout/radial1"/>
    <dgm:cxn modelId="{EF61E903-9C3A-4704-B36B-7F486E13C880}" type="presParOf" srcId="{125BFDBD-4519-4CE9-9DD3-8FFDFAC00BE9}" destId="{F31E9127-DE58-460D-955C-676F69D34D24}" srcOrd="1" destOrd="0" presId="urn:microsoft.com/office/officeart/2005/8/layout/radial1"/>
    <dgm:cxn modelId="{35986774-CA89-4698-BE7F-F215DB99C635}" type="presParOf" srcId="{F31E9127-DE58-460D-955C-676F69D34D24}" destId="{3C1B7999-5BFA-46DF-8678-B65536D64D4E}" srcOrd="0" destOrd="0" presId="urn:microsoft.com/office/officeart/2005/8/layout/radial1"/>
    <dgm:cxn modelId="{E4E0A455-9D37-45CA-987C-BABF7610C8C9}" type="presParOf" srcId="{125BFDBD-4519-4CE9-9DD3-8FFDFAC00BE9}" destId="{E2203D5C-FEB3-4B07-8911-3D9060F8FA89}" srcOrd="2" destOrd="0" presId="urn:microsoft.com/office/officeart/2005/8/layout/radial1"/>
    <dgm:cxn modelId="{A6EBF21B-A89C-41A8-8EA4-CD009C5D034E}" type="presParOf" srcId="{125BFDBD-4519-4CE9-9DD3-8FFDFAC00BE9}" destId="{06396F28-72B1-4047-9FEC-3DB787C5D9BB}" srcOrd="3" destOrd="0" presId="urn:microsoft.com/office/officeart/2005/8/layout/radial1"/>
    <dgm:cxn modelId="{AC34D659-5784-46F8-8102-8CDE438A3730}" type="presParOf" srcId="{06396F28-72B1-4047-9FEC-3DB787C5D9BB}" destId="{CCA98C03-89D0-498F-A441-C44CE30BBD5F}" srcOrd="0" destOrd="0" presId="urn:microsoft.com/office/officeart/2005/8/layout/radial1"/>
    <dgm:cxn modelId="{5F8BE444-68EC-4A30-A464-CE15A06CD8B3}" type="presParOf" srcId="{125BFDBD-4519-4CE9-9DD3-8FFDFAC00BE9}" destId="{08FC1805-6712-4D19-BEC8-D3534A413AF1}" srcOrd="4" destOrd="0" presId="urn:microsoft.com/office/officeart/2005/8/layout/radial1"/>
    <dgm:cxn modelId="{5B6DECE4-141E-48E1-890B-C688FD578519}" type="presParOf" srcId="{125BFDBD-4519-4CE9-9DD3-8FFDFAC00BE9}" destId="{DF49EBF1-E5BE-4E14-9A59-613369EB1E9A}" srcOrd="5" destOrd="0" presId="urn:microsoft.com/office/officeart/2005/8/layout/radial1"/>
    <dgm:cxn modelId="{B844414D-7C11-4A67-AAA0-F883B51596CF}" type="presParOf" srcId="{DF49EBF1-E5BE-4E14-9A59-613369EB1E9A}" destId="{A92C14D0-EEF8-4101-948F-0CECC9679C0D}" srcOrd="0" destOrd="0" presId="urn:microsoft.com/office/officeart/2005/8/layout/radial1"/>
    <dgm:cxn modelId="{81C03430-D1D9-4907-923A-1A0AEDA367AD}" type="presParOf" srcId="{125BFDBD-4519-4CE9-9DD3-8FFDFAC00BE9}" destId="{9B56A1F6-A18A-4D86-B20C-14A611B8CAAE}" srcOrd="6" destOrd="0" presId="urn:microsoft.com/office/officeart/2005/8/layout/radial1"/>
    <dgm:cxn modelId="{A8A8D394-341D-4164-BDE5-99BC5B73DCA5}" type="presParOf" srcId="{125BFDBD-4519-4CE9-9DD3-8FFDFAC00BE9}" destId="{B8C17CA9-2020-4642-8C25-3F4104CAE03C}" srcOrd="7" destOrd="0" presId="urn:microsoft.com/office/officeart/2005/8/layout/radial1"/>
    <dgm:cxn modelId="{62EB2BAB-FEFD-494E-81C9-86327B99EA90}" type="presParOf" srcId="{B8C17CA9-2020-4642-8C25-3F4104CAE03C}" destId="{D0BF6B76-FCEC-47FF-B9F6-51297B9C2A85}" srcOrd="0" destOrd="0" presId="urn:microsoft.com/office/officeart/2005/8/layout/radial1"/>
    <dgm:cxn modelId="{A2634133-6417-444F-A793-CE2B5AFB72F8}" type="presParOf" srcId="{125BFDBD-4519-4CE9-9DD3-8FFDFAC00BE9}" destId="{615A9705-3E2A-4325-AEFF-21CEAC322E8F}" srcOrd="8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8AB719-35B3-488D-BDDB-F3AA76878012}">
      <dsp:nvSpPr>
        <dsp:cNvPr id="0" name=""/>
        <dsp:cNvSpPr/>
      </dsp:nvSpPr>
      <dsp:spPr>
        <a:xfrm>
          <a:off x="3508679" y="1472227"/>
          <a:ext cx="1119544" cy="1119544"/>
        </a:xfrm>
        <a:prstGeom prst="roundRect">
          <a:avLst/>
        </a:prstGeom>
        <a:solidFill>
          <a:srgbClr val="0075BF"/>
        </a:solidFill>
        <a:ln w="25400" cap="flat" cmpd="sng" algn="ctr">
          <a:solidFill>
            <a:srgbClr val="00437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Observation</a:t>
          </a:r>
          <a:endParaRPr lang="de-DE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563331" y="1526879"/>
        <a:ext cx="1010240" cy="1010240"/>
      </dsp:txXfrm>
    </dsp:sp>
    <dsp:sp modelId="{F31E9127-DE58-460D-955C-676F69D34D24}">
      <dsp:nvSpPr>
        <dsp:cNvPr id="0" name=""/>
        <dsp:cNvSpPr/>
      </dsp:nvSpPr>
      <dsp:spPr>
        <a:xfrm rot="16200000">
          <a:off x="3899432" y="1290825"/>
          <a:ext cx="338039" cy="24765"/>
        </a:xfrm>
        <a:custGeom>
          <a:avLst/>
          <a:gdLst/>
          <a:ahLst/>
          <a:cxnLst/>
          <a:rect l="0" t="0" r="0" b="0"/>
          <a:pathLst>
            <a:path>
              <a:moveTo>
                <a:pt x="0" y="12382"/>
              </a:moveTo>
              <a:lnTo>
                <a:pt x="338039" y="12382"/>
              </a:lnTo>
            </a:path>
          </a:pathLst>
        </a:custGeom>
        <a:noFill/>
        <a:ln w="25400" cap="flat" cmpd="sng" algn="ctr">
          <a:solidFill>
            <a:srgbClr val="00437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5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060001" y="1294757"/>
        <a:ext cx="16901" cy="16901"/>
      </dsp:txXfrm>
    </dsp:sp>
    <dsp:sp modelId="{E2203D5C-FEB3-4B07-8911-3D9060F8FA89}">
      <dsp:nvSpPr>
        <dsp:cNvPr id="0" name=""/>
        <dsp:cNvSpPr/>
      </dsp:nvSpPr>
      <dsp:spPr>
        <a:xfrm>
          <a:off x="3508679" y="14643"/>
          <a:ext cx="1119544" cy="1119544"/>
        </a:xfrm>
        <a:prstGeom prst="roundRect">
          <a:avLst/>
        </a:prstGeom>
        <a:solidFill>
          <a:srgbClr val="0075BF"/>
        </a:solidFill>
        <a:ln w="25400" cap="flat" cmpd="sng" algn="ctr">
          <a:solidFill>
            <a:srgbClr val="00437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400" kern="1200" dirty="0" err="1" smtClean="0">
              <a:latin typeface="+mj-lt"/>
              <a:cs typeface="Arial" panose="020B0604020202020204" pitchFamily="34" charset="0"/>
            </a:rPr>
            <a:t>Where</a:t>
          </a:r>
          <a:r>
            <a:rPr lang="de-DE" sz="2400" kern="1200" dirty="0" smtClean="0">
              <a:latin typeface="+mj-lt"/>
              <a:cs typeface="Arial" panose="020B0604020202020204" pitchFamily="34" charset="0"/>
            </a:rPr>
            <a:t>?</a:t>
          </a:r>
          <a:endParaRPr lang="de-DE" sz="2400" kern="1200" dirty="0">
            <a:latin typeface="+mj-lt"/>
            <a:cs typeface="Arial" panose="020B0604020202020204" pitchFamily="34" charset="0"/>
          </a:endParaRPr>
        </a:p>
      </dsp:txBody>
      <dsp:txXfrm>
        <a:off x="3563331" y="69295"/>
        <a:ext cx="1010240" cy="1010240"/>
      </dsp:txXfrm>
    </dsp:sp>
    <dsp:sp modelId="{06396F28-72B1-4047-9FEC-3DB787C5D9BB}">
      <dsp:nvSpPr>
        <dsp:cNvPr id="0" name=""/>
        <dsp:cNvSpPr/>
      </dsp:nvSpPr>
      <dsp:spPr>
        <a:xfrm>
          <a:off x="4628224" y="2019617"/>
          <a:ext cx="338039" cy="24765"/>
        </a:xfrm>
        <a:custGeom>
          <a:avLst/>
          <a:gdLst/>
          <a:ahLst/>
          <a:cxnLst/>
          <a:rect l="0" t="0" r="0" b="0"/>
          <a:pathLst>
            <a:path>
              <a:moveTo>
                <a:pt x="0" y="12382"/>
              </a:moveTo>
              <a:lnTo>
                <a:pt x="338039" y="12382"/>
              </a:lnTo>
            </a:path>
          </a:pathLst>
        </a:custGeom>
        <a:noFill/>
        <a:ln w="25400" cap="flat" cmpd="sng" algn="ctr">
          <a:solidFill>
            <a:srgbClr val="00437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5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788792" y="2023549"/>
        <a:ext cx="16901" cy="16901"/>
      </dsp:txXfrm>
    </dsp:sp>
    <dsp:sp modelId="{08FC1805-6712-4D19-BEC8-D3534A413AF1}">
      <dsp:nvSpPr>
        <dsp:cNvPr id="0" name=""/>
        <dsp:cNvSpPr/>
      </dsp:nvSpPr>
      <dsp:spPr>
        <a:xfrm>
          <a:off x="4966263" y="1472227"/>
          <a:ext cx="1119544" cy="1119544"/>
        </a:xfrm>
        <a:prstGeom prst="roundRect">
          <a:avLst/>
        </a:prstGeom>
        <a:solidFill>
          <a:srgbClr val="0075BF"/>
        </a:solidFill>
        <a:ln w="25400" cap="flat" cmpd="sng" algn="ctr">
          <a:solidFill>
            <a:srgbClr val="00437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80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How</a:t>
          </a:r>
          <a:r>
            <a:rPr lang="de-DE" sz="1800" kern="1200" dirty="0" smtClean="0">
              <a:latin typeface="Arial" panose="020B0604020202020204" pitchFamily="34" charset="0"/>
              <a:cs typeface="Arial" panose="020B0604020202020204" pitchFamily="34" charset="0"/>
            </a:rPr>
            <a:t>?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Method</a:t>
          </a:r>
          <a:endParaRPr lang="de-DE" sz="1400" kern="1200" dirty="0" smtClean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20915" y="1526879"/>
        <a:ext cx="1010240" cy="1010240"/>
      </dsp:txXfrm>
    </dsp:sp>
    <dsp:sp modelId="{DF49EBF1-E5BE-4E14-9A59-613369EB1E9A}">
      <dsp:nvSpPr>
        <dsp:cNvPr id="0" name=""/>
        <dsp:cNvSpPr/>
      </dsp:nvSpPr>
      <dsp:spPr>
        <a:xfrm rot="5400000">
          <a:off x="3899432" y="2748408"/>
          <a:ext cx="338039" cy="24765"/>
        </a:xfrm>
        <a:custGeom>
          <a:avLst/>
          <a:gdLst/>
          <a:ahLst/>
          <a:cxnLst/>
          <a:rect l="0" t="0" r="0" b="0"/>
          <a:pathLst>
            <a:path>
              <a:moveTo>
                <a:pt x="0" y="12382"/>
              </a:moveTo>
              <a:lnTo>
                <a:pt x="338039" y="12382"/>
              </a:lnTo>
            </a:path>
          </a:pathLst>
        </a:custGeom>
        <a:noFill/>
        <a:ln w="25400" cap="flat" cmpd="sng" algn="ctr">
          <a:solidFill>
            <a:srgbClr val="004371"/>
          </a:solidFill>
          <a:prstDash val="solid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5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060001" y="2752340"/>
        <a:ext cx="16901" cy="16901"/>
      </dsp:txXfrm>
    </dsp:sp>
    <dsp:sp modelId="{9B56A1F6-A18A-4D86-B20C-14A611B8CAAE}">
      <dsp:nvSpPr>
        <dsp:cNvPr id="0" name=""/>
        <dsp:cNvSpPr/>
      </dsp:nvSpPr>
      <dsp:spPr>
        <a:xfrm>
          <a:off x="3508679" y="2929811"/>
          <a:ext cx="1119544" cy="1119544"/>
        </a:xfrm>
        <a:prstGeom prst="roundRect">
          <a:avLst/>
        </a:prstGeom>
        <a:solidFill>
          <a:srgbClr val="0075BF"/>
        </a:solidFill>
        <a:ln w="25400" cap="flat" cmpd="sng" algn="ctr">
          <a:solidFill>
            <a:srgbClr val="00437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40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Result</a:t>
          </a:r>
          <a:endParaRPr lang="de-DE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563331" y="2984463"/>
        <a:ext cx="1010240" cy="1010240"/>
      </dsp:txXfrm>
    </dsp:sp>
    <dsp:sp modelId="{B8C17CA9-2020-4642-8C25-3F4104CAE03C}">
      <dsp:nvSpPr>
        <dsp:cNvPr id="0" name=""/>
        <dsp:cNvSpPr/>
      </dsp:nvSpPr>
      <dsp:spPr>
        <a:xfrm rot="10800000">
          <a:off x="3170640" y="2019617"/>
          <a:ext cx="338039" cy="24765"/>
        </a:xfrm>
        <a:custGeom>
          <a:avLst/>
          <a:gdLst/>
          <a:ahLst/>
          <a:cxnLst/>
          <a:rect l="0" t="0" r="0" b="0"/>
          <a:pathLst>
            <a:path>
              <a:moveTo>
                <a:pt x="0" y="12382"/>
              </a:moveTo>
              <a:lnTo>
                <a:pt x="338039" y="12382"/>
              </a:lnTo>
            </a:path>
          </a:pathLst>
        </a:custGeom>
        <a:noFill/>
        <a:ln w="25400" cap="flat" cmpd="sng" algn="ctr">
          <a:solidFill>
            <a:srgbClr val="00437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5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3331209" y="2023549"/>
        <a:ext cx="16901" cy="16901"/>
      </dsp:txXfrm>
    </dsp:sp>
    <dsp:sp modelId="{615A9705-3E2A-4325-AEFF-21CEAC322E8F}">
      <dsp:nvSpPr>
        <dsp:cNvPr id="0" name=""/>
        <dsp:cNvSpPr/>
      </dsp:nvSpPr>
      <dsp:spPr>
        <a:xfrm>
          <a:off x="2051095" y="1472227"/>
          <a:ext cx="1119544" cy="1119544"/>
        </a:xfrm>
        <a:prstGeom prst="roundRect">
          <a:avLst/>
        </a:prstGeom>
        <a:solidFill>
          <a:srgbClr val="0075BF"/>
        </a:solidFill>
        <a:ln w="25400" cap="flat" cmpd="sng" algn="ctr">
          <a:solidFill>
            <a:srgbClr val="00437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80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What</a:t>
          </a:r>
          <a:r>
            <a:rPr lang="de-DE" sz="1800" kern="1200" dirty="0" smtClean="0">
              <a:latin typeface="Arial" panose="020B0604020202020204" pitchFamily="34" charset="0"/>
              <a:cs typeface="Arial" panose="020B0604020202020204" pitchFamily="34" charset="0"/>
            </a:rPr>
            <a:t>?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Parameter</a:t>
          </a:r>
        </a:p>
      </dsp:txBody>
      <dsp:txXfrm>
        <a:off x="2105747" y="1526879"/>
        <a:ext cx="1010240" cy="1010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4E4DC0-007C-40B5-9529-2055279675F8}" type="datetimeFigureOut">
              <a:rPr lang="de-DE" smtClean="0"/>
              <a:t>21.09.2015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4105C-9ED8-4B1B-968D-CE7100124A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91797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20F9F-3795-4AAF-BD08-6712DCD7D6BC}" type="datetimeFigureOut">
              <a:rPr lang="de-DE" smtClean="0"/>
              <a:t>21.09.2015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BFB80-5402-4420-84F6-32B6649FBD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45049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FB80-5402-4420-84F6-32B6649FBDDA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3873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FB80-5402-4420-84F6-32B6649FBDD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1036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FB80-5402-4420-84F6-32B6649FBDDA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8257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FB80-5402-4420-84F6-32B6649FBDDA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6791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563064"/>
            <a:ext cx="7772400" cy="2035340"/>
          </a:xfrm>
        </p:spPr>
        <p:txBody>
          <a:bodyPr/>
          <a:lstStyle>
            <a:lvl1pPr>
              <a:defRPr>
                <a:solidFill>
                  <a:srgbClr val="004371"/>
                </a:solidFill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 smtClean="0"/>
              <a:t>Formatvorlage des Untertitelmasters durch Klicken bearbeiten</a:t>
            </a:r>
            <a:endParaRPr lang="de-DE" dirty="0"/>
          </a:p>
        </p:txBody>
      </p:sp>
      <p:sp>
        <p:nvSpPr>
          <p:cNvPr id="10" name="Rectangle 8"/>
          <p:cNvSpPr>
            <a:spLocks noChangeArrowheads="1"/>
          </p:cNvSpPr>
          <p:nvPr userDrawn="1"/>
        </p:nvSpPr>
        <p:spPr bwMode="auto">
          <a:xfrm>
            <a:off x="3939" y="5599102"/>
            <a:ext cx="9144000" cy="1260000"/>
          </a:xfrm>
          <a:prstGeom prst="rect">
            <a:avLst/>
          </a:prstGeom>
          <a:solidFill>
            <a:srgbClr val="0075BF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endParaRPr lang="de-DE" altLang="de-DE" sz="2400">
              <a:solidFill>
                <a:srgbClr val="000000"/>
              </a:solidFill>
            </a:endParaRPr>
          </a:p>
        </p:txBody>
      </p:sp>
      <p:sp>
        <p:nvSpPr>
          <p:cNvPr id="13" name="Textfeld 12"/>
          <p:cNvSpPr txBox="1"/>
          <p:nvPr userDrawn="1"/>
        </p:nvSpPr>
        <p:spPr>
          <a:xfrm>
            <a:off x="5292080" y="5877272"/>
            <a:ext cx="36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 smtClean="0">
                <a:solidFill>
                  <a:schemeClr val="bg1"/>
                </a:solidFill>
              </a:rPr>
              <a:t>Philipp Saile</a:t>
            </a:r>
          </a:p>
          <a:p>
            <a:pPr algn="r"/>
            <a:r>
              <a:rPr lang="de-DE" dirty="0" smtClean="0">
                <a:solidFill>
                  <a:schemeClr val="bg1"/>
                </a:solidFill>
              </a:rPr>
              <a:t>GEMS/Water Data </a:t>
            </a:r>
            <a:r>
              <a:rPr lang="de-DE" dirty="0" err="1" smtClean="0">
                <a:solidFill>
                  <a:schemeClr val="bg1"/>
                </a:solidFill>
              </a:rPr>
              <a:t>Centre</a:t>
            </a:r>
            <a:r>
              <a:rPr lang="de-DE" dirty="0" smtClean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de-DE" dirty="0" smtClean="0">
                <a:solidFill>
                  <a:schemeClr val="bg1"/>
                </a:solidFill>
              </a:rPr>
              <a:t>Federal</a:t>
            </a:r>
            <a:r>
              <a:rPr lang="de-DE" baseline="0" dirty="0" smtClean="0">
                <a:solidFill>
                  <a:schemeClr val="bg1"/>
                </a:solidFill>
              </a:rPr>
              <a:t> Institute </a:t>
            </a:r>
            <a:r>
              <a:rPr lang="de-DE" baseline="0" dirty="0" err="1" smtClean="0">
                <a:solidFill>
                  <a:schemeClr val="bg1"/>
                </a:solidFill>
              </a:rPr>
              <a:t>of</a:t>
            </a:r>
            <a:r>
              <a:rPr lang="de-DE" baseline="0" dirty="0" smtClean="0">
                <a:solidFill>
                  <a:schemeClr val="bg1"/>
                </a:solidFill>
              </a:rPr>
              <a:t> </a:t>
            </a:r>
            <a:r>
              <a:rPr lang="de-DE" baseline="0" dirty="0" err="1" smtClean="0">
                <a:solidFill>
                  <a:schemeClr val="bg1"/>
                </a:solidFill>
              </a:rPr>
              <a:t>Hydrology</a:t>
            </a:r>
            <a:endParaRPr lang="de-DE" dirty="0">
              <a:solidFill>
                <a:schemeClr val="bg1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251520" y="5780208"/>
            <a:ext cx="2365375" cy="897787"/>
            <a:chOff x="6765607" y="36235"/>
            <a:chExt cx="2365375" cy="897787"/>
          </a:xfrm>
        </p:grpSpPr>
        <p:pic>
          <p:nvPicPr>
            <p:cNvPr id="15" name="Picture 11" descr="P:\IHP_HWRP_Sekretariat\Allgemeine_Administration\Logos\UNEP\UNEP_GEMS_Water_white_no_outline.emf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43770" y="269846"/>
              <a:ext cx="1487212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4" descr="P:\Intern\IHP_HWRP_Sekretariat\Allgemeine_Administration\Logos\UNEP-Entwürfe\UNEP_white_no_outline.emf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65607" y="36235"/>
              <a:ext cx="764420" cy="8977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02485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3C141-F882-42BB-88D9-8DE5D3F84CE1}" type="datetime1">
              <a:rPr lang="de-DE" smtClean="0"/>
              <a:t>21.09.2015</a:t>
            </a:fld>
            <a:endParaRPr lang="de-DE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HDWG Meeting 2015, Orleans</a:t>
            </a:r>
            <a:endParaRPr lang="en-US" dirty="0" smtClean="0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060F-0ABF-4329-9E9B-0D6B97013C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57371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B20B-FC3A-422D-8573-127F9E843367}" type="datetime1">
              <a:rPr lang="de-DE" smtClean="0"/>
              <a:t>21.09.2015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HDWG Meeting 2015, Orleans</a:t>
            </a:r>
            <a:endParaRPr lang="en-US" dirty="0" smtClean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060F-0ABF-4329-9E9B-0D6B97013C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73816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E771-7D14-4FD1-A8BA-1307AEDE9E07}" type="datetime1">
              <a:rPr lang="de-DE" smtClean="0"/>
              <a:t>21.09.2015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HDWG Meeting 2015, Orleans</a:t>
            </a:r>
            <a:endParaRPr lang="en-US" dirty="0" smtClean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060F-0ABF-4329-9E9B-0D6B97013C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22112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47FA-C4E3-4C4E-8AC0-D100DF80357D}" type="datetime1">
              <a:rPr lang="de-DE" smtClean="0"/>
              <a:t>21.09.2015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HDWG Meeting 2015, Orleans</a:t>
            </a:r>
            <a:endParaRPr lang="en-US" dirty="0" smtClean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060F-0ABF-4329-9E9B-0D6B97013C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31571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DC04-38B4-4724-8119-0233AA458809}" type="datetime1">
              <a:rPr lang="de-DE" smtClean="0"/>
              <a:t>21.09.2015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HDWG Meeting 2015, Orleans</a:t>
            </a:r>
            <a:endParaRPr lang="en-US" dirty="0" smtClean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060F-0ABF-4329-9E9B-0D6B97013C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9644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289D-715A-4DE8-90A0-28A29AB6E61D}" type="datetime1">
              <a:rPr lang="de-DE" smtClean="0"/>
              <a:t>21.09.2015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HDWG Meeting 2015, Orleans</a:t>
            </a:r>
            <a:endParaRPr lang="en-US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060F-0ABF-4329-9E9B-0D6B97013C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32993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9155" y="126876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1268760"/>
            <a:ext cx="5111750" cy="485740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7392D-07A8-4017-A3D7-0465F5B11A74}" type="datetime1">
              <a:rPr lang="de-DE" smtClean="0"/>
              <a:t>21.09.2015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HDWG Meeting 2015, Orleans</a:t>
            </a:r>
            <a:endParaRPr lang="en-US" dirty="0" smtClean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060F-0ABF-4329-9E9B-0D6B97013C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42459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1268759"/>
            <a:ext cx="5486400" cy="345881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A96E-DAC1-4444-A186-B29372121BDA}" type="datetime1">
              <a:rPr lang="de-DE" smtClean="0"/>
              <a:t>21.09.2015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HDWG Meeting 2015, Orleans</a:t>
            </a:r>
            <a:endParaRPr lang="en-US" dirty="0" smtClean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060F-0ABF-4329-9E9B-0D6B97013C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2463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67F06-5D95-43B2-955A-21D12AE8710E}" type="datetime1">
              <a:rPr lang="de-DE" smtClean="0"/>
              <a:t>21.09.2015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HDWG Meeting 2015, Orleans</a:t>
            </a:r>
            <a:endParaRPr lang="en-US" dirty="0" smtClean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060F-0ABF-4329-9E9B-0D6B97013C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291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1268760"/>
            <a:ext cx="2057400" cy="4857403"/>
          </a:xfrm>
        </p:spPr>
        <p:txBody>
          <a:bodyPr vert="eaVert"/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1268760"/>
            <a:ext cx="6019800" cy="4857403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9F625-7654-414A-9618-04EF9DDAFCC9}" type="datetime1">
              <a:rPr lang="de-DE" smtClean="0"/>
              <a:t>21.09.2015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HDWG Meeting 2015, Orleans</a:t>
            </a:r>
            <a:endParaRPr lang="en-US" dirty="0" smtClean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060F-0ABF-4329-9E9B-0D6B97013C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1956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0" y="-8878"/>
            <a:ext cx="9144000" cy="936000"/>
          </a:xfrm>
          <a:prstGeom prst="rect">
            <a:avLst/>
          </a:prstGeom>
          <a:solidFill>
            <a:srgbClr val="0075BF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endParaRPr lang="de-DE" altLang="de-DE" sz="2400">
              <a:solidFill>
                <a:srgbClr val="000000"/>
              </a:solidFill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82451"/>
            <a:ext cx="6995120" cy="7728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1B460-DAD8-4612-868A-FD6A94D4D20B}" type="datetime1">
              <a:rPr lang="de-DE" smtClean="0"/>
              <a:t>21.09.2015</a:t>
            </a:fld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2060F-0ABF-4329-9E9B-0D6B97013CB3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HDWG Meeting 2015, Orleans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7249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4371"/>
        </a:buClr>
        <a:buSzPct val="70000"/>
        <a:buFont typeface="Wingdings" panose="05000000000000000000" pitchFamily="2" charset="2"/>
        <a:buChar char=""/>
        <a:defRPr sz="2400" kern="1200">
          <a:solidFill>
            <a:srgbClr val="0043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4371"/>
        </a:buClr>
        <a:buSzPct val="75000"/>
        <a:buFont typeface="Wingdings" panose="05000000000000000000" pitchFamily="2" charset="2"/>
        <a:buChar char=""/>
        <a:defRPr sz="2400" kern="1200">
          <a:solidFill>
            <a:srgbClr val="00437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4371"/>
        </a:buClr>
        <a:buFont typeface="Arial" panose="020B0604020202020204" pitchFamily="34" charset="0"/>
        <a:buChar char="•"/>
        <a:defRPr sz="2400" kern="1200">
          <a:solidFill>
            <a:srgbClr val="00437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4371"/>
        </a:buClr>
        <a:buFont typeface="Arial" panose="020B0604020202020204" pitchFamily="34" charset="0"/>
        <a:buChar char="•"/>
        <a:defRPr sz="2000" kern="1200">
          <a:solidFill>
            <a:srgbClr val="00437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004371"/>
        </a:buClr>
        <a:buFont typeface="Arial" panose="020B0604020202020204" pitchFamily="34" charset="0"/>
        <a:buChar char="•"/>
        <a:defRPr sz="2000" kern="1200">
          <a:solidFill>
            <a:srgbClr val="00437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10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4000" dirty="0" smtClean="0">
                <a:solidFill>
                  <a:srgbClr val="004371"/>
                </a:solidFill>
              </a:rPr>
              <a:t> </a:t>
            </a:r>
            <a:r>
              <a:rPr lang="en-US" sz="4000" dirty="0" err="1" smtClean="0"/>
              <a:t>WaterML</a:t>
            </a:r>
            <a:r>
              <a:rPr lang="en-US" sz="4000" dirty="0" smtClean="0"/>
              <a:t>-WQ</a:t>
            </a:r>
            <a:endParaRPr lang="de-DE" sz="4000" dirty="0">
              <a:solidFill>
                <a:srgbClr val="004371"/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A global </a:t>
            </a:r>
            <a:r>
              <a:rPr lang="de-DE" dirty="0" err="1" smtClean="0"/>
              <a:t>use</a:t>
            </a:r>
            <a:r>
              <a:rPr lang="de-DE" dirty="0" smtClean="0"/>
              <a:t> </a:t>
            </a:r>
            <a:r>
              <a:rPr lang="de-DE" dirty="0" err="1" smtClean="0"/>
              <a:t>case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18171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200" dirty="0" smtClean="0"/>
              <a:t>Global </a:t>
            </a:r>
            <a:r>
              <a:rPr lang="de-DE" sz="2200" dirty="0" err="1" smtClean="0"/>
              <a:t>water</a:t>
            </a:r>
            <a:r>
              <a:rPr lang="de-DE" sz="2200" dirty="0" smtClean="0"/>
              <a:t> </a:t>
            </a:r>
            <a:r>
              <a:rPr lang="de-DE" sz="2200" dirty="0" err="1" smtClean="0"/>
              <a:t>data</a:t>
            </a:r>
            <a:r>
              <a:rPr lang="de-DE" sz="2200" dirty="0" smtClean="0"/>
              <a:t> </a:t>
            </a:r>
            <a:r>
              <a:rPr lang="de-DE" sz="2200" dirty="0" err="1" smtClean="0"/>
              <a:t>provision</a:t>
            </a:r>
            <a:endParaRPr lang="de-DE" sz="22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HDWG Meeting 2015, Orleans</a:t>
            </a:r>
            <a:endParaRPr lang="en-US" dirty="0" smtClean="0"/>
          </a:p>
        </p:txBody>
      </p:sp>
      <p:pic>
        <p:nvPicPr>
          <p:cNvPr id="9" name="Picture 7" descr="stream3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7453" y="1761232"/>
            <a:ext cx="1600200" cy="1955800"/>
          </a:xfrm>
          <a:prstGeom prst="rect">
            <a:avLst/>
          </a:prstGeom>
          <a:noFill/>
          <a:ln w="19050" cmpd="sng">
            <a:solidFill>
              <a:srgbClr val="0075BF"/>
            </a:solidFill>
            <a:miter lim="800000"/>
            <a:headEnd/>
            <a:tailEnd/>
          </a:ln>
          <a:effectLst/>
        </p:spPr>
      </p:pic>
      <p:pic>
        <p:nvPicPr>
          <p:cNvPr id="13" name="Picture 5" descr="Contaminants biologists monitoring water quality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2210"/>
          <a:stretch>
            <a:fillRect/>
          </a:stretch>
        </p:blipFill>
        <p:spPr bwMode="auto">
          <a:xfrm>
            <a:off x="467453" y="4187207"/>
            <a:ext cx="1600200" cy="1957387"/>
          </a:xfrm>
          <a:prstGeom prst="rect">
            <a:avLst/>
          </a:prstGeom>
          <a:noFill/>
          <a:ln w="19050" cmpd="sng">
            <a:solidFill>
              <a:srgbClr val="0075BF"/>
            </a:solidFill>
            <a:miter lim="800000"/>
            <a:headEnd/>
            <a:tailEnd/>
          </a:ln>
          <a:effectLst/>
        </p:spPr>
      </p:pic>
      <p:sp>
        <p:nvSpPr>
          <p:cNvPr id="14" name="TextBox 2"/>
          <p:cNvSpPr txBox="1"/>
          <p:nvPr/>
        </p:nvSpPr>
        <p:spPr>
          <a:xfrm>
            <a:off x="107504" y="1371600"/>
            <a:ext cx="2320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b="1" dirty="0">
                <a:solidFill>
                  <a:srgbClr val="004371"/>
                </a:solidFill>
              </a:rPr>
              <a:t>Water Quantity</a:t>
            </a:r>
          </a:p>
        </p:txBody>
      </p:sp>
      <p:sp>
        <p:nvSpPr>
          <p:cNvPr id="17" name="TextBox 42"/>
          <p:cNvSpPr txBox="1"/>
          <p:nvPr/>
        </p:nvSpPr>
        <p:spPr>
          <a:xfrm>
            <a:off x="342054" y="3843276"/>
            <a:ext cx="1870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b="1" dirty="0">
                <a:solidFill>
                  <a:srgbClr val="004371"/>
                </a:solidFill>
              </a:rPr>
              <a:t>Water Quality</a:t>
            </a:r>
          </a:p>
        </p:txBody>
      </p:sp>
      <p:pic>
        <p:nvPicPr>
          <p:cNvPr id="7170" name="Picture 2" descr="http://www.bafg.de/SharedDocs/Bilder/Bilder_GRDC/grdcTSEall.jpg?__blob=poster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85"/>
          <a:stretch/>
        </p:blipFill>
        <p:spPr bwMode="auto">
          <a:xfrm>
            <a:off x="4825244" y="1761232"/>
            <a:ext cx="3895539" cy="195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P:\Intern\Projektdaten\gems\doc\data_availability\figures\most_recent_data_availability_(greater_5_measurements)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" t="6448" r="3627" b="10005"/>
          <a:stretch/>
        </p:blipFill>
        <p:spPr bwMode="auto">
          <a:xfrm>
            <a:off x="4644008" y="4210504"/>
            <a:ext cx="4076775" cy="195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567" y="2890202"/>
            <a:ext cx="1945915" cy="104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AutoShape 8" descr="Bildergebnis für wm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8" name="AutoShape 10" descr="Bildergebnis für wm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7179" name="Picture 11" descr="D:\Users\Saile\Google Drive\WWF7\123px-UNEP-Logo.svg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354" y="4187207"/>
            <a:ext cx="1038289" cy="12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1" name="Picture 13" descr="http://upload.wikimedia.org/wikipedia/commons/thumb/0/09/Flag_of_the_World_Meteorological_Organization.svg/218px-Flag_of_the_World_Meteorological_Organization.svg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354" y="1761232"/>
            <a:ext cx="1569600" cy="10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3" name="Picture 15" descr="GEMS Water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304" y="5620719"/>
            <a:ext cx="1257300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A9EF-B9C6-477E-85FC-CD21A1C48106}" type="datetime1">
              <a:rPr lang="de-DE" smtClean="0"/>
              <a:t>21.09.2015</a:t>
            </a:fld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060F-0ABF-4329-9E9B-0D6B97013CB3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4331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GEMStat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Consists of more than:</a:t>
            </a:r>
          </a:p>
          <a:p>
            <a:pPr lvl="1"/>
            <a:r>
              <a:rPr lang="en-GB" dirty="0"/>
              <a:t>4.9 Mio records</a:t>
            </a:r>
          </a:p>
          <a:p>
            <a:pPr lvl="1"/>
            <a:r>
              <a:rPr lang="en-GB" dirty="0"/>
              <a:t>100 parameters</a:t>
            </a:r>
          </a:p>
          <a:p>
            <a:pPr lvl="1"/>
            <a:r>
              <a:rPr lang="en-GB" dirty="0" smtClean="0"/>
              <a:t>5000 </a:t>
            </a:r>
            <a:r>
              <a:rPr lang="en-GB" dirty="0"/>
              <a:t>stations </a:t>
            </a:r>
          </a:p>
          <a:p>
            <a:pPr lvl="1"/>
            <a:r>
              <a:rPr lang="en-GB" dirty="0"/>
              <a:t>100 countries </a:t>
            </a:r>
          </a:p>
          <a:p>
            <a:endParaRPr lang="de-DE" dirty="0" smtClean="0"/>
          </a:p>
          <a:p>
            <a:r>
              <a:rPr lang="de-DE" dirty="0" smtClean="0"/>
              <a:t>Web </a:t>
            </a:r>
            <a:r>
              <a:rPr lang="de-DE" dirty="0" err="1" smtClean="0"/>
              <a:t>services</a:t>
            </a:r>
            <a:endParaRPr lang="de-DE" dirty="0" smtClean="0"/>
          </a:p>
          <a:p>
            <a:pPr lvl="1"/>
            <a:r>
              <a:rPr lang="de-DE" dirty="0" smtClean="0"/>
              <a:t>WFS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HDWG Meeting 2015, Orleans</a:t>
            </a:r>
            <a:endParaRPr lang="en-US" dirty="0" smtClean="0"/>
          </a:p>
        </p:txBody>
      </p:sp>
      <p:pic>
        <p:nvPicPr>
          <p:cNvPr id="5" name="Bild 7" descr="Ohne Titel.tif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3" b="434"/>
          <a:stretch/>
        </p:blipFill>
        <p:spPr>
          <a:xfrm>
            <a:off x="4427984" y="1340768"/>
            <a:ext cx="4506383" cy="4409864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58304-56DC-441B-B970-D6AC1D098B61}" type="datetime1">
              <a:rPr lang="de-DE" smtClean="0"/>
              <a:t>21.09.2015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060F-0ABF-4329-9E9B-0D6B97013CB3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114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33" r="53846"/>
          <a:stretch/>
        </p:blipFill>
        <p:spPr bwMode="auto">
          <a:xfrm>
            <a:off x="4764852" y="936104"/>
            <a:ext cx="4415660" cy="486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Analytical </a:t>
            </a:r>
            <a:r>
              <a:rPr lang="de-DE" dirty="0" err="1" smtClean="0"/>
              <a:t>Methods</a:t>
            </a:r>
            <a:r>
              <a:rPr lang="de-DE" dirty="0" smtClean="0"/>
              <a:t> </a:t>
            </a:r>
            <a:r>
              <a:rPr lang="de-DE" dirty="0" err="1" smtClean="0"/>
              <a:t>Dictionary</a:t>
            </a:r>
            <a:endParaRPr lang="de-DE" dirty="0"/>
          </a:p>
        </p:txBody>
      </p:sp>
      <p:sp>
        <p:nvSpPr>
          <p:cNvPr id="10" name="Inhaltsplatzhalt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3A56B-8A88-4BBD-AB41-CD4E1CBEBF7B}" type="datetime1">
              <a:rPr lang="de-DE" smtClean="0"/>
              <a:t>21.09.2015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HDWG Meeting 2015, Orleans</a:t>
            </a:r>
            <a:endParaRPr lang="en-US" dirty="0" smtClean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060F-0ABF-4329-9E9B-0D6B97013CB3}" type="slidenum">
              <a:rPr lang="de-DE" smtClean="0"/>
              <a:t>4</a:t>
            </a:fld>
            <a:endParaRPr lang="de-DE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57200" y="1143000"/>
            <a:ext cx="5715000" cy="4800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4371"/>
              </a:buClr>
              <a:buSzPct val="70000"/>
              <a:buFont typeface="Wingdings" panose="05000000000000000000" pitchFamily="2" charset="2"/>
              <a:buChar char=""/>
              <a:defRPr sz="2800" kern="1200">
                <a:solidFill>
                  <a:srgbClr val="0043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4371"/>
              </a:buClr>
              <a:buSzPct val="75000"/>
              <a:buFont typeface="Wingdings" panose="05000000000000000000" pitchFamily="2" charset="2"/>
              <a:buChar char=""/>
              <a:defRPr sz="2800" kern="1200">
                <a:solidFill>
                  <a:srgbClr val="00437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4371"/>
              </a:buClr>
              <a:buFont typeface="Arial" panose="020B0604020202020204" pitchFamily="34" charset="0"/>
              <a:buChar char="•"/>
              <a:defRPr sz="2400" kern="1200">
                <a:solidFill>
                  <a:srgbClr val="00437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4371"/>
              </a:buClr>
              <a:buFont typeface="Arial" panose="020B0604020202020204" pitchFamily="34" charset="0"/>
              <a:buChar char="•"/>
              <a:defRPr sz="2000" kern="1200">
                <a:solidFill>
                  <a:srgbClr val="00437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4371"/>
              </a:buClr>
              <a:buFont typeface="Arial" panose="020B0604020202020204" pitchFamily="34" charset="0"/>
              <a:buChar char="•"/>
              <a:defRPr sz="2000" kern="1200">
                <a:solidFill>
                  <a:srgbClr val="00437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/>
              <a:buNone/>
            </a:pPr>
            <a:r>
              <a:rPr lang="en-US" altLang="de-DE" dirty="0" smtClean="0">
                <a:solidFill>
                  <a:srgbClr val="CC0000"/>
                </a:solidFill>
              </a:rPr>
              <a:t>Content</a:t>
            </a:r>
          </a:p>
          <a:p>
            <a:pPr>
              <a:buClr>
                <a:srgbClr val="CC0000"/>
              </a:buClr>
              <a:buFont typeface="Wingdings" panose="05000000000000000000" pitchFamily="2" charset="2"/>
              <a:buChar char="Ø"/>
            </a:pPr>
            <a:r>
              <a:rPr lang="en-US" altLang="de-DE" sz="2400" dirty="0" smtClean="0">
                <a:latin typeface="+mj-lt"/>
              </a:rPr>
              <a:t>Title of analytical method</a:t>
            </a:r>
          </a:p>
          <a:p>
            <a:pPr>
              <a:buClr>
                <a:srgbClr val="CC0000"/>
              </a:buClr>
              <a:buFont typeface="Wingdings" panose="05000000000000000000" pitchFamily="2" charset="2"/>
              <a:buChar char="Ø"/>
            </a:pPr>
            <a:endParaRPr lang="en-US" altLang="de-DE" sz="1000" dirty="0" smtClean="0">
              <a:latin typeface="+mj-lt"/>
            </a:endParaRPr>
          </a:p>
          <a:p>
            <a:pPr>
              <a:buClr>
                <a:srgbClr val="CC0000"/>
              </a:buClr>
              <a:buFont typeface="Wingdings" panose="05000000000000000000" pitchFamily="2" charset="2"/>
              <a:buChar char="Ø"/>
            </a:pPr>
            <a:r>
              <a:rPr lang="en-US" altLang="de-DE" sz="2400" dirty="0" smtClean="0">
                <a:latin typeface="+mj-lt"/>
              </a:rPr>
              <a:t>Instrumentation used</a:t>
            </a:r>
          </a:p>
          <a:p>
            <a:pPr>
              <a:buClr>
                <a:srgbClr val="CC0000"/>
              </a:buClr>
              <a:buFont typeface="Wingdings" panose="05000000000000000000" pitchFamily="2" charset="2"/>
              <a:buChar char="Ø"/>
            </a:pPr>
            <a:endParaRPr lang="en-US" altLang="de-DE" sz="1000" dirty="0" smtClean="0">
              <a:latin typeface="+mj-lt"/>
            </a:endParaRPr>
          </a:p>
          <a:p>
            <a:pPr>
              <a:buClr>
                <a:srgbClr val="CC0000"/>
              </a:buClr>
              <a:buFont typeface="Wingdings" panose="05000000000000000000" pitchFamily="2" charset="2"/>
              <a:buChar char="Ø"/>
            </a:pPr>
            <a:r>
              <a:rPr lang="en-US" altLang="de-DE" sz="2400" dirty="0" smtClean="0">
                <a:latin typeface="+mj-lt"/>
              </a:rPr>
              <a:t>Principle of the method</a:t>
            </a:r>
          </a:p>
          <a:p>
            <a:pPr>
              <a:buClr>
                <a:srgbClr val="CC0000"/>
              </a:buClr>
              <a:buFont typeface="Wingdings" panose="05000000000000000000" pitchFamily="2" charset="2"/>
              <a:buChar char="Ø"/>
            </a:pPr>
            <a:endParaRPr lang="en-US" altLang="de-DE" sz="1000" dirty="0" smtClean="0">
              <a:latin typeface="+mj-lt"/>
            </a:endParaRPr>
          </a:p>
          <a:p>
            <a:pPr>
              <a:buClr>
                <a:srgbClr val="CC0000"/>
              </a:buClr>
              <a:buFont typeface="Wingdings" panose="05000000000000000000" pitchFamily="2" charset="2"/>
              <a:buChar char="Ø"/>
            </a:pPr>
            <a:r>
              <a:rPr lang="en-US" altLang="de-DE" sz="2400" dirty="0" smtClean="0">
                <a:latin typeface="+mj-lt"/>
              </a:rPr>
              <a:t>Method Detection Limit (MDL)</a:t>
            </a:r>
          </a:p>
          <a:p>
            <a:pPr>
              <a:buClr>
                <a:srgbClr val="CC0000"/>
              </a:buClr>
              <a:buFont typeface="Wingdings" panose="05000000000000000000" pitchFamily="2" charset="2"/>
              <a:buChar char="Ø"/>
            </a:pPr>
            <a:endParaRPr lang="en-US" altLang="de-DE" sz="1000" dirty="0" smtClean="0">
              <a:latin typeface="+mj-lt"/>
            </a:endParaRPr>
          </a:p>
          <a:p>
            <a:pPr>
              <a:buClr>
                <a:srgbClr val="CC0000"/>
              </a:buClr>
              <a:buFont typeface="Wingdings" panose="05000000000000000000" pitchFamily="2" charset="2"/>
              <a:buChar char="Ø"/>
            </a:pPr>
            <a:r>
              <a:rPr lang="en-US" altLang="de-DE" sz="2400" dirty="0" smtClean="0">
                <a:latin typeface="+mj-lt"/>
              </a:rPr>
              <a:t>Agency requesting the method</a:t>
            </a:r>
          </a:p>
          <a:p>
            <a:pPr>
              <a:buClr>
                <a:srgbClr val="CC0000"/>
              </a:buClr>
              <a:buFont typeface="Wingdings" panose="05000000000000000000" pitchFamily="2" charset="2"/>
              <a:buChar char="Ø"/>
            </a:pPr>
            <a:endParaRPr lang="en-US" altLang="de-DE" sz="1000" dirty="0" smtClean="0">
              <a:latin typeface="+mj-lt"/>
            </a:endParaRPr>
          </a:p>
          <a:p>
            <a:pPr>
              <a:buClr>
                <a:srgbClr val="CC0000"/>
              </a:buClr>
              <a:buFont typeface="Wingdings" panose="05000000000000000000" pitchFamily="2" charset="2"/>
              <a:buChar char="Ø"/>
            </a:pPr>
            <a:r>
              <a:rPr lang="en-US" altLang="de-DE" sz="2400" dirty="0" smtClean="0">
                <a:latin typeface="+mj-lt"/>
              </a:rPr>
              <a:t>Literature reference</a:t>
            </a:r>
          </a:p>
          <a:p>
            <a:pPr>
              <a:buClr>
                <a:srgbClr val="CC0000"/>
              </a:buClr>
              <a:buFont typeface="Wingdings" panose="05000000000000000000" pitchFamily="2" charset="2"/>
              <a:buChar char="Ø"/>
            </a:pPr>
            <a:r>
              <a:rPr lang="en-US" altLang="de-DE" sz="2400" dirty="0" smtClean="0">
                <a:latin typeface="+mj-lt"/>
              </a:rPr>
              <a:t>=&gt; NAQUADAT: Dictionary of the National Water Quality Data Bank</a:t>
            </a:r>
            <a:endParaRPr lang="en-US" altLang="de-DE" sz="2400" dirty="0">
              <a:latin typeface="+mj-lt"/>
            </a:endParaRPr>
          </a:p>
        </p:txBody>
      </p:sp>
      <p:pic>
        <p:nvPicPr>
          <p:cNvPr id="3074" name="Picture 2" descr="http://www.hach.com/asset-get.product.image.jsa?type=P&amp;sku=2270800&amp;size=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4238532"/>
            <a:ext cx="2182044" cy="3002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506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 6"/>
          <p:cNvSpPr/>
          <p:nvPr/>
        </p:nvSpPr>
        <p:spPr>
          <a:xfrm>
            <a:off x="0" y="1511289"/>
            <a:ext cx="9243060" cy="1194353"/>
          </a:xfrm>
          <a:custGeom>
            <a:avLst/>
            <a:gdLst>
              <a:gd name="connsiteX0" fmla="*/ 0 w 9006840"/>
              <a:gd name="connsiteY0" fmla="*/ 561351 h 1194353"/>
              <a:gd name="connsiteX1" fmla="*/ 586740 w 9006840"/>
              <a:gd name="connsiteY1" fmla="*/ 35571 h 1194353"/>
              <a:gd name="connsiteX2" fmla="*/ 1287780 w 9006840"/>
              <a:gd name="connsiteY2" fmla="*/ 149871 h 1194353"/>
              <a:gd name="connsiteX3" fmla="*/ 2377440 w 9006840"/>
              <a:gd name="connsiteY3" fmla="*/ 972831 h 1194353"/>
              <a:gd name="connsiteX4" fmla="*/ 3383280 w 9006840"/>
              <a:gd name="connsiteY4" fmla="*/ 767091 h 1194353"/>
              <a:gd name="connsiteX5" fmla="*/ 3848100 w 9006840"/>
              <a:gd name="connsiteY5" fmla="*/ 233691 h 1194353"/>
              <a:gd name="connsiteX6" fmla="*/ 4099560 w 9006840"/>
              <a:gd name="connsiteY6" fmla="*/ 127011 h 1194353"/>
              <a:gd name="connsiteX7" fmla="*/ 4503420 w 9006840"/>
              <a:gd name="connsiteY7" fmla="*/ 309891 h 1194353"/>
              <a:gd name="connsiteX8" fmla="*/ 4983480 w 9006840"/>
              <a:gd name="connsiteY8" fmla="*/ 782331 h 1194353"/>
              <a:gd name="connsiteX9" fmla="*/ 5730240 w 9006840"/>
              <a:gd name="connsiteY9" fmla="*/ 1193811 h 1194353"/>
              <a:gd name="connsiteX10" fmla="*/ 6964680 w 9006840"/>
              <a:gd name="connsiteY10" fmla="*/ 858531 h 1194353"/>
              <a:gd name="connsiteX11" fmla="*/ 7574280 w 9006840"/>
              <a:gd name="connsiteY11" fmla="*/ 386091 h 1194353"/>
              <a:gd name="connsiteX12" fmla="*/ 8046720 w 9006840"/>
              <a:gd name="connsiteY12" fmla="*/ 157491 h 1194353"/>
              <a:gd name="connsiteX13" fmla="*/ 8686800 w 9006840"/>
              <a:gd name="connsiteY13" fmla="*/ 294651 h 1194353"/>
              <a:gd name="connsiteX14" fmla="*/ 9006840 w 9006840"/>
              <a:gd name="connsiteY14" fmla="*/ 386091 h 1194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006840" h="1194353">
                <a:moveTo>
                  <a:pt x="0" y="561351"/>
                </a:moveTo>
                <a:cubicBezTo>
                  <a:pt x="186055" y="332751"/>
                  <a:pt x="372110" y="104151"/>
                  <a:pt x="586740" y="35571"/>
                </a:cubicBezTo>
                <a:cubicBezTo>
                  <a:pt x="801370" y="-33009"/>
                  <a:pt x="989330" y="-6339"/>
                  <a:pt x="1287780" y="149871"/>
                </a:cubicBezTo>
                <a:cubicBezTo>
                  <a:pt x="1586230" y="306081"/>
                  <a:pt x="2028190" y="869961"/>
                  <a:pt x="2377440" y="972831"/>
                </a:cubicBezTo>
                <a:cubicBezTo>
                  <a:pt x="2726690" y="1075701"/>
                  <a:pt x="3138170" y="890281"/>
                  <a:pt x="3383280" y="767091"/>
                </a:cubicBezTo>
                <a:cubicBezTo>
                  <a:pt x="3628390" y="643901"/>
                  <a:pt x="3728720" y="340371"/>
                  <a:pt x="3848100" y="233691"/>
                </a:cubicBezTo>
                <a:cubicBezTo>
                  <a:pt x="3967480" y="127011"/>
                  <a:pt x="3990340" y="114311"/>
                  <a:pt x="4099560" y="127011"/>
                </a:cubicBezTo>
                <a:cubicBezTo>
                  <a:pt x="4208780" y="139711"/>
                  <a:pt x="4356100" y="200671"/>
                  <a:pt x="4503420" y="309891"/>
                </a:cubicBezTo>
                <a:cubicBezTo>
                  <a:pt x="4650740" y="419111"/>
                  <a:pt x="4779010" y="635011"/>
                  <a:pt x="4983480" y="782331"/>
                </a:cubicBezTo>
                <a:cubicBezTo>
                  <a:pt x="5187950" y="929651"/>
                  <a:pt x="5400040" y="1181111"/>
                  <a:pt x="5730240" y="1193811"/>
                </a:cubicBezTo>
                <a:cubicBezTo>
                  <a:pt x="6060440" y="1206511"/>
                  <a:pt x="6657340" y="993151"/>
                  <a:pt x="6964680" y="858531"/>
                </a:cubicBezTo>
                <a:cubicBezTo>
                  <a:pt x="7272020" y="723911"/>
                  <a:pt x="7393940" y="502931"/>
                  <a:pt x="7574280" y="386091"/>
                </a:cubicBezTo>
                <a:cubicBezTo>
                  <a:pt x="7754620" y="269251"/>
                  <a:pt x="7861300" y="172731"/>
                  <a:pt x="8046720" y="157491"/>
                </a:cubicBezTo>
                <a:cubicBezTo>
                  <a:pt x="8232140" y="142251"/>
                  <a:pt x="8526780" y="256551"/>
                  <a:pt x="8686800" y="294651"/>
                </a:cubicBezTo>
                <a:cubicBezTo>
                  <a:pt x="8846820" y="332751"/>
                  <a:pt x="8926830" y="359421"/>
                  <a:pt x="9006840" y="386091"/>
                </a:cubicBezTo>
              </a:path>
            </a:pathLst>
          </a:custGeom>
          <a:noFill/>
          <a:ln w="825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3" name="Diagramm 2"/>
          <p:cNvGraphicFramePr/>
          <p:nvPr>
            <p:extLst>
              <p:ext uri="{D42A27DB-BD31-4B8C-83A1-F6EECF244321}">
                <p14:modId xmlns:p14="http://schemas.microsoft.com/office/powerpoint/2010/main" val="2997880049"/>
              </p:ext>
            </p:extLst>
          </p:nvPr>
        </p:nvGraphicFramePr>
        <p:xfrm>
          <a:off x="490404" y="1885280"/>
          <a:ext cx="8136904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200" dirty="0" err="1" smtClean="0"/>
              <a:t>Referencing</a:t>
            </a:r>
            <a:r>
              <a:rPr lang="de-DE" sz="2200" dirty="0" smtClean="0"/>
              <a:t> </a:t>
            </a:r>
            <a:r>
              <a:rPr lang="de-DE" sz="2200" dirty="0" err="1" smtClean="0"/>
              <a:t>water</a:t>
            </a:r>
            <a:r>
              <a:rPr lang="de-DE" sz="2200" dirty="0" smtClean="0"/>
              <a:t> </a:t>
            </a:r>
            <a:r>
              <a:rPr lang="de-DE" sz="2200" dirty="0" err="1" smtClean="0"/>
              <a:t>data</a:t>
            </a:r>
            <a:endParaRPr lang="de-DE" sz="2200" dirty="0"/>
          </a:p>
        </p:txBody>
      </p:sp>
      <p:sp>
        <p:nvSpPr>
          <p:cNvPr id="4" name="Abgerundetes Rechteck 3"/>
          <p:cNvSpPr/>
          <p:nvPr/>
        </p:nvSpPr>
        <p:spPr>
          <a:xfrm>
            <a:off x="2195736" y="1229280"/>
            <a:ext cx="1368152" cy="1119600"/>
          </a:xfrm>
          <a:prstGeom prst="roundRect">
            <a:avLst/>
          </a:prstGeom>
          <a:solidFill>
            <a:srgbClr val="0075BF"/>
          </a:solidFill>
          <a:ln>
            <a:solidFill>
              <a:srgbClr val="004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Target</a:t>
            </a:r>
          </a:p>
          <a:p>
            <a:pPr algn="ctr"/>
            <a:r>
              <a:rPr lang="de-DE" sz="1400" dirty="0" err="1" smtClean="0"/>
              <a:t>WaterBody</a:t>
            </a:r>
            <a:endParaRPr lang="de-DE" sz="1400" dirty="0"/>
          </a:p>
        </p:txBody>
      </p:sp>
      <p:sp>
        <p:nvSpPr>
          <p:cNvPr id="5" name="Abgerundetes Rechteck 4"/>
          <p:cNvSpPr/>
          <p:nvPr/>
        </p:nvSpPr>
        <p:spPr>
          <a:xfrm>
            <a:off x="5580112" y="1229280"/>
            <a:ext cx="1368152" cy="1119600"/>
          </a:xfrm>
          <a:prstGeom prst="roundRect">
            <a:avLst/>
          </a:prstGeom>
          <a:solidFill>
            <a:srgbClr val="0075BF"/>
          </a:solidFill>
          <a:ln>
            <a:solidFill>
              <a:srgbClr val="004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Monitoring Point</a:t>
            </a:r>
          </a:p>
        </p:txBody>
      </p:sp>
      <p:sp>
        <p:nvSpPr>
          <p:cNvPr id="8" name="Abgerundetes Rechteck 7"/>
          <p:cNvSpPr/>
          <p:nvPr/>
        </p:nvSpPr>
        <p:spPr>
          <a:xfrm>
            <a:off x="611560" y="1229280"/>
            <a:ext cx="1368152" cy="1119600"/>
          </a:xfrm>
          <a:prstGeom prst="roundRect">
            <a:avLst/>
          </a:prstGeom>
          <a:solidFill>
            <a:srgbClr val="89B4E0"/>
          </a:solidFill>
          <a:ln>
            <a:solidFill>
              <a:srgbClr val="004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AMAZON</a:t>
            </a:r>
          </a:p>
          <a:p>
            <a:pPr algn="ctr"/>
            <a:r>
              <a:rPr lang="de-DE" sz="1400" dirty="0"/>
              <a:t>(</a:t>
            </a:r>
            <a:r>
              <a:rPr lang="de-DE" sz="1400" dirty="0" err="1"/>
              <a:t>Sampled</a:t>
            </a:r>
            <a:r>
              <a:rPr lang="de-DE" sz="1400" dirty="0"/>
              <a:t> Feature</a:t>
            </a:r>
            <a:r>
              <a:rPr lang="de-DE" sz="1400" dirty="0" smtClean="0"/>
              <a:t>)</a:t>
            </a:r>
            <a:endParaRPr lang="de-DE" sz="1400" dirty="0"/>
          </a:p>
        </p:txBody>
      </p:sp>
      <p:sp>
        <p:nvSpPr>
          <p:cNvPr id="10" name="Abgerundetes Rechteck 9"/>
          <p:cNvSpPr/>
          <p:nvPr/>
        </p:nvSpPr>
        <p:spPr>
          <a:xfrm>
            <a:off x="888544" y="3356992"/>
            <a:ext cx="1368152" cy="1119600"/>
          </a:xfrm>
          <a:prstGeom prst="roundRect">
            <a:avLst/>
          </a:prstGeom>
          <a:solidFill>
            <a:srgbClr val="89B4E0"/>
          </a:solidFill>
          <a:ln>
            <a:solidFill>
              <a:srgbClr val="004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AMMONIA</a:t>
            </a:r>
          </a:p>
          <a:p>
            <a:pPr algn="ctr"/>
            <a:r>
              <a:rPr lang="de-DE" sz="1400" dirty="0"/>
              <a:t>(</a:t>
            </a:r>
            <a:r>
              <a:rPr lang="de-DE" sz="1400" dirty="0" err="1"/>
              <a:t>Observed</a:t>
            </a:r>
            <a:r>
              <a:rPr lang="de-DE" sz="1400" dirty="0"/>
              <a:t> Property</a:t>
            </a:r>
            <a:r>
              <a:rPr lang="de-DE" sz="1400" dirty="0" smtClean="0"/>
              <a:t>)</a:t>
            </a:r>
            <a:endParaRPr lang="de-DE" sz="1400" dirty="0"/>
          </a:p>
        </p:txBody>
      </p:sp>
      <p:sp>
        <p:nvSpPr>
          <p:cNvPr id="11" name="Abgerundetes Rechteck 10"/>
          <p:cNvSpPr/>
          <p:nvPr/>
        </p:nvSpPr>
        <p:spPr>
          <a:xfrm>
            <a:off x="6856060" y="3374280"/>
            <a:ext cx="1368152" cy="1119600"/>
          </a:xfrm>
          <a:prstGeom prst="roundRect">
            <a:avLst/>
          </a:prstGeom>
          <a:solidFill>
            <a:srgbClr val="89B4E0"/>
          </a:solidFill>
          <a:ln>
            <a:solidFill>
              <a:srgbClr val="004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APHA 4500-NH3</a:t>
            </a:r>
          </a:p>
          <a:p>
            <a:pPr algn="ctr"/>
            <a:r>
              <a:rPr lang="de-DE" sz="1400" dirty="0"/>
              <a:t>(</a:t>
            </a:r>
            <a:r>
              <a:rPr lang="de-DE" sz="1400" dirty="0" err="1"/>
              <a:t>Procedure</a:t>
            </a:r>
            <a:r>
              <a:rPr lang="de-DE" sz="1400" dirty="0" smtClean="0"/>
              <a:t>)</a:t>
            </a:r>
            <a:endParaRPr lang="de-DE" sz="1400" dirty="0"/>
          </a:p>
        </p:txBody>
      </p:sp>
      <p:sp>
        <p:nvSpPr>
          <p:cNvPr id="13" name="Abgerundetes Rechteck 12"/>
          <p:cNvSpPr/>
          <p:nvPr/>
        </p:nvSpPr>
        <p:spPr>
          <a:xfrm>
            <a:off x="7164288" y="1229280"/>
            <a:ext cx="1368152" cy="1119600"/>
          </a:xfrm>
          <a:prstGeom prst="roundRect">
            <a:avLst/>
          </a:prstGeom>
          <a:solidFill>
            <a:srgbClr val="89B4E0"/>
          </a:solidFill>
          <a:ln>
            <a:solidFill>
              <a:srgbClr val="004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OBIDOS</a:t>
            </a:r>
          </a:p>
          <a:p>
            <a:pPr algn="ctr"/>
            <a:r>
              <a:rPr lang="de-DE" sz="1400" dirty="0"/>
              <a:t>(Sampling Feature</a:t>
            </a:r>
            <a:r>
              <a:rPr lang="de-DE" sz="1400" dirty="0" smtClean="0"/>
              <a:t>)</a:t>
            </a:r>
            <a:endParaRPr lang="de-DE" sz="1400" dirty="0"/>
          </a:p>
        </p:txBody>
      </p:sp>
      <p:cxnSp>
        <p:nvCxnSpPr>
          <p:cNvPr id="22" name="Gerade Verbindung mit Pfeil 21"/>
          <p:cNvCxnSpPr>
            <a:endCxn id="5" idx="1"/>
          </p:cNvCxnSpPr>
          <p:nvPr/>
        </p:nvCxnSpPr>
        <p:spPr>
          <a:xfrm flipV="1">
            <a:off x="5125204" y="1789080"/>
            <a:ext cx="454908" cy="703816"/>
          </a:xfrm>
          <a:prstGeom prst="straightConnector1">
            <a:avLst/>
          </a:prstGeom>
          <a:ln w="25400">
            <a:solidFill>
              <a:srgbClr val="0043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/>
          <p:cNvCxnSpPr>
            <a:endCxn id="4" idx="3"/>
          </p:cNvCxnSpPr>
          <p:nvPr/>
        </p:nvCxnSpPr>
        <p:spPr>
          <a:xfrm flipH="1" flipV="1">
            <a:off x="3563888" y="1789080"/>
            <a:ext cx="432048" cy="703816"/>
          </a:xfrm>
          <a:prstGeom prst="straightConnector1">
            <a:avLst/>
          </a:prstGeom>
          <a:ln w="25400">
            <a:solidFill>
              <a:srgbClr val="0043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krümmte Verbindung 35"/>
          <p:cNvCxnSpPr>
            <a:stCxn id="13" idx="0"/>
            <a:endCxn id="8" idx="0"/>
          </p:cNvCxnSpPr>
          <p:nvPr/>
        </p:nvCxnSpPr>
        <p:spPr>
          <a:xfrm rot="16200000" flipV="1">
            <a:off x="4572000" y="-2047084"/>
            <a:ext cx="12700" cy="6552728"/>
          </a:xfrm>
          <a:prstGeom prst="curvedConnector3">
            <a:avLst>
              <a:gd name="adj1" fmla="val 180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5"/>
          <p:cNvSpPr txBox="1"/>
          <p:nvPr/>
        </p:nvSpPr>
        <p:spPr>
          <a:xfrm>
            <a:off x="1811118" y="2564904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 smtClean="0">
                <a:solidFill>
                  <a:srgbClr val="004371"/>
                </a:solidFill>
              </a:rPr>
              <a:t>HY_Features</a:t>
            </a:r>
            <a:endParaRPr lang="de-DE" sz="2000" dirty="0">
              <a:solidFill>
                <a:srgbClr val="004371"/>
              </a:solidFill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5724128" y="5301208"/>
            <a:ext cx="2376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 smtClean="0">
                <a:solidFill>
                  <a:srgbClr val="004371"/>
                </a:solidFill>
              </a:rPr>
              <a:t>WaterML</a:t>
            </a:r>
            <a:r>
              <a:rPr lang="de-DE" sz="2000" dirty="0" smtClean="0">
                <a:solidFill>
                  <a:srgbClr val="004371"/>
                </a:solidFill>
              </a:rPr>
              <a:t> 2</a:t>
            </a:r>
            <a:endParaRPr lang="de-DE" sz="2000" dirty="0">
              <a:solidFill>
                <a:srgbClr val="004371"/>
              </a:solidFill>
            </a:endParaRPr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HDWG Meeting 2015, Orleans</a:t>
            </a:r>
            <a:endParaRPr lang="en-US" dirty="0" smtClean="0"/>
          </a:p>
        </p:txBody>
      </p:sp>
      <p:sp>
        <p:nvSpPr>
          <p:cNvPr id="15" name="Abgerundetes Rechteck 14"/>
          <p:cNvSpPr/>
          <p:nvPr/>
        </p:nvSpPr>
        <p:spPr>
          <a:xfrm>
            <a:off x="611560" y="3212976"/>
            <a:ext cx="7920880" cy="144016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Datumsplatzhalt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89B3-8617-41C6-BB10-B1C978131455}" type="datetime1">
              <a:rPr lang="de-DE" smtClean="0"/>
              <a:t>21.09.2015</a:t>
            </a:fld>
            <a:endParaRPr lang="de-DE"/>
          </a:p>
        </p:txBody>
      </p:sp>
      <p:sp>
        <p:nvSpPr>
          <p:cNvPr id="17" name="Foliennummernplatzhalt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060F-0ABF-4329-9E9B-0D6B97013CB3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2908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Observable Properties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HDWG Meeting 2015, Orleans</a:t>
            </a:r>
            <a:endParaRPr lang="en-US" dirty="0" smtClean="0"/>
          </a:p>
        </p:txBody>
      </p:sp>
      <p:pic>
        <p:nvPicPr>
          <p:cNvPr id="6" name="Picture 11" descr="Nitrogen_Object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79152" y="1350245"/>
            <a:ext cx="5564738" cy="3064413"/>
          </a:xfrm>
          <a:prstGeom prst="rect">
            <a:avLst/>
          </a:prstGeom>
        </p:spPr>
      </p:pic>
      <p:sp>
        <p:nvSpPr>
          <p:cNvPr id="8" name="Textfeld 7"/>
          <p:cNvSpPr txBox="1"/>
          <p:nvPr/>
        </p:nvSpPr>
        <p:spPr>
          <a:xfrm>
            <a:off x="1990079" y="5949280"/>
            <a:ext cx="1964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S. Cox et al., 2014</a:t>
            </a:r>
            <a:endParaRPr lang="de-DE" sz="1200" dirty="0"/>
          </a:p>
        </p:txBody>
      </p:sp>
      <p:sp>
        <p:nvSpPr>
          <p:cNvPr id="7" name="AutoShape 2" descr="Water Quality package dependencies on O&amp;M and WaterML 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1" name="AutoShape 4" descr="Water Quality package dependencies on O&amp;M and WaterML 2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2" name="Rectangle 176"/>
          <p:cNvSpPr/>
          <p:nvPr/>
        </p:nvSpPr>
        <p:spPr>
          <a:xfrm>
            <a:off x="1950364" y="2606063"/>
            <a:ext cx="1728788" cy="936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>
              <a:solidFill>
                <a:srgbClr val="FFFFFF"/>
              </a:solidFill>
            </a:endParaRPr>
          </a:p>
        </p:txBody>
      </p:sp>
      <p:grpSp>
        <p:nvGrpSpPr>
          <p:cNvPr id="13" name="Group 271"/>
          <p:cNvGrpSpPr>
            <a:grpSpLocks/>
          </p:cNvGrpSpPr>
          <p:nvPr/>
        </p:nvGrpSpPr>
        <p:grpSpPr bwMode="auto">
          <a:xfrm>
            <a:off x="261264" y="2679088"/>
            <a:ext cx="1574800" cy="1152525"/>
            <a:chOff x="3464" y="2111"/>
            <a:chExt cx="1074" cy="726"/>
          </a:xfrm>
        </p:grpSpPr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3482" y="2129"/>
              <a:ext cx="1056" cy="708"/>
            </a:xfrm>
            <a:prstGeom prst="rect">
              <a:avLst/>
            </a:prstGeom>
            <a:solidFill>
              <a:srgbClr val="C0BFC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3464" y="2111"/>
              <a:ext cx="36" cy="708"/>
            </a:xfrm>
            <a:prstGeom prst="rect">
              <a:avLst/>
            </a:prstGeom>
            <a:solidFill>
              <a:srgbClr val="E8CDC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3500" y="2111"/>
              <a:ext cx="42" cy="708"/>
            </a:xfrm>
            <a:prstGeom prst="rect">
              <a:avLst/>
            </a:prstGeom>
            <a:solidFill>
              <a:srgbClr val="EACF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3542" y="2111"/>
              <a:ext cx="48" cy="708"/>
            </a:xfrm>
            <a:prstGeom prst="rect">
              <a:avLst/>
            </a:prstGeom>
            <a:solidFill>
              <a:srgbClr val="ECD1C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3590" y="2111"/>
              <a:ext cx="42" cy="708"/>
            </a:xfrm>
            <a:prstGeom prst="rect">
              <a:avLst/>
            </a:prstGeom>
            <a:solidFill>
              <a:srgbClr val="EED3D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3632" y="2111"/>
              <a:ext cx="42" cy="708"/>
            </a:xfrm>
            <a:prstGeom prst="rect">
              <a:avLst/>
            </a:prstGeom>
            <a:solidFill>
              <a:srgbClr val="F0D5D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3674" y="2111"/>
              <a:ext cx="48" cy="708"/>
            </a:xfrm>
            <a:prstGeom prst="rect">
              <a:avLst/>
            </a:prstGeom>
            <a:solidFill>
              <a:srgbClr val="F2D7D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3722" y="2111"/>
              <a:ext cx="60" cy="708"/>
            </a:xfrm>
            <a:prstGeom prst="rect">
              <a:avLst/>
            </a:prstGeom>
            <a:solidFill>
              <a:srgbClr val="F4D9D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3782" y="2111"/>
              <a:ext cx="48" cy="708"/>
            </a:xfrm>
            <a:prstGeom prst="rect">
              <a:avLst/>
            </a:prstGeom>
            <a:solidFill>
              <a:srgbClr val="F6DBD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3830" y="2111"/>
              <a:ext cx="42" cy="708"/>
            </a:xfrm>
            <a:prstGeom prst="rect">
              <a:avLst/>
            </a:prstGeom>
            <a:solidFill>
              <a:srgbClr val="F8DDD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3872" y="2111"/>
              <a:ext cx="48" cy="708"/>
            </a:xfrm>
            <a:prstGeom prst="rect">
              <a:avLst/>
            </a:prstGeom>
            <a:solidFill>
              <a:srgbClr val="FADFD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3920" y="2111"/>
              <a:ext cx="42" cy="708"/>
            </a:xfrm>
            <a:prstGeom prst="rect">
              <a:avLst/>
            </a:prstGeom>
            <a:solidFill>
              <a:srgbClr val="FCE1D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3962" y="2111"/>
              <a:ext cx="558" cy="708"/>
            </a:xfrm>
            <a:prstGeom prst="rect">
              <a:avLst/>
            </a:prstGeom>
            <a:solidFill>
              <a:srgbClr val="FFE4E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3464" y="2111"/>
              <a:ext cx="1056" cy="70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3704" y="2165"/>
              <a:ext cx="659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361950" indent="-361950" defTabSz="966788">
                <a:tabLst>
                  <a:tab pos="188913" algn="l"/>
                </a:tabLst>
              </a:pPr>
              <a:r>
                <a:rPr lang="en-US" sz="1000">
                  <a:solidFill>
                    <a:srgbClr val="000000"/>
                  </a:solidFill>
                  <a:latin typeface="Arial" pitchFamily="34" charset="0"/>
                </a:rPr>
                <a:t>OM_Observation</a:t>
              </a:r>
              <a:endParaRPr lang="en-US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3464" y="2291"/>
              <a:ext cx="105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auto">
            <a:xfrm>
              <a:off x="3494" y="2315"/>
              <a:ext cx="75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361950" indent="-361950" defTabSz="966788">
                <a:tabLst>
                  <a:tab pos="188913" algn="l"/>
                </a:tabLst>
              </a:pPr>
              <a:r>
                <a:rPr lang="en-US" sz="1000">
                  <a:solidFill>
                    <a:srgbClr val="8B0000"/>
                  </a:solidFill>
                  <a:latin typeface="Arial" pitchFamily="34" charset="0"/>
                </a:rPr>
                <a:t>+ </a:t>
              </a:r>
              <a:endParaRPr lang="en-US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3620" y="2315"/>
              <a:ext cx="701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361950" indent="-361950" defTabSz="966788">
                <a:tabLst>
                  <a:tab pos="188913" algn="l"/>
                </a:tabLst>
              </a:pPr>
              <a:r>
                <a:rPr lang="en-US" sz="1000">
                  <a:solidFill>
                    <a:srgbClr val="8B0000"/>
                  </a:solidFill>
                  <a:latin typeface="Arial" pitchFamily="34" charset="0"/>
                </a:rPr>
                <a:t>phenomenonTime</a:t>
              </a:r>
              <a:endParaRPr lang="en-US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32" name="Rectangle 30"/>
            <p:cNvSpPr>
              <a:spLocks noChangeArrowheads="1"/>
            </p:cNvSpPr>
            <p:nvPr/>
          </p:nvSpPr>
          <p:spPr bwMode="auto">
            <a:xfrm>
              <a:off x="3494" y="2411"/>
              <a:ext cx="75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361950" indent="-361950" defTabSz="966788">
                <a:tabLst>
                  <a:tab pos="188913" algn="l"/>
                </a:tabLst>
              </a:pPr>
              <a:r>
                <a:rPr lang="en-US" sz="1000">
                  <a:solidFill>
                    <a:srgbClr val="8B0000"/>
                  </a:solidFill>
                  <a:latin typeface="Arial" pitchFamily="34" charset="0"/>
                </a:rPr>
                <a:t>+ </a:t>
              </a:r>
              <a:endParaRPr lang="en-US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3620" y="2411"/>
              <a:ext cx="408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361950" indent="-361950" defTabSz="966788">
                <a:tabLst>
                  <a:tab pos="188913" algn="l"/>
                </a:tabLst>
              </a:pPr>
              <a:r>
                <a:rPr lang="en-US" sz="1000">
                  <a:solidFill>
                    <a:srgbClr val="8B0000"/>
                  </a:solidFill>
                  <a:latin typeface="Arial" pitchFamily="34" charset="0"/>
                </a:rPr>
                <a:t>resultTime</a:t>
              </a:r>
              <a:endParaRPr lang="en-US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34" name="Rectangle 32"/>
            <p:cNvSpPr>
              <a:spLocks noChangeArrowheads="1"/>
            </p:cNvSpPr>
            <p:nvPr/>
          </p:nvSpPr>
          <p:spPr bwMode="auto">
            <a:xfrm>
              <a:off x="3494" y="2507"/>
              <a:ext cx="75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361950" indent="-361950" defTabSz="966788">
                <a:tabLst>
                  <a:tab pos="188913" algn="l"/>
                </a:tabLst>
              </a:pPr>
              <a:r>
                <a:rPr lang="en-US" sz="1000">
                  <a:solidFill>
                    <a:srgbClr val="8B0000"/>
                  </a:solidFill>
                  <a:latin typeface="Arial" pitchFamily="34" charset="0"/>
                </a:rPr>
                <a:t>+ </a:t>
              </a:r>
              <a:endParaRPr lang="en-US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35" name="Rectangle 33"/>
            <p:cNvSpPr>
              <a:spLocks noChangeArrowheads="1"/>
            </p:cNvSpPr>
            <p:nvPr/>
          </p:nvSpPr>
          <p:spPr bwMode="auto">
            <a:xfrm>
              <a:off x="3620" y="2507"/>
              <a:ext cx="591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361950" indent="-361950" defTabSz="966788">
                <a:tabLst>
                  <a:tab pos="188913" algn="l"/>
                </a:tabLst>
              </a:pPr>
              <a:r>
                <a:rPr lang="en-US" sz="1000">
                  <a:solidFill>
                    <a:srgbClr val="8B0000"/>
                  </a:solidFill>
                  <a:latin typeface="Arial" pitchFamily="34" charset="0"/>
                </a:rPr>
                <a:t>validTime [0..1]</a:t>
              </a:r>
              <a:endParaRPr lang="en-US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3494" y="2603"/>
              <a:ext cx="75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361950" indent="-361950" defTabSz="966788">
                <a:tabLst>
                  <a:tab pos="188913" algn="l"/>
                </a:tabLst>
              </a:pPr>
              <a:r>
                <a:rPr lang="en-US" sz="1000">
                  <a:solidFill>
                    <a:srgbClr val="8B0000"/>
                  </a:solidFill>
                  <a:latin typeface="Arial" pitchFamily="34" charset="0"/>
                </a:rPr>
                <a:t>+ </a:t>
              </a:r>
              <a:endParaRPr lang="en-US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37" name="Rectangle 35"/>
            <p:cNvSpPr>
              <a:spLocks noChangeArrowheads="1"/>
            </p:cNvSpPr>
            <p:nvPr/>
          </p:nvSpPr>
          <p:spPr bwMode="auto">
            <a:xfrm>
              <a:off x="3620" y="2603"/>
              <a:ext cx="687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361950" indent="-361950" defTabSz="966788">
                <a:tabLst>
                  <a:tab pos="188913" algn="l"/>
                </a:tabLst>
              </a:pPr>
              <a:r>
                <a:rPr lang="en-US" sz="1000">
                  <a:solidFill>
                    <a:srgbClr val="8B0000"/>
                  </a:solidFill>
                  <a:latin typeface="Arial" pitchFamily="34" charset="0"/>
                </a:rPr>
                <a:t>resultQuality [0..*]</a:t>
              </a:r>
              <a:endParaRPr lang="en-US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3494" y="2699"/>
              <a:ext cx="75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361950" indent="-361950" defTabSz="966788">
                <a:tabLst>
                  <a:tab pos="188913" algn="l"/>
                </a:tabLst>
              </a:pPr>
              <a:r>
                <a:rPr lang="en-US" sz="1000">
                  <a:solidFill>
                    <a:srgbClr val="8B0000"/>
                  </a:solidFill>
                  <a:latin typeface="Arial" pitchFamily="34" charset="0"/>
                </a:rPr>
                <a:t>+ </a:t>
              </a:r>
              <a:endParaRPr lang="en-US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39" name="Rectangle 37"/>
            <p:cNvSpPr>
              <a:spLocks noChangeArrowheads="1"/>
            </p:cNvSpPr>
            <p:nvPr/>
          </p:nvSpPr>
          <p:spPr bwMode="auto">
            <a:xfrm>
              <a:off x="3620" y="2699"/>
              <a:ext cx="599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361950" indent="-361950" defTabSz="966788">
                <a:tabLst>
                  <a:tab pos="188913" algn="l"/>
                </a:tabLst>
              </a:pPr>
              <a:r>
                <a:rPr lang="en-US" sz="1000">
                  <a:solidFill>
                    <a:srgbClr val="8B0000"/>
                  </a:solidFill>
                  <a:latin typeface="Arial" pitchFamily="34" charset="0"/>
                </a:rPr>
                <a:t>parameter [0..*]</a:t>
              </a:r>
              <a:endParaRPr lang="en-US">
                <a:solidFill>
                  <a:srgbClr val="000000"/>
                </a:solidFill>
                <a:latin typeface="Arial" pitchFamily="34" charset="0"/>
              </a:endParaRPr>
            </a:p>
          </p:txBody>
        </p:sp>
      </p:grpSp>
      <p:grpSp>
        <p:nvGrpSpPr>
          <p:cNvPr id="40" name="Group 269"/>
          <p:cNvGrpSpPr>
            <a:grpSpLocks/>
          </p:cNvGrpSpPr>
          <p:nvPr/>
        </p:nvGrpSpPr>
        <p:grpSpPr bwMode="auto">
          <a:xfrm>
            <a:off x="2161502" y="2717188"/>
            <a:ext cx="1373187" cy="542925"/>
            <a:chOff x="4760" y="2135"/>
            <a:chExt cx="759" cy="342"/>
          </a:xfrm>
        </p:grpSpPr>
        <p:sp>
          <p:nvSpPr>
            <p:cNvPr id="41" name="Rectangle 38"/>
            <p:cNvSpPr>
              <a:spLocks noChangeArrowheads="1"/>
            </p:cNvSpPr>
            <p:nvPr/>
          </p:nvSpPr>
          <p:spPr bwMode="auto">
            <a:xfrm>
              <a:off x="4778" y="2153"/>
              <a:ext cx="708" cy="324"/>
            </a:xfrm>
            <a:prstGeom prst="rect">
              <a:avLst/>
            </a:prstGeom>
            <a:solidFill>
              <a:srgbClr val="C0BFC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42" name="Rectangle 39"/>
            <p:cNvSpPr>
              <a:spLocks noChangeArrowheads="1"/>
            </p:cNvSpPr>
            <p:nvPr/>
          </p:nvSpPr>
          <p:spPr bwMode="auto">
            <a:xfrm>
              <a:off x="4760" y="2135"/>
              <a:ext cx="12" cy="324"/>
            </a:xfrm>
            <a:prstGeom prst="rect">
              <a:avLst/>
            </a:prstGeom>
            <a:solidFill>
              <a:srgbClr val="B5E8E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43" name="Rectangle 40"/>
            <p:cNvSpPr>
              <a:spLocks noChangeArrowheads="1"/>
            </p:cNvSpPr>
            <p:nvPr/>
          </p:nvSpPr>
          <p:spPr bwMode="auto">
            <a:xfrm>
              <a:off x="4772" y="2135"/>
              <a:ext cx="12" cy="324"/>
            </a:xfrm>
            <a:prstGeom prst="rect">
              <a:avLst/>
            </a:prstGeom>
            <a:solidFill>
              <a:srgbClr val="B6E9E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44" name="Rectangle 41"/>
            <p:cNvSpPr>
              <a:spLocks noChangeArrowheads="1"/>
            </p:cNvSpPr>
            <p:nvPr/>
          </p:nvSpPr>
          <p:spPr bwMode="auto">
            <a:xfrm>
              <a:off x="4784" y="2135"/>
              <a:ext cx="18" cy="324"/>
            </a:xfrm>
            <a:prstGeom prst="rect">
              <a:avLst/>
            </a:prstGeom>
            <a:solidFill>
              <a:srgbClr val="B7EAE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45" name="Rectangle 42"/>
            <p:cNvSpPr>
              <a:spLocks noChangeArrowheads="1"/>
            </p:cNvSpPr>
            <p:nvPr/>
          </p:nvSpPr>
          <p:spPr bwMode="auto">
            <a:xfrm>
              <a:off x="4802" y="2135"/>
              <a:ext cx="12" cy="324"/>
            </a:xfrm>
            <a:prstGeom prst="rect">
              <a:avLst/>
            </a:prstGeom>
            <a:solidFill>
              <a:srgbClr val="B8EBE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46" name="Rectangle 43"/>
            <p:cNvSpPr>
              <a:spLocks noChangeArrowheads="1"/>
            </p:cNvSpPr>
            <p:nvPr/>
          </p:nvSpPr>
          <p:spPr bwMode="auto">
            <a:xfrm>
              <a:off x="4814" y="2135"/>
              <a:ext cx="18" cy="324"/>
            </a:xfrm>
            <a:prstGeom prst="rect">
              <a:avLst/>
            </a:prstGeom>
            <a:solidFill>
              <a:srgbClr val="B9ECE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47" name="Rectangle 44"/>
            <p:cNvSpPr>
              <a:spLocks noChangeArrowheads="1"/>
            </p:cNvSpPr>
            <p:nvPr/>
          </p:nvSpPr>
          <p:spPr bwMode="auto">
            <a:xfrm>
              <a:off x="4832" y="2135"/>
              <a:ext cx="12" cy="324"/>
            </a:xfrm>
            <a:prstGeom prst="rect">
              <a:avLst/>
            </a:prstGeom>
            <a:solidFill>
              <a:srgbClr val="BAEDE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48" name="Rectangle 45"/>
            <p:cNvSpPr>
              <a:spLocks noChangeArrowheads="1"/>
            </p:cNvSpPr>
            <p:nvPr/>
          </p:nvSpPr>
          <p:spPr bwMode="auto">
            <a:xfrm>
              <a:off x="4844" y="2135"/>
              <a:ext cx="12" cy="324"/>
            </a:xfrm>
            <a:prstGeom prst="rect">
              <a:avLst/>
            </a:prstGeom>
            <a:solidFill>
              <a:srgbClr val="BBEEE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49" name="Rectangle 46"/>
            <p:cNvSpPr>
              <a:spLocks noChangeArrowheads="1"/>
            </p:cNvSpPr>
            <p:nvPr/>
          </p:nvSpPr>
          <p:spPr bwMode="auto">
            <a:xfrm>
              <a:off x="4856" y="2135"/>
              <a:ext cx="18" cy="324"/>
            </a:xfrm>
            <a:prstGeom prst="rect">
              <a:avLst/>
            </a:prstGeom>
            <a:solidFill>
              <a:srgbClr val="BCEFE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50" name="Rectangle 47"/>
            <p:cNvSpPr>
              <a:spLocks noChangeArrowheads="1"/>
            </p:cNvSpPr>
            <p:nvPr/>
          </p:nvSpPr>
          <p:spPr bwMode="auto">
            <a:xfrm>
              <a:off x="4874" y="2135"/>
              <a:ext cx="12" cy="324"/>
            </a:xfrm>
            <a:prstGeom prst="rect">
              <a:avLst/>
            </a:prstGeom>
            <a:solidFill>
              <a:srgbClr val="BDF0F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51" name="Rectangle 48"/>
            <p:cNvSpPr>
              <a:spLocks noChangeArrowheads="1"/>
            </p:cNvSpPr>
            <p:nvPr/>
          </p:nvSpPr>
          <p:spPr bwMode="auto">
            <a:xfrm>
              <a:off x="4886" y="2135"/>
              <a:ext cx="18" cy="324"/>
            </a:xfrm>
            <a:prstGeom prst="rect">
              <a:avLst/>
            </a:prstGeom>
            <a:solidFill>
              <a:srgbClr val="BEF1F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52" name="Rectangle 49"/>
            <p:cNvSpPr>
              <a:spLocks noChangeArrowheads="1"/>
            </p:cNvSpPr>
            <p:nvPr/>
          </p:nvSpPr>
          <p:spPr bwMode="auto">
            <a:xfrm>
              <a:off x="4904" y="2135"/>
              <a:ext cx="12" cy="324"/>
            </a:xfrm>
            <a:prstGeom prst="rect">
              <a:avLst/>
            </a:prstGeom>
            <a:solidFill>
              <a:srgbClr val="BFF2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53" name="Rectangle 50"/>
            <p:cNvSpPr>
              <a:spLocks noChangeArrowheads="1"/>
            </p:cNvSpPr>
            <p:nvPr/>
          </p:nvSpPr>
          <p:spPr bwMode="auto">
            <a:xfrm>
              <a:off x="4916" y="2135"/>
              <a:ext cx="18" cy="324"/>
            </a:xfrm>
            <a:prstGeom prst="rect">
              <a:avLst/>
            </a:prstGeom>
            <a:solidFill>
              <a:srgbClr val="C0F3F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54" name="Rectangle 51"/>
            <p:cNvSpPr>
              <a:spLocks noChangeArrowheads="1"/>
            </p:cNvSpPr>
            <p:nvPr/>
          </p:nvSpPr>
          <p:spPr bwMode="auto">
            <a:xfrm>
              <a:off x="4934" y="2135"/>
              <a:ext cx="18" cy="324"/>
            </a:xfrm>
            <a:prstGeom prst="rect">
              <a:avLst/>
            </a:prstGeom>
            <a:solidFill>
              <a:srgbClr val="C1F4F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55" name="Rectangle 52"/>
            <p:cNvSpPr>
              <a:spLocks noChangeArrowheads="1"/>
            </p:cNvSpPr>
            <p:nvPr/>
          </p:nvSpPr>
          <p:spPr bwMode="auto">
            <a:xfrm>
              <a:off x="4952" y="2135"/>
              <a:ext cx="24" cy="324"/>
            </a:xfrm>
            <a:prstGeom prst="rect">
              <a:avLst/>
            </a:prstGeom>
            <a:solidFill>
              <a:srgbClr val="C2F5F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56" name="Rectangle 53"/>
            <p:cNvSpPr>
              <a:spLocks noChangeArrowheads="1"/>
            </p:cNvSpPr>
            <p:nvPr/>
          </p:nvSpPr>
          <p:spPr bwMode="auto">
            <a:xfrm>
              <a:off x="4976" y="2135"/>
              <a:ext cx="18" cy="324"/>
            </a:xfrm>
            <a:prstGeom prst="rect">
              <a:avLst/>
            </a:prstGeom>
            <a:solidFill>
              <a:srgbClr val="C3F6F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57" name="Rectangle 54"/>
            <p:cNvSpPr>
              <a:spLocks noChangeArrowheads="1"/>
            </p:cNvSpPr>
            <p:nvPr/>
          </p:nvSpPr>
          <p:spPr bwMode="auto">
            <a:xfrm>
              <a:off x="4994" y="2135"/>
              <a:ext cx="12" cy="324"/>
            </a:xfrm>
            <a:prstGeom prst="rect">
              <a:avLst/>
            </a:prstGeom>
            <a:solidFill>
              <a:srgbClr val="C4F7F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58" name="Rectangle 55"/>
            <p:cNvSpPr>
              <a:spLocks noChangeArrowheads="1"/>
            </p:cNvSpPr>
            <p:nvPr/>
          </p:nvSpPr>
          <p:spPr bwMode="auto">
            <a:xfrm>
              <a:off x="5006" y="2135"/>
              <a:ext cx="18" cy="324"/>
            </a:xfrm>
            <a:prstGeom prst="rect">
              <a:avLst/>
            </a:prstGeom>
            <a:solidFill>
              <a:srgbClr val="C5F8F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59" name="Rectangle 56"/>
            <p:cNvSpPr>
              <a:spLocks noChangeArrowheads="1"/>
            </p:cNvSpPr>
            <p:nvPr/>
          </p:nvSpPr>
          <p:spPr bwMode="auto">
            <a:xfrm>
              <a:off x="5024" y="2135"/>
              <a:ext cx="12" cy="324"/>
            </a:xfrm>
            <a:prstGeom prst="rect">
              <a:avLst/>
            </a:prstGeom>
            <a:solidFill>
              <a:srgbClr val="C6F9F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60" name="Rectangle 57"/>
            <p:cNvSpPr>
              <a:spLocks noChangeArrowheads="1"/>
            </p:cNvSpPr>
            <p:nvPr/>
          </p:nvSpPr>
          <p:spPr bwMode="auto">
            <a:xfrm>
              <a:off x="5036" y="2135"/>
              <a:ext cx="12" cy="324"/>
            </a:xfrm>
            <a:prstGeom prst="rect">
              <a:avLst/>
            </a:prstGeom>
            <a:solidFill>
              <a:srgbClr val="C7FAF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61" name="Rectangle 58"/>
            <p:cNvSpPr>
              <a:spLocks noChangeArrowheads="1"/>
            </p:cNvSpPr>
            <p:nvPr/>
          </p:nvSpPr>
          <p:spPr bwMode="auto">
            <a:xfrm>
              <a:off x="5048" y="2135"/>
              <a:ext cx="18" cy="324"/>
            </a:xfrm>
            <a:prstGeom prst="rect">
              <a:avLst/>
            </a:prstGeom>
            <a:solidFill>
              <a:srgbClr val="C8FBF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62" name="Rectangle 59"/>
            <p:cNvSpPr>
              <a:spLocks noChangeArrowheads="1"/>
            </p:cNvSpPr>
            <p:nvPr/>
          </p:nvSpPr>
          <p:spPr bwMode="auto">
            <a:xfrm>
              <a:off x="5066" y="2135"/>
              <a:ext cx="12" cy="324"/>
            </a:xfrm>
            <a:prstGeom prst="rect">
              <a:avLst/>
            </a:prstGeom>
            <a:solidFill>
              <a:srgbClr val="C9FCF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63" name="Rectangle 60"/>
            <p:cNvSpPr>
              <a:spLocks noChangeArrowheads="1"/>
            </p:cNvSpPr>
            <p:nvPr/>
          </p:nvSpPr>
          <p:spPr bwMode="auto">
            <a:xfrm>
              <a:off x="5078" y="2135"/>
              <a:ext cx="18" cy="324"/>
            </a:xfrm>
            <a:prstGeom prst="rect">
              <a:avLst/>
            </a:prstGeom>
            <a:solidFill>
              <a:srgbClr val="CAFDF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64" name="Rectangle 61"/>
            <p:cNvSpPr>
              <a:spLocks noChangeArrowheads="1"/>
            </p:cNvSpPr>
            <p:nvPr/>
          </p:nvSpPr>
          <p:spPr bwMode="auto">
            <a:xfrm>
              <a:off x="5096" y="2135"/>
              <a:ext cx="12" cy="324"/>
            </a:xfrm>
            <a:prstGeom prst="rect">
              <a:avLst/>
            </a:prstGeom>
            <a:solidFill>
              <a:srgbClr val="CBFEF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65" name="Rectangle 62"/>
            <p:cNvSpPr>
              <a:spLocks noChangeArrowheads="1"/>
            </p:cNvSpPr>
            <p:nvPr/>
          </p:nvSpPr>
          <p:spPr bwMode="auto">
            <a:xfrm>
              <a:off x="5108" y="2135"/>
              <a:ext cx="360" cy="324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66" name="Rectangle 63"/>
            <p:cNvSpPr>
              <a:spLocks noChangeArrowheads="1"/>
            </p:cNvSpPr>
            <p:nvPr/>
          </p:nvSpPr>
          <p:spPr bwMode="auto">
            <a:xfrm>
              <a:off x="4760" y="2135"/>
              <a:ext cx="708" cy="32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67" name="Rectangle 64"/>
            <p:cNvSpPr>
              <a:spLocks noChangeArrowheads="1"/>
            </p:cNvSpPr>
            <p:nvPr/>
          </p:nvSpPr>
          <p:spPr bwMode="auto">
            <a:xfrm>
              <a:off x="4802" y="2189"/>
              <a:ext cx="717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361950" indent="-361950" defTabSz="966788">
                <a:tabLst>
                  <a:tab pos="188913" algn="l"/>
                </a:tabLst>
              </a:pPr>
              <a:r>
                <a:rPr lang="en-US" sz="1000">
                  <a:solidFill>
                    <a:srgbClr val="000000"/>
                  </a:solidFill>
                  <a:latin typeface="Arial" pitchFamily="34" charset="0"/>
                </a:rPr>
                <a:t>GF_PropertyType</a:t>
              </a:r>
              <a:endParaRPr lang="en-US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68" name="Line 65"/>
            <p:cNvSpPr>
              <a:spLocks noChangeShapeType="1"/>
            </p:cNvSpPr>
            <p:nvPr/>
          </p:nvSpPr>
          <p:spPr bwMode="auto">
            <a:xfrm>
              <a:off x="4760" y="2315"/>
              <a:ext cx="70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9" name="Group 264"/>
          <p:cNvGrpSpPr>
            <a:grpSpLocks/>
          </p:cNvGrpSpPr>
          <p:nvPr/>
        </p:nvGrpSpPr>
        <p:grpSpPr bwMode="auto">
          <a:xfrm>
            <a:off x="1708687" y="1110463"/>
            <a:ext cx="1066800" cy="542925"/>
            <a:chOff x="1790" y="2225"/>
            <a:chExt cx="606" cy="342"/>
          </a:xfrm>
        </p:grpSpPr>
        <p:sp>
          <p:nvSpPr>
            <p:cNvPr id="70" name="Rectangle 66"/>
            <p:cNvSpPr>
              <a:spLocks noChangeArrowheads="1"/>
            </p:cNvSpPr>
            <p:nvPr/>
          </p:nvSpPr>
          <p:spPr bwMode="auto">
            <a:xfrm>
              <a:off x="1808" y="2243"/>
              <a:ext cx="588" cy="324"/>
            </a:xfrm>
            <a:prstGeom prst="rect">
              <a:avLst/>
            </a:prstGeom>
            <a:solidFill>
              <a:srgbClr val="C0BFC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71" name="Rectangle 67"/>
            <p:cNvSpPr>
              <a:spLocks noChangeArrowheads="1"/>
            </p:cNvSpPr>
            <p:nvPr/>
          </p:nvSpPr>
          <p:spPr bwMode="auto">
            <a:xfrm>
              <a:off x="1790" y="2225"/>
              <a:ext cx="12" cy="324"/>
            </a:xfrm>
            <a:prstGeom prst="rect">
              <a:avLst/>
            </a:prstGeom>
            <a:solidFill>
              <a:srgbClr val="E8E8C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72" name="Rectangle 68"/>
            <p:cNvSpPr>
              <a:spLocks noChangeArrowheads="1"/>
            </p:cNvSpPr>
            <p:nvPr/>
          </p:nvSpPr>
          <p:spPr bwMode="auto">
            <a:xfrm>
              <a:off x="1802" y="2225"/>
              <a:ext cx="12" cy="324"/>
            </a:xfrm>
            <a:prstGeom prst="rect">
              <a:avLst/>
            </a:prstGeom>
            <a:solidFill>
              <a:srgbClr val="E9E9C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73" name="Rectangle 69"/>
            <p:cNvSpPr>
              <a:spLocks noChangeArrowheads="1"/>
            </p:cNvSpPr>
            <p:nvPr/>
          </p:nvSpPr>
          <p:spPr bwMode="auto">
            <a:xfrm>
              <a:off x="1814" y="2225"/>
              <a:ext cx="12" cy="324"/>
            </a:xfrm>
            <a:prstGeom prst="rect">
              <a:avLst/>
            </a:prstGeom>
            <a:solidFill>
              <a:srgbClr val="EAEAC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74" name="Rectangle 70"/>
            <p:cNvSpPr>
              <a:spLocks noChangeArrowheads="1"/>
            </p:cNvSpPr>
            <p:nvPr/>
          </p:nvSpPr>
          <p:spPr bwMode="auto">
            <a:xfrm>
              <a:off x="1826" y="2225"/>
              <a:ext cx="12" cy="324"/>
            </a:xfrm>
            <a:prstGeom prst="rect">
              <a:avLst/>
            </a:prstGeom>
            <a:solidFill>
              <a:srgbClr val="EBEB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75" name="Rectangle 71"/>
            <p:cNvSpPr>
              <a:spLocks noChangeArrowheads="1"/>
            </p:cNvSpPr>
            <p:nvPr/>
          </p:nvSpPr>
          <p:spPr bwMode="auto">
            <a:xfrm>
              <a:off x="1838" y="2225"/>
              <a:ext cx="12" cy="324"/>
            </a:xfrm>
            <a:prstGeom prst="rect">
              <a:avLst/>
            </a:prstGeom>
            <a:solidFill>
              <a:srgbClr val="ECECC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76" name="Rectangle 72"/>
            <p:cNvSpPr>
              <a:spLocks noChangeArrowheads="1"/>
            </p:cNvSpPr>
            <p:nvPr/>
          </p:nvSpPr>
          <p:spPr bwMode="auto">
            <a:xfrm>
              <a:off x="1850" y="2225"/>
              <a:ext cx="12" cy="324"/>
            </a:xfrm>
            <a:prstGeom prst="rect">
              <a:avLst/>
            </a:prstGeom>
            <a:solidFill>
              <a:srgbClr val="EDEDC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77" name="Rectangle 73"/>
            <p:cNvSpPr>
              <a:spLocks noChangeArrowheads="1"/>
            </p:cNvSpPr>
            <p:nvPr/>
          </p:nvSpPr>
          <p:spPr bwMode="auto">
            <a:xfrm>
              <a:off x="1862" y="2225"/>
              <a:ext cx="12" cy="324"/>
            </a:xfrm>
            <a:prstGeom prst="rect">
              <a:avLst/>
            </a:prstGeom>
            <a:solidFill>
              <a:srgbClr val="EEEEC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78" name="Rectangle 74"/>
            <p:cNvSpPr>
              <a:spLocks noChangeArrowheads="1"/>
            </p:cNvSpPr>
            <p:nvPr/>
          </p:nvSpPr>
          <p:spPr bwMode="auto">
            <a:xfrm>
              <a:off x="1874" y="2225"/>
              <a:ext cx="12" cy="324"/>
            </a:xfrm>
            <a:prstGeom prst="rect">
              <a:avLst/>
            </a:prstGeom>
            <a:solidFill>
              <a:srgbClr val="EFEFD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79" name="Rectangle 75"/>
            <p:cNvSpPr>
              <a:spLocks noChangeArrowheads="1"/>
            </p:cNvSpPr>
            <p:nvPr/>
          </p:nvSpPr>
          <p:spPr bwMode="auto">
            <a:xfrm>
              <a:off x="1886" y="2225"/>
              <a:ext cx="12" cy="324"/>
            </a:xfrm>
            <a:prstGeom prst="rect">
              <a:avLst/>
            </a:prstGeom>
            <a:solidFill>
              <a:srgbClr val="F0F0D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80" name="Rectangle 76"/>
            <p:cNvSpPr>
              <a:spLocks noChangeArrowheads="1"/>
            </p:cNvSpPr>
            <p:nvPr/>
          </p:nvSpPr>
          <p:spPr bwMode="auto">
            <a:xfrm>
              <a:off x="1898" y="2225"/>
              <a:ext cx="12" cy="324"/>
            </a:xfrm>
            <a:prstGeom prst="rect">
              <a:avLst/>
            </a:prstGeom>
            <a:solidFill>
              <a:srgbClr val="F1F1D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81" name="Rectangle 77"/>
            <p:cNvSpPr>
              <a:spLocks noChangeArrowheads="1"/>
            </p:cNvSpPr>
            <p:nvPr/>
          </p:nvSpPr>
          <p:spPr bwMode="auto">
            <a:xfrm>
              <a:off x="1910" y="2225"/>
              <a:ext cx="12" cy="324"/>
            </a:xfrm>
            <a:prstGeom prst="rect">
              <a:avLst/>
            </a:prstGeom>
            <a:solidFill>
              <a:srgbClr val="F2F2D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82" name="Rectangle 78"/>
            <p:cNvSpPr>
              <a:spLocks noChangeArrowheads="1"/>
            </p:cNvSpPr>
            <p:nvPr/>
          </p:nvSpPr>
          <p:spPr bwMode="auto">
            <a:xfrm>
              <a:off x="1922" y="2225"/>
              <a:ext cx="12" cy="324"/>
            </a:xfrm>
            <a:prstGeom prst="rect">
              <a:avLst/>
            </a:prstGeom>
            <a:solidFill>
              <a:srgbClr val="F3F3D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83" name="Rectangle 79"/>
            <p:cNvSpPr>
              <a:spLocks noChangeArrowheads="1"/>
            </p:cNvSpPr>
            <p:nvPr/>
          </p:nvSpPr>
          <p:spPr bwMode="auto">
            <a:xfrm>
              <a:off x="1934" y="2225"/>
              <a:ext cx="18" cy="324"/>
            </a:xfrm>
            <a:prstGeom prst="rect">
              <a:avLst/>
            </a:prstGeom>
            <a:solidFill>
              <a:srgbClr val="F4F4D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84" name="Rectangle 80"/>
            <p:cNvSpPr>
              <a:spLocks noChangeArrowheads="1"/>
            </p:cNvSpPr>
            <p:nvPr/>
          </p:nvSpPr>
          <p:spPr bwMode="auto">
            <a:xfrm>
              <a:off x="1952" y="2225"/>
              <a:ext cx="18" cy="324"/>
            </a:xfrm>
            <a:prstGeom prst="rect">
              <a:avLst/>
            </a:prstGeom>
            <a:solidFill>
              <a:srgbClr val="F5F5D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85" name="Rectangle 81"/>
            <p:cNvSpPr>
              <a:spLocks noChangeArrowheads="1"/>
            </p:cNvSpPr>
            <p:nvPr/>
          </p:nvSpPr>
          <p:spPr bwMode="auto">
            <a:xfrm>
              <a:off x="1970" y="2225"/>
              <a:ext cx="12" cy="324"/>
            </a:xfrm>
            <a:prstGeom prst="rect">
              <a:avLst/>
            </a:prstGeom>
            <a:solidFill>
              <a:srgbClr val="F6F6D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86" name="Rectangle 82"/>
            <p:cNvSpPr>
              <a:spLocks noChangeArrowheads="1"/>
            </p:cNvSpPr>
            <p:nvPr/>
          </p:nvSpPr>
          <p:spPr bwMode="auto">
            <a:xfrm>
              <a:off x="1982" y="2225"/>
              <a:ext cx="12" cy="324"/>
            </a:xfrm>
            <a:prstGeom prst="rect">
              <a:avLst/>
            </a:prstGeom>
            <a:solidFill>
              <a:srgbClr val="F7F7D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87" name="Rectangle 83"/>
            <p:cNvSpPr>
              <a:spLocks noChangeArrowheads="1"/>
            </p:cNvSpPr>
            <p:nvPr/>
          </p:nvSpPr>
          <p:spPr bwMode="auto">
            <a:xfrm>
              <a:off x="1994" y="2225"/>
              <a:ext cx="12" cy="324"/>
            </a:xfrm>
            <a:prstGeom prst="rect">
              <a:avLst/>
            </a:prstGeom>
            <a:solidFill>
              <a:srgbClr val="F8F8D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88" name="Rectangle 84"/>
            <p:cNvSpPr>
              <a:spLocks noChangeArrowheads="1"/>
            </p:cNvSpPr>
            <p:nvPr/>
          </p:nvSpPr>
          <p:spPr bwMode="auto">
            <a:xfrm>
              <a:off x="2006" y="2225"/>
              <a:ext cx="12" cy="324"/>
            </a:xfrm>
            <a:prstGeom prst="rect">
              <a:avLst/>
            </a:prstGeom>
            <a:solidFill>
              <a:srgbClr val="F9F9D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89" name="Rectangle 85"/>
            <p:cNvSpPr>
              <a:spLocks noChangeArrowheads="1"/>
            </p:cNvSpPr>
            <p:nvPr/>
          </p:nvSpPr>
          <p:spPr bwMode="auto">
            <a:xfrm>
              <a:off x="2018" y="2225"/>
              <a:ext cx="12" cy="324"/>
            </a:xfrm>
            <a:prstGeom prst="rect">
              <a:avLst/>
            </a:prstGeom>
            <a:solidFill>
              <a:srgbClr val="FAFAD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90" name="Rectangle 86"/>
            <p:cNvSpPr>
              <a:spLocks noChangeArrowheads="1"/>
            </p:cNvSpPr>
            <p:nvPr/>
          </p:nvSpPr>
          <p:spPr bwMode="auto">
            <a:xfrm>
              <a:off x="2030" y="2225"/>
              <a:ext cx="12" cy="324"/>
            </a:xfrm>
            <a:prstGeom prst="rect">
              <a:avLst/>
            </a:prstGeom>
            <a:solidFill>
              <a:srgbClr val="FBFBD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91" name="Rectangle 87"/>
            <p:cNvSpPr>
              <a:spLocks noChangeArrowheads="1"/>
            </p:cNvSpPr>
            <p:nvPr/>
          </p:nvSpPr>
          <p:spPr bwMode="auto">
            <a:xfrm>
              <a:off x="2042" y="2225"/>
              <a:ext cx="12" cy="324"/>
            </a:xfrm>
            <a:prstGeom prst="rect">
              <a:avLst/>
            </a:prstGeom>
            <a:solidFill>
              <a:srgbClr val="FCFCD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92" name="Rectangle 88"/>
            <p:cNvSpPr>
              <a:spLocks noChangeArrowheads="1"/>
            </p:cNvSpPr>
            <p:nvPr/>
          </p:nvSpPr>
          <p:spPr bwMode="auto">
            <a:xfrm>
              <a:off x="2054" y="2225"/>
              <a:ext cx="12" cy="324"/>
            </a:xfrm>
            <a:prstGeom prst="rect">
              <a:avLst/>
            </a:prstGeom>
            <a:solidFill>
              <a:srgbClr val="FDFDD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93" name="Rectangle 89"/>
            <p:cNvSpPr>
              <a:spLocks noChangeArrowheads="1"/>
            </p:cNvSpPr>
            <p:nvPr/>
          </p:nvSpPr>
          <p:spPr bwMode="auto">
            <a:xfrm>
              <a:off x="2066" y="2225"/>
              <a:ext cx="12" cy="324"/>
            </a:xfrm>
            <a:prstGeom prst="rect">
              <a:avLst/>
            </a:prstGeom>
            <a:solidFill>
              <a:srgbClr val="FEFED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94" name="Rectangle 90"/>
            <p:cNvSpPr>
              <a:spLocks noChangeArrowheads="1"/>
            </p:cNvSpPr>
            <p:nvPr/>
          </p:nvSpPr>
          <p:spPr bwMode="auto">
            <a:xfrm>
              <a:off x="2078" y="2225"/>
              <a:ext cx="300" cy="324"/>
            </a:xfrm>
            <a:prstGeom prst="rect">
              <a:avLst/>
            </a:prstGeom>
            <a:solidFill>
              <a:srgbClr val="FFFFE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95" name="Rectangle 91"/>
            <p:cNvSpPr>
              <a:spLocks noChangeArrowheads="1"/>
            </p:cNvSpPr>
            <p:nvPr/>
          </p:nvSpPr>
          <p:spPr bwMode="auto">
            <a:xfrm>
              <a:off x="1790" y="2225"/>
              <a:ext cx="588" cy="32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96" name="Rectangle 92"/>
            <p:cNvSpPr>
              <a:spLocks noChangeArrowheads="1"/>
            </p:cNvSpPr>
            <p:nvPr/>
          </p:nvSpPr>
          <p:spPr bwMode="auto">
            <a:xfrm>
              <a:off x="1868" y="2279"/>
              <a:ext cx="493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361950" indent="-361950" defTabSz="966788">
                <a:tabLst>
                  <a:tab pos="188913" algn="l"/>
                </a:tabLst>
              </a:pPr>
              <a:r>
                <a:rPr lang="en-US" sz="1000">
                  <a:solidFill>
                    <a:srgbClr val="000000"/>
                  </a:solidFill>
                  <a:latin typeface="Arial" pitchFamily="34" charset="0"/>
                </a:rPr>
                <a:t>GFI_Feature</a:t>
              </a:r>
              <a:endParaRPr lang="en-US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97" name="Line 93"/>
            <p:cNvSpPr>
              <a:spLocks noChangeShapeType="1"/>
            </p:cNvSpPr>
            <p:nvPr/>
          </p:nvSpPr>
          <p:spPr bwMode="auto">
            <a:xfrm>
              <a:off x="1790" y="2405"/>
              <a:ext cx="5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98" name="Group 267"/>
          <p:cNvGrpSpPr>
            <a:grpSpLocks/>
          </p:cNvGrpSpPr>
          <p:nvPr/>
        </p:nvGrpSpPr>
        <p:grpSpPr bwMode="auto">
          <a:xfrm>
            <a:off x="385089" y="4526938"/>
            <a:ext cx="1133475" cy="542925"/>
            <a:chOff x="3548" y="3275"/>
            <a:chExt cx="594" cy="342"/>
          </a:xfrm>
        </p:grpSpPr>
        <p:sp>
          <p:nvSpPr>
            <p:cNvPr id="99" name="Rectangle 94"/>
            <p:cNvSpPr>
              <a:spLocks noChangeArrowheads="1"/>
            </p:cNvSpPr>
            <p:nvPr/>
          </p:nvSpPr>
          <p:spPr bwMode="auto">
            <a:xfrm>
              <a:off x="3566" y="3293"/>
              <a:ext cx="576" cy="324"/>
            </a:xfrm>
            <a:prstGeom prst="rect">
              <a:avLst/>
            </a:prstGeom>
            <a:solidFill>
              <a:srgbClr val="C0BFC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00" name="Rectangle 95"/>
            <p:cNvSpPr>
              <a:spLocks noChangeArrowheads="1"/>
            </p:cNvSpPr>
            <p:nvPr/>
          </p:nvSpPr>
          <p:spPr bwMode="auto">
            <a:xfrm>
              <a:off x="3548" y="3275"/>
              <a:ext cx="12" cy="324"/>
            </a:xfrm>
            <a:prstGeom prst="rect">
              <a:avLst/>
            </a:prstGeom>
            <a:solidFill>
              <a:srgbClr val="B582E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01" name="Rectangle 96"/>
            <p:cNvSpPr>
              <a:spLocks noChangeArrowheads="1"/>
            </p:cNvSpPr>
            <p:nvPr/>
          </p:nvSpPr>
          <p:spPr bwMode="auto">
            <a:xfrm>
              <a:off x="3560" y="3275"/>
              <a:ext cx="6" cy="324"/>
            </a:xfrm>
            <a:prstGeom prst="rect">
              <a:avLst/>
            </a:prstGeom>
            <a:solidFill>
              <a:srgbClr val="B683E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02" name="Rectangle 97"/>
            <p:cNvSpPr>
              <a:spLocks noChangeArrowheads="1"/>
            </p:cNvSpPr>
            <p:nvPr/>
          </p:nvSpPr>
          <p:spPr bwMode="auto">
            <a:xfrm>
              <a:off x="3566" y="3275"/>
              <a:ext cx="18" cy="324"/>
            </a:xfrm>
            <a:prstGeom prst="rect">
              <a:avLst/>
            </a:prstGeom>
            <a:solidFill>
              <a:srgbClr val="B784E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03" name="Rectangle 98"/>
            <p:cNvSpPr>
              <a:spLocks noChangeArrowheads="1"/>
            </p:cNvSpPr>
            <p:nvPr/>
          </p:nvSpPr>
          <p:spPr bwMode="auto">
            <a:xfrm>
              <a:off x="3584" y="3275"/>
              <a:ext cx="12" cy="324"/>
            </a:xfrm>
            <a:prstGeom prst="rect">
              <a:avLst/>
            </a:prstGeom>
            <a:solidFill>
              <a:srgbClr val="B885E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04" name="Rectangle 99"/>
            <p:cNvSpPr>
              <a:spLocks noChangeArrowheads="1"/>
            </p:cNvSpPr>
            <p:nvPr/>
          </p:nvSpPr>
          <p:spPr bwMode="auto">
            <a:xfrm>
              <a:off x="3596" y="3275"/>
              <a:ext cx="6" cy="324"/>
            </a:xfrm>
            <a:prstGeom prst="rect">
              <a:avLst/>
            </a:prstGeom>
            <a:solidFill>
              <a:srgbClr val="B986E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05" name="Rectangle 100"/>
            <p:cNvSpPr>
              <a:spLocks noChangeArrowheads="1"/>
            </p:cNvSpPr>
            <p:nvPr/>
          </p:nvSpPr>
          <p:spPr bwMode="auto">
            <a:xfrm>
              <a:off x="3602" y="3275"/>
              <a:ext cx="18" cy="324"/>
            </a:xfrm>
            <a:prstGeom prst="rect">
              <a:avLst/>
            </a:prstGeom>
            <a:solidFill>
              <a:srgbClr val="BA87E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06" name="Rectangle 101"/>
            <p:cNvSpPr>
              <a:spLocks noChangeArrowheads="1"/>
            </p:cNvSpPr>
            <p:nvPr/>
          </p:nvSpPr>
          <p:spPr bwMode="auto">
            <a:xfrm>
              <a:off x="3620" y="3275"/>
              <a:ext cx="12" cy="324"/>
            </a:xfrm>
            <a:prstGeom prst="rect">
              <a:avLst/>
            </a:prstGeom>
            <a:solidFill>
              <a:srgbClr val="BB88E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07" name="Rectangle 102"/>
            <p:cNvSpPr>
              <a:spLocks noChangeArrowheads="1"/>
            </p:cNvSpPr>
            <p:nvPr/>
          </p:nvSpPr>
          <p:spPr bwMode="auto">
            <a:xfrm>
              <a:off x="3632" y="3275"/>
              <a:ext cx="6" cy="324"/>
            </a:xfrm>
            <a:prstGeom prst="rect">
              <a:avLst/>
            </a:prstGeom>
            <a:solidFill>
              <a:srgbClr val="BC89E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08" name="Rectangle 103"/>
            <p:cNvSpPr>
              <a:spLocks noChangeArrowheads="1"/>
            </p:cNvSpPr>
            <p:nvPr/>
          </p:nvSpPr>
          <p:spPr bwMode="auto">
            <a:xfrm>
              <a:off x="3638" y="3275"/>
              <a:ext cx="18" cy="324"/>
            </a:xfrm>
            <a:prstGeom prst="rect">
              <a:avLst/>
            </a:prstGeom>
            <a:solidFill>
              <a:srgbClr val="BD8AF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09" name="Rectangle 104"/>
            <p:cNvSpPr>
              <a:spLocks noChangeArrowheads="1"/>
            </p:cNvSpPr>
            <p:nvPr/>
          </p:nvSpPr>
          <p:spPr bwMode="auto">
            <a:xfrm>
              <a:off x="3656" y="3275"/>
              <a:ext cx="12" cy="324"/>
            </a:xfrm>
            <a:prstGeom prst="rect">
              <a:avLst/>
            </a:prstGeom>
            <a:solidFill>
              <a:srgbClr val="BE8BF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10" name="Rectangle 105"/>
            <p:cNvSpPr>
              <a:spLocks noChangeArrowheads="1"/>
            </p:cNvSpPr>
            <p:nvPr/>
          </p:nvSpPr>
          <p:spPr bwMode="auto">
            <a:xfrm>
              <a:off x="3668" y="3275"/>
              <a:ext cx="6" cy="324"/>
            </a:xfrm>
            <a:prstGeom prst="rect">
              <a:avLst/>
            </a:prstGeom>
            <a:solidFill>
              <a:srgbClr val="BF8C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11" name="Rectangle 106"/>
            <p:cNvSpPr>
              <a:spLocks noChangeArrowheads="1"/>
            </p:cNvSpPr>
            <p:nvPr/>
          </p:nvSpPr>
          <p:spPr bwMode="auto">
            <a:xfrm>
              <a:off x="3674" y="3275"/>
              <a:ext cx="18" cy="324"/>
            </a:xfrm>
            <a:prstGeom prst="rect">
              <a:avLst/>
            </a:prstGeom>
            <a:solidFill>
              <a:srgbClr val="C08DF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12" name="Rectangle 107"/>
            <p:cNvSpPr>
              <a:spLocks noChangeArrowheads="1"/>
            </p:cNvSpPr>
            <p:nvPr/>
          </p:nvSpPr>
          <p:spPr bwMode="auto">
            <a:xfrm>
              <a:off x="3692" y="3275"/>
              <a:ext cx="12" cy="324"/>
            </a:xfrm>
            <a:prstGeom prst="rect">
              <a:avLst/>
            </a:prstGeom>
            <a:solidFill>
              <a:srgbClr val="C18EF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13" name="Rectangle 108"/>
            <p:cNvSpPr>
              <a:spLocks noChangeArrowheads="1"/>
            </p:cNvSpPr>
            <p:nvPr/>
          </p:nvSpPr>
          <p:spPr bwMode="auto">
            <a:xfrm>
              <a:off x="3704" y="3275"/>
              <a:ext cx="18" cy="324"/>
            </a:xfrm>
            <a:prstGeom prst="rect">
              <a:avLst/>
            </a:prstGeom>
            <a:solidFill>
              <a:srgbClr val="C28FF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14" name="Rectangle 109"/>
            <p:cNvSpPr>
              <a:spLocks noChangeArrowheads="1"/>
            </p:cNvSpPr>
            <p:nvPr/>
          </p:nvSpPr>
          <p:spPr bwMode="auto">
            <a:xfrm>
              <a:off x="3722" y="3275"/>
              <a:ext cx="18" cy="324"/>
            </a:xfrm>
            <a:prstGeom prst="rect">
              <a:avLst/>
            </a:prstGeom>
            <a:solidFill>
              <a:srgbClr val="C390F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15" name="Rectangle 110"/>
            <p:cNvSpPr>
              <a:spLocks noChangeArrowheads="1"/>
            </p:cNvSpPr>
            <p:nvPr/>
          </p:nvSpPr>
          <p:spPr bwMode="auto">
            <a:xfrm>
              <a:off x="3740" y="3275"/>
              <a:ext cx="6" cy="324"/>
            </a:xfrm>
            <a:prstGeom prst="rect">
              <a:avLst/>
            </a:prstGeom>
            <a:solidFill>
              <a:srgbClr val="C491F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16" name="Rectangle 111"/>
            <p:cNvSpPr>
              <a:spLocks noChangeArrowheads="1"/>
            </p:cNvSpPr>
            <p:nvPr/>
          </p:nvSpPr>
          <p:spPr bwMode="auto">
            <a:xfrm>
              <a:off x="3746" y="3275"/>
              <a:ext cx="18" cy="324"/>
            </a:xfrm>
            <a:prstGeom prst="rect">
              <a:avLst/>
            </a:prstGeom>
            <a:solidFill>
              <a:srgbClr val="C592F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17" name="Rectangle 112"/>
            <p:cNvSpPr>
              <a:spLocks noChangeArrowheads="1"/>
            </p:cNvSpPr>
            <p:nvPr/>
          </p:nvSpPr>
          <p:spPr bwMode="auto">
            <a:xfrm>
              <a:off x="3764" y="3275"/>
              <a:ext cx="12" cy="324"/>
            </a:xfrm>
            <a:prstGeom prst="rect">
              <a:avLst/>
            </a:prstGeom>
            <a:solidFill>
              <a:srgbClr val="C693F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18" name="Rectangle 113"/>
            <p:cNvSpPr>
              <a:spLocks noChangeArrowheads="1"/>
            </p:cNvSpPr>
            <p:nvPr/>
          </p:nvSpPr>
          <p:spPr bwMode="auto">
            <a:xfrm>
              <a:off x="3776" y="3275"/>
              <a:ext cx="6" cy="324"/>
            </a:xfrm>
            <a:prstGeom prst="rect">
              <a:avLst/>
            </a:prstGeom>
            <a:solidFill>
              <a:srgbClr val="C794F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19" name="Rectangle 114"/>
            <p:cNvSpPr>
              <a:spLocks noChangeArrowheads="1"/>
            </p:cNvSpPr>
            <p:nvPr/>
          </p:nvSpPr>
          <p:spPr bwMode="auto">
            <a:xfrm>
              <a:off x="3782" y="3275"/>
              <a:ext cx="18" cy="324"/>
            </a:xfrm>
            <a:prstGeom prst="rect">
              <a:avLst/>
            </a:prstGeom>
            <a:solidFill>
              <a:srgbClr val="C895F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20" name="Rectangle 115"/>
            <p:cNvSpPr>
              <a:spLocks noChangeArrowheads="1"/>
            </p:cNvSpPr>
            <p:nvPr/>
          </p:nvSpPr>
          <p:spPr bwMode="auto">
            <a:xfrm>
              <a:off x="3800" y="3275"/>
              <a:ext cx="12" cy="324"/>
            </a:xfrm>
            <a:prstGeom prst="rect">
              <a:avLst/>
            </a:prstGeom>
            <a:solidFill>
              <a:srgbClr val="C996F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21" name="Rectangle 116"/>
            <p:cNvSpPr>
              <a:spLocks noChangeArrowheads="1"/>
            </p:cNvSpPr>
            <p:nvPr/>
          </p:nvSpPr>
          <p:spPr bwMode="auto">
            <a:xfrm>
              <a:off x="3812" y="3275"/>
              <a:ext cx="6" cy="324"/>
            </a:xfrm>
            <a:prstGeom prst="rect">
              <a:avLst/>
            </a:prstGeom>
            <a:solidFill>
              <a:srgbClr val="CA97F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22" name="Rectangle 117"/>
            <p:cNvSpPr>
              <a:spLocks noChangeArrowheads="1"/>
            </p:cNvSpPr>
            <p:nvPr/>
          </p:nvSpPr>
          <p:spPr bwMode="auto">
            <a:xfrm>
              <a:off x="3818" y="3275"/>
              <a:ext cx="18" cy="324"/>
            </a:xfrm>
            <a:prstGeom prst="rect">
              <a:avLst/>
            </a:prstGeom>
            <a:solidFill>
              <a:srgbClr val="CB98F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23" name="Rectangle 118"/>
            <p:cNvSpPr>
              <a:spLocks noChangeArrowheads="1"/>
            </p:cNvSpPr>
            <p:nvPr/>
          </p:nvSpPr>
          <p:spPr bwMode="auto">
            <a:xfrm>
              <a:off x="3836" y="3275"/>
              <a:ext cx="288" cy="324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24" name="Rectangle 119"/>
            <p:cNvSpPr>
              <a:spLocks noChangeArrowheads="1"/>
            </p:cNvSpPr>
            <p:nvPr/>
          </p:nvSpPr>
          <p:spPr bwMode="auto">
            <a:xfrm>
              <a:off x="3548" y="3275"/>
              <a:ext cx="576" cy="32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25" name="Rectangle 120"/>
            <p:cNvSpPr>
              <a:spLocks noChangeArrowheads="1"/>
            </p:cNvSpPr>
            <p:nvPr/>
          </p:nvSpPr>
          <p:spPr bwMode="auto">
            <a:xfrm>
              <a:off x="3614" y="3329"/>
              <a:ext cx="50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361950" indent="-361950" defTabSz="966788">
                <a:tabLst>
                  <a:tab pos="188913" algn="l"/>
                </a:tabLst>
              </a:pPr>
              <a:r>
                <a:rPr lang="en-US" sz="1000">
                  <a:solidFill>
                    <a:srgbClr val="000000"/>
                  </a:solidFill>
                  <a:latin typeface="Arial" pitchFamily="34" charset="0"/>
                </a:rPr>
                <a:t>OM_Process</a:t>
              </a:r>
              <a:endParaRPr lang="en-US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26" name="Line 121"/>
            <p:cNvSpPr>
              <a:spLocks noChangeShapeType="1"/>
            </p:cNvSpPr>
            <p:nvPr/>
          </p:nvSpPr>
          <p:spPr bwMode="auto">
            <a:xfrm>
              <a:off x="3548" y="3455"/>
              <a:ext cx="5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7" name="Group 268"/>
          <p:cNvGrpSpPr>
            <a:grpSpLocks/>
          </p:cNvGrpSpPr>
          <p:nvPr/>
        </p:nvGrpSpPr>
        <p:grpSpPr bwMode="auto">
          <a:xfrm>
            <a:off x="2266277" y="4536463"/>
            <a:ext cx="809625" cy="542925"/>
            <a:chOff x="4832" y="3281"/>
            <a:chExt cx="552" cy="342"/>
          </a:xfrm>
        </p:grpSpPr>
        <p:sp>
          <p:nvSpPr>
            <p:cNvPr id="128" name="Rectangle 166"/>
            <p:cNvSpPr>
              <a:spLocks noChangeArrowheads="1"/>
            </p:cNvSpPr>
            <p:nvPr/>
          </p:nvSpPr>
          <p:spPr bwMode="auto">
            <a:xfrm>
              <a:off x="4850" y="3299"/>
              <a:ext cx="534" cy="324"/>
            </a:xfrm>
            <a:prstGeom prst="rect">
              <a:avLst/>
            </a:prstGeom>
            <a:solidFill>
              <a:srgbClr val="C0BFC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29" name="Rectangle 167"/>
            <p:cNvSpPr>
              <a:spLocks noChangeArrowheads="1"/>
            </p:cNvSpPr>
            <p:nvPr/>
          </p:nvSpPr>
          <p:spPr bwMode="auto">
            <a:xfrm>
              <a:off x="4832" y="3281"/>
              <a:ext cx="6" cy="324"/>
            </a:xfrm>
            <a:prstGeom prst="rect">
              <a:avLst/>
            </a:prstGeom>
            <a:solidFill>
              <a:srgbClr val="B5E8B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30" name="Rectangle 168"/>
            <p:cNvSpPr>
              <a:spLocks noChangeArrowheads="1"/>
            </p:cNvSpPr>
            <p:nvPr/>
          </p:nvSpPr>
          <p:spPr bwMode="auto">
            <a:xfrm>
              <a:off x="4838" y="3281"/>
              <a:ext cx="12" cy="324"/>
            </a:xfrm>
            <a:prstGeom prst="rect">
              <a:avLst/>
            </a:prstGeom>
            <a:solidFill>
              <a:srgbClr val="B6E9B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31" name="Rectangle 169"/>
            <p:cNvSpPr>
              <a:spLocks noChangeArrowheads="1"/>
            </p:cNvSpPr>
            <p:nvPr/>
          </p:nvSpPr>
          <p:spPr bwMode="auto">
            <a:xfrm>
              <a:off x="4850" y="3281"/>
              <a:ext cx="12" cy="324"/>
            </a:xfrm>
            <a:prstGeom prst="rect">
              <a:avLst/>
            </a:prstGeom>
            <a:solidFill>
              <a:srgbClr val="B7EAB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32" name="Rectangle 170"/>
            <p:cNvSpPr>
              <a:spLocks noChangeArrowheads="1"/>
            </p:cNvSpPr>
            <p:nvPr/>
          </p:nvSpPr>
          <p:spPr bwMode="auto">
            <a:xfrm>
              <a:off x="4862" y="3281"/>
              <a:ext cx="12" cy="324"/>
            </a:xfrm>
            <a:prstGeom prst="rect">
              <a:avLst/>
            </a:prstGeom>
            <a:solidFill>
              <a:srgbClr val="B8EBB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33" name="Rectangle 171"/>
            <p:cNvSpPr>
              <a:spLocks noChangeArrowheads="1"/>
            </p:cNvSpPr>
            <p:nvPr/>
          </p:nvSpPr>
          <p:spPr bwMode="auto">
            <a:xfrm>
              <a:off x="4874" y="3281"/>
              <a:ext cx="12" cy="324"/>
            </a:xfrm>
            <a:prstGeom prst="rect">
              <a:avLst/>
            </a:prstGeom>
            <a:solidFill>
              <a:srgbClr val="B9ECB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34" name="Rectangle 172"/>
            <p:cNvSpPr>
              <a:spLocks noChangeArrowheads="1"/>
            </p:cNvSpPr>
            <p:nvPr/>
          </p:nvSpPr>
          <p:spPr bwMode="auto">
            <a:xfrm>
              <a:off x="4886" y="3281"/>
              <a:ext cx="12" cy="324"/>
            </a:xfrm>
            <a:prstGeom prst="rect">
              <a:avLst/>
            </a:prstGeom>
            <a:solidFill>
              <a:srgbClr val="BAEDB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35" name="Rectangle 173"/>
            <p:cNvSpPr>
              <a:spLocks noChangeArrowheads="1"/>
            </p:cNvSpPr>
            <p:nvPr/>
          </p:nvSpPr>
          <p:spPr bwMode="auto">
            <a:xfrm>
              <a:off x="4898" y="3281"/>
              <a:ext cx="12" cy="324"/>
            </a:xfrm>
            <a:prstGeom prst="rect">
              <a:avLst/>
            </a:prstGeom>
            <a:solidFill>
              <a:srgbClr val="BBEEB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36" name="Rectangle 174"/>
            <p:cNvSpPr>
              <a:spLocks noChangeArrowheads="1"/>
            </p:cNvSpPr>
            <p:nvPr/>
          </p:nvSpPr>
          <p:spPr bwMode="auto">
            <a:xfrm>
              <a:off x="4910" y="3281"/>
              <a:ext cx="6" cy="324"/>
            </a:xfrm>
            <a:prstGeom prst="rect">
              <a:avLst/>
            </a:prstGeom>
            <a:solidFill>
              <a:srgbClr val="BCEFB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37" name="Rectangle 175"/>
            <p:cNvSpPr>
              <a:spLocks noChangeArrowheads="1"/>
            </p:cNvSpPr>
            <p:nvPr/>
          </p:nvSpPr>
          <p:spPr bwMode="auto">
            <a:xfrm>
              <a:off x="4916" y="3281"/>
              <a:ext cx="12" cy="324"/>
            </a:xfrm>
            <a:prstGeom prst="rect">
              <a:avLst/>
            </a:prstGeom>
            <a:solidFill>
              <a:srgbClr val="BDF0B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38" name="Rectangle 176"/>
            <p:cNvSpPr>
              <a:spLocks noChangeArrowheads="1"/>
            </p:cNvSpPr>
            <p:nvPr/>
          </p:nvSpPr>
          <p:spPr bwMode="auto">
            <a:xfrm>
              <a:off x="4928" y="3281"/>
              <a:ext cx="12" cy="324"/>
            </a:xfrm>
            <a:prstGeom prst="rect">
              <a:avLst/>
            </a:prstGeom>
            <a:solidFill>
              <a:srgbClr val="BEF1B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39" name="Rectangle 177"/>
            <p:cNvSpPr>
              <a:spLocks noChangeArrowheads="1"/>
            </p:cNvSpPr>
            <p:nvPr/>
          </p:nvSpPr>
          <p:spPr bwMode="auto">
            <a:xfrm>
              <a:off x="4940" y="3281"/>
              <a:ext cx="12" cy="324"/>
            </a:xfrm>
            <a:prstGeom prst="rect">
              <a:avLst/>
            </a:prstGeom>
            <a:solidFill>
              <a:srgbClr val="BFF2B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40" name="Rectangle 178"/>
            <p:cNvSpPr>
              <a:spLocks noChangeArrowheads="1"/>
            </p:cNvSpPr>
            <p:nvPr/>
          </p:nvSpPr>
          <p:spPr bwMode="auto">
            <a:xfrm>
              <a:off x="4952" y="3281"/>
              <a:ext cx="12" cy="324"/>
            </a:xfrm>
            <a:prstGeom prst="rect">
              <a:avLst/>
            </a:prstGeom>
            <a:solidFill>
              <a:srgbClr val="C0F3C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41" name="Rectangle 179"/>
            <p:cNvSpPr>
              <a:spLocks noChangeArrowheads="1"/>
            </p:cNvSpPr>
            <p:nvPr/>
          </p:nvSpPr>
          <p:spPr bwMode="auto">
            <a:xfrm>
              <a:off x="4964" y="3281"/>
              <a:ext cx="12" cy="324"/>
            </a:xfrm>
            <a:prstGeom prst="rect">
              <a:avLst/>
            </a:prstGeom>
            <a:solidFill>
              <a:srgbClr val="C1F4C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42" name="Rectangle 180"/>
            <p:cNvSpPr>
              <a:spLocks noChangeArrowheads="1"/>
            </p:cNvSpPr>
            <p:nvPr/>
          </p:nvSpPr>
          <p:spPr bwMode="auto">
            <a:xfrm>
              <a:off x="4976" y="3281"/>
              <a:ext cx="18" cy="324"/>
            </a:xfrm>
            <a:prstGeom prst="rect">
              <a:avLst/>
            </a:prstGeom>
            <a:solidFill>
              <a:srgbClr val="C2F5C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43" name="Rectangle 181"/>
            <p:cNvSpPr>
              <a:spLocks noChangeArrowheads="1"/>
            </p:cNvSpPr>
            <p:nvPr/>
          </p:nvSpPr>
          <p:spPr bwMode="auto">
            <a:xfrm>
              <a:off x="4994" y="3281"/>
              <a:ext cx="12" cy="324"/>
            </a:xfrm>
            <a:prstGeom prst="rect">
              <a:avLst/>
            </a:prstGeom>
            <a:solidFill>
              <a:srgbClr val="C3F6C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44" name="Rectangle 182"/>
            <p:cNvSpPr>
              <a:spLocks noChangeArrowheads="1"/>
            </p:cNvSpPr>
            <p:nvPr/>
          </p:nvSpPr>
          <p:spPr bwMode="auto">
            <a:xfrm>
              <a:off x="5006" y="3281"/>
              <a:ext cx="12" cy="324"/>
            </a:xfrm>
            <a:prstGeom prst="rect">
              <a:avLst/>
            </a:prstGeom>
            <a:solidFill>
              <a:srgbClr val="C4F7C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45" name="Rectangle 183"/>
            <p:cNvSpPr>
              <a:spLocks noChangeArrowheads="1"/>
            </p:cNvSpPr>
            <p:nvPr/>
          </p:nvSpPr>
          <p:spPr bwMode="auto">
            <a:xfrm>
              <a:off x="5018" y="3281"/>
              <a:ext cx="12" cy="324"/>
            </a:xfrm>
            <a:prstGeom prst="rect">
              <a:avLst/>
            </a:prstGeom>
            <a:solidFill>
              <a:srgbClr val="C5F8C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46" name="Rectangle 184"/>
            <p:cNvSpPr>
              <a:spLocks noChangeArrowheads="1"/>
            </p:cNvSpPr>
            <p:nvPr/>
          </p:nvSpPr>
          <p:spPr bwMode="auto">
            <a:xfrm>
              <a:off x="5030" y="3281"/>
              <a:ext cx="12" cy="324"/>
            </a:xfrm>
            <a:prstGeom prst="rect">
              <a:avLst/>
            </a:prstGeom>
            <a:solidFill>
              <a:srgbClr val="C6F9C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47" name="Rectangle 185"/>
            <p:cNvSpPr>
              <a:spLocks noChangeArrowheads="1"/>
            </p:cNvSpPr>
            <p:nvPr/>
          </p:nvSpPr>
          <p:spPr bwMode="auto">
            <a:xfrm>
              <a:off x="5042" y="3281"/>
              <a:ext cx="12" cy="324"/>
            </a:xfrm>
            <a:prstGeom prst="rect">
              <a:avLst/>
            </a:prstGeom>
            <a:solidFill>
              <a:srgbClr val="C7FAC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48" name="Rectangle 186"/>
            <p:cNvSpPr>
              <a:spLocks noChangeArrowheads="1"/>
            </p:cNvSpPr>
            <p:nvPr/>
          </p:nvSpPr>
          <p:spPr bwMode="auto">
            <a:xfrm>
              <a:off x="5054" y="3281"/>
              <a:ext cx="12" cy="324"/>
            </a:xfrm>
            <a:prstGeom prst="rect">
              <a:avLst/>
            </a:prstGeom>
            <a:solidFill>
              <a:srgbClr val="C8FBC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49" name="Rectangle 187"/>
            <p:cNvSpPr>
              <a:spLocks noChangeArrowheads="1"/>
            </p:cNvSpPr>
            <p:nvPr/>
          </p:nvSpPr>
          <p:spPr bwMode="auto">
            <a:xfrm>
              <a:off x="5066" y="3281"/>
              <a:ext cx="6" cy="324"/>
            </a:xfrm>
            <a:prstGeom prst="rect">
              <a:avLst/>
            </a:prstGeom>
            <a:solidFill>
              <a:srgbClr val="C9FCC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50" name="Rectangle 188"/>
            <p:cNvSpPr>
              <a:spLocks noChangeArrowheads="1"/>
            </p:cNvSpPr>
            <p:nvPr/>
          </p:nvSpPr>
          <p:spPr bwMode="auto">
            <a:xfrm>
              <a:off x="5072" y="3281"/>
              <a:ext cx="12" cy="324"/>
            </a:xfrm>
            <a:prstGeom prst="rect">
              <a:avLst/>
            </a:prstGeom>
            <a:solidFill>
              <a:srgbClr val="CAFDC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51" name="Rectangle 189"/>
            <p:cNvSpPr>
              <a:spLocks noChangeArrowheads="1"/>
            </p:cNvSpPr>
            <p:nvPr/>
          </p:nvSpPr>
          <p:spPr bwMode="auto">
            <a:xfrm>
              <a:off x="5084" y="3281"/>
              <a:ext cx="12" cy="324"/>
            </a:xfrm>
            <a:prstGeom prst="rect">
              <a:avLst/>
            </a:prstGeom>
            <a:solidFill>
              <a:srgbClr val="CBFEC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52" name="Rectangle 190"/>
            <p:cNvSpPr>
              <a:spLocks noChangeArrowheads="1"/>
            </p:cNvSpPr>
            <p:nvPr/>
          </p:nvSpPr>
          <p:spPr bwMode="auto">
            <a:xfrm>
              <a:off x="5096" y="3281"/>
              <a:ext cx="270" cy="32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53" name="Rectangle 191"/>
            <p:cNvSpPr>
              <a:spLocks noChangeArrowheads="1"/>
            </p:cNvSpPr>
            <p:nvPr/>
          </p:nvSpPr>
          <p:spPr bwMode="auto">
            <a:xfrm>
              <a:off x="4832" y="3281"/>
              <a:ext cx="534" cy="32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AU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54" name="Rectangle 192"/>
            <p:cNvSpPr>
              <a:spLocks noChangeArrowheads="1"/>
            </p:cNvSpPr>
            <p:nvPr/>
          </p:nvSpPr>
          <p:spPr bwMode="auto">
            <a:xfrm>
              <a:off x="5030" y="3335"/>
              <a:ext cx="150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361950" indent="-361950" defTabSz="966788">
                <a:tabLst>
                  <a:tab pos="188913" algn="l"/>
                </a:tabLst>
              </a:pPr>
              <a:r>
                <a:rPr lang="en-US" sz="1000">
                  <a:solidFill>
                    <a:srgbClr val="000000"/>
                  </a:solidFill>
                  <a:latin typeface="Arial" pitchFamily="34" charset="0"/>
                </a:rPr>
                <a:t>Any</a:t>
              </a:r>
              <a:endParaRPr lang="en-US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55" name="Line 193"/>
            <p:cNvSpPr>
              <a:spLocks noChangeShapeType="1"/>
            </p:cNvSpPr>
            <p:nvPr/>
          </p:nvSpPr>
          <p:spPr bwMode="auto">
            <a:xfrm>
              <a:off x="4832" y="3461"/>
              <a:ext cx="53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56" name="Group 273"/>
          <p:cNvGrpSpPr>
            <a:grpSpLocks/>
          </p:cNvGrpSpPr>
          <p:nvPr/>
        </p:nvGrpSpPr>
        <p:grpSpPr bwMode="auto">
          <a:xfrm>
            <a:off x="1818602" y="3031513"/>
            <a:ext cx="1546225" cy="431800"/>
            <a:chOff x="4526" y="2333"/>
            <a:chExt cx="1055" cy="272"/>
          </a:xfrm>
        </p:grpSpPr>
        <p:sp>
          <p:nvSpPr>
            <p:cNvPr id="157" name="Line 225"/>
            <p:cNvSpPr>
              <a:spLocks noChangeShapeType="1"/>
            </p:cNvSpPr>
            <p:nvPr/>
          </p:nvSpPr>
          <p:spPr bwMode="auto">
            <a:xfrm flipV="1">
              <a:off x="4526" y="2429"/>
              <a:ext cx="234" cy="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8" name="Freeform 226"/>
            <p:cNvSpPr>
              <a:spLocks noEditPoints="1"/>
            </p:cNvSpPr>
            <p:nvPr/>
          </p:nvSpPr>
          <p:spPr bwMode="auto">
            <a:xfrm>
              <a:off x="4664" y="2405"/>
              <a:ext cx="96" cy="72"/>
            </a:xfrm>
            <a:custGeom>
              <a:avLst/>
              <a:gdLst>
                <a:gd name="T0" fmla="*/ 96 w 96"/>
                <a:gd name="T1" fmla="*/ 24 h 72"/>
                <a:gd name="T2" fmla="*/ 12 w 96"/>
                <a:gd name="T3" fmla="*/ 72 h 72"/>
                <a:gd name="T4" fmla="*/ 96 w 96"/>
                <a:gd name="T5" fmla="*/ 24 h 72"/>
                <a:gd name="T6" fmla="*/ 0 w 96"/>
                <a:gd name="T7" fmla="*/ 0 h 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72"/>
                <a:gd name="T14" fmla="*/ 96 w 96"/>
                <a:gd name="T15" fmla="*/ 72 h 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72">
                  <a:moveTo>
                    <a:pt x="96" y="24"/>
                  </a:moveTo>
                  <a:lnTo>
                    <a:pt x="12" y="72"/>
                  </a:lnTo>
                  <a:moveTo>
                    <a:pt x="96" y="24"/>
                  </a:move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9" name="Rectangle 227"/>
            <p:cNvSpPr>
              <a:spLocks noChangeArrowheads="1"/>
            </p:cNvSpPr>
            <p:nvPr/>
          </p:nvSpPr>
          <p:spPr bwMode="auto">
            <a:xfrm>
              <a:off x="4694" y="2489"/>
              <a:ext cx="887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361950" indent="-361950" defTabSz="966788">
                <a:tabLst>
                  <a:tab pos="188913" algn="l"/>
                </a:tabLst>
              </a:pPr>
              <a:r>
                <a:rPr lang="en-US" sz="1200">
                  <a:solidFill>
                    <a:srgbClr val="000000"/>
                  </a:solidFill>
                  <a:latin typeface="Arial" pitchFamily="34" charset="0"/>
                </a:rPr>
                <a:t>+observedProperty</a:t>
              </a:r>
              <a:endParaRPr lang="en-US" sz="360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160" name="Rectangle 228"/>
            <p:cNvSpPr>
              <a:spLocks noChangeArrowheads="1"/>
            </p:cNvSpPr>
            <p:nvPr/>
          </p:nvSpPr>
          <p:spPr bwMode="auto">
            <a:xfrm>
              <a:off x="4694" y="2333"/>
              <a:ext cx="39" cy="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361950" indent="-361950" defTabSz="966788">
                <a:tabLst>
                  <a:tab pos="188913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pitchFamily="34" charset="0"/>
                </a:rPr>
                <a:t>1</a:t>
              </a:r>
              <a:endParaRPr lang="en-US">
                <a:solidFill>
                  <a:srgbClr val="000000"/>
                </a:solidFill>
                <a:latin typeface="Arial" pitchFamily="34" charset="0"/>
              </a:endParaRPr>
            </a:p>
          </p:txBody>
        </p:sp>
      </p:grpSp>
      <p:grpSp>
        <p:nvGrpSpPr>
          <p:cNvPr id="161" name="Group 178"/>
          <p:cNvGrpSpPr>
            <a:grpSpLocks/>
          </p:cNvGrpSpPr>
          <p:nvPr/>
        </p:nvGrpSpPr>
        <p:grpSpPr bwMode="auto">
          <a:xfrm rot="7440675">
            <a:off x="1166934" y="2108381"/>
            <a:ext cx="1281112" cy="180975"/>
            <a:chOff x="3532889" y="2379360"/>
            <a:chExt cx="1582615" cy="190500"/>
          </a:xfrm>
        </p:grpSpPr>
        <p:sp>
          <p:nvSpPr>
            <p:cNvPr id="162" name="Line 229"/>
            <p:cNvSpPr>
              <a:spLocks noChangeShapeType="1"/>
            </p:cNvSpPr>
            <p:nvPr/>
          </p:nvSpPr>
          <p:spPr bwMode="auto">
            <a:xfrm flipH="1" flipV="1">
              <a:off x="3532889" y="2426985"/>
              <a:ext cx="158261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3" name="Freeform 230"/>
            <p:cNvSpPr>
              <a:spLocks noEditPoints="1"/>
            </p:cNvSpPr>
            <p:nvPr/>
          </p:nvSpPr>
          <p:spPr bwMode="auto">
            <a:xfrm>
              <a:off x="3532889" y="2379360"/>
              <a:ext cx="131885" cy="114300"/>
            </a:xfrm>
            <a:custGeom>
              <a:avLst/>
              <a:gdLst>
                <a:gd name="T0" fmla="*/ 0 w 90"/>
                <a:gd name="T1" fmla="*/ 75604680 h 72"/>
                <a:gd name="T2" fmla="*/ 193262840 w 90"/>
                <a:gd name="T3" fmla="*/ 0 h 72"/>
                <a:gd name="T4" fmla="*/ 0 w 90"/>
                <a:gd name="T5" fmla="*/ 75604680 h 72"/>
                <a:gd name="T6" fmla="*/ 180379099 w 90"/>
                <a:gd name="T7" fmla="*/ 181451223 h 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0"/>
                <a:gd name="T13" fmla="*/ 0 h 72"/>
                <a:gd name="T14" fmla="*/ 90 w 90"/>
                <a:gd name="T15" fmla="*/ 72 h 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0" h="72">
                  <a:moveTo>
                    <a:pt x="0" y="30"/>
                  </a:moveTo>
                  <a:lnTo>
                    <a:pt x="90" y="0"/>
                  </a:lnTo>
                  <a:moveTo>
                    <a:pt x="0" y="30"/>
                  </a:moveTo>
                  <a:lnTo>
                    <a:pt x="84" y="72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64" name="Rectangle 232"/>
          <p:cNvSpPr>
            <a:spLocks noChangeArrowheads="1"/>
          </p:cNvSpPr>
          <p:nvPr/>
        </p:nvSpPr>
        <p:spPr bwMode="auto">
          <a:xfrm>
            <a:off x="1231227" y="2463188"/>
            <a:ext cx="153987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61950" indent="-361950" defTabSz="966788">
              <a:tabLst>
                <a:tab pos="188913" algn="l"/>
              </a:tabLst>
            </a:pPr>
            <a:r>
              <a:rPr lang="en-US" sz="800">
                <a:solidFill>
                  <a:srgbClr val="000000"/>
                </a:solidFill>
                <a:latin typeface="Arial" pitchFamily="34" charset="0"/>
              </a:rPr>
              <a:t>0..*</a:t>
            </a:r>
            <a:endParaRPr lang="en-US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65" name="Rectangle 233"/>
          <p:cNvSpPr>
            <a:spLocks noChangeArrowheads="1"/>
          </p:cNvSpPr>
          <p:nvPr/>
        </p:nvSpPr>
        <p:spPr bwMode="auto">
          <a:xfrm>
            <a:off x="726402" y="1742463"/>
            <a:ext cx="1244600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61950" indent="-361950" defTabSz="966788">
              <a:tabLst>
                <a:tab pos="188913" algn="l"/>
              </a:tabLst>
            </a:pPr>
            <a:r>
              <a:rPr lang="en-US" sz="1200">
                <a:solidFill>
                  <a:srgbClr val="000000"/>
                </a:solidFill>
                <a:latin typeface="Arial" pitchFamily="34" charset="0"/>
              </a:rPr>
              <a:t>+featureOfInterest</a:t>
            </a:r>
            <a:endParaRPr lang="en-US" sz="36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66" name="Rectangle 234"/>
          <p:cNvSpPr>
            <a:spLocks noChangeArrowheads="1"/>
          </p:cNvSpPr>
          <p:nvPr/>
        </p:nvSpPr>
        <p:spPr bwMode="auto">
          <a:xfrm>
            <a:off x="2310727" y="1742463"/>
            <a:ext cx="46037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361950" indent="-361950" defTabSz="966788">
              <a:tabLst>
                <a:tab pos="188913" algn="l"/>
              </a:tabLst>
            </a:pPr>
            <a:r>
              <a:rPr lang="en-US" sz="800">
                <a:solidFill>
                  <a:srgbClr val="000000"/>
                </a:solidFill>
                <a:latin typeface="Arial" pitchFamily="34" charset="0"/>
              </a:rPr>
              <a:t>1</a:t>
            </a:r>
            <a:endParaRPr lang="en-US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67" name="Line 241"/>
          <p:cNvSpPr>
            <a:spLocks noChangeShapeType="1"/>
          </p:cNvSpPr>
          <p:nvPr/>
        </p:nvSpPr>
        <p:spPr bwMode="auto">
          <a:xfrm flipH="1">
            <a:off x="693064" y="3812563"/>
            <a:ext cx="280988" cy="714375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AU"/>
          </a:p>
        </p:txBody>
      </p:sp>
      <p:sp>
        <p:nvSpPr>
          <p:cNvPr id="168" name="Freeform 242"/>
          <p:cNvSpPr>
            <a:spLocks noEditPoints="1"/>
          </p:cNvSpPr>
          <p:nvPr/>
        </p:nvSpPr>
        <p:spPr bwMode="auto">
          <a:xfrm>
            <a:off x="693064" y="4374538"/>
            <a:ext cx="96838" cy="152400"/>
          </a:xfrm>
          <a:custGeom>
            <a:avLst/>
            <a:gdLst>
              <a:gd name="T0" fmla="*/ 0 w 66"/>
              <a:gd name="T1" fmla="*/ 241935022 h 96"/>
              <a:gd name="T2" fmla="*/ 0 w 66"/>
              <a:gd name="T3" fmla="*/ 0 h 96"/>
              <a:gd name="T4" fmla="*/ 0 w 66"/>
              <a:gd name="T5" fmla="*/ 241935022 h 96"/>
              <a:gd name="T6" fmla="*/ 142084802 w 66"/>
              <a:gd name="T7" fmla="*/ 75604688 h 96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96"/>
              <a:gd name="T14" fmla="*/ 66 w 66"/>
              <a:gd name="T15" fmla="*/ 96 h 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96">
                <a:moveTo>
                  <a:pt x="0" y="96"/>
                </a:moveTo>
                <a:lnTo>
                  <a:pt x="0" y="0"/>
                </a:lnTo>
                <a:moveTo>
                  <a:pt x="0" y="96"/>
                </a:moveTo>
                <a:lnTo>
                  <a:pt x="66" y="3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AU"/>
          </a:p>
        </p:txBody>
      </p:sp>
      <p:sp>
        <p:nvSpPr>
          <p:cNvPr id="169" name="Rectangle 244"/>
          <p:cNvSpPr>
            <a:spLocks noChangeArrowheads="1"/>
          </p:cNvSpPr>
          <p:nvPr/>
        </p:nvSpPr>
        <p:spPr bwMode="auto">
          <a:xfrm>
            <a:off x="964527" y="3984013"/>
            <a:ext cx="155575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61950" indent="-361950" defTabSz="966788">
              <a:tabLst>
                <a:tab pos="188913" algn="l"/>
              </a:tabLst>
            </a:pPr>
            <a:r>
              <a:rPr lang="en-US" sz="800">
                <a:solidFill>
                  <a:srgbClr val="000000"/>
                </a:solidFill>
                <a:latin typeface="Arial" pitchFamily="34" charset="0"/>
              </a:rPr>
              <a:t>0..*</a:t>
            </a:r>
            <a:endParaRPr lang="en-US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70" name="Rectangle 245"/>
          <p:cNvSpPr>
            <a:spLocks noChangeArrowheads="1"/>
          </p:cNvSpPr>
          <p:nvPr/>
        </p:nvSpPr>
        <p:spPr bwMode="auto">
          <a:xfrm>
            <a:off x="870864" y="4263413"/>
            <a:ext cx="777875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61950" indent="-361950" defTabSz="966788">
              <a:tabLst>
                <a:tab pos="188913" algn="l"/>
              </a:tabLst>
            </a:pPr>
            <a:r>
              <a:rPr lang="en-US" sz="1200">
                <a:solidFill>
                  <a:srgbClr val="000000"/>
                </a:solidFill>
                <a:latin typeface="Arial" pitchFamily="34" charset="0"/>
              </a:rPr>
              <a:t>+procedure</a:t>
            </a:r>
            <a:endParaRPr lang="en-US" sz="36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71" name="Rectangle 246"/>
          <p:cNvSpPr>
            <a:spLocks noChangeArrowheads="1"/>
          </p:cNvSpPr>
          <p:nvPr/>
        </p:nvSpPr>
        <p:spPr bwMode="auto">
          <a:xfrm>
            <a:off x="516852" y="4317388"/>
            <a:ext cx="57150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61950" indent="-361950" defTabSz="966788">
              <a:tabLst>
                <a:tab pos="188913" algn="l"/>
              </a:tabLst>
            </a:pPr>
            <a:r>
              <a:rPr lang="en-US" sz="800">
                <a:solidFill>
                  <a:srgbClr val="000000"/>
                </a:solidFill>
                <a:latin typeface="Arial" pitchFamily="34" charset="0"/>
              </a:rPr>
              <a:t>1</a:t>
            </a:r>
            <a:endParaRPr lang="en-US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72" name="Line 258"/>
          <p:cNvSpPr>
            <a:spLocks noChangeShapeType="1"/>
          </p:cNvSpPr>
          <p:nvPr/>
        </p:nvSpPr>
        <p:spPr bwMode="auto">
          <a:xfrm flipH="1" flipV="1">
            <a:off x="1818602" y="3783988"/>
            <a:ext cx="782637" cy="752475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AU"/>
          </a:p>
        </p:txBody>
      </p:sp>
      <p:sp>
        <p:nvSpPr>
          <p:cNvPr id="173" name="Freeform 259"/>
          <p:cNvSpPr>
            <a:spLocks/>
          </p:cNvSpPr>
          <p:nvPr/>
        </p:nvSpPr>
        <p:spPr bwMode="auto">
          <a:xfrm>
            <a:off x="1818602" y="3783988"/>
            <a:ext cx="131762" cy="123825"/>
          </a:xfrm>
          <a:custGeom>
            <a:avLst/>
            <a:gdLst>
              <a:gd name="T0" fmla="*/ 141461145 w 90"/>
              <a:gd name="T1" fmla="*/ 45362807 h 78"/>
              <a:gd name="T2" fmla="*/ 0 w 90"/>
              <a:gd name="T3" fmla="*/ 0 h 78"/>
              <a:gd name="T4" fmla="*/ 51441354 w 90"/>
              <a:gd name="T5" fmla="*/ 151209365 h 78"/>
              <a:gd name="T6" fmla="*/ 192902522 w 90"/>
              <a:gd name="T7" fmla="*/ 196572160 h 78"/>
              <a:gd name="T8" fmla="*/ 141461145 w 90"/>
              <a:gd name="T9" fmla="*/ 45362807 h 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78"/>
              <a:gd name="T17" fmla="*/ 90 w 90"/>
              <a:gd name="T18" fmla="*/ 78 h 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78">
                <a:moveTo>
                  <a:pt x="66" y="18"/>
                </a:moveTo>
                <a:lnTo>
                  <a:pt x="0" y="0"/>
                </a:lnTo>
                <a:lnTo>
                  <a:pt x="24" y="60"/>
                </a:lnTo>
                <a:lnTo>
                  <a:pt x="90" y="78"/>
                </a:lnTo>
                <a:lnTo>
                  <a:pt x="66" y="1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AU"/>
          </a:p>
        </p:txBody>
      </p:sp>
      <p:sp>
        <p:nvSpPr>
          <p:cNvPr id="174" name="Freeform 260"/>
          <p:cNvSpPr>
            <a:spLocks/>
          </p:cNvSpPr>
          <p:nvPr/>
        </p:nvSpPr>
        <p:spPr bwMode="auto">
          <a:xfrm>
            <a:off x="1818602" y="3783988"/>
            <a:ext cx="131762" cy="123825"/>
          </a:xfrm>
          <a:custGeom>
            <a:avLst/>
            <a:gdLst>
              <a:gd name="T0" fmla="*/ 141461145 w 90"/>
              <a:gd name="T1" fmla="*/ 45362807 h 78"/>
              <a:gd name="T2" fmla="*/ 0 w 90"/>
              <a:gd name="T3" fmla="*/ 0 h 78"/>
              <a:gd name="T4" fmla="*/ 51441354 w 90"/>
              <a:gd name="T5" fmla="*/ 151209365 h 78"/>
              <a:gd name="T6" fmla="*/ 192902522 w 90"/>
              <a:gd name="T7" fmla="*/ 196572160 h 78"/>
              <a:gd name="T8" fmla="*/ 141461145 w 90"/>
              <a:gd name="T9" fmla="*/ 45362807 h 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78"/>
              <a:gd name="T17" fmla="*/ 90 w 90"/>
              <a:gd name="T18" fmla="*/ 78 h 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78">
                <a:moveTo>
                  <a:pt x="66" y="18"/>
                </a:moveTo>
                <a:lnTo>
                  <a:pt x="0" y="0"/>
                </a:lnTo>
                <a:lnTo>
                  <a:pt x="24" y="60"/>
                </a:lnTo>
                <a:lnTo>
                  <a:pt x="90" y="78"/>
                </a:lnTo>
                <a:lnTo>
                  <a:pt x="66" y="18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AU"/>
          </a:p>
        </p:txBody>
      </p:sp>
      <p:sp>
        <p:nvSpPr>
          <p:cNvPr id="175" name="Freeform 261"/>
          <p:cNvSpPr>
            <a:spLocks noEditPoints="1"/>
          </p:cNvSpPr>
          <p:nvPr/>
        </p:nvSpPr>
        <p:spPr bwMode="auto">
          <a:xfrm>
            <a:off x="2469477" y="4403113"/>
            <a:ext cx="131762" cy="133350"/>
          </a:xfrm>
          <a:custGeom>
            <a:avLst/>
            <a:gdLst>
              <a:gd name="T0" fmla="*/ 192902522 w 90"/>
              <a:gd name="T1" fmla="*/ 211693147 h 84"/>
              <a:gd name="T2" fmla="*/ 102881244 w 90"/>
              <a:gd name="T3" fmla="*/ 0 h 84"/>
              <a:gd name="T4" fmla="*/ 192902522 w 90"/>
              <a:gd name="T5" fmla="*/ 211693147 h 84"/>
              <a:gd name="T6" fmla="*/ 0 w 90"/>
              <a:gd name="T7" fmla="*/ 136088438 h 84"/>
              <a:gd name="T8" fmla="*/ 0 60000 65536"/>
              <a:gd name="T9" fmla="*/ 0 60000 65536"/>
              <a:gd name="T10" fmla="*/ 0 60000 65536"/>
              <a:gd name="T11" fmla="*/ 0 60000 65536"/>
              <a:gd name="T12" fmla="*/ 0 w 90"/>
              <a:gd name="T13" fmla="*/ 0 h 84"/>
              <a:gd name="T14" fmla="*/ 90 w 90"/>
              <a:gd name="T15" fmla="*/ 84 h 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0" h="84">
                <a:moveTo>
                  <a:pt x="90" y="84"/>
                </a:moveTo>
                <a:lnTo>
                  <a:pt x="48" y="0"/>
                </a:lnTo>
                <a:moveTo>
                  <a:pt x="90" y="84"/>
                </a:moveTo>
                <a:lnTo>
                  <a:pt x="0" y="54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AU"/>
          </a:p>
        </p:txBody>
      </p:sp>
      <p:sp>
        <p:nvSpPr>
          <p:cNvPr id="176" name="Rectangle 262"/>
          <p:cNvSpPr>
            <a:spLocks noChangeArrowheads="1"/>
          </p:cNvSpPr>
          <p:nvPr/>
        </p:nvSpPr>
        <p:spPr bwMode="auto">
          <a:xfrm>
            <a:off x="2671089" y="4293575"/>
            <a:ext cx="465138" cy="185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61950" indent="-361950" defTabSz="966788">
              <a:tabLst>
                <a:tab pos="188913" algn="l"/>
              </a:tabLst>
            </a:pPr>
            <a:r>
              <a:rPr lang="en-US" sz="1200">
                <a:solidFill>
                  <a:srgbClr val="000000"/>
                </a:solidFill>
                <a:latin typeface="Arial" pitchFamily="34" charset="0"/>
              </a:rPr>
              <a:t>+result</a:t>
            </a:r>
            <a:endParaRPr lang="en-US" sz="36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77" name="Abgerundetes Rechteck 176"/>
          <p:cNvSpPr/>
          <p:nvPr/>
        </p:nvSpPr>
        <p:spPr>
          <a:xfrm>
            <a:off x="1867122" y="2463188"/>
            <a:ext cx="1912790" cy="122634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8" name="Abgerundetes Rechteck 177"/>
          <p:cNvSpPr/>
          <p:nvPr/>
        </p:nvSpPr>
        <p:spPr>
          <a:xfrm>
            <a:off x="70130" y="4160225"/>
            <a:ext cx="1912790" cy="122634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9" name="Datumsplatzhalter 17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9AAE-4667-4C3C-971F-C52FA8507497}" type="datetime1">
              <a:rPr lang="de-DE" smtClean="0"/>
              <a:t>21.09.2015</a:t>
            </a:fld>
            <a:endParaRPr lang="de-DE"/>
          </a:p>
        </p:txBody>
      </p:sp>
      <p:sp>
        <p:nvSpPr>
          <p:cNvPr id="180" name="Foliennummernplatzhalter 17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060F-0ABF-4329-9E9B-0D6B97013CB3}" type="slidenum">
              <a:rPr lang="de-DE" smtClean="0"/>
              <a:t>6</a:t>
            </a:fld>
            <a:endParaRPr lang="de-DE"/>
          </a:p>
        </p:txBody>
      </p:sp>
      <p:sp>
        <p:nvSpPr>
          <p:cNvPr id="181" name="Textfeld 180"/>
          <p:cNvSpPr txBox="1"/>
          <p:nvPr/>
        </p:nvSpPr>
        <p:spPr>
          <a:xfrm>
            <a:off x="4211960" y="4555513"/>
            <a:ext cx="3528392" cy="904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spcBef>
                <a:spcPct val="20000"/>
              </a:spcBef>
              <a:buClr>
                <a:srgbClr val="00437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rgbClr val="0043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lvl="1" indent="-285750">
              <a:spcBef>
                <a:spcPct val="20000"/>
              </a:spcBef>
              <a:buClr>
                <a:srgbClr val="004371"/>
              </a:buClr>
              <a:buSzPct val="75000"/>
              <a:buFont typeface="Wingdings" panose="05000000000000000000" pitchFamily="2" charset="2"/>
              <a:buChar char=""/>
              <a:defRPr sz="2400">
                <a:solidFill>
                  <a:srgbClr val="004371"/>
                </a:solidFill>
              </a:defRPr>
            </a:lvl2pPr>
            <a:lvl3pPr marL="1143000" indent="-228600">
              <a:spcBef>
                <a:spcPct val="20000"/>
              </a:spcBef>
              <a:buClr>
                <a:srgbClr val="004371"/>
              </a:buClr>
              <a:buFont typeface="Arial" panose="020B0604020202020204" pitchFamily="34" charset="0"/>
              <a:buChar char="•"/>
              <a:defRPr sz="2400">
                <a:solidFill>
                  <a:srgbClr val="004371"/>
                </a:solidFill>
              </a:defRPr>
            </a:lvl3pPr>
            <a:lvl4pPr marL="1600200" indent="-228600">
              <a:spcBef>
                <a:spcPct val="20000"/>
              </a:spcBef>
              <a:buClr>
                <a:srgbClr val="004371"/>
              </a:buClr>
              <a:buFont typeface="Arial" panose="020B0604020202020204" pitchFamily="34" charset="0"/>
              <a:buChar char="•"/>
              <a:defRPr sz="2000">
                <a:solidFill>
                  <a:srgbClr val="004371"/>
                </a:solidFill>
              </a:defRPr>
            </a:lvl4pPr>
            <a:lvl5pPr marL="2057400" indent="-228600">
              <a:spcBef>
                <a:spcPct val="20000"/>
              </a:spcBef>
              <a:buClr>
                <a:srgbClr val="004371"/>
              </a:buClr>
              <a:buFont typeface="Arial" panose="020B0604020202020204" pitchFamily="34" charset="0"/>
              <a:buChar char="•"/>
              <a:defRPr sz="2000">
                <a:solidFill>
                  <a:srgbClr val="004371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de-DE" dirty="0" err="1"/>
              <a:t>Ontologies</a:t>
            </a:r>
            <a:endParaRPr lang="de-DE" dirty="0"/>
          </a:p>
          <a:p>
            <a:r>
              <a:rPr lang="de-DE" dirty="0" err="1"/>
              <a:t>Linked</a:t>
            </a:r>
            <a:r>
              <a:rPr lang="de-DE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1479629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Discussion</a:t>
            </a:r>
            <a:endParaRPr lang="de-DE" dirty="0"/>
          </a:p>
        </p:txBody>
      </p:sp>
      <p:sp>
        <p:nvSpPr>
          <p:cNvPr id="8" name="Inhaltsplatzhalt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Approach: </a:t>
            </a:r>
            <a:r>
              <a:rPr lang="de-DE" dirty="0" err="1" smtClean="0"/>
              <a:t>Extend</a:t>
            </a:r>
            <a:r>
              <a:rPr lang="de-DE" dirty="0" smtClean="0"/>
              <a:t> </a:t>
            </a:r>
            <a:r>
              <a:rPr lang="de-DE" dirty="0" err="1" smtClean="0"/>
              <a:t>WaterML</a:t>
            </a:r>
            <a:r>
              <a:rPr lang="de-DE" dirty="0" smtClean="0"/>
              <a:t> –WQ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semantically</a:t>
            </a:r>
            <a:r>
              <a:rPr lang="de-DE" dirty="0" smtClean="0"/>
              <a:t> </a:t>
            </a:r>
            <a:r>
              <a:rPr lang="de-DE" dirty="0" err="1" smtClean="0"/>
              <a:t>enabled</a:t>
            </a:r>
            <a:r>
              <a:rPr lang="de-DE" dirty="0" smtClean="0"/>
              <a:t>, </a:t>
            </a:r>
            <a:r>
              <a:rPr lang="de-DE" dirty="0" err="1" smtClean="0"/>
              <a:t>linked</a:t>
            </a:r>
            <a:r>
              <a:rPr lang="de-DE" dirty="0" smtClean="0"/>
              <a:t> </a:t>
            </a:r>
            <a:r>
              <a:rPr lang="de-DE" dirty="0" err="1" smtClean="0"/>
              <a:t>method</a:t>
            </a:r>
            <a:r>
              <a:rPr lang="de-DE" dirty="0" smtClean="0"/>
              <a:t> </a:t>
            </a:r>
            <a:r>
              <a:rPr lang="de-DE" dirty="0" err="1" smtClean="0"/>
              <a:t>vocabulary</a:t>
            </a:r>
            <a:r>
              <a:rPr lang="de-DE" dirty="0" smtClean="0"/>
              <a:t>   </a:t>
            </a:r>
          </a:p>
          <a:p>
            <a:r>
              <a:rPr lang="de-DE" dirty="0" err="1" smtClean="0"/>
              <a:t>Ontologies</a:t>
            </a:r>
            <a:endParaRPr lang="de-DE" dirty="0" smtClean="0"/>
          </a:p>
          <a:p>
            <a:pPr lvl="1"/>
            <a:r>
              <a:rPr lang="de-DE" dirty="0" smtClean="0"/>
              <a:t>CMO: Chemical </a:t>
            </a:r>
            <a:r>
              <a:rPr lang="de-DE" dirty="0" err="1" smtClean="0"/>
              <a:t>Methods</a:t>
            </a:r>
            <a:r>
              <a:rPr lang="de-DE" dirty="0" smtClean="0"/>
              <a:t> </a:t>
            </a:r>
            <a:r>
              <a:rPr lang="de-DE" dirty="0" err="1" smtClean="0"/>
              <a:t>Ontology</a:t>
            </a:r>
            <a:endParaRPr lang="de-DE" dirty="0" smtClean="0"/>
          </a:p>
          <a:p>
            <a:pPr lvl="1"/>
            <a:r>
              <a:rPr lang="de-DE" dirty="0"/>
              <a:t>FIX: </a:t>
            </a:r>
            <a:r>
              <a:rPr lang="de-DE" dirty="0" err="1"/>
              <a:t>Physico-chemical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 smtClean="0"/>
              <a:t>properties</a:t>
            </a:r>
            <a:r>
              <a:rPr lang="de-DE" dirty="0" smtClean="0"/>
              <a:t> (</a:t>
            </a:r>
            <a:r>
              <a:rPr lang="de-DE" dirty="0" err="1" smtClean="0"/>
              <a:t>inactive</a:t>
            </a:r>
            <a:r>
              <a:rPr lang="de-DE" dirty="0" smtClean="0"/>
              <a:t>)</a:t>
            </a:r>
            <a:endParaRPr lang="de-DE" dirty="0"/>
          </a:p>
          <a:p>
            <a:r>
              <a:rPr lang="de-DE" dirty="0" err="1" smtClean="0"/>
              <a:t>Governance</a:t>
            </a:r>
            <a:endParaRPr lang="de-DE" dirty="0" smtClean="0"/>
          </a:p>
          <a:p>
            <a:r>
              <a:rPr lang="de-DE" dirty="0" smtClean="0"/>
              <a:t>Samplings (WQX)</a:t>
            </a:r>
            <a:endParaRPr lang="de-DE" dirty="0"/>
          </a:p>
          <a:p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E771-7D14-4FD1-A8BA-1307AEDE9E07}" type="datetime1">
              <a:rPr lang="de-DE" smtClean="0"/>
              <a:t>21.09.2015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HDWG Meeting 2015, Orleans</a:t>
            </a:r>
            <a:endParaRPr lang="en-US" dirty="0" smtClean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060F-0ABF-4329-9E9B-0D6B97013CB3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142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EMS/Water Slide Master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242</Words>
  <Application>Microsoft Office PowerPoint</Application>
  <PresentationFormat>Bildschirmpräsentation (4:3)</PresentationFormat>
  <Paragraphs>106</Paragraphs>
  <Slides>7</Slides>
  <Notes>4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8" baseType="lpstr">
      <vt:lpstr>GEMS/Water Slide Master</vt:lpstr>
      <vt:lpstr> WaterML-WQ</vt:lpstr>
      <vt:lpstr>Global water data provision</vt:lpstr>
      <vt:lpstr>GEMStat</vt:lpstr>
      <vt:lpstr>Analytical Methods Dictionary</vt:lpstr>
      <vt:lpstr>Referencing water data</vt:lpstr>
      <vt:lpstr>Observable Properties</vt:lpstr>
      <vt:lpstr>Discussion</vt:lpstr>
    </vt:vector>
  </TitlesOfParts>
  <Company>Bundesanstalt für Gewässerkunde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Saile, Philipp, IHP, B40</dc:creator>
  <cp:lastModifiedBy>Saile, Philipp, IHP, B40</cp:lastModifiedBy>
  <cp:revision>200</cp:revision>
  <dcterms:created xsi:type="dcterms:W3CDTF">2014-06-19T16:30:10Z</dcterms:created>
  <dcterms:modified xsi:type="dcterms:W3CDTF">2015-09-21T15:11:48Z</dcterms:modified>
</cp:coreProperties>
</file>