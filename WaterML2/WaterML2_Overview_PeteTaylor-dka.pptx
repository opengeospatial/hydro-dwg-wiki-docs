
<file path=[Content_Types].xml><?xml version="1.0" encoding="utf-8"?>
<Types xmlns="http://schemas.openxmlformats.org/package/2006/content-types">
  <Default Extension="xml" ContentType="application/xml"/>
  <Default Extension="wmf" ContentType="image/x-wmf"/>
  <Default Extension="jpg" ContentType="image/jpeg"/>
  <Default Extension="rels" ContentType="application/vnd.openxmlformats-package.relationships+xml"/>
  <Default Extension="emf" ContentType="image/x-em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 id="2147483684" r:id="rId3"/>
  </p:sldMasterIdLst>
  <p:notesMasterIdLst>
    <p:notesMasterId r:id="rId41"/>
  </p:notesMasterIdLst>
  <p:handoutMasterIdLst>
    <p:handoutMasterId r:id="rId42"/>
  </p:handoutMasterIdLst>
  <p:sldIdLst>
    <p:sldId id="311" r:id="rId4"/>
    <p:sldId id="323" r:id="rId5"/>
    <p:sldId id="331" r:id="rId6"/>
    <p:sldId id="324" r:id="rId7"/>
    <p:sldId id="372" r:id="rId8"/>
    <p:sldId id="325" r:id="rId9"/>
    <p:sldId id="360" r:id="rId10"/>
    <p:sldId id="326" r:id="rId11"/>
    <p:sldId id="327" r:id="rId12"/>
    <p:sldId id="328" r:id="rId13"/>
    <p:sldId id="329" r:id="rId14"/>
    <p:sldId id="330" r:id="rId15"/>
    <p:sldId id="337" r:id="rId16"/>
    <p:sldId id="332" r:id="rId17"/>
    <p:sldId id="334" r:id="rId18"/>
    <p:sldId id="341" r:id="rId19"/>
    <p:sldId id="342" r:id="rId20"/>
    <p:sldId id="340" r:id="rId21"/>
    <p:sldId id="362" r:id="rId22"/>
    <p:sldId id="338" r:id="rId23"/>
    <p:sldId id="363" r:id="rId24"/>
    <p:sldId id="365" r:id="rId25"/>
    <p:sldId id="366" r:id="rId26"/>
    <p:sldId id="374" r:id="rId27"/>
    <p:sldId id="356" r:id="rId28"/>
    <p:sldId id="368" r:id="rId29"/>
    <p:sldId id="369" r:id="rId30"/>
    <p:sldId id="370" r:id="rId31"/>
    <p:sldId id="371" r:id="rId32"/>
    <p:sldId id="364" r:id="rId33"/>
    <p:sldId id="339" r:id="rId34"/>
    <p:sldId id="355" r:id="rId35"/>
    <p:sldId id="344" r:id="rId36"/>
    <p:sldId id="359" r:id="rId37"/>
    <p:sldId id="373" r:id="rId38"/>
    <p:sldId id="358" r:id="rId39"/>
    <p:sldId id="322"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333" autoAdjust="0"/>
    <p:restoredTop sz="94660"/>
  </p:normalViewPr>
  <p:slideViewPr>
    <p:cSldViewPr snapToGrid="0" snapToObjects="1">
      <p:cViewPr varScale="1">
        <p:scale>
          <a:sx n="130" d="100"/>
          <a:sy n="130" d="100"/>
        </p:scale>
        <p:origin x="-232"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46" Type="http://schemas.openxmlformats.org/officeDocument/2006/relationships/theme" Target="theme/theme1.xml"/><Relationship Id="rId47" Type="http://schemas.openxmlformats.org/officeDocument/2006/relationships/tableStyles" Target="tableStyles.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9" Type="http://schemas.openxmlformats.org/officeDocument/2006/relationships/slide" Target="slides/slide6.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printerSettings" Target="printerSettings/printerSettings1.bin"/><Relationship Id="rId44" Type="http://schemas.openxmlformats.org/officeDocument/2006/relationships/presProps" Target="presProps.xml"/><Relationship Id="rId4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09971ED-85D5-784C-80B8-EEB1EFFD49BE}" type="datetime1">
              <a:rPr lang="en-AU" smtClean="0"/>
              <a:t>8/28/15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40EAB6-43D0-5B4B-8E50-F7FB99A998DD}" type="slidenum">
              <a:rPr lang="en-US" smtClean="0"/>
              <a:t>‹#›</a:t>
            </a:fld>
            <a:endParaRPr lang="en-US"/>
          </a:p>
        </p:txBody>
      </p:sp>
    </p:spTree>
    <p:extLst>
      <p:ext uri="{BB962C8B-B14F-4D97-AF65-F5344CB8AC3E}">
        <p14:creationId xmlns:p14="http://schemas.microsoft.com/office/powerpoint/2010/main" val="231776868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1DAC9B-B768-744C-B89F-DD51DE1E52CB}" type="datetime1">
              <a:rPr lang="en-AU" smtClean="0"/>
              <a:t>8/28/15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DB60C10-35C6-3C46-92C4-E11404D60FD6}" type="slidenum">
              <a:rPr lang="en-US" smtClean="0"/>
              <a:t>‹#›</a:t>
            </a:fld>
            <a:endParaRPr lang="en-US"/>
          </a:p>
        </p:txBody>
      </p:sp>
    </p:spTree>
    <p:extLst>
      <p:ext uri="{BB962C8B-B14F-4D97-AF65-F5344CB8AC3E}">
        <p14:creationId xmlns:p14="http://schemas.microsoft.com/office/powerpoint/2010/main" val="268806287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B60C10-35C6-3C46-92C4-E11404D60FD6}" type="slidenum">
              <a:rPr lang="en-US" smtClean="0"/>
              <a:t>1</a:t>
            </a:fld>
            <a:endParaRPr lang="en-US"/>
          </a:p>
        </p:txBody>
      </p:sp>
    </p:spTree>
    <p:extLst>
      <p:ext uri="{BB962C8B-B14F-4D97-AF65-F5344CB8AC3E}">
        <p14:creationId xmlns:p14="http://schemas.microsoft.com/office/powerpoint/2010/main" val="3523520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60C10-35C6-3C46-92C4-E11404D60FD6}" type="slidenum">
              <a:rPr lang="en-US" smtClean="0"/>
              <a:t>4</a:t>
            </a:fld>
            <a:endParaRPr lang="en-US"/>
          </a:p>
        </p:txBody>
      </p:sp>
    </p:spTree>
    <p:extLst>
      <p:ext uri="{BB962C8B-B14F-4D97-AF65-F5344CB8AC3E}">
        <p14:creationId xmlns:p14="http://schemas.microsoft.com/office/powerpoint/2010/main" val="3844403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dirty="0" smtClean="0">
                <a:latin typeface="+mn-lt"/>
                <a:ea typeface="+mn-ea"/>
                <a:cs typeface="+mn-cs"/>
              </a:rPr>
              <a:t>(</a:t>
            </a:r>
            <a:r>
              <a:rPr lang="en-US" dirty="0">
                <a:latin typeface="+mn-lt"/>
                <a:ea typeface="+mn-ea"/>
                <a:cs typeface="+mn-cs"/>
              </a:rPr>
              <a:t>1)    A four-year international effort has been undertaken to reconcile WaterML with international standards;</a:t>
            </a:r>
          </a:p>
          <a:p>
            <a:pPr>
              <a:defRPr/>
            </a:pPr>
            <a:r>
              <a:rPr lang="en-US" dirty="0">
                <a:latin typeface="+mn-lt"/>
                <a:ea typeface="+mn-ea"/>
                <a:cs typeface="+mn-cs"/>
              </a:rPr>
              <a:t>(2)    This effort was initiated with the establishment of an Hydrology Domain Working Group by the Open Geospatial Consortium in September 2008;</a:t>
            </a:r>
          </a:p>
          <a:p>
            <a:pPr>
              <a:defRPr/>
            </a:pPr>
            <a:r>
              <a:rPr lang="en-US" dirty="0">
                <a:latin typeface="+mn-lt"/>
                <a:ea typeface="+mn-ea"/>
                <a:cs typeface="+mn-cs"/>
              </a:rPr>
              <a:t>(3)    An OGC representative attended the WMO Congress of the Commission for Hydrology in 2008</a:t>
            </a:r>
          </a:p>
          <a:p>
            <a:pPr>
              <a:defRPr/>
            </a:pPr>
            <a:r>
              <a:rPr lang="en-US" dirty="0">
                <a:latin typeface="+mn-lt"/>
                <a:ea typeface="+mn-ea"/>
                <a:cs typeface="+mn-cs"/>
              </a:rPr>
              <a:t>(4)    A formal agreement between Secretary General of WMO and President of OGC in 2009 to jointly develop standards for hydrology, climatology, oceanography and climatology;</a:t>
            </a:r>
          </a:p>
          <a:p>
            <a:pPr>
              <a:defRPr/>
            </a:pPr>
            <a:r>
              <a:rPr lang="en-US" dirty="0">
                <a:latin typeface="+mn-lt"/>
                <a:ea typeface="+mn-ea"/>
                <a:cs typeface="+mn-cs"/>
              </a:rPr>
              <a:t>(5)    The joint OGC/WMO Hydrology Domain Working Group was supported by a large work effort, annual week-long workshops, four interoperability experiments for surface and groundwater data exchange, and participation by many countries;</a:t>
            </a:r>
          </a:p>
          <a:p>
            <a:pPr>
              <a:defRPr/>
            </a:pPr>
            <a:r>
              <a:rPr lang="en-US" dirty="0">
                <a:latin typeface="+mn-lt"/>
                <a:ea typeface="+mn-ea"/>
                <a:cs typeface="+mn-cs"/>
              </a:rPr>
              <a:t>(6)    In June 2012, the OGC voted to adopt the revised version, WaterML2 as an international standard for exchange of water resources time series (the first such public standard that has existed);</a:t>
            </a:r>
          </a:p>
          <a:p>
            <a:pPr>
              <a:defRPr/>
            </a:pPr>
            <a:r>
              <a:rPr lang="en-US" dirty="0">
                <a:latin typeface="+mn-lt"/>
                <a:ea typeface="+mn-ea"/>
                <a:cs typeface="+mn-cs"/>
              </a:rPr>
              <a:t>(7)    This Congress to the WMO Commission for Hydrology to whom I am speaking is considering WaterML2 for adoption as an official standard by </a:t>
            </a:r>
            <a:r>
              <a:rPr lang="en-US" dirty="0" smtClean="0">
                <a:latin typeface="+mn-lt"/>
                <a:ea typeface="+mn-ea"/>
                <a:cs typeface="+mn-cs"/>
              </a:rPr>
              <a:t>WMO</a:t>
            </a:r>
          </a:p>
          <a:p>
            <a:pPr>
              <a:defRPr/>
            </a:pPr>
            <a:r>
              <a:rPr lang="en-US" dirty="0" smtClean="0">
                <a:latin typeface="+mn-lt"/>
                <a:ea typeface="+mn-ea"/>
                <a:cs typeface="+mn-cs"/>
              </a:rPr>
              <a:t>(8)    WaterML 2.0 Part 2 – Ratings and </a:t>
            </a:r>
            <a:r>
              <a:rPr lang="en-US" dirty="0" err="1" smtClean="0">
                <a:latin typeface="+mn-lt"/>
                <a:ea typeface="+mn-ea"/>
                <a:cs typeface="+mn-cs"/>
              </a:rPr>
              <a:t>Gagings</a:t>
            </a:r>
            <a:r>
              <a:rPr lang="en-US" baseline="0" dirty="0" smtClean="0">
                <a:latin typeface="+mn-lt"/>
                <a:ea typeface="+mn-ea"/>
                <a:cs typeface="+mn-cs"/>
              </a:rPr>
              <a:t> is ready for public comment, pending OGC approval to post.</a:t>
            </a:r>
            <a:endParaRPr lang="en-US" dirty="0" smtClean="0"/>
          </a:p>
        </p:txBody>
      </p:sp>
      <p:sp>
        <p:nvSpPr>
          <p:cNvPr id="5939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752" eaLnBrk="0" hangingPunct="0">
              <a:defRPr sz="1000" b="1">
                <a:solidFill>
                  <a:schemeClr val="tx1"/>
                </a:solidFill>
                <a:latin typeface="CG Times" charset="0"/>
                <a:ea typeface="ＭＳ Ｐゴシック" charset="0"/>
                <a:cs typeface="ＭＳ Ｐゴシック" charset="0"/>
              </a:defRPr>
            </a:lvl1pPr>
            <a:lvl2pPr marL="737304" indent="-283578" defTabSz="913752" eaLnBrk="0" hangingPunct="0">
              <a:defRPr sz="1000" b="1">
                <a:solidFill>
                  <a:schemeClr val="tx1"/>
                </a:solidFill>
                <a:latin typeface="CG Times" charset="0"/>
                <a:ea typeface="ＭＳ Ｐゴシック" charset="0"/>
              </a:defRPr>
            </a:lvl2pPr>
            <a:lvl3pPr marL="1134313" indent="-226863" defTabSz="913752" eaLnBrk="0" hangingPunct="0">
              <a:defRPr sz="1000" b="1">
                <a:solidFill>
                  <a:schemeClr val="tx1"/>
                </a:solidFill>
                <a:latin typeface="CG Times" charset="0"/>
                <a:ea typeface="ＭＳ Ｐゴシック" charset="0"/>
              </a:defRPr>
            </a:lvl3pPr>
            <a:lvl4pPr marL="1588038" indent="-226863" defTabSz="913752" eaLnBrk="0" hangingPunct="0">
              <a:defRPr sz="1000" b="1">
                <a:solidFill>
                  <a:schemeClr val="tx1"/>
                </a:solidFill>
                <a:latin typeface="CG Times" charset="0"/>
                <a:ea typeface="ＭＳ Ｐゴシック" charset="0"/>
              </a:defRPr>
            </a:lvl4pPr>
            <a:lvl5pPr marL="2041764" indent="-226863" defTabSz="913752" eaLnBrk="0" hangingPunct="0">
              <a:defRPr sz="1000" b="1">
                <a:solidFill>
                  <a:schemeClr val="tx1"/>
                </a:solidFill>
                <a:latin typeface="CG Times" charset="0"/>
                <a:ea typeface="ＭＳ Ｐゴシック" charset="0"/>
              </a:defRPr>
            </a:lvl5pPr>
            <a:lvl6pPr marL="2495489" indent="-226863" defTabSz="913752" eaLnBrk="0" fontAlgn="base" hangingPunct="0">
              <a:spcBef>
                <a:spcPct val="0"/>
              </a:spcBef>
              <a:spcAft>
                <a:spcPct val="0"/>
              </a:spcAft>
              <a:defRPr sz="1000" b="1">
                <a:solidFill>
                  <a:schemeClr val="tx1"/>
                </a:solidFill>
                <a:latin typeface="CG Times" charset="0"/>
                <a:ea typeface="ＭＳ Ｐゴシック" charset="0"/>
              </a:defRPr>
            </a:lvl6pPr>
            <a:lvl7pPr marL="2949214" indent="-226863" defTabSz="913752" eaLnBrk="0" fontAlgn="base" hangingPunct="0">
              <a:spcBef>
                <a:spcPct val="0"/>
              </a:spcBef>
              <a:spcAft>
                <a:spcPct val="0"/>
              </a:spcAft>
              <a:defRPr sz="1000" b="1">
                <a:solidFill>
                  <a:schemeClr val="tx1"/>
                </a:solidFill>
                <a:latin typeface="CG Times" charset="0"/>
                <a:ea typeface="ＭＳ Ｐゴシック" charset="0"/>
              </a:defRPr>
            </a:lvl7pPr>
            <a:lvl8pPr marL="3402940" indent="-226863" defTabSz="913752" eaLnBrk="0" fontAlgn="base" hangingPunct="0">
              <a:spcBef>
                <a:spcPct val="0"/>
              </a:spcBef>
              <a:spcAft>
                <a:spcPct val="0"/>
              </a:spcAft>
              <a:defRPr sz="1000" b="1">
                <a:solidFill>
                  <a:schemeClr val="tx1"/>
                </a:solidFill>
                <a:latin typeface="CG Times" charset="0"/>
                <a:ea typeface="ＭＳ Ｐゴシック" charset="0"/>
              </a:defRPr>
            </a:lvl8pPr>
            <a:lvl9pPr marL="3856665" indent="-226863" defTabSz="913752" eaLnBrk="0" fontAlgn="base" hangingPunct="0">
              <a:spcBef>
                <a:spcPct val="0"/>
              </a:spcBef>
              <a:spcAft>
                <a:spcPct val="0"/>
              </a:spcAft>
              <a:defRPr sz="1000" b="1">
                <a:solidFill>
                  <a:schemeClr val="tx1"/>
                </a:solidFill>
                <a:latin typeface="CG Times" charset="0"/>
                <a:ea typeface="ＭＳ Ｐゴシック" charset="0"/>
              </a:defRPr>
            </a:lvl9pPr>
          </a:lstStyle>
          <a:p>
            <a:fld id="{FA829A22-656D-8040-987F-F697D7D03989}" type="slidenum">
              <a:rPr lang="en-US" sz="1200">
                <a:solidFill>
                  <a:srgbClr val="000000"/>
                </a:solidFill>
                <a:latin typeface="Calibri" charset="0"/>
                <a:cs typeface="Arial" charset="0"/>
              </a:rPr>
              <a:pPr/>
              <a:t>5</a:t>
            </a:fld>
            <a:endParaRPr lang="en-US" sz="1200">
              <a:solidFill>
                <a:srgbClr val="000000"/>
              </a:solidFill>
              <a:latin typeface="Calibri" charset="0"/>
              <a:cs typeface="Arial" charset="0"/>
            </a:endParaRPr>
          </a:p>
        </p:txBody>
      </p:sp>
    </p:spTree>
    <p:extLst>
      <p:ext uri="{BB962C8B-B14F-4D97-AF65-F5344CB8AC3E}">
        <p14:creationId xmlns:p14="http://schemas.microsoft.com/office/powerpoint/2010/main" val="1028273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60C10-35C6-3C46-92C4-E11404D60FD6}" type="slidenum">
              <a:rPr lang="en-US" smtClean="0"/>
              <a:t>13</a:t>
            </a:fld>
            <a:endParaRPr lang="en-US"/>
          </a:p>
        </p:txBody>
      </p:sp>
    </p:spTree>
    <p:extLst>
      <p:ext uri="{BB962C8B-B14F-4D97-AF65-F5344CB8AC3E}">
        <p14:creationId xmlns:p14="http://schemas.microsoft.com/office/powerpoint/2010/main" val="1051940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60C10-35C6-3C46-92C4-E11404D60FD6}" type="slidenum">
              <a:rPr lang="en-US" smtClean="0"/>
              <a:t>14</a:t>
            </a:fld>
            <a:endParaRPr lang="en-US"/>
          </a:p>
        </p:txBody>
      </p:sp>
    </p:spTree>
    <p:extLst>
      <p:ext uri="{BB962C8B-B14F-4D97-AF65-F5344CB8AC3E}">
        <p14:creationId xmlns:p14="http://schemas.microsoft.com/office/powerpoint/2010/main" val="1051940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60C10-35C6-3C46-92C4-E11404D60FD6}" type="slidenum">
              <a:rPr lang="en-US" smtClean="0"/>
              <a:t>15</a:t>
            </a:fld>
            <a:endParaRPr lang="en-US"/>
          </a:p>
        </p:txBody>
      </p:sp>
    </p:spTree>
    <p:extLst>
      <p:ext uri="{BB962C8B-B14F-4D97-AF65-F5344CB8AC3E}">
        <p14:creationId xmlns:p14="http://schemas.microsoft.com/office/powerpoint/2010/main" val="1051940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60C10-35C6-3C46-92C4-E11404D60FD6}" type="slidenum">
              <a:rPr lang="en-US" smtClean="0"/>
              <a:t>20</a:t>
            </a:fld>
            <a:endParaRPr lang="en-US"/>
          </a:p>
        </p:txBody>
      </p:sp>
    </p:spTree>
    <p:extLst>
      <p:ext uri="{BB962C8B-B14F-4D97-AF65-F5344CB8AC3E}">
        <p14:creationId xmlns:p14="http://schemas.microsoft.com/office/powerpoint/2010/main" val="1051940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60C10-35C6-3C46-92C4-E11404D60FD6}" type="slidenum">
              <a:rPr lang="en-US" smtClean="0"/>
              <a:t>21</a:t>
            </a:fld>
            <a:endParaRPr lang="en-US"/>
          </a:p>
        </p:txBody>
      </p:sp>
    </p:spTree>
    <p:extLst>
      <p:ext uri="{BB962C8B-B14F-4D97-AF65-F5344CB8AC3E}">
        <p14:creationId xmlns:p14="http://schemas.microsoft.com/office/powerpoint/2010/main" val="1051940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5521A414-44EE-410C-A1B8-579872A9817C}" type="slidenum">
              <a:rPr lang="en-US">
                <a:solidFill>
                  <a:prstClr val="black"/>
                </a:solidFill>
                <a:latin typeface="Calibri"/>
              </a:rPr>
              <a:pPr>
                <a:defRPr/>
              </a:pPr>
              <a:t>26</a:t>
            </a:fld>
            <a:endParaRPr lang="en-US">
              <a:solidFill>
                <a:prstClr val="black"/>
              </a:solidFill>
              <a:latin typeface="Calibri"/>
            </a:endParaRPr>
          </a:p>
        </p:txBody>
      </p:sp>
      <p:sp>
        <p:nvSpPr>
          <p:cNvPr id="151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1556"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baseline="0" dirty="0" smtClean="0"/>
          </a:p>
          <a:p>
            <a:endParaRPr lang="en-US" dirty="0" smtClean="0"/>
          </a:p>
        </p:txBody>
      </p:sp>
    </p:spTree>
    <p:extLst>
      <p:ext uri="{BB962C8B-B14F-4D97-AF65-F5344CB8AC3E}">
        <p14:creationId xmlns:p14="http://schemas.microsoft.com/office/powerpoint/2010/main" val="93698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5521A414-44EE-410C-A1B8-579872A9817C}" type="slidenum">
              <a:rPr lang="en-US">
                <a:solidFill>
                  <a:prstClr val="black"/>
                </a:solidFill>
                <a:latin typeface="Calibri"/>
              </a:rPr>
              <a:pPr>
                <a:defRPr/>
              </a:pPr>
              <a:t>27</a:t>
            </a:fld>
            <a:endParaRPr lang="en-US">
              <a:solidFill>
                <a:prstClr val="black"/>
              </a:solidFill>
              <a:latin typeface="Calibri"/>
            </a:endParaRPr>
          </a:p>
        </p:txBody>
      </p:sp>
      <p:sp>
        <p:nvSpPr>
          <p:cNvPr id="151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155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smtClean="0"/>
              <a:t>Rating curves are developed on a planned &amp; as-needed basis, by taking direct measurements of depth and flow, and plotting the curve from this data. The curve is then used to convert real-time measurements of depth into real-time values of discharge.  </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smtClean="0"/>
              <a:t>The object of WaterML 2.0 Part 2 is to apply the OGC O&amp;M conceptual model and WaterML XML schema to convey the set of (stage, discharge) values.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smtClean="0"/>
              <a:t>Source:  </a:t>
            </a:r>
            <a:r>
              <a:rPr lang="en-US" sz="1200" baseline="0" dirty="0" smtClean="0">
                <a:solidFill>
                  <a:srgbClr val="FFFFFF"/>
                </a:solidFill>
              </a:rPr>
              <a:t>http://</a:t>
            </a:r>
            <a:r>
              <a:rPr lang="en-US" sz="1200" baseline="0" dirty="0" err="1" smtClean="0">
                <a:solidFill>
                  <a:srgbClr val="FFFFFF"/>
                </a:solidFill>
              </a:rPr>
              <a:t>water.usgs.gov</a:t>
            </a:r>
            <a:r>
              <a:rPr lang="en-US" sz="1200" baseline="0" dirty="0" smtClean="0">
                <a:solidFill>
                  <a:srgbClr val="FFFFFF"/>
                </a:solidFill>
              </a:rPr>
              <a:t>/</a:t>
            </a:r>
            <a:r>
              <a:rPr lang="en-US" sz="1200" baseline="0" dirty="0" err="1" smtClean="0">
                <a:solidFill>
                  <a:srgbClr val="FFFFFF"/>
                </a:solidFill>
              </a:rPr>
              <a:t>edu</a:t>
            </a:r>
            <a:r>
              <a:rPr lang="en-US" sz="1200" baseline="0" dirty="0" smtClean="0">
                <a:solidFill>
                  <a:srgbClr val="FFFFFF"/>
                </a:solidFill>
              </a:rPr>
              <a:t>/</a:t>
            </a:r>
            <a:r>
              <a:rPr lang="en-US" sz="1200" baseline="0" dirty="0" err="1" smtClean="0">
                <a:solidFill>
                  <a:srgbClr val="FFFFFF"/>
                </a:solidFill>
              </a:rPr>
              <a:t>measureflow.html</a:t>
            </a:r>
            <a:r>
              <a:rPr lang="en-US" sz="1200" baseline="0" dirty="0" smtClean="0">
                <a:solidFill>
                  <a:srgbClr val="FFFFFF"/>
                </a:solidFill>
              </a:rPr>
              <a:t>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aseline="0" dirty="0" smtClean="0">
                <a:solidFill>
                  <a:srgbClr val="FFFFFF"/>
                </a:solidFill>
              </a:rPr>
              <a:t>See also:</a:t>
            </a:r>
            <a:r>
              <a:rPr lang="en-US" baseline="0" dirty="0" smtClean="0"/>
              <a:t> </a:t>
            </a:r>
            <a:r>
              <a:rPr lang="en-US" sz="1200" dirty="0" smtClean="0">
                <a:solidFill>
                  <a:srgbClr val="FFFFFF"/>
                </a:solidFill>
              </a:rPr>
              <a:t>OGC 13-021r3 WaterML 2.0 – Part 2.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4125066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5521A414-44EE-410C-A1B8-579872A9817C}" type="slidenum">
              <a:rPr lang="en-US">
                <a:solidFill>
                  <a:prstClr val="black"/>
                </a:solidFill>
                <a:latin typeface="Calibri"/>
              </a:rPr>
              <a:pPr>
                <a:defRPr/>
              </a:pPr>
              <a:t>28</a:t>
            </a:fld>
            <a:endParaRPr lang="en-US">
              <a:solidFill>
                <a:prstClr val="black"/>
              </a:solidFill>
              <a:latin typeface="Calibri"/>
            </a:endParaRPr>
          </a:p>
        </p:txBody>
      </p:sp>
      <p:sp>
        <p:nvSpPr>
          <p:cNvPr id="151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1556" name="Rectangle 3"/>
          <p:cNvSpPr>
            <a:spLocks noGrp="1" noChangeArrowheads="1"/>
          </p:cNvSpPr>
          <p:nvPr>
            <p:ph type="body" idx="1"/>
          </p:nvPr>
        </p:nvSpPr>
        <p:spPr bwMode="auto">
          <a:noFill/>
        </p:spPr>
        <p:txBody>
          <a:bodyPr wrap="square" numCol="1" anchor="t" anchorCtr="0" compatLnSpc="1">
            <a:prstTxWarp prst="textNoShape">
              <a:avLst/>
            </a:prstTxWarp>
          </a:bodyPr>
          <a:lstStyle/>
          <a:p>
            <a:r>
              <a:rPr lang="en-US" dirty="0" smtClean="0"/>
              <a:t>Graph</a:t>
            </a:r>
            <a:r>
              <a:rPr lang="en-US" baseline="0" dirty="0" smtClean="0"/>
              <a:t> source:  http://</a:t>
            </a:r>
            <a:r>
              <a:rPr lang="en-US" baseline="0" dirty="0" err="1" smtClean="0"/>
              <a:t>waterdata.usgs.gov</a:t>
            </a:r>
            <a:r>
              <a:rPr lang="en-US" baseline="0" dirty="0" smtClean="0"/>
              <a:t>/</a:t>
            </a:r>
            <a:r>
              <a:rPr lang="en-US" baseline="0" dirty="0" err="1" smtClean="0"/>
              <a:t>nwis</a:t>
            </a:r>
            <a:r>
              <a:rPr lang="en-US" baseline="0" dirty="0" smtClean="0"/>
              <a:t>/uv?cb_00060=on&amp;cb_00065=on&amp;cb_00065=</a:t>
            </a:r>
            <a:r>
              <a:rPr lang="en-US" baseline="0" dirty="0" err="1" smtClean="0"/>
              <a:t>on&amp;format</a:t>
            </a:r>
            <a:r>
              <a:rPr lang="en-US" baseline="0" dirty="0" smtClean="0"/>
              <a:t>=</a:t>
            </a:r>
            <a:r>
              <a:rPr lang="en-US" baseline="0" dirty="0" err="1" smtClean="0"/>
              <a:t>gif_default&amp;site_no</a:t>
            </a:r>
            <a:r>
              <a:rPr lang="en-US" baseline="0" dirty="0" smtClean="0"/>
              <a:t>=08158000&amp;period=&amp;</a:t>
            </a:r>
            <a:r>
              <a:rPr lang="en-US" baseline="0" dirty="0" err="1" smtClean="0"/>
              <a:t>begin_date</a:t>
            </a:r>
            <a:r>
              <a:rPr lang="en-US" baseline="0" dirty="0" smtClean="0"/>
              <a:t>=2015-02-02&amp;end_date=2015-02-16</a:t>
            </a:r>
            <a:endParaRPr lang="en-US" dirty="0" smtClean="0"/>
          </a:p>
        </p:txBody>
      </p:sp>
    </p:spTree>
    <p:extLst>
      <p:ext uri="{BB962C8B-B14F-4D97-AF65-F5344CB8AC3E}">
        <p14:creationId xmlns:p14="http://schemas.microsoft.com/office/powerpoint/2010/main" val="232501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Image Placeholder 1"/>
          <p:cNvSpPr>
            <a:spLocks noGrp="1" noRot="1" noChangeAspect="1"/>
          </p:cNvSpPr>
          <p:nvPr>
            <p:ph type="sldImg"/>
          </p:nvPr>
        </p:nvSpPr>
        <p:spPr>
          <a:ln/>
        </p:spPr>
      </p:sp>
      <p:sp>
        <p:nvSpPr>
          <p:cNvPr id="5837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r>
              <a:rPr lang="en-US" dirty="0" smtClean="0">
                <a:ea typeface="ＭＳ Ｐゴシック" charset="0"/>
                <a:cs typeface="ＭＳ Ｐゴシック" charset="0"/>
              </a:rPr>
              <a:t>Increasingly, national water data is being published using</a:t>
            </a:r>
            <a:r>
              <a:rPr lang="en-US" baseline="0" dirty="0" smtClean="0">
                <a:ea typeface="ＭＳ Ｐゴシック" charset="0"/>
                <a:cs typeface="ＭＳ Ｐゴシック" charset="0"/>
              </a:rPr>
              <a:t> WaterML to describe time series of observations and model results. This is the current output from the US Geological Survey for one of their tens of thousands of river gauges (this one is on the Colorado River in Austin TX). </a:t>
            </a:r>
            <a:endParaRPr lang="en-US" dirty="0">
              <a:ea typeface="ＭＳ Ｐゴシック" charset="0"/>
              <a:cs typeface="ＭＳ Ｐゴシック" charset="0"/>
            </a:endParaRPr>
          </a:p>
        </p:txBody>
      </p:sp>
      <p:sp>
        <p:nvSpPr>
          <p:cNvPr id="58371"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752" eaLnBrk="0" hangingPunct="0">
              <a:defRPr sz="1000" b="1">
                <a:solidFill>
                  <a:schemeClr val="tx1"/>
                </a:solidFill>
                <a:latin typeface="CG Times" charset="0"/>
                <a:ea typeface="ＭＳ Ｐゴシック" charset="0"/>
                <a:cs typeface="ＭＳ Ｐゴシック" charset="0"/>
              </a:defRPr>
            </a:lvl1pPr>
            <a:lvl2pPr marL="737304" indent="-283578" defTabSz="913752" eaLnBrk="0" hangingPunct="0">
              <a:defRPr sz="1000" b="1">
                <a:solidFill>
                  <a:schemeClr val="tx1"/>
                </a:solidFill>
                <a:latin typeface="CG Times" charset="0"/>
                <a:ea typeface="ＭＳ Ｐゴシック" charset="0"/>
              </a:defRPr>
            </a:lvl2pPr>
            <a:lvl3pPr marL="1134313" indent="-226863" defTabSz="913752" eaLnBrk="0" hangingPunct="0">
              <a:defRPr sz="1000" b="1">
                <a:solidFill>
                  <a:schemeClr val="tx1"/>
                </a:solidFill>
                <a:latin typeface="CG Times" charset="0"/>
                <a:ea typeface="ＭＳ Ｐゴシック" charset="0"/>
              </a:defRPr>
            </a:lvl3pPr>
            <a:lvl4pPr marL="1588038" indent="-226863" defTabSz="913752" eaLnBrk="0" hangingPunct="0">
              <a:defRPr sz="1000" b="1">
                <a:solidFill>
                  <a:schemeClr val="tx1"/>
                </a:solidFill>
                <a:latin typeface="CG Times" charset="0"/>
                <a:ea typeface="ＭＳ Ｐゴシック" charset="0"/>
              </a:defRPr>
            </a:lvl4pPr>
            <a:lvl5pPr marL="2041764" indent="-226863" defTabSz="913752" eaLnBrk="0" hangingPunct="0">
              <a:defRPr sz="1000" b="1">
                <a:solidFill>
                  <a:schemeClr val="tx1"/>
                </a:solidFill>
                <a:latin typeface="CG Times" charset="0"/>
                <a:ea typeface="ＭＳ Ｐゴシック" charset="0"/>
              </a:defRPr>
            </a:lvl5pPr>
            <a:lvl6pPr marL="2495489" indent="-226863" defTabSz="913752" eaLnBrk="0" fontAlgn="base" hangingPunct="0">
              <a:spcBef>
                <a:spcPct val="0"/>
              </a:spcBef>
              <a:spcAft>
                <a:spcPct val="0"/>
              </a:spcAft>
              <a:defRPr sz="1000" b="1">
                <a:solidFill>
                  <a:schemeClr val="tx1"/>
                </a:solidFill>
                <a:latin typeface="CG Times" charset="0"/>
                <a:ea typeface="ＭＳ Ｐゴシック" charset="0"/>
              </a:defRPr>
            </a:lvl6pPr>
            <a:lvl7pPr marL="2949214" indent="-226863" defTabSz="913752" eaLnBrk="0" fontAlgn="base" hangingPunct="0">
              <a:spcBef>
                <a:spcPct val="0"/>
              </a:spcBef>
              <a:spcAft>
                <a:spcPct val="0"/>
              </a:spcAft>
              <a:defRPr sz="1000" b="1">
                <a:solidFill>
                  <a:schemeClr val="tx1"/>
                </a:solidFill>
                <a:latin typeface="CG Times" charset="0"/>
                <a:ea typeface="ＭＳ Ｐゴシック" charset="0"/>
              </a:defRPr>
            </a:lvl7pPr>
            <a:lvl8pPr marL="3402940" indent="-226863" defTabSz="913752" eaLnBrk="0" fontAlgn="base" hangingPunct="0">
              <a:spcBef>
                <a:spcPct val="0"/>
              </a:spcBef>
              <a:spcAft>
                <a:spcPct val="0"/>
              </a:spcAft>
              <a:defRPr sz="1000" b="1">
                <a:solidFill>
                  <a:schemeClr val="tx1"/>
                </a:solidFill>
                <a:latin typeface="CG Times" charset="0"/>
                <a:ea typeface="ＭＳ Ｐゴシック" charset="0"/>
              </a:defRPr>
            </a:lvl8pPr>
            <a:lvl9pPr marL="3856665" indent="-226863" defTabSz="913752" eaLnBrk="0" fontAlgn="base" hangingPunct="0">
              <a:spcBef>
                <a:spcPct val="0"/>
              </a:spcBef>
              <a:spcAft>
                <a:spcPct val="0"/>
              </a:spcAft>
              <a:defRPr sz="1000" b="1">
                <a:solidFill>
                  <a:schemeClr val="tx1"/>
                </a:solidFill>
                <a:latin typeface="CG Times" charset="0"/>
                <a:ea typeface="ＭＳ Ｐゴシック" charset="0"/>
              </a:defRPr>
            </a:lvl9pPr>
          </a:lstStyle>
          <a:p>
            <a:fld id="{FAA79957-7226-064B-9B4D-802AEDB78A37}" type="slidenum">
              <a:rPr lang="en-US" sz="1200">
                <a:solidFill>
                  <a:srgbClr val="000000"/>
                </a:solidFill>
                <a:latin typeface="Calibri" charset="0"/>
                <a:cs typeface="Arial" charset="0"/>
              </a:rPr>
              <a:pPr/>
              <a:t>29</a:t>
            </a:fld>
            <a:endParaRPr lang="en-US" sz="1200">
              <a:solidFill>
                <a:srgbClr val="000000"/>
              </a:solidFill>
              <a:latin typeface="Calibri" charset="0"/>
              <a:cs typeface="Arial" charset="0"/>
            </a:endParaRPr>
          </a:p>
        </p:txBody>
      </p:sp>
    </p:spTree>
    <p:extLst>
      <p:ext uri="{BB962C8B-B14F-4D97-AF65-F5344CB8AC3E}">
        <p14:creationId xmlns:p14="http://schemas.microsoft.com/office/powerpoint/2010/main" val="3947343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60C10-35C6-3C46-92C4-E11404D60FD6}" type="slidenum">
              <a:rPr lang="en-US" smtClean="0"/>
              <a:t>31</a:t>
            </a:fld>
            <a:endParaRPr lang="en-US"/>
          </a:p>
        </p:txBody>
      </p:sp>
    </p:spTree>
    <p:extLst>
      <p:ext uri="{BB962C8B-B14F-4D97-AF65-F5344CB8AC3E}">
        <p14:creationId xmlns:p14="http://schemas.microsoft.com/office/powerpoint/2010/main" val="10519406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60C10-35C6-3C46-92C4-E11404D60FD6}" type="slidenum">
              <a:rPr lang="en-US" smtClean="0"/>
              <a:t>33</a:t>
            </a:fld>
            <a:endParaRPr lang="en-US"/>
          </a:p>
        </p:txBody>
      </p:sp>
    </p:spTree>
    <p:extLst>
      <p:ext uri="{BB962C8B-B14F-4D97-AF65-F5344CB8AC3E}">
        <p14:creationId xmlns:p14="http://schemas.microsoft.com/office/powerpoint/2010/main" val="1051940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60C10-35C6-3C46-92C4-E11404D60FD6}" type="slidenum">
              <a:rPr lang="en-US" smtClean="0"/>
              <a:t>36</a:t>
            </a:fld>
            <a:endParaRPr lang="en-US"/>
          </a:p>
        </p:txBody>
      </p:sp>
    </p:spTree>
    <p:extLst>
      <p:ext uri="{BB962C8B-B14F-4D97-AF65-F5344CB8AC3E}">
        <p14:creationId xmlns:p14="http://schemas.microsoft.com/office/powerpoint/2010/main" val="10519406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fld id="{3DD62F90-B076-7D44-A537-FBDAA2D45315}" type="slidenum">
              <a:rPr lang="en-AU" sz="1200" smtClean="0">
                <a:solidFill>
                  <a:prstClr val="black"/>
                </a:solidFill>
              </a:rPr>
              <a:pPr eaLnBrk="1" hangingPunct="1">
                <a:defRPr/>
              </a:pPr>
              <a:t>37</a:t>
            </a:fld>
            <a:endParaRPr lang="en-AU" sz="1200" smtClean="0">
              <a:solidFill>
                <a:prstClr val="black"/>
              </a:solidFill>
            </a:endParaRPr>
          </a:p>
        </p:txBody>
      </p:sp>
      <p:sp>
        <p:nvSpPr>
          <p:cNvPr id="2662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defTabSz="914400" eaLnBrk="1" fontAlgn="base" hangingPunct="1">
              <a:spcBef>
                <a:spcPct val="0"/>
              </a:spcBef>
              <a:spcAft>
                <a:spcPct val="0"/>
              </a:spcAft>
            </a:pPr>
            <a:fld id="{7B962875-B9AF-7F47-8EF8-E831BAD98666}" type="slidenum">
              <a:rPr lang="en-AU" sz="1200" smtClean="0">
                <a:solidFill>
                  <a:prstClr val="black"/>
                </a:solidFill>
              </a:rPr>
              <a:pPr algn="r" defTabSz="914400" eaLnBrk="1" fontAlgn="base" hangingPunct="1">
                <a:spcBef>
                  <a:spcPct val="0"/>
                </a:spcBef>
                <a:spcAft>
                  <a:spcPct val="0"/>
                </a:spcAft>
              </a:pPr>
              <a:t>37</a:t>
            </a:fld>
            <a:endParaRPr lang="en-AU" sz="1200" smtClean="0">
              <a:solidFill>
                <a:prstClr val="black"/>
              </a:solidFill>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xfrm>
            <a:off x="914400" y="4343400"/>
            <a:ext cx="5029200" cy="4114800"/>
          </a:xfr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4.png"/><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wmf"/><Relationship Id="rId4" Type="http://schemas.openxmlformats.org/officeDocument/2006/relationships/image" Target="../media/image9.png"/><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3787775"/>
          </a:xfrm>
          <a:prstGeom prst="rect">
            <a:avLst/>
          </a:prstGeom>
        </p:spPr>
      </p:pic>
      <p:grpSp>
        <p:nvGrpSpPr>
          <p:cNvPr id="3138" name="Group 66"/>
          <p:cNvGrpSpPr>
            <a:grpSpLocks/>
          </p:cNvGrpSpPr>
          <p:nvPr/>
        </p:nvGrpSpPr>
        <p:grpSpPr bwMode="auto">
          <a:xfrm>
            <a:off x="-6350" y="-12700"/>
            <a:ext cx="9150350" cy="6883400"/>
            <a:chOff x="-4" y="-8"/>
            <a:chExt cx="5764" cy="4336"/>
          </a:xfrm>
        </p:grpSpPr>
        <p:grpSp>
          <p:nvGrpSpPr>
            <p:cNvPr id="3105" name="Group 33"/>
            <p:cNvGrpSpPr>
              <a:grpSpLocks/>
            </p:cNvGrpSpPr>
            <p:nvPr userDrawn="1"/>
          </p:nvGrpSpPr>
          <p:grpSpPr bwMode="auto">
            <a:xfrm>
              <a:off x="-4" y="0"/>
              <a:ext cx="855" cy="2387"/>
              <a:chOff x="0" y="0"/>
              <a:chExt cx="855" cy="2387"/>
            </a:xfrm>
          </p:grpSpPr>
          <p:sp>
            <p:nvSpPr>
              <p:cNvPr id="3106" name="AutoShape 34"/>
              <p:cNvSpPr>
                <a:spLocks noChangeArrowheads="1"/>
              </p:cNvSpPr>
              <p:nvPr userDrawn="1"/>
            </p:nvSpPr>
            <p:spPr bwMode="auto">
              <a:xfrm>
                <a:off x="16" y="0"/>
                <a:ext cx="839" cy="2387"/>
              </a:xfrm>
              <a:prstGeom prst="parallelogram">
                <a:avLst>
                  <a:gd name="adj" fmla="val 25028"/>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3107" name="Rectangle 35"/>
              <p:cNvSpPr>
                <a:spLocks noChangeArrowheads="1"/>
              </p:cNvSpPr>
              <p:nvPr userDrawn="1"/>
            </p:nvSpPr>
            <p:spPr bwMode="auto">
              <a:xfrm>
                <a:off x="0" y="0"/>
                <a:ext cx="385" cy="23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grpSp>
        <p:sp>
          <p:nvSpPr>
            <p:cNvPr id="3118" name="Line 46"/>
            <p:cNvSpPr>
              <a:spLocks noChangeShapeType="1"/>
            </p:cNvSpPr>
            <p:nvPr userDrawn="1"/>
          </p:nvSpPr>
          <p:spPr bwMode="auto">
            <a:xfrm>
              <a:off x="540" y="3409"/>
              <a:ext cx="5220"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pic>
          <p:nvPicPr>
            <p:cNvPr id="3124" name="Picture 52" descr="20070618_csiro7024"/>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5048" y="3674"/>
              <a:ext cx="420" cy="504"/>
            </a:xfrm>
            <a:prstGeom prst="rect">
              <a:avLst/>
            </a:prstGeom>
            <a:noFill/>
            <a:extLst>
              <a:ext uri="{909E8E84-426E-40dd-AFC4-6F175D3DCCD1}">
                <a14:hiddenFill xmlns:a14="http://schemas.microsoft.com/office/drawing/2010/main">
                  <a:solidFill>
                    <a:srgbClr val="FFFFFF"/>
                  </a:solidFill>
                </a14:hiddenFill>
              </a:ext>
            </a:extLst>
          </p:spPr>
        </p:pic>
        <p:pic>
          <p:nvPicPr>
            <p:cNvPr id="3128" name="Picture 56" descr="title_slide_nolineslrg"/>
            <p:cNvPicPr>
              <a:picLocks noChangeAspect="1" noChangeArrowheads="1"/>
            </p:cNvPicPr>
            <p:nvPr userDrawn="1"/>
          </p:nvPicPr>
          <p:blipFill>
            <a:blip r:embed="rId4" cstate="print">
              <a:extLst>
                <a:ext uri="{28A0092B-C50C-407E-A947-70E740481C1C}">
                  <a14:useLocalDpi xmlns:a14="http://schemas.microsoft.com/office/drawing/2010/main"/>
                </a:ext>
              </a:extLst>
            </a:blip>
            <a:srcRect t="8672" r="139"/>
            <a:stretch>
              <a:fillRect/>
            </a:stretch>
          </p:blipFill>
          <p:spPr bwMode="auto">
            <a:xfrm>
              <a:off x="-3" y="2386"/>
              <a:ext cx="5763" cy="1011"/>
            </a:xfrm>
            <a:prstGeom prst="rect">
              <a:avLst/>
            </a:prstGeom>
            <a:noFill/>
            <a:extLst>
              <a:ext uri="{909E8E84-426E-40dd-AFC4-6F175D3DCCD1}">
                <a14:hiddenFill xmlns:a14="http://schemas.microsoft.com/office/drawing/2010/main">
                  <a:solidFill>
                    <a:srgbClr val="FFFFFF"/>
                  </a:solidFill>
                </a14:hiddenFill>
              </a:ext>
            </a:extLst>
          </p:spPr>
        </p:pic>
        <p:sp>
          <p:nvSpPr>
            <p:cNvPr id="3131" name="Line 59"/>
            <p:cNvSpPr>
              <a:spLocks noChangeShapeType="1"/>
            </p:cNvSpPr>
            <p:nvPr userDrawn="1"/>
          </p:nvSpPr>
          <p:spPr bwMode="auto">
            <a:xfrm>
              <a:off x="0" y="3237"/>
              <a:ext cx="564"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grpSp>
          <p:nvGrpSpPr>
            <p:cNvPr id="3109" name="Group 37"/>
            <p:cNvGrpSpPr>
              <a:grpSpLocks/>
            </p:cNvGrpSpPr>
            <p:nvPr userDrawn="1"/>
          </p:nvGrpSpPr>
          <p:grpSpPr bwMode="auto">
            <a:xfrm>
              <a:off x="409" y="-8"/>
              <a:ext cx="259" cy="4336"/>
              <a:chOff x="409" y="-1"/>
              <a:chExt cx="259" cy="4331"/>
            </a:xfrm>
          </p:grpSpPr>
          <p:sp>
            <p:nvSpPr>
              <p:cNvPr id="3110" name="Line 38"/>
              <p:cNvSpPr>
                <a:spLocks noChangeShapeType="1"/>
              </p:cNvSpPr>
              <p:nvPr userDrawn="1"/>
            </p:nvSpPr>
            <p:spPr bwMode="auto">
              <a:xfrm rot="286749" flipH="1">
                <a:off x="651" y="-1"/>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3111" name="Line 39"/>
              <p:cNvSpPr>
                <a:spLocks noChangeShapeType="1"/>
              </p:cNvSpPr>
              <p:nvPr userDrawn="1"/>
            </p:nvSpPr>
            <p:spPr bwMode="auto">
              <a:xfrm rot="286749" flipH="1">
                <a:off x="569" y="-1"/>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3112" name="Line 40"/>
              <p:cNvSpPr>
                <a:spLocks noChangeShapeType="1"/>
              </p:cNvSpPr>
              <p:nvPr userDrawn="1"/>
            </p:nvSpPr>
            <p:spPr bwMode="auto">
              <a:xfrm rot="286749" flipH="1">
                <a:off x="609" y="0"/>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3113" name="Line 41"/>
              <p:cNvSpPr>
                <a:spLocks noChangeShapeType="1"/>
              </p:cNvSpPr>
              <p:nvPr userDrawn="1"/>
            </p:nvSpPr>
            <p:spPr bwMode="auto">
              <a:xfrm rot="286749" flipH="1">
                <a:off x="529" y="0"/>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3114" name="Line 42"/>
              <p:cNvSpPr>
                <a:spLocks noChangeShapeType="1"/>
              </p:cNvSpPr>
              <p:nvPr userDrawn="1"/>
            </p:nvSpPr>
            <p:spPr bwMode="auto">
              <a:xfrm rot="286749" flipH="1">
                <a:off x="447" y="0"/>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3115" name="Line 43"/>
              <p:cNvSpPr>
                <a:spLocks noChangeShapeType="1"/>
              </p:cNvSpPr>
              <p:nvPr userDrawn="1"/>
            </p:nvSpPr>
            <p:spPr bwMode="auto">
              <a:xfrm rot="286749" flipH="1">
                <a:off x="487" y="-1"/>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3116" name="Line 44"/>
              <p:cNvSpPr>
                <a:spLocks noChangeShapeType="1"/>
              </p:cNvSpPr>
              <p:nvPr userDrawn="1"/>
            </p:nvSpPr>
            <p:spPr bwMode="auto">
              <a:xfrm rot="286749" flipH="1">
                <a:off x="409" y="-1"/>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grpSp>
      </p:grpSp>
      <p:sp>
        <p:nvSpPr>
          <p:cNvPr id="3074" name="Rectangle 2"/>
          <p:cNvSpPr>
            <a:spLocks noGrp="1" noChangeArrowheads="1"/>
          </p:cNvSpPr>
          <p:nvPr>
            <p:ph type="ctrTitle"/>
          </p:nvPr>
        </p:nvSpPr>
        <p:spPr>
          <a:xfrm>
            <a:off x="1331913" y="4076700"/>
            <a:ext cx="7343775" cy="1008063"/>
          </a:xfrm>
        </p:spPr>
        <p:txBody>
          <a:bodyPr tIns="0"/>
          <a:lstStyle>
            <a:lvl1pPr>
              <a:defRPr sz="2900">
                <a:solidFill>
                  <a:schemeClr val="bg1"/>
                </a:solidFill>
              </a:defRPr>
            </a:lvl1pPr>
          </a:lstStyle>
          <a:p>
            <a:pPr lvl="0"/>
            <a:r>
              <a:rPr lang="en-AU" noProof="0" smtClean="0"/>
              <a:t>Click to edit Master title style</a:t>
            </a:r>
          </a:p>
        </p:txBody>
      </p:sp>
      <p:sp>
        <p:nvSpPr>
          <p:cNvPr id="3075" name="Rectangle 3"/>
          <p:cNvSpPr>
            <a:spLocks noGrp="1" noChangeArrowheads="1"/>
          </p:cNvSpPr>
          <p:nvPr>
            <p:ph type="subTitle" idx="1"/>
          </p:nvPr>
        </p:nvSpPr>
        <p:spPr>
          <a:xfrm>
            <a:off x="1331913" y="5661025"/>
            <a:ext cx="3952875" cy="1008063"/>
          </a:xfrm>
        </p:spPr>
        <p:txBody>
          <a:bodyPr anchor="b"/>
          <a:lstStyle>
            <a:lvl1pPr marL="0" indent="0">
              <a:buFontTx/>
              <a:buNone/>
              <a:defRPr sz="1600" b="1">
                <a:solidFill>
                  <a:srgbClr val="0099CC"/>
                </a:solidFill>
              </a:defRPr>
            </a:lvl1pPr>
          </a:lstStyle>
          <a:p>
            <a:pPr lvl="0"/>
            <a:r>
              <a:rPr lang="en-AU" noProof="0" smtClean="0"/>
              <a:t>Click to edit Master subtitle style</a:t>
            </a:r>
          </a:p>
        </p:txBody>
      </p:sp>
    </p:spTree>
    <p:extLst>
      <p:ext uri="{BB962C8B-B14F-4D97-AF65-F5344CB8AC3E}">
        <p14:creationId xmlns:p14="http://schemas.microsoft.com/office/powerpoint/2010/main" val="4141101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Footer Placeholder 3"/>
          <p:cNvSpPr>
            <a:spLocks noGrp="1"/>
          </p:cNvSpPr>
          <p:nvPr>
            <p:ph type="ftr" sz="quarter" idx="10"/>
          </p:nvPr>
        </p:nvSpPr>
        <p:spPr/>
        <p:txBody>
          <a:bodyPr/>
          <a:lstStyle>
            <a:lvl1pPr>
              <a:defRPr/>
            </a:lvl1pPr>
          </a:lstStyle>
          <a:p>
            <a:r>
              <a:rPr lang="en-AU" dirty="0">
                <a:solidFill>
                  <a:srgbClr val="0099CC"/>
                </a:solidFill>
              </a:rPr>
              <a:t>CSIRO.</a:t>
            </a:r>
            <a:r>
              <a:rPr lang="en-AU" b="0" dirty="0">
                <a:solidFill>
                  <a:srgbClr val="000000"/>
                </a:solidFill>
              </a:rPr>
              <a:t>  </a:t>
            </a:r>
            <a:r>
              <a:rPr lang="en-AU" b="0" dirty="0" smtClean="0">
                <a:solidFill>
                  <a:srgbClr val="000000"/>
                </a:solidFill>
              </a:rPr>
              <a:t>WaterML2.0 overview</a:t>
            </a:r>
            <a:endParaRPr lang="en-AU" b="0" dirty="0">
              <a:solidFill>
                <a:srgbClr val="000000"/>
              </a:solidFill>
            </a:endParaRPr>
          </a:p>
        </p:txBody>
      </p:sp>
    </p:spTree>
    <p:extLst>
      <p:ext uri="{BB962C8B-B14F-4D97-AF65-F5344CB8AC3E}">
        <p14:creationId xmlns:p14="http://schemas.microsoft.com/office/powerpoint/2010/main" val="2373700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Footer Placeholder 3"/>
          <p:cNvSpPr>
            <a:spLocks noGrp="1"/>
          </p:cNvSpPr>
          <p:nvPr>
            <p:ph type="ftr" sz="quarter" idx="10"/>
          </p:nvPr>
        </p:nvSpPr>
        <p:spPr/>
        <p:txBody>
          <a:bodyPr/>
          <a:lstStyle>
            <a:lvl1pPr>
              <a:defRPr/>
            </a:lvl1pPr>
          </a:lstStyle>
          <a:p>
            <a:r>
              <a:rPr lang="en-AU" dirty="0">
                <a:solidFill>
                  <a:srgbClr val="0099CC"/>
                </a:solidFill>
              </a:rPr>
              <a:t>CSIRO.</a:t>
            </a:r>
            <a:r>
              <a:rPr lang="en-AU" b="0" dirty="0">
                <a:solidFill>
                  <a:srgbClr val="000000"/>
                </a:solidFill>
              </a:rPr>
              <a:t>  </a:t>
            </a:r>
            <a:r>
              <a:rPr lang="en-AU" b="0" dirty="0" smtClean="0">
                <a:solidFill>
                  <a:srgbClr val="000000"/>
                </a:solidFill>
              </a:rPr>
              <a:t>WaterML2.0 overview</a:t>
            </a:r>
            <a:endParaRPr lang="en-AU" b="0" dirty="0">
              <a:solidFill>
                <a:srgbClr val="000000"/>
              </a:solidFill>
            </a:endParaRPr>
          </a:p>
        </p:txBody>
      </p:sp>
    </p:spTree>
    <p:extLst>
      <p:ext uri="{BB962C8B-B14F-4D97-AF65-F5344CB8AC3E}">
        <p14:creationId xmlns:p14="http://schemas.microsoft.com/office/powerpoint/2010/main" val="943361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1103313" y="1385888"/>
            <a:ext cx="3595687"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851400" y="1385888"/>
            <a:ext cx="3595688"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Footer Placeholder 4"/>
          <p:cNvSpPr>
            <a:spLocks noGrp="1"/>
          </p:cNvSpPr>
          <p:nvPr>
            <p:ph type="ftr" sz="quarter" idx="10"/>
          </p:nvPr>
        </p:nvSpPr>
        <p:spPr/>
        <p:txBody>
          <a:bodyPr/>
          <a:lstStyle>
            <a:lvl1pPr>
              <a:defRPr/>
            </a:lvl1pPr>
          </a:lstStyle>
          <a:p>
            <a:r>
              <a:rPr lang="en-AU" dirty="0" smtClean="0">
                <a:solidFill>
                  <a:srgbClr val="0099CC"/>
                </a:solidFill>
              </a:rPr>
              <a:t>CSIRO.</a:t>
            </a:r>
            <a:r>
              <a:rPr lang="en-AU" b="0" dirty="0" smtClean="0">
                <a:solidFill>
                  <a:srgbClr val="000000"/>
                </a:solidFill>
              </a:rPr>
              <a:t> WaterML2.0 overview</a:t>
            </a:r>
            <a:endParaRPr lang="en-AU" b="0" dirty="0">
              <a:solidFill>
                <a:srgbClr val="000000"/>
              </a:solidFill>
            </a:endParaRPr>
          </a:p>
        </p:txBody>
      </p:sp>
    </p:spTree>
    <p:extLst>
      <p:ext uri="{BB962C8B-B14F-4D97-AF65-F5344CB8AC3E}">
        <p14:creationId xmlns:p14="http://schemas.microsoft.com/office/powerpoint/2010/main" val="2902061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Footer Placeholder 6"/>
          <p:cNvSpPr>
            <a:spLocks noGrp="1"/>
          </p:cNvSpPr>
          <p:nvPr>
            <p:ph type="ftr" sz="quarter" idx="10"/>
          </p:nvPr>
        </p:nvSpPr>
        <p:spPr/>
        <p:txBody>
          <a:bodyPr/>
          <a:lstStyle>
            <a:lvl1pPr>
              <a:defRPr/>
            </a:lvl1pPr>
          </a:lstStyle>
          <a:p>
            <a:r>
              <a:rPr lang="en-AU">
                <a:solidFill>
                  <a:srgbClr val="0099CC"/>
                </a:solidFill>
              </a:rPr>
              <a:t>CSIRO.</a:t>
            </a:r>
            <a:r>
              <a:rPr lang="en-AU" b="0">
                <a:solidFill>
                  <a:srgbClr val="000000"/>
                </a:solidFill>
              </a:rPr>
              <a:t>  Insert presentation title, do not remove CSIRO from start of footer</a:t>
            </a:r>
          </a:p>
        </p:txBody>
      </p:sp>
    </p:spTree>
    <p:extLst>
      <p:ext uri="{BB962C8B-B14F-4D97-AF65-F5344CB8AC3E}">
        <p14:creationId xmlns:p14="http://schemas.microsoft.com/office/powerpoint/2010/main" val="504213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r>
              <a:rPr lang="en-AU" dirty="0">
                <a:solidFill>
                  <a:srgbClr val="0099CC"/>
                </a:solidFill>
              </a:rPr>
              <a:t>CSIRO.</a:t>
            </a:r>
            <a:r>
              <a:rPr lang="en-AU" b="0" dirty="0">
                <a:solidFill>
                  <a:srgbClr val="000000"/>
                </a:solidFill>
              </a:rPr>
              <a:t> </a:t>
            </a:r>
            <a:r>
              <a:rPr lang="en-AU" b="0" dirty="0" smtClean="0">
                <a:solidFill>
                  <a:srgbClr val="000000"/>
                </a:solidFill>
              </a:rPr>
              <a:t>WaterML2.0 overview</a:t>
            </a:r>
            <a:endParaRPr lang="en-AU" b="0" dirty="0">
              <a:solidFill>
                <a:srgbClr val="000000"/>
              </a:solidFill>
            </a:endParaRPr>
          </a:p>
        </p:txBody>
      </p:sp>
    </p:spTree>
    <p:extLst>
      <p:ext uri="{BB962C8B-B14F-4D97-AF65-F5344CB8AC3E}">
        <p14:creationId xmlns:p14="http://schemas.microsoft.com/office/powerpoint/2010/main" val="2158501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AU" dirty="0">
                <a:solidFill>
                  <a:srgbClr val="0099CC"/>
                </a:solidFill>
              </a:rPr>
              <a:t>CSIRO.</a:t>
            </a:r>
            <a:r>
              <a:rPr lang="en-AU" b="0" dirty="0">
                <a:solidFill>
                  <a:srgbClr val="000000"/>
                </a:solidFill>
              </a:rPr>
              <a:t> </a:t>
            </a:r>
            <a:r>
              <a:rPr lang="en-AU" b="0" dirty="0" smtClean="0">
                <a:solidFill>
                  <a:srgbClr val="000000"/>
                </a:solidFill>
              </a:rPr>
              <a:t>WaterML2.0 overview</a:t>
            </a:r>
            <a:endParaRPr lang="en-AU" b="0" dirty="0">
              <a:solidFill>
                <a:srgbClr val="000000"/>
              </a:solidFill>
            </a:endParaRPr>
          </a:p>
        </p:txBody>
      </p:sp>
    </p:spTree>
    <p:extLst>
      <p:ext uri="{BB962C8B-B14F-4D97-AF65-F5344CB8AC3E}">
        <p14:creationId xmlns:p14="http://schemas.microsoft.com/office/powerpoint/2010/main" val="2280508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dirty="0" smtClean="0">
                <a:solidFill>
                  <a:srgbClr val="0099CC"/>
                </a:solidFill>
              </a:rPr>
              <a:t>CSIRO. </a:t>
            </a:r>
            <a:r>
              <a:rPr lang="en-AU" b="0" dirty="0" smtClean="0">
                <a:solidFill>
                  <a:srgbClr val="000000"/>
                </a:solidFill>
              </a:rPr>
              <a:t>WaterML2.0 overview</a:t>
            </a:r>
            <a:endParaRPr lang="en-AU" b="0" dirty="0">
              <a:solidFill>
                <a:srgbClr val="000000"/>
              </a:solidFill>
            </a:endParaRPr>
          </a:p>
        </p:txBody>
      </p:sp>
    </p:spTree>
    <p:extLst>
      <p:ext uri="{BB962C8B-B14F-4D97-AF65-F5344CB8AC3E}">
        <p14:creationId xmlns:p14="http://schemas.microsoft.com/office/powerpoint/2010/main" val="3814259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dirty="0">
                <a:solidFill>
                  <a:srgbClr val="0099CC"/>
                </a:solidFill>
              </a:rPr>
              <a:t>CSIRO.</a:t>
            </a:r>
            <a:r>
              <a:rPr lang="en-AU" b="0" dirty="0">
                <a:solidFill>
                  <a:srgbClr val="000000"/>
                </a:solidFill>
              </a:rPr>
              <a:t> </a:t>
            </a:r>
            <a:r>
              <a:rPr lang="en-AU" b="0" dirty="0" smtClean="0">
                <a:solidFill>
                  <a:srgbClr val="000000"/>
                </a:solidFill>
              </a:rPr>
              <a:t>WaterML2.0 overview</a:t>
            </a:r>
            <a:endParaRPr lang="en-AU" b="0" dirty="0">
              <a:solidFill>
                <a:srgbClr val="000000"/>
              </a:solidFill>
            </a:endParaRPr>
          </a:p>
        </p:txBody>
      </p:sp>
    </p:spTree>
    <p:extLst>
      <p:ext uri="{BB962C8B-B14F-4D97-AF65-F5344CB8AC3E}">
        <p14:creationId xmlns:p14="http://schemas.microsoft.com/office/powerpoint/2010/main" val="23948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Footer Placeholder 3"/>
          <p:cNvSpPr>
            <a:spLocks noGrp="1"/>
          </p:cNvSpPr>
          <p:nvPr>
            <p:ph type="ftr" sz="quarter" idx="10"/>
          </p:nvPr>
        </p:nvSpPr>
        <p:spPr/>
        <p:txBody>
          <a:bodyPr/>
          <a:lstStyle>
            <a:lvl1pPr>
              <a:defRPr/>
            </a:lvl1pPr>
          </a:lstStyle>
          <a:p>
            <a:r>
              <a:rPr lang="en-AU" dirty="0">
                <a:solidFill>
                  <a:srgbClr val="0099CC"/>
                </a:solidFill>
              </a:rPr>
              <a:t>CSIRO.</a:t>
            </a:r>
            <a:r>
              <a:rPr lang="en-AU" b="0" dirty="0">
                <a:solidFill>
                  <a:srgbClr val="000000"/>
                </a:solidFill>
              </a:rPr>
              <a:t> </a:t>
            </a:r>
            <a:r>
              <a:rPr lang="en-AU" b="0" dirty="0" smtClean="0">
                <a:solidFill>
                  <a:srgbClr val="000000"/>
                </a:solidFill>
              </a:rPr>
              <a:t>WaterML2.0 overview</a:t>
            </a:r>
            <a:endParaRPr lang="en-AU" b="0" dirty="0">
              <a:solidFill>
                <a:srgbClr val="000000"/>
              </a:solidFill>
            </a:endParaRPr>
          </a:p>
        </p:txBody>
      </p:sp>
    </p:spTree>
    <p:extLst>
      <p:ext uri="{BB962C8B-B14F-4D97-AF65-F5344CB8AC3E}">
        <p14:creationId xmlns:p14="http://schemas.microsoft.com/office/powerpoint/2010/main" val="750106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1938" y="80963"/>
            <a:ext cx="1835150" cy="622776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1103313" y="80963"/>
            <a:ext cx="5356225" cy="622776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Footer Placeholder 3"/>
          <p:cNvSpPr>
            <a:spLocks noGrp="1"/>
          </p:cNvSpPr>
          <p:nvPr>
            <p:ph type="ftr" sz="quarter" idx="10"/>
          </p:nvPr>
        </p:nvSpPr>
        <p:spPr/>
        <p:txBody>
          <a:bodyPr/>
          <a:lstStyle>
            <a:lvl1pPr>
              <a:defRPr/>
            </a:lvl1pPr>
          </a:lstStyle>
          <a:p>
            <a:r>
              <a:rPr lang="en-AU">
                <a:solidFill>
                  <a:srgbClr val="0099CC"/>
                </a:solidFill>
              </a:rPr>
              <a:t>CSIRO.</a:t>
            </a:r>
            <a:r>
              <a:rPr lang="en-AU" b="0">
                <a:solidFill>
                  <a:srgbClr val="000000"/>
                </a:solidFill>
              </a:rPr>
              <a:t>  Insert presentation title, do not remove CSIRO from start of footer</a:t>
            </a:r>
          </a:p>
        </p:txBody>
      </p:sp>
    </p:spTree>
    <p:extLst>
      <p:ext uri="{BB962C8B-B14F-4D97-AF65-F5344CB8AC3E}">
        <p14:creationId xmlns:p14="http://schemas.microsoft.com/office/powerpoint/2010/main" val="2755191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520700" y="-500063"/>
            <a:ext cx="8623300" cy="5699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5"/>
          <p:cNvGrpSpPr>
            <a:grpSpLocks/>
          </p:cNvGrpSpPr>
          <p:nvPr/>
        </p:nvGrpSpPr>
        <p:grpSpPr bwMode="auto">
          <a:xfrm>
            <a:off x="0" y="0"/>
            <a:ext cx="9144000" cy="6858000"/>
            <a:chOff x="0" y="0"/>
            <a:chExt cx="5760" cy="4320"/>
          </a:xfrm>
        </p:grpSpPr>
        <p:sp>
          <p:nvSpPr>
            <p:cNvPr id="6" name="Rectangle 18"/>
            <p:cNvSpPr>
              <a:spLocks noChangeArrowheads="1"/>
            </p:cNvSpPr>
            <p:nvPr/>
          </p:nvSpPr>
          <p:spPr bwMode="auto">
            <a:xfrm>
              <a:off x="474" y="2397"/>
              <a:ext cx="5286" cy="861"/>
            </a:xfrm>
            <a:prstGeom prst="rect">
              <a:avLst/>
            </a:prstGeom>
            <a:solidFill>
              <a:srgbClr val="E2E3E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914400" fontAlgn="base">
                <a:spcBef>
                  <a:spcPct val="0"/>
                </a:spcBef>
                <a:spcAft>
                  <a:spcPct val="0"/>
                </a:spcAft>
                <a:defRPr/>
              </a:pPr>
              <a:endParaRPr lang="en-US">
                <a:solidFill>
                  <a:srgbClr val="000000"/>
                </a:solidFill>
                <a:latin typeface="Arial" charset="0"/>
                <a:ea typeface="ＭＳ Ｐゴシック" charset="0"/>
                <a:cs typeface="ＭＳ Ｐゴシック" charset="0"/>
              </a:endParaRPr>
            </a:p>
          </p:txBody>
        </p:sp>
        <p:sp>
          <p:nvSpPr>
            <p:cNvPr id="7" name="Rectangle 27"/>
            <p:cNvSpPr>
              <a:spLocks noChangeArrowheads="1"/>
            </p:cNvSpPr>
            <p:nvPr/>
          </p:nvSpPr>
          <p:spPr bwMode="auto">
            <a:xfrm>
              <a:off x="472" y="3258"/>
              <a:ext cx="5288" cy="15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914400" fontAlgn="base">
                <a:spcBef>
                  <a:spcPct val="0"/>
                </a:spcBef>
                <a:spcAft>
                  <a:spcPct val="0"/>
                </a:spcAft>
                <a:defRPr/>
              </a:pPr>
              <a:endParaRPr lang="en-US">
                <a:solidFill>
                  <a:srgbClr val="000000"/>
                </a:solidFill>
                <a:latin typeface="Arial" charset="0"/>
                <a:ea typeface="ＭＳ Ｐゴシック" charset="0"/>
                <a:cs typeface="ＭＳ Ｐゴシック" charset="0"/>
              </a:endParaRPr>
            </a:p>
          </p:txBody>
        </p:sp>
        <p:pic>
          <p:nvPicPr>
            <p:cNvPr id="8" name="Picture 23" descr="flagships_ppt_title"/>
            <p:cNvPicPr>
              <a:picLocks noChangeAspect="1" noChangeArrowheads="1"/>
            </p:cNvPicPr>
            <p:nvPr/>
          </p:nvPicPr>
          <p:blipFill>
            <a:blip r:embed="rId3" cstate="print">
              <a:extLst>
                <a:ext uri="{28A0092B-C50C-407E-A947-70E740481C1C}">
                  <a14:useLocalDpi xmlns:a14="http://schemas.microsoft.com/office/drawing/2010/main"/>
                </a:ext>
              </a:extLst>
            </a:blip>
            <a:srcRect l="1987" t="2022" b="943"/>
            <a:stretch>
              <a:fillRect/>
            </a:stretch>
          </p:blipFill>
          <p:spPr bwMode="auto">
            <a:xfrm>
              <a:off x="0" y="0"/>
              <a:ext cx="888"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3" descr="20070910_WfHC-logo_RGB_large"/>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645" y="3525"/>
              <a:ext cx="1972" cy="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06" name="Rectangle 10"/>
          <p:cNvSpPr>
            <a:spLocks noGrp="1" noChangeArrowheads="1"/>
          </p:cNvSpPr>
          <p:nvPr>
            <p:ph type="ctrTitle"/>
          </p:nvPr>
        </p:nvSpPr>
        <p:spPr>
          <a:xfrm>
            <a:off x="1303338" y="4113213"/>
            <a:ext cx="7348537" cy="960437"/>
          </a:xfrm>
        </p:spPr>
        <p:txBody>
          <a:bodyPr tIns="45720" bIns="45720"/>
          <a:lstStyle>
            <a:lvl1pPr>
              <a:defRPr sz="2900"/>
            </a:lvl1pPr>
          </a:lstStyle>
          <a:p>
            <a:pPr lvl="0"/>
            <a:r>
              <a:rPr lang="en-US" noProof="0" smtClean="0"/>
              <a:t>Click to edit Master title style</a:t>
            </a:r>
          </a:p>
        </p:txBody>
      </p:sp>
      <p:sp>
        <p:nvSpPr>
          <p:cNvPr id="4107" name="Rectangle 11"/>
          <p:cNvSpPr>
            <a:spLocks noGrp="1" noChangeArrowheads="1"/>
          </p:cNvSpPr>
          <p:nvPr>
            <p:ph type="subTitle" idx="1"/>
          </p:nvPr>
        </p:nvSpPr>
        <p:spPr>
          <a:xfrm>
            <a:off x="1306513" y="5594350"/>
            <a:ext cx="3924300" cy="1019175"/>
          </a:xfrm>
        </p:spPr>
        <p:txBody>
          <a:bodyPr tIns="45720" bIns="45720" anchor="b"/>
          <a:lstStyle>
            <a:lvl1pPr marL="0" indent="0">
              <a:buFontTx/>
              <a:buNone/>
              <a:defRPr sz="1600" b="1"/>
            </a:lvl1pPr>
          </a:lstStyle>
          <a:p>
            <a:pPr lvl="0"/>
            <a:r>
              <a:rPr lang="en-US" noProof="0" smtClean="0"/>
              <a:t>Click to edit Master subtitle style</a:t>
            </a:r>
          </a:p>
        </p:txBody>
      </p:sp>
    </p:spTree>
    <p:extLst>
      <p:ext uri="{BB962C8B-B14F-4D97-AF65-F5344CB8AC3E}">
        <p14:creationId xmlns:p14="http://schemas.microsoft.com/office/powerpoint/2010/main" val="18116982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Tree>
    <p:extLst>
      <p:ext uri="{BB962C8B-B14F-4D97-AF65-F5344CB8AC3E}">
        <p14:creationId xmlns:p14="http://schemas.microsoft.com/office/powerpoint/2010/main" val="22210688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Tree>
    <p:extLst>
      <p:ext uri="{BB962C8B-B14F-4D97-AF65-F5344CB8AC3E}">
        <p14:creationId xmlns:p14="http://schemas.microsoft.com/office/powerpoint/2010/main" val="13895754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1092200" y="1384300"/>
            <a:ext cx="3605213" cy="4867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849813" y="1384300"/>
            <a:ext cx="3606800" cy="4867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Tree>
    <p:extLst>
      <p:ext uri="{BB962C8B-B14F-4D97-AF65-F5344CB8AC3E}">
        <p14:creationId xmlns:p14="http://schemas.microsoft.com/office/powerpoint/2010/main" val="19167522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Tree>
    <p:extLst>
      <p:ext uri="{BB962C8B-B14F-4D97-AF65-F5344CB8AC3E}">
        <p14:creationId xmlns:p14="http://schemas.microsoft.com/office/powerpoint/2010/main" val="13691489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33"/>
          <p:cNvSpPr>
            <a:spLocks noGrp="1" noChangeArrowheads="1"/>
          </p:cNvSpPr>
          <p:nvPr>
            <p:ph type="ftr" sz="quarter" idx="10"/>
          </p:nvPr>
        </p:nvSpPr>
        <p:spPr>
          <a:xfrm>
            <a:off x="1104900" y="6588125"/>
            <a:ext cx="4368800" cy="269875"/>
          </a:xfrm>
          <a:prstGeom prst="rect">
            <a:avLst/>
          </a:prstGeom>
        </p:spPr>
        <p:txBody>
          <a:bodyPr/>
          <a:lstStyle>
            <a:lvl1pPr>
              <a:defRPr/>
            </a:lvl1pPr>
          </a:lstStyle>
          <a:p>
            <a:pPr defTabSz="914400" fontAlgn="base">
              <a:spcBef>
                <a:spcPct val="0"/>
              </a:spcBef>
              <a:spcAft>
                <a:spcPct val="0"/>
              </a:spcAft>
              <a:defRPr/>
            </a:pPr>
            <a:r>
              <a:rPr lang="en-AU">
                <a:solidFill>
                  <a:srgbClr val="000000"/>
                </a:solidFill>
                <a:latin typeface="Arial" charset="0"/>
                <a:ea typeface="ＭＳ Ｐゴシック" charset="0"/>
                <a:cs typeface="ＭＳ Ｐゴシック" charset="0"/>
              </a:rPr>
              <a:t>Insert presentation title</a:t>
            </a:r>
          </a:p>
        </p:txBody>
      </p:sp>
    </p:spTree>
    <p:extLst>
      <p:ext uri="{BB962C8B-B14F-4D97-AF65-F5344CB8AC3E}">
        <p14:creationId xmlns:p14="http://schemas.microsoft.com/office/powerpoint/2010/main" val="11312524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3"/>
          <p:cNvSpPr>
            <a:spLocks noGrp="1" noChangeArrowheads="1"/>
          </p:cNvSpPr>
          <p:nvPr>
            <p:ph type="ftr" sz="quarter" idx="10"/>
          </p:nvPr>
        </p:nvSpPr>
        <p:spPr>
          <a:xfrm>
            <a:off x="1104900" y="6588125"/>
            <a:ext cx="4368800" cy="269875"/>
          </a:xfrm>
          <a:prstGeom prst="rect">
            <a:avLst/>
          </a:prstGeom>
        </p:spPr>
        <p:txBody>
          <a:bodyPr/>
          <a:lstStyle>
            <a:lvl1pPr>
              <a:defRPr/>
            </a:lvl1pPr>
          </a:lstStyle>
          <a:p>
            <a:pPr defTabSz="914400" fontAlgn="base">
              <a:spcBef>
                <a:spcPct val="0"/>
              </a:spcBef>
              <a:spcAft>
                <a:spcPct val="0"/>
              </a:spcAft>
              <a:defRPr/>
            </a:pPr>
            <a:r>
              <a:rPr lang="en-AU">
                <a:solidFill>
                  <a:srgbClr val="000000"/>
                </a:solidFill>
                <a:latin typeface="Arial" charset="0"/>
                <a:ea typeface="ＭＳ Ｐゴシック" charset="0"/>
                <a:cs typeface="ＭＳ Ｐゴシック" charset="0"/>
              </a:rPr>
              <a:t>Insert presentation title</a:t>
            </a:r>
          </a:p>
        </p:txBody>
      </p:sp>
    </p:spTree>
    <p:extLst>
      <p:ext uri="{BB962C8B-B14F-4D97-AF65-F5344CB8AC3E}">
        <p14:creationId xmlns:p14="http://schemas.microsoft.com/office/powerpoint/2010/main" val="14651172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33"/>
          <p:cNvSpPr>
            <a:spLocks noGrp="1" noChangeArrowheads="1"/>
          </p:cNvSpPr>
          <p:nvPr>
            <p:ph type="ftr" sz="quarter" idx="10"/>
          </p:nvPr>
        </p:nvSpPr>
        <p:spPr>
          <a:xfrm>
            <a:off x="1104900" y="6588125"/>
            <a:ext cx="4368800" cy="269875"/>
          </a:xfrm>
          <a:prstGeom prst="rect">
            <a:avLst/>
          </a:prstGeom>
        </p:spPr>
        <p:txBody>
          <a:bodyPr/>
          <a:lstStyle>
            <a:lvl1pPr>
              <a:defRPr/>
            </a:lvl1pPr>
          </a:lstStyle>
          <a:p>
            <a:pPr defTabSz="914400" fontAlgn="base">
              <a:spcBef>
                <a:spcPct val="0"/>
              </a:spcBef>
              <a:spcAft>
                <a:spcPct val="0"/>
              </a:spcAft>
              <a:defRPr/>
            </a:pPr>
            <a:r>
              <a:rPr lang="en-AU">
                <a:solidFill>
                  <a:srgbClr val="000000"/>
                </a:solidFill>
                <a:latin typeface="Arial" charset="0"/>
                <a:ea typeface="ＭＳ Ｐゴシック" charset="0"/>
                <a:cs typeface="ＭＳ Ｐゴシック" charset="0"/>
              </a:rPr>
              <a:t>Insert presentation title</a:t>
            </a:r>
          </a:p>
        </p:txBody>
      </p:sp>
    </p:spTree>
    <p:extLst>
      <p:ext uri="{BB962C8B-B14F-4D97-AF65-F5344CB8AC3E}">
        <p14:creationId xmlns:p14="http://schemas.microsoft.com/office/powerpoint/2010/main" val="29844960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Tree>
    <p:extLst>
      <p:ext uri="{BB962C8B-B14F-4D97-AF65-F5344CB8AC3E}">
        <p14:creationId xmlns:p14="http://schemas.microsoft.com/office/powerpoint/2010/main" val="1606500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Tree>
    <p:extLst>
      <p:ext uri="{BB962C8B-B14F-4D97-AF65-F5344CB8AC3E}">
        <p14:creationId xmlns:p14="http://schemas.microsoft.com/office/powerpoint/2010/main" val="2490292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3850" y="82550"/>
            <a:ext cx="1858963" cy="6169025"/>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1092200" y="82550"/>
            <a:ext cx="5429250" cy="6169025"/>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Tree>
    <p:extLst>
      <p:ext uri="{BB962C8B-B14F-4D97-AF65-F5344CB8AC3E}">
        <p14:creationId xmlns:p14="http://schemas.microsoft.com/office/powerpoint/2010/main" val="6496001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_blue">
    <p:spTree>
      <p:nvGrpSpPr>
        <p:cNvPr id="1" name=""/>
        <p:cNvGrpSpPr/>
        <p:nvPr/>
      </p:nvGrpSpPr>
      <p:grpSpPr>
        <a:xfrm>
          <a:off x="0" y="0"/>
          <a:ext cx="0" cy="0"/>
          <a:chOff x="0" y="0"/>
          <a:chExt cx="0" cy="0"/>
        </a:xfrm>
      </p:grpSpPr>
      <p:sp>
        <p:nvSpPr>
          <p:cNvPr id="4" name="Rectangle 2"/>
          <p:cNvSpPr>
            <a:spLocks/>
          </p:cNvSpPr>
          <p:nvPr/>
        </p:nvSpPr>
        <p:spPr bwMode="hidden">
          <a:xfrm>
            <a:off x="0" y="0"/>
            <a:ext cx="9144000" cy="5257800"/>
          </a:xfrm>
          <a:prstGeom prst="rect">
            <a:avLst/>
          </a:prstGeom>
          <a:gradFill rotWithShape="0">
            <a:gsLst>
              <a:gs pos="0">
                <a:srgbClr val="004575"/>
              </a:gs>
              <a:gs pos="100000">
                <a:srgbClr val="007AC2"/>
              </a:gs>
            </a:gsLst>
            <a:lin ang="240000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000000"/>
              </a:solidFill>
              <a:latin typeface="Arial" charset="0"/>
              <a:ea typeface="ＭＳ Ｐゴシック" charset="0"/>
              <a:cs typeface="ＭＳ Ｐゴシック" charset="0"/>
            </a:endParaRPr>
          </a:p>
        </p:txBody>
      </p:sp>
      <p:sp>
        <p:nvSpPr>
          <p:cNvPr id="2" name="Title 1"/>
          <p:cNvSpPr>
            <a:spLocks noGrp="1"/>
          </p:cNvSpPr>
          <p:nvPr>
            <p:ph type="ctrTitle"/>
          </p:nvPr>
        </p:nvSpPr>
        <p:spPr>
          <a:xfrm>
            <a:off x="1371600" y="1828800"/>
            <a:ext cx="6400800" cy="1271016"/>
          </a:xfrm>
        </p:spPr>
        <p:txBody>
          <a:bodyPr anchor="b">
            <a:noAutofit/>
          </a:bodyPr>
          <a:lstStyle>
            <a:lvl1pPr algn="l">
              <a:defRPr sz="5400" b="1" i="0">
                <a:solidFill>
                  <a:srgbClr val="FFFFFF"/>
                </a:solidFill>
                <a:latin typeface="+mj-lt"/>
                <a:cs typeface="Avenir LT Std 55 Roman" pitchFamily="34"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246120"/>
            <a:ext cx="6400800" cy="758952"/>
          </a:xfrm>
        </p:spPr>
        <p:txBody>
          <a:bodyPr/>
          <a:lstStyle>
            <a:lvl1pPr marL="0" indent="0" algn="l">
              <a:spcBef>
                <a:spcPts val="0"/>
              </a:spcBef>
              <a:spcAft>
                <a:spcPts val="300"/>
              </a:spcAft>
              <a:buNone/>
              <a:defRPr sz="2400" b="0" i="0">
                <a:solidFill>
                  <a:schemeClr val="bg1"/>
                </a:solidFill>
                <a:latin typeface="+mn-lt"/>
                <a:cs typeface="Avenir LT Std 65 Medium"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3137093717"/>
      </p:ext>
    </p:extLst>
  </p:cSld>
  <p:clrMapOvr>
    <a:masterClrMapping/>
  </p:clrMapOvr>
  <p:transition xmlns:p14="http://schemas.microsoft.com/office/powerpoint/2010/mai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5257800"/>
          </a:xfrm>
          <a:prstGeom prst="rect">
            <a:avLst/>
          </a:prstGeom>
          <a:solidFill>
            <a:srgbClr val="B9E0F7">
              <a:alpha val="59999"/>
            </a:srgb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C8DF93"/>
              </a:solidFill>
              <a:latin typeface="Arial" charset="0"/>
              <a:ea typeface="ＭＳ Ｐゴシック" charset="0"/>
              <a:cs typeface="ＭＳ Ｐゴシック" charset="0"/>
            </a:endParaRPr>
          </a:p>
        </p:txBody>
      </p:sp>
      <p:sp>
        <p:nvSpPr>
          <p:cNvPr id="5"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000000"/>
              </a:solidFill>
              <a:latin typeface="Arial" charset="0"/>
              <a:ea typeface="ＭＳ Ｐゴシック" charset="0"/>
              <a:cs typeface="ＭＳ Ｐゴシック" charset="0"/>
            </a:endParaRPr>
          </a:p>
        </p:txBody>
      </p:sp>
      <p:sp>
        <p:nvSpPr>
          <p:cNvPr id="2" name="Title 1"/>
          <p:cNvSpPr>
            <a:spLocks noGrp="1"/>
          </p:cNvSpPr>
          <p:nvPr>
            <p:ph type="title"/>
          </p:nvPr>
        </p:nvSpPr>
        <p:spPr>
          <a:xfrm>
            <a:off x="685800" y="457200"/>
            <a:ext cx="7315200" cy="484631"/>
          </a:xfrm>
        </p:spPr>
        <p:txBody>
          <a:bodyPr/>
          <a:lstStyle>
            <a:lvl1pPr>
              <a:defRPr lang="en-US" sz="3000" b="1" i="0" kern="1200" dirty="0">
                <a:solidFill>
                  <a:srgbClr val="007AC2"/>
                </a:solidFill>
                <a:latin typeface="+mj-lt"/>
                <a:ea typeface="+mj-ea"/>
                <a:cs typeface="Avenir LT Std 55 Roman"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685800" y="1602421"/>
            <a:ext cx="5486400" cy="2286000"/>
          </a:xfrm>
        </p:spPr>
        <p:txBody>
          <a:bodyPr/>
          <a:lstStyle>
            <a:lvl1pPr marL="0" marR="0" indent="0" algn="l" defTabSz="457200" rtl="0" eaLnBrk="1" fontAlgn="auto" latinLnBrk="0" hangingPunct="1">
              <a:lnSpc>
                <a:spcPct val="100000"/>
              </a:lnSpc>
              <a:spcBef>
                <a:spcPts val="300"/>
              </a:spcBef>
              <a:spcAft>
                <a:spcPts val="1200"/>
              </a:spcAft>
              <a:buClrTx/>
              <a:buSzPct val="80000"/>
              <a:buFontTx/>
              <a:buNone/>
              <a:tabLst/>
              <a:defRPr lang="en-US" sz="2600" b="0" i="0" kern="1200">
                <a:solidFill>
                  <a:schemeClr val="tx1"/>
                </a:solidFill>
                <a:latin typeface="+mn-lt"/>
                <a:ea typeface="+mn-ea"/>
                <a:cs typeface="Avenir LT Std 65 Medium" pitchFamily="34" charset="0"/>
              </a:defRPr>
            </a:lvl1pPr>
            <a:lvl2pPr marL="173038" indent="-173038">
              <a:defRPr/>
            </a:lvl2pPr>
            <a:lvl3pPr>
              <a:buFontTx/>
              <a:buNone/>
              <a:defRPr lang="en-US" sz="2400" b="0" i="0" kern="1200">
                <a:solidFill>
                  <a:schemeClr val="tx1"/>
                </a:solidFill>
                <a:latin typeface="Avenir LT Std 55 Roman"/>
                <a:ea typeface="+mn-ea"/>
                <a:cs typeface="Avenir LT Std 55 Roman"/>
              </a:defRPr>
            </a:lvl3pPr>
            <a:lvl4pPr>
              <a:defRPr/>
            </a:lvl4pPr>
            <a:lvl5pPr>
              <a:lnSpc>
                <a:spcPts val="1800"/>
              </a:lnSpc>
              <a:defRPr/>
            </a:lvl5pPr>
          </a:lstStyle>
          <a:p>
            <a:pPr lvl="0"/>
            <a:r>
              <a:rPr lang="en-US" noProof="0" smtClean="0"/>
              <a:t>Click to edit Master text styles</a:t>
            </a:r>
          </a:p>
        </p:txBody>
      </p:sp>
    </p:spTree>
    <p:extLst>
      <p:ext uri="{BB962C8B-B14F-4D97-AF65-F5344CB8AC3E}">
        <p14:creationId xmlns:p14="http://schemas.microsoft.com/office/powerpoint/2010/main" val="4144530017"/>
      </p:ext>
    </p:extLst>
  </p:cSld>
  <p:clrMapOvr>
    <a:masterClrMapping/>
  </p:clrMapOvr>
  <p:transition xmlns:p14="http://schemas.microsoft.com/office/powerpoint/2010/mai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_bullet_blue">
    <p:spTree>
      <p:nvGrpSpPr>
        <p:cNvPr id="1" name=""/>
        <p:cNvGrpSpPr/>
        <p:nvPr/>
      </p:nvGrpSpPr>
      <p:grpSpPr>
        <a:xfrm>
          <a:off x="0" y="0"/>
          <a:ext cx="0" cy="0"/>
          <a:chOff x="0" y="0"/>
          <a:chExt cx="0" cy="0"/>
        </a:xfrm>
      </p:grpSpPr>
      <p:sp>
        <p:nvSpPr>
          <p:cNvPr id="4" name="Rectangle 1"/>
          <p:cNvSpPr>
            <a:spLocks/>
          </p:cNvSpPr>
          <p:nvPr userDrawn="1"/>
        </p:nvSpPr>
        <p:spPr bwMode="auto">
          <a:xfrm>
            <a:off x="0" y="0"/>
            <a:ext cx="9144000" cy="5257800"/>
          </a:xfrm>
          <a:prstGeom prst="rect">
            <a:avLst/>
          </a:prstGeom>
          <a:solidFill>
            <a:srgbClr val="B9E0F7">
              <a:alpha val="59999"/>
            </a:srgb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C8DF93"/>
              </a:solidFill>
              <a:latin typeface="Arial" charset="0"/>
              <a:ea typeface="ＭＳ Ｐゴシック" charset="0"/>
              <a:cs typeface="ＭＳ Ｐゴシック" charset="0"/>
            </a:endParaRPr>
          </a:p>
        </p:txBody>
      </p:sp>
      <p:sp>
        <p:nvSpPr>
          <p:cNvPr id="5" name="Rectangle 1"/>
          <p:cNvSpPr>
            <a:spLocks/>
          </p:cNvSpPr>
          <p:nvPr userDrawn="1"/>
        </p:nvSpPr>
        <p:spPr bwMode="ltGray">
          <a:xfrm>
            <a:off x="0" y="5257800"/>
            <a:ext cx="9144000" cy="1600200"/>
          </a:xfrm>
          <a:prstGeom prst="rect">
            <a:avLst/>
          </a:prstGeom>
          <a:gradFill rotWithShape="0">
            <a:gsLst>
              <a:gs pos="0">
                <a:srgbClr val="003053"/>
              </a:gs>
              <a:gs pos="100000">
                <a:srgbClr val="0083D4"/>
              </a:gs>
            </a:gsLst>
            <a:lin ang="240000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000000"/>
              </a:solidFill>
              <a:latin typeface="Arial" charset="0"/>
              <a:ea typeface="ＭＳ Ｐゴシック" charset="0"/>
              <a:cs typeface="ＭＳ Ｐゴシック" charset="0"/>
            </a:endParaRPr>
          </a:p>
        </p:txBody>
      </p:sp>
      <p:sp>
        <p:nvSpPr>
          <p:cNvPr id="2" name="Title 1"/>
          <p:cNvSpPr>
            <a:spLocks noGrp="1"/>
          </p:cNvSpPr>
          <p:nvPr>
            <p:ph type="title"/>
          </p:nvPr>
        </p:nvSpPr>
        <p:spPr/>
        <p:txBody>
          <a:bodyPr/>
          <a:lstStyle>
            <a:lvl1pPr algn="l" defTabSz="457200" rtl="0" eaLnBrk="1" latinLnBrk="0" hangingPunct="1">
              <a:lnSpc>
                <a:spcPct val="100000"/>
              </a:lnSpc>
              <a:spcBef>
                <a:spcPct val="0"/>
              </a:spcBef>
              <a:buNone/>
              <a:defRPr lang="en-US" sz="3000" b="1" i="0" kern="1200">
                <a:solidFill>
                  <a:srgbClr val="007AC2"/>
                </a:solidFill>
                <a:latin typeface="+mj-lt"/>
                <a:ea typeface="+mj-ea"/>
                <a:cs typeface="Avenir LT Std 55 Roman" pitchFamily="34" charset="0"/>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2pPr marL="402336" indent="-173736">
              <a:lnSpc>
                <a:spcPts val="2700"/>
              </a:lnSpc>
              <a:spcAft>
                <a:spcPts val="1200"/>
              </a:spcAft>
              <a:defRPr sz="2400">
                <a:latin typeface="+mn-lt"/>
              </a:defRPr>
            </a:lvl2pPr>
            <a:lvl3pPr marL="569913" indent="-109538">
              <a:lnSpc>
                <a:spcPct val="100000"/>
              </a:lnSpc>
              <a:spcAft>
                <a:spcPts val="600"/>
              </a:spcAft>
              <a:defRPr sz="2400">
                <a:latin typeface="+mn-lt"/>
              </a:defRPr>
            </a:lvl3pPr>
            <a:lvl4pPr marL="800100" indent="-174625">
              <a:lnSpc>
                <a:spcPct val="100000"/>
              </a:lnSpc>
              <a:spcAft>
                <a:spcPts val="600"/>
              </a:spcAft>
              <a:defRPr sz="2400">
                <a:latin typeface="+mn-lt"/>
              </a:defRPr>
            </a:lvl4pPr>
            <a:lvl5pPr>
              <a:lnSpc>
                <a:spcPct val="100000"/>
              </a:lnSpc>
              <a:spcAft>
                <a:spcPts val="600"/>
              </a:spcAft>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92384513"/>
      </p:ext>
    </p:extLst>
  </p:cSld>
  <p:clrMapOvr>
    <a:masterClrMapping/>
  </p:clrMapOvr>
  <p:transition xmlns:p14="http://schemas.microsoft.com/office/powerpoint/2010/mai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IG title_blue">
    <p:spTree>
      <p:nvGrpSpPr>
        <p:cNvPr id="1" name=""/>
        <p:cNvGrpSpPr/>
        <p:nvPr/>
      </p:nvGrpSpPr>
      <p:grpSpPr>
        <a:xfrm>
          <a:off x="0" y="0"/>
          <a:ext cx="0" cy="0"/>
          <a:chOff x="0" y="0"/>
          <a:chExt cx="0" cy="0"/>
        </a:xfrm>
      </p:grpSpPr>
      <p:sp>
        <p:nvSpPr>
          <p:cNvPr id="3"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000000"/>
              </a:solidFill>
              <a:latin typeface="Arial" charset="0"/>
              <a:ea typeface="ＭＳ Ｐゴシック" charset="0"/>
              <a:cs typeface="ＭＳ Ｐゴシック" charset="0"/>
            </a:endParaRPr>
          </a:p>
        </p:txBody>
      </p:sp>
      <p:sp>
        <p:nvSpPr>
          <p:cNvPr id="4" name="Rectangle 1"/>
          <p:cNvSpPr>
            <a:spLocks/>
          </p:cNvSpPr>
          <p:nvPr/>
        </p:nvSpPr>
        <p:spPr bwMode="auto">
          <a:xfrm>
            <a:off x="0" y="0"/>
            <a:ext cx="9144000" cy="5257800"/>
          </a:xfrm>
          <a:prstGeom prst="rect">
            <a:avLst/>
          </a:prstGeom>
          <a:solidFill>
            <a:srgbClr val="B9E0F7">
              <a:alpha val="59999"/>
            </a:srgb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C8DF93"/>
              </a:solidFill>
              <a:latin typeface="Arial" charset="0"/>
              <a:ea typeface="ＭＳ Ｐゴシック" charset="0"/>
              <a:cs typeface="ＭＳ Ｐゴシック" charset="0"/>
            </a:endParaRPr>
          </a:p>
        </p:txBody>
      </p:sp>
      <p:sp>
        <p:nvSpPr>
          <p:cNvPr id="2" name="Title 1"/>
          <p:cNvSpPr>
            <a:spLocks noGrp="1"/>
          </p:cNvSpPr>
          <p:nvPr>
            <p:ph type="title"/>
          </p:nvPr>
        </p:nvSpPr>
        <p:spPr>
          <a:xfrm>
            <a:off x="914400" y="1600200"/>
            <a:ext cx="7315200" cy="2057400"/>
          </a:xfrm>
        </p:spPr>
        <p:txBody>
          <a:bodyPr/>
          <a:lstStyle>
            <a:lvl1pPr>
              <a:defRPr lang="en-US" sz="7200" b="1" i="0" kern="1200" baseline="0" dirty="0">
                <a:solidFill>
                  <a:srgbClr val="007AC2"/>
                </a:solidFill>
                <a:latin typeface="+mj-lt"/>
                <a:ea typeface="+mj-ea"/>
                <a:cs typeface="Avenir LT Std 55 Roman"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236153659"/>
      </p:ext>
    </p:extLst>
  </p:cSld>
  <p:clrMapOvr>
    <a:masterClrMapping/>
  </p:clrMapOvr>
  <p:transition xmlns:p14="http://schemas.microsoft.com/office/powerpoint/2010/mai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_blue">
    <p:spTree>
      <p:nvGrpSpPr>
        <p:cNvPr id="1" name=""/>
        <p:cNvGrpSpPr/>
        <p:nvPr/>
      </p:nvGrpSpPr>
      <p:grpSpPr>
        <a:xfrm>
          <a:off x="0" y="0"/>
          <a:ext cx="0" cy="0"/>
          <a:chOff x="0" y="0"/>
          <a:chExt cx="0" cy="0"/>
        </a:xfrm>
      </p:grpSpPr>
      <p:sp>
        <p:nvSpPr>
          <p:cNvPr id="4"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000000"/>
              </a:solidFill>
              <a:latin typeface="Arial" charset="0"/>
              <a:ea typeface="ＭＳ Ｐゴシック" charset="0"/>
              <a:cs typeface="ＭＳ Ｐゴシック" charset="0"/>
            </a:endParaRPr>
          </a:p>
        </p:txBody>
      </p:sp>
      <p:sp>
        <p:nvSpPr>
          <p:cNvPr id="5" name="Rectangle 1"/>
          <p:cNvSpPr>
            <a:spLocks/>
          </p:cNvSpPr>
          <p:nvPr userDrawn="1"/>
        </p:nvSpPr>
        <p:spPr bwMode="auto">
          <a:xfrm>
            <a:off x="0" y="0"/>
            <a:ext cx="9144000" cy="5257800"/>
          </a:xfrm>
          <a:prstGeom prst="rect">
            <a:avLst/>
          </a:prstGeom>
          <a:solidFill>
            <a:srgbClr val="B9E0F7">
              <a:alpha val="59999"/>
            </a:srgb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C8DF93"/>
              </a:solidFill>
              <a:latin typeface="Arial" charset="0"/>
              <a:ea typeface="ＭＳ Ｐゴシック" charset="0"/>
              <a:cs typeface="ＭＳ Ｐゴシック" charset="0"/>
            </a:endParaRPr>
          </a:p>
        </p:txBody>
      </p:sp>
      <p:sp>
        <p:nvSpPr>
          <p:cNvPr id="2" name="Title 1"/>
          <p:cNvSpPr>
            <a:spLocks noGrp="1"/>
          </p:cNvSpPr>
          <p:nvPr>
            <p:ph type="title"/>
          </p:nvPr>
        </p:nvSpPr>
        <p:spPr>
          <a:xfrm>
            <a:off x="914400" y="1600200"/>
            <a:ext cx="5486400" cy="2057400"/>
          </a:xfrm>
        </p:spPr>
        <p:txBody>
          <a:bodyPr/>
          <a:lstStyle>
            <a:lvl1pPr marL="169863" indent="-169863">
              <a:lnSpc>
                <a:spcPts val="3700"/>
              </a:lnSpc>
              <a:spcAft>
                <a:spcPts val="300"/>
              </a:spcAft>
              <a:defRPr sz="3000" b="0" i="0" baseline="0">
                <a:solidFill>
                  <a:srgbClr val="000000"/>
                </a:solidFill>
                <a:latin typeface="+mn-lt"/>
                <a:cs typeface="Avenir LT Std 65 Medium"/>
              </a:defRPr>
            </a:lvl1pPr>
          </a:lstStyle>
          <a:p>
            <a:r>
              <a:rPr lang="en-US" smtClean="0"/>
              <a:t>Click to edit Master title style</a:t>
            </a:r>
            <a:endParaRPr lang="en-US" dirty="0"/>
          </a:p>
        </p:txBody>
      </p:sp>
      <p:sp>
        <p:nvSpPr>
          <p:cNvPr id="10" name="Text Placeholder 9"/>
          <p:cNvSpPr>
            <a:spLocks noGrp="1"/>
          </p:cNvSpPr>
          <p:nvPr>
            <p:ph type="body" sz="quarter" idx="10"/>
          </p:nvPr>
        </p:nvSpPr>
        <p:spPr>
          <a:xfrm>
            <a:off x="3149070" y="4114800"/>
            <a:ext cx="3200400" cy="728662"/>
          </a:xfrm>
        </p:spPr>
        <p:txBody>
          <a:bodyPr anchor="t"/>
          <a:lstStyle>
            <a:lvl1pPr marL="0" indent="0" algn="r">
              <a:spcBef>
                <a:spcPts val="0"/>
              </a:spcBef>
              <a:spcAft>
                <a:spcPts val="300"/>
              </a:spcAft>
              <a:buFontTx/>
              <a:buNone/>
              <a:defRPr lang="en-US" sz="2600" b="0" i="0" kern="1200" baseline="0" dirty="0">
                <a:solidFill>
                  <a:srgbClr val="007AC2"/>
                </a:solidFill>
                <a:latin typeface="+mn-lt"/>
                <a:ea typeface="+mn-ea"/>
                <a:cs typeface="Avenir LT Std 65 Medium"/>
              </a:defRPr>
            </a:lvl1pPr>
          </a:lstStyle>
          <a:p>
            <a:pPr lvl="0"/>
            <a:r>
              <a:rPr lang="en-US" smtClean="0"/>
              <a:t>Click to edit Master text styles</a:t>
            </a:r>
          </a:p>
        </p:txBody>
      </p:sp>
    </p:spTree>
    <p:extLst>
      <p:ext uri="{BB962C8B-B14F-4D97-AF65-F5344CB8AC3E}">
        <p14:creationId xmlns:p14="http://schemas.microsoft.com/office/powerpoint/2010/main" val="2362159759"/>
      </p:ext>
    </p:extLst>
  </p:cSld>
  <p:clrMapOvr>
    <a:masterClrMapping/>
  </p:clrMapOvr>
  <p:transition xmlns:p14="http://schemas.microsoft.com/office/powerpoint/2010/mai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_blue">
    <p:spTree>
      <p:nvGrpSpPr>
        <p:cNvPr id="1" name=""/>
        <p:cNvGrpSpPr/>
        <p:nvPr/>
      </p:nvGrpSpPr>
      <p:grpSpPr>
        <a:xfrm>
          <a:off x="0" y="0"/>
          <a:ext cx="0" cy="0"/>
          <a:chOff x="0" y="0"/>
          <a:chExt cx="0" cy="0"/>
        </a:xfrm>
      </p:grpSpPr>
      <p:sp>
        <p:nvSpPr>
          <p:cNvPr id="3" name="Rectangle 1"/>
          <p:cNvSpPr>
            <a:spLocks/>
          </p:cNvSpPr>
          <p:nvPr/>
        </p:nvSpPr>
        <p:spPr bwMode="auto">
          <a:xfrm>
            <a:off x="0" y="0"/>
            <a:ext cx="9144000" cy="6858000"/>
          </a:xfrm>
          <a:prstGeom prst="rect">
            <a:avLst/>
          </a:prstGeom>
          <a:solidFill>
            <a:srgbClr val="B9E0F7">
              <a:alpha val="59999"/>
            </a:srgb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C8DF93"/>
              </a:solidFill>
              <a:latin typeface="Arial" charset="0"/>
              <a:ea typeface="ＭＳ Ｐゴシック" charset="0"/>
              <a:cs typeface="ＭＳ Ｐゴシック" charset="0"/>
            </a:endParaRPr>
          </a:p>
        </p:txBody>
      </p:sp>
      <p:sp>
        <p:nvSpPr>
          <p:cNvPr id="2" name="Title 1"/>
          <p:cNvSpPr>
            <a:spLocks noGrp="1"/>
          </p:cNvSpPr>
          <p:nvPr>
            <p:ph type="title"/>
          </p:nvPr>
        </p:nvSpPr>
        <p:spPr>
          <a:xfrm>
            <a:off x="685800"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smtClean="0"/>
              <a:t>Click to edit Master title style</a:t>
            </a:r>
            <a:endParaRPr lang="en-US" dirty="0"/>
          </a:p>
        </p:txBody>
      </p:sp>
    </p:spTree>
    <p:extLst>
      <p:ext uri="{BB962C8B-B14F-4D97-AF65-F5344CB8AC3E}">
        <p14:creationId xmlns:p14="http://schemas.microsoft.com/office/powerpoint/2010/main" val="2241516847"/>
      </p:ext>
    </p:extLst>
  </p:cSld>
  <p:clrMapOvr>
    <a:masterClrMapping/>
  </p:clrMapOvr>
  <p:transition xmlns:p14="http://schemas.microsoft.com/office/powerpoint/2010/mai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_water">
    <p:spTree>
      <p:nvGrpSpPr>
        <p:cNvPr id="1" name=""/>
        <p:cNvGrpSpPr/>
        <p:nvPr/>
      </p:nvGrpSpPr>
      <p:grpSpPr>
        <a:xfrm>
          <a:off x="0" y="0"/>
          <a:ext cx="0" cy="0"/>
          <a:chOff x="0" y="0"/>
          <a:chExt cx="0" cy="0"/>
        </a:xfrm>
      </p:grpSpPr>
      <p:sp>
        <p:nvSpPr>
          <p:cNvPr id="3" name="Rectangle 1"/>
          <p:cNvSpPr>
            <a:spLocks/>
          </p:cNvSpPr>
          <p:nvPr/>
        </p:nvSpPr>
        <p:spPr bwMode="auto">
          <a:xfrm>
            <a:off x="0" y="0"/>
            <a:ext cx="9144000" cy="6858000"/>
          </a:xfrm>
          <a:prstGeom prst="rect">
            <a:avLst/>
          </a:prstGeom>
          <a:solidFill>
            <a:srgbClr val="B9E0F7">
              <a:alpha val="59999"/>
            </a:srgb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C8DF93"/>
              </a:solidFill>
              <a:latin typeface="Arial" charset="0"/>
              <a:ea typeface="ＭＳ Ｐゴシック" charset="0"/>
              <a:cs typeface="ＭＳ Ｐゴシック" charset="0"/>
            </a:endParaRPr>
          </a:p>
        </p:txBody>
      </p:sp>
      <p:pic>
        <p:nvPicPr>
          <p:cNvPr id="4" name="Picture 4"/>
          <p:cNvPicPr>
            <a:picLocks noChangeAspect="1"/>
          </p:cNvPicPr>
          <p:nvPr userDrawn="1"/>
        </p:nvPicPr>
        <p:blipFill>
          <a:blip r:embed="rId2" cstate="email">
            <a:extLst>
              <a:ext uri="{28A0092B-C50C-407E-A947-70E740481C1C}">
                <a14:useLocalDpi xmlns:a14="http://schemas.microsoft.com/office/drawing/2010/main" val="0"/>
              </a:ext>
            </a:extLst>
          </a:blip>
          <a:srcRect b="42204"/>
          <a:stretch>
            <a:fillRect/>
          </a:stretch>
        </p:blipFill>
        <p:spPr bwMode="auto">
          <a:xfrm>
            <a:off x="0" y="2947988"/>
            <a:ext cx="9144000" cy="391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800" y="457200"/>
            <a:ext cx="7312991" cy="484632"/>
          </a:xfrm>
        </p:spPr>
        <p:txBody>
          <a:bodyPr/>
          <a:lstStyle>
            <a:lvl1pPr algn="l" defTabSz="457200" rtl="0" eaLnBrk="1" latinLnBrk="0" hangingPunct="1">
              <a:lnSpc>
                <a:spcPct val="100000"/>
              </a:lnSpc>
              <a:spcBef>
                <a:spcPct val="0"/>
              </a:spcBef>
              <a:buNone/>
              <a:defRPr lang="en-US" sz="3600" b="1" i="0" kern="1200" baseline="0" dirty="0" smtClean="0">
                <a:solidFill>
                  <a:schemeClr val="tx1"/>
                </a:solidFill>
                <a:effectLst>
                  <a:outerShdw blurRad="50800" dist="50800" dir="2700000" algn="tl" rotWithShape="0">
                    <a:srgbClr val="000000">
                      <a:alpha val="43000"/>
                    </a:srgbClr>
                  </a:outerShdw>
                </a:effectLst>
                <a:latin typeface="Candara"/>
                <a:ea typeface="+mj-ea"/>
                <a:cs typeface="Candara"/>
              </a:defRPr>
            </a:lvl1pPr>
          </a:lstStyle>
          <a:p>
            <a:r>
              <a:rPr lang="en-US" dirty="0" smtClean="0"/>
              <a:t>Click to edit Master title style</a:t>
            </a:r>
            <a:endParaRPr lang="en-US" dirty="0"/>
          </a:p>
        </p:txBody>
      </p:sp>
      <p:sp>
        <p:nvSpPr>
          <p:cNvPr id="6" name="Content Placeholder 5"/>
          <p:cNvSpPr>
            <a:spLocks noGrp="1"/>
          </p:cNvSpPr>
          <p:nvPr>
            <p:ph sz="quarter" idx="10"/>
          </p:nvPr>
        </p:nvSpPr>
        <p:spPr>
          <a:xfrm>
            <a:off x="685800" y="1362075"/>
            <a:ext cx="7313613" cy="3775075"/>
          </a:xfrm>
        </p:spPr>
        <p:txBody>
          <a:bodyPr/>
          <a:lstStyle>
            <a:lvl1pPr>
              <a:defRPr>
                <a:latin typeface="Candara"/>
                <a:cs typeface="Candara"/>
              </a:defRPr>
            </a:lvl1pPr>
            <a:lvl2pPr>
              <a:defRPr>
                <a:latin typeface="Candara"/>
                <a:cs typeface="Candara"/>
              </a:defRPr>
            </a:lvl2pPr>
            <a:lvl3pPr>
              <a:defRPr>
                <a:latin typeface="Candara"/>
                <a:cs typeface="Candara"/>
              </a:defRPr>
            </a:lvl3pPr>
            <a:lvl4pPr>
              <a:defRPr>
                <a:latin typeface="Candara"/>
                <a:cs typeface="Candara"/>
              </a:defRPr>
            </a:lvl4pPr>
            <a:lvl5pPr>
              <a:defRPr>
                <a:latin typeface="Candara"/>
                <a:cs typeface="Candara"/>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531238530"/>
      </p:ext>
    </p:extLst>
  </p:cSld>
  <p:clrMapOvr>
    <a:masterClrMapping/>
  </p:clrMapOvr>
  <p:transition xmlns:p14="http://schemas.microsoft.com/office/powerpoint/2010/mai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2" name="Rectangle 1"/>
          <p:cNvSpPr>
            <a:spLocks/>
          </p:cNvSpPr>
          <p:nvPr/>
        </p:nvSpPr>
        <p:spPr bwMode="auto">
          <a:xfrm>
            <a:off x="0" y="0"/>
            <a:ext cx="9144000" cy="6858000"/>
          </a:xfrm>
          <a:prstGeom prst="rect">
            <a:avLst/>
          </a:prstGeom>
          <a:solidFill>
            <a:srgbClr val="B9E0F7">
              <a:alpha val="59999"/>
            </a:srgb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C8DF93"/>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967200677"/>
      </p:ext>
    </p:extLst>
  </p:cSld>
  <p:clrMapOvr>
    <a:masterClrMapping/>
  </p:clrMapOvr>
  <p:transition xmlns:p14="http://schemas.microsoft.com/office/powerpoint/2010/mai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2">
    <p:spTree>
      <p:nvGrpSpPr>
        <p:cNvPr id="1" name=""/>
        <p:cNvGrpSpPr/>
        <p:nvPr/>
      </p:nvGrpSpPr>
      <p:grpSpPr>
        <a:xfrm>
          <a:off x="0" y="0"/>
          <a:ext cx="0" cy="0"/>
          <a:chOff x="0" y="0"/>
          <a:chExt cx="0" cy="0"/>
        </a:xfrm>
      </p:grpSpPr>
      <p:sp>
        <p:nvSpPr>
          <p:cNvPr id="2" name="Rectangle 2"/>
          <p:cNvSpPr>
            <a:spLocks/>
          </p:cNvSpPr>
          <p:nvPr/>
        </p:nvSpPr>
        <p:spPr bwMode="ltGray">
          <a:xfrm>
            <a:off x="0" y="5257800"/>
            <a:ext cx="9144000" cy="1600200"/>
          </a:xfrm>
          <a:prstGeom prst="rect">
            <a:avLst/>
          </a:prstGeom>
          <a:gradFill rotWithShape="0">
            <a:gsLst>
              <a:gs pos="0">
                <a:srgbClr val="662506"/>
              </a:gs>
              <a:gs pos="100000">
                <a:srgbClr val="C35327"/>
              </a:gs>
            </a:gsLst>
            <a:lin ang="240000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fontAlgn="base">
              <a:spcBef>
                <a:spcPct val="0"/>
              </a:spcBef>
              <a:spcAft>
                <a:spcPct val="0"/>
              </a:spcAft>
            </a:pPr>
            <a:endParaRPr lang="en-US" smtClean="0">
              <a:solidFill>
                <a:srgbClr val="000000"/>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1305717547"/>
      </p:ext>
    </p:extLst>
  </p:cSld>
  <p:clrMapOvr>
    <a:masterClrMapping/>
  </p:clrMapOvr>
  <p:transition xmlns:p14="http://schemas.microsoft.com/office/powerpoint/2010/mai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2813" y="687388"/>
            <a:ext cx="7313612" cy="365760"/>
          </a:xfrm>
        </p:spPr>
        <p:txBody>
          <a:bodyPr/>
          <a:lstStyle>
            <a:lvl1pPr>
              <a:defRPr baseline="0"/>
            </a:lvl1pPr>
          </a:lstStyle>
          <a:p>
            <a:r>
              <a:rPr lang="en-US" dirty="0"/>
              <a:t>Click to edit Master title style</a:t>
            </a:r>
            <a:endParaRPr lang="en-US"/>
          </a:p>
        </p:txBody>
      </p:sp>
      <p:sp>
        <p:nvSpPr>
          <p:cNvPr id="5" name="Text Placeholder 4"/>
          <p:cNvSpPr>
            <a:spLocks noGrp="1"/>
          </p:cNvSpPr>
          <p:nvPr>
            <p:ph type="body" sz="quarter" idx="10"/>
          </p:nvPr>
        </p:nvSpPr>
        <p:spPr>
          <a:xfrm>
            <a:off x="912813" y="1078992"/>
            <a:ext cx="7313612" cy="342900"/>
          </a:xfrm>
        </p:spPr>
        <p:txBody>
          <a:bodyPr/>
          <a:lstStyle>
            <a:lvl1pPr marL="0" indent="0">
              <a:buFontTx/>
              <a:buNone/>
              <a:defRPr lang="en-US" sz="1600" b="1" i="1">
                <a:solidFill>
                  <a:schemeClr val="accent2"/>
                </a:solidFill>
                <a:effectLst>
                  <a:outerShdw blurRad="50800" dist="38100" dir="2700000" algn="tl">
                    <a:srgbClr val="000000">
                      <a:alpha val="43000"/>
                    </a:srgbClr>
                  </a:outerShdw>
                </a:effectLst>
                <a:latin typeface="+mj-lt"/>
                <a:ea typeface="+mj-ea"/>
                <a:cs typeface="ＭＳ Ｐゴシック" pitchFamily="-110" charset="-128"/>
              </a:defRPr>
            </a:lvl1pPr>
          </a:lstStyle>
          <a:p>
            <a:pPr lvl="0"/>
            <a:r>
              <a:rPr lang="en-US"/>
              <a:t>Click to edit Master text styles</a:t>
            </a:r>
          </a:p>
        </p:txBody>
      </p:sp>
      <p:sp>
        <p:nvSpPr>
          <p:cNvPr id="12" name="Text Placeholder 11"/>
          <p:cNvSpPr>
            <a:spLocks noGrp="1"/>
          </p:cNvSpPr>
          <p:nvPr>
            <p:ph type="body" sz="quarter" idx="11"/>
          </p:nvPr>
        </p:nvSpPr>
        <p:spPr>
          <a:xfrm>
            <a:off x="911225" y="5716588"/>
            <a:ext cx="7315200" cy="457200"/>
          </a:xfrm>
        </p:spPr>
        <p:txBody>
          <a:bodyPr anchor="b"/>
          <a:lstStyle>
            <a:lvl1pPr algn="r">
              <a:buFontTx/>
              <a:buNone/>
              <a:defRPr sz="1300" i="1">
                <a:solidFill>
                  <a:schemeClr val="accent2"/>
                </a:solidFill>
                <a:effectLst>
                  <a:outerShdw blurRad="50800" dist="38100" dir="2700000" algn="tl">
                    <a:srgbClr val="000000">
                      <a:alpha val="43000"/>
                    </a:srgbClr>
                  </a:outerShdw>
                </a:effectLst>
                <a:latin typeface="Arial"/>
                <a:cs typeface="Arial"/>
              </a:defRPr>
            </a:lvl1pPr>
          </a:lstStyle>
          <a:p>
            <a:pPr lvl="0"/>
            <a:r>
              <a:rPr lang="en-US" smtClean="0"/>
              <a:t>Click to edit Master text styles</a:t>
            </a:r>
          </a:p>
        </p:txBody>
      </p:sp>
    </p:spTree>
    <p:extLst>
      <p:ext uri="{BB962C8B-B14F-4D97-AF65-F5344CB8AC3E}">
        <p14:creationId xmlns:p14="http://schemas.microsoft.com/office/powerpoint/2010/main" val="3755461530"/>
      </p:ext>
    </p:extLst>
  </p:cSld>
  <p:clrMapOvr>
    <a:masterClrMapping/>
  </p:clrMapOvr>
  <p:transition xmlns:p14="http://schemas.microsoft.com/office/powerpoint/2010/mai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theme" Target="../theme/theme2.xml"/><Relationship Id="rId13" Type="http://schemas.openxmlformats.org/officeDocument/2006/relationships/image" Target="../media/image5.wmf"/><Relationship Id="rId14" Type="http://schemas.openxmlformats.org/officeDocument/2006/relationships/image" Target="../media/image6.png"/><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theme" Target="../theme/theme3.xml"/><Relationship Id="rId1" Type="http://schemas.openxmlformats.org/officeDocument/2006/relationships/slideLayout" Target="../slideLayouts/slideLayout23.xml"/><Relationship Id="rId2"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63" name="Group 39"/>
          <p:cNvGrpSpPr>
            <a:grpSpLocks/>
          </p:cNvGrpSpPr>
          <p:nvPr/>
        </p:nvGrpSpPr>
        <p:grpSpPr bwMode="auto">
          <a:xfrm>
            <a:off x="0" y="-19050"/>
            <a:ext cx="9144000" cy="6889750"/>
            <a:chOff x="0" y="-12"/>
            <a:chExt cx="5760" cy="4340"/>
          </a:xfrm>
        </p:grpSpPr>
        <p:pic>
          <p:nvPicPr>
            <p:cNvPr id="1053" name="Picture 29" descr="text_slide_nolines_070618"/>
            <p:cNvPicPr>
              <a:picLocks noChangeAspect="1" noChangeArrowheads="1"/>
            </p:cNvPicPr>
            <p:nvPr/>
          </p:nvPicPr>
          <p:blipFill>
            <a:blip r:embed="rId13" cstate="print">
              <a:extLst>
                <a:ext uri="{28A0092B-C50C-407E-A947-70E740481C1C}">
                  <a14:useLocalDpi xmlns:a14="http://schemas.microsoft.com/office/drawing/2010/main"/>
                </a:ext>
              </a:extLst>
            </a:blip>
            <a:srcRect t="11275" r="476"/>
            <a:stretch>
              <a:fillRect/>
            </a:stretch>
          </p:blipFill>
          <p:spPr bwMode="auto">
            <a:xfrm>
              <a:off x="0" y="0"/>
              <a:ext cx="5760" cy="724"/>
            </a:xfrm>
            <a:prstGeom prst="rect">
              <a:avLst/>
            </a:prstGeom>
            <a:noFill/>
            <a:extLst>
              <a:ext uri="{909E8E84-426E-40dd-AFC4-6F175D3DCCD1}">
                <a14:hiddenFill xmlns:a14="http://schemas.microsoft.com/office/drawing/2010/main">
                  <a:solidFill>
                    <a:srgbClr val="FFFFFF"/>
                  </a:solidFill>
                </a14:hiddenFill>
              </a:ext>
            </a:extLst>
          </p:spPr>
        </p:pic>
        <p:grpSp>
          <p:nvGrpSpPr>
            <p:cNvPr id="1045" name="Group 21"/>
            <p:cNvGrpSpPr>
              <a:grpSpLocks/>
            </p:cNvGrpSpPr>
            <p:nvPr/>
          </p:nvGrpSpPr>
          <p:grpSpPr bwMode="auto">
            <a:xfrm>
              <a:off x="84" y="-12"/>
              <a:ext cx="259" cy="4340"/>
              <a:chOff x="409" y="-1"/>
              <a:chExt cx="259" cy="4331"/>
            </a:xfrm>
          </p:grpSpPr>
          <p:sp>
            <p:nvSpPr>
              <p:cNvPr id="1046" name="Line 22"/>
              <p:cNvSpPr>
                <a:spLocks noChangeShapeType="1"/>
              </p:cNvSpPr>
              <p:nvPr/>
            </p:nvSpPr>
            <p:spPr bwMode="auto">
              <a:xfrm rot="286749" flipH="1">
                <a:off x="651" y="-1"/>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1047" name="Line 23"/>
              <p:cNvSpPr>
                <a:spLocks noChangeShapeType="1"/>
              </p:cNvSpPr>
              <p:nvPr/>
            </p:nvSpPr>
            <p:spPr bwMode="auto">
              <a:xfrm rot="286749" flipH="1">
                <a:off x="569" y="-1"/>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1048" name="Line 24"/>
              <p:cNvSpPr>
                <a:spLocks noChangeShapeType="1"/>
              </p:cNvSpPr>
              <p:nvPr/>
            </p:nvSpPr>
            <p:spPr bwMode="auto">
              <a:xfrm rot="286749" flipH="1">
                <a:off x="609" y="0"/>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1049" name="Line 25"/>
              <p:cNvSpPr>
                <a:spLocks noChangeShapeType="1"/>
              </p:cNvSpPr>
              <p:nvPr/>
            </p:nvSpPr>
            <p:spPr bwMode="auto">
              <a:xfrm rot="286749" flipH="1">
                <a:off x="529" y="0"/>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1050" name="Line 26"/>
              <p:cNvSpPr>
                <a:spLocks noChangeShapeType="1"/>
              </p:cNvSpPr>
              <p:nvPr/>
            </p:nvSpPr>
            <p:spPr bwMode="auto">
              <a:xfrm rot="286749" flipH="1">
                <a:off x="447" y="0"/>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1051" name="Line 27"/>
              <p:cNvSpPr>
                <a:spLocks noChangeShapeType="1"/>
              </p:cNvSpPr>
              <p:nvPr/>
            </p:nvSpPr>
            <p:spPr bwMode="auto">
              <a:xfrm rot="286749" flipH="1">
                <a:off x="487" y="-1"/>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sp>
            <p:nvSpPr>
              <p:cNvPr id="1052" name="Line 28"/>
              <p:cNvSpPr>
                <a:spLocks noChangeShapeType="1"/>
              </p:cNvSpPr>
              <p:nvPr/>
            </p:nvSpPr>
            <p:spPr bwMode="auto">
              <a:xfrm rot="286749" flipH="1">
                <a:off x="409" y="-1"/>
                <a:ext cx="17" cy="433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defTabSz="914400" fontAlgn="base">
                  <a:spcBef>
                    <a:spcPct val="0"/>
                  </a:spcBef>
                  <a:spcAft>
                    <a:spcPct val="0"/>
                  </a:spcAft>
                </a:pPr>
                <a:endParaRPr lang="en-US" smtClean="0">
                  <a:solidFill>
                    <a:srgbClr val="000000"/>
                  </a:solidFill>
                  <a:latin typeface="Arial" charset="0"/>
                  <a:ea typeface="ＭＳ Ｐゴシック" charset="0"/>
                </a:endParaRPr>
              </a:p>
            </p:txBody>
          </p:sp>
        </p:grpSp>
        <p:pic>
          <p:nvPicPr>
            <p:cNvPr id="1060" name="Picture 36" descr="20070618_csiro7024"/>
            <p:cNvPicPr>
              <a:picLocks noChangeAspect="1" noChangeArrowheads="1"/>
            </p:cNvPicPr>
            <p:nvPr/>
          </p:nvPicPr>
          <p:blipFill>
            <a:blip r:embed="rId14">
              <a:extLst>
                <a:ext uri="{28A0092B-C50C-407E-A947-70E740481C1C}">
                  <a14:useLocalDpi xmlns:a14="http://schemas.microsoft.com/office/drawing/2010/main"/>
                </a:ext>
              </a:extLst>
            </a:blip>
            <a:srcRect/>
            <a:stretch>
              <a:fillRect/>
            </a:stretch>
          </p:blipFill>
          <p:spPr bwMode="auto">
            <a:xfrm>
              <a:off x="5341" y="3989"/>
              <a:ext cx="204" cy="245"/>
            </a:xfrm>
            <a:prstGeom prst="rect">
              <a:avLst/>
            </a:prstGeom>
            <a:noFill/>
            <a:extLst>
              <a:ext uri="{909E8E84-426E-40dd-AFC4-6F175D3DCCD1}">
                <a14:hiddenFill xmlns:a14="http://schemas.microsoft.com/office/drawing/2010/main">
                  <a:solidFill>
                    <a:srgbClr val="FFFFFF"/>
                  </a:solidFill>
                </a14:hiddenFill>
              </a:ext>
            </a:extLst>
          </p:spPr>
        </p:pic>
      </p:grpSp>
      <p:sp>
        <p:nvSpPr>
          <p:cNvPr id="1026" name="Rectangle 2"/>
          <p:cNvSpPr>
            <a:spLocks noGrp="1" noChangeArrowheads="1"/>
          </p:cNvSpPr>
          <p:nvPr>
            <p:ph type="title"/>
          </p:nvPr>
        </p:nvSpPr>
        <p:spPr bwMode="auto">
          <a:xfrm>
            <a:off x="1103313" y="80963"/>
            <a:ext cx="7343775"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0" tIns="45720" rIns="0" bIns="45720" numCol="1" anchor="b" anchorCtr="0" compatLnSpc="1">
            <a:prstTxWarp prst="textNoShape">
              <a:avLst/>
            </a:prstTxWarp>
          </a:bodyPr>
          <a:lstStyle/>
          <a:p>
            <a:pPr lvl="0"/>
            <a:r>
              <a:rPr lang="en-AU"/>
              <a:t>Click to edit Master title style</a:t>
            </a:r>
          </a:p>
        </p:txBody>
      </p:sp>
      <p:sp>
        <p:nvSpPr>
          <p:cNvPr id="1027" name="Rectangle 3"/>
          <p:cNvSpPr>
            <a:spLocks noGrp="1" noChangeArrowheads="1"/>
          </p:cNvSpPr>
          <p:nvPr>
            <p:ph type="body" idx="1"/>
          </p:nvPr>
        </p:nvSpPr>
        <p:spPr bwMode="auto">
          <a:xfrm>
            <a:off x="1103313" y="1385888"/>
            <a:ext cx="7343775" cy="492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0" tIns="0" rIns="0" bIns="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
        <p:nvSpPr>
          <p:cNvPr id="1029" name="Rectangle 5"/>
          <p:cNvSpPr>
            <a:spLocks noGrp="1" noChangeArrowheads="1"/>
          </p:cNvSpPr>
          <p:nvPr>
            <p:ph type="ftr" sz="quarter" idx="3"/>
          </p:nvPr>
        </p:nvSpPr>
        <p:spPr bwMode="auto">
          <a:xfrm>
            <a:off x="1103313" y="6588125"/>
            <a:ext cx="7343775"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0" tIns="45720" rIns="0" bIns="45720" numCol="1" anchor="t" anchorCtr="0" compatLnSpc="1">
            <a:prstTxWarp prst="textNoShape">
              <a:avLst/>
            </a:prstTxWarp>
          </a:bodyPr>
          <a:lstStyle>
            <a:lvl1pPr>
              <a:defRPr sz="800" b="1">
                <a:solidFill>
                  <a:schemeClr val="accent1"/>
                </a:solidFill>
              </a:defRPr>
            </a:lvl1pPr>
          </a:lstStyle>
          <a:p>
            <a:pPr defTabSz="914400" fontAlgn="base">
              <a:spcBef>
                <a:spcPct val="0"/>
              </a:spcBef>
              <a:spcAft>
                <a:spcPct val="0"/>
              </a:spcAft>
            </a:pPr>
            <a:r>
              <a:rPr lang="en-AU" dirty="0" smtClean="0">
                <a:solidFill>
                  <a:srgbClr val="0099CC"/>
                </a:solidFill>
                <a:latin typeface="Arial" charset="0"/>
                <a:ea typeface="ＭＳ Ｐゴシック" charset="0"/>
              </a:rPr>
              <a:t>CSIRO.</a:t>
            </a:r>
            <a:r>
              <a:rPr lang="en-AU" b="0" dirty="0" smtClean="0">
                <a:solidFill>
                  <a:srgbClr val="000000"/>
                </a:solidFill>
                <a:latin typeface="Arial" charset="0"/>
                <a:ea typeface="ＭＳ Ｐゴシック" charset="0"/>
              </a:rPr>
              <a:t>  WaterML2.0 overview</a:t>
            </a:r>
          </a:p>
        </p:txBody>
      </p:sp>
    </p:spTree>
    <p:extLst>
      <p:ext uri="{BB962C8B-B14F-4D97-AF65-F5344CB8AC3E}">
        <p14:creationId xmlns:p14="http://schemas.microsoft.com/office/powerpoint/2010/main" val="2708973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fontAlgn="base">
        <a:spcBef>
          <a:spcPct val="0"/>
        </a:spcBef>
        <a:spcAft>
          <a:spcPct val="0"/>
        </a:spcAft>
        <a:defRPr sz="2800">
          <a:solidFill>
            <a:schemeClr val="tx2"/>
          </a:solidFill>
          <a:latin typeface="+mj-lt"/>
          <a:ea typeface="+mj-ea"/>
          <a:cs typeface="+mj-cs"/>
        </a:defRPr>
      </a:lvl1pPr>
      <a:lvl2pPr algn="l" rtl="0" fontAlgn="base">
        <a:spcBef>
          <a:spcPct val="0"/>
        </a:spcBef>
        <a:spcAft>
          <a:spcPct val="0"/>
        </a:spcAft>
        <a:defRPr sz="2800">
          <a:solidFill>
            <a:schemeClr val="tx2"/>
          </a:solidFill>
          <a:latin typeface="Arial" charset="0"/>
          <a:ea typeface="ＭＳ Ｐゴシック" charset="0"/>
        </a:defRPr>
      </a:lvl2pPr>
      <a:lvl3pPr algn="l" rtl="0" fontAlgn="base">
        <a:spcBef>
          <a:spcPct val="0"/>
        </a:spcBef>
        <a:spcAft>
          <a:spcPct val="0"/>
        </a:spcAft>
        <a:defRPr sz="2800">
          <a:solidFill>
            <a:schemeClr val="tx2"/>
          </a:solidFill>
          <a:latin typeface="Arial" charset="0"/>
          <a:ea typeface="ＭＳ Ｐゴシック" charset="0"/>
        </a:defRPr>
      </a:lvl3pPr>
      <a:lvl4pPr algn="l" rtl="0" fontAlgn="base">
        <a:spcBef>
          <a:spcPct val="0"/>
        </a:spcBef>
        <a:spcAft>
          <a:spcPct val="0"/>
        </a:spcAft>
        <a:defRPr sz="2800">
          <a:solidFill>
            <a:schemeClr val="tx2"/>
          </a:solidFill>
          <a:latin typeface="Arial" charset="0"/>
          <a:ea typeface="ＭＳ Ｐゴシック" charset="0"/>
        </a:defRPr>
      </a:lvl4pPr>
      <a:lvl5pPr algn="l" rtl="0" fontAlgn="base">
        <a:spcBef>
          <a:spcPct val="0"/>
        </a:spcBef>
        <a:spcAft>
          <a:spcPct val="0"/>
        </a:spcAft>
        <a:defRPr sz="2800">
          <a:solidFill>
            <a:schemeClr val="tx2"/>
          </a:solidFill>
          <a:latin typeface="Arial" charset="0"/>
          <a:ea typeface="ＭＳ Ｐゴシック" charset="0"/>
        </a:defRPr>
      </a:lvl5pPr>
      <a:lvl6pPr marL="457200" algn="l" rtl="0" fontAlgn="base">
        <a:spcBef>
          <a:spcPct val="0"/>
        </a:spcBef>
        <a:spcAft>
          <a:spcPct val="0"/>
        </a:spcAft>
        <a:defRPr sz="2800">
          <a:solidFill>
            <a:schemeClr val="tx2"/>
          </a:solidFill>
          <a:latin typeface="Arial" charset="0"/>
          <a:ea typeface="ＭＳ Ｐゴシック" charset="0"/>
        </a:defRPr>
      </a:lvl6pPr>
      <a:lvl7pPr marL="914400" algn="l" rtl="0" fontAlgn="base">
        <a:spcBef>
          <a:spcPct val="0"/>
        </a:spcBef>
        <a:spcAft>
          <a:spcPct val="0"/>
        </a:spcAft>
        <a:defRPr sz="2800">
          <a:solidFill>
            <a:schemeClr val="tx2"/>
          </a:solidFill>
          <a:latin typeface="Arial" charset="0"/>
          <a:ea typeface="ＭＳ Ｐゴシック" charset="0"/>
        </a:defRPr>
      </a:lvl7pPr>
      <a:lvl8pPr marL="1371600" algn="l" rtl="0" fontAlgn="base">
        <a:spcBef>
          <a:spcPct val="0"/>
        </a:spcBef>
        <a:spcAft>
          <a:spcPct val="0"/>
        </a:spcAft>
        <a:defRPr sz="2800">
          <a:solidFill>
            <a:schemeClr val="tx2"/>
          </a:solidFill>
          <a:latin typeface="Arial" charset="0"/>
          <a:ea typeface="ＭＳ Ｐゴシック" charset="0"/>
        </a:defRPr>
      </a:lvl8pPr>
      <a:lvl9pPr marL="1828800" algn="l" rtl="0" fontAlgn="base">
        <a:spcBef>
          <a:spcPct val="0"/>
        </a:spcBef>
        <a:spcAft>
          <a:spcPct val="0"/>
        </a:spcAft>
        <a:defRPr sz="2800">
          <a:solidFill>
            <a:schemeClr val="tx2"/>
          </a:solidFill>
          <a:latin typeface="Arial" charset="0"/>
          <a:ea typeface="ＭＳ Ｐゴシック" charset="0"/>
        </a:defRPr>
      </a:lvl9pPr>
    </p:titleStyle>
    <p:bodyStyle>
      <a:lvl1pPr marL="180975" indent="-180975" algn="l" rtl="0" fontAlgn="base">
        <a:spcBef>
          <a:spcPct val="20000"/>
        </a:spcBef>
        <a:spcAft>
          <a:spcPct val="0"/>
        </a:spcAft>
        <a:buChar char="•"/>
        <a:defRPr sz="2000">
          <a:solidFill>
            <a:schemeClr val="accent1"/>
          </a:solidFill>
          <a:latin typeface="+mn-lt"/>
          <a:ea typeface="+mn-ea"/>
          <a:cs typeface="+mn-cs"/>
        </a:defRPr>
      </a:lvl1pPr>
      <a:lvl2pPr marL="538163" indent="-177800" algn="l" rtl="0" fontAlgn="base">
        <a:spcBef>
          <a:spcPct val="20000"/>
        </a:spcBef>
        <a:spcAft>
          <a:spcPct val="0"/>
        </a:spcAft>
        <a:buChar char="•"/>
        <a:defRPr>
          <a:solidFill>
            <a:schemeClr val="tx1"/>
          </a:solidFill>
          <a:latin typeface="+mn-lt"/>
          <a:ea typeface="+mn-ea"/>
        </a:defRPr>
      </a:lvl2pPr>
      <a:lvl3pPr marL="893763" indent="-176213" algn="l" rtl="0" fontAlgn="base">
        <a:spcBef>
          <a:spcPct val="20000"/>
        </a:spcBef>
        <a:spcAft>
          <a:spcPct val="0"/>
        </a:spcAft>
        <a:buChar char="•"/>
        <a:defRPr sz="1600">
          <a:solidFill>
            <a:schemeClr val="tx1"/>
          </a:solidFill>
          <a:latin typeface="+mn-lt"/>
          <a:ea typeface="+mn-ea"/>
        </a:defRPr>
      </a:lvl3pPr>
      <a:lvl4pPr marL="1257300" indent="-180975" algn="l" rtl="0" fontAlgn="base">
        <a:spcBef>
          <a:spcPct val="20000"/>
        </a:spcBef>
        <a:spcAft>
          <a:spcPct val="0"/>
        </a:spcAft>
        <a:buChar char="•"/>
        <a:defRPr sz="1400">
          <a:solidFill>
            <a:schemeClr val="tx1"/>
          </a:solidFill>
          <a:latin typeface="+mn-lt"/>
          <a:ea typeface="+mn-ea"/>
        </a:defRPr>
      </a:lvl4pPr>
      <a:lvl5pPr marL="1617663" indent="-180975" algn="l" rtl="0" fontAlgn="base">
        <a:spcBef>
          <a:spcPct val="20000"/>
        </a:spcBef>
        <a:spcAft>
          <a:spcPct val="0"/>
        </a:spcAft>
        <a:buChar char="•"/>
        <a:defRPr sz="1400">
          <a:solidFill>
            <a:schemeClr val="tx1"/>
          </a:solidFill>
          <a:latin typeface="+mn-lt"/>
          <a:ea typeface="+mn-ea"/>
        </a:defRPr>
      </a:lvl5pPr>
      <a:lvl6pPr marL="2074863" indent="-180975" algn="l" rtl="0" fontAlgn="base">
        <a:spcBef>
          <a:spcPct val="20000"/>
        </a:spcBef>
        <a:spcAft>
          <a:spcPct val="0"/>
        </a:spcAft>
        <a:buChar char="•"/>
        <a:defRPr sz="1400">
          <a:solidFill>
            <a:schemeClr val="tx1"/>
          </a:solidFill>
          <a:latin typeface="+mn-lt"/>
          <a:ea typeface="+mn-ea"/>
        </a:defRPr>
      </a:lvl6pPr>
      <a:lvl7pPr marL="2532063" indent="-180975" algn="l" rtl="0" fontAlgn="base">
        <a:spcBef>
          <a:spcPct val="20000"/>
        </a:spcBef>
        <a:spcAft>
          <a:spcPct val="0"/>
        </a:spcAft>
        <a:buChar char="•"/>
        <a:defRPr sz="1400">
          <a:solidFill>
            <a:schemeClr val="tx1"/>
          </a:solidFill>
          <a:latin typeface="+mn-lt"/>
          <a:ea typeface="+mn-ea"/>
        </a:defRPr>
      </a:lvl7pPr>
      <a:lvl8pPr marL="2989263" indent="-180975" algn="l" rtl="0" fontAlgn="base">
        <a:spcBef>
          <a:spcPct val="20000"/>
        </a:spcBef>
        <a:spcAft>
          <a:spcPct val="0"/>
        </a:spcAft>
        <a:buChar char="•"/>
        <a:defRPr sz="1400">
          <a:solidFill>
            <a:schemeClr val="tx1"/>
          </a:solidFill>
          <a:latin typeface="+mn-lt"/>
          <a:ea typeface="+mn-ea"/>
        </a:defRPr>
      </a:lvl8pPr>
      <a:lvl9pPr marL="3446463" indent="-180975" algn="l" rtl="0" fontAlgn="base">
        <a:spcBef>
          <a:spcPct val="20000"/>
        </a:spcBef>
        <a:spcAft>
          <a:spcPct val="0"/>
        </a:spcAft>
        <a:buChar char="•"/>
        <a:defRPr sz="14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36"/>
          <p:cNvGrpSpPr>
            <a:grpSpLocks/>
          </p:cNvGrpSpPr>
          <p:nvPr/>
        </p:nvGrpSpPr>
        <p:grpSpPr bwMode="auto">
          <a:xfrm>
            <a:off x="0" y="0"/>
            <a:ext cx="9144000" cy="6858000"/>
            <a:chOff x="0" y="0"/>
            <a:chExt cx="5760" cy="4320"/>
          </a:xfrm>
        </p:grpSpPr>
        <p:grpSp>
          <p:nvGrpSpPr>
            <p:cNvPr id="1029" name="Group 19"/>
            <p:cNvGrpSpPr>
              <a:grpSpLocks/>
            </p:cNvGrpSpPr>
            <p:nvPr/>
          </p:nvGrpSpPr>
          <p:grpSpPr bwMode="auto">
            <a:xfrm>
              <a:off x="0" y="0"/>
              <a:ext cx="5760" cy="4320"/>
              <a:chOff x="0" y="0"/>
              <a:chExt cx="5760" cy="4320"/>
            </a:xfrm>
          </p:grpSpPr>
          <p:sp>
            <p:nvSpPr>
              <p:cNvPr id="1037" name="Rectangle 13"/>
              <p:cNvSpPr>
                <a:spLocks noChangeArrowheads="1"/>
              </p:cNvSpPr>
              <p:nvPr userDrawn="1"/>
            </p:nvSpPr>
            <p:spPr bwMode="auto">
              <a:xfrm>
                <a:off x="376" y="650"/>
                <a:ext cx="5384" cy="6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914400" fontAlgn="base">
                  <a:spcBef>
                    <a:spcPct val="0"/>
                  </a:spcBef>
                  <a:spcAft>
                    <a:spcPct val="0"/>
                  </a:spcAft>
                  <a:defRPr/>
                </a:pPr>
                <a:endParaRPr lang="en-US">
                  <a:solidFill>
                    <a:srgbClr val="000000"/>
                  </a:solidFill>
                  <a:latin typeface="Arial" charset="0"/>
                  <a:ea typeface="ＭＳ Ｐゴシック" charset="0"/>
                  <a:cs typeface="ＭＳ Ｐゴシック" charset="0"/>
                </a:endParaRPr>
              </a:p>
            </p:txBody>
          </p:sp>
          <p:sp>
            <p:nvSpPr>
              <p:cNvPr id="1038" name="Rectangle 14"/>
              <p:cNvSpPr>
                <a:spLocks noChangeArrowheads="1"/>
              </p:cNvSpPr>
              <p:nvPr userDrawn="1"/>
            </p:nvSpPr>
            <p:spPr bwMode="auto">
              <a:xfrm>
                <a:off x="384" y="0"/>
                <a:ext cx="5376" cy="650"/>
              </a:xfrm>
              <a:prstGeom prst="rect">
                <a:avLst/>
              </a:prstGeom>
              <a:solidFill>
                <a:srgbClr val="E2E3E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defTabSz="914400" fontAlgn="base">
                  <a:spcBef>
                    <a:spcPct val="0"/>
                  </a:spcBef>
                  <a:spcAft>
                    <a:spcPct val="0"/>
                  </a:spcAft>
                  <a:defRPr/>
                </a:pPr>
                <a:endParaRPr lang="en-US">
                  <a:solidFill>
                    <a:srgbClr val="000000"/>
                  </a:solidFill>
                  <a:latin typeface="Arial" charset="0"/>
                  <a:ea typeface="ＭＳ Ｐゴシック" charset="0"/>
                  <a:cs typeface="ＭＳ Ｐゴシック" charset="0"/>
                </a:endParaRPr>
              </a:p>
            </p:txBody>
          </p:sp>
          <p:pic>
            <p:nvPicPr>
              <p:cNvPr id="1033" name="Picture 18" descr="flagships_ppt_slide"/>
              <p:cNvPicPr>
                <a:picLocks noChangeAspect="1" noChangeArrowheads="1"/>
              </p:cNvPicPr>
              <p:nvPr userDrawn="1"/>
            </p:nvPicPr>
            <p:blipFill>
              <a:blip r:embed="rId13" cstate="print">
                <a:extLst>
                  <a:ext uri="{28A0092B-C50C-407E-A947-70E740481C1C}">
                    <a14:useLocalDpi xmlns:a14="http://schemas.microsoft.com/office/drawing/2010/main"/>
                  </a:ext>
                </a:extLst>
              </a:blip>
              <a:srcRect l="6787" t="2048" b="1781"/>
              <a:stretch>
                <a:fillRect/>
              </a:stretch>
            </p:blipFill>
            <p:spPr bwMode="auto">
              <a:xfrm>
                <a:off x="0" y="0"/>
                <a:ext cx="673"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30" name="Picture 35" descr="20070910_WfHC-logo_RGB_small"/>
            <p:cNvPicPr>
              <a:picLocks noChangeAspect="1" noChangeArrowheads="1"/>
            </p:cNvPicPr>
            <p:nvPr/>
          </p:nvPicPr>
          <p:blipFill>
            <a:blip r:embed="rId14">
              <a:extLst>
                <a:ext uri="{28A0092B-C50C-407E-A947-70E740481C1C}">
                  <a14:useLocalDpi xmlns:a14="http://schemas.microsoft.com/office/drawing/2010/main"/>
                </a:ext>
              </a:extLst>
            </a:blip>
            <a:srcRect/>
            <a:stretch>
              <a:fillRect/>
            </a:stretch>
          </p:blipFill>
          <p:spPr bwMode="auto">
            <a:xfrm>
              <a:off x="4541" y="3948"/>
              <a:ext cx="98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32" name="Rectangle 8"/>
          <p:cNvSpPr>
            <a:spLocks noGrp="1" noChangeArrowheads="1"/>
          </p:cNvSpPr>
          <p:nvPr>
            <p:ph type="title"/>
          </p:nvPr>
        </p:nvSpPr>
        <p:spPr bwMode="auto">
          <a:xfrm>
            <a:off x="1103313" y="82550"/>
            <a:ext cx="7429500" cy="93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0" tIns="46800" rIns="0" bIns="46800" numCol="1" anchor="b" anchorCtr="0" compatLnSpc="1">
            <a:prstTxWarp prst="textNoShape">
              <a:avLst/>
            </a:prstTxWarp>
          </a:bodyPr>
          <a:lstStyle/>
          <a:p>
            <a:pPr lvl="0"/>
            <a:r>
              <a:rPr lang="en-US"/>
              <a:t>Click to edit Master title style</a:t>
            </a:r>
          </a:p>
        </p:txBody>
      </p:sp>
      <p:sp>
        <p:nvSpPr>
          <p:cNvPr id="1056" name="Rectangle 32"/>
          <p:cNvSpPr>
            <a:spLocks noGrp="1" noChangeArrowheads="1"/>
          </p:cNvSpPr>
          <p:nvPr>
            <p:ph type="body" idx="1"/>
          </p:nvPr>
        </p:nvSpPr>
        <p:spPr bwMode="auto">
          <a:xfrm>
            <a:off x="1092200" y="1384300"/>
            <a:ext cx="7364413" cy="486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0" tIns="46800" rIns="0" bIns="4680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Tree>
    <p:extLst>
      <p:ext uri="{BB962C8B-B14F-4D97-AF65-F5344CB8AC3E}">
        <p14:creationId xmlns:p14="http://schemas.microsoft.com/office/powerpoint/2010/main" val="223670676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xmlns:p14="http://schemas.microsoft.com/office/powerpoint/2010/main" id="1" dur="indefinite" restart="never" nodeType="tmRoot"/>
      </p:par>
    </p:tnLst>
  </p:timing>
  <p:hf sldNum="0" hdr="0" dt="0"/>
  <p:txStyles>
    <p:titleStyle>
      <a:lvl1pPr algn="l" rtl="0" eaLnBrk="0" fontAlgn="base" hangingPunct="0">
        <a:spcBef>
          <a:spcPct val="0"/>
        </a:spcBef>
        <a:spcAft>
          <a:spcPct val="0"/>
        </a:spcAft>
        <a:defRPr sz="2800">
          <a:solidFill>
            <a:schemeClr val="tx1"/>
          </a:solidFill>
          <a:latin typeface="+mj-lt"/>
          <a:ea typeface="+mj-ea"/>
          <a:cs typeface="ＭＳ Ｐゴシック" charset="0"/>
        </a:defRPr>
      </a:lvl1pPr>
      <a:lvl2pPr algn="l" rtl="0" eaLnBrk="0" fontAlgn="base" hangingPunct="0">
        <a:spcBef>
          <a:spcPct val="0"/>
        </a:spcBef>
        <a:spcAft>
          <a:spcPct val="0"/>
        </a:spcAft>
        <a:defRPr sz="2800">
          <a:solidFill>
            <a:schemeClr val="tx1"/>
          </a:solidFill>
          <a:latin typeface="Arial" charset="0"/>
          <a:ea typeface="ＭＳ Ｐゴシック" charset="0"/>
          <a:cs typeface="ＭＳ Ｐゴシック" charset="0"/>
        </a:defRPr>
      </a:lvl2pPr>
      <a:lvl3pPr algn="l" rtl="0" eaLnBrk="0" fontAlgn="base" hangingPunct="0">
        <a:spcBef>
          <a:spcPct val="0"/>
        </a:spcBef>
        <a:spcAft>
          <a:spcPct val="0"/>
        </a:spcAft>
        <a:defRPr sz="2800">
          <a:solidFill>
            <a:schemeClr val="tx1"/>
          </a:solidFill>
          <a:latin typeface="Arial" charset="0"/>
          <a:ea typeface="ＭＳ Ｐゴシック" charset="0"/>
          <a:cs typeface="ＭＳ Ｐゴシック" charset="0"/>
        </a:defRPr>
      </a:lvl3pPr>
      <a:lvl4pPr algn="l" rtl="0" eaLnBrk="0" fontAlgn="base" hangingPunct="0">
        <a:spcBef>
          <a:spcPct val="0"/>
        </a:spcBef>
        <a:spcAft>
          <a:spcPct val="0"/>
        </a:spcAft>
        <a:defRPr sz="2800">
          <a:solidFill>
            <a:schemeClr val="tx1"/>
          </a:solidFill>
          <a:latin typeface="Arial" charset="0"/>
          <a:ea typeface="ＭＳ Ｐゴシック" charset="0"/>
          <a:cs typeface="ＭＳ Ｐゴシック" charset="0"/>
        </a:defRPr>
      </a:lvl4pPr>
      <a:lvl5pPr algn="l" rtl="0" eaLnBrk="0" fontAlgn="base" hangingPunct="0">
        <a:spcBef>
          <a:spcPct val="0"/>
        </a:spcBef>
        <a:spcAft>
          <a:spcPct val="0"/>
        </a:spcAft>
        <a:defRPr sz="2800">
          <a:solidFill>
            <a:schemeClr val="tx1"/>
          </a:solidFill>
          <a:latin typeface="Arial" charset="0"/>
          <a:ea typeface="ＭＳ Ｐゴシック" charset="0"/>
          <a:cs typeface="ＭＳ Ｐゴシック" charset="0"/>
        </a:defRPr>
      </a:lvl5pPr>
      <a:lvl6pPr marL="457200" algn="l" rtl="0" fontAlgn="base">
        <a:spcBef>
          <a:spcPct val="0"/>
        </a:spcBef>
        <a:spcAft>
          <a:spcPct val="0"/>
        </a:spcAft>
        <a:defRPr sz="2800">
          <a:solidFill>
            <a:schemeClr val="tx1"/>
          </a:solidFill>
          <a:latin typeface="Arial" charset="0"/>
          <a:ea typeface="ＭＳ Ｐゴシック" charset="0"/>
        </a:defRPr>
      </a:lvl6pPr>
      <a:lvl7pPr marL="914400" algn="l" rtl="0" fontAlgn="base">
        <a:spcBef>
          <a:spcPct val="0"/>
        </a:spcBef>
        <a:spcAft>
          <a:spcPct val="0"/>
        </a:spcAft>
        <a:defRPr sz="2800">
          <a:solidFill>
            <a:schemeClr val="tx1"/>
          </a:solidFill>
          <a:latin typeface="Arial" charset="0"/>
          <a:ea typeface="ＭＳ Ｐゴシック" charset="0"/>
        </a:defRPr>
      </a:lvl7pPr>
      <a:lvl8pPr marL="1371600" algn="l" rtl="0" fontAlgn="base">
        <a:spcBef>
          <a:spcPct val="0"/>
        </a:spcBef>
        <a:spcAft>
          <a:spcPct val="0"/>
        </a:spcAft>
        <a:defRPr sz="2800">
          <a:solidFill>
            <a:schemeClr val="tx1"/>
          </a:solidFill>
          <a:latin typeface="Arial" charset="0"/>
          <a:ea typeface="ＭＳ Ｐゴシック" charset="0"/>
        </a:defRPr>
      </a:lvl8pPr>
      <a:lvl9pPr marL="1828800" algn="l" rtl="0" fontAlgn="base">
        <a:spcBef>
          <a:spcPct val="0"/>
        </a:spcBef>
        <a:spcAft>
          <a:spcPct val="0"/>
        </a:spcAft>
        <a:defRPr sz="2800">
          <a:solidFill>
            <a:schemeClr val="tx1"/>
          </a:solidFill>
          <a:latin typeface="Arial" charset="0"/>
          <a:ea typeface="ＭＳ Ｐゴシック" charset="0"/>
        </a:defRPr>
      </a:lvl9pPr>
    </p:titleStyle>
    <p:bodyStyle>
      <a:lvl1pPr marL="182563" indent="-182563" algn="l" rtl="0" eaLnBrk="0" fontAlgn="base" hangingPunct="0">
        <a:spcBef>
          <a:spcPct val="20000"/>
        </a:spcBef>
        <a:spcAft>
          <a:spcPct val="0"/>
        </a:spcAft>
        <a:buChar char="•"/>
        <a:defRPr sz="2000">
          <a:solidFill>
            <a:schemeClr val="accent1"/>
          </a:solidFill>
          <a:latin typeface="+mn-lt"/>
          <a:ea typeface="+mn-ea"/>
          <a:cs typeface="ＭＳ Ｐゴシック" charset="0"/>
        </a:defRPr>
      </a:lvl1pPr>
      <a:lvl2pPr marL="542925" indent="-180975" algn="l" rtl="0" eaLnBrk="0" fontAlgn="base" hangingPunct="0">
        <a:spcBef>
          <a:spcPct val="20000"/>
        </a:spcBef>
        <a:spcAft>
          <a:spcPct val="0"/>
        </a:spcAft>
        <a:buClr>
          <a:schemeClr val="tx1"/>
        </a:buClr>
        <a:buChar char="•"/>
        <a:defRPr>
          <a:solidFill>
            <a:schemeClr val="tx1"/>
          </a:solidFill>
          <a:latin typeface="+mn-lt"/>
          <a:ea typeface="+mn-ea"/>
        </a:defRPr>
      </a:lvl2pPr>
      <a:lvl3pPr marL="904875" indent="-182563" algn="l" rtl="0" eaLnBrk="0" fontAlgn="base" hangingPunct="0">
        <a:spcBef>
          <a:spcPct val="20000"/>
        </a:spcBef>
        <a:spcAft>
          <a:spcPct val="0"/>
        </a:spcAft>
        <a:buChar char="•"/>
        <a:defRPr sz="1600">
          <a:solidFill>
            <a:schemeClr val="tx1"/>
          </a:solidFill>
          <a:latin typeface="+mn-lt"/>
          <a:ea typeface="+mn-ea"/>
        </a:defRPr>
      </a:lvl3pPr>
      <a:lvl4pPr marL="1262063" indent="-177800" algn="l" rtl="0" eaLnBrk="0" fontAlgn="base" hangingPunct="0">
        <a:spcBef>
          <a:spcPct val="20000"/>
        </a:spcBef>
        <a:spcAft>
          <a:spcPct val="0"/>
        </a:spcAft>
        <a:buChar char="•"/>
        <a:defRPr sz="1400">
          <a:solidFill>
            <a:schemeClr val="tx1"/>
          </a:solidFill>
          <a:latin typeface="+mn-lt"/>
          <a:ea typeface="+mn-ea"/>
        </a:defRPr>
      </a:lvl4pPr>
      <a:lvl5pPr marL="1624013" indent="-182563" algn="l" rtl="0" eaLnBrk="0" fontAlgn="base" hangingPunct="0">
        <a:spcBef>
          <a:spcPct val="20000"/>
        </a:spcBef>
        <a:spcAft>
          <a:spcPct val="0"/>
        </a:spcAft>
        <a:buChar char="•"/>
        <a:defRPr sz="1400">
          <a:solidFill>
            <a:schemeClr val="tx1"/>
          </a:solidFill>
          <a:latin typeface="+mn-lt"/>
          <a:ea typeface="+mn-ea"/>
        </a:defRPr>
      </a:lvl5pPr>
      <a:lvl6pPr marL="2081213" indent="-182563" algn="l" rtl="0" fontAlgn="base">
        <a:spcBef>
          <a:spcPct val="20000"/>
        </a:spcBef>
        <a:spcAft>
          <a:spcPct val="0"/>
        </a:spcAft>
        <a:buChar char="•"/>
        <a:defRPr sz="1400">
          <a:solidFill>
            <a:schemeClr val="tx1"/>
          </a:solidFill>
          <a:latin typeface="+mn-lt"/>
          <a:ea typeface="+mn-ea"/>
        </a:defRPr>
      </a:lvl6pPr>
      <a:lvl7pPr marL="2538413" indent="-182563" algn="l" rtl="0" fontAlgn="base">
        <a:spcBef>
          <a:spcPct val="20000"/>
        </a:spcBef>
        <a:spcAft>
          <a:spcPct val="0"/>
        </a:spcAft>
        <a:buChar char="•"/>
        <a:defRPr sz="1400">
          <a:solidFill>
            <a:schemeClr val="tx1"/>
          </a:solidFill>
          <a:latin typeface="+mn-lt"/>
          <a:ea typeface="+mn-ea"/>
        </a:defRPr>
      </a:lvl7pPr>
      <a:lvl8pPr marL="2995613" indent="-182563" algn="l" rtl="0" fontAlgn="base">
        <a:spcBef>
          <a:spcPct val="20000"/>
        </a:spcBef>
        <a:spcAft>
          <a:spcPct val="0"/>
        </a:spcAft>
        <a:buChar char="•"/>
        <a:defRPr sz="1400">
          <a:solidFill>
            <a:schemeClr val="tx1"/>
          </a:solidFill>
          <a:latin typeface="+mn-lt"/>
          <a:ea typeface="+mn-ea"/>
        </a:defRPr>
      </a:lvl8pPr>
      <a:lvl9pPr marL="3452813" indent="-182563" algn="l" rtl="0" fontAlgn="base">
        <a:spcBef>
          <a:spcPct val="20000"/>
        </a:spcBef>
        <a:spcAft>
          <a:spcPct val="0"/>
        </a:spcAft>
        <a:buChar char="•"/>
        <a:defRPr sz="14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434" name="Title Placeholder 1"/>
          <p:cNvSpPr>
            <a:spLocks noGrp="1"/>
          </p:cNvSpPr>
          <p:nvPr>
            <p:ph type="title"/>
          </p:nvPr>
        </p:nvSpPr>
        <p:spPr bwMode="auto">
          <a:xfrm>
            <a:off x="685800" y="457200"/>
            <a:ext cx="7315200"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t>Click to edit Master title style</a:t>
            </a:r>
          </a:p>
        </p:txBody>
      </p:sp>
      <p:sp>
        <p:nvSpPr>
          <p:cNvPr id="3" name="Text Placeholder 2"/>
          <p:cNvSpPr>
            <a:spLocks noGrp="1"/>
          </p:cNvSpPr>
          <p:nvPr>
            <p:ph type="body" idx="1"/>
          </p:nvPr>
        </p:nvSpPr>
        <p:spPr>
          <a:xfrm>
            <a:off x="685800" y="1601788"/>
            <a:ext cx="5486400" cy="2743200"/>
          </a:xfrm>
          <a:prstGeom prst="rect">
            <a:avLst/>
          </a:prstGeom>
        </p:spPr>
        <p:txBody>
          <a:bodyPr vert="horz" lIns="0" tIns="0" rIns="0" bIns="0" rtlCol="0">
            <a:noAutofit/>
          </a:bodyPr>
          <a:lstStyle/>
          <a:p>
            <a:pPr lvl="0"/>
            <a:r>
              <a:rPr lang="en-US" noProof="0" dirty="0"/>
              <a:t>Click to edit master text styles</a:t>
            </a:r>
          </a:p>
          <a:p>
            <a:pPr lvl="2"/>
            <a:r>
              <a:rPr lang="en-US" dirty="0"/>
              <a:t>Second level</a:t>
            </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ransition xmlns:p14="http://schemas.microsoft.com/office/powerpoint/2010/main" spd="med">
    <p:fade/>
  </p:transition>
  <p:timing>
    <p:tnLst>
      <p:par>
        <p:cTn xmlns:p14="http://schemas.microsoft.com/office/powerpoint/2010/main" id="1" dur="indefinite" restart="never" nodeType="tmRoot"/>
      </p:par>
    </p:tnLst>
  </p:timing>
  <p:txStyles>
    <p:titleStyle>
      <a:lvl1pPr algn="l" defTabSz="457200" rtl="0" fontAlgn="base">
        <a:spcBef>
          <a:spcPct val="0"/>
        </a:spcBef>
        <a:spcAft>
          <a:spcPct val="0"/>
        </a:spcAft>
        <a:defRPr sz="2800" b="1" kern="1200">
          <a:solidFill>
            <a:schemeClr val="tx1"/>
          </a:solidFill>
          <a:latin typeface="+mj-lt"/>
          <a:ea typeface="+mj-ea"/>
          <a:cs typeface="Avenir LT Std 55 Roman" pitchFamily="34" charset="0"/>
        </a:defRPr>
      </a:lvl1pPr>
      <a:lvl2pPr algn="l" defTabSz="457200" rtl="0" fontAlgn="base">
        <a:spcBef>
          <a:spcPct val="0"/>
        </a:spcBef>
        <a:spcAft>
          <a:spcPct val="0"/>
        </a:spcAft>
        <a:defRPr sz="2800" b="1">
          <a:solidFill>
            <a:schemeClr val="tx1"/>
          </a:solidFill>
          <a:latin typeface="Arial" charset="0"/>
          <a:ea typeface="ＭＳ Ｐゴシック" charset="0"/>
        </a:defRPr>
      </a:lvl2pPr>
      <a:lvl3pPr algn="l" defTabSz="457200" rtl="0" fontAlgn="base">
        <a:spcBef>
          <a:spcPct val="0"/>
        </a:spcBef>
        <a:spcAft>
          <a:spcPct val="0"/>
        </a:spcAft>
        <a:defRPr sz="2800" b="1">
          <a:solidFill>
            <a:schemeClr val="tx1"/>
          </a:solidFill>
          <a:latin typeface="Arial" charset="0"/>
          <a:ea typeface="ＭＳ Ｐゴシック" charset="0"/>
        </a:defRPr>
      </a:lvl3pPr>
      <a:lvl4pPr algn="l" defTabSz="457200" rtl="0" fontAlgn="base">
        <a:spcBef>
          <a:spcPct val="0"/>
        </a:spcBef>
        <a:spcAft>
          <a:spcPct val="0"/>
        </a:spcAft>
        <a:defRPr sz="2800" b="1">
          <a:solidFill>
            <a:schemeClr val="tx1"/>
          </a:solidFill>
          <a:latin typeface="Arial" charset="0"/>
          <a:ea typeface="ＭＳ Ｐゴシック" charset="0"/>
        </a:defRPr>
      </a:lvl4pPr>
      <a:lvl5pPr algn="l" defTabSz="457200" rtl="0" fontAlgn="base">
        <a:spcBef>
          <a:spcPct val="0"/>
        </a:spcBef>
        <a:spcAft>
          <a:spcPct val="0"/>
        </a:spcAft>
        <a:defRPr sz="2800" b="1">
          <a:solidFill>
            <a:schemeClr val="tx1"/>
          </a:solidFill>
          <a:latin typeface="Arial" charset="0"/>
          <a:ea typeface="ＭＳ Ｐゴシック" charset="0"/>
        </a:defRPr>
      </a:lvl5pPr>
      <a:lvl6pPr marL="457200" algn="l" defTabSz="457200" rtl="0" fontAlgn="base">
        <a:spcBef>
          <a:spcPct val="0"/>
        </a:spcBef>
        <a:spcAft>
          <a:spcPct val="0"/>
        </a:spcAft>
        <a:defRPr sz="2800" b="1">
          <a:solidFill>
            <a:schemeClr val="tx1"/>
          </a:solidFill>
          <a:latin typeface="Arial" charset="0"/>
          <a:ea typeface="ＭＳ Ｐゴシック" charset="0"/>
        </a:defRPr>
      </a:lvl6pPr>
      <a:lvl7pPr marL="914400" algn="l" defTabSz="457200" rtl="0" fontAlgn="base">
        <a:spcBef>
          <a:spcPct val="0"/>
        </a:spcBef>
        <a:spcAft>
          <a:spcPct val="0"/>
        </a:spcAft>
        <a:defRPr sz="2800" b="1">
          <a:solidFill>
            <a:schemeClr val="tx1"/>
          </a:solidFill>
          <a:latin typeface="Arial" charset="0"/>
          <a:ea typeface="ＭＳ Ｐゴシック" charset="0"/>
        </a:defRPr>
      </a:lvl7pPr>
      <a:lvl8pPr marL="1371600" algn="l" defTabSz="457200" rtl="0" fontAlgn="base">
        <a:spcBef>
          <a:spcPct val="0"/>
        </a:spcBef>
        <a:spcAft>
          <a:spcPct val="0"/>
        </a:spcAft>
        <a:defRPr sz="2800" b="1">
          <a:solidFill>
            <a:schemeClr val="tx1"/>
          </a:solidFill>
          <a:latin typeface="Arial" charset="0"/>
          <a:ea typeface="ＭＳ Ｐゴシック" charset="0"/>
        </a:defRPr>
      </a:lvl8pPr>
      <a:lvl9pPr marL="1828800" algn="l" defTabSz="457200" rtl="0" fontAlgn="base">
        <a:spcBef>
          <a:spcPct val="0"/>
        </a:spcBef>
        <a:spcAft>
          <a:spcPct val="0"/>
        </a:spcAft>
        <a:defRPr sz="2800" b="1">
          <a:solidFill>
            <a:schemeClr val="tx1"/>
          </a:solidFill>
          <a:latin typeface="Arial" charset="0"/>
          <a:ea typeface="ＭＳ Ｐゴシック" charset="0"/>
        </a:defRPr>
      </a:lvl9pPr>
    </p:titleStyle>
    <p:bodyStyle>
      <a:lvl1pPr marL="173038" indent="-173038" algn="l" defTabSz="457200" rtl="0" fontAlgn="base">
        <a:spcBef>
          <a:spcPts val="300"/>
        </a:spcBef>
        <a:spcAft>
          <a:spcPts val="1200"/>
        </a:spcAft>
        <a:buSzPct val="80000"/>
        <a:buFont typeface="Arial" charset="0"/>
        <a:buChar char="•"/>
        <a:defRPr lang="en-US" sz="2600" kern="1200">
          <a:solidFill>
            <a:schemeClr val="tx1"/>
          </a:solidFill>
          <a:latin typeface="+mn-lt"/>
          <a:ea typeface="+mn-ea"/>
          <a:cs typeface="Avenir LT Std 55 Roman"/>
        </a:defRPr>
      </a:lvl1pPr>
      <a:lvl2pPr marL="173038" indent="-173038" algn="l" defTabSz="457200" rtl="0" fontAlgn="base">
        <a:lnSpc>
          <a:spcPts val="2200"/>
        </a:lnSpc>
        <a:spcBef>
          <a:spcPct val="0"/>
        </a:spcBef>
        <a:spcAft>
          <a:spcPts val="600"/>
        </a:spcAft>
        <a:buClr>
          <a:srgbClr val="000000"/>
        </a:buClr>
        <a:buSzPct val="80000"/>
        <a:buFont typeface="Lucida Grande" charset="0"/>
        <a:buChar char="-"/>
        <a:defRPr sz="2200" kern="1200">
          <a:solidFill>
            <a:schemeClr val="tx1"/>
          </a:solidFill>
          <a:latin typeface="Avenir LT Std 55 Roman"/>
          <a:ea typeface="+mn-ea"/>
          <a:cs typeface="Avenir LT Std 55 Roman"/>
        </a:defRPr>
      </a:lvl2pPr>
      <a:lvl3pPr marL="401638" indent="-173038" algn="l" defTabSz="457200" rtl="0" fontAlgn="base">
        <a:lnSpc>
          <a:spcPts val="2700"/>
        </a:lnSpc>
        <a:spcBef>
          <a:spcPct val="0"/>
        </a:spcBef>
        <a:spcAft>
          <a:spcPts val="1200"/>
        </a:spcAft>
        <a:buClr>
          <a:srgbClr val="000000"/>
        </a:buClr>
        <a:buSzPct val="80000"/>
        <a:buFont typeface="Lucida Grande" charset="0"/>
        <a:buChar char="-"/>
        <a:defRPr sz="2400" kern="1200">
          <a:solidFill>
            <a:schemeClr val="tx1"/>
          </a:solidFill>
          <a:latin typeface="+mn-lt"/>
          <a:ea typeface="+mn-ea"/>
          <a:cs typeface="Avenir LT Std 65 Medium"/>
        </a:defRPr>
      </a:lvl3pPr>
      <a:lvl4pPr marL="742950" indent="-173038" algn="l" defTabSz="457200" rtl="0" fontAlgn="base">
        <a:lnSpc>
          <a:spcPts val="1800"/>
        </a:lnSpc>
        <a:spcBef>
          <a:spcPct val="0"/>
        </a:spcBef>
        <a:spcAft>
          <a:spcPts val="600"/>
        </a:spcAft>
        <a:buClr>
          <a:srgbClr val="000000"/>
        </a:buClr>
        <a:buSzPct val="80000"/>
        <a:buFont typeface="Lucida Grande" charset="0"/>
        <a:buChar char="-"/>
        <a:defRPr kern="1200">
          <a:solidFill>
            <a:schemeClr val="tx1"/>
          </a:solidFill>
          <a:latin typeface="Avenir LT Std 55 Roman"/>
          <a:ea typeface="Avenir LT Std 55 Roman" charset="0"/>
          <a:cs typeface="Avenir LT Std 55 Roman"/>
        </a:defRPr>
      </a:lvl4pPr>
      <a:lvl5pPr marL="1082675" indent="-176213" algn="l" defTabSz="457200" rtl="0" fontAlgn="base">
        <a:lnSpc>
          <a:spcPts val="1900"/>
        </a:lnSpc>
        <a:spcBef>
          <a:spcPct val="0"/>
        </a:spcBef>
        <a:spcAft>
          <a:spcPts val="600"/>
        </a:spcAft>
        <a:buClr>
          <a:srgbClr val="000000"/>
        </a:buClr>
        <a:buSzPct val="80000"/>
        <a:buFont typeface="Lucida Grande" charset="0"/>
        <a:buChar char="-"/>
        <a:defRPr sz="1600" kern="1200">
          <a:solidFill>
            <a:schemeClr val="tx1"/>
          </a:solidFill>
          <a:latin typeface="Avenir LT Std 55 Roman"/>
          <a:ea typeface="Avenir LT Std 55 Roman" charset="0"/>
          <a:cs typeface="Avenir LT Std 55 Roman"/>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emf"/></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21.png"/><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emf"/><Relationship Id="rId3" Type="http://schemas.openxmlformats.org/officeDocument/2006/relationships/image" Target="../media/image24.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27.png"/><Relationship Id="rId1" Type="http://schemas.openxmlformats.org/officeDocument/2006/relationships/slideLayout" Target="../slideLayouts/slideLayout28.xml"/><Relationship Id="rId2" Type="http://schemas.openxmlformats.org/officeDocument/2006/relationships/notesSlide" Target="../notesSlides/notesSlide9.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4" Type="http://schemas.openxmlformats.org/officeDocument/2006/relationships/image" Target="../media/image29.png"/><Relationship Id="rId1" Type="http://schemas.openxmlformats.org/officeDocument/2006/relationships/slideLayout" Target="../slideLayouts/slideLayout28.xml"/><Relationship Id="rId2" Type="http://schemas.openxmlformats.org/officeDocument/2006/relationships/notesSlide" Target="../notesSlides/notesSlide10.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4" Type="http://schemas.openxmlformats.org/officeDocument/2006/relationships/image" Target="../media/image27.png"/><Relationship Id="rId1" Type="http://schemas.openxmlformats.org/officeDocument/2006/relationships/slideLayout" Target="../slideLayouts/slideLayout28.xml"/><Relationship Id="rId2" Type="http://schemas.openxmlformats.org/officeDocument/2006/relationships/notesSlide" Target="../notesSlides/notesSlide11.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hyperlink" Target="http://waterservices.usgs.gov/nwis/iv/?format=waterml,2.0&amp;sites=08158000&amp;period=P1D&amp;parameterCd=00060" TargetMode="External"/><Relationship Id="rId8" Type="http://schemas.openxmlformats.org/officeDocument/2006/relationships/image" Target="../media/image35.png"/><Relationship Id="rId1" Type="http://schemas.openxmlformats.org/officeDocument/2006/relationships/slideLayout" Target="../slideLayouts/slideLayout29.xml"/><Relationship Id="rId2" Type="http://schemas.openxmlformats.org/officeDocument/2006/relationships/notesSlide" Target="../notesSlides/notes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hyperlink" Target="http://external.opengis.org/twiki_public/bin/view/HydrologyDWG/GroundwaterInteroperabilityExperiment" TargetMode="External"/><Relationship Id="rId4" Type="http://schemas.openxmlformats.org/officeDocument/2006/relationships/hyperlink" Target="http://external.opengis.org/twiki_public/bin/view/HydrologyDWG/SurfacewaterInteroperabilityExperiment" TargetMode="External"/><Relationship Id="rId5" Type="http://schemas.openxmlformats.org/officeDocument/2006/relationships/hyperlink" Target="http://external.opengis.org/twiki_public/bin/view/HydrologyDWG/HydrologicForecastingInteroperabilityExperiment" TargetMode="External"/><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3" Type="http://schemas.openxmlformats.org/officeDocument/2006/relationships/hyperlink" Target="http://docs.opengeospatial.org/bp/14-003/14-003.html" TargetMode="External"/><Relationship Id="rId4" Type="http://schemas.openxmlformats.org/officeDocument/2006/relationships/hyperlink" Target="http://external.opengis.org/twiki_public/HydrologyDWG/WebHome" TargetMode="External"/><Relationship Id="rId5" Type="http://schemas.openxmlformats.org/officeDocument/2006/relationships/image" Target="../media/image36.png"/><Relationship Id="rId6" Type="http://schemas.openxmlformats.org/officeDocument/2006/relationships/image" Target="../media/image37.jpg"/><Relationship Id="rId1" Type="http://schemas.openxmlformats.org/officeDocument/2006/relationships/slideLayout" Target="../slideLayouts/slideLayout2.xml"/><Relationship Id="rId2" Type="http://schemas.openxmlformats.org/officeDocument/2006/relationships/hyperlink" Target="http://docs.opengeospatial.org/bp/14-004r1/14-004r1.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portal.opengeospatial.org/files/?artifact_id=64592" TargetMode="External"/><Relationship Id="rId4" Type="http://schemas.openxmlformats.org/officeDocument/2006/relationships/hyperlink" Target="https://portal.opengeospatial.org/files/?artifact_id=64593" TargetMode="External"/><Relationship Id="rId1" Type="http://schemas.openxmlformats.org/officeDocument/2006/relationships/slideLayout" Target="../slideLayouts/slideLayout2.xml"/><Relationship Id="rId2" Type="http://schemas.openxmlformats.org/officeDocument/2006/relationships/hyperlink" Target="opengeospatial.org/standards/requests/137"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8.wmf"/><Relationship Id="rId4" Type="http://schemas.openxmlformats.org/officeDocument/2006/relationships/hyperlink" Target="http://www.csiro.au/science/TasICTCentre.html" TargetMode="External"/><Relationship Id="rId5" Type="http://schemas.openxmlformats.org/officeDocument/2006/relationships/image" Target="../media/image39.png"/><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AU" dirty="0" err="1" smtClean="0"/>
              <a:t>WaterML</a:t>
            </a:r>
            <a:r>
              <a:rPr lang="en-AU" dirty="0" smtClean="0"/>
              <a:t> 2.0 + TimeseriesML (draft)</a:t>
            </a:r>
            <a:br>
              <a:rPr lang="en-AU" dirty="0" smtClean="0"/>
            </a:br>
            <a:r>
              <a:rPr lang="en-AU" sz="2400" dirty="0" smtClean="0"/>
              <a:t>Overview &amp; discussion</a:t>
            </a:r>
            <a:endParaRPr lang="en-AU" sz="2400" dirty="0"/>
          </a:p>
        </p:txBody>
      </p:sp>
      <p:sp>
        <p:nvSpPr>
          <p:cNvPr id="2051" name="Rectangle 3"/>
          <p:cNvSpPr>
            <a:spLocks noGrp="1" noChangeArrowheads="1"/>
          </p:cNvSpPr>
          <p:nvPr>
            <p:ph type="subTitle" idx="1"/>
          </p:nvPr>
        </p:nvSpPr>
        <p:spPr>
          <a:xfrm>
            <a:off x="1022399" y="5661025"/>
            <a:ext cx="3952875" cy="1008063"/>
          </a:xfrm>
        </p:spPr>
        <p:txBody>
          <a:bodyPr/>
          <a:lstStyle/>
          <a:p>
            <a:r>
              <a:rPr lang="en-AU" dirty="0" smtClean="0"/>
              <a:t>Peter Taylor</a:t>
            </a:r>
          </a:p>
          <a:p>
            <a:r>
              <a:rPr lang="en-AU" dirty="0" smtClean="0"/>
              <a:t>Research Engineer, CSIRO</a:t>
            </a:r>
          </a:p>
          <a:p>
            <a:r>
              <a:rPr lang="en-AU" dirty="0" smtClean="0"/>
              <a:t>2012-02-01</a:t>
            </a:r>
            <a:endParaRPr lang="en-AU" dirty="0"/>
          </a:p>
        </p:txBody>
      </p:sp>
      <p:sp>
        <p:nvSpPr>
          <p:cNvPr id="2" name="TextBox 1"/>
          <p:cNvSpPr txBox="1"/>
          <p:nvPr/>
        </p:nvSpPr>
        <p:spPr>
          <a:xfrm>
            <a:off x="3181660" y="2055763"/>
            <a:ext cx="184666" cy="369332"/>
          </a:xfrm>
          <a:prstGeom prst="rect">
            <a:avLst/>
          </a:prstGeom>
          <a:noFill/>
        </p:spPr>
        <p:txBody>
          <a:bodyPr wrap="none" rtlCol="0">
            <a:spAutoFit/>
          </a:bodyPr>
          <a:lstStyle/>
          <a:p>
            <a:endParaRPr lang="en-US" dirty="0"/>
          </a:p>
        </p:txBody>
      </p:sp>
      <p:sp>
        <p:nvSpPr>
          <p:cNvPr id="5" name="Rectangle 3"/>
          <p:cNvSpPr txBox="1">
            <a:spLocks noChangeArrowheads="1"/>
          </p:cNvSpPr>
          <p:nvPr/>
        </p:nvSpPr>
        <p:spPr bwMode="auto">
          <a:xfrm>
            <a:off x="4301180" y="5661025"/>
            <a:ext cx="3137830"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0" tIns="0" rIns="0" bIns="0" numCol="1" anchor="b" anchorCtr="0" compatLnSpc="1">
            <a:prstTxWarp prst="textNoShape">
              <a:avLst/>
            </a:prstTxWarp>
          </a:bodyPr>
          <a:lstStyle>
            <a:lvl1pPr marL="0" indent="0" algn="l" rtl="0" fontAlgn="base">
              <a:spcBef>
                <a:spcPct val="20000"/>
              </a:spcBef>
              <a:spcAft>
                <a:spcPct val="0"/>
              </a:spcAft>
              <a:buFontTx/>
              <a:buNone/>
              <a:defRPr sz="1600" b="1">
                <a:solidFill>
                  <a:srgbClr val="0099CC"/>
                </a:solidFill>
                <a:latin typeface="+mn-lt"/>
                <a:ea typeface="+mn-ea"/>
                <a:cs typeface="+mn-cs"/>
              </a:defRPr>
            </a:lvl1pPr>
            <a:lvl2pPr marL="538163" indent="-177800" algn="l" rtl="0" fontAlgn="base">
              <a:spcBef>
                <a:spcPct val="20000"/>
              </a:spcBef>
              <a:spcAft>
                <a:spcPct val="0"/>
              </a:spcAft>
              <a:buChar char="•"/>
              <a:defRPr>
                <a:solidFill>
                  <a:schemeClr val="tx1"/>
                </a:solidFill>
                <a:latin typeface="+mn-lt"/>
                <a:ea typeface="+mn-ea"/>
              </a:defRPr>
            </a:lvl2pPr>
            <a:lvl3pPr marL="893763" indent="-176213" algn="l" rtl="0" fontAlgn="base">
              <a:spcBef>
                <a:spcPct val="20000"/>
              </a:spcBef>
              <a:spcAft>
                <a:spcPct val="0"/>
              </a:spcAft>
              <a:buChar char="•"/>
              <a:defRPr sz="1600">
                <a:solidFill>
                  <a:schemeClr val="tx1"/>
                </a:solidFill>
                <a:latin typeface="+mn-lt"/>
                <a:ea typeface="+mn-ea"/>
              </a:defRPr>
            </a:lvl3pPr>
            <a:lvl4pPr marL="1257300" indent="-180975" algn="l" rtl="0" fontAlgn="base">
              <a:spcBef>
                <a:spcPct val="20000"/>
              </a:spcBef>
              <a:spcAft>
                <a:spcPct val="0"/>
              </a:spcAft>
              <a:buChar char="•"/>
              <a:defRPr sz="1400">
                <a:solidFill>
                  <a:schemeClr val="tx1"/>
                </a:solidFill>
                <a:latin typeface="+mn-lt"/>
                <a:ea typeface="+mn-ea"/>
              </a:defRPr>
            </a:lvl4pPr>
            <a:lvl5pPr marL="1617663" indent="-180975" algn="l" rtl="0" fontAlgn="base">
              <a:spcBef>
                <a:spcPct val="20000"/>
              </a:spcBef>
              <a:spcAft>
                <a:spcPct val="0"/>
              </a:spcAft>
              <a:buChar char="•"/>
              <a:defRPr sz="1400">
                <a:solidFill>
                  <a:schemeClr val="tx1"/>
                </a:solidFill>
                <a:latin typeface="+mn-lt"/>
                <a:ea typeface="+mn-ea"/>
              </a:defRPr>
            </a:lvl5pPr>
            <a:lvl6pPr marL="2074863" indent="-180975" algn="l" rtl="0" fontAlgn="base">
              <a:spcBef>
                <a:spcPct val="20000"/>
              </a:spcBef>
              <a:spcAft>
                <a:spcPct val="0"/>
              </a:spcAft>
              <a:buChar char="•"/>
              <a:defRPr sz="1400">
                <a:solidFill>
                  <a:schemeClr val="tx1"/>
                </a:solidFill>
                <a:latin typeface="+mn-lt"/>
                <a:ea typeface="+mn-ea"/>
              </a:defRPr>
            </a:lvl6pPr>
            <a:lvl7pPr marL="2532063" indent="-180975" algn="l" rtl="0" fontAlgn="base">
              <a:spcBef>
                <a:spcPct val="20000"/>
              </a:spcBef>
              <a:spcAft>
                <a:spcPct val="0"/>
              </a:spcAft>
              <a:buChar char="•"/>
              <a:defRPr sz="1400">
                <a:solidFill>
                  <a:schemeClr val="tx1"/>
                </a:solidFill>
                <a:latin typeface="+mn-lt"/>
                <a:ea typeface="+mn-ea"/>
              </a:defRPr>
            </a:lvl7pPr>
            <a:lvl8pPr marL="2989263" indent="-180975" algn="l" rtl="0" fontAlgn="base">
              <a:spcBef>
                <a:spcPct val="20000"/>
              </a:spcBef>
              <a:spcAft>
                <a:spcPct val="0"/>
              </a:spcAft>
              <a:buChar char="•"/>
              <a:defRPr sz="1400">
                <a:solidFill>
                  <a:schemeClr val="tx1"/>
                </a:solidFill>
                <a:latin typeface="+mn-lt"/>
                <a:ea typeface="+mn-ea"/>
              </a:defRPr>
            </a:lvl8pPr>
            <a:lvl9pPr marL="3446463" indent="-180975" algn="l" rtl="0" fontAlgn="base">
              <a:spcBef>
                <a:spcPct val="20000"/>
              </a:spcBef>
              <a:spcAft>
                <a:spcPct val="0"/>
              </a:spcAft>
              <a:buChar char="•"/>
              <a:defRPr sz="1400">
                <a:solidFill>
                  <a:schemeClr val="tx1"/>
                </a:solidFill>
                <a:latin typeface="+mn-lt"/>
                <a:ea typeface="+mn-ea"/>
              </a:defRPr>
            </a:lvl9pPr>
          </a:lstStyle>
          <a:p>
            <a:r>
              <a:rPr lang="en-AU" dirty="0" smtClean="0">
                <a:solidFill>
                  <a:schemeClr val="accent1">
                    <a:lumMod val="50000"/>
                  </a:schemeClr>
                </a:solidFill>
              </a:rPr>
              <a:t>David Arctur </a:t>
            </a:r>
            <a:r>
              <a:rPr lang="en-AU" b="0" i="1" dirty="0" smtClean="0">
                <a:solidFill>
                  <a:schemeClr val="accent1">
                    <a:lumMod val="50000"/>
                  </a:schemeClr>
                </a:solidFill>
              </a:rPr>
              <a:t>(updates)</a:t>
            </a:r>
          </a:p>
          <a:p>
            <a:r>
              <a:rPr lang="en-AU" dirty="0" smtClean="0">
                <a:solidFill>
                  <a:schemeClr val="accent1">
                    <a:lumMod val="50000"/>
                  </a:schemeClr>
                </a:solidFill>
              </a:rPr>
              <a:t>Research Scientist, UT Austin</a:t>
            </a:r>
          </a:p>
          <a:p>
            <a:r>
              <a:rPr lang="en-AU" dirty="0" smtClean="0">
                <a:solidFill>
                  <a:schemeClr val="accent1">
                    <a:lumMod val="50000"/>
                  </a:schemeClr>
                </a:solidFill>
              </a:rPr>
              <a:t>2015-09-01 for NASA ESDSWG</a:t>
            </a:r>
            <a:endParaRPr lang="en-AU" dirty="0">
              <a:solidFill>
                <a:schemeClr val="accent1">
                  <a:lumMod val="50000"/>
                </a:schemeClr>
              </a:solidFill>
            </a:endParaRPr>
          </a:p>
        </p:txBody>
      </p:sp>
    </p:spTree>
    <p:extLst>
      <p:ext uri="{BB962C8B-B14F-4D97-AF65-F5344CB8AC3E}">
        <p14:creationId xmlns:p14="http://schemas.microsoft.com/office/powerpoint/2010/main" val="1064867640"/>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I’ll cover</a:t>
            </a:r>
            <a:endParaRPr lang="en-US" dirty="0"/>
          </a:p>
        </p:txBody>
      </p:sp>
      <p:sp>
        <p:nvSpPr>
          <p:cNvPr id="3" name="Content Placeholder 2"/>
          <p:cNvSpPr>
            <a:spLocks noGrp="1"/>
          </p:cNvSpPr>
          <p:nvPr>
            <p:ph idx="1"/>
          </p:nvPr>
        </p:nvSpPr>
        <p:spPr/>
        <p:txBody>
          <a:bodyPr/>
          <a:lstStyle/>
          <a:p>
            <a:r>
              <a:rPr lang="en-US" sz="2400" dirty="0" smtClean="0"/>
              <a:t>History</a:t>
            </a:r>
          </a:p>
          <a:p>
            <a:endParaRPr lang="en-US" sz="2400" dirty="0"/>
          </a:p>
          <a:p>
            <a:r>
              <a:rPr lang="en-US" sz="2400" dirty="0" smtClean="0"/>
              <a:t>Requirements and constraints</a:t>
            </a:r>
          </a:p>
          <a:p>
            <a:endParaRPr lang="en-US" sz="2400" dirty="0"/>
          </a:p>
          <a:p>
            <a:r>
              <a:rPr lang="en-US" sz="2400" dirty="0" smtClean="0"/>
              <a:t>Overview of the information model</a:t>
            </a:r>
          </a:p>
          <a:p>
            <a:endParaRPr lang="en-US" sz="2400" dirty="0" smtClean="0"/>
          </a:p>
          <a:p>
            <a:r>
              <a:rPr lang="en-US" sz="2400" dirty="0" smtClean="0"/>
              <a:t>Usage</a:t>
            </a:r>
          </a:p>
          <a:p>
            <a:endParaRPr lang="en-US" sz="2400" dirty="0"/>
          </a:p>
          <a:p>
            <a:r>
              <a:rPr lang="en-US" sz="2400" dirty="0" smtClean="0"/>
              <a:t>Future work &amp; discussion</a:t>
            </a:r>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spTree>
    <p:extLst>
      <p:ext uri="{BB962C8B-B14F-4D97-AF65-F5344CB8AC3E}">
        <p14:creationId xmlns:p14="http://schemas.microsoft.com/office/powerpoint/2010/main" val="68942647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problem</a:t>
            </a:r>
            <a:endParaRPr lang="en-US" dirty="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sp>
        <p:nvSpPr>
          <p:cNvPr id="5" name="Line 12"/>
          <p:cNvSpPr>
            <a:spLocks noChangeShapeType="1"/>
          </p:cNvSpPr>
          <p:nvPr/>
        </p:nvSpPr>
        <p:spPr bwMode="auto">
          <a:xfrm flipV="1">
            <a:off x="1125538" y="2359025"/>
            <a:ext cx="158750" cy="2857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3"/>
          <p:cNvSpPr>
            <a:spLocks noChangeShapeType="1"/>
          </p:cNvSpPr>
          <p:nvPr/>
        </p:nvSpPr>
        <p:spPr bwMode="auto">
          <a:xfrm flipH="1" flipV="1">
            <a:off x="1290638" y="2351088"/>
            <a:ext cx="179387" cy="3048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Line 14"/>
          <p:cNvSpPr>
            <a:spLocks noChangeShapeType="1"/>
          </p:cNvSpPr>
          <p:nvPr/>
        </p:nvSpPr>
        <p:spPr bwMode="auto">
          <a:xfrm>
            <a:off x="1285875" y="2052638"/>
            <a:ext cx="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Line 15"/>
          <p:cNvSpPr>
            <a:spLocks noChangeShapeType="1"/>
          </p:cNvSpPr>
          <p:nvPr/>
        </p:nvSpPr>
        <p:spPr bwMode="auto">
          <a:xfrm flipH="1">
            <a:off x="1081088" y="2038350"/>
            <a:ext cx="185737" cy="265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Line 16"/>
          <p:cNvSpPr>
            <a:spLocks noChangeShapeType="1"/>
          </p:cNvSpPr>
          <p:nvPr/>
        </p:nvSpPr>
        <p:spPr bwMode="auto">
          <a:xfrm flipH="1" flipV="1">
            <a:off x="1293813" y="2025650"/>
            <a:ext cx="204787" cy="225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Oval 17"/>
          <p:cNvSpPr>
            <a:spLocks noChangeArrowheads="1"/>
          </p:cNvSpPr>
          <p:nvPr/>
        </p:nvSpPr>
        <p:spPr bwMode="auto">
          <a:xfrm>
            <a:off x="1141413" y="1739900"/>
            <a:ext cx="290512" cy="292100"/>
          </a:xfrm>
          <a:prstGeom prst="ellipse">
            <a:avLst/>
          </a:prstGeom>
          <a:solidFill>
            <a:srgbClr val="FFFFFF"/>
          </a:solidFill>
          <a:ln w="9525">
            <a:solidFill>
              <a:srgbClr val="000000"/>
            </a:solidFill>
            <a:round/>
            <a:headEnd/>
            <a:tailEnd/>
          </a:ln>
        </p:spPr>
        <p:txBody>
          <a:bodyPr wrap="none" anchor="ctr"/>
          <a:lstStyle/>
          <a:p>
            <a:endParaRPr lang="en-US"/>
          </a:p>
        </p:txBody>
      </p:sp>
      <p:sp>
        <p:nvSpPr>
          <p:cNvPr id="11" name="Text Box 18"/>
          <p:cNvSpPr txBox="1">
            <a:spLocks noChangeArrowheads="1"/>
          </p:cNvSpPr>
          <p:nvPr/>
        </p:nvSpPr>
        <p:spPr bwMode="auto">
          <a:xfrm>
            <a:off x="1441450" y="1341438"/>
            <a:ext cx="1771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AU"/>
              <a:t>Need flow data!</a:t>
            </a:r>
          </a:p>
        </p:txBody>
      </p:sp>
      <p:sp>
        <p:nvSpPr>
          <p:cNvPr id="12" name="Line 19"/>
          <p:cNvSpPr>
            <a:spLocks noChangeShapeType="1"/>
          </p:cNvSpPr>
          <p:nvPr/>
        </p:nvSpPr>
        <p:spPr bwMode="auto">
          <a:xfrm flipV="1">
            <a:off x="1616075" y="1693863"/>
            <a:ext cx="342900" cy="509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32"/>
          <p:cNvSpPr>
            <a:spLocks noChangeShapeType="1"/>
          </p:cNvSpPr>
          <p:nvPr/>
        </p:nvSpPr>
        <p:spPr bwMode="auto">
          <a:xfrm flipV="1">
            <a:off x="7354888" y="2530475"/>
            <a:ext cx="158750" cy="2857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Line 33"/>
          <p:cNvSpPr>
            <a:spLocks noChangeShapeType="1"/>
          </p:cNvSpPr>
          <p:nvPr/>
        </p:nvSpPr>
        <p:spPr bwMode="auto">
          <a:xfrm flipH="1" flipV="1">
            <a:off x="7519988" y="2522538"/>
            <a:ext cx="179387" cy="3048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Line 34"/>
          <p:cNvSpPr>
            <a:spLocks noChangeShapeType="1"/>
          </p:cNvSpPr>
          <p:nvPr/>
        </p:nvSpPr>
        <p:spPr bwMode="auto">
          <a:xfrm>
            <a:off x="7515225" y="2224088"/>
            <a:ext cx="0" cy="298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Line 35"/>
          <p:cNvSpPr>
            <a:spLocks noChangeShapeType="1"/>
          </p:cNvSpPr>
          <p:nvPr/>
        </p:nvSpPr>
        <p:spPr bwMode="auto">
          <a:xfrm flipH="1">
            <a:off x="7310438" y="2209800"/>
            <a:ext cx="185737" cy="265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Line 36"/>
          <p:cNvSpPr>
            <a:spLocks noChangeShapeType="1"/>
          </p:cNvSpPr>
          <p:nvPr/>
        </p:nvSpPr>
        <p:spPr bwMode="auto">
          <a:xfrm flipH="1" flipV="1">
            <a:off x="7523163" y="2197100"/>
            <a:ext cx="204787" cy="225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 name="Oval 37"/>
          <p:cNvSpPr>
            <a:spLocks noChangeArrowheads="1"/>
          </p:cNvSpPr>
          <p:nvPr/>
        </p:nvSpPr>
        <p:spPr bwMode="auto">
          <a:xfrm>
            <a:off x="7370763" y="1911350"/>
            <a:ext cx="290512" cy="292100"/>
          </a:xfrm>
          <a:prstGeom prst="ellipse">
            <a:avLst/>
          </a:prstGeom>
          <a:solidFill>
            <a:srgbClr val="FFFFFF"/>
          </a:solidFill>
          <a:ln w="9525">
            <a:solidFill>
              <a:srgbClr val="000000"/>
            </a:solidFill>
            <a:round/>
            <a:headEnd/>
            <a:tailEnd/>
          </a:ln>
        </p:spPr>
        <p:txBody>
          <a:bodyPr wrap="none" anchor="ctr"/>
          <a:lstStyle/>
          <a:p>
            <a:endParaRPr lang="en-US"/>
          </a:p>
        </p:txBody>
      </p:sp>
      <p:sp>
        <p:nvSpPr>
          <p:cNvPr id="19" name="Text Box 39"/>
          <p:cNvSpPr txBox="1">
            <a:spLocks noChangeArrowheads="1"/>
          </p:cNvSpPr>
          <p:nvPr/>
        </p:nvSpPr>
        <p:spPr bwMode="auto">
          <a:xfrm>
            <a:off x="1917700" y="1557338"/>
            <a:ext cx="27506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AU" dirty="0" smtClean="0"/>
              <a:t>I’ll ring Don, he Has Data</a:t>
            </a:r>
            <a:endParaRPr lang="en-AU" dirty="0"/>
          </a:p>
        </p:txBody>
      </p:sp>
      <p:sp>
        <p:nvSpPr>
          <p:cNvPr id="20" name="Text Box 40"/>
          <p:cNvSpPr txBox="1">
            <a:spLocks noChangeArrowheads="1"/>
          </p:cNvSpPr>
          <p:nvPr/>
        </p:nvSpPr>
        <p:spPr bwMode="auto">
          <a:xfrm>
            <a:off x="6218238" y="3352800"/>
            <a:ext cx="2647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endParaRPr lang="en-US"/>
          </a:p>
        </p:txBody>
      </p:sp>
      <p:sp>
        <p:nvSpPr>
          <p:cNvPr id="21" name="Text Box 41"/>
          <p:cNvSpPr txBox="1">
            <a:spLocks noChangeArrowheads="1"/>
          </p:cNvSpPr>
          <p:nvPr/>
        </p:nvSpPr>
        <p:spPr bwMode="auto">
          <a:xfrm>
            <a:off x="1965325" y="1995488"/>
            <a:ext cx="2503488" cy="187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*RING RING*</a:t>
            </a:r>
          </a:p>
          <a:p>
            <a:pPr eaLnBrk="1" hangingPunct="1">
              <a:spcBef>
                <a:spcPct val="50000"/>
              </a:spcBef>
            </a:pPr>
            <a:r>
              <a:rPr lang="en-AU"/>
              <a:t>Hi Don, I need some upper Derwent flow readings for my geochemical model. Any ideas?</a:t>
            </a:r>
          </a:p>
        </p:txBody>
      </p:sp>
      <p:sp>
        <p:nvSpPr>
          <p:cNvPr id="22" name="Text Box 42"/>
          <p:cNvSpPr txBox="1">
            <a:spLocks noChangeArrowheads="1"/>
          </p:cNvSpPr>
          <p:nvPr/>
        </p:nvSpPr>
        <p:spPr bwMode="auto">
          <a:xfrm>
            <a:off x="6296025" y="1309688"/>
            <a:ext cx="2503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Don</a:t>
            </a:r>
          </a:p>
        </p:txBody>
      </p:sp>
      <p:sp>
        <p:nvSpPr>
          <p:cNvPr id="23" name="Line 43"/>
          <p:cNvSpPr>
            <a:spLocks noChangeShapeType="1"/>
          </p:cNvSpPr>
          <p:nvPr/>
        </p:nvSpPr>
        <p:spPr bwMode="auto">
          <a:xfrm>
            <a:off x="6565900" y="1651000"/>
            <a:ext cx="393700" cy="292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 name="Text Box 44"/>
          <p:cNvSpPr txBox="1">
            <a:spLocks noChangeArrowheads="1"/>
          </p:cNvSpPr>
          <p:nvPr/>
        </p:nvSpPr>
        <p:spPr bwMode="auto">
          <a:xfrm>
            <a:off x="4683125" y="2122488"/>
            <a:ext cx="26685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Hmm, I</a:t>
            </a:r>
            <a:r>
              <a:rPr lang="ja-JP" altLang="en-AU"/>
              <a:t>’</a:t>
            </a:r>
            <a:r>
              <a:rPr lang="en-AU"/>
              <a:t>ve got one site. I</a:t>
            </a:r>
            <a:r>
              <a:rPr lang="ja-JP" altLang="en-AU"/>
              <a:t>’</a:t>
            </a:r>
            <a:r>
              <a:rPr lang="en-AU"/>
              <a:t>ll send it through…</a:t>
            </a:r>
          </a:p>
        </p:txBody>
      </p:sp>
      <p:sp>
        <p:nvSpPr>
          <p:cNvPr id="25" name="Text Box 45"/>
          <p:cNvSpPr txBox="1">
            <a:spLocks noChangeArrowheads="1"/>
          </p:cNvSpPr>
          <p:nvPr/>
        </p:nvSpPr>
        <p:spPr bwMode="auto">
          <a:xfrm>
            <a:off x="4391025" y="2871788"/>
            <a:ext cx="2503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sz="2400">
                <a:solidFill>
                  <a:schemeClr val="hlink"/>
                </a:solidFill>
              </a:rPr>
              <a:t>10 minutes…</a:t>
            </a:r>
          </a:p>
        </p:txBody>
      </p:sp>
      <p:sp>
        <p:nvSpPr>
          <p:cNvPr id="26" name="AutoShape 46"/>
          <p:cNvSpPr>
            <a:spLocks noChangeArrowheads="1"/>
          </p:cNvSpPr>
          <p:nvPr/>
        </p:nvSpPr>
        <p:spPr bwMode="auto">
          <a:xfrm>
            <a:off x="4813300" y="1930400"/>
            <a:ext cx="1930400" cy="1206500"/>
          </a:xfrm>
          <a:prstGeom prst="foldedCorner">
            <a:avLst>
              <a:gd name="adj" fmla="val 12500"/>
            </a:avLst>
          </a:prstGeom>
          <a:solidFill>
            <a:schemeClr val="tx2"/>
          </a:solidFill>
          <a:ln w="9525">
            <a:solidFill>
              <a:schemeClr val="tx1"/>
            </a:solidFill>
            <a:round/>
            <a:headEnd/>
            <a:tailEnd/>
          </a:ln>
        </p:spPr>
        <p:txBody>
          <a:bodyPr wrap="none" anchor="ctr"/>
          <a:lstStyle/>
          <a:p>
            <a:pPr algn="ctr"/>
            <a:endParaRPr lang="en-AU" sz="1600"/>
          </a:p>
          <a:p>
            <a:pPr algn="ctr"/>
            <a:r>
              <a:rPr lang="en-AU" sz="1600" b="1"/>
              <a:t>To: Jack</a:t>
            </a:r>
          </a:p>
          <a:p>
            <a:pPr algn="ctr"/>
            <a:r>
              <a:rPr lang="en-AU" sz="1600"/>
              <a:t>01/02/09, 3.2, 3, 1</a:t>
            </a:r>
          </a:p>
          <a:p>
            <a:pPr algn="ctr"/>
            <a:r>
              <a:rPr lang="en-AU" sz="1600"/>
              <a:t>01/02/09, 3.1, 3, 1</a:t>
            </a:r>
          </a:p>
          <a:p>
            <a:pPr algn="ctr"/>
            <a:endParaRPr lang="en-AU" sz="1600"/>
          </a:p>
          <a:p>
            <a:pPr algn="ctr"/>
            <a:endParaRPr lang="en-AU" sz="1600"/>
          </a:p>
        </p:txBody>
      </p:sp>
      <p:sp>
        <p:nvSpPr>
          <p:cNvPr id="27" name="AutoShape 48"/>
          <p:cNvSpPr>
            <a:spLocks noChangeArrowheads="1"/>
          </p:cNvSpPr>
          <p:nvPr/>
        </p:nvSpPr>
        <p:spPr bwMode="auto">
          <a:xfrm>
            <a:off x="3530600" y="2362200"/>
            <a:ext cx="1104900" cy="228600"/>
          </a:xfrm>
          <a:prstGeom prst="leftArrow">
            <a:avLst>
              <a:gd name="adj1" fmla="val 50000"/>
              <a:gd name="adj2" fmla="val 120833"/>
            </a:avLst>
          </a:prstGeom>
          <a:solidFill>
            <a:schemeClr val="accent1"/>
          </a:solidFill>
          <a:ln w="9525">
            <a:solidFill>
              <a:schemeClr val="tx1"/>
            </a:solidFill>
            <a:miter lim="800000"/>
            <a:headEnd/>
            <a:tailEnd/>
          </a:ln>
        </p:spPr>
        <p:txBody>
          <a:bodyPr wrap="none" anchor="ctr"/>
          <a:lstStyle/>
          <a:p>
            <a:endParaRPr lang="en-US"/>
          </a:p>
        </p:txBody>
      </p:sp>
      <p:sp>
        <p:nvSpPr>
          <p:cNvPr id="28" name="Text Box 50"/>
          <p:cNvSpPr txBox="1">
            <a:spLocks noChangeArrowheads="1"/>
          </p:cNvSpPr>
          <p:nvPr/>
        </p:nvSpPr>
        <p:spPr bwMode="auto">
          <a:xfrm>
            <a:off x="669925" y="2757488"/>
            <a:ext cx="2503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sz="2400">
                <a:solidFill>
                  <a:schemeClr val="hlink"/>
                </a:solidFill>
              </a:rPr>
              <a:t>10 minutes…</a:t>
            </a:r>
          </a:p>
        </p:txBody>
      </p:sp>
      <p:sp>
        <p:nvSpPr>
          <p:cNvPr id="29" name="Text Box 51"/>
          <p:cNvSpPr txBox="1">
            <a:spLocks noChangeArrowheads="1"/>
          </p:cNvSpPr>
          <p:nvPr/>
        </p:nvSpPr>
        <p:spPr bwMode="auto">
          <a:xfrm>
            <a:off x="682625" y="2706688"/>
            <a:ext cx="2414588" cy="132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*RING RING*</a:t>
            </a:r>
          </a:p>
          <a:p>
            <a:pPr eaLnBrk="1" hangingPunct="1">
              <a:spcBef>
                <a:spcPct val="50000"/>
              </a:spcBef>
            </a:pPr>
            <a:r>
              <a:rPr lang="en-AU"/>
              <a:t>Ok. Got the data. Where is the site located?</a:t>
            </a:r>
          </a:p>
        </p:txBody>
      </p:sp>
      <p:sp>
        <p:nvSpPr>
          <p:cNvPr id="30" name="Text Box 52"/>
          <p:cNvSpPr txBox="1">
            <a:spLocks noChangeArrowheads="1"/>
          </p:cNvSpPr>
          <p:nvPr/>
        </p:nvSpPr>
        <p:spPr bwMode="auto">
          <a:xfrm>
            <a:off x="5203825" y="3262313"/>
            <a:ext cx="3308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AU" dirty="0"/>
              <a:t>Oh, </a:t>
            </a:r>
            <a:r>
              <a:rPr lang="en-AU" dirty="0" smtClean="0"/>
              <a:t>it’s </a:t>
            </a:r>
            <a:r>
              <a:rPr lang="en-AU" dirty="0"/>
              <a:t>at laughing jack bridge.</a:t>
            </a:r>
          </a:p>
        </p:txBody>
      </p:sp>
      <p:sp>
        <p:nvSpPr>
          <p:cNvPr id="31" name="Text Box 53"/>
          <p:cNvSpPr txBox="1">
            <a:spLocks noChangeArrowheads="1"/>
          </p:cNvSpPr>
          <p:nvPr/>
        </p:nvSpPr>
        <p:spPr bwMode="auto">
          <a:xfrm>
            <a:off x="657225" y="4014788"/>
            <a:ext cx="2414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Coordinates?</a:t>
            </a:r>
          </a:p>
        </p:txBody>
      </p:sp>
      <p:sp>
        <p:nvSpPr>
          <p:cNvPr id="32" name="Text Box 54"/>
          <p:cNvSpPr txBox="1">
            <a:spLocks noChangeArrowheads="1"/>
          </p:cNvSpPr>
          <p:nvPr/>
        </p:nvSpPr>
        <p:spPr bwMode="auto">
          <a:xfrm>
            <a:off x="5026025" y="3808413"/>
            <a:ext cx="2635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AU"/>
              <a:t>Ummm. (papers shuffle)</a:t>
            </a:r>
          </a:p>
          <a:p>
            <a:pPr eaLnBrk="1" hangingPunct="1"/>
            <a:r>
              <a:rPr lang="en-AU"/>
              <a:t>147.123 -41.588</a:t>
            </a:r>
          </a:p>
        </p:txBody>
      </p:sp>
      <p:sp>
        <p:nvSpPr>
          <p:cNvPr id="33" name="Text Box 55"/>
          <p:cNvSpPr txBox="1">
            <a:spLocks noChangeArrowheads="1"/>
          </p:cNvSpPr>
          <p:nvPr/>
        </p:nvSpPr>
        <p:spPr bwMode="auto">
          <a:xfrm>
            <a:off x="708025" y="4375150"/>
            <a:ext cx="24145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What reference system??</a:t>
            </a:r>
          </a:p>
        </p:txBody>
      </p:sp>
      <p:sp>
        <p:nvSpPr>
          <p:cNvPr id="34" name="Text Box 56"/>
          <p:cNvSpPr txBox="1">
            <a:spLocks noChangeArrowheads="1"/>
          </p:cNvSpPr>
          <p:nvPr/>
        </p:nvSpPr>
        <p:spPr bwMode="auto">
          <a:xfrm>
            <a:off x="4746625" y="4451350"/>
            <a:ext cx="2414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I think it</a:t>
            </a:r>
            <a:r>
              <a:rPr lang="ja-JP" altLang="en-AU"/>
              <a:t>’</a:t>
            </a:r>
            <a:r>
              <a:rPr lang="en-AU"/>
              <a:t>s GDA94</a:t>
            </a:r>
          </a:p>
        </p:txBody>
      </p:sp>
      <p:sp>
        <p:nvSpPr>
          <p:cNvPr id="35" name="Text Box 57"/>
          <p:cNvSpPr txBox="1">
            <a:spLocks noChangeArrowheads="1"/>
          </p:cNvSpPr>
          <p:nvPr/>
        </p:nvSpPr>
        <p:spPr bwMode="auto">
          <a:xfrm>
            <a:off x="479425" y="4959350"/>
            <a:ext cx="24145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Ok. What sensor is used?</a:t>
            </a:r>
          </a:p>
        </p:txBody>
      </p:sp>
      <p:sp>
        <p:nvSpPr>
          <p:cNvPr id="36" name="Text Box 58"/>
          <p:cNvSpPr txBox="1">
            <a:spLocks noChangeArrowheads="1"/>
          </p:cNvSpPr>
          <p:nvPr/>
        </p:nvSpPr>
        <p:spPr bwMode="auto">
          <a:xfrm>
            <a:off x="4505325" y="4845050"/>
            <a:ext cx="3405188"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It</a:t>
            </a:r>
            <a:r>
              <a:rPr lang="ja-JP" altLang="en-AU"/>
              <a:t>’</a:t>
            </a:r>
            <a:r>
              <a:rPr lang="en-AU"/>
              <a:t>s calculated from the stream gauge reading using a rating curve..</a:t>
            </a:r>
          </a:p>
        </p:txBody>
      </p:sp>
      <p:sp>
        <p:nvSpPr>
          <p:cNvPr id="37" name="Text Box 59"/>
          <p:cNvSpPr txBox="1">
            <a:spLocks noChangeArrowheads="1"/>
          </p:cNvSpPr>
          <p:nvPr/>
        </p:nvSpPr>
        <p:spPr bwMode="auto">
          <a:xfrm>
            <a:off x="568325" y="5492750"/>
            <a:ext cx="24145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Oh…how accurate is that?</a:t>
            </a:r>
          </a:p>
        </p:txBody>
      </p:sp>
      <p:sp>
        <p:nvSpPr>
          <p:cNvPr id="38" name="Text Box 60"/>
          <p:cNvSpPr txBox="1">
            <a:spLocks noChangeArrowheads="1"/>
          </p:cNvSpPr>
          <p:nvPr/>
        </p:nvSpPr>
        <p:spPr bwMode="auto">
          <a:xfrm>
            <a:off x="3984625" y="5688013"/>
            <a:ext cx="3405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Umm......</a:t>
            </a:r>
          </a:p>
        </p:txBody>
      </p:sp>
      <p:sp>
        <p:nvSpPr>
          <p:cNvPr id="39" name="Text Box 62"/>
          <p:cNvSpPr txBox="1">
            <a:spLocks noChangeArrowheads="1"/>
          </p:cNvSpPr>
          <p:nvPr/>
        </p:nvSpPr>
        <p:spPr bwMode="auto">
          <a:xfrm>
            <a:off x="593725" y="6076950"/>
            <a:ext cx="2414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DON?</a:t>
            </a:r>
          </a:p>
        </p:txBody>
      </p:sp>
      <p:sp>
        <p:nvSpPr>
          <p:cNvPr id="40" name="Text Box 63"/>
          <p:cNvSpPr txBox="1">
            <a:spLocks noChangeArrowheads="1"/>
          </p:cNvSpPr>
          <p:nvPr/>
        </p:nvSpPr>
        <p:spPr bwMode="auto">
          <a:xfrm>
            <a:off x="669925" y="1144588"/>
            <a:ext cx="2503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Hydro Jack</a:t>
            </a:r>
          </a:p>
        </p:txBody>
      </p:sp>
      <p:sp>
        <p:nvSpPr>
          <p:cNvPr id="41" name="Line 64"/>
          <p:cNvSpPr>
            <a:spLocks noChangeShapeType="1"/>
          </p:cNvSpPr>
          <p:nvPr/>
        </p:nvSpPr>
        <p:spPr bwMode="auto">
          <a:xfrm>
            <a:off x="850900" y="1498600"/>
            <a:ext cx="241300" cy="292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 name="Text Box 68"/>
          <p:cNvSpPr txBox="1">
            <a:spLocks noChangeArrowheads="1"/>
          </p:cNvSpPr>
          <p:nvPr/>
        </p:nvSpPr>
        <p:spPr bwMode="auto">
          <a:xfrm>
            <a:off x="3851275" y="6092825"/>
            <a:ext cx="34051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r>
              <a:rPr lang="en-AU"/>
              <a:t>*CLICK*</a:t>
            </a:r>
          </a:p>
        </p:txBody>
      </p:sp>
    </p:spTree>
    <p:extLst>
      <p:ext uri="{BB962C8B-B14F-4D97-AF65-F5344CB8AC3E}">
        <p14:creationId xmlns:p14="http://schemas.microsoft.com/office/powerpoint/2010/main" val="243113223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 calcmode="lin" valueType="num">
                                      <p:cBhvr additive="base">
                                        <p:cTn id="27" dur="500" fill="hold"/>
                                        <p:tgtEl>
                                          <p:spTgt spid="41"/>
                                        </p:tgtEl>
                                        <p:attrNameLst>
                                          <p:attrName>ppt_x</p:attrName>
                                        </p:attrNameLst>
                                      </p:cBhvr>
                                      <p:tavLst>
                                        <p:tav tm="0">
                                          <p:val>
                                            <p:strVal val="#ppt_x"/>
                                          </p:val>
                                        </p:tav>
                                        <p:tav tm="100000">
                                          <p:val>
                                            <p:strVal val="#ppt_x"/>
                                          </p:val>
                                        </p:tav>
                                      </p:tavLst>
                                    </p:anim>
                                    <p:anim calcmode="lin" valueType="num">
                                      <p:cBhvr additive="base">
                                        <p:cTn id="28" dur="500" fill="hold"/>
                                        <p:tgtEl>
                                          <p:spTgt spid="4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anim calcmode="lin" valueType="num">
                                      <p:cBhvr additive="base">
                                        <p:cTn id="31" dur="500" fill="hold"/>
                                        <p:tgtEl>
                                          <p:spTgt spid="40"/>
                                        </p:tgtEl>
                                        <p:attrNameLst>
                                          <p:attrName>ppt_x</p:attrName>
                                        </p:attrNameLst>
                                      </p:cBhvr>
                                      <p:tavLst>
                                        <p:tav tm="0">
                                          <p:val>
                                            <p:strVal val="#ppt_x"/>
                                          </p:val>
                                        </p:tav>
                                        <p:tav tm="100000">
                                          <p:val>
                                            <p:strVal val="#ppt_x"/>
                                          </p:val>
                                        </p:tav>
                                      </p:tavLst>
                                    </p:anim>
                                    <p:anim calcmode="lin" valueType="num">
                                      <p:cBhvr additive="base">
                                        <p:cTn id="32" dur="500" fill="hold"/>
                                        <p:tgtEl>
                                          <p:spTgt spid="4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 calcmode="lin" valueType="num">
                                      <p:cBhvr additive="base">
                                        <p:cTn id="57" dur="500" fill="hold"/>
                                        <p:tgtEl>
                                          <p:spTgt spid="21"/>
                                        </p:tgtEl>
                                        <p:attrNameLst>
                                          <p:attrName>ppt_x</p:attrName>
                                        </p:attrNameLst>
                                      </p:cBhvr>
                                      <p:tavLst>
                                        <p:tav tm="0">
                                          <p:val>
                                            <p:strVal val="#ppt_x"/>
                                          </p:val>
                                        </p:tav>
                                        <p:tav tm="100000">
                                          <p:val>
                                            <p:strVal val="#ppt_x"/>
                                          </p:val>
                                        </p:tav>
                                      </p:tavLst>
                                    </p:anim>
                                    <p:anim calcmode="lin" valueType="num">
                                      <p:cBhvr additive="base">
                                        <p:cTn id="5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 calcmode="lin" valueType="num">
                                      <p:cBhvr additive="base">
                                        <p:cTn id="63" dur="500" fill="hold"/>
                                        <p:tgtEl>
                                          <p:spTgt spid="13"/>
                                        </p:tgtEl>
                                        <p:attrNameLst>
                                          <p:attrName>ppt_x</p:attrName>
                                        </p:attrNameLst>
                                      </p:cBhvr>
                                      <p:tavLst>
                                        <p:tav tm="0">
                                          <p:val>
                                            <p:strVal val="#ppt_x"/>
                                          </p:val>
                                        </p:tav>
                                        <p:tav tm="100000">
                                          <p:val>
                                            <p:strVal val="#ppt_x"/>
                                          </p:val>
                                        </p:tav>
                                      </p:tavLst>
                                    </p:anim>
                                    <p:anim calcmode="lin" valueType="num">
                                      <p:cBhvr additive="base">
                                        <p:cTn id="64" dur="500" fill="hold"/>
                                        <p:tgtEl>
                                          <p:spTgt spid="13"/>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 calcmode="lin" valueType="num">
                                      <p:cBhvr additive="base">
                                        <p:cTn id="67" dur="500" fill="hold"/>
                                        <p:tgtEl>
                                          <p:spTgt spid="23"/>
                                        </p:tgtEl>
                                        <p:attrNameLst>
                                          <p:attrName>ppt_x</p:attrName>
                                        </p:attrNameLst>
                                      </p:cBhvr>
                                      <p:tavLst>
                                        <p:tav tm="0">
                                          <p:val>
                                            <p:strVal val="#ppt_x"/>
                                          </p:val>
                                        </p:tav>
                                        <p:tav tm="100000">
                                          <p:val>
                                            <p:strVal val="#ppt_x"/>
                                          </p:val>
                                        </p:tav>
                                      </p:tavLst>
                                    </p:anim>
                                    <p:anim calcmode="lin" valueType="num">
                                      <p:cBhvr additive="base">
                                        <p:cTn id="68" dur="500" fill="hold"/>
                                        <p:tgtEl>
                                          <p:spTgt spid="23"/>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 calcmode="lin" valueType="num">
                                      <p:cBhvr additive="base">
                                        <p:cTn id="71" dur="500" fill="hold"/>
                                        <p:tgtEl>
                                          <p:spTgt spid="14"/>
                                        </p:tgtEl>
                                        <p:attrNameLst>
                                          <p:attrName>ppt_x</p:attrName>
                                        </p:attrNameLst>
                                      </p:cBhvr>
                                      <p:tavLst>
                                        <p:tav tm="0">
                                          <p:val>
                                            <p:strVal val="#ppt_x"/>
                                          </p:val>
                                        </p:tav>
                                        <p:tav tm="100000">
                                          <p:val>
                                            <p:strVal val="#ppt_x"/>
                                          </p:val>
                                        </p:tav>
                                      </p:tavLst>
                                    </p:anim>
                                    <p:anim calcmode="lin" valueType="num">
                                      <p:cBhvr additive="base">
                                        <p:cTn id="72" dur="500" fill="hold"/>
                                        <p:tgtEl>
                                          <p:spTgt spid="14"/>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5"/>
                                        </p:tgtEl>
                                        <p:attrNameLst>
                                          <p:attrName>style.visibility</p:attrName>
                                        </p:attrNameLst>
                                      </p:cBhvr>
                                      <p:to>
                                        <p:strVal val="visible"/>
                                      </p:to>
                                    </p:set>
                                    <p:anim calcmode="lin" valueType="num">
                                      <p:cBhvr additive="base">
                                        <p:cTn id="75" dur="500" fill="hold"/>
                                        <p:tgtEl>
                                          <p:spTgt spid="15"/>
                                        </p:tgtEl>
                                        <p:attrNameLst>
                                          <p:attrName>ppt_x</p:attrName>
                                        </p:attrNameLst>
                                      </p:cBhvr>
                                      <p:tavLst>
                                        <p:tav tm="0">
                                          <p:val>
                                            <p:strVal val="#ppt_x"/>
                                          </p:val>
                                        </p:tav>
                                        <p:tav tm="100000">
                                          <p:val>
                                            <p:strVal val="#ppt_x"/>
                                          </p:val>
                                        </p:tav>
                                      </p:tavLst>
                                    </p:anim>
                                    <p:anim calcmode="lin" valueType="num">
                                      <p:cBhvr additive="base">
                                        <p:cTn id="76" dur="500" fill="hold"/>
                                        <p:tgtEl>
                                          <p:spTgt spid="15"/>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 calcmode="lin" valueType="num">
                                      <p:cBhvr additive="base">
                                        <p:cTn id="79" dur="500" fill="hold"/>
                                        <p:tgtEl>
                                          <p:spTgt spid="16"/>
                                        </p:tgtEl>
                                        <p:attrNameLst>
                                          <p:attrName>ppt_x</p:attrName>
                                        </p:attrNameLst>
                                      </p:cBhvr>
                                      <p:tavLst>
                                        <p:tav tm="0">
                                          <p:val>
                                            <p:strVal val="#ppt_x"/>
                                          </p:val>
                                        </p:tav>
                                        <p:tav tm="100000">
                                          <p:val>
                                            <p:strVal val="#ppt_x"/>
                                          </p:val>
                                        </p:tav>
                                      </p:tavLst>
                                    </p:anim>
                                    <p:anim calcmode="lin" valueType="num">
                                      <p:cBhvr additive="base">
                                        <p:cTn id="80" dur="500" fill="hold"/>
                                        <p:tgtEl>
                                          <p:spTgt spid="16"/>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7"/>
                                        </p:tgtEl>
                                        <p:attrNameLst>
                                          <p:attrName>style.visibility</p:attrName>
                                        </p:attrNameLst>
                                      </p:cBhvr>
                                      <p:to>
                                        <p:strVal val="visible"/>
                                      </p:to>
                                    </p:set>
                                    <p:anim calcmode="lin" valueType="num">
                                      <p:cBhvr additive="base">
                                        <p:cTn id="83" dur="500" fill="hold"/>
                                        <p:tgtEl>
                                          <p:spTgt spid="17"/>
                                        </p:tgtEl>
                                        <p:attrNameLst>
                                          <p:attrName>ppt_x</p:attrName>
                                        </p:attrNameLst>
                                      </p:cBhvr>
                                      <p:tavLst>
                                        <p:tav tm="0">
                                          <p:val>
                                            <p:strVal val="#ppt_x"/>
                                          </p:val>
                                        </p:tav>
                                        <p:tav tm="100000">
                                          <p:val>
                                            <p:strVal val="#ppt_x"/>
                                          </p:val>
                                        </p:tav>
                                      </p:tavLst>
                                    </p:anim>
                                    <p:anim calcmode="lin" valueType="num">
                                      <p:cBhvr additive="base">
                                        <p:cTn id="84" dur="500" fill="hold"/>
                                        <p:tgtEl>
                                          <p:spTgt spid="17"/>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500" fill="hold"/>
                                        <p:tgtEl>
                                          <p:spTgt spid="18"/>
                                        </p:tgtEl>
                                        <p:attrNameLst>
                                          <p:attrName>ppt_x</p:attrName>
                                        </p:attrNameLst>
                                      </p:cBhvr>
                                      <p:tavLst>
                                        <p:tav tm="0">
                                          <p:val>
                                            <p:strVal val="#ppt_x"/>
                                          </p:val>
                                        </p:tav>
                                        <p:tav tm="100000">
                                          <p:val>
                                            <p:strVal val="#ppt_x"/>
                                          </p:val>
                                        </p:tav>
                                      </p:tavLst>
                                    </p:anim>
                                    <p:anim calcmode="lin" valueType="num">
                                      <p:cBhvr additive="base">
                                        <p:cTn id="88" dur="500" fill="hold"/>
                                        <p:tgtEl>
                                          <p:spTgt spid="18"/>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2"/>
                                        </p:tgtEl>
                                        <p:attrNameLst>
                                          <p:attrName>style.visibility</p:attrName>
                                        </p:attrNameLst>
                                      </p:cBhvr>
                                      <p:to>
                                        <p:strVal val="visible"/>
                                      </p:to>
                                    </p:set>
                                    <p:anim calcmode="lin" valueType="num">
                                      <p:cBhvr additive="base">
                                        <p:cTn id="91" dur="500" fill="hold"/>
                                        <p:tgtEl>
                                          <p:spTgt spid="22"/>
                                        </p:tgtEl>
                                        <p:attrNameLst>
                                          <p:attrName>ppt_x</p:attrName>
                                        </p:attrNameLst>
                                      </p:cBhvr>
                                      <p:tavLst>
                                        <p:tav tm="0">
                                          <p:val>
                                            <p:strVal val="#ppt_x"/>
                                          </p:val>
                                        </p:tav>
                                        <p:tav tm="100000">
                                          <p:val>
                                            <p:strVal val="#ppt_x"/>
                                          </p:val>
                                        </p:tav>
                                      </p:tavLst>
                                    </p:anim>
                                    <p:anim calcmode="lin" valueType="num">
                                      <p:cBhvr additive="base">
                                        <p:cTn id="9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24"/>
                                        </p:tgtEl>
                                        <p:attrNameLst>
                                          <p:attrName>style.visibility</p:attrName>
                                        </p:attrNameLst>
                                      </p:cBhvr>
                                      <p:to>
                                        <p:strVal val="visible"/>
                                      </p:to>
                                    </p:set>
                                    <p:anim calcmode="lin" valueType="num">
                                      <p:cBhvr additive="base">
                                        <p:cTn id="97" dur="500" fill="hold"/>
                                        <p:tgtEl>
                                          <p:spTgt spid="24"/>
                                        </p:tgtEl>
                                        <p:attrNameLst>
                                          <p:attrName>ppt_x</p:attrName>
                                        </p:attrNameLst>
                                      </p:cBhvr>
                                      <p:tavLst>
                                        <p:tav tm="0">
                                          <p:val>
                                            <p:strVal val="#ppt_x"/>
                                          </p:val>
                                        </p:tav>
                                        <p:tav tm="100000">
                                          <p:val>
                                            <p:strVal val="#ppt_x"/>
                                          </p:val>
                                        </p:tav>
                                      </p:tavLst>
                                    </p:anim>
                                    <p:anim calcmode="lin" valueType="num">
                                      <p:cBhvr additive="base">
                                        <p:cTn id="9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1" nodeType="clickEffect">
                                  <p:stCondLst>
                                    <p:cond delay="0"/>
                                  </p:stCondLst>
                                  <p:childTnLst>
                                    <p:set>
                                      <p:cBhvr>
                                        <p:cTn id="102" dur="1" fill="hold">
                                          <p:stCondLst>
                                            <p:cond delay="0"/>
                                          </p:stCondLst>
                                        </p:cTn>
                                        <p:tgtEl>
                                          <p:spTgt spid="11"/>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19"/>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21"/>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4"/>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40"/>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41"/>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23"/>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0"/>
                                          </p:stCondLst>
                                        </p:cTn>
                                        <p:tgtEl>
                                          <p:spTgt spid="12"/>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25"/>
                                        </p:tgtEl>
                                        <p:attrNameLst>
                                          <p:attrName>style.visibility</p:attrName>
                                        </p:attrNameLst>
                                      </p:cBhvr>
                                      <p:to>
                                        <p:strVal val="visible"/>
                                      </p:to>
                                    </p:set>
                                    <p:anim calcmode="lin" valueType="num">
                                      <p:cBhvr additive="base">
                                        <p:cTn id="123" dur="500" fill="hold"/>
                                        <p:tgtEl>
                                          <p:spTgt spid="25"/>
                                        </p:tgtEl>
                                        <p:attrNameLst>
                                          <p:attrName>ppt_x</p:attrName>
                                        </p:attrNameLst>
                                      </p:cBhvr>
                                      <p:tavLst>
                                        <p:tav tm="0">
                                          <p:val>
                                            <p:strVal val="#ppt_x"/>
                                          </p:val>
                                        </p:tav>
                                        <p:tav tm="100000">
                                          <p:val>
                                            <p:strVal val="#ppt_x"/>
                                          </p:val>
                                        </p:tav>
                                      </p:tavLst>
                                    </p:anim>
                                    <p:anim calcmode="lin" valueType="num">
                                      <p:cBhvr additive="base">
                                        <p:cTn id="12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xit" presetSubtype="4" fill="hold" grpId="1" nodeType="clickEffect">
                                  <p:stCondLst>
                                    <p:cond delay="0"/>
                                  </p:stCondLst>
                                  <p:childTnLst>
                                    <p:anim calcmode="lin" valueType="num">
                                      <p:cBhvr additive="base">
                                        <p:cTn id="128" dur="500"/>
                                        <p:tgtEl>
                                          <p:spTgt spid="25"/>
                                        </p:tgtEl>
                                        <p:attrNameLst>
                                          <p:attrName>ppt_x</p:attrName>
                                        </p:attrNameLst>
                                      </p:cBhvr>
                                      <p:tavLst>
                                        <p:tav tm="0">
                                          <p:val>
                                            <p:strVal val="ppt_x"/>
                                          </p:val>
                                        </p:tav>
                                        <p:tav tm="100000">
                                          <p:val>
                                            <p:strVal val="ppt_x"/>
                                          </p:val>
                                        </p:tav>
                                      </p:tavLst>
                                    </p:anim>
                                    <p:anim calcmode="lin" valueType="num">
                                      <p:cBhvr additive="base">
                                        <p:cTn id="129" dur="500"/>
                                        <p:tgtEl>
                                          <p:spTgt spid="25"/>
                                        </p:tgtEl>
                                        <p:attrNameLst>
                                          <p:attrName>ppt_y</p:attrName>
                                        </p:attrNameLst>
                                      </p:cBhvr>
                                      <p:tavLst>
                                        <p:tav tm="0">
                                          <p:val>
                                            <p:strVal val="ppt_y"/>
                                          </p:val>
                                        </p:tav>
                                        <p:tav tm="100000">
                                          <p:val>
                                            <p:strVal val="1+ppt_h/2"/>
                                          </p:val>
                                        </p:tav>
                                      </p:tavLst>
                                    </p:anim>
                                    <p:set>
                                      <p:cBhvr>
                                        <p:cTn id="130" dur="1" fill="hold">
                                          <p:stCondLst>
                                            <p:cond delay="499"/>
                                          </p:stCondLst>
                                        </p:cTn>
                                        <p:tgtEl>
                                          <p:spTgt spid="25"/>
                                        </p:tgtEl>
                                        <p:attrNameLst>
                                          <p:attrName>style.visibility</p:attrName>
                                        </p:attrNameLst>
                                      </p:cBhvr>
                                      <p:to>
                                        <p:strVal val="hidden"/>
                                      </p:to>
                                    </p:set>
                                  </p:childTnLst>
                                </p:cTn>
                              </p:par>
                              <p:par>
                                <p:cTn id="131" presetID="2" presetClass="entr" presetSubtype="4" fill="hold" grpId="0" nodeType="withEffect">
                                  <p:stCondLst>
                                    <p:cond delay="0"/>
                                  </p:stCondLst>
                                  <p:childTnLst>
                                    <p:set>
                                      <p:cBhvr>
                                        <p:cTn id="132" dur="1" fill="hold">
                                          <p:stCondLst>
                                            <p:cond delay="0"/>
                                          </p:stCondLst>
                                        </p:cTn>
                                        <p:tgtEl>
                                          <p:spTgt spid="26"/>
                                        </p:tgtEl>
                                        <p:attrNameLst>
                                          <p:attrName>style.visibility</p:attrName>
                                        </p:attrNameLst>
                                      </p:cBhvr>
                                      <p:to>
                                        <p:strVal val="visible"/>
                                      </p:to>
                                    </p:set>
                                    <p:anim calcmode="lin" valueType="num">
                                      <p:cBhvr additive="base">
                                        <p:cTn id="133" dur="500" fill="hold"/>
                                        <p:tgtEl>
                                          <p:spTgt spid="26"/>
                                        </p:tgtEl>
                                        <p:attrNameLst>
                                          <p:attrName>ppt_x</p:attrName>
                                        </p:attrNameLst>
                                      </p:cBhvr>
                                      <p:tavLst>
                                        <p:tav tm="0">
                                          <p:val>
                                            <p:strVal val="#ppt_x"/>
                                          </p:val>
                                        </p:tav>
                                        <p:tav tm="100000">
                                          <p:val>
                                            <p:strVal val="#ppt_x"/>
                                          </p:val>
                                        </p:tav>
                                      </p:tavLst>
                                    </p:anim>
                                    <p:anim calcmode="lin" valueType="num">
                                      <p:cBhvr additive="base">
                                        <p:cTn id="134" dur="500" fill="hold"/>
                                        <p:tgtEl>
                                          <p:spTgt spid="26"/>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27"/>
                                        </p:tgtEl>
                                        <p:attrNameLst>
                                          <p:attrName>style.visibility</p:attrName>
                                        </p:attrNameLst>
                                      </p:cBhvr>
                                      <p:to>
                                        <p:strVal val="visible"/>
                                      </p:to>
                                    </p:set>
                                    <p:anim calcmode="lin" valueType="num">
                                      <p:cBhvr additive="base">
                                        <p:cTn id="137" dur="500" fill="hold"/>
                                        <p:tgtEl>
                                          <p:spTgt spid="27"/>
                                        </p:tgtEl>
                                        <p:attrNameLst>
                                          <p:attrName>ppt_x</p:attrName>
                                        </p:attrNameLst>
                                      </p:cBhvr>
                                      <p:tavLst>
                                        <p:tav tm="0">
                                          <p:val>
                                            <p:strVal val="#ppt_x"/>
                                          </p:val>
                                        </p:tav>
                                        <p:tav tm="100000">
                                          <p:val>
                                            <p:strVal val="#ppt_x"/>
                                          </p:val>
                                        </p:tav>
                                      </p:tavLst>
                                    </p:anim>
                                    <p:anim calcmode="lin" valueType="num">
                                      <p:cBhvr additive="base">
                                        <p:cTn id="13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 presetClass="entr" presetSubtype="4" fill="hold" grpId="0" nodeType="clickEffect">
                                  <p:stCondLst>
                                    <p:cond delay="0"/>
                                  </p:stCondLst>
                                  <p:childTnLst>
                                    <p:set>
                                      <p:cBhvr>
                                        <p:cTn id="142" dur="1" fill="hold">
                                          <p:stCondLst>
                                            <p:cond delay="0"/>
                                          </p:stCondLst>
                                        </p:cTn>
                                        <p:tgtEl>
                                          <p:spTgt spid="28"/>
                                        </p:tgtEl>
                                        <p:attrNameLst>
                                          <p:attrName>style.visibility</p:attrName>
                                        </p:attrNameLst>
                                      </p:cBhvr>
                                      <p:to>
                                        <p:strVal val="visible"/>
                                      </p:to>
                                    </p:set>
                                    <p:anim calcmode="lin" valueType="num">
                                      <p:cBhvr additive="base">
                                        <p:cTn id="143" dur="500" fill="hold"/>
                                        <p:tgtEl>
                                          <p:spTgt spid="28"/>
                                        </p:tgtEl>
                                        <p:attrNameLst>
                                          <p:attrName>ppt_x</p:attrName>
                                        </p:attrNameLst>
                                      </p:cBhvr>
                                      <p:tavLst>
                                        <p:tav tm="0">
                                          <p:val>
                                            <p:strVal val="#ppt_x"/>
                                          </p:val>
                                        </p:tav>
                                        <p:tav tm="100000">
                                          <p:val>
                                            <p:strVal val="#ppt_x"/>
                                          </p:val>
                                        </p:tav>
                                      </p:tavLst>
                                    </p:anim>
                                    <p:anim calcmode="lin" valueType="num">
                                      <p:cBhvr additive="base">
                                        <p:cTn id="14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2" presetClass="entr" presetSubtype="4" fill="hold" grpId="0" nodeType="clickEffect">
                                  <p:stCondLst>
                                    <p:cond delay="0"/>
                                  </p:stCondLst>
                                  <p:childTnLst>
                                    <p:set>
                                      <p:cBhvr>
                                        <p:cTn id="148" dur="1" fill="hold">
                                          <p:stCondLst>
                                            <p:cond delay="0"/>
                                          </p:stCondLst>
                                        </p:cTn>
                                        <p:tgtEl>
                                          <p:spTgt spid="29"/>
                                        </p:tgtEl>
                                        <p:attrNameLst>
                                          <p:attrName>style.visibility</p:attrName>
                                        </p:attrNameLst>
                                      </p:cBhvr>
                                      <p:to>
                                        <p:strVal val="visible"/>
                                      </p:to>
                                    </p:set>
                                    <p:anim calcmode="lin" valueType="num">
                                      <p:cBhvr additive="base">
                                        <p:cTn id="149" dur="500" fill="hold"/>
                                        <p:tgtEl>
                                          <p:spTgt spid="29"/>
                                        </p:tgtEl>
                                        <p:attrNameLst>
                                          <p:attrName>ppt_x</p:attrName>
                                        </p:attrNameLst>
                                      </p:cBhvr>
                                      <p:tavLst>
                                        <p:tav tm="0">
                                          <p:val>
                                            <p:strVal val="#ppt_x"/>
                                          </p:val>
                                        </p:tav>
                                        <p:tav tm="100000">
                                          <p:val>
                                            <p:strVal val="#ppt_x"/>
                                          </p:val>
                                        </p:tav>
                                      </p:tavLst>
                                    </p:anim>
                                    <p:anim calcmode="lin" valueType="num">
                                      <p:cBhvr additive="base">
                                        <p:cTn id="150" dur="500" fill="hold"/>
                                        <p:tgtEl>
                                          <p:spTgt spid="29"/>
                                        </p:tgtEl>
                                        <p:attrNameLst>
                                          <p:attrName>ppt_y</p:attrName>
                                        </p:attrNameLst>
                                      </p:cBhvr>
                                      <p:tavLst>
                                        <p:tav tm="0">
                                          <p:val>
                                            <p:strVal val="1+#ppt_h/2"/>
                                          </p:val>
                                        </p:tav>
                                        <p:tav tm="100000">
                                          <p:val>
                                            <p:strVal val="#ppt_y"/>
                                          </p:val>
                                        </p:tav>
                                      </p:tavLst>
                                    </p:anim>
                                  </p:childTnLst>
                                </p:cTn>
                              </p:par>
                              <p:par>
                                <p:cTn id="151" presetID="1" presetClass="exit" presetSubtype="0" fill="hold" grpId="1" nodeType="withEffect">
                                  <p:stCondLst>
                                    <p:cond delay="0"/>
                                  </p:stCondLst>
                                  <p:childTnLst>
                                    <p:set>
                                      <p:cBhvr>
                                        <p:cTn id="152" dur="1" fill="hold">
                                          <p:stCondLst>
                                            <p:cond delay="0"/>
                                          </p:stCondLst>
                                        </p:cTn>
                                        <p:tgtEl>
                                          <p:spTgt spid="28"/>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30"/>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grpId="0" nodeType="clickEffect">
                                  <p:stCondLst>
                                    <p:cond delay="0"/>
                                  </p:stCondLst>
                                  <p:childTnLst>
                                    <p:set>
                                      <p:cBhvr>
                                        <p:cTn id="160" dur="1" fill="hold">
                                          <p:stCondLst>
                                            <p:cond delay="0"/>
                                          </p:stCondLst>
                                        </p:cTn>
                                        <p:tgtEl>
                                          <p:spTgt spid="31"/>
                                        </p:tgtEl>
                                        <p:attrNameLst>
                                          <p:attrName>style.visibility</p:attrName>
                                        </p:attrNameLst>
                                      </p:cBhvr>
                                      <p:to>
                                        <p:strVal val="visible"/>
                                      </p:to>
                                    </p:set>
                                    <p:anim calcmode="lin" valueType="num">
                                      <p:cBhvr additive="base">
                                        <p:cTn id="161" dur="500" fill="hold"/>
                                        <p:tgtEl>
                                          <p:spTgt spid="31"/>
                                        </p:tgtEl>
                                        <p:attrNameLst>
                                          <p:attrName>ppt_x</p:attrName>
                                        </p:attrNameLst>
                                      </p:cBhvr>
                                      <p:tavLst>
                                        <p:tav tm="0">
                                          <p:val>
                                            <p:strVal val="#ppt_x"/>
                                          </p:val>
                                        </p:tav>
                                        <p:tav tm="100000">
                                          <p:val>
                                            <p:strVal val="#ppt_x"/>
                                          </p:val>
                                        </p:tav>
                                      </p:tavLst>
                                    </p:anim>
                                    <p:anim calcmode="lin" valueType="num">
                                      <p:cBhvr additive="base">
                                        <p:cTn id="16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32"/>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2" presetClass="entr" presetSubtype="4" fill="hold" grpId="0" nodeType="clickEffect">
                                  <p:stCondLst>
                                    <p:cond delay="0"/>
                                  </p:stCondLst>
                                  <p:childTnLst>
                                    <p:set>
                                      <p:cBhvr>
                                        <p:cTn id="170" dur="1" fill="hold">
                                          <p:stCondLst>
                                            <p:cond delay="0"/>
                                          </p:stCondLst>
                                        </p:cTn>
                                        <p:tgtEl>
                                          <p:spTgt spid="33"/>
                                        </p:tgtEl>
                                        <p:attrNameLst>
                                          <p:attrName>style.visibility</p:attrName>
                                        </p:attrNameLst>
                                      </p:cBhvr>
                                      <p:to>
                                        <p:strVal val="visible"/>
                                      </p:to>
                                    </p:set>
                                    <p:anim calcmode="lin" valueType="num">
                                      <p:cBhvr additive="base">
                                        <p:cTn id="171" dur="500" fill="hold"/>
                                        <p:tgtEl>
                                          <p:spTgt spid="33"/>
                                        </p:tgtEl>
                                        <p:attrNameLst>
                                          <p:attrName>ppt_x</p:attrName>
                                        </p:attrNameLst>
                                      </p:cBhvr>
                                      <p:tavLst>
                                        <p:tav tm="0">
                                          <p:val>
                                            <p:strVal val="#ppt_x"/>
                                          </p:val>
                                        </p:tav>
                                        <p:tav tm="100000">
                                          <p:val>
                                            <p:strVal val="#ppt_x"/>
                                          </p:val>
                                        </p:tav>
                                      </p:tavLst>
                                    </p:anim>
                                    <p:anim calcmode="lin" valueType="num">
                                      <p:cBhvr additive="base">
                                        <p:cTn id="17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grpId="0" nodeType="clickEffect">
                                  <p:stCondLst>
                                    <p:cond delay="0"/>
                                  </p:stCondLst>
                                  <p:childTnLst>
                                    <p:set>
                                      <p:cBhvr>
                                        <p:cTn id="176" dur="1" fill="hold">
                                          <p:stCondLst>
                                            <p:cond delay="0"/>
                                          </p:stCondLst>
                                        </p:cTn>
                                        <p:tgtEl>
                                          <p:spTgt spid="34"/>
                                        </p:tgtEl>
                                        <p:attrNameLst>
                                          <p:attrName>style.visibility</p:attrName>
                                        </p:attrNameLst>
                                      </p:cBhvr>
                                      <p:to>
                                        <p:strVal val="visible"/>
                                      </p:to>
                                    </p:set>
                                    <p:anim calcmode="lin" valueType="num">
                                      <p:cBhvr additive="base">
                                        <p:cTn id="177" dur="500" fill="hold"/>
                                        <p:tgtEl>
                                          <p:spTgt spid="34"/>
                                        </p:tgtEl>
                                        <p:attrNameLst>
                                          <p:attrName>ppt_x</p:attrName>
                                        </p:attrNameLst>
                                      </p:cBhvr>
                                      <p:tavLst>
                                        <p:tav tm="0">
                                          <p:val>
                                            <p:strVal val="#ppt_x"/>
                                          </p:val>
                                        </p:tav>
                                        <p:tav tm="100000">
                                          <p:val>
                                            <p:strVal val="#ppt_x"/>
                                          </p:val>
                                        </p:tav>
                                      </p:tavLst>
                                    </p:anim>
                                    <p:anim calcmode="lin" valueType="num">
                                      <p:cBhvr additive="base">
                                        <p:cTn id="17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grpId="0" nodeType="clickEffect">
                                  <p:stCondLst>
                                    <p:cond delay="0"/>
                                  </p:stCondLst>
                                  <p:childTnLst>
                                    <p:set>
                                      <p:cBhvr>
                                        <p:cTn id="182" dur="1" fill="hold">
                                          <p:stCondLst>
                                            <p:cond delay="0"/>
                                          </p:stCondLst>
                                        </p:cTn>
                                        <p:tgtEl>
                                          <p:spTgt spid="35"/>
                                        </p:tgtEl>
                                        <p:attrNameLst>
                                          <p:attrName>style.visibility</p:attrName>
                                        </p:attrNameLst>
                                      </p:cBhvr>
                                      <p:to>
                                        <p:strVal val="visible"/>
                                      </p:to>
                                    </p:set>
                                    <p:anim calcmode="lin" valueType="num">
                                      <p:cBhvr additive="base">
                                        <p:cTn id="183" dur="500" fill="hold"/>
                                        <p:tgtEl>
                                          <p:spTgt spid="35"/>
                                        </p:tgtEl>
                                        <p:attrNameLst>
                                          <p:attrName>ppt_x</p:attrName>
                                        </p:attrNameLst>
                                      </p:cBhvr>
                                      <p:tavLst>
                                        <p:tav tm="0">
                                          <p:val>
                                            <p:strVal val="#ppt_x"/>
                                          </p:val>
                                        </p:tav>
                                        <p:tav tm="100000">
                                          <p:val>
                                            <p:strVal val="#ppt_x"/>
                                          </p:val>
                                        </p:tav>
                                      </p:tavLst>
                                    </p:anim>
                                    <p:anim calcmode="lin" valueType="num">
                                      <p:cBhvr additive="base">
                                        <p:cTn id="184"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2" presetClass="entr" presetSubtype="4" fill="hold" grpId="0" nodeType="clickEffect">
                                  <p:stCondLst>
                                    <p:cond delay="0"/>
                                  </p:stCondLst>
                                  <p:childTnLst>
                                    <p:set>
                                      <p:cBhvr>
                                        <p:cTn id="188" dur="1" fill="hold">
                                          <p:stCondLst>
                                            <p:cond delay="0"/>
                                          </p:stCondLst>
                                        </p:cTn>
                                        <p:tgtEl>
                                          <p:spTgt spid="36"/>
                                        </p:tgtEl>
                                        <p:attrNameLst>
                                          <p:attrName>style.visibility</p:attrName>
                                        </p:attrNameLst>
                                      </p:cBhvr>
                                      <p:to>
                                        <p:strVal val="visible"/>
                                      </p:to>
                                    </p:set>
                                    <p:anim calcmode="lin" valueType="num">
                                      <p:cBhvr additive="base">
                                        <p:cTn id="189" dur="500" fill="hold"/>
                                        <p:tgtEl>
                                          <p:spTgt spid="36"/>
                                        </p:tgtEl>
                                        <p:attrNameLst>
                                          <p:attrName>ppt_x</p:attrName>
                                        </p:attrNameLst>
                                      </p:cBhvr>
                                      <p:tavLst>
                                        <p:tav tm="0">
                                          <p:val>
                                            <p:strVal val="#ppt_x"/>
                                          </p:val>
                                        </p:tav>
                                        <p:tav tm="100000">
                                          <p:val>
                                            <p:strVal val="#ppt_x"/>
                                          </p:val>
                                        </p:tav>
                                      </p:tavLst>
                                    </p:anim>
                                    <p:anim calcmode="lin" valueType="num">
                                      <p:cBhvr additive="base">
                                        <p:cTn id="19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2" presetClass="entr" presetSubtype="4" fill="hold" grpId="0" nodeType="clickEffect">
                                  <p:stCondLst>
                                    <p:cond delay="0"/>
                                  </p:stCondLst>
                                  <p:childTnLst>
                                    <p:set>
                                      <p:cBhvr>
                                        <p:cTn id="194" dur="1" fill="hold">
                                          <p:stCondLst>
                                            <p:cond delay="0"/>
                                          </p:stCondLst>
                                        </p:cTn>
                                        <p:tgtEl>
                                          <p:spTgt spid="37"/>
                                        </p:tgtEl>
                                        <p:attrNameLst>
                                          <p:attrName>style.visibility</p:attrName>
                                        </p:attrNameLst>
                                      </p:cBhvr>
                                      <p:to>
                                        <p:strVal val="visible"/>
                                      </p:to>
                                    </p:set>
                                    <p:anim calcmode="lin" valueType="num">
                                      <p:cBhvr additive="base">
                                        <p:cTn id="195" dur="500" fill="hold"/>
                                        <p:tgtEl>
                                          <p:spTgt spid="37"/>
                                        </p:tgtEl>
                                        <p:attrNameLst>
                                          <p:attrName>ppt_x</p:attrName>
                                        </p:attrNameLst>
                                      </p:cBhvr>
                                      <p:tavLst>
                                        <p:tav tm="0">
                                          <p:val>
                                            <p:strVal val="#ppt_x"/>
                                          </p:val>
                                        </p:tav>
                                        <p:tav tm="100000">
                                          <p:val>
                                            <p:strVal val="#ppt_x"/>
                                          </p:val>
                                        </p:tav>
                                      </p:tavLst>
                                    </p:anim>
                                    <p:anim calcmode="lin" valueType="num">
                                      <p:cBhvr additive="base">
                                        <p:cTn id="19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97" fill="hold">
                      <p:stCondLst>
                        <p:cond delay="indefinite"/>
                      </p:stCondLst>
                      <p:childTnLst>
                        <p:par>
                          <p:cTn id="198" fill="hold">
                            <p:stCondLst>
                              <p:cond delay="0"/>
                            </p:stCondLst>
                            <p:childTnLst>
                              <p:par>
                                <p:cTn id="199" presetID="2" presetClass="entr" presetSubtype="4" fill="hold" grpId="0" nodeType="clickEffect">
                                  <p:stCondLst>
                                    <p:cond delay="0"/>
                                  </p:stCondLst>
                                  <p:childTnLst>
                                    <p:set>
                                      <p:cBhvr>
                                        <p:cTn id="200" dur="1" fill="hold">
                                          <p:stCondLst>
                                            <p:cond delay="0"/>
                                          </p:stCondLst>
                                        </p:cTn>
                                        <p:tgtEl>
                                          <p:spTgt spid="38"/>
                                        </p:tgtEl>
                                        <p:attrNameLst>
                                          <p:attrName>style.visibility</p:attrName>
                                        </p:attrNameLst>
                                      </p:cBhvr>
                                      <p:to>
                                        <p:strVal val="visible"/>
                                      </p:to>
                                    </p:set>
                                    <p:anim calcmode="lin" valueType="num">
                                      <p:cBhvr additive="base">
                                        <p:cTn id="201" dur="500" fill="hold"/>
                                        <p:tgtEl>
                                          <p:spTgt spid="38"/>
                                        </p:tgtEl>
                                        <p:attrNameLst>
                                          <p:attrName>ppt_x</p:attrName>
                                        </p:attrNameLst>
                                      </p:cBhvr>
                                      <p:tavLst>
                                        <p:tav tm="0">
                                          <p:val>
                                            <p:strVal val="#ppt_x"/>
                                          </p:val>
                                        </p:tav>
                                        <p:tav tm="100000">
                                          <p:val>
                                            <p:strVal val="#ppt_x"/>
                                          </p:val>
                                        </p:tav>
                                      </p:tavLst>
                                    </p:anim>
                                    <p:anim calcmode="lin" valueType="num">
                                      <p:cBhvr additive="base">
                                        <p:cTn id="20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03" fill="hold">
                      <p:stCondLst>
                        <p:cond delay="indefinite"/>
                      </p:stCondLst>
                      <p:childTnLst>
                        <p:par>
                          <p:cTn id="204" fill="hold">
                            <p:stCondLst>
                              <p:cond delay="0"/>
                            </p:stCondLst>
                            <p:childTnLst>
                              <p:par>
                                <p:cTn id="205" presetID="2" presetClass="entr" presetSubtype="4" fill="hold" grpId="0" nodeType="clickEffect">
                                  <p:stCondLst>
                                    <p:cond delay="0"/>
                                  </p:stCondLst>
                                  <p:childTnLst>
                                    <p:set>
                                      <p:cBhvr>
                                        <p:cTn id="206" dur="1" fill="hold">
                                          <p:stCondLst>
                                            <p:cond delay="0"/>
                                          </p:stCondLst>
                                        </p:cTn>
                                        <p:tgtEl>
                                          <p:spTgt spid="42"/>
                                        </p:tgtEl>
                                        <p:attrNameLst>
                                          <p:attrName>style.visibility</p:attrName>
                                        </p:attrNameLst>
                                      </p:cBhvr>
                                      <p:to>
                                        <p:strVal val="visible"/>
                                      </p:to>
                                    </p:set>
                                    <p:anim calcmode="lin" valueType="num">
                                      <p:cBhvr additive="base">
                                        <p:cTn id="207" dur="500" fill="hold"/>
                                        <p:tgtEl>
                                          <p:spTgt spid="42"/>
                                        </p:tgtEl>
                                        <p:attrNameLst>
                                          <p:attrName>ppt_x</p:attrName>
                                        </p:attrNameLst>
                                      </p:cBhvr>
                                      <p:tavLst>
                                        <p:tav tm="0">
                                          <p:val>
                                            <p:strVal val="#ppt_x"/>
                                          </p:val>
                                        </p:tav>
                                        <p:tav tm="100000">
                                          <p:val>
                                            <p:strVal val="#ppt_x"/>
                                          </p:val>
                                        </p:tav>
                                      </p:tavLst>
                                    </p:anim>
                                    <p:anim calcmode="lin" valueType="num">
                                      <p:cBhvr additive="base">
                                        <p:cTn id="20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09" fill="hold">
                      <p:stCondLst>
                        <p:cond delay="indefinite"/>
                      </p:stCondLst>
                      <p:childTnLst>
                        <p:par>
                          <p:cTn id="210" fill="hold">
                            <p:stCondLst>
                              <p:cond delay="0"/>
                            </p:stCondLst>
                            <p:childTnLst>
                              <p:par>
                                <p:cTn id="211" presetID="2" presetClass="entr" presetSubtype="4" fill="hold" grpId="0" nodeType="clickEffect">
                                  <p:stCondLst>
                                    <p:cond delay="0"/>
                                  </p:stCondLst>
                                  <p:childTnLst>
                                    <p:set>
                                      <p:cBhvr>
                                        <p:cTn id="212" dur="1" fill="hold">
                                          <p:stCondLst>
                                            <p:cond delay="0"/>
                                          </p:stCondLst>
                                        </p:cTn>
                                        <p:tgtEl>
                                          <p:spTgt spid="39"/>
                                        </p:tgtEl>
                                        <p:attrNameLst>
                                          <p:attrName>style.visibility</p:attrName>
                                        </p:attrNameLst>
                                      </p:cBhvr>
                                      <p:to>
                                        <p:strVal val="visible"/>
                                      </p:to>
                                    </p:set>
                                    <p:anim calcmode="lin" valueType="num">
                                      <p:cBhvr additive="base">
                                        <p:cTn id="213" dur="500" fill="hold"/>
                                        <p:tgtEl>
                                          <p:spTgt spid="39"/>
                                        </p:tgtEl>
                                        <p:attrNameLst>
                                          <p:attrName>ppt_x</p:attrName>
                                        </p:attrNameLst>
                                      </p:cBhvr>
                                      <p:tavLst>
                                        <p:tav tm="0">
                                          <p:val>
                                            <p:strVal val="#ppt_x"/>
                                          </p:val>
                                        </p:tav>
                                        <p:tav tm="100000">
                                          <p:val>
                                            <p:strVal val="#ppt_x"/>
                                          </p:val>
                                        </p:tav>
                                      </p:tavLst>
                                    </p:anim>
                                    <p:anim calcmode="lin" valueType="num">
                                      <p:cBhvr additive="base">
                                        <p:cTn id="214"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215" fill="hold">
                      <p:stCondLst>
                        <p:cond delay="indefinite"/>
                      </p:stCondLst>
                      <p:childTnLst>
                        <p:par>
                          <p:cTn id="216" fill="hold">
                            <p:stCondLst>
                              <p:cond delay="0"/>
                            </p:stCondLst>
                            <p:childTnLst>
                              <p:par>
                                <p:cTn id="217" presetID="0" presetClass="path" presetSubtype="0" accel="50000" decel="50000" fill="hold" grpId="1" nodeType="clickEffect">
                                  <p:stCondLst>
                                    <p:cond delay="0"/>
                                  </p:stCondLst>
                                  <p:childTnLst>
                                    <p:animMotion origin="layout" path="M 0 0 C 0.06998 0.0505 0.13997 0.10123 0.13476 0.14871 C 0.12955 0.1962 -0.03248 0.24693 -0.03161 0.28446 C -0.03074 0.32198 0.13581 0.34075 0.14032 0.37433 C 0.14484 0.40792 -0.01928 0.45217 -0.00417 0.48645 C 0.01094 0.52073 0.1919 0.56451 0.23115 0.58003 " pathEditMode="relative" ptsTypes="aaaaaA">
                                      <p:cBhvr>
                                        <p:cTn id="218" dur="2000" fill="hold"/>
                                        <p:tgtEl>
                                          <p:spTgt spid="13"/>
                                        </p:tgtEl>
                                        <p:attrNameLst>
                                          <p:attrName>ppt_x</p:attrName>
                                          <p:attrName>ppt_y</p:attrName>
                                        </p:attrNameLst>
                                      </p:cBhvr>
                                    </p:animMotion>
                                  </p:childTnLst>
                                </p:cTn>
                              </p:par>
                              <p:par>
                                <p:cTn id="219" presetID="0" presetClass="path" presetSubtype="0" accel="50000" decel="50000" fill="hold" grpId="1" nodeType="withEffect">
                                  <p:stCondLst>
                                    <p:cond delay="0"/>
                                  </p:stCondLst>
                                  <p:childTnLst>
                                    <p:animMotion origin="layout" path="M 0 0 C 0.06998 0.0505 0.13997 0.10123 0.13476 0.14871 C 0.12955 0.1962 -0.03248 0.24693 -0.03161 0.28446 C -0.03074 0.32198 0.13581 0.34075 0.14032 0.37433 C 0.14484 0.40792 -0.01928 0.45217 -0.00417 0.48645 C 0.01094 0.52073 0.1919 0.56451 0.23115 0.58003 " pathEditMode="relative" ptsTypes="aaaaaA">
                                      <p:cBhvr>
                                        <p:cTn id="220" dur="2000" fill="hold"/>
                                        <p:tgtEl>
                                          <p:spTgt spid="14"/>
                                        </p:tgtEl>
                                        <p:attrNameLst>
                                          <p:attrName>ppt_x</p:attrName>
                                          <p:attrName>ppt_y</p:attrName>
                                        </p:attrNameLst>
                                      </p:cBhvr>
                                    </p:animMotion>
                                  </p:childTnLst>
                                </p:cTn>
                              </p:par>
                              <p:par>
                                <p:cTn id="221" presetID="0" presetClass="path" presetSubtype="0" accel="50000" decel="50000" fill="hold" grpId="1" nodeType="withEffect">
                                  <p:stCondLst>
                                    <p:cond delay="0"/>
                                  </p:stCondLst>
                                  <p:childTnLst>
                                    <p:animMotion origin="layout" path="M 0 0 C 0.06998 0.0505 0.13997 0.10123 0.13476 0.14871 C 0.12955 0.1962 -0.03248 0.24693 -0.03161 0.28446 C -0.03074 0.32198 0.13581 0.34075 0.14032 0.37433 C 0.14484 0.40792 -0.01928 0.45217 -0.00417 0.48645 C 0.01094 0.52073 0.1919 0.56451 0.23115 0.58003 " pathEditMode="relative" ptsTypes="aaaaaA">
                                      <p:cBhvr>
                                        <p:cTn id="222" dur="2000" fill="hold"/>
                                        <p:tgtEl>
                                          <p:spTgt spid="15"/>
                                        </p:tgtEl>
                                        <p:attrNameLst>
                                          <p:attrName>ppt_x</p:attrName>
                                          <p:attrName>ppt_y</p:attrName>
                                        </p:attrNameLst>
                                      </p:cBhvr>
                                    </p:animMotion>
                                  </p:childTnLst>
                                </p:cTn>
                              </p:par>
                              <p:par>
                                <p:cTn id="223" presetID="0" presetClass="path" presetSubtype="0" accel="50000" decel="50000" fill="hold" grpId="1" nodeType="withEffect">
                                  <p:stCondLst>
                                    <p:cond delay="0"/>
                                  </p:stCondLst>
                                  <p:childTnLst>
                                    <p:animMotion origin="layout" path="M 0 0 C 0.06998 0.0505 0.13997 0.10123 0.13476 0.14871 C 0.12955 0.1962 -0.03248 0.24693 -0.03161 0.28446 C -0.03074 0.32198 0.13581 0.34075 0.14032 0.37433 C 0.14484 0.40792 -0.01928 0.45217 -0.00417 0.48645 C 0.01094 0.52073 0.1919 0.56451 0.23115 0.58003 " pathEditMode="relative" ptsTypes="aaaaaA">
                                      <p:cBhvr>
                                        <p:cTn id="224" dur="2000" fill="hold"/>
                                        <p:tgtEl>
                                          <p:spTgt spid="16"/>
                                        </p:tgtEl>
                                        <p:attrNameLst>
                                          <p:attrName>ppt_x</p:attrName>
                                          <p:attrName>ppt_y</p:attrName>
                                        </p:attrNameLst>
                                      </p:cBhvr>
                                    </p:animMotion>
                                  </p:childTnLst>
                                </p:cTn>
                              </p:par>
                              <p:par>
                                <p:cTn id="225" presetID="0" presetClass="path" presetSubtype="0" accel="50000" decel="50000" fill="hold" grpId="1" nodeType="withEffect">
                                  <p:stCondLst>
                                    <p:cond delay="0"/>
                                  </p:stCondLst>
                                  <p:childTnLst>
                                    <p:animMotion origin="layout" path="M 0 0 C 0.06998 0.0505 0.13997 0.10123 0.13476 0.14871 C 0.12955 0.1962 -0.03248 0.24693 -0.03161 0.28446 C -0.03074 0.32198 0.13581 0.34075 0.14032 0.37433 C 0.14484 0.40792 -0.01928 0.45217 -0.00417 0.48645 C 0.01094 0.52073 0.1919 0.56451 0.23115 0.58003 " pathEditMode="relative" ptsTypes="aaaaaA">
                                      <p:cBhvr>
                                        <p:cTn id="226" dur="2000" fill="hold"/>
                                        <p:tgtEl>
                                          <p:spTgt spid="17"/>
                                        </p:tgtEl>
                                        <p:attrNameLst>
                                          <p:attrName>ppt_x</p:attrName>
                                          <p:attrName>ppt_y</p:attrName>
                                        </p:attrNameLst>
                                      </p:cBhvr>
                                    </p:animMotion>
                                  </p:childTnLst>
                                </p:cTn>
                              </p:par>
                              <p:par>
                                <p:cTn id="227" presetID="0" presetClass="path" presetSubtype="0" accel="50000" decel="50000" fill="hold" grpId="1" nodeType="withEffect">
                                  <p:stCondLst>
                                    <p:cond delay="0"/>
                                  </p:stCondLst>
                                  <p:childTnLst>
                                    <p:animMotion origin="layout" path="M 0 0 C 0.06998 0.0505 0.13997 0.10123 0.13476 0.14871 C 0.12955 0.1962 -0.03248 0.24693 -0.03161 0.28446 C -0.03074 0.32198 0.13581 0.34075 0.14032 0.37433 C 0.14484 0.40792 -0.01928 0.45217 -0.00417 0.48645 C 0.01094 0.52073 0.1919 0.56451 0.23115 0.58003 " pathEditMode="relative" ptsTypes="aaaaaA">
                                      <p:cBhvr>
                                        <p:cTn id="228" dur="2000" fill="hold"/>
                                        <p:tgtEl>
                                          <p:spTgt spid="1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p:bldP spid="11" grpId="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p:bldP spid="19" grpId="1"/>
      <p:bldP spid="21" grpId="0"/>
      <p:bldP spid="21" grpId="1"/>
      <p:bldP spid="22" grpId="0"/>
      <p:bldP spid="22" grpId="1"/>
      <p:bldP spid="23" grpId="0" animBg="1"/>
      <p:bldP spid="23" grpId="1" animBg="1"/>
      <p:bldP spid="24" grpId="0"/>
      <p:bldP spid="24" grpId="1"/>
      <p:bldP spid="25" grpId="0"/>
      <p:bldP spid="25" grpId="1"/>
      <p:bldP spid="26" grpId="0" animBg="1"/>
      <p:bldP spid="27" grpId="0" animBg="1"/>
      <p:bldP spid="28" grpId="0"/>
      <p:bldP spid="28" grpId="1"/>
      <p:bldP spid="29" grpId="0"/>
      <p:bldP spid="30" grpId="0"/>
      <p:bldP spid="31" grpId="0"/>
      <p:bldP spid="32" grpId="0"/>
      <p:bldP spid="33" grpId="0"/>
      <p:bldP spid="34" grpId="0"/>
      <p:bldP spid="35" grpId="0"/>
      <p:bldP spid="36" grpId="0"/>
      <p:bldP spid="37" grpId="0"/>
      <p:bldP spid="38" grpId="0"/>
      <p:bldP spid="39" grpId="0"/>
      <p:bldP spid="40" grpId="0"/>
      <p:bldP spid="40" grpId="1"/>
      <p:bldP spid="41" grpId="0" animBg="1"/>
      <p:bldP spid="41" grpId="1" animBg="1"/>
      <p:bldP spid="4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brief history</a:t>
            </a:r>
            <a:endParaRPr lang="en-US" dirty="0"/>
          </a:p>
        </p:txBody>
      </p:sp>
      <p:sp>
        <p:nvSpPr>
          <p:cNvPr id="3" name="Content Placeholder 2"/>
          <p:cNvSpPr>
            <a:spLocks noGrp="1"/>
          </p:cNvSpPr>
          <p:nvPr>
            <p:ph idx="1"/>
          </p:nvPr>
        </p:nvSpPr>
        <p:spPr/>
        <p:txBody>
          <a:bodyPr/>
          <a:lstStyle/>
          <a:p>
            <a:r>
              <a:rPr lang="en-US" sz="1800" b="1" dirty="0" smtClean="0"/>
              <a:t>2007</a:t>
            </a:r>
            <a:r>
              <a:rPr lang="en-US" sz="1800" dirty="0" smtClean="0"/>
              <a:t> – </a:t>
            </a:r>
            <a:r>
              <a:rPr lang="en-US" sz="1800" dirty="0" err="1" smtClean="0"/>
              <a:t>WaterML</a:t>
            </a:r>
            <a:r>
              <a:rPr lang="en-US" sz="1800" dirty="0" smtClean="0"/>
              <a:t> 1.0 discussion paper to Open Geospatial Consortium</a:t>
            </a:r>
          </a:p>
          <a:p>
            <a:endParaRPr lang="en-US" sz="1800" dirty="0"/>
          </a:p>
          <a:p>
            <a:r>
              <a:rPr lang="en-US" sz="1800" b="1" dirty="0" smtClean="0"/>
              <a:t>2008-2009 </a:t>
            </a:r>
            <a:r>
              <a:rPr lang="en-US" sz="1800" dirty="0" smtClean="0"/>
              <a:t>– Discussions between CUAHSI and CSIRO for a harmonized water observations standard</a:t>
            </a:r>
          </a:p>
          <a:p>
            <a:endParaRPr lang="en-US" sz="1800" dirty="0"/>
          </a:p>
          <a:p>
            <a:r>
              <a:rPr lang="en-US" sz="1800" b="1" dirty="0" smtClean="0"/>
              <a:t>2008-2009 </a:t>
            </a:r>
            <a:r>
              <a:rPr lang="en-US" sz="1800" dirty="0" smtClean="0"/>
              <a:t>– OGC/WMO Hydrology Domain Working Group formed</a:t>
            </a:r>
          </a:p>
          <a:p>
            <a:pPr marL="0" indent="0">
              <a:buNone/>
            </a:pPr>
            <a:endParaRPr lang="en-US" sz="1800" dirty="0"/>
          </a:p>
          <a:p>
            <a:r>
              <a:rPr lang="en-US" sz="1800" b="1" dirty="0" smtClean="0"/>
              <a:t>2010 </a:t>
            </a:r>
            <a:r>
              <a:rPr lang="en-US" sz="1800" dirty="0" smtClean="0"/>
              <a:t>– OGC Discussion paper: “Harmonizing Standards for Water Observations Data”</a:t>
            </a:r>
          </a:p>
          <a:p>
            <a:endParaRPr lang="en-US" sz="1800" dirty="0"/>
          </a:p>
          <a:p>
            <a:r>
              <a:rPr lang="en-US" sz="1800" b="1" dirty="0" smtClean="0"/>
              <a:t>2011</a:t>
            </a:r>
            <a:r>
              <a:rPr lang="en-US" sz="1800" dirty="0" smtClean="0"/>
              <a:t> – Formation of OGC Standards Working Group (SWG) for WaterML2.0 development</a:t>
            </a:r>
          </a:p>
          <a:p>
            <a:endParaRPr lang="en-US" sz="1800" dirty="0"/>
          </a:p>
          <a:p>
            <a:r>
              <a:rPr lang="en-US" sz="1800" b="1" dirty="0" smtClean="0"/>
              <a:t>2012</a:t>
            </a:r>
            <a:r>
              <a:rPr lang="en-US" sz="1800" dirty="0" smtClean="0"/>
              <a:t> – OGC adoption of WaterML2.0 international standard</a:t>
            </a:r>
          </a:p>
          <a:p>
            <a:endParaRPr lang="en-US" sz="1800" dirty="0" smtClean="0"/>
          </a:p>
          <a:p>
            <a:endParaRPr lang="en-US" sz="1800" dirty="0"/>
          </a:p>
          <a:p>
            <a:endParaRPr lang="en-US" sz="1800" dirty="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sp>
        <p:nvSpPr>
          <p:cNvPr id="5" name="TextBox 4"/>
          <p:cNvSpPr txBox="1"/>
          <p:nvPr/>
        </p:nvSpPr>
        <p:spPr>
          <a:xfrm>
            <a:off x="2458776" y="6588125"/>
            <a:ext cx="1782373" cy="215444"/>
          </a:xfrm>
          <a:prstGeom prst="rect">
            <a:avLst/>
          </a:prstGeom>
          <a:noFill/>
        </p:spPr>
        <p:txBody>
          <a:bodyPr wrap="square" rtlCol="0">
            <a:spAutoFit/>
          </a:bodyPr>
          <a:lstStyle/>
          <a:p>
            <a:r>
              <a:rPr lang="en-US" sz="800"/>
              <a:t>(Updated Aug 2015, DArctur)</a:t>
            </a:r>
          </a:p>
        </p:txBody>
      </p:sp>
    </p:spTree>
    <p:extLst>
      <p:ext uri="{BB962C8B-B14F-4D97-AF65-F5344CB8AC3E}">
        <p14:creationId xmlns:p14="http://schemas.microsoft.com/office/powerpoint/2010/main" val="12673504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bwMode="auto">
          <a:xfrm>
            <a:off x="6350" y="1277938"/>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wrap="none" anchor="ctr"/>
          <a:lstStyle/>
          <a:p>
            <a:pPr algn="ctr" defTabSz="914400" eaLnBrk="0" fontAlgn="base" hangingPunct="0">
              <a:spcBef>
                <a:spcPct val="0"/>
              </a:spcBef>
              <a:spcAft>
                <a:spcPct val="0"/>
              </a:spcAft>
              <a:defRPr/>
            </a:pPr>
            <a:endParaRPr lang="en-US" sz="1400" b="1" dirty="0">
              <a:solidFill>
                <a:srgbClr val="000000"/>
              </a:solidFill>
              <a:latin typeface="Arial"/>
              <a:ea typeface="ＭＳ Ｐゴシック"/>
              <a:cs typeface="ＭＳ Ｐゴシック"/>
            </a:endParaRPr>
          </a:p>
        </p:txBody>
      </p:sp>
      <p:sp>
        <p:nvSpPr>
          <p:cNvPr id="51202" name="TextBox 4"/>
          <p:cNvSpPr txBox="1">
            <a:spLocks noChangeArrowheads="1"/>
          </p:cNvSpPr>
          <p:nvPr/>
        </p:nvSpPr>
        <p:spPr bwMode="auto">
          <a:xfrm>
            <a:off x="685800" y="304800"/>
            <a:ext cx="79740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defTabSz="914400" fontAlgn="base">
              <a:spcBef>
                <a:spcPct val="0"/>
              </a:spcBef>
              <a:spcAft>
                <a:spcPct val="0"/>
              </a:spcAft>
            </a:pPr>
            <a:endParaRPr lang="en-US" sz="2800" smtClean="0">
              <a:solidFill>
                <a:srgbClr val="2362FF"/>
              </a:solidFill>
              <a:latin typeface="Arial" charset="0"/>
            </a:endParaRPr>
          </a:p>
        </p:txBody>
      </p:sp>
      <p:sp>
        <p:nvSpPr>
          <p:cNvPr id="51203" name="Title 1"/>
          <p:cNvSpPr>
            <a:spLocks noGrp="1"/>
          </p:cNvSpPr>
          <p:nvPr>
            <p:ph type="title"/>
          </p:nvPr>
        </p:nvSpPr>
        <p:spPr>
          <a:xfrm>
            <a:off x="685800" y="457200"/>
            <a:ext cx="8458200" cy="484188"/>
          </a:xfrm>
        </p:spPr>
        <p:txBody>
          <a:bodyPr/>
          <a:lstStyle/>
          <a:p>
            <a:r>
              <a:rPr sz="3600" dirty="0">
                <a:solidFill>
                  <a:srgbClr val="000000"/>
                </a:solidFill>
                <a:effectLst>
                  <a:outerShdw blurRad="50800" dist="38100" dir="2700000" algn="tl" rotWithShape="0">
                    <a:srgbClr val="000000">
                      <a:alpha val="43000"/>
                    </a:srgbClr>
                  </a:outerShdw>
                </a:effectLst>
                <a:latin typeface="Candara"/>
                <a:ea typeface="ＭＳ Ｐゴシック" charset="0"/>
                <a:cs typeface="Candara"/>
              </a:rPr>
              <a:t>OGC/WMO </a:t>
            </a:r>
            <a:r>
              <a:rPr sz="3200" b="0" dirty="0">
                <a:solidFill>
                  <a:srgbClr val="000000"/>
                </a:solidFill>
                <a:latin typeface="Candara"/>
                <a:ea typeface="ＭＳ Ｐゴシック" charset="0"/>
                <a:cs typeface="Candara"/>
              </a:rPr>
              <a:t>Hydrology Domain Working </a:t>
            </a:r>
            <a:r>
              <a:rPr sz="3200" b="0" dirty="0" smtClean="0">
                <a:solidFill>
                  <a:srgbClr val="000000"/>
                </a:solidFill>
                <a:latin typeface="Candara"/>
                <a:ea typeface="ＭＳ Ｐゴシック" charset="0"/>
                <a:cs typeface="Candara"/>
              </a:rPr>
              <a:t>Group</a:t>
            </a:r>
            <a:endParaRPr sz="3200" dirty="0">
              <a:solidFill>
                <a:srgbClr val="000000"/>
              </a:solidFill>
              <a:latin typeface="Candara"/>
              <a:ea typeface="ＭＳ Ｐゴシック" charset="0"/>
              <a:cs typeface="Candara"/>
            </a:endParaRPr>
          </a:p>
        </p:txBody>
      </p:sp>
      <p:sp>
        <p:nvSpPr>
          <p:cNvPr id="20" name="Rectangle 19"/>
          <p:cNvSpPr/>
          <p:nvPr/>
        </p:nvSpPr>
        <p:spPr>
          <a:xfrm>
            <a:off x="0" y="5929313"/>
            <a:ext cx="9144000" cy="50800"/>
          </a:xfrm>
          <a:prstGeom prst="rect">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latin typeface="Arial"/>
              <a:ea typeface="ＭＳ Ｐゴシック"/>
              <a:cs typeface="ＭＳ Ｐゴシック"/>
            </a:endParaRPr>
          </a:p>
        </p:txBody>
      </p:sp>
      <p:sp>
        <p:nvSpPr>
          <p:cNvPr id="22" name="Oval 21"/>
          <p:cNvSpPr>
            <a:spLocks noChangeAspect="1"/>
          </p:cNvSpPr>
          <p:nvPr/>
        </p:nvSpPr>
        <p:spPr bwMode="auto">
          <a:xfrm>
            <a:off x="511256" y="5846914"/>
            <a:ext cx="266700" cy="266700"/>
          </a:xfrm>
          <a:prstGeom prst="ellipse">
            <a:avLst/>
          </a:prstGeom>
          <a:solidFill>
            <a:schemeClr val="accent3"/>
          </a:solidFill>
          <a:ln w="57150" cmpd="sng">
            <a:solidFill>
              <a:schemeClr val="accent3">
                <a:lumMod val="60000"/>
                <a:lumOff val="4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ctr"/>
          <a:lstStyle/>
          <a:p>
            <a:pPr algn="ctr" defTabSz="914400" eaLnBrk="0" hangingPunct="0">
              <a:defRPr/>
            </a:pPr>
            <a:endParaRPr lang="en-US" sz="1400" b="1" dirty="0">
              <a:solidFill>
                <a:srgbClr val="000000"/>
              </a:solidFill>
              <a:latin typeface="Arial"/>
              <a:ea typeface="ＭＳ Ｐゴシック"/>
              <a:cs typeface="ＭＳ Ｐゴシック"/>
            </a:endParaRPr>
          </a:p>
        </p:txBody>
      </p:sp>
      <p:sp>
        <p:nvSpPr>
          <p:cNvPr id="51241" name="TextBox 25"/>
          <p:cNvSpPr txBox="1">
            <a:spLocks noChangeArrowheads="1"/>
          </p:cNvSpPr>
          <p:nvPr/>
        </p:nvSpPr>
        <p:spPr bwMode="auto">
          <a:xfrm>
            <a:off x="86550" y="6204078"/>
            <a:ext cx="1138238" cy="5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defTabSz="914400" fontAlgn="base">
              <a:lnSpc>
                <a:spcPts val="1800"/>
              </a:lnSpc>
              <a:spcBef>
                <a:spcPct val="0"/>
              </a:spcBef>
              <a:spcAft>
                <a:spcPct val="0"/>
              </a:spcAft>
            </a:pPr>
            <a:r>
              <a:rPr lang="en-US" sz="1800" dirty="0" smtClean="0">
                <a:solidFill>
                  <a:srgbClr val="DFF0FA"/>
                </a:solidFill>
                <a:latin typeface="Arial" charset="0"/>
              </a:rPr>
              <a:t>2008</a:t>
            </a:r>
          </a:p>
        </p:txBody>
      </p:sp>
      <p:sp>
        <p:nvSpPr>
          <p:cNvPr id="36" name="Oval 35"/>
          <p:cNvSpPr>
            <a:spLocks noChangeAspect="1"/>
          </p:cNvSpPr>
          <p:nvPr/>
        </p:nvSpPr>
        <p:spPr bwMode="auto">
          <a:xfrm>
            <a:off x="1773305" y="5807075"/>
            <a:ext cx="271463" cy="271463"/>
          </a:xfrm>
          <a:prstGeom prst="ellipse">
            <a:avLst/>
          </a:prstGeom>
          <a:solidFill>
            <a:schemeClr val="accent3"/>
          </a:solidFill>
          <a:ln w="57150" cmpd="sng">
            <a:solidFill>
              <a:schemeClr val="accent3">
                <a:lumMod val="60000"/>
                <a:lumOff val="4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ctr"/>
          <a:lstStyle/>
          <a:p>
            <a:pPr algn="ctr" defTabSz="914400" eaLnBrk="0" hangingPunct="0">
              <a:defRPr/>
            </a:pPr>
            <a:endParaRPr lang="en-US" sz="1400" b="1" dirty="0">
              <a:solidFill>
                <a:srgbClr val="000000"/>
              </a:solidFill>
              <a:latin typeface="Arial"/>
              <a:ea typeface="ＭＳ Ｐゴシック"/>
              <a:cs typeface="ＭＳ Ｐゴシック"/>
            </a:endParaRPr>
          </a:p>
        </p:txBody>
      </p:sp>
      <p:sp>
        <p:nvSpPr>
          <p:cNvPr id="51239" name="TextBox 36"/>
          <p:cNvSpPr txBox="1">
            <a:spLocks noChangeArrowheads="1"/>
          </p:cNvSpPr>
          <p:nvPr/>
        </p:nvSpPr>
        <p:spPr bwMode="auto">
          <a:xfrm>
            <a:off x="1373288" y="6203673"/>
            <a:ext cx="1138239" cy="55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defTabSz="914400" fontAlgn="base">
              <a:lnSpc>
                <a:spcPts val="1800"/>
              </a:lnSpc>
              <a:spcBef>
                <a:spcPct val="0"/>
              </a:spcBef>
              <a:spcAft>
                <a:spcPct val="0"/>
              </a:spcAft>
            </a:pPr>
            <a:r>
              <a:rPr lang="en-US" sz="1800" dirty="0" smtClean="0">
                <a:solidFill>
                  <a:srgbClr val="DFF0FA"/>
                </a:solidFill>
                <a:latin typeface="Arial" charset="0"/>
              </a:rPr>
              <a:t>2009</a:t>
            </a:r>
          </a:p>
        </p:txBody>
      </p:sp>
      <p:sp>
        <p:nvSpPr>
          <p:cNvPr id="39" name="Oval 38"/>
          <p:cNvSpPr>
            <a:spLocks noChangeAspect="1"/>
          </p:cNvSpPr>
          <p:nvPr/>
        </p:nvSpPr>
        <p:spPr bwMode="auto">
          <a:xfrm>
            <a:off x="3040117" y="5826116"/>
            <a:ext cx="273050" cy="271462"/>
          </a:xfrm>
          <a:prstGeom prst="ellipse">
            <a:avLst/>
          </a:prstGeom>
          <a:solidFill>
            <a:schemeClr val="accent3"/>
          </a:solidFill>
          <a:ln w="57150" cmpd="sng">
            <a:solidFill>
              <a:schemeClr val="accent3">
                <a:lumMod val="60000"/>
                <a:lumOff val="4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ctr"/>
          <a:lstStyle/>
          <a:p>
            <a:pPr algn="ctr" defTabSz="914400" eaLnBrk="0" hangingPunct="0">
              <a:defRPr/>
            </a:pPr>
            <a:endParaRPr lang="en-US" sz="1400" b="1" dirty="0">
              <a:solidFill>
                <a:srgbClr val="000000"/>
              </a:solidFill>
              <a:latin typeface="Arial"/>
              <a:ea typeface="ＭＳ Ｐゴシック"/>
              <a:cs typeface="ＭＳ Ｐゴシック"/>
            </a:endParaRPr>
          </a:p>
        </p:txBody>
      </p:sp>
      <p:sp>
        <p:nvSpPr>
          <p:cNvPr id="51237" name="TextBox 39"/>
          <p:cNvSpPr txBox="1">
            <a:spLocks noChangeArrowheads="1"/>
          </p:cNvSpPr>
          <p:nvPr/>
        </p:nvSpPr>
        <p:spPr bwMode="auto">
          <a:xfrm>
            <a:off x="2607524" y="6203366"/>
            <a:ext cx="1138237" cy="554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defTabSz="914400" fontAlgn="base">
              <a:lnSpc>
                <a:spcPts val="1800"/>
              </a:lnSpc>
              <a:spcBef>
                <a:spcPct val="0"/>
              </a:spcBef>
              <a:spcAft>
                <a:spcPct val="0"/>
              </a:spcAft>
            </a:pPr>
            <a:r>
              <a:rPr lang="en-US" sz="1800" dirty="0" smtClean="0">
                <a:solidFill>
                  <a:srgbClr val="DFF0FA"/>
                </a:solidFill>
                <a:latin typeface="Arial" charset="0"/>
              </a:rPr>
              <a:t>2010</a:t>
            </a:r>
          </a:p>
        </p:txBody>
      </p:sp>
      <p:sp>
        <p:nvSpPr>
          <p:cNvPr id="42" name="Oval 41"/>
          <p:cNvSpPr>
            <a:spLocks noChangeAspect="1"/>
          </p:cNvSpPr>
          <p:nvPr/>
        </p:nvSpPr>
        <p:spPr bwMode="auto">
          <a:xfrm>
            <a:off x="6845314" y="5807075"/>
            <a:ext cx="273050" cy="273050"/>
          </a:xfrm>
          <a:prstGeom prst="ellipse">
            <a:avLst/>
          </a:prstGeom>
          <a:solidFill>
            <a:schemeClr val="accent3"/>
          </a:solidFill>
          <a:ln w="57150" cmpd="sng">
            <a:solidFill>
              <a:schemeClr val="accent3">
                <a:lumMod val="60000"/>
                <a:lumOff val="4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ctr"/>
          <a:lstStyle/>
          <a:p>
            <a:pPr algn="ctr" defTabSz="914400" eaLnBrk="0" hangingPunct="0">
              <a:defRPr/>
            </a:pPr>
            <a:endParaRPr lang="en-US" sz="1400" b="1" dirty="0">
              <a:solidFill>
                <a:srgbClr val="000000"/>
              </a:solidFill>
              <a:latin typeface="Arial"/>
              <a:ea typeface="ＭＳ Ｐゴシック"/>
              <a:cs typeface="ＭＳ Ｐゴシック"/>
            </a:endParaRPr>
          </a:p>
        </p:txBody>
      </p:sp>
      <p:sp>
        <p:nvSpPr>
          <p:cNvPr id="51235" name="TextBox 42"/>
          <p:cNvSpPr txBox="1">
            <a:spLocks noChangeArrowheads="1"/>
          </p:cNvSpPr>
          <p:nvPr/>
        </p:nvSpPr>
        <p:spPr bwMode="auto">
          <a:xfrm>
            <a:off x="3875922" y="6204011"/>
            <a:ext cx="1138238" cy="553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defTabSz="914400" fontAlgn="base">
              <a:lnSpc>
                <a:spcPts val="1800"/>
              </a:lnSpc>
              <a:spcBef>
                <a:spcPct val="0"/>
              </a:spcBef>
              <a:spcAft>
                <a:spcPct val="0"/>
              </a:spcAft>
            </a:pPr>
            <a:r>
              <a:rPr lang="en-US" sz="1800" dirty="0" smtClean="0">
                <a:solidFill>
                  <a:srgbClr val="DFF0FA"/>
                </a:solidFill>
                <a:latin typeface="Arial" charset="0"/>
              </a:rPr>
              <a:t>2011</a:t>
            </a:r>
          </a:p>
        </p:txBody>
      </p:sp>
      <p:sp>
        <p:nvSpPr>
          <p:cNvPr id="45" name="Oval 44"/>
          <p:cNvSpPr>
            <a:spLocks noChangeAspect="1"/>
          </p:cNvSpPr>
          <p:nvPr/>
        </p:nvSpPr>
        <p:spPr bwMode="auto">
          <a:xfrm>
            <a:off x="8113713" y="5805488"/>
            <a:ext cx="274637" cy="274637"/>
          </a:xfrm>
          <a:prstGeom prst="ellipse">
            <a:avLst/>
          </a:prstGeom>
          <a:solidFill>
            <a:schemeClr val="accent3"/>
          </a:solidFill>
          <a:ln w="57150" cmpd="sng">
            <a:solidFill>
              <a:schemeClr val="accent3">
                <a:lumMod val="60000"/>
                <a:lumOff val="4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ctr"/>
          <a:lstStyle/>
          <a:p>
            <a:pPr algn="ctr" defTabSz="914400" eaLnBrk="0" hangingPunct="0">
              <a:defRPr/>
            </a:pPr>
            <a:endParaRPr lang="en-US" sz="1400" b="1" dirty="0">
              <a:solidFill>
                <a:srgbClr val="000000"/>
              </a:solidFill>
              <a:latin typeface="Arial"/>
              <a:ea typeface="ＭＳ Ｐゴシック"/>
              <a:cs typeface="ＭＳ Ｐゴシック"/>
            </a:endParaRPr>
          </a:p>
        </p:txBody>
      </p:sp>
      <p:sp>
        <p:nvSpPr>
          <p:cNvPr id="51233" name="TextBox 45"/>
          <p:cNvSpPr txBox="1">
            <a:spLocks noChangeArrowheads="1"/>
          </p:cNvSpPr>
          <p:nvPr/>
        </p:nvSpPr>
        <p:spPr bwMode="auto">
          <a:xfrm>
            <a:off x="5146675" y="6203742"/>
            <a:ext cx="1138237" cy="554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defTabSz="914400" fontAlgn="base">
              <a:lnSpc>
                <a:spcPts val="1800"/>
              </a:lnSpc>
              <a:spcBef>
                <a:spcPct val="0"/>
              </a:spcBef>
              <a:spcAft>
                <a:spcPct val="0"/>
              </a:spcAft>
            </a:pPr>
            <a:r>
              <a:rPr lang="en-US" sz="1800" dirty="0" smtClean="0">
                <a:solidFill>
                  <a:srgbClr val="DFF0FA"/>
                </a:solidFill>
                <a:latin typeface="Arial" charset="0"/>
              </a:rPr>
              <a:t>2012</a:t>
            </a:r>
          </a:p>
        </p:txBody>
      </p:sp>
      <p:cxnSp>
        <p:nvCxnSpPr>
          <p:cNvPr id="56" name="Straight Connector 55"/>
          <p:cNvCxnSpPr/>
          <p:nvPr/>
        </p:nvCxnSpPr>
        <p:spPr bwMode="auto">
          <a:xfrm flipV="1">
            <a:off x="1932987" y="4303713"/>
            <a:ext cx="0" cy="1503362"/>
          </a:xfrm>
          <a:prstGeom prst="line">
            <a:avLst/>
          </a:prstGeom>
          <a:noFill/>
          <a:ln w="19050" cap="flat" cmpd="sng" algn="ctr">
            <a:solidFill>
              <a:schemeClr val="accent3">
                <a:lumMod val="60000"/>
                <a:lumOff val="40000"/>
              </a:schemeClr>
            </a:solidFill>
            <a:prstDash val="solid"/>
            <a:round/>
            <a:headEnd type="none" w="med" len="med"/>
            <a:tailEnd type="none" w="med" len="med"/>
          </a:ln>
          <a:effectLst/>
        </p:spPr>
      </p:cxnSp>
      <p:cxnSp>
        <p:nvCxnSpPr>
          <p:cNvPr id="21" name="Straight Connector 20"/>
          <p:cNvCxnSpPr/>
          <p:nvPr/>
        </p:nvCxnSpPr>
        <p:spPr bwMode="auto">
          <a:xfrm flipH="1" flipV="1">
            <a:off x="654876" y="3039353"/>
            <a:ext cx="1588" cy="2797829"/>
          </a:xfrm>
          <a:prstGeom prst="line">
            <a:avLst/>
          </a:prstGeom>
          <a:noFill/>
          <a:ln w="19050" cap="flat" cmpd="sng" algn="ctr">
            <a:solidFill>
              <a:schemeClr val="accent3">
                <a:lumMod val="60000"/>
                <a:lumOff val="40000"/>
              </a:schemeClr>
            </a:solidFill>
            <a:prstDash val="solid"/>
            <a:round/>
            <a:headEnd type="none" w="med" len="med"/>
            <a:tailEnd type="none" w="med" len="med"/>
          </a:ln>
          <a:effectLst/>
        </p:spPr>
      </p:cxnSp>
      <p:sp>
        <p:nvSpPr>
          <p:cNvPr id="51227" name="TextBox 50"/>
          <p:cNvSpPr txBox="1">
            <a:spLocks noChangeArrowheads="1"/>
          </p:cNvSpPr>
          <p:nvPr/>
        </p:nvSpPr>
        <p:spPr bwMode="auto">
          <a:xfrm>
            <a:off x="67334" y="2809416"/>
            <a:ext cx="3109309" cy="466217"/>
          </a:xfrm>
          <a:prstGeom prst="rect">
            <a:avLst/>
          </a:prstGeom>
          <a:solidFill>
            <a:schemeClr val="bg1"/>
          </a:solidFill>
          <a:ln w="19050">
            <a:solidFill>
              <a:srgbClr val="00B9F2"/>
            </a:solidFill>
            <a:miter lim="800000"/>
            <a:headEnd/>
            <a:tailEnd/>
          </a:ln>
        </p:spPr>
        <p:txBody>
          <a:bodyPr wrap="none"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marL="171450" indent="-171450" defTabSz="914400" fontAlgn="base">
              <a:lnSpc>
                <a:spcPts val="1800"/>
              </a:lnSpc>
              <a:spcBef>
                <a:spcPct val="0"/>
              </a:spcBef>
              <a:spcAft>
                <a:spcPct val="0"/>
              </a:spcAft>
              <a:buFont typeface="Arial"/>
              <a:buChar char="•"/>
            </a:pPr>
            <a:r>
              <a:rPr lang="en-US" sz="1200" b="0" dirty="0" smtClean="0">
                <a:solidFill>
                  <a:srgbClr val="000000"/>
                </a:solidFill>
                <a:latin typeface="Candara"/>
                <a:cs typeface="Candara"/>
              </a:rPr>
              <a:t>Hydrology Domain Working Group started</a:t>
            </a:r>
          </a:p>
          <a:p>
            <a:pPr marL="171450" indent="-171450" defTabSz="914400" fontAlgn="base">
              <a:lnSpc>
                <a:spcPts val="1800"/>
              </a:lnSpc>
              <a:spcBef>
                <a:spcPct val="0"/>
              </a:spcBef>
              <a:spcAft>
                <a:spcPct val="0"/>
              </a:spcAft>
              <a:buFont typeface="Arial"/>
              <a:buChar char="•"/>
            </a:pPr>
            <a:r>
              <a:rPr lang="en-US" sz="1200" b="0" dirty="0" smtClean="0">
                <a:solidFill>
                  <a:srgbClr val="000000"/>
                </a:solidFill>
                <a:latin typeface="Candara"/>
                <a:cs typeface="Candara"/>
              </a:rPr>
              <a:t>OGC at WMO Commission for Hydrology</a:t>
            </a:r>
          </a:p>
        </p:txBody>
      </p:sp>
      <p:cxnSp>
        <p:nvCxnSpPr>
          <p:cNvPr id="68" name="Straight Connector 67"/>
          <p:cNvCxnSpPr/>
          <p:nvPr/>
        </p:nvCxnSpPr>
        <p:spPr bwMode="auto">
          <a:xfrm flipV="1">
            <a:off x="8251825" y="2774643"/>
            <a:ext cx="0" cy="3041959"/>
          </a:xfrm>
          <a:prstGeom prst="line">
            <a:avLst/>
          </a:prstGeom>
          <a:noFill/>
          <a:ln w="19050" cap="flat" cmpd="sng" algn="ctr">
            <a:solidFill>
              <a:schemeClr val="accent3">
                <a:lumMod val="60000"/>
                <a:lumOff val="40000"/>
              </a:schemeClr>
            </a:solidFill>
            <a:prstDash val="solid"/>
            <a:round/>
            <a:headEnd type="none" w="med" len="med"/>
            <a:tailEnd type="none" w="med" len="med"/>
          </a:ln>
          <a:effectLst/>
        </p:spPr>
      </p:cxnSp>
      <p:grpSp>
        <p:nvGrpSpPr>
          <p:cNvPr id="51219" name="Group 4104"/>
          <p:cNvGrpSpPr>
            <a:grpSpLocks/>
          </p:cNvGrpSpPr>
          <p:nvPr/>
        </p:nvGrpSpPr>
        <p:grpSpPr bwMode="auto">
          <a:xfrm>
            <a:off x="5316645" y="2353794"/>
            <a:ext cx="1435100" cy="515938"/>
            <a:chOff x="7020474" y="2115825"/>
            <a:chExt cx="1434551" cy="515945"/>
          </a:xfrm>
        </p:grpSpPr>
        <p:sp>
          <p:nvSpPr>
            <p:cNvPr id="77" name="TextBox 76"/>
            <p:cNvSpPr txBox="1"/>
            <p:nvPr/>
          </p:nvSpPr>
          <p:spPr>
            <a:xfrm>
              <a:off x="7020474" y="2115825"/>
              <a:ext cx="1434551" cy="515945"/>
            </a:xfrm>
            <a:prstGeom prst="rect">
              <a:avLst/>
            </a:prstGeom>
            <a:solidFill>
              <a:schemeClr val="tx2"/>
            </a:solidFill>
            <a:ln w="19050" cmpd="sng">
              <a:solidFill>
                <a:schemeClr val="accent4">
                  <a:lumMod val="60000"/>
                  <a:lumOff val="40000"/>
                </a:schemeClr>
              </a:solidFill>
            </a:ln>
          </p:spPr>
          <p:txBody>
            <a:bodyPr/>
            <a:lstStyle/>
            <a:p>
              <a:pPr algn="ctr" defTabSz="914400">
                <a:defRPr/>
              </a:pPr>
              <a:endParaRPr lang="en-US" sz="1400" b="1" dirty="0">
                <a:solidFill>
                  <a:prstClr val="white"/>
                </a:solidFill>
                <a:latin typeface="Arial"/>
                <a:ea typeface="ＭＳ Ｐゴシック"/>
                <a:cs typeface="ＭＳ Ｐゴシック"/>
              </a:endParaRPr>
            </a:p>
          </p:txBody>
        </p:sp>
        <p:pic>
          <p:nvPicPr>
            <p:cNvPr id="51222" name="Picture 4"/>
            <p:cNvPicPr>
              <a:picLocks noChangeAspect="1" noChangeArrowheads="1"/>
            </p:cNvPicPr>
            <p:nvPr/>
          </p:nvPicPr>
          <p:blipFill>
            <a:blip r:embed="rId3" cstate="email">
              <a:extLst>
                <a:ext uri="{28A0092B-C50C-407E-A947-70E740481C1C}">
                  <a14:useLocalDpi xmlns:a14="http://schemas.microsoft.com/office/drawing/2010/main" val="0"/>
                </a:ext>
              </a:extLst>
            </a:blip>
            <a:srcRect r="51204" b="38982"/>
            <a:stretch>
              <a:fillRect/>
            </a:stretch>
          </p:blipFill>
          <p:spPr bwMode="auto">
            <a:xfrm>
              <a:off x="7108700" y="2218701"/>
              <a:ext cx="1258652" cy="309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1215" name="Group 52"/>
          <p:cNvGrpSpPr>
            <a:grpSpLocks/>
          </p:cNvGrpSpPr>
          <p:nvPr/>
        </p:nvGrpSpPr>
        <p:grpSpPr bwMode="auto">
          <a:xfrm>
            <a:off x="122339" y="1541462"/>
            <a:ext cx="4778375" cy="485775"/>
            <a:chOff x="-63960" y="1499291"/>
            <a:chExt cx="3428810" cy="499935"/>
          </a:xfrm>
        </p:grpSpPr>
        <p:sp>
          <p:nvSpPr>
            <p:cNvPr id="54" name="Rounded Rectangle 53"/>
            <p:cNvSpPr/>
            <p:nvPr/>
          </p:nvSpPr>
          <p:spPr bwMode="auto">
            <a:xfrm>
              <a:off x="-63960" y="1499291"/>
              <a:ext cx="3428810" cy="499935"/>
            </a:xfrm>
            <a:prstGeom prst="roundRect">
              <a:avLst>
                <a:gd name="adj" fmla="val 11438"/>
              </a:avLst>
            </a:prstGeom>
            <a:solidFill>
              <a:schemeClr val="accent4">
                <a:lumMod val="20000"/>
                <a:lumOff val="80000"/>
              </a:schemeClr>
            </a:solidFill>
            <a:ln w="19050" cmpd="sng">
              <a:solidFill>
                <a:schemeClr val="accent4">
                  <a:lumMod val="60000"/>
                  <a:lumOff val="40000"/>
                </a:schemeClr>
              </a:soli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wrap="none" anchor="ctr"/>
            <a:lstStyle/>
            <a:p>
              <a:pPr algn="ctr" defTabSz="914400" eaLnBrk="0" fontAlgn="base" hangingPunct="0">
                <a:spcBef>
                  <a:spcPct val="0"/>
                </a:spcBef>
                <a:spcAft>
                  <a:spcPct val="0"/>
                </a:spcAft>
                <a:defRPr/>
              </a:pPr>
              <a:endParaRPr lang="en-US" sz="1400" b="1" dirty="0">
                <a:solidFill>
                  <a:srgbClr val="000000"/>
                </a:solidFill>
                <a:latin typeface="Candara"/>
                <a:ea typeface="ＭＳ Ｐゴシック"/>
                <a:cs typeface="Candara"/>
              </a:endParaRPr>
            </a:p>
          </p:txBody>
        </p:sp>
        <p:sp>
          <p:nvSpPr>
            <p:cNvPr id="51217" name="TextBox 54"/>
            <p:cNvSpPr txBox="1">
              <a:spLocks noChangeArrowheads="1"/>
            </p:cNvSpPr>
            <p:nvPr/>
          </p:nvSpPr>
          <p:spPr bwMode="auto">
            <a:xfrm>
              <a:off x="287645" y="1583718"/>
              <a:ext cx="2724983" cy="285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defTabSz="914400" eaLnBrk="1" fontAlgn="base" hangingPunct="1">
                <a:spcBef>
                  <a:spcPct val="0"/>
                </a:spcBef>
                <a:spcAft>
                  <a:spcPct val="0"/>
                </a:spcAft>
              </a:pPr>
              <a:r>
                <a:rPr lang="en-US" sz="1800" dirty="0" smtClean="0">
                  <a:solidFill>
                    <a:srgbClr val="000000"/>
                  </a:solidFill>
                  <a:latin typeface="Candara"/>
                  <a:cs typeface="Candara"/>
                </a:rPr>
                <a:t>7+ Year International Effort </a:t>
              </a:r>
              <a:r>
                <a:rPr lang="en-US" sz="1800" dirty="0" smtClean="0">
                  <a:solidFill>
                    <a:srgbClr val="2191D2"/>
                  </a:solidFill>
                  <a:latin typeface="Candara"/>
                  <a:cs typeface="Candara"/>
                </a:rPr>
                <a:t>– WaterML</a:t>
              </a:r>
            </a:p>
          </p:txBody>
        </p:sp>
      </p:grpSp>
      <p:cxnSp>
        <p:nvCxnSpPr>
          <p:cNvPr id="46" name="Straight Connector 45"/>
          <p:cNvCxnSpPr/>
          <p:nvPr/>
        </p:nvCxnSpPr>
        <p:spPr bwMode="auto">
          <a:xfrm flipV="1">
            <a:off x="4445041" y="4303713"/>
            <a:ext cx="0" cy="1676401"/>
          </a:xfrm>
          <a:prstGeom prst="line">
            <a:avLst/>
          </a:prstGeom>
          <a:noFill/>
          <a:ln w="19050" cap="flat" cmpd="sng" algn="ctr">
            <a:solidFill>
              <a:schemeClr val="accent3">
                <a:lumMod val="60000"/>
                <a:lumOff val="40000"/>
              </a:schemeClr>
            </a:solidFill>
            <a:prstDash val="solid"/>
            <a:round/>
            <a:headEnd type="none" w="med" len="med"/>
            <a:tailEnd type="none" w="med" len="med"/>
          </a:ln>
          <a:effectLst/>
        </p:spPr>
      </p:cxnSp>
      <p:cxnSp>
        <p:nvCxnSpPr>
          <p:cNvPr id="50" name="Straight Connector 49"/>
          <p:cNvCxnSpPr/>
          <p:nvPr/>
        </p:nvCxnSpPr>
        <p:spPr bwMode="auto">
          <a:xfrm flipV="1">
            <a:off x="5713440" y="2868613"/>
            <a:ext cx="0" cy="3089600"/>
          </a:xfrm>
          <a:prstGeom prst="line">
            <a:avLst/>
          </a:prstGeom>
          <a:noFill/>
          <a:ln w="19050" cap="flat" cmpd="sng" algn="ctr">
            <a:solidFill>
              <a:schemeClr val="accent3">
                <a:lumMod val="60000"/>
                <a:lumOff val="40000"/>
              </a:schemeClr>
            </a:solidFill>
            <a:prstDash val="solid"/>
            <a:round/>
            <a:headEnd type="none" w="med" len="med"/>
            <a:tailEnd type="none" w="med" len="med"/>
          </a:ln>
          <a:effectLst/>
        </p:spPr>
      </p:cxnSp>
      <p:sp>
        <p:nvSpPr>
          <p:cNvPr id="44" name="Oval 43"/>
          <p:cNvSpPr>
            <a:spLocks noChangeAspect="1"/>
          </p:cNvSpPr>
          <p:nvPr/>
        </p:nvSpPr>
        <p:spPr bwMode="auto">
          <a:xfrm>
            <a:off x="4308516" y="5850083"/>
            <a:ext cx="273050" cy="271462"/>
          </a:xfrm>
          <a:prstGeom prst="ellipse">
            <a:avLst/>
          </a:prstGeom>
          <a:solidFill>
            <a:schemeClr val="accent3"/>
          </a:solidFill>
          <a:ln w="57150" cmpd="sng">
            <a:solidFill>
              <a:schemeClr val="accent3">
                <a:lumMod val="60000"/>
                <a:lumOff val="4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ctr"/>
          <a:lstStyle/>
          <a:p>
            <a:pPr algn="ctr" defTabSz="914400" eaLnBrk="0" hangingPunct="0">
              <a:defRPr/>
            </a:pPr>
            <a:endParaRPr lang="en-US" sz="1400" b="1" dirty="0">
              <a:solidFill>
                <a:srgbClr val="000000"/>
              </a:solidFill>
              <a:latin typeface="Arial"/>
              <a:ea typeface="ＭＳ Ｐゴシック"/>
              <a:cs typeface="ＭＳ Ｐゴシック"/>
            </a:endParaRPr>
          </a:p>
        </p:txBody>
      </p:sp>
      <p:sp>
        <p:nvSpPr>
          <p:cNvPr id="51" name="Oval 50"/>
          <p:cNvSpPr>
            <a:spLocks noChangeAspect="1"/>
          </p:cNvSpPr>
          <p:nvPr/>
        </p:nvSpPr>
        <p:spPr bwMode="auto">
          <a:xfrm>
            <a:off x="5576915" y="5828182"/>
            <a:ext cx="273050" cy="271462"/>
          </a:xfrm>
          <a:prstGeom prst="ellipse">
            <a:avLst/>
          </a:prstGeom>
          <a:solidFill>
            <a:schemeClr val="accent3"/>
          </a:solidFill>
          <a:ln w="57150" cmpd="sng">
            <a:solidFill>
              <a:schemeClr val="accent3">
                <a:lumMod val="60000"/>
                <a:lumOff val="40000"/>
              </a:schemeClr>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ctr"/>
          <a:lstStyle/>
          <a:p>
            <a:pPr algn="ctr" defTabSz="914400" eaLnBrk="0" hangingPunct="0">
              <a:defRPr/>
            </a:pPr>
            <a:endParaRPr lang="en-US" sz="1400" b="1" dirty="0">
              <a:solidFill>
                <a:srgbClr val="000000"/>
              </a:solidFill>
              <a:latin typeface="Arial"/>
              <a:ea typeface="ＭＳ Ｐゴシック"/>
              <a:cs typeface="ＭＳ Ｐゴシック"/>
            </a:endParaRPr>
          </a:p>
        </p:txBody>
      </p:sp>
      <p:sp>
        <p:nvSpPr>
          <p:cNvPr id="52" name="TextBox 25"/>
          <p:cNvSpPr txBox="1">
            <a:spLocks noChangeArrowheads="1"/>
          </p:cNvSpPr>
          <p:nvPr/>
        </p:nvSpPr>
        <p:spPr bwMode="auto">
          <a:xfrm>
            <a:off x="6391727" y="6203601"/>
            <a:ext cx="1138238" cy="5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defTabSz="914400" fontAlgn="base">
              <a:lnSpc>
                <a:spcPts val="1800"/>
              </a:lnSpc>
              <a:spcBef>
                <a:spcPct val="0"/>
              </a:spcBef>
              <a:spcAft>
                <a:spcPct val="0"/>
              </a:spcAft>
            </a:pPr>
            <a:r>
              <a:rPr lang="en-US" sz="1800" dirty="0" smtClean="0">
                <a:solidFill>
                  <a:srgbClr val="DFF0FA"/>
                </a:solidFill>
                <a:latin typeface="Arial" charset="0"/>
              </a:rPr>
              <a:t>2013</a:t>
            </a:r>
          </a:p>
        </p:txBody>
      </p:sp>
      <p:sp>
        <p:nvSpPr>
          <p:cNvPr id="53" name="TextBox 36"/>
          <p:cNvSpPr txBox="1">
            <a:spLocks noChangeArrowheads="1"/>
          </p:cNvSpPr>
          <p:nvPr/>
        </p:nvSpPr>
        <p:spPr bwMode="auto">
          <a:xfrm>
            <a:off x="7678465" y="6203196"/>
            <a:ext cx="1138239" cy="55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defTabSz="914400" fontAlgn="base">
              <a:lnSpc>
                <a:spcPts val="1800"/>
              </a:lnSpc>
              <a:spcBef>
                <a:spcPct val="0"/>
              </a:spcBef>
              <a:spcAft>
                <a:spcPct val="0"/>
              </a:spcAft>
            </a:pPr>
            <a:r>
              <a:rPr lang="en-US" sz="1800" dirty="0" smtClean="0">
                <a:solidFill>
                  <a:srgbClr val="DFF0FA"/>
                </a:solidFill>
                <a:latin typeface="Arial" charset="0"/>
              </a:rPr>
              <a:t>2014</a:t>
            </a:r>
          </a:p>
        </p:txBody>
      </p:sp>
      <p:cxnSp>
        <p:nvCxnSpPr>
          <p:cNvPr id="62" name="Straight Connector 61"/>
          <p:cNvCxnSpPr/>
          <p:nvPr/>
        </p:nvCxnSpPr>
        <p:spPr bwMode="auto">
          <a:xfrm flipV="1">
            <a:off x="6978111" y="3952321"/>
            <a:ext cx="33798" cy="1837293"/>
          </a:xfrm>
          <a:prstGeom prst="line">
            <a:avLst/>
          </a:prstGeom>
          <a:noFill/>
          <a:ln w="19050" cap="flat" cmpd="sng" algn="ctr">
            <a:solidFill>
              <a:schemeClr val="accent3">
                <a:lumMod val="60000"/>
                <a:lumOff val="40000"/>
              </a:schemeClr>
            </a:solidFill>
            <a:prstDash val="solid"/>
            <a:round/>
            <a:headEnd type="none" w="med" len="med"/>
            <a:tailEnd type="none" w="med" len="med"/>
          </a:ln>
          <a:effectLst/>
        </p:spPr>
      </p:cxnSp>
      <p:cxnSp>
        <p:nvCxnSpPr>
          <p:cNvPr id="64" name="Straight Connector 63"/>
          <p:cNvCxnSpPr>
            <a:stCxn id="39" idx="0"/>
          </p:cNvCxnSpPr>
          <p:nvPr/>
        </p:nvCxnSpPr>
        <p:spPr bwMode="auto">
          <a:xfrm flipV="1">
            <a:off x="3176640" y="4342625"/>
            <a:ext cx="1" cy="1483491"/>
          </a:xfrm>
          <a:prstGeom prst="line">
            <a:avLst/>
          </a:prstGeom>
          <a:noFill/>
          <a:ln w="19050" cap="flat" cmpd="sng" algn="ctr">
            <a:solidFill>
              <a:schemeClr val="accent3">
                <a:lumMod val="60000"/>
                <a:lumOff val="40000"/>
              </a:schemeClr>
            </a:solidFill>
            <a:prstDash val="solid"/>
            <a:round/>
            <a:headEnd type="none" w="med" len="med"/>
            <a:tailEnd type="none" w="med" len="med"/>
          </a:ln>
          <a:effectLst/>
        </p:spPr>
      </p:cxnSp>
      <p:sp>
        <p:nvSpPr>
          <p:cNvPr id="51225" name="TextBox 51"/>
          <p:cNvSpPr txBox="1">
            <a:spLocks noChangeArrowheads="1"/>
          </p:cNvSpPr>
          <p:nvPr/>
        </p:nvSpPr>
        <p:spPr bwMode="auto">
          <a:xfrm>
            <a:off x="3008347" y="4196664"/>
            <a:ext cx="5520057" cy="1199376"/>
          </a:xfrm>
          <a:prstGeom prst="rect">
            <a:avLst/>
          </a:prstGeom>
          <a:solidFill>
            <a:schemeClr val="bg1"/>
          </a:solidFill>
          <a:ln w="19050">
            <a:solidFill>
              <a:srgbClr val="00B9F2"/>
            </a:solidFill>
            <a:miter lim="800000"/>
            <a:headEnd/>
            <a:tailEnd/>
          </a:ln>
        </p:spPr>
        <p:txBody>
          <a:bodyPr wrap="none"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defTabSz="914400" fontAlgn="base">
              <a:lnSpc>
                <a:spcPts val="1800"/>
              </a:lnSpc>
              <a:spcBef>
                <a:spcPct val="0"/>
              </a:spcBef>
              <a:spcAft>
                <a:spcPct val="0"/>
              </a:spcAft>
            </a:pPr>
            <a:r>
              <a:rPr lang="en-US" sz="1400" b="0" dirty="0" smtClean="0">
                <a:solidFill>
                  <a:srgbClr val="000000"/>
                </a:solidFill>
                <a:latin typeface="Candara"/>
                <a:cs typeface="Candara"/>
              </a:rPr>
              <a:t>Technical Meetings every 3 months</a:t>
            </a:r>
            <a:endParaRPr lang="en-US" sz="1400" b="0" dirty="0">
              <a:solidFill>
                <a:srgbClr val="000000"/>
              </a:solidFill>
              <a:latin typeface="Candara"/>
              <a:cs typeface="Candara"/>
            </a:endParaRPr>
          </a:p>
          <a:p>
            <a:pPr algn="ctr" defTabSz="914400" fontAlgn="base">
              <a:lnSpc>
                <a:spcPts val="1800"/>
              </a:lnSpc>
              <a:spcBef>
                <a:spcPct val="0"/>
              </a:spcBef>
              <a:spcAft>
                <a:spcPct val="0"/>
              </a:spcAft>
            </a:pPr>
            <a:r>
              <a:rPr lang="en-US" sz="1400" b="0" dirty="0" smtClean="0">
                <a:solidFill>
                  <a:srgbClr val="000000"/>
                </a:solidFill>
                <a:latin typeface="Candara"/>
                <a:cs typeface="Candara"/>
              </a:rPr>
              <a:t>Five Interoperability Experiments</a:t>
            </a:r>
            <a:br>
              <a:rPr lang="en-US" sz="1400" b="0" dirty="0" smtClean="0">
                <a:solidFill>
                  <a:srgbClr val="000000"/>
                </a:solidFill>
                <a:latin typeface="Candara"/>
                <a:cs typeface="Candara"/>
              </a:rPr>
            </a:br>
            <a:r>
              <a:rPr lang="en-US" sz="1400" b="0" dirty="0" smtClean="0">
                <a:solidFill>
                  <a:srgbClr val="000000"/>
                </a:solidFill>
                <a:latin typeface="Candara"/>
                <a:cs typeface="Candara"/>
              </a:rPr>
              <a:t> (Surface water, groundwater, ratings-</a:t>
            </a:r>
            <a:r>
              <a:rPr lang="en-US" sz="1400" b="0" dirty="0" err="1" smtClean="0">
                <a:solidFill>
                  <a:srgbClr val="000000"/>
                </a:solidFill>
                <a:latin typeface="Candara"/>
                <a:cs typeface="Candara"/>
              </a:rPr>
              <a:t>gaugings</a:t>
            </a:r>
            <a:r>
              <a:rPr lang="en-US" sz="1400" b="0" dirty="0" smtClean="0">
                <a:solidFill>
                  <a:srgbClr val="000000"/>
                </a:solidFill>
                <a:latin typeface="Candara"/>
                <a:cs typeface="Candara"/>
              </a:rPr>
              <a:t>)</a:t>
            </a:r>
          </a:p>
          <a:p>
            <a:pPr algn="ctr" defTabSz="914400" fontAlgn="base">
              <a:lnSpc>
                <a:spcPts val="1800"/>
              </a:lnSpc>
              <a:spcBef>
                <a:spcPct val="0"/>
              </a:spcBef>
              <a:spcAft>
                <a:spcPct val="0"/>
              </a:spcAft>
            </a:pPr>
            <a:r>
              <a:rPr lang="en-US" sz="1400" b="0" dirty="0" smtClean="0">
                <a:solidFill>
                  <a:srgbClr val="000000"/>
                </a:solidFill>
                <a:latin typeface="Candara"/>
                <a:cs typeface="Candara"/>
              </a:rPr>
              <a:t>Annual week-long workshops</a:t>
            </a:r>
          </a:p>
          <a:p>
            <a:pPr algn="ctr" defTabSz="914400" fontAlgn="base">
              <a:lnSpc>
                <a:spcPts val="1800"/>
              </a:lnSpc>
              <a:spcBef>
                <a:spcPct val="0"/>
              </a:spcBef>
              <a:spcAft>
                <a:spcPct val="0"/>
              </a:spcAft>
            </a:pPr>
            <a:r>
              <a:rPr lang="en-US" sz="1400" b="0" dirty="0" smtClean="0">
                <a:solidFill>
                  <a:srgbClr val="000000"/>
                </a:solidFill>
                <a:latin typeface="Candara"/>
                <a:cs typeface="Candara"/>
              </a:rPr>
              <a:t>Involvement by many countries</a:t>
            </a:r>
          </a:p>
        </p:txBody>
      </p:sp>
      <p:sp>
        <p:nvSpPr>
          <p:cNvPr id="58" name="TextBox 57"/>
          <p:cNvSpPr txBox="1"/>
          <p:nvPr/>
        </p:nvSpPr>
        <p:spPr bwMode="auto">
          <a:xfrm>
            <a:off x="7324150" y="2362200"/>
            <a:ext cx="1575663" cy="508014"/>
          </a:xfrm>
          <a:prstGeom prst="rect">
            <a:avLst/>
          </a:prstGeom>
          <a:solidFill>
            <a:schemeClr val="tx2">
              <a:lumMod val="75000"/>
              <a:lumOff val="25000"/>
            </a:schemeClr>
          </a:solidFill>
          <a:ln w="19050" cmpd="sng">
            <a:solidFill>
              <a:schemeClr val="accent4">
                <a:lumMod val="60000"/>
                <a:lumOff val="40000"/>
              </a:schemeClr>
            </a:solidFill>
          </a:ln>
        </p:spPr>
        <p:txBody>
          <a:bodyPr/>
          <a:lstStyle/>
          <a:p>
            <a:pPr algn="ctr" defTabSz="914400">
              <a:defRPr/>
            </a:pPr>
            <a:endParaRPr lang="en-US" sz="1400" b="1" dirty="0">
              <a:solidFill>
                <a:prstClr val="white"/>
              </a:solidFill>
              <a:latin typeface="Arial"/>
              <a:ea typeface="ＭＳ Ｐゴシック"/>
              <a:cs typeface="ＭＳ Ｐゴシック"/>
            </a:endParaRPr>
          </a:p>
        </p:txBody>
      </p:sp>
      <p:sp>
        <p:nvSpPr>
          <p:cNvPr id="12" name="TextBox 11"/>
          <p:cNvSpPr txBox="1"/>
          <p:nvPr/>
        </p:nvSpPr>
        <p:spPr>
          <a:xfrm>
            <a:off x="7324150" y="2362200"/>
            <a:ext cx="1541449" cy="503548"/>
          </a:xfrm>
          <a:prstGeom prst="rect">
            <a:avLst/>
          </a:prstGeom>
          <a:solidFill>
            <a:schemeClr val="tx2"/>
          </a:solidFill>
          <a:effectLst/>
        </p:spPr>
        <p:txBody>
          <a:bodyPr wrap="square" lIns="0" tIns="0" rIns="0" bIns="0" rtlCol="0" anchor="ctr">
            <a:noAutofit/>
          </a:bodyPr>
          <a:lstStyle/>
          <a:p>
            <a:pPr algn="ctr" defTabSz="914400" eaLnBrk="0" hangingPunct="0">
              <a:lnSpc>
                <a:spcPct val="90000"/>
              </a:lnSpc>
            </a:pPr>
            <a:r>
              <a:rPr lang="en-US" sz="1600" dirty="0" smtClean="0">
                <a:solidFill>
                  <a:srgbClr val="FFFFFF"/>
                </a:solidFill>
                <a:effectLst>
                  <a:outerShdw blurRad="50800" dist="38100" dir="2700000" algn="tl" rotWithShape="0">
                    <a:srgbClr val="000000">
                      <a:alpha val="43000"/>
                    </a:srgbClr>
                  </a:outerShdw>
                </a:effectLst>
                <a:latin typeface="Candara"/>
                <a:ea typeface="ＭＳ Ｐゴシック"/>
                <a:cs typeface="Candara"/>
              </a:rPr>
              <a:t>WML2 Part 2</a:t>
            </a:r>
            <a:br>
              <a:rPr lang="en-US" sz="1600" dirty="0" smtClean="0">
                <a:solidFill>
                  <a:srgbClr val="FFFFFF"/>
                </a:solidFill>
                <a:effectLst>
                  <a:outerShdw blurRad="50800" dist="38100" dir="2700000" algn="tl" rotWithShape="0">
                    <a:srgbClr val="000000">
                      <a:alpha val="43000"/>
                    </a:srgbClr>
                  </a:outerShdw>
                </a:effectLst>
                <a:latin typeface="Candara"/>
                <a:ea typeface="ＭＳ Ｐゴシック"/>
                <a:cs typeface="Candara"/>
              </a:rPr>
            </a:br>
            <a:r>
              <a:rPr lang="en-US" sz="1400" dirty="0" smtClean="0">
                <a:solidFill>
                  <a:srgbClr val="FFFFFF"/>
                </a:solidFill>
                <a:effectLst>
                  <a:outerShdw blurRad="50800" dist="38100" dir="2700000" algn="tl" rotWithShape="0">
                    <a:srgbClr val="000000">
                      <a:alpha val="43000"/>
                    </a:srgbClr>
                  </a:outerShdw>
                </a:effectLst>
                <a:latin typeface="Candara"/>
                <a:ea typeface="ＭＳ Ｐゴシック"/>
                <a:cs typeface="Candara"/>
              </a:rPr>
              <a:t>Ratings-Gaugings</a:t>
            </a:r>
          </a:p>
        </p:txBody>
      </p:sp>
      <p:sp>
        <p:nvSpPr>
          <p:cNvPr id="48" name="Rectangle 47"/>
          <p:cNvSpPr>
            <a:spLocks noChangeArrowheads="1"/>
          </p:cNvSpPr>
          <p:nvPr/>
        </p:nvSpPr>
        <p:spPr bwMode="auto">
          <a:xfrm>
            <a:off x="979488" y="6525117"/>
            <a:ext cx="7208344" cy="276999"/>
          </a:xfrm>
          <a:prstGeom prst="rect">
            <a:avLst/>
          </a:prstGeom>
          <a:solidFill>
            <a:schemeClr val="bg1">
              <a:alpha val="59000"/>
            </a:schemeClr>
          </a:solidFill>
          <a:ln w="19050">
            <a:solidFill>
              <a:srgbClr val="00B9F2"/>
            </a:solidFill>
            <a:miter lim="800000"/>
            <a:headEnd/>
            <a:tailEnd/>
          </a:ln>
        </p:spPr>
        <p:txBody>
          <a:bodyPr wrap="square">
            <a:spAutoFit/>
          </a:bodyPr>
          <a:lstStyle/>
          <a:p>
            <a:pPr algn="ctr" defTabSz="914400" fontAlgn="base">
              <a:spcBef>
                <a:spcPct val="0"/>
              </a:spcBef>
              <a:spcAft>
                <a:spcPct val="0"/>
              </a:spcAft>
            </a:pPr>
            <a:r>
              <a:rPr lang="en-US" sz="1200" i="1" dirty="0" smtClean="0">
                <a:solidFill>
                  <a:srgbClr val="000000"/>
                </a:solidFill>
                <a:latin typeface="Arial" charset="0"/>
                <a:ea typeface="ＭＳ Ｐゴシック" charset="0"/>
                <a:cs typeface="ＭＳ Ｐゴシック" charset="0"/>
              </a:rPr>
              <a:t>Acknowledgements</a:t>
            </a:r>
            <a:r>
              <a:rPr lang="en-US" sz="1200" dirty="0" smtClean="0">
                <a:solidFill>
                  <a:srgbClr val="000000"/>
                </a:solidFill>
                <a:latin typeface="Arial" charset="0"/>
                <a:ea typeface="ＭＳ Ｐゴシック" charset="0"/>
                <a:cs typeface="ＭＳ Ｐゴシック" charset="0"/>
              </a:rPr>
              <a:t>: OGC, WMO,  GRDC, NWS, CUAHSI, BoM/CSIRO, USGS, GSC, Kisters, …….</a:t>
            </a:r>
          </a:p>
        </p:txBody>
      </p:sp>
      <p:sp>
        <p:nvSpPr>
          <p:cNvPr id="63" name="Rectangle 6"/>
          <p:cNvSpPr>
            <a:spLocks noChangeArrowheads="1"/>
          </p:cNvSpPr>
          <p:nvPr/>
        </p:nvSpPr>
        <p:spPr bwMode="auto">
          <a:xfrm>
            <a:off x="7125710" y="1885429"/>
            <a:ext cx="1960865" cy="461665"/>
          </a:xfrm>
          <a:prstGeom prst="rect">
            <a:avLst/>
          </a:prstGeom>
          <a:solidFill>
            <a:schemeClr val="bg1"/>
          </a:solidFill>
          <a:ln w="19050">
            <a:solidFill>
              <a:srgbClr val="00B9F2"/>
            </a:solidFill>
            <a:miter lim="800000"/>
            <a:headEnd/>
            <a:tailEnd/>
          </a:ln>
        </p:spPr>
        <p:txBody>
          <a:bodyPr wrap="square">
            <a:spAutoFit/>
          </a:bodyPr>
          <a:lstStyle/>
          <a:p>
            <a:pPr algn="ctr" defTabSz="914400" fontAlgn="base">
              <a:spcBef>
                <a:spcPct val="0"/>
              </a:spcBef>
              <a:spcAft>
                <a:spcPct val="0"/>
              </a:spcAft>
            </a:pPr>
            <a:r>
              <a:rPr lang="en-US" sz="1200" b="1" dirty="0" smtClean="0">
                <a:solidFill>
                  <a:srgbClr val="000000"/>
                </a:solidFill>
                <a:latin typeface="Arial" charset="0"/>
                <a:ea typeface="ＭＳ Ｐゴシック" charset="0"/>
                <a:cs typeface="ＭＳ Ｐゴシック" charset="0"/>
              </a:rPr>
              <a:t>Stage-Discharge values for one cross-section</a:t>
            </a:r>
          </a:p>
        </p:txBody>
      </p:sp>
      <p:sp>
        <p:nvSpPr>
          <p:cNvPr id="51220" name="Rectangle 6"/>
          <p:cNvSpPr>
            <a:spLocks noChangeArrowheads="1"/>
          </p:cNvSpPr>
          <p:nvPr/>
        </p:nvSpPr>
        <p:spPr bwMode="auto">
          <a:xfrm>
            <a:off x="5091580" y="1884200"/>
            <a:ext cx="1920052" cy="461665"/>
          </a:xfrm>
          <a:prstGeom prst="rect">
            <a:avLst/>
          </a:prstGeom>
          <a:solidFill>
            <a:schemeClr val="bg1"/>
          </a:solidFill>
          <a:ln w="19050">
            <a:solidFill>
              <a:srgbClr val="00B9F2"/>
            </a:solidFill>
            <a:miter lim="800000"/>
            <a:headEnd/>
            <a:tailEnd/>
          </a:ln>
        </p:spPr>
        <p:txBody>
          <a:bodyPr wrap="square">
            <a:spAutoFit/>
          </a:bodyPr>
          <a:lstStyle/>
          <a:p>
            <a:pPr algn="ctr" defTabSz="914400" fontAlgn="base">
              <a:spcBef>
                <a:spcPct val="0"/>
              </a:spcBef>
              <a:spcAft>
                <a:spcPct val="0"/>
              </a:spcAft>
            </a:pPr>
            <a:r>
              <a:rPr lang="en-US" sz="1200" b="1" dirty="0" smtClean="0">
                <a:solidFill>
                  <a:srgbClr val="000000"/>
                </a:solidFill>
                <a:latin typeface="Arial" charset="0"/>
                <a:ea typeface="ＭＳ Ｐゴシック" charset="0"/>
                <a:cs typeface="ＭＳ Ｐゴシック" charset="0"/>
              </a:rPr>
              <a:t>A time series for one variable at one location</a:t>
            </a:r>
          </a:p>
        </p:txBody>
      </p:sp>
      <p:sp>
        <p:nvSpPr>
          <p:cNvPr id="16" name="TextBox 15"/>
          <p:cNvSpPr txBox="1"/>
          <p:nvPr/>
        </p:nvSpPr>
        <p:spPr>
          <a:xfrm>
            <a:off x="7210197" y="1591467"/>
            <a:ext cx="1689616" cy="268670"/>
          </a:xfrm>
          <a:prstGeom prst="rect">
            <a:avLst/>
          </a:prstGeom>
          <a:noFill/>
          <a:effectLst/>
        </p:spPr>
        <p:txBody>
          <a:bodyPr wrap="square" lIns="0" tIns="0" rIns="0" bIns="0" rtlCol="0">
            <a:noAutofit/>
          </a:bodyPr>
          <a:lstStyle/>
          <a:p>
            <a:pPr algn="ctr" defTabSz="914400" eaLnBrk="0" hangingPunct="0">
              <a:lnSpc>
                <a:spcPts val="1800"/>
              </a:lnSpc>
            </a:pPr>
            <a:r>
              <a:rPr lang="en-US" sz="1400" i="1" dirty="0" smtClean="0">
                <a:solidFill>
                  <a:prstClr val="white">
                    <a:lumMod val="50000"/>
                  </a:prstClr>
                </a:solidFill>
                <a:latin typeface="Arial"/>
                <a:ea typeface="ＭＳ Ｐゴシック"/>
                <a:cs typeface="ＭＳ Ｐゴシック"/>
              </a:rPr>
              <a:t>(vote pending)</a:t>
            </a:r>
          </a:p>
        </p:txBody>
      </p:sp>
      <p:sp>
        <p:nvSpPr>
          <p:cNvPr id="47" name="TextBox 51"/>
          <p:cNvSpPr txBox="1">
            <a:spLocks noChangeArrowheads="1"/>
          </p:cNvSpPr>
          <p:nvPr/>
        </p:nvSpPr>
        <p:spPr bwMode="auto">
          <a:xfrm>
            <a:off x="728732" y="3514520"/>
            <a:ext cx="2215070" cy="1000230"/>
          </a:xfrm>
          <a:prstGeom prst="rect">
            <a:avLst/>
          </a:prstGeom>
          <a:solidFill>
            <a:schemeClr val="bg1"/>
          </a:solidFill>
          <a:ln w="19050">
            <a:solidFill>
              <a:srgbClr val="00B9F2"/>
            </a:solidFill>
            <a:miter lim="800000"/>
            <a:headEnd/>
            <a:tailEnd/>
          </a:ln>
        </p:spPr>
        <p:txBody>
          <a:bodyPr wrap="none" lIns="0" tIns="0" rIns="0" bIns="0"/>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defTabSz="914400" fontAlgn="base">
              <a:lnSpc>
                <a:spcPct val="90000"/>
              </a:lnSpc>
              <a:spcBef>
                <a:spcPct val="0"/>
              </a:spcBef>
              <a:spcAft>
                <a:spcPct val="0"/>
              </a:spcAft>
            </a:pPr>
            <a:r>
              <a:rPr lang="en-US" sz="1200" b="0" dirty="0" smtClean="0">
                <a:solidFill>
                  <a:srgbClr val="000000"/>
                </a:solidFill>
                <a:latin typeface="Candara"/>
                <a:cs typeface="Candara"/>
              </a:rPr>
              <a:t>Memorandum of Understanding </a:t>
            </a:r>
            <a:br>
              <a:rPr lang="en-US" sz="1200" b="0" dirty="0" smtClean="0">
                <a:solidFill>
                  <a:srgbClr val="000000"/>
                </a:solidFill>
                <a:latin typeface="Candara"/>
                <a:cs typeface="Candara"/>
              </a:rPr>
            </a:br>
            <a:r>
              <a:rPr lang="en-US" sz="1200" b="0" dirty="0" smtClean="0">
                <a:solidFill>
                  <a:srgbClr val="000000"/>
                </a:solidFill>
                <a:latin typeface="Candara"/>
                <a:cs typeface="Candara"/>
              </a:rPr>
              <a:t>between the </a:t>
            </a:r>
            <a:br>
              <a:rPr lang="en-US" sz="1200" b="0" dirty="0" smtClean="0">
                <a:solidFill>
                  <a:srgbClr val="000000"/>
                </a:solidFill>
                <a:latin typeface="Candara"/>
                <a:cs typeface="Candara"/>
              </a:rPr>
            </a:br>
            <a:r>
              <a:rPr lang="en-US" sz="1200" b="0" dirty="0" smtClean="0">
                <a:solidFill>
                  <a:srgbClr val="000000"/>
                </a:solidFill>
                <a:latin typeface="Candara"/>
                <a:cs typeface="Candara"/>
              </a:rPr>
              <a:t>World Meteorological</a:t>
            </a:r>
            <a:br>
              <a:rPr lang="en-US" sz="1200" b="0" dirty="0" smtClean="0">
                <a:solidFill>
                  <a:srgbClr val="000000"/>
                </a:solidFill>
                <a:latin typeface="Candara"/>
                <a:cs typeface="Candara"/>
              </a:rPr>
            </a:br>
            <a:r>
              <a:rPr lang="en-US" sz="1200" b="0" dirty="0" smtClean="0">
                <a:solidFill>
                  <a:srgbClr val="000000"/>
                </a:solidFill>
                <a:latin typeface="Candara"/>
                <a:cs typeface="Candara"/>
              </a:rPr>
              <a:t>Organization </a:t>
            </a:r>
            <a:br>
              <a:rPr lang="en-US" sz="1200" b="0" dirty="0" smtClean="0">
                <a:solidFill>
                  <a:srgbClr val="000000"/>
                </a:solidFill>
                <a:latin typeface="Candara"/>
                <a:cs typeface="Candara"/>
              </a:rPr>
            </a:br>
            <a:r>
              <a:rPr lang="en-US" sz="1200" b="0" dirty="0" smtClean="0">
                <a:solidFill>
                  <a:srgbClr val="000000"/>
                </a:solidFill>
                <a:latin typeface="Candara"/>
                <a:cs typeface="Candara"/>
              </a:rPr>
              <a:t>and the </a:t>
            </a:r>
            <a:br>
              <a:rPr lang="en-US" sz="1200" b="0" dirty="0" smtClean="0">
                <a:solidFill>
                  <a:srgbClr val="000000"/>
                </a:solidFill>
                <a:latin typeface="Candara"/>
                <a:cs typeface="Candara"/>
              </a:rPr>
            </a:br>
            <a:r>
              <a:rPr lang="en-US" sz="1200" b="0" dirty="0" smtClean="0">
                <a:solidFill>
                  <a:srgbClr val="000000"/>
                </a:solidFill>
                <a:latin typeface="Candara"/>
                <a:cs typeface="Candara"/>
              </a:rPr>
              <a:t>Open Geospatial Consortium</a:t>
            </a:r>
          </a:p>
        </p:txBody>
      </p:sp>
      <p:sp>
        <p:nvSpPr>
          <p:cNvPr id="59" name="Rectangle 6"/>
          <p:cNvSpPr>
            <a:spLocks noChangeArrowheads="1"/>
          </p:cNvSpPr>
          <p:nvPr/>
        </p:nvSpPr>
        <p:spPr bwMode="auto">
          <a:xfrm>
            <a:off x="6751745" y="3106701"/>
            <a:ext cx="1776659" cy="830997"/>
          </a:xfrm>
          <a:prstGeom prst="rect">
            <a:avLst/>
          </a:prstGeom>
          <a:solidFill>
            <a:schemeClr val="tx2"/>
          </a:solidFill>
          <a:ln w="19050">
            <a:solidFill>
              <a:srgbClr val="00B9F2"/>
            </a:solidFill>
            <a:miter lim="800000"/>
            <a:headEnd/>
            <a:tailEnd/>
          </a:ln>
        </p:spPr>
        <p:txBody>
          <a:bodyPr wrap="square">
            <a:spAutoFit/>
          </a:bodyPr>
          <a:lstStyle/>
          <a:p>
            <a:pPr algn="ctr" defTabSz="914400" fontAlgn="base">
              <a:spcBef>
                <a:spcPct val="0"/>
              </a:spcBef>
              <a:spcAft>
                <a:spcPct val="0"/>
              </a:spcAft>
            </a:pPr>
            <a:r>
              <a:rPr lang="en-US" sz="1200" dirty="0" smtClean="0">
                <a:solidFill>
                  <a:prstClr val="white"/>
                </a:solidFill>
                <a:latin typeface="Candara"/>
                <a:ea typeface="ＭＳ Ｐゴシック" charset="0"/>
                <a:cs typeface="Candara"/>
              </a:rPr>
              <a:t>Sensor Observation Service 2.0 </a:t>
            </a:r>
          </a:p>
          <a:p>
            <a:pPr algn="ctr" defTabSz="914400" fontAlgn="base">
              <a:spcBef>
                <a:spcPct val="0"/>
              </a:spcBef>
              <a:spcAft>
                <a:spcPct val="0"/>
              </a:spcAft>
            </a:pPr>
            <a:r>
              <a:rPr lang="en-US" sz="1200" dirty="0" smtClean="0">
                <a:solidFill>
                  <a:prstClr val="white"/>
                </a:solidFill>
                <a:latin typeface="Candara"/>
                <a:ea typeface="ＭＳ Ｐゴシック" charset="0"/>
                <a:cs typeface="Candara"/>
              </a:rPr>
              <a:t>Hydrology Profile</a:t>
            </a:r>
          </a:p>
          <a:p>
            <a:pPr algn="ctr" defTabSz="914400" fontAlgn="base">
              <a:spcBef>
                <a:spcPct val="0"/>
              </a:spcBef>
              <a:spcAft>
                <a:spcPct val="0"/>
              </a:spcAft>
            </a:pPr>
            <a:r>
              <a:rPr lang="en-US" sz="1200" dirty="0" smtClean="0">
                <a:solidFill>
                  <a:prstClr val="white"/>
                </a:solidFill>
                <a:latin typeface="Candara"/>
                <a:ea typeface="ＭＳ Ｐゴシック" charset="0"/>
                <a:cs typeface="Candara"/>
              </a:rPr>
              <a:t>Best Practice</a:t>
            </a:r>
          </a:p>
        </p:txBody>
      </p:sp>
    </p:spTree>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090484" y="1328775"/>
            <a:ext cx="4037764" cy="5259350"/>
          </a:xfrm>
          <a:prstGeom prst="rect">
            <a:avLst/>
          </a:prstGeom>
        </p:spPr>
      </p:pic>
      <p:sp>
        <p:nvSpPr>
          <p:cNvPr id="2" name="Title 1"/>
          <p:cNvSpPr>
            <a:spLocks noGrp="1"/>
          </p:cNvSpPr>
          <p:nvPr>
            <p:ph type="title"/>
          </p:nvPr>
        </p:nvSpPr>
        <p:spPr/>
        <p:txBody>
          <a:bodyPr/>
          <a:lstStyle/>
          <a:p>
            <a:r>
              <a:rPr lang="en-US" dirty="0" smtClean="0"/>
              <a:t>Harmonization</a:t>
            </a:r>
            <a:endParaRPr lang="en-US" dirty="0"/>
          </a:p>
        </p:txBody>
      </p:sp>
      <p:sp>
        <p:nvSpPr>
          <p:cNvPr id="4" name="Footer Placeholder 3"/>
          <p:cNvSpPr>
            <a:spLocks noGrp="1"/>
          </p:cNvSpPr>
          <p:nvPr>
            <p:ph type="ftr" sz="quarter" idx="10"/>
          </p:nvPr>
        </p:nvSpPr>
        <p:spPr/>
        <p:txBody>
          <a:bodyPr/>
          <a:lstStyle/>
          <a:p>
            <a:r>
              <a:rPr lang="en-AU" dirty="0" smtClean="0">
                <a:solidFill>
                  <a:srgbClr val="0099CC"/>
                </a:solidFill>
              </a:rPr>
              <a:t>CSIRO. </a:t>
            </a:r>
            <a:r>
              <a:rPr lang="en-AU" b="0" dirty="0">
                <a:solidFill>
                  <a:srgbClr val="000000"/>
                </a:solidFill>
              </a:rPr>
              <a:t>WaterML2.0 overview</a:t>
            </a:r>
          </a:p>
        </p:txBody>
      </p:sp>
      <p:sp>
        <p:nvSpPr>
          <p:cNvPr id="7" name="Rectangle 6"/>
          <p:cNvSpPr/>
          <p:nvPr/>
        </p:nvSpPr>
        <p:spPr>
          <a:xfrm>
            <a:off x="4323435" y="1231458"/>
            <a:ext cx="1270089" cy="2116567"/>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27" name="Group 26"/>
          <p:cNvGrpSpPr/>
          <p:nvPr/>
        </p:nvGrpSpPr>
        <p:grpSpPr>
          <a:xfrm>
            <a:off x="1026339" y="1190830"/>
            <a:ext cx="6042541" cy="2849891"/>
            <a:chOff x="1026339" y="1190830"/>
            <a:chExt cx="6042541" cy="2849891"/>
          </a:xfrm>
        </p:grpSpPr>
        <p:sp>
          <p:nvSpPr>
            <p:cNvPr id="8" name="Rounded Rectangle 7"/>
            <p:cNvSpPr/>
            <p:nvPr/>
          </p:nvSpPr>
          <p:spPr>
            <a:xfrm>
              <a:off x="1026339" y="1257114"/>
              <a:ext cx="2540175" cy="2783607"/>
            </a:xfrm>
            <a:prstGeom prst="roundRect">
              <a:avLst/>
            </a:prstGeom>
            <a:noFill/>
            <a:ln>
              <a:solidFill>
                <a:schemeClr val="accent5">
                  <a:lumMod val="75000"/>
                </a:schemeClr>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cxnSp>
          <p:nvCxnSpPr>
            <p:cNvPr id="10" name="Straight Arrow Connector 9"/>
            <p:cNvCxnSpPr/>
            <p:nvPr/>
          </p:nvCxnSpPr>
          <p:spPr>
            <a:xfrm flipV="1">
              <a:off x="3566514" y="1898497"/>
              <a:ext cx="1244430" cy="76966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810944" y="1190830"/>
              <a:ext cx="2257936" cy="1477328"/>
            </a:xfrm>
            <a:prstGeom prst="rect">
              <a:avLst/>
            </a:prstGeom>
            <a:noFill/>
          </p:spPr>
          <p:txBody>
            <a:bodyPr wrap="square" rtlCol="0">
              <a:spAutoFit/>
            </a:bodyPr>
            <a:lstStyle/>
            <a:p>
              <a:r>
                <a:rPr lang="en-US" dirty="0" smtClean="0"/>
                <a:t>Scope</a:t>
              </a:r>
            </a:p>
            <a:p>
              <a:endParaRPr lang="en-US" dirty="0"/>
            </a:p>
            <a:p>
              <a:r>
                <a:rPr lang="en-US" dirty="0" smtClean="0"/>
                <a:t>Requirements</a:t>
              </a:r>
            </a:p>
            <a:p>
              <a:endParaRPr lang="en-US" dirty="0"/>
            </a:p>
            <a:p>
              <a:r>
                <a:rPr lang="en-US" dirty="0" smtClean="0"/>
                <a:t>Design</a:t>
              </a:r>
            </a:p>
          </p:txBody>
        </p:sp>
      </p:grpSp>
      <p:grpSp>
        <p:nvGrpSpPr>
          <p:cNvPr id="29" name="Group 28"/>
          <p:cNvGrpSpPr/>
          <p:nvPr/>
        </p:nvGrpSpPr>
        <p:grpSpPr>
          <a:xfrm>
            <a:off x="3385360" y="3831800"/>
            <a:ext cx="4812488" cy="2287005"/>
            <a:chOff x="3385360" y="3831800"/>
            <a:chExt cx="4812488" cy="2287005"/>
          </a:xfrm>
        </p:grpSpPr>
        <p:sp>
          <p:nvSpPr>
            <p:cNvPr id="12" name="TextBox 11"/>
            <p:cNvSpPr txBox="1"/>
            <p:nvPr/>
          </p:nvSpPr>
          <p:spPr>
            <a:xfrm>
              <a:off x="5939912" y="3831800"/>
              <a:ext cx="2257936" cy="1477328"/>
            </a:xfrm>
            <a:prstGeom prst="rect">
              <a:avLst/>
            </a:prstGeom>
            <a:noFill/>
          </p:spPr>
          <p:txBody>
            <a:bodyPr wrap="square" rtlCol="0">
              <a:spAutoFit/>
            </a:bodyPr>
            <a:lstStyle/>
            <a:p>
              <a:r>
                <a:rPr lang="en-US" dirty="0" smtClean="0"/>
                <a:t>Constraints</a:t>
              </a:r>
            </a:p>
            <a:p>
              <a:endParaRPr lang="en-US" dirty="0"/>
            </a:p>
            <a:p>
              <a:r>
                <a:rPr lang="en-US" i="1" dirty="0" smtClean="0"/>
                <a:t>A new environment</a:t>
              </a:r>
            </a:p>
            <a:p>
              <a:endParaRPr lang="en-US" dirty="0"/>
            </a:p>
            <a:p>
              <a:r>
                <a:rPr lang="en-US" dirty="0" smtClean="0"/>
                <a:t>Best practices</a:t>
              </a:r>
            </a:p>
          </p:txBody>
        </p:sp>
        <p:cxnSp>
          <p:nvCxnSpPr>
            <p:cNvPr id="14" name="Straight Arrow Connector 13"/>
            <p:cNvCxnSpPr>
              <a:stCxn id="19" idx="3"/>
            </p:cNvCxnSpPr>
            <p:nvPr/>
          </p:nvCxnSpPr>
          <p:spPr>
            <a:xfrm flipV="1">
              <a:off x="4977724" y="4605139"/>
              <a:ext cx="833896" cy="57083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385360" y="4233135"/>
              <a:ext cx="1592364" cy="1885670"/>
            </a:xfrm>
            <a:prstGeom prst="roundRect">
              <a:avLst/>
            </a:prstGeom>
            <a:noFill/>
            <a:ln>
              <a:solidFill>
                <a:schemeClr val="accent5">
                  <a:lumMod val="75000"/>
                </a:schemeClr>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grpSp>
      <p:grpSp>
        <p:nvGrpSpPr>
          <p:cNvPr id="28" name="Group 27"/>
          <p:cNvGrpSpPr/>
          <p:nvPr/>
        </p:nvGrpSpPr>
        <p:grpSpPr>
          <a:xfrm>
            <a:off x="1369629" y="2558089"/>
            <a:ext cx="5211742" cy="3060435"/>
            <a:chOff x="1369629" y="2558089"/>
            <a:chExt cx="5211742" cy="3060435"/>
          </a:xfrm>
        </p:grpSpPr>
        <p:cxnSp>
          <p:nvCxnSpPr>
            <p:cNvPr id="16" name="Straight Arrow Connector 15"/>
            <p:cNvCxnSpPr/>
            <p:nvPr/>
          </p:nvCxnSpPr>
          <p:spPr>
            <a:xfrm flipV="1">
              <a:off x="3297098" y="3348025"/>
              <a:ext cx="1026337" cy="85151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23435" y="2558089"/>
              <a:ext cx="2257936" cy="923330"/>
            </a:xfrm>
            <a:prstGeom prst="rect">
              <a:avLst/>
            </a:prstGeom>
            <a:noFill/>
          </p:spPr>
          <p:txBody>
            <a:bodyPr wrap="square" rtlCol="0">
              <a:spAutoFit/>
            </a:bodyPr>
            <a:lstStyle/>
            <a:p>
              <a:endParaRPr lang="en-US" dirty="0" smtClean="0"/>
            </a:p>
            <a:p>
              <a:endParaRPr lang="en-US" dirty="0"/>
            </a:p>
            <a:p>
              <a:r>
                <a:rPr lang="en-US" dirty="0" smtClean="0"/>
                <a:t>Do Stuff</a:t>
              </a:r>
            </a:p>
          </p:txBody>
        </p:sp>
        <p:sp>
          <p:nvSpPr>
            <p:cNvPr id="20" name="Rounded Rectangle 19"/>
            <p:cNvSpPr/>
            <p:nvPr/>
          </p:nvSpPr>
          <p:spPr>
            <a:xfrm>
              <a:off x="1369629" y="4122568"/>
              <a:ext cx="2002902" cy="1495956"/>
            </a:xfrm>
            <a:prstGeom prst="roundRect">
              <a:avLst/>
            </a:prstGeom>
            <a:noFill/>
            <a:ln>
              <a:solidFill>
                <a:schemeClr val="accent5">
                  <a:lumMod val="75000"/>
                </a:schemeClr>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9654993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94280" y="2156619"/>
            <a:ext cx="7772400" cy="1500187"/>
          </a:xfrm>
        </p:spPr>
        <p:txBody>
          <a:bodyPr/>
          <a:lstStyle/>
          <a:p>
            <a:r>
              <a:rPr lang="en-US" sz="2400" dirty="0" smtClean="0"/>
              <a:t>Requirements &amp; </a:t>
            </a:r>
          </a:p>
          <a:p>
            <a:r>
              <a:rPr lang="en-US" sz="2400" dirty="0" smtClean="0"/>
              <a:t>Constraints</a:t>
            </a:r>
            <a:endParaRPr lang="en-US" sz="2400" dirty="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WaterML2.0 overview</a:t>
            </a:r>
            <a:endParaRPr lang="en-AU" b="0" dirty="0">
              <a:solidFill>
                <a:srgbClr val="000000"/>
              </a:solidFill>
            </a:endParaRPr>
          </a:p>
        </p:txBody>
      </p:sp>
      <p:pic>
        <p:nvPicPr>
          <p:cNvPr id="6" name="Picture 5"/>
          <p:cNvPicPr>
            <a:picLocks noChangeAspect="1"/>
          </p:cNvPicPr>
          <p:nvPr/>
        </p:nvPicPr>
        <p:blipFill>
          <a:blip r:embed="rId2"/>
          <a:stretch>
            <a:fillRect/>
          </a:stretch>
        </p:blipFill>
        <p:spPr>
          <a:xfrm>
            <a:off x="3324566" y="2814106"/>
            <a:ext cx="5435816" cy="3401181"/>
          </a:xfrm>
          <a:prstGeom prst="rect">
            <a:avLst/>
          </a:prstGeom>
        </p:spPr>
      </p:pic>
      <p:sp>
        <p:nvSpPr>
          <p:cNvPr id="8" name="Rectangle 7"/>
          <p:cNvSpPr/>
          <p:nvPr/>
        </p:nvSpPr>
        <p:spPr>
          <a:xfrm>
            <a:off x="3754331" y="6457320"/>
            <a:ext cx="4572000" cy="261610"/>
          </a:xfrm>
          <a:prstGeom prst="rect">
            <a:avLst/>
          </a:prstGeom>
        </p:spPr>
        <p:txBody>
          <a:bodyPr>
            <a:spAutoFit/>
          </a:bodyPr>
          <a:lstStyle/>
          <a:p>
            <a:r>
              <a:rPr lang="en-US" sz="1050" dirty="0"/>
              <a:t>http://</a:t>
            </a:r>
            <a:r>
              <a:rPr lang="en-US" sz="1050" dirty="0" err="1"/>
              <a:t>spin.atomicobject.com</a:t>
            </a:r>
            <a:r>
              <a:rPr lang="en-US" sz="1050" dirty="0"/>
              <a:t>/2012/01/26/understand-design-or-fail/</a:t>
            </a:r>
          </a:p>
        </p:txBody>
      </p:sp>
    </p:spTree>
    <p:extLst>
      <p:ext uri="{BB962C8B-B14F-4D97-AF65-F5344CB8AC3E}">
        <p14:creationId xmlns:p14="http://schemas.microsoft.com/office/powerpoint/2010/main" val="2388969047"/>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&amp; constraints</a:t>
            </a:r>
            <a:endParaRPr lang="en-US" dirty="0"/>
          </a:p>
        </p:txBody>
      </p:sp>
      <p:sp>
        <p:nvSpPr>
          <p:cNvPr id="3" name="Content Placeholder 2"/>
          <p:cNvSpPr>
            <a:spLocks noGrp="1"/>
          </p:cNvSpPr>
          <p:nvPr>
            <p:ph idx="1"/>
          </p:nvPr>
        </p:nvSpPr>
        <p:spPr/>
        <p:txBody>
          <a:bodyPr/>
          <a:lstStyle/>
          <a:p>
            <a:r>
              <a:rPr lang="en-US" dirty="0" smtClean="0"/>
              <a:t>Initial scope:</a:t>
            </a:r>
          </a:p>
          <a:p>
            <a:pPr lvl="1"/>
            <a:r>
              <a:rPr lang="en-US" dirty="0" smtClean="0"/>
              <a:t>Exchange of point-based time series data</a:t>
            </a:r>
          </a:p>
          <a:p>
            <a:pPr lvl="1"/>
            <a:r>
              <a:rPr lang="en-US" dirty="0" smtClean="0"/>
              <a:t>Includes processed data such as forecasts, aggregations etc.</a:t>
            </a:r>
          </a:p>
          <a:p>
            <a:pPr lvl="1"/>
            <a:r>
              <a:rPr lang="en-US" dirty="0" smtClean="0"/>
              <a:t>Include relevant information on monitoring points, procedures and context</a:t>
            </a:r>
          </a:p>
          <a:p>
            <a:endParaRPr lang="en-US" dirty="0"/>
          </a:p>
          <a:p>
            <a:r>
              <a:rPr lang="en-US" dirty="0" smtClean="0"/>
              <a:t>Working in an OGC – ISO – WMO context</a:t>
            </a:r>
          </a:p>
          <a:p>
            <a:pPr lvl="1"/>
            <a:r>
              <a:rPr lang="en-US" dirty="0" smtClean="0"/>
              <a:t>Need to re-use existing work where possible</a:t>
            </a:r>
          </a:p>
          <a:p>
            <a:pPr lvl="1"/>
            <a:r>
              <a:rPr lang="en-US" dirty="0" smtClean="0"/>
              <a:t>Be consistent</a:t>
            </a:r>
          </a:p>
          <a:p>
            <a:pPr lvl="1"/>
            <a:r>
              <a:rPr lang="en-US" dirty="0" smtClean="0"/>
              <a:t>Assist in developing existing standards if they are not sufficient</a:t>
            </a:r>
          </a:p>
          <a:p>
            <a:pPr lvl="1"/>
            <a:endParaRPr lang="en-US" dirty="0"/>
          </a:p>
          <a:p>
            <a:r>
              <a:rPr lang="en-US" dirty="0" smtClean="0"/>
              <a:t>Corollary</a:t>
            </a:r>
          </a:p>
          <a:p>
            <a:pPr lvl="1"/>
            <a:r>
              <a:rPr lang="en-US" dirty="0" smtClean="0"/>
              <a:t>You need to know what the standards do and how they work</a:t>
            </a:r>
          </a:p>
          <a:p>
            <a:endParaRPr lang="en-US" dirty="0" smtClean="0"/>
          </a:p>
          <a:p>
            <a:pPr marL="360363" lvl="1" indent="0">
              <a:buNone/>
            </a:pPr>
            <a:endParaRPr lang="en-US" dirty="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spTree>
    <p:extLst>
      <p:ext uri="{BB962C8B-B14F-4D97-AF65-F5344CB8AC3E}">
        <p14:creationId xmlns:p14="http://schemas.microsoft.com/office/powerpoint/2010/main" val="2243385255"/>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Relevant standards</a:t>
            </a:r>
            <a:endParaRPr lang="en-US" dirty="0"/>
          </a:p>
        </p:txBody>
      </p:sp>
      <p:sp>
        <p:nvSpPr>
          <p:cNvPr id="3" name="Content Placeholder 2"/>
          <p:cNvSpPr>
            <a:spLocks noGrp="1"/>
          </p:cNvSpPr>
          <p:nvPr>
            <p:ph idx="1"/>
          </p:nvPr>
        </p:nvSpPr>
        <p:spPr/>
        <p:txBody>
          <a:bodyPr/>
          <a:lstStyle/>
          <a:p>
            <a:r>
              <a:rPr lang="en-US" sz="2400" dirty="0" smtClean="0"/>
              <a:t>The Sensor Web</a:t>
            </a:r>
          </a:p>
          <a:p>
            <a:endParaRPr lang="en-US" sz="2400" dirty="0" smtClean="0"/>
          </a:p>
          <a:p>
            <a:r>
              <a:rPr lang="en-US" sz="2400" dirty="0" smtClean="0"/>
              <a:t>Web </a:t>
            </a:r>
            <a:r>
              <a:rPr lang="en-US" sz="2400" dirty="0"/>
              <a:t>of interconnected sensors</a:t>
            </a:r>
          </a:p>
          <a:p>
            <a:pPr lvl="1"/>
            <a:r>
              <a:rPr lang="en-US" sz="2000" dirty="0"/>
              <a:t>From micro to macro</a:t>
            </a:r>
          </a:p>
          <a:p>
            <a:pPr lvl="1"/>
            <a:r>
              <a:rPr lang="en-US" sz="2000" dirty="0"/>
              <a:t>Enhance ‘situation awareness’</a:t>
            </a:r>
          </a:p>
          <a:p>
            <a:pPr lvl="1"/>
            <a:endParaRPr lang="en-US" sz="2000" dirty="0"/>
          </a:p>
          <a:p>
            <a:r>
              <a:rPr lang="en-US" sz="2400" dirty="0"/>
              <a:t>Initial concepts emerged from NASA</a:t>
            </a:r>
            <a:r>
              <a:rPr lang="en-US" sz="2400" baseline="30000" dirty="0"/>
              <a:t>1 </a:t>
            </a:r>
            <a:r>
              <a:rPr lang="en-US" sz="2400" dirty="0"/>
              <a:t>(</a:t>
            </a:r>
            <a:r>
              <a:rPr lang="en-US" sz="2400" dirty="0" err="1"/>
              <a:t>Delin</a:t>
            </a:r>
            <a:r>
              <a:rPr lang="en-US" sz="2400" dirty="0"/>
              <a:t> et at.)</a:t>
            </a:r>
          </a:p>
          <a:p>
            <a:pPr lvl="1"/>
            <a:r>
              <a:rPr lang="en-US" sz="2000" i="1" dirty="0" err="1"/>
              <a:t>Intra</a:t>
            </a:r>
            <a:r>
              <a:rPr lang="en-US" sz="2000" dirty="0" err="1"/>
              <a:t>connected</a:t>
            </a:r>
            <a:r>
              <a:rPr lang="en-US" sz="2000" dirty="0"/>
              <a:t> sensor pods</a:t>
            </a:r>
            <a:endParaRPr lang="en-US" sz="2000" i="1" dirty="0"/>
          </a:p>
          <a:p>
            <a:pPr lvl="1"/>
            <a:endParaRPr lang="en-US" dirty="0"/>
          </a:p>
          <a:p>
            <a:endParaRPr lang="en-US" dirty="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sp>
        <p:nvSpPr>
          <p:cNvPr id="7" name="Footer Placeholder 3"/>
          <p:cNvSpPr txBox="1">
            <a:spLocks/>
          </p:cNvSpPr>
          <p:nvPr/>
        </p:nvSpPr>
        <p:spPr>
          <a:xfrm>
            <a:off x="500342" y="6113334"/>
            <a:ext cx="6401759"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ysClr val="windowText" lastClr="000000">
                    <a:tint val="75000"/>
                  </a:sysClr>
                </a:solidFill>
                <a:effectLst/>
                <a:uLnTx/>
                <a:uFillTx/>
                <a:latin typeface="Calibri"/>
                <a:ea typeface="+mn-ea"/>
                <a:cs typeface="+mn-cs"/>
              </a:rPr>
              <a:t>1. http://</a:t>
            </a:r>
            <a:r>
              <a:rPr kumimoji="0" lang="en-US" sz="1200" b="0" i="0" u="none" strike="noStrike" kern="1200" cap="none" spc="0" normalizeH="0" baseline="0" noProof="0" dirty="0" err="1" smtClean="0">
                <a:ln>
                  <a:noFill/>
                </a:ln>
                <a:solidFill>
                  <a:sysClr val="windowText" lastClr="000000">
                    <a:tint val="75000"/>
                  </a:sysClr>
                </a:solidFill>
                <a:effectLst/>
                <a:uLnTx/>
                <a:uFillTx/>
                <a:latin typeface="Calibri"/>
                <a:ea typeface="+mn-ea"/>
                <a:cs typeface="+mn-cs"/>
              </a:rPr>
              <a:t>www.sensorwaresystems.com</a:t>
            </a:r>
            <a:r>
              <a:rPr kumimoji="0" lang="en-US" sz="1200" b="0" i="0" u="none" strike="noStrike" kern="1200" cap="none" spc="0" normalizeH="0" baseline="0" noProof="0" dirty="0" smtClean="0">
                <a:ln>
                  <a:noFill/>
                </a:ln>
                <a:solidFill>
                  <a:sysClr val="windowText" lastClr="000000">
                    <a:tint val="75000"/>
                  </a:sysClr>
                </a:solidFill>
                <a:effectLst/>
                <a:uLnTx/>
                <a:uFillTx/>
                <a:latin typeface="Calibri"/>
                <a:ea typeface="+mn-ea"/>
                <a:cs typeface="+mn-cs"/>
              </a:rPr>
              <a:t>/historical/resources/</a:t>
            </a:r>
            <a:r>
              <a:rPr kumimoji="0" lang="en-US" sz="1200" b="0" i="0" u="none" strike="noStrike" kern="1200" cap="none" spc="0" normalizeH="0" baseline="0" noProof="0" dirty="0" err="1" smtClean="0">
                <a:ln>
                  <a:noFill/>
                </a:ln>
                <a:solidFill>
                  <a:sysClr val="windowText" lastClr="000000">
                    <a:tint val="75000"/>
                  </a:sysClr>
                </a:solidFill>
                <a:effectLst/>
                <a:uLnTx/>
                <a:uFillTx/>
                <a:latin typeface="Calibri"/>
                <a:ea typeface="+mn-ea"/>
                <a:cs typeface="+mn-cs"/>
              </a:rPr>
              <a:t>sensorweb-concept.pdf</a:t>
            </a:r>
            <a:endParaRPr kumimoji="0" lang="en-US" sz="1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spTree>
    <p:extLst>
      <p:ext uri="{BB962C8B-B14F-4D97-AF65-F5344CB8AC3E}">
        <p14:creationId xmlns:p14="http://schemas.microsoft.com/office/powerpoint/2010/main" val="1333692148"/>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OGC’s Sensor Web</a:t>
            </a:r>
            <a:endParaRPr lang="en-US" dirty="0"/>
          </a:p>
        </p:txBody>
      </p:sp>
      <p:sp>
        <p:nvSpPr>
          <p:cNvPr id="3" name="Content Placeholder 2"/>
          <p:cNvSpPr>
            <a:spLocks noGrp="1"/>
          </p:cNvSpPr>
          <p:nvPr>
            <p:ph idx="1"/>
          </p:nvPr>
        </p:nvSpPr>
        <p:spPr/>
        <p:txBody>
          <a:bodyPr/>
          <a:lstStyle/>
          <a:p>
            <a:r>
              <a:rPr lang="en-US" sz="2400" dirty="0"/>
              <a:t>A service-based approach to providing an interoperability layer on the Web for accessing, controlling and discovering sensors</a:t>
            </a:r>
          </a:p>
          <a:p>
            <a:endParaRPr lang="en-US" sz="2400" dirty="0"/>
          </a:p>
          <a:p>
            <a:r>
              <a:rPr lang="en-US" sz="2400" dirty="0"/>
              <a:t>Sensor Web </a:t>
            </a:r>
            <a:r>
              <a:rPr lang="en-US" sz="2400" i="1" dirty="0"/>
              <a:t>Enablement </a:t>
            </a:r>
            <a:r>
              <a:rPr lang="en-US" sz="2400" dirty="0"/>
              <a:t>(SWE)</a:t>
            </a:r>
          </a:p>
          <a:p>
            <a:endParaRPr lang="en-US" sz="2400" dirty="0"/>
          </a:p>
          <a:p>
            <a:endParaRPr lang="en-US" dirty="0"/>
          </a:p>
          <a:p>
            <a:endParaRPr lang="en-US" dirty="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spTree>
    <p:extLst>
      <p:ext uri="{BB962C8B-B14F-4D97-AF65-F5344CB8AC3E}">
        <p14:creationId xmlns:p14="http://schemas.microsoft.com/office/powerpoint/2010/main" val="629356424"/>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SWE version 1.0</a:t>
            </a:r>
            <a:endParaRPr lang="en-US" dirty="0"/>
          </a:p>
        </p:txBody>
      </p:sp>
      <p:sp>
        <p:nvSpPr>
          <p:cNvPr id="4" name="Footer Placeholder 3"/>
          <p:cNvSpPr>
            <a:spLocks noGrp="1"/>
          </p:cNvSpPr>
          <p:nvPr>
            <p:ph type="ftr" sz="quarter" idx="10"/>
          </p:nvPr>
        </p:nvSpPr>
        <p:spPr/>
        <p:txBody>
          <a:bodyPr/>
          <a:lstStyle/>
          <a:p>
            <a:r>
              <a:rPr lang="en-AU" smtClean="0">
                <a:solidFill>
                  <a:srgbClr val="0099CC"/>
                </a:solidFill>
              </a:rPr>
              <a:t>CSIRO.</a:t>
            </a:r>
            <a:r>
              <a:rPr lang="en-AU" b="0" smtClean="0">
                <a:solidFill>
                  <a:srgbClr val="000000"/>
                </a:solidFill>
              </a:rPr>
              <a:t>  Insert presentation title, do not remove CSIRO from start of footer</a:t>
            </a:r>
            <a:endParaRPr lang="en-AU" b="0">
              <a:solidFill>
                <a:srgbClr val="000000"/>
              </a:solidFill>
            </a:endParaRPr>
          </a:p>
        </p:txBody>
      </p:sp>
      <p:sp>
        <p:nvSpPr>
          <p:cNvPr id="5" name="AutoShape 26"/>
          <p:cNvSpPr>
            <a:spLocks noChangeArrowheads="1"/>
          </p:cNvSpPr>
          <p:nvPr/>
        </p:nvSpPr>
        <p:spPr bwMode="auto">
          <a:xfrm>
            <a:off x="1877802" y="4619625"/>
            <a:ext cx="7010400" cy="1143000"/>
          </a:xfrm>
          <a:prstGeom prst="cube">
            <a:avLst>
              <a:gd name="adj" fmla="val 24940"/>
            </a:avLst>
          </a:prstGeom>
          <a:solidFill>
            <a:srgbClr val="F7B471"/>
          </a:solidFill>
          <a:ln w="28575">
            <a:solidFill>
              <a:schemeClr val="tx1"/>
            </a:solidFill>
            <a:miter lim="800000"/>
            <a:headEnd type="none" w="lg" len="lg"/>
            <a:tailEnd type="none" w="lg" len="lg"/>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1429" tIns="45714" rIns="91429" bIns="45714" anchor="ctr"/>
          <a:lstStyle/>
          <a:p>
            <a:pPr algn="ctr" eaLnBrk="0" hangingPunct="0"/>
            <a:r>
              <a:rPr lang="de-DE" sz="2300" dirty="0" err="1">
                <a:solidFill>
                  <a:srgbClr val="800000"/>
                </a:solidFill>
              </a:rPr>
              <a:t>SweCommon</a:t>
            </a:r>
            <a:endParaRPr lang="de-DE" sz="2300" dirty="0">
              <a:solidFill>
                <a:srgbClr val="800000"/>
              </a:solidFill>
            </a:endParaRPr>
          </a:p>
        </p:txBody>
      </p:sp>
      <p:sp>
        <p:nvSpPr>
          <p:cNvPr id="6" name="AutoShape 8"/>
          <p:cNvSpPr>
            <a:spLocks noChangeArrowheads="1"/>
          </p:cNvSpPr>
          <p:nvPr/>
        </p:nvSpPr>
        <p:spPr bwMode="auto">
          <a:xfrm>
            <a:off x="4697202" y="3886200"/>
            <a:ext cx="1143000" cy="971550"/>
          </a:xfrm>
          <a:prstGeom prst="cube">
            <a:avLst>
              <a:gd name="adj" fmla="val 24940"/>
            </a:avLst>
          </a:prstGeom>
          <a:solidFill>
            <a:srgbClr val="BFFFE7"/>
          </a:solidFill>
          <a:ln w="28575">
            <a:solidFill>
              <a:schemeClr val="tx1"/>
            </a:solidFill>
            <a:miter lim="800000"/>
            <a:headEnd type="none" w="lg" len="lg"/>
            <a:tailEnd type="none" w="lg" len="lg"/>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1429" tIns="45714" rIns="91429" bIns="45714" anchor="ctr"/>
          <a:lstStyle/>
          <a:p>
            <a:pPr algn="ctr" eaLnBrk="0" hangingPunct="0"/>
            <a:r>
              <a:rPr lang="de-DE" sz="2300">
                <a:solidFill>
                  <a:srgbClr val="800000"/>
                </a:solidFill>
              </a:rPr>
              <a:t>WNS</a:t>
            </a:r>
          </a:p>
        </p:txBody>
      </p:sp>
      <p:sp>
        <p:nvSpPr>
          <p:cNvPr id="7" name="AutoShape 9"/>
          <p:cNvSpPr>
            <a:spLocks noChangeArrowheads="1"/>
          </p:cNvSpPr>
          <p:nvPr/>
        </p:nvSpPr>
        <p:spPr bwMode="auto">
          <a:xfrm>
            <a:off x="5687802" y="3895725"/>
            <a:ext cx="1119188" cy="971550"/>
          </a:xfrm>
          <a:prstGeom prst="cube">
            <a:avLst>
              <a:gd name="adj" fmla="val 24940"/>
            </a:avLst>
          </a:prstGeom>
          <a:solidFill>
            <a:srgbClr val="99FF33"/>
          </a:solidFill>
          <a:ln w="28575">
            <a:solidFill>
              <a:schemeClr val="tx1"/>
            </a:solidFill>
            <a:miter lim="800000"/>
            <a:headEnd type="none" w="lg" len="lg"/>
            <a:tailEnd type="none" w="lg" len="lg"/>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1429" tIns="45714" rIns="91429" bIns="45714" anchor="ctr"/>
          <a:lstStyle/>
          <a:p>
            <a:pPr algn="ctr" eaLnBrk="0" hangingPunct="0"/>
            <a:r>
              <a:rPr lang="de-DE" sz="2300">
                <a:solidFill>
                  <a:srgbClr val="800000"/>
                </a:solidFill>
              </a:rPr>
              <a:t>SOS</a:t>
            </a:r>
          </a:p>
        </p:txBody>
      </p:sp>
      <p:sp>
        <p:nvSpPr>
          <p:cNvPr id="8" name="AutoShape 10"/>
          <p:cNvSpPr>
            <a:spLocks noChangeArrowheads="1"/>
          </p:cNvSpPr>
          <p:nvPr/>
        </p:nvSpPr>
        <p:spPr bwMode="auto">
          <a:xfrm>
            <a:off x="6678402" y="3895725"/>
            <a:ext cx="1143000" cy="971550"/>
          </a:xfrm>
          <a:prstGeom prst="cube">
            <a:avLst>
              <a:gd name="adj" fmla="val 24940"/>
            </a:avLst>
          </a:prstGeom>
          <a:solidFill>
            <a:srgbClr val="00FFCC"/>
          </a:solidFill>
          <a:ln w="28575">
            <a:solidFill>
              <a:schemeClr val="tx1"/>
            </a:solidFill>
            <a:miter lim="800000"/>
            <a:headEnd type="none" w="lg" len="lg"/>
            <a:tailEnd type="none" w="lg" len="lg"/>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1429" tIns="45714" rIns="91429" bIns="45714" anchor="ctr"/>
          <a:lstStyle/>
          <a:p>
            <a:pPr algn="ctr" eaLnBrk="0" hangingPunct="0"/>
            <a:r>
              <a:rPr lang="de-DE" sz="2300">
                <a:solidFill>
                  <a:srgbClr val="800000"/>
                </a:solidFill>
              </a:rPr>
              <a:t>SAS</a:t>
            </a:r>
          </a:p>
        </p:txBody>
      </p:sp>
      <p:sp>
        <p:nvSpPr>
          <p:cNvPr id="9" name="AutoShape 12"/>
          <p:cNvSpPr>
            <a:spLocks noChangeArrowheads="1"/>
          </p:cNvSpPr>
          <p:nvPr/>
        </p:nvSpPr>
        <p:spPr bwMode="auto">
          <a:xfrm>
            <a:off x="3993354" y="2142869"/>
            <a:ext cx="1143000" cy="962025"/>
          </a:xfrm>
          <a:prstGeom prst="cube">
            <a:avLst>
              <a:gd name="adj" fmla="val 24940"/>
            </a:avLst>
          </a:prstGeom>
          <a:solidFill>
            <a:srgbClr val="CCCCCC"/>
          </a:solidFill>
          <a:ln w="28575">
            <a:solidFill>
              <a:schemeClr val="tx1"/>
            </a:solidFill>
            <a:miter lim="800000"/>
            <a:headEnd type="none" w="lg" len="lg"/>
            <a:tailEnd type="none" w="lg" len="lg"/>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1429" tIns="45714" rIns="91429" bIns="45714" anchor="ctr"/>
          <a:lstStyle/>
          <a:p>
            <a:pPr algn="ctr" eaLnBrk="0" hangingPunct="0"/>
            <a:r>
              <a:rPr lang="de-DE" sz="2300" dirty="0">
                <a:solidFill>
                  <a:srgbClr val="800000"/>
                </a:solidFill>
              </a:rPr>
              <a:t>CS-W</a:t>
            </a:r>
          </a:p>
        </p:txBody>
      </p:sp>
      <p:sp>
        <p:nvSpPr>
          <p:cNvPr id="10" name="AutoShape 25"/>
          <p:cNvSpPr>
            <a:spLocks noChangeArrowheads="1"/>
          </p:cNvSpPr>
          <p:nvPr/>
        </p:nvSpPr>
        <p:spPr bwMode="auto">
          <a:xfrm>
            <a:off x="887202" y="3886200"/>
            <a:ext cx="1066800" cy="971550"/>
          </a:xfrm>
          <a:prstGeom prst="cube">
            <a:avLst>
              <a:gd name="adj" fmla="val 24940"/>
            </a:avLst>
          </a:prstGeom>
          <a:solidFill>
            <a:srgbClr val="CCCCCC"/>
          </a:solidFill>
          <a:ln w="28575">
            <a:solidFill>
              <a:schemeClr val="tx1"/>
            </a:solidFill>
            <a:miter lim="800000"/>
            <a:headEnd type="none" w="lg" len="lg"/>
            <a:tailEnd type="none" w="lg" len="lg"/>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1429" tIns="45714" rIns="91429" bIns="45714" anchor="ctr"/>
          <a:lstStyle/>
          <a:p>
            <a:pPr algn="ctr" eaLnBrk="0" hangingPunct="0"/>
            <a:r>
              <a:rPr lang="de-DE" sz="2300" dirty="0">
                <a:solidFill>
                  <a:srgbClr val="800000"/>
                </a:solidFill>
              </a:rPr>
              <a:t>TML</a:t>
            </a:r>
          </a:p>
        </p:txBody>
      </p:sp>
      <p:sp>
        <p:nvSpPr>
          <p:cNvPr id="11" name="AutoShape 24"/>
          <p:cNvSpPr>
            <a:spLocks noChangeArrowheads="1"/>
          </p:cNvSpPr>
          <p:nvPr/>
        </p:nvSpPr>
        <p:spPr bwMode="auto">
          <a:xfrm>
            <a:off x="1877802" y="3886200"/>
            <a:ext cx="1600200" cy="971550"/>
          </a:xfrm>
          <a:prstGeom prst="cube">
            <a:avLst>
              <a:gd name="adj" fmla="val 24940"/>
            </a:avLst>
          </a:prstGeom>
          <a:solidFill>
            <a:srgbClr val="3399FF"/>
          </a:solidFill>
          <a:ln w="28575">
            <a:solidFill>
              <a:schemeClr val="tx1"/>
            </a:solidFill>
            <a:miter lim="800000"/>
            <a:headEnd type="none" w="lg" len="lg"/>
            <a:tailEnd type="none" w="lg" len="lg"/>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1429" tIns="45714" rIns="91429" bIns="45714" anchor="ctr"/>
          <a:lstStyle/>
          <a:p>
            <a:pPr algn="ctr" eaLnBrk="0" hangingPunct="0"/>
            <a:r>
              <a:rPr lang="de-DE" sz="2300">
                <a:solidFill>
                  <a:srgbClr val="800000"/>
                </a:solidFill>
              </a:rPr>
              <a:t>SensorML</a:t>
            </a:r>
          </a:p>
        </p:txBody>
      </p:sp>
      <p:sp>
        <p:nvSpPr>
          <p:cNvPr id="12" name="AutoShape 22"/>
          <p:cNvSpPr>
            <a:spLocks noChangeArrowheads="1"/>
          </p:cNvSpPr>
          <p:nvPr/>
        </p:nvSpPr>
        <p:spPr bwMode="auto">
          <a:xfrm>
            <a:off x="3325602" y="3886200"/>
            <a:ext cx="1066800" cy="971550"/>
          </a:xfrm>
          <a:prstGeom prst="cube">
            <a:avLst>
              <a:gd name="adj" fmla="val 24940"/>
            </a:avLst>
          </a:prstGeom>
          <a:solidFill>
            <a:srgbClr val="8C94FF"/>
          </a:solidFill>
          <a:ln w="28575">
            <a:solidFill>
              <a:schemeClr val="tx1"/>
            </a:solidFill>
            <a:miter lim="800000"/>
            <a:headEnd type="none" w="lg" len="lg"/>
            <a:tailEnd type="none" w="lg" len="lg"/>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1429" tIns="45714" rIns="91429" bIns="45714" anchor="ctr"/>
          <a:lstStyle/>
          <a:p>
            <a:pPr algn="ctr" eaLnBrk="0" hangingPunct="0"/>
            <a:r>
              <a:rPr lang="de-DE" sz="2300">
                <a:solidFill>
                  <a:srgbClr val="800000"/>
                </a:solidFill>
              </a:rPr>
              <a:t>O&amp;M</a:t>
            </a:r>
          </a:p>
        </p:txBody>
      </p:sp>
      <p:sp>
        <p:nvSpPr>
          <p:cNvPr id="13" name="Text Box 27"/>
          <p:cNvSpPr txBox="1">
            <a:spLocks noChangeArrowheads="1"/>
          </p:cNvSpPr>
          <p:nvPr/>
        </p:nvSpPr>
        <p:spPr bwMode="auto">
          <a:xfrm>
            <a:off x="1777789" y="3271838"/>
            <a:ext cx="1395706" cy="44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lg" len="lg"/>
                <a:tailEnd type="none" w="lg" len="lg"/>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1429" tIns="45714" rIns="91429" bIns="45714">
            <a:spAutoFit/>
          </a:bodyPr>
          <a:lstStyle/>
          <a:p>
            <a:pPr eaLnBrk="0" hangingPunct="0"/>
            <a:r>
              <a:rPr lang="de-DE" sz="2300" dirty="0"/>
              <a:t>Encodings</a:t>
            </a:r>
          </a:p>
        </p:txBody>
      </p:sp>
      <p:sp>
        <p:nvSpPr>
          <p:cNvPr id="14" name="Text Box 28"/>
          <p:cNvSpPr txBox="1">
            <a:spLocks noChangeArrowheads="1"/>
          </p:cNvSpPr>
          <p:nvPr/>
        </p:nvSpPr>
        <p:spPr bwMode="auto">
          <a:xfrm>
            <a:off x="6025939" y="3271838"/>
            <a:ext cx="1157497" cy="44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lg" len="lg"/>
                <a:tailEnd type="none" w="lg" len="lg"/>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1429" tIns="45714" rIns="91429" bIns="45714">
            <a:spAutoFit/>
          </a:bodyPr>
          <a:lstStyle/>
          <a:p>
            <a:pPr eaLnBrk="0" hangingPunct="0"/>
            <a:r>
              <a:rPr lang="de-DE" sz="2300" dirty="0"/>
              <a:t>Services</a:t>
            </a:r>
          </a:p>
        </p:txBody>
      </p:sp>
      <p:sp>
        <p:nvSpPr>
          <p:cNvPr id="15" name="AutoShape 29"/>
          <p:cNvSpPr>
            <a:spLocks noChangeArrowheads="1"/>
          </p:cNvSpPr>
          <p:nvPr/>
        </p:nvSpPr>
        <p:spPr bwMode="auto">
          <a:xfrm>
            <a:off x="7688052" y="3895725"/>
            <a:ext cx="1143000" cy="971550"/>
          </a:xfrm>
          <a:prstGeom prst="cube">
            <a:avLst>
              <a:gd name="adj" fmla="val 24940"/>
            </a:avLst>
          </a:prstGeom>
          <a:solidFill>
            <a:schemeClr val="tx2">
              <a:lumMod val="40000"/>
              <a:lumOff val="60000"/>
            </a:schemeClr>
          </a:solidFill>
          <a:ln w="28575">
            <a:solidFill>
              <a:schemeClr val="tx1"/>
            </a:solidFill>
            <a:miter lim="800000"/>
            <a:headEnd type="none" w="lg" len="lg"/>
            <a:tailEnd type="none" w="lg" len="lg"/>
          </a:ln>
          <a:effectLst/>
        </p:spPr>
        <p:txBody>
          <a:bodyPr wrap="none" lIns="91429" tIns="45714" rIns="91429" bIns="45714" anchor="ctr"/>
          <a:lstStyle/>
          <a:p>
            <a:pPr algn="ctr" eaLnBrk="0" hangingPunct="0"/>
            <a:r>
              <a:rPr lang="de-DE" sz="2300">
                <a:solidFill>
                  <a:srgbClr val="800000"/>
                </a:solidFill>
              </a:rPr>
              <a:t>SPS</a:t>
            </a:r>
          </a:p>
        </p:txBody>
      </p:sp>
      <p:sp>
        <p:nvSpPr>
          <p:cNvPr id="16" name="TextBox 15"/>
          <p:cNvSpPr txBox="1"/>
          <p:nvPr/>
        </p:nvSpPr>
        <p:spPr>
          <a:xfrm>
            <a:off x="4950232" y="5960661"/>
            <a:ext cx="3309320" cy="584776"/>
          </a:xfrm>
          <a:prstGeom prst="rect">
            <a:avLst/>
          </a:prstGeom>
          <a:noFill/>
        </p:spPr>
        <p:txBody>
          <a:bodyPr wrap="none" rtlCol="0">
            <a:spAutoFit/>
          </a:bodyPr>
          <a:lstStyle/>
          <a:p>
            <a:r>
              <a:rPr lang="en-US" sz="3200" dirty="0" smtClean="0">
                <a:solidFill>
                  <a:schemeClr val="bg1">
                    <a:lumMod val="50000"/>
                  </a:schemeClr>
                </a:solidFill>
              </a:rPr>
              <a:t>Acronym heaven…</a:t>
            </a:r>
            <a:endParaRPr lang="en-US" sz="3200" dirty="0">
              <a:solidFill>
                <a:schemeClr val="bg1">
                  <a:lumMod val="50000"/>
                </a:schemeClr>
              </a:solidFill>
            </a:endParaRPr>
          </a:p>
        </p:txBody>
      </p:sp>
      <p:sp>
        <p:nvSpPr>
          <p:cNvPr id="17" name="AutoShape 25"/>
          <p:cNvSpPr>
            <a:spLocks noChangeArrowheads="1"/>
          </p:cNvSpPr>
          <p:nvPr/>
        </p:nvSpPr>
        <p:spPr bwMode="auto">
          <a:xfrm>
            <a:off x="7841810" y="2746552"/>
            <a:ext cx="1066800" cy="971550"/>
          </a:xfrm>
          <a:prstGeom prst="cube">
            <a:avLst>
              <a:gd name="adj" fmla="val 24940"/>
            </a:avLst>
          </a:prstGeom>
          <a:solidFill>
            <a:srgbClr val="CCCCCC"/>
          </a:solidFill>
          <a:ln w="28575">
            <a:solidFill>
              <a:schemeClr val="tx1"/>
            </a:solidFill>
            <a:miter lim="800000"/>
            <a:headEnd type="none" w="lg" len="lg"/>
            <a:tailEnd type="none" w="lg" len="lg"/>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1429" tIns="45714" rIns="91429" bIns="45714" anchor="ctr"/>
          <a:lstStyle/>
          <a:p>
            <a:pPr algn="ctr" eaLnBrk="0" hangingPunct="0"/>
            <a:r>
              <a:rPr lang="de-DE" sz="2300" dirty="0" smtClean="0">
                <a:solidFill>
                  <a:srgbClr val="800000"/>
                </a:solidFill>
              </a:rPr>
              <a:t>WPS</a:t>
            </a:r>
            <a:endParaRPr lang="de-DE" sz="2300" dirty="0">
              <a:solidFill>
                <a:srgbClr val="800000"/>
              </a:solidFill>
            </a:endParaRPr>
          </a:p>
        </p:txBody>
      </p:sp>
      <p:sp>
        <p:nvSpPr>
          <p:cNvPr id="18" name="Text Box 27"/>
          <p:cNvSpPr txBox="1">
            <a:spLocks noChangeArrowheads="1"/>
          </p:cNvSpPr>
          <p:nvPr/>
        </p:nvSpPr>
        <p:spPr bwMode="auto">
          <a:xfrm>
            <a:off x="3791762" y="1576299"/>
            <a:ext cx="1201279" cy="44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lg" len="lg"/>
                <a:tailEnd type="none" w="lg" len="lg"/>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1429" tIns="45714" rIns="91429" bIns="45714">
            <a:spAutoFit/>
          </a:bodyPr>
          <a:lstStyle/>
          <a:p>
            <a:pPr eaLnBrk="0" hangingPunct="0"/>
            <a:r>
              <a:rPr lang="de-DE" sz="2300" dirty="0" err="1" smtClean="0"/>
              <a:t>Catalog</a:t>
            </a:r>
            <a:endParaRPr lang="de-DE" sz="2300" dirty="0"/>
          </a:p>
        </p:txBody>
      </p:sp>
    </p:spTree>
    <p:extLst>
      <p:ext uri="{BB962C8B-B14F-4D97-AF65-F5344CB8AC3E}">
        <p14:creationId xmlns:p14="http://schemas.microsoft.com/office/powerpoint/2010/main" val="3757451039"/>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OGC (SWE) standards evolution</a:t>
            </a:r>
            <a:endParaRPr lang="en-US" dirty="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graphicFrame>
        <p:nvGraphicFramePr>
          <p:cNvPr id="5" name="Table 4"/>
          <p:cNvGraphicFramePr>
            <a:graphicFrameLocks noGrp="1"/>
          </p:cNvGraphicFramePr>
          <p:nvPr>
            <p:extLst>
              <p:ext uri="{D42A27DB-BD31-4B8C-83A1-F6EECF244321}">
                <p14:modId xmlns:p14="http://schemas.microsoft.com/office/powerpoint/2010/main" val="2350175884"/>
              </p:ext>
            </p:extLst>
          </p:nvPr>
        </p:nvGraphicFramePr>
        <p:xfrm>
          <a:off x="1216100" y="1294379"/>
          <a:ext cx="6096000" cy="4749800"/>
        </p:xfrm>
        <a:graphic>
          <a:graphicData uri="http://schemas.openxmlformats.org/drawingml/2006/table">
            <a:tbl>
              <a:tblPr firstRow="1" bandRow="1">
                <a:tableStyleId>{3B4B98B0-60AC-42C2-AFA5-B58CD77FA1E5}</a:tableStyleId>
              </a:tblPr>
              <a:tblGrid>
                <a:gridCol w="1208616"/>
                <a:gridCol w="2855384"/>
                <a:gridCol w="2032000"/>
              </a:tblGrid>
              <a:tr h="370840">
                <a:tc>
                  <a:txBody>
                    <a:bodyPr/>
                    <a:lstStyle/>
                    <a:p>
                      <a:r>
                        <a:rPr lang="en-US" sz="1600" dirty="0" smtClean="0"/>
                        <a:t>Acronym</a:t>
                      </a:r>
                      <a:endParaRPr lang="en-US" sz="1600" dirty="0"/>
                    </a:p>
                  </a:txBody>
                  <a:tcPr/>
                </a:tc>
                <a:tc>
                  <a:txBody>
                    <a:bodyPr/>
                    <a:lstStyle/>
                    <a:p>
                      <a:r>
                        <a:rPr lang="en-US" sz="1600" dirty="0" smtClean="0"/>
                        <a:t>Name</a:t>
                      </a:r>
                      <a:endParaRPr lang="en-US" sz="1600" dirty="0"/>
                    </a:p>
                  </a:txBody>
                  <a:tcPr/>
                </a:tc>
                <a:tc>
                  <a:txBody>
                    <a:bodyPr/>
                    <a:lstStyle/>
                    <a:p>
                      <a:r>
                        <a:rPr lang="en-US" sz="1600" dirty="0" smtClean="0"/>
                        <a:t>Status</a:t>
                      </a:r>
                      <a:endParaRPr lang="en-US" sz="1600" dirty="0"/>
                    </a:p>
                  </a:txBody>
                  <a:tcPr/>
                </a:tc>
              </a:tr>
              <a:tr h="370840">
                <a:tc>
                  <a:txBody>
                    <a:bodyPr/>
                    <a:lstStyle/>
                    <a:p>
                      <a:r>
                        <a:rPr lang="en-US" sz="1600" dirty="0" smtClean="0"/>
                        <a:t>TML</a:t>
                      </a:r>
                      <a:endParaRPr lang="en-US" sz="1600" dirty="0"/>
                    </a:p>
                  </a:txBody>
                  <a:tcPr/>
                </a:tc>
                <a:tc>
                  <a:txBody>
                    <a:bodyPr/>
                    <a:lstStyle/>
                    <a:p>
                      <a:r>
                        <a:rPr lang="en-US" sz="1600" dirty="0" smtClean="0"/>
                        <a:t>Transducer</a:t>
                      </a:r>
                      <a:r>
                        <a:rPr lang="en-US" sz="1600" baseline="0" dirty="0" smtClean="0"/>
                        <a:t> ML</a:t>
                      </a:r>
                      <a:endParaRPr lang="en-US" sz="1600" dirty="0"/>
                    </a:p>
                  </a:txBody>
                  <a:tcPr/>
                </a:tc>
                <a:tc>
                  <a:txBody>
                    <a:bodyPr/>
                    <a:lstStyle/>
                    <a:p>
                      <a:r>
                        <a:rPr lang="en-US" sz="1600" dirty="0" smtClean="0"/>
                        <a:t>1.0. No longer developed.</a:t>
                      </a:r>
                      <a:endParaRPr lang="en-US" sz="1600" dirty="0"/>
                    </a:p>
                  </a:txBody>
                  <a:tcPr/>
                </a:tc>
              </a:tr>
              <a:tr h="370840">
                <a:tc>
                  <a:txBody>
                    <a:bodyPr/>
                    <a:lstStyle/>
                    <a:p>
                      <a:r>
                        <a:rPr lang="en-US" sz="1600" dirty="0" smtClean="0"/>
                        <a:t>O&amp;M</a:t>
                      </a:r>
                      <a:endParaRPr lang="en-US" sz="1600" dirty="0"/>
                    </a:p>
                  </a:txBody>
                  <a:tcPr/>
                </a:tc>
                <a:tc>
                  <a:txBody>
                    <a:bodyPr/>
                    <a:lstStyle/>
                    <a:p>
                      <a:r>
                        <a:rPr lang="en-US" sz="1600" dirty="0" smtClean="0"/>
                        <a:t>Observations &amp; Measurements</a:t>
                      </a:r>
                      <a:endParaRPr lang="en-US" sz="1600" dirty="0"/>
                    </a:p>
                  </a:txBody>
                  <a:tcPr/>
                </a:tc>
                <a:tc>
                  <a:txBody>
                    <a:bodyPr/>
                    <a:lstStyle/>
                    <a:p>
                      <a:r>
                        <a:rPr lang="en-US" sz="1600" dirty="0" smtClean="0"/>
                        <a:t>2.0.</a:t>
                      </a:r>
                      <a:r>
                        <a:rPr lang="en-US" sz="1600" baseline="0" dirty="0" smtClean="0"/>
                        <a:t> ISO version approved.</a:t>
                      </a:r>
                      <a:endParaRPr lang="en-US" sz="1600" dirty="0"/>
                    </a:p>
                  </a:txBody>
                  <a:tcPr/>
                </a:tc>
              </a:tr>
              <a:tr h="370840">
                <a:tc>
                  <a:txBody>
                    <a:bodyPr/>
                    <a:lstStyle/>
                    <a:p>
                      <a:r>
                        <a:rPr lang="en-US" sz="1600" dirty="0" smtClean="0"/>
                        <a:t>SWE Common</a:t>
                      </a:r>
                      <a:endParaRPr lang="en-US" sz="1600" dirty="0"/>
                    </a:p>
                  </a:txBody>
                  <a:tcPr/>
                </a:tc>
                <a:tc>
                  <a:txBody>
                    <a:bodyPr/>
                    <a:lstStyle/>
                    <a:p>
                      <a:r>
                        <a:rPr lang="en-US" sz="1600" dirty="0" smtClean="0"/>
                        <a:t>Common</a:t>
                      </a:r>
                      <a:r>
                        <a:rPr lang="en-US" sz="1600" baseline="0" dirty="0" smtClean="0"/>
                        <a:t> data model</a:t>
                      </a:r>
                      <a:endParaRPr lang="en-US" sz="1600" dirty="0"/>
                    </a:p>
                  </a:txBody>
                  <a:tcPr/>
                </a:tc>
                <a:tc>
                  <a:txBody>
                    <a:bodyPr/>
                    <a:lstStyle/>
                    <a:p>
                      <a:r>
                        <a:rPr lang="en-US" sz="1600" dirty="0" smtClean="0"/>
                        <a:t>2.0 approved.</a:t>
                      </a:r>
                      <a:endParaRPr lang="en-US" sz="1600" dirty="0"/>
                    </a:p>
                  </a:txBody>
                  <a:tcPr/>
                </a:tc>
              </a:tr>
              <a:tr h="370840">
                <a:tc>
                  <a:txBody>
                    <a:bodyPr/>
                    <a:lstStyle/>
                    <a:p>
                      <a:r>
                        <a:rPr lang="en-US" sz="1600" dirty="0" err="1" smtClean="0"/>
                        <a:t>SensorML</a:t>
                      </a:r>
                      <a:endParaRPr lang="en-US" sz="1600" dirty="0"/>
                    </a:p>
                  </a:txBody>
                  <a:tcPr/>
                </a:tc>
                <a:tc>
                  <a:txBody>
                    <a:bodyPr/>
                    <a:lstStyle/>
                    <a:p>
                      <a:r>
                        <a:rPr lang="en-US" sz="1600" dirty="0" smtClean="0"/>
                        <a:t>Sensor and process descriptions</a:t>
                      </a:r>
                      <a:endParaRPr lang="en-US" sz="1600" dirty="0"/>
                    </a:p>
                  </a:txBody>
                  <a:tcPr/>
                </a:tc>
                <a:tc>
                  <a:txBody>
                    <a:bodyPr/>
                    <a:lstStyle/>
                    <a:p>
                      <a:r>
                        <a:rPr lang="en-US" sz="1600" dirty="0" smtClean="0"/>
                        <a:t>2.0 approved.</a:t>
                      </a:r>
                      <a:endParaRPr lang="en-US" sz="1600" dirty="0"/>
                    </a:p>
                  </a:txBody>
                  <a:tcPr/>
                </a:tc>
              </a:tr>
              <a:tr h="370840">
                <a:tc>
                  <a:txBody>
                    <a:bodyPr/>
                    <a:lstStyle/>
                    <a:p>
                      <a:r>
                        <a:rPr lang="en-US" sz="1600" dirty="0" smtClean="0"/>
                        <a:t>SAS</a:t>
                      </a:r>
                      <a:endParaRPr lang="en-US" sz="1600" dirty="0"/>
                    </a:p>
                  </a:txBody>
                  <a:tcPr/>
                </a:tc>
                <a:tc>
                  <a:txBody>
                    <a:bodyPr/>
                    <a:lstStyle/>
                    <a:p>
                      <a:r>
                        <a:rPr lang="en-US" sz="1600" dirty="0" smtClean="0"/>
                        <a:t>Sensor Alert Service*</a:t>
                      </a:r>
                      <a:endParaRPr lang="en-US" sz="1600" dirty="0"/>
                    </a:p>
                  </a:txBody>
                  <a:tcPr/>
                </a:tc>
                <a:tc>
                  <a:txBody>
                    <a:bodyPr/>
                    <a:lstStyle/>
                    <a:p>
                      <a:r>
                        <a:rPr lang="en-US" sz="1600" dirty="0" smtClean="0"/>
                        <a:t>0.9 best practice</a:t>
                      </a:r>
                      <a:endParaRPr lang="en-US" sz="1600" dirty="0"/>
                    </a:p>
                  </a:txBody>
                  <a:tcPr/>
                </a:tc>
              </a:tr>
              <a:tr h="370840">
                <a:tc>
                  <a:txBody>
                    <a:bodyPr/>
                    <a:lstStyle/>
                    <a:p>
                      <a:r>
                        <a:rPr lang="en-US" sz="1600" dirty="0" smtClean="0"/>
                        <a:t>SPS</a:t>
                      </a:r>
                      <a:endParaRPr lang="en-US" sz="1600" dirty="0"/>
                    </a:p>
                  </a:txBody>
                  <a:tcPr/>
                </a:tc>
                <a:tc>
                  <a:txBody>
                    <a:bodyPr/>
                    <a:lstStyle/>
                    <a:p>
                      <a:r>
                        <a:rPr lang="en-US" sz="1600" dirty="0" smtClean="0"/>
                        <a:t>Sensor Planning Service</a:t>
                      </a:r>
                      <a:endParaRPr lang="en-US" sz="1600" dirty="0"/>
                    </a:p>
                  </a:txBody>
                  <a:tcPr/>
                </a:tc>
                <a:tc>
                  <a:txBody>
                    <a:bodyPr/>
                    <a:lstStyle/>
                    <a:p>
                      <a:r>
                        <a:rPr lang="en-US" sz="1600" dirty="0" smtClean="0"/>
                        <a:t>2.0</a:t>
                      </a:r>
                      <a:r>
                        <a:rPr lang="en-US" sz="1600" baseline="0" dirty="0" smtClean="0"/>
                        <a:t> approved.</a:t>
                      </a:r>
                      <a:endParaRPr lang="en-US" sz="1600" dirty="0"/>
                    </a:p>
                  </a:txBody>
                  <a:tcPr/>
                </a:tc>
              </a:tr>
              <a:tr h="370840">
                <a:tc>
                  <a:txBody>
                    <a:bodyPr/>
                    <a:lstStyle/>
                    <a:p>
                      <a:r>
                        <a:rPr lang="en-US" sz="1600" dirty="0" smtClean="0"/>
                        <a:t>WPS</a:t>
                      </a:r>
                      <a:endParaRPr lang="en-US" sz="1600" dirty="0"/>
                    </a:p>
                  </a:txBody>
                  <a:tcPr/>
                </a:tc>
                <a:tc>
                  <a:txBody>
                    <a:bodyPr/>
                    <a:lstStyle/>
                    <a:p>
                      <a:r>
                        <a:rPr lang="en-US" sz="1600" dirty="0" smtClean="0"/>
                        <a:t>Web Processing</a:t>
                      </a:r>
                      <a:r>
                        <a:rPr lang="en-US" sz="1600" baseline="0" dirty="0" smtClean="0"/>
                        <a:t> Service</a:t>
                      </a:r>
                      <a:endParaRPr lang="en-US" sz="1600" dirty="0"/>
                    </a:p>
                  </a:txBody>
                  <a:tcPr/>
                </a:tc>
                <a:tc>
                  <a:txBody>
                    <a:bodyPr/>
                    <a:lstStyle/>
                    <a:p>
                      <a:r>
                        <a:rPr lang="en-US" sz="1600" dirty="0" smtClean="0"/>
                        <a:t>2.0</a:t>
                      </a:r>
                      <a:r>
                        <a:rPr lang="en-US" sz="1600" baseline="0" dirty="0" smtClean="0"/>
                        <a:t> in progress.</a:t>
                      </a:r>
                      <a:endParaRPr lang="en-US" sz="1600" dirty="0"/>
                    </a:p>
                  </a:txBody>
                  <a:tcPr/>
                </a:tc>
              </a:tr>
              <a:tr h="370840">
                <a:tc>
                  <a:txBody>
                    <a:bodyPr/>
                    <a:lstStyle/>
                    <a:p>
                      <a:r>
                        <a:rPr lang="en-US" sz="1600" dirty="0" smtClean="0"/>
                        <a:t>CSW</a:t>
                      </a:r>
                      <a:endParaRPr lang="en-US" sz="1600" dirty="0"/>
                    </a:p>
                  </a:txBody>
                  <a:tcPr/>
                </a:tc>
                <a:tc>
                  <a:txBody>
                    <a:bodyPr/>
                    <a:lstStyle/>
                    <a:p>
                      <a:r>
                        <a:rPr lang="en-US" sz="1600" dirty="0" smtClean="0"/>
                        <a:t>Catalog Service for the Web</a:t>
                      </a:r>
                      <a:endParaRPr lang="en-US" sz="1600" dirty="0"/>
                    </a:p>
                  </a:txBody>
                  <a:tcPr/>
                </a:tc>
                <a:tc>
                  <a:txBody>
                    <a:bodyPr/>
                    <a:lstStyle/>
                    <a:p>
                      <a:r>
                        <a:rPr lang="en-US" sz="1600" dirty="0" smtClean="0"/>
                        <a:t>2.0.2 adopted;      3.0 in progress.</a:t>
                      </a:r>
                      <a:endParaRPr lang="en-US" sz="1600" dirty="0"/>
                    </a:p>
                  </a:txBody>
                  <a:tcPr/>
                </a:tc>
              </a:tr>
              <a:tr h="370840">
                <a:tc>
                  <a:txBody>
                    <a:bodyPr/>
                    <a:lstStyle/>
                    <a:p>
                      <a:r>
                        <a:rPr lang="en-US" sz="1600" dirty="0" smtClean="0"/>
                        <a:t>WNS</a:t>
                      </a:r>
                      <a:endParaRPr lang="en-US" sz="1600" dirty="0"/>
                    </a:p>
                  </a:txBody>
                  <a:tcPr/>
                </a:tc>
                <a:tc>
                  <a:txBody>
                    <a:bodyPr/>
                    <a:lstStyle/>
                    <a:p>
                      <a:r>
                        <a:rPr lang="en-US" sz="1600" dirty="0" smtClean="0"/>
                        <a:t>Web Notification Service*</a:t>
                      </a:r>
                      <a:endParaRPr lang="en-US" sz="1600" dirty="0"/>
                    </a:p>
                  </a:txBody>
                  <a:tcPr/>
                </a:tc>
                <a:tc>
                  <a:txBody>
                    <a:bodyPr/>
                    <a:lstStyle/>
                    <a:p>
                      <a:r>
                        <a:rPr lang="en-US" sz="1600" dirty="0" smtClean="0"/>
                        <a:t>0.9 best</a:t>
                      </a:r>
                      <a:r>
                        <a:rPr lang="en-US" sz="1600" baseline="0" dirty="0" smtClean="0"/>
                        <a:t> practice</a:t>
                      </a:r>
                      <a:endParaRPr lang="en-US" sz="1600" dirty="0"/>
                    </a:p>
                  </a:txBody>
                  <a:tcPr/>
                </a:tc>
              </a:tr>
            </a:tbl>
          </a:graphicData>
        </a:graphic>
      </p:graphicFrame>
      <p:sp>
        <p:nvSpPr>
          <p:cNvPr id="6" name="Rectangle 5"/>
          <p:cNvSpPr/>
          <p:nvPr/>
        </p:nvSpPr>
        <p:spPr>
          <a:xfrm>
            <a:off x="1103313" y="6064905"/>
            <a:ext cx="6689614" cy="523220"/>
          </a:xfrm>
          <a:prstGeom prst="rect">
            <a:avLst/>
          </a:prstGeom>
        </p:spPr>
        <p:txBody>
          <a:bodyPr wrap="square">
            <a:spAutoFit/>
          </a:bodyPr>
          <a:lstStyle/>
          <a:p>
            <a:r>
              <a:rPr lang="en-US" sz="1400" dirty="0" smtClean="0">
                <a:solidFill>
                  <a:schemeClr val="tx1">
                    <a:lumMod val="50000"/>
                    <a:lumOff val="50000"/>
                  </a:schemeClr>
                </a:solidFill>
              </a:rPr>
              <a:t>* Sensor </a:t>
            </a:r>
            <a:r>
              <a:rPr lang="en-US" sz="1400" dirty="0">
                <a:solidFill>
                  <a:schemeClr val="tx1">
                    <a:lumMod val="50000"/>
                    <a:lumOff val="50000"/>
                  </a:schemeClr>
                </a:solidFill>
              </a:rPr>
              <a:t>Event Service / </a:t>
            </a:r>
            <a:r>
              <a:rPr lang="en-US" sz="1400" dirty="0" smtClean="0">
                <a:solidFill>
                  <a:schemeClr val="tx1">
                    <a:lumMod val="50000"/>
                    <a:lumOff val="50000"/>
                  </a:schemeClr>
                </a:solidFill>
              </a:rPr>
              <a:t>OGC </a:t>
            </a:r>
            <a:r>
              <a:rPr lang="en-US" sz="1400" dirty="0" err="1" smtClean="0">
                <a:solidFill>
                  <a:schemeClr val="tx1">
                    <a:lumMod val="50000"/>
                    <a:lumOff val="50000"/>
                  </a:schemeClr>
                </a:solidFill>
              </a:rPr>
              <a:t>Eventing</a:t>
            </a:r>
            <a:r>
              <a:rPr lang="en-US" sz="1400" dirty="0" smtClean="0">
                <a:solidFill>
                  <a:schemeClr val="tx1">
                    <a:lumMod val="50000"/>
                    <a:lumOff val="50000"/>
                  </a:schemeClr>
                </a:solidFill>
              </a:rPr>
              <a:t> </a:t>
            </a:r>
            <a:r>
              <a:rPr lang="en-US" sz="1400" dirty="0">
                <a:solidFill>
                  <a:schemeClr val="tx1">
                    <a:lumMod val="50000"/>
                    <a:lumOff val="50000"/>
                  </a:schemeClr>
                </a:solidFill>
              </a:rPr>
              <a:t>/ </a:t>
            </a:r>
            <a:r>
              <a:rPr lang="en-US" sz="1400" dirty="0" err="1">
                <a:solidFill>
                  <a:schemeClr val="tx1">
                    <a:lumMod val="50000"/>
                    <a:lumOff val="50000"/>
                  </a:schemeClr>
                </a:solidFill>
              </a:rPr>
              <a:t>PubSub</a:t>
            </a:r>
            <a:r>
              <a:rPr lang="en-US" sz="1400" dirty="0">
                <a:solidFill>
                  <a:schemeClr val="tx1">
                    <a:lumMod val="50000"/>
                    <a:lumOff val="50000"/>
                  </a:schemeClr>
                </a:solidFill>
              </a:rPr>
              <a:t> SWG / </a:t>
            </a:r>
            <a:r>
              <a:rPr lang="en-US" sz="1400" dirty="0" smtClean="0">
                <a:solidFill>
                  <a:schemeClr val="tx1">
                    <a:lumMod val="50000"/>
                    <a:lumOff val="50000"/>
                  </a:schemeClr>
                </a:solidFill>
              </a:rPr>
              <a:t>WS</a:t>
            </a:r>
            <a:r>
              <a:rPr lang="en-US" sz="1400" dirty="0">
                <a:solidFill>
                  <a:schemeClr val="tx1">
                    <a:lumMod val="50000"/>
                    <a:lumOff val="50000"/>
                  </a:schemeClr>
                </a:solidFill>
              </a:rPr>
              <a:t>-N. </a:t>
            </a:r>
            <a:br>
              <a:rPr lang="en-US" sz="1400" dirty="0">
                <a:solidFill>
                  <a:schemeClr val="tx1">
                    <a:lumMod val="50000"/>
                    <a:lumOff val="50000"/>
                  </a:schemeClr>
                </a:solidFill>
              </a:rPr>
            </a:br>
            <a:r>
              <a:rPr lang="en-US" sz="1400" dirty="0">
                <a:solidFill>
                  <a:schemeClr val="tx1">
                    <a:lumMod val="50000"/>
                    <a:lumOff val="50000"/>
                  </a:schemeClr>
                </a:solidFill>
              </a:rPr>
              <a:t>   See </a:t>
            </a:r>
            <a:r>
              <a:rPr lang="en-US" sz="1400" dirty="0" smtClean="0">
                <a:solidFill>
                  <a:schemeClr val="tx1">
                    <a:lumMod val="50000"/>
                    <a:lumOff val="50000"/>
                  </a:schemeClr>
                </a:solidFill>
              </a:rPr>
              <a:t>OGC 11</a:t>
            </a:r>
            <a:r>
              <a:rPr lang="en-US" sz="1400" dirty="0">
                <a:solidFill>
                  <a:schemeClr val="tx1">
                    <a:lumMod val="50000"/>
                    <a:lumOff val="50000"/>
                  </a:schemeClr>
                </a:solidFill>
              </a:rPr>
              <a:t>-088r1</a:t>
            </a:r>
          </a:p>
        </p:txBody>
      </p:sp>
    </p:spTree>
    <p:extLst>
      <p:ext uri="{BB962C8B-B14F-4D97-AF65-F5344CB8AC3E}">
        <p14:creationId xmlns:p14="http://schemas.microsoft.com/office/powerpoint/2010/main" val="3310987853"/>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a:fillRect/>
          </a:stretch>
        </p:blipFill>
        <p:spPr>
          <a:xfrm>
            <a:off x="997486" y="4967943"/>
            <a:ext cx="3731021" cy="1448514"/>
          </a:xfrm>
          <a:prstGeom prst="rect">
            <a:avLst/>
          </a:prstGeom>
        </p:spPr>
      </p:pic>
      <p:pic>
        <p:nvPicPr>
          <p:cNvPr id="17" name="Picture 16"/>
          <p:cNvPicPr>
            <a:picLocks noChangeAspect="1"/>
          </p:cNvPicPr>
          <p:nvPr/>
        </p:nvPicPr>
        <p:blipFill>
          <a:blip r:embed="rId4"/>
          <a:stretch>
            <a:fillRect/>
          </a:stretch>
        </p:blipFill>
        <p:spPr>
          <a:xfrm>
            <a:off x="719698" y="3343735"/>
            <a:ext cx="3784600" cy="1206500"/>
          </a:xfrm>
          <a:prstGeom prst="rect">
            <a:avLst/>
          </a:prstGeom>
        </p:spPr>
      </p:pic>
      <p:sp>
        <p:nvSpPr>
          <p:cNvPr id="2" name="Title 1"/>
          <p:cNvSpPr>
            <a:spLocks noGrp="1"/>
          </p:cNvSpPr>
          <p:nvPr>
            <p:ph type="title"/>
          </p:nvPr>
        </p:nvSpPr>
        <p:spPr/>
        <p:txBody>
          <a:bodyPr/>
          <a:lstStyle/>
          <a:p>
            <a:r>
              <a:rPr lang="en-US" dirty="0" smtClean="0"/>
              <a:t>Common views on data</a:t>
            </a:r>
            <a:endParaRPr lang="en-US" dirty="0"/>
          </a:p>
        </p:txBody>
      </p:sp>
      <p:sp>
        <p:nvSpPr>
          <p:cNvPr id="3" name="Content Placeholder 2"/>
          <p:cNvSpPr>
            <a:spLocks noGrp="1"/>
          </p:cNvSpPr>
          <p:nvPr>
            <p:ph idx="1"/>
          </p:nvPr>
        </p:nvSpPr>
        <p:spPr>
          <a:xfrm>
            <a:off x="4909052" y="3056085"/>
            <a:ext cx="4324243" cy="4922837"/>
          </a:xfrm>
        </p:spPr>
        <p:txBody>
          <a:bodyPr/>
          <a:lstStyle/>
          <a:p>
            <a:endParaRPr lang="en-US" sz="1800" dirty="0"/>
          </a:p>
          <a:p>
            <a:pPr marL="360363" lvl="1" indent="0">
              <a:buNone/>
            </a:pPr>
            <a:r>
              <a:rPr lang="en-US" sz="1600" i="1" dirty="0" smtClean="0"/>
              <a:t>Continuous phenomena, varying </a:t>
            </a:r>
            <a:r>
              <a:rPr lang="en-US" sz="1600" i="1" dirty="0"/>
              <a:t>in space and time – ‘raster</a:t>
            </a:r>
            <a:r>
              <a:rPr lang="en-US" sz="1600" i="1" dirty="0" smtClean="0"/>
              <a:t>’.</a:t>
            </a:r>
            <a:endParaRPr lang="en-US" sz="1600" i="1" dirty="0"/>
          </a:p>
          <a:p>
            <a:pPr marL="360363" lvl="1" indent="0">
              <a:buNone/>
            </a:pPr>
            <a:r>
              <a:rPr lang="en-US" sz="1600" i="1" dirty="0"/>
              <a:t>A </a:t>
            </a:r>
            <a:r>
              <a:rPr lang="en-US" sz="1600" i="1" dirty="0" smtClean="0"/>
              <a:t>function: spatial</a:t>
            </a:r>
            <a:r>
              <a:rPr lang="en-US" sz="1600" i="1" dirty="0"/>
              <a:t>, temporal or </a:t>
            </a:r>
            <a:r>
              <a:rPr lang="en-US" sz="1600" i="1" dirty="0" err="1"/>
              <a:t>spatio</a:t>
            </a:r>
            <a:r>
              <a:rPr lang="en-US" sz="1600" i="1" dirty="0"/>
              <a:t>-temporal </a:t>
            </a:r>
            <a:r>
              <a:rPr lang="en-US" sz="1600" i="1" dirty="0" smtClean="0"/>
              <a:t>domain to attribute range</a:t>
            </a:r>
          </a:p>
          <a:p>
            <a:endParaRPr lang="en-US" sz="1800" i="1" dirty="0" smtClean="0"/>
          </a:p>
          <a:p>
            <a:pPr marL="360363" lvl="1" indent="0">
              <a:buNone/>
            </a:pPr>
            <a:endParaRPr lang="en-US" sz="1600" dirty="0"/>
          </a:p>
          <a:p>
            <a:pPr marL="360363" lvl="1" indent="0">
              <a:buNone/>
            </a:pPr>
            <a:endParaRPr lang="en-US" sz="1600" dirty="0"/>
          </a:p>
          <a:p>
            <a:pPr marL="0" indent="0">
              <a:buNone/>
            </a:pPr>
            <a:endParaRPr lang="en-US" sz="1800" dirty="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pic>
        <p:nvPicPr>
          <p:cNvPr id="5" name="Picture 4"/>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904890" y="1571105"/>
            <a:ext cx="2783528" cy="1432060"/>
          </a:xfrm>
          <a:prstGeom prst="rect">
            <a:avLst/>
          </a:prstGeom>
        </p:spPr>
      </p:pic>
      <p:sp>
        <p:nvSpPr>
          <p:cNvPr id="6" name="Rectangle 5"/>
          <p:cNvSpPr/>
          <p:nvPr/>
        </p:nvSpPr>
        <p:spPr>
          <a:xfrm>
            <a:off x="3357417" y="1755771"/>
            <a:ext cx="1146881" cy="369332"/>
          </a:xfrm>
          <a:prstGeom prst="rect">
            <a:avLst/>
          </a:prstGeom>
          <a:solidFill>
            <a:schemeClr val="bg2">
              <a:lumMod val="20000"/>
              <a:lumOff val="80000"/>
              <a:alpha val="55000"/>
            </a:schemeClr>
          </a:solidFill>
        </p:spPr>
        <p:txBody>
          <a:bodyPr wrap="none">
            <a:spAutoFit/>
          </a:bodyPr>
          <a:lstStyle/>
          <a:p>
            <a:r>
              <a:rPr lang="en-US" b="1" dirty="0"/>
              <a:t>Features</a:t>
            </a:r>
          </a:p>
        </p:txBody>
      </p:sp>
      <p:sp>
        <p:nvSpPr>
          <p:cNvPr id="7" name="Rectangle 6"/>
          <p:cNvSpPr/>
          <p:nvPr/>
        </p:nvSpPr>
        <p:spPr>
          <a:xfrm>
            <a:off x="4205472" y="1579991"/>
            <a:ext cx="4572000" cy="584776"/>
          </a:xfrm>
          <a:prstGeom prst="rect">
            <a:avLst/>
          </a:prstGeom>
        </p:spPr>
        <p:txBody>
          <a:bodyPr>
            <a:spAutoFit/>
          </a:bodyPr>
          <a:lstStyle/>
          <a:p>
            <a:pPr lvl="1"/>
            <a:r>
              <a:rPr lang="en-US" sz="1600" i="1" dirty="0"/>
              <a:t>Features exist, have attributes and can be spatially described – ‘discrete’ or ‘vector’</a:t>
            </a:r>
          </a:p>
        </p:txBody>
      </p:sp>
      <p:sp>
        <p:nvSpPr>
          <p:cNvPr id="15" name="Rectangle 14"/>
          <p:cNvSpPr/>
          <p:nvPr/>
        </p:nvSpPr>
        <p:spPr>
          <a:xfrm>
            <a:off x="3755613" y="3654543"/>
            <a:ext cx="1365090" cy="369332"/>
          </a:xfrm>
          <a:prstGeom prst="rect">
            <a:avLst/>
          </a:prstGeom>
          <a:solidFill>
            <a:schemeClr val="bg2">
              <a:lumMod val="20000"/>
              <a:lumOff val="80000"/>
              <a:alpha val="55000"/>
            </a:schemeClr>
          </a:solidFill>
        </p:spPr>
        <p:txBody>
          <a:bodyPr wrap="none">
            <a:spAutoFit/>
          </a:bodyPr>
          <a:lstStyle/>
          <a:p>
            <a:r>
              <a:rPr lang="en-US" b="1" dirty="0" err="1"/>
              <a:t>Coverages</a:t>
            </a:r>
            <a:endParaRPr lang="en-US" b="1" dirty="0"/>
          </a:p>
        </p:txBody>
      </p:sp>
      <p:sp>
        <p:nvSpPr>
          <p:cNvPr id="19" name="Rectangle 18"/>
          <p:cNvSpPr/>
          <p:nvPr/>
        </p:nvSpPr>
        <p:spPr>
          <a:xfrm>
            <a:off x="3898536" y="5236312"/>
            <a:ext cx="1659942" cy="369332"/>
          </a:xfrm>
          <a:prstGeom prst="rect">
            <a:avLst/>
          </a:prstGeom>
          <a:solidFill>
            <a:schemeClr val="bg2">
              <a:lumMod val="20000"/>
              <a:lumOff val="80000"/>
              <a:alpha val="55000"/>
            </a:schemeClr>
          </a:solidFill>
        </p:spPr>
        <p:txBody>
          <a:bodyPr wrap="none">
            <a:spAutoFit/>
          </a:bodyPr>
          <a:lstStyle/>
          <a:p>
            <a:r>
              <a:rPr lang="en-US" b="1" dirty="0"/>
              <a:t>Observations</a:t>
            </a:r>
          </a:p>
        </p:txBody>
      </p:sp>
      <p:sp>
        <p:nvSpPr>
          <p:cNvPr id="20" name="Rectangle 19"/>
          <p:cNvSpPr/>
          <p:nvPr/>
        </p:nvSpPr>
        <p:spPr>
          <a:xfrm>
            <a:off x="5120703" y="4803391"/>
            <a:ext cx="3929454" cy="1569660"/>
          </a:xfrm>
          <a:prstGeom prst="rect">
            <a:avLst/>
          </a:prstGeom>
        </p:spPr>
        <p:txBody>
          <a:bodyPr wrap="square">
            <a:spAutoFit/>
          </a:bodyPr>
          <a:lstStyle/>
          <a:p>
            <a:pPr marL="360363" lvl="1"/>
            <a:r>
              <a:rPr lang="en-US" sz="1600" i="1" dirty="0" smtClean="0"/>
              <a:t>An act </a:t>
            </a:r>
            <a:r>
              <a:rPr lang="en-US" sz="1600" i="1" dirty="0"/>
              <a:t>that results in the estimation of the value of a feature property, and involves application of a specified procedure, such as a sensor, instrument, algorithm or process </a:t>
            </a:r>
            <a:r>
              <a:rPr lang="en-US" sz="1600" i="1" dirty="0" smtClean="0"/>
              <a:t>chain</a:t>
            </a:r>
            <a:endParaRPr lang="en-US" sz="1600" i="1" dirty="0"/>
          </a:p>
        </p:txBody>
      </p:sp>
    </p:spTree>
    <p:extLst>
      <p:ext uri="{BB962C8B-B14F-4D97-AF65-F5344CB8AC3E}">
        <p14:creationId xmlns:p14="http://schemas.microsoft.com/office/powerpoint/2010/main" val="2127369502"/>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Observations &amp; Measurements</a:t>
            </a:r>
            <a:endParaRPr lang="en-US" dirty="0"/>
          </a:p>
        </p:txBody>
      </p:sp>
      <p:sp>
        <p:nvSpPr>
          <p:cNvPr id="3" name="Content Placeholder 2"/>
          <p:cNvSpPr>
            <a:spLocks noGrp="1"/>
          </p:cNvSpPr>
          <p:nvPr>
            <p:ph idx="1"/>
          </p:nvPr>
        </p:nvSpPr>
        <p:spPr/>
        <p:txBody>
          <a:bodyPr/>
          <a:lstStyle/>
          <a:p>
            <a:r>
              <a:rPr lang="en-US" dirty="0"/>
              <a:t>Now ISO19156 – Observations &amp; Measurements. </a:t>
            </a:r>
          </a:p>
          <a:p>
            <a:pPr lvl="1"/>
            <a:r>
              <a:rPr lang="en-US" dirty="0"/>
              <a:t>Conceptual (UML) model</a:t>
            </a:r>
          </a:p>
          <a:p>
            <a:endParaRPr lang="en-US" dirty="0"/>
          </a:p>
          <a:p>
            <a:r>
              <a:rPr lang="en-US" dirty="0"/>
              <a:t>The XML encoding is OGC O&amp;M 2.0 XML (10-025r1</a:t>
            </a:r>
            <a:r>
              <a:rPr lang="en-US" dirty="0" smtClean="0"/>
              <a:t>)</a:t>
            </a:r>
          </a:p>
          <a:p>
            <a:endParaRPr lang="en-US" dirty="0"/>
          </a:p>
          <a:p>
            <a:r>
              <a:rPr lang="en-US" dirty="0" smtClean="0"/>
              <a:t>The most relevant standard within the OGC suite for WaterML2.0</a:t>
            </a:r>
            <a:endParaRPr lang="en-US" dirty="0"/>
          </a:p>
          <a:p>
            <a:endParaRPr lang="en-US" dirty="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spTree>
    <p:extLst>
      <p:ext uri="{BB962C8B-B14F-4D97-AF65-F5344CB8AC3E}">
        <p14:creationId xmlns:p14="http://schemas.microsoft.com/office/powerpoint/2010/main" val="2699342193"/>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do time series fit?</a:t>
            </a:r>
            <a:endParaRPr lang="en-US" dirty="0"/>
          </a:p>
        </p:txBody>
      </p:sp>
      <p:sp>
        <p:nvSpPr>
          <p:cNvPr id="3" name="Content Placeholder 2"/>
          <p:cNvSpPr>
            <a:spLocks noGrp="1"/>
          </p:cNvSpPr>
          <p:nvPr>
            <p:ph idx="1"/>
          </p:nvPr>
        </p:nvSpPr>
        <p:spPr/>
        <p:txBody>
          <a:bodyPr/>
          <a:lstStyle/>
          <a:p>
            <a:r>
              <a:rPr lang="en-US" dirty="0" smtClean="0"/>
              <a:t>OGC lacked a common definition of time series, and specifically how they relate to </a:t>
            </a:r>
            <a:r>
              <a:rPr lang="en-US" dirty="0" err="1" smtClean="0"/>
              <a:t>coverages</a:t>
            </a:r>
            <a:r>
              <a:rPr lang="en-US" dirty="0" smtClean="0"/>
              <a:t>, observations and SWE</a:t>
            </a:r>
          </a:p>
          <a:p>
            <a:endParaRPr lang="en-US" dirty="0"/>
          </a:p>
          <a:p>
            <a:r>
              <a:rPr lang="en-US" dirty="0" smtClean="0"/>
              <a:t>O&amp;M has the concept of discrete coverage observations:</a:t>
            </a:r>
          </a:p>
          <a:p>
            <a:pPr lvl="1"/>
            <a:r>
              <a:rPr lang="en-US" dirty="0" smtClean="0"/>
              <a:t>Observations where the result varies depending on spatial or temporal variation</a:t>
            </a:r>
          </a:p>
          <a:p>
            <a:pPr lvl="1"/>
            <a:r>
              <a:rPr lang="en-US" dirty="0" smtClean="0"/>
              <a:t>This links observations, </a:t>
            </a:r>
            <a:r>
              <a:rPr lang="en-US" dirty="0" err="1" smtClean="0"/>
              <a:t>coverages</a:t>
            </a:r>
            <a:r>
              <a:rPr lang="en-US" dirty="0" smtClean="0"/>
              <a:t> and features</a:t>
            </a:r>
          </a:p>
          <a:p>
            <a:pPr lvl="1"/>
            <a:endParaRPr lang="en-US" dirty="0"/>
          </a:p>
          <a:p>
            <a:r>
              <a:rPr lang="en-US" dirty="0" smtClean="0"/>
              <a:t>An in-situ time series may be viewed as a spatially fixed, temporally varying coverage</a:t>
            </a:r>
          </a:p>
          <a:p>
            <a:pPr lvl="1"/>
            <a:r>
              <a:rPr lang="en-US" dirty="0" smtClean="0"/>
              <a:t>This view is consistent with </a:t>
            </a:r>
            <a:r>
              <a:rPr lang="en-US" dirty="0" err="1" smtClean="0"/>
              <a:t>netCDF</a:t>
            </a:r>
            <a:r>
              <a:rPr lang="en-US" dirty="0" smtClean="0"/>
              <a:t> (discrete sampling geometries)</a:t>
            </a:r>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spTree>
    <p:extLst>
      <p:ext uri="{BB962C8B-B14F-4D97-AF65-F5344CB8AC3E}">
        <p14:creationId xmlns:p14="http://schemas.microsoft.com/office/powerpoint/2010/main" val="2939586248"/>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WaterML</a:t>
            </a:r>
            <a:r>
              <a:rPr lang="en-US" dirty="0" smtClean="0"/>
              <a:t> 2.0 overview</a:t>
            </a:r>
            <a:endParaRPr lang="en-US" dirty="0"/>
          </a:p>
        </p:txBody>
      </p:sp>
      <p:sp>
        <p:nvSpPr>
          <p:cNvPr id="3" name="Content Placeholder 2"/>
          <p:cNvSpPr>
            <a:spLocks noGrp="1"/>
          </p:cNvSpPr>
          <p:nvPr>
            <p:ph idx="1"/>
          </p:nvPr>
        </p:nvSpPr>
        <p:spPr/>
        <p:txBody>
          <a:bodyPr/>
          <a:lstStyle/>
          <a:p>
            <a:r>
              <a:rPr lang="en-US" dirty="0" smtClean="0"/>
              <a:t>WaterML2.0 consists of </a:t>
            </a:r>
            <a:endParaRPr lang="en-US" dirty="0"/>
          </a:p>
          <a:p>
            <a:pPr lvl="1"/>
            <a:r>
              <a:rPr lang="en-US" dirty="0"/>
              <a:t>Conceptual (UML) model </a:t>
            </a:r>
          </a:p>
          <a:p>
            <a:pPr lvl="1"/>
            <a:r>
              <a:rPr lang="en-US" dirty="0"/>
              <a:t>XML Schema (GML compliant</a:t>
            </a:r>
            <a:r>
              <a:rPr lang="en-US" dirty="0" smtClean="0"/>
              <a:t>)</a:t>
            </a:r>
          </a:p>
          <a:p>
            <a:pPr lvl="1"/>
            <a:r>
              <a:rPr lang="en-US" dirty="0" smtClean="0"/>
              <a:t>Specification document</a:t>
            </a:r>
          </a:p>
          <a:p>
            <a:pPr lvl="2"/>
            <a:r>
              <a:rPr lang="en-US" dirty="0" smtClean="0"/>
              <a:t>Requirements</a:t>
            </a:r>
          </a:p>
          <a:p>
            <a:pPr lvl="2"/>
            <a:r>
              <a:rPr lang="en-US" dirty="0" smtClean="0"/>
              <a:t>Conformance classes</a:t>
            </a:r>
          </a:p>
          <a:p>
            <a:pPr lvl="2"/>
            <a:r>
              <a:rPr lang="en-US" dirty="0" smtClean="0"/>
              <a:t>Conformance tests</a:t>
            </a:r>
          </a:p>
          <a:p>
            <a:pPr lvl="1"/>
            <a:r>
              <a:rPr lang="en-US" dirty="0" smtClean="0"/>
              <a:t>XML </a:t>
            </a:r>
            <a:r>
              <a:rPr lang="en-US" dirty="0" err="1" smtClean="0"/>
              <a:t>Schematron</a:t>
            </a:r>
            <a:r>
              <a:rPr lang="en-US" dirty="0" smtClean="0"/>
              <a:t> rules</a:t>
            </a:r>
          </a:p>
          <a:p>
            <a:pPr lvl="1"/>
            <a:r>
              <a:rPr lang="en-US" dirty="0" smtClean="0"/>
              <a:t>Vocabulary definitions</a:t>
            </a:r>
          </a:p>
          <a:p>
            <a:pPr lvl="2"/>
            <a:r>
              <a:rPr lang="en-US" dirty="0" smtClean="0"/>
              <a:t>Only a subset relating to time series</a:t>
            </a:r>
            <a:endParaRPr lang="en-US" dirty="0"/>
          </a:p>
        </p:txBody>
      </p:sp>
      <p:sp>
        <p:nvSpPr>
          <p:cNvPr id="4" name="Footer Placeholder 3"/>
          <p:cNvSpPr>
            <a:spLocks noGrp="1"/>
          </p:cNvSpPr>
          <p:nvPr>
            <p:ph type="ftr" sz="quarter" idx="10"/>
          </p:nvPr>
        </p:nvSpPr>
        <p:spPr/>
        <p:txBody>
          <a:bodyPr/>
          <a:lstStyle/>
          <a:p>
            <a:r>
              <a:rPr lang="en-AU" smtClean="0">
                <a:solidFill>
                  <a:srgbClr val="0099CC"/>
                </a:solidFill>
              </a:rPr>
              <a:t>CSIRO.</a:t>
            </a:r>
            <a:r>
              <a:rPr lang="en-AU" b="0" smtClean="0">
                <a:solidFill>
                  <a:srgbClr val="000000"/>
                </a:solidFill>
              </a:rPr>
              <a:t>  WaterML2.0 overview</a:t>
            </a:r>
            <a:endParaRPr lang="en-AU" b="0" dirty="0">
              <a:solidFill>
                <a:srgbClr val="000000"/>
              </a:solidFill>
            </a:endParaRPr>
          </a:p>
        </p:txBody>
      </p:sp>
    </p:spTree>
    <p:extLst>
      <p:ext uri="{BB962C8B-B14F-4D97-AF65-F5344CB8AC3E}">
        <p14:creationId xmlns:p14="http://schemas.microsoft.com/office/powerpoint/2010/main" val="1846626610"/>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WaterML</a:t>
            </a:r>
            <a:r>
              <a:rPr lang="en-US" dirty="0" smtClean="0"/>
              <a:t> 2.0 overview</a:t>
            </a:r>
            <a:endParaRPr lang="en-US" dirty="0"/>
          </a:p>
        </p:txBody>
      </p:sp>
      <p:sp>
        <p:nvSpPr>
          <p:cNvPr id="3" name="Content Placeholder 2"/>
          <p:cNvSpPr>
            <a:spLocks noGrp="1"/>
          </p:cNvSpPr>
          <p:nvPr>
            <p:ph idx="1"/>
          </p:nvPr>
        </p:nvSpPr>
        <p:spPr/>
        <p:txBody>
          <a:bodyPr/>
          <a:lstStyle/>
          <a:p>
            <a:r>
              <a:rPr lang="en-US" dirty="0" smtClean="0"/>
              <a:t>Time series structures</a:t>
            </a:r>
          </a:p>
          <a:p>
            <a:endParaRPr lang="en-US" dirty="0" smtClean="0"/>
          </a:p>
          <a:p>
            <a:r>
              <a:rPr lang="en-US" dirty="0" smtClean="0"/>
              <a:t>O&amp;M Observation specializations (roughly a variable)</a:t>
            </a:r>
          </a:p>
          <a:p>
            <a:endParaRPr lang="en-US" dirty="0"/>
          </a:p>
          <a:p>
            <a:r>
              <a:rPr lang="en-US" dirty="0" smtClean="0"/>
              <a:t>Monitoring points</a:t>
            </a:r>
          </a:p>
          <a:p>
            <a:endParaRPr lang="en-US" dirty="0"/>
          </a:p>
          <a:p>
            <a:r>
              <a:rPr lang="en-US" dirty="0" smtClean="0"/>
              <a:t>Collections of monitoring points</a:t>
            </a:r>
          </a:p>
          <a:p>
            <a:pPr lvl="1"/>
            <a:r>
              <a:rPr lang="en-US" dirty="0" smtClean="0"/>
              <a:t>E.g. networks</a:t>
            </a:r>
          </a:p>
          <a:p>
            <a:pPr lvl="1"/>
            <a:endParaRPr lang="en-US" dirty="0"/>
          </a:p>
          <a:p>
            <a:r>
              <a:rPr lang="en-US" dirty="0" smtClean="0"/>
              <a:t>Observation procedures</a:t>
            </a:r>
          </a:p>
          <a:p>
            <a:endParaRPr lang="en-US" dirty="0"/>
          </a:p>
          <a:p>
            <a:r>
              <a:rPr lang="en-US" dirty="0" smtClean="0"/>
              <a:t>Generic collections</a:t>
            </a:r>
            <a:endParaRPr lang="en-US" dirty="0"/>
          </a:p>
        </p:txBody>
      </p:sp>
      <p:sp>
        <p:nvSpPr>
          <p:cNvPr id="4" name="Footer Placeholder 3"/>
          <p:cNvSpPr>
            <a:spLocks noGrp="1"/>
          </p:cNvSpPr>
          <p:nvPr>
            <p:ph type="ftr" sz="quarter" idx="10"/>
          </p:nvPr>
        </p:nvSpPr>
        <p:spPr/>
        <p:txBody>
          <a:bodyPr/>
          <a:lstStyle/>
          <a:p>
            <a:r>
              <a:rPr lang="en-AU" smtClean="0">
                <a:solidFill>
                  <a:srgbClr val="0099CC"/>
                </a:solidFill>
              </a:rPr>
              <a:t>CSIRO.</a:t>
            </a:r>
            <a:r>
              <a:rPr lang="en-AU" b="0" smtClean="0">
                <a:solidFill>
                  <a:srgbClr val="000000"/>
                </a:solidFill>
              </a:rPr>
              <a:t>  WaterML2.0 overview</a:t>
            </a:r>
            <a:endParaRPr lang="en-AU" b="0" dirty="0">
              <a:solidFill>
                <a:srgbClr val="000000"/>
              </a:solidFill>
            </a:endParaRPr>
          </a:p>
        </p:txBody>
      </p:sp>
    </p:spTree>
    <p:extLst>
      <p:ext uri="{BB962C8B-B14F-4D97-AF65-F5344CB8AC3E}">
        <p14:creationId xmlns:p14="http://schemas.microsoft.com/office/powerpoint/2010/main" val="3758187685"/>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Observation (O&amp;M)</a:t>
            </a:r>
            <a:endParaRPr lang="en-US" dirty="0"/>
          </a:p>
        </p:txBody>
      </p:sp>
      <p:sp>
        <p:nvSpPr>
          <p:cNvPr id="4" name="Footer Placeholder 3"/>
          <p:cNvSpPr>
            <a:spLocks noGrp="1"/>
          </p:cNvSpPr>
          <p:nvPr>
            <p:ph type="ftr" sz="quarter" idx="10"/>
          </p:nvPr>
        </p:nvSpPr>
        <p:spPr/>
        <p:txBody>
          <a:bodyPr/>
          <a:lstStyle/>
          <a:p>
            <a:r>
              <a:rPr lang="en-AU" smtClean="0">
                <a:solidFill>
                  <a:srgbClr val="0099CC"/>
                </a:solidFill>
              </a:rPr>
              <a:t>CSIRO.</a:t>
            </a:r>
            <a:r>
              <a:rPr lang="en-AU" b="0" smtClean="0">
                <a:solidFill>
                  <a:srgbClr val="000000"/>
                </a:solidFill>
              </a:rPr>
              <a:t>  WaterML2.0 overview</a:t>
            </a:r>
            <a:endParaRPr lang="en-AU" b="0" dirty="0">
              <a:solidFill>
                <a:srgbClr val="000000"/>
              </a:solidFill>
            </a:endParaRPr>
          </a:p>
        </p:txBody>
      </p:sp>
      <p:pic>
        <p:nvPicPr>
          <p:cNvPr id="5" name="Picture 4"/>
          <p:cNvPicPr>
            <a:picLocks noChangeAspect="1"/>
          </p:cNvPicPr>
          <p:nvPr/>
        </p:nvPicPr>
        <p:blipFill>
          <a:blip r:embed="rId2"/>
          <a:stretch>
            <a:fillRect/>
          </a:stretch>
        </p:blipFill>
        <p:spPr>
          <a:xfrm>
            <a:off x="1103313" y="1219211"/>
            <a:ext cx="6407847" cy="5091405"/>
          </a:xfrm>
          <a:prstGeom prst="rect">
            <a:avLst/>
          </a:prstGeom>
        </p:spPr>
      </p:pic>
      <p:sp>
        <p:nvSpPr>
          <p:cNvPr id="6" name="Rounded Rectangle 5"/>
          <p:cNvSpPr/>
          <p:nvPr/>
        </p:nvSpPr>
        <p:spPr>
          <a:xfrm>
            <a:off x="1693211" y="1219211"/>
            <a:ext cx="1640298" cy="1731035"/>
          </a:xfrm>
          <a:prstGeom prst="roundRect">
            <a:avLst/>
          </a:prstGeom>
          <a:gradFill flip="none" rotWithShape="1">
            <a:gsLst>
              <a:gs pos="0">
                <a:schemeClr val="accent1">
                  <a:tint val="100000"/>
                  <a:shade val="100000"/>
                  <a:satMod val="130000"/>
                  <a:alpha val="53000"/>
                </a:schemeClr>
              </a:gs>
              <a:gs pos="100000">
                <a:schemeClr val="accent1">
                  <a:tint val="50000"/>
                  <a:shade val="100000"/>
                  <a:satMod val="350000"/>
                  <a:alpha val="5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lumMod val="75000"/>
                    <a:lumOff val="25000"/>
                  </a:schemeClr>
                </a:solidFill>
              </a:rPr>
              <a:t>Feature</a:t>
            </a:r>
            <a:endParaRPr lang="en-US" dirty="0">
              <a:solidFill>
                <a:schemeClr val="tx1">
                  <a:lumMod val="75000"/>
                  <a:lumOff val="25000"/>
                </a:schemeClr>
              </a:solidFill>
            </a:endParaRPr>
          </a:p>
        </p:txBody>
      </p:sp>
      <p:sp>
        <p:nvSpPr>
          <p:cNvPr id="7" name="Rounded Rectangle 6"/>
          <p:cNvSpPr/>
          <p:nvPr/>
        </p:nvSpPr>
        <p:spPr>
          <a:xfrm>
            <a:off x="1693211" y="5053784"/>
            <a:ext cx="1950885" cy="1124533"/>
          </a:xfrm>
          <a:prstGeom prst="roundRect">
            <a:avLst/>
          </a:prstGeom>
          <a:gradFill flip="none" rotWithShape="1">
            <a:gsLst>
              <a:gs pos="0">
                <a:schemeClr val="accent1">
                  <a:tint val="100000"/>
                  <a:shade val="100000"/>
                  <a:satMod val="130000"/>
                  <a:alpha val="53000"/>
                </a:schemeClr>
              </a:gs>
              <a:gs pos="100000">
                <a:schemeClr val="accent1">
                  <a:tint val="50000"/>
                  <a:shade val="100000"/>
                  <a:satMod val="350000"/>
                  <a:alpha val="5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lumMod val="75000"/>
                    <a:lumOff val="25000"/>
                  </a:schemeClr>
                </a:solidFill>
              </a:rPr>
              <a:t>Phenomenon</a:t>
            </a:r>
            <a:endParaRPr lang="en-US" dirty="0">
              <a:solidFill>
                <a:schemeClr val="tx1">
                  <a:lumMod val="75000"/>
                  <a:lumOff val="25000"/>
                </a:schemeClr>
              </a:solidFill>
            </a:endParaRPr>
          </a:p>
        </p:txBody>
      </p:sp>
      <p:sp>
        <p:nvSpPr>
          <p:cNvPr id="8" name="Rounded Rectangle 7"/>
          <p:cNvSpPr/>
          <p:nvPr/>
        </p:nvSpPr>
        <p:spPr>
          <a:xfrm>
            <a:off x="4358969" y="5609122"/>
            <a:ext cx="1382072" cy="796657"/>
          </a:xfrm>
          <a:prstGeom prst="roundRect">
            <a:avLst/>
          </a:prstGeom>
          <a:solidFill>
            <a:schemeClr val="accent2">
              <a:alpha val="53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lumMod val="75000"/>
                    <a:lumOff val="25000"/>
                  </a:schemeClr>
                </a:solidFill>
              </a:rPr>
              <a:t>Result</a:t>
            </a:r>
            <a:endParaRPr lang="en-US" dirty="0">
              <a:solidFill>
                <a:schemeClr val="tx1">
                  <a:lumMod val="75000"/>
                  <a:lumOff val="25000"/>
                </a:schemeClr>
              </a:solidFill>
            </a:endParaRPr>
          </a:p>
        </p:txBody>
      </p:sp>
      <p:sp>
        <p:nvSpPr>
          <p:cNvPr id="9" name="Rounded Rectangle 8"/>
          <p:cNvSpPr/>
          <p:nvPr/>
        </p:nvSpPr>
        <p:spPr>
          <a:xfrm>
            <a:off x="4021926" y="1594134"/>
            <a:ext cx="1382072" cy="796657"/>
          </a:xfrm>
          <a:prstGeom prst="roundRect">
            <a:avLst/>
          </a:prstGeom>
          <a:gradFill flip="none" rotWithShape="1">
            <a:gsLst>
              <a:gs pos="0">
                <a:schemeClr val="accent1">
                  <a:tint val="100000"/>
                  <a:shade val="100000"/>
                  <a:satMod val="130000"/>
                  <a:alpha val="53000"/>
                </a:schemeClr>
              </a:gs>
              <a:gs pos="100000">
                <a:schemeClr val="accent1">
                  <a:tint val="50000"/>
                  <a:shade val="100000"/>
                  <a:satMod val="350000"/>
                  <a:alpha val="5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lumMod val="75000"/>
                    <a:lumOff val="25000"/>
                  </a:schemeClr>
                </a:solidFill>
              </a:rPr>
              <a:t>Process</a:t>
            </a:r>
            <a:endParaRPr lang="en-US" dirty="0">
              <a:solidFill>
                <a:schemeClr val="tx1">
                  <a:lumMod val="75000"/>
                  <a:lumOff val="25000"/>
                </a:schemeClr>
              </a:solidFill>
            </a:endParaRPr>
          </a:p>
        </p:txBody>
      </p:sp>
      <p:sp>
        <p:nvSpPr>
          <p:cNvPr id="10" name="Rounded Rectangle 9"/>
          <p:cNvSpPr/>
          <p:nvPr/>
        </p:nvSpPr>
        <p:spPr>
          <a:xfrm>
            <a:off x="5741041" y="1992462"/>
            <a:ext cx="1382072" cy="796657"/>
          </a:xfrm>
          <a:prstGeom prst="roundRect">
            <a:avLst/>
          </a:prstGeom>
          <a:gradFill flip="none" rotWithShape="1">
            <a:gsLst>
              <a:gs pos="0">
                <a:schemeClr val="accent1">
                  <a:tint val="100000"/>
                  <a:shade val="100000"/>
                  <a:satMod val="130000"/>
                  <a:alpha val="53000"/>
                </a:schemeClr>
              </a:gs>
              <a:gs pos="100000">
                <a:schemeClr val="accent1">
                  <a:tint val="50000"/>
                  <a:shade val="100000"/>
                  <a:satMod val="350000"/>
                  <a:alpha val="5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lumMod val="75000"/>
                    <a:lumOff val="25000"/>
                  </a:schemeClr>
                </a:solidFill>
              </a:rPr>
              <a:t>Metadata</a:t>
            </a:r>
            <a:endParaRPr lang="en-US" dirty="0">
              <a:solidFill>
                <a:schemeClr val="tx1">
                  <a:lumMod val="75000"/>
                  <a:lumOff val="25000"/>
                </a:schemeClr>
              </a:solidFill>
            </a:endParaRPr>
          </a:p>
        </p:txBody>
      </p:sp>
      <p:sp>
        <p:nvSpPr>
          <p:cNvPr id="11" name="Rounded Rectangle 10"/>
          <p:cNvSpPr/>
          <p:nvPr/>
        </p:nvSpPr>
        <p:spPr>
          <a:xfrm>
            <a:off x="5972808" y="5303403"/>
            <a:ext cx="1739237" cy="796657"/>
          </a:xfrm>
          <a:prstGeom prst="roundRect">
            <a:avLst/>
          </a:prstGeom>
          <a:gradFill flip="none" rotWithShape="1">
            <a:gsLst>
              <a:gs pos="0">
                <a:schemeClr val="accent1">
                  <a:tint val="100000"/>
                  <a:shade val="100000"/>
                  <a:satMod val="130000"/>
                  <a:alpha val="53000"/>
                </a:schemeClr>
              </a:gs>
              <a:gs pos="100000">
                <a:schemeClr val="accent1">
                  <a:tint val="50000"/>
                  <a:shade val="100000"/>
                  <a:satMod val="350000"/>
                  <a:alpha val="5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lumMod val="75000"/>
                    <a:lumOff val="25000"/>
                  </a:schemeClr>
                </a:solidFill>
              </a:rPr>
              <a:t>Related Observations</a:t>
            </a:r>
            <a:endParaRPr lang="en-US" dirty="0">
              <a:solidFill>
                <a:schemeClr val="tx1">
                  <a:lumMod val="75000"/>
                  <a:lumOff val="25000"/>
                </a:schemeClr>
              </a:solidFill>
            </a:endParaRPr>
          </a:p>
        </p:txBody>
      </p:sp>
    </p:spTree>
    <p:extLst>
      <p:ext uri="{BB962C8B-B14F-4D97-AF65-F5344CB8AC3E}">
        <p14:creationId xmlns:p14="http://schemas.microsoft.com/office/powerpoint/2010/main" val="329956248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Observation types</a:t>
            </a:r>
            <a:endParaRPr lang="en-US" dirty="0"/>
          </a:p>
        </p:txBody>
      </p:sp>
      <p:sp>
        <p:nvSpPr>
          <p:cNvPr id="4" name="Footer Placeholder 3"/>
          <p:cNvSpPr>
            <a:spLocks noGrp="1"/>
          </p:cNvSpPr>
          <p:nvPr>
            <p:ph type="ftr" sz="quarter" idx="10"/>
          </p:nvPr>
        </p:nvSpPr>
        <p:spPr/>
        <p:txBody>
          <a:bodyPr/>
          <a:lstStyle/>
          <a:p>
            <a:r>
              <a:rPr lang="en-AU" smtClean="0">
                <a:solidFill>
                  <a:srgbClr val="0099CC"/>
                </a:solidFill>
              </a:rPr>
              <a:t>CSIRO.</a:t>
            </a:r>
            <a:r>
              <a:rPr lang="en-AU" b="0" smtClean="0">
                <a:solidFill>
                  <a:srgbClr val="000000"/>
                </a:solidFill>
              </a:rPr>
              <a:t>  WaterML2.0 overview</a:t>
            </a:r>
            <a:endParaRPr lang="en-AU" b="0" dirty="0">
              <a:solidFill>
                <a:srgbClr val="000000"/>
              </a:solidFill>
            </a:endParaRPr>
          </a:p>
        </p:txBody>
      </p:sp>
      <p:pic>
        <p:nvPicPr>
          <p:cNvPr id="5" name="Picture 4"/>
          <p:cNvPicPr>
            <a:picLocks noChangeAspect="1"/>
          </p:cNvPicPr>
          <p:nvPr/>
        </p:nvPicPr>
        <p:blipFill>
          <a:blip r:embed="rId2"/>
          <a:stretch>
            <a:fillRect/>
          </a:stretch>
        </p:blipFill>
        <p:spPr>
          <a:xfrm>
            <a:off x="2492277" y="1182942"/>
            <a:ext cx="5534838" cy="5543288"/>
          </a:xfrm>
          <a:prstGeom prst="rect">
            <a:avLst/>
          </a:prstGeom>
        </p:spPr>
      </p:pic>
      <p:sp>
        <p:nvSpPr>
          <p:cNvPr id="6" name="TextBox 5"/>
          <p:cNvSpPr txBox="1"/>
          <p:nvPr/>
        </p:nvSpPr>
        <p:spPr>
          <a:xfrm>
            <a:off x="727551" y="1931551"/>
            <a:ext cx="1497300" cy="369332"/>
          </a:xfrm>
          <a:prstGeom prst="rect">
            <a:avLst/>
          </a:prstGeom>
          <a:noFill/>
        </p:spPr>
        <p:txBody>
          <a:bodyPr wrap="none" rtlCol="0">
            <a:spAutoFit/>
          </a:bodyPr>
          <a:lstStyle/>
          <a:p>
            <a:r>
              <a:rPr lang="en-US" dirty="0" smtClean="0"/>
              <a:t>Time series?</a:t>
            </a:r>
            <a:endParaRPr lang="en-US" dirty="0"/>
          </a:p>
        </p:txBody>
      </p:sp>
      <p:sp>
        <p:nvSpPr>
          <p:cNvPr id="9" name="Freeform 8"/>
          <p:cNvSpPr/>
          <p:nvPr/>
        </p:nvSpPr>
        <p:spPr>
          <a:xfrm>
            <a:off x="2217176" y="1226856"/>
            <a:ext cx="5538148" cy="1745906"/>
          </a:xfrm>
          <a:custGeom>
            <a:avLst/>
            <a:gdLst>
              <a:gd name="connsiteX0" fmla="*/ 2703718 w 5538148"/>
              <a:gd name="connsiteY0" fmla="*/ 29975 h 1745906"/>
              <a:gd name="connsiteX1" fmla="*/ 216815 w 5538148"/>
              <a:gd name="connsiteY1" fmla="*/ 545938 h 1745906"/>
              <a:gd name="connsiteX2" fmla="*/ 322640 w 5538148"/>
              <a:gd name="connsiteY2" fmla="*/ 1339726 h 1745906"/>
              <a:gd name="connsiteX3" fmla="*/ 1936482 w 5538148"/>
              <a:gd name="connsiteY3" fmla="*/ 1180968 h 1745906"/>
              <a:gd name="connsiteX4" fmla="*/ 1989395 w 5538148"/>
              <a:gd name="connsiteY4" fmla="*/ 797304 h 1745906"/>
              <a:gd name="connsiteX5" fmla="*/ 3735518 w 5538148"/>
              <a:gd name="connsiteY5" fmla="*/ 823764 h 1745906"/>
              <a:gd name="connsiteX6" fmla="*/ 3603236 w 5538148"/>
              <a:gd name="connsiteY6" fmla="*/ 1723390 h 1745906"/>
              <a:gd name="connsiteX7" fmla="*/ 5508099 w 5538148"/>
              <a:gd name="connsiteY7" fmla="*/ 1392645 h 1745906"/>
              <a:gd name="connsiteX8" fmla="*/ 4714406 w 5538148"/>
              <a:gd name="connsiteY8" fmla="*/ 506248 h 1745906"/>
              <a:gd name="connsiteX9" fmla="*/ 3960398 w 5538148"/>
              <a:gd name="connsiteY9" fmla="*/ 109354 h 1745906"/>
              <a:gd name="connsiteX10" fmla="*/ 2703718 w 5538148"/>
              <a:gd name="connsiteY10" fmla="*/ 29975 h 1745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38148" h="1745906">
                <a:moveTo>
                  <a:pt x="2703718" y="29975"/>
                </a:moveTo>
                <a:cubicBezTo>
                  <a:pt x="2079788" y="102739"/>
                  <a:pt x="613661" y="327646"/>
                  <a:pt x="216815" y="545938"/>
                </a:cubicBezTo>
                <a:cubicBezTo>
                  <a:pt x="-180031" y="764230"/>
                  <a:pt x="36029" y="1233888"/>
                  <a:pt x="322640" y="1339726"/>
                </a:cubicBezTo>
                <a:cubicBezTo>
                  <a:pt x="609251" y="1445564"/>
                  <a:pt x="1658689" y="1271372"/>
                  <a:pt x="1936482" y="1180968"/>
                </a:cubicBezTo>
                <a:cubicBezTo>
                  <a:pt x="2214274" y="1090564"/>
                  <a:pt x="1689556" y="856838"/>
                  <a:pt x="1989395" y="797304"/>
                </a:cubicBezTo>
                <a:cubicBezTo>
                  <a:pt x="2289234" y="737770"/>
                  <a:pt x="3466545" y="669416"/>
                  <a:pt x="3735518" y="823764"/>
                </a:cubicBezTo>
                <a:cubicBezTo>
                  <a:pt x="4004492" y="978112"/>
                  <a:pt x="3307806" y="1628577"/>
                  <a:pt x="3603236" y="1723390"/>
                </a:cubicBezTo>
                <a:cubicBezTo>
                  <a:pt x="3898666" y="1818203"/>
                  <a:pt x="5322904" y="1595502"/>
                  <a:pt x="5508099" y="1392645"/>
                </a:cubicBezTo>
                <a:cubicBezTo>
                  <a:pt x="5693294" y="1189788"/>
                  <a:pt x="4972356" y="720130"/>
                  <a:pt x="4714406" y="506248"/>
                </a:cubicBezTo>
                <a:cubicBezTo>
                  <a:pt x="4456456" y="292366"/>
                  <a:pt x="4297717" y="188733"/>
                  <a:pt x="3960398" y="109354"/>
                </a:cubicBezTo>
                <a:cubicBezTo>
                  <a:pt x="3623079" y="29975"/>
                  <a:pt x="3327648" y="-42789"/>
                  <a:pt x="2703718" y="29975"/>
                </a:cubicBezTo>
                <a:close/>
              </a:path>
            </a:pathLst>
          </a:custGeom>
          <a:noFill/>
          <a:ln w="19050" cmpd="sng"/>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727551" y="2487204"/>
            <a:ext cx="2103286" cy="1200329"/>
          </a:xfrm>
          <a:prstGeom prst="rect">
            <a:avLst/>
          </a:prstGeom>
          <a:noFill/>
        </p:spPr>
        <p:txBody>
          <a:bodyPr wrap="square" rtlCol="0">
            <a:spAutoFit/>
          </a:bodyPr>
          <a:lstStyle/>
          <a:p>
            <a:r>
              <a:rPr lang="en-US" b="1" dirty="0" smtClean="0">
                <a:solidFill>
                  <a:schemeClr val="accent1"/>
                </a:solidFill>
              </a:rPr>
              <a:t>Option 1:</a:t>
            </a:r>
          </a:p>
          <a:p>
            <a:r>
              <a:rPr lang="en-US" dirty="0" smtClean="0">
                <a:solidFill>
                  <a:schemeClr val="accent1"/>
                </a:solidFill>
              </a:rPr>
              <a:t>Collection of Observation elements</a:t>
            </a:r>
            <a:endParaRPr lang="en-US" dirty="0">
              <a:solidFill>
                <a:schemeClr val="accent1"/>
              </a:solidFill>
            </a:endParaRPr>
          </a:p>
        </p:txBody>
      </p:sp>
      <p:sp>
        <p:nvSpPr>
          <p:cNvPr id="11" name="Rounded Rectangle 10"/>
          <p:cNvSpPr/>
          <p:nvPr/>
        </p:nvSpPr>
        <p:spPr>
          <a:xfrm>
            <a:off x="4471135" y="5807884"/>
            <a:ext cx="1455103" cy="63471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err="1" smtClean="0"/>
              <a:t>Timeseries</a:t>
            </a:r>
            <a:r>
              <a:rPr lang="en-US" sz="1400" dirty="0" smtClean="0"/>
              <a:t> Observation</a:t>
            </a:r>
            <a:endParaRPr lang="en-US" sz="1400" dirty="0"/>
          </a:p>
        </p:txBody>
      </p:sp>
      <p:sp>
        <p:nvSpPr>
          <p:cNvPr id="12" name="Rectangle 11"/>
          <p:cNvSpPr/>
          <p:nvPr/>
        </p:nvSpPr>
        <p:spPr>
          <a:xfrm>
            <a:off x="2492277" y="6072480"/>
            <a:ext cx="1171937" cy="51564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err="1" smtClean="0"/>
              <a:t>Timeseries</a:t>
            </a:r>
            <a:endParaRPr lang="en-US" sz="1400" dirty="0"/>
          </a:p>
        </p:txBody>
      </p:sp>
      <p:cxnSp>
        <p:nvCxnSpPr>
          <p:cNvPr id="14" name="Straight Arrow Connector 13"/>
          <p:cNvCxnSpPr>
            <a:stCxn id="11" idx="1"/>
          </p:cNvCxnSpPr>
          <p:nvPr/>
        </p:nvCxnSpPr>
        <p:spPr>
          <a:xfrm flipH="1">
            <a:off x="3664214" y="6125241"/>
            <a:ext cx="806921" cy="19860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27551" y="4743952"/>
            <a:ext cx="1679130" cy="923330"/>
          </a:xfrm>
          <a:prstGeom prst="rect">
            <a:avLst/>
          </a:prstGeom>
          <a:noFill/>
        </p:spPr>
        <p:txBody>
          <a:bodyPr wrap="square" rtlCol="0">
            <a:spAutoFit/>
          </a:bodyPr>
          <a:lstStyle/>
          <a:p>
            <a:r>
              <a:rPr lang="en-US" b="1" dirty="0" smtClean="0">
                <a:solidFill>
                  <a:schemeClr val="accent1"/>
                </a:solidFill>
              </a:rPr>
              <a:t>Option 2:</a:t>
            </a:r>
          </a:p>
          <a:p>
            <a:r>
              <a:rPr lang="en-US" dirty="0" smtClean="0">
                <a:solidFill>
                  <a:schemeClr val="accent1"/>
                </a:solidFill>
              </a:rPr>
              <a:t>Time series as a result</a:t>
            </a:r>
            <a:endParaRPr lang="en-US" dirty="0">
              <a:solidFill>
                <a:schemeClr val="accent1"/>
              </a:solidFill>
            </a:endParaRPr>
          </a:p>
        </p:txBody>
      </p:sp>
    </p:spTree>
    <p:extLst>
      <p:ext uri="{BB962C8B-B14F-4D97-AF65-F5344CB8AC3E}">
        <p14:creationId xmlns:p14="http://schemas.microsoft.com/office/powerpoint/2010/main" val="428729299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0" grpId="0"/>
      <p:bldP spid="11" grpId="0" animBg="1"/>
      <p:bldP spid="12" grpId="0" animBg="1"/>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Coverage Observations</a:t>
            </a:r>
            <a:endParaRPr lang="en-US" dirty="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pic>
        <p:nvPicPr>
          <p:cNvPr id="5" name="Picture 4"/>
          <p:cNvPicPr/>
          <p:nvPr/>
        </p:nvPicPr>
        <p:blipFill rotWithShape="1">
          <a:blip r:embed="rId3" cstate="print">
            <a:extLst>
              <a:ext uri="{28A0092B-C50C-407E-A947-70E740481C1C}">
                <a14:useLocalDpi xmlns:a14="http://schemas.microsoft.com/office/drawing/2010/main"/>
              </a:ext>
            </a:extLst>
          </a:blip>
          <a:srcRect l="29047" t="4090" r="1942" b="5920"/>
          <a:stretch/>
        </p:blipFill>
        <p:spPr bwMode="auto">
          <a:xfrm>
            <a:off x="1664242" y="1197720"/>
            <a:ext cx="6404966" cy="5498187"/>
          </a:xfrm>
          <a:prstGeom prst="rect">
            <a:avLst/>
          </a:prstGeom>
          <a:ln>
            <a:noFill/>
          </a:ln>
          <a:extLst>
            <a:ext uri="{53640926-AAD7-44d8-BBD7-CCE9431645EC}">
              <a14:shadowObscured xmlns:a14="http://schemas.microsoft.com/office/drawing/2010/main"/>
            </a:ext>
          </a:extLst>
        </p:spPr>
      </p:pic>
      <p:sp>
        <p:nvSpPr>
          <p:cNvPr id="6" name="Rounded Rectangle 5"/>
          <p:cNvSpPr/>
          <p:nvPr/>
        </p:nvSpPr>
        <p:spPr>
          <a:xfrm>
            <a:off x="2711783" y="4815649"/>
            <a:ext cx="4576961" cy="886397"/>
          </a:xfrm>
          <a:prstGeom prst="roundRect">
            <a:avLst/>
          </a:prstGeom>
          <a:gradFill flip="none" rotWithShape="1">
            <a:gsLst>
              <a:gs pos="0">
                <a:schemeClr val="accent5">
                  <a:tint val="100000"/>
                  <a:shade val="100000"/>
                  <a:satMod val="130000"/>
                  <a:alpha val="59000"/>
                </a:schemeClr>
              </a:gs>
              <a:gs pos="100000">
                <a:schemeClr val="accent5">
                  <a:tint val="50000"/>
                  <a:shade val="100000"/>
                  <a:satMod val="350000"/>
                  <a:alpha val="59000"/>
                </a:schemeClr>
              </a:gs>
            </a:gsLst>
            <a:lin ang="16200000" scaled="0"/>
            <a:tileRec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smtClean="0">
                <a:solidFill>
                  <a:schemeClr val="tx1"/>
                </a:solidFill>
              </a:rPr>
              <a:t>Interleaved </a:t>
            </a:r>
            <a:r>
              <a:rPr lang="en-US" dirty="0" err="1" smtClean="0">
                <a:solidFill>
                  <a:schemeClr val="tx1"/>
                </a:solidFill>
              </a:rPr>
              <a:t>timeseries</a:t>
            </a:r>
            <a:r>
              <a:rPr lang="en-US" dirty="0" smtClean="0">
                <a:solidFill>
                  <a:schemeClr val="tx1"/>
                </a:solidFill>
              </a:rPr>
              <a:t> (</a:t>
            </a:r>
            <a:r>
              <a:rPr lang="en-US" dirty="0" err="1" smtClean="0">
                <a:solidFill>
                  <a:schemeClr val="tx1"/>
                </a:solidFill>
              </a:rPr>
              <a:t>TVP</a:t>
            </a:r>
            <a:r>
              <a:rPr lang="en-US" dirty="0" smtClean="0">
                <a:solidFill>
                  <a:schemeClr val="tx1"/>
                </a:solidFill>
              </a:rPr>
              <a:t>)</a:t>
            </a:r>
            <a:endParaRPr lang="en-US" dirty="0">
              <a:solidFill>
                <a:schemeClr val="tx1"/>
              </a:solidFill>
            </a:endParaRPr>
          </a:p>
        </p:txBody>
      </p:sp>
      <p:sp>
        <p:nvSpPr>
          <p:cNvPr id="7" name="Rounded Rectangle 6"/>
          <p:cNvSpPr/>
          <p:nvPr/>
        </p:nvSpPr>
        <p:spPr>
          <a:xfrm>
            <a:off x="2282142" y="5809510"/>
            <a:ext cx="5628327" cy="886397"/>
          </a:xfrm>
          <a:prstGeom prst="roundRect">
            <a:avLst/>
          </a:prstGeom>
          <a:gradFill flip="none" rotWithShape="1">
            <a:gsLst>
              <a:gs pos="0">
                <a:schemeClr val="accent5">
                  <a:tint val="100000"/>
                  <a:shade val="100000"/>
                  <a:satMod val="130000"/>
                  <a:alpha val="59000"/>
                </a:schemeClr>
              </a:gs>
              <a:gs pos="100000">
                <a:schemeClr val="accent5">
                  <a:tint val="50000"/>
                  <a:shade val="100000"/>
                  <a:satMod val="350000"/>
                  <a:alpha val="59000"/>
                </a:schemeClr>
              </a:gs>
            </a:gsLst>
            <a:lin ang="16200000" scaled="0"/>
            <a:tileRect/>
          </a:gradFill>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smtClean="0">
                <a:solidFill>
                  <a:schemeClr val="tx1"/>
                </a:solidFill>
              </a:rPr>
              <a:t>Domain-range </a:t>
            </a:r>
            <a:r>
              <a:rPr lang="en-US" dirty="0" err="1" smtClean="0">
                <a:solidFill>
                  <a:schemeClr val="tx1"/>
                </a:solidFill>
              </a:rPr>
              <a:t>timeseries</a:t>
            </a:r>
            <a:r>
              <a:rPr lang="en-US" dirty="0" smtClean="0">
                <a:solidFill>
                  <a:schemeClr val="tx1"/>
                </a:solidFill>
              </a:rPr>
              <a:t> (</a:t>
            </a:r>
            <a:r>
              <a:rPr lang="en-US" dirty="0" err="1" smtClean="0">
                <a:solidFill>
                  <a:schemeClr val="tx1"/>
                </a:solidFill>
              </a:rPr>
              <a:t>TVP</a:t>
            </a:r>
            <a:r>
              <a:rPr lang="en-US" dirty="0" smtClean="0">
                <a:solidFill>
                  <a:schemeClr val="tx1"/>
                </a:solidFill>
              </a:rPr>
              <a:t>)</a:t>
            </a:r>
            <a:endParaRPr lang="en-US" dirty="0">
              <a:solidFill>
                <a:schemeClr val="tx1"/>
              </a:solidFill>
            </a:endParaRPr>
          </a:p>
        </p:txBody>
      </p:sp>
    </p:spTree>
    <p:extLst>
      <p:ext uri="{BB962C8B-B14F-4D97-AF65-F5344CB8AC3E}">
        <p14:creationId xmlns:p14="http://schemas.microsoft.com/office/powerpoint/2010/main" val="1523124048"/>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XML</a:t>
            </a:r>
            <a:r>
              <a:rPr lang="en-US" dirty="0"/>
              <a:t> </a:t>
            </a:r>
            <a:r>
              <a:rPr lang="en-US" dirty="0" smtClean="0"/>
              <a:t>structure</a:t>
            </a:r>
            <a:endParaRPr lang="en-US" dirty="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pic>
        <p:nvPicPr>
          <p:cNvPr id="6" name="Picture 5"/>
          <p:cNvPicPr>
            <a:picLocks noChangeAspect="1"/>
          </p:cNvPicPr>
          <p:nvPr/>
        </p:nvPicPr>
        <p:blipFill>
          <a:blip r:embed="rId3"/>
          <a:stretch>
            <a:fillRect/>
          </a:stretch>
        </p:blipFill>
        <p:spPr>
          <a:xfrm>
            <a:off x="797047" y="4974407"/>
            <a:ext cx="5997059" cy="1507880"/>
          </a:xfrm>
          <a:prstGeom prst="rect">
            <a:avLst/>
          </a:prstGeom>
        </p:spPr>
      </p:pic>
      <p:sp>
        <p:nvSpPr>
          <p:cNvPr id="7" name="TextBox 6"/>
          <p:cNvSpPr txBox="1"/>
          <p:nvPr/>
        </p:nvSpPr>
        <p:spPr>
          <a:xfrm>
            <a:off x="6415686" y="2553353"/>
            <a:ext cx="1403524" cy="369332"/>
          </a:xfrm>
          <a:prstGeom prst="rect">
            <a:avLst/>
          </a:prstGeom>
          <a:noFill/>
        </p:spPr>
        <p:txBody>
          <a:bodyPr wrap="none" rtlCol="0">
            <a:spAutoFit/>
          </a:bodyPr>
          <a:lstStyle/>
          <a:p>
            <a:r>
              <a:rPr lang="en-US" b="1" dirty="0" smtClean="0"/>
              <a:t>Interleaved</a:t>
            </a:r>
            <a:endParaRPr lang="en-US" b="1" dirty="0"/>
          </a:p>
        </p:txBody>
      </p:sp>
      <p:sp>
        <p:nvSpPr>
          <p:cNvPr id="8" name="TextBox 7"/>
          <p:cNvSpPr txBox="1"/>
          <p:nvPr/>
        </p:nvSpPr>
        <p:spPr>
          <a:xfrm>
            <a:off x="6951704" y="5431093"/>
            <a:ext cx="1736586" cy="369332"/>
          </a:xfrm>
          <a:prstGeom prst="rect">
            <a:avLst/>
          </a:prstGeom>
          <a:noFill/>
        </p:spPr>
        <p:txBody>
          <a:bodyPr wrap="none" rtlCol="0">
            <a:spAutoFit/>
          </a:bodyPr>
          <a:lstStyle/>
          <a:p>
            <a:r>
              <a:rPr lang="en-US" b="1" dirty="0" smtClean="0"/>
              <a:t>Domain-range</a:t>
            </a:r>
            <a:endParaRPr lang="en-US" b="1" dirty="0"/>
          </a:p>
        </p:txBody>
      </p:sp>
      <p:pic>
        <p:nvPicPr>
          <p:cNvPr id="11" name="Picture 10"/>
          <p:cNvPicPr>
            <a:picLocks noChangeAspect="1"/>
          </p:cNvPicPr>
          <p:nvPr/>
        </p:nvPicPr>
        <p:blipFill>
          <a:blip r:embed="rId4"/>
          <a:stretch>
            <a:fillRect/>
          </a:stretch>
        </p:blipFill>
        <p:spPr>
          <a:xfrm>
            <a:off x="798092" y="1202808"/>
            <a:ext cx="5617594" cy="3626072"/>
          </a:xfrm>
          <a:prstGeom prst="rect">
            <a:avLst/>
          </a:prstGeom>
        </p:spPr>
      </p:pic>
      <p:sp>
        <p:nvSpPr>
          <p:cNvPr id="12" name="Rounded Rectangle 11"/>
          <p:cNvSpPr/>
          <p:nvPr/>
        </p:nvSpPr>
        <p:spPr>
          <a:xfrm>
            <a:off x="1918090" y="5291922"/>
            <a:ext cx="1468332" cy="165631"/>
          </a:xfrm>
          <a:prstGeom prst="roundRect">
            <a:avLst/>
          </a:prstGeom>
          <a:gradFill flip="none" rotWithShape="1">
            <a:gsLst>
              <a:gs pos="0">
                <a:schemeClr val="accent1">
                  <a:tint val="100000"/>
                  <a:shade val="100000"/>
                  <a:satMod val="130000"/>
                  <a:alpha val="55000"/>
                </a:schemeClr>
              </a:gs>
              <a:gs pos="100000">
                <a:schemeClr val="accent1">
                  <a:tint val="50000"/>
                  <a:shade val="100000"/>
                  <a:satMod val="350000"/>
                  <a:alpha val="55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ounded Rectangle 12"/>
          <p:cNvSpPr/>
          <p:nvPr/>
        </p:nvSpPr>
        <p:spPr>
          <a:xfrm>
            <a:off x="2983237" y="6132272"/>
            <a:ext cx="270903" cy="165631"/>
          </a:xfrm>
          <a:prstGeom prst="roundRect">
            <a:avLst/>
          </a:prstGeom>
          <a:gradFill flip="none" rotWithShape="1">
            <a:gsLst>
              <a:gs pos="0">
                <a:schemeClr val="accent1">
                  <a:tint val="100000"/>
                  <a:shade val="100000"/>
                  <a:satMod val="130000"/>
                  <a:alpha val="55000"/>
                </a:schemeClr>
              </a:gs>
              <a:gs pos="100000">
                <a:schemeClr val="accent1">
                  <a:tint val="50000"/>
                  <a:shade val="100000"/>
                  <a:satMod val="350000"/>
                  <a:alpha val="55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 name="Straight Connector 14"/>
          <p:cNvCxnSpPr>
            <a:stCxn id="12" idx="2"/>
            <a:endCxn id="13" idx="0"/>
          </p:cNvCxnSpPr>
          <p:nvPr/>
        </p:nvCxnSpPr>
        <p:spPr>
          <a:xfrm>
            <a:off x="2652256" y="5457553"/>
            <a:ext cx="466433" cy="674719"/>
          </a:xfrm>
          <a:prstGeom prst="line">
            <a:avLst/>
          </a:prstGeom>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406540" y="5291922"/>
            <a:ext cx="1468332" cy="165631"/>
          </a:xfrm>
          <a:prstGeom prst="roundRect">
            <a:avLst/>
          </a:prstGeom>
          <a:gradFill flip="none" rotWithShape="1">
            <a:gsLst>
              <a:gs pos="0">
                <a:schemeClr val="accent1">
                  <a:tint val="100000"/>
                  <a:shade val="100000"/>
                  <a:satMod val="130000"/>
                  <a:alpha val="55000"/>
                </a:schemeClr>
              </a:gs>
              <a:gs pos="100000">
                <a:schemeClr val="accent1">
                  <a:tint val="50000"/>
                  <a:shade val="100000"/>
                  <a:satMod val="350000"/>
                  <a:alpha val="55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ounded Rectangle 17"/>
          <p:cNvSpPr/>
          <p:nvPr/>
        </p:nvSpPr>
        <p:spPr>
          <a:xfrm>
            <a:off x="3320282" y="6132272"/>
            <a:ext cx="270903" cy="165631"/>
          </a:xfrm>
          <a:prstGeom prst="roundRect">
            <a:avLst/>
          </a:prstGeom>
          <a:gradFill flip="none" rotWithShape="1">
            <a:gsLst>
              <a:gs pos="0">
                <a:schemeClr val="accent1">
                  <a:tint val="100000"/>
                  <a:shade val="100000"/>
                  <a:satMod val="130000"/>
                  <a:alpha val="55000"/>
                </a:schemeClr>
              </a:gs>
              <a:gs pos="100000">
                <a:schemeClr val="accent1">
                  <a:tint val="50000"/>
                  <a:shade val="100000"/>
                  <a:satMod val="350000"/>
                  <a:alpha val="55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Connector 18"/>
          <p:cNvCxnSpPr>
            <a:stCxn id="17" idx="2"/>
            <a:endCxn id="18" idx="0"/>
          </p:cNvCxnSpPr>
          <p:nvPr/>
        </p:nvCxnSpPr>
        <p:spPr>
          <a:xfrm flipH="1">
            <a:off x="3455734" y="5457553"/>
            <a:ext cx="684972" cy="674719"/>
          </a:xfrm>
          <a:prstGeom prst="line">
            <a:avLst/>
          </a:prstGeom>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874872" y="5298795"/>
            <a:ext cx="1468332" cy="165631"/>
          </a:xfrm>
          <a:prstGeom prst="roundRect">
            <a:avLst/>
          </a:prstGeom>
          <a:gradFill flip="none" rotWithShape="1">
            <a:gsLst>
              <a:gs pos="0">
                <a:schemeClr val="accent1">
                  <a:tint val="100000"/>
                  <a:shade val="100000"/>
                  <a:satMod val="130000"/>
                  <a:alpha val="55000"/>
                </a:schemeClr>
              </a:gs>
              <a:gs pos="100000">
                <a:schemeClr val="accent1">
                  <a:tint val="50000"/>
                  <a:shade val="100000"/>
                  <a:satMod val="350000"/>
                  <a:alpha val="55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ounded Rectangle 21"/>
          <p:cNvSpPr/>
          <p:nvPr/>
        </p:nvSpPr>
        <p:spPr>
          <a:xfrm>
            <a:off x="3657327" y="6132787"/>
            <a:ext cx="270903" cy="165631"/>
          </a:xfrm>
          <a:prstGeom prst="roundRect">
            <a:avLst/>
          </a:prstGeom>
          <a:gradFill flip="none" rotWithShape="1">
            <a:gsLst>
              <a:gs pos="0">
                <a:schemeClr val="accent1">
                  <a:tint val="100000"/>
                  <a:shade val="100000"/>
                  <a:satMod val="130000"/>
                  <a:alpha val="55000"/>
                </a:schemeClr>
              </a:gs>
              <a:gs pos="100000">
                <a:schemeClr val="accent1">
                  <a:tint val="50000"/>
                  <a:shade val="100000"/>
                  <a:satMod val="350000"/>
                  <a:alpha val="55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Connector 22"/>
          <p:cNvCxnSpPr>
            <a:stCxn id="21" idx="2"/>
            <a:endCxn id="22" idx="0"/>
          </p:cNvCxnSpPr>
          <p:nvPr/>
        </p:nvCxnSpPr>
        <p:spPr>
          <a:xfrm flipH="1">
            <a:off x="3792779" y="5464426"/>
            <a:ext cx="1816259" cy="66836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205936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dissolv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dissolve">
                                      <p:cBhvr>
                                        <p:cTn id="18" dur="500"/>
                                        <p:tgtEl>
                                          <p:spTgt spid="17"/>
                                        </p:tgtEl>
                                      </p:cBhvr>
                                    </p:animEffect>
                                  </p:childTnLst>
                                </p:cTn>
                              </p:par>
                              <p:par>
                                <p:cTn id="19" presetID="9"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dissolve">
                                      <p:cBhvr>
                                        <p:cTn id="21" dur="500"/>
                                        <p:tgtEl>
                                          <p:spTgt spid="19"/>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dissolv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dissolve">
                                      <p:cBhvr>
                                        <p:cTn id="29" dur="500"/>
                                        <p:tgtEl>
                                          <p:spTgt spid="23"/>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ssolve">
                                      <p:cBhvr>
                                        <p:cTn id="32" dur="500"/>
                                        <p:tgtEl>
                                          <p:spTgt spid="21"/>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7" grpId="0" animBg="1"/>
      <p:bldP spid="18" grpId="0" animBg="1"/>
      <p:bldP spid="21" grpId="0" animBg="1"/>
      <p:bldP spid="2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Measurement </a:t>
            </a:r>
            <a:r>
              <a:rPr lang="en-US" dirty="0" err="1" smtClean="0"/>
              <a:t>timeseries</a:t>
            </a:r>
            <a:endParaRPr lang="en-US" dirty="0"/>
          </a:p>
        </p:txBody>
      </p:sp>
      <p:sp>
        <p:nvSpPr>
          <p:cNvPr id="4" name="Footer Placeholder 3"/>
          <p:cNvSpPr>
            <a:spLocks noGrp="1"/>
          </p:cNvSpPr>
          <p:nvPr>
            <p:ph type="ftr" sz="quarter" idx="10"/>
          </p:nvPr>
        </p:nvSpPr>
        <p:spPr/>
        <p:txBody>
          <a:bodyPr/>
          <a:lstStyle/>
          <a:p>
            <a:r>
              <a:rPr lang="en-AU" smtClean="0">
                <a:solidFill>
                  <a:srgbClr val="0099CC"/>
                </a:solidFill>
              </a:rPr>
              <a:t>CSIRO.</a:t>
            </a:r>
            <a:r>
              <a:rPr lang="en-AU" b="0" smtClean="0">
                <a:solidFill>
                  <a:srgbClr val="000000"/>
                </a:solidFill>
              </a:rPr>
              <a:t>  WaterML2.0 overview</a:t>
            </a:r>
            <a:endParaRPr lang="en-AU" b="0" dirty="0">
              <a:solidFill>
                <a:srgbClr val="000000"/>
              </a:solidFill>
            </a:endParaRPr>
          </a:p>
        </p:txBody>
      </p:sp>
      <p:pic>
        <p:nvPicPr>
          <p:cNvPr id="5" name="Picture 4"/>
          <p:cNvPicPr/>
          <p:nvPr/>
        </p:nvPicPr>
        <p:blipFill rotWithShape="1">
          <a:blip r:embed="rId2" cstate="print">
            <a:extLst>
              <a:ext uri="{28A0092B-C50C-407E-A947-70E740481C1C}">
                <a14:useLocalDpi xmlns:a14="http://schemas.microsoft.com/office/drawing/2010/main"/>
              </a:ext>
            </a:extLst>
          </a:blip>
          <a:srcRect l="2834" t="4509" r="2667" b="6251"/>
          <a:stretch/>
        </p:blipFill>
        <p:spPr bwMode="auto">
          <a:xfrm>
            <a:off x="1103313" y="1193365"/>
            <a:ext cx="7140567" cy="5085606"/>
          </a:xfrm>
          <a:prstGeom prst="rect">
            <a:avLst/>
          </a:prstGeom>
          <a:ln>
            <a:noFill/>
          </a:ln>
          <a:extLst>
            <a:ext uri="{53640926-AAD7-44d8-BBD7-CCE9431645EC}">
              <a14:shadowObscured xmlns:a14="http://schemas.microsoft.com/office/drawing/2010/main"/>
            </a:ext>
          </a:extLst>
        </p:spPr>
      </p:pic>
      <p:sp>
        <p:nvSpPr>
          <p:cNvPr id="8" name="Rounded Rectangle 7"/>
          <p:cNvSpPr/>
          <p:nvPr/>
        </p:nvSpPr>
        <p:spPr>
          <a:xfrm>
            <a:off x="1222367" y="1203911"/>
            <a:ext cx="2799009" cy="2513663"/>
          </a:xfrm>
          <a:prstGeom prst="roundRect">
            <a:avLst/>
          </a:prstGeom>
          <a:gradFill flip="none" rotWithShape="1">
            <a:gsLst>
              <a:gs pos="0">
                <a:schemeClr val="accent1">
                  <a:tint val="100000"/>
                  <a:shade val="100000"/>
                  <a:satMod val="130000"/>
                  <a:alpha val="67000"/>
                </a:schemeClr>
              </a:gs>
              <a:gs pos="100000">
                <a:schemeClr val="accent1">
                  <a:tint val="50000"/>
                  <a:shade val="100000"/>
                  <a:satMod val="350000"/>
                  <a:alpha val="67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 </a:t>
            </a:r>
            <a:r>
              <a:rPr lang="en-US" dirty="0" err="1" smtClean="0"/>
              <a:t>Timeseries</a:t>
            </a:r>
            <a:r>
              <a:rPr lang="en-US" dirty="0" smtClean="0"/>
              <a:t>…</a:t>
            </a:r>
            <a:endParaRPr lang="en-US" dirty="0"/>
          </a:p>
        </p:txBody>
      </p:sp>
      <p:sp>
        <p:nvSpPr>
          <p:cNvPr id="9" name="Rounded Rectangle 8"/>
          <p:cNvSpPr/>
          <p:nvPr/>
        </p:nvSpPr>
        <p:spPr>
          <a:xfrm>
            <a:off x="5444871" y="1193365"/>
            <a:ext cx="2799009" cy="2513663"/>
          </a:xfrm>
          <a:prstGeom prst="roundRect">
            <a:avLst/>
          </a:prstGeom>
          <a:gradFill flip="none" rotWithShape="1">
            <a:gsLst>
              <a:gs pos="0">
                <a:schemeClr val="accent1">
                  <a:tint val="100000"/>
                  <a:shade val="100000"/>
                  <a:satMod val="130000"/>
                  <a:alpha val="67000"/>
                </a:schemeClr>
              </a:gs>
              <a:gs pos="100000">
                <a:schemeClr val="accent1">
                  <a:tint val="50000"/>
                  <a:shade val="100000"/>
                  <a:satMod val="350000"/>
                  <a:alpha val="67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Consists of many time-value (measure) pairs…</a:t>
            </a:r>
            <a:endParaRPr lang="en-US" dirty="0"/>
          </a:p>
        </p:txBody>
      </p:sp>
      <p:sp>
        <p:nvSpPr>
          <p:cNvPr id="10" name="Rounded Rectangle 9"/>
          <p:cNvSpPr/>
          <p:nvPr/>
        </p:nvSpPr>
        <p:spPr>
          <a:xfrm>
            <a:off x="861572" y="3978496"/>
            <a:ext cx="7585516" cy="2300475"/>
          </a:xfrm>
          <a:prstGeom prst="roundRect">
            <a:avLst/>
          </a:prstGeom>
          <a:gradFill flip="none" rotWithShape="1">
            <a:gsLst>
              <a:gs pos="0">
                <a:schemeClr val="accent1">
                  <a:tint val="100000"/>
                  <a:shade val="100000"/>
                  <a:satMod val="130000"/>
                  <a:alpha val="67000"/>
                </a:schemeClr>
              </a:gs>
              <a:gs pos="100000">
                <a:schemeClr val="accent1">
                  <a:tint val="50000"/>
                  <a:shade val="100000"/>
                  <a:satMod val="350000"/>
                  <a:alpha val="67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With metadata and annotations.</a:t>
            </a:r>
            <a:endParaRPr lang="en-US" dirty="0"/>
          </a:p>
        </p:txBody>
      </p:sp>
    </p:spTree>
    <p:extLst>
      <p:ext uri="{BB962C8B-B14F-4D97-AF65-F5344CB8AC3E}">
        <p14:creationId xmlns:p14="http://schemas.microsoft.com/office/powerpoint/2010/main" val="26742753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xit" presetSubtype="0" fill="hold" grpId="1" nodeType="clickEffect">
                                  <p:stCondLst>
                                    <p:cond delay="0"/>
                                  </p:stCondLst>
                                  <p:childTnLst>
                                    <p:animEffect transition="out" filter="dissolve">
                                      <p:cBhvr>
                                        <p:cTn id="18" dur="500"/>
                                        <p:tgtEl>
                                          <p:spTgt spid="8"/>
                                        </p:tgtEl>
                                      </p:cBhvr>
                                    </p:animEffect>
                                    <p:set>
                                      <p:cBhvr>
                                        <p:cTn id="19" dur="1" fill="hold">
                                          <p:stCondLst>
                                            <p:cond delay="499"/>
                                          </p:stCondLst>
                                        </p:cTn>
                                        <p:tgtEl>
                                          <p:spTgt spid="8"/>
                                        </p:tgtEl>
                                        <p:attrNameLst>
                                          <p:attrName>style.visibility</p:attrName>
                                        </p:attrNameLst>
                                      </p:cBhvr>
                                      <p:to>
                                        <p:strVal val="hidden"/>
                                      </p:to>
                                    </p:set>
                                  </p:childTnLst>
                                </p:cTn>
                              </p:par>
                              <p:par>
                                <p:cTn id="20" presetID="9" presetClass="exit" presetSubtype="0" fill="hold" grpId="1" nodeType="withEffect">
                                  <p:stCondLst>
                                    <p:cond delay="0"/>
                                  </p:stCondLst>
                                  <p:childTnLst>
                                    <p:animEffect transition="out" filter="dissolve">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par>
                                <p:cTn id="23" presetID="9" presetClass="exit" presetSubtype="0" fill="hold" grpId="1" nodeType="withEffect">
                                  <p:stCondLst>
                                    <p:cond delay="0"/>
                                  </p:stCondLst>
                                  <p:childTnLst>
                                    <p:animEffect transition="out" filter="dissolve">
                                      <p:cBhvr>
                                        <p:cTn id="24" dur="500"/>
                                        <p:tgtEl>
                                          <p:spTgt spid="10"/>
                                        </p:tgtEl>
                                      </p:cBhvr>
                                    </p:animEffect>
                                    <p:set>
                                      <p:cBhvr>
                                        <p:cTn id="25"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Timeseries</a:t>
            </a:r>
            <a:r>
              <a:rPr lang="en-US" dirty="0" smtClean="0"/>
              <a:t> metadata</a:t>
            </a:r>
            <a:endParaRPr lang="en-US" dirty="0"/>
          </a:p>
        </p:txBody>
      </p:sp>
      <p:sp>
        <p:nvSpPr>
          <p:cNvPr id="4" name="Footer Placeholder 3"/>
          <p:cNvSpPr>
            <a:spLocks noGrp="1"/>
          </p:cNvSpPr>
          <p:nvPr>
            <p:ph type="ftr" sz="quarter" idx="10"/>
          </p:nvPr>
        </p:nvSpPr>
        <p:spPr/>
        <p:txBody>
          <a:bodyPr/>
          <a:lstStyle/>
          <a:p>
            <a:r>
              <a:rPr lang="en-AU" smtClean="0">
                <a:solidFill>
                  <a:srgbClr val="0099CC"/>
                </a:solidFill>
              </a:rPr>
              <a:t>CSIRO.</a:t>
            </a:r>
            <a:r>
              <a:rPr lang="en-AU" b="0" smtClean="0">
                <a:solidFill>
                  <a:srgbClr val="000000"/>
                </a:solidFill>
              </a:rPr>
              <a:t>  WaterML2.0 overview</a:t>
            </a:r>
            <a:endParaRPr lang="en-AU" b="0" dirty="0">
              <a:solidFill>
                <a:srgbClr val="000000"/>
              </a:solidFill>
            </a:endParaRPr>
          </a:p>
        </p:txBody>
      </p:sp>
      <p:pic>
        <p:nvPicPr>
          <p:cNvPr id="5" name="Picture 4" descr="Description: Base metadata"/>
          <p:cNvPicPr/>
          <p:nvPr/>
        </p:nvPicPr>
        <p:blipFill>
          <a:blip r:embed="rId2" cstate="print">
            <a:extLst>
              <a:ext uri="{28A0092B-C50C-407E-A947-70E740481C1C}">
                <a14:useLocalDpi xmlns:a14="http://schemas.microsoft.com/office/drawing/2010/main"/>
              </a:ext>
            </a:extLst>
          </a:blip>
          <a:srcRect l="3853" t="16035" r="55339" b="24663"/>
          <a:stretch>
            <a:fillRect/>
          </a:stretch>
        </p:blipFill>
        <p:spPr bwMode="auto">
          <a:xfrm>
            <a:off x="1222654" y="1528593"/>
            <a:ext cx="2746096" cy="1541805"/>
          </a:xfrm>
          <a:prstGeom prst="rect">
            <a:avLst/>
          </a:prstGeom>
          <a:noFill/>
          <a:ln>
            <a:noFill/>
          </a:ln>
        </p:spPr>
      </p:pic>
      <p:pic>
        <p:nvPicPr>
          <p:cNvPr id="6" name="Picture 5"/>
          <p:cNvPicPr/>
          <p:nvPr/>
        </p:nvPicPr>
        <p:blipFill rotWithShape="1">
          <a:blip r:embed="rId3" cstate="print">
            <a:extLst>
              <a:ext uri="{28A0092B-C50C-407E-A947-70E740481C1C}">
                <a14:useLocalDpi xmlns:a14="http://schemas.microsoft.com/office/drawing/2010/main"/>
              </a:ext>
            </a:extLst>
          </a:blip>
          <a:srcRect l="2125" t="4135" r="48284" b="52182"/>
          <a:stretch/>
        </p:blipFill>
        <p:spPr bwMode="auto">
          <a:xfrm>
            <a:off x="1222654" y="3243425"/>
            <a:ext cx="4433364" cy="3344700"/>
          </a:xfrm>
          <a:prstGeom prst="rect">
            <a:avLst/>
          </a:prstGeom>
          <a:ln>
            <a:noFill/>
          </a:ln>
          <a:extLst>
            <a:ext uri="{53640926-AAD7-44d8-BBD7-CCE9431645EC}">
              <a14:shadowObscured xmlns:a14="http://schemas.microsoft.com/office/drawing/2010/main"/>
            </a:ext>
          </a:extLst>
        </p:spPr>
      </p:pic>
      <p:sp>
        <p:nvSpPr>
          <p:cNvPr id="7" name="TextBox 6"/>
          <p:cNvSpPr txBox="1"/>
          <p:nvPr/>
        </p:nvSpPr>
        <p:spPr>
          <a:xfrm>
            <a:off x="3359965" y="595341"/>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957658142"/>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CodeLists (proposed for TimeseriesML)</a:t>
            </a:r>
          </a:p>
        </p:txBody>
      </p:sp>
      <p:sp>
        <p:nvSpPr>
          <p:cNvPr id="4" name="Footer Placeholder 3"/>
          <p:cNvSpPr>
            <a:spLocks noGrp="1"/>
          </p:cNvSpPr>
          <p:nvPr>
            <p:ph type="ftr" sz="quarter" idx="10"/>
          </p:nvPr>
        </p:nvSpPr>
        <p:spPr/>
        <p:txBody>
          <a:bodyPr/>
          <a:lstStyle/>
          <a:p>
            <a:r>
              <a:rPr lang="en-AU" dirty="0">
                <a:solidFill>
                  <a:srgbClr val="0099CC"/>
                </a:solidFill>
              </a:rPr>
              <a:t>CSIRO.</a:t>
            </a:r>
            <a:r>
              <a:rPr lang="en-AU" b="0" dirty="0">
                <a:solidFill>
                  <a:srgbClr val="000000"/>
                </a:solidFill>
              </a:rPr>
              <a:t>  </a:t>
            </a:r>
            <a:r>
              <a:rPr lang="en-AU" b="0" dirty="0" smtClean="0">
                <a:solidFill>
                  <a:srgbClr val="000000"/>
                </a:solidFill>
              </a:rPr>
              <a:t>WaterML2.0 overview</a:t>
            </a:r>
            <a:endParaRPr lang="en-AU" b="0" dirty="0">
              <a:solidFill>
                <a:srgbClr val="000000"/>
              </a:solidFill>
            </a:endParaRPr>
          </a:p>
        </p:txBody>
      </p:sp>
      <p:pic>
        <p:nvPicPr>
          <p:cNvPr id="6" name="Picture 5"/>
          <p:cNvPicPr/>
          <p:nvPr/>
        </p:nvPicPr>
        <p:blipFill>
          <a:blip r:embed="rId2" cstate="print"/>
          <a:stretch>
            <a:fillRect/>
          </a:stretch>
        </p:blipFill>
        <p:spPr>
          <a:xfrm>
            <a:off x="1221154" y="1695450"/>
            <a:ext cx="7121769" cy="4762012"/>
          </a:xfrm>
          <a:prstGeom prst="rect">
            <a:avLst/>
          </a:prstGeom>
        </p:spPr>
      </p:pic>
    </p:spTree>
    <p:extLst>
      <p:ext uri="{BB962C8B-B14F-4D97-AF65-F5344CB8AC3E}">
        <p14:creationId xmlns:p14="http://schemas.microsoft.com/office/powerpoint/2010/main" val="4040559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features</a:t>
            </a:r>
          </a:p>
        </p:txBody>
      </p:sp>
      <p:sp>
        <p:nvSpPr>
          <p:cNvPr id="3" name="Content Placeholder 2"/>
          <p:cNvSpPr>
            <a:spLocks noGrp="1"/>
          </p:cNvSpPr>
          <p:nvPr>
            <p:ph idx="1"/>
          </p:nvPr>
        </p:nvSpPr>
        <p:spPr/>
        <p:txBody>
          <a:bodyPr/>
          <a:lstStyle/>
          <a:p>
            <a:r>
              <a:rPr lang="en-US" dirty="0"/>
              <a:t>The </a:t>
            </a:r>
            <a:r>
              <a:rPr lang="en-US" i="1" dirty="0"/>
              <a:t>domain feature </a:t>
            </a:r>
            <a:r>
              <a:rPr lang="en-US" dirty="0"/>
              <a:t>is often not directly measured but estimated through a proxy, or a </a:t>
            </a:r>
            <a:r>
              <a:rPr lang="en-US" i="1" dirty="0"/>
              <a:t>sampling</a:t>
            </a:r>
            <a:r>
              <a:rPr lang="en-US" dirty="0"/>
              <a:t>, feature</a:t>
            </a:r>
          </a:p>
          <a:p>
            <a:endParaRPr lang="en-US" dirty="0"/>
          </a:p>
          <a:p>
            <a:r>
              <a:rPr lang="en-US" dirty="0"/>
              <a:t>E.g. Measuring water quality of an aquifer involves sampling at a bore or well site.  </a:t>
            </a:r>
            <a:endParaRPr lang="en-US" dirty="0" smtClean="0"/>
          </a:p>
          <a:p>
            <a:endParaRPr lang="en-US" dirty="0"/>
          </a:p>
          <a:p>
            <a:r>
              <a:rPr lang="en-US" dirty="0" smtClean="0"/>
              <a:t>E.g. Measuring river level at a station is sampling the river at a point</a:t>
            </a:r>
          </a:p>
          <a:p>
            <a:endParaRPr lang="en-US" dirty="0"/>
          </a:p>
          <a:p>
            <a:r>
              <a:rPr lang="en-US" b="1" dirty="0" smtClean="0"/>
              <a:t>Linking of sampling features to domain features allows closer interaction with GIS systems</a:t>
            </a:r>
            <a:endParaRPr lang="en-US" b="1" dirty="0"/>
          </a:p>
          <a:p>
            <a:endParaRPr lang="en-US" b="1" dirty="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WaterML2.0 overview</a:t>
            </a:r>
            <a:endParaRPr lang="en-AU" b="0" dirty="0">
              <a:solidFill>
                <a:srgbClr val="000000"/>
              </a:solidFill>
            </a:endParaRPr>
          </a:p>
        </p:txBody>
      </p:sp>
    </p:spTree>
    <p:extLst>
      <p:ext uri="{BB962C8B-B14F-4D97-AF65-F5344CB8AC3E}">
        <p14:creationId xmlns:p14="http://schemas.microsoft.com/office/powerpoint/2010/main" val="1558993059"/>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usgs-graph-gage ht 2wks.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549812" y="2987627"/>
            <a:ext cx="4594187" cy="3027618"/>
          </a:xfrm>
          <a:prstGeom prst="rect">
            <a:avLst/>
          </a:prstGeom>
        </p:spPr>
      </p:pic>
      <p:sp>
        <p:nvSpPr>
          <p:cNvPr id="905497" name="Rectangle 281"/>
          <p:cNvSpPr>
            <a:spLocks noChangeArrowheads="1"/>
          </p:cNvSpPr>
          <p:nvPr/>
        </p:nvSpPr>
        <p:spPr bwMode="auto">
          <a:xfrm>
            <a:off x="67871" y="6051332"/>
            <a:ext cx="9077424" cy="707886"/>
          </a:xfrm>
          <a:prstGeom prst="rect">
            <a:avLst/>
          </a:prstGeom>
          <a:noFill/>
          <a:ln w="9525">
            <a:noFill/>
            <a:miter lim="800000"/>
            <a:headEnd/>
            <a:tailEnd/>
          </a:ln>
        </p:spPr>
        <p:txBody>
          <a:bodyPr wrap="none">
            <a:spAutoFit/>
          </a:bodyPr>
          <a:lstStyle/>
          <a:p>
            <a:pPr marL="342900" indent="-342900" defTabSz="914400" fontAlgn="base">
              <a:spcBef>
                <a:spcPct val="0"/>
              </a:spcBef>
              <a:spcAft>
                <a:spcPct val="0"/>
              </a:spcAft>
            </a:pPr>
            <a:r>
              <a:rPr lang="en-AU" sz="2000" dirty="0">
                <a:solidFill>
                  <a:srgbClr val="0F3277"/>
                </a:solidFill>
                <a:latin typeface="Candara"/>
                <a:ea typeface="ＭＳ Ｐゴシック"/>
                <a:cs typeface="Candara"/>
              </a:rPr>
              <a:t>An </a:t>
            </a:r>
            <a:r>
              <a:rPr lang="en-AU" sz="2000" b="1" dirty="0">
                <a:solidFill>
                  <a:srgbClr val="FF0066"/>
                </a:solidFill>
                <a:latin typeface="Candara"/>
                <a:ea typeface="ＭＳ Ｐゴシック"/>
                <a:cs typeface="Candara"/>
              </a:rPr>
              <a:t>Observation</a:t>
            </a:r>
            <a:r>
              <a:rPr lang="en-AU" sz="2000" dirty="0">
                <a:solidFill>
                  <a:srgbClr val="0F3277"/>
                </a:solidFill>
                <a:latin typeface="Candara"/>
                <a:ea typeface="ＭＳ Ｐゴシック"/>
                <a:cs typeface="Candara"/>
              </a:rPr>
              <a:t> is an action whose </a:t>
            </a:r>
            <a:r>
              <a:rPr lang="en-AU" sz="2000" b="1" dirty="0">
                <a:solidFill>
                  <a:srgbClr val="A3CA4B">
                    <a:lumMod val="50000"/>
                  </a:srgbClr>
                </a:solidFill>
                <a:latin typeface="Candara"/>
                <a:ea typeface="ＭＳ Ｐゴシック"/>
                <a:cs typeface="Candara"/>
              </a:rPr>
              <a:t>result</a:t>
            </a:r>
            <a:r>
              <a:rPr lang="en-AU" sz="2000" dirty="0">
                <a:solidFill>
                  <a:srgbClr val="A3CA4B">
                    <a:lumMod val="50000"/>
                  </a:srgbClr>
                </a:solidFill>
                <a:latin typeface="Candara"/>
                <a:ea typeface="ＭＳ Ｐゴシック"/>
                <a:cs typeface="Candara"/>
              </a:rPr>
              <a:t> </a:t>
            </a:r>
            <a:r>
              <a:rPr lang="en-AU" sz="2000" dirty="0">
                <a:solidFill>
                  <a:srgbClr val="0F3277"/>
                </a:solidFill>
                <a:latin typeface="Candara"/>
                <a:ea typeface="ＭＳ Ｐゴシック"/>
                <a:cs typeface="Candara"/>
              </a:rPr>
              <a:t>is an estimate of the value </a:t>
            </a:r>
            <a:r>
              <a:rPr lang="en-AU" sz="2000" dirty="0" smtClean="0">
                <a:solidFill>
                  <a:srgbClr val="0F3277"/>
                </a:solidFill>
                <a:latin typeface="Candara"/>
                <a:ea typeface="ＭＳ Ｐゴシック"/>
                <a:cs typeface="Candara"/>
              </a:rPr>
              <a:t>of </a:t>
            </a:r>
            <a:br>
              <a:rPr lang="en-AU" sz="2000" dirty="0" smtClean="0">
                <a:solidFill>
                  <a:srgbClr val="0F3277"/>
                </a:solidFill>
                <a:latin typeface="Candara"/>
                <a:ea typeface="ＭＳ Ｐゴシック"/>
                <a:cs typeface="Candara"/>
              </a:rPr>
            </a:br>
            <a:r>
              <a:rPr lang="en-AU" sz="2000" dirty="0" smtClean="0">
                <a:solidFill>
                  <a:srgbClr val="0F3277"/>
                </a:solidFill>
                <a:latin typeface="Candara"/>
                <a:ea typeface="ＭＳ Ｐゴシック"/>
                <a:cs typeface="Candara"/>
              </a:rPr>
              <a:t>some </a:t>
            </a:r>
            <a:r>
              <a:rPr lang="en-AU" sz="2000" b="1" dirty="0">
                <a:solidFill>
                  <a:srgbClr val="8DA3E8">
                    <a:lumMod val="75000"/>
                  </a:srgbClr>
                </a:solidFill>
                <a:latin typeface="Candara"/>
                <a:ea typeface="ＭＳ Ｐゴシック"/>
                <a:cs typeface="Candara"/>
              </a:rPr>
              <a:t>property</a:t>
            </a:r>
            <a:r>
              <a:rPr lang="en-AU" sz="2000" dirty="0">
                <a:solidFill>
                  <a:srgbClr val="8DA3E8">
                    <a:lumMod val="75000"/>
                  </a:srgbClr>
                </a:solidFill>
                <a:latin typeface="Candara"/>
                <a:ea typeface="ＭＳ Ｐゴシック"/>
                <a:cs typeface="Candara"/>
              </a:rPr>
              <a:t> </a:t>
            </a:r>
            <a:r>
              <a:rPr lang="en-AU" sz="2000" dirty="0">
                <a:solidFill>
                  <a:srgbClr val="0F3277"/>
                </a:solidFill>
                <a:latin typeface="Candara"/>
                <a:ea typeface="ＭＳ Ｐゴシック"/>
                <a:cs typeface="Candara"/>
              </a:rPr>
              <a:t>of the </a:t>
            </a:r>
            <a:r>
              <a:rPr lang="en-AU" sz="2000" b="1" dirty="0">
                <a:solidFill>
                  <a:srgbClr val="FAC15A">
                    <a:lumMod val="50000"/>
                  </a:srgbClr>
                </a:solidFill>
                <a:latin typeface="Candara"/>
                <a:ea typeface="ＭＳ Ｐゴシック"/>
                <a:cs typeface="Candara"/>
              </a:rPr>
              <a:t>feature-of-interest</a:t>
            </a:r>
            <a:r>
              <a:rPr lang="en-AU" sz="2000" dirty="0">
                <a:solidFill>
                  <a:srgbClr val="0F3277"/>
                </a:solidFill>
                <a:latin typeface="Candara"/>
                <a:ea typeface="ＭＳ Ｐゴシック"/>
                <a:cs typeface="Candara"/>
              </a:rPr>
              <a:t>, obtained using a specified </a:t>
            </a:r>
            <a:r>
              <a:rPr lang="en-AU" sz="2000" b="1" dirty="0" smtClean="0">
                <a:solidFill>
                  <a:srgbClr val="8E55BB"/>
                </a:solidFill>
                <a:latin typeface="Candara"/>
                <a:ea typeface="ＭＳ Ｐゴシック"/>
                <a:cs typeface="Candara"/>
              </a:rPr>
              <a:t>procedure</a:t>
            </a:r>
            <a:endParaRPr lang="en-AU" sz="2000" b="1" dirty="0">
              <a:solidFill>
                <a:srgbClr val="8E55BB"/>
              </a:solidFill>
              <a:latin typeface="Candara"/>
              <a:ea typeface="ＭＳ Ｐゴシック"/>
              <a:cs typeface="Candara"/>
            </a:endParaRPr>
          </a:p>
        </p:txBody>
      </p:sp>
      <p:sp>
        <p:nvSpPr>
          <p:cNvPr id="16" name="Title 15"/>
          <p:cNvSpPr>
            <a:spLocks noGrp="1"/>
          </p:cNvSpPr>
          <p:nvPr>
            <p:ph type="title"/>
          </p:nvPr>
        </p:nvSpPr>
        <p:spPr>
          <a:xfrm>
            <a:off x="121317" y="136508"/>
            <a:ext cx="4497190" cy="979500"/>
          </a:xfrm>
        </p:spPr>
        <p:txBody>
          <a:bodyPr/>
          <a:lstStyle/>
          <a:p>
            <a:r>
              <a:rPr lang="en-US" sz="3200" dirty="0" smtClean="0">
                <a:effectLst>
                  <a:outerShdw blurRad="50800" dist="38100" dir="2700000" algn="tl" rotWithShape="0">
                    <a:srgbClr val="000000">
                      <a:alpha val="43000"/>
                    </a:srgbClr>
                  </a:outerShdw>
                </a:effectLst>
                <a:latin typeface="Candara"/>
                <a:cs typeface="Candara"/>
              </a:rPr>
              <a:t>Using OGC O&amp;M model for </a:t>
            </a:r>
            <a:r>
              <a:rPr lang="en-US" sz="3200" dirty="0" smtClean="0">
                <a:solidFill>
                  <a:srgbClr val="000000"/>
                </a:solidFill>
                <a:effectLst>
                  <a:outerShdw blurRad="50800" dist="38100" dir="2700000" algn="tl" rotWithShape="0">
                    <a:srgbClr val="000000">
                      <a:alpha val="43000"/>
                    </a:srgbClr>
                  </a:outerShdw>
                </a:effectLst>
                <a:latin typeface="Candara"/>
                <a:cs typeface="Candara"/>
              </a:rPr>
              <a:t>water level </a:t>
            </a:r>
            <a:r>
              <a:rPr lang="en-US" sz="3200" dirty="0" smtClean="0">
                <a:effectLst>
                  <a:outerShdw blurRad="50800" dist="38100" dir="2700000" algn="tl" rotWithShape="0">
                    <a:srgbClr val="000000">
                      <a:alpha val="43000"/>
                    </a:srgbClr>
                  </a:outerShdw>
                </a:effectLst>
                <a:latin typeface="Candara"/>
                <a:cs typeface="Candara"/>
              </a:rPr>
              <a:t>…</a:t>
            </a:r>
            <a:endParaRPr lang="en-US" sz="3200" dirty="0">
              <a:effectLst>
                <a:outerShdw blurRad="50800" dist="38100" dir="2700000" algn="tl" rotWithShape="0">
                  <a:srgbClr val="000000">
                    <a:alpha val="43000"/>
                  </a:srgbClr>
                </a:outerShdw>
              </a:effectLst>
              <a:latin typeface="Candara"/>
              <a:cs typeface="Candara"/>
            </a:endParaRPr>
          </a:p>
        </p:txBody>
      </p:sp>
      <p:grpSp>
        <p:nvGrpSpPr>
          <p:cNvPr id="12" name="Group 11"/>
          <p:cNvGrpSpPr/>
          <p:nvPr/>
        </p:nvGrpSpPr>
        <p:grpSpPr>
          <a:xfrm>
            <a:off x="432273" y="1335705"/>
            <a:ext cx="3337570" cy="3913188"/>
            <a:chOff x="432273" y="1335705"/>
            <a:chExt cx="3337570" cy="3913188"/>
          </a:xfrm>
        </p:grpSpPr>
        <p:grpSp>
          <p:nvGrpSpPr>
            <p:cNvPr id="9" name="Group 8"/>
            <p:cNvGrpSpPr/>
            <p:nvPr/>
          </p:nvGrpSpPr>
          <p:grpSpPr>
            <a:xfrm>
              <a:off x="2332511" y="2886693"/>
              <a:ext cx="1437332" cy="514350"/>
              <a:chOff x="2332511" y="2886693"/>
              <a:chExt cx="1437332" cy="514350"/>
            </a:xfrm>
          </p:grpSpPr>
          <p:sp>
            <p:nvSpPr>
              <p:cNvPr id="313" name="Rectangle 63"/>
              <p:cNvSpPr>
                <a:spLocks noChangeArrowheads="1"/>
              </p:cNvSpPr>
              <p:nvPr/>
            </p:nvSpPr>
            <p:spPr bwMode="auto">
              <a:xfrm>
                <a:off x="2332511" y="2886693"/>
                <a:ext cx="1280918" cy="514350"/>
              </a:xfrm>
              <a:prstGeom prst="rect">
                <a:avLst/>
              </a:prstGeom>
              <a:gradFill flip="none" rotWithShape="1">
                <a:gsLst>
                  <a:gs pos="100000">
                    <a:srgbClr val="FFFFFF"/>
                  </a:gs>
                  <a:gs pos="98000">
                    <a:schemeClr val="tx2">
                      <a:lumMod val="25000"/>
                      <a:lumOff val="75000"/>
                    </a:schemeClr>
                  </a:gs>
                  <a:gs pos="99000">
                    <a:schemeClr val="tx2">
                      <a:lumMod val="10000"/>
                      <a:lumOff val="90000"/>
                    </a:schemeClr>
                  </a:gs>
                </a:gsLst>
                <a:lin ang="0" scaled="1"/>
                <a:tileRect/>
              </a:grad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14" name="Rectangle 64"/>
              <p:cNvSpPr>
                <a:spLocks noChangeArrowheads="1"/>
              </p:cNvSpPr>
              <p:nvPr/>
            </p:nvSpPr>
            <p:spPr bwMode="auto">
              <a:xfrm>
                <a:off x="2472643" y="2946763"/>
                <a:ext cx="1297200" cy="153988"/>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dirty="0">
                    <a:solidFill>
                      <a:srgbClr val="000000"/>
                    </a:solidFill>
                    <a:latin typeface="Arial" pitchFamily="34" charset="0"/>
                    <a:ea typeface="ＭＳ Ｐゴシック"/>
                    <a:cs typeface="ＭＳ Ｐゴシック"/>
                  </a:rPr>
                  <a:t>GF_PropertyType</a:t>
                </a:r>
                <a:endParaRPr lang="en-US" dirty="0">
                  <a:solidFill>
                    <a:srgbClr val="000000"/>
                  </a:solidFill>
                  <a:latin typeface="Arial" pitchFamily="34" charset="0"/>
                  <a:ea typeface="ＭＳ Ｐゴシック"/>
                  <a:cs typeface="ＭＳ Ｐゴシック"/>
                </a:endParaRPr>
              </a:p>
            </p:txBody>
          </p:sp>
          <p:sp>
            <p:nvSpPr>
              <p:cNvPr id="315" name="Line 65"/>
              <p:cNvSpPr>
                <a:spLocks noChangeShapeType="1"/>
              </p:cNvSpPr>
              <p:nvPr/>
            </p:nvSpPr>
            <p:spPr bwMode="auto">
              <a:xfrm>
                <a:off x="2332511" y="3172443"/>
                <a:ext cx="1280918"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grpSp>
          <p:nvGrpSpPr>
            <p:cNvPr id="11" name="Group 10"/>
            <p:cNvGrpSpPr/>
            <p:nvPr/>
          </p:nvGrpSpPr>
          <p:grpSpPr>
            <a:xfrm>
              <a:off x="432273" y="1335705"/>
              <a:ext cx="3223580" cy="3913188"/>
              <a:chOff x="432273" y="1335705"/>
              <a:chExt cx="3223580" cy="3913188"/>
            </a:xfrm>
          </p:grpSpPr>
          <p:grpSp>
            <p:nvGrpSpPr>
              <p:cNvPr id="176" name="Group 271"/>
              <p:cNvGrpSpPr>
                <a:grpSpLocks/>
              </p:cNvGrpSpPr>
              <p:nvPr/>
            </p:nvGrpSpPr>
            <p:grpSpPr bwMode="auto">
              <a:xfrm>
                <a:off x="432273" y="2848593"/>
                <a:ext cx="1574800" cy="1152525"/>
                <a:chOff x="3464" y="2111"/>
                <a:chExt cx="1074" cy="726"/>
              </a:xfrm>
            </p:grpSpPr>
            <p:sp>
              <p:nvSpPr>
                <p:cNvPr id="316" name="Rectangle 12"/>
                <p:cNvSpPr>
                  <a:spLocks noChangeArrowheads="1"/>
                </p:cNvSpPr>
                <p:nvPr/>
              </p:nvSpPr>
              <p:spPr bwMode="auto">
                <a:xfrm>
                  <a:off x="3482" y="2129"/>
                  <a:ext cx="1056" cy="708"/>
                </a:xfrm>
                <a:prstGeom prst="rect">
                  <a:avLst/>
                </a:prstGeom>
                <a:solidFill>
                  <a:srgbClr val="C0BF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17" name="Rectangle 13"/>
                <p:cNvSpPr>
                  <a:spLocks noChangeArrowheads="1"/>
                </p:cNvSpPr>
                <p:nvPr/>
              </p:nvSpPr>
              <p:spPr bwMode="auto">
                <a:xfrm>
                  <a:off x="3464" y="2111"/>
                  <a:ext cx="36" cy="708"/>
                </a:xfrm>
                <a:prstGeom prst="rect">
                  <a:avLst/>
                </a:prstGeom>
                <a:solidFill>
                  <a:srgbClr val="E8CDC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18" name="Rectangle 14"/>
                <p:cNvSpPr>
                  <a:spLocks noChangeArrowheads="1"/>
                </p:cNvSpPr>
                <p:nvPr/>
              </p:nvSpPr>
              <p:spPr bwMode="auto">
                <a:xfrm>
                  <a:off x="3500" y="2111"/>
                  <a:ext cx="42" cy="708"/>
                </a:xfrm>
                <a:prstGeom prst="rect">
                  <a:avLst/>
                </a:prstGeom>
                <a:solidFill>
                  <a:srgbClr val="EACFC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19" name="Rectangle 15"/>
                <p:cNvSpPr>
                  <a:spLocks noChangeArrowheads="1"/>
                </p:cNvSpPr>
                <p:nvPr/>
              </p:nvSpPr>
              <p:spPr bwMode="auto">
                <a:xfrm>
                  <a:off x="3542" y="2111"/>
                  <a:ext cx="48" cy="708"/>
                </a:xfrm>
                <a:prstGeom prst="rect">
                  <a:avLst/>
                </a:prstGeom>
                <a:solidFill>
                  <a:srgbClr val="ECD1C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0" name="Rectangle 16"/>
                <p:cNvSpPr>
                  <a:spLocks noChangeArrowheads="1"/>
                </p:cNvSpPr>
                <p:nvPr/>
              </p:nvSpPr>
              <p:spPr bwMode="auto">
                <a:xfrm>
                  <a:off x="3590" y="2111"/>
                  <a:ext cx="42" cy="708"/>
                </a:xfrm>
                <a:prstGeom prst="rect">
                  <a:avLst/>
                </a:prstGeom>
                <a:solidFill>
                  <a:srgbClr val="EED3D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1" name="Rectangle 17"/>
                <p:cNvSpPr>
                  <a:spLocks noChangeArrowheads="1"/>
                </p:cNvSpPr>
                <p:nvPr/>
              </p:nvSpPr>
              <p:spPr bwMode="auto">
                <a:xfrm>
                  <a:off x="3632" y="2111"/>
                  <a:ext cx="42" cy="708"/>
                </a:xfrm>
                <a:prstGeom prst="rect">
                  <a:avLst/>
                </a:prstGeom>
                <a:solidFill>
                  <a:srgbClr val="F0D5D2"/>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2" name="Rectangle 18"/>
                <p:cNvSpPr>
                  <a:spLocks noChangeArrowheads="1"/>
                </p:cNvSpPr>
                <p:nvPr/>
              </p:nvSpPr>
              <p:spPr bwMode="auto">
                <a:xfrm>
                  <a:off x="3674" y="2111"/>
                  <a:ext cx="48" cy="708"/>
                </a:xfrm>
                <a:prstGeom prst="rect">
                  <a:avLst/>
                </a:prstGeom>
                <a:solidFill>
                  <a:srgbClr val="F2D7D4"/>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3" name="Rectangle 19"/>
                <p:cNvSpPr>
                  <a:spLocks noChangeArrowheads="1"/>
                </p:cNvSpPr>
                <p:nvPr/>
              </p:nvSpPr>
              <p:spPr bwMode="auto">
                <a:xfrm>
                  <a:off x="3722" y="2111"/>
                  <a:ext cx="60" cy="708"/>
                </a:xfrm>
                <a:prstGeom prst="rect">
                  <a:avLst/>
                </a:prstGeom>
                <a:solidFill>
                  <a:srgbClr val="F4D9D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4" name="Rectangle 20"/>
                <p:cNvSpPr>
                  <a:spLocks noChangeArrowheads="1"/>
                </p:cNvSpPr>
                <p:nvPr/>
              </p:nvSpPr>
              <p:spPr bwMode="auto">
                <a:xfrm>
                  <a:off x="3782" y="2111"/>
                  <a:ext cx="48" cy="708"/>
                </a:xfrm>
                <a:prstGeom prst="rect">
                  <a:avLst/>
                </a:prstGeom>
                <a:solidFill>
                  <a:srgbClr val="F6DBD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5" name="Rectangle 21"/>
                <p:cNvSpPr>
                  <a:spLocks noChangeArrowheads="1"/>
                </p:cNvSpPr>
                <p:nvPr/>
              </p:nvSpPr>
              <p:spPr bwMode="auto">
                <a:xfrm>
                  <a:off x="3830" y="2111"/>
                  <a:ext cx="42" cy="708"/>
                </a:xfrm>
                <a:prstGeom prst="rect">
                  <a:avLst/>
                </a:prstGeom>
                <a:solidFill>
                  <a:srgbClr val="F8DDD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6" name="Rectangle 22"/>
                <p:cNvSpPr>
                  <a:spLocks noChangeArrowheads="1"/>
                </p:cNvSpPr>
                <p:nvPr/>
              </p:nvSpPr>
              <p:spPr bwMode="auto">
                <a:xfrm>
                  <a:off x="3872" y="2111"/>
                  <a:ext cx="48" cy="708"/>
                </a:xfrm>
                <a:prstGeom prst="rect">
                  <a:avLst/>
                </a:prstGeom>
                <a:solidFill>
                  <a:srgbClr val="FADFD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7" name="Rectangle 23"/>
                <p:cNvSpPr>
                  <a:spLocks noChangeArrowheads="1"/>
                </p:cNvSpPr>
                <p:nvPr/>
              </p:nvSpPr>
              <p:spPr bwMode="auto">
                <a:xfrm>
                  <a:off x="3920" y="2111"/>
                  <a:ext cx="42" cy="708"/>
                </a:xfrm>
                <a:prstGeom prst="rect">
                  <a:avLst/>
                </a:prstGeom>
                <a:solidFill>
                  <a:srgbClr val="FCE1D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8" name="Rectangle 24"/>
                <p:cNvSpPr>
                  <a:spLocks noChangeArrowheads="1"/>
                </p:cNvSpPr>
                <p:nvPr/>
              </p:nvSpPr>
              <p:spPr bwMode="auto">
                <a:xfrm>
                  <a:off x="3962" y="2111"/>
                  <a:ext cx="558" cy="708"/>
                </a:xfrm>
                <a:prstGeom prst="rect">
                  <a:avLst/>
                </a:prstGeom>
                <a:solidFill>
                  <a:srgbClr val="FFE4E1"/>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9" name="Rectangle 25"/>
                <p:cNvSpPr>
                  <a:spLocks noChangeArrowheads="1"/>
                </p:cNvSpPr>
                <p:nvPr/>
              </p:nvSpPr>
              <p:spPr bwMode="auto">
                <a:xfrm>
                  <a:off x="3464" y="2111"/>
                  <a:ext cx="1056" cy="708"/>
                </a:xfrm>
                <a:prstGeom prst="rect">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30" name="Rectangle 26"/>
                <p:cNvSpPr>
                  <a:spLocks noChangeArrowheads="1"/>
                </p:cNvSpPr>
                <p:nvPr/>
              </p:nvSpPr>
              <p:spPr bwMode="auto">
                <a:xfrm>
                  <a:off x="3704" y="2165"/>
                  <a:ext cx="659"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000000"/>
                      </a:solidFill>
                      <a:latin typeface="Arial" pitchFamily="34" charset="0"/>
                      <a:ea typeface="ＭＳ Ｐゴシック"/>
                      <a:cs typeface="ＭＳ Ｐゴシック"/>
                    </a:rPr>
                    <a:t>OM_Observation</a:t>
                  </a:r>
                  <a:endParaRPr lang="en-US">
                    <a:solidFill>
                      <a:srgbClr val="000000"/>
                    </a:solidFill>
                    <a:latin typeface="Arial" pitchFamily="34" charset="0"/>
                    <a:ea typeface="ＭＳ Ｐゴシック"/>
                    <a:cs typeface="ＭＳ Ｐゴシック"/>
                  </a:endParaRPr>
                </a:p>
              </p:txBody>
            </p:sp>
            <p:sp>
              <p:nvSpPr>
                <p:cNvPr id="331" name="Line 27"/>
                <p:cNvSpPr>
                  <a:spLocks noChangeShapeType="1"/>
                </p:cNvSpPr>
                <p:nvPr/>
              </p:nvSpPr>
              <p:spPr bwMode="auto">
                <a:xfrm>
                  <a:off x="3464" y="2291"/>
                  <a:ext cx="1056"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332" name="Rectangle 28"/>
                <p:cNvSpPr>
                  <a:spLocks noChangeArrowheads="1"/>
                </p:cNvSpPr>
                <p:nvPr/>
              </p:nvSpPr>
              <p:spPr bwMode="auto">
                <a:xfrm>
                  <a:off x="3494" y="2315"/>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3" name="Rectangle 29"/>
                <p:cNvSpPr>
                  <a:spLocks noChangeArrowheads="1"/>
                </p:cNvSpPr>
                <p:nvPr/>
              </p:nvSpPr>
              <p:spPr bwMode="auto">
                <a:xfrm>
                  <a:off x="3620" y="2315"/>
                  <a:ext cx="701"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dirty="0" err="1">
                      <a:solidFill>
                        <a:srgbClr val="8B0000"/>
                      </a:solidFill>
                      <a:latin typeface="Arial" pitchFamily="34" charset="0"/>
                      <a:ea typeface="ＭＳ Ｐゴシック"/>
                      <a:cs typeface="ＭＳ Ｐゴシック"/>
                    </a:rPr>
                    <a:t>phenomenonTime</a:t>
                  </a:r>
                  <a:endParaRPr lang="en-US" dirty="0">
                    <a:solidFill>
                      <a:srgbClr val="000000"/>
                    </a:solidFill>
                    <a:latin typeface="Arial" pitchFamily="34" charset="0"/>
                    <a:ea typeface="ＭＳ Ｐゴシック"/>
                    <a:cs typeface="ＭＳ Ｐゴシック"/>
                  </a:endParaRPr>
                </a:p>
              </p:txBody>
            </p:sp>
            <p:sp>
              <p:nvSpPr>
                <p:cNvPr id="334" name="Rectangle 30"/>
                <p:cNvSpPr>
                  <a:spLocks noChangeArrowheads="1"/>
                </p:cNvSpPr>
                <p:nvPr/>
              </p:nvSpPr>
              <p:spPr bwMode="auto">
                <a:xfrm>
                  <a:off x="3494" y="2411"/>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5" name="Rectangle 31"/>
                <p:cNvSpPr>
                  <a:spLocks noChangeArrowheads="1"/>
                </p:cNvSpPr>
                <p:nvPr/>
              </p:nvSpPr>
              <p:spPr bwMode="auto">
                <a:xfrm>
                  <a:off x="3620" y="2411"/>
                  <a:ext cx="408"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dirty="0">
                      <a:solidFill>
                        <a:srgbClr val="8B0000"/>
                      </a:solidFill>
                      <a:latin typeface="Arial" pitchFamily="34" charset="0"/>
                      <a:ea typeface="ＭＳ Ｐゴシック"/>
                      <a:cs typeface="ＭＳ Ｐゴシック"/>
                    </a:rPr>
                    <a:t>resultTime</a:t>
                  </a:r>
                  <a:endParaRPr lang="en-US" dirty="0">
                    <a:solidFill>
                      <a:srgbClr val="000000"/>
                    </a:solidFill>
                    <a:latin typeface="Arial" pitchFamily="34" charset="0"/>
                    <a:ea typeface="ＭＳ Ｐゴシック"/>
                    <a:cs typeface="ＭＳ Ｐゴシック"/>
                  </a:endParaRPr>
                </a:p>
              </p:txBody>
            </p:sp>
            <p:sp>
              <p:nvSpPr>
                <p:cNvPr id="336" name="Rectangle 32"/>
                <p:cNvSpPr>
                  <a:spLocks noChangeArrowheads="1"/>
                </p:cNvSpPr>
                <p:nvPr/>
              </p:nvSpPr>
              <p:spPr bwMode="auto">
                <a:xfrm>
                  <a:off x="3494" y="2507"/>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7" name="Rectangle 33"/>
                <p:cNvSpPr>
                  <a:spLocks noChangeArrowheads="1"/>
                </p:cNvSpPr>
                <p:nvPr/>
              </p:nvSpPr>
              <p:spPr bwMode="auto">
                <a:xfrm>
                  <a:off x="3620" y="2507"/>
                  <a:ext cx="591"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validTime [0..1]</a:t>
                  </a:r>
                  <a:endParaRPr lang="en-US">
                    <a:solidFill>
                      <a:srgbClr val="000000"/>
                    </a:solidFill>
                    <a:latin typeface="Arial" pitchFamily="34" charset="0"/>
                    <a:ea typeface="ＭＳ Ｐゴシック"/>
                    <a:cs typeface="ＭＳ Ｐゴシック"/>
                  </a:endParaRPr>
                </a:p>
              </p:txBody>
            </p:sp>
            <p:sp>
              <p:nvSpPr>
                <p:cNvPr id="338" name="Rectangle 34"/>
                <p:cNvSpPr>
                  <a:spLocks noChangeArrowheads="1"/>
                </p:cNvSpPr>
                <p:nvPr/>
              </p:nvSpPr>
              <p:spPr bwMode="auto">
                <a:xfrm>
                  <a:off x="3494" y="2603"/>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9" name="Rectangle 35"/>
                <p:cNvSpPr>
                  <a:spLocks noChangeArrowheads="1"/>
                </p:cNvSpPr>
                <p:nvPr/>
              </p:nvSpPr>
              <p:spPr bwMode="auto">
                <a:xfrm>
                  <a:off x="3620" y="2603"/>
                  <a:ext cx="687"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resultQuality [0..*]</a:t>
                  </a:r>
                  <a:endParaRPr lang="en-US">
                    <a:solidFill>
                      <a:srgbClr val="000000"/>
                    </a:solidFill>
                    <a:latin typeface="Arial" pitchFamily="34" charset="0"/>
                    <a:ea typeface="ＭＳ Ｐゴシック"/>
                    <a:cs typeface="ＭＳ Ｐゴシック"/>
                  </a:endParaRPr>
                </a:p>
              </p:txBody>
            </p:sp>
            <p:sp>
              <p:nvSpPr>
                <p:cNvPr id="340" name="Rectangle 36"/>
                <p:cNvSpPr>
                  <a:spLocks noChangeArrowheads="1"/>
                </p:cNvSpPr>
                <p:nvPr/>
              </p:nvSpPr>
              <p:spPr bwMode="auto">
                <a:xfrm>
                  <a:off x="3494" y="2699"/>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41" name="Rectangle 37"/>
                <p:cNvSpPr>
                  <a:spLocks noChangeArrowheads="1"/>
                </p:cNvSpPr>
                <p:nvPr/>
              </p:nvSpPr>
              <p:spPr bwMode="auto">
                <a:xfrm>
                  <a:off x="3620" y="2699"/>
                  <a:ext cx="599"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parameter [0..*]</a:t>
                  </a:r>
                  <a:endParaRPr lang="en-US">
                    <a:solidFill>
                      <a:srgbClr val="000000"/>
                    </a:solidFill>
                    <a:latin typeface="Arial" pitchFamily="34" charset="0"/>
                    <a:ea typeface="ＭＳ Ｐゴシック"/>
                    <a:cs typeface="ＭＳ Ｐゴシック"/>
                  </a:endParaRPr>
                </a:p>
              </p:txBody>
            </p:sp>
          </p:grpSp>
          <p:grpSp>
            <p:nvGrpSpPr>
              <p:cNvPr id="178" name="Group 264"/>
              <p:cNvGrpSpPr>
                <a:grpSpLocks/>
              </p:cNvGrpSpPr>
              <p:nvPr/>
            </p:nvGrpSpPr>
            <p:grpSpPr bwMode="auto">
              <a:xfrm>
                <a:off x="2192811" y="1335705"/>
                <a:ext cx="1066800" cy="542925"/>
                <a:chOff x="1790" y="2225"/>
                <a:chExt cx="606" cy="342"/>
              </a:xfrm>
            </p:grpSpPr>
            <p:sp>
              <p:nvSpPr>
                <p:cNvPr id="260" name="Rectangle 66"/>
                <p:cNvSpPr>
                  <a:spLocks noChangeArrowheads="1"/>
                </p:cNvSpPr>
                <p:nvPr/>
              </p:nvSpPr>
              <p:spPr bwMode="auto">
                <a:xfrm>
                  <a:off x="1808" y="2243"/>
                  <a:ext cx="588" cy="324"/>
                </a:xfrm>
                <a:prstGeom prst="rect">
                  <a:avLst/>
                </a:prstGeom>
                <a:solidFill>
                  <a:srgbClr val="C0BF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1" name="Rectangle 67"/>
                <p:cNvSpPr>
                  <a:spLocks noChangeArrowheads="1"/>
                </p:cNvSpPr>
                <p:nvPr/>
              </p:nvSpPr>
              <p:spPr bwMode="auto">
                <a:xfrm>
                  <a:off x="1790" y="2225"/>
                  <a:ext cx="12" cy="324"/>
                </a:xfrm>
                <a:prstGeom prst="rect">
                  <a:avLst/>
                </a:prstGeom>
                <a:solidFill>
                  <a:srgbClr val="E8E8C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2" name="Rectangle 68"/>
                <p:cNvSpPr>
                  <a:spLocks noChangeArrowheads="1"/>
                </p:cNvSpPr>
                <p:nvPr/>
              </p:nvSpPr>
              <p:spPr bwMode="auto">
                <a:xfrm>
                  <a:off x="1802" y="2225"/>
                  <a:ext cx="12" cy="324"/>
                </a:xfrm>
                <a:prstGeom prst="rect">
                  <a:avLst/>
                </a:prstGeom>
                <a:solidFill>
                  <a:srgbClr val="E9E9C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3" name="Rectangle 69"/>
                <p:cNvSpPr>
                  <a:spLocks noChangeArrowheads="1"/>
                </p:cNvSpPr>
                <p:nvPr/>
              </p:nvSpPr>
              <p:spPr bwMode="auto">
                <a:xfrm>
                  <a:off x="1814" y="2225"/>
                  <a:ext cx="12" cy="324"/>
                </a:xfrm>
                <a:prstGeom prst="rect">
                  <a:avLst/>
                </a:prstGeom>
                <a:solidFill>
                  <a:srgbClr val="EAEAC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4" name="Rectangle 70"/>
                <p:cNvSpPr>
                  <a:spLocks noChangeArrowheads="1"/>
                </p:cNvSpPr>
                <p:nvPr/>
              </p:nvSpPr>
              <p:spPr bwMode="auto">
                <a:xfrm>
                  <a:off x="1826" y="2225"/>
                  <a:ext cx="12" cy="324"/>
                </a:xfrm>
                <a:prstGeom prst="rect">
                  <a:avLst/>
                </a:prstGeom>
                <a:solidFill>
                  <a:srgbClr val="EBEBC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5" name="Rectangle 71"/>
                <p:cNvSpPr>
                  <a:spLocks noChangeArrowheads="1"/>
                </p:cNvSpPr>
                <p:nvPr/>
              </p:nvSpPr>
              <p:spPr bwMode="auto">
                <a:xfrm>
                  <a:off x="1838" y="2225"/>
                  <a:ext cx="12" cy="324"/>
                </a:xfrm>
                <a:prstGeom prst="rect">
                  <a:avLst/>
                </a:prstGeom>
                <a:solidFill>
                  <a:srgbClr val="ECECC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6" name="Rectangle 72"/>
                <p:cNvSpPr>
                  <a:spLocks noChangeArrowheads="1"/>
                </p:cNvSpPr>
                <p:nvPr/>
              </p:nvSpPr>
              <p:spPr bwMode="auto">
                <a:xfrm>
                  <a:off x="1850" y="2225"/>
                  <a:ext cx="12" cy="324"/>
                </a:xfrm>
                <a:prstGeom prst="rect">
                  <a:avLst/>
                </a:prstGeom>
                <a:solidFill>
                  <a:srgbClr val="EDEDC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7" name="Rectangle 73"/>
                <p:cNvSpPr>
                  <a:spLocks noChangeArrowheads="1"/>
                </p:cNvSpPr>
                <p:nvPr/>
              </p:nvSpPr>
              <p:spPr bwMode="auto">
                <a:xfrm>
                  <a:off x="1862" y="2225"/>
                  <a:ext cx="12" cy="324"/>
                </a:xfrm>
                <a:prstGeom prst="rect">
                  <a:avLst/>
                </a:prstGeom>
                <a:solidFill>
                  <a:srgbClr val="EEEEC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8" name="Rectangle 74"/>
                <p:cNvSpPr>
                  <a:spLocks noChangeArrowheads="1"/>
                </p:cNvSpPr>
                <p:nvPr/>
              </p:nvSpPr>
              <p:spPr bwMode="auto">
                <a:xfrm>
                  <a:off x="1874" y="2225"/>
                  <a:ext cx="12" cy="324"/>
                </a:xfrm>
                <a:prstGeom prst="rect">
                  <a:avLst/>
                </a:prstGeom>
                <a:solidFill>
                  <a:srgbClr val="EFEFD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9" name="Rectangle 75"/>
                <p:cNvSpPr>
                  <a:spLocks noChangeArrowheads="1"/>
                </p:cNvSpPr>
                <p:nvPr/>
              </p:nvSpPr>
              <p:spPr bwMode="auto">
                <a:xfrm>
                  <a:off x="1886" y="2225"/>
                  <a:ext cx="12" cy="324"/>
                </a:xfrm>
                <a:prstGeom prst="rect">
                  <a:avLst/>
                </a:prstGeom>
                <a:solidFill>
                  <a:srgbClr val="F0F0D1"/>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0" name="Rectangle 76"/>
                <p:cNvSpPr>
                  <a:spLocks noChangeArrowheads="1"/>
                </p:cNvSpPr>
                <p:nvPr/>
              </p:nvSpPr>
              <p:spPr bwMode="auto">
                <a:xfrm>
                  <a:off x="1898" y="2225"/>
                  <a:ext cx="12" cy="324"/>
                </a:xfrm>
                <a:prstGeom prst="rect">
                  <a:avLst/>
                </a:prstGeom>
                <a:solidFill>
                  <a:srgbClr val="F1F1D2"/>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1" name="Rectangle 77"/>
                <p:cNvSpPr>
                  <a:spLocks noChangeArrowheads="1"/>
                </p:cNvSpPr>
                <p:nvPr/>
              </p:nvSpPr>
              <p:spPr bwMode="auto">
                <a:xfrm>
                  <a:off x="1910" y="2225"/>
                  <a:ext cx="12" cy="324"/>
                </a:xfrm>
                <a:prstGeom prst="rect">
                  <a:avLst/>
                </a:prstGeom>
                <a:solidFill>
                  <a:srgbClr val="F2F2D3"/>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2" name="Rectangle 78"/>
                <p:cNvSpPr>
                  <a:spLocks noChangeArrowheads="1"/>
                </p:cNvSpPr>
                <p:nvPr/>
              </p:nvSpPr>
              <p:spPr bwMode="auto">
                <a:xfrm>
                  <a:off x="1922" y="2225"/>
                  <a:ext cx="12" cy="324"/>
                </a:xfrm>
                <a:prstGeom prst="rect">
                  <a:avLst/>
                </a:prstGeom>
                <a:solidFill>
                  <a:srgbClr val="F3F3D4"/>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3" name="Rectangle 79"/>
                <p:cNvSpPr>
                  <a:spLocks noChangeArrowheads="1"/>
                </p:cNvSpPr>
                <p:nvPr/>
              </p:nvSpPr>
              <p:spPr bwMode="auto">
                <a:xfrm>
                  <a:off x="1934" y="2225"/>
                  <a:ext cx="18" cy="324"/>
                </a:xfrm>
                <a:prstGeom prst="rect">
                  <a:avLst/>
                </a:prstGeom>
                <a:solidFill>
                  <a:srgbClr val="F4F4D5"/>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4" name="Rectangle 80"/>
                <p:cNvSpPr>
                  <a:spLocks noChangeArrowheads="1"/>
                </p:cNvSpPr>
                <p:nvPr/>
              </p:nvSpPr>
              <p:spPr bwMode="auto">
                <a:xfrm>
                  <a:off x="1952" y="2225"/>
                  <a:ext cx="18" cy="324"/>
                </a:xfrm>
                <a:prstGeom prst="rect">
                  <a:avLst/>
                </a:prstGeom>
                <a:solidFill>
                  <a:srgbClr val="F5F5D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5" name="Rectangle 81"/>
                <p:cNvSpPr>
                  <a:spLocks noChangeArrowheads="1"/>
                </p:cNvSpPr>
                <p:nvPr/>
              </p:nvSpPr>
              <p:spPr bwMode="auto">
                <a:xfrm>
                  <a:off x="1970" y="2225"/>
                  <a:ext cx="12" cy="324"/>
                </a:xfrm>
                <a:prstGeom prst="rect">
                  <a:avLst/>
                </a:prstGeom>
                <a:solidFill>
                  <a:srgbClr val="F6F6D7"/>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6" name="Rectangle 82"/>
                <p:cNvSpPr>
                  <a:spLocks noChangeArrowheads="1"/>
                </p:cNvSpPr>
                <p:nvPr/>
              </p:nvSpPr>
              <p:spPr bwMode="auto">
                <a:xfrm>
                  <a:off x="1982" y="2225"/>
                  <a:ext cx="12" cy="324"/>
                </a:xfrm>
                <a:prstGeom prst="rect">
                  <a:avLst/>
                </a:prstGeom>
                <a:solidFill>
                  <a:srgbClr val="F7F7D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7" name="Rectangle 83"/>
                <p:cNvSpPr>
                  <a:spLocks noChangeArrowheads="1"/>
                </p:cNvSpPr>
                <p:nvPr/>
              </p:nvSpPr>
              <p:spPr bwMode="auto">
                <a:xfrm>
                  <a:off x="1994" y="2225"/>
                  <a:ext cx="12" cy="324"/>
                </a:xfrm>
                <a:prstGeom prst="rect">
                  <a:avLst/>
                </a:prstGeom>
                <a:solidFill>
                  <a:srgbClr val="F8F8D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8" name="Rectangle 84"/>
                <p:cNvSpPr>
                  <a:spLocks noChangeArrowheads="1"/>
                </p:cNvSpPr>
                <p:nvPr/>
              </p:nvSpPr>
              <p:spPr bwMode="auto">
                <a:xfrm>
                  <a:off x="2006" y="2225"/>
                  <a:ext cx="12" cy="324"/>
                </a:xfrm>
                <a:prstGeom prst="rect">
                  <a:avLst/>
                </a:prstGeom>
                <a:solidFill>
                  <a:srgbClr val="F9F9D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9" name="Rectangle 85"/>
                <p:cNvSpPr>
                  <a:spLocks noChangeArrowheads="1"/>
                </p:cNvSpPr>
                <p:nvPr/>
              </p:nvSpPr>
              <p:spPr bwMode="auto">
                <a:xfrm>
                  <a:off x="2018" y="2225"/>
                  <a:ext cx="12" cy="324"/>
                </a:xfrm>
                <a:prstGeom prst="rect">
                  <a:avLst/>
                </a:prstGeom>
                <a:solidFill>
                  <a:srgbClr val="FAFAD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0" name="Rectangle 86"/>
                <p:cNvSpPr>
                  <a:spLocks noChangeArrowheads="1"/>
                </p:cNvSpPr>
                <p:nvPr/>
              </p:nvSpPr>
              <p:spPr bwMode="auto">
                <a:xfrm>
                  <a:off x="2030" y="2225"/>
                  <a:ext cx="12" cy="324"/>
                </a:xfrm>
                <a:prstGeom prst="rect">
                  <a:avLst/>
                </a:prstGeom>
                <a:solidFill>
                  <a:srgbClr val="FBFBD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1" name="Rectangle 87"/>
                <p:cNvSpPr>
                  <a:spLocks noChangeArrowheads="1"/>
                </p:cNvSpPr>
                <p:nvPr/>
              </p:nvSpPr>
              <p:spPr bwMode="auto">
                <a:xfrm>
                  <a:off x="2042" y="2225"/>
                  <a:ext cx="12" cy="324"/>
                </a:xfrm>
                <a:prstGeom prst="rect">
                  <a:avLst/>
                </a:prstGeom>
                <a:solidFill>
                  <a:srgbClr val="FCFCD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2" name="Rectangle 88"/>
                <p:cNvSpPr>
                  <a:spLocks noChangeArrowheads="1"/>
                </p:cNvSpPr>
                <p:nvPr/>
              </p:nvSpPr>
              <p:spPr bwMode="auto">
                <a:xfrm>
                  <a:off x="2054" y="2225"/>
                  <a:ext cx="12" cy="324"/>
                </a:xfrm>
                <a:prstGeom prst="rect">
                  <a:avLst/>
                </a:prstGeom>
                <a:solidFill>
                  <a:srgbClr val="FDFDD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3" name="Rectangle 89"/>
                <p:cNvSpPr>
                  <a:spLocks noChangeArrowheads="1"/>
                </p:cNvSpPr>
                <p:nvPr/>
              </p:nvSpPr>
              <p:spPr bwMode="auto">
                <a:xfrm>
                  <a:off x="2066" y="2225"/>
                  <a:ext cx="12" cy="324"/>
                </a:xfrm>
                <a:prstGeom prst="rect">
                  <a:avLst/>
                </a:prstGeom>
                <a:solidFill>
                  <a:srgbClr val="FEFED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4" name="Rectangle 90"/>
                <p:cNvSpPr>
                  <a:spLocks noChangeArrowheads="1"/>
                </p:cNvSpPr>
                <p:nvPr/>
              </p:nvSpPr>
              <p:spPr bwMode="auto">
                <a:xfrm>
                  <a:off x="2078" y="2225"/>
                  <a:ext cx="300" cy="324"/>
                </a:xfrm>
                <a:prstGeom prst="rect">
                  <a:avLst/>
                </a:prstGeom>
                <a:solidFill>
                  <a:srgbClr val="FFFFE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5" name="Rectangle 91"/>
                <p:cNvSpPr>
                  <a:spLocks noChangeArrowheads="1"/>
                </p:cNvSpPr>
                <p:nvPr/>
              </p:nvSpPr>
              <p:spPr bwMode="auto">
                <a:xfrm>
                  <a:off x="1790" y="2225"/>
                  <a:ext cx="588" cy="324"/>
                </a:xfrm>
                <a:prstGeom prst="rect">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6" name="Rectangle 92"/>
                <p:cNvSpPr>
                  <a:spLocks noChangeArrowheads="1"/>
                </p:cNvSpPr>
                <p:nvPr/>
              </p:nvSpPr>
              <p:spPr bwMode="auto">
                <a:xfrm>
                  <a:off x="1868" y="2279"/>
                  <a:ext cx="493"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000000"/>
                      </a:solidFill>
                      <a:latin typeface="Arial" pitchFamily="34" charset="0"/>
                      <a:ea typeface="ＭＳ Ｐゴシック"/>
                      <a:cs typeface="ＭＳ Ｐゴシック"/>
                    </a:rPr>
                    <a:t>GFI_Feature</a:t>
                  </a:r>
                  <a:endParaRPr lang="en-US">
                    <a:solidFill>
                      <a:srgbClr val="000000"/>
                    </a:solidFill>
                    <a:latin typeface="Arial" pitchFamily="34" charset="0"/>
                    <a:ea typeface="ＭＳ Ｐゴシック"/>
                    <a:cs typeface="ＭＳ Ｐゴシック"/>
                  </a:endParaRPr>
                </a:p>
              </p:txBody>
            </p:sp>
            <p:sp>
              <p:nvSpPr>
                <p:cNvPr id="287" name="Line 93"/>
                <p:cNvSpPr>
                  <a:spLocks noChangeShapeType="1"/>
                </p:cNvSpPr>
                <p:nvPr/>
              </p:nvSpPr>
              <p:spPr bwMode="auto">
                <a:xfrm>
                  <a:off x="1790" y="2405"/>
                  <a:ext cx="588"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grpSp>
            <p:nvGrpSpPr>
              <p:cNvPr id="179" name="Group 267"/>
              <p:cNvGrpSpPr>
                <a:grpSpLocks/>
              </p:cNvGrpSpPr>
              <p:nvPr/>
            </p:nvGrpSpPr>
            <p:grpSpPr bwMode="auto">
              <a:xfrm>
                <a:off x="556098" y="4696443"/>
                <a:ext cx="1133475" cy="542925"/>
                <a:chOff x="3548" y="3275"/>
                <a:chExt cx="594" cy="342"/>
              </a:xfrm>
            </p:grpSpPr>
            <p:sp>
              <p:nvSpPr>
                <p:cNvPr id="232" name="Rectangle 94"/>
                <p:cNvSpPr>
                  <a:spLocks noChangeArrowheads="1"/>
                </p:cNvSpPr>
                <p:nvPr/>
              </p:nvSpPr>
              <p:spPr bwMode="auto">
                <a:xfrm>
                  <a:off x="3566" y="3293"/>
                  <a:ext cx="576" cy="324"/>
                </a:xfrm>
                <a:prstGeom prst="rect">
                  <a:avLst/>
                </a:prstGeom>
                <a:solidFill>
                  <a:srgbClr val="C0BF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3" name="Rectangle 95"/>
                <p:cNvSpPr>
                  <a:spLocks noChangeArrowheads="1"/>
                </p:cNvSpPr>
                <p:nvPr/>
              </p:nvSpPr>
              <p:spPr bwMode="auto">
                <a:xfrm>
                  <a:off x="3548" y="3275"/>
                  <a:ext cx="12" cy="324"/>
                </a:xfrm>
                <a:prstGeom prst="rect">
                  <a:avLst/>
                </a:prstGeom>
                <a:solidFill>
                  <a:srgbClr val="B582E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4" name="Rectangle 96"/>
                <p:cNvSpPr>
                  <a:spLocks noChangeArrowheads="1"/>
                </p:cNvSpPr>
                <p:nvPr/>
              </p:nvSpPr>
              <p:spPr bwMode="auto">
                <a:xfrm>
                  <a:off x="3560" y="3275"/>
                  <a:ext cx="6" cy="324"/>
                </a:xfrm>
                <a:prstGeom prst="rect">
                  <a:avLst/>
                </a:prstGeom>
                <a:solidFill>
                  <a:srgbClr val="B683E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5" name="Rectangle 97"/>
                <p:cNvSpPr>
                  <a:spLocks noChangeArrowheads="1"/>
                </p:cNvSpPr>
                <p:nvPr/>
              </p:nvSpPr>
              <p:spPr bwMode="auto">
                <a:xfrm>
                  <a:off x="3566" y="3275"/>
                  <a:ext cx="18" cy="324"/>
                </a:xfrm>
                <a:prstGeom prst="rect">
                  <a:avLst/>
                </a:prstGeom>
                <a:solidFill>
                  <a:srgbClr val="B784E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6" name="Rectangle 98"/>
                <p:cNvSpPr>
                  <a:spLocks noChangeArrowheads="1"/>
                </p:cNvSpPr>
                <p:nvPr/>
              </p:nvSpPr>
              <p:spPr bwMode="auto">
                <a:xfrm>
                  <a:off x="3584" y="3275"/>
                  <a:ext cx="12" cy="324"/>
                </a:xfrm>
                <a:prstGeom prst="rect">
                  <a:avLst/>
                </a:prstGeom>
                <a:solidFill>
                  <a:srgbClr val="B885E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7" name="Rectangle 99"/>
                <p:cNvSpPr>
                  <a:spLocks noChangeArrowheads="1"/>
                </p:cNvSpPr>
                <p:nvPr/>
              </p:nvSpPr>
              <p:spPr bwMode="auto">
                <a:xfrm>
                  <a:off x="3596" y="3275"/>
                  <a:ext cx="6" cy="324"/>
                </a:xfrm>
                <a:prstGeom prst="rect">
                  <a:avLst/>
                </a:prstGeom>
                <a:solidFill>
                  <a:srgbClr val="B986E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8" name="Rectangle 100"/>
                <p:cNvSpPr>
                  <a:spLocks noChangeArrowheads="1"/>
                </p:cNvSpPr>
                <p:nvPr/>
              </p:nvSpPr>
              <p:spPr bwMode="auto">
                <a:xfrm>
                  <a:off x="3602" y="3275"/>
                  <a:ext cx="18" cy="324"/>
                </a:xfrm>
                <a:prstGeom prst="rect">
                  <a:avLst/>
                </a:prstGeom>
                <a:solidFill>
                  <a:srgbClr val="BA87E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9" name="Rectangle 101"/>
                <p:cNvSpPr>
                  <a:spLocks noChangeArrowheads="1"/>
                </p:cNvSpPr>
                <p:nvPr/>
              </p:nvSpPr>
              <p:spPr bwMode="auto">
                <a:xfrm>
                  <a:off x="3620" y="3275"/>
                  <a:ext cx="12" cy="324"/>
                </a:xfrm>
                <a:prstGeom prst="rect">
                  <a:avLst/>
                </a:prstGeom>
                <a:solidFill>
                  <a:srgbClr val="BB88E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0" name="Rectangle 102"/>
                <p:cNvSpPr>
                  <a:spLocks noChangeArrowheads="1"/>
                </p:cNvSpPr>
                <p:nvPr/>
              </p:nvSpPr>
              <p:spPr bwMode="auto">
                <a:xfrm>
                  <a:off x="3632" y="3275"/>
                  <a:ext cx="6" cy="324"/>
                </a:xfrm>
                <a:prstGeom prst="rect">
                  <a:avLst/>
                </a:prstGeom>
                <a:solidFill>
                  <a:srgbClr val="BC89E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1" name="Rectangle 103"/>
                <p:cNvSpPr>
                  <a:spLocks noChangeArrowheads="1"/>
                </p:cNvSpPr>
                <p:nvPr/>
              </p:nvSpPr>
              <p:spPr bwMode="auto">
                <a:xfrm>
                  <a:off x="3638" y="3275"/>
                  <a:ext cx="18" cy="324"/>
                </a:xfrm>
                <a:prstGeom prst="rect">
                  <a:avLst/>
                </a:prstGeom>
                <a:solidFill>
                  <a:srgbClr val="BD8AF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2" name="Rectangle 104"/>
                <p:cNvSpPr>
                  <a:spLocks noChangeArrowheads="1"/>
                </p:cNvSpPr>
                <p:nvPr/>
              </p:nvSpPr>
              <p:spPr bwMode="auto">
                <a:xfrm>
                  <a:off x="3656" y="3275"/>
                  <a:ext cx="12" cy="324"/>
                </a:xfrm>
                <a:prstGeom prst="rect">
                  <a:avLst/>
                </a:prstGeom>
                <a:solidFill>
                  <a:srgbClr val="BE8BF1"/>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3" name="Rectangle 105"/>
                <p:cNvSpPr>
                  <a:spLocks noChangeArrowheads="1"/>
                </p:cNvSpPr>
                <p:nvPr/>
              </p:nvSpPr>
              <p:spPr bwMode="auto">
                <a:xfrm>
                  <a:off x="3668" y="3275"/>
                  <a:ext cx="6" cy="324"/>
                </a:xfrm>
                <a:prstGeom prst="rect">
                  <a:avLst/>
                </a:prstGeom>
                <a:solidFill>
                  <a:srgbClr val="BF8CF2"/>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4" name="Rectangle 106"/>
                <p:cNvSpPr>
                  <a:spLocks noChangeArrowheads="1"/>
                </p:cNvSpPr>
                <p:nvPr/>
              </p:nvSpPr>
              <p:spPr bwMode="auto">
                <a:xfrm>
                  <a:off x="3674" y="3275"/>
                  <a:ext cx="18" cy="324"/>
                </a:xfrm>
                <a:prstGeom prst="rect">
                  <a:avLst/>
                </a:prstGeom>
                <a:solidFill>
                  <a:srgbClr val="C08DF3"/>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5" name="Rectangle 107"/>
                <p:cNvSpPr>
                  <a:spLocks noChangeArrowheads="1"/>
                </p:cNvSpPr>
                <p:nvPr/>
              </p:nvSpPr>
              <p:spPr bwMode="auto">
                <a:xfrm>
                  <a:off x="3692" y="3275"/>
                  <a:ext cx="12" cy="324"/>
                </a:xfrm>
                <a:prstGeom prst="rect">
                  <a:avLst/>
                </a:prstGeom>
                <a:solidFill>
                  <a:srgbClr val="C18EF4"/>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6" name="Rectangle 108"/>
                <p:cNvSpPr>
                  <a:spLocks noChangeArrowheads="1"/>
                </p:cNvSpPr>
                <p:nvPr/>
              </p:nvSpPr>
              <p:spPr bwMode="auto">
                <a:xfrm>
                  <a:off x="3704" y="3275"/>
                  <a:ext cx="18" cy="324"/>
                </a:xfrm>
                <a:prstGeom prst="rect">
                  <a:avLst/>
                </a:prstGeom>
                <a:solidFill>
                  <a:srgbClr val="C28FF5"/>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7" name="Rectangle 109"/>
                <p:cNvSpPr>
                  <a:spLocks noChangeArrowheads="1"/>
                </p:cNvSpPr>
                <p:nvPr/>
              </p:nvSpPr>
              <p:spPr bwMode="auto">
                <a:xfrm>
                  <a:off x="3722" y="3275"/>
                  <a:ext cx="18" cy="324"/>
                </a:xfrm>
                <a:prstGeom prst="rect">
                  <a:avLst/>
                </a:prstGeom>
                <a:solidFill>
                  <a:srgbClr val="C390F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8" name="Rectangle 110"/>
                <p:cNvSpPr>
                  <a:spLocks noChangeArrowheads="1"/>
                </p:cNvSpPr>
                <p:nvPr/>
              </p:nvSpPr>
              <p:spPr bwMode="auto">
                <a:xfrm>
                  <a:off x="3740" y="3275"/>
                  <a:ext cx="6" cy="324"/>
                </a:xfrm>
                <a:prstGeom prst="rect">
                  <a:avLst/>
                </a:prstGeom>
                <a:solidFill>
                  <a:srgbClr val="C491F7"/>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9" name="Rectangle 111"/>
                <p:cNvSpPr>
                  <a:spLocks noChangeArrowheads="1"/>
                </p:cNvSpPr>
                <p:nvPr/>
              </p:nvSpPr>
              <p:spPr bwMode="auto">
                <a:xfrm>
                  <a:off x="3746" y="3275"/>
                  <a:ext cx="18" cy="324"/>
                </a:xfrm>
                <a:prstGeom prst="rect">
                  <a:avLst/>
                </a:prstGeom>
                <a:solidFill>
                  <a:srgbClr val="C592F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0" name="Rectangle 112"/>
                <p:cNvSpPr>
                  <a:spLocks noChangeArrowheads="1"/>
                </p:cNvSpPr>
                <p:nvPr/>
              </p:nvSpPr>
              <p:spPr bwMode="auto">
                <a:xfrm>
                  <a:off x="3764" y="3275"/>
                  <a:ext cx="12" cy="324"/>
                </a:xfrm>
                <a:prstGeom prst="rect">
                  <a:avLst/>
                </a:prstGeom>
                <a:solidFill>
                  <a:srgbClr val="C693F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1" name="Rectangle 113"/>
                <p:cNvSpPr>
                  <a:spLocks noChangeArrowheads="1"/>
                </p:cNvSpPr>
                <p:nvPr/>
              </p:nvSpPr>
              <p:spPr bwMode="auto">
                <a:xfrm>
                  <a:off x="3776" y="3275"/>
                  <a:ext cx="6" cy="324"/>
                </a:xfrm>
                <a:prstGeom prst="rect">
                  <a:avLst/>
                </a:prstGeom>
                <a:solidFill>
                  <a:srgbClr val="C794F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2" name="Rectangle 114"/>
                <p:cNvSpPr>
                  <a:spLocks noChangeArrowheads="1"/>
                </p:cNvSpPr>
                <p:nvPr/>
              </p:nvSpPr>
              <p:spPr bwMode="auto">
                <a:xfrm>
                  <a:off x="3782" y="3275"/>
                  <a:ext cx="18" cy="324"/>
                </a:xfrm>
                <a:prstGeom prst="rect">
                  <a:avLst/>
                </a:prstGeom>
                <a:solidFill>
                  <a:srgbClr val="C895F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3" name="Rectangle 115"/>
                <p:cNvSpPr>
                  <a:spLocks noChangeArrowheads="1"/>
                </p:cNvSpPr>
                <p:nvPr/>
              </p:nvSpPr>
              <p:spPr bwMode="auto">
                <a:xfrm>
                  <a:off x="3800" y="3275"/>
                  <a:ext cx="12" cy="324"/>
                </a:xfrm>
                <a:prstGeom prst="rect">
                  <a:avLst/>
                </a:prstGeom>
                <a:solidFill>
                  <a:srgbClr val="C996F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4" name="Rectangle 116"/>
                <p:cNvSpPr>
                  <a:spLocks noChangeArrowheads="1"/>
                </p:cNvSpPr>
                <p:nvPr/>
              </p:nvSpPr>
              <p:spPr bwMode="auto">
                <a:xfrm>
                  <a:off x="3812" y="3275"/>
                  <a:ext cx="6" cy="324"/>
                </a:xfrm>
                <a:prstGeom prst="rect">
                  <a:avLst/>
                </a:prstGeom>
                <a:solidFill>
                  <a:srgbClr val="CA97F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5" name="Rectangle 117"/>
                <p:cNvSpPr>
                  <a:spLocks noChangeArrowheads="1"/>
                </p:cNvSpPr>
                <p:nvPr/>
              </p:nvSpPr>
              <p:spPr bwMode="auto">
                <a:xfrm>
                  <a:off x="3818" y="3275"/>
                  <a:ext cx="18" cy="324"/>
                </a:xfrm>
                <a:prstGeom prst="rect">
                  <a:avLst/>
                </a:prstGeom>
                <a:solidFill>
                  <a:srgbClr val="CB98F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6" name="Rectangle 118"/>
                <p:cNvSpPr>
                  <a:spLocks noChangeArrowheads="1"/>
                </p:cNvSpPr>
                <p:nvPr/>
              </p:nvSpPr>
              <p:spPr bwMode="auto">
                <a:xfrm>
                  <a:off x="3836" y="3275"/>
                  <a:ext cx="288" cy="324"/>
                </a:xfrm>
                <a:prstGeom prst="rect">
                  <a:avLst/>
                </a:prstGeom>
                <a:solidFill>
                  <a:srgbClr val="CC99F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7" name="Rectangle 119"/>
                <p:cNvSpPr>
                  <a:spLocks noChangeArrowheads="1"/>
                </p:cNvSpPr>
                <p:nvPr/>
              </p:nvSpPr>
              <p:spPr bwMode="auto">
                <a:xfrm>
                  <a:off x="3548" y="3275"/>
                  <a:ext cx="576" cy="324"/>
                </a:xfrm>
                <a:prstGeom prst="rect">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8" name="Rectangle 120"/>
                <p:cNvSpPr>
                  <a:spLocks noChangeArrowheads="1"/>
                </p:cNvSpPr>
                <p:nvPr/>
              </p:nvSpPr>
              <p:spPr bwMode="auto">
                <a:xfrm>
                  <a:off x="3614" y="3329"/>
                  <a:ext cx="504"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000000"/>
                      </a:solidFill>
                      <a:latin typeface="Arial" pitchFamily="34" charset="0"/>
                      <a:ea typeface="ＭＳ Ｐゴシック"/>
                      <a:cs typeface="ＭＳ Ｐゴシック"/>
                    </a:rPr>
                    <a:t>OM_Process</a:t>
                  </a:r>
                  <a:endParaRPr lang="en-US">
                    <a:solidFill>
                      <a:srgbClr val="000000"/>
                    </a:solidFill>
                    <a:latin typeface="Arial" pitchFamily="34" charset="0"/>
                    <a:ea typeface="ＭＳ Ｐゴシック"/>
                    <a:cs typeface="ＭＳ Ｐゴシック"/>
                  </a:endParaRPr>
                </a:p>
              </p:txBody>
            </p:sp>
            <p:sp>
              <p:nvSpPr>
                <p:cNvPr id="259" name="Line 121"/>
                <p:cNvSpPr>
                  <a:spLocks noChangeShapeType="1"/>
                </p:cNvSpPr>
                <p:nvPr/>
              </p:nvSpPr>
              <p:spPr bwMode="auto">
                <a:xfrm>
                  <a:off x="3548" y="3455"/>
                  <a:ext cx="576"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grpSp>
            <p:nvGrpSpPr>
              <p:cNvPr id="182" name="Group 268"/>
              <p:cNvGrpSpPr>
                <a:grpSpLocks/>
              </p:cNvGrpSpPr>
              <p:nvPr/>
            </p:nvGrpSpPr>
            <p:grpSpPr bwMode="auto">
              <a:xfrm>
                <a:off x="2437286" y="4705968"/>
                <a:ext cx="809625" cy="542925"/>
                <a:chOff x="4832" y="3281"/>
                <a:chExt cx="552" cy="342"/>
              </a:xfrm>
            </p:grpSpPr>
            <p:sp>
              <p:nvSpPr>
                <p:cNvPr id="204" name="Rectangle 166"/>
                <p:cNvSpPr>
                  <a:spLocks noChangeArrowheads="1"/>
                </p:cNvSpPr>
                <p:nvPr/>
              </p:nvSpPr>
              <p:spPr bwMode="auto">
                <a:xfrm>
                  <a:off x="4850" y="3299"/>
                  <a:ext cx="534" cy="324"/>
                </a:xfrm>
                <a:prstGeom prst="rect">
                  <a:avLst/>
                </a:prstGeom>
                <a:solidFill>
                  <a:srgbClr val="C0BF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5" name="Rectangle 167"/>
                <p:cNvSpPr>
                  <a:spLocks noChangeArrowheads="1"/>
                </p:cNvSpPr>
                <p:nvPr/>
              </p:nvSpPr>
              <p:spPr bwMode="auto">
                <a:xfrm>
                  <a:off x="4832" y="3281"/>
                  <a:ext cx="6" cy="324"/>
                </a:xfrm>
                <a:prstGeom prst="rect">
                  <a:avLst/>
                </a:prstGeom>
                <a:solidFill>
                  <a:srgbClr val="B5E8B5"/>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6" name="Rectangle 168"/>
                <p:cNvSpPr>
                  <a:spLocks noChangeArrowheads="1"/>
                </p:cNvSpPr>
                <p:nvPr/>
              </p:nvSpPr>
              <p:spPr bwMode="auto">
                <a:xfrm>
                  <a:off x="4838" y="3281"/>
                  <a:ext cx="12" cy="324"/>
                </a:xfrm>
                <a:prstGeom prst="rect">
                  <a:avLst/>
                </a:prstGeom>
                <a:solidFill>
                  <a:srgbClr val="B6E9B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7" name="Rectangle 169"/>
                <p:cNvSpPr>
                  <a:spLocks noChangeArrowheads="1"/>
                </p:cNvSpPr>
                <p:nvPr/>
              </p:nvSpPr>
              <p:spPr bwMode="auto">
                <a:xfrm>
                  <a:off x="4850" y="3281"/>
                  <a:ext cx="12" cy="324"/>
                </a:xfrm>
                <a:prstGeom prst="rect">
                  <a:avLst/>
                </a:prstGeom>
                <a:solidFill>
                  <a:srgbClr val="B7EAB7"/>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8" name="Rectangle 170"/>
                <p:cNvSpPr>
                  <a:spLocks noChangeArrowheads="1"/>
                </p:cNvSpPr>
                <p:nvPr/>
              </p:nvSpPr>
              <p:spPr bwMode="auto">
                <a:xfrm>
                  <a:off x="4862" y="3281"/>
                  <a:ext cx="12" cy="324"/>
                </a:xfrm>
                <a:prstGeom prst="rect">
                  <a:avLst/>
                </a:prstGeom>
                <a:solidFill>
                  <a:srgbClr val="B8EBB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9" name="Rectangle 171"/>
                <p:cNvSpPr>
                  <a:spLocks noChangeArrowheads="1"/>
                </p:cNvSpPr>
                <p:nvPr/>
              </p:nvSpPr>
              <p:spPr bwMode="auto">
                <a:xfrm>
                  <a:off x="4874" y="3281"/>
                  <a:ext cx="12" cy="324"/>
                </a:xfrm>
                <a:prstGeom prst="rect">
                  <a:avLst/>
                </a:prstGeom>
                <a:solidFill>
                  <a:srgbClr val="B9ECB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0" name="Rectangle 172"/>
                <p:cNvSpPr>
                  <a:spLocks noChangeArrowheads="1"/>
                </p:cNvSpPr>
                <p:nvPr/>
              </p:nvSpPr>
              <p:spPr bwMode="auto">
                <a:xfrm>
                  <a:off x="4886" y="3281"/>
                  <a:ext cx="12" cy="324"/>
                </a:xfrm>
                <a:prstGeom prst="rect">
                  <a:avLst/>
                </a:prstGeom>
                <a:solidFill>
                  <a:srgbClr val="BAEDB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1" name="Rectangle 173"/>
                <p:cNvSpPr>
                  <a:spLocks noChangeArrowheads="1"/>
                </p:cNvSpPr>
                <p:nvPr/>
              </p:nvSpPr>
              <p:spPr bwMode="auto">
                <a:xfrm>
                  <a:off x="4898" y="3281"/>
                  <a:ext cx="12" cy="324"/>
                </a:xfrm>
                <a:prstGeom prst="rect">
                  <a:avLst/>
                </a:prstGeom>
                <a:solidFill>
                  <a:srgbClr val="BBEEB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2" name="Rectangle 174"/>
                <p:cNvSpPr>
                  <a:spLocks noChangeArrowheads="1"/>
                </p:cNvSpPr>
                <p:nvPr/>
              </p:nvSpPr>
              <p:spPr bwMode="auto">
                <a:xfrm>
                  <a:off x="4910" y="3281"/>
                  <a:ext cx="6" cy="324"/>
                </a:xfrm>
                <a:prstGeom prst="rect">
                  <a:avLst/>
                </a:prstGeom>
                <a:solidFill>
                  <a:srgbClr val="BCEFB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3" name="Rectangle 175"/>
                <p:cNvSpPr>
                  <a:spLocks noChangeArrowheads="1"/>
                </p:cNvSpPr>
                <p:nvPr/>
              </p:nvSpPr>
              <p:spPr bwMode="auto">
                <a:xfrm>
                  <a:off x="4916" y="3281"/>
                  <a:ext cx="12" cy="324"/>
                </a:xfrm>
                <a:prstGeom prst="rect">
                  <a:avLst/>
                </a:prstGeom>
                <a:solidFill>
                  <a:srgbClr val="BDF0B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4" name="Rectangle 176"/>
                <p:cNvSpPr>
                  <a:spLocks noChangeArrowheads="1"/>
                </p:cNvSpPr>
                <p:nvPr/>
              </p:nvSpPr>
              <p:spPr bwMode="auto">
                <a:xfrm>
                  <a:off x="4928" y="3281"/>
                  <a:ext cx="12" cy="324"/>
                </a:xfrm>
                <a:prstGeom prst="rect">
                  <a:avLst/>
                </a:prstGeom>
                <a:solidFill>
                  <a:srgbClr val="BEF1B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5" name="Rectangle 177"/>
                <p:cNvSpPr>
                  <a:spLocks noChangeArrowheads="1"/>
                </p:cNvSpPr>
                <p:nvPr/>
              </p:nvSpPr>
              <p:spPr bwMode="auto">
                <a:xfrm>
                  <a:off x="4940" y="3281"/>
                  <a:ext cx="12" cy="324"/>
                </a:xfrm>
                <a:prstGeom prst="rect">
                  <a:avLst/>
                </a:prstGeom>
                <a:solidFill>
                  <a:srgbClr val="BFF2B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6" name="Rectangle 178"/>
                <p:cNvSpPr>
                  <a:spLocks noChangeArrowheads="1"/>
                </p:cNvSpPr>
                <p:nvPr/>
              </p:nvSpPr>
              <p:spPr bwMode="auto">
                <a:xfrm>
                  <a:off x="4952" y="3281"/>
                  <a:ext cx="12" cy="324"/>
                </a:xfrm>
                <a:prstGeom prst="rect">
                  <a:avLst/>
                </a:prstGeom>
                <a:solidFill>
                  <a:srgbClr val="C0F3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7" name="Rectangle 179"/>
                <p:cNvSpPr>
                  <a:spLocks noChangeArrowheads="1"/>
                </p:cNvSpPr>
                <p:nvPr/>
              </p:nvSpPr>
              <p:spPr bwMode="auto">
                <a:xfrm>
                  <a:off x="4964" y="3281"/>
                  <a:ext cx="12" cy="324"/>
                </a:xfrm>
                <a:prstGeom prst="rect">
                  <a:avLst/>
                </a:prstGeom>
                <a:solidFill>
                  <a:srgbClr val="C1F4C1"/>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8" name="Rectangle 180"/>
                <p:cNvSpPr>
                  <a:spLocks noChangeArrowheads="1"/>
                </p:cNvSpPr>
                <p:nvPr/>
              </p:nvSpPr>
              <p:spPr bwMode="auto">
                <a:xfrm>
                  <a:off x="4976" y="3281"/>
                  <a:ext cx="18" cy="324"/>
                </a:xfrm>
                <a:prstGeom prst="rect">
                  <a:avLst/>
                </a:prstGeom>
                <a:solidFill>
                  <a:srgbClr val="C2F5C2"/>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9" name="Rectangle 181"/>
                <p:cNvSpPr>
                  <a:spLocks noChangeArrowheads="1"/>
                </p:cNvSpPr>
                <p:nvPr/>
              </p:nvSpPr>
              <p:spPr bwMode="auto">
                <a:xfrm>
                  <a:off x="4994" y="3281"/>
                  <a:ext cx="12" cy="324"/>
                </a:xfrm>
                <a:prstGeom prst="rect">
                  <a:avLst/>
                </a:prstGeom>
                <a:solidFill>
                  <a:srgbClr val="C3F6C3"/>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0" name="Rectangle 182"/>
                <p:cNvSpPr>
                  <a:spLocks noChangeArrowheads="1"/>
                </p:cNvSpPr>
                <p:nvPr/>
              </p:nvSpPr>
              <p:spPr bwMode="auto">
                <a:xfrm>
                  <a:off x="5006" y="3281"/>
                  <a:ext cx="12" cy="324"/>
                </a:xfrm>
                <a:prstGeom prst="rect">
                  <a:avLst/>
                </a:prstGeom>
                <a:solidFill>
                  <a:srgbClr val="C4F7C4"/>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1" name="Rectangle 183"/>
                <p:cNvSpPr>
                  <a:spLocks noChangeArrowheads="1"/>
                </p:cNvSpPr>
                <p:nvPr/>
              </p:nvSpPr>
              <p:spPr bwMode="auto">
                <a:xfrm>
                  <a:off x="5018" y="3281"/>
                  <a:ext cx="12" cy="324"/>
                </a:xfrm>
                <a:prstGeom prst="rect">
                  <a:avLst/>
                </a:prstGeom>
                <a:solidFill>
                  <a:srgbClr val="C5F8C5"/>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2" name="Rectangle 184"/>
                <p:cNvSpPr>
                  <a:spLocks noChangeArrowheads="1"/>
                </p:cNvSpPr>
                <p:nvPr/>
              </p:nvSpPr>
              <p:spPr bwMode="auto">
                <a:xfrm>
                  <a:off x="5030" y="3281"/>
                  <a:ext cx="12" cy="324"/>
                </a:xfrm>
                <a:prstGeom prst="rect">
                  <a:avLst/>
                </a:prstGeom>
                <a:solidFill>
                  <a:srgbClr val="C6F9C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3" name="Rectangle 185"/>
                <p:cNvSpPr>
                  <a:spLocks noChangeArrowheads="1"/>
                </p:cNvSpPr>
                <p:nvPr/>
              </p:nvSpPr>
              <p:spPr bwMode="auto">
                <a:xfrm>
                  <a:off x="5042" y="3281"/>
                  <a:ext cx="12" cy="324"/>
                </a:xfrm>
                <a:prstGeom prst="rect">
                  <a:avLst/>
                </a:prstGeom>
                <a:solidFill>
                  <a:srgbClr val="C7FAC7"/>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4" name="Rectangle 186"/>
                <p:cNvSpPr>
                  <a:spLocks noChangeArrowheads="1"/>
                </p:cNvSpPr>
                <p:nvPr/>
              </p:nvSpPr>
              <p:spPr bwMode="auto">
                <a:xfrm>
                  <a:off x="5054" y="3281"/>
                  <a:ext cx="12" cy="324"/>
                </a:xfrm>
                <a:prstGeom prst="rect">
                  <a:avLst/>
                </a:prstGeom>
                <a:solidFill>
                  <a:srgbClr val="C8FBC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5" name="Rectangle 187"/>
                <p:cNvSpPr>
                  <a:spLocks noChangeArrowheads="1"/>
                </p:cNvSpPr>
                <p:nvPr/>
              </p:nvSpPr>
              <p:spPr bwMode="auto">
                <a:xfrm>
                  <a:off x="5066" y="3281"/>
                  <a:ext cx="6" cy="324"/>
                </a:xfrm>
                <a:prstGeom prst="rect">
                  <a:avLst/>
                </a:prstGeom>
                <a:solidFill>
                  <a:srgbClr val="C9FCC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6" name="Rectangle 188"/>
                <p:cNvSpPr>
                  <a:spLocks noChangeArrowheads="1"/>
                </p:cNvSpPr>
                <p:nvPr/>
              </p:nvSpPr>
              <p:spPr bwMode="auto">
                <a:xfrm>
                  <a:off x="5072" y="3281"/>
                  <a:ext cx="12" cy="324"/>
                </a:xfrm>
                <a:prstGeom prst="rect">
                  <a:avLst/>
                </a:prstGeom>
                <a:solidFill>
                  <a:srgbClr val="CAFDC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7" name="Rectangle 189"/>
                <p:cNvSpPr>
                  <a:spLocks noChangeArrowheads="1"/>
                </p:cNvSpPr>
                <p:nvPr/>
              </p:nvSpPr>
              <p:spPr bwMode="auto">
                <a:xfrm>
                  <a:off x="5084" y="3281"/>
                  <a:ext cx="12" cy="324"/>
                </a:xfrm>
                <a:prstGeom prst="rect">
                  <a:avLst/>
                </a:prstGeom>
                <a:solidFill>
                  <a:srgbClr val="CBFEC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8" name="Rectangle 190"/>
                <p:cNvSpPr>
                  <a:spLocks noChangeArrowheads="1"/>
                </p:cNvSpPr>
                <p:nvPr/>
              </p:nvSpPr>
              <p:spPr bwMode="auto">
                <a:xfrm>
                  <a:off x="5096" y="3281"/>
                  <a:ext cx="270" cy="324"/>
                </a:xfrm>
                <a:prstGeom prst="rect">
                  <a:avLst/>
                </a:prstGeom>
                <a:solidFill>
                  <a:srgbClr val="CCFFC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9" name="Rectangle 191"/>
                <p:cNvSpPr>
                  <a:spLocks noChangeArrowheads="1"/>
                </p:cNvSpPr>
                <p:nvPr/>
              </p:nvSpPr>
              <p:spPr bwMode="auto">
                <a:xfrm>
                  <a:off x="4832" y="3281"/>
                  <a:ext cx="534" cy="324"/>
                </a:xfrm>
                <a:prstGeom prst="rect">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0" name="Rectangle 192"/>
                <p:cNvSpPr>
                  <a:spLocks noChangeArrowheads="1"/>
                </p:cNvSpPr>
                <p:nvPr/>
              </p:nvSpPr>
              <p:spPr bwMode="auto">
                <a:xfrm>
                  <a:off x="5030" y="3335"/>
                  <a:ext cx="150"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000000"/>
                      </a:solidFill>
                      <a:latin typeface="Arial" pitchFamily="34" charset="0"/>
                      <a:ea typeface="ＭＳ Ｐゴシック"/>
                      <a:cs typeface="ＭＳ Ｐゴシック"/>
                    </a:rPr>
                    <a:t>Any</a:t>
                  </a:r>
                  <a:endParaRPr lang="en-US">
                    <a:solidFill>
                      <a:srgbClr val="000000"/>
                    </a:solidFill>
                    <a:latin typeface="Arial" pitchFamily="34" charset="0"/>
                    <a:ea typeface="ＭＳ Ｐゴシック"/>
                    <a:cs typeface="ＭＳ Ｐゴシック"/>
                  </a:endParaRPr>
                </a:p>
              </p:txBody>
            </p:sp>
            <p:sp>
              <p:nvSpPr>
                <p:cNvPr id="231" name="Line 193"/>
                <p:cNvSpPr>
                  <a:spLocks noChangeShapeType="1"/>
                </p:cNvSpPr>
                <p:nvPr/>
              </p:nvSpPr>
              <p:spPr bwMode="auto">
                <a:xfrm>
                  <a:off x="4832" y="3461"/>
                  <a:ext cx="534"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grpSp>
            <p:nvGrpSpPr>
              <p:cNvPr id="183" name="Group 273"/>
              <p:cNvGrpSpPr>
                <a:grpSpLocks/>
              </p:cNvGrpSpPr>
              <p:nvPr/>
            </p:nvGrpSpPr>
            <p:grpSpPr bwMode="auto">
              <a:xfrm>
                <a:off x="1989611" y="3201018"/>
                <a:ext cx="1546225" cy="431800"/>
                <a:chOff x="4526" y="2333"/>
                <a:chExt cx="1055" cy="272"/>
              </a:xfrm>
            </p:grpSpPr>
            <p:sp>
              <p:nvSpPr>
                <p:cNvPr id="200" name="Line 225"/>
                <p:cNvSpPr>
                  <a:spLocks noChangeShapeType="1"/>
                </p:cNvSpPr>
                <p:nvPr/>
              </p:nvSpPr>
              <p:spPr bwMode="auto">
                <a:xfrm flipV="1">
                  <a:off x="4526" y="2429"/>
                  <a:ext cx="234" cy="3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201" name="Freeform 226"/>
                <p:cNvSpPr>
                  <a:spLocks noEditPoints="1"/>
                </p:cNvSpPr>
                <p:nvPr/>
              </p:nvSpPr>
              <p:spPr bwMode="auto">
                <a:xfrm>
                  <a:off x="4664" y="2405"/>
                  <a:ext cx="96" cy="72"/>
                </a:xfrm>
                <a:custGeom>
                  <a:avLst/>
                  <a:gdLst>
                    <a:gd name="T0" fmla="*/ 96 w 96"/>
                    <a:gd name="T1" fmla="*/ 24 h 72"/>
                    <a:gd name="T2" fmla="*/ 12 w 96"/>
                    <a:gd name="T3" fmla="*/ 72 h 72"/>
                    <a:gd name="T4" fmla="*/ 96 w 96"/>
                    <a:gd name="T5" fmla="*/ 24 h 72"/>
                    <a:gd name="T6" fmla="*/ 0 w 96"/>
                    <a:gd name="T7" fmla="*/ 0 h 72"/>
                    <a:gd name="T8" fmla="*/ 0 60000 65536"/>
                    <a:gd name="T9" fmla="*/ 0 60000 65536"/>
                    <a:gd name="T10" fmla="*/ 0 60000 65536"/>
                    <a:gd name="T11" fmla="*/ 0 60000 65536"/>
                    <a:gd name="T12" fmla="*/ 0 w 96"/>
                    <a:gd name="T13" fmla="*/ 0 h 72"/>
                    <a:gd name="T14" fmla="*/ 96 w 96"/>
                    <a:gd name="T15" fmla="*/ 72 h 72"/>
                  </a:gdLst>
                  <a:ahLst/>
                  <a:cxnLst>
                    <a:cxn ang="T8">
                      <a:pos x="T0" y="T1"/>
                    </a:cxn>
                    <a:cxn ang="T9">
                      <a:pos x="T2" y="T3"/>
                    </a:cxn>
                    <a:cxn ang="T10">
                      <a:pos x="T4" y="T5"/>
                    </a:cxn>
                    <a:cxn ang="T11">
                      <a:pos x="T6" y="T7"/>
                    </a:cxn>
                  </a:cxnLst>
                  <a:rect l="T12" t="T13" r="T14" b="T15"/>
                  <a:pathLst>
                    <a:path w="96" h="72">
                      <a:moveTo>
                        <a:pt x="96" y="24"/>
                      </a:moveTo>
                      <a:lnTo>
                        <a:pt x="12" y="72"/>
                      </a:lnTo>
                      <a:moveTo>
                        <a:pt x="96" y="24"/>
                      </a:moveTo>
                      <a:lnTo>
                        <a:pt x="0" y="0"/>
                      </a:lnTo>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202" name="Rectangle 227"/>
                <p:cNvSpPr>
                  <a:spLocks noChangeArrowheads="1"/>
                </p:cNvSpPr>
                <p:nvPr/>
              </p:nvSpPr>
              <p:spPr bwMode="auto">
                <a:xfrm>
                  <a:off x="4694" y="2489"/>
                  <a:ext cx="887" cy="116"/>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200">
                      <a:solidFill>
                        <a:srgbClr val="000000"/>
                      </a:solidFill>
                      <a:latin typeface="Arial" pitchFamily="34" charset="0"/>
                      <a:ea typeface="ＭＳ Ｐゴシック"/>
                      <a:cs typeface="ＭＳ Ｐゴシック"/>
                    </a:rPr>
                    <a:t>+observedProperty</a:t>
                  </a:r>
                  <a:endParaRPr lang="en-US" sz="3600">
                    <a:solidFill>
                      <a:srgbClr val="000000"/>
                    </a:solidFill>
                    <a:latin typeface="Arial" pitchFamily="34" charset="0"/>
                    <a:ea typeface="ＭＳ Ｐゴシック"/>
                    <a:cs typeface="ＭＳ Ｐゴシック"/>
                  </a:endParaRPr>
                </a:p>
              </p:txBody>
            </p:sp>
            <p:sp>
              <p:nvSpPr>
                <p:cNvPr id="203" name="Rectangle 228"/>
                <p:cNvSpPr>
                  <a:spLocks noChangeArrowheads="1"/>
                </p:cNvSpPr>
                <p:nvPr/>
              </p:nvSpPr>
              <p:spPr bwMode="auto">
                <a:xfrm>
                  <a:off x="4694" y="2333"/>
                  <a:ext cx="39" cy="78"/>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grpSp>
          <p:grpSp>
            <p:nvGrpSpPr>
              <p:cNvPr id="184" name="Group 178"/>
              <p:cNvGrpSpPr>
                <a:grpSpLocks/>
              </p:cNvGrpSpPr>
              <p:nvPr/>
            </p:nvGrpSpPr>
            <p:grpSpPr bwMode="auto">
              <a:xfrm rot="7440675">
                <a:off x="1337943" y="2277886"/>
                <a:ext cx="1281112" cy="180975"/>
                <a:chOff x="3532889" y="2379360"/>
                <a:chExt cx="1582615" cy="190500"/>
              </a:xfrm>
            </p:grpSpPr>
            <p:sp>
              <p:nvSpPr>
                <p:cNvPr id="198" name="Line 229"/>
                <p:cNvSpPr>
                  <a:spLocks noChangeShapeType="1"/>
                </p:cNvSpPr>
                <p:nvPr/>
              </p:nvSpPr>
              <p:spPr bwMode="auto">
                <a:xfrm flipH="1" flipV="1">
                  <a:off x="3532889" y="2426985"/>
                  <a:ext cx="1582615" cy="142875"/>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9" name="Freeform 230"/>
                <p:cNvSpPr>
                  <a:spLocks noEditPoints="1"/>
                </p:cNvSpPr>
                <p:nvPr/>
              </p:nvSpPr>
              <p:spPr bwMode="auto">
                <a:xfrm>
                  <a:off x="3532889" y="2379360"/>
                  <a:ext cx="131885" cy="114300"/>
                </a:xfrm>
                <a:custGeom>
                  <a:avLst/>
                  <a:gdLst>
                    <a:gd name="T0" fmla="*/ 0 w 90"/>
                    <a:gd name="T1" fmla="*/ 75604680 h 72"/>
                    <a:gd name="T2" fmla="*/ 193262840 w 90"/>
                    <a:gd name="T3" fmla="*/ 0 h 72"/>
                    <a:gd name="T4" fmla="*/ 0 w 90"/>
                    <a:gd name="T5" fmla="*/ 75604680 h 72"/>
                    <a:gd name="T6" fmla="*/ 180379099 w 90"/>
                    <a:gd name="T7" fmla="*/ 181451223 h 72"/>
                    <a:gd name="T8" fmla="*/ 0 60000 65536"/>
                    <a:gd name="T9" fmla="*/ 0 60000 65536"/>
                    <a:gd name="T10" fmla="*/ 0 60000 65536"/>
                    <a:gd name="T11" fmla="*/ 0 60000 65536"/>
                    <a:gd name="T12" fmla="*/ 0 w 90"/>
                    <a:gd name="T13" fmla="*/ 0 h 72"/>
                    <a:gd name="T14" fmla="*/ 90 w 90"/>
                    <a:gd name="T15" fmla="*/ 72 h 72"/>
                  </a:gdLst>
                  <a:ahLst/>
                  <a:cxnLst>
                    <a:cxn ang="T8">
                      <a:pos x="T0" y="T1"/>
                    </a:cxn>
                    <a:cxn ang="T9">
                      <a:pos x="T2" y="T3"/>
                    </a:cxn>
                    <a:cxn ang="T10">
                      <a:pos x="T4" y="T5"/>
                    </a:cxn>
                    <a:cxn ang="T11">
                      <a:pos x="T6" y="T7"/>
                    </a:cxn>
                  </a:cxnLst>
                  <a:rect l="T12" t="T13" r="T14" b="T15"/>
                  <a:pathLst>
                    <a:path w="90" h="72">
                      <a:moveTo>
                        <a:pt x="0" y="30"/>
                      </a:moveTo>
                      <a:lnTo>
                        <a:pt x="90" y="0"/>
                      </a:lnTo>
                      <a:moveTo>
                        <a:pt x="0" y="30"/>
                      </a:moveTo>
                      <a:lnTo>
                        <a:pt x="84" y="72"/>
                      </a:lnTo>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sp>
            <p:nvSpPr>
              <p:cNvPr id="185" name="Rectangle 232"/>
              <p:cNvSpPr>
                <a:spLocks noChangeArrowheads="1"/>
              </p:cNvSpPr>
              <p:nvPr/>
            </p:nvSpPr>
            <p:spPr bwMode="auto">
              <a:xfrm>
                <a:off x="1402236" y="2632693"/>
                <a:ext cx="153987" cy="123825"/>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86" name="Rectangle 233"/>
              <p:cNvSpPr>
                <a:spLocks noChangeArrowheads="1"/>
              </p:cNvSpPr>
              <p:nvPr/>
            </p:nvSpPr>
            <p:spPr bwMode="auto">
              <a:xfrm>
                <a:off x="2411253" y="1899140"/>
                <a:ext cx="1244600" cy="184150"/>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200" dirty="0">
                    <a:solidFill>
                      <a:srgbClr val="000000"/>
                    </a:solidFill>
                    <a:latin typeface="Arial" pitchFamily="34" charset="0"/>
                    <a:ea typeface="ＭＳ Ｐゴシック"/>
                    <a:cs typeface="ＭＳ Ｐゴシック"/>
                  </a:rPr>
                  <a:t>+featureOfInterest</a:t>
                </a:r>
                <a:endParaRPr lang="en-US" sz="3600" dirty="0">
                  <a:solidFill>
                    <a:srgbClr val="000000"/>
                  </a:solidFill>
                  <a:latin typeface="Arial" pitchFamily="34" charset="0"/>
                  <a:ea typeface="ＭＳ Ｐゴシック"/>
                  <a:cs typeface="ＭＳ Ｐゴシック"/>
                </a:endParaRPr>
              </a:p>
            </p:txBody>
          </p:sp>
          <p:sp>
            <p:nvSpPr>
              <p:cNvPr id="187" name="Rectangle 234"/>
              <p:cNvSpPr>
                <a:spLocks noChangeArrowheads="1"/>
              </p:cNvSpPr>
              <p:nvPr/>
            </p:nvSpPr>
            <p:spPr bwMode="auto">
              <a:xfrm>
                <a:off x="2084037" y="1911968"/>
                <a:ext cx="46037" cy="123825"/>
              </a:xfrm>
              <a:prstGeom prst="rect">
                <a:avLst/>
              </a:prstGeom>
              <a:noFill/>
              <a:ln w="9525">
                <a:noFill/>
                <a:miter lim="800000"/>
                <a:headEnd/>
                <a:tailEnd/>
              </a:ln>
            </p:spPr>
            <p:txBody>
              <a:bodyPr lIns="0" tIns="0" rIns="0" bIns="0">
                <a:spAutoFit/>
              </a:bodyPr>
              <a:lstStyle/>
              <a:p>
                <a:pPr marL="361950" indent="-361950" defTabSz="966788" fontAlgn="base">
                  <a:spcBef>
                    <a:spcPct val="0"/>
                  </a:spcBef>
                  <a:spcAft>
                    <a:spcPct val="0"/>
                  </a:spcAft>
                  <a:tabLst>
                    <a:tab pos="188913" algn="l"/>
                  </a:tabLst>
                </a:pPr>
                <a:r>
                  <a:rPr lang="en-US" sz="800" dirty="0">
                    <a:solidFill>
                      <a:srgbClr val="000000"/>
                    </a:solidFill>
                    <a:latin typeface="Arial" pitchFamily="34" charset="0"/>
                    <a:ea typeface="ＭＳ Ｐゴシック"/>
                    <a:cs typeface="ＭＳ Ｐゴシック"/>
                  </a:rPr>
                  <a:t>1</a:t>
                </a:r>
                <a:endParaRPr lang="en-US" dirty="0">
                  <a:solidFill>
                    <a:srgbClr val="000000"/>
                  </a:solidFill>
                  <a:latin typeface="Arial" pitchFamily="34" charset="0"/>
                  <a:ea typeface="ＭＳ Ｐゴシック"/>
                  <a:cs typeface="ＭＳ Ｐゴシック"/>
                </a:endParaRPr>
              </a:p>
            </p:txBody>
          </p:sp>
          <p:sp>
            <p:nvSpPr>
              <p:cNvPr id="188" name="Line 241"/>
              <p:cNvSpPr>
                <a:spLocks noChangeShapeType="1"/>
              </p:cNvSpPr>
              <p:nvPr/>
            </p:nvSpPr>
            <p:spPr bwMode="auto">
              <a:xfrm flipH="1">
                <a:off x="864073" y="3982068"/>
                <a:ext cx="280988" cy="714375"/>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89" name="Freeform 242"/>
              <p:cNvSpPr>
                <a:spLocks noEditPoints="1"/>
              </p:cNvSpPr>
              <p:nvPr/>
            </p:nvSpPr>
            <p:spPr bwMode="auto">
              <a:xfrm>
                <a:off x="864073" y="4544043"/>
                <a:ext cx="96838" cy="152400"/>
              </a:xfrm>
              <a:custGeom>
                <a:avLst/>
                <a:gdLst>
                  <a:gd name="T0" fmla="*/ 0 w 66"/>
                  <a:gd name="T1" fmla="*/ 241935022 h 96"/>
                  <a:gd name="T2" fmla="*/ 0 w 66"/>
                  <a:gd name="T3" fmla="*/ 0 h 96"/>
                  <a:gd name="T4" fmla="*/ 0 w 66"/>
                  <a:gd name="T5" fmla="*/ 241935022 h 96"/>
                  <a:gd name="T6" fmla="*/ 142084802 w 66"/>
                  <a:gd name="T7" fmla="*/ 75604688 h 96"/>
                  <a:gd name="T8" fmla="*/ 0 60000 65536"/>
                  <a:gd name="T9" fmla="*/ 0 60000 65536"/>
                  <a:gd name="T10" fmla="*/ 0 60000 65536"/>
                  <a:gd name="T11" fmla="*/ 0 60000 65536"/>
                  <a:gd name="T12" fmla="*/ 0 w 66"/>
                  <a:gd name="T13" fmla="*/ 0 h 96"/>
                  <a:gd name="T14" fmla="*/ 66 w 66"/>
                  <a:gd name="T15" fmla="*/ 96 h 96"/>
                </a:gdLst>
                <a:ahLst/>
                <a:cxnLst>
                  <a:cxn ang="T8">
                    <a:pos x="T0" y="T1"/>
                  </a:cxn>
                  <a:cxn ang="T9">
                    <a:pos x="T2" y="T3"/>
                  </a:cxn>
                  <a:cxn ang="T10">
                    <a:pos x="T4" y="T5"/>
                  </a:cxn>
                  <a:cxn ang="T11">
                    <a:pos x="T6" y="T7"/>
                  </a:cxn>
                </a:cxnLst>
                <a:rect l="T12" t="T13" r="T14" b="T15"/>
                <a:pathLst>
                  <a:path w="66" h="96">
                    <a:moveTo>
                      <a:pt x="0" y="96"/>
                    </a:moveTo>
                    <a:lnTo>
                      <a:pt x="0" y="0"/>
                    </a:lnTo>
                    <a:moveTo>
                      <a:pt x="0" y="96"/>
                    </a:moveTo>
                    <a:lnTo>
                      <a:pt x="66" y="30"/>
                    </a:lnTo>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0" name="Rectangle 244"/>
              <p:cNvSpPr>
                <a:spLocks noChangeArrowheads="1"/>
              </p:cNvSpPr>
              <p:nvPr/>
            </p:nvSpPr>
            <p:spPr bwMode="auto">
              <a:xfrm>
                <a:off x="1135536" y="4153518"/>
                <a:ext cx="155575" cy="123825"/>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91" name="Rectangle 245"/>
              <p:cNvSpPr>
                <a:spLocks noChangeArrowheads="1"/>
              </p:cNvSpPr>
              <p:nvPr/>
            </p:nvSpPr>
            <p:spPr bwMode="auto">
              <a:xfrm>
                <a:off x="1041873" y="4432918"/>
                <a:ext cx="777875" cy="184150"/>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200">
                    <a:solidFill>
                      <a:srgbClr val="000000"/>
                    </a:solidFill>
                    <a:latin typeface="Arial" pitchFamily="34" charset="0"/>
                    <a:ea typeface="ＭＳ Ｐゴシック"/>
                    <a:cs typeface="ＭＳ Ｐゴシック"/>
                  </a:rPr>
                  <a:t>+procedure</a:t>
                </a:r>
                <a:endParaRPr lang="en-US" sz="3600">
                  <a:solidFill>
                    <a:srgbClr val="000000"/>
                  </a:solidFill>
                  <a:latin typeface="Arial" pitchFamily="34" charset="0"/>
                  <a:ea typeface="ＭＳ Ｐゴシック"/>
                  <a:cs typeface="ＭＳ Ｐゴシック"/>
                </a:endParaRPr>
              </a:p>
            </p:txBody>
          </p:sp>
          <p:sp>
            <p:nvSpPr>
              <p:cNvPr id="192" name="Rectangle 246"/>
              <p:cNvSpPr>
                <a:spLocks noChangeArrowheads="1"/>
              </p:cNvSpPr>
              <p:nvPr/>
            </p:nvSpPr>
            <p:spPr bwMode="auto">
              <a:xfrm>
                <a:off x="687861" y="4486893"/>
                <a:ext cx="57150" cy="123825"/>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sp>
            <p:nvSpPr>
              <p:cNvPr id="193" name="Line 258"/>
              <p:cNvSpPr>
                <a:spLocks noChangeShapeType="1"/>
              </p:cNvSpPr>
              <p:nvPr/>
            </p:nvSpPr>
            <p:spPr bwMode="auto">
              <a:xfrm flipH="1" flipV="1">
                <a:off x="1989611" y="3953493"/>
                <a:ext cx="782637" cy="752475"/>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4" name="Freeform 259"/>
              <p:cNvSpPr>
                <a:spLocks/>
              </p:cNvSpPr>
              <p:nvPr/>
            </p:nvSpPr>
            <p:spPr bwMode="auto">
              <a:xfrm>
                <a:off x="1989611" y="3953493"/>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solidFill>
                <a:srgbClr val="000000"/>
              </a:solidFill>
              <a:ln w="9525">
                <a:noFill/>
                <a:round/>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5" name="Freeform 260"/>
              <p:cNvSpPr>
                <a:spLocks/>
              </p:cNvSpPr>
              <p:nvPr/>
            </p:nvSpPr>
            <p:spPr bwMode="auto">
              <a:xfrm>
                <a:off x="1989611" y="3953493"/>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6" name="Freeform 261"/>
              <p:cNvSpPr>
                <a:spLocks noEditPoints="1"/>
              </p:cNvSpPr>
              <p:nvPr/>
            </p:nvSpPr>
            <p:spPr bwMode="auto">
              <a:xfrm>
                <a:off x="2640486" y="4572618"/>
                <a:ext cx="131762" cy="133350"/>
              </a:xfrm>
              <a:custGeom>
                <a:avLst/>
                <a:gdLst>
                  <a:gd name="T0" fmla="*/ 192902522 w 90"/>
                  <a:gd name="T1" fmla="*/ 211693147 h 84"/>
                  <a:gd name="T2" fmla="*/ 102881244 w 90"/>
                  <a:gd name="T3" fmla="*/ 0 h 84"/>
                  <a:gd name="T4" fmla="*/ 192902522 w 90"/>
                  <a:gd name="T5" fmla="*/ 211693147 h 84"/>
                  <a:gd name="T6" fmla="*/ 0 w 90"/>
                  <a:gd name="T7" fmla="*/ 136088438 h 84"/>
                  <a:gd name="T8" fmla="*/ 0 60000 65536"/>
                  <a:gd name="T9" fmla="*/ 0 60000 65536"/>
                  <a:gd name="T10" fmla="*/ 0 60000 65536"/>
                  <a:gd name="T11" fmla="*/ 0 60000 65536"/>
                  <a:gd name="T12" fmla="*/ 0 w 90"/>
                  <a:gd name="T13" fmla="*/ 0 h 84"/>
                  <a:gd name="T14" fmla="*/ 90 w 90"/>
                  <a:gd name="T15" fmla="*/ 84 h 84"/>
                </a:gdLst>
                <a:ahLst/>
                <a:cxnLst>
                  <a:cxn ang="T8">
                    <a:pos x="T0" y="T1"/>
                  </a:cxn>
                  <a:cxn ang="T9">
                    <a:pos x="T2" y="T3"/>
                  </a:cxn>
                  <a:cxn ang="T10">
                    <a:pos x="T4" y="T5"/>
                  </a:cxn>
                  <a:cxn ang="T11">
                    <a:pos x="T6" y="T7"/>
                  </a:cxn>
                </a:cxnLst>
                <a:rect l="T12" t="T13" r="T14" b="T15"/>
                <a:pathLst>
                  <a:path w="90" h="84">
                    <a:moveTo>
                      <a:pt x="90" y="84"/>
                    </a:moveTo>
                    <a:lnTo>
                      <a:pt x="48" y="0"/>
                    </a:lnTo>
                    <a:moveTo>
                      <a:pt x="90" y="84"/>
                    </a:moveTo>
                    <a:lnTo>
                      <a:pt x="0" y="54"/>
                    </a:lnTo>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7" name="Rectangle 262"/>
              <p:cNvSpPr>
                <a:spLocks noChangeArrowheads="1"/>
              </p:cNvSpPr>
              <p:nvPr/>
            </p:nvSpPr>
            <p:spPr bwMode="auto">
              <a:xfrm>
                <a:off x="2842098" y="4463080"/>
                <a:ext cx="465138" cy="185738"/>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200">
                    <a:solidFill>
                      <a:srgbClr val="000000"/>
                    </a:solidFill>
                    <a:latin typeface="Arial" pitchFamily="34" charset="0"/>
                    <a:ea typeface="ＭＳ Ｐゴシック"/>
                    <a:cs typeface="ＭＳ Ｐゴシック"/>
                  </a:rPr>
                  <a:t>+result</a:t>
                </a:r>
                <a:endParaRPr lang="en-US" sz="3600">
                  <a:solidFill>
                    <a:srgbClr val="000000"/>
                  </a:solidFill>
                  <a:latin typeface="Arial" pitchFamily="34" charset="0"/>
                  <a:ea typeface="ＭＳ Ｐゴシック"/>
                  <a:cs typeface="ＭＳ Ｐゴシック"/>
                </a:endParaRPr>
              </a:p>
            </p:txBody>
          </p:sp>
        </p:grpSp>
      </p:grpSp>
      <p:pic>
        <p:nvPicPr>
          <p:cNvPr id="154" name="Picture 153" descr="SatTelFlaF3LG.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549813" y="30834"/>
            <a:ext cx="4595482" cy="3199012"/>
          </a:xfrm>
          <a:prstGeom prst="rect">
            <a:avLst/>
          </a:prstGeom>
        </p:spPr>
      </p:pic>
      <p:sp>
        <p:nvSpPr>
          <p:cNvPr id="156" name="Right Arrow 155"/>
          <p:cNvSpPr/>
          <p:nvPr/>
        </p:nvSpPr>
        <p:spPr bwMode="auto">
          <a:xfrm rot="21309732">
            <a:off x="3688198" y="2777979"/>
            <a:ext cx="2853134" cy="461796"/>
          </a:xfrm>
          <a:prstGeom prst="rightArrow">
            <a:avLst/>
          </a:prstGeom>
          <a:gradFill flip="none" rotWithShape="1">
            <a:gsLst>
              <a:gs pos="66000">
                <a:schemeClr val="tx2">
                  <a:lumMod val="25000"/>
                  <a:lumOff val="75000"/>
                </a:schemeClr>
              </a:gs>
              <a:gs pos="100000">
                <a:srgbClr val="FFFFFF"/>
              </a:gs>
            </a:gsLst>
            <a:lin ang="0" scaled="1"/>
            <a:tileRect/>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r>
              <a:rPr lang="en-US" sz="1400" b="1" dirty="0" smtClean="0">
                <a:solidFill>
                  <a:srgbClr val="000000"/>
                </a:solidFill>
                <a:latin typeface="Arial" charset="0"/>
                <a:ea typeface="ＭＳ Ｐゴシック" pitchFamily="16" charset="-128"/>
                <a:cs typeface="ＭＳ Ｐゴシック" pitchFamily="-97" charset="-128"/>
              </a:rPr>
              <a:t>Stage Height</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5" name="TextBox 14"/>
          <p:cNvSpPr txBox="1"/>
          <p:nvPr/>
        </p:nvSpPr>
        <p:spPr>
          <a:xfrm>
            <a:off x="277288" y="5220865"/>
            <a:ext cx="1731940" cy="474625"/>
          </a:xfrm>
          <a:prstGeom prst="rect">
            <a:avLst/>
          </a:prstGeom>
          <a:noFill/>
          <a:effectLst/>
        </p:spPr>
        <p:txBody>
          <a:bodyPr wrap="square" lIns="0" tIns="0" rIns="0" bIns="0" rtlCol="0">
            <a:noAutofit/>
          </a:bodyPr>
          <a:lstStyle/>
          <a:p>
            <a:pPr algn="ctr" defTabSz="914400" eaLnBrk="0" fontAlgn="base" hangingPunct="0">
              <a:lnSpc>
                <a:spcPts val="1800"/>
              </a:lnSpc>
              <a:spcBef>
                <a:spcPct val="0"/>
              </a:spcBef>
              <a:spcAft>
                <a:spcPct val="0"/>
              </a:spcAft>
            </a:pPr>
            <a:r>
              <a:rPr lang="en-US" sz="1400" b="1" i="1" dirty="0" smtClean="0">
                <a:solidFill>
                  <a:srgbClr val="B996D5">
                    <a:lumMod val="75000"/>
                  </a:srgbClr>
                </a:solidFill>
                <a:latin typeface="Arial"/>
                <a:ea typeface="ＭＳ Ｐゴシック"/>
                <a:cs typeface="ＭＳ Ｐゴシック"/>
              </a:rPr>
              <a:t>Water level measurement</a:t>
            </a:r>
          </a:p>
        </p:txBody>
      </p:sp>
      <p:grpSp>
        <p:nvGrpSpPr>
          <p:cNvPr id="3" name="Group 2"/>
          <p:cNvGrpSpPr/>
          <p:nvPr/>
        </p:nvGrpSpPr>
        <p:grpSpPr>
          <a:xfrm>
            <a:off x="2052670" y="1385389"/>
            <a:ext cx="4215687" cy="1322784"/>
            <a:chOff x="2052670" y="1385389"/>
            <a:chExt cx="4215687" cy="1322784"/>
          </a:xfrm>
        </p:grpSpPr>
        <p:sp>
          <p:nvSpPr>
            <p:cNvPr id="342" name="TextBox 341"/>
            <p:cNvSpPr txBox="1"/>
            <p:nvPr/>
          </p:nvSpPr>
          <p:spPr>
            <a:xfrm>
              <a:off x="2052670" y="2127861"/>
              <a:ext cx="2039840" cy="309398"/>
            </a:xfrm>
            <a:prstGeom prst="rect">
              <a:avLst/>
            </a:prstGeom>
            <a:noFill/>
            <a:effectLst/>
          </p:spPr>
          <p:txBody>
            <a:bodyPr wrap="square" lIns="0" tIns="0" rIns="0" bIns="0" rtlCol="0">
              <a:noAutofit/>
            </a:bodyPr>
            <a:lstStyle/>
            <a:p>
              <a:pPr algn="ctr" defTabSz="914400" eaLnBrk="0" fontAlgn="base" hangingPunct="0">
                <a:lnSpc>
                  <a:spcPts val="1800"/>
                </a:lnSpc>
                <a:spcBef>
                  <a:spcPct val="0"/>
                </a:spcBef>
                <a:spcAft>
                  <a:spcPct val="0"/>
                </a:spcAft>
              </a:pPr>
              <a:r>
                <a:rPr lang="en-US" sz="1400" b="1" i="1"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sampl</a:t>
              </a:r>
              <a:r>
                <a:rPr lang="en-US" sz="1400" b="1" i="1" u="sng"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ing</a:t>
              </a:r>
              <a:r>
                <a:rPr lang="en-US" sz="1400" b="1" i="1"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 feature</a:t>
              </a:r>
              <a:endParaRPr lang="en-US" sz="1400" b="1" i="1" dirty="0" smtClean="0">
                <a:solidFill>
                  <a:srgbClr val="ED982D"/>
                </a:solidFill>
                <a:effectLst>
                  <a:outerShdw blurRad="50800" dist="38100" dir="2700000" algn="tl" rotWithShape="0">
                    <a:srgbClr val="000000">
                      <a:alpha val="43000"/>
                    </a:srgbClr>
                  </a:outerShdw>
                </a:effectLst>
                <a:latin typeface="Arial"/>
                <a:ea typeface="ＭＳ Ｐゴシック"/>
                <a:cs typeface="ＭＳ Ｐゴシック"/>
              </a:endParaRPr>
            </a:p>
          </p:txBody>
        </p:sp>
        <p:sp>
          <p:nvSpPr>
            <p:cNvPr id="155" name="Right Arrow 154"/>
            <p:cNvSpPr/>
            <p:nvPr/>
          </p:nvSpPr>
          <p:spPr bwMode="auto">
            <a:xfrm>
              <a:off x="3309930" y="1385389"/>
              <a:ext cx="2873736" cy="461796"/>
            </a:xfrm>
            <a:prstGeom prst="rightArrow">
              <a:avLst/>
            </a:prstGeom>
            <a:gradFill flip="none" rotWithShape="1">
              <a:gsLst>
                <a:gs pos="52000">
                  <a:schemeClr val="accent2"/>
                </a:gs>
                <a:gs pos="100000">
                  <a:srgbClr val="FFFFFF"/>
                </a:gs>
              </a:gsLst>
              <a:lin ang="0" scaled="1"/>
              <a:tileRect/>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r>
                <a:rPr lang="en-US" sz="1400" b="1" dirty="0" smtClean="0">
                  <a:solidFill>
                    <a:srgbClr val="000000"/>
                  </a:solidFill>
                  <a:latin typeface="Arial" charset="0"/>
                  <a:ea typeface="ＭＳ Ｐゴシック" pitchFamily="16" charset="-128"/>
                  <a:cs typeface="ＭＳ Ｐゴシック" pitchFamily="-97" charset="-128"/>
                </a:rPr>
                <a:t>Stream Gage</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57" name="TextBox 156"/>
            <p:cNvSpPr txBox="1"/>
            <p:nvPr/>
          </p:nvSpPr>
          <p:spPr>
            <a:xfrm>
              <a:off x="4618507" y="2127861"/>
              <a:ext cx="1649850" cy="580312"/>
            </a:xfrm>
            <a:prstGeom prst="rect">
              <a:avLst/>
            </a:prstGeom>
            <a:noFill/>
            <a:effectLst/>
          </p:spPr>
          <p:txBody>
            <a:bodyPr wrap="square" lIns="0" tIns="0" rIns="0" bIns="0" rtlCol="0">
              <a:noAutofit/>
            </a:bodyPr>
            <a:lstStyle/>
            <a:p>
              <a:pPr algn="ctr" defTabSz="914400" eaLnBrk="0" fontAlgn="base" hangingPunct="0">
                <a:lnSpc>
                  <a:spcPts val="1800"/>
                </a:lnSpc>
                <a:spcBef>
                  <a:spcPct val="0"/>
                </a:spcBef>
                <a:spcAft>
                  <a:spcPct val="0"/>
                </a:spcAft>
              </a:pPr>
              <a:r>
                <a:rPr lang="en-US" sz="1400" b="1" i="1" dirty="0" smtClean="0">
                  <a:solidFill>
                    <a:prstClr val="white"/>
                  </a:solidFill>
                  <a:latin typeface="Arial"/>
                  <a:ea typeface="ＭＳ Ｐゴシック"/>
                  <a:cs typeface="ＭＳ Ｐゴシック"/>
                </a:rPr>
                <a:t>River is a </a:t>
              </a:r>
            </a:p>
            <a:p>
              <a:pPr algn="ctr" defTabSz="914400" eaLnBrk="0" fontAlgn="base" hangingPunct="0">
                <a:lnSpc>
                  <a:spcPts val="1800"/>
                </a:lnSpc>
                <a:spcBef>
                  <a:spcPct val="0"/>
                </a:spcBef>
                <a:spcAft>
                  <a:spcPct val="0"/>
                </a:spcAft>
              </a:pPr>
              <a:r>
                <a:rPr lang="en-US" sz="1400" b="1" i="1" dirty="0" smtClean="0">
                  <a:solidFill>
                    <a:prstClr val="white"/>
                  </a:solidFill>
                  <a:latin typeface="Arial"/>
                  <a:ea typeface="ＭＳ Ｐゴシック"/>
                  <a:cs typeface="ＭＳ Ｐゴシック"/>
                </a:rPr>
                <a:t>sampl</a:t>
              </a:r>
              <a:r>
                <a:rPr lang="en-US" sz="1400" b="1" i="1" u="sng" dirty="0" smtClean="0">
                  <a:solidFill>
                    <a:prstClr val="white"/>
                  </a:solidFill>
                  <a:latin typeface="Arial"/>
                  <a:ea typeface="ＭＳ Ｐゴシック"/>
                  <a:cs typeface="ＭＳ Ｐゴシック"/>
                </a:rPr>
                <a:t>ed</a:t>
              </a:r>
              <a:r>
                <a:rPr lang="en-US" sz="1400" b="1" i="1" dirty="0" smtClean="0">
                  <a:solidFill>
                    <a:prstClr val="white"/>
                  </a:solidFill>
                  <a:latin typeface="Arial"/>
                  <a:ea typeface="ＭＳ Ｐゴシック"/>
                  <a:cs typeface="ＭＳ Ｐゴシック"/>
                </a:rPr>
                <a:t> feature</a:t>
              </a:r>
            </a:p>
          </p:txBody>
        </p:sp>
      </p:grpSp>
      <p:sp>
        <p:nvSpPr>
          <p:cNvPr id="181" name="Right Arrow 180"/>
          <p:cNvSpPr/>
          <p:nvPr/>
        </p:nvSpPr>
        <p:spPr bwMode="auto">
          <a:xfrm rot="20920639">
            <a:off x="3244830" y="4386170"/>
            <a:ext cx="2217081" cy="461796"/>
          </a:xfrm>
          <a:prstGeom prst="rightArrow">
            <a:avLst/>
          </a:prstGeom>
          <a:gradFill>
            <a:gsLst>
              <a:gs pos="0">
                <a:schemeClr val="accent1">
                  <a:lumMod val="60000"/>
                  <a:lumOff val="40000"/>
                </a:schemeClr>
              </a:gs>
              <a:gs pos="64000">
                <a:schemeClr val="accent1">
                  <a:tint val="50000"/>
                  <a:shade val="100000"/>
                  <a:satMod val="350000"/>
                </a:schemeClr>
              </a:gs>
              <a:gs pos="100000">
                <a:schemeClr val="bg1"/>
              </a:gs>
            </a:gsLst>
            <a:lin ang="840000" scaled="0"/>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r>
              <a:rPr lang="en-US" sz="1400" b="1" dirty="0" smtClean="0">
                <a:solidFill>
                  <a:srgbClr val="000000"/>
                </a:solidFill>
                <a:latin typeface="Arial" charset="0"/>
                <a:ea typeface="ＭＳ Ｐゴシック" pitchFamily="16" charset="-128"/>
                <a:cs typeface="ＭＳ Ｐゴシック" pitchFamily="-97" charset="-128"/>
              </a:rPr>
              <a:t>Time series of values</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61" name="TextBox 160"/>
          <p:cNvSpPr txBox="1"/>
          <p:nvPr/>
        </p:nvSpPr>
        <p:spPr>
          <a:xfrm>
            <a:off x="6050887" y="5971110"/>
            <a:ext cx="3038736" cy="187580"/>
          </a:xfrm>
          <a:prstGeom prst="rect">
            <a:avLst/>
          </a:prstGeom>
          <a:noFill/>
          <a:effectLst/>
        </p:spPr>
        <p:txBody>
          <a:bodyPr wrap="square" lIns="0" tIns="0" rIns="0" bIns="0" rtlCol="0">
            <a:noAutofit/>
          </a:bodyPr>
          <a:lstStyle/>
          <a:p>
            <a:pPr algn="r">
              <a:defRPr/>
            </a:pPr>
            <a:r>
              <a:rPr lang="en-US" sz="1100" dirty="0">
                <a:solidFill>
                  <a:prstClr val="black"/>
                </a:solidFill>
                <a:latin typeface="Arial"/>
                <a:ea typeface="ＭＳ Ｐゴシック"/>
                <a:cs typeface="ＭＳ Ｐゴシック"/>
              </a:rPr>
              <a:t>Source: </a:t>
            </a:r>
            <a:r>
              <a:rPr lang="en-US" sz="1100" dirty="0" smtClean="0">
                <a:solidFill>
                  <a:prstClr val="black"/>
                </a:solidFill>
                <a:latin typeface="Arial"/>
                <a:ea typeface="ＭＳ Ｐゴシック"/>
                <a:cs typeface="ＭＳ Ｐゴシック"/>
              </a:rPr>
              <a:t>USGS</a:t>
            </a:r>
            <a:endParaRPr lang="en-US" sz="1100" dirty="0">
              <a:solidFill>
                <a:prstClr val="black"/>
              </a:solidFill>
              <a:latin typeface="Arial"/>
              <a:ea typeface="ＭＳ Ｐゴシック"/>
              <a:cs typeface="ＭＳ Ｐゴシック"/>
            </a:endParaRPr>
          </a:p>
          <a:p>
            <a:pPr algn="r" defTabSz="914400"/>
            <a:endParaRPr lang="en-US" sz="1100" dirty="0">
              <a:solidFill>
                <a:prstClr val="black"/>
              </a:solidFill>
              <a:latin typeface="Arial"/>
              <a:ea typeface="ＭＳ Ｐゴシック"/>
              <a:cs typeface="ＭＳ Ｐゴシック"/>
            </a:endParaRPr>
          </a:p>
          <a:p>
            <a:pPr algn="r" defTabSz="914400" eaLnBrk="0" hangingPunct="0">
              <a:lnSpc>
                <a:spcPts val="1800"/>
              </a:lnSpc>
            </a:pPr>
            <a:endParaRPr lang="en-US" sz="1100" b="1" dirty="0" smtClean="0">
              <a:solidFill>
                <a:prstClr val="black"/>
              </a:solidFill>
              <a:latin typeface="Arial"/>
              <a:ea typeface="ＭＳ Ｐゴシック"/>
              <a:cs typeface="ＭＳ Ｐゴシック"/>
            </a:endParaRPr>
          </a:p>
        </p:txBody>
      </p:sp>
      <p:sp>
        <p:nvSpPr>
          <p:cNvPr id="163" name="TextBox 162"/>
          <p:cNvSpPr txBox="1"/>
          <p:nvPr/>
        </p:nvSpPr>
        <p:spPr>
          <a:xfrm>
            <a:off x="125899" y="1086886"/>
            <a:ext cx="1542460" cy="563435"/>
          </a:xfrm>
          <a:prstGeom prst="rect">
            <a:avLst/>
          </a:prstGeom>
          <a:noFill/>
          <a:effectLst/>
        </p:spPr>
        <p:txBody>
          <a:bodyPr wrap="square" lIns="0" tIns="0" rIns="0" bIns="0" rtlCol="0">
            <a:noAutofit/>
          </a:bodyPr>
          <a:lstStyle/>
          <a:p>
            <a:pPr defTabSz="914400" eaLnBrk="0" hangingPunct="0">
              <a:lnSpc>
                <a:spcPts val="1800"/>
              </a:lnSpc>
            </a:pPr>
            <a:r>
              <a:rPr lang="en-US" sz="1400" i="1" dirty="0" smtClean="0">
                <a:solidFill>
                  <a:prstClr val="black"/>
                </a:solidFill>
                <a:latin typeface="Candara"/>
                <a:ea typeface="ＭＳ Ｐゴシック"/>
                <a:cs typeface="Candara"/>
              </a:rPr>
              <a:t>(WaterML2 Part 1)</a:t>
            </a:r>
          </a:p>
        </p:txBody>
      </p:sp>
    </p:spTree>
    <p:extLst>
      <p:ext uri="{BB962C8B-B14F-4D97-AF65-F5344CB8AC3E}">
        <p14:creationId xmlns:p14="http://schemas.microsoft.com/office/powerpoint/2010/main" val="3402784764"/>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tream discharge measurement.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535942" y="245529"/>
            <a:ext cx="4608058" cy="3012305"/>
          </a:xfrm>
          <a:prstGeom prst="rect">
            <a:avLst/>
          </a:prstGeom>
        </p:spPr>
      </p:pic>
      <p:pic>
        <p:nvPicPr>
          <p:cNvPr id="2" name="Picture 1" descr="stream rating curve.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535942" y="3251200"/>
            <a:ext cx="4608057" cy="2444290"/>
          </a:xfrm>
          <a:prstGeom prst="rect">
            <a:avLst/>
          </a:prstGeom>
        </p:spPr>
      </p:pic>
      <p:sp>
        <p:nvSpPr>
          <p:cNvPr id="180" name="Right Arrow 179"/>
          <p:cNvSpPr/>
          <p:nvPr/>
        </p:nvSpPr>
        <p:spPr bwMode="auto">
          <a:xfrm rot="20253305">
            <a:off x="3636528" y="2469660"/>
            <a:ext cx="2044774" cy="461796"/>
          </a:xfrm>
          <a:prstGeom prst="rightArrow">
            <a:avLst/>
          </a:prstGeom>
          <a:gradFill flip="none" rotWithShape="1">
            <a:gsLst>
              <a:gs pos="66000">
                <a:schemeClr val="tx2">
                  <a:lumMod val="25000"/>
                  <a:lumOff val="75000"/>
                </a:schemeClr>
              </a:gs>
              <a:gs pos="100000">
                <a:srgbClr val="FFFFFF"/>
              </a:gs>
            </a:gsLst>
            <a:lin ang="0" scaled="1"/>
            <a:tileRect/>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r>
              <a:rPr lang="en-US" sz="1400" b="1" dirty="0" smtClean="0">
                <a:solidFill>
                  <a:srgbClr val="000000"/>
                </a:solidFill>
                <a:latin typeface="Arial" charset="0"/>
                <a:ea typeface="ＭＳ Ｐゴシック" pitchFamily="16" charset="-128"/>
                <a:cs typeface="ＭＳ Ｐゴシック" pitchFamily="-97" charset="-128"/>
              </a:rPr>
              <a:t>(Stage, Discharge) pair</a:t>
            </a:r>
            <a:endParaRPr lang="en-US" sz="1400" b="1" dirty="0">
              <a:solidFill>
                <a:srgbClr val="000000"/>
              </a:solidFill>
              <a:latin typeface="Arial" charset="0"/>
              <a:ea typeface="ＭＳ Ｐゴシック" pitchFamily="16" charset="-128"/>
              <a:cs typeface="ＭＳ Ｐゴシック" pitchFamily="-97" charset="-128"/>
            </a:endParaRPr>
          </a:p>
        </p:txBody>
      </p:sp>
      <p:grpSp>
        <p:nvGrpSpPr>
          <p:cNvPr id="12" name="Group 11"/>
          <p:cNvGrpSpPr/>
          <p:nvPr/>
        </p:nvGrpSpPr>
        <p:grpSpPr>
          <a:xfrm>
            <a:off x="432273" y="1335705"/>
            <a:ext cx="3337570" cy="3913188"/>
            <a:chOff x="432273" y="1335705"/>
            <a:chExt cx="3337570" cy="3913188"/>
          </a:xfrm>
        </p:grpSpPr>
        <p:grpSp>
          <p:nvGrpSpPr>
            <p:cNvPr id="9" name="Group 8"/>
            <p:cNvGrpSpPr/>
            <p:nvPr/>
          </p:nvGrpSpPr>
          <p:grpSpPr>
            <a:xfrm>
              <a:off x="2332511" y="2886693"/>
              <a:ext cx="1437332" cy="514350"/>
              <a:chOff x="2332511" y="2886693"/>
              <a:chExt cx="1437332" cy="514350"/>
            </a:xfrm>
          </p:grpSpPr>
          <p:sp>
            <p:nvSpPr>
              <p:cNvPr id="313" name="Rectangle 63"/>
              <p:cNvSpPr>
                <a:spLocks noChangeArrowheads="1"/>
              </p:cNvSpPr>
              <p:nvPr/>
            </p:nvSpPr>
            <p:spPr bwMode="auto">
              <a:xfrm>
                <a:off x="2332511" y="2886693"/>
                <a:ext cx="1280918" cy="514350"/>
              </a:xfrm>
              <a:prstGeom prst="rect">
                <a:avLst/>
              </a:prstGeom>
              <a:gradFill flip="none" rotWithShape="1">
                <a:gsLst>
                  <a:gs pos="100000">
                    <a:srgbClr val="FFFFFF"/>
                  </a:gs>
                  <a:gs pos="98000">
                    <a:schemeClr val="tx2">
                      <a:lumMod val="25000"/>
                      <a:lumOff val="75000"/>
                    </a:schemeClr>
                  </a:gs>
                  <a:gs pos="99000">
                    <a:schemeClr val="tx2">
                      <a:lumMod val="10000"/>
                      <a:lumOff val="90000"/>
                    </a:schemeClr>
                  </a:gs>
                </a:gsLst>
                <a:lin ang="0" scaled="1"/>
                <a:tileRect/>
              </a:grad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14" name="Rectangle 64"/>
              <p:cNvSpPr>
                <a:spLocks noChangeArrowheads="1"/>
              </p:cNvSpPr>
              <p:nvPr/>
            </p:nvSpPr>
            <p:spPr bwMode="auto">
              <a:xfrm>
                <a:off x="2472643" y="2946763"/>
                <a:ext cx="1297200" cy="153988"/>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dirty="0">
                    <a:solidFill>
                      <a:srgbClr val="000000"/>
                    </a:solidFill>
                    <a:latin typeface="Arial" pitchFamily="34" charset="0"/>
                    <a:ea typeface="ＭＳ Ｐゴシック"/>
                    <a:cs typeface="ＭＳ Ｐゴシック"/>
                  </a:rPr>
                  <a:t>GF_PropertyType</a:t>
                </a:r>
                <a:endParaRPr lang="en-US" dirty="0">
                  <a:solidFill>
                    <a:srgbClr val="000000"/>
                  </a:solidFill>
                  <a:latin typeface="Arial" pitchFamily="34" charset="0"/>
                  <a:ea typeface="ＭＳ Ｐゴシック"/>
                  <a:cs typeface="ＭＳ Ｐゴシック"/>
                </a:endParaRPr>
              </a:p>
            </p:txBody>
          </p:sp>
          <p:sp>
            <p:nvSpPr>
              <p:cNvPr id="315" name="Line 65"/>
              <p:cNvSpPr>
                <a:spLocks noChangeShapeType="1"/>
              </p:cNvSpPr>
              <p:nvPr/>
            </p:nvSpPr>
            <p:spPr bwMode="auto">
              <a:xfrm>
                <a:off x="2332511" y="3172443"/>
                <a:ext cx="1280918"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grpSp>
          <p:nvGrpSpPr>
            <p:cNvPr id="11" name="Group 10"/>
            <p:cNvGrpSpPr/>
            <p:nvPr/>
          </p:nvGrpSpPr>
          <p:grpSpPr>
            <a:xfrm>
              <a:off x="432273" y="1335705"/>
              <a:ext cx="3223580" cy="3913188"/>
              <a:chOff x="432273" y="1335705"/>
              <a:chExt cx="3223580" cy="3913188"/>
            </a:xfrm>
          </p:grpSpPr>
          <p:grpSp>
            <p:nvGrpSpPr>
              <p:cNvPr id="176" name="Group 271"/>
              <p:cNvGrpSpPr>
                <a:grpSpLocks/>
              </p:cNvGrpSpPr>
              <p:nvPr/>
            </p:nvGrpSpPr>
            <p:grpSpPr bwMode="auto">
              <a:xfrm>
                <a:off x="432273" y="2848593"/>
                <a:ext cx="1574800" cy="1152525"/>
                <a:chOff x="3464" y="2111"/>
                <a:chExt cx="1074" cy="726"/>
              </a:xfrm>
            </p:grpSpPr>
            <p:sp>
              <p:nvSpPr>
                <p:cNvPr id="316" name="Rectangle 12"/>
                <p:cNvSpPr>
                  <a:spLocks noChangeArrowheads="1"/>
                </p:cNvSpPr>
                <p:nvPr/>
              </p:nvSpPr>
              <p:spPr bwMode="auto">
                <a:xfrm>
                  <a:off x="3482" y="2129"/>
                  <a:ext cx="1056" cy="708"/>
                </a:xfrm>
                <a:prstGeom prst="rect">
                  <a:avLst/>
                </a:prstGeom>
                <a:solidFill>
                  <a:srgbClr val="C0BF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17" name="Rectangle 13"/>
                <p:cNvSpPr>
                  <a:spLocks noChangeArrowheads="1"/>
                </p:cNvSpPr>
                <p:nvPr/>
              </p:nvSpPr>
              <p:spPr bwMode="auto">
                <a:xfrm>
                  <a:off x="3464" y="2111"/>
                  <a:ext cx="36" cy="708"/>
                </a:xfrm>
                <a:prstGeom prst="rect">
                  <a:avLst/>
                </a:prstGeom>
                <a:solidFill>
                  <a:srgbClr val="E8CDC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18" name="Rectangle 14"/>
                <p:cNvSpPr>
                  <a:spLocks noChangeArrowheads="1"/>
                </p:cNvSpPr>
                <p:nvPr/>
              </p:nvSpPr>
              <p:spPr bwMode="auto">
                <a:xfrm>
                  <a:off x="3500" y="2111"/>
                  <a:ext cx="42" cy="708"/>
                </a:xfrm>
                <a:prstGeom prst="rect">
                  <a:avLst/>
                </a:prstGeom>
                <a:solidFill>
                  <a:srgbClr val="EACFC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19" name="Rectangle 15"/>
                <p:cNvSpPr>
                  <a:spLocks noChangeArrowheads="1"/>
                </p:cNvSpPr>
                <p:nvPr/>
              </p:nvSpPr>
              <p:spPr bwMode="auto">
                <a:xfrm>
                  <a:off x="3542" y="2111"/>
                  <a:ext cx="48" cy="708"/>
                </a:xfrm>
                <a:prstGeom prst="rect">
                  <a:avLst/>
                </a:prstGeom>
                <a:solidFill>
                  <a:srgbClr val="ECD1C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0" name="Rectangle 16"/>
                <p:cNvSpPr>
                  <a:spLocks noChangeArrowheads="1"/>
                </p:cNvSpPr>
                <p:nvPr/>
              </p:nvSpPr>
              <p:spPr bwMode="auto">
                <a:xfrm>
                  <a:off x="3590" y="2111"/>
                  <a:ext cx="42" cy="708"/>
                </a:xfrm>
                <a:prstGeom prst="rect">
                  <a:avLst/>
                </a:prstGeom>
                <a:solidFill>
                  <a:srgbClr val="EED3D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1" name="Rectangle 17"/>
                <p:cNvSpPr>
                  <a:spLocks noChangeArrowheads="1"/>
                </p:cNvSpPr>
                <p:nvPr/>
              </p:nvSpPr>
              <p:spPr bwMode="auto">
                <a:xfrm>
                  <a:off x="3632" y="2111"/>
                  <a:ext cx="42" cy="708"/>
                </a:xfrm>
                <a:prstGeom prst="rect">
                  <a:avLst/>
                </a:prstGeom>
                <a:solidFill>
                  <a:srgbClr val="F0D5D2"/>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2" name="Rectangle 18"/>
                <p:cNvSpPr>
                  <a:spLocks noChangeArrowheads="1"/>
                </p:cNvSpPr>
                <p:nvPr/>
              </p:nvSpPr>
              <p:spPr bwMode="auto">
                <a:xfrm>
                  <a:off x="3674" y="2111"/>
                  <a:ext cx="48" cy="708"/>
                </a:xfrm>
                <a:prstGeom prst="rect">
                  <a:avLst/>
                </a:prstGeom>
                <a:solidFill>
                  <a:srgbClr val="F2D7D4"/>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3" name="Rectangle 19"/>
                <p:cNvSpPr>
                  <a:spLocks noChangeArrowheads="1"/>
                </p:cNvSpPr>
                <p:nvPr/>
              </p:nvSpPr>
              <p:spPr bwMode="auto">
                <a:xfrm>
                  <a:off x="3722" y="2111"/>
                  <a:ext cx="60" cy="708"/>
                </a:xfrm>
                <a:prstGeom prst="rect">
                  <a:avLst/>
                </a:prstGeom>
                <a:solidFill>
                  <a:srgbClr val="F4D9D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4" name="Rectangle 20"/>
                <p:cNvSpPr>
                  <a:spLocks noChangeArrowheads="1"/>
                </p:cNvSpPr>
                <p:nvPr/>
              </p:nvSpPr>
              <p:spPr bwMode="auto">
                <a:xfrm>
                  <a:off x="3782" y="2111"/>
                  <a:ext cx="48" cy="708"/>
                </a:xfrm>
                <a:prstGeom prst="rect">
                  <a:avLst/>
                </a:prstGeom>
                <a:solidFill>
                  <a:srgbClr val="F6DBD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5" name="Rectangle 21"/>
                <p:cNvSpPr>
                  <a:spLocks noChangeArrowheads="1"/>
                </p:cNvSpPr>
                <p:nvPr/>
              </p:nvSpPr>
              <p:spPr bwMode="auto">
                <a:xfrm>
                  <a:off x="3830" y="2111"/>
                  <a:ext cx="42" cy="708"/>
                </a:xfrm>
                <a:prstGeom prst="rect">
                  <a:avLst/>
                </a:prstGeom>
                <a:solidFill>
                  <a:srgbClr val="F8DDD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6" name="Rectangle 22"/>
                <p:cNvSpPr>
                  <a:spLocks noChangeArrowheads="1"/>
                </p:cNvSpPr>
                <p:nvPr/>
              </p:nvSpPr>
              <p:spPr bwMode="auto">
                <a:xfrm>
                  <a:off x="3872" y="2111"/>
                  <a:ext cx="48" cy="708"/>
                </a:xfrm>
                <a:prstGeom prst="rect">
                  <a:avLst/>
                </a:prstGeom>
                <a:solidFill>
                  <a:srgbClr val="FADFD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7" name="Rectangle 23"/>
                <p:cNvSpPr>
                  <a:spLocks noChangeArrowheads="1"/>
                </p:cNvSpPr>
                <p:nvPr/>
              </p:nvSpPr>
              <p:spPr bwMode="auto">
                <a:xfrm>
                  <a:off x="3920" y="2111"/>
                  <a:ext cx="42" cy="708"/>
                </a:xfrm>
                <a:prstGeom prst="rect">
                  <a:avLst/>
                </a:prstGeom>
                <a:solidFill>
                  <a:srgbClr val="FCE1D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8" name="Rectangle 24"/>
                <p:cNvSpPr>
                  <a:spLocks noChangeArrowheads="1"/>
                </p:cNvSpPr>
                <p:nvPr/>
              </p:nvSpPr>
              <p:spPr bwMode="auto">
                <a:xfrm>
                  <a:off x="3962" y="2111"/>
                  <a:ext cx="558" cy="708"/>
                </a:xfrm>
                <a:prstGeom prst="rect">
                  <a:avLst/>
                </a:prstGeom>
                <a:solidFill>
                  <a:srgbClr val="FFE4E1"/>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9" name="Rectangle 25"/>
                <p:cNvSpPr>
                  <a:spLocks noChangeArrowheads="1"/>
                </p:cNvSpPr>
                <p:nvPr/>
              </p:nvSpPr>
              <p:spPr bwMode="auto">
                <a:xfrm>
                  <a:off x="3464" y="2111"/>
                  <a:ext cx="1056" cy="708"/>
                </a:xfrm>
                <a:prstGeom prst="rect">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30" name="Rectangle 26"/>
                <p:cNvSpPr>
                  <a:spLocks noChangeArrowheads="1"/>
                </p:cNvSpPr>
                <p:nvPr/>
              </p:nvSpPr>
              <p:spPr bwMode="auto">
                <a:xfrm>
                  <a:off x="3704" y="2165"/>
                  <a:ext cx="659"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000000"/>
                      </a:solidFill>
                      <a:latin typeface="Arial" pitchFamily="34" charset="0"/>
                      <a:ea typeface="ＭＳ Ｐゴシック"/>
                      <a:cs typeface="ＭＳ Ｐゴシック"/>
                    </a:rPr>
                    <a:t>OM_Observation</a:t>
                  </a:r>
                  <a:endParaRPr lang="en-US">
                    <a:solidFill>
                      <a:srgbClr val="000000"/>
                    </a:solidFill>
                    <a:latin typeface="Arial" pitchFamily="34" charset="0"/>
                    <a:ea typeface="ＭＳ Ｐゴシック"/>
                    <a:cs typeface="ＭＳ Ｐゴシック"/>
                  </a:endParaRPr>
                </a:p>
              </p:txBody>
            </p:sp>
            <p:sp>
              <p:nvSpPr>
                <p:cNvPr id="331" name="Line 27"/>
                <p:cNvSpPr>
                  <a:spLocks noChangeShapeType="1"/>
                </p:cNvSpPr>
                <p:nvPr/>
              </p:nvSpPr>
              <p:spPr bwMode="auto">
                <a:xfrm>
                  <a:off x="3464" y="2291"/>
                  <a:ext cx="1056"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332" name="Rectangle 28"/>
                <p:cNvSpPr>
                  <a:spLocks noChangeArrowheads="1"/>
                </p:cNvSpPr>
                <p:nvPr/>
              </p:nvSpPr>
              <p:spPr bwMode="auto">
                <a:xfrm>
                  <a:off x="3494" y="2315"/>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3" name="Rectangle 29"/>
                <p:cNvSpPr>
                  <a:spLocks noChangeArrowheads="1"/>
                </p:cNvSpPr>
                <p:nvPr/>
              </p:nvSpPr>
              <p:spPr bwMode="auto">
                <a:xfrm>
                  <a:off x="3620" y="2315"/>
                  <a:ext cx="701"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dirty="0" err="1">
                      <a:solidFill>
                        <a:srgbClr val="8B0000"/>
                      </a:solidFill>
                      <a:latin typeface="Arial" pitchFamily="34" charset="0"/>
                      <a:ea typeface="ＭＳ Ｐゴシック"/>
                      <a:cs typeface="ＭＳ Ｐゴシック"/>
                    </a:rPr>
                    <a:t>phenomenonTime</a:t>
                  </a:r>
                  <a:endParaRPr lang="en-US" dirty="0">
                    <a:solidFill>
                      <a:srgbClr val="000000"/>
                    </a:solidFill>
                    <a:latin typeface="Arial" pitchFamily="34" charset="0"/>
                    <a:ea typeface="ＭＳ Ｐゴシック"/>
                    <a:cs typeface="ＭＳ Ｐゴシック"/>
                  </a:endParaRPr>
                </a:p>
              </p:txBody>
            </p:sp>
            <p:sp>
              <p:nvSpPr>
                <p:cNvPr id="334" name="Rectangle 30"/>
                <p:cNvSpPr>
                  <a:spLocks noChangeArrowheads="1"/>
                </p:cNvSpPr>
                <p:nvPr/>
              </p:nvSpPr>
              <p:spPr bwMode="auto">
                <a:xfrm>
                  <a:off x="3494" y="2411"/>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5" name="Rectangle 31"/>
                <p:cNvSpPr>
                  <a:spLocks noChangeArrowheads="1"/>
                </p:cNvSpPr>
                <p:nvPr/>
              </p:nvSpPr>
              <p:spPr bwMode="auto">
                <a:xfrm>
                  <a:off x="3620" y="2411"/>
                  <a:ext cx="408"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dirty="0">
                      <a:solidFill>
                        <a:srgbClr val="8B0000"/>
                      </a:solidFill>
                      <a:latin typeface="Arial" pitchFamily="34" charset="0"/>
                      <a:ea typeface="ＭＳ Ｐゴシック"/>
                      <a:cs typeface="ＭＳ Ｐゴシック"/>
                    </a:rPr>
                    <a:t>resultTime</a:t>
                  </a:r>
                  <a:endParaRPr lang="en-US" dirty="0">
                    <a:solidFill>
                      <a:srgbClr val="000000"/>
                    </a:solidFill>
                    <a:latin typeface="Arial" pitchFamily="34" charset="0"/>
                    <a:ea typeface="ＭＳ Ｐゴシック"/>
                    <a:cs typeface="ＭＳ Ｐゴシック"/>
                  </a:endParaRPr>
                </a:p>
              </p:txBody>
            </p:sp>
            <p:sp>
              <p:nvSpPr>
                <p:cNvPr id="336" name="Rectangle 32"/>
                <p:cNvSpPr>
                  <a:spLocks noChangeArrowheads="1"/>
                </p:cNvSpPr>
                <p:nvPr/>
              </p:nvSpPr>
              <p:spPr bwMode="auto">
                <a:xfrm>
                  <a:off x="3494" y="2507"/>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7" name="Rectangle 33"/>
                <p:cNvSpPr>
                  <a:spLocks noChangeArrowheads="1"/>
                </p:cNvSpPr>
                <p:nvPr/>
              </p:nvSpPr>
              <p:spPr bwMode="auto">
                <a:xfrm>
                  <a:off x="3620" y="2507"/>
                  <a:ext cx="591"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validTime [0..1]</a:t>
                  </a:r>
                  <a:endParaRPr lang="en-US">
                    <a:solidFill>
                      <a:srgbClr val="000000"/>
                    </a:solidFill>
                    <a:latin typeface="Arial" pitchFamily="34" charset="0"/>
                    <a:ea typeface="ＭＳ Ｐゴシック"/>
                    <a:cs typeface="ＭＳ Ｐゴシック"/>
                  </a:endParaRPr>
                </a:p>
              </p:txBody>
            </p:sp>
            <p:sp>
              <p:nvSpPr>
                <p:cNvPr id="338" name="Rectangle 34"/>
                <p:cNvSpPr>
                  <a:spLocks noChangeArrowheads="1"/>
                </p:cNvSpPr>
                <p:nvPr/>
              </p:nvSpPr>
              <p:spPr bwMode="auto">
                <a:xfrm>
                  <a:off x="3494" y="2603"/>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9" name="Rectangle 35"/>
                <p:cNvSpPr>
                  <a:spLocks noChangeArrowheads="1"/>
                </p:cNvSpPr>
                <p:nvPr/>
              </p:nvSpPr>
              <p:spPr bwMode="auto">
                <a:xfrm>
                  <a:off x="3620" y="2603"/>
                  <a:ext cx="687"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resultQuality [0..*]</a:t>
                  </a:r>
                  <a:endParaRPr lang="en-US">
                    <a:solidFill>
                      <a:srgbClr val="000000"/>
                    </a:solidFill>
                    <a:latin typeface="Arial" pitchFamily="34" charset="0"/>
                    <a:ea typeface="ＭＳ Ｐゴシック"/>
                    <a:cs typeface="ＭＳ Ｐゴシック"/>
                  </a:endParaRPr>
                </a:p>
              </p:txBody>
            </p:sp>
            <p:sp>
              <p:nvSpPr>
                <p:cNvPr id="340" name="Rectangle 36"/>
                <p:cNvSpPr>
                  <a:spLocks noChangeArrowheads="1"/>
                </p:cNvSpPr>
                <p:nvPr/>
              </p:nvSpPr>
              <p:spPr bwMode="auto">
                <a:xfrm>
                  <a:off x="3494" y="2699"/>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41" name="Rectangle 37"/>
                <p:cNvSpPr>
                  <a:spLocks noChangeArrowheads="1"/>
                </p:cNvSpPr>
                <p:nvPr/>
              </p:nvSpPr>
              <p:spPr bwMode="auto">
                <a:xfrm>
                  <a:off x="3620" y="2699"/>
                  <a:ext cx="599"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parameter [0..*]</a:t>
                  </a:r>
                  <a:endParaRPr lang="en-US">
                    <a:solidFill>
                      <a:srgbClr val="000000"/>
                    </a:solidFill>
                    <a:latin typeface="Arial" pitchFamily="34" charset="0"/>
                    <a:ea typeface="ＭＳ Ｐゴシック"/>
                    <a:cs typeface="ＭＳ Ｐゴシック"/>
                  </a:endParaRPr>
                </a:p>
              </p:txBody>
            </p:sp>
          </p:grpSp>
          <p:grpSp>
            <p:nvGrpSpPr>
              <p:cNvPr id="178" name="Group 264"/>
              <p:cNvGrpSpPr>
                <a:grpSpLocks/>
              </p:cNvGrpSpPr>
              <p:nvPr/>
            </p:nvGrpSpPr>
            <p:grpSpPr bwMode="auto">
              <a:xfrm>
                <a:off x="2192811" y="1335705"/>
                <a:ext cx="1066800" cy="542925"/>
                <a:chOff x="1790" y="2225"/>
                <a:chExt cx="606" cy="342"/>
              </a:xfrm>
            </p:grpSpPr>
            <p:sp>
              <p:nvSpPr>
                <p:cNvPr id="260" name="Rectangle 66"/>
                <p:cNvSpPr>
                  <a:spLocks noChangeArrowheads="1"/>
                </p:cNvSpPr>
                <p:nvPr/>
              </p:nvSpPr>
              <p:spPr bwMode="auto">
                <a:xfrm>
                  <a:off x="1808" y="2243"/>
                  <a:ext cx="588" cy="324"/>
                </a:xfrm>
                <a:prstGeom prst="rect">
                  <a:avLst/>
                </a:prstGeom>
                <a:solidFill>
                  <a:srgbClr val="C0BF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1" name="Rectangle 67"/>
                <p:cNvSpPr>
                  <a:spLocks noChangeArrowheads="1"/>
                </p:cNvSpPr>
                <p:nvPr/>
              </p:nvSpPr>
              <p:spPr bwMode="auto">
                <a:xfrm>
                  <a:off x="1790" y="2225"/>
                  <a:ext cx="12" cy="324"/>
                </a:xfrm>
                <a:prstGeom prst="rect">
                  <a:avLst/>
                </a:prstGeom>
                <a:solidFill>
                  <a:srgbClr val="E8E8C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2" name="Rectangle 68"/>
                <p:cNvSpPr>
                  <a:spLocks noChangeArrowheads="1"/>
                </p:cNvSpPr>
                <p:nvPr/>
              </p:nvSpPr>
              <p:spPr bwMode="auto">
                <a:xfrm>
                  <a:off x="1802" y="2225"/>
                  <a:ext cx="12" cy="324"/>
                </a:xfrm>
                <a:prstGeom prst="rect">
                  <a:avLst/>
                </a:prstGeom>
                <a:solidFill>
                  <a:srgbClr val="E9E9C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3" name="Rectangle 69"/>
                <p:cNvSpPr>
                  <a:spLocks noChangeArrowheads="1"/>
                </p:cNvSpPr>
                <p:nvPr/>
              </p:nvSpPr>
              <p:spPr bwMode="auto">
                <a:xfrm>
                  <a:off x="1814" y="2225"/>
                  <a:ext cx="12" cy="324"/>
                </a:xfrm>
                <a:prstGeom prst="rect">
                  <a:avLst/>
                </a:prstGeom>
                <a:solidFill>
                  <a:srgbClr val="EAEAC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4" name="Rectangle 70"/>
                <p:cNvSpPr>
                  <a:spLocks noChangeArrowheads="1"/>
                </p:cNvSpPr>
                <p:nvPr/>
              </p:nvSpPr>
              <p:spPr bwMode="auto">
                <a:xfrm>
                  <a:off x="1826" y="2225"/>
                  <a:ext cx="12" cy="324"/>
                </a:xfrm>
                <a:prstGeom prst="rect">
                  <a:avLst/>
                </a:prstGeom>
                <a:solidFill>
                  <a:srgbClr val="EBEBC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5" name="Rectangle 71"/>
                <p:cNvSpPr>
                  <a:spLocks noChangeArrowheads="1"/>
                </p:cNvSpPr>
                <p:nvPr/>
              </p:nvSpPr>
              <p:spPr bwMode="auto">
                <a:xfrm>
                  <a:off x="1838" y="2225"/>
                  <a:ext cx="12" cy="324"/>
                </a:xfrm>
                <a:prstGeom prst="rect">
                  <a:avLst/>
                </a:prstGeom>
                <a:solidFill>
                  <a:srgbClr val="ECECC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6" name="Rectangle 72"/>
                <p:cNvSpPr>
                  <a:spLocks noChangeArrowheads="1"/>
                </p:cNvSpPr>
                <p:nvPr/>
              </p:nvSpPr>
              <p:spPr bwMode="auto">
                <a:xfrm>
                  <a:off x="1850" y="2225"/>
                  <a:ext cx="12" cy="324"/>
                </a:xfrm>
                <a:prstGeom prst="rect">
                  <a:avLst/>
                </a:prstGeom>
                <a:solidFill>
                  <a:srgbClr val="EDEDC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7" name="Rectangle 73"/>
                <p:cNvSpPr>
                  <a:spLocks noChangeArrowheads="1"/>
                </p:cNvSpPr>
                <p:nvPr/>
              </p:nvSpPr>
              <p:spPr bwMode="auto">
                <a:xfrm>
                  <a:off x="1862" y="2225"/>
                  <a:ext cx="12" cy="324"/>
                </a:xfrm>
                <a:prstGeom prst="rect">
                  <a:avLst/>
                </a:prstGeom>
                <a:solidFill>
                  <a:srgbClr val="EEEEC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8" name="Rectangle 74"/>
                <p:cNvSpPr>
                  <a:spLocks noChangeArrowheads="1"/>
                </p:cNvSpPr>
                <p:nvPr/>
              </p:nvSpPr>
              <p:spPr bwMode="auto">
                <a:xfrm>
                  <a:off x="1874" y="2225"/>
                  <a:ext cx="12" cy="324"/>
                </a:xfrm>
                <a:prstGeom prst="rect">
                  <a:avLst/>
                </a:prstGeom>
                <a:solidFill>
                  <a:srgbClr val="EFEFD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9" name="Rectangle 75"/>
                <p:cNvSpPr>
                  <a:spLocks noChangeArrowheads="1"/>
                </p:cNvSpPr>
                <p:nvPr/>
              </p:nvSpPr>
              <p:spPr bwMode="auto">
                <a:xfrm>
                  <a:off x="1886" y="2225"/>
                  <a:ext cx="12" cy="324"/>
                </a:xfrm>
                <a:prstGeom prst="rect">
                  <a:avLst/>
                </a:prstGeom>
                <a:solidFill>
                  <a:srgbClr val="F0F0D1"/>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0" name="Rectangle 76"/>
                <p:cNvSpPr>
                  <a:spLocks noChangeArrowheads="1"/>
                </p:cNvSpPr>
                <p:nvPr/>
              </p:nvSpPr>
              <p:spPr bwMode="auto">
                <a:xfrm>
                  <a:off x="1898" y="2225"/>
                  <a:ext cx="12" cy="324"/>
                </a:xfrm>
                <a:prstGeom prst="rect">
                  <a:avLst/>
                </a:prstGeom>
                <a:solidFill>
                  <a:srgbClr val="F1F1D2"/>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1" name="Rectangle 77"/>
                <p:cNvSpPr>
                  <a:spLocks noChangeArrowheads="1"/>
                </p:cNvSpPr>
                <p:nvPr/>
              </p:nvSpPr>
              <p:spPr bwMode="auto">
                <a:xfrm>
                  <a:off x="1910" y="2225"/>
                  <a:ext cx="12" cy="324"/>
                </a:xfrm>
                <a:prstGeom prst="rect">
                  <a:avLst/>
                </a:prstGeom>
                <a:solidFill>
                  <a:srgbClr val="F2F2D3"/>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2" name="Rectangle 78"/>
                <p:cNvSpPr>
                  <a:spLocks noChangeArrowheads="1"/>
                </p:cNvSpPr>
                <p:nvPr/>
              </p:nvSpPr>
              <p:spPr bwMode="auto">
                <a:xfrm>
                  <a:off x="1922" y="2225"/>
                  <a:ext cx="12" cy="324"/>
                </a:xfrm>
                <a:prstGeom prst="rect">
                  <a:avLst/>
                </a:prstGeom>
                <a:solidFill>
                  <a:srgbClr val="F3F3D4"/>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3" name="Rectangle 79"/>
                <p:cNvSpPr>
                  <a:spLocks noChangeArrowheads="1"/>
                </p:cNvSpPr>
                <p:nvPr/>
              </p:nvSpPr>
              <p:spPr bwMode="auto">
                <a:xfrm>
                  <a:off x="1934" y="2225"/>
                  <a:ext cx="18" cy="324"/>
                </a:xfrm>
                <a:prstGeom prst="rect">
                  <a:avLst/>
                </a:prstGeom>
                <a:solidFill>
                  <a:srgbClr val="F4F4D5"/>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4" name="Rectangle 80"/>
                <p:cNvSpPr>
                  <a:spLocks noChangeArrowheads="1"/>
                </p:cNvSpPr>
                <p:nvPr/>
              </p:nvSpPr>
              <p:spPr bwMode="auto">
                <a:xfrm>
                  <a:off x="1952" y="2225"/>
                  <a:ext cx="18" cy="324"/>
                </a:xfrm>
                <a:prstGeom prst="rect">
                  <a:avLst/>
                </a:prstGeom>
                <a:solidFill>
                  <a:srgbClr val="F5F5D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5" name="Rectangle 81"/>
                <p:cNvSpPr>
                  <a:spLocks noChangeArrowheads="1"/>
                </p:cNvSpPr>
                <p:nvPr/>
              </p:nvSpPr>
              <p:spPr bwMode="auto">
                <a:xfrm>
                  <a:off x="1970" y="2225"/>
                  <a:ext cx="12" cy="324"/>
                </a:xfrm>
                <a:prstGeom prst="rect">
                  <a:avLst/>
                </a:prstGeom>
                <a:solidFill>
                  <a:srgbClr val="F6F6D7"/>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6" name="Rectangle 82"/>
                <p:cNvSpPr>
                  <a:spLocks noChangeArrowheads="1"/>
                </p:cNvSpPr>
                <p:nvPr/>
              </p:nvSpPr>
              <p:spPr bwMode="auto">
                <a:xfrm>
                  <a:off x="1982" y="2225"/>
                  <a:ext cx="12" cy="324"/>
                </a:xfrm>
                <a:prstGeom prst="rect">
                  <a:avLst/>
                </a:prstGeom>
                <a:solidFill>
                  <a:srgbClr val="F7F7D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7" name="Rectangle 83"/>
                <p:cNvSpPr>
                  <a:spLocks noChangeArrowheads="1"/>
                </p:cNvSpPr>
                <p:nvPr/>
              </p:nvSpPr>
              <p:spPr bwMode="auto">
                <a:xfrm>
                  <a:off x="1994" y="2225"/>
                  <a:ext cx="12" cy="324"/>
                </a:xfrm>
                <a:prstGeom prst="rect">
                  <a:avLst/>
                </a:prstGeom>
                <a:solidFill>
                  <a:srgbClr val="F8F8D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8" name="Rectangle 84"/>
                <p:cNvSpPr>
                  <a:spLocks noChangeArrowheads="1"/>
                </p:cNvSpPr>
                <p:nvPr/>
              </p:nvSpPr>
              <p:spPr bwMode="auto">
                <a:xfrm>
                  <a:off x="2006" y="2225"/>
                  <a:ext cx="12" cy="324"/>
                </a:xfrm>
                <a:prstGeom prst="rect">
                  <a:avLst/>
                </a:prstGeom>
                <a:solidFill>
                  <a:srgbClr val="F9F9D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9" name="Rectangle 85"/>
                <p:cNvSpPr>
                  <a:spLocks noChangeArrowheads="1"/>
                </p:cNvSpPr>
                <p:nvPr/>
              </p:nvSpPr>
              <p:spPr bwMode="auto">
                <a:xfrm>
                  <a:off x="2018" y="2225"/>
                  <a:ext cx="12" cy="324"/>
                </a:xfrm>
                <a:prstGeom prst="rect">
                  <a:avLst/>
                </a:prstGeom>
                <a:solidFill>
                  <a:srgbClr val="FAFAD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0" name="Rectangle 86"/>
                <p:cNvSpPr>
                  <a:spLocks noChangeArrowheads="1"/>
                </p:cNvSpPr>
                <p:nvPr/>
              </p:nvSpPr>
              <p:spPr bwMode="auto">
                <a:xfrm>
                  <a:off x="2030" y="2225"/>
                  <a:ext cx="12" cy="324"/>
                </a:xfrm>
                <a:prstGeom prst="rect">
                  <a:avLst/>
                </a:prstGeom>
                <a:solidFill>
                  <a:srgbClr val="FBFBD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1" name="Rectangle 87"/>
                <p:cNvSpPr>
                  <a:spLocks noChangeArrowheads="1"/>
                </p:cNvSpPr>
                <p:nvPr/>
              </p:nvSpPr>
              <p:spPr bwMode="auto">
                <a:xfrm>
                  <a:off x="2042" y="2225"/>
                  <a:ext cx="12" cy="324"/>
                </a:xfrm>
                <a:prstGeom prst="rect">
                  <a:avLst/>
                </a:prstGeom>
                <a:solidFill>
                  <a:srgbClr val="FCFCD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2" name="Rectangle 88"/>
                <p:cNvSpPr>
                  <a:spLocks noChangeArrowheads="1"/>
                </p:cNvSpPr>
                <p:nvPr/>
              </p:nvSpPr>
              <p:spPr bwMode="auto">
                <a:xfrm>
                  <a:off x="2054" y="2225"/>
                  <a:ext cx="12" cy="324"/>
                </a:xfrm>
                <a:prstGeom prst="rect">
                  <a:avLst/>
                </a:prstGeom>
                <a:solidFill>
                  <a:srgbClr val="FDFDD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3" name="Rectangle 89"/>
                <p:cNvSpPr>
                  <a:spLocks noChangeArrowheads="1"/>
                </p:cNvSpPr>
                <p:nvPr/>
              </p:nvSpPr>
              <p:spPr bwMode="auto">
                <a:xfrm>
                  <a:off x="2066" y="2225"/>
                  <a:ext cx="12" cy="324"/>
                </a:xfrm>
                <a:prstGeom prst="rect">
                  <a:avLst/>
                </a:prstGeom>
                <a:solidFill>
                  <a:srgbClr val="FEFED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4" name="Rectangle 90"/>
                <p:cNvSpPr>
                  <a:spLocks noChangeArrowheads="1"/>
                </p:cNvSpPr>
                <p:nvPr/>
              </p:nvSpPr>
              <p:spPr bwMode="auto">
                <a:xfrm>
                  <a:off x="2078" y="2225"/>
                  <a:ext cx="300" cy="324"/>
                </a:xfrm>
                <a:prstGeom prst="rect">
                  <a:avLst/>
                </a:prstGeom>
                <a:solidFill>
                  <a:srgbClr val="FFFFE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5" name="Rectangle 91"/>
                <p:cNvSpPr>
                  <a:spLocks noChangeArrowheads="1"/>
                </p:cNvSpPr>
                <p:nvPr/>
              </p:nvSpPr>
              <p:spPr bwMode="auto">
                <a:xfrm>
                  <a:off x="1790" y="2225"/>
                  <a:ext cx="588" cy="324"/>
                </a:xfrm>
                <a:prstGeom prst="rect">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6" name="Rectangle 92"/>
                <p:cNvSpPr>
                  <a:spLocks noChangeArrowheads="1"/>
                </p:cNvSpPr>
                <p:nvPr/>
              </p:nvSpPr>
              <p:spPr bwMode="auto">
                <a:xfrm>
                  <a:off x="1868" y="2279"/>
                  <a:ext cx="493"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000000"/>
                      </a:solidFill>
                      <a:latin typeface="Arial" pitchFamily="34" charset="0"/>
                      <a:ea typeface="ＭＳ Ｐゴシック"/>
                      <a:cs typeface="ＭＳ Ｐゴシック"/>
                    </a:rPr>
                    <a:t>GFI_Feature</a:t>
                  </a:r>
                  <a:endParaRPr lang="en-US">
                    <a:solidFill>
                      <a:srgbClr val="000000"/>
                    </a:solidFill>
                    <a:latin typeface="Arial" pitchFamily="34" charset="0"/>
                    <a:ea typeface="ＭＳ Ｐゴシック"/>
                    <a:cs typeface="ＭＳ Ｐゴシック"/>
                  </a:endParaRPr>
                </a:p>
              </p:txBody>
            </p:sp>
            <p:sp>
              <p:nvSpPr>
                <p:cNvPr id="287" name="Line 93"/>
                <p:cNvSpPr>
                  <a:spLocks noChangeShapeType="1"/>
                </p:cNvSpPr>
                <p:nvPr/>
              </p:nvSpPr>
              <p:spPr bwMode="auto">
                <a:xfrm>
                  <a:off x="1790" y="2405"/>
                  <a:ext cx="588"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grpSp>
            <p:nvGrpSpPr>
              <p:cNvPr id="179" name="Group 267"/>
              <p:cNvGrpSpPr>
                <a:grpSpLocks/>
              </p:cNvGrpSpPr>
              <p:nvPr/>
            </p:nvGrpSpPr>
            <p:grpSpPr bwMode="auto">
              <a:xfrm>
                <a:off x="556098" y="4696443"/>
                <a:ext cx="1133475" cy="542925"/>
                <a:chOff x="3548" y="3275"/>
                <a:chExt cx="594" cy="342"/>
              </a:xfrm>
            </p:grpSpPr>
            <p:sp>
              <p:nvSpPr>
                <p:cNvPr id="232" name="Rectangle 94"/>
                <p:cNvSpPr>
                  <a:spLocks noChangeArrowheads="1"/>
                </p:cNvSpPr>
                <p:nvPr/>
              </p:nvSpPr>
              <p:spPr bwMode="auto">
                <a:xfrm>
                  <a:off x="3566" y="3293"/>
                  <a:ext cx="576" cy="324"/>
                </a:xfrm>
                <a:prstGeom prst="rect">
                  <a:avLst/>
                </a:prstGeom>
                <a:solidFill>
                  <a:srgbClr val="C0BF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3" name="Rectangle 95"/>
                <p:cNvSpPr>
                  <a:spLocks noChangeArrowheads="1"/>
                </p:cNvSpPr>
                <p:nvPr/>
              </p:nvSpPr>
              <p:spPr bwMode="auto">
                <a:xfrm>
                  <a:off x="3548" y="3275"/>
                  <a:ext cx="12" cy="324"/>
                </a:xfrm>
                <a:prstGeom prst="rect">
                  <a:avLst/>
                </a:prstGeom>
                <a:solidFill>
                  <a:srgbClr val="B582E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4" name="Rectangle 96"/>
                <p:cNvSpPr>
                  <a:spLocks noChangeArrowheads="1"/>
                </p:cNvSpPr>
                <p:nvPr/>
              </p:nvSpPr>
              <p:spPr bwMode="auto">
                <a:xfrm>
                  <a:off x="3560" y="3275"/>
                  <a:ext cx="6" cy="324"/>
                </a:xfrm>
                <a:prstGeom prst="rect">
                  <a:avLst/>
                </a:prstGeom>
                <a:solidFill>
                  <a:srgbClr val="B683E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5" name="Rectangle 97"/>
                <p:cNvSpPr>
                  <a:spLocks noChangeArrowheads="1"/>
                </p:cNvSpPr>
                <p:nvPr/>
              </p:nvSpPr>
              <p:spPr bwMode="auto">
                <a:xfrm>
                  <a:off x="3566" y="3275"/>
                  <a:ext cx="18" cy="324"/>
                </a:xfrm>
                <a:prstGeom prst="rect">
                  <a:avLst/>
                </a:prstGeom>
                <a:solidFill>
                  <a:srgbClr val="B784E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6" name="Rectangle 98"/>
                <p:cNvSpPr>
                  <a:spLocks noChangeArrowheads="1"/>
                </p:cNvSpPr>
                <p:nvPr/>
              </p:nvSpPr>
              <p:spPr bwMode="auto">
                <a:xfrm>
                  <a:off x="3584" y="3275"/>
                  <a:ext cx="12" cy="324"/>
                </a:xfrm>
                <a:prstGeom prst="rect">
                  <a:avLst/>
                </a:prstGeom>
                <a:solidFill>
                  <a:srgbClr val="B885E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7" name="Rectangle 99"/>
                <p:cNvSpPr>
                  <a:spLocks noChangeArrowheads="1"/>
                </p:cNvSpPr>
                <p:nvPr/>
              </p:nvSpPr>
              <p:spPr bwMode="auto">
                <a:xfrm>
                  <a:off x="3596" y="3275"/>
                  <a:ext cx="6" cy="324"/>
                </a:xfrm>
                <a:prstGeom prst="rect">
                  <a:avLst/>
                </a:prstGeom>
                <a:solidFill>
                  <a:srgbClr val="B986E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8" name="Rectangle 100"/>
                <p:cNvSpPr>
                  <a:spLocks noChangeArrowheads="1"/>
                </p:cNvSpPr>
                <p:nvPr/>
              </p:nvSpPr>
              <p:spPr bwMode="auto">
                <a:xfrm>
                  <a:off x="3602" y="3275"/>
                  <a:ext cx="18" cy="324"/>
                </a:xfrm>
                <a:prstGeom prst="rect">
                  <a:avLst/>
                </a:prstGeom>
                <a:solidFill>
                  <a:srgbClr val="BA87E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9" name="Rectangle 101"/>
                <p:cNvSpPr>
                  <a:spLocks noChangeArrowheads="1"/>
                </p:cNvSpPr>
                <p:nvPr/>
              </p:nvSpPr>
              <p:spPr bwMode="auto">
                <a:xfrm>
                  <a:off x="3620" y="3275"/>
                  <a:ext cx="12" cy="324"/>
                </a:xfrm>
                <a:prstGeom prst="rect">
                  <a:avLst/>
                </a:prstGeom>
                <a:solidFill>
                  <a:srgbClr val="BB88E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0" name="Rectangle 102"/>
                <p:cNvSpPr>
                  <a:spLocks noChangeArrowheads="1"/>
                </p:cNvSpPr>
                <p:nvPr/>
              </p:nvSpPr>
              <p:spPr bwMode="auto">
                <a:xfrm>
                  <a:off x="3632" y="3275"/>
                  <a:ext cx="6" cy="324"/>
                </a:xfrm>
                <a:prstGeom prst="rect">
                  <a:avLst/>
                </a:prstGeom>
                <a:solidFill>
                  <a:srgbClr val="BC89E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1" name="Rectangle 103"/>
                <p:cNvSpPr>
                  <a:spLocks noChangeArrowheads="1"/>
                </p:cNvSpPr>
                <p:nvPr/>
              </p:nvSpPr>
              <p:spPr bwMode="auto">
                <a:xfrm>
                  <a:off x="3638" y="3275"/>
                  <a:ext cx="18" cy="324"/>
                </a:xfrm>
                <a:prstGeom prst="rect">
                  <a:avLst/>
                </a:prstGeom>
                <a:solidFill>
                  <a:srgbClr val="BD8AF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2" name="Rectangle 104"/>
                <p:cNvSpPr>
                  <a:spLocks noChangeArrowheads="1"/>
                </p:cNvSpPr>
                <p:nvPr/>
              </p:nvSpPr>
              <p:spPr bwMode="auto">
                <a:xfrm>
                  <a:off x="3656" y="3275"/>
                  <a:ext cx="12" cy="324"/>
                </a:xfrm>
                <a:prstGeom prst="rect">
                  <a:avLst/>
                </a:prstGeom>
                <a:solidFill>
                  <a:srgbClr val="BE8BF1"/>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3" name="Rectangle 105"/>
                <p:cNvSpPr>
                  <a:spLocks noChangeArrowheads="1"/>
                </p:cNvSpPr>
                <p:nvPr/>
              </p:nvSpPr>
              <p:spPr bwMode="auto">
                <a:xfrm>
                  <a:off x="3668" y="3275"/>
                  <a:ext cx="6" cy="324"/>
                </a:xfrm>
                <a:prstGeom prst="rect">
                  <a:avLst/>
                </a:prstGeom>
                <a:solidFill>
                  <a:srgbClr val="BF8CF2"/>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4" name="Rectangle 106"/>
                <p:cNvSpPr>
                  <a:spLocks noChangeArrowheads="1"/>
                </p:cNvSpPr>
                <p:nvPr/>
              </p:nvSpPr>
              <p:spPr bwMode="auto">
                <a:xfrm>
                  <a:off x="3674" y="3275"/>
                  <a:ext cx="18" cy="324"/>
                </a:xfrm>
                <a:prstGeom prst="rect">
                  <a:avLst/>
                </a:prstGeom>
                <a:solidFill>
                  <a:srgbClr val="C08DF3"/>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5" name="Rectangle 107"/>
                <p:cNvSpPr>
                  <a:spLocks noChangeArrowheads="1"/>
                </p:cNvSpPr>
                <p:nvPr/>
              </p:nvSpPr>
              <p:spPr bwMode="auto">
                <a:xfrm>
                  <a:off x="3692" y="3275"/>
                  <a:ext cx="12" cy="324"/>
                </a:xfrm>
                <a:prstGeom prst="rect">
                  <a:avLst/>
                </a:prstGeom>
                <a:solidFill>
                  <a:srgbClr val="C18EF4"/>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6" name="Rectangle 108"/>
                <p:cNvSpPr>
                  <a:spLocks noChangeArrowheads="1"/>
                </p:cNvSpPr>
                <p:nvPr/>
              </p:nvSpPr>
              <p:spPr bwMode="auto">
                <a:xfrm>
                  <a:off x="3704" y="3275"/>
                  <a:ext cx="18" cy="324"/>
                </a:xfrm>
                <a:prstGeom prst="rect">
                  <a:avLst/>
                </a:prstGeom>
                <a:solidFill>
                  <a:srgbClr val="C28FF5"/>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7" name="Rectangle 109"/>
                <p:cNvSpPr>
                  <a:spLocks noChangeArrowheads="1"/>
                </p:cNvSpPr>
                <p:nvPr/>
              </p:nvSpPr>
              <p:spPr bwMode="auto">
                <a:xfrm>
                  <a:off x="3722" y="3275"/>
                  <a:ext cx="18" cy="324"/>
                </a:xfrm>
                <a:prstGeom prst="rect">
                  <a:avLst/>
                </a:prstGeom>
                <a:solidFill>
                  <a:srgbClr val="C390F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8" name="Rectangle 110"/>
                <p:cNvSpPr>
                  <a:spLocks noChangeArrowheads="1"/>
                </p:cNvSpPr>
                <p:nvPr/>
              </p:nvSpPr>
              <p:spPr bwMode="auto">
                <a:xfrm>
                  <a:off x="3740" y="3275"/>
                  <a:ext cx="6" cy="324"/>
                </a:xfrm>
                <a:prstGeom prst="rect">
                  <a:avLst/>
                </a:prstGeom>
                <a:solidFill>
                  <a:srgbClr val="C491F7"/>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9" name="Rectangle 111"/>
                <p:cNvSpPr>
                  <a:spLocks noChangeArrowheads="1"/>
                </p:cNvSpPr>
                <p:nvPr/>
              </p:nvSpPr>
              <p:spPr bwMode="auto">
                <a:xfrm>
                  <a:off x="3746" y="3275"/>
                  <a:ext cx="18" cy="324"/>
                </a:xfrm>
                <a:prstGeom prst="rect">
                  <a:avLst/>
                </a:prstGeom>
                <a:solidFill>
                  <a:srgbClr val="C592F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0" name="Rectangle 112"/>
                <p:cNvSpPr>
                  <a:spLocks noChangeArrowheads="1"/>
                </p:cNvSpPr>
                <p:nvPr/>
              </p:nvSpPr>
              <p:spPr bwMode="auto">
                <a:xfrm>
                  <a:off x="3764" y="3275"/>
                  <a:ext cx="12" cy="324"/>
                </a:xfrm>
                <a:prstGeom prst="rect">
                  <a:avLst/>
                </a:prstGeom>
                <a:solidFill>
                  <a:srgbClr val="C693F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1" name="Rectangle 113"/>
                <p:cNvSpPr>
                  <a:spLocks noChangeArrowheads="1"/>
                </p:cNvSpPr>
                <p:nvPr/>
              </p:nvSpPr>
              <p:spPr bwMode="auto">
                <a:xfrm>
                  <a:off x="3776" y="3275"/>
                  <a:ext cx="6" cy="324"/>
                </a:xfrm>
                <a:prstGeom prst="rect">
                  <a:avLst/>
                </a:prstGeom>
                <a:solidFill>
                  <a:srgbClr val="C794F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2" name="Rectangle 114"/>
                <p:cNvSpPr>
                  <a:spLocks noChangeArrowheads="1"/>
                </p:cNvSpPr>
                <p:nvPr/>
              </p:nvSpPr>
              <p:spPr bwMode="auto">
                <a:xfrm>
                  <a:off x="3782" y="3275"/>
                  <a:ext cx="18" cy="324"/>
                </a:xfrm>
                <a:prstGeom prst="rect">
                  <a:avLst/>
                </a:prstGeom>
                <a:solidFill>
                  <a:srgbClr val="C895F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3" name="Rectangle 115"/>
                <p:cNvSpPr>
                  <a:spLocks noChangeArrowheads="1"/>
                </p:cNvSpPr>
                <p:nvPr/>
              </p:nvSpPr>
              <p:spPr bwMode="auto">
                <a:xfrm>
                  <a:off x="3800" y="3275"/>
                  <a:ext cx="12" cy="324"/>
                </a:xfrm>
                <a:prstGeom prst="rect">
                  <a:avLst/>
                </a:prstGeom>
                <a:solidFill>
                  <a:srgbClr val="C996F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4" name="Rectangle 116"/>
                <p:cNvSpPr>
                  <a:spLocks noChangeArrowheads="1"/>
                </p:cNvSpPr>
                <p:nvPr/>
              </p:nvSpPr>
              <p:spPr bwMode="auto">
                <a:xfrm>
                  <a:off x="3812" y="3275"/>
                  <a:ext cx="6" cy="324"/>
                </a:xfrm>
                <a:prstGeom prst="rect">
                  <a:avLst/>
                </a:prstGeom>
                <a:solidFill>
                  <a:srgbClr val="CA97F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5" name="Rectangle 117"/>
                <p:cNvSpPr>
                  <a:spLocks noChangeArrowheads="1"/>
                </p:cNvSpPr>
                <p:nvPr/>
              </p:nvSpPr>
              <p:spPr bwMode="auto">
                <a:xfrm>
                  <a:off x="3818" y="3275"/>
                  <a:ext cx="18" cy="324"/>
                </a:xfrm>
                <a:prstGeom prst="rect">
                  <a:avLst/>
                </a:prstGeom>
                <a:solidFill>
                  <a:srgbClr val="CB98F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6" name="Rectangle 118"/>
                <p:cNvSpPr>
                  <a:spLocks noChangeArrowheads="1"/>
                </p:cNvSpPr>
                <p:nvPr/>
              </p:nvSpPr>
              <p:spPr bwMode="auto">
                <a:xfrm>
                  <a:off x="3836" y="3275"/>
                  <a:ext cx="288" cy="324"/>
                </a:xfrm>
                <a:prstGeom prst="rect">
                  <a:avLst/>
                </a:prstGeom>
                <a:solidFill>
                  <a:srgbClr val="CC99F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7" name="Rectangle 119"/>
                <p:cNvSpPr>
                  <a:spLocks noChangeArrowheads="1"/>
                </p:cNvSpPr>
                <p:nvPr/>
              </p:nvSpPr>
              <p:spPr bwMode="auto">
                <a:xfrm>
                  <a:off x="3548" y="3275"/>
                  <a:ext cx="576" cy="324"/>
                </a:xfrm>
                <a:prstGeom prst="rect">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8" name="Rectangle 120"/>
                <p:cNvSpPr>
                  <a:spLocks noChangeArrowheads="1"/>
                </p:cNvSpPr>
                <p:nvPr/>
              </p:nvSpPr>
              <p:spPr bwMode="auto">
                <a:xfrm>
                  <a:off x="3614" y="3329"/>
                  <a:ext cx="504"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000000"/>
                      </a:solidFill>
                      <a:latin typeface="Arial" pitchFamily="34" charset="0"/>
                      <a:ea typeface="ＭＳ Ｐゴシック"/>
                      <a:cs typeface="ＭＳ Ｐゴシック"/>
                    </a:rPr>
                    <a:t>OM_Process</a:t>
                  </a:r>
                  <a:endParaRPr lang="en-US">
                    <a:solidFill>
                      <a:srgbClr val="000000"/>
                    </a:solidFill>
                    <a:latin typeface="Arial" pitchFamily="34" charset="0"/>
                    <a:ea typeface="ＭＳ Ｐゴシック"/>
                    <a:cs typeface="ＭＳ Ｐゴシック"/>
                  </a:endParaRPr>
                </a:p>
              </p:txBody>
            </p:sp>
            <p:sp>
              <p:nvSpPr>
                <p:cNvPr id="259" name="Line 121"/>
                <p:cNvSpPr>
                  <a:spLocks noChangeShapeType="1"/>
                </p:cNvSpPr>
                <p:nvPr/>
              </p:nvSpPr>
              <p:spPr bwMode="auto">
                <a:xfrm>
                  <a:off x="3548" y="3455"/>
                  <a:ext cx="576"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grpSp>
            <p:nvGrpSpPr>
              <p:cNvPr id="182" name="Group 268"/>
              <p:cNvGrpSpPr>
                <a:grpSpLocks/>
              </p:cNvGrpSpPr>
              <p:nvPr/>
            </p:nvGrpSpPr>
            <p:grpSpPr bwMode="auto">
              <a:xfrm>
                <a:off x="2437286" y="4705968"/>
                <a:ext cx="809625" cy="542925"/>
                <a:chOff x="4832" y="3281"/>
                <a:chExt cx="552" cy="342"/>
              </a:xfrm>
            </p:grpSpPr>
            <p:sp>
              <p:nvSpPr>
                <p:cNvPr id="204" name="Rectangle 166"/>
                <p:cNvSpPr>
                  <a:spLocks noChangeArrowheads="1"/>
                </p:cNvSpPr>
                <p:nvPr/>
              </p:nvSpPr>
              <p:spPr bwMode="auto">
                <a:xfrm>
                  <a:off x="4850" y="3299"/>
                  <a:ext cx="534" cy="324"/>
                </a:xfrm>
                <a:prstGeom prst="rect">
                  <a:avLst/>
                </a:prstGeom>
                <a:solidFill>
                  <a:srgbClr val="C0BF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5" name="Rectangle 167"/>
                <p:cNvSpPr>
                  <a:spLocks noChangeArrowheads="1"/>
                </p:cNvSpPr>
                <p:nvPr/>
              </p:nvSpPr>
              <p:spPr bwMode="auto">
                <a:xfrm>
                  <a:off x="4832" y="3281"/>
                  <a:ext cx="6" cy="324"/>
                </a:xfrm>
                <a:prstGeom prst="rect">
                  <a:avLst/>
                </a:prstGeom>
                <a:solidFill>
                  <a:srgbClr val="B5E8B5"/>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6" name="Rectangle 168"/>
                <p:cNvSpPr>
                  <a:spLocks noChangeArrowheads="1"/>
                </p:cNvSpPr>
                <p:nvPr/>
              </p:nvSpPr>
              <p:spPr bwMode="auto">
                <a:xfrm>
                  <a:off x="4838" y="3281"/>
                  <a:ext cx="12" cy="324"/>
                </a:xfrm>
                <a:prstGeom prst="rect">
                  <a:avLst/>
                </a:prstGeom>
                <a:solidFill>
                  <a:srgbClr val="B6E9B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7" name="Rectangle 169"/>
                <p:cNvSpPr>
                  <a:spLocks noChangeArrowheads="1"/>
                </p:cNvSpPr>
                <p:nvPr/>
              </p:nvSpPr>
              <p:spPr bwMode="auto">
                <a:xfrm>
                  <a:off x="4850" y="3281"/>
                  <a:ext cx="12" cy="324"/>
                </a:xfrm>
                <a:prstGeom prst="rect">
                  <a:avLst/>
                </a:prstGeom>
                <a:solidFill>
                  <a:srgbClr val="B7EAB7"/>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8" name="Rectangle 170"/>
                <p:cNvSpPr>
                  <a:spLocks noChangeArrowheads="1"/>
                </p:cNvSpPr>
                <p:nvPr/>
              </p:nvSpPr>
              <p:spPr bwMode="auto">
                <a:xfrm>
                  <a:off x="4862" y="3281"/>
                  <a:ext cx="12" cy="324"/>
                </a:xfrm>
                <a:prstGeom prst="rect">
                  <a:avLst/>
                </a:prstGeom>
                <a:solidFill>
                  <a:srgbClr val="B8EBB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9" name="Rectangle 171"/>
                <p:cNvSpPr>
                  <a:spLocks noChangeArrowheads="1"/>
                </p:cNvSpPr>
                <p:nvPr/>
              </p:nvSpPr>
              <p:spPr bwMode="auto">
                <a:xfrm>
                  <a:off x="4874" y="3281"/>
                  <a:ext cx="12" cy="324"/>
                </a:xfrm>
                <a:prstGeom prst="rect">
                  <a:avLst/>
                </a:prstGeom>
                <a:solidFill>
                  <a:srgbClr val="B9ECB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0" name="Rectangle 172"/>
                <p:cNvSpPr>
                  <a:spLocks noChangeArrowheads="1"/>
                </p:cNvSpPr>
                <p:nvPr/>
              </p:nvSpPr>
              <p:spPr bwMode="auto">
                <a:xfrm>
                  <a:off x="4886" y="3281"/>
                  <a:ext cx="12" cy="324"/>
                </a:xfrm>
                <a:prstGeom prst="rect">
                  <a:avLst/>
                </a:prstGeom>
                <a:solidFill>
                  <a:srgbClr val="BAEDB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1" name="Rectangle 173"/>
                <p:cNvSpPr>
                  <a:spLocks noChangeArrowheads="1"/>
                </p:cNvSpPr>
                <p:nvPr/>
              </p:nvSpPr>
              <p:spPr bwMode="auto">
                <a:xfrm>
                  <a:off x="4898" y="3281"/>
                  <a:ext cx="12" cy="324"/>
                </a:xfrm>
                <a:prstGeom prst="rect">
                  <a:avLst/>
                </a:prstGeom>
                <a:solidFill>
                  <a:srgbClr val="BBEEB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2" name="Rectangle 174"/>
                <p:cNvSpPr>
                  <a:spLocks noChangeArrowheads="1"/>
                </p:cNvSpPr>
                <p:nvPr/>
              </p:nvSpPr>
              <p:spPr bwMode="auto">
                <a:xfrm>
                  <a:off x="4910" y="3281"/>
                  <a:ext cx="6" cy="324"/>
                </a:xfrm>
                <a:prstGeom prst="rect">
                  <a:avLst/>
                </a:prstGeom>
                <a:solidFill>
                  <a:srgbClr val="BCEFB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3" name="Rectangle 175"/>
                <p:cNvSpPr>
                  <a:spLocks noChangeArrowheads="1"/>
                </p:cNvSpPr>
                <p:nvPr/>
              </p:nvSpPr>
              <p:spPr bwMode="auto">
                <a:xfrm>
                  <a:off x="4916" y="3281"/>
                  <a:ext cx="12" cy="324"/>
                </a:xfrm>
                <a:prstGeom prst="rect">
                  <a:avLst/>
                </a:prstGeom>
                <a:solidFill>
                  <a:srgbClr val="BDF0B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4" name="Rectangle 176"/>
                <p:cNvSpPr>
                  <a:spLocks noChangeArrowheads="1"/>
                </p:cNvSpPr>
                <p:nvPr/>
              </p:nvSpPr>
              <p:spPr bwMode="auto">
                <a:xfrm>
                  <a:off x="4928" y="3281"/>
                  <a:ext cx="12" cy="324"/>
                </a:xfrm>
                <a:prstGeom prst="rect">
                  <a:avLst/>
                </a:prstGeom>
                <a:solidFill>
                  <a:srgbClr val="BEF1B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5" name="Rectangle 177"/>
                <p:cNvSpPr>
                  <a:spLocks noChangeArrowheads="1"/>
                </p:cNvSpPr>
                <p:nvPr/>
              </p:nvSpPr>
              <p:spPr bwMode="auto">
                <a:xfrm>
                  <a:off x="4940" y="3281"/>
                  <a:ext cx="12" cy="324"/>
                </a:xfrm>
                <a:prstGeom prst="rect">
                  <a:avLst/>
                </a:prstGeom>
                <a:solidFill>
                  <a:srgbClr val="BFF2B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6" name="Rectangle 178"/>
                <p:cNvSpPr>
                  <a:spLocks noChangeArrowheads="1"/>
                </p:cNvSpPr>
                <p:nvPr/>
              </p:nvSpPr>
              <p:spPr bwMode="auto">
                <a:xfrm>
                  <a:off x="4952" y="3281"/>
                  <a:ext cx="12" cy="324"/>
                </a:xfrm>
                <a:prstGeom prst="rect">
                  <a:avLst/>
                </a:prstGeom>
                <a:solidFill>
                  <a:srgbClr val="C0F3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7" name="Rectangle 179"/>
                <p:cNvSpPr>
                  <a:spLocks noChangeArrowheads="1"/>
                </p:cNvSpPr>
                <p:nvPr/>
              </p:nvSpPr>
              <p:spPr bwMode="auto">
                <a:xfrm>
                  <a:off x="4964" y="3281"/>
                  <a:ext cx="12" cy="324"/>
                </a:xfrm>
                <a:prstGeom prst="rect">
                  <a:avLst/>
                </a:prstGeom>
                <a:solidFill>
                  <a:srgbClr val="C1F4C1"/>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8" name="Rectangle 180"/>
                <p:cNvSpPr>
                  <a:spLocks noChangeArrowheads="1"/>
                </p:cNvSpPr>
                <p:nvPr/>
              </p:nvSpPr>
              <p:spPr bwMode="auto">
                <a:xfrm>
                  <a:off x="4976" y="3281"/>
                  <a:ext cx="18" cy="324"/>
                </a:xfrm>
                <a:prstGeom prst="rect">
                  <a:avLst/>
                </a:prstGeom>
                <a:solidFill>
                  <a:srgbClr val="C2F5C2"/>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9" name="Rectangle 181"/>
                <p:cNvSpPr>
                  <a:spLocks noChangeArrowheads="1"/>
                </p:cNvSpPr>
                <p:nvPr/>
              </p:nvSpPr>
              <p:spPr bwMode="auto">
                <a:xfrm>
                  <a:off x="4994" y="3281"/>
                  <a:ext cx="12" cy="324"/>
                </a:xfrm>
                <a:prstGeom prst="rect">
                  <a:avLst/>
                </a:prstGeom>
                <a:solidFill>
                  <a:srgbClr val="C3F6C3"/>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0" name="Rectangle 182"/>
                <p:cNvSpPr>
                  <a:spLocks noChangeArrowheads="1"/>
                </p:cNvSpPr>
                <p:nvPr/>
              </p:nvSpPr>
              <p:spPr bwMode="auto">
                <a:xfrm>
                  <a:off x="5006" y="3281"/>
                  <a:ext cx="12" cy="324"/>
                </a:xfrm>
                <a:prstGeom prst="rect">
                  <a:avLst/>
                </a:prstGeom>
                <a:solidFill>
                  <a:srgbClr val="C4F7C4"/>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1" name="Rectangle 183"/>
                <p:cNvSpPr>
                  <a:spLocks noChangeArrowheads="1"/>
                </p:cNvSpPr>
                <p:nvPr/>
              </p:nvSpPr>
              <p:spPr bwMode="auto">
                <a:xfrm>
                  <a:off x="5018" y="3281"/>
                  <a:ext cx="12" cy="324"/>
                </a:xfrm>
                <a:prstGeom prst="rect">
                  <a:avLst/>
                </a:prstGeom>
                <a:solidFill>
                  <a:srgbClr val="C5F8C5"/>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2" name="Rectangle 184"/>
                <p:cNvSpPr>
                  <a:spLocks noChangeArrowheads="1"/>
                </p:cNvSpPr>
                <p:nvPr/>
              </p:nvSpPr>
              <p:spPr bwMode="auto">
                <a:xfrm>
                  <a:off x="5030" y="3281"/>
                  <a:ext cx="12" cy="324"/>
                </a:xfrm>
                <a:prstGeom prst="rect">
                  <a:avLst/>
                </a:prstGeom>
                <a:solidFill>
                  <a:srgbClr val="C6F9C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3" name="Rectangle 185"/>
                <p:cNvSpPr>
                  <a:spLocks noChangeArrowheads="1"/>
                </p:cNvSpPr>
                <p:nvPr/>
              </p:nvSpPr>
              <p:spPr bwMode="auto">
                <a:xfrm>
                  <a:off x="5042" y="3281"/>
                  <a:ext cx="12" cy="324"/>
                </a:xfrm>
                <a:prstGeom prst="rect">
                  <a:avLst/>
                </a:prstGeom>
                <a:solidFill>
                  <a:srgbClr val="C7FAC7"/>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4" name="Rectangle 186"/>
                <p:cNvSpPr>
                  <a:spLocks noChangeArrowheads="1"/>
                </p:cNvSpPr>
                <p:nvPr/>
              </p:nvSpPr>
              <p:spPr bwMode="auto">
                <a:xfrm>
                  <a:off x="5054" y="3281"/>
                  <a:ext cx="12" cy="324"/>
                </a:xfrm>
                <a:prstGeom prst="rect">
                  <a:avLst/>
                </a:prstGeom>
                <a:solidFill>
                  <a:srgbClr val="C8FBC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5" name="Rectangle 187"/>
                <p:cNvSpPr>
                  <a:spLocks noChangeArrowheads="1"/>
                </p:cNvSpPr>
                <p:nvPr/>
              </p:nvSpPr>
              <p:spPr bwMode="auto">
                <a:xfrm>
                  <a:off x="5066" y="3281"/>
                  <a:ext cx="6" cy="324"/>
                </a:xfrm>
                <a:prstGeom prst="rect">
                  <a:avLst/>
                </a:prstGeom>
                <a:solidFill>
                  <a:srgbClr val="C9FCC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6" name="Rectangle 188"/>
                <p:cNvSpPr>
                  <a:spLocks noChangeArrowheads="1"/>
                </p:cNvSpPr>
                <p:nvPr/>
              </p:nvSpPr>
              <p:spPr bwMode="auto">
                <a:xfrm>
                  <a:off x="5072" y="3281"/>
                  <a:ext cx="12" cy="324"/>
                </a:xfrm>
                <a:prstGeom prst="rect">
                  <a:avLst/>
                </a:prstGeom>
                <a:solidFill>
                  <a:srgbClr val="CAFDC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7" name="Rectangle 189"/>
                <p:cNvSpPr>
                  <a:spLocks noChangeArrowheads="1"/>
                </p:cNvSpPr>
                <p:nvPr/>
              </p:nvSpPr>
              <p:spPr bwMode="auto">
                <a:xfrm>
                  <a:off x="5084" y="3281"/>
                  <a:ext cx="12" cy="324"/>
                </a:xfrm>
                <a:prstGeom prst="rect">
                  <a:avLst/>
                </a:prstGeom>
                <a:solidFill>
                  <a:srgbClr val="CBFEC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8" name="Rectangle 190"/>
                <p:cNvSpPr>
                  <a:spLocks noChangeArrowheads="1"/>
                </p:cNvSpPr>
                <p:nvPr/>
              </p:nvSpPr>
              <p:spPr bwMode="auto">
                <a:xfrm>
                  <a:off x="5096" y="3281"/>
                  <a:ext cx="270" cy="324"/>
                </a:xfrm>
                <a:prstGeom prst="rect">
                  <a:avLst/>
                </a:prstGeom>
                <a:solidFill>
                  <a:srgbClr val="CCFFC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9" name="Rectangle 191"/>
                <p:cNvSpPr>
                  <a:spLocks noChangeArrowheads="1"/>
                </p:cNvSpPr>
                <p:nvPr/>
              </p:nvSpPr>
              <p:spPr bwMode="auto">
                <a:xfrm>
                  <a:off x="4832" y="3281"/>
                  <a:ext cx="534" cy="324"/>
                </a:xfrm>
                <a:prstGeom prst="rect">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0" name="Rectangle 192"/>
                <p:cNvSpPr>
                  <a:spLocks noChangeArrowheads="1"/>
                </p:cNvSpPr>
                <p:nvPr/>
              </p:nvSpPr>
              <p:spPr bwMode="auto">
                <a:xfrm>
                  <a:off x="5030" y="3335"/>
                  <a:ext cx="150"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000000"/>
                      </a:solidFill>
                      <a:latin typeface="Arial" pitchFamily="34" charset="0"/>
                      <a:ea typeface="ＭＳ Ｐゴシック"/>
                      <a:cs typeface="ＭＳ Ｐゴシック"/>
                    </a:rPr>
                    <a:t>Any</a:t>
                  </a:r>
                  <a:endParaRPr lang="en-US">
                    <a:solidFill>
                      <a:srgbClr val="000000"/>
                    </a:solidFill>
                    <a:latin typeface="Arial" pitchFamily="34" charset="0"/>
                    <a:ea typeface="ＭＳ Ｐゴシック"/>
                    <a:cs typeface="ＭＳ Ｐゴシック"/>
                  </a:endParaRPr>
                </a:p>
              </p:txBody>
            </p:sp>
            <p:sp>
              <p:nvSpPr>
                <p:cNvPr id="231" name="Line 193"/>
                <p:cNvSpPr>
                  <a:spLocks noChangeShapeType="1"/>
                </p:cNvSpPr>
                <p:nvPr/>
              </p:nvSpPr>
              <p:spPr bwMode="auto">
                <a:xfrm>
                  <a:off x="4832" y="3461"/>
                  <a:ext cx="534"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grpSp>
            <p:nvGrpSpPr>
              <p:cNvPr id="183" name="Group 273"/>
              <p:cNvGrpSpPr>
                <a:grpSpLocks/>
              </p:cNvGrpSpPr>
              <p:nvPr/>
            </p:nvGrpSpPr>
            <p:grpSpPr bwMode="auto">
              <a:xfrm>
                <a:off x="1989611" y="3201018"/>
                <a:ext cx="1546225" cy="431800"/>
                <a:chOff x="4526" y="2333"/>
                <a:chExt cx="1055" cy="272"/>
              </a:xfrm>
            </p:grpSpPr>
            <p:sp>
              <p:nvSpPr>
                <p:cNvPr id="200" name="Line 225"/>
                <p:cNvSpPr>
                  <a:spLocks noChangeShapeType="1"/>
                </p:cNvSpPr>
                <p:nvPr/>
              </p:nvSpPr>
              <p:spPr bwMode="auto">
                <a:xfrm flipV="1">
                  <a:off x="4526" y="2429"/>
                  <a:ext cx="234" cy="3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201" name="Freeform 226"/>
                <p:cNvSpPr>
                  <a:spLocks noEditPoints="1"/>
                </p:cNvSpPr>
                <p:nvPr/>
              </p:nvSpPr>
              <p:spPr bwMode="auto">
                <a:xfrm>
                  <a:off x="4664" y="2405"/>
                  <a:ext cx="96" cy="72"/>
                </a:xfrm>
                <a:custGeom>
                  <a:avLst/>
                  <a:gdLst>
                    <a:gd name="T0" fmla="*/ 96 w 96"/>
                    <a:gd name="T1" fmla="*/ 24 h 72"/>
                    <a:gd name="T2" fmla="*/ 12 w 96"/>
                    <a:gd name="T3" fmla="*/ 72 h 72"/>
                    <a:gd name="T4" fmla="*/ 96 w 96"/>
                    <a:gd name="T5" fmla="*/ 24 h 72"/>
                    <a:gd name="T6" fmla="*/ 0 w 96"/>
                    <a:gd name="T7" fmla="*/ 0 h 72"/>
                    <a:gd name="T8" fmla="*/ 0 60000 65536"/>
                    <a:gd name="T9" fmla="*/ 0 60000 65536"/>
                    <a:gd name="T10" fmla="*/ 0 60000 65536"/>
                    <a:gd name="T11" fmla="*/ 0 60000 65536"/>
                    <a:gd name="T12" fmla="*/ 0 w 96"/>
                    <a:gd name="T13" fmla="*/ 0 h 72"/>
                    <a:gd name="T14" fmla="*/ 96 w 96"/>
                    <a:gd name="T15" fmla="*/ 72 h 72"/>
                  </a:gdLst>
                  <a:ahLst/>
                  <a:cxnLst>
                    <a:cxn ang="T8">
                      <a:pos x="T0" y="T1"/>
                    </a:cxn>
                    <a:cxn ang="T9">
                      <a:pos x="T2" y="T3"/>
                    </a:cxn>
                    <a:cxn ang="T10">
                      <a:pos x="T4" y="T5"/>
                    </a:cxn>
                    <a:cxn ang="T11">
                      <a:pos x="T6" y="T7"/>
                    </a:cxn>
                  </a:cxnLst>
                  <a:rect l="T12" t="T13" r="T14" b="T15"/>
                  <a:pathLst>
                    <a:path w="96" h="72">
                      <a:moveTo>
                        <a:pt x="96" y="24"/>
                      </a:moveTo>
                      <a:lnTo>
                        <a:pt x="12" y="72"/>
                      </a:lnTo>
                      <a:moveTo>
                        <a:pt x="96" y="24"/>
                      </a:moveTo>
                      <a:lnTo>
                        <a:pt x="0" y="0"/>
                      </a:lnTo>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202" name="Rectangle 227"/>
                <p:cNvSpPr>
                  <a:spLocks noChangeArrowheads="1"/>
                </p:cNvSpPr>
                <p:nvPr/>
              </p:nvSpPr>
              <p:spPr bwMode="auto">
                <a:xfrm>
                  <a:off x="4694" y="2489"/>
                  <a:ext cx="887" cy="116"/>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200">
                      <a:solidFill>
                        <a:srgbClr val="000000"/>
                      </a:solidFill>
                      <a:latin typeface="Arial" pitchFamily="34" charset="0"/>
                      <a:ea typeface="ＭＳ Ｐゴシック"/>
                      <a:cs typeface="ＭＳ Ｐゴシック"/>
                    </a:rPr>
                    <a:t>+observedProperty</a:t>
                  </a:r>
                  <a:endParaRPr lang="en-US" sz="3600">
                    <a:solidFill>
                      <a:srgbClr val="000000"/>
                    </a:solidFill>
                    <a:latin typeface="Arial" pitchFamily="34" charset="0"/>
                    <a:ea typeface="ＭＳ Ｐゴシック"/>
                    <a:cs typeface="ＭＳ Ｐゴシック"/>
                  </a:endParaRPr>
                </a:p>
              </p:txBody>
            </p:sp>
            <p:sp>
              <p:nvSpPr>
                <p:cNvPr id="203" name="Rectangle 228"/>
                <p:cNvSpPr>
                  <a:spLocks noChangeArrowheads="1"/>
                </p:cNvSpPr>
                <p:nvPr/>
              </p:nvSpPr>
              <p:spPr bwMode="auto">
                <a:xfrm>
                  <a:off x="4694" y="2333"/>
                  <a:ext cx="39" cy="78"/>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grpSp>
          <p:grpSp>
            <p:nvGrpSpPr>
              <p:cNvPr id="184" name="Group 178"/>
              <p:cNvGrpSpPr>
                <a:grpSpLocks/>
              </p:cNvGrpSpPr>
              <p:nvPr/>
            </p:nvGrpSpPr>
            <p:grpSpPr bwMode="auto">
              <a:xfrm rot="7440675">
                <a:off x="1337943" y="2277886"/>
                <a:ext cx="1281112" cy="180975"/>
                <a:chOff x="3532889" y="2379360"/>
                <a:chExt cx="1582615" cy="190500"/>
              </a:xfrm>
            </p:grpSpPr>
            <p:sp>
              <p:nvSpPr>
                <p:cNvPr id="198" name="Line 229"/>
                <p:cNvSpPr>
                  <a:spLocks noChangeShapeType="1"/>
                </p:cNvSpPr>
                <p:nvPr/>
              </p:nvSpPr>
              <p:spPr bwMode="auto">
                <a:xfrm flipH="1" flipV="1">
                  <a:off x="3532889" y="2426985"/>
                  <a:ext cx="1582615" cy="142875"/>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9" name="Freeform 230"/>
                <p:cNvSpPr>
                  <a:spLocks noEditPoints="1"/>
                </p:cNvSpPr>
                <p:nvPr/>
              </p:nvSpPr>
              <p:spPr bwMode="auto">
                <a:xfrm>
                  <a:off x="3532889" y="2379360"/>
                  <a:ext cx="131885" cy="114300"/>
                </a:xfrm>
                <a:custGeom>
                  <a:avLst/>
                  <a:gdLst>
                    <a:gd name="T0" fmla="*/ 0 w 90"/>
                    <a:gd name="T1" fmla="*/ 75604680 h 72"/>
                    <a:gd name="T2" fmla="*/ 193262840 w 90"/>
                    <a:gd name="T3" fmla="*/ 0 h 72"/>
                    <a:gd name="T4" fmla="*/ 0 w 90"/>
                    <a:gd name="T5" fmla="*/ 75604680 h 72"/>
                    <a:gd name="T6" fmla="*/ 180379099 w 90"/>
                    <a:gd name="T7" fmla="*/ 181451223 h 72"/>
                    <a:gd name="T8" fmla="*/ 0 60000 65536"/>
                    <a:gd name="T9" fmla="*/ 0 60000 65536"/>
                    <a:gd name="T10" fmla="*/ 0 60000 65536"/>
                    <a:gd name="T11" fmla="*/ 0 60000 65536"/>
                    <a:gd name="T12" fmla="*/ 0 w 90"/>
                    <a:gd name="T13" fmla="*/ 0 h 72"/>
                    <a:gd name="T14" fmla="*/ 90 w 90"/>
                    <a:gd name="T15" fmla="*/ 72 h 72"/>
                  </a:gdLst>
                  <a:ahLst/>
                  <a:cxnLst>
                    <a:cxn ang="T8">
                      <a:pos x="T0" y="T1"/>
                    </a:cxn>
                    <a:cxn ang="T9">
                      <a:pos x="T2" y="T3"/>
                    </a:cxn>
                    <a:cxn ang="T10">
                      <a:pos x="T4" y="T5"/>
                    </a:cxn>
                    <a:cxn ang="T11">
                      <a:pos x="T6" y="T7"/>
                    </a:cxn>
                  </a:cxnLst>
                  <a:rect l="T12" t="T13" r="T14" b="T15"/>
                  <a:pathLst>
                    <a:path w="90" h="72">
                      <a:moveTo>
                        <a:pt x="0" y="30"/>
                      </a:moveTo>
                      <a:lnTo>
                        <a:pt x="90" y="0"/>
                      </a:lnTo>
                      <a:moveTo>
                        <a:pt x="0" y="30"/>
                      </a:moveTo>
                      <a:lnTo>
                        <a:pt x="84" y="72"/>
                      </a:lnTo>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sp>
            <p:nvSpPr>
              <p:cNvPr id="185" name="Rectangle 232"/>
              <p:cNvSpPr>
                <a:spLocks noChangeArrowheads="1"/>
              </p:cNvSpPr>
              <p:nvPr/>
            </p:nvSpPr>
            <p:spPr bwMode="auto">
              <a:xfrm>
                <a:off x="1402236" y="2632693"/>
                <a:ext cx="153987" cy="123825"/>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86" name="Rectangle 233"/>
              <p:cNvSpPr>
                <a:spLocks noChangeArrowheads="1"/>
              </p:cNvSpPr>
              <p:nvPr/>
            </p:nvSpPr>
            <p:spPr bwMode="auto">
              <a:xfrm>
                <a:off x="2411253" y="1899140"/>
                <a:ext cx="1244600" cy="184150"/>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200" dirty="0">
                    <a:solidFill>
                      <a:srgbClr val="000000"/>
                    </a:solidFill>
                    <a:latin typeface="Arial" pitchFamily="34" charset="0"/>
                    <a:ea typeface="ＭＳ Ｐゴシック"/>
                    <a:cs typeface="ＭＳ Ｐゴシック"/>
                  </a:rPr>
                  <a:t>+featureOfInterest</a:t>
                </a:r>
                <a:endParaRPr lang="en-US" sz="3600" dirty="0">
                  <a:solidFill>
                    <a:srgbClr val="000000"/>
                  </a:solidFill>
                  <a:latin typeface="Arial" pitchFamily="34" charset="0"/>
                  <a:ea typeface="ＭＳ Ｐゴシック"/>
                  <a:cs typeface="ＭＳ Ｐゴシック"/>
                </a:endParaRPr>
              </a:p>
            </p:txBody>
          </p:sp>
          <p:sp>
            <p:nvSpPr>
              <p:cNvPr id="187" name="Rectangle 234"/>
              <p:cNvSpPr>
                <a:spLocks noChangeArrowheads="1"/>
              </p:cNvSpPr>
              <p:nvPr/>
            </p:nvSpPr>
            <p:spPr bwMode="auto">
              <a:xfrm>
                <a:off x="2084037" y="1911968"/>
                <a:ext cx="46037" cy="123825"/>
              </a:xfrm>
              <a:prstGeom prst="rect">
                <a:avLst/>
              </a:prstGeom>
              <a:noFill/>
              <a:ln w="9525">
                <a:noFill/>
                <a:miter lim="800000"/>
                <a:headEnd/>
                <a:tailEnd/>
              </a:ln>
            </p:spPr>
            <p:txBody>
              <a:bodyPr lIns="0" tIns="0" rIns="0" bIns="0">
                <a:spAutoFit/>
              </a:bodyPr>
              <a:lstStyle/>
              <a:p>
                <a:pPr marL="361950" indent="-361950" defTabSz="966788" fontAlgn="base">
                  <a:spcBef>
                    <a:spcPct val="0"/>
                  </a:spcBef>
                  <a:spcAft>
                    <a:spcPct val="0"/>
                  </a:spcAft>
                  <a:tabLst>
                    <a:tab pos="188913" algn="l"/>
                  </a:tabLst>
                </a:pPr>
                <a:r>
                  <a:rPr lang="en-US" sz="800" dirty="0">
                    <a:solidFill>
                      <a:srgbClr val="000000"/>
                    </a:solidFill>
                    <a:latin typeface="Arial" pitchFamily="34" charset="0"/>
                    <a:ea typeface="ＭＳ Ｐゴシック"/>
                    <a:cs typeface="ＭＳ Ｐゴシック"/>
                  </a:rPr>
                  <a:t>1</a:t>
                </a:r>
                <a:endParaRPr lang="en-US" dirty="0">
                  <a:solidFill>
                    <a:srgbClr val="000000"/>
                  </a:solidFill>
                  <a:latin typeface="Arial" pitchFamily="34" charset="0"/>
                  <a:ea typeface="ＭＳ Ｐゴシック"/>
                  <a:cs typeface="ＭＳ Ｐゴシック"/>
                </a:endParaRPr>
              </a:p>
            </p:txBody>
          </p:sp>
          <p:sp>
            <p:nvSpPr>
              <p:cNvPr id="188" name="Line 241"/>
              <p:cNvSpPr>
                <a:spLocks noChangeShapeType="1"/>
              </p:cNvSpPr>
              <p:nvPr/>
            </p:nvSpPr>
            <p:spPr bwMode="auto">
              <a:xfrm flipH="1">
                <a:off x="864073" y="3982068"/>
                <a:ext cx="280988" cy="714375"/>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89" name="Freeform 242"/>
              <p:cNvSpPr>
                <a:spLocks noEditPoints="1"/>
              </p:cNvSpPr>
              <p:nvPr/>
            </p:nvSpPr>
            <p:spPr bwMode="auto">
              <a:xfrm>
                <a:off x="864073" y="4544043"/>
                <a:ext cx="96838" cy="152400"/>
              </a:xfrm>
              <a:custGeom>
                <a:avLst/>
                <a:gdLst>
                  <a:gd name="T0" fmla="*/ 0 w 66"/>
                  <a:gd name="T1" fmla="*/ 241935022 h 96"/>
                  <a:gd name="T2" fmla="*/ 0 w 66"/>
                  <a:gd name="T3" fmla="*/ 0 h 96"/>
                  <a:gd name="T4" fmla="*/ 0 w 66"/>
                  <a:gd name="T5" fmla="*/ 241935022 h 96"/>
                  <a:gd name="T6" fmla="*/ 142084802 w 66"/>
                  <a:gd name="T7" fmla="*/ 75604688 h 96"/>
                  <a:gd name="T8" fmla="*/ 0 60000 65536"/>
                  <a:gd name="T9" fmla="*/ 0 60000 65536"/>
                  <a:gd name="T10" fmla="*/ 0 60000 65536"/>
                  <a:gd name="T11" fmla="*/ 0 60000 65536"/>
                  <a:gd name="T12" fmla="*/ 0 w 66"/>
                  <a:gd name="T13" fmla="*/ 0 h 96"/>
                  <a:gd name="T14" fmla="*/ 66 w 66"/>
                  <a:gd name="T15" fmla="*/ 96 h 96"/>
                </a:gdLst>
                <a:ahLst/>
                <a:cxnLst>
                  <a:cxn ang="T8">
                    <a:pos x="T0" y="T1"/>
                  </a:cxn>
                  <a:cxn ang="T9">
                    <a:pos x="T2" y="T3"/>
                  </a:cxn>
                  <a:cxn ang="T10">
                    <a:pos x="T4" y="T5"/>
                  </a:cxn>
                  <a:cxn ang="T11">
                    <a:pos x="T6" y="T7"/>
                  </a:cxn>
                </a:cxnLst>
                <a:rect l="T12" t="T13" r="T14" b="T15"/>
                <a:pathLst>
                  <a:path w="66" h="96">
                    <a:moveTo>
                      <a:pt x="0" y="96"/>
                    </a:moveTo>
                    <a:lnTo>
                      <a:pt x="0" y="0"/>
                    </a:lnTo>
                    <a:moveTo>
                      <a:pt x="0" y="96"/>
                    </a:moveTo>
                    <a:lnTo>
                      <a:pt x="66" y="30"/>
                    </a:lnTo>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0" name="Rectangle 244"/>
              <p:cNvSpPr>
                <a:spLocks noChangeArrowheads="1"/>
              </p:cNvSpPr>
              <p:nvPr/>
            </p:nvSpPr>
            <p:spPr bwMode="auto">
              <a:xfrm>
                <a:off x="1135536" y="4153518"/>
                <a:ext cx="155575" cy="123825"/>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91" name="Rectangle 245"/>
              <p:cNvSpPr>
                <a:spLocks noChangeArrowheads="1"/>
              </p:cNvSpPr>
              <p:nvPr/>
            </p:nvSpPr>
            <p:spPr bwMode="auto">
              <a:xfrm>
                <a:off x="1041873" y="4432918"/>
                <a:ext cx="777875" cy="184150"/>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200">
                    <a:solidFill>
                      <a:srgbClr val="000000"/>
                    </a:solidFill>
                    <a:latin typeface="Arial" pitchFamily="34" charset="0"/>
                    <a:ea typeface="ＭＳ Ｐゴシック"/>
                    <a:cs typeface="ＭＳ Ｐゴシック"/>
                  </a:rPr>
                  <a:t>+procedure</a:t>
                </a:r>
                <a:endParaRPr lang="en-US" sz="3600">
                  <a:solidFill>
                    <a:srgbClr val="000000"/>
                  </a:solidFill>
                  <a:latin typeface="Arial" pitchFamily="34" charset="0"/>
                  <a:ea typeface="ＭＳ Ｐゴシック"/>
                  <a:cs typeface="ＭＳ Ｐゴシック"/>
                </a:endParaRPr>
              </a:p>
            </p:txBody>
          </p:sp>
          <p:sp>
            <p:nvSpPr>
              <p:cNvPr id="192" name="Rectangle 246"/>
              <p:cNvSpPr>
                <a:spLocks noChangeArrowheads="1"/>
              </p:cNvSpPr>
              <p:nvPr/>
            </p:nvSpPr>
            <p:spPr bwMode="auto">
              <a:xfrm>
                <a:off x="687861" y="4486893"/>
                <a:ext cx="57150" cy="123825"/>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sp>
            <p:nvSpPr>
              <p:cNvPr id="193" name="Line 258"/>
              <p:cNvSpPr>
                <a:spLocks noChangeShapeType="1"/>
              </p:cNvSpPr>
              <p:nvPr/>
            </p:nvSpPr>
            <p:spPr bwMode="auto">
              <a:xfrm flipH="1" flipV="1">
                <a:off x="1989611" y="3953493"/>
                <a:ext cx="782637" cy="752475"/>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4" name="Freeform 259"/>
              <p:cNvSpPr>
                <a:spLocks/>
              </p:cNvSpPr>
              <p:nvPr/>
            </p:nvSpPr>
            <p:spPr bwMode="auto">
              <a:xfrm>
                <a:off x="1989611" y="3953493"/>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solidFill>
                <a:srgbClr val="000000"/>
              </a:solidFill>
              <a:ln w="9525">
                <a:noFill/>
                <a:round/>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5" name="Freeform 260"/>
              <p:cNvSpPr>
                <a:spLocks/>
              </p:cNvSpPr>
              <p:nvPr/>
            </p:nvSpPr>
            <p:spPr bwMode="auto">
              <a:xfrm>
                <a:off x="1989611" y="3953493"/>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6" name="Freeform 261"/>
              <p:cNvSpPr>
                <a:spLocks noEditPoints="1"/>
              </p:cNvSpPr>
              <p:nvPr/>
            </p:nvSpPr>
            <p:spPr bwMode="auto">
              <a:xfrm>
                <a:off x="2640486" y="4572618"/>
                <a:ext cx="131762" cy="133350"/>
              </a:xfrm>
              <a:custGeom>
                <a:avLst/>
                <a:gdLst>
                  <a:gd name="T0" fmla="*/ 192902522 w 90"/>
                  <a:gd name="T1" fmla="*/ 211693147 h 84"/>
                  <a:gd name="T2" fmla="*/ 102881244 w 90"/>
                  <a:gd name="T3" fmla="*/ 0 h 84"/>
                  <a:gd name="T4" fmla="*/ 192902522 w 90"/>
                  <a:gd name="T5" fmla="*/ 211693147 h 84"/>
                  <a:gd name="T6" fmla="*/ 0 w 90"/>
                  <a:gd name="T7" fmla="*/ 136088438 h 84"/>
                  <a:gd name="T8" fmla="*/ 0 60000 65536"/>
                  <a:gd name="T9" fmla="*/ 0 60000 65536"/>
                  <a:gd name="T10" fmla="*/ 0 60000 65536"/>
                  <a:gd name="T11" fmla="*/ 0 60000 65536"/>
                  <a:gd name="T12" fmla="*/ 0 w 90"/>
                  <a:gd name="T13" fmla="*/ 0 h 84"/>
                  <a:gd name="T14" fmla="*/ 90 w 90"/>
                  <a:gd name="T15" fmla="*/ 84 h 84"/>
                </a:gdLst>
                <a:ahLst/>
                <a:cxnLst>
                  <a:cxn ang="T8">
                    <a:pos x="T0" y="T1"/>
                  </a:cxn>
                  <a:cxn ang="T9">
                    <a:pos x="T2" y="T3"/>
                  </a:cxn>
                  <a:cxn ang="T10">
                    <a:pos x="T4" y="T5"/>
                  </a:cxn>
                  <a:cxn ang="T11">
                    <a:pos x="T6" y="T7"/>
                  </a:cxn>
                </a:cxnLst>
                <a:rect l="T12" t="T13" r="T14" b="T15"/>
                <a:pathLst>
                  <a:path w="90" h="84">
                    <a:moveTo>
                      <a:pt x="90" y="84"/>
                    </a:moveTo>
                    <a:lnTo>
                      <a:pt x="48" y="0"/>
                    </a:lnTo>
                    <a:moveTo>
                      <a:pt x="90" y="84"/>
                    </a:moveTo>
                    <a:lnTo>
                      <a:pt x="0" y="54"/>
                    </a:lnTo>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7" name="Rectangle 262"/>
              <p:cNvSpPr>
                <a:spLocks noChangeArrowheads="1"/>
              </p:cNvSpPr>
              <p:nvPr/>
            </p:nvSpPr>
            <p:spPr bwMode="auto">
              <a:xfrm>
                <a:off x="2842098" y="4463080"/>
                <a:ext cx="465138" cy="185738"/>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200">
                    <a:solidFill>
                      <a:srgbClr val="000000"/>
                    </a:solidFill>
                    <a:latin typeface="Arial" pitchFamily="34" charset="0"/>
                    <a:ea typeface="ＭＳ Ｐゴシック"/>
                    <a:cs typeface="ＭＳ Ｐゴシック"/>
                  </a:rPr>
                  <a:t>+result</a:t>
                </a:r>
                <a:endParaRPr lang="en-US" sz="3600">
                  <a:solidFill>
                    <a:srgbClr val="000000"/>
                  </a:solidFill>
                  <a:latin typeface="Arial" pitchFamily="34" charset="0"/>
                  <a:ea typeface="ＭＳ Ｐゴシック"/>
                  <a:cs typeface="ＭＳ Ｐゴシック"/>
                </a:endParaRPr>
              </a:p>
            </p:txBody>
          </p:sp>
        </p:grpSp>
      </p:grpSp>
      <p:sp>
        <p:nvSpPr>
          <p:cNvPr id="14" name="Right Arrow 13"/>
          <p:cNvSpPr/>
          <p:nvPr/>
        </p:nvSpPr>
        <p:spPr bwMode="auto">
          <a:xfrm rot="462588">
            <a:off x="3305057" y="1409170"/>
            <a:ext cx="2522352" cy="461796"/>
          </a:xfrm>
          <a:prstGeom prst="rightArrow">
            <a:avLst/>
          </a:prstGeom>
          <a:gradFill flip="none" rotWithShape="1">
            <a:gsLst>
              <a:gs pos="52000">
                <a:schemeClr val="accent2"/>
              </a:gs>
              <a:gs pos="100000">
                <a:srgbClr val="FFFFFF"/>
              </a:gs>
            </a:gsLst>
            <a:lin ang="0" scaled="1"/>
            <a:tileRect/>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r>
              <a:rPr lang="en-US" sz="1400" b="1" dirty="0" smtClean="0">
                <a:solidFill>
                  <a:srgbClr val="000000"/>
                </a:solidFill>
                <a:latin typeface="Arial" charset="0"/>
                <a:ea typeface="ＭＳ Ｐゴシック" pitchFamily="16" charset="-128"/>
                <a:cs typeface="ＭＳ Ｐゴシック" pitchFamily="-97" charset="-128"/>
              </a:rPr>
              <a:t>Gage Location</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5" name="TextBox 14"/>
          <p:cNvSpPr txBox="1"/>
          <p:nvPr/>
        </p:nvSpPr>
        <p:spPr>
          <a:xfrm>
            <a:off x="277288" y="5220865"/>
            <a:ext cx="1703392" cy="474625"/>
          </a:xfrm>
          <a:prstGeom prst="rect">
            <a:avLst/>
          </a:prstGeom>
          <a:noFill/>
          <a:effectLst/>
        </p:spPr>
        <p:txBody>
          <a:bodyPr wrap="square" lIns="0" tIns="0" rIns="0" bIns="0" rtlCol="0">
            <a:noAutofit/>
          </a:bodyPr>
          <a:lstStyle/>
          <a:p>
            <a:pPr algn="ctr" defTabSz="914400" eaLnBrk="0" fontAlgn="base" hangingPunct="0">
              <a:lnSpc>
                <a:spcPts val="1800"/>
              </a:lnSpc>
              <a:spcBef>
                <a:spcPct val="0"/>
              </a:spcBef>
              <a:spcAft>
                <a:spcPct val="0"/>
              </a:spcAft>
            </a:pPr>
            <a:r>
              <a:rPr lang="en-US" sz="1400" b="1" i="1" dirty="0" smtClean="0">
                <a:solidFill>
                  <a:srgbClr val="B996D5">
                    <a:lumMod val="75000"/>
                  </a:srgbClr>
                </a:solidFill>
                <a:latin typeface="Arial"/>
                <a:ea typeface="ＭＳ Ｐゴシック"/>
                <a:cs typeface="ＭＳ Ｐゴシック"/>
              </a:rPr>
              <a:t>Observation or Conversion Method</a:t>
            </a:r>
          </a:p>
        </p:txBody>
      </p:sp>
      <p:sp>
        <p:nvSpPr>
          <p:cNvPr id="342" name="TextBox 341"/>
          <p:cNvSpPr txBox="1"/>
          <p:nvPr/>
        </p:nvSpPr>
        <p:spPr>
          <a:xfrm>
            <a:off x="2052670" y="2127861"/>
            <a:ext cx="2039840" cy="309398"/>
          </a:xfrm>
          <a:prstGeom prst="rect">
            <a:avLst/>
          </a:prstGeom>
          <a:noFill/>
          <a:effectLst/>
        </p:spPr>
        <p:txBody>
          <a:bodyPr wrap="square" lIns="0" tIns="0" rIns="0" bIns="0" rtlCol="0">
            <a:noAutofit/>
          </a:bodyPr>
          <a:lstStyle/>
          <a:p>
            <a:pPr algn="ctr" defTabSz="914400" eaLnBrk="0" fontAlgn="base" hangingPunct="0">
              <a:lnSpc>
                <a:spcPts val="1800"/>
              </a:lnSpc>
              <a:spcBef>
                <a:spcPct val="0"/>
              </a:spcBef>
              <a:spcAft>
                <a:spcPct val="0"/>
              </a:spcAft>
            </a:pPr>
            <a:r>
              <a:rPr lang="en-US" sz="1400" b="1" i="1"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sampl</a:t>
            </a:r>
            <a:r>
              <a:rPr lang="en-US" sz="1400" b="1" i="1" u="sng"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ing</a:t>
            </a:r>
            <a:r>
              <a:rPr lang="en-US" sz="1400" b="1" i="1"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 feature</a:t>
            </a:r>
            <a:endParaRPr lang="en-US" sz="1400" b="1" i="1" dirty="0" smtClean="0">
              <a:solidFill>
                <a:srgbClr val="ED982D"/>
              </a:solidFill>
              <a:effectLst>
                <a:outerShdw blurRad="50800" dist="38100" dir="2700000" algn="tl" rotWithShape="0">
                  <a:srgbClr val="000000">
                    <a:alpha val="43000"/>
                  </a:srgbClr>
                </a:outerShdw>
              </a:effectLst>
              <a:latin typeface="Arial"/>
              <a:ea typeface="ＭＳ Ｐゴシック"/>
              <a:cs typeface="ＭＳ Ｐゴシック"/>
            </a:endParaRPr>
          </a:p>
        </p:txBody>
      </p:sp>
      <p:sp>
        <p:nvSpPr>
          <p:cNvPr id="155" name="Right Arrow 154"/>
          <p:cNvSpPr/>
          <p:nvPr/>
        </p:nvSpPr>
        <p:spPr bwMode="auto">
          <a:xfrm rot="20769698">
            <a:off x="3279610" y="4744195"/>
            <a:ext cx="2290541" cy="461796"/>
          </a:xfrm>
          <a:prstGeom prst="rightArrow">
            <a:avLst/>
          </a:prstGeom>
          <a:gradFill>
            <a:gsLst>
              <a:gs pos="0">
                <a:schemeClr val="accent1">
                  <a:lumMod val="60000"/>
                  <a:lumOff val="40000"/>
                </a:schemeClr>
              </a:gs>
              <a:gs pos="64000">
                <a:schemeClr val="accent1">
                  <a:tint val="50000"/>
                  <a:shade val="100000"/>
                  <a:satMod val="350000"/>
                </a:schemeClr>
              </a:gs>
              <a:gs pos="100000">
                <a:schemeClr val="bg1"/>
              </a:gs>
            </a:gsLst>
            <a:lin ang="840000" scaled="0"/>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r>
              <a:rPr lang="en-US" sz="1400" b="1" dirty="0" smtClean="0">
                <a:solidFill>
                  <a:srgbClr val="000000"/>
                </a:solidFill>
                <a:latin typeface="Arial" charset="0"/>
                <a:ea typeface="ＭＳ Ｐゴシック" pitchFamily="16" charset="-128"/>
                <a:cs typeface="ＭＳ Ｐゴシック" pitchFamily="-97" charset="-128"/>
              </a:rPr>
              <a:t>(Stage, Discharge) tuples</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58" name="TextBox 157"/>
          <p:cNvSpPr txBox="1"/>
          <p:nvPr/>
        </p:nvSpPr>
        <p:spPr>
          <a:xfrm>
            <a:off x="5930809" y="5671947"/>
            <a:ext cx="2959435" cy="187580"/>
          </a:xfrm>
          <a:prstGeom prst="rect">
            <a:avLst/>
          </a:prstGeom>
          <a:noFill/>
          <a:effectLst/>
        </p:spPr>
        <p:txBody>
          <a:bodyPr wrap="square" lIns="0" tIns="0" rIns="0" bIns="0" rtlCol="0">
            <a:noAutofit/>
          </a:bodyPr>
          <a:lstStyle/>
          <a:p>
            <a:pPr algn="r">
              <a:defRPr/>
            </a:pPr>
            <a:r>
              <a:rPr lang="en-US" sz="1100" dirty="0">
                <a:solidFill>
                  <a:prstClr val="black"/>
                </a:solidFill>
                <a:latin typeface="Arial"/>
                <a:ea typeface="ＭＳ Ｐゴシック"/>
                <a:cs typeface="ＭＳ Ｐゴシック"/>
              </a:rPr>
              <a:t>Source: </a:t>
            </a:r>
            <a:r>
              <a:rPr lang="en-US" sz="1100" dirty="0" smtClean="0">
                <a:solidFill>
                  <a:prstClr val="black"/>
                </a:solidFill>
                <a:latin typeface="Arial"/>
                <a:ea typeface="ＭＳ Ｐゴシック"/>
                <a:cs typeface="ＭＳ Ｐゴシック"/>
              </a:rPr>
              <a:t>USGS</a:t>
            </a:r>
            <a:endParaRPr lang="en-US" sz="1100" dirty="0">
              <a:solidFill>
                <a:prstClr val="black"/>
              </a:solidFill>
              <a:latin typeface="Arial"/>
              <a:ea typeface="ＭＳ Ｐゴシック"/>
              <a:cs typeface="ＭＳ Ｐゴシック"/>
            </a:endParaRPr>
          </a:p>
          <a:p>
            <a:pPr algn="r" defTabSz="914400"/>
            <a:endParaRPr lang="en-US" sz="1100" dirty="0">
              <a:solidFill>
                <a:prstClr val="black"/>
              </a:solidFill>
              <a:latin typeface="Arial"/>
              <a:ea typeface="ＭＳ Ｐゴシック"/>
              <a:cs typeface="ＭＳ Ｐゴシック"/>
            </a:endParaRPr>
          </a:p>
          <a:p>
            <a:pPr algn="r" defTabSz="914400" eaLnBrk="0" hangingPunct="0">
              <a:lnSpc>
                <a:spcPts val="1800"/>
              </a:lnSpc>
            </a:pPr>
            <a:endParaRPr lang="en-US" sz="1100" b="1" dirty="0" smtClean="0">
              <a:solidFill>
                <a:prstClr val="black"/>
              </a:solidFill>
              <a:latin typeface="Arial"/>
              <a:ea typeface="ＭＳ Ｐゴシック"/>
              <a:cs typeface="ＭＳ Ｐゴシック"/>
            </a:endParaRPr>
          </a:p>
        </p:txBody>
      </p:sp>
      <p:sp>
        <p:nvSpPr>
          <p:cNvPr id="8" name="TextBox 7"/>
          <p:cNvSpPr txBox="1"/>
          <p:nvPr/>
        </p:nvSpPr>
        <p:spPr>
          <a:xfrm>
            <a:off x="116896" y="1069715"/>
            <a:ext cx="1410699" cy="563435"/>
          </a:xfrm>
          <a:prstGeom prst="rect">
            <a:avLst/>
          </a:prstGeom>
          <a:noFill/>
          <a:effectLst/>
        </p:spPr>
        <p:txBody>
          <a:bodyPr wrap="square" lIns="0" tIns="0" rIns="0" bIns="0" rtlCol="0">
            <a:noAutofit/>
          </a:bodyPr>
          <a:lstStyle/>
          <a:p>
            <a:pPr defTabSz="914400" eaLnBrk="0" hangingPunct="0">
              <a:lnSpc>
                <a:spcPts val="1800"/>
              </a:lnSpc>
            </a:pPr>
            <a:r>
              <a:rPr lang="en-US" sz="1400" i="1" dirty="0" smtClean="0">
                <a:solidFill>
                  <a:prstClr val="black"/>
                </a:solidFill>
                <a:latin typeface="Candara"/>
                <a:ea typeface="ＭＳ Ｐゴシック"/>
                <a:cs typeface="Candara"/>
              </a:rPr>
              <a:t>(WaterML2 Part 2)</a:t>
            </a:r>
          </a:p>
        </p:txBody>
      </p:sp>
      <p:sp>
        <p:nvSpPr>
          <p:cNvPr id="156" name="Title 15"/>
          <p:cNvSpPr>
            <a:spLocks noGrp="1"/>
          </p:cNvSpPr>
          <p:nvPr>
            <p:ph type="title"/>
          </p:nvPr>
        </p:nvSpPr>
        <p:spPr>
          <a:xfrm>
            <a:off x="121317" y="136508"/>
            <a:ext cx="4497190" cy="979500"/>
          </a:xfrm>
        </p:spPr>
        <p:txBody>
          <a:bodyPr/>
          <a:lstStyle/>
          <a:p>
            <a:pPr>
              <a:lnSpc>
                <a:spcPct val="90000"/>
              </a:lnSpc>
            </a:pPr>
            <a:r>
              <a:rPr lang="en-US" sz="3200" dirty="0" smtClean="0">
                <a:effectLst>
                  <a:outerShdw blurRad="50800" dist="38100" dir="2700000" algn="tl" rotWithShape="0">
                    <a:srgbClr val="000000">
                      <a:alpha val="43000"/>
                    </a:srgbClr>
                  </a:outerShdw>
                </a:effectLst>
                <a:latin typeface="Candara"/>
                <a:cs typeface="Candara"/>
              </a:rPr>
              <a:t>Treating </a:t>
            </a:r>
            <a:r>
              <a:rPr lang="en-US" sz="3200" dirty="0" smtClean="0">
                <a:solidFill>
                  <a:srgbClr val="000000"/>
                </a:solidFill>
                <a:effectLst>
                  <a:outerShdw blurRad="50800" dist="38100" dir="2700000" algn="tl" rotWithShape="0">
                    <a:srgbClr val="000000">
                      <a:alpha val="43000"/>
                    </a:srgbClr>
                  </a:outerShdw>
                </a:effectLst>
                <a:latin typeface="Candara"/>
                <a:cs typeface="Candara"/>
              </a:rPr>
              <a:t>rating curves </a:t>
            </a:r>
            <a:r>
              <a:rPr lang="en-US" sz="3200" dirty="0">
                <a:effectLst>
                  <a:outerShdw blurRad="50800" dist="38100" dir="2700000" algn="tl" rotWithShape="0">
                    <a:srgbClr val="000000">
                      <a:alpha val="43000"/>
                    </a:srgbClr>
                  </a:outerShdw>
                </a:effectLst>
                <a:latin typeface="Candara"/>
                <a:cs typeface="Candara"/>
              </a:rPr>
              <a:t>as </a:t>
            </a:r>
            <a:r>
              <a:rPr lang="en-US" sz="3200" dirty="0" smtClean="0">
                <a:effectLst>
                  <a:outerShdw blurRad="50800" dist="38100" dir="2700000" algn="tl" rotWithShape="0">
                    <a:srgbClr val="000000">
                      <a:alpha val="43000"/>
                    </a:srgbClr>
                  </a:outerShdw>
                </a:effectLst>
                <a:latin typeface="Candara"/>
                <a:cs typeface="Candara"/>
              </a:rPr>
              <a:t>a measurement …</a:t>
            </a:r>
            <a:endParaRPr lang="en-US" sz="3200" dirty="0">
              <a:effectLst>
                <a:outerShdw blurRad="50800" dist="38100" dir="2700000" algn="tl" rotWithShape="0">
                  <a:srgbClr val="000000">
                    <a:alpha val="43000"/>
                  </a:srgbClr>
                </a:outerShdw>
              </a:effectLst>
              <a:latin typeface="Candara"/>
              <a:cs typeface="Candara"/>
            </a:endParaRPr>
          </a:p>
        </p:txBody>
      </p:sp>
      <p:sp>
        <p:nvSpPr>
          <p:cNvPr id="4" name="Rectangle 3"/>
          <p:cNvSpPr/>
          <p:nvPr/>
        </p:nvSpPr>
        <p:spPr>
          <a:xfrm>
            <a:off x="65224" y="6090089"/>
            <a:ext cx="9015275" cy="707886"/>
          </a:xfrm>
          <a:prstGeom prst="rect">
            <a:avLst/>
          </a:prstGeom>
        </p:spPr>
        <p:txBody>
          <a:bodyPr wrap="square">
            <a:spAutoFit/>
          </a:bodyPr>
          <a:lstStyle/>
          <a:p>
            <a:pPr marL="342900" indent="-342900" defTabSz="914400" fontAlgn="base">
              <a:spcBef>
                <a:spcPct val="0"/>
              </a:spcBef>
              <a:spcAft>
                <a:spcPct val="0"/>
              </a:spcAft>
            </a:pPr>
            <a:r>
              <a:rPr lang="en-AU" sz="2000" dirty="0">
                <a:solidFill>
                  <a:srgbClr val="0F3277"/>
                </a:solidFill>
                <a:latin typeface="Candara"/>
                <a:ea typeface="ＭＳ Ｐゴシック"/>
                <a:cs typeface="Candara"/>
              </a:rPr>
              <a:t>An </a:t>
            </a:r>
            <a:r>
              <a:rPr lang="en-AU" sz="2000" b="1" dirty="0">
                <a:solidFill>
                  <a:srgbClr val="FF0066"/>
                </a:solidFill>
                <a:latin typeface="Candara"/>
                <a:ea typeface="ＭＳ Ｐゴシック"/>
                <a:cs typeface="Candara"/>
              </a:rPr>
              <a:t>Observation</a:t>
            </a:r>
            <a:r>
              <a:rPr lang="en-AU" sz="2000" dirty="0">
                <a:solidFill>
                  <a:srgbClr val="0F3277"/>
                </a:solidFill>
                <a:latin typeface="Candara"/>
                <a:ea typeface="ＭＳ Ｐゴシック"/>
                <a:cs typeface="Candara"/>
              </a:rPr>
              <a:t> is an action whose </a:t>
            </a:r>
            <a:r>
              <a:rPr lang="en-AU" sz="2000" b="1" dirty="0">
                <a:solidFill>
                  <a:srgbClr val="A3CA4B">
                    <a:lumMod val="50000"/>
                  </a:srgbClr>
                </a:solidFill>
                <a:latin typeface="Candara"/>
                <a:ea typeface="ＭＳ Ｐゴシック"/>
                <a:cs typeface="Candara"/>
              </a:rPr>
              <a:t>result</a:t>
            </a:r>
            <a:r>
              <a:rPr lang="en-AU" sz="2000" dirty="0">
                <a:solidFill>
                  <a:srgbClr val="A3CA4B">
                    <a:lumMod val="50000"/>
                  </a:srgbClr>
                </a:solidFill>
                <a:latin typeface="Candara"/>
                <a:ea typeface="ＭＳ Ｐゴシック"/>
                <a:cs typeface="Candara"/>
              </a:rPr>
              <a:t> </a:t>
            </a:r>
            <a:r>
              <a:rPr lang="en-AU" sz="2000" dirty="0">
                <a:solidFill>
                  <a:srgbClr val="0F3277"/>
                </a:solidFill>
                <a:latin typeface="Candara"/>
                <a:ea typeface="ＭＳ Ｐゴシック"/>
                <a:cs typeface="Candara"/>
              </a:rPr>
              <a:t>is an estimate of the value of </a:t>
            </a:r>
            <a:br>
              <a:rPr lang="en-AU" sz="2000" dirty="0">
                <a:solidFill>
                  <a:srgbClr val="0F3277"/>
                </a:solidFill>
                <a:latin typeface="Candara"/>
                <a:ea typeface="ＭＳ Ｐゴシック"/>
                <a:cs typeface="Candara"/>
              </a:rPr>
            </a:br>
            <a:r>
              <a:rPr lang="en-AU" sz="2000" dirty="0">
                <a:solidFill>
                  <a:srgbClr val="0F3277"/>
                </a:solidFill>
                <a:latin typeface="Candara"/>
                <a:ea typeface="ＭＳ Ｐゴシック"/>
                <a:cs typeface="Candara"/>
              </a:rPr>
              <a:t>some </a:t>
            </a:r>
            <a:r>
              <a:rPr lang="en-AU" sz="2000" b="1" dirty="0">
                <a:solidFill>
                  <a:srgbClr val="8DA3E8">
                    <a:lumMod val="75000"/>
                  </a:srgbClr>
                </a:solidFill>
                <a:latin typeface="Candara"/>
                <a:ea typeface="ＭＳ Ｐゴシック"/>
                <a:cs typeface="Candara"/>
              </a:rPr>
              <a:t>property</a:t>
            </a:r>
            <a:r>
              <a:rPr lang="en-AU" sz="2000" dirty="0">
                <a:solidFill>
                  <a:srgbClr val="8DA3E8">
                    <a:lumMod val="75000"/>
                  </a:srgbClr>
                </a:solidFill>
                <a:latin typeface="Candara"/>
                <a:ea typeface="ＭＳ Ｐゴシック"/>
                <a:cs typeface="Candara"/>
              </a:rPr>
              <a:t> </a:t>
            </a:r>
            <a:r>
              <a:rPr lang="en-AU" sz="2000" dirty="0">
                <a:solidFill>
                  <a:srgbClr val="0F3277"/>
                </a:solidFill>
                <a:latin typeface="Candara"/>
                <a:ea typeface="ＭＳ Ｐゴシック"/>
                <a:cs typeface="Candara"/>
              </a:rPr>
              <a:t>of the </a:t>
            </a:r>
            <a:r>
              <a:rPr lang="en-AU" sz="2000" b="1" dirty="0">
                <a:solidFill>
                  <a:srgbClr val="FAC15A">
                    <a:lumMod val="50000"/>
                  </a:srgbClr>
                </a:solidFill>
                <a:latin typeface="Candara"/>
                <a:ea typeface="ＭＳ Ｐゴシック"/>
                <a:cs typeface="Candara"/>
              </a:rPr>
              <a:t>feature-of-interest</a:t>
            </a:r>
            <a:r>
              <a:rPr lang="en-AU" sz="2000" dirty="0">
                <a:solidFill>
                  <a:srgbClr val="0F3277"/>
                </a:solidFill>
                <a:latin typeface="Candara"/>
                <a:ea typeface="ＭＳ Ｐゴシック"/>
                <a:cs typeface="Candara"/>
              </a:rPr>
              <a:t>, obtained using a specified </a:t>
            </a:r>
            <a:r>
              <a:rPr lang="en-AU" sz="2000" b="1" dirty="0">
                <a:solidFill>
                  <a:srgbClr val="8E55BB"/>
                </a:solidFill>
                <a:latin typeface="Candara"/>
                <a:ea typeface="ＭＳ Ｐゴシック"/>
                <a:cs typeface="Candara"/>
              </a:rPr>
              <a:t>procedure</a:t>
            </a:r>
          </a:p>
        </p:txBody>
      </p:sp>
    </p:spTree>
    <p:extLst>
      <p:ext uri="{BB962C8B-B14F-4D97-AF65-F5344CB8AC3E}">
        <p14:creationId xmlns:p14="http://schemas.microsoft.com/office/powerpoint/2010/main" val="236997880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sgs-graph-flow 2wks.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575059" y="3057804"/>
            <a:ext cx="4570236" cy="2930304"/>
          </a:xfrm>
          <a:prstGeom prst="rect">
            <a:avLst/>
          </a:prstGeom>
        </p:spPr>
      </p:pic>
      <p:pic>
        <p:nvPicPr>
          <p:cNvPr id="2" name="Picture 1" descr="SatTelFlaF3LG.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549812" y="30834"/>
            <a:ext cx="4594187" cy="3199012"/>
          </a:xfrm>
          <a:prstGeom prst="rect">
            <a:avLst/>
          </a:prstGeom>
        </p:spPr>
      </p:pic>
      <p:sp>
        <p:nvSpPr>
          <p:cNvPr id="180" name="Right Arrow 179"/>
          <p:cNvSpPr/>
          <p:nvPr/>
        </p:nvSpPr>
        <p:spPr bwMode="auto">
          <a:xfrm rot="21309732">
            <a:off x="3688198" y="2777979"/>
            <a:ext cx="2853134" cy="461796"/>
          </a:xfrm>
          <a:prstGeom prst="rightArrow">
            <a:avLst/>
          </a:prstGeom>
          <a:gradFill flip="none" rotWithShape="1">
            <a:gsLst>
              <a:gs pos="66000">
                <a:schemeClr val="tx2">
                  <a:lumMod val="25000"/>
                  <a:lumOff val="75000"/>
                </a:schemeClr>
              </a:gs>
              <a:gs pos="100000">
                <a:srgbClr val="FFFFFF"/>
              </a:gs>
            </a:gsLst>
            <a:lin ang="0" scaled="1"/>
            <a:tileRect/>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r>
              <a:rPr lang="en-US" sz="1400" b="1" dirty="0" smtClean="0">
                <a:solidFill>
                  <a:srgbClr val="000000"/>
                </a:solidFill>
                <a:latin typeface="Arial" charset="0"/>
                <a:ea typeface="ＭＳ Ｐゴシック" pitchFamily="16" charset="-128"/>
                <a:cs typeface="ＭＳ Ｐゴシック" pitchFamily="-97" charset="-128"/>
              </a:rPr>
              <a:t>Discharge</a:t>
            </a:r>
            <a:endParaRPr lang="en-US" sz="1400" b="1" dirty="0">
              <a:solidFill>
                <a:srgbClr val="000000"/>
              </a:solidFill>
              <a:latin typeface="Arial" charset="0"/>
              <a:ea typeface="ＭＳ Ｐゴシック" pitchFamily="16" charset="-128"/>
              <a:cs typeface="ＭＳ Ｐゴシック" pitchFamily="-97" charset="-128"/>
            </a:endParaRPr>
          </a:p>
        </p:txBody>
      </p:sp>
      <p:grpSp>
        <p:nvGrpSpPr>
          <p:cNvPr id="12" name="Group 11"/>
          <p:cNvGrpSpPr/>
          <p:nvPr/>
        </p:nvGrpSpPr>
        <p:grpSpPr>
          <a:xfrm>
            <a:off x="432273" y="1335705"/>
            <a:ext cx="3337570" cy="3913188"/>
            <a:chOff x="432273" y="1335705"/>
            <a:chExt cx="3337570" cy="3913188"/>
          </a:xfrm>
        </p:grpSpPr>
        <p:grpSp>
          <p:nvGrpSpPr>
            <p:cNvPr id="9" name="Group 8"/>
            <p:cNvGrpSpPr/>
            <p:nvPr/>
          </p:nvGrpSpPr>
          <p:grpSpPr>
            <a:xfrm>
              <a:off x="2332511" y="2886693"/>
              <a:ext cx="1437332" cy="514350"/>
              <a:chOff x="2332511" y="2886693"/>
              <a:chExt cx="1437332" cy="514350"/>
            </a:xfrm>
          </p:grpSpPr>
          <p:sp>
            <p:nvSpPr>
              <p:cNvPr id="313" name="Rectangle 63"/>
              <p:cNvSpPr>
                <a:spLocks noChangeArrowheads="1"/>
              </p:cNvSpPr>
              <p:nvPr/>
            </p:nvSpPr>
            <p:spPr bwMode="auto">
              <a:xfrm>
                <a:off x="2332511" y="2886693"/>
                <a:ext cx="1280918" cy="514350"/>
              </a:xfrm>
              <a:prstGeom prst="rect">
                <a:avLst/>
              </a:prstGeom>
              <a:gradFill flip="none" rotWithShape="1">
                <a:gsLst>
                  <a:gs pos="100000">
                    <a:srgbClr val="FFFFFF"/>
                  </a:gs>
                  <a:gs pos="98000">
                    <a:schemeClr val="tx2">
                      <a:lumMod val="25000"/>
                      <a:lumOff val="75000"/>
                    </a:schemeClr>
                  </a:gs>
                  <a:gs pos="99000">
                    <a:schemeClr val="tx2">
                      <a:lumMod val="10000"/>
                      <a:lumOff val="90000"/>
                    </a:schemeClr>
                  </a:gs>
                </a:gsLst>
                <a:lin ang="0" scaled="1"/>
                <a:tileRect/>
              </a:grad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14" name="Rectangle 64"/>
              <p:cNvSpPr>
                <a:spLocks noChangeArrowheads="1"/>
              </p:cNvSpPr>
              <p:nvPr/>
            </p:nvSpPr>
            <p:spPr bwMode="auto">
              <a:xfrm>
                <a:off x="2472643" y="2946763"/>
                <a:ext cx="1297200" cy="153988"/>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dirty="0">
                    <a:solidFill>
                      <a:srgbClr val="000000"/>
                    </a:solidFill>
                    <a:latin typeface="Arial" pitchFamily="34" charset="0"/>
                    <a:ea typeface="ＭＳ Ｐゴシック"/>
                    <a:cs typeface="ＭＳ Ｐゴシック"/>
                  </a:rPr>
                  <a:t>GF_PropertyType</a:t>
                </a:r>
                <a:endParaRPr lang="en-US" dirty="0">
                  <a:solidFill>
                    <a:srgbClr val="000000"/>
                  </a:solidFill>
                  <a:latin typeface="Arial" pitchFamily="34" charset="0"/>
                  <a:ea typeface="ＭＳ Ｐゴシック"/>
                  <a:cs typeface="ＭＳ Ｐゴシック"/>
                </a:endParaRPr>
              </a:p>
            </p:txBody>
          </p:sp>
          <p:sp>
            <p:nvSpPr>
              <p:cNvPr id="315" name="Line 65"/>
              <p:cNvSpPr>
                <a:spLocks noChangeShapeType="1"/>
              </p:cNvSpPr>
              <p:nvPr/>
            </p:nvSpPr>
            <p:spPr bwMode="auto">
              <a:xfrm>
                <a:off x="2332511" y="3172443"/>
                <a:ext cx="1280918"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grpSp>
          <p:nvGrpSpPr>
            <p:cNvPr id="11" name="Group 10"/>
            <p:cNvGrpSpPr/>
            <p:nvPr/>
          </p:nvGrpSpPr>
          <p:grpSpPr>
            <a:xfrm>
              <a:off x="432273" y="1335705"/>
              <a:ext cx="3223580" cy="3913188"/>
              <a:chOff x="432273" y="1335705"/>
              <a:chExt cx="3223580" cy="3913188"/>
            </a:xfrm>
          </p:grpSpPr>
          <p:grpSp>
            <p:nvGrpSpPr>
              <p:cNvPr id="176" name="Group 271"/>
              <p:cNvGrpSpPr>
                <a:grpSpLocks/>
              </p:cNvGrpSpPr>
              <p:nvPr/>
            </p:nvGrpSpPr>
            <p:grpSpPr bwMode="auto">
              <a:xfrm>
                <a:off x="432273" y="2848593"/>
                <a:ext cx="1574800" cy="1152525"/>
                <a:chOff x="3464" y="2111"/>
                <a:chExt cx="1074" cy="726"/>
              </a:xfrm>
            </p:grpSpPr>
            <p:sp>
              <p:nvSpPr>
                <p:cNvPr id="316" name="Rectangle 12"/>
                <p:cNvSpPr>
                  <a:spLocks noChangeArrowheads="1"/>
                </p:cNvSpPr>
                <p:nvPr/>
              </p:nvSpPr>
              <p:spPr bwMode="auto">
                <a:xfrm>
                  <a:off x="3482" y="2129"/>
                  <a:ext cx="1056" cy="708"/>
                </a:xfrm>
                <a:prstGeom prst="rect">
                  <a:avLst/>
                </a:prstGeom>
                <a:solidFill>
                  <a:srgbClr val="C0BF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17" name="Rectangle 13"/>
                <p:cNvSpPr>
                  <a:spLocks noChangeArrowheads="1"/>
                </p:cNvSpPr>
                <p:nvPr/>
              </p:nvSpPr>
              <p:spPr bwMode="auto">
                <a:xfrm>
                  <a:off x="3464" y="2111"/>
                  <a:ext cx="36" cy="708"/>
                </a:xfrm>
                <a:prstGeom prst="rect">
                  <a:avLst/>
                </a:prstGeom>
                <a:solidFill>
                  <a:srgbClr val="E8CDC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18" name="Rectangle 14"/>
                <p:cNvSpPr>
                  <a:spLocks noChangeArrowheads="1"/>
                </p:cNvSpPr>
                <p:nvPr/>
              </p:nvSpPr>
              <p:spPr bwMode="auto">
                <a:xfrm>
                  <a:off x="3500" y="2111"/>
                  <a:ext cx="42" cy="708"/>
                </a:xfrm>
                <a:prstGeom prst="rect">
                  <a:avLst/>
                </a:prstGeom>
                <a:solidFill>
                  <a:srgbClr val="EACFC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19" name="Rectangle 15"/>
                <p:cNvSpPr>
                  <a:spLocks noChangeArrowheads="1"/>
                </p:cNvSpPr>
                <p:nvPr/>
              </p:nvSpPr>
              <p:spPr bwMode="auto">
                <a:xfrm>
                  <a:off x="3542" y="2111"/>
                  <a:ext cx="48" cy="708"/>
                </a:xfrm>
                <a:prstGeom prst="rect">
                  <a:avLst/>
                </a:prstGeom>
                <a:solidFill>
                  <a:srgbClr val="ECD1C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0" name="Rectangle 16"/>
                <p:cNvSpPr>
                  <a:spLocks noChangeArrowheads="1"/>
                </p:cNvSpPr>
                <p:nvPr/>
              </p:nvSpPr>
              <p:spPr bwMode="auto">
                <a:xfrm>
                  <a:off x="3590" y="2111"/>
                  <a:ext cx="42" cy="708"/>
                </a:xfrm>
                <a:prstGeom prst="rect">
                  <a:avLst/>
                </a:prstGeom>
                <a:solidFill>
                  <a:srgbClr val="EED3D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1" name="Rectangle 17"/>
                <p:cNvSpPr>
                  <a:spLocks noChangeArrowheads="1"/>
                </p:cNvSpPr>
                <p:nvPr/>
              </p:nvSpPr>
              <p:spPr bwMode="auto">
                <a:xfrm>
                  <a:off x="3632" y="2111"/>
                  <a:ext cx="42" cy="708"/>
                </a:xfrm>
                <a:prstGeom prst="rect">
                  <a:avLst/>
                </a:prstGeom>
                <a:solidFill>
                  <a:srgbClr val="F0D5D2"/>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2" name="Rectangle 18"/>
                <p:cNvSpPr>
                  <a:spLocks noChangeArrowheads="1"/>
                </p:cNvSpPr>
                <p:nvPr/>
              </p:nvSpPr>
              <p:spPr bwMode="auto">
                <a:xfrm>
                  <a:off x="3674" y="2111"/>
                  <a:ext cx="48" cy="708"/>
                </a:xfrm>
                <a:prstGeom prst="rect">
                  <a:avLst/>
                </a:prstGeom>
                <a:solidFill>
                  <a:srgbClr val="F2D7D4"/>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3" name="Rectangle 19"/>
                <p:cNvSpPr>
                  <a:spLocks noChangeArrowheads="1"/>
                </p:cNvSpPr>
                <p:nvPr/>
              </p:nvSpPr>
              <p:spPr bwMode="auto">
                <a:xfrm>
                  <a:off x="3722" y="2111"/>
                  <a:ext cx="60" cy="708"/>
                </a:xfrm>
                <a:prstGeom prst="rect">
                  <a:avLst/>
                </a:prstGeom>
                <a:solidFill>
                  <a:srgbClr val="F4D9D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4" name="Rectangle 20"/>
                <p:cNvSpPr>
                  <a:spLocks noChangeArrowheads="1"/>
                </p:cNvSpPr>
                <p:nvPr/>
              </p:nvSpPr>
              <p:spPr bwMode="auto">
                <a:xfrm>
                  <a:off x="3782" y="2111"/>
                  <a:ext cx="48" cy="708"/>
                </a:xfrm>
                <a:prstGeom prst="rect">
                  <a:avLst/>
                </a:prstGeom>
                <a:solidFill>
                  <a:srgbClr val="F6DBD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5" name="Rectangle 21"/>
                <p:cNvSpPr>
                  <a:spLocks noChangeArrowheads="1"/>
                </p:cNvSpPr>
                <p:nvPr/>
              </p:nvSpPr>
              <p:spPr bwMode="auto">
                <a:xfrm>
                  <a:off x="3830" y="2111"/>
                  <a:ext cx="42" cy="708"/>
                </a:xfrm>
                <a:prstGeom prst="rect">
                  <a:avLst/>
                </a:prstGeom>
                <a:solidFill>
                  <a:srgbClr val="F8DDD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6" name="Rectangle 22"/>
                <p:cNvSpPr>
                  <a:spLocks noChangeArrowheads="1"/>
                </p:cNvSpPr>
                <p:nvPr/>
              </p:nvSpPr>
              <p:spPr bwMode="auto">
                <a:xfrm>
                  <a:off x="3872" y="2111"/>
                  <a:ext cx="48" cy="708"/>
                </a:xfrm>
                <a:prstGeom prst="rect">
                  <a:avLst/>
                </a:prstGeom>
                <a:solidFill>
                  <a:srgbClr val="FADFD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7" name="Rectangle 23"/>
                <p:cNvSpPr>
                  <a:spLocks noChangeArrowheads="1"/>
                </p:cNvSpPr>
                <p:nvPr/>
              </p:nvSpPr>
              <p:spPr bwMode="auto">
                <a:xfrm>
                  <a:off x="3920" y="2111"/>
                  <a:ext cx="42" cy="708"/>
                </a:xfrm>
                <a:prstGeom prst="rect">
                  <a:avLst/>
                </a:prstGeom>
                <a:solidFill>
                  <a:srgbClr val="FCE1D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8" name="Rectangle 24"/>
                <p:cNvSpPr>
                  <a:spLocks noChangeArrowheads="1"/>
                </p:cNvSpPr>
                <p:nvPr/>
              </p:nvSpPr>
              <p:spPr bwMode="auto">
                <a:xfrm>
                  <a:off x="3962" y="2111"/>
                  <a:ext cx="558" cy="708"/>
                </a:xfrm>
                <a:prstGeom prst="rect">
                  <a:avLst/>
                </a:prstGeom>
                <a:solidFill>
                  <a:srgbClr val="FFE4E1"/>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29" name="Rectangle 25"/>
                <p:cNvSpPr>
                  <a:spLocks noChangeArrowheads="1"/>
                </p:cNvSpPr>
                <p:nvPr/>
              </p:nvSpPr>
              <p:spPr bwMode="auto">
                <a:xfrm>
                  <a:off x="3464" y="2111"/>
                  <a:ext cx="1056" cy="708"/>
                </a:xfrm>
                <a:prstGeom prst="rect">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330" name="Rectangle 26"/>
                <p:cNvSpPr>
                  <a:spLocks noChangeArrowheads="1"/>
                </p:cNvSpPr>
                <p:nvPr/>
              </p:nvSpPr>
              <p:spPr bwMode="auto">
                <a:xfrm>
                  <a:off x="3704" y="2165"/>
                  <a:ext cx="659"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000000"/>
                      </a:solidFill>
                      <a:latin typeface="Arial" pitchFamily="34" charset="0"/>
                      <a:ea typeface="ＭＳ Ｐゴシック"/>
                      <a:cs typeface="ＭＳ Ｐゴシック"/>
                    </a:rPr>
                    <a:t>OM_Observation</a:t>
                  </a:r>
                  <a:endParaRPr lang="en-US">
                    <a:solidFill>
                      <a:srgbClr val="000000"/>
                    </a:solidFill>
                    <a:latin typeface="Arial" pitchFamily="34" charset="0"/>
                    <a:ea typeface="ＭＳ Ｐゴシック"/>
                    <a:cs typeface="ＭＳ Ｐゴシック"/>
                  </a:endParaRPr>
                </a:p>
              </p:txBody>
            </p:sp>
            <p:sp>
              <p:nvSpPr>
                <p:cNvPr id="331" name="Line 27"/>
                <p:cNvSpPr>
                  <a:spLocks noChangeShapeType="1"/>
                </p:cNvSpPr>
                <p:nvPr/>
              </p:nvSpPr>
              <p:spPr bwMode="auto">
                <a:xfrm>
                  <a:off x="3464" y="2291"/>
                  <a:ext cx="1056"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332" name="Rectangle 28"/>
                <p:cNvSpPr>
                  <a:spLocks noChangeArrowheads="1"/>
                </p:cNvSpPr>
                <p:nvPr/>
              </p:nvSpPr>
              <p:spPr bwMode="auto">
                <a:xfrm>
                  <a:off x="3494" y="2315"/>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3" name="Rectangle 29"/>
                <p:cNvSpPr>
                  <a:spLocks noChangeArrowheads="1"/>
                </p:cNvSpPr>
                <p:nvPr/>
              </p:nvSpPr>
              <p:spPr bwMode="auto">
                <a:xfrm>
                  <a:off x="3620" y="2315"/>
                  <a:ext cx="701"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dirty="0" err="1">
                      <a:solidFill>
                        <a:srgbClr val="8B0000"/>
                      </a:solidFill>
                      <a:latin typeface="Arial" pitchFamily="34" charset="0"/>
                      <a:ea typeface="ＭＳ Ｐゴシック"/>
                      <a:cs typeface="ＭＳ Ｐゴシック"/>
                    </a:rPr>
                    <a:t>phenomenonTime</a:t>
                  </a:r>
                  <a:endParaRPr lang="en-US" dirty="0">
                    <a:solidFill>
                      <a:srgbClr val="000000"/>
                    </a:solidFill>
                    <a:latin typeface="Arial" pitchFamily="34" charset="0"/>
                    <a:ea typeface="ＭＳ Ｐゴシック"/>
                    <a:cs typeface="ＭＳ Ｐゴシック"/>
                  </a:endParaRPr>
                </a:p>
              </p:txBody>
            </p:sp>
            <p:sp>
              <p:nvSpPr>
                <p:cNvPr id="334" name="Rectangle 30"/>
                <p:cNvSpPr>
                  <a:spLocks noChangeArrowheads="1"/>
                </p:cNvSpPr>
                <p:nvPr/>
              </p:nvSpPr>
              <p:spPr bwMode="auto">
                <a:xfrm>
                  <a:off x="3494" y="2411"/>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5" name="Rectangle 31"/>
                <p:cNvSpPr>
                  <a:spLocks noChangeArrowheads="1"/>
                </p:cNvSpPr>
                <p:nvPr/>
              </p:nvSpPr>
              <p:spPr bwMode="auto">
                <a:xfrm>
                  <a:off x="3620" y="2411"/>
                  <a:ext cx="408"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dirty="0">
                      <a:solidFill>
                        <a:srgbClr val="8B0000"/>
                      </a:solidFill>
                      <a:latin typeface="Arial" pitchFamily="34" charset="0"/>
                      <a:ea typeface="ＭＳ Ｐゴシック"/>
                      <a:cs typeface="ＭＳ Ｐゴシック"/>
                    </a:rPr>
                    <a:t>resultTime</a:t>
                  </a:r>
                  <a:endParaRPr lang="en-US" dirty="0">
                    <a:solidFill>
                      <a:srgbClr val="000000"/>
                    </a:solidFill>
                    <a:latin typeface="Arial" pitchFamily="34" charset="0"/>
                    <a:ea typeface="ＭＳ Ｐゴシック"/>
                    <a:cs typeface="ＭＳ Ｐゴシック"/>
                  </a:endParaRPr>
                </a:p>
              </p:txBody>
            </p:sp>
            <p:sp>
              <p:nvSpPr>
                <p:cNvPr id="336" name="Rectangle 32"/>
                <p:cNvSpPr>
                  <a:spLocks noChangeArrowheads="1"/>
                </p:cNvSpPr>
                <p:nvPr/>
              </p:nvSpPr>
              <p:spPr bwMode="auto">
                <a:xfrm>
                  <a:off x="3494" y="2507"/>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7" name="Rectangle 33"/>
                <p:cNvSpPr>
                  <a:spLocks noChangeArrowheads="1"/>
                </p:cNvSpPr>
                <p:nvPr/>
              </p:nvSpPr>
              <p:spPr bwMode="auto">
                <a:xfrm>
                  <a:off x="3620" y="2507"/>
                  <a:ext cx="591"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validTime [0..1]</a:t>
                  </a:r>
                  <a:endParaRPr lang="en-US">
                    <a:solidFill>
                      <a:srgbClr val="000000"/>
                    </a:solidFill>
                    <a:latin typeface="Arial" pitchFamily="34" charset="0"/>
                    <a:ea typeface="ＭＳ Ｐゴシック"/>
                    <a:cs typeface="ＭＳ Ｐゴシック"/>
                  </a:endParaRPr>
                </a:p>
              </p:txBody>
            </p:sp>
            <p:sp>
              <p:nvSpPr>
                <p:cNvPr id="338" name="Rectangle 34"/>
                <p:cNvSpPr>
                  <a:spLocks noChangeArrowheads="1"/>
                </p:cNvSpPr>
                <p:nvPr/>
              </p:nvSpPr>
              <p:spPr bwMode="auto">
                <a:xfrm>
                  <a:off x="3494" y="2603"/>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39" name="Rectangle 35"/>
                <p:cNvSpPr>
                  <a:spLocks noChangeArrowheads="1"/>
                </p:cNvSpPr>
                <p:nvPr/>
              </p:nvSpPr>
              <p:spPr bwMode="auto">
                <a:xfrm>
                  <a:off x="3620" y="2603"/>
                  <a:ext cx="687"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resultQuality [0..*]</a:t>
                  </a:r>
                  <a:endParaRPr lang="en-US">
                    <a:solidFill>
                      <a:srgbClr val="000000"/>
                    </a:solidFill>
                    <a:latin typeface="Arial" pitchFamily="34" charset="0"/>
                    <a:ea typeface="ＭＳ Ｐゴシック"/>
                    <a:cs typeface="ＭＳ Ｐゴシック"/>
                  </a:endParaRPr>
                </a:p>
              </p:txBody>
            </p:sp>
            <p:sp>
              <p:nvSpPr>
                <p:cNvPr id="340" name="Rectangle 36"/>
                <p:cNvSpPr>
                  <a:spLocks noChangeArrowheads="1"/>
                </p:cNvSpPr>
                <p:nvPr/>
              </p:nvSpPr>
              <p:spPr bwMode="auto">
                <a:xfrm>
                  <a:off x="3494" y="2699"/>
                  <a:ext cx="75"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 </a:t>
                  </a:r>
                  <a:endParaRPr lang="en-US">
                    <a:solidFill>
                      <a:srgbClr val="000000"/>
                    </a:solidFill>
                    <a:latin typeface="Arial" pitchFamily="34" charset="0"/>
                    <a:ea typeface="ＭＳ Ｐゴシック"/>
                    <a:cs typeface="ＭＳ Ｐゴシック"/>
                  </a:endParaRPr>
                </a:p>
              </p:txBody>
            </p:sp>
            <p:sp>
              <p:nvSpPr>
                <p:cNvPr id="341" name="Rectangle 37"/>
                <p:cNvSpPr>
                  <a:spLocks noChangeArrowheads="1"/>
                </p:cNvSpPr>
                <p:nvPr/>
              </p:nvSpPr>
              <p:spPr bwMode="auto">
                <a:xfrm>
                  <a:off x="3620" y="2699"/>
                  <a:ext cx="599"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8B0000"/>
                      </a:solidFill>
                      <a:latin typeface="Arial" pitchFamily="34" charset="0"/>
                      <a:ea typeface="ＭＳ Ｐゴシック"/>
                      <a:cs typeface="ＭＳ Ｐゴシック"/>
                    </a:rPr>
                    <a:t>parameter [0..*]</a:t>
                  </a:r>
                  <a:endParaRPr lang="en-US">
                    <a:solidFill>
                      <a:srgbClr val="000000"/>
                    </a:solidFill>
                    <a:latin typeface="Arial" pitchFamily="34" charset="0"/>
                    <a:ea typeface="ＭＳ Ｐゴシック"/>
                    <a:cs typeface="ＭＳ Ｐゴシック"/>
                  </a:endParaRPr>
                </a:p>
              </p:txBody>
            </p:sp>
          </p:grpSp>
          <p:grpSp>
            <p:nvGrpSpPr>
              <p:cNvPr id="178" name="Group 264"/>
              <p:cNvGrpSpPr>
                <a:grpSpLocks/>
              </p:cNvGrpSpPr>
              <p:nvPr/>
            </p:nvGrpSpPr>
            <p:grpSpPr bwMode="auto">
              <a:xfrm>
                <a:off x="2192811" y="1335705"/>
                <a:ext cx="1066800" cy="542925"/>
                <a:chOff x="1790" y="2225"/>
                <a:chExt cx="606" cy="342"/>
              </a:xfrm>
            </p:grpSpPr>
            <p:sp>
              <p:nvSpPr>
                <p:cNvPr id="260" name="Rectangle 66"/>
                <p:cNvSpPr>
                  <a:spLocks noChangeArrowheads="1"/>
                </p:cNvSpPr>
                <p:nvPr/>
              </p:nvSpPr>
              <p:spPr bwMode="auto">
                <a:xfrm>
                  <a:off x="1808" y="2243"/>
                  <a:ext cx="588" cy="324"/>
                </a:xfrm>
                <a:prstGeom prst="rect">
                  <a:avLst/>
                </a:prstGeom>
                <a:solidFill>
                  <a:srgbClr val="C0BF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1" name="Rectangle 67"/>
                <p:cNvSpPr>
                  <a:spLocks noChangeArrowheads="1"/>
                </p:cNvSpPr>
                <p:nvPr/>
              </p:nvSpPr>
              <p:spPr bwMode="auto">
                <a:xfrm>
                  <a:off x="1790" y="2225"/>
                  <a:ext cx="12" cy="324"/>
                </a:xfrm>
                <a:prstGeom prst="rect">
                  <a:avLst/>
                </a:prstGeom>
                <a:solidFill>
                  <a:srgbClr val="E8E8C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2" name="Rectangle 68"/>
                <p:cNvSpPr>
                  <a:spLocks noChangeArrowheads="1"/>
                </p:cNvSpPr>
                <p:nvPr/>
              </p:nvSpPr>
              <p:spPr bwMode="auto">
                <a:xfrm>
                  <a:off x="1802" y="2225"/>
                  <a:ext cx="12" cy="324"/>
                </a:xfrm>
                <a:prstGeom prst="rect">
                  <a:avLst/>
                </a:prstGeom>
                <a:solidFill>
                  <a:srgbClr val="E9E9C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3" name="Rectangle 69"/>
                <p:cNvSpPr>
                  <a:spLocks noChangeArrowheads="1"/>
                </p:cNvSpPr>
                <p:nvPr/>
              </p:nvSpPr>
              <p:spPr bwMode="auto">
                <a:xfrm>
                  <a:off x="1814" y="2225"/>
                  <a:ext cx="12" cy="324"/>
                </a:xfrm>
                <a:prstGeom prst="rect">
                  <a:avLst/>
                </a:prstGeom>
                <a:solidFill>
                  <a:srgbClr val="EAEAC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4" name="Rectangle 70"/>
                <p:cNvSpPr>
                  <a:spLocks noChangeArrowheads="1"/>
                </p:cNvSpPr>
                <p:nvPr/>
              </p:nvSpPr>
              <p:spPr bwMode="auto">
                <a:xfrm>
                  <a:off x="1826" y="2225"/>
                  <a:ext cx="12" cy="324"/>
                </a:xfrm>
                <a:prstGeom prst="rect">
                  <a:avLst/>
                </a:prstGeom>
                <a:solidFill>
                  <a:srgbClr val="EBEBC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5" name="Rectangle 71"/>
                <p:cNvSpPr>
                  <a:spLocks noChangeArrowheads="1"/>
                </p:cNvSpPr>
                <p:nvPr/>
              </p:nvSpPr>
              <p:spPr bwMode="auto">
                <a:xfrm>
                  <a:off x="1838" y="2225"/>
                  <a:ext cx="12" cy="324"/>
                </a:xfrm>
                <a:prstGeom prst="rect">
                  <a:avLst/>
                </a:prstGeom>
                <a:solidFill>
                  <a:srgbClr val="ECECC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6" name="Rectangle 72"/>
                <p:cNvSpPr>
                  <a:spLocks noChangeArrowheads="1"/>
                </p:cNvSpPr>
                <p:nvPr/>
              </p:nvSpPr>
              <p:spPr bwMode="auto">
                <a:xfrm>
                  <a:off x="1850" y="2225"/>
                  <a:ext cx="12" cy="324"/>
                </a:xfrm>
                <a:prstGeom prst="rect">
                  <a:avLst/>
                </a:prstGeom>
                <a:solidFill>
                  <a:srgbClr val="EDEDC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7" name="Rectangle 73"/>
                <p:cNvSpPr>
                  <a:spLocks noChangeArrowheads="1"/>
                </p:cNvSpPr>
                <p:nvPr/>
              </p:nvSpPr>
              <p:spPr bwMode="auto">
                <a:xfrm>
                  <a:off x="1862" y="2225"/>
                  <a:ext cx="12" cy="324"/>
                </a:xfrm>
                <a:prstGeom prst="rect">
                  <a:avLst/>
                </a:prstGeom>
                <a:solidFill>
                  <a:srgbClr val="EEEEC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8" name="Rectangle 74"/>
                <p:cNvSpPr>
                  <a:spLocks noChangeArrowheads="1"/>
                </p:cNvSpPr>
                <p:nvPr/>
              </p:nvSpPr>
              <p:spPr bwMode="auto">
                <a:xfrm>
                  <a:off x="1874" y="2225"/>
                  <a:ext cx="12" cy="324"/>
                </a:xfrm>
                <a:prstGeom prst="rect">
                  <a:avLst/>
                </a:prstGeom>
                <a:solidFill>
                  <a:srgbClr val="EFEFD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69" name="Rectangle 75"/>
                <p:cNvSpPr>
                  <a:spLocks noChangeArrowheads="1"/>
                </p:cNvSpPr>
                <p:nvPr/>
              </p:nvSpPr>
              <p:spPr bwMode="auto">
                <a:xfrm>
                  <a:off x="1886" y="2225"/>
                  <a:ext cx="12" cy="324"/>
                </a:xfrm>
                <a:prstGeom prst="rect">
                  <a:avLst/>
                </a:prstGeom>
                <a:solidFill>
                  <a:srgbClr val="F0F0D1"/>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0" name="Rectangle 76"/>
                <p:cNvSpPr>
                  <a:spLocks noChangeArrowheads="1"/>
                </p:cNvSpPr>
                <p:nvPr/>
              </p:nvSpPr>
              <p:spPr bwMode="auto">
                <a:xfrm>
                  <a:off x="1898" y="2225"/>
                  <a:ext cx="12" cy="324"/>
                </a:xfrm>
                <a:prstGeom prst="rect">
                  <a:avLst/>
                </a:prstGeom>
                <a:solidFill>
                  <a:srgbClr val="F1F1D2"/>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1" name="Rectangle 77"/>
                <p:cNvSpPr>
                  <a:spLocks noChangeArrowheads="1"/>
                </p:cNvSpPr>
                <p:nvPr/>
              </p:nvSpPr>
              <p:spPr bwMode="auto">
                <a:xfrm>
                  <a:off x="1910" y="2225"/>
                  <a:ext cx="12" cy="324"/>
                </a:xfrm>
                <a:prstGeom prst="rect">
                  <a:avLst/>
                </a:prstGeom>
                <a:solidFill>
                  <a:srgbClr val="F2F2D3"/>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2" name="Rectangle 78"/>
                <p:cNvSpPr>
                  <a:spLocks noChangeArrowheads="1"/>
                </p:cNvSpPr>
                <p:nvPr/>
              </p:nvSpPr>
              <p:spPr bwMode="auto">
                <a:xfrm>
                  <a:off x="1922" y="2225"/>
                  <a:ext cx="12" cy="324"/>
                </a:xfrm>
                <a:prstGeom prst="rect">
                  <a:avLst/>
                </a:prstGeom>
                <a:solidFill>
                  <a:srgbClr val="F3F3D4"/>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3" name="Rectangle 79"/>
                <p:cNvSpPr>
                  <a:spLocks noChangeArrowheads="1"/>
                </p:cNvSpPr>
                <p:nvPr/>
              </p:nvSpPr>
              <p:spPr bwMode="auto">
                <a:xfrm>
                  <a:off x="1934" y="2225"/>
                  <a:ext cx="18" cy="324"/>
                </a:xfrm>
                <a:prstGeom prst="rect">
                  <a:avLst/>
                </a:prstGeom>
                <a:solidFill>
                  <a:srgbClr val="F4F4D5"/>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4" name="Rectangle 80"/>
                <p:cNvSpPr>
                  <a:spLocks noChangeArrowheads="1"/>
                </p:cNvSpPr>
                <p:nvPr/>
              </p:nvSpPr>
              <p:spPr bwMode="auto">
                <a:xfrm>
                  <a:off x="1952" y="2225"/>
                  <a:ext cx="18" cy="324"/>
                </a:xfrm>
                <a:prstGeom prst="rect">
                  <a:avLst/>
                </a:prstGeom>
                <a:solidFill>
                  <a:srgbClr val="F5F5D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5" name="Rectangle 81"/>
                <p:cNvSpPr>
                  <a:spLocks noChangeArrowheads="1"/>
                </p:cNvSpPr>
                <p:nvPr/>
              </p:nvSpPr>
              <p:spPr bwMode="auto">
                <a:xfrm>
                  <a:off x="1970" y="2225"/>
                  <a:ext cx="12" cy="324"/>
                </a:xfrm>
                <a:prstGeom prst="rect">
                  <a:avLst/>
                </a:prstGeom>
                <a:solidFill>
                  <a:srgbClr val="F6F6D7"/>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6" name="Rectangle 82"/>
                <p:cNvSpPr>
                  <a:spLocks noChangeArrowheads="1"/>
                </p:cNvSpPr>
                <p:nvPr/>
              </p:nvSpPr>
              <p:spPr bwMode="auto">
                <a:xfrm>
                  <a:off x="1982" y="2225"/>
                  <a:ext cx="12" cy="324"/>
                </a:xfrm>
                <a:prstGeom prst="rect">
                  <a:avLst/>
                </a:prstGeom>
                <a:solidFill>
                  <a:srgbClr val="F7F7D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7" name="Rectangle 83"/>
                <p:cNvSpPr>
                  <a:spLocks noChangeArrowheads="1"/>
                </p:cNvSpPr>
                <p:nvPr/>
              </p:nvSpPr>
              <p:spPr bwMode="auto">
                <a:xfrm>
                  <a:off x="1994" y="2225"/>
                  <a:ext cx="12" cy="324"/>
                </a:xfrm>
                <a:prstGeom prst="rect">
                  <a:avLst/>
                </a:prstGeom>
                <a:solidFill>
                  <a:srgbClr val="F8F8D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8" name="Rectangle 84"/>
                <p:cNvSpPr>
                  <a:spLocks noChangeArrowheads="1"/>
                </p:cNvSpPr>
                <p:nvPr/>
              </p:nvSpPr>
              <p:spPr bwMode="auto">
                <a:xfrm>
                  <a:off x="2006" y="2225"/>
                  <a:ext cx="12" cy="324"/>
                </a:xfrm>
                <a:prstGeom prst="rect">
                  <a:avLst/>
                </a:prstGeom>
                <a:solidFill>
                  <a:srgbClr val="F9F9D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79" name="Rectangle 85"/>
                <p:cNvSpPr>
                  <a:spLocks noChangeArrowheads="1"/>
                </p:cNvSpPr>
                <p:nvPr/>
              </p:nvSpPr>
              <p:spPr bwMode="auto">
                <a:xfrm>
                  <a:off x="2018" y="2225"/>
                  <a:ext cx="12" cy="324"/>
                </a:xfrm>
                <a:prstGeom prst="rect">
                  <a:avLst/>
                </a:prstGeom>
                <a:solidFill>
                  <a:srgbClr val="FAFAD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0" name="Rectangle 86"/>
                <p:cNvSpPr>
                  <a:spLocks noChangeArrowheads="1"/>
                </p:cNvSpPr>
                <p:nvPr/>
              </p:nvSpPr>
              <p:spPr bwMode="auto">
                <a:xfrm>
                  <a:off x="2030" y="2225"/>
                  <a:ext cx="12" cy="324"/>
                </a:xfrm>
                <a:prstGeom prst="rect">
                  <a:avLst/>
                </a:prstGeom>
                <a:solidFill>
                  <a:srgbClr val="FBFBD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1" name="Rectangle 87"/>
                <p:cNvSpPr>
                  <a:spLocks noChangeArrowheads="1"/>
                </p:cNvSpPr>
                <p:nvPr/>
              </p:nvSpPr>
              <p:spPr bwMode="auto">
                <a:xfrm>
                  <a:off x="2042" y="2225"/>
                  <a:ext cx="12" cy="324"/>
                </a:xfrm>
                <a:prstGeom prst="rect">
                  <a:avLst/>
                </a:prstGeom>
                <a:solidFill>
                  <a:srgbClr val="FCFCD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2" name="Rectangle 88"/>
                <p:cNvSpPr>
                  <a:spLocks noChangeArrowheads="1"/>
                </p:cNvSpPr>
                <p:nvPr/>
              </p:nvSpPr>
              <p:spPr bwMode="auto">
                <a:xfrm>
                  <a:off x="2054" y="2225"/>
                  <a:ext cx="12" cy="324"/>
                </a:xfrm>
                <a:prstGeom prst="rect">
                  <a:avLst/>
                </a:prstGeom>
                <a:solidFill>
                  <a:srgbClr val="FDFDD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3" name="Rectangle 89"/>
                <p:cNvSpPr>
                  <a:spLocks noChangeArrowheads="1"/>
                </p:cNvSpPr>
                <p:nvPr/>
              </p:nvSpPr>
              <p:spPr bwMode="auto">
                <a:xfrm>
                  <a:off x="2066" y="2225"/>
                  <a:ext cx="12" cy="324"/>
                </a:xfrm>
                <a:prstGeom prst="rect">
                  <a:avLst/>
                </a:prstGeom>
                <a:solidFill>
                  <a:srgbClr val="FEFED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4" name="Rectangle 90"/>
                <p:cNvSpPr>
                  <a:spLocks noChangeArrowheads="1"/>
                </p:cNvSpPr>
                <p:nvPr/>
              </p:nvSpPr>
              <p:spPr bwMode="auto">
                <a:xfrm>
                  <a:off x="2078" y="2225"/>
                  <a:ext cx="300" cy="324"/>
                </a:xfrm>
                <a:prstGeom prst="rect">
                  <a:avLst/>
                </a:prstGeom>
                <a:solidFill>
                  <a:srgbClr val="FFFFE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5" name="Rectangle 91"/>
                <p:cNvSpPr>
                  <a:spLocks noChangeArrowheads="1"/>
                </p:cNvSpPr>
                <p:nvPr/>
              </p:nvSpPr>
              <p:spPr bwMode="auto">
                <a:xfrm>
                  <a:off x="1790" y="2225"/>
                  <a:ext cx="588" cy="324"/>
                </a:xfrm>
                <a:prstGeom prst="rect">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86" name="Rectangle 92"/>
                <p:cNvSpPr>
                  <a:spLocks noChangeArrowheads="1"/>
                </p:cNvSpPr>
                <p:nvPr/>
              </p:nvSpPr>
              <p:spPr bwMode="auto">
                <a:xfrm>
                  <a:off x="1868" y="2279"/>
                  <a:ext cx="493"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000000"/>
                      </a:solidFill>
                      <a:latin typeface="Arial" pitchFamily="34" charset="0"/>
                      <a:ea typeface="ＭＳ Ｐゴシック"/>
                      <a:cs typeface="ＭＳ Ｐゴシック"/>
                    </a:rPr>
                    <a:t>GFI_Feature</a:t>
                  </a:r>
                  <a:endParaRPr lang="en-US">
                    <a:solidFill>
                      <a:srgbClr val="000000"/>
                    </a:solidFill>
                    <a:latin typeface="Arial" pitchFamily="34" charset="0"/>
                    <a:ea typeface="ＭＳ Ｐゴシック"/>
                    <a:cs typeface="ＭＳ Ｐゴシック"/>
                  </a:endParaRPr>
                </a:p>
              </p:txBody>
            </p:sp>
            <p:sp>
              <p:nvSpPr>
                <p:cNvPr id="287" name="Line 93"/>
                <p:cNvSpPr>
                  <a:spLocks noChangeShapeType="1"/>
                </p:cNvSpPr>
                <p:nvPr/>
              </p:nvSpPr>
              <p:spPr bwMode="auto">
                <a:xfrm>
                  <a:off x="1790" y="2405"/>
                  <a:ext cx="588"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grpSp>
            <p:nvGrpSpPr>
              <p:cNvPr id="179" name="Group 267"/>
              <p:cNvGrpSpPr>
                <a:grpSpLocks/>
              </p:cNvGrpSpPr>
              <p:nvPr/>
            </p:nvGrpSpPr>
            <p:grpSpPr bwMode="auto">
              <a:xfrm>
                <a:off x="556098" y="4696443"/>
                <a:ext cx="1133475" cy="542925"/>
                <a:chOff x="3548" y="3275"/>
                <a:chExt cx="594" cy="342"/>
              </a:xfrm>
            </p:grpSpPr>
            <p:sp>
              <p:nvSpPr>
                <p:cNvPr id="232" name="Rectangle 94"/>
                <p:cNvSpPr>
                  <a:spLocks noChangeArrowheads="1"/>
                </p:cNvSpPr>
                <p:nvPr/>
              </p:nvSpPr>
              <p:spPr bwMode="auto">
                <a:xfrm>
                  <a:off x="3566" y="3293"/>
                  <a:ext cx="576" cy="324"/>
                </a:xfrm>
                <a:prstGeom prst="rect">
                  <a:avLst/>
                </a:prstGeom>
                <a:solidFill>
                  <a:srgbClr val="C0BF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3" name="Rectangle 95"/>
                <p:cNvSpPr>
                  <a:spLocks noChangeArrowheads="1"/>
                </p:cNvSpPr>
                <p:nvPr/>
              </p:nvSpPr>
              <p:spPr bwMode="auto">
                <a:xfrm>
                  <a:off x="3548" y="3275"/>
                  <a:ext cx="12" cy="324"/>
                </a:xfrm>
                <a:prstGeom prst="rect">
                  <a:avLst/>
                </a:prstGeom>
                <a:solidFill>
                  <a:srgbClr val="B582E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4" name="Rectangle 96"/>
                <p:cNvSpPr>
                  <a:spLocks noChangeArrowheads="1"/>
                </p:cNvSpPr>
                <p:nvPr/>
              </p:nvSpPr>
              <p:spPr bwMode="auto">
                <a:xfrm>
                  <a:off x="3560" y="3275"/>
                  <a:ext cx="6" cy="324"/>
                </a:xfrm>
                <a:prstGeom prst="rect">
                  <a:avLst/>
                </a:prstGeom>
                <a:solidFill>
                  <a:srgbClr val="B683E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5" name="Rectangle 97"/>
                <p:cNvSpPr>
                  <a:spLocks noChangeArrowheads="1"/>
                </p:cNvSpPr>
                <p:nvPr/>
              </p:nvSpPr>
              <p:spPr bwMode="auto">
                <a:xfrm>
                  <a:off x="3566" y="3275"/>
                  <a:ext cx="18" cy="324"/>
                </a:xfrm>
                <a:prstGeom prst="rect">
                  <a:avLst/>
                </a:prstGeom>
                <a:solidFill>
                  <a:srgbClr val="B784E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6" name="Rectangle 98"/>
                <p:cNvSpPr>
                  <a:spLocks noChangeArrowheads="1"/>
                </p:cNvSpPr>
                <p:nvPr/>
              </p:nvSpPr>
              <p:spPr bwMode="auto">
                <a:xfrm>
                  <a:off x="3584" y="3275"/>
                  <a:ext cx="12" cy="324"/>
                </a:xfrm>
                <a:prstGeom prst="rect">
                  <a:avLst/>
                </a:prstGeom>
                <a:solidFill>
                  <a:srgbClr val="B885E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7" name="Rectangle 99"/>
                <p:cNvSpPr>
                  <a:spLocks noChangeArrowheads="1"/>
                </p:cNvSpPr>
                <p:nvPr/>
              </p:nvSpPr>
              <p:spPr bwMode="auto">
                <a:xfrm>
                  <a:off x="3596" y="3275"/>
                  <a:ext cx="6" cy="324"/>
                </a:xfrm>
                <a:prstGeom prst="rect">
                  <a:avLst/>
                </a:prstGeom>
                <a:solidFill>
                  <a:srgbClr val="B986E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8" name="Rectangle 100"/>
                <p:cNvSpPr>
                  <a:spLocks noChangeArrowheads="1"/>
                </p:cNvSpPr>
                <p:nvPr/>
              </p:nvSpPr>
              <p:spPr bwMode="auto">
                <a:xfrm>
                  <a:off x="3602" y="3275"/>
                  <a:ext cx="18" cy="324"/>
                </a:xfrm>
                <a:prstGeom prst="rect">
                  <a:avLst/>
                </a:prstGeom>
                <a:solidFill>
                  <a:srgbClr val="BA87E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9" name="Rectangle 101"/>
                <p:cNvSpPr>
                  <a:spLocks noChangeArrowheads="1"/>
                </p:cNvSpPr>
                <p:nvPr/>
              </p:nvSpPr>
              <p:spPr bwMode="auto">
                <a:xfrm>
                  <a:off x="3620" y="3275"/>
                  <a:ext cx="12" cy="324"/>
                </a:xfrm>
                <a:prstGeom prst="rect">
                  <a:avLst/>
                </a:prstGeom>
                <a:solidFill>
                  <a:srgbClr val="BB88E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0" name="Rectangle 102"/>
                <p:cNvSpPr>
                  <a:spLocks noChangeArrowheads="1"/>
                </p:cNvSpPr>
                <p:nvPr/>
              </p:nvSpPr>
              <p:spPr bwMode="auto">
                <a:xfrm>
                  <a:off x="3632" y="3275"/>
                  <a:ext cx="6" cy="324"/>
                </a:xfrm>
                <a:prstGeom prst="rect">
                  <a:avLst/>
                </a:prstGeom>
                <a:solidFill>
                  <a:srgbClr val="BC89E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1" name="Rectangle 103"/>
                <p:cNvSpPr>
                  <a:spLocks noChangeArrowheads="1"/>
                </p:cNvSpPr>
                <p:nvPr/>
              </p:nvSpPr>
              <p:spPr bwMode="auto">
                <a:xfrm>
                  <a:off x="3638" y="3275"/>
                  <a:ext cx="18" cy="324"/>
                </a:xfrm>
                <a:prstGeom prst="rect">
                  <a:avLst/>
                </a:prstGeom>
                <a:solidFill>
                  <a:srgbClr val="BD8AF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2" name="Rectangle 104"/>
                <p:cNvSpPr>
                  <a:spLocks noChangeArrowheads="1"/>
                </p:cNvSpPr>
                <p:nvPr/>
              </p:nvSpPr>
              <p:spPr bwMode="auto">
                <a:xfrm>
                  <a:off x="3656" y="3275"/>
                  <a:ext cx="12" cy="324"/>
                </a:xfrm>
                <a:prstGeom prst="rect">
                  <a:avLst/>
                </a:prstGeom>
                <a:solidFill>
                  <a:srgbClr val="BE8BF1"/>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3" name="Rectangle 105"/>
                <p:cNvSpPr>
                  <a:spLocks noChangeArrowheads="1"/>
                </p:cNvSpPr>
                <p:nvPr/>
              </p:nvSpPr>
              <p:spPr bwMode="auto">
                <a:xfrm>
                  <a:off x="3668" y="3275"/>
                  <a:ext cx="6" cy="324"/>
                </a:xfrm>
                <a:prstGeom prst="rect">
                  <a:avLst/>
                </a:prstGeom>
                <a:solidFill>
                  <a:srgbClr val="BF8CF2"/>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4" name="Rectangle 106"/>
                <p:cNvSpPr>
                  <a:spLocks noChangeArrowheads="1"/>
                </p:cNvSpPr>
                <p:nvPr/>
              </p:nvSpPr>
              <p:spPr bwMode="auto">
                <a:xfrm>
                  <a:off x="3674" y="3275"/>
                  <a:ext cx="18" cy="324"/>
                </a:xfrm>
                <a:prstGeom prst="rect">
                  <a:avLst/>
                </a:prstGeom>
                <a:solidFill>
                  <a:srgbClr val="C08DF3"/>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5" name="Rectangle 107"/>
                <p:cNvSpPr>
                  <a:spLocks noChangeArrowheads="1"/>
                </p:cNvSpPr>
                <p:nvPr/>
              </p:nvSpPr>
              <p:spPr bwMode="auto">
                <a:xfrm>
                  <a:off x="3692" y="3275"/>
                  <a:ext cx="12" cy="324"/>
                </a:xfrm>
                <a:prstGeom prst="rect">
                  <a:avLst/>
                </a:prstGeom>
                <a:solidFill>
                  <a:srgbClr val="C18EF4"/>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6" name="Rectangle 108"/>
                <p:cNvSpPr>
                  <a:spLocks noChangeArrowheads="1"/>
                </p:cNvSpPr>
                <p:nvPr/>
              </p:nvSpPr>
              <p:spPr bwMode="auto">
                <a:xfrm>
                  <a:off x="3704" y="3275"/>
                  <a:ext cx="18" cy="324"/>
                </a:xfrm>
                <a:prstGeom prst="rect">
                  <a:avLst/>
                </a:prstGeom>
                <a:solidFill>
                  <a:srgbClr val="C28FF5"/>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7" name="Rectangle 109"/>
                <p:cNvSpPr>
                  <a:spLocks noChangeArrowheads="1"/>
                </p:cNvSpPr>
                <p:nvPr/>
              </p:nvSpPr>
              <p:spPr bwMode="auto">
                <a:xfrm>
                  <a:off x="3722" y="3275"/>
                  <a:ext cx="18" cy="324"/>
                </a:xfrm>
                <a:prstGeom prst="rect">
                  <a:avLst/>
                </a:prstGeom>
                <a:solidFill>
                  <a:srgbClr val="C390F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8" name="Rectangle 110"/>
                <p:cNvSpPr>
                  <a:spLocks noChangeArrowheads="1"/>
                </p:cNvSpPr>
                <p:nvPr/>
              </p:nvSpPr>
              <p:spPr bwMode="auto">
                <a:xfrm>
                  <a:off x="3740" y="3275"/>
                  <a:ext cx="6" cy="324"/>
                </a:xfrm>
                <a:prstGeom prst="rect">
                  <a:avLst/>
                </a:prstGeom>
                <a:solidFill>
                  <a:srgbClr val="C491F7"/>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49" name="Rectangle 111"/>
                <p:cNvSpPr>
                  <a:spLocks noChangeArrowheads="1"/>
                </p:cNvSpPr>
                <p:nvPr/>
              </p:nvSpPr>
              <p:spPr bwMode="auto">
                <a:xfrm>
                  <a:off x="3746" y="3275"/>
                  <a:ext cx="18" cy="324"/>
                </a:xfrm>
                <a:prstGeom prst="rect">
                  <a:avLst/>
                </a:prstGeom>
                <a:solidFill>
                  <a:srgbClr val="C592F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0" name="Rectangle 112"/>
                <p:cNvSpPr>
                  <a:spLocks noChangeArrowheads="1"/>
                </p:cNvSpPr>
                <p:nvPr/>
              </p:nvSpPr>
              <p:spPr bwMode="auto">
                <a:xfrm>
                  <a:off x="3764" y="3275"/>
                  <a:ext cx="12" cy="324"/>
                </a:xfrm>
                <a:prstGeom prst="rect">
                  <a:avLst/>
                </a:prstGeom>
                <a:solidFill>
                  <a:srgbClr val="C693F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1" name="Rectangle 113"/>
                <p:cNvSpPr>
                  <a:spLocks noChangeArrowheads="1"/>
                </p:cNvSpPr>
                <p:nvPr/>
              </p:nvSpPr>
              <p:spPr bwMode="auto">
                <a:xfrm>
                  <a:off x="3776" y="3275"/>
                  <a:ext cx="6" cy="324"/>
                </a:xfrm>
                <a:prstGeom prst="rect">
                  <a:avLst/>
                </a:prstGeom>
                <a:solidFill>
                  <a:srgbClr val="C794F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2" name="Rectangle 114"/>
                <p:cNvSpPr>
                  <a:spLocks noChangeArrowheads="1"/>
                </p:cNvSpPr>
                <p:nvPr/>
              </p:nvSpPr>
              <p:spPr bwMode="auto">
                <a:xfrm>
                  <a:off x="3782" y="3275"/>
                  <a:ext cx="18" cy="324"/>
                </a:xfrm>
                <a:prstGeom prst="rect">
                  <a:avLst/>
                </a:prstGeom>
                <a:solidFill>
                  <a:srgbClr val="C895F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3" name="Rectangle 115"/>
                <p:cNvSpPr>
                  <a:spLocks noChangeArrowheads="1"/>
                </p:cNvSpPr>
                <p:nvPr/>
              </p:nvSpPr>
              <p:spPr bwMode="auto">
                <a:xfrm>
                  <a:off x="3800" y="3275"/>
                  <a:ext cx="12" cy="324"/>
                </a:xfrm>
                <a:prstGeom prst="rect">
                  <a:avLst/>
                </a:prstGeom>
                <a:solidFill>
                  <a:srgbClr val="C996F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4" name="Rectangle 116"/>
                <p:cNvSpPr>
                  <a:spLocks noChangeArrowheads="1"/>
                </p:cNvSpPr>
                <p:nvPr/>
              </p:nvSpPr>
              <p:spPr bwMode="auto">
                <a:xfrm>
                  <a:off x="3812" y="3275"/>
                  <a:ext cx="6" cy="324"/>
                </a:xfrm>
                <a:prstGeom prst="rect">
                  <a:avLst/>
                </a:prstGeom>
                <a:solidFill>
                  <a:srgbClr val="CA97F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5" name="Rectangle 117"/>
                <p:cNvSpPr>
                  <a:spLocks noChangeArrowheads="1"/>
                </p:cNvSpPr>
                <p:nvPr/>
              </p:nvSpPr>
              <p:spPr bwMode="auto">
                <a:xfrm>
                  <a:off x="3818" y="3275"/>
                  <a:ext cx="18" cy="324"/>
                </a:xfrm>
                <a:prstGeom prst="rect">
                  <a:avLst/>
                </a:prstGeom>
                <a:solidFill>
                  <a:srgbClr val="CB98F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6" name="Rectangle 118"/>
                <p:cNvSpPr>
                  <a:spLocks noChangeArrowheads="1"/>
                </p:cNvSpPr>
                <p:nvPr/>
              </p:nvSpPr>
              <p:spPr bwMode="auto">
                <a:xfrm>
                  <a:off x="3836" y="3275"/>
                  <a:ext cx="288" cy="324"/>
                </a:xfrm>
                <a:prstGeom prst="rect">
                  <a:avLst/>
                </a:prstGeom>
                <a:solidFill>
                  <a:srgbClr val="CC99F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7" name="Rectangle 119"/>
                <p:cNvSpPr>
                  <a:spLocks noChangeArrowheads="1"/>
                </p:cNvSpPr>
                <p:nvPr/>
              </p:nvSpPr>
              <p:spPr bwMode="auto">
                <a:xfrm>
                  <a:off x="3548" y="3275"/>
                  <a:ext cx="576" cy="324"/>
                </a:xfrm>
                <a:prstGeom prst="rect">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58" name="Rectangle 120"/>
                <p:cNvSpPr>
                  <a:spLocks noChangeArrowheads="1"/>
                </p:cNvSpPr>
                <p:nvPr/>
              </p:nvSpPr>
              <p:spPr bwMode="auto">
                <a:xfrm>
                  <a:off x="3614" y="3329"/>
                  <a:ext cx="504"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000000"/>
                      </a:solidFill>
                      <a:latin typeface="Arial" pitchFamily="34" charset="0"/>
                      <a:ea typeface="ＭＳ Ｐゴシック"/>
                      <a:cs typeface="ＭＳ Ｐゴシック"/>
                    </a:rPr>
                    <a:t>OM_Process</a:t>
                  </a:r>
                  <a:endParaRPr lang="en-US">
                    <a:solidFill>
                      <a:srgbClr val="000000"/>
                    </a:solidFill>
                    <a:latin typeface="Arial" pitchFamily="34" charset="0"/>
                    <a:ea typeface="ＭＳ Ｐゴシック"/>
                    <a:cs typeface="ＭＳ Ｐゴシック"/>
                  </a:endParaRPr>
                </a:p>
              </p:txBody>
            </p:sp>
            <p:sp>
              <p:nvSpPr>
                <p:cNvPr id="259" name="Line 121"/>
                <p:cNvSpPr>
                  <a:spLocks noChangeShapeType="1"/>
                </p:cNvSpPr>
                <p:nvPr/>
              </p:nvSpPr>
              <p:spPr bwMode="auto">
                <a:xfrm>
                  <a:off x="3548" y="3455"/>
                  <a:ext cx="576"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grpSp>
            <p:nvGrpSpPr>
              <p:cNvPr id="182" name="Group 268"/>
              <p:cNvGrpSpPr>
                <a:grpSpLocks/>
              </p:cNvGrpSpPr>
              <p:nvPr/>
            </p:nvGrpSpPr>
            <p:grpSpPr bwMode="auto">
              <a:xfrm>
                <a:off x="2437286" y="4705968"/>
                <a:ext cx="809625" cy="542925"/>
                <a:chOff x="4832" y="3281"/>
                <a:chExt cx="552" cy="342"/>
              </a:xfrm>
            </p:grpSpPr>
            <p:sp>
              <p:nvSpPr>
                <p:cNvPr id="204" name="Rectangle 166"/>
                <p:cNvSpPr>
                  <a:spLocks noChangeArrowheads="1"/>
                </p:cNvSpPr>
                <p:nvPr/>
              </p:nvSpPr>
              <p:spPr bwMode="auto">
                <a:xfrm>
                  <a:off x="4850" y="3299"/>
                  <a:ext cx="534" cy="324"/>
                </a:xfrm>
                <a:prstGeom prst="rect">
                  <a:avLst/>
                </a:prstGeom>
                <a:solidFill>
                  <a:srgbClr val="C0BF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5" name="Rectangle 167"/>
                <p:cNvSpPr>
                  <a:spLocks noChangeArrowheads="1"/>
                </p:cNvSpPr>
                <p:nvPr/>
              </p:nvSpPr>
              <p:spPr bwMode="auto">
                <a:xfrm>
                  <a:off x="4832" y="3281"/>
                  <a:ext cx="6" cy="324"/>
                </a:xfrm>
                <a:prstGeom prst="rect">
                  <a:avLst/>
                </a:prstGeom>
                <a:solidFill>
                  <a:srgbClr val="B5E8B5"/>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6" name="Rectangle 168"/>
                <p:cNvSpPr>
                  <a:spLocks noChangeArrowheads="1"/>
                </p:cNvSpPr>
                <p:nvPr/>
              </p:nvSpPr>
              <p:spPr bwMode="auto">
                <a:xfrm>
                  <a:off x="4838" y="3281"/>
                  <a:ext cx="12" cy="324"/>
                </a:xfrm>
                <a:prstGeom prst="rect">
                  <a:avLst/>
                </a:prstGeom>
                <a:solidFill>
                  <a:srgbClr val="B6E9B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7" name="Rectangle 169"/>
                <p:cNvSpPr>
                  <a:spLocks noChangeArrowheads="1"/>
                </p:cNvSpPr>
                <p:nvPr/>
              </p:nvSpPr>
              <p:spPr bwMode="auto">
                <a:xfrm>
                  <a:off x="4850" y="3281"/>
                  <a:ext cx="12" cy="324"/>
                </a:xfrm>
                <a:prstGeom prst="rect">
                  <a:avLst/>
                </a:prstGeom>
                <a:solidFill>
                  <a:srgbClr val="B7EAB7"/>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8" name="Rectangle 170"/>
                <p:cNvSpPr>
                  <a:spLocks noChangeArrowheads="1"/>
                </p:cNvSpPr>
                <p:nvPr/>
              </p:nvSpPr>
              <p:spPr bwMode="auto">
                <a:xfrm>
                  <a:off x="4862" y="3281"/>
                  <a:ext cx="12" cy="324"/>
                </a:xfrm>
                <a:prstGeom prst="rect">
                  <a:avLst/>
                </a:prstGeom>
                <a:solidFill>
                  <a:srgbClr val="B8EBB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09" name="Rectangle 171"/>
                <p:cNvSpPr>
                  <a:spLocks noChangeArrowheads="1"/>
                </p:cNvSpPr>
                <p:nvPr/>
              </p:nvSpPr>
              <p:spPr bwMode="auto">
                <a:xfrm>
                  <a:off x="4874" y="3281"/>
                  <a:ext cx="12" cy="324"/>
                </a:xfrm>
                <a:prstGeom prst="rect">
                  <a:avLst/>
                </a:prstGeom>
                <a:solidFill>
                  <a:srgbClr val="B9ECB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0" name="Rectangle 172"/>
                <p:cNvSpPr>
                  <a:spLocks noChangeArrowheads="1"/>
                </p:cNvSpPr>
                <p:nvPr/>
              </p:nvSpPr>
              <p:spPr bwMode="auto">
                <a:xfrm>
                  <a:off x="4886" y="3281"/>
                  <a:ext cx="12" cy="324"/>
                </a:xfrm>
                <a:prstGeom prst="rect">
                  <a:avLst/>
                </a:prstGeom>
                <a:solidFill>
                  <a:srgbClr val="BAEDB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1" name="Rectangle 173"/>
                <p:cNvSpPr>
                  <a:spLocks noChangeArrowheads="1"/>
                </p:cNvSpPr>
                <p:nvPr/>
              </p:nvSpPr>
              <p:spPr bwMode="auto">
                <a:xfrm>
                  <a:off x="4898" y="3281"/>
                  <a:ext cx="12" cy="324"/>
                </a:xfrm>
                <a:prstGeom prst="rect">
                  <a:avLst/>
                </a:prstGeom>
                <a:solidFill>
                  <a:srgbClr val="BBEEB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2" name="Rectangle 174"/>
                <p:cNvSpPr>
                  <a:spLocks noChangeArrowheads="1"/>
                </p:cNvSpPr>
                <p:nvPr/>
              </p:nvSpPr>
              <p:spPr bwMode="auto">
                <a:xfrm>
                  <a:off x="4910" y="3281"/>
                  <a:ext cx="6" cy="324"/>
                </a:xfrm>
                <a:prstGeom prst="rect">
                  <a:avLst/>
                </a:prstGeom>
                <a:solidFill>
                  <a:srgbClr val="BCEFB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3" name="Rectangle 175"/>
                <p:cNvSpPr>
                  <a:spLocks noChangeArrowheads="1"/>
                </p:cNvSpPr>
                <p:nvPr/>
              </p:nvSpPr>
              <p:spPr bwMode="auto">
                <a:xfrm>
                  <a:off x="4916" y="3281"/>
                  <a:ext cx="12" cy="324"/>
                </a:xfrm>
                <a:prstGeom prst="rect">
                  <a:avLst/>
                </a:prstGeom>
                <a:solidFill>
                  <a:srgbClr val="BDF0BD"/>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4" name="Rectangle 176"/>
                <p:cNvSpPr>
                  <a:spLocks noChangeArrowheads="1"/>
                </p:cNvSpPr>
                <p:nvPr/>
              </p:nvSpPr>
              <p:spPr bwMode="auto">
                <a:xfrm>
                  <a:off x="4928" y="3281"/>
                  <a:ext cx="12" cy="324"/>
                </a:xfrm>
                <a:prstGeom prst="rect">
                  <a:avLst/>
                </a:prstGeom>
                <a:solidFill>
                  <a:srgbClr val="BEF1BE"/>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5" name="Rectangle 177"/>
                <p:cNvSpPr>
                  <a:spLocks noChangeArrowheads="1"/>
                </p:cNvSpPr>
                <p:nvPr/>
              </p:nvSpPr>
              <p:spPr bwMode="auto">
                <a:xfrm>
                  <a:off x="4940" y="3281"/>
                  <a:ext cx="12" cy="324"/>
                </a:xfrm>
                <a:prstGeom prst="rect">
                  <a:avLst/>
                </a:prstGeom>
                <a:solidFill>
                  <a:srgbClr val="BFF2BF"/>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6" name="Rectangle 178"/>
                <p:cNvSpPr>
                  <a:spLocks noChangeArrowheads="1"/>
                </p:cNvSpPr>
                <p:nvPr/>
              </p:nvSpPr>
              <p:spPr bwMode="auto">
                <a:xfrm>
                  <a:off x="4952" y="3281"/>
                  <a:ext cx="12" cy="324"/>
                </a:xfrm>
                <a:prstGeom prst="rect">
                  <a:avLst/>
                </a:prstGeom>
                <a:solidFill>
                  <a:srgbClr val="C0F3C0"/>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7" name="Rectangle 179"/>
                <p:cNvSpPr>
                  <a:spLocks noChangeArrowheads="1"/>
                </p:cNvSpPr>
                <p:nvPr/>
              </p:nvSpPr>
              <p:spPr bwMode="auto">
                <a:xfrm>
                  <a:off x="4964" y="3281"/>
                  <a:ext cx="12" cy="324"/>
                </a:xfrm>
                <a:prstGeom prst="rect">
                  <a:avLst/>
                </a:prstGeom>
                <a:solidFill>
                  <a:srgbClr val="C1F4C1"/>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8" name="Rectangle 180"/>
                <p:cNvSpPr>
                  <a:spLocks noChangeArrowheads="1"/>
                </p:cNvSpPr>
                <p:nvPr/>
              </p:nvSpPr>
              <p:spPr bwMode="auto">
                <a:xfrm>
                  <a:off x="4976" y="3281"/>
                  <a:ext cx="18" cy="324"/>
                </a:xfrm>
                <a:prstGeom prst="rect">
                  <a:avLst/>
                </a:prstGeom>
                <a:solidFill>
                  <a:srgbClr val="C2F5C2"/>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19" name="Rectangle 181"/>
                <p:cNvSpPr>
                  <a:spLocks noChangeArrowheads="1"/>
                </p:cNvSpPr>
                <p:nvPr/>
              </p:nvSpPr>
              <p:spPr bwMode="auto">
                <a:xfrm>
                  <a:off x="4994" y="3281"/>
                  <a:ext cx="12" cy="324"/>
                </a:xfrm>
                <a:prstGeom prst="rect">
                  <a:avLst/>
                </a:prstGeom>
                <a:solidFill>
                  <a:srgbClr val="C3F6C3"/>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0" name="Rectangle 182"/>
                <p:cNvSpPr>
                  <a:spLocks noChangeArrowheads="1"/>
                </p:cNvSpPr>
                <p:nvPr/>
              </p:nvSpPr>
              <p:spPr bwMode="auto">
                <a:xfrm>
                  <a:off x="5006" y="3281"/>
                  <a:ext cx="12" cy="324"/>
                </a:xfrm>
                <a:prstGeom prst="rect">
                  <a:avLst/>
                </a:prstGeom>
                <a:solidFill>
                  <a:srgbClr val="C4F7C4"/>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1" name="Rectangle 183"/>
                <p:cNvSpPr>
                  <a:spLocks noChangeArrowheads="1"/>
                </p:cNvSpPr>
                <p:nvPr/>
              </p:nvSpPr>
              <p:spPr bwMode="auto">
                <a:xfrm>
                  <a:off x="5018" y="3281"/>
                  <a:ext cx="12" cy="324"/>
                </a:xfrm>
                <a:prstGeom prst="rect">
                  <a:avLst/>
                </a:prstGeom>
                <a:solidFill>
                  <a:srgbClr val="C5F8C5"/>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2" name="Rectangle 184"/>
                <p:cNvSpPr>
                  <a:spLocks noChangeArrowheads="1"/>
                </p:cNvSpPr>
                <p:nvPr/>
              </p:nvSpPr>
              <p:spPr bwMode="auto">
                <a:xfrm>
                  <a:off x="5030" y="3281"/>
                  <a:ext cx="12" cy="324"/>
                </a:xfrm>
                <a:prstGeom prst="rect">
                  <a:avLst/>
                </a:prstGeom>
                <a:solidFill>
                  <a:srgbClr val="C6F9C6"/>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3" name="Rectangle 185"/>
                <p:cNvSpPr>
                  <a:spLocks noChangeArrowheads="1"/>
                </p:cNvSpPr>
                <p:nvPr/>
              </p:nvSpPr>
              <p:spPr bwMode="auto">
                <a:xfrm>
                  <a:off x="5042" y="3281"/>
                  <a:ext cx="12" cy="324"/>
                </a:xfrm>
                <a:prstGeom prst="rect">
                  <a:avLst/>
                </a:prstGeom>
                <a:solidFill>
                  <a:srgbClr val="C7FAC7"/>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4" name="Rectangle 186"/>
                <p:cNvSpPr>
                  <a:spLocks noChangeArrowheads="1"/>
                </p:cNvSpPr>
                <p:nvPr/>
              </p:nvSpPr>
              <p:spPr bwMode="auto">
                <a:xfrm>
                  <a:off x="5054" y="3281"/>
                  <a:ext cx="12" cy="324"/>
                </a:xfrm>
                <a:prstGeom prst="rect">
                  <a:avLst/>
                </a:prstGeom>
                <a:solidFill>
                  <a:srgbClr val="C8FBC8"/>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5" name="Rectangle 187"/>
                <p:cNvSpPr>
                  <a:spLocks noChangeArrowheads="1"/>
                </p:cNvSpPr>
                <p:nvPr/>
              </p:nvSpPr>
              <p:spPr bwMode="auto">
                <a:xfrm>
                  <a:off x="5066" y="3281"/>
                  <a:ext cx="6" cy="324"/>
                </a:xfrm>
                <a:prstGeom prst="rect">
                  <a:avLst/>
                </a:prstGeom>
                <a:solidFill>
                  <a:srgbClr val="C9FCC9"/>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6" name="Rectangle 188"/>
                <p:cNvSpPr>
                  <a:spLocks noChangeArrowheads="1"/>
                </p:cNvSpPr>
                <p:nvPr/>
              </p:nvSpPr>
              <p:spPr bwMode="auto">
                <a:xfrm>
                  <a:off x="5072" y="3281"/>
                  <a:ext cx="12" cy="324"/>
                </a:xfrm>
                <a:prstGeom prst="rect">
                  <a:avLst/>
                </a:prstGeom>
                <a:solidFill>
                  <a:srgbClr val="CAFDCA"/>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7" name="Rectangle 189"/>
                <p:cNvSpPr>
                  <a:spLocks noChangeArrowheads="1"/>
                </p:cNvSpPr>
                <p:nvPr/>
              </p:nvSpPr>
              <p:spPr bwMode="auto">
                <a:xfrm>
                  <a:off x="5084" y="3281"/>
                  <a:ext cx="12" cy="324"/>
                </a:xfrm>
                <a:prstGeom prst="rect">
                  <a:avLst/>
                </a:prstGeom>
                <a:solidFill>
                  <a:srgbClr val="CBFECB"/>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8" name="Rectangle 190"/>
                <p:cNvSpPr>
                  <a:spLocks noChangeArrowheads="1"/>
                </p:cNvSpPr>
                <p:nvPr/>
              </p:nvSpPr>
              <p:spPr bwMode="auto">
                <a:xfrm>
                  <a:off x="5096" y="3281"/>
                  <a:ext cx="270" cy="324"/>
                </a:xfrm>
                <a:prstGeom prst="rect">
                  <a:avLst/>
                </a:prstGeom>
                <a:solidFill>
                  <a:srgbClr val="CCFFCC"/>
                </a:solidFill>
                <a:ln w="9525">
                  <a:no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29" name="Rectangle 191"/>
                <p:cNvSpPr>
                  <a:spLocks noChangeArrowheads="1"/>
                </p:cNvSpPr>
                <p:nvPr/>
              </p:nvSpPr>
              <p:spPr bwMode="auto">
                <a:xfrm>
                  <a:off x="4832" y="3281"/>
                  <a:ext cx="534" cy="324"/>
                </a:xfrm>
                <a:prstGeom prst="rect">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pitchFamily="34" charset="0"/>
                    <a:ea typeface="ＭＳ Ｐゴシック"/>
                    <a:cs typeface="ＭＳ Ｐゴシック"/>
                  </a:endParaRPr>
                </a:p>
              </p:txBody>
            </p:sp>
            <p:sp>
              <p:nvSpPr>
                <p:cNvPr id="230" name="Rectangle 192"/>
                <p:cNvSpPr>
                  <a:spLocks noChangeArrowheads="1"/>
                </p:cNvSpPr>
                <p:nvPr/>
              </p:nvSpPr>
              <p:spPr bwMode="auto">
                <a:xfrm>
                  <a:off x="5030" y="3335"/>
                  <a:ext cx="150" cy="97"/>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000">
                      <a:solidFill>
                        <a:srgbClr val="000000"/>
                      </a:solidFill>
                      <a:latin typeface="Arial" pitchFamily="34" charset="0"/>
                      <a:ea typeface="ＭＳ Ｐゴシック"/>
                      <a:cs typeface="ＭＳ Ｐゴシック"/>
                    </a:rPr>
                    <a:t>Any</a:t>
                  </a:r>
                  <a:endParaRPr lang="en-US">
                    <a:solidFill>
                      <a:srgbClr val="000000"/>
                    </a:solidFill>
                    <a:latin typeface="Arial" pitchFamily="34" charset="0"/>
                    <a:ea typeface="ＭＳ Ｐゴシック"/>
                    <a:cs typeface="ＭＳ Ｐゴシック"/>
                  </a:endParaRPr>
                </a:p>
              </p:txBody>
            </p:sp>
            <p:sp>
              <p:nvSpPr>
                <p:cNvPr id="231" name="Line 193"/>
                <p:cNvSpPr>
                  <a:spLocks noChangeShapeType="1"/>
                </p:cNvSpPr>
                <p:nvPr/>
              </p:nvSpPr>
              <p:spPr bwMode="auto">
                <a:xfrm>
                  <a:off x="4832" y="3461"/>
                  <a:ext cx="534" cy="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grpSp>
            <p:nvGrpSpPr>
              <p:cNvPr id="183" name="Group 273"/>
              <p:cNvGrpSpPr>
                <a:grpSpLocks/>
              </p:cNvGrpSpPr>
              <p:nvPr/>
            </p:nvGrpSpPr>
            <p:grpSpPr bwMode="auto">
              <a:xfrm>
                <a:off x="1989611" y="3201018"/>
                <a:ext cx="1546225" cy="431800"/>
                <a:chOff x="4526" y="2333"/>
                <a:chExt cx="1055" cy="272"/>
              </a:xfrm>
            </p:grpSpPr>
            <p:sp>
              <p:nvSpPr>
                <p:cNvPr id="200" name="Line 225"/>
                <p:cNvSpPr>
                  <a:spLocks noChangeShapeType="1"/>
                </p:cNvSpPr>
                <p:nvPr/>
              </p:nvSpPr>
              <p:spPr bwMode="auto">
                <a:xfrm flipV="1">
                  <a:off x="4526" y="2429"/>
                  <a:ext cx="234" cy="30"/>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201" name="Freeform 226"/>
                <p:cNvSpPr>
                  <a:spLocks noEditPoints="1"/>
                </p:cNvSpPr>
                <p:nvPr/>
              </p:nvSpPr>
              <p:spPr bwMode="auto">
                <a:xfrm>
                  <a:off x="4664" y="2405"/>
                  <a:ext cx="96" cy="72"/>
                </a:xfrm>
                <a:custGeom>
                  <a:avLst/>
                  <a:gdLst>
                    <a:gd name="T0" fmla="*/ 96 w 96"/>
                    <a:gd name="T1" fmla="*/ 24 h 72"/>
                    <a:gd name="T2" fmla="*/ 12 w 96"/>
                    <a:gd name="T3" fmla="*/ 72 h 72"/>
                    <a:gd name="T4" fmla="*/ 96 w 96"/>
                    <a:gd name="T5" fmla="*/ 24 h 72"/>
                    <a:gd name="T6" fmla="*/ 0 w 96"/>
                    <a:gd name="T7" fmla="*/ 0 h 72"/>
                    <a:gd name="T8" fmla="*/ 0 60000 65536"/>
                    <a:gd name="T9" fmla="*/ 0 60000 65536"/>
                    <a:gd name="T10" fmla="*/ 0 60000 65536"/>
                    <a:gd name="T11" fmla="*/ 0 60000 65536"/>
                    <a:gd name="T12" fmla="*/ 0 w 96"/>
                    <a:gd name="T13" fmla="*/ 0 h 72"/>
                    <a:gd name="T14" fmla="*/ 96 w 96"/>
                    <a:gd name="T15" fmla="*/ 72 h 72"/>
                  </a:gdLst>
                  <a:ahLst/>
                  <a:cxnLst>
                    <a:cxn ang="T8">
                      <a:pos x="T0" y="T1"/>
                    </a:cxn>
                    <a:cxn ang="T9">
                      <a:pos x="T2" y="T3"/>
                    </a:cxn>
                    <a:cxn ang="T10">
                      <a:pos x="T4" y="T5"/>
                    </a:cxn>
                    <a:cxn ang="T11">
                      <a:pos x="T6" y="T7"/>
                    </a:cxn>
                  </a:cxnLst>
                  <a:rect l="T12" t="T13" r="T14" b="T15"/>
                  <a:pathLst>
                    <a:path w="96" h="72">
                      <a:moveTo>
                        <a:pt x="96" y="24"/>
                      </a:moveTo>
                      <a:lnTo>
                        <a:pt x="12" y="72"/>
                      </a:lnTo>
                      <a:moveTo>
                        <a:pt x="96" y="24"/>
                      </a:moveTo>
                      <a:lnTo>
                        <a:pt x="0" y="0"/>
                      </a:lnTo>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202" name="Rectangle 227"/>
                <p:cNvSpPr>
                  <a:spLocks noChangeArrowheads="1"/>
                </p:cNvSpPr>
                <p:nvPr/>
              </p:nvSpPr>
              <p:spPr bwMode="auto">
                <a:xfrm>
                  <a:off x="4694" y="2489"/>
                  <a:ext cx="887" cy="116"/>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200">
                      <a:solidFill>
                        <a:srgbClr val="000000"/>
                      </a:solidFill>
                      <a:latin typeface="Arial" pitchFamily="34" charset="0"/>
                      <a:ea typeface="ＭＳ Ｐゴシック"/>
                      <a:cs typeface="ＭＳ Ｐゴシック"/>
                    </a:rPr>
                    <a:t>+observedProperty</a:t>
                  </a:r>
                  <a:endParaRPr lang="en-US" sz="3600">
                    <a:solidFill>
                      <a:srgbClr val="000000"/>
                    </a:solidFill>
                    <a:latin typeface="Arial" pitchFamily="34" charset="0"/>
                    <a:ea typeface="ＭＳ Ｐゴシック"/>
                    <a:cs typeface="ＭＳ Ｐゴシック"/>
                  </a:endParaRPr>
                </a:p>
              </p:txBody>
            </p:sp>
            <p:sp>
              <p:nvSpPr>
                <p:cNvPr id="203" name="Rectangle 228"/>
                <p:cNvSpPr>
                  <a:spLocks noChangeArrowheads="1"/>
                </p:cNvSpPr>
                <p:nvPr/>
              </p:nvSpPr>
              <p:spPr bwMode="auto">
                <a:xfrm>
                  <a:off x="4694" y="2333"/>
                  <a:ext cx="39" cy="78"/>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grpSp>
          <p:grpSp>
            <p:nvGrpSpPr>
              <p:cNvPr id="184" name="Group 178"/>
              <p:cNvGrpSpPr>
                <a:grpSpLocks/>
              </p:cNvGrpSpPr>
              <p:nvPr/>
            </p:nvGrpSpPr>
            <p:grpSpPr bwMode="auto">
              <a:xfrm rot="7440675">
                <a:off x="1337943" y="2277886"/>
                <a:ext cx="1281112" cy="180975"/>
                <a:chOff x="3532889" y="2379360"/>
                <a:chExt cx="1582615" cy="190500"/>
              </a:xfrm>
            </p:grpSpPr>
            <p:sp>
              <p:nvSpPr>
                <p:cNvPr id="198" name="Line 229"/>
                <p:cNvSpPr>
                  <a:spLocks noChangeShapeType="1"/>
                </p:cNvSpPr>
                <p:nvPr/>
              </p:nvSpPr>
              <p:spPr bwMode="auto">
                <a:xfrm flipH="1" flipV="1">
                  <a:off x="3532889" y="2426985"/>
                  <a:ext cx="1582615" cy="142875"/>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9" name="Freeform 230"/>
                <p:cNvSpPr>
                  <a:spLocks noEditPoints="1"/>
                </p:cNvSpPr>
                <p:nvPr/>
              </p:nvSpPr>
              <p:spPr bwMode="auto">
                <a:xfrm>
                  <a:off x="3532889" y="2379360"/>
                  <a:ext cx="131885" cy="114300"/>
                </a:xfrm>
                <a:custGeom>
                  <a:avLst/>
                  <a:gdLst>
                    <a:gd name="T0" fmla="*/ 0 w 90"/>
                    <a:gd name="T1" fmla="*/ 75604680 h 72"/>
                    <a:gd name="T2" fmla="*/ 193262840 w 90"/>
                    <a:gd name="T3" fmla="*/ 0 h 72"/>
                    <a:gd name="T4" fmla="*/ 0 w 90"/>
                    <a:gd name="T5" fmla="*/ 75604680 h 72"/>
                    <a:gd name="T6" fmla="*/ 180379099 w 90"/>
                    <a:gd name="T7" fmla="*/ 181451223 h 72"/>
                    <a:gd name="T8" fmla="*/ 0 60000 65536"/>
                    <a:gd name="T9" fmla="*/ 0 60000 65536"/>
                    <a:gd name="T10" fmla="*/ 0 60000 65536"/>
                    <a:gd name="T11" fmla="*/ 0 60000 65536"/>
                    <a:gd name="T12" fmla="*/ 0 w 90"/>
                    <a:gd name="T13" fmla="*/ 0 h 72"/>
                    <a:gd name="T14" fmla="*/ 90 w 90"/>
                    <a:gd name="T15" fmla="*/ 72 h 72"/>
                  </a:gdLst>
                  <a:ahLst/>
                  <a:cxnLst>
                    <a:cxn ang="T8">
                      <a:pos x="T0" y="T1"/>
                    </a:cxn>
                    <a:cxn ang="T9">
                      <a:pos x="T2" y="T3"/>
                    </a:cxn>
                    <a:cxn ang="T10">
                      <a:pos x="T4" y="T5"/>
                    </a:cxn>
                    <a:cxn ang="T11">
                      <a:pos x="T6" y="T7"/>
                    </a:cxn>
                  </a:cxnLst>
                  <a:rect l="T12" t="T13" r="T14" b="T15"/>
                  <a:pathLst>
                    <a:path w="90" h="72">
                      <a:moveTo>
                        <a:pt x="0" y="30"/>
                      </a:moveTo>
                      <a:lnTo>
                        <a:pt x="90" y="0"/>
                      </a:lnTo>
                      <a:moveTo>
                        <a:pt x="0" y="30"/>
                      </a:moveTo>
                      <a:lnTo>
                        <a:pt x="84" y="72"/>
                      </a:lnTo>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grpSp>
          <p:sp>
            <p:nvSpPr>
              <p:cNvPr id="185" name="Rectangle 232"/>
              <p:cNvSpPr>
                <a:spLocks noChangeArrowheads="1"/>
              </p:cNvSpPr>
              <p:nvPr/>
            </p:nvSpPr>
            <p:spPr bwMode="auto">
              <a:xfrm>
                <a:off x="1402236" y="2632693"/>
                <a:ext cx="153987" cy="123825"/>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86" name="Rectangle 233"/>
              <p:cNvSpPr>
                <a:spLocks noChangeArrowheads="1"/>
              </p:cNvSpPr>
              <p:nvPr/>
            </p:nvSpPr>
            <p:spPr bwMode="auto">
              <a:xfrm>
                <a:off x="2411253" y="1899140"/>
                <a:ext cx="1244600" cy="184150"/>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200" dirty="0">
                    <a:solidFill>
                      <a:srgbClr val="000000"/>
                    </a:solidFill>
                    <a:latin typeface="Arial" pitchFamily="34" charset="0"/>
                    <a:ea typeface="ＭＳ Ｐゴシック"/>
                    <a:cs typeface="ＭＳ Ｐゴシック"/>
                  </a:rPr>
                  <a:t>+featureOfInterest</a:t>
                </a:r>
                <a:endParaRPr lang="en-US" sz="3600" dirty="0">
                  <a:solidFill>
                    <a:srgbClr val="000000"/>
                  </a:solidFill>
                  <a:latin typeface="Arial" pitchFamily="34" charset="0"/>
                  <a:ea typeface="ＭＳ Ｐゴシック"/>
                  <a:cs typeface="ＭＳ Ｐゴシック"/>
                </a:endParaRPr>
              </a:p>
            </p:txBody>
          </p:sp>
          <p:sp>
            <p:nvSpPr>
              <p:cNvPr id="187" name="Rectangle 234"/>
              <p:cNvSpPr>
                <a:spLocks noChangeArrowheads="1"/>
              </p:cNvSpPr>
              <p:nvPr/>
            </p:nvSpPr>
            <p:spPr bwMode="auto">
              <a:xfrm>
                <a:off x="2084037" y="1911968"/>
                <a:ext cx="46037" cy="123825"/>
              </a:xfrm>
              <a:prstGeom prst="rect">
                <a:avLst/>
              </a:prstGeom>
              <a:noFill/>
              <a:ln w="9525">
                <a:noFill/>
                <a:miter lim="800000"/>
                <a:headEnd/>
                <a:tailEnd/>
              </a:ln>
            </p:spPr>
            <p:txBody>
              <a:bodyPr lIns="0" tIns="0" rIns="0" bIns="0">
                <a:spAutoFit/>
              </a:bodyPr>
              <a:lstStyle/>
              <a:p>
                <a:pPr marL="361950" indent="-361950" defTabSz="966788" fontAlgn="base">
                  <a:spcBef>
                    <a:spcPct val="0"/>
                  </a:spcBef>
                  <a:spcAft>
                    <a:spcPct val="0"/>
                  </a:spcAft>
                  <a:tabLst>
                    <a:tab pos="188913" algn="l"/>
                  </a:tabLst>
                </a:pPr>
                <a:r>
                  <a:rPr lang="en-US" sz="800" dirty="0">
                    <a:solidFill>
                      <a:srgbClr val="000000"/>
                    </a:solidFill>
                    <a:latin typeface="Arial" pitchFamily="34" charset="0"/>
                    <a:ea typeface="ＭＳ Ｐゴシック"/>
                    <a:cs typeface="ＭＳ Ｐゴシック"/>
                  </a:rPr>
                  <a:t>1</a:t>
                </a:r>
                <a:endParaRPr lang="en-US" dirty="0">
                  <a:solidFill>
                    <a:srgbClr val="000000"/>
                  </a:solidFill>
                  <a:latin typeface="Arial" pitchFamily="34" charset="0"/>
                  <a:ea typeface="ＭＳ Ｐゴシック"/>
                  <a:cs typeface="ＭＳ Ｐゴシック"/>
                </a:endParaRPr>
              </a:p>
            </p:txBody>
          </p:sp>
          <p:sp>
            <p:nvSpPr>
              <p:cNvPr id="188" name="Line 241"/>
              <p:cNvSpPr>
                <a:spLocks noChangeShapeType="1"/>
              </p:cNvSpPr>
              <p:nvPr/>
            </p:nvSpPr>
            <p:spPr bwMode="auto">
              <a:xfrm flipH="1">
                <a:off x="864073" y="3982068"/>
                <a:ext cx="280988" cy="714375"/>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89" name="Freeform 242"/>
              <p:cNvSpPr>
                <a:spLocks noEditPoints="1"/>
              </p:cNvSpPr>
              <p:nvPr/>
            </p:nvSpPr>
            <p:spPr bwMode="auto">
              <a:xfrm>
                <a:off x="864073" y="4544043"/>
                <a:ext cx="96838" cy="152400"/>
              </a:xfrm>
              <a:custGeom>
                <a:avLst/>
                <a:gdLst>
                  <a:gd name="T0" fmla="*/ 0 w 66"/>
                  <a:gd name="T1" fmla="*/ 241935022 h 96"/>
                  <a:gd name="T2" fmla="*/ 0 w 66"/>
                  <a:gd name="T3" fmla="*/ 0 h 96"/>
                  <a:gd name="T4" fmla="*/ 0 w 66"/>
                  <a:gd name="T5" fmla="*/ 241935022 h 96"/>
                  <a:gd name="T6" fmla="*/ 142084802 w 66"/>
                  <a:gd name="T7" fmla="*/ 75604688 h 96"/>
                  <a:gd name="T8" fmla="*/ 0 60000 65536"/>
                  <a:gd name="T9" fmla="*/ 0 60000 65536"/>
                  <a:gd name="T10" fmla="*/ 0 60000 65536"/>
                  <a:gd name="T11" fmla="*/ 0 60000 65536"/>
                  <a:gd name="T12" fmla="*/ 0 w 66"/>
                  <a:gd name="T13" fmla="*/ 0 h 96"/>
                  <a:gd name="T14" fmla="*/ 66 w 66"/>
                  <a:gd name="T15" fmla="*/ 96 h 96"/>
                </a:gdLst>
                <a:ahLst/>
                <a:cxnLst>
                  <a:cxn ang="T8">
                    <a:pos x="T0" y="T1"/>
                  </a:cxn>
                  <a:cxn ang="T9">
                    <a:pos x="T2" y="T3"/>
                  </a:cxn>
                  <a:cxn ang="T10">
                    <a:pos x="T4" y="T5"/>
                  </a:cxn>
                  <a:cxn ang="T11">
                    <a:pos x="T6" y="T7"/>
                  </a:cxn>
                </a:cxnLst>
                <a:rect l="T12" t="T13" r="T14" b="T15"/>
                <a:pathLst>
                  <a:path w="66" h="96">
                    <a:moveTo>
                      <a:pt x="0" y="96"/>
                    </a:moveTo>
                    <a:lnTo>
                      <a:pt x="0" y="0"/>
                    </a:lnTo>
                    <a:moveTo>
                      <a:pt x="0" y="96"/>
                    </a:moveTo>
                    <a:lnTo>
                      <a:pt x="66" y="30"/>
                    </a:lnTo>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0" name="Rectangle 244"/>
              <p:cNvSpPr>
                <a:spLocks noChangeArrowheads="1"/>
              </p:cNvSpPr>
              <p:nvPr/>
            </p:nvSpPr>
            <p:spPr bwMode="auto">
              <a:xfrm>
                <a:off x="1135536" y="4153518"/>
                <a:ext cx="155575" cy="123825"/>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800">
                    <a:solidFill>
                      <a:srgbClr val="000000"/>
                    </a:solidFill>
                    <a:latin typeface="Arial" pitchFamily="34" charset="0"/>
                    <a:ea typeface="ＭＳ Ｐゴシック"/>
                    <a:cs typeface="ＭＳ Ｐゴシック"/>
                  </a:rPr>
                  <a:t>0..*</a:t>
                </a:r>
                <a:endParaRPr lang="en-US">
                  <a:solidFill>
                    <a:srgbClr val="000000"/>
                  </a:solidFill>
                  <a:latin typeface="Arial" pitchFamily="34" charset="0"/>
                  <a:ea typeface="ＭＳ Ｐゴシック"/>
                  <a:cs typeface="ＭＳ Ｐゴシック"/>
                </a:endParaRPr>
              </a:p>
            </p:txBody>
          </p:sp>
          <p:sp>
            <p:nvSpPr>
              <p:cNvPr id="191" name="Rectangle 245"/>
              <p:cNvSpPr>
                <a:spLocks noChangeArrowheads="1"/>
              </p:cNvSpPr>
              <p:nvPr/>
            </p:nvSpPr>
            <p:spPr bwMode="auto">
              <a:xfrm>
                <a:off x="1041873" y="4432918"/>
                <a:ext cx="777875" cy="184150"/>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200">
                    <a:solidFill>
                      <a:srgbClr val="000000"/>
                    </a:solidFill>
                    <a:latin typeface="Arial" pitchFamily="34" charset="0"/>
                    <a:ea typeface="ＭＳ Ｐゴシック"/>
                    <a:cs typeface="ＭＳ Ｐゴシック"/>
                  </a:rPr>
                  <a:t>+procedure</a:t>
                </a:r>
                <a:endParaRPr lang="en-US" sz="3600">
                  <a:solidFill>
                    <a:srgbClr val="000000"/>
                  </a:solidFill>
                  <a:latin typeface="Arial" pitchFamily="34" charset="0"/>
                  <a:ea typeface="ＭＳ Ｐゴシック"/>
                  <a:cs typeface="ＭＳ Ｐゴシック"/>
                </a:endParaRPr>
              </a:p>
            </p:txBody>
          </p:sp>
          <p:sp>
            <p:nvSpPr>
              <p:cNvPr id="192" name="Rectangle 246"/>
              <p:cNvSpPr>
                <a:spLocks noChangeArrowheads="1"/>
              </p:cNvSpPr>
              <p:nvPr/>
            </p:nvSpPr>
            <p:spPr bwMode="auto">
              <a:xfrm>
                <a:off x="687861" y="4486893"/>
                <a:ext cx="57150" cy="123825"/>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800">
                    <a:solidFill>
                      <a:srgbClr val="000000"/>
                    </a:solidFill>
                    <a:latin typeface="Arial" pitchFamily="34" charset="0"/>
                    <a:ea typeface="ＭＳ Ｐゴシック"/>
                    <a:cs typeface="ＭＳ Ｐゴシック"/>
                  </a:rPr>
                  <a:t>1</a:t>
                </a:r>
                <a:endParaRPr lang="en-US">
                  <a:solidFill>
                    <a:srgbClr val="000000"/>
                  </a:solidFill>
                  <a:latin typeface="Arial" pitchFamily="34" charset="0"/>
                  <a:ea typeface="ＭＳ Ｐゴシック"/>
                  <a:cs typeface="ＭＳ Ｐゴシック"/>
                </a:endParaRPr>
              </a:p>
            </p:txBody>
          </p:sp>
          <p:sp>
            <p:nvSpPr>
              <p:cNvPr id="193" name="Line 258"/>
              <p:cNvSpPr>
                <a:spLocks noChangeShapeType="1"/>
              </p:cNvSpPr>
              <p:nvPr/>
            </p:nvSpPr>
            <p:spPr bwMode="auto">
              <a:xfrm flipH="1" flipV="1">
                <a:off x="1989611" y="3953493"/>
                <a:ext cx="782637" cy="752475"/>
              </a:xfrm>
              <a:prstGeom prst="line">
                <a:avLst/>
              </a:prstGeom>
              <a:noFill/>
              <a:ln w="9525">
                <a:solidFill>
                  <a:srgbClr val="000000"/>
                </a:solidFill>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4" name="Freeform 259"/>
              <p:cNvSpPr>
                <a:spLocks/>
              </p:cNvSpPr>
              <p:nvPr/>
            </p:nvSpPr>
            <p:spPr bwMode="auto">
              <a:xfrm>
                <a:off x="1989611" y="3953493"/>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solidFill>
                <a:srgbClr val="000000"/>
              </a:solidFill>
              <a:ln w="9525">
                <a:noFill/>
                <a:round/>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5" name="Freeform 260"/>
              <p:cNvSpPr>
                <a:spLocks/>
              </p:cNvSpPr>
              <p:nvPr/>
            </p:nvSpPr>
            <p:spPr bwMode="auto">
              <a:xfrm>
                <a:off x="1989611" y="3953493"/>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6" name="Freeform 261"/>
              <p:cNvSpPr>
                <a:spLocks noEditPoints="1"/>
              </p:cNvSpPr>
              <p:nvPr/>
            </p:nvSpPr>
            <p:spPr bwMode="auto">
              <a:xfrm>
                <a:off x="2640486" y="4572618"/>
                <a:ext cx="131762" cy="133350"/>
              </a:xfrm>
              <a:custGeom>
                <a:avLst/>
                <a:gdLst>
                  <a:gd name="T0" fmla="*/ 192902522 w 90"/>
                  <a:gd name="T1" fmla="*/ 211693147 h 84"/>
                  <a:gd name="T2" fmla="*/ 102881244 w 90"/>
                  <a:gd name="T3" fmla="*/ 0 h 84"/>
                  <a:gd name="T4" fmla="*/ 192902522 w 90"/>
                  <a:gd name="T5" fmla="*/ 211693147 h 84"/>
                  <a:gd name="T6" fmla="*/ 0 w 90"/>
                  <a:gd name="T7" fmla="*/ 136088438 h 84"/>
                  <a:gd name="T8" fmla="*/ 0 60000 65536"/>
                  <a:gd name="T9" fmla="*/ 0 60000 65536"/>
                  <a:gd name="T10" fmla="*/ 0 60000 65536"/>
                  <a:gd name="T11" fmla="*/ 0 60000 65536"/>
                  <a:gd name="T12" fmla="*/ 0 w 90"/>
                  <a:gd name="T13" fmla="*/ 0 h 84"/>
                  <a:gd name="T14" fmla="*/ 90 w 90"/>
                  <a:gd name="T15" fmla="*/ 84 h 84"/>
                </a:gdLst>
                <a:ahLst/>
                <a:cxnLst>
                  <a:cxn ang="T8">
                    <a:pos x="T0" y="T1"/>
                  </a:cxn>
                  <a:cxn ang="T9">
                    <a:pos x="T2" y="T3"/>
                  </a:cxn>
                  <a:cxn ang="T10">
                    <a:pos x="T4" y="T5"/>
                  </a:cxn>
                  <a:cxn ang="T11">
                    <a:pos x="T6" y="T7"/>
                  </a:cxn>
                </a:cxnLst>
                <a:rect l="T12" t="T13" r="T14" b="T15"/>
                <a:pathLst>
                  <a:path w="90" h="84">
                    <a:moveTo>
                      <a:pt x="90" y="84"/>
                    </a:moveTo>
                    <a:lnTo>
                      <a:pt x="48" y="0"/>
                    </a:lnTo>
                    <a:moveTo>
                      <a:pt x="90" y="84"/>
                    </a:moveTo>
                    <a:lnTo>
                      <a:pt x="0" y="54"/>
                    </a:lnTo>
                  </a:path>
                </a:pathLst>
              </a:custGeom>
              <a:noFill/>
              <a:ln w="9525" cap="flat">
                <a:solidFill>
                  <a:srgbClr val="000000"/>
                </a:solidFill>
                <a:prstDash val="solid"/>
                <a:miter lim="800000"/>
                <a:headEnd/>
                <a:tailEnd/>
              </a:ln>
            </p:spPr>
            <p:txBody>
              <a:bodyPr/>
              <a:lstStyle/>
              <a:p>
                <a:pPr defTabSz="914400" fontAlgn="base">
                  <a:spcBef>
                    <a:spcPct val="0"/>
                  </a:spcBef>
                  <a:spcAft>
                    <a:spcPct val="0"/>
                  </a:spcAft>
                </a:pPr>
                <a:endParaRPr lang="en-AU">
                  <a:solidFill>
                    <a:srgbClr val="000000"/>
                  </a:solidFill>
                  <a:latin typeface="Arial" charset="0"/>
                  <a:ea typeface="ＭＳ Ｐゴシック"/>
                  <a:cs typeface="ＭＳ Ｐゴシック"/>
                </a:endParaRPr>
              </a:p>
            </p:txBody>
          </p:sp>
          <p:sp>
            <p:nvSpPr>
              <p:cNvPr id="197" name="Rectangle 262"/>
              <p:cNvSpPr>
                <a:spLocks noChangeArrowheads="1"/>
              </p:cNvSpPr>
              <p:nvPr/>
            </p:nvSpPr>
            <p:spPr bwMode="auto">
              <a:xfrm>
                <a:off x="2842098" y="4463080"/>
                <a:ext cx="465138" cy="185738"/>
              </a:xfrm>
              <a:prstGeom prst="rect">
                <a:avLst/>
              </a:prstGeom>
              <a:noFill/>
              <a:ln w="9525">
                <a:noFill/>
                <a:miter lim="800000"/>
                <a:headEnd/>
                <a:tailEnd/>
              </a:ln>
            </p:spPr>
            <p:txBody>
              <a:bodyPr wrap="none" lIns="0" tIns="0" rIns="0" bIns="0">
                <a:spAutoFit/>
              </a:bodyPr>
              <a:lstStyle/>
              <a:p>
                <a:pPr marL="361950" indent="-361950" defTabSz="966788" fontAlgn="base">
                  <a:spcBef>
                    <a:spcPct val="0"/>
                  </a:spcBef>
                  <a:spcAft>
                    <a:spcPct val="0"/>
                  </a:spcAft>
                  <a:tabLst>
                    <a:tab pos="188913" algn="l"/>
                  </a:tabLst>
                </a:pPr>
                <a:r>
                  <a:rPr lang="en-US" sz="1200">
                    <a:solidFill>
                      <a:srgbClr val="000000"/>
                    </a:solidFill>
                    <a:latin typeface="Arial" pitchFamily="34" charset="0"/>
                    <a:ea typeface="ＭＳ Ｐゴシック"/>
                    <a:cs typeface="ＭＳ Ｐゴシック"/>
                  </a:rPr>
                  <a:t>+result</a:t>
                </a:r>
                <a:endParaRPr lang="en-US" sz="3600">
                  <a:solidFill>
                    <a:srgbClr val="000000"/>
                  </a:solidFill>
                  <a:latin typeface="Arial" pitchFamily="34" charset="0"/>
                  <a:ea typeface="ＭＳ Ｐゴシック"/>
                  <a:cs typeface="ＭＳ Ｐゴシック"/>
                </a:endParaRPr>
              </a:p>
            </p:txBody>
          </p:sp>
        </p:grpSp>
      </p:grpSp>
      <p:sp>
        <p:nvSpPr>
          <p:cNvPr id="14" name="Right Arrow 13"/>
          <p:cNvSpPr/>
          <p:nvPr/>
        </p:nvSpPr>
        <p:spPr bwMode="auto">
          <a:xfrm>
            <a:off x="3309930" y="1385389"/>
            <a:ext cx="2873736" cy="461796"/>
          </a:xfrm>
          <a:prstGeom prst="rightArrow">
            <a:avLst/>
          </a:prstGeom>
          <a:gradFill flip="none" rotWithShape="1">
            <a:gsLst>
              <a:gs pos="52000">
                <a:schemeClr val="accent2"/>
              </a:gs>
              <a:gs pos="100000">
                <a:srgbClr val="FFFFFF"/>
              </a:gs>
            </a:gsLst>
            <a:lin ang="0" scaled="1"/>
            <a:tileRect/>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r>
              <a:rPr lang="en-US" sz="1400" b="1" dirty="0" smtClean="0">
                <a:solidFill>
                  <a:srgbClr val="000000"/>
                </a:solidFill>
                <a:latin typeface="Arial" charset="0"/>
                <a:ea typeface="ＭＳ Ｐゴシック" pitchFamily="16" charset="-128"/>
                <a:cs typeface="ＭＳ Ｐゴシック" pitchFamily="-97" charset="-128"/>
              </a:rPr>
              <a:t>Stream Gage</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5" name="TextBox 14"/>
          <p:cNvSpPr txBox="1"/>
          <p:nvPr/>
        </p:nvSpPr>
        <p:spPr>
          <a:xfrm>
            <a:off x="277288" y="5220865"/>
            <a:ext cx="1703392" cy="474625"/>
          </a:xfrm>
          <a:prstGeom prst="rect">
            <a:avLst/>
          </a:prstGeom>
          <a:noFill/>
          <a:effectLst/>
        </p:spPr>
        <p:txBody>
          <a:bodyPr wrap="square" lIns="0" tIns="0" rIns="0" bIns="0" rtlCol="0">
            <a:noAutofit/>
          </a:bodyPr>
          <a:lstStyle/>
          <a:p>
            <a:pPr algn="ctr" defTabSz="914400" eaLnBrk="0" fontAlgn="base" hangingPunct="0">
              <a:lnSpc>
                <a:spcPts val="1800"/>
              </a:lnSpc>
              <a:spcBef>
                <a:spcPct val="0"/>
              </a:spcBef>
              <a:spcAft>
                <a:spcPct val="0"/>
              </a:spcAft>
            </a:pPr>
            <a:r>
              <a:rPr lang="en-US" sz="1400" b="1" i="1" dirty="0" smtClean="0">
                <a:solidFill>
                  <a:srgbClr val="B996D5">
                    <a:lumMod val="75000"/>
                  </a:srgbClr>
                </a:solidFill>
                <a:latin typeface="Arial"/>
                <a:ea typeface="ＭＳ Ｐゴシック"/>
                <a:cs typeface="ＭＳ Ｐゴシック"/>
              </a:rPr>
              <a:t>Flow rate conversion</a:t>
            </a:r>
          </a:p>
        </p:txBody>
      </p:sp>
      <p:sp>
        <p:nvSpPr>
          <p:cNvPr id="342" name="TextBox 341"/>
          <p:cNvSpPr txBox="1"/>
          <p:nvPr/>
        </p:nvSpPr>
        <p:spPr>
          <a:xfrm>
            <a:off x="2052670" y="2127861"/>
            <a:ext cx="2039840" cy="309398"/>
          </a:xfrm>
          <a:prstGeom prst="rect">
            <a:avLst/>
          </a:prstGeom>
          <a:noFill/>
          <a:effectLst/>
        </p:spPr>
        <p:txBody>
          <a:bodyPr wrap="square" lIns="0" tIns="0" rIns="0" bIns="0" rtlCol="0">
            <a:noAutofit/>
          </a:bodyPr>
          <a:lstStyle/>
          <a:p>
            <a:pPr algn="ctr" defTabSz="914400" eaLnBrk="0" fontAlgn="base" hangingPunct="0">
              <a:lnSpc>
                <a:spcPts val="1800"/>
              </a:lnSpc>
              <a:spcBef>
                <a:spcPct val="0"/>
              </a:spcBef>
              <a:spcAft>
                <a:spcPct val="0"/>
              </a:spcAft>
            </a:pPr>
            <a:r>
              <a:rPr lang="en-US" sz="1400" b="1" i="1"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sampl</a:t>
            </a:r>
            <a:r>
              <a:rPr lang="en-US" sz="1400" b="1" i="1" u="sng"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ing</a:t>
            </a:r>
            <a:r>
              <a:rPr lang="en-US" sz="1400" b="1" i="1" dirty="0" smtClean="0">
                <a:solidFill>
                  <a:srgbClr val="ED982D"/>
                </a:solidFill>
                <a:effectLst>
                  <a:outerShdw blurRad="50800" dist="38100" dir="2700000" algn="tl" rotWithShape="0">
                    <a:srgbClr val="000000">
                      <a:alpha val="43000"/>
                    </a:srgbClr>
                  </a:outerShdw>
                </a:effectLst>
                <a:latin typeface="Arial" pitchFamily="34" charset="0"/>
                <a:ea typeface="ＭＳ Ｐゴシック"/>
                <a:cs typeface="ＭＳ Ｐゴシック"/>
              </a:rPr>
              <a:t> feature</a:t>
            </a:r>
            <a:endParaRPr lang="en-US" sz="1400" b="1" i="1" dirty="0" smtClean="0">
              <a:solidFill>
                <a:srgbClr val="ED982D"/>
              </a:solidFill>
              <a:effectLst>
                <a:outerShdw blurRad="50800" dist="38100" dir="2700000" algn="tl" rotWithShape="0">
                  <a:srgbClr val="000000">
                    <a:alpha val="43000"/>
                  </a:srgbClr>
                </a:outerShdw>
              </a:effectLst>
              <a:latin typeface="Arial"/>
              <a:ea typeface="ＭＳ Ｐゴシック"/>
              <a:cs typeface="ＭＳ Ｐゴシック"/>
            </a:endParaRPr>
          </a:p>
        </p:txBody>
      </p:sp>
      <p:sp>
        <p:nvSpPr>
          <p:cNvPr id="154" name="TextBox 153"/>
          <p:cNvSpPr txBox="1"/>
          <p:nvPr/>
        </p:nvSpPr>
        <p:spPr>
          <a:xfrm>
            <a:off x="4618507" y="2127861"/>
            <a:ext cx="1649850" cy="580312"/>
          </a:xfrm>
          <a:prstGeom prst="rect">
            <a:avLst/>
          </a:prstGeom>
          <a:noFill/>
          <a:effectLst/>
        </p:spPr>
        <p:txBody>
          <a:bodyPr wrap="square" lIns="0" tIns="0" rIns="0" bIns="0" rtlCol="0">
            <a:noAutofit/>
          </a:bodyPr>
          <a:lstStyle/>
          <a:p>
            <a:pPr algn="ctr" defTabSz="914400" eaLnBrk="0" fontAlgn="base" hangingPunct="0">
              <a:lnSpc>
                <a:spcPts val="1800"/>
              </a:lnSpc>
              <a:spcBef>
                <a:spcPct val="0"/>
              </a:spcBef>
              <a:spcAft>
                <a:spcPct val="0"/>
              </a:spcAft>
            </a:pPr>
            <a:r>
              <a:rPr lang="en-US" sz="1400" b="1" i="1" dirty="0" smtClean="0">
                <a:solidFill>
                  <a:prstClr val="white"/>
                </a:solidFill>
                <a:latin typeface="Arial"/>
                <a:ea typeface="ＭＳ Ｐゴシック"/>
                <a:cs typeface="ＭＳ Ｐゴシック"/>
              </a:rPr>
              <a:t>River is a </a:t>
            </a:r>
          </a:p>
          <a:p>
            <a:pPr algn="ctr" defTabSz="914400" eaLnBrk="0" fontAlgn="base" hangingPunct="0">
              <a:lnSpc>
                <a:spcPts val="1800"/>
              </a:lnSpc>
              <a:spcBef>
                <a:spcPct val="0"/>
              </a:spcBef>
              <a:spcAft>
                <a:spcPct val="0"/>
              </a:spcAft>
            </a:pPr>
            <a:r>
              <a:rPr lang="en-US" sz="1400" b="1" i="1" dirty="0" smtClean="0">
                <a:solidFill>
                  <a:prstClr val="white"/>
                </a:solidFill>
                <a:latin typeface="Arial"/>
                <a:ea typeface="ＭＳ Ｐゴシック"/>
                <a:cs typeface="ＭＳ Ｐゴシック"/>
              </a:rPr>
              <a:t>sampl</a:t>
            </a:r>
            <a:r>
              <a:rPr lang="en-US" sz="1400" b="1" i="1" u="sng" dirty="0" smtClean="0">
                <a:solidFill>
                  <a:prstClr val="white"/>
                </a:solidFill>
                <a:latin typeface="Arial"/>
                <a:ea typeface="ＭＳ Ｐゴシック"/>
                <a:cs typeface="ＭＳ Ｐゴシック"/>
              </a:rPr>
              <a:t>ed</a:t>
            </a:r>
            <a:r>
              <a:rPr lang="en-US" sz="1400" b="1" i="1" dirty="0" smtClean="0">
                <a:solidFill>
                  <a:prstClr val="white"/>
                </a:solidFill>
                <a:latin typeface="Arial"/>
                <a:ea typeface="ＭＳ Ｐゴシック"/>
                <a:cs typeface="ＭＳ Ｐゴシック"/>
              </a:rPr>
              <a:t> feature</a:t>
            </a:r>
          </a:p>
        </p:txBody>
      </p:sp>
      <p:sp>
        <p:nvSpPr>
          <p:cNvPr id="155" name="Right Arrow 154"/>
          <p:cNvSpPr/>
          <p:nvPr/>
        </p:nvSpPr>
        <p:spPr bwMode="auto">
          <a:xfrm rot="20920639">
            <a:off x="3244831" y="4386170"/>
            <a:ext cx="2159222" cy="461796"/>
          </a:xfrm>
          <a:prstGeom prst="rightArrow">
            <a:avLst/>
          </a:prstGeom>
          <a:gradFill>
            <a:gsLst>
              <a:gs pos="0">
                <a:schemeClr val="accent1">
                  <a:lumMod val="60000"/>
                  <a:lumOff val="40000"/>
                </a:schemeClr>
              </a:gs>
              <a:gs pos="64000">
                <a:schemeClr val="accent1">
                  <a:tint val="50000"/>
                  <a:shade val="100000"/>
                  <a:satMod val="350000"/>
                </a:schemeClr>
              </a:gs>
              <a:gs pos="100000">
                <a:schemeClr val="bg1"/>
              </a:gs>
            </a:gsLst>
            <a:lin ang="840000" scaled="0"/>
          </a:gra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r>
              <a:rPr lang="en-US" sz="1400" b="1" dirty="0" smtClean="0">
                <a:solidFill>
                  <a:srgbClr val="000000"/>
                </a:solidFill>
                <a:latin typeface="Arial" charset="0"/>
                <a:ea typeface="ＭＳ Ｐゴシック" pitchFamily="16" charset="-128"/>
                <a:cs typeface="ＭＳ Ｐゴシック" pitchFamily="-97" charset="-128"/>
              </a:rPr>
              <a:t>Time series of values</a:t>
            </a: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59" name="Title 15"/>
          <p:cNvSpPr>
            <a:spLocks noGrp="1"/>
          </p:cNvSpPr>
          <p:nvPr>
            <p:ph type="title"/>
          </p:nvPr>
        </p:nvSpPr>
        <p:spPr>
          <a:xfrm>
            <a:off x="121317" y="136508"/>
            <a:ext cx="4497190" cy="979500"/>
          </a:xfrm>
          <a:effectLst>
            <a:outerShdw blurRad="50800" dist="38100" dir="2700000" algn="tl" rotWithShape="0">
              <a:srgbClr val="000000">
                <a:alpha val="43000"/>
              </a:srgbClr>
            </a:outerShdw>
          </a:effectLst>
        </p:spPr>
        <p:txBody>
          <a:bodyPr/>
          <a:lstStyle/>
          <a:p>
            <a:pPr>
              <a:lnSpc>
                <a:spcPct val="90000"/>
              </a:lnSpc>
            </a:pPr>
            <a:r>
              <a:rPr lang="en-US" sz="3200" dirty="0">
                <a:effectLst>
                  <a:outerShdw blurRad="50800" dist="38100" dir="2700000" algn="tl" rotWithShape="0">
                    <a:srgbClr val="000000">
                      <a:alpha val="43000"/>
                    </a:srgbClr>
                  </a:outerShdw>
                </a:effectLst>
                <a:latin typeface="Candara"/>
                <a:cs typeface="Candara"/>
              </a:rPr>
              <a:t>The</a:t>
            </a:r>
            <a:r>
              <a:rPr lang="en-US" dirty="0" smtClean="0">
                <a:latin typeface="Candara"/>
                <a:cs typeface="Candara"/>
              </a:rPr>
              <a:t> </a:t>
            </a:r>
            <a:r>
              <a:rPr lang="en-US" sz="3200" dirty="0" smtClean="0">
                <a:solidFill>
                  <a:schemeClr val="tx1"/>
                </a:solidFill>
                <a:latin typeface="Candara"/>
                <a:cs typeface="Candara"/>
              </a:rPr>
              <a:t>stream flow</a:t>
            </a:r>
            <a:r>
              <a:rPr lang="en-US" sz="3200" dirty="0">
                <a:latin typeface="Candara"/>
                <a:cs typeface="Candara"/>
              </a:rPr>
              <a:t> </a:t>
            </a:r>
            <a:r>
              <a:rPr lang="en-US" dirty="0" smtClean="0">
                <a:latin typeface="Candara"/>
                <a:cs typeface="Candara"/>
              </a:rPr>
              <a:t>can then be determined from the rating curve</a:t>
            </a:r>
            <a:endParaRPr lang="en-US" dirty="0">
              <a:latin typeface="Candara"/>
              <a:cs typeface="Candara"/>
            </a:endParaRPr>
          </a:p>
        </p:txBody>
      </p:sp>
      <p:sp>
        <p:nvSpPr>
          <p:cNvPr id="162" name="TextBox 161"/>
          <p:cNvSpPr txBox="1"/>
          <p:nvPr/>
        </p:nvSpPr>
        <p:spPr>
          <a:xfrm>
            <a:off x="6142471" y="5844508"/>
            <a:ext cx="2959435" cy="187580"/>
          </a:xfrm>
          <a:prstGeom prst="rect">
            <a:avLst/>
          </a:prstGeom>
          <a:noFill/>
          <a:effectLst/>
        </p:spPr>
        <p:txBody>
          <a:bodyPr wrap="square" lIns="0" tIns="0" rIns="0" bIns="0" rtlCol="0">
            <a:noAutofit/>
          </a:bodyPr>
          <a:lstStyle/>
          <a:p>
            <a:pPr algn="r">
              <a:defRPr/>
            </a:pPr>
            <a:r>
              <a:rPr lang="en-US" sz="1100" dirty="0">
                <a:solidFill>
                  <a:prstClr val="black"/>
                </a:solidFill>
                <a:latin typeface="Arial"/>
                <a:ea typeface="ＭＳ Ｐゴシック"/>
                <a:cs typeface="ＭＳ Ｐゴシック"/>
              </a:rPr>
              <a:t>Source: </a:t>
            </a:r>
            <a:r>
              <a:rPr lang="en-US" sz="1100" dirty="0" smtClean="0">
                <a:solidFill>
                  <a:prstClr val="black"/>
                </a:solidFill>
                <a:latin typeface="Arial"/>
                <a:ea typeface="ＭＳ Ｐゴシック"/>
                <a:cs typeface="ＭＳ Ｐゴシック"/>
              </a:rPr>
              <a:t>USGS</a:t>
            </a:r>
            <a:endParaRPr lang="en-US" sz="1100" dirty="0">
              <a:solidFill>
                <a:prstClr val="black"/>
              </a:solidFill>
              <a:latin typeface="Arial"/>
              <a:ea typeface="ＭＳ Ｐゴシック"/>
              <a:cs typeface="ＭＳ Ｐゴシック"/>
            </a:endParaRPr>
          </a:p>
          <a:p>
            <a:pPr algn="r" defTabSz="914400"/>
            <a:endParaRPr lang="en-US" sz="1100" dirty="0">
              <a:solidFill>
                <a:prstClr val="black"/>
              </a:solidFill>
              <a:latin typeface="Arial"/>
              <a:ea typeface="ＭＳ Ｐゴシック"/>
              <a:cs typeface="ＭＳ Ｐゴシック"/>
            </a:endParaRPr>
          </a:p>
          <a:p>
            <a:pPr algn="r" defTabSz="914400" eaLnBrk="0" hangingPunct="0">
              <a:lnSpc>
                <a:spcPts val="1800"/>
              </a:lnSpc>
            </a:pPr>
            <a:endParaRPr lang="en-US" sz="1100" b="1" dirty="0" smtClean="0">
              <a:solidFill>
                <a:prstClr val="black"/>
              </a:solidFill>
              <a:latin typeface="Arial"/>
              <a:ea typeface="ＭＳ Ｐゴシック"/>
              <a:cs typeface="ＭＳ Ｐゴシック"/>
            </a:endParaRPr>
          </a:p>
        </p:txBody>
      </p:sp>
      <p:sp>
        <p:nvSpPr>
          <p:cNvPr id="163" name="TextBox 162"/>
          <p:cNvSpPr txBox="1"/>
          <p:nvPr/>
        </p:nvSpPr>
        <p:spPr>
          <a:xfrm>
            <a:off x="116896" y="1421430"/>
            <a:ext cx="1542460" cy="563435"/>
          </a:xfrm>
          <a:prstGeom prst="rect">
            <a:avLst/>
          </a:prstGeom>
          <a:noFill/>
          <a:effectLst/>
        </p:spPr>
        <p:txBody>
          <a:bodyPr wrap="square" lIns="0" tIns="0" rIns="0" bIns="0" rtlCol="0">
            <a:noAutofit/>
          </a:bodyPr>
          <a:lstStyle/>
          <a:p>
            <a:pPr defTabSz="914400" eaLnBrk="0" hangingPunct="0">
              <a:lnSpc>
                <a:spcPts val="1800"/>
              </a:lnSpc>
            </a:pPr>
            <a:r>
              <a:rPr lang="en-US" sz="1400" i="1" dirty="0" smtClean="0">
                <a:solidFill>
                  <a:prstClr val="black"/>
                </a:solidFill>
                <a:latin typeface="Candara"/>
                <a:ea typeface="ＭＳ Ｐゴシック"/>
                <a:cs typeface="Candara"/>
              </a:rPr>
              <a:t>(WaterML2 Part 1)</a:t>
            </a:r>
          </a:p>
        </p:txBody>
      </p:sp>
      <p:sp>
        <p:nvSpPr>
          <p:cNvPr id="157" name="Rectangle 156"/>
          <p:cNvSpPr/>
          <p:nvPr/>
        </p:nvSpPr>
        <p:spPr>
          <a:xfrm>
            <a:off x="65224" y="6090089"/>
            <a:ext cx="9015275" cy="707886"/>
          </a:xfrm>
          <a:prstGeom prst="rect">
            <a:avLst/>
          </a:prstGeom>
        </p:spPr>
        <p:txBody>
          <a:bodyPr wrap="square">
            <a:spAutoFit/>
          </a:bodyPr>
          <a:lstStyle/>
          <a:p>
            <a:pPr marL="342900" indent="-342900" defTabSz="914400" fontAlgn="base">
              <a:spcBef>
                <a:spcPct val="0"/>
              </a:spcBef>
              <a:spcAft>
                <a:spcPct val="0"/>
              </a:spcAft>
            </a:pPr>
            <a:r>
              <a:rPr lang="en-AU" sz="2000" dirty="0">
                <a:solidFill>
                  <a:srgbClr val="0F3277"/>
                </a:solidFill>
                <a:latin typeface="Candara"/>
                <a:ea typeface="ＭＳ Ｐゴシック"/>
                <a:cs typeface="Candara"/>
              </a:rPr>
              <a:t>An </a:t>
            </a:r>
            <a:r>
              <a:rPr lang="en-AU" sz="2000" b="1" dirty="0">
                <a:solidFill>
                  <a:srgbClr val="FF0066"/>
                </a:solidFill>
                <a:latin typeface="Candara"/>
                <a:ea typeface="ＭＳ Ｐゴシック"/>
                <a:cs typeface="Candara"/>
              </a:rPr>
              <a:t>Observation</a:t>
            </a:r>
            <a:r>
              <a:rPr lang="en-AU" sz="2000" dirty="0">
                <a:solidFill>
                  <a:srgbClr val="0F3277"/>
                </a:solidFill>
                <a:latin typeface="Candara"/>
                <a:ea typeface="ＭＳ Ｐゴシック"/>
                <a:cs typeface="Candara"/>
              </a:rPr>
              <a:t> is an action whose </a:t>
            </a:r>
            <a:r>
              <a:rPr lang="en-AU" sz="2000" b="1" dirty="0">
                <a:solidFill>
                  <a:srgbClr val="A3CA4B">
                    <a:lumMod val="50000"/>
                  </a:srgbClr>
                </a:solidFill>
                <a:latin typeface="Candara"/>
                <a:ea typeface="ＭＳ Ｐゴシック"/>
                <a:cs typeface="Candara"/>
              </a:rPr>
              <a:t>result</a:t>
            </a:r>
            <a:r>
              <a:rPr lang="en-AU" sz="2000" dirty="0">
                <a:solidFill>
                  <a:srgbClr val="A3CA4B">
                    <a:lumMod val="50000"/>
                  </a:srgbClr>
                </a:solidFill>
                <a:latin typeface="Candara"/>
                <a:ea typeface="ＭＳ Ｐゴシック"/>
                <a:cs typeface="Candara"/>
              </a:rPr>
              <a:t> </a:t>
            </a:r>
            <a:r>
              <a:rPr lang="en-AU" sz="2000" dirty="0">
                <a:solidFill>
                  <a:srgbClr val="0F3277"/>
                </a:solidFill>
                <a:latin typeface="Candara"/>
                <a:ea typeface="ＭＳ Ｐゴシック"/>
                <a:cs typeface="Candara"/>
              </a:rPr>
              <a:t>is an estimate of the value of </a:t>
            </a:r>
            <a:br>
              <a:rPr lang="en-AU" sz="2000" dirty="0">
                <a:solidFill>
                  <a:srgbClr val="0F3277"/>
                </a:solidFill>
                <a:latin typeface="Candara"/>
                <a:ea typeface="ＭＳ Ｐゴシック"/>
                <a:cs typeface="Candara"/>
              </a:rPr>
            </a:br>
            <a:r>
              <a:rPr lang="en-AU" sz="2000" dirty="0">
                <a:solidFill>
                  <a:srgbClr val="0F3277"/>
                </a:solidFill>
                <a:latin typeface="Candara"/>
                <a:ea typeface="ＭＳ Ｐゴシック"/>
                <a:cs typeface="Candara"/>
              </a:rPr>
              <a:t>some </a:t>
            </a:r>
            <a:r>
              <a:rPr lang="en-AU" sz="2000" b="1" dirty="0">
                <a:solidFill>
                  <a:srgbClr val="8DA3E8">
                    <a:lumMod val="75000"/>
                  </a:srgbClr>
                </a:solidFill>
                <a:latin typeface="Candara"/>
                <a:ea typeface="ＭＳ Ｐゴシック"/>
                <a:cs typeface="Candara"/>
              </a:rPr>
              <a:t>property</a:t>
            </a:r>
            <a:r>
              <a:rPr lang="en-AU" sz="2000" dirty="0">
                <a:solidFill>
                  <a:srgbClr val="8DA3E8">
                    <a:lumMod val="75000"/>
                  </a:srgbClr>
                </a:solidFill>
                <a:latin typeface="Candara"/>
                <a:ea typeface="ＭＳ Ｐゴシック"/>
                <a:cs typeface="Candara"/>
              </a:rPr>
              <a:t> </a:t>
            </a:r>
            <a:r>
              <a:rPr lang="en-AU" sz="2000" dirty="0">
                <a:solidFill>
                  <a:srgbClr val="0F3277"/>
                </a:solidFill>
                <a:latin typeface="Candara"/>
                <a:ea typeface="ＭＳ Ｐゴシック"/>
                <a:cs typeface="Candara"/>
              </a:rPr>
              <a:t>of the </a:t>
            </a:r>
            <a:r>
              <a:rPr lang="en-AU" sz="2000" b="1" dirty="0">
                <a:solidFill>
                  <a:srgbClr val="FAC15A">
                    <a:lumMod val="50000"/>
                  </a:srgbClr>
                </a:solidFill>
                <a:latin typeface="Candara"/>
                <a:ea typeface="ＭＳ Ｐゴシック"/>
                <a:cs typeface="Candara"/>
              </a:rPr>
              <a:t>feature-of-interest</a:t>
            </a:r>
            <a:r>
              <a:rPr lang="en-AU" sz="2000" dirty="0">
                <a:solidFill>
                  <a:srgbClr val="0F3277"/>
                </a:solidFill>
                <a:latin typeface="Candara"/>
                <a:ea typeface="ＭＳ Ｐゴシック"/>
                <a:cs typeface="Candara"/>
              </a:rPr>
              <a:t>, obtained using a specified </a:t>
            </a:r>
            <a:r>
              <a:rPr lang="en-AU" sz="2000" b="1" dirty="0">
                <a:solidFill>
                  <a:srgbClr val="8E55BB"/>
                </a:solidFill>
                <a:latin typeface="Candara"/>
                <a:ea typeface="ＭＳ Ｐゴシック"/>
                <a:cs typeface="Candara"/>
              </a:rPr>
              <a:t>procedure</a:t>
            </a:r>
          </a:p>
        </p:txBody>
      </p:sp>
    </p:spTree>
    <p:extLst>
      <p:ext uri="{BB962C8B-B14F-4D97-AF65-F5344CB8AC3E}">
        <p14:creationId xmlns:p14="http://schemas.microsoft.com/office/powerpoint/2010/main" val="3224047343"/>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wrap="none" anchor="ctr"/>
          <a:lstStyle/>
          <a:p>
            <a:pPr algn="ctr" defTabSz="914400" eaLnBrk="0" fontAlgn="base" hangingPunct="0">
              <a:spcBef>
                <a:spcPct val="0"/>
              </a:spcBef>
              <a:spcAft>
                <a:spcPct val="0"/>
              </a:spcAft>
              <a:defRPr/>
            </a:pPr>
            <a:endParaRPr lang="en-US" sz="1400" b="1" dirty="0">
              <a:solidFill>
                <a:srgbClr val="000000"/>
              </a:solidFill>
              <a:latin typeface="Arial"/>
              <a:ea typeface="ＭＳ Ｐゴシック"/>
              <a:cs typeface="ＭＳ Ｐゴシック"/>
            </a:endParaRPr>
          </a:p>
        </p:txBody>
      </p:sp>
      <p:pic>
        <p:nvPicPr>
          <p:cNvPr id="5" name="Picture 4" descr="stream discharge curve2.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65373" y="1870136"/>
            <a:ext cx="4853944" cy="2667972"/>
          </a:xfrm>
          <a:prstGeom prst="rect">
            <a:avLst/>
          </a:prstGeom>
        </p:spPr>
      </p:pic>
      <p:sp>
        <p:nvSpPr>
          <p:cNvPr id="2" name="Title 1"/>
          <p:cNvSpPr>
            <a:spLocks noGrp="1"/>
          </p:cNvSpPr>
          <p:nvPr>
            <p:ph type="title"/>
          </p:nvPr>
        </p:nvSpPr>
        <p:spPr>
          <a:xfrm>
            <a:off x="114300" y="457200"/>
            <a:ext cx="8915400" cy="484188"/>
          </a:xfrm>
          <a:effectLst>
            <a:outerShdw blurRad="50800" dist="38100" dir="2700000" algn="tl" rotWithShape="0">
              <a:srgbClr val="000000">
                <a:alpha val="43000"/>
              </a:srgbClr>
            </a:outerShdw>
          </a:effectLst>
        </p:spPr>
        <p:txBody>
          <a:bodyPr rtlCol="0">
            <a:noAutofit/>
          </a:bodyPr>
          <a:lstStyle/>
          <a:p>
            <a:pPr fontAlgn="auto">
              <a:spcAft>
                <a:spcPts val="0"/>
              </a:spcAft>
              <a:defRPr/>
            </a:pPr>
            <a:r>
              <a:rPr lang="en-US" sz="3200" dirty="0" smtClean="0">
                <a:effectLst>
                  <a:outerShdw blurRad="50800" dist="38100" dir="2700000" algn="tl" rotWithShape="0">
                    <a:srgbClr val="000000">
                      <a:alpha val="43000"/>
                    </a:srgbClr>
                  </a:outerShdw>
                </a:effectLst>
                <a:latin typeface="Candara"/>
                <a:cs typeface="Candara"/>
              </a:rPr>
              <a:t>WaterML</a:t>
            </a:r>
            <a:r>
              <a:rPr dirty="0" smtClean="0"/>
              <a:t> </a:t>
            </a:r>
            <a:r>
              <a:rPr dirty="0"/>
              <a:t>Web Services </a:t>
            </a:r>
            <a:r>
              <a:rPr lang="en-US" dirty="0"/>
              <a:t> </a:t>
            </a:r>
            <a:r>
              <a:rPr lang="en-US" dirty="0" smtClean="0"/>
              <a:t>    </a:t>
            </a:r>
            <a:r>
              <a:rPr sz="2400" b="0" dirty="0" smtClean="0">
                <a:solidFill>
                  <a:schemeClr val="tx1">
                    <a:lumMod val="50000"/>
                    <a:lumOff val="50000"/>
                  </a:schemeClr>
                </a:solidFill>
                <a:latin typeface="Candara"/>
                <a:cs typeface="Candara"/>
              </a:rPr>
              <a:t>CUAHSI, USGS</a:t>
            </a:r>
            <a:r>
              <a:rPr sz="2400" b="0" dirty="0">
                <a:solidFill>
                  <a:schemeClr val="tx1">
                    <a:lumMod val="50000"/>
                    <a:lumOff val="50000"/>
                  </a:schemeClr>
                </a:solidFill>
                <a:latin typeface="Candara"/>
                <a:cs typeface="Candara"/>
              </a:rPr>
              <a:t>, OGC, </a:t>
            </a:r>
            <a:r>
              <a:rPr sz="2400" b="0" dirty="0" smtClean="0">
                <a:solidFill>
                  <a:schemeClr val="tx1">
                    <a:lumMod val="50000"/>
                    <a:lumOff val="50000"/>
                  </a:schemeClr>
                </a:solidFill>
                <a:latin typeface="Candara"/>
                <a:cs typeface="Candara"/>
              </a:rPr>
              <a:t>WMO…</a:t>
            </a:r>
            <a:endParaRPr b="0" dirty="0">
              <a:solidFill>
                <a:schemeClr val="tx1">
                  <a:lumMod val="50000"/>
                  <a:lumOff val="50000"/>
                </a:schemeClr>
              </a:solidFill>
              <a:latin typeface="Candara"/>
              <a:cs typeface="Candara"/>
            </a:endParaRPr>
          </a:p>
        </p:txBody>
      </p:sp>
      <p:sp>
        <p:nvSpPr>
          <p:cNvPr id="48131" name="TextBox 4"/>
          <p:cNvSpPr txBox="1">
            <a:spLocks noChangeArrowheads="1"/>
          </p:cNvSpPr>
          <p:nvPr/>
        </p:nvSpPr>
        <p:spPr bwMode="auto">
          <a:xfrm>
            <a:off x="730250" y="1477963"/>
            <a:ext cx="42291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457200" eaLnBrk="0" hangingPunct="0">
              <a:defRPr sz="1000" b="1">
                <a:solidFill>
                  <a:schemeClr val="tx1"/>
                </a:solidFill>
                <a:latin typeface="CG Times" charset="0"/>
                <a:ea typeface="ＭＳ Ｐゴシック" charset="0"/>
                <a:cs typeface="ＭＳ Ｐゴシック" charset="0"/>
              </a:defRPr>
            </a:lvl1pPr>
            <a:lvl2pPr marL="742950" indent="-285750" defTabSz="457200" eaLnBrk="0" hangingPunct="0">
              <a:defRPr sz="1000" b="1">
                <a:solidFill>
                  <a:schemeClr val="tx1"/>
                </a:solidFill>
                <a:latin typeface="CG Times" charset="0"/>
                <a:ea typeface="ＭＳ Ｐゴシック" charset="0"/>
              </a:defRPr>
            </a:lvl2pPr>
            <a:lvl3pPr marL="1143000" indent="-228600" defTabSz="457200" eaLnBrk="0" hangingPunct="0">
              <a:defRPr sz="1000" b="1">
                <a:solidFill>
                  <a:schemeClr val="tx1"/>
                </a:solidFill>
                <a:latin typeface="CG Times" charset="0"/>
                <a:ea typeface="ＭＳ Ｐゴシック" charset="0"/>
              </a:defRPr>
            </a:lvl3pPr>
            <a:lvl4pPr marL="1600200" indent="-228600" defTabSz="457200" eaLnBrk="0" hangingPunct="0">
              <a:defRPr sz="1000" b="1">
                <a:solidFill>
                  <a:schemeClr val="tx1"/>
                </a:solidFill>
                <a:latin typeface="CG Times" charset="0"/>
                <a:ea typeface="ＭＳ Ｐゴシック" charset="0"/>
              </a:defRPr>
            </a:lvl4pPr>
            <a:lvl5pPr marL="2057400" indent="-228600" defTabSz="4572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fontAlgn="base">
              <a:spcBef>
                <a:spcPct val="0"/>
              </a:spcBef>
              <a:spcAft>
                <a:spcPct val="0"/>
              </a:spcAft>
            </a:pPr>
            <a:r>
              <a:rPr lang="en-US" sz="1600" b="0" dirty="0" smtClean="0">
                <a:solidFill>
                  <a:srgbClr val="DFF0FA"/>
                </a:solidFill>
                <a:latin typeface="Candara"/>
                <a:cs typeface="Candara"/>
              </a:rPr>
              <a:t>Water time series data on the internet</a:t>
            </a:r>
          </a:p>
        </p:txBody>
      </p:sp>
      <p:pic>
        <p:nvPicPr>
          <p:cNvPr id="5123" name="Picture 3"/>
          <p:cNvPicPr>
            <a:picLocks noChangeAspect="1" noChangeArrowheads="1"/>
          </p:cNvPicPr>
          <p:nvPr/>
        </p:nvPicPr>
        <p:blipFill rotWithShape="1">
          <a:blip r:embed="rId4" cstate="email">
            <a:extLst>
              <a:ext uri="{28A0092B-C50C-407E-A947-70E740481C1C}">
                <a14:useLocalDpi xmlns:a14="http://schemas.microsoft.com/office/drawing/2010/main" val="0"/>
              </a:ext>
            </a:extLst>
          </a:blip>
          <a:srcRect t="2154"/>
          <a:stretch/>
        </p:blipFill>
        <p:spPr bwMode="auto">
          <a:xfrm>
            <a:off x="5291138" y="1774825"/>
            <a:ext cx="2490787" cy="838200"/>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291138" y="3032125"/>
            <a:ext cx="3159125" cy="1830388"/>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074960" y="5183794"/>
            <a:ext cx="4077139" cy="544299"/>
          </a:xfrm>
          <a:prstGeom prst="rect">
            <a:avLst/>
          </a:prstGeom>
          <a:gradFill flip="none" rotWithShape="1">
            <a:gsLst>
              <a:gs pos="10000">
                <a:schemeClr val="accent3">
                  <a:alpha val="0"/>
                </a:schemeClr>
              </a:gs>
              <a:gs pos="49000">
                <a:schemeClr val="accent3"/>
              </a:gs>
            </a:gsLst>
            <a:lin ang="0" scaled="1"/>
            <a:tileRect/>
          </a:gradFill>
          <a:effectLst/>
        </p:spPr>
        <p:txBody>
          <a:bodyPr lIns="1371600" rIns="0"/>
          <a:lstStyle>
            <a:defPPr>
              <a:defRPr lang="en-US"/>
            </a:defPPr>
            <a:lvl1pPr algn="ctr" defTabSz="457200" eaLnBrk="0" hangingPunct="0">
              <a:defRPr>
                <a:solidFill>
                  <a:srgbClr val="595959"/>
                </a:solidFill>
                <a:cs typeface="Avenir LT Std 85 Heavy"/>
              </a:defRPr>
            </a:lvl1pPr>
          </a:lstStyle>
          <a:p>
            <a:pPr algn="l">
              <a:defRPr/>
            </a:pPr>
            <a:r>
              <a:rPr lang="en-US" sz="1400" b="1" dirty="0">
                <a:solidFill>
                  <a:prstClr val="black"/>
                </a:solidFill>
                <a:latin typeface="Candara"/>
                <a:ea typeface="ＭＳ Ｐゴシック"/>
                <a:cs typeface="Candara"/>
              </a:rPr>
              <a:t>24/7/365 </a:t>
            </a:r>
            <a:r>
              <a:rPr lang="en-US" sz="1400" b="1" dirty="0" smtClean="0">
                <a:solidFill>
                  <a:prstClr val="black"/>
                </a:solidFill>
                <a:latin typeface="Candara"/>
                <a:ea typeface="ＭＳ Ｐゴシック"/>
                <a:cs typeface="Candara"/>
              </a:rPr>
              <a:t>service </a:t>
            </a:r>
          </a:p>
          <a:p>
            <a:pPr algn="l">
              <a:defRPr/>
            </a:pPr>
            <a:r>
              <a:rPr lang="en-US" sz="1400" dirty="0" smtClean="0">
                <a:solidFill>
                  <a:prstClr val="black"/>
                </a:solidFill>
                <a:latin typeface="Candara"/>
                <a:ea typeface="ＭＳ Ｐゴシック"/>
                <a:cs typeface="Candara"/>
              </a:rPr>
              <a:t>For daily </a:t>
            </a:r>
            <a:r>
              <a:rPr lang="en-US" sz="1400" dirty="0">
                <a:solidFill>
                  <a:prstClr val="black"/>
                </a:solidFill>
                <a:latin typeface="Candara"/>
                <a:ea typeface="ＭＳ Ｐゴシック"/>
                <a:cs typeface="Candara"/>
              </a:rPr>
              <a:t>and real-time data</a:t>
            </a:r>
          </a:p>
        </p:txBody>
      </p:sp>
      <p:sp>
        <p:nvSpPr>
          <p:cNvPr id="48137" name="TextBox 12"/>
          <p:cNvSpPr txBox="1">
            <a:spLocks noChangeArrowheads="1"/>
          </p:cNvSpPr>
          <p:nvPr/>
        </p:nvSpPr>
        <p:spPr bwMode="auto">
          <a:xfrm>
            <a:off x="2897188" y="6134100"/>
            <a:ext cx="555307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r" defTabSz="914400" fontAlgn="base">
              <a:spcBef>
                <a:spcPct val="0"/>
              </a:spcBef>
              <a:spcAft>
                <a:spcPct val="0"/>
              </a:spcAft>
            </a:pPr>
            <a:r>
              <a:rPr lang="en-US" sz="1400" b="0" dirty="0" smtClean="0">
                <a:solidFill>
                  <a:srgbClr val="BFE1F5"/>
                </a:solidFill>
                <a:latin typeface="Candara"/>
                <a:cs typeface="Candara"/>
              </a:rPr>
              <a:t>. . . Operational water web services system for the United States                  </a:t>
            </a:r>
          </a:p>
        </p:txBody>
      </p:sp>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5854" y="2160170"/>
            <a:ext cx="3133725" cy="285750"/>
          </a:xfrm>
          <a:prstGeom prst="rect">
            <a:avLst/>
          </a:prstGeom>
          <a:noFill/>
          <a:ln w="9525">
            <a:solidFill>
              <a:schemeClr val="bg1">
                <a:lumMod val="6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381000" y="6546850"/>
            <a:ext cx="8763000" cy="311150"/>
          </a:xfrm>
          <a:prstGeom prst="rect">
            <a:avLst/>
          </a:prstGeom>
          <a:gradFill flip="none" rotWithShape="1">
            <a:gsLst>
              <a:gs pos="0">
                <a:srgbClr val="00B9F2">
                  <a:alpha val="0"/>
                </a:srgbClr>
              </a:gs>
              <a:gs pos="100000">
                <a:srgbClr val="007AC2"/>
              </a:gs>
            </a:gsLst>
            <a:lin ang="0" scaled="1"/>
            <a:tileRect/>
          </a:gradFill>
          <a:effectLst/>
        </p:spPr>
        <p:txBody>
          <a:bodyPr lIns="731520" rIns="548640"/>
          <a:lstStyle>
            <a:defPPr>
              <a:defRPr lang="en-US"/>
            </a:defPPr>
            <a:lvl1pPr algn="ctr" defTabSz="457200" eaLnBrk="0" hangingPunct="0">
              <a:defRPr>
                <a:solidFill>
                  <a:srgbClr val="595959"/>
                </a:solidFill>
                <a:cs typeface="Avenir LT Std 85 Heavy"/>
              </a:defRPr>
            </a:lvl1pPr>
          </a:lstStyle>
          <a:p>
            <a:pPr algn="r">
              <a:defRPr/>
            </a:pPr>
            <a:r>
              <a:rPr lang="en-US" sz="1050" dirty="0">
                <a:solidFill>
                  <a:prstClr val="white"/>
                </a:solidFill>
                <a:latin typeface="Arial"/>
                <a:ea typeface="ＭＳ Ｐゴシック"/>
                <a:hlinkClick r:id="rId7"/>
              </a:rPr>
              <a:t>http://waterservices.usgs.gov/nwis/iv/?</a:t>
            </a:r>
            <a:r>
              <a:rPr lang="en-US" sz="1050" dirty="0" smtClean="0">
                <a:solidFill>
                  <a:prstClr val="white"/>
                </a:solidFill>
                <a:latin typeface="Arial"/>
                <a:ea typeface="ＭＳ Ｐゴシック"/>
                <a:hlinkClick r:id="rId7"/>
              </a:rPr>
              <a:t>format=waterml,2.0&amp;sites=08158000&amp;period=P1D&amp;parameterCd=00060</a:t>
            </a:r>
            <a:r>
              <a:rPr lang="en-US" sz="1050" dirty="0" smtClean="0">
                <a:solidFill>
                  <a:prstClr val="white"/>
                </a:solidFill>
                <a:latin typeface="Arial"/>
                <a:ea typeface="ＭＳ Ｐゴシック"/>
              </a:rPr>
              <a:t> </a:t>
            </a:r>
            <a:endParaRPr lang="en-US" sz="1050" dirty="0">
              <a:solidFill>
                <a:prstClr val="white"/>
              </a:solidFill>
              <a:latin typeface="Arial"/>
              <a:ea typeface="ＭＳ Ｐゴシック"/>
            </a:endParaRPr>
          </a:p>
        </p:txBody>
      </p:sp>
      <p:pic>
        <p:nvPicPr>
          <p:cNvPr id="4" name="Picture 3"/>
          <p:cNvPicPr>
            <a:picLocks noChangeAspect="1"/>
          </p:cNvPicPr>
          <p:nvPr/>
        </p:nvPicPr>
        <p:blipFill>
          <a:blip r:embed="rId8"/>
          <a:stretch>
            <a:fillRect/>
          </a:stretch>
        </p:blipFill>
        <p:spPr>
          <a:xfrm>
            <a:off x="265373" y="4617201"/>
            <a:ext cx="4853944" cy="1485217"/>
          </a:xfrm>
          <a:prstGeom prst="rect">
            <a:avLst/>
          </a:prstGeom>
        </p:spPr>
      </p:pic>
    </p:spTree>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a:xfrm>
            <a:off x="841367" y="2695036"/>
            <a:ext cx="7772400" cy="1500187"/>
          </a:xfrm>
        </p:spPr>
        <p:txBody>
          <a:bodyPr/>
          <a:lstStyle/>
          <a:p>
            <a:r>
              <a:rPr lang="en-US" sz="3600" dirty="0" smtClean="0"/>
              <a:t>Putting into practice</a:t>
            </a:r>
            <a:endParaRPr lang="en-US" sz="3600" dirty="0"/>
          </a:p>
        </p:txBody>
      </p:sp>
      <p:sp>
        <p:nvSpPr>
          <p:cNvPr id="4" name="Footer Placeholder 3"/>
          <p:cNvSpPr>
            <a:spLocks noGrp="1"/>
          </p:cNvSpPr>
          <p:nvPr>
            <p:ph type="ftr" sz="quarter" idx="10"/>
          </p:nvPr>
        </p:nvSpPr>
        <p:spPr/>
        <p:txBody>
          <a:bodyPr/>
          <a:lstStyle/>
          <a:p>
            <a:r>
              <a:rPr lang="en-AU" smtClean="0">
                <a:solidFill>
                  <a:srgbClr val="0099CC"/>
                </a:solidFill>
              </a:rPr>
              <a:t>CSIRO.</a:t>
            </a:r>
            <a:r>
              <a:rPr lang="en-AU" b="0" smtClean="0">
                <a:solidFill>
                  <a:srgbClr val="000000"/>
                </a:solidFill>
              </a:rPr>
              <a:t>  WaterML2.0 overview</a:t>
            </a:r>
            <a:endParaRPr lang="en-AU" b="0" dirty="0">
              <a:solidFill>
                <a:srgbClr val="000000"/>
              </a:solidFill>
            </a:endParaRPr>
          </a:p>
        </p:txBody>
      </p:sp>
    </p:spTree>
    <p:extLst>
      <p:ext uri="{BB962C8B-B14F-4D97-AF65-F5344CB8AC3E}">
        <p14:creationId xmlns:p14="http://schemas.microsoft.com/office/powerpoint/2010/main" val="837176299"/>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Services</a:t>
            </a:r>
            <a:endParaRPr lang="en-US" dirty="0"/>
          </a:p>
        </p:txBody>
      </p:sp>
      <p:sp>
        <p:nvSpPr>
          <p:cNvPr id="3" name="Content Placeholder 2"/>
          <p:cNvSpPr>
            <a:spLocks noGrp="1"/>
          </p:cNvSpPr>
          <p:nvPr>
            <p:ph idx="1"/>
          </p:nvPr>
        </p:nvSpPr>
        <p:spPr/>
        <p:txBody>
          <a:bodyPr/>
          <a:lstStyle/>
          <a:p>
            <a:r>
              <a:rPr lang="en-US" dirty="0" smtClean="0"/>
              <a:t>A logical fit with OGC’s Sensor Observation Service (SOS) 2.0</a:t>
            </a:r>
          </a:p>
          <a:p>
            <a:pPr lvl="1"/>
            <a:endParaRPr lang="en-US" dirty="0"/>
          </a:p>
          <a:p>
            <a:r>
              <a:rPr lang="en-US" dirty="0" smtClean="0"/>
              <a:t>May be used with other services,</a:t>
            </a:r>
          </a:p>
          <a:p>
            <a:pPr lvl="1"/>
            <a:r>
              <a:rPr lang="en-US" dirty="0" err="1" smtClean="0"/>
              <a:t>WaterOneFlow</a:t>
            </a:r>
            <a:endParaRPr lang="en-US" dirty="0" smtClean="0"/>
          </a:p>
          <a:p>
            <a:pPr lvl="1"/>
            <a:r>
              <a:rPr lang="en-US" dirty="0" smtClean="0"/>
              <a:t>Generic web services</a:t>
            </a:r>
          </a:p>
          <a:p>
            <a:pPr lvl="1"/>
            <a:r>
              <a:rPr lang="en-US" dirty="0" err="1" smtClean="0"/>
              <a:t>RESTful</a:t>
            </a:r>
            <a:r>
              <a:rPr lang="en-US" dirty="0" smtClean="0"/>
              <a:t> services</a:t>
            </a:r>
          </a:p>
          <a:p>
            <a:pPr lvl="1"/>
            <a:endParaRPr lang="en-US" dirty="0"/>
          </a:p>
          <a:p>
            <a:r>
              <a:rPr lang="en-US" dirty="0" smtClean="0"/>
              <a:t>Prototypes from Interoperability Experiments:</a:t>
            </a:r>
          </a:p>
          <a:p>
            <a:pPr lvl="1"/>
            <a:r>
              <a:rPr lang="en-US" dirty="0" smtClean="0">
                <a:hlinkClick r:id="rId3"/>
              </a:rPr>
              <a:t>Groundwater IE</a:t>
            </a:r>
            <a:endParaRPr lang="en-US" dirty="0" smtClean="0"/>
          </a:p>
          <a:p>
            <a:pPr lvl="1"/>
            <a:r>
              <a:rPr lang="en-US" dirty="0" err="1" smtClean="0">
                <a:hlinkClick r:id="rId4"/>
              </a:rPr>
              <a:t>Surfacewater</a:t>
            </a:r>
            <a:r>
              <a:rPr lang="en-US" dirty="0" smtClean="0">
                <a:hlinkClick r:id="rId4"/>
              </a:rPr>
              <a:t> IE</a:t>
            </a:r>
            <a:endParaRPr lang="en-US" dirty="0" smtClean="0"/>
          </a:p>
          <a:p>
            <a:pPr lvl="1"/>
            <a:r>
              <a:rPr lang="en-US" dirty="0" smtClean="0">
                <a:hlinkClick r:id="rId5"/>
              </a:rPr>
              <a:t>Forecasting IE</a:t>
            </a:r>
            <a:endParaRPr lang="en-US" dirty="0" smtClean="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sp>
        <p:nvSpPr>
          <p:cNvPr id="5" name="TextBox 4"/>
          <p:cNvSpPr txBox="1"/>
          <p:nvPr/>
        </p:nvSpPr>
        <p:spPr>
          <a:xfrm>
            <a:off x="2458776" y="6588125"/>
            <a:ext cx="1782373" cy="215444"/>
          </a:xfrm>
          <a:prstGeom prst="rect">
            <a:avLst/>
          </a:prstGeom>
          <a:noFill/>
        </p:spPr>
        <p:txBody>
          <a:bodyPr wrap="square" rtlCol="0">
            <a:spAutoFit/>
          </a:bodyPr>
          <a:lstStyle/>
          <a:p>
            <a:r>
              <a:rPr lang="en-US" sz="800"/>
              <a:t>(Updated Aug 2015, DArctur)</a:t>
            </a:r>
          </a:p>
        </p:txBody>
      </p:sp>
    </p:spTree>
    <p:extLst>
      <p:ext uri="{BB962C8B-B14F-4D97-AF65-F5344CB8AC3E}">
        <p14:creationId xmlns:p14="http://schemas.microsoft.com/office/powerpoint/2010/main" val="218640612"/>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Specificity</a:t>
            </a:r>
            <a:endParaRPr lang="en-US" dirty="0"/>
          </a:p>
        </p:txBody>
      </p:sp>
      <p:sp>
        <p:nvSpPr>
          <p:cNvPr id="3" name="Content Placeholder 2"/>
          <p:cNvSpPr>
            <a:spLocks noGrp="1"/>
          </p:cNvSpPr>
          <p:nvPr>
            <p:ph idx="1"/>
          </p:nvPr>
        </p:nvSpPr>
        <p:spPr>
          <a:xfrm>
            <a:off x="1103313" y="1152558"/>
            <a:ext cx="7851243" cy="5028103"/>
          </a:xfrm>
        </p:spPr>
        <p:txBody>
          <a:bodyPr/>
          <a:lstStyle/>
          <a:p>
            <a:r>
              <a:rPr lang="en-US" dirty="0" smtClean="0"/>
              <a:t>Some parts of WaterML2.0 need further definition for particular usages</a:t>
            </a:r>
          </a:p>
          <a:p>
            <a:pPr lvl="1"/>
            <a:r>
              <a:rPr lang="en-US" dirty="0" smtClean="0"/>
              <a:t>Focus was on getting core structures defined and consistency</a:t>
            </a:r>
            <a:br>
              <a:rPr lang="en-US" dirty="0" smtClean="0"/>
            </a:br>
            <a:endParaRPr lang="en-US" dirty="0" smtClean="0"/>
          </a:p>
          <a:p>
            <a:r>
              <a:rPr lang="en-US" dirty="0" smtClean="0"/>
              <a:t>Best practices and related standards</a:t>
            </a:r>
          </a:p>
          <a:p>
            <a:pPr lvl="1"/>
            <a:r>
              <a:rPr lang="en-US" dirty="0" smtClean="0"/>
              <a:t>OGC </a:t>
            </a:r>
            <a:r>
              <a:rPr lang="en-US" dirty="0"/>
              <a:t>Best Practice:</a:t>
            </a:r>
            <a:r>
              <a:rPr lang="en-US" dirty="0" smtClean="0"/>
              <a:t> </a:t>
            </a:r>
            <a:r>
              <a:rPr lang="en-US" dirty="0" smtClean="0">
                <a:hlinkClick r:id="rId2"/>
              </a:rPr>
              <a:t>Sensor Observation Service 2.0 Hydrology Profile</a:t>
            </a:r>
            <a:endParaRPr lang="en-US" i="1" dirty="0" smtClean="0"/>
          </a:p>
          <a:p>
            <a:pPr lvl="1"/>
            <a:r>
              <a:rPr lang="en-US" dirty="0"/>
              <a:t>OGC Best Practice: </a:t>
            </a:r>
            <a:r>
              <a:rPr lang="en-US" dirty="0">
                <a:hlinkClick r:id="rId3"/>
              </a:rPr>
              <a:t>WaterML-WQ </a:t>
            </a:r>
            <a:r>
              <a:rPr lang="en-US" dirty="0"/>
              <a:t>– an O&amp;M and WaterML 2.0 profile for water quality data (1.0)</a:t>
            </a:r>
            <a:endParaRPr lang="en-US" i="1" dirty="0"/>
          </a:p>
          <a:p>
            <a:pPr lvl="1"/>
            <a:r>
              <a:rPr lang="en-US" dirty="0"/>
              <a:t>WaterML 2.0 Part 2 – Ratings, Gaugings &amp; Sections has been adopted and is in final stages of publication</a:t>
            </a:r>
            <a:br>
              <a:rPr lang="en-US" dirty="0"/>
            </a:br>
            <a:endParaRPr lang="en-US" dirty="0" smtClean="0"/>
          </a:p>
          <a:p>
            <a:r>
              <a:rPr lang="en-US" dirty="0" smtClean="0"/>
              <a:t>OGC Hydrology Domain Working Group public wiki:</a:t>
            </a:r>
          </a:p>
          <a:p>
            <a:pPr lvl="1"/>
            <a:r>
              <a:rPr lang="en-US" dirty="0">
                <a:hlinkClick r:id="rId4"/>
              </a:rPr>
              <a:t>http://external.opengis.org/twiki_public/HydrologyDWG/WebHome</a:t>
            </a:r>
            <a:r>
              <a:rPr lang="en-US" dirty="0"/>
              <a:t> </a:t>
            </a:r>
          </a:p>
          <a:p>
            <a:endParaRPr lang="en-US" dirty="0"/>
          </a:p>
          <a:p>
            <a:endParaRPr lang="en-US" dirty="0" smtClean="0"/>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WaterML2.0 overview</a:t>
            </a:r>
            <a:endParaRPr lang="en-AU" b="0" dirty="0">
              <a:solidFill>
                <a:srgbClr val="000000"/>
              </a:solidFill>
            </a:endParaRPr>
          </a:p>
        </p:txBody>
      </p:sp>
      <p:pic>
        <p:nvPicPr>
          <p:cNvPr id="8" name="Picture 7"/>
          <p:cNvPicPr>
            <a:picLocks noChangeAspect="1"/>
          </p:cNvPicPr>
          <p:nvPr/>
        </p:nvPicPr>
        <p:blipFill>
          <a:blip r:embed="rId5"/>
          <a:stretch>
            <a:fillRect/>
          </a:stretch>
        </p:blipFill>
        <p:spPr>
          <a:xfrm>
            <a:off x="4297609" y="5729130"/>
            <a:ext cx="3963090" cy="858995"/>
          </a:xfrm>
          <a:prstGeom prst="rect">
            <a:avLst/>
          </a:prstGeom>
        </p:spPr>
      </p:pic>
      <p:pic>
        <p:nvPicPr>
          <p:cNvPr id="5" name="Picture 4" descr="OGC landing page logo.jp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3268" y="5292725"/>
            <a:ext cx="3365500" cy="1295400"/>
          </a:xfrm>
          <a:prstGeom prst="rect">
            <a:avLst/>
          </a:prstGeom>
        </p:spPr>
      </p:pic>
      <p:sp>
        <p:nvSpPr>
          <p:cNvPr id="6" name="TextBox 5"/>
          <p:cNvSpPr txBox="1"/>
          <p:nvPr/>
        </p:nvSpPr>
        <p:spPr>
          <a:xfrm>
            <a:off x="2458776" y="6588125"/>
            <a:ext cx="1782373" cy="215444"/>
          </a:xfrm>
          <a:prstGeom prst="rect">
            <a:avLst/>
          </a:prstGeom>
          <a:noFill/>
        </p:spPr>
        <p:txBody>
          <a:bodyPr wrap="square" rtlCol="0">
            <a:spAutoFit/>
          </a:bodyPr>
          <a:lstStyle/>
          <a:p>
            <a:r>
              <a:rPr lang="en-US" sz="800"/>
              <a:t>(Updated Aug 2015, DArctur)</a:t>
            </a:r>
          </a:p>
        </p:txBody>
      </p:sp>
    </p:spTree>
    <p:extLst>
      <p:ext uri="{BB962C8B-B14F-4D97-AF65-F5344CB8AC3E}">
        <p14:creationId xmlns:p14="http://schemas.microsoft.com/office/powerpoint/2010/main" val="2150703164"/>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a:t>
            </a:r>
            <a:endParaRPr lang="en-US" dirty="0"/>
          </a:p>
        </p:txBody>
      </p:sp>
      <p:sp>
        <p:nvSpPr>
          <p:cNvPr id="3" name="Content Placeholder 2"/>
          <p:cNvSpPr>
            <a:spLocks noGrp="1"/>
          </p:cNvSpPr>
          <p:nvPr>
            <p:ph idx="1"/>
          </p:nvPr>
        </p:nvSpPr>
        <p:spPr/>
        <p:txBody>
          <a:bodyPr/>
          <a:lstStyle/>
          <a:p>
            <a:r>
              <a:rPr lang="en-US" dirty="0" smtClean="0"/>
              <a:t>Convergence of various communities:</a:t>
            </a:r>
          </a:p>
          <a:p>
            <a:pPr lvl="1"/>
            <a:r>
              <a:rPr lang="en-US" dirty="0" smtClean="0"/>
              <a:t>GIS, ‘feature’ view</a:t>
            </a:r>
          </a:p>
          <a:p>
            <a:pPr lvl="1"/>
            <a:r>
              <a:rPr lang="en-US" dirty="0" smtClean="0"/>
              <a:t>Atmospheric, oceanographic – multi-dimensional, </a:t>
            </a:r>
            <a:r>
              <a:rPr lang="en-US" dirty="0" err="1" smtClean="0"/>
              <a:t>coverages</a:t>
            </a:r>
            <a:endParaRPr lang="en-US" dirty="0" smtClean="0"/>
          </a:p>
          <a:p>
            <a:pPr lvl="1"/>
            <a:r>
              <a:rPr lang="en-US" dirty="0" smtClean="0"/>
              <a:t>Satellite/Sensor-centric view</a:t>
            </a:r>
          </a:p>
          <a:p>
            <a:pPr lvl="1"/>
            <a:r>
              <a:rPr lang="en-US" dirty="0" smtClean="0"/>
              <a:t>Hydrologists</a:t>
            </a:r>
          </a:p>
          <a:p>
            <a:pPr lvl="1"/>
            <a:endParaRPr lang="en-US" dirty="0"/>
          </a:p>
          <a:p>
            <a:r>
              <a:rPr lang="en-US" dirty="0" smtClean="0"/>
              <a:t>WaterML 2.0 provides a step in the right direction for the hydro domain; TimeseriesML generalizes this for multiple domains</a:t>
            </a:r>
          </a:p>
          <a:p>
            <a:endParaRPr lang="en-US" dirty="0"/>
          </a:p>
          <a:p>
            <a:r>
              <a:rPr lang="en-US" dirty="0" smtClean="0"/>
              <a:t>Given the increasingly multidisciplinary nature of science, it helps to align our ‘data world views’</a:t>
            </a:r>
          </a:p>
          <a:p>
            <a:pPr lvl="1"/>
            <a:r>
              <a:rPr lang="en-US" dirty="0" smtClean="0"/>
              <a:t>Tension between community-specific requirements and abstract, flexible models – each have their role</a:t>
            </a:r>
          </a:p>
        </p:txBody>
      </p:sp>
      <p:sp>
        <p:nvSpPr>
          <p:cNvPr id="4" name="Footer Placeholder 3"/>
          <p:cNvSpPr>
            <a:spLocks noGrp="1"/>
          </p:cNvSpPr>
          <p:nvPr>
            <p:ph type="ftr" sz="quarter" idx="10"/>
          </p:nvPr>
        </p:nvSpPr>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spTree>
    <p:extLst>
      <p:ext uri="{BB962C8B-B14F-4D97-AF65-F5344CB8AC3E}">
        <p14:creationId xmlns:p14="http://schemas.microsoft.com/office/powerpoint/2010/main" val="16062268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work</a:t>
            </a:r>
            <a:endParaRPr lang="en-US" dirty="0"/>
          </a:p>
        </p:txBody>
      </p:sp>
      <p:sp>
        <p:nvSpPr>
          <p:cNvPr id="3" name="Content Placeholder 2"/>
          <p:cNvSpPr>
            <a:spLocks noGrp="1"/>
          </p:cNvSpPr>
          <p:nvPr>
            <p:ph idx="1"/>
          </p:nvPr>
        </p:nvSpPr>
        <p:spPr/>
        <p:txBody>
          <a:bodyPr/>
          <a:lstStyle/>
          <a:p>
            <a:pPr marL="0" indent="0">
              <a:buNone/>
            </a:pPr>
            <a:endParaRPr lang="en-US" dirty="0"/>
          </a:p>
          <a:p>
            <a:r>
              <a:rPr lang="en-US" dirty="0" err="1" smtClean="0"/>
              <a:t>Relationship of WaterML 3.0 (?) to TimeseriesML</a:t>
            </a:r>
          </a:p>
          <a:p>
            <a:endParaRPr lang="en-US" dirty="0" err="1" smtClean="0"/>
          </a:p>
          <a:p>
            <a:r>
              <a:rPr lang="en-US" dirty="0" err="1" smtClean="0"/>
              <a:t>NetCDF</a:t>
            </a:r>
            <a:r>
              <a:rPr lang="en-US" dirty="0" smtClean="0"/>
              <a:t> mapping (in progress; some applications exist)</a:t>
            </a:r>
          </a:p>
          <a:p>
            <a:endParaRPr lang="en-US" dirty="0"/>
          </a:p>
          <a:p>
            <a:r>
              <a:rPr lang="en-US" dirty="0"/>
              <a:t>Gap analysis leading to extensions &amp;/or restrictions for satellite data</a:t>
            </a:r>
          </a:p>
          <a:p>
            <a:endParaRPr lang="en-US" dirty="0"/>
          </a:p>
          <a:p>
            <a:r>
              <a:rPr lang="en-US" dirty="0" smtClean="0"/>
              <a:t>JSON, SWE Common encodings</a:t>
            </a:r>
          </a:p>
          <a:p>
            <a:endParaRPr lang="en-US" dirty="0"/>
          </a:p>
          <a:p>
            <a:r>
              <a:rPr lang="en-US" dirty="0" smtClean="0"/>
              <a:t>Controlled vocabularies</a:t>
            </a:r>
            <a:endParaRPr lang="en-US" dirty="0"/>
          </a:p>
          <a:p>
            <a:pPr marL="0" indent="0">
              <a:buNone/>
            </a:pPr>
            <a:endParaRPr lang="en-US" dirty="0"/>
          </a:p>
          <a:p>
            <a:r>
              <a:rPr lang="en-US" dirty="0" smtClean="0"/>
              <a:t>Multiple variables per time series</a:t>
            </a:r>
          </a:p>
          <a:p>
            <a:endParaRPr lang="en-US" dirty="0"/>
          </a:p>
          <a:p>
            <a:endParaRPr lang="en-US" dirty="0" smtClean="0"/>
          </a:p>
          <a:p>
            <a:endParaRPr lang="en-US" dirty="0"/>
          </a:p>
          <a:p>
            <a:endParaRPr lang="en-US" dirty="0"/>
          </a:p>
        </p:txBody>
      </p:sp>
      <p:sp>
        <p:nvSpPr>
          <p:cNvPr id="4" name="Footer Placeholder 3"/>
          <p:cNvSpPr>
            <a:spLocks noGrp="1"/>
          </p:cNvSpPr>
          <p:nvPr>
            <p:ph type="ftr" sz="quarter" idx="10"/>
          </p:nvPr>
        </p:nvSpPr>
        <p:spPr/>
        <p:txBody>
          <a:bodyPr/>
          <a:lstStyle/>
          <a:p>
            <a:r>
              <a:rPr lang="en-AU" smtClean="0">
                <a:solidFill>
                  <a:srgbClr val="0099CC"/>
                </a:solidFill>
              </a:rPr>
              <a:t>CSIRO.</a:t>
            </a:r>
            <a:r>
              <a:rPr lang="en-AU" b="0" smtClean="0">
                <a:solidFill>
                  <a:srgbClr val="000000"/>
                </a:solidFill>
              </a:rPr>
              <a:t>  WaterML2.0 overview</a:t>
            </a:r>
            <a:endParaRPr lang="en-AU" b="0" dirty="0">
              <a:solidFill>
                <a:srgbClr val="000000"/>
              </a:solidFill>
            </a:endParaRPr>
          </a:p>
        </p:txBody>
      </p:sp>
      <p:sp>
        <p:nvSpPr>
          <p:cNvPr id="5" name="TextBox 4"/>
          <p:cNvSpPr txBox="1"/>
          <p:nvPr/>
        </p:nvSpPr>
        <p:spPr>
          <a:xfrm>
            <a:off x="2458776" y="6588125"/>
            <a:ext cx="1782373" cy="215444"/>
          </a:xfrm>
          <a:prstGeom prst="rect">
            <a:avLst/>
          </a:prstGeom>
          <a:noFill/>
        </p:spPr>
        <p:txBody>
          <a:bodyPr wrap="square" rtlCol="0">
            <a:spAutoFit/>
          </a:bodyPr>
          <a:lstStyle/>
          <a:p>
            <a:r>
              <a:rPr lang="en-US" sz="800"/>
              <a:t>(Updated Aug 2015, DArctur)</a:t>
            </a:r>
          </a:p>
        </p:txBody>
      </p:sp>
    </p:spTree>
    <p:extLst>
      <p:ext uri="{BB962C8B-B14F-4D97-AF65-F5344CB8AC3E}">
        <p14:creationId xmlns:p14="http://schemas.microsoft.com/office/powerpoint/2010/main" val="4053842904"/>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313" y="80963"/>
            <a:ext cx="7903918" cy="900112"/>
          </a:xfrm>
        </p:spPr>
        <p:txBody>
          <a:bodyPr/>
          <a:lstStyle/>
          <a:p>
            <a:r>
              <a:rPr lang="en-US"/>
              <a:t>Timeseries Profile of OGC O&amp;M / TimeseriesML – </a:t>
            </a:r>
            <a:r>
              <a:rPr lang="en-US" i="1">
                <a:solidFill>
                  <a:srgbClr val="FFFF00"/>
                </a:solidFill>
              </a:rPr>
              <a:t>Open Call for Public Comment</a:t>
            </a:r>
          </a:p>
        </p:txBody>
      </p:sp>
      <p:sp>
        <p:nvSpPr>
          <p:cNvPr id="3" name="Content Placeholder 2"/>
          <p:cNvSpPr>
            <a:spLocks noGrp="1"/>
          </p:cNvSpPr>
          <p:nvPr>
            <p:ph idx="1"/>
          </p:nvPr>
        </p:nvSpPr>
        <p:spPr/>
        <p:txBody>
          <a:bodyPr/>
          <a:lstStyle/>
          <a:p>
            <a:r>
              <a:rPr lang="en-US">
                <a:hlinkClick r:id="rId2" action="ppaction://hlinkfile"/>
              </a:rPr>
              <a:t>Call for Comments </a:t>
            </a:r>
            <a:r>
              <a:rPr lang="en-US"/>
              <a:t> (closes 9-17-2015)</a:t>
            </a:r>
          </a:p>
          <a:p>
            <a:pPr lvl="1"/>
            <a:r>
              <a:rPr lang="en-US" sz="1600"/>
              <a:t>Members of the Open Geospatial Consortium (OGC®) request comments on </a:t>
            </a:r>
            <a:r>
              <a:rPr lang="en-US" sz="1600" b="1"/>
              <a:t>proposed OGC standards for the representation of observations as timeseries</a:t>
            </a:r>
            <a:r>
              <a:rPr lang="en-US" sz="1600"/>
              <a:t>, that is, a sequence of data values which are ordered in time.</a:t>
            </a:r>
          </a:p>
          <a:p>
            <a:pPr lvl="1"/>
            <a:r>
              <a:rPr lang="en-US" sz="1600"/>
              <a:t>The OGC Timeseries Profile of Observations and Measurements candidate standard is a </a:t>
            </a:r>
            <a:r>
              <a:rPr lang="en-US" sz="1600" b="1"/>
              <a:t>conceptual model for the representation of observations data as timeseries</a:t>
            </a:r>
            <a:r>
              <a:rPr lang="en-US" sz="1600"/>
              <a:t>, with the intent of enabling the exchange of such data sets across information systems. </a:t>
            </a:r>
          </a:p>
          <a:p>
            <a:pPr lvl="1"/>
            <a:r>
              <a:rPr lang="en-US" sz="1600"/>
              <a:t>An accompanying OGC candidate standard defines an </a:t>
            </a:r>
            <a:r>
              <a:rPr lang="en-US" sz="1600" b="1"/>
              <a:t>XML encoding </a:t>
            </a:r>
            <a:r>
              <a:rPr lang="en-US" sz="1600"/>
              <a:t>(OGC TimeseriesML 1.0 - XML Encoding of the Timeseries Profile of Observations and Measurements). Other encodings may be developed in future.</a:t>
            </a:r>
          </a:p>
          <a:p>
            <a:r>
              <a:rPr lang="en-US"/>
              <a:t>Downloads</a:t>
            </a:r>
          </a:p>
          <a:p>
            <a:pPr lvl="1"/>
            <a:r>
              <a:rPr lang="en-US"/>
              <a:t>Timeseries Profile of Observations and Measurements (</a:t>
            </a:r>
            <a:r>
              <a:rPr lang="en-US">
                <a:hlinkClick r:id="rId3"/>
              </a:rPr>
              <a:t>15-043r1</a:t>
            </a:r>
            <a:r>
              <a:rPr lang="en-US"/>
              <a:t>) </a:t>
            </a:r>
          </a:p>
          <a:p>
            <a:pPr lvl="1"/>
            <a:r>
              <a:rPr lang="en-US"/>
              <a:t>TimeseriesML 1.0 - XML Encoding of the Timeseries Profile of Observations and Measurements (</a:t>
            </a:r>
            <a:r>
              <a:rPr lang="en-US">
                <a:hlinkClick r:id="rId4"/>
              </a:rPr>
              <a:t>15-042r1</a:t>
            </a:r>
            <a:r>
              <a:rPr lang="en-US"/>
              <a:t>) – </a:t>
            </a:r>
            <a:r>
              <a:rPr lang="en-US" i="1"/>
              <a:t>includes schema</a:t>
            </a:r>
          </a:p>
          <a:p>
            <a:pPr marL="0" indent="0">
              <a:buNone/>
            </a:pPr>
            <a:endParaRPr lang="en-US"/>
          </a:p>
          <a:p>
            <a:endParaRPr lang="en-US"/>
          </a:p>
          <a:p>
            <a:endParaRPr lang="en-US"/>
          </a:p>
        </p:txBody>
      </p:sp>
      <p:sp>
        <p:nvSpPr>
          <p:cNvPr id="4" name="Footer Placeholder 3"/>
          <p:cNvSpPr>
            <a:spLocks noGrp="1"/>
          </p:cNvSpPr>
          <p:nvPr>
            <p:ph type="ftr" sz="quarter" idx="10"/>
          </p:nvPr>
        </p:nvSpPr>
        <p:spPr/>
        <p:txBody>
          <a:bodyPr/>
          <a:lstStyle/>
          <a:p>
            <a:r>
              <a:rPr lang="en-AU" dirty="0">
                <a:solidFill>
                  <a:srgbClr val="0099CC"/>
                </a:solidFill>
              </a:rPr>
              <a:t>CSIRO.</a:t>
            </a:r>
            <a:r>
              <a:rPr lang="en-AU" b="0" dirty="0">
                <a:solidFill>
                  <a:srgbClr val="000000"/>
                </a:solidFill>
              </a:rPr>
              <a:t>  </a:t>
            </a:r>
            <a:r>
              <a:rPr lang="en-AU" b="0" dirty="0" smtClean="0">
                <a:solidFill>
                  <a:srgbClr val="000000"/>
                </a:solidFill>
              </a:rPr>
              <a:t>WaterML2.0 overview</a:t>
            </a:r>
            <a:endParaRPr lang="en-AU" b="0" dirty="0">
              <a:solidFill>
                <a:srgbClr val="000000"/>
              </a:solidFill>
            </a:endParaRPr>
          </a:p>
        </p:txBody>
      </p:sp>
    </p:spTree>
    <p:extLst>
      <p:ext uri="{BB962C8B-B14F-4D97-AF65-F5344CB8AC3E}">
        <p14:creationId xmlns:p14="http://schemas.microsoft.com/office/powerpoint/2010/main" val="3993671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010713" y="4365835"/>
            <a:ext cx="7468567" cy="1929659"/>
          </a:xfrm>
          <a:prstGeom prst="rect">
            <a:avLst/>
          </a:prstGeom>
        </p:spPr>
      </p:pic>
      <p:sp>
        <p:nvSpPr>
          <p:cNvPr id="2" name="Title 1"/>
          <p:cNvSpPr>
            <a:spLocks noGrp="1"/>
          </p:cNvSpPr>
          <p:nvPr>
            <p:ph type="title"/>
          </p:nvPr>
        </p:nvSpPr>
        <p:spPr/>
        <p:txBody>
          <a:bodyPr/>
          <a:lstStyle/>
          <a:p>
            <a:r>
              <a:rPr lang="en-US" dirty="0" smtClean="0"/>
              <a:t>Community	</a:t>
            </a:r>
            <a:endParaRPr lang="en-US" dirty="0"/>
          </a:p>
        </p:txBody>
      </p:sp>
      <p:sp>
        <p:nvSpPr>
          <p:cNvPr id="3" name="Content Placeholder 2"/>
          <p:cNvSpPr>
            <a:spLocks noGrp="1"/>
          </p:cNvSpPr>
          <p:nvPr>
            <p:ph idx="1"/>
          </p:nvPr>
        </p:nvSpPr>
        <p:spPr/>
        <p:txBody>
          <a:bodyPr/>
          <a:lstStyle/>
          <a:p>
            <a:r>
              <a:rPr lang="en-US" dirty="0" smtClean="0"/>
              <a:t>The Hydro &amp; Met-Ocean Domain Working Groups</a:t>
            </a:r>
            <a:endParaRPr lang="en-US" dirty="0"/>
          </a:p>
          <a:p>
            <a:pPr lvl="1"/>
            <a:r>
              <a:rPr lang="en-US" dirty="0" smtClean="0"/>
              <a:t>Common problems being solved – let’s pool our resources! </a:t>
            </a:r>
          </a:p>
          <a:p>
            <a:pPr lvl="1"/>
            <a:r>
              <a:rPr lang="en-US" dirty="0" smtClean="0"/>
              <a:t>Open standards, and source, come into their own when critical mass is reached</a:t>
            </a:r>
          </a:p>
          <a:p>
            <a:pPr lvl="1"/>
            <a:r>
              <a:rPr lang="en-US" dirty="0" smtClean="0"/>
              <a:t>A governance framework linking with OGC and WMO</a:t>
            </a:r>
            <a:endParaRPr lang="en-US" dirty="0"/>
          </a:p>
          <a:p>
            <a:r>
              <a:rPr lang="en-US" dirty="0" smtClean="0"/>
              <a:t>Temporal DWG and Timeseries SWG</a:t>
            </a:r>
          </a:p>
          <a:p>
            <a:pPr marL="0" indent="0">
              <a:buNone/>
            </a:pPr>
            <a:r>
              <a:rPr lang="en-US" sz="2400" i="1" dirty="0" smtClean="0"/>
              <a:t>Let’s grow the international community of practice for sharing time series data</a:t>
            </a:r>
            <a:endParaRPr lang="en-US" i="1" dirty="0" smtClean="0"/>
          </a:p>
        </p:txBody>
      </p:sp>
      <p:sp>
        <p:nvSpPr>
          <p:cNvPr id="4" name="Footer Placeholder 3"/>
          <p:cNvSpPr>
            <a:spLocks noGrp="1"/>
          </p:cNvSpPr>
          <p:nvPr>
            <p:ph type="ftr" sz="quarter" idx="10"/>
          </p:nvPr>
        </p:nvSpPr>
        <p:spPr>
          <a:xfrm>
            <a:off x="1103313" y="6600825"/>
            <a:ext cx="7343775" cy="257175"/>
          </a:xfrm>
        </p:spPr>
        <p:txBody>
          <a:bodyPr/>
          <a:lstStyle/>
          <a:p>
            <a:r>
              <a:rPr lang="en-AU" dirty="0" smtClean="0">
                <a:solidFill>
                  <a:srgbClr val="0099CC"/>
                </a:solidFill>
              </a:rPr>
              <a:t>CSIRO.</a:t>
            </a:r>
            <a:r>
              <a:rPr lang="en-AU" b="0" dirty="0" smtClean="0">
                <a:solidFill>
                  <a:srgbClr val="000000"/>
                </a:solidFill>
              </a:rPr>
              <a:t> </a:t>
            </a:r>
            <a:r>
              <a:rPr lang="en-AU" b="0" dirty="0">
                <a:solidFill>
                  <a:srgbClr val="000000"/>
                </a:solidFill>
              </a:rPr>
              <a:t>WaterML2.0 overview</a:t>
            </a:r>
          </a:p>
        </p:txBody>
      </p:sp>
      <p:sp>
        <p:nvSpPr>
          <p:cNvPr id="6" name="Oval 5"/>
          <p:cNvSpPr/>
          <p:nvPr/>
        </p:nvSpPr>
        <p:spPr>
          <a:xfrm>
            <a:off x="5661672" y="5034199"/>
            <a:ext cx="330705" cy="304285"/>
          </a:xfrm>
          <a:prstGeom prst="ellipse">
            <a:avLst/>
          </a:prstGeom>
          <a:noFill/>
          <a:ln w="28575" cmpd="sng"/>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p:cNvSpPr/>
          <p:nvPr/>
        </p:nvSpPr>
        <p:spPr>
          <a:xfrm>
            <a:off x="7507283" y="4637305"/>
            <a:ext cx="330705" cy="304285"/>
          </a:xfrm>
          <a:prstGeom prst="ellipse">
            <a:avLst/>
          </a:prstGeom>
          <a:noFill/>
          <a:ln w="28575" cmpd="sng">
            <a:solidFill>
              <a:srgbClr val="009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p:cNvSpPr/>
          <p:nvPr/>
        </p:nvSpPr>
        <p:spPr>
          <a:xfrm>
            <a:off x="2487177" y="4763247"/>
            <a:ext cx="330705" cy="304285"/>
          </a:xfrm>
          <a:prstGeom prst="ellipse">
            <a:avLst/>
          </a:prstGeom>
          <a:noFill/>
          <a:ln w="28575" cmpd="sng"/>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Elbow Connector 9"/>
          <p:cNvCxnSpPr>
            <a:stCxn id="8" idx="6"/>
            <a:endCxn id="6" idx="4"/>
          </p:cNvCxnSpPr>
          <p:nvPr/>
        </p:nvCxnSpPr>
        <p:spPr>
          <a:xfrm>
            <a:off x="2817882" y="4915390"/>
            <a:ext cx="3009143" cy="423094"/>
          </a:xfrm>
          <a:prstGeom prst="bentConnector4">
            <a:avLst>
              <a:gd name="adj1" fmla="val 47252"/>
              <a:gd name="adj2" fmla="val 154031"/>
            </a:avLst>
          </a:prstGeom>
          <a:ln>
            <a:headEnd type="none"/>
            <a:tailEnd type="triangle"/>
          </a:ln>
        </p:spPr>
        <p:style>
          <a:lnRef idx="2">
            <a:schemeClr val="accent5"/>
          </a:lnRef>
          <a:fillRef idx="0">
            <a:schemeClr val="accent5"/>
          </a:fillRef>
          <a:effectRef idx="1">
            <a:schemeClr val="accent5"/>
          </a:effectRef>
          <a:fontRef idx="minor">
            <a:schemeClr val="tx1"/>
          </a:fontRef>
        </p:style>
      </p:cxnSp>
      <p:cxnSp>
        <p:nvCxnSpPr>
          <p:cNvPr id="12" name="Elbow Connector 11"/>
          <p:cNvCxnSpPr>
            <a:stCxn id="6" idx="0"/>
          </p:cNvCxnSpPr>
          <p:nvPr/>
        </p:nvCxnSpPr>
        <p:spPr>
          <a:xfrm rot="5400000" flipH="1" flipV="1">
            <a:off x="6531678" y="4058594"/>
            <a:ext cx="270952" cy="1680258"/>
          </a:xfrm>
          <a:prstGeom prst="bentConnector2">
            <a:avLst/>
          </a:prstGeom>
        </p:spPr>
        <p:style>
          <a:lnRef idx="2">
            <a:schemeClr val="accent5"/>
          </a:lnRef>
          <a:fillRef idx="0">
            <a:schemeClr val="accent5"/>
          </a:fillRef>
          <a:effectRef idx="1">
            <a:schemeClr val="accent5"/>
          </a:effectRef>
          <a:fontRef idx="minor">
            <a:schemeClr val="tx1"/>
          </a:fontRef>
        </p:style>
      </p:cxnSp>
      <p:cxnSp>
        <p:nvCxnSpPr>
          <p:cNvPr id="14" name="Elbow Connector 13"/>
          <p:cNvCxnSpPr>
            <a:stCxn id="8" idx="4"/>
          </p:cNvCxnSpPr>
          <p:nvPr/>
        </p:nvCxnSpPr>
        <p:spPr>
          <a:xfrm rot="5400000">
            <a:off x="1558888" y="5215082"/>
            <a:ext cx="1241193" cy="946093"/>
          </a:xfrm>
          <a:prstGeom prst="bentConnector3">
            <a:avLst/>
          </a:prstGeom>
          <a:ln>
            <a:headEnd type="none"/>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1841437246"/>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1" name="Group 3"/>
          <p:cNvGrpSpPr>
            <a:grpSpLocks/>
          </p:cNvGrpSpPr>
          <p:nvPr/>
        </p:nvGrpSpPr>
        <p:grpSpPr bwMode="auto">
          <a:xfrm>
            <a:off x="0" y="0"/>
            <a:ext cx="9144000" cy="6858000"/>
            <a:chOff x="0" y="0"/>
            <a:chExt cx="5760" cy="4320"/>
          </a:xfrm>
        </p:grpSpPr>
        <p:sp>
          <p:nvSpPr>
            <p:cNvPr id="25606" name="Rectangle 4"/>
            <p:cNvSpPr>
              <a:spLocks noChangeArrowheads="1"/>
            </p:cNvSpPr>
            <p:nvPr/>
          </p:nvSpPr>
          <p:spPr bwMode="auto">
            <a:xfrm>
              <a:off x="474" y="2397"/>
              <a:ext cx="5286" cy="861"/>
            </a:xfrm>
            <a:prstGeom prst="rect">
              <a:avLst/>
            </a:prstGeom>
            <a:solidFill>
              <a:srgbClr val="E2E3E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fontAlgn="base">
                <a:spcBef>
                  <a:spcPct val="0"/>
                </a:spcBef>
                <a:spcAft>
                  <a:spcPct val="0"/>
                </a:spcAft>
              </a:pPr>
              <a:endParaRPr lang="en-US" smtClean="0">
                <a:solidFill>
                  <a:srgbClr val="000000"/>
                </a:solidFill>
                <a:latin typeface="Arial" charset="0"/>
                <a:ea typeface="ＭＳ Ｐゴシック" charset="0"/>
                <a:cs typeface="ＭＳ Ｐゴシック" charset="0"/>
              </a:endParaRPr>
            </a:p>
          </p:txBody>
        </p:sp>
        <p:sp>
          <p:nvSpPr>
            <p:cNvPr id="25607" name="Rectangle 5"/>
            <p:cNvSpPr>
              <a:spLocks noChangeArrowheads="1"/>
            </p:cNvSpPr>
            <p:nvPr/>
          </p:nvSpPr>
          <p:spPr bwMode="auto">
            <a:xfrm>
              <a:off x="472" y="3258"/>
              <a:ext cx="5288" cy="15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fontAlgn="base">
                <a:spcBef>
                  <a:spcPct val="0"/>
                </a:spcBef>
                <a:spcAft>
                  <a:spcPct val="0"/>
                </a:spcAft>
              </a:pPr>
              <a:endParaRPr lang="en-US" smtClean="0">
                <a:solidFill>
                  <a:srgbClr val="000000"/>
                </a:solidFill>
                <a:latin typeface="Arial" charset="0"/>
                <a:ea typeface="ＭＳ Ｐゴシック" charset="0"/>
                <a:cs typeface="ＭＳ Ｐゴシック" charset="0"/>
              </a:endParaRPr>
            </a:p>
          </p:txBody>
        </p:sp>
        <p:pic>
          <p:nvPicPr>
            <p:cNvPr id="25608" name="Picture 6" descr="flagships_ppt_title"/>
            <p:cNvPicPr>
              <a:picLocks noChangeAspect="1" noChangeArrowheads="1"/>
            </p:cNvPicPr>
            <p:nvPr/>
          </p:nvPicPr>
          <p:blipFill>
            <a:blip r:embed="rId3" cstate="print">
              <a:extLst>
                <a:ext uri="{28A0092B-C50C-407E-A947-70E740481C1C}">
                  <a14:useLocalDpi xmlns:a14="http://schemas.microsoft.com/office/drawing/2010/main"/>
                </a:ext>
              </a:extLst>
            </a:blip>
            <a:srcRect l="1987" t="2022" b="943"/>
            <a:stretch>
              <a:fillRect/>
            </a:stretch>
          </p:blipFill>
          <p:spPr bwMode="auto">
            <a:xfrm>
              <a:off x="0" y="0"/>
              <a:ext cx="888"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034" name="Rectangle 8"/>
          <p:cNvSpPr>
            <a:spLocks noGrp="1" noChangeArrowheads="1"/>
          </p:cNvSpPr>
          <p:nvPr>
            <p:ph type="ctrTitle" idx="4294967295"/>
          </p:nvPr>
        </p:nvSpPr>
        <p:spPr>
          <a:xfrm>
            <a:off x="1455738" y="4113213"/>
            <a:ext cx="6481762" cy="960437"/>
          </a:xfrm>
        </p:spPr>
        <p:txBody>
          <a:bodyPr tIns="45720" bIns="45720"/>
          <a:lstStyle/>
          <a:p>
            <a:pPr eaLnBrk="1" hangingPunct="1">
              <a:defRPr/>
            </a:pPr>
            <a:r>
              <a:rPr lang="en-AU" sz="4600">
                <a:solidFill>
                  <a:schemeClr val="bg2"/>
                </a:solidFill>
                <a:latin typeface="Arial" charset="0"/>
              </a:rPr>
              <a:t>Thank you</a:t>
            </a:r>
          </a:p>
        </p:txBody>
      </p:sp>
      <p:sp>
        <p:nvSpPr>
          <p:cNvPr id="25603" name="Text Box 9"/>
          <p:cNvSpPr txBox="1">
            <a:spLocks noChangeArrowheads="1"/>
          </p:cNvSpPr>
          <p:nvPr/>
        </p:nvSpPr>
        <p:spPr bwMode="auto">
          <a:xfrm>
            <a:off x="1162050" y="1500188"/>
            <a:ext cx="51308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914400" fontAlgn="base">
              <a:spcBef>
                <a:spcPct val="0"/>
              </a:spcBef>
              <a:spcAft>
                <a:spcPct val="0"/>
              </a:spcAft>
            </a:pPr>
            <a:r>
              <a:rPr lang="en-US" sz="1500" b="1" smtClean="0">
                <a:solidFill>
                  <a:srgbClr val="3294C6"/>
                </a:solidFill>
                <a:sym typeface="Monotype Sorts" charset="0"/>
              </a:rPr>
              <a:t>CSIRO ICT Centre</a:t>
            </a:r>
          </a:p>
          <a:p>
            <a:pPr defTabSz="914400" fontAlgn="base">
              <a:spcBef>
                <a:spcPct val="0"/>
              </a:spcBef>
              <a:spcAft>
                <a:spcPct val="0"/>
              </a:spcAft>
            </a:pPr>
            <a:r>
              <a:rPr lang="en-AU" sz="1500" smtClean="0">
                <a:solidFill>
                  <a:srgbClr val="000000"/>
                </a:solidFill>
                <a:sym typeface="Monotype Sorts" charset="0"/>
              </a:rPr>
              <a:t>Pete Taylor</a:t>
            </a:r>
          </a:p>
          <a:p>
            <a:pPr defTabSz="914400" fontAlgn="base">
              <a:spcBef>
                <a:spcPct val="0"/>
              </a:spcBef>
              <a:spcAft>
                <a:spcPct val="0"/>
              </a:spcAft>
            </a:pPr>
            <a:r>
              <a:rPr lang="en-AU" sz="1500" b="1" smtClean="0">
                <a:solidFill>
                  <a:srgbClr val="000000"/>
                </a:solidFill>
                <a:sym typeface="Monotype Sorts" charset="0"/>
              </a:rPr>
              <a:t>Email:</a:t>
            </a:r>
            <a:r>
              <a:rPr lang="en-AU" sz="1500" smtClean="0">
                <a:solidFill>
                  <a:srgbClr val="000000"/>
                </a:solidFill>
                <a:sym typeface="Monotype Sorts" charset="0"/>
              </a:rPr>
              <a:t> peter.taylor@csiro.au</a:t>
            </a:r>
          </a:p>
          <a:p>
            <a:pPr defTabSz="914400" fontAlgn="base">
              <a:spcBef>
                <a:spcPct val="0"/>
              </a:spcBef>
              <a:spcAft>
                <a:spcPct val="0"/>
              </a:spcAft>
            </a:pPr>
            <a:r>
              <a:rPr lang="en-AU" sz="1500" b="1" smtClean="0">
                <a:solidFill>
                  <a:srgbClr val="000000"/>
                </a:solidFill>
                <a:sym typeface="Monotype Sorts" charset="0"/>
              </a:rPr>
              <a:t>Web:</a:t>
            </a:r>
            <a:r>
              <a:rPr lang="en-AU" sz="1500" smtClean="0">
                <a:solidFill>
                  <a:srgbClr val="000000"/>
                </a:solidFill>
                <a:sym typeface="Monotype Sorts" charset="0"/>
              </a:rPr>
              <a:t> </a:t>
            </a:r>
            <a:r>
              <a:rPr lang="en-AU" sz="1400" smtClean="0">
                <a:solidFill>
                  <a:srgbClr val="000000"/>
                </a:solidFill>
                <a:sym typeface="Monotype Sorts" charset="0"/>
                <a:hlinkClick r:id="rId4"/>
              </a:rPr>
              <a:t>www.csiro.au/science/TasICTCentre.html</a:t>
            </a:r>
            <a:endParaRPr lang="en-AU" sz="1400" smtClean="0">
              <a:solidFill>
                <a:srgbClr val="000000"/>
              </a:solidFill>
              <a:sym typeface="Monotype Sorts" charset="0"/>
            </a:endParaRPr>
          </a:p>
          <a:p>
            <a:pPr defTabSz="914400" fontAlgn="base">
              <a:spcBef>
                <a:spcPct val="0"/>
              </a:spcBef>
              <a:spcAft>
                <a:spcPct val="0"/>
              </a:spcAft>
            </a:pPr>
            <a:endParaRPr lang="en-AU" sz="1400">
              <a:solidFill>
                <a:srgbClr val="000000"/>
              </a:solidFill>
              <a:sym typeface="Monotype Sorts" charset="0"/>
            </a:endParaRPr>
          </a:p>
          <a:p>
            <a:pPr defTabSz="914400" fontAlgn="base">
              <a:spcBef>
                <a:spcPct val="0"/>
              </a:spcBef>
              <a:spcAft>
                <a:spcPct val="0"/>
              </a:spcAft>
            </a:pPr>
            <a:r>
              <a:rPr lang="en-US" sz="1400" b="1">
                <a:solidFill>
                  <a:srgbClr val="3294C6"/>
                </a:solidFill>
                <a:sym typeface="Monotype Sorts" charset="0"/>
              </a:rPr>
              <a:t>University of Texas at Austin</a:t>
            </a:r>
          </a:p>
          <a:p>
            <a:pPr defTabSz="914400" fontAlgn="base">
              <a:spcBef>
                <a:spcPct val="0"/>
              </a:spcBef>
              <a:spcAft>
                <a:spcPct val="0"/>
              </a:spcAft>
            </a:pPr>
            <a:r>
              <a:rPr lang="en-AU" sz="1400">
                <a:solidFill>
                  <a:srgbClr val="000000"/>
                </a:solidFill>
                <a:sym typeface="Monotype Sorts" charset="0"/>
              </a:rPr>
              <a:t>David Arctur</a:t>
            </a:r>
          </a:p>
          <a:p>
            <a:pPr defTabSz="914400" fontAlgn="base">
              <a:spcBef>
                <a:spcPct val="0"/>
              </a:spcBef>
              <a:spcAft>
                <a:spcPct val="0"/>
              </a:spcAft>
            </a:pPr>
            <a:r>
              <a:rPr lang="en-AU" sz="1400" b="1">
                <a:solidFill>
                  <a:srgbClr val="000000"/>
                </a:solidFill>
                <a:sym typeface="Monotype Sorts" charset="0"/>
              </a:rPr>
              <a:t>Email:</a:t>
            </a:r>
            <a:r>
              <a:rPr lang="en-AU" sz="1400">
                <a:solidFill>
                  <a:srgbClr val="000000"/>
                </a:solidFill>
                <a:sym typeface="Monotype Sorts" charset="0"/>
              </a:rPr>
              <a:t> david.arctur@utexas.edu</a:t>
            </a:r>
          </a:p>
        </p:txBody>
      </p:sp>
      <p:pic>
        <p:nvPicPr>
          <p:cNvPr id="25605" name="Picture 9"/>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5322888" y="1270000"/>
            <a:ext cx="3603625" cy="237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4471672"/>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theme/theme1.xml><?xml version="1.0" encoding="utf-8"?>
<a:theme xmlns:a="http://schemas.openxmlformats.org/drawingml/2006/main" name="onecsiro_powerpoint_070705">
  <a:themeElements>
    <a:clrScheme name="onecsiro_powerpoint_070705 13">
      <a:dk1>
        <a:srgbClr val="000000"/>
      </a:dk1>
      <a:lt1>
        <a:srgbClr val="FFFFFF"/>
      </a:lt1>
      <a:dk2>
        <a:srgbClr val="FFFFFF"/>
      </a:dk2>
      <a:lt2>
        <a:srgbClr val="999999"/>
      </a:lt2>
      <a:accent1>
        <a:srgbClr val="0099CC"/>
      </a:accent1>
      <a:accent2>
        <a:srgbClr val="BED600"/>
      </a:accent2>
      <a:accent3>
        <a:srgbClr val="FFFFFF"/>
      </a:accent3>
      <a:accent4>
        <a:srgbClr val="000000"/>
      </a:accent4>
      <a:accent5>
        <a:srgbClr val="AACAE2"/>
      </a:accent5>
      <a:accent6>
        <a:srgbClr val="ACC200"/>
      </a:accent6>
      <a:hlink>
        <a:srgbClr val="CB5056"/>
      </a:hlink>
      <a:folHlink>
        <a:srgbClr val="EBAB00"/>
      </a:folHlink>
    </a:clrScheme>
    <a:fontScheme name="onecsiro_powerpoint_070705">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necsiro_powerpoint_07070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necsiro_powerpoint_07070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necsiro_powerpoint_07070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necsiro_powerpoint_07070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necsiro_powerpoint_07070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necsiro_powerpoint_07070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necsiro_powerpoint_07070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necsiro_powerpoint_07070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necsiro_powerpoint_07070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necsiro_powerpoint_07070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necsiro_powerpoint_07070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necsiro_powerpoint_07070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necsiro_powerpoint_070705 13">
        <a:dk1>
          <a:srgbClr val="000000"/>
        </a:dk1>
        <a:lt1>
          <a:srgbClr val="FFFFFF"/>
        </a:lt1>
        <a:dk2>
          <a:srgbClr val="FFFFFF"/>
        </a:dk2>
        <a:lt2>
          <a:srgbClr val="999999"/>
        </a:lt2>
        <a:accent1>
          <a:srgbClr val="0099CC"/>
        </a:accent1>
        <a:accent2>
          <a:srgbClr val="BED600"/>
        </a:accent2>
        <a:accent3>
          <a:srgbClr val="FFFFFF"/>
        </a:accent3>
        <a:accent4>
          <a:srgbClr val="000000"/>
        </a:accent4>
        <a:accent5>
          <a:srgbClr val="AACAE2"/>
        </a:accent5>
        <a:accent6>
          <a:srgbClr val="ACC200"/>
        </a:accent6>
        <a:hlink>
          <a:srgbClr val="CB5056"/>
        </a:hlink>
        <a:folHlink>
          <a:srgbClr val="EBAB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0080114_WfHC_PowerPoint">
  <a:themeElements>
    <a:clrScheme name="20080114_WfHC_PowerPoint 13">
      <a:dk1>
        <a:srgbClr val="000000"/>
      </a:dk1>
      <a:lt1>
        <a:srgbClr val="FFFFFF"/>
      </a:lt1>
      <a:dk2>
        <a:srgbClr val="FFFFFF"/>
      </a:dk2>
      <a:lt2>
        <a:srgbClr val="999999"/>
      </a:lt2>
      <a:accent1>
        <a:srgbClr val="0099CC"/>
      </a:accent1>
      <a:accent2>
        <a:srgbClr val="BED600"/>
      </a:accent2>
      <a:accent3>
        <a:srgbClr val="FFFFFF"/>
      </a:accent3>
      <a:accent4>
        <a:srgbClr val="000000"/>
      </a:accent4>
      <a:accent5>
        <a:srgbClr val="AACAE2"/>
      </a:accent5>
      <a:accent6>
        <a:srgbClr val="ACC200"/>
      </a:accent6>
      <a:hlink>
        <a:srgbClr val="CB5056"/>
      </a:hlink>
      <a:folHlink>
        <a:srgbClr val="EBAB00"/>
      </a:folHlink>
    </a:clrScheme>
    <a:fontScheme name="20080114_WfHC_PowerPoin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20080114_WfHC_PowerPoi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080114_WfHC_PowerPoin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080114_WfHC_PowerPoin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080114_WfHC_PowerPoin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080114_WfHC_PowerPoin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080114_WfHC_PowerPoin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080114_WfHC_PowerPoin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080114_WfHC_PowerPoin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080114_WfHC_PowerPoin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080114_WfHC_PowerPoin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080114_WfHC_PowerPoin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080114_WfHC_PowerPoin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0080114_WfHC_PowerPoint 13">
        <a:dk1>
          <a:srgbClr val="000000"/>
        </a:dk1>
        <a:lt1>
          <a:srgbClr val="FFFFFF"/>
        </a:lt1>
        <a:dk2>
          <a:srgbClr val="FFFFFF"/>
        </a:dk2>
        <a:lt2>
          <a:srgbClr val="999999"/>
        </a:lt2>
        <a:accent1>
          <a:srgbClr val="0099CC"/>
        </a:accent1>
        <a:accent2>
          <a:srgbClr val="BED600"/>
        </a:accent2>
        <a:accent3>
          <a:srgbClr val="FFFFFF"/>
        </a:accent3>
        <a:accent4>
          <a:srgbClr val="000000"/>
        </a:accent4>
        <a:accent5>
          <a:srgbClr val="AACAE2"/>
        </a:accent5>
        <a:accent6>
          <a:srgbClr val="ACC200"/>
        </a:accent6>
        <a:hlink>
          <a:srgbClr val="CB5056"/>
        </a:hlink>
        <a:folHlink>
          <a:srgbClr val="EBAB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ptional_Corporate_PPT_Template-Arial">
  <a:themeElements>
    <a:clrScheme name="Custom 1">
      <a:dk1>
        <a:sysClr val="windowText" lastClr="000000"/>
      </a:dk1>
      <a:lt1>
        <a:sysClr val="window" lastClr="FFFFFF"/>
      </a:lt1>
      <a:dk2>
        <a:srgbClr val="001446"/>
      </a:dk2>
      <a:lt2>
        <a:srgbClr val="FFFF96"/>
      </a:lt2>
      <a:accent1>
        <a:srgbClr val="A3CA4B"/>
      </a:accent1>
      <a:accent2>
        <a:srgbClr val="FAC15A"/>
      </a:accent2>
      <a:accent3>
        <a:srgbClr val="ED982D"/>
      </a:accent3>
      <a:accent4>
        <a:srgbClr val="5EB4E6"/>
      </a:accent4>
      <a:accent5>
        <a:srgbClr val="8DA3E8"/>
      </a:accent5>
      <a:accent6>
        <a:srgbClr val="B996D5"/>
      </a:accent6>
      <a:hlink>
        <a:srgbClr val="2F5AFF"/>
      </a:hlink>
      <a:folHlink>
        <a:srgbClr val="8C8C8C"/>
      </a:folHlink>
    </a:clrScheme>
    <a:fontScheme name="Esri-Arial">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none" lIns="91440" tIns="45720" rIns="91440" bIns="45720" numCol="1" rtlCol="0" anchor="ctr" anchorCtr="0" compatLnSpc="1">
        <a:prstTxWarp prst="textNoShape">
          <a:avLst/>
        </a:prstTxWarp>
      </a:bodyPr>
      <a:lstStyle>
        <a:defPPr algn="ctr" eaLnBrk="0" fontAlgn="base" hangingPunct="0">
          <a:spcBef>
            <a:spcPct val="0"/>
          </a:spcBef>
          <a:spcAft>
            <a:spcPct val="0"/>
          </a:spcAft>
          <a:defRPr sz="1400" b="1" dirty="0">
            <a:solidFill>
              <a:srgbClr val="000000"/>
            </a:solidFill>
            <a:latin typeface="Arial" charset="0"/>
            <a:ea typeface="ＭＳ Ｐゴシック" pitchFamily="16" charset="-128"/>
            <a:cs typeface="ＭＳ Ｐゴシック" pitchFamily="-97" charset="-128"/>
          </a:defRPr>
        </a:defPPr>
      </a:lstStyle>
      <a:style>
        <a:lnRef idx="1">
          <a:schemeClr val="accent1"/>
        </a:lnRef>
        <a:fillRef idx="3">
          <a:schemeClr val="accent1"/>
        </a:fillRef>
        <a:effectRef idx="2">
          <a:schemeClr val="accent1"/>
        </a:effectRef>
        <a:fontRef idx="minor">
          <a:schemeClr val="lt1"/>
        </a:fontRef>
      </a:style>
    </a:spDef>
    <a:lnDef>
      <a:spPr bwMode="auto">
        <a:noFill/>
        <a:ln w="19050" cap="flat" cmpd="sng" algn="ctr">
          <a:solidFill>
            <a:schemeClr val="tx2"/>
          </a:solidFill>
          <a:prstDash val="solid"/>
          <a:round/>
          <a:headEnd type="none" w="med" len="med"/>
          <a:tailEnd type="none" w="med" len="med"/>
        </a:ln>
        <a:effectLst/>
      </a:spPr>
      <a:bodyPr/>
      <a:lstStyle/>
    </a:lnDef>
    <a:txDef>
      <a:spPr>
        <a:noFill/>
        <a:effectLst/>
      </a:spPr>
      <a:bodyPr wrap="square" lIns="0" tIns="0" rIns="0" bIns="0" rtlCol="0">
        <a:noAutofit/>
      </a:bodyPr>
      <a:lstStyle>
        <a:defPPr algn="l" eaLnBrk="0" hangingPunct="0">
          <a:lnSpc>
            <a:spcPts val="1800"/>
          </a:lnSpc>
          <a:defRPr sz="1400" b="1" dirty="0" smtClean="0">
            <a:ea typeface="+mn-ea"/>
            <a:cs typeface="+mn-cs"/>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21223</TotalTime>
  <Words>2349</Words>
  <Application>Microsoft Macintosh PowerPoint</Application>
  <PresentationFormat>On-screen Show (4:3)</PresentationFormat>
  <Paragraphs>509</Paragraphs>
  <Slides>37</Slides>
  <Notes>16</Notes>
  <HiddenSlides>0</HiddenSlides>
  <MMClips>0</MMClips>
  <ScaleCrop>false</ScaleCrop>
  <HeadingPairs>
    <vt:vector size="4" baseType="variant">
      <vt:variant>
        <vt:lpstr>Theme</vt:lpstr>
      </vt:variant>
      <vt:variant>
        <vt:i4>3</vt:i4>
      </vt:variant>
      <vt:variant>
        <vt:lpstr>Slide Titles</vt:lpstr>
      </vt:variant>
      <vt:variant>
        <vt:i4>37</vt:i4>
      </vt:variant>
    </vt:vector>
  </HeadingPairs>
  <TitlesOfParts>
    <vt:vector size="40" baseType="lpstr">
      <vt:lpstr>onecsiro_powerpoint_070705</vt:lpstr>
      <vt:lpstr>20080114_WfHC_PowerPoint</vt:lpstr>
      <vt:lpstr>Optional_Corporate_PPT_Template-Arial</vt:lpstr>
      <vt:lpstr>WaterML 2.0 + TimeseriesML (draft) Overview &amp; discussion</vt:lpstr>
      <vt:lpstr>What I’ll cover</vt:lpstr>
      <vt:lpstr>The problem</vt:lpstr>
      <vt:lpstr>A brief history</vt:lpstr>
      <vt:lpstr>OGC/WMO Hydrology Domain Working Group</vt:lpstr>
      <vt:lpstr>Harmonization</vt:lpstr>
      <vt:lpstr>PowerPoint Presentation</vt:lpstr>
      <vt:lpstr>Requirements &amp; constraints</vt:lpstr>
      <vt:lpstr>Relevant standards</vt:lpstr>
      <vt:lpstr>OGC’s Sensor Web</vt:lpstr>
      <vt:lpstr>SWE version 1.0</vt:lpstr>
      <vt:lpstr>OGC (SWE) standards evolution</vt:lpstr>
      <vt:lpstr>Common views on data</vt:lpstr>
      <vt:lpstr>Observations &amp; Measurements</vt:lpstr>
      <vt:lpstr>Where do time series fit?</vt:lpstr>
      <vt:lpstr>WaterML 2.0 overview</vt:lpstr>
      <vt:lpstr>WaterML 2.0 overview</vt:lpstr>
      <vt:lpstr>Observation (O&amp;M)</vt:lpstr>
      <vt:lpstr>Observation types</vt:lpstr>
      <vt:lpstr>Coverage Observations</vt:lpstr>
      <vt:lpstr>XML structure</vt:lpstr>
      <vt:lpstr>Measurement timeseries</vt:lpstr>
      <vt:lpstr>Timeseries metadata</vt:lpstr>
      <vt:lpstr>CodeLists (proposed for TimeseriesML)</vt:lpstr>
      <vt:lpstr>Sampling features</vt:lpstr>
      <vt:lpstr>Using OGC O&amp;M model for water level …</vt:lpstr>
      <vt:lpstr>Treating rating curves as a measurement …</vt:lpstr>
      <vt:lpstr>The stream flow can then be determined from the rating curve</vt:lpstr>
      <vt:lpstr>WaterML Web Services      CUAHSI, USGS, OGC, WMO…</vt:lpstr>
      <vt:lpstr>PowerPoint Presentation</vt:lpstr>
      <vt:lpstr>Web Services</vt:lpstr>
      <vt:lpstr>Specificity</vt:lpstr>
      <vt:lpstr>Evolution</vt:lpstr>
      <vt:lpstr>Future work</vt:lpstr>
      <vt:lpstr>Timeseries Profile of OGC O&amp;M / TimeseriesML – Open Call for Public Comment</vt:lpstr>
      <vt:lpstr>Community </vt:lpstr>
      <vt:lpstr>Thank you</vt:lpstr>
    </vt:vector>
  </TitlesOfParts>
  <Company>CSIRO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Taylor</dc:creator>
  <cp:lastModifiedBy>David Arctur</cp:lastModifiedBy>
  <cp:revision>119</cp:revision>
  <dcterms:created xsi:type="dcterms:W3CDTF">2011-11-16T22:12:57Z</dcterms:created>
  <dcterms:modified xsi:type="dcterms:W3CDTF">2015-08-28T18:12:42Z</dcterms:modified>
</cp:coreProperties>
</file>