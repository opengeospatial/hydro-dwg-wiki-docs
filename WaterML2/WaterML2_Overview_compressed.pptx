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44"/>
  </p:notesMasterIdLst>
  <p:handoutMasterIdLst>
    <p:handoutMasterId r:id="rId45"/>
  </p:handoutMasterIdLst>
  <p:sldIdLst>
    <p:sldId id="311" r:id="rId4"/>
    <p:sldId id="323" r:id="rId5"/>
    <p:sldId id="331" r:id="rId6"/>
    <p:sldId id="324" r:id="rId7"/>
    <p:sldId id="325" r:id="rId8"/>
    <p:sldId id="360" r:id="rId9"/>
    <p:sldId id="326" r:id="rId10"/>
    <p:sldId id="327" r:id="rId11"/>
    <p:sldId id="328" r:id="rId12"/>
    <p:sldId id="329" r:id="rId13"/>
    <p:sldId id="330" r:id="rId14"/>
    <p:sldId id="337" r:id="rId15"/>
    <p:sldId id="332" r:id="rId16"/>
    <p:sldId id="334" r:id="rId17"/>
    <p:sldId id="341" r:id="rId18"/>
    <p:sldId id="342" r:id="rId19"/>
    <p:sldId id="340" r:id="rId20"/>
    <p:sldId id="362" r:id="rId21"/>
    <p:sldId id="338" r:id="rId22"/>
    <p:sldId id="363" r:id="rId23"/>
    <p:sldId id="365" r:id="rId24"/>
    <p:sldId id="366" r:id="rId25"/>
    <p:sldId id="356" r:id="rId26"/>
    <p:sldId id="357" r:id="rId27"/>
    <p:sldId id="364" r:id="rId28"/>
    <p:sldId id="339" r:id="rId29"/>
    <p:sldId id="355" r:id="rId30"/>
    <p:sldId id="344" r:id="rId31"/>
    <p:sldId id="359" r:id="rId32"/>
    <p:sldId id="358" r:id="rId33"/>
    <p:sldId id="322" r:id="rId34"/>
    <p:sldId id="367" r:id="rId35"/>
    <p:sldId id="347" r:id="rId36"/>
    <p:sldId id="348" r:id="rId37"/>
    <p:sldId id="349" r:id="rId38"/>
    <p:sldId id="350" r:id="rId39"/>
    <p:sldId id="351" r:id="rId40"/>
    <p:sldId id="352" r:id="rId41"/>
    <p:sldId id="353" r:id="rId42"/>
    <p:sldId id="354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33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-55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interSettings" Target="printerSettings/printerSettings1.bin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5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9" Type="http://schemas.openxmlformats.org/officeDocument/2006/relationships/slide" Target="slides/slide6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971ED-85D5-784C-80B8-EEB1EFFD49BE}" type="datetime1">
              <a:rPr lang="en-AU" smtClean="0"/>
              <a:t>1/02/12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0EAB6-43D0-5B4B-8E50-F7FB99A99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686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DAC9B-B768-744C-B89F-DD51DE1E52CB}" type="datetime1">
              <a:rPr lang="en-AU" smtClean="0"/>
              <a:t>1/02/12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60C10-35C6-3C46-92C4-E11404D6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628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03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3DD62F90-B076-7D44-A537-FBDAA2D45315}" type="slidenum">
              <a:rPr lang="en-AU" sz="1200" smtClean="0">
                <a:solidFill>
                  <a:prstClr val="black"/>
                </a:solidFill>
              </a:rPr>
              <a:pPr eaLnBrk="1" hangingPunct="1">
                <a:defRPr/>
              </a:pPr>
              <a:t>31</a:t>
            </a:fld>
            <a:endParaRPr lang="en-AU" sz="1200" smtClean="0">
              <a:solidFill>
                <a:prstClr val="black"/>
              </a:solidFill>
            </a:endParaRPr>
          </a:p>
        </p:txBody>
      </p:sp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7B962875-B9AF-7F47-8EF8-E831BAD98666}" type="slidenum">
              <a:rPr lang="en-AU" sz="1200" smtClean="0">
                <a:solidFill>
                  <a:prstClr val="black"/>
                </a:solidFill>
              </a:rPr>
              <a:pPr algn="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AU" sz="1200" smtClean="0">
              <a:solidFill>
                <a:prstClr val="black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4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89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3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21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5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16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2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8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54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3787775"/>
          </a:xfrm>
          <a:prstGeom prst="rect">
            <a:avLst/>
          </a:prstGeom>
        </p:spPr>
      </p:pic>
      <p:grpSp>
        <p:nvGrpSpPr>
          <p:cNvPr id="3138" name="Group 66"/>
          <p:cNvGrpSpPr>
            <a:grpSpLocks/>
          </p:cNvGrpSpPr>
          <p:nvPr/>
        </p:nvGrpSpPr>
        <p:grpSpPr bwMode="auto">
          <a:xfrm>
            <a:off x="-6350" y="-12700"/>
            <a:ext cx="9150350" cy="6883400"/>
            <a:chOff x="-4" y="-8"/>
            <a:chExt cx="5764" cy="4336"/>
          </a:xfrm>
        </p:grpSpPr>
        <p:grpSp>
          <p:nvGrpSpPr>
            <p:cNvPr id="3105" name="Group 33"/>
            <p:cNvGrpSpPr>
              <a:grpSpLocks/>
            </p:cNvGrpSpPr>
            <p:nvPr userDrawn="1"/>
          </p:nvGrpSpPr>
          <p:grpSpPr bwMode="auto">
            <a:xfrm>
              <a:off x="-4" y="0"/>
              <a:ext cx="855" cy="2387"/>
              <a:chOff x="0" y="0"/>
              <a:chExt cx="855" cy="2387"/>
            </a:xfrm>
          </p:grpSpPr>
          <p:sp>
            <p:nvSpPr>
              <p:cNvPr id="3106" name="AutoShape 34"/>
              <p:cNvSpPr>
                <a:spLocks noChangeArrowheads="1"/>
              </p:cNvSpPr>
              <p:nvPr userDrawn="1"/>
            </p:nvSpPr>
            <p:spPr bwMode="auto">
              <a:xfrm>
                <a:off x="16" y="0"/>
                <a:ext cx="839" cy="2387"/>
              </a:xfrm>
              <a:prstGeom prst="parallelogram">
                <a:avLst>
                  <a:gd name="adj" fmla="val 25028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7" name="Rectangle 35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385" cy="23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118" name="Line 46"/>
            <p:cNvSpPr>
              <a:spLocks noChangeShapeType="1"/>
            </p:cNvSpPr>
            <p:nvPr userDrawn="1"/>
          </p:nvSpPr>
          <p:spPr bwMode="auto">
            <a:xfrm>
              <a:off x="540" y="3409"/>
              <a:ext cx="522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pic>
          <p:nvPicPr>
            <p:cNvPr id="3124" name="Picture 52" descr="20070618_csiro7024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8" y="3674"/>
              <a:ext cx="420" cy="5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28" name="Picture 56" descr="title_slide_nolineslrg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672" r="139"/>
            <a:stretch>
              <a:fillRect/>
            </a:stretch>
          </p:blipFill>
          <p:spPr bwMode="auto">
            <a:xfrm>
              <a:off x="-3" y="2386"/>
              <a:ext cx="5763" cy="1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31" name="Line 59"/>
            <p:cNvSpPr>
              <a:spLocks noChangeShapeType="1"/>
            </p:cNvSpPr>
            <p:nvPr userDrawn="1"/>
          </p:nvSpPr>
          <p:spPr bwMode="auto">
            <a:xfrm>
              <a:off x="0" y="3237"/>
              <a:ext cx="56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109" name="Group 37"/>
            <p:cNvGrpSpPr>
              <a:grpSpLocks/>
            </p:cNvGrpSpPr>
            <p:nvPr userDrawn="1"/>
          </p:nvGrpSpPr>
          <p:grpSpPr bwMode="auto">
            <a:xfrm>
              <a:off x="409" y="-8"/>
              <a:ext cx="259" cy="4336"/>
              <a:chOff x="409" y="-1"/>
              <a:chExt cx="259" cy="4331"/>
            </a:xfrm>
          </p:grpSpPr>
          <p:sp>
            <p:nvSpPr>
              <p:cNvPr id="3110" name="Line 38"/>
              <p:cNvSpPr>
                <a:spLocks noChangeShapeType="1"/>
              </p:cNvSpPr>
              <p:nvPr userDrawn="1"/>
            </p:nvSpPr>
            <p:spPr bwMode="auto">
              <a:xfrm rot="286749" flipH="1">
                <a:off x="651" y="-1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11" name="Line 39"/>
              <p:cNvSpPr>
                <a:spLocks noChangeShapeType="1"/>
              </p:cNvSpPr>
              <p:nvPr userDrawn="1"/>
            </p:nvSpPr>
            <p:spPr bwMode="auto">
              <a:xfrm rot="286749" flipH="1">
                <a:off x="569" y="-1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12" name="Line 40"/>
              <p:cNvSpPr>
                <a:spLocks noChangeShapeType="1"/>
              </p:cNvSpPr>
              <p:nvPr userDrawn="1"/>
            </p:nvSpPr>
            <p:spPr bwMode="auto">
              <a:xfrm rot="286749" flipH="1">
                <a:off x="609" y="0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13" name="Line 41"/>
              <p:cNvSpPr>
                <a:spLocks noChangeShapeType="1"/>
              </p:cNvSpPr>
              <p:nvPr userDrawn="1"/>
            </p:nvSpPr>
            <p:spPr bwMode="auto">
              <a:xfrm rot="286749" flipH="1">
                <a:off x="529" y="0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14" name="Line 42"/>
              <p:cNvSpPr>
                <a:spLocks noChangeShapeType="1"/>
              </p:cNvSpPr>
              <p:nvPr userDrawn="1"/>
            </p:nvSpPr>
            <p:spPr bwMode="auto">
              <a:xfrm rot="286749" flipH="1">
                <a:off x="447" y="0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15" name="Line 43"/>
              <p:cNvSpPr>
                <a:spLocks noChangeShapeType="1"/>
              </p:cNvSpPr>
              <p:nvPr userDrawn="1"/>
            </p:nvSpPr>
            <p:spPr bwMode="auto">
              <a:xfrm rot="286749" flipH="1">
                <a:off x="487" y="-1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16" name="Line 44"/>
              <p:cNvSpPr>
                <a:spLocks noChangeShapeType="1"/>
              </p:cNvSpPr>
              <p:nvPr userDrawn="1"/>
            </p:nvSpPr>
            <p:spPr bwMode="auto">
              <a:xfrm rot="286749" flipH="1">
                <a:off x="409" y="-1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4076700"/>
            <a:ext cx="7343775" cy="1008063"/>
          </a:xfrm>
        </p:spPr>
        <p:txBody>
          <a:bodyPr tIns="0"/>
          <a:lstStyle>
            <a:lvl1pPr>
              <a:defRPr sz="29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5661025"/>
            <a:ext cx="3952875" cy="1008063"/>
          </a:xfrm>
        </p:spPr>
        <p:txBody>
          <a:bodyPr anchor="b"/>
          <a:lstStyle>
            <a:lvl1pPr marL="0" indent="0">
              <a:buFontTx/>
              <a:buNone/>
              <a:defRPr sz="1600" b="1">
                <a:solidFill>
                  <a:srgbClr val="0099CC"/>
                </a:solidFill>
              </a:defRPr>
            </a:lvl1pPr>
          </a:lstStyle>
          <a:p>
            <a:pPr lvl="0"/>
            <a:r>
              <a:rPr lang="en-AU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41101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>
                <a:solidFill>
                  <a:srgbClr val="0099CC"/>
                </a:solidFill>
              </a:rPr>
              <a:t>CSIRO.</a:t>
            </a:r>
            <a:r>
              <a:rPr lang="en-AU" b="0" dirty="0">
                <a:solidFill>
                  <a:srgbClr val="000000"/>
                </a:solidFill>
              </a:rPr>
              <a:t>  </a:t>
            </a:r>
            <a:r>
              <a:rPr lang="en-AU" b="0" dirty="0" smtClean="0">
                <a:solidFill>
                  <a:srgbClr val="000000"/>
                </a:solidFill>
              </a:rPr>
              <a:t>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700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>
                <a:solidFill>
                  <a:srgbClr val="0099CC"/>
                </a:solidFill>
              </a:rPr>
              <a:t>CSIRO.</a:t>
            </a:r>
            <a:r>
              <a:rPr lang="en-AU" b="0" dirty="0">
                <a:solidFill>
                  <a:srgbClr val="000000"/>
                </a:solidFill>
              </a:rPr>
              <a:t>  </a:t>
            </a:r>
            <a:r>
              <a:rPr lang="en-AU" b="0" dirty="0" smtClean="0">
                <a:solidFill>
                  <a:srgbClr val="000000"/>
                </a:solidFill>
              </a:rPr>
              <a:t>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361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3" y="1385888"/>
            <a:ext cx="3595687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1400" y="1385888"/>
            <a:ext cx="3595688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061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>
                <a:solidFill>
                  <a:srgbClr val="0099CC"/>
                </a:solidFill>
              </a:rPr>
              <a:t>CSIRO.</a:t>
            </a:r>
            <a:r>
              <a:rPr lang="en-AU" b="0">
                <a:solidFill>
                  <a:srgbClr val="000000"/>
                </a:solidFill>
              </a:rPr>
              <a:t>  Insert presentation title, do not remove CSIRO from start of footer</a:t>
            </a:r>
          </a:p>
        </p:txBody>
      </p:sp>
    </p:spTree>
    <p:extLst>
      <p:ext uri="{BB962C8B-B14F-4D97-AF65-F5344CB8AC3E}">
        <p14:creationId xmlns:p14="http://schemas.microsoft.com/office/powerpoint/2010/main" val="504213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>
                <a:solidFill>
                  <a:srgbClr val="0099CC"/>
                </a:solidFill>
              </a:rPr>
              <a:t>CSIRO.</a:t>
            </a:r>
            <a:r>
              <a:rPr lang="en-AU" b="0" dirty="0">
                <a:solidFill>
                  <a:srgbClr val="000000"/>
                </a:solidFill>
              </a:rPr>
              <a:t> </a:t>
            </a:r>
            <a:r>
              <a:rPr lang="en-AU" b="0" dirty="0" smtClean="0">
                <a:solidFill>
                  <a:srgbClr val="000000"/>
                </a:solidFill>
              </a:rPr>
              <a:t>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501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>
                <a:solidFill>
                  <a:srgbClr val="0099CC"/>
                </a:solidFill>
              </a:rPr>
              <a:t>CSIRO.</a:t>
            </a:r>
            <a:r>
              <a:rPr lang="en-AU" b="0" dirty="0">
                <a:solidFill>
                  <a:srgbClr val="000000"/>
                </a:solidFill>
              </a:rPr>
              <a:t> </a:t>
            </a:r>
            <a:r>
              <a:rPr lang="en-AU" b="0" dirty="0" smtClean="0">
                <a:solidFill>
                  <a:srgbClr val="000000"/>
                </a:solidFill>
              </a:rPr>
              <a:t>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5080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 smtClean="0">
                <a:solidFill>
                  <a:srgbClr val="0099CC"/>
                </a:solidFill>
              </a:rPr>
              <a:t>CSIRO. </a:t>
            </a:r>
            <a:r>
              <a:rPr lang="en-AU" b="0" dirty="0" smtClean="0">
                <a:solidFill>
                  <a:srgbClr val="000000"/>
                </a:solidFill>
              </a:rPr>
              <a:t>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259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>
                <a:solidFill>
                  <a:srgbClr val="0099CC"/>
                </a:solidFill>
              </a:rPr>
              <a:t>CSIRO.</a:t>
            </a:r>
            <a:r>
              <a:rPr lang="en-AU" b="0" dirty="0">
                <a:solidFill>
                  <a:srgbClr val="000000"/>
                </a:solidFill>
              </a:rPr>
              <a:t> </a:t>
            </a:r>
            <a:r>
              <a:rPr lang="en-AU" b="0" dirty="0" smtClean="0">
                <a:solidFill>
                  <a:srgbClr val="000000"/>
                </a:solidFill>
              </a:rPr>
              <a:t>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8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>
                <a:solidFill>
                  <a:srgbClr val="0099CC"/>
                </a:solidFill>
              </a:rPr>
              <a:t>CSIRO.</a:t>
            </a:r>
            <a:r>
              <a:rPr lang="en-AU" b="0" dirty="0">
                <a:solidFill>
                  <a:srgbClr val="000000"/>
                </a:solidFill>
              </a:rPr>
              <a:t> </a:t>
            </a:r>
            <a:r>
              <a:rPr lang="en-AU" b="0" dirty="0" smtClean="0">
                <a:solidFill>
                  <a:srgbClr val="000000"/>
                </a:solidFill>
              </a:rPr>
              <a:t>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106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938" y="80963"/>
            <a:ext cx="1835150" cy="622776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3313" y="80963"/>
            <a:ext cx="5356225" cy="622776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>
                <a:solidFill>
                  <a:srgbClr val="0099CC"/>
                </a:solidFill>
              </a:rPr>
              <a:t>CSIRO.</a:t>
            </a:r>
            <a:r>
              <a:rPr lang="en-AU" b="0">
                <a:solidFill>
                  <a:srgbClr val="000000"/>
                </a:solidFill>
              </a:rPr>
              <a:t>  Insert presentation title, do not remove CSIRO from start of footer</a:t>
            </a:r>
          </a:p>
        </p:txBody>
      </p:sp>
    </p:spTree>
    <p:extLst>
      <p:ext uri="{BB962C8B-B14F-4D97-AF65-F5344CB8AC3E}">
        <p14:creationId xmlns:p14="http://schemas.microsoft.com/office/powerpoint/2010/main" val="27551918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700" y="-500063"/>
            <a:ext cx="8623300" cy="5699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474" y="2397"/>
              <a:ext cx="5286" cy="861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" name="Rectangle 27"/>
            <p:cNvSpPr>
              <a:spLocks noChangeArrowheads="1"/>
            </p:cNvSpPr>
            <p:nvPr/>
          </p:nvSpPr>
          <p:spPr bwMode="auto">
            <a:xfrm>
              <a:off x="472" y="3258"/>
              <a:ext cx="5288" cy="1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8" name="Picture 23" descr="flagships_ppt_titl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87" t="2022" b="943"/>
            <a:stretch>
              <a:fillRect/>
            </a:stretch>
          </p:blipFill>
          <p:spPr bwMode="auto">
            <a:xfrm>
              <a:off x="0" y="0"/>
              <a:ext cx="88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43" descr="20070910_WfHC-logo_RGB_larg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5" y="3525"/>
              <a:ext cx="1972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0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1303338" y="4113213"/>
            <a:ext cx="7348537" cy="960437"/>
          </a:xfrm>
        </p:spPr>
        <p:txBody>
          <a:bodyPr tIns="45720" bIns="45720"/>
          <a:lstStyle>
            <a:lvl1pPr>
              <a:defRPr sz="29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06513" y="5594350"/>
            <a:ext cx="3924300" cy="1019175"/>
          </a:xfrm>
        </p:spPr>
        <p:txBody>
          <a:bodyPr tIns="45720" bIns="45720" anchor="b"/>
          <a:lstStyle>
            <a:lvl1pPr marL="0" indent="0">
              <a:buFontTx/>
              <a:buNone/>
              <a:defRPr sz="1600" b="1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1698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68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95754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2200" y="1384300"/>
            <a:ext cx="3605213" cy="4867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9813" y="1384300"/>
            <a:ext cx="3606800" cy="4867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522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489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33"/>
          <p:cNvSpPr>
            <a:spLocks noGrp="1" noChangeArrowheads="1"/>
          </p:cNvSpPr>
          <p:nvPr>
            <p:ph type="ftr" sz="quarter" idx="10"/>
          </p:nvPr>
        </p:nvSpPr>
        <p:spPr>
          <a:xfrm>
            <a:off x="1104900" y="6588125"/>
            <a:ext cx="4368800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Insert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1312524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Grp="1" noChangeArrowheads="1"/>
          </p:cNvSpPr>
          <p:nvPr>
            <p:ph type="ftr" sz="quarter" idx="10"/>
          </p:nvPr>
        </p:nvSpPr>
        <p:spPr>
          <a:xfrm>
            <a:off x="1104900" y="6588125"/>
            <a:ext cx="4368800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Insert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651172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33"/>
          <p:cNvSpPr>
            <a:spLocks noGrp="1" noChangeArrowheads="1"/>
          </p:cNvSpPr>
          <p:nvPr>
            <p:ph type="ftr" sz="quarter" idx="10"/>
          </p:nvPr>
        </p:nvSpPr>
        <p:spPr>
          <a:xfrm>
            <a:off x="1104900" y="6588125"/>
            <a:ext cx="4368800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Insert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844960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50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92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3850" y="82550"/>
            <a:ext cx="1858963" cy="61690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82550"/>
            <a:ext cx="5429250" cy="61690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0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5.wmf"/><Relationship Id="rId14" Type="http://schemas.openxmlformats.org/officeDocument/2006/relationships/image" Target="../media/image6.pn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E9B32-92A6-034B-8569-7CB03CCAD0B8}" type="datetimeFigureOut">
              <a:rPr lang="en-US" smtClean="0"/>
              <a:t>1/02/12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3860A-8C51-FF42-AD04-AC14AE6FC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4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3" name="Group 39"/>
          <p:cNvGrpSpPr>
            <a:grpSpLocks/>
          </p:cNvGrpSpPr>
          <p:nvPr/>
        </p:nvGrpSpPr>
        <p:grpSpPr bwMode="auto">
          <a:xfrm>
            <a:off x="0" y="-19050"/>
            <a:ext cx="9144000" cy="6889750"/>
            <a:chOff x="0" y="-12"/>
            <a:chExt cx="5760" cy="4340"/>
          </a:xfrm>
        </p:grpSpPr>
        <p:pic>
          <p:nvPicPr>
            <p:cNvPr id="1053" name="Picture 29" descr="text_slide_nolines_070618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1275" r="476"/>
            <a:stretch>
              <a:fillRect/>
            </a:stretch>
          </p:blipFill>
          <p:spPr bwMode="auto">
            <a:xfrm>
              <a:off x="0" y="0"/>
              <a:ext cx="5760" cy="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45" name="Group 21"/>
            <p:cNvGrpSpPr>
              <a:grpSpLocks/>
            </p:cNvGrpSpPr>
            <p:nvPr/>
          </p:nvGrpSpPr>
          <p:grpSpPr bwMode="auto">
            <a:xfrm>
              <a:off x="84" y="-12"/>
              <a:ext cx="259" cy="4340"/>
              <a:chOff x="409" y="-1"/>
              <a:chExt cx="259" cy="4331"/>
            </a:xfrm>
          </p:grpSpPr>
          <p:sp>
            <p:nvSpPr>
              <p:cNvPr id="1046" name="Line 22"/>
              <p:cNvSpPr>
                <a:spLocks noChangeShapeType="1"/>
              </p:cNvSpPr>
              <p:nvPr/>
            </p:nvSpPr>
            <p:spPr bwMode="auto">
              <a:xfrm rot="286749" flipH="1">
                <a:off x="651" y="-1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7" name="Line 23"/>
              <p:cNvSpPr>
                <a:spLocks noChangeShapeType="1"/>
              </p:cNvSpPr>
              <p:nvPr/>
            </p:nvSpPr>
            <p:spPr bwMode="auto">
              <a:xfrm rot="286749" flipH="1">
                <a:off x="569" y="-1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8" name="Line 24"/>
              <p:cNvSpPr>
                <a:spLocks noChangeShapeType="1"/>
              </p:cNvSpPr>
              <p:nvPr/>
            </p:nvSpPr>
            <p:spPr bwMode="auto">
              <a:xfrm rot="286749" flipH="1">
                <a:off x="609" y="0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9" name="Line 25"/>
              <p:cNvSpPr>
                <a:spLocks noChangeShapeType="1"/>
              </p:cNvSpPr>
              <p:nvPr/>
            </p:nvSpPr>
            <p:spPr bwMode="auto">
              <a:xfrm rot="286749" flipH="1">
                <a:off x="529" y="0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0" name="Line 26"/>
              <p:cNvSpPr>
                <a:spLocks noChangeShapeType="1"/>
              </p:cNvSpPr>
              <p:nvPr/>
            </p:nvSpPr>
            <p:spPr bwMode="auto">
              <a:xfrm rot="286749" flipH="1">
                <a:off x="447" y="0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1" name="Line 27"/>
              <p:cNvSpPr>
                <a:spLocks noChangeShapeType="1"/>
              </p:cNvSpPr>
              <p:nvPr/>
            </p:nvSpPr>
            <p:spPr bwMode="auto">
              <a:xfrm rot="286749" flipH="1">
                <a:off x="487" y="-1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2" name="Line 28"/>
              <p:cNvSpPr>
                <a:spLocks noChangeShapeType="1"/>
              </p:cNvSpPr>
              <p:nvPr/>
            </p:nvSpPr>
            <p:spPr bwMode="auto">
              <a:xfrm rot="286749" flipH="1">
                <a:off x="409" y="-1"/>
                <a:ext cx="17" cy="4330"/>
              </a:xfrm>
              <a:prstGeom prst="line">
                <a:avLst/>
              </a:prstGeom>
              <a:noFill/>
              <a:ln w="63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060" name="Picture 36" descr="20070618_csiro7024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1" y="3989"/>
              <a:ext cx="204" cy="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03313" y="80963"/>
            <a:ext cx="7343775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03313" y="1385888"/>
            <a:ext cx="7343775" cy="492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3313" y="6588125"/>
            <a:ext cx="73437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>
              <a:defRPr sz="800" b="1">
                <a:solidFill>
                  <a:schemeClr val="accent1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AU" dirty="0" smtClean="0">
                <a:solidFill>
                  <a:srgbClr val="0099CC"/>
                </a:solidFill>
                <a:latin typeface="Arial" charset="0"/>
                <a:ea typeface="ＭＳ Ｐゴシック" charset="0"/>
              </a:rPr>
              <a:t>CSIRO.</a:t>
            </a:r>
            <a:r>
              <a:rPr lang="en-AU" b="0" dirty="0" smtClean="0">
                <a:solidFill>
                  <a:srgbClr val="000000"/>
                </a:solidFill>
                <a:latin typeface="Arial" charset="0"/>
                <a:ea typeface="ＭＳ Ｐゴシック" charset="0"/>
              </a:rPr>
              <a:t>  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27089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180975" indent="-180975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538163" indent="-177800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2pPr>
      <a:lvl3pPr marL="893763" indent="-176213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257300" indent="-180975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4pPr>
      <a:lvl5pPr marL="1617663" indent="-180975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074863" indent="-180975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6pPr>
      <a:lvl7pPr marL="2532063" indent="-180975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7pPr>
      <a:lvl8pPr marL="2989263" indent="-180975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8pPr>
      <a:lvl9pPr marL="3446463" indent="-180975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29" name="Group 19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037" name="Rectangle 13"/>
              <p:cNvSpPr>
                <a:spLocks noChangeArrowheads="1"/>
              </p:cNvSpPr>
              <p:nvPr userDrawn="1"/>
            </p:nvSpPr>
            <p:spPr bwMode="auto">
              <a:xfrm>
                <a:off x="376" y="650"/>
                <a:ext cx="5384" cy="6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38" name="Rectangle 14"/>
              <p:cNvSpPr>
                <a:spLocks noChangeArrowheads="1"/>
              </p:cNvSpPr>
              <p:nvPr userDrawn="1"/>
            </p:nvSpPr>
            <p:spPr bwMode="auto">
              <a:xfrm>
                <a:off x="384" y="0"/>
                <a:ext cx="5376" cy="650"/>
              </a:xfrm>
              <a:prstGeom prst="rect">
                <a:avLst/>
              </a:prstGeom>
              <a:solidFill>
                <a:srgbClr val="E2E3E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pic>
            <p:nvPicPr>
              <p:cNvPr id="1033" name="Picture 18" descr="flagships_ppt_slide"/>
              <p:cNvPicPr>
                <a:picLocks noChangeAspect="1" noChangeArrowheads="1"/>
              </p:cNvPicPr>
              <p:nvPr userDrawn="1"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787" t="2048" b="1781"/>
              <a:stretch>
                <a:fillRect/>
              </a:stretch>
            </p:blipFill>
            <p:spPr bwMode="auto">
              <a:xfrm>
                <a:off x="0" y="0"/>
                <a:ext cx="673" cy="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030" name="Picture 35" descr="20070910_WfHC-logo_RGB_small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1" y="3948"/>
              <a:ext cx="987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103313" y="82550"/>
            <a:ext cx="7429500" cy="93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46800" rIns="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92200" y="1384300"/>
            <a:ext cx="7364413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46800" rIns="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670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ＭＳ Ｐゴシック" charset="0"/>
        </a:defRPr>
      </a:lvl1pPr>
      <a:lvl2pPr marL="542925" indent="-1809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+mn-lt"/>
          <a:ea typeface="+mn-ea"/>
        </a:defRPr>
      </a:lvl2pPr>
      <a:lvl3pPr marL="904875" indent="-182563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262063" indent="-1778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4pPr>
      <a:lvl5pPr marL="1624013" indent="-182563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0812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6pPr>
      <a:lvl7pPr marL="25384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7pPr>
      <a:lvl8pPr marL="29956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8pPr>
      <a:lvl9pPr marL="34528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emf"/><Relationship Id="rId3" Type="http://schemas.openxmlformats.org/officeDocument/2006/relationships/image" Target="../media/image22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external.opengis.org/twiki_public/bin/view/HydrologyDWG/GroundwaterInteroperabilityExperiment" TargetMode="External"/><Relationship Id="rId4" Type="http://schemas.openxmlformats.org/officeDocument/2006/relationships/hyperlink" Target="http://external.opengis.org/twiki_public/bin/view/HydrologyDWG/SurfacewaterInteroperabilityExperiment" TargetMode="External"/><Relationship Id="rId5" Type="http://schemas.openxmlformats.org/officeDocument/2006/relationships/hyperlink" Target="http://external.opengis.org/twiki_public/bin/view/HydrologyDWG/HydrologicForecastingInteroperabilityExperiment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2" Type="http://schemas.openxmlformats.org/officeDocument/2006/relationships/hyperlink" Target="http://www.ogcnetwork.net/node/1748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 smtClean="0"/>
              <a:t>WaterML</a:t>
            </a:r>
            <a:r>
              <a:rPr lang="en-AU" dirty="0" smtClean="0"/>
              <a:t> 2.0</a:t>
            </a:r>
            <a:br>
              <a:rPr lang="en-AU" dirty="0" smtClean="0"/>
            </a:br>
            <a:r>
              <a:rPr lang="en-AU" sz="2400" dirty="0" smtClean="0"/>
              <a:t>Overview &amp; discussion</a:t>
            </a:r>
            <a:endParaRPr lang="en-AU" sz="24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Peter Taylor</a:t>
            </a:r>
          </a:p>
          <a:p>
            <a:r>
              <a:rPr lang="en-AU" dirty="0" smtClean="0"/>
              <a:t>Research Engineer, CSIRO</a:t>
            </a:r>
          </a:p>
          <a:p>
            <a:r>
              <a:rPr lang="en-AU" dirty="0" smtClean="0"/>
              <a:t>1</a:t>
            </a:r>
            <a:r>
              <a:rPr lang="en-AU" baseline="30000" dirty="0" smtClean="0"/>
              <a:t>st</a:t>
            </a:r>
            <a:r>
              <a:rPr lang="en-AU" dirty="0" smtClean="0"/>
              <a:t> February, 2012, HIS teleconference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181660" y="20557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8676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I’ll cover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History</a:t>
            </a:r>
          </a:p>
          <a:p>
            <a:endParaRPr lang="en-US" sz="2400" dirty="0"/>
          </a:p>
          <a:p>
            <a:r>
              <a:rPr lang="en-US" sz="2400" dirty="0" smtClean="0"/>
              <a:t>Requirements and constraints</a:t>
            </a:r>
          </a:p>
          <a:p>
            <a:endParaRPr lang="en-US" sz="2400" dirty="0"/>
          </a:p>
          <a:p>
            <a:r>
              <a:rPr lang="en-US" sz="2400" dirty="0" smtClean="0"/>
              <a:t>Overview of the information model</a:t>
            </a:r>
          </a:p>
          <a:p>
            <a:endParaRPr lang="en-US" sz="2400" dirty="0" smtClean="0"/>
          </a:p>
          <a:p>
            <a:r>
              <a:rPr lang="en-US" sz="2400" dirty="0" smtClean="0"/>
              <a:t>Usage</a:t>
            </a:r>
          </a:p>
          <a:p>
            <a:endParaRPr lang="en-US" sz="2400" dirty="0"/>
          </a:p>
          <a:p>
            <a:r>
              <a:rPr lang="en-US" sz="2400" dirty="0" smtClean="0"/>
              <a:t>Future work &amp; discussion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689426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 flipV="1">
            <a:off x="1125538" y="2359025"/>
            <a:ext cx="15875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 flipH="1" flipV="1">
            <a:off x="1290638" y="2351088"/>
            <a:ext cx="179387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4"/>
          <p:cNvSpPr>
            <a:spLocks noChangeShapeType="1"/>
          </p:cNvSpPr>
          <p:nvPr/>
        </p:nvSpPr>
        <p:spPr bwMode="auto">
          <a:xfrm>
            <a:off x="1285875" y="2052638"/>
            <a:ext cx="0" cy="298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5"/>
          <p:cNvSpPr>
            <a:spLocks noChangeShapeType="1"/>
          </p:cNvSpPr>
          <p:nvPr/>
        </p:nvSpPr>
        <p:spPr bwMode="auto">
          <a:xfrm flipH="1">
            <a:off x="1081088" y="2038350"/>
            <a:ext cx="185737" cy="265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 flipH="1" flipV="1">
            <a:off x="1293813" y="2025650"/>
            <a:ext cx="204787" cy="225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7"/>
          <p:cNvSpPr>
            <a:spLocks noChangeArrowheads="1"/>
          </p:cNvSpPr>
          <p:nvPr/>
        </p:nvSpPr>
        <p:spPr bwMode="auto">
          <a:xfrm>
            <a:off x="1141413" y="1739900"/>
            <a:ext cx="290512" cy="2921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1441450" y="1341438"/>
            <a:ext cx="177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AU"/>
              <a:t>Need flow data!</a:t>
            </a: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V="1">
            <a:off x="1616075" y="1693863"/>
            <a:ext cx="342900" cy="509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32"/>
          <p:cNvSpPr>
            <a:spLocks noChangeShapeType="1"/>
          </p:cNvSpPr>
          <p:nvPr/>
        </p:nvSpPr>
        <p:spPr bwMode="auto">
          <a:xfrm flipV="1">
            <a:off x="7354888" y="2530475"/>
            <a:ext cx="15875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33"/>
          <p:cNvSpPr>
            <a:spLocks noChangeShapeType="1"/>
          </p:cNvSpPr>
          <p:nvPr/>
        </p:nvSpPr>
        <p:spPr bwMode="auto">
          <a:xfrm flipH="1" flipV="1">
            <a:off x="7519988" y="2522538"/>
            <a:ext cx="179387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34"/>
          <p:cNvSpPr>
            <a:spLocks noChangeShapeType="1"/>
          </p:cNvSpPr>
          <p:nvPr/>
        </p:nvSpPr>
        <p:spPr bwMode="auto">
          <a:xfrm>
            <a:off x="7515225" y="2224088"/>
            <a:ext cx="0" cy="298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5"/>
          <p:cNvSpPr>
            <a:spLocks noChangeShapeType="1"/>
          </p:cNvSpPr>
          <p:nvPr/>
        </p:nvSpPr>
        <p:spPr bwMode="auto">
          <a:xfrm flipH="1">
            <a:off x="7310438" y="2209800"/>
            <a:ext cx="185737" cy="265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6"/>
          <p:cNvSpPr>
            <a:spLocks noChangeShapeType="1"/>
          </p:cNvSpPr>
          <p:nvPr/>
        </p:nvSpPr>
        <p:spPr bwMode="auto">
          <a:xfrm flipH="1" flipV="1">
            <a:off x="7523163" y="2197100"/>
            <a:ext cx="204787" cy="225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37"/>
          <p:cNvSpPr>
            <a:spLocks noChangeArrowheads="1"/>
          </p:cNvSpPr>
          <p:nvPr/>
        </p:nvSpPr>
        <p:spPr bwMode="auto">
          <a:xfrm>
            <a:off x="7370763" y="1911350"/>
            <a:ext cx="290512" cy="2921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39"/>
          <p:cNvSpPr txBox="1">
            <a:spLocks noChangeArrowheads="1"/>
          </p:cNvSpPr>
          <p:nvPr/>
        </p:nvSpPr>
        <p:spPr bwMode="auto">
          <a:xfrm>
            <a:off x="1917700" y="1557338"/>
            <a:ext cx="27506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AU" dirty="0" smtClean="0"/>
              <a:t>I’ll ring Don, he Has Data</a:t>
            </a:r>
            <a:endParaRPr lang="en-AU" dirty="0"/>
          </a:p>
        </p:txBody>
      </p:sp>
      <p:sp>
        <p:nvSpPr>
          <p:cNvPr id="20" name="Text Box 40"/>
          <p:cNvSpPr txBox="1">
            <a:spLocks noChangeArrowheads="1"/>
          </p:cNvSpPr>
          <p:nvPr/>
        </p:nvSpPr>
        <p:spPr bwMode="auto">
          <a:xfrm>
            <a:off x="6218238" y="3352800"/>
            <a:ext cx="2647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1" name="Text Box 41"/>
          <p:cNvSpPr txBox="1">
            <a:spLocks noChangeArrowheads="1"/>
          </p:cNvSpPr>
          <p:nvPr/>
        </p:nvSpPr>
        <p:spPr bwMode="auto">
          <a:xfrm>
            <a:off x="1965325" y="1995488"/>
            <a:ext cx="2503488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*RING RING*</a:t>
            </a:r>
          </a:p>
          <a:p>
            <a:pPr eaLnBrk="1" hangingPunct="1">
              <a:spcBef>
                <a:spcPct val="50000"/>
              </a:spcBef>
            </a:pPr>
            <a:r>
              <a:rPr lang="en-AU"/>
              <a:t>Hi Don, I need some upper Derwent flow readings for my geochemical model. Any ideas?</a:t>
            </a:r>
          </a:p>
        </p:txBody>
      </p:sp>
      <p:sp>
        <p:nvSpPr>
          <p:cNvPr id="22" name="Text Box 42"/>
          <p:cNvSpPr txBox="1">
            <a:spLocks noChangeArrowheads="1"/>
          </p:cNvSpPr>
          <p:nvPr/>
        </p:nvSpPr>
        <p:spPr bwMode="auto">
          <a:xfrm>
            <a:off x="6296025" y="1309688"/>
            <a:ext cx="2503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Don</a:t>
            </a:r>
          </a:p>
        </p:txBody>
      </p:sp>
      <p:sp>
        <p:nvSpPr>
          <p:cNvPr id="23" name="Line 43"/>
          <p:cNvSpPr>
            <a:spLocks noChangeShapeType="1"/>
          </p:cNvSpPr>
          <p:nvPr/>
        </p:nvSpPr>
        <p:spPr bwMode="auto">
          <a:xfrm>
            <a:off x="6565900" y="1651000"/>
            <a:ext cx="3937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4683125" y="2122488"/>
            <a:ext cx="2668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Hmm, I</a:t>
            </a:r>
            <a:r>
              <a:rPr lang="ja-JP" altLang="en-AU"/>
              <a:t>’</a:t>
            </a:r>
            <a:r>
              <a:rPr lang="en-AU"/>
              <a:t>ve got one site. I</a:t>
            </a:r>
            <a:r>
              <a:rPr lang="ja-JP" altLang="en-AU"/>
              <a:t>’</a:t>
            </a:r>
            <a:r>
              <a:rPr lang="en-AU"/>
              <a:t>ll send it through…</a:t>
            </a:r>
          </a:p>
        </p:txBody>
      </p:sp>
      <p:sp>
        <p:nvSpPr>
          <p:cNvPr id="25" name="Text Box 45"/>
          <p:cNvSpPr txBox="1">
            <a:spLocks noChangeArrowheads="1"/>
          </p:cNvSpPr>
          <p:nvPr/>
        </p:nvSpPr>
        <p:spPr bwMode="auto">
          <a:xfrm>
            <a:off x="4391025" y="2871788"/>
            <a:ext cx="2503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chemeClr val="hlink"/>
                </a:solidFill>
              </a:rPr>
              <a:t>10 minutes…</a:t>
            </a:r>
          </a:p>
        </p:txBody>
      </p:sp>
      <p:sp>
        <p:nvSpPr>
          <p:cNvPr id="26" name="AutoShape 46"/>
          <p:cNvSpPr>
            <a:spLocks noChangeArrowheads="1"/>
          </p:cNvSpPr>
          <p:nvPr/>
        </p:nvSpPr>
        <p:spPr bwMode="auto">
          <a:xfrm>
            <a:off x="4813300" y="1930400"/>
            <a:ext cx="1930400" cy="1206500"/>
          </a:xfrm>
          <a:prstGeom prst="foldedCorner">
            <a:avLst>
              <a:gd name="adj" fmla="val 12500"/>
            </a:avLst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AU" sz="1600"/>
          </a:p>
          <a:p>
            <a:pPr algn="ctr"/>
            <a:r>
              <a:rPr lang="en-AU" sz="1600" b="1"/>
              <a:t>To: Jack</a:t>
            </a:r>
          </a:p>
          <a:p>
            <a:pPr algn="ctr"/>
            <a:r>
              <a:rPr lang="en-AU" sz="1600"/>
              <a:t>01/02/09, 3.2, 3, 1</a:t>
            </a:r>
          </a:p>
          <a:p>
            <a:pPr algn="ctr"/>
            <a:r>
              <a:rPr lang="en-AU" sz="1600"/>
              <a:t>01/02/09, 3.1, 3, 1</a:t>
            </a:r>
          </a:p>
          <a:p>
            <a:pPr algn="ctr"/>
            <a:endParaRPr lang="en-AU" sz="1600"/>
          </a:p>
          <a:p>
            <a:pPr algn="ctr"/>
            <a:endParaRPr lang="en-AU" sz="1600"/>
          </a:p>
        </p:txBody>
      </p:sp>
      <p:sp>
        <p:nvSpPr>
          <p:cNvPr id="27" name="AutoShape 48"/>
          <p:cNvSpPr>
            <a:spLocks noChangeArrowheads="1"/>
          </p:cNvSpPr>
          <p:nvPr/>
        </p:nvSpPr>
        <p:spPr bwMode="auto">
          <a:xfrm>
            <a:off x="3530600" y="2362200"/>
            <a:ext cx="1104900" cy="228600"/>
          </a:xfrm>
          <a:prstGeom prst="leftArrow">
            <a:avLst>
              <a:gd name="adj1" fmla="val 50000"/>
              <a:gd name="adj2" fmla="val 12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50"/>
          <p:cNvSpPr txBox="1">
            <a:spLocks noChangeArrowheads="1"/>
          </p:cNvSpPr>
          <p:nvPr/>
        </p:nvSpPr>
        <p:spPr bwMode="auto">
          <a:xfrm>
            <a:off x="669925" y="2757488"/>
            <a:ext cx="2503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400">
                <a:solidFill>
                  <a:schemeClr val="hlink"/>
                </a:solidFill>
              </a:rPr>
              <a:t>10 minutes…</a:t>
            </a:r>
          </a:p>
        </p:txBody>
      </p:sp>
      <p:sp>
        <p:nvSpPr>
          <p:cNvPr id="29" name="Text Box 51"/>
          <p:cNvSpPr txBox="1">
            <a:spLocks noChangeArrowheads="1"/>
          </p:cNvSpPr>
          <p:nvPr/>
        </p:nvSpPr>
        <p:spPr bwMode="auto">
          <a:xfrm>
            <a:off x="682625" y="2706688"/>
            <a:ext cx="2414588" cy="132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*RING RING*</a:t>
            </a:r>
          </a:p>
          <a:p>
            <a:pPr eaLnBrk="1" hangingPunct="1">
              <a:spcBef>
                <a:spcPct val="50000"/>
              </a:spcBef>
            </a:pPr>
            <a:r>
              <a:rPr lang="en-AU"/>
              <a:t>Ok. Got the data. Where is the site located?</a:t>
            </a:r>
          </a:p>
        </p:txBody>
      </p:sp>
      <p:sp>
        <p:nvSpPr>
          <p:cNvPr id="30" name="Text Box 52"/>
          <p:cNvSpPr txBox="1">
            <a:spLocks noChangeArrowheads="1"/>
          </p:cNvSpPr>
          <p:nvPr/>
        </p:nvSpPr>
        <p:spPr bwMode="auto">
          <a:xfrm>
            <a:off x="5203825" y="3262313"/>
            <a:ext cx="330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AU" dirty="0"/>
              <a:t>Oh, </a:t>
            </a:r>
            <a:r>
              <a:rPr lang="en-AU" dirty="0" smtClean="0"/>
              <a:t>it’s </a:t>
            </a:r>
            <a:r>
              <a:rPr lang="en-AU" dirty="0"/>
              <a:t>at laughing jack bridge.</a:t>
            </a:r>
          </a:p>
        </p:txBody>
      </p:sp>
      <p:sp>
        <p:nvSpPr>
          <p:cNvPr id="31" name="Text Box 53"/>
          <p:cNvSpPr txBox="1">
            <a:spLocks noChangeArrowheads="1"/>
          </p:cNvSpPr>
          <p:nvPr/>
        </p:nvSpPr>
        <p:spPr bwMode="auto">
          <a:xfrm>
            <a:off x="657225" y="4014788"/>
            <a:ext cx="2414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Coordinates?</a:t>
            </a: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>
            <a:off x="5026025" y="3808413"/>
            <a:ext cx="2635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AU"/>
              <a:t>Ummm. (papers shuffle)</a:t>
            </a:r>
          </a:p>
          <a:p>
            <a:pPr eaLnBrk="1" hangingPunct="1"/>
            <a:r>
              <a:rPr lang="en-AU"/>
              <a:t>147.123 -41.588</a:t>
            </a:r>
          </a:p>
        </p:txBody>
      </p:sp>
      <p:sp>
        <p:nvSpPr>
          <p:cNvPr id="33" name="Text Box 55"/>
          <p:cNvSpPr txBox="1">
            <a:spLocks noChangeArrowheads="1"/>
          </p:cNvSpPr>
          <p:nvPr/>
        </p:nvSpPr>
        <p:spPr bwMode="auto">
          <a:xfrm>
            <a:off x="708025" y="4375150"/>
            <a:ext cx="2414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What reference system??</a:t>
            </a:r>
          </a:p>
        </p:txBody>
      </p:sp>
      <p:sp>
        <p:nvSpPr>
          <p:cNvPr id="34" name="Text Box 56"/>
          <p:cNvSpPr txBox="1">
            <a:spLocks noChangeArrowheads="1"/>
          </p:cNvSpPr>
          <p:nvPr/>
        </p:nvSpPr>
        <p:spPr bwMode="auto">
          <a:xfrm>
            <a:off x="4746625" y="4451350"/>
            <a:ext cx="2414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I think it</a:t>
            </a:r>
            <a:r>
              <a:rPr lang="ja-JP" altLang="en-AU"/>
              <a:t>’</a:t>
            </a:r>
            <a:r>
              <a:rPr lang="en-AU"/>
              <a:t>s GDA94</a:t>
            </a:r>
          </a:p>
        </p:txBody>
      </p:sp>
      <p:sp>
        <p:nvSpPr>
          <p:cNvPr id="35" name="Text Box 57"/>
          <p:cNvSpPr txBox="1">
            <a:spLocks noChangeArrowheads="1"/>
          </p:cNvSpPr>
          <p:nvPr/>
        </p:nvSpPr>
        <p:spPr bwMode="auto">
          <a:xfrm>
            <a:off x="479425" y="4959350"/>
            <a:ext cx="2414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Ok. What sensor is used?</a:t>
            </a:r>
          </a:p>
        </p:txBody>
      </p:sp>
      <p:sp>
        <p:nvSpPr>
          <p:cNvPr id="36" name="Text Box 58"/>
          <p:cNvSpPr txBox="1">
            <a:spLocks noChangeArrowheads="1"/>
          </p:cNvSpPr>
          <p:nvPr/>
        </p:nvSpPr>
        <p:spPr bwMode="auto">
          <a:xfrm>
            <a:off x="4505325" y="4845050"/>
            <a:ext cx="34051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It</a:t>
            </a:r>
            <a:r>
              <a:rPr lang="ja-JP" altLang="en-AU"/>
              <a:t>’</a:t>
            </a:r>
            <a:r>
              <a:rPr lang="en-AU"/>
              <a:t>s calculated from the stream gauge reading using a rating curve..</a:t>
            </a:r>
          </a:p>
        </p:txBody>
      </p:sp>
      <p:sp>
        <p:nvSpPr>
          <p:cNvPr id="37" name="Text Box 59"/>
          <p:cNvSpPr txBox="1">
            <a:spLocks noChangeArrowheads="1"/>
          </p:cNvSpPr>
          <p:nvPr/>
        </p:nvSpPr>
        <p:spPr bwMode="auto">
          <a:xfrm>
            <a:off x="568325" y="5492750"/>
            <a:ext cx="2414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Oh…how accurate is that?</a:t>
            </a:r>
          </a:p>
        </p:txBody>
      </p:sp>
      <p:sp>
        <p:nvSpPr>
          <p:cNvPr id="38" name="Text Box 60"/>
          <p:cNvSpPr txBox="1">
            <a:spLocks noChangeArrowheads="1"/>
          </p:cNvSpPr>
          <p:nvPr/>
        </p:nvSpPr>
        <p:spPr bwMode="auto">
          <a:xfrm>
            <a:off x="3984625" y="5688013"/>
            <a:ext cx="3405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Umm......</a:t>
            </a:r>
          </a:p>
        </p:txBody>
      </p:sp>
      <p:sp>
        <p:nvSpPr>
          <p:cNvPr id="39" name="Text Box 62"/>
          <p:cNvSpPr txBox="1">
            <a:spLocks noChangeArrowheads="1"/>
          </p:cNvSpPr>
          <p:nvPr/>
        </p:nvSpPr>
        <p:spPr bwMode="auto">
          <a:xfrm>
            <a:off x="593725" y="6076950"/>
            <a:ext cx="2414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DON?</a:t>
            </a:r>
          </a:p>
        </p:txBody>
      </p:sp>
      <p:sp>
        <p:nvSpPr>
          <p:cNvPr id="40" name="Text Box 63"/>
          <p:cNvSpPr txBox="1">
            <a:spLocks noChangeArrowheads="1"/>
          </p:cNvSpPr>
          <p:nvPr/>
        </p:nvSpPr>
        <p:spPr bwMode="auto">
          <a:xfrm>
            <a:off x="669925" y="1144588"/>
            <a:ext cx="2503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Hydro Jack</a:t>
            </a:r>
          </a:p>
        </p:txBody>
      </p:sp>
      <p:sp>
        <p:nvSpPr>
          <p:cNvPr id="41" name="Line 64"/>
          <p:cNvSpPr>
            <a:spLocks noChangeShapeType="1"/>
          </p:cNvSpPr>
          <p:nvPr/>
        </p:nvSpPr>
        <p:spPr bwMode="auto">
          <a:xfrm>
            <a:off x="850900" y="1498600"/>
            <a:ext cx="2413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Text Box 68"/>
          <p:cNvSpPr txBox="1">
            <a:spLocks noChangeArrowheads="1"/>
          </p:cNvSpPr>
          <p:nvPr/>
        </p:nvSpPr>
        <p:spPr bwMode="auto">
          <a:xfrm>
            <a:off x="3851275" y="6092825"/>
            <a:ext cx="3405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/>
              <a:t>*CLICK*</a:t>
            </a:r>
          </a:p>
        </p:txBody>
      </p:sp>
    </p:spTree>
    <p:extLst>
      <p:ext uri="{BB962C8B-B14F-4D97-AF65-F5344CB8AC3E}">
        <p14:creationId xmlns:p14="http://schemas.microsoft.com/office/powerpoint/2010/main" val="24311322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98 0.0505 0.13997 0.10123 0.13476 0.14871 C 0.12955 0.1962 -0.03248 0.24693 -0.03161 0.28446 C -0.03074 0.32198 0.13581 0.34075 0.14032 0.37433 C 0.14484 0.40792 -0.01928 0.45217 -0.00417 0.48645 C 0.01094 0.52073 0.1919 0.56451 0.23115 0.58003 " pathEditMode="relative" ptsTypes="aaaaaA">
                                      <p:cBhvr>
                                        <p:cTn id="2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98 0.0505 0.13997 0.10123 0.13476 0.14871 C 0.12955 0.1962 -0.03248 0.24693 -0.03161 0.28446 C -0.03074 0.32198 0.13581 0.34075 0.14032 0.37433 C 0.14484 0.40792 -0.01928 0.45217 -0.00417 0.48645 C 0.01094 0.52073 0.1919 0.56451 0.23115 0.58003 " pathEditMode="relative" ptsTypes="aaaaaA">
                                      <p:cBhvr>
                                        <p:cTn id="2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98 0.0505 0.13997 0.10123 0.13476 0.14871 C 0.12955 0.1962 -0.03248 0.24693 -0.03161 0.28446 C -0.03074 0.32198 0.13581 0.34075 0.14032 0.37433 C 0.14484 0.40792 -0.01928 0.45217 -0.00417 0.48645 C 0.01094 0.52073 0.1919 0.56451 0.23115 0.58003 " pathEditMode="relative" ptsTypes="aaaaaA">
                                      <p:cBhvr>
                                        <p:cTn id="2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98 0.0505 0.13997 0.10123 0.13476 0.14871 C 0.12955 0.1962 -0.03248 0.24693 -0.03161 0.28446 C -0.03074 0.32198 0.13581 0.34075 0.14032 0.37433 C 0.14484 0.40792 -0.01928 0.45217 -0.00417 0.48645 C 0.01094 0.52073 0.1919 0.56451 0.23115 0.58003 " pathEditMode="relative" ptsTypes="aaaaaA">
                                      <p:cBhvr>
                                        <p:cTn id="22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98 0.0505 0.13997 0.10123 0.13476 0.14871 C 0.12955 0.1962 -0.03248 0.24693 -0.03161 0.28446 C -0.03074 0.32198 0.13581 0.34075 0.14032 0.37433 C 0.14484 0.40792 -0.01928 0.45217 -0.00417 0.48645 C 0.01094 0.52073 0.1919 0.56451 0.23115 0.58003 " pathEditMode="relative" ptsTypes="aaaaaA">
                                      <p:cBhvr>
                                        <p:cTn id="2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98 0.0505 0.13997 0.10123 0.13476 0.14871 C 0.12955 0.1962 -0.03248 0.24693 -0.03161 0.28446 C -0.03074 0.32198 0.13581 0.34075 0.14032 0.37433 C 0.14484 0.40792 -0.01928 0.45217 -0.00417 0.48645 C 0.01094 0.52073 0.1919 0.56451 0.23115 0.58003 " pathEditMode="relative" ptsTypes="aaaaaA">
                                      <p:cBhvr>
                                        <p:cTn id="2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1" grpId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/>
      <p:bldP spid="19" grpId="1"/>
      <p:bldP spid="21" grpId="0"/>
      <p:bldP spid="21" grpId="1"/>
      <p:bldP spid="22" grpId="0"/>
      <p:bldP spid="22" grpId="1"/>
      <p:bldP spid="23" grpId="0" animBg="1"/>
      <p:bldP spid="23" grpId="1" animBg="1"/>
      <p:bldP spid="24" grpId="0"/>
      <p:bldP spid="24" grpId="1"/>
      <p:bldP spid="25" grpId="0"/>
      <p:bldP spid="25" grpId="1"/>
      <p:bldP spid="26" grpId="0" animBg="1"/>
      <p:bldP spid="27" grpId="0" animBg="1"/>
      <p:bldP spid="28" grpId="0"/>
      <p:bldP spid="28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0" grpId="1"/>
      <p:bldP spid="41" grpId="0" animBg="1"/>
      <p:bldP spid="41" grpId="1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brief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smtClean="0"/>
              <a:t>2007</a:t>
            </a:r>
            <a:r>
              <a:rPr lang="en-US" sz="1800" dirty="0" smtClean="0"/>
              <a:t> – </a:t>
            </a:r>
            <a:r>
              <a:rPr lang="en-US" sz="1800" dirty="0" err="1" smtClean="0"/>
              <a:t>WaterML</a:t>
            </a:r>
            <a:r>
              <a:rPr lang="en-US" sz="1800" dirty="0" smtClean="0"/>
              <a:t> 1.0 discussion paper to Open Geospatial Consortium</a:t>
            </a:r>
          </a:p>
          <a:p>
            <a:endParaRPr lang="en-US" sz="1800" dirty="0"/>
          </a:p>
          <a:p>
            <a:r>
              <a:rPr lang="en-US" sz="1800" b="1" dirty="0" smtClean="0"/>
              <a:t>2008-2009 </a:t>
            </a:r>
            <a:r>
              <a:rPr lang="en-US" sz="1800" dirty="0" smtClean="0"/>
              <a:t>– Discussions between CUAHSI and CSIRO: harmonized water observations standard</a:t>
            </a:r>
          </a:p>
          <a:p>
            <a:endParaRPr lang="en-US" sz="1800" dirty="0"/>
          </a:p>
          <a:p>
            <a:r>
              <a:rPr lang="en-US" sz="1800" b="1" dirty="0" smtClean="0"/>
              <a:t>2009 </a:t>
            </a:r>
            <a:r>
              <a:rPr lang="en-US" sz="1800" dirty="0" smtClean="0"/>
              <a:t>– Formation of joint WMO-OGC Hydrology Domain Working Group</a:t>
            </a:r>
            <a:endParaRPr lang="en-US" sz="1800" b="1" dirty="0" smtClean="0"/>
          </a:p>
          <a:p>
            <a:endParaRPr lang="en-US" sz="1800" dirty="0"/>
          </a:p>
          <a:p>
            <a:r>
              <a:rPr lang="en-US" sz="1800" b="1" dirty="0" smtClean="0"/>
              <a:t>2010 </a:t>
            </a:r>
            <a:r>
              <a:rPr lang="en-US" sz="1800" dirty="0" smtClean="0"/>
              <a:t>– OGC Discussion paper: “Harmonizing Standards for Water Observations Data”</a:t>
            </a:r>
          </a:p>
          <a:p>
            <a:endParaRPr lang="en-US" sz="1800" dirty="0"/>
          </a:p>
          <a:p>
            <a:r>
              <a:rPr lang="en-US" sz="1800" b="1" dirty="0" smtClean="0"/>
              <a:t>2011</a:t>
            </a:r>
            <a:r>
              <a:rPr lang="en-US" sz="1800" dirty="0" smtClean="0"/>
              <a:t> – Formation of OGC Standards Working Group (SWG) for WaterML2.0 development</a:t>
            </a:r>
          </a:p>
          <a:p>
            <a:endParaRPr lang="en-US" sz="1800" dirty="0"/>
          </a:p>
          <a:p>
            <a:r>
              <a:rPr lang="en-US" sz="1800" b="1" dirty="0" smtClean="0"/>
              <a:t>2012</a:t>
            </a:r>
            <a:r>
              <a:rPr lang="en-US" sz="1800" dirty="0" smtClean="0"/>
              <a:t> – OGC call for public comment on WaterML2.0 candidate standard</a:t>
            </a:r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12673504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84" y="1328775"/>
            <a:ext cx="4037764" cy="52593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Harmonization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3435" y="1231458"/>
            <a:ext cx="1270089" cy="21165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/>
          <p:cNvGrpSpPr/>
          <p:nvPr/>
        </p:nvGrpSpPr>
        <p:grpSpPr>
          <a:xfrm>
            <a:off x="1026339" y="1190830"/>
            <a:ext cx="6042541" cy="2849891"/>
            <a:chOff x="1026339" y="1190830"/>
            <a:chExt cx="6042541" cy="2849891"/>
          </a:xfrm>
        </p:grpSpPr>
        <p:sp>
          <p:nvSpPr>
            <p:cNvPr id="8" name="Rounded Rectangle 7"/>
            <p:cNvSpPr/>
            <p:nvPr/>
          </p:nvSpPr>
          <p:spPr>
            <a:xfrm>
              <a:off x="1026339" y="1257114"/>
              <a:ext cx="2540175" cy="2783607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3566514" y="1898497"/>
              <a:ext cx="1244430" cy="76966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810944" y="1190830"/>
              <a:ext cx="225793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Scope</a:t>
              </a:r>
            </a:p>
            <a:p>
              <a:endParaRPr lang="en-US" dirty="0"/>
            </a:p>
            <a:p>
              <a:r>
                <a:rPr lang="en-US" dirty="0" smtClean="0"/>
                <a:t>Requirements</a:t>
              </a:r>
            </a:p>
            <a:p>
              <a:endParaRPr lang="en-US" dirty="0"/>
            </a:p>
            <a:p>
              <a:r>
                <a:rPr lang="en-US" dirty="0" smtClean="0"/>
                <a:t>Design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85360" y="3831800"/>
            <a:ext cx="4812488" cy="2287005"/>
            <a:chOff x="3385360" y="3831800"/>
            <a:chExt cx="4812488" cy="2287005"/>
          </a:xfrm>
        </p:grpSpPr>
        <p:sp>
          <p:nvSpPr>
            <p:cNvPr id="12" name="TextBox 11"/>
            <p:cNvSpPr txBox="1"/>
            <p:nvPr/>
          </p:nvSpPr>
          <p:spPr>
            <a:xfrm>
              <a:off x="5939912" y="3831800"/>
              <a:ext cx="225793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Constraints</a:t>
              </a:r>
            </a:p>
            <a:p>
              <a:endParaRPr lang="en-US" dirty="0"/>
            </a:p>
            <a:p>
              <a:r>
                <a:rPr lang="en-US" i="1" dirty="0" smtClean="0"/>
                <a:t>A new environment</a:t>
              </a:r>
            </a:p>
            <a:p>
              <a:endParaRPr lang="en-US" dirty="0"/>
            </a:p>
            <a:p>
              <a:r>
                <a:rPr lang="en-US" dirty="0" smtClean="0"/>
                <a:t>Best practices</a:t>
              </a:r>
            </a:p>
          </p:txBody>
        </p:sp>
        <p:cxnSp>
          <p:nvCxnSpPr>
            <p:cNvPr id="14" name="Straight Arrow Connector 13"/>
            <p:cNvCxnSpPr>
              <a:stCxn id="19" idx="3"/>
            </p:cNvCxnSpPr>
            <p:nvPr/>
          </p:nvCxnSpPr>
          <p:spPr>
            <a:xfrm flipV="1">
              <a:off x="4977724" y="4605139"/>
              <a:ext cx="833896" cy="5708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3385360" y="4233135"/>
              <a:ext cx="1592364" cy="1885670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369629" y="2558089"/>
            <a:ext cx="5211742" cy="3060435"/>
            <a:chOff x="1369629" y="2558089"/>
            <a:chExt cx="5211742" cy="3060435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3297098" y="3348025"/>
              <a:ext cx="1026337" cy="85151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323435" y="2558089"/>
              <a:ext cx="225793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r>
                <a:rPr lang="en-US" dirty="0" smtClean="0"/>
                <a:t>Do Stuff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369629" y="4122568"/>
              <a:ext cx="2002902" cy="1495956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6549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280" y="2156619"/>
            <a:ext cx="7772400" cy="1500187"/>
          </a:xfrm>
        </p:spPr>
        <p:txBody>
          <a:bodyPr/>
          <a:lstStyle/>
          <a:p>
            <a:r>
              <a:rPr lang="en-US" sz="2400" dirty="0" smtClean="0"/>
              <a:t>Requirements &amp; </a:t>
            </a:r>
          </a:p>
          <a:p>
            <a:r>
              <a:rPr lang="en-US" sz="2400" dirty="0" smtClean="0"/>
              <a:t>Constraints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566" y="2814106"/>
            <a:ext cx="5435816" cy="340118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54331" y="645732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/>
              <a:t>http://</a:t>
            </a:r>
            <a:r>
              <a:rPr lang="en-US" sz="1050" dirty="0" err="1"/>
              <a:t>spin.atomicobject.com</a:t>
            </a:r>
            <a:r>
              <a:rPr lang="en-US" sz="1050" dirty="0"/>
              <a:t>/2012/01/26/understand-design-or-fail/</a:t>
            </a:r>
          </a:p>
        </p:txBody>
      </p:sp>
    </p:spTree>
    <p:extLst>
      <p:ext uri="{BB962C8B-B14F-4D97-AF65-F5344CB8AC3E}">
        <p14:creationId xmlns:p14="http://schemas.microsoft.com/office/powerpoint/2010/main" val="23889690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&amp;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 scope:</a:t>
            </a:r>
          </a:p>
          <a:p>
            <a:pPr lvl="1"/>
            <a:r>
              <a:rPr lang="en-US" dirty="0" smtClean="0"/>
              <a:t>Exchange of point-based time series data</a:t>
            </a:r>
          </a:p>
          <a:p>
            <a:pPr lvl="1"/>
            <a:r>
              <a:rPr lang="en-US" dirty="0" smtClean="0"/>
              <a:t>Includes processed data such as forecasts, aggregations etc.</a:t>
            </a:r>
          </a:p>
          <a:p>
            <a:pPr lvl="1"/>
            <a:r>
              <a:rPr lang="en-US" dirty="0" smtClean="0"/>
              <a:t>Include relevant information on monitoring points, procedures and context</a:t>
            </a:r>
          </a:p>
          <a:p>
            <a:endParaRPr lang="en-US" dirty="0"/>
          </a:p>
          <a:p>
            <a:r>
              <a:rPr lang="en-US" dirty="0" smtClean="0"/>
              <a:t>Working in an OGC – ISO – WMO context</a:t>
            </a:r>
          </a:p>
          <a:p>
            <a:pPr lvl="1"/>
            <a:r>
              <a:rPr lang="en-US" dirty="0" smtClean="0"/>
              <a:t>Need to re-use existing work where possible</a:t>
            </a:r>
          </a:p>
          <a:p>
            <a:pPr lvl="1"/>
            <a:r>
              <a:rPr lang="en-US" dirty="0" smtClean="0"/>
              <a:t>Be consistent</a:t>
            </a:r>
          </a:p>
          <a:p>
            <a:pPr lvl="1"/>
            <a:r>
              <a:rPr lang="en-US" dirty="0" smtClean="0"/>
              <a:t>Assist in developing existing standards if they are not sufficient</a:t>
            </a:r>
          </a:p>
          <a:p>
            <a:pPr lvl="1"/>
            <a:endParaRPr lang="en-US" dirty="0"/>
          </a:p>
          <a:p>
            <a:r>
              <a:rPr lang="en-US" dirty="0" smtClean="0"/>
              <a:t>Corollary</a:t>
            </a:r>
          </a:p>
          <a:p>
            <a:pPr lvl="1"/>
            <a:r>
              <a:rPr lang="en-US" dirty="0" smtClean="0"/>
              <a:t>You need to know what the standards do and how they work</a:t>
            </a:r>
          </a:p>
          <a:p>
            <a:endParaRPr lang="en-US" dirty="0" smtClean="0"/>
          </a:p>
          <a:p>
            <a:pPr marL="360363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22433852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Relevant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Sensor Web</a:t>
            </a:r>
          </a:p>
          <a:p>
            <a:endParaRPr lang="en-US" sz="2400" dirty="0" smtClean="0"/>
          </a:p>
          <a:p>
            <a:r>
              <a:rPr lang="en-US" sz="2400" dirty="0" smtClean="0"/>
              <a:t>Web </a:t>
            </a:r>
            <a:r>
              <a:rPr lang="en-US" sz="2400" dirty="0"/>
              <a:t>of interconnected sensors</a:t>
            </a:r>
          </a:p>
          <a:p>
            <a:pPr lvl="1"/>
            <a:r>
              <a:rPr lang="en-US" sz="2000" dirty="0"/>
              <a:t>From micro to macro</a:t>
            </a:r>
          </a:p>
          <a:p>
            <a:pPr lvl="1"/>
            <a:r>
              <a:rPr lang="en-US" sz="2000" dirty="0"/>
              <a:t>Enhance ‘situation awareness’</a:t>
            </a:r>
          </a:p>
          <a:p>
            <a:pPr lvl="1"/>
            <a:endParaRPr lang="en-US" sz="2000" dirty="0"/>
          </a:p>
          <a:p>
            <a:r>
              <a:rPr lang="en-US" sz="2400" dirty="0"/>
              <a:t>Initial concepts emerged from NASA</a:t>
            </a:r>
            <a:r>
              <a:rPr lang="en-US" sz="2400" baseline="30000" dirty="0"/>
              <a:t>1 </a:t>
            </a:r>
            <a:r>
              <a:rPr lang="en-US" sz="2400" dirty="0"/>
              <a:t>(</a:t>
            </a:r>
            <a:r>
              <a:rPr lang="en-US" sz="2400" dirty="0" err="1"/>
              <a:t>Delin</a:t>
            </a:r>
            <a:r>
              <a:rPr lang="en-US" sz="2400" dirty="0"/>
              <a:t> et at.)</a:t>
            </a:r>
          </a:p>
          <a:p>
            <a:pPr lvl="1"/>
            <a:r>
              <a:rPr lang="en-US" sz="2000" i="1" dirty="0" err="1"/>
              <a:t>Intra</a:t>
            </a:r>
            <a:r>
              <a:rPr lang="en-US" sz="2000" dirty="0" err="1"/>
              <a:t>connected</a:t>
            </a:r>
            <a:r>
              <a:rPr lang="en-US" sz="2000" dirty="0"/>
              <a:t> sensor pods</a:t>
            </a:r>
            <a:endParaRPr lang="en-US" sz="2000" i="1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500342" y="6113334"/>
            <a:ext cx="64017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tint val="75000"/>
                  </a:sys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http://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>
                    <a:tint val="75000"/>
                  </a:sys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www.sensorwaresystems.com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tint val="75000"/>
                  </a:sys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/historical/resources/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>
                    <a:tint val="75000"/>
                  </a:sys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sensorweb-concept.pdf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tint val="75000"/>
                </a:sys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692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OGC’s Sensor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service-based approach to providing an interoperability layer on the Web for accessing, controlling and discovering sensors</a:t>
            </a:r>
          </a:p>
          <a:p>
            <a:endParaRPr lang="en-US" sz="2400" dirty="0"/>
          </a:p>
          <a:p>
            <a:r>
              <a:rPr lang="en-US" sz="2400" dirty="0"/>
              <a:t>Sensor Web </a:t>
            </a:r>
            <a:r>
              <a:rPr lang="en-US" sz="2400" i="1" dirty="0"/>
              <a:t>Enablement </a:t>
            </a:r>
            <a:r>
              <a:rPr lang="en-US" sz="2400" dirty="0"/>
              <a:t>(SWE)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6293564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SWE version 1.0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Insert presentation title, do not remove CSIRO from start of footer</a:t>
            </a:r>
            <a:endParaRPr lang="en-AU" b="0">
              <a:solidFill>
                <a:srgbClr val="000000"/>
              </a:solidFill>
            </a:endParaRPr>
          </a:p>
        </p:txBody>
      </p:sp>
      <p:sp>
        <p:nvSpPr>
          <p:cNvPr id="5" name="AutoShape 26"/>
          <p:cNvSpPr>
            <a:spLocks noChangeArrowheads="1"/>
          </p:cNvSpPr>
          <p:nvPr/>
        </p:nvSpPr>
        <p:spPr bwMode="auto">
          <a:xfrm>
            <a:off x="1877802" y="4619625"/>
            <a:ext cx="7010400" cy="1143000"/>
          </a:xfrm>
          <a:prstGeom prst="cube">
            <a:avLst>
              <a:gd name="adj" fmla="val 24940"/>
            </a:avLst>
          </a:prstGeom>
          <a:solidFill>
            <a:srgbClr val="F7B471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 dirty="0" err="1">
                <a:solidFill>
                  <a:srgbClr val="800000"/>
                </a:solidFill>
              </a:rPr>
              <a:t>SweCommon</a:t>
            </a:r>
            <a:endParaRPr lang="de-DE" sz="2300" dirty="0">
              <a:solidFill>
                <a:srgbClr val="800000"/>
              </a:solidFill>
            </a:endParaRP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4697202" y="3886200"/>
            <a:ext cx="1143000" cy="971550"/>
          </a:xfrm>
          <a:prstGeom prst="cube">
            <a:avLst>
              <a:gd name="adj" fmla="val 24940"/>
            </a:avLst>
          </a:prstGeom>
          <a:solidFill>
            <a:srgbClr val="BFFFE7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>
                <a:solidFill>
                  <a:srgbClr val="800000"/>
                </a:solidFill>
              </a:rPr>
              <a:t>WNS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5687802" y="3895725"/>
            <a:ext cx="1119188" cy="971550"/>
          </a:xfrm>
          <a:prstGeom prst="cube">
            <a:avLst>
              <a:gd name="adj" fmla="val 24940"/>
            </a:avLst>
          </a:prstGeom>
          <a:solidFill>
            <a:srgbClr val="99FF33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>
                <a:solidFill>
                  <a:srgbClr val="800000"/>
                </a:solidFill>
              </a:rPr>
              <a:t>SOS</a:t>
            </a:r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>
            <a:off x="6678402" y="3895725"/>
            <a:ext cx="1143000" cy="971550"/>
          </a:xfrm>
          <a:prstGeom prst="cube">
            <a:avLst>
              <a:gd name="adj" fmla="val 24940"/>
            </a:avLst>
          </a:prstGeom>
          <a:solidFill>
            <a:srgbClr val="00FFCC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>
                <a:solidFill>
                  <a:srgbClr val="800000"/>
                </a:solidFill>
              </a:rPr>
              <a:t>SAS</a:t>
            </a: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3993354" y="2142869"/>
            <a:ext cx="1143000" cy="962025"/>
          </a:xfrm>
          <a:prstGeom prst="cube">
            <a:avLst>
              <a:gd name="adj" fmla="val 24940"/>
            </a:avLst>
          </a:prstGeom>
          <a:solidFill>
            <a:srgbClr val="CCCCCC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 dirty="0">
                <a:solidFill>
                  <a:srgbClr val="800000"/>
                </a:solidFill>
              </a:rPr>
              <a:t>CS-W</a:t>
            </a:r>
          </a:p>
        </p:txBody>
      </p:sp>
      <p:sp>
        <p:nvSpPr>
          <p:cNvPr id="10" name="AutoShape 25"/>
          <p:cNvSpPr>
            <a:spLocks noChangeArrowheads="1"/>
          </p:cNvSpPr>
          <p:nvPr/>
        </p:nvSpPr>
        <p:spPr bwMode="auto">
          <a:xfrm>
            <a:off x="887202" y="3886200"/>
            <a:ext cx="1066800" cy="971550"/>
          </a:xfrm>
          <a:prstGeom prst="cube">
            <a:avLst>
              <a:gd name="adj" fmla="val 24940"/>
            </a:avLst>
          </a:prstGeom>
          <a:solidFill>
            <a:srgbClr val="CCCCCC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 dirty="0">
                <a:solidFill>
                  <a:srgbClr val="800000"/>
                </a:solidFill>
              </a:rPr>
              <a:t>TML</a:t>
            </a:r>
          </a:p>
        </p:txBody>
      </p:sp>
      <p:sp>
        <p:nvSpPr>
          <p:cNvPr id="11" name="AutoShape 24"/>
          <p:cNvSpPr>
            <a:spLocks noChangeArrowheads="1"/>
          </p:cNvSpPr>
          <p:nvPr/>
        </p:nvSpPr>
        <p:spPr bwMode="auto">
          <a:xfrm>
            <a:off x="1877802" y="3886200"/>
            <a:ext cx="1600200" cy="971550"/>
          </a:xfrm>
          <a:prstGeom prst="cube">
            <a:avLst>
              <a:gd name="adj" fmla="val 24940"/>
            </a:avLst>
          </a:prstGeom>
          <a:solidFill>
            <a:srgbClr val="3399FF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>
                <a:solidFill>
                  <a:srgbClr val="800000"/>
                </a:solidFill>
              </a:rPr>
              <a:t>SensorML</a:t>
            </a:r>
          </a:p>
        </p:txBody>
      </p:sp>
      <p:sp>
        <p:nvSpPr>
          <p:cNvPr id="12" name="AutoShape 22"/>
          <p:cNvSpPr>
            <a:spLocks noChangeArrowheads="1"/>
          </p:cNvSpPr>
          <p:nvPr/>
        </p:nvSpPr>
        <p:spPr bwMode="auto">
          <a:xfrm>
            <a:off x="3325602" y="3886200"/>
            <a:ext cx="1066800" cy="971550"/>
          </a:xfrm>
          <a:prstGeom prst="cube">
            <a:avLst>
              <a:gd name="adj" fmla="val 24940"/>
            </a:avLst>
          </a:prstGeom>
          <a:solidFill>
            <a:srgbClr val="8C94FF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>
                <a:solidFill>
                  <a:srgbClr val="800000"/>
                </a:solidFill>
              </a:rPr>
              <a:t>O&amp;M</a:t>
            </a: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1777789" y="3271838"/>
            <a:ext cx="1395706" cy="44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0" hangingPunct="0"/>
            <a:r>
              <a:rPr lang="de-DE" sz="2300" dirty="0"/>
              <a:t>Encodings</a:t>
            </a:r>
          </a:p>
        </p:txBody>
      </p:sp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6025939" y="3271838"/>
            <a:ext cx="1157497" cy="44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0" hangingPunct="0"/>
            <a:r>
              <a:rPr lang="de-DE" sz="2300" dirty="0"/>
              <a:t>Services</a:t>
            </a:r>
          </a:p>
        </p:txBody>
      </p:sp>
      <p:sp>
        <p:nvSpPr>
          <p:cNvPr id="15" name="AutoShape 29"/>
          <p:cNvSpPr>
            <a:spLocks noChangeArrowheads="1"/>
          </p:cNvSpPr>
          <p:nvPr/>
        </p:nvSpPr>
        <p:spPr bwMode="auto">
          <a:xfrm>
            <a:off x="7688052" y="3895725"/>
            <a:ext cx="1143000" cy="971550"/>
          </a:xfrm>
          <a:prstGeom prst="cube">
            <a:avLst>
              <a:gd name="adj" fmla="val 24940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>
                <a:solidFill>
                  <a:srgbClr val="800000"/>
                </a:solidFill>
              </a:rPr>
              <a:t>SPS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0232" y="5960661"/>
            <a:ext cx="330932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Acronym heaven…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AutoShape 25"/>
          <p:cNvSpPr>
            <a:spLocks noChangeArrowheads="1"/>
          </p:cNvSpPr>
          <p:nvPr/>
        </p:nvSpPr>
        <p:spPr bwMode="auto">
          <a:xfrm>
            <a:off x="7841810" y="2746552"/>
            <a:ext cx="1066800" cy="971550"/>
          </a:xfrm>
          <a:prstGeom prst="cube">
            <a:avLst>
              <a:gd name="adj" fmla="val 24940"/>
            </a:avLst>
          </a:prstGeom>
          <a:solidFill>
            <a:srgbClr val="CCCCCC"/>
          </a:solidFill>
          <a:ln w="285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/>
          <a:lstStyle/>
          <a:p>
            <a:pPr algn="ctr" eaLnBrk="0" hangingPunct="0"/>
            <a:r>
              <a:rPr lang="de-DE" sz="2300" dirty="0" smtClean="0">
                <a:solidFill>
                  <a:srgbClr val="800000"/>
                </a:solidFill>
              </a:rPr>
              <a:t>WPS</a:t>
            </a:r>
            <a:endParaRPr lang="de-DE" sz="2300" dirty="0">
              <a:solidFill>
                <a:srgbClr val="800000"/>
              </a:solidFill>
            </a:endParaRPr>
          </a:p>
        </p:txBody>
      </p:sp>
      <p:sp>
        <p:nvSpPr>
          <p:cNvPr id="18" name="Text Box 27"/>
          <p:cNvSpPr txBox="1">
            <a:spLocks noChangeArrowheads="1"/>
          </p:cNvSpPr>
          <p:nvPr/>
        </p:nvSpPr>
        <p:spPr bwMode="auto">
          <a:xfrm>
            <a:off x="3791762" y="1576299"/>
            <a:ext cx="1201279" cy="44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0" hangingPunct="0"/>
            <a:r>
              <a:rPr lang="de-DE" sz="2300" dirty="0" err="1" smtClean="0"/>
              <a:t>Catalog</a:t>
            </a:r>
            <a:endParaRPr lang="de-DE" sz="2300" dirty="0"/>
          </a:p>
        </p:txBody>
      </p:sp>
    </p:spTree>
    <p:extLst>
      <p:ext uri="{BB962C8B-B14F-4D97-AF65-F5344CB8AC3E}">
        <p14:creationId xmlns:p14="http://schemas.microsoft.com/office/powerpoint/2010/main" val="37574510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OGC (SWE) standards evolution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3650"/>
              </p:ext>
            </p:extLst>
          </p:nvPr>
        </p:nvGraphicFramePr>
        <p:xfrm>
          <a:off x="1216100" y="1294379"/>
          <a:ext cx="6096000" cy="4541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08616"/>
                <a:gridCol w="2855384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Acronym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Status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TML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Transducer</a:t>
                      </a:r>
                      <a:r>
                        <a:rPr lang="en-US" sz="1600" baseline="0" dirty="0" smtClean="0"/>
                        <a:t> ML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1.0. No longer developed.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O&amp;M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Observations &amp; Measurements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2.0.</a:t>
                      </a:r>
                      <a:r>
                        <a:rPr lang="en-US" sz="1600" baseline="0" dirty="0" smtClean="0"/>
                        <a:t> ISO version approved.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SWE Common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Common</a:t>
                      </a:r>
                      <a:r>
                        <a:rPr lang="en-US" sz="1600" baseline="0" dirty="0" smtClean="0"/>
                        <a:t> data model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2.0 approved.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SensorML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Sensor and process descriptions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2.0 approved.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SAS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Sensor Alert Service*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0.9 best practice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Sensor Planning Service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2.0</a:t>
                      </a:r>
                      <a:r>
                        <a:rPr lang="en-US" sz="1600" baseline="0" dirty="0" smtClean="0"/>
                        <a:t> approved.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WPS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Web Processing</a:t>
                      </a:r>
                      <a:r>
                        <a:rPr lang="en-US" sz="1600" baseline="0" dirty="0" smtClean="0"/>
                        <a:t> Service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2.0</a:t>
                      </a:r>
                      <a:r>
                        <a:rPr lang="en-US" sz="1600" baseline="0" dirty="0" smtClean="0"/>
                        <a:t> in progress.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CSW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Catalog Service for the Web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2.0.2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Web Notification Service*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0.9 best</a:t>
                      </a:r>
                      <a:r>
                        <a:rPr lang="en-US" sz="1600" baseline="0" dirty="0" smtClean="0"/>
                        <a:t> practice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103313" y="5951459"/>
            <a:ext cx="66896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* Sensor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Event Service / 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OGC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Eventing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PubSub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SWG / 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-N. See 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OGC 11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-088r1</a:t>
            </a:r>
          </a:p>
        </p:txBody>
      </p:sp>
    </p:spTree>
    <p:extLst>
      <p:ext uri="{BB962C8B-B14F-4D97-AF65-F5344CB8AC3E}">
        <p14:creationId xmlns:p14="http://schemas.microsoft.com/office/powerpoint/2010/main" val="33109878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86" y="4967943"/>
            <a:ext cx="3731021" cy="144851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98" y="3343735"/>
            <a:ext cx="3784600" cy="1206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views on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9052" y="3056085"/>
            <a:ext cx="4324243" cy="4922837"/>
          </a:xfrm>
        </p:spPr>
        <p:txBody>
          <a:bodyPr/>
          <a:lstStyle/>
          <a:p>
            <a:endParaRPr lang="en-US" sz="1800" dirty="0"/>
          </a:p>
          <a:p>
            <a:pPr marL="360363" lvl="1" indent="0">
              <a:buNone/>
            </a:pPr>
            <a:r>
              <a:rPr lang="en-US" sz="1600" i="1" dirty="0" smtClean="0"/>
              <a:t>Continuous phenomena, varying </a:t>
            </a:r>
            <a:r>
              <a:rPr lang="en-US" sz="1600" i="1" dirty="0"/>
              <a:t>in space and time – ‘raster</a:t>
            </a:r>
            <a:r>
              <a:rPr lang="en-US" sz="1600" i="1" dirty="0" smtClean="0"/>
              <a:t>’.</a:t>
            </a:r>
            <a:endParaRPr lang="en-US" sz="1600" i="1" dirty="0"/>
          </a:p>
          <a:p>
            <a:pPr marL="360363" lvl="1" indent="0">
              <a:buNone/>
            </a:pPr>
            <a:r>
              <a:rPr lang="en-US" sz="1600" i="1" dirty="0"/>
              <a:t>A </a:t>
            </a:r>
            <a:r>
              <a:rPr lang="en-US" sz="1600" i="1" dirty="0" smtClean="0"/>
              <a:t>function: spatial</a:t>
            </a:r>
            <a:r>
              <a:rPr lang="en-US" sz="1600" i="1" dirty="0"/>
              <a:t>, temporal or </a:t>
            </a:r>
            <a:r>
              <a:rPr lang="en-US" sz="1600" i="1" dirty="0" err="1"/>
              <a:t>spatio</a:t>
            </a:r>
            <a:r>
              <a:rPr lang="en-US" sz="1600" i="1" dirty="0"/>
              <a:t>-temporal </a:t>
            </a:r>
            <a:r>
              <a:rPr lang="en-US" sz="1600" i="1" dirty="0" smtClean="0"/>
              <a:t>domain to attribute range</a:t>
            </a:r>
          </a:p>
          <a:p>
            <a:endParaRPr lang="en-US" sz="1800" i="1" dirty="0" smtClean="0"/>
          </a:p>
          <a:p>
            <a:pPr marL="360363" lvl="1" indent="0">
              <a:buNone/>
            </a:pPr>
            <a:endParaRPr lang="en-US" sz="1600" dirty="0"/>
          </a:p>
          <a:p>
            <a:pPr marL="360363" lvl="1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890" y="1571105"/>
            <a:ext cx="2783528" cy="14320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57417" y="1755771"/>
            <a:ext cx="1146881" cy="369332"/>
          </a:xfrm>
          <a:prstGeom prst="rect">
            <a:avLst/>
          </a:prstGeom>
          <a:solidFill>
            <a:schemeClr val="bg2">
              <a:lumMod val="20000"/>
              <a:lumOff val="80000"/>
              <a:alpha val="55000"/>
            </a:schemeClr>
          </a:solidFill>
        </p:spPr>
        <p:txBody>
          <a:bodyPr wrap="none">
            <a:spAutoFit/>
          </a:bodyPr>
          <a:lstStyle/>
          <a:p>
            <a:r>
              <a:rPr lang="en-US" b="1" dirty="0"/>
              <a:t>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5472" y="1579991"/>
            <a:ext cx="4572000" cy="58477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1600" i="1" dirty="0"/>
              <a:t>Features exist, have attributes and can be spatially described – ‘discrete’ or ‘vector’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5613" y="3654543"/>
            <a:ext cx="1365090" cy="369332"/>
          </a:xfrm>
          <a:prstGeom prst="rect">
            <a:avLst/>
          </a:prstGeom>
          <a:solidFill>
            <a:schemeClr val="bg2">
              <a:lumMod val="20000"/>
              <a:lumOff val="80000"/>
              <a:alpha val="55000"/>
            </a:schemeClr>
          </a:solidFill>
        </p:spPr>
        <p:txBody>
          <a:bodyPr wrap="none">
            <a:spAutoFit/>
          </a:bodyPr>
          <a:lstStyle/>
          <a:p>
            <a:r>
              <a:rPr lang="en-US" b="1" dirty="0" err="1"/>
              <a:t>Coverages</a:t>
            </a:r>
            <a:endParaRPr lang="en-US" b="1" dirty="0"/>
          </a:p>
        </p:txBody>
      </p:sp>
      <p:sp>
        <p:nvSpPr>
          <p:cNvPr id="19" name="Rectangle 18"/>
          <p:cNvSpPr/>
          <p:nvPr/>
        </p:nvSpPr>
        <p:spPr>
          <a:xfrm>
            <a:off x="3898536" y="5236312"/>
            <a:ext cx="1659942" cy="369332"/>
          </a:xfrm>
          <a:prstGeom prst="rect">
            <a:avLst/>
          </a:prstGeom>
          <a:solidFill>
            <a:schemeClr val="bg2">
              <a:lumMod val="20000"/>
              <a:lumOff val="80000"/>
              <a:alpha val="55000"/>
            </a:schemeClr>
          </a:solidFill>
        </p:spPr>
        <p:txBody>
          <a:bodyPr wrap="none">
            <a:spAutoFit/>
          </a:bodyPr>
          <a:lstStyle/>
          <a:p>
            <a:r>
              <a:rPr lang="en-US" b="1" dirty="0"/>
              <a:t>Observations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703" y="4803391"/>
            <a:ext cx="39294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363" lvl="1"/>
            <a:r>
              <a:rPr lang="en-US" sz="1600" i="1" dirty="0" smtClean="0"/>
              <a:t>An act </a:t>
            </a:r>
            <a:r>
              <a:rPr lang="en-US" sz="1600" i="1" dirty="0"/>
              <a:t>that results in the estimation of the value of a feature property, and involves application of a specified procedure, such as a sensor, instrument, algorithm or process </a:t>
            </a:r>
            <a:r>
              <a:rPr lang="en-US" sz="1600" i="1" dirty="0" smtClean="0"/>
              <a:t>chain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127369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Observations &amp; Measurements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ISO19156 – Observations &amp; Measurements. </a:t>
            </a:r>
          </a:p>
          <a:p>
            <a:pPr lvl="1"/>
            <a:r>
              <a:rPr lang="en-US" dirty="0"/>
              <a:t>Conceptual (UML) model</a:t>
            </a:r>
          </a:p>
          <a:p>
            <a:endParaRPr lang="en-US" dirty="0"/>
          </a:p>
          <a:p>
            <a:r>
              <a:rPr lang="en-US" dirty="0"/>
              <a:t>The XML encoding is OGC O&amp;M 2.0 XML (10-025r1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The most relevant standard within the OGC suite for WaterML2.0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2699342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time series fit?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OGC lacks a common definition of time series, and specifically how they relate to </a:t>
            </a:r>
            <a:r>
              <a:rPr lang="en-US" dirty="0" err="1" smtClean="0"/>
              <a:t>coverages</a:t>
            </a:r>
            <a:r>
              <a:rPr lang="en-US" dirty="0" smtClean="0"/>
              <a:t>, observations and SWE</a:t>
            </a:r>
          </a:p>
          <a:p>
            <a:endParaRPr lang="en-US" dirty="0"/>
          </a:p>
          <a:p>
            <a:r>
              <a:rPr lang="en-US" dirty="0" smtClean="0"/>
              <a:t>O&amp;M has the concept of discrete coverage observations:</a:t>
            </a:r>
          </a:p>
          <a:p>
            <a:pPr lvl="1"/>
            <a:r>
              <a:rPr lang="en-US" dirty="0" smtClean="0"/>
              <a:t>Observations where the result varies depending on spatial or temporal variation</a:t>
            </a:r>
          </a:p>
          <a:p>
            <a:pPr lvl="1"/>
            <a:r>
              <a:rPr lang="en-US" dirty="0" smtClean="0"/>
              <a:t>This links observations, </a:t>
            </a:r>
            <a:r>
              <a:rPr lang="en-US" dirty="0" err="1" smtClean="0"/>
              <a:t>coverages</a:t>
            </a:r>
            <a:r>
              <a:rPr lang="en-US" dirty="0" smtClean="0"/>
              <a:t> and features</a:t>
            </a:r>
          </a:p>
          <a:p>
            <a:pPr lvl="1"/>
            <a:endParaRPr lang="en-US" dirty="0"/>
          </a:p>
          <a:p>
            <a:r>
              <a:rPr lang="en-US" dirty="0" smtClean="0"/>
              <a:t>An in-situ time series may be viewed as a spatially fixed, temporally varying coverage</a:t>
            </a:r>
          </a:p>
          <a:p>
            <a:pPr lvl="1"/>
            <a:r>
              <a:rPr lang="en-US" dirty="0" smtClean="0"/>
              <a:t>This view is consistent with </a:t>
            </a:r>
            <a:r>
              <a:rPr lang="en-US" dirty="0" err="1" smtClean="0"/>
              <a:t>netCDF</a:t>
            </a:r>
            <a:r>
              <a:rPr lang="en-US" dirty="0" smtClean="0"/>
              <a:t> (discrete sampling geometries)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2939586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WaterML</a:t>
            </a:r>
            <a:r>
              <a:rPr lang="en-US" dirty="0" smtClean="0"/>
              <a:t> 2.0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WaterML2.0 consists of </a:t>
            </a:r>
            <a:endParaRPr lang="en-US" dirty="0"/>
          </a:p>
          <a:p>
            <a:pPr lvl="1"/>
            <a:r>
              <a:rPr lang="en-US" dirty="0"/>
              <a:t>UML model </a:t>
            </a:r>
          </a:p>
          <a:p>
            <a:pPr lvl="1"/>
            <a:r>
              <a:rPr lang="en-US" dirty="0"/>
              <a:t>XML Schema (GML compliant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Specification document</a:t>
            </a:r>
          </a:p>
          <a:p>
            <a:pPr lvl="2"/>
            <a:r>
              <a:rPr lang="en-US" dirty="0" smtClean="0"/>
              <a:t>Requirements</a:t>
            </a:r>
          </a:p>
          <a:p>
            <a:pPr lvl="2"/>
            <a:r>
              <a:rPr lang="en-US" dirty="0" smtClean="0"/>
              <a:t>Conformance classes</a:t>
            </a:r>
          </a:p>
          <a:p>
            <a:pPr lvl="2"/>
            <a:r>
              <a:rPr lang="en-US" dirty="0" smtClean="0"/>
              <a:t>Conformance tests</a:t>
            </a:r>
          </a:p>
          <a:p>
            <a:pPr lvl="1"/>
            <a:r>
              <a:rPr lang="en-US" dirty="0" smtClean="0"/>
              <a:t>XML </a:t>
            </a:r>
            <a:r>
              <a:rPr lang="en-US" dirty="0" err="1" smtClean="0"/>
              <a:t>Schematron</a:t>
            </a:r>
            <a:r>
              <a:rPr lang="en-US" dirty="0" smtClean="0"/>
              <a:t> rules</a:t>
            </a:r>
          </a:p>
          <a:p>
            <a:pPr lvl="1"/>
            <a:r>
              <a:rPr lang="en-US" dirty="0" smtClean="0"/>
              <a:t>Vocabulary definitions</a:t>
            </a:r>
          </a:p>
          <a:p>
            <a:pPr lvl="2"/>
            <a:r>
              <a:rPr lang="en-US" dirty="0" smtClean="0"/>
              <a:t>Only a subset relating to time series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6266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WaterML</a:t>
            </a:r>
            <a:r>
              <a:rPr lang="en-US" dirty="0" smtClean="0"/>
              <a:t> 2.0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 series structures</a:t>
            </a:r>
          </a:p>
          <a:p>
            <a:endParaRPr lang="en-US" dirty="0" smtClean="0"/>
          </a:p>
          <a:p>
            <a:r>
              <a:rPr lang="en-US" dirty="0" smtClean="0"/>
              <a:t>O&amp;M Observation specializations (roughly a variable)</a:t>
            </a:r>
          </a:p>
          <a:p>
            <a:endParaRPr lang="en-US" dirty="0"/>
          </a:p>
          <a:p>
            <a:r>
              <a:rPr lang="en-US" dirty="0" smtClean="0"/>
              <a:t>Monitoring points</a:t>
            </a:r>
          </a:p>
          <a:p>
            <a:endParaRPr lang="en-US" dirty="0"/>
          </a:p>
          <a:p>
            <a:r>
              <a:rPr lang="en-US" dirty="0" smtClean="0"/>
              <a:t>Collections of monitoring points</a:t>
            </a:r>
          </a:p>
          <a:p>
            <a:pPr lvl="1"/>
            <a:r>
              <a:rPr lang="en-US" dirty="0" smtClean="0"/>
              <a:t>E.g. networks</a:t>
            </a:r>
          </a:p>
          <a:p>
            <a:pPr lvl="1"/>
            <a:endParaRPr lang="en-US" dirty="0"/>
          </a:p>
          <a:p>
            <a:r>
              <a:rPr lang="en-US" dirty="0" smtClean="0"/>
              <a:t>Observation procedures</a:t>
            </a:r>
          </a:p>
          <a:p>
            <a:endParaRPr lang="en-US" dirty="0"/>
          </a:p>
          <a:p>
            <a:r>
              <a:rPr lang="en-US" dirty="0" smtClean="0"/>
              <a:t>Generic collections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187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 (O&amp;M)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3" y="1219211"/>
            <a:ext cx="6407847" cy="50914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693211" y="1219211"/>
            <a:ext cx="1640298" cy="173103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3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3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Feature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93211" y="5053784"/>
            <a:ext cx="1950885" cy="112453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3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3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Phenomenon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58969" y="5609122"/>
            <a:ext cx="1382072" cy="796657"/>
          </a:xfrm>
          <a:prstGeom prst="roundRect">
            <a:avLst/>
          </a:prstGeom>
          <a:solidFill>
            <a:schemeClr val="accent2">
              <a:alpha val="53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Result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21926" y="1594134"/>
            <a:ext cx="1382072" cy="79665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3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3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Process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41041" y="1992462"/>
            <a:ext cx="1382072" cy="79665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3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3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Metadata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72808" y="5303403"/>
            <a:ext cx="1739237" cy="79665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3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3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Related Observations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5624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 types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277" y="1182942"/>
            <a:ext cx="5534838" cy="5543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7551" y="1931551"/>
            <a:ext cx="149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series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2217176" y="1226856"/>
            <a:ext cx="5538148" cy="1745906"/>
          </a:xfrm>
          <a:custGeom>
            <a:avLst/>
            <a:gdLst>
              <a:gd name="connsiteX0" fmla="*/ 2703718 w 5538148"/>
              <a:gd name="connsiteY0" fmla="*/ 29975 h 1745906"/>
              <a:gd name="connsiteX1" fmla="*/ 216815 w 5538148"/>
              <a:gd name="connsiteY1" fmla="*/ 545938 h 1745906"/>
              <a:gd name="connsiteX2" fmla="*/ 322640 w 5538148"/>
              <a:gd name="connsiteY2" fmla="*/ 1339726 h 1745906"/>
              <a:gd name="connsiteX3" fmla="*/ 1936482 w 5538148"/>
              <a:gd name="connsiteY3" fmla="*/ 1180968 h 1745906"/>
              <a:gd name="connsiteX4" fmla="*/ 1989395 w 5538148"/>
              <a:gd name="connsiteY4" fmla="*/ 797304 h 1745906"/>
              <a:gd name="connsiteX5" fmla="*/ 3735518 w 5538148"/>
              <a:gd name="connsiteY5" fmla="*/ 823764 h 1745906"/>
              <a:gd name="connsiteX6" fmla="*/ 3603236 w 5538148"/>
              <a:gd name="connsiteY6" fmla="*/ 1723390 h 1745906"/>
              <a:gd name="connsiteX7" fmla="*/ 5508099 w 5538148"/>
              <a:gd name="connsiteY7" fmla="*/ 1392645 h 1745906"/>
              <a:gd name="connsiteX8" fmla="*/ 4714406 w 5538148"/>
              <a:gd name="connsiteY8" fmla="*/ 506248 h 1745906"/>
              <a:gd name="connsiteX9" fmla="*/ 3960398 w 5538148"/>
              <a:gd name="connsiteY9" fmla="*/ 109354 h 1745906"/>
              <a:gd name="connsiteX10" fmla="*/ 2703718 w 5538148"/>
              <a:gd name="connsiteY10" fmla="*/ 29975 h 174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538148" h="1745906">
                <a:moveTo>
                  <a:pt x="2703718" y="29975"/>
                </a:moveTo>
                <a:cubicBezTo>
                  <a:pt x="2079788" y="102739"/>
                  <a:pt x="613661" y="327646"/>
                  <a:pt x="216815" y="545938"/>
                </a:cubicBezTo>
                <a:cubicBezTo>
                  <a:pt x="-180031" y="764230"/>
                  <a:pt x="36029" y="1233888"/>
                  <a:pt x="322640" y="1339726"/>
                </a:cubicBezTo>
                <a:cubicBezTo>
                  <a:pt x="609251" y="1445564"/>
                  <a:pt x="1658689" y="1271372"/>
                  <a:pt x="1936482" y="1180968"/>
                </a:cubicBezTo>
                <a:cubicBezTo>
                  <a:pt x="2214274" y="1090564"/>
                  <a:pt x="1689556" y="856838"/>
                  <a:pt x="1989395" y="797304"/>
                </a:cubicBezTo>
                <a:cubicBezTo>
                  <a:pt x="2289234" y="737770"/>
                  <a:pt x="3466545" y="669416"/>
                  <a:pt x="3735518" y="823764"/>
                </a:cubicBezTo>
                <a:cubicBezTo>
                  <a:pt x="4004492" y="978112"/>
                  <a:pt x="3307806" y="1628577"/>
                  <a:pt x="3603236" y="1723390"/>
                </a:cubicBezTo>
                <a:cubicBezTo>
                  <a:pt x="3898666" y="1818203"/>
                  <a:pt x="5322904" y="1595502"/>
                  <a:pt x="5508099" y="1392645"/>
                </a:cubicBezTo>
                <a:cubicBezTo>
                  <a:pt x="5693294" y="1189788"/>
                  <a:pt x="4972356" y="720130"/>
                  <a:pt x="4714406" y="506248"/>
                </a:cubicBezTo>
                <a:cubicBezTo>
                  <a:pt x="4456456" y="292366"/>
                  <a:pt x="4297717" y="188733"/>
                  <a:pt x="3960398" y="109354"/>
                </a:cubicBezTo>
                <a:cubicBezTo>
                  <a:pt x="3623079" y="29975"/>
                  <a:pt x="3327648" y="-42789"/>
                  <a:pt x="2703718" y="29975"/>
                </a:cubicBezTo>
                <a:close/>
              </a:path>
            </a:pathLst>
          </a:custGeom>
          <a:noFill/>
          <a:ln w="19050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27551" y="2487204"/>
            <a:ext cx="2103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Option 1: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Collection of Observation elements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71135" y="5807884"/>
            <a:ext cx="1455103" cy="6347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Timeseries</a:t>
            </a:r>
            <a:r>
              <a:rPr lang="en-US" sz="1400" dirty="0" smtClean="0"/>
              <a:t> Observation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2492277" y="6072480"/>
            <a:ext cx="1171937" cy="5156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Timeseries</a:t>
            </a:r>
            <a:endParaRPr lang="en-US" sz="1400" dirty="0"/>
          </a:p>
        </p:txBody>
      </p:sp>
      <p:cxnSp>
        <p:nvCxnSpPr>
          <p:cNvPr id="14" name="Straight Arrow Connector 13"/>
          <p:cNvCxnSpPr>
            <a:stCxn id="11" idx="1"/>
          </p:cNvCxnSpPr>
          <p:nvPr/>
        </p:nvCxnSpPr>
        <p:spPr>
          <a:xfrm flipH="1">
            <a:off x="3664214" y="6125241"/>
            <a:ext cx="806921" cy="1986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7551" y="4743952"/>
            <a:ext cx="1679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Option 2: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Time series as a result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292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/>
      <p:bldP spid="11" grpId="0" animBg="1"/>
      <p:bldP spid="12" grpId="0" animBg="1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Coverage Observations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047" t="4090" r="1942" b="5920"/>
          <a:stretch/>
        </p:blipFill>
        <p:spPr bwMode="auto">
          <a:xfrm>
            <a:off x="1664242" y="1197720"/>
            <a:ext cx="6404966" cy="54981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711783" y="4815649"/>
            <a:ext cx="4576961" cy="88639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100000"/>
                  <a:shade val="100000"/>
                  <a:satMod val="130000"/>
                  <a:alpha val="59000"/>
                </a:schemeClr>
              </a:gs>
              <a:gs pos="100000">
                <a:schemeClr val="accent5">
                  <a:tint val="50000"/>
                  <a:shade val="100000"/>
                  <a:satMod val="350000"/>
                  <a:alpha val="5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Interleaved </a:t>
            </a:r>
            <a:r>
              <a:rPr lang="en-US" dirty="0" err="1" smtClean="0">
                <a:solidFill>
                  <a:schemeClr val="tx1"/>
                </a:solidFill>
              </a:rPr>
              <a:t>timeseries</a:t>
            </a:r>
            <a:r>
              <a:rPr lang="en-US" dirty="0" smtClean="0">
                <a:solidFill>
                  <a:schemeClr val="tx1"/>
                </a:solidFill>
              </a:rPr>
              <a:t> (</a:t>
            </a:r>
            <a:r>
              <a:rPr lang="en-US" dirty="0" err="1" smtClean="0">
                <a:solidFill>
                  <a:schemeClr val="tx1"/>
                </a:solidFill>
              </a:rPr>
              <a:t>TvP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82142" y="5809510"/>
            <a:ext cx="5628327" cy="88639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100000"/>
                  <a:shade val="100000"/>
                  <a:satMod val="130000"/>
                  <a:alpha val="59000"/>
                </a:schemeClr>
              </a:gs>
              <a:gs pos="100000">
                <a:schemeClr val="accent5">
                  <a:tint val="50000"/>
                  <a:shade val="100000"/>
                  <a:satMod val="350000"/>
                  <a:alpha val="5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Domain-range </a:t>
            </a:r>
            <a:r>
              <a:rPr lang="en-US" dirty="0" err="1" smtClean="0">
                <a:solidFill>
                  <a:schemeClr val="tx1"/>
                </a:solidFill>
              </a:rPr>
              <a:t>timeseries</a:t>
            </a:r>
            <a:r>
              <a:rPr lang="en-US" dirty="0" smtClean="0">
                <a:solidFill>
                  <a:schemeClr val="tx1"/>
                </a:solidFill>
              </a:rPr>
              <a:t> (</a:t>
            </a:r>
            <a:r>
              <a:rPr lang="en-US" dirty="0" err="1" smtClean="0">
                <a:solidFill>
                  <a:schemeClr val="tx1"/>
                </a:solidFill>
              </a:rPr>
              <a:t>TvP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124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</a:t>
            </a:r>
            <a:r>
              <a:rPr lang="en-US" dirty="0"/>
              <a:t> </a:t>
            </a:r>
            <a:r>
              <a:rPr lang="en-US" dirty="0" smtClean="0"/>
              <a:t>structure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47" y="4974407"/>
            <a:ext cx="5997059" cy="1507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15686" y="2553353"/>
            <a:ext cx="1403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Interleaved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951704" y="5431093"/>
            <a:ext cx="1736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Domain-range</a:t>
            </a: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92" y="1202808"/>
            <a:ext cx="5617594" cy="36260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918090" y="5291922"/>
            <a:ext cx="1468332" cy="1656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983237" y="6132272"/>
            <a:ext cx="270903" cy="1656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12" idx="2"/>
            <a:endCxn id="13" idx="0"/>
          </p:cNvCxnSpPr>
          <p:nvPr/>
        </p:nvCxnSpPr>
        <p:spPr>
          <a:xfrm>
            <a:off x="2652256" y="5457553"/>
            <a:ext cx="466433" cy="674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06540" y="5291922"/>
            <a:ext cx="1468332" cy="1656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320282" y="6132272"/>
            <a:ext cx="270903" cy="1656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17" idx="2"/>
            <a:endCxn id="18" idx="0"/>
          </p:cNvCxnSpPr>
          <p:nvPr/>
        </p:nvCxnSpPr>
        <p:spPr>
          <a:xfrm flipH="1">
            <a:off x="3455734" y="5457553"/>
            <a:ext cx="684972" cy="674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74872" y="5298795"/>
            <a:ext cx="1468332" cy="1656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657327" y="6132787"/>
            <a:ext cx="270903" cy="1656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>
            <a:stCxn id="21" idx="2"/>
            <a:endCxn id="22" idx="0"/>
          </p:cNvCxnSpPr>
          <p:nvPr/>
        </p:nvCxnSpPr>
        <p:spPr>
          <a:xfrm flipH="1">
            <a:off x="3792779" y="5464426"/>
            <a:ext cx="1816259" cy="668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059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</a:t>
            </a:r>
            <a:r>
              <a:rPr lang="en-US" dirty="0" err="1" smtClean="0"/>
              <a:t>timeseries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34" t="4509" r="2667" b="6251"/>
          <a:stretch/>
        </p:blipFill>
        <p:spPr bwMode="auto">
          <a:xfrm>
            <a:off x="1103313" y="1193365"/>
            <a:ext cx="7140567" cy="50856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1222367" y="1203911"/>
            <a:ext cx="2799009" cy="251366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6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67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 </a:t>
            </a:r>
            <a:r>
              <a:rPr lang="en-US" dirty="0" err="1" smtClean="0"/>
              <a:t>Timeseries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444871" y="1193365"/>
            <a:ext cx="2799009" cy="251366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6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67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Consists of many time-value (measure) pairs…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861572" y="3978496"/>
            <a:ext cx="7585516" cy="23004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6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67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With metadata and annotations.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27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Timeseries</a:t>
            </a:r>
            <a:r>
              <a:rPr lang="en-US" dirty="0" smtClean="0"/>
              <a:t> metadata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  <p:pic>
        <p:nvPicPr>
          <p:cNvPr id="5" name="Picture 4" descr="Description: Base metadata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53" t="16035" r="55339" b="24663"/>
          <a:stretch>
            <a:fillRect/>
          </a:stretch>
        </p:blipFill>
        <p:spPr bwMode="auto">
          <a:xfrm>
            <a:off x="1222654" y="1528593"/>
            <a:ext cx="2746096" cy="1541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25" t="4135" r="48284" b="52182"/>
          <a:stretch/>
        </p:blipFill>
        <p:spPr bwMode="auto">
          <a:xfrm>
            <a:off x="1222654" y="3243425"/>
            <a:ext cx="4433364" cy="33447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59965" y="595341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6581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domain feature </a:t>
            </a:r>
            <a:r>
              <a:rPr lang="en-US" dirty="0"/>
              <a:t>is often not directly measured but estimated through a proxy, or a </a:t>
            </a:r>
            <a:r>
              <a:rPr lang="en-US" i="1" dirty="0"/>
              <a:t>sampling</a:t>
            </a:r>
            <a:r>
              <a:rPr lang="en-US" dirty="0"/>
              <a:t>, feature</a:t>
            </a:r>
          </a:p>
          <a:p>
            <a:endParaRPr lang="en-US" dirty="0"/>
          </a:p>
          <a:p>
            <a:r>
              <a:rPr lang="en-US" dirty="0"/>
              <a:t>E.g. Measuring water quality of an aquifer involves sampling at a bore or well site. 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E.g. Measuring river level at a station is sampling the river at a point</a:t>
            </a:r>
          </a:p>
          <a:p>
            <a:endParaRPr lang="en-US" dirty="0"/>
          </a:p>
          <a:p>
            <a:r>
              <a:rPr lang="en-US" b="1" dirty="0" smtClean="0"/>
              <a:t>Linking of sampling features to domain features allows closer interaction with GIS systems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9930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sampling features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02" y="1232445"/>
            <a:ext cx="7560748" cy="53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568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367" y="2695036"/>
            <a:ext cx="7772400" cy="1500187"/>
          </a:xfrm>
        </p:spPr>
        <p:txBody>
          <a:bodyPr/>
          <a:lstStyle/>
          <a:p>
            <a:r>
              <a:rPr lang="en-US" sz="3600" dirty="0" smtClean="0"/>
              <a:t>Putting into practice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176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logical fit with OGC’s Sensor Observation Service (SOS)</a:t>
            </a:r>
          </a:p>
          <a:p>
            <a:pPr lvl="1"/>
            <a:r>
              <a:rPr lang="en-US" dirty="0" smtClean="0"/>
              <a:t>Version 2.0 is being voted on by OGC</a:t>
            </a:r>
          </a:p>
          <a:p>
            <a:pPr lvl="1"/>
            <a:endParaRPr lang="en-US" dirty="0"/>
          </a:p>
          <a:p>
            <a:r>
              <a:rPr lang="en-US" dirty="0" smtClean="0"/>
              <a:t>May be used with other services,</a:t>
            </a:r>
          </a:p>
          <a:p>
            <a:pPr lvl="1"/>
            <a:r>
              <a:rPr lang="en-US" dirty="0" err="1" smtClean="0"/>
              <a:t>WaterOneFlow</a:t>
            </a:r>
            <a:endParaRPr lang="en-US" dirty="0" smtClean="0"/>
          </a:p>
          <a:p>
            <a:pPr lvl="1"/>
            <a:r>
              <a:rPr lang="en-US" dirty="0" smtClean="0"/>
              <a:t>Generic web services</a:t>
            </a:r>
          </a:p>
          <a:p>
            <a:pPr lvl="1"/>
            <a:r>
              <a:rPr lang="en-US" dirty="0" err="1" smtClean="0"/>
              <a:t>RESTful</a:t>
            </a:r>
            <a:r>
              <a:rPr lang="en-US" dirty="0" smtClean="0"/>
              <a:t> services</a:t>
            </a:r>
          </a:p>
          <a:p>
            <a:pPr lvl="1"/>
            <a:endParaRPr lang="en-US" dirty="0"/>
          </a:p>
          <a:p>
            <a:r>
              <a:rPr lang="en-US" dirty="0" smtClean="0"/>
              <a:t>Prototypes from Interoperability Experiments:</a:t>
            </a:r>
          </a:p>
          <a:p>
            <a:pPr lvl="1"/>
            <a:r>
              <a:rPr lang="en-US" dirty="0" smtClean="0">
                <a:hlinkClick r:id="rId3"/>
              </a:rPr>
              <a:t>Groundwater IE</a:t>
            </a:r>
            <a:endParaRPr lang="en-US" dirty="0" smtClean="0"/>
          </a:p>
          <a:p>
            <a:pPr lvl="1"/>
            <a:r>
              <a:rPr lang="en-US" dirty="0" err="1" smtClean="0">
                <a:hlinkClick r:id="rId4"/>
              </a:rPr>
              <a:t>Surfacewater</a:t>
            </a:r>
            <a:r>
              <a:rPr lang="en-US" dirty="0" smtClean="0">
                <a:hlinkClick r:id="rId4"/>
              </a:rPr>
              <a:t> IE</a:t>
            </a:r>
            <a:endParaRPr lang="en-US" dirty="0" smtClean="0"/>
          </a:p>
          <a:p>
            <a:pPr lvl="1"/>
            <a:r>
              <a:rPr lang="en-US" dirty="0" smtClean="0">
                <a:hlinkClick r:id="rId5"/>
              </a:rPr>
              <a:t>Forecasting IE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218640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parts of WaterML2.0 will need to be defined for particular usages</a:t>
            </a:r>
          </a:p>
          <a:p>
            <a:pPr lvl="1"/>
            <a:r>
              <a:rPr lang="en-US" dirty="0" smtClean="0"/>
              <a:t>Focus was on getting core structures defined and consistency</a:t>
            </a:r>
          </a:p>
          <a:p>
            <a:endParaRPr lang="en-US" dirty="0" smtClean="0"/>
          </a:p>
          <a:p>
            <a:r>
              <a:rPr lang="en-US" dirty="0" smtClean="0"/>
              <a:t>Best practices and future iterations to come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OGC network pages a starting ground:</a:t>
            </a:r>
          </a:p>
          <a:p>
            <a:pPr lvl="1"/>
            <a:r>
              <a:rPr lang="en-US" dirty="0">
                <a:hlinkClick r:id="rId2"/>
              </a:rPr>
              <a:t>http://www.ogcnetwork.net/node/</a:t>
            </a:r>
            <a:r>
              <a:rPr lang="en-US" dirty="0" smtClean="0">
                <a:hlinkClick r:id="rId2"/>
              </a:rPr>
              <a:t>1748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021" y="5347238"/>
            <a:ext cx="3963090" cy="8589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022" y="4303260"/>
            <a:ext cx="4809694" cy="95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03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Convergence of various communities:</a:t>
            </a:r>
          </a:p>
          <a:p>
            <a:pPr lvl="1"/>
            <a:r>
              <a:rPr lang="en-US" dirty="0" smtClean="0"/>
              <a:t>GIS, ‘feature’ view</a:t>
            </a:r>
          </a:p>
          <a:p>
            <a:pPr lvl="1"/>
            <a:r>
              <a:rPr lang="en-US" dirty="0" smtClean="0"/>
              <a:t>Atmospheric, oceanographic – multi-dimensional, </a:t>
            </a:r>
            <a:r>
              <a:rPr lang="en-US" dirty="0" err="1" smtClean="0"/>
              <a:t>coverages</a:t>
            </a:r>
            <a:endParaRPr lang="en-US" dirty="0" smtClean="0"/>
          </a:p>
          <a:p>
            <a:pPr lvl="1"/>
            <a:r>
              <a:rPr lang="en-US" dirty="0" smtClean="0"/>
              <a:t>Sensor-centric view</a:t>
            </a:r>
          </a:p>
          <a:p>
            <a:pPr lvl="1"/>
            <a:r>
              <a:rPr lang="en-US" dirty="0" smtClean="0"/>
              <a:t>Hydrologists</a:t>
            </a:r>
          </a:p>
          <a:p>
            <a:pPr lvl="1"/>
            <a:endParaRPr lang="en-US" dirty="0"/>
          </a:p>
          <a:p>
            <a:r>
              <a:rPr lang="en-US" dirty="0" smtClean="0"/>
              <a:t>WaterML2.0 hopes to provide a step in the right direction for the hydro domain</a:t>
            </a:r>
          </a:p>
          <a:p>
            <a:endParaRPr lang="en-US" dirty="0"/>
          </a:p>
          <a:p>
            <a:r>
              <a:rPr lang="en-US" dirty="0" smtClean="0"/>
              <a:t>Given the increasingly multidisciplinary nature of science, it helps to align our ‘data world views’</a:t>
            </a:r>
          </a:p>
          <a:p>
            <a:pPr lvl="1"/>
            <a:r>
              <a:rPr lang="en-US" dirty="0" smtClean="0"/>
              <a:t>Tension between community-specific requirements and abstract, flexible models – each have their role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</p:spTree>
    <p:extLst>
      <p:ext uri="{BB962C8B-B14F-4D97-AF65-F5344CB8AC3E}">
        <p14:creationId xmlns:p14="http://schemas.microsoft.com/office/powerpoint/2010/main" val="1606226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Interest in exchange of ratings, </a:t>
            </a:r>
            <a:r>
              <a:rPr lang="en-US" dirty="0" err="1" smtClean="0"/>
              <a:t>gaugings</a:t>
            </a:r>
            <a:r>
              <a:rPr lang="en-US" dirty="0" smtClean="0"/>
              <a:t> (and cross sections)</a:t>
            </a:r>
          </a:p>
          <a:p>
            <a:pPr lvl="1"/>
            <a:r>
              <a:rPr lang="en-US" dirty="0" smtClean="0"/>
              <a:t>Hydro DWG will be kicking off something in the space soon…</a:t>
            </a:r>
          </a:p>
          <a:p>
            <a:pPr lvl="1"/>
            <a:endParaRPr lang="en-US" dirty="0"/>
          </a:p>
          <a:p>
            <a:r>
              <a:rPr lang="en-US" dirty="0" smtClean="0"/>
              <a:t>Water quality specific encodings</a:t>
            </a:r>
          </a:p>
          <a:p>
            <a:endParaRPr lang="en-US" dirty="0"/>
          </a:p>
          <a:p>
            <a:r>
              <a:rPr lang="en-US" dirty="0" err="1" smtClean="0"/>
              <a:t>NetCDF</a:t>
            </a:r>
            <a:r>
              <a:rPr lang="en-US" dirty="0" smtClean="0"/>
              <a:t> mapping is in progress</a:t>
            </a:r>
          </a:p>
          <a:p>
            <a:endParaRPr lang="en-US" dirty="0"/>
          </a:p>
          <a:p>
            <a:r>
              <a:rPr lang="en-US" dirty="0" smtClean="0"/>
              <a:t>JSON, SWE Common encodings</a:t>
            </a:r>
          </a:p>
          <a:p>
            <a:endParaRPr lang="en-US" dirty="0"/>
          </a:p>
          <a:p>
            <a:r>
              <a:rPr lang="en-US" dirty="0" smtClean="0"/>
              <a:t>Controlled vocabularies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>
                <a:solidFill>
                  <a:srgbClr val="0099CC"/>
                </a:solidFill>
              </a:rPr>
              <a:t>CSIRO.</a:t>
            </a:r>
            <a:r>
              <a:rPr lang="en-AU" b="0" smtClean="0">
                <a:solidFill>
                  <a:srgbClr val="000000"/>
                </a:solidFill>
              </a:rPr>
              <a:t>  WaterML2.0 overview</a:t>
            </a:r>
            <a:endParaRPr lang="en-AU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842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713" y="4365835"/>
            <a:ext cx="7468567" cy="19296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Community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Hydro Domain Working Group</a:t>
            </a:r>
            <a:endParaRPr lang="en-US" dirty="0"/>
          </a:p>
          <a:p>
            <a:pPr lvl="1"/>
            <a:r>
              <a:rPr lang="en-US" dirty="0" smtClean="0"/>
              <a:t>Common problems being solved – let’s pool our resources! </a:t>
            </a:r>
          </a:p>
          <a:p>
            <a:pPr lvl="1"/>
            <a:r>
              <a:rPr lang="en-US" dirty="0" smtClean="0"/>
              <a:t>Open standards, and source, come into their own when critical mass is reached</a:t>
            </a:r>
          </a:p>
          <a:p>
            <a:pPr lvl="1"/>
            <a:r>
              <a:rPr lang="en-US" dirty="0" smtClean="0"/>
              <a:t>A governance framework linking with OGC and WMO</a:t>
            </a:r>
          </a:p>
          <a:p>
            <a:pPr lvl="1"/>
            <a:endParaRPr lang="en-US" dirty="0"/>
          </a:p>
          <a:p>
            <a:r>
              <a:rPr lang="en-US" dirty="0" smtClean="0"/>
              <a:t>Let’s grow the international community of practice for sharing water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103313" y="6600825"/>
            <a:ext cx="7343775" cy="257175"/>
          </a:xfrm>
        </p:spPr>
        <p:txBody>
          <a:bodyPr/>
          <a:lstStyle/>
          <a:p>
            <a:r>
              <a:rPr lang="en-AU" dirty="0" smtClean="0">
                <a:solidFill>
                  <a:srgbClr val="0099CC"/>
                </a:solidFill>
              </a:rPr>
              <a:t>CSIRO.</a:t>
            </a:r>
            <a:r>
              <a:rPr lang="en-AU" b="0" dirty="0" smtClean="0">
                <a:solidFill>
                  <a:srgbClr val="000000"/>
                </a:solidFill>
              </a:rPr>
              <a:t> </a:t>
            </a:r>
            <a:r>
              <a:rPr lang="en-AU" b="0" dirty="0">
                <a:solidFill>
                  <a:srgbClr val="000000"/>
                </a:solidFill>
              </a:rPr>
              <a:t>WaterML2.0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5661672" y="5034199"/>
            <a:ext cx="330705" cy="304285"/>
          </a:xfrm>
          <a:prstGeom prst="ellipse">
            <a:avLst/>
          </a:prstGeom>
          <a:noFill/>
          <a:ln w="28575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507283" y="4637305"/>
            <a:ext cx="330705" cy="304285"/>
          </a:xfrm>
          <a:prstGeom prst="ellipse">
            <a:avLst/>
          </a:prstGeom>
          <a:noFill/>
          <a:ln w="28575" cmpd="sng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487177" y="4763247"/>
            <a:ext cx="330705" cy="304285"/>
          </a:xfrm>
          <a:prstGeom prst="ellipse">
            <a:avLst/>
          </a:prstGeom>
          <a:noFill/>
          <a:ln w="28575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Elbow Connector 9"/>
          <p:cNvCxnSpPr>
            <a:stCxn id="8" idx="6"/>
            <a:endCxn id="6" idx="4"/>
          </p:cNvCxnSpPr>
          <p:nvPr/>
        </p:nvCxnSpPr>
        <p:spPr>
          <a:xfrm>
            <a:off x="2817882" y="4915390"/>
            <a:ext cx="3009143" cy="423094"/>
          </a:xfrm>
          <a:prstGeom prst="bentConnector4">
            <a:avLst>
              <a:gd name="adj1" fmla="val 47252"/>
              <a:gd name="adj2" fmla="val 154031"/>
            </a:avLst>
          </a:prstGeom>
          <a:ln>
            <a:headEnd type="non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0"/>
          </p:cNvCxnSpPr>
          <p:nvPr/>
        </p:nvCxnSpPr>
        <p:spPr>
          <a:xfrm rot="5400000" flipH="1" flipV="1">
            <a:off x="6531678" y="4058594"/>
            <a:ext cx="270952" cy="1680258"/>
          </a:xfrm>
          <a:prstGeom prst="bentConnector2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8" idx="4"/>
          </p:cNvCxnSpPr>
          <p:nvPr/>
        </p:nvCxnSpPr>
        <p:spPr>
          <a:xfrm rot="5400000">
            <a:off x="1558888" y="5215082"/>
            <a:ext cx="1241193" cy="946093"/>
          </a:xfrm>
          <a:prstGeom prst="bentConnector3">
            <a:avLst/>
          </a:prstGeom>
          <a:ln>
            <a:headEnd type="non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4372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1" name="Group 3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5606" name="Rectangle 4"/>
            <p:cNvSpPr>
              <a:spLocks noChangeArrowheads="1"/>
            </p:cNvSpPr>
            <p:nvPr/>
          </p:nvSpPr>
          <p:spPr bwMode="auto">
            <a:xfrm>
              <a:off x="474" y="2397"/>
              <a:ext cx="5286" cy="861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607" name="Rectangle 5"/>
            <p:cNvSpPr>
              <a:spLocks noChangeArrowheads="1"/>
            </p:cNvSpPr>
            <p:nvPr/>
          </p:nvSpPr>
          <p:spPr bwMode="auto">
            <a:xfrm>
              <a:off x="472" y="3258"/>
              <a:ext cx="5288" cy="1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25608" name="Picture 6" descr="flagships_ppt_titl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87" t="2022" b="943"/>
            <a:stretch>
              <a:fillRect/>
            </a:stretch>
          </p:blipFill>
          <p:spPr bwMode="auto">
            <a:xfrm>
              <a:off x="0" y="0"/>
              <a:ext cx="88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4034" name="Rectangle 8"/>
          <p:cNvSpPr>
            <a:spLocks noGrp="1" noChangeArrowheads="1"/>
          </p:cNvSpPr>
          <p:nvPr>
            <p:ph type="ctrTitle" idx="4294967295"/>
          </p:nvPr>
        </p:nvSpPr>
        <p:spPr>
          <a:xfrm>
            <a:off x="1455738" y="4113213"/>
            <a:ext cx="6481762" cy="960437"/>
          </a:xfrm>
        </p:spPr>
        <p:txBody>
          <a:bodyPr tIns="45720" bIns="45720"/>
          <a:lstStyle/>
          <a:p>
            <a:pPr eaLnBrk="1" hangingPunct="1">
              <a:defRPr/>
            </a:pPr>
            <a:r>
              <a:rPr lang="en-AU" sz="4600">
                <a:solidFill>
                  <a:schemeClr val="bg2"/>
                </a:solidFill>
                <a:latin typeface="Arial" charset="0"/>
              </a:rPr>
              <a:t>Thank you</a:t>
            </a:r>
          </a:p>
        </p:txBody>
      </p:sp>
      <p:sp>
        <p:nvSpPr>
          <p:cNvPr id="25603" name="Text Box 9"/>
          <p:cNvSpPr txBox="1">
            <a:spLocks noChangeArrowheads="1"/>
          </p:cNvSpPr>
          <p:nvPr/>
        </p:nvSpPr>
        <p:spPr bwMode="auto">
          <a:xfrm>
            <a:off x="1162050" y="1500188"/>
            <a:ext cx="513080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smtClean="0">
                <a:solidFill>
                  <a:srgbClr val="3294C6"/>
                </a:solidFill>
                <a:sym typeface="Monotype Sorts" charset="0"/>
              </a:rPr>
              <a:t>CSIRO ICT Centre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AU" sz="1500" smtClean="0">
                <a:solidFill>
                  <a:srgbClr val="000000"/>
                </a:solidFill>
                <a:sym typeface="Monotype Sorts" charset="0"/>
              </a:rPr>
              <a:t>Pete Taylor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AU" sz="1500" b="1" smtClean="0">
                <a:solidFill>
                  <a:srgbClr val="000000"/>
                </a:solidFill>
                <a:sym typeface="Monotype Sorts" charset="0"/>
              </a:rPr>
              <a:t>Phone:</a:t>
            </a:r>
            <a:r>
              <a:rPr lang="en-AU" sz="1500" smtClean="0">
                <a:solidFill>
                  <a:srgbClr val="000000"/>
                </a:solidFill>
                <a:sym typeface="Monotype Sorts" charset="0"/>
              </a:rPr>
              <a:t> +61 3 6232 5530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AU" sz="1500" b="1" smtClean="0">
                <a:solidFill>
                  <a:srgbClr val="000000"/>
                </a:solidFill>
                <a:sym typeface="Monotype Sorts" charset="0"/>
              </a:rPr>
              <a:t>Email:</a:t>
            </a:r>
            <a:r>
              <a:rPr lang="en-AU" sz="1500" smtClean="0">
                <a:solidFill>
                  <a:srgbClr val="000000"/>
                </a:solidFill>
                <a:sym typeface="Monotype Sorts" charset="0"/>
              </a:rPr>
              <a:t> peter.taylor@csiro.au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AU" sz="1500" b="1" smtClean="0">
                <a:solidFill>
                  <a:srgbClr val="000000"/>
                </a:solidFill>
                <a:sym typeface="Monotype Sorts" charset="0"/>
              </a:rPr>
              <a:t>Web:</a:t>
            </a:r>
            <a:r>
              <a:rPr lang="en-AU" sz="1500" smtClean="0">
                <a:solidFill>
                  <a:srgbClr val="000000"/>
                </a:solidFill>
                <a:sym typeface="Monotype Sorts" charset="0"/>
              </a:rPr>
              <a:t> </a:t>
            </a:r>
            <a:r>
              <a:rPr lang="en-AU" sz="1400" smtClean="0">
                <a:solidFill>
                  <a:srgbClr val="000000"/>
                </a:solidFill>
                <a:sym typeface="Monotype Sorts" charset="0"/>
              </a:rPr>
              <a:t>www.csiro.au/science/TasICTCentre.html</a:t>
            </a:r>
          </a:p>
        </p:txBody>
      </p:sp>
      <p:sp>
        <p:nvSpPr>
          <p:cNvPr id="25604" name="Text Box 10"/>
          <p:cNvSpPr txBox="1">
            <a:spLocks noChangeArrowheads="1"/>
          </p:cNvSpPr>
          <p:nvPr/>
        </p:nvSpPr>
        <p:spPr bwMode="auto">
          <a:xfrm>
            <a:off x="1436688" y="5727700"/>
            <a:ext cx="6048375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914400"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AU" sz="1500" b="1" smtClean="0">
                <a:solidFill>
                  <a:srgbClr val="0099CC"/>
                </a:solidFill>
              </a:rPr>
              <a:t>Contact Us</a:t>
            </a:r>
            <a:r>
              <a:rPr lang="en-AU" sz="1500" smtClean="0">
                <a:solidFill>
                  <a:srgbClr val="000000"/>
                </a:solidFill>
              </a:rPr>
              <a:t/>
            </a:r>
            <a:br>
              <a:rPr lang="en-AU" sz="1500" smtClean="0">
                <a:solidFill>
                  <a:srgbClr val="000000"/>
                </a:solidFill>
              </a:rPr>
            </a:br>
            <a:r>
              <a:rPr lang="en-AU" sz="1500" b="1" smtClean="0">
                <a:solidFill>
                  <a:srgbClr val="000000"/>
                </a:solidFill>
              </a:rPr>
              <a:t>Phone:</a:t>
            </a:r>
            <a:r>
              <a:rPr lang="en-AU" sz="1500" smtClean="0">
                <a:solidFill>
                  <a:srgbClr val="000000"/>
                </a:solidFill>
              </a:rPr>
              <a:t> 1300 363 400 </a:t>
            </a:r>
            <a:r>
              <a:rPr lang="en-AU" sz="1500" b="1" smtClean="0">
                <a:solidFill>
                  <a:srgbClr val="000000"/>
                </a:solidFill>
              </a:rPr>
              <a:t>or</a:t>
            </a:r>
            <a:r>
              <a:rPr lang="en-AU" sz="1500" smtClean="0">
                <a:solidFill>
                  <a:srgbClr val="000000"/>
                </a:solidFill>
              </a:rPr>
              <a:t> +61 3 9545 2176</a:t>
            </a:r>
            <a:br>
              <a:rPr lang="en-AU" sz="1500" smtClean="0">
                <a:solidFill>
                  <a:srgbClr val="000000"/>
                </a:solidFill>
              </a:rPr>
            </a:br>
            <a:r>
              <a:rPr lang="en-AU" sz="1500" b="1" smtClean="0">
                <a:solidFill>
                  <a:srgbClr val="000000"/>
                </a:solidFill>
              </a:rPr>
              <a:t>Email:</a:t>
            </a:r>
            <a:r>
              <a:rPr lang="en-AU" sz="1500" smtClean="0">
                <a:solidFill>
                  <a:srgbClr val="000000"/>
                </a:solidFill>
              </a:rPr>
              <a:t> Enquiries@csiro.au  </a:t>
            </a:r>
            <a:r>
              <a:rPr lang="en-AU" sz="1500" b="1" smtClean="0">
                <a:solidFill>
                  <a:srgbClr val="000000"/>
                </a:solidFill>
              </a:rPr>
              <a:t>Web:</a:t>
            </a:r>
            <a:r>
              <a:rPr lang="en-AU" sz="1500" smtClean="0">
                <a:solidFill>
                  <a:srgbClr val="000000"/>
                </a:solidFill>
              </a:rPr>
              <a:t> www.csiro.au</a:t>
            </a:r>
          </a:p>
        </p:txBody>
      </p:sp>
      <p:pic>
        <p:nvPicPr>
          <p:cNvPr id="25605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22888" y="1270000"/>
            <a:ext cx="3603625" cy="237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447167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Backup slides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69665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17"/>
          <p:cNvGrpSpPr>
            <a:grpSpLocks/>
          </p:cNvGrpSpPr>
          <p:nvPr/>
        </p:nvGrpSpPr>
        <p:grpSpPr bwMode="auto">
          <a:xfrm>
            <a:off x="165100" y="3203575"/>
            <a:ext cx="2684463" cy="2112963"/>
            <a:chOff x="213032" y="3462679"/>
            <a:chExt cx="2685140" cy="2112171"/>
          </a:xfrm>
        </p:grpSpPr>
        <p:cxnSp>
          <p:nvCxnSpPr>
            <p:cNvPr id="29" name="Curved Connector 28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urved Connector 5"/>
            <p:cNvCxnSpPr/>
            <p:nvPr/>
          </p:nvCxnSpPr>
          <p:spPr>
            <a:xfrm>
              <a:off x="616359" y="3767365"/>
              <a:ext cx="2038864" cy="741085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urved Connector 9"/>
            <p:cNvCxnSpPr/>
            <p:nvPr/>
          </p:nvCxnSpPr>
          <p:spPr>
            <a:xfrm>
              <a:off x="359119" y="4222807"/>
              <a:ext cx="2121435" cy="723629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213032" y="3462679"/>
              <a:ext cx="403327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494845" y="4433865"/>
              <a:ext cx="403327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1289050" y="3230563"/>
            <a:ext cx="0" cy="7699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276350" y="3995738"/>
            <a:ext cx="1063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281113" y="3771900"/>
            <a:ext cx="1063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39850" y="3162300"/>
            <a:ext cx="1325563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Monitoring Point (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x,y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2713" y="3836988"/>
            <a:ext cx="1466850" cy="246062"/>
          </a:xfrm>
          <a:prstGeom prst="rect">
            <a:avLst/>
          </a:prstGeom>
          <a:solidFill>
            <a:schemeClr val="bg1">
              <a:lumMod val="95000"/>
              <a:alpha val="58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Proc1_2m_temp_sensor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2713" y="3630613"/>
            <a:ext cx="1466850" cy="246062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Proc1_1m_temp_sensor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1093788"/>
            <a:ext cx="1697038" cy="107632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Proc1_1m_temp_sensor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=temperature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Sun 22"/>
          <p:cNvSpPr/>
          <p:nvPr/>
        </p:nvSpPr>
        <p:spPr>
          <a:xfrm>
            <a:off x="727075" y="2841625"/>
            <a:ext cx="203200" cy="201613"/>
          </a:xfrm>
          <a:prstGeom prst="su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5713" y="1092200"/>
            <a:ext cx="1698625" cy="107632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Proc1_2m_temp_sensor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=temperature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01/01/01T12:00:00,1.1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01/01/01T12:00:00,1.2)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cxnSp>
        <p:nvCxnSpPr>
          <p:cNvPr id="26" name="Straight Arrow Connector 25"/>
          <p:cNvCxnSpPr>
            <a:stCxn id="20" idx="3"/>
            <a:endCxn id="41" idx="1"/>
          </p:cNvCxnSpPr>
          <p:nvPr/>
        </p:nvCxnSpPr>
        <p:spPr>
          <a:xfrm flipV="1">
            <a:off x="2849563" y="3328988"/>
            <a:ext cx="960437" cy="423862"/>
          </a:xfrm>
          <a:prstGeom prst="straightConnector1">
            <a:avLst/>
          </a:prstGeom>
          <a:ln w="9525" cmpd="sng">
            <a:headEnd type="none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9" idx="0"/>
          </p:cNvCxnSpPr>
          <p:nvPr/>
        </p:nvCxnSpPr>
        <p:spPr>
          <a:xfrm flipV="1">
            <a:off x="2001838" y="2179638"/>
            <a:ext cx="431800" cy="982662"/>
          </a:xfrm>
          <a:prstGeom prst="straightConnector1">
            <a:avLst/>
          </a:prstGeom>
          <a:ln w="9525" cmpd="sng">
            <a:headEnd type="none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810000" y="2667000"/>
            <a:ext cx="1698625" cy="13239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SensorSystem</a:t>
            </a:r>
            <a:endParaRPr lang="en-US" sz="8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Proc1_2m_temp_sensor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=temperature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Result=(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01/01/01T12:00:00,1.1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01/01/01T12:00:00,1.2)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238250" y="3230563"/>
            <a:ext cx="101600" cy="10001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618038" y="1092200"/>
            <a:ext cx="3729037" cy="938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Implications: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 Have to create a unique procedure for each series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 Height is embedded in procedure definition (e.g. </a:t>
            </a:r>
            <a:r>
              <a:rPr lang="en-US" sz="11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sensorsML</a:t>
            </a: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Multiple observations returned for </a:t>
            </a:r>
            <a:r>
              <a:rPr lang="en-US" sz="11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GetObs</a:t>
            </a: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  <a:r>
              <a:rPr lang="en-US" sz="11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foi</a:t>
            </a: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</a:t>
            </a:r>
            <a:r>
              <a:rPr lang="en-US" sz="11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obs_prop</a:t>
            </a: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 type is simple (</a:t>
            </a:r>
            <a:r>
              <a:rPr lang="en-US" sz="11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tvp</a:t>
            </a: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measure)</a:t>
            </a:r>
          </a:p>
        </p:txBody>
      </p:sp>
      <p:sp>
        <p:nvSpPr>
          <p:cNvPr id="47120" name="Rectangle 10"/>
          <p:cNvSpPr>
            <a:spLocks noChangeArrowheads="1"/>
          </p:cNvSpPr>
          <p:nvPr/>
        </p:nvSpPr>
        <p:spPr bwMode="auto">
          <a:xfrm>
            <a:off x="838200" y="304800"/>
            <a:ext cx="4665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/>
            <a:r>
              <a:rPr lang="en-US" sz="2800" b="0">
                <a:solidFill>
                  <a:srgbClr val="000000"/>
                </a:solidFill>
                <a:latin typeface="Calibri" charset="0"/>
              </a:rPr>
              <a:t>Type #1 - Vertical in procedure</a:t>
            </a:r>
          </a:p>
        </p:txBody>
      </p:sp>
    </p:spTree>
    <p:extLst>
      <p:ext uri="{BB962C8B-B14F-4D97-AF65-F5344CB8AC3E}">
        <p14:creationId xmlns:p14="http://schemas.microsoft.com/office/powerpoint/2010/main" val="10669599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29" name="Group 20"/>
          <p:cNvGrpSpPr>
            <a:grpSpLocks/>
          </p:cNvGrpSpPr>
          <p:nvPr/>
        </p:nvGrpSpPr>
        <p:grpSpPr bwMode="auto">
          <a:xfrm>
            <a:off x="280988" y="3367088"/>
            <a:ext cx="2684462" cy="2111375"/>
            <a:chOff x="213032" y="3462679"/>
            <a:chExt cx="2685140" cy="2112171"/>
          </a:xfrm>
        </p:grpSpPr>
        <p:cxnSp>
          <p:nvCxnSpPr>
            <p:cNvPr id="22" name="Curved Connector 21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/>
            <p:cNvCxnSpPr/>
            <p:nvPr/>
          </p:nvCxnSpPr>
          <p:spPr>
            <a:xfrm>
              <a:off x="616359" y="3767594"/>
              <a:ext cx="2038865" cy="740054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/>
            <p:cNvCxnSpPr/>
            <p:nvPr/>
          </p:nvCxnSpPr>
          <p:spPr>
            <a:xfrm>
              <a:off x="359119" y="4223378"/>
              <a:ext cx="2121436" cy="722585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213032" y="3462679"/>
              <a:ext cx="403327" cy="114025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94845" y="4434595"/>
              <a:ext cx="403327" cy="114025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6" name="Straight Connector 5"/>
          <p:cNvCxnSpPr/>
          <p:nvPr/>
        </p:nvCxnSpPr>
        <p:spPr>
          <a:xfrm>
            <a:off x="1425575" y="3459163"/>
            <a:ext cx="0" cy="77152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12875" y="4225925"/>
            <a:ext cx="1063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417638" y="4002088"/>
            <a:ext cx="1063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19238" y="4067175"/>
            <a:ext cx="1335087" cy="246063"/>
          </a:xfrm>
          <a:prstGeom prst="rect">
            <a:avLst/>
          </a:prstGeom>
          <a:solidFill>
            <a:schemeClr val="bg1">
              <a:lumMod val="95000"/>
              <a:alpha val="58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SamplingPoint2 (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x,y,z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9238" y="3859213"/>
            <a:ext cx="1335087" cy="246062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SamplingPoint1 (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x,y,z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" y="1608138"/>
            <a:ext cx="1698625" cy="107791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 (x,y,1)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temperature_sensor</a:t>
            </a:r>
            <a:endParaRPr lang="en-US" sz="800" b="0" dirty="0">
              <a:solidFill>
                <a:srgbClr val="FF0000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=temperature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01/01/01T12:00:00,2.3)</a:t>
            </a:r>
          </a:p>
        </p:txBody>
      </p:sp>
      <p:sp>
        <p:nvSpPr>
          <p:cNvPr id="13" name="Sun 12"/>
          <p:cNvSpPr/>
          <p:nvPr/>
        </p:nvSpPr>
        <p:spPr>
          <a:xfrm>
            <a:off x="850900" y="3062288"/>
            <a:ext cx="203200" cy="203200"/>
          </a:xfrm>
          <a:prstGeom prst="su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67000" y="1600200"/>
            <a:ext cx="1681163" cy="10779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=SamplingPoint2 (x,y,2)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temperature_sensor</a:t>
            </a:r>
            <a:endParaRPr lang="en-US" sz="800" b="0" dirty="0">
              <a:solidFill>
                <a:srgbClr val="FF0000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=temperature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Result=(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01/01/01T12:00:00,1.1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01/01/01T12:00:00,1.2)</a:t>
            </a:r>
          </a:p>
        </p:txBody>
      </p:sp>
      <p:cxnSp>
        <p:nvCxnSpPr>
          <p:cNvPr id="15" name="Straight Arrow Connector 14"/>
          <p:cNvCxnSpPr>
            <a:stCxn id="19" idx="0"/>
            <a:endCxn id="12" idx="2"/>
          </p:cNvCxnSpPr>
          <p:nvPr/>
        </p:nvCxnSpPr>
        <p:spPr>
          <a:xfrm flipV="1">
            <a:off x="1425575" y="2686050"/>
            <a:ext cx="274638" cy="1265238"/>
          </a:xfrm>
          <a:prstGeom prst="straightConnector1">
            <a:avLst/>
          </a:prstGeom>
          <a:ln w="9525" cmpd="sng">
            <a:headEnd type="none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20" idx="5"/>
            <a:endCxn id="14" idx="2"/>
          </p:cNvCxnSpPr>
          <p:nvPr/>
        </p:nvCxnSpPr>
        <p:spPr>
          <a:xfrm flipV="1">
            <a:off x="1460500" y="2678113"/>
            <a:ext cx="2046288" cy="1582737"/>
          </a:xfrm>
          <a:prstGeom prst="straightConnector1">
            <a:avLst/>
          </a:prstGeom>
          <a:ln w="9525" cmpd="sng">
            <a:headEnd type="none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19238" y="3641725"/>
            <a:ext cx="1865312" cy="246063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temperature_sensor</a:t>
            </a:r>
            <a:endParaRPr lang="en-US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90925" y="2927350"/>
            <a:ext cx="1249363" cy="70802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 Group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member=SamplingPoint1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member=SamplingPoint2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74775" y="3951288"/>
            <a:ext cx="101600" cy="10001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74775" y="4175125"/>
            <a:ext cx="101600" cy="1016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1275" y="1636713"/>
            <a:ext cx="3671888" cy="1616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Implications: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Have to handle 3D coordinates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May end up with a lot of sampling points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Groups of samplings points required if the relationship is to be explicitly captured (it’s naturally captured with spatial proximity and same observed property)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Can query explicitly for each sampling point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 structure is simple (</a:t>
            </a:r>
            <a:r>
              <a:rPr lang="en-US" sz="11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tvp</a:t>
            </a: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measure)</a:t>
            </a:r>
          </a:p>
        </p:txBody>
      </p:sp>
      <p:sp>
        <p:nvSpPr>
          <p:cNvPr id="48145" name="Rectangle 1"/>
          <p:cNvSpPr>
            <a:spLocks noChangeArrowheads="1"/>
          </p:cNvSpPr>
          <p:nvPr/>
        </p:nvSpPr>
        <p:spPr bwMode="auto">
          <a:xfrm>
            <a:off x="838200" y="609600"/>
            <a:ext cx="3883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/>
            <a:r>
              <a:rPr lang="en-US" sz="2800" b="0">
                <a:solidFill>
                  <a:srgbClr val="000000"/>
                </a:solidFill>
                <a:latin typeface="Calibri" charset="0"/>
              </a:rPr>
              <a:t>Type #2 – 3D coordinates</a:t>
            </a:r>
          </a:p>
        </p:txBody>
      </p:sp>
    </p:spTree>
    <p:extLst>
      <p:ext uri="{BB962C8B-B14F-4D97-AF65-F5344CB8AC3E}">
        <p14:creationId xmlns:p14="http://schemas.microsoft.com/office/powerpoint/2010/main" val="2235541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3" name="Group 17"/>
          <p:cNvGrpSpPr>
            <a:grpSpLocks/>
          </p:cNvGrpSpPr>
          <p:nvPr/>
        </p:nvGrpSpPr>
        <p:grpSpPr bwMode="auto">
          <a:xfrm>
            <a:off x="234950" y="3482975"/>
            <a:ext cx="2686050" cy="2111375"/>
            <a:chOff x="213032" y="3462679"/>
            <a:chExt cx="2685140" cy="2112171"/>
          </a:xfrm>
        </p:grpSpPr>
        <p:cxnSp>
          <p:nvCxnSpPr>
            <p:cNvPr id="25" name="Curved Connector 24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/>
            <p:nvPr/>
          </p:nvCxnSpPr>
          <p:spPr>
            <a:xfrm>
              <a:off x="617708" y="3767594"/>
              <a:ext cx="2036072" cy="740054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/>
            <p:nvPr/>
          </p:nvCxnSpPr>
          <p:spPr>
            <a:xfrm>
              <a:off x="359033" y="4223379"/>
              <a:ext cx="2121769" cy="722584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213032" y="3462679"/>
              <a:ext cx="404676" cy="114025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493497" y="4434595"/>
              <a:ext cx="404675" cy="114025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1244600" y="3513138"/>
            <a:ext cx="0" cy="7699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233488" y="4279900"/>
            <a:ext cx="1063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236663" y="4054475"/>
            <a:ext cx="1063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95400" y="3444875"/>
            <a:ext cx="1252538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SamplingPoint1 (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x,y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9850" y="4119563"/>
            <a:ext cx="1479550" cy="246062"/>
          </a:xfrm>
          <a:prstGeom prst="rect">
            <a:avLst/>
          </a:prstGeom>
          <a:solidFill>
            <a:schemeClr val="bg1">
              <a:lumMod val="95000"/>
              <a:alpha val="58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temp_sensor</a:t>
            </a:r>
            <a:endParaRPr lang="en-US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39850" y="3913188"/>
            <a:ext cx="1479550" cy="246062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temp_sensor</a:t>
            </a:r>
            <a:endParaRPr lang="en-US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95400" y="1752600"/>
            <a:ext cx="1636713" cy="10779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Parameter=</a:t>
            </a:r>
            <a:r>
              <a:rPr lang="en-US" sz="800" b="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{</a:t>
            </a:r>
            <a:r>
              <a:rPr lang="en-US" sz="800" b="0" dirty="0" err="1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verticalHeight</a:t>
            </a:r>
            <a:r>
              <a:rPr lang="en-US" sz="800" b="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=1m}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temp_sensor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=temperature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01/01/01T12:00:00,2.3)</a:t>
            </a:r>
          </a:p>
        </p:txBody>
      </p:sp>
      <p:sp>
        <p:nvSpPr>
          <p:cNvPr id="23" name="Sun 22"/>
          <p:cNvSpPr/>
          <p:nvPr/>
        </p:nvSpPr>
        <p:spPr>
          <a:xfrm>
            <a:off x="784225" y="3149600"/>
            <a:ext cx="203200" cy="201613"/>
          </a:xfrm>
          <a:prstGeom prst="su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32113" y="1752600"/>
            <a:ext cx="1635125" cy="10779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Parameter=</a:t>
            </a:r>
            <a:r>
              <a:rPr lang="en-US" sz="800" b="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{</a:t>
            </a:r>
            <a:r>
              <a:rPr lang="en-US" sz="800" b="0" dirty="0" err="1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verticalHeight</a:t>
            </a:r>
            <a:r>
              <a:rPr lang="en-US" sz="800" b="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=2m}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temp_sensor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=temperature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Result=(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01/01/01T12:00:00,1.1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01/01/01T12:00:00,1.2)</a:t>
            </a:r>
          </a:p>
        </p:txBody>
      </p:sp>
      <p:cxnSp>
        <p:nvCxnSpPr>
          <p:cNvPr id="26" name="Straight Arrow Connector 25"/>
          <p:cNvCxnSpPr>
            <a:stCxn id="42" idx="3"/>
            <a:endCxn id="22" idx="2"/>
          </p:cNvCxnSpPr>
          <p:nvPr/>
        </p:nvCxnSpPr>
        <p:spPr>
          <a:xfrm flipV="1">
            <a:off x="1209675" y="2830513"/>
            <a:ext cx="903288" cy="768350"/>
          </a:xfrm>
          <a:prstGeom prst="straightConnector1">
            <a:avLst/>
          </a:prstGeom>
          <a:ln w="9525" cmpd="sng">
            <a:headEnd type="none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9" idx="1"/>
            <a:endCxn id="24" idx="2"/>
          </p:cNvCxnSpPr>
          <p:nvPr/>
        </p:nvCxnSpPr>
        <p:spPr>
          <a:xfrm flipV="1">
            <a:off x="1295400" y="2830513"/>
            <a:ext cx="2454275" cy="736600"/>
          </a:xfrm>
          <a:prstGeom prst="straightConnector1">
            <a:avLst/>
          </a:prstGeom>
          <a:ln w="9525" cmpd="sng">
            <a:headEnd type="none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195388" y="3513138"/>
            <a:ext cx="100012" cy="10001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75238" y="1752600"/>
            <a:ext cx="3671887" cy="1277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Implications: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 generic procedure type is used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Cannot query for vertical height natively (without extension)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No site specific procedure information can be provided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Multiple observations returned for a site: client needs to understand why they are different</a:t>
            </a:r>
          </a:p>
        </p:txBody>
      </p:sp>
      <p:sp>
        <p:nvSpPr>
          <p:cNvPr id="49167" name="Rectangle 1"/>
          <p:cNvSpPr>
            <a:spLocks noChangeArrowheads="1"/>
          </p:cNvSpPr>
          <p:nvPr/>
        </p:nvSpPr>
        <p:spPr bwMode="auto">
          <a:xfrm>
            <a:off x="762000" y="609600"/>
            <a:ext cx="49482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/>
            <a:r>
              <a:rPr lang="en-US" sz="2800" b="0">
                <a:solidFill>
                  <a:srgbClr val="000000"/>
                </a:solidFill>
                <a:latin typeface="Calibri" charset="0"/>
              </a:rPr>
              <a:t>Type #3 – Observation metadata</a:t>
            </a:r>
          </a:p>
        </p:txBody>
      </p:sp>
    </p:spTree>
    <p:extLst>
      <p:ext uri="{BB962C8B-B14F-4D97-AF65-F5344CB8AC3E}">
        <p14:creationId xmlns:p14="http://schemas.microsoft.com/office/powerpoint/2010/main" val="10634754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7" name="Group 17"/>
          <p:cNvGrpSpPr>
            <a:grpSpLocks/>
          </p:cNvGrpSpPr>
          <p:nvPr/>
        </p:nvGrpSpPr>
        <p:grpSpPr bwMode="auto">
          <a:xfrm>
            <a:off x="457200" y="3733800"/>
            <a:ext cx="2684463" cy="2112963"/>
            <a:chOff x="213032" y="3462679"/>
            <a:chExt cx="2685140" cy="2112171"/>
          </a:xfrm>
        </p:grpSpPr>
        <p:cxnSp>
          <p:nvCxnSpPr>
            <p:cNvPr id="24" name="Curved Connector 23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/>
            <p:nvPr/>
          </p:nvCxnSpPr>
          <p:spPr>
            <a:xfrm>
              <a:off x="616359" y="3767365"/>
              <a:ext cx="2038864" cy="741085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/>
            <p:cNvCxnSpPr/>
            <p:nvPr/>
          </p:nvCxnSpPr>
          <p:spPr>
            <a:xfrm>
              <a:off x="359119" y="4222807"/>
              <a:ext cx="2121435" cy="723629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213032" y="3462679"/>
              <a:ext cx="403327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494845" y="4433865"/>
              <a:ext cx="403327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1568450" y="3802063"/>
            <a:ext cx="0" cy="7699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55750" y="4568825"/>
            <a:ext cx="1063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560513" y="4343400"/>
            <a:ext cx="1063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17663" y="3733800"/>
            <a:ext cx="1252537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SamplingPoint1 (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x,y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2113" y="4408488"/>
            <a:ext cx="1479550" cy="247650"/>
          </a:xfrm>
          <a:prstGeom prst="rect">
            <a:avLst/>
          </a:prstGeom>
          <a:solidFill>
            <a:schemeClr val="bg1">
              <a:lumMod val="95000"/>
              <a:alpha val="58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temp_sensor</a:t>
            </a:r>
            <a:endParaRPr lang="en-US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62113" y="4202113"/>
            <a:ext cx="1479550" cy="246062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temp_sensor</a:t>
            </a:r>
            <a:endParaRPr lang="en-US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17663" y="1814513"/>
            <a:ext cx="1820862" cy="120015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Composite Observation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temp_sensor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CompoundProperty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01/01/01T12:00:00,2.3,1.0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01/01/01T12:00:00,2.3,2.0 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01/01/01T12:00:00,2.2,1.0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01/01/01T12:00:00,2.2,2.0 )</a:t>
            </a:r>
          </a:p>
        </p:txBody>
      </p:sp>
      <p:sp>
        <p:nvSpPr>
          <p:cNvPr id="23" name="Sun 22"/>
          <p:cNvSpPr/>
          <p:nvPr/>
        </p:nvSpPr>
        <p:spPr>
          <a:xfrm>
            <a:off x="1006475" y="3457575"/>
            <a:ext cx="203200" cy="201613"/>
          </a:xfrm>
          <a:prstGeom prst="su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6" name="Straight Arrow Connector 25"/>
          <p:cNvCxnSpPr>
            <a:stCxn id="20" idx="1"/>
            <a:endCxn id="22" idx="2"/>
          </p:cNvCxnSpPr>
          <p:nvPr/>
        </p:nvCxnSpPr>
        <p:spPr>
          <a:xfrm flipV="1">
            <a:off x="1662113" y="3014663"/>
            <a:ext cx="866775" cy="1311275"/>
          </a:xfrm>
          <a:prstGeom prst="straightConnector1">
            <a:avLst/>
          </a:prstGeom>
          <a:ln w="9525" cmpd="sng">
            <a:headEnd type="none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517650" y="3802063"/>
            <a:ext cx="100013" cy="1016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54300" y="2454275"/>
            <a:ext cx="195263" cy="5080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" name="Straight Arrow Connector 3"/>
          <p:cNvCxnSpPr>
            <a:endCxn id="2" idx="3"/>
          </p:cNvCxnSpPr>
          <p:nvPr/>
        </p:nvCxnSpPr>
        <p:spPr>
          <a:xfrm flipH="1">
            <a:off x="2849563" y="2371725"/>
            <a:ext cx="712787" cy="3365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86163" y="2247900"/>
            <a:ext cx="911225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Vertical offset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2875" y="2849563"/>
            <a:ext cx="3673475" cy="1276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Implications: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 generic procedure type is used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Querying for vertical height would require a result filter (vertical height not first class)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No site specific procedure information can be provided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Single observation returned for site.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 type is more complex (</a:t>
            </a:r>
            <a:r>
              <a:rPr lang="en-US" sz="11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tvp</a:t>
            </a:r>
            <a:r>
              <a:rPr lang="en-US" sz="11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measure, height) </a:t>
            </a:r>
          </a:p>
        </p:txBody>
      </p:sp>
      <p:sp>
        <p:nvSpPr>
          <p:cNvPr id="50192" name="Rectangle 2"/>
          <p:cNvSpPr>
            <a:spLocks noChangeArrowheads="1"/>
          </p:cNvSpPr>
          <p:nvPr/>
        </p:nvSpPr>
        <p:spPr bwMode="auto">
          <a:xfrm>
            <a:off x="685800" y="533400"/>
            <a:ext cx="46212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/>
            <a:r>
              <a:rPr lang="en-US" sz="2800" b="0">
                <a:solidFill>
                  <a:srgbClr val="000000"/>
                </a:solidFill>
                <a:latin typeface="Calibri" charset="0"/>
              </a:rPr>
              <a:t>Type #4 – Height as timeseries</a:t>
            </a:r>
          </a:p>
        </p:txBody>
      </p:sp>
    </p:spTree>
    <p:extLst>
      <p:ext uri="{BB962C8B-B14F-4D97-AF65-F5344CB8AC3E}">
        <p14:creationId xmlns:p14="http://schemas.microsoft.com/office/powerpoint/2010/main" val="661950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1" name="Group 33"/>
          <p:cNvGrpSpPr>
            <a:grpSpLocks/>
          </p:cNvGrpSpPr>
          <p:nvPr/>
        </p:nvGrpSpPr>
        <p:grpSpPr bwMode="auto">
          <a:xfrm>
            <a:off x="1739900" y="2424113"/>
            <a:ext cx="2686050" cy="2112962"/>
            <a:chOff x="213032" y="3462679"/>
            <a:chExt cx="2685140" cy="2112171"/>
          </a:xfrm>
        </p:grpSpPr>
        <p:cxnSp>
          <p:nvCxnSpPr>
            <p:cNvPr id="35" name="Curved Connector 34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/>
            <p:cNvCxnSpPr/>
            <p:nvPr/>
          </p:nvCxnSpPr>
          <p:spPr>
            <a:xfrm>
              <a:off x="617708" y="3767365"/>
              <a:ext cx="2036072" cy="741084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7"/>
            <p:cNvCxnSpPr/>
            <p:nvPr/>
          </p:nvCxnSpPr>
          <p:spPr>
            <a:xfrm>
              <a:off x="359033" y="4222806"/>
              <a:ext cx="2121769" cy="723629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213032" y="3462679"/>
              <a:ext cx="404676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93497" y="4433865"/>
              <a:ext cx="404675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Sun 5"/>
          <p:cNvSpPr/>
          <p:nvPr/>
        </p:nvSpPr>
        <p:spPr>
          <a:xfrm>
            <a:off x="2384425" y="2466975"/>
            <a:ext cx="201613" cy="201613"/>
          </a:xfrm>
          <a:prstGeom prst="su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Oval 6"/>
          <p:cNvSpPr/>
          <p:nvPr/>
        </p:nvSpPr>
        <p:spPr>
          <a:xfrm>
            <a:off x="3128963" y="3038475"/>
            <a:ext cx="101600" cy="10001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2803525" y="3405188"/>
            <a:ext cx="100013" cy="1016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70238" y="2854325"/>
            <a:ext cx="13398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SamplingPoint1 (x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,y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 Right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2575" y="3486150"/>
            <a:ext cx="133826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SamplingPoint2 (x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,y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 Left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63" y="1787525"/>
            <a:ext cx="1179512" cy="55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SamplingCollection</a:t>
            </a:r>
            <a:endParaRPr lang="en-US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 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 SampingPoint2</a:t>
            </a:r>
          </a:p>
        </p:txBody>
      </p:sp>
      <p:sp>
        <p:nvSpPr>
          <p:cNvPr id="14" name="Sun 13"/>
          <p:cNvSpPr/>
          <p:nvPr/>
        </p:nvSpPr>
        <p:spPr>
          <a:xfrm>
            <a:off x="6080125" y="1536700"/>
            <a:ext cx="201613" cy="203200"/>
          </a:xfrm>
          <a:prstGeom prst="su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503988" y="2676525"/>
            <a:ext cx="100012" cy="10001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10200" y="2814638"/>
            <a:ext cx="133985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SamplingPoint1 (x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,y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4188" y="3479800"/>
            <a:ext cx="1885950" cy="14462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level_sensor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</a:t>
            </a: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=gage height, stream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CompositeTimeseries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01/01/01T12:00:00,2.3, Left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01/01/01T12:00:00,2.3, Right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15113" y="4087813"/>
            <a:ext cx="290512" cy="46831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6905625" y="3965575"/>
            <a:ext cx="617538" cy="3365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46975" y="3841750"/>
            <a:ext cx="954088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Bank identifier</a:t>
            </a:r>
          </a:p>
        </p:txBody>
      </p:sp>
      <p:cxnSp>
        <p:nvCxnSpPr>
          <p:cNvPr id="26" name="Straight Arrow Connector 25"/>
          <p:cNvCxnSpPr>
            <a:stCxn id="17" idx="2"/>
            <a:endCxn id="21" idx="0"/>
          </p:cNvCxnSpPr>
          <p:nvPr/>
        </p:nvCxnSpPr>
        <p:spPr>
          <a:xfrm>
            <a:off x="6080125" y="3060700"/>
            <a:ext cx="427038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935788" y="2227263"/>
            <a:ext cx="101600" cy="10001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0713" y="1989138"/>
            <a:ext cx="11350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Unknown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65275" y="4129088"/>
            <a:ext cx="1817688" cy="95408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level_sensor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=gage height, stream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01/01/01T14:00:00,2.4)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3525" y="1295400"/>
            <a:ext cx="1817688" cy="95408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level_sensor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gage height, stream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01/01/01T14:00:00,2.4)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401763" y="2454275"/>
            <a:ext cx="287337" cy="10525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1" idx="3"/>
          </p:cNvCxnSpPr>
          <p:nvPr/>
        </p:nvCxnSpPr>
        <p:spPr>
          <a:xfrm>
            <a:off x="2124075" y="2065338"/>
            <a:ext cx="1106488" cy="7889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1" idx="0"/>
          </p:cNvCxnSpPr>
          <p:nvPr/>
        </p:nvCxnSpPr>
        <p:spPr>
          <a:xfrm>
            <a:off x="1866900" y="3886200"/>
            <a:ext cx="608013" cy="2428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2" idx="2"/>
          </p:cNvCxnSpPr>
          <p:nvPr/>
        </p:nvCxnSpPr>
        <p:spPr>
          <a:xfrm flipV="1">
            <a:off x="3705225" y="2249488"/>
            <a:ext cx="7938" cy="6048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087938" y="1123950"/>
            <a:ext cx="3586162" cy="4068763"/>
          </a:xfrm>
          <a:prstGeom prst="rect">
            <a:avLst/>
          </a:prstGeom>
          <a:noFill/>
          <a:ln w="6350" cmpd="sng">
            <a:solidFill>
              <a:srgbClr val="7F7F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12788" y="1123950"/>
            <a:ext cx="3986212" cy="4068763"/>
          </a:xfrm>
          <a:prstGeom prst="rect">
            <a:avLst/>
          </a:prstGeom>
          <a:noFill/>
          <a:ln w="6350" cmpd="sng">
            <a:solidFill>
              <a:srgbClr val="7F7F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12788" y="5357813"/>
            <a:ext cx="7446962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Same example holds for upstream/downstream sensors where they are both part of the same ‘site’ and coordinates may not be known. 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51227" name="Group 41"/>
          <p:cNvGrpSpPr>
            <a:grpSpLocks/>
          </p:cNvGrpSpPr>
          <p:nvPr/>
        </p:nvGrpSpPr>
        <p:grpSpPr bwMode="auto">
          <a:xfrm>
            <a:off x="5453063" y="1585913"/>
            <a:ext cx="2684462" cy="2112962"/>
            <a:chOff x="213032" y="3462679"/>
            <a:chExt cx="2685140" cy="2112171"/>
          </a:xfrm>
        </p:grpSpPr>
        <p:cxnSp>
          <p:nvCxnSpPr>
            <p:cNvPr id="44" name="Curved Connector 43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urved Connector 44"/>
            <p:cNvCxnSpPr/>
            <p:nvPr/>
          </p:nvCxnSpPr>
          <p:spPr>
            <a:xfrm>
              <a:off x="616359" y="3767365"/>
              <a:ext cx="2038865" cy="741084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urved Connector 45"/>
            <p:cNvCxnSpPr/>
            <p:nvPr/>
          </p:nvCxnSpPr>
          <p:spPr>
            <a:xfrm>
              <a:off x="359119" y="4222806"/>
              <a:ext cx="2121436" cy="723629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213032" y="3462679"/>
              <a:ext cx="403327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494845" y="4433865"/>
              <a:ext cx="403327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712788" y="490538"/>
            <a:ext cx="49561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Measuring on either side of river bank</a:t>
            </a:r>
          </a:p>
        </p:txBody>
      </p:sp>
    </p:spTree>
    <p:extLst>
      <p:ext uri="{BB962C8B-B14F-4D97-AF65-F5344CB8AC3E}">
        <p14:creationId xmlns:p14="http://schemas.microsoft.com/office/powerpoint/2010/main" val="40466035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Calibri" charset="0"/>
              </a:rPr>
              <a:t>Integrating with Hydrologic Features</a:t>
            </a:r>
            <a:endParaRPr lang="en-US" dirty="0"/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MS PGothic" charset="0"/>
              </a:rPr>
              <a:t>“Sampled Feature” is not always obvious</a:t>
            </a:r>
          </a:p>
          <a:p>
            <a:pPr eaLnBrk="1" hangingPunct="1"/>
            <a:endParaRPr lang="en-US">
              <a:latin typeface="Calibri" charset="0"/>
              <a:ea typeface="MS PGothic" charset="0"/>
            </a:endParaRPr>
          </a:p>
          <a:p>
            <a:pPr eaLnBrk="1" hangingPunct="1"/>
            <a:endParaRPr lang="en-US">
              <a:latin typeface="Calibri" charset="0"/>
              <a:ea typeface="MS PGothic" charset="0"/>
            </a:endParaRPr>
          </a:p>
          <a:p>
            <a:pPr eaLnBrk="1" hangingPunct="1"/>
            <a:r>
              <a:rPr lang="en-US">
                <a:latin typeface="Calibri" charset="0"/>
                <a:ea typeface="MS PGothic" charset="0"/>
              </a:rPr>
              <a:t>Use cases of real locations, raw data streams processing and delivered data products</a:t>
            </a:r>
          </a:p>
          <a:p>
            <a:pPr lvl="1" eaLnBrk="1" hangingPunct="1"/>
            <a:r>
              <a:rPr lang="en-US">
                <a:latin typeface="Calibri" charset="0"/>
                <a:ea typeface="MS PGothic" charset="0"/>
              </a:rPr>
              <a:t>Use domain scientists to extract implied information to sampled features.</a:t>
            </a:r>
          </a:p>
        </p:txBody>
      </p:sp>
    </p:spTree>
    <p:extLst>
      <p:ext uri="{BB962C8B-B14F-4D97-AF65-F5344CB8AC3E}">
        <p14:creationId xmlns:p14="http://schemas.microsoft.com/office/powerpoint/2010/main" val="6338381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49" name="Group 33"/>
          <p:cNvGrpSpPr>
            <a:grpSpLocks/>
          </p:cNvGrpSpPr>
          <p:nvPr/>
        </p:nvGrpSpPr>
        <p:grpSpPr bwMode="auto">
          <a:xfrm>
            <a:off x="3541713" y="2366963"/>
            <a:ext cx="2686050" cy="2112962"/>
            <a:chOff x="213032" y="3462679"/>
            <a:chExt cx="2685140" cy="2112171"/>
          </a:xfrm>
        </p:grpSpPr>
        <p:cxnSp>
          <p:nvCxnSpPr>
            <p:cNvPr id="35" name="Curved Connector 34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/>
            <p:cNvCxnSpPr/>
            <p:nvPr/>
          </p:nvCxnSpPr>
          <p:spPr>
            <a:xfrm>
              <a:off x="617707" y="3767365"/>
              <a:ext cx="2036073" cy="741084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7"/>
            <p:cNvCxnSpPr/>
            <p:nvPr/>
          </p:nvCxnSpPr>
          <p:spPr>
            <a:xfrm>
              <a:off x="359033" y="4222806"/>
              <a:ext cx="2121768" cy="723629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213032" y="3462679"/>
              <a:ext cx="404675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93496" y="4433865"/>
              <a:ext cx="404676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Sun 5"/>
          <p:cNvSpPr/>
          <p:nvPr/>
        </p:nvSpPr>
        <p:spPr>
          <a:xfrm>
            <a:off x="4186238" y="2409825"/>
            <a:ext cx="201612" cy="201613"/>
          </a:xfrm>
          <a:prstGeom prst="su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0" y="3429000"/>
            <a:ext cx="133826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SamplingPoint1 (x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,y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8413" y="2609850"/>
            <a:ext cx="941387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</a:rPr>
              <a:t>Sensor1 (x</a:t>
            </a:r>
            <a:r>
              <a:rPr lang="en-US" b="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</a:rPr>
              <a:t>,y</a:t>
            </a:r>
            <a:r>
              <a:rPr lang="en-US" b="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</a:rPr>
              <a:t>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-Upstream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7088" y="4071938"/>
            <a:ext cx="1817687" cy="107791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</a:rPr>
              <a:t>Parameter=</a:t>
            </a:r>
            <a:r>
              <a:rPr lang="en-US" sz="800" b="0" dirty="0">
                <a:solidFill>
                  <a:srgbClr val="FF0000"/>
                </a:solidFill>
                <a:latin typeface="Calibri"/>
              </a:rPr>
              <a:t>{downstream}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level_sensor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=gage height, stream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01/01/01T14:00:00,2.4)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5338" y="1238250"/>
            <a:ext cx="1625600" cy="10779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</a:rPr>
              <a:t>Parameter=</a:t>
            </a:r>
            <a:r>
              <a:rPr lang="en-US" sz="800" b="0" dirty="0">
                <a:solidFill>
                  <a:srgbClr val="FF0000"/>
                </a:solidFill>
                <a:latin typeface="Calibri"/>
              </a:rPr>
              <a:t>{upstream}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level_sensor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=stage ,stream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01/01/01T14:00:00,2.4)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4876800" y="3657600"/>
            <a:ext cx="277813" cy="2905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2" idx="2"/>
          </p:cNvCxnSpPr>
          <p:nvPr/>
        </p:nvCxnSpPr>
        <p:spPr>
          <a:xfrm flipH="1" flipV="1">
            <a:off x="5418138" y="2316163"/>
            <a:ext cx="117475" cy="3698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514600" y="1066800"/>
            <a:ext cx="3986213" cy="4068763"/>
          </a:xfrm>
          <a:prstGeom prst="rect">
            <a:avLst/>
          </a:prstGeom>
          <a:noFill/>
          <a:ln w="6350" cmpd="sng">
            <a:solidFill>
              <a:srgbClr val="7F7F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12788" y="5357813"/>
            <a:ext cx="74469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Same sampling feature, but multiple sensors may be observing a different sampled feature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2788" y="490538"/>
            <a:ext cx="4960937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Measuring upstream and downstream</a:t>
            </a:r>
          </a:p>
        </p:txBody>
      </p:sp>
      <p:sp>
        <p:nvSpPr>
          <p:cNvPr id="42" name="Rectangle 41"/>
          <p:cNvSpPr/>
          <p:nvPr/>
        </p:nvSpPr>
        <p:spPr>
          <a:xfrm rot="19161722">
            <a:off x="4606925" y="3222625"/>
            <a:ext cx="533400" cy="152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Weir</a:t>
            </a:r>
          </a:p>
        </p:txBody>
      </p:sp>
      <p:cxnSp>
        <p:nvCxnSpPr>
          <p:cNvPr id="52" name="Straight Arrow Connector 51"/>
          <p:cNvCxnSpPr>
            <a:stCxn id="30" idx="1"/>
          </p:cNvCxnSpPr>
          <p:nvPr/>
        </p:nvCxnSpPr>
        <p:spPr>
          <a:xfrm flipH="1">
            <a:off x="4621213" y="2809875"/>
            <a:ext cx="457200" cy="485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953000" y="3962400"/>
            <a:ext cx="93186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sensor2 (x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,y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-downstream</a:t>
            </a:r>
          </a:p>
        </p:txBody>
      </p:sp>
      <p:sp>
        <p:nvSpPr>
          <p:cNvPr id="54" name="Oval 53"/>
          <p:cNvSpPr/>
          <p:nvPr/>
        </p:nvSpPr>
        <p:spPr>
          <a:xfrm>
            <a:off x="4546600" y="3276600"/>
            <a:ext cx="101600" cy="10001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4632325" y="3429000"/>
            <a:ext cx="92075" cy="10001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4800600" y="3557588"/>
            <a:ext cx="101600" cy="10001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8761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3" name="Group 33"/>
          <p:cNvGrpSpPr>
            <a:grpSpLocks/>
          </p:cNvGrpSpPr>
          <p:nvPr/>
        </p:nvGrpSpPr>
        <p:grpSpPr bwMode="auto">
          <a:xfrm>
            <a:off x="1636713" y="2522538"/>
            <a:ext cx="2686050" cy="2112962"/>
            <a:chOff x="213032" y="3462679"/>
            <a:chExt cx="2685140" cy="2112171"/>
          </a:xfrm>
        </p:grpSpPr>
        <p:cxnSp>
          <p:nvCxnSpPr>
            <p:cNvPr id="35" name="Curved Connector 34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/>
            <p:cNvCxnSpPr/>
            <p:nvPr/>
          </p:nvCxnSpPr>
          <p:spPr>
            <a:xfrm>
              <a:off x="617707" y="3767365"/>
              <a:ext cx="2036073" cy="741084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7"/>
            <p:cNvCxnSpPr/>
            <p:nvPr/>
          </p:nvCxnSpPr>
          <p:spPr>
            <a:xfrm>
              <a:off x="359033" y="4222806"/>
              <a:ext cx="2121768" cy="723629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213032" y="3462679"/>
              <a:ext cx="404675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93496" y="4433865"/>
              <a:ext cx="404676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143000" y="3429000"/>
            <a:ext cx="133826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SamplingPoint1 (x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,y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10000"/>
            <a:ext cx="1852613" cy="120015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Dsscharge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 sensor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InterpoloationType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=</a:t>
            </a: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Preceeding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 Average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</a:rPr>
              <a:t>Period=15 min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=</a:t>
            </a: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Discharrge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, stream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01/01/01T14:00:00,2.4)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50975"/>
            <a:ext cx="1852613" cy="120015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level_sensor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InterpoloationType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Preceeding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Average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Period=15 min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=Gauge 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Hieight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01/01/01T14:00:00,2.4)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1981200" y="36576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10" idx="0"/>
          </p:cNvCxnSpPr>
          <p:nvPr/>
        </p:nvCxnSpPr>
        <p:spPr>
          <a:xfrm>
            <a:off x="1066800" y="2441575"/>
            <a:ext cx="746125" cy="987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09600" y="990600"/>
            <a:ext cx="3986213" cy="4068763"/>
          </a:xfrm>
          <a:prstGeom prst="rect">
            <a:avLst/>
          </a:prstGeom>
          <a:noFill/>
          <a:ln w="6350" cmpd="sng">
            <a:solidFill>
              <a:srgbClr val="7F7F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457200"/>
            <a:ext cx="31924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Tidally influence filtered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2209800" y="2441575"/>
            <a:ext cx="838200" cy="987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727325" y="3584575"/>
            <a:ext cx="92075" cy="10001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Sun 23"/>
          <p:cNvSpPr/>
          <p:nvPr/>
        </p:nvSpPr>
        <p:spPr>
          <a:xfrm>
            <a:off x="6626225" y="1403350"/>
            <a:ext cx="201613" cy="203200"/>
          </a:xfrm>
          <a:prstGeom prst="su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050088" y="2543175"/>
            <a:ext cx="100012" cy="10001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91200" y="2514600"/>
            <a:ext cx="1339850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SamplingPoint1 (x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,y</a:t>
            </a:r>
            <a:r>
              <a:rPr lang="en-US" b="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505200"/>
            <a:ext cx="2066925" cy="14462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Procedure=72137 Discharge, 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ltide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ftrd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(Mean)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IntepolationType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=Succeeding  Average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Period=1 day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</a:t>
            </a: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=Discharge,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CompositeTimeseries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01/01/01T12:00:00,2.3,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01/01/01T12:00:00,2.3,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6553200" y="2743200"/>
            <a:ext cx="15240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634038" y="990600"/>
            <a:ext cx="3586162" cy="4068763"/>
          </a:xfrm>
          <a:prstGeom prst="rect">
            <a:avLst/>
          </a:prstGeom>
          <a:noFill/>
          <a:ln w="6350" cmpd="sng">
            <a:solidFill>
              <a:srgbClr val="7F7F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4289" name="Group 41"/>
          <p:cNvGrpSpPr>
            <a:grpSpLocks/>
          </p:cNvGrpSpPr>
          <p:nvPr/>
        </p:nvGrpSpPr>
        <p:grpSpPr bwMode="auto">
          <a:xfrm>
            <a:off x="5999163" y="1452563"/>
            <a:ext cx="2684462" cy="2112962"/>
            <a:chOff x="213032" y="3462679"/>
            <a:chExt cx="2685140" cy="2112171"/>
          </a:xfrm>
        </p:grpSpPr>
        <p:cxnSp>
          <p:nvCxnSpPr>
            <p:cNvPr id="47" name="Curved Connector 46"/>
            <p:cNvCxnSpPr/>
            <p:nvPr/>
          </p:nvCxnSpPr>
          <p:spPr>
            <a:xfrm>
              <a:off x="477432" y="4012849"/>
              <a:ext cx="2121575" cy="723753"/>
            </a:xfrm>
            <a:prstGeom prst="curvedConnector3">
              <a:avLst>
                <a:gd name="adj1" fmla="val 50000"/>
              </a:avLst>
            </a:prstGeom>
            <a:ln w="444500" cap="flat" cmpd="sng">
              <a:gradFill flip="none" rotWithShape="1">
                <a:gsLst>
                  <a:gs pos="0">
                    <a:schemeClr val="accent1">
                      <a:alpha val="49000"/>
                    </a:schemeClr>
                  </a:gs>
                  <a:gs pos="100000">
                    <a:prstClr val="white"/>
                  </a:gs>
                </a:gsLst>
                <a:path path="shape">
                  <a:fillToRect l="50000" t="50000" r="50000" b="50000"/>
                </a:path>
                <a:tileRect/>
              </a:gradFill>
              <a:prstDash val="solid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urved Connector 47"/>
            <p:cNvCxnSpPr/>
            <p:nvPr/>
          </p:nvCxnSpPr>
          <p:spPr>
            <a:xfrm>
              <a:off x="616359" y="3767365"/>
              <a:ext cx="2038865" cy="741084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urved Connector 50"/>
            <p:cNvCxnSpPr/>
            <p:nvPr/>
          </p:nvCxnSpPr>
          <p:spPr>
            <a:xfrm>
              <a:off x="359119" y="4222806"/>
              <a:ext cx="2121436" cy="723629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213032" y="3462679"/>
              <a:ext cx="403327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494845" y="4433865"/>
              <a:ext cx="403327" cy="1140985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724400" y="1143000"/>
            <a:ext cx="76200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Processing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14600" y="1450975"/>
            <a:ext cx="1852613" cy="120015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Observation 2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FeatureOfInterest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=SamplingPoint1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Procedure=Velocity  sensor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InterpoloationType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=</a:t>
            </a: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Preceeding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 Average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</a:rPr>
              <a:t>Period=15 min</a:t>
            </a:r>
            <a:endParaRPr lang="en-US" sz="800" b="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ObservedProperty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=</a:t>
            </a:r>
            <a:r>
              <a:rPr lang="en-US" sz="800" b="0" dirty="0" err="1">
                <a:solidFill>
                  <a:prstClr val="black"/>
                </a:solidFill>
                <a:latin typeface="Calibri"/>
              </a:rPr>
              <a:t>Veliocity</a:t>
            </a:r>
            <a:r>
              <a:rPr lang="en-US" sz="800" b="0" dirty="0">
                <a:solidFill>
                  <a:prstClr val="black"/>
                </a:solidFill>
                <a:latin typeface="Calibri"/>
              </a:rPr>
              <a:t>, stream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Result=</a:t>
            </a:r>
            <a:r>
              <a:rPr lang="en-US" sz="800" b="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MeasureTimeseries</a:t>
            </a: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(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01/01/01T12:00:00,2.3</a:t>
            </a:r>
          </a:p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01/01/01T14:00:00,2.4)</a:t>
            </a:r>
          </a:p>
        </p:txBody>
      </p:sp>
      <p:sp>
        <p:nvSpPr>
          <p:cNvPr id="54292" name="TextBox 15"/>
          <p:cNvSpPr txBox="1">
            <a:spLocks noChangeArrowheads="1"/>
          </p:cNvSpPr>
          <p:nvPr/>
        </p:nvSpPr>
        <p:spPr bwMode="auto">
          <a:xfrm>
            <a:off x="5791200" y="1066800"/>
            <a:ext cx="22098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/>
              <a:t>Processed - Daily Average</a:t>
            </a:r>
          </a:p>
        </p:txBody>
      </p:sp>
      <p:sp>
        <p:nvSpPr>
          <p:cNvPr id="54293" name="TextBox 58"/>
          <p:cNvSpPr txBox="1">
            <a:spLocks noChangeArrowheads="1"/>
          </p:cNvSpPr>
          <p:nvPr/>
        </p:nvSpPr>
        <p:spPr bwMode="auto">
          <a:xfrm>
            <a:off x="762000" y="1049338"/>
            <a:ext cx="31242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/>
              <a:t>Raw Data – 15 minute average</a:t>
            </a:r>
          </a:p>
        </p:txBody>
      </p:sp>
    </p:spTree>
    <p:extLst>
      <p:ext uri="{BB962C8B-B14F-4D97-AF65-F5344CB8AC3E}">
        <p14:creationId xmlns:p14="http://schemas.microsoft.com/office/powerpoint/2010/main" val="8411560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ecsiro_powerpoint_070705">
  <a:themeElements>
    <a:clrScheme name="onecsiro_powerpoint_070705 13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0099CC"/>
      </a:accent1>
      <a:accent2>
        <a:srgbClr val="BED600"/>
      </a:accent2>
      <a:accent3>
        <a:srgbClr val="FFFFFF"/>
      </a:accent3>
      <a:accent4>
        <a:srgbClr val="000000"/>
      </a:accent4>
      <a:accent5>
        <a:srgbClr val="AACAE2"/>
      </a:accent5>
      <a:accent6>
        <a:srgbClr val="ACC200"/>
      </a:accent6>
      <a:hlink>
        <a:srgbClr val="CB5056"/>
      </a:hlink>
      <a:folHlink>
        <a:srgbClr val="EBAB00"/>
      </a:folHlink>
    </a:clrScheme>
    <a:fontScheme name="onecsiro_powerpoint_070705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necsiro_powerpoint_07070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ecsiro_powerpoint_07070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ecsiro_powerpoint_0707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ecsiro_powerpoint_07070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ecsiro_powerpoint_07070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ecsiro_powerpoint_07070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ecsiro_powerpoint_07070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ecsiro_powerpoint_07070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ecsiro_powerpoint_07070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ecsiro_powerpoint_07070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ecsiro_powerpoint_07070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ecsiro_powerpoint_07070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ecsiro_powerpoint_070705 13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0099CC"/>
        </a:accent1>
        <a:accent2>
          <a:srgbClr val="BED600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ACC200"/>
        </a:accent6>
        <a:hlink>
          <a:srgbClr val="CB5056"/>
        </a:hlink>
        <a:folHlink>
          <a:srgbClr val="EBAB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0080114_WfHC_PowerPoint">
  <a:themeElements>
    <a:clrScheme name="20080114_WfHC_PowerPoint 13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0099CC"/>
      </a:accent1>
      <a:accent2>
        <a:srgbClr val="BED600"/>
      </a:accent2>
      <a:accent3>
        <a:srgbClr val="FFFFFF"/>
      </a:accent3>
      <a:accent4>
        <a:srgbClr val="000000"/>
      </a:accent4>
      <a:accent5>
        <a:srgbClr val="AACAE2"/>
      </a:accent5>
      <a:accent6>
        <a:srgbClr val="ACC200"/>
      </a:accent6>
      <a:hlink>
        <a:srgbClr val="CB5056"/>
      </a:hlink>
      <a:folHlink>
        <a:srgbClr val="EBAB00"/>
      </a:folHlink>
    </a:clrScheme>
    <a:fontScheme name="20080114_WfHC_PowerPoin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0080114_WfHC_PowerPoi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80114_WfHC_PowerPoin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80114_WfHC_PowerPoin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80114_WfHC_PowerPoin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80114_WfHC_PowerPoin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80114_WfHC_PowerPoin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80114_WfHC_PowerPoin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80114_WfHC_PowerPoin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80114_WfHC_PowerPoin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80114_WfHC_PowerPoin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80114_WfHC_PowerPoin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80114_WfHC_PowerPoin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80114_WfHC_PowerPoint 13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0099CC"/>
        </a:accent1>
        <a:accent2>
          <a:srgbClr val="BED600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ACC200"/>
        </a:accent6>
        <a:hlink>
          <a:srgbClr val="CB5056"/>
        </a:hlink>
        <a:folHlink>
          <a:srgbClr val="EBAB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20290</TotalTime>
  <Words>2585</Words>
  <Application>Microsoft Macintosh PowerPoint</Application>
  <PresentationFormat>On-screen Show (4:3)</PresentationFormat>
  <Paragraphs>549</Paragraphs>
  <Slides>40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Office Theme</vt:lpstr>
      <vt:lpstr>onecsiro_powerpoint_070705</vt:lpstr>
      <vt:lpstr>20080114_WfHC_PowerPoint</vt:lpstr>
      <vt:lpstr>WaterML 2.0 Overview &amp; discussion</vt:lpstr>
      <vt:lpstr>What I’ll cover</vt:lpstr>
      <vt:lpstr>The problem</vt:lpstr>
      <vt:lpstr>A brief history</vt:lpstr>
      <vt:lpstr>Harmonization</vt:lpstr>
      <vt:lpstr>PowerPoint Presentation</vt:lpstr>
      <vt:lpstr>Requirements &amp; constraints</vt:lpstr>
      <vt:lpstr>Relevant standards</vt:lpstr>
      <vt:lpstr>OGC’s Sensor Web</vt:lpstr>
      <vt:lpstr>SWE version 1.0</vt:lpstr>
      <vt:lpstr>OGC (SWE) standards evolution</vt:lpstr>
      <vt:lpstr>Common views on data</vt:lpstr>
      <vt:lpstr>Observations &amp; Measurements</vt:lpstr>
      <vt:lpstr>Where do time series fit?</vt:lpstr>
      <vt:lpstr>WaterML 2.0 overview</vt:lpstr>
      <vt:lpstr>WaterML 2.0 overview</vt:lpstr>
      <vt:lpstr>Observation (O&amp;M)</vt:lpstr>
      <vt:lpstr>Observation types</vt:lpstr>
      <vt:lpstr>Coverage Observations</vt:lpstr>
      <vt:lpstr>XML structure</vt:lpstr>
      <vt:lpstr>Measurement timeseries</vt:lpstr>
      <vt:lpstr>Timeseries metadata</vt:lpstr>
      <vt:lpstr>Sampling features</vt:lpstr>
      <vt:lpstr>Example sampling features</vt:lpstr>
      <vt:lpstr>PowerPoint Presentation</vt:lpstr>
      <vt:lpstr>Web Services</vt:lpstr>
      <vt:lpstr>Specificity</vt:lpstr>
      <vt:lpstr>Evolution</vt:lpstr>
      <vt:lpstr>Future work</vt:lpstr>
      <vt:lpstr>Community 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Integrating with Hydrologic Features</vt:lpstr>
      <vt:lpstr>PowerPoint Presentation</vt:lpstr>
      <vt:lpstr>PowerPoint Presentation</vt:lpstr>
    </vt:vector>
  </TitlesOfParts>
  <Company>CSIRO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Taylor</dc:creator>
  <cp:lastModifiedBy>Peter Taylor</cp:lastModifiedBy>
  <cp:revision>100</cp:revision>
  <dcterms:created xsi:type="dcterms:W3CDTF">2011-11-16T22:12:57Z</dcterms:created>
  <dcterms:modified xsi:type="dcterms:W3CDTF">2012-02-01T02:52:56Z</dcterms:modified>
</cp:coreProperties>
</file>