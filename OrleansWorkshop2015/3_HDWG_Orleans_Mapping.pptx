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4" r:id="rId1"/>
  </p:sldMasterIdLst>
  <p:notesMasterIdLst>
    <p:notesMasterId r:id="rId48"/>
  </p:notesMasterIdLst>
  <p:handoutMasterIdLst>
    <p:handoutMasterId r:id="rId49"/>
  </p:handoutMasterIdLst>
  <p:sldIdLst>
    <p:sldId id="256" r:id="rId2"/>
    <p:sldId id="508" r:id="rId3"/>
    <p:sldId id="470" r:id="rId4"/>
    <p:sldId id="471" r:id="rId5"/>
    <p:sldId id="442" r:id="rId6"/>
    <p:sldId id="464" r:id="rId7"/>
    <p:sldId id="421" r:id="rId8"/>
    <p:sldId id="424" r:id="rId9"/>
    <p:sldId id="487" r:id="rId10"/>
    <p:sldId id="434" r:id="rId11"/>
    <p:sldId id="459" r:id="rId12"/>
    <p:sldId id="457" r:id="rId13"/>
    <p:sldId id="465" r:id="rId14"/>
    <p:sldId id="496" r:id="rId15"/>
    <p:sldId id="497" r:id="rId16"/>
    <p:sldId id="466" r:id="rId17"/>
    <p:sldId id="383" r:id="rId18"/>
    <p:sldId id="384" r:id="rId19"/>
    <p:sldId id="385" r:id="rId20"/>
    <p:sldId id="474" r:id="rId21"/>
    <p:sldId id="481" r:id="rId22"/>
    <p:sldId id="475" r:id="rId23"/>
    <p:sldId id="482" r:id="rId24"/>
    <p:sldId id="483" r:id="rId25"/>
    <p:sldId id="484" r:id="rId26"/>
    <p:sldId id="485" r:id="rId27"/>
    <p:sldId id="504" r:id="rId28"/>
    <p:sldId id="505" r:id="rId29"/>
    <p:sldId id="501" r:id="rId30"/>
    <p:sldId id="503" r:id="rId31"/>
    <p:sldId id="489" r:id="rId32"/>
    <p:sldId id="495" r:id="rId33"/>
    <p:sldId id="493" r:id="rId34"/>
    <p:sldId id="502" r:id="rId35"/>
    <p:sldId id="431" r:id="rId36"/>
    <p:sldId id="486" r:id="rId37"/>
    <p:sldId id="500" r:id="rId38"/>
    <p:sldId id="473" r:id="rId39"/>
    <p:sldId id="494" r:id="rId40"/>
    <p:sldId id="472" r:id="rId41"/>
    <p:sldId id="468" r:id="rId42"/>
    <p:sldId id="469" r:id="rId43"/>
    <p:sldId id="498" r:id="rId44"/>
    <p:sldId id="507" r:id="rId45"/>
    <p:sldId id="499" r:id="rId46"/>
    <p:sldId id="325" r:id="rId47"/>
  </p:sldIdLst>
  <p:sldSz cx="9144000" cy="6858000" type="screen4x3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2E5C"/>
    <a:srgbClr val="FFFFFF"/>
    <a:srgbClr val="FF9900"/>
    <a:srgbClr val="FF9933"/>
    <a:srgbClr val="C3DBF9"/>
    <a:srgbClr val="FFCCCC"/>
    <a:srgbClr val="B7FBFB"/>
    <a:srgbClr val="FFCCFF"/>
    <a:srgbClr val="B2B2B2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8" autoAdjust="0"/>
    <p:restoredTop sz="87338" autoAdjust="0"/>
  </p:normalViewPr>
  <p:slideViewPr>
    <p:cSldViewPr showGuides="1">
      <p:cViewPr>
        <p:scale>
          <a:sx n="100" d="100"/>
          <a:sy n="100" d="100"/>
        </p:scale>
        <p:origin x="-1074" y="282"/>
      </p:cViewPr>
      <p:guideLst>
        <p:guide orient="horz" pos="2976"/>
        <p:guide pos="3024"/>
      </p:guideLst>
    </p:cSldViewPr>
  </p:slideViewPr>
  <p:outlineViewPr>
    <p:cViewPr>
      <p:scale>
        <a:sx n="33" d="100"/>
        <a:sy n="33" d="100"/>
      </p:scale>
      <p:origin x="0" y="45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339" y="1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4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32498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4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339" y="9432498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E172AEAA-A912-41BA-91FC-FF7763BC90F3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9507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339" y="1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60937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565" y="4716250"/>
            <a:ext cx="4984545" cy="446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0"/>
            <a:r>
              <a:rPr lang="en-US" noProof="0" smtClean="0"/>
              <a:t>Second level</a:t>
            </a:r>
          </a:p>
          <a:p>
            <a:pPr lvl="0"/>
            <a:r>
              <a:rPr lang="en-US" noProof="0" smtClean="0"/>
              <a:t>Third level</a:t>
            </a:r>
          </a:p>
          <a:p>
            <a:pPr lvl="0"/>
            <a:r>
              <a:rPr lang="en-US" noProof="0" smtClean="0"/>
              <a:t>Fourth level</a:t>
            </a:r>
          </a:p>
          <a:p>
            <a:pPr lvl="0"/>
            <a:r>
              <a:rPr 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32498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339" y="9432498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0C123297-CA6C-48F9-94E3-71CDB3C52E89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273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534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5347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mtClean="0"/>
              <a:t>… </a:t>
            </a:r>
            <a:r>
              <a:rPr lang="en-GB" baseline="0" smtClean="0"/>
              <a:t>representing a Basin</a:t>
            </a:r>
            <a:r>
              <a:rPr lang="en-GB" baseline="0" dirty="0" smtClean="0"/>
              <a:t>, </a:t>
            </a:r>
            <a:r>
              <a:rPr lang="en-GB" baseline="0" smtClean="0"/>
              <a:t>the unit wherein all waters are flowing to a common outlet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2312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This is the principle objective of the HYF</a:t>
            </a:r>
            <a:r>
              <a:rPr lang="en-GB" baseline="0" dirty="0" smtClean="0"/>
              <a:t> to formalise the definitions provided in the Glossary of Hydrology to provide a means to relate data products to unit shared across disciplines, and applications.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231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5347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mtClean="0"/>
              <a:t>Problem caused by the mapping and the lack of</a:t>
            </a:r>
            <a:r>
              <a:rPr lang="en-GB" baseline="0" smtClean="0"/>
              <a:t> tools for transfer these, rather than by the conceptual model, i.e. defined relationship between hydro features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Map the realised common</a:t>
            </a:r>
            <a:r>
              <a:rPr lang="en-GB" baseline="0" dirty="0" smtClean="0"/>
              <a:t> concept to a particular implementation, i.e. set context-related “defaults”. Example: NHD+ flowline (= linear representation of a catchment) is set to </a:t>
            </a:r>
            <a:r>
              <a:rPr lang="en-GB" baseline="0" dirty="0" err="1" smtClean="0"/>
              <a:t>Flowpath</a:t>
            </a:r>
            <a:r>
              <a:rPr lang="en-GB" baseline="0" dirty="0" smtClean="0"/>
              <a:t> with a property “</a:t>
            </a:r>
            <a:r>
              <a:rPr lang="en-GB" baseline="0" dirty="0" err="1" smtClean="0"/>
              <a:t>representedCatchment</a:t>
            </a:r>
            <a:r>
              <a:rPr lang="en-GB" baseline="0" dirty="0" smtClean="0"/>
              <a:t>”.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8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8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8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25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sz="800" dirty="0" smtClean="0">
                <a:solidFill>
                  <a:srgbClr val="FFFFFF"/>
                </a:solidFill>
                <a:latin typeface="Arial" pitchFamily="34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009900" y="6400800"/>
            <a:ext cx="3276600" cy="3048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pic>
        <p:nvPicPr>
          <p:cNvPr id="7" name="Picture 11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" y="611505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71386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ln/>
        </p:spPr>
        <p:txBody>
          <a:bodyPr/>
          <a:lstStyle>
            <a:lvl1pPr>
              <a:defRPr sz="900"/>
            </a:lvl1pPr>
          </a:lstStyle>
          <a:p>
            <a:r>
              <a:rPr lang="en-GB" altLang="en-US" kern="0" smtClean="0">
                <a:cs typeface="Arial" pitchFamily="34" charset="0"/>
              </a:rPr>
              <a:t>5th, Workshop of OGC Hydro DWG, New York, 11-15 Aug 2014</a:t>
            </a:r>
            <a:endParaRPr lang="en-US" altLang="en-US" kern="0" dirty="0" smtClean="0">
              <a:cs typeface="Arial" pitchFamily="34" charset="0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D129D0-DFFA-44F8-BA3B-A4FAE77A70BA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9635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4E36BA-EB45-43BA-8973-92FEFA06CE3A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534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031678-7CCE-4001-AE80-C0DA3761CC30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198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168557-3EC0-4E40-BD03-BD918E1CDD05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452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CCDBE2-DD47-41F3-8579-D8E533D95D6F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276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12E1BE-8CDA-4433-BFF1-BAA91AEA66D9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367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38BDE7-1BD4-413C-B8BF-A4EA12E83AD7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178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7C245E-A03E-4E42-9FEE-C11F743D1CCF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845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E16C38-7E66-41AF-931A-501F5F45D453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004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D134C2-33D7-4F0D-85DC-CBD7B3525529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508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 smtClean="0"/>
              <a:t>Click to edit Master text styles</a:t>
            </a:r>
          </a:p>
          <a:p>
            <a:pPr lvl="1"/>
            <a:r>
              <a:rPr lang="en-US" altLang="en-US" dirty="0" smtClean="0"/>
              <a:t>Second level</a:t>
            </a:r>
          </a:p>
          <a:p>
            <a:pPr lvl="2"/>
            <a:r>
              <a:rPr lang="en-US" altLang="en-US" dirty="0" smtClean="0"/>
              <a:t>Third level</a:t>
            </a:r>
          </a:p>
          <a:p>
            <a:pPr lvl="3"/>
            <a:r>
              <a:rPr lang="en-US" altLang="en-US" dirty="0" smtClean="0"/>
              <a:t>Fourth level</a:t>
            </a:r>
          </a:p>
          <a:p>
            <a:pPr lvl="4"/>
            <a:r>
              <a:rPr lang="en-US" altLang="en-US" dirty="0" smtClean="0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3388" y="6515100"/>
            <a:ext cx="3579812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GB" dirty="0" smtClean="0"/>
              <a:t>5th, Workshop of OGC Hydro DWG, New York, 11-15 Aug 2014</a:t>
            </a:r>
            <a:endParaRPr lang="en-US" dirty="0"/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7E725F1A-1E3F-4657-9D4B-5DCBC0B76A54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4000" dirty="0" smtClean="0">
                <a:solidFill>
                  <a:schemeClr val="tx2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dirty="0" smtClean="0">
                <a:solidFill>
                  <a:schemeClr val="tx2"/>
                </a:solidFill>
                <a:latin typeface="Arial" pitchFamily="34" charset="0"/>
              </a:rPr>
              <a:t>®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12" Type="http://schemas.openxmlformats.org/officeDocument/2006/relationships/image" Target="../media/image1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11" Type="http://schemas.openxmlformats.org/officeDocument/2006/relationships/image" Target="../media/image16.jpeg"/><Relationship Id="rId5" Type="http://schemas.openxmlformats.org/officeDocument/2006/relationships/image" Target="../media/image10.jpe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12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11" Type="http://schemas.openxmlformats.org/officeDocument/2006/relationships/image" Target="../media/image16.jpeg"/><Relationship Id="rId5" Type="http://schemas.openxmlformats.org/officeDocument/2006/relationships/image" Target="../media/image10.jpe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2057400"/>
            <a:ext cx="8382000" cy="2492990"/>
          </a:xfr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GB" sz="2400">
                <a:effectLst/>
                <a:latin typeface="+mn-lt"/>
                <a:cs typeface="Arial" pitchFamily="34" charset="0"/>
              </a:rPr>
              <a:t>Standard representation </a:t>
            </a:r>
            <a:r>
              <a:rPr lang="en-GB" sz="2400" smtClean="0">
                <a:effectLst/>
                <a:latin typeface="+mn-lt"/>
                <a:cs typeface="Arial" pitchFamily="34" charset="0"/>
              </a:rPr>
              <a:t>of </a:t>
            </a:r>
            <a:r>
              <a:rPr lang="en-GB" sz="2400">
                <a:effectLst/>
                <a:latin typeface="+mn-lt"/>
                <a:cs typeface="Arial" pitchFamily="34" charset="0"/>
              </a:rPr>
              <a:t>hydrologic features</a:t>
            </a:r>
            <a:r>
              <a:rPr lang="en-GB" sz="2800">
                <a:cs typeface="Arial" pitchFamily="34" charset="0"/>
              </a:rPr>
              <a:t/>
            </a:r>
            <a:br>
              <a:rPr lang="en-GB" sz="2800">
                <a:cs typeface="Arial" pitchFamily="34" charset="0"/>
              </a:rPr>
            </a:br>
            <a:r>
              <a:rPr lang="en-US" sz="2800"/>
              <a:t>The OGC </a:t>
            </a:r>
            <a:r>
              <a:rPr lang="en-US" sz="2800" i="1"/>
              <a:t>HY_Features</a:t>
            </a:r>
            <a:r>
              <a:rPr lang="en-US" sz="2800"/>
              <a:t> model in support </a:t>
            </a:r>
            <a:br>
              <a:rPr lang="en-US" sz="2800"/>
            </a:br>
            <a:r>
              <a:rPr lang="en-US" sz="2800"/>
              <a:t>of geographic water information</a:t>
            </a:r>
            <a:r>
              <a:rPr lang="en-US" sz="2800" smtClean="0"/>
              <a:t/>
            </a:r>
            <a:br>
              <a:rPr lang="en-US" sz="2800" smtClean="0"/>
            </a:b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486275"/>
            <a:ext cx="6400800" cy="1371600"/>
          </a:xfrm>
        </p:spPr>
        <p:txBody>
          <a:bodyPr/>
          <a:lstStyle/>
          <a:p>
            <a:r>
              <a:rPr lang="en-US" altLang="en-US">
                <a:cs typeface="Arial" charset="0"/>
              </a:rPr>
              <a:t>6</a:t>
            </a:r>
            <a:r>
              <a:rPr lang="en-US" altLang="en-US" baseline="30000">
                <a:cs typeface="Arial" charset="0"/>
              </a:rPr>
              <a:t>th</a:t>
            </a:r>
            <a:r>
              <a:rPr lang="en-US" altLang="en-US">
                <a:cs typeface="Arial" charset="0"/>
              </a:rPr>
              <a:t>, WMO/OGC Hydrology DWG</a:t>
            </a:r>
          </a:p>
          <a:p>
            <a:r>
              <a:rPr lang="en-US" altLang="en-US">
                <a:cs typeface="Arial" charset="0"/>
              </a:rPr>
              <a:t> Orleans, BRGM, September </a:t>
            </a:r>
            <a:r>
              <a:rPr lang="en-US" altLang="en-US" smtClean="0">
                <a:cs typeface="Arial" charset="0"/>
              </a:rPr>
              <a:t>22, </a:t>
            </a:r>
            <a:r>
              <a:rPr lang="en-US" altLang="en-US">
                <a:cs typeface="Arial" charset="0"/>
              </a:rPr>
              <a:t>2015</a:t>
            </a:r>
          </a:p>
          <a:p>
            <a:pPr>
              <a:spcBef>
                <a:spcPct val="0"/>
              </a:spcBef>
            </a:pPr>
            <a:endParaRPr lang="en-US" altLang="en-US">
              <a:cs typeface="Arial" charset="0"/>
            </a:endParaRPr>
          </a:p>
          <a:p>
            <a:pPr>
              <a:spcBef>
                <a:spcPct val="0"/>
              </a:spcBef>
            </a:pPr>
            <a:r>
              <a:rPr lang="en-US" altLang="en-US">
                <a:cs typeface="Arial" charset="0"/>
              </a:rPr>
              <a:t>Irina Dornblut, GRDC of WMO at BfG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399" y="5867400"/>
            <a:ext cx="990600" cy="990600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510" y="1328737"/>
            <a:ext cx="1704975" cy="6953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2133600"/>
            <a:ext cx="8382000" cy="1938992"/>
          </a:xfr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GB" sz="2400" dirty="0" smtClean="0">
                <a:latin typeface="+mn-lt"/>
                <a:cs typeface="Arial" pitchFamily="34" charset="0"/>
              </a:rPr>
              <a:t>Standard </a:t>
            </a:r>
            <a:r>
              <a:rPr lang="en-GB" sz="2400" dirty="0">
                <a:latin typeface="+mn-lt"/>
                <a:cs typeface="Arial" pitchFamily="34" charset="0"/>
              </a:rPr>
              <a:t>representation and encoding of hydrologic </a:t>
            </a:r>
            <a:r>
              <a:rPr lang="en-GB" sz="2400" dirty="0" smtClean="0">
                <a:latin typeface="+mn-lt"/>
                <a:cs typeface="Arial" pitchFamily="34" charset="0"/>
              </a:rPr>
              <a:t>features</a:t>
            </a:r>
            <a:r>
              <a:rPr lang="en-GB" sz="2800" dirty="0" smtClean="0">
                <a:latin typeface="+mn-lt"/>
                <a:cs typeface="Arial" pitchFamily="34" charset="0"/>
              </a:rPr>
              <a:t/>
            </a:r>
            <a:br>
              <a:rPr lang="en-GB" sz="2800" dirty="0" smtClean="0">
                <a:latin typeface="+mn-lt"/>
                <a:cs typeface="Arial" pitchFamily="34" charset="0"/>
              </a:rPr>
            </a:br>
            <a:r>
              <a:rPr lang="en-US" sz="2800" dirty="0" smtClean="0"/>
              <a:t>The </a:t>
            </a:r>
            <a:r>
              <a:rPr lang="en-US" sz="2800" dirty="0"/>
              <a:t>OGC </a:t>
            </a:r>
            <a:r>
              <a:rPr lang="en-US" sz="2800" i="1" dirty="0"/>
              <a:t>HY_Features</a:t>
            </a:r>
            <a:r>
              <a:rPr lang="en-US" sz="2800" dirty="0" smtClean="0"/>
              <a:t> model in support </a:t>
            </a:r>
            <a:br>
              <a:rPr lang="en-US" sz="2800" dirty="0" smtClean="0"/>
            </a:br>
            <a:r>
              <a:rPr lang="en-US" sz="2800" dirty="0" smtClean="0"/>
              <a:t>of </a:t>
            </a:r>
            <a:r>
              <a:rPr lang="en-US" sz="2800" dirty="0"/>
              <a:t>g</a:t>
            </a:r>
            <a:r>
              <a:rPr lang="en-US" sz="2800" dirty="0" smtClean="0"/>
              <a:t>eographic water </a:t>
            </a:r>
            <a:r>
              <a:rPr lang="en-US" sz="2800" dirty="0"/>
              <a:t>i</a:t>
            </a:r>
            <a:r>
              <a:rPr lang="en-US" sz="2800" dirty="0" smtClean="0"/>
              <a:t>nformation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419600"/>
            <a:ext cx="6400800" cy="13716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GB" dirty="0" smtClean="0"/>
              <a:t>HIC-11 Tutorial: Standardization </a:t>
            </a:r>
            <a:r>
              <a:rPr lang="en-GB" dirty="0"/>
              <a:t>of Water Data Exchange</a:t>
            </a:r>
          </a:p>
          <a:p>
            <a:pPr>
              <a:spcBef>
                <a:spcPts val="600"/>
              </a:spcBef>
            </a:pPr>
            <a:r>
              <a:rPr lang="en-US" altLang="en-US" dirty="0" smtClean="0">
                <a:cs typeface="Arial" pitchFamily="34" charset="0"/>
              </a:rPr>
              <a:t>WMO/OGC </a:t>
            </a:r>
            <a:r>
              <a:rPr lang="en-US" altLang="en-US" dirty="0">
                <a:cs typeface="Arial" pitchFamily="34" charset="0"/>
              </a:rPr>
              <a:t>Hydrology </a:t>
            </a:r>
            <a:r>
              <a:rPr lang="en-US" altLang="en-US" dirty="0" smtClean="0">
                <a:cs typeface="Arial" pitchFamily="34" charset="0"/>
              </a:rPr>
              <a:t>Domain Working Group</a:t>
            </a:r>
          </a:p>
          <a:p>
            <a:pPr>
              <a:spcBef>
                <a:spcPts val="600"/>
              </a:spcBef>
            </a:pPr>
            <a:r>
              <a:rPr lang="en-US" altLang="en-US" dirty="0" smtClean="0">
                <a:cs typeface="Arial" pitchFamily="34" charset="0"/>
              </a:rPr>
              <a:t> New York, CCNY, August 16, 2014</a:t>
            </a:r>
          </a:p>
          <a:p>
            <a:pPr>
              <a:spcBef>
                <a:spcPts val="600"/>
              </a:spcBef>
            </a:pPr>
            <a:r>
              <a:rPr lang="en-US" altLang="en-US" dirty="0" smtClean="0">
                <a:cs typeface="Arial" pitchFamily="34" charset="0"/>
              </a:rPr>
              <a:t>Irina Dornblut, GRDC of WMO at </a:t>
            </a:r>
            <a:r>
              <a:rPr lang="en-US" altLang="en-US" dirty="0" err="1" smtClean="0">
                <a:cs typeface="Arial" pitchFamily="34" charset="0"/>
              </a:rPr>
              <a:t>BfG</a:t>
            </a:r>
            <a:endParaRPr lang="en-US" altLang="en-US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6093230"/>
            <a:ext cx="1095375" cy="588747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399" y="5867400"/>
            <a:ext cx="990600" cy="990600"/>
          </a:xfrm>
          <a:prstGeom prst="rect">
            <a:avLst/>
          </a:prstGeom>
        </p:spPr>
      </p:pic>
      <p:sp>
        <p:nvSpPr>
          <p:cNvPr id="6" name="Ellipse 5"/>
          <p:cNvSpPr/>
          <p:nvPr/>
        </p:nvSpPr>
        <p:spPr bwMode="auto">
          <a:xfrm>
            <a:off x="4191000" y="4572000"/>
            <a:ext cx="2667000" cy="1219200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2366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D12E1BE-8CDA-4433-BFF1-BAA91AEA66D9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3" y="128588"/>
            <a:ext cx="8829675" cy="660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1331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D12E1BE-8CDA-4433-BFF1-BAA91AEA66D9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3" y="128588"/>
            <a:ext cx="8829675" cy="660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Wolke 4"/>
          <p:cNvSpPr/>
          <p:nvPr/>
        </p:nvSpPr>
        <p:spPr bwMode="auto">
          <a:xfrm>
            <a:off x="2719927" y="2842012"/>
            <a:ext cx="3225504" cy="1782432"/>
          </a:xfrm>
          <a:prstGeom prst="cloud">
            <a:avLst/>
          </a:prstGeom>
          <a:solidFill>
            <a:schemeClr val="accent6">
              <a:lumMod val="20000"/>
              <a:lumOff val="80000"/>
            </a:schemeClr>
          </a:solidFill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/>
          <a:lstStyle/>
          <a:p>
            <a:pPr algn="ctr"/>
            <a:r>
              <a:rPr lang="en-GB" sz="1900" smtClean="0">
                <a:solidFill>
                  <a:schemeClr val="tx2"/>
                </a:solidFill>
              </a:rPr>
              <a:t>concensus based on common concepts</a:t>
            </a:r>
            <a:endParaRPr lang="en-GB" sz="1900" i="1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1815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lIns="0" rIns="0"/>
          <a:lstStyle/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GB">
                <a:solidFill>
                  <a:schemeClr val="tx2"/>
                </a:solidFill>
              </a:rPr>
              <a:t>Link </a:t>
            </a:r>
            <a:r>
              <a:rPr lang="en-GB" smtClean="0">
                <a:solidFill>
                  <a:schemeClr val="tx2"/>
                </a:solidFill>
              </a:rPr>
              <a:t>data via common concepts</a:t>
            </a:r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6th, Workshop of OGC Hydro DWG, Orleans,  BRGM, 21-23 Sep 2015</a:t>
            </a:r>
            <a:endParaRPr lang="en-US" altLang="en-US" sz="900" dirty="0">
              <a:solidFill>
                <a:srgbClr val="092E5C"/>
              </a:solidFill>
            </a:endParaRPr>
          </a:p>
        </p:txBody>
      </p:sp>
      <p:pic>
        <p:nvPicPr>
          <p:cNvPr id="23" name="Picture 37" descr="gridQ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479485"/>
            <a:ext cx="1905000" cy="1302120"/>
          </a:xfrm>
          <a:prstGeom prst="rect">
            <a:avLst/>
          </a:prstGeom>
          <a:noFill/>
          <a:ln w="9525">
            <a:solidFill>
              <a:srgbClr val="96969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/>
          <p:cNvPicPr preferRelativeResize="0"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4259" y="4877371"/>
            <a:ext cx="2160000" cy="1440000"/>
          </a:xfrm>
          <a:prstGeom prst="rect">
            <a:avLst/>
          </a:prstGeom>
          <a:noFill/>
          <a:ln w="6350">
            <a:solidFill>
              <a:srgbClr val="96969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 descr="D:\Users\Dornblut\OGC_HDWG\2014_HDWG_NewYork\lineShape_400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2300" y="5163344"/>
            <a:ext cx="609600" cy="417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D:\Users\Dornblut\OGC_HDWG\2014_HDWG_NewYork\pointShape_400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981" y="4207145"/>
            <a:ext cx="1905000" cy="1304713"/>
          </a:xfrm>
          <a:prstGeom prst="rect">
            <a:avLst/>
          </a:prstGeom>
          <a:noFill/>
          <a:ln>
            <a:solidFill>
              <a:srgbClr val="96969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3" name="Picture 29" descr="D:\Users\Dornblut\OGC_HDWG\2014_HDWG_NewYork\lineShape_400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6768" y="2711640"/>
            <a:ext cx="1904983" cy="1304713"/>
          </a:xfrm>
          <a:prstGeom prst="rect">
            <a:avLst/>
          </a:prstGeom>
          <a:noFill/>
          <a:ln>
            <a:solidFill>
              <a:srgbClr val="96969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173" y="1071979"/>
            <a:ext cx="1881717" cy="12413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5" name="Picture 31" descr="D:\Users\Dornblut\OGC_HDWG\2014_HDWG_NewYork\BASINS_159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008290"/>
            <a:ext cx="1894007" cy="1464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86" y="4300026"/>
            <a:ext cx="2214173" cy="1427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" name="Picture 10" descr="loggers 008 small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8164" y="5233104"/>
            <a:ext cx="1033814" cy="728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50" descr="Installation 005 small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8957" y="4648197"/>
            <a:ext cx="1033814" cy="77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8221" y="2479482"/>
            <a:ext cx="2446497" cy="1962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6" name="Gerade Verbindung mit Pfeil 35"/>
          <p:cNvCxnSpPr>
            <a:stCxn id="1055" idx="1"/>
          </p:cNvCxnSpPr>
          <p:nvPr/>
        </p:nvCxnSpPr>
        <p:spPr bwMode="auto">
          <a:xfrm flipH="1">
            <a:off x="4175461" y="1740738"/>
            <a:ext cx="701339" cy="1176155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8" name="Gerade Verbindung mit Pfeil 37"/>
          <p:cNvCxnSpPr/>
          <p:nvPr/>
        </p:nvCxnSpPr>
        <p:spPr bwMode="auto">
          <a:xfrm>
            <a:off x="2648032" y="2313321"/>
            <a:ext cx="476168" cy="398319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9" name="Gerade Verbindung mit Pfeil 38"/>
          <p:cNvCxnSpPr/>
          <p:nvPr/>
        </p:nvCxnSpPr>
        <p:spPr bwMode="auto">
          <a:xfrm>
            <a:off x="2362200" y="3130545"/>
            <a:ext cx="685800" cy="18753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1" name="Gerade Verbindung mit Pfeil 40"/>
          <p:cNvCxnSpPr>
            <a:stCxn id="1053" idx="1"/>
          </p:cNvCxnSpPr>
          <p:nvPr/>
        </p:nvCxnSpPr>
        <p:spPr bwMode="auto">
          <a:xfrm flipH="1" flipV="1">
            <a:off x="5258957" y="3355698"/>
            <a:ext cx="767811" cy="8299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2" name="Gerade Verbindung mit Pfeil 41"/>
          <p:cNvCxnSpPr>
            <a:stCxn id="1035" idx="1"/>
          </p:cNvCxnSpPr>
          <p:nvPr/>
        </p:nvCxnSpPr>
        <p:spPr bwMode="auto">
          <a:xfrm flipH="1" flipV="1">
            <a:off x="5040920" y="3902770"/>
            <a:ext cx="1691061" cy="956732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3" name="Gerade Verbindung mit Pfeil 42"/>
          <p:cNvCxnSpPr>
            <a:stCxn id="74" idx="1"/>
          </p:cNvCxnSpPr>
          <p:nvPr/>
        </p:nvCxnSpPr>
        <p:spPr bwMode="auto">
          <a:xfrm flipH="1" flipV="1">
            <a:off x="4743962" y="4151916"/>
            <a:ext cx="514995" cy="883962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4" name="Gerade Verbindung mit Pfeil 43"/>
          <p:cNvCxnSpPr/>
          <p:nvPr/>
        </p:nvCxnSpPr>
        <p:spPr bwMode="auto">
          <a:xfrm flipH="1" flipV="1">
            <a:off x="3781470" y="4300026"/>
            <a:ext cx="112790" cy="577346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5" name="Gerade Verbindung mit Pfeil 44"/>
          <p:cNvCxnSpPr/>
          <p:nvPr/>
        </p:nvCxnSpPr>
        <p:spPr bwMode="auto">
          <a:xfrm flipV="1">
            <a:off x="1691786" y="3670272"/>
            <a:ext cx="1340827" cy="642426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5" name="Textfeld 24"/>
          <p:cNvSpPr txBox="1"/>
          <p:nvPr/>
        </p:nvSpPr>
        <p:spPr>
          <a:xfrm>
            <a:off x="3339683" y="3155643"/>
            <a:ext cx="8835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smtClean="0">
                <a:solidFill>
                  <a:schemeClr val="tx2"/>
                </a:solidFill>
              </a:rPr>
              <a:t>Basin</a:t>
            </a:r>
            <a:endParaRPr lang="en-GB" sz="2000" dirty="0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7182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Gerade Verbindung mit Pfeil 37"/>
          <p:cNvCxnSpPr/>
          <p:nvPr/>
        </p:nvCxnSpPr>
        <p:spPr bwMode="auto">
          <a:xfrm>
            <a:off x="2648032" y="2313321"/>
            <a:ext cx="704768" cy="616738"/>
          </a:xfrm>
          <a:prstGeom prst="straightConnector1">
            <a:avLst/>
          </a:prstGeom>
          <a:noFill/>
          <a:ln w="19050" cap="flat" cmpd="sng" algn="ctr">
            <a:solidFill>
              <a:schemeClr val="tx2">
                <a:lumMod val="90000"/>
                <a:lumOff val="1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lIns="0" rIns="0"/>
          <a:lstStyle/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GB">
                <a:solidFill>
                  <a:schemeClr val="tx2"/>
                </a:solidFill>
              </a:rPr>
              <a:t>Make common concepts accessible !</a:t>
            </a:r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6th, Workshop of OGC Hydro DWG, Orleans,  BRGM, 21-23 Sep 2015</a:t>
            </a:r>
            <a:endParaRPr lang="en-US" altLang="en-US" sz="900" dirty="0">
              <a:solidFill>
                <a:srgbClr val="092E5C"/>
              </a:solidFill>
            </a:endParaRPr>
          </a:p>
        </p:txBody>
      </p:sp>
      <p:pic>
        <p:nvPicPr>
          <p:cNvPr id="23" name="Picture 37" descr="gridQ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479485"/>
            <a:ext cx="1905000" cy="1302120"/>
          </a:xfrm>
          <a:prstGeom prst="rect">
            <a:avLst/>
          </a:prstGeom>
          <a:noFill/>
          <a:ln w="9525">
            <a:solidFill>
              <a:srgbClr val="96969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/>
          <p:cNvPicPr preferRelativeResize="0"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4259" y="4877371"/>
            <a:ext cx="2160000" cy="1440000"/>
          </a:xfrm>
          <a:prstGeom prst="rect">
            <a:avLst/>
          </a:prstGeom>
          <a:noFill/>
          <a:ln w="6350">
            <a:solidFill>
              <a:srgbClr val="96969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 descr="D:\Users\Dornblut\OGC_HDWG\2014_HDWG_NewYork\lineShape_400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2300" y="5163344"/>
            <a:ext cx="609600" cy="417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D:\Users\Dornblut\OGC_HDWG\2014_HDWG_NewYork\pointShape_400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981" y="4207145"/>
            <a:ext cx="1905000" cy="1304713"/>
          </a:xfrm>
          <a:prstGeom prst="rect">
            <a:avLst/>
          </a:prstGeom>
          <a:noFill/>
          <a:ln>
            <a:solidFill>
              <a:srgbClr val="96969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3" name="Picture 29" descr="D:\Users\Dornblut\OGC_HDWG\2014_HDWG_NewYork\lineShape_400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6768" y="2711640"/>
            <a:ext cx="1904983" cy="1304713"/>
          </a:xfrm>
          <a:prstGeom prst="rect">
            <a:avLst/>
          </a:prstGeom>
          <a:noFill/>
          <a:ln>
            <a:solidFill>
              <a:srgbClr val="96969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173" y="1071979"/>
            <a:ext cx="1881717" cy="12413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5" name="Picture 31" descr="D:\Users\Dornblut\OGC_HDWG\2014_HDWG_NewYork\BASINS_159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008290"/>
            <a:ext cx="1894007" cy="1464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86" y="4300026"/>
            <a:ext cx="2214173" cy="1427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" name="Picture 10" descr="loggers 008 small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8164" y="5233104"/>
            <a:ext cx="1033814" cy="728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50" descr="Installation 005 small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8957" y="4648197"/>
            <a:ext cx="1033814" cy="77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cxnSp>
        <p:nvCxnSpPr>
          <p:cNvPr id="36" name="Gerade Verbindung mit Pfeil 35"/>
          <p:cNvCxnSpPr>
            <a:stCxn id="1055" idx="1"/>
          </p:cNvCxnSpPr>
          <p:nvPr/>
        </p:nvCxnSpPr>
        <p:spPr bwMode="auto">
          <a:xfrm flipH="1">
            <a:off x="4152727" y="1740738"/>
            <a:ext cx="724073" cy="1151221"/>
          </a:xfrm>
          <a:prstGeom prst="straightConnector1">
            <a:avLst/>
          </a:prstGeom>
          <a:noFill/>
          <a:ln w="19050" cap="flat" cmpd="sng" algn="ctr">
            <a:solidFill>
              <a:schemeClr val="tx2">
                <a:lumMod val="90000"/>
                <a:lumOff val="1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9" name="Gerade Verbindung mit Pfeil 38"/>
          <p:cNvCxnSpPr/>
          <p:nvPr/>
        </p:nvCxnSpPr>
        <p:spPr bwMode="auto">
          <a:xfrm>
            <a:off x="2362200" y="3130545"/>
            <a:ext cx="685800" cy="18753"/>
          </a:xfrm>
          <a:prstGeom prst="straightConnector1">
            <a:avLst/>
          </a:prstGeom>
          <a:noFill/>
          <a:ln w="19050" cap="flat" cmpd="sng" algn="ctr">
            <a:solidFill>
              <a:schemeClr val="tx2">
                <a:lumMod val="90000"/>
                <a:lumOff val="1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41" name="Gerade Verbindung mit Pfeil 40"/>
          <p:cNvCxnSpPr>
            <a:stCxn id="1053" idx="1"/>
          </p:cNvCxnSpPr>
          <p:nvPr/>
        </p:nvCxnSpPr>
        <p:spPr bwMode="auto">
          <a:xfrm flipH="1">
            <a:off x="5258957" y="3363997"/>
            <a:ext cx="767811" cy="28573"/>
          </a:xfrm>
          <a:prstGeom prst="straightConnector1">
            <a:avLst/>
          </a:prstGeom>
          <a:noFill/>
          <a:ln w="19050" cap="flat" cmpd="sng" algn="ctr">
            <a:solidFill>
              <a:schemeClr val="tx2">
                <a:lumMod val="90000"/>
                <a:lumOff val="1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42" name="Gerade Verbindung mit Pfeil 41"/>
          <p:cNvCxnSpPr>
            <a:stCxn id="1035" idx="1"/>
          </p:cNvCxnSpPr>
          <p:nvPr/>
        </p:nvCxnSpPr>
        <p:spPr bwMode="auto">
          <a:xfrm flipH="1" flipV="1">
            <a:off x="4974260" y="3991485"/>
            <a:ext cx="1757721" cy="868017"/>
          </a:xfrm>
          <a:prstGeom prst="straightConnector1">
            <a:avLst/>
          </a:prstGeom>
          <a:noFill/>
          <a:ln w="19050" cap="flat" cmpd="sng" algn="ctr">
            <a:solidFill>
              <a:schemeClr val="tx2">
                <a:lumMod val="90000"/>
                <a:lumOff val="1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43" name="Gerade Verbindung mit Pfeil 42"/>
          <p:cNvCxnSpPr>
            <a:stCxn id="74" idx="1"/>
          </p:cNvCxnSpPr>
          <p:nvPr/>
        </p:nvCxnSpPr>
        <p:spPr bwMode="auto">
          <a:xfrm flipH="1" flipV="1">
            <a:off x="4720880" y="4113286"/>
            <a:ext cx="538077" cy="922592"/>
          </a:xfrm>
          <a:prstGeom prst="straightConnector1">
            <a:avLst/>
          </a:prstGeom>
          <a:noFill/>
          <a:ln w="19050" cap="flat" cmpd="sng" algn="ctr">
            <a:solidFill>
              <a:schemeClr val="tx2">
                <a:lumMod val="90000"/>
                <a:lumOff val="1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44" name="Gerade Verbindung mit Pfeil 43"/>
          <p:cNvCxnSpPr/>
          <p:nvPr/>
        </p:nvCxnSpPr>
        <p:spPr bwMode="auto">
          <a:xfrm flipV="1">
            <a:off x="3894260" y="4280158"/>
            <a:ext cx="68140" cy="597214"/>
          </a:xfrm>
          <a:prstGeom prst="straightConnector1">
            <a:avLst/>
          </a:prstGeom>
          <a:noFill/>
          <a:ln w="19050" cap="flat" cmpd="sng" algn="ctr">
            <a:solidFill>
              <a:schemeClr val="tx2">
                <a:lumMod val="90000"/>
                <a:lumOff val="1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45" name="Gerade Verbindung mit Pfeil 44"/>
          <p:cNvCxnSpPr/>
          <p:nvPr/>
        </p:nvCxnSpPr>
        <p:spPr bwMode="auto">
          <a:xfrm flipV="1">
            <a:off x="1691786" y="3670272"/>
            <a:ext cx="1340827" cy="642426"/>
          </a:xfrm>
          <a:prstGeom prst="straightConnector1">
            <a:avLst/>
          </a:prstGeom>
          <a:noFill/>
          <a:ln w="19050" cap="flat" cmpd="sng" algn="ctr">
            <a:solidFill>
              <a:schemeClr val="tx2">
                <a:lumMod val="90000"/>
                <a:lumOff val="1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29" name="Wolke 28"/>
          <p:cNvSpPr/>
          <p:nvPr/>
        </p:nvSpPr>
        <p:spPr bwMode="auto">
          <a:xfrm>
            <a:off x="2538952" y="2718187"/>
            <a:ext cx="3225504" cy="1782432"/>
          </a:xfrm>
          <a:prstGeom prst="cloud">
            <a:avLst/>
          </a:prstGeom>
          <a:solidFill>
            <a:schemeClr val="accent6">
              <a:lumMod val="20000"/>
              <a:lumOff val="80000"/>
            </a:schemeClr>
          </a:solidFill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/>
          <a:lstStyle/>
          <a:p>
            <a:pPr algn="ctr"/>
            <a:r>
              <a:rPr lang="en-GB" sz="1900" smtClean="0">
                <a:solidFill>
                  <a:schemeClr val="tx2"/>
                </a:solidFill>
              </a:rPr>
              <a:t>Hydrologic data in the Web</a:t>
            </a:r>
            <a:endParaRPr lang="en-GB" sz="1900" i="1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964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2410598"/>
            <a:ext cx="8382000" cy="1384995"/>
          </a:xfr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800" smtClean="0"/>
              <a:t>The </a:t>
            </a:r>
            <a:r>
              <a:rPr lang="en-US" sz="2800" dirty="0"/>
              <a:t>OGC </a:t>
            </a:r>
            <a:r>
              <a:rPr lang="en-US" sz="2800" i="1" dirty="0"/>
              <a:t>HY_Features</a:t>
            </a:r>
            <a:r>
              <a:rPr lang="en-US" sz="2800" dirty="0" smtClean="0"/>
              <a:t> model in support </a:t>
            </a:r>
            <a:br>
              <a:rPr lang="en-US" sz="2800" dirty="0" smtClean="0"/>
            </a:br>
            <a:r>
              <a:rPr lang="en-US" sz="2800" dirty="0"/>
              <a:t>of geographic water information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419600"/>
            <a:ext cx="6400800" cy="1371600"/>
          </a:xfrm>
        </p:spPr>
        <p:txBody>
          <a:bodyPr/>
          <a:lstStyle/>
          <a:p>
            <a:r>
              <a:rPr lang="en-US" altLang="en-US">
                <a:cs typeface="Arial" charset="0"/>
              </a:rPr>
              <a:t>6</a:t>
            </a:r>
            <a:r>
              <a:rPr lang="en-US" altLang="en-US" baseline="30000">
                <a:cs typeface="Arial" charset="0"/>
              </a:rPr>
              <a:t>th</a:t>
            </a:r>
            <a:r>
              <a:rPr lang="en-US" altLang="en-US">
                <a:cs typeface="Arial" charset="0"/>
              </a:rPr>
              <a:t>, WMO/OGC Hydrology DWG</a:t>
            </a:r>
          </a:p>
          <a:p>
            <a:r>
              <a:rPr lang="en-US" altLang="en-US">
                <a:cs typeface="Arial" charset="0"/>
              </a:rPr>
              <a:t> Orleans, BRGM, September 21 – 23, 2015</a:t>
            </a:r>
          </a:p>
          <a:p>
            <a:pPr>
              <a:spcBef>
                <a:spcPct val="0"/>
              </a:spcBef>
            </a:pPr>
            <a:endParaRPr lang="en-US" altLang="en-US">
              <a:cs typeface="Arial" charset="0"/>
            </a:endParaRPr>
          </a:p>
          <a:p>
            <a:pPr>
              <a:spcBef>
                <a:spcPct val="0"/>
              </a:spcBef>
            </a:pPr>
            <a:r>
              <a:rPr lang="en-US" altLang="en-US">
                <a:cs typeface="Arial" charset="0"/>
              </a:rPr>
              <a:t>Irina Dornblut, GRDC of WMO at BfG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6093230"/>
            <a:ext cx="1095375" cy="588747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399" y="5867400"/>
            <a:ext cx="990600" cy="990600"/>
          </a:xfrm>
          <a:prstGeom prst="rect">
            <a:avLst/>
          </a:prstGeom>
        </p:spPr>
      </p:pic>
      <p:sp>
        <p:nvSpPr>
          <p:cNvPr id="2" name="Textfeld 1"/>
          <p:cNvSpPr txBox="1"/>
          <p:nvPr/>
        </p:nvSpPr>
        <p:spPr>
          <a:xfrm>
            <a:off x="2133600" y="1371600"/>
            <a:ext cx="6762748" cy="57150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noAutofit/>
          </a:bodyPr>
          <a:lstStyle/>
          <a:p>
            <a:pPr algn="r"/>
            <a:r>
              <a:rPr lang="en-GB" sz="3200" smtClean="0">
                <a:solidFill>
                  <a:srgbClr val="FF0000"/>
                </a:solidFill>
              </a:rPr>
              <a:t>Same </a:t>
            </a:r>
            <a:r>
              <a:rPr lang="en-GB" sz="3200">
                <a:solidFill>
                  <a:srgbClr val="FF0000"/>
                </a:solidFill>
              </a:rPr>
              <a:t>challenge </a:t>
            </a:r>
            <a:r>
              <a:rPr lang="en-GB" sz="3200" smtClean="0">
                <a:solidFill>
                  <a:srgbClr val="FF0000"/>
                </a:solidFill>
              </a:rPr>
              <a:t>!!</a:t>
            </a:r>
            <a:r>
              <a:rPr lang="en-GB" sz="3200">
                <a:solidFill>
                  <a:srgbClr val="FF0000"/>
                </a:solidFill>
              </a:rPr>
              <a:t> </a:t>
            </a:r>
            <a:endParaRPr lang="en-GB" sz="3200" dirty="0" err="1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37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3193" y="304799"/>
            <a:ext cx="8837613" cy="480131"/>
          </a:xfrm>
        </p:spPr>
        <p:txBody>
          <a:bodyPr wrap="square">
            <a:spAutoFit/>
          </a:bodyPr>
          <a:lstStyle/>
          <a:p>
            <a:r>
              <a:rPr lang="en-GB" sz="2800" smtClean="0">
                <a:solidFill>
                  <a:schemeClr val="tx2"/>
                </a:solidFill>
              </a:rPr>
              <a:t>Same challenge</a:t>
            </a:r>
            <a:r>
              <a:rPr lang="en-GB" sz="2800">
                <a:solidFill>
                  <a:schemeClr val="tx2"/>
                </a:solidFill>
              </a:rPr>
              <a:t> </a:t>
            </a:r>
            <a:r>
              <a:rPr lang="en-GB" sz="2800" smtClean="0">
                <a:solidFill>
                  <a:schemeClr val="tx2"/>
                </a:solidFill>
              </a:rPr>
              <a:t>!! </a:t>
            </a:r>
            <a:r>
              <a:rPr lang="en-GB" sz="2800" smtClean="0">
                <a:solidFill>
                  <a:srgbClr val="FF0000"/>
                </a:solidFill>
              </a:rPr>
              <a:t>2014, OWS-10 </a:t>
            </a:r>
            <a:r>
              <a:rPr lang="en-GB" sz="2800">
                <a:solidFill>
                  <a:srgbClr val="FF0000"/>
                </a:solidFill>
              </a:rPr>
              <a:t>CCI </a:t>
            </a:r>
            <a:r>
              <a:rPr lang="en-GB" sz="2800" smtClean="0">
                <a:solidFill>
                  <a:srgbClr val="FF0000"/>
                </a:solidFill>
              </a:rPr>
              <a:t>Hydro thread</a:t>
            </a:r>
            <a:endParaRPr lang="en-GB" sz="2800" dirty="0" err="1">
              <a:solidFill>
                <a:srgbClr val="FF0000"/>
              </a:solidFill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876958"/>
            <a:ext cx="7482321" cy="5579391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5" name="Textfeld 14"/>
          <p:cNvSpPr txBox="1"/>
          <p:nvPr/>
        </p:nvSpPr>
        <p:spPr>
          <a:xfrm rot="16200000">
            <a:off x="7308274" y="5265006"/>
            <a:ext cx="2266950" cy="2424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b="0" smtClean="0">
                <a:solidFill>
                  <a:schemeClr val="tx2"/>
                </a:solidFill>
              </a:rPr>
              <a:t>Source: OGC-ER 14-048, modified.</a:t>
            </a:r>
            <a:endParaRPr lang="en-GB" b="0" dirty="0" err="1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26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3193" y="304799"/>
            <a:ext cx="8837613" cy="480131"/>
          </a:xfrm>
        </p:spPr>
        <p:txBody>
          <a:bodyPr wrap="square">
            <a:spAutoFit/>
          </a:bodyPr>
          <a:lstStyle/>
          <a:p>
            <a:r>
              <a:rPr lang="en-GB" sz="2800">
                <a:solidFill>
                  <a:schemeClr val="tx2"/>
                </a:solidFill>
              </a:rPr>
              <a:t>Same challenge !! </a:t>
            </a:r>
            <a:r>
              <a:rPr lang="en-GB" sz="2800">
                <a:solidFill>
                  <a:srgbClr val="FF0000"/>
                </a:solidFill>
              </a:rPr>
              <a:t>2014, OWS-10 CCI Hydro thread</a:t>
            </a:r>
            <a:endParaRPr lang="en-GB" sz="2800" dirty="0" err="1">
              <a:solidFill>
                <a:srgbClr val="FF0000"/>
              </a:solidFill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3" name="Textfeld 2"/>
          <p:cNvSpPr txBox="1"/>
          <p:nvPr/>
        </p:nvSpPr>
        <p:spPr>
          <a:xfrm>
            <a:off x="762001" y="1295400"/>
            <a:ext cx="8077199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400" u="sng" dirty="0">
                <a:solidFill>
                  <a:srgbClr val="092E5C"/>
                </a:solidFill>
                <a:sym typeface="Wingdings" panose="05000000000000000000" pitchFamily="2" charset="2"/>
              </a:rPr>
              <a:t>“ … </a:t>
            </a:r>
            <a:r>
              <a:rPr lang="en-US" sz="2400" u="sng" dirty="0" smtClean="0">
                <a:solidFill>
                  <a:srgbClr val="092E5C"/>
                </a:solidFill>
              </a:rPr>
              <a:t>further </a:t>
            </a:r>
            <a:r>
              <a:rPr lang="en-US" sz="2400" u="sng" dirty="0">
                <a:solidFill>
                  <a:srgbClr val="092E5C"/>
                </a:solidFill>
              </a:rPr>
              <a:t>work is </a:t>
            </a:r>
            <a:r>
              <a:rPr lang="en-US" sz="2400" u="sng" dirty="0" smtClean="0">
                <a:solidFill>
                  <a:srgbClr val="092E5C"/>
                </a:solidFill>
              </a:rPr>
              <a:t>recommended …“ </a:t>
            </a:r>
            <a:endParaRPr lang="en-GB" sz="2400" u="sng" dirty="0">
              <a:solidFill>
                <a:srgbClr val="092E5C"/>
              </a:solidFill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b="0" dirty="0" smtClean="0">
                <a:solidFill>
                  <a:schemeClr val="tx2"/>
                </a:solidFill>
              </a:rPr>
              <a:t>Semantic </a:t>
            </a:r>
            <a:r>
              <a:rPr lang="en-US" sz="2000" b="0" dirty="0">
                <a:solidFill>
                  <a:schemeClr val="tx2"/>
                </a:solidFill>
              </a:rPr>
              <a:t>support for mediation </a:t>
            </a:r>
            <a:r>
              <a:rPr lang="en-US" sz="2000" b="0" dirty="0" smtClean="0">
                <a:solidFill>
                  <a:schemeClr val="tx2"/>
                </a:solidFill>
              </a:rPr>
              <a:t>between systems / services</a:t>
            </a: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800" b="0" dirty="0" smtClean="0">
                <a:solidFill>
                  <a:schemeClr val="tx2"/>
                </a:solidFill>
              </a:rPr>
              <a:t>beyond simple equivalence, particularly overlapping semantics       Example: meaning </a:t>
            </a:r>
            <a:r>
              <a:rPr lang="en-US" sz="1800" b="0" i="1" dirty="0" smtClean="0">
                <a:solidFill>
                  <a:schemeClr val="tx2"/>
                </a:solidFill>
              </a:rPr>
              <a:t>basin</a:t>
            </a:r>
            <a:r>
              <a:rPr lang="en-US" sz="1800" b="0" dirty="0" smtClean="0">
                <a:solidFill>
                  <a:schemeClr val="tx2"/>
                </a:solidFill>
              </a:rPr>
              <a:t> when saying </a:t>
            </a:r>
            <a:r>
              <a:rPr lang="en-US" sz="1800" b="0" i="1" dirty="0" smtClean="0">
                <a:solidFill>
                  <a:schemeClr val="tx2"/>
                </a:solidFill>
              </a:rPr>
              <a:t>catchment, </a:t>
            </a:r>
            <a:r>
              <a:rPr lang="en-US" sz="1800" b="0" dirty="0" smtClean="0">
                <a:solidFill>
                  <a:schemeClr val="tx2"/>
                </a:solidFill>
              </a:rPr>
              <a:t>or vice versa</a:t>
            </a: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800" b="0" dirty="0" smtClean="0">
                <a:solidFill>
                  <a:schemeClr val="tx2"/>
                </a:solidFill>
              </a:rPr>
              <a:t>using the topological relationships </a:t>
            </a:r>
            <a:r>
              <a:rPr lang="en-US" sz="1800" b="0" dirty="0">
                <a:solidFill>
                  <a:schemeClr val="tx2"/>
                </a:solidFill>
              </a:rPr>
              <a:t>defined in the </a:t>
            </a:r>
            <a:r>
              <a:rPr lang="en-US" sz="1800" b="0" dirty="0" err="1">
                <a:solidFill>
                  <a:schemeClr val="tx2"/>
                </a:solidFill>
              </a:rPr>
              <a:t>HY_Features</a:t>
            </a:r>
            <a:r>
              <a:rPr lang="en-US" sz="1800" b="0" dirty="0">
                <a:solidFill>
                  <a:schemeClr val="tx2"/>
                </a:solidFill>
              </a:rPr>
              <a:t> </a:t>
            </a:r>
            <a:r>
              <a:rPr lang="en-US" sz="1800" b="0" dirty="0" smtClean="0">
                <a:solidFill>
                  <a:schemeClr val="tx2"/>
                </a:solidFill>
              </a:rPr>
              <a:t>model</a:t>
            </a: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sz="1800" b="0" dirty="0" smtClean="0">
              <a:solidFill>
                <a:schemeClr val="tx2"/>
              </a:solidFill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b="0" dirty="0" smtClean="0">
                <a:solidFill>
                  <a:schemeClr val="tx2"/>
                </a:solidFill>
              </a:rPr>
              <a:t>Semantic </a:t>
            </a:r>
            <a:r>
              <a:rPr lang="en-US" sz="2000" b="0" dirty="0">
                <a:solidFill>
                  <a:schemeClr val="tx2"/>
                </a:solidFill>
              </a:rPr>
              <a:t>mapping </a:t>
            </a:r>
            <a:r>
              <a:rPr lang="en-US" sz="2000" b="0" dirty="0" smtClean="0">
                <a:solidFill>
                  <a:schemeClr val="tx2"/>
                </a:solidFill>
              </a:rPr>
              <a:t>framework (</a:t>
            </a:r>
            <a:r>
              <a:rPr lang="en-US" sz="1800" b="0" dirty="0" smtClean="0">
                <a:solidFill>
                  <a:schemeClr val="tx2"/>
                </a:solidFill>
              </a:rPr>
              <a:t>conform </a:t>
            </a:r>
            <a:r>
              <a:rPr lang="en-US" sz="1800" b="0" dirty="0">
                <a:solidFill>
                  <a:schemeClr val="tx2"/>
                </a:solidFill>
              </a:rPr>
              <a:t>to ISO </a:t>
            </a:r>
            <a:r>
              <a:rPr lang="en-US" sz="1800" b="0" dirty="0" smtClean="0">
                <a:solidFill>
                  <a:schemeClr val="tx2"/>
                </a:solidFill>
              </a:rPr>
              <a:t>baseline)</a:t>
            </a: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800" b="0" dirty="0" smtClean="0">
                <a:solidFill>
                  <a:schemeClr val="tx2"/>
                </a:solidFill>
              </a:rPr>
              <a:t>re-usable, consistent mappings using </a:t>
            </a:r>
            <a:r>
              <a:rPr lang="en-US" sz="1800" b="0" dirty="0" err="1">
                <a:solidFill>
                  <a:schemeClr val="tx2"/>
                </a:solidFill>
              </a:rPr>
              <a:t>HY_Features</a:t>
            </a:r>
            <a:r>
              <a:rPr lang="en-US" sz="1800" b="0" dirty="0">
                <a:solidFill>
                  <a:schemeClr val="tx2"/>
                </a:solidFill>
              </a:rPr>
              <a:t> relationships </a:t>
            </a: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1800" b="0" dirty="0" smtClean="0">
                <a:solidFill>
                  <a:schemeClr val="tx2"/>
                </a:solidFill>
              </a:rPr>
              <a:t>identify </a:t>
            </a:r>
            <a:r>
              <a:rPr lang="en-US" sz="1800" b="0" dirty="0">
                <a:solidFill>
                  <a:schemeClr val="tx2"/>
                </a:solidFill>
              </a:rPr>
              <a:t>common patterns from </a:t>
            </a:r>
            <a:r>
              <a:rPr lang="en-US" sz="1800" b="0" dirty="0" smtClean="0">
                <a:solidFill>
                  <a:schemeClr val="tx2"/>
                </a:solidFill>
              </a:rPr>
              <a:t>such example mappings</a:t>
            </a:r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800" b="0" dirty="0" smtClean="0">
                <a:solidFill>
                  <a:schemeClr val="tx2"/>
                </a:solidFill>
              </a:rPr>
              <a:t>appropriate tooling </a:t>
            </a:r>
            <a:r>
              <a:rPr lang="en-US" sz="1800" b="0" dirty="0">
                <a:solidFill>
                  <a:schemeClr val="tx2"/>
                </a:solidFill>
              </a:rPr>
              <a:t>to make </a:t>
            </a:r>
            <a:r>
              <a:rPr lang="en-US" sz="1800" b="0" dirty="0" smtClean="0">
                <a:solidFill>
                  <a:schemeClr val="tx2"/>
                </a:solidFill>
              </a:rPr>
              <a:t>mapping a </a:t>
            </a:r>
            <a:r>
              <a:rPr lang="en-US" sz="1800" b="0" dirty="0">
                <a:solidFill>
                  <a:schemeClr val="tx2"/>
                </a:solidFill>
              </a:rPr>
              <a:t>sustainable </a:t>
            </a:r>
            <a:r>
              <a:rPr lang="en-US" sz="1800" b="0" dirty="0" smtClean="0">
                <a:solidFill>
                  <a:schemeClr val="tx2"/>
                </a:solidFill>
              </a:rPr>
              <a:t>process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GB" sz="2000" u="sng" dirty="0" smtClean="0">
              <a:solidFill>
                <a:schemeClr val="tx2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684772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3193" y="304799"/>
            <a:ext cx="8837613" cy="480131"/>
          </a:xfrm>
        </p:spPr>
        <p:txBody>
          <a:bodyPr wrap="square">
            <a:spAutoFit/>
          </a:bodyPr>
          <a:lstStyle/>
          <a:p>
            <a:r>
              <a:rPr lang="en-GB" sz="2800" smtClean="0">
                <a:solidFill>
                  <a:schemeClr val="tx2"/>
                </a:solidFill>
              </a:rPr>
              <a:t>Same challenge !! </a:t>
            </a:r>
            <a:r>
              <a:rPr lang="en-GB" sz="2800" smtClean="0">
                <a:solidFill>
                  <a:srgbClr val="FF0000"/>
                </a:solidFill>
              </a:rPr>
              <a:t>CSIRO SIRF project </a:t>
            </a:r>
            <a:endParaRPr lang="en-GB" sz="2800" dirty="0" err="1">
              <a:solidFill>
                <a:srgbClr val="FF0000"/>
              </a:solidFill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21" y="962025"/>
            <a:ext cx="7467600" cy="5622114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7" name="Textfeld 6"/>
          <p:cNvSpPr txBox="1"/>
          <p:nvPr/>
        </p:nvSpPr>
        <p:spPr>
          <a:xfrm rot="16200000">
            <a:off x="7308274" y="5265006"/>
            <a:ext cx="2266950" cy="2424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b="0" smtClean="0">
                <a:solidFill>
                  <a:schemeClr val="tx2"/>
                </a:solidFill>
              </a:rPr>
              <a:t>Source: OGC-ER 14-048, modified.</a:t>
            </a:r>
            <a:endParaRPr lang="en-GB" b="0" dirty="0" err="1" smtClean="0">
              <a:solidFill>
                <a:schemeClr val="tx2"/>
              </a:solidFill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2514600" y="5738658"/>
            <a:ext cx="5562600" cy="790576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noAutofit/>
          </a:bodyPr>
          <a:lstStyle/>
          <a:p>
            <a:pPr algn="ctr"/>
            <a:endParaRPr lang="en-GB" sz="1600" smtClean="0">
              <a:solidFill>
                <a:srgbClr val="002060"/>
              </a:solidFill>
            </a:endParaRPr>
          </a:p>
          <a:p>
            <a:pPr algn="ctr"/>
            <a:r>
              <a:rPr lang="en-GB" sz="1600" smtClean="0">
                <a:solidFill>
                  <a:srgbClr val="002060"/>
                </a:solidFill>
              </a:rPr>
              <a:t>Spatial Identifier Reference Framework  - SIRF, 2014</a:t>
            </a:r>
            <a:endParaRPr lang="en-GB" sz="1600" dirty="0" err="1" smtClean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474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3193" y="304799"/>
            <a:ext cx="8837613" cy="480131"/>
          </a:xfrm>
        </p:spPr>
        <p:txBody>
          <a:bodyPr wrap="square">
            <a:spAutoFit/>
          </a:bodyPr>
          <a:lstStyle/>
          <a:p>
            <a:r>
              <a:rPr lang="en-GB" sz="2800" smtClean="0">
                <a:solidFill>
                  <a:schemeClr val="tx2"/>
                </a:solidFill>
              </a:rPr>
              <a:t>Same challenge !!  </a:t>
            </a:r>
            <a:r>
              <a:rPr lang="en-GB" sz="2800" smtClean="0">
                <a:solidFill>
                  <a:srgbClr val="FF0000"/>
                </a:solidFill>
              </a:rPr>
              <a:t>New chance !!</a:t>
            </a:r>
            <a:endParaRPr lang="en-GB" sz="2800" dirty="0" err="1">
              <a:solidFill>
                <a:srgbClr val="FF0000"/>
              </a:solidFill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3" name="Textfeld 2"/>
          <p:cNvSpPr txBox="1"/>
          <p:nvPr/>
        </p:nvSpPr>
        <p:spPr>
          <a:xfrm>
            <a:off x="866775" y="1295400"/>
            <a:ext cx="807720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u="sng" dirty="0" smtClean="0">
                <a:solidFill>
                  <a:srgbClr val="092E5C"/>
                </a:solidFill>
                <a:sym typeface="Wingdings" panose="05000000000000000000" pitchFamily="2" charset="2"/>
              </a:rPr>
              <a:t>Referencing hydrologic features</a:t>
            </a:r>
          </a:p>
          <a:p>
            <a:endParaRPr lang="en-GB" sz="2400" b="0" dirty="0" smtClean="0">
              <a:solidFill>
                <a:schemeClr val="tx2"/>
              </a:solidFill>
              <a:sym typeface="Wingdings" panose="05000000000000000000" pitchFamily="2" charset="2"/>
            </a:endParaRPr>
          </a:p>
          <a:p>
            <a:pPr marL="342900" lvl="1" indent="-342900">
              <a:spcBef>
                <a:spcPts val="600"/>
              </a:spcBef>
              <a:buFont typeface="+mj-lt"/>
              <a:buAutoNum type="arabicPeriod"/>
            </a:pPr>
            <a:r>
              <a:rPr lang="en-GB" sz="1800" b="0" dirty="0" smtClean="0">
                <a:solidFill>
                  <a:schemeClr val="tx2"/>
                </a:solidFill>
              </a:rPr>
              <a:t>OWS-10 </a:t>
            </a:r>
            <a:r>
              <a:rPr lang="en-GB" sz="1800" b="0" dirty="0">
                <a:solidFill>
                  <a:schemeClr val="tx2"/>
                </a:solidFill>
              </a:rPr>
              <a:t>CCI </a:t>
            </a:r>
            <a:r>
              <a:rPr lang="en-GB" sz="1800" b="0" dirty="0" smtClean="0">
                <a:solidFill>
                  <a:schemeClr val="tx2"/>
                </a:solidFill>
              </a:rPr>
              <a:t>Hydro “Mediation” use case: </a:t>
            </a:r>
            <a:endParaRPr lang="en-GB" sz="1800" b="0" dirty="0">
              <a:solidFill>
                <a:schemeClr val="tx2"/>
              </a:solidFill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1800" b="0" dirty="0">
                <a:solidFill>
                  <a:schemeClr val="tx2"/>
                </a:solidFill>
              </a:rPr>
              <a:t>use case of the test bed </a:t>
            </a:r>
            <a:r>
              <a:rPr lang="en-US" sz="1800" b="0" dirty="0" smtClean="0">
                <a:solidFill>
                  <a:schemeClr val="tx2"/>
                </a:solidFill>
              </a:rPr>
              <a:t>suggested </a:t>
            </a:r>
            <a:r>
              <a:rPr lang="en-US" sz="1800" b="0" dirty="0">
                <a:solidFill>
                  <a:schemeClr val="tx2"/>
                </a:solidFill>
              </a:rPr>
              <a:t>as a test case for a future standardization activity for model mapping </a:t>
            </a:r>
            <a:r>
              <a:rPr lang="en-US" sz="1800" b="0" dirty="0" smtClean="0">
                <a:solidFill>
                  <a:schemeClr val="tx2"/>
                </a:solidFill>
              </a:rPr>
              <a:t>frameworks</a:t>
            </a:r>
            <a:endParaRPr lang="en-GB" sz="1800" b="0" dirty="0">
              <a:solidFill>
                <a:schemeClr val="tx2"/>
              </a:solidFill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GB" sz="1800" b="0" dirty="0">
                <a:solidFill>
                  <a:schemeClr val="tx2"/>
                </a:solidFill>
              </a:rPr>
              <a:t>f</a:t>
            </a:r>
            <a:r>
              <a:rPr lang="en-GB" sz="1800" b="0" dirty="0" smtClean="0">
                <a:solidFill>
                  <a:schemeClr val="tx2"/>
                </a:solidFill>
              </a:rPr>
              <a:t>urther developed for the description of data that represent</a:t>
            </a:r>
          </a:p>
          <a:p>
            <a:pPr lvl="1"/>
            <a:r>
              <a:rPr lang="en-GB" sz="1800" b="0" dirty="0">
                <a:solidFill>
                  <a:schemeClr val="tx2"/>
                </a:solidFill>
              </a:rPr>
              <a:t>	</a:t>
            </a:r>
            <a:r>
              <a:rPr lang="en-GB" sz="1800" b="0" dirty="0" smtClean="0">
                <a:solidFill>
                  <a:schemeClr val="tx2"/>
                </a:solidFill>
              </a:rPr>
              <a:t>hydrologic features in different implementation contexts</a:t>
            </a:r>
          </a:p>
          <a:p>
            <a:pPr marL="342900" lvl="1" indent="-342900">
              <a:spcBef>
                <a:spcPts val="600"/>
              </a:spcBef>
              <a:buFont typeface="+mj-lt"/>
              <a:buAutoNum type="arabicPeriod" startAt="2"/>
            </a:pPr>
            <a:r>
              <a:rPr lang="en-GB" sz="1800" b="0" dirty="0" smtClean="0">
                <a:solidFill>
                  <a:schemeClr val="tx2"/>
                </a:solidFill>
              </a:rPr>
              <a:t>CSIRO </a:t>
            </a:r>
            <a:r>
              <a:rPr lang="en-GB" sz="1800" b="0" dirty="0">
                <a:solidFill>
                  <a:schemeClr val="tx2"/>
                </a:solidFill>
              </a:rPr>
              <a:t>SIRF </a:t>
            </a:r>
            <a:r>
              <a:rPr lang="en-GB" sz="1800" b="0" dirty="0" smtClean="0">
                <a:solidFill>
                  <a:schemeClr val="tx2"/>
                </a:solidFill>
              </a:rPr>
              <a:t>project results:</a:t>
            </a:r>
            <a:r>
              <a:rPr lang="en-GB" sz="1800" b="0" dirty="0" smtClean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endParaRPr lang="en-GB" sz="1800" b="0" dirty="0">
              <a:solidFill>
                <a:schemeClr val="tx2"/>
              </a:solidFill>
              <a:sym typeface="Wingdings" panose="05000000000000000000" pitchFamily="2" charset="2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sz="1800" b="0" dirty="0" smtClean="0">
                <a:solidFill>
                  <a:schemeClr val="tx2"/>
                </a:solidFill>
                <a:sym typeface="Wingdings" panose="05000000000000000000" pitchFamily="2" charset="2"/>
              </a:rPr>
              <a:t>Describe and link geospatial data via content documentation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sz="1800" b="0" dirty="0" smtClean="0">
                <a:solidFill>
                  <a:schemeClr val="tx2"/>
                </a:solidFill>
                <a:sym typeface="Wingdings" panose="05000000000000000000" pitchFamily="2" charset="2"/>
              </a:rPr>
              <a:t>Feature Type </a:t>
            </a:r>
            <a:r>
              <a:rPr lang="en-GB" sz="1800" b="0" dirty="0" err="1" smtClean="0">
                <a:solidFill>
                  <a:schemeClr val="tx2"/>
                </a:solidFill>
                <a:sym typeface="Wingdings" panose="05000000000000000000" pitchFamily="2" charset="2"/>
              </a:rPr>
              <a:t>Catalog</a:t>
            </a:r>
            <a:r>
              <a:rPr lang="en-GB" sz="1800" b="0" dirty="0" smtClean="0">
                <a:solidFill>
                  <a:schemeClr val="tx2"/>
                </a:solidFill>
                <a:sym typeface="Wingdings" panose="05000000000000000000" pitchFamily="2" charset="2"/>
              </a:rPr>
              <a:t> realising </a:t>
            </a:r>
            <a:r>
              <a:rPr lang="en-GB" sz="1800" b="0" dirty="0" err="1" smtClean="0">
                <a:solidFill>
                  <a:schemeClr val="tx2"/>
                </a:solidFill>
                <a:sym typeface="Wingdings" panose="05000000000000000000" pitchFamily="2" charset="2"/>
              </a:rPr>
              <a:t>HY_Features</a:t>
            </a:r>
            <a:r>
              <a:rPr lang="en-GB" sz="1800" b="0" dirty="0" smtClean="0">
                <a:solidFill>
                  <a:schemeClr val="tx2"/>
                </a:solidFill>
                <a:sym typeface="Wingdings" panose="05000000000000000000" pitchFamily="2" charset="2"/>
              </a:rPr>
              <a:t> relationships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sz="1800" b="0" dirty="0" smtClean="0">
                <a:solidFill>
                  <a:schemeClr val="tx2"/>
                </a:solidFill>
                <a:sym typeface="Wingdings" panose="05000000000000000000" pitchFamily="2" charset="2"/>
              </a:rPr>
              <a:t>Meta-model for (UML) schema mapping, incl. mapping vocabulary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sz="1800" b="0" dirty="0" smtClean="0">
                <a:solidFill>
                  <a:schemeClr val="tx2"/>
                </a:solidFill>
                <a:sym typeface="Wingdings" panose="05000000000000000000" pitchFamily="2" charset="2"/>
              </a:rPr>
              <a:t>Tooling: </a:t>
            </a:r>
            <a:r>
              <a:rPr lang="en-AU" sz="1800" b="0" dirty="0" smtClean="0">
                <a:solidFill>
                  <a:schemeClr val="tx2"/>
                </a:solidFill>
              </a:rPr>
              <a:t>FTC, URI-binding </a:t>
            </a:r>
            <a:r>
              <a:rPr lang="en-AU" sz="1800" b="0" dirty="0">
                <a:solidFill>
                  <a:schemeClr val="tx2"/>
                </a:solidFill>
              </a:rPr>
              <a:t>pattern, mapping encoding, query </a:t>
            </a:r>
            <a:r>
              <a:rPr lang="en-AU" sz="1800" b="0" dirty="0" smtClean="0">
                <a:solidFill>
                  <a:schemeClr val="tx2"/>
                </a:solidFill>
              </a:rPr>
              <a:t>language, ...</a:t>
            </a:r>
            <a:endParaRPr lang="en-AU" sz="1800" b="0" dirty="0">
              <a:solidFill>
                <a:schemeClr val="tx2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1800" b="0" dirty="0" smtClean="0">
              <a:solidFill>
                <a:schemeClr val="tx2"/>
              </a:solidFill>
              <a:sym typeface="Wingdings" panose="05000000000000000000" pitchFamily="2" charset="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dirty="0" smtClean="0">
                <a:solidFill>
                  <a:schemeClr val="tx2"/>
                </a:solidFill>
                <a:sym typeface="Wingdings" panose="05000000000000000000" pitchFamily="2" charset="2"/>
              </a:rPr>
              <a:t>Do we have a NFIE mediation scenario ???</a:t>
            </a:r>
            <a:endParaRPr lang="en-GB" sz="2400" b="0" dirty="0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035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3193" y="304799"/>
            <a:ext cx="8837613" cy="480131"/>
          </a:xfrm>
        </p:spPr>
        <p:txBody>
          <a:bodyPr wrap="square">
            <a:spAutoFit/>
          </a:bodyPr>
          <a:lstStyle/>
          <a:p>
            <a:r>
              <a:rPr lang="en-GB" sz="2800" smtClean="0">
                <a:solidFill>
                  <a:schemeClr val="tx2"/>
                </a:solidFill>
              </a:rPr>
              <a:t>Same challenge !!  </a:t>
            </a:r>
            <a:r>
              <a:rPr lang="en-GB" sz="2800" smtClean="0">
                <a:solidFill>
                  <a:srgbClr val="FF0000"/>
                </a:solidFill>
              </a:rPr>
              <a:t>New chance: NFIE ?</a:t>
            </a:r>
            <a:endParaRPr lang="en-GB" sz="2800" dirty="0" err="1">
              <a:solidFill>
                <a:srgbClr val="FF0000"/>
              </a:solidFill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grpSp>
        <p:nvGrpSpPr>
          <p:cNvPr id="9" name="Gruppieren 8"/>
          <p:cNvGrpSpPr/>
          <p:nvPr/>
        </p:nvGrpSpPr>
        <p:grpSpPr>
          <a:xfrm>
            <a:off x="1274309" y="1019629"/>
            <a:ext cx="7260090" cy="5201283"/>
            <a:chOff x="952771" y="398485"/>
            <a:chExt cx="7417828" cy="5611437"/>
          </a:xfrm>
        </p:grpSpPr>
        <p:sp>
          <p:nvSpPr>
            <p:cNvPr id="11" name="Rounded Rectangle 13"/>
            <p:cNvSpPr/>
            <p:nvPr/>
          </p:nvSpPr>
          <p:spPr>
            <a:xfrm>
              <a:off x="3573573" y="2997850"/>
              <a:ext cx="1946052" cy="84746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rgbClr val="FF99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smtClean="0">
                  <a:solidFill>
                    <a:schemeClr val="tx2"/>
                  </a:solidFill>
                </a:rPr>
                <a:t>Spatial Identifier </a:t>
              </a:r>
              <a:r>
                <a:rPr lang="en-US" sz="1100" smtClean="0">
                  <a:solidFill>
                    <a:schemeClr val="tx2"/>
                  </a:solidFill>
                </a:rPr>
                <a:t>Reference</a:t>
              </a:r>
              <a:r>
                <a:rPr lang="en-US" sz="1200" smtClean="0">
                  <a:solidFill>
                    <a:schemeClr val="tx2"/>
                  </a:solidFill>
                </a:rPr>
                <a:t> Framework </a:t>
              </a:r>
            </a:p>
            <a:p>
              <a:pPr algn="ctr"/>
              <a:r>
                <a:rPr lang="en-US" sz="1200" smtClean="0">
                  <a:solidFill>
                    <a:schemeClr val="tx2"/>
                  </a:solidFill>
                </a:rPr>
                <a:t>(CSIRO SIRF)</a:t>
              </a:r>
              <a:endParaRPr lang="en-US" sz="1200" dirty="0">
                <a:solidFill>
                  <a:schemeClr val="tx2"/>
                </a:solidFill>
              </a:endParaRPr>
            </a:p>
          </p:txBody>
        </p:sp>
        <p:sp>
          <p:nvSpPr>
            <p:cNvPr id="12" name="Rounded Rectangle 14"/>
            <p:cNvSpPr/>
            <p:nvPr/>
          </p:nvSpPr>
          <p:spPr>
            <a:xfrm>
              <a:off x="3690866" y="5402459"/>
              <a:ext cx="1711469" cy="607463"/>
            </a:xfrm>
            <a:prstGeom prst="roundRect">
              <a:avLst/>
            </a:prstGeom>
            <a:solidFill>
              <a:srgbClr val="C3DBF9"/>
            </a:solidFill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smtClean="0">
                  <a:solidFill>
                    <a:schemeClr val="tx2"/>
                  </a:solidFill>
                </a:rPr>
                <a:t>NFIE</a:t>
              </a:r>
              <a:r>
                <a:rPr lang="en-US" sz="1600" b="0" smtClean="0">
                  <a:solidFill>
                    <a:schemeClr val="tx2"/>
                  </a:solidFill>
                </a:rPr>
                <a:t> Service</a:t>
              </a:r>
              <a:endParaRPr lang="en-US" sz="1600" b="0" dirty="0">
                <a:solidFill>
                  <a:schemeClr val="tx2"/>
                </a:solidFill>
              </a:endParaRPr>
            </a:p>
          </p:txBody>
        </p:sp>
        <p:pic>
          <p:nvPicPr>
            <p:cNvPr id="13" name="Pictur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18898" y="712392"/>
              <a:ext cx="1250606" cy="1660096"/>
            </a:xfrm>
            <a:prstGeom prst="rect">
              <a:avLst/>
            </a:prstGeom>
            <a:ln>
              <a:solidFill>
                <a:schemeClr val="tx2">
                  <a:lumMod val="75000"/>
                  <a:alpha val="97000"/>
                </a:schemeClr>
              </a:solidFill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cxnSp>
          <p:nvCxnSpPr>
            <p:cNvPr id="14" name="Straight Arrow Connector 26"/>
            <p:cNvCxnSpPr>
              <a:stCxn id="22" idx="2"/>
              <a:endCxn id="11" idx="0"/>
            </p:cNvCxnSpPr>
            <p:nvPr/>
          </p:nvCxnSpPr>
          <p:spPr>
            <a:xfrm flipH="1">
              <a:off x="4546599" y="2296037"/>
              <a:ext cx="1425618" cy="701813"/>
            </a:xfrm>
            <a:prstGeom prst="straightConnector1">
              <a:avLst/>
            </a:prstGeom>
            <a:ln>
              <a:prstDash val="sysDash"/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31"/>
            <p:cNvSpPr txBox="1"/>
            <p:nvPr/>
          </p:nvSpPr>
          <p:spPr>
            <a:xfrm>
              <a:off x="3825264" y="436229"/>
              <a:ext cx="20320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HY_Features</a:t>
              </a:r>
              <a:r>
                <a:rPr lang="en-US" dirty="0" smtClean="0"/>
                <a:t> Model</a:t>
              </a:r>
              <a:endParaRPr lang="en-US" dirty="0"/>
            </a:p>
          </p:txBody>
        </p:sp>
        <p:sp>
          <p:nvSpPr>
            <p:cNvPr id="32" name="Rounded Rectangle 39"/>
            <p:cNvSpPr/>
            <p:nvPr/>
          </p:nvSpPr>
          <p:spPr>
            <a:xfrm>
              <a:off x="952771" y="639945"/>
              <a:ext cx="1360700" cy="1503180"/>
            </a:xfrm>
            <a:prstGeom prst="roundRect">
              <a:avLst>
                <a:gd name="adj" fmla="val 5750"/>
              </a:avLst>
            </a:prstGeom>
            <a:noFill/>
            <a:ln w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43"/>
            <p:cNvGrpSpPr>
              <a:grpSpLocks noChangeAspect="1"/>
            </p:cNvGrpSpPr>
            <p:nvPr/>
          </p:nvGrpSpPr>
          <p:grpSpPr>
            <a:xfrm>
              <a:off x="6774932" y="639945"/>
              <a:ext cx="1360700" cy="1503180"/>
              <a:chOff x="5896127" y="2031894"/>
              <a:chExt cx="2092406" cy="2311506"/>
            </a:xfrm>
          </p:grpSpPr>
          <p:sp>
            <p:nvSpPr>
              <p:cNvPr id="28" name="Can 44"/>
              <p:cNvSpPr/>
              <p:nvPr/>
            </p:nvSpPr>
            <p:spPr>
              <a:xfrm>
                <a:off x="6180883" y="3335973"/>
                <a:ext cx="1463040" cy="548639"/>
              </a:xfrm>
              <a:prstGeom prst="can">
                <a:avLst>
                  <a:gd name="adj" fmla="val 44291"/>
                </a:avLst>
              </a:prstGeom>
              <a:gradFill flip="none" rotWithShape="1">
                <a:gsLst>
                  <a:gs pos="0">
                    <a:srgbClr val="FFCC00"/>
                  </a:gs>
                  <a:gs pos="100000">
                    <a:srgbClr val="FFFFFF"/>
                  </a:gs>
                </a:gsLst>
                <a:lin ang="16200000" scaled="0"/>
                <a:tileRect/>
              </a:gra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800" dirty="0" smtClean="0">
                    <a:solidFill>
                      <a:schemeClr val="tx2"/>
                    </a:solidFill>
                  </a:rPr>
                  <a:t>Gauging Station</a:t>
                </a:r>
                <a:endParaRPr lang="en-US" sz="8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29" name="Can 45"/>
              <p:cNvSpPr/>
              <p:nvPr/>
            </p:nvSpPr>
            <p:spPr>
              <a:xfrm>
                <a:off x="6363762" y="2914027"/>
                <a:ext cx="1097280" cy="548639"/>
              </a:xfrm>
              <a:prstGeom prst="can">
                <a:avLst>
                  <a:gd name="adj" fmla="val 39468"/>
                </a:avLst>
              </a:prstGeom>
              <a:gradFill flip="none" rotWithShape="1">
                <a:gsLst>
                  <a:gs pos="0">
                    <a:srgbClr val="FFCC00"/>
                  </a:gs>
                  <a:gs pos="100000">
                    <a:srgbClr val="FFFFFF"/>
                  </a:gs>
                </a:gsLst>
                <a:lin ang="16200000" scaled="0"/>
                <a:tileRect/>
              </a:gradFill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rtlCol="0" anchor="ctr"/>
              <a:lstStyle/>
              <a:p>
                <a:pPr algn="ctr"/>
                <a:r>
                  <a:rPr lang="en-US" sz="800" smtClean="0">
                    <a:solidFill>
                      <a:schemeClr val="tx2"/>
                    </a:solidFill>
                  </a:rPr>
                  <a:t>Flowline </a:t>
                </a:r>
              </a:p>
              <a:p>
                <a:pPr algn="ctr"/>
                <a:r>
                  <a:rPr lang="en-US" sz="800" smtClean="0">
                    <a:solidFill>
                      <a:schemeClr val="tx2"/>
                    </a:solidFill>
                  </a:rPr>
                  <a:t>Catchment</a:t>
                </a:r>
                <a:endParaRPr lang="en-US" sz="8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30" name="Can 46"/>
              <p:cNvSpPr/>
              <p:nvPr/>
            </p:nvSpPr>
            <p:spPr>
              <a:xfrm>
                <a:off x="6546642" y="2457860"/>
                <a:ext cx="731521" cy="548639"/>
              </a:xfrm>
              <a:prstGeom prst="can">
                <a:avLst>
                  <a:gd name="adj" fmla="val 27411"/>
                </a:avLst>
              </a:prstGeom>
              <a:gradFill flip="none" rotWithShape="1">
                <a:gsLst>
                  <a:gs pos="0">
                    <a:srgbClr val="FFCC00"/>
                  </a:gs>
                  <a:gs pos="100000">
                    <a:srgbClr val="FFFFFF"/>
                  </a:gs>
                </a:gsLst>
                <a:lin ang="16200000" scaled="0"/>
                <a:tileRect/>
              </a:gradFill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200" smtClean="0">
                    <a:solidFill>
                      <a:schemeClr val="tx2"/>
                    </a:solidFill>
                  </a:rPr>
                  <a:t>NHD+</a:t>
                </a:r>
                <a:endParaRPr lang="en-US" sz="12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31" name="Rounded Rectangle 47"/>
              <p:cNvSpPr/>
              <p:nvPr/>
            </p:nvSpPr>
            <p:spPr>
              <a:xfrm>
                <a:off x="5896127" y="2031894"/>
                <a:ext cx="2092406" cy="2311506"/>
              </a:xfrm>
              <a:prstGeom prst="roundRect">
                <a:avLst>
                  <a:gd name="adj" fmla="val 5750"/>
                </a:avLst>
              </a:prstGeom>
              <a:noFill/>
              <a:ln w="25400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" name="TextBox 48"/>
            <p:cNvSpPr txBox="1"/>
            <p:nvPr/>
          </p:nvSpPr>
          <p:spPr>
            <a:xfrm>
              <a:off x="1065936" y="398485"/>
              <a:ext cx="14627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NHD</a:t>
              </a:r>
              <a:r>
                <a:rPr lang="en-US" smtClean="0"/>
                <a:t>+ Service</a:t>
              </a:r>
              <a:endParaRPr lang="en-US" dirty="0"/>
            </a:p>
          </p:txBody>
        </p:sp>
        <p:sp>
          <p:nvSpPr>
            <p:cNvPr id="19" name="TextBox 49"/>
            <p:cNvSpPr txBox="1"/>
            <p:nvPr/>
          </p:nvSpPr>
          <p:spPr>
            <a:xfrm>
              <a:off x="6907826" y="401665"/>
              <a:ext cx="14627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mtClean="0"/>
                <a:t>NHD+ Service</a:t>
              </a:r>
              <a:endParaRPr lang="en-US" dirty="0"/>
            </a:p>
          </p:txBody>
        </p:sp>
        <p:cxnSp>
          <p:nvCxnSpPr>
            <p:cNvPr id="20" name="Straight Arrow Connector 50"/>
            <p:cNvCxnSpPr>
              <a:stCxn id="23" idx="0"/>
              <a:endCxn id="13" idx="1"/>
            </p:cNvCxnSpPr>
            <p:nvPr/>
          </p:nvCxnSpPr>
          <p:spPr>
            <a:xfrm flipV="1">
              <a:off x="3116185" y="1542441"/>
              <a:ext cx="802713" cy="234393"/>
            </a:xfrm>
            <a:prstGeom prst="straightConnector1">
              <a:avLst/>
            </a:prstGeom>
            <a:ln>
              <a:prstDash val="sysDash"/>
              <a:headEnd type="none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57"/>
            <p:cNvCxnSpPr>
              <a:stCxn id="13" idx="3"/>
              <a:endCxn id="22" idx="0"/>
            </p:cNvCxnSpPr>
            <p:nvPr/>
          </p:nvCxnSpPr>
          <p:spPr>
            <a:xfrm>
              <a:off x="5169504" y="1542441"/>
              <a:ext cx="802713" cy="219438"/>
            </a:xfrm>
            <a:prstGeom prst="straightConnector1">
              <a:avLst/>
            </a:prstGeom>
            <a:ln>
              <a:prstDash val="sysDash"/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Abgerundetes Rechteck 21"/>
            <p:cNvSpPr/>
            <p:nvPr/>
          </p:nvSpPr>
          <p:spPr>
            <a:xfrm>
              <a:off x="5476845" y="1761879"/>
              <a:ext cx="990744" cy="53415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rgbClr val="FF99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GB" sz="1200" smtClean="0">
                  <a:solidFill>
                    <a:schemeClr val="tx2"/>
                  </a:solidFill>
                </a:rPr>
                <a:t>NHD+ Mapping</a:t>
              </a:r>
              <a:endParaRPr lang="en-GB" sz="1200">
                <a:solidFill>
                  <a:schemeClr val="tx2"/>
                </a:solidFill>
              </a:endParaRPr>
            </a:p>
          </p:txBody>
        </p:sp>
        <p:sp>
          <p:nvSpPr>
            <p:cNvPr id="23" name="Abgerundetes Rechteck 22"/>
            <p:cNvSpPr/>
            <p:nvPr/>
          </p:nvSpPr>
          <p:spPr>
            <a:xfrm>
              <a:off x="2620813" y="1776834"/>
              <a:ext cx="990744" cy="53415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rgbClr val="FF99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GB" sz="1200" smtClean="0">
                  <a:solidFill>
                    <a:schemeClr val="tx2"/>
                  </a:solidFill>
                </a:rPr>
                <a:t>NHD+ Mapping</a:t>
              </a:r>
              <a:endParaRPr lang="en-GB" sz="1200">
                <a:solidFill>
                  <a:schemeClr val="tx2"/>
                </a:solidFill>
              </a:endParaRPr>
            </a:p>
          </p:txBody>
        </p:sp>
        <p:cxnSp>
          <p:nvCxnSpPr>
            <p:cNvPr id="24" name="Straight Arrow Connector 50"/>
            <p:cNvCxnSpPr>
              <a:stCxn id="22" idx="0"/>
              <a:endCxn id="31" idx="1"/>
            </p:cNvCxnSpPr>
            <p:nvPr/>
          </p:nvCxnSpPr>
          <p:spPr>
            <a:xfrm flipV="1">
              <a:off x="5972217" y="1391536"/>
              <a:ext cx="802714" cy="370343"/>
            </a:xfrm>
            <a:prstGeom prst="straightConnector1">
              <a:avLst/>
            </a:prstGeom>
            <a:ln>
              <a:prstDash val="sysDash"/>
              <a:headEnd type="none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57"/>
            <p:cNvCxnSpPr>
              <a:stCxn id="32" idx="3"/>
              <a:endCxn id="23" idx="0"/>
            </p:cNvCxnSpPr>
            <p:nvPr/>
          </p:nvCxnSpPr>
          <p:spPr>
            <a:xfrm>
              <a:off x="2313471" y="1391536"/>
              <a:ext cx="802714" cy="385298"/>
            </a:xfrm>
            <a:prstGeom prst="straightConnector1">
              <a:avLst/>
            </a:prstGeom>
            <a:ln>
              <a:prstDash val="sysDash"/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6"/>
            <p:cNvCxnSpPr>
              <a:stCxn id="23" idx="2"/>
              <a:endCxn id="11" idx="0"/>
            </p:cNvCxnSpPr>
            <p:nvPr/>
          </p:nvCxnSpPr>
          <p:spPr>
            <a:xfrm>
              <a:off x="3116185" y="2310992"/>
              <a:ext cx="1430414" cy="686858"/>
            </a:xfrm>
            <a:prstGeom prst="straightConnector1">
              <a:avLst/>
            </a:prstGeom>
            <a:ln>
              <a:prstDash val="sysDash"/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2" idx="0"/>
              <a:endCxn id="11" idx="2"/>
            </p:cNvCxnSpPr>
            <p:nvPr/>
          </p:nvCxnSpPr>
          <p:spPr>
            <a:xfrm flipH="1" flipV="1">
              <a:off x="4546599" y="3845318"/>
              <a:ext cx="2" cy="1557141"/>
            </a:xfrm>
            <a:prstGeom prst="straightConnector1">
              <a:avLst/>
            </a:prstGeom>
            <a:ln>
              <a:prstDash val="sysDash"/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1"/>
          <p:cNvGrpSpPr>
            <a:grpSpLocks noChangeAspect="1"/>
          </p:cNvGrpSpPr>
          <p:nvPr/>
        </p:nvGrpSpPr>
        <p:grpSpPr>
          <a:xfrm>
            <a:off x="1083665" y="3955439"/>
            <a:ext cx="1604050" cy="1678177"/>
            <a:chOff x="1331872" y="2070465"/>
            <a:chExt cx="2092406" cy="2311506"/>
          </a:xfrm>
        </p:grpSpPr>
        <p:sp>
          <p:nvSpPr>
            <p:cNvPr id="83" name="Rounded Rectangle 11"/>
            <p:cNvSpPr/>
            <p:nvPr/>
          </p:nvSpPr>
          <p:spPr>
            <a:xfrm>
              <a:off x="1331872" y="2070465"/>
              <a:ext cx="2092406" cy="2311506"/>
            </a:xfrm>
            <a:prstGeom prst="roundRect">
              <a:avLst>
                <a:gd name="adj" fmla="val 5750"/>
              </a:avLst>
            </a:prstGeom>
            <a:noFill/>
            <a:ln w="25400">
              <a:solidFill>
                <a:srgbClr val="092E5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84" name="Can 3"/>
            <p:cNvSpPr/>
            <p:nvPr/>
          </p:nvSpPr>
          <p:spPr>
            <a:xfrm>
              <a:off x="1646555" y="3370023"/>
              <a:ext cx="1463040" cy="548640"/>
            </a:xfrm>
            <a:prstGeom prst="can">
              <a:avLst>
                <a:gd name="adj" fmla="val 44291"/>
              </a:avLst>
            </a:prstGeom>
            <a:gradFill>
              <a:gsLst>
                <a:gs pos="0">
                  <a:srgbClr val="0070C0"/>
                </a:gs>
                <a:gs pos="80000">
                  <a:schemeClr val="tx2">
                    <a:lumMod val="50000"/>
                    <a:lumOff val="5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</a:gradFill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050" smtClean="0">
                  <a:solidFill>
                    <a:schemeClr val="tx2"/>
                  </a:solidFill>
                </a:rPr>
                <a:t>Flow data</a:t>
              </a:r>
              <a:endParaRPr lang="en-US" sz="1050" dirty="0">
                <a:solidFill>
                  <a:schemeClr val="tx2"/>
                </a:solidFill>
              </a:endParaRPr>
            </a:p>
          </p:txBody>
        </p:sp>
        <p:sp>
          <p:nvSpPr>
            <p:cNvPr id="85" name="Can 4"/>
            <p:cNvSpPr/>
            <p:nvPr/>
          </p:nvSpPr>
          <p:spPr>
            <a:xfrm>
              <a:off x="1829435" y="2942883"/>
              <a:ext cx="1097280" cy="548640"/>
            </a:xfrm>
            <a:prstGeom prst="can">
              <a:avLst>
                <a:gd name="adj" fmla="val 39468"/>
              </a:avLst>
            </a:prstGeom>
            <a:gradFill>
              <a:gsLst>
                <a:gs pos="0">
                  <a:srgbClr val="0070C0"/>
                </a:gs>
                <a:gs pos="80000">
                  <a:schemeClr val="tx2">
                    <a:lumMod val="50000"/>
                    <a:lumOff val="5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</a:gradFill>
            <a:ln>
              <a:solidFill>
                <a:schemeClr val="accent1"/>
              </a:solidFill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800" smtClean="0">
                  <a:solidFill>
                    <a:schemeClr val="tx2"/>
                  </a:solidFill>
                </a:rPr>
                <a:t>Polyline</a:t>
              </a:r>
            </a:p>
            <a:p>
              <a:pPr algn="ctr"/>
              <a:r>
                <a:rPr lang="en-US" sz="800" smtClean="0">
                  <a:solidFill>
                    <a:schemeClr val="tx2"/>
                  </a:solidFill>
                </a:rPr>
                <a:t>Polygon</a:t>
              </a:r>
              <a:endParaRPr lang="en-US" sz="800" dirty="0">
                <a:solidFill>
                  <a:schemeClr val="tx2"/>
                </a:solidFill>
              </a:endParaRPr>
            </a:p>
          </p:txBody>
        </p:sp>
        <p:sp>
          <p:nvSpPr>
            <p:cNvPr id="86" name="Can 5"/>
            <p:cNvSpPr/>
            <p:nvPr/>
          </p:nvSpPr>
          <p:spPr>
            <a:xfrm>
              <a:off x="2012314" y="2486717"/>
              <a:ext cx="731520" cy="548640"/>
            </a:xfrm>
            <a:prstGeom prst="can">
              <a:avLst>
                <a:gd name="adj" fmla="val 27411"/>
              </a:avLst>
            </a:prstGeom>
            <a:gradFill>
              <a:gsLst>
                <a:gs pos="0">
                  <a:srgbClr val="0070C0"/>
                </a:gs>
                <a:gs pos="80000">
                  <a:schemeClr val="tx2">
                    <a:lumMod val="50000"/>
                    <a:lumOff val="5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</a:gradFill>
            <a:ln>
              <a:solidFill>
                <a:schemeClr val="accent1"/>
              </a:solidFill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100" dirty="0" smtClean="0">
                  <a:solidFill>
                    <a:schemeClr val="tx2"/>
                  </a:solidFill>
                </a:rPr>
                <a:t>NHD+</a:t>
              </a:r>
              <a:endParaRPr lang="en-US" sz="1100" dirty="0">
                <a:solidFill>
                  <a:schemeClr val="tx2"/>
                </a:solidFill>
              </a:endParaRPr>
            </a:p>
          </p:txBody>
        </p:sp>
      </p:grpSp>
      <p:sp>
        <p:nvSpPr>
          <p:cNvPr id="91" name="Rounded Rectangle 12"/>
          <p:cNvSpPr/>
          <p:nvPr/>
        </p:nvSpPr>
        <p:spPr>
          <a:xfrm>
            <a:off x="6804634" y="3955439"/>
            <a:ext cx="1604050" cy="1678177"/>
          </a:xfrm>
          <a:prstGeom prst="roundRect">
            <a:avLst>
              <a:gd name="adj" fmla="val 5750"/>
            </a:avLst>
          </a:prstGeom>
          <a:noFill/>
          <a:ln w="25400">
            <a:solidFill>
              <a:srgbClr val="09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2" name="Straight Arrow Connector 16"/>
          <p:cNvCxnSpPr/>
          <p:nvPr/>
        </p:nvCxnSpPr>
        <p:spPr>
          <a:xfrm flipV="1">
            <a:off x="4447823" y="4231405"/>
            <a:ext cx="0" cy="1417362"/>
          </a:xfrm>
          <a:prstGeom prst="straightConnector1">
            <a:avLst/>
          </a:prstGeom>
          <a:ln>
            <a:solidFill>
              <a:schemeClr val="tx2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22"/>
          <p:cNvCxnSpPr>
            <a:stCxn id="83" idx="3"/>
            <a:endCxn id="12" idx="1"/>
          </p:cNvCxnSpPr>
          <p:nvPr/>
        </p:nvCxnSpPr>
        <p:spPr>
          <a:xfrm>
            <a:off x="2687715" y="4794528"/>
            <a:ext cx="1266464" cy="1144853"/>
          </a:xfrm>
          <a:prstGeom prst="straightConnector1">
            <a:avLst/>
          </a:prstGeom>
          <a:ln>
            <a:solidFill>
              <a:schemeClr val="tx2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23"/>
          <p:cNvCxnSpPr>
            <a:stCxn id="12" idx="3"/>
            <a:endCxn id="91" idx="1"/>
          </p:cNvCxnSpPr>
          <p:nvPr/>
        </p:nvCxnSpPr>
        <p:spPr>
          <a:xfrm flipV="1">
            <a:off x="5629254" y="4794528"/>
            <a:ext cx="1175380" cy="1144853"/>
          </a:xfrm>
          <a:prstGeom prst="straightConnector1">
            <a:avLst/>
          </a:prstGeom>
          <a:ln>
            <a:solidFill>
              <a:schemeClr val="tx2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30"/>
          <p:cNvSpPr txBox="1"/>
          <p:nvPr/>
        </p:nvSpPr>
        <p:spPr>
          <a:xfrm>
            <a:off x="3025070" y="4451482"/>
            <a:ext cx="1376140" cy="39939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1100" dirty="0" smtClean="0">
                <a:solidFill>
                  <a:schemeClr val="tx2"/>
                </a:solidFill>
              </a:rPr>
              <a:t>1) Query </a:t>
            </a:r>
            <a:r>
              <a:rPr lang="en-US" sz="1100" smtClean="0">
                <a:solidFill>
                  <a:schemeClr val="tx2"/>
                </a:solidFill>
              </a:rPr>
              <a:t>concepts (reference </a:t>
            </a:r>
            <a:r>
              <a:rPr lang="en-US" sz="1100" dirty="0" smtClean="0">
                <a:solidFill>
                  <a:schemeClr val="tx2"/>
                </a:solidFill>
              </a:rPr>
              <a:t>model)</a:t>
            </a:r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96" name="TextBox 32"/>
          <p:cNvSpPr txBox="1"/>
          <p:nvPr/>
        </p:nvSpPr>
        <p:spPr>
          <a:xfrm>
            <a:off x="3338012" y="4960778"/>
            <a:ext cx="1063198" cy="39939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1100" dirty="0" smtClean="0">
                <a:solidFill>
                  <a:schemeClr val="tx2"/>
                </a:solidFill>
              </a:rPr>
              <a:t>2</a:t>
            </a:r>
            <a:r>
              <a:rPr lang="en-US" sz="1100" smtClean="0">
                <a:solidFill>
                  <a:schemeClr val="tx2"/>
                </a:solidFill>
              </a:rPr>
              <a:t>) Response  </a:t>
            </a:r>
            <a:endParaRPr lang="en-US" sz="1100" dirty="0" smtClean="0">
              <a:solidFill>
                <a:schemeClr val="tx2"/>
              </a:solidFill>
            </a:endParaRPr>
          </a:p>
          <a:p>
            <a:pPr algn="r"/>
            <a:r>
              <a:rPr lang="en-US" sz="1100" dirty="0" smtClean="0">
                <a:solidFill>
                  <a:schemeClr val="tx2"/>
                </a:solidFill>
              </a:rPr>
              <a:t>(target model)</a:t>
            </a:r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97" name="TextBox 6"/>
          <p:cNvSpPr txBox="1"/>
          <p:nvPr/>
        </p:nvSpPr>
        <p:spPr>
          <a:xfrm>
            <a:off x="2678190" y="5600605"/>
            <a:ext cx="971159" cy="26673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100" dirty="0" smtClean="0">
                <a:solidFill>
                  <a:schemeClr val="tx2"/>
                </a:solidFill>
              </a:rPr>
              <a:t>3) Query (</a:t>
            </a:r>
            <a:r>
              <a:rPr lang="en-US" sz="1100" smtClean="0">
                <a:solidFill>
                  <a:schemeClr val="tx2"/>
                </a:solidFill>
              </a:rPr>
              <a:t>data)</a:t>
            </a:r>
            <a:endParaRPr lang="en-US" sz="1100" dirty="0" smtClean="0">
              <a:solidFill>
                <a:schemeClr val="tx2"/>
              </a:solidFill>
            </a:endParaRPr>
          </a:p>
        </p:txBody>
      </p:sp>
      <p:sp>
        <p:nvSpPr>
          <p:cNvPr id="98" name="TextBox 55"/>
          <p:cNvSpPr txBox="1"/>
          <p:nvPr/>
        </p:nvSpPr>
        <p:spPr>
          <a:xfrm>
            <a:off x="5848496" y="5605969"/>
            <a:ext cx="971159" cy="26673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100" dirty="0" smtClean="0">
                <a:solidFill>
                  <a:schemeClr val="tx2"/>
                </a:solidFill>
              </a:rPr>
              <a:t>4) Query (</a:t>
            </a:r>
            <a:r>
              <a:rPr lang="en-US" sz="1100" smtClean="0">
                <a:solidFill>
                  <a:schemeClr val="tx2"/>
                </a:solidFill>
              </a:rPr>
              <a:t>data)</a:t>
            </a:r>
            <a:endParaRPr lang="en-US" sz="1100" dirty="0" smtClean="0">
              <a:solidFill>
                <a:schemeClr val="tx2"/>
              </a:solidFill>
            </a:endParaRPr>
          </a:p>
        </p:txBody>
      </p:sp>
      <p:sp>
        <p:nvSpPr>
          <p:cNvPr id="99" name="TextBox 59"/>
          <p:cNvSpPr txBox="1"/>
          <p:nvPr/>
        </p:nvSpPr>
        <p:spPr>
          <a:xfrm>
            <a:off x="5207600" y="4469289"/>
            <a:ext cx="1330414" cy="24248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100" dirty="0" smtClean="0">
                <a:solidFill>
                  <a:schemeClr val="tx2"/>
                </a:solidFill>
              </a:rPr>
              <a:t>5</a:t>
            </a:r>
            <a:r>
              <a:rPr lang="en-US" sz="1100" smtClean="0">
                <a:solidFill>
                  <a:schemeClr val="tx2"/>
                </a:solidFill>
              </a:rPr>
              <a:t>) Query context</a:t>
            </a:r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100" name="TextBox 60"/>
          <p:cNvSpPr txBox="1"/>
          <p:nvPr/>
        </p:nvSpPr>
        <p:spPr>
          <a:xfrm>
            <a:off x="5229150" y="4755646"/>
            <a:ext cx="1361257" cy="39939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100" dirty="0" smtClean="0">
                <a:solidFill>
                  <a:schemeClr val="tx2"/>
                </a:solidFill>
              </a:rPr>
              <a:t>6</a:t>
            </a:r>
            <a:r>
              <a:rPr lang="en-US" sz="1100" smtClean="0">
                <a:solidFill>
                  <a:schemeClr val="tx2"/>
                </a:solidFill>
              </a:rPr>
              <a:t>) Response data and  context</a:t>
            </a:r>
            <a:endParaRPr lang="en-US" sz="1100" dirty="0" smtClean="0">
              <a:solidFill>
                <a:schemeClr val="tx2"/>
              </a:solidFill>
            </a:endParaRPr>
          </a:p>
        </p:txBody>
      </p:sp>
      <p:cxnSp>
        <p:nvCxnSpPr>
          <p:cNvPr id="101" name="Straight Arrow Connector 61"/>
          <p:cNvCxnSpPr/>
          <p:nvPr/>
        </p:nvCxnSpPr>
        <p:spPr>
          <a:xfrm flipV="1">
            <a:off x="4575611" y="4231405"/>
            <a:ext cx="0" cy="1417362"/>
          </a:xfrm>
          <a:prstGeom prst="straightConnector1">
            <a:avLst/>
          </a:prstGeom>
          <a:ln>
            <a:solidFill>
              <a:schemeClr val="tx2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62"/>
          <p:cNvCxnSpPr/>
          <p:nvPr/>
        </p:nvCxnSpPr>
        <p:spPr>
          <a:xfrm flipV="1">
            <a:off x="5019287" y="4231142"/>
            <a:ext cx="0" cy="1417362"/>
          </a:xfrm>
          <a:prstGeom prst="straightConnector1">
            <a:avLst/>
          </a:prstGeom>
          <a:ln>
            <a:solidFill>
              <a:schemeClr val="tx2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63"/>
          <p:cNvCxnSpPr/>
          <p:nvPr/>
        </p:nvCxnSpPr>
        <p:spPr>
          <a:xfrm flipV="1">
            <a:off x="5156398" y="4231142"/>
            <a:ext cx="0" cy="1417362"/>
          </a:xfrm>
          <a:prstGeom prst="straightConnector1">
            <a:avLst/>
          </a:prstGeom>
          <a:ln>
            <a:solidFill>
              <a:schemeClr val="tx2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Can 44"/>
          <p:cNvSpPr/>
          <p:nvPr/>
        </p:nvSpPr>
        <p:spPr>
          <a:xfrm>
            <a:off x="1496239" y="2068174"/>
            <a:ext cx="931189" cy="330704"/>
          </a:xfrm>
          <a:prstGeom prst="can">
            <a:avLst>
              <a:gd name="adj" fmla="val 44291"/>
            </a:avLst>
          </a:prstGeom>
          <a:gradFill flip="none" rotWithShape="1">
            <a:gsLst>
              <a:gs pos="0">
                <a:srgbClr val="FFCC00"/>
              </a:gs>
              <a:gs pos="100000">
                <a:srgbClr val="FFFFFF"/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dirty="0" smtClean="0">
                <a:solidFill>
                  <a:schemeClr val="tx2"/>
                </a:solidFill>
              </a:rPr>
              <a:t>Gauging Station</a:t>
            </a:r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65" name="Can 45"/>
          <p:cNvSpPr/>
          <p:nvPr/>
        </p:nvSpPr>
        <p:spPr>
          <a:xfrm>
            <a:off x="1612637" y="1813837"/>
            <a:ext cx="698392" cy="330704"/>
          </a:xfrm>
          <a:prstGeom prst="can">
            <a:avLst>
              <a:gd name="adj" fmla="val 39468"/>
            </a:avLst>
          </a:prstGeom>
          <a:gradFill flip="none" rotWithShape="1">
            <a:gsLst>
              <a:gs pos="0">
                <a:srgbClr val="FFCC00"/>
              </a:gs>
              <a:gs pos="100000">
                <a:srgbClr val="FFFFFF"/>
              </a:gs>
            </a:gsLst>
            <a:lin ang="16200000" scaled="0"/>
            <a:tileRect/>
          </a:gradFill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algn="ctr"/>
            <a:r>
              <a:rPr lang="en-US" sz="800" smtClean="0">
                <a:solidFill>
                  <a:schemeClr val="tx2"/>
                </a:solidFill>
              </a:rPr>
              <a:t>Flowline </a:t>
            </a:r>
          </a:p>
          <a:p>
            <a:pPr algn="ctr"/>
            <a:r>
              <a:rPr lang="en-US" sz="800" smtClean="0">
                <a:solidFill>
                  <a:schemeClr val="tx2"/>
                </a:solidFill>
              </a:rPr>
              <a:t>Catchment</a:t>
            </a:r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66" name="Can 46"/>
          <p:cNvSpPr/>
          <p:nvPr/>
        </p:nvSpPr>
        <p:spPr>
          <a:xfrm>
            <a:off x="1729036" y="1538873"/>
            <a:ext cx="465595" cy="330704"/>
          </a:xfrm>
          <a:prstGeom prst="can">
            <a:avLst>
              <a:gd name="adj" fmla="val 27411"/>
            </a:avLst>
          </a:prstGeom>
          <a:gradFill flip="none" rotWithShape="1">
            <a:gsLst>
              <a:gs pos="0">
                <a:srgbClr val="FFCC00"/>
              </a:gs>
              <a:gs pos="100000">
                <a:srgbClr val="FFFFFF"/>
              </a:gs>
            </a:gsLst>
            <a:lin ang="16200000" scaled="0"/>
            <a:tileRect/>
          </a:gradFill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smtClean="0">
                <a:solidFill>
                  <a:schemeClr val="tx2"/>
                </a:solidFill>
              </a:rPr>
              <a:t>NHD+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67" name="Can 3"/>
          <p:cNvSpPr/>
          <p:nvPr/>
        </p:nvSpPr>
        <p:spPr>
          <a:xfrm>
            <a:off x="7068235" y="4968569"/>
            <a:ext cx="1121575" cy="398318"/>
          </a:xfrm>
          <a:prstGeom prst="can">
            <a:avLst>
              <a:gd name="adj" fmla="val 44291"/>
            </a:avLst>
          </a:prstGeom>
          <a:gradFill>
            <a:gsLst>
              <a:gs pos="0">
                <a:srgbClr val="0070C0"/>
              </a:gs>
              <a:gs pos="80000">
                <a:schemeClr val="tx2">
                  <a:lumMod val="50000"/>
                  <a:lumOff val="50000"/>
                </a:schemeClr>
              </a:gs>
              <a:gs pos="100000">
                <a:schemeClr val="tx2">
                  <a:lumMod val="25000"/>
                  <a:lumOff val="75000"/>
                </a:schemeClr>
              </a:gs>
            </a:gsLst>
          </a:gra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050" smtClean="0">
                <a:solidFill>
                  <a:schemeClr val="tx2"/>
                </a:solidFill>
              </a:rPr>
              <a:t>Flow data</a:t>
            </a:r>
            <a:endParaRPr lang="en-US" sz="1050" dirty="0">
              <a:solidFill>
                <a:schemeClr val="tx2"/>
              </a:solidFill>
            </a:endParaRPr>
          </a:p>
        </p:txBody>
      </p:sp>
      <p:sp>
        <p:nvSpPr>
          <p:cNvPr id="68" name="Can 4"/>
          <p:cNvSpPr/>
          <p:nvPr/>
        </p:nvSpPr>
        <p:spPr>
          <a:xfrm>
            <a:off x="7208432" y="4658461"/>
            <a:ext cx="841181" cy="398318"/>
          </a:xfrm>
          <a:prstGeom prst="can">
            <a:avLst>
              <a:gd name="adj" fmla="val 39468"/>
            </a:avLst>
          </a:prstGeom>
          <a:gradFill>
            <a:gsLst>
              <a:gs pos="0">
                <a:srgbClr val="0070C0"/>
              </a:gs>
              <a:gs pos="80000">
                <a:schemeClr val="tx2">
                  <a:lumMod val="50000"/>
                  <a:lumOff val="50000"/>
                </a:schemeClr>
              </a:gs>
              <a:gs pos="100000">
                <a:schemeClr val="tx2">
                  <a:lumMod val="25000"/>
                  <a:lumOff val="75000"/>
                </a:schemeClr>
              </a:gs>
            </a:gsLst>
          </a:gradFill>
          <a:ln>
            <a:solidFill>
              <a:schemeClr val="accent1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smtClean="0">
                <a:solidFill>
                  <a:schemeClr val="tx2"/>
                </a:solidFill>
              </a:rPr>
              <a:t>Polyline</a:t>
            </a:r>
          </a:p>
          <a:p>
            <a:pPr algn="ctr"/>
            <a:r>
              <a:rPr lang="en-US" sz="800" smtClean="0">
                <a:solidFill>
                  <a:schemeClr val="tx2"/>
                </a:solidFill>
              </a:rPr>
              <a:t>Polygon</a:t>
            </a:r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69" name="Can 5"/>
          <p:cNvSpPr/>
          <p:nvPr/>
        </p:nvSpPr>
        <p:spPr>
          <a:xfrm>
            <a:off x="7348628" y="4327280"/>
            <a:ext cx="560787" cy="398318"/>
          </a:xfrm>
          <a:prstGeom prst="can">
            <a:avLst>
              <a:gd name="adj" fmla="val 27411"/>
            </a:avLst>
          </a:prstGeom>
          <a:gradFill>
            <a:gsLst>
              <a:gs pos="0">
                <a:srgbClr val="0070C0"/>
              </a:gs>
              <a:gs pos="80000">
                <a:schemeClr val="tx2">
                  <a:lumMod val="50000"/>
                  <a:lumOff val="50000"/>
                </a:schemeClr>
              </a:gs>
              <a:gs pos="100000">
                <a:schemeClr val="tx2">
                  <a:lumMod val="25000"/>
                  <a:lumOff val="75000"/>
                </a:schemeClr>
              </a:gs>
            </a:gsLst>
          </a:gradFill>
          <a:ln>
            <a:solidFill>
              <a:schemeClr val="accent1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100" dirty="0" smtClean="0">
                <a:solidFill>
                  <a:schemeClr val="tx2"/>
                </a:solidFill>
              </a:rPr>
              <a:t>NHD+</a:t>
            </a:r>
            <a:endParaRPr lang="en-US" sz="11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7813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3193" y="304799"/>
            <a:ext cx="8837613" cy="480131"/>
          </a:xfrm>
        </p:spPr>
        <p:txBody>
          <a:bodyPr wrap="square">
            <a:spAutoFit/>
          </a:bodyPr>
          <a:lstStyle/>
          <a:p>
            <a:r>
              <a:rPr lang="en-GB" sz="2800">
                <a:solidFill>
                  <a:schemeClr val="tx2"/>
                </a:solidFill>
              </a:rPr>
              <a:t>Same challenge !! </a:t>
            </a:r>
            <a:r>
              <a:rPr lang="en-GB" sz="2800" smtClean="0">
                <a:solidFill>
                  <a:srgbClr val="FF0000"/>
                </a:solidFill>
              </a:rPr>
              <a:t>M</a:t>
            </a:r>
            <a:r>
              <a:rPr lang="en-GB" sz="280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apping of concepts !!</a:t>
            </a:r>
            <a:r>
              <a:rPr lang="en-GB" sz="2800" smtClean="0">
                <a:solidFill>
                  <a:srgbClr val="FF0000"/>
                </a:solidFill>
              </a:rPr>
              <a:t> </a:t>
            </a:r>
            <a:endParaRPr lang="en-GB" sz="2800" i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pic>
        <p:nvPicPr>
          <p:cNvPr id="9" name="Picture 2" descr="Image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143000"/>
            <a:ext cx="6636597" cy="419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feld 9"/>
          <p:cNvSpPr txBox="1"/>
          <p:nvPr/>
        </p:nvSpPr>
        <p:spPr>
          <a:xfrm>
            <a:off x="1295400" y="5257800"/>
            <a:ext cx="7010400" cy="533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GB" smtClean="0"/>
          </a:p>
          <a:p>
            <a:r>
              <a:rPr lang="en-GB" smtClean="0"/>
              <a:t>* NHD and WBD data models derived from an ArcGIS GDB workspace export or from SHP files retrieved via WFS operated by USGS</a:t>
            </a:r>
            <a:endParaRPr lang="en-GB" dirty="0" err="1" smtClean="0"/>
          </a:p>
        </p:txBody>
      </p:sp>
    </p:spTree>
    <p:extLst>
      <p:ext uri="{BB962C8B-B14F-4D97-AF65-F5344CB8AC3E}">
        <p14:creationId xmlns:p14="http://schemas.microsoft.com/office/powerpoint/2010/main" val="2411278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AU" smtClean="0"/>
              <a:t>N x N Mappings</a:t>
            </a:r>
            <a:endParaRPr lang="en-AU" dirty="0"/>
          </a:p>
        </p:txBody>
      </p:sp>
      <p:sp>
        <p:nvSpPr>
          <p:cNvPr id="10243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r>
              <a:rPr lang="en-US" altLang="en-US" sz="900" b="0">
                <a:solidFill>
                  <a:srgbClr val="092E5C"/>
                </a:solidFill>
                <a:latin typeface="Arial" pitchFamily="34" charset="0"/>
              </a:rPr>
              <a:t>Copyright © 2015 Open Geospatial Consortium</a:t>
            </a:r>
          </a:p>
        </p:txBody>
      </p:sp>
      <p:sp>
        <p:nvSpPr>
          <p:cNvPr id="10244" name="Rounded Rectangle 4"/>
          <p:cNvSpPr>
            <a:spLocks noChangeArrowheads="1"/>
          </p:cNvSpPr>
          <p:nvPr/>
        </p:nvSpPr>
        <p:spPr bwMode="auto">
          <a:xfrm>
            <a:off x="833438" y="1949450"/>
            <a:ext cx="1371600" cy="533400"/>
          </a:xfrm>
          <a:prstGeom prst="roundRect">
            <a:avLst>
              <a:gd name="adj" fmla="val 16667"/>
            </a:avLst>
          </a:prstGeom>
          <a:noFill/>
          <a:ln w="12700" algn="ctr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 algn="ctr" eaLnBrk="1" hangingPunct="1"/>
            <a:r>
              <a:rPr lang="en-AU" altLang="en-US"/>
              <a:t>NHD+</a:t>
            </a:r>
          </a:p>
        </p:txBody>
      </p:sp>
      <p:sp>
        <p:nvSpPr>
          <p:cNvPr id="10245" name="Rounded Rectangle 5"/>
          <p:cNvSpPr>
            <a:spLocks noChangeArrowheads="1"/>
          </p:cNvSpPr>
          <p:nvPr/>
        </p:nvSpPr>
        <p:spPr bwMode="auto">
          <a:xfrm>
            <a:off x="90488" y="3162300"/>
            <a:ext cx="1371600" cy="533400"/>
          </a:xfrm>
          <a:prstGeom prst="roundRect">
            <a:avLst>
              <a:gd name="adj" fmla="val 16667"/>
            </a:avLst>
          </a:prstGeom>
          <a:noFill/>
          <a:ln w="12700" algn="ctr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 algn="ctr" eaLnBrk="1" hangingPunct="1"/>
            <a:r>
              <a:rPr lang="en-AU" altLang="en-US"/>
              <a:t>NHN</a:t>
            </a:r>
          </a:p>
        </p:txBody>
      </p:sp>
      <p:sp>
        <p:nvSpPr>
          <p:cNvPr id="10246" name="Rounded Rectangle 6"/>
          <p:cNvSpPr>
            <a:spLocks noChangeArrowheads="1"/>
          </p:cNvSpPr>
          <p:nvPr/>
        </p:nvSpPr>
        <p:spPr bwMode="auto">
          <a:xfrm>
            <a:off x="1143000" y="4305300"/>
            <a:ext cx="1371600" cy="533400"/>
          </a:xfrm>
          <a:prstGeom prst="roundRect">
            <a:avLst>
              <a:gd name="adj" fmla="val 16667"/>
            </a:avLst>
          </a:prstGeom>
          <a:noFill/>
          <a:ln w="12700" algn="ctr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 algn="ctr" eaLnBrk="1" hangingPunct="1"/>
            <a:r>
              <a:rPr lang="en-AU" altLang="en-US"/>
              <a:t>INSPIRE Hydrography</a:t>
            </a:r>
          </a:p>
        </p:txBody>
      </p:sp>
      <p:sp>
        <p:nvSpPr>
          <p:cNvPr id="10247" name="Rounded Rectangle 7"/>
          <p:cNvSpPr>
            <a:spLocks noChangeArrowheads="1"/>
          </p:cNvSpPr>
          <p:nvPr/>
        </p:nvSpPr>
        <p:spPr bwMode="auto">
          <a:xfrm>
            <a:off x="2973388" y="4783138"/>
            <a:ext cx="1371600" cy="533400"/>
          </a:xfrm>
          <a:prstGeom prst="roundRect">
            <a:avLst>
              <a:gd name="adj" fmla="val 16667"/>
            </a:avLst>
          </a:prstGeom>
          <a:noFill/>
          <a:ln w="12700" algn="ctr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 algn="ctr" eaLnBrk="1" hangingPunct="1"/>
            <a:r>
              <a:rPr lang="en-AU" altLang="en-US"/>
              <a:t>Australian Hydrographic</a:t>
            </a:r>
          </a:p>
          <a:p>
            <a:pPr algn="ctr" eaLnBrk="1" hangingPunct="1"/>
            <a:r>
              <a:rPr lang="en-AU" altLang="en-US"/>
              <a:t>Geofabric</a:t>
            </a:r>
          </a:p>
        </p:txBody>
      </p:sp>
      <p:sp>
        <p:nvSpPr>
          <p:cNvPr id="10248" name="Rounded Rectangle 8"/>
          <p:cNvSpPr>
            <a:spLocks noChangeArrowheads="1"/>
          </p:cNvSpPr>
          <p:nvPr/>
        </p:nvSpPr>
        <p:spPr bwMode="auto">
          <a:xfrm>
            <a:off x="4733925" y="4705350"/>
            <a:ext cx="1371600" cy="533400"/>
          </a:xfrm>
          <a:prstGeom prst="roundRect">
            <a:avLst>
              <a:gd name="adj" fmla="val 16667"/>
            </a:avLst>
          </a:prstGeom>
          <a:noFill/>
          <a:ln w="12700" algn="ctr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 algn="ctr" eaLnBrk="1" hangingPunct="1"/>
            <a:r>
              <a:rPr lang="en-AU" altLang="en-US"/>
              <a:t>NFIE</a:t>
            </a:r>
          </a:p>
        </p:txBody>
      </p:sp>
      <p:sp>
        <p:nvSpPr>
          <p:cNvPr id="10249" name="Rounded Rectangle 9"/>
          <p:cNvSpPr>
            <a:spLocks noChangeArrowheads="1"/>
          </p:cNvSpPr>
          <p:nvPr/>
        </p:nvSpPr>
        <p:spPr bwMode="auto">
          <a:xfrm>
            <a:off x="5867400" y="3370263"/>
            <a:ext cx="1371600" cy="533400"/>
          </a:xfrm>
          <a:prstGeom prst="roundRect">
            <a:avLst>
              <a:gd name="adj" fmla="val 16667"/>
            </a:avLst>
          </a:prstGeom>
          <a:noFill/>
          <a:ln w="12700" algn="ctr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 algn="ctr" eaLnBrk="1" hangingPunct="1"/>
            <a:r>
              <a:rPr lang="en-AU" altLang="en-US"/>
              <a:t>Open Street Map</a:t>
            </a:r>
          </a:p>
        </p:txBody>
      </p:sp>
      <p:sp>
        <p:nvSpPr>
          <p:cNvPr id="10250" name="Rounded Rectangle 10"/>
          <p:cNvSpPr>
            <a:spLocks noChangeArrowheads="1"/>
          </p:cNvSpPr>
          <p:nvPr/>
        </p:nvSpPr>
        <p:spPr bwMode="auto">
          <a:xfrm>
            <a:off x="2667000" y="1554163"/>
            <a:ext cx="1371600" cy="533400"/>
          </a:xfrm>
          <a:prstGeom prst="roundRect">
            <a:avLst>
              <a:gd name="adj" fmla="val 16667"/>
            </a:avLst>
          </a:prstGeom>
          <a:noFill/>
          <a:ln w="12700" algn="ctr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 algn="ctr" eaLnBrk="1" hangingPunct="1"/>
            <a:r>
              <a:rPr lang="en-AU" altLang="en-US"/>
              <a:t>ESRI global water map</a:t>
            </a:r>
          </a:p>
        </p:txBody>
      </p:sp>
      <p:sp>
        <p:nvSpPr>
          <p:cNvPr id="10251" name="Rounded Rectangle 11"/>
          <p:cNvSpPr>
            <a:spLocks noChangeArrowheads="1"/>
          </p:cNvSpPr>
          <p:nvPr/>
        </p:nvSpPr>
        <p:spPr bwMode="auto">
          <a:xfrm>
            <a:off x="4960938" y="1949450"/>
            <a:ext cx="1371600" cy="533400"/>
          </a:xfrm>
          <a:prstGeom prst="roundRect">
            <a:avLst>
              <a:gd name="adj" fmla="val 16667"/>
            </a:avLst>
          </a:prstGeom>
          <a:noFill/>
          <a:ln w="12700" algn="ctr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 algn="ctr" eaLnBrk="1" hangingPunct="1"/>
            <a:r>
              <a:rPr lang="en-AU" altLang="en-US"/>
              <a:t>HydroSHEDS</a:t>
            </a:r>
          </a:p>
        </p:txBody>
      </p:sp>
      <p:cxnSp>
        <p:nvCxnSpPr>
          <p:cNvPr id="10252" name="Straight Arrow Connector 18"/>
          <p:cNvCxnSpPr>
            <a:cxnSpLocks noChangeShapeType="1"/>
            <a:stCxn id="10251" idx="2"/>
            <a:endCxn id="10249" idx="0"/>
          </p:cNvCxnSpPr>
          <p:nvPr/>
        </p:nvCxnSpPr>
        <p:spPr bwMode="auto">
          <a:xfrm>
            <a:off x="5646738" y="2482850"/>
            <a:ext cx="906462" cy="887413"/>
          </a:xfrm>
          <a:prstGeom prst="straightConnector1">
            <a:avLst/>
          </a:prstGeom>
          <a:noFill/>
          <a:ln w="12700" algn="ctr">
            <a:solidFill>
              <a:srgbClr val="96969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53" name="Straight Arrow Connector 19"/>
          <p:cNvCxnSpPr>
            <a:cxnSpLocks noChangeShapeType="1"/>
            <a:stCxn id="10251" idx="2"/>
            <a:endCxn id="10248" idx="0"/>
          </p:cNvCxnSpPr>
          <p:nvPr/>
        </p:nvCxnSpPr>
        <p:spPr bwMode="auto">
          <a:xfrm flipH="1">
            <a:off x="5419725" y="2482850"/>
            <a:ext cx="227013" cy="2222500"/>
          </a:xfrm>
          <a:prstGeom prst="straightConnector1">
            <a:avLst/>
          </a:prstGeom>
          <a:noFill/>
          <a:ln w="12700" algn="ctr">
            <a:solidFill>
              <a:srgbClr val="96969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54" name="Straight Arrow Connector 23"/>
          <p:cNvCxnSpPr>
            <a:cxnSpLocks noChangeShapeType="1"/>
            <a:stCxn id="10251" idx="2"/>
            <a:endCxn id="10247" idx="0"/>
          </p:cNvCxnSpPr>
          <p:nvPr/>
        </p:nvCxnSpPr>
        <p:spPr bwMode="auto">
          <a:xfrm flipH="1">
            <a:off x="3659188" y="2482850"/>
            <a:ext cx="1987550" cy="2300288"/>
          </a:xfrm>
          <a:prstGeom prst="straightConnector1">
            <a:avLst/>
          </a:prstGeom>
          <a:noFill/>
          <a:ln w="12700" algn="ctr">
            <a:solidFill>
              <a:srgbClr val="96969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55" name="Straight Arrow Connector 26"/>
          <p:cNvCxnSpPr>
            <a:cxnSpLocks noChangeShapeType="1"/>
            <a:stCxn id="10251" idx="2"/>
            <a:endCxn id="10246" idx="3"/>
          </p:cNvCxnSpPr>
          <p:nvPr/>
        </p:nvCxnSpPr>
        <p:spPr bwMode="auto">
          <a:xfrm flipH="1">
            <a:off x="2514600" y="2482850"/>
            <a:ext cx="3132138" cy="2089150"/>
          </a:xfrm>
          <a:prstGeom prst="straightConnector1">
            <a:avLst/>
          </a:prstGeom>
          <a:noFill/>
          <a:ln w="12700" algn="ctr">
            <a:solidFill>
              <a:srgbClr val="96969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56" name="Straight Arrow Connector 29"/>
          <p:cNvCxnSpPr>
            <a:cxnSpLocks noChangeShapeType="1"/>
            <a:stCxn id="10251" idx="1"/>
            <a:endCxn id="10245" idx="3"/>
          </p:cNvCxnSpPr>
          <p:nvPr/>
        </p:nvCxnSpPr>
        <p:spPr bwMode="auto">
          <a:xfrm flipH="1">
            <a:off x="1462088" y="2216150"/>
            <a:ext cx="3498850" cy="1212850"/>
          </a:xfrm>
          <a:prstGeom prst="straightConnector1">
            <a:avLst/>
          </a:prstGeom>
          <a:noFill/>
          <a:ln w="12700" algn="ctr">
            <a:solidFill>
              <a:srgbClr val="96969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57" name="Straight Arrow Connector 32"/>
          <p:cNvCxnSpPr>
            <a:cxnSpLocks noChangeShapeType="1"/>
          </p:cNvCxnSpPr>
          <p:nvPr/>
        </p:nvCxnSpPr>
        <p:spPr bwMode="auto">
          <a:xfrm flipH="1">
            <a:off x="2205038" y="2216150"/>
            <a:ext cx="2595562" cy="20638"/>
          </a:xfrm>
          <a:prstGeom prst="straightConnector1">
            <a:avLst/>
          </a:prstGeom>
          <a:noFill/>
          <a:ln w="12700" algn="ctr">
            <a:solidFill>
              <a:srgbClr val="96969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58" name="Straight Arrow Connector 34"/>
          <p:cNvCxnSpPr>
            <a:cxnSpLocks noChangeShapeType="1"/>
            <a:stCxn id="10251" idx="1"/>
            <a:endCxn id="10250" idx="3"/>
          </p:cNvCxnSpPr>
          <p:nvPr/>
        </p:nvCxnSpPr>
        <p:spPr bwMode="auto">
          <a:xfrm flipH="1" flipV="1">
            <a:off x="4038600" y="1820863"/>
            <a:ext cx="922338" cy="395287"/>
          </a:xfrm>
          <a:prstGeom prst="straightConnector1">
            <a:avLst/>
          </a:prstGeom>
          <a:noFill/>
          <a:ln w="12700" algn="ctr">
            <a:solidFill>
              <a:srgbClr val="96969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59" name="Straight Arrow Connector 37"/>
          <p:cNvCxnSpPr>
            <a:cxnSpLocks noChangeShapeType="1"/>
            <a:stCxn id="10249" idx="1"/>
            <a:endCxn id="10250" idx="2"/>
          </p:cNvCxnSpPr>
          <p:nvPr/>
        </p:nvCxnSpPr>
        <p:spPr bwMode="auto">
          <a:xfrm flipH="1" flipV="1">
            <a:off x="3352800" y="2087563"/>
            <a:ext cx="2514600" cy="1549400"/>
          </a:xfrm>
          <a:prstGeom prst="straightConnector1">
            <a:avLst/>
          </a:prstGeom>
          <a:noFill/>
          <a:ln w="12700" algn="ctr">
            <a:solidFill>
              <a:srgbClr val="96969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60" name="Straight Arrow Connector 40"/>
          <p:cNvCxnSpPr>
            <a:cxnSpLocks noChangeShapeType="1"/>
            <a:stCxn id="10248" idx="0"/>
          </p:cNvCxnSpPr>
          <p:nvPr/>
        </p:nvCxnSpPr>
        <p:spPr bwMode="auto">
          <a:xfrm flipH="1" flipV="1">
            <a:off x="3236913" y="1908175"/>
            <a:ext cx="2182812" cy="2797175"/>
          </a:xfrm>
          <a:prstGeom prst="straightConnector1">
            <a:avLst/>
          </a:prstGeom>
          <a:noFill/>
          <a:ln w="12700" algn="ctr">
            <a:solidFill>
              <a:srgbClr val="96969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61" name="Straight Arrow Connector 42"/>
          <p:cNvCxnSpPr>
            <a:cxnSpLocks noChangeShapeType="1"/>
            <a:stCxn id="10247" idx="0"/>
          </p:cNvCxnSpPr>
          <p:nvPr/>
        </p:nvCxnSpPr>
        <p:spPr bwMode="auto">
          <a:xfrm flipH="1" flipV="1">
            <a:off x="3254375" y="2028825"/>
            <a:ext cx="404813" cy="2754313"/>
          </a:xfrm>
          <a:prstGeom prst="straightConnector1">
            <a:avLst/>
          </a:prstGeom>
          <a:noFill/>
          <a:ln w="12700" algn="ctr">
            <a:solidFill>
              <a:srgbClr val="96969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62" name="Straight Arrow Connector 44"/>
          <p:cNvCxnSpPr>
            <a:cxnSpLocks noChangeShapeType="1"/>
            <a:stCxn id="10246" idx="3"/>
            <a:endCxn id="10250" idx="2"/>
          </p:cNvCxnSpPr>
          <p:nvPr/>
        </p:nvCxnSpPr>
        <p:spPr bwMode="auto">
          <a:xfrm flipV="1">
            <a:off x="2514600" y="2087563"/>
            <a:ext cx="838200" cy="2484437"/>
          </a:xfrm>
          <a:prstGeom prst="straightConnector1">
            <a:avLst/>
          </a:prstGeom>
          <a:noFill/>
          <a:ln w="12700" algn="ctr">
            <a:solidFill>
              <a:srgbClr val="96969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63" name="Straight Arrow Connector 46"/>
          <p:cNvCxnSpPr>
            <a:cxnSpLocks noChangeShapeType="1"/>
            <a:stCxn id="10245" idx="3"/>
          </p:cNvCxnSpPr>
          <p:nvPr/>
        </p:nvCxnSpPr>
        <p:spPr bwMode="auto">
          <a:xfrm flipV="1">
            <a:off x="1462088" y="2165350"/>
            <a:ext cx="1662112" cy="1263650"/>
          </a:xfrm>
          <a:prstGeom prst="straightConnector1">
            <a:avLst/>
          </a:prstGeom>
          <a:noFill/>
          <a:ln w="12700" algn="ctr">
            <a:solidFill>
              <a:srgbClr val="96969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64" name="Straight Arrow Connector 49"/>
          <p:cNvCxnSpPr>
            <a:cxnSpLocks noChangeShapeType="1"/>
            <a:stCxn id="10244" idx="3"/>
            <a:endCxn id="10250" idx="1"/>
          </p:cNvCxnSpPr>
          <p:nvPr/>
        </p:nvCxnSpPr>
        <p:spPr bwMode="auto">
          <a:xfrm flipV="1">
            <a:off x="2205038" y="1820863"/>
            <a:ext cx="461962" cy="395287"/>
          </a:xfrm>
          <a:prstGeom prst="straightConnector1">
            <a:avLst/>
          </a:prstGeom>
          <a:noFill/>
          <a:ln w="12700" algn="ctr">
            <a:solidFill>
              <a:srgbClr val="96969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65" name="Straight Arrow Connector 52"/>
          <p:cNvCxnSpPr>
            <a:cxnSpLocks noChangeShapeType="1"/>
            <a:stCxn id="10245" idx="0"/>
            <a:endCxn id="10244" idx="2"/>
          </p:cNvCxnSpPr>
          <p:nvPr/>
        </p:nvCxnSpPr>
        <p:spPr bwMode="auto">
          <a:xfrm flipV="1">
            <a:off x="776288" y="2482850"/>
            <a:ext cx="742950" cy="679450"/>
          </a:xfrm>
          <a:prstGeom prst="straightConnector1">
            <a:avLst/>
          </a:prstGeom>
          <a:noFill/>
          <a:ln w="12700" algn="ctr">
            <a:solidFill>
              <a:srgbClr val="96969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66" name="Straight Arrow Connector 55"/>
          <p:cNvCxnSpPr>
            <a:cxnSpLocks noChangeShapeType="1"/>
            <a:stCxn id="10249" idx="1"/>
          </p:cNvCxnSpPr>
          <p:nvPr/>
        </p:nvCxnSpPr>
        <p:spPr bwMode="auto">
          <a:xfrm flipH="1" flipV="1">
            <a:off x="2224088" y="2212975"/>
            <a:ext cx="3643312" cy="1423988"/>
          </a:xfrm>
          <a:prstGeom prst="straightConnector1">
            <a:avLst/>
          </a:prstGeom>
          <a:noFill/>
          <a:ln w="12700" algn="ctr">
            <a:solidFill>
              <a:srgbClr val="96969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67" name="Straight Arrow Connector 57"/>
          <p:cNvCxnSpPr>
            <a:cxnSpLocks noChangeShapeType="1"/>
            <a:stCxn id="10244" idx="3"/>
            <a:endCxn id="10248" idx="0"/>
          </p:cNvCxnSpPr>
          <p:nvPr/>
        </p:nvCxnSpPr>
        <p:spPr bwMode="auto">
          <a:xfrm>
            <a:off x="2205038" y="2216150"/>
            <a:ext cx="3214687" cy="2489200"/>
          </a:xfrm>
          <a:prstGeom prst="straightConnector1">
            <a:avLst/>
          </a:prstGeom>
          <a:noFill/>
          <a:ln w="12700" algn="ctr">
            <a:solidFill>
              <a:srgbClr val="96969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68" name="Straight Arrow Connector 60"/>
          <p:cNvCxnSpPr>
            <a:cxnSpLocks noChangeShapeType="1"/>
            <a:stCxn id="10244" idx="2"/>
            <a:endCxn id="10246" idx="0"/>
          </p:cNvCxnSpPr>
          <p:nvPr/>
        </p:nvCxnSpPr>
        <p:spPr bwMode="auto">
          <a:xfrm>
            <a:off x="1519238" y="2482850"/>
            <a:ext cx="309562" cy="1822450"/>
          </a:xfrm>
          <a:prstGeom prst="straightConnector1">
            <a:avLst/>
          </a:prstGeom>
          <a:noFill/>
          <a:ln w="12700" algn="ctr">
            <a:solidFill>
              <a:srgbClr val="96969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69" name="Straight Arrow Connector 66"/>
          <p:cNvCxnSpPr>
            <a:cxnSpLocks noChangeShapeType="1"/>
            <a:endCxn id="10246" idx="0"/>
          </p:cNvCxnSpPr>
          <p:nvPr/>
        </p:nvCxnSpPr>
        <p:spPr bwMode="auto">
          <a:xfrm>
            <a:off x="768350" y="3692525"/>
            <a:ext cx="1060450" cy="612775"/>
          </a:xfrm>
          <a:prstGeom prst="straightConnector1">
            <a:avLst/>
          </a:prstGeom>
          <a:noFill/>
          <a:ln w="12700" algn="ctr">
            <a:solidFill>
              <a:srgbClr val="96969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70" name="Straight Arrow Connector 68"/>
          <p:cNvCxnSpPr>
            <a:cxnSpLocks noChangeShapeType="1"/>
            <a:stCxn id="10245" idx="3"/>
            <a:endCxn id="10248" idx="0"/>
          </p:cNvCxnSpPr>
          <p:nvPr/>
        </p:nvCxnSpPr>
        <p:spPr bwMode="auto">
          <a:xfrm>
            <a:off x="1462088" y="3429000"/>
            <a:ext cx="3957637" cy="1276350"/>
          </a:xfrm>
          <a:prstGeom prst="straightConnector1">
            <a:avLst/>
          </a:prstGeom>
          <a:noFill/>
          <a:ln w="12700" algn="ctr">
            <a:solidFill>
              <a:srgbClr val="96969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71" name="Straight Arrow Connector 70"/>
          <p:cNvCxnSpPr>
            <a:cxnSpLocks noChangeShapeType="1"/>
            <a:stCxn id="10245" idx="3"/>
            <a:endCxn id="10249" idx="1"/>
          </p:cNvCxnSpPr>
          <p:nvPr/>
        </p:nvCxnSpPr>
        <p:spPr bwMode="auto">
          <a:xfrm>
            <a:off x="1462088" y="3429000"/>
            <a:ext cx="4405312" cy="207963"/>
          </a:xfrm>
          <a:prstGeom prst="straightConnector1">
            <a:avLst/>
          </a:prstGeom>
          <a:noFill/>
          <a:ln w="12700" algn="ctr">
            <a:solidFill>
              <a:srgbClr val="96969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Rechteck 34"/>
          <p:cNvSpPr/>
          <p:nvPr/>
        </p:nvSpPr>
        <p:spPr>
          <a:xfrm>
            <a:off x="1007352" y="914400"/>
            <a:ext cx="783184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AU" altLang="en-US" i="1" smtClean="0">
                <a:solidFill>
                  <a:schemeClr val="tx2"/>
                </a:solidFill>
              </a:rPr>
              <a:t>*In</a:t>
            </a:r>
            <a:r>
              <a:rPr lang="en-AU" altLang="en-US" i="1">
                <a:solidFill>
                  <a:schemeClr val="tx2"/>
                </a:solidFill>
              </a:rPr>
              <a:t>: </a:t>
            </a:r>
            <a:r>
              <a:rPr lang="en-AU" i="1">
                <a:solidFill>
                  <a:schemeClr val="tx2"/>
                </a:solidFill>
              </a:rPr>
              <a:t>HY_Features Part 3 - OWL encoding: rhyme and reason / Rob Atkinson. </a:t>
            </a:r>
            <a:r>
              <a:rPr lang="en-AU" i="1" smtClean="0">
                <a:solidFill>
                  <a:schemeClr val="tx2"/>
                </a:solidFill>
              </a:rPr>
              <a:t>Presentation at </a:t>
            </a:r>
            <a:r>
              <a:rPr lang="en-US" altLang="en-US" i="1" smtClean="0">
                <a:solidFill>
                  <a:schemeClr val="tx2"/>
                </a:solidFill>
              </a:rPr>
              <a:t>96th </a:t>
            </a:r>
            <a:r>
              <a:rPr lang="en-US" altLang="en-US" i="1">
                <a:solidFill>
                  <a:schemeClr val="tx2"/>
                </a:solidFill>
              </a:rPr>
              <a:t>OGC </a:t>
            </a:r>
            <a:r>
              <a:rPr lang="en-US" altLang="en-US" i="1" smtClean="0">
                <a:solidFill>
                  <a:schemeClr val="tx2"/>
                </a:solidFill>
              </a:rPr>
              <a:t>TC, </a:t>
            </a:r>
            <a:r>
              <a:rPr lang="en-US" altLang="en-US" i="1">
                <a:solidFill>
                  <a:schemeClr val="tx2"/>
                </a:solidFill>
              </a:rPr>
              <a:t>Nottingham, UK</a:t>
            </a:r>
            <a:endParaRPr lang="en-AU" altLang="en-US" sz="1400" i="1">
              <a:solidFill>
                <a:schemeClr val="tx2"/>
              </a:solidFill>
            </a:endParaRPr>
          </a:p>
        </p:txBody>
      </p:sp>
      <p:sp>
        <p:nvSpPr>
          <p:cNvPr id="36" name="TextBox 77"/>
          <p:cNvSpPr txBox="1">
            <a:spLocks noChangeArrowheads="1"/>
          </p:cNvSpPr>
          <p:nvPr/>
        </p:nvSpPr>
        <p:spPr bwMode="auto">
          <a:xfrm>
            <a:off x="914400" y="5484698"/>
            <a:ext cx="7010399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AU" altLang="en-US" sz="1400">
                <a:solidFill>
                  <a:schemeClr val="tx2"/>
                </a:solidFill>
              </a:rPr>
              <a:t>Each </a:t>
            </a:r>
            <a:r>
              <a:rPr lang="en-AU" altLang="en-US" sz="1600">
                <a:solidFill>
                  <a:schemeClr val="tx2"/>
                </a:solidFill>
              </a:rPr>
              <a:t>schema</a:t>
            </a:r>
            <a:r>
              <a:rPr lang="en-AU" altLang="en-US" sz="1400">
                <a:solidFill>
                  <a:schemeClr val="tx2"/>
                </a:solidFill>
              </a:rPr>
              <a:t> may be expressed differently, and hence each mapping may use a different approach, and there is no logical place to go find these mappings</a:t>
            </a:r>
          </a:p>
        </p:txBody>
      </p:sp>
    </p:spTree>
    <p:extLst>
      <p:ext uri="{BB962C8B-B14F-4D97-AF65-F5344CB8AC3E}">
        <p14:creationId xmlns:p14="http://schemas.microsoft.com/office/powerpoint/2010/main" val="2525027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AU" dirty="0" smtClean="0"/>
              <a:t>Versus  N Mappings</a:t>
            </a:r>
            <a:endParaRPr lang="en-AU" dirty="0"/>
          </a:p>
        </p:txBody>
      </p:sp>
      <p:sp>
        <p:nvSpPr>
          <p:cNvPr id="11267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r>
              <a:rPr lang="en-US" altLang="en-US" sz="900" b="0">
                <a:solidFill>
                  <a:srgbClr val="092E5C"/>
                </a:solidFill>
                <a:latin typeface="Arial" pitchFamily="34" charset="0"/>
              </a:rPr>
              <a:t>Copyright © 2015 Open Geospatial Consortium</a:t>
            </a:r>
          </a:p>
        </p:txBody>
      </p:sp>
      <p:sp>
        <p:nvSpPr>
          <p:cNvPr id="11268" name="Rounded Rectangle 4"/>
          <p:cNvSpPr>
            <a:spLocks noChangeArrowheads="1"/>
          </p:cNvSpPr>
          <p:nvPr/>
        </p:nvSpPr>
        <p:spPr bwMode="auto">
          <a:xfrm>
            <a:off x="893763" y="3578225"/>
            <a:ext cx="1371600" cy="533400"/>
          </a:xfrm>
          <a:prstGeom prst="roundRect">
            <a:avLst>
              <a:gd name="adj" fmla="val 16667"/>
            </a:avLst>
          </a:prstGeom>
          <a:noFill/>
          <a:ln w="12700" algn="ctr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 algn="ctr" eaLnBrk="1" hangingPunct="1"/>
            <a:r>
              <a:rPr lang="en-AU" altLang="en-US"/>
              <a:t>NHD+</a:t>
            </a:r>
          </a:p>
        </p:txBody>
      </p:sp>
      <p:sp>
        <p:nvSpPr>
          <p:cNvPr id="11269" name="Rounded Rectangle 5"/>
          <p:cNvSpPr>
            <a:spLocks noChangeArrowheads="1"/>
          </p:cNvSpPr>
          <p:nvPr/>
        </p:nvSpPr>
        <p:spPr bwMode="auto">
          <a:xfrm>
            <a:off x="609600" y="2608262"/>
            <a:ext cx="1371600" cy="533400"/>
          </a:xfrm>
          <a:prstGeom prst="roundRect">
            <a:avLst>
              <a:gd name="adj" fmla="val 16667"/>
            </a:avLst>
          </a:prstGeom>
          <a:noFill/>
          <a:ln w="12700" algn="ctr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 algn="ctr" eaLnBrk="1" hangingPunct="1"/>
            <a:r>
              <a:rPr lang="en-AU" altLang="en-US"/>
              <a:t>NHN</a:t>
            </a:r>
          </a:p>
        </p:txBody>
      </p:sp>
      <p:sp>
        <p:nvSpPr>
          <p:cNvPr id="11270" name="Rounded Rectangle 6"/>
          <p:cNvSpPr>
            <a:spLocks noChangeArrowheads="1"/>
          </p:cNvSpPr>
          <p:nvPr/>
        </p:nvSpPr>
        <p:spPr bwMode="auto">
          <a:xfrm>
            <a:off x="1143000" y="4400550"/>
            <a:ext cx="1371600" cy="533400"/>
          </a:xfrm>
          <a:prstGeom prst="roundRect">
            <a:avLst>
              <a:gd name="adj" fmla="val 16667"/>
            </a:avLst>
          </a:prstGeom>
          <a:noFill/>
          <a:ln w="12700" algn="ctr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 algn="ctr" eaLnBrk="1" hangingPunct="1"/>
            <a:r>
              <a:rPr lang="en-AU" altLang="en-US"/>
              <a:t>INSPIRE Hydrography</a:t>
            </a:r>
          </a:p>
        </p:txBody>
      </p:sp>
      <p:sp>
        <p:nvSpPr>
          <p:cNvPr id="11271" name="Rounded Rectangle 7"/>
          <p:cNvSpPr>
            <a:spLocks noChangeArrowheads="1"/>
          </p:cNvSpPr>
          <p:nvPr/>
        </p:nvSpPr>
        <p:spPr bwMode="auto">
          <a:xfrm>
            <a:off x="2857500" y="4835525"/>
            <a:ext cx="1371600" cy="533400"/>
          </a:xfrm>
          <a:prstGeom prst="roundRect">
            <a:avLst>
              <a:gd name="adj" fmla="val 16667"/>
            </a:avLst>
          </a:prstGeom>
          <a:noFill/>
          <a:ln w="12700" algn="ctr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 algn="ctr" eaLnBrk="1" hangingPunct="1"/>
            <a:r>
              <a:rPr lang="en-AU" altLang="en-US"/>
              <a:t>Australian Hydrographic</a:t>
            </a:r>
          </a:p>
          <a:p>
            <a:pPr algn="ctr" eaLnBrk="1" hangingPunct="1"/>
            <a:r>
              <a:rPr lang="en-AU" altLang="en-US"/>
              <a:t>Geofabric</a:t>
            </a:r>
          </a:p>
        </p:txBody>
      </p:sp>
      <p:sp>
        <p:nvSpPr>
          <p:cNvPr id="11272" name="Rounded Rectangle 8"/>
          <p:cNvSpPr>
            <a:spLocks noChangeArrowheads="1"/>
          </p:cNvSpPr>
          <p:nvPr/>
        </p:nvSpPr>
        <p:spPr bwMode="auto">
          <a:xfrm>
            <a:off x="4803775" y="5105400"/>
            <a:ext cx="1371600" cy="533400"/>
          </a:xfrm>
          <a:prstGeom prst="roundRect">
            <a:avLst>
              <a:gd name="adj" fmla="val 16667"/>
            </a:avLst>
          </a:prstGeom>
          <a:noFill/>
          <a:ln w="12700" algn="ctr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 algn="ctr" eaLnBrk="1" hangingPunct="1"/>
            <a:r>
              <a:rPr lang="en-AU" altLang="en-US"/>
              <a:t>NFIE</a:t>
            </a:r>
          </a:p>
        </p:txBody>
      </p:sp>
      <p:sp>
        <p:nvSpPr>
          <p:cNvPr id="11273" name="Rounded Rectangle 9"/>
          <p:cNvSpPr>
            <a:spLocks noChangeArrowheads="1"/>
          </p:cNvSpPr>
          <p:nvPr/>
        </p:nvSpPr>
        <p:spPr bwMode="auto">
          <a:xfrm>
            <a:off x="5867400" y="3632200"/>
            <a:ext cx="1371600" cy="533400"/>
          </a:xfrm>
          <a:prstGeom prst="roundRect">
            <a:avLst>
              <a:gd name="adj" fmla="val 16667"/>
            </a:avLst>
          </a:prstGeom>
          <a:noFill/>
          <a:ln w="12700" algn="ctr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 algn="ctr" eaLnBrk="1" hangingPunct="1"/>
            <a:r>
              <a:rPr lang="en-AU" altLang="en-US"/>
              <a:t>Open Street Map</a:t>
            </a:r>
          </a:p>
        </p:txBody>
      </p:sp>
      <p:sp>
        <p:nvSpPr>
          <p:cNvPr id="11274" name="Rounded Rectangle 10"/>
          <p:cNvSpPr>
            <a:spLocks noChangeArrowheads="1"/>
          </p:cNvSpPr>
          <p:nvPr/>
        </p:nvSpPr>
        <p:spPr bwMode="auto">
          <a:xfrm>
            <a:off x="3598863" y="4121150"/>
            <a:ext cx="1371600" cy="525462"/>
          </a:xfrm>
          <a:prstGeom prst="roundRect">
            <a:avLst>
              <a:gd name="adj" fmla="val 16667"/>
            </a:avLst>
          </a:prstGeom>
          <a:noFill/>
          <a:ln w="12700" algn="ctr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 algn="ctr" eaLnBrk="1" hangingPunct="1"/>
            <a:r>
              <a:rPr lang="en-AU" altLang="en-US"/>
              <a:t>ESRI global water map</a:t>
            </a:r>
          </a:p>
        </p:txBody>
      </p:sp>
      <p:sp>
        <p:nvSpPr>
          <p:cNvPr id="11275" name="Rounded Rectangle 11"/>
          <p:cNvSpPr>
            <a:spLocks noChangeArrowheads="1"/>
          </p:cNvSpPr>
          <p:nvPr/>
        </p:nvSpPr>
        <p:spPr bwMode="auto">
          <a:xfrm>
            <a:off x="5867400" y="2692400"/>
            <a:ext cx="1371600" cy="533400"/>
          </a:xfrm>
          <a:prstGeom prst="roundRect">
            <a:avLst>
              <a:gd name="adj" fmla="val 16667"/>
            </a:avLst>
          </a:prstGeom>
          <a:noFill/>
          <a:ln w="12700" algn="ctr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 algn="ctr" eaLnBrk="1" hangingPunct="1"/>
            <a:r>
              <a:rPr lang="en-AU" altLang="en-US"/>
              <a:t>HydroSHEDS</a:t>
            </a:r>
          </a:p>
        </p:txBody>
      </p:sp>
      <p:cxnSp>
        <p:nvCxnSpPr>
          <p:cNvPr id="11276" name="Straight Arrow Connector 34"/>
          <p:cNvCxnSpPr>
            <a:cxnSpLocks noChangeShapeType="1"/>
            <a:stCxn id="11275" idx="1"/>
            <a:endCxn id="11284" idx="2"/>
          </p:cNvCxnSpPr>
          <p:nvPr/>
        </p:nvCxnSpPr>
        <p:spPr bwMode="auto">
          <a:xfrm flipH="1" flipV="1">
            <a:off x="3979863" y="1938337"/>
            <a:ext cx="1887537" cy="1020763"/>
          </a:xfrm>
          <a:prstGeom prst="straightConnector1">
            <a:avLst/>
          </a:prstGeom>
          <a:noFill/>
          <a:ln w="12700" algn="ctr">
            <a:solidFill>
              <a:srgbClr val="96969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7" name="Straight Arrow Connector 37"/>
          <p:cNvCxnSpPr>
            <a:cxnSpLocks noChangeShapeType="1"/>
            <a:stCxn id="11284" idx="2"/>
          </p:cNvCxnSpPr>
          <p:nvPr/>
        </p:nvCxnSpPr>
        <p:spPr bwMode="auto">
          <a:xfrm>
            <a:off x="3979863" y="1938337"/>
            <a:ext cx="317500" cy="2157413"/>
          </a:xfrm>
          <a:prstGeom prst="straightConnector1">
            <a:avLst/>
          </a:prstGeom>
          <a:noFill/>
          <a:ln w="12700" algn="ctr">
            <a:solidFill>
              <a:srgbClr val="96969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8" name="Straight Arrow Connector 40"/>
          <p:cNvCxnSpPr>
            <a:cxnSpLocks noChangeShapeType="1"/>
            <a:stCxn id="11272" idx="0"/>
            <a:endCxn id="11284" idx="2"/>
          </p:cNvCxnSpPr>
          <p:nvPr/>
        </p:nvCxnSpPr>
        <p:spPr bwMode="auto">
          <a:xfrm flipH="1" flipV="1">
            <a:off x="3979863" y="1938337"/>
            <a:ext cx="1509712" cy="3167063"/>
          </a:xfrm>
          <a:prstGeom prst="straightConnector1">
            <a:avLst/>
          </a:prstGeom>
          <a:noFill/>
          <a:ln w="12700" algn="ctr">
            <a:solidFill>
              <a:srgbClr val="96969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9" name="Straight Arrow Connector 42"/>
          <p:cNvCxnSpPr>
            <a:cxnSpLocks noChangeShapeType="1"/>
            <a:stCxn id="11271" idx="0"/>
            <a:endCxn id="11284" idx="2"/>
          </p:cNvCxnSpPr>
          <p:nvPr/>
        </p:nvCxnSpPr>
        <p:spPr bwMode="auto">
          <a:xfrm flipV="1">
            <a:off x="3543300" y="1938337"/>
            <a:ext cx="436563" cy="2897188"/>
          </a:xfrm>
          <a:prstGeom prst="straightConnector1">
            <a:avLst/>
          </a:prstGeom>
          <a:noFill/>
          <a:ln w="12700" algn="ctr">
            <a:solidFill>
              <a:srgbClr val="96969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0" name="Straight Arrow Connector 44"/>
          <p:cNvCxnSpPr>
            <a:cxnSpLocks noChangeShapeType="1"/>
            <a:stCxn id="11270" idx="3"/>
            <a:endCxn id="11284" idx="2"/>
          </p:cNvCxnSpPr>
          <p:nvPr/>
        </p:nvCxnSpPr>
        <p:spPr bwMode="auto">
          <a:xfrm flipV="1">
            <a:off x="2514600" y="1938337"/>
            <a:ext cx="1465263" cy="2728913"/>
          </a:xfrm>
          <a:prstGeom prst="straightConnector1">
            <a:avLst/>
          </a:prstGeom>
          <a:noFill/>
          <a:ln w="12700" algn="ctr">
            <a:solidFill>
              <a:srgbClr val="96969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1" name="Straight Arrow Connector 49"/>
          <p:cNvCxnSpPr>
            <a:cxnSpLocks noChangeShapeType="1"/>
            <a:stCxn id="11268" idx="3"/>
            <a:endCxn id="11284" idx="2"/>
          </p:cNvCxnSpPr>
          <p:nvPr/>
        </p:nvCxnSpPr>
        <p:spPr bwMode="auto">
          <a:xfrm flipV="1">
            <a:off x="2265363" y="1938337"/>
            <a:ext cx="1714500" cy="1906588"/>
          </a:xfrm>
          <a:prstGeom prst="straightConnector1">
            <a:avLst/>
          </a:prstGeom>
          <a:noFill/>
          <a:ln w="12700" algn="ctr">
            <a:solidFill>
              <a:srgbClr val="96969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2" name="Straight Arrow Connector 52"/>
          <p:cNvCxnSpPr>
            <a:cxnSpLocks noChangeShapeType="1"/>
            <a:stCxn id="11269" idx="0"/>
            <a:endCxn id="11284" idx="2"/>
          </p:cNvCxnSpPr>
          <p:nvPr/>
        </p:nvCxnSpPr>
        <p:spPr bwMode="auto">
          <a:xfrm flipV="1">
            <a:off x="1295400" y="1938337"/>
            <a:ext cx="2684463" cy="669925"/>
          </a:xfrm>
          <a:prstGeom prst="straightConnector1">
            <a:avLst/>
          </a:prstGeom>
          <a:noFill/>
          <a:ln w="12700" algn="ctr">
            <a:solidFill>
              <a:srgbClr val="96969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3" name="Straight Arrow Connector 55"/>
          <p:cNvCxnSpPr>
            <a:cxnSpLocks noChangeShapeType="1"/>
            <a:stCxn id="11273" idx="1"/>
            <a:endCxn id="11284" idx="2"/>
          </p:cNvCxnSpPr>
          <p:nvPr/>
        </p:nvCxnSpPr>
        <p:spPr bwMode="auto">
          <a:xfrm flipH="1" flipV="1">
            <a:off x="3979863" y="1938337"/>
            <a:ext cx="1887537" cy="1960563"/>
          </a:xfrm>
          <a:prstGeom prst="straightConnector1">
            <a:avLst/>
          </a:prstGeom>
          <a:noFill/>
          <a:ln w="12700" algn="ctr">
            <a:solidFill>
              <a:srgbClr val="96969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84" name="Rounded Rectangle 31"/>
          <p:cNvSpPr>
            <a:spLocks noChangeArrowheads="1"/>
          </p:cNvSpPr>
          <p:nvPr/>
        </p:nvSpPr>
        <p:spPr bwMode="auto">
          <a:xfrm>
            <a:off x="3294063" y="1404937"/>
            <a:ext cx="1371600" cy="533400"/>
          </a:xfrm>
          <a:prstGeom prst="roundRect">
            <a:avLst>
              <a:gd name="adj" fmla="val 16667"/>
            </a:avLst>
          </a:prstGeom>
          <a:noFill/>
          <a:ln w="12700" algn="ctr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 algn="ctr" eaLnBrk="1" hangingPunct="1"/>
            <a:r>
              <a:rPr lang="en-AU" altLang="en-US"/>
              <a:t>HY_Features</a:t>
            </a:r>
          </a:p>
        </p:txBody>
      </p:sp>
      <p:sp>
        <p:nvSpPr>
          <p:cNvPr id="21" name="Rechteck 20"/>
          <p:cNvSpPr/>
          <p:nvPr/>
        </p:nvSpPr>
        <p:spPr>
          <a:xfrm>
            <a:off x="1007352" y="914400"/>
            <a:ext cx="783184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AU" altLang="en-US" i="1" smtClean="0">
                <a:solidFill>
                  <a:schemeClr val="tx2"/>
                </a:solidFill>
              </a:rPr>
              <a:t>*In</a:t>
            </a:r>
            <a:r>
              <a:rPr lang="en-AU" altLang="en-US" i="1">
                <a:solidFill>
                  <a:schemeClr val="tx2"/>
                </a:solidFill>
              </a:rPr>
              <a:t>: </a:t>
            </a:r>
            <a:r>
              <a:rPr lang="en-AU" i="1">
                <a:solidFill>
                  <a:schemeClr val="tx2"/>
                </a:solidFill>
              </a:rPr>
              <a:t>HY_Features Part 3 - OWL encoding: rhyme and reason / Rob Atkinson. </a:t>
            </a:r>
            <a:r>
              <a:rPr lang="en-AU" i="1" smtClean="0">
                <a:solidFill>
                  <a:schemeClr val="tx2"/>
                </a:solidFill>
              </a:rPr>
              <a:t>Presentation at </a:t>
            </a:r>
            <a:r>
              <a:rPr lang="en-US" altLang="en-US" i="1" smtClean="0">
                <a:solidFill>
                  <a:schemeClr val="tx2"/>
                </a:solidFill>
              </a:rPr>
              <a:t>96th </a:t>
            </a:r>
            <a:r>
              <a:rPr lang="en-US" altLang="en-US" i="1">
                <a:solidFill>
                  <a:schemeClr val="tx2"/>
                </a:solidFill>
              </a:rPr>
              <a:t>OGC </a:t>
            </a:r>
            <a:r>
              <a:rPr lang="en-US" altLang="en-US" i="1" smtClean="0">
                <a:solidFill>
                  <a:schemeClr val="tx2"/>
                </a:solidFill>
              </a:rPr>
              <a:t>TC, </a:t>
            </a:r>
            <a:r>
              <a:rPr lang="en-US" altLang="en-US" i="1">
                <a:solidFill>
                  <a:schemeClr val="tx2"/>
                </a:solidFill>
              </a:rPr>
              <a:t>Nottingham, UK</a:t>
            </a:r>
            <a:endParaRPr lang="en-AU" altLang="en-US" sz="1400" i="1">
              <a:solidFill>
                <a:schemeClr val="tx2"/>
              </a:solidFill>
            </a:endParaRPr>
          </a:p>
        </p:txBody>
      </p:sp>
      <p:sp>
        <p:nvSpPr>
          <p:cNvPr id="22" name="TextBox 77"/>
          <p:cNvSpPr txBox="1">
            <a:spLocks noChangeArrowheads="1"/>
          </p:cNvSpPr>
          <p:nvPr/>
        </p:nvSpPr>
        <p:spPr bwMode="auto">
          <a:xfrm>
            <a:off x="1096963" y="5638800"/>
            <a:ext cx="64007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 marL="285750" indent="-285750" eaLnBrk="1" hangingPunct="1">
              <a:buFont typeface="Wingdings" panose="05000000000000000000" pitchFamily="2" charset="2"/>
              <a:buChar char="Ø"/>
            </a:pPr>
            <a:r>
              <a:rPr lang="en-AU" altLang="en-US" sz="1400" smtClean="0">
                <a:solidFill>
                  <a:schemeClr val="tx2"/>
                </a:solidFill>
              </a:rPr>
              <a:t>mapping each to a common reference model </a:t>
            </a:r>
          </a:p>
          <a:p>
            <a:pPr marL="285750" indent="-285750" eaLnBrk="1" hangingPunct="1">
              <a:buFont typeface="Wingdings" panose="05000000000000000000" pitchFamily="2" charset="2"/>
              <a:buChar char="Ø"/>
            </a:pPr>
            <a:r>
              <a:rPr lang="en-AU" altLang="en-US" sz="1400" smtClean="0">
                <a:solidFill>
                  <a:schemeClr val="tx2"/>
                </a:solidFill>
              </a:rPr>
              <a:t>conceptualise the mapping to store, find and resolve these mappings</a:t>
            </a:r>
            <a:endParaRPr lang="en-AU" altLang="en-US" sz="14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0407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838200" y="1247774"/>
            <a:ext cx="7467600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de-DE" sz="2800" b="0" dirty="0" smtClean="0">
              <a:solidFill>
                <a:schemeClr val="tx2"/>
              </a:solidFill>
            </a:endParaRPr>
          </a:p>
          <a:p>
            <a:pPr algn="ctr">
              <a:spcBef>
                <a:spcPts val="600"/>
              </a:spcBef>
              <a:spcAft>
                <a:spcPts val="0"/>
              </a:spcAft>
            </a:pPr>
            <a:endParaRPr lang="de-DE" sz="2800" b="0" dirty="0">
              <a:solidFill>
                <a:schemeClr val="tx2"/>
              </a:solidFill>
            </a:endParaRP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de-DE" sz="2800" b="0" dirty="0" smtClean="0">
                <a:solidFill>
                  <a:schemeClr val="tx2"/>
                </a:solidFill>
              </a:rPr>
              <a:t>Background: </a:t>
            </a:r>
            <a:r>
              <a:rPr lang="de-DE" sz="2800" b="0" dirty="0" err="1" smtClean="0">
                <a:solidFill>
                  <a:schemeClr val="tx2"/>
                </a:solidFill>
              </a:rPr>
              <a:t>HY_Features</a:t>
            </a:r>
            <a:r>
              <a:rPr lang="de-DE" sz="2800" b="0" dirty="0" smtClean="0">
                <a:solidFill>
                  <a:schemeClr val="tx2"/>
                </a:solidFill>
              </a:rPr>
              <a:t> </a:t>
            </a:r>
            <a:r>
              <a:rPr lang="de-DE" sz="2800" b="0" dirty="0" err="1" smtClean="0">
                <a:solidFill>
                  <a:schemeClr val="tx2"/>
                </a:solidFill>
              </a:rPr>
              <a:t>core</a:t>
            </a:r>
            <a:r>
              <a:rPr lang="de-DE" sz="2800" b="0" dirty="0" smtClean="0">
                <a:solidFill>
                  <a:schemeClr val="tx2"/>
                </a:solidFill>
              </a:rPr>
              <a:t> </a:t>
            </a:r>
            <a:r>
              <a:rPr lang="de-DE" sz="2800" b="0" dirty="0" err="1" smtClean="0">
                <a:solidFill>
                  <a:schemeClr val="tx2"/>
                </a:solidFill>
              </a:rPr>
              <a:t>concepts</a:t>
            </a:r>
            <a:r>
              <a:rPr lang="de-DE" sz="2800" b="0" dirty="0" smtClean="0">
                <a:solidFill>
                  <a:schemeClr val="tx2"/>
                </a:solidFill>
              </a:rPr>
              <a:t> </a:t>
            </a: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de-DE" sz="2000" b="0" dirty="0" err="1" smtClean="0">
                <a:solidFill>
                  <a:schemeClr val="tx2"/>
                </a:solidFill>
              </a:rPr>
              <a:t>catchment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representation</a:t>
            </a:r>
            <a:r>
              <a:rPr lang="de-DE" sz="2000" b="0" dirty="0" smtClean="0">
                <a:solidFill>
                  <a:schemeClr val="tx2"/>
                </a:solidFill>
              </a:rPr>
              <a:t> ; </a:t>
            </a:r>
            <a:r>
              <a:rPr lang="de-DE" sz="2000" b="0" dirty="0" err="1" smtClean="0">
                <a:solidFill>
                  <a:schemeClr val="tx2"/>
                </a:solidFill>
              </a:rPr>
              <a:t>basin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hierarchy</a:t>
            </a:r>
            <a:r>
              <a:rPr lang="de-DE" sz="2000" b="0" dirty="0" smtClean="0">
                <a:solidFill>
                  <a:schemeClr val="tx2"/>
                </a:solidFill>
              </a:rPr>
              <a:t> ; </a:t>
            </a:r>
            <a:r>
              <a:rPr lang="de-DE" sz="2000" b="0" dirty="0" err="1" smtClean="0">
                <a:solidFill>
                  <a:schemeClr val="tx2"/>
                </a:solidFill>
              </a:rPr>
              <a:t>outfall</a:t>
            </a:r>
            <a:r>
              <a:rPr lang="de-DE" sz="2000" b="0" dirty="0" smtClean="0">
                <a:solidFill>
                  <a:schemeClr val="tx2"/>
                </a:solidFill>
              </a:rPr>
              <a:t> – </a:t>
            </a:r>
            <a:r>
              <a:rPr lang="de-DE" sz="2000" b="0" dirty="0" err="1" smtClean="0">
                <a:solidFill>
                  <a:schemeClr val="tx2"/>
                </a:solidFill>
              </a:rPr>
              <a:t>indirect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position</a:t>
            </a:r>
            <a:r>
              <a:rPr lang="de-DE" sz="2000" b="0" dirty="0" smtClean="0">
                <a:solidFill>
                  <a:schemeClr val="tx2"/>
                </a:solidFill>
              </a:rPr>
              <a:t> – </a:t>
            </a:r>
            <a:r>
              <a:rPr lang="de-DE" sz="2000" b="0" dirty="0" err="1" smtClean="0">
                <a:solidFill>
                  <a:schemeClr val="tx2"/>
                </a:solidFill>
              </a:rPr>
              <a:t>reference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point</a:t>
            </a:r>
            <a:r>
              <a:rPr lang="de-DE" sz="2000" b="0" dirty="0" smtClean="0">
                <a:solidFill>
                  <a:schemeClr val="tx2"/>
                </a:solidFill>
              </a:rPr>
              <a:t> ; </a:t>
            </a:r>
            <a:r>
              <a:rPr lang="de-DE" sz="2000" b="0" dirty="0" err="1" smtClean="0">
                <a:solidFill>
                  <a:schemeClr val="tx2"/>
                </a:solidFill>
              </a:rPr>
              <a:t>water</a:t>
            </a:r>
            <a:r>
              <a:rPr lang="de-DE" sz="2000" b="0" dirty="0" smtClean="0">
                <a:solidFill>
                  <a:schemeClr val="tx2"/>
                </a:solidFill>
              </a:rPr>
              <a:t> – </a:t>
            </a:r>
            <a:r>
              <a:rPr lang="de-DE" sz="2000" b="0" dirty="0" err="1" smtClean="0">
                <a:solidFill>
                  <a:schemeClr val="tx2"/>
                </a:solidFill>
              </a:rPr>
              <a:t>water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accumulation</a:t>
            </a:r>
            <a:r>
              <a:rPr lang="de-DE" sz="2000" b="0" dirty="0" smtClean="0">
                <a:solidFill>
                  <a:schemeClr val="tx2"/>
                </a:solidFill>
              </a:rPr>
              <a:t> – </a:t>
            </a:r>
            <a:r>
              <a:rPr lang="de-DE" sz="2000" b="0" dirty="0" err="1" smtClean="0">
                <a:solidFill>
                  <a:schemeClr val="tx2"/>
                </a:solidFill>
              </a:rPr>
              <a:t>storage</a:t>
            </a:r>
            <a:endParaRPr lang="de-DE" sz="2000" b="0" dirty="0" smtClean="0">
              <a:solidFill>
                <a:schemeClr val="tx2"/>
              </a:solidFill>
            </a:endParaRPr>
          </a:p>
          <a:p>
            <a:pPr algn="ctr">
              <a:spcBef>
                <a:spcPts val="600"/>
              </a:spcBef>
              <a:spcAft>
                <a:spcPts val="0"/>
              </a:spcAft>
            </a:pPr>
            <a:endParaRPr lang="de-DE" sz="2000" b="0" dirty="0">
              <a:solidFill>
                <a:schemeClr val="tx2"/>
              </a:solidFill>
            </a:endParaRP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de-DE" sz="2000" b="0" dirty="0" err="1">
                <a:solidFill>
                  <a:schemeClr val="tx2"/>
                </a:solidFill>
              </a:rPr>
              <a:t>c</a:t>
            </a:r>
            <a:r>
              <a:rPr lang="de-DE" sz="2000" b="0" dirty="0" err="1" smtClean="0">
                <a:solidFill>
                  <a:schemeClr val="tx2"/>
                </a:solidFill>
              </a:rPr>
              <a:t>atchment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as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the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basic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common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denominator</a:t>
            </a:r>
            <a:r>
              <a:rPr lang="de-DE" sz="2000" b="0" dirty="0" smtClean="0">
                <a:solidFill>
                  <a:schemeClr val="tx2"/>
                </a:solidFill>
              </a:rPr>
              <a:t>, </a:t>
            </a:r>
            <a:r>
              <a:rPr lang="de-DE" sz="2000" b="0" dirty="0" err="1" smtClean="0">
                <a:solidFill>
                  <a:schemeClr val="tx2"/>
                </a:solidFill>
              </a:rPr>
              <a:t>commonly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understood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as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the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abstract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unit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wherein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the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hydro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processes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take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place</a:t>
            </a:r>
            <a:r>
              <a:rPr lang="de-DE" sz="2000" b="0" dirty="0" smtClean="0">
                <a:solidFill>
                  <a:schemeClr val="tx2"/>
                </a:solidFill>
              </a:rPr>
              <a:t>, </a:t>
            </a:r>
            <a:r>
              <a:rPr lang="de-DE" sz="2000" b="0" dirty="0" err="1">
                <a:solidFill>
                  <a:schemeClr val="tx2"/>
                </a:solidFill>
              </a:rPr>
              <a:t>a</a:t>
            </a:r>
            <a:r>
              <a:rPr lang="de-DE" sz="2000" b="0" dirty="0" err="1" smtClean="0">
                <a:solidFill>
                  <a:schemeClr val="tx2"/>
                </a:solidFill>
              </a:rPr>
              <a:t>s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reporting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and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management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unit</a:t>
            </a:r>
            <a:endParaRPr lang="de-DE" sz="2000" b="0" dirty="0" smtClean="0">
              <a:solidFill>
                <a:schemeClr val="tx2"/>
              </a:solidFill>
            </a:endParaRPr>
          </a:p>
          <a:p>
            <a:pPr algn="ctr">
              <a:spcBef>
                <a:spcPts val="600"/>
              </a:spcBef>
              <a:spcAft>
                <a:spcPts val="0"/>
              </a:spcAft>
            </a:pPr>
            <a:endParaRPr lang="de-DE" sz="2800" b="0" dirty="0" smtClean="0">
              <a:solidFill>
                <a:schemeClr val="tx2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4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 smtClean="0">
                <a:solidFill>
                  <a:schemeClr val="tx2"/>
                </a:solidFill>
              </a:rPr>
              <a:t>Mapping to a common reference model</a:t>
            </a:r>
            <a:endParaRPr lang="en-GB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231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pieren 14"/>
          <p:cNvGrpSpPr/>
          <p:nvPr/>
        </p:nvGrpSpPr>
        <p:grpSpPr>
          <a:xfrm>
            <a:off x="228600" y="1279525"/>
            <a:ext cx="8575675" cy="4891088"/>
            <a:chOff x="228600" y="1279525"/>
            <a:chExt cx="8575675" cy="4891088"/>
          </a:xfrm>
        </p:grpSpPr>
        <p:pic>
          <p:nvPicPr>
            <p:cNvPr id="5" name="Picture 1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600" y="1279525"/>
              <a:ext cx="8575675" cy="4891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Textfeld 13"/>
            <p:cNvSpPr txBox="1"/>
            <p:nvPr/>
          </p:nvSpPr>
          <p:spPr>
            <a:xfrm>
              <a:off x="7019925" y="4610099"/>
              <a:ext cx="152400" cy="176213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 rtlCol="0">
              <a:noAutofit/>
            </a:bodyPr>
            <a:lstStyle/>
            <a:p>
              <a:r>
                <a:rPr lang="en-GB" sz="800" b="0" smtClean="0">
                  <a:latin typeface="Arial Narrow" panose="020B0606020202030204" pitchFamily="34" charset="0"/>
                </a:rPr>
                <a:t>0..1</a:t>
              </a:r>
              <a:endParaRPr lang="en-GB" sz="800" b="0" dirty="0" err="1" smtClean="0">
                <a:latin typeface="Arial Narrow" panose="020B0606020202030204" pitchFamily="34" charset="0"/>
              </a:endParaRP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0187" y="152400"/>
            <a:ext cx="8683625" cy="685800"/>
          </a:xfrm>
        </p:spPr>
        <p:txBody>
          <a:bodyPr/>
          <a:lstStyle/>
          <a:p>
            <a:pPr>
              <a:defRPr/>
            </a:pPr>
            <a:r>
              <a:rPr lang="en-GB" altLang="en-US" sz="2800" i="1" smtClean="0">
                <a:effectLst/>
              </a:rPr>
              <a:t>Background: HY_Features</a:t>
            </a:r>
            <a:r>
              <a:rPr lang="en-GB" altLang="en-US" sz="2800" smtClean="0">
                <a:effectLst/>
              </a:rPr>
              <a:t> </a:t>
            </a:r>
            <a:r>
              <a:rPr lang="en-GB" altLang="en-US" sz="2800" dirty="0">
                <a:effectLst/>
              </a:rPr>
              <a:t>– Basic concepts, 1(3)</a:t>
            </a:r>
            <a:endParaRPr lang="en-GB" sz="2800" dirty="0">
              <a:cs typeface="+mj-cs"/>
            </a:endParaRPr>
          </a:p>
        </p:txBody>
      </p:sp>
      <p:sp>
        <p:nvSpPr>
          <p:cNvPr id="6" name="Text Box 14"/>
          <p:cNvSpPr txBox="1">
            <a:spLocks noChangeArrowheads="1"/>
          </p:cNvSpPr>
          <p:nvPr/>
        </p:nvSpPr>
        <p:spPr bwMode="auto">
          <a:xfrm>
            <a:off x="581025" y="5010150"/>
            <a:ext cx="5638800" cy="107721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 marL="342900" indent="-342900"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altLang="en-US" sz="1800" dirty="0" smtClean="0">
                <a:solidFill>
                  <a:schemeClr val="tx2"/>
                </a:solidFill>
              </a:rPr>
              <a:t>Multiple represented catchment</a:t>
            </a:r>
          </a:p>
          <a:p>
            <a:pPr marL="342900" indent="-342900"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altLang="en-US" sz="1800" dirty="0" smtClean="0">
                <a:solidFill>
                  <a:schemeClr val="tx2"/>
                </a:solidFill>
              </a:rPr>
              <a:t>Basin hierarchy</a:t>
            </a:r>
          </a:p>
          <a:p>
            <a:pPr marL="342900" indent="-342900"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altLang="en-US" sz="1800" dirty="0" smtClean="0">
                <a:solidFill>
                  <a:schemeClr val="tx2"/>
                </a:solidFill>
              </a:rPr>
              <a:t>Basin </a:t>
            </a:r>
            <a:r>
              <a:rPr lang="en-GB" altLang="en-US" sz="1800" dirty="0">
                <a:solidFill>
                  <a:schemeClr val="tx2"/>
                </a:solidFill>
              </a:rPr>
              <a:t>and </a:t>
            </a:r>
            <a:r>
              <a:rPr lang="en-GB" altLang="en-US" sz="1800" dirty="0" smtClean="0">
                <a:solidFill>
                  <a:schemeClr val="tx2"/>
                </a:solidFill>
              </a:rPr>
              <a:t>its common outlet (outfall)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9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cxnSp>
        <p:nvCxnSpPr>
          <p:cNvPr id="18" name="Gerade Verbindung 17"/>
          <p:cNvCxnSpPr/>
          <p:nvPr/>
        </p:nvCxnSpPr>
        <p:spPr bwMode="auto">
          <a:xfrm>
            <a:off x="8305800" y="1752600"/>
            <a:ext cx="228600" cy="0"/>
          </a:xfrm>
          <a:prstGeom prst="lin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Gerade Verbindung 19"/>
          <p:cNvCxnSpPr/>
          <p:nvPr/>
        </p:nvCxnSpPr>
        <p:spPr bwMode="auto">
          <a:xfrm flipV="1">
            <a:off x="8534400" y="1219200"/>
            <a:ext cx="0" cy="533400"/>
          </a:xfrm>
          <a:prstGeom prst="lin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Gerade Verbindung 21"/>
          <p:cNvCxnSpPr/>
          <p:nvPr/>
        </p:nvCxnSpPr>
        <p:spPr bwMode="auto">
          <a:xfrm flipH="1">
            <a:off x="7924800" y="1219200"/>
            <a:ext cx="609600" cy="0"/>
          </a:xfrm>
          <a:prstGeom prst="lin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Gerade Verbindung mit Pfeil 23"/>
          <p:cNvCxnSpPr/>
          <p:nvPr/>
        </p:nvCxnSpPr>
        <p:spPr bwMode="auto">
          <a:xfrm>
            <a:off x="7924800" y="1219200"/>
            <a:ext cx="0" cy="266700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5" name="Textfeld 24"/>
          <p:cNvSpPr txBox="1"/>
          <p:nvPr/>
        </p:nvSpPr>
        <p:spPr>
          <a:xfrm>
            <a:off x="6934200" y="1219200"/>
            <a:ext cx="914400" cy="4572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de-DE" sz="800" b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containingCatchment</a:t>
            </a:r>
            <a:endParaRPr lang="de-DE" sz="800" b="0" dirty="0" smtClean="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</a:endParaRPr>
          </a:p>
          <a:p>
            <a:endParaRPr lang="en-US" sz="800" b="0" dirty="0" err="1" smtClean="0">
              <a:solidFill>
                <a:schemeClr val="tx1">
                  <a:lumMod val="95000"/>
                  <a:lumOff val="5000"/>
                </a:schemeClr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958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0187" y="152400"/>
            <a:ext cx="8683625" cy="685800"/>
          </a:xfrm>
        </p:spPr>
        <p:txBody>
          <a:bodyPr/>
          <a:lstStyle/>
          <a:p>
            <a:pPr>
              <a:defRPr/>
            </a:pPr>
            <a:r>
              <a:rPr lang="en-GB" altLang="en-US" sz="2800" i="1">
                <a:effectLst/>
              </a:rPr>
              <a:t>Background: HY_Features</a:t>
            </a:r>
            <a:r>
              <a:rPr lang="en-GB" altLang="en-US" sz="2800" smtClean="0">
                <a:effectLst/>
              </a:rPr>
              <a:t> </a:t>
            </a:r>
            <a:r>
              <a:rPr lang="en-GB" altLang="en-US" sz="2800" dirty="0">
                <a:effectLst/>
              </a:rPr>
              <a:t>– Basic concepts, </a:t>
            </a:r>
            <a:r>
              <a:rPr lang="en-GB" altLang="en-US" sz="2800" dirty="0" smtClean="0">
                <a:effectLst/>
              </a:rPr>
              <a:t>2(3</a:t>
            </a:r>
            <a:r>
              <a:rPr lang="en-GB" altLang="en-US" sz="2800" dirty="0">
                <a:effectLst/>
              </a:rPr>
              <a:t>)</a:t>
            </a:r>
            <a:endParaRPr lang="en-GB" sz="2800" dirty="0">
              <a:cs typeface="+mj-cs"/>
            </a:endParaRPr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064" y="1371600"/>
            <a:ext cx="8645525" cy="479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3200400" y="5927725"/>
            <a:ext cx="5638800" cy="36933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1800" dirty="0">
                <a:solidFill>
                  <a:schemeClr val="tx2"/>
                </a:solidFill>
              </a:rPr>
              <a:t>Outfall, indirect position and reference point</a:t>
            </a:r>
            <a:endParaRPr lang="en-GB" altLang="en-US" sz="1800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cxnSp>
        <p:nvCxnSpPr>
          <p:cNvPr id="7" name="Gerade Verbindung 6"/>
          <p:cNvCxnSpPr/>
          <p:nvPr/>
        </p:nvCxnSpPr>
        <p:spPr bwMode="auto">
          <a:xfrm>
            <a:off x="5638800" y="2838450"/>
            <a:ext cx="609600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Gerade Verbindung 9"/>
          <p:cNvCxnSpPr/>
          <p:nvPr/>
        </p:nvCxnSpPr>
        <p:spPr bwMode="auto">
          <a:xfrm>
            <a:off x="6629400" y="4114800"/>
            <a:ext cx="533400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Textfeld 10"/>
          <p:cNvSpPr txBox="1"/>
          <p:nvPr/>
        </p:nvSpPr>
        <p:spPr>
          <a:xfrm>
            <a:off x="6448425" y="3914775"/>
            <a:ext cx="914400" cy="2286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800" b="0" smtClean="0"/>
              <a:t>+ wellLocation</a:t>
            </a:r>
            <a:endParaRPr lang="en-GB" sz="800" b="0" dirty="0" err="1" smtClean="0"/>
          </a:p>
        </p:txBody>
      </p:sp>
      <p:sp>
        <p:nvSpPr>
          <p:cNvPr id="13" name="Textfeld 12"/>
          <p:cNvSpPr txBox="1"/>
          <p:nvPr/>
        </p:nvSpPr>
        <p:spPr>
          <a:xfrm>
            <a:off x="5715000" y="2600325"/>
            <a:ext cx="914400" cy="2286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800" b="0" smtClean="0"/>
              <a:t> +well</a:t>
            </a:r>
            <a:endParaRPr lang="en-GB" sz="800" b="0" dirty="0" err="1" smtClean="0"/>
          </a:p>
        </p:txBody>
      </p:sp>
    </p:spTree>
    <p:extLst>
      <p:ext uri="{BB962C8B-B14F-4D97-AF65-F5344CB8AC3E}">
        <p14:creationId xmlns:p14="http://schemas.microsoft.com/office/powerpoint/2010/main" val="3419649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0187" y="152400"/>
            <a:ext cx="8683625" cy="685800"/>
          </a:xfrm>
        </p:spPr>
        <p:txBody>
          <a:bodyPr/>
          <a:lstStyle/>
          <a:p>
            <a:pPr>
              <a:defRPr/>
            </a:pPr>
            <a:r>
              <a:rPr lang="en-GB" altLang="en-US" sz="2800" i="1">
                <a:effectLst/>
              </a:rPr>
              <a:t>Background: HY_Features</a:t>
            </a:r>
            <a:r>
              <a:rPr lang="en-GB" altLang="en-US" sz="2800" smtClean="0">
                <a:effectLst/>
              </a:rPr>
              <a:t> </a:t>
            </a:r>
            <a:r>
              <a:rPr lang="en-GB" altLang="en-US" sz="2800" dirty="0">
                <a:effectLst/>
              </a:rPr>
              <a:t>– Basic concepts, </a:t>
            </a:r>
            <a:r>
              <a:rPr lang="en-GB" altLang="en-US" sz="2800" dirty="0" smtClean="0">
                <a:effectLst/>
              </a:rPr>
              <a:t>3(3</a:t>
            </a:r>
            <a:r>
              <a:rPr lang="en-GB" altLang="en-US" sz="2800" dirty="0">
                <a:effectLst/>
              </a:rPr>
              <a:t>)</a:t>
            </a:r>
            <a:endParaRPr lang="en-GB" sz="2800" dirty="0">
              <a:cs typeface="+mj-cs"/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3657600" y="5927725"/>
            <a:ext cx="5105400" cy="36933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GB" altLang="en-US" sz="1800" dirty="0">
                <a:solidFill>
                  <a:schemeClr val="tx2"/>
                </a:solidFill>
              </a:rPr>
              <a:t>Water, water accumulation and storage </a:t>
            </a:r>
            <a:endParaRPr lang="en-GB" altLang="en-US" sz="1800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grpSp>
        <p:nvGrpSpPr>
          <p:cNvPr id="10" name="Gruppieren 9"/>
          <p:cNvGrpSpPr/>
          <p:nvPr/>
        </p:nvGrpSpPr>
        <p:grpSpPr>
          <a:xfrm>
            <a:off x="4648200" y="2286000"/>
            <a:ext cx="4038600" cy="3248025"/>
            <a:chOff x="4648200" y="2286000"/>
            <a:chExt cx="4038600" cy="3248025"/>
          </a:xfrm>
        </p:grpSpPr>
        <p:pic>
          <p:nvPicPr>
            <p:cNvPr id="5" name="Picture 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8200" y="2286000"/>
              <a:ext cx="4038600" cy="3248025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feld 8"/>
            <p:cNvSpPr txBox="1"/>
            <p:nvPr/>
          </p:nvSpPr>
          <p:spPr>
            <a:xfrm>
              <a:off x="4969499" y="3000375"/>
              <a:ext cx="709955" cy="15240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rtlCol="0">
              <a:noAutofit/>
            </a:bodyPr>
            <a:lstStyle/>
            <a:p>
              <a:pPr algn="r"/>
              <a:r>
                <a:rPr lang="en-GB" sz="800" b="0" smtClean="0"/>
                <a:t>+ well</a:t>
              </a:r>
              <a:endParaRPr lang="en-GB" sz="800" b="0" dirty="0" err="1" smtClean="0"/>
            </a:p>
          </p:txBody>
        </p:sp>
      </p:grpSp>
      <p:sp>
        <p:nvSpPr>
          <p:cNvPr id="12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9649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914400" y="1247774"/>
            <a:ext cx="746759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endParaRPr lang="de-DE" sz="2800" b="0" dirty="0" smtClean="0">
              <a:solidFill>
                <a:schemeClr val="tx2"/>
              </a:solidFill>
            </a:endParaRP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2000" b="0" dirty="0" err="1">
                <a:solidFill>
                  <a:schemeClr val="tx2"/>
                </a:solidFill>
              </a:rPr>
              <a:t>each</a:t>
            </a:r>
            <a:r>
              <a:rPr lang="de-DE" sz="2000" b="0" dirty="0">
                <a:solidFill>
                  <a:schemeClr val="tx2"/>
                </a:solidFill>
              </a:rPr>
              <a:t> </a:t>
            </a:r>
            <a:r>
              <a:rPr lang="de-DE" sz="2000" b="0" dirty="0" err="1">
                <a:solidFill>
                  <a:schemeClr val="tx2"/>
                </a:solidFill>
              </a:rPr>
              <a:t>mapping</a:t>
            </a:r>
            <a:r>
              <a:rPr lang="de-DE" sz="2000" b="0" dirty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is</a:t>
            </a:r>
            <a:r>
              <a:rPr lang="de-DE" sz="2000" b="0" dirty="0" smtClean="0">
                <a:solidFill>
                  <a:schemeClr val="tx2"/>
                </a:solidFill>
              </a:rPr>
              <a:t> a </a:t>
            </a:r>
            <a:r>
              <a:rPr lang="de-DE" sz="2000" b="0" dirty="0" err="1">
                <a:solidFill>
                  <a:schemeClr val="tx2"/>
                </a:solidFill>
              </a:rPr>
              <a:t>specific</a:t>
            </a:r>
            <a:r>
              <a:rPr lang="de-DE" sz="2000" b="0" dirty="0">
                <a:solidFill>
                  <a:schemeClr val="tx2"/>
                </a:solidFill>
              </a:rPr>
              <a:t> </a:t>
            </a:r>
            <a:r>
              <a:rPr lang="de-DE" sz="2000" b="0" dirty="0" err="1">
                <a:solidFill>
                  <a:schemeClr val="tx2"/>
                </a:solidFill>
              </a:rPr>
              <a:t>approach</a:t>
            </a:r>
            <a:r>
              <a:rPr lang="de-DE" sz="2000" b="0" dirty="0">
                <a:solidFill>
                  <a:schemeClr val="tx2"/>
                </a:solidFill>
              </a:rPr>
              <a:t> </a:t>
            </a:r>
            <a:r>
              <a:rPr lang="de-DE" sz="2000" b="0" dirty="0" err="1">
                <a:solidFill>
                  <a:schemeClr val="tx2"/>
                </a:solidFill>
              </a:rPr>
              <a:t>to</a:t>
            </a:r>
            <a:r>
              <a:rPr lang="de-DE" sz="2000" b="0" dirty="0">
                <a:solidFill>
                  <a:schemeClr val="tx2"/>
                </a:solidFill>
              </a:rPr>
              <a:t> </a:t>
            </a:r>
            <a:r>
              <a:rPr lang="de-DE" sz="2000" b="0" dirty="0" err="1">
                <a:solidFill>
                  <a:schemeClr val="tx2"/>
                </a:solidFill>
              </a:rPr>
              <a:t>define</a:t>
            </a:r>
            <a:r>
              <a:rPr lang="de-DE" sz="2000" b="0" dirty="0">
                <a:solidFill>
                  <a:schemeClr val="tx2"/>
                </a:solidFill>
              </a:rPr>
              <a:t> </a:t>
            </a:r>
            <a:r>
              <a:rPr lang="de-DE" sz="2000" b="0" dirty="0" err="1">
                <a:solidFill>
                  <a:schemeClr val="tx2"/>
                </a:solidFill>
              </a:rPr>
              <a:t>context-related</a:t>
            </a:r>
            <a:r>
              <a:rPr lang="de-DE" sz="2000" b="0" dirty="0">
                <a:solidFill>
                  <a:schemeClr val="tx2"/>
                </a:solidFill>
              </a:rPr>
              <a:t> </a:t>
            </a:r>
            <a:r>
              <a:rPr lang="de-DE" sz="2000" b="0" dirty="0" err="1">
                <a:solidFill>
                  <a:schemeClr val="tx2"/>
                </a:solidFill>
              </a:rPr>
              <a:t>assumptions</a:t>
            </a:r>
            <a:r>
              <a:rPr lang="de-DE" sz="2000" b="0" dirty="0">
                <a:solidFill>
                  <a:schemeClr val="tx2"/>
                </a:solidFill>
              </a:rPr>
              <a:t> </a:t>
            </a:r>
            <a:r>
              <a:rPr lang="de-DE" sz="2000" b="0" dirty="0" err="1">
                <a:solidFill>
                  <a:schemeClr val="tx2"/>
                </a:solidFill>
              </a:rPr>
              <a:t>of</a:t>
            </a:r>
            <a:r>
              <a:rPr lang="de-DE" sz="2000" b="0" dirty="0">
                <a:solidFill>
                  <a:schemeClr val="tx2"/>
                </a:solidFill>
              </a:rPr>
              <a:t> </a:t>
            </a:r>
            <a:r>
              <a:rPr lang="de-DE" sz="2000" b="0" dirty="0" err="1">
                <a:solidFill>
                  <a:schemeClr val="tx2"/>
                </a:solidFill>
              </a:rPr>
              <a:t>the</a:t>
            </a:r>
            <a:r>
              <a:rPr lang="de-DE" sz="2000" b="0" dirty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domain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concept</a:t>
            </a:r>
            <a:endParaRPr lang="de-DE" sz="2000" b="0" dirty="0">
              <a:solidFill>
                <a:schemeClr val="tx2"/>
              </a:solidFill>
            </a:endParaRP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2000" b="0" dirty="0" err="1" smtClean="0">
                <a:solidFill>
                  <a:schemeClr val="tx2"/>
                </a:solidFill>
              </a:rPr>
              <a:t>determined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by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the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particular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implementation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scenario</a:t>
            </a:r>
            <a:endParaRPr lang="de-DE" sz="2000" b="0" dirty="0" smtClean="0">
              <a:solidFill>
                <a:schemeClr val="tx2"/>
              </a:solidFill>
            </a:endParaRP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2000" b="0" dirty="0" smtClean="0">
                <a:solidFill>
                  <a:schemeClr val="tx2"/>
                </a:solidFill>
              </a:rPr>
              <a:t>1:1 </a:t>
            </a:r>
            <a:r>
              <a:rPr lang="de-DE" sz="2000" b="0" dirty="0" err="1" smtClean="0">
                <a:solidFill>
                  <a:schemeClr val="tx2"/>
                </a:solidFill>
              </a:rPr>
              <a:t>relationship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between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the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implemented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concept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and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the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reference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concept</a:t>
            </a:r>
            <a:r>
              <a:rPr lang="de-DE" sz="2000" b="0" dirty="0" smtClean="0">
                <a:solidFill>
                  <a:schemeClr val="tx2"/>
                </a:solidFill>
              </a:rPr>
              <a:t> in </a:t>
            </a:r>
            <a:r>
              <a:rPr lang="de-DE" sz="2000" b="0" dirty="0" err="1" smtClean="0">
                <a:solidFill>
                  <a:schemeClr val="tx2"/>
                </a:solidFill>
              </a:rPr>
              <a:t>the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domain</a:t>
            </a:r>
            <a:r>
              <a:rPr lang="de-DE" sz="2000" b="0" dirty="0" smtClean="0">
                <a:solidFill>
                  <a:schemeClr val="tx2"/>
                </a:solidFill>
              </a:rPr>
              <a:t> </a:t>
            </a:r>
            <a:r>
              <a:rPr lang="de-DE" sz="2000" b="0" dirty="0" err="1" smtClean="0">
                <a:solidFill>
                  <a:schemeClr val="tx2"/>
                </a:solidFill>
              </a:rPr>
              <a:t>model</a:t>
            </a:r>
            <a:endParaRPr lang="de-DE" sz="2000" b="0" dirty="0" smtClean="0">
              <a:solidFill>
                <a:schemeClr val="tx2"/>
              </a:solidFill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endParaRPr lang="en-US" sz="2000" b="0" dirty="0" smtClean="0"/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de-DE" sz="2000" b="0" dirty="0">
              <a:solidFill>
                <a:schemeClr val="tx2"/>
              </a:solidFill>
            </a:endParaRPr>
          </a:p>
          <a:p>
            <a:pPr marL="342900" indent="-342900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de-DE" sz="2000" b="0" dirty="0" smtClean="0">
              <a:solidFill>
                <a:schemeClr val="tx2"/>
              </a:solidFill>
            </a:endParaRPr>
          </a:p>
          <a:p>
            <a:pPr marL="457200" indent="-457200" algn="r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de-DE" sz="3200" b="0" dirty="0" smtClean="0">
                <a:solidFill>
                  <a:schemeClr val="tx2"/>
                </a:solidFill>
              </a:rPr>
              <a:t>Mapping </a:t>
            </a:r>
            <a:r>
              <a:rPr lang="de-DE" sz="3200" b="0" dirty="0" err="1">
                <a:solidFill>
                  <a:schemeClr val="tx2"/>
                </a:solidFill>
              </a:rPr>
              <a:t>examples</a:t>
            </a:r>
            <a:endParaRPr lang="de-DE" sz="3200" b="0" dirty="0">
              <a:solidFill>
                <a:schemeClr val="tx2"/>
              </a:solidFill>
            </a:endParaRPr>
          </a:p>
          <a:p>
            <a:pPr marL="342900" indent="-342900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b="0" dirty="0">
              <a:solidFill>
                <a:srgbClr val="092E5C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4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 smtClean="0">
                <a:solidFill>
                  <a:schemeClr val="tx2"/>
                </a:solidFill>
              </a:rPr>
              <a:t>Mapping to a common domain model</a:t>
            </a:r>
            <a:endParaRPr lang="en-GB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303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438" y="933846"/>
            <a:ext cx="8362950" cy="5755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feld 5"/>
          <p:cNvSpPr txBox="1"/>
          <p:nvPr/>
        </p:nvSpPr>
        <p:spPr>
          <a:xfrm>
            <a:off x="2514600" y="3077678"/>
            <a:ext cx="2895600" cy="7798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GB" sz="1800" i="1" smtClean="0">
                <a:solidFill>
                  <a:srgbClr val="092E5C"/>
                </a:solidFill>
              </a:rPr>
              <a:t>n </a:t>
            </a:r>
            <a:r>
              <a:rPr lang="en-GB" sz="1800" smtClean="0">
                <a:solidFill>
                  <a:srgbClr val="092E5C"/>
                </a:solidFill>
              </a:rPr>
              <a:t>alternative mappings, depending on the implementation</a:t>
            </a:r>
            <a:endParaRPr lang="en-GB" sz="1800" dirty="0" err="1" smtClean="0">
              <a:solidFill>
                <a:srgbClr val="092E5C"/>
              </a:solidFill>
            </a:endParaRPr>
          </a:p>
        </p:txBody>
      </p:sp>
      <p:sp>
        <p:nvSpPr>
          <p:cNvPr id="9" name="Titel 3"/>
          <p:cNvSpPr txBox="1">
            <a:spLocks/>
          </p:cNvSpPr>
          <p:nvPr/>
        </p:nvSpPr>
        <p:spPr bwMode="auto">
          <a:xfrm>
            <a:off x="152400" y="331433"/>
            <a:ext cx="8837613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MS PGothic" pitchFamily="34" charset="-128"/>
                <a:cs typeface="MS PGothic" charset="0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MS PGothic" pitchFamily="34" charset="-128"/>
                <a:cs typeface="MS PGothic" charset="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MS PGothic" pitchFamily="34" charset="-128"/>
                <a:cs typeface="MS PGothic" charset="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MS PGothic" pitchFamily="34" charset="-128"/>
                <a:cs typeface="MS PGothic" charset="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MS PGothic" pitchFamily="34" charset="-128"/>
                <a:cs typeface="MS PGothic" charset="0"/>
              </a:defRPr>
            </a:lvl5pPr>
            <a:lvl6pPr marL="4572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6pPr>
            <a:lvl7pPr marL="9144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7pPr>
            <a:lvl8pPr marL="13716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8pPr>
            <a:lvl9pPr marL="18288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9pPr>
          </a:lstStyle>
          <a:p>
            <a:pPr marL="457200" indent="-457200"/>
            <a:r>
              <a:rPr lang="en-GB" sz="2800" b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Example: HYF – INSPIRE Hydro</a:t>
            </a:r>
            <a:r>
              <a:rPr lang="en-GB" sz="2400" b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GB" sz="2000" b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GB" sz="2000" b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GB" sz="2000" b="0" baseline="300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</a:t>
            </a:r>
            <a:r>
              <a:rPr lang="en-GB" sz="20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GB" sz="2000" b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SIRF)</a:t>
            </a:r>
            <a:r>
              <a:rPr lang="en-GB" sz="2000" b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GB" sz="2000" b="0" kern="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Picture 2" descr="http://www.hueseman-agrar.de/uploads/pics/baustelle_0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89837"/>
            <a:ext cx="809625" cy="732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6813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3193" y="304800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Example: </a:t>
            </a:r>
            <a:r>
              <a:rPr lang="en-GB" sz="28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INSPIRE Watercourse</a:t>
            </a:r>
            <a:r>
              <a:rPr lang="en-GB" sz="24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20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(alternative views) </a:t>
            </a:r>
            <a:endParaRPr lang="en-GB" sz="20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63" y="1001900"/>
            <a:ext cx="6746460" cy="5040000"/>
          </a:xfrm>
          <a:prstGeom prst="rect">
            <a:avLst/>
          </a:prstGeom>
          <a:noFill/>
          <a:ln w="9525">
            <a:solidFill>
              <a:srgbClr val="092E5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4" name="Textfeld 13"/>
          <p:cNvSpPr txBox="1"/>
          <p:nvPr/>
        </p:nvSpPr>
        <p:spPr>
          <a:xfrm>
            <a:off x="3143229" y="3326949"/>
            <a:ext cx="3798365" cy="38990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GB" sz="1800" i="1" smtClean="0">
                <a:solidFill>
                  <a:srgbClr val="092E5C"/>
                </a:solidFill>
              </a:rPr>
              <a:t>realises Flowpath  </a:t>
            </a:r>
          </a:p>
          <a:p>
            <a:pPr algn="ctr"/>
            <a:endParaRPr lang="en-GB" sz="1800" i="1" smtClean="0">
              <a:solidFill>
                <a:srgbClr val="092E5C"/>
              </a:solidFill>
            </a:endParaRPr>
          </a:p>
          <a:p>
            <a:pPr algn="ctr"/>
            <a:r>
              <a:rPr lang="en-GB" sz="1800" i="1" smtClean="0">
                <a:solidFill>
                  <a:srgbClr val="092E5C"/>
                </a:solidFill>
                <a:sym typeface="Wingdings" panose="05000000000000000000" pitchFamily="2" charset="2"/>
              </a:rPr>
              <a:t> </a:t>
            </a:r>
            <a:r>
              <a:rPr lang="en-GB" sz="1800" i="1" smtClean="0">
                <a:solidFill>
                  <a:srgbClr val="092E5C"/>
                </a:solidFill>
              </a:rPr>
              <a:t>drains representedCatchment</a:t>
            </a:r>
            <a:endParaRPr lang="en-GB" sz="1800" dirty="0" err="1" smtClean="0">
              <a:solidFill>
                <a:srgbClr val="092E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592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3193" y="304800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Example: </a:t>
            </a:r>
            <a:r>
              <a:rPr lang="en-GB" sz="28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INSPIRE Watercourse</a:t>
            </a:r>
            <a:r>
              <a:rPr lang="en-GB" sz="24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20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(alternative views) </a:t>
            </a:r>
            <a:endParaRPr lang="en-GB" sz="20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63" y="1001900"/>
            <a:ext cx="6746460" cy="5040000"/>
          </a:xfrm>
          <a:prstGeom prst="rect">
            <a:avLst/>
          </a:prstGeom>
          <a:noFill/>
          <a:ln w="9525">
            <a:solidFill>
              <a:srgbClr val="092E5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719" y="1001900"/>
            <a:ext cx="6707260" cy="5040000"/>
          </a:xfrm>
          <a:prstGeom prst="rect">
            <a:avLst/>
          </a:prstGeom>
          <a:noFill/>
          <a:ln w="9525">
            <a:solidFill>
              <a:srgbClr val="092E5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1" name="Textfeld 10"/>
          <p:cNvSpPr txBox="1"/>
          <p:nvPr/>
        </p:nvSpPr>
        <p:spPr>
          <a:xfrm>
            <a:off x="3472839" y="3326949"/>
            <a:ext cx="3308961" cy="92333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800" i="1" smtClean="0">
                <a:solidFill>
                  <a:srgbClr val="092E5C"/>
                </a:solidFill>
              </a:rPr>
              <a:t>realises Outfall </a:t>
            </a:r>
          </a:p>
          <a:p>
            <a:pPr algn="ctr"/>
            <a:endParaRPr lang="en-GB" sz="1800" i="1">
              <a:solidFill>
                <a:srgbClr val="092E5C"/>
              </a:solidFill>
            </a:endParaRPr>
          </a:p>
          <a:p>
            <a:pPr algn="ctr"/>
            <a:r>
              <a:rPr lang="en-GB" sz="1800" i="1" smtClean="0">
                <a:solidFill>
                  <a:srgbClr val="092E5C"/>
                </a:solidFill>
                <a:sym typeface="Wingdings" panose="05000000000000000000" pitchFamily="2" charset="2"/>
              </a:rPr>
              <a:t> </a:t>
            </a:r>
            <a:r>
              <a:rPr lang="en-GB" sz="1800" i="1" smtClean="0">
                <a:solidFill>
                  <a:srgbClr val="092E5C"/>
                </a:solidFill>
              </a:rPr>
              <a:t>drains contributingBasin</a:t>
            </a:r>
            <a:endParaRPr lang="en-GB" sz="1800" dirty="0" err="1" smtClean="0">
              <a:solidFill>
                <a:srgbClr val="092E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2549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3193" y="304800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Example: </a:t>
            </a:r>
            <a:r>
              <a:rPr lang="en-GB" sz="28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INSPIRE Watercourse</a:t>
            </a:r>
            <a:r>
              <a:rPr lang="en-GB" sz="24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20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(alternative views) </a:t>
            </a:r>
            <a:endParaRPr lang="en-GB" sz="20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63" y="1001900"/>
            <a:ext cx="6746460" cy="5040000"/>
          </a:xfrm>
          <a:prstGeom prst="rect">
            <a:avLst/>
          </a:prstGeom>
          <a:noFill/>
          <a:ln w="9525">
            <a:solidFill>
              <a:srgbClr val="092E5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719" y="1001900"/>
            <a:ext cx="6707260" cy="5040000"/>
          </a:xfrm>
          <a:prstGeom prst="rect">
            <a:avLst/>
          </a:prstGeom>
          <a:noFill/>
          <a:ln w="9525">
            <a:solidFill>
              <a:srgbClr val="092E5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2519" y="1001900"/>
            <a:ext cx="6485293" cy="5040000"/>
          </a:xfrm>
          <a:prstGeom prst="rect">
            <a:avLst/>
          </a:prstGeom>
          <a:noFill/>
          <a:ln w="9525">
            <a:solidFill>
              <a:srgbClr val="092E5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1" name="Textfeld 10"/>
          <p:cNvSpPr txBox="1"/>
          <p:nvPr/>
        </p:nvSpPr>
        <p:spPr>
          <a:xfrm>
            <a:off x="3429001" y="3716850"/>
            <a:ext cx="4239580" cy="115995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GB" sz="1800" i="1" smtClean="0">
                <a:solidFill>
                  <a:srgbClr val="092E5C"/>
                </a:solidFill>
              </a:rPr>
              <a:t>realises WaterBody (part of network)</a:t>
            </a:r>
          </a:p>
          <a:p>
            <a:pPr algn="ctr"/>
            <a:endParaRPr lang="en-GB" sz="1800" i="1">
              <a:solidFill>
                <a:srgbClr val="092E5C"/>
              </a:solidFill>
            </a:endParaRPr>
          </a:p>
          <a:p>
            <a:pPr algn="ctr"/>
            <a:r>
              <a:rPr lang="en-GB" sz="1800" i="1" smtClean="0">
                <a:solidFill>
                  <a:srgbClr val="092E5C"/>
                </a:solidFill>
                <a:sym typeface="Wingdings" panose="05000000000000000000" pitchFamily="2" charset="2"/>
              </a:rPr>
              <a:t> </a:t>
            </a:r>
            <a:r>
              <a:rPr lang="en-GB" sz="1800" i="1" smtClean="0">
                <a:solidFill>
                  <a:srgbClr val="092E5C"/>
                </a:solidFill>
              </a:rPr>
              <a:t>drains … representedCatchment</a:t>
            </a:r>
            <a:endParaRPr lang="en-GB" sz="1800" dirty="0" err="1" smtClean="0">
              <a:solidFill>
                <a:srgbClr val="092E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2549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3193" y="304800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Example: </a:t>
            </a:r>
            <a:r>
              <a:rPr lang="en-GB" sz="28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INSPIRE Watercourse</a:t>
            </a:r>
            <a:r>
              <a:rPr lang="en-GB" sz="24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20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(alternative views) </a:t>
            </a:r>
            <a:endParaRPr lang="en-GB" sz="20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63" y="1001900"/>
            <a:ext cx="6746460" cy="5040000"/>
          </a:xfrm>
          <a:prstGeom prst="rect">
            <a:avLst/>
          </a:prstGeom>
          <a:noFill/>
          <a:ln w="9525">
            <a:solidFill>
              <a:srgbClr val="092E5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719" y="1001900"/>
            <a:ext cx="6707260" cy="5040000"/>
          </a:xfrm>
          <a:prstGeom prst="rect">
            <a:avLst/>
          </a:prstGeom>
          <a:noFill/>
          <a:ln w="9525">
            <a:solidFill>
              <a:srgbClr val="092E5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2519" y="1001900"/>
            <a:ext cx="6485293" cy="5040000"/>
          </a:xfrm>
          <a:prstGeom prst="rect">
            <a:avLst/>
          </a:prstGeom>
          <a:noFill/>
          <a:ln w="9525">
            <a:solidFill>
              <a:srgbClr val="092E5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0261" y="1001900"/>
            <a:ext cx="6522905" cy="5040000"/>
          </a:xfrm>
          <a:prstGeom prst="rect">
            <a:avLst/>
          </a:prstGeom>
          <a:noFill/>
          <a:ln w="9525">
            <a:solidFill>
              <a:srgbClr val="092E5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6" name="Textfeld 5"/>
          <p:cNvSpPr txBox="1"/>
          <p:nvPr/>
        </p:nvSpPr>
        <p:spPr>
          <a:xfrm>
            <a:off x="3733800" y="1295400"/>
            <a:ext cx="1443062" cy="160020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noAutofit/>
          </a:bodyPr>
          <a:lstStyle/>
          <a:p>
            <a:endParaRPr lang="en-GB" dirty="0" err="1" smtClean="0"/>
          </a:p>
        </p:txBody>
      </p:sp>
      <p:sp>
        <p:nvSpPr>
          <p:cNvPr id="12" name="Textfeld 11"/>
          <p:cNvSpPr txBox="1"/>
          <p:nvPr/>
        </p:nvSpPr>
        <p:spPr>
          <a:xfrm>
            <a:off x="3048000" y="1291389"/>
            <a:ext cx="3962400" cy="97390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GB" sz="1800" i="1" smtClean="0">
                <a:solidFill>
                  <a:srgbClr val="092E5C"/>
                </a:solidFill>
              </a:rPr>
              <a:t>realises WaterBody …</a:t>
            </a:r>
          </a:p>
          <a:p>
            <a:pPr algn="ctr"/>
            <a:endParaRPr lang="en-GB" sz="1800" i="1">
              <a:solidFill>
                <a:srgbClr val="092E5C"/>
              </a:solidFill>
            </a:endParaRPr>
          </a:p>
          <a:p>
            <a:pPr algn="ctr"/>
            <a:r>
              <a:rPr lang="en-GB" sz="1800" i="1" smtClean="0">
                <a:solidFill>
                  <a:srgbClr val="092E5C"/>
                </a:solidFill>
                <a:sym typeface="Wingdings" panose="05000000000000000000" pitchFamily="2" charset="2"/>
              </a:rPr>
              <a:t> </a:t>
            </a:r>
            <a:r>
              <a:rPr lang="en-GB" sz="1800" i="1" smtClean="0">
                <a:solidFill>
                  <a:srgbClr val="092E5C"/>
                </a:solidFill>
              </a:rPr>
              <a:t>drains ….. . contributingBasin</a:t>
            </a:r>
            <a:endParaRPr lang="en-GB" sz="1800" dirty="0" err="1" smtClean="0">
              <a:solidFill>
                <a:srgbClr val="092E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2549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3193" y="304800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Example: </a:t>
            </a:r>
            <a:r>
              <a:rPr lang="en-GB" sz="28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INSPIRE Watercourse</a:t>
            </a:r>
            <a:r>
              <a:rPr lang="en-GB" sz="24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20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(alternative views) </a:t>
            </a:r>
            <a:endParaRPr lang="en-GB" sz="20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63" y="1001900"/>
            <a:ext cx="6746460" cy="5040000"/>
          </a:xfrm>
          <a:prstGeom prst="rect">
            <a:avLst/>
          </a:prstGeom>
          <a:noFill/>
          <a:ln w="9525">
            <a:solidFill>
              <a:srgbClr val="092E5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719" y="1001900"/>
            <a:ext cx="6707260" cy="5040000"/>
          </a:xfrm>
          <a:prstGeom prst="rect">
            <a:avLst/>
          </a:prstGeom>
          <a:noFill/>
          <a:ln w="9525">
            <a:solidFill>
              <a:srgbClr val="092E5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2519" y="1001900"/>
            <a:ext cx="6485293" cy="5040000"/>
          </a:xfrm>
          <a:prstGeom prst="rect">
            <a:avLst/>
          </a:prstGeom>
          <a:noFill/>
          <a:ln w="9525">
            <a:solidFill>
              <a:srgbClr val="092E5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0261" y="1001900"/>
            <a:ext cx="6522905" cy="5040000"/>
          </a:xfrm>
          <a:prstGeom prst="rect">
            <a:avLst/>
          </a:prstGeom>
          <a:noFill/>
          <a:ln w="9525">
            <a:solidFill>
              <a:srgbClr val="092E5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8319" y="1004400"/>
            <a:ext cx="6458668" cy="5040000"/>
          </a:xfrm>
          <a:prstGeom prst="rect">
            <a:avLst/>
          </a:prstGeom>
          <a:noFill/>
          <a:ln w="9525">
            <a:solidFill>
              <a:srgbClr val="092E5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0" name="Textfeld 9"/>
          <p:cNvSpPr txBox="1"/>
          <p:nvPr/>
        </p:nvSpPr>
        <p:spPr>
          <a:xfrm>
            <a:off x="3067629" y="1219200"/>
            <a:ext cx="3962400" cy="97390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GB" sz="1800" i="1" smtClean="0">
                <a:solidFill>
                  <a:srgbClr val="092E5C"/>
                </a:solidFill>
              </a:rPr>
              <a:t>realises Channel …</a:t>
            </a:r>
          </a:p>
          <a:p>
            <a:pPr algn="ctr"/>
            <a:endParaRPr lang="en-GB" sz="1800" i="1">
              <a:solidFill>
                <a:srgbClr val="092E5C"/>
              </a:solidFill>
            </a:endParaRPr>
          </a:p>
          <a:p>
            <a:pPr algn="ctr"/>
            <a:r>
              <a:rPr lang="en-GB" sz="1800" i="1" smtClean="0">
                <a:solidFill>
                  <a:srgbClr val="092E5C"/>
                </a:solidFill>
                <a:sym typeface="Wingdings" panose="05000000000000000000" pitchFamily="2" charset="2"/>
              </a:rPr>
              <a:t> </a:t>
            </a:r>
            <a:r>
              <a:rPr lang="en-GB" sz="1800" i="1" smtClean="0">
                <a:solidFill>
                  <a:srgbClr val="092E5C"/>
                </a:solidFill>
              </a:rPr>
              <a:t>drains ….. . contributingBasin</a:t>
            </a:r>
            <a:endParaRPr lang="en-GB" sz="1800" dirty="0" err="1" smtClean="0">
              <a:solidFill>
                <a:srgbClr val="092E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2549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el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994253"/>
              </p:ext>
            </p:extLst>
          </p:nvPr>
        </p:nvGraphicFramePr>
        <p:xfrm>
          <a:off x="685801" y="487680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199"/>
                <a:gridCol w="1447800"/>
                <a:gridCol w="1828800"/>
                <a:gridCol w="1219201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200" b="0" i="0" baseline="0" dirty="0" err="1" smtClean="0"/>
                        <a:t>NHDCatchment</a:t>
                      </a:r>
                      <a:r>
                        <a:rPr lang="en-GB" sz="1200" b="0" i="0" baseline="0" dirty="0" smtClean="0"/>
                        <a:t>, F</a:t>
                      </a:r>
                      <a:r>
                        <a:rPr lang="en-GB" sz="1200" b="0" i="0" dirty="0" smtClean="0"/>
                        <a:t>ID</a:t>
                      </a:r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/>
                        <a:t>FID</a:t>
                      </a:r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chemeClr val="tx2"/>
                          </a:solidFill>
                        </a:rPr>
                        <a:t>polygon12345</a:t>
                      </a:r>
                      <a:endParaRPr lang="en-GB" sz="1200" b="0" i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chemeClr val="tx1"/>
                          </a:solidFill>
                        </a:rPr>
                        <a:t>12345</a:t>
                      </a:r>
                      <a:endParaRPr lang="en-GB" sz="1200" b="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i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rgbClr val="C00000"/>
                          </a:solidFill>
                        </a:rPr>
                        <a:t>polygon23456</a:t>
                      </a:r>
                      <a:endParaRPr lang="en-GB" sz="1200" b="0" i="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rgbClr val="FF0000"/>
                          </a:solidFill>
                        </a:rPr>
                        <a:t>23456</a:t>
                      </a:r>
                      <a:endParaRPr lang="en-GB" sz="1200" b="0" i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dirty="0" smtClean="0"/>
                        <a:t>polygon34567</a:t>
                      </a:r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 smtClean="0"/>
                        <a:t>34567</a:t>
                      </a:r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i="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3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Example: </a:t>
            </a:r>
            <a:r>
              <a:rPr lang="en-GB" sz="28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NHD+, flowline and catchment</a:t>
            </a:r>
            <a:endParaRPr lang="en-GB" sz="2400" i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pic>
        <p:nvPicPr>
          <p:cNvPr id="10" name="Picture 2" descr="http://www.hueseman-agrar.de/uploads/pics/baustelle_0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152400"/>
            <a:ext cx="809625" cy="732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770308"/>
              </p:ext>
            </p:extLst>
          </p:nvPr>
        </p:nvGraphicFramePr>
        <p:xfrm>
          <a:off x="685800" y="1110917"/>
          <a:ext cx="609600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295400"/>
                <a:gridCol w="2057400"/>
                <a:gridCol w="1219201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200" b="0" i="0" baseline="0" dirty="0" err="1" smtClean="0"/>
                        <a:t>NHDFlowline</a:t>
                      </a:r>
                      <a:r>
                        <a:rPr lang="en-GB" sz="1200" b="0" i="0" baseline="0" dirty="0" smtClean="0"/>
                        <a:t>,</a:t>
                      </a:r>
                      <a:r>
                        <a:rPr lang="en-GB" sz="1200" b="0" i="0" dirty="0" smtClean="0"/>
                        <a:t> FID</a:t>
                      </a:r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>
                    <a:solidFill>
                      <a:srgbClr val="092E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/>
                        <a:t>COMID</a:t>
                      </a:r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>
                          <a:solidFill>
                            <a:schemeClr val="tx1"/>
                          </a:solidFill>
                        </a:rPr>
                        <a:t>polyline12345</a:t>
                      </a:r>
                      <a:endParaRPr lang="en-GB" sz="1200" b="0" i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chemeClr val="tx1"/>
                          </a:solidFill>
                        </a:rPr>
                        <a:t>12345</a:t>
                      </a:r>
                      <a:endParaRPr lang="en-GB" sz="1200" b="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>
                          <a:solidFill>
                            <a:srgbClr val="FF0000"/>
                          </a:solidFill>
                        </a:rPr>
                        <a:t>polyline23456</a:t>
                      </a:r>
                      <a:endParaRPr lang="en-GB" sz="1200" b="0" i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rgbClr val="FF0000"/>
                          </a:solidFill>
                        </a:rPr>
                        <a:t>23456</a:t>
                      </a:r>
                      <a:endParaRPr lang="en-GB" sz="1200" b="0" i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/>
                        <a:t>polyline34567</a:t>
                      </a:r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 smtClean="0"/>
                        <a:t>34567</a:t>
                      </a:r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14" name="Gruppieren 13"/>
          <p:cNvGrpSpPr/>
          <p:nvPr/>
        </p:nvGrpSpPr>
        <p:grpSpPr>
          <a:xfrm>
            <a:off x="1295401" y="2582427"/>
            <a:ext cx="3048000" cy="2306865"/>
            <a:chOff x="2133600" y="2438400"/>
            <a:chExt cx="3048000" cy="457200"/>
          </a:xfrm>
        </p:grpSpPr>
        <p:cxnSp>
          <p:nvCxnSpPr>
            <p:cNvPr id="15" name="Gerade Verbindung 14"/>
            <p:cNvCxnSpPr/>
            <p:nvPr/>
          </p:nvCxnSpPr>
          <p:spPr bwMode="auto">
            <a:xfrm>
              <a:off x="2133600" y="2667000"/>
              <a:ext cx="3048000" cy="0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Gerade Verbindung 15"/>
            <p:cNvCxnSpPr/>
            <p:nvPr/>
          </p:nvCxnSpPr>
          <p:spPr bwMode="auto">
            <a:xfrm flipV="1">
              <a:off x="5181600" y="2438400"/>
              <a:ext cx="0" cy="228600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17" name="Gerade Verbindung 16"/>
            <p:cNvCxnSpPr/>
            <p:nvPr/>
          </p:nvCxnSpPr>
          <p:spPr bwMode="auto">
            <a:xfrm>
              <a:off x="2133600" y="2667000"/>
              <a:ext cx="0" cy="228600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</p:grpSp>
      <p:cxnSp>
        <p:nvCxnSpPr>
          <p:cNvPr id="18" name="Gerade Verbindung mit Pfeil 17"/>
          <p:cNvCxnSpPr/>
          <p:nvPr/>
        </p:nvCxnSpPr>
        <p:spPr bwMode="auto">
          <a:xfrm flipH="1">
            <a:off x="1946951" y="1979596"/>
            <a:ext cx="1197050" cy="0"/>
          </a:xfrm>
          <a:prstGeom prst="straightConnector1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arrow" w="med" len="med"/>
            <a:tailEnd type="none"/>
          </a:ln>
          <a:effectLst/>
        </p:spPr>
      </p:cxnSp>
    </p:spTree>
    <p:extLst>
      <p:ext uri="{BB962C8B-B14F-4D97-AF65-F5344CB8AC3E}">
        <p14:creationId xmlns:p14="http://schemas.microsoft.com/office/powerpoint/2010/main" val="2698830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el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727753"/>
              </p:ext>
            </p:extLst>
          </p:nvPr>
        </p:nvGraphicFramePr>
        <p:xfrm>
          <a:off x="685801" y="487680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199"/>
                <a:gridCol w="1447800"/>
                <a:gridCol w="1371600"/>
                <a:gridCol w="1676401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200" b="0" i="0" baseline="0" dirty="0" err="1" smtClean="0"/>
                        <a:t>NHDCatchment</a:t>
                      </a:r>
                      <a:r>
                        <a:rPr lang="en-GB" sz="1200" b="0" i="0" baseline="0" dirty="0" smtClean="0"/>
                        <a:t>, F</a:t>
                      </a:r>
                      <a:r>
                        <a:rPr lang="en-GB" sz="1200" b="0" i="0" dirty="0" smtClean="0"/>
                        <a:t>ID</a:t>
                      </a:r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/>
                        <a:t>FID</a:t>
                      </a:r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chemeClr val="tx2"/>
                          </a:solidFill>
                        </a:rPr>
                        <a:t>polygon12345</a:t>
                      </a:r>
                      <a:endParaRPr lang="en-GB" sz="1200" b="0" i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chemeClr val="tx1"/>
                          </a:solidFill>
                        </a:rPr>
                        <a:t>12345</a:t>
                      </a:r>
                      <a:endParaRPr lang="en-GB" sz="1200" b="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i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rgbClr val="C00000"/>
                          </a:solidFill>
                        </a:rPr>
                        <a:t>polygon23456</a:t>
                      </a:r>
                      <a:endParaRPr lang="en-GB" sz="1200" b="0" i="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rgbClr val="FF0000"/>
                          </a:solidFill>
                        </a:rPr>
                        <a:t>23456</a:t>
                      </a:r>
                      <a:endParaRPr lang="en-GB" sz="1200" b="0" i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dirty="0" smtClean="0"/>
                        <a:t>polygon34567</a:t>
                      </a:r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 smtClean="0"/>
                        <a:t>34567</a:t>
                      </a:r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i="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3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Example: </a:t>
            </a:r>
            <a:r>
              <a:rPr lang="en-GB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NHD+, </a:t>
            </a:r>
            <a:r>
              <a:rPr lang="en-GB" sz="2800" dirty="0" err="1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flowline</a:t>
            </a:r>
            <a:r>
              <a:rPr lang="en-GB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catchment</a:t>
            </a:r>
            <a:endParaRPr lang="en-GB" sz="2400" i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pic>
        <p:nvPicPr>
          <p:cNvPr id="10" name="Picture 2" descr="http://www.hueseman-agrar.de/uploads/pics/baustelle_0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152400"/>
            <a:ext cx="809625" cy="732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865389"/>
              </p:ext>
            </p:extLst>
          </p:nvPr>
        </p:nvGraphicFramePr>
        <p:xfrm>
          <a:off x="685800" y="1110917"/>
          <a:ext cx="609600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295400"/>
                <a:gridCol w="1676400"/>
                <a:gridCol w="1600201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200" b="0" i="0" baseline="0" dirty="0" err="1" smtClean="0"/>
                        <a:t>NHDFlowline</a:t>
                      </a:r>
                      <a:r>
                        <a:rPr lang="en-GB" sz="1200" b="0" i="0" baseline="0" dirty="0" smtClean="0"/>
                        <a:t>,</a:t>
                      </a:r>
                      <a:r>
                        <a:rPr lang="en-GB" sz="1200" b="0" i="0" dirty="0" smtClean="0"/>
                        <a:t> FID</a:t>
                      </a:r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>
                    <a:solidFill>
                      <a:srgbClr val="092E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/>
                        <a:t>COMID</a:t>
                      </a:r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>
                          <a:solidFill>
                            <a:schemeClr val="tx1"/>
                          </a:solidFill>
                        </a:rPr>
                        <a:t>polyline12345</a:t>
                      </a:r>
                      <a:endParaRPr lang="en-GB" sz="1200" b="0" i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chemeClr val="tx1"/>
                          </a:solidFill>
                        </a:rPr>
                        <a:t>12345</a:t>
                      </a:r>
                      <a:endParaRPr lang="en-GB" sz="1200" b="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>
                          <a:solidFill>
                            <a:srgbClr val="FF0000"/>
                          </a:solidFill>
                        </a:rPr>
                        <a:t>polyline23456</a:t>
                      </a:r>
                      <a:endParaRPr lang="en-GB" sz="1200" b="0" i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rgbClr val="FF0000"/>
                          </a:solidFill>
                        </a:rPr>
                        <a:t>23456</a:t>
                      </a:r>
                      <a:endParaRPr lang="en-GB" sz="1200" b="0" i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/>
                        <a:t>polyline34567</a:t>
                      </a:r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 smtClean="0"/>
                        <a:t>34567</a:t>
                      </a:r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el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22222"/>
              </p:ext>
            </p:extLst>
          </p:nvPr>
        </p:nvGraphicFramePr>
        <p:xfrm>
          <a:off x="2320637" y="2895600"/>
          <a:ext cx="6096000" cy="17340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447799"/>
                <a:gridCol w="1524001"/>
                <a:gridCol w="1524000"/>
              </a:tblGrid>
              <a:tr h="621498">
                <a:tc>
                  <a:txBody>
                    <a:bodyPr/>
                    <a:lstStyle/>
                    <a:p>
                      <a:r>
                        <a:rPr lang="en-GB" sz="1200" b="0" i="0" baseline="0" dirty="0" smtClean="0"/>
                        <a:t>WBD HUC12, F</a:t>
                      </a:r>
                      <a:r>
                        <a:rPr lang="en-GB" sz="1200" b="0" i="0" dirty="0" smtClean="0"/>
                        <a:t>ID</a:t>
                      </a:r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chemeClr val="tx1"/>
                          </a:solidFill>
                        </a:rPr>
                        <a:t>polygon xxx12345x</a:t>
                      </a:r>
                      <a:endParaRPr lang="en-GB" sz="1200" b="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i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rgbClr val="FF0000"/>
                          </a:solidFill>
                        </a:rPr>
                        <a:t>polygon xxx23456x</a:t>
                      </a:r>
                      <a:endParaRPr lang="en-GB" sz="1200" b="0" i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i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 smtClean="0"/>
                        <a:t>polygon xxx34567x</a:t>
                      </a:r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feld 4"/>
          <p:cNvSpPr txBox="1"/>
          <p:nvPr/>
        </p:nvSpPr>
        <p:spPr>
          <a:xfrm>
            <a:off x="1219200" y="3352800"/>
            <a:ext cx="838200" cy="838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de-DE" sz="6000" dirty="0" smtClean="0">
                <a:solidFill>
                  <a:srgbClr val="FF0000"/>
                </a:solidFill>
              </a:rPr>
              <a:t>?</a:t>
            </a:r>
            <a:endParaRPr lang="en-US" sz="6000" dirty="0" err="1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8836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el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337748"/>
              </p:ext>
            </p:extLst>
          </p:nvPr>
        </p:nvGraphicFramePr>
        <p:xfrm>
          <a:off x="2320637" y="2895600"/>
          <a:ext cx="6096000" cy="17340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447799"/>
                <a:gridCol w="1524001"/>
                <a:gridCol w="1524000"/>
              </a:tblGrid>
              <a:tr h="621498">
                <a:tc>
                  <a:txBody>
                    <a:bodyPr/>
                    <a:lstStyle/>
                    <a:p>
                      <a:r>
                        <a:rPr lang="en-GB" sz="1200" b="0" i="0" baseline="0" dirty="0" smtClean="0"/>
                        <a:t>WBD HUC12, F</a:t>
                      </a:r>
                      <a:r>
                        <a:rPr lang="en-GB" sz="1200" b="0" i="0" dirty="0" smtClean="0"/>
                        <a:t>ID</a:t>
                      </a:r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chemeClr val="tx1"/>
                          </a:solidFill>
                        </a:rPr>
                        <a:t>polygon xxx12345x</a:t>
                      </a:r>
                      <a:endParaRPr lang="en-GB" sz="1200" b="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i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rgbClr val="FF0000"/>
                          </a:solidFill>
                        </a:rPr>
                        <a:t>polygon xxx23456x</a:t>
                      </a:r>
                      <a:endParaRPr lang="en-GB" sz="1200" b="0" i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i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 smtClean="0"/>
                        <a:t>polygon xxx34567x</a:t>
                      </a:r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el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232473"/>
              </p:ext>
            </p:extLst>
          </p:nvPr>
        </p:nvGraphicFramePr>
        <p:xfrm>
          <a:off x="685801" y="487680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295399"/>
                <a:gridCol w="1600200"/>
                <a:gridCol w="1676401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200" b="0" i="0" baseline="0" dirty="0" err="1" smtClean="0"/>
                        <a:t>NHDCatchment</a:t>
                      </a:r>
                      <a:r>
                        <a:rPr lang="en-GB" sz="1200" b="0" i="0" baseline="0" dirty="0" smtClean="0"/>
                        <a:t>, </a:t>
                      </a:r>
                      <a:r>
                        <a:rPr lang="en-GB" sz="1200" b="0" i="0" dirty="0" smtClean="0"/>
                        <a:t>ID</a:t>
                      </a:r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/>
                        <a:t>FID</a:t>
                      </a:r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rgbClr val="C00000"/>
                          </a:solidFill>
                        </a:rPr>
                        <a:t>polygon12345</a:t>
                      </a:r>
                      <a:endParaRPr lang="en-GB" sz="1200" b="0" i="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chemeClr val="tx1"/>
                          </a:solidFill>
                        </a:rPr>
                        <a:t>12345</a:t>
                      </a:r>
                      <a:endParaRPr lang="en-GB" sz="1200" b="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i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chemeClr val="tx1"/>
                          </a:solidFill>
                        </a:rPr>
                        <a:t>polygon23456</a:t>
                      </a:r>
                      <a:endParaRPr lang="en-GB" sz="1200" b="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rgbClr val="FF0000"/>
                          </a:solidFill>
                        </a:rPr>
                        <a:t>23456</a:t>
                      </a:r>
                      <a:endParaRPr lang="en-GB" sz="1200" b="0" i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dirty="0" smtClean="0"/>
                        <a:t>polygon34567</a:t>
                      </a:r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 smtClean="0"/>
                        <a:t>34567</a:t>
                      </a:r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i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3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Example: </a:t>
            </a:r>
            <a:r>
              <a:rPr lang="en-GB" sz="28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NHD+, flowline and catchment</a:t>
            </a:r>
            <a:endParaRPr lang="en-GB" sz="2400" i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pic>
        <p:nvPicPr>
          <p:cNvPr id="10" name="Picture 2" descr="http://www.hueseman-agrar.de/uploads/pics/baustelle_0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152400"/>
            <a:ext cx="809625" cy="732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891986"/>
              </p:ext>
            </p:extLst>
          </p:nvPr>
        </p:nvGraphicFramePr>
        <p:xfrm>
          <a:off x="685800" y="1110917"/>
          <a:ext cx="609600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295400"/>
                <a:gridCol w="1676400"/>
                <a:gridCol w="1600201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200" b="0" i="0" baseline="0" dirty="0" err="1" smtClean="0"/>
                        <a:t>NHDFlowline</a:t>
                      </a:r>
                      <a:r>
                        <a:rPr lang="en-GB" sz="1200" b="0" i="0" baseline="0" dirty="0" smtClean="0"/>
                        <a:t>,</a:t>
                      </a:r>
                      <a:r>
                        <a:rPr lang="en-GB" sz="1200" b="0" i="0" dirty="0" smtClean="0"/>
                        <a:t> FID</a:t>
                      </a:r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>
                    <a:solidFill>
                      <a:srgbClr val="092E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/>
                        <a:t>COMID</a:t>
                      </a:r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>
                          <a:solidFill>
                            <a:schemeClr val="tx1"/>
                          </a:solidFill>
                        </a:rPr>
                        <a:t>polyline12345</a:t>
                      </a:r>
                      <a:endParaRPr lang="en-GB" sz="1200" b="0" i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chemeClr val="tx1"/>
                          </a:solidFill>
                        </a:rPr>
                        <a:t>12345</a:t>
                      </a:r>
                      <a:endParaRPr lang="en-GB" sz="1200" b="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>
                          <a:solidFill>
                            <a:srgbClr val="FF0000"/>
                          </a:solidFill>
                        </a:rPr>
                        <a:t>polyline23456</a:t>
                      </a:r>
                      <a:endParaRPr lang="en-GB" sz="1200" b="0" i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rgbClr val="FF0000"/>
                          </a:solidFill>
                        </a:rPr>
                        <a:t>23456</a:t>
                      </a:r>
                      <a:endParaRPr lang="en-GB" sz="1200" b="0" i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/>
                        <a:t>polyline34567</a:t>
                      </a:r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 smtClean="0"/>
                        <a:t>34567</a:t>
                      </a:r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feld 5"/>
          <p:cNvSpPr txBox="1"/>
          <p:nvPr/>
        </p:nvSpPr>
        <p:spPr>
          <a:xfrm>
            <a:off x="4730623" y="1828800"/>
            <a:ext cx="3780202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smtClean="0"/>
              <a:t>realises </a:t>
            </a:r>
            <a:r>
              <a:rPr lang="en-GB" sz="2400" dirty="0" err="1" smtClean="0"/>
              <a:t>Flowpath</a:t>
            </a:r>
            <a:endParaRPr lang="en-GB" sz="2400" dirty="0" smtClean="0"/>
          </a:p>
          <a:p>
            <a:endParaRPr lang="en-GB" sz="2400" dirty="0"/>
          </a:p>
          <a:p>
            <a:endParaRPr lang="en-GB" sz="2400" dirty="0" smtClean="0"/>
          </a:p>
          <a:p>
            <a:endParaRPr lang="en-GB" sz="2400" dirty="0"/>
          </a:p>
          <a:p>
            <a:endParaRPr lang="en-GB" sz="2400" dirty="0" smtClean="0"/>
          </a:p>
          <a:p>
            <a:r>
              <a:rPr lang="en-GB" sz="2400" dirty="0" smtClean="0"/>
              <a:t>realises Catchment</a:t>
            </a:r>
          </a:p>
          <a:p>
            <a:endParaRPr lang="en-GB" sz="2400" dirty="0"/>
          </a:p>
          <a:p>
            <a:endParaRPr lang="en-GB" sz="2400" dirty="0" smtClean="0"/>
          </a:p>
          <a:p>
            <a:endParaRPr lang="en-GB" sz="2400" dirty="0"/>
          </a:p>
          <a:p>
            <a:endParaRPr lang="en-GB" sz="2400" dirty="0" smtClean="0"/>
          </a:p>
          <a:p>
            <a:r>
              <a:rPr lang="en-GB" sz="2400" dirty="0"/>
              <a:t>r</a:t>
            </a:r>
            <a:r>
              <a:rPr lang="en-GB" sz="2400" dirty="0" smtClean="0"/>
              <a:t>ealises </a:t>
            </a:r>
            <a:r>
              <a:rPr lang="en-GB" sz="2400" dirty="0" err="1" smtClean="0"/>
              <a:t>CatchmentArea</a:t>
            </a:r>
            <a:r>
              <a:rPr lang="en-GB" sz="2400" dirty="0" smtClean="0"/>
              <a:t> </a:t>
            </a:r>
            <a:endParaRPr lang="en-GB" sz="2400" dirty="0"/>
          </a:p>
          <a:p>
            <a:endParaRPr lang="en-GB" sz="2400" dirty="0" err="1" smtClean="0"/>
          </a:p>
        </p:txBody>
      </p:sp>
    </p:spTree>
    <p:extLst>
      <p:ext uri="{BB962C8B-B14F-4D97-AF65-F5344CB8AC3E}">
        <p14:creationId xmlns:p14="http://schemas.microsoft.com/office/powerpoint/2010/main" val="4219172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el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302861"/>
              </p:ext>
            </p:extLst>
          </p:nvPr>
        </p:nvGraphicFramePr>
        <p:xfrm>
          <a:off x="2320637" y="2895600"/>
          <a:ext cx="6096000" cy="17340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41763"/>
                <a:gridCol w="1600200"/>
                <a:gridCol w="1253837"/>
              </a:tblGrid>
              <a:tr h="621498">
                <a:tc>
                  <a:txBody>
                    <a:bodyPr/>
                    <a:lstStyle/>
                    <a:p>
                      <a:r>
                        <a:rPr lang="en-GB" sz="1200" b="0" i="0" baseline="0" dirty="0" smtClean="0"/>
                        <a:t>WBD HUC12, F</a:t>
                      </a:r>
                      <a:r>
                        <a:rPr lang="en-GB" sz="1200" b="0" i="0" dirty="0" smtClean="0"/>
                        <a:t>ID</a:t>
                      </a:r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err="1" smtClean="0"/>
                        <a:t>containingCatchment</a:t>
                      </a:r>
                      <a:r>
                        <a:rPr lang="en-GB" sz="1200" b="0" i="0" dirty="0" smtClean="0"/>
                        <a:t> (nesting)</a:t>
                      </a:r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err="1" smtClean="0"/>
                        <a:t>encompassingBasin</a:t>
                      </a:r>
                      <a:r>
                        <a:rPr lang="en-GB" sz="1200" b="0" i="0" dirty="0" smtClean="0"/>
                        <a:t> (aggregation)</a:t>
                      </a:r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err="1" smtClean="0"/>
                        <a:t>subBasin</a:t>
                      </a:r>
                      <a:r>
                        <a:rPr lang="en-GB" sz="1200" b="0" i="0" dirty="0" smtClean="0"/>
                        <a:t> (aggregation)</a:t>
                      </a:r>
                      <a:endParaRPr lang="en-GB" sz="1200" b="0" i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chemeClr val="tx1"/>
                          </a:solidFill>
                        </a:rPr>
                        <a:t>polygon xxx12345x</a:t>
                      </a:r>
                      <a:endParaRPr lang="en-GB" sz="1200" b="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i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rgbClr val="FF0000"/>
                          </a:solidFill>
                        </a:rPr>
                        <a:t>polygon xxx23456x</a:t>
                      </a:r>
                      <a:endParaRPr lang="en-GB" sz="1200" b="0" i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i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 smtClean="0"/>
                        <a:t>polygon xxx34567x</a:t>
                      </a:r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el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977396"/>
              </p:ext>
            </p:extLst>
          </p:nvPr>
        </p:nvGraphicFramePr>
        <p:xfrm>
          <a:off x="685801" y="487680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199"/>
                <a:gridCol w="1447800"/>
                <a:gridCol w="1447800"/>
                <a:gridCol w="1600201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200" b="0" i="0" baseline="0" dirty="0" err="1" smtClean="0"/>
                        <a:t>NHDCatchment</a:t>
                      </a:r>
                      <a:r>
                        <a:rPr lang="en-GB" sz="1200" b="0" i="0" baseline="0" dirty="0" smtClean="0"/>
                        <a:t>, F</a:t>
                      </a:r>
                      <a:r>
                        <a:rPr lang="en-GB" sz="1200" b="0" i="0" dirty="0" smtClean="0"/>
                        <a:t>ID</a:t>
                      </a:r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/>
                        <a:t>FID</a:t>
                      </a:r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chemeClr val="tx2"/>
                          </a:solidFill>
                        </a:rPr>
                        <a:t>polygon12345</a:t>
                      </a:r>
                      <a:endParaRPr lang="en-GB" sz="1200" b="0" i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chemeClr val="tx1"/>
                          </a:solidFill>
                        </a:rPr>
                        <a:t>12345</a:t>
                      </a:r>
                      <a:endParaRPr lang="en-GB" sz="1200" b="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i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rgbClr val="C00000"/>
                          </a:solidFill>
                        </a:rPr>
                        <a:t>polygon23456</a:t>
                      </a:r>
                      <a:endParaRPr lang="en-GB" sz="1200" b="0" i="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rgbClr val="FF0000"/>
                          </a:solidFill>
                        </a:rPr>
                        <a:t>23456</a:t>
                      </a:r>
                      <a:endParaRPr lang="en-GB" sz="1200" b="0" i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dirty="0" smtClean="0"/>
                        <a:t>polygon34567</a:t>
                      </a:r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 smtClean="0"/>
                        <a:t>34567</a:t>
                      </a:r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i="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3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Example: </a:t>
            </a:r>
            <a:r>
              <a:rPr lang="en-GB" sz="28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NHD+, flowline and catchment</a:t>
            </a:r>
            <a:endParaRPr lang="en-GB" sz="2400" i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pic>
        <p:nvPicPr>
          <p:cNvPr id="10" name="Picture 2" descr="http://www.hueseman-agrar.de/uploads/pics/baustelle_0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152400"/>
            <a:ext cx="809625" cy="732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802580"/>
              </p:ext>
            </p:extLst>
          </p:nvPr>
        </p:nvGraphicFramePr>
        <p:xfrm>
          <a:off x="685800" y="1110917"/>
          <a:ext cx="609600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295400"/>
                <a:gridCol w="1676400"/>
                <a:gridCol w="1600201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200" b="0" i="0" baseline="0" dirty="0" err="1" smtClean="0"/>
                        <a:t>NHDFlowline</a:t>
                      </a:r>
                      <a:r>
                        <a:rPr lang="en-GB" sz="1200" b="0" i="0" baseline="0" dirty="0" smtClean="0"/>
                        <a:t>,</a:t>
                      </a:r>
                      <a:r>
                        <a:rPr lang="en-GB" sz="1200" b="0" i="0" dirty="0" smtClean="0"/>
                        <a:t> FID</a:t>
                      </a:r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>
                    <a:solidFill>
                      <a:srgbClr val="092E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/>
                        <a:t>COMID</a:t>
                      </a:r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>
                          <a:solidFill>
                            <a:schemeClr val="tx1"/>
                          </a:solidFill>
                        </a:rPr>
                        <a:t>polyline12345</a:t>
                      </a:r>
                      <a:endParaRPr lang="en-GB" sz="1200" b="0" i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chemeClr val="tx1"/>
                          </a:solidFill>
                        </a:rPr>
                        <a:t>12345</a:t>
                      </a:r>
                      <a:endParaRPr lang="en-GB" sz="1200" b="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>
                          <a:solidFill>
                            <a:srgbClr val="FF0000"/>
                          </a:solidFill>
                        </a:rPr>
                        <a:t>polyline23456</a:t>
                      </a:r>
                      <a:endParaRPr lang="en-GB" sz="1200" b="0" i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rgbClr val="FF0000"/>
                          </a:solidFill>
                        </a:rPr>
                        <a:t>23456</a:t>
                      </a:r>
                      <a:endParaRPr lang="en-GB" sz="1200" b="0" i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/>
                        <a:t>polyline34567</a:t>
                      </a:r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 smtClean="0"/>
                        <a:t>34567</a:t>
                      </a:r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6" name="Gerade Verbindung 15"/>
          <p:cNvCxnSpPr/>
          <p:nvPr/>
        </p:nvCxnSpPr>
        <p:spPr bwMode="auto">
          <a:xfrm>
            <a:off x="1267447" y="4114800"/>
            <a:ext cx="1068305" cy="0"/>
          </a:xfrm>
          <a:prstGeom prst="lin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7" name="Gerade Verbindung 16"/>
          <p:cNvCxnSpPr/>
          <p:nvPr/>
        </p:nvCxnSpPr>
        <p:spPr bwMode="auto">
          <a:xfrm flipV="1">
            <a:off x="1257300" y="4105275"/>
            <a:ext cx="0" cy="1535219"/>
          </a:xfrm>
          <a:prstGeom prst="lin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Gerade Verbindung 17"/>
          <p:cNvCxnSpPr/>
          <p:nvPr/>
        </p:nvCxnSpPr>
        <p:spPr bwMode="auto">
          <a:xfrm>
            <a:off x="1250526" y="2114391"/>
            <a:ext cx="0" cy="1857615"/>
          </a:xfrm>
          <a:prstGeom prst="lin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Gerade Verbindung 22"/>
          <p:cNvCxnSpPr/>
          <p:nvPr/>
        </p:nvCxnSpPr>
        <p:spPr bwMode="auto">
          <a:xfrm>
            <a:off x="1248398" y="3962400"/>
            <a:ext cx="1068305" cy="0"/>
          </a:xfrm>
          <a:prstGeom prst="lin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24" name="Textfeld 23"/>
          <p:cNvSpPr txBox="1"/>
          <p:nvPr/>
        </p:nvSpPr>
        <p:spPr>
          <a:xfrm>
            <a:off x="533400" y="3600450"/>
            <a:ext cx="17219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 err="1" smtClean="0"/>
              <a:t>representedCatchment</a:t>
            </a:r>
            <a:endParaRPr lang="en-GB" sz="1100" dirty="0"/>
          </a:p>
        </p:txBody>
      </p:sp>
      <p:sp>
        <p:nvSpPr>
          <p:cNvPr id="25" name="Textfeld 24"/>
          <p:cNvSpPr txBox="1"/>
          <p:nvPr/>
        </p:nvSpPr>
        <p:spPr>
          <a:xfrm>
            <a:off x="533400" y="4210050"/>
            <a:ext cx="17219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 err="1" smtClean="0"/>
              <a:t>representedCatchment</a:t>
            </a: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1978190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59132"/>
            <a:ext cx="8837613" cy="424732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4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  <a:r>
              <a:rPr lang="en-GB" sz="24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NFIE, NHDFlowline realises Flowpath</a:t>
            </a:r>
            <a:endParaRPr lang="en-GB" sz="24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pic>
        <p:nvPicPr>
          <p:cNvPr id="10" name="Picture 2" descr="http://www.hueseman-agrar.de/uploads/pics/baustelle_0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152400"/>
            <a:ext cx="809625" cy="732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930189"/>
              </p:ext>
            </p:extLst>
          </p:nvPr>
        </p:nvGraphicFramePr>
        <p:xfrm>
          <a:off x="685800" y="1110917"/>
          <a:ext cx="609600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295400"/>
                <a:gridCol w="1828800"/>
                <a:gridCol w="1447801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200" b="0" i="0" baseline="0" dirty="0" err="1" smtClean="0"/>
                        <a:t>NHDFlowline</a:t>
                      </a:r>
                      <a:r>
                        <a:rPr lang="en-GB" sz="1200" b="0" i="0" baseline="0" dirty="0" smtClean="0"/>
                        <a:t>,</a:t>
                      </a:r>
                      <a:r>
                        <a:rPr lang="en-GB" sz="1200" b="0" i="0" dirty="0" smtClean="0"/>
                        <a:t> ID</a:t>
                      </a:r>
                      <a:endParaRPr lang="en-GB" sz="1200" b="0" i="0" dirty="0"/>
                    </a:p>
                  </a:txBody>
                  <a:tcP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smtClean="0"/>
                        <a:t>representedCatchment</a:t>
                      </a:r>
                      <a:endParaRPr lang="en-GB" sz="1200" b="0" i="0"/>
                    </a:p>
                  </a:txBody>
                  <a:tcP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>
                          <a:solidFill>
                            <a:schemeClr val="tx1"/>
                          </a:solidFill>
                        </a:rPr>
                        <a:t>polyline12345</a:t>
                      </a:r>
                      <a:endParaRPr lang="en-GB" sz="1200" b="0" i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chemeClr val="tx1"/>
                          </a:solidFill>
                        </a:rPr>
                        <a:t>12345</a:t>
                      </a:r>
                      <a:endParaRPr lang="en-GB" sz="1200" b="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>
                          <a:solidFill>
                            <a:srgbClr val="FF0000"/>
                          </a:solidFill>
                        </a:rPr>
                        <a:t>polyline23456</a:t>
                      </a:r>
                      <a:endParaRPr lang="en-GB" sz="1200" b="0" i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rgbClr val="FF0000"/>
                          </a:solidFill>
                        </a:rPr>
                        <a:t>23456</a:t>
                      </a:r>
                      <a:endParaRPr lang="en-GB" sz="1200" b="0" i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/>
                        <a:t>polyline34567</a:t>
                      </a:r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 smtClean="0"/>
                        <a:t>34567</a:t>
                      </a:r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Tabel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393964"/>
              </p:ext>
            </p:extLst>
          </p:nvPr>
        </p:nvGraphicFramePr>
        <p:xfrm>
          <a:off x="685801" y="2993858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3999"/>
                <a:gridCol w="1600200"/>
                <a:gridCol w="1447801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200" b="0" i="0" baseline="0" dirty="0" err="1" smtClean="0"/>
                        <a:t>NHDCatchment</a:t>
                      </a:r>
                      <a:r>
                        <a:rPr lang="en-GB" sz="1200" b="0" i="0" baseline="0" dirty="0" smtClean="0"/>
                        <a:t>,</a:t>
                      </a:r>
                      <a:r>
                        <a:rPr lang="en-GB" sz="1200" b="0" i="0" dirty="0" smtClean="0"/>
                        <a:t> ID</a:t>
                      </a:r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dirty="0" err="1" smtClean="0"/>
                        <a:t>outflowNode</a:t>
                      </a:r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dirty="0" err="1" smtClean="0"/>
                        <a:t>inflowNode</a:t>
                      </a:r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>
                          <a:solidFill>
                            <a:schemeClr val="tx1"/>
                          </a:solidFill>
                        </a:rPr>
                        <a:t>polygon12345</a:t>
                      </a:r>
                      <a:endParaRPr lang="en-GB" sz="1200" b="0" i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i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>
                          <a:solidFill>
                            <a:srgbClr val="FF0000"/>
                          </a:solidFill>
                        </a:rPr>
                        <a:t>polygon23456</a:t>
                      </a:r>
                      <a:endParaRPr lang="en-GB" sz="1200" b="0" i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i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smtClean="0"/>
                        <a:t>polygon34567</a:t>
                      </a:r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Tabel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951527"/>
              </p:ext>
            </p:extLst>
          </p:nvPr>
        </p:nvGraphicFramePr>
        <p:xfrm>
          <a:off x="685801" y="487680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990599"/>
                <a:gridCol w="1905000"/>
                <a:gridCol w="1676401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200" b="0" i="0" baseline="0" dirty="0" err="1" smtClean="0"/>
                        <a:t>NHDJunction</a:t>
                      </a:r>
                      <a:r>
                        <a:rPr lang="en-GB" sz="1200" b="0" i="0" baseline="0" dirty="0" smtClean="0"/>
                        <a:t>, </a:t>
                      </a:r>
                      <a:r>
                        <a:rPr lang="en-GB" sz="1200" b="0" i="0" dirty="0" smtClean="0"/>
                        <a:t>ID</a:t>
                      </a:r>
                      <a:endParaRPr lang="en-GB" sz="1200" b="0" i="0" dirty="0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smtClean="0"/>
                        <a:t>contributingBasin</a:t>
                      </a:r>
                      <a:endParaRPr lang="en-GB" sz="1200" b="0" i="0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smtClean="0"/>
                        <a:t>receivingBasin</a:t>
                      </a:r>
                      <a:endParaRPr lang="en-GB" sz="1200" b="0" i="0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>
                          <a:solidFill>
                            <a:srgbClr val="C00000"/>
                          </a:solidFill>
                        </a:rPr>
                        <a:t>point12345</a:t>
                      </a:r>
                      <a:endParaRPr lang="en-GB" sz="1200" b="0" i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chemeClr val="tx1"/>
                          </a:solidFill>
                        </a:rPr>
                        <a:t>12345</a:t>
                      </a:r>
                      <a:endParaRPr lang="en-GB" sz="1200" b="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 smtClean="0">
                          <a:solidFill>
                            <a:srgbClr val="C00000"/>
                          </a:solidFill>
                        </a:rPr>
                        <a:t>23456</a:t>
                      </a:r>
                      <a:endParaRPr lang="en-GB" sz="1200" b="0" i="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>
                          <a:solidFill>
                            <a:schemeClr val="tx1"/>
                          </a:solidFill>
                        </a:rPr>
                        <a:t>point23456</a:t>
                      </a:r>
                      <a:endParaRPr lang="en-GB" sz="1200" b="0" i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chemeClr val="tx1"/>
                          </a:solidFill>
                        </a:rPr>
                        <a:t>23456</a:t>
                      </a:r>
                      <a:endParaRPr lang="en-GB" sz="1200" b="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chemeClr val="tx1"/>
                          </a:solidFill>
                        </a:rPr>
                        <a:t>34567</a:t>
                      </a:r>
                      <a:endParaRPr lang="en-GB" sz="1200" b="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/>
                        <a:t>point34567</a:t>
                      </a:r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 smtClean="0"/>
                        <a:t>34567</a:t>
                      </a:r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i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1035" name="Gruppieren 1034"/>
          <p:cNvGrpSpPr/>
          <p:nvPr/>
        </p:nvGrpSpPr>
        <p:grpSpPr>
          <a:xfrm>
            <a:off x="1295401" y="2604289"/>
            <a:ext cx="3048000" cy="377190"/>
            <a:chOff x="2133600" y="2438400"/>
            <a:chExt cx="3048000" cy="457200"/>
          </a:xfrm>
        </p:grpSpPr>
        <p:cxnSp>
          <p:nvCxnSpPr>
            <p:cNvPr id="1030" name="Gerade Verbindung 1029"/>
            <p:cNvCxnSpPr/>
            <p:nvPr/>
          </p:nvCxnSpPr>
          <p:spPr bwMode="auto">
            <a:xfrm>
              <a:off x="2133600" y="2667000"/>
              <a:ext cx="3048000" cy="0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32" name="Gerade Verbindung 1031"/>
            <p:cNvCxnSpPr/>
            <p:nvPr/>
          </p:nvCxnSpPr>
          <p:spPr bwMode="auto">
            <a:xfrm flipV="1">
              <a:off x="5181600" y="2438400"/>
              <a:ext cx="0" cy="228600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34" name="Gerade Verbindung 1033"/>
            <p:cNvCxnSpPr/>
            <p:nvPr/>
          </p:nvCxnSpPr>
          <p:spPr bwMode="auto">
            <a:xfrm>
              <a:off x="2133600" y="2667000"/>
              <a:ext cx="0" cy="228600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</p:grpSp>
      <p:sp>
        <p:nvSpPr>
          <p:cNvPr id="26" name="Textfeld 25"/>
          <p:cNvSpPr txBox="1"/>
          <p:nvPr/>
        </p:nvSpPr>
        <p:spPr>
          <a:xfrm>
            <a:off x="6983928" y="1979596"/>
            <a:ext cx="2005263" cy="246221"/>
          </a:xfrm>
          <a:prstGeom prst="rect">
            <a:avLst/>
          </a:prstGeom>
          <a:solidFill>
            <a:schemeClr val="bg1"/>
          </a:solidFill>
          <a:ln>
            <a:solidFill>
              <a:srgbClr val="96969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i="1" smtClean="0">
                <a:solidFill>
                  <a:schemeClr val="tx2"/>
                </a:solidFill>
              </a:rPr>
              <a:t>flowlineHasCatchment</a:t>
            </a:r>
            <a:endParaRPr lang="en-GB" i="1" dirty="0" err="1" smtClean="0">
              <a:solidFill>
                <a:schemeClr val="tx2"/>
              </a:solidFill>
            </a:endParaRPr>
          </a:p>
        </p:txBody>
      </p:sp>
      <p:cxnSp>
        <p:nvCxnSpPr>
          <p:cNvPr id="21" name="Gerade Verbindung mit Pfeil 20"/>
          <p:cNvCxnSpPr/>
          <p:nvPr/>
        </p:nvCxnSpPr>
        <p:spPr bwMode="auto">
          <a:xfrm flipH="1">
            <a:off x="1946951" y="1979596"/>
            <a:ext cx="1197050" cy="0"/>
          </a:xfrm>
          <a:prstGeom prst="straightConnector1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arrow" w="med" len="med"/>
            <a:tailEnd type="none"/>
          </a:ln>
          <a:effectLst/>
        </p:spPr>
      </p:cxnSp>
    </p:spTree>
    <p:extLst>
      <p:ext uri="{BB962C8B-B14F-4D97-AF65-F5344CB8AC3E}">
        <p14:creationId xmlns:p14="http://schemas.microsoft.com/office/powerpoint/2010/main" val="2620583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abel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262279"/>
              </p:ext>
            </p:extLst>
          </p:nvPr>
        </p:nvGraphicFramePr>
        <p:xfrm>
          <a:off x="685800" y="1110917"/>
          <a:ext cx="609600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295400"/>
                <a:gridCol w="1752600"/>
                <a:gridCol w="1524001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200" b="0" i="0" baseline="0" dirty="0" err="1" smtClean="0"/>
                        <a:t>Flowline</a:t>
                      </a:r>
                      <a:r>
                        <a:rPr lang="en-GB" sz="1200" b="0" i="0" baseline="0" dirty="0" smtClean="0"/>
                        <a:t>,</a:t>
                      </a:r>
                      <a:r>
                        <a:rPr lang="en-GB" sz="1200" b="0" i="0" dirty="0" smtClean="0"/>
                        <a:t> ID</a:t>
                      </a:r>
                      <a:endParaRPr lang="en-GB" sz="1200" b="0" i="0" dirty="0"/>
                    </a:p>
                  </a:txBody>
                  <a:tcP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smtClean="0"/>
                        <a:t>representedCatchment</a:t>
                      </a:r>
                      <a:endParaRPr lang="en-GB" sz="1200" b="0" i="0"/>
                    </a:p>
                  </a:txBody>
                  <a:tcP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>
                          <a:solidFill>
                            <a:schemeClr val="tx1"/>
                          </a:solidFill>
                        </a:rPr>
                        <a:t>polyline12345</a:t>
                      </a:r>
                      <a:endParaRPr lang="en-GB" sz="1200" b="0" i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chemeClr val="tx1"/>
                          </a:solidFill>
                        </a:rPr>
                        <a:t>12345</a:t>
                      </a:r>
                      <a:endParaRPr lang="en-GB" sz="1200" b="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>
                          <a:solidFill>
                            <a:srgbClr val="FF0000"/>
                          </a:solidFill>
                        </a:rPr>
                        <a:t>polyline23456</a:t>
                      </a:r>
                      <a:endParaRPr lang="en-GB" sz="1200" b="0" i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rgbClr val="FF0000"/>
                          </a:solidFill>
                        </a:rPr>
                        <a:t>23456</a:t>
                      </a:r>
                      <a:endParaRPr lang="en-GB" sz="1200" b="0" i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/>
                        <a:t>polyline34567</a:t>
                      </a:r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 smtClean="0"/>
                        <a:t>34567</a:t>
                      </a:r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5" name="Gerade Verbindung mit Pfeil 24"/>
          <p:cNvCxnSpPr/>
          <p:nvPr/>
        </p:nvCxnSpPr>
        <p:spPr bwMode="auto">
          <a:xfrm flipH="1">
            <a:off x="2133600" y="1979596"/>
            <a:ext cx="1066801" cy="0"/>
          </a:xfrm>
          <a:prstGeom prst="straightConnector1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arrow" w="med" len="med"/>
            <a:tailEnd type="none"/>
          </a:ln>
          <a:effectLst/>
        </p:spPr>
      </p:cxn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59132"/>
            <a:ext cx="8837613" cy="424732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4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Example: NFIE, NHDFlowline realises Flowpath</a:t>
            </a:r>
            <a:endParaRPr lang="en-GB" sz="24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pic>
        <p:nvPicPr>
          <p:cNvPr id="10" name="Picture 2" descr="http://www.hueseman-agrar.de/uploads/pics/baustelle_0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152400"/>
            <a:ext cx="809625" cy="732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Tabel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297858"/>
              </p:ext>
            </p:extLst>
          </p:nvPr>
        </p:nvGraphicFramePr>
        <p:xfrm>
          <a:off x="685801" y="2993858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447799"/>
                <a:gridCol w="1600201"/>
                <a:gridCol w="1524000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200" b="0" i="0" baseline="0" dirty="0" smtClean="0"/>
                        <a:t>Catchment,</a:t>
                      </a:r>
                      <a:r>
                        <a:rPr lang="en-GB" sz="1200" b="0" i="0" dirty="0" smtClean="0"/>
                        <a:t> ID</a:t>
                      </a:r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dirty="0" err="1" smtClean="0"/>
                        <a:t>outflowNode</a:t>
                      </a:r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dirty="0" err="1" smtClean="0"/>
                        <a:t>inflowNode</a:t>
                      </a:r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>
                          <a:solidFill>
                            <a:schemeClr val="tx1"/>
                          </a:solidFill>
                        </a:rPr>
                        <a:t>polygon12345</a:t>
                      </a:r>
                      <a:endParaRPr lang="en-GB" sz="1200" b="0" i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i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>
                          <a:solidFill>
                            <a:srgbClr val="FF0000"/>
                          </a:solidFill>
                        </a:rPr>
                        <a:t>polygon23456</a:t>
                      </a:r>
                      <a:endParaRPr lang="en-GB" sz="1200" b="0" i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rgbClr val="C00000"/>
                          </a:solidFill>
                        </a:rPr>
                        <a:t>12345</a:t>
                      </a:r>
                      <a:endParaRPr lang="en-GB" sz="1200" b="0" i="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i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smtClean="0"/>
                        <a:t>polygon34567</a:t>
                      </a:r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/>
                        <a:t>23456</a:t>
                      </a:r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Tabel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91346"/>
              </p:ext>
            </p:extLst>
          </p:nvPr>
        </p:nvGraphicFramePr>
        <p:xfrm>
          <a:off x="685801" y="487680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990599"/>
                <a:gridCol w="1905000"/>
                <a:gridCol w="1676401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200" b="0" i="0" baseline="0" dirty="0" smtClean="0"/>
                        <a:t>Junction, </a:t>
                      </a:r>
                      <a:r>
                        <a:rPr lang="en-GB" sz="1200" b="0" i="0" dirty="0" smtClean="0"/>
                        <a:t>ID</a:t>
                      </a:r>
                      <a:endParaRPr lang="en-GB" sz="1200" b="0" i="0" dirty="0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smtClean="0"/>
                        <a:t>contributingBasin</a:t>
                      </a:r>
                      <a:endParaRPr lang="en-GB" sz="1200" b="0" i="0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smtClean="0"/>
                        <a:t>receivingBasin</a:t>
                      </a:r>
                      <a:endParaRPr lang="en-GB" sz="1200" b="0" i="0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>
                          <a:solidFill>
                            <a:srgbClr val="C00000"/>
                          </a:solidFill>
                        </a:rPr>
                        <a:t>point12345</a:t>
                      </a:r>
                      <a:endParaRPr lang="en-GB" sz="1200" b="0" i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chemeClr val="tx1"/>
                          </a:solidFill>
                        </a:rPr>
                        <a:t>12345</a:t>
                      </a:r>
                      <a:endParaRPr lang="en-GB" sz="1200" b="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dirty="0" smtClean="0">
                          <a:solidFill>
                            <a:srgbClr val="C00000"/>
                          </a:solidFill>
                        </a:rPr>
                        <a:t>23456</a:t>
                      </a:r>
                      <a:endParaRPr lang="en-GB" sz="1200" b="1" i="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>
                          <a:solidFill>
                            <a:schemeClr val="tx1"/>
                          </a:solidFill>
                        </a:rPr>
                        <a:t>point23456</a:t>
                      </a:r>
                      <a:endParaRPr lang="en-GB" sz="1200" b="0" i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chemeClr val="tx1"/>
                          </a:solidFill>
                        </a:rPr>
                        <a:t>23456</a:t>
                      </a:r>
                      <a:endParaRPr lang="en-GB" sz="1200" b="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chemeClr val="tx1"/>
                          </a:solidFill>
                        </a:rPr>
                        <a:t>34567</a:t>
                      </a:r>
                      <a:endParaRPr lang="en-GB" sz="1200" b="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/>
                        <a:t>point34567</a:t>
                      </a:r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smtClean="0"/>
                        <a:t>rc34567</a:t>
                      </a:r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i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1035" name="Gruppieren 1034"/>
          <p:cNvGrpSpPr/>
          <p:nvPr/>
        </p:nvGrpSpPr>
        <p:grpSpPr>
          <a:xfrm>
            <a:off x="1295401" y="2604289"/>
            <a:ext cx="3048000" cy="377190"/>
            <a:chOff x="2133600" y="2438400"/>
            <a:chExt cx="3048000" cy="457200"/>
          </a:xfrm>
        </p:grpSpPr>
        <p:cxnSp>
          <p:nvCxnSpPr>
            <p:cNvPr id="1030" name="Gerade Verbindung 1029"/>
            <p:cNvCxnSpPr/>
            <p:nvPr/>
          </p:nvCxnSpPr>
          <p:spPr bwMode="auto">
            <a:xfrm>
              <a:off x="2133600" y="2667000"/>
              <a:ext cx="3048000" cy="0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32" name="Gerade Verbindung 1031"/>
            <p:cNvCxnSpPr/>
            <p:nvPr/>
          </p:nvCxnSpPr>
          <p:spPr bwMode="auto">
            <a:xfrm flipV="1">
              <a:off x="5181600" y="2438400"/>
              <a:ext cx="0" cy="228600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34" name="Gerade Verbindung 1033"/>
            <p:cNvCxnSpPr/>
            <p:nvPr/>
          </p:nvCxnSpPr>
          <p:spPr bwMode="auto">
            <a:xfrm>
              <a:off x="2133600" y="2667000"/>
              <a:ext cx="0" cy="228600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</p:grpSp>
      <p:grpSp>
        <p:nvGrpSpPr>
          <p:cNvPr id="48" name="Gruppieren 47"/>
          <p:cNvGrpSpPr/>
          <p:nvPr/>
        </p:nvGrpSpPr>
        <p:grpSpPr>
          <a:xfrm>
            <a:off x="1295401" y="4475852"/>
            <a:ext cx="3048000" cy="377190"/>
            <a:chOff x="2133600" y="2438400"/>
            <a:chExt cx="3048000" cy="457200"/>
          </a:xfrm>
        </p:grpSpPr>
        <p:cxnSp>
          <p:nvCxnSpPr>
            <p:cNvPr id="49" name="Gerade Verbindung 48"/>
            <p:cNvCxnSpPr/>
            <p:nvPr/>
          </p:nvCxnSpPr>
          <p:spPr bwMode="auto">
            <a:xfrm>
              <a:off x="2133600" y="2667000"/>
              <a:ext cx="3048000" cy="0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0" name="Gerade Verbindung 49"/>
            <p:cNvCxnSpPr/>
            <p:nvPr/>
          </p:nvCxnSpPr>
          <p:spPr bwMode="auto">
            <a:xfrm flipV="1">
              <a:off x="5181600" y="2438400"/>
              <a:ext cx="0" cy="228600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Gerade Verbindung 50"/>
            <p:cNvCxnSpPr/>
            <p:nvPr/>
          </p:nvCxnSpPr>
          <p:spPr bwMode="auto">
            <a:xfrm>
              <a:off x="2133600" y="2667000"/>
              <a:ext cx="0" cy="228600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</p:grpSp>
      <p:cxnSp>
        <p:nvCxnSpPr>
          <p:cNvPr id="20" name="Gerade Verbindung 19"/>
          <p:cNvCxnSpPr/>
          <p:nvPr/>
        </p:nvCxnSpPr>
        <p:spPr bwMode="auto">
          <a:xfrm flipH="1" flipV="1">
            <a:off x="7984154" y="1979596"/>
            <a:ext cx="16846" cy="3430604"/>
          </a:xfrm>
          <a:prstGeom prst="line">
            <a:avLst/>
          </a:prstGeom>
          <a:noFill/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Gerade Verbindung mit Pfeil 23"/>
          <p:cNvCxnSpPr/>
          <p:nvPr/>
        </p:nvCxnSpPr>
        <p:spPr bwMode="auto">
          <a:xfrm flipH="1">
            <a:off x="1981200" y="1979596"/>
            <a:ext cx="1219201" cy="0"/>
          </a:xfrm>
          <a:prstGeom prst="straightConnector1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arrow" w="med" len="med"/>
            <a:tailEnd type="none"/>
          </a:ln>
          <a:effectLst/>
        </p:spPr>
      </p:cxnSp>
      <p:sp>
        <p:nvSpPr>
          <p:cNvPr id="27" name="Textfeld 26"/>
          <p:cNvSpPr txBox="1"/>
          <p:nvPr/>
        </p:nvSpPr>
        <p:spPr>
          <a:xfrm>
            <a:off x="6950242" y="2569317"/>
            <a:ext cx="2019701" cy="861774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i="1" smtClean="0">
                <a:solidFill>
                  <a:schemeClr val="tx2"/>
                </a:solidFill>
              </a:rPr>
              <a:t>catchmentOwnedByFlowline</a:t>
            </a:r>
            <a:r>
              <a:rPr lang="en-GB" smtClean="0">
                <a:solidFill>
                  <a:schemeClr val="tx2"/>
                </a:solidFill>
              </a:rPr>
              <a:t>:</a:t>
            </a:r>
          </a:p>
          <a:p>
            <a:endParaRPr lang="en-GB" smtClean="0">
              <a:solidFill>
                <a:schemeClr val="tx2"/>
              </a:solidFill>
            </a:endParaRPr>
          </a:p>
          <a:p>
            <a:r>
              <a:rPr lang="en-GB" smtClean="0">
                <a:solidFill>
                  <a:schemeClr val="tx2"/>
                </a:solidFill>
              </a:rPr>
              <a:t>where</a:t>
            </a:r>
            <a:endParaRPr lang="en-GB">
              <a:solidFill>
                <a:schemeClr val="tx2"/>
              </a:solidFill>
            </a:endParaRPr>
          </a:p>
          <a:p>
            <a:r>
              <a:rPr lang="en-GB" i="1" smtClean="0">
                <a:solidFill>
                  <a:schemeClr val="tx2"/>
                </a:solidFill>
              </a:rPr>
              <a:t>receivingBasin = reprepresentedCatchment</a:t>
            </a:r>
            <a:endParaRPr lang="en-GB" i="1" dirty="0" err="1" smtClean="0">
              <a:solidFill>
                <a:schemeClr val="tx2"/>
              </a:solidFill>
            </a:endParaRPr>
          </a:p>
        </p:txBody>
      </p:sp>
      <p:cxnSp>
        <p:nvCxnSpPr>
          <p:cNvPr id="6" name="Gerade Verbindung 5"/>
          <p:cNvCxnSpPr/>
          <p:nvPr/>
        </p:nvCxnSpPr>
        <p:spPr bwMode="auto">
          <a:xfrm flipH="1">
            <a:off x="4800600" y="1979596"/>
            <a:ext cx="3185962" cy="0"/>
          </a:xfrm>
          <a:prstGeom prst="line">
            <a:avLst/>
          </a:prstGeom>
          <a:noFill/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3" name="Gerade Verbindung 12"/>
          <p:cNvCxnSpPr/>
          <p:nvPr/>
        </p:nvCxnSpPr>
        <p:spPr bwMode="auto">
          <a:xfrm>
            <a:off x="6784207" y="5410200"/>
            <a:ext cx="1202354" cy="0"/>
          </a:xfrm>
          <a:prstGeom prst="line">
            <a:avLst/>
          </a:prstGeom>
          <a:noFill/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785269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59132"/>
            <a:ext cx="8837613" cy="424732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4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Example: NFIE, NHDFlowline realises Flowpath</a:t>
            </a:r>
            <a:endParaRPr lang="en-GB" sz="2400" i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pic>
        <p:nvPicPr>
          <p:cNvPr id="10" name="Picture 2" descr="http://www.hueseman-agrar.de/uploads/pics/baustelle_0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152400"/>
            <a:ext cx="809625" cy="732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972367"/>
              </p:ext>
            </p:extLst>
          </p:nvPr>
        </p:nvGraphicFramePr>
        <p:xfrm>
          <a:off x="685800" y="1110917"/>
          <a:ext cx="609600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295400"/>
                <a:gridCol w="2438400"/>
                <a:gridCol w="838201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200" b="0" i="0" baseline="0" dirty="0" err="1" smtClean="0"/>
                        <a:t>Flowline</a:t>
                      </a:r>
                      <a:r>
                        <a:rPr lang="en-GB" sz="1200" b="0" i="0" baseline="0" dirty="0" smtClean="0"/>
                        <a:t>,</a:t>
                      </a:r>
                      <a:r>
                        <a:rPr lang="en-GB" sz="1200" b="0" i="0" dirty="0" smtClean="0"/>
                        <a:t> ID</a:t>
                      </a:r>
                      <a:endParaRPr lang="en-GB" sz="1200" b="0" i="0" dirty="0"/>
                    </a:p>
                  </a:txBody>
                  <a:tcP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smtClean="0"/>
                        <a:t>representedCatchment</a:t>
                      </a:r>
                      <a:endParaRPr lang="en-GB" sz="1200" b="0" i="0"/>
                    </a:p>
                  </a:txBody>
                  <a:tcP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1" i="0" smtClean="0">
                          <a:solidFill>
                            <a:schemeClr val="tx2"/>
                          </a:solidFill>
                        </a:rPr>
                        <a:t>polyline12345</a:t>
                      </a:r>
                      <a:endParaRPr lang="en-GB" sz="1200" b="1" i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1" i="0" dirty="0" smtClean="0">
                          <a:solidFill>
                            <a:schemeClr val="tx2"/>
                          </a:solidFill>
                        </a:rPr>
                        <a:t>12345</a:t>
                      </a:r>
                      <a:endParaRPr lang="en-GB" sz="1200" b="1" i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>
                          <a:solidFill>
                            <a:srgbClr val="FF0000"/>
                          </a:solidFill>
                        </a:rPr>
                        <a:t>polyline23456</a:t>
                      </a:r>
                      <a:endParaRPr lang="en-GB" sz="1200" b="0" i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rgbClr val="FF0000"/>
                          </a:solidFill>
                        </a:rPr>
                        <a:t>23456</a:t>
                      </a:r>
                      <a:endParaRPr lang="en-GB" sz="1200" b="0" i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/>
                        <a:t>polyline34567</a:t>
                      </a:r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 smtClean="0"/>
                        <a:t>34567</a:t>
                      </a:r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Tabel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995458"/>
              </p:ext>
            </p:extLst>
          </p:nvPr>
        </p:nvGraphicFramePr>
        <p:xfrm>
          <a:off x="685801" y="2993858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3999"/>
                <a:gridCol w="1524001"/>
                <a:gridCol w="1524000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200" b="0" i="0" baseline="0" dirty="0" smtClean="0"/>
                        <a:t>Catchment,</a:t>
                      </a:r>
                      <a:r>
                        <a:rPr lang="en-GB" sz="1200" b="0" i="0" dirty="0" smtClean="0"/>
                        <a:t> ID</a:t>
                      </a:r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dirty="0" err="1" smtClean="0"/>
                        <a:t>outflowNode</a:t>
                      </a:r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dirty="0" err="1" smtClean="0"/>
                        <a:t>inflowNode</a:t>
                      </a:r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b="0" i="0" dirty="0"/>
                    </a:p>
                  </a:txBody>
                  <a:tcPr>
                    <a:solidFill>
                      <a:srgbClr val="092E5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>
                          <a:solidFill>
                            <a:schemeClr val="tx1"/>
                          </a:solidFill>
                        </a:rPr>
                        <a:t>polygon12345</a:t>
                      </a:r>
                      <a:endParaRPr lang="en-GB" sz="1200" b="0" i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/>
                        <a:t>12345</a:t>
                      </a:r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i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>
                          <a:solidFill>
                            <a:srgbClr val="FF0000"/>
                          </a:solidFill>
                        </a:rPr>
                        <a:t>polygon23456</a:t>
                      </a:r>
                      <a:endParaRPr lang="en-GB" sz="1200" b="0" i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chemeClr val="tx1"/>
                          </a:solidFill>
                        </a:rPr>
                        <a:t>23456</a:t>
                      </a:r>
                      <a:endParaRPr lang="en-GB" sz="1200" b="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rgbClr val="C00000"/>
                          </a:solidFill>
                        </a:rPr>
                        <a:t>12345</a:t>
                      </a:r>
                      <a:endParaRPr lang="en-GB" sz="1200" b="0" i="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i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smtClean="0"/>
                        <a:t>polygon34567</a:t>
                      </a:r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/>
                        <a:t>34567</a:t>
                      </a:r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/>
                        <a:t>23456</a:t>
                      </a:r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Tabel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555737"/>
              </p:ext>
            </p:extLst>
          </p:nvPr>
        </p:nvGraphicFramePr>
        <p:xfrm>
          <a:off x="685801" y="487680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990599"/>
                <a:gridCol w="1905000"/>
                <a:gridCol w="1676401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200" b="0" i="0" baseline="0" dirty="0" smtClean="0"/>
                        <a:t>Junction, </a:t>
                      </a:r>
                      <a:r>
                        <a:rPr lang="en-GB" sz="1200" b="0" i="0" dirty="0" smtClean="0"/>
                        <a:t>ID</a:t>
                      </a:r>
                      <a:endParaRPr lang="en-GB" sz="1200" b="0" i="0" dirty="0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smtClean="0"/>
                        <a:t>contributingBasin</a:t>
                      </a:r>
                      <a:endParaRPr lang="en-GB" sz="1200" b="0" i="0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smtClean="0"/>
                        <a:t>receivingBasin</a:t>
                      </a:r>
                      <a:endParaRPr lang="en-GB" sz="1200" b="0" i="0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>
                          <a:solidFill>
                            <a:srgbClr val="C00000"/>
                          </a:solidFill>
                        </a:rPr>
                        <a:t>point12345</a:t>
                      </a:r>
                      <a:endParaRPr lang="en-GB" sz="1200" b="0" i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1" i="0" dirty="0" smtClean="0">
                          <a:solidFill>
                            <a:schemeClr val="tx2"/>
                          </a:solidFill>
                        </a:rPr>
                        <a:t>12345</a:t>
                      </a:r>
                      <a:endParaRPr lang="en-GB" sz="1200" b="1" i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 smtClean="0">
                          <a:solidFill>
                            <a:srgbClr val="C00000"/>
                          </a:solidFill>
                        </a:rPr>
                        <a:t>23456</a:t>
                      </a:r>
                      <a:endParaRPr lang="en-GB" sz="1200" b="0" i="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>
                          <a:solidFill>
                            <a:schemeClr val="tx1"/>
                          </a:solidFill>
                        </a:rPr>
                        <a:t>point23456</a:t>
                      </a:r>
                      <a:endParaRPr lang="en-GB" sz="1200" b="0" i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chemeClr val="tx1"/>
                          </a:solidFill>
                        </a:rPr>
                        <a:t>23456</a:t>
                      </a:r>
                      <a:endParaRPr lang="en-GB" sz="1200" b="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chemeClr val="tx1"/>
                          </a:solidFill>
                        </a:rPr>
                        <a:t>34567</a:t>
                      </a:r>
                      <a:endParaRPr lang="en-GB" sz="1200" b="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/>
                        <a:t>point34567</a:t>
                      </a:r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smtClean="0"/>
                        <a:t>rc34567</a:t>
                      </a:r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i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1035" name="Gruppieren 1034"/>
          <p:cNvGrpSpPr/>
          <p:nvPr/>
        </p:nvGrpSpPr>
        <p:grpSpPr>
          <a:xfrm>
            <a:off x="1295401" y="2604289"/>
            <a:ext cx="3048000" cy="377190"/>
            <a:chOff x="2133600" y="2438400"/>
            <a:chExt cx="3048000" cy="457200"/>
          </a:xfrm>
        </p:grpSpPr>
        <p:cxnSp>
          <p:nvCxnSpPr>
            <p:cNvPr id="1030" name="Gerade Verbindung 1029"/>
            <p:cNvCxnSpPr/>
            <p:nvPr/>
          </p:nvCxnSpPr>
          <p:spPr bwMode="auto">
            <a:xfrm>
              <a:off x="2133600" y="2667000"/>
              <a:ext cx="3048000" cy="0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32" name="Gerade Verbindung 1031"/>
            <p:cNvCxnSpPr/>
            <p:nvPr/>
          </p:nvCxnSpPr>
          <p:spPr bwMode="auto">
            <a:xfrm flipV="1">
              <a:off x="5181600" y="2438400"/>
              <a:ext cx="0" cy="228600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34" name="Gerade Verbindung 1033"/>
            <p:cNvCxnSpPr/>
            <p:nvPr/>
          </p:nvCxnSpPr>
          <p:spPr bwMode="auto">
            <a:xfrm>
              <a:off x="2133600" y="2667000"/>
              <a:ext cx="0" cy="228600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</p:grpSp>
      <p:grpSp>
        <p:nvGrpSpPr>
          <p:cNvPr id="48" name="Gruppieren 47"/>
          <p:cNvGrpSpPr/>
          <p:nvPr/>
        </p:nvGrpSpPr>
        <p:grpSpPr>
          <a:xfrm>
            <a:off x="1295401" y="4475852"/>
            <a:ext cx="3048000" cy="377190"/>
            <a:chOff x="2133600" y="2438400"/>
            <a:chExt cx="3048000" cy="457200"/>
          </a:xfrm>
        </p:grpSpPr>
        <p:cxnSp>
          <p:nvCxnSpPr>
            <p:cNvPr id="49" name="Gerade Verbindung 48"/>
            <p:cNvCxnSpPr/>
            <p:nvPr/>
          </p:nvCxnSpPr>
          <p:spPr bwMode="auto">
            <a:xfrm>
              <a:off x="2133600" y="2667000"/>
              <a:ext cx="3048000" cy="0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0" name="Gerade Verbindung 49"/>
            <p:cNvCxnSpPr/>
            <p:nvPr/>
          </p:nvCxnSpPr>
          <p:spPr bwMode="auto">
            <a:xfrm flipV="1">
              <a:off x="5181600" y="2438400"/>
              <a:ext cx="0" cy="228600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Gerade Verbindung 50"/>
            <p:cNvCxnSpPr/>
            <p:nvPr/>
          </p:nvCxnSpPr>
          <p:spPr bwMode="auto">
            <a:xfrm>
              <a:off x="2133600" y="2667000"/>
              <a:ext cx="0" cy="228600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</p:grpSp>
      <p:cxnSp>
        <p:nvCxnSpPr>
          <p:cNvPr id="24" name="Gerade Verbindung mit Pfeil 23"/>
          <p:cNvCxnSpPr/>
          <p:nvPr/>
        </p:nvCxnSpPr>
        <p:spPr bwMode="auto">
          <a:xfrm flipH="1">
            <a:off x="1946951" y="1979596"/>
            <a:ext cx="1197050" cy="0"/>
          </a:xfrm>
          <a:prstGeom prst="straightConnector1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arrow" w="med" len="med"/>
            <a:tailEnd type="none"/>
          </a:ln>
          <a:effectLst/>
        </p:spPr>
      </p:cxnSp>
      <p:cxnSp>
        <p:nvCxnSpPr>
          <p:cNvPr id="6" name="Gerade Verbindung 5"/>
          <p:cNvCxnSpPr/>
          <p:nvPr/>
        </p:nvCxnSpPr>
        <p:spPr bwMode="auto">
          <a:xfrm flipH="1">
            <a:off x="4724400" y="1676400"/>
            <a:ext cx="3355208" cy="0"/>
          </a:xfrm>
          <a:prstGeom prst="line">
            <a:avLst/>
          </a:prstGeom>
          <a:noFill/>
          <a:ln w="28575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3" name="Gerade Verbindung 12"/>
          <p:cNvCxnSpPr/>
          <p:nvPr/>
        </p:nvCxnSpPr>
        <p:spPr bwMode="auto">
          <a:xfrm>
            <a:off x="4953000" y="5496028"/>
            <a:ext cx="3126607" cy="0"/>
          </a:xfrm>
          <a:prstGeom prst="line">
            <a:avLst/>
          </a:prstGeom>
          <a:noFill/>
          <a:ln w="2857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Gerade Verbindung mit Pfeil 24"/>
          <p:cNvCxnSpPr/>
          <p:nvPr/>
        </p:nvCxnSpPr>
        <p:spPr bwMode="auto">
          <a:xfrm flipH="1">
            <a:off x="1946951" y="1600200"/>
            <a:ext cx="1197050" cy="0"/>
          </a:xfrm>
          <a:prstGeom prst="straightConnector1">
            <a:avLst/>
          </a:prstGeom>
          <a:noFill/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0" name="Gerade Verbindung 19"/>
          <p:cNvCxnSpPr/>
          <p:nvPr/>
        </p:nvCxnSpPr>
        <p:spPr bwMode="auto">
          <a:xfrm flipV="1">
            <a:off x="8079607" y="1676400"/>
            <a:ext cx="0" cy="3810000"/>
          </a:xfrm>
          <a:prstGeom prst="line">
            <a:avLst/>
          </a:prstGeom>
          <a:noFill/>
          <a:ln w="2857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7" name="Textfeld 26"/>
          <p:cNvSpPr txBox="1"/>
          <p:nvPr/>
        </p:nvSpPr>
        <p:spPr>
          <a:xfrm>
            <a:off x="6991149" y="4050858"/>
            <a:ext cx="2019701" cy="861774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i="1" smtClean="0">
                <a:solidFill>
                  <a:schemeClr val="tx2"/>
                </a:solidFill>
              </a:rPr>
              <a:t>upstreamFlowline</a:t>
            </a:r>
            <a:r>
              <a:rPr lang="en-GB" smtClean="0">
                <a:solidFill>
                  <a:schemeClr val="tx2"/>
                </a:solidFill>
              </a:rPr>
              <a:t>:</a:t>
            </a:r>
          </a:p>
          <a:p>
            <a:endParaRPr lang="en-GB" smtClean="0">
              <a:solidFill>
                <a:schemeClr val="tx2"/>
              </a:solidFill>
            </a:endParaRPr>
          </a:p>
          <a:p>
            <a:r>
              <a:rPr lang="en-GB" smtClean="0">
                <a:solidFill>
                  <a:schemeClr val="tx2"/>
                </a:solidFill>
              </a:rPr>
              <a:t>where</a:t>
            </a:r>
            <a:endParaRPr lang="en-GB">
              <a:solidFill>
                <a:schemeClr val="tx2"/>
              </a:solidFill>
            </a:endParaRPr>
          </a:p>
          <a:p>
            <a:r>
              <a:rPr lang="en-GB" i="1" smtClean="0">
                <a:solidFill>
                  <a:schemeClr val="tx2"/>
                </a:solidFill>
              </a:rPr>
              <a:t>contributingBasin = reprepresentedCatchment</a:t>
            </a:r>
            <a:endParaRPr lang="en-GB" i="1" dirty="0" err="1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529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59132"/>
            <a:ext cx="8837613" cy="424732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4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Example: NFIE, NHDFlowline realises Flowpath</a:t>
            </a:r>
            <a:endParaRPr lang="en-GB" sz="2400" i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pic>
        <p:nvPicPr>
          <p:cNvPr id="10" name="Picture 2" descr="http://www.hueseman-agrar.de/uploads/pics/baustelle_0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152400"/>
            <a:ext cx="809625" cy="732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979473"/>
              </p:ext>
            </p:extLst>
          </p:nvPr>
        </p:nvGraphicFramePr>
        <p:xfrm>
          <a:off x="685800" y="1110917"/>
          <a:ext cx="609600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295400"/>
                <a:gridCol w="2438400"/>
                <a:gridCol w="838201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200" b="0" i="0" baseline="0" dirty="0" err="1" smtClean="0"/>
                        <a:t>Flowline</a:t>
                      </a:r>
                      <a:r>
                        <a:rPr lang="en-GB" sz="1200" b="0" i="0" baseline="0" dirty="0" smtClean="0"/>
                        <a:t>,</a:t>
                      </a:r>
                      <a:r>
                        <a:rPr lang="en-GB" sz="1200" b="0" i="0" dirty="0" smtClean="0"/>
                        <a:t> ID</a:t>
                      </a:r>
                      <a:endParaRPr lang="en-GB" sz="1200" b="0" i="0" dirty="0"/>
                    </a:p>
                  </a:txBody>
                  <a:tcP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smtClean="0"/>
                        <a:t>representedCatchment</a:t>
                      </a:r>
                      <a:endParaRPr lang="en-GB" sz="1200" b="0" i="0"/>
                    </a:p>
                  </a:txBody>
                  <a:tcP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chemeClr val="tx2"/>
                          </a:solidFill>
                        </a:rPr>
                        <a:t>polyline12345</a:t>
                      </a:r>
                      <a:endParaRPr lang="en-GB" sz="1200" b="0" i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chemeClr val="tx2"/>
                          </a:solidFill>
                        </a:rPr>
                        <a:t>12345</a:t>
                      </a:r>
                      <a:endParaRPr lang="en-GB" sz="1200" b="0" i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>
                          <a:solidFill>
                            <a:srgbClr val="FF0000"/>
                          </a:solidFill>
                        </a:rPr>
                        <a:t>polyline23456</a:t>
                      </a:r>
                      <a:endParaRPr lang="en-GB" sz="1200" b="0" i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rgbClr val="FF0000"/>
                          </a:solidFill>
                        </a:rPr>
                        <a:t>23456</a:t>
                      </a:r>
                      <a:endParaRPr lang="en-GB" sz="1200" b="0" i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1" i="0" dirty="0" smtClean="0">
                          <a:solidFill>
                            <a:schemeClr val="tx2"/>
                          </a:solidFill>
                        </a:rPr>
                        <a:t>polyline34567</a:t>
                      </a:r>
                      <a:endParaRPr lang="en-GB" sz="1200" b="1" i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dirty="0" smtClean="0">
                          <a:solidFill>
                            <a:schemeClr val="tx2"/>
                          </a:solidFill>
                        </a:rPr>
                        <a:t>34567</a:t>
                      </a:r>
                      <a:endParaRPr lang="en-GB" sz="1200" b="1" i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Tabel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125844"/>
              </p:ext>
            </p:extLst>
          </p:nvPr>
        </p:nvGraphicFramePr>
        <p:xfrm>
          <a:off x="685801" y="2993858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3999"/>
                <a:gridCol w="1524001"/>
                <a:gridCol w="1524000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200" b="0" i="0" baseline="0" dirty="0" smtClean="0"/>
                        <a:t>Catchment,</a:t>
                      </a:r>
                      <a:r>
                        <a:rPr lang="en-GB" sz="1200" b="0" i="0" dirty="0" smtClean="0"/>
                        <a:t> ID</a:t>
                      </a:r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smtClean="0"/>
                        <a:t>outflowNode</a:t>
                      </a:r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smtClean="0"/>
                        <a:t>inflowNode</a:t>
                      </a:r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>
                          <a:solidFill>
                            <a:schemeClr val="tx1"/>
                          </a:solidFill>
                        </a:rPr>
                        <a:t>polygon12345</a:t>
                      </a:r>
                      <a:endParaRPr lang="en-GB" sz="1200" b="0" i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/>
                        <a:t>12345</a:t>
                      </a:r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i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>
                          <a:solidFill>
                            <a:srgbClr val="FF0000"/>
                          </a:solidFill>
                        </a:rPr>
                        <a:t>polygon23456</a:t>
                      </a:r>
                      <a:endParaRPr lang="en-GB" sz="1200" b="0" i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rgbClr val="C00000"/>
                          </a:solidFill>
                        </a:rPr>
                        <a:t>23456</a:t>
                      </a:r>
                      <a:endParaRPr lang="en-GB" sz="1200" b="0" i="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chemeClr val="tx2"/>
                          </a:solidFill>
                        </a:rPr>
                        <a:t>12345</a:t>
                      </a:r>
                      <a:endParaRPr lang="en-GB" sz="1200" b="0" i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i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smtClean="0"/>
                        <a:t>polygon34567</a:t>
                      </a:r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/>
                        <a:t>34567</a:t>
                      </a:r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/>
                        <a:t>23456</a:t>
                      </a:r>
                      <a:endParaRPr lang="en-GB" sz="1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Tabel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92777"/>
              </p:ext>
            </p:extLst>
          </p:nvPr>
        </p:nvGraphicFramePr>
        <p:xfrm>
          <a:off x="685801" y="487680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990599"/>
                <a:gridCol w="1905000"/>
                <a:gridCol w="1676401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200" b="0" i="0" baseline="0" dirty="0" smtClean="0"/>
                        <a:t>Junction, </a:t>
                      </a:r>
                      <a:r>
                        <a:rPr lang="en-GB" sz="1200" b="0" i="0" dirty="0" smtClean="0"/>
                        <a:t>ID</a:t>
                      </a:r>
                      <a:endParaRPr lang="en-GB" sz="1200" b="0" i="0" dirty="0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smtClean="0"/>
                        <a:t>contributingBasin</a:t>
                      </a:r>
                      <a:endParaRPr lang="en-GB" sz="1200" b="0" i="0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i="0" smtClean="0"/>
                        <a:t>receivingBasin</a:t>
                      </a:r>
                      <a:endParaRPr lang="en-GB" sz="1200" b="0" i="0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chemeClr val="tx2"/>
                          </a:solidFill>
                        </a:rPr>
                        <a:t>point12345</a:t>
                      </a:r>
                      <a:endParaRPr lang="en-GB" sz="1200" b="0" i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chemeClr val="tx2"/>
                          </a:solidFill>
                        </a:rPr>
                        <a:t>12345</a:t>
                      </a:r>
                      <a:endParaRPr lang="en-GB" sz="1200" b="0" i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 smtClean="0">
                          <a:solidFill>
                            <a:schemeClr val="tx2"/>
                          </a:solidFill>
                        </a:rPr>
                        <a:t>23456</a:t>
                      </a:r>
                      <a:endParaRPr lang="en-GB" sz="1200" b="0" i="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rgbClr val="C00000"/>
                          </a:solidFill>
                        </a:rPr>
                        <a:t>point23456</a:t>
                      </a:r>
                      <a:endParaRPr lang="en-GB" sz="1200" b="0" i="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dirty="0" smtClean="0">
                          <a:solidFill>
                            <a:schemeClr val="tx1"/>
                          </a:solidFill>
                        </a:rPr>
                        <a:t>23456</a:t>
                      </a:r>
                      <a:endParaRPr lang="en-GB" sz="1200" b="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1" i="0" dirty="0" smtClean="0">
                          <a:solidFill>
                            <a:srgbClr val="C00000"/>
                          </a:solidFill>
                        </a:rPr>
                        <a:t>34567</a:t>
                      </a:r>
                      <a:endParaRPr lang="en-GB" sz="1200" b="1" i="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 b="0" i="0" smtClean="0"/>
                        <a:t>point34567</a:t>
                      </a:r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smtClean="0"/>
                        <a:t>rc34567</a:t>
                      </a:r>
                      <a:endParaRPr lang="en-GB" sz="1200" b="0" i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i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1035" name="Gruppieren 1034"/>
          <p:cNvGrpSpPr/>
          <p:nvPr/>
        </p:nvGrpSpPr>
        <p:grpSpPr>
          <a:xfrm>
            <a:off x="1295401" y="2604289"/>
            <a:ext cx="3048000" cy="377190"/>
            <a:chOff x="2133600" y="2438400"/>
            <a:chExt cx="3048000" cy="457200"/>
          </a:xfrm>
        </p:grpSpPr>
        <p:cxnSp>
          <p:nvCxnSpPr>
            <p:cNvPr id="1030" name="Gerade Verbindung 1029"/>
            <p:cNvCxnSpPr/>
            <p:nvPr/>
          </p:nvCxnSpPr>
          <p:spPr bwMode="auto">
            <a:xfrm>
              <a:off x="2133600" y="2667000"/>
              <a:ext cx="3048000" cy="0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32" name="Gerade Verbindung 1031"/>
            <p:cNvCxnSpPr/>
            <p:nvPr/>
          </p:nvCxnSpPr>
          <p:spPr bwMode="auto">
            <a:xfrm flipV="1">
              <a:off x="5181600" y="2438400"/>
              <a:ext cx="0" cy="228600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34" name="Gerade Verbindung 1033"/>
            <p:cNvCxnSpPr/>
            <p:nvPr/>
          </p:nvCxnSpPr>
          <p:spPr bwMode="auto">
            <a:xfrm>
              <a:off x="2133600" y="2667000"/>
              <a:ext cx="0" cy="228600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</p:grpSp>
      <p:grpSp>
        <p:nvGrpSpPr>
          <p:cNvPr id="48" name="Gruppieren 47"/>
          <p:cNvGrpSpPr/>
          <p:nvPr/>
        </p:nvGrpSpPr>
        <p:grpSpPr>
          <a:xfrm>
            <a:off x="1292393" y="4475852"/>
            <a:ext cx="1720516" cy="377190"/>
            <a:chOff x="2133600" y="2438400"/>
            <a:chExt cx="3048000" cy="457200"/>
          </a:xfrm>
        </p:grpSpPr>
        <p:cxnSp>
          <p:nvCxnSpPr>
            <p:cNvPr id="49" name="Gerade Verbindung 48"/>
            <p:cNvCxnSpPr/>
            <p:nvPr/>
          </p:nvCxnSpPr>
          <p:spPr bwMode="auto">
            <a:xfrm>
              <a:off x="2133600" y="2667000"/>
              <a:ext cx="3048000" cy="0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0" name="Gerade Verbindung 49"/>
            <p:cNvCxnSpPr/>
            <p:nvPr/>
          </p:nvCxnSpPr>
          <p:spPr bwMode="auto">
            <a:xfrm flipV="1">
              <a:off x="5181600" y="2438400"/>
              <a:ext cx="0" cy="228600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Gerade Verbindung 50"/>
            <p:cNvCxnSpPr/>
            <p:nvPr/>
          </p:nvCxnSpPr>
          <p:spPr bwMode="auto">
            <a:xfrm>
              <a:off x="2133600" y="2667000"/>
              <a:ext cx="0" cy="228600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</p:grpSp>
      <p:cxnSp>
        <p:nvCxnSpPr>
          <p:cNvPr id="24" name="Gerade Verbindung mit Pfeil 23"/>
          <p:cNvCxnSpPr/>
          <p:nvPr/>
        </p:nvCxnSpPr>
        <p:spPr bwMode="auto">
          <a:xfrm flipH="1">
            <a:off x="1946951" y="1979596"/>
            <a:ext cx="1197050" cy="0"/>
          </a:xfrm>
          <a:prstGeom prst="straightConnector1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arrow" w="med" len="med"/>
            <a:tailEnd type="none"/>
          </a:ln>
          <a:effectLst/>
        </p:spPr>
      </p:cxnSp>
      <p:cxnSp>
        <p:nvCxnSpPr>
          <p:cNvPr id="6" name="Gerade Verbindung 5"/>
          <p:cNvCxnSpPr/>
          <p:nvPr/>
        </p:nvCxnSpPr>
        <p:spPr bwMode="auto">
          <a:xfrm flipH="1">
            <a:off x="4724400" y="2362200"/>
            <a:ext cx="3355208" cy="0"/>
          </a:xfrm>
          <a:prstGeom prst="line">
            <a:avLst/>
          </a:prstGeom>
          <a:noFill/>
          <a:ln w="28575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3" name="Gerade Verbindung 12"/>
          <p:cNvCxnSpPr/>
          <p:nvPr/>
        </p:nvCxnSpPr>
        <p:spPr bwMode="auto">
          <a:xfrm>
            <a:off x="6248400" y="5744598"/>
            <a:ext cx="1831208" cy="0"/>
          </a:xfrm>
          <a:prstGeom prst="line">
            <a:avLst/>
          </a:prstGeom>
          <a:noFill/>
          <a:ln w="2857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Gerade Verbindung mit Pfeil 24"/>
          <p:cNvCxnSpPr/>
          <p:nvPr/>
        </p:nvCxnSpPr>
        <p:spPr bwMode="auto">
          <a:xfrm flipH="1">
            <a:off x="1946951" y="2362200"/>
            <a:ext cx="1197050" cy="0"/>
          </a:xfrm>
          <a:prstGeom prst="straightConnector1">
            <a:avLst/>
          </a:prstGeom>
          <a:noFill/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0" name="Gerade Verbindung 19"/>
          <p:cNvCxnSpPr/>
          <p:nvPr/>
        </p:nvCxnSpPr>
        <p:spPr bwMode="auto">
          <a:xfrm flipV="1">
            <a:off x="8079607" y="2362200"/>
            <a:ext cx="1" cy="3382398"/>
          </a:xfrm>
          <a:prstGeom prst="line">
            <a:avLst/>
          </a:prstGeom>
          <a:noFill/>
          <a:ln w="2857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7" name="Textfeld 26"/>
          <p:cNvSpPr txBox="1"/>
          <p:nvPr/>
        </p:nvSpPr>
        <p:spPr>
          <a:xfrm>
            <a:off x="6991149" y="4050858"/>
            <a:ext cx="2019701" cy="861774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i="1" dirty="0" err="1" smtClean="0">
                <a:solidFill>
                  <a:schemeClr val="tx2"/>
                </a:solidFill>
              </a:rPr>
              <a:t>downstreamFlowline</a:t>
            </a:r>
            <a:r>
              <a:rPr lang="en-GB" dirty="0" smtClean="0">
                <a:solidFill>
                  <a:schemeClr val="tx2"/>
                </a:solidFill>
              </a:rPr>
              <a:t>:</a:t>
            </a:r>
          </a:p>
          <a:p>
            <a:endParaRPr lang="en-GB" dirty="0" smtClean="0">
              <a:solidFill>
                <a:schemeClr val="tx2"/>
              </a:solidFill>
            </a:endParaRPr>
          </a:p>
          <a:p>
            <a:r>
              <a:rPr lang="en-GB" dirty="0" smtClean="0">
                <a:solidFill>
                  <a:schemeClr val="tx2"/>
                </a:solidFill>
              </a:rPr>
              <a:t>where</a:t>
            </a:r>
            <a:endParaRPr lang="en-GB" dirty="0">
              <a:solidFill>
                <a:schemeClr val="tx2"/>
              </a:solidFill>
            </a:endParaRPr>
          </a:p>
          <a:p>
            <a:r>
              <a:rPr lang="en-GB" i="1" dirty="0" err="1" smtClean="0">
                <a:solidFill>
                  <a:schemeClr val="tx2"/>
                </a:solidFill>
              </a:rPr>
              <a:t>receivingBasin</a:t>
            </a:r>
            <a:r>
              <a:rPr lang="en-GB" i="1" dirty="0" smtClean="0">
                <a:solidFill>
                  <a:schemeClr val="tx2"/>
                </a:solidFill>
              </a:rPr>
              <a:t> = </a:t>
            </a:r>
            <a:r>
              <a:rPr lang="en-GB" i="1" dirty="0" err="1" smtClean="0">
                <a:solidFill>
                  <a:schemeClr val="tx2"/>
                </a:solidFill>
              </a:rPr>
              <a:t>reprepresentedCatchment</a:t>
            </a:r>
            <a:endParaRPr lang="en-GB" i="1" dirty="0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0385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914400"/>
            <a:ext cx="7239000" cy="5782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3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Example: HYF – NHD</a:t>
            </a:r>
            <a:r>
              <a:rPr lang="en-GB" sz="28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</a:t>
            </a:r>
            <a:r>
              <a:rPr lang="en-GB" sz="20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(parts of, 2</a:t>
            </a:r>
            <a:r>
              <a:rPr lang="en-GB" sz="2000" baseline="300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</a:t>
            </a:r>
            <a:r>
              <a:rPr lang="en-GB" sz="20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SIRF)</a:t>
            </a:r>
            <a:endParaRPr lang="en-GB" sz="20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pic>
        <p:nvPicPr>
          <p:cNvPr id="6" name="Picture 2" descr="http://www.hueseman-agrar.de/uploads/pics/baustelle_0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187" y="3459630"/>
            <a:ext cx="809625" cy="732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1358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914400"/>
            <a:ext cx="7762875" cy="5728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3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Example: HYF – NFIE </a:t>
            </a:r>
            <a:r>
              <a:rPr lang="en-GB" sz="20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(parts of, 1</a:t>
            </a:r>
            <a:r>
              <a:rPr lang="en-GB" sz="2000" baseline="300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</a:t>
            </a:r>
            <a:r>
              <a:rPr lang="en-GB" sz="20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SIRF) </a:t>
            </a:r>
            <a:endParaRPr lang="en-GB" sz="20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pic>
        <p:nvPicPr>
          <p:cNvPr id="10" name="Picture 2" descr="http://www.hueseman-agrar.de/uploads/pics/baustelle_0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62541"/>
            <a:ext cx="809625" cy="732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feld 8"/>
          <p:cNvSpPr txBox="1"/>
          <p:nvPr/>
        </p:nvSpPr>
        <p:spPr>
          <a:xfrm>
            <a:off x="1330291" y="1804737"/>
            <a:ext cx="6477000" cy="3293209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  <a:effectLst/>
        </p:spPr>
        <p:txBody>
          <a:bodyPr wrap="square" rtlCol="0">
            <a:spAutoFit/>
          </a:bodyPr>
          <a:lstStyle/>
          <a:p>
            <a:endParaRPr lang="en-GB" sz="2400" dirty="0" smtClean="0"/>
          </a:p>
          <a:p>
            <a:r>
              <a:rPr lang="en-GB" sz="2000" dirty="0" smtClean="0">
                <a:solidFill>
                  <a:schemeClr val="tx2"/>
                </a:solidFill>
              </a:rPr>
              <a:t>mapping class (= </a:t>
            </a:r>
            <a:r>
              <a:rPr lang="en-GB" sz="2000" dirty="0" smtClean="0">
                <a:solidFill>
                  <a:srgbClr val="C00000"/>
                </a:solidFill>
              </a:rPr>
              <a:t>NFIE_Flowline1D</a:t>
            </a:r>
            <a:r>
              <a:rPr lang="en-GB" sz="2000" dirty="0" smtClean="0">
                <a:solidFill>
                  <a:schemeClr val="tx2"/>
                </a:solidFill>
              </a:rPr>
              <a:t>)</a:t>
            </a:r>
            <a:endParaRPr lang="en-GB" sz="2000" dirty="0">
              <a:solidFill>
                <a:schemeClr val="tx2"/>
              </a:solidFill>
            </a:endParaRPr>
          </a:p>
          <a:p>
            <a:endParaRPr lang="en-GB" sz="2000" i="1" dirty="0">
              <a:solidFill>
                <a:schemeClr val="tx2"/>
              </a:solidFill>
            </a:endParaRPr>
          </a:p>
          <a:p>
            <a:r>
              <a:rPr lang="en-GB" sz="2000" i="1" dirty="0" err="1" smtClean="0">
                <a:solidFill>
                  <a:schemeClr val="tx2"/>
                </a:solidFill>
              </a:rPr>
              <a:t>mapsTo</a:t>
            </a:r>
            <a:r>
              <a:rPr lang="en-GB" sz="2000" dirty="0">
                <a:solidFill>
                  <a:schemeClr val="tx2"/>
                </a:solidFill>
              </a:rPr>
              <a:t> implementation class </a:t>
            </a:r>
            <a:r>
              <a:rPr lang="en-GB" sz="2000" dirty="0" smtClean="0">
                <a:solidFill>
                  <a:schemeClr val="tx2"/>
                </a:solidFill>
              </a:rPr>
              <a:t>(= </a:t>
            </a:r>
            <a:r>
              <a:rPr lang="en-GB" sz="2000" dirty="0" err="1" smtClean="0">
                <a:solidFill>
                  <a:schemeClr val="tx2"/>
                </a:solidFill>
              </a:rPr>
              <a:t>Flowline</a:t>
            </a:r>
            <a:r>
              <a:rPr lang="en-GB" sz="2000" dirty="0" smtClean="0">
                <a:solidFill>
                  <a:schemeClr val="tx2"/>
                </a:solidFill>
              </a:rPr>
              <a:t>)</a:t>
            </a:r>
            <a:endParaRPr lang="en-GB" sz="2000" dirty="0">
              <a:solidFill>
                <a:schemeClr val="tx2"/>
              </a:solidFill>
            </a:endParaRPr>
          </a:p>
          <a:p>
            <a:endParaRPr lang="en-GB" sz="2000" dirty="0">
              <a:solidFill>
                <a:schemeClr val="tx2"/>
              </a:solidFill>
            </a:endParaRPr>
          </a:p>
          <a:p>
            <a:r>
              <a:rPr lang="en-GB" sz="2000" i="1" dirty="0" err="1" smtClean="0">
                <a:solidFill>
                  <a:schemeClr val="tx2"/>
                </a:solidFill>
              </a:rPr>
              <a:t>realisedObject</a:t>
            </a:r>
            <a:r>
              <a:rPr lang="en-GB" sz="2000" i="1" dirty="0" smtClean="0">
                <a:solidFill>
                  <a:schemeClr val="tx2"/>
                </a:solidFill>
              </a:rPr>
              <a:t> (= </a:t>
            </a:r>
            <a:r>
              <a:rPr lang="en-GB" sz="2000" dirty="0" err="1" smtClean="0">
                <a:solidFill>
                  <a:schemeClr val="tx2"/>
                </a:solidFill>
              </a:rPr>
              <a:t>Flowpath</a:t>
            </a:r>
            <a:r>
              <a:rPr lang="en-GB" sz="2000" dirty="0" smtClean="0">
                <a:solidFill>
                  <a:schemeClr val="tx2"/>
                </a:solidFill>
              </a:rPr>
              <a:t>) </a:t>
            </a:r>
          </a:p>
          <a:p>
            <a:endParaRPr lang="en-GB" sz="2000" b="0" i="1" dirty="0">
              <a:solidFill>
                <a:schemeClr val="tx2"/>
              </a:solidFill>
            </a:endParaRPr>
          </a:p>
          <a:p>
            <a:r>
              <a:rPr lang="en-GB" sz="2000" b="0" i="1" dirty="0" err="1" smtClean="0">
                <a:solidFill>
                  <a:schemeClr val="tx2"/>
                </a:solidFill>
              </a:rPr>
              <a:t>catchmentHasFlowline</a:t>
            </a:r>
            <a:r>
              <a:rPr lang="en-GB" sz="2000" b="0" i="1" dirty="0" smtClean="0">
                <a:solidFill>
                  <a:schemeClr val="tx2"/>
                </a:solidFill>
              </a:rPr>
              <a:t> </a:t>
            </a:r>
            <a:r>
              <a:rPr lang="en-GB" sz="2000" b="0" i="1" dirty="0" smtClean="0">
                <a:solidFill>
                  <a:schemeClr val="tx2"/>
                </a:solidFill>
                <a:sym typeface="Wingdings" panose="05000000000000000000" pitchFamily="2" charset="2"/>
              </a:rPr>
              <a:t> </a:t>
            </a:r>
            <a:r>
              <a:rPr lang="en-GB" sz="2000" b="0" i="1" smtClean="0">
                <a:solidFill>
                  <a:schemeClr val="tx2"/>
                </a:solidFill>
              </a:rPr>
              <a:t>representedCatchment.inflowNode.receivingBasin</a:t>
            </a:r>
            <a:endParaRPr lang="en-GB" sz="2000" dirty="0" smtClean="0">
              <a:solidFill>
                <a:schemeClr val="tx2"/>
              </a:solidFill>
            </a:endParaRPr>
          </a:p>
          <a:p>
            <a:endParaRPr lang="en-GB" sz="2400" dirty="0" err="1" smtClean="0"/>
          </a:p>
        </p:txBody>
      </p:sp>
    </p:spTree>
    <p:extLst>
      <p:ext uri="{BB962C8B-B14F-4D97-AF65-F5344CB8AC3E}">
        <p14:creationId xmlns:p14="http://schemas.microsoft.com/office/powerpoint/2010/main" val="2883344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11745"/>
            <a:ext cx="8229600" cy="5784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3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Example: HYF – NFIE </a:t>
            </a:r>
            <a:r>
              <a:rPr lang="en-GB" sz="20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(parts of, 1</a:t>
            </a:r>
            <a:r>
              <a:rPr lang="en-GB" sz="2000" baseline="300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</a:t>
            </a:r>
            <a:r>
              <a:rPr lang="en-GB" sz="20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SIRF) </a:t>
            </a:r>
            <a:endParaRPr lang="en-GB" sz="20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pic>
        <p:nvPicPr>
          <p:cNvPr id="10" name="Picture 2" descr="http://www.hueseman-agrar.de/uploads/pics/baustelle_0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2362200"/>
            <a:ext cx="809625" cy="732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1677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3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Example: HYF – </a:t>
            </a:r>
            <a:r>
              <a:rPr lang="en-GB" sz="28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NFIE </a:t>
            </a:r>
            <a:r>
              <a:rPr lang="en-GB" sz="20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(1</a:t>
            </a:r>
            <a:r>
              <a:rPr lang="en-GB" sz="2000" baseline="300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</a:t>
            </a:r>
            <a:r>
              <a:rPr lang="en-GB" sz="20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SIRF)</a:t>
            </a:r>
            <a:endParaRPr lang="en-GB" sz="20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939265"/>
            <a:ext cx="7805738" cy="5409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http://www.hueseman-agrar.de/uploads/pics/baustelle_0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191000"/>
            <a:ext cx="809625" cy="732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feld 10"/>
          <p:cNvSpPr txBox="1"/>
          <p:nvPr/>
        </p:nvSpPr>
        <p:spPr>
          <a:xfrm>
            <a:off x="1330291" y="1804737"/>
            <a:ext cx="6477000" cy="3293209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  <a:effectLst/>
        </p:spPr>
        <p:txBody>
          <a:bodyPr wrap="square" rtlCol="0">
            <a:spAutoFit/>
          </a:bodyPr>
          <a:lstStyle/>
          <a:p>
            <a:endParaRPr lang="en-GB" sz="2400" dirty="0" smtClean="0"/>
          </a:p>
          <a:p>
            <a:r>
              <a:rPr lang="en-GB" sz="2000" dirty="0" smtClean="0">
                <a:solidFill>
                  <a:schemeClr val="tx2"/>
                </a:solidFill>
              </a:rPr>
              <a:t>mapping class (= </a:t>
            </a:r>
            <a:r>
              <a:rPr lang="en-GB" sz="2000" dirty="0" err="1" smtClean="0">
                <a:solidFill>
                  <a:srgbClr val="C00000"/>
                </a:solidFill>
              </a:rPr>
              <a:t>NFIE_WarningZone</a:t>
            </a:r>
            <a:r>
              <a:rPr lang="en-GB" sz="2000" dirty="0" smtClean="0">
                <a:solidFill>
                  <a:schemeClr val="tx2"/>
                </a:solidFill>
              </a:rPr>
              <a:t>)</a:t>
            </a:r>
            <a:endParaRPr lang="en-GB" sz="2000" dirty="0">
              <a:solidFill>
                <a:schemeClr val="tx2"/>
              </a:solidFill>
            </a:endParaRPr>
          </a:p>
          <a:p>
            <a:endParaRPr lang="en-GB" sz="2000" i="1" dirty="0">
              <a:solidFill>
                <a:schemeClr val="tx2"/>
              </a:solidFill>
            </a:endParaRPr>
          </a:p>
          <a:p>
            <a:r>
              <a:rPr lang="en-GB" sz="2000" i="1" dirty="0" err="1" smtClean="0">
                <a:solidFill>
                  <a:schemeClr val="tx2"/>
                </a:solidFill>
              </a:rPr>
              <a:t>mapsTo</a:t>
            </a:r>
            <a:r>
              <a:rPr lang="en-GB" sz="2000" dirty="0">
                <a:solidFill>
                  <a:schemeClr val="tx2"/>
                </a:solidFill>
              </a:rPr>
              <a:t> implementation class </a:t>
            </a:r>
            <a:r>
              <a:rPr lang="en-GB" sz="2000" dirty="0" smtClean="0">
                <a:solidFill>
                  <a:schemeClr val="tx2"/>
                </a:solidFill>
              </a:rPr>
              <a:t>(= </a:t>
            </a:r>
            <a:r>
              <a:rPr lang="en-GB" sz="2000" dirty="0" err="1" smtClean="0">
                <a:solidFill>
                  <a:schemeClr val="tx2"/>
                </a:solidFill>
              </a:rPr>
              <a:t>WarningZone</a:t>
            </a:r>
            <a:r>
              <a:rPr lang="en-GB" sz="2000" dirty="0" smtClean="0">
                <a:solidFill>
                  <a:schemeClr val="tx2"/>
                </a:solidFill>
              </a:rPr>
              <a:t>)</a:t>
            </a:r>
            <a:endParaRPr lang="en-GB" sz="2000" dirty="0">
              <a:solidFill>
                <a:schemeClr val="tx2"/>
              </a:solidFill>
            </a:endParaRPr>
          </a:p>
          <a:p>
            <a:endParaRPr lang="en-GB" sz="2000" dirty="0">
              <a:solidFill>
                <a:schemeClr val="tx2"/>
              </a:solidFill>
            </a:endParaRPr>
          </a:p>
          <a:p>
            <a:r>
              <a:rPr lang="en-GB" sz="2000" i="1" dirty="0" err="1" smtClean="0">
                <a:solidFill>
                  <a:schemeClr val="tx2"/>
                </a:solidFill>
              </a:rPr>
              <a:t>realisedObject</a:t>
            </a:r>
            <a:r>
              <a:rPr lang="en-GB" sz="2000" i="1" dirty="0" smtClean="0">
                <a:solidFill>
                  <a:schemeClr val="tx2"/>
                </a:solidFill>
              </a:rPr>
              <a:t> (= </a:t>
            </a:r>
            <a:r>
              <a:rPr lang="en-GB" sz="2000" dirty="0" err="1" smtClean="0">
                <a:solidFill>
                  <a:schemeClr val="tx2"/>
                </a:solidFill>
              </a:rPr>
              <a:t>CatchmentArea</a:t>
            </a:r>
            <a:r>
              <a:rPr lang="en-GB" sz="2000" dirty="0" smtClean="0">
                <a:solidFill>
                  <a:schemeClr val="tx2"/>
                </a:solidFill>
              </a:rPr>
              <a:t>) </a:t>
            </a:r>
          </a:p>
          <a:p>
            <a:endParaRPr lang="en-GB" sz="2000" dirty="0">
              <a:solidFill>
                <a:schemeClr val="tx2"/>
              </a:solidFill>
            </a:endParaRPr>
          </a:p>
          <a:p>
            <a:r>
              <a:rPr lang="en-GB" sz="2000" b="0" i="1" dirty="0" err="1" smtClean="0">
                <a:solidFill>
                  <a:schemeClr val="tx2"/>
                </a:solidFill>
              </a:rPr>
              <a:t>warningZoneInCatchment</a:t>
            </a:r>
            <a:r>
              <a:rPr lang="en-GB" sz="2000" dirty="0" smtClean="0">
                <a:solidFill>
                  <a:schemeClr val="tx2"/>
                </a:solidFill>
              </a:rPr>
              <a:t> </a:t>
            </a:r>
            <a:r>
              <a:rPr lang="en-GB" sz="2000" dirty="0" smtClean="0">
                <a:solidFill>
                  <a:schemeClr val="tx2"/>
                </a:solidFill>
                <a:sym typeface="Wingdings" panose="05000000000000000000" pitchFamily="2" charset="2"/>
              </a:rPr>
              <a:t></a:t>
            </a:r>
            <a:r>
              <a:rPr lang="en-GB" sz="2000" dirty="0" smtClean="0">
                <a:solidFill>
                  <a:schemeClr val="tx2"/>
                </a:solidFill>
              </a:rPr>
              <a:t>  </a:t>
            </a:r>
            <a:r>
              <a:rPr lang="en-GB" sz="2000" b="0" i="1" dirty="0" err="1" smtClean="0">
                <a:solidFill>
                  <a:schemeClr val="tx2"/>
                </a:solidFill>
              </a:rPr>
              <a:t>representedCatchment.containingCatchment</a:t>
            </a:r>
            <a:endParaRPr lang="en-GB" sz="2000" dirty="0" smtClean="0">
              <a:solidFill>
                <a:schemeClr val="tx2"/>
              </a:solidFill>
            </a:endParaRPr>
          </a:p>
          <a:p>
            <a:endParaRPr lang="en-GB" sz="2400" dirty="0" err="1" smtClean="0"/>
          </a:p>
        </p:txBody>
      </p:sp>
    </p:spTree>
    <p:extLst>
      <p:ext uri="{BB962C8B-B14F-4D97-AF65-F5344CB8AC3E}">
        <p14:creationId xmlns:p14="http://schemas.microsoft.com/office/powerpoint/2010/main" val="1719286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3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Example: HYF – </a:t>
            </a:r>
            <a:r>
              <a:rPr lang="en-GB" sz="28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NFIE </a:t>
            </a:r>
            <a:r>
              <a:rPr lang="en-GB" sz="20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(1</a:t>
            </a:r>
            <a:r>
              <a:rPr lang="en-GB" sz="2000" baseline="300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</a:t>
            </a:r>
            <a:r>
              <a:rPr lang="en-GB" sz="20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SIRF)</a:t>
            </a:r>
            <a:endParaRPr lang="en-GB" sz="20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939265"/>
            <a:ext cx="7805738" cy="5409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http://www.hueseman-agrar.de/uploads/pics/baustelle_0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191000"/>
            <a:ext cx="809625" cy="732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124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3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Example: HYF – </a:t>
            </a:r>
            <a:r>
              <a:rPr lang="en-GB" sz="28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AHGF </a:t>
            </a:r>
            <a:r>
              <a:rPr lang="en-GB" sz="20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(2014, Rob Atkinson)</a:t>
            </a:r>
            <a:endParaRPr lang="en-GB" sz="20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grpSp>
        <p:nvGrpSpPr>
          <p:cNvPr id="3" name="Gruppieren 2"/>
          <p:cNvGrpSpPr/>
          <p:nvPr/>
        </p:nvGrpSpPr>
        <p:grpSpPr>
          <a:xfrm>
            <a:off x="438150" y="1021882"/>
            <a:ext cx="8605358" cy="5661525"/>
            <a:chOff x="533400" y="981075"/>
            <a:chExt cx="8605358" cy="5661525"/>
          </a:xfrm>
        </p:grpSpPr>
        <p:pic>
          <p:nvPicPr>
            <p:cNvPr id="4101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400" y="990600"/>
              <a:ext cx="5652000" cy="565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02" name="Picture 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94929" y="981075"/>
              <a:ext cx="2943829" cy="565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" name="Textfeld 5"/>
          <p:cNvSpPr txBox="1"/>
          <p:nvPr/>
        </p:nvSpPr>
        <p:spPr>
          <a:xfrm>
            <a:off x="7295949" y="869482"/>
            <a:ext cx="1524000" cy="3048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endParaRPr lang="en-GB" b="0" dirty="0" err="1" smtClean="0"/>
          </a:p>
        </p:txBody>
      </p:sp>
    </p:spTree>
    <p:extLst>
      <p:ext uri="{BB962C8B-B14F-4D97-AF65-F5344CB8AC3E}">
        <p14:creationId xmlns:p14="http://schemas.microsoft.com/office/powerpoint/2010/main" val="3855322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3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Example: HYF – </a:t>
            </a:r>
            <a:r>
              <a:rPr lang="en-GB" sz="28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WaterML2</a:t>
            </a:r>
            <a:endParaRPr lang="en-GB" sz="18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pic>
        <p:nvPicPr>
          <p:cNvPr id="8" name="Picture 2" descr="http://www.hueseman-agrar.de/uploads/pics/baustelle_0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4787" y="2743200"/>
            <a:ext cx="809625" cy="732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feld 2"/>
          <p:cNvSpPr txBox="1"/>
          <p:nvPr/>
        </p:nvSpPr>
        <p:spPr>
          <a:xfrm>
            <a:off x="838200" y="1371600"/>
            <a:ext cx="731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>
                <a:solidFill>
                  <a:schemeClr val="tx2"/>
                </a:solidFill>
              </a:rPr>
              <a:t>r</a:t>
            </a:r>
            <a:r>
              <a:rPr lang="de-DE" sz="2400" dirty="0" err="1" smtClean="0">
                <a:solidFill>
                  <a:schemeClr val="tx2"/>
                </a:solidFill>
              </a:rPr>
              <a:t>elate</a:t>
            </a:r>
            <a:r>
              <a:rPr lang="de-DE" sz="2400" dirty="0" smtClean="0">
                <a:solidFill>
                  <a:schemeClr val="tx2"/>
                </a:solidFill>
              </a:rPr>
              <a:t> </a:t>
            </a:r>
            <a:r>
              <a:rPr lang="de-DE" sz="2400" dirty="0" err="1" smtClean="0">
                <a:solidFill>
                  <a:schemeClr val="tx2"/>
                </a:solidFill>
              </a:rPr>
              <a:t>monitoring</a:t>
            </a:r>
            <a:r>
              <a:rPr lang="de-DE" sz="2400" dirty="0" smtClean="0">
                <a:solidFill>
                  <a:schemeClr val="tx2"/>
                </a:solidFill>
              </a:rPr>
              <a:t> </a:t>
            </a:r>
            <a:r>
              <a:rPr lang="de-DE" sz="2400" dirty="0" err="1" smtClean="0">
                <a:solidFill>
                  <a:schemeClr val="tx2"/>
                </a:solidFill>
              </a:rPr>
              <a:t>point</a:t>
            </a:r>
            <a:r>
              <a:rPr lang="de-DE" sz="2400" smtClean="0">
                <a:solidFill>
                  <a:schemeClr val="tx2"/>
                </a:solidFill>
              </a:rPr>
              <a:t> / feature</a:t>
            </a:r>
            <a:r>
              <a:rPr lang="de-DE" sz="2400" dirty="0" smtClean="0">
                <a:solidFill>
                  <a:schemeClr val="tx2"/>
                </a:solidFill>
              </a:rPr>
              <a:t> </a:t>
            </a:r>
            <a:r>
              <a:rPr lang="de-DE" sz="2400" dirty="0" err="1" smtClean="0">
                <a:solidFill>
                  <a:schemeClr val="tx2"/>
                </a:solidFill>
              </a:rPr>
              <a:t>to</a:t>
            </a:r>
            <a:r>
              <a:rPr lang="de-DE" sz="2400" dirty="0" smtClean="0">
                <a:solidFill>
                  <a:schemeClr val="tx2"/>
                </a:solidFill>
              </a:rPr>
              <a:t> </a:t>
            </a:r>
            <a:r>
              <a:rPr lang="de-DE" sz="2400" dirty="0" err="1" smtClean="0">
                <a:solidFill>
                  <a:schemeClr val="tx2"/>
                </a:solidFill>
              </a:rPr>
              <a:t>the</a:t>
            </a:r>
            <a:r>
              <a:rPr lang="de-DE" sz="2400" dirty="0" smtClean="0">
                <a:solidFill>
                  <a:schemeClr val="tx2"/>
                </a:solidFill>
              </a:rPr>
              <a:t> </a:t>
            </a:r>
            <a:r>
              <a:rPr lang="de-DE" sz="2400" dirty="0" err="1" smtClean="0">
                <a:solidFill>
                  <a:schemeClr val="tx2"/>
                </a:solidFill>
              </a:rPr>
              <a:t>sampled</a:t>
            </a:r>
            <a:r>
              <a:rPr lang="de-DE" sz="2400" dirty="0" smtClean="0">
                <a:solidFill>
                  <a:schemeClr val="tx2"/>
                </a:solidFill>
              </a:rPr>
              <a:t> </a:t>
            </a:r>
            <a:r>
              <a:rPr lang="de-DE" sz="2400" dirty="0" err="1" smtClean="0">
                <a:solidFill>
                  <a:schemeClr val="tx2"/>
                </a:solidFill>
              </a:rPr>
              <a:t>feature</a:t>
            </a:r>
            <a:r>
              <a:rPr lang="de-DE" sz="2400" dirty="0" smtClean="0">
                <a:solidFill>
                  <a:schemeClr val="tx2"/>
                </a:solidFill>
              </a:rPr>
              <a:t>, e.g. </a:t>
            </a:r>
            <a:r>
              <a:rPr lang="de-DE" sz="2400" dirty="0" err="1" smtClean="0">
                <a:solidFill>
                  <a:schemeClr val="tx2"/>
                </a:solidFill>
              </a:rPr>
              <a:t>waterbody</a:t>
            </a:r>
            <a:r>
              <a:rPr lang="de-DE" sz="2400" dirty="0" smtClean="0">
                <a:solidFill>
                  <a:schemeClr val="tx2"/>
                </a:solidFill>
              </a:rPr>
              <a:t> </a:t>
            </a:r>
            <a:r>
              <a:rPr lang="de-DE" sz="2400" dirty="0" smtClean="0">
                <a:solidFill>
                  <a:schemeClr val="tx2"/>
                </a:solidFill>
                <a:sym typeface="Wingdings" panose="05000000000000000000" pitchFamily="2" charset="2"/>
              </a:rPr>
              <a:t> </a:t>
            </a:r>
            <a:r>
              <a:rPr lang="de-DE" sz="2400" dirty="0" err="1" smtClean="0">
                <a:solidFill>
                  <a:schemeClr val="tx2"/>
                </a:solidFill>
                <a:sym typeface="Wingdings" panose="05000000000000000000" pitchFamily="2" charset="2"/>
              </a:rPr>
              <a:t>basin</a:t>
            </a:r>
            <a:r>
              <a:rPr lang="de-DE" sz="2400" dirty="0" smtClean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de-DE" sz="2400" dirty="0" err="1" smtClean="0">
                <a:solidFill>
                  <a:schemeClr val="tx2"/>
                </a:solidFill>
                <a:sym typeface="Wingdings" panose="05000000000000000000" pitchFamily="2" charset="2"/>
              </a:rPr>
              <a:t>or</a:t>
            </a:r>
            <a:r>
              <a:rPr lang="de-DE" sz="2400" dirty="0" smtClean="0">
                <a:solidFill>
                  <a:schemeClr val="tx2"/>
                </a:solidFill>
                <a:sym typeface="Wingdings" panose="05000000000000000000" pitchFamily="2" charset="2"/>
              </a:rPr>
              <a:t> </a:t>
            </a:r>
            <a:r>
              <a:rPr lang="de-DE" sz="2400" dirty="0" err="1" smtClean="0">
                <a:solidFill>
                  <a:schemeClr val="tx2"/>
                </a:solidFill>
                <a:sym typeface="Wingdings" panose="05000000000000000000" pitchFamily="2" charset="2"/>
              </a:rPr>
              <a:t>catchment</a:t>
            </a:r>
            <a:endParaRPr lang="en-US" sz="2400" dirty="0" err="1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6529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3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Example: HYF – </a:t>
            </a:r>
            <a:r>
              <a:rPr lang="en-GB" sz="280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GWML2</a:t>
            </a:r>
            <a:endParaRPr lang="en-GB" sz="20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pic>
        <p:nvPicPr>
          <p:cNvPr id="6" name="Picture 2" descr="http://www.hueseman-agrar.de/uploads/pics/baustelle_0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4787" y="2743200"/>
            <a:ext cx="809625" cy="732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8395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838200" y="1247775"/>
            <a:ext cx="7772400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2000" b="0" dirty="0" smtClean="0">
                <a:solidFill>
                  <a:schemeClr val="tx2"/>
                </a:solidFill>
              </a:rPr>
              <a:t>Requirements </a:t>
            </a:r>
            <a:r>
              <a:rPr lang="en-GB" sz="2000" b="0" dirty="0" smtClean="0">
                <a:solidFill>
                  <a:schemeClr val="tx2"/>
                </a:solidFill>
              </a:rPr>
              <a:t>from </a:t>
            </a:r>
            <a:r>
              <a:rPr lang="en-GB" sz="2000" b="0" dirty="0">
                <a:solidFill>
                  <a:schemeClr val="tx2"/>
                </a:solidFill>
              </a:rPr>
              <a:t>a hydrologists view point 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GB" sz="2000" b="0" dirty="0" smtClean="0">
                <a:solidFill>
                  <a:schemeClr val="tx2"/>
                </a:solidFill>
              </a:rPr>
              <a:t>Requirements from an informatics perspective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GB" sz="2000" b="0" dirty="0" smtClean="0">
                <a:solidFill>
                  <a:schemeClr val="tx2"/>
                </a:solidFill>
              </a:rPr>
              <a:t>Conceptualise the mapping based real implementations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GB" sz="2000" b="0" dirty="0" smtClean="0">
                <a:solidFill>
                  <a:schemeClr val="tx2"/>
                </a:solidFill>
              </a:rPr>
              <a:t>Derive Stereotype mapping relationships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GB" sz="2000" b="0" dirty="0" smtClean="0">
                <a:solidFill>
                  <a:schemeClr val="tx2"/>
                </a:solidFill>
              </a:rPr>
              <a:t>adjustments to the conceptual model, e.g. relax cardinalities, maybe some renaming 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endParaRPr lang="en-GB" sz="2000" b="0" dirty="0" smtClean="0">
              <a:solidFill>
                <a:schemeClr val="tx2"/>
              </a:solidFill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endParaRPr lang="en-GB" sz="2000" b="0" dirty="0">
              <a:solidFill>
                <a:schemeClr val="tx2"/>
              </a:solidFill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GB" sz="2000" b="0" dirty="0" smtClean="0">
                <a:solidFill>
                  <a:schemeClr val="tx2"/>
                </a:solidFill>
              </a:rPr>
              <a:t>Aside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GB" sz="2000" b="0" dirty="0" smtClean="0">
                <a:solidFill>
                  <a:schemeClr val="tx2"/>
                </a:solidFill>
              </a:rPr>
              <a:t>Define a use case from the </a:t>
            </a:r>
            <a:r>
              <a:rPr lang="en-GB" sz="2000" b="0" dirty="0" err="1" smtClean="0">
                <a:solidFill>
                  <a:schemeClr val="tx2"/>
                </a:solidFill>
              </a:rPr>
              <a:t>watERP</a:t>
            </a:r>
            <a:r>
              <a:rPr lang="en-GB" sz="2000" b="0" dirty="0" smtClean="0">
                <a:solidFill>
                  <a:schemeClr val="tx2"/>
                </a:solidFill>
              </a:rPr>
              <a:t> scenario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GB" sz="2000" b="0" dirty="0" smtClean="0">
                <a:solidFill>
                  <a:schemeClr val="tx2"/>
                </a:solidFill>
              </a:rPr>
              <a:t>standardise the REST interface (easy convert from XML to JSON) </a:t>
            </a:r>
            <a:r>
              <a:rPr lang="en-GB" sz="2000" b="0" dirty="0" smtClean="0">
                <a:solidFill>
                  <a:schemeClr val="tx2"/>
                </a:solidFill>
                <a:sym typeface="Wingdings" panose="05000000000000000000" pitchFamily="2" charset="2"/>
              </a:rPr>
              <a:t> convention on this</a:t>
            </a:r>
            <a:endParaRPr lang="en-GB" sz="2000" b="0" dirty="0" smtClean="0">
              <a:solidFill>
                <a:schemeClr val="tx2"/>
              </a:solidFill>
            </a:endParaRP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GB" sz="2000" b="0" dirty="0" err="1" smtClean="0">
                <a:solidFill>
                  <a:schemeClr val="tx2"/>
                </a:solidFill>
              </a:rPr>
              <a:t>HY_Features</a:t>
            </a:r>
            <a:r>
              <a:rPr lang="en-GB" sz="2000" b="0" dirty="0" smtClean="0">
                <a:solidFill>
                  <a:schemeClr val="tx2"/>
                </a:solidFill>
              </a:rPr>
              <a:t> JSON encoding (part 4 of HYF)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4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 dirty="0" smtClean="0">
                <a:solidFill>
                  <a:schemeClr val="tx2"/>
                </a:solidFill>
              </a:rPr>
              <a:t>Discussion points</a:t>
            </a:r>
            <a:endParaRPr lang="en-GB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520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838200" y="1247775"/>
            <a:ext cx="777240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2000" b="0" u="sng" dirty="0" smtClean="0">
                <a:solidFill>
                  <a:schemeClr val="tx2"/>
                </a:solidFill>
              </a:rPr>
              <a:t>Requirements </a:t>
            </a:r>
            <a:r>
              <a:rPr lang="en-GB" sz="2000" b="0" u="sng" dirty="0" smtClean="0">
                <a:solidFill>
                  <a:schemeClr val="tx2"/>
                </a:solidFill>
              </a:rPr>
              <a:t>from </a:t>
            </a:r>
            <a:r>
              <a:rPr lang="en-GB" sz="2000" b="0" u="sng" dirty="0">
                <a:solidFill>
                  <a:schemeClr val="tx2"/>
                </a:solidFill>
              </a:rPr>
              <a:t>a hydrologists view point </a:t>
            </a:r>
            <a:r>
              <a:rPr lang="en-GB" sz="2000" b="0" u="sng" dirty="0" smtClean="0">
                <a:solidFill>
                  <a:schemeClr val="tx2"/>
                </a:solidFill>
              </a:rPr>
              <a:t>(to discuss)</a:t>
            </a: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800" b="0" dirty="0" smtClean="0">
                <a:solidFill>
                  <a:srgbClr val="092E5C"/>
                </a:solidFill>
              </a:rPr>
              <a:t>reflect the relationships between hydrologic features such as catchment and basin hierarchy, or linear stream network </a:t>
            </a: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800" b="0" dirty="0" err="1" smtClean="0">
                <a:solidFill>
                  <a:srgbClr val="092E5C"/>
                </a:solidFill>
              </a:rPr>
              <a:t>representedCatchment</a:t>
            </a:r>
            <a:endParaRPr lang="en-GB" sz="1800" b="0" dirty="0" smtClean="0">
              <a:solidFill>
                <a:srgbClr val="092E5C"/>
              </a:solidFill>
            </a:endParaRP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800" b="0" dirty="0" err="1" smtClean="0">
                <a:solidFill>
                  <a:srgbClr val="092E5C"/>
                </a:solidFill>
              </a:rPr>
              <a:t>contributingBasin</a:t>
            </a:r>
            <a:endParaRPr lang="en-GB" sz="1800" b="0" dirty="0" smtClean="0">
              <a:solidFill>
                <a:srgbClr val="092E5C"/>
              </a:solidFill>
            </a:endParaRP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Arial Black" panose="020B0A04020102020204" pitchFamily="34" charset="0"/>
              <a:buChar char="?"/>
            </a:pPr>
            <a:r>
              <a:rPr lang="en-GB" sz="1800" b="0" dirty="0" smtClean="0">
                <a:solidFill>
                  <a:schemeClr val="tx2"/>
                </a:solidFill>
              </a:rPr>
              <a:t>do we need reflect </a:t>
            </a:r>
            <a:r>
              <a:rPr lang="en-GB" sz="1800" b="0" dirty="0">
                <a:solidFill>
                  <a:schemeClr val="tx2"/>
                </a:solidFill>
              </a:rPr>
              <a:t>equivalence</a:t>
            </a:r>
            <a:r>
              <a:rPr lang="en-GB" sz="1800" b="0" dirty="0">
                <a:solidFill>
                  <a:srgbClr val="092E5C"/>
                </a:solidFill>
              </a:rPr>
              <a:t>, compatibility or typicality of the mapped </a:t>
            </a:r>
            <a:r>
              <a:rPr lang="en-GB" sz="1800" b="0" dirty="0" smtClean="0">
                <a:solidFill>
                  <a:srgbClr val="092E5C"/>
                </a:solidFill>
              </a:rPr>
              <a:t>concept </a:t>
            </a:r>
            <a:endParaRPr lang="en-GB" sz="1800" b="0" dirty="0">
              <a:solidFill>
                <a:srgbClr val="092E5C"/>
              </a:solidFill>
            </a:endParaRP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Arial Black" panose="020B0A04020102020204" pitchFamily="34" charset="0"/>
              <a:buChar char="?"/>
            </a:pPr>
            <a:r>
              <a:rPr lang="en-GB" sz="1800" b="0" dirty="0" smtClean="0">
                <a:solidFill>
                  <a:srgbClr val="092E5C"/>
                </a:solidFill>
              </a:rPr>
              <a:t>“</a:t>
            </a:r>
            <a:r>
              <a:rPr lang="en-GB" sz="1800" b="0" dirty="0" err="1" smtClean="0">
                <a:solidFill>
                  <a:srgbClr val="092E5C"/>
                </a:solidFill>
              </a:rPr>
              <a:t>sameAs</a:t>
            </a:r>
            <a:r>
              <a:rPr lang="en-GB" sz="1800" b="0" dirty="0" smtClean="0">
                <a:solidFill>
                  <a:srgbClr val="092E5C"/>
                </a:solidFill>
              </a:rPr>
              <a:t>” (same idea, same term) </a:t>
            </a:r>
            <a:endParaRPr lang="en-GB" sz="1800" b="0" dirty="0">
              <a:solidFill>
                <a:srgbClr val="092E5C"/>
              </a:solidFill>
            </a:endParaRP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Arial Black" panose="020B0A04020102020204" pitchFamily="34" charset="0"/>
              <a:buChar char="?"/>
            </a:pPr>
            <a:r>
              <a:rPr lang="en-GB" sz="1800" b="0" dirty="0" smtClean="0">
                <a:solidFill>
                  <a:srgbClr val="092E5C"/>
                </a:solidFill>
              </a:rPr>
              <a:t>“</a:t>
            </a:r>
            <a:r>
              <a:rPr lang="en-GB" sz="1800" b="0" dirty="0" err="1">
                <a:solidFill>
                  <a:srgbClr val="092E5C"/>
                </a:solidFill>
              </a:rPr>
              <a:t>similarTo</a:t>
            </a:r>
            <a:r>
              <a:rPr lang="en-GB" sz="1800" b="0" dirty="0">
                <a:solidFill>
                  <a:srgbClr val="092E5C"/>
                </a:solidFill>
              </a:rPr>
              <a:t>” </a:t>
            </a:r>
            <a:r>
              <a:rPr lang="en-GB" sz="1800" b="0" dirty="0" smtClean="0">
                <a:solidFill>
                  <a:srgbClr val="092E5C"/>
                </a:solidFill>
              </a:rPr>
              <a:t>(same idea, different term)</a:t>
            </a: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Arial Black" panose="020B0A04020102020204" pitchFamily="34" charset="0"/>
              <a:buChar char="?"/>
            </a:pPr>
            <a:r>
              <a:rPr lang="en-GB" sz="1800" b="0" dirty="0" smtClean="0">
                <a:solidFill>
                  <a:srgbClr val="092E5C"/>
                </a:solidFill>
              </a:rPr>
              <a:t>“typical” (same key properties, matching a type)</a:t>
            </a: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Arial Black" panose="020B0A04020102020204" pitchFamily="34" charset="0"/>
              <a:buChar char="?"/>
            </a:pPr>
            <a:r>
              <a:rPr lang="en-GB" sz="1800" b="0" dirty="0" smtClean="0">
                <a:solidFill>
                  <a:srgbClr val="092E5C"/>
                </a:solidFill>
              </a:rPr>
              <a:t>do we need adequacy of mapping in the given context (i.e. express how mapped attributes conforms to the reference): e.g. “exact”, “fundamental”</a:t>
            </a: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Arial Black" panose="020B0A04020102020204" pitchFamily="34" charset="0"/>
              <a:buChar char="?"/>
            </a:pPr>
            <a:r>
              <a:rPr lang="en-GB" sz="1800" b="0" dirty="0">
                <a:solidFill>
                  <a:srgbClr val="092E5C"/>
                </a:solidFill>
              </a:rPr>
              <a:t>d</a:t>
            </a:r>
            <a:r>
              <a:rPr lang="en-GB" sz="1800" b="0" dirty="0" smtClean="0">
                <a:solidFill>
                  <a:srgbClr val="092E5C"/>
                </a:solidFill>
              </a:rPr>
              <a:t>o we need reflect gaps detected in the target model </a:t>
            </a: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Arial Black" panose="020B0A04020102020204" pitchFamily="34" charset="0"/>
              <a:buChar char="?"/>
            </a:pPr>
            <a:r>
              <a:rPr lang="en-GB" sz="1800" b="0" dirty="0">
                <a:solidFill>
                  <a:srgbClr val="092E5C"/>
                </a:solidFill>
              </a:rPr>
              <a:t>h</a:t>
            </a:r>
            <a:r>
              <a:rPr lang="en-GB" sz="1800" b="0" dirty="0" smtClean="0">
                <a:solidFill>
                  <a:srgbClr val="092E5C"/>
                </a:solidFill>
              </a:rPr>
              <a:t>ow to communicate / share </a:t>
            </a:r>
            <a:r>
              <a:rPr lang="en-GB" sz="1800" b="0" dirty="0">
                <a:solidFill>
                  <a:srgbClr val="092E5C"/>
                </a:solidFill>
              </a:rPr>
              <a:t>mappings across </a:t>
            </a:r>
            <a:r>
              <a:rPr lang="en-GB" sz="1800" b="0" dirty="0" smtClean="0">
                <a:solidFill>
                  <a:srgbClr val="092E5C"/>
                </a:solidFill>
              </a:rPr>
              <a:t>systems</a:t>
            </a:r>
            <a:endParaRPr lang="en-GB" sz="1800" b="0" dirty="0">
              <a:solidFill>
                <a:srgbClr val="092E5C"/>
              </a:solidFill>
            </a:endParaRP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Arial Black" panose="020B0A04020102020204" pitchFamily="34" charset="0"/>
              <a:buChar char="?"/>
            </a:pPr>
            <a:r>
              <a:rPr lang="en-GB" sz="1800" b="0" dirty="0" smtClean="0">
                <a:solidFill>
                  <a:srgbClr val="092E5C"/>
                </a:solidFill>
              </a:rPr>
              <a:t>Others </a:t>
            </a:r>
            <a:endParaRPr lang="en-GB" sz="1800" b="0" dirty="0">
              <a:solidFill>
                <a:srgbClr val="092E5C"/>
              </a:solidFill>
            </a:endParaRP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GB" sz="1800" b="0" dirty="0" smtClean="0">
              <a:solidFill>
                <a:srgbClr val="092E5C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4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 dirty="0" smtClean="0">
                <a:solidFill>
                  <a:schemeClr val="tx2"/>
                </a:solidFill>
              </a:rPr>
              <a:t>Conceptualise mapping</a:t>
            </a:r>
            <a:endParaRPr lang="en-GB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6933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/>
          <p:nvPr/>
        </p:nvSpPr>
        <p:spPr>
          <a:xfrm>
            <a:off x="838200" y="1244466"/>
            <a:ext cx="7620000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2000" b="0" u="sng" dirty="0" smtClean="0">
                <a:solidFill>
                  <a:schemeClr val="tx2"/>
                </a:solidFill>
              </a:rPr>
              <a:t>Requirements </a:t>
            </a:r>
            <a:r>
              <a:rPr lang="en-GB" sz="2000" b="0" u="sng" dirty="0">
                <a:solidFill>
                  <a:schemeClr val="tx2"/>
                </a:solidFill>
              </a:rPr>
              <a:t>from </a:t>
            </a:r>
            <a:r>
              <a:rPr lang="en-GB" sz="2000" b="0" u="sng" dirty="0" smtClean="0">
                <a:solidFill>
                  <a:schemeClr val="tx2"/>
                </a:solidFill>
              </a:rPr>
              <a:t>an informatics </a:t>
            </a:r>
            <a:r>
              <a:rPr lang="en-GB" sz="2000" b="0" u="sng" dirty="0">
                <a:solidFill>
                  <a:schemeClr val="tx2"/>
                </a:solidFill>
              </a:rPr>
              <a:t>perspective </a:t>
            </a:r>
            <a:r>
              <a:rPr lang="en-GB" sz="2000" b="0" u="sng" dirty="0" smtClean="0">
                <a:solidFill>
                  <a:schemeClr val="tx2"/>
                </a:solidFill>
              </a:rPr>
              <a:t>(to discuss)</a:t>
            </a:r>
          </a:p>
          <a:p>
            <a:pPr marL="285750" indent="-28575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800" b="0" dirty="0" smtClean="0">
                <a:solidFill>
                  <a:srgbClr val="092E5C"/>
                </a:solidFill>
              </a:rPr>
              <a:t>syntax to bind typical geospatial data to the realised concept </a:t>
            </a:r>
          </a:p>
          <a:p>
            <a:pPr marL="285750" indent="-28575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800" b="0" dirty="0" smtClean="0">
                <a:solidFill>
                  <a:srgbClr val="092E5C"/>
                </a:solidFill>
              </a:rPr>
              <a:t>syntax </a:t>
            </a:r>
            <a:r>
              <a:rPr lang="en-GB" sz="1800" b="0" dirty="0">
                <a:solidFill>
                  <a:srgbClr val="092E5C"/>
                </a:solidFill>
              </a:rPr>
              <a:t>to support a “concept-aware discovery” </a:t>
            </a:r>
            <a:r>
              <a:rPr lang="en-GB" sz="1800" b="0" dirty="0">
                <a:solidFill>
                  <a:schemeClr val="tx2"/>
                </a:solidFill>
              </a:rPr>
              <a:t>of geospatial </a:t>
            </a:r>
            <a:r>
              <a:rPr lang="en-GB" sz="1800" b="0" dirty="0" smtClean="0">
                <a:solidFill>
                  <a:schemeClr val="tx2"/>
                </a:solidFill>
              </a:rPr>
              <a:t>data, </a:t>
            </a:r>
          </a:p>
          <a:p>
            <a:pPr marL="742950" lvl="1" indent="-28575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800" b="0" dirty="0">
                <a:solidFill>
                  <a:schemeClr val="tx2"/>
                </a:solidFill>
              </a:rPr>
              <a:t>f</a:t>
            </a:r>
            <a:r>
              <a:rPr lang="en-GB" sz="1800" b="0" dirty="0" smtClean="0">
                <a:solidFill>
                  <a:schemeClr val="tx2"/>
                </a:solidFill>
              </a:rPr>
              <a:t>ind data that represent the same catchment across representations</a:t>
            </a:r>
          </a:p>
          <a:p>
            <a:pPr marL="285750" indent="-28575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800" b="0" dirty="0" smtClean="0">
                <a:solidFill>
                  <a:srgbClr val="092E5C"/>
                </a:solidFill>
              </a:rPr>
              <a:t>store </a:t>
            </a:r>
            <a:r>
              <a:rPr lang="en-GB" sz="1800" b="0" dirty="0">
                <a:solidFill>
                  <a:srgbClr val="092E5C"/>
                </a:solidFill>
              </a:rPr>
              <a:t>mapping </a:t>
            </a:r>
            <a:r>
              <a:rPr lang="en-GB" sz="1800" b="0" dirty="0" smtClean="0">
                <a:solidFill>
                  <a:srgbClr val="092E5C"/>
                </a:solidFill>
              </a:rPr>
              <a:t>relationships </a:t>
            </a:r>
            <a:endParaRPr lang="en-GB" sz="1800" b="0" dirty="0">
              <a:solidFill>
                <a:srgbClr val="092E5C"/>
              </a:solidFill>
            </a:endParaRPr>
          </a:p>
          <a:p>
            <a:pPr marL="285750" indent="-28575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800" b="0" dirty="0">
                <a:solidFill>
                  <a:srgbClr val="092E5C"/>
                </a:solidFill>
              </a:rPr>
              <a:t>syntax to </a:t>
            </a:r>
            <a:r>
              <a:rPr lang="en-GB" sz="1800" b="0" dirty="0" smtClean="0">
                <a:solidFill>
                  <a:srgbClr val="092E5C"/>
                </a:solidFill>
              </a:rPr>
              <a:t>resolve the </a:t>
            </a:r>
            <a:r>
              <a:rPr lang="en-GB" sz="1800" b="0" dirty="0">
                <a:solidFill>
                  <a:srgbClr val="092E5C"/>
                </a:solidFill>
              </a:rPr>
              <a:t>mapping </a:t>
            </a:r>
            <a:r>
              <a:rPr lang="en-GB" sz="1800" b="0" dirty="0" smtClean="0">
                <a:solidFill>
                  <a:srgbClr val="092E5C"/>
                </a:solidFill>
              </a:rPr>
              <a:t>relationships</a:t>
            </a:r>
          </a:p>
          <a:p>
            <a:pPr marL="285750" indent="-285750">
              <a:spcBef>
                <a:spcPts val="600"/>
              </a:spcBef>
              <a:spcAft>
                <a:spcPts val="0"/>
              </a:spcAft>
              <a:buFont typeface="Arial Black" panose="020B0A04020102020204" pitchFamily="34" charset="0"/>
              <a:buChar char="?"/>
            </a:pPr>
            <a:endParaRPr lang="en-GB" sz="1800" b="0" dirty="0" smtClean="0">
              <a:solidFill>
                <a:srgbClr val="092E5C"/>
              </a:solidFill>
            </a:endParaRPr>
          </a:p>
          <a:p>
            <a:pPr marL="285750" indent="-285750">
              <a:spcBef>
                <a:spcPts val="600"/>
              </a:spcBef>
              <a:spcAft>
                <a:spcPts val="0"/>
              </a:spcAft>
              <a:buFont typeface="Arial Black" panose="020B0A04020102020204" pitchFamily="34" charset="0"/>
              <a:buChar char="?"/>
            </a:pPr>
            <a:r>
              <a:rPr lang="en-GB" sz="1800" b="0" dirty="0" smtClean="0">
                <a:solidFill>
                  <a:srgbClr val="092E5C"/>
                </a:solidFill>
              </a:rPr>
              <a:t>Others </a:t>
            </a:r>
            <a:endParaRPr lang="en-GB" sz="1800" b="0" dirty="0">
              <a:solidFill>
                <a:srgbClr val="092E5C"/>
              </a:solidFill>
            </a:endParaRPr>
          </a:p>
          <a:p>
            <a:pPr marL="285750" indent="-28575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sz="1800" b="0" dirty="0">
              <a:solidFill>
                <a:srgbClr val="092E5C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4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>
                <a:solidFill>
                  <a:schemeClr val="tx2"/>
                </a:solidFill>
              </a:rPr>
              <a:t>Conceptualise mapping</a:t>
            </a:r>
            <a:endParaRPr lang="en-GB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91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81000" y="2057400"/>
            <a:ext cx="8683625" cy="685800"/>
          </a:xfrm>
        </p:spPr>
        <p:txBody>
          <a:bodyPr/>
          <a:lstStyle/>
          <a:p>
            <a:r>
              <a:rPr lang="en-US" dirty="0" smtClean="0"/>
              <a:t>Thank you </a:t>
            </a:r>
            <a:r>
              <a:rPr lang="en-US" smtClean="0"/>
              <a:t>!   </a:t>
            </a:r>
            <a:endParaRPr lang="en-GB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838200" y="4343400"/>
            <a:ext cx="73914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33363" indent="-2333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defRPr>
            </a:lvl1pPr>
            <a:lvl2pPr marL="569913" indent="-2222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9128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12557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15986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20558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+mn-lt"/>
              </a:defRPr>
            </a:lvl6pPr>
            <a:lvl7pPr marL="25130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+mn-lt"/>
              </a:defRPr>
            </a:lvl7pPr>
            <a:lvl8pPr marL="29702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+mn-lt"/>
              </a:defRPr>
            </a:lvl8pPr>
            <a:lvl9pPr marL="34274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endParaRPr lang="en-US" altLang="en-US" sz="2000" b="0" kern="0" dirty="0" smtClean="0">
              <a:cs typeface="Arial" pitchFamily="34" charset="0"/>
            </a:endParaRPr>
          </a:p>
          <a:p>
            <a:pPr marL="0" indent="0" algn="ctr">
              <a:buNone/>
            </a:pPr>
            <a:endParaRPr lang="en-US" altLang="en-US" sz="2000" b="0" kern="0" dirty="0">
              <a:cs typeface="Arial" pitchFamily="34" charset="0"/>
            </a:endParaRPr>
          </a:p>
          <a:p>
            <a:pPr marL="0" indent="0" algn="ctr">
              <a:buNone/>
            </a:pPr>
            <a:endParaRPr lang="en-US" altLang="en-US" sz="2000" b="0" kern="0" dirty="0" smtClean="0">
              <a:cs typeface="Arial" pitchFamily="34" charset="0"/>
            </a:endParaRPr>
          </a:p>
          <a:p>
            <a:pPr marL="0" indent="0" algn="ctr">
              <a:buNone/>
            </a:pPr>
            <a:endParaRPr lang="en-US" altLang="en-US" sz="2000" b="0" kern="0" dirty="0" smtClean="0">
              <a:cs typeface="Arial" pitchFamily="34" charset="0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371600" y="4038600"/>
            <a:ext cx="6400800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233363" indent="-2333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defRPr>
            </a:lvl1pPr>
            <a:lvl2pPr marL="569913" indent="-2222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9128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12557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15986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20558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+mn-lt"/>
              </a:defRPr>
            </a:lvl6pPr>
            <a:lvl7pPr marL="25130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+mn-lt"/>
              </a:defRPr>
            </a:lvl7pPr>
            <a:lvl8pPr marL="29702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+mn-lt"/>
              </a:defRPr>
            </a:lvl8pPr>
            <a:lvl9pPr marL="34274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en-US" altLang="en-US" sz="2000" b="0">
                <a:cs typeface="Arial" pitchFamily="34" charset="0"/>
              </a:rPr>
              <a:t>6</a:t>
            </a:r>
            <a:r>
              <a:rPr lang="en-US" altLang="en-US" sz="2000" b="0" baseline="30000">
                <a:cs typeface="Arial" pitchFamily="34" charset="0"/>
              </a:rPr>
              <a:t>th</a:t>
            </a:r>
            <a:r>
              <a:rPr lang="en-US" altLang="en-US" sz="2000" b="0">
                <a:cs typeface="Arial" pitchFamily="34" charset="0"/>
              </a:rPr>
              <a:t>, WMO/OGC Hydrology DWG</a:t>
            </a:r>
          </a:p>
          <a:p>
            <a:pPr marL="0" indent="0" algn="ctr">
              <a:buNone/>
            </a:pPr>
            <a:r>
              <a:rPr lang="en-US" altLang="en-US" sz="2000" b="0">
                <a:cs typeface="Arial" pitchFamily="34" charset="0"/>
              </a:rPr>
              <a:t> Orleans, BRGM, September 21 – 23, 2015</a:t>
            </a:r>
          </a:p>
          <a:p>
            <a:pPr marL="0" indent="0" algn="ctr">
              <a:spcBef>
                <a:spcPct val="0"/>
              </a:spcBef>
              <a:buNone/>
            </a:pPr>
            <a:endParaRPr lang="en-US" altLang="en-US" sz="2000" b="0">
              <a:cs typeface="Arial" pitchFamily="34" charset="0"/>
            </a:endParaRPr>
          </a:p>
          <a:p>
            <a:pPr marL="0" indent="0" algn="ctr">
              <a:spcBef>
                <a:spcPct val="0"/>
              </a:spcBef>
              <a:buNone/>
            </a:pPr>
            <a:r>
              <a:rPr lang="en-US" altLang="en-US" sz="2000" b="0">
                <a:cs typeface="Arial" pitchFamily="34" charset="0"/>
              </a:rPr>
              <a:t>Irina Dornblut, GRDC of WMO at BfG</a:t>
            </a:r>
          </a:p>
          <a:p>
            <a:pPr marL="0" indent="0" algn="ctr">
              <a:spcBef>
                <a:spcPct val="0"/>
              </a:spcBef>
              <a:buNone/>
            </a:pPr>
            <a:r>
              <a:rPr lang="en-US" altLang="en-US" sz="2000" b="0">
                <a:cs typeface="Arial" pitchFamily="34" charset="0"/>
              </a:rPr>
              <a:t>Rob Atkinson, Metalinkage </a:t>
            </a:r>
            <a:endParaRPr lang="en-US" altLang="en-US" sz="2000" b="0"/>
          </a:p>
          <a:p>
            <a:pPr marL="0" indent="0" algn="ctr">
              <a:spcBef>
                <a:spcPct val="0"/>
              </a:spcBef>
              <a:buNone/>
            </a:pPr>
            <a:endParaRPr lang="en-US" altLang="en-US" sz="2000" b="0" kern="0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  <p:sp>
        <p:nvSpPr>
          <p:cNvPr id="9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>
                <a:solidFill>
                  <a:srgbClr val="092E5C"/>
                </a:solidFill>
              </a:rPr>
              <a:t>6</a:t>
            </a:r>
            <a:r>
              <a:rPr lang="en-GB" altLang="en-US" sz="900" smtClean="0">
                <a:solidFill>
                  <a:srgbClr val="092E5C"/>
                </a:solidFill>
              </a:rPr>
              <a:t>th, Workshop of OGC Hydro DWG, Orleans,  BRGM, 21-23 Sep 2015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7858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GC_PowerPoint_Template">
  <a:themeElements>
    <a:clrScheme name="">
      <a:dk1>
        <a:srgbClr val="000000"/>
      </a:dk1>
      <a:lt1>
        <a:srgbClr val="FFFFCC"/>
      </a:lt1>
      <a:dk2>
        <a:srgbClr val="092E5C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2384</Words>
  <Application>Microsoft Office PowerPoint</Application>
  <PresentationFormat>Bildschirmpräsentation (4:3)</PresentationFormat>
  <Paragraphs>586</Paragraphs>
  <Slides>46</Slides>
  <Notes>42</Notes>
  <HiddenSlides>3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46</vt:i4>
      </vt:variant>
    </vt:vector>
  </HeadingPairs>
  <TitlesOfParts>
    <vt:vector size="47" baseType="lpstr">
      <vt:lpstr>OGC_PowerPoint_Template</vt:lpstr>
      <vt:lpstr>Standard representation of hydrologic features The OGC HY_Features model in support  of geographic water information </vt:lpstr>
      <vt:lpstr>Standard representation and encoding of hydrologic features The OGC HY_Features model in support  of geographic water information</vt:lpstr>
      <vt:lpstr>PowerPoint-Präsentation</vt:lpstr>
      <vt:lpstr>PowerPoint-Präsentation</vt:lpstr>
      <vt:lpstr>Link data via common concepts</vt:lpstr>
      <vt:lpstr>Make common concepts accessible !</vt:lpstr>
      <vt:lpstr>The OGC HY_Features model in support  of geographic water information</vt:lpstr>
      <vt:lpstr>Same challenge !! 2014, OWS-10 CCI Hydro thread</vt:lpstr>
      <vt:lpstr>Same challenge !! 2014, OWS-10 CCI Hydro thread</vt:lpstr>
      <vt:lpstr>Same challenge !! CSIRO SIRF project </vt:lpstr>
      <vt:lpstr>Same challenge !!  New chance !!</vt:lpstr>
      <vt:lpstr>Same challenge !!  New chance: NFIE ?</vt:lpstr>
      <vt:lpstr>Same challenge !! Mapping of concepts !! </vt:lpstr>
      <vt:lpstr>N x N Mappings</vt:lpstr>
      <vt:lpstr>Versus  N Mappings</vt:lpstr>
      <vt:lpstr>Mapping to a common reference model</vt:lpstr>
      <vt:lpstr>Background: HY_Features – Basic concepts, 1(3)</vt:lpstr>
      <vt:lpstr>Background: HY_Features – Basic concepts, 2(3)</vt:lpstr>
      <vt:lpstr>Background: HY_Features – Basic concepts, 3(3)</vt:lpstr>
      <vt:lpstr>Mapping to a common domain model</vt:lpstr>
      <vt:lpstr>PowerPoint-Präsentation</vt:lpstr>
      <vt:lpstr>Example: INSPIRE Watercourse (alternative views) </vt:lpstr>
      <vt:lpstr>Example: INSPIRE Watercourse (alternative views) </vt:lpstr>
      <vt:lpstr>Example: INSPIRE Watercourse (alternative views) </vt:lpstr>
      <vt:lpstr>Example: INSPIRE Watercourse (alternative views) </vt:lpstr>
      <vt:lpstr>Example: INSPIRE Watercourse (alternative views) </vt:lpstr>
      <vt:lpstr>Example: NHD+, flowline and catchment</vt:lpstr>
      <vt:lpstr>Example: NHD+, flowline and catchment</vt:lpstr>
      <vt:lpstr>Example: NHD+, flowline and catchment</vt:lpstr>
      <vt:lpstr>Example: NHD+, flowline and catchment</vt:lpstr>
      <vt:lpstr>Example: NFIE, NHDFlowline realises Flowpath</vt:lpstr>
      <vt:lpstr>Example: NFIE, NHDFlowline realises Flowpath</vt:lpstr>
      <vt:lpstr>Example: NFIE, NHDFlowline realises Flowpath</vt:lpstr>
      <vt:lpstr>Example: NFIE, NHDFlowline realises Flowpath</vt:lpstr>
      <vt:lpstr>Example: HYF – NHD+ (parts of, 2nd, SIRF)</vt:lpstr>
      <vt:lpstr>Example: HYF – NFIE (parts of, 1st, SIRF) </vt:lpstr>
      <vt:lpstr>Example: HYF – NFIE (parts of, 1st, SIRF) </vt:lpstr>
      <vt:lpstr>Example: HYF – NFIE (1st, SIRF)</vt:lpstr>
      <vt:lpstr>Example: HYF – NFIE (1st, SIRF)</vt:lpstr>
      <vt:lpstr>Example: HYF – AHGF (2014, Rob Atkinson)</vt:lpstr>
      <vt:lpstr>Example: HYF – WaterML2</vt:lpstr>
      <vt:lpstr>Example: HYF – GWML2</vt:lpstr>
      <vt:lpstr>Discussion points</vt:lpstr>
      <vt:lpstr>Conceptualise mapping</vt:lpstr>
      <vt:lpstr>Conceptualise mapping</vt:lpstr>
      <vt:lpstr>Thank you !   </vt:lpstr>
    </vt:vector>
  </TitlesOfParts>
  <Company>OGC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OGC TC/PC</dc:subject>
  <dc:creator>GRDC/ID</dc:creator>
  <cp:lastModifiedBy>iche</cp:lastModifiedBy>
  <cp:revision>1121</cp:revision>
  <cp:lastPrinted>2014-07-31T11:45:23Z</cp:lastPrinted>
  <dcterms:created xsi:type="dcterms:W3CDTF">2009-10-20T16:54:31Z</dcterms:created>
  <dcterms:modified xsi:type="dcterms:W3CDTF">2015-09-22T07:38:13Z</dcterms:modified>
</cp:coreProperties>
</file>