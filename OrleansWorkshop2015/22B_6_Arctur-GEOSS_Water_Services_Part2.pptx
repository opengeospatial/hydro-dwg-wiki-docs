
<file path=[Content_Types].xml><?xml version="1.0" encoding="utf-8"?>
<Types xmlns="http://schemas.openxmlformats.org/package/2006/content-types">
  <Default Extension="xml" ContentType="application/xml"/>
  <Default Extension="jpeg" ContentType="image/jpeg"/>
  <Default Extension="jpg" ContentType="image/jpeg"/>
  <Default Extension="rels" ContentType="application/vnd.openxmlformats-package.relationships+xml"/>
  <Default Extension="wdp" ContentType="image/vnd.ms-photo"/>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958" r:id="rId1"/>
  </p:sldMasterIdLst>
  <p:notesMasterIdLst>
    <p:notesMasterId r:id="rId24"/>
  </p:notesMasterIdLst>
  <p:handoutMasterIdLst>
    <p:handoutMasterId r:id="rId25"/>
  </p:handoutMasterIdLst>
  <p:sldIdLst>
    <p:sldId id="271" r:id="rId2"/>
    <p:sldId id="272" r:id="rId3"/>
    <p:sldId id="273" r:id="rId4"/>
    <p:sldId id="274" r:id="rId5"/>
    <p:sldId id="275" r:id="rId6"/>
    <p:sldId id="276" r:id="rId7"/>
    <p:sldId id="277" r:id="rId8"/>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1pPr>
    <a:lvl2pPr marL="4572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2pPr>
    <a:lvl3pPr marL="9144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3pPr>
    <a:lvl4pPr marL="13716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4pPr>
    <a:lvl5pPr marL="18288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5pPr>
    <a:lvl6pPr marL="2286000" algn="l" defTabSz="457200" rtl="0" eaLnBrk="1" latinLnBrk="0" hangingPunct="1">
      <a:defRPr kern="1200">
        <a:solidFill>
          <a:schemeClr val="tx1"/>
        </a:solidFill>
        <a:latin typeface="Times" charset="0"/>
        <a:ea typeface="ＭＳ Ｐゴシック" charset="0"/>
        <a:cs typeface="ＭＳ Ｐゴシック" charset="0"/>
      </a:defRPr>
    </a:lvl6pPr>
    <a:lvl7pPr marL="2743200" algn="l" defTabSz="457200" rtl="0" eaLnBrk="1" latinLnBrk="0" hangingPunct="1">
      <a:defRPr kern="1200">
        <a:solidFill>
          <a:schemeClr val="tx1"/>
        </a:solidFill>
        <a:latin typeface="Times" charset="0"/>
        <a:ea typeface="ＭＳ Ｐゴシック" charset="0"/>
        <a:cs typeface="ＭＳ Ｐゴシック" charset="0"/>
      </a:defRPr>
    </a:lvl7pPr>
    <a:lvl8pPr marL="3200400" algn="l" defTabSz="457200" rtl="0" eaLnBrk="1" latinLnBrk="0" hangingPunct="1">
      <a:defRPr kern="1200">
        <a:solidFill>
          <a:schemeClr val="tx1"/>
        </a:solidFill>
        <a:latin typeface="Times" charset="0"/>
        <a:ea typeface="ＭＳ Ｐゴシック" charset="0"/>
        <a:cs typeface="ＭＳ Ｐゴシック" charset="0"/>
      </a:defRPr>
    </a:lvl8pPr>
    <a:lvl9pPr marL="3657600" algn="l" defTabSz="457200" rtl="0" eaLnBrk="1" latinLnBrk="0" hangingPunct="1">
      <a:defRPr kern="1200">
        <a:solidFill>
          <a:schemeClr val="tx1"/>
        </a:solidFill>
        <a:latin typeface="Times"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89095A0C-4CA0-694D-895D-7C5BD7A30EF1}">
          <p14:sldIdLst>
            <p14:sldId id="271"/>
            <p14:sldId id="272"/>
            <p14:sldId id="273"/>
            <p14:sldId id="274"/>
            <p14:sldId id="275"/>
            <p14:sldId id="276"/>
            <p14:sldId id="277"/>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AEC4"/>
    <a:srgbClr val="012064"/>
    <a:srgbClr val="004270"/>
    <a:srgbClr val="004290"/>
    <a:srgbClr val="006BB0"/>
    <a:srgbClr val="5C82FF"/>
    <a:srgbClr val="0066CC"/>
    <a:srgbClr val="80FF00"/>
    <a:srgbClr val="66FF66"/>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31" autoAdjust="0"/>
    <p:restoredTop sz="89254" autoAdjust="0"/>
  </p:normalViewPr>
  <p:slideViewPr>
    <p:cSldViewPr snapToGrid="0">
      <p:cViewPr varScale="1">
        <p:scale>
          <a:sx n="85" d="100"/>
          <a:sy n="85" d="100"/>
        </p:scale>
        <p:origin x="151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4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6844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6844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6844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ADCBD70-214D-4845-9871-820524C873CF}" type="slidenum">
              <a:rPr lang="en-US"/>
              <a:pPr>
                <a:defRPr/>
              </a:pPr>
              <a:t>‹#›</a:t>
            </a:fld>
            <a:endParaRPr lang="en-US"/>
          </a:p>
        </p:txBody>
      </p:sp>
    </p:spTree>
    <p:extLst>
      <p:ext uri="{BB962C8B-B14F-4D97-AF65-F5344CB8AC3E}">
        <p14:creationId xmlns:p14="http://schemas.microsoft.com/office/powerpoint/2010/main" val="28330289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C8F0B9F-261A-A14A-948B-3040BF655A03}" type="slidenum">
              <a:rPr lang="en-US"/>
              <a:pPr>
                <a:defRPr/>
              </a:pPr>
              <a:t>‹#›</a:t>
            </a:fld>
            <a:endParaRPr lang="en-US"/>
          </a:p>
        </p:txBody>
      </p:sp>
    </p:spTree>
    <p:extLst>
      <p:ext uri="{BB962C8B-B14F-4D97-AF65-F5344CB8AC3E}">
        <p14:creationId xmlns:p14="http://schemas.microsoft.com/office/powerpoint/2010/main" val="2084101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2"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We had a large team with over 20 participating organizations this year, including government and academic research centers, regional to national water data managers, and commercial and open-source software developers. We have a wide range of skills from hydrology and hydraulics science, to GIS and information technologies.  </a:t>
            </a:r>
          </a:p>
          <a:p>
            <a:endParaRPr lang="en-US" dirty="0" smtClean="0"/>
          </a:p>
          <a:p>
            <a:r>
              <a:rPr lang="en-US" dirty="0" smtClean="0"/>
              <a:t>-------------------------- following is in case of q’s: </a:t>
            </a:r>
          </a:p>
          <a:p>
            <a:r>
              <a:rPr lang="en-US" dirty="0" smtClean="0"/>
              <a:t>The </a:t>
            </a:r>
            <a:r>
              <a:rPr lang="en-US" b="1" dirty="0" smtClean="0"/>
              <a:t>University of Texas at Austin </a:t>
            </a:r>
            <a:r>
              <a:rPr lang="en-US" dirty="0" smtClean="0"/>
              <a:t>provided overall leadership. </a:t>
            </a:r>
          </a:p>
          <a:p>
            <a:r>
              <a:rPr lang="en-US" b="1" dirty="0" smtClean="0"/>
              <a:t>CUAHSI</a:t>
            </a:r>
            <a:r>
              <a:rPr lang="en-US" dirty="0" smtClean="0"/>
              <a:t>, the Consortium of Universities</a:t>
            </a:r>
            <a:r>
              <a:rPr lang="en-US" baseline="0" dirty="0" smtClean="0"/>
              <a:t> for the Advancement of Hydrologic Science, provided core expertise for WaterML data and catalogue services.   &lt;click&gt;</a:t>
            </a:r>
            <a:endParaRPr lang="en-US" dirty="0" smtClean="0"/>
          </a:p>
          <a:p>
            <a:r>
              <a:rPr lang="en-US" b="1" dirty="0" smtClean="0"/>
              <a:t>Brigham</a:t>
            </a:r>
            <a:r>
              <a:rPr lang="en-US" b="1" baseline="0" dirty="0" smtClean="0"/>
              <a:t> Young University </a:t>
            </a:r>
            <a:r>
              <a:rPr lang="en-US" baseline="0" dirty="0" smtClean="0"/>
              <a:t>conducted software development and outreach to Latin American countries. &lt;click&gt;</a:t>
            </a:r>
          </a:p>
          <a:p>
            <a:r>
              <a:rPr lang="en-US" b="1" baseline="0" dirty="0" smtClean="0"/>
              <a:t>GIS.FCU </a:t>
            </a:r>
            <a:r>
              <a:rPr lang="en-US" baseline="0" dirty="0" smtClean="0"/>
              <a:t>is the GIS Research Center at </a:t>
            </a:r>
            <a:r>
              <a:rPr lang="en-US" baseline="0" dirty="0" err="1" smtClean="0"/>
              <a:t>Feng</a:t>
            </a:r>
            <a:r>
              <a:rPr lang="en-US" baseline="0" dirty="0" smtClean="0"/>
              <a:t> Chia University in Taiwan.</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NIWA</a:t>
            </a:r>
            <a:r>
              <a:rPr lang="en-US" baseline="0" dirty="0" smtClean="0"/>
              <a:t> is the national water agency for New Zealand, and </a:t>
            </a:r>
            <a:r>
              <a:rPr lang="en-US" b="1" baseline="0" dirty="0" smtClean="0"/>
              <a:t>Horizons Regional Council </a:t>
            </a:r>
            <a:r>
              <a:rPr lang="en-US" baseline="0" dirty="0" smtClean="0"/>
              <a:t>one of 16 regional data providers.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a:t>
            </a:r>
            <a:r>
              <a:rPr lang="en-US" b="1" baseline="0" dirty="0" smtClean="0"/>
              <a:t>European Center for Medium-range Weather Forecasting </a:t>
            </a:r>
            <a:r>
              <a:rPr lang="en-US" baseline="0" dirty="0" smtClean="0"/>
              <a:t>and the </a:t>
            </a:r>
            <a:r>
              <a:rPr lang="en-US" b="1" baseline="0" dirty="0" smtClean="0"/>
              <a:t>Joint Research Centre </a:t>
            </a:r>
            <a:r>
              <a:rPr lang="en-US" baseline="0" dirty="0" smtClean="0"/>
              <a:t>are developers of the </a:t>
            </a:r>
            <a:r>
              <a:rPr lang="en-US" b="1" baseline="0" dirty="0" smtClean="0"/>
              <a:t>Global Flood Awareness System (GloFAS)</a:t>
            </a:r>
            <a:r>
              <a:rPr lang="en-US" baseline="0" dirty="0" smtClean="0"/>
              <a:t>.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a:t>
            </a:r>
            <a:r>
              <a:rPr lang="en-US" b="1" baseline="0" dirty="0" smtClean="0"/>
              <a:t>NASA Hydrological Sciences </a:t>
            </a:r>
            <a:r>
              <a:rPr lang="en-US" baseline="0" dirty="0" smtClean="0"/>
              <a:t>division are providers of global soil moisture, runoff, evapotranspiration, and other data from the </a:t>
            </a:r>
            <a:r>
              <a:rPr lang="en-US" b="1" baseline="0" dirty="0" smtClean="0"/>
              <a:t>Land Data Assimilation System</a:t>
            </a:r>
            <a:r>
              <a:rPr lang="en-US" baseline="0" dirty="0" smtClean="0"/>
              <a:t>.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CNR-IIA </a:t>
            </a:r>
            <a:r>
              <a:rPr lang="en-US" baseline="0" dirty="0" smtClean="0"/>
              <a:t>is the Institute for Atmospheric Pollution Research of the Italian Research Council, and developers of the </a:t>
            </a:r>
            <a:r>
              <a:rPr lang="en-US" b="1" baseline="0" dirty="0" smtClean="0"/>
              <a:t>GEOSS Discovery and Access Broker framework </a:t>
            </a:r>
            <a:r>
              <a:rPr lang="en-US" baseline="0" dirty="0" smtClean="0"/>
              <a:t>that is key to this project. &lt;click&gt;</a:t>
            </a:r>
          </a:p>
          <a:p>
            <a:r>
              <a:rPr lang="en-US" b="1" baseline="0" dirty="0" smtClean="0"/>
              <a:t>Esri</a:t>
            </a:r>
            <a:r>
              <a:rPr lang="en-US" baseline="0" dirty="0" smtClean="0"/>
              <a:t> and </a:t>
            </a:r>
            <a:r>
              <a:rPr lang="en-US" b="1" baseline="0" dirty="0" smtClean="0"/>
              <a:t>Kisters</a:t>
            </a:r>
            <a:r>
              <a:rPr lang="en-US" baseline="0" dirty="0" smtClean="0"/>
              <a:t> are commercial software companies whose participation and products helped make this a success. </a:t>
            </a:r>
          </a:p>
          <a:p>
            <a:r>
              <a:rPr lang="en-US" baseline="0" dirty="0" smtClean="0"/>
              <a:t>BRGM is </a:t>
            </a:r>
            <a:r>
              <a:rPr lang="en-US" b="1" baseline="0" dirty="0" smtClean="0"/>
              <a:t>the French geological survey agency. </a:t>
            </a:r>
          </a:p>
          <a:p>
            <a:r>
              <a:rPr lang="en-US" b="1" baseline="0" dirty="0" err="1" smtClean="0"/>
              <a:t>WaterInfo.be</a:t>
            </a:r>
            <a:r>
              <a:rPr lang="en-US" b="1" baseline="0" dirty="0" smtClean="0"/>
              <a:t> </a:t>
            </a:r>
            <a:r>
              <a:rPr lang="en-US" baseline="0" dirty="0" smtClean="0"/>
              <a:t>is a portal for analytical &amp; decision support in northern Belgium. </a:t>
            </a:r>
          </a:p>
          <a:p>
            <a:r>
              <a:rPr lang="en-US" baseline="0" dirty="0" smtClean="0"/>
              <a:t>The </a:t>
            </a:r>
            <a:r>
              <a:rPr lang="en-US" b="1" baseline="0" dirty="0" smtClean="0"/>
              <a:t>Dartmouth Flood Observatory </a:t>
            </a:r>
            <a:r>
              <a:rPr lang="en-US" baseline="0" dirty="0" smtClean="0"/>
              <a:t>performs pre- and post-disaster mapping, </a:t>
            </a:r>
          </a:p>
        </p:txBody>
      </p:sp>
      <p:sp>
        <p:nvSpPr>
          <p:cNvPr id="4" name="Slide Number Placeholder 3"/>
          <p:cNvSpPr>
            <a:spLocks noGrp="1"/>
          </p:cNvSpPr>
          <p:nvPr>
            <p:ph type="sldNum" sz="quarter" idx="10"/>
          </p:nvPr>
        </p:nvSpPr>
        <p:spPr/>
        <p:txBody>
          <a:bodyPr/>
          <a:lstStyle/>
          <a:p>
            <a:fld id="{0B17FF3E-8EC6-8947-8559-B0AD3288662E}" type="slidenum">
              <a:rPr lang="en-US" smtClean="0">
                <a:solidFill>
                  <a:srgbClr val="000000"/>
                </a:solidFill>
              </a:rPr>
              <a:pPr/>
              <a:t>1</a:t>
            </a:fld>
            <a:endParaRPr lang="en-US">
              <a:solidFill>
                <a:srgbClr val="000000"/>
              </a:solidFill>
            </a:endParaRPr>
          </a:p>
        </p:txBody>
      </p:sp>
    </p:spTree>
    <p:extLst>
      <p:ext uri="{BB962C8B-B14F-4D97-AF65-F5344CB8AC3E}">
        <p14:creationId xmlns:p14="http://schemas.microsoft.com/office/powerpoint/2010/main" val="874627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These</a:t>
            </a:r>
            <a:r>
              <a:rPr lang="en-US" baseline="0" dirty="0" smtClean="0"/>
              <a:t> are screenshots from the LAWA portal, in this case showing water quality indicators at a particular sampling monitor.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solidFill>
                  <a:srgbClr val="000000"/>
                </a:solidFill>
              </a:rPr>
              <a:pPr>
                <a:defRPr/>
              </a:pPr>
              <a:t>2</a:t>
            </a:fld>
            <a:endParaRPr lang="en-US">
              <a:solidFill>
                <a:srgbClr val="000000"/>
              </a:solidFill>
            </a:endParaRPr>
          </a:p>
        </p:txBody>
      </p:sp>
    </p:spTree>
    <p:extLst>
      <p:ext uri="{BB962C8B-B14F-4D97-AF65-F5344CB8AC3E}">
        <p14:creationId xmlns:p14="http://schemas.microsoft.com/office/powerpoint/2010/main" val="120273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 link plays an 8-minute youtube video that describes this</a:t>
            </a:r>
            <a:r>
              <a:rPr lang="en-US" baseline="0" dirty="0" smtClean="0"/>
              <a:t> system and the use of standard data services.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solidFill>
                  <a:srgbClr val="000000"/>
                </a:solidFill>
              </a:rPr>
              <a:pPr>
                <a:defRPr/>
              </a:pPr>
              <a:t>3</a:t>
            </a:fld>
            <a:endParaRPr lang="en-US">
              <a:solidFill>
                <a:srgbClr val="000000"/>
              </a:solidFill>
            </a:endParaRPr>
          </a:p>
        </p:txBody>
      </p:sp>
    </p:spTree>
    <p:extLst>
      <p:ext uri="{BB962C8B-B14F-4D97-AF65-F5344CB8AC3E}">
        <p14:creationId xmlns:p14="http://schemas.microsoft.com/office/powerpoint/2010/main" val="1913401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 link plays a youtube video about the Flemish Water Portal</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solidFill>
                  <a:srgbClr val="000000"/>
                </a:solidFill>
              </a:rPr>
              <a:pPr>
                <a:defRPr/>
              </a:pPr>
              <a:t>4</a:t>
            </a:fld>
            <a:endParaRPr lang="en-US">
              <a:solidFill>
                <a:srgbClr val="000000"/>
              </a:solidFill>
            </a:endParaRPr>
          </a:p>
        </p:txBody>
      </p:sp>
    </p:spTree>
    <p:extLst>
      <p:ext uri="{BB962C8B-B14F-4D97-AF65-F5344CB8AC3E}">
        <p14:creationId xmlns:p14="http://schemas.microsoft.com/office/powerpoint/2010/main" val="987598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map: https://www.arcgis.com/home/webmap/viewer.html?webmap=93b7c28dca3b4c86863408a4a90f729f&amp;extent=-180,-60.799,180,81.0806 </a:t>
            </a:r>
          </a:p>
          <a:p>
            <a:r>
              <a:rPr lang="en-US"/>
              <a:t>Short link: http://arcg.is/1ETcY5s </a:t>
            </a:r>
          </a:p>
        </p:txBody>
      </p:sp>
      <p:sp>
        <p:nvSpPr>
          <p:cNvPr id="4" name="Slide Number Placeholder 3"/>
          <p:cNvSpPr>
            <a:spLocks noGrp="1"/>
          </p:cNvSpPr>
          <p:nvPr>
            <p:ph type="sldNum" sz="quarter" idx="10"/>
          </p:nvPr>
        </p:nvSpPr>
        <p:spPr/>
        <p:txBody>
          <a:bodyPr/>
          <a:lstStyle/>
          <a:p>
            <a:pPr>
              <a:defRPr/>
            </a:pPr>
            <a:fld id="{EC8F0B9F-261A-A14A-948B-3040BF655A03}" type="slidenum">
              <a:rPr lang="en-US"/>
              <a:pPr>
                <a:defRPr/>
              </a:pPr>
              <a:t>5</a:t>
            </a:fld>
            <a:endParaRPr lang="en-US"/>
          </a:p>
        </p:txBody>
      </p:sp>
    </p:spTree>
    <p:extLst>
      <p:ext uri="{BB962C8B-B14F-4D97-AF65-F5344CB8AC3E}">
        <p14:creationId xmlns:p14="http://schemas.microsoft.com/office/powerpoint/2010/main" val="1498754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map: https://www.arcgis.com/home/webmap/viewer.html?webmap=93b7c28dca3b4c86863408a4a90f729f&amp;extent=-180,-60.799,180,81.0806 </a:t>
            </a:r>
          </a:p>
          <a:p>
            <a:r>
              <a:rPr lang="en-US"/>
              <a:t>Short link: http://arcg.is/1ETcY5s </a:t>
            </a:r>
          </a:p>
          <a:p>
            <a:endParaRPr lang="en-US"/>
          </a:p>
        </p:txBody>
      </p:sp>
      <p:sp>
        <p:nvSpPr>
          <p:cNvPr id="4" name="Slide Number Placeholder 3"/>
          <p:cNvSpPr>
            <a:spLocks noGrp="1"/>
          </p:cNvSpPr>
          <p:nvPr>
            <p:ph type="sldNum" sz="quarter" idx="10"/>
          </p:nvPr>
        </p:nvSpPr>
        <p:spPr/>
        <p:txBody>
          <a:bodyPr/>
          <a:lstStyle/>
          <a:p>
            <a:pPr>
              <a:defRPr/>
            </a:pPr>
            <a:fld id="{EC8F0B9F-261A-A14A-948B-3040BF655A03}" type="slidenum">
              <a:rPr lang="en-US"/>
              <a:pPr>
                <a:defRPr/>
              </a:pPr>
              <a:t>6</a:t>
            </a:fld>
            <a:endParaRPr lang="en-US"/>
          </a:p>
        </p:txBody>
      </p:sp>
    </p:spTree>
    <p:extLst>
      <p:ext uri="{BB962C8B-B14F-4D97-AF65-F5344CB8AC3E}">
        <p14:creationId xmlns:p14="http://schemas.microsoft.com/office/powerpoint/2010/main" val="1690482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We had a large team with over 20 participating organizations this year, including government and academic research centers, regional to national water data managers, and commercial and open-source software developers. We have a wide range of skills from hydrology and hydraulics science, to GIS and information technologies.  </a:t>
            </a:r>
          </a:p>
          <a:p>
            <a:endParaRPr lang="en-US" dirty="0" smtClean="0"/>
          </a:p>
          <a:p>
            <a:r>
              <a:rPr lang="en-US" dirty="0" smtClean="0"/>
              <a:t>-------------------------- following is in case of q’s: </a:t>
            </a:r>
          </a:p>
          <a:p>
            <a:r>
              <a:rPr lang="en-US" dirty="0" smtClean="0"/>
              <a:t>The </a:t>
            </a:r>
            <a:r>
              <a:rPr lang="en-US" b="1" dirty="0" smtClean="0"/>
              <a:t>University of Texas at Austin </a:t>
            </a:r>
            <a:r>
              <a:rPr lang="en-US" dirty="0" smtClean="0"/>
              <a:t>provided overall leadership. </a:t>
            </a:r>
          </a:p>
          <a:p>
            <a:r>
              <a:rPr lang="en-US" b="1" dirty="0" smtClean="0"/>
              <a:t>CUAHSI</a:t>
            </a:r>
            <a:r>
              <a:rPr lang="en-US" dirty="0" smtClean="0"/>
              <a:t>, the Consortium of Universities</a:t>
            </a:r>
            <a:r>
              <a:rPr lang="en-US" baseline="0" dirty="0" smtClean="0"/>
              <a:t> for the Advancement of Hydrologic Science, provided core expertise for WaterML data and catalogue services.   &lt;click&gt;</a:t>
            </a:r>
            <a:endParaRPr lang="en-US" dirty="0" smtClean="0"/>
          </a:p>
          <a:p>
            <a:r>
              <a:rPr lang="en-US" b="1" dirty="0" smtClean="0"/>
              <a:t>Brigham</a:t>
            </a:r>
            <a:r>
              <a:rPr lang="en-US" b="1" baseline="0" dirty="0" smtClean="0"/>
              <a:t> Young University </a:t>
            </a:r>
            <a:r>
              <a:rPr lang="en-US" baseline="0" dirty="0" smtClean="0"/>
              <a:t>conducted software development and outreach to Latin American countries. &lt;click&gt;</a:t>
            </a:r>
          </a:p>
          <a:p>
            <a:r>
              <a:rPr lang="en-US" b="1" baseline="0" dirty="0" smtClean="0"/>
              <a:t>GIS.FCU </a:t>
            </a:r>
            <a:r>
              <a:rPr lang="en-US" baseline="0" dirty="0" smtClean="0"/>
              <a:t>is the GIS Research Center at </a:t>
            </a:r>
            <a:r>
              <a:rPr lang="en-US" baseline="0" dirty="0" err="1" smtClean="0"/>
              <a:t>Feng</a:t>
            </a:r>
            <a:r>
              <a:rPr lang="en-US" baseline="0" dirty="0" smtClean="0"/>
              <a:t> Chia University in Taiwan.</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NIWA</a:t>
            </a:r>
            <a:r>
              <a:rPr lang="en-US" baseline="0" dirty="0" smtClean="0"/>
              <a:t> is the national water agency for New Zealand, and </a:t>
            </a:r>
            <a:r>
              <a:rPr lang="en-US" b="1" baseline="0" dirty="0" smtClean="0"/>
              <a:t>Horizons Regional Council </a:t>
            </a:r>
            <a:r>
              <a:rPr lang="en-US" baseline="0" dirty="0" smtClean="0"/>
              <a:t>one of 16 regional data providers.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a:t>
            </a:r>
            <a:r>
              <a:rPr lang="en-US" b="1" baseline="0" dirty="0" smtClean="0"/>
              <a:t>European Center for Medium-range Weather Forecasting </a:t>
            </a:r>
            <a:r>
              <a:rPr lang="en-US" baseline="0" dirty="0" smtClean="0"/>
              <a:t>and the </a:t>
            </a:r>
            <a:r>
              <a:rPr lang="en-US" b="1" baseline="0" dirty="0" smtClean="0"/>
              <a:t>Joint Research Centre </a:t>
            </a:r>
            <a:r>
              <a:rPr lang="en-US" baseline="0" dirty="0" smtClean="0"/>
              <a:t>are developers of the </a:t>
            </a:r>
            <a:r>
              <a:rPr lang="en-US" b="1" baseline="0" dirty="0" smtClean="0"/>
              <a:t>Global Flood Awareness System (GloFAS)</a:t>
            </a:r>
            <a:r>
              <a:rPr lang="en-US" baseline="0" dirty="0" smtClean="0"/>
              <a:t>.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a:t>
            </a:r>
            <a:r>
              <a:rPr lang="en-US" b="1" baseline="0" dirty="0" smtClean="0"/>
              <a:t>NASA Hydrological Sciences </a:t>
            </a:r>
            <a:r>
              <a:rPr lang="en-US" baseline="0" dirty="0" smtClean="0"/>
              <a:t>division are providers of global soil moisture, runoff, evapotranspiration, and other data from the </a:t>
            </a:r>
            <a:r>
              <a:rPr lang="en-US" b="1" baseline="0" dirty="0" smtClean="0"/>
              <a:t>Land Data Assimilation System</a:t>
            </a:r>
            <a:r>
              <a:rPr lang="en-US" baseline="0" dirty="0" smtClean="0"/>
              <a:t>.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CNR-IIA </a:t>
            </a:r>
            <a:r>
              <a:rPr lang="en-US" baseline="0" dirty="0" smtClean="0"/>
              <a:t>is the Institute for Atmospheric Pollution Research of the Italian Research Council, and developers of the </a:t>
            </a:r>
            <a:r>
              <a:rPr lang="en-US" b="1" baseline="0" dirty="0" smtClean="0"/>
              <a:t>GEOSS Discovery and Access Broker framework </a:t>
            </a:r>
            <a:r>
              <a:rPr lang="en-US" baseline="0" dirty="0" smtClean="0"/>
              <a:t>that is key to this project. &lt;click&gt;</a:t>
            </a:r>
          </a:p>
          <a:p>
            <a:r>
              <a:rPr lang="en-US" b="1" baseline="0" dirty="0" smtClean="0"/>
              <a:t>Esri</a:t>
            </a:r>
            <a:r>
              <a:rPr lang="en-US" baseline="0" dirty="0" smtClean="0"/>
              <a:t> and </a:t>
            </a:r>
            <a:r>
              <a:rPr lang="en-US" b="1" baseline="0" dirty="0" smtClean="0"/>
              <a:t>Kisters</a:t>
            </a:r>
            <a:r>
              <a:rPr lang="en-US" baseline="0" dirty="0" smtClean="0"/>
              <a:t> are commercial software companies whose participation and products helped make this a success. </a:t>
            </a:r>
          </a:p>
          <a:p>
            <a:r>
              <a:rPr lang="en-US" baseline="0" dirty="0" smtClean="0"/>
              <a:t>BRGM is </a:t>
            </a:r>
            <a:r>
              <a:rPr lang="en-US" b="1" baseline="0" dirty="0" smtClean="0"/>
              <a:t>the French geological survey agency. </a:t>
            </a:r>
          </a:p>
          <a:p>
            <a:r>
              <a:rPr lang="en-US" b="1" baseline="0" dirty="0" err="1" smtClean="0"/>
              <a:t>WaterInfo.be</a:t>
            </a:r>
            <a:r>
              <a:rPr lang="en-US" b="1" baseline="0" dirty="0" smtClean="0"/>
              <a:t> </a:t>
            </a:r>
            <a:r>
              <a:rPr lang="en-US" baseline="0" dirty="0" smtClean="0"/>
              <a:t>is a portal for analytical &amp; decision support in northern Belgium. </a:t>
            </a:r>
          </a:p>
          <a:p>
            <a:r>
              <a:rPr lang="en-US" baseline="0" dirty="0" smtClean="0"/>
              <a:t>The </a:t>
            </a:r>
            <a:r>
              <a:rPr lang="en-US" b="1" baseline="0" dirty="0" smtClean="0"/>
              <a:t>Dartmouth Flood Observatory </a:t>
            </a:r>
            <a:r>
              <a:rPr lang="en-US" baseline="0" dirty="0" smtClean="0"/>
              <a:t>performs pre- and post-disaster mapping, </a:t>
            </a:r>
          </a:p>
        </p:txBody>
      </p:sp>
      <p:sp>
        <p:nvSpPr>
          <p:cNvPr id="4" name="Slide Number Placeholder 3"/>
          <p:cNvSpPr>
            <a:spLocks noGrp="1"/>
          </p:cNvSpPr>
          <p:nvPr>
            <p:ph type="sldNum" sz="quarter" idx="10"/>
          </p:nvPr>
        </p:nvSpPr>
        <p:spPr/>
        <p:txBody>
          <a:bodyPr/>
          <a:lstStyle/>
          <a:p>
            <a:fld id="{0B17FF3E-8EC6-8947-8559-B0AD3288662E}" type="slidenum">
              <a:rPr lang="en-US" smtClean="0">
                <a:solidFill>
                  <a:srgbClr val="000000"/>
                </a:solidFill>
                <a:latin typeface="Calibri"/>
              </a:rPr>
              <a:pPr/>
              <a:t>8</a:t>
            </a:fld>
            <a:endParaRPr lang="en-US">
              <a:solidFill>
                <a:srgbClr val="000000"/>
              </a:solidFill>
              <a:latin typeface="Calibri"/>
            </a:endParaRPr>
          </a:p>
        </p:txBody>
      </p:sp>
    </p:spTree>
    <p:extLst>
      <p:ext uri="{BB962C8B-B14F-4D97-AF65-F5344CB8AC3E}">
        <p14:creationId xmlns:p14="http://schemas.microsoft.com/office/powerpoint/2010/main" val="1678496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latin typeface="+mn-lt"/>
                <a:ea typeface="+mn-ea"/>
                <a:cs typeface="+mn-cs"/>
              </a:rPr>
              <a:t>What would AIP-8 participants need to do, if they want a Tethys case study in their own country/region/watershed:</a:t>
            </a:r>
          </a:p>
          <a:p>
            <a:r>
              <a:rPr lang="en-US" sz="1200" kern="1200" smtClean="0">
                <a:solidFill>
                  <a:schemeClr val="tx1"/>
                </a:solidFill>
                <a:latin typeface="+mn-lt"/>
                <a:ea typeface="+mn-ea"/>
                <a:cs typeface="+mn-cs"/>
              </a:rPr>
              <a:t>Setting up the watershed is easy but actually deploying is a little more complicated. Participants would need to set up a server with the necessary tools to download the ECMWF forecast from their ftp site (and Florian has given us permission to do this but I’m not sure if lots of others wanted connection how that would work???), process with the Esri scripts to downscale, run RAPID, and then have a Tethys Portal with our app installed to access the results and display. We expect all of this will be replicated for the NFIE, but right now it is only running on our server and not all the documentation is there to set it up on another server. At the Global Flood Partnership conference in Boulder Jim</a:t>
            </a:r>
            <a:r>
              <a:rPr lang="en-US" sz="1200" kern="1200" baseline="0" smtClean="0">
                <a:solidFill>
                  <a:schemeClr val="tx1"/>
                </a:solidFill>
                <a:latin typeface="+mn-lt"/>
                <a:ea typeface="+mn-ea"/>
                <a:cs typeface="+mn-cs"/>
              </a:rPr>
              <a:t> will</a:t>
            </a:r>
            <a:r>
              <a:rPr lang="en-US" sz="1200" kern="1200" smtClean="0">
                <a:solidFill>
                  <a:schemeClr val="tx1"/>
                </a:solidFill>
                <a:latin typeface="+mn-lt"/>
                <a:ea typeface="+mn-ea"/>
                <a:cs typeface="+mn-cs"/>
              </a:rPr>
              <a:t> meet with ECMWF &amp; JRC about how to make BYU’s system more accessible to either GloFAS or as a more global version of BYU’s current system. </a:t>
            </a:r>
            <a:endParaRPr lang="en-US"/>
          </a:p>
          <a:p>
            <a:endParaRPr lang="en-US"/>
          </a:p>
        </p:txBody>
      </p:sp>
      <p:sp>
        <p:nvSpPr>
          <p:cNvPr id="4" name="Slide Number Placeholder 3"/>
          <p:cNvSpPr>
            <a:spLocks noGrp="1"/>
          </p:cNvSpPr>
          <p:nvPr>
            <p:ph type="sldNum" sz="quarter" idx="10"/>
          </p:nvPr>
        </p:nvSpPr>
        <p:spPr/>
        <p:txBody>
          <a:bodyPr/>
          <a:lstStyle/>
          <a:p>
            <a:fld id="{30961493-C47A-4CB5-A90F-92557A6E847E}" type="slidenum">
              <a:rPr lang="en-US" smtClean="0">
                <a:solidFill>
                  <a:prstClr val="black"/>
                </a:solidFill>
                <a:latin typeface="Calibri"/>
              </a:rPr>
              <a:pPr/>
              <a:t>11</a:t>
            </a:fld>
            <a:endParaRPr lang="en-US">
              <a:solidFill>
                <a:prstClr val="black"/>
              </a:solidFill>
              <a:latin typeface="Calibri"/>
            </a:endParaRPr>
          </a:p>
        </p:txBody>
      </p:sp>
    </p:spTree>
    <p:extLst>
      <p:ext uri="{BB962C8B-B14F-4D97-AF65-F5344CB8AC3E}">
        <p14:creationId xmlns:p14="http://schemas.microsoft.com/office/powerpoint/2010/main" val="1791827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12</a:t>
            </a:fld>
            <a:endParaRPr lang="en-US">
              <a:solidFill>
                <a:prstClr val="black"/>
              </a:solidFill>
              <a:latin typeface="Calibri"/>
            </a:endParaRPr>
          </a:p>
        </p:txBody>
      </p:sp>
    </p:spTree>
    <p:extLst>
      <p:ext uri="{BB962C8B-B14F-4D97-AF65-F5344CB8AC3E}">
        <p14:creationId xmlns:p14="http://schemas.microsoft.com/office/powerpoint/2010/main" val="1674327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began</a:t>
            </a:r>
            <a:r>
              <a:rPr lang="en-US" baseline="0" dirty="0" smtClean="0"/>
              <a:t> the workshop learning about the ECMWF/JRC </a:t>
            </a:r>
            <a:r>
              <a:rPr lang="en-US" baseline="0" dirty="0" err="1" smtClean="0"/>
              <a:t>GloFAS</a:t>
            </a:r>
            <a:r>
              <a:rPr lang="en-US" baseline="0" dirty="0" smtClean="0"/>
              <a:t> program that generates ensemble flood forecasts on a global scale for large watersheds. They were taught the basic theory behind the ensemble forecasts, the scale at which </a:t>
            </a:r>
            <a:r>
              <a:rPr lang="en-US" baseline="0" dirty="0" err="1" smtClean="0"/>
              <a:t>GloFAS</a:t>
            </a:r>
            <a:r>
              <a:rPr lang="en-US" baseline="0" dirty="0" smtClean="0"/>
              <a:t> operates, and how we were working with the RAPID model to downscale forecasts to higher resolution watersheds and stream networks.</a:t>
            </a:r>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13</a:t>
            </a:fld>
            <a:endParaRPr lang="en-US">
              <a:solidFill>
                <a:prstClr val="black"/>
              </a:solidFill>
              <a:latin typeface="Calibri"/>
            </a:endParaRPr>
          </a:p>
        </p:txBody>
      </p:sp>
    </p:spTree>
    <p:extLst>
      <p:ext uri="{BB962C8B-B14F-4D97-AF65-F5344CB8AC3E}">
        <p14:creationId xmlns:p14="http://schemas.microsoft.com/office/powerpoint/2010/main" val="1442309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We then learned how to use the new </a:t>
            </a:r>
            <a:r>
              <a:rPr lang="en-US" baseline="0" dirty="0" err="1" smtClean="0"/>
              <a:t>Esri</a:t>
            </a:r>
            <a:r>
              <a:rPr lang="en-US" baseline="0" dirty="0" smtClean="0"/>
              <a:t> toolbox and BYU Tethys tool to create a downscaled model for any scale watershed globally. The data used in the workshop for elevations was coarse because of the time availability to instruct them on where to locate, download, and use higher resolution products. However, the tools worked well for these pilot watersheds and more information about better data sources was shared with them.</a:t>
            </a:r>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14</a:t>
            </a:fld>
            <a:endParaRPr lang="en-US">
              <a:solidFill>
                <a:prstClr val="black"/>
              </a:solidFill>
              <a:latin typeface="Calibri"/>
            </a:endParaRPr>
          </a:p>
        </p:txBody>
      </p:sp>
    </p:spTree>
    <p:extLst>
      <p:ext uri="{BB962C8B-B14F-4D97-AF65-F5344CB8AC3E}">
        <p14:creationId xmlns:p14="http://schemas.microsoft.com/office/powerpoint/2010/main" val="162667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students created working</a:t>
            </a:r>
            <a:r>
              <a:rPr lang="en-US" baseline="0" dirty="0" smtClean="0"/>
              <a:t> forecasts for 14 different watersheds.</a:t>
            </a:r>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15</a:t>
            </a:fld>
            <a:endParaRPr lang="en-US">
              <a:solidFill>
                <a:prstClr val="black"/>
              </a:solidFill>
              <a:latin typeface="Calibri"/>
            </a:endParaRPr>
          </a:p>
        </p:txBody>
      </p:sp>
    </p:spTree>
    <p:extLst>
      <p:ext uri="{BB962C8B-B14F-4D97-AF65-F5344CB8AC3E}">
        <p14:creationId xmlns:p14="http://schemas.microsoft.com/office/powerpoint/2010/main" val="307936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13 of the 14</a:t>
            </a:r>
            <a:r>
              <a:rPr lang="en-US" baseline="0" dirty="0" smtClean="0"/>
              <a:t> were in Colombia.</a:t>
            </a:r>
          </a:p>
          <a:p>
            <a:r>
              <a:rPr lang="en-US" baseline="0" dirty="0" smtClean="0"/>
              <a:t>You can access these watersheds at </a:t>
            </a:r>
            <a:r>
              <a:rPr lang="en-US" sz="1200" dirty="0" smtClean="0"/>
              <a:t>http://</a:t>
            </a:r>
            <a:r>
              <a:rPr lang="en-US" sz="1200" dirty="0" err="1" smtClean="0"/>
              <a:t>apps.hydroshare.org</a:t>
            </a:r>
            <a:r>
              <a:rPr lang="en-US" sz="1200" dirty="0" smtClean="0"/>
              <a:t>/</a:t>
            </a:r>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16</a:t>
            </a:fld>
            <a:endParaRPr lang="en-US">
              <a:solidFill>
                <a:prstClr val="black"/>
              </a:solidFill>
              <a:latin typeface="Calibri"/>
            </a:endParaRPr>
          </a:p>
        </p:txBody>
      </p:sp>
    </p:spTree>
    <p:extLst>
      <p:ext uri="{BB962C8B-B14F-4D97-AF65-F5344CB8AC3E}">
        <p14:creationId xmlns:p14="http://schemas.microsoft.com/office/powerpoint/2010/main" val="194752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learned</a:t>
            </a:r>
            <a:r>
              <a:rPr lang="en-US" baseline="0" dirty="0" smtClean="0"/>
              <a:t> how </a:t>
            </a:r>
            <a:r>
              <a:rPr lang="en-US" baseline="0" dirty="0" err="1" smtClean="0"/>
              <a:t>WaterML</a:t>
            </a:r>
            <a:r>
              <a:rPr lang="en-US" baseline="0" dirty="0" smtClean="0"/>
              <a:t> allows </a:t>
            </a:r>
            <a:r>
              <a:rPr lang="en-US" baseline="0" dirty="0" err="1" smtClean="0"/>
              <a:t>HydroServers</a:t>
            </a:r>
            <a:r>
              <a:rPr lang="en-US" baseline="0" dirty="0" smtClean="0"/>
              <a:t> to be accessed by clients in the same way that a web browser accesses web pages. Further a catalog can be organized so that collections of </a:t>
            </a:r>
            <a:r>
              <a:rPr lang="en-US" baseline="0" dirty="0" err="1" smtClean="0"/>
              <a:t>HydroServers</a:t>
            </a:r>
            <a:r>
              <a:rPr lang="en-US" baseline="0" dirty="0" smtClean="0"/>
              <a:t> can be federated into a regional, national, or even global system.</a:t>
            </a:r>
          </a:p>
          <a:p>
            <a:endParaRPr lang="en-US" baseline="0" dirty="0" smtClean="0"/>
          </a:p>
          <a:p>
            <a:r>
              <a:rPr lang="en-US" baseline="0" dirty="0" smtClean="0"/>
              <a:t>We then organized into a few teams and set up several </a:t>
            </a:r>
            <a:r>
              <a:rPr lang="en-US" baseline="0" dirty="0" err="1" smtClean="0"/>
              <a:t>HydroServers</a:t>
            </a:r>
            <a:r>
              <a:rPr lang="en-US" baseline="0" dirty="0" smtClean="0"/>
              <a:t> and each of the participants learned how to manage the metadata, create stations, and upload time series values.</a:t>
            </a:r>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17</a:t>
            </a:fld>
            <a:endParaRPr lang="en-US">
              <a:solidFill>
                <a:prstClr val="black"/>
              </a:solidFill>
              <a:latin typeface="Calibri"/>
            </a:endParaRPr>
          </a:p>
        </p:txBody>
      </p:sp>
    </p:spTree>
    <p:extLst>
      <p:ext uri="{BB962C8B-B14F-4D97-AF65-F5344CB8AC3E}">
        <p14:creationId xmlns:p14="http://schemas.microsoft.com/office/powerpoint/2010/main" val="783228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Cravosur</a:t>
            </a:r>
            <a:r>
              <a:rPr lang="en-US" dirty="0" smtClean="0"/>
              <a:t> group in </a:t>
            </a:r>
            <a:r>
              <a:rPr lang="en-US" dirty="0" err="1" smtClean="0"/>
              <a:t>Casanares</a:t>
            </a:r>
            <a:r>
              <a:rPr lang="en-US" dirty="0" smtClean="0"/>
              <a:t> (one of the departments</a:t>
            </a:r>
            <a:r>
              <a:rPr lang="en-US" baseline="0" dirty="0" smtClean="0"/>
              <a:t> or states of Colombia) </a:t>
            </a:r>
            <a:r>
              <a:rPr lang="en-US" dirty="0" smtClean="0"/>
              <a:t>also created a </a:t>
            </a:r>
            <a:r>
              <a:rPr lang="en-US" dirty="0" err="1" smtClean="0"/>
              <a:t>HydroServer</a:t>
            </a:r>
            <a:r>
              <a:rPr lang="en-US" dirty="0" smtClean="0"/>
              <a:t>. Besides</a:t>
            </a:r>
            <a:r>
              <a:rPr lang="en-US" baseline="0" dirty="0" smtClean="0"/>
              <a:t> the other data they learned how to associate a photo with each station.</a:t>
            </a:r>
            <a:endParaRPr lang="en-US" dirty="0"/>
          </a:p>
        </p:txBody>
      </p:sp>
      <p:sp>
        <p:nvSpPr>
          <p:cNvPr id="4" name="Slide Number Placeholder 3"/>
          <p:cNvSpPr>
            <a:spLocks noGrp="1"/>
          </p:cNvSpPr>
          <p:nvPr>
            <p:ph type="sldNum" sz="quarter" idx="10"/>
          </p:nvPr>
        </p:nvSpPr>
        <p:spPr/>
        <p:txBody>
          <a:bodyPr/>
          <a:lstStyle/>
          <a:p>
            <a:fld id="{B9E31B25-92DC-DA4A-BAF0-946E5F7FFA63}" type="slidenum">
              <a:rPr lang="en-US" smtClean="0">
                <a:solidFill>
                  <a:prstClr val="black"/>
                </a:solidFill>
                <a:latin typeface="Calibri"/>
              </a:rPr>
              <a:pPr/>
              <a:t>18</a:t>
            </a:fld>
            <a:endParaRPr lang="en-US">
              <a:solidFill>
                <a:prstClr val="black"/>
              </a:solidFill>
              <a:latin typeface="Calibri"/>
            </a:endParaRPr>
          </a:p>
        </p:txBody>
      </p:sp>
    </p:spTree>
    <p:extLst>
      <p:ext uri="{BB962C8B-B14F-4D97-AF65-F5344CB8AC3E}">
        <p14:creationId xmlns:p14="http://schemas.microsoft.com/office/powerpoint/2010/main" val="241232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22</a:t>
            </a:fld>
            <a:endParaRPr lang="en-US"/>
          </a:p>
        </p:txBody>
      </p:sp>
    </p:spTree>
    <p:extLst>
      <p:ext uri="{BB962C8B-B14F-4D97-AF65-F5344CB8AC3E}">
        <p14:creationId xmlns:p14="http://schemas.microsoft.com/office/powerpoint/2010/main" val="1930227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Tree>
    <p:extLst>
      <p:ext uri="{BB962C8B-B14F-4D97-AF65-F5344CB8AC3E}">
        <p14:creationId xmlns:p14="http://schemas.microsoft.com/office/powerpoint/2010/main" val="3534388523"/>
      </p:ext>
    </p:extLst>
  </p:cSld>
  <p:clrMapOvr>
    <a:masterClrMapping/>
  </p:clrMapOvr>
  <p:transition spd="med">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12"/>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Tree>
    <p:extLst>
      <p:ext uri="{BB962C8B-B14F-4D97-AF65-F5344CB8AC3E}">
        <p14:creationId xmlns:p14="http://schemas.microsoft.com/office/powerpoint/2010/main" val="567363099"/>
      </p:ext>
    </p:extLst>
  </p:cSld>
  <p:clrMapOvr>
    <a:masterClrMapping/>
  </p:clrMapOvr>
  <p:transition spd="med">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53597"/>
      </p:ext>
    </p:extLst>
  </p:cSld>
  <p:clrMapOvr>
    <a:masterClrMapping/>
  </p:clrMapOvr>
  <p:transition spd="med">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Tree>
    <p:extLst>
      <p:ext uri="{BB962C8B-B14F-4D97-AF65-F5344CB8AC3E}">
        <p14:creationId xmlns:p14="http://schemas.microsoft.com/office/powerpoint/2010/main" val="4011920321"/>
      </p:ext>
    </p:extLst>
  </p:cSld>
  <p:clrMapOvr>
    <a:masterClrMapping/>
  </p:clrMapOvr>
  <p:transition spd="med">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Tree>
    <p:extLst>
      <p:ext uri="{BB962C8B-B14F-4D97-AF65-F5344CB8AC3E}">
        <p14:creationId xmlns:p14="http://schemas.microsoft.com/office/powerpoint/2010/main" val="1472862063"/>
      </p:ext>
    </p:extLst>
  </p:cSld>
  <p:clrMapOvr>
    <a:masterClrMapping/>
  </p:clrMapOvr>
  <p:transition spd="med">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6"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Tree>
    <p:extLst>
      <p:ext uri="{BB962C8B-B14F-4D97-AF65-F5344CB8AC3E}">
        <p14:creationId xmlns:p14="http://schemas.microsoft.com/office/powerpoint/2010/main" val="744451710"/>
      </p:ext>
    </p:extLst>
  </p:cSld>
  <p:clrMapOvr>
    <a:masterClrMapping/>
  </p:clrMapOvr>
  <p:transition spd="med">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6"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cstate="print">
            <a:alphaModFix/>
            <a:extLst>
              <a:ext uri="{28A0092B-C50C-407E-A947-70E740481C1C}">
                <a14:useLocalDpi xmlns:a14="http://schemas.microsoft.com/office/drawing/2010/main"/>
              </a:ext>
            </a:extLst>
          </a:blip>
          <a:srcRect/>
          <a:stretch/>
        </p:blipFill>
        <p:spPr>
          <a:xfrm>
            <a:off x="0" y="2947261"/>
            <a:ext cx="9144000" cy="3910751"/>
          </a:xfrm>
          <a:prstGeom prst="rect">
            <a:avLst/>
          </a:prstGeom>
        </p:spPr>
      </p:pic>
    </p:spTree>
    <p:extLst>
      <p:ext uri="{BB962C8B-B14F-4D97-AF65-F5344CB8AC3E}">
        <p14:creationId xmlns:p14="http://schemas.microsoft.com/office/powerpoint/2010/main" val="3340842827"/>
      </p:ext>
    </p:extLst>
  </p:cSld>
  <p:clrMapOvr>
    <a:masterClrMapping/>
  </p:clrMapOvr>
  <p:transition spd="med">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Tree>
    <p:extLst>
      <p:ext uri="{BB962C8B-B14F-4D97-AF65-F5344CB8AC3E}">
        <p14:creationId xmlns:p14="http://schemas.microsoft.com/office/powerpoint/2010/main" val="4125868951"/>
      </p:ext>
    </p:extLst>
  </p:cSld>
  <p:clrMapOvr>
    <a:masterClrMapping/>
  </p:clrMapOvr>
  <p:transition spd="med">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1394674501"/>
      </p:ext>
    </p:extLst>
  </p:cSld>
  <p:clrMapOvr>
    <a:masterClrMapping/>
  </p:clrMapOvr>
  <p:transition spd="med">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4"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4"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Tree>
    <p:extLst>
      <p:ext uri="{BB962C8B-B14F-4D97-AF65-F5344CB8AC3E}">
        <p14:creationId xmlns:p14="http://schemas.microsoft.com/office/powerpoint/2010/main" val="365976607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62"/>
            <a:ext cx="2133600" cy="365125"/>
          </a:xfrm>
          <a:prstGeom prst="rect">
            <a:avLst/>
          </a:prstGeom>
        </p:spPr>
        <p:txBody>
          <a:bodyPr/>
          <a:lstStyle/>
          <a:p>
            <a:pPr eaLnBrk="1" fontAlgn="auto" hangingPunct="1">
              <a:spcBef>
                <a:spcPts val="0"/>
              </a:spcBef>
              <a:spcAft>
                <a:spcPts val="0"/>
              </a:spcAft>
            </a:pPr>
            <a:endParaRPr lang="en-US" dirty="0">
              <a:solidFill>
                <a:prstClr val="black"/>
              </a:solidFill>
              <a:latin typeface="Arial"/>
              <a:ea typeface="ＭＳ Ｐゴシック"/>
              <a:cs typeface="ＭＳ Ｐゴシック"/>
            </a:endParaRPr>
          </a:p>
        </p:txBody>
      </p:sp>
      <p:sp>
        <p:nvSpPr>
          <p:cNvPr id="6" name="Footer Placeholder 5"/>
          <p:cNvSpPr>
            <a:spLocks noGrp="1"/>
          </p:cNvSpPr>
          <p:nvPr>
            <p:ph type="ftr" sz="quarter" idx="11"/>
          </p:nvPr>
        </p:nvSpPr>
        <p:spPr>
          <a:xfrm>
            <a:off x="3124200" y="6356362"/>
            <a:ext cx="2895600" cy="365125"/>
          </a:xfrm>
          <a:prstGeom prst="rect">
            <a:avLst/>
          </a:prstGeom>
        </p:spPr>
        <p:txBody>
          <a:bodyPr/>
          <a:lstStyle/>
          <a:p>
            <a:pPr eaLnBrk="1" fontAlgn="auto" hangingPunct="1">
              <a:spcBef>
                <a:spcPts val="0"/>
              </a:spcBef>
              <a:spcAft>
                <a:spcPts val="0"/>
              </a:spcAft>
            </a:pPr>
            <a:endParaRPr lang="en-US" dirty="0">
              <a:solidFill>
                <a:prstClr val="black"/>
              </a:solidFill>
              <a:latin typeface="Arial"/>
              <a:ea typeface="ＭＳ Ｐゴシック"/>
              <a:cs typeface="ＭＳ Ｐゴシック"/>
            </a:endParaRPr>
          </a:p>
        </p:txBody>
      </p:sp>
      <p:sp>
        <p:nvSpPr>
          <p:cNvPr id="7" name="Slide Number Placeholder 6"/>
          <p:cNvSpPr>
            <a:spLocks noGrp="1"/>
          </p:cNvSpPr>
          <p:nvPr>
            <p:ph type="sldNum" sz="quarter" idx="12"/>
          </p:nvPr>
        </p:nvSpPr>
        <p:spPr>
          <a:xfrm>
            <a:off x="6553200" y="6356362"/>
            <a:ext cx="2133600" cy="365125"/>
          </a:xfrm>
          <a:prstGeom prst="rect">
            <a:avLst/>
          </a:prstGeom>
        </p:spPr>
        <p:txBody>
          <a:bodyPr/>
          <a:lstStyle/>
          <a:p>
            <a:pPr eaLnBrk="1" fontAlgn="auto" hangingPunct="1">
              <a:spcBef>
                <a:spcPts val="0"/>
              </a:spcBef>
              <a:spcAft>
                <a:spcPts val="0"/>
              </a:spcAft>
            </a:pPr>
            <a:fld id="{B497F040-B850-EF4D-8141-826F90229F85}" type="slidenum">
              <a:rPr lang="en-US">
                <a:solidFill>
                  <a:prstClr val="black"/>
                </a:solidFill>
                <a:latin typeface="Arial"/>
                <a:ea typeface="ＭＳ Ｐゴシック"/>
                <a:cs typeface="ＭＳ Ｐゴシック"/>
              </a:rPr>
              <a:pPr eaLnBrk="1" fontAlgn="auto" hangingPunct="1">
                <a:spcBef>
                  <a:spcPts val="0"/>
                </a:spcBef>
                <a:spcAft>
                  <a:spcPts val="0"/>
                </a:spcAft>
              </a:pPr>
              <a:t>‹#›</a:t>
            </a:fld>
            <a:endParaRPr lang="en-US" dirty="0">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1753828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6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62"/>
            <a:ext cx="2133600" cy="365125"/>
          </a:xfrm>
          <a:prstGeom prst="rect">
            <a:avLst/>
          </a:prstGeom>
        </p:spPr>
        <p:txBody>
          <a:bodyPr/>
          <a:lstStyle/>
          <a:p>
            <a:pPr eaLnBrk="1" fontAlgn="auto" hangingPunct="1">
              <a:spcBef>
                <a:spcPts val="0"/>
              </a:spcBef>
              <a:spcAft>
                <a:spcPts val="0"/>
              </a:spcAft>
            </a:pPr>
            <a:endParaRPr lang="en-US" dirty="0">
              <a:solidFill>
                <a:prstClr val="black"/>
              </a:solidFill>
              <a:latin typeface="Arial"/>
              <a:ea typeface="ＭＳ Ｐゴシック"/>
              <a:cs typeface="ＭＳ Ｐゴシック"/>
            </a:endParaRPr>
          </a:p>
        </p:txBody>
      </p:sp>
      <p:sp>
        <p:nvSpPr>
          <p:cNvPr id="6" name="Footer Placeholder 5"/>
          <p:cNvSpPr>
            <a:spLocks noGrp="1"/>
          </p:cNvSpPr>
          <p:nvPr>
            <p:ph type="ftr" sz="quarter" idx="11"/>
          </p:nvPr>
        </p:nvSpPr>
        <p:spPr>
          <a:xfrm>
            <a:off x="3124200" y="6356362"/>
            <a:ext cx="2895600" cy="365125"/>
          </a:xfrm>
          <a:prstGeom prst="rect">
            <a:avLst/>
          </a:prstGeom>
        </p:spPr>
        <p:txBody>
          <a:bodyPr/>
          <a:lstStyle/>
          <a:p>
            <a:pPr eaLnBrk="1" fontAlgn="auto" hangingPunct="1">
              <a:spcBef>
                <a:spcPts val="0"/>
              </a:spcBef>
              <a:spcAft>
                <a:spcPts val="0"/>
              </a:spcAft>
            </a:pPr>
            <a:endParaRPr lang="en-US" dirty="0">
              <a:solidFill>
                <a:prstClr val="black"/>
              </a:solidFill>
              <a:latin typeface="Arial"/>
              <a:ea typeface="ＭＳ Ｐゴシック"/>
              <a:cs typeface="ＭＳ Ｐゴシック"/>
            </a:endParaRPr>
          </a:p>
        </p:txBody>
      </p:sp>
      <p:sp>
        <p:nvSpPr>
          <p:cNvPr id="7" name="Slide Number Placeholder 6"/>
          <p:cNvSpPr>
            <a:spLocks noGrp="1"/>
          </p:cNvSpPr>
          <p:nvPr>
            <p:ph type="sldNum" sz="quarter" idx="12"/>
          </p:nvPr>
        </p:nvSpPr>
        <p:spPr>
          <a:xfrm>
            <a:off x="6553200" y="6356362"/>
            <a:ext cx="2133600" cy="365125"/>
          </a:xfrm>
          <a:prstGeom prst="rect">
            <a:avLst/>
          </a:prstGeom>
        </p:spPr>
        <p:txBody>
          <a:bodyPr/>
          <a:lstStyle/>
          <a:p>
            <a:pPr eaLnBrk="1" fontAlgn="auto" hangingPunct="1">
              <a:spcBef>
                <a:spcPts val="0"/>
              </a:spcBef>
              <a:spcAft>
                <a:spcPts val="0"/>
              </a:spcAft>
            </a:pPr>
            <a:fld id="{B497F040-B850-EF4D-8141-826F90229F85}" type="slidenum">
              <a:rPr lang="en-US">
                <a:solidFill>
                  <a:prstClr val="black"/>
                </a:solidFill>
                <a:latin typeface="Arial"/>
                <a:ea typeface="ＭＳ Ｐゴシック"/>
                <a:cs typeface="ＭＳ Ｐゴシック"/>
              </a:rPr>
              <a:pPr eaLnBrk="1" fontAlgn="auto" hangingPunct="1">
                <a:spcBef>
                  <a:spcPts val="0"/>
                </a:spcBef>
                <a:spcAft>
                  <a:spcPts val="0"/>
                </a:spcAft>
              </a:pPr>
              <a:t>‹#›</a:t>
            </a:fld>
            <a:endParaRPr lang="en-US" dirty="0">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575112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Only_water">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a14="http://schemas.microsoft.com/office/drawing/2010/main" xmlns="" w="25400">
                <a:solidFill>
                  <a:srgbClr val="000000"/>
                </a:solidFill>
                <a:miter lim="800000"/>
                <a:headEnd/>
                <a:tailEnd/>
              </a14:hiddenLine>
            </a:ext>
          </a:extLst>
        </p:spPr>
        <p:txBody>
          <a:bodyPr lIns="0" tIns="0" rIns="0" bIns="0"/>
          <a:lstStyle/>
          <a:p>
            <a:pPr defTabSz="457200" eaLnBrk="1" hangingPunct="1"/>
            <a:endParaRPr lang="en-US" smtClean="0">
              <a:solidFill>
                <a:srgbClr val="C8DF93"/>
              </a:solidFill>
              <a:latin typeface="Arial" charset="0"/>
            </a:endParaRPr>
          </a:p>
        </p:txBody>
      </p:sp>
      <p:pic>
        <p:nvPicPr>
          <p:cNvPr id="4" name="Picture 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2947988"/>
            <a:ext cx="9144000" cy="3910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685800" y="457200"/>
            <a:ext cx="7312991" cy="484632"/>
          </a:xfrm>
        </p:spPr>
        <p:txBody>
          <a:bodyPr/>
          <a:lstStyle>
            <a:lvl1pPr algn="l" defTabSz="457200" rtl="0" eaLnBrk="1" latinLnBrk="0" hangingPunct="1">
              <a:lnSpc>
                <a:spcPct val="100000"/>
              </a:lnSpc>
              <a:spcBef>
                <a:spcPct val="0"/>
              </a:spcBef>
              <a:buNone/>
              <a:defRPr lang="en-US" sz="3600" b="1" i="0" kern="1200" baseline="0" dirty="0" smtClean="0">
                <a:solidFill>
                  <a:schemeClr val="tx1"/>
                </a:solidFill>
                <a:effectLst>
                  <a:outerShdw blurRad="50800" dist="50800" dir="2700000" algn="tl" rotWithShape="0">
                    <a:srgbClr val="000000">
                      <a:alpha val="43000"/>
                    </a:srgbClr>
                  </a:outerShdw>
                </a:effectLst>
                <a:latin typeface="Candara"/>
                <a:ea typeface="+mj-ea"/>
                <a:cs typeface="Candara"/>
              </a:defRPr>
            </a:lvl1pPr>
          </a:lstStyle>
          <a:p>
            <a:r>
              <a:rPr lang="en-US" dirty="0" smtClean="0"/>
              <a:t>Click to edit Master title style</a:t>
            </a:r>
            <a:endParaRPr lang="en-US" dirty="0"/>
          </a:p>
        </p:txBody>
      </p:sp>
      <p:sp>
        <p:nvSpPr>
          <p:cNvPr id="6" name="Content Placeholder 5"/>
          <p:cNvSpPr>
            <a:spLocks noGrp="1"/>
          </p:cNvSpPr>
          <p:nvPr>
            <p:ph sz="quarter" idx="10"/>
          </p:nvPr>
        </p:nvSpPr>
        <p:spPr>
          <a:xfrm>
            <a:off x="685800" y="1362075"/>
            <a:ext cx="7313613" cy="3775075"/>
          </a:xfrm>
        </p:spPr>
        <p:txBody>
          <a:bodyPr/>
          <a:lstStyle>
            <a:lvl1pPr>
              <a:defRPr>
                <a:latin typeface="Candara"/>
                <a:cs typeface="Candara"/>
              </a:defRPr>
            </a:lvl1pPr>
            <a:lvl2pPr>
              <a:defRPr>
                <a:latin typeface="Candara"/>
                <a:cs typeface="Candara"/>
              </a:defRPr>
            </a:lvl2pPr>
            <a:lvl3pPr>
              <a:defRPr>
                <a:latin typeface="Candara"/>
                <a:cs typeface="Candara"/>
              </a:defRPr>
            </a:lvl3pPr>
            <a:lvl4pPr>
              <a:defRPr>
                <a:latin typeface="Candara"/>
                <a:cs typeface="Candara"/>
              </a:defRPr>
            </a:lvl4pPr>
            <a:lvl5pPr>
              <a:defRPr>
                <a:latin typeface="Candara"/>
                <a:cs typeface="Candar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224840"/>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12"/>
            <a:ext cx="7315200"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800" y="1602421"/>
            <a:ext cx="5486400" cy="2743200"/>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Tree>
    <p:extLst>
      <p:ext uri="{BB962C8B-B14F-4D97-AF65-F5344CB8AC3E}">
        <p14:creationId xmlns:p14="http://schemas.microsoft.com/office/powerpoint/2010/main" val="4060668680"/>
      </p:ext>
    </p:extLst>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 id="2147483970" r:id="rId12"/>
    <p:sldLayoutId id="2147483971" r:id="rId13"/>
  </p:sldLayoutIdLst>
  <p:transition spd="med">
    <p:fade/>
  </p:transition>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20" Type="http://schemas.openxmlformats.org/officeDocument/2006/relationships/image" Target="../media/image19.png"/><Relationship Id="rId10" Type="http://schemas.openxmlformats.org/officeDocument/2006/relationships/image" Target="../media/image10.jp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jpeg"/><Relationship Id="rId18" Type="http://schemas.microsoft.com/office/2007/relationships/hdphoto" Target="../media/hdphoto1.wdp"/><Relationship Id="rId19" Type="http://schemas.openxmlformats.org/officeDocument/2006/relationships/image" Target="../media/image18.png"/><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hyperlink" Target="http://youtu.be/Ey_MC-mRVVc?rel=0&amp;width=640&amp;height=480" TargetMode="External"/><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hyperlink" Target="http://youtu.be/NkYibcBjaNY?rel=0&amp;width=640&amp;height=480" TargetMode="External"/><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hyperlink" Target="http://arcg.is/1ETcY5s" TargetMode="External"/><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hyperlink" Target="http://arcg.is/1ETcY5s" TargetMode="External"/><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s>
</file>

<file path=ppt/slides/_rels/slide8.xml.rels><?xml version="1.0" encoding="UTF-8" standalone="yes"?>
<Relationships xmlns="http://schemas.openxmlformats.org/package/2006/relationships"><Relationship Id="rId9" Type="http://schemas.openxmlformats.org/officeDocument/2006/relationships/image" Target="../media/image9.png"/><Relationship Id="rId20" Type="http://schemas.openxmlformats.org/officeDocument/2006/relationships/image" Target="../media/image3.png"/><Relationship Id="rId10" Type="http://schemas.openxmlformats.org/officeDocument/2006/relationships/image" Target="../media/image10.jp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31.png"/><Relationship Id="rId16" Type="http://schemas.openxmlformats.org/officeDocument/2006/relationships/image" Target="../media/image17.jpeg"/><Relationship Id="rId17" Type="http://schemas.microsoft.com/office/2007/relationships/hdphoto" Target="../media/hdphoto2.wdp"/><Relationship Id="rId18" Type="http://schemas.openxmlformats.org/officeDocument/2006/relationships/image" Target="../media/image18.png"/><Relationship Id="rId19" Type="http://schemas.openxmlformats.org/officeDocument/2006/relationships/image" Target="../media/image32.png"/><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gif"/><Relationship Id="rId6" Type="http://schemas.openxmlformats.org/officeDocument/2006/relationships/image" Target="../media/image37.png"/><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3" Type="http://schemas.openxmlformats.org/officeDocument/2006/relationships/image" Target="../media/image40.jpeg"/><Relationship Id="rId4"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7.jpg"/></Relationships>
</file>

<file path=ppt/slides/_rels/slide16.xml.rels><?xml version="1.0" encoding="UTF-8" standalone="yes"?>
<Relationships xmlns="http://schemas.openxmlformats.org/package/2006/relationships"><Relationship Id="rId3" Type="http://schemas.openxmlformats.org/officeDocument/2006/relationships/image" Target="../media/image48.jpg"/><Relationship Id="rId4" Type="http://schemas.openxmlformats.org/officeDocument/2006/relationships/hyperlink" Target="http://apps.hydroshare.org/" TargetMode="External"/><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hyperlink" Target="http://tethys.ci-water.or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mailto:david.arctur@utexas.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a:fillRect/>
          </a:stretch>
        </p:blipFill>
        <p:spPr>
          <a:xfrm>
            <a:off x="6250962" y="1669811"/>
            <a:ext cx="2751064" cy="955633"/>
          </a:xfrm>
          <a:prstGeom prst="rect">
            <a:avLst/>
          </a:prstGeom>
        </p:spPr>
      </p:pic>
      <p:pic>
        <p:nvPicPr>
          <p:cNvPr id="5" name="Picture 4" descr="ECMWF logo.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783902" y="5106705"/>
            <a:ext cx="2672646" cy="577680"/>
          </a:xfrm>
          <a:prstGeom prst="rect">
            <a:avLst/>
          </a:prstGeom>
        </p:spPr>
      </p:pic>
      <p:pic>
        <p:nvPicPr>
          <p:cNvPr id="7" name="Picture 6" descr="horizons logo.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13860" y="5446250"/>
            <a:ext cx="2028941" cy="1260169"/>
          </a:xfrm>
          <a:prstGeom prst="rect">
            <a:avLst/>
          </a:prstGeom>
        </p:spPr>
      </p:pic>
      <p:pic>
        <p:nvPicPr>
          <p:cNvPr id="8" name="Picture 7" descr="niwa-logo.pn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18145" y="4649768"/>
            <a:ext cx="2550859" cy="617308"/>
          </a:xfrm>
          <a:prstGeom prst="rect">
            <a:avLst/>
          </a:prstGeom>
        </p:spPr>
      </p:pic>
      <p:pic>
        <p:nvPicPr>
          <p:cNvPr id="13" name="Picture 12" descr="JRC logo.png"/>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741130" y="5758799"/>
            <a:ext cx="4798950" cy="917794"/>
          </a:xfrm>
          <a:prstGeom prst="rect">
            <a:avLst/>
          </a:prstGeom>
        </p:spPr>
      </p:pic>
      <p:pic>
        <p:nvPicPr>
          <p:cNvPr id="17" name="Picture 16" descr="Kisters logo.png"/>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6329470" y="3685687"/>
            <a:ext cx="2648611" cy="726232"/>
          </a:xfrm>
          <a:prstGeom prst="rect">
            <a:avLst/>
          </a:prstGeom>
        </p:spPr>
      </p:pic>
      <p:pic>
        <p:nvPicPr>
          <p:cNvPr id="18" name="Picture 17" descr="BYU logo.png"/>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206840" y="2540601"/>
            <a:ext cx="2622517" cy="836107"/>
          </a:xfrm>
          <a:prstGeom prst="rect">
            <a:avLst/>
          </a:prstGeom>
        </p:spPr>
      </p:pic>
      <p:sp>
        <p:nvSpPr>
          <p:cNvPr id="2" name="Title 1"/>
          <p:cNvSpPr>
            <a:spLocks noGrp="1"/>
          </p:cNvSpPr>
          <p:nvPr>
            <p:ph type="title"/>
          </p:nvPr>
        </p:nvSpPr>
        <p:spPr>
          <a:xfrm>
            <a:off x="228868" y="840689"/>
            <a:ext cx="8229600" cy="414371"/>
          </a:xfrm>
          <a:ln>
            <a:noFill/>
          </a:ln>
        </p:spPr>
        <p:txBody>
          <a:bodyPr>
            <a:noAutofit/>
          </a:bodyPr>
          <a:lstStyle/>
          <a:p>
            <a:pPr algn="ctr"/>
            <a:r>
              <a:rPr lang="en-US" sz="3200" dirty="0">
                <a:effectLst>
                  <a:outerShdw blurRad="50800" dist="38100" dir="2700000" algn="tl" rotWithShape="0">
                    <a:srgbClr val="000000">
                      <a:alpha val="43000"/>
                    </a:srgbClr>
                  </a:outerShdw>
                </a:effectLst>
                <a:latin typeface="Candara"/>
                <a:cs typeface="Candara"/>
              </a:rPr>
              <a:t>AIP-7 (2014) GEOSS Water Services Team</a:t>
            </a:r>
          </a:p>
        </p:txBody>
      </p:sp>
      <p:pic>
        <p:nvPicPr>
          <p:cNvPr id="4" name="Picture 3" descr="cuahsi_logo_text.jpg"/>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3013910" y="1437537"/>
            <a:ext cx="2555524" cy="764975"/>
          </a:xfrm>
          <a:prstGeom prst="rect">
            <a:avLst/>
          </a:prstGeom>
        </p:spPr>
      </p:pic>
      <p:pic>
        <p:nvPicPr>
          <p:cNvPr id="20" name="Picture 19" descr="Esri logo.png"/>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7056627" y="2757873"/>
            <a:ext cx="1897746" cy="710486"/>
          </a:xfrm>
          <a:prstGeom prst="rect">
            <a:avLst/>
          </a:prstGeom>
        </p:spPr>
      </p:pic>
      <p:grpSp>
        <p:nvGrpSpPr>
          <p:cNvPr id="23" name="Group 22"/>
          <p:cNvGrpSpPr/>
          <p:nvPr/>
        </p:nvGrpSpPr>
        <p:grpSpPr>
          <a:xfrm>
            <a:off x="5802415" y="4587881"/>
            <a:ext cx="3215351" cy="1062088"/>
            <a:chOff x="3001268" y="863207"/>
            <a:chExt cx="3976261" cy="1335544"/>
          </a:xfrm>
        </p:grpSpPr>
        <p:pic>
          <p:nvPicPr>
            <p:cNvPr id="24" name="Picture 23" descr="NASA basic.png"/>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3001268" y="863207"/>
              <a:ext cx="3976261" cy="762000"/>
            </a:xfrm>
            <a:prstGeom prst="rect">
              <a:avLst/>
            </a:prstGeom>
          </p:spPr>
        </p:pic>
        <p:pic>
          <p:nvPicPr>
            <p:cNvPr id="25" name="Picture 24" descr="NASA hydro.png"/>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3001268" y="1610267"/>
              <a:ext cx="3976261" cy="588484"/>
            </a:xfrm>
            <a:prstGeom prst="rect">
              <a:avLst/>
            </a:prstGeom>
          </p:spPr>
        </p:pic>
      </p:grpSp>
      <p:pic>
        <p:nvPicPr>
          <p:cNvPr id="9" name="Picture 8" descr="CNR-IIA-lg.png"/>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7790331" y="5728050"/>
            <a:ext cx="1180669" cy="976864"/>
          </a:xfrm>
          <a:prstGeom prst="rect">
            <a:avLst/>
          </a:prstGeom>
        </p:spPr>
      </p:pic>
      <p:pic>
        <p:nvPicPr>
          <p:cNvPr id="26" name="Picture 25"/>
          <p:cNvPicPr/>
          <p:nvPr/>
        </p:nvPicPr>
        <p:blipFill>
          <a:blip r:embed="rId15" cstate="print">
            <a:extLst>
              <a:ext uri="{28A0092B-C50C-407E-A947-70E740481C1C}">
                <a14:useLocalDpi xmlns:a14="http://schemas.microsoft.com/office/drawing/2010/main"/>
              </a:ext>
            </a:extLst>
          </a:blip>
          <a:stretch>
            <a:fillRect/>
          </a:stretch>
        </p:blipFill>
        <p:spPr>
          <a:xfrm>
            <a:off x="283882" y="1496230"/>
            <a:ext cx="2278876" cy="864476"/>
          </a:xfrm>
          <a:prstGeom prst="rect">
            <a:avLst/>
          </a:prstGeom>
          <a:extLst>
            <a:ext uri="{FAA26D3D-D897-4be2-8F04-BA451C77F1D7}">
              <ma14:placeholderFlag xmlns:ma14="http://schemas.microsoft.com/office/mac/drawingml/2011/main"/>
            </a:ext>
          </a:extLst>
        </p:spPr>
      </p:pic>
      <p:pic>
        <p:nvPicPr>
          <p:cNvPr id="15" name="Picture 14"/>
          <p:cNvPicPr>
            <a:picLocks noChangeAspect="1"/>
          </p:cNvPicPr>
          <p:nvPr/>
        </p:nvPicPr>
        <p:blipFill>
          <a:blip r:embed="rId16"/>
          <a:stretch>
            <a:fillRect/>
          </a:stretch>
        </p:blipFill>
        <p:spPr>
          <a:xfrm>
            <a:off x="312869" y="3598690"/>
            <a:ext cx="2400300" cy="685800"/>
          </a:xfrm>
          <a:prstGeom prst="rect">
            <a:avLst/>
          </a:prstGeom>
        </p:spPr>
      </p:pic>
      <p:pic>
        <p:nvPicPr>
          <p:cNvPr id="19" name="Picture 18"/>
          <p:cNvPicPr>
            <a:picLocks noChangeAspect="1"/>
          </p:cNvPicPr>
          <p:nvPr/>
        </p:nvPicPr>
        <p:blipFill>
          <a:blip r:embed="rId17">
            <a:extLst>
              <a:ext uri="{BEBA8EAE-BF5A-486C-A8C5-ECC9F3942E4B}">
                <a14:imgProps xmlns:a14="http://schemas.microsoft.com/office/drawing/2010/main">
                  <a14:imgLayer r:embed="rId18">
                    <a14:imgEffect>
                      <a14:colorTemperature colorTemp="2261"/>
                    </a14:imgEffect>
                  </a14:imgLayer>
                </a14:imgProps>
              </a:ext>
            </a:extLst>
          </a:blip>
          <a:stretch>
            <a:fillRect/>
          </a:stretch>
        </p:blipFill>
        <p:spPr>
          <a:xfrm>
            <a:off x="3093440" y="2334656"/>
            <a:ext cx="3441480" cy="567593"/>
          </a:xfrm>
          <a:prstGeom prst="rect">
            <a:avLst/>
          </a:prstGeom>
        </p:spPr>
      </p:pic>
      <p:pic>
        <p:nvPicPr>
          <p:cNvPr id="22" name="Picture 21" descr="GloFAS logo.png"/>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3107061" y="4067571"/>
            <a:ext cx="2342713" cy="863105"/>
          </a:xfrm>
          <a:prstGeom prst="rect">
            <a:avLst/>
          </a:prstGeom>
        </p:spPr>
      </p:pic>
      <p:pic>
        <p:nvPicPr>
          <p:cNvPr id="3" name="Picture 2"/>
          <p:cNvPicPr>
            <a:picLocks noChangeAspect="1"/>
          </p:cNvPicPr>
          <p:nvPr/>
        </p:nvPicPr>
        <p:blipFill>
          <a:blip r:embed="rId20"/>
          <a:stretch>
            <a:fillRect/>
          </a:stretch>
        </p:blipFill>
        <p:spPr>
          <a:xfrm>
            <a:off x="3406741" y="3128170"/>
            <a:ext cx="2387600" cy="736600"/>
          </a:xfrm>
          <a:prstGeom prst="rect">
            <a:avLst/>
          </a:prstGeom>
        </p:spPr>
      </p:pic>
    </p:spTree>
    <p:extLst>
      <p:ext uri="{BB962C8B-B14F-4D97-AF65-F5344CB8AC3E}">
        <p14:creationId xmlns:p14="http://schemas.microsoft.com/office/powerpoint/2010/main" val="1398273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AWA map-1.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91882" y="1479176"/>
            <a:ext cx="3750236" cy="5090024"/>
          </a:xfrm>
          <a:prstGeom prst="rect">
            <a:avLst/>
          </a:prstGeom>
        </p:spPr>
      </p:pic>
      <p:pic>
        <p:nvPicPr>
          <p:cNvPr id="5" name="Picture 4" descr="LAWA map-2.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71070" y="1348516"/>
            <a:ext cx="2203166" cy="4030311"/>
          </a:xfrm>
          <a:prstGeom prst="rect">
            <a:avLst/>
          </a:prstGeom>
        </p:spPr>
      </p:pic>
      <p:pic>
        <p:nvPicPr>
          <p:cNvPr id="10" name="Picture 9" descr="LAWA map-3.png"/>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463800" y="4410780"/>
            <a:ext cx="3034554" cy="2447221"/>
          </a:xfrm>
          <a:prstGeom prst="rect">
            <a:avLst/>
          </a:prstGeom>
        </p:spPr>
      </p:pic>
      <p:sp>
        <p:nvSpPr>
          <p:cNvPr id="2" name="Title 1"/>
          <p:cNvSpPr>
            <a:spLocks noGrp="1"/>
          </p:cNvSpPr>
          <p:nvPr>
            <p:ph type="title"/>
          </p:nvPr>
        </p:nvSpPr>
        <p:spPr>
          <a:xfrm>
            <a:off x="238133" y="838202"/>
            <a:ext cx="8799559" cy="542925"/>
          </a:xfrm>
        </p:spPr>
        <p:txBody>
          <a:bodyPr/>
          <a:lstStyle/>
          <a:p>
            <a:r>
              <a:rPr lang="en-US" sz="3200" dirty="0" smtClean="0">
                <a:latin typeface="Candara"/>
                <a:cs typeface="Candara"/>
              </a:rPr>
              <a:t>Land Air Water Aoteara: </a:t>
            </a:r>
            <a:r>
              <a:rPr lang="en-US" sz="3200" dirty="0" smtClean="0">
                <a:solidFill>
                  <a:srgbClr val="000000"/>
                </a:solidFill>
                <a:latin typeface="Candara"/>
                <a:cs typeface="Candara"/>
              </a:rPr>
              <a:t>LAWA</a:t>
            </a:r>
            <a:r>
              <a:rPr lang="en-US" sz="3200" dirty="0" smtClean="0">
                <a:latin typeface="Candara"/>
                <a:cs typeface="Candara"/>
              </a:rPr>
              <a:t> </a:t>
            </a:r>
            <a:r>
              <a:rPr lang="en-US" sz="3200" dirty="0" smtClean="0">
                <a:solidFill>
                  <a:schemeClr val="tx1"/>
                </a:solidFill>
                <a:latin typeface="Candara"/>
                <a:cs typeface="Candara"/>
              </a:rPr>
              <a:t>New Zealand</a:t>
            </a:r>
            <a:endParaRPr lang="en-US" sz="3200" dirty="0">
              <a:solidFill>
                <a:schemeClr val="tx1"/>
              </a:solidFill>
              <a:latin typeface="Candara"/>
              <a:cs typeface="Candara"/>
            </a:endParaRPr>
          </a:p>
        </p:txBody>
      </p:sp>
      <p:grpSp>
        <p:nvGrpSpPr>
          <p:cNvPr id="18" name="Group 17"/>
          <p:cNvGrpSpPr/>
          <p:nvPr/>
        </p:nvGrpSpPr>
        <p:grpSpPr>
          <a:xfrm>
            <a:off x="1638311" y="1580287"/>
            <a:ext cx="2113325" cy="2239545"/>
            <a:chOff x="1638310" y="1580285"/>
            <a:chExt cx="2113325" cy="2239545"/>
          </a:xfrm>
        </p:grpSpPr>
        <p:cxnSp>
          <p:nvCxnSpPr>
            <p:cNvPr id="14" name="Straight Connector 13"/>
            <p:cNvCxnSpPr/>
            <p:nvPr/>
          </p:nvCxnSpPr>
          <p:spPr bwMode="auto">
            <a:xfrm flipH="1">
              <a:off x="1638310" y="1580285"/>
              <a:ext cx="1909746" cy="1522115"/>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6" name="Straight Connector 15"/>
            <p:cNvCxnSpPr/>
            <p:nvPr/>
          </p:nvCxnSpPr>
          <p:spPr bwMode="auto">
            <a:xfrm flipH="1" flipV="1">
              <a:off x="1748118" y="3795059"/>
              <a:ext cx="2003517" cy="24771"/>
            </a:xfrm>
            <a:prstGeom prst="line">
              <a:avLst/>
            </a:prstGeom>
            <a:solidFill>
              <a:schemeClr val="accent1"/>
            </a:solidFill>
            <a:ln w="9525" cap="flat" cmpd="sng" algn="ctr">
              <a:solidFill>
                <a:srgbClr val="FF0000"/>
              </a:solidFill>
              <a:prstDash val="solid"/>
              <a:round/>
              <a:headEnd type="none" w="med" len="med"/>
              <a:tailEnd type="none" w="med" len="med"/>
            </a:ln>
            <a:effectLst/>
          </p:spPr>
        </p:cxnSp>
      </p:grpSp>
      <p:grpSp>
        <p:nvGrpSpPr>
          <p:cNvPr id="20" name="Group 19"/>
          <p:cNvGrpSpPr/>
          <p:nvPr/>
        </p:nvGrpSpPr>
        <p:grpSpPr>
          <a:xfrm>
            <a:off x="3131209" y="3466353"/>
            <a:ext cx="1784439" cy="2331256"/>
            <a:chOff x="3131208" y="3466353"/>
            <a:chExt cx="1784439" cy="2331256"/>
          </a:xfrm>
        </p:grpSpPr>
        <p:cxnSp>
          <p:nvCxnSpPr>
            <p:cNvPr id="19" name="Straight Connector 18"/>
            <p:cNvCxnSpPr/>
            <p:nvPr/>
          </p:nvCxnSpPr>
          <p:spPr bwMode="auto">
            <a:xfrm flipH="1">
              <a:off x="4905236" y="3466353"/>
              <a:ext cx="10411" cy="1856201"/>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2" name="Straight Connector 21"/>
            <p:cNvCxnSpPr/>
            <p:nvPr/>
          </p:nvCxnSpPr>
          <p:spPr bwMode="auto">
            <a:xfrm flipH="1">
              <a:off x="3131208" y="3829525"/>
              <a:ext cx="610731" cy="1968084"/>
            </a:xfrm>
            <a:prstGeom prst="line">
              <a:avLst/>
            </a:prstGeom>
            <a:solidFill>
              <a:schemeClr val="accent1"/>
            </a:solidFill>
            <a:ln w="9525" cap="flat" cmpd="sng" algn="ctr">
              <a:solidFill>
                <a:srgbClr val="FF0000"/>
              </a:solidFill>
              <a:prstDash val="solid"/>
              <a:round/>
              <a:headEnd type="none" w="med" len="med"/>
              <a:tailEnd type="none" w="med" len="med"/>
            </a:ln>
            <a:effectLst/>
          </p:spPr>
        </p:cxnSp>
      </p:grpSp>
      <p:grpSp>
        <p:nvGrpSpPr>
          <p:cNvPr id="34" name="Group 33"/>
          <p:cNvGrpSpPr/>
          <p:nvPr/>
        </p:nvGrpSpPr>
        <p:grpSpPr>
          <a:xfrm>
            <a:off x="3897045" y="4650051"/>
            <a:ext cx="1644682" cy="750064"/>
            <a:chOff x="3897045" y="4659746"/>
            <a:chExt cx="1644682" cy="750064"/>
          </a:xfrm>
        </p:grpSpPr>
        <p:sp>
          <p:nvSpPr>
            <p:cNvPr id="32" name="Right Arrow 31"/>
            <p:cNvSpPr/>
            <p:nvPr/>
          </p:nvSpPr>
          <p:spPr bwMode="auto">
            <a:xfrm rot="20291016">
              <a:off x="4082770" y="4659746"/>
              <a:ext cx="1458957" cy="610785"/>
            </a:xfrm>
            <a:prstGeom prst="rightArrow">
              <a:avLst/>
            </a:prstGeom>
            <a:gradFill flip="none" rotWithShape="1">
              <a:gsLst>
                <a:gs pos="21000">
                  <a:schemeClr val="accent2">
                    <a:lumMod val="40000"/>
                    <a:lumOff val="60000"/>
                    <a:alpha val="72000"/>
                  </a:schemeClr>
                </a:gs>
                <a:gs pos="100000">
                  <a:srgbClr val="FFFFFF"/>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400">
                <a:solidFill>
                  <a:srgbClr val="000000"/>
                </a:solidFill>
                <a:latin typeface="Arial" pitchFamily="-65" charset="0"/>
              </a:endParaRPr>
            </a:p>
          </p:txBody>
        </p:sp>
        <p:sp>
          <p:nvSpPr>
            <p:cNvPr id="33" name="Oval 32"/>
            <p:cNvSpPr/>
            <p:nvPr/>
          </p:nvSpPr>
          <p:spPr bwMode="auto">
            <a:xfrm>
              <a:off x="3897045" y="5225604"/>
              <a:ext cx="193883" cy="184206"/>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400">
                <a:solidFill>
                  <a:srgbClr val="000000"/>
                </a:solidFill>
                <a:latin typeface="Arial" pitchFamily="-65" charset="0"/>
              </a:endParaRPr>
            </a:p>
          </p:txBody>
        </p:sp>
      </p:grpSp>
      <p:sp>
        <p:nvSpPr>
          <p:cNvPr id="3" name="TextBox 2"/>
          <p:cNvSpPr txBox="1"/>
          <p:nvPr/>
        </p:nvSpPr>
        <p:spPr>
          <a:xfrm>
            <a:off x="255164" y="6194995"/>
            <a:ext cx="2796629" cy="369332"/>
          </a:xfrm>
          <a:prstGeom prst="rect">
            <a:avLst/>
          </a:prstGeom>
          <a:noFill/>
        </p:spPr>
        <p:txBody>
          <a:bodyPr wrap="square" rtlCol="0">
            <a:spAutoFit/>
          </a:bodyPr>
          <a:lstStyle/>
          <a:p>
            <a:r>
              <a:rPr lang="en-US" dirty="0">
                <a:solidFill>
                  <a:srgbClr val="FFFFFF"/>
                </a:solidFill>
                <a:latin typeface="Arial"/>
              </a:rPr>
              <a:t>http://</a:t>
            </a:r>
            <a:r>
              <a:rPr lang="en-US" dirty="0" err="1">
                <a:solidFill>
                  <a:srgbClr val="FFFFFF"/>
                </a:solidFill>
                <a:latin typeface="Arial"/>
              </a:rPr>
              <a:t>www.lawa.org.nz</a:t>
            </a:r>
            <a:r>
              <a:rPr lang="en-US" dirty="0">
                <a:solidFill>
                  <a:srgbClr val="FFFFFF"/>
                </a:solidFill>
                <a:latin typeface="Arial"/>
              </a:rPr>
              <a:t>/</a:t>
            </a:r>
          </a:p>
        </p:txBody>
      </p:sp>
      <p:pic>
        <p:nvPicPr>
          <p:cNvPr id="17" name="Picture 16" descr="LAWA WQ-1.png"/>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617882" y="1538426"/>
            <a:ext cx="3526118" cy="5319575"/>
          </a:xfrm>
          <a:prstGeom prst="rect">
            <a:avLst/>
          </a:prstGeom>
        </p:spPr>
      </p:pic>
    </p:spTree>
    <p:extLst>
      <p:ext uri="{BB962C8B-B14F-4D97-AF65-F5344CB8AC3E}">
        <p14:creationId xmlns:p14="http://schemas.microsoft.com/office/powerpoint/2010/main" val="3414170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000"/>
                                        <p:tgtEl>
                                          <p:spTgt spid="18"/>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1000"/>
                                        <p:tgtEl>
                                          <p:spTgt spid="5"/>
                                        </p:tgtEl>
                                      </p:cBhvr>
                                    </p:animEffect>
                                  </p:childTnLst>
                                </p:cTn>
                              </p:par>
                            </p:childTnLst>
                          </p:cTn>
                        </p:par>
                        <p:par>
                          <p:cTn id="11" fill="hold">
                            <p:stCondLst>
                              <p:cond delay="1000"/>
                            </p:stCondLst>
                            <p:childTnLst>
                              <p:par>
                                <p:cTn id="12" presetID="22" presetClass="entr" presetSubtype="1" fill="hold" nodeType="afterEffect">
                                  <p:stCondLst>
                                    <p:cond delay="200"/>
                                  </p:stCondLst>
                                  <p:childTnLst>
                                    <p:set>
                                      <p:cBhvr>
                                        <p:cTn id="13" dur="1" fill="hold">
                                          <p:stCondLst>
                                            <p:cond delay="0"/>
                                          </p:stCondLst>
                                        </p:cTn>
                                        <p:tgtEl>
                                          <p:spTgt spid="20"/>
                                        </p:tgtEl>
                                        <p:attrNameLst>
                                          <p:attrName>style.visibility</p:attrName>
                                        </p:attrNameLst>
                                      </p:cBhvr>
                                      <p:to>
                                        <p:strVal val="visible"/>
                                      </p:to>
                                    </p:set>
                                    <p:animEffect transition="in" filter="wipe(up)">
                                      <p:cBhvr>
                                        <p:cTn id="14" dur="1000"/>
                                        <p:tgtEl>
                                          <p:spTgt spid="20"/>
                                        </p:tgtEl>
                                      </p:cBhvr>
                                    </p:animEffect>
                                  </p:childTnLst>
                                </p:cTn>
                              </p:par>
                              <p:par>
                                <p:cTn id="15" presetID="22" presetClass="entr" presetSubtype="1" fill="hold" nodeType="withEffect">
                                  <p:stCondLst>
                                    <p:cond delay="20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1000"/>
                                        <p:tgtEl>
                                          <p:spTgt spid="10"/>
                                        </p:tgtEl>
                                      </p:cBhvr>
                                    </p:animEffect>
                                  </p:childTnLst>
                                </p:cTn>
                              </p:par>
                            </p:childTnLst>
                          </p:cTn>
                        </p:par>
                        <p:par>
                          <p:cTn id="18" fill="hold">
                            <p:stCondLst>
                              <p:cond delay="2200"/>
                            </p:stCondLst>
                            <p:childTnLst>
                              <p:par>
                                <p:cTn id="19" presetID="22" presetClass="entr" presetSubtype="8" fill="hold" nodeType="afterEffect">
                                  <p:stCondLst>
                                    <p:cond delay="20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1000"/>
                                        <p:tgtEl>
                                          <p:spTgt spid="34"/>
                                        </p:tgtEl>
                                      </p:cBhvr>
                                    </p:animEffect>
                                  </p:childTnLst>
                                </p:cTn>
                              </p:par>
                            </p:childTnLst>
                          </p:cTn>
                        </p:par>
                        <p:par>
                          <p:cTn id="22" fill="hold">
                            <p:stCondLst>
                              <p:cond delay="3400"/>
                            </p:stCondLst>
                            <p:childTnLst>
                              <p:par>
                                <p:cTn id="23" presetID="22" presetClass="entr" presetSubtype="8"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a:ext>
            </a:extLst>
          </a:blip>
          <a:srcRect/>
          <a:stretch>
            <a:fillRect/>
          </a:stretch>
        </p:blipFill>
        <p:spPr/>
      </p:pic>
      <p:sp>
        <p:nvSpPr>
          <p:cNvPr id="4" name="Title 1"/>
          <p:cNvSpPr>
            <a:spLocks noGrp="1"/>
          </p:cNvSpPr>
          <p:nvPr>
            <p:ph type="title"/>
          </p:nvPr>
        </p:nvSpPr>
        <p:spPr>
          <a:xfrm>
            <a:off x="238133" y="838202"/>
            <a:ext cx="8799559" cy="542925"/>
          </a:xfrm>
        </p:spPr>
        <p:txBody>
          <a:bodyPr/>
          <a:lstStyle/>
          <a:p>
            <a:r>
              <a:rPr lang="en-US" sz="3200" dirty="0">
                <a:latin typeface="Candara"/>
                <a:cs typeface="Candara"/>
              </a:rPr>
              <a:t>Land Air Water Aoteara: </a:t>
            </a:r>
            <a:r>
              <a:rPr lang="en-US" sz="3200" dirty="0" smtClean="0">
                <a:solidFill>
                  <a:srgbClr val="000000"/>
                </a:solidFill>
                <a:latin typeface="Candara"/>
                <a:cs typeface="Candara"/>
              </a:rPr>
              <a:t>LAWA</a:t>
            </a:r>
            <a:r>
              <a:rPr lang="en-US" sz="3200" dirty="0" smtClean="0">
                <a:latin typeface="Candara"/>
                <a:cs typeface="Candara"/>
              </a:rPr>
              <a:t> </a:t>
            </a:r>
            <a:r>
              <a:rPr lang="en-US" sz="3200" dirty="0" smtClean="0">
                <a:solidFill>
                  <a:schemeClr val="tx1"/>
                </a:solidFill>
                <a:latin typeface="Candara"/>
                <a:cs typeface="Candara"/>
              </a:rPr>
              <a:t>New Zealand</a:t>
            </a:r>
            <a:endParaRPr lang="en-US" sz="3200" dirty="0">
              <a:solidFill>
                <a:schemeClr val="tx1"/>
              </a:solidFill>
              <a:latin typeface="Candara"/>
              <a:cs typeface="Candara"/>
            </a:endParaRPr>
          </a:p>
        </p:txBody>
      </p:sp>
      <p:pic>
        <p:nvPicPr>
          <p:cNvPr id="6" name="Picture 5"/>
          <p:cNvPicPr>
            <a:picLocks noChangeAspect="1"/>
          </p:cNvPicPr>
          <p:nvPr/>
        </p:nvPicPr>
        <p:blipFill>
          <a:blip r:embed="rId4"/>
          <a:stretch>
            <a:fillRect/>
          </a:stretch>
        </p:blipFill>
        <p:spPr>
          <a:xfrm>
            <a:off x="691717" y="1406188"/>
            <a:ext cx="3963892" cy="629824"/>
          </a:xfrm>
          <a:prstGeom prst="rect">
            <a:avLst/>
          </a:prstGeom>
        </p:spPr>
      </p:pic>
      <p:grpSp>
        <p:nvGrpSpPr>
          <p:cNvPr id="9" name="Group 8"/>
          <p:cNvGrpSpPr/>
          <p:nvPr/>
        </p:nvGrpSpPr>
        <p:grpSpPr>
          <a:xfrm>
            <a:off x="2139471" y="6429907"/>
            <a:ext cx="4834408" cy="338554"/>
            <a:chOff x="2082771" y="6373207"/>
            <a:chExt cx="4834408" cy="338554"/>
          </a:xfrm>
        </p:grpSpPr>
        <p:sp>
          <p:nvSpPr>
            <p:cNvPr id="7" name="Right Triangle 6"/>
            <p:cNvSpPr/>
            <p:nvPr/>
          </p:nvSpPr>
          <p:spPr bwMode="auto">
            <a:xfrm rot="13606203">
              <a:off x="2083744" y="6433587"/>
              <a:ext cx="268110" cy="270055"/>
            </a:xfrm>
            <a:prstGeom prst="rtTriangle">
              <a:avLst/>
            </a:prstGeom>
            <a:solidFill>
              <a:schemeClr val="tx1">
                <a:alpha val="59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200">
                <a:solidFill>
                  <a:srgbClr val="000000"/>
                </a:solidFill>
                <a:latin typeface="Arial" pitchFamily="-65" charset="0"/>
              </a:endParaRPr>
            </a:p>
          </p:txBody>
        </p:sp>
        <p:sp>
          <p:nvSpPr>
            <p:cNvPr id="8" name="TextBox 7">
              <a:hlinkClick r:id="rId5"/>
            </p:cNvPr>
            <p:cNvSpPr txBox="1"/>
            <p:nvPr/>
          </p:nvSpPr>
          <p:spPr>
            <a:xfrm>
              <a:off x="2415343" y="6373207"/>
              <a:ext cx="4501836" cy="338554"/>
            </a:xfrm>
            <a:prstGeom prst="rect">
              <a:avLst/>
            </a:prstGeom>
            <a:noFill/>
          </p:spPr>
          <p:txBody>
            <a:bodyPr wrap="square" rtlCol="0">
              <a:spAutoFit/>
            </a:bodyPr>
            <a:lstStyle/>
            <a:p>
              <a:r>
                <a:rPr lang="en-US" sz="1600" dirty="0" smtClean="0">
                  <a:solidFill>
                    <a:srgbClr val="808080">
                      <a:lumMod val="75000"/>
                    </a:srgbClr>
                  </a:solidFill>
                  <a:latin typeface="Arial"/>
                </a:rPr>
                <a:t>Video: AIP7-NewZealandClients (youtube) </a:t>
              </a:r>
              <a:endParaRPr lang="en-US" sz="1600" dirty="0">
                <a:solidFill>
                  <a:srgbClr val="808080">
                    <a:lumMod val="75000"/>
                  </a:srgbClr>
                </a:solidFill>
                <a:latin typeface="Arial"/>
              </a:endParaRPr>
            </a:p>
          </p:txBody>
        </p:sp>
      </p:grpSp>
    </p:spTree>
    <p:extLst>
      <p:ext uri="{BB962C8B-B14F-4D97-AF65-F5344CB8AC3E}">
        <p14:creationId xmlns:p14="http://schemas.microsoft.com/office/powerpoint/2010/main" val="6471571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smtClean="0">
                <a:latin typeface="Candara"/>
                <a:cs typeface="Candara"/>
              </a:rPr>
              <a:t>WaterInfo.be</a:t>
            </a:r>
            <a:r>
              <a:rPr lang="en-US" sz="3200" dirty="0" smtClean="0">
                <a:latin typeface="Candara"/>
                <a:cs typeface="Candara"/>
              </a:rPr>
              <a:t>: </a:t>
            </a:r>
            <a:r>
              <a:rPr lang="en-US" sz="3200" dirty="0" smtClean="0">
                <a:solidFill>
                  <a:srgbClr val="000000"/>
                </a:solidFill>
                <a:latin typeface="Candara"/>
                <a:cs typeface="Candara"/>
              </a:rPr>
              <a:t>Flemish Water Portal</a:t>
            </a:r>
            <a:endParaRPr lang="en-US" sz="3200" dirty="0">
              <a:solidFill>
                <a:srgbClr val="000000"/>
              </a:solidFill>
              <a:latin typeface="Candara"/>
              <a:cs typeface="Candara"/>
            </a:endParaRP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a:ext>
            </a:extLst>
          </a:blip>
          <a:srcRect/>
          <a:stretch>
            <a:fillRect/>
          </a:stretch>
        </p:blipFill>
        <p:spPr/>
      </p:pic>
      <p:grpSp>
        <p:nvGrpSpPr>
          <p:cNvPr id="5" name="Group 4"/>
          <p:cNvGrpSpPr/>
          <p:nvPr/>
        </p:nvGrpSpPr>
        <p:grpSpPr>
          <a:xfrm>
            <a:off x="2468331" y="6429907"/>
            <a:ext cx="4834408" cy="338554"/>
            <a:chOff x="2082771" y="6373207"/>
            <a:chExt cx="4834408" cy="338554"/>
          </a:xfrm>
        </p:grpSpPr>
        <p:sp>
          <p:nvSpPr>
            <p:cNvPr id="6" name="Right Triangle 5"/>
            <p:cNvSpPr/>
            <p:nvPr/>
          </p:nvSpPr>
          <p:spPr bwMode="auto">
            <a:xfrm rot="13606203">
              <a:off x="2083744" y="6433587"/>
              <a:ext cx="268110" cy="270055"/>
            </a:xfrm>
            <a:prstGeom prst="rtTriangle">
              <a:avLst/>
            </a:prstGeom>
            <a:solidFill>
              <a:schemeClr val="tx1">
                <a:alpha val="59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200">
                <a:solidFill>
                  <a:srgbClr val="000000"/>
                </a:solidFill>
                <a:latin typeface="Arial" pitchFamily="-65" charset="0"/>
              </a:endParaRPr>
            </a:p>
          </p:txBody>
        </p:sp>
        <p:sp>
          <p:nvSpPr>
            <p:cNvPr id="7" name="TextBox 6">
              <a:hlinkClick r:id="rId4"/>
            </p:cNvPr>
            <p:cNvSpPr txBox="1"/>
            <p:nvPr/>
          </p:nvSpPr>
          <p:spPr>
            <a:xfrm>
              <a:off x="2415343" y="6373207"/>
              <a:ext cx="4501836" cy="338554"/>
            </a:xfrm>
            <a:prstGeom prst="rect">
              <a:avLst/>
            </a:prstGeom>
            <a:noFill/>
          </p:spPr>
          <p:txBody>
            <a:bodyPr wrap="square" rtlCol="0">
              <a:spAutoFit/>
            </a:bodyPr>
            <a:lstStyle/>
            <a:p>
              <a:r>
                <a:rPr lang="en-US" sz="1600" dirty="0" smtClean="0">
                  <a:solidFill>
                    <a:srgbClr val="808080">
                      <a:lumMod val="75000"/>
                    </a:srgbClr>
                  </a:solidFill>
                  <a:latin typeface="Arial"/>
                </a:rPr>
                <a:t>Video</a:t>
              </a:r>
              <a:r>
                <a:rPr lang="en-US" sz="1600" dirty="0">
                  <a:solidFill>
                    <a:srgbClr val="808080">
                      <a:lumMod val="75000"/>
                    </a:srgbClr>
                  </a:solidFill>
                  <a:latin typeface="Arial"/>
                </a:rPr>
                <a:t>: AIP7-FlemishWaterPortal (youtube)</a:t>
              </a:r>
            </a:p>
          </p:txBody>
        </p:sp>
      </p:grpSp>
    </p:spTree>
    <p:extLst>
      <p:ext uri="{BB962C8B-B14F-4D97-AF65-F5344CB8AC3E}">
        <p14:creationId xmlns:p14="http://schemas.microsoft.com/office/powerpoint/2010/main" val="21171323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485" y="337670"/>
            <a:ext cx="8249018" cy="484632"/>
          </a:xfrm>
        </p:spPr>
        <p:txBody>
          <a:bodyPr/>
          <a:lstStyle/>
          <a:p>
            <a:r>
              <a:rPr lang="en-US" sz="3200">
                <a:latin typeface="Candara"/>
                <a:cs typeface="Candara"/>
              </a:rPr>
              <a:t>Time Series of Land Surface Modeling Outputs</a:t>
            </a:r>
          </a:p>
        </p:txBody>
      </p:sp>
      <p:pic>
        <p:nvPicPr>
          <p:cNvPr id="3" name="Picture 2" descr="GLDAS data rods map.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117687"/>
            <a:ext cx="9144000" cy="5740313"/>
          </a:xfrm>
          <a:prstGeom prst="rect">
            <a:avLst/>
          </a:prstGeom>
        </p:spPr>
      </p:pic>
      <p:sp>
        <p:nvSpPr>
          <p:cNvPr id="4" name="TextBox 3"/>
          <p:cNvSpPr txBox="1"/>
          <p:nvPr/>
        </p:nvSpPr>
        <p:spPr>
          <a:xfrm>
            <a:off x="3496734" y="6584033"/>
            <a:ext cx="1413933" cy="211666"/>
          </a:xfrm>
          <a:prstGeom prst="rect">
            <a:avLst/>
          </a:prstGeom>
          <a:noFill/>
          <a:effectLst/>
        </p:spPr>
        <p:txBody>
          <a:bodyPr wrap="square" lIns="0" tIns="0" rIns="0" bIns="0" rtlCol="0">
            <a:noAutofit/>
          </a:bodyPr>
          <a:lstStyle/>
          <a:p>
            <a:pPr>
              <a:lnSpc>
                <a:spcPts val="1800"/>
              </a:lnSpc>
            </a:pPr>
            <a:r>
              <a:rPr lang="en-US" sz="1100">
                <a:latin typeface="+mn-lt"/>
                <a:hlinkClick r:id="rId4"/>
              </a:rPr>
              <a:t>http://arcg.is/1ETcY5s</a:t>
            </a:r>
            <a:r>
              <a:rPr lang="en-US" sz="1100">
                <a:latin typeface="+mn-lt"/>
              </a:rPr>
              <a:t>  </a:t>
            </a:r>
            <a:endParaRPr lang="en-US" sz="1100" b="1" dirty="0" smtClean="0">
              <a:latin typeface="+mn-lt"/>
              <a:ea typeface="+mn-ea"/>
              <a:cs typeface="+mn-cs"/>
            </a:endParaRPr>
          </a:p>
        </p:txBody>
      </p:sp>
    </p:spTree>
    <p:extLst>
      <p:ext uri="{BB962C8B-B14F-4D97-AF65-F5344CB8AC3E}">
        <p14:creationId xmlns:p14="http://schemas.microsoft.com/office/powerpoint/2010/main" val="672176042"/>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LDAS ET-SAmerica.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116108"/>
            <a:ext cx="9144000" cy="5715976"/>
          </a:xfrm>
          <a:prstGeom prst="rect">
            <a:avLst/>
          </a:prstGeom>
        </p:spPr>
      </p:pic>
      <p:sp>
        <p:nvSpPr>
          <p:cNvPr id="6" name="TextBox 5"/>
          <p:cNvSpPr txBox="1"/>
          <p:nvPr/>
        </p:nvSpPr>
        <p:spPr>
          <a:xfrm>
            <a:off x="4086414" y="6523561"/>
            <a:ext cx="1413933" cy="211666"/>
          </a:xfrm>
          <a:prstGeom prst="rect">
            <a:avLst/>
          </a:prstGeom>
          <a:noFill/>
          <a:effectLst/>
        </p:spPr>
        <p:txBody>
          <a:bodyPr wrap="square" lIns="0" tIns="0" rIns="0" bIns="0" rtlCol="0">
            <a:noAutofit/>
          </a:bodyPr>
          <a:lstStyle/>
          <a:p>
            <a:pPr>
              <a:lnSpc>
                <a:spcPts val="1800"/>
              </a:lnSpc>
            </a:pPr>
            <a:r>
              <a:rPr lang="en-US" sz="1100">
                <a:latin typeface="+mn-lt"/>
                <a:hlinkClick r:id="rId4"/>
              </a:rPr>
              <a:t>http://arcg.is/1ETcY5s</a:t>
            </a:r>
            <a:r>
              <a:rPr lang="en-US" sz="1100">
                <a:latin typeface="+mn-lt"/>
              </a:rPr>
              <a:t>  </a:t>
            </a:r>
            <a:endParaRPr lang="en-US" sz="1100" b="1" dirty="0" smtClean="0">
              <a:latin typeface="+mn-lt"/>
              <a:ea typeface="+mn-ea"/>
              <a:cs typeface="+mn-cs"/>
            </a:endParaRPr>
          </a:p>
        </p:txBody>
      </p:sp>
      <p:sp>
        <p:nvSpPr>
          <p:cNvPr id="7" name="Title 1"/>
          <p:cNvSpPr txBox="1">
            <a:spLocks/>
          </p:cNvSpPr>
          <p:nvPr/>
        </p:nvSpPr>
        <p:spPr>
          <a:xfrm>
            <a:off x="519485" y="337670"/>
            <a:ext cx="8249018" cy="484632"/>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sz="3200">
                <a:latin typeface="Candara"/>
                <a:cs typeface="Candara"/>
              </a:rPr>
              <a:t>Time Series of Land Surface Modeling Outputs</a:t>
            </a:r>
          </a:p>
        </p:txBody>
      </p:sp>
    </p:spTree>
    <p:extLst>
      <p:ext uri="{BB962C8B-B14F-4D97-AF65-F5344CB8AC3E}">
        <p14:creationId xmlns:p14="http://schemas.microsoft.com/office/powerpoint/2010/main" val="1734110255"/>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26244" y="221386"/>
            <a:ext cx="8605407" cy="6358524"/>
          </a:xfrm>
          <a:prstGeom prst="rect">
            <a:avLst/>
          </a:prstGeom>
        </p:spPr>
      </p:pic>
      <p:sp>
        <p:nvSpPr>
          <p:cNvPr id="4" name="TextBox 3"/>
          <p:cNvSpPr txBox="1"/>
          <p:nvPr/>
        </p:nvSpPr>
        <p:spPr>
          <a:xfrm>
            <a:off x="301658" y="1470581"/>
            <a:ext cx="914400" cy="914400"/>
          </a:xfrm>
          <a:prstGeom prst="rect">
            <a:avLst/>
          </a:prstGeom>
          <a:noFill/>
          <a:effectLst/>
        </p:spPr>
        <p:txBody>
          <a:bodyPr wrap="none" lIns="0" tIns="0" rIns="0" bIns="0" rtlCol="0">
            <a:noAutofit/>
          </a:bodyPr>
          <a:lstStyle/>
          <a:p>
            <a:pPr fontAlgn="auto">
              <a:lnSpc>
                <a:spcPts val="1800"/>
              </a:lnSpc>
              <a:spcBef>
                <a:spcPts val="0"/>
              </a:spcBef>
              <a:spcAft>
                <a:spcPts val="0"/>
              </a:spcAft>
            </a:pPr>
            <a:r>
              <a:rPr lang="en-US" sz="1400" b="1" dirty="0">
                <a:solidFill>
                  <a:prstClr val="black"/>
                </a:solidFill>
                <a:latin typeface="Arial"/>
                <a:ea typeface="ＭＳ Ｐゴシック"/>
                <a:cs typeface="ＭＳ Ｐゴシック"/>
              </a:rPr>
              <a:t>European Center for Medium Range Weather Forecasting and European Joint Research Commission</a:t>
            </a:r>
          </a:p>
        </p:txBody>
      </p:sp>
      <p:sp>
        <p:nvSpPr>
          <p:cNvPr id="5" name="TextBox 4"/>
          <p:cNvSpPr txBox="1"/>
          <p:nvPr/>
        </p:nvSpPr>
        <p:spPr>
          <a:xfrm>
            <a:off x="4641930" y="4290766"/>
            <a:ext cx="3816269" cy="214462"/>
          </a:xfrm>
          <a:prstGeom prst="rect">
            <a:avLst/>
          </a:prstGeom>
          <a:solidFill>
            <a:schemeClr val="bg1">
              <a:alpha val="50000"/>
            </a:schemeClr>
          </a:solidFill>
          <a:effectLst/>
        </p:spPr>
        <p:txBody>
          <a:bodyPr wrap="none" lIns="0" tIns="0" rIns="0" bIns="0" rtlCol="0">
            <a:noAutofit/>
          </a:bodyPr>
          <a:lstStyle/>
          <a:p>
            <a:pPr algn="ctr" fontAlgn="auto">
              <a:lnSpc>
                <a:spcPts val="1800"/>
              </a:lnSpc>
              <a:spcBef>
                <a:spcPts val="0"/>
              </a:spcBef>
              <a:spcAft>
                <a:spcPts val="0"/>
              </a:spcAft>
            </a:pPr>
            <a:r>
              <a:rPr lang="en-US" sz="1400" b="1" dirty="0">
                <a:solidFill>
                  <a:prstClr val="black"/>
                </a:solidFill>
                <a:latin typeface="Arial"/>
                <a:ea typeface="ＭＳ Ｐゴシック"/>
                <a:cs typeface="ＭＳ Ｐゴシック"/>
              </a:rPr>
              <a:t>15 Day ahead forecast ensemble (50 models)</a:t>
            </a:r>
          </a:p>
        </p:txBody>
      </p:sp>
    </p:spTree>
    <p:extLst>
      <p:ext uri="{BB962C8B-B14F-4D97-AF65-F5344CB8AC3E}">
        <p14:creationId xmlns:p14="http://schemas.microsoft.com/office/powerpoint/2010/main" val="7281730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IEHLYC logo.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324600" y="1249436"/>
            <a:ext cx="2369046" cy="1669101"/>
          </a:xfrm>
          <a:prstGeom prst="rect">
            <a:avLst/>
          </a:prstGeom>
        </p:spPr>
      </p:pic>
      <p:pic>
        <p:nvPicPr>
          <p:cNvPr id="5" name="Picture 4" descr="ECMWF logo.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783902" y="5106705"/>
            <a:ext cx="2672646" cy="577680"/>
          </a:xfrm>
          <a:prstGeom prst="rect">
            <a:avLst/>
          </a:prstGeom>
        </p:spPr>
      </p:pic>
      <p:pic>
        <p:nvPicPr>
          <p:cNvPr id="7" name="Picture 6" descr="horizons logo.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7201" y="3505202"/>
            <a:ext cx="2028941" cy="1260169"/>
          </a:xfrm>
          <a:prstGeom prst="rect">
            <a:avLst/>
          </a:prstGeom>
        </p:spPr>
      </p:pic>
      <p:pic>
        <p:nvPicPr>
          <p:cNvPr id="8" name="Picture 7" descr="niwa-logo.pn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28601" y="4953000"/>
            <a:ext cx="2550859" cy="617308"/>
          </a:xfrm>
          <a:prstGeom prst="rect">
            <a:avLst/>
          </a:prstGeom>
        </p:spPr>
      </p:pic>
      <p:pic>
        <p:nvPicPr>
          <p:cNvPr id="13" name="Picture 12" descr="JRC logo.png"/>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741130" y="5758799"/>
            <a:ext cx="4798950" cy="917794"/>
          </a:xfrm>
          <a:prstGeom prst="rect">
            <a:avLst/>
          </a:prstGeom>
        </p:spPr>
      </p:pic>
      <p:pic>
        <p:nvPicPr>
          <p:cNvPr id="17" name="Picture 16" descr="Kisters logo.png"/>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6324601" y="3733800"/>
            <a:ext cx="2648611" cy="726232"/>
          </a:xfrm>
          <a:prstGeom prst="rect">
            <a:avLst/>
          </a:prstGeom>
        </p:spPr>
      </p:pic>
      <p:pic>
        <p:nvPicPr>
          <p:cNvPr id="18" name="Picture 17" descr="BYU logo.png"/>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206840" y="2540599"/>
            <a:ext cx="2622517" cy="821166"/>
          </a:xfrm>
          <a:prstGeom prst="rect">
            <a:avLst/>
          </a:prstGeom>
        </p:spPr>
      </p:pic>
      <p:sp>
        <p:nvSpPr>
          <p:cNvPr id="2" name="Title 1"/>
          <p:cNvSpPr>
            <a:spLocks noGrp="1"/>
          </p:cNvSpPr>
          <p:nvPr>
            <p:ph type="title"/>
          </p:nvPr>
        </p:nvSpPr>
        <p:spPr>
          <a:xfrm>
            <a:off x="228868" y="840689"/>
            <a:ext cx="8229600" cy="414371"/>
          </a:xfrm>
          <a:ln>
            <a:noFill/>
          </a:ln>
        </p:spPr>
        <p:txBody>
          <a:bodyPr>
            <a:noAutofit/>
          </a:bodyPr>
          <a:lstStyle/>
          <a:p>
            <a:pPr algn="ctr"/>
            <a:r>
              <a:rPr lang="en-US" sz="3200" dirty="0">
                <a:effectLst>
                  <a:outerShdw blurRad="50800" dist="38100" dir="2700000" algn="tl" rotWithShape="0">
                    <a:srgbClr val="000000">
                      <a:alpha val="43000"/>
                    </a:srgbClr>
                  </a:outerShdw>
                </a:effectLst>
                <a:latin typeface="Candara"/>
                <a:cs typeface="Candara"/>
              </a:rPr>
              <a:t>AIP-8 (2015) GEOSS Water Services Team</a:t>
            </a:r>
          </a:p>
        </p:txBody>
      </p:sp>
      <p:pic>
        <p:nvPicPr>
          <p:cNvPr id="4" name="Picture 3" descr="cuahsi_logo_text.jpg"/>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3048000" y="1447802"/>
            <a:ext cx="2555524" cy="764975"/>
          </a:xfrm>
          <a:prstGeom prst="rect">
            <a:avLst/>
          </a:prstGeom>
        </p:spPr>
      </p:pic>
      <p:pic>
        <p:nvPicPr>
          <p:cNvPr id="20" name="Picture 19" descr="Esri logo.png"/>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7086600" y="2947114"/>
            <a:ext cx="1897746" cy="710486"/>
          </a:xfrm>
          <a:prstGeom prst="rect">
            <a:avLst/>
          </a:prstGeom>
        </p:spPr>
      </p:pic>
      <p:grpSp>
        <p:nvGrpSpPr>
          <p:cNvPr id="23" name="Group 22"/>
          <p:cNvGrpSpPr/>
          <p:nvPr/>
        </p:nvGrpSpPr>
        <p:grpSpPr>
          <a:xfrm>
            <a:off x="5802415" y="4587881"/>
            <a:ext cx="3215351" cy="1062088"/>
            <a:chOff x="3001268" y="863207"/>
            <a:chExt cx="3976261" cy="1335544"/>
          </a:xfrm>
        </p:grpSpPr>
        <p:pic>
          <p:nvPicPr>
            <p:cNvPr id="24" name="Picture 23" descr="NASA basic.png"/>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3001268" y="863207"/>
              <a:ext cx="3976261" cy="762000"/>
            </a:xfrm>
            <a:prstGeom prst="rect">
              <a:avLst/>
            </a:prstGeom>
          </p:spPr>
        </p:pic>
        <p:pic>
          <p:nvPicPr>
            <p:cNvPr id="25" name="Picture 24" descr="NASA hydro.png"/>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3001268" y="1610267"/>
              <a:ext cx="3976261" cy="588484"/>
            </a:xfrm>
            <a:prstGeom prst="rect">
              <a:avLst/>
            </a:prstGeom>
          </p:spPr>
        </p:pic>
      </p:grpSp>
      <p:pic>
        <p:nvPicPr>
          <p:cNvPr id="9" name="Picture 8" descr="CNR-IIA-lg.png"/>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7790331" y="5728050"/>
            <a:ext cx="1180669" cy="976864"/>
          </a:xfrm>
          <a:prstGeom prst="rect">
            <a:avLst/>
          </a:prstGeom>
        </p:spPr>
      </p:pic>
      <p:pic>
        <p:nvPicPr>
          <p:cNvPr id="26" name="Picture 25"/>
          <p:cNvPicPr/>
          <p:nvPr/>
        </p:nvPicPr>
        <p:blipFill>
          <a:blip r:embed="rId15" cstate="print">
            <a:extLst>
              <a:ext uri="{28A0092B-C50C-407E-A947-70E740481C1C}">
                <a14:useLocalDpi xmlns:a14="http://schemas.microsoft.com/office/drawing/2010/main"/>
              </a:ext>
            </a:extLst>
          </a:blip>
          <a:stretch>
            <a:fillRect/>
          </a:stretch>
        </p:blipFill>
        <p:spPr>
          <a:xfrm>
            <a:off x="298824" y="1496230"/>
            <a:ext cx="2368176" cy="834594"/>
          </a:xfrm>
          <a:prstGeom prst="rect">
            <a:avLst/>
          </a:prstGeom>
          <a:extLst>
            <a:ext uri="{FAA26D3D-D897-4be2-8F04-BA451C77F1D7}">
              <ma14:placeholderFlag xmlns:ma14="http://schemas.microsoft.com/office/mac/drawingml/2011/main"/>
            </a:ext>
          </a:extLst>
        </p:spPr>
      </p:pic>
      <p:pic>
        <p:nvPicPr>
          <p:cNvPr id="19" name="Picture 18"/>
          <p:cNvPicPr>
            <a:picLocks noChangeAspect="1"/>
          </p:cNvPicPr>
          <p:nvPr/>
        </p:nvPicPr>
        <p:blipFill>
          <a:blip r:embed="rId16">
            <a:extLst>
              <a:ext uri="{BEBA8EAE-BF5A-486C-A8C5-ECC9F3942E4B}">
                <a14:imgProps xmlns:a14="http://schemas.microsoft.com/office/drawing/2010/main">
                  <a14:imgLayer r:embed="rId17">
                    <a14:imgEffect>
                      <a14:colorTemperature colorTemp="2261"/>
                    </a14:imgEffect>
                  </a14:imgLayer>
                </a14:imgProps>
              </a:ext>
            </a:extLst>
          </a:blip>
          <a:stretch>
            <a:fillRect/>
          </a:stretch>
        </p:blipFill>
        <p:spPr>
          <a:xfrm>
            <a:off x="2819400" y="3429002"/>
            <a:ext cx="3441480" cy="567593"/>
          </a:xfrm>
          <a:prstGeom prst="rect">
            <a:avLst/>
          </a:prstGeom>
        </p:spPr>
      </p:pic>
      <p:pic>
        <p:nvPicPr>
          <p:cNvPr id="22" name="Picture 21" descr="GloFAS logo.png"/>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3124201" y="4114802"/>
            <a:ext cx="2342713" cy="863105"/>
          </a:xfrm>
          <a:prstGeom prst="rect">
            <a:avLst/>
          </a:prstGeom>
        </p:spPr>
      </p:pic>
      <p:pic>
        <p:nvPicPr>
          <p:cNvPr id="3" name="Picture 2" descr="kartECO logo-short.png"/>
          <p:cNvPicPr>
            <a:picLocks noChangeAspect="1"/>
          </p:cNvPicPr>
          <p:nvPr/>
        </p:nvPicPr>
        <p:blipFill>
          <a:blip r:embed="rId19">
            <a:extLst>
              <a:ext uri="{28A0092B-C50C-407E-A947-70E740481C1C}">
                <a14:useLocalDpi xmlns:a14="http://schemas.microsoft.com/office/drawing/2010/main"/>
              </a:ext>
            </a:extLst>
          </a:blip>
          <a:stretch>
            <a:fillRect/>
          </a:stretch>
        </p:blipFill>
        <p:spPr>
          <a:xfrm>
            <a:off x="228601" y="5867400"/>
            <a:ext cx="2273300" cy="800100"/>
          </a:xfrm>
          <a:prstGeom prst="rect">
            <a:avLst/>
          </a:prstGeom>
        </p:spPr>
      </p:pic>
      <p:pic>
        <p:nvPicPr>
          <p:cNvPr id="21" name="Picture 20"/>
          <p:cNvPicPr>
            <a:picLocks noChangeAspect="1"/>
          </p:cNvPicPr>
          <p:nvPr/>
        </p:nvPicPr>
        <p:blipFill>
          <a:blip r:embed="rId20"/>
          <a:stretch>
            <a:fillRect/>
          </a:stretch>
        </p:blipFill>
        <p:spPr>
          <a:xfrm>
            <a:off x="3505200" y="2362202"/>
            <a:ext cx="2751064" cy="955633"/>
          </a:xfrm>
          <a:prstGeom prst="rect">
            <a:avLst/>
          </a:prstGeom>
        </p:spPr>
      </p:pic>
    </p:spTree>
    <p:extLst>
      <p:ext uri="{BB962C8B-B14F-4D97-AF65-F5344CB8AC3E}">
        <p14:creationId xmlns:p14="http://schemas.microsoft.com/office/powerpoint/2010/main" val="789359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61771" y="3092487"/>
            <a:ext cx="1746816" cy="1639526"/>
          </a:xfrm>
          <a:prstGeom prst="rect">
            <a:avLst/>
          </a:prstGeom>
        </p:spPr>
      </p:pic>
      <p:sp>
        <p:nvSpPr>
          <p:cNvPr id="2" name="Title 1"/>
          <p:cNvSpPr>
            <a:spLocks noGrp="1"/>
          </p:cNvSpPr>
          <p:nvPr>
            <p:ph type="title"/>
          </p:nvPr>
        </p:nvSpPr>
        <p:spPr>
          <a:xfrm>
            <a:off x="628650" y="334891"/>
            <a:ext cx="7886700" cy="854074"/>
          </a:xfrm>
        </p:spPr>
        <p:txBody>
          <a:bodyPr>
            <a:normAutofit/>
          </a:bodyPr>
          <a:lstStyle/>
          <a:p>
            <a:pPr algn="ctr"/>
            <a:r>
              <a:rPr lang="en-US" sz="3600" b="1" dirty="0" smtClean="0">
                <a:solidFill>
                  <a:schemeClr val="accent1">
                    <a:lumMod val="75000"/>
                  </a:schemeClr>
                </a:solidFill>
                <a:latin typeface="Candara"/>
                <a:cs typeface="Candara"/>
              </a:rPr>
              <a:t>Models for Flood Forecasting</a:t>
            </a:r>
            <a:endParaRPr lang="en-US" sz="3600" b="1" dirty="0">
              <a:solidFill>
                <a:schemeClr val="accent1">
                  <a:lumMod val="75000"/>
                </a:schemeClr>
              </a:solidFill>
              <a:latin typeface="Candara"/>
              <a:cs typeface="Candara"/>
            </a:endParaRPr>
          </a:p>
        </p:txBody>
      </p:sp>
      <p:sp>
        <p:nvSpPr>
          <p:cNvPr id="13" name="Down Arrow 12"/>
          <p:cNvSpPr/>
          <p:nvPr/>
        </p:nvSpPr>
        <p:spPr>
          <a:xfrm rot="5400000" flipH="1" flipV="1">
            <a:off x="4480925" y="4739275"/>
            <a:ext cx="230560" cy="5056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latin typeface="Calibri"/>
            </a:endParaRPr>
          </a:p>
        </p:txBody>
      </p:sp>
      <p:sp>
        <p:nvSpPr>
          <p:cNvPr id="18" name="TextBox 17"/>
          <p:cNvSpPr txBox="1"/>
          <p:nvPr/>
        </p:nvSpPr>
        <p:spPr>
          <a:xfrm>
            <a:off x="3962400" y="5105400"/>
            <a:ext cx="1218791" cy="923330"/>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Surface &amp; </a:t>
            </a:r>
            <a:br>
              <a:rPr lang="en-US" dirty="0" smtClean="0">
                <a:solidFill>
                  <a:prstClr val="black"/>
                </a:solidFill>
                <a:latin typeface="Calibri"/>
                <a:ea typeface="+mn-ea"/>
                <a:cs typeface="+mn-cs"/>
              </a:rPr>
            </a:br>
            <a:r>
              <a:rPr lang="en-US" dirty="0" smtClean="0">
                <a:solidFill>
                  <a:prstClr val="black"/>
                </a:solidFill>
                <a:latin typeface="Calibri"/>
                <a:ea typeface="+mn-ea"/>
                <a:cs typeface="+mn-cs"/>
              </a:rPr>
              <a:t>Subsurface</a:t>
            </a:r>
            <a:br>
              <a:rPr lang="en-US" dirty="0" smtClean="0">
                <a:solidFill>
                  <a:prstClr val="black"/>
                </a:solidFill>
                <a:latin typeface="Calibri"/>
                <a:ea typeface="+mn-ea"/>
                <a:cs typeface="+mn-cs"/>
              </a:rPr>
            </a:br>
            <a:r>
              <a:rPr lang="en-US" dirty="0" smtClean="0">
                <a:solidFill>
                  <a:prstClr val="black"/>
                </a:solidFill>
                <a:latin typeface="Calibri"/>
                <a:ea typeface="+mn-ea"/>
                <a:cs typeface="+mn-cs"/>
              </a:rPr>
              <a:t>Runoff </a:t>
            </a:r>
            <a:endParaRPr lang="en-US" dirty="0">
              <a:solidFill>
                <a:prstClr val="black"/>
              </a:solidFill>
              <a:latin typeface="Calibri"/>
              <a:ea typeface="+mn-ea"/>
              <a:cs typeface="+mn-cs"/>
            </a:endParaRPr>
          </a:p>
        </p:txBody>
      </p:sp>
      <p:pic>
        <p:nvPicPr>
          <p:cNvPr id="9" name="Picture 8"/>
          <p:cNvPicPr>
            <a:picLocks noChangeAspect="1"/>
          </p:cNvPicPr>
          <p:nvPr/>
        </p:nvPicPr>
        <p:blipFill>
          <a:blip r:embed="rId3"/>
          <a:stretch>
            <a:fillRect/>
          </a:stretch>
        </p:blipFill>
        <p:spPr>
          <a:xfrm>
            <a:off x="5487473" y="1889753"/>
            <a:ext cx="2540550" cy="1665705"/>
          </a:xfrm>
          <a:prstGeom prst="rect">
            <a:avLst/>
          </a:prstGeom>
          <a:ln w="3175">
            <a:solidFill>
              <a:schemeClr val="bg1">
                <a:lumMod val="65000"/>
              </a:schemeClr>
            </a:solidFill>
          </a:ln>
        </p:spPr>
      </p:pic>
      <p:sp>
        <p:nvSpPr>
          <p:cNvPr id="12" name="Down Arrow 11"/>
          <p:cNvSpPr/>
          <p:nvPr/>
        </p:nvSpPr>
        <p:spPr>
          <a:xfrm flipV="1">
            <a:off x="6757748" y="3659445"/>
            <a:ext cx="230560" cy="5056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latin typeface="Calibri"/>
            </a:endParaRPr>
          </a:p>
        </p:txBody>
      </p:sp>
      <p:sp>
        <p:nvSpPr>
          <p:cNvPr id="19" name="TextBox 18"/>
          <p:cNvSpPr txBox="1"/>
          <p:nvPr/>
        </p:nvSpPr>
        <p:spPr>
          <a:xfrm>
            <a:off x="6988308" y="3727584"/>
            <a:ext cx="1315938" cy="369332"/>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Streamflow </a:t>
            </a:r>
            <a:endParaRPr lang="en-US" dirty="0">
              <a:solidFill>
                <a:prstClr val="black"/>
              </a:solidFill>
              <a:latin typeface="Calibri"/>
              <a:ea typeface="+mn-ea"/>
              <a:cs typeface="+mn-cs"/>
            </a:endParaRPr>
          </a:p>
        </p:txBody>
      </p:sp>
      <p:sp>
        <p:nvSpPr>
          <p:cNvPr id="20" name="Rectangle 19"/>
          <p:cNvSpPr/>
          <p:nvPr/>
        </p:nvSpPr>
        <p:spPr>
          <a:xfrm>
            <a:off x="4922105" y="6427217"/>
            <a:ext cx="4031040" cy="369332"/>
          </a:xfrm>
          <a:prstGeom prst="rect">
            <a:avLst/>
          </a:prstGeom>
        </p:spPr>
        <p:txBody>
          <a:bodyPr wrap="none">
            <a:spAutoFit/>
          </a:bodyPr>
          <a:lstStyle/>
          <a:p>
            <a:pPr eaLnBrk="1" fontAlgn="auto" hangingPunct="1">
              <a:spcBef>
                <a:spcPts val="0"/>
              </a:spcBef>
              <a:spcAft>
                <a:spcPts val="0"/>
              </a:spcAft>
            </a:pPr>
            <a:r>
              <a:rPr lang="en-US" dirty="0" smtClean="0">
                <a:solidFill>
                  <a:prstClr val="black"/>
                </a:solidFill>
                <a:latin typeface="Calibri"/>
                <a:ea typeface="+mn-ea"/>
                <a:cs typeface="+mn-cs"/>
              </a:rPr>
              <a:t>Channel flow routing (for continental US)</a:t>
            </a:r>
            <a:endParaRPr lang="en-US" dirty="0">
              <a:solidFill>
                <a:prstClr val="black"/>
              </a:solidFill>
              <a:latin typeface="Calibri"/>
              <a:ea typeface="+mn-ea"/>
              <a:cs typeface="+mn-cs"/>
            </a:endParaRPr>
          </a:p>
        </p:txBody>
      </p:sp>
      <p:sp>
        <p:nvSpPr>
          <p:cNvPr id="21" name="TextBox 20"/>
          <p:cNvSpPr txBox="1"/>
          <p:nvPr/>
        </p:nvSpPr>
        <p:spPr>
          <a:xfrm>
            <a:off x="5424491" y="1478382"/>
            <a:ext cx="2764475" cy="369332"/>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Probabilistic flood forecasts</a:t>
            </a:r>
            <a:endParaRPr lang="en-US" dirty="0">
              <a:solidFill>
                <a:prstClr val="black"/>
              </a:solidFill>
              <a:latin typeface="Calibri"/>
              <a:ea typeface="+mn-ea"/>
              <a:cs typeface="+mn-cs"/>
            </a:endParaRPr>
          </a:p>
        </p:txBody>
      </p:sp>
      <p:grpSp>
        <p:nvGrpSpPr>
          <p:cNvPr id="25" name="Group 24"/>
          <p:cNvGrpSpPr/>
          <p:nvPr/>
        </p:nvGrpSpPr>
        <p:grpSpPr>
          <a:xfrm>
            <a:off x="756842" y="1478382"/>
            <a:ext cx="2949334" cy="5276491"/>
            <a:chOff x="337268" y="1478382"/>
            <a:chExt cx="2949334" cy="5276491"/>
          </a:xfrm>
        </p:grpSpPr>
        <p:pic>
          <p:nvPicPr>
            <p:cNvPr id="6" name="Picture 8"/>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56750" y="4241768"/>
              <a:ext cx="2710370" cy="2083598"/>
            </a:xfrm>
            <a:prstGeom prst="rect">
              <a:avLst/>
            </a:prstGeom>
            <a:noFill/>
            <a:ln w="3175" cmpd="sng">
              <a:solidFill>
                <a:schemeClr val="bg1">
                  <a:lumMod val="65000"/>
                </a:schemeClr>
              </a:solidFill>
              <a:miter lim="800000"/>
              <a:headEnd/>
              <a:tailEnd/>
            </a:ln>
            <a:effectLst/>
            <a:extLst/>
          </p:spPr>
        </p:pic>
        <p:pic>
          <p:nvPicPr>
            <p:cNvPr id="7" name="Picture 24" descr="Total Precipitation"/>
            <p:cNvPicPr>
              <a:picLocks noChangeAspect="1" noChangeArrowheads="1" noCrop="1"/>
            </p:cNvPicPr>
            <p:nvPr/>
          </p:nvPicPr>
          <p:blipFill>
            <a:blip r:embed="rId5" cstate="print">
              <a:extLst>
                <a:ext uri="{28A0092B-C50C-407E-A947-70E740481C1C}">
                  <a14:useLocalDpi xmlns:a14="http://schemas.microsoft.com/office/drawing/2010/main"/>
                </a:ext>
              </a:extLst>
            </a:blip>
            <a:srcRect/>
            <a:stretch>
              <a:fillRect/>
            </a:stretch>
          </p:blipFill>
          <p:spPr bwMode="auto">
            <a:xfrm>
              <a:off x="806218" y="1853342"/>
              <a:ext cx="1839310" cy="1660077"/>
            </a:xfrm>
            <a:prstGeom prst="rect">
              <a:avLst/>
            </a:prstGeom>
            <a:noFill/>
            <a:ln w="3175" cmpd="sng">
              <a:solidFill>
                <a:schemeClr val="bg1">
                  <a:lumMod val="65000"/>
                </a:schemeClr>
              </a:solidFill>
              <a:miter lim="800000"/>
              <a:headEnd/>
              <a:tailEnd/>
            </a:ln>
            <a:effectLst/>
            <a:extLst/>
          </p:spPr>
        </p:pic>
        <p:sp>
          <p:nvSpPr>
            <p:cNvPr id="11" name="Down Arrow 10"/>
            <p:cNvSpPr/>
            <p:nvPr/>
          </p:nvSpPr>
          <p:spPr>
            <a:xfrm>
              <a:off x="1581375" y="3646838"/>
              <a:ext cx="230560" cy="5056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latin typeface="Calibri"/>
              </a:endParaRPr>
            </a:p>
          </p:txBody>
        </p:sp>
        <p:sp>
          <p:nvSpPr>
            <p:cNvPr id="14" name="TextBox 13"/>
            <p:cNvSpPr txBox="1"/>
            <p:nvPr/>
          </p:nvSpPr>
          <p:spPr>
            <a:xfrm>
              <a:off x="337268" y="1478382"/>
              <a:ext cx="2949334" cy="369332"/>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Weather model and forecasts</a:t>
              </a:r>
              <a:endParaRPr lang="en-US" dirty="0">
                <a:solidFill>
                  <a:prstClr val="black"/>
                </a:solidFill>
                <a:latin typeface="Calibri"/>
                <a:ea typeface="+mn-ea"/>
                <a:cs typeface="+mn-cs"/>
              </a:endParaRPr>
            </a:p>
          </p:txBody>
        </p:sp>
        <p:sp>
          <p:nvSpPr>
            <p:cNvPr id="15" name="TextBox 14"/>
            <p:cNvSpPr txBox="1"/>
            <p:nvPr/>
          </p:nvSpPr>
          <p:spPr>
            <a:xfrm>
              <a:off x="551429" y="6385541"/>
              <a:ext cx="2521011" cy="369332"/>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Land-Atmosphere Model</a:t>
              </a:r>
              <a:endParaRPr lang="en-US" dirty="0">
                <a:solidFill>
                  <a:prstClr val="black"/>
                </a:solidFill>
                <a:latin typeface="Calibri"/>
                <a:ea typeface="+mn-ea"/>
                <a:cs typeface="+mn-cs"/>
              </a:endParaRPr>
            </a:p>
          </p:txBody>
        </p:sp>
        <p:sp>
          <p:nvSpPr>
            <p:cNvPr id="16" name="TextBox 15"/>
            <p:cNvSpPr txBox="1"/>
            <p:nvPr/>
          </p:nvSpPr>
          <p:spPr>
            <a:xfrm>
              <a:off x="1811934" y="3685545"/>
              <a:ext cx="1430263" cy="369332"/>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Precipitation </a:t>
              </a:r>
              <a:endParaRPr lang="en-US" dirty="0">
                <a:solidFill>
                  <a:prstClr val="black"/>
                </a:solidFill>
                <a:latin typeface="Calibri"/>
                <a:ea typeface="+mn-ea"/>
                <a:cs typeface="+mn-cs"/>
              </a:endParaRPr>
            </a:p>
          </p:txBody>
        </p:sp>
        <p:sp>
          <p:nvSpPr>
            <p:cNvPr id="22" name="TextBox 21"/>
            <p:cNvSpPr txBox="1"/>
            <p:nvPr/>
          </p:nvSpPr>
          <p:spPr>
            <a:xfrm>
              <a:off x="591992" y="3685545"/>
              <a:ext cx="1052532" cy="369332"/>
            </a:xfrm>
            <a:prstGeom prst="rect">
              <a:avLst/>
            </a:prstGeom>
            <a:noFill/>
          </p:spPr>
          <p:txBody>
            <a:bodyPr wrap="none" rtlCol="0">
              <a:spAutoFit/>
            </a:bodyPr>
            <a:lstStyle/>
            <a:p>
              <a:pPr eaLnBrk="1" fontAlgn="auto" hangingPunct="1">
                <a:spcBef>
                  <a:spcPts val="0"/>
                </a:spcBef>
                <a:spcAft>
                  <a:spcPts val="0"/>
                </a:spcAft>
              </a:pPr>
              <a:r>
                <a:rPr lang="en-US" dirty="0" smtClean="0">
                  <a:solidFill>
                    <a:prstClr val="black"/>
                  </a:solidFill>
                  <a:latin typeface="Calibri"/>
                  <a:ea typeface="+mn-ea"/>
                  <a:cs typeface="+mn-cs"/>
                </a:rPr>
                <a:t>Weather </a:t>
              </a:r>
              <a:endParaRPr lang="en-US" dirty="0">
                <a:solidFill>
                  <a:prstClr val="black"/>
                </a:solidFill>
                <a:latin typeface="Calibri"/>
                <a:ea typeface="+mn-ea"/>
                <a:cs typeface="+mn-cs"/>
              </a:endParaRPr>
            </a:p>
          </p:txBody>
        </p:sp>
      </p:grpSp>
      <p:sp>
        <p:nvSpPr>
          <p:cNvPr id="3" name="TextBox 2"/>
          <p:cNvSpPr txBox="1"/>
          <p:nvPr/>
        </p:nvSpPr>
        <p:spPr>
          <a:xfrm>
            <a:off x="3586694" y="2554349"/>
            <a:ext cx="1737463" cy="646331"/>
          </a:xfrm>
          <a:prstGeom prst="rect">
            <a:avLst/>
          </a:prstGeom>
          <a:noFill/>
        </p:spPr>
        <p:txBody>
          <a:bodyPr wrap="square" rtlCol="0">
            <a:spAutoFit/>
          </a:bodyPr>
          <a:lstStyle/>
          <a:p>
            <a:pPr algn="ctr" eaLnBrk="1" fontAlgn="auto" hangingPunct="1">
              <a:spcBef>
                <a:spcPts val="0"/>
              </a:spcBef>
              <a:spcAft>
                <a:spcPts val="0"/>
              </a:spcAft>
            </a:pPr>
            <a:r>
              <a:rPr lang="en-US" dirty="0" smtClean="0">
                <a:solidFill>
                  <a:prstClr val="black"/>
                </a:solidFill>
                <a:latin typeface="Calibri"/>
                <a:ea typeface="+mn-ea"/>
                <a:cs typeface="+mn-cs"/>
              </a:rPr>
              <a:t>Catchment-level forecasts</a:t>
            </a:r>
            <a:endParaRPr lang="en-US" dirty="0">
              <a:solidFill>
                <a:prstClr val="black"/>
              </a:solidFill>
              <a:latin typeface="Calibri"/>
              <a:ea typeface="+mn-ea"/>
              <a:cs typeface="+mn-cs"/>
            </a:endParaRPr>
          </a:p>
        </p:txBody>
      </p:sp>
      <p:pic>
        <p:nvPicPr>
          <p:cNvPr id="4" name="Picture 3"/>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549428" y="4233194"/>
            <a:ext cx="2514600" cy="1930400"/>
          </a:xfrm>
          <a:prstGeom prst="rect">
            <a:avLst/>
          </a:prstGeom>
        </p:spPr>
      </p:pic>
    </p:spTree>
    <p:extLst>
      <p:ext uri="{BB962C8B-B14F-4D97-AF65-F5344CB8AC3E}">
        <p14:creationId xmlns:p14="http://schemas.microsoft.com/office/powerpoint/2010/main" val="11437910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Rounded Rectangle 119"/>
          <p:cNvSpPr/>
          <p:nvPr/>
        </p:nvSpPr>
        <p:spPr>
          <a:xfrm>
            <a:off x="480178" y="3297493"/>
            <a:ext cx="5242918" cy="3320670"/>
          </a:xfrm>
          <a:prstGeom prst="roundRect">
            <a:avLst/>
          </a:prstGeom>
          <a:solidFill>
            <a:srgbClr val="FFFFFF"/>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dirty="0">
              <a:solidFill>
                <a:prstClr val="white"/>
              </a:solidFill>
              <a:latin typeface="Calibri"/>
            </a:endParaRPr>
          </a:p>
        </p:txBody>
      </p:sp>
      <p:sp>
        <p:nvSpPr>
          <p:cNvPr id="84" name="Rounded Rectangle 83"/>
          <p:cNvSpPr/>
          <p:nvPr/>
        </p:nvSpPr>
        <p:spPr>
          <a:xfrm>
            <a:off x="265839" y="3461130"/>
            <a:ext cx="5242918" cy="3320670"/>
          </a:xfrm>
          <a:prstGeom prst="roundRect">
            <a:avLst/>
          </a:prstGeom>
          <a:solidFill>
            <a:srgbClr val="FFFFFF"/>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endParaRPr lang="en-US" dirty="0">
              <a:solidFill>
                <a:prstClr val="white"/>
              </a:solidFill>
              <a:latin typeface="Calibri"/>
            </a:endParaRPr>
          </a:p>
        </p:txBody>
      </p:sp>
      <p:sp>
        <p:nvSpPr>
          <p:cNvPr id="4" name="Oval 3"/>
          <p:cNvSpPr/>
          <p:nvPr/>
        </p:nvSpPr>
        <p:spPr>
          <a:xfrm>
            <a:off x="413674" y="3595090"/>
            <a:ext cx="1421659" cy="1341899"/>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457200" eaLnBrk="1" fontAlgn="auto" hangingPunct="1">
              <a:spcBef>
                <a:spcPts val="0"/>
              </a:spcBef>
              <a:spcAft>
                <a:spcPts val="0"/>
              </a:spcAft>
            </a:pPr>
            <a:r>
              <a:rPr lang="en-US" sz="1400" dirty="0" smtClean="0">
                <a:solidFill>
                  <a:prstClr val="white"/>
                </a:solidFill>
                <a:latin typeface="Calibri"/>
              </a:rPr>
              <a:t>Downscale ECMWF Forecast to Watershed</a:t>
            </a:r>
          </a:p>
          <a:p>
            <a:pPr algn="ctr" defTabSz="457200" eaLnBrk="1" fontAlgn="auto" hangingPunct="1">
              <a:spcBef>
                <a:spcPts val="0"/>
              </a:spcBef>
              <a:spcAft>
                <a:spcPts val="0"/>
              </a:spcAft>
            </a:pPr>
            <a:endParaRPr lang="en-US" sz="1400" dirty="0">
              <a:solidFill>
                <a:prstClr val="white"/>
              </a:solidFill>
              <a:latin typeface="Calibri"/>
            </a:endParaRPr>
          </a:p>
        </p:txBody>
      </p:sp>
      <p:cxnSp>
        <p:nvCxnSpPr>
          <p:cNvPr id="5" name="Straight Arrow Connector 4"/>
          <p:cNvCxnSpPr/>
          <p:nvPr/>
        </p:nvCxnSpPr>
        <p:spPr>
          <a:xfrm>
            <a:off x="1772522" y="2070261"/>
            <a:ext cx="155448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740837" y="2286241"/>
            <a:ext cx="1029665" cy="6508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457200" eaLnBrk="1" fontAlgn="auto" hangingPunct="1">
              <a:spcBef>
                <a:spcPts val="0"/>
              </a:spcBef>
              <a:spcAft>
                <a:spcPts val="0"/>
              </a:spcAft>
            </a:pPr>
            <a:r>
              <a:rPr lang="en-US" sz="1000" dirty="0" smtClean="0">
                <a:solidFill>
                  <a:prstClr val="black"/>
                </a:solidFill>
                <a:latin typeface="Calibri"/>
              </a:rPr>
              <a:t>15-Day Runoff Depth - </a:t>
            </a:r>
            <a:r>
              <a:rPr lang="en-US" sz="1000" i="1" dirty="0" smtClean="0">
                <a:solidFill>
                  <a:prstClr val="black"/>
                </a:solidFill>
                <a:latin typeface="Calibri"/>
              </a:rPr>
              <a:t>Cumulative</a:t>
            </a:r>
          </a:p>
          <a:p>
            <a:pPr algn="ctr" defTabSz="457200" eaLnBrk="1" fontAlgn="auto" hangingPunct="1">
              <a:spcBef>
                <a:spcPts val="0"/>
              </a:spcBef>
              <a:spcAft>
                <a:spcPts val="0"/>
              </a:spcAft>
            </a:pPr>
            <a:r>
              <a:rPr lang="en-US" sz="1000" dirty="0" smtClean="0">
                <a:solidFill>
                  <a:prstClr val="black"/>
                </a:solidFill>
                <a:latin typeface="Calibri"/>
              </a:rPr>
              <a:t> (m)</a:t>
            </a:r>
            <a:endParaRPr lang="en-US" sz="1000" dirty="0">
              <a:solidFill>
                <a:prstClr val="black"/>
              </a:solidFill>
              <a:latin typeface="Calibri"/>
            </a:endParaRPr>
          </a:p>
        </p:txBody>
      </p:sp>
      <p:cxnSp>
        <p:nvCxnSpPr>
          <p:cNvPr id="8" name="Straight Arrow Connector 7"/>
          <p:cNvCxnSpPr>
            <a:stCxn id="4" idx="6"/>
          </p:cNvCxnSpPr>
          <p:nvPr/>
        </p:nvCxnSpPr>
        <p:spPr>
          <a:xfrm>
            <a:off x="1835333" y="4266040"/>
            <a:ext cx="4100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967480" y="3595090"/>
            <a:ext cx="1316256" cy="1341899"/>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457200" eaLnBrk="1" fontAlgn="auto" hangingPunct="1">
              <a:spcBef>
                <a:spcPts val="0"/>
              </a:spcBef>
              <a:spcAft>
                <a:spcPts val="0"/>
              </a:spcAft>
            </a:pPr>
            <a:r>
              <a:rPr lang="en-US" sz="1400" dirty="0" smtClean="0">
                <a:solidFill>
                  <a:prstClr val="white"/>
                </a:solidFill>
                <a:latin typeface="Calibri"/>
              </a:rPr>
              <a:t>Run Forecast with RAPID</a:t>
            </a:r>
          </a:p>
          <a:p>
            <a:pPr algn="ctr" defTabSz="457200" eaLnBrk="1" fontAlgn="auto" hangingPunct="1">
              <a:spcBef>
                <a:spcPts val="0"/>
              </a:spcBef>
              <a:spcAft>
                <a:spcPts val="0"/>
              </a:spcAft>
            </a:pPr>
            <a:endParaRPr lang="en-US" sz="1400" dirty="0">
              <a:solidFill>
                <a:prstClr val="white"/>
              </a:solidFill>
              <a:latin typeface="Calibri"/>
            </a:endParaRPr>
          </a:p>
        </p:txBody>
      </p:sp>
      <p:sp>
        <p:nvSpPr>
          <p:cNvPr id="10" name="Rectangle 9"/>
          <p:cNvSpPr/>
          <p:nvPr/>
        </p:nvSpPr>
        <p:spPr>
          <a:xfrm>
            <a:off x="7883805" y="2287551"/>
            <a:ext cx="1029665" cy="671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457200" eaLnBrk="1" fontAlgn="auto" hangingPunct="1">
              <a:spcBef>
                <a:spcPts val="0"/>
              </a:spcBef>
              <a:spcAft>
                <a:spcPts val="0"/>
              </a:spcAft>
            </a:pPr>
            <a:r>
              <a:rPr lang="en-US" sz="1000" dirty="0" smtClean="0">
                <a:solidFill>
                  <a:prstClr val="black"/>
                </a:solidFill>
                <a:latin typeface="Calibri"/>
              </a:rPr>
              <a:t>15-Day Flow by Reach - </a:t>
            </a:r>
            <a:r>
              <a:rPr lang="en-US" sz="1000" i="1" dirty="0" smtClean="0">
                <a:solidFill>
                  <a:prstClr val="black"/>
                </a:solidFill>
                <a:latin typeface="Calibri"/>
              </a:rPr>
              <a:t>Incremental</a:t>
            </a:r>
          </a:p>
          <a:p>
            <a:pPr algn="ctr" defTabSz="457200" eaLnBrk="1" fontAlgn="auto" hangingPunct="1">
              <a:spcBef>
                <a:spcPts val="0"/>
              </a:spcBef>
              <a:spcAft>
                <a:spcPts val="0"/>
              </a:spcAft>
            </a:pPr>
            <a:r>
              <a:rPr lang="en-US" sz="1000" dirty="0" smtClean="0">
                <a:solidFill>
                  <a:prstClr val="black"/>
                </a:solidFill>
                <a:latin typeface="Calibri"/>
              </a:rPr>
              <a:t>(</a:t>
            </a:r>
            <a:r>
              <a:rPr lang="en-US" sz="1000" dirty="0" err="1" smtClean="0">
                <a:solidFill>
                  <a:prstClr val="black"/>
                </a:solidFill>
                <a:latin typeface="Calibri"/>
              </a:rPr>
              <a:t>cms</a:t>
            </a:r>
            <a:r>
              <a:rPr lang="en-US" sz="1000" dirty="0" smtClean="0">
                <a:solidFill>
                  <a:prstClr val="black"/>
                </a:solidFill>
                <a:latin typeface="Calibri"/>
              </a:rPr>
              <a:t>)</a:t>
            </a:r>
            <a:endParaRPr lang="en-US" sz="1000" dirty="0">
              <a:solidFill>
                <a:prstClr val="black"/>
              </a:solidFill>
              <a:latin typeface="Calibri"/>
            </a:endParaRPr>
          </a:p>
        </p:txBody>
      </p:sp>
      <p:cxnSp>
        <p:nvCxnSpPr>
          <p:cNvPr id="11" name="Straight Arrow Connector 10"/>
          <p:cNvCxnSpPr>
            <a:endCxn id="9" idx="2"/>
          </p:cNvCxnSpPr>
          <p:nvPr/>
        </p:nvCxnSpPr>
        <p:spPr>
          <a:xfrm>
            <a:off x="3573444" y="4266040"/>
            <a:ext cx="39403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09600" y="5436092"/>
            <a:ext cx="1024914" cy="888508"/>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defTabSz="457200" eaLnBrk="1" fontAlgn="auto" hangingPunct="1">
              <a:spcBef>
                <a:spcPts val="0"/>
              </a:spcBef>
              <a:spcAft>
                <a:spcPts val="0"/>
              </a:spcAft>
            </a:pPr>
            <a:r>
              <a:rPr lang="en-US" sz="1600" dirty="0" smtClean="0">
                <a:solidFill>
                  <a:prstClr val="white"/>
                </a:solidFill>
                <a:latin typeface="Calibri"/>
              </a:rPr>
              <a:t>Runoff Weights Table</a:t>
            </a:r>
            <a:endParaRPr lang="en-US" sz="1600" dirty="0">
              <a:solidFill>
                <a:prstClr val="white"/>
              </a:solidFill>
              <a:latin typeface="Calibri"/>
            </a:endParaRPr>
          </a:p>
        </p:txBody>
      </p:sp>
      <p:cxnSp>
        <p:nvCxnSpPr>
          <p:cNvPr id="13" name="Straight Arrow Connector 12"/>
          <p:cNvCxnSpPr>
            <a:stCxn id="12" idx="0"/>
            <a:endCxn id="4" idx="4"/>
          </p:cNvCxnSpPr>
          <p:nvPr/>
        </p:nvCxnSpPr>
        <p:spPr>
          <a:xfrm flipV="1">
            <a:off x="1122057" y="4936989"/>
            <a:ext cx="2447" cy="49910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19" idx="0"/>
            <a:endCxn id="9" idx="4"/>
          </p:cNvCxnSpPr>
          <p:nvPr/>
        </p:nvCxnSpPr>
        <p:spPr>
          <a:xfrm flipH="1" flipV="1">
            <a:off x="4625608" y="4936989"/>
            <a:ext cx="11178" cy="49910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Flowchart: Multidocument 1"/>
          <p:cNvSpPr/>
          <p:nvPr/>
        </p:nvSpPr>
        <p:spPr>
          <a:xfrm>
            <a:off x="160248" y="1516879"/>
            <a:ext cx="1442497" cy="1492990"/>
          </a:xfrm>
          <a:prstGeom prst="flowChartMulti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sz="1400" dirty="0" smtClean="0">
                <a:solidFill>
                  <a:prstClr val="white"/>
                </a:solidFill>
                <a:latin typeface="Calibri"/>
              </a:rPr>
              <a:t>ECMWF Forecasts</a:t>
            </a:r>
          </a:p>
          <a:p>
            <a:pPr algn="ctr" defTabSz="457200" eaLnBrk="1" fontAlgn="auto" hangingPunct="1">
              <a:spcBef>
                <a:spcPts val="0"/>
              </a:spcBef>
              <a:spcAft>
                <a:spcPts val="0"/>
              </a:spcAft>
            </a:pPr>
            <a:r>
              <a:rPr lang="en-US" sz="1400" dirty="0" smtClean="0">
                <a:solidFill>
                  <a:prstClr val="white"/>
                </a:solidFill>
                <a:latin typeface="Calibri"/>
              </a:rPr>
              <a:t>50 simulations</a:t>
            </a:r>
          </a:p>
        </p:txBody>
      </p:sp>
      <p:sp>
        <p:nvSpPr>
          <p:cNvPr id="17" name="Flowchart: Multidocument 58"/>
          <p:cNvSpPr/>
          <p:nvPr/>
        </p:nvSpPr>
        <p:spPr>
          <a:xfrm>
            <a:off x="6327049" y="1441274"/>
            <a:ext cx="1478637" cy="1568595"/>
          </a:xfrm>
          <a:prstGeom prst="flowChartMulti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1" fontAlgn="auto" hangingPunct="1">
              <a:spcBef>
                <a:spcPts val="0"/>
              </a:spcBef>
              <a:spcAft>
                <a:spcPts val="0"/>
              </a:spcAft>
            </a:pPr>
            <a:r>
              <a:rPr lang="en-US" sz="1400" dirty="0" smtClean="0">
                <a:solidFill>
                  <a:prstClr val="white"/>
                </a:solidFill>
                <a:latin typeface="Calibri"/>
              </a:rPr>
              <a:t>In-stream Forecasts</a:t>
            </a:r>
          </a:p>
          <a:p>
            <a:pPr algn="ctr" defTabSz="457200" eaLnBrk="1" fontAlgn="auto" hangingPunct="1">
              <a:spcBef>
                <a:spcPts val="0"/>
              </a:spcBef>
              <a:spcAft>
                <a:spcPts val="0"/>
              </a:spcAft>
            </a:pPr>
            <a:r>
              <a:rPr lang="en-US" sz="1400" dirty="0">
                <a:solidFill>
                  <a:prstClr val="white"/>
                </a:solidFill>
                <a:latin typeface="Calibri"/>
              </a:rPr>
              <a:t>50 simulations</a:t>
            </a:r>
          </a:p>
        </p:txBody>
      </p:sp>
      <p:cxnSp>
        <p:nvCxnSpPr>
          <p:cNvPr id="18" name="Straight Arrow Connector 17"/>
          <p:cNvCxnSpPr/>
          <p:nvPr/>
        </p:nvCxnSpPr>
        <p:spPr>
          <a:xfrm>
            <a:off x="5634411" y="2070261"/>
            <a:ext cx="54179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110512" y="5436092"/>
            <a:ext cx="1052547" cy="90184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defTabSz="457200" eaLnBrk="1" fontAlgn="auto" hangingPunct="1">
              <a:spcBef>
                <a:spcPts val="0"/>
              </a:spcBef>
              <a:spcAft>
                <a:spcPts val="0"/>
              </a:spcAft>
            </a:pPr>
            <a:r>
              <a:rPr lang="en-US" sz="1400" dirty="0" smtClean="0">
                <a:solidFill>
                  <a:prstClr val="white"/>
                </a:solidFill>
                <a:latin typeface="Calibri"/>
              </a:rPr>
              <a:t>Other RAPID input Files for Watershed</a:t>
            </a:r>
            <a:endParaRPr lang="en-US" sz="1400" dirty="0">
              <a:solidFill>
                <a:prstClr val="white"/>
              </a:solidFill>
              <a:latin typeface="Calibri"/>
            </a:endParaRPr>
          </a:p>
        </p:txBody>
      </p:sp>
      <p:sp>
        <p:nvSpPr>
          <p:cNvPr id="97" name="Document 96"/>
          <p:cNvSpPr/>
          <p:nvPr/>
        </p:nvSpPr>
        <p:spPr>
          <a:xfrm>
            <a:off x="2245385" y="3804212"/>
            <a:ext cx="1328059" cy="1797003"/>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t"/>
          <a:lstStyle/>
          <a:p>
            <a:pPr algn="ctr" defTabSz="457200" eaLnBrk="1" fontAlgn="auto" hangingPunct="1">
              <a:spcBef>
                <a:spcPts val="0"/>
              </a:spcBef>
              <a:spcAft>
                <a:spcPts val="0"/>
              </a:spcAft>
            </a:pPr>
            <a:r>
              <a:rPr lang="en-US" sz="1400" dirty="0" smtClean="0">
                <a:solidFill>
                  <a:prstClr val="white"/>
                </a:solidFill>
                <a:latin typeface="Calibri"/>
              </a:rPr>
              <a:t>Downscaled Forecast</a:t>
            </a:r>
          </a:p>
          <a:p>
            <a:pPr algn="ctr" defTabSz="457200" eaLnBrk="1" fontAlgn="auto" hangingPunct="1">
              <a:spcBef>
                <a:spcPts val="0"/>
              </a:spcBef>
              <a:spcAft>
                <a:spcPts val="0"/>
              </a:spcAft>
            </a:pPr>
            <a:r>
              <a:rPr lang="en-US" sz="1400" dirty="0" smtClean="0">
                <a:solidFill>
                  <a:prstClr val="white"/>
                </a:solidFill>
                <a:latin typeface="Calibri"/>
              </a:rPr>
              <a:t> </a:t>
            </a:r>
            <a:r>
              <a:rPr lang="en-US" sz="1400" dirty="0">
                <a:solidFill>
                  <a:prstClr val="white"/>
                </a:solidFill>
                <a:latin typeface="Calibri"/>
              </a:rPr>
              <a:t>50 simulations</a:t>
            </a:r>
            <a:endParaRPr lang="en-US" sz="1400" dirty="0" smtClean="0">
              <a:solidFill>
                <a:prstClr val="white"/>
              </a:solidFill>
              <a:latin typeface="Calibri"/>
            </a:endParaRPr>
          </a:p>
          <a:p>
            <a:pPr algn="ctr" defTabSz="457200" eaLnBrk="1" fontAlgn="auto" hangingPunct="1">
              <a:spcBef>
                <a:spcPts val="0"/>
              </a:spcBef>
              <a:spcAft>
                <a:spcPts val="0"/>
              </a:spcAft>
            </a:pPr>
            <a:endParaRPr lang="en-US" dirty="0">
              <a:solidFill>
                <a:prstClr val="white"/>
              </a:solidFill>
              <a:latin typeface="Calibri"/>
            </a:endParaRPr>
          </a:p>
        </p:txBody>
      </p:sp>
      <p:pic>
        <p:nvPicPr>
          <p:cNvPr id="98" name="Picture 97"/>
          <p:cNvPicPr/>
          <p:nvPr/>
        </p:nvPicPr>
        <p:blipFill>
          <a:blip r:embed="rId2" cstate="print">
            <a:extLst>
              <a:ext uri="{28A0092B-C50C-407E-A947-70E740481C1C}">
                <a14:useLocalDpi xmlns:a14="http://schemas.microsoft.com/office/drawing/2010/main"/>
              </a:ext>
            </a:extLst>
          </a:blip>
          <a:stretch>
            <a:fillRect/>
          </a:stretch>
        </p:blipFill>
        <p:spPr>
          <a:xfrm>
            <a:off x="3511993" y="1337092"/>
            <a:ext cx="1938587" cy="1670199"/>
          </a:xfrm>
          <a:prstGeom prst="rect">
            <a:avLst/>
          </a:prstGeom>
          <a:ln w="19050" cmpd="sng">
            <a:noFill/>
            <a:prstDash val="dash"/>
          </a:ln>
        </p:spPr>
      </p:pic>
      <p:sp>
        <p:nvSpPr>
          <p:cNvPr id="99" name="TextBox 98"/>
          <p:cNvSpPr txBox="1"/>
          <p:nvPr/>
        </p:nvSpPr>
        <p:spPr>
          <a:xfrm>
            <a:off x="3511993" y="1362990"/>
            <a:ext cx="455487" cy="307777"/>
          </a:xfrm>
          <a:prstGeom prst="rect">
            <a:avLst/>
          </a:prstGeom>
          <a:noFill/>
        </p:spPr>
        <p:txBody>
          <a:bodyPr wrap="square" rtlCol="0">
            <a:spAutoFit/>
          </a:bodyPr>
          <a:lstStyle/>
          <a:p>
            <a:pPr defTabSz="457200" eaLnBrk="1" fontAlgn="auto" hangingPunct="1">
              <a:spcBef>
                <a:spcPts val="0"/>
              </a:spcBef>
              <a:spcAft>
                <a:spcPts val="0"/>
              </a:spcAft>
            </a:pPr>
            <a:r>
              <a:rPr lang="en-US" sz="1400" b="1" dirty="0" smtClean="0">
                <a:solidFill>
                  <a:srgbClr val="4F81BD"/>
                </a:solidFill>
                <a:latin typeface="Calibri"/>
                <a:ea typeface="+mn-ea"/>
                <a:cs typeface="+mn-cs"/>
              </a:rPr>
              <a:t>(4)</a:t>
            </a:r>
            <a:endParaRPr lang="en-US" sz="1400" b="1" dirty="0">
              <a:solidFill>
                <a:srgbClr val="4F81BD"/>
              </a:solidFill>
              <a:latin typeface="Calibri"/>
              <a:ea typeface="+mn-ea"/>
              <a:cs typeface="+mn-cs"/>
            </a:endParaRPr>
          </a:p>
        </p:txBody>
      </p:sp>
      <p:cxnSp>
        <p:nvCxnSpPr>
          <p:cNvPr id="113" name="Straight Connector 112"/>
          <p:cNvCxnSpPr>
            <a:endCxn id="120" idx="0"/>
          </p:cNvCxnSpPr>
          <p:nvPr/>
        </p:nvCxnSpPr>
        <p:spPr>
          <a:xfrm flipH="1">
            <a:off x="3101637" y="2895487"/>
            <a:ext cx="1097134" cy="402006"/>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0" y="1287385"/>
            <a:ext cx="413674" cy="307777"/>
          </a:xfrm>
          <a:prstGeom prst="rect">
            <a:avLst/>
          </a:prstGeom>
          <a:noFill/>
        </p:spPr>
        <p:txBody>
          <a:bodyPr wrap="square" rtlCol="0">
            <a:spAutoFit/>
          </a:bodyPr>
          <a:lstStyle/>
          <a:p>
            <a:pPr defTabSz="457200" eaLnBrk="1" fontAlgn="auto" hangingPunct="1">
              <a:spcBef>
                <a:spcPts val="0"/>
              </a:spcBef>
              <a:spcAft>
                <a:spcPts val="0"/>
              </a:spcAft>
            </a:pPr>
            <a:r>
              <a:rPr lang="en-US" sz="1400" b="1" dirty="0" smtClean="0">
                <a:solidFill>
                  <a:srgbClr val="4F81BD"/>
                </a:solidFill>
                <a:latin typeface="Calibri"/>
                <a:ea typeface="+mn-ea"/>
                <a:cs typeface="+mn-cs"/>
              </a:rPr>
              <a:t>(1)</a:t>
            </a:r>
            <a:endParaRPr lang="en-US" sz="1400" b="1" dirty="0">
              <a:solidFill>
                <a:srgbClr val="4F81BD"/>
              </a:solidFill>
              <a:latin typeface="Calibri"/>
              <a:ea typeface="+mn-ea"/>
              <a:cs typeface="+mn-cs"/>
            </a:endParaRPr>
          </a:p>
        </p:txBody>
      </p:sp>
      <p:sp>
        <p:nvSpPr>
          <p:cNvPr id="124" name="TextBox 123"/>
          <p:cNvSpPr txBox="1"/>
          <p:nvPr/>
        </p:nvSpPr>
        <p:spPr>
          <a:xfrm>
            <a:off x="324139" y="3563088"/>
            <a:ext cx="403547" cy="307777"/>
          </a:xfrm>
          <a:prstGeom prst="rect">
            <a:avLst/>
          </a:prstGeom>
          <a:noFill/>
        </p:spPr>
        <p:txBody>
          <a:bodyPr wrap="square" rtlCol="0">
            <a:spAutoFit/>
          </a:bodyPr>
          <a:lstStyle/>
          <a:p>
            <a:pPr defTabSz="457200" eaLnBrk="1" fontAlgn="auto" hangingPunct="1">
              <a:spcBef>
                <a:spcPts val="0"/>
              </a:spcBef>
              <a:spcAft>
                <a:spcPts val="0"/>
              </a:spcAft>
            </a:pPr>
            <a:r>
              <a:rPr lang="en-US" sz="1400" b="1" dirty="0" smtClean="0">
                <a:solidFill>
                  <a:srgbClr val="4F81BD"/>
                </a:solidFill>
                <a:latin typeface="Calibri"/>
                <a:ea typeface="+mn-ea"/>
                <a:cs typeface="+mn-cs"/>
              </a:rPr>
              <a:t>(2)</a:t>
            </a:r>
            <a:endParaRPr lang="en-US" sz="1400" b="1" dirty="0">
              <a:solidFill>
                <a:srgbClr val="4F81BD"/>
              </a:solidFill>
              <a:latin typeface="Calibri"/>
              <a:ea typeface="+mn-ea"/>
              <a:cs typeface="+mn-cs"/>
            </a:endParaRPr>
          </a:p>
        </p:txBody>
      </p:sp>
      <p:sp>
        <p:nvSpPr>
          <p:cNvPr id="125" name="TextBox 124"/>
          <p:cNvSpPr txBox="1"/>
          <p:nvPr/>
        </p:nvSpPr>
        <p:spPr>
          <a:xfrm>
            <a:off x="3863772" y="3563088"/>
            <a:ext cx="473302" cy="307777"/>
          </a:xfrm>
          <a:prstGeom prst="rect">
            <a:avLst/>
          </a:prstGeom>
          <a:noFill/>
        </p:spPr>
        <p:txBody>
          <a:bodyPr wrap="square" rtlCol="0">
            <a:spAutoFit/>
          </a:bodyPr>
          <a:lstStyle/>
          <a:p>
            <a:pPr defTabSz="457200" eaLnBrk="1" fontAlgn="auto" hangingPunct="1">
              <a:spcBef>
                <a:spcPts val="0"/>
              </a:spcBef>
              <a:spcAft>
                <a:spcPts val="0"/>
              </a:spcAft>
            </a:pPr>
            <a:r>
              <a:rPr lang="en-US" sz="1400" b="1" dirty="0" smtClean="0">
                <a:solidFill>
                  <a:srgbClr val="4F81BD"/>
                </a:solidFill>
                <a:latin typeface="Calibri"/>
                <a:ea typeface="+mn-ea"/>
                <a:cs typeface="+mn-cs"/>
              </a:rPr>
              <a:t>(3)</a:t>
            </a:r>
            <a:endParaRPr lang="en-US" sz="1400" b="1" dirty="0">
              <a:solidFill>
                <a:srgbClr val="4F81BD"/>
              </a:solidFill>
              <a:latin typeface="Calibri"/>
              <a:ea typeface="+mn-ea"/>
              <a:cs typeface="+mn-cs"/>
            </a:endParaRPr>
          </a:p>
        </p:txBody>
      </p:sp>
      <p:pic>
        <p:nvPicPr>
          <p:cNvPr id="135" name="Picture 134" descr="Screen Shot 2015-02-02 at 11.36.01 AM.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19088" y="4217314"/>
            <a:ext cx="3182843" cy="1836343"/>
          </a:xfrm>
          <a:prstGeom prst="rect">
            <a:avLst/>
          </a:prstGeom>
        </p:spPr>
      </p:pic>
      <p:cxnSp>
        <p:nvCxnSpPr>
          <p:cNvPr id="139" name="Straight Arrow Connector 138"/>
          <p:cNvCxnSpPr/>
          <p:nvPr/>
        </p:nvCxnSpPr>
        <p:spPr>
          <a:xfrm>
            <a:off x="7024021" y="3160811"/>
            <a:ext cx="0" cy="9181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6019726" y="3908071"/>
            <a:ext cx="514113" cy="307777"/>
          </a:xfrm>
          <a:prstGeom prst="rect">
            <a:avLst/>
          </a:prstGeom>
          <a:noFill/>
        </p:spPr>
        <p:txBody>
          <a:bodyPr wrap="square" rtlCol="0">
            <a:spAutoFit/>
          </a:bodyPr>
          <a:lstStyle/>
          <a:p>
            <a:pPr defTabSz="457200" eaLnBrk="1" fontAlgn="auto" hangingPunct="1">
              <a:spcBef>
                <a:spcPts val="0"/>
              </a:spcBef>
              <a:spcAft>
                <a:spcPts val="0"/>
              </a:spcAft>
            </a:pPr>
            <a:r>
              <a:rPr lang="en-US" sz="1400" b="1" dirty="0" smtClean="0">
                <a:solidFill>
                  <a:srgbClr val="4F81BD"/>
                </a:solidFill>
                <a:latin typeface="Calibri"/>
                <a:ea typeface="+mn-ea"/>
                <a:cs typeface="+mn-cs"/>
              </a:rPr>
              <a:t>(5)</a:t>
            </a:r>
            <a:endParaRPr lang="en-US" sz="1400" b="1" dirty="0">
              <a:solidFill>
                <a:srgbClr val="4F81BD"/>
              </a:solidFill>
              <a:latin typeface="Calibri"/>
              <a:ea typeface="+mn-ea"/>
              <a:cs typeface="+mn-cs"/>
            </a:endParaRPr>
          </a:p>
        </p:txBody>
      </p:sp>
      <p:cxnSp>
        <p:nvCxnSpPr>
          <p:cNvPr id="29" name="Straight Connector 28"/>
          <p:cNvCxnSpPr/>
          <p:nvPr/>
        </p:nvCxnSpPr>
        <p:spPr>
          <a:xfrm flipH="1">
            <a:off x="3511993" y="2976588"/>
            <a:ext cx="1110455" cy="470947"/>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346955" y="4547558"/>
            <a:ext cx="1163768" cy="6508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457200" eaLnBrk="1" fontAlgn="auto" hangingPunct="1">
              <a:spcBef>
                <a:spcPts val="0"/>
              </a:spcBef>
              <a:spcAft>
                <a:spcPts val="0"/>
              </a:spcAft>
            </a:pPr>
            <a:r>
              <a:rPr lang="en-US" sz="1000" dirty="0" smtClean="0">
                <a:solidFill>
                  <a:prstClr val="black"/>
                </a:solidFill>
                <a:latin typeface="Calibri"/>
              </a:rPr>
              <a:t>15-Day Runoff Volume by Reach -</a:t>
            </a:r>
          </a:p>
          <a:p>
            <a:pPr algn="ctr" defTabSz="457200" eaLnBrk="1" fontAlgn="auto" hangingPunct="1">
              <a:spcBef>
                <a:spcPts val="0"/>
              </a:spcBef>
              <a:spcAft>
                <a:spcPts val="0"/>
              </a:spcAft>
            </a:pPr>
            <a:r>
              <a:rPr lang="en-US" sz="1000" i="1" dirty="0" smtClean="0">
                <a:solidFill>
                  <a:prstClr val="black"/>
                </a:solidFill>
                <a:latin typeface="Calibri"/>
              </a:rPr>
              <a:t>Incremental</a:t>
            </a:r>
            <a:r>
              <a:rPr lang="en-US" sz="1000" dirty="0" smtClean="0">
                <a:solidFill>
                  <a:prstClr val="black"/>
                </a:solidFill>
                <a:latin typeface="Calibri"/>
              </a:rPr>
              <a:t> (m</a:t>
            </a:r>
            <a:r>
              <a:rPr lang="en-US" sz="1000" baseline="30000" dirty="0" smtClean="0">
                <a:solidFill>
                  <a:prstClr val="black"/>
                </a:solidFill>
                <a:latin typeface="Calibri"/>
              </a:rPr>
              <a:t>3</a:t>
            </a:r>
            <a:r>
              <a:rPr lang="en-US" sz="1000" dirty="0" smtClean="0">
                <a:solidFill>
                  <a:prstClr val="black"/>
                </a:solidFill>
                <a:latin typeface="Calibri"/>
              </a:rPr>
              <a:t>)</a:t>
            </a:r>
            <a:endParaRPr lang="en-US" sz="1000" dirty="0">
              <a:solidFill>
                <a:prstClr val="black"/>
              </a:solidFill>
              <a:latin typeface="Calibri"/>
            </a:endParaRPr>
          </a:p>
        </p:txBody>
      </p:sp>
      <p:sp>
        <p:nvSpPr>
          <p:cNvPr id="2" name="Title 1"/>
          <p:cNvSpPr>
            <a:spLocks noGrp="1"/>
          </p:cNvSpPr>
          <p:nvPr>
            <p:ph type="title"/>
          </p:nvPr>
        </p:nvSpPr>
        <p:spPr>
          <a:xfrm>
            <a:off x="457200" y="76200"/>
            <a:ext cx="8229600" cy="1143000"/>
          </a:xfrm>
        </p:spPr>
        <p:txBody>
          <a:bodyPr>
            <a:noAutofit/>
          </a:bodyPr>
          <a:lstStyle/>
          <a:p>
            <a:r>
              <a:rPr lang="en-US" sz="3600" b="1">
                <a:solidFill>
                  <a:srgbClr val="2E75B6"/>
                </a:solidFill>
                <a:latin typeface="Candara"/>
                <a:cs typeface="Candara"/>
              </a:rPr>
              <a:t>BYU Flood Forecasting Workflow</a:t>
            </a:r>
          </a:p>
        </p:txBody>
      </p:sp>
    </p:spTree>
    <p:extLst>
      <p:ext uri="{BB962C8B-B14F-4D97-AF65-F5344CB8AC3E}">
        <p14:creationId xmlns:p14="http://schemas.microsoft.com/office/powerpoint/2010/main" val="1569229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a:xfrm>
            <a:off x="685799" y="457200"/>
            <a:ext cx="7944711" cy="484188"/>
          </a:xfrm>
        </p:spPr>
        <p:txBody>
          <a:bodyPr/>
          <a:lstStyle/>
          <a:p>
            <a:r>
              <a:rPr lang="en-US" sz="3200">
                <a:latin typeface="Candara"/>
                <a:cs typeface="Candara"/>
              </a:rPr>
              <a:t>The recipe for doing this </a:t>
            </a:r>
            <a:r>
              <a:rPr lang="en-US" sz="3200" i="1">
                <a:latin typeface="Candara"/>
                <a:cs typeface="Candara"/>
              </a:rPr>
              <a:t>(prototype)</a:t>
            </a:r>
            <a:r>
              <a:rPr lang="en-US" sz="3200">
                <a:latin typeface="Candara"/>
                <a:cs typeface="Candara"/>
              </a:rPr>
              <a:t>: </a:t>
            </a:r>
          </a:p>
        </p:txBody>
      </p:sp>
      <p:sp>
        <p:nvSpPr>
          <p:cNvPr id="3" name="Content Placeholder 2"/>
          <p:cNvSpPr>
            <a:spLocks noGrp="1"/>
          </p:cNvSpPr>
          <p:nvPr>
            <p:ph idx="1"/>
          </p:nvPr>
        </p:nvSpPr>
        <p:spPr>
          <a:xfrm>
            <a:off x="633964" y="1425376"/>
            <a:ext cx="8152050" cy="4833318"/>
          </a:xfrm>
        </p:spPr>
        <p:txBody>
          <a:bodyPr/>
          <a:lstStyle/>
          <a:p>
            <a:pPr>
              <a:lnSpc>
                <a:spcPct val="90000"/>
              </a:lnSpc>
            </a:pPr>
            <a:r>
              <a:rPr lang="en-US" sz="2400">
                <a:solidFill>
                  <a:schemeClr val="bg1"/>
                </a:solidFill>
                <a:latin typeface="Candara"/>
                <a:cs typeface="Candara"/>
              </a:rPr>
              <a:t>Delineate watersheds with automated tools working from elevation models </a:t>
            </a:r>
            <a:r>
              <a:rPr lang="en-US" sz="2000" i="1">
                <a:solidFill>
                  <a:schemeClr val="bg1"/>
                </a:solidFill>
                <a:latin typeface="Candara"/>
                <a:cs typeface="Candara"/>
              </a:rPr>
              <a:t>(GIS tools)</a:t>
            </a:r>
          </a:p>
          <a:p>
            <a:pPr>
              <a:lnSpc>
                <a:spcPct val="90000"/>
              </a:lnSpc>
            </a:pPr>
            <a:r>
              <a:rPr lang="en-US" sz="2400">
                <a:solidFill>
                  <a:schemeClr val="bg1"/>
                </a:solidFill>
                <a:latin typeface="Candara"/>
                <a:cs typeface="Candara"/>
              </a:rPr>
              <a:t>Create stream networks and catchments </a:t>
            </a:r>
            <a:r>
              <a:rPr lang="en-US" sz="2400" i="1">
                <a:solidFill>
                  <a:schemeClr val="bg1"/>
                </a:solidFill>
                <a:latin typeface="Candara"/>
                <a:cs typeface="Candara"/>
              </a:rPr>
              <a:t>(</a:t>
            </a:r>
            <a:r>
              <a:rPr lang="en-US" sz="2000" i="1">
                <a:solidFill>
                  <a:schemeClr val="bg1"/>
                </a:solidFill>
                <a:latin typeface="Candara"/>
                <a:cs typeface="Candara"/>
              </a:rPr>
              <a:t>GIS tools)</a:t>
            </a:r>
          </a:p>
          <a:p>
            <a:pPr>
              <a:lnSpc>
                <a:spcPct val="90000"/>
              </a:lnSpc>
            </a:pPr>
            <a:r>
              <a:rPr lang="en-US" sz="2400">
                <a:solidFill>
                  <a:schemeClr val="bg1"/>
                </a:solidFill>
                <a:latin typeface="Candara"/>
                <a:cs typeface="Candara"/>
              </a:rPr>
              <a:t>Download ECMWF forecast ensembles </a:t>
            </a:r>
            <a:r>
              <a:rPr lang="en-US" sz="2000" i="1">
                <a:solidFill>
                  <a:schemeClr val="bg1"/>
                </a:solidFill>
                <a:latin typeface="Candara"/>
                <a:cs typeface="Candara"/>
              </a:rPr>
              <a:t>(ftp)</a:t>
            </a:r>
          </a:p>
          <a:p>
            <a:pPr>
              <a:lnSpc>
                <a:spcPct val="90000"/>
              </a:lnSpc>
            </a:pPr>
            <a:r>
              <a:rPr lang="en-US" sz="2400">
                <a:solidFill>
                  <a:schemeClr val="bg1"/>
                </a:solidFill>
                <a:latin typeface="Candara"/>
                <a:cs typeface="Candara"/>
              </a:rPr>
              <a:t>Downscale ensemble to local catchments </a:t>
            </a:r>
            <a:r>
              <a:rPr lang="en-US" sz="2400" i="1">
                <a:solidFill>
                  <a:schemeClr val="bg1"/>
                </a:solidFill>
                <a:latin typeface="Candara"/>
                <a:cs typeface="Candara"/>
              </a:rPr>
              <a:t>(</a:t>
            </a:r>
            <a:r>
              <a:rPr lang="en-US" sz="2000" i="1">
                <a:solidFill>
                  <a:schemeClr val="bg1"/>
                </a:solidFill>
                <a:latin typeface="Candara"/>
                <a:cs typeface="Candara"/>
              </a:rPr>
              <a:t>Esri toolkit)</a:t>
            </a:r>
          </a:p>
          <a:p>
            <a:pPr>
              <a:lnSpc>
                <a:spcPct val="90000"/>
              </a:lnSpc>
            </a:pPr>
            <a:r>
              <a:rPr lang="en-US" sz="2400">
                <a:solidFill>
                  <a:schemeClr val="bg1"/>
                </a:solidFill>
                <a:latin typeface="Candara"/>
                <a:cs typeface="Candara"/>
              </a:rPr>
              <a:t>Run RAPID streamflow routing model </a:t>
            </a:r>
            <a:r>
              <a:rPr lang="en-US" sz="2000" i="1">
                <a:solidFill>
                  <a:schemeClr val="bg1"/>
                </a:solidFill>
                <a:latin typeface="Candara"/>
                <a:cs typeface="Candara"/>
              </a:rPr>
              <a:t>(cloud computing)</a:t>
            </a:r>
          </a:p>
          <a:p>
            <a:pPr>
              <a:lnSpc>
                <a:spcPct val="90000"/>
              </a:lnSpc>
            </a:pPr>
            <a:r>
              <a:rPr lang="en-US" sz="2400">
                <a:solidFill>
                  <a:schemeClr val="bg1"/>
                </a:solidFill>
                <a:latin typeface="Candara"/>
                <a:cs typeface="Candara"/>
              </a:rPr>
              <a:t>Store results in HydroShare </a:t>
            </a:r>
            <a:r>
              <a:rPr lang="en-US" sz="2000" i="1">
                <a:solidFill>
                  <a:schemeClr val="bg1"/>
                </a:solidFill>
                <a:latin typeface="Candara"/>
                <a:cs typeface="Candara"/>
              </a:rPr>
              <a:t>(community portal)</a:t>
            </a:r>
          </a:p>
          <a:p>
            <a:pPr>
              <a:lnSpc>
                <a:spcPct val="90000"/>
              </a:lnSpc>
            </a:pPr>
            <a:r>
              <a:rPr lang="en-US" sz="2400">
                <a:solidFill>
                  <a:schemeClr val="bg1"/>
                </a:solidFill>
                <a:latin typeface="Candara"/>
                <a:cs typeface="Candara"/>
              </a:rPr>
              <a:t>Run Tethys app to access the results and display </a:t>
            </a:r>
            <a:r>
              <a:rPr lang="en-US" sz="2000" i="1">
                <a:solidFill>
                  <a:schemeClr val="bg1"/>
                </a:solidFill>
                <a:latin typeface="Candara"/>
                <a:cs typeface="Candara"/>
              </a:rPr>
              <a:t>(browser)</a:t>
            </a:r>
          </a:p>
          <a:p>
            <a:pPr marL="0" indent="0">
              <a:lnSpc>
                <a:spcPct val="90000"/>
              </a:lnSpc>
              <a:buNone/>
            </a:pPr>
            <a:r>
              <a:rPr lang="en-US" sz="2400" b="1" i="1">
                <a:solidFill>
                  <a:schemeClr val="bg1"/>
                </a:solidFill>
                <a:latin typeface="Candara"/>
                <a:cs typeface="Candara"/>
              </a:rPr>
              <a:t>We are working on ways to leverage current implementations for global use</a:t>
            </a:r>
          </a:p>
        </p:txBody>
      </p:sp>
    </p:spTree>
    <p:extLst>
      <p:ext uri="{BB962C8B-B14F-4D97-AF65-F5344CB8AC3E}">
        <p14:creationId xmlns:p14="http://schemas.microsoft.com/office/powerpoint/2010/main" val="793705763"/>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3331"/>
            <a:ext cx="7772400" cy="1609209"/>
          </a:xfrm>
        </p:spPr>
        <p:txBody>
          <a:bodyPr>
            <a:normAutofit fontScale="90000"/>
          </a:bodyPr>
          <a:lstStyle/>
          <a:p>
            <a:pPr algn="r"/>
            <a:r>
              <a:rPr lang="en-US" b="1" dirty="0">
                <a:latin typeface="Candara"/>
                <a:cs typeface="Candara"/>
              </a:rPr>
              <a:t>CIEHLYC Capacity Building Cartagena, Colombia </a:t>
            </a:r>
            <a:br>
              <a:rPr lang="en-US" b="1" dirty="0">
                <a:latin typeface="Candara"/>
                <a:cs typeface="Candara"/>
              </a:rPr>
            </a:br>
            <a:r>
              <a:rPr lang="en-US" dirty="0">
                <a:latin typeface="Candara"/>
                <a:cs typeface="Candara"/>
              </a:rPr>
              <a:t>19-22 May 2015</a:t>
            </a:r>
          </a:p>
        </p:txBody>
      </p:sp>
      <p:pic>
        <p:nvPicPr>
          <p:cNvPr id="4" name="Picture 3" descr="2015-05-21 17.38.45.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04253" y="1803900"/>
            <a:ext cx="6653947" cy="4990460"/>
          </a:xfrm>
          <a:prstGeom prst="rect">
            <a:avLst/>
          </a:prstGeom>
        </p:spPr>
      </p:pic>
      <p:pic>
        <p:nvPicPr>
          <p:cNvPr id="3" name="Picture 2" descr="CIEHLYC logo.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0"/>
            <a:ext cx="2560374" cy="1682540"/>
          </a:xfrm>
          <a:prstGeom prst="rect">
            <a:avLst/>
          </a:prstGeom>
          <a:noFill/>
          <a:ln>
            <a:noFill/>
          </a:ln>
        </p:spPr>
      </p:pic>
      <p:sp>
        <p:nvSpPr>
          <p:cNvPr id="5" name="TextBox 4"/>
          <p:cNvSpPr txBox="1"/>
          <p:nvPr/>
        </p:nvSpPr>
        <p:spPr>
          <a:xfrm rot="16200000">
            <a:off x="-1627999" y="3667674"/>
            <a:ext cx="4990461" cy="1262910"/>
          </a:xfrm>
          <a:prstGeom prst="rect">
            <a:avLst/>
          </a:prstGeom>
          <a:noFill/>
        </p:spPr>
        <p:txBody>
          <a:bodyPr wrap="square" rtlCol="0">
            <a:spAutoFit/>
          </a:bodyPr>
          <a:lstStyle/>
          <a:p>
            <a:pPr defTabSz="457200" eaLnBrk="1" fontAlgn="auto" hangingPunct="1">
              <a:lnSpc>
                <a:spcPct val="90000"/>
              </a:lnSpc>
              <a:spcBef>
                <a:spcPts val="0"/>
              </a:spcBef>
              <a:spcAft>
                <a:spcPts val="0"/>
              </a:spcAft>
            </a:pPr>
            <a:r>
              <a:rPr lang="en-US" sz="2800" b="1">
                <a:solidFill>
                  <a:srgbClr val="008000"/>
                </a:solidFill>
                <a:effectLst>
                  <a:outerShdw blurRad="50800" dist="38100" dir="2700000" algn="tl" rotWithShape="0">
                    <a:srgbClr val="000000">
                      <a:alpha val="43000"/>
                    </a:srgbClr>
                  </a:outerShdw>
                </a:effectLst>
                <a:latin typeface="Candara"/>
                <a:ea typeface="+mn-ea"/>
                <a:cs typeface="Candara"/>
              </a:rPr>
              <a:t>Comunidad Para la Informacion Espacial e Hidrografica para Latinoamerica y el Caribe </a:t>
            </a:r>
          </a:p>
        </p:txBody>
      </p:sp>
    </p:spTree>
    <p:extLst>
      <p:ext uri="{BB962C8B-B14F-4D97-AF65-F5344CB8AC3E}">
        <p14:creationId xmlns:p14="http://schemas.microsoft.com/office/powerpoint/2010/main" val="1076971887"/>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66491"/>
            <a:ext cx="7312991" cy="484632"/>
          </a:xfrm>
        </p:spPr>
        <p:txBody>
          <a:bodyPr>
            <a:noAutofit/>
          </a:bodyPr>
          <a:lstStyle/>
          <a:p>
            <a:r>
              <a:rPr lang="en-US" sz="3200" dirty="0" err="1" smtClean="0">
                <a:latin typeface="Candara"/>
                <a:cs typeface="Candara"/>
              </a:rPr>
              <a:t>GloFAS: </a:t>
            </a:r>
            <a:br>
              <a:rPr lang="en-US" sz="3200" dirty="0" err="1" smtClean="0">
                <a:latin typeface="Candara"/>
                <a:cs typeface="Candara"/>
              </a:rPr>
            </a:br>
            <a:r>
              <a:rPr lang="en-US" sz="3200" dirty="0" err="1" smtClean="0">
                <a:latin typeface="Candara"/>
                <a:cs typeface="Candara"/>
              </a:rPr>
              <a:t>From Precipitation to Runoff to Discharge</a:t>
            </a:r>
            <a:endParaRPr lang="en-US" sz="3200" dirty="0">
              <a:latin typeface="Candara"/>
              <a:cs typeface="Candara"/>
            </a:endParaRPr>
          </a:p>
        </p:txBody>
      </p:sp>
      <p:grpSp>
        <p:nvGrpSpPr>
          <p:cNvPr id="4" name="Group 3"/>
          <p:cNvGrpSpPr/>
          <p:nvPr/>
        </p:nvGrpSpPr>
        <p:grpSpPr>
          <a:xfrm>
            <a:off x="310337" y="4180196"/>
            <a:ext cx="8671501" cy="2467213"/>
            <a:chOff x="420414" y="1710385"/>
            <a:chExt cx="10510345" cy="2990401"/>
          </a:xfrm>
        </p:grpSpPr>
        <p:pic>
          <p:nvPicPr>
            <p:cNvPr id="5" name="Content Placeholder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47800" y="2209800"/>
              <a:ext cx="8001000" cy="2490986"/>
            </a:xfrm>
            <a:prstGeom prst="rect">
              <a:avLst/>
            </a:prstGeom>
          </p:spPr>
        </p:pic>
        <p:pic>
          <p:nvPicPr>
            <p:cNvPr id="6" name="Picture 5" descr="Screen Shot 2015-03-30 at 12.17.22 PM.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21670" y="2421069"/>
              <a:ext cx="4409089" cy="2279717"/>
            </a:xfrm>
            <a:prstGeom prst="rect">
              <a:avLst/>
            </a:prstGeom>
          </p:spPr>
        </p:pic>
        <p:pic>
          <p:nvPicPr>
            <p:cNvPr id="7" name="Picture 6"/>
            <p:cNvPicPr/>
            <p:nvPr/>
          </p:nvPicPr>
          <p:blipFill>
            <a:blip r:embed="rId5" cstate="email">
              <a:extLst>
                <a:ext uri="{28A0092B-C50C-407E-A947-70E740481C1C}">
                  <a14:useLocalDpi xmlns:a14="http://schemas.microsoft.com/office/drawing/2010/main"/>
                </a:ext>
              </a:extLst>
            </a:blip>
            <a:stretch>
              <a:fillRect/>
            </a:stretch>
          </p:blipFill>
          <p:spPr>
            <a:xfrm>
              <a:off x="420414" y="1710385"/>
              <a:ext cx="3965704" cy="2576860"/>
            </a:xfrm>
            <a:prstGeom prst="rect">
              <a:avLst/>
            </a:prstGeom>
          </p:spPr>
        </p:pic>
      </p:grpSp>
      <p:pic>
        <p:nvPicPr>
          <p:cNvPr id="8" name="Picture 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8078" y="1527581"/>
            <a:ext cx="5132316" cy="2528644"/>
          </a:xfrm>
          <a:prstGeom prst="rect">
            <a:avLst/>
          </a:prstGeom>
        </p:spPr>
      </p:pic>
      <p:pic>
        <p:nvPicPr>
          <p:cNvPr id="9" name="Picture 2" descr="Hydrograph"/>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698846" y="1818485"/>
            <a:ext cx="3165152" cy="205734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95067101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smtClean="0">
                <a:solidFill>
                  <a:schemeClr val="accent4">
                    <a:lumMod val="75000"/>
                  </a:schemeClr>
                </a:solidFill>
                <a:effectLst/>
                <a:latin typeface="Candara"/>
                <a:cs typeface="Candara"/>
              </a:rPr>
              <a:t>ArcGIS RAPID Toolbox	</a:t>
            </a:r>
            <a:endParaRPr lang="en-US" sz="3600" dirty="0">
              <a:solidFill>
                <a:schemeClr val="accent4">
                  <a:lumMod val="75000"/>
                </a:schemeClr>
              </a:solidFill>
              <a:effectLst/>
              <a:latin typeface="Candara"/>
              <a:cs typeface="Candara"/>
            </a:endParaRPr>
          </a:p>
        </p:txBody>
      </p:sp>
      <p:sp>
        <p:nvSpPr>
          <p:cNvPr id="3" name="Content Placeholder 2"/>
          <p:cNvSpPr>
            <a:spLocks noGrp="1"/>
          </p:cNvSpPr>
          <p:nvPr>
            <p:ph sz="quarter" idx="10"/>
          </p:nvPr>
        </p:nvSpPr>
        <p:spPr>
          <a:xfrm>
            <a:off x="1466669" y="1256249"/>
            <a:ext cx="6471487" cy="3838591"/>
          </a:xfrm>
        </p:spPr>
        <p:txBody>
          <a:bodyPr/>
          <a:lstStyle/>
          <a:p>
            <a:pPr marL="0" indent="0">
              <a:buNone/>
            </a:pPr>
            <a:r>
              <a:rPr lang="en-US"/>
              <a:t>Esri Toolbox + BYU Tethys tool to create downscaled model for any scale watershed</a:t>
            </a:r>
          </a:p>
        </p:txBody>
      </p:sp>
      <p:pic>
        <p:nvPicPr>
          <p:cNvPr id="6" name="Picture 5"/>
          <p:cNvPicPr>
            <a:picLocks noChangeAspect="1"/>
          </p:cNvPicPr>
          <p:nvPr/>
        </p:nvPicPr>
        <p:blipFill>
          <a:blip r:embed="rId3"/>
          <a:stretch>
            <a:fillRect/>
          </a:stretch>
        </p:blipFill>
        <p:spPr>
          <a:xfrm>
            <a:off x="444393" y="2057642"/>
            <a:ext cx="8227286" cy="4653766"/>
          </a:xfrm>
          <a:prstGeom prst="rect">
            <a:avLst/>
          </a:prstGeom>
        </p:spPr>
      </p:pic>
    </p:spTree>
    <p:extLst>
      <p:ext uri="{BB962C8B-B14F-4D97-AF65-F5344CB8AC3E}">
        <p14:creationId xmlns:p14="http://schemas.microsoft.com/office/powerpoint/2010/main" val="1623687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847" y="532791"/>
            <a:ext cx="7312991" cy="484632"/>
          </a:xfrm>
        </p:spPr>
        <p:txBody>
          <a:bodyPr/>
          <a:lstStyle/>
          <a:p>
            <a:pPr algn="ctr"/>
            <a:r>
              <a:rPr lang="en-US" sz="4000" dirty="0" smtClean="0">
                <a:latin typeface="Candara"/>
                <a:cs typeface="Candara"/>
              </a:rPr>
              <a:t>14 Watersheds with Forecasts</a:t>
            </a:r>
            <a:endParaRPr lang="en-US" sz="4000" dirty="0">
              <a:latin typeface="Candara"/>
              <a:cs typeface="Candara"/>
            </a:endParaRPr>
          </a:p>
        </p:txBody>
      </p:sp>
      <p:pic>
        <p:nvPicPr>
          <p:cNvPr id="3" name="Picture 2" descr="Tethys-Colombia Training.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477204"/>
            <a:ext cx="9144000" cy="5380796"/>
          </a:xfrm>
          <a:prstGeom prst="rect">
            <a:avLst/>
          </a:prstGeom>
        </p:spPr>
      </p:pic>
    </p:spTree>
    <p:extLst>
      <p:ext uri="{BB962C8B-B14F-4D97-AF65-F5344CB8AC3E}">
        <p14:creationId xmlns:p14="http://schemas.microsoft.com/office/powerpoint/2010/main" val="209821865"/>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thys-Colombia watersheds.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477204"/>
            <a:ext cx="9144000" cy="5380796"/>
          </a:xfrm>
          <a:prstGeom prst="rect">
            <a:avLst/>
          </a:prstGeom>
        </p:spPr>
      </p:pic>
      <p:sp>
        <p:nvSpPr>
          <p:cNvPr id="6" name="Rectangle 5"/>
          <p:cNvSpPr/>
          <p:nvPr/>
        </p:nvSpPr>
        <p:spPr>
          <a:xfrm>
            <a:off x="2559828" y="6396335"/>
            <a:ext cx="3818774" cy="461665"/>
          </a:xfrm>
          <a:prstGeom prst="rect">
            <a:avLst/>
          </a:prstGeom>
        </p:spPr>
        <p:txBody>
          <a:bodyPr wrap="none">
            <a:spAutoFit/>
          </a:bodyPr>
          <a:lstStyle/>
          <a:p>
            <a:pPr defTabSz="457200" eaLnBrk="1" fontAlgn="auto" hangingPunct="1">
              <a:spcBef>
                <a:spcPts val="0"/>
              </a:spcBef>
              <a:spcAft>
                <a:spcPts val="0"/>
              </a:spcAft>
            </a:pPr>
            <a:r>
              <a:rPr lang="en-US" sz="2400" b="1" dirty="0">
                <a:latin typeface="Candara"/>
                <a:ea typeface="+mn-ea"/>
                <a:cs typeface="Candara"/>
                <a:hlinkClick r:id="rId4"/>
              </a:rPr>
              <a:t>http://</a:t>
            </a:r>
            <a:r>
              <a:rPr lang="en-US" sz="2400" b="1" dirty="0" err="1">
                <a:latin typeface="Candara"/>
                <a:ea typeface="+mn-ea"/>
                <a:cs typeface="Candara"/>
                <a:hlinkClick r:id="rId4"/>
              </a:rPr>
              <a:t>apps.hydroshare.org</a:t>
            </a:r>
            <a:r>
              <a:rPr lang="en-US" sz="2400" b="1" dirty="0">
                <a:latin typeface="Candara"/>
                <a:ea typeface="+mn-ea"/>
                <a:cs typeface="Candara"/>
                <a:hlinkClick r:id="rId4"/>
              </a:rPr>
              <a:t>/</a:t>
            </a:r>
            <a:endParaRPr lang="en-US" sz="2400" b="1" dirty="0">
              <a:latin typeface="Candara"/>
              <a:ea typeface="+mn-ea"/>
              <a:cs typeface="Candara"/>
            </a:endParaRPr>
          </a:p>
        </p:txBody>
      </p:sp>
      <p:sp>
        <p:nvSpPr>
          <p:cNvPr id="7" name="Title 1"/>
          <p:cNvSpPr>
            <a:spLocks noGrp="1"/>
          </p:cNvSpPr>
          <p:nvPr>
            <p:ph type="title"/>
          </p:nvPr>
        </p:nvSpPr>
        <p:spPr>
          <a:xfrm>
            <a:off x="942847" y="532791"/>
            <a:ext cx="7312991" cy="484632"/>
          </a:xfrm>
        </p:spPr>
        <p:txBody>
          <a:bodyPr/>
          <a:lstStyle/>
          <a:p>
            <a:pPr algn="ctr"/>
            <a:r>
              <a:rPr lang="en-US" sz="4000" dirty="0" smtClean="0">
                <a:latin typeface="Candara"/>
                <a:cs typeface="Candara"/>
              </a:rPr>
              <a:t>13 Watersheds in Colombia</a:t>
            </a:r>
            <a:endParaRPr lang="en-US" sz="4000" dirty="0">
              <a:latin typeface="Candara"/>
              <a:cs typeface="Candara"/>
            </a:endParaRPr>
          </a:p>
        </p:txBody>
      </p:sp>
    </p:spTree>
    <p:extLst>
      <p:ext uri="{BB962C8B-B14F-4D97-AF65-F5344CB8AC3E}">
        <p14:creationId xmlns:p14="http://schemas.microsoft.com/office/powerpoint/2010/main" val="5620829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dirty="0" err="1" smtClean="0">
                <a:latin typeface="Candara"/>
                <a:cs typeface="Candara"/>
              </a:rPr>
              <a:t>HydroServer - HydroDesktop</a:t>
            </a:r>
            <a:endParaRPr lang="en-US" sz="3600" dirty="0">
              <a:latin typeface="Candara"/>
              <a:cs typeface="Candara"/>
            </a:endParaRPr>
          </a:p>
        </p:txBody>
      </p:sp>
      <p:pic>
        <p:nvPicPr>
          <p:cNvPr id="4"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9279" y="1436230"/>
            <a:ext cx="9067800" cy="54217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2" descr="HydroServer Lite"/>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466408" y="3372220"/>
            <a:ext cx="1676400" cy="294105"/>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4" descr="HydroDesktop - CUAHSI Hydrologic Information System Desktop Application"/>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756637" y="4891726"/>
            <a:ext cx="1562100" cy="28662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34591748"/>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57200"/>
            <a:ext cx="7751325" cy="484632"/>
          </a:xfrm>
        </p:spPr>
        <p:txBody>
          <a:bodyPr/>
          <a:lstStyle/>
          <a:p>
            <a:pPr algn="ctr"/>
            <a:r>
              <a:rPr lang="en-US" sz="3200" dirty="0" err="1">
                <a:latin typeface="Candara"/>
                <a:cs typeface="Candara"/>
              </a:rPr>
              <a:t>Creating Gauge Stations &amp; HydroServers</a:t>
            </a:r>
            <a:endParaRPr lang="en-US" sz="3200" dirty="0">
              <a:latin typeface="Candara"/>
              <a:cs typeface="Candara"/>
            </a:endParaRPr>
          </a:p>
        </p:txBody>
      </p:sp>
      <p:grpSp>
        <p:nvGrpSpPr>
          <p:cNvPr id="3" name="Group 2"/>
          <p:cNvGrpSpPr/>
          <p:nvPr/>
        </p:nvGrpSpPr>
        <p:grpSpPr>
          <a:xfrm>
            <a:off x="0" y="1827451"/>
            <a:ext cx="9144000" cy="5030549"/>
            <a:chOff x="76200" y="1609272"/>
            <a:chExt cx="9144000" cy="5030549"/>
          </a:xfrm>
        </p:grpSpPr>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200" y="1609272"/>
              <a:ext cx="9144000" cy="5030549"/>
            </a:xfrm>
            <a:prstGeom prst="rect">
              <a:avLst/>
            </a:prstGeom>
          </p:spPr>
        </p:pic>
        <p:pic>
          <p:nvPicPr>
            <p:cNvPr id="5" name="Picture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34572" y="3842292"/>
              <a:ext cx="3773715" cy="2688515"/>
            </a:xfrm>
            <a:prstGeom prst="rect">
              <a:avLst/>
            </a:prstGeom>
          </p:spPr>
        </p:pic>
      </p:grpSp>
      <p:sp>
        <p:nvSpPr>
          <p:cNvPr id="6" name="TextBox 5"/>
          <p:cNvSpPr txBox="1"/>
          <p:nvPr/>
        </p:nvSpPr>
        <p:spPr>
          <a:xfrm>
            <a:off x="483858" y="1133866"/>
            <a:ext cx="8285914" cy="650083"/>
          </a:xfrm>
          <a:prstGeom prst="rect">
            <a:avLst/>
          </a:prstGeom>
          <a:noFill/>
          <a:effectLst/>
        </p:spPr>
        <p:txBody>
          <a:bodyPr wrap="square" lIns="0" tIns="0" rIns="0" bIns="0" rtlCol="0">
            <a:noAutofit/>
          </a:bodyPr>
          <a:lstStyle/>
          <a:p>
            <a:r>
              <a:rPr lang="en-US" sz="2000" dirty="0">
                <a:latin typeface="Candara"/>
                <a:cs typeface="Candara"/>
              </a:rPr>
              <a:t>Each watershed developer created gauge stations. Some associated a photo with each station. Some created a HydroServer for their watershed. </a:t>
            </a:r>
          </a:p>
        </p:txBody>
      </p:sp>
    </p:spTree>
    <p:extLst>
      <p:ext uri="{BB962C8B-B14F-4D97-AF65-F5344CB8AC3E}">
        <p14:creationId xmlns:p14="http://schemas.microsoft.com/office/powerpoint/2010/main" val="1791521952"/>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9191" y="0"/>
            <a:ext cx="9153191" cy="685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extBox 1"/>
          <p:cNvSpPr txBox="1"/>
          <p:nvPr/>
        </p:nvSpPr>
        <p:spPr>
          <a:xfrm>
            <a:off x="2688617" y="164794"/>
            <a:ext cx="5930029" cy="584776"/>
          </a:xfrm>
          <a:prstGeom prst="rect">
            <a:avLst/>
          </a:prstGeom>
          <a:solidFill>
            <a:schemeClr val="bg1"/>
          </a:solidFill>
          <a:effectLst>
            <a:outerShdw blurRad="50800" dist="38100" dir="2700000" algn="tl" rotWithShape="0">
              <a:srgbClr val="000000">
                <a:alpha val="43000"/>
              </a:srgbClr>
            </a:outerShdw>
          </a:effectLst>
        </p:spPr>
        <p:txBody>
          <a:bodyPr wrap="none" rtlCol="0">
            <a:spAutoFit/>
          </a:bodyPr>
          <a:lstStyle/>
          <a:p>
            <a:pPr algn="ctr" eaLnBrk="1" fontAlgn="auto" hangingPunct="1">
              <a:spcBef>
                <a:spcPts val="0"/>
              </a:spcBef>
              <a:spcAft>
                <a:spcPts val="0"/>
              </a:spcAft>
            </a:pPr>
            <a:r>
              <a:rPr lang="en-US" sz="3200" b="1" dirty="0">
                <a:solidFill>
                  <a:schemeClr val="accent1">
                    <a:lumMod val="75000"/>
                  </a:schemeClr>
                </a:solidFill>
                <a:latin typeface="Candara"/>
                <a:ea typeface="+mn-ea"/>
                <a:cs typeface="Candara"/>
              </a:rPr>
              <a:t>Next Step: Mapping Flood Depth</a:t>
            </a:r>
          </a:p>
        </p:txBody>
      </p:sp>
    </p:spTree>
    <p:extLst>
      <p:ext uri="{BB962C8B-B14F-4D97-AF65-F5344CB8AC3E}">
        <p14:creationId xmlns:p14="http://schemas.microsoft.com/office/powerpoint/2010/main" val="2095960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19" y="353536"/>
            <a:ext cx="7312991" cy="484632"/>
          </a:xfrm>
        </p:spPr>
        <p:txBody>
          <a:bodyPr/>
          <a:lstStyle/>
          <a:p>
            <a:pPr algn="ctr"/>
            <a:r>
              <a:rPr lang="en-US" sz="3200">
                <a:latin typeface="Candara"/>
                <a:cs typeface="Candara"/>
              </a:rPr>
              <a:t>BYU Python Toolkit for Hydro Apps</a:t>
            </a:r>
          </a:p>
        </p:txBody>
      </p:sp>
      <p:pic>
        <p:nvPicPr>
          <p:cNvPr id="4" name="Picture 3" descr="Tethys home.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167697"/>
            <a:ext cx="9144000" cy="5690303"/>
          </a:xfrm>
          <a:prstGeom prst="rect">
            <a:avLst/>
          </a:prstGeom>
        </p:spPr>
      </p:pic>
      <p:sp>
        <p:nvSpPr>
          <p:cNvPr id="5" name="TextBox 4"/>
          <p:cNvSpPr txBox="1"/>
          <p:nvPr/>
        </p:nvSpPr>
        <p:spPr>
          <a:xfrm>
            <a:off x="2915712" y="6482219"/>
            <a:ext cx="3421103" cy="323949"/>
          </a:xfrm>
          <a:prstGeom prst="rect">
            <a:avLst/>
          </a:prstGeom>
          <a:noFill/>
          <a:effectLst/>
        </p:spPr>
        <p:txBody>
          <a:bodyPr wrap="square" lIns="0" tIns="0" rIns="0" bIns="0" rtlCol="0" anchor="ctr">
            <a:noAutofit/>
          </a:bodyPr>
          <a:lstStyle/>
          <a:p>
            <a:pPr algn="ctr">
              <a:lnSpc>
                <a:spcPts val="1800"/>
              </a:lnSpc>
            </a:pPr>
            <a:r>
              <a:rPr lang="en-US" sz="2400" b="1" dirty="0">
                <a:latin typeface="Candara"/>
                <a:ea typeface="+mn-ea"/>
                <a:cs typeface="Candara"/>
                <a:hlinkClick r:id="rId3"/>
              </a:rPr>
              <a:t>http://tethys.ci-water.org/</a:t>
            </a:r>
            <a:r>
              <a:rPr lang="en-US" sz="2400" b="1" dirty="0">
                <a:latin typeface="Candara"/>
                <a:ea typeface="+mn-ea"/>
                <a:cs typeface="Candara"/>
              </a:rPr>
              <a:t> </a:t>
            </a:r>
          </a:p>
        </p:txBody>
      </p:sp>
    </p:spTree>
    <p:extLst>
      <p:ext uri="{BB962C8B-B14F-4D97-AF65-F5344CB8AC3E}">
        <p14:creationId xmlns:p14="http://schemas.microsoft.com/office/powerpoint/2010/main" val="1633021409"/>
      </p:ext>
    </p:extLst>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thys_platform_diagram.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001346"/>
            <a:ext cx="9144000" cy="8128224"/>
          </a:xfrm>
          <a:prstGeom prst="rect">
            <a:avLst/>
          </a:prstGeom>
        </p:spPr>
      </p:pic>
    </p:spTree>
    <p:extLst>
      <p:ext uri="{BB962C8B-B14F-4D97-AF65-F5344CB8AC3E}">
        <p14:creationId xmlns:p14="http://schemas.microsoft.com/office/powerpoint/2010/main" val="1349812403"/>
      </p:ext>
    </p:extLst>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4"/>
          <p:cNvSpPr>
            <a:spLocks noGrp="1"/>
          </p:cNvSpPr>
          <p:nvPr>
            <p:ph type="subTitle" idx="1"/>
          </p:nvPr>
        </p:nvSpPr>
        <p:spPr>
          <a:xfrm>
            <a:off x="301035" y="2578634"/>
            <a:ext cx="8485810" cy="4036271"/>
          </a:xfrm>
        </p:spPr>
        <p:txBody>
          <a:bodyPr/>
          <a:lstStyle/>
          <a:p>
            <a:pPr eaLnBrk="1" hangingPunct="1"/>
            <a:r>
              <a:rPr lang="en-CA" dirty="0" smtClean="0">
                <a:solidFill>
                  <a:srgbClr val="000090"/>
                </a:solidFill>
                <a:latin typeface="Calibri"/>
                <a:ea typeface="ＭＳ Ｐゴシック" charset="0"/>
                <a:cs typeface="Calibri"/>
              </a:rPr>
              <a:t>David K. Arctur</a:t>
            </a:r>
            <a:r>
              <a:rPr lang="en-CA" b="1" dirty="0" smtClean="0">
                <a:solidFill>
                  <a:srgbClr val="000090"/>
                </a:solidFill>
                <a:latin typeface="Calibri"/>
                <a:ea typeface="ＭＳ Ｐゴシック" charset="0"/>
                <a:cs typeface="Calibri"/>
              </a:rPr>
              <a:t>			</a:t>
            </a:r>
          </a:p>
          <a:p>
            <a:pPr eaLnBrk="1" hangingPunct="1"/>
            <a:r>
              <a:rPr lang="en-CA" sz="1400" b="1" dirty="0">
                <a:solidFill>
                  <a:schemeClr val="bg2">
                    <a:lumMod val="75000"/>
                  </a:schemeClr>
                </a:solidFill>
                <a:latin typeface="Calibri"/>
                <a:ea typeface="ＭＳ Ｐゴシック" charset="0"/>
                <a:cs typeface="Calibri"/>
                <a:hlinkClick r:id="rId3"/>
              </a:rPr>
              <a:t>david.arctur@utexas.edu</a:t>
            </a:r>
            <a:endParaRPr lang="en-CA" sz="1400" dirty="0">
              <a:solidFill>
                <a:schemeClr val="bg2">
                  <a:lumMod val="75000"/>
                </a:schemeClr>
              </a:solidFill>
              <a:latin typeface="Calibri"/>
              <a:ea typeface="ＭＳ Ｐゴシック" charset="0"/>
              <a:cs typeface="Calibri"/>
            </a:endParaRPr>
          </a:p>
          <a:p>
            <a:pPr eaLnBrk="1" hangingPunct="1"/>
            <a:r>
              <a:rPr lang="en-CA" sz="1400" dirty="0" smtClean="0">
                <a:solidFill>
                  <a:schemeClr val="bg2">
                    <a:lumMod val="75000"/>
                  </a:schemeClr>
                </a:solidFill>
                <a:latin typeface="Calibri"/>
                <a:ea typeface="ＭＳ Ｐゴシック" charset="0"/>
                <a:cs typeface="Calibri"/>
              </a:rPr>
              <a:t>University of Texas at Austin</a:t>
            </a:r>
            <a:br>
              <a:rPr lang="en-CA" sz="1400" dirty="0" smtClean="0">
                <a:solidFill>
                  <a:schemeClr val="bg2">
                    <a:lumMod val="75000"/>
                  </a:schemeClr>
                </a:solidFill>
                <a:latin typeface="Calibri"/>
                <a:ea typeface="ＭＳ Ｐゴシック" charset="0"/>
                <a:cs typeface="Calibri"/>
              </a:rPr>
            </a:br>
            <a:r>
              <a:rPr lang="en-CA" sz="1400" dirty="0" smtClean="0">
                <a:solidFill>
                  <a:schemeClr val="bg2">
                    <a:lumMod val="75000"/>
                  </a:schemeClr>
                </a:solidFill>
                <a:latin typeface="Calibri"/>
                <a:ea typeface="ＭＳ Ｐゴシック" charset="0"/>
                <a:cs typeface="Calibri"/>
              </a:rPr>
              <a:t>Open Geospatial Consortium (OGC)</a:t>
            </a:r>
          </a:p>
          <a:p>
            <a:pPr eaLnBrk="1" hangingPunct="1">
              <a:spcBef>
                <a:spcPts val="0"/>
              </a:spcBef>
            </a:pPr>
            <a:endParaRPr lang="en-CA" sz="900" dirty="0" smtClean="0">
              <a:solidFill>
                <a:srgbClr val="000090"/>
              </a:solidFill>
              <a:latin typeface="Calibri"/>
              <a:ea typeface="ＭＳ Ｐゴシック" charset="0"/>
              <a:cs typeface="Calibri"/>
            </a:endParaRPr>
          </a:p>
          <a:p>
            <a:pPr eaLnBrk="1" hangingPunct="1">
              <a:spcBef>
                <a:spcPts val="0"/>
              </a:spcBef>
            </a:pPr>
            <a:endParaRPr lang="en-CA" b="1" dirty="0">
              <a:solidFill>
                <a:srgbClr val="000090"/>
              </a:solidFill>
              <a:latin typeface="Calibri"/>
              <a:ea typeface="ＭＳ Ｐゴシック" charset="0"/>
              <a:cs typeface="Calibri"/>
            </a:endParaRPr>
          </a:p>
        </p:txBody>
      </p:sp>
      <p:sp>
        <p:nvSpPr>
          <p:cNvPr id="5" name="Title 3"/>
          <p:cNvSpPr>
            <a:spLocks noGrp="1"/>
          </p:cNvSpPr>
          <p:nvPr>
            <p:ph type="ctrTitle"/>
          </p:nvPr>
        </p:nvSpPr>
        <p:spPr>
          <a:xfrm>
            <a:off x="274578" y="1300741"/>
            <a:ext cx="5849680" cy="1143000"/>
          </a:xfrm>
        </p:spPr>
        <p:txBody>
          <a:bodyPr/>
          <a:lstStyle/>
          <a:p>
            <a:pPr eaLnBrk="1" hangingPunct="1"/>
            <a:r>
              <a:rPr lang="en-US" dirty="0" smtClean="0">
                <a:latin typeface="Arial" charset="0"/>
                <a:ea typeface="ＭＳ Ｐゴシック" charset="0"/>
                <a:cs typeface="ＭＳ Ｐゴシック" charset="0"/>
              </a:rPr>
              <a:t>Thank you!</a:t>
            </a:r>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279810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2_Optional_Corporate_PPT_Template-Arial">
  <a:themeElements>
    <a:clrScheme name="EsriMarketing">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9BCDFF"/>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20090305 AIP2 Current Summary.ppt</Template>
  <TotalTime>26364</TotalTime>
  <Words>1529</Words>
  <Application>Microsoft Macintosh PowerPoint</Application>
  <PresentationFormat>On-screen Show (4:3)</PresentationFormat>
  <Paragraphs>137</Paragraphs>
  <Slides>22</Slides>
  <Notes>16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Avenir LT Std 55 Roman</vt:lpstr>
      <vt:lpstr>Avenir LT Std 65 Medium</vt:lpstr>
      <vt:lpstr>Avenir LT Std 85 Heavy</vt:lpstr>
      <vt:lpstr>Candara</vt:lpstr>
      <vt:lpstr>Lucida Grande</vt:lpstr>
      <vt:lpstr>ＭＳ Ｐゴシック</vt:lpstr>
      <vt:lpstr>Arial</vt:lpstr>
      <vt:lpstr>Calibri</vt:lpstr>
      <vt:lpstr>Times</vt:lpstr>
      <vt:lpstr>2_Optional_Corporate_PPT_Template-Arial</vt:lpstr>
      <vt:lpstr>AIP-7 (2014) GEOSS Water Services Team</vt:lpstr>
      <vt:lpstr>Land Air Water Aoteara: LAWA New Zealand</vt:lpstr>
      <vt:lpstr>Land Air Water Aoteara: LAWA New Zealand</vt:lpstr>
      <vt:lpstr>WaterInfo.be: Flemish Water Portal</vt:lpstr>
      <vt:lpstr>Time Series of Land Surface Modeling Outputs</vt:lpstr>
      <vt:lpstr>PowerPoint Presentation</vt:lpstr>
      <vt:lpstr>PowerPoint Presentation</vt:lpstr>
      <vt:lpstr>AIP-8 (2015) GEOSS Water Services Team</vt:lpstr>
      <vt:lpstr>Models for Flood Forecasting</vt:lpstr>
      <vt:lpstr>BYU Flood Forecasting Workflow</vt:lpstr>
      <vt:lpstr>The recipe for doing this (prototype): </vt:lpstr>
      <vt:lpstr>CIEHLYC Capacity Building Cartagena, Colombia  19-22 May 2015</vt:lpstr>
      <vt:lpstr>GloFAS:  From Precipitation to Runoff to Discharge</vt:lpstr>
      <vt:lpstr>ArcGIS RAPID Toolbox </vt:lpstr>
      <vt:lpstr>14 Watersheds with Forecasts</vt:lpstr>
      <vt:lpstr>13 Watersheds in Colombia</vt:lpstr>
      <vt:lpstr>HydroServer - HydroDesktop</vt:lpstr>
      <vt:lpstr>Creating Gauge Stations &amp; HydroServers</vt:lpstr>
      <vt:lpstr>PowerPoint Presentation</vt:lpstr>
      <vt:lpstr>BYU Python Toolkit for Hydro Apps</vt:lpstr>
      <vt:lpstr>PowerPoint Presentation</vt:lpstr>
      <vt:lpstr>Thank you!</vt:lpstr>
    </vt:vector>
  </TitlesOfParts>
  <Company>Open Geospatial Consortium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Update on OGC involvement in GEOSS</dc:title>
  <cp:lastModifiedBy>Microsoft Office User</cp:lastModifiedBy>
  <cp:revision>414</cp:revision>
  <cp:lastPrinted>2007-09-09T19:30:51Z</cp:lastPrinted>
  <dcterms:created xsi:type="dcterms:W3CDTF">2009-04-28T13:19:42Z</dcterms:created>
  <dcterms:modified xsi:type="dcterms:W3CDTF">2015-09-23T09:35:37Z</dcterms:modified>
</cp:coreProperties>
</file>