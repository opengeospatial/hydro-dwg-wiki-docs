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4" r:id="rId2"/>
    <p:sldMasterId id="2147483686" r:id="rId3"/>
    <p:sldMasterId id="2147483698" r:id="rId4"/>
    <p:sldMasterId id="2147483712" r:id="rId5"/>
    <p:sldMasterId id="2147483748" r:id="rId6"/>
  </p:sldMasterIdLst>
  <p:notesMasterIdLst>
    <p:notesMasterId r:id="rId38"/>
  </p:notesMasterIdLst>
  <p:sldIdLst>
    <p:sldId id="256" r:id="rId7"/>
    <p:sldId id="309" r:id="rId8"/>
    <p:sldId id="318" r:id="rId9"/>
    <p:sldId id="310" r:id="rId10"/>
    <p:sldId id="257" r:id="rId11"/>
    <p:sldId id="287" r:id="rId12"/>
    <p:sldId id="303" r:id="rId13"/>
    <p:sldId id="305" r:id="rId14"/>
    <p:sldId id="269" r:id="rId15"/>
    <p:sldId id="298" r:id="rId16"/>
    <p:sldId id="297" r:id="rId17"/>
    <p:sldId id="291" r:id="rId18"/>
    <p:sldId id="286" r:id="rId19"/>
    <p:sldId id="293" r:id="rId20"/>
    <p:sldId id="321" r:id="rId21"/>
    <p:sldId id="301" r:id="rId22"/>
    <p:sldId id="296" r:id="rId23"/>
    <p:sldId id="308" r:id="rId24"/>
    <p:sldId id="299" r:id="rId25"/>
    <p:sldId id="312" r:id="rId26"/>
    <p:sldId id="313" r:id="rId27"/>
    <p:sldId id="314" r:id="rId28"/>
    <p:sldId id="316" r:id="rId29"/>
    <p:sldId id="315" r:id="rId30"/>
    <p:sldId id="317" r:id="rId31"/>
    <p:sldId id="292" r:id="rId32"/>
    <p:sldId id="288" r:id="rId33"/>
    <p:sldId id="272" r:id="rId34"/>
    <p:sldId id="268" r:id="rId35"/>
    <p:sldId id="320" r:id="rId36"/>
    <p:sldId id="304" r:id="rId37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619" autoAdjust="0"/>
    <p:restoredTop sz="94660"/>
  </p:normalViewPr>
  <p:slideViewPr>
    <p:cSldViewPr showGuides="1">
      <p:cViewPr varScale="1">
        <p:scale>
          <a:sx n="107" d="100"/>
          <a:sy n="107" d="100"/>
        </p:scale>
        <p:origin x="126" y="6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tableStyles" Target="tableStyle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FC9CF5-A403-4034-9F22-E35EACF203C7}" type="datetimeFigureOut">
              <a:rPr lang="en-NZ" smtClean="0"/>
              <a:t>18/09/2018</a:t>
            </a:fld>
            <a:endParaRPr lang="en-N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6C6BD8-1F04-4E63-947C-D368254A4A54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27321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6C6BD8-1F04-4E63-947C-D368254A4A54}" type="slidenum">
              <a:rPr lang="en-NZ" smtClean="0"/>
              <a:t>11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2343384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916C3A-D5C9-8E42-A956-A8CC4645974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3504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916C3A-D5C9-8E42-A956-A8CC4645974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9698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6C6BD8-1F04-4E63-947C-D368254A4A54}" type="slidenum">
              <a:rPr lang="en-NZ" smtClean="0"/>
              <a:t>22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3622932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6C6BD8-1F04-4E63-947C-D368254A4A54}" type="slidenum">
              <a:rPr lang="en-NZ" smtClean="0"/>
              <a:t>23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0626529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6C6BD8-1F04-4E63-947C-D368254A4A54}" type="slidenum">
              <a:rPr lang="en-NZ" smtClean="0"/>
              <a:t>31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7906460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jpe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.jpeg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2.jpeg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9" descr="H29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"/>
            <a:ext cx="9144000" cy="352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Freeform 3"/>
          <p:cNvSpPr>
            <a:spLocks/>
          </p:cNvSpPr>
          <p:nvPr/>
        </p:nvSpPr>
        <p:spPr bwMode="auto">
          <a:xfrm>
            <a:off x="0" y="1444230"/>
            <a:ext cx="6248400" cy="1651397"/>
          </a:xfrm>
          <a:custGeom>
            <a:avLst/>
            <a:gdLst>
              <a:gd name="T0" fmla="*/ 6350 w 3936"/>
              <a:gd name="T1" fmla="*/ 0 h 1387"/>
              <a:gd name="T2" fmla="*/ 0 w 3936"/>
              <a:gd name="T3" fmla="*/ 2189162 h 1387"/>
              <a:gd name="T4" fmla="*/ 6248400 w 3936"/>
              <a:gd name="T5" fmla="*/ 2201862 h 1387"/>
              <a:gd name="T6" fmla="*/ 6216650 w 3936"/>
              <a:gd name="T7" fmla="*/ 1501775 h 1387"/>
              <a:gd name="T8" fmla="*/ 6350 w 3936"/>
              <a:gd name="T9" fmla="*/ 0 h 138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936" h="1387">
                <a:moveTo>
                  <a:pt x="4" y="0"/>
                </a:moveTo>
                <a:cubicBezTo>
                  <a:pt x="4" y="379"/>
                  <a:pt x="0" y="1141"/>
                  <a:pt x="0" y="1379"/>
                </a:cubicBezTo>
                <a:cubicBezTo>
                  <a:pt x="256" y="1379"/>
                  <a:pt x="3160" y="1387"/>
                  <a:pt x="3936" y="1387"/>
                </a:cubicBezTo>
                <a:cubicBezTo>
                  <a:pt x="3936" y="1195"/>
                  <a:pt x="3920" y="1267"/>
                  <a:pt x="3916" y="946"/>
                </a:cubicBezTo>
                <a:cubicBezTo>
                  <a:pt x="2016" y="1339"/>
                  <a:pt x="536" y="931"/>
                  <a:pt x="4" y="0"/>
                </a:cubicBezTo>
                <a:close/>
              </a:path>
            </a:pathLst>
          </a:custGeom>
          <a:solidFill>
            <a:srgbClr val="3D6588">
              <a:alpha val="30196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6" name="Freeform 4"/>
          <p:cNvSpPr>
            <a:spLocks/>
          </p:cNvSpPr>
          <p:nvPr/>
        </p:nvSpPr>
        <p:spPr bwMode="auto">
          <a:xfrm>
            <a:off x="5" y="1880000"/>
            <a:ext cx="9140825" cy="1831181"/>
          </a:xfrm>
          <a:custGeom>
            <a:avLst/>
            <a:gdLst>
              <a:gd name="T0" fmla="*/ 11114 w 5757"/>
              <a:gd name="T1" fmla="*/ 22225 h 1538"/>
              <a:gd name="T2" fmla="*/ 9136062 w 5757"/>
              <a:gd name="T3" fmla="*/ 0 h 1538"/>
              <a:gd name="T4" fmla="*/ 9136062 w 5757"/>
              <a:gd name="T5" fmla="*/ 2441575 h 1538"/>
              <a:gd name="T6" fmla="*/ 0 w 5757"/>
              <a:gd name="T7" fmla="*/ 2430463 h 1538"/>
              <a:gd name="T8" fmla="*/ 11114 w 5757"/>
              <a:gd name="T9" fmla="*/ 22225 h 153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757" h="1538">
                <a:moveTo>
                  <a:pt x="7" y="14"/>
                </a:moveTo>
                <a:cubicBezTo>
                  <a:pt x="1127" y="1485"/>
                  <a:pt x="4439" y="541"/>
                  <a:pt x="5754" y="0"/>
                </a:cubicBezTo>
                <a:cubicBezTo>
                  <a:pt x="5757" y="769"/>
                  <a:pt x="5754" y="1538"/>
                  <a:pt x="5754" y="1538"/>
                </a:cubicBezTo>
                <a:lnTo>
                  <a:pt x="0" y="1531"/>
                </a:lnTo>
                <a:cubicBezTo>
                  <a:pt x="0" y="1531"/>
                  <a:pt x="7" y="14"/>
                  <a:pt x="7" y="1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7" name="Freeform 5"/>
          <p:cNvSpPr>
            <a:spLocks/>
          </p:cNvSpPr>
          <p:nvPr/>
        </p:nvSpPr>
        <p:spPr bwMode="auto">
          <a:xfrm>
            <a:off x="0" y="1971677"/>
            <a:ext cx="9150350" cy="3171825"/>
          </a:xfrm>
          <a:custGeom>
            <a:avLst/>
            <a:gdLst>
              <a:gd name="T0" fmla="*/ 0 w 5764"/>
              <a:gd name="T1" fmla="*/ 4229100 h 2664"/>
              <a:gd name="T2" fmla="*/ 9150350 w 5764"/>
              <a:gd name="T3" fmla="*/ 4229100 h 2664"/>
              <a:gd name="T4" fmla="*/ 9150350 w 5764"/>
              <a:gd name="T5" fmla="*/ 0 h 2664"/>
              <a:gd name="T6" fmla="*/ 3175 w 5764"/>
              <a:gd name="T7" fmla="*/ 390525 h 266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5764" h="2664">
                <a:moveTo>
                  <a:pt x="0" y="2664"/>
                </a:moveTo>
                <a:cubicBezTo>
                  <a:pt x="960" y="2664"/>
                  <a:pt x="5542" y="2664"/>
                  <a:pt x="5764" y="2664"/>
                </a:cubicBezTo>
                <a:cubicBezTo>
                  <a:pt x="5764" y="2556"/>
                  <a:pt x="5764" y="158"/>
                  <a:pt x="5764" y="0"/>
                </a:cubicBezTo>
                <a:cubicBezTo>
                  <a:pt x="4496" y="456"/>
                  <a:pt x="1280" y="1496"/>
                  <a:pt x="2" y="246"/>
                </a:cubicBezTo>
              </a:path>
            </a:pathLst>
          </a:custGeom>
          <a:solidFill>
            <a:srgbClr val="3D658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Z"/>
          </a:p>
        </p:txBody>
      </p:sp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2400301"/>
            <a:ext cx="1398588" cy="66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609604" y="322662"/>
            <a:ext cx="98777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b="1" baseline="30000">
                <a:solidFill>
                  <a:srgbClr val="FFFFFF"/>
                </a:solidFill>
                <a:latin typeface="Myriad" charset="0"/>
              </a:rPr>
              <a:t>ABOUT US</a:t>
            </a:r>
          </a:p>
        </p:txBody>
      </p:sp>
      <p:sp>
        <p:nvSpPr>
          <p:cNvPr id="6159" name="Rectangle 15"/>
          <p:cNvSpPr>
            <a:spLocks noGrp="1" noChangeArrowheads="1"/>
          </p:cNvSpPr>
          <p:nvPr>
            <p:ph type="ctrTitle"/>
          </p:nvPr>
        </p:nvSpPr>
        <p:spPr>
          <a:xfrm>
            <a:off x="660400" y="3333750"/>
            <a:ext cx="7772400" cy="381000"/>
          </a:xfrm>
        </p:spPr>
        <p:txBody>
          <a:bodyPr/>
          <a:lstStyle>
            <a:lvl1pPr>
              <a:defRPr sz="3200"/>
            </a:lvl1pPr>
          </a:lstStyle>
          <a:p>
            <a:pPr lvl="0"/>
            <a:r>
              <a:rPr lang="en-US" noProof="0" smtClean="0"/>
              <a:t>Click to edit Master title style</a:t>
            </a:r>
          </a:p>
        </p:txBody>
      </p:sp>
      <p:sp>
        <p:nvSpPr>
          <p:cNvPr id="6160" name="Rectangle 16"/>
          <p:cNvSpPr>
            <a:spLocks noGrp="1" noChangeArrowheads="1"/>
          </p:cNvSpPr>
          <p:nvPr>
            <p:ph type="subTitle" idx="1"/>
          </p:nvPr>
        </p:nvSpPr>
        <p:spPr>
          <a:xfrm>
            <a:off x="660400" y="3676650"/>
            <a:ext cx="7696200" cy="971550"/>
          </a:xfrm>
        </p:spPr>
        <p:txBody>
          <a:bodyPr/>
          <a:lstStyle>
            <a:lvl1pPr marL="0" indent="0">
              <a:buFontTx/>
              <a:buNone/>
              <a:defRPr sz="3200"/>
            </a:lvl1pPr>
          </a:lstStyle>
          <a:p>
            <a:pPr lvl="0"/>
            <a:r>
              <a:rPr lang="en-US" noProof="0" smtClean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398790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NZ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479739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NZ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98006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NZ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385887"/>
            <a:ext cx="3810000" cy="2514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NZ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85887"/>
            <a:ext cx="3810000" cy="2514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5569582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NZ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NZ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0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0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75504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4920243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8276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5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NZ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90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NZ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5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498061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NZ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NZ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30606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NZ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90416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357188"/>
            <a:ext cx="1943100" cy="35433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NZ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357188"/>
            <a:ext cx="5676900" cy="35433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8203804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7188"/>
            <a:ext cx="7772400" cy="914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NZ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385887"/>
            <a:ext cx="3810000" cy="2514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NZ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85887"/>
            <a:ext cx="3810000" cy="2514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2917729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7188"/>
            <a:ext cx="7772400" cy="914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NZ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385887"/>
            <a:ext cx="3810000" cy="2514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NZ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8200" y="1385887"/>
            <a:ext cx="3810000" cy="2514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0849160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94059"/>
            <a:ext cx="9144000" cy="29658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Freeform 3"/>
          <p:cNvSpPr>
            <a:spLocks/>
          </p:cNvSpPr>
          <p:nvPr/>
        </p:nvSpPr>
        <p:spPr bwMode="auto">
          <a:xfrm>
            <a:off x="0" y="1464473"/>
            <a:ext cx="6248400" cy="1651397"/>
          </a:xfrm>
          <a:custGeom>
            <a:avLst/>
            <a:gdLst>
              <a:gd name="T0" fmla="*/ 6350 w 3936"/>
              <a:gd name="T1" fmla="*/ 0 h 1387"/>
              <a:gd name="T2" fmla="*/ 0 w 3936"/>
              <a:gd name="T3" fmla="*/ 2189163 h 1387"/>
              <a:gd name="T4" fmla="*/ 6248400 w 3936"/>
              <a:gd name="T5" fmla="*/ 2201863 h 1387"/>
              <a:gd name="T6" fmla="*/ 6216650 w 3936"/>
              <a:gd name="T7" fmla="*/ 1501775 h 1387"/>
              <a:gd name="T8" fmla="*/ 6350 w 3936"/>
              <a:gd name="T9" fmla="*/ 0 h 138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936" h="1387">
                <a:moveTo>
                  <a:pt x="4" y="0"/>
                </a:moveTo>
                <a:cubicBezTo>
                  <a:pt x="4" y="379"/>
                  <a:pt x="0" y="1141"/>
                  <a:pt x="0" y="1379"/>
                </a:cubicBezTo>
                <a:cubicBezTo>
                  <a:pt x="256" y="1379"/>
                  <a:pt x="3160" y="1387"/>
                  <a:pt x="3936" y="1387"/>
                </a:cubicBezTo>
                <a:cubicBezTo>
                  <a:pt x="3936" y="1195"/>
                  <a:pt x="3920" y="1267"/>
                  <a:pt x="3916" y="946"/>
                </a:cubicBezTo>
                <a:cubicBezTo>
                  <a:pt x="2016" y="1339"/>
                  <a:pt x="536" y="931"/>
                  <a:pt x="4" y="0"/>
                </a:cubicBezTo>
                <a:close/>
              </a:path>
            </a:pathLst>
          </a:custGeom>
          <a:solidFill>
            <a:srgbClr val="3D6588">
              <a:alpha val="30196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6" name="Freeform 4"/>
          <p:cNvSpPr>
            <a:spLocks/>
          </p:cNvSpPr>
          <p:nvPr/>
        </p:nvSpPr>
        <p:spPr bwMode="auto">
          <a:xfrm>
            <a:off x="9" y="1900242"/>
            <a:ext cx="9140825" cy="1831181"/>
          </a:xfrm>
          <a:custGeom>
            <a:avLst/>
            <a:gdLst>
              <a:gd name="T0" fmla="*/ 11114 w 5757"/>
              <a:gd name="T1" fmla="*/ 22225 h 1538"/>
              <a:gd name="T2" fmla="*/ 9136062 w 5757"/>
              <a:gd name="T3" fmla="*/ 0 h 1538"/>
              <a:gd name="T4" fmla="*/ 9136062 w 5757"/>
              <a:gd name="T5" fmla="*/ 2441575 h 1538"/>
              <a:gd name="T6" fmla="*/ 0 w 5757"/>
              <a:gd name="T7" fmla="*/ 2430463 h 1538"/>
              <a:gd name="T8" fmla="*/ 11114 w 5757"/>
              <a:gd name="T9" fmla="*/ 22225 h 153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757" h="1538">
                <a:moveTo>
                  <a:pt x="7" y="14"/>
                </a:moveTo>
                <a:cubicBezTo>
                  <a:pt x="1127" y="1485"/>
                  <a:pt x="4439" y="541"/>
                  <a:pt x="5754" y="0"/>
                </a:cubicBezTo>
                <a:cubicBezTo>
                  <a:pt x="5757" y="769"/>
                  <a:pt x="5754" y="1538"/>
                  <a:pt x="5754" y="1538"/>
                </a:cubicBezTo>
                <a:lnTo>
                  <a:pt x="0" y="1531"/>
                </a:lnTo>
                <a:cubicBezTo>
                  <a:pt x="0" y="1531"/>
                  <a:pt x="7" y="14"/>
                  <a:pt x="7" y="1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7" name="Freeform 5"/>
          <p:cNvSpPr>
            <a:spLocks/>
          </p:cNvSpPr>
          <p:nvPr/>
        </p:nvSpPr>
        <p:spPr bwMode="auto">
          <a:xfrm>
            <a:off x="0" y="1991918"/>
            <a:ext cx="9150350" cy="3171825"/>
          </a:xfrm>
          <a:custGeom>
            <a:avLst/>
            <a:gdLst>
              <a:gd name="T0" fmla="*/ 0 w 5764"/>
              <a:gd name="T1" fmla="*/ 4229100 h 2664"/>
              <a:gd name="T2" fmla="*/ 9150350 w 5764"/>
              <a:gd name="T3" fmla="*/ 4229100 h 2664"/>
              <a:gd name="T4" fmla="*/ 9150350 w 5764"/>
              <a:gd name="T5" fmla="*/ 0 h 2664"/>
              <a:gd name="T6" fmla="*/ 3175 w 5764"/>
              <a:gd name="T7" fmla="*/ 390525 h 266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5764" h="2664">
                <a:moveTo>
                  <a:pt x="0" y="2664"/>
                </a:moveTo>
                <a:cubicBezTo>
                  <a:pt x="960" y="2664"/>
                  <a:pt x="5542" y="2664"/>
                  <a:pt x="5764" y="2664"/>
                </a:cubicBezTo>
                <a:cubicBezTo>
                  <a:pt x="5764" y="2556"/>
                  <a:pt x="5764" y="158"/>
                  <a:pt x="5764" y="0"/>
                </a:cubicBezTo>
                <a:cubicBezTo>
                  <a:pt x="4496" y="456"/>
                  <a:pt x="1280" y="1496"/>
                  <a:pt x="2" y="246"/>
                </a:cubicBezTo>
              </a:path>
            </a:pathLst>
          </a:custGeom>
          <a:solidFill>
            <a:srgbClr val="3D658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Z"/>
          </a:p>
        </p:txBody>
      </p:sp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2420542"/>
            <a:ext cx="1398588" cy="66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609608" y="342904"/>
            <a:ext cx="98777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b="1" baseline="30000">
                <a:solidFill>
                  <a:srgbClr val="FFFFFF"/>
                </a:solidFill>
                <a:latin typeface="Myriad" charset="0"/>
              </a:rPr>
              <a:t>ABOUT US</a:t>
            </a:r>
          </a:p>
        </p:txBody>
      </p:sp>
      <p:pic>
        <p:nvPicPr>
          <p:cNvPr id="10" name="Picture 10" descr="H290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"/>
            <a:ext cx="9144000" cy="352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4" name="Rectangle 8"/>
          <p:cNvSpPr>
            <a:spLocks noGrp="1" noChangeArrowheads="1"/>
          </p:cNvSpPr>
          <p:nvPr>
            <p:ph type="ctrTitle"/>
          </p:nvPr>
        </p:nvSpPr>
        <p:spPr>
          <a:xfrm>
            <a:off x="660400" y="3353991"/>
            <a:ext cx="7772400" cy="381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smtClean="0"/>
              <a:t>Click to edit Master title style</a:t>
            </a:r>
          </a:p>
        </p:txBody>
      </p:sp>
      <p:sp>
        <p:nvSpPr>
          <p:cNvPr id="29705" name="Rectangle 9"/>
          <p:cNvSpPr>
            <a:spLocks noGrp="1" noChangeArrowheads="1"/>
          </p:cNvSpPr>
          <p:nvPr>
            <p:ph type="subTitle" idx="1"/>
          </p:nvPr>
        </p:nvSpPr>
        <p:spPr>
          <a:xfrm>
            <a:off x="660400" y="3696891"/>
            <a:ext cx="7696200" cy="97155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noProof="0" smtClean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1457970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NZ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4467223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NZ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176398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NZ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485900"/>
            <a:ext cx="3810000" cy="28575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NZ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5900"/>
            <a:ext cx="3810000" cy="28575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753665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NZ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NZ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3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3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30534330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417523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5062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9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NZ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92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NZ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9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3120115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NZ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NZ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7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881738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NZ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55770051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457200"/>
            <a:ext cx="1943100" cy="3886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NZ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457200"/>
            <a:ext cx="5676900" cy="3886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17938584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94059"/>
            <a:ext cx="9144000" cy="29658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Freeform 3"/>
          <p:cNvSpPr>
            <a:spLocks/>
          </p:cNvSpPr>
          <p:nvPr/>
        </p:nvSpPr>
        <p:spPr bwMode="auto">
          <a:xfrm>
            <a:off x="0" y="1464471"/>
            <a:ext cx="6248400" cy="1651397"/>
          </a:xfrm>
          <a:custGeom>
            <a:avLst/>
            <a:gdLst>
              <a:gd name="T0" fmla="*/ 6350 w 3936"/>
              <a:gd name="T1" fmla="*/ 0 h 1387"/>
              <a:gd name="T2" fmla="*/ 0 w 3936"/>
              <a:gd name="T3" fmla="*/ 2189163 h 1387"/>
              <a:gd name="T4" fmla="*/ 6248400 w 3936"/>
              <a:gd name="T5" fmla="*/ 2201863 h 1387"/>
              <a:gd name="T6" fmla="*/ 6216650 w 3936"/>
              <a:gd name="T7" fmla="*/ 1501775 h 1387"/>
              <a:gd name="T8" fmla="*/ 6350 w 3936"/>
              <a:gd name="T9" fmla="*/ 0 h 138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936" h="1387">
                <a:moveTo>
                  <a:pt x="4" y="0"/>
                </a:moveTo>
                <a:cubicBezTo>
                  <a:pt x="4" y="379"/>
                  <a:pt x="0" y="1141"/>
                  <a:pt x="0" y="1379"/>
                </a:cubicBezTo>
                <a:cubicBezTo>
                  <a:pt x="256" y="1379"/>
                  <a:pt x="3160" y="1387"/>
                  <a:pt x="3936" y="1387"/>
                </a:cubicBezTo>
                <a:cubicBezTo>
                  <a:pt x="3936" y="1195"/>
                  <a:pt x="3920" y="1267"/>
                  <a:pt x="3916" y="946"/>
                </a:cubicBezTo>
                <a:cubicBezTo>
                  <a:pt x="2016" y="1339"/>
                  <a:pt x="536" y="931"/>
                  <a:pt x="4" y="0"/>
                </a:cubicBezTo>
                <a:close/>
              </a:path>
            </a:pathLst>
          </a:custGeom>
          <a:solidFill>
            <a:srgbClr val="3D6588">
              <a:alpha val="30196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6" name="Freeform 4"/>
          <p:cNvSpPr>
            <a:spLocks/>
          </p:cNvSpPr>
          <p:nvPr/>
        </p:nvSpPr>
        <p:spPr bwMode="auto">
          <a:xfrm>
            <a:off x="5" y="1900240"/>
            <a:ext cx="9140825" cy="1831181"/>
          </a:xfrm>
          <a:custGeom>
            <a:avLst/>
            <a:gdLst>
              <a:gd name="T0" fmla="*/ 11114 w 5757"/>
              <a:gd name="T1" fmla="*/ 22225 h 1538"/>
              <a:gd name="T2" fmla="*/ 9136062 w 5757"/>
              <a:gd name="T3" fmla="*/ 0 h 1538"/>
              <a:gd name="T4" fmla="*/ 9136062 w 5757"/>
              <a:gd name="T5" fmla="*/ 2441575 h 1538"/>
              <a:gd name="T6" fmla="*/ 0 w 5757"/>
              <a:gd name="T7" fmla="*/ 2430463 h 1538"/>
              <a:gd name="T8" fmla="*/ 11114 w 5757"/>
              <a:gd name="T9" fmla="*/ 22225 h 153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757" h="1538">
                <a:moveTo>
                  <a:pt x="7" y="14"/>
                </a:moveTo>
                <a:cubicBezTo>
                  <a:pt x="1127" y="1485"/>
                  <a:pt x="4439" y="541"/>
                  <a:pt x="5754" y="0"/>
                </a:cubicBezTo>
                <a:cubicBezTo>
                  <a:pt x="5757" y="769"/>
                  <a:pt x="5754" y="1538"/>
                  <a:pt x="5754" y="1538"/>
                </a:cubicBezTo>
                <a:lnTo>
                  <a:pt x="0" y="1531"/>
                </a:lnTo>
                <a:cubicBezTo>
                  <a:pt x="0" y="1531"/>
                  <a:pt x="7" y="14"/>
                  <a:pt x="7" y="1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7" name="Freeform 5"/>
          <p:cNvSpPr>
            <a:spLocks/>
          </p:cNvSpPr>
          <p:nvPr/>
        </p:nvSpPr>
        <p:spPr bwMode="auto">
          <a:xfrm>
            <a:off x="0" y="1991918"/>
            <a:ext cx="9150350" cy="3171825"/>
          </a:xfrm>
          <a:custGeom>
            <a:avLst/>
            <a:gdLst>
              <a:gd name="T0" fmla="*/ 0 w 5764"/>
              <a:gd name="T1" fmla="*/ 4229100 h 2664"/>
              <a:gd name="T2" fmla="*/ 9150350 w 5764"/>
              <a:gd name="T3" fmla="*/ 4229100 h 2664"/>
              <a:gd name="T4" fmla="*/ 9150350 w 5764"/>
              <a:gd name="T5" fmla="*/ 0 h 2664"/>
              <a:gd name="T6" fmla="*/ 3175 w 5764"/>
              <a:gd name="T7" fmla="*/ 390525 h 266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5764" h="2664">
                <a:moveTo>
                  <a:pt x="0" y="2664"/>
                </a:moveTo>
                <a:cubicBezTo>
                  <a:pt x="960" y="2664"/>
                  <a:pt x="5542" y="2664"/>
                  <a:pt x="5764" y="2664"/>
                </a:cubicBezTo>
                <a:cubicBezTo>
                  <a:pt x="5764" y="2556"/>
                  <a:pt x="5764" y="158"/>
                  <a:pt x="5764" y="0"/>
                </a:cubicBezTo>
                <a:cubicBezTo>
                  <a:pt x="4496" y="456"/>
                  <a:pt x="1280" y="1496"/>
                  <a:pt x="2" y="246"/>
                </a:cubicBezTo>
              </a:path>
            </a:pathLst>
          </a:custGeom>
          <a:solidFill>
            <a:srgbClr val="3D658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Z"/>
          </a:p>
        </p:txBody>
      </p:sp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2420542"/>
            <a:ext cx="1398588" cy="66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609604" y="342902"/>
            <a:ext cx="98777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b="1" baseline="30000">
                <a:solidFill>
                  <a:srgbClr val="FFFFFF"/>
                </a:solidFill>
                <a:latin typeface="Myriad" charset="0"/>
              </a:rPr>
              <a:t>ABOUT US</a:t>
            </a:r>
          </a:p>
        </p:txBody>
      </p:sp>
      <p:pic>
        <p:nvPicPr>
          <p:cNvPr id="10" name="Picture 10" descr="H290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"/>
            <a:ext cx="9144000" cy="352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4" name="Rectangle 8"/>
          <p:cNvSpPr>
            <a:spLocks noGrp="1" noChangeArrowheads="1"/>
          </p:cNvSpPr>
          <p:nvPr>
            <p:ph type="ctrTitle"/>
          </p:nvPr>
        </p:nvSpPr>
        <p:spPr>
          <a:xfrm>
            <a:off x="660400" y="3353991"/>
            <a:ext cx="7772400" cy="381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smtClean="0"/>
              <a:t>Click to edit Master title style</a:t>
            </a:r>
          </a:p>
        </p:txBody>
      </p:sp>
      <p:sp>
        <p:nvSpPr>
          <p:cNvPr id="29705" name="Rectangle 9"/>
          <p:cNvSpPr>
            <a:spLocks noGrp="1" noChangeArrowheads="1"/>
          </p:cNvSpPr>
          <p:nvPr>
            <p:ph type="subTitle" idx="1"/>
          </p:nvPr>
        </p:nvSpPr>
        <p:spPr>
          <a:xfrm>
            <a:off x="660400" y="3696891"/>
            <a:ext cx="7696200" cy="97155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noProof="0" smtClean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14579706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NZ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44672230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NZ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1763980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NZ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485900"/>
            <a:ext cx="3810000" cy="28575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NZ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5900"/>
            <a:ext cx="3810000" cy="28575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7536659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NZ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NZ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0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0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30534330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4175234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50624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5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NZ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90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NZ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5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3120115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NZ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NZ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881738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NZ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55770051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457200"/>
            <a:ext cx="1943100" cy="3886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NZ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457200"/>
            <a:ext cx="5676900" cy="3886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17938584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9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50350" cy="352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Freeform 3"/>
          <p:cNvSpPr>
            <a:spLocks/>
          </p:cNvSpPr>
          <p:nvPr/>
        </p:nvSpPr>
        <p:spPr bwMode="auto">
          <a:xfrm>
            <a:off x="0" y="1444229"/>
            <a:ext cx="6248400" cy="1651397"/>
          </a:xfrm>
          <a:custGeom>
            <a:avLst/>
            <a:gdLst>
              <a:gd name="T0" fmla="*/ 10080625 w 3936"/>
              <a:gd name="T1" fmla="*/ 0 h 1387"/>
              <a:gd name="T2" fmla="*/ 0 w 3936"/>
              <a:gd name="T3" fmla="*/ 2147483647 h 1387"/>
              <a:gd name="T4" fmla="*/ 2147483647 w 3936"/>
              <a:gd name="T5" fmla="*/ 2147483647 h 1387"/>
              <a:gd name="T6" fmla="*/ 2147483647 w 3936"/>
              <a:gd name="T7" fmla="*/ 2147483647 h 1387"/>
              <a:gd name="T8" fmla="*/ 10080625 w 3936"/>
              <a:gd name="T9" fmla="*/ 0 h 138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936" h="1387">
                <a:moveTo>
                  <a:pt x="4" y="0"/>
                </a:moveTo>
                <a:cubicBezTo>
                  <a:pt x="4" y="379"/>
                  <a:pt x="0" y="1141"/>
                  <a:pt x="0" y="1379"/>
                </a:cubicBezTo>
                <a:cubicBezTo>
                  <a:pt x="256" y="1379"/>
                  <a:pt x="3160" y="1387"/>
                  <a:pt x="3936" y="1387"/>
                </a:cubicBezTo>
                <a:cubicBezTo>
                  <a:pt x="3936" y="1195"/>
                  <a:pt x="3920" y="1267"/>
                  <a:pt x="3916" y="946"/>
                </a:cubicBezTo>
                <a:cubicBezTo>
                  <a:pt x="2016" y="1339"/>
                  <a:pt x="536" y="931"/>
                  <a:pt x="4" y="0"/>
                </a:cubicBezTo>
                <a:close/>
              </a:path>
            </a:pathLst>
          </a:custGeom>
          <a:solidFill>
            <a:srgbClr val="3D6588">
              <a:alpha val="30196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6" name="Freeform 4"/>
          <p:cNvSpPr>
            <a:spLocks/>
          </p:cNvSpPr>
          <p:nvPr/>
        </p:nvSpPr>
        <p:spPr bwMode="auto">
          <a:xfrm>
            <a:off x="3" y="1879999"/>
            <a:ext cx="9140825" cy="1831181"/>
          </a:xfrm>
          <a:custGeom>
            <a:avLst/>
            <a:gdLst>
              <a:gd name="T0" fmla="*/ 17646540 w 5757"/>
              <a:gd name="T1" fmla="*/ 35282188 h 1538"/>
              <a:gd name="T2" fmla="*/ 2147483647 w 5757"/>
              <a:gd name="T3" fmla="*/ 0 h 1538"/>
              <a:gd name="T4" fmla="*/ 2147483647 w 5757"/>
              <a:gd name="T5" fmla="*/ 2147483647 h 1538"/>
              <a:gd name="T6" fmla="*/ 0 w 5757"/>
              <a:gd name="T7" fmla="*/ 2147483647 h 1538"/>
              <a:gd name="T8" fmla="*/ 17646540 w 5757"/>
              <a:gd name="T9" fmla="*/ 35282188 h 153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757" h="1538">
                <a:moveTo>
                  <a:pt x="7" y="14"/>
                </a:moveTo>
                <a:cubicBezTo>
                  <a:pt x="1127" y="1485"/>
                  <a:pt x="4439" y="541"/>
                  <a:pt x="5754" y="0"/>
                </a:cubicBezTo>
                <a:cubicBezTo>
                  <a:pt x="5757" y="769"/>
                  <a:pt x="5754" y="1538"/>
                  <a:pt x="5754" y="1538"/>
                </a:cubicBezTo>
                <a:lnTo>
                  <a:pt x="0" y="1531"/>
                </a:lnTo>
                <a:cubicBezTo>
                  <a:pt x="0" y="1531"/>
                  <a:pt x="7" y="14"/>
                  <a:pt x="7" y="1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7" name="Freeform 5"/>
          <p:cNvSpPr>
            <a:spLocks/>
          </p:cNvSpPr>
          <p:nvPr/>
        </p:nvSpPr>
        <p:spPr bwMode="auto">
          <a:xfrm>
            <a:off x="0" y="1971676"/>
            <a:ext cx="9150350" cy="3171825"/>
          </a:xfrm>
          <a:custGeom>
            <a:avLst/>
            <a:gdLst>
              <a:gd name="T0" fmla="*/ 0 w 5764"/>
              <a:gd name="T1" fmla="*/ 2147483647 h 2664"/>
              <a:gd name="T2" fmla="*/ 2147483647 w 5764"/>
              <a:gd name="T3" fmla="*/ 2147483647 h 2664"/>
              <a:gd name="T4" fmla="*/ 2147483647 w 5764"/>
              <a:gd name="T5" fmla="*/ 0 h 2664"/>
              <a:gd name="T6" fmla="*/ 5040313 w 5764"/>
              <a:gd name="T7" fmla="*/ 619958438 h 266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5764" h="2664">
                <a:moveTo>
                  <a:pt x="0" y="2664"/>
                </a:moveTo>
                <a:cubicBezTo>
                  <a:pt x="960" y="2664"/>
                  <a:pt x="5542" y="2664"/>
                  <a:pt x="5764" y="2664"/>
                </a:cubicBezTo>
                <a:cubicBezTo>
                  <a:pt x="5764" y="2556"/>
                  <a:pt x="5764" y="158"/>
                  <a:pt x="5764" y="0"/>
                </a:cubicBezTo>
                <a:cubicBezTo>
                  <a:pt x="4496" y="456"/>
                  <a:pt x="1280" y="1496"/>
                  <a:pt x="2" y="246"/>
                </a:cubicBezTo>
              </a:path>
            </a:pathLst>
          </a:custGeom>
          <a:solidFill>
            <a:srgbClr val="3D658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Z"/>
          </a:p>
        </p:txBody>
      </p:sp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2400301"/>
            <a:ext cx="1398588" cy="66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609602" y="322661"/>
            <a:ext cx="98777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b="1" baseline="30000">
                <a:solidFill>
                  <a:srgbClr val="FFFFFF"/>
                </a:solidFill>
                <a:latin typeface="Myriad" charset="0"/>
              </a:rPr>
              <a:t>ABOUT US</a:t>
            </a:r>
          </a:p>
        </p:txBody>
      </p:sp>
      <p:sp>
        <p:nvSpPr>
          <p:cNvPr id="6159" name="Rectangle 15"/>
          <p:cNvSpPr>
            <a:spLocks noGrp="1" noChangeArrowheads="1"/>
          </p:cNvSpPr>
          <p:nvPr>
            <p:ph type="ctrTitle"/>
          </p:nvPr>
        </p:nvSpPr>
        <p:spPr>
          <a:xfrm>
            <a:off x="660400" y="3333750"/>
            <a:ext cx="7772400" cy="381000"/>
          </a:xfrm>
        </p:spPr>
        <p:txBody>
          <a:bodyPr/>
          <a:lstStyle>
            <a:lvl1pPr>
              <a:defRPr sz="3200"/>
            </a:lvl1pPr>
          </a:lstStyle>
          <a:p>
            <a:pPr lvl="0"/>
            <a:r>
              <a:rPr lang="en-US" noProof="0" smtClean="0"/>
              <a:t>Click to edit Master title style</a:t>
            </a:r>
          </a:p>
        </p:txBody>
      </p:sp>
      <p:sp>
        <p:nvSpPr>
          <p:cNvPr id="6160" name="Rectangle 16"/>
          <p:cNvSpPr>
            <a:spLocks noGrp="1" noChangeArrowheads="1"/>
          </p:cNvSpPr>
          <p:nvPr>
            <p:ph type="subTitle" idx="1"/>
          </p:nvPr>
        </p:nvSpPr>
        <p:spPr>
          <a:xfrm>
            <a:off x="660400" y="3676650"/>
            <a:ext cx="7696200" cy="971550"/>
          </a:xfrm>
        </p:spPr>
        <p:txBody>
          <a:bodyPr/>
          <a:lstStyle>
            <a:lvl1pPr marL="0" indent="0">
              <a:buFontTx/>
              <a:buNone/>
              <a:defRPr sz="3200"/>
            </a:lvl1pPr>
          </a:lstStyle>
          <a:p>
            <a:pPr lvl="0"/>
            <a:r>
              <a:rPr lang="en-US" noProof="0" smtClean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17601964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NZ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93734109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NZ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1126349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NZ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385887"/>
            <a:ext cx="3810000" cy="2514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NZ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85887"/>
            <a:ext cx="3810000" cy="2514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98174200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NZ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NZ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06770792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53414974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634403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NZ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NZ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6226185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NZ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NZ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6497542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NZ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49049825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357188"/>
            <a:ext cx="1943100" cy="35433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NZ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357188"/>
            <a:ext cx="5676900" cy="35433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75807247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7188"/>
            <a:ext cx="7772400" cy="914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NZ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385887"/>
            <a:ext cx="3810000" cy="2514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NZ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85887"/>
            <a:ext cx="3810000" cy="2514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30652868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7188"/>
            <a:ext cx="7772400" cy="914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NZ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385887"/>
            <a:ext cx="3810000" cy="2514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NZ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8200" y="1385887"/>
            <a:ext cx="3810000" cy="2514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5730898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94059"/>
            <a:ext cx="9144000" cy="29658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Freeform 3"/>
          <p:cNvSpPr>
            <a:spLocks/>
          </p:cNvSpPr>
          <p:nvPr/>
        </p:nvSpPr>
        <p:spPr bwMode="auto">
          <a:xfrm>
            <a:off x="0" y="1464472"/>
            <a:ext cx="6248400" cy="1651397"/>
          </a:xfrm>
          <a:custGeom>
            <a:avLst/>
            <a:gdLst>
              <a:gd name="T0" fmla="*/ 10080625 w 3936"/>
              <a:gd name="T1" fmla="*/ 0 h 1387"/>
              <a:gd name="T2" fmla="*/ 0 w 3936"/>
              <a:gd name="T3" fmla="*/ 2147483647 h 1387"/>
              <a:gd name="T4" fmla="*/ 2147483647 w 3936"/>
              <a:gd name="T5" fmla="*/ 2147483647 h 1387"/>
              <a:gd name="T6" fmla="*/ 2147483647 w 3936"/>
              <a:gd name="T7" fmla="*/ 2147483647 h 1387"/>
              <a:gd name="T8" fmla="*/ 10080625 w 3936"/>
              <a:gd name="T9" fmla="*/ 0 h 138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936" h="1387">
                <a:moveTo>
                  <a:pt x="4" y="0"/>
                </a:moveTo>
                <a:cubicBezTo>
                  <a:pt x="4" y="379"/>
                  <a:pt x="0" y="1141"/>
                  <a:pt x="0" y="1379"/>
                </a:cubicBezTo>
                <a:cubicBezTo>
                  <a:pt x="256" y="1379"/>
                  <a:pt x="3160" y="1387"/>
                  <a:pt x="3936" y="1387"/>
                </a:cubicBezTo>
                <a:cubicBezTo>
                  <a:pt x="3936" y="1195"/>
                  <a:pt x="3920" y="1267"/>
                  <a:pt x="3916" y="946"/>
                </a:cubicBezTo>
                <a:cubicBezTo>
                  <a:pt x="2016" y="1339"/>
                  <a:pt x="536" y="931"/>
                  <a:pt x="4" y="0"/>
                </a:cubicBezTo>
                <a:close/>
              </a:path>
            </a:pathLst>
          </a:custGeom>
          <a:solidFill>
            <a:srgbClr val="3D6588">
              <a:alpha val="30196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6" name="Freeform 4"/>
          <p:cNvSpPr>
            <a:spLocks/>
          </p:cNvSpPr>
          <p:nvPr/>
        </p:nvSpPr>
        <p:spPr bwMode="auto">
          <a:xfrm>
            <a:off x="7" y="1900241"/>
            <a:ext cx="9140825" cy="1831181"/>
          </a:xfrm>
          <a:custGeom>
            <a:avLst/>
            <a:gdLst>
              <a:gd name="T0" fmla="*/ 17646540 w 5757"/>
              <a:gd name="T1" fmla="*/ 35282188 h 1538"/>
              <a:gd name="T2" fmla="*/ 2147483647 w 5757"/>
              <a:gd name="T3" fmla="*/ 0 h 1538"/>
              <a:gd name="T4" fmla="*/ 2147483647 w 5757"/>
              <a:gd name="T5" fmla="*/ 2147483647 h 1538"/>
              <a:gd name="T6" fmla="*/ 0 w 5757"/>
              <a:gd name="T7" fmla="*/ 2147483647 h 1538"/>
              <a:gd name="T8" fmla="*/ 17646540 w 5757"/>
              <a:gd name="T9" fmla="*/ 35282188 h 153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757" h="1538">
                <a:moveTo>
                  <a:pt x="7" y="14"/>
                </a:moveTo>
                <a:cubicBezTo>
                  <a:pt x="1127" y="1485"/>
                  <a:pt x="4439" y="541"/>
                  <a:pt x="5754" y="0"/>
                </a:cubicBezTo>
                <a:cubicBezTo>
                  <a:pt x="5757" y="769"/>
                  <a:pt x="5754" y="1538"/>
                  <a:pt x="5754" y="1538"/>
                </a:cubicBezTo>
                <a:lnTo>
                  <a:pt x="0" y="1531"/>
                </a:lnTo>
                <a:cubicBezTo>
                  <a:pt x="0" y="1531"/>
                  <a:pt x="7" y="14"/>
                  <a:pt x="7" y="1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7" name="Freeform 5"/>
          <p:cNvSpPr>
            <a:spLocks/>
          </p:cNvSpPr>
          <p:nvPr/>
        </p:nvSpPr>
        <p:spPr bwMode="auto">
          <a:xfrm>
            <a:off x="0" y="1991918"/>
            <a:ext cx="9150350" cy="3171825"/>
          </a:xfrm>
          <a:custGeom>
            <a:avLst/>
            <a:gdLst>
              <a:gd name="T0" fmla="*/ 0 w 5764"/>
              <a:gd name="T1" fmla="*/ 2147483647 h 2664"/>
              <a:gd name="T2" fmla="*/ 2147483647 w 5764"/>
              <a:gd name="T3" fmla="*/ 2147483647 h 2664"/>
              <a:gd name="T4" fmla="*/ 2147483647 w 5764"/>
              <a:gd name="T5" fmla="*/ 0 h 2664"/>
              <a:gd name="T6" fmla="*/ 5040313 w 5764"/>
              <a:gd name="T7" fmla="*/ 619958438 h 2664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5764" h="2664">
                <a:moveTo>
                  <a:pt x="0" y="2664"/>
                </a:moveTo>
                <a:cubicBezTo>
                  <a:pt x="960" y="2664"/>
                  <a:pt x="5542" y="2664"/>
                  <a:pt x="5764" y="2664"/>
                </a:cubicBezTo>
                <a:cubicBezTo>
                  <a:pt x="5764" y="2556"/>
                  <a:pt x="5764" y="158"/>
                  <a:pt x="5764" y="0"/>
                </a:cubicBezTo>
                <a:cubicBezTo>
                  <a:pt x="4496" y="456"/>
                  <a:pt x="1280" y="1496"/>
                  <a:pt x="2" y="246"/>
                </a:cubicBezTo>
              </a:path>
            </a:pathLst>
          </a:custGeom>
          <a:solidFill>
            <a:srgbClr val="3D658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Z"/>
          </a:p>
        </p:txBody>
      </p:sp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2420542"/>
            <a:ext cx="1398588" cy="66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609606" y="342903"/>
            <a:ext cx="987771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1800" b="1" baseline="30000">
                <a:solidFill>
                  <a:srgbClr val="FFFFFF"/>
                </a:solidFill>
                <a:latin typeface="Myriad" charset="0"/>
              </a:rPr>
              <a:t>ABOUT US</a:t>
            </a:r>
          </a:p>
        </p:txBody>
      </p:sp>
      <p:pic>
        <p:nvPicPr>
          <p:cNvPr id="10" name="Picture 10" descr="H290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"/>
            <a:ext cx="9144000" cy="352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4" name="Rectangle 8"/>
          <p:cNvSpPr>
            <a:spLocks noGrp="1" noChangeArrowheads="1"/>
          </p:cNvSpPr>
          <p:nvPr>
            <p:ph type="ctrTitle"/>
          </p:nvPr>
        </p:nvSpPr>
        <p:spPr>
          <a:xfrm>
            <a:off x="660400" y="3353991"/>
            <a:ext cx="7772400" cy="381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smtClean="0"/>
              <a:t>Click to edit Master title style</a:t>
            </a:r>
          </a:p>
        </p:txBody>
      </p:sp>
      <p:sp>
        <p:nvSpPr>
          <p:cNvPr id="29705" name="Rectangle 9"/>
          <p:cNvSpPr>
            <a:spLocks noGrp="1" noChangeArrowheads="1"/>
          </p:cNvSpPr>
          <p:nvPr>
            <p:ph type="subTitle" idx="1"/>
          </p:nvPr>
        </p:nvSpPr>
        <p:spPr>
          <a:xfrm>
            <a:off x="660400" y="3696891"/>
            <a:ext cx="7696200" cy="97155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noProof="0" smtClean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18910934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NZ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18122816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NZ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625412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NZ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485900"/>
            <a:ext cx="3810000" cy="28575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NZ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5900"/>
            <a:ext cx="3810000" cy="28575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56876279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NZ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NZ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2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2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85545899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31986613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813382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NZ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9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NZ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7850528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NZ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NZ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6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3537340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NZ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76806043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457200"/>
            <a:ext cx="1943100" cy="3886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NZ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457200"/>
            <a:ext cx="5676900" cy="3886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94644959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23"/>
            <a:ext cx="7772400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NZ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NZ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3EFC6-4C47-405D-A839-CD3DAFF229BB}" type="datetimeFigureOut">
              <a:rPr lang="en-NZ" smtClean="0"/>
              <a:t>18/09/2018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5A64E-9A65-4EA4-BB7E-04E8DB00DB9F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69083789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NZ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NZ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3EFC6-4C47-405D-A839-CD3DAFF229BB}" type="datetimeFigureOut">
              <a:rPr lang="en-NZ" smtClean="0"/>
              <a:t>18/09/2018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5A64E-9A65-4EA4-BB7E-04E8DB00DB9F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98666666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NZ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3EFC6-4C47-405D-A839-CD3DAFF229BB}" type="datetimeFigureOut">
              <a:rPr lang="en-NZ" smtClean="0"/>
              <a:t>18/09/2018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5A64E-9A65-4EA4-BB7E-04E8DB00DB9F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661020670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NZ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5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NZ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5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NZ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3EFC6-4C47-405D-A839-CD3DAFF229BB}" type="datetimeFigureOut">
              <a:rPr lang="en-NZ" smtClean="0"/>
              <a:t>18/09/2018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5A64E-9A65-4EA4-BB7E-04E8DB00DB9F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66979885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NZ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NZ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3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3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NZ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3EFC6-4C47-405D-A839-CD3DAFF229BB}" type="datetimeFigureOut">
              <a:rPr lang="en-NZ" smtClean="0"/>
              <a:t>18/09/2018</a:t>
            </a:fld>
            <a:endParaRPr lang="en-N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5A64E-9A65-4EA4-BB7E-04E8DB00DB9F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99981606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NZ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3EFC6-4C47-405D-A839-CD3DAFF229BB}" type="datetimeFigureOut">
              <a:rPr lang="en-NZ" smtClean="0"/>
              <a:t>18/09/2018</a:t>
            </a:fld>
            <a:endParaRPr lang="en-N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5A64E-9A65-4EA4-BB7E-04E8DB00DB9F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24624347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3EFC6-4C47-405D-A839-CD3DAFF229BB}" type="datetimeFigureOut">
              <a:rPr lang="en-NZ" smtClean="0"/>
              <a:t>18/09/2018</a:t>
            </a:fld>
            <a:endParaRPr lang="en-N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5A64E-9A65-4EA4-BB7E-04E8DB00DB9F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973784323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9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NZ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92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NZ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9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3EFC6-4C47-405D-A839-CD3DAFF229BB}" type="datetimeFigureOut">
              <a:rPr lang="en-NZ" smtClean="0"/>
              <a:t>18/09/2018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5A64E-9A65-4EA4-BB7E-04E8DB00DB9F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12836324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NZ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Z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7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3EFC6-4C47-405D-A839-CD3DAFF229BB}" type="datetimeFigureOut">
              <a:rPr lang="en-NZ" smtClean="0"/>
              <a:t>18/09/2018</a:t>
            </a:fld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5A64E-9A65-4EA4-BB7E-04E8DB00DB9F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33696512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NZ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NZ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3EFC6-4C47-405D-A839-CD3DAFF229BB}" type="datetimeFigureOut">
              <a:rPr lang="en-NZ" smtClean="0"/>
              <a:t>18/09/2018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5A64E-9A65-4EA4-BB7E-04E8DB00DB9F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160410098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3"/>
            <a:ext cx="2057400" cy="32908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NZ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3"/>
            <a:ext cx="6019800" cy="32908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NZ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3EFC6-4C47-405D-A839-CD3DAFF229BB}" type="datetimeFigureOut">
              <a:rPr lang="en-NZ" smtClean="0"/>
              <a:t>18/09/2018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15A64E-9A65-4EA4-BB7E-04E8DB00DB9F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460660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48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7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Relationship Id="rId1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4"/>
          <p:cNvSpPr>
            <a:spLocks noChangeArrowheads="1"/>
          </p:cNvSpPr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3D658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1027" name="Freeform 15"/>
          <p:cNvSpPr>
            <a:spLocks/>
          </p:cNvSpPr>
          <p:nvPr/>
        </p:nvSpPr>
        <p:spPr bwMode="auto">
          <a:xfrm>
            <a:off x="-6350" y="3405189"/>
            <a:ext cx="6254750" cy="1662113"/>
          </a:xfrm>
          <a:custGeom>
            <a:avLst/>
            <a:gdLst>
              <a:gd name="T0" fmla="*/ 0 w 3940"/>
              <a:gd name="T1" fmla="*/ 0 h 1396"/>
              <a:gd name="T2" fmla="*/ 6350 w 3940"/>
              <a:gd name="T3" fmla="*/ 2203450 h 1396"/>
              <a:gd name="T4" fmla="*/ 6254750 w 3940"/>
              <a:gd name="T5" fmla="*/ 2216150 h 1396"/>
              <a:gd name="T6" fmla="*/ 6223000 w 3940"/>
              <a:gd name="T7" fmla="*/ 1516063 h 1396"/>
              <a:gd name="T8" fmla="*/ 0 w 3940"/>
              <a:gd name="T9" fmla="*/ 0 h 139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940" h="1396">
                <a:moveTo>
                  <a:pt x="0" y="0"/>
                </a:moveTo>
                <a:cubicBezTo>
                  <a:pt x="0" y="379"/>
                  <a:pt x="4" y="1150"/>
                  <a:pt x="4" y="1388"/>
                </a:cubicBezTo>
                <a:cubicBezTo>
                  <a:pt x="260" y="1388"/>
                  <a:pt x="3164" y="1396"/>
                  <a:pt x="3940" y="1396"/>
                </a:cubicBezTo>
                <a:cubicBezTo>
                  <a:pt x="3940" y="1204"/>
                  <a:pt x="3924" y="1276"/>
                  <a:pt x="3920" y="955"/>
                </a:cubicBezTo>
                <a:cubicBezTo>
                  <a:pt x="2020" y="1348"/>
                  <a:pt x="532" y="931"/>
                  <a:pt x="0" y="0"/>
                </a:cubicBezTo>
                <a:close/>
              </a:path>
            </a:pathLst>
          </a:custGeom>
          <a:solidFill>
            <a:schemeClr val="bg1">
              <a:alpha val="30196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1028" name="Freeform 16"/>
          <p:cNvSpPr>
            <a:spLocks/>
          </p:cNvSpPr>
          <p:nvPr/>
        </p:nvSpPr>
        <p:spPr bwMode="auto">
          <a:xfrm>
            <a:off x="-3175" y="3852865"/>
            <a:ext cx="9147175" cy="1765697"/>
          </a:xfrm>
          <a:custGeom>
            <a:avLst/>
            <a:gdLst>
              <a:gd name="T0" fmla="*/ 3175 w 5762"/>
              <a:gd name="T1" fmla="*/ 19050 h 1483"/>
              <a:gd name="T2" fmla="*/ 9144000 w 5762"/>
              <a:gd name="T3" fmla="*/ 0 h 1483"/>
              <a:gd name="T4" fmla="*/ 9147175 w 5762"/>
              <a:gd name="T5" fmla="*/ 1720850 h 1483"/>
              <a:gd name="T6" fmla="*/ 4763 w 5762"/>
              <a:gd name="T7" fmla="*/ 1708150 h 1483"/>
              <a:gd name="T8" fmla="*/ 3175 w 5762"/>
              <a:gd name="T9" fmla="*/ 19050 h 148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762" h="1483">
                <a:moveTo>
                  <a:pt x="2" y="12"/>
                </a:moveTo>
                <a:cubicBezTo>
                  <a:pt x="1122" y="1483"/>
                  <a:pt x="4445" y="541"/>
                  <a:pt x="5760" y="0"/>
                </a:cubicBezTo>
                <a:cubicBezTo>
                  <a:pt x="5760" y="144"/>
                  <a:pt x="5761" y="732"/>
                  <a:pt x="5762" y="1084"/>
                </a:cubicBezTo>
                <a:cubicBezTo>
                  <a:pt x="5762" y="1084"/>
                  <a:pt x="2871" y="1076"/>
                  <a:pt x="3" y="1076"/>
                </a:cubicBezTo>
                <a:cubicBezTo>
                  <a:pt x="2" y="796"/>
                  <a:pt x="0" y="233"/>
                  <a:pt x="2" y="1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1029" name="Freeform 17"/>
          <p:cNvSpPr>
            <a:spLocks/>
          </p:cNvSpPr>
          <p:nvPr/>
        </p:nvSpPr>
        <p:spPr bwMode="auto">
          <a:xfrm>
            <a:off x="-3175" y="3938590"/>
            <a:ext cx="9147175" cy="1769269"/>
          </a:xfrm>
          <a:custGeom>
            <a:avLst/>
            <a:gdLst>
              <a:gd name="T0" fmla="*/ 3175 w 5762"/>
              <a:gd name="T1" fmla="*/ 1606550 h 1486"/>
              <a:gd name="T2" fmla="*/ 9147175 w 5762"/>
              <a:gd name="T3" fmla="*/ 1606550 h 1486"/>
              <a:gd name="T4" fmla="*/ 9147175 w 5762"/>
              <a:gd name="T5" fmla="*/ 0 h 1486"/>
              <a:gd name="T6" fmla="*/ 0 w 5762"/>
              <a:gd name="T7" fmla="*/ 374650 h 1486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5762" h="1486">
                <a:moveTo>
                  <a:pt x="2" y="1012"/>
                </a:moveTo>
                <a:cubicBezTo>
                  <a:pt x="957" y="1012"/>
                  <a:pt x="5541" y="1012"/>
                  <a:pt x="5762" y="1012"/>
                </a:cubicBezTo>
                <a:cubicBezTo>
                  <a:pt x="5762" y="904"/>
                  <a:pt x="5762" y="158"/>
                  <a:pt x="5762" y="0"/>
                </a:cubicBezTo>
                <a:cubicBezTo>
                  <a:pt x="4501" y="456"/>
                  <a:pt x="1271" y="1486"/>
                  <a:pt x="0" y="236"/>
                </a:cubicBezTo>
              </a:path>
            </a:pathLst>
          </a:custGeom>
          <a:solidFill>
            <a:srgbClr val="3D658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Z"/>
          </a:p>
        </p:txBody>
      </p:sp>
      <p:pic>
        <p:nvPicPr>
          <p:cNvPr id="1030" name="Picture 18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4343401"/>
            <a:ext cx="1398588" cy="66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1" name="Rectangle 24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57188"/>
            <a:ext cx="77724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32" name="Rectangle 2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385887"/>
            <a:ext cx="7772400" cy="251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FF6600"/>
        </a:buClr>
        <a:buSzPct val="140000"/>
        <a:buChar char="•"/>
        <a:defRPr sz="20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bg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120000"/>
        <a:buChar char="•"/>
        <a:defRPr sz="2000">
          <a:solidFill>
            <a:schemeClr val="bg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bg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3D658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AU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4343401"/>
            <a:ext cx="1398588" cy="66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2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457200"/>
            <a:ext cx="77724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485900"/>
            <a:ext cx="7772400" cy="285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bg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bg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bg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3D658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AU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4343401"/>
            <a:ext cx="1398588" cy="66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2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457200"/>
            <a:ext cx="77724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485900"/>
            <a:ext cx="7772400" cy="285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bg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bg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bg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4"/>
          <p:cNvSpPr>
            <a:spLocks noChangeArrowheads="1"/>
          </p:cNvSpPr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3D658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1027" name="Freeform 15"/>
          <p:cNvSpPr>
            <a:spLocks/>
          </p:cNvSpPr>
          <p:nvPr/>
        </p:nvSpPr>
        <p:spPr bwMode="auto">
          <a:xfrm>
            <a:off x="-6350" y="3405188"/>
            <a:ext cx="6254750" cy="1662113"/>
          </a:xfrm>
          <a:custGeom>
            <a:avLst/>
            <a:gdLst>
              <a:gd name="T0" fmla="*/ 0 w 3940"/>
              <a:gd name="T1" fmla="*/ 0 h 1396"/>
              <a:gd name="T2" fmla="*/ 10080625 w 3940"/>
              <a:gd name="T3" fmla="*/ 2147483647 h 1396"/>
              <a:gd name="T4" fmla="*/ 2147483647 w 3940"/>
              <a:gd name="T5" fmla="*/ 2147483647 h 1396"/>
              <a:gd name="T6" fmla="*/ 2147483647 w 3940"/>
              <a:gd name="T7" fmla="*/ 2147483647 h 1396"/>
              <a:gd name="T8" fmla="*/ 0 w 3940"/>
              <a:gd name="T9" fmla="*/ 0 h 139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940" h="1396">
                <a:moveTo>
                  <a:pt x="0" y="0"/>
                </a:moveTo>
                <a:cubicBezTo>
                  <a:pt x="0" y="379"/>
                  <a:pt x="4" y="1150"/>
                  <a:pt x="4" y="1388"/>
                </a:cubicBezTo>
                <a:cubicBezTo>
                  <a:pt x="260" y="1388"/>
                  <a:pt x="3164" y="1396"/>
                  <a:pt x="3940" y="1396"/>
                </a:cubicBezTo>
                <a:cubicBezTo>
                  <a:pt x="3940" y="1204"/>
                  <a:pt x="3924" y="1276"/>
                  <a:pt x="3920" y="955"/>
                </a:cubicBezTo>
                <a:cubicBezTo>
                  <a:pt x="2020" y="1348"/>
                  <a:pt x="532" y="931"/>
                  <a:pt x="0" y="0"/>
                </a:cubicBezTo>
                <a:close/>
              </a:path>
            </a:pathLst>
          </a:custGeom>
          <a:solidFill>
            <a:schemeClr val="bg1">
              <a:alpha val="30196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1028" name="Freeform 16"/>
          <p:cNvSpPr>
            <a:spLocks/>
          </p:cNvSpPr>
          <p:nvPr/>
        </p:nvSpPr>
        <p:spPr bwMode="auto">
          <a:xfrm>
            <a:off x="-3175" y="3852864"/>
            <a:ext cx="9147175" cy="1765697"/>
          </a:xfrm>
          <a:custGeom>
            <a:avLst/>
            <a:gdLst>
              <a:gd name="T0" fmla="*/ 5040313 w 5762"/>
              <a:gd name="T1" fmla="*/ 30241881 h 1483"/>
              <a:gd name="T2" fmla="*/ 2147483647 w 5762"/>
              <a:gd name="T3" fmla="*/ 0 h 1483"/>
              <a:gd name="T4" fmla="*/ 2147483647 w 5762"/>
              <a:gd name="T5" fmla="*/ 2147483647 h 1483"/>
              <a:gd name="T6" fmla="*/ 7561263 w 5762"/>
              <a:gd name="T7" fmla="*/ 2147483647 h 1483"/>
              <a:gd name="T8" fmla="*/ 5040313 w 5762"/>
              <a:gd name="T9" fmla="*/ 30241881 h 148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762" h="1483">
                <a:moveTo>
                  <a:pt x="2" y="12"/>
                </a:moveTo>
                <a:cubicBezTo>
                  <a:pt x="1122" y="1483"/>
                  <a:pt x="4445" y="541"/>
                  <a:pt x="5760" y="0"/>
                </a:cubicBezTo>
                <a:cubicBezTo>
                  <a:pt x="5760" y="144"/>
                  <a:pt x="5761" y="732"/>
                  <a:pt x="5762" y="1084"/>
                </a:cubicBezTo>
                <a:cubicBezTo>
                  <a:pt x="5762" y="1084"/>
                  <a:pt x="2871" y="1076"/>
                  <a:pt x="3" y="1076"/>
                </a:cubicBezTo>
                <a:cubicBezTo>
                  <a:pt x="2" y="796"/>
                  <a:pt x="0" y="233"/>
                  <a:pt x="2" y="1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Z"/>
          </a:p>
        </p:txBody>
      </p:sp>
      <p:sp>
        <p:nvSpPr>
          <p:cNvPr id="1029" name="Freeform 17"/>
          <p:cNvSpPr>
            <a:spLocks/>
          </p:cNvSpPr>
          <p:nvPr/>
        </p:nvSpPr>
        <p:spPr bwMode="auto">
          <a:xfrm>
            <a:off x="-3175" y="3938589"/>
            <a:ext cx="9147175" cy="1769269"/>
          </a:xfrm>
          <a:custGeom>
            <a:avLst/>
            <a:gdLst>
              <a:gd name="T0" fmla="*/ 5040313 w 5762"/>
              <a:gd name="T1" fmla="*/ 2147483647 h 1486"/>
              <a:gd name="T2" fmla="*/ 2147483647 w 5762"/>
              <a:gd name="T3" fmla="*/ 2147483647 h 1486"/>
              <a:gd name="T4" fmla="*/ 2147483647 w 5762"/>
              <a:gd name="T5" fmla="*/ 0 h 1486"/>
              <a:gd name="T6" fmla="*/ 0 w 5762"/>
              <a:gd name="T7" fmla="*/ 594756875 h 1486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5762" h="1486">
                <a:moveTo>
                  <a:pt x="2" y="1012"/>
                </a:moveTo>
                <a:cubicBezTo>
                  <a:pt x="957" y="1012"/>
                  <a:pt x="5541" y="1012"/>
                  <a:pt x="5762" y="1012"/>
                </a:cubicBezTo>
                <a:cubicBezTo>
                  <a:pt x="5762" y="904"/>
                  <a:pt x="5762" y="158"/>
                  <a:pt x="5762" y="0"/>
                </a:cubicBezTo>
                <a:cubicBezTo>
                  <a:pt x="4501" y="456"/>
                  <a:pt x="1271" y="1486"/>
                  <a:pt x="0" y="236"/>
                </a:cubicBezTo>
              </a:path>
            </a:pathLst>
          </a:custGeom>
          <a:solidFill>
            <a:srgbClr val="3D658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NZ"/>
          </a:p>
        </p:txBody>
      </p:sp>
      <p:pic>
        <p:nvPicPr>
          <p:cNvPr id="1030" name="Picture 18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4343401"/>
            <a:ext cx="1398588" cy="66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1" name="Rectangle 24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57188"/>
            <a:ext cx="77724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32" name="Rectangle 2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385887"/>
            <a:ext cx="7772400" cy="251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FF6600"/>
        </a:buClr>
        <a:buSzPct val="140000"/>
        <a:buChar char="•"/>
        <a:defRPr sz="20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bg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folHlink"/>
        </a:buClr>
        <a:buSzPct val="120000"/>
        <a:buChar char="•"/>
        <a:defRPr sz="2000">
          <a:solidFill>
            <a:schemeClr val="bg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bg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3D658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AU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4343401"/>
            <a:ext cx="1398588" cy="66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2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457200"/>
            <a:ext cx="77724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485900"/>
            <a:ext cx="7772400" cy="285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bg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bg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bg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NZ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NZ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C3EFC6-4C47-405D-A839-CD3DAFF229BB}" type="datetimeFigureOut">
              <a:rPr lang="en-NZ" smtClean="0"/>
              <a:t>18/09/2018</a:t>
            </a:fld>
            <a:endParaRPr lang="en-N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15A64E-9A65-4EA4-BB7E-04E8DB00DB9F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43313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1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1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1.xml"/><Relationship Id="rId6" Type="http://schemas.openxmlformats.org/officeDocument/2006/relationships/image" Target="../media/image21.jpe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1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jpeg"/><Relationship Id="rId7" Type="http://schemas.openxmlformats.org/officeDocument/2006/relationships/image" Target="../media/image3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1.xml"/><Relationship Id="rId6" Type="http://schemas.openxmlformats.org/officeDocument/2006/relationships/image" Target="../media/image32.jpeg"/><Relationship Id="rId5" Type="http://schemas.openxmlformats.org/officeDocument/2006/relationships/image" Target="../media/image31.jpe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jpeg"/><Relationship Id="rId3" Type="http://schemas.openxmlformats.org/officeDocument/2006/relationships/image" Target="../media/image36.png"/><Relationship Id="rId7" Type="http://schemas.openxmlformats.org/officeDocument/2006/relationships/image" Target="../media/image3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1.xml"/><Relationship Id="rId6" Type="http://schemas.openxmlformats.org/officeDocument/2006/relationships/image" Target="../media/image31.jpeg"/><Relationship Id="rId5" Type="http://schemas.openxmlformats.org/officeDocument/2006/relationships/image" Target="../media/image30.png"/><Relationship Id="rId4" Type="http://schemas.openxmlformats.org/officeDocument/2006/relationships/image" Target="../media/image29.jpeg"/><Relationship Id="rId9" Type="http://schemas.openxmlformats.org/officeDocument/2006/relationships/image" Target="../media/image3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hyperlink" Target="https://swirrl.shinyapps.io/NZ_River_Flow/" TargetMode="External"/><Relationship Id="rId1" Type="http://schemas.openxmlformats.org/officeDocument/2006/relationships/slideLayout" Target="../slideLayouts/slideLayout6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6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44.jpeg"/><Relationship Id="rId3" Type="http://schemas.openxmlformats.org/officeDocument/2006/relationships/image" Target="../media/image29.jpeg"/><Relationship Id="rId7" Type="http://schemas.openxmlformats.org/officeDocument/2006/relationships/image" Target="../media/image18.png"/><Relationship Id="rId12" Type="http://schemas.openxmlformats.org/officeDocument/2006/relationships/image" Target="../media/image4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1.xml"/><Relationship Id="rId6" Type="http://schemas.openxmlformats.org/officeDocument/2006/relationships/image" Target="../media/image40.png"/><Relationship Id="rId11" Type="http://schemas.openxmlformats.org/officeDocument/2006/relationships/image" Target="../media/image42.png"/><Relationship Id="rId5" Type="http://schemas.openxmlformats.org/officeDocument/2006/relationships/image" Target="../media/image39.jpeg"/><Relationship Id="rId15" Type="http://schemas.openxmlformats.org/officeDocument/2006/relationships/image" Target="../media/image21.jpeg"/><Relationship Id="rId10" Type="http://schemas.openxmlformats.org/officeDocument/2006/relationships/image" Target="../media/image41.png"/><Relationship Id="rId4" Type="http://schemas.openxmlformats.org/officeDocument/2006/relationships/image" Target="../media/image38.png"/><Relationship Id="rId9" Type="http://schemas.openxmlformats.org/officeDocument/2006/relationships/image" Target="../media/image20.png"/><Relationship Id="rId14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LAWA</a:t>
            </a:r>
            <a:endParaRPr lang="en-NZ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NZ" dirty="0" smtClean="0"/>
              <a:t>Surface, groundwater, environmental data sharing in New Zealand</a:t>
            </a:r>
            <a:endParaRPr lang="en-NZ" dirty="0"/>
          </a:p>
        </p:txBody>
      </p:sp>
      <p:sp>
        <p:nvSpPr>
          <p:cNvPr id="5" name="TextBox 3"/>
          <p:cNvSpPr txBox="1"/>
          <p:nvPr/>
        </p:nvSpPr>
        <p:spPr>
          <a:xfrm>
            <a:off x="107504" y="4137923"/>
            <a:ext cx="209217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NZ" sz="1400" dirty="0" smtClean="0"/>
              <a:t>Sean Hodges</a:t>
            </a:r>
          </a:p>
          <a:p>
            <a:r>
              <a:rPr lang="en-US" sz="1400" dirty="0" smtClean="0"/>
              <a:t>Brent Watson</a:t>
            </a:r>
            <a:endParaRPr lang="en-NZ" sz="1400" dirty="0" smtClean="0"/>
          </a:p>
          <a:p>
            <a:endParaRPr lang="en-NZ" sz="1600" dirty="0" smtClean="0"/>
          </a:p>
          <a:p>
            <a:r>
              <a:rPr lang="en-NZ" sz="1200" b="1" dirty="0" smtClean="0"/>
              <a:t>Horizons Regional Council, NZ</a:t>
            </a:r>
            <a:endParaRPr lang="en-NZ" sz="12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5183839" y="123478"/>
            <a:ext cx="39246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NZ" sz="1400" dirty="0" smtClean="0"/>
              <a:t>Ninth </a:t>
            </a:r>
            <a:r>
              <a:rPr lang="en-NZ" sz="1400" dirty="0"/>
              <a:t>Workshop of the WMO/OGC Hydrology </a:t>
            </a:r>
            <a:r>
              <a:rPr lang="en-NZ" sz="1400" dirty="0" smtClean="0"/>
              <a:t>DWG</a:t>
            </a:r>
            <a:r>
              <a:rPr lang="en-NZ" sz="1400" dirty="0"/>
              <a:t/>
            </a:r>
            <a:br>
              <a:rPr lang="en-NZ" sz="1400" dirty="0"/>
            </a:br>
            <a:r>
              <a:rPr lang="en-NZ" sz="1400" dirty="0" smtClean="0"/>
              <a:t>Geneva, 18 September 2016</a:t>
            </a:r>
            <a:endParaRPr lang="en-NZ" sz="1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328" y="4383656"/>
            <a:ext cx="1339154" cy="537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11" y="160242"/>
            <a:ext cx="1313626" cy="814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488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696" y="987574"/>
            <a:ext cx="5632626" cy="31683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 rot="19925081">
            <a:off x="478075" y="392860"/>
            <a:ext cx="12961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/>
              <a:t>2016</a:t>
            </a:r>
            <a:endParaRPr lang="en-US" sz="3200" b="1" kern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4799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411" y="294252"/>
            <a:ext cx="7139177" cy="479777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t="2" b="41548"/>
          <a:stretch/>
        </p:blipFill>
        <p:spPr>
          <a:xfrm>
            <a:off x="683568" y="51470"/>
            <a:ext cx="7776735" cy="199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855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N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NZ setting</a:t>
            </a:r>
          </a:p>
          <a:p>
            <a:r>
              <a:rPr lang="en-US" dirty="0" smtClean="0"/>
              <a:t>LAWA history and influences</a:t>
            </a:r>
          </a:p>
          <a:p>
            <a:r>
              <a:rPr lang="en-US" dirty="0" smtClean="0"/>
              <a:t>State of play 2018</a:t>
            </a:r>
            <a:endParaRPr lang="en-NZ" dirty="0" smtClean="0"/>
          </a:p>
          <a:p>
            <a:r>
              <a:rPr lang="en-US" dirty="0" smtClean="0"/>
              <a:t>Projects going forward</a:t>
            </a:r>
          </a:p>
        </p:txBody>
      </p:sp>
    </p:spTree>
    <p:extLst>
      <p:ext uri="{BB962C8B-B14F-4D97-AF65-F5344CB8AC3E}">
        <p14:creationId xmlns:p14="http://schemas.microsoft.com/office/powerpoint/2010/main" val="149930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 smtClean="0"/>
              <a:t>NZ Local Government</a:t>
            </a:r>
            <a:endParaRPr lang="en-NZ" dirty="0"/>
          </a:p>
        </p:txBody>
      </p:sp>
      <p:pic>
        <p:nvPicPr>
          <p:cNvPr id="1028" name="Picture 4" descr="http://www.lgnz.co.nz/assets/North-Island-PNG.PN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28"/>
          <a:stretch/>
        </p:blipFill>
        <p:spPr bwMode="auto">
          <a:xfrm>
            <a:off x="3059832" y="1175657"/>
            <a:ext cx="2448273" cy="3421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81"/>
          <a:stretch/>
        </p:blipFill>
        <p:spPr bwMode="auto">
          <a:xfrm>
            <a:off x="5868144" y="1175657"/>
            <a:ext cx="2500887" cy="3421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541" y="1157238"/>
            <a:ext cx="2379797" cy="34398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42093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 smtClean="0"/>
              <a:t>Drivers</a:t>
            </a:r>
            <a:endParaRPr lang="en-N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Z" dirty="0" smtClean="0"/>
              <a:t>National Reporting</a:t>
            </a:r>
          </a:p>
          <a:p>
            <a:r>
              <a:rPr lang="en-NZ" dirty="0" smtClean="0"/>
              <a:t>Consistent data</a:t>
            </a:r>
          </a:p>
          <a:p>
            <a:r>
              <a:rPr lang="en-NZ" dirty="0" smtClean="0"/>
              <a:t>Reliability</a:t>
            </a:r>
          </a:p>
          <a:p>
            <a:r>
              <a:rPr lang="en-US" dirty="0" smtClean="0"/>
              <a:t>Public access to actionable information </a:t>
            </a:r>
            <a:endParaRPr lang="en-NZ" dirty="0" smtClean="0"/>
          </a:p>
          <a:p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257855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9 years ago</a:t>
            </a:r>
            <a:endParaRPr lang="en-NZ" dirty="0"/>
          </a:p>
        </p:txBody>
      </p:sp>
      <p:sp>
        <p:nvSpPr>
          <p:cNvPr id="5" name="TextBox 4"/>
          <p:cNvSpPr txBox="1"/>
          <p:nvPr/>
        </p:nvSpPr>
        <p:spPr>
          <a:xfrm>
            <a:off x="2591780" y="1707654"/>
            <a:ext cx="396044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/>
              <a:t>One Chief Executive’s </a:t>
            </a:r>
          </a:p>
          <a:p>
            <a:pPr algn="ctr"/>
            <a:r>
              <a:rPr lang="en-US" sz="3200" dirty="0" smtClean="0"/>
              <a:t>“</a:t>
            </a:r>
            <a:r>
              <a:rPr lang="en-US" sz="3200" i="1" dirty="0" smtClean="0"/>
              <a:t>I have a dream</a:t>
            </a:r>
            <a:r>
              <a:rPr lang="en-US" sz="3200" dirty="0" smtClean="0"/>
              <a:t>” instruction</a:t>
            </a:r>
          </a:p>
          <a:p>
            <a:pPr algn="ctr"/>
            <a:r>
              <a:rPr lang="en-US" sz="3200" dirty="0" smtClean="0"/>
              <a:t>to four staff</a:t>
            </a:r>
            <a:endParaRPr lang="en-US" sz="3200" kern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7080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5 years ago</a:t>
            </a:r>
            <a:endParaRPr lang="en-NZ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5681" y="1131590"/>
            <a:ext cx="4572638" cy="342947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2057400" y="4749465"/>
            <a:ext cx="502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With acknowledgements to </a:t>
            </a:r>
            <a:r>
              <a:rPr lang="en-US" sz="18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Dr’s</a:t>
            </a:r>
            <a:r>
              <a: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8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Arctur</a:t>
            </a:r>
            <a:r>
              <a: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&amp; </a:t>
            </a:r>
            <a:r>
              <a:rPr lang="en-US" sz="18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Maidment</a:t>
            </a:r>
            <a:endParaRPr lang="en-US" sz="18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32300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5436096" y="2283718"/>
            <a:ext cx="0" cy="2664296"/>
          </a:xfrm>
          <a:prstGeom prst="line">
            <a:avLst/>
          </a:prstGeom>
          <a:ln w="31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19" y="195486"/>
            <a:ext cx="8560469" cy="46805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NZ" dirty="0" smtClean="0"/>
              <a:t>Timeline</a:t>
            </a:r>
            <a:endParaRPr lang="en-NZ" dirty="0"/>
          </a:p>
        </p:txBody>
      </p:sp>
      <p:sp>
        <p:nvSpPr>
          <p:cNvPr id="5" name="TextBox 4"/>
          <p:cNvSpPr txBox="1"/>
          <p:nvPr/>
        </p:nvSpPr>
        <p:spPr>
          <a:xfrm>
            <a:off x="2915816" y="342216"/>
            <a:ext cx="12961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/>
              <a:t>2016</a:t>
            </a:r>
            <a:endParaRPr lang="en-US" sz="3200" b="1" kern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5194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5436096" y="0"/>
            <a:ext cx="720080" cy="5143500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4" name="Straight Connector 3"/>
          <p:cNvCxnSpPr/>
          <p:nvPr/>
        </p:nvCxnSpPr>
        <p:spPr>
          <a:xfrm>
            <a:off x="5436096" y="2283718"/>
            <a:ext cx="0" cy="2664296"/>
          </a:xfrm>
          <a:prstGeom prst="line">
            <a:avLst/>
          </a:prstGeom>
          <a:ln w="31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19" y="195486"/>
            <a:ext cx="8560469" cy="46805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NZ" dirty="0" smtClean="0"/>
              <a:t>Timeline</a:t>
            </a:r>
            <a:endParaRPr lang="en-NZ" dirty="0"/>
          </a:p>
        </p:txBody>
      </p:sp>
      <p:sp>
        <p:nvSpPr>
          <p:cNvPr id="5" name="TextBox 4"/>
          <p:cNvSpPr txBox="1"/>
          <p:nvPr/>
        </p:nvSpPr>
        <p:spPr>
          <a:xfrm>
            <a:off x="2915816" y="342216"/>
            <a:ext cx="12961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/>
              <a:t>2017</a:t>
            </a:r>
            <a:endParaRPr lang="en-US" sz="3200" b="1" kern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867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436096" y="0"/>
            <a:ext cx="1393088" cy="5143500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cxnSp>
        <p:nvCxnSpPr>
          <p:cNvPr id="4" name="Straight Connector 3"/>
          <p:cNvCxnSpPr/>
          <p:nvPr/>
        </p:nvCxnSpPr>
        <p:spPr>
          <a:xfrm>
            <a:off x="5436096" y="2283718"/>
            <a:ext cx="0" cy="2664296"/>
          </a:xfrm>
          <a:prstGeom prst="line">
            <a:avLst/>
          </a:prstGeom>
          <a:ln w="31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19" y="195486"/>
            <a:ext cx="8560469" cy="46805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NZ" dirty="0" smtClean="0"/>
              <a:t>Timeline</a:t>
            </a:r>
            <a:endParaRPr lang="en-NZ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420" y="2019953"/>
            <a:ext cx="7380153" cy="6103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915816" y="342216"/>
            <a:ext cx="12961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/>
              <a:t>2018</a:t>
            </a:r>
            <a:endParaRPr lang="en-US" sz="3200" b="1" kern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7529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55" y="627534"/>
            <a:ext cx="9033889" cy="3960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29818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3613" y="2411338"/>
            <a:ext cx="1240532" cy="12405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 smtClean="0"/>
              <a:t>Products in use</a:t>
            </a:r>
            <a:endParaRPr lang="en-N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NZ" dirty="0" smtClean="0"/>
              <a:t>Hilltop (13)</a:t>
            </a:r>
          </a:p>
          <a:p>
            <a:r>
              <a:rPr lang="en-NZ" dirty="0" err="1" smtClean="0"/>
              <a:t>Kisters</a:t>
            </a:r>
            <a:r>
              <a:rPr lang="en-NZ" dirty="0" smtClean="0"/>
              <a:t> (2)</a:t>
            </a:r>
          </a:p>
          <a:p>
            <a:r>
              <a:rPr lang="en-NZ" dirty="0" smtClean="0"/>
              <a:t>Aquatic Informatics / 52 North (1)</a:t>
            </a:r>
          </a:p>
          <a:p>
            <a:r>
              <a:rPr lang="en-NZ" dirty="0" smtClean="0"/>
              <a:t>ESRI (16)</a:t>
            </a:r>
          </a:p>
          <a:p>
            <a:r>
              <a:rPr lang="en-US" dirty="0" smtClean="0"/>
              <a:t>OGC Standards, notably </a:t>
            </a:r>
            <a:r>
              <a:rPr lang="en-US" dirty="0" err="1" smtClean="0"/>
              <a:t>WaterML</a:t>
            </a:r>
            <a:r>
              <a:rPr lang="en-US" dirty="0" smtClean="0"/>
              <a:t> 2.0</a:t>
            </a:r>
          </a:p>
          <a:p>
            <a:r>
              <a:rPr lang="en-US" dirty="0" smtClean="0"/>
              <a:t>Proprietary Restful API’s as required</a:t>
            </a:r>
            <a:endParaRPr lang="en-NZ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727"/>
          <a:stretch/>
        </p:blipFill>
        <p:spPr bwMode="auto">
          <a:xfrm>
            <a:off x="7793097" y="267494"/>
            <a:ext cx="630378" cy="94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11" descr="Aquatic Informatic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6478" y="2067694"/>
            <a:ext cx="1483615" cy="430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3613" y="3435846"/>
            <a:ext cx="1149346" cy="513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5" descr="http://www.kisters.net/images/KISTERS-LOGO_CLAIM_en_80mm_RGB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6478" y="1347614"/>
            <a:ext cx="1483615" cy="451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2277" y="4134584"/>
            <a:ext cx="1467816" cy="741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251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651864"/>
            <a:ext cx="7272932" cy="3936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209016" y="300616"/>
            <a:ext cx="7259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dirty="0" smtClean="0"/>
              <a:t>Client</a:t>
            </a:r>
            <a:endParaRPr lang="en-NZ" dirty="0"/>
          </a:p>
        </p:txBody>
      </p:sp>
      <p:sp>
        <p:nvSpPr>
          <p:cNvPr id="22" name="TextBox 21"/>
          <p:cNvSpPr txBox="1"/>
          <p:nvPr/>
        </p:nvSpPr>
        <p:spPr>
          <a:xfrm>
            <a:off x="1763688" y="1372856"/>
            <a:ext cx="13662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400" dirty="0" smtClean="0">
                <a:solidFill>
                  <a:srgbClr val="0070C0"/>
                </a:solidFill>
              </a:rPr>
              <a:t>Limitations here</a:t>
            </a:r>
            <a:endParaRPr lang="en-NZ" sz="1400" dirty="0">
              <a:solidFill>
                <a:srgbClr val="0070C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228184" y="1732896"/>
            <a:ext cx="2519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1400" dirty="0" smtClean="0">
                <a:solidFill>
                  <a:srgbClr val="0070C0"/>
                </a:solidFill>
              </a:rPr>
              <a:t>Constraints here – water quality</a:t>
            </a:r>
            <a:endParaRPr lang="en-NZ" sz="1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4513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727"/>
          <a:stretch/>
        </p:blipFill>
        <p:spPr bwMode="auto">
          <a:xfrm>
            <a:off x="8498714" y="4083918"/>
            <a:ext cx="630378" cy="94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330468"/>
            <a:ext cx="7970907" cy="44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119480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018" y="0"/>
            <a:ext cx="766196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411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436096" y="0"/>
            <a:ext cx="1393088" cy="5143500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766" y="-27332"/>
            <a:ext cx="8591973" cy="46220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NZ" dirty="0" smtClean="0"/>
              <a:t>Timeline</a:t>
            </a:r>
            <a:endParaRPr lang="en-NZ" dirty="0"/>
          </a:p>
        </p:txBody>
      </p:sp>
      <p:sp>
        <p:nvSpPr>
          <p:cNvPr id="9" name="TextBox 8"/>
          <p:cNvSpPr txBox="1"/>
          <p:nvPr/>
        </p:nvSpPr>
        <p:spPr>
          <a:xfrm>
            <a:off x="2915816" y="342216"/>
            <a:ext cx="12961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/>
              <a:t>2018</a:t>
            </a:r>
            <a:endParaRPr lang="en-US" sz="3200" b="1" kern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6796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55" y="627534"/>
            <a:ext cx="9033889" cy="3960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3635896" y="51470"/>
            <a:ext cx="22333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2400" b="1" dirty="0">
                <a:solidFill>
                  <a:srgbClr val="00B0F0"/>
                </a:solidFill>
              </a:rPr>
              <a:t>One destination</a:t>
            </a:r>
          </a:p>
        </p:txBody>
      </p:sp>
    </p:spTree>
    <p:extLst>
      <p:ext uri="{BB962C8B-B14F-4D97-AF65-F5344CB8AC3E}">
        <p14:creationId xmlns:p14="http://schemas.microsoft.com/office/powerpoint/2010/main" val="4074861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617" y="161953"/>
            <a:ext cx="7032766" cy="4819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3004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Goal</a:t>
            </a:r>
            <a:endParaRPr lang="en-US" b="1" dirty="0"/>
          </a:p>
        </p:txBody>
      </p:sp>
      <p:pic>
        <p:nvPicPr>
          <p:cNvPr id="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2244644" y="-281758"/>
            <a:ext cx="4654712" cy="5822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79512" y="172939"/>
            <a:ext cx="25548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2400" b="1" dirty="0">
                <a:solidFill>
                  <a:srgbClr val="00B0F0"/>
                </a:solidFill>
              </a:rPr>
              <a:t>Many destinations</a:t>
            </a:r>
          </a:p>
        </p:txBody>
      </p:sp>
    </p:spTree>
    <p:extLst>
      <p:ext uri="{BB962C8B-B14F-4D97-AF65-F5344CB8AC3E}">
        <p14:creationId xmlns:p14="http://schemas.microsoft.com/office/powerpoint/2010/main" val="31776031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b="1" dirty="0"/>
              <a:t>e</a:t>
            </a:r>
            <a:r>
              <a:rPr lang="en-NZ" b="1" dirty="0" smtClean="0"/>
              <a:t>-IDI</a:t>
            </a:r>
            <a:endParaRPr lang="en-NZ" b="1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37" t="48333" r="11420" b="-1"/>
          <a:stretch/>
        </p:blipFill>
        <p:spPr bwMode="auto">
          <a:xfrm>
            <a:off x="927846" y="2773455"/>
            <a:ext cx="5728448" cy="17886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7368990" y="3195639"/>
            <a:ext cx="141194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sz="2100" b="1" dirty="0">
                <a:solidFill>
                  <a:srgbClr val="00B0F0"/>
                </a:solidFill>
              </a:rPr>
              <a:t>CRI’s + </a:t>
            </a:r>
            <a:r>
              <a:rPr lang="en-NZ" sz="2100" b="1" dirty="0" err="1">
                <a:solidFill>
                  <a:srgbClr val="00B0F0"/>
                </a:solidFill>
              </a:rPr>
              <a:t>Govt</a:t>
            </a:r>
            <a:r>
              <a:rPr lang="en-NZ" sz="2100" b="1" dirty="0">
                <a:solidFill>
                  <a:srgbClr val="00B0F0"/>
                </a:solidFill>
              </a:rPr>
              <a:t> + Tertiary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07576" y="3296929"/>
            <a:ext cx="413495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sz="4500" b="1" dirty="0">
                <a:solidFill>
                  <a:srgbClr val="00B0F0"/>
                </a:solidFill>
              </a:rPr>
              <a:t>+</a:t>
            </a:r>
          </a:p>
        </p:txBody>
      </p:sp>
      <p:sp>
        <p:nvSpPr>
          <p:cNvPr id="7" name="Rectangle 6"/>
          <p:cNvSpPr/>
          <p:nvPr/>
        </p:nvSpPr>
        <p:spPr>
          <a:xfrm>
            <a:off x="927846" y="2571750"/>
            <a:ext cx="7755593" cy="2087656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1350"/>
          </a:p>
        </p:txBody>
      </p:sp>
      <p:sp>
        <p:nvSpPr>
          <p:cNvPr id="8" name="TextBox 7"/>
          <p:cNvSpPr txBox="1"/>
          <p:nvPr/>
        </p:nvSpPr>
        <p:spPr>
          <a:xfrm>
            <a:off x="1697440" y="1563221"/>
            <a:ext cx="57944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Z" sz="2400" b="1" dirty="0">
                <a:solidFill>
                  <a:srgbClr val="00B0F0"/>
                </a:solidFill>
              </a:rPr>
              <a:t>Single point of access, irrespective of source</a:t>
            </a:r>
          </a:p>
        </p:txBody>
      </p:sp>
    </p:spTree>
    <p:extLst>
      <p:ext uri="{BB962C8B-B14F-4D97-AF65-F5344CB8AC3E}">
        <p14:creationId xmlns:p14="http://schemas.microsoft.com/office/powerpoint/2010/main" val="20116715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609600" y="358379"/>
            <a:ext cx="1514128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NZ" b="1" dirty="0" smtClean="0"/>
              <a:t>e-IDI</a:t>
            </a:r>
            <a:endParaRPr lang="en-NZ" b="1" dirty="0"/>
          </a:p>
        </p:txBody>
      </p:sp>
      <p:grpSp>
        <p:nvGrpSpPr>
          <p:cNvPr id="10" name="Group 9"/>
          <p:cNvGrpSpPr/>
          <p:nvPr/>
        </p:nvGrpSpPr>
        <p:grpSpPr>
          <a:xfrm>
            <a:off x="-1956705" y="486209"/>
            <a:ext cx="1824137" cy="4667403"/>
            <a:chOff x="207675" y="1023549"/>
            <a:chExt cx="1824137" cy="4667403"/>
          </a:xfrm>
        </p:grpSpPr>
        <p:pic>
          <p:nvPicPr>
            <p:cNvPr id="6" name="Picture 16" descr="http://www.nzila.co.nz/media/9354/mfe.jp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5423" y="1023549"/>
              <a:ext cx="1768641" cy="9100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7541" y="2938441"/>
              <a:ext cx="1504405" cy="1069422"/>
            </a:xfrm>
            <a:prstGeom prst="rect">
              <a:avLst/>
            </a:prstGeom>
          </p:spPr>
        </p:pic>
        <p:pic>
          <p:nvPicPr>
            <p:cNvPr id="1034" name="Picture 10" descr="Image result for hawkes bay regional council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515" y="4108550"/>
              <a:ext cx="1646457" cy="7374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8" name="Picture 14" descr="Environment Canterbury Regional Council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7675" y="4946713"/>
              <a:ext cx="1824137" cy="7442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0" name="Picture 16" descr="Image result for Waikato regional council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6759" y="2034283"/>
              <a:ext cx="1225968" cy="8034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4763" y="1215629"/>
            <a:ext cx="1466145" cy="3756077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83768" y="313531"/>
            <a:ext cx="6076950" cy="456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2000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8607" y="324194"/>
            <a:ext cx="6344491" cy="4495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le 1"/>
          <p:cNvSpPr txBox="1">
            <a:spLocks/>
          </p:cNvSpPr>
          <p:nvPr/>
        </p:nvSpPr>
        <p:spPr>
          <a:xfrm>
            <a:off x="609600" y="358379"/>
            <a:ext cx="1514128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NZ" b="1" dirty="0" smtClean="0"/>
              <a:t>e-IDI</a:t>
            </a:r>
            <a:endParaRPr lang="en-NZ" b="1" dirty="0"/>
          </a:p>
        </p:txBody>
      </p:sp>
      <p:grpSp>
        <p:nvGrpSpPr>
          <p:cNvPr id="10" name="Group 9"/>
          <p:cNvGrpSpPr/>
          <p:nvPr/>
        </p:nvGrpSpPr>
        <p:grpSpPr>
          <a:xfrm>
            <a:off x="-1956705" y="486209"/>
            <a:ext cx="1824137" cy="4667403"/>
            <a:chOff x="207675" y="1023549"/>
            <a:chExt cx="1824137" cy="4667403"/>
          </a:xfrm>
        </p:grpSpPr>
        <p:pic>
          <p:nvPicPr>
            <p:cNvPr id="6" name="Picture 16" descr="http://www.nzila.co.nz/media/9354/mfe.jpg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5423" y="1023549"/>
              <a:ext cx="1768641" cy="9100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7541" y="2938441"/>
              <a:ext cx="1504405" cy="1069422"/>
            </a:xfrm>
            <a:prstGeom prst="rect">
              <a:avLst/>
            </a:prstGeom>
          </p:spPr>
        </p:pic>
        <p:pic>
          <p:nvPicPr>
            <p:cNvPr id="1034" name="Picture 10" descr="Image result for hawkes bay regional council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6515" y="4108550"/>
              <a:ext cx="1646457" cy="7374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8" name="Picture 14" descr="Environment Canterbury Regional Council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7675" y="4946713"/>
              <a:ext cx="1824137" cy="7442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0" name="Picture 16" descr="Image result for Waikato regional council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6759" y="2034283"/>
              <a:ext cx="1225968" cy="8034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1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4763" y="1215629"/>
            <a:ext cx="1466145" cy="3756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2327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b="1" dirty="0" smtClean="0"/>
              <a:t>Example</a:t>
            </a:r>
            <a:endParaRPr lang="en-NZ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Z" dirty="0"/>
          </a:p>
        </p:txBody>
      </p:sp>
      <p:pic>
        <p:nvPicPr>
          <p:cNvPr id="5" name="Picture 2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8606" y="469699"/>
            <a:ext cx="6686425" cy="4204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251520" y="358379"/>
            <a:ext cx="1872208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NZ" b="1" dirty="0" smtClean="0"/>
              <a:t>Example</a:t>
            </a:r>
            <a:endParaRPr lang="en-NZ" b="1" dirty="0"/>
          </a:p>
        </p:txBody>
      </p:sp>
    </p:spTree>
    <p:extLst>
      <p:ext uri="{BB962C8B-B14F-4D97-AF65-F5344CB8AC3E}">
        <p14:creationId xmlns:p14="http://schemas.microsoft.com/office/powerpoint/2010/main" val="1170962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Next Phase</a:t>
            </a:r>
            <a:endParaRPr lang="en-N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Operationalising</a:t>
            </a:r>
            <a:r>
              <a:rPr lang="en-US" dirty="0" smtClean="0"/>
              <a:t> the </a:t>
            </a:r>
            <a:r>
              <a:rPr lang="en-US" dirty="0" err="1" smtClean="0"/>
              <a:t>eIDI</a:t>
            </a:r>
            <a:r>
              <a:rPr lang="en-US" dirty="0" smtClean="0"/>
              <a:t> for the entire regional sector</a:t>
            </a:r>
          </a:p>
          <a:p>
            <a:r>
              <a:rPr lang="en-US" dirty="0" smtClean="0"/>
              <a:t>Single data-broker to supply multiple uses</a:t>
            </a:r>
          </a:p>
          <a:p>
            <a:r>
              <a:rPr lang="en-US" dirty="0" smtClean="0"/>
              <a:t>Underpinned by OGC standards</a:t>
            </a:r>
          </a:p>
          <a:p>
            <a:r>
              <a:rPr lang="en-US" dirty="0" smtClean="0"/>
              <a:t>Persistent URI’s may be step too far in NZ, as yet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41065651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 smtClean="0"/>
              <a:t>Outstanding issues (still)</a:t>
            </a:r>
            <a:endParaRPr lang="en-N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NZ" dirty="0" smtClean="0"/>
              <a:t>Data delivery methodology for agencies</a:t>
            </a:r>
            <a:endParaRPr lang="en-NZ" dirty="0"/>
          </a:p>
          <a:p>
            <a:pPr lvl="1"/>
            <a:r>
              <a:rPr lang="en-NZ" dirty="0"/>
              <a:t>C</a:t>
            </a:r>
            <a:r>
              <a:rPr lang="en-NZ" dirty="0" smtClean="0"/>
              <a:t>onfusion within and between </a:t>
            </a:r>
            <a:r>
              <a:rPr lang="en-NZ" dirty="0"/>
              <a:t>different domain working groups</a:t>
            </a:r>
          </a:p>
          <a:p>
            <a:pPr lvl="1"/>
            <a:r>
              <a:rPr lang="en-NZ" dirty="0" smtClean="0"/>
              <a:t>Cross </a:t>
            </a:r>
            <a:r>
              <a:rPr lang="en-NZ" dirty="0"/>
              <a:t>pollination </a:t>
            </a:r>
            <a:r>
              <a:rPr lang="en-NZ" dirty="0" smtClean="0"/>
              <a:t>improving within </a:t>
            </a:r>
            <a:r>
              <a:rPr lang="en-NZ" dirty="0"/>
              <a:t>organisations</a:t>
            </a:r>
          </a:p>
          <a:p>
            <a:r>
              <a:rPr lang="en-NZ" dirty="0"/>
              <a:t>Still lacking consistency</a:t>
            </a:r>
          </a:p>
          <a:p>
            <a:pPr lvl="1"/>
            <a:r>
              <a:rPr lang="en-NZ" dirty="0"/>
              <a:t>No persistence</a:t>
            </a:r>
          </a:p>
          <a:p>
            <a:pPr lvl="1"/>
            <a:r>
              <a:rPr lang="en-NZ" dirty="0"/>
              <a:t>Lacking connectivity across domains</a:t>
            </a:r>
          </a:p>
          <a:p>
            <a:pPr lvl="1"/>
            <a:r>
              <a:rPr lang="en-NZ" dirty="0"/>
              <a:t>Naming conventions</a:t>
            </a:r>
          </a:p>
          <a:p>
            <a:r>
              <a:rPr lang="en-NZ" dirty="0"/>
              <a:t>No easy discoverability (failing </a:t>
            </a:r>
            <a:r>
              <a:rPr lang="en-NZ" dirty="0" smtClean="0"/>
              <a:t>NZ </a:t>
            </a:r>
            <a:r>
              <a:rPr lang="en-NZ" dirty="0" err="1" smtClean="0"/>
              <a:t>Inc</a:t>
            </a:r>
            <a:r>
              <a:rPr lang="en-NZ" dirty="0"/>
              <a:t>).</a:t>
            </a:r>
          </a:p>
          <a:p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017697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 smtClean="0"/>
              <a:t>Supporting sector goals </a:t>
            </a:r>
            <a:endParaRPr lang="en-N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Z" dirty="0" smtClean="0"/>
              <a:t>Reliance on:</a:t>
            </a:r>
          </a:p>
          <a:p>
            <a:pPr lvl="1"/>
            <a:r>
              <a:rPr lang="en-NZ" dirty="0" smtClean="0"/>
              <a:t>Governance model:</a:t>
            </a:r>
          </a:p>
          <a:p>
            <a:pPr lvl="2"/>
            <a:r>
              <a:rPr lang="en-NZ" dirty="0" smtClean="0"/>
              <a:t>Reporting (</a:t>
            </a:r>
            <a:r>
              <a:rPr lang="en-NZ" dirty="0" err="1" smtClean="0"/>
              <a:t>EMaR</a:t>
            </a:r>
            <a:r>
              <a:rPr lang="en-NZ" dirty="0" smtClean="0"/>
              <a:t>)</a:t>
            </a:r>
          </a:p>
          <a:p>
            <a:pPr lvl="2"/>
            <a:r>
              <a:rPr lang="en-NZ" dirty="0" smtClean="0"/>
              <a:t>Coms </a:t>
            </a:r>
            <a:r>
              <a:rPr lang="en-NZ" dirty="0"/>
              <a:t>of interest (SIGs – Domain Experts)</a:t>
            </a:r>
          </a:p>
          <a:p>
            <a:pPr lvl="1"/>
            <a:r>
              <a:rPr lang="en-NZ" dirty="0" smtClean="0"/>
              <a:t>Standards (NEMS):</a:t>
            </a:r>
          </a:p>
          <a:p>
            <a:pPr lvl="2"/>
            <a:r>
              <a:rPr lang="en-NZ" dirty="0" smtClean="0"/>
              <a:t>Promotion of interactions between the Governance model and the SIGs</a:t>
            </a:r>
          </a:p>
          <a:p>
            <a:pPr marL="0" indent="0">
              <a:buNone/>
            </a:pP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2983043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 smtClean="0"/>
              <a:t>Discovery</a:t>
            </a:r>
            <a:endParaRPr lang="en-N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Z" dirty="0" smtClean="0"/>
              <a:t>This is the next challenge!!!</a:t>
            </a:r>
          </a:p>
          <a:p>
            <a:r>
              <a:rPr lang="en-NZ" dirty="0" smtClean="0"/>
              <a:t>Profile O&amp;M, not fully implemented yet</a:t>
            </a:r>
          </a:p>
          <a:p>
            <a:r>
              <a:rPr lang="en-NZ" dirty="0" err="1" smtClean="0"/>
              <a:t>GetDataAvailablity</a:t>
            </a:r>
            <a:r>
              <a:rPr lang="en-NZ" dirty="0" smtClean="0"/>
              <a:t>.</a:t>
            </a:r>
          </a:p>
          <a:p>
            <a:r>
              <a:rPr lang="en-NZ" dirty="0" smtClean="0"/>
              <a:t>Stats rather than full, large volume </a:t>
            </a:r>
            <a:r>
              <a:rPr lang="en-NZ" dirty="0" err="1" smtClean="0"/>
              <a:t>timeseries</a:t>
            </a:r>
            <a:r>
              <a:rPr lang="en-NZ" dirty="0" smtClean="0"/>
              <a:t>.</a:t>
            </a:r>
          </a:p>
          <a:p>
            <a:pPr lvl="1"/>
            <a:r>
              <a:rPr lang="en-NZ" dirty="0" smtClean="0"/>
              <a:t>MORE Focus on PUBLIC CONSUMPTION</a:t>
            </a:r>
          </a:p>
          <a:p>
            <a:pPr lvl="2"/>
            <a:r>
              <a:rPr lang="en-NZ" dirty="0" smtClean="0"/>
              <a:t>&gt;90% users don’t/cant handle large datasets.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5084319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 smtClean="0"/>
              <a:t>Ongoing challenges</a:t>
            </a:r>
            <a:endParaRPr lang="en-NZ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Z" dirty="0" smtClean="0"/>
              <a:t>Biological data</a:t>
            </a:r>
          </a:p>
          <a:p>
            <a:pPr lvl="1"/>
            <a:r>
              <a:rPr lang="en-NZ" dirty="0" smtClean="0"/>
              <a:t>Genus, species, counts, </a:t>
            </a:r>
            <a:r>
              <a:rPr lang="en-NZ" dirty="0" err="1" smtClean="0"/>
              <a:t>etc</a:t>
            </a:r>
            <a:r>
              <a:rPr lang="en-NZ" dirty="0" smtClean="0"/>
              <a:t> </a:t>
            </a:r>
          </a:p>
          <a:p>
            <a:r>
              <a:rPr lang="en-NZ" dirty="0" err="1" smtClean="0"/>
              <a:t>TimeseriesML</a:t>
            </a:r>
            <a:r>
              <a:rPr lang="en-NZ" dirty="0" smtClean="0"/>
              <a:t> partnered with other containers</a:t>
            </a:r>
          </a:p>
          <a:p>
            <a:r>
              <a:rPr lang="en-NZ" dirty="0" smtClean="0"/>
              <a:t>Linked data </a:t>
            </a:r>
          </a:p>
        </p:txBody>
      </p:sp>
    </p:spTree>
    <p:extLst>
      <p:ext uri="{BB962C8B-B14F-4D97-AF65-F5344CB8AC3E}">
        <p14:creationId xmlns:p14="http://schemas.microsoft.com/office/powerpoint/2010/main" val="29981420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411" y="294252"/>
            <a:ext cx="7139177" cy="479777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t="2" b="41548"/>
          <a:stretch/>
        </p:blipFill>
        <p:spPr>
          <a:xfrm>
            <a:off x="683568" y="51470"/>
            <a:ext cx="7776735" cy="199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909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4" name="Picture 16" descr="http://www.nzila.co.nz/media/9354/mfe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2236" y="1713379"/>
            <a:ext cx="1768641" cy="910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 smtClean="0"/>
              <a:t>Partners / Providers</a:t>
            </a:r>
            <a:endParaRPr lang="en-NZ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059582"/>
            <a:ext cx="3870324" cy="3744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4" name="Picture 2" descr="RS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3539" y="4401835"/>
            <a:ext cx="1728192" cy="383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utoShape 16" descr="Image result for niwa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Z"/>
          </a:p>
        </p:txBody>
      </p:sp>
      <p:pic>
        <p:nvPicPr>
          <p:cNvPr id="3090" name="Picture 18" descr="https://upload.wikimedia.org/wikipedia/commons/thumb/4/44/National_Institute_of_Water_and_Atmospheric_Research_Logo.svg/2000px-National_Institute_of_Water_and_Atmospheric_Research_Logo.svg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4299942"/>
            <a:ext cx="1771052" cy="430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727"/>
          <a:stretch/>
        </p:blipFill>
        <p:spPr bwMode="auto">
          <a:xfrm>
            <a:off x="7793097" y="1059582"/>
            <a:ext cx="630378" cy="944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9" name="Picture 11" descr="Aquatic Informatics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6478" y="2715221"/>
            <a:ext cx="1483615" cy="430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3613" y="3199036"/>
            <a:ext cx="1149346" cy="513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61" name="Picture 13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1652" y="4476382"/>
            <a:ext cx="1933266" cy="47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62" name="Picture 14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5543" y="3684432"/>
            <a:ext cx="485486" cy="7989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65" name="Picture 17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1060705"/>
            <a:ext cx="2056003" cy="7872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67" name="Picture 19" descr="https://ps.org.nz/sites/all/files/u6/TTF%20logo%20print%20size.jpg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2236" y="3310791"/>
            <a:ext cx="1824137" cy="7319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1" name="Picture 23" descr="http://stoppress.co.nz/media/VERSIONS/masseylogonew_1200x1200.png"/>
          <p:cNvPicPr>
            <a:picLocks noChangeAspect="1" noChangeArrowheads="1"/>
          </p:cNvPicPr>
          <p:nvPr/>
        </p:nvPicPr>
        <p:blipFill>
          <a:blip r:embed="rId14" cstate="print">
            <a:clrChange>
              <a:clrFrom>
                <a:srgbClr val="F8F8F8"/>
              </a:clrFrom>
              <a:clrTo>
                <a:srgbClr val="F8F8F8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2782" y="2571750"/>
            <a:ext cx="2063407" cy="573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73" name="Picture 25" descr="http://www.kisters.net/images/KISTERS-LOGO_CLAIM_en_80mm_RGB.jpg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6478" y="2119957"/>
            <a:ext cx="1483615" cy="451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3186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gional Services">
  <a:themeElements>
    <a:clrScheme name="About Us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About U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/>
          </a:defRPr>
        </a:defPPr>
      </a:lstStyle>
    </a:lnDef>
  </a:objectDefaults>
  <a:extraClrSchemeLst>
    <a:extraClrScheme>
      <a:clrScheme name="About U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bout U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bout U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bout U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bout U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bout U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bout U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bout U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bout U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bout U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bout U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bout U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Regional Services2">
  <a:themeElements>
    <a:clrScheme name="About Us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About U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/>
          </a:defRPr>
        </a:defPPr>
      </a:lstStyle>
    </a:lnDef>
  </a:objectDefaults>
  <a:extraClrSchemeLst>
    <a:extraClrScheme>
      <a:clrScheme name="About U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bout U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bout U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bout U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bout U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About U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bout U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bout U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bout U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bout U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bout U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About U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2_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Regional Services</Template>
  <TotalTime>4265</TotalTime>
  <Words>332</Words>
  <Application>Microsoft Office PowerPoint</Application>
  <PresentationFormat>On-screen Show (16:9)</PresentationFormat>
  <Paragraphs>94</Paragraphs>
  <Slides>31</Slides>
  <Notes>6</Notes>
  <HiddenSlides>3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31</vt:i4>
      </vt:variant>
    </vt:vector>
  </HeadingPairs>
  <TitlesOfParts>
    <vt:vector size="40" baseType="lpstr">
      <vt:lpstr>Arial</vt:lpstr>
      <vt:lpstr>Calibri</vt:lpstr>
      <vt:lpstr>Myriad</vt:lpstr>
      <vt:lpstr>Regional Services</vt:lpstr>
      <vt:lpstr>Blank Presentation</vt:lpstr>
      <vt:lpstr>1_Blank Presentation</vt:lpstr>
      <vt:lpstr>Regional Services2</vt:lpstr>
      <vt:lpstr>2_Blank Presentation</vt:lpstr>
      <vt:lpstr>Office Theme</vt:lpstr>
      <vt:lpstr>LAWA</vt:lpstr>
      <vt:lpstr>PowerPoint Presentation</vt:lpstr>
      <vt:lpstr>PowerPoint Presentation</vt:lpstr>
      <vt:lpstr>Outline</vt:lpstr>
      <vt:lpstr>NZ Local Government</vt:lpstr>
      <vt:lpstr>Drivers</vt:lpstr>
      <vt:lpstr>9 years ago</vt:lpstr>
      <vt:lpstr>5 years ago</vt:lpstr>
      <vt:lpstr>Timeline</vt:lpstr>
      <vt:lpstr>Timeline</vt:lpstr>
      <vt:lpstr>Timeline</vt:lpstr>
      <vt:lpstr>PowerPoint Presentation</vt:lpstr>
      <vt:lpstr>Products in use</vt:lpstr>
      <vt:lpstr>PowerPoint Presentation</vt:lpstr>
      <vt:lpstr>PowerPoint Presentation</vt:lpstr>
      <vt:lpstr>PowerPoint Presentation</vt:lpstr>
      <vt:lpstr>Timeline</vt:lpstr>
      <vt:lpstr>PowerPoint Presentation</vt:lpstr>
      <vt:lpstr>PowerPoint Presentation</vt:lpstr>
      <vt:lpstr>Goal</vt:lpstr>
      <vt:lpstr>e-IDI</vt:lpstr>
      <vt:lpstr>PowerPoint Presentation</vt:lpstr>
      <vt:lpstr>PowerPoint Presentation</vt:lpstr>
      <vt:lpstr>Example</vt:lpstr>
      <vt:lpstr>Next Phase</vt:lpstr>
      <vt:lpstr>Outstanding issues (still)</vt:lpstr>
      <vt:lpstr>Supporting sector goals </vt:lpstr>
      <vt:lpstr>Discovery</vt:lpstr>
      <vt:lpstr>Ongoing challenges</vt:lpstr>
      <vt:lpstr>PowerPoint Presentation</vt:lpstr>
      <vt:lpstr>Partners / Providers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Hydrological data sharing</dc:title>
  <dc:creator>Sean Hodges</dc:creator>
  <cp:lastModifiedBy>Sean Hodges</cp:lastModifiedBy>
  <cp:revision>106</cp:revision>
  <dcterms:created xsi:type="dcterms:W3CDTF">2016-06-03T02:15:44Z</dcterms:created>
  <dcterms:modified xsi:type="dcterms:W3CDTF">2018-09-18T06:26:25Z</dcterms:modified>
</cp:coreProperties>
</file>