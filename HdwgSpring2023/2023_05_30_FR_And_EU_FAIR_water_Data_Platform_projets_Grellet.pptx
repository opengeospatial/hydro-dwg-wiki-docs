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7" r:id="rId2"/>
    <p:sldId id="283" r:id="rId3"/>
    <p:sldId id="294" r:id="rId4"/>
    <p:sldId id="295" r:id="rId5"/>
    <p:sldId id="304" r:id="rId6"/>
    <p:sldId id="305" r:id="rId7"/>
    <p:sldId id="296" r:id="rId8"/>
    <p:sldId id="301" r:id="rId9"/>
    <p:sldId id="299" r:id="rId10"/>
    <p:sldId id="297" r:id="rId11"/>
    <p:sldId id="298" r:id="rId12"/>
    <p:sldId id="300" r:id="rId13"/>
    <p:sldId id="303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D4E2"/>
    <a:srgbClr val="A397BF"/>
    <a:srgbClr val="DD6D62"/>
    <a:srgbClr val="EBBC51"/>
    <a:srgbClr val="85C574"/>
    <a:srgbClr val="DA6D5E"/>
    <a:srgbClr val="0BB1E5"/>
    <a:srgbClr val="FFFFFF"/>
    <a:srgbClr val="00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8"/>
  </p:normalViewPr>
  <p:slideViewPr>
    <p:cSldViewPr snapToGrid="0" snapToObjects="1">
      <p:cViewPr>
        <p:scale>
          <a:sx n="50" d="100"/>
          <a:sy n="50" d="100"/>
        </p:scale>
        <p:origin x="23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7" name="Shape 25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309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600" b="1">
                <a:solidFill>
                  <a:srgbClr val="00B1FF"/>
                </a:solidFill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14035938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4" name="Image" descr="Image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54053" y="2390223"/>
            <a:ext cx="10429948" cy="113257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Image" descr="Image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374" y="918735"/>
            <a:ext cx="6126909" cy="3121682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2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2785730"/>
            <a:ext cx="21971000" cy="971878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  <a:lvl2pPr>
              <a:lnSpc>
                <a:spcPct val="100000"/>
              </a:lnSpc>
              <a:spcBef>
                <a:spcPts val="1500"/>
              </a:spcBef>
              <a:defRPr/>
            </a:lvl2pPr>
            <a:lvl3pPr>
              <a:lnSpc>
                <a:spcPct val="100000"/>
              </a:lnSpc>
              <a:spcBef>
                <a:spcPts val="1500"/>
              </a:spcBef>
              <a:defRPr/>
            </a:lvl3pPr>
            <a:lvl4pPr>
              <a:lnSpc>
                <a:spcPct val="100000"/>
              </a:lnSpc>
              <a:spcBef>
                <a:spcPts val="1500"/>
              </a:spcBef>
              <a:defRPr/>
            </a:lvl4pPr>
            <a:lvl5pPr>
              <a:lnSpc>
                <a:spcPct val="100000"/>
              </a:lnSpc>
              <a:spcBef>
                <a:spcPts val="1500"/>
              </a:spcBef>
              <a:defRPr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4400"/>
            </a:lvl2pPr>
            <a:lvl3pPr>
              <a:defRPr sz="4000"/>
            </a:lvl3pPr>
            <a:lvl4pPr>
              <a:defRPr sz="3600"/>
            </a:lvl4pPr>
            <a:lvl5pPr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C31B8C-D1BF-8D47-A3EB-AE9638A0471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945301" y="12968286"/>
            <a:ext cx="480901" cy="4873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C7AC4-9ADF-FA4E-BD12-A120307F00ED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616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76360" y="13080314"/>
            <a:ext cx="418783" cy="3752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2500">
                <a:solidFill>
                  <a:srgbClr val="00B1FF"/>
                </a:solidFill>
                <a:latin typeface="Mont SemiBold"/>
                <a:ea typeface="Mont SemiBold"/>
                <a:cs typeface="Mont SemiBold"/>
                <a:sym typeface="Mont SemiBold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71" r:id="rId3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onewater.fr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water4all-partnership.eu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qgis/QGIS-Enhancement-Proposals/issues/257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resentation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fr-FR" dirty="0" smtClean="0"/>
              <a:t>One nationa</a:t>
            </a:r>
            <a:r>
              <a:rPr lang="fr-FR" dirty="0" smtClean="0"/>
              <a:t>l and one EU FAIR Water Data </a:t>
            </a:r>
            <a:r>
              <a:rPr lang="fr-FR" dirty="0" err="1" smtClean="0"/>
              <a:t>platform</a:t>
            </a:r>
            <a:r>
              <a:rPr lang="fr-FR" dirty="0" smtClean="0"/>
              <a:t> </a:t>
            </a:r>
            <a:r>
              <a:rPr lang="fr-FR" dirty="0" err="1" smtClean="0"/>
              <a:t>projects</a:t>
            </a:r>
            <a:endParaRPr dirty="0"/>
          </a:p>
        </p:txBody>
      </p:sp>
      <p:sp>
        <p:nvSpPr>
          <p:cNvPr id="5" name="Presentation Subtitle">
            <a:extLst>
              <a:ext uri="{FF2B5EF4-FFF2-40B4-BE49-F238E27FC236}">
                <a16:creationId xmlns:a16="http://schemas.microsoft.com/office/drawing/2014/main" id="{AD17ED5E-F497-D24E-82F8-50CA37AC85C0}"/>
              </a:ext>
            </a:extLst>
          </p:cNvPr>
          <p:cNvSpPr txBox="1">
            <a:spLocks noGrp="1"/>
          </p:cNvSpPr>
          <p:nvPr>
            <p:ph type="body" sz="quarter" idx="21"/>
          </p:nvPr>
        </p:nvSpPr>
        <p:spPr>
          <a:xfrm>
            <a:off x="1201340" y="11214114"/>
            <a:ext cx="21971003" cy="1231529"/>
          </a:xfrm>
          <a:prstGeom prst="rect">
            <a:avLst/>
          </a:prstGeom>
        </p:spPr>
        <p:txBody>
          <a:bodyPr>
            <a:normAutofit fontScale="25000" lnSpcReduction="20000"/>
          </a:bodyPr>
          <a:lstStyle/>
          <a:p>
            <a:r>
              <a:rPr lang="en-US" sz="14400" dirty="0"/>
              <a:t>Sylvain Grellet, BRGM</a:t>
            </a:r>
          </a:p>
          <a:p>
            <a:endParaRPr lang="en-US" sz="14400" dirty="0" smtClean="0"/>
          </a:p>
          <a:p>
            <a:r>
              <a:rPr lang="en-US" sz="14400" dirty="0"/>
              <a:t>30 May 2023 - HDWG Spring 2023</a:t>
            </a:r>
          </a:p>
          <a:p>
            <a:endParaRPr dirty="0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EFB65A5D-EEA9-1E56-C393-BECE98689558}"/>
              </a:ext>
            </a:extLst>
          </p:cNvPr>
          <p:cNvSpPr txBox="1"/>
          <p:nvPr/>
        </p:nvSpPr>
        <p:spPr>
          <a:xfrm>
            <a:off x="1201340" y="7698872"/>
            <a:ext cx="11746806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b="1" dirty="0" smtClean="0">
                <a:solidFill>
                  <a:srgbClr val="0096FF"/>
                </a:solidFill>
              </a:rPr>
              <a:t>Willing to contribute to the </a:t>
            </a:r>
            <a:r>
              <a:rPr lang="en-US" sz="3600" b="1" dirty="0" smtClean="0">
                <a:solidFill>
                  <a:srgbClr val="0096FF"/>
                </a:solidFill>
              </a:rPr>
              <a:t>standardization dynamics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96FF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France : One Water 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Europe : Water 4 all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Shared approach between both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Synergies with OGC </a:t>
            </a:r>
            <a:r>
              <a:rPr lang="en-US" dirty="0" err="1" smtClean="0"/>
              <a:t>HydroDWG</a:t>
            </a:r>
            <a:r>
              <a:rPr lang="en-US" dirty="0" smtClean="0"/>
              <a:t> and RDA GWIIG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2163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0785-A144-8146-B8F3-10B7E1BBE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>
                <a:hlinkClick r:id="rId2"/>
              </a:rPr>
              <a:t>https://www.onewater.fr</a:t>
            </a:r>
            <a:r>
              <a:rPr lang="fr-FR" dirty="0" smtClean="0">
                <a:hlinkClick r:id="rId2"/>
              </a:rPr>
              <a:t>/</a:t>
            </a:r>
            <a:r>
              <a:rPr lang="fr-FR" dirty="0" smtClean="0"/>
              <a:t> </a:t>
            </a:r>
          </a:p>
          <a:p>
            <a:r>
              <a:rPr lang="fr-FR" dirty="0" smtClean="0"/>
              <a:t>53 </a:t>
            </a:r>
            <a:r>
              <a:rPr lang="fr-FR" dirty="0"/>
              <a:t>millions </a:t>
            </a:r>
            <a:r>
              <a:rPr lang="fr-FR" dirty="0" smtClean="0"/>
              <a:t>€, 10 </a:t>
            </a:r>
            <a:r>
              <a:rPr lang="fr-FR" dirty="0" err="1" smtClean="0"/>
              <a:t>years</a:t>
            </a:r>
            <a:r>
              <a:rPr lang="fr-FR" dirty="0" smtClean="0"/>
              <a:t> French </a:t>
            </a:r>
            <a:r>
              <a:rPr lang="fr-FR" dirty="0" err="1" smtClean="0"/>
              <a:t>research</a:t>
            </a:r>
            <a:r>
              <a:rPr lang="fr-FR" dirty="0" smtClean="0"/>
              <a:t> programme</a:t>
            </a:r>
          </a:p>
          <a:p>
            <a:r>
              <a:rPr lang="fr-FR" dirty="0" smtClean="0"/>
              <a:t>To </a:t>
            </a:r>
            <a:r>
              <a:rPr lang="fr-FR" dirty="0" err="1" smtClean="0"/>
              <a:t>contribute</a:t>
            </a:r>
            <a:r>
              <a:rPr lang="fr-FR" dirty="0" smtClean="0"/>
              <a:t> to </a:t>
            </a:r>
            <a:r>
              <a:rPr lang="fr-FR" dirty="0" err="1" smtClean="0"/>
              <a:t>accelerate</a:t>
            </a:r>
            <a:r>
              <a:rPr lang="fr-FR" dirty="0" smtClean="0"/>
              <a:t> transitions a </a:t>
            </a:r>
            <a:r>
              <a:rPr lang="fr-FR" dirty="0" err="1" smtClean="0"/>
              <a:t>measure</a:t>
            </a:r>
            <a:r>
              <a:rPr lang="fr-FR" dirty="0" smtClean="0"/>
              <a:t> impacts of global changes </a:t>
            </a:r>
            <a:r>
              <a:rPr lang="fr-FR" dirty="0"/>
              <a:t>on </a:t>
            </a:r>
            <a:r>
              <a:rPr lang="fr-FR" dirty="0" smtClean="0"/>
              <a:t>socio-</a:t>
            </a:r>
            <a:r>
              <a:rPr lang="fr-FR" dirty="0" err="1" smtClean="0"/>
              <a:t>ecological</a:t>
            </a:r>
            <a:r>
              <a:rPr lang="fr-FR" dirty="0" smtClean="0"/>
              <a:t> </a:t>
            </a:r>
            <a:r>
              <a:rPr lang="fr-FR" dirty="0" err="1" smtClean="0"/>
              <a:t>systems</a:t>
            </a:r>
            <a:r>
              <a:rPr lang="fr-FR" dirty="0" smtClean="0"/>
              <a:t> </a:t>
            </a:r>
            <a:r>
              <a:rPr lang="fr-FR" dirty="0" err="1" smtClean="0"/>
              <a:t>through</a:t>
            </a:r>
            <a:r>
              <a:rPr lang="fr-FR" dirty="0" smtClean="0"/>
              <a:t> 6 </a:t>
            </a:r>
            <a:r>
              <a:rPr lang="fr-FR" dirty="0" err="1" smtClean="0"/>
              <a:t>scientific</a:t>
            </a:r>
            <a:r>
              <a:rPr lang="fr-FR" dirty="0" smtClean="0"/>
              <a:t> challenges</a:t>
            </a: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499" y="827797"/>
            <a:ext cx="10509251" cy="1198204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8172059" y="6749038"/>
            <a:ext cx="1392241" cy="364202"/>
          </a:xfrm>
          <a:prstGeom prst="rect">
            <a:avLst/>
          </a:prstGeom>
          <a:solidFill>
            <a:srgbClr val="0BB1E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700" b="0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Anticipation</a:t>
            </a:r>
            <a:endParaRPr kumimoji="0" lang="fr-FR" sz="17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8172057" y="9640317"/>
            <a:ext cx="1428432" cy="364202"/>
          </a:xfrm>
          <a:prstGeom prst="rect">
            <a:avLst/>
          </a:prstGeom>
          <a:solidFill>
            <a:srgbClr val="DD6D6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700" b="0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Solutions</a:t>
            </a:r>
            <a:endParaRPr kumimoji="0" lang="fr-FR" sz="17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8172058" y="7683223"/>
            <a:ext cx="1428431" cy="364202"/>
          </a:xfrm>
          <a:prstGeom prst="rect">
            <a:avLst/>
          </a:prstGeom>
          <a:solidFill>
            <a:srgbClr val="85C57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700" b="0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Footprint</a:t>
            </a:r>
            <a:endParaRPr kumimoji="0" lang="fr-FR" sz="17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8172058" y="8574566"/>
            <a:ext cx="1392241" cy="364202"/>
          </a:xfrm>
          <a:prstGeom prst="rect">
            <a:avLst/>
          </a:prstGeom>
          <a:solidFill>
            <a:srgbClr val="EBBC5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700" b="0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Sentinel</a:t>
            </a:r>
            <a:endParaRPr kumimoji="0" lang="fr-FR" sz="17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8172059" y="10439578"/>
            <a:ext cx="1739832" cy="625812"/>
          </a:xfrm>
          <a:prstGeom prst="rect">
            <a:avLst/>
          </a:prstGeom>
          <a:solidFill>
            <a:srgbClr val="B8D4E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700" b="0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Socio-</a:t>
            </a:r>
            <a:r>
              <a:rPr kumimoji="0" lang="fr-FR" sz="1700" b="0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ecological</a:t>
            </a:r>
            <a:r>
              <a:rPr kumimoji="0" lang="fr-FR" sz="1700" b="0" i="0" u="none" strike="noStrike" cap="none" spc="0" normalizeH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transition</a:t>
            </a:r>
            <a:endParaRPr kumimoji="0" lang="fr-FR" sz="17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grpSp>
        <p:nvGrpSpPr>
          <p:cNvPr id="10" name="Groupe 9"/>
          <p:cNvGrpSpPr/>
          <p:nvPr/>
        </p:nvGrpSpPr>
        <p:grpSpPr>
          <a:xfrm>
            <a:off x="1046199" y="6083484"/>
            <a:ext cx="7122302" cy="7464565"/>
            <a:chOff x="7973785" y="6083484"/>
            <a:chExt cx="7122302" cy="7464565"/>
          </a:xfrm>
        </p:grpSpPr>
        <p:pic>
          <p:nvPicPr>
            <p:cNvPr id="1026" name="Picture 2" descr="Défis scientifique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3785" y="6083484"/>
              <a:ext cx="7122302" cy="74645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ZoneTexte 8"/>
            <p:cNvSpPr txBox="1"/>
            <p:nvPr/>
          </p:nvSpPr>
          <p:spPr>
            <a:xfrm>
              <a:off x="10842173" y="9749607"/>
              <a:ext cx="1392241" cy="364202"/>
            </a:xfrm>
            <a:prstGeom prst="rect">
              <a:avLst/>
            </a:prstGeom>
            <a:solidFill>
              <a:srgbClr val="0BB1E5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fr-FR" sz="1700" b="0" i="0" u="none" strike="noStrike" cap="none" spc="0" normalizeH="0" baseline="0" dirty="0" smtClean="0">
                  <a:ln>
                    <a:noFill/>
                  </a:ln>
                  <a:solidFill>
                    <a:srgbClr val="262626"/>
                  </a:solidFill>
                  <a:effectLst/>
                  <a:uFillTx/>
                  <a:latin typeface="Mont Book"/>
                  <a:ea typeface="Mont Book"/>
                  <a:cs typeface="Mont Book"/>
                  <a:sym typeface="Mont Book"/>
                </a:rPr>
                <a:t>Anticipation</a:t>
              </a:r>
              <a:endParaRPr kumimoji="0" lang="fr-FR" sz="1700" b="0" i="0" u="none" strike="noStrike" cap="none" spc="0" normalizeH="0" baseline="0" dirty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endParaRPr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9778482" y="12231644"/>
              <a:ext cx="1045030" cy="364202"/>
            </a:xfrm>
            <a:prstGeom prst="rect">
              <a:avLst/>
            </a:prstGeom>
            <a:solidFill>
              <a:srgbClr val="85C57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fr-FR" sz="1700" b="0" i="0" u="none" strike="noStrike" cap="none" spc="0" normalizeH="0" baseline="0" dirty="0" err="1" smtClean="0">
                  <a:ln>
                    <a:noFill/>
                  </a:ln>
                  <a:solidFill>
                    <a:srgbClr val="262626"/>
                  </a:solidFill>
                  <a:effectLst/>
                  <a:uFillTx/>
                  <a:latin typeface="Mont Book"/>
                  <a:ea typeface="Mont Book"/>
                  <a:cs typeface="Mont Book"/>
                  <a:sym typeface="Mont Book"/>
                </a:rPr>
                <a:t>Footprint</a:t>
              </a:r>
              <a:endParaRPr kumimoji="0" lang="fr-FR" sz="1700" b="0" i="0" u="none" strike="noStrike" cap="none" spc="0" normalizeH="0" baseline="0" dirty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endParaRPr>
            </a:p>
          </p:txBody>
        </p:sp>
        <p:sp>
          <p:nvSpPr>
            <p:cNvPr id="12" name="ZoneTexte 11"/>
            <p:cNvSpPr txBox="1"/>
            <p:nvPr/>
          </p:nvSpPr>
          <p:spPr>
            <a:xfrm>
              <a:off x="12346380" y="12212983"/>
              <a:ext cx="1045030" cy="364202"/>
            </a:xfrm>
            <a:prstGeom prst="rect">
              <a:avLst/>
            </a:prstGeom>
            <a:solidFill>
              <a:srgbClr val="EBBC5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fr-FR" sz="1700" b="0" i="0" u="none" strike="noStrike" cap="none" spc="0" normalizeH="0" baseline="0" dirty="0" err="1" smtClean="0">
                  <a:ln>
                    <a:noFill/>
                  </a:ln>
                  <a:solidFill>
                    <a:srgbClr val="262626"/>
                  </a:solidFill>
                  <a:effectLst/>
                  <a:uFillTx/>
                  <a:latin typeface="Mont Book"/>
                  <a:ea typeface="Mont Book"/>
                  <a:cs typeface="Mont Book"/>
                  <a:sym typeface="Mont Book"/>
                </a:rPr>
                <a:t>Sentinel</a:t>
              </a:r>
              <a:endParaRPr kumimoji="0" lang="fr-FR" sz="1700" b="0" i="0" u="none" strike="noStrike" cap="none" spc="0" normalizeH="0" baseline="0" dirty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endParaRPr>
            </a:p>
          </p:txBody>
        </p:sp>
        <p:sp>
          <p:nvSpPr>
            <p:cNvPr id="17" name="ZoneTexte 16"/>
            <p:cNvSpPr txBox="1"/>
            <p:nvPr/>
          </p:nvSpPr>
          <p:spPr>
            <a:xfrm>
              <a:off x="13390631" y="10910552"/>
              <a:ext cx="1220329" cy="625812"/>
            </a:xfrm>
            <a:prstGeom prst="rect">
              <a:avLst/>
            </a:prstGeom>
            <a:solidFill>
              <a:srgbClr val="A397B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fr-FR" sz="1700" b="0" i="0" u="none" strike="noStrike" cap="none" spc="0" normalizeH="0" baseline="0" dirty="0" smtClean="0">
                  <a:ln>
                    <a:noFill/>
                  </a:ln>
                  <a:solidFill>
                    <a:srgbClr val="262626"/>
                  </a:solidFill>
                  <a:effectLst/>
                  <a:uFillTx/>
                  <a:latin typeface="Mont Book"/>
                  <a:ea typeface="Mont Book"/>
                  <a:cs typeface="Mont Book"/>
                  <a:sym typeface="Mont Book"/>
                </a:rPr>
                <a:t>Data sharing</a:t>
              </a:r>
              <a:endParaRPr kumimoji="0" lang="fr-FR" sz="1700" b="0" i="0" u="none" strike="noStrike" cap="none" spc="0" normalizeH="0" baseline="0" dirty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endParaRPr>
            </a:p>
          </p:txBody>
        </p:sp>
        <p:sp>
          <p:nvSpPr>
            <p:cNvPr id="20" name="ZoneTexte 19"/>
            <p:cNvSpPr txBox="1"/>
            <p:nvPr/>
          </p:nvSpPr>
          <p:spPr>
            <a:xfrm>
              <a:off x="8393216" y="10891891"/>
              <a:ext cx="1739832" cy="625812"/>
            </a:xfrm>
            <a:prstGeom prst="rect">
              <a:avLst/>
            </a:prstGeom>
            <a:solidFill>
              <a:srgbClr val="B8D4E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fr-FR" sz="1700" b="0" i="0" u="none" strike="noStrike" cap="none" spc="0" normalizeH="0" baseline="0" dirty="0" smtClean="0">
                  <a:ln>
                    <a:noFill/>
                  </a:ln>
                  <a:solidFill>
                    <a:srgbClr val="262626"/>
                  </a:solidFill>
                  <a:effectLst/>
                  <a:uFillTx/>
                  <a:latin typeface="Mont Book"/>
                  <a:ea typeface="Mont Book"/>
                  <a:cs typeface="Mont Book"/>
                  <a:sym typeface="Mont Book"/>
                </a:rPr>
                <a:t>Socio-</a:t>
              </a:r>
              <a:r>
                <a:rPr kumimoji="0" lang="fr-FR" sz="1700" b="0" i="0" u="none" strike="noStrike" cap="none" spc="0" normalizeH="0" baseline="0" dirty="0" err="1" smtClean="0">
                  <a:ln>
                    <a:noFill/>
                  </a:ln>
                  <a:solidFill>
                    <a:srgbClr val="262626"/>
                  </a:solidFill>
                  <a:effectLst/>
                  <a:uFillTx/>
                  <a:latin typeface="Mont Book"/>
                  <a:ea typeface="Mont Book"/>
                  <a:cs typeface="Mont Book"/>
                  <a:sym typeface="Mont Book"/>
                </a:rPr>
                <a:t>ecological</a:t>
              </a:r>
              <a:r>
                <a:rPr kumimoji="0" lang="fr-FR" sz="1700" b="0" i="0" u="none" strike="noStrike" cap="none" spc="0" normalizeH="0" dirty="0" smtClean="0">
                  <a:ln>
                    <a:noFill/>
                  </a:ln>
                  <a:solidFill>
                    <a:srgbClr val="262626"/>
                  </a:solidFill>
                  <a:effectLst/>
                  <a:uFillTx/>
                  <a:latin typeface="Mont Book"/>
                  <a:ea typeface="Mont Book"/>
                  <a:cs typeface="Mont Book"/>
                  <a:sym typeface="Mont Book"/>
                </a:rPr>
                <a:t> transition</a:t>
              </a:r>
              <a:endParaRPr kumimoji="0" lang="fr-FR" sz="1700" b="0" i="0" u="none" strike="noStrike" cap="none" spc="0" normalizeH="0" baseline="0" dirty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endParaRPr>
            </a:p>
          </p:txBody>
        </p:sp>
      </p:grpSp>
      <p:sp>
        <p:nvSpPr>
          <p:cNvPr id="21" name="ZoneTexte 20"/>
          <p:cNvSpPr txBox="1"/>
          <p:nvPr/>
        </p:nvSpPr>
        <p:spPr>
          <a:xfrm>
            <a:off x="9787709" y="6715960"/>
            <a:ext cx="1123544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dirty="0" smtClean="0"/>
              <a:t>of </a:t>
            </a:r>
            <a:r>
              <a:rPr lang="en-US" dirty="0"/>
              <a:t>water resource availability (surface &amp; ground</a:t>
            </a:r>
            <a:r>
              <a:rPr lang="en-US" dirty="0" smtClean="0"/>
              <a:t>) -&gt; new sensors, models, forecast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9735764" y="7575501"/>
            <a:ext cx="13885211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dirty="0"/>
              <a:t>holistic approach human pressures and their consequences on </a:t>
            </a:r>
            <a:r>
              <a:rPr lang="en-US" dirty="0" err="1"/>
              <a:t>hydrosystems</a:t>
            </a:r>
            <a:r>
              <a:rPr lang="en-US" dirty="0"/>
              <a:t> and aquatic ecosystem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9509588" y="8520705"/>
            <a:ext cx="1444145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dirty="0"/>
              <a:t>water </a:t>
            </a:r>
            <a:r>
              <a:rPr lang="en-US" dirty="0" smtClean="0"/>
              <a:t>as a environment </a:t>
            </a:r>
            <a:r>
              <a:rPr lang="en-US" dirty="0"/>
              <a:t>health and human societies sentinel -&gt; new </a:t>
            </a:r>
            <a:r>
              <a:rPr lang="en-US" dirty="0" smtClean="0"/>
              <a:t>approaches/methods/data/indicators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9664391" y="9551745"/>
            <a:ext cx="11229036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dirty="0"/>
              <a:t>enhance water resource resilience in the context of global change, circular use, ...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grpSp>
        <p:nvGrpSpPr>
          <p:cNvPr id="27" name="Groupe 26"/>
          <p:cNvGrpSpPr/>
          <p:nvPr/>
        </p:nvGrpSpPr>
        <p:grpSpPr>
          <a:xfrm>
            <a:off x="8202284" y="11441906"/>
            <a:ext cx="8354429" cy="625812"/>
            <a:chOff x="8620606" y="10582712"/>
            <a:chExt cx="8354429" cy="625812"/>
          </a:xfrm>
        </p:grpSpPr>
        <p:sp>
          <p:nvSpPr>
            <p:cNvPr id="18" name="ZoneTexte 17"/>
            <p:cNvSpPr txBox="1"/>
            <p:nvPr/>
          </p:nvSpPr>
          <p:spPr>
            <a:xfrm>
              <a:off x="8620606" y="10582712"/>
              <a:ext cx="1324693" cy="625812"/>
            </a:xfrm>
            <a:prstGeom prst="rect">
              <a:avLst/>
            </a:prstGeom>
            <a:solidFill>
              <a:srgbClr val="A397B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fr-FR" sz="1700" b="0" i="0" u="none" strike="noStrike" cap="none" spc="0" normalizeH="0" baseline="0" dirty="0" smtClean="0">
                  <a:ln>
                    <a:noFill/>
                  </a:ln>
                  <a:solidFill>
                    <a:srgbClr val="262626"/>
                  </a:solidFill>
                  <a:effectLst/>
                  <a:uFillTx/>
                  <a:latin typeface="Mont Book"/>
                  <a:ea typeface="Mont Book"/>
                  <a:cs typeface="Mont Book"/>
                  <a:sym typeface="Mont Book"/>
                </a:rPr>
                <a:t>Data sharing</a:t>
              </a:r>
              <a:endParaRPr kumimoji="0" lang="fr-FR" sz="1700" b="0" i="0" u="none" strike="noStrike" cap="none" spc="0" normalizeH="0" baseline="0" dirty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endParaRPr>
            </a:p>
          </p:txBody>
        </p:sp>
        <p:sp>
          <p:nvSpPr>
            <p:cNvPr id="26" name="ZoneTexte 25"/>
            <p:cNvSpPr txBox="1"/>
            <p:nvPr/>
          </p:nvSpPr>
          <p:spPr>
            <a:xfrm>
              <a:off x="10064052" y="10620034"/>
              <a:ext cx="3799118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r>
                <a:rPr lang="en-US" dirty="0" smtClean="0"/>
                <a:t>FAIR Data</a:t>
              </a:r>
              <a:r>
                <a:rPr lang="en-US" dirty="0"/>
                <a:t> /</a:t>
              </a:r>
              <a:r>
                <a:rPr lang="en-US" dirty="0" smtClean="0"/>
                <a:t> interoperability</a:t>
              </a:r>
              <a:endParaRPr kumimoji="0" lang="fr-FR" sz="2400" b="0" i="0" u="none" strike="noStrike" cap="none" spc="0" normalizeH="0" baseline="0" dirty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endParaRPr>
            </a:p>
          </p:txBody>
        </p:sp>
        <p:sp>
          <p:nvSpPr>
            <p:cNvPr id="22" name="Étoile à 5 branches 21"/>
            <p:cNvSpPr/>
            <p:nvPr/>
          </p:nvSpPr>
          <p:spPr>
            <a:xfrm>
              <a:off x="14033241" y="10582712"/>
              <a:ext cx="802433" cy="584763"/>
            </a:xfrm>
            <a:prstGeom prst="star5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15178068" y="10639131"/>
              <a:ext cx="1796967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</a:rPr>
                <a:t>We are here</a:t>
              </a:r>
              <a:endParaRPr kumimoji="0" lang="fr-FR" sz="2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sym typeface="Mont Book"/>
              </a:endParaRPr>
            </a:p>
          </p:txBody>
        </p:sp>
      </p:grpSp>
      <p:sp>
        <p:nvSpPr>
          <p:cNvPr id="30" name="ZoneTexte 29"/>
          <p:cNvSpPr txBox="1"/>
          <p:nvPr/>
        </p:nvSpPr>
        <p:spPr>
          <a:xfrm>
            <a:off x="9974239" y="10506573"/>
            <a:ext cx="1453442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dirty="0" smtClean="0"/>
              <a:t>new </a:t>
            </a:r>
            <a:r>
              <a:rPr lang="en-US" dirty="0"/>
              <a:t>governance </a:t>
            </a:r>
            <a:r>
              <a:rPr lang="en-US" dirty="0" smtClean="0"/>
              <a:t>modes/tools </a:t>
            </a:r>
            <a:r>
              <a:rPr lang="en-US" dirty="0"/>
              <a:t>to protect water and elaborate public water policies </a:t>
            </a:r>
            <a:r>
              <a:rPr lang="en-US" dirty="0" smtClean="0"/>
              <a:t>with water </a:t>
            </a:r>
            <a:r>
              <a:rPr lang="en-US" dirty="0"/>
              <a:t>as a common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</p:spTree>
    <p:extLst>
      <p:ext uri="{BB962C8B-B14F-4D97-AF65-F5344CB8AC3E}">
        <p14:creationId xmlns:p14="http://schemas.microsoft.com/office/powerpoint/2010/main" val="28395732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0785-A144-8146-B8F3-10B7E1BBE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 </a:t>
            </a:r>
            <a:r>
              <a:rPr lang="en-US" dirty="0" smtClean="0"/>
              <a:t>sharing challenge</a:t>
            </a:r>
          </a:p>
          <a:p>
            <a:pPr lvl="1"/>
            <a:r>
              <a:rPr lang="en-US" dirty="0" smtClean="0"/>
              <a:t>Between all challenges</a:t>
            </a:r>
          </a:p>
          <a:p>
            <a:pPr lvl="1"/>
            <a:r>
              <a:rPr lang="en-US" dirty="0" smtClean="0"/>
              <a:t>With other calls funded by the research </a:t>
            </a:r>
            <a:r>
              <a:rPr lang="en-US" dirty="0" err="1" smtClean="0"/>
              <a:t>programme</a:t>
            </a:r>
            <a:endParaRPr lang="en-US" dirty="0" smtClean="0"/>
          </a:p>
          <a:p>
            <a:pPr lvl="1"/>
            <a:r>
              <a:rPr lang="en-US" dirty="0" smtClean="0"/>
              <a:t>Encompassing public </a:t>
            </a:r>
            <a:r>
              <a:rPr lang="en-US" dirty="0" err="1" smtClean="0"/>
              <a:t>organisation</a:t>
            </a:r>
            <a:r>
              <a:rPr lang="en-US" dirty="0" smtClean="0"/>
              <a:t> (French Water Information) and water research data (Research Infrastructures, research labs, …).</a:t>
            </a:r>
          </a:p>
          <a:p>
            <a:endParaRPr lang="en-US" dirty="0"/>
          </a:p>
          <a:p>
            <a:pPr lvl="1"/>
            <a:r>
              <a:rPr lang="en-US" dirty="0" smtClean="0"/>
              <a:t>Through FAIR Data / Interoperability</a:t>
            </a:r>
            <a:endParaRPr lang="en-US" dirty="0"/>
          </a:p>
          <a:p>
            <a:pPr marL="609600" lvl="1" indent="0">
              <a:buNone/>
            </a:pPr>
            <a:endParaRPr lang="en-US" dirty="0" smtClean="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499" y="827797"/>
            <a:ext cx="10509251" cy="119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93946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0785-A144-8146-B8F3-10B7E1BBE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hlinkClick r:id="rId2"/>
              </a:rPr>
              <a:t>https://www.water4all-partnership.eu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en-US" dirty="0" smtClean="0"/>
              <a:t>31 countries, 7 years</a:t>
            </a:r>
          </a:p>
          <a:p>
            <a:r>
              <a:rPr lang="en-US" dirty="0"/>
              <a:t>86 m</a:t>
            </a:r>
            <a:r>
              <a:rPr lang="en-US" dirty="0" smtClean="0"/>
              <a:t>€</a:t>
            </a:r>
            <a:r>
              <a:rPr lang="en-US" dirty="0"/>
              <a:t> </a:t>
            </a:r>
            <a:r>
              <a:rPr lang="en-US" dirty="0" smtClean="0"/>
              <a:t>fort the 1</a:t>
            </a:r>
            <a:r>
              <a:rPr lang="en-US" baseline="30000" dirty="0" smtClean="0"/>
              <a:t>st</a:t>
            </a:r>
            <a:r>
              <a:rPr lang="en-US" dirty="0" smtClean="0"/>
              <a:t> phase</a:t>
            </a:r>
            <a:endParaRPr lang="en-US" dirty="0" smtClean="0"/>
          </a:p>
          <a:p>
            <a:r>
              <a:rPr lang="en-US" dirty="0" smtClean="0"/>
              <a:t>To </a:t>
            </a:r>
            <a:r>
              <a:rPr lang="en-US" dirty="0"/>
              <a:t>tackle water challenges as means to face climate change, help to achieve the United Nations’ Sustainable Development Goals and boost the EU’s competitiveness and growth (EU Green </a:t>
            </a:r>
            <a:r>
              <a:rPr lang="en-US" dirty="0" smtClean="0"/>
              <a:t>Deal).</a:t>
            </a:r>
          </a:p>
          <a:p>
            <a:r>
              <a:rPr lang="en-US" dirty="0" smtClean="0"/>
              <a:t>81 partners</a:t>
            </a:r>
          </a:p>
          <a:p>
            <a:pPr lvl="1"/>
            <a:r>
              <a:rPr lang="en-US" dirty="0" smtClean="0"/>
              <a:t>research </a:t>
            </a:r>
            <a:r>
              <a:rPr lang="en-US" dirty="0"/>
              <a:t>and innovation funders,</a:t>
            </a:r>
          </a:p>
          <a:p>
            <a:pPr lvl="1"/>
            <a:r>
              <a:rPr lang="en-US" dirty="0"/>
              <a:t>thematic authorities in charge of water issues and policy-makers,</a:t>
            </a:r>
          </a:p>
          <a:p>
            <a:pPr lvl="1"/>
            <a:r>
              <a:rPr lang="en-US" dirty="0"/>
              <a:t>local authorities,</a:t>
            </a:r>
          </a:p>
          <a:p>
            <a:pPr lvl="1"/>
            <a:r>
              <a:rPr lang="en-US" dirty="0"/>
              <a:t>associations and networks representing the economic sector in the field of water at the European, national or regional level,</a:t>
            </a:r>
          </a:p>
          <a:p>
            <a:pPr lvl="1"/>
            <a:r>
              <a:rPr lang="en-US" dirty="0"/>
              <a:t>research </a:t>
            </a:r>
            <a:r>
              <a:rPr lang="en-US" dirty="0" err="1"/>
              <a:t>organisations</a:t>
            </a:r>
            <a:r>
              <a:rPr lang="en-US" dirty="0"/>
              <a:t>.</a:t>
            </a:r>
          </a:p>
        </p:txBody>
      </p:sp>
      <p:pic>
        <p:nvPicPr>
          <p:cNvPr id="6" name="Picture 2" descr="European partnership Water4all – Water Security for the Plan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819150"/>
            <a:ext cx="4022725" cy="116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398574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European partnership Water4all – Water Security for the Plan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819150"/>
            <a:ext cx="4022725" cy="116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https://www.water4all-partnership.eu/sites/www.water4all-partnership.eu/files/styles/wide/public/2022-10/table-768x43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7689" y="2962605"/>
            <a:ext cx="10212927" cy="571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3371850" y="10109467"/>
            <a:ext cx="1851659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dirty="0"/>
              <a:t>Task C.4: Developing </a:t>
            </a:r>
            <a:r>
              <a:rPr lang="en-US" u="sng" dirty="0"/>
              <a:t>open science &amp; open access</a:t>
            </a:r>
            <a:r>
              <a:rPr lang="en-US" dirty="0"/>
              <a:t> to projects outputs and connected observatories and research infrastructures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12" name="Étoile à 5 branches 11"/>
          <p:cNvSpPr/>
          <p:nvPr/>
        </p:nvSpPr>
        <p:spPr>
          <a:xfrm>
            <a:off x="18540766" y="11488965"/>
            <a:ext cx="802433" cy="584763"/>
          </a:xfrm>
          <a:prstGeom prst="star5">
            <a:avLst/>
          </a:prstGeom>
          <a:solidFill>
            <a:srgbClr val="FF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19685593" y="11545384"/>
            <a:ext cx="179696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We are here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sym typeface="Mont Book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6790505" y="11544255"/>
            <a:ext cx="1168909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dirty="0" smtClean="0"/>
              <a:t>Data </a:t>
            </a:r>
            <a:r>
              <a:rPr lang="en-US" dirty="0"/>
              <a:t>platform and relative tools, with regards to latest evolutions in FAIR data </a:t>
            </a:r>
            <a:r>
              <a:rPr lang="en-US" dirty="0" smtClean="0"/>
              <a:t>sharing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cxnSp>
        <p:nvCxnSpPr>
          <p:cNvPr id="15" name="Connecteur droit avec flèche 14"/>
          <p:cNvCxnSpPr>
            <a:endCxn id="7" idx="0"/>
          </p:cNvCxnSpPr>
          <p:nvPr/>
        </p:nvCxnSpPr>
        <p:spPr>
          <a:xfrm flipH="1">
            <a:off x="12630150" y="6531097"/>
            <a:ext cx="6544004" cy="3578370"/>
          </a:xfrm>
          <a:prstGeom prst="straightConnector1">
            <a:avLst/>
          </a:prstGeom>
          <a:noFill/>
          <a:ln w="635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Connecteur droit avec flèche 18"/>
          <p:cNvCxnSpPr>
            <a:stCxn id="7" idx="2"/>
            <a:endCxn id="8" idx="0"/>
          </p:cNvCxnSpPr>
          <p:nvPr/>
        </p:nvCxnSpPr>
        <p:spPr>
          <a:xfrm>
            <a:off x="12630150" y="10581391"/>
            <a:ext cx="4904" cy="962864"/>
          </a:xfrm>
          <a:prstGeom prst="straightConnector1">
            <a:avLst/>
          </a:prstGeom>
          <a:noFill/>
          <a:ln w="635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076" name="Picture 4" descr="https://www.water4all-partnership.eu/sites/www.water4all-partnership.eu/files/styles/wide/public/2023-02/drivers-enablers_SRIA_Water4All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2450" y="2771583"/>
            <a:ext cx="14436591" cy="635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à coins arrondis 22"/>
          <p:cNvSpPr/>
          <p:nvPr/>
        </p:nvSpPr>
        <p:spPr>
          <a:xfrm>
            <a:off x="14067689" y="5797882"/>
            <a:ext cx="10212927" cy="983918"/>
          </a:xfrm>
          <a:prstGeom prst="roundRect">
            <a:avLst/>
          </a:prstGeom>
          <a:noFill/>
          <a:ln w="635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7187716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6A05-703D-084C-8F05-D8CF6C3C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Shared elements between both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0785-A144-8146-B8F3-10B7E1BBE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85729"/>
            <a:ext cx="23177500" cy="11863331"/>
          </a:xfrm>
        </p:spPr>
        <p:txBody>
          <a:bodyPr>
            <a:normAutofit/>
          </a:bodyPr>
          <a:lstStyle/>
          <a:p>
            <a:r>
              <a:rPr lang="en-US" dirty="0" smtClean="0"/>
              <a:t>Targets : setting up FAIR water data platforms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 applying OGC, W3C, INSPIRE, RDA practices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Activity period</a:t>
            </a:r>
          </a:p>
          <a:p>
            <a:pPr lvl="1"/>
            <a:r>
              <a:rPr lang="en-US" dirty="0" smtClean="0"/>
              <a:t>These a long term projects : ~ 9 and 7 years </a:t>
            </a:r>
          </a:p>
          <a:p>
            <a:pPr lvl="1"/>
            <a:r>
              <a:rPr lang="en-US" dirty="0" smtClean="0"/>
              <a:t>Starting now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Scope</a:t>
            </a:r>
          </a:p>
          <a:p>
            <a:pPr lvl="1"/>
            <a:r>
              <a:rPr lang="en-US" dirty="0" smtClean="0"/>
              <a:t>Both a mixture of Public organization and research data</a:t>
            </a:r>
          </a:p>
          <a:p>
            <a:pPr lvl="1"/>
            <a:endParaRPr lang="en-US" dirty="0"/>
          </a:p>
          <a:p>
            <a:r>
              <a:rPr lang="en-US" dirty="0" smtClean="0"/>
              <a:t>Funding</a:t>
            </a:r>
            <a:endParaRPr lang="en-US" dirty="0"/>
          </a:p>
          <a:p>
            <a:pPr lvl="1"/>
            <a:r>
              <a:rPr lang="en-US" dirty="0"/>
              <a:t>Both </a:t>
            </a:r>
            <a:r>
              <a:rPr lang="en-US" dirty="0" smtClean="0"/>
              <a:t>with a decent funding to do decent work provided we sync things properly</a:t>
            </a:r>
            <a:endParaRPr lang="en-US" dirty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455456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6A05-703D-084C-8F05-D8CF6C3C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Shared elements between both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0785-A144-8146-B8F3-10B7E1BBE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85729"/>
            <a:ext cx="21971000" cy="11863331"/>
          </a:xfrm>
        </p:spPr>
        <p:txBody>
          <a:bodyPr>
            <a:normAutofit/>
          </a:bodyPr>
          <a:lstStyle/>
          <a:p>
            <a:r>
              <a:rPr lang="en-US" dirty="0" smtClean="0"/>
              <a:t>Topic -&gt; water</a:t>
            </a:r>
          </a:p>
          <a:p>
            <a:pPr lvl="1"/>
            <a:r>
              <a:rPr lang="en-US" dirty="0" smtClean="0"/>
              <a:t>Classic reference features: river networks, aquifer systems </a:t>
            </a:r>
          </a:p>
          <a:p>
            <a:pPr lvl="1"/>
            <a:r>
              <a:rPr lang="en-US" dirty="0" smtClean="0"/>
              <a:t>Observation and monitoring systems</a:t>
            </a:r>
          </a:p>
          <a:p>
            <a:pPr lvl="1"/>
            <a:r>
              <a:rPr lang="en-US" dirty="0" smtClean="0"/>
              <a:t>Could also embark other water information system aspect (</a:t>
            </a:r>
            <a:r>
              <a:rPr lang="en-US" dirty="0" smtClean="0"/>
              <a:t>waste water, industry, bathing, …)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 opportunity to define shared standards/Best Practices, associated tools &amp; training to share water data in FAIR way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 </a:t>
            </a:r>
            <a:r>
              <a:rPr lang="en-US" dirty="0" smtClean="0"/>
              <a:t>opportunity to deploy, test, enhance, communicate on OGC standards (</a:t>
            </a:r>
            <a:r>
              <a:rPr lang="en-US" dirty="0" err="1" smtClean="0"/>
              <a:t>HydroDWG</a:t>
            </a:r>
            <a:r>
              <a:rPr lang="en-US" dirty="0" smtClean="0"/>
              <a:t>, OMS, API – Features, ST API etc…) in a coordinated approach</a:t>
            </a:r>
          </a:p>
          <a:p>
            <a:endParaRPr lang="en-US" dirty="0" smtClean="0"/>
          </a:p>
          <a:p>
            <a:r>
              <a:rPr lang="en-US" dirty="0" smtClean="0"/>
              <a:t>Shared approach (-&gt; next slide)</a:t>
            </a:r>
            <a:endParaRPr lang="en-US" dirty="0"/>
          </a:p>
          <a:p>
            <a:pPr algn="ctr">
              <a:buFont typeface="Symbol" panose="05050102010706020507" pitchFamily="18" charset="2"/>
              <a:buChar char="Þ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92298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6A05-703D-084C-8F05-D8CF6C3C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Shared elements between both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0785-A144-8146-B8F3-10B7E1BBE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85729"/>
            <a:ext cx="21971000" cy="11863331"/>
          </a:xfrm>
        </p:spPr>
        <p:txBody>
          <a:bodyPr>
            <a:normAutofit/>
          </a:bodyPr>
          <a:lstStyle/>
          <a:p>
            <a:r>
              <a:rPr lang="en-US" dirty="0" err="1" smtClean="0"/>
              <a:t>Organisation</a:t>
            </a:r>
            <a:endParaRPr lang="en-US" dirty="0" smtClean="0"/>
          </a:p>
          <a:p>
            <a:pPr marL="609600" lvl="1" indent="0">
              <a:buNone/>
            </a:pPr>
            <a:endParaRPr lang="en-US" dirty="0" smtClean="0"/>
          </a:p>
          <a:p>
            <a:pPr marL="609600" lvl="1" indent="0">
              <a:buNone/>
            </a:pPr>
            <a:endParaRPr lang="en-US" dirty="0" smtClean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9" y="557239"/>
            <a:ext cx="23338971" cy="13192220"/>
          </a:xfrm>
          <a:prstGeom prst="rect">
            <a:avLst/>
          </a:prstGeom>
        </p:spPr>
      </p:pic>
      <p:sp>
        <p:nvSpPr>
          <p:cNvPr id="7" name="Rectangle à coins arrondis 6"/>
          <p:cNvSpPr/>
          <p:nvPr/>
        </p:nvSpPr>
        <p:spPr>
          <a:xfrm>
            <a:off x="7725747" y="3582955"/>
            <a:ext cx="3657600" cy="4310743"/>
          </a:xfrm>
          <a:prstGeom prst="roundRect">
            <a:avLst/>
          </a:prstGeom>
          <a:solidFill>
            <a:srgbClr val="FF0000">
              <a:alpha val="70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ZoneTexte 7"/>
          <p:cNvSpPr txBox="1"/>
          <p:nvPr/>
        </p:nvSpPr>
        <p:spPr>
          <a:xfrm rot="20347809">
            <a:off x="7639377" y="5351749"/>
            <a:ext cx="3656450" cy="1210588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RDA : FAIR</a:t>
            </a:r>
            <a:r>
              <a:rPr kumimoji="0" lang="fr-FR" sz="2400" b="1" i="0" u="none" strike="noStrike" cap="none" spc="0" normalizeH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spc="0" normalizeH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implementation</a:t>
            </a:r>
            <a:r>
              <a:rPr kumimoji="0" lang="fr-FR" sz="2400" b="1" i="0" u="none" strike="noStrike" cap="none" spc="0" normalizeH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profiles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spc="0" normalizeH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activities</a:t>
            </a:r>
            <a:endParaRPr kumimoji="0" lang="fr-FR" sz="2400" b="1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12714514" y="3640135"/>
            <a:ext cx="3715214" cy="5335914"/>
          </a:xfrm>
          <a:prstGeom prst="roundRect">
            <a:avLst/>
          </a:prstGeom>
          <a:solidFill>
            <a:srgbClr val="FF0000">
              <a:alpha val="70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ZoneTexte 9"/>
          <p:cNvSpPr txBox="1"/>
          <p:nvPr/>
        </p:nvSpPr>
        <p:spPr>
          <a:xfrm rot="20271271">
            <a:off x="12598366" y="5857973"/>
            <a:ext cx="3624390" cy="841256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Enhance</a:t>
            </a:r>
            <a:r>
              <a:rPr kumimoji="0" lang="fr-FR" sz="2400" b="1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</a:t>
            </a:r>
            <a:r>
              <a:rPr kumimoji="0" lang="fr-FR" sz="2400" b="1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semantics</a:t>
            </a:r>
            <a:r>
              <a:rPr kumimoji="0" lang="fr-FR" sz="2400" b="1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b="1" dirty="0" smtClean="0"/>
              <a:t>and </a:t>
            </a:r>
            <a:r>
              <a:rPr lang="fr-FR" b="1" dirty="0" err="1" smtClean="0"/>
              <a:t>technical</a:t>
            </a:r>
            <a:r>
              <a:rPr lang="fr-FR" b="1" dirty="0" smtClean="0"/>
              <a:t> standards</a:t>
            </a:r>
            <a:endParaRPr kumimoji="0" lang="fr-FR" sz="2400" b="1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17902594" y="4006320"/>
            <a:ext cx="3802040" cy="5529566"/>
          </a:xfrm>
          <a:prstGeom prst="roundRect">
            <a:avLst/>
          </a:prstGeom>
          <a:solidFill>
            <a:srgbClr val="FF0000">
              <a:alpha val="70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ZoneTexte 12"/>
          <p:cNvSpPr txBox="1"/>
          <p:nvPr/>
        </p:nvSpPr>
        <p:spPr>
          <a:xfrm rot="20356344">
            <a:off x="17757246" y="5415898"/>
            <a:ext cx="4270400" cy="1949252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Enhance</a:t>
            </a:r>
            <a:r>
              <a:rPr kumimoji="0" lang="fr-FR" sz="2400" b="1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open-source</a:t>
            </a:r>
            <a:br>
              <a:rPr kumimoji="0" lang="fr-FR" sz="2400" b="1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</a:br>
            <a:r>
              <a:rPr kumimoji="0" lang="fr-FR" sz="2400" b="1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implementation</a:t>
            </a:r>
            <a:r>
              <a:rPr kumimoji="0" lang="fr-FR" sz="2400" b="1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of the standards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(</a:t>
            </a:r>
            <a:r>
              <a:rPr kumimoji="0" lang="fr-FR" sz="2400" b="1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traditionnal</a:t>
            </a:r>
            <a:r>
              <a:rPr kumimoji="0" lang="fr-FR" sz="2400" b="1" i="0" u="none" strike="noStrike" cap="none" spc="0" normalizeH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</a:t>
            </a:r>
            <a:r>
              <a:rPr kumimoji="0" lang="fr-FR" sz="2400" b="1" i="0" u="none" strike="noStrike" cap="none" spc="0" normalizeH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interoperability</a:t>
            </a:r>
            <a:r>
              <a:rPr kumimoji="0" lang="fr-FR" sz="2400" b="1" i="0" u="none" strike="noStrike" cap="none" spc="0" normalizeH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b="1" dirty="0" err="1"/>
              <a:t>t</a:t>
            </a:r>
            <a:r>
              <a:rPr lang="fr-FR" b="1" baseline="0" dirty="0" err="1" smtClean="0"/>
              <a:t>ools</a:t>
            </a:r>
            <a:r>
              <a:rPr lang="fr-FR" b="1" baseline="0" dirty="0" smtClean="0"/>
              <a:t>)</a:t>
            </a:r>
          </a:p>
        </p:txBody>
      </p:sp>
      <p:sp>
        <p:nvSpPr>
          <p:cNvPr id="14" name="Rectangle à coins arrondis 13"/>
          <p:cNvSpPr/>
          <p:nvPr/>
        </p:nvSpPr>
        <p:spPr>
          <a:xfrm>
            <a:off x="2164702" y="10939625"/>
            <a:ext cx="17149665" cy="2145004"/>
          </a:xfrm>
          <a:prstGeom prst="roundRect">
            <a:avLst/>
          </a:prstGeom>
          <a:solidFill>
            <a:srgbClr val="FF0000">
              <a:alpha val="70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ZoneTexte 14"/>
          <p:cNvSpPr txBox="1"/>
          <p:nvPr/>
        </p:nvSpPr>
        <p:spPr>
          <a:xfrm rot="21113361">
            <a:off x="4672733" y="11575837"/>
            <a:ext cx="9058570" cy="471924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Trainings, </a:t>
            </a:r>
            <a:r>
              <a:rPr kumimoji="0" lang="fr-FR" sz="2400" b="1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make</a:t>
            </a:r>
            <a:r>
              <a:rPr kumimoji="0" lang="fr-FR" sz="2400" b="1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water </a:t>
            </a:r>
            <a:r>
              <a:rPr kumimoji="0" lang="fr-FR" sz="2400" b="1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community</a:t>
            </a:r>
            <a:r>
              <a:rPr kumimoji="0" lang="fr-FR" sz="2400" b="1" i="0" u="none" strike="noStrike" cap="none" spc="0" normalizeH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</a:t>
            </a:r>
            <a:r>
              <a:rPr kumimoji="0" lang="fr-FR" sz="2400" b="1" i="0" u="none" strike="noStrike" cap="none" spc="0" normalizeH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tools</a:t>
            </a:r>
            <a:r>
              <a:rPr kumimoji="0" lang="fr-FR" sz="2400" b="1" i="0" u="none" strike="noStrike" cap="none" spc="0" normalizeH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standards ‘</a:t>
            </a:r>
            <a:r>
              <a:rPr kumimoji="0" lang="fr-FR" sz="2400" b="1" i="0" u="none" strike="noStrike" cap="none" spc="0" normalizeH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compliant</a:t>
            </a:r>
            <a:r>
              <a:rPr kumimoji="0" lang="fr-FR" sz="2400" b="1" i="0" u="none" strike="noStrike" cap="none" spc="0" normalizeH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’</a:t>
            </a:r>
            <a:endParaRPr kumimoji="0" lang="fr-FR" sz="2400" b="1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</p:spTree>
    <p:extLst>
      <p:ext uri="{BB962C8B-B14F-4D97-AF65-F5344CB8AC3E}">
        <p14:creationId xmlns:p14="http://schemas.microsoft.com/office/powerpoint/2010/main" val="245280280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6A05-703D-084C-8F05-D8CF6C3C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Synergies with OGC </a:t>
            </a:r>
            <a:r>
              <a:rPr lang="en-US" dirty="0" smtClean="0"/>
              <a:t>Hydro DWG and al.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0785-A144-8146-B8F3-10B7E1BBE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Both projects are in </a:t>
            </a:r>
            <a:r>
              <a:rPr lang="en-US" dirty="0"/>
              <a:t>the </a:t>
            </a:r>
            <a:r>
              <a:rPr lang="en-US" dirty="0" smtClean="0"/>
              <a:t>“A. Stakeholders </a:t>
            </a:r>
            <a:r>
              <a:rPr lang="en-US" dirty="0"/>
              <a:t>needs and </a:t>
            </a:r>
            <a:r>
              <a:rPr lang="en-US" dirty="0" smtClean="0"/>
              <a:t>interaction” phase</a:t>
            </a:r>
            <a:endParaRPr lang="en-US" dirty="0"/>
          </a:p>
          <a:p>
            <a:pPr lvl="1"/>
            <a:r>
              <a:rPr lang="en-US" dirty="0" smtClean="0"/>
              <a:t>To identify by which domain use </a:t>
            </a:r>
            <a:r>
              <a:rPr lang="en-US" dirty="0" smtClean="0"/>
              <a:t>case we will start</a:t>
            </a:r>
          </a:p>
          <a:p>
            <a:pPr lvl="1"/>
            <a:r>
              <a:rPr lang="en-US" dirty="0" smtClean="0"/>
              <a:t>Screenshot from early May meeting</a:t>
            </a:r>
            <a:endParaRPr lang="en-US" dirty="0"/>
          </a:p>
          <a:p>
            <a:pPr marL="609600" lvl="1" indent="0">
              <a:buNone/>
            </a:pPr>
            <a:endParaRPr lang="en-US" dirty="0" smtClean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035" y="5610304"/>
            <a:ext cx="12444704" cy="785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6652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6A05-703D-084C-8F05-D8CF6C3C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Synergies with OGC </a:t>
            </a:r>
            <a:r>
              <a:rPr lang="en-US" dirty="0" smtClean="0"/>
              <a:t>Hydro DWG and al.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0785-A144-8146-B8F3-10B7E1BBE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 will feedback to</a:t>
            </a:r>
          </a:p>
          <a:p>
            <a:pPr lvl="1"/>
            <a:r>
              <a:rPr lang="en-US" dirty="0" smtClean="0"/>
              <a:t>OGC </a:t>
            </a:r>
            <a:r>
              <a:rPr lang="en-US" dirty="0" err="1" smtClean="0"/>
              <a:t>HydroDWG</a:t>
            </a:r>
            <a:endParaRPr lang="en-US" dirty="0" smtClean="0"/>
          </a:p>
          <a:p>
            <a:pPr lvl="1"/>
            <a:r>
              <a:rPr lang="en-US" dirty="0" smtClean="0"/>
              <a:t>And also to the relevant group : OGC standards, ? W3C:SOSA ?, RDA GWIIG</a:t>
            </a:r>
          </a:p>
          <a:p>
            <a:pPr lvl="1"/>
            <a:r>
              <a:rPr lang="en-US" dirty="0" smtClean="0"/>
              <a:t>And the relevant </a:t>
            </a:r>
            <a:r>
              <a:rPr lang="en-US" dirty="0" err="1" smtClean="0"/>
              <a:t>OpenSource</a:t>
            </a:r>
            <a:r>
              <a:rPr lang="en-US" dirty="0" smtClean="0"/>
              <a:t> community</a:t>
            </a:r>
          </a:p>
          <a:p>
            <a:pPr lvl="2"/>
            <a:r>
              <a:rPr lang="en-US" dirty="0" smtClean="0"/>
              <a:t>Already starting support contracts on </a:t>
            </a:r>
          </a:p>
          <a:p>
            <a:pPr lvl="3"/>
            <a:r>
              <a:rPr lang="en-US" dirty="0" smtClean="0"/>
              <a:t>Making QGIS ST </a:t>
            </a:r>
            <a:r>
              <a:rPr lang="en-US" dirty="0"/>
              <a:t>API compliant 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github.com/qgis/QGIS-Enhancement-Proposals/issues/257</a:t>
            </a:r>
            <a:endParaRPr lang="en-US" dirty="0" smtClean="0"/>
          </a:p>
          <a:p>
            <a:pPr lvl="3"/>
            <a:r>
              <a:rPr lang="en-US" dirty="0" err="1" smtClean="0"/>
              <a:t>SensorThings</a:t>
            </a:r>
            <a:r>
              <a:rPr lang="en-US" dirty="0" smtClean="0"/>
              <a:t> API / FROST =&gt; as a support to WQ IE activity</a:t>
            </a:r>
          </a:p>
          <a:p>
            <a:pPr lvl="3"/>
            <a:r>
              <a:rPr lang="en-US" dirty="0" smtClean="0"/>
              <a:t>OGC API – Features / </a:t>
            </a:r>
            <a:r>
              <a:rPr lang="en-US" dirty="0" err="1" smtClean="0"/>
              <a:t>Geoserver</a:t>
            </a:r>
            <a:r>
              <a:rPr lang="en-US" dirty="0" smtClean="0"/>
              <a:t> </a:t>
            </a:r>
            <a:r>
              <a:rPr lang="en-US" dirty="0"/>
              <a:t>=&gt; as a support to WQ IE activity</a:t>
            </a:r>
            <a:endParaRPr lang="en-US" dirty="0" smtClean="0"/>
          </a:p>
          <a:p>
            <a:pPr marL="609600" lvl="1" indent="0">
              <a:buNone/>
            </a:pPr>
            <a:endParaRPr lang="en-US" dirty="0" smtClean="0"/>
          </a:p>
          <a:p>
            <a:pPr marL="609600" lvl="1" indent="0">
              <a:buNone/>
            </a:pPr>
            <a:endParaRPr lang="en-US" dirty="0"/>
          </a:p>
          <a:p>
            <a:pPr marL="609600" lvl="1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26524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6A05-703D-084C-8F05-D8CF6C3C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Synergies with OGC </a:t>
            </a:r>
            <a:r>
              <a:rPr lang="en-US" dirty="0" smtClean="0"/>
              <a:t>Hydro DWG and al.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0785-A144-8146-B8F3-10B7E1BBE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Already identified synergies</a:t>
            </a:r>
          </a:p>
          <a:p>
            <a:pPr lvl="1"/>
            <a:r>
              <a:rPr lang="en-US" dirty="0" smtClean="0"/>
              <a:t>Water Quality IE</a:t>
            </a:r>
          </a:p>
          <a:p>
            <a:pPr lvl="1"/>
            <a:r>
              <a:rPr lang="en-US" dirty="0" smtClean="0"/>
              <a:t>WMO expert groups discussion</a:t>
            </a:r>
          </a:p>
          <a:p>
            <a:pPr lvl="1"/>
            <a:r>
              <a:rPr lang="en-US" dirty="0" smtClean="0"/>
              <a:t>And some direct exchanges with some </a:t>
            </a:r>
            <a:r>
              <a:rPr lang="en-US" dirty="0" err="1" smtClean="0"/>
              <a:t>HydroDWG</a:t>
            </a:r>
            <a:r>
              <a:rPr lang="en-US" dirty="0" smtClean="0"/>
              <a:t> members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dirty="0" smtClean="0"/>
              <a:t> How </a:t>
            </a:r>
            <a:r>
              <a:rPr lang="en-US" dirty="0"/>
              <a:t>can we </a:t>
            </a:r>
            <a:r>
              <a:rPr lang="en-US" dirty="0" smtClean="0"/>
              <a:t>make this </a:t>
            </a:r>
            <a:r>
              <a:rPr lang="en-US" dirty="0"/>
              <a:t>work better </a:t>
            </a:r>
            <a:r>
              <a:rPr lang="en-US" dirty="0" smtClean="0"/>
              <a:t>?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Bilateral discussions help but don’t create a group momentum</a:t>
            </a:r>
          </a:p>
          <a:p>
            <a:pPr lvl="1"/>
            <a:r>
              <a:rPr lang="en-US" dirty="0" smtClean="0"/>
              <a:t>Do other organizations have “equivalent” projects starting/being written ?</a:t>
            </a:r>
          </a:p>
          <a:p>
            <a:pPr lvl="1"/>
            <a:r>
              <a:rPr lang="en-US" dirty="0" smtClean="0"/>
              <a:t>Should we have more IEs on specific topics ?</a:t>
            </a:r>
          </a:p>
          <a:p>
            <a:pPr lvl="2"/>
            <a:r>
              <a:rPr lang="en-US" dirty="0" smtClean="0"/>
              <a:t>Ex : already think about a Water Quality IE II ?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>
              <a:buFont typeface="Symbol" panose="05050102010706020507" pitchFamily="18" charset="2"/>
              <a:buChar char="Þ"/>
            </a:pPr>
            <a:endParaRPr lang="en-US" dirty="0" smtClean="0"/>
          </a:p>
          <a:p>
            <a:pPr marL="609600" lvl="1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2625929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/>
          </a:p>
        </p:txBody>
      </p:sp>
      <p:pic>
        <p:nvPicPr>
          <p:cNvPr id="4" name="Picture 2" descr="C:\Windows\Web\Wallpaper\BRGM\fond_ecran_2013_0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1910443"/>
            <a:ext cx="18314122" cy="11446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250844" y="1910443"/>
            <a:ext cx="81661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400" dirty="0" smtClean="0">
                <a:solidFill>
                  <a:srgbClr val="FFFFFF"/>
                </a:solidFill>
                <a:latin typeface="+mj-lt"/>
              </a:rPr>
              <a:t>s.grellet@brgm.fr</a:t>
            </a:r>
            <a:endParaRPr lang="en-US" sz="3400" dirty="0">
              <a:solidFill>
                <a:srgbClr val="FFFF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471185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262626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14221</TotalTime>
  <Words>723</Words>
  <Application>Microsoft Office PowerPoint</Application>
  <PresentationFormat>Personnalisé</PresentationFormat>
  <Paragraphs>116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1" baseType="lpstr">
      <vt:lpstr>Arial</vt:lpstr>
      <vt:lpstr>Calibri</vt:lpstr>
      <vt:lpstr>Helvetica Neue</vt:lpstr>
      <vt:lpstr>Helvetica Neue Medium</vt:lpstr>
      <vt:lpstr>Mont Book</vt:lpstr>
      <vt:lpstr>Mont SemiBold</vt:lpstr>
      <vt:lpstr>Symbol</vt:lpstr>
      <vt:lpstr>30_BasicColor</vt:lpstr>
      <vt:lpstr>One national and one EU FAIR Water Data platform projects</vt:lpstr>
      <vt:lpstr>Context</vt:lpstr>
      <vt:lpstr>Présentation PowerPoint</vt:lpstr>
      <vt:lpstr>Présentation PowerPoint</vt:lpstr>
      <vt:lpstr>Présentation PowerPoint</vt:lpstr>
      <vt:lpstr>Présentation PowerPoint</vt:lpstr>
      <vt:lpstr>Shared elements between both</vt:lpstr>
      <vt:lpstr>Shared elements between both</vt:lpstr>
      <vt:lpstr>Shared elements between both</vt:lpstr>
      <vt:lpstr>Synergies with OGC Hydro DWG and al.</vt:lpstr>
      <vt:lpstr>Synergies with OGC Hydro DWG and al.</vt:lpstr>
      <vt:lpstr>Synergies with OGC Hydro DWG and al.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Grellet Sylvain</cp:lastModifiedBy>
  <cp:revision>95</cp:revision>
  <dcterms:modified xsi:type="dcterms:W3CDTF">2023-05-29T21:14:43Z</dcterms:modified>
</cp:coreProperties>
</file>