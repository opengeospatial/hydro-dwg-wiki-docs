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4" r:id="rId1"/>
    <p:sldMasterId id="2147484051" r:id="rId2"/>
  </p:sldMasterIdLst>
  <p:notesMasterIdLst>
    <p:notesMasterId r:id="rId8"/>
  </p:notesMasterIdLst>
  <p:handoutMasterIdLst>
    <p:handoutMasterId r:id="rId9"/>
  </p:handoutMasterIdLst>
  <p:sldIdLst>
    <p:sldId id="275" r:id="rId3"/>
    <p:sldId id="276" r:id="rId4"/>
    <p:sldId id="277" r:id="rId5"/>
    <p:sldId id="278" r:id="rId6"/>
    <p:sldId id="274" r:id="rId7"/>
  </p:sldIdLst>
  <p:sldSz cx="9144000" cy="6858000" type="screen4x3"/>
  <p:notesSz cx="6904038" cy="9220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6600"/>
    <a:srgbClr val="000066"/>
    <a:srgbClr val="FFFF99"/>
    <a:srgbClr val="969696"/>
    <a:srgbClr val="CCFFFF"/>
    <a:srgbClr val="5C090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422" autoAdjust="0"/>
    <p:restoredTop sz="94640"/>
  </p:normalViewPr>
  <p:slideViewPr>
    <p:cSldViewPr showGuides="1">
      <p:cViewPr>
        <p:scale>
          <a:sx n="96" d="100"/>
          <a:sy n="96" d="100"/>
        </p:scale>
        <p:origin x="-1544" y="-440"/>
      </p:cViewPr>
      <p:guideLst>
        <p:guide orient="horz" pos="211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printerSettings" Target="printerSettings/printerSettings1.bin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defTabSz="920750">
              <a:defRPr sz="1200">
                <a:latin typeface="Arial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14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1160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algn="r" defTabSz="920750">
              <a:defRPr sz="1200">
                <a:latin typeface="Arial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14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defTabSz="920750">
              <a:defRPr sz="1200">
                <a:latin typeface="Arial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14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1160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algn="r" defTabSz="920750">
              <a:defRPr sz="1200">
                <a:latin typeface="Arial" pitchFamily="34" charset="0"/>
              </a:defRPr>
            </a:lvl1pPr>
          </a:lstStyle>
          <a:p>
            <a:fld id="{3FBCB2A3-7880-48AB-9EFD-EC602554AEB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769294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defTabSz="920750">
              <a:defRPr sz="1200">
                <a:latin typeface="Arial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1160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algn="r" defTabSz="920750">
              <a:defRPr sz="1200">
                <a:latin typeface="Arial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7763" y="692150"/>
            <a:ext cx="4610100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0750" y="4379913"/>
            <a:ext cx="5062538" cy="414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0"/>
            <a:r>
              <a:rPr lang="en-US" noProof="0" smtClean="0"/>
              <a:t>Second level</a:t>
            </a:r>
          </a:p>
          <a:p>
            <a:pPr lvl="0"/>
            <a:r>
              <a:rPr lang="en-US" noProof="0" smtClean="0"/>
              <a:t>Third level</a:t>
            </a:r>
          </a:p>
          <a:p>
            <a:pPr lvl="0"/>
            <a:r>
              <a:rPr lang="en-US" noProof="0" smtClean="0"/>
              <a:t>Fourth level</a:t>
            </a:r>
          </a:p>
          <a:p>
            <a:pPr lvl="0"/>
            <a:r>
              <a:rPr lang="en-US" noProof="0" smtClean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defTabSz="920750">
              <a:defRPr sz="1200">
                <a:latin typeface="Arial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1160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algn="r" defTabSz="920750">
              <a:defRPr sz="1200">
                <a:latin typeface="Arial" pitchFamily="34" charset="0"/>
              </a:defRPr>
            </a:lvl1pPr>
          </a:lstStyle>
          <a:p>
            <a:fld id="{A5CDAAE9-643C-45C2-9FF3-B2B98EFBF5D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38553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A6DB81-1D8E-4045-839A-105F58925D13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70957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A6DB81-1D8E-4045-839A-105F58925D1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70957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051F01-34EE-4C5C-955A-7F8BEA0B1820}" type="slidenum">
              <a:rPr lang="en-GB" smtClean="0">
                <a:solidFill>
                  <a:srgbClr val="000000"/>
                </a:solidFill>
              </a:rPr>
              <a:pPr>
                <a:defRPr/>
              </a:pPr>
              <a:t>5</a:t>
            </a:fld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81120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8"/>
          <p:cNvSpPr txBox="1">
            <a:spLocks noChangeArrowheads="1"/>
          </p:cNvSpPr>
          <p:nvPr/>
        </p:nvSpPr>
        <p:spPr bwMode="auto">
          <a:xfrm>
            <a:off x="8739188" y="214313"/>
            <a:ext cx="74612" cy="214312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9pPr>
          </a:lstStyle>
          <a:p>
            <a:r>
              <a:rPr lang="en-US" altLang="en-US" sz="800">
                <a:solidFill>
                  <a:srgbClr val="FFFFFF"/>
                </a:solidFill>
                <a:latin typeface="Arial" pitchFamily="34" charset="0"/>
              </a:rPr>
              <a:t>®</a:t>
            </a:r>
          </a:p>
        </p:txBody>
      </p:sp>
      <p:pic>
        <p:nvPicPr>
          <p:cNvPr id="5" name="Picture 10" descr="OGC header 2010122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1" descr="Picture 7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6096000"/>
            <a:ext cx="13811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5"/>
          <p:cNvSpPr txBox="1">
            <a:spLocks noChangeArrowheads="1"/>
          </p:cNvSpPr>
          <p:nvPr userDrawn="1"/>
        </p:nvSpPr>
        <p:spPr bwMode="auto">
          <a:xfrm>
            <a:off x="4144963" y="1219200"/>
            <a:ext cx="854075" cy="246063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9pPr>
          </a:lstStyle>
          <a:p>
            <a:pPr algn="ctr">
              <a:defRPr/>
            </a:pPr>
            <a:r>
              <a:rPr lang="en-US" dirty="0" smtClean="0">
                <a:latin typeface="Arial" charset="0"/>
              </a:rPr>
              <a:t>Sponsored by</a:t>
            </a:r>
          </a:p>
        </p:txBody>
      </p:sp>
      <p:pic>
        <p:nvPicPr>
          <p:cNvPr id="8" name="Picture 1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0700" y="1943100"/>
            <a:ext cx="3022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387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762000" y="3276600"/>
            <a:ext cx="7772400" cy="1143000"/>
          </a:xfrm>
        </p:spPr>
        <p:txBody>
          <a:bodyPr/>
          <a:lstStyle>
            <a:lvl1pPr>
              <a:defRPr sz="3200">
                <a:latin typeface="Arial Black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6387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4572000"/>
            <a:ext cx="6400800" cy="1371600"/>
          </a:xfrm>
        </p:spPr>
        <p:txBody>
          <a:bodyPr/>
          <a:lstStyle>
            <a:lvl1pPr marL="0" indent="0" algn="ctr">
              <a:buFontTx/>
              <a:buNone/>
              <a:defRPr sz="1800">
                <a:solidFill>
                  <a:srgbClr val="092E5C"/>
                </a:solidFill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9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3009900" y="6400800"/>
            <a:ext cx="3276600" cy="304800"/>
          </a:xfrm>
        </p:spPr>
        <p:txBody>
          <a:bodyPr/>
          <a:lstStyle>
            <a:lvl1pPr>
              <a:defRPr dirty="0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>
              <a:defRPr/>
            </a:pPr>
            <a:r>
              <a:rPr lang="en-US" altLang="en-US"/>
              <a:t>Copyright © </a:t>
            </a:r>
            <a:r>
              <a:rPr lang="en-US" altLang="en-US" smtClean="0"/>
              <a:t>2016 </a:t>
            </a:r>
            <a:r>
              <a:rPr lang="en-US" altLang="en-US"/>
              <a:t>Open Geospatial Consortium</a:t>
            </a:r>
          </a:p>
        </p:txBody>
      </p:sp>
    </p:spTree>
    <p:extLst>
      <p:ext uri="{BB962C8B-B14F-4D97-AF65-F5344CB8AC3E}">
        <p14:creationId xmlns:p14="http://schemas.microsoft.com/office/powerpoint/2010/main" val="1218765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© </a:t>
            </a:r>
            <a:r>
              <a:rPr lang="en-US" altLang="en-US" smtClean="0"/>
              <a:t>2016 </a:t>
            </a:r>
            <a:r>
              <a:rPr lang="en-US" altLang="en-US"/>
              <a:t>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6B83D5B-8856-407E-A520-11B0B1E9EC6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5779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© </a:t>
            </a:r>
            <a:r>
              <a:rPr lang="en-US" altLang="en-US" smtClean="0"/>
              <a:t>2016 </a:t>
            </a:r>
            <a:r>
              <a:rPr lang="en-US" altLang="en-US"/>
              <a:t>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D56007-CE1E-4DC8-B044-D61C3C7BF76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60338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0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13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© </a:t>
            </a:r>
            <a:r>
              <a:rPr lang="en-US" altLang="en-US" smtClean="0"/>
              <a:t>2016 </a:t>
            </a:r>
            <a:r>
              <a:rPr lang="en-US" altLang="en-US"/>
              <a:t>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EB17DAA-10D7-4FA6-B082-FA6F8108342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7348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© </a:t>
            </a:r>
            <a:r>
              <a:rPr lang="en-US" altLang="en-US" smtClean="0"/>
              <a:t>2016 </a:t>
            </a:r>
            <a:r>
              <a:rPr lang="en-US" altLang="en-US"/>
              <a:t>Open Geospatial Consortium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DE55879-DEAF-486B-A841-39F7E631BC1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6185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© </a:t>
            </a:r>
            <a:r>
              <a:rPr lang="en-US" altLang="en-US" smtClean="0"/>
              <a:t>2016 </a:t>
            </a:r>
            <a:r>
              <a:rPr lang="en-US" altLang="en-US"/>
              <a:t>Open Geospatial Consortium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7FC94BB-4E6C-48A4-BBC7-8D25B139B57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0471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© </a:t>
            </a:r>
            <a:r>
              <a:rPr lang="en-US" altLang="en-US" smtClean="0"/>
              <a:t>2016 </a:t>
            </a:r>
            <a:r>
              <a:rPr lang="en-US" altLang="en-US"/>
              <a:t>Open Geospatial Consortium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CBC345-16E5-45F8-B634-6E1752E0842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8346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© </a:t>
            </a:r>
            <a:r>
              <a:rPr lang="en-US" altLang="en-US" smtClean="0"/>
              <a:t>2016 </a:t>
            </a:r>
            <a:r>
              <a:rPr lang="en-US" altLang="en-US"/>
              <a:t>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A7BF0C4-9EA1-45CD-94A0-B1A6E081AAB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986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© </a:t>
            </a:r>
            <a:r>
              <a:rPr lang="en-US" altLang="en-US" smtClean="0"/>
              <a:t>2016 </a:t>
            </a:r>
            <a:r>
              <a:rPr lang="en-US" altLang="en-US"/>
              <a:t>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9F4B9C4-FC2D-43AB-93A5-8A81AFC59EC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1591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© </a:t>
            </a:r>
            <a:r>
              <a:rPr lang="en-US" altLang="en-US" smtClean="0"/>
              <a:t>2016 </a:t>
            </a:r>
            <a:r>
              <a:rPr lang="en-US" altLang="en-US"/>
              <a:t>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CDD5749-1910-410B-A673-6E1EFDBE4B5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7701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5288" y="136525"/>
            <a:ext cx="2170112" cy="60340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31775" y="136525"/>
            <a:ext cx="6361113" cy="60340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Copyright © </a:t>
            </a:r>
            <a:r>
              <a:rPr lang="en-US" altLang="en-US" smtClean="0"/>
              <a:t>2016 </a:t>
            </a:r>
            <a:r>
              <a:rPr lang="en-US" altLang="en-US"/>
              <a:t>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9DAAB77-0374-4CC6-81A8-766FCD0ACE4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14407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 smtClean="0"/>
              <a:t>Formatvorlage des Untertitelmasters durch Klicken bearbeiten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Koblenz, </a:t>
            </a:r>
            <a:fld id="{F8AB36FB-2821-4605-99FD-4619310A020B}" type="datetime1">
              <a:rPr lang="en-GB"/>
              <a:pPr>
                <a:defRPr/>
              </a:pPr>
              <a:t>3/8/16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</p:spTree>
    <p:extLst>
      <p:ext uri="{BB962C8B-B14F-4D97-AF65-F5344CB8AC3E}">
        <p14:creationId xmlns:p14="http://schemas.microsoft.com/office/powerpoint/2010/main" val="1026820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Koblenz, </a:t>
            </a:r>
            <a:fld id="{BA22C867-C22E-4754-81A7-E0EEF1D3A57C}" type="datetime1">
              <a:rPr lang="en-GB"/>
              <a:pPr>
                <a:defRPr/>
              </a:pPr>
              <a:t>3/8/16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</p:spTree>
    <p:extLst>
      <p:ext uri="{BB962C8B-B14F-4D97-AF65-F5344CB8AC3E}">
        <p14:creationId xmlns:p14="http://schemas.microsoft.com/office/powerpoint/2010/main" val="2346846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Koblenz, </a:t>
            </a:r>
            <a:fld id="{1C33763D-F0CA-45F0-8FED-A96FB84EC3D6}" type="datetime1">
              <a:rPr lang="en-GB"/>
              <a:pPr>
                <a:defRPr/>
              </a:pPr>
              <a:t>3/8/16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eaLnBrk="1" hangingPunct="1">
              <a:defRPr/>
            </a:pPr>
            <a:fld id="{8579C470-7F4B-4806-B818-14613218D196}" type="slidenum">
              <a:rPr lang="en-GB" sz="1800" b="0">
                <a:solidFill>
                  <a:srgbClr val="000000"/>
                </a:solidFill>
                <a:latin typeface="Arial" charset="0"/>
                <a:ea typeface="+mn-ea"/>
              </a:rPr>
              <a:pPr eaLnBrk="1" hangingPunct="1">
                <a:defRPr/>
              </a:pPr>
              <a:t>‹#›</a:t>
            </a:fld>
            <a:endParaRPr lang="en-GB" sz="1800" b="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241203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Koblenz, </a:t>
            </a:r>
            <a:fld id="{47EE6D58-24F0-4820-A003-3BCDF39B2FDF}" type="datetime1">
              <a:rPr lang="en-GB"/>
              <a:pPr>
                <a:defRPr/>
              </a:pPr>
              <a:t>3/8/16</a:t>
            </a:fld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eaLnBrk="1" hangingPunct="1">
              <a:defRPr/>
            </a:pPr>
            <a:fld id="{90682B35-AD0E-4469-837B-ADF616699019}" type="slidenum">
              <a:rPr lang="en-GB" sz="1800" b="0">
                <a:solidFill>
                  <a:srgbClr val="000000"/>
                </a:solidFill>
                <a:latin typeface="Arial" charset="0"/>
                <a:ea typeface="+mn-ea"/>
              </a:rPr>
              <a:pPr eaLnBrk="1" hangingPunct="1">
                <a:defRPr/>
              </a:pPr>
              <a:t>‹#›</a:t>
            </a:fld>
            <a:endParaRPr lang="en-GB" sz="1800" b="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006275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Koblenz, </a:t>
            </a:r>
            <a:fld id="{A02DF2B4-C32F-4877-9494-B9A0BF6392DA}" type="datetime1">
              <a:rPr lang="en-GB"/>
              <a:pPr>
                <a:defRPr/>
              </a:pPr>
              <a:t>3/8/16</a:t>
            </a:fld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eaLnBrk="1" hangingPunct="1">
              <a:defRPr/>
            </a:pPr>
            <a:fld id="{533ECD94-67D7-4A2C-B6DB-FD8DD087110D}" type="slidenum">
              <a:rPr lang="en-GB" sz="1800" b="0">
                <a:solidFill>
                  <a:srgbClr val="000000"/>
                </a:solidFill>
                <a:latin typeface="Arial" charset="0"/>
                <a:ea typeface="+mn-ea"/>
              </a:rPr>
              <a:pPr eaLnBrk="1" hangingPunct="1">
                <a:defRPr/>
              </a:pPr>
              <a:t>‹#›</a:t>
            </a:fld>
            <a:endParaRPr lang="en-GB" sz="1800" b="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223557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Koblenz, </a:t>
            </a:r>
            <a:fld id="{7519FEBF-4983-444F-8A83-B2C2D35D227F}" type="datetime1">
              <a:rPr lang="en-GB"/>
              <a:pPr>
                <a:defRPr/>
              </a:pPr>
              <a:t>3/8/16</a:t>
            </a:fld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eaLnBrk="1" hangingPunct="1">
              <a:defRPr/>
            </a:pPr>
            <a:fld id="{7C9D8986-C530-4D59-8C8A-212DE80876CD}" type="slidenum">
              <a:rPr lang="en-GB" sz="1800" b="0">
                <a:solidFill>
                  <a:srgbClr val="000000"/>
                </a:solidFill>
                <a:latin typeface="Arial" charset="0"/>
                <a:ea typeface="+mn-ea"/>
              </a:rPr>
              <a:pPr eaLnBrk="1" hangingPunct="1">
                <a:defRPr/>
              </a:pPr>
              <a:t>‹#›</a:t>
            </a:fld>
            <a:endParaRPr lang="en-GB" sz="1800" b="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115435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Koblenz, </a:t>
            </a:r>
            <a:fld id="{C1FC57EB-AA14-432F-BC49-F838223CF465}" type="datetime1">
              <a:rPr lang="en-GB"/>
              <a:pPr>
                <a:defRPr/>
              </a:pPr>
              <a:t>3/8/16</a:t>
            </a:fld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eaLnBrk="1" hangingPunct="1">
              <a:defRPr/>
            </a:pPr>
            <a:fld id="{3BE5E1B8-E1EA-4035-BEA1-DAA38DD3A5E6}" type="slidenum">
              <a:rPr lang="en-GB" sz="1800" b="0">
                <a:solidFill>
                  <a:srgbClr val="000000"/>
                </a:solidFill>
                <a:latin typeface="Arial" charset="0"/>
                <a:ea typeface="+mn-ea"/>
              </a:rPr>
              <a:pPr eaLnBrk="1" hangingPunct="1">
                <a:defRPr/>
              </a:pPr>
              <a:t>‹#›</a:t>
            </a:fld>
            <a:endParaRPr lang="en-GB" sz="1800" b="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386670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Koblenz, </a:t>
            </a:r>
            <a:fld id="{4D810332-8693-4A5C-B0A0-9BC6A33292B8}" type="datetime1">
              <a:rPr lang="en-GB"/>
              <a:pPr>
                <a:defRPr/>
              </a:pPr>
              <a:t>3/8/16</a:t>
            </a:fld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eaLnBrk="1" hangingPunct="1">
              <a:defRPr/>
            </a:pPr>
            <a:fld id="{E5B8CDB3-C5F1-43F6-941B-7229598B94B8}" type="slidenum">
              <a:rPr lang="en-GB" sz="1800" b="0">
                <a:solidFill>
                  <a:srgbClr val="000000"/>
                </a:solidFill>
                <a:latin typeface="Arial" charset="0"/>
                <a:ea typeface="+mn-ea"/>
              </a:rPr>
              <a:pPr eaLnBrk="1" hangingPunct="1">
                <a:defRPr/>
              </a:pPr>
              <a:t>‹#›</a:t>
            </a:fld>
            <a:endParaRPr lang="en-GB" sz="1800" b="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832914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Koblenz, </a:t>
            </a:r>
            <a:fld id="{197350F4-4FF4-4A4D-8E78-8EA80586E666}" type="datetime1">
              <a:rPr lang="en-GB"/>
              <a:pPr>
                <a:defRPr/>
              </a:pPr>
              <a:t>3/8/16</a:t>
            </a:fld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eaLnBrk="1" hangingPunct="1">
              <a:defRPr/>
            </a:pPr>
            <a:fld id="{F03713B8-542A-4299-9891-2CE5FE12FF4C}" type="slidenum">
              <a:rPr lang="en-GB" sz="1800" b="0">
                <a:solidFill>
                  <a:srgbClr val="000000"/>
                </a:solidFill>
                <a:latin typeface="Arial" charset="0"/>
                <a:ea typeface="+mn-ea"/>
              </a:rPr>
              <a:pPr eaLnBrk="1" hangingPunct="1">
                <a:defRPr/>
              </a:pPr>
              <a:t>‹#›</a:t>
            </a:fld>
            <a:endParaRPr lang="en-GB" sz="1800" b="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4124133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Koblenz, </a:t>
            </a:r>
            <a:fld id="{C110AD65-1A73-4C8A-8006-BFA10DA19E32}" type="datetime1">
              <a:rPr lang="en-GB"/>
              <a:pPr>
                <a:defRPr/>
              </a:pPr>
              <a:t>3/8/16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eaLnBrk="1" hangingPunct="1">
              <a:defRPr/>
            </a:pPr>
            <a:fld id="{DE6D320C-68CF-4EFB-82E7-A9B9F3E70BB0}" type="slidenum">
              <a:rPr lang="en-GB" sz="1800" b="0">
                <a:solidFill>
                  <a:srgbClr val="000000"/>
                </a:solidFill>
                <a:latin typeface="Arial" charset="0"/>
                <a:ea typeface="+mn-ea"/>
              </a:rPr>
              <a:pPr eaLnBrk="1" hangingPunct="1">
                <a:defRPr/>
              </a:pPr>
              <a:t>‹#›</a:t>
            </a:fld>
            <a:endParaRPr lang="en-GB" sz="1800" b="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9595388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Koblenz, </a:t>
            </a:r>
            <a:fld id="{58369FA2-0200-41B8-89DC-EDA4FE3817DE}" type="datetime1">
              <a:rPr lang="en-GB"/>
              <a:pPr>
                <a:defRPr/>
              </a:pPr>
              <a:t>3/8/16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11th meeting of GRDC SC, Koblenz, 2013, June 10 - 12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eaLnBrk="1" hangingPunct="1">
              <a:defRPr/>
            </a:pPr>
            <a:fld id="{FD50DE84-48AF-4B31-83D8-F5A85BC0129C}" type="slidenum">
              <a:rPr lang="en-GB" sz="1800" b="0">
                <a:solidFill>
                  <a:srgbClr val="000000"/>
                </a:solidFill>
                <a:latin typeface="Arial" charset="0"/>
                <a:ea typeface="+mn-ea"/>
              </a:rPr>
              <a:pPr eaLnBrk="1" hangingPunct="1">
                <a:defRPr/>
              </a:pPr>
              <a:t>‹#›</a:t>
            </a:fld>
            <a:endParaRPr lang="en-GB" sz="1800" b="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37900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3" Type="http://schemas.openxmlformats.org/officeDocument/2006/relationships/image" Target="../media/image5.jpeg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5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25" y="776288"/>
            <a:ext cx="8455025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28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1775" y="136525"/>
            <a:ext cx="86836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6075" y="1279525"/>
            <a:ext cx="8458200" cy="489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62852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973388" y="6553200"/>
            <a:ext cx="3200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900" b="0" dirty="0">
                <a:solidFill>
                  <a:srgbClr val="092E5C"/>
                </a:solidFill>
                <a:latin typeface="Arial" charset="0"/>
                <a:ea typeface="MS PGothic" charset="-128"/>
              </a:defRPr>
            </a:lvl1pPr>
          </a:lstStyle>
          <a:p>
            <a:pPr>
              <a:defRPr/>
            </a:pPr>
            <a:r>
              <a:rPr lang="en-US" altLang="en-US"/>
              <a:t>Copyright © </a:t>
            </a:r>
            <a:r>
              <a:rPr lang="en-US" altLang="en-US" smtClean="0"/>
              <a:t>2016 </a:t>
            </a:r>
            <a:r>
              <a:rPr lang="en-US" altLang="en-US"/>
              <a:t>Open Geospatial Consortium</a:t>
            </a:r>
          </a:p>
        </p:txBody>
      </p:sp>
      <p:sp>
        <p:nvSpPr>
          <p:cNvPr id="4628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96100" y="65532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 b="0">
                <a:solidFill>
                  <a:srgbClr val="092E5C"/>
                </a:solidFill>
                <a:latin typeface="Arial" pitchFamily="34" charset="0"/>
              </a:defRPr>
            </a:lvl1pPr>
          </a:lstStyle>
          <a:p>
            <a:fld id="{B4F80124-7223-4CD5-8E77-B98D5CED833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31" name="Text Box 16"/>
          <p:cNvSpPr txBox="1">
            <a:spLocks noChangeArrowheads="1"/>
          </p:cNvSpPr>
          <p:nvPr/>
        </p:nvSpPr>
        <p:spPr bwMode="auto">
          <a:xfrm>
            <a:off x="333375" y="6219825"/>
            <a:ext cx="1157288" cy="609600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9pPr>
          </a:lstStyle>
          <a:p>
            <a:pPr>
              <a:defRPr/>
            </a:pPr>
            <a:r>
              <a:rPr lang="en-US" sz="4000" smtClean="0">
                <a:solidFill>
                  <a:schemeClr val="tx2"/>
                </a:solidFill>
                <a:latin typeface="Times New Roman" charset="0"/>
              </a:rPr>
              <a:t>OGC</a:t>
            </a:r>
          </a:p>
        </p:txBody>
      </p:sp>
      <p:sp>
        <p:nvSpPr>
          <p:cNvPr id="1032" name="Text Box 20"/>
          <p:cNvSpPr txBox="1">
            <a:spLocks noChangeArrowheads="1"/>
          </p:cNvSpPr>
          <p:nvPr/>
        </p:nvSpPr>
        <p:spPr bwMode="auto">
          <a:xfrm>
            <a:off x="1498600" y="6270625"/>
            <a:ext cx="93663" cy="244475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1pPr>
            <a:lvl2pPr marL="742950" indent="-28575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2pPr>
            <a:lvl3pPr marL="11430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3pPr>
            <a:lvl4pPr marL="16002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4pPr>
            <a:lvl5pPr marL="2057400" indent="-22860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9pPr>
          </a:lstStyle>
          <a:p>
            <a:r>
              <a:rPr lang="en-US" altLang="en-US">
                <a:solidFill>
                  <a:schemeClr val="tx2"/>
                </a:solidFill>
                <a:latin typeface="Arial" pitchFamily="34" charset="0"/>
              </a:rPr>
              <a:t>®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50" r:id="rId1"/>
    <p:sldLayoutId id="2147484040" r:id="rId2"/>
    <p:sldLayoutId id="2147484041" r:id="rId3"/>
    <p:sldLayoutId id="2147484042" r:id="rId4"/>
    <p:sldLayoutId id="2147484043" r:id="rId5"/>
    <p:sldLayoutId id="2147484044" r:id="rId6"/>
    <p:sldLayoutId id="2147484045" r:id="rId7"/>
    <p:sldLayoutId id="2147484046" r:id="rId8"/>
    <p:sldLayoutId id="2147484047" r:id="rId9"/>
    <p:sldLayoutId id="2147484048" r:id="rId10"/>
    <p:sldLayoutId id="2147484049" r:id="rId11"/>
  </p:sldLayoutIdLst>
  <p:timing>
    <p:tnLst>
      <p:par>
        <p:cTn xmlns:p14="http://schemas.microsoft.com/office/powerpoint/2010/main" id="1" dur="indefinite" restart="never" nodeType="tmRoot"/>
      </p:par>
    </p:tnLst>
  </p:timing>
  <p:hf sldNum="0" hd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MS PGothic" pitchFamily="34" charset="-128"/>
          <a:cs typeface="MS PGothic" charset="0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9pPr>
    </p:titleStyle>
    <p:bodyStyle>
      <a:lvl1pPr marL="233363" indent="-233363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 sz="24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1pPr>
      <a:lvl2pPr marL="569913" indent="-22225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20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2pPr>
      <a:lvl3pPr marL="912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3pPr>
      <a:lvl4pPr marL="12557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4pPr>
      <a:lvl5pPr marL="15986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5pPr>
      <a:lvl6pPr marL="2055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6pPr>
      <a:lvl7pPr marL="25130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7pPr>
      <a:lvl8pPr marL="29702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8pPr>
      <a:lvl9pPr marL="34274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Titelmasterformat durch Klicken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Textmasterformate durch Klicken bearbeiten</a:t>
            </a:r>
          </a:p>
          <a:p>
            <a:pPr lvl="1"/>
            <a:r>
              <a:rPr lang="en-GB" altLang="en-US" smtClean="0"/>
              <a:t>Zweite Ebene</a:t>
            </a:r>
          </a:p>
          <a:p>
            <a:pPr lvl="2"/>
            <a:r>
              <a:rPr lang="en-GB" altLang="en-US" smtClean="0"/>
              <a:t>Dritte Ebene</a:t>
            </a:r>
          </a:p>
          <a:p>
            <a:pPr lvl="3"/>
            <a:r>
              <a:rPr lang="en-GB" altLang="en-US" smtClean="0"/>
              <a:t>Vierte Ebene</a:t>
            </a:r>
          </a:p>
          <a:p>
            <a:pPr lvl="4"/>
            <a:r>
              <a:rPr lang="en-GB" altLang="en-US" smtClean="0"/>
              <a:t>Fünfte Ebene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627313" y="6381750"/>
            <a:ext cx="295275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003366"/>
                </a:solidFill>
              </a:defRPr>
            </a:lvl1pPr>
          </a:lstStyle>
          <a:p>
            <a:pPr eaLnBrk="1" hangingPunct="1">
              <a:defRPr/>
            </a:pPr>
            <a:r>
              <a:rPr lang="en-GB" b="0">
                <a:latin typeface="Arial" charset="0"/>
                <a:ea typeface="+mn-ea"/>
              </a:rPr>
              <a:t>Koblenz, </a:t>
            </a:r>
            <a:fld id="{61FD13C3-70D0-4E51-8230-7AFA0AAAA86A}" type="datetime1">
              <a:rPr lang="en-GB" b="0">
                <a:latin typeface="Arial" charset="0"/>
                <a:ea typeface="+mn-ea"/>
              </a:rPr>
              <a:pPr eaLnBrk="1" hangingPunct="1">
                <a:defRPr/>
              </a:pPr>
              <a:t>3/8/16</a:t>
            </a:fld>
            <a:endParaRPr lang="en-GB" b="0">
              <a:latin typeface="Arial" charset="0"/>
              <a:ea typeface="+mn-ea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03350" y="6408738"/>
            <a:ext cx="4897438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003366"/>
                </a:solidFill>
              </a:defRPr>
            </a:lvl1pPr>
          </a:lstStyle>
          <a:p>
            <a:pPr eaLnBrk="1" hangingPunct="1">
              <a:defRPr/>
            </a:pPr>
            <a:r>
              <a:rPr lang="en-GB" b="0">
                <a:latin typeface="Arial" charset="0"/>
                <a:ea typeface="+mn-ea"/>
              </a:rPr>
              <a:t>11th meeting of GRDC SC, Koblenz, 2013, June 10 - 12</a:t>
            </a:r>
          </a:p>
        </p:txBody>
      </p:sp>
      <p:pic>
        <p:nvPicPr>
          <p:cNvPr id="1033" name="Picture 10" descr="wmo_black_400 Kopie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439944" y="6180047"/>
            <a:ext cx="493712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2864" name="Text Box 16"/>
          <p:cNvSpPr txBox="1">
            <a:spLocks noChangeArrowheads="1"/>
          </p:cNvSpPr>
          <p:nvPr userDrawn="1"/>
        </p:nvSpPr>
        <p:spPr bwMode="auto">
          <a:xfrm>
            <a:off x="174625" y="6092825"/>
            <a:ext cx="1157288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4000" smtClean="0">
                <a:solidFill>
                  <a:srgbClr val="003366"/>
                </a:solidFill>
                <a:latin typeface="Times New Roman" pitchFamily="18" charset="0"/>
                <a:ea typeface="+mn-ea"/>
              </a:rPr>
              <a:t>OGC</a:t>
            </a:r>
          </a:p>
        </p:txBody>
      </p:sp>
      <p:sp>
        <p:nvSpPr>
          <p:cNvPr id="1035" name="Line 13"/>
          <p:cNvSpPr>
            <a:spLocks noChangeShapeType="1"/>
          </p:cNvSpPr>
          <p:nvPr userDrawn="1"/>
        </p:nvSpPr>
        <p:spPr bwMode="auto">
          <a:xfrm>
            <a:off x="468313" y="1196975"/>
            <a:ext cx="8207375" cy="0"/>
          </a:xfrm>
          <a:prstGeom prst="line">
            <a:avLst/>
          </a:prstGeom>
          <a:noFill/>
          <a:ln w="19050">
            <a:solidFill>
              <a:srgbClr val="669FD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GB" sz="1800" b="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  <p:sp>
        <p:nvSpPr>
          <p:cNvPr id="1036" name="Line 14"/>
          <p:cNvSpPr>
            <a:spLocks noChangeShapeType="1"/>
          </p:cNvSpPr>
          <p:nvPr userDrawn="1"/>
        </p:nvSpPr>
        <p:spPr bwMode="auto">
          <a:xfrm>
            <a:off x="468313" y="6130925"/>
            <a:ext cx="8207375" cy="0"/>
          </a:xfrm>
          <a:prstGeom prst="line">
            <a:avLst/>
          </a:prstGeom>
          <a:noFill/>
          <a:ln w="19050">
            <a:solidFill>
              <a:srgbClr val="669FD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GB" sz="1800" b="0">
              <a:solidFill>
                <a:srgbClr val="000000"/>
              </a:solidFill>
              <a:latin typeface="Arial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06009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2" r:id="rId1"/>
    <p:sldLayoutId id="2147484053" r:id="rId2"/>
    <p:sldLayoutId id="2147484054" r:id="rId3"/>
    <p:sldLayoutId id="2147484055" r:id="rId4"/>
    <p:sldLayoutId id="2147484056" r:id="rId5"/>
    <p:sldLayoutId id="2147484057" r:id="rId6"/>
    <p:sldLayoutId id="2147484058" r:id="rId7"/>
    <p:sldLayoutId id="2147484059" r:id="rId8"/>
    <p:sldLayoutId id="2147484060" r:id="rId9"/>
    <p:sldLayoutId id="2147484061" r:id="rId10"/>
    <p:sldLayoutId id="2147484062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8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 dirty="0" smtClean="0">
                <a:latin typeface="Arial Black" charset="0"/>
                <a:ea typeface="MS PGothic" charset="-128"/>
              </a:rPr>
              <a:t>Water Standards Branding re: </a:t>
            </a:r>
            <a:r>
              <a:rPr lang="en-US" altLang="en-US" sz="2800" dirty="0" err="1" smtClean="0">
                <a:latin typeface="Arial Black" charset="0"/>
                <a:ea typeface="MS PGothic" charset="-128"/>
              </a:rPr>
              <a:t>HY_Features</a:t>
            </a:r>
            <a:r>
              <a:rPr lang="en-US" altLang="en-US" sz="2800" dirty="0" smtClean="0">
                <a:latin typeface="Arial Black" charset="0"/>
                <a:ea typeface="MS PGothic" charset="-128"/>
              </a:rPr>
              <a:t> and GWML2</a:t>
            </a:r>
            <a:endParaRPr lang="en-US" altLang="en-US" sz="2800" dirty="0">
              <a:latin typeface="Arial Black" charset="0"/>
              <a:ea typeface="MS PGothic" charset="-128"/>
            </a:endParaRPr>
          </a:p>
        </p:txBody>
      </p:sp>
      <p:sp>
        <p:nvSpPr>
          <p:cNvPr id="15362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sz="2000" dirty="0" smtClean="0"/>
              <a:t>98th OGC Technical Committee</a:t>
            </a:r>
          </a:p>
          <a:p>
            <a:r>
              <a:rPr lang="en-US" altLang="en-US" sz="2000" dirty="0" smtClean="0"/>
              <a:t>Washington, DC USA</a:t>
            </a:r>
          </a:p>
          <a:p>
            <a:r>
              <a:rPr lang="en-US" altLang="en-US" sz="2000" dirty="0" smtClean="0"/>
              <a:t>Irina </a:t>
            </a:r>
            <a:r>
              <a:rPr lang="en-US" altLang="en-US" sz="2000" dirty="0" err="1" smtClean="0"/>
              <a:t>Dornblut</a:t>
            </a:r>
            <a:r>
              <a:rPr lang="en-US" altLang="en-US" sz="2000" dirty="0" smtClean="0"/>
              <a:t> and Dave Blodgett, </a:t>
            </a:r>
            <a:r>
              <a:rPr lang="en-US" altLang="en-US" sz="2000" dirty="0" err="1" smtClean="0"/>
              <a:t>HydroFeature</a:t>
            </a:r>
            <a:r>
              <a:rPr lang="en-US" altLang="en-US" sz="2000" dirty="0" smtClean="0"/>
              <a:t> SWG</a:t>
            </a:r>
          </a:p>
          <a:p>
            <a:r>
              <a:rPr lang="en-US" altLang="en-US" sz="2000" dirty="0" smtClean="0"/>
              <a:t>9 March 2016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9pPr>
          </a:lstStyle>
          <a:p>
            <a:pPr>
              <a:defRPr/>
            </a:pPr>
            <a:r>
              <a:rPr lang="en-US" altLang="en-US" sz="900" b="0" dirty="0" smtClean="0">
                <a:solidFill>
                  <a:srgbClr val="092E5C"/>
                </a:solidFill>
                <a:latin typeface="Arial" charset="0"/>
              </a:rPr>
              <a:t>Copyright © 2016 Open Geospatial Consortium</a:t>
            </a:r>
          </a:p>
        </p:txBody>
      </p:sp>
    </p:spTree>
    <p:extLst>
      <p:ext uri="{BB962C8B-B14F-4D97-AF65-F5344CB8AC3E}">
        <p14:creationId xmlns:p14="http://schemas.microsoft.com/office/powerpoint/2010/main" val="270642285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marL="0" indent="0"/>
            <a:r>
              <a:rPr lang="en-GB" sz="3600" smtClean="0">
                <a:solidFill>
                  <a:srgbClr val="002060"/>
                </a:solidFill>
              </a:rPr>
              <a:t>“Sailing under the WaterML flag” ?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304800" y="1295400"/>
            <a:ext cx="8534400" cy="4968552"/>
          </a:xfrm>
        </p:spPr>
        <p:txBody>
          <a:bodyPr>
            <a:normAutofit/>
          </a:bodyPr>
          <a:lstStyle/>
          <a:p>
            <a:r>
              <a:rPr lang="en-GB" sz="2800" dirty="0">
                <a:solidFill>
                  <a:srgbClr val="002060"/>
                </a:solidFill>
              </a:rPr>
              <a:t>W</a:t>
            </a:r>
            <a:r>
              <a:rPr lang="en-GB" sz="2800" dirty="0" smtClean="0">
                <a:solidFill>
                  <a:srgbClr val="002060"/>
                </a:solidFill>
              </a:rPr>
              <a:t>ill </a:t>
            </a:r>
            <a:r>
              <a:rPr lang="en-GB" sz="2800" dirty="0" smtClean="0">
                <a:solidFill>
                  <a:srgbClr val="002060"/>
                </a:solidFill>
              </a:rPr>
              <a:t>focus user </a:t>
            </a:r>
            <a:r>
              <a:rPr lang="en-GB" sz="2800" dirty="0" smtClean="0">
                <a:solidFill>
                  <a:srgbClr val="002060"/>
                </a:solidFill>
              </a:rPr>
              <a:t>perception on a suite of standards</a:t>
            </a:r>
            <a:endParaRPr lang="en-GB" sz="2800" dirty="0" smtClean="0">
              <a:solidFill>
                <a:srgbClr val="002060"/>
              </a:solidFill>
            </a:endParaRPr>
          </a:p>
          <a:p>
            <a:pPr lvl="1"/>
            <a:r>
              <a:rPr lang="en-GB" sz="2400" dirty="0" smtClean="0">
                <a:solidFill>
                  <a:srgbClr val="002060"/>
                </a:solidFill>
              </a:rPr>
              <a:t>through historical context </a:t>
            </a:r>
            <a:r>
              <a:rPr lang="en-GB" sz="2400" dirty="0">
                <a:solidFill>
                  <a:srgbClr val="002060"/>
                </a:solidFill>
              </a:rPr>
              <a:t>to </a:t>
            </a:r>
            <a:r>
              <a:rPr lang="en-GB" sz="2400" dirty="0" smtClean="0">
                <a:solidFill>
                  <a:srgbClr val="002060"/>
                </a:solidFill>
              </a:rPr>
              <a:t>the representation </a:t>
            </a:r>
            <a:r>
              <a:rPr lang="en-GB" sz="2400" dirty="0">
                <a:solidFill>
                  <a:srgbClr val="002060"/>
                </a:solidFill>
              </a:rPr>
              <a:t>of water observations </a:t>
            </a:r>
            <a:r>
              <a:rPr lang="en-GB" sz="2400" dirty="0" smtClean="0">
                <a:solidFill>
                  <a:srgbClr val="002060"/>
                </a:solidFill>
              </a:rPr>
              <a:t>data </a:t>
            </a:r>
            <a:r>
              <a:rPr lang="en-GB" sz="2400" u="sng" dirty="0" smtClean="0">
                <a:solidFill>
                  <a:srgbClr val="002060"/>
                </a:solidFill>
              </a:rPr>
              <a:t>not</a:t>
            </a:r>
            <a:r>
              <a:rPr lang="en-GB" sz="2400" dirty="0" smtClean="0">
                <a:solidFill>
                  <a:srgbClr val="002060"/>
                </a:solidFill>
              </a:rPr>
              <a:t> feature data.</a:t>
            </a:r>
            <a:endParaRPr lang="en-GB" sz="2400" dirty="0" smtClean="0">
              <a:solidFill>
                <a:srgbClr val="002060"/>
              </a:solidFill>
            </a:endParaRPr>
          </a:p>
          <a:p>
            <a:pPr lvl="1"/>
            <a:r>
              <a:rPr lang="en-GB" sz="2400" dirty="0" smtClean="0">
                <a:solidFill>
                  <a:srgbClr val="002060"/>
                </a:solidFill>
              </a:rPr>
              <a:t>to </a:t>
            </a:r>
            <a:r>
              <a:rPr lang="en-GB" sz="2400" dirty="0" smtClean="0">
                <a:solidFill>
                  <a:srgbClr val="002060"/>
                </a:solidFill>
              </a:rPr>
              <a:t>an xml encoded </a:t>
            </a:r>
            <a:r>
              <a:rPr lang="en-GB" sz="2400" dirty="0" smtClean="0">
                <a:solidFill>
                  <a:srgbClr val="002060"/>
                </a:solidFill>
              </a:rPr>
              <a:t>exchange format, </a:t>
            </a:r>
            <a:r>
              <a:rPr lang="en-GB" sz="2400" u="sng" dirty="0" smtClean="0">
                <a:solidFill>
                  <a:srgbClr val="002060"/>
                </a:solidFill>
              </a:rPr>
              <a:t>which is not</a:t>
            </a:r>
            <a:r>
              <a:rPr lang="en-GB" sz="2400" dirty="0" smtClean="0">
                <a:solidFill>
                  <a:srgbClr val="002060"/>
                </a:solidFill>
              </a:rPr>
              <a:t> in scope of Hydrologic Feature </a:t>
            </a:r>
            <a:r>
              <a:rPr lang="en-GB" sz="2400" dirty="0" smtClean="0">
                <a:solidFill>
                  <a:srgbClr val="002060"/>
                </a:solidFill>
              </a:rPr>
              <a:t>standard.</a:t>
            </a:r>
            <a:endParaRPr lang="en-GB" sz="2400" dirty="0" smtClean="0">
              <a:solidFill>
                <a:srgbClr val="002060"/>
              </a:solidFill>
            </a:endParaRPr>
          </a:p>
          <a:p>
            <a:pPr>
              <a:spcBef>
                <a:spcPts val="1200"/>
              </a:spcBef>
            </a:pPr>
            <a:r>
              <a:rPr lang="en-GB" sz="2800" dirty="0" smtClean="0">
                <a:solidFill>
                  <a:srgbClr val="002060"/>
                </a:solidFill>
              </a:rPr>
              <a:t>may confuse users, rather then guiding them</a:t>
            </a:r>
          </a:p>
          <a:p>
            <a:pPr lvl="1"/>
            <a:r>
              <a:rPr lang="en-GB" sz="2400" dirty="0">
                <a:solidFill>
                  <a:srgbClr val="002060"/>
                </a:solidFill>
              </a:rPr>
              <a:t>e</a:t>
            </a:r>
            <a:r>
              <a:rPr lang="en-GB" sz="2400" dirty="0" smtClean="0">
                <a:solidFill>
                  <a:srgbClr val="002060"/>
                </a:solidFill>
              </a:rPr>
              <a:t>.g. “WaterML2, </a:t>
            </a:r>
            <a:r>
              <a:rPr lang="en-GB" sz="2400" dirty="0">
                <a:solidFill>
                  <a:srgbClr val="002060"/>
                </a:solidFill>
              </a:rPr>
              <a:t>Part </a:t>
            </a:r>
            <a:r>
              <a:rPr lang="en-GB" sz="2400" dirty="0" smtClean="0">
                <a:solidFill>
                  <a:srgbClr val="002060"/>
                </a:solidFill>
              </a:rPr>
              <a:t>xyz: </a:t>
            </a:r>
            <a:r>
              <a:rPr lang="en-GB" sz="2400" dirty="0">
                <a:solidFill>
                  <a:srgbClr val="002060"/>
                </a:solidFill>
              </a:rPr>
              <a:t>[HYF], Part 2: </a:t>
            </a:r>
            <a:r>
              <a:rPr lang="en-GB" sz="2400" dirty="0" smtClean="0">
                <a:solidFill>
                  <a:srgbClr val="002060"/>
                </a:solidFill>
              </a:rPr>
              <a:t>… (OWL) … ”</a:t>
            </a:r>
          </a:p>
          <a:p>
            <a:pPr marL="457200" lvl="1" indent="0">
              <a:buNone/>
            </a:pPr>
            <a:r>
              <a:rPr lang="en-GB" dirty="0" smtClean="0">
                <a:solidFill>
                  <a:srgbClr val="002060"/>
                </a:solidFill>
              </a:rPr>
              <a:t> {water} {WML exchange format} ? {hydrologic feature} {ontology}</a:t>
            </a:r>
            <a:endParaRPr lang="en-GB" dirty="0">
              <a:solidFill>
                <a:srgbClr val="002060"/>
              </a:solidFill>
            </a:endParaRPr>
          </a:p>
          <a:p>
            <a:endParaRPr lang="en-GB" dirty="0" smtClean="0">
              <a:solidFill>
                <a:srgbClr val="002060"/>
              </a:solidFill>
            </a:endParaRPr>
          </a:p>
          <a:p>
            <a:endParaRPr lang="en-GB" dirty="0" smtClean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8539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en-GB" sz="3600" dirty="0" smtClean="0">
                <a:solidFill>
                  <a:srgbClr val="002060"/>
                </a:solidFill>
              </a:rPr>
              <a:t> “Name </a:t>
            </a:r>
            <a:r>
              <a:rPr lang="en-GB" sz="3600" dirty="0" smtClean="0">
                <a:solidFill>
                  <a:srgbClr val="002060"/>
                </a:solidFill>
              </a:rPr>
              <a:t>it what </a:t>
            </a:r>
            <a:r>
              <a:rPr lang="en-GB" sz="3600" dirty="0" smtClean="0">
                <a:solidFill>
                  <a:srgbClr val="002060"/>
                </a:solidFill>
              </a:rPr>
              <a:t>it </a:t>
            </a:r>
            <a:r>
              <a:rPr lang="en-GB" sz="3600" dirty="0" smtClean="0">
                <a:solidFill>
                  <a:srgbClr val="002060"/>
                </a:solidFill>
              </a:rPr>
              <a:t>is.”</a:t>
            </a:r>
            <a:endParaRPr lang="en-GB" sz="3600" dirty="0" smtClean="0">
              <a:solidFill>
                <a:srgbClr val="002060"/>
              </a:solidFill>
            </a:endParaRP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575556" y="1295400"/>
            <a:ext cx="8263644" cy="4968552"/>
          </a:xfrm>
        </p:spPr>
        <p:txBody>
          <a:bodyPr>
            <a:noAutofit/>
          </a:bodyPr>
          <a:lstStyle/>
          <a:p>
            <a:r>
              <a:rPr lang="en-GB" dirty="0" smtClean="0">
                <a:solidFill>
                  <a:srgbClr val="002060"/>
                </a:solidFill>
              </a:rPr>
              <a:t>One of several “Water Information Standards</a:t>
            </a:r>
            <a:r>
              <a:rPr lang="en-GB" dirty="0" smtClean="0">
                <a:solidFill>
                  <a:srgbClr val="002060"/>
                </a:solidFill>
              </a:rPr>
              <a:t>” (see later slide)</a:t>
            </a:r>
            <a:endParaRPr lang="en-GB" dirty="0" smtClean="0">
              <a:solidFill>
                <a:srgbClr val="002060"/>
              </a:solidFill>
            </a:endParaRPr>
          </a:p>
          <a:p>
            <a:r>
              <a:rPr lang="en-GB" dirty="0" smtClean="0">
                <a:solidFill>
                  <a:srgbClr val="002060"/>
                </a:solidFill>
              </a:rPr>
              <a:t>Standard to </a:t>
            </a:r>
            <a:r>
              <a:rPr lang="en-GB" dirty="0" smtClean="0">
                <a:solidFill>
                  <a:srgbClr val="002060"/>
                </a:solidFill>
              </a:rPr>
              <a:t>exchange </a:t>
            </a:r>
            <a:r>
              <a:rPr lang="en-GB" dirty="0" smtClean="0">
                <a:solidFill>
                  <a:srgbClr val="002060"/>
                </a:solidFill>
              </a:rPr>
              <a:t>description of hydrologic features (on the web, </a:t>
            </a:r>
            <a:r>
              <a:rPr lang="en-GB" dirty="0" err="1" smtClean="0">
                <a:solidFill>
                  <a:srgbClr val="002060"/>
                </a:solidFill>
              </a:rPr>
              <a:t>ie</a:t>
            </a:r>
            <a:r>
              <a:rPr lang="en-GB" dirty="0" smtClean="0">
                <a:solidFill>
                  <a:srgbClr val="002060"/>
                </a:solidFill>
              </a:rPr>
              <a:t>. </a:t>
            </a:r>
            <a:r>
              <a:rPr lang="en-GB" dirty="0" smtClean="0">
                <a:solidFill>
                  <a:srgbClr val="002060"/>
                </a:solidFill>
              </a:rPr>
              <a:t>OGC/W3C Spatial Data on the Web)</a:t>
            </a:r>
          </a:p>
          <a:p>
            <a:r>
              <a:rPr lang="en-GB" dirty="0" smtClean="0">
                <a:solidFill>
                  <a:srgbClr val="002060"/>
                </a:solidFill>
              </a:rPr>
              <a:t>Providing a </a:t>
            </a:r>
            <a:r>
              <a:rPr lang="en-GB" dirty="0" smtClean="0">
                <a:solidFill>
                  <a:srgbClr val="002060"/>
                </a:solidFill>
              </a:rPr>
              <a:t>conceptual basis </a:t>
            </a:r>
            <a:r>
              <a:rPr lang="en-GB" dirty="0" smtClean="0">
                <a:solidFill>
                  <a:srgbClr val="002060"/>
                </a:solidFill>
              </a:rPr>
              <a:t>for </a:t>
            </a:r>
            <a:r>
              <a:rPr lang="en-GB" dirty="0" smtClean="0">
                <a:solidFill>
                  <a:srgbClr val="002060"/>
                </a:solidFill>
              </a:rPr>
              <a:t>the development of feature transfer </a:t>
            </a:r>
            <a:r>
              <a:rPr lang="en-GB" dirty="0" smtClean="0">
                <a:solidFill>
                  <a:srgbClr val="002060"/>
                </a:solidFill>
              </a:rPr>
              <a:t>formats (which might be WaterML2 P X?)</a:t>
            </a:r>
            <a:endParaRPr lang="en-GB" dirty="0" smtClean="0">
              <a:solidFill>
                <a:srgbClr val="002060"/>
              </a:solidFill>
            </a:endParaRPr>
          </a:p>
          <a:p>
            <a:r>
              <a:rPr lang="en-GB" dirty="0" smtClean="0">
                <a:solidFill>
                  <a:srgbClr val="002060"/>
                </a:solidFill>
              </a:rPr>
              <a:t>Providing semantics </a:t>
            </a:r>
            <a:r>
              <a:rPr lang="en-GB" dirty="0" smtClean="0">
                <a:solidFill>
                  <a:srgbClr val="002060"/>
                </a:solidFill>
              </a:rPr>
              <a:t>for</a:t>
            </a:r>
            <a:r>
              <a:rPr lang="en-GB" dirty="0" smtClean="0">
                <a:solidFill>
                  <a:srgbClr val="002060"/>
                </a:solidFill>
              </a:rPr>
              <a:t> </a:t>
            </a:r>
            <a:r>
              <a:rPr lang="en-GB" dirty="0" smtClean="0">
                <a:solidFill>
                  <a:srgbClr val="002060"/>
                </a:solidFill>
              </a:rPr>
              <a:t>development </a:t>
            </a:r>
            <a:r>
              <a:rPr lang="en-GB" dirty="0" smtClean="0">
                <a:solidFill>
                  <a:srgbClr val="002060"/>
                </a:solidFill>
              </a:rPr>
              <a:t>of water </a:t>
            </a:r>
            <a:r>
              <a:rPr lang="en-GB" dirty="0" smtClean="0">
                <a:solidFill>
                  <a:srgbClr val="002060"/>
                </a:solidFill>
              </a:rPr>
              <a:t>ontologies (using OWL/RDF)</a:t>
            </a:r>
          </a:p>
          <a:p>
            <a:pPr lvl="1"/>
            <a:endParaRPr lang="en-GB" sz="2400" dirty="0" smtClean="0">
              <a:solidFill>
                <a:srgbClr val="00206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GB" dirty="0" smtClean="0">
                <a:solidFill>
                  <a:srgbClr val="002060"/>
                </a:solidFill>
                <a:sym typeface="Wingdings" panose="05000000000000000000" pitchFamily="2" charset="2"/>
              </a:rPr>
              <a:t>Option 1) Keep</a:t>
            </a:r>
            <a:r>
              <a:rPr lang="en-GB" dirty="0" smtClean="0">
                <a:solidFill>
                  <a:srgbClr val="002060"/>
                </a:solidFill>
              </a:rPr>
              <a:t> </a:t>
            </a:r>
            <a:r>
              <a:rPr lang="en-GB" dirty="0" smtClean="0">
                <a:solidFill>
                  <a:srgbClr val="002060"/>
                </a:solidFill>
              </a:rPr>
              <a:t>the </a:t>
            </a:r>
            <a:r>
              <a:rPr lang="en-GB" b="1" dirty="0" smtClean="0">
                <a:solidFill>
                  <a:srgbClr val="002060"/>
                </a:solidFill>
              </a:rPr>
              <a:t>“Hydrologic Feature Model” </a:t>
            </a:r>
            <a:r>
              <a:rPr lang="en-GB" dirty="0" smtClean="0">
                <a:solidFill>
                  <a:srgbClr val="002060"/>
                </a:solidFill>
              </a:rPr>
              <a:t>title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 smtClean="0">
                <a:solidFill>
                  <a:srgbClr val="002060"/>
                </a:solidFill>
              </a:rPr>
              <a:t>Option 2) Adopt WaterML2 branding</a:t>
            </a:r>
            <a:r>
              <a:rPr lang="is-IS" dirty="0" smtClean="0">
                <a:solidFill>
                  <a:srgbClr val="002060"/>
                </a:solidFill>
              </a:rPr>
              <a:t>…</a:t>
            </a:r>
            <a:endParaRPr lang="en-GB" dirty="0" smtClean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GB" dirty="0" smtClean="0">
              <a:solidFill>
                <a:srgbClr val="002060"/>
              </a:solidFill>
            </a:endParaRPr>
          </a:p>
          <a:p>
            <a:endParaRPr lang="en-GB" dirty="0" smtClean="0">
              <a:solidFill>
                <a:srgbClr val="002060"/>
              </a:solidFill>
            </a:endParaRPr>
          </a:p>
          <a:p>
            <a:endParaRPr lang="en-GB" dirty="0" smtClean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8434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 Considerations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WaterML2 is a </a:t>
            </a:r>
            <a:r>
              <a:rPr lang="en-US" u="sng" dirty="0" smtClean="0"/>
              <a:t>brand</a:t>
            </a:r>
            <a:r>
              <a:rPr lang="en-US" dirty="0" smtClean="0"/>
              <a:t> indicating something is part of the ‘water suite’ of standards.</a:t>
            </a:r>
          </a:p>
          <a:p>
            <a:r>
              <a:rPr lang="en-US" dirty="0" smtClean="0"/>
              <a:t>WaterML2 was never meant to convey details about the implemented standard.</a:t>
            </a:r>
          </a:p>
          <a:p>
            <a:r>
              <a:rPr lang="en-US" dirty="0" smtClean="0"/>
              <a:t>David Lemon: “Do </a:t>
            </a:r>
            <a:r>
              <a:rPr lang="en-US" dirty="0"/>
              <a:t>we want a system that accentuates the differences between things or do we want a system that identifies the components and the </a:t>
            </a:r>
            <a:r>
              <a:rPr lang="en-US" dirty="0" smtClean="0"/>
              <a:t>commonalities? </a:t>
            </a:r>
            <a:r>
              <a:rPr lang="en-US" dirty="0"/>
              <a:t>Do we want to be managing one brand or struggling with multiple brands</a:t>
            </a:r>
            <a:r>
              <a:rPr lang="en-US" dirty="0" smtClean="0"/>
              <a:t>?”</a:t>
            </a:r>
          </a:p>
          <a:p>
            <a:r>
              <a:rPr lang="en-US" dirty="0" smtClean="0"/>
              <a:t>Decision made by GWML2 SWG:</a:t>
            </a:r>
          </a:p>
          <a:p>
            <a:pPr lvl="1"/>
            <a:r>
              <a:rPr lang="en-US" dirty="0" smtClean="0"/>
              <a:t>“</a:t>
            </a:r>
            <a:r>
              <a:rPr lang="en-US" dirty="0" err="1"/>
              <a:t>WaterML</a:t>
            </a:r>
            <a:r>
              <a:rPr lang="en-US" dirty="0"/>
              <a:t> 2.0: Part3 – </a:t>
            </a:r>
            <a:r>
              <a:rPr lang="en-US" dirty="0" err="1"/>
              <a:t>GroundWaterML</a:t>
            </a:r>
            <a:r>
              <a:rPr lang="en-US" dirty="0"/>
              <a:t> 2 (GWML2)”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Copyright © 2016 Open Geospatial Consortium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1976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3" y="115888"/>
            <a:ext cx="8713787" cy="1143000"/>
          </a:xfrm>
        </p:spPr>
        <p:txBody>
          <a:bodyPr/>
          <a:lstStyle/>
          <a:p>
            <a:pPr eaLnBrk="1" hangingPunct="1"/>
            <a:r>
              <a:rPr lang="en-GB" altLang="en-US" sz="3200" dirty="0" smtClean="0">
                <a:solidFill>
                  <a:srgbClr val="003366"/>
                </a:solidFill>
              </a:rPr>
              <a:t>WMO/OGC Hydrology Domain Working Group</a:t>
            </a:r>
            <a:br>
              <a:rPr lang="en-GB" altLang="en-US" sz="3200" dirty="0" smtClean="0">
                <a:solidFill>
                  <a:srgbClr val="003366"/>
                </a:solidFill>
              </a:rPr>
            </a:br>
            <a:r>
              <a:rPr lang="en-GB" altLang="en-US" sz="3200" dirty="0" smtClean="0">
                <a:solidFill>
                  <a:srgbClr val="003366"/>
                </a:solidFill>
              </a:rPr>
              <a:t>WaterML2 suite</a:t>
            </a:r>
          </a:p>
        </p:txBody>
      </p:sp>
      <p:sp>
        <p:nvSpPr>
          <p:cNvPr id="19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410866" y="6408738"/>
            <a:ext cx="4897438" cy="476250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 dirty="0" smtClean="0">
                <a:solidFill>
                  <a:srgbClr val="003366"/>
                </a:solidFill>
              </a:rPr>
              <a:t>19 February 2016</a:t>
            </a:r>
            <a:endParaRPr lang="en-GB" altLang="en-US" dirty="0">
              <a:solidFill>
                <a:srgbClr val="003366"/>
              </a:solidFill>
            </a:endParaRPr>
          </a:p>
        </p:txBody>
      </p:sp>
      <p:grpSp>
        <p:nvGrpSpPr>
          <p:cNvPr id="20" name="Gruppieren 2"/>
          <p:cNvGrpSpPr/>
          <p:nvPr/>
        </p:nvGrpSpPr>
        <p:grpSpPr>
          <a:xfrm>
            <a:off x="1293620" y="2116485"/>
            <a:ext cx="6623046" cy="3226981"/>
            <a:chOff x="1318203" y="1908835"/>
            <a:chExt cx="6623046" cy="390464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21" name="Gruppieren 5"/>
            <p:cNvGrpSpPr/>
            <p:nvPr/>
          </p:nvGrpSpPr>
          <p:grpSpPr>
            <a:xfrm>
              <a:off x="1318203" y="1908835"/>
              <a:ext cx="6623046" cy="3904647"/>
              <a:chOff x="934404" y="1573378"/>
              <a:chExt cx="7285351" cy="4724623"/>
            </a:xfrm>
          </p:grpSpPr>
          <p:sp>
            <p:nvSpPr>
              <p:cNvPr id="33" name="Ellipse 6"/>
              <p:cNvSpPr/>
              <p:nvPr/>
            </p:nvSpPr>
            <p:spPr bwMode="auto">
              <a:xfrm>
                <a:off x="934404" y="1573378"/>
                <a:ext cx="7285351" cy="4724623"/>
              </a:xfrm>
              <a:prstGeom prst="ellipse">
                <a:avLst/>
              </a:prstGeom>
              <a:solidFill>
                <a:srgbClr val="DDDDDD"/>
              </a:solidFill>
              <a:ln w="1905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50800" dir="7440000" sx="89000" sy="89000" algn="ctr" rotWithShape="0">
                  <a:srgbClr val="000000">
                    <a:alpha val="43137"/>
                  </a:srgbClr>
                </a:outerShdw>
              </a:effectLst>
            </p:spPr>
            <p:txBody>
              <a:bodyPr rtlCol="0" anchor="ctr"/>
              <a:lstStyle/>
              <a:p>
                <a:pPr algn="ctr" eaLnBrk="1" hangingPunct="1"/>
                <a:endParaRPr lang="en-GB" sz="1800" b="0">
                  <a:solidFill>
                    <a:srgbClr val="000000"/>
                  </a:solidFill>
                  <a:latin typeface="Arial" charset="0"/>
                  <a:ea typeface="+mn-ea"/>
                </a:endParaRPr>
              </a:p>
            </p:txBody>
          </p:sp>
          <p:sp>
            <p:nvSpPr>
              <p:cNvPr id="34" name="Textfeld 15"/>
              <p:cNvSpPr txBox="1"/>
              <p:nvPr/>
            </p:nvSpPr>
            <p:spPr>
              <a:xfrm>
                <a:off x="2096668" y="3023783"/>
                <a:ext cx="5453888" cy="16447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eaLnBrk="1" hangingPunct="1"/>
                <a:r>
                  <a:rPr lang="de-DE" sz="2200" b="0" u="sng" dirty="0" err="1" smtClean="0">
                    <a:solidFill>
                      <a:srgbClr val="002060"/>
                    </a:solidFill>
                    <a:latin typeface="Arial" charset="0"/>
                    <a:ea typeface="+mn-ea"/>
                  </a:rPr>
                  <a:t>Hydrologic</a:t>
                </a:r>
                <a:r>
                  <a:rPr lang="de-DE" sz="2200" b="0" u="sng" dirty="0" smtClean="0">
                    <a:solidFill>
                      <a:srgbClr val="002060"/>
                    </a:solidFill>
                    <a:latin typeface="Arial" charset="0"/>
                    <a:ea typeface="+mn-ea"/>
                  </a:rPr>
                  <a:t>  </a:t>
                </a:r>
                <a:r>
                  <a:rPr lang="de-DE" sz="2200" b="0" u="sng" dirty="0">
                    <a:solidFill>
                      <a:srgbClr val="002060"/>
                    </a:solidFill>
                    <a:latin typeface="Arial" charset="0"/>
                    <a:ea typeface="+mn-ea"/>
                  </a:rPr>
                  <a:t>Information Standards</a:t>
                </a:r>
                <a:r>
                  <a:rPr lang="de-DE" sz="2200" b="0" dirty="0">
                    <a:solidFill>
                      <a:srgbClr val="002060"/>
                    </a:solidFill>
                    <a:latin typeface="Arial" charset="0"/>
                    <a:ea typeface="+mn-ea"/>
                  </a:rPr>
                  <a:t>: </a:t>
                </a:r>
                <a:endParaRPr lang="de-DE" sz="2200" b="0" dirty="0" smtClean="0">
                  <a:solidFill>
                    <a:srgbClr val="002060"/>
                  </a:solidFill>
                  <a:latin typeface="Arial" charset="0"/>
                  <a:ea typeface="+mn-ea"/>
                </a:endParaRPr>
              </a:p>
              <a:p>
                <a:pPr algn="ctr" eaLnBrk="1" hangingPunct="1"/>
                <a:endParaRPr lang="de-DE" sz="2200" b="0" dirty="0">
                  <a:solidFill>
                    <a:srgbClr val="002060"/>
                  </a:solidFill>
                  <a:latin typeface="Arial" charset="0"/>
                  <a:ea typeface="+mn-ea"/>
                </a:endParaRPr>
              </a:p>
              <a:p>
                <a:pPr algn="ctr" eaLnBrk="1" hangingPunct="1">
                  <a:spcBef>
                    <a:spcPts val="600"/>
                  </a:spcBef>
                </a:pPr>
                <a:r>
                  <a:rPr lang="de-DE" sz="1800" b="0" dirty="0" err="1" smtClean="0">
                    <a:solidFill>
                      <a:srgbClr val="002060"/>
                    </a:solidFill>
                    <a:latin typeface="Arial" charset="0"/>
                    <a:ea typeface="+mn-ea"/>
                  </a:rPr>
                  <a:t>of</a:t>
                </a:r>
                <a:r>
                  <a:rPr lang="de-DE" sz="1800" b="0" dirty="0" smtClean="0">
                    <a:solidFill>
                      <a:srgbClr val="002060"/>
                    </a:solidFill>
                    <a:latin typeface="Arial" charset="0"/>
                    <a:ea typeface="+mn-ea"/>
                  </a:rPr>
                  <a:t> </a:t>
                </a:r>
                <a:r>
                  <a:rPr lang="de-DE" sz="1800" b="0" dirty="0" err="1" smtClean="0">
                    <a:solidFill>
                      <a:srgbClr val="002060"/>
                    </a:solidFill>
                    <a:latin typeface="Arial" charset="0"/>
                    <a:ea typeface="+mn-ea"/>
                  </a:rPr>
                  <a:t>hydrologic</a:t>
                </a:r>
                <a:r>
                  <a:rPr lang="de-DE" sz="1800" b="0" dirty="0" smtClean="0">
                    <a:solidFill>
                      <a:srgbClr val="002060"/>
                    </a:solidFill>
                    <a:latin typeface="Arial" charset="0"/>
                    <a:ea typeface="+mn-ea"/>
                  </a:rPr>
                  <a:t> (</a:t>
                </a:r>
                <a:r>
                  <a:rPr lang="de-DE" sz="1800" b="0" dirty="0" err="1" smtClean="0">
                    <a:solidFill>
                      <a:srgbClr val="002060"/>
                    </a:solidFill>
                    <a:latin typeface="Arial" charset="0"/>
                    <a:ea typeface="+mn-ea"/>
                  </a:rPr>
                  <a:t>water</a:t>
                </a:r>
                <a:r>
                  <a:rPr lang="de-DE" sz="1800" b="0" dirty="0" smtClean="0">
                    <a:solidFill>
                      <a:srgbClr val="002060"/>
                    </a:solidFill>
                    <a:latin typeface="Arial" charset="0"/>
                    <a:ea typeface="+mn-ea"/>
                  </a:rPr>
                  <a:t>) </a:t>
                </a:r>
                <a:r>
                  <a:rPr lang="de-DE" sz="1800" b="0" dirty="0" err="1" smtClean="0">
                    <a:solidFill>
                      <a:srgbClr val="002060"/>
                    </a:solidFill>
                    <a:latin typeface="Arial" charset="0"/>
                    <a:ea typeface="+mn-ea"/>
                  </a:rPr>
                  <a:t>features</a:t>
                </a:r>
                <a:endParaRPr lang="en-US" sz="1800" b="0" dirty="0" err="1">
                  <a:solidFill>
                    <a:srgbClr val="002060"/>
                  </a:solidFill>
                  <a:latin typeface="Arial" charset="0"/>
                  <a:ea typeface="+mn-ea"/>
                </a:endParaRPr>
              </a:p>
            </p:txBody>
          </p:sp>
        </p:grpSp>
        <p:sp>
          <p:nvSpPr>
            <p:cNvPr id="26" name="Textfeld 1"/>
            <p:cNvSpPr txBox="1"/>
            <p:nvPr/>
          </p:nvSpPr>
          <p:spPr>
            <a:xfrm>
              <a:off x="3824343" y="3615842"/>
              <a:ext cx="1780352" cy="4841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eaLnBrk="1" hangingPunct="1"/>
              <a:r>
                <a:rPr lang="en-GB" sz="2000" dirty="0" smtClean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  <a:ea typeface="+mn-ea"/>
                </a:rPr>
                <a:t>Observation,</a:t>
              </a:r>
              <a:endParaRPr lang="en-GB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+mn-ea"/>
              </a:endParaRPr>
            </a:p>
          </p:txBody>
        </p:sp>
        <p:sp>
          <p:nvSpPr>
            <p:cNvPr id="27" name="Textfeld 35"/>
            <p:cNvSpPr txBox="1"/>
            <p:nvPr/>
          </p:nvSpPr>
          <p:spPr>
            <a:xfrm>
              <a:off x="2201683" y="3615844"/>
              <a:ext cx="1839384" cy="4841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1" hangingPunct="1"/>
              <a:r>
                <a:rPr lang="en-GB" sz="2000" smtClean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  <a:ea typeface="+mn-ea"/>
                </a:rPr>
                <a:t>Identification,</a:t>
              </a:r>
              <a:endParaRPr lang="en-GB" sz="20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+mn-ea"/>
              </a:endParaRPr>
            </a:p>
          </p:txBody>
        </p:sp>
        <p:sp>
          <p:nvSpPr>
            <p:cNvPr id="29" name="Textfeld 36"/>
            <p:cNvSpPr txBox="1"/>
            <p:nvPr/>
          </p:nvSpPr>
          <p:spPr>
            <a:xfrm>
              <a:off x="5398685" y="3599903"/>
              <a:ext cx="2088232" cy="4841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1" hangingPunct="1"/>
              <a:r>
                <a:rPr lang="en-GB" sz="2000" smtClean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  <a:ea typeface="+mn-ea"/>
                </a:rPr>
                <a:t>Representation</a:t>
              </a:r>
            </a:p>
          </p:txBody>
        </p:sp>
      </p:grpSp>
      <p:sp>
        <p:nvSpPr>
          <p:cNvPr id="35" name="File"/>
          <p:cNvSpPr>
            <a:spLocks noEditPoints="1" noChangeArrowheads="1"/>
          </p:cNvSpPr>
          <p:nvPr/>
        </p:nvSpPr>
        <p:spPr bwMode="auto">
          <a:xfrm>
            <a:off x="5930951" y="1888718"/>
            <a:ext cx="1276364" cy="949091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GB" b="0" dirty="0" smtClean="0">
                <a:solidFill>
                  <a:srgbClr val="002060"/>
                </a:solidFill>
                <a:latin typeface="Arial"/>
              </a:rPr>
              <a:t>WaterML2Part3</a:t>
            </a:r>
            <a:r>
              <a:rPr lang="en-GB" dirty="0" smtClean="0">
                <a:solidFill>
                  <a:srgbClr val="002060"/>
                </a:solidFill>
                <a:latin typeface="Arial"/>
              </a:rPr>
              <a:t>:</a:t>
            </a:r>
            <a:r>
              <a:rPr lang="en-GB" dirty="0">
                <a:solidFill>
                  <a:srgbClr val="002060"/>
                </a:solidFill>
                <a:latin typeface="Arial"/>
              </a:rPr>
              <a:t/>
            </a:r>
            <a:br>
              <a:rPr lang="en-GB" dirty="0">
                <a:solidFill>
                  <a:srgbClr val="002060"/>
                </a:solidFill>
                <a:latin typeface="Arial"/>
              </a:rPr>
            </a:br>
            <a:r>
              <a:rPr lang="en-GB" dirty="0">
                <a:solidFill>
                  <a:srgbClr val="002060"/>
                </a:solidFill>
                <a:latin typeface="Arial"/>
              </a:rPr>
              <a:t>Water Quality </a:t>
            </a:r>
            <a:r>
              <a:rPr lang="en-GB" dirty="0" smtClean="0">
                <a:solidFill>
                  <a:srgbClr val="002060"/>
                </a:solidFill>
                <a:latin typeface="Arial"/>
              </a:rPr>
              <a:t>Observation       </a:t>
            </a:r>
            <a:r>
              <a:rPr lang="en-GB" b="0" dirty="0" smtClean="0">
                <a:solidFill>
                  <a:srgbClr val="002060"/>
                </a:solidFill>
                <a:latin typeface="Arial"/>
              </a:rPr>
              <a:t>(OGC </a:t>
            </a:r>
            <a:r>
              <a:rPr lang="en-GB" b="0" dirty="0">
                <a:solidFill>
                  <a:srgbClr val="002060"/>
                </a:solidFill>
                <a:latin typeface="Arial"/>
              </a:rPr>
              <a:t>BP 14-003</a:t>
            </a:r>
            <a:r>
              <a:rPr lang="en-GB" dirty="0" smtClean="0">
                <a:solidFill>
                  <a:srgbClr val="002060"/>
                </a:solidFill>
                <a:latin typeface="Arial"/>
              </a:rPr>
              <a:t>)</a:t>
            </a:r>
            <a:endParaRPr lang="en-GB" dirty="0">
              <a:solidFill>
                <a:srgbClr val="002060"/>
              </a:solidFill>
              <a:latin typeface="Arial"/>
            </a:endParaRPr>
          </a:p>
        </p:txBody>
      </p:sp>
      <p:sp>
        <p:nvSpPr>
          <p:cNvPr id="36" name="File"/>
          <p:cNvSpPr>
            <a:spLocks noEditPoints="1" noChangeArrowheads="1"/>
          </p:cNvSpPr>
          <p:nvPr/>
        </p:nvSpPr>
        <p:spPr bwMode="auto">
          <a:xfrm>
            <a:off x="2217052" y="1795447"/>
            <a:ext cx="1276364" cy="949091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0" tIns="45720" rIns="7200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GB" b="0" dirty="0">
                <a:solidFill>
                  <a:srgbClr val="002060"/>
                </a:solidFill>
                <a:latin typeface="Arial"/>
              </a:rPr>
              <a:t>WaterML2Part1: </a:t>
            </a:r>
          </a:p>
          <a:p>
            <a:pPr algn="ctr" eaLnBrk="1" hangingPunct="1"/>
            <a:r>
              <a:rPr lang="en-GB" dirty="0" err="1" smtClean="0">
                <a:solidFill>
                  <a:srgbClr val="002060"/>
                </a:solidFill>
                <a:latin typeface="Arial"/>
              </a:rPr>
              <a:t>Timeseries</a:t>
            </a:r>
            <a:endParaRPr lang="en-GB" dirty="0" smtClean="0">
              <a:solidFill>
                <a:srgbClr val="002060"/>
              </a:solidFill>
              <a:latin typeface="Arial"/>
            </a:endParaRPr>
          </a:p>
          <a:p>
            <a:pPr algn="ctr" eaLnBrk="1" hangingPunct="1"/>
            <a:r>
              <a:rPr lang="en-GB" smtClean="0">
                <a:solidFill>
                  <a:srgbClr val="002060"/>
                </a:solidFill>
                <a:latin typeface="Arial"/>
              </a:rPr>
              <a:t>Observation</a:t>
            </a:r>
            <a:endParaRPr lang="en-GB" dirty="0">
              <a:solidFill>
                <a:srgbClr val="002060"/>
              </a:solidFill>
              <a:latin typeface="Arial"/>
            </a:endParaRPr>
          </a:p>
          <a:p>
            <a:pPr algn="ctr" eaLnBrk="1" hangingPunct="1"/>
            <a:r>
              <a:rPr lang="en-GB" b="0" dirty="0" smtClean="0">
                <a:solidFill>
                  <a:srgbClr val="002060"/>
                </a:solidFill>
                <a:latin typeface="Arial"/>
              </a:rPr>
              <a:t>(OGC IS 10-126r4)</a:t>
            </a:r>
            <a:endParaRPr lang="en-GB" b="0" dirty="0">
              <a:solidFill>
                <a:srgbClr val="002060"/>
              </a:solidFill>
              <a:latin typeface="Arial"/>
            </a:endParaRPr>
          </a:p>
        </p:txBody>
      </p:sp>
      <p:sp>
        <p:nvSpPr>
          <p:cNvPr id="37" name="File"/>
          <p:cNvSpPr>
            <a:spLocks noEditPoints="1" noChangeArrowheads="1"/>
          </p:cNvSpPr>
          <p:nvPr/>
        </p:nvSpPr>
        <p:spPr bwMode="auto">
          <a:xfrm>
            <a:off x="4054484" y="1506836"/>
            <a:ext cx="1276364" cy="949091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GB" b="0" dirty="0" smtClean="0">
                <a:solidFill>
                  <a:srgbClr val="002060"/>
                </a:solidFill>
                <a:latin typeface="Arial"/>
              </a:rPr>
              <a:t>WaterML2Part2</a:t>
            </a:r>
            <a:r>
              <a:rPr lang="en-GB" b="0" dirty="0">
                <a:solidFill>
                  <a:srgbClr val="002060"/>
                </a:solidFill>
                <a:latin typeface="Arial"/>
              </a:rPr>
              <a:t>:</a:t>
            </a:r>
            <a:r>
              <a:rPr lang="en-GB" dirty="0">
                <a:solidFill>
                  <a:srgbClr val="002060"/>
                </a:solidFill>
                <a:latin typeface="Arial"/>
              </a:rPr>
              <a:t> </a:t>
            </a:r>
            <a:r>
              <a:rPr lang="en-GB" dirty="0" smtClean="0">
                <a:solidFill>
                  <a:srgbClr val="002060"/>
                </a:solidFill>
                <a:latin typeface="Arial"/>
              </a:rPr>
              <a:t>         Ratings, </a:t>
            </a:r>
            <a:r>
              <a:rPr lang="en-GB" dirty="0" err="1" smtClean="0">
                <a:solidFill>
                  <a:srgbClr val="002060"/>
                </a:solidFill>
                <a:latin typeface="Arial"/>
              </a:rPr>
              <a:t>Gaugings</a:t>
            </a:r>
            <a:r>
              <a:rPr lang="en-GB" dirty="0" smtClean="0">
                <a:solidFill>
                  <a:srgbClr val="002060"/>
                </a:solidFill>
                <a:latin typeface="Arial"/>
              </a:rPr>
              <a:t>, Sections</a:t>
            </a:r>
          </a:p>
          <a:p>
            <a:pPr algn="ctr" eaLnBrk="1" hangingPunct="1"/>
            <a:r>
              <a:rPr lang="en-GB" b="0" dirty="0" smtClean="0">
                <a:solidFill>
                  <a:srgbClr val="002060"/>
                </a:solidFill>
                <a:latin typeface="Arial"/>
              </a:rPr>
              <a:t>(OGC IS 15-018r1)</a:t>
            </a:r>
            <a:endParaRPr lang="en-GB" b="0" dirty="0">
              <a:solidFill>
                <a:srgbClr val="002060"/>
              </a:solidFill>
              <a:latin typeface="Arial"/>
            </a:endParaRPr>
          </a:p>
        </p:txBody>
      </p:sp>
      <p:sp>
        <p:nvSpPr>
          <p:cNvPr id="38" name="File"/>
          <p:cNvSpPr>
            <a:spLocks noEditPoints="1" noChangeArrowheads="1"/>
          </p:cNvSpPr>
          <p:nvPr/>
        </p:nvSpPr>
        <p:spPr bwMode="auto">
          <a:xfrm>
            <a:off x="7389558" y="3110647"/>
            <a:ext cx="1276364" cy="1080120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GB" b="0" dirty="0">
                <a:solidFill>
                  <a:srgbClr val="002060"/>
                </a:solidFill>
                <a:latin typeface="Arial" charset="0"/>
              </a:rPr>
              <a:t>WaterML2Part4</a:t>
            </a:r>
            <a:r>
              <a:rPr lang="en-US" b="0" dirty="0">
                <a:solidFill>
                  <a:srgbClr val="000000"/>
                </a:solidFill>
                <a:latin typeface="Arial" charset="0"/>
                <a:ea typeface="+mn-ea"/>
              </a:rPr>
              <a:t>: </a:t>
            </a:r>
            <a:r>
              <a:rPr lang="en-US" dirty="0" smtClean="0">
                <a:solidFill>
                  <a:srgbClr val="002060"/>
                </a:solidFill>
                <a:latin typeface="Arial" charset="0"/>
                <a:ea typeface="+mn-ea"/>
              </a:rPr>
              <a:t>Groundwater </a:t>
            </a:r>
            <a:r>
              <a:rPr lang="en-US" dirty="0">
                <a:solidFill>
                  <a:srgbClr val="002060"/>
                </a:solidFill>
                <a:latin typeface="Arial" charset="0"/>
                <a:ea typeface="+mn-ea"/>
              </a:rPr>
              <a:t>Features </a:t>
            </a:r>
            <a:r>
              <a:rPr lang="en-US" b="0" dirty="0" smtClean="0">
                <a:solidFill>
                  <a:srgbClr val="000000"/>
                </a:solidFill>
                <a:latin typeface="Arial" charset="0"/>
                <a:ea typeface="+mn-ea"/>
              </a:rPr>
              <a:t>GroundwaterML2 </a:t>
            </a:r>
            <a:r>
              <a:rPr lang="en-US" b="0" dirty="0">
                <a:solidFill>
                  <a:srgbClr val="002060"/>
                </a:solidFill>
                <a:latin typeface="Arial" charset="0"/>
              </a:rPr>
              <a:t>(OGC IS 16-XXX</a:t>
            </a:r>
            <a:r>
              <a:rPr lang="en-AU" b="0" dirty="0">
                <a:solidFill>
                  <a:srgbClr val="000000"/>
                </a:solidFill>
                <a:latin typeface="Arial" charset="0"/>
                <a:ea typeface="+mn-ea"/>
              </a:rPr>
              <a:t>)</a:t>
            </a:r>
            <a:endParaRPr lang="en-GB" b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39" name="File"/>
          <p:cNvSpPr>
            <a:spLocks noEditPoints="1" noChangeArrowheads="1"/>
          </p:cNvSpPr>
          <p:nvPr/>
        </p:nvSpPr>
        <p:spPr bwMode="auto">
          <a:xfrm>
            <a:off x="900736" y="3075300"/>
            <a:ext cx="1276364" cy="949091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GB" b="0" dirty="0">
                <a:solidFill>
                  <a:srgbClr val="002060"/>
                </a:solidFill>
                <a:latin typeface="Arial"/>
              </a:rPr>
              <a:t>SOS 2.0 </a:t>
            </a:r>
          </a:p>
          <a:p>
            <a:pPr algn="ctr" eaLnBrk="1" hangingPunct="1"/>
            <a:r>
              <a:rPr lang="en-GB" dirty="0">
                <a:solidFill>
                  <a:srgbClr val="002060"/>
                </a:solidFill>
                <a:latin typeface="Arial"/>
              </a:rPr>
              <a:t>Hydrology Profile </a:t>
            </a:r>
            <a:r>
              <a:rPr lang="en-GB" b="0" dirty="0">
                <a:solidFill>
                  <a:srgbClr val="000000"/>
                </a:solidFill>
                <a:latin typeface="Arial"/>
                <a:ea typeface="+mn-ea"/>
              </a:rPr>
              <a:t> </a:t>
            </a:r>
            <a:r>
              <a:rPr lang="en-GB" b="0" dirty="0" smtClean="0">
                <a:solidFill>
                  <a:srgbClr val="002060"/>
                </a:solidFill>
                <a:latin typeface="Arial"/>
              </a:rPr>
              <a:t> </a:t>
            </a:r>
            <a:endParaRPr lang="en-GB" b="0" dirty="0">
              <a:solidFill>
                <a:srgbClr val="002060"/>
              </a:solidFill>
              <a:latin typeface="Arial"/>
            </a:endParaRPr>
          </a:p>
          <a:p>
            <a:pPr algn="ctr" eaLnBrk="1" hangingPunct="1"/>
            <a:r>
              <a:rPr lang="en-GB" b="0" dirty="0">
                <a:solidFill>
                  <a:srgbClr val="002060"/>
                </a:solidFill>
                <a:latin typeface="Arial"/>
              </a:rPr>
              <a:t>(OGC BP 14-004r1)</a:t>
            </a:r>
          </a:p>
        </p:txBody>
      </p:sp>
      <p:sp>
        <p:nvSpPr>
          <p:cNvPr id="40" name="File"/>
          <p:cNvSpPr>
            <a:spLocks noEditPoints="1" noChangeArrowheads="1"/>
          </p:cNvSpPr>
          <p:nvPr/>
        </p:nvSpPr>
        <p:spPr bwMode="auto">
          <a:xfrm>
            <a:off x="4208818" y="4646331"/>
            <a:ext cx="1276364" cy="1080120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72000" tIns="45720" rIns="7200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GB" b="0" i="1">
                <a:solidFill>
                  <a:srgbClr val="002060"/>
                </a:solidFill>
                <a:latin typeface="Arial" charset="0"/>
              </a:rPr>
              <a:t>WaterML2PartX</a:t>
            </a:r>
            <a:r>
              <a:rPr lang="en-GB" i="1">
                <a:solidFill>
                  <a:srgbClr val="002060"/>
                </a:solidFill>
                <a:latin typeface="Arial" charset="0"/>
              </a:rPr>
              <a:t>: </a:t>
            </a:r>
            <a:r>
              <a:rPr lang="en-GB" i="1" smtClean="0">
                <a:solidFill>
                  <a:srgbClr val="002060"/>
                </a:solidFill>
                <a:latin typeface="Arial" charset="0"/>
                <a:ea typeface="+mn-ea"/>
              </a:rPr>
              <a:t>River Network </a:t>
            </a:r>
            <a:r>
              <a:rPr lang="en-GB" b="0" i="1" smtClean="0">
                <a:solidFill>
                  <a:srgbClr val="002060"/>
                </a:solidFill>
                <a:latin typeface="Arial" charset="0"/>
                <a:ea typeface="+mn-ea"/>
              </a:rPr>
              <a:t>Topology</a:t>
            </a:r>
            <a:r>
              <a:rPr lang="en-GB" i="1" smtClean="0">
                <a:solidFill>
                  <a:srgbClr val="002060"/>
                </a:solidFill>
                <a:latin typeface="Arial" charset="0"/>
                <a:ea typeface="+mn-ea"/>
              </a:rPr>
              <a:t> </a:t>
            </a:r>
          </a:p>
          <a:p>
            <a:pPr algn="ctr" eaLnBrk="1" hangingPunct="1"/>
            <a:r>
              <a:rPr lang="en-US" b="0" i="1" dirty="0" smtClean="0">
                <a:solidFill>
                  <a:srgbClr val="002060"/>
                </a:solidFill>
                <a:latin typeface="Arial" charset="0"/>
                <a:ea typeface="+mn-ea"/>
              </a:rPr>
              <a:t>(</a:t>
            </a:r>
            <a:r>
              <a:rPr lang="en-US" b="0" i="1" dirty="0">
                <a:solidFill>
                  <a:srgbClr val="002060"/>
                </a:solidFill>
                <a:latin typeface="Arial" charset="0"/>
                <a:ea typeface="+mn-ea"/>
              </a:rPr>
              <a:t>OGC IS </a:t>
            </a:r>
            <a:r>
              <a:rPr lang="en-US" b="0" i="1" dirty="0" smtClean="0">
                <a:solidFill>
                  <a:srgbClr val="002060"/>
                </a:solidFill>
                <a:latin typeface="Arial" charset="0"/>
                <a:ea typeface="+mn-ea"/>
              </a:rPr>
              <a:t>YY-XXX)</a:t>
            </a:r>
          </a:p>
          <a:p>
            <a:pPr algn="ctr" eaLnBrk="1" hangingPunct="1"/>
            <a:endParaRPr lang="en-US" b="0" dirty="0">
              <a:solidFill>
                <a:srgbClr val="002060"/>
              </a:solidFill>
              <a:latin typeface="Arial"/>
              <a:ea typeface="+mn-ea"/>
            </a:endParaRPr>
          </a:p>
        </p:txBody>
      </p:sp>
      <p:sp>
        <p:nvSpPr>
          <p:cNvPr id="41" name="File"/>
          <p:cNvSpPr>
            <a:spLocks noEditPoints="1" noChangeArrowheads="1"/>
          </p:cNvSpPr>
          <p:nvPr/>
        </p:nvSpPr>
        <p:spPr bwMode="auto">
          <a:xfrm>
            <a:off x="502878" y="4565596"/>
            <a:ext cx="1178313" cy="668596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GB" sz="800" b="0" i="1" smtClean="0">
                <a:solidFill>
                  <a:srgbClr val="FFFFFF">
                    <a:lumMod val="50000"/>
                  </a:srgbClr>
                </a:solidFill>
                <a:latin typeface="Arial"/>
              </a:rPr>
              <a:t>SoilML component:</a:t>
            </a:r>
          </a:p>
          <a:p>
            <a:pPr algn="ctr" eaLnBrk="1" hangingPunct="1"/>
            <a:r>
              <a:rPr lang="en-GB" sz="800" i="1" smtClean="0">
                <a:solidFill>
                  <a:srgbClr val="FFFFFF">
                    <a:lumMod val="50000"/>
                  </a:srgbClr>
                </a:solidFill>
                <a:latin typeface="Arial"/>
              </a:rPr>
              <a:t>Soil-water</a:t>
            </a:r>
            <a:r>
              <a:rPr lang="en-GB" sz="800" b="0" i="1" smtClean="0">
                <a:solidFill>
                  <a:srgbClr val="FFFFFF">
                    <a:lumMod val="50000"/>
                  </a:srgbClr>
                </a:solidFill>
                <a:latin typeface="Arial"/>
              </a:rPr>
              <a:t>   (collaboration tbd)  </a:t>
            </a:r>
            <a:endParaRPr lang="en-GB" sz="800" b="0" i="1" dirty="0" smtClean="0">
              <a:solidFill>
                <a:srgbClr val="FFFFFF">
                  <a:lumMod val="50000"/>
                </a:srgbClr>
              </a:solidFill>
              <a:latin typeface="Arial"/>
            </a:endParaRPr>
          </a:p>
        </p:txBody>
      </p:sp>
      <p:sp>
        <p:nvSpPr>
          <p:cNvPr id="42" name="File"/>
          <p:cNvSpPr>
            <a:spLocks noEditPoints="1" noChangeArrowheads="1"/>
          </p:cNvSpPr>
          <p:nvPr/>
        </p:nvSpPr>
        <p:spPr bwMode="auto">
          <a:xfrm>
            <a:off x="2159792" y="4465528"/>
            <a:ext cx="1276364" cy="949091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b="0" i="1" smtClean="0">
                <a:solidFill>
                  <a:srgbClr val="FFFFFF">
                    <a:lumMod val="50000"/>
                  </a:srgbClr>
                </a:solidFill>
                <a:latin typeface="Arial"/>
              </a:rPr>
              <a:t>…(RiverML)…: </a:t>
            </a:r>
          </a:p>
          <a:p>
            <a:pPr algn="ctr" eaLnBrk="1" hangingPunct="1"/>
            <a:r>
              <a:rPr lang="en-US" i="1" smtClean="0">
                <a:solidFill>
                  <a:srgbClr val="FFFFFF">
                    <a:lumMod val="50000"/>
                  </a:srgbClr>
                </a:solidFill>
                <a:latin typeface="Arial"/>
                <a:ea typeface="+mn-ea"/>
              </a:rPr>
              <a:t>Channel Geometry</a:t>
            </a:r>
            <a:endParaRPr lang="en-US" i="1" dirty="0" smtClean="0">
              <a:solidFill>
                <a:srgbClr val="FFFFFF">
                  <a:lumMod val="50000"/>
                </a:srgbClr>
              </a:solidFill>
              <a:latin typeface="Arial"/>
              <a:ea typeface="+mn-ea"/>
            </a:endParaRPr>
          </a:p>
          <a:p>
            <a:pPr algn="ctr" eaLnBrk="1" hangingPunct="1"/>
            <a:r>
              <a:rPr lang="en-US" b="0" i="1" smtClean="0">
                <a:solidFill>
                  <a:srgbClr val="FFFFFF">
                    <a:lumMod val="50000"/>
                  </a:srgbClr>
                </a:solidFill>
                <a:latin typeface="Arial"/>
              </a:rPr>
              <a:t>(continuation </a:t>
            </a:r>
            <a:r>
              <a:rPr lang="en-US" b="0" i="1" dirty="0" err="1" smtClean="0">
                <a:solidFill>
                  <a:srgbClr val="FFFFFF">
                    <a:lumMod val="50000"/>
                  </a:srgbClr>
                </a:solidFill>
                <a:latin typeface="Arial"/>
              </a:rPr>
              <a:t>tbd</a:t>
            </a:r>
            <a:r>
              <a:rPr lang="en-US" b="0" i="1" dirty="0" smtClean="0">
                <a:solidFill>
                  <a:srgbClr val="FFFFFF">
                    <a:lumMod val="50000"/>
                  </a:srgbClr>
                </a:solidFill>
                <a:latin typeface="Arial"/>
              </a:rPr>
              <a:t>)</a:t>
            </a:r>
            <a:r>
              <a:rPr lang="en-AU" b="0" i="1" dirty="0" smtClean="0">
                <a:solidFill>
                  <a:srgbClr val="FFFFFF">
                    <a:lumMod val="50000"/>
                  </a:srgbClr>
                </a:solidFill>
                <a:latin typeface="Arial"/>
              </a:rPr>
              <a:t> </a:t>
            </a:r>
            <a:endParaRPr lang="en-GB" b="0" i="1" dirty="0">
              <a:solidFill>
                <a:srgbClr val="FFFFFF">
                  <a:lumMod val="50000"/>
                </a:srgbClr>
              </a:solidFill>
              <a:latin typeface="Arial"/>
            </a:endParaRPr>
          </a:p>
        </p:txBody>
      </p:sp>
      <p:sp>
        <p:nvSpPr>
          <p:cNvPr id="44" name="File"/>
          <p:cNvSpPr>
            <a:spLocks noEditPoints="1" noChangeArrowheads="1"/>
          </p:cNvSpPr>
          <p:nvPr/>
        </p:nvSpPr>
        <p:spPr bwMode="auto">
          <a:xfrm>
            <a:off x="673265" y="5064660"/>
            <a:ext cx="1162431" cy="668596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GB" sz="800" b="0" i="1" dirty="0" smtClean="0">
                <a:solidFill>
                  <a:srgbClr val="FFFFFF">
                    <a:lumMod val="50000"/>
                  </a:srgbClr>
                </a:solidFill>
                <a:latin typeface="Arial" charset="0"/>
                <a:ea typeface="+mn-ea"/>
              </a:rPr>
              <a:t>CSML3 component:</a:t>
            </a:r>
          </a:p>
          <a:p>
            <a:pPr algn="ctr" eaLnBrk="1" hangingPunct="1"/>
            <a:r>
              <a:rPr lang="en-GB" sz="800" i="1" dirty="0" smtClean="0">
                <a:solidFill>
                  <a:srgbClr val="FFFFFF">
                    <a:lumMod val="50000"/>
                  </a:srgbClr>
                </a:solidFill>
                <a:latin typeface="Arial" charset="0"/>
                <a:ea typeface="+mn-ea"/>
              </a:rPr>
              <a:t>Atmospheric-water</a:t>
            </a:r>
            <a:r>
              <a:rPr lang="en-GB" sz="800" b="0" i="1" dirty="0" smtClean="0">
                <a:solidFill>
                  <a:srgbClr val="FFFFFF">
                    <a:lumMod val="50000"/>
                  </a:srgbClr>
                </a:solidFill>
                <a:latin typeface="Arial" charset="0"/>
                <a:ea typeface="+mn-ea"/>
              </a:rPr>
              <a:t> </a:t>
            </a:r>
          </a:p>
          <a:p>
            <a:pPr algn="ctr" eaLnBrk="1" hangingPunct="1"/>
            <a:r>
              <a:rPr lang="en-GB" sz="800" b="0" i="1" dirty="0" smtClean="0">
                <a:solidFill>
                  <a:srgbClr val="FFFFFF">
                    <a:lumMod val="50000"/>
                  </a:srgbClr>
                </a:solidFill>
                <a:latin typeface="Arial" charset="0"/>
                <a:ea typeface="+mn-ea"/>
              </a:rPr>
              <a:t> (collaboration </a:t>
            </a:r>
            <a:r>
              <a:rPr lang="en-GB" sz="800" b="0" i="1" dirty="0" err="1" smtClean="0">
                <a:solidFill>
                  <a:srgbClr val="FFFFFF">
                    <a:lumMod val="50000"/>
                  </a:srgbClr>
                </a:solidFill>
                <a:latin typeface="Arial" charset="0"/>
                <a:ea typeface="+mn-ea"/>
              </a:rPr>
              <a:t>tbd</a:t>
            </a:r>
            <a:r>
              <a:rPr lang="en-GB" sz="800" b="0" i="1" dirty="0" smtClean="0">
                <a:solidFill>
                  <a:srgbClr val="FFFFFF">
                    <a:lumMod val="50000"/>
                  </a:srgbClr>
                </a:solidFill>
                <a:latin typeface="Arial" charset="0"/>
                <a:ea typeface="+mn-ea"/>
              </a:rPr>
              <a:t>) </a:t>
            </a:r>
            <a:endParaRPr lang="en-GB" sz="800" i="1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5" name="File"/>
          <p:cNvSpPr>
            <a:spLocks noEditPoints="1" noChangeArrowheads="1"/>
          </p:cNvSpPr>
          <p:nvPr/>
        </p:nvSpPr>
        <p:spPr bwMode="auto">
          <a:xfrm>
            <a:off x="444756" y="1556792"/>
            <a:ext cx="1278674" cy="978892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GB" b="0">
                <a:solidFill>
                  <a:srgbClr val="002060"/>
                </a:solidFill>
                <a:latin typeface="Arial" charset="0"/>
                <a:ea typeface="+mn-ea"/>
              </a:rPr>
              <a:t>TimeseriesML 1.0</a:t>
            </a:r>
          </a:p>
          <a:p>
            <a:pPr algn="ctr" eaLnBrk="1" hangingPunct="1"/>
            <a:r>
              <a:rPr lang="en-GB">
                <a:solidFill>
                  <a:srgbClr val="002060"/>
                </a:solidFill>
                <a:latin typeface="Arial" charset="0"/>
                <a:ea typeface="+mn-ea"/>
              </a:rPr>
              <a:t>Timeseries   </a:t>
            </a:r>
          </a:p>
          <a:p>
            <a:pPr algn="ctr" eaLnBrk="1" hangingPunct="1"/>
            <a:r>
              <a:rPr lang="en-GB">
                <a:solidFill>
                  <a:srgbClr val="002060"/>
                </a:solidFill>
                <a:latin typeface="Arial" charset="0"/>
                <a:ea typeface="+mn-ea"/>
              </a:rPr>
              <a:t> </a:t>
            </a:r>
            <a:r>
              <a:rPr lang="en-GB" b="0">
                <a:solidFill>
                  <a:srgbClr val="002060"/>
                </a:solidFill>
                <a:latin typeface="Arial" charset="0"/>
                <a:ea typeface="+mn-ea"/>
              </a:rPr>
              <a:t>(OGC IS 15-042r3)</a:t>
            </a:r>
          </a:p>
          <a:p>
            <a:pPr algn="ctr" eaLnBrk="1" hangingPunct="1"/>
            <a:r>
              <a:rPr lang="en-GB" b="0">
                <a:solidFill>
                  <a:srgbClr val="002060"/>
                </a:solidFill>
                <a:latin typeface="Arial" charset="0"/>
                <a:ea typeface="+mn-ea"/>
              </a:rPr>
              <a:t>(OGC IS 15-043r3</a:t>
            </a:r>
            <a:r>
              <a:rPr lang="en-GB" b="0" smtClean="0">
                <a:solidFill>
                  <a:srgbClr val="002060"/>
                </a:solidFill>
                <a:latin typeface="Arial" charset="0"/>
                <a:ea typeface="+mn-ea"/>
              </a:rPr>
              <a:t>)</a:t>
            </a:r>
            <a:endParaRPr lang="en-GB" b="0">
              <a:solidFill>
                <a:srgbClr val="002060"/>
              </a:solidFill>
              <a:latin typeface="Arial" charset="0"/>
            </a:endParaRPr>
          </a:p>
          <a:p>
            <a:pPr algn="ctr" eaLnBrk="1" hangingPunct="1"/>
            <a:endParaRPr lang="en-GB">
              <a:solidFill>
                <a:srgbClr val="002060"/>
              </a:solidFill>
              <a:latin typeface="Arial" charset="0"/>
            </a:endParaRPr>
          </a:p>
          <a:p>
            <a:pPr algn="ctr" eaLnBrk="1" hangingPunct="1"/>
            <a:endParaRPr lang="en-GB" sz="800" dirty="0">
              <a:solidFill>
                <a:srgbClr val="002060"/>
              </a:solidFill>
              <a:latin typeface="Arial" charset="0"/>
            </a:endParaRPr>
          </a:p>
        </p:txBody>
      </p:sp>
      <p:sp>
        <p:nvSpPr>
          <p:cNvPr id="22" name="File"/>
          <p:cNvSpPr>
            <a:spLocks noEditPoints="1" noChangeArrowheads="1"/>
          </p:cNvSpPr>
          <p:nvPr/>
        </p:nvSpPr>
        <p:spPr bwMode="auto">
          <a:xfrm>
            <a:off x="6202257" y="4380853"/>
            <a:ext cx="1276364" cy="1080120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GB" b="0" dirty="0" smtClean="0">
                <a:solidFill>
                  <a:srgbClr val="002060"/>
                </a:solidFill>
                <a:latin typeface="Arial" charset="0"/>
              </a:rPr>
              <a:t>WaterML2Part5</a:t>
            </a:r>
            <a:r>
              <a:rPr lang="en-GB" b="0" dirty="0" smtClean="0">
                <a:solidFill>
                  <a:srgbClr val="002060"/>
                </a:solidFill>
                <a:latin typeface="Arial" charset="0"/>
                <a:ea typeface="+mn-ea"/>
              </a:rPr>
              <a:t>: </a:t>
            </a:r>
            <a:r>
              <a:rPr lang="en-GB" dirty="0">
                <a:solidFill>
                  <a:srgbClr val="002060"/>
                </a:solidFill>
                <a:latin typeface="Arial" charset="0"/>
                <a:ea typeface="+mn-ea"/>
              </a:rPr>
              <a:t>Surface Water </a:t>
            </a:r>
            <a:r>
              <a:rPr lang="en-GB" dirty="0" smtClean="0">
                <a:solidFill>
                  <a:srgbClr val="002060"/>
                </a:solidFill>
                <a:latin typeface="Arial" charset="0"/>
                <a:ea typeface="+mn-ea"/>
              </a:rPr>
              <a:t>Features</a:t>
            </a:r>
          </a:p>
          <a:p>
            <a:pPr algn="ctr" eaLnBrk="1" hangingPunct="1"/>
            <a:r>
              <a:rPr lang="en-GB" b="0" dirty="0" err="1" smtClean="0">
                <a:solidFill>
                  <a:srgbClr val="000000"/>
                </a:solidFill>
                <a:latin typeface="Arial" charset="0"/>
                <a:ea typeface="+mn-ea"/>
              </a:rPr>
              <a:t>HY_Features</a:t>
            </a:r>
            <a:endParaRPr lang="en-GB" b="0" dirty="0">
              <a:solidFill>
                <a:srgbClr val="000000"/>
              </a:solidFill>
              <a:latin typeface="Arial" charset="0"/>
              <a:ea typeface="+mn-ea"/>
            </a:endParaRPr>
          </a:p>
          <a:p>
            <a:pPr algn="ctr" eaLnBrk="1" hangingPunct="1"/>
            <a:r>
              <a:rPr lang="en-US" b="0" dirty="0">
                <a:solidFill>
                  <a:srgbClr val="002060"/>
                </a:solidFill>
                <a:latin typeface="Arial" charset="0"/>
                <a:ea typeface="+mn-ea"/>
              </a:rPr>
              <a:t>(OGC IS 16-XXX)</a:t>
            </a:r>
          </a:p>
        </p:txBody>
      </p:sp>
    </p:spTree>
    <p:extLst>
      <p:ext uri="{BB962C8B-B14F-4D97-AF65-F5344CB8AC3E}">
        <p14:creationId xmlns:p14="http://schemas.microsoft.com/office/powerpoint/2010/main" val="3346382465"/>
      </p:ext>
    </p:extLst>
  </p:cSld>
  <p:clrMapOvr>
    <a:masterClrMapping/>
  </p:clrMapOvr>
  <p:transition xmlns:p14="http://schemas.microsoft.com/office/powerpoint/2010/main" spd="slow"/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GC_PowerPoint_Template">
  <a:themeElements>
    <a:clrScheme name="">
      <a:dk1>
        <a:srgbClr val="000000"/>
      </a:dk1>
      <a:lt1>
        <a:srgbClr val="FFFFCC"/>
      </a:lt1>
      <a:dk2>
        <a:srgbClr val="092E5C"/>
      </a:dk2>
      <a:lt2>
        <a:srgbClr val="666633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OGC_PowerPoint_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 rtlCol="0" anchor="ctr"/>
      <a:lstStyle>
        <a:defPPr algn="ctr">
          <a:defRPr/>
        </a:defPPr>
      </a:lstStyle>
    </a:spDef>
    <a:ln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none" rtlCol="0">
        <a:noAutofit/>
      </a:bodyPr>
      <a:lstStyle>
        <a:defPPr>
          <a:defRPr dirty="0" err="1" smtClean="0"/>
        </a:defPPr>
      </a:lstStyle>
    </a:txDef>
  </a:objectDefaults>
  <a:extraClrSchemeLst>
    <a:extraClrScheme>
      <a:clrScheme name="OGC_PowerPoint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GC_PowerPoint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Standarddesign">
  <a:themeElements>
    <a:clrScheme name="Standard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915</TotalTime>
  <Words>469</Words>
  <Application>Microsoft Macintosh PowerPoint</Application>
  <PresentationFormat>On-screen Show (4:3)</PresentationFormat>
  <Paragraphs>68</Paragraphs>
  <Slides>5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OGC_PowerPoint_Template</vt:lpstr>
      <vt:lpstr>Standarddesign</vt:lpstr>
      <vt:lpstr>Water Standards Branding re: HY_Features and GWML2</vt:lpstr>
      <vt:lpstr>“Sailing under the WaterML flag” ?</vt:lpstr>
      <vt:lpstr> “Name it what it is.”</vt:lpstr>
      <vt:lpstr>Other Considerations</vt:lpstr>
      <vt:lpstr>WMO/OGC Hydrology Domain Working Group WaterML2 suite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Template</dc:title>
  <dc:subject>OGC TC/PC</dc:subject>
  <dc:creator>Scott Simmons</dc:creator>
  <cp:lastModifiedBy>David Blodgett</cp:lastModifiedBy>
  <cp:revision>27</cp:revision>
  <cp:lastPrinted>2003-02-03T21:59:32Z</cp:lastPrinted>
  <dcterms:created xsi:type="dcterms:W3CDTF">2016-01-15T20:11:27Z</dcterms:created>
  <dcterms:modified xsi:type="dcterms:W3CDTF">2016-03-09T15:27:15Z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2110168667</vt:i4>
  </property>
  <property fmtid="{D5CDD505-2E9C-101B-9397-08002B2CF9AE}" pid="3" name="_NewReviewCycle">
    <vt:lpwstr/>
  </property>
  <property fmtid="{D5CDD505-2E9C-101B-9397-08002B2CF9AE}" pid="4" name="_EmailSubject">
    <vt:lpwstr>pptx for hyfswg meetig</vt:lpwstr>
  </property>
  <property fmtid="{D5CDD505-2E9C-101B-9397-08002B2CF9AE}" pid="5" name="_AuthorEmail">
    <vt:lpwstr>Dornblut@bafg.de</vt:lpwstr>
  </property>
  <property fmtid="{D5CDD505-2E9C-101B-9397-08002B2CF9AE}" pid="6" name="_AuthorEmailDisplayName">
    <vt:lpwstr>Dornblut, Irina, M4, MT</vt:lpwstr>
  </property>
</Properties>
</file>