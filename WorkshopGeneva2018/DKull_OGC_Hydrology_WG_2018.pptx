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erverZoom="100000" strictFirstAndLastChars="0" saveSubsetFonts="1" autoCompressPictures="0">
  <p:sldMasterIdLst>
    <p:sldMasterId id="2147483649" r:id="rId1"/>
  </p:sldMasterIdLst>
  <p:notesMasterIdLst>
    <p:notesMasterId r:id="rId15"/>
  </p:notesMasterIdLst>
  <p:sldIdLst>
    <p:sldId id="265" r:id="rId2"/>
    <p:sldId id="326" r:id="rId3"/>
    <p:sldId id="344" r:id="rId4"/>
    <p:sldId id="348" r:id="rId5"/>
    <p:sldId id="343" r:id="rId6"/>
    <p:sldId id="345" r:id="rId7"/>
    <p:sldId id="346" r:id="rId8"/>
    <p:sldId id="351" r:id="rId9"/>
    <p:sldId id="347" r:id="rId10"/>
    <p:sldId id="349" r:id="rId11"/>
    <p:sldId id="350" r:id="rId12"/>
    <p:sldId id="337" r:id="rId13"/>
    <p:sldId id="352" r:id="rId14"/>
  </p:sldIdLst>
  <p:sldSz cx="17340263" cy="9753600"/>
  <p:notesSz cx="7010400" cy="9296400"/>
  <p:defaultTextStyle>
    <a:defPPr>
      <a:defRPr lang="en-US"/>
    </a:defPPr>
    <a:lvl1pPr algn="l" defTabSz="895350" rtl="0" fontAlgn="base" hangingPunct="0">
      <a:spcBef>
        <a:spcPct val="0"/>
      </a:spcBef>
      <a:spcAft>
        <a:spcPct val="0"/>
      </a:spcAft>
      <a:defRPr sz="3300" kern="1200">
        <a:solidFill>
          <a:srgbClr val="000000"/>
        </a:solidFill>
        <a:latin typeface="Trebuchet MS" charset="0"/>
        <a:ea typeface="Trebuchet MS" charset="0"/>
        <a:cs typeface="Trebuchet MS" charset="0"/>
        <a:sym typeface="Trebuchet MS" charset="0"/>
      </a:defRPr>
    </a:lvl1pPr>
    <a:lvl2pPr marL="457200" algn="l" defTabSz="895350" rtl="0" fontAlgn="base" hangingPunct="0">
      <a:spcBef>
        <a:spcPct val="0"/>
      </a:spcBef>
      <a:spcAft>
        <a:spcPct val="0"/>
      </a:spcAft>
      <a:defRPr sz="3300" kern="1200">
        <a:solidFill>
          <a:srgbClr val="000000"/>
        </a:solidFill>
        <a:latin typeface="Trebuchet MS" charset="0"/>
        <a:ea typeface="Trebuchet MS" charset="0"/>
        <a:cs typeface="Trebuchet MS" charset="0"/>
        <a:sym typeface="Trebuchet MS" charset="0"/>
      </a:defRPr>
    </a:lvl2pPr>
    <a:lvl3pPr marL="914400" algn="l" defTabSz="895350" rtl="0" fontAlgn="base" hangingPunct="0">
      <a:spcBef>
        <a:spcPct val="0"/>
      </a:spcBef>
      <a:spcAft>
        <a:spcPct val="0"/>
      </a:spcAft>
      <a:defRPr sz="3300" kern="1200">
        <a:solidFill>
          <a:srgbClr val="000000"/>
        </a:solidFill>
        <a:latin typeface="Trebuchet MS" charset="0"/>
        <a:ea typeface="Trebuchet MS" charset="0"/>
        <a:cs typeface="Trebuchet MS" charset="0"/>
        <a:sym typeface="Trebuchet MS" charset="0"/>
      </a:defRPr>
    </a:lvl3pPr>
    <a:lvl4pPr marL="1371600" algn="l" defTabSz="895350" rtl="0" fontAlgn="base" hangingPunct="0">
      <a:spcBef>
        <a:spcPct val="0"/>
      </a:spcBef>
      <a:spcAft>
        <a:spcPct val="0"/>
      </a:spcAft>
      <a:defRPr sz="3300" kern="1200">
        <a:solidFill>
          <a:srgbClr val="000000"/>
        </a:solidFill>
        <a:latin typeface="Trebuchet MS" charset="0"/>
        <a:ea typeface="Trebuchet MS" charset="0"/>
        <a:cs typeface="Trebuchet MS" charset="0"/>
        <a:sym typeface="Trebuchet MS" charset="0"/>
      </a:defRPr>
    </a:lvl4pPr>
    <a:lvl5pPr marL="1828800" algn="l" defTabSz="895350" rtl="0" fontAlgn="base" hangingPunct="0">
      <a:spcBef>
        <a:spcPct val="0"/>
      </a:spcBef>
      <a:spcAft>
        <a:spcPct val="0"/>
      </a:spcAft>
      <a:defRPr sz="3300" kern="1200">
        <a:solidFill>
          <a:srgbClr val="000000"/>
        </a:solidFill>
        <a:latin typeface="Trebuchet MS" charset="0"/>
        <a:ea typeface="Trebuchet MS" charset="0"/>
        <a:cs typeface="Trebuchet MS" charset="0"/>
        <a:sym typeface="Trebuchet MS" charset="0"/>
      </a:defRPr>
    </a:lvl5pPr>
    <a:lvl6pPr marL="2286000" algn="l" defTabSz="457200" rtl="0" eaLnBrk="1" latinLnBrk="0" hangingPunct="1">
      <a:defRPr sz="3300" kern="1200">
        <a:solidFill>
          <a:srgbClr val="000000"/>
        </a:solidFill>
        <a:latin typeface="Trebuchet MS" charset="0"/>
        <a:ea typeface="Trebuchet MS" charset="0"/>
        <a:cs typeface="Trebuchet MS" charset="0"/>
        <a:sym typeface="Trebuchet MS" charset="0"/>
      </a:defRPr>
    </a:lvl6pPr>
    <a:lvl7pPr marL="2743200" algn="l" defTabSz="457200" rtl="0" eaLnBrk="1" latinLnBrk="0" hangingPunct="1">
      <a:defRPr sz="3300" kern="1200">
        <a:solidFill>
          <a:srgbClr val="000000"/>
        </a:solidFill>
        <a:latin typeface="Trebuchet MS" charset="0"/>
        <a:ea typeface="Trebuchet MS" charset="0"/>
        <a:cs typeface="Trebuchet MS" charset="0"/>
        <a:sym typeface="Trebuchet MS" charset="0"/>
      </a:defRPr>
    </a:lvl7pPr>
    <a:lvl8pPr marL="3200400" algn="l" defTabSz="457200" rtl="0" eaLnBrk="1" latinLnBrk="0" hangingPunct="1">
      <a:defRPr sz="3300" kern="1200">
        <a:solidFill>
          <a:srgbClr val="000000"/>
        </a:solidFill>
        <a:latin typeface="Trebuchet MS" charset="0"/>
        <a:ea typeface="Trebuchet MS" charset="0"/>
        <a:cs typeface="Trebuchet MS" charset="0"/>
        <a:sym typeface="Trebuchet MS" charset="0"/>
      </a:defRPr>
    </a:lvl8pPr>
    <a:lvl9pPr marL="3657600" algn="l" defTabSz="457200" rtl="0" eaLnBrk="1" latinLnBrk="0" hangingPunct="1">
      <a:defRPr sz="3300" kern="1200">
        <a:solidFill>
          <a:srgbClr val="000000"/>
        </a:solidFill>
        <a:latin typeface="Trebuchet MS" charset="0"/>
        <a:ea typeface="Trebuchet MS" charset="0"/>
        <a:cs typeface="Trebuchet MS" charset="0"/>
        <a:sym typeface="Trebuchet MS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3072" userDrawn="1">
          <p15:clr>
            <a:srgbClr val="A4A3A4"/>
          </p15:clr>
        </p15:guide>
        <p15:guide id="2" pos="546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FF"/>
    <a:srgbClr val="9A9E06"/>
    <a:srgbClr val="88950F"/>
    <a:srgbClr val="B9CA14"/>
    <a:srgbClr val="9EC915"/>
    <a:srgbClr val="CCFFCC"/>
    <a:srgbClr val="5C5C5C"/>
    <a:srgbClr val="3A81BA"/>
    <a:srgbClr val="FF7A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73" autoAdjust="0"/>
    <p:restoredTop sz="90142" autoAdjust="0"/>
  </p:normalViewPr>
  <p:slideViewPr>
    <p:cSldViewPr>
      <p:cViewPr varScale="1">
        <p:scale>
          <a:sx n="60" d="100"/>
          <a:sy n="60" d="100"/>
        </p:scale>
        <p:origin x="752" y="192"/>
      </p:cViewPr>
      <p:guideLst>
        <p:guide orient="horz" pos="3072"/>
        <p:guide pos="546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406400" y="696913"/>
            <a:ext cx="6197600" cy="3486150"/>
          </a:xfrm>
          <a:prstGeom prst="rect">
            <a:avLst/>
          </a:prstGeom>
          <a:noFill/>
          <a:ln w="12700" cap="rnd">
            <a:noFill/>
            <a:round/>
            <a:headEnd/>
            <a:tailEnd/>
          </a:ln>
        </p:spPr>
      </p:sp>
      <p:sp>
        <p:nvSpPr>
          <p:cNvPr id="3074" name="Rectangle 2"/>
          <p:cNvSpPr>
            <a:spLocks noGrp="1"/>
          </p:cNvSpPr>
          <p:nvPr>
            <p:ph type="body" sz="quarter" idx="3"/>
          </p:nvPr>
        </p:nvSpPr>
        <p:spPr bwMode="auto">
          <a:xfrm>
            <a:off x="934720" y="4415790"/>
            <a:ext cx="5140960" cy="4183380"/>
          </a:xfrm>
          <a:prstGeom prst="rect">
            <a:avLst/>
          </a:prstGeom>
          <a:noFill/>
          <a:ln w="12700" cap="rnd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>
                <a:sym typeface="Avenir Roman" charset="0"/>
              </a:rPr>
              <a:t>Click to edit Master text styles</a:t>
            </a:r>
          </a:p>
          <a:p>
            <a:pPr lvl="1"/>
            <a:r>
              <a:rPr lang="en-US" noProof="0">
                <a:sym typeface="Avenir Roman" charset="0"/>
              </a:rPr>
              <a:t>Second level</a:t>
            </a:r>
          </a:p>
          <a:p>
            <a:pPr lvl="2"/>
            <a:r>
              <a:rPr lang="en-US" noProof="0">
                <a:sym typeface="Avenir Roman" charset="0"/>
              </a:rPr>
              <a:t>Third level</a:t>
            </a:r>
          </a:p>
          <a:p>
            <a:pPr lvl="3"/>
            <a:r>
              <a:rPr lang="en-US" noProof="0">
                <a:sym typeface="Avenir Roman" charset="0"/>
              </a:rPr>
              <a:t>Fourth level</a:t>
            </a:r>
          </a:p>
          <a:p>
            <a:pPr lvl="4"/>
            <a:r>
              <a:rPr lang="en-US" noProof="0">
                <a:sym typeface="Avenir Roman" charset="0"/>
              </a:rP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191695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lnSpc>
        <a:spcPct val="125000"/>
      </a:lnSpc>
      <a:spcBef>
        <a:spcPct val="0"/>
      </a:spcBef>
      <a:spcAft>
        <a:spcPct val="0"/>
      </a:spcAft>
      <a:defRPr sz="2400" kern="1200">
        <a:solidFill>
          <a:srgbClr val="000000"/>
        </a:solidFill>
        <a:latin typeface="Avenir Roman" charset="0"/>
        <a:ea typeface="Avenir Roman" charset="0"/>
        <a:cs typeface="Avenir Roman" charset="0"/>
        <a:sym typeface="Avenir Roman" charset="0"/>
      </a:defRPr>
    </a:lvl1pPr>
    <a:lvl2pPr marL="228600" algn="l" defTabSz="457200" rtl="0" eaLnBrk="0" fontAlgn="base" hangingPunct="0">
      <a:lnSpc>
        <a:spcPct val="125000"/>
      </a:lnSpc>
      <a:spcBef>
        <a:spcPct val="0"/>
      </a:spcBef>
      <a:spcAft>
        <a:spcPct val="0"/>
      </a:spcAft>
      <a:defRPr sz="2400" kern="1200">
        <a:solidFill>
          <a:srgbClr val="000000"/>
        </a:solidFill>
        <a:latin typeface="Avenir Roman" charset="0"/>
        <a:ea typeface="Avenir Roman" charset="0"/>
        <a:cs typeface="Avenir Roman" charset="0"/>
        <a:sym typeface="Avenir Roman" charset="0"/>
      </a:defRPr>
    </a:lvl2pPr>
    <a:lvl3pPr marL="457200" algn="l" defTabSz="457200" rtl="0" eaLnBrk="0" fontAlgn="base" hangingPunct="0">
      <a:lnSpc>
        <a:spcPct val="125000"/>
      </a:lnSpc>
      <a:spcBef>
        <a:spcPct val="0"/>
      </a:spcBef>
      <a:spcAft>
        <a:spcPct val="0"/>
      </a:spcAft>
      <a:defRPr sz="2400" kern="1200">
        <a:solidFill>
          <a:srgbClr val="000000"/>
        </a:solidFill>
        <a:latin typeface="Avenir Roman" charset="0"/>
        <a:ea typeface="Avenir Roman" charset="0"/>
        <a:cs typeface="Avenir Roman" charset="0"/>
        <a:sym typeface="Avenir Roman" charset="0"/>
      </a:defRPr>
    </a:lvl3pPr>
    <a:lvl4pPr marL="685800" algn="l" defTabSz="457200" rtl="0" eaLnBrk="0" fontAlgn="base" hangingPunct="0">
      <a:lnSpc>
        <a:spcPct val="125000"/>
      </a:lnSpc>
      <a:spcBef>
        <a:spcPct val="0"/>
      </a:spcBef>
      <a:spcAft>
        <a:spcPct val="0"/>
      </a:spcAft>
      <a:defRPr sz="2400" kern="1200">
        <a:solidFill>
          <a:srgbClr val="000000"/>
        </a:solidFill>
        <a:latin typeface="Avenir Roman" charset="0"/>
        <a:ea typeface="Avenir Roman" charset="0"/>
        <a:cs typeface="Avenir Roman" charset="0"/>
        <a:sym typeface="Avenir Roman" charset="0"/>
      </a:defRPr>
    </a:lvl4pPr>
    <a:lvl5pPr marL="914400" algn="l" defTabSz="457200" rtl="0" eaLnBrk="0" fontAlgn="base" hangingPunct="0">
      <a:lnSpc>
        <a:spcPct val="125000"/>
      </a:lnSpc>
      <a:spcBef>
        <a:spcPct val="0"/>
      </a:spcBef>
      <a:spcAft>
        <a:spcPct val="0"/>
      </a:spcAft>
      <a:defRPr sz="2400" kern="1200">
        <a:solidFill>
          <a:srgbClr val="000000"/>
        </a:solidFill>
        <a:latin typeface="Avenir Roman" charset="0"/>
        <a:ea typeface="Avenir Roman" charset="0"/>
        <a:cs typeface="Avenir Roman" charset="0"/>
        <a:sym typeface="Avenir Roman" charset="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3525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4841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25755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41325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10988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9592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7068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83665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5143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41407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3401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5883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E39EB7E-F13A-44BA-96AA-12493627AB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990601"/>
            <a:ext cx="17340264" cy="8763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9673" y="3030541"/>
            <a:ext cx="14740917" cy="209073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01466" y="5527678"/>
            <a:ext cx="12137337" cy="2492375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/>
            </a:lvl1pPr>
            <a:lvl2pPr marL="457223" indent="0" algn="ctr">
              <a:buNone/>
              <a:defRPr/>
            </a:lvl2pPr>
            <a:lvl3pPr marL="914446" indent="0" algn="ctr">
              <a:buNone/>
              <a:defRPr/>
            </a:lvl3pPr>
            <a:lvl4pPr marL="1371668" indent="0" algn="ctr">
              <a:buNone/>
              <a:defRPr/>
            </a:lvl4pPr>
            <a:lvl5pPr marL="1828892" indent="0" algn="ctr">
              <a:buNone/>
              <a:defRPr/>
            </a:lvl5pPr>
            <a:lvl6pPr marL="2286114" indent="0" algn="ctr">
              <a:buNone/>
              <a:defRPr/>
            </a:lvl6pPr>
            <a:lvl7pPr marL="2743337" indent="0" algn="ctr">
              <a:buNone/>
              <a:defRPr/>
            </a:lvl7pPr>
            <a:lvl8pPr marL="3200560" indent="0" algn="ctr">
              <a:buNone/>
              <a:defRPr/>
            </a:lvl8pPr>
            <a:lvl9pPr marL="3657783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5" name="Picture 4" descr="cid:2__=4EBBF7D9DFDAE9338f9e@wb.ad.worldbank.or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0531" y="299008"/>
            <a:ext cx="3539331" cy="691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GFDRR_Primary Logo_BW-Shade.png">
            <a:extLst>
              <a:ext uri="{FF2B5EF4-FFF2-40B4-BE49-F238E27FC236}">
                <a16:creationId xmlns:a16="http://schemas.microsoft.com/office/drawing/2014/main" id="{60396ACD-14F9-4990-B861-A484AE761C0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alphaModFix amt="8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4232731" y="276465"/>
            <a:ext cx="2762250" cy="615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60" y="390525"/>
            <a:ext cx="15604543" cy="1625600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7860" y="2276478"/>
            <a:ext cx="15604543" cy="6435725"/>
          </a:xfrm>
          <a:prstGeom prst="rect">
            <a:avLst/>
          </a:prstGeom>
        </p:spPr>
        <p:txBody>
          <a:bodyPr vert="horz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0" name="Straight Connector 9"/>
          <p:cNvCxnSpPr/>
          <p:nvPr userDrawn="1"/>
        </p:nvCxnSpPr>
        <p:spPr bwMode="auto">
          <a:xfrm>
            <a:off x="540286" y="1142999"/>
            <a:ext cx="13910321" cy="0"/>
          </a:xfrm>
          <a:prstGeom prst="line">
            <a:avLst/>
          </a:prstGeom>
          <a:solidFill>
            <a:srgbClr val="FFFFFF"/>
          </a:solidFill>
          <a:ln w="57150" cap="flat" cmpd="sng" algn="ctr">
            <a:solidFill>
              <a:srgbClr val="3A81BA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5" name="Picture 4" descr="cid:2__=4EBBF7D9DFDAE9338f9e@wb.ad.worldbank.or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193700" y="8572781"/>
            <a:ext cx="3539331" cy="6915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9526" y="6267450"/>
            <a:ext cx="14738800" cy="1936750"/>
          </a:xfrm>
          <a:prstGeom prst="rect">
            <a:avLst/>
          </a:prstGeom>
        </p:spPr>
        <p:txBody>
          <a:bodyPr vert="horz" anchor="t"/>
          <a:lstStyle>
            <a:lvl1pPr algn="l">
              <a:defRPr sz="4001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9526" y="4133850"/>
            <a:ext cx="14738800" cy="2133600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000"/>
            </a:lvl1pPr>
            <a:lvl2pPr marL="457223" indent="0">
              <a:buNone/>
              <a:defRPr sz="1800"/>
            </a:lvl2pPr>
            <a:lvl3pPr marL="914446" indent="0">
              <a:buNone/>
              <a:defRPr sz="1600"/>
            </a:lvl3pPr>
            <a:lvl4pPr marL="1371668" indent="0">
              <a:buNone/>
              <a:defRPr sz="1400"/>
            </a:lvl4pPr>
            <a:lvl5pPr marL="1828892" indent="0">
              <a:buNone/>
              <a:defRPr sz="1400"/>
            </a:lvl5pPr>
            <a:lvl6pPr marL="2286114" indent="0">
              <a:buNone/>
              <a:defRPr sz="1400"/>
            </a:lvl6pPr>
            <a:lvl7pPr marL="2743337" indent="0">
              <a:buNone/>
              <a:defRPr sz="1400"/>
            </a:lvl7pPr>
            <a:lvl8pPr marL="3200560" indent="0">
              <a:buNone/>
              <a:defRPr sz="1400"/>
            </a:lvl8pPr>
            <a:lvl9pPr marL="3657783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" name="Straight Connector 3"/>
          <p:cNvCxnSpPr/>
          <p:nvPr userDrawn="1"/>
        </p:nvCxnSpPr>
        <p:spPr bwMode="auto">
          <a:xfrm>
            <a:off x="540286" y="1142999"/>
            <a:ext cx="13910321" cy="0"/>
          </a:xfrm>
          <a:prstGeom prst="line">
            <a:avLst/>
          </a:prstGeom>
          <a:solidFill>
            <a:srgbClr val="FFFFFF"/>
          </a:solidFill>
          <a:ln w="57150" cap="flat" cmpd="sng" algn="ctr">
            <a:solidFill>
              <a:srgbClr val="3A81BA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5" name="Picture 4" descr="cid:2__=4EBBF7D9DFDAE9338f9e@wb.ad.worldbank.or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193700" y="8572781"/>
            <a:ext cx="3539331" cy="6915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60" y="390525"/>
            <a:ext cx="15604543" cy="1625600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7862" y="2276478"/>
            <a:ext cx="7700669" cy="6435725"/>
          </a:xfrm>
          <a:prstGeom prst="rect">
            <a:avLst/>
          </a:prstGeom>
        </p:spPr>
        <p:txBody>
          <a:bodyPr vert="horz"/>
          <a:lstStyle>
            <a:lvl1pPr>
              <a:defRPr sz="2801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71736" y="2276478"/>
            <a:ext cx="7700669" cy="6435725"/>
          </a:xfrm>
          <a:prstGeom prst="rect">
            <a:avLst/>
          </a:prstGeom>
        </p:spPr>
        <p:txBody>
          <a:bodyPr vert="horz"/>
          <a:lstStyle>
            <a:lvl1pPr>
              <a:defRPr sz="2801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/>
          <p:cNvCxnSpPr/>
          <p:nvPr userDrawn="1"/>
        </p:nvCxnSpPr>
        <p:spPr bwMode="auto">
          <a:xfrm>
            <a:off x="540286" y="1142999"/>
            <a:ext cx="13910321" cy="0"/>
          </a:xfrm>
          <a:prstGeom prst="line">
            <a:avLst/>
          </a:prstGeom>
          <a:solidFill>
            <a:srgbClr val="FFFFFF"/>
          </a:solidFill>
          <a:ln w="57150" cap="flat" cmpd="sng" algn="ctr">
            <a:solidFill>
              <a:srgbClr val="3A81BA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6" name="Picture 5" descr="cid:2__=4EBBF7D9DFDAE9338f9e@wb.ad.worldbank.or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193700" y="8572781"/>
            <a:ext cx="3539331" cy="6915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60" y="390525"/>
            <a:ext cx="15604543" cy="1625600"/>
          </a:xfrm>
          <a:prstGeom prst="rect">
            <a:avLst/>
          </a:prstGeom>
        </p:spPr>
        <p:txBody>
          <a:bodyPr vert="horz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7862" y="2182816"/>
            <a:ext cx="7660451" cy="909637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23" indent="0">
              <a:buNone/>
              <a:defRPr sz="2000" b="1"/>
            </a:lvl2pPr>
            <a:lvl3pPr marL="914446" indent="0">
              <a:buNone/>
              <a:defRPr sz="1800" b="1"/>
            </a:lvl3pPr>
            <a:lvl4pPr marL="1371668" indent="0">
              <a:buNone/>
              <a:defRPr sz="1600" b="1"/>
            </a:lvl4pPr>
            <a:lvl5pPr marL="1828892" indent="0">
              <a:buNone/>
              <a:defRPr sz="1600" b="1"/>
            </a:lvl5pPr>
            <a:lvl6pPr marL="2286114" indent="0">
              <a:buNone/>
              <a:defRPr sz="1600" b="1"/>
            </a:lvl6pPr>
            <a:lvl7pPr marL="2743337" indent="0">
              <a:buNone/>
              <a:defRPr sz="1600" b="1"/>
            </a:lvl7pPr>
            <a:lvl8pPr marL="3200560" indent="0">
              <a:buNone/>
              <a:defRPr sz="1600" b="1"/>
            </a:lvl8pPr>
            <a:lvl9pPr marL="365778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7862" y="3092450"/>
            <a:ext cx="7660451" cy="5619750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807722" y="2182816"/>
            <a:ext cx="7664683" cy="909637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23" indent="0">
              <a:buNone/>
              <a:defRPr sz="2000" b="1"/>
            </a:lvl2pPr>
            <a:lvl3pPr marL="914446" indent="0">
              <a:buNone/>
              <a:defRPr sz="1800" b="1"/>
            </a:lvl3pPr>
            <a:lvl4pPr marL="1371668" indent="0">
              <a:buNone/>
              <a:defRPr sz="1600" b="1"/>
            </a:lvl4pPr>
            <a:lvl5pPr marL="1828892" indent="0">
              <a:buNone/>
              <a:defRPr sz="1600" b="1"/>
            </a:lvl5pPr>
            <a:lvl6pPr marL="2286114" indent="0">
              <a:buNone/>
              <a:defRPr sz="1600" b="1"/>
            </a:lvl6pPr>
            <a:lvl7pPr marL="2743337" indent="0">
              <a:buNone/>
              <a:defRPr sz="1600" b="1"/>
            </a:lvl7pPr>
            <a:lvl8pPr marL="3200560" indent="0">
              <a:buNone/>
              <a:defRPr sz="1600" b="1"/>
            </a:lvl8pPr>
            <a:lvl9pPr marL="365778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807722" y="3092450"/>
            <a:ext cx="7664683" cy="5619750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/>
          <p:cNvCxnSpPr/>
          <p:nvPr userDrawn="1"/>
        </p:nvCxnSpPr>
        <p:spPr bwMode="auto">
          <a:xfrm>
            <a:off x="540286" y="1142999"/>
            <a:ext cx="13910321" cy="0"/>
          </a:xfrm>
          <a:prstGeom prst="line">
            <a:avLst/>
          </a:prstGeom>
          <a:solidFill>
            <a:srgbClr val="FFFFFF"/>
          </a:solidFill>
          <a:ln w="57150" cap="flat" cmpd="sng" algn="ctr">
            <a:solidFill>
              <a:srgbClr val="3A81BA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8" name="Picture 7" descr="cid:2__=4EBBF7D9DFDAE9338f9e@wb.ad.worldbank.or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193700" y="8572781"/>
            <a:ext cx="3539331" cy="6915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60" y="390525"/>
            <a:ext cx="15604543" cy="1625600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3" name="Straight Connector 2"/>
          <p:cNvCxnSpPr/>
          <p:nvPr userDrawn="1"/>
        </p:nvCxnSpPr>
        <p:spPr bwMode="auto">
          <a:xfrm>
            <a:off x="540286" y="1142999"/>
            <a:ext cx="13910321" cy="0"/>
          </a:xfrm>
          <a:prstGeom prst="line">
            <a:avLst/>
          </a:prstGeom>
          <a:solidFill>
            <a:srgbClr val="FFFFFF"/>
          </a:solidFill>
          <a:ln w="57150" cap="flat" cmpd="sng" algn="ctr">
            <a:solidFill>
              <a:srgbClr val="3A81BA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4" name="Picture 3" descr="cid:2__=4EBBF7D9DFDAE9338f9e@wb.ad.worldbank.or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193700" y="8572781"/>
            <a:ext cx="3539331" cy="6915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FDRR_Primary Logo_BW-Shade.png"/>
          <p:cNvPicPr>
            <a:picLocks noChangeAspect="1"/>
          </p:cNvPicPr>
          <p:nvPr userDrawn="1"/>
        </p:nvPicPr>
        <p:blipFill>
          <a:blip r:embed="rId2" cstate="email">
            <a:alphaModFix amt="8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4080331" y="8632725"/>
            <a:ext cx="2762250" cy="615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" name="Straight Connector 3"/>
          <p:cNvCxnSpPr/>
          <p:nvPr userDrawn="1"/>
        </p:nvCxnSpPr>
        <p:spPr bwMode="auto">
          <a:xfrm>
            <a:off x="540286" y="1142999"/>
            <a:ext cx="13910321" cy="0"/>
          </a:xfrm>
          <a:prstGeom prst="line">
            <a:avLst/>
          </a:prstGeom>
          <a:solidFill>
            <a:srgbClr val="FFFFFF"/>
          </a:solidFill>
          <a:ln w="57150" cap="flat" cmpd="sng" algn="ctr">
            <a:solidFill>
              <a:srgbClr val="3A81BA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5" name="Picture 4" descr="cid:2__=4EBBF7D9DFDAE9338f9e@wb.ad.worldbank.or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193700" y="8572781"/>
            <a:ext cx="3539331" cy="6915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60" y="388941"/>
            <a:ext cx="5704592" cy="1652587"/>
          </a:xfrm>
          <a:prstGeom prst="rect">
            <a:avLst/>
          </a:prstGeom>
        </p:spPr>
        <p:txBody>
          <a:bodyPr vert="horz"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9891" y="388938"/>
            <a:ext cx="9692512" cy="8323262"/>
          </a:xfrm>
          <a:prstGeom prst="rect">
            <a:avLst/>
          </a:prstGeom>
        </p:spPr>
        <p:txBody>
          <a:bodyPr vert="horz"/>
          <a:lstStyle>
            <a:lvl1pPr>
              <a:defRPr sz="3200"/>
            </a:lvl1pPr>
            <a:lvl2pPr>
              <a:defRPr sz="2801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7860" y="2041528"/>
            <a:ext cx="5704592" cy="667067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23" indent="0">
              <a:buNone/>
              <a:defRPr sz="1200"/>
            </a:lvl2pPr>
            <a:lvl3pPr marL="914446" indent="0">
              <a:buNone/>
              <a:defRPr sz="1000"/>
            </a:lvl3pPr>
            <a:lvl4pPr marL="1371668" indent="0">
              <a:buNone/>
              <a:defRPr sz="900"/>
            </a:lvl4pPr>
            <a:lvl5pPr marL="1828892" indent="0">
              <a:buNone/>
              <a:defRPr sz="900"/>
            </a:lvl5pPr>
            <a:lvl6pPr marL="2286114" indent="0">
              <a:buNone/>
              <a:defRPr sz="900"/>
            </a:lvl6pPr>
            <a:lvl7pPr marL="2743337" indent="0">
              <a:buNone/>
              <a:defRPr sz="900"/>
            </a:lvl7pPr>
            <a:lvl8pPr marL="3200560" indent="0">
              <a:buNone/>
              <a:defRPr sz="900"/>
            </a:lvl8pPr>
            <a:lvl9pPr marL="365778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/>
          <p:cNvCxnSpPr/>
          <p:nvPr userDrawn="1"/>
        </p:nvCxnSpPr>
        <p:spPr bwMode="auto">
          <a:xfrm>
            <a:off x="540286" y="1142999"/>
            <a:ext cx="13910321" cy="0"/>
          </a:xfrm>
          <a:prstGeom prst="line">
            <a:avLst/>
          </a:prstGeom>
          <a:solidFill>
            <a:srgbClr val="FFFFFF"/>
          </a:solidFill>
          <a:ln w="57150" cap="flat" cmpd="sng" algn="ctr">
            <a:solidFill>
              <a:srgbClr val="3A81BA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6" name="Picture 5" descr="cid:2__=4EBBF7D9DFDAE9338f9e@wb.ad.worldbank.or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193700" y="8572781"/>
            <a:ext cx="3539331" cy="6915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9473" y="6827838"/>
            <a:ext cx="10403735" cy="806450"/>
          </a:xfrm>
          <a:prstGeom prst="rect">
            <a:avLst/>
          </a:prstGeom>
        </p:spPr>
        <p:txBody>
          <a:bodyPr vert="horz"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399473" y="871541"/>
            <a:ext cx="10403735" cy="585152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3200"/>
            </a:lvl1pPr>
            <a:lvl2pPr marL="457223" indent="0">
              <a:buNone/>
              <a:defRPr sz="2801"/>
            </a:lvl2pPr>
            <a:lvl3pPr marL="914446" indent="0">
              <a:buNone/>
              <a:defRPr sz="2400"/>
            </a:lvl3pPr>
            <a:lvl4pPr marL="1371668" indent="0">
              <a:buNone/>
              <a:defRPr sz="2000"/>
            </a:lvl4pPr>
            <a:lvl5pPr marL="1828892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pPr lvl="0"/>
            <a:r>
              <a:rPr lang="en-US" noProof="0">
                <a:sym typeface="Helvetica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399473" y="7634288"/>
            <a:ext cx="10403735" cy="1144587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23" indent="0">
              <a:buNone/>
              <a:defRPr sz="1200"/>
            </a:lvl2pPr>
            <a:lvl3pPr marL="914446" indent="0">
              <a:buNone/>
              <a:defRPr sz="1000"/>
            </a:lvl3pPr>
            <a:lvl4pPr marL="1371668" indent="0">
              <a:buNone/>
              <a:defRPr sz="900"/>
            </a:lvl4pPr>
            <a:lvl5pPr marL="1828892" indent="0">
              <a:buNone/>
              <a:defRPr sz="900"/>
            </a:lvl5pPr>
            <a:lvl6pPr marL="2286114" indent="0">
              <a:buNone/>
              <a:defRPr sz="900"/>
            </a:lvl6pPr>
            <a:lvl7pPr marL="2743337" indent="0">
              <a:buNone/>
              <a:defRPr sz="900"/>
            </a:lvl7pPr>
            <a:lvl8pPr marL="3200560" indent="0">
              <a:buNone/>
              <a:defRPr sz="900"/>
            </a:lvl8pPr>
            <a:lvl9pPr marL="365778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/>
          <p:cNvCxnSpPr/>
          <p:nvPr userDrawn="1"/>
        </p:nvCxnSpPr>
        <p:spPr bwMode="auto">
          <a:xfrm>
            <a:off x="540286" y="1142999"/>
            <a:ext cx="13910321" cy="0"/>
          </a:xfrm>
          <a:prstGeom prst="line">
            <a:avLst/>
          </a:prstGeom>
          <a:solidFill>
            <a:srgbClr val="FFFFFF"/>
          </a:solidFill>
          <a:ln w="57150" cap="flat" cmpd="sng" algn="ctr">
            <a:solidFill>
              <a:srgbClr val="3A81BA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6" name="Picture 5" descr="cid:2__=4EBBF7D9DFDAE9338f9e@wb.ad.worldbank.or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193700" y="8572781"/>
            <a:ext cx="3539331" cy="6915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60" y="390525"/>
            <a:ext cx="15604543" cy="1625600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7860" y="2276478"/>
            <a:ext cx="15604543" cy="6435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/>
          <p:cNvCxnSpPr/>
          <p:nvPr userDrawn="1"/>
        </p:nvCxnSpPr>
        <p:spPr bwMode="auto">
          <a:xfrm>
            <a:off x="540286" y="1142999"/>
            <a:ext cx="13910321" cy="0"/>
          </a:xfrm>
          <a:prstGeom prst="line">
            <a:avLst/>
          </a:prstGeom>
          <a:solidFill>
            <a:srgbClr val="FFFFFF"/>
          </a:solidFill>
          <a:ln w="57150" cap="flat" cmpd="sng" algn="ctr">
            <a:solidFill>
              <a:srgbClr val="3A81BA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5" name="Picture 4" descr="cid:2__=4EBBF7D9DFDAE9338f9e@wb.ad.worldbank.or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193700" y="8572781"/>
            <a:ext cx="3539331" cy="6915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571268" y="390528"/>
            <a:ext cx="3901135" cy="832167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7860" y="390528"/>
            <a:ext cx="11500202" cy="8321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/>
          <p:cNvCxnSpPr/>
          <p:nvPr userDrawn="1"/>
        </p:nvCxnSpPr>
        <p:spPr bwMode="auto">
          <a:xfrm>
            <a:off x="540286" y="1142999"/>
            <a:ext cx="13910321" cy="0"/>
          </a:xfrm>
          <a:prstGeom prst="line">
            <a:avLst/>
          </a:prstGeom>
          <a:solidFill>
            <a:srgbClr val="FFFFFF"/>
          </a:solidFill>
          <a:ln w="57150" cap="flat" cmpd="sng" algn="ctr">
            <a:solidFill>
              <a:srgbClr val="3A81BA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5" name="Picture 4" descr="cid:2__=4EBBF7D9DFDAE9338f9e@wb.ad.worldbank.or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193700" y="8572781"/>
            <a:ext cx="3539331" cy="6915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FDRR_Primary Logo_BW-Shade.png"/>
          <p:cNvPicPr>
            <a:picLocks noChangeAspect="1"/>
          </p:cNvPicPr>
          <p:nvPr userDrawn="1"/>
        </p:nvPicPr>
        <p:blipFill>
          <a:blip r:embed="rId13" cstate="email">
            <a:alphaModFix amt="8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4080331" y="8632725"/>
            <a:ext cx="2762250" cy="615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defTabSz="457223" rtl="0" eaLnBrk="1" fontAlgn="base" hangingPunct="1">
        <a:spcBef>
          <a:spcPct val="0"/>
        </a:spcBef>
        <a:spcAft>
          <a:spcPct val="0"/>
        </a:spcAft>
        <a:defRPr sz="1200">
          <a:solidFill>
            <a:srgbClr val="000000"/>
          </a:solidFill>
          <a:latin typeface="+mj-lt"/>
          <a:ea typeface="+mj-ea"/>
          <a:cs typeface="+mj-cs"/>
          <a:sym typeface="Helvetica" charset="0"/>
        </a:defRPr>
      </a:lvl1pPr>
      <a:lvl2pPr algn="l" defTabSz="457223" rtl="0" eaLnBrk="1" fontAlgn="base" hangingPunct="1">
        <a:spcBef>
          <a:spcPct val="0"/>
        </a:spcBef>
        <a:spcAft>
          <a:spcPct val="0"/>
        </a:spcAft>
        <a:defRPr sz="1200">
          <a:solidFill>
            <a:srgbClr val="000000"/>
          </a:solidFill>
          <a:latin typeface="Helvetica" charset="0"/>
          <a:ea typeface="Helvetica" charset="0"/>
          <a:cs typeface="Helvetica" charset="0"/>
          <a:sym typeface="Helvetica" charset="0"/>
        </a:defRPr>
      </a:lvl2pPr>
      <a:lvl3pPr algn="l" defTabSz="457223" rtl="0" eaLnBrk="1" fontAlgn="base" hangingPunct="1">
        <a:spcBef>
          <a:spcPct val="0"/>
        </a:spcBef>
        <a:spcAft>
          <a:spcPct val="0"/>
        </a:spcAft>
        <a:defRPr sz="1200">
          <a:solidFill>
            <a:srgbClr val="000000"/>
          </a:solidFill>
          <a:latin typeface="Helvetica" charset="0"/>
          <a:ea typeface="Helvetica" charset="0"/>
          <a:cs typeface="Helvetica" charset="0"/>
          <a:sym typeface="Helvetica" charset="0"/>
        </a:defRPr>
      </a:lvl3pPr>
      <a:lvl4pPr algn="l" defTabSz="457223" rtl="0" eaLnBrk="1" fontAlgn="base" hangingPunct="1">
        <a:spcBef>
          <a:spcPct val="0"/>
        </a:spcBef>
        <a:spcAft>
          <a:spcPct val="0"/>
        </a:spcAft>
        <a:defRPr sz="1200">
          <a:solidFill>
            <a:srgbClr val="000000"/>
          </a:solidFill>
          <a:latin typeface="Helvetica" charset="0"/>
          <a:ea typeface="Helvetica" charset="0"/>
          <a:cs typeface="Helvetica" charset="0"/>
          <a:sym typeface="Helvetica" charset="0"/>
        </a:defRPr>
      </a:lvl4pPr>
      <a:lvl5pPr algn="l" defTabSz="457223" rtl="0" eaLnBrk="1" fontAlgn="base" hangingPunct="1">
        <a:spcBef>
          <a:spcPct val="0"/>
        </a:spcBef>
        <a:spcAft>
          <a:spcPct val="0"/>
        </a:spcAft>
        <a:defRPr sz="1200">
          <a:solidFill>
            <a:srgbClr val="000000"/>
          </a:solidFill>
          <a:latin typeface="Helvetica" charset="0"/>
          <a:ea typeface="Helvetica" charset="0"/>
          <a:cs typeface="Helvetica" charset="0"/>
          <a:sym typeface="Helvetica" charset="0"/>
        </a:defRPr>
      </a:lvl5pPr>
      <a:lvl6pPr marL="457223" algn="l" defTabSz="457223" rtl="0" eaLnBrk="1" fontAlgn="base" hangingPunct="1">
        <a:spcBef>
          <a:spcPct val="0"/>
        </a:spcBef>
        <a:spcAft>
          <a:spcPct val="0"/>
        </a:spcAft>
        <a:defRPr sz="1200">
          <a:solidFill>
            <a:srgbClr val="000000"/>
          </a:solidFill>
          <a:latin typeface="Helvetica" charset="0"/>
          <a:ea typeface="Helvetica" charset="0"/>
          <a:cs typeface="Helvetica" charset="0"/>
          <a:sym typeface="Helvetica" charset="0"/>
        </a:defRPr>
      </a:lvl6pPr>
      <a:lvl7pPr marL="914446" algn="l" defTabSz="457223" rtl="0" eaLnBrk="1" fontAlgn="base" hangingPunct="1">
        <a:spcBef>
          <a:spcPct val="0"/>
        </a:spcBef>
        <a:spcAft>
          <a:spcPct val="0"/>
        </a:spcAft>
        <a:defRPr sz="1200">
          <a:solidFill>
            <a:srgbClr val="000000"/>
          </a:solidFill>
          <a:latin typeface="Helvetica" charset="0"/>
          <a:ea typeface="Helvetica" charset="0"/>
          <a:cs typeface="Helvetica" charset="0"/>
          <a:sym typeface="Helvetica" charset="0"/>
        </a:defRPr>
      </a:lvl7pPr>
      <a:lvl8pPr marL="1371668" algn="l" defTabSz="457223" rtl="0" eaLnBrk="1" fontAlgn="base" hangingPunct="1">
        <a:spcBef>
          <a:spcPct val="0"/>
        </a:spcBef>
        <a:spcAft>
          <a:spcPct val="0"/>
        </a:spcAft>
        <a:defRPr sz="1200">
          <a:solidFill>
            <a:srgbClr val="000000"/>
          </a:solidFill>
          <a:latin typeface="Helvetica" charset="0"/>
          <a:ea typeface="Helvetica" charset="0"/>
          <a:cs typeface="Helvetica" charset="0"/>
          <a:sym typeface="Helvetica" charset="0"/>
        </a:defRPr>
      </a:lvl8pPr>
      <a:lvl9pPr marL="1828892" algn="l" defTabSz="457223" rtl="0" eaLnBrk="1" fontAlgn="base" hangingPunct="1">
        <a:spcBef>
          <a:spcPct val="0"/>
        </a:spcBef>
        <a:spcAft>
          <a:spcPct val="0"/>
        </a:spcAft>
        <a:defRPr sz="1200">
          <a:solidFill>
            <a:srgbClr val="000000"/>
          </a:solidFill>
          <a:latin typeface="Helvetica" charset="0"/>
          <a:ea typeface="Helvetica" charset="0"/>
          <a:cs typeface="Helvetica" charset="0"/>
          <a:sym typeface="Helvetica" charset="0"/>
        </a:defRPr>
      </a:lvl9pPr>
    </p:titleStyle>
    <p:bodyStyle>
      <a:lvl1pPr marL="342917" indent="-342917" algn="l" defTabSz="457223" rtl="0" eaLnBrk="1" fontAlgn="base" hangingPunct="1">
        <a:spcBef>
          <a:spcPct val="0"/>
        </a:spcBef>
        <a:spcAft>
          <a:spcPct val="0"/>
        </a:spcAft>
        <a:defRPr sz="1200">
          <a:solidFill>
            <a:srgbClr val="000000"/>
          </a:solidFill>
          <a:latin typeface="+mn-lt"/>
          <a:ea typeface="+mn-ea"/>
          <a:cs typeface="+mn-cs"/>
          <a:sym typeface="Helvetica" charset="0"/>
        </a:defRPr>
      </a:lvl1pPr>
      <a:lvl2pPr marL="228611" indent="228611" algn="l" defTabSz="457223" rtl="0" eaLnBrk="1" fontAlgn="base" hangingPunct="1">
        <a:spcBef>
          <a:spcPct val="0"/>
        </a:spcBef>
        <a:spcAft>
          <a:spcPct val="0"/>
        </a:spcAft>
        <a:defRPr sz="1200">
          <a:solidFill>
            <a:srgbClr val="000000"/>
          </a:solidFill>
          <a:latin typeface="+mn-lt"/>
          <a:ea typeface="+mn-ea"/>
          <a:cs typeface="+mn-cs"/>
          <a:sym typeface="Helvetica" charset="0"/>
        </a:defRPr>
      </a:lvl2pPr>
      <a:lvl3pPr marL="457223" indent="457223" algn="l" defTabSz="457223" rtl="0" eaLnBrk="1" fontAlgn="base" hangingPunct="1">
        <a:spcBef>
          <a:spcPct val="0"/>
        </a:spcBef>
        <a:spcAft>
          <a:spcPct val="0"/>
        </a:spcAft>
        <a:defRPr sz="1200">
          <a:solidFill>
            <a:srgbClr val="000000"/>
          </a:solidFill>
          <a:latin typeface="+mn-lt"/>
          <a:ea typeface="+mn-ea"/>
          <a:cs typeface="+mn-cs"/>
          <a:sym typeface="Helvetica" charset="0"/>
        </a:defRPr>
      </a:lvl3pPr>
      <a:lvl4pPr marL="685835" indent="685835" algn="l" defTabSz="457223" rtl="0" eaLnBrk="1" fontAlgn="base" hangingPunct="1">
        <a:spcBef>
          <a:spcPct val="0"/>
        </a:spcBef>
        <a:spcAft>
          <a:spcPct val="0"/>
        </a:spcAft>
        <a:defRPr sz="1200">
          <a:solidFill>
            <a:srgbClr val="000000"/>
          </a:solidFill>
          <a:latin typeface="+mn-lt"/>
          <a:ea typeface="+mn-ea"/>
          <a:cs typeface="+mn-cs"/>
          <a:sym typeface="Helvetica" charset="0"/>
        </a:defRPr>
      </a:lvl4pPr>
      <a:lvl5pPr marL="914446" indent="914446" algn="l" defTabSz="457223" rtl="0" eaLnBrk="1" fontAlgn="base" hangingPunct="1">
        <a:spcBef>
          <a:spcPct val="0"/>
        </a:spcBef>
        <a:spcAft>
          <a:spcPct val="0"/>
        </a:spcAft>
        <a:defRPr sz="1200">
          <a:solidFill>
            <a:srgbClr val="000000"/>
          </a:solidFill>
          <a:latin typeface="+mn-lt"/>
          <a:ea typeface="+mn-ea"/>
          <a:cs typeface="+mn-cs"/>
          <a:sym typeface="Helvetica" charset="0"/>
        </a:defRPr>
      </a:lvl5pPr>
      <a:lvl6pPr marL="1371668" algn="l" defTabSz="457223" rtl="0" eaLnBrk="1" fontAlgn="base" hangingPunct="1">
        <a:spcBef>
          <a:spcPct val="0"/>
        </a:spcBef>
        <a:spcAft>
          <a:spcPct val="0"/>
        </a:spcAft>
        <a:defRPr sz="1200">
          <a:solidFill>
            <a:srgbClr val="000000"/>
          </a:solidFill>
          <a:latin typeface="+mn-lt"/>
          <a:ea typeface="+mn-ea"/>
          <a:cs typeface="+mn-cs"/>
          <a:sym typeface="Helvetica" charset="0"/>
        </a:defRPr>
      </a:lvl6pPr>
      <a:lvl7pPr marL="1828892" algn="l" defTabSz="457223" rtl="0" eaLnBrk="1" fontAlgn="base" hangingPunct="1">
        <a:spcBef>
          <a:spcPct val="0"/>
        </a:spcBef>
        <a:spcAft>
          <a:spcPct val="0"/>
        </a:spcAft>
        <a:defRPr sz="1200">
          <a:solidFill>
            <a:srgbClr val="000000"/>
          </a:solidFill>
          <a:latin typeface="+mn-lt"/>
          <a:ea typeface="+mn-ea"/>
          <a:cs typeface="+mn-cs"/>
          <a:sym typeface="Helvetica" charset="0"/>
        </a:defRPr>
      </a:lvl7pPr>
      <a:lvl8pPr marL="2286114" algn="l" defTabSz="457223" rtl="0" eaLnBrk="1" fontAlgn="base" hangingPunct="1">
        <a:spcBef>
          <a:spcPct val="0"/>
        </a:spcBef>
        <a:spcAft>
          <a:spcPct val="0"/>
        </a:spcAft>
        <a:defRPr sz="1200">
          <a:solidFill>
            <a:srgbClr val="000000"/>
          </a:solidFill>
          <a:latin typeface="+mn-lt"/>
          <a:ea typeface="+mn-ea"/>
          <a:cs typeface="+mn-cs"/>
          <a:sym typeface="Helvetica" charset="0"/>
        </a:defRPr>
      </a:lvl8pPr>
      <a:lvl9pPr marL="2743337" algn="l" defTabSz="457223" rtl="0" eaLnBrk="1" fontAlgn="base" hangingPunct="1">
        <a:spcBef>
          <a:spcPct val="0"/>
        </a:spcBef>
        <a:spcAft>
          <a:spcPct val="0"/>
        </a:spcAft>
        <a:defRPr sz="1200">
          <a:solidFill>
            <a:srgbClr val="000000"/>
          </a:solidFill>
          <a:latin typeface="+mn-lt"/>
          <a:ea typeface="+mn-ea"/>
          <a:cs typeface="+mn-cs"/>
          <a:sym typeface="Helvetica" charset="0"/>
        </a:defRPr>
      </a:lvl9pPr>
    </p:bodyStyle>
    <p:otherStyle>
      <a:defPPr>
        <a:defRPr lang="en-US"/>
      </a:defPPr>
      <a:lvl1pPr marL="0" algn="l" defTabSz="4572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4572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4572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8" algn="l" defTabSz="4572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2" algn="l" defTabSz="4572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4572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4572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4572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4572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eg"/><Relationship Id="rId3" Type="http://schemas.openxmlformats.org/officeDocument/2006/relationships/image" Target="../media/image17.jpeg"/><Relationship Id="rId7" Type="http://schemas.openxmlformats.org/officeDocument/2006/relationships/image" Target="../media/image2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jpe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svg"/><Relationship Id="rId5" Type="http://schemas.openxmlformats.org/officeDocument/2006/relationships/image" Target="../media/image26.sv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jpeg"/><Relationship Id="rId5" Type="http://schemas.openxmlformats.org/officeDocument/2006/relationships/image" Target="../media/image35.jpeg"/><Relationship Id="rId4" Type="http://schemas.openxmlformats.org/officeDocument/2006/relationships/image" Target="../media/image3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8578056" y="4576764"/>
            <a:ext cx="312906" cy="600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/>
              <a:t> </a:t>
            </a:r>
          </a:p>
        </p:txBody>
      </p:sp>
      <p:sp>
        <p:nvSpPr>
          <p:cNvPr id="7" name="Rectangle 3"/>
          <p:cNvSpPr txBox="1">
            <a:spLocks/>
          </p:cNvSpPr>
          <p:nvPr/>
        </p:nvSpPr>
        <p:spPr bwMode="auto">
          <a:xfrm>
            <a:off x="1" y="1371600"/>
            <a:ext cx="17340262" cy="8382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defTabSz="457223" rtl="0" eaLnBrk="1" fontAlgn="base" hangingPunct="1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" charset="0"/>
              </a:defRPr>
            </a:lvl1pPr>
            <a:lvl2pPr algn="l" defTabSz="457223" rtl="0" eaLnBrk="1" fontAlgn="base" hangingPunct="1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defRPr>
            </a:lvl2pPr>
            <a:lvl3pPr algn="l" defTabSz="457223" rtl="0" eaLnBrk="1" fontAlgn="base" hangingPunct="1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defRPr>
            </a:lvl3pPr>
            <a:lvl4pPr algn="l" defTabSz="457223" rtl="0" eaLnBrk="1" fontAlgn="base" hangingPunct="1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defRPr>
            </a:lvl4pPr>
            <a:lvl5pPr algn="l" defTabSz="457223" rtl="0" eaLnBrk="1" fontAlgn="base" hangingPunct="1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defRPr>
            </a:lvl5pPr>
            <a:lvl6pPr marL="457223" algn="l" defTabSz="457223" rtl="0" eaLnBrk="1" fontAlgn="base" hangingPunct="1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defRPr>
            </a:lvl6pPr>
            <a:lvl7pPr marL="914446" algn="l" defTabSz="457223" rtl="0" eaLnBrk="1" fontAlgn="base" hangingPunct="1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defRPr>
            </a:lvl7pPr>
            <a:lvl8pPr marL="1371668" algn="l" defTabSz="457223" rtl="0" eaLnBrk="1" fontAlgn="base" hangingPunct="1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defRPr>
            </a:lvl8pPr>
            <a:lvl9pPr marL="1828892" algn="l" defTabSz="457223" rtl="0" eaLnBrk="1" fontAlgn="base" hangingPunct="1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defRPr>
            </a:lvl9pPr>
          </a:lstStyle>
          <a:p>
            <a:pPr algn="ctr" defTabSz="766802"/>
            <a:r>
              <a:rPr lang="en-US" sz="6000" b="1" dirty="0">
                <a:solidFill>
                  <a:schemeClr val="tx1"/>
                </a:solidFill>
              </a:rPr>
              <a:t>Modernizing Hydrological Services in Developing Countries</a:t>
            </a:r>
            <a:endParaRPr lang="en-US" sz="2050" b="1" dirty="0">
              <a:solidFill>
                <a:schemeClr val="tx1"/>
              </a:solidFill>
            </a:endParaRPr>
          </a:p>
          <a:p>
            <a:pPr algn="r" defTabSz="766802"/>
            <a:endParaRPr lang="fr-FR" sz="3200" b="1" kern="0" dirty="0">
              <a:solidFill>
                <a:srgbClr val="88950F"/>
              </a:solidFill>
              <a:latin typeface="Helvetica Neue" charset="0"/>
            </a:endParaRPr>
          </a:p>
          <a:p>
            <a:pPr algn="r" defTabSz="766802"/>
            <a:endParaRPr lang="en-US" sz="3200" b="1" kern="0" dirty="0">
              <a:solidFill>
                <a:srgbClr val="88950F"/>
              </a:solidFill>
              <a:latin typeface="Helvetica Neue" charset="0"/>
            </a:endParaRPr>
          </a:p>
          <a:p>
            <a:pPr algn="r" defTabSz="766802"/>
            <a:endParaRPr lang="en-US" sz="3200" b="1" kern="0" dirty="0">
              <a:solidFill>
                <a:srgbClr val="88950F"/>
              </a:solidFill>
              <a:latin typeface="Helvetica Neue" charset="0"/>
            </a:endParaRPr>
          </a:p>
          <a:p>
            <a:pPr algn="r" defTabSz="766802"/>
            <a:endParaRPr lang="en-US" sz="3200" b="1" kern="0" dirty="0">
              <a:solidFill>
                <a:srgbClr val="88950F"/>
              </a:solidFill>
              <a:latin typeface="Helvetica Neue" charset="0"/>
            </a:endParaRPr>
          </a:p>
          <a:p>
            <a:pPr algn="r" defTabSz="766802"/>
            <a:endParaRPr lang="en-US" sz="3200" b="1" kern="0" dirty="0">
              <a:solidFill>
                <a:srgbClr val="88950F"/>
              </a:solidFill>
              <a:latin typeface="Helvetica Neue" charset="0"/>
            </a:endParaRPr>
          </a:p>
          <a:p>
            <a:pPr algn="r" defTabSz="766802"/>
            <a:endParaRPr lang="en-US" sz="3200" b="1" kern="0" dirty="0">
              <a:solidFill>
                <a:srgbClr val="88950F"/>
              </a:solidFill>
              <a:latin typeface="Helvetica Neue" charset="0"/>
            </a:endParaRPr>
          </a:p>
          <a:p>
            <a:pPr algn="r" defTabSz="766802"/>
            <a:endParaRPr lang="en-US" sz="3200" b="1" kern="0" dirty="0">
              <a:solidFill>
                <a:srgbClr val="88950F"/>
              </a:solidFill>
              <a:latin typeface="Helvetica Neue" charset="0"/>
            </a:endParaRPr>
          </a:p>
          <a:p>
            <a:pPr algn="r" defTabSz="766802"/>
            <a:endParaRPr lang="en-US" sz="3200" b="1" kern="0" dirty="0">
              <a:solidFill>
                <a:srgbClr val="88950F"/>
              </a:solidFill>
              <a:latin typeface="Helvetica Neue" charset="0"/>
            </a:endParaRPr>
          </a:p>
          <a:p>
            <a:pPr defTabSz="766802"/>
            <a:r>
              <a:rPr lang="en-US" sz="5400" b="1" kern="0" dirty="0">
                <a:solidFill>
                  <a:srgbClr val="9A9E06"/>
                </a:solidFill>
                <a:latin typeface="Helvetica Neue" charset="0"/>
              </a:rPr>
              <a:t>	</a:t>
            </a:r>
            <a:r>
              <a:rPr lang="en-US" sz="4400" b="1" kern="0" dirty="0">
                <a:solidFill>
                  <a:schemeClr val="accent1">
                    <a:lumMod val="20000"/>
                    <a:lumOff val="80000"/>
                  </a:schemeClr>
                </a:solidFill>
                <a:latin typeface="Helvetica Neue" charset="0"/>
              </a:rPr>
              <a:t>Daniel Kull</a:t>
            </a:r>
          </a:p>
          <a:p>
            <a:pPr defTabSz="766802"/>
            <a:r>
              <a:rPr lang="en-US" sz="4000" b="1" kern="0" dirty="0">
                <a:solidFill>
                  <a:schemeClr val="accent1">
                    <a:lumMod val="20000"/>
                    <a:lumOff val="80000"/>
                  </a:schemeClr>
                </a:solidFill>
                <a:latin typeface="Helvetica Neue" charset="0"/>
              </a:rPr>
              <a:t>	</a:t>
            </a:r>
            <a:r>
              <a:rPr lang="en-US" sz="3200" b="1" kern="0" dirty="0">
                <a:solidFill>
                  <a:schemeClr val="accent1">
                    <a:lumMod val="20000"/>
                    <a:lumOff val="80000"/>
                  </a:schemeClr>
                </a:solidFill>
                <a:latin typeface="Helvetica Neue" charset="0"/>
              </a:rPr>
              <a:t>Senior Disaster Risk Management Specialist</a:t>
            </a:r>
          </a:p>
          <a:p>
            <a:pPr defTabSz="766802"/>
            <a:r>
              <a:rPr lang="en-US" sz="3200" b="1" kern="0" dirty="0">
                <a:solidFill>
                  <a:schemeClr val="accent1">
                    <a:lumMod val="20000"/>
                    <a:lumOff val="80000"/>
                  </a:schemeClr>
                </a:solidFill>
                <a:latin typeface="Helvetica Neue" charset="0"/>
              </a:rPr>
              <a:t>	World Bank Geneva Office</a:t>
            </a:r>
          </a:p>
          <a:p>
            <a:pPr defTabSz="766802"/>
            <a:r>
              <a:rPr lang="en-US" sz="3200" b="1" kern="0" dirty="0">
                <a:solidFill>
                  <a:schemeClr val="accent1">
                    <a:lumMod val="20000"/>
                    <a:lumOff val="80000"/>
                  </a:schemeClr>
                </a:solidFill>
                <a:latin typeface="Helvetica Neue" charset="0"/>
              </a:rPr>
              <a:t>	dkull@worldbank.org</a:t>
            </a:r>
          </a:p>
        </p:txBody>
      </p:sp>
      <p:sp>
        <p:nvSpPr>
          <p:cNvPr id="8" name="AutoShape 4"/>
          <p:cNvSpPr>
            <a:spLocks/>
          </p:cNvSpPr>
          <p:nvPr/>
        </p:nvSpPr>
        <p:spPr bwMode="auto">
          <a:xfrm>
            <a:off x="8130041" y="5334000"/>
            <a:ext cx="8686906" cy="2044786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noFill/>
            <a:miter lim="800000"/>
            <a:headEnd/>
            <a:tailEnd/>
          </a:ln>
        </p:spPr>
        <p:txBody>
          <a:bodyPr lIns="130026" tIns="130026" rIns="130026" bIns="130026">
            <a:prstTxWarp prst="textNoShape">
              <a:avLst/>
            </a:prstTxWarp>
          </a:bodyPr>
          <a:lstStyle/>
          <a:p>
            <a:pPr algn="r"/>
            <a:endParaRPr lang="en-US" sz="3200" b="1" dirty="0">
              <a:latin typeface="Helvetica Neue Light" charset="0"/>
              <a:ea typeface="Helvetica Neue" charset="0"/>
              <a:cs typeface="Helvetica Neue" charset="0"/>
              <a:sym typeface="Helvetica Neue" charset="0"/>
            </a:endParaRPr>
          </a:p>
          <a:p>
            <a:pPr algn="r"/>
            <a:endParaRPr lang="en-US" sz="2801" dirty="0">
              <a:latin typeface="Helvetica Neue Light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4104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>
            <a:extLst>
              <a:ext uri="{FF2B5EF4-FFF2-40B4-BE49-F238E27FC236}">
                <a16:creationId xmlns:a16="http://schemas.microsoft.com/office/drawing/2014/main" id="{ACB3A98A-3F57-4FDB-9080-BBE054DD61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17" y="5562600"/>
            <a:ext cx="17210314" cy="4038600"/>
          </a:xfrm>
          <a:prstGeom prst="rect">
            <a:avLst/>
          </a:prstGeom>
        </p:spPr>
      </p:pic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40531" y="445347"/>
            <a:ext cx="12547336" cy="926253"/>
          </a:xfrm>
        </p:spPr>
        <p:txBody>
          <a:bodyPr/>
          <a:lstStyle/>
          <a:p>
            <a:r>
              <a:rPr lang="en-US" sz="4400" b="1" dirty="0">
                <a:solidFill>
                  <a:srgbClr val="9A9E0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Introduction to the World Bank Group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66A743C-842F-433E-A898-43060190DB4A}"/>
              </a:ext>
            </a:extLst>
          </p:cNvPr>
          <p:cNvSpPr/>
          <p:nvPr/>
        </p:nvSpPr>
        <p:spPr>
          <a:xfrm>
            <a:off x="211931" y="1727299"/>
            <a:ext cx="16764000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23" hangingPunct="1">
              <a:spcAft>
                <a:spcPts val="1200"/>
              </a:spcAft>
            </a:pPr>
            <a:r>
              <a:rPr lang="en-US" sz="3600" b="1" dirty="0">
                <a:solidFill>
                  <a:schemeClr val="bg2"/>
                </a:solidFill>
                <a:latin typeface="+mn-lt"/>
                <a:ea typeface="+mn-ea"/>
                <a:cs typeface="+mn-cs"/>
                <a:sym typeface="Helvetica" charset="0"/>
              </a:rPr>
              <a:t>Two goals to achieve by 2030:</a:t>
            </a:r>
          </a:p>
          <a:p>
            <a:pPr marL="457200" indent="-457200" defTabSz="457223" hangingPunct="1">
              <a:spcAft>
                <a:spcPts val="1200"/>
              </a:spcAft>
              <a:buFont typeface="Helvetica" panose="020B0604020202020204" pitchFamily="34" charset="0"/>
              <a:buChar char="›"/>
            </a:pPr>
            <a:r>
              <a:rPr lang="en-US" sz="3600" dirty="0">
                <a:solidFill>
                  <a:schemeClr val="bg2"/>
                </a:solidFill>
                <a:latin typeface="+mn-lt"/>
                <a:ea typeface="+mn-ea"/>
                <a:cs typeface="+mn-cs"/>
                <a:sym typeface="Helvetica" charset="0"/>
              </a:rPr>
              <a:t>End extreme poverty by decreasing the percentage of people living on less than $1.90 a day to no more than 3%</a:t>
            </a:r>
          </a:p>
          <a:p>
            <a:pPr marL="457200" indent="-457200" defTabSz="457223" hangingPunct="1">
              <a:spcAft>
                <a:spcPts val="1200"/>
              </a:spcAft>
              <a:buFont typeface="Helvetica" panose="020B0604020202020204" pitchFamily="34" charset="0"/>
              <a:buChar char="›"/>
            </a:pPr>
            <a:r>
              <a:rPr lang="en-US" sz="3600" dirty="0">
                <a:solidFill>
                  <a:schemeClr val="bg2"/>
                </a:solidFill>
                <a:latin typeface="+mn-lt"/>
                <a:ea typeface="+mn-ea"/>
                <a:cs typeface="+mn-cs"/>
                <a:sym typeface="Helvetica" charset="0"/>
              </a:rPr>
              <a:t>Promote shared prosperity by fostering the income growth of the bottom 40%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3446721-5751-472E-9BBF-D49E663F4CB3}"/>
              </a:ext>
            </a:extLst>
          </p:cNvPr>
          <p:cNvSpPr txBox="1"/>
          <p:nvPr/>
        </p:nvSpPr>
        <p:spPr>
          <a:xfrm>
            <a:off x="59531" y="5181600"/>
            <a:ext cx="6934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Public Sector (“The World Bank”)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3A85E7F-2B6A-4D90-9A45-AB351DA68CCD}"/>
              </a:ext>
            </a:extLst>
          </p:cNvPr>
          <p:cNvSpPr txBox="1"/>
          <p:nvPr/>
        </p:nvSpPr>
        <p:spPr>
          <a:xfrm>
            <a:off x="6934200" y="5181600"/>
            <a:ext cx="6934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Private Sector</a:t>
            </a:r>
          </a:p>
        </p:txBody>
      </p:sp>
    </p:spTree>
    <p:extLst>
      <p:ext uri="{BB962C8B-B14F-4D97-AF65-F5344CB8AC3E}">
        <p14:creationId xmlns:p14="http://schemas.microsoft.com/office/powerpoint/2010/main" val="3382559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40531" y="445347"/>
            <a:ext cx="12547336" cy="926253"/>
          </a:xfrm>
        </p:spPr>
        <p:txBody>
          <a:bodyPr/>
          <a:lstStyle/>
          <a:p>
            <a:r>
              <a:rPr lang="en-US" sz="4400" b="1" dirty="0">
                <a:solidFill>
                  <a:srgbClr val="9A9E0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Our Interest in Hydrological Services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F3A289-69CB-48BB-920E-00B59398CE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41" y="5526589"/>
            <a:ext cx="8289131" cy="4097545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4405D12B-B21C-4132-9F58-F1863CE218A8}"/>
              </a:ext>
            </a:extLst>
          </p:cNvPr>
          <p:cNvGrpSpPr/>
          <p:nvPr/>
        </p:nvGrpSpPr>
        <p:grpSpPr>
          <a:xfrm>
            <a:off x="3499908" y="1371600"/>
            <a:ext cx="13857023" cy="5248275"/>
            <a:chOff x="3499908" y="1371600"/>
            <a:chExt cx="13857023" cy="524827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853139B-B4B2-414A-98DA-2FBB348EBA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99908" y="1371600"/>
              <a:ext cx="8677275" cy="158115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752C327-4AF8-4783-B9D2-9FF7E94ED2F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76308" y="2514600"/>
              <a:ext cx="8696325" cy="1533525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531E26D-962F-4FBB-88C1-36B39A60C42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852708" y="3657600"/>
              <a:ext cx="8715375" cy="1590675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0D04D14-B243-4A5B-B414-2239FC1092A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641556" y="5029200"/>
              <a:ext cx="8715375" cy="1590675"/>
            </a:xfrm>
            <a:prstGeom prst="rect">
              <a:avLst/>
            </a:prstGeom>
          </p:spPr>
        </p:pic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EACD7446-E9A4-4181-8C27-B3AF31C33C11}"/>
              </a:ext>
            </a:extLst>
          </p:cNvPr>
          <p:cNvSpPr/>
          <p:nvPr/>
        </p:nvSpPr>
        <p:spPr>
          <a:xfrm>
            <a:off x="13938517" y="1597403"/>
            <a:ext cx="344746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23" hangingPunct="1">
              <a:spcAft>
                <a:spcPts val="1200"/>
              </a:spcAft>
            </a:pPr>
            <a:r>
              <a:rPr lang="en-US" sz="3200" b="1" dirty="0">
                <a:solidFill>
                  <a:schemeClr val="bg2"/>
                </a:solidFill>
                <a:sym typeface="Helvetica" charset="0"/>
              </a:rPr>
              <a:t>Climate Change Action Plan 2016-2020</a:t>
            </a:r>
          </a:p>
        </p:txBody>
      </p:sp>
    </p:spTree>
    <p:extLst>
      <p:ext uri="{BB962C8B-B14F-4D97-AF65-F5344CB8AC3E}">
        <p14:creationId xmlns:p14="http://schemas.microsoft.com/office/powerpoint/2010/main" val="2084072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40531" y="445347"/>
            <a:ext cx="12547336" cy="926253"/>
          </a:xfrm>
        </p:spPr>
        <p:txBody>
          <a:bodyPr/>
          <a:lstStyle/>
          <a:p>
            <a:r>
              <a:rPr lang="en-US" sz="4400" b="1" dirty="0">
                <a:solidFill>
                  <a:srgbClr val="9A9E0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Growth in Investment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52D3931-14BD-44A4-84BA-99032105F24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0302" y="1423114"/>
            <a:ext cx="10442497" cy="513008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E16C8AE-B77B-454E-A0AA-0DBEE7B7ED7C}"/>
              </a:ext>
            </a:extLst>
          </p:cNvPr>
          <p:cNvSpPr txBox="1"/>
          <p:nvPr/>
        </p:nvSpPr>
        <p:spPr>
          <a:xfrm>
            <a:off x="440531" y="1254643"/>
            <a:ext cx="7139838" cy="806374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457200" indent="-457200" defTabSz="457223" hangingPunct="1">
              <a:spcAft>
                <a:spcPts val="1200"/>
              </a:spcAft>
              <a:buFont typeface="Helvetica" panose="020B0604020202020204" pitchFamily="34" charset="0"/>
              <a:buChar char="›"/>
            </a:pPr>
            <a:r>
              <a:rPr lang="en-US" sz="3600" dirty="0">
                <a:solidFill>
                  <a:schemeClr val="bg2"/>
                </a:solidFill>
                <a:latin typeface="+mn-lt"/>
                <a:ea typeface="+mn-ea"/>
                <a:cs typeface="+mn-cs"/>
                <a:sym typeface="Helvetica" charset="0"/>
              </a:rPr>
              <a:t>Significant growth since 2010 (WCC-3 in 2009)</a:t>
            </a:r>
          </a:p>
          <a:p>
            <a:pPr marL="457200" indent="-457200" defTabSz="457223" hangingPunct="1">
              <a:spcAft>
                <a:spcPts val="1200"/>
              </a:spcAft>
              <a:buFont typeface="Helvetica" panose="020B0604020202020204" pitchFamily="34" charset="0"/>
              <a:buChar char="›"/>
            </a:pPr>
            <a:r>
              <a:rPr lang="en-US" sz="3600" dirty="0">
                <a:solidFill>
                  <a:schemeClr val="bg2"/>
                </a:solidFill>
                <a:latin typeface="+mn-lt"/>
                <a:ea typeface="+mn-ea"/>
                <a:cs typeface="+mn-cs"/>
                <a:sym typeface="Helvetica" charset="0"/>
              </a:rPr>
              <a:t>Tripling of World Bank investments</a:t>
            </a:r>
          </a:p>
          <a:p>
            <a:pPr marL="457200" indent="-457200" defTabSz="457223" hangingPunct="1">
              <a:spcAft>
                <a:spcPts val="1200"/>
              </a:spcAft>
              <a:buFont typeface="Helvetica" panose="020B0604020202020204" pitchFamily="34" charset="0"/>
              <a:buChar char="›"/>
            </a:pPr>
            <a:r>
              <a:rPr lang="en-US" sz="3600" dirty="0">
                <a:solidFill>
                  <a:schemeClr val="bg2"/>
                </a:solidFill>
                <a:latin typeface="+mn-lt"/>
                <a:ea typeface="+mn-ea"/>
                <a:cs typeface="+mn-cs"/>
                <a:sym typeface="Helvetica" charset="0"/>
              </a:rPr>
              <a:t>Green Climate Fund (GCF) also increasing investment</a:t>
            </a:r>
          </a:p>
          <a:p>
            <a:pPr marL="457200" indent="-457200" defTabSz="457223" hangingPunct="1">
              <a:spcAft>
                <a:spcPts val="1200"/>
              </a:spcAft>
              <a:buFont typeface="Helvetica" panose="020B0604020202020204" pitchFamily="34" charset="0"/>
              <a:buChar char="›"/>
            </a:pPr>
            <a:r>
              <a:rPr lang="en-US" sz="3600" dirty="0">
                <a:solidFill>
                  <a:schemeClr val="bg2"/>
                </a:solidFill>
                <a:latin typeface="+mn-lt"/>
                <a:ea typeface="+mn-ea"/>
                <a:cs typeface="+mn-cs"/>
                <a:sym typeface="Helvetica" charset="0"/>
              </a:rPr>
              <a:t>Hot spots: West Africa and South Asia</a:t>
            </a:r>
          </a:p>
          <a:p>
            <a:pPr marL="457200" indent="-457200" defTabSz="457223" hangingPunct="1">
              <a:spcAft>
                <a:spcPts val="1200"/>
              </a:spcAft>
              <a:buFont typeface="Helvetica" panose="020B0604020202020204" pitchFamily="34" charset="0"/>
              <a:buChar char="›"/>
            </a:pPr>
            <a:r>
              <a:rPr lang="en-US" sz="3600" dirty="0">
                <a:solidFill>
                  <a:schemeClr val="bg2"/>
                </a:solidFill>
                <a:latin typeface="+mn-lt"/>
                <a:ea typeface="+mn-ea"/>
                <a:cs typeface="+mn-cs"/>
                <a:sym typeface="Helvetica" charset="0"/>
              </a:rPr>
              <a:t>Estimate that $500 million of investment per year is needed for modernizing public NMHSs</a:t>
            </a:r>
          </a:p>
          <a:p>
            <a:pPr marL="457200" indent="-457200" defTabSz="457223" hangingPunct="1">
              <a:spcAft>
                <a:spcPts val="1200"/>
              </a:spcAft>
              <a:buFont typeface="Helvetica" panose="020B0604020202020204" pitchFamily="34" charset="0"/>
              <a:buChar char="›"/>
            </a:pPr>
            <a:r>
              <a:rPr lang="en-US" sz="3600" dirty="0">
                <a:solidFill>
                  <a:schemeClr val="bg2"/>
                </a:solidFill>
                <a:latin typeface="+mn-lt"/>
                <a:ea typeface="+mn-ea"/>
                <a:cs typeface="+mn-cs"/>
                <a:sym typeface="Helvetica" charset="0"/>
              </a:rPr>
              <a:t>Investment is growing but still insufficient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4141CAD-703C-4721-A282-CBF51D17573F}"/>
              </a:ext>
            </a:extLst>
          </p:cNvPr>
          <p:cNvGrpSpPr/>
          <p:nvPr/>
        </p:nvGrpSpPr>
        <p:grpSpPr>
          <a:xfrm>
            <a:off x="8441531" y="6553199"/>
            <a:ext cx="7961643" cy="1731325"/>
            <a:chOff x="6839816" y="5760525"/>
            <a:chExt cx="5352184" cy="102799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DA41369-44F6-42E9-8D24-1D859CE7C486}"/>
                </a:ext>
              </a:extLst>
            </p:cNvPr>
            <p:cNvSpPr/>
            <p:nvPr/>
          </p:nvSpPr>
          <p:spPr bwMode="auto">
            <a:xfrm>
              <a:off x="6839816" y="5760525"/>
              <a:ext cx="5352184" cy="1027993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115888" marR="0" indent="-115888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rebuchet MS" pitchFamily="34" charset="0"/>
                <a:cs typeface="Times New Roman" pitchFamily="18" charset="0"/>
              </a:endParaRPr>
            </a:p>
          </p:txBody>
        </p:sp>
        <p:sp>
          <p:nvSpPr>
            <p:cNvPr id="16" name="Text Placeholder 13">
              <a:extLst>
                <a:ext uri="{FF2B5EF4-FFF2-40B4-BE49-F238E27FC236}">
                  <a16:creationId xmlns:a16="http://schemas.microsoft.com/office/drawing/2014/main" id="{CFDF2B50-0B06-4310-A339-5300E873D50C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839816" y="5760525"/>
              <a:ext cx="2209079" cy="1027993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342900" indent="-342900" algn="l" rtl="0" eaLnBrk="1" fontAlgn="base" hangingPunct="1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783C"/>
                </a:buClr>
                <a:defRPr>
                  <a:solidFill>
                    <a:schemeClr val="tx1"/>
                  </a:solidFill>
                  <a:latin typeface="+mn-lt"/>
                  <a:ea typeface="MS PGothic" pitchFamily="34" charset="-128"/>
                  <a:cs typeface="ＭＳ Ｐゴシック" charset="0"/>
                </a:defRPr>
              </a:lvl1pPr>
              <a:lvl2pPr marL="742950" indent="-28575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00783C"/>
                </a:buClr>
                <a:buFont typeface="Wingdings" panose="05000000000000000000" pitchFamily="2" charset="2"/>
                <a:defRPr>
                  <a:solidFill>
                    <a:schemeClr val="tx1"/>
                  </a:solidFill>
                  <a:latin typeface="+mn-lt"/>
                  <a:ea typeface="MS PGothic" pitchFamily="34" charset="-128"/>
                </a:defRPr>
              </a:lvl2pPr>
              <a:lvl3pPr marL="4763" indent="909638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00783C"/>
                </a:buClr>
                <a:defRPr>
                  <a:solidFill>
                    <a:schemeClr val="tx1"/>
                  </a:solidFill>
                  <a:latin typeface="+mn-lt"/>
                  <a:ea typeface="MS PGothic" pitchFamily="34" charset="-128"/>
                </a:defRPr>
              </a:lvl3pPr>
              <a:lvl4pPr marL="16002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00783C"/>
                </a:buClr>
                <a:defRPr>
                  <a:solidFill>
                    <a:schemeClr val="tx1"/>
                  </a:solidFill>
                  <a:latin typeface="+mn-lt"/>
                  <a:ea typeface="MS PGothic" pitchFamily="34" charset="-128"/>
                </a:defRPr>
              </a:lvl4pPr>
              <a:lvl5pPr marL="20574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00783C"/>
                </a:buClr>
                <a:defRPr>
                  <a:solidFill>
                    <a:schemeClr val="tx1"/>
                  </a:solidFill>
                  <a:latin typeface="+mn-lt"/>
                  <a:ea typeface="MS PGothic" pitchFamily="34" charset="-128"/>
                </a:defRPr>
              </a:lvl5pPr>
              <a:lvl6pPr marL="25146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00783C"/>
                </a:buClr>
                <a:buChar char="»"/>
                <a:defRPr sz="1600">
                  <a:solidFill>
                    <a:schemeClr val="tx1"/>
                  </a:solidFill>
                  <a:latin typeface="+mn-lt"/>
                </a:defRPr>
              </a:lvl6pPr>
              <a:lvl7pPr marL="29718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00783C"/>
                </a:buClr>
                <a:buChar char="»"/>
                <a:defRPr sz="1600">
                  <a:solidFill>
                    <a:schemeClr val="tx1"/>
                  </a:solidFill>
                  <a:latin typeface="+mn-lt"/>
                </a:defRPr>
              </a:lvl7pPr>
              <a:lvl8pPr marL="34290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00783C"/>
                </a:buClr>
                <a:buChar char="»"/>
                <a:defRPr sz="1600">
                  <a:solidFill>
                    <a:schemeClr val="tx1"/>
                  </a:solidFill>
                  <a:latin typeface="+mn-lt"/>
                </a:defRPr>
              </a:lvl8pPr>
              <a:lvl9pPr marL="38862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00783C"/>
                </a:buClr>
                <a:buChar char="»"/>
                <a:defRPr sz="1600">
                  <a:solidFill>
                    <a:schemeClr val="tx1"/>
                  </a:solidFill>
                  <a:latin typeface="+mn-lt"/>
                </a:defRPr>
              </a:lvl9pPr>
            </a:lstStyle>
            <a:p>
              <a:pPr marL="341313" indent="-341313" algn="ctr" eaLnBrk="0" hangingPunct="0">
                <a:lnSpc>
                  <a:spcPct val="100000"/>
                </a:lnSpc>
                <a:spcBef>
                  <a:spcPts val="0"/>
                </a:spcBef>
                <a:buClr>
                  <a:srgbClr val="404040"/>
                </a:buClr>
                <a:tabLst>
                  <a:tab pos="8402638" algn="r"/>
                </a:tabLst>
              </a:pPr>
              <a:r>
                <a:rPr lang="en-US" altLang="en-US" sz="3200" b="1" u="sng" kern="0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2010</a:t>
              </a:r>
            </a:p>
            <a:p>
              <a:pPr marL="341313" indent="-341313" algn="ctr" eaLnBrk="0" hangingPunct="0">
                <a:lnSpc>
                  <a:spcPct val="100000"/>
                </a:lnSpc>
                <a:spcBef>
                  <a:spcPts val="0"/>
                </a:spcBef>
                <a:buClr>
                  <a:srgbClr val="404040"/>
                </a:buClr>
                <a:tabLst>
                  <a:tab pos="8402638" algn="r"/>
                </a:tabLst>
              </a:pPr>
              <a:r>
                <a:rPr lang="en-US" altLang="en-US" sz="3200" kern="0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25 projects</a:t>
              </a:r>
            </a:p>
            <a:p>
              <a:pPr marL="341313" indent="-341313" algn="ctr" eaLnBrk="0" hangingPunct="0">
                <a:lnSpc>
                  <a:spcPct val="100000"/>
                </a:lnSpc>
                <a:spcBef>
                  <a:spcPts val="0"/>
                </a:spcBef>
                <a:buClr>
                  <a:srgbClr val="404040"/>
                </a:buClr>
                <a:tabLst>
                  <a:tab pos="8402638" algn="r"/>
                </a:tabLst>
              </a:pPr>
              <a:r>
                <a:rPr lang="en-US" altLang="en-US" sz="3200" kern="0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US$ 270 million</a:t>
              </a:r>
            </a:p>
          </p:txBody>
        </p:sp>
        <p:sp>
          <p:nvSpPr>
            <p:cNvPr id="17" name="Text Placeholder 13">
              <a:extLst>
                <a:ext uri="{FF2B5EF4-FFF2-40B4-BE49-F238E27FC236}">
                  <a16:creationId xmlns:a16="http://schemas.microsoft.com/office/drawing/2014/main" id="{3F57FBEC-465B-4FF5-BC7B-449C4EF54F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05097" y="5760525"/>
              <a:ext cx="2209079" cy="10279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rmAutofit/>
            </a:bodyPr>
            <a:lstStyle>
              <a:lvl1pPr marL="342900" indent="-342900" algn="l" rtl="0" eaLnBrk="0" fontAlgn="base" hangingPunct="0">
                <a:lnSpc>
                  <a:spcPct val="100000"/>
                </a:lnSpc>
                <a:spcBef>
                  <a:spcPts val="2400"/>
                </a:spcBef>
                <a:spcAft>
                  <a:spcPct val="0"/>
                </a:spcAft>
                <a:buClr>
                  <a:srgbClr val="404040"/>
                </a:buClr>
                <a:tabLst>
                  <a:tab pos="8402638" algn="r"/>
                </a:tabLst>
                <a:defRPr lang="en-US" sz="1600" baseline="0" smtClean="0">
                  <a:solidFill>
                    <a:srgbClr val="595959"/>
                  </a:solidFill>
                  <a:latin typeface="Arial"/>
                  <a:ea typeface="MS PGothic" pitchFamily="34" charset="-128"/>
                  <a:cs typeface="Arial"/>
                </a:defRPr>
              </a:lvl1pPr>
              <a:lvl2pPr marL="285750" indent="-28575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595959"/>
                </a:buClr>
                <a:buFont typeface="Arial" panose="020B0604020202020204" pitchFamily="34" charset="0"/>
                <a:buChar char="•"/>
                <a:defRPr>
                  <a:solidFill>
                    <a:srgbClr val="595959"/>
                  </a:solidFill>
                  <a:latin typeface="Arial"/>
                  <a:ea typeface="MS PGothic" pitchFamily="34" charset="-128"/>
                  <a:cs typeface="Arial"/>
                </a:defRPr>
              </a:lvl2pPr>
              <a:lvl3pPr marL="285750" indent="-28575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2"/>
                  </a:solidFill>
                  <a:latin typeface="Arial"/>
                  <a:ea typeface="MS PGothic" pitchFamily="34" charset="-128"/>
                  <a:cs typeface="Arial"/>
                </a:defRPr>
              </a:lvl3pPr>
              <a:lvl4pPr marL="831850" indent="-28575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595959"/>
                </a:buClr>
                <a:buFont typeface="Arial" panose="020B0604020202020204" pitchFamily="34" charset="0"/>
                <a:buChar char="•"/>
                <a:defRPr>
                  <a:solidFill>
                    <a:srgbClr val="595959"/>
                  </a:solidFill>
                  <a:latin typeface="Arial"/>
                  <a:ea typeface="MS PGothic" pitchFamily="34" charset="-128"/>
                  <a:cs typeface="Arial"/>
                </a:defRPr>
              </a:lvl4pPr>
              <a:lvl5pPr marL="1196975" indent="-28575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595959"/>
                </a:buClr>
                <a:buFont typeface="Arial" panose="020B0604020202020204" pitchFamily="34" charset="0"/>
                <a:buChar char="•"/>
                <a:defRPr>
                  <a:solidFill>
                    <a:srgbClr val="595959"/>
                  </a:solidFill>
                  <a:latin typeface="Arial"/>
                  <a:ea typeface="MS PGothic" pitchFamily="34" charset="-128"/>
                  <a:cs typeface="Arial"/>
                </a:defRPr>
              </a:lvl5pPr>
              <a:lvl6pPr marL="50292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tx2">
                    <a:lumMod val="65000"/>
                    <a:lumOff val="35000"/>
                  </a:schemeClr>
                </a:buClr>
                <a:buFont typeface="Arial"/>
                <a:buChar char="•"/>
                <a:defRPr sz="1800">
                  <a:solidFill>
                    <a:schemeClr val="tx2">
                      <a:lumMod val="65000"/>
                      <a:lumOff val="35000"/>
                    </a:schemeClr>
                  </a:solidFill>
                  <a:latin typeface="+mn-lt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rgbClr val="00783C"/>
                </a:buClr>
                <a:buChar char="»"/>
                <a:defRPr sz="1600">
                  <a:solidFill>
                    <a:schemeClr val="tx1"/>
                  </a:solidFill>
                  <a:latin typeface="+mn-lt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rgbClr val="00783C"/>
                </a:buClr>
                <a:buChar char="»"/>
                <a:defRPr sz="1600">
                  <a:solidFill>
                    <a:schemeClr val="tx1"/>
                  </a:solidFill>
                  <a:latin typeface="+mn-lt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rgbClr val="00783C"/>
                </a:buClr>
                <a:buChar char="»"/>
                <a:defRPr sz="1600">
                  <a:solidFill>
                    <a:schemeClr val="tx1"/>
                  </a:solidFill>
                  <a:latin typeface="+mn-lt"/>
                </a:defRPr>
              </a:lvl9pPr>
            </a:lstStyle>
            <a:p>
              <a:pPr marL="341313" indent="-341313" algn="ctr">
                <a:spcBef>
                  <a:spcPts val="0"/>
                </a:spcBef>
              </a:pPr>
              <a:r>
                <a:rPr lang="en-US" altLang="en-US" sz="3200" b="1" u="sng" kern="0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2017</a:t>
              </a:r>
            </a:p>
            <a:p>
              <a:pPr marL="341313" indent="-341313" algn="ctr">
                <a:spcBef>
                  <a:spcPts val="0"/>
                </a:spcBef>
              </a:pPr>
              <a:r>
                <a:rPr lang="en-US" altLang="en-US" sz="3200" b="0" kern="0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67 projects</a:t>
              </a:r>
            </a:p>
            <a:p>
              <a:pPr marL="341313" indent="-341313" algn="ctr">
                <a:spcBef>
                  <a:spcPts val="0"/>
                </a:spcBef>
              </a:pPr>
              <a:r>
                <a:rPr lang="en-US" altLang="en-US" sz="3200" b="0" kern="0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US$ 870 million</a:t>
              </a:r>
            </a:p>
          </p:txBody>
        </p:sp>
        <p:sp>
          <p:nvSpPr>
            <p:cNvPr id="18" name="Arrow: Notched Right 17">
              <a:extLst>
                <a:ext uri="{FF2B5EF4-FFF2-40B4-BE49-F238E27FC236}">
                  <a16:creationId xmlns:a16="http://schemas.microsoft.com/office/drawing/2014/main" id="{FAFF9736-C998-420E-9724-13309242D36E}"/>
                </a:ext>
              </a:extLst>
            </p:cNvPr>
            <p:cNvSpPr/>
            <p:nvPr/>
          </p:nvSpPr>
          <p:spPr bwMode="auto">
            <a:xfrm>
              <a:off x="8991818" y="5950935"/>
              <a:ext cx="970357" cy="592960"/>
            </a:xfrm>
            <a:prstGeom prst="notchedRightArrow">
              <a:avLst/>
            </a:prstGeom>
            <a:solidFill>
              <a:schemeClr val="bg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115888" marR="0" indent="-115888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rebuchet MS" pitchFamily="34" charset="0"/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07059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8131" y="1388533"/>
            <a:ext cx="16687800" cy="7112003"/>
          </a:xfrm>
        </p:spPr>
        <p:txBody>
          <a:bodyPr/>
          <a:lstStyle/>
          <a:p>
            <a:pPr marL="457200" indent="-457200">
              <a:spcAft>
                <a:spcPts val="1200"/>
              </a:spcAft>
              <a:buFont typeface="Helvetica" panose="020B0604020202020204" pitchFamily="34" charset="0"/>
              <a:buChar char="›"/>
            </a:pPr>
            <a:r>
              <a:rPr lang="en-US" sz="3600" dirty="0">
                <a:solidFill>
                  <a:schemeClr val="bg2"/>
                </a:solidFill>
              </a:rPr>
              <a:t>Fragmented and myopic policy environments;</a:t>
            </a:r>
          </a:p>
          <a:p>
            <a:pPr marL="457200" indent="-457200">
              <a:spcAft>
                <a:spcPts val="1200"/>
              </a:spcAft>
              <a:buFont typeface="Helvetica" panose="020B0604020202020204" pitchFamily="34" charset="0"/>
              <a:buChar char="›"/>
            </a:pPr>
            <a:r>
              <a:rPr lang="en-US" sz="3600" dirty="0">
                <a:solidFill>
                  <a:schemeClr val="bg2"/>
                </a:solidFill>
              </a:rPr>
              <a:t>Insufficient budgets;</a:t>
            </a:r>
          </a:p>
          <a:p>
            <a:pPr marL="457200" indent="-457200">
              <a:spcAft>
                <a:spcPts val="1200"/>
              </a:spcAft>
              <a:buFont typeface="Helvetica" panose="020B0604020202020204" pitchFamily="34" charset="0"/>
              <a:buChar char="›"/>
            </a:pPr>
            <a:r>
              <a:rPr lang="en-US" sz="3600" dirty="0">
                <a:solidFill>
                  <a:schemeClr val="bg2"/>
                </a:solidFill>
              </a:rPr>
              <a:t>Inability to attract, train, and retain qualified staff;</a:t>
            </a:r>
          </a:p>
          <a:p>
            <a:pPr marL="457200" indent="-457200">
              <a:spcAft>
                <a:spcPts val="1200"/>
              </a:spcAft>
              <a:buFont typeface="Helvetica" panose="020B0604020202020204" pitchFamily="34" charset="0"/>
              <a:buChar char="›"/>
            </a:pPr>
            <a:r>
              <a:rPr lang="en-US" sz="3600" dirty="0">
                <a:solidFill>
                  <a:schemeClr val="bg2"/>
                </a:solidFill>
              </a:rPr>
              <a:t>Limited and often declining hydrometeorological monitoring networks;</a:t>
            </a:r>
          </a:p>
          <a:p>
            <a:pPr marL="457200" indent="-457200">
              <a:spcAft>
                <a:spcPts val="1200"/>
              </a:spcAft>
              <a:buFont typeface="Helvetica" panose="020B0604020202020204" pitchFamily="34" charset="0"/>
              <a:buChar char="›"/>
            </a:pPr>
            <a:r>
              <a:rPr lang="en-US" sz="3600" dirty="0">
                <a:solidFill>
                  <a:schemeClr val="bg2"/>
                </a:solidFill>
              </a:rPr>
              <a:t>Insufficient maintenance of hydrological infrastructure;</a:t>
            </a:r>
          </a:p>
          <a:p>
            <a:pPr marL="457200" indent="-457200">
              <a:spcAft>
                <a:spcPts val="1200"/>
              </a:spcAft>
              <a:buFont typeface="Helvetica" panose="020B0604020202020204" pitchFamily="34" charset="0"/>
              <a:buChar char="›"/>
            </a:pPr>
            <a:r>
              <a:rPr lang="en-US" sz="3600" dirty="0">
                <a:solidFill>
                  <a:schemeClr val="bg2"/>
                </a:solidFill>
              </a:rPr>
              <a:t>Inadequate data management systems;</a:t>
            </a:r>
          </a:p>
          <a:p>
            <a:pPr marL="457200" indent="-457200">
              <a:spcAft>
                <a:spcPts val="1200"/>
              </a:spcAft>
              <a:buFont typeface="Helvetica" panose="020B0604020202020204" pitchFamily="34" charset="0"/>
              <a:buChar char="›"/>
            </a:pPr>
            <a:r>
              <a:rPr lang="en-US" sz="3600" dirty="0">
                <a:solidFill>
                  <a:schemeClr val="bg2"/>
                </a:solidFill>
              </a:rPr>
              <a:t>Insufficient integration between hydrological and meteorological services;</a:t>
            </a:r>
          </a:p>
          <a:p>
            <a:pPr marL="457200" indent="-457200">
              <a:spcAft>
                <a:spcPts val="1200"/>
              </a:spcAft>
              <a:buFont typeface="Helvetica" panose="020B0604020202020204" pitchFamily="34" charset="0"/>
              <a:buChar char="›"/>
            </a:pPr>
            <a:r>
              <a:rPr lang="en-US" sz="3600" dirty="0">
                <a:solidFill>
                  <a:schemeClr val="bg2"/>
                </a:solidFill>
              </a:rPr>
              <a:t>Poor connection with users;</a:t>
            </a:r>
          </a:p>
          <a:p>
            <a:pPr marL="457200" indent="-457200">
              <a:spcAft>
                <a:spcPts val="1200"/>
              </a:spcAft>
              <a:buFont typeface="Helvetica" panose="020B0604020202020204" pitchFamily="34" charset="0"/>
              <a:buChar char="›"/>
            </a:pPr>
            <a:r>
              <a:rPr lang="en-US" sz="3600" dirty="0">
                <a:solidFill>
                  <a:schemeClr val="bg2"/>
                </a:solidFill>
              </a:rPr>
              <a:t>Inability to develop and provide hydrological products; and</a:t>
            </a:r>
          </a:p>
          <a:p>
            <a:pPr marL="457200" indent="-457200">
              <a:spcAft>
                <a:spcPts val="1200"/>
              </a:spcAft>
              <a:buFont typeface="Helvetica" panose="020B0604020202020204" pitchFamily="34" charset="0"/>
              <a:buChar char="›"/>
            </a:pPr>
            <a:r>
              <a:rPr lang="en-US" sz="3600" dirty="0">
                <a:solidFill>
                  <a:schemeClr val="bg2"/>
                </a:solidFill>
              </a:rPr>
              <a:t>Unsatisfactory service delivery.</a:t>
            </a:r>
            <a:endParaRPr lang="en-US" sz="3600" b="1" dirty="0">
              <a:solidFill>
                <a:schemeClr val="bg2"/>
              </a:solidFill>
              <a:highlight>
                <a:srgbClr val="FFFF00"/>
              </a:highlight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40531" y="445347"/>
            <a:ext cx="12547336" cy="926253"/>
          </a:xfrm>
        </p:spPr>
        <p:txBody>
          <a:bodyPr/>
          <a:lstStyle/>
          <a:p>
            <a:r>
              <a:rPr lang="en-US" sz="4400" b="1" dirty="0">
                <a:solidFill>
                  <a:srgbClr val="9A9E0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NHSs Face Significant Challenges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1921BA-0BAD-49CE-8654-402DC445C734}"/>
              </a:ext>
            </a:extLst>
          </p:cNvPr>
          <p:cNvSpPr txBox="1"/>
          <p:nvPr/>
        </p:nvSpPr>
        <p:spPr>
          <a:xfrm>
            <a:off x="-23926" y="9416794"/>
            <a:ext cx="10972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Source: World Bank &amp; GFDRR (2018) - </a:t>
            </a:r>
            <a:r>
              <a:rPr lang="en-US" sz="1400" i="1" dirty="0"/>
              <a:t>Assessment of the State of Hydrological Services in Developing Countries</a:t>
            </a:r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22929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40531" y="445347"/>
            <a:ext cx="12547336" cy="926253"/>
          </a:xfrm>
        </p:spPr>
        <p:txBody>
          <a:bodyPr/>
          <a:lstStyle/>
          <a:p>
            <a:r>
              <a:rPr lang="en-US" sz="4400" b="1" dirty="0">
                <a:solidFill>
                  <a:srgbClr val="9A9E0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NHS “Poverty Trap”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1921BA-0BAD-49CE-8654-402DC445C734}"/>
              </a:ext>
            </a:extLst>
          </p:cNvPr>
          <p:cNvSpPr txBox="1"/>
          <p:nvPr/>
        </p:nvSpPr>
        <p:spPr>
          <a:xfrm>
            <a:off x="-23926" y="9416794"/>
            <a:ext cx="10972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Source: World Bank &amp; GFDRR (2018) - </a:t>
            </a:r>
            <a:r>
              <a:rPr lang="en-US" sz="1400" i="1" dirty="0"/>
              <a:t>Assessment of the State of Hydrological Services in Developing Countries</a:t>
            </a:r>
            <a:r>
              <a:rPr lang="en-US" sz="1400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517110-125C-4458-9864-56AD81175C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5194" y="1295400"/>
            <a:ext cx="11310937" cy="6884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11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37FC6A0-D6CD-4EFE-A699-DAF1F73ABE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1931" y="1309303"/>
            <a:ext cx="4183304" cy="40018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E7C21D0-8A7E-42A3-8DC2-8D12221E01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91804" y="5311140"/>
            <a:ext cx="4645927" cy="3276601"/>
          </a:xfrm>
          <a:prstGeom prst="rect">
            <a:avLst/>
          </a:prstGeom>
        </p:spPr>
      </p:pic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40531" y="445347"/>
            <a:ext cx="12547336" cy="926253"/>
          </a:xfrm>
        </p:spPr>
        <p:txBody>
          <a:bodyPr/>
          <a:lstStyle/>
          <a:p>
            <a:r>
              <a:rPr lang="en-US" sz="4400" b="1" dirty="0">
                <a:solidFill>
                  <a:srgbClr val="9A9E0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Observation Systems in Decline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1921BA-0BAD-49CE-8654-402DC445C734}"/>
              </a:ext>
            </a:extLst>
          </p:cNvPr>
          <p:cNvSpPr txBox="1"/>
          <p:nvPr/>
        </p:nvSpPr>
        <p:spPr>
          <a:xfrm>
            <a:off x="-23926" y="9416794"/>
            <a:ext cx="10972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Source: World Bank &amp; GFDRR (2018) - </a:t>
            </a:r>
            <a:r>
              <a:rPr lang="en-US" sz="1400" i="1" dirty="0"/>
              <a:t>Assessment of the State of Hydrological Services in Developing Countries</a:t>
            </a:r>
            <a:r>
              <a:rPr lang="en-US" sz="1400" dirty="0"/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F7E2D0-A8CD-4EE6-B581-22E524C99E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480" y="1268733"/>
            <a:ext cx="4147110" cy="39496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39FDC58-28A9-479B-991D-9DDB9003D4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2931" y="1402080"/>
            <a:ext cx="4545874" cy="34747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AA8FFB1-E905-4D82-85B9-75FF595340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2931" y="5302088"/>
            <a:ext cx="8001000" cy="38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207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40531" y="445347"/>
            <a:ext cx="12547336" cy="926253"/>
          </a:xfrm>
        </p:spPr>
        <p:txBody>
          <a:bodyPr/>
          <a:lstStyle/>
          <a:p>
            <a:r>
              <a:rPr lang="en-US" sz="4400" b="1" dirty="0">
                <a:solidFill>
                  <a:srgbClr val="9A9E0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Perspectives from the Field</a:t>
            </a:r>
          </a:p>
        </p:txBody>
      </p:sp>
      <p:pic>
        <p:nvPicPr>
          <p:cNvPr id="10" name="Picture 2" descr="IMG_1850">
            <a:extLst>
              <a:ext uri="{FF2B5EF4-FFF2-40B4-BE49-F238E27FC236}">
                <a16:creationId xmlns:a16="http://schemas.microsoft.com/office/drawing/2014/main" id="{9DC04314-6F70-455A-8D80-1F75650911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261403" y="1386840"/>
            <a:ext cx="6095528" cy="4480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4" descr="IMG_1683">
            <a:extLst>
              <a:ext uri="{FF2B5EF4-FFF2-40B4-BE49-F238E27FC236}">
                <a16:creationId xmlns:a16="http://schemas.microsoft.com/office/drawing/2014/main" id="{9A068595-A4D8-4F62-A8BB-4F720CDD27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926931" y="1386840"/>
            <a:ext cx="5890577" cy="4480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 descr="IMG_2251">
            <a:extLst>
              <a:ext uri="{FF2B5EF4-FFF2-40B4-BE49-F238E27FC236}">
                <a16:creationId xmlns:a16="http://schemas.microsoft.com/office/drawing/2014/main" id="{16F19440-3A1B-4112-AA9E-1ED5A10181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926932" y="6248401"/>
            <a:ext cx="5563683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6A281FE-A56A-418C-A0A4-A46B833747E7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386840"/>
            <a:ext cx="5974080" cy="448056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196D9A5-08F8-4388-8D6A-33BF2C8D6729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6248401"/>
            <a:ext cx="6231467" cy="35052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E3AF6BE-7807-4E38-BED3-22E8F26B375C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9531" y="6248401"/>
            <a:ext cx="6231467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389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40531" y="445347"/>
            <a:ext cx="12547336" cy="926253"/>
          </a:xfrm>
        </p:spPr>
        <p:txBody>
          <a:bodyPr/>
          <a:lstStyle/>
          <a:p>
            <a:r>
              <a:rPr lang="en-US" sz="4400" b="1" dirty="0">
                <a:solidFill>
                  <a:srgbClr val="9A9E0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Investment Approach</a:t>
            </a:r>
          </a:p>
        </p:txBody>
      </p:sp>
      <p:pic>
        <p:nvPicPr>
          <p:cNvPr id="10" name="Picture 9" descr="http://www.castlegateint.com/wp-content/uploads/2015/09/Depositphotos_11522577_s-2015.jpg">
            <a:extLst>
              <a:ext uri="{FF2B5EF4-FFF2-40B4-BE49-F238E27FC236}">
                <a16:creationId xmlns:a16="http://schemas.microsoft.com/office/drawing/2014/main" id="{1BABFFFA-DEE0-4F6F-90E9-0DEB2EFD57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2931" y="1295400"/>
            <a:ext cx="11580243" cy="7052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B2462501-FE6A-412E-959C-15DD70F3A36F}"/>
              </a:ext>
            </a:extLst>
          </p:cNvPr>
          <p:cNvSpPr>
            <a:spLocks noGrp="1" noChangeArrowheads="1"/>
          </p:cNvSpPr>
          <p:nvPr/>
        </p:nvSpPr>
        <p:spPr>
          <a:xfrm>
            <a:off x="2421731" y="7010400"/>
            <a:ext cx="8993592" cy="52714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2400"/>
              </a:spcBef>
              <a:buFont typeface="Arial" panose="020B0604020202020204" pitchFamily="34" charset="0"/>
              <a:buChar char="•"/>
              <a:tabLst>
                <a:tab pos="8402638" algn="r"/>
              </a:tabLst>
              <a:defRPr lang="en-US" sz="16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Modernization of Infrastructure</a:t>
            </a:r>
            <a:endParaRPr lang="en-US" alt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/>
            <a:endParaRPr alt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59E77945-1419-4F66-BF7F-E6BF52D1DA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4131" y="5976089"/>
            <a:ext cx="8432033" cy="527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  <a:cs typeface="+mn-cs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  <a:cs typeface="+mn-cs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  <a:cs typeface="+mn-cs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  <a:cs typeface="+mn-cs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  <a:cs typeface="+mn-cs"/>
              </a:defRPr>
            </a:lvl9pPr>
          </a:lstStyle>
          <a:p>
            <a:pPr marL="341313" indent="-341313">
              <a:spcBef>
                <a:spcPts val="0"/>
              </a:spcBef>
            </a:pPr>
            <a:r>
              <a:rPr lang="en-US" altLang="en-US" sz="3600" kern="0" dirty="0">
                <a:latin typeface="Arial" panose="020B0604020202020204" pitchFamily="34" charset="0"/>
                <a:cs typeface="Arial" panose="020B0604020202020204" pitchFamily="34" charset="0"/>
              </a:rPr>
              <a:t>Institutional Strengthening</a:t>
            </a:r>
            <a:endParaRPr lang="en-US" altLang="en-US" sz="3600" b="0" kern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CCBF5149-4264-42C2-AAF0-CC00B780C0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4131" y="4941777"/>
            <a:ext cx="3886200" cy="527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  <a:cs typeface="+mn-cs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  <a:cs typeface="+mn-cs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  <a:cs typeface="+mn-cs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  <a:cs typeface="+mn-cs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  <a:cs typeface="+mn-cs"/>
              </a:defRPr>
            </a:lvl9pPr>
          </a:lstStyle>
          <a:p>
            <a:pPr marL="341313" indent="-341313">
              <a:spcBef>
                <a:spcPts val="0"/>
              </a:spcBef>
            </a:pPr>
            <a:r>
              <a:rPr lang="en-US" altLang="en-US" sz="3600" kern="0" dirty="0">
                <a:latin typeface="Arial" panose="020B0604020202020204" pitchFamily="34" charset="0"/>
                <a:cs typeface="Arial" panose="020B0604020202020204" pitchFamily="34" charset="0"/>
              </a:rPr>
              <a:t>Service Delivery</a:t>
            </a:r>
            <a:endParaRPr lang="en-US" altLang="en-US" sz="3600" b="0" kern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/>
            <a:endParaRPr lang="en-US" altLang="en-US" sz="3600" b="0" kern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503D0AC-3DBC-436D-8FBC-1516E8B5F628}"/>
              </a:ext>
            </a:extLst>
          </p:cNvPr>
          <p:cNvSpPr/>
          <p:nvPr/>
        </p:nvSpPr>
        <p:spPr>
          <a:xfrm>
            <a:off x="7146131" y="1600200"/>
            <a:ext cx="7444184" cy="175432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  <a:cs typeface="+mn-cs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  <a:cs typeface="+mn-cs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  <a:cs typeface="+mn-cs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  <a:cs typeface="+mn-cs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  <a:cs typeface="+mn-cs"/>
              </a:defRPr>
            </a:lvl9pPr>
          </a:lstStyle>
          <a:p>
            <a:pPr lvl="0" algn="r"/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Modernization investment must be substantial to achieve transformation. 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BE6994E6-449C-4FA6-B1E2-0CC6AF5B6B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4131" y="3907465"/>
            <a:ext cx="3886200" cy="527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  <a:cs typeface="+mn-cs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  <a:cs typeface="+mn-cs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  <a:cs typeface="+mn-cs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  <a:cs typeface="+mn-cs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tx1"/>
                </a:solidFill>
                <a:latin typeface="Trebuchet MS" pitchFamily="34" charset="0"/>
                <a:ea typeface="MS PGothic" pitchFamily="34" charset="-128"/>
                <a:cs typeface="+mn-cs"/>
              </a:defRPr>
            </a:lvl9pPr>
          </a:lstStyle>
          <a:p>
            <a:pPr marL="341313" indent="-341313">
              <a:spcBef>
                <a:spcPts val="0"/>
              </a:spcBef>
            </a:pPr>
            <a:r>
              <a:rPr lang="en-US" altLang="en-US" sz="3600" kern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Users</a:t>
            </a:r>
            <a:endParaRPr lang="en-US" altLang="en-US" sz="3600" b="0" kern="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/>
            <a:endParaRPr lang="en-US" altLang="en-US" sz="3600" b="0" kern="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4031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8131" y="1388533"/>
            <a:ext cx="16687800" cy="7112003"/>
          </a:xfrm>
        </p:spPr>
        <p:txBody>
          <a:bodyPr/>
          <a:lstStyle/>
          <a:p>
            <a:pPr marL="457200" indent="-457200">
              <a:spcAft>
                <a:spcPts val="1200"/>
              </a:spcAft>
              <a:buFont typeface="Helvetica" panose="020B0604020202020204" pitchFamily="34" charset="0"/>
              <a:buChar char="›"/>
            </a:pPr>
            <a:r>
              <a:rPr lang="en-US" sz="3200" dirty="0">
                <a:solidFill>
                  <a:schemeClr val="bg2"/>
                </a:solidFill>
              </a:rPr>
              <a:t>Modernization of NHSs is high value, delivering a broad range of benefits, however often it is not easy to demonstrate this to governments.</a:t>
            </a:r>
          </a:p>
          <a:p>
            <a:pPr marL="457200" indent="-457200">
              <a:spcAft>
                <a:spcPts val="1200"/>
              </a:spcAft>
              <a:buFont typeface="Helvetica" panose="020B0604020202020204" pitchFamily="34" charset="0"/>
              <a:buChar char="›"/>
            </a:pPr>
            <a:r>
              <a:rPr lang="en-US" sz="3200" dirty="0">
                <a:solidFill>
                  <a:schemeClr val="bg2"/>
                </a:solidFill>
              </a:rPr>
              <a:t>Building infrastructure is less challenging than building institutions, strengthening capacity and sustaining them.</a:t>
            </a:r>
          </a:p>
          <a:p>
            <a:pPr marL="457200" indent="-457200">
              <a:spcAft>
                <a:spcPts val="1200"/>
              </a:spcAft>
              <a:buFont typeface="Helvetica" panose="020B0604020202020204" pitchFamily="34" charset="0"/>
              <a:buChar char="›"/>
            </a:pPr>
            <a:r>
              <a:rPr lang="en-US" sz="3200" dirty="0">
                <a:solidFill>
                  <a:schemeClr val="bg2"/>
                </a:solidFill>
              </a:rPr>
              <a:t>Long-term engagement (10 years+) is needed.</a:t>
            </a:r>
          </a:p>
          <a:p>
            <a:pPr marL="457200" indent="-457200">
              <a:spcAft>
                <a:spcPts val="1200"/>
              </a:spcAft>
              <a:buFont typeface="Helvetica" panose="020B0604020202020204" pitchFamily="34" charset="0"/>
              <a:buChar char="›"/>
            </a:pPr>
            <a:r>
              <a:rPr lang="en-US" sz="3200" dirty="0">
                <a:solidFill>
                  <a:schemeClr val="bg2"/>
                </a:solidFill>
              </a:rPr>
              <a:t>Invest in capacity and service delivery orientation, from management to technical (“change in mindset”…which often requires a generation).</a:t>
            </a:r>
          </a:p>
          <a:p>
            <a:pPr marL="457200" indent="-457200">
              <a:spcAft>
                <a:spcPts val="1200"/>
              </a:spcAft>
              <a:buFont typeface="Helvetica" panose="020B0604020202020204" pitchFamily="34" charset="0"/>
              <a:buChar char="›"/>
            </a:pPr>
            <a:r>
              <a:rPr lang="en-US" sz="3200" dirty="0">
                <a:solidFill>
                  <a:schemeClr val="bg2"/>
                </a:solidFill>
              </a:rPr>
              <a:t>Long-term resourcing of O&amp;M is always a challenge, undermining sustainability.</a:t>
            </a:r>
          </a:p>
          <a:p>
            <a:pPr marL="457200" indent="-457200">
              <a:spcAft>
                <a:spcPts val="1200"/>
              </a:spcAft>
              <a:buFont typeface="Helvetica" panose="020B0604020202020204" pitchFamily="34" charset="0"/>
              <a:buChar char="›"/>
            </a:pPr>
            <a:r>
              <a:rPr lang="en-US" sz="3200" dirty="0">
                <a:solidFill>
                  <a:schemeClr val="bg2"/>
                </a:solidFill>
              </a:rPr>
              <a:t>Designing and implementing a sustainable integrated NMHS-wide system is difficult.</a:t>
            </a:r>
          </a:p>
          <a:p>
            <a:pPr marL="457200" indent="-457200">
              <a:spcAft>
                <a:spcPts val="1200"/>
              </a:spcAft>
              <a:buFont typeface="Helvetica" panose="020B0604020202020204" pitchFamily="34" charset="0"/>
              <a:buChar char="›"/>
            </a:pPr>
            <a:r>
              <a:rPr lang="en-US" sz="3200" dirty="0">
                <a:solidFill>
                  <a:schemeClr val="bg2"/>
                </a:solidFill>
              </a:rPr>
              <a:t>Modernization of separate elements may bring improvements but can create bottlenecks or inefficiencies. </a:t>
            </a:r>
          </a:p>
          <a:p>
            <a:pPr marL="457200" indent="-457200">
              <a:spcAft>
                <a:spcPts val="1200"/>
              </a:spcAft>
              <a:buFont typeface="Helvetica" panose="020B0604020202020204" pitchFamily="34" charset="0"/>
              <a:buChar char="›"/>
            </a:pPr>
            <a:r>
              <a:rPr lang="en-US" sz="3200" dirty="0">
                <a:solidFill>
                  <a:schemeClr val="bg2"/>
                </a:solidFill>
              </a:rPr>
              <a:t>There are internal disincentives for good projects.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40531" y="445347"/>
            <a:ext cx="12547336" cy="926253"/>
          </a:xfrm>
        </p:spPr>
        <p:txBody>
          <a:bodyPr/>
          <a:lstStyle/>
          <a:p>
            <a:r>
              <a:rPr lang="en-US" sz="4400" b="1" dirty="0">
                <a:solidFill>
                  <a:srgbClr val="9A9E0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Investment Policy Lessons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1921BA-0BAD-49CE-8654-402DC445C734}"/>
              </a:ext>
            </a:extLst>
          </p:cNvPr>
          <p:cNvSpPr txBox="1"/>
          <p:nvPr/>
        </p:nvSpPr>
        <p:spPr>
          <a:xfrm>
            <a:off x="-23926" y="9416794"/>
            <a:ext cx="10972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Source: World Bank &amp; GFDRR (2018) - </a:t>
            </a:r>
            <a:r>
              <a:rPr lang="en-US" sz="1400" i="1" dirty="0"/>
              <a:t>Assessment of the State of Hydrological Services in Developing Countries</a:t>
            </a:r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86247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8131" y="1388533"/>
            <a:ext cx="16687800" cy="7112003"/>
          </a:xfrm>
        </p:spPr>
        <p:txBody>
          <a:bodyPr/>
          <a:lstStyle/>
          <a:p>
            <a:pPr marL="457200" indent="-457200">
              <a:spcAft>
                <a:spcPts val="1200"/>
              </a:spcAft>
              <a:buFont typeface="Helvetica" panose="020B0604020202020204" pitchFamily="34" charset="0"/>
              <a:buChar char="›"/>
            </a:pPr>
            <a:r>
              <a:rPr lang="en-US" sz="3200" dirty="0">
                <a:solidFill>
                  <a:schemeClr val="bg2"/>
                </a:solidFill>
              </a:rPr>
              <a:t>Need strong and visionary NHS leadership.</a:t>
            </a:r>
          </a:p>
          <a:p>
            <a:pPr marL="457200" indent="-457200">
              <a:spcAft>
                <a:spcPts val="1200"/>
              </a:spcAft>
              <a:buFont typeface="Helvetica" panose="020B0604020202020204" pitchFamily="34" charset="0"/>
              <a:buChar char="›"/>
            </a:pPr>
            <a:r>
              <a:rPr lang="en-US" sz="3200" dirty="0">
                <a:solidFill>
                  <a:schemeClr val="bg2"/>
                </a:solidFill>
              </a:rPr>
              <a:t>Strong user interface leads to better and more sustainable services.</a:t>
            </a:r>
          </a:p>
          <a:p>
            <a:pPr marL="457200" indent="-457200">
              <a:spcAft>
                <a:spcPts val="1200"/>
              </a:spcAft>
              <a:buFont typeface="Helvetica" panose="020B0604020202020204" pitchFamily="34" charset="0"/>
              <a:buChar char="›"/>
            </a:pPr>
            <a:r>
              <a:rPr lang="en-US" sz="3200" dirty="0">
                <a:solidFill>
                  <a:schemeClr val="bg2"/>
                </a:solidFill>
              </a:rPr>
              <a:t>Prioritize public services – open data approach best.</a:t>
            </a:r>
          </a:p>
          <a:p>
            <a:pPr marL="457200" indent="-457200">
              <a:spcAft>
                <a:spcPts val="1200"/>
              </a:spcAft>
              <a:buFont typeface="Helvetica" panose="020B0604020202020204" pitchFamily="34" charset="0"/>
              <a:buChar char="›"/>
            </a:pPr>
            <a:r>
              <a:rPr lang="en-US" sz="3200" dirty="0">
                <a:solidFill>
                  <a:schemeClr val="bg2"/>
                </a:solidFill>
              </a:rPr>
              <a:t>Consider sensitivities, challenges and opportunities of public-private partnership.</a:t>
            </a:r>
          </a:p>
          <a:p>
            <a:pPr marL="457200" indent="-457200">
              <a:spcAft>
                <a:spcPts val="1200"/>
              </a:spcAft>
              <a:buFont typeface="Helvetica" panose="020B0604020202020204" pitchFamily="34" charset="0"/>
              <a:buChar char="›"/>
            </a:pPr>
            <a:r>
              <a:rPr lang="en-US" sz="3200" dirty="0">
                <a:solidFill>
                  <a:schemeClr val="bg2"/>
                </a:solidFill>
              </a:rPr>
              <a:t>Approach fee-based services with great caution.</a:t>
            </a:r>
          </a:p>
          <a:p>
            <a:pPr marL="457200" indent="-457200">
              <a:spcAft>
                <a:spcPts val="1200"/>
              </a:spcAft>
              <a:buFont typeface="Helvetica" panose="020B0604020202020204" pitchFamily="34" charset="0"/>
              <a:buChar char="›"/>
            </a:pPr>
            <a:r>
              <a:rPr lang="en-US" sz="3200" dirty="0">
                <a:solidFill>
                  <a:schemeClr val="bg2"/>
                </a:solidFill>
              </a:rPr>
              <a:t>Leverage international and regional systems.</a:t>
            </a:r>
          </a:p>
          <a:p>
            <a:pPr marL="457200" indent="-457200">
              <a:spcAft>
                <a:spcPts val="1200"/>
              </a:spcAft>
              <a:buFont typeface="Helvetica" panose="020B0604020202020204" pitchFamily="34" charset="0"/>
              <a:buChar char="›"/>
            </a:pPr>
            <a:r>
              <a:rPr lang="en-US" sz="3200" dirty="0">
                <a:solidFill>
                  <a:schemeClr val="bg2"/>
                </a:solidFill>
              </a:rPr>
              <a:t>Leverage and coordinate international and domestic partners.</a:t>
            </a:r>
          </a:p>
          <a:p>
            <a:pPr marL="457200" indent="-457200">
              <a:spcAft>
                <a:spcPts val="1200"/>
              </a:spcAft>
              <a:buFont typeface="Helvetica" panose="020B0604020202020204" pitchFamily="34" charset="0"/>
              <a:buChar char="›"/>
            </a:pPr>
            <a:r>
              <a:rPr lang="en-US" sz="3200" dirty="0">
                <a:solidFill>
                  <a:schemeClr val="bg2"/>
                </a:solidFill>
              </a:rPr>
              <a:t>Everyone talks about the weather, floods and disasters, this does not mean they are </a:t>
            </a:r>
            <a:r>
              <a:rPr lang="en-US" sz="3200" dirty="0" err="1">
                <a:solidFill>
                  <a:schemeClr val="bg2"/>
                </a:solidFill>
              </a:rPr>
              <a:t>hydromet</a:t>
            </a:r>
            <a:r>
              <a:rPr lang="en-US" sz="3200" dirty="0">
                <a:solidFill>
                  <a:schemeClr val="bg2"/>
                </a:solidFill>
              </a:rPr>
              <a:t> experts: operational verses “soft” and/or siloed expertise.</a:t>
            </a:r>
          </a:p>
          <a:p>
            <a:pPr marL="457200" indent="-457200">
              <a:spcAft>
                <a:spcPts val="1200"/>
              </a:spcAft>
              <a:buFont typeface="Helvetica" panose="020B0604020202020204" pitchFamily="34" charset="0"/>
              <a:buChar char="›"/>
            </a:pPr>
            <a:r>
              <a:rPr lang="en-US" sz="3200" dirty="0">
                <a:solidFill>
                  <a:schemeClr val="bg2"/>
                </a:solidFill>
              </a:rPr>
              <a:t>Innovation verses reliability, scale and sustainability.</a:t>
            </a:r>
          </a:p>
          <a:p>
            <a:pPr marL="457200" indent="-457200">
              <a:spcAft>
                <a:spcPts val="1200"/>
              </a:spcAft>
              <a:buFont typeface="Helvetica" panose="020B0604020202020204" pitchFamily="34" charset="0"/>
              <a:buChar char="›"/>
            </a:pPr>
            <a:r>
              <a:rPr lang="en-US" sz="3200" dirty="0">
                <a:solidFill>
                  <a:schemeClr val="bg2"/>
                </a:solidFill>
              </a:rPr>
              <a:t>Procurement is challenging – getting the right stuff to do the right thing for the right people at the right cost.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40531" y="445347"/>
            <a:ext cx="12547336" cy="926253"/>
          </a:xfrm>
        </p:spPr>
        <p:txBody>
          <a:bodyPr/>
          <a:lstStyle/>
          <a:p>
            <a:r>
              <a:rPr lang="en-US" sz="4400" b="1" dirty="0">
                <a:solidFill>
                  <a:srgbClr val="9A9E0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Investment Project Lessons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1921BA-0BAD-49CE-8654-402DC445C734}"/>
              </a:ext>
            </a:extLst>
          </p:cNvPr>
          <p:cNvSpPr txBox="1"/>
          <p:nvPr/>
        </p:nvSpPr>
        <p:spPr>
          <a:xfrm>
            <a:off x="-23926" y="9416794"/>
            <a:ext cx="10972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Source: World Bank &amp; GFDRR (2018) - </a:t>
            </a:r>
            <a:r>
              <a:rPr lang="en-US" sz="1400" i="1" dirty="0"/>
              <a:t>Assessment of the State of Hydrological Services in Developing Countries</a:t>
            </a:r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758869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EMI Logo">
            <a:extLst>
              <a:ext uri="{FF2B5EF4-FFF2-40B4-BE49-F238E27FC236}">
                <a16:creationId xmlns:a16="http://schemas.microsoft.com/office/drawing/2014/main" id="{1604F125-2FB4-448E-8234-A43A07F5D8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484393" y="5410200"/>
            <a:ext cx="899469" cy="873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840" y="1295400"/>
            <a:ext cx="8318182" cy="7526867"/>
          </a:xfrm>
        </p:spPr>
        <p:txBody>
          <a:bodyPr/>
          <a:lstStyle/>
          <a:p>
            <a:pPr marL="571529" lvl="4" indent="0"/>
            <a:endParaRPr lang="en-US" sz="2000" dirty="0">
              <a:solidFill>
                <a:schemeClr val="bg2"/>
              </a:solidFill>
              <a:highlight>
                <a:srgbClr val="FFFF00"/>
              </a:highlight>
            </a:endParaRPr>
          </a:p>
          <a:p>
            <a:pPr marL="0" lvl="4" indent="0">
              <a:spcAft>
                <a:spcPts val="1200"/>
              </a:spcAft>
            </a:pPr>
            <a:r>
              <a:rPr lang="en-US" sz="3600" b="1" kern="1200" dirty="0">
                <a:solidFill>
                  <a:srgbClr val="9A9E06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  <a:sym typeface="Trebuchet MS" charset="0"/>
              </a:rPr>
              <a:t>Global Weather Enterprise (GWE)</a:t>
            </a:r>
          </a:p>
          <a:p>
            <a:pPr marL="0" lvl="4" indent="0">
              <a:spcAft>
                <a:spcPts val="1200"/>
              </a:spcAft>
            </a:pPr>
            <a:r>
              <a:rPr lang="en-US" sz="3200" dirty="0">
                <a:solidFill>
                  <a:schemeClr val="bg2"/>
                </a:solidFill>
              </a:rPr>
              <a:t>	Engagement between public, private and academic sectors and not a legal entity</a:t>
            </a:r>
          </a:p>
          <a:p>
            <a:pPr marL="0" lvl="4" indent="0">
              <a:spcAft>
                <a:spcPts val="1200"/>
              </a:spcAft>
            </a:pPr>
            <a:r>
              <a:rPr lang="en-US" sz="3200" dirty="0">
                <a:solidFill>
                  <a:schemeClr val="bg2"/>
                </a:solidFill>
              </a:rPr>
              <a:t>	The goal is to provide accurate and reliable weather information and services that save lives, protect  infrastructure and enhance economic output. </a:t>
            </a:r>
          </a:p>
          <a:p>
            <a:pPr marL="0" lvl="4" indent="0">
              <a:spcAft>
                <a:spcPts val="1200"/>
              </a:spcAft>
            </a:pPr>
            <a:r>
              <a:rPr lang="en-US" sz="3200" dirty="0">
                <a:solidFill>
                  <a:schemeClr val="bg2"/>
                </a:solidFill>
              </a:rPr>
              <a:t>	The GWE is fully aligned with the requirements of the 	universally-agreed Sustainable Development Goals of the UN 2030 Agenda for Sustainable Development. </a:t>
            </a:r>
          </a:p>
          <a:p>
            <a:pPr marL="1028729" lvl="4" indent="-4572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2"/>
              </a:solidFill>
            </a:endParaRP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bg2"/>
              </a:solidFill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40531" y="445347"/>
            <a:ext cx="12547336" cy="926253"/>
          </a:xfrm>
        </p:spPr>
        <p:txBody>
          <a:bodyPr/>
          <a:lstStyle/>
          <a:p>
            <a:r>
              <a:rPr lang="en-US" sz="4400" b="1" dirty="0">
                <a:solidFill>
                  <a:srgbClr val="9A9E0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Supporting Initiatives</a:t>
            </a:r>
          </a:p>
        </p:txBody>
      </p:sp>
      <p:pic>
        <p:nvPicPr>
          <p:cNvPr id="8" name="Graphic 7" descr="Bullseye">
            <a:extLst>
              <a:ext uri="{FF2B5EF4-FFF2-40B4-BE49-F238E27FC236}">
                <a16:creationId xmlns:a16="http://schemas.microsoft.com/office/drawing/2014/main" id="{E1E669B0-E152-40AF-B800-1239089ED8A4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3840" y="3434572"/>
            <a:ext cx="563173" cy="563173"/>
          </a:xfrm>
          <a:prstGeom prst="rect">
            <a:avLst/>
          </a:prstGeom>
        </p:spPr>
      </p:pic>
      <p:pic>
        <p:nvPicPr>
          <p:cNvPr id="10" name="Graphic 9" descr="Globe">
            <a:extLst>
              <a:ext uri="{FF2B5EF4-FFF2-40B4-BE49-F238E27FC236}">
                <a16:creationId xmlns:a16="http://schemas.microsoft.com/office/drawing/2014/main" id="{4A7FD781-C83B-41FD-8023-12B9B8710E3C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3840" y="2302933"/>
            <a:ext cx="563173" cy="563173"/>
          </a:xfrm>
          <a:prstGeom prst="rect">
            <a:avLst/>
          </a:prstGeom>
        </p:spPr>
      </p:pic>
      <p:pic>
        <p:nvPicPr>
          <p:cNvPr id="12" name="Graphic 11" descr="World">
            <a:extLst>
              <a:ext uri="{FF2B5EF4-FFF2-40B4-BE49-F238E27FC236}">
                <a16:creationId xmlns:a16="http://schemas.microsoft.com/office/drawing/2014/main" id="{6A48CFE5-1845-4E22-BF50-A326EB4C6D32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11931" y="5565246"/>
            <a:ext cx="563173" cy="56317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D4E1D16-4327-4BFE-AA99-15EDA82AEA85}"/>
              </a:ext>
            </a:extLst>
          </p:cNvPr>
          <p:cNvSpPr/>
          <p:nvPr/>
        </p:nvSpPr>
        <p:spPr>
          <a:xfrm>
            <a:off x="8822531" y="1600200"/>
            <a:ext cx="8517732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4" defTabSz="457223" hangingPunct="1">
              <a:spcAft>
                <a:spcPts val="1200"/>
              </a:spcAft>
            </a:pPr>
            <a:r>
              <a:rPr lang="en-GB" sz="3200" dirty="0">
                <a:solidFill>
                  <a:schemeClr val="bg2"/>
                </a:solidFill>
                <a:latin typeface="+mn-lt"/>
                <a:ea typeface="+mn-ea"/>
                <a:cs typeface="+mn-cs"/>
                <a:sym typeface="Helvetica" charset="0"/>
              </a:rPr>
              <a:t>	</a:t>
            </a:r>
            <a:r>
              <a:rPr lang="en-GB" sz="3600" b="1" dirty="0">
                <a:solidFill>
                  <a:srgbClr val="9A9E06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  <a:sym typeface="Helvetica" charset="0"/>
              </a:rPr>
              <a:t>Alliance for Hydromet Development</a:t>
            </a:r>
          </a:p>
          <a:p>
            <a:pPr marL="0" lvl="4" defTabSz="457223" hangingPunct="1">
              <a:spcAft>
                <a:spcPts val="1200"/>
              </a:spcAft>
            </a:pPr>
            <a:r>
              <a:rPr lang="en-GB" sz="3200" dirty="0">
                <a:solidFill>
                  <a:schemeClr val="bg2"/>
                </a:solidFill>
                <a:latin typeface="+mn-lt"/>
                <a:ea typeface="+mn-ea"/>
                <a:cs typeface="+mn-cs"/>
                <a:sym typeface="Helvetica" charset="0"/>
              </a:rPr>
              <a:t>Collective commitment and framework for scaled-up, coordinated, sustained, and more impactful action, aiming at improving capacity, collaboration, relevance, innovation, sustainability and accountability.</a:t>
            </a:r>
          </a:p>
          <a:p>
            <a:pPr marL="0" lvl="4" defTabSz="457223" hangingPunct="1">
              <a:spcAft>
                <a:spcPts val="1200"/>
              </a:spcAft>
            </a:pPr>
            <a:endParaRPr lang="en-GB" sz="3200" dirty="0">
              <a:solidFill>
                <a:schemeClr val="bg2"/>
              </a:solidFill>
              <a:latin typeface="+mn-lt"/>
              <a:ea typeface="+mn-ea"/>
              <a:cs typeface="+mn-cs"/>
              <a:sym typeface="Helvetica" charset="0"/>
            </a:endParaRPr>
          </a:p>
          <a:p>
            <a:pPr marL="0" lvl="4" defTabSz="457223" hangingPunct="1">
              <a:spcAft>
                <a:spcPts val="1200"/>
              </a:spcAft>
            </a:pPr>
            <a:r>
              <a:rPr lang="en-GB" sz="3600" b="1" dirty="0">
                <a:solidFill>
                  <a:srgbClr val="9A9E06"/>
                </a:solidFill>
                <a:latin typeface="Helvetica" panose="020B0604020202020204" pitchFamily="34" charset="0"/>
                <a:cs typeface="Helvetica" panose="020B0604020202020204" pitchFamily="34" charset="0"/>
                <a:sym typeface="Helvetica" charset="0"/>
              </a:rPr>
              <a:t>	Tender Specifications</a:t>
            </a:r>
          </a:p>
          <a:p>
            <a:pPr marL="0" lvl="4" defTabSz="457223" hangingPunct="1">
              <a:spcAft>
                <a:spcPts val="1200"/>
              </a:spcAft>
            </a:pPr>
            <a:r>
              <a:rPr lang="en-GB" sz="3200" dirty="0">
                <a:solidFill>
                  <a:schemeClr val="bg2"/>
                </a:solidFill>
                <a:sym typeface="Helvetica" charset="0"/>
              </a:rPr>
              <a:t>Improving the quality of </a:t>
            </a:r>
            <a:r>
              <a:rPr lang="en-GB" sz="3200" dirty="0" err="1">
                <a:solidFill>
                  <a:schemeClr val="bg2"/>
                </a:solidFill>
                <a:sym typeface="Helvetica" charset="0"/>
              </a:rPr>
              <a:t>hydromet</a:t>
            </a:r>
            <a:r>
              <a:rPr lang="en-GB" sz="3200" dirty="0">
                <a:solidFill>
                  <a:schemeClr val="bg2"/>
                </a:solidFill>
                <a:sym typeface="Helvetica" charset="0"/>
              </a:rPr>
              <a:t> equipment procurement through user-friendly WMO-compliant guidance and templates.</a:t>
            </a:r>
            <a:endParaRPr lang="en-GB" sz="3200" dirty="0">
              <a:solidFill>
                <a:schemeClr val="bg2"/>
              </a:solidFill>
              <a:latin typeface="+mn-lt"/>
              <a:ea typeface="+mn-ea"/>
              <a:cs typeface="+mn-cs"/>
              <a:sym typeface="Helvetica" charset="0"/>
            </a:endParaRPr>
          </a:p>
        </p:txBody>
      </p:sp>
      <p:pic>
        <p:nvPicPr>
          <p:cNvPr id="11" name="Graphic 10" descr="Partial Sun">
            <a:extLst>
              <a:ext uri="{FF2B5EF4-FFF2-40B4-BE49-F238E27FC236}">
                <a16:creationId xmlns:a16="http://schemas.microsoft.com/office/drawing/2014/main" id="{06F02EB2-4A7F-4937-A3DE-176531E96CF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593931" y="138853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4894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40531" y="445347"/>
            <a:ext cx="12547336" cy="926253"/>
          </a:xfrm>
        </p:spPr>
        <p:txBody>
          <a:bodyPr/>
          <a:lstStyle/>
          <a:p>
            <a:r>
              <a:rPr lang="en-US" sz="4400" b="1" dirty="0">
                <a:solidFill>
                  <a:srgbClr val="9A9E0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Thank You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18583F1-478B-49DC-B565-86463C56378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7211" y="5638800"/>
            <a:ext cx="7315200" cy="41148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5A700D6-72C2-41E3-B839-263989D5CF39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84331" y="5638800"/>
            <a:ext cx="5012266" cy="28194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4DD6CFF-146A-42FD-B672-4380BCAD5008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84331" y="1371600"/>
            <a:ext cx="7315200" cy="41148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29947BB-D87E-4B68-A350-8AD61D396709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3400" y="1371600"/>
            <a:ext cx="73152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177694"/>
      </p:ext>
    </p:extLst>
  </p:cSld>
  <p:clrMapOvr>
    <a:masterClrMapping/>
  </p:clrMapOvr>
</p:sld>
</file>

<file path=ppt/theme/theme1.xml><?xml version="1.0" encoding="utf-8"?>
<a:theme xmlns:a="http://schemas.openxmlformats.org/drawingml/2006/main" name="GFDRR PPT Template _FINAL">
  <a:themeElements>
    <a:clrScheme name="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A81BA"/>
      </a:accent1>
      <a:accent2>
        <a:srgbClr val="D89F39"/>
      </a:accent2>
      <a:accent3>
        <a:srgbClr val="FFFFFF"/>
      </a:accent3>
      <a:accent4>
        <a:srgbClr val="000000"/>
      </a:accent4>
      <a:accent5>
        <a:srgbClr val="AEC1D9"/>
      </a:accent5>
      <a:accent6>
        <a:srgbClr val="C49033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Helvetica"/>
        <a:ea typeface="Helvetica"/>
        <a:cs typeface="Helvetic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25400" cap="flat" cmpd="sng" algn="ctr">
          <a:solidFill>
            <a:srgbClr val="3A81BA"/>
          </a:solidFill>
          <a:prstDash val="solid"/>
          <a:round/>
          <a:headEnd type="none" w="med" len="med"/>
          <a:tailEnd type="none" w="med" len="med"/>
        </a:ln>
        <a:effectLst>
          <a:outerShdw blurRad="50800" dist="25400" dir="5400000" algn="ctr" rotWithShape="0">
            <a:srgbClr val="000000">
              <a:alpha val="34999"/>
            </a:srgbClr>
          </a:outerShdw>
        </a:effectLst>
      </a:spPr>
      <a:bodyPr vert="horz" wrap="square" lIns="65022" tIns="65022" rIns="65022" bIns="65022" numCol="1" anchor="ctr" anchorCtr="0" compatLnSpc="1">
        <a:prstTxWarp prst="textNoShape">
          <a:avLst/>
        </a:prstTxWarp>
      </a:bodyPr>
      <a:lstStyle>
        <a:defPPr marL="457200" marR="0" indent="0" algn="l" defTabSz="89535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3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Trebuchet MS" charset="0"/>
            <a:ea typeface="Trebuchet MS" charset="0"/>
            <a:cs typeface="Trebuchet MS" charset="0"/>
            <a:sym typeface="Trebuchet M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25400" cap="flat" cmpd="sng" algn="ctr">
          <a:solidFill>
            <a:srgbClr val="3A81BA"/>
          </a:solidFill>
          <a:prstDash val="solid"/>
          <a:round/>
          <a:headEnd type="none" w="med" len="med"/>
          <a:tailEnd type="none" w="med" len="med"/>
        </a:ln>
        <a:effectLst>
          <a:outerShdw blurRad="50800" dist="25400" dir="5400000" algn="ctr" rotWithShape="0">
            <a:srgbClr val="000000">
              <a:alpha val="34999"/>
            </a:srgbClr>
          </a:outerShdw>
        </a:effectLst>
      </a:spPr>
      <a:bodyPr vert="horz" wrap="square" lIns="65022" tIns="65022" rIns="65022" bIns="65022" numCol="1" anchor="ctr" anchorCtr="0" compatLnSpc="1">
        <a:prstTxWarp prst="textNoShape">
          <a:avLst/>
        </a:prstTxWarp>
      </a:bodyPr>
      <a:lstStyle>
        <a:defPPr marL="457200" marR="0" indent="0" algn="l" defTabSz="89535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3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Trebuchet MS" charset="0"/>
            <a:ea typeface="Trebuchet MS" charset="0"/>
            <a:cs typeface="Trebuchet MS" charset="0"/>
            <a:sym typeface="Trebuchet MS" charset="0"/>
          </a:defRPr>
        </a:defPPr>
      </a:lst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A81BA"/>
      </a:accent1>
      <a:accent2>
        <a:srgbClr val="D89F39"/>
      </a:accent2>
      <a:accent3>
        <a:srgbClr val="FFFFFF"/>
      </a:accent3>
      <a:accent4>
        <a:srgbClr val="000000"/>
      </a:accent4>
      <a:accent5>
        <a:srgbClr val="AEC1D9"/>
      </a:accent5>
      <a:accent6>
        <a:srgbClr val="C49033"/>
      </a:accent6>
      <a:hlink>
        <a:srgbClr val="0000FF"/>
      </a:hlink>
      <a:folHlink>
        <a:srgbClr val="FF00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GFDRR PPT Template _FINAL</Template>
  <TotalTime>22410</TotalTime>
  <Words>557</Words>
  <Application>Microsoft Macintosh PowerPoint</Application>
  <PresentationFormat>Custom</PresentationFormat>
  <Paragraphs>92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MS PGothic</vt:lpstr>
      <vt:lpstr>Arial</vt:lpstr>
      <vt:lpstr>Avenir Roman</vt:lpstr>
      <vt:lpstr>Calibri</vt:lpstr>
      <vt:lpstr>Helvetica</vt:lpstr>
      <vt:lpstr>Helvetica Neue</vt:lpstr>
      <vt:lpstr>Helvetica Neue Light</vt:lpstr>
      <vt:lpstr>Times New Roman</vt:lpstr>
      <vt:lpstr>Trebuchet MS</vt:lpstr>
      <vt:lpstr>GFDRR PPT Template _FINAL</vt:lpstr>
      <vt:lpstr>PowerPoint Presentation</vt:lpstr>
      <vt:lpstr>Introduction to the World Bank Group</vt:lpstr>
      <vt:lpstr>Our Interest in Hydrological Services</vt:lpstr>
      <vt:lpstr>Growth in Investment</vt:lpstr>
      <vt:lpstr>NHSs Face Significant Challenges</vt:lpstr>
      <vt:lpstr>NHS “Poverty Trap”</vt:lpstr>
      <vt:lpstr>Observation Systems in Decline</vt:lpstr>
      <vt:lpstr>Perspectives from the Field</vt:lpstr>
      <vt:lpstr>Investment Approach</vt:lpstr>
      <vt:lpstr>Investment Policy Lessons</vt:lpstr>
      <vt:lpstr>Investment Project Lessons</vt:lpstr>
      <vt:lpstr>Supporting Initiatives</vt:lpstr>
      <vt:lpstr>Thank You</vt:lpstr>
    </vt:vector>
  </TitlesOfParts>
  <Company>The World Bank Group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Consultative Group of GFDRR</dc:title>
  <dc:creator>Anna-Maria Bogdanova</dc:creator>
  <cp:lastModifiedBy>Tony Boston</cp:lastModifiedBy>
  <cp:revision>337</cp:revision>
  <cp:lastPrinted>2015-05-04T14:21:14Z</cp:lastPrinted>
  <dcterms:created xsi:type="dcterms:W3CDTF">2014-04-28T03:17:58Z</dcterms:created>
  <dcterms:modified xsi:type="dcterms:W3CDTF">2018-09-20T13:08:11Z</dcterms:modified>
</cp:coreProperties>
</file>