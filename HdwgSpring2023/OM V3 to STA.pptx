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  <p:sldMasterId id="2147483719" r:id="rId2"/>
    <p:sldMasterId id="2147483648" r:id="rId3"/>
    <p:sldMasterId id="2147483716" r:id="rId4"/>
    <p:sldMasterId id="2147483660" r:id="rId5"/>
    <p:sldMasterId id="2147483663" r:id="rId6"/>
    <p:sldMasterId id="2147483666" r:id="rId7"/>
  </p:sldMasterIdLst>
  <p:notesMasterIdLst>
    <p:notesMasterId r:id="rId30"/>
  </p:notesMasterIdLst>
  <p:handoutMasterIdLst>
    <p:handoutMasterId r:id="rId31"/>
  </p:handoutMasterIdLst>
  <p:sldIdLst>
    <p:sldId id="270" r:id="rId8"/>
    <p:sldId id="259" r:id="rId9"/>
    <p:sldId id="260" r:id="rId10"/>
    <p:sldId id="258" r:id="rId11"/>
    <p:sldId id="261" r:id="rId12"/>
    <p:sldId id="262" r:id="rId13"/>
    <p:sldId id="274" r:id="rId14"/>
    <p:sldId id="264" r:id="rId15"/>
    <p:sldId id="263" r:id="rId16"/>
    <p:sldId id="257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s1" initials="U" lastIdx="1" clrIdx="0">
    <p:extLst>
      <p:ext uri="{19B8F6BF-5375-455C-9EA6-DF929625EA0E}">
        <p15:presenceInfo xmlns:p15="http://schemas.microsoft.com/office/powerpoint/2012/main" userId="S::office365a@redflashgroup.com::29337bfe-bcdc-4963-a64e-ab88f009bbc4" providerId="AD"/>
      </p:ext>
    </p:extLst>
  </p:cmAuthor>
  <p:cmAuthor id="2" name="Erick Felsey" initials="EF" lastIdx="1" clrIdx="1">
    <p:extLst>
      <p:ext uri="{19B8F6BF-5375-455C-9EA6-DF929625EA0E}">
        <p15:presenceInfo xmlns:p15="http://schemas.microsoft.com/office/powerpoint/2012/main" userId="S::erick@elearningmind.com::92ba58ee-c2fc-42d9-9196-061e6b82511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745"/>
    <a:srgbClr val="002060"/>
    <a:srgbClr val="F2F2F2"/>
    <a:srgbClr val="D6DCE5"/>
    <a:srgbClr val="0A1F60"/>
    <a:srgbClr val="2ED0FF"/>
    <a:srgbClr val="6DD6EC"/>
    <a:srgbClr val="BEF7FA"/>
    <a:srgbClr val="A7F1FB"/>
    <a:srgbClr val="A6E7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5" autoAdjust="0"/>
    <p:restoredTop sz="96208" autoAdjust="0"/>
  </p:normalViewPr>
  <p:slideViewPr>
    <p:cSldViewPr snapToGrid="0" snapToObjects="1">
      <p:cViewPr varScale="1">
        <p:scale>
          <a:sx n="110" d="100"/>
          <a:sy n="110" d="100"/>
        </p:scale>
        <p:origin x="732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3" d="100"/>
          <a:sy n="123" d="100"/>
        </p:scale>
        <p:origin x="497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537F67-8843-42B4-9051-D6F4A61DD2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3B5AC-6035-4FCB-ACBF-BFFD34ED4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0AEA4-3F19-4F42-91AE-A93231ABB6AE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6D496-F68B-4433-9AEF-E7D73F3FD8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8BF13-2098-43A7-AF3D-88038BED5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12071-85AE-4634-ADF4-671944ADD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62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64895-6A18-451E-B7CB-0F11BB972913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BFD32-2F24-4FA9-B7DE-53D903241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BFD32-2F24-4FA9-B7DE-53D903241E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>
            <a:spLocks noGrp="1"/>
          </p:cNvSpPr>
          <p:nvPr>
            <p:ph type="body" idx="1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3" name="Google Shape;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linkedin.com/company/open-geospatial-consortium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hyperlink" Target="https://twitter.com/opengeospatial?ref_src=twsrc%5Egoogle%7Ctwcamp%5Eserp%7Ctwgr%5Eautho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linkedin.com/company/open-geospatial-consortium" TargetMode="External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5.png"/><Relationship Id="rId4" Type="http://schemas.openxmlformats.org/officeDocument/2006/relationships/hyperlink" Target="https://twitter.com/opengeospatial?ref_src=twsrc%5Egoogle%7Ctwcamp%5Eserp%7Ctwgr%5Eauthor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linkedin.com/company/open-geospatial-consortium" TargetMode="External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5.png"/><Relationship Id="rId4" Type="http://schemas.openxmlformats.org/officeDocument/2006/relationships/hyperlink" Target="https://twitter.com/opengeospatial?ref_src=twsrc%5Egoogle%7Ctwcamp%5Eserp%7Ctwgr%5Eautho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52092-82D1-461F-807E-84F5B15DC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6E5D17-F33D-4327-A7B8-A6331A0F7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A4D5ED7-4916-4EF5-9B14-DD6D0EE6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616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FAF647A-F430-493F-8C59-3B8606183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8"/>
            <a:ext cx="10515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A26529-85C0-4F43-A661-C246EECB0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3F4EB3E8-5FEC-4C3E-A5D3-50A8AFCC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822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320-0324-4809-B373-A030DCF9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9129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1D4E-334B-43FF-8C44-6087A899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9129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66660E1-DC61-49B7-B1BF-758191AD8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8CEC819-3D8B-4945-9089-70431865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085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8C676-7022-455C-BC96-C417EAD0C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25950" y="1169129"/>
            <a:ext cx="551075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FC6BE87-7DC1-4304-9721-F91A29FAEA3F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38200" y="1169129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1033C92-6E24-468B-B940-53DC3CAD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1B954B2-D76F-441F-9CC1-B9786CEA2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90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sig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EB54FDB-76A2-4243-86B5-611386F46E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1944" y="6109215"/>
            <a:ext cx="436507" cy="436507"/>
          </a:xfrm>
          <a:prstGeom prst="rect">
            <a:avLst/>
          </a:prstGeom>
        </p:spPr>
      </p:pic>
      <p:pic>
        <p:nvPicPr>
          <p:cNvPr id="13" name="Picture 12" descr="A picture containing shir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A76BF76E-0419-4D4C-A49E-9895A6B546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16" y="6022887"/>
            <a:ext cx="598016" cy="598016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563F8E6-7209-4995-BB0C-79F5A590D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3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A5F-1151-415A-9C4D-624FE6C8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B0949-B4E7-4EC5-A1DD-2C61601AD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576F-B595-4417-BB4A-72A64C3E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B700-533B-4257-95D3-9FD2D7AEC5F8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65F34-3E71-4FCE-93FA-070F9F84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C140-3EFB-46F6-80F2-4DB52082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6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3876-B720-4845-B78C-2A5D0226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9FFFE-3A5C-4937-B19B-19F42DC0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B700-533B-4257-95D3-9FD2D7AEC5F8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559A-B242-40FB-8982-1D6FB22B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B60D8-761D-40F4-9FDB-57685044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0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Le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97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1A3E-7A4D-2D44-B741-6836F377B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4490720"/>
            <a:ext cx="10515600" cy="1605280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0927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04B18D-9076-9647-83FB-D6F68658F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B338FA-2266-9647-AE07-C542B66504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1960" y="3911600"/>
            <a:ext cx="8184515" cy="579438"/>
          </a:xfrm>
          <a:prstGeom prst="rect">
            <a:avLst/>
          </a:prstGeom>
        </p:spPr>
        <p:txBody>
          <a:bodyPr anchor="b"/>
          <a:lstStyle>
            <a:lvl1pPr>
              <a:defRPr sz="2400" b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414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87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496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4E6A5-FBEC-4C3A-B47B-6D153CDEB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8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E12AB-4740-48C7-A306-8BC65841A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615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sig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8EB54FDB-76A2-4243-86B5-611386F46E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1944" y="6109215"/>
            <a:ext cx="436507" cy="436507"/>
          </a:xfrm>
          <a:prstGeom prst="rect">
            <a:avLst/>
          </a:prstGeom>
        </p:spPr>
      </p:pic>
      <p:pic>
        <p:nvPicPr>
          <p:cNvPr id="13" name="Picture 12" descr="A picture containing shir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A76BF76E-0419-4D4C-A49E-9895A6B546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16" y="6022887"/>
            <a:ext cx="598016" cy="598016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563F8E6-7209-4995-BB0C-79F5A590D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841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E57135AE-A9F7-49E4-A4C5-F848A82772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1944" y="6109215"/>
            <a:ext cx="436507" cy="436507"/>
          </a:xfrm>
          <a:prstGeom prst="rect">
            <a:avLst/>
          </a:prstGeom>
        </p:spPr>
      </p:pic>
      <p:pic>
        <p:nvPicPr>
          <p:cNvPr id="10" name="Picture 9" descr="A picture containing shir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029A5884-52CE-4BD4-B4CC-F852684E8D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16" y="6022887"/>
            <a:ext cx="598016" cy="59801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382FF6-9475-4B95-8754-697DEAD1A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6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jpeg"/><Relationship Id="rId7" Type="http://schemas.openxmlformats.org/officeDocument/2006/relationships/image" Target="../media/image1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7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BAAD1DE8-F1F5-4FAF-963B-2A354EA7A4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33"/>
            <a:ext cx="12192000" cy="951172"/>
          </a:xfrm>
          <a:prstGeom prst="rect">
            <a:avLst/>
          </a:prstGeom>
        </p:spPr>
      </p:pic>
      <p:pic>
        <p:nvPicPr>
          <p:cNvPr id="13" name="Picture 12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8652D866-B14F-454C-BDF6-5545A022FB29}"/>
              </a:ext>
            </a:extLst>
          </p:cNvPr>
          <p:cNvPicPr>
            <a:picLocks/>
          </p:cNvPicPr>
          <p:nvPr userDrawn="1"/>
        </p:nvPicPr>
        <p:blipFill rotWithShape="1">
          <a:blip r:embed="rId11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50DF1-7CB9-4ADA-A6E3-3CDCA86E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107" y="116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AD972-4108-434B-AA8C-8EFF7EECE85D}"/>
              </a:ext>
            </a:extLst>
          </p:cNvPr>
          <p:cNvSpPr txBox="1"/>
          <p:nvPr userDrawn="1"/>
        </p:nvSpPr>
        <p:spPr>
          <a:xfrm>
            <a:off x="10575181" y="31837"/>
            <a:ext cx="1429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97B7C-A314-4779-BD55-2FC2CEB1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634C5-3617-497F-B2D8-90501346CE33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B25B4-87D2-40A8-8FCE-9DC7E68F0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45953386-97ED-4C4D-B208-AB8727D6635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6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2" r:id="rId2"/>
    <p:sldLayoutId id="2147483710" r:id="rId3"/>
    <p:sldLayoutId id="2147483715" r:id="rId4"/>
    <p:sldLayoutId id="2147483718" r:id="rId5"/>
    <p:sldLayoutId id="2147483722" r:id="rId6"/>
    <p:sldLayoutId id="2147483723" r:id="rId7"/>
    <p:sldLayoutId id="214748372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>
              <a:lumMod val="95000"/>
            </a:schemeClr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rgbClr val="09274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BAAD1DE8-F1F5-4FAF-963B-2A354EA7A4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33"/>
            <a:ext cx="12192000" cy="951172"/>
          </a:xfrm>
          <a:prstGeom prst="rect">
            <a:avLst/>
          </a:prstGeom>
        </p:spPr>
      </p:pic>
      <p:pic>
        <p:nvPicPr>
          <p:cNvPr id="13" name="Picture 12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8652D866-B14F-454C-BDF6-5545A022FB29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8AD972-4108-434B-AA8C-8EFF7EECE85D}"/>
              </a:ext>
            </a:extLst>
          </p:cNvPr>
          <p:cNvSpPr txBox="1"/>
          <p:nvPr userDrawn="1"/>
        </p:nvSpPr>
        <p:spPr>
          <a:xfrm>
            <a:off x="10575181" y="31837"/>
            <a:ext cx="1429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634C5-3617-497F-B2D8-90501346CE33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B25B4-87D2-40A8-8FCE-9DC7E68F0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45953386-97ED-4C4D-B208-AB8727D6635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>
              <a:lumMod val="95000"/>
            </a:schemeClr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4400" b="1" kern="1200">
          <a:solidFill>
            <a:srgbClr val="09274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F567DE2-1201-4602-845D-5E4183EB3E09}"/>
              </a:ext>
            </a:extLst>
          </p:cNvPr>
          <p:cNvSpPr/>
          <p:nvPr userDrawn="1"/>
        </p:nvSpPr>
        <p:spPr>
          <a:xfrm>
            <a:off x="0" y="0"/>
            <a:ext cx="6370710" cy="64972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picture containing person, man, using, water&#10;&#10;Description automatically generated">
            <a:extLst>
              <a:ext uri="{FF2B5EF4-FFF2-40B4-BE49-F238E27FC236}">
                <a16:creationId xmlns:a16="http://schemas.microsoft.com/office/drawing/2014/main" id="{79F6AB73-CACD-420F-94FF-329572A03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6370710" y="0"/>
            <a:ext cx="5821290" cy="649725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D55CC2-ECB2-4C8C-AAE9-6DA13C3C1667}"/>
              </a:ext>
            </a:extLst>
          </p:cNvPr>
          <p:cNvSpPr txBox="1"/>
          <p:nvPr userDrawn="1"/>
        </p:nvSpPr>
        <p:spPr>
          <a:xfrm>
            <a:off x="1290937" y="4502457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F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indable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6B235F-86D9-4CA4-A3A8-F1D9D5E31F50}"/>
              </a:ext>
            </a:extLst>
          </p:cNvPr>
          <p:cNvSpPr txBox="1"/>
          <p:nvPr userDrawn="1"/>
        </p:nvSpPr>
        <p:spPr>
          <a:xfrm>
            <a:off x="9836205" y="5657802"/>
            <a:ext cx="1897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sp>
        <p:nvSpPr>
          <p:cNvPr id="38" name="Google Shape;118;p19">
            <a:extLst>
              <a:ext uri="{FF2B5EF4-FFF2-40B4-BE49-F238E27FC236}">
                <a16:creationId xmlns:a16="http://schemas.microsoft.com/office/drawing/2014/main" id="{638F4D43-BD4D-41AF-B951-05D3354CD8D8}"/>
              </a:ext>
            </a:extLst>
          </p:cNvPr>
          <p:cNvSpPr/>
          <p:nvPr userDrawn="1"/>
        </p:nvSpPr>
        <p:spPr>
          <a:xfrm>
            <a:off x="625867" y="4453345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Google Shape;119;p19">
            <a:extLst>
              <a:ext uri="{FF2B5EF4-FFF2-40B4-BE49-F238E27FC236}">
                <a16:creationId xmlns:a16="http://schemas.microsoft.com/office/drawing/2014/main" id="{C9E8958B-3720-421F-BE83-BD36693B81B1}"/>
              </a:ext>
            </a:extLst>
          </p:cNvPr>
          <p:cNvSpPr/>
          <p:nvPr userDrawn="1"/>
        </p:nvSpPr>
        <p:spPr>
          <a:xfrm>
            <a:off x="3089907" y="4465878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Google Shape;120;p19">
            <a:extLst>
              <a:ext uri="{FF2B5EF4-FFF2-40B4-BE49-F238E27FC236}">
                <a16:creationId xmlns:a16="http://schemas.microsoft.com/office/drawing/2014/main" id="{EB6376F3-3CAD-4103-8C58-5BFB967035C3}"/>
              </a:ext>
            </a:extLst>
          </p:cNvPr>
          <p:cNvSpPr/>
          <p:nvPr userDrawn="1"/>
        </p:nvSpPr>
        <p:spPr>
          <a:xfrm>
            <a:off x="618171" y="5220332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Google Shape;121;p19">
            <a:extLst>
              <a:ext uri="{FF2B5EF4-FFF2-40B4-BE49-F238E27FC236}">
                <a16:creationId xmlns:a16="http://schemas.microsoft.com/office/drawing/2014/main" id="{355FA745-80DE-47BC-BBAB-FD75AA5511A6}"/>
              </a:ext>
            </a:extLst>
          </p:cNvPr>
          <p:cNvSpPr/>
          <p:nvPr userDrawn="1"/>
        </p:nvSpPr>
        <p:spPr>
          <a:xfrm>
            <a:off x="3108605" y="5222629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Google Shape;127;p19" descr="A picture containing drawing, light, clock&#10;&#10;Description automatically generated">
            <a:extLst>
              <a:ext uri="{FF2B5EF4-FFF2-40B4-BE49-F238E27FC236}">
                <a16:creationId xmlns:a16="http://schemas.microsoft.com/office/drawing/2014/main" id="{678C7BC9-B6AA-4F18-ABEA-AE4DA001F542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4267" y="4456346"/>
            <a:ext cx="532289" cy="532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24;p19" descr="A close up of a logo&#10;&#10;Description automatically generated">
            <a:extLst>
              <a:ext uri="{FF2B5EF4-FFF2-40B4-BE49-F238E27FC236}">
                <a16:creationId xmlns:a16="http://schemas.microsoft.com/office/drawing/2014/main" id="{52D1C18E-6B7A-4CD6-B819-59FEC83D66AF}"/>
              </a:ext>
            </a:extLst>
          </p:cNvPr>
          <p:cNvPicPr preferRelativeResize="0"/>
          <p:nvPr userDrawn="1"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0536" y="4494683"/>
            <a:ext cx="465951" cy="4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25;p19" descr="A close up of a logo&#10;&#10;Description automatically generated">
            <a:extLst>
              <a:ext uri="{FF2B5EF4-FFF2-40B4-BE49-F238E27FC236}">
                <a16:creationId xmlns:a16="http://schemas.microsoft.com/office/drawing/2014/main" id="{13536215-45EB-4C98-8BC0-C9AEFB27DDCD}"/>
              </a:ext>
            </a:extLst>
          </p:cNvPr>
          <p:cNvPicPr preferRelativeResize="0"/>
          <p:nvPr userDrawn="1"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892" y="5178394"/>
            <a:ext cx="612940" cy="61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26;p1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8BC565F-DE29-4080-B712-23B93B737BF6}"/>
              </a:ext>
            </a:extLst>
          </p:cNvPr>
          <p:cNvPicPr preferRelativeResize="0"/>
          <p:nvPr userDrawn="1"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5531" y="520282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39FB623-817F-4F93-A288-978EC23E3A04}"/>
              </a:ext>
            </a:extLst>
          </p:cNvPr>
          <p:cNvSpPr txBox="1"/>
          <p:nvPr userDrawn="1"/>
        </p:nvSpPr>
        <p:spPr>
          <a:xfrm>
            <a:off x="3751637" y="4531453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A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ccessible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B2939A-F19C-4224-86A7-EF97F4D2E0E6}"/>
              </a:ext>
            </a:extLst>
          </p:cNvPr>
          <p:cNvSpPr txBox="1"/>
          <p:nvPr userDrawn="1"/>
        </p:nvSpPr>
        <p:spPr>
          <a:xfrm>
            <a:off x="1288611" y="5300198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I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nteroperable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327126-140B-4A3D-9476-05C34A3920A5}"/>
              </a:ext>
            </a:extLst>
          </p:cNvPr>
          <p:cNvSpPr txBox="1"/>
          <p:nvPr userDrawn="1"/>
        </p:nvSpPr>
        <p:spPr>
          <a:xfrm>
            <a:off x="3754625" y="5299592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R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eusable</a:t>
            </a:r>
            <a:endParaRPr lang="en-US" sz="1800" dirty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21F7842-FB62-4D03-A267-0ECABCF803CE}"/>
              </a:ext>
            </a:extLst>
          </p:cNvPr>
          <p:cNvSpPr/>
          <p:nvPr userDrawn="1"/>
        </p:nvSpPr>
        <p:spPr>
          <a:xfrm>
            <a:off x="0" y="3068852"/>
            <a:ext cx="6370711" cy="732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72C414-D113-4B8F-88E8-4DE4B29A2295}"/>
              </a:ext>
            </a:extLst>
          </p:cNvPr>
          <p:cNvSpPr txBox="1"/>
          <p:nvPr userDrawn="1"/>
        </p:nvSpPr>
        <p:spPr>
          <a:xfrm>
            <a:off x="153004" y="3142719"/>
            <a:ext cx="600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The world’s leading and comprehensive </a:t>
            </a:r>
            <a:b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</a:br>
            <a: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community of experts making location information:</a:t>
            </a:r>
            <a:endParaRPr lang="en-US" b="1" dirty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45468-F921-49D3-A341-9DC9068F2906}"/>
              </a:ext>
            </a:extLst>
          </p:cNvPr>
          <p:cNvSpPr txBox="1"/>
          <p:nvPr userDrawn="1"/>
        </p:nvSpPr>
        <p:spPr>
          <a:xfrm>
            <a:off x="11560254" y="5795401"/>
            <a:ext cx="30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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12533E42-C92B-4F9B-9039-39298932638B}"/>
              </a:ext>
            </a:extLst>
          </p:cNvPr>
          <p:cNvPicPr>
            <a:picLocks/>
          </p:cNvPicPr>
          <p:nvPr userDrawn="1"/>
        </p:nvPicPr>
        <p:blipFill rotWithShape="1">
          <a:blip r:embed="rId8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B76AA4-6C64-4F1F-ADCB-CF84C5173688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28B69FD2-131B-4899-A007-3AA20C8DC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6" name="Picture 35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EECBDD7C-B804-4A09-801E-60E613AF586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A4ED7CC-B2CC-4EDC-9BD3-54F30E099634}"/>
              </a:ext>
            </a:extLst>
          </p:cNvPr>
          <p:cNvSpPr/>
          <p:nvPr userDrawn="1"/>
        </p:nvSpPr>
        <p:spPr>
          <a:xfrm>
            <a:off x="584892" y="6551206"/>
            <a:ext cx="32575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en-US" sz="1000" b="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rPr>
              <a:t>Copyright © 2020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405331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F567DE2-1201-4602-845D-5E4183EB3E09}"/>
              </a:ext>
            </a:extLst>
          </p:cNvPr>
          <p:cNvSpPr/>
          <p:nvPr userDrawn="1"/>
        </p:nvSpPr>
        <p:spPr>
          <a:xfrm>
            <a:off x="0" y="0"/>
            <a:ext cx="6370710" cy="64972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A picture containing person, man, using, water&#10;&#10;Description automatically generated">
            <a:extLst>
              <a:ext uri="{FF2B5EF4-FFF2-40B4-BE49-F238E27FC236}">
                <a16:creationId xmlns:a16="http://schemas.microsoft.com/office/drawing/2014/main" id="{79F6AB73-CACD-420F-94FF-329572A03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6370710" y="0"/>
            <a:ext cx="5821290" cy="649725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CD55CC2-ECB2-4C8C-AAE9-6DA13C3C1667}"/>
              </a:ext>
            </a:extLst>
          </p:cNvPr>
          <p:cNvSpPr txBox="1"/>
          <p:nvPr userDrawn="1"/>
        </p:nvSpPr>
        <p:spPr>
          <a:xfrm>
            <a:off x="813417" y="3903017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F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indable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6B235F-86D9-4CA4-A3A8-F1D9D5E31F50}"/>
              </a:ext>
            </a:extLst>
          </p:cNvPr>
          <p:cNvSpPr txBox="1"/>
          <p:nvPr userDrawn="1"/>
        </p:nvSpPr>
        <p:spPr>
          <a:xfrm>
            <a:off x="9836205" y="5657802"/>
            <a:ext cx="1897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sp>
        <p:nvSpPr>
          <p:cNvPr id="38" name="Google Shape;118;p19">
            <a:extLst>
              <a:ext uri="{FF2B5EF4-FFF2-40B4-BE49-F238E27FC236}">
                <a16:creationId xmlns:a16="http://schemas.microsoft.com/office/drawing/2014/main" id="{638F4D43-BD4D-41AF-B951-05D3354CD8D8}"/>
              </a:ext>
            </a:extLst>
          </p:cNvPr>
          <p:cNvSpPr/>
          <p:nvPr userDrawn="1"/>
        </p:nvSpPr>
        <p:spPr>
          <a:xfrm>
            <a:off x="148347" y="3853905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Google Shape;119;p19">
            <a:extLst>
              <a:ext uri="{FF2B5EF4-FFF2-40B4-BE49-F238E27FC236}">
                <a16:creationId xmlns:a16="http://schemas.microsoft.com/office/drawing/2014/main" id="{C9E8958B-3720-421F-BE83-BD36693B81B1}"/>
              </a:ext>
            </a:extLst>
          </p:cNvPr>
          <p:cNvSpPr/>
          <p:nvPr userDrawn="1"/>
        </p:nvSpPr>
        <p:spPr>
          <a:xfrm>
            <a:off x="2612387" y="3866438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Google Shape;120;p19">
            <a:extLst>
              <a:ext uri="{FF2B5EF4-FFF2-40B4-BE49-F238E27FC236}">
                <a16:creationId xmlns:a16="http://schemas.microsoft.com/office/drawing/2014/main" id="{EB6376F3-3CAD-4103-8C58-5BFB967035C3}"/>
              </a:ext>
            </a:extLst>
          </p:cNvPr>
          <p:cNvSpPr/>
          <p:nvPr userDrawn="1"/>
        </p:nvSpPr>
        <p:spPr>
          <a:xfrm>
            <a:off x="790891" y="4356732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Google Shape;121;p19">
            <a:extLst>
              <a:ext uri="{FF2B5EF4-FFF2-40B4-BE49-F238E27FC236}">
                <a16:creationId xmlns:a16="http://schemas.microsoft.com/office/drawing/2014/main" id="{355FA745-80DE-47BC-BBAB-FD75AA5511A6}"/>
              </a:ext>
            </a:extLst>
          </p:cNvPr>
          <p:cNvSpPr/>
          <p:nvPr userDrawn="1"/>
        </p:nvSpPr>
        <p:spPr>
          <a:xfrm>
            <a:off x="3281325" y="4359029"/>
            <a:ext cx="535290" cy="53529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Google Shape;127;p19" descr="A picture containing drawing, light, clock&#10;&#10;Description automatically generated">
            <a:extLst>
              <a:ext uri="{FF2B5EF4-FFF2-40B4-BE49-F238E27FC236}">
                <a16:creationId xmlns:a16="http://schemas.microsoft.com/office/drawing/2014/main" id="{678C7BC9-B6AA-4F18-ABEA-AE4DA001F542}"/>
              </a:ext>
            </a:extLst>
          </p:cNvPr>
          <p:cNvPicPr preferRelativeResize="0"/>
          <p:nvPr userDrawn="1"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6747" y="3856906"/>
            <a:ext cx="532289" cy="532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24;p19" descr="A close up of a logo&#10;&#10;Description automatically generated">
            <a:extLst>
              <a:ext uri="{FF2B5EF4-FFF2-40B4-BE49-F238E27FC236}">
                <a16:creationId xmlns:a16="http://schemas.microsoft.com/office/drawing/2014/main" id="{52D1C18E-6B7A-4CD6-B819-59FEC83D66AF}"/>
              </a:ext>
            </a:extLst>
          </p:cNvPr>
          <p:cNvPicPr preferRelativeResize="0"/>
          <p:nvPr userDrawn="1"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3016" y="3895243"/>
            <a:ext cx="465951" cy="46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25;p19" descr="A close up of a logo&#10;&#10;Description automatically generated">
            <a:extLst>
              <a:ext uri="{FF2B5EF4-FFF2-40B4-BE49-F238E27FC236}">
                <a16:creationId xmlns:a16="http://schemas.microsoft.com/office/drawing/2014/main" id="{13536215-45EB-4C98-8BC0-C9AEFB27DDCD}"/>
              </a:ext>
            </a:extLst>
          </p:cNvPr>
          <p:cNvPicPr preferRelativeResize="0"/>
          <p:nvPr userDrawn="1"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612" y="4314794"/>
            <a:ext cx="612940" cy="61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26;p1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8BC565F-DE29-4080-B712-23B93B737BF6}"/>
              </a:ext>
            </a:extLst>
          </p:cNvPr>
          <p:cNvPicPr preferRelativeResize="0"/>
          <p:nvPr userDrawn="1"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38251" y="433922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39FB623-817F-4F93-A288-978EC23E3A04}"/>
              </a:ext>
            </a:extLst>
          </p:cNvPr>
          <p:cNvSpPr txBox="1"/>
          <p:nvPr userDrawn="1"/>
        </p:nvSpPr>
        <p:spPr>
          <a:xfrm>
            <a:off x="3274117" y="3932013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A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ccessible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B2939A-F19C-4224-86A7-EF97F4D2E0E6}"/>
              </a:ext>
            </a:extLst>
          </p:cNvPr>
          <p:cNvSpPr txBox="1"/>
          <p:nvPr userDrawn="1"/>
        </p:nvSpPr>
        <p:spPr>
          <a:xfrm>
            <a:off x="1461331" y="4436598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I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nteroperable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327126-140B-4A3D-9476-05C34A3920A5}"/>
              </a:ext>
            </a:extLst>
          </p:cNvPr>
          <p:cNvSpPr txBox="1"/>
          <p:nvPr userDrawn="1"/>
        </p:nvSpPr>
        <p:spPr>
          <a:xfrm>
            <a:off x="3927345" y="4435992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u="sng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R</a:t>
            </a:r>
            <a:r>
              <a:rPr lang="en-CA" sz="1800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eusable</a:t>
            </a:r>
            <a:endParaRPr lang="en-US" sz="1800" dirty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21F7842-FB62-4D03-A267-0ECABCF803CE}"/>
              </a:ext>
            </a:extLst>
          </p:cNvPr>
          <p:cNvSpPr/>
          <p:nvPr userDrawn="1"/>
        </p:nvSpPr>
        <p:spPr>
          <a:xfrm>
            <a:off x="0" y="3068852"/>
            <a:ext cx="6370711" cy="732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72C414-D113-4B8F-88E8-4DE4B29A2295}"/>
              </a:ext>
            </a:extLst>
          </p:cNvPr>
          <p:cNvSpPr txBox="1"/>
          <p:nvPr userDrawn="1"/>
        </p:nvSpPr>
        <p:spPr>
          <a:xfrm>
            <a:off x="153004" y="3142719"/>
            <a:ext cx="600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The world’s leading and comprehensive </a:t>
            </a:r>
            <a:b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</a:br>
            <a:r>
              <a:rPr lang="en-CA" b="1" dirty="0">
                <a:solidFill>
                  <a:srgbClr val="002060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community of experts making location information:</a:t>
            </a:r>
            <a:endParaRPr lang="en-US" b="1" dirty="0">
              <a:solidFill>
                <a:srgbClr val="00206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45468-F921-49D3-A341-9DC9068F2906}"/>
              </a:ext>
            </a:extLst>
          </p:cNvPr>
          <p:cNvSpPr txBox="1"/>
          <p:nvPr userDrawn="1"/>
        </p:nvSpPr>
        <p:spPr>
          <a:xfrm>
            <a:off x="11560254" y="5795401"/>
            <a:ext cx="30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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12533E42-C92B-4F9B-9039-39298932638B}"/>
              </a:ext>
            </a:extLst>
          </p:cNvPr>
          <p:cNvPicPr>
            <a:picLocks/>
          </p:cNvPicPr>
          <p:nvPr userDrawn="1"/>
        </p:nvPicPr>
        <p:blipFill rotWithShape="1">
          <a:blip r:embed="rId8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0B76AA4-6C64-4F1F-ADCB-CF84C5173688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28B69FD2-131B-4899-A007-3AA20C8DC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6" name="Picture 35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EECBDD7C-B804-4A09-801E-60E613AF586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A4ED7CC-B2CC-4EDC-9BD3-54F30E099634}"/>
              </a:ext>
            </a:extLst>
          </p:cNvPr>
          <p:cNvSpPr/>
          <p:nvPr userDrawn="1"/>
        </p:nvSpPr>
        <p:spPr>
          <a:xfrm>
            <a:off x="584892" y="6551206"/>
            <a:ext cx="32575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en-US" sz="1000" b="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rPr>
              <a:t>Copyright © 2020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36320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tar, night, sky, rain&#10;&#10;Description automatically generated">
            <a:extLst>
              <a:ext uri="{FF2B5EF4-FFF2-40B4-BE49-F238E27FC236}">
                <a16:creationId xmlns:a16="http://schemas.microsoft.com/office/drawing/2014/main" id="{7B2C781C-F1D4-43C0-8B19-F550E83D95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8" y="-10012"/>
            <a:ext cx="5689757" cy="65050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824283-A9D3-422D-9507-DB546AE54C2D}"/>
              </a:ext>
            </a:extLst>
          </p:cNvPr>
          <p:cNvSpPr/>
          <p:nvPr userDrawn="1"/>
        </p:nvSpPr>
        <p:spPr>
          <a:xfrm>
            <a:off x="5441795" y="-10014"/>
            <a:ext cx="6750205" cy="6512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60A2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1AAC2-6396-4424-BF19-D890A992B45C}"/>
              </a:ext>
            </a:extLst>
          </p:cNvPr>
          <p:cNvSpPr txBox="1"/>
          <p:nvPr userDrawn="1"/>
        </p:nvSpPr>
        <p:spPr>
          <a:xfrm>
            <a:off x="5724298" y="457198"/>
            <a:ext cx="5590447" cy="80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OGC?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50D0E-47C9-4289-9377-7039660FA830}"/>
              </a:ext>
            </a:extLst>
          </p:cNvPr>
          <p:cNvSpPr txBox="1"/>
          <p:nvPr userDrawn="1"/>
        </p:nvSpPr>
        <p:spPr>
          <a:xfrm>
            <a:off x="5869260" y="1548523"/>
            <a:ext cx="5783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Global consortium 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representing over 500 industry, government, research and academic member organizations: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8EA83-B972-44E2-8502-877E21BD0A4E}"/>
              </a:ext>
            </a:extLst>
          </p:cNvPr>
          <p:cNvCxnSpPr>
            <a:cxnSpLocks/>
          </p:cNvCxnSpPr>
          <p:nvPr userDrawn="1"/>
        </p:nvCxnSpPr>
        <p:spPr>
          <a:xfrm>
            <a:off x="5952197" y="1185765"/>
            <a:ext cx="138522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5738DE-268C-49A1-9F15-630125AB7E22}"/>
              </a:ext>
            </a:extLst>
          </p:cNvPr>
          <p:cNvSpPr txBox="1"/>
          <p:nvPr userDrawn="1"/>
        </p:nvSpPr>
        <p:spPr>
          <a:xfrm>
            <a:off x="2682362" y="709053"/>
            <a:ext cx="1423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Communities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6D778-491D-4733-BD13-4BC240378364}"/>
              </a:ext>
            </a:extLst>
          </p:cNvPr>
          <p:cNvSpPr txBox="1"/>
          <p:nvPr userDrawn="1"/>
        </p:nvSpPr>
        <p:spPr>
          <a:xfrm>
            <a:off x="5842419" y="2966634"/>
            <a:ext cx="63495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hub for thought leadership and innovation </a:t>
            </a: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b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things related to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F216B-3971-4E4D-8083-2287E9E9CB78}"/>
              </a:ext>
            </a:extLst>
          </p:cNvPr>
          <p:cNvSpPr txBox="1"/>
          <p:nvPr userDrawn="1"/>
        </p:nvSpPr>
        <p:spPr>
          <a:xfrm>
            <a:off x="3281069" y="1759532"/>
            <a:ext cx="1518601" cy="523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Expertise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BF33A-666B-47CD-9AD2-C722B6F61016}"/>
              </a:ext>
            </a:extLst>
          </p:cNvPr>
          <p:cNvSpPr txBox="1"/>
          <p:nvPr userDrawn="1"/>
        </p:nvSpPr>
        <p:spPr>
          <a:xfrm>
            <a:off x="3720640" y="2810002"/>
            <a:ext cx="1612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Thought Leadership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46BEC0-AED8-46D5-800D-23299C632733}"/>
              </a:ext>
            </a:extLst>
          </p:cNvPr>
          <p:cNvSpPr txBox="1"/>
          <p:nvPr userDrawn="1"/>
        </p:nvSpPr>
        <p:spPr>
          <a:xfrm>
            <a:off x="4137312" y="4910959"/>
            <a:ext cx="1225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Standards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7E5300-143A-47B9-A37C-143FDA06EDBF}"/>
              </a:ext>
            </a:extLst>
          </p:cNvPr>
          <p:cNvSpPr txBox="1"/>
          <p:nvPr userDrawn="1"/>
        </p:nvSpPr>
        <p:spPr>
          <a:xfrm>
            <a:off x="4051628" y="3860481"/>
            <a:ext cx="1214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Trusted Forum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D05123-7DEC-45A2-BF48-CB4F45FCBFF9}"/>
              </a:ext>
            </a:extLst>
          </p:cNvPr>
          <p:cNvCxnSpPr>
            <a:cxnSpLocks/>
          </p:cNvCxnSpPr>
          <p:nvPr userDrawn="1"/>
        </p:nvCxnSpPr>
        <p:spPr>
          <a:xfrm>
            <a:off x="1719621" y="970663"/>
            <a:ext cx="938430" cy="0"/>
          </a:xfrm>
          <a:prstGeom prst="line">
            <a:avLst/>
          </a:prstGeom>
          <a:ln>
            <a:solidFill>
              <a:srgbClr val="6DD6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6FF68A-BE1D-4769-9DDE-1DD0718933EA}"/>
              </a:ext>
            </a:extLst>
          </p:cNvPr>
          <p:cNvCxnSpPr>
            <a:cxnSpLocks/>
          </p:cNvCxnSpPr>
          <p:nvPr userDrawn="1"/>
        </p:nvCxnSpPr>
        <p:spPr>
          <a:xfrm>
            <a:off x="2280060" y="2038472"/>
            <a:ext cx="991319" cy="0"/>
          </a:xfrm>
          <a:prstGeom prst="line">
            <a:avLst/>
          </a:prstGeom>
          <a:ln>
            <a:solidFill>
              <a:srgbClr val="BEF7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FABBC1D-4520-465A-AAB6-25303685BDBD}"/>
              </a:ext>
            </a:extLst>
          </p:cNvPr>
          <p:cNvCxnSpPr>
            <a:cxnSpLocks/>
          </p:cNvCxnSpPr>
          <p:nvPr userDrawn="1"/>
        </p:nvCxnSpPr>
        <p:spPr>
          <a:xfrm>
            <a:off x="2570179" y="3075559"/>
            <a:ext cx="10795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7C087A-3B66-4E3A-B650-C8E8211A354D}"/>
              </a:ext>
            </a:extLst>
          </p:cNvPr>
          <p:cNvCxnSpPr/>
          <p:nvPr userDrawn="1"/>
        </p:nvCxnSpPr>
        <p:spPr>
          <a:xfrm>
            <a:off x="2668499" y="4099335"/>
            <a:ext cx="1373748" cy="0"/>
          </a:xfrm>
          <a:prstGeom prst="line">
            <a:avLst/>
          </a:prstGeom>
          <a:ln>
            <a:solidFill>
              <a:srgbClr val="A7F1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0CFCE9-4062-4014-8F61-40F0062D1B54}"/>
              </a:ext>
            </a:extLst>
          </p:cNvPr>
          <p:cNvCxnSpPr>
            <a:cxnSpLocks/>
          </p:cNvCxnSpPr>
          <p:nvPr userDrawn="1"/>
        </p:nvCxnSpPr>
        <p:spPr>
          <a:xfrm>
            <a:off x="2991849" y="5175832"/>
            <a:ext cx="1114025" cy="0"/>
          </a:xfrm>
          <a:prstGeom prst="line">
            <a:avLst/>
          </a:prstGeom>
          <a:ln>
            <a:solidFill>
              <a:srgbClr val="A6E7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C4FB14-4BBB-495D-8986-A4A3E1053D8D}"/>
              </a:ext>
            </a:extLst>
          </p:cNvPr>
          <p:cNvSpPr txBox="1"/>
          <p:nvPr userDrawn="1"/>
        </p:nvSpPr>
        <p:spPr>
          <a:xfrm>
            <a:off x="5842419" y="4819117"/>
            <a:ext cx="63495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consensus-based open standards organization </a:t>
            </a: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information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8FC4B8-5E3F-4EBC-BA10-AAE0E300E381}"/>
              </a:ext>
            </a:extLst>
          </p:cNvPr>
          <p:cNvSpPr txBox="1"/>
          <p:nvPr userDrawn="1"/>
        </p:nvSpPr>
        <p:spPr>
          <a:xfrm>
            <a:off x="5842419" y="3892876"/>
            <a:ext cx="63495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neutral and trusted forum </a:t>
            </a: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br>
              <a:rPr lang="en-US" sz="17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tackling interoperability issues within and across communities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15780-4A67-4428-8E17-EC5E95832895}"/>
              </a:ext>
            </a:extLst>
          </p:cNvPr>
          <p:cNvSpPr txBox="1"/>
          <p:nvPr userDrawn="1"/>
        </p:nvSpPr>
        <p:spPr>
          <a:xfrm>
            <a:off x="662116" y="5265370"/>
            <a:ext cx="1897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pic>
        <p:nvPicPr>
          <p:cNvPr id="27" name="Picture 26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424DC046-7E24-4C41-9851-06E0B4DEDF8C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7D29AD2-AF62-47EE-AEE9-224A0BB53668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ADD31773-BFA5-4F96-BD69-A4FA49334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3" name="Picture 32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32F96E37-490A-4AE9-B5F8-3CC5C4722FA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0A513AF-3F0E-4BF4-A409-0E6A02E99C50}"/>
              </a:ext>
            </a:extLst>
          </p:cNvPr>
          <p:cNvSpPr/>
          <p:nvPr userDrawn="1"/>
        </p:nvSpPr>
        <p:spPr>
          <a:xfrm>
            <a:off x="0" y="6560736"/>
            <a:ext cx="1219199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1000" b="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rPr>
              <a:t>Copyright © 2020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405938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laptop, indoor, computer, person&#10;&#10;Description automatically generated">
            <a:extLst>
              <a:ext uri="{FF2B5EF4-FFF2-40B4-BE49-F238E27FC236}">
                <a16:creationId xmlns:a16="http://schemas.microsoft.com/office/drawing/2014/main" id="{B5445D77-1EFD-483D-A03A-EF38776DC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20"/>
            <a:ext cx="6763432" cy="64896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465E5B-22B8-4E72-B835-DF9A4CFD14C9}"/>
              </a:ext>
            </a:extLst>
          </p:cNvPr>
          <p:cNvSpPr/>
          <p:nvPr userDrawn="1"/>
        </p:nvSpPr>
        <p:spPr>
          <a:xfrm>
            <a:off x="6297731" y="0"/>
            <a:ext cx="5902712" cy="64972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EB67D19A-99E1-4749-A4A8-10A9B5F7EA33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4C919E-6033-44D8-A82E-BAC7C8B41DA4}"/>
              </a:ext>
            </a:extLst>
          </p:cNvPr>
          <p:cNvSpPr/>
          <p:nvPr userDrawn="1"/>
        </p:nvSpPr>
        <p:spPr>
          <a:xfrm>
            <a:off x="-2304" y="6430"/>
            <a:ext cx="6307631" cy="1957137"/>
          </a:xfrm>
          <a:prstGeom prst="rect">
            <a:avLst/>
          </a:prstGeom>
          <a:solidFill>
            <a:srgbClr val="060A24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C3632-C874-4FE5-988C-668B6AA0FA2A}"/>
              </a:ext>
            </a:extLst>
          </p:cNvPr>
          <p:cNvSpPr/>
          <p:nvPr userDrawn="1"/>
        </p:nvSpPr>
        <p:spPr>
          <a:xfrm>
            <a:off x="6305328" y="7406"/>
            <a:ext cx="5902712" cy="1957137"/>
          </a:xfrm>
          <a:prstGeom prst="rect">
            <a:avLst/>
          </a:prstGeom>
          <a:solidFill>
            <a:srgbClr val="0927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F7420-6F97-420E-AB6D-7DCC48B44A70}"/>
              </a:ext>
            </a:extLst>
          </p:cNvPr>
          <p:cNvSpPr txBox="1"/>
          <p:nvPr userDrawn="1"/>
        </p:nvSpPr>
        <p:spPr>
          <a:xfrm>
            <a:off x="6529135" y="383248"/>
            <a:ext cx="5505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CA" dirty="0">
                <a:solidFill>
                  <a:schemeClr val="bg1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The world’s leading and comprehensive community of experts making location data more findable, accessible, interoperable and reusable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23890-AF8D-4846-8121-CDF7ADE81E24}"/>
              </a:ext>
            </a:extLst>
          </p:cNvPr>
          <p:cNvSpPr txBox="1"/>
          <p:nvPr userDrawn="1"/>
        </p:nvSpPr>
        <p:spPr>
          <a:xfrm>
            <a:off x="6935536" y="2226115"/>
            <a:ext cx="1845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ea typeface="MS PGothic" charset="-128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C0237-CA9B-459A-9D1C-A8F9952C7102}"/>
              </a:ext>
            </a:extLst>
          </p:cNvPr>
          <p:cNvSpPr txBox="1"/>
          <p:nvPr userDrawn="1"/>
        </p:nvSpPr>
        <p:spPr>
          <a:xfrm>
            <a:off x="6935535" y="3552272"/>
            <a:ext cx="206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A75ED4-BB99-419E-8740-98414831B88D}"/>
              </a:ext>
            </a:extLst>
          </p:cNvPr>
          <p:cNvSpPr txBox="1"/>
          <p:nvPr userDrawn="1"/>
        </p:nvSpPr>
        <p:spPr>
          <a:xfrm>
            <a:off x="6935535" y="4887785"/>
            <a:ext cx="3320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&amp; Academia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74F26-6D78-4CF2-88B7-6D78A1FC647C}"/>
              </a:ext>
            </a:extLst>
          </p:cNvPr>
          <p:cNvSpPr txBox="1"/>
          <p:nvPr userDrawn="1"/>
        </p:nvSpPr>
        <p:spPr>
          <a:xfrm>
            <a:off x="611977" y="383248"/>
            <a:ext cx="5165947" cy="122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sz="4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Who are our members?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206074-9906-4596-A595-3DF70721DC35}"/>
              </a:ext>
            </a:extLst>
          </p:cNvPr>
          <p:cNvCxnSpPr>
            <a:cxnSpLocks/>
          </p:cNvCxnSpPr>
          <p:nvPr userDrawn="1"/>
        </p:nvCxnSpPr>
        <p:spPr>
          <a:xfrm flipV="1">
            <a:off x="5933937" y="433137"/>
            <a:ext cx="0" cy="113887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4D96724-508B-4C86-852C-9348DD865620}"/>
              </a:ext>
            </a:extLst>
          </p:cNvPr>
          <p:cNvSpPr txBox="1"/>
          <p:nvPr userDrawn="1"/>
        </p:nvSpPr>
        <p:spPr>
          <a:xfrm>
            <a:off x="6935536" y="2553019"/>
            <a:ext cx="4303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Business Development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Competitive Technical Advantage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Global; Brand Exposure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Funding for Innovation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99D9C-DBAE-4B78-81E3-45BAAFA88CC2}"/>
              </a:ext>
            </a:extLst>
          </p:cNvPr>
          <p:cNvSpPr txBox="1"/>
          <p:nvPr userDrawn="1"/>
        </p:nvSpPr>
        <p:spPr>
          <a:xfrm>
            <a:off x="6935535" y="3872411"/>
            <a:ext cx="51173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Innovation and Market Support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Trusted Advice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International Partnerships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Operational Policy, Support, and Certification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A093A5-D3EC-45CD-A5FA-8B94D9CD9390}"/>
              </a:ext>
            </a:extLst>
          </p:cNvPr>
          <p:cNvSpPr txBox="1"/>
          <p:nvPr userDrawn="1"/>
        </p:nvSpPr>
        <p:spPr>
          <a:xfrm>
            <a:off x="6935535" y="5196997"/>
            <a:ext cx="3626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Applied Research Partners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Funding for Innovation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International Collaboration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ea typeface="MS PGothic" charset="-128"/>
                <a:cs typeface="Arial" panose="020B0604020202020204" pitchFamily="34" charset="0"/>
              </a:rPr>
              <a:t>Citations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EBF67-3402-4B27-B109-22EF82CBAB31}"/>
              </a:ext>
            </a:extLst>
          </p:cNvPr>
          <p:cNvSpPr txBox="1"/>
          <p:nvPr userDrawn="1"/>
        </p:nvSpPr>
        <p:spPr>
          <a:xfrm>
            <a:off x="10550013" y="1218068"/>
            <a:ext cx="1478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pic>
        <p:nvPicPr>
          <p:cNvPr id="25" name="Picture 24" descr="A close up of a sign&#10;&#10;Description automatically generated">
            <a:extLst>
              <a:ext uri="{FF2B5EF4-FFF2-40B4-BE49-F238E27FC236}">
                <a16:creationId xmlns:a16="http://schemas.microsoft.com/office/drawing/2014/main" id="{09B4A003-567F-484E-B389-DD6F5934C67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8552" y="2135917"/>
            <a:ext cx="450880" cy="450880"/>
          </a:xfrm>
          <a:prstGeom prst="rect">
            <a:avLst/>
          </a:prstGeom>
        </p:spPr>
      </p:pic>
      <p:pic>
        <p:nvPicPr>
          <p:cNvPr id="26" name="Picture 25" descr="A close up of a sign&#10;&#10;Description automatically generated">
            <a:extLst>
              <a:ext uri="{FF2B5EF4-FFF2-40B4-BE49-F238E27FC236}">
                <a16:creationId xmlns:a16="http://schemas.microsoft.com/office/drawing/2014/main" id="{D98627A3-9CDA-4281-8D00-48A0905A5D0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52" y="3423022"/>
            <a:ext cx="539998" cy="539998"/>
          </a:xfrm>
          <a:prstGeom prst="rect">
            <a:avLst/>
          </a:prstGeom>
        </p:spPr>
      </p:pic>
      <p:pic>
        <p:nvPicPr>
          <p:cNvPr id="27" name="Picture 26" descr="A picture containing clock&#10;&#10;Description automatically generated">
            <a:extLst>
              <a:ext uri="{FF2B5EF4-FFF2-40B4-BE49-F238E27FC236}">
                <a16:creationId xmlns:a16="http://schemas.microsoft.com/office/drawing/2014/main" id="{E07B5C55-17C4-42B7-9E39-100E77B94CA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5750" y="4855060"/>
            <a:ext cx="393700" cy="393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D0596D-FDD8-4353-A183-BBC22A1D96E7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18D1E095-E24B-4EAC-95AF-53F0C7758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4" name="Picture 33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9161A6E4-E812-4AB0-80D6-1D2E4164543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1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4190970-6525-44D3-9AE8-4614745807E8}"/>
              </a:ext>
            </a:extLst>
          </p:cNvPr>
          <p:cNvSpPr/>
          <p:nvPr userDrawn="1"/>
        </p:nvSpPr>
        <p:spPr>
          <a:xfrm>
            <a:off x="0" y="6147896"/>
            <a:ext cx="12192000" cy="429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F66AB522-982A-4FA7-ACDF-5358F4032C6C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95059"/>
            <a:ext cx="12192000" cy="364077"/>
          </a:xfrm>
          <a:prstGeom prst="rect">
            <a:avLst/>
          </a:prstGeom>
        </p:spPr>
      </p:pic>
      <p:pic>
        <p:nvPicPr>
          <p:cNvPr id="7" name="Picture 6" descr="A picture containing building, outdoor, light, city&#10;&#10;Description automatically generated">
            <a:extLst>
              <a:ext uri="{FF2B5EF4-FFF2-40B4-BE49-F238E27FC236}">
                <a16:creationId xmlns:a16="http://schemas.microsoft.com/office/drawing/2014/main" id="{CED46392-1508-4C8D-9D6E-3A41BFC61F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48"/>
          <a:stretch/>
        </p:blipFill>
        <p:spPr>
          <a:xfrm>
            <a:off x="0" y="0"/>
            <a:ext cx="6096000" cy="6147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F17066-E003-4E0F-B44B-7583D77BC76E}"/>
              </a:ext>
            </a:extLst>
          </p:cNvPr>
          <p:cNvSpPr txBox="1"/>
          <p:nvPr userDrawn="1"/>
        </p:nvSpPr>
        <p:spPr>
          <a:xfrm>
            <a:off x="6282388" y="290354"/>
            <a:ext cx="4259765" cy="79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48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Thank You!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8F0087-078C-4D1E-A87E-2D4DB1EF4F3E}"/>
              </a:ext>
            </a:extLst>
          </p:cNvPr>
          <p:cNvCxnSpPr>
            <a:cxnSpLocks/>
          </p:cNvCxnSpPr>
          <p:nvPr userDrawn="1"/>
        </p:nvCxnSpPr>
        <p:spPr>
          <a:xfrm flipH="1">
            <a:off x="6403539" y="1063993"/>
            <a:ext cx="122795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920684B-B77A-4314-88F0-E06F6049CE6A}"/>
              </a:ext>
            </a:extLst>
          </p:cNvPr>
          <p:cNvSpPr txBox="1"/>
          <p:nvPr userDrawn="1"/>
        </p:nvSpPr>
        <p:spPr>
          <a:xfrm>
            <a:off x="171519" y="184151"/>
            <a:ext cx="1791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</a:t>
            </a: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1C20CE82-746C-42D6-A03A-EA776CC1FB4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1704" y="3096747"/>
            <a:ext cx="439378" cy="439378"/>
          </a:xfrm>
          <a:prstGeom prst="rect">
            <a:avLst/>
          </a:prstGeom>
        </p:spPr>
      </p:pic>
      <p:pic>
        <p:nvPicPr>
          <p:cNvPr id="19" name="Picture 18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55F7A46D-C012-4930-9CC3-4FE49C3FFE9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1705" y="4374326"/>
            <a:ext cx="394259" cy="39425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13D5327-B18B-4464-8A47-5205408F1ABD}"/>
              </a:ext>
            </a:extLst>
          </p:cNvPr>
          <p:cNvSpPr txBox="1"/>
          <p:nvPr userDrawn="1"/>
        </p:nvSpPr>
        <p:spPr>
          <a:xfrm>
            <a:off x="10975609" y="6549164"/>
            <a:ext cx="853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2F2F2"/>
                </a:solidFill>
                <a:latin typeface="Lato" panose="020F0502020204030203" pitchFamily="34" charset="0"/>
              </a:rPr>
              <a:t>ogc.org  |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3DA7BAE-9FA0-459E-9E5B-50E1679AD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 descr="A picture containing building, drawing, window&#10;&#10;Description automatically generated">
            <a:extLst>
              <a:ext uri="{FF2B5EF4-FFF2-40B4-BE49-F238E27FC236}">
                <a16:creationId xmlns:a16="http://schemas.microsoft.com/office/drawing/2014/main" id="{20A3F6FC-0327-45A8-AAC3-6D612851F9F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768" y="6517414"/>
            <a:ext cx="324582" cy="3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4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gc-demo.k8s.ilt-dmz.iosb.fraunhofer.de/FROST-OMS/v1.1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adlet.com/barbaramagagna/sogprgszse1bgd24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6739B-6975-43ED-8A4D-46C87323EF67}"/>
              </a:ext>
            </a:extLst>
          </p:cNvPr>
          <p:cNvSpPr txBox="1"/>
          <p:nvPr/>
        </p:nvSpPr>
        <p:spPr>
          <a:xfrm>
            <a:off x="153003" y="1291509"/>
            <a:ext cx="6217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O&amp;M V3</a:t>
            </a:r>
          </a:p>
          <a:p>
            <a:r>
              <a:rPr lang="en-US" sz="28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Kathi Schleidt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D754F-60FE-ED49-B2CE-9D2A2B66C754}"/>
              </a:ext>
            </a:extLst>
          </p:cNvPr>
          <p:cNvSpPr txBox="1"/>
          <p:nvPr/>
        </p:nvSpPr>
        <p:spPr>
          <a:xfrm>
            <a:off x="153003" y="2348069"/>
            <a:ext cx="6217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HDWG Spring 2023</a:t>
            </a:r>
            <a:endParaRPr lang="en-US" sz="2000" b="1" dirty="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6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22C0-CD12-48F5-93E7-DC58D5B7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O&amp;M V3 Modification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BC4C-E21F-4B60-8FD6-A42D6D472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7"/>
            <a:ext cx="10515600" cy="5159585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1" dirty="0"/>
              <a:t>Drivers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Comments (Both OGC and ISO)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Requirements from 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External initiatives (e.g. INSPIRE)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Other OGC Models (e.g. Coverage)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Alignment with SOSA/SSN from W3C/OGC 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Developments towards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APIs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Linked Data</a:t>
            </a:r>
          </a:p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1" dirty="0"/>
              <a:t>Modifications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3 Tier Model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Additional Concepts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dirty="0"/>
              <a:t>Fine-grained Requirements Structure</a:t>
            </a:r>
          </a:p>
        </p:txBody>
      </p:sp>
    </p:spTree>
    <p:extLst>
      <p:ext uri="{BB962C8B-B14F-4D97-AF65-F5344CB8AC3E}">
        <p14:creationId xmlns:p14="http://schemas.microsoft.com/office/powerpoint/2010/main" val="33027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64BF-D888-4C4E-8700-1A63E8A6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Tier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EF4E-5459-4844-A825-68B06EB57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Conceptual Model: Interface level O&amp;M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allows for abstraction towards other data models</a:t>
            </a:r>
            <a:endParaRPr lang="en-US" dirty="0"/>
          </a:p>
          <a:p>
            <a:r>
              <a:rPr lang="en-US" dirty="0"/>
              <a:t>Abstract Core: Abstract classes for all concepts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starting point for development of domain models</a:t>
            </a:r>
          </a:p>
          <a:p>
            <a:r>
              <a:rPr lang="en-US" dirty="0">
                <a:sym typeface="Wingdings" panose="05000000000000000000" pitchFamily="2" charset="2"/>
              </a:rPr>
              <a:t>Basic: simple concrete classes </a:t>
            </a:r>
            <a:r>
              <a:rPr lang="en-US" dirty="0"/>
              <a:t>for all concepts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allows for simple out-of-the-box uptake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Structure created for both parts of O&amp;M Model:</a:t>
            </a:r>
          </a:p>
          <a:p>
            <a:r>
              <a:rPr lang="en-US" dirty="0">
                <a:sym typeface="Wingdings" panose="05000000000000000000" pitchFamily="2" charset="2"/>
              </a:rPr>
              <a:t>Observation</a:t>
            </a:r>
          </a:p>
          <a:p>
            <a:r>
              <a:rPr lang="en-US" dirty="0">
                <a:sym typeface="Wingdings" panose="05000000000000000000" pitchFamily="2" charset="2"/>
              </a:rPr>
              <a:t>Sample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4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720D-9C48-44AC-B53B-2A494C41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Tier Model - Observation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944E9-A1E4-4BCD-BFA0-8821140F7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39759"/>
            <a:ext cx="8469882" cy="3778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2C1686-DBCB-41E4-A08F-0EDE124FC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452" y="1388960"/>
            <a:ext cx="10405296" cy="54690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8EFC2-77BA-41FA-9954-33A7730DA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4996" y="1251058"/>
            <a:ext cx="6583788" cy="560694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4397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DA74-2730-4B7B-858A-7B0C04A6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Tier Model - Sampling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F460F-3FA6-49C7-B3F4-A55BB6CDE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0" y="1469874"/>
            <a:ext cx="7114981" cy="5388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D4C40-D817-48DD-911C-7E20F9A4F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684" y="1284256"/>
            <a:ext cx="5579635" cy="557374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9C14D-60FF-4EB4-94E3-8C937460B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1105" y="0"/>
            <a:ext cx="4836277" cy="6858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07476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80BB-58A1-40E2-BDD7-3D8819C4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Concepts -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609D-DD92-4F51-A3E4-44B77E8C4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90" y="1162838"/>
            <a:ext cx="10116179" cy="4351338"/>
          </a:xfrm>
        </p:spPr>
        <p:txBody>
          <a:bodyPr>
            <a:normAutofit/>
          </a:bodyPr>
          <a:lstStyle/>
          <a:p>
            <a:r>
              <a:rPr lang="en-US" b="1" dirty="0"/>
              <a:t>Observer</a:t>
            </a:r>
            <a:r>
              <a:rPr lang="en-US" dirty="0"/>
              <a:t> – abstracted from SOSA Sensor</a:t>
            </a:r>
          </a:p>
          <a:p>
            <a:r>
              <a:rPr lang="en-US" b="1" dirty="0"/>
              <a:t>Host</a:t>
            </a:r>
            <a:r>
              <a:rPr lang="en-US" dirty="0"/>
              <a:t> – abstracted from SOSA Platform</a:t>
            </a:r>
          </a:p>
          <a:p>
            <a:r>
              <a:rPr lang="en-US" b="1" dirty="0"/>
              <a:t>Deployment</a:t>
            </a:r>
            <a:r>
              <a:rPr lang="en-US" dirty="0"/>
              <a:t> – link between Observer and Host</a:t>
            </a:r>
          </a:p>
          <a:p>
            <a:r>
              <a:rPr lang="en-US" b="1" dirty="0" err="1"/>
              <a:t>relatedObservation</a:t>
            </a:r>
            <a:br>
              <a:rPr lang="en-US" dirty="0"/>
            </a:br>
            <a:r>
              <a:rPr lang="en-US" dirty="0"/>
              <a:t>association</a:t>
            </a:r>
            <a:br>
              <a:rPr lang="en-US" dirty="0"/>
            </a:br>
            <a:r>
              <a:rPr lang="en-US" dirty="0"/>
              <a:t>ubiquitous</a:t>
            </a:r>
            <a:br>
              <a:rPr lang="en-US" dirty="0"/>
            </a:br>
            <a:r>
              <a:rPr lang="en-US" dirty="0"/>
              <a:t>across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4F909-E1F1-45F4-92B1-D2C5EA044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2724" y="3030582"/>
            <a:ext cx="8282616" cy="369493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839806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680BB-58A1-40E2-BDD7-3D8819C4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Concepts -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609D-DD92-4F51-A3E4-44B77E8C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Observation Characteristics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Basic characteristics of Observations</a:t>
            </a:r>
          </a:p>
          <a:p>
            <a:pPr lvl="1"/>
            <a:r>
              <a:rPr lang="en-US" dirty="0"/>
              <a:t>Used to derive Observation and </a:t>
            </a:r>
            <a:r>
              <a:rPr lang="en-US" b="1" dirty="0" err="1"/>
              <a:t>ObservingCapability</a:t>
            </a:r>
            <a:r>
              <a:rPr lang="en-US" dirty="0"/>
              <a:t> (new potential Observation)</a:t>
            </a:r>
          </a:p>
          <a:p>
            <a:pPr lvl="1"/>
            <a:r>
              <a:rPr lang="en-US" dirty="0"/>
              <a:t>Defines </a:t>
            </a:r>
            <a:r>
              <a:rPr lang="en-US" b="1" dirty="0" err="1"/>
              <a:t>ObservationCollection</a:t>
            </a:r>
            <a:r>
              <a:rPr lang="en-US" dirty="0"/>
              <a:t> (also new)</a:t>
            </a:r>
          </a:p>
          <a:p>
            <a:r>
              <a:rPr lang="en-US" b="1" dirty="0" err="1"/>
              <a:t>FeatureOfInterest</a:t>
            </a:r>
            <a:r>
              <a:rPr lang="en-US" dirty="0"/>
              <a:t> is differentiated into:</a:t>
            </a:r>
          </a:p>
          <a:p>
            <a:pPr lvl="1"/>
            <a:r>
              <a:rPr lang="en-US" dirty="0" err="1"/>
              <a:t>proximateFeatureOfInterest</a:t>
            </a:r>
            <a:endParaRPr lang="en-US" dirty="0"/>
          </a:p>
          <a:p>
            <a:pPr lvl="1"/>
            <a:r>
              <a:rPr lang="en-US" dirty="0" err="1"/>
              <a:t>ultimateFeatureOfInterest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5ACA1-0536-4EC1-930B-0E4B0B856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9503" y="1049326"/>
            <a:ext cx="10405296" cy="546903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9281A1-3EC8-45A8-95A0-D42090F6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2293" y="-848729"/>
            <a:ext cx="11248918" cy="76514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22D0D84-B17F-48F2-BECB-010E15C4B35D}"/>
              </a:ext>
            </a:extLst>
          </p:cNvPr>
          <p:cNvSpPr/>
          <p:nvPr/>
        </p:nvSpPr>
        <p:spPr>
          <a:xfrm>
            <a:off x="2733675" y="6056719"/>
            <a:ext cx="2524125" cy="58289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62CF9A-3401-4495-AA08-8F79D2825D10}"/>
              </a:ext>
            </a:extLst>
          </p:cNvPr>
          <p:cNvGrpSpPr/>
          <p:nvPr/>
        </p:nvGrpSpPr>
        <p:grpSpPr>
          <a:xfrm>
            <a:off x="3283225" y="158649"/>
            <a:ext cx="8791574" cy="4152900"/>
            <a:chOff x="2552701" y="209551"/>
            <a:chExt cx="8791574" cy="41529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D8B10D-AFB6-4AE4-AC77-307876DA7F05}"/>
                </a:ext>
              </a:extLst>
            </p:cNvPr>
            <p:cNvSpPr/>
            <p:nvPr/>
          </p:nvSpPr>
          <p:spPr>
            <a:xfrm>
              <a:off x="2552701" y="209551"/>
              <a:ext cx="8791574" cy="415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B674AC-AB36-4306-B190-32930ED7D420}"/>
                </a:ext>
              </a:extLst>
            </p:cNvPr>
            <p:cNvSpPr txBox="1"/>
            <p:nvPr/>
          </p:nvSpPr>
          <p:spPr>
            <a:xfrm>
              <a:off x="2619374" y="238154"/>
              <a:ext cx="4284299" cy="400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Homogenous</a:t>
              </a:r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not provided:</a:t>
              </a:r>
              <a:br>
                <a:rPr lang="en-US" b="1" dirty="0"/>
              </a:br>
              <a:r>
                <a:rPr lang="en-US" dirty="0"/>
                <a:t>values may be provided by the observations but is not provided at this level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provided but with no content:</a:t>
              </a:r>
              <a:br>
                <a:rPr lang="en-US" b="1" dirty="0"/>
              </a:br>
              <a:r>
                <a:rPr lang="en-US" dirty="0"/>
                <a:t>no observation within the collection provides this property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= value:</a:t>
              </a:r>
              <a:br>
                <a:rPr lang="en-US" b="1" dirty="0"/>
              </a:br>
              <a:r>
                <a:rPr lang="en-US" dirty="0"/>
                <a:t>this value applies to all observations within the collection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= value set/range:</a:t>
              </a:r>
              <a:br>
                <a:rPr lang="en-US" b="1" dirty="0"/>
              </a:br>
              <a:r>
                <a:rPr lang="en-US" dirty="0"/>
                <a:t>this value set/range applies to all observations within the collection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6C9137-47AB-41CA-BCB1-5F6C98FDB665}"/>
                </a:ext>
              </a:extLst>
            </p:cNvPr>
            <p:cNvSpPr txBox="1"/>
            <p:nvPr/>
          </p:nvSpPr>
          <p:spPr>
            <a:xfrm>
              <a:off x="7059975" y="238154"/>
              <a:ext cx="4284299" cy="400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Summarizing</a:t>
              </a:r>
              <a:endParaRPr lang="en-US" b="1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not provided:</a:t>
              </a:r>
              <a:br>
                <a:rPr lang="en-US" b="1" dirty="0"/>
              </a:br>
              <a:r>
                <a:rPr lang="en-US" dirty="0"/>
                <a:t>values may be provided by the observations but is not provided at this level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provided but with no content:</a:t>
              </a:r>
              <a:br>
                <a:rPr lang="en-US" b="1" dirty="0"/>
              </a:br>
              <a:r>
                <a:rPr lang="en-US" dirty="0"/>
                <a:t>no observation within the collection provides this property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= value:</a:t>
              </a:r>
              <a:br>
                <a:rPr lang="en-US" b="1" dirty="0"/>
              </a:br>
              <a:r>
                <a:rPr lang="en-US" dirty="0"/>
                <a:t>this value applies to all observations within the collection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property = value set/range:</a:t>
              </a:r>
              <a:br>
                <a:rPr lang="en-US" b="1" dirty="0"/>
              </a:br>
              <a:r>
                <a:rPr lang="en-US" dirty="0"/>
                <a:t>all observations provide a value within this set/range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4CA7E99-702B-49ED-9DDE-4A4FB0DF5708}"/>
              </a:ext>
            </a:extLst>
          </p:cNvPr>
          <p:cNvSpPr/>
          <p:nvPr/>
        </p:nvSpPr>
        <p:spPr>
          <a:xfrm>
            <a:off x="3349898" y="3257550"/>
            <a:ext cx="8618393" cy="9594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1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932D-D687-400A-8C5A-171B387A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Concepts -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929E0-8B40-4FFE-B547-0BBD2381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7"/>
            <a:ext cx="10515600" cy="509862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Sampling</a:t>
            </a:r>
            <a:r>
              <a:rPr lang="en-US" dirty="0"/>
              <a:t>: from SOSA, act of taking a </a:t>
            </a:r>
            <a:r>
              <a:rPr lang="en-US" b="1" dirty="0"/>
              <a:t>Sample</a:t>
            </a:r>
          </a:p>
          <a:p>
            <a:r>
              <a:rPr lang="en-US" b="1" dirty="0"/>
              <a:t>Sampler</a:t>
            </a:r>
            <a:r>
              <a:rPr lang="en-US" dirty="0"/>
              <a:t>: from SOSA, person or device that performs the </a:t>
            </a:r>
            <a:r>
              <a:rPr lang="en-US" b="1" dirty="0"/>
              <a:t>Sampling</a:t>
            </a:r>
          </a:p>
          <a:p>
            <a:r>
              <a:rPr lang="en-US" b="1" dirty="0"/>
              <a:t>Procedures</a:t>
            </a:r>
            <a:r>
              <a:rPr lang="en-US" dirty="0"/>
              <a:t>: derived from </a:t>
            </a:r>
            <a:r>
              <a:rPr lang="en-US" b="1" dirty="0" err="1"/>
              <a:t>Observation:Procedure</a:t>
            </a:r>
            <a:r>
              <a:rPr lang="en-US" dirty="0"/>
              <a:t>, specialized as:</a:t>
            </a:r>
          </a:p>
          <a:p>
            <a:pPr lvl="1"/>
            <a:r>
              <a:rPr lang="en-US" b="1" dirty="0" err="1"/>
              <a:t>SamplingProcedure</a:t>
            </a:r>
            <a:r>
              <a:rPr lang="en-US" dirty="0"/>
              <a:t>: </a:t>
            </a:r>
            <a:r>
              <a:rPr lang="en-US" b="1" dirty="0"/>
              <a:t>Procedure</a:t>
            </a:r>
            <a:r>
              <a:rPr lang="en-US" dirty="0"/>
              <a:t> performed by the </a:t>
            </a:r>
            <a:r>
              <a:rPr lang="en-US" b="1" dirty="0"/>
              <a:t>Sampler</a:t>
            </a:r>
            <a:r>
              <a:rPr lang="en-US" dirty="0"/>
              <a:t> during </a:t>
            </a:r>
            <a:r>
              <a:rPr lang="en-US" b="1" dirty="0"/>
              <a:t>Sampling</a:t>
            </a:r>
          </a:p>
          <a:p>
            <a:pPr lvl="1"/>
            <a:r>
              <a:rPr lang="en-US" b="1" dirty="0" err="1"/>
              <a:t>PreparationProcedure</a:t>
            </a:r>
            <a:r>
              <a:rPr lang="en-US" dirty="0"/>
              <a:t>: </a:t>
            </a:r>
            <a:r>
              <a:rPr lang="en-US" b="1" dirty="0"/>
              <a:t>Procedure</a:t>
            </a:r>
            <a:r>
              <a:rPr lang="en-US" dirty="0"/>
              <a:t> performed during a </a:t>
            </a:r>
            <a:r>
              <a:rPr lang="en-US" b="1" dirty="0" err="1"/>
              <a:t>PreparationStep</a:t>
            </a:r>
            <a:endParaRPr lang="en-US" b="1" dirty="0"/>
          </a:p>
          <a:p>
            <a:r>
              <a:rPr lang="en-US" b="1" dirty="0"/>
              <a:t>Relations:</a:t>
            </a:r>
          </a:p>
          <a:p>
            <a:pPr lvl="1"/>
            <a:r>
              <a:rPr lang="en-US" b="1" dirty="0" err="1"/>
              <a:t>relatedObservation</a:t>
            </a:r>
            <a:r>
              <a:rPr lang="en-US" dirty="0"/>
              <a:t>: association from </a:t>
            </a:r>
            <a:r>
              <a:rPr lang="en-US" b="1" dirty="0"/>
              <a:t>Sample</a:t>
            </a:r>
            <a:r>
              <a:rPr lang="en-US" dirty="0"/>
              <a:t> to related </a:t>
            </a:r>
            <a:r>
              <a:rPr lang="en-US" b="1" dirty="0"/>
              <a:t>Observation</a:t>
            </a:r>
          </a:p>
          <a:p>
            <a:pPr lvl="1"/>
            <a:r>
              <a:rPr lang="en-US" b="1" dirty="0" err="1"/>
              <a:t>relatedSample</a:t>
            </a:r>
            <a:r>
              <a:rPr lang="en-US" dirty="0"/>
              <a:t>: association from </a:t>
            </a:r>
            <a:r>
              <a:rPr lang="en-US" b="1" dirty="0"/>
              <a:t>Sample</a:t>
            </a:r>
            <a:r>
              <a:rPr lang="en-US" dirty="0"/>
              <a:t> to related </a:t>
            </a:r>
            <a:r>
              <a:rPr lang="en-US" b="1" dirty="0"/>
              <a:t>Sample</a:t>
            </a:r>
          </a:p>
          <a:p>
            <a:pPr lvl="1"/>
            <a:r>
              <a:rPr lang="en-US" b="1" dirty="0" err="1"/>
              <a:t>relatedSampling</a:t>
            </a:r>
            <a:r>
              <a:rPr lang="en-US" dirty="0"/>
              <a:t>: association from </a:t>
            </a:r>
            <a:r>
              <a:rPr lang="en-US" b="1" dirty="0"/>
              <a:t>Sampling</a:t>
            </a:r>
            <a:r>
              <a:rPr lang="en-US" dirty="0"/>
              <a:t> to related </a:t>
            </a:r>
            <a:r>
              <a:rPr lang="en-US" b="1" dirty="0"/>
              <a:t>Sampling</a:t>
            </a:r>
          </a:p>
          <a:p>
            <a:r>
              <a:rPr lang="en-US" b="1" dirty="0"/>
              <a:t>Sample Types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SpatialSample</a:t>
            </a:r>
            <a:r>
              <a:rPr lang="en-US" dirty="0"/>
              <a:t>: was </a:t>
            </a:r>
            <a:r>
              <a:rPr lang="en-US" dirty="0" err="1"/>
              <a:t>SF_SpatialSamplingFeature</a:t>
            </a:r>
            <a:r>
              <a:rPr lang="en-US" dirty="0"/>
              <a:t> (dropped point, curve, surface, solid)</a:t>
            </a:r>
          </a:p>
          <a:p>
            <a:pPr lvl="1"/>
            <a:r>
              <a:rPr lang="en-US" b="1" dirty="0" err="1"/>
              <a:t>MaterialSample</a:t>
            </a:r>
            <a:r>
              <a:rPr lang="en-US" dirty="0"/>
              <a:t>: was Specimen </a:t>
            </a:r>
          </a:p>
          <a:p>
            <a:pPr lvl="1"/>
            <a:r>
              <a:rPr lang="en-US" b="1" dirty="0" err="1"/>
              <a:t>StatisticalSample</a:t>
            </a:r>
            <a:r>
              <a:rPr lang="en-US" dirty="0"/>
              <a:t>: introduced for statistical stratifications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4F575-1318-4604-8846-E5BC3E187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8398" y="1307231"/>
            <a:ext cx="7114981" cy="538812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C8D281-213A-4263-9579-08E215628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8398" y="-6428656"/>
            <a:ext cx="9296400" cy="131826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92095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9441-7D19-41B4-B941-7FE63752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924C-04C0-40D2-80A1-7D8582C8F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7"/>
            <a:ext cx="10515600" cy="50637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Very fine-grained URI based model</a:t>
            </a:r>
          </a:p>
          <a:p>
            <a:pPr lvl="1"/>
            <a:r>
              <a:rPr lang="en-US" dirty="0"/>
              <a:t>Base URI per package</a:t>
            </a:r>
          </a:p>
          <a:p>
            <a:pPr lvl="1"/>
            <a:r>
              <a:rPr lang="en-US" dirty="0"/>
              <a:t>Requirements name syntax:</a:t>
            </a:r>
          </a:p>
          <a:p>
            <a:pPr lvl="2"/>
            <a:r>
              <a:rPr lang="en-US" b="1" dirty="0"/>
              <a:t>{Class Name}-</a:t>
            </a:r>
            <a:r>
              <a:rPr lang="en-US" b="1" dirty="0" err="1"/>
              <a:t>sem</a:t>
            </a:r>
            <a:r>
              <a:rPr lang="en-US" dirty="0"/>
              <a:t>: Semantic definition of concept with Class name</a:t>
            </a:r>
          </a:p>
          <a:p>
            <a:pPr lvl="2"/>
            <a:r>
              <a:rPr lang="en-US" b="1" dirty="0"/>
              <a:t>{Attribute/Association Name}-</a:t>
            </a:r>
            <a:r>
              <a:rPr lang="en-US" b="1" dirty="0" err="1"/>
              <a:t>sem</a:t>
            </a:r>
            <a:r>
              <a:rPr lang="en-US" dirty="0"/>
              <a:t>: Semantic definition of concept with name of attribute or association role. In most cases open cardinality, so 0..*;</a:t>
            </a:r>
          </a:p>
          <a:p>
            <a:pPr lvl="2"/>
            <a:r>
              <a:rPr lang="en-US" b="1" dirty="0"/>
              <a:t>{Attribute/Association Name}-type</a:t>
            </a:r>
            <a:r>
              <a:rPr lang="en-US" dirty="0"/>
              <a:t>: Type information where constrained within one model package;</a:t>
            </a:r>
          </a:p>
          <a:p>
            <a:pPr lvl="2"/>
            <a:r>
              <a:rPr lang="en-US" b="1" dirty="0"/>
              <a:t>{Attribute/Association Name}-card</a:t>
            </a:r>
            <a:r>
              <a:rPr lang="en-US" dirty="0"/>
              <a:t>: Cardinality information pertaining to the attribute or association;</a:t>
            </a:r>
          </a:p>
          <a:p>
            <a:pPr lvl="2"/>
            <a:r>
              <a:rPr lang="en-US" b="1" dirty="0"/>
              <a:t>{Attribute/Association Name}-con</a:t>
            </a:r>
            <a:r>
              <a:rPr lang="en-US" dirty="0"/>
              <a:t>: Additional constraints. As sometimes pertain to multiple attributes/associations, naming may become more complex.</a:t>
            </a:r>
          </a:p>
          <a:p>
            <a:pPr lvl="1"/>
            <a:r>
              <a:rPr lang="en-US" dirty="0"/>
              <a:t>Requirements classes include both requirements and further requirements classes</a:t>
            </a:r>
          </a:p>
          <a:p>
            <a:r>
              <a:rPr lang="en-US" dirty="0"/>
              <a:t>Suitable for API conformance declaration</a:t>
            </a:r>
          </a:p>
          <a:p>
            <a:r>
              <a:rPr lang="en-US" dirty="0"/>
              <a:t>Conformance Classed defined for all Requirements Classes</a:t>
            </a:r>
          </a:p>
          <a:p>
            <a:r>
              <a:rPr lang="en-US" dirty="0"/>
              <a:t>But – we’ve broken the rule on 1:1 alignment between Conformance Classes and Packages!</a:t>
            </a:r>
          </a:p>
          <a:p>
            <a:endParaRPr lang="en-US" dirty="0"/>
          </a:p>
        </p:txBody>
      </p:sp>
      <p:pic>
        <p:nvPicPr>
          <p:cNvPr id="6" name="Graphic 59">
            <a:extLst>
              <a:ext uri="{FF2B5EF4-FFF2-40B4-BE49-F238E27FC236}">
                <a16:creationId xmlns:a16="http://schemas.microsoft.com/office/drawing/2014/main" id="{12386A0B-5488-4F9B-BB24-C3C4A5EA0F6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9926" y="0"/>
            <a:ext cx="7982074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8729D5-51BD-4511-ACA6-A673503A5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360" y="0"/>
            <a:ext cx="50654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D98448-8F05-44EC-AD80-8F30A4B5D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418" y="0"/>
            <a:ext cx="93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4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3E6F-9284-4AA0-8844-A430D463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C81D5-45C5-47C2-8A0B-FFA20A35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7"/>
            <a:ext cx="10515600" cy="5056987"/>
          </a:xfrm>
        </p:spPr>
        <p:txBody>
          <a:bodyPr>
            <a:normAutofit/>
          </a:bodyPr>
          <a:lstStyle/>
          <a:p>
            <a:r>
              <a:rPr lang="en-US" dirty="0"/>
              <a:t>JSON Encoding</a:t>
            </a:r>
          </a:p>
          <a:p>
            <a:pPr lvl="1"/>
            <a:r>
              <a:rPr lang="en-US" dirty="0" err="1"/>
              <a:t>GeoJSON</a:t>
            </a:r>
            <a:r>
              <a:rPr lang="en-US" dirty="0"/>
              <a:t> or JSON-LD or </a:t>
            </a:r>
            <a:r>
              <a:rPr lang="en-US" dirty="0" err="1"/>
              <a:t>GeoJSON</a:t>
            </a:r>
            <a:r>
              <a:rPr lang="en-US" dirty="0"/>
              <a:t>-LD?</a:t>
            </a:r>
          </a:p>
          <a:p>
            <a:pPr lvl="1"/>
            <a:r>
              <a:rPr lang="en-US" dirty="0"/>
              <a:t>Input from/to new OGC Features and Geometries JSON SWG</a:t>
            </a:r>
          </a:p>
          <a:p>
            <a:pPr lvl="1"/>
            <a:r>
              <a:rPr lang="en-US" dirty="0"/>
              <a:t>First attempt utilizing STA</a:t>
            </a:r>
          </a:p>
          <a:p>
            <a:r>
              <a:rPr lang="en-US" dirty="0"/>
              <a:t>Semantic Version</a:t>
            </a:r>
          </a:p>
          <a:p>
            <a:pPr lvl="1"/>
            <a:r>
              <a:rPr lang="en-US" dirty="0"/>
              <a:t>Updating SOSA/SSN to align with OMS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2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91AE-4E30-4FD8-AD03-67F3D536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Ad-Hoc STA</a:t>
            </a:r>
            <a:r>
              <a:rPr lang="en-US" baseline="30000" dirty="0"/>
              <a:t>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7FF4-C825-448A-878D-71389A669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7" y="1162837"/>
            <a:ext cx="10515600" cy="49298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OData approach behind STA seems well suited O&amp;M data graph (in V2 or V3)</a:t>
            </a:r>
          </a:p>
          <a:p>
            <a:r>
              <a:rPr lang="en-US" dirty="0"/>
              <a:t>FROST Implementation has been abstracted to support alternative or extended data models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Add further classes to STA Model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Use a totally different data model, e.g. O&amp;M V3</a:t>
            </a:r>
            <a:endParaRPr lang="en-US" dirty="0"/>
          </a:p>
          <a:p>
            <a:r>
              <a:rPr lang="en-US" dirty="0"/>
              <a:t>Still trying to see how OMS fits into the brave new OGC API world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Simple query modalities currently available don’t meet requirements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/>
              <a:t>Don’t have the time to wait until it does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https://ogc-demo.k8s.ilt-dmz.iosb.fraunhofer.de/FROST-OMS/v1.1/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5629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B45D-D1ED-45B6-B098-15A6191A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Model </a:t>
            </a:r>
            <a:br>
              <a:rPr lang="en-US" dirty="0"/>
            </a:br>
            <a:r>
              <a:rPr lang="en-US" dirty="0"/>
              <a:t>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1FD1F-C9EF-49B7-9262-87878ABD8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63" y="3541479"/>
            <a:ext cx="5824053" cy="32420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4BFECB-4FE5-4E70-87CD-9F11F47B5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32170" y="0"/>
            <a:ext cx="7332220" cy="426999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1A234F-C930-4B6E-8005-C7C233DB0A8F}"/>
              </a:ext>
            </a:extLst>
          </p:cNvPr>
          <p:cNvSpPr txBox="1"/>
          <p:nvPr/>
        </p:nvSpPr>
        <p:spPr>
          <a:xfrm>
            <a:off x="226503" y="3059668"/>
            <a:ext cx="170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 Data Model</a:t>
            </a:r>
          </a:p>
        </p:txBody>
      </p:sp>
    </p:spTree>
    <p:extLst>
      <p:ext uri="{BB962C8B-B14F-4D97-AF65-F5344CB8AC3E}">
        <p14:creationId xmlns:p14="http://schemas.microsoft.com/office/powerpoint/2010/main" val="116113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92B1-0F14-47FA-B646-25ADC56D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E24C-A338-41C3-8FE5-2319808E7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https://ogc-demo.k8s.ilt-dmz.iosb.fraunhofer.de/FROST-OMS/v1.1/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2DF0F-B334-4D5D-8B45-0020832D7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182" y="2293657"/>
            <a:ext cx="7386978" cy="4575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1A9AD-0598-4815-944E-FA0CBD05F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732" y="91128"/>
            <a:ext cx="10081050" cy="4575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4A804-1265-4838-B238-558E0E611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94" y="1345883"/>
            <a:ext cx="10891706" cy="47065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75475B-16E9-4660-8007-D958A6DBBC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5584"/>
            <a:ext cx="9201727" cy="5133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E689C-C017-4B99-A5CD-A8A0FCC62C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01" y="1964685"/>
            <a:ext cx="10081051" cy="32583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FEDD3A-EDE7-4AEF-A7C0-05BD317292E9}"/>
              </a:ext>
            </a:extLst>
          </p:cNvPr>
          <p:cNvSpPr txBox="1"/>
          <p:nvPr/>
        </p:nvSpPr>
        <p:spPr>
          <a:xfrm>
            <a:off x="394493" y="5412321"/>
            <a:ext cx="3150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ObservationCollections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49C38-7E9A-4698-ACB1-3C88D1CE6474}"/>
              </a:ext>
            </a:extLst>
          </p:cNvPr>
          <p:cNvSpPr txBox="1"/>
          <p:nvPr/>
        </p:nvSpPr>
        <p:spPr>
          <a:xfrm>
            <a:off x="601729" y="256840"/>
            <a:ext cx="273600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 err="1"/>
              <a:t>ObservedProperties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FA1E5E-82CC-4A82-A8AC-E4028CF3238A}"/>
              </a:ext>
            </a:extLst>
          </p:cNvPr>
          <p:cNvSpPr txBox="1"/>
          <p:nvPr/>
        </p:nvSpPr>
        <p:spPr>
          <a:xfrm>
            <a:off x="348487" y="902392"/>
            <a:ext cx="1874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Observations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2325A-58E0-435E-B8D9-8B8F62261DC2}"/>
              </a:ext>
            </a:extLst>
          </p:cNvPr>
          <p:cNvSpPr txBox="1"/>
          <p:nvPr/>
        </p:nvSpPr>
        <p:spPr>
          <a:xfrm>
            <a:off x="6746147" y="285610"/>
            <a:ext cx="89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183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4" grpId="0"/>
      <p:bldP spid="14" grpId="1"/>
      <p:bldP spid="15" grpId="0" animBg="1"/>
      <p:bldP spid="15" grpId="1" animBg="1"/>
      <p:bldP spid="16" grpId="0"/>
      <p:bldP spid="16" grpId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4CA6-DCB1-41AB-9872-6DF372626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I-ADOPT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2717-A80F-44AE-A264-0A4848DBE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Goal:</a:t>
            </a:r>
            <a:r>
              <a:rPr lang="en-US" sz="1800" dirty="0"/>
              <a:t> creation of a model for complex Observable Properties</a:t>
            </a:r>
          </a:p>
          <a:p>
            <a:pPr marL="0" indent="0">
              <a:buNone/>
            </a:pPr>
            <a:r>
              <a:rPr lang="en-US" sz="1800" b="1" dirty="0"/>
              <a:t>Motivation:</a:t>
            </a:r>
            <a:r>
              <a:rPr lang="en-US" sz="1800" dirty="0"/>
              <a:t> Addressing the “I” of FAIR Data Management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92745"/>
                </a:solidFill>
              </a:rPr>
              <a:t>By building a conceptual framework to support interoperability </a:t>
            </a:r>
            <a:br>
              <a:rPr lang="en-US" sz="1800" dirty="0">
                <a:solidFill>
                  <a:srgbClr val="092745"/>
                </a:solidFill>
              </a:rPr>
            </a:br>
            <a:r>
              <a:rPr lang="en-US" sz="1800" dirty="0">
                <a:solidFill>
                  <a:srgbClr val="092745"/>
                </a:solidFill>
              </a:rPr>
              <a:t>between existing terminologies and address a broad range of </a:t>
            </a:r>
            <a:br>
              <a:rPr lang="en-US" sz="1800" dirty="0">
                <a:solidFill>
                  <a:srgbClr val="092745"/>
                </a:solidFill>
              </a:rPr>
            </a:br>
            <a:r>
              <a:rPr lang="en-US" sz="1800" dirty="0">
                <a:solidFill>
                  <a:srgbClr val="092745"/>
                </a:solidFill>
              </a:rPr>
              <a:t>known user requirements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092745"/>
                </a:solidFill>
              </a:rPr>
              <a:t>By promoting the use of FAIR terminologies to annotate </a:t>
            </a:r>
            <a:br>
              <a:rPr lang="en-US" sz="1800" dirty="0">
                <a:solidFill>
                  <a:srgbClr val="092745"/>
                </a:solidFill>
              </a:rPr>
            </a:br>
            <a:r>
              <a:rPr lang="en-US" sz="1800" dirty="0">
                <a:solidFill>
                  <a:srgbClr val="092745"/>
                </a:solidFill>
              </a:rPr>
              <a:t>research data with well identified, unambiguous and </a:t>
            </a:r>
            <a:br>
              <a:rPr lang="en-US" sz="1800" dirty="0">
                <a:solidFill>
                  <a:srgbClr val="092745"/>
                </a:solidFill>
              </a:rPr>
            </a:br>
            <a:r>
              <a:rPr lang="en-US" sz="1800" dirty="0">
                <a:solidFill>
                  <a:srgbClr val="092745"/>
                </a:solidFill>
              </a:rPr>
              <a:t>machine readable vocabularies</a:t>
            </a:r>
          </a:p>
          <a:p>
            <a:pPr marL="0" indent="0">
              <a:buNone/>
            </a:pPr>
            <a:r>
              <a:rPr lang="en-US" sz="1800" b="1" dirty="0"/>
              <a:t>I-ADOPT chairs: </a:t>
            </a:r>
            <a:r>
              <a:rPr lang="en-US" sz="1800" dirty="0"/>
              <a:t>Barbara </a:t>
            </a:r>
            <a:r>
              <a:rPr lang="en-US" sz="1800" dirty="0" err="1"/>
              <a:t>Magagna</a:t>
            </a:r>
            <a:r>
              <a:rPr lang="en-US" sz="1800" dirty="0"/>
              <a:t>, </a:t>
            </a:r>
            <a:r>
              <a:rPr lang="en-US" sz="1800" dirty="0" err="1"/>
              <a:t>Gwenaelle</a:t>
            </a:r>
            <a:r>
              <a:rPr lang="en-US" sz="1800" dirty="0"/>
              <a:t> </a:t>
            </a:r>
            <a:r>
              <a:rPr lang="en-US" sz="1800" dirty="0" err="1"/>
              <a:t>Moncoiffe</a:t>
            </a:r>
            <a:r>
              <a:rPr lang="en-US" sz="1800" dirty="0"/>
              <a:t>, Maria </a:t>
            </a:r>
            <a:r>
              <a:rPr lang="en-US" sz="1800" dirty="0" err="1"/>
              <a:t>Stoica</a:t>
            </a:r>
            <a:r>
              <a:rPr lang="en-US" sz="1800" dirty="0"/>
              <a:t>, </a:t>
            </a:r>
            <a:r>
              <a:rPr lang="en-US" sz="1800" dirty="0" err="1"/>
              <a:t>Anusuriya</a:t>
            </a:r>
            <a:r>
              <a:rPr lang="en-US" sz="1800" dirty="0"/>
              <a:t> </a:t>
            </a:r>
            <a:r>
              <a:rPr lang="en-US" sz="1800" dirty="0" err="1"/>
              <a:t>Devaraju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36D32-5DCF-4973-A87F-B541220D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3A0A0-4F95-474D-BF06-31C69107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F96AB-E730-4FB5-A699-7F0DCCBC3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374" y="1"/>
            <a:ext cx="4855626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934440" y="76301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303046" y="2549932"/>
            <a:ext cx="3096344" cy="72008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3"/>
          <p:cNvCxnSpPr>
            <a:stCxn id="88" idx="2"/>
            <a:endCxn id="89" idx="0"/>
          </p:cNvCxnSpPr>
          <p:nvPr/>
        </p:nvCxnSpPr>
        <p:spPr>
          <a:xfrm flipH="1">
            <a:off x="2754918" y="1757844"/>
            <a:ext cx="3096300" cy="9558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0" name="Google Shape;90;p13"/>
          <p:cNvCxnSpPr>
            <a:stCxn id="88" idx="2"/>
            <a:endCxn id="91" idx="0"/>
          </p:cNvCxnSpPr>
          <p:nvPr/>
        </p:nvCxnSpPr>
        <p:spPr>
          <a:xfrm>
            <a:off x="5851218" y="1757844"/>
            <a:ext cx="3651300" cy="929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89" name="Google Shape;89;p13"/>
          <p:cNvSpPr/>
          <p:nvPr/>
        </p:nvSpPr>
        <p:spPr>
          <a:xfrm>
            <a:off x="1998800" y="2713781"/>
            <a:ext cx="1512168" cy="504056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069699" y="3173621"/>
            <a:ext cx="90229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8926441" y="2687349"/>
            <a:ext cx="1152128" cy="5040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097394" y="3173621"/>
            <a:ext cx="89428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3"/>
          <p:cNvCxnSpPr>
            <a:stCxn id="86" idx="2"/>
          </p:cNvCxnSpPr>
          <p:nvPr/>
        </p:nvCxnSpPr>
        <p:spPr>
          <a:xfrm flipH="1">
            <a:off x="2538918" y="3270012"/>
            <a:ext cx="3312300" cy="1080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5" name="Google Shape;95;p13"/>
          <p:cNvCxnSpPr>
            <a:stCxn id="86" idx="2"/>
          </p:cNvCxnSpPr>
          <p:nvPr/>
        </p:nvCxnSpPr>
        <p:spPr>
          <a:xfrm>
            <a:off x="5851218" y="3270012"/>
            <a:ext cx="3276300" cy="1080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6" name="Google Shape;96;p13"/>
          <p:cNvCxnSpPr>
            <a:stCxn id="86" idx="2"/>
          </p:cNvCxnSpPr>
          <p:nvPr/>
        </p:nvCxnSpPr>
        <p:spPr>
          <a:xfrm flipH="1">
            <a:off x="5239218" y="3270012"/>
            <a:ext cx="612000" cy="1080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7" name="Google Shape;97;p13"/>
          <p:cNvCxnSpPr>
            <a:stCxn id="86" idx="2"/>
          </p:cNvCxnSpPr>
          <p:nvPr/>
        </p:nvCxnSpPr>
        <p:spPr>
          <a:xfrm>
            <a:off x="5851218" y="3270012"/>
            <a:ext cx="1980300" cy="1080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8" name="Google Shape;98;p13"/>
          <p:cNvCxnSpPr>
            <a:stCxn id="86" idx="2"/>
          </p:cNvCxnSpPr>
          <p:nvPr/>
        </p:nvCxnSpPr>
        <p:spPr>
          <a:xfrm flipH="1">
            <a:off x="3906918" y="3270012"/>
            <a:ext cx="1944300" cy="1080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99" name="Google Shape;99;p13"/>
          <p:cNvCxnSpPr>
            <a:stCxn id="86" idx="2"/>
          </p:cNvCxnSpPr>
          <p:nvPr/>
        </p:nvCxnSpPr>
        <p:spPr>
          <a:xfrm>
            <a:off x="5851218" y="3270012"/>
            <a:ext cx="684000" cy="1069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00" name="Google Shape;100;p13"/>
          <p:cNvSpPr txBox="1"/>
          <p:nvPr/>
        </p:nvSpPr>
        <p:spPr>
          <a:xfrm>
            <a:off x="8335494" y="1074639"/>
            <a:ext cx="154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Monitored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366942" y="1037764"/>
            <a:ext cx="4968552" cy="72008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mean dissolved lead (ppb) in water taken from the river Thames by sampling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3"/>
          <p:cNvCxnSpPr>
            <a:stCxn id="88" idx="2"/>
            <a:endCxn id="86" idx="0"/>
          </p:cNvCxnSpPr>
          <p:nvPr/>
        </p:nvCxnSpPr>
        <p:spPr>
          <a:xfrm>
            <a:off x="5851218" y="1757844"/>
            <a:ext cx="0" cy="792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02" name="Google Shape;102;p13"/>
          <p:cNvSpPr txBox="1"/>
          <p:nvPr/>
        </p:nvSpPr>
        <p:spPr>
          <a:xfrm>
            <a:off x="7399390" y="2586807"/>
            <a:ext cx="154817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 flipH="1">
            <a:off x="2020801" y="2782892"/>
            <a:ext cx="17963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River Thames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365664" y="2604271"/>
            <a:ext cx="30337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mean dissolved </a:t>
            </a:r>
            <a:b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 (ppb) in water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9034776" y="2782892"/>
            <a:ext cx="13983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1926782" y="4350132"/>
            <a:ext cx="1224136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EDDDD"/>
              </a:gs>
              <a:gs pos="50000">
                <a:srgbClr val="B2D6D6"/>
              </a:gs>
              <a:gs pos="100000">
                <a:srgbClr val="A6D2D2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8551518" y="4350132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AA8B8"/>
              </a:gs>
              <a:gs pos="50000">
                <a:srgbClr val="8D9BAC"/>
              </a:gs>
              <a:gs pos="100000">
                <a:srgbClr val="788CA2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4663086" y="4350132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B9A9B"/>
              </a:gs>
              <a:gs pos="50000">
                <a:srgbClr val="D18D8E"/>
              </a:gs>
              <a:gs pos="100000">
                <a:srgbClr val="CF7879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7264375" y="4350132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AD1F8"/>
              </a:gs>
              <a:gs pos="50000">
                <a:srgbClr val="8DC7EE"/>
              </a:gs>
              <a:gs pos="100000">
                <a:srgbClr val="78C2F1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3294934" y="4350132"/>
            <a:ext cx="1224136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1CFCF"/>
              </a:gs>
              <a:gs pos="50000">
                <a:srgbClr val="95C5C4"/>
              </a:gs>
              <a:gs pos="100000">
                <a:srgbClr val="82BFBE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5959230" y="4339099"/>
            <a:ext cx="1152128" cy="648072"/>
          </a:xfrm>
          <a:prstGeom prst="roundRect">
            <a:avLst>
              <a:gd name="adj" fmla="val 16667"/>
            </a:avLst>
          </a:prstGeom>
          <a:solidFill>
            <a:srgbClr val="79BCB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5198333" y="5145812"/>
            <a:ext cx="372810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ontology, conceptual model</a:t>
            </a:r>
            <a:endParaRPr sz="16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97128-99EA-430B-9664-6D1CC318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Conceptualizations for observable properties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>
            <a:off x="4287884" y="2991545"/>
            <a:ext cx="3096344" cy="72008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5"/>
          <p:cNvCxnSpPr>
            <a:stCxn id="127" idx="2"/>
            <a:endCxn id="128" idx="0"/>
          </p:cNvCxnSpPr>
          <p:nvPr/>
        </p:nvCxnSpPr>
        <p:spPr>
          <a:xfrm flipH="1">
            <a:off x="2739756" y="2199457"/>
            <a:ext cx="3096300" cy="9558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9" name="Google Shape;129;p15"/>
          <p:cNvCxnSpPr>
            <a:stCxn id="127" idx="2"/>
            <a:endCxn id="130" idx="0"/>
          </p:cNvCxnSpPr>
          <p:nvPr/>
        </p:nvCxnSpPr>
        <p:spPr>
          <a:xfrm>
            <a:off x="5836056" y="2199457"/>
            <a:ext cx="3651300" cy="929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8" name="Google Shape;128;p15"/>
          <p:cNvSpPr/>
          <p:nvPr/>
        </p:nvSpPr>
        <p:spPr>
          <a:xfrm>
            <a:off x="1983638" y="3155394"/>
            <a:ext cx="1512168" cy="504056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073587" y="3615234"/>
            <a:ext cx="90229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911279" y="3128962"/>
            <a:ext cx="1152128" cy="5040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9101282" y="3615234"/>
            <a:ext cx="89428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5"/>
          <p:cNvCxnSpPr>
            <a:stCxn id="125" idx="2"/>
          </p:cNvCxnSpPr>
          <p:nvPr/>
        </p:nvCxnSpPr>
        <p:spPr>
          <a:xfrm flipH="1">
            <a:off x="2344656" y="3711625"/>
            <a:ext cx="3491400" cy="6027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34" name="Google Shape;134;p15"/>
          <p:cNvCxnSpPr>
            <a:stCxn id="125" idx="2"/>
            <a:endCxn id="135" idx="0"/>
          </p:cNvCxnSpPr>
          <p:nvPr/>
        </p:nvCxnSpPr>
        <p:spPr>
          <a:xfrm>
            <a:off x="5836056" y="3711625"/>
            <a:ext cx="3284100" cy="592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36" name="Google Shape;136;p15"/>
          <p:cNvCxnSpPr>
            <a:stCxn id="125" idx="2"/>
            <a:endCxn id="137" idx="0"/>
          </p:cNvCxnSpPr>
          <p:nvPr/>
        </p:nvCxnSpPr>
        <p:spPr>
          <a:xfrm flipH="1">
            <a:off x="5231556" y="3711625"/>
            <a:ext cx="604500" cy="592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38" name="Google Shape;138;p15"/>
          <p:cNvCxnSpPr>
            <a:stCxn id="125" idx="2"/>
            <a:endCxn id="139" idx="0"/>
          </p:cNvCxnSpPr>
          <p:nvPr/>
        </p:nvCxnSpPr>
        <p:spPr>
          <a:xfrm>
            <a:off x="5836056" y="3711625"/>
            <a:ext cx="1996800" cy="592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0" name="Google Shape;140;p15"/>
          <p:cNvCxnSpPr>
            <a:stCxn id="125" idx="2"/>
            <a:endCxn id="141" idx="0"/>
          </p:cNvCxnSpPr>
          <p:nvPr/>
        </p:nvCxnSpPr>
        <p:spPr>
          <a:xfrm flipH="1">
            <a:off x="3899556" y="3711625"/>
            <a:ext cx="1936500" cy="592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42" name="Google Shape;142;p15"/>
          <p:cNvCxnSpPr>
            <a:stCxn id="125" idx="2"/>
            <a:endCxn id="143" idx="0"/>
          </p:cNvCxnSpPr>
          <p:nvPr/>
        </p:nvCxnSpPr>
        <p:spPr>
          <a:xfrm>
            <a:off x="5836056" y="3711625"/>
            <a:ext cx="691800" cy="5811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4" name="Google Shape;144;p15"/>
          <p:cNvSpPr txBox="1"/>
          <p:nvPr/>
        </p:nvSpPr>
        <p:spPr>
          <a:xfrm>
            <a:off x="8320332" y="1516252"/>
            <a:ext cx="1548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Monitored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351780" y="1479377"/>
            <a:ext cx="4968552" cy="72008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mean dissolved lead (ppb) in water taken from the river Thames by sampling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15"/>
          <p:cNvCxnSpPr>
            <a:stCxn id="127" idx="2"/>
            <a:endCxn id="125" idx="0"/>
          </p:cNvCxnSpPr>
          <p:nvPr/>
        </p:nvCxnSpPr>
        <p:spPr>
          <a:xfrm>
            <a:off x="5836056" y="2199457"/>
            <a:ext cx="0" cy="792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46" name="Google Shape;146;p15"/>
          <p:cNvSpPr txBox="1"/>
          <p:nvPr/>
        </p:nvSpPr>
        <p:spPr>
          <a:xfrm>
            <a:off x="7384228" y="3028420"/>
            <a:ext cx="154817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400"/>
            </a:pPr>
            <a:r>
              <a:rPr lang="en-GB"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flipH="1">
            <a:off x="1905000" y="3138218"/>
            <a:ext cx="17963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River Thames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4350502" y="3045884"/>
            <a:ext cx="30337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mean dissolved </a:t>
            </a:r>
            <a:b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 (ppb) in water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8911279" y="3187032"/>
            <a:ext cx="13983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Sampling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919278" y="4303789"/>
            <a:ext cx="1224136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EDDDD"/>
              </a:gs>
              <a:gs pos="50000">
                <a:srgbClr val="B2D6D6"/>
              </a:gs>
              <a:gs pos="100000">
                <a:srgbClr val="A6D2D2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544014" y="4303789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AA8B8"/>
              </a:gs>
              <a:gs pos="50000">
                <a:srgbClr val="8D9BAC"/>
              </a:gs>
              <a:gs pos="100000">
                <a:srgbClr val="788CA2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655582" y="4303789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B9A9B"/>
              </a:gs>
              <a:gs pos="50000">
                <a:srgbClr val="D18D8E"/>
              </a:gs>
              <a:gs pos="100000">
                <a:srgbClr val="CF7879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256871" y="4303789"/>
            <a:ext cx="1152128" cy="648072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AD1F8"/>
              </a:gs>
              <a:gs pos="50000">
                <a:srgbClr val="8DC7EE"/>
              </a:gs>
              <a:gs pos="100000">
                <a:srgbClr val="78C2F1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287430" y="4303789"/>
            <a:ext cx="1224136" cy="64807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5951726" y="4292756"/>
            <a:ext cx="1152128" cy="648072"/>
          </a:xfrm>
          <a:prstGeom prst="roundRect">
            <a:avLst>
              <a:gd name="adj" fmla="val 16667"/>
            </a:avLst>
          </a:prstGeom>
          <a:solidFill>
            <a:srgbClr val="79BCBC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2027290" y="4314374"/>
            <a:ext cx="100811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mean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3269428" y="4409266"/>
            <a:ext cx="12601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dissolved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603665" y="4418109"/>
            <a:ext cx="12601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7139858" y="4452872"/>
            <a:ext cx="12601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ppb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8508010" y="4385821"/>
            <a:ext cx="12601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897720" y="4441373"/>
            <a:ext cx="126014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concentration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269428" y="5191846"/>
            <a:ext cx="1188132" cy="544046"/>
          </a:xfrm>
          <a:prstGeom prst="rect">
            <a:avLst/>
          </a:prstGeom>
          <a:gradFill>
            <a:gsLst>
              <a:gs pos="0">
                <a:srgbClr val="DB9A9B"/>
              </a:gs>
              <a:gs pos="50000">
                <a:srgbClr val="D18D8E"/>
              </a:gs>
              <a:gs pos="100000">
                <a:srgbClr val="CF7879"/>
              </a:gs>
            </a:gsLst>
            <a:lin ang="5400000" scaled="0"/>
          </a:gradFill>
          <a:ln w="95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934887" y="5202394"/>
            <a:ext cx="1188132" cy="544046"/>
          </a:xfrm>
          <a:prstGeom prst="rect">
            <a:avLst/>
          </a:prstGeom>
          <a:gradFill>
            <a:gsLst>
              <a:gs pos="0">
                <a:srgbClr val="BEDDDD"/>
              </a:gs>
              <a:gs pos="50000">
                <a:srgbClr val="B2D6D6"/>
              </a:gs>
              <a:gs pos="100000">
                <a:srgbClr val="A6D2D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926936" y="5233674"/>
            <a:ext cx="12241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controlled list 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3269428" y="5191847"/>
            <a:ext cx="1224136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controlled list 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4594631" y="5202394"/>
            <a:ext cx="1188132" cy="544046"/>
          </a:xfrm>
          <a:prstGeom prst="rect">
            <a:avLst/>
          </a:prstGeom>
          <a:solidFill>
            <a:srgbClr val="DB93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5934430" y="5239213"/>
            <a:ext cx="1188132" cy="544046"/>
          </a:xfrm>
          <a:prstGeom prst="rect">
            <a:avLst/>
          </a:prstGeom>
          <a:solidFill>
            <a:srgbClr val="79B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530515" y="5205624"/>
            <a:ext cx="1188132" cy="544046"/>
          </a:xfrm>
          <a:prstGeom prst="rect">
            <a:avLst/>
          </a:prstGeom>
          <a:gradFill>
            <a:gsLst>
              <a:gs pos="0">
                <a:srgbClr val="9AA8B8"/>
              </a:gs>
              <a:gs pos="50000">
                <a:srgbClr val="8D9BAC"/>
              </a:gs>
              <a:gs pos="100000">
                <a:srgbClr val="788CA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4529568" y="5222640"/>
            <a:ext cx="12241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CHEBI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5915023" y="5216591"/>
            <a:ext cx="12241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QUDT quantities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8520464" y="5164895"/>
            <a:ext cx="122413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EnvThes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5"/>
          <p:cNvCxnSpPr>
            <a:stCxn id="150" idx="2"/>
            <a:endCxn id="158" idx="0"/>
          </p:cNvCxnSpPr>
          <p:nvPr/>
        </p:nvCxnSpPr>
        <p:spPr>
          <a:xfrm flipH="1">
            <a:off x="2528946" y="4951861"/>
            <a:ext cx="2400" cy="2505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68" name="Google Shape;168;p15"/>
          <p:cNvCxnSpPr/>
          <p:nvPr/>
        </p:nvCxnSpPr>
        <p:spPr>
          <a:xfrm>
            <a:off x="3826050" y="4951862"/>
            <a:ext cx="0" cy="26062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69" name="Google Shape;169;p15"/>
          <p:cNvCxnSpPr>
            <a:endCxn id="161" idx="0"/>
          </p:cNvCxnSpPr>
          <p:nvPr/>
        </p:nvCxnSpPr>
        <p:spPr>
          <a:xfrm>
            <a:off x="5174897" y="4951894"/>
            <a:ext cx="13800" cy="2505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70" name="Google Shape;170;p15"/>
          <p:cNvCxnSpPr>
            <a:stCxn id="143" idx="2"/>
            <a:endCxn id="165" idx="0"/>
          </p:cNvCxnSpPr>
          <p:nvPr/>
        </p:nvCxnSpPr>
        <p:spPr>
          <a:xfrm flipH="1">
            <a:off x="6527190" y="4940828"/>
            <a:ext cx="600" cy="2757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1" name="Google Shape;171;p15"/>
          <p:cNvSpPr/>
          <p:nvPr/>
        </p:nvSpPr>
        <p:spPr>
          <a:xfrm>
            <a:off x="7211866" y="5212490"/>
            <a:ext cx="1188132" cy="544046"/>
          </a:xfrm>
          <a:prstGeom prst="rect">
            <a:avLst/>
          </a:prstGeom>
          <a:gradFill>
            <a:gsLst>
              <a:gs pos="0">
                <a:srgbClr val="9AD1F8"/>
              </a:gs>
              <a:gs pos="50000">
                <a:srgbClr val="8DC7EE"/>
              </a:gs>
              <a:gs pos="100000">
                <a:srgbClr val="78C2F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7230843" y="5212491"/>
            <a:ext cx="12241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QUDT units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5"/>
          <p:cNvCxnSpPr>
            <a:stCxn id="139" idx="2"/>
          </p:cNvCxnSpPr>
          <p:nvPr/>
        </p:nvCxnSpPr>
        <p:spPr>
          <a:xfrm>
            <a:off x="7832935" y="4951861"/>
            <a:ext cx="0" cy="2817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9120078" y="4940828"/>
            <a:ext cx="0" cy="281812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AD795A34-3858-432C-9CEF-5F72B7B8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Controlled vocabularies for parts of </a:t>
            </a:r>
            <a:r>
              <a:rPr lang="en-US" sz="3200" dirty="0" err="1"/>
              <a:t>ObsProps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B5D5-0A27-416A-9A86-BAB00F26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I-ADOPT Framework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738BF-EE09-4310-B4C4-1835E3A8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6A609-3554-4AF8-9AF3-F62785B2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563572-EAF7-4A20-BE6F-C535E1EA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35592"/>
            <a:ext cx="10820400" cy="5372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2F2617-0C3B-4AFC-82A7-7A63C80906EB}"/>
              </a:ext>
            </a:extLst>
          </p:cNvPr>
          <p:cNvSpPr txBox="1"/>
          <p:nvPr/>
        </p:nvSpPr>
        <p:spPr>
          <a:xfrm>
            <a:off x="833309" y="5922959"/>
            <a:ext cx="5435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https://padlet.com/barbaramagagna/sogprgszse1bgd24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941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52BD1-628C-4A13-8081-55F8D215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Chemistry example: </a:t>
            </a:r>
            <a:r>
              <a:rPr lang="en-US" dirty="0" err="1"/>
              <a:t>Endosulfan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BE6F4-D57B-446F-A884-61E954BD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F5A32-7059-4F63-9A9A-09814697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1285C-BA81-458B-84C4-90E1462C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3" y="1014258"/>
            <a:ext cx="7991475" cy="54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9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031C-DDEF-4039-80F7-CD08A25E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Biodiversity example: Shape of organism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7B938-D322-4C8D-BE27-BDCE809A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5CFB2-B0B8-41EF-B3DA-9084A11C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1A3E1-A303-4B5A-9F82-B79C9409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993389"/>
            <a:ext cx="10077450" cy="545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41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8FB1-54D1-46F2-B4E7-EFB5AFE7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Earth observation example: Taxonomy of grass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BAE23-305B-4706-B14B-B6BB016E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8B4ED-4033-4936-8651-E27B513E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3EBAF2-C058-40E8-B673-9877DD9F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817"/>
            <a:ext cx="12192000" cy="48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78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6EC2-E622-4672-9F28-3B670FA0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science example: Molecular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2C197-8386-48F4-A555-DB7F387D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A315B-1019-4A73-9DCE-6ABF0DD0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9F60A-7E1F-4CFC-BA48-BEBC3B66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432"/>
            <a:ext cx="12192000" cy="538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661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CD66-1386-407A-B68F-92D5B60D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Social sciences </a:t>
            </a:r>
            <a:r>
              <a:rPr lang="fr-FR" dirty="0" err="1"/>
              <a:t>example</a:t>
            </a:r>
            <a:r>
              <a:rPr lang="fr-FR" dirty="0"/>
              <a:t>: Survey question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41AE7-F267-4D1D-8151-A471B6695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63E1-127B-492D-86EA-84C9D375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4A6E3-B673-4943-AAF1-644A502AE89E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AC95A-3C68-42AF-8660-9D86D9047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438" y="981370"/>
            <a:ext cx="9633124" cy="54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63776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hat is OGC?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What do our members value?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ank Yo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1007</Words>
  <Application>Microsoft Office PowerPoint</Application>
  <PresentationFormat>Widescreen</PresentationFormat>
  <Paragraphs>158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Lato</vt:lpstr>
      <vt:lpstr>Times New Roman</vt:lpstr>
      <vt:lpstr>Wingdings</vt:lpstr>
      <vt:lpstr>1_Custom Design</vt:lpstr>
      <vt:lpstr>2_Custom Design</vt:lpstr>
      <vt:lpstr>Title Slide</vt:lpstr>
      <vt:lpstr>1_Title Slide</vt:lpstr>
      <vt:lpstr>What is OGC?</vt:lpstr>
      <vt:lpstr>What do our members value?</vt:lpstr>
      <vt:lpstr>Thank You</vt:lpstr>
      <vt:lpstr>PowerPoint Presentation</vt:lpstr>
      <vt:lpstr>O&amp;M V3 Modification Overview</vt:lpstr>
      <vt:lpstr>3 Tier Model</vt:lpstr>
      <vt:lpstr>3 Tier Model - Observation</vt:lpstr>
      <vt:lpstr>3 Tier Model - Sampling</vt:lpstr>
      <vt:lpstr>Additional Concepts - Observation</vt:lpstr>
      <vt:lpstr>Additional Concepts - Observation</vt:lpstr>
      <vt:lpstr>Additional Concepts - Sample</vt:lpstr>
      <vt:lpstr>Requirements Structure</vt:lpstr>
      <vt:lpstr>Next Steps</vt:lpstr>
      <vt:lpstr>Ad-Hoc STAOMS</vt:lpstr>
      <vt:lpstr>Data Model  Comparison</vt:lpstr>
      <vt:lpstr>First Prototype</vt:lpstr>
      <vt:lpstr>I-ADOPT Framework</vt:lpstr>
      <vt:lpstr>Conceptualizations for observable properties</vt:lpstr>
      <vt:lpstr>Controlled vocabularies for parts of ObsProps</vt:lpstr>
      <vt:lpstr>I-ADOPT Framework</vt:lpstr>
      <vt:lpstr>Chemistry example: Endosulfan</vt:lpstr>
      <vt:lpstr>Biodiversity example: Shape of organism</vt:lpstr>
      <vt:lpstr>Earth observation example: Taxonomy of grass</vt:lpstr>
      <vt:lpstr>Life science example: Molecular</vt:lpstr>
      <vt:lpstr>Social sciences example: Survey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Felsey</dc:creator>
  <cp:lastModifiedBy>Kathi Schleidt</cp:lastModifiedBy>
  <cp:revision>168</cp:revision>
  <dcterms:created xsi:type="dcterms:W3CDTF">2020-04-17T22:01:33Z</dcterms:created>
  <dcterms:modified xsi:type="dcterms:W3CDTF">2023-05-30T14:44:38Z</dcterms:modified>
</cp:coreProperties>
</file>