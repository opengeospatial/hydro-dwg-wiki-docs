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3"/>
  </p:notesMasterIdLst>
  <p:sldIdLst>
    <p:sldId id="256" r:id="rId2"/>
    <p:sldId id="539" r:id="rId3"/>
    <p:sldId id="540" r:id="rId4"/>
    <p:sldId id="460" r:id="rId5"/>
    <p:sldId id="462" r:id="rId6"/>
    <p:sldId id="360" r:id="rId7"/>
    <p:sldId id="472" r:id="rId8"/>
    <p:sldId id="473" r:id="rId9"/>
    <p:sldId id="474" r:id="rId10"/>
    <p:sldId id="475" r:id="rId11"/>
    <p:sldId id="476" r:id="rId12"/>
    <p:sldId id="477" r:id="rId13"/>
    <p:sldId id="478" r:id="rId14"/>
    <p:sldId id="479" r:id="rId15"/>
    <p:sldId id="480" r:id="rId16"/>
    <p:sldId id="482" r:id="rId17"/>
    <p:sldId id="483" r:id="rId18"/>
    <p:sldId id="484" r:id="rId19"/>
    <p:sldId id="485" r:id="rId20"/>
    <p:sldId id="486" r:id="rId21"/>
    <p:sldId id="487" r:id="rId22"/>
    <p:sldId id="488" r:id="rId23"/>
    <p:sldId id="489" r:id="rId24"/>
    <p:sldId id="490" r:id="rId25"/>
    <p:sldId id="491" r:id="rId26"/>
    <p:sldId id="492" r:id="rId27"/>
    <p:sldId id="493" r:id="rId28"/>
    <p:sldId id="496" r:id="rId29"/>
    <p:sldId id="499" r:id="rId30"/>
    <p:sldId id="380" r:id="rId31"/>
    <p:sldId id="382" r:id="rId32"/>
    <p:sldId id="386" r:id="rId33"/>
    <p:sldId id="359" r:id="rId34"/>
    <p:sldId id="385" r:id="rId35"/>
    <p:sldId id="384" r:id="rId36"/>
    <p:sldId id="396" r:id="rId37"/>
    <p:sldId id="398" r:id="rId38"/>
    <p:sldId id="399" r:id="rId39"/>
    <p:sldId id="501" r:id="rId40"/>
    <p:sldId id="503" r:id="rId41"/>
    <p:sldId id="423" r:id="rId42"/>
    <p:sldId id="508" r:id="rId43"/>
    <p:sldId id="530" r:id="rId44"/>
    <p:sldId id="531" r:id="rId45"/>
    <p:sldId id="532" r:id="rId46"/>
    <p:sldId id="533" r:id="rId47"/>
    <p:sldId id="534" r:id="rId48"/>
    <p:sldId id="516" r:id="rId49"/>
    <p:sldId id="517" r:id="rId50"/>
    <p:sldId id="518" r:id="rId51"/>
    <p:sldId id="519" r:id="rId52"/>
    <p:sldId id="520" r:id="rId53"/>
    <p:sldId id="509" r:id="rId54"/>
    <p:sldId id="510" r:id="rId55"/>
    <p:sldId id="511" r:id="rId56"/>
    <p:sldId id="512" r:id="rId57"/>
    <p:sldId id="513" r:id="rId58"/>
    <p:sldId id="514" r:id="rId59"/>
    <p:sldId id="535" r:id="rId60"/>
    <p:sldId id="521" r:id="rId61"/>
    <p:sldId id="523" r:id="rId62"/>
    <p:sldId id="537" r:id="rId63"/>
    <p:sldId id="524" r:id="rId64"/>
    <p:sldId id="525" r:id="rId65"/>
    <p:sldId id="522" r:id="rId66"/>
    <p:sldId id="526" r:id="rId67"/>
    <p:sldId id="527" r:id="rId68"/>
    <p:sldId id="538" r:id="rId69"/>
    <p:sldId id="528" r:id="rId70"/>
    <p:sldId id="529" r:id="rId71"/>
    <p:sldId id="438"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0" autoAdjust="0"/>
    <p:restoredTop sz="94671"/>
  </p:normalViewPr>
  <p:slideViewPr>
    <p:cSldViewPr snapToGrid="0" snapToObjects="1">
      <p:cViewPr varScale="1">
        <p:scale>
          <a:sx n="91" d="100"/>
          <a:sy n="91" d="100"/>
        </p:scale>
        <p:origin x="1736"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DCD123-A7A2-5743-AC21-E15E9F734E96}" type="doc">
      <dgm:prSet loTypeId="urn:microsoft.com/office/officeart/2008/layout/VerticalCurvedList" loCatId="" qsTypeId="urn:microsoft.com/office/officeart/2005/8/quickstyle/simple1" qsCatId="simple" csTypeId="urn:microsoft.com/office/officeart/2005/8/colors/colorful4" csCatId="colorful" phldr="1"/>
      <dgm:spPr/>
      <dgm:t>
        <a:bodyPr/>
        <a:lstStyle/>
        <a:p>
          <a:endParaRPr lang="it-IT"/>
        </a:p>
      </dgm:t>
    </dgm:pt>
    <dgm:pt modelId="{880B4136-9F38-4149-AD36-5ECAB4C96F71}">
      <dgm:prSet phldrT="[Testo]"/>
      <dgm:spPr/>
      <dgm:t>
        <a:bodyPr/>
        <a:lstStyle/>
        <a:p>
          <a:r>
            <a:rPr lang="it-IT" dirty="0"/>
            <a:t>A </a:t>
          </a:r>
          <a:r>
            <a:rPr lang="it-IT" b="1" i="1" dirty="0">
              <a:solidFill>
                <a:srgbClr val="FF0000"/>
              </a:solidFill>
            </a:rPr>
            <a:t>System of Systems </a:t>
          </a:r>
          <a:r>
            <a:rPr lang="it-IT" dirty="0"/>
            <a:t>to </a:t>
          </a:r>
          <a:r>
            <a:rPr lang="it-IT" dirty="0" err="1"/>
            <a:t>provide</a:t>
          </a:r>
          <a:r>
            <a:rPr lang="it-IT" dirty="0"/>
            <a:t> a </a:t>
          </a:r>
          <a:r>
            <a:rPr lang="it-IT" dirty="0" err="1"/>
            <a:t>unique</a:t>
          </a:r>
          <a:r>
            <a:rPr lang="it-IT" dirty="0"/>
            <a:t> entry </a:t>
          </a:r>
          <a:r>
            <a:rPr lang="it-IT" dirty="0" err="1"/>
            <a:t>point</a:t>
          </a:r>
          <a:r>
            <a:rPr lang="it-IT" dirty="0"/>
            <a:t> for Client Applications to </a:t>
          </a:r>
          <a:r>
            <a:rPr lang="it-IT" dirty="0" err="1"/>
            <a:t>discover</a:t>
          </a:r>
          <a:r>
            <a:rPr lang="it-IT" dirty="0"/>
            <a:t> and </a:t>
          </a:r>
          <a:r>
            <a:rPr lang="it-IT" dirty="0" err="1"/>
            <a:t>access</a:t>
          </a:r>
          <a:r>
            <a:rPr lang="it-IT" dirty="0"/>
            <a:t> </a:t>
          </a:r>
          <a:r>
            <a:rPr lang="it-IT" dirty="0" err="1"/>
            <a:t>Hydrological</a:t>
          </a:r>
          <a:r>
            <a:rPr lang="it-IT" dirty="0"/>
            <a:t> data </a:t>
          </a:r>
          <a:r>
            <a:rPr lang="it-IT" dirty="0" err="1"/>
            <a:t>published</a:t>
          </a:r>
          <a:r>
            <a:rPr lang="it-IT" dirty="0"/>
            <a:t> by the </a:t>
          </a:r>
          <a:r>
            <a:rPr lang="it-IT" dirty="0" err="1"/>
            <a:t>contributing</a:t>
          </a:r>
          <a:r>
            <a:rPr lang="it-IT" dirty="0"/>
            <a:t> Data </a:t>
          </a:r>
          <a:r>
            <a:rPr lang="it-IT" dirty="0" err="1"/>
            <a:t>Nodes</a:t>
          </a:r>
          <a:r>
            <a:rPr lang="it-IT" dirty="0"/>
            <a:t>.</a:t>
          </a:r>
        </a:p>
      </dgm:t>
    </dgm:pt>
    <dgm:pt modelId="{04FD0599-2A84-FB4E-85C7-E408FF8D505D}" type="parTrans" cxnId="{904E26FC-D6BD-DE4E-BBD8-9F5717B7D8FA}">
      <dgm:prSet/>
      <dgm:spPr/>
      <dgm:t>
        <a:bodyPr/>
        <a:lstStyle/>
        <a:p>
          <a:endParaRPr lang="it-IT"/>
        </a:p>
      </dgm:t>
    </dgm:pt>
    <dgm:pt modelId="{DF44039F-A808-154C-9A31-7153210BB04A}" type="sibTrans" cxnId="{904E26FC-D6BD-DE4E-BBD8-9F5717B7D8FA}">
      <dgm:prSet/>
      <dgm:spPr/>
      <dgm:t>
        <a:bodyPr/>
        <a:lstStyle/>
        <a:p>
          <a:endParaRPr lang="it-IT"/>
        </a:p>
      </dgm:t>
    </dgm:pt>
    <dgm:pt modelId="{0F7762F4-8EFF-0142-8544-60AD6CF14474}">
      <dgm:prSet/>
      <dgm:spPr/>
      <dgm:t>
        <a:bodyPr/>
        <a:lstStyle/>
        <a:p>
          <a:r>
            <a:rPr lang="it-IT" dirty="0"/>
            <a:t>Client </a:t>
          </a:r>
          <a:r>
            <a:rPr lang="it-IT" dirty="0" err="1"/>
            <a:t>Applications</a:t>
          </a:r>
          <a:r>
            <a:rPr lang="it-IT" dirty="0"/>
            <a:t> </a:t>
          </a:r>
          <a:r>
            <a:rPr lang="it-IT" dirty="0" err="1"/>
            <a:t>access</a:t>
          </a:r>
          <a:r>
            <a:rPr lang="it-IT" dirty="0"/>
            <a:t> the system </a:t>
          </a:r>
          <a:r>
            <a:rPr lang="it-IT" dirty="0" err="1"/>
            <a:t>utlizing</a:t>
          </a:r>
          <a:r>
            <a:rPr lang="it-IT" dirty="0"/>
            <a:t> the </a:t>
          </a:r>
          <a:r>
            <a:rPr lang="it-IT" dirty="0" err="1"/>
            <a:t>preferred</a:t>
          </a:r>
          <a:r>
            <a:rPr lang="it-IT" dirty="0"/>
            <a:t> service </a:t>
          </a:r>
          <a:r>
            <a:rPr lang="it-IT" dirty="0" err="1"/>
            <a:t>protocol</a:t>
          </a:r>
          <a:r>
            <a:rPr lang="it-IT" dirty="0"/>
            <a:t>/</a:t>
          </a:r>
          <a:r>
            <a:rPr lang="it-IT" dirty="0" err="1"/>
            <a:t>APIs</a:t>
          </a:r>
          <a:r>
            <a:rPr lang="it-IT" dirty="0"/>
            <a:t>.</a:t>
          </a:r>
        </a:p>
      </dgm:t>
    </dgm:pt>
    <dgm:pt modelId="{13B48BB1-8CCC-704E-8FAD-D3D4DE60C389}" type="parTrans" cxnId="{FA227940-96A1-1643-AE23-8DA518EA29B9}">
      <dgm:prSet/>
      <dgm:spPr/>
      <dgm:t>
        <a:bodyPr/>
        <a:lstStyle/>
        <a:p>
          <a:endParaRPr lang="it-IT"/>
        </a:p>
      </dgm:t>
    </dgm:pt>
    <dgm:pt modelId="{5B5DE3D9-3C6A-094C-985D-A6833E1BF1C8}" type="sibTrans" cxnId="{FA227940-96A1-1643-AE23-8DA518EA29B9}">
      <dgm:prSet/>
      <dgm:spPr/>
      <dgm:t>
        <a:bodyPr/>
        <a:lstStyle/>
        <a:p>
          <a:endParaRPr lang="it-IT"/>
        </a:p>
      </dgm:t>
    </dgm:pt>
    <dgm:pt modelId="{E785C265-04FF-5345-9D1B-B51D9F261ACB}">
      <dgm:prSet/>
      <dgm:spPr/>
      <dgm:t>
        <a:bodyPr/>
        <a:lstStyle/>
        <a:p>
          <a:r>
            <a:rPr lang="it-IT" dirty="0"/>
            <a:t>Data </a:t>
          </a:r>
          <a:r>
            <a:rPr lang="it-IT" dirty="0" err="1"/>
            <a:t>Nodes</a:t>
          </a:r>
          <a:r>
            <a:rPr lang="it-IT" dirty="0"/>
            <a:t> </a:t>
          </a:r>
          <a:r>
            <a:rPr lang="it-IT" dirty="0" err="1"/>
            <a:t>publish</a:t>
          </a:r>
          <a:r>
            <a:rPr lang="it-IT" dirty="0"/>
            <a:t> </a:t>
          </a:r>
          <a:r>
            <a:rPr lang="it-IT" dirty="0" err="1"/>
            <a:t>their</a:t>
          </a:r>
          <a:r>
            <a:rPr lang="it-IT" dirty="0"/>
            <a:t> data </a:t>
          </a:r>
          <a:r>
            <a:rPr lang="it-IT" dirty="0" err="1"/>
            <a:t>utilizing</a:t>
          </a:r>
          <a:r>
            <a:rPr lang="it-IT" dirty="0"/>
            <a:t> the </a:t>
          </a:r>
          <a:r>
            <a:rPr lang="it-IT" dirty="0" err="1"/>
            <a:t>preferred</a:t>
          </a:r>
          <a:r>
            <a:rPr lang="it-IT" dirty="0"/>
            <a:t> service </a:t>
          </a:r>
          <a:r>
            <a:rPr lang="it-IT" dirty="0" err="1"/>
            <a:t>protocol</a:t>
          </a:r>
          <a:r>
            <a:rPr lang="it-IT" dirty="0"/>
            <a:t>/</a:t>
          </a:r>
          <a:r>
            <a:rPr lang="it-IT" dirty="0" err="1"/>
            <a:t>APIs</a:t>
          </a:r>
          <a:r>
            <a:rPr lang="it-IT" dirty="0"/>
            <a:t>.</a:t>
          </a:r>
        </a:p>
      </dgm:t>
    </dgm:pt>
    <dgm:pt modelId="{A51BD09B-09AC-5B48-9035-47B5B740936F}" type="parTrans" cxnId="{F5308D4E-C856-B544-9319-8F7799A34BD6}">
      <dgm:prSet/>
      <dgm:spPr/>
      <dgm:t>
        <a:bodyPr/>
        <a:lstStyle/>
        <a:p>
          <a:endParaRPr lang="it-IT"/>
        </a:p>
      </dgm:t>
    </dgm:pt>
    <dgm:pt modelId="{564D7329-BD6B-264D-ADBB-105BBEF9905D}" type="sibTrans" cxnId="{F5308D4E-C856-B544-9319-8F7799A34BD6}">
      <dgm:prSet/>
      <dgm:spPr/>
      <dgm:t>
        <a:bodyPr/>
        <a:lstStyle/>
        <a:p>
          <a:endParaRPr lang="it-IT"/>
        </a:p>
      </dgm:t>
    </dgm:pt>
    <dgm:pt modelId="{43547B86-0122-084C-A845-975E43F90E0B}">
      <dgm:prSet/>
      <dgm:spPr/>
      <dgm:t>
        <a:bodyPr/>
        <a:lstStyle/>
        <a:p>
          <a:r>
            <a:rPr lang="it-IT" dirty="0" err="1"/>
            <a:t>Contribute</a:t>
          </a:r>
          <a:r>
            <a:rPr lang="it-IT" dirty="0"/>
            <a:t> </a:t>
          </a:r>
          <a:r>
            <a:rPr lang="it-IT" dirty="0" err="1"/>
            <a:t>to</a:t>
          </a:r>
          <a:r>
            <a:rPr lang="it-IT" dirty="0"/>
            <a:t> WMO </a:t>
          </a:r>
          <a:r>
            <a:rPr lang="it-IT" dirty="0" err="1"/>
            <a:t>Hydrological</a:t>
          </a:r>
          <a:r>
            <a:rPr lang="it-IT" dirty="0"/>
            <a:t> </a:t>
          </a:r>
          <a:r>
            <a:rPr lang="it-IT" dirty="0" err="1"/>
            <a:t>Observing</a:t>
          </a:r>
          <a:r>
            <a:rPr lang="it-IT" dirty="0"/>
            <a:t> System (WHOS)</a:t>
          </a:r>
        </a:p>
      </dgm:t>
    </dgm:pt>
    <dgm:pt modelId="{514EE080-5281-3243-B3F2-67843F03F2F7}" type="parTrans" cxnId="{BB74CF67-D141-2442-B807-45E2E0276F8B}">
      <dgm:prSet/>
      <dgm:spPr/>
      <dgm:t>
        <a:bodyPr/>
        <a:lstStyle/>
        <a:p>
          <a:endParaRPr lang="it-IT"/>
        </a:p>
      </dgm:t>
    </dgm:pt>
    <dgm:pt modelId="{77085E03-DC1D-B143-A49C-09C7D6B45AC8}" type="sibTrans" cxnId="{BB74CF67-D141-2442-B807-45E2E0276F8B}">
      <dgm:prSet/>
      <dgm:spPr/>
      <dgm:t>
        <a:bodyPr/>
        <a:lstStyle/>
        <a:p>
          <a:endParaRPr lang="it-IT"/>
        </a:p>
      </dgm:t>
    </dgm:pt>
    <dgm:pt modelId="{2B32E845-5E31-0940-9085-72880C3DDEE8}" type="pres">
      <dgm:prSet presAssocID="{F8DCD123-A7A2-5743-AC21-E15E9F734E96}" presName="Name0" presStyleCnt="0">
        <dgm:presLayoutVars>
          <dgm:chMax val="7"/>
          <dgm:chPref val="7"/>
          <dgm:dir/>
        </dgm:presLayoutVars>
      </dgm:prSet>
      <dgm:spPr/>
    </dgm:pt>
    <dgm:pt modelId="{B4902AD1-9409-6249-8E78-F0EE35B70171}" type="pres">
      <dgm:prSet presAssocID="{F8DCD123-A7A2-5743-AC21-E15E9F734E96}" presName="Name1" presStyleCnt="0"/>
      <dgm:spPr/>
    </dgm:pt>
    <dgm:pt modelId="{6E860878-30C9-C449-8833-C4B854BD5591}" type="pres">
      <dgm:prSet presAssocID="{F8DCD123-A7A2-5743-AC21-E15E9F734E96}" presName="cycle" presStyleCnt="0"/>
      <dgm:spPr/>
    </dgm:pt>
    <dgm:pt modelId="{FFE73031-BA4E-F74C-AD02-38ED38E44320}" type="pres">
      <dgm:prSet presAssocID="{F8DCD123-A7A2-5743-AC21-E15E9F734E96}" presName="srcNode" presStyleLbl="node1" presStyleIdx="0" presStyleCnt="4"/>
      <dgm:spPr/>
    </dgm:pt>
    <dgm:pt modelId="{F3115A9A-273A-C24E-9E5E-CE8F5AB40C8D}" type="pres">
      <dgm:prSet presAssocID="{F8DCD123-A7A2-5743-AC21-E15E9F734E96}" presName="conn" presStyleLbl="parChTrans1D2" presStyleIdx="0" presStyleCnt="1"/>
      <dgm:spPr/>
    </dgm:pt>
    <dgm:pt modelId="{F77F5F4D-7D01-4546-BE5B-6412A1B83FE8}" type="pres">
      <dgm:prSet presAssocID="{F8DCD123-A7A2-5743-AC21-E15E9F734E96}" presName="extraNode" presStyleLbl="node1" presStyleIdx="0" presStyleCnt="4"/>
      <dgm:spPr/>
    </dgm:pt>
    <dgm:pt modelId="{8F8FAB1D-5872-184B-B94F-94AB5367B23D}" type="pres">
      <dgm:prSet presAssocID="{F8DCD123-A7A2-5743-AC21-E15E9F734E96}" presName="dstNode" presStyleLbl="node1" presStyleIdx="0" presStyleCnt="4"/>
      <dgm:spPr/>
    </dgm:pt>
    <dgm:pt modelId="{42F39484-3BAA-1647-BE78-23D37EEE0D81}" type="pres">
      <dgm:prSet presAssocID="{880B4136-9F38-4149-AD36-5ECAB4C96F71}" presName="text_1" presStyleLbl="node1" presStyleIdx="0" presStyleCnt="4">
        <dgm:presLayoutVars>
          <dgm:bulletEnabled val="1"/>
        </dgm:presLayoutVars>
      </dgm:prSet>
      <dgm:spPr/>
    </dgm:pt>
    <dgm:pt modelId="{2B124EAD-53FE-884F-8C5C-35925F7217DF}" type="pres">
      <dgm:prSet presAssocID="{880B4136-9F38-4149-AD36-5ECAB4C96F71}" presName="accent_1" presStyleCnt="0"/>
      <dgm:spPr/>
    </dgm:pt>
    <dgm:pt modelId="{7DB49859-BD17-F24C-85D3-B4987FB19F23}" type="pres">
      <dgm:prSet presAssocID="{880B4136-9F38-4149-AD36-5ECAB4C96F71}" presName="accentRepeatNode" presStyleLbl="solidFgAcc1" presStyleIdx="0" presStyleCnt="4"/>
      <dgm:spPr/>
    </dgm:pt>
    <dgm:pt modelId="{74B69CB5-0D8F-BA48-9E5E-4ED0ADE720D8}" type="pres">
      <dgm:prSet presAssocID="{0F7762F4-8EFF-0142-8544-60AD6CF14474}" presName="text_2" presStyleLbl="node1" presStyleIdx="1" presStyleCnt="4">
        <dgm:presLayoutVars>
          <dgm:bulletEnabled val="1"/>
        </dgm:presLayoutVars>
      </dgm:prSet>
      <dgm:spPr/>
    </dgm:pt>
    <dgm:pt modelId="{F3621453-1FC2-894C-960B-E30A038A15CE}" type="pres">
      <dgm:prSet presAssocID="{0F7762F4-8EFF-0142-8544-60AD6CF14474}" presName="accent_2" presStyleCnt="0"/>
      <dgm:spPr/>
    </dgm:pt>
    <dgm:pt modelId="{E5B7EE61-A906-FF48-9196-83B87A85CCDF}" type="pres">
      <dgm:prSet presAssocID="{0F7762F4-8EFF-0142-8544-60AD6CF14474}" presName="accentRepeatNode" presStyleLbl="solidFgAcc1" presStyleIdx="1" presStyleCnt="4"/>
      <dgm:spPr/>
    </dgm:pt>
    <dgm:pt modelId="{4E5E316E-80F4-1D41-83BF-D81008E500EE}" type="pres">
      <dgm:prSet presAssocID="{E785C265-04FF-5345-9D1B-B51D9F261ACB}" presName="text_3" presStyleLbl="node1" presStyleIdx="2" presStyleCnt="4">
        <dgm:presLayoutVars>
          <dgm:bulletEnabled val="1"/>
        </dgm:presLayoutVars>
      </dgm:prSet>
      <dgm:spPr/>
    </dgm:pt>
    <dgm:pt modelId="{B73E75DE-2A37-8542-9E65-D88B6CE534A0}" type="pres">
      <dgm:prSet presAssocID="{E785C265-04FF-5345-9D1B-B51D9F261ACB}" presName="accent_3" presStyleCnt="0"/>
      <dgm:spPr/>
    </dgm:pt>
    <dgm:pt modelId="{5E822DCF-EBCF-674B-9AFA-D9770CA421A3}" type="pres">
      <dgm:prSet presAssocID="{E785C265-04FF-5345-9D1B-B51D9F261ACB}" presName="accentRepeatNode" presStyleLbl="solidFgAcc1" presStyleIdx="2" presStyleCnt="4"/>
      <dgm:spPr/>
    </dgm:pt>
    <dgm:pt modelId="{B80A2A0A-19F8-6D42-A4E2-A0695844884F}" type="pres">
      <dgm:prSet presAssocID="{43547B86-0122-084C-A845-975E43F90E0B}" presName="text_4" presStyleLbl="node1" presStyleIdx="3" presStyleCnt="4">
        <dgm:presLayoutVars>
          <dgm:bulletEnabled val="1"/>
        </dgm:presLayoutVars>
      </dgm:prSet>
      <dgm:spPr/>
    </dgm:pt>
    <dgm:pt modelId="{579678A8-57EE-D641-91F7-EAF16A84AB68}" type="pres">
      <dgm:prSet presAssocID="{43547B86-0122-084C-A845-975E43F90E0B}" presName="accent_4" presStyleCnt="0"/>
      <dgm:spPr/>
    </dgm:pt>
    <dgm:pt modelId="{F703611D-43C6-1B47-99EC-32BF9C12BA2F}" type="pres">
      <dgm:prSet presAssocID="{43547B86-0122-084C-A845-975E43F90E0B}" presName="accentRepeatNode" presStyleLbl="solidFgAcc1" presStyleIdx="3" presStyleCnt="4"/>
      <dgm:spPr/>
    </dgm:pt>
  </dgm:ptLst>
  <dgm:cxnLst>
    <dgm:cxn modelId="{FA227940-96A1-1643-AE23-8DA518EA29B9}" srcId="{F8DCD123-A7A2-5743-AC21-E15E9F734E96}" destId="{0F7762F4-8EFF-0142-8544-60AD6CF14474}" srcOrd="1" destOrd="0" parTransId="{13B48BB1-8CCC-704E-8FAD-D3D4DE60C389}" sibTransId="{5B5DE3D9-3C6A-094C-985D-A6833E1BF1C8}"/>
    <dgm:cxn modelId="{F5308D4E-C856-B544-9319-8F7799A34BD6}" srcId="{F8DCD123-A7A2-5743-AC21-E15E9F734E96}" destId="{E785C265-04FF-5345-9D1B-B51D9F261ACB}" srcOrd="2" destOrd="0" parTransId="{A51BD09B-09AC-5B48-9035-47B5B740936F}" sibTransId="{564D7329-BD6B-264D-ADBB-105BBEF9905D}"/>
    <dgm:cxn modelId="{FAB6D061-9D30-4580-BBA1-C46292D88990}" type="presOf" srcId="{880B4136-9F38-4149-AD36-5ECAB4C96F71}" destId="{42F39484-3BAA-1647-BE78-23D37EEE0D81}" srcOrd="0" destOrd="0" presId="urn:microsoft.com/office/officeart/2008/layout/VerticalCurvedList"/>
    <dgm:cxn modelId="{BB74CF67-D141-2442-B807-45E2E0276F8B}" srcId="{F8DCD123-A7A2-5743-AC21-E15E9F734E96}" destId="{43547B86-0122-084C-A845-975E43F90E0B}" srcOrd="3" destOrd="0" parTransId="{514EE080-5281-3243-B3F2-67843F03F2F7}" sibTransId="{77085E03-DC1D-B143-A49C-09C7D6B45AC8}"/>
    <dgm:cxn modelId="{18395DA8-19D8-4D76-9566-C1C18E39CB3C}" type="presOf" srcId="{43547B86-0122-084C-A845-975E43F90E0B}" destId="{B80A2A0A-19F8-6D42-A4E2-A0695844884F}" srcOrd="0" destOrd="0" presId="urn:microsoft.com/office/officeart/2008/layout/VerticalCurvedList"/>
    <dgm:cxn modelId="{F289B1CC-44A7-40E1-9A1B-7DB8837E82B9}" type="presOf" srcId="{E785C265-04FF-5345-9D1B-B51D9F261ACB}" destId="{4E5E316E-80F4-1D41-83BF-D81008E500EE}" srcOrd="0" destOrd="0" presId="urn:microsoft.com/office/officeart/2008/layout/VerticalCurvedList"/>
    <dgm:cxn modelId="{A5D7FFE1-345D-448C-A3A9-3FB349677608}" type="presOf" srcId="{DF44039F-A808-154C-9A31-7153210BB04A}" destId="{F3115A9A-273A-C24E-9E5E-CE8F5AB40C8D}" srcOrd="0" destOrd="0" presId="urn:microsoft.com/office/officeart/2008/layout/VerticalCurvedList"/>
    <dgm:cxn modelId="{0C8B43E5-F932-43D6-A4BA-00678FEC7500}" type="presOf" srcId="{0F7762F4-8EFF-0142-8544-60AD6CF14474}" destId="{74B69CB5-0D8F-BA48-9E5E-4ED0ADE720D8}" srcOrd="0" destOrd="0" presId="urn:microsoft.com/office/officeart/2008/layout/VerticalCurvedList"/>
    <dgm:cxn modelId="{C661ABF5-6433-471B-9E17-D673CA248179}" type="presOf" srcId="{F8DCD123-A7A2-5743-AC21-E15E9F734E96}" destId="{2B32E845-5E31-0940-9085-72880C3DDEE8}" srcOrd="0" destOrd="0" presId="urn:microsoft.com/office/officeart/2008/layout/VerticalCurvedList"/>
    <dgm:cxn modelId="{904E26FC-D6BD-DE4E-BBD8-9F5717B7D8FA}" srcId="{F8DCD123-A7A2-5743-AC21-E15E9F734E96}" destId="{880B4136-9F38-4149-AD36-5ECAB4C96F71}" srcOrd="0" destOrd="0" parTransId="{04FD0599-2A84-FB4E-85C7-E408FF8D505D}" sibTransId="{DF44039F-A808-154C-9A31-7153210BB04A}"/>
    <dgm:cxn modelId="{CCEF27DD-FADB-4634-9096-87510F10F40F}" type="presParOf" srcId="{2B32E845-5E31-0940-9085-72880C3DDEE8}" destId="{B4902AD1-9409-6249-8E78-F0EE35B70171}" srcOrd="0" destOrd="0" presId="urn:microsoft.com/office/officeart/2008/layout/VerticalCurvedList"/>
    <dgm:cxn modelId="{78530BF7-CDA1-4D76-B4FB-3A2F7D73AE5D}" type="presParOf" srcId="{B4902AD1-9409-6249-8E78-F0EE35B70171}" destId="{6E860878-30C9-C449-8833-C4B854BD5591}" srcOrd="0" destOrd="0" presId="urn:microsoft.com/office/officeart/2008/layout/VerticalCurvedList"/>
    <dgm:cxn modelId="{22828952-3CF0-4D70-9BF6-7F51A1724106}" type="presParOf" srcId="{6E860878-30C9-C449-8833-C4B854BD5591}" destId="{FFE73031-BA4E-F74C-AD02-38ED38E44320}" srcOrd="0" destOrd="0" presId="urn:microsoft.com/office/officeart/2008/layout/VerticalCurvedList"/>
    <dgm:cxn modelId="{1566ADD2-0622-4560-AB98-8F6BA059F9A6}" type="presParOf" srcId="{6E860878-30C9-C449-8833-C4B854BD5591}" destId="{F3115A9A-273A-C24E-9E5E-CE8F5AB40C8D}" srcOrd="1" destOrd="0" presId="urn:microsoft.com/office/officeart/2008/layout/VerticalCurvedList"/>
    <dgm:cxn modelId="{F3B2AF46-2A58-46CA-9318-1D01A6390CF2}" type="presParOf" srcId="{6E860878-30C9-C449-8833-C4B854BD5591}" destId="{F77F5F4D-7D01-4546-BE5B-6412A1B83FE8}" srcOrd="2" destOrd="0" presId="urn:microsoft.com/office/officeart/2008/layout/VerticalCurvedList"/>
    <dgm:cxn modelId="{1F320D36-08B0-4FF9-8108-B03DA0339E4B}" type="presParOf" srcId="{6E860878-30C9-C449-8833-C4B854BD5591}" destId="{8F8FAB1D-5872-184B-B94F-94AB5367B23D}" srcOrd="3" destOrd="0" presId="urn:microsoft.com/office/officeart/2008/layout/VerticalCurvedList"/>
    <dgm:cxn modelId="{58240D75-462F-4412-A8D5-E4858FB44265}" type="presParOf" srcId="{B4902AD1-9409-6249-8E78-F0EE35B70171}" destId="{42F39484-3BAA-1647-BE78-23D37EEE0D81}" srcOrd="1" destOrd="0" presId="urn:microsoft.com/office/officeart/2008/layout/VerticalCurvedList"/>
    <dgm:cxn modelId="{971F76BF-959E-47D9-B6DD-C80BF5A6A845}" type="presParOf" srcId="{B4902AD1-9409-6249-8E78-F0EE35B70171}" destId="{2B124EAD-53FE-884F-8C5C-35925F7217DF}" srcOrd="2" destOrd="0" presId="urn:microsoft.com/office/officeart/2008/layout/VerticalCurvedList"/>
    <dgm:cxn modelId="{24DC1EF0-8C37-48F1-90F5-986C1E247315}" type="presParOf" srcId="{2B124EAD-53FE-884F-8C5C-35925F7217DF}" destId="{7DB49859-BD17-F24C-85D3-B4987FB19F23}" srcOrd="0" destOrd="0" presId="urn:microsoft.com/office/officeart/2008/layout/VerticalCurvedList"/>
    <dgm:cxn modelId="{20559475-9022-4E49-B0E1-C0C71339FF77}" type="presParOf" srcId="{B4902AD1-9409-6249-8E78-F0EE35B70171}" destId="{74B69CB5-0D8F-BA48-9E5E-4ED0ADE720D8}" srcOrd="3" destOrd="0" presId="urn:microsoft.com/office/officeart/2008/layout/VerticalCurvedList"/>
    <dgm:cxn modelId="{050946A9-F5F1-4B8C-B6FB-D3762F5E82F5}" type="presParOf" srcId="{B4902AD1-9409-6249-8E78-F0EE35B70171}" destId="{F3621453-1FC2-894C-960B-E30A038A15CE}" srcOrd="4" destOrd="0" presId="urn:microsoft.com/office/officeart/2008/layout/VerticalCurvedList"/>
    <dgm:cxn modelId="{DF6160F2-9937-4CA5-AED7-EFE5B3CA85A8}" type="presParOf" srcId="{F3621453-1FC2-894C-960B-E30A038A15CE}" destId="{E5B7EE61-A906-FF48-9196-83B87A85CCDF}" srcOrd="0" destOrd="0" presId="urn:microsoft.com/office/officeart/2008/layout/VerticalCurvedList"/>
    <dgm:cxn modelId="{B785FE62-9998-451F-AEFF-8092C3D56799}" type="presParOf" srcId="{B4902AD1-9409-6249-8E78-F0EE35B70171}" destId="{4E5E316E-80F4-1D41-83BF-D81008E500EE}" srcOrd="5" destOrd="0" presId="urn:microsoft.com/office/officeart/2008/layout/VerticalCurvedList"/>
    <dgm:cxn modelId="{E9334E50-26DB-4F16-BF09-FE494FE7B4C3}" type="presParOf" srcId="{B4902AD1-9409-6249-8E78-F0EE35B70171}" destId="{B73E75DE-2A37-8542-9E65-D88B6CE534A0}" srcOrd="6" destOrd="0" presId="urn:microsoft.com/office/officeart/2008/layout/VerticalCurvedList"/>
    <dgm:cxn modelId="{D15133D0-7FEE-471E-893C-0DAD136A3802}" type="presParOf" srcId="{B73E75DE-2A37-8542-9E65-D88B6CE534A0}" destId="{5E822DCF-EBCF-674B-9AFA-D9770CA421A3}" srcOrd="0" destOrd="0" presId="urn:microsoft.com/office/officeart/2008/layout/VerticalCurvedList"/>
    <dgm:cxn modelId="{7B2046B0-D018-478E-ADAC-0363C7CD0BDB}" type="presParOf" srcId="{B4902AD1-9409-6249-8E78-F0EE35B70171}" destId="{B80A2A0A-19F8-6D42-A4E2-A0695844884F}" srcOrd="7" destOrd="0" presId="urn:microsoft.com/office/officeart/2008/layout/VerticalCurvedList"/>
    <dgm:cxn modelId="{24EE1B6B-364D-478C-970A-4032C26B41C1}" type="presParOf" srcId="{B4902AD1-9409-6249-8E78-F0EE35B70171}" destId="{579678A8-57EE-D641-91F7-EAF16A84AB68}" srcOrd="8" destOrd="0" presId="urn:microsoft.com/office/officeart/2008/layout/VerticalCurvedList"/>
    <dgm:cxn modelId="{D992B343-67B5-49FA-A8F0-7A3E43BF1C51}" type="presParOf" srcId="{579678A8-57EE-D641-91F7-EAF16A84AB68}" destId="{F703611D-43C6-1B47-99EC-32BF9C12BA2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F90202-E4EC-564E-9702-464C62F2A0DE}" type="doc">
      <dgm:prSet loTypeId="urn:microsoft.com/office/officeart/2008/layout/VerticalCurvedList" loCatId="" qsTypeId="urn:microsoft.com/office/officeart/2005/8/quickstyle/simple1" qsCatId="simple" csTypeId="urn:microsoft.com/office/officeart/2005/8/colors/accent1_3" csCatId="accent1" phldr="1"/>
      <dgm:spPr/>
      <dgm:t>
        <a:bodyPr/>
        <a:lstStyle/>
        <a:p>
          <a:endParaRPr lang="it-IT"/>
        </a:p>
      </dgm:t>
    </dgm:pt>
    <dgm:pt modelId="{4C2E020B-D78C-CE4E-AFB3-9DAAA638E2C2}">
      <dgm:prSet phldrT="[Testo]"/>
      <dgm:spPr/>
      <dgm:t>
        <a:bodyPr/>
        <a:lstStyle/>
        <a:p>
          <a:r>
            <a:rPr lang="it-IT" dirty="0" err="1"/>
            <a:t>Implement</a:t>
          </a:r>
          <a:r>
            <a:rPr lang="it-IT" dirty="0"/>
            <a:t> </a:t>
          </a:r>
          <a:r>
            <a:rPr lang="it-IT" dirty="0" err="1"/>
            <a:t>interoperability</a:t>
          </a:r>
          <a:r>
            <a:rPr lang="it-IT" dirty="0"/>
            <a:t> </a:t>
          </a:r>
          <a:r>
            <a:rPr lang="it-IT" dirty="0" err="1"/>
            <a:t>with</a:t>
          </a:r>
          <a:r>
            <a:rPr lang="it-IT" dirty="0"/>
            <a:t> service </a:t>
          </a:r>
          <a:r>
            <a:rPr lang="it-IT" dirty="0" err="1"/>
            <a:t>protocols</a:t>
          </a:r>
          <a:r>
            <a:rPr lang="it-IT" dirty="0"/>
            <a:t>/</a:t>
          </a:r>
          <a:r>
            <a:rPr lang="it-IT" dirty="0" err="1"/>
            <a:t>APIs</a:t>
          </a:r>
          <a:r>
            <a:rPr lang="it-IT" dirty="0"/>
            <a:t> </a:t>
          </a:r>
          <a:r>
            <a:rPr lang="it-IT" dirty="0" err="1"/>
            <a:t>utilized</a:t>
          </a:r>
          <a:r>
            <a:rPr lang="it-IT" dirty="0"/>
            <a:t> </a:t>
          </a:r>
          <a:r>
            <a:rPr lang="it-IT" dirty="0" err="1"/>
            <a:t>by</a:t>
          </a:r>
          <a:r>
            <a:rPr lang="it-IT" dirty="0"/>
            <a:t> the Data </a:t>
          </a:r>
          <a:r>
            <a:rPr lang="it-IT" dirty="0" err="1"/>
            <a:t>Nodes</a:t>
          </a:r>
          <a:endParaRPr lang="it-IT" dirty="0"/>
        </a:p>
      </dgm:t>
    </dgm:pt>
    <dgm:pt modelId="{FA30458D-91B6-6B42-A481-473E541224D4}" type="parTrans" cxnId="{7035EF7B-525A-6B45-B877-B9EFC454B2F7}">
      <dgm:prSet/>
      <dgm:spPr/>
      <dgm:t>
        <a:bodyPr/>
        <a:lstStyle/>
        <a:p>
          <a:endParaRPr lang="it-IT"/>
        </a:p>
      </dgm:t>
    </dgm:pt>
    <dgm:pt modelId="{9CE45193-AA78-2D4C-93F5-FF01868700D2}" type="sibTrans" cxnId="{7035EF7B-525A-6B45-B877-B9EFC454B2F7}">
      <dgm:prSet/>
      <dgm:spPr/>
      <dgm:t>
        <a:bodyPr/>
        <a:lstStyle/>
        <a:p>
          <a:endParaRPr lang="it-IT"/>
        </a:p>
      </dgm:t>
    </dgm:pt>
    <dgm:pt modelId="{2638B153-EA63-9949-8BDF-D137635BD42A}">
      <dgm:prSet/>
      <dgm:spPr/>
      <dgm:t>
        <a:bodyPr/>
        <a:lstStyle/>
        <a:p>
          <a:r>
            <a:rPr lang="it-IT" dirty="0" err="1"/>
            <a:t>Publish</a:t>
          </a:r>
          <a:r>
            <a:rPr lang="it-IT" dirty="0"/>
            <a:t> service </a:t>
          </a:r>
          <a:r>
            <a:rPr lang="it-IT" dirty="0" err="1"/>
            <a:t>protocols</a:t>
          </a:r>
          <a:r>
            <a:rPr lang="it-IT" dirty="0"/>
            <a:t>/</a:t>
          </a:r>
          <a:r>
            <a:rPr lang="it-IT" dirty="0" err="1"/>
            <a:t>APIs</a:t>
          </a:r>
          <a:r>
            <a:rPr lang="it-IT" dirty="0"/>
            <a:t> </a:t>
          </a:r>
          <a:r>
            <a:rPr lang="it-IT" dirty="0" err="1"/>
            <a:t>required</a:t>
          </a:r>
          <a:r>
            <a:rPr lang="it-IT" dirty="0"/>
            <a:t> </a:t>
          </a:r>
          <a:r>
            <a:rPr lang="it-IT" dirty="0" err="1"/>
            <a:t>by</a:t>
          </a:r>
          <a:r>
            <a:rPr lang="it-IT" dirty="0"/>
            <a:t> Client </a:t>
          </a:r>
          <a:r>
            <a:rPr lang="it-IT" dirty="0" err="1"/>
            <a:t>Applcations</a:t>
          </a:r>
          <a:endParaRPr lang="it-IT" dirty="0"/>
        </a:p>
      </dgm:t>
    </dgm:pt>
    <dgm:pt modelId="{46F43EFF-7470-344C-9077-9D49472FB4E4}" type="parTrans" cxnId="{7C0704A5-8CD5-4647-AAB4-6DB6A756E4FB}">
      <dgm:prSet/>
      <dgm:spPr/>
      <dgm:t>
        <a:bodyPr/>
        <a:lstStyle/>
        <a:p>
          <a:endParaRPr lang="it-IT"/>
        </a:p>
      </dgm:t>
    </dgm:pt>
    <dgm:pt modelId="{3D244F36-5883-1440-A35D-80B188622B18}" type="sibTrans" cxnId="{7C0704A5-8CD5-4647-AAB4-6DB6A756E4FB}">
      <dgm:prSet/>
      <dgm:spPr/>
      <dgm:t>
        <a:bodyPr/>
        <a:lstStyle/>
        <a:p>
          <a:endParaRPr lang="it-IT"/>
        </a:p>
      </dgm:t>
    </dgm:pt>
    <dgm:pt modelId="{52C6941F-3077-2E4E-A9B8-2950960A5142}">
      <dgm:prSet/>
      <dgm:spPr/>
      <dgm:t>
        <a:bodyPr/>
        <a:lstStyle/>
        <a:p>
          <a:r>
            <a:rPr lang="it-IT" dirty="0" err="1"/>
            <a:t>Metadata</a:t>
          </a:r>
          <a:r>
            <a:rPr lang="it-IT" dirty="0"/>
            <a:t> </a:t>
          </a:r>
          <a:r>
            <a:rPr lang="it-IT" dirty="0" err="1"/>
            <a:t>mapping</a:t>
          </a:r>
          <a:endParaRPr lang="it-IT" dirty="0"/>
        </a:p>
      </dgm:t>
    </dgm:pt>
    <dgm:pt modelId="{C5E060EC-1446-464D-B1C9-DA1720F71D26}" type="parTrans" cxnId="{B1AEEB5D-2CBE-C540-9F17-A06856A2247C}">
      <dgm:prSet/>
      <dgm:spPr/>
      <dgm:t>
        <a:bodyPr/>
        <a:lstStyle/>
        <a:p>
          <a:endParaRPr lang="it-IT"/>
        </a:p>
      </dgm:t>
    </dgm:pt>
    <dgm:pt modelId="{E4B076EE-FDC0-6945-A025-DDA701D59A28}" type="sibTrans" cxnId="{B1AEEB5D-2CBE-C540-9F17-A06856A2247C}">
      <dgm:prSet/>
      <dgm:spPr/>
      <dgm:t>
        <a:bodyPr/>
        <a:lstStyle/>
        <a:p>
          <a:endParaRPr lang="it-IT"/>
        </a:p>
      </dgm:t>
    </dgm:pt>
    <dgm:pt modelId="{8047BCCB-65AF-F24B-9BA6-7E4E6F75AE34}">
      <dgm:prSet/>
      <dgm:spPr/>
      <dgm:t>
        <a:bodyPr/>
        <a:lstStyle/>
        <a:p>
          <a:r>
            <a:rPr lang="it-IT" dirty="0"/>
            <a:t>Data </a:t>
          </a:r>
          <a:r>
            <a:rPr lang="it-IT" dirty="0" err="1"/>
            <a:t>transformation</a:t>
          </a:r>
          <a:endParaRPr lang="it-IT" dirty="0"/>
        </a:p>
      </dgm:t>
    </dgm:pt>
    <dgm:pt modelId="{2DD3B438-1D47-D74D-A331-54B34D5460F2}" type="parTrans" cxnId="{5051DB2C-E55B-1F4F-A3B1-B27CE7EDB50B}">
      <dgm:prSet/>
      <dgm:spPr/>
      <dgm:t>
        <a:bodyPr/>
        <a:lstStyle/>
        <a:p>
          <a:endParaRPr lang="it-IT"/>
        </a:p>
      </dgm:t>
    </dgm:pt>
    <dgm:pt modelId="{D8E7A5D8-55EB-6947-8399-7923A6E27385}" type="sibTrans" cxnId="{5051DB2C-E55B-1F4F-A3B1-B27CE7EDB50B}">
      <dgm:prSet/>
      <dgm:spPr/>
      <dgm:t>
        <a:bodyPr/>
        <a:lstStyle/>
        <a:p>
          <a:endParaRPr lang="it-IT"/>
        </a:p>
      </dgm:t>
    </dgm:pt>
    <dgm:pt modelId="{A7214251-F578-E34A-ABD2-1765BDFBEB56}" type="pres">
      <dgm:prSet presAssocID="{8DF90202-E4EC-564E-9702-464C62F2A0DE}" presName="Name0" presStyleCnt="0">
        <dgm:presLayoutVars>
          <dgm:chMax val="7"/>
          <dgm:chPref val="7"/>
          <dgm:dir/>
        </dgm:presLayoutVars>
      </dgm:prSet>
      <dgm:spPr/>
    </dgm:pt>
    <dgm:pt modelId="{5B8B8E06-3C2B-0747-AC40-6BDBFDCC383F}" type="pres">
      <dgm:prSet presAssocID="{8DF90202-E4EC-564E-9702-464C62F2A0DE}" presName="Name1" presStyleCnt="0"/>
      <dgm:spPr/>
    </dgm:pt>
    <dgm:pt modelId="{5522EE25-9179-CC43-9C39-658AB8FB1F8A}" type="pres">
      <dgm:prSet presAssocID="{8DF90202-E4EC-564E-9702-464C62F2A0DE}" presName="cycle" presStyleCnt="0"/>
      <dgm:spPr/>
    </dgm:pt>
    <dgm:pt modelId="{9FC3FB2B-66CD-7C4F-866E-31BE921FCE6F}" type="pres">
      <dgm:prSet presAssocID="{8DF90202-E4EC-564E-9702-464C62F2A0DE}" presName="srcNode" presStyleLbl="node1" presStyleIdx="0" presStyleCnt="4"/>
      <dgm:spPr/>
    </dgm:pt>
    <dgm:pt modelId="{DF872B2C-DB15-5C4F-B939-8AD16B109703}" type="pres">
      <dgm:prSet presAssocID="{8DF90202-E4EC-564E-9702-464C62F2A0DE}" presName="conn" presStyleLbl="parChTrans1D2" presStyleIdx="0" presStyleCnt="1"/>
      <dgm:spPr/>
    </dgm:pt>
    <dgm:pt modelId="{E0EF2516-B007-164F-B9BE-95A5B772CA31}" type="pres">
      <dgm:prSet presAssocID="{8DF90202-E4EC-564E-9702-464C62F2A0DE}" presName="extraNode" presStyleLbl="node1" presStyleIdx="0" presStyleCnt="4"/>
      <dgm:spPr/>
    </dgm:pt>
    <dgm:pt modelId="{8F313755-F4C0-2E41-BF64-0B7BE2650C26}" type="pres">
      <dgm:prSet presAssocID="{8DF90202-E4EC-564E-9702-464C62F2A0DE}" presName="dstNode" presStyleLbl="node1" presStyleIdx="0" presStyleCnt="4"/>
      <dgm:spPr/>
    </dgm:pt>
    <dgm:pt modelId="{236D22BE-16A3-714F-A04E-35DED07162FB}" type="pres">
      <dgm:prSet presAssocID="{4C2E020B-D78C-CE4E-AFB3-9DAAA638E2C2}" presName="text_1" presStyleLbl="node1" presStyleIdx="0" presStyleCnt="4">
        <dgm:presLayoutVars>
          <dgm:bulletEnabled val="1"/>
        </dgm:presLayoutVars>
      </dgm:prSet>
      <dgm:spPr/>
    </dgm:pt>
    <dgm:pt modelId="{4D33136A-4A8C-AB48-840B-19D3656639EC}" type="pres">
      <dgm:prSet presAssocID="{4C2E020B-D78C-CE4E-AFB3-9DAAA638E2C2}" presName="accent_1" presStyleCnt="0"/>
      <dgm:spPr/>
    </dgm:pt>
    <dgm:pt modelId="{7C6296EB-DBD7-D34D-9483-86CD7E39F47D}" type="pres">
      <dgm:prSet presAssocID="{4C2E020B-D78C-CE4E-AFB3-9DAAA638E2C2}" presName="accentRepeatNode" presStyleLbl="solidFgAcc1" presStyleIdx="0" presStyleCnt="4"/>
      <dgm:spPr/>
    </dgm:pt>
    <dgm:pt modelId="{7BD45C00-F9E7-2046-A285-0D97821D7332}" type="pres">
      <dgm:prSet presAssocID="{2638B153-EA63-9949-8BDF-D137635BD42A}" presName="text_2" presStyleLbl="node1" presStyleIdx="1" presStyleCnt="4">
        <dgm:presLayoutVars>
          <dgm:bulletEnabled val="1"/>
        </dgm:presLayoutVars>
      </dgm:prSet>
      <dgm:spPr/>
    </dgm:pt>
    <dgm:pt modelId="{E071668E-14A3-7C41-9CB5-041EC7A0F0B8}" type="pres">
      <dgm:prSet presAssocID="{2638B153-EA63-9949-8BDF-D137635BD42A}" presName="accent_2" presStyleCnt="0"/>
      <dgm:spPr/>
    </dgm:pt>
    <dgm:pt modelId="{3D7C91C0-4126-9546-B6FD-C0856C609A36}" type="pres">
      <dgm:prSet presAssocID="{2638B153-EA63-9949-8BDF-D137635BD42A}" presName="accentRepeatNode" presStyleLbl="solidFgAcc1" presStyleIdx="1" presStyleCnt="4"/>
      <dgm:spPr/>
    </dgm:pt>
    <dgm:pt modelId="{2D598E94-4E17-6146-BA72-CBEAC547CCF1}" type="pres">
      <dgm:prSet presAssocID="{52C6941F-3077-2E4E-A9B8-2950960A5142}" presName="text_3" presStyleLbl="node1" presStyleIdx="2" presStyleCnt="4">
        <dgm:presLayoutVars>
          <dgm:bulletEnabled val="1"/>
        </dgm:presLayoutVars>
      </dgm:prSet>
      <dgm:spPr/>
    </dgm:pt>
    <dgm:pt modelId="{F1F554A1-1445-0A47-8105-0307657EBF7C}" type="pres">
      <dgm:prSet presAssocID="{52C6941F-3077-2E4E-A9B8-2950960A5142}" presName="accent_3" presStyleCnt="0"/>
      <dgm:spPr/>
    </dgm:pt>
    <dgm:pt modelId="{836EB642-8D23-C94A-8278-A76343B44987}" type="pres">
      <dgm:prSet presAssocID="{52C6941F-3077-2E4E-A9B8-2950960A5142}" presName="accentRepeatNode" presStyleLbl="solidFgAcc1" presStyleIdx="2" presStyleCnt="4"/>
      <dgm:spPr/>
    </dgm:pt>
    <dgm:pt modelId="{581599CB-EC88-3046-A2A5-E9A5A890A4C1}" type="pres">
      <dgm:prSet presAssocID="{8047BCCB-65AF-F24B-9BA6-7E4E6F75AE34}" presName="text_4" presStyleLbl="node1" presStyleIdx="3" presStyleCnt="4">
        <dgm:presLayoutVars>
          <dgm:bulletEnabled val="1"/>
        </dgm:presLayoutVars>
      </dgm:prSet>
      <dgm:spPr/>
    </dgm:pt>
    <dgm:pt modelId="{91E69EB5-9809-874C-9C44-328192628F3A}" type="pres">
      <dgm:prSet presAssocID="{8047BCCB-65AF-F24B-9BA6-7E4E6F75AE34}" presName="accent_4" presStyleCnt="0"/>
      <dgm:spPr/>
    </dgm:pt>
    <dgm:pt modelId="{81BAFA1C-6B08-C740-8F6C-EB656BFDDD6C}" type="pres">
      <dgm:prSet presAssocID="{8047BCCB-65AF-F24B-9BA6-7E4E6F75AE34}" presName="accentRepeatNode" presStyleLbl="solidFgAcc1" presStyleIdx="3" presStyleCnt="4"/>
      <dgm:spPr/>
    </dgm:pt>
  </dgm:ptLst>
  <dgm:cxnLst>
    <dgm:cxn modelId="{5051DB2C-E55B-1F4F-A3B1-B27CE7EDB50B}" srcId="{8DF90202-E4EC-564E-9702-464C62F2A0DE}" destId="{8047BCCB-65AF-F24B-9BA6-7E4E6F75AE34}" srcOrd="3" destOrd="0" parTransId="{2DD3B438-1D47-D74D-A331-54B34D5460F2}" sibTransId="{D8E7A5D8-55EB-6947-8399-7923A6E27385}"/>
    <dgm:cxn modelId="{EFC4F63E-310E-418A-8797-02775C12BA24}" type="presOf" srcId="{52C6941F-3077-2E4E-A9B8-2950960A5142}" destId="{2D598E94-4E17-6146-BA72-CBEAC547CCF1}" srcOrd="0" destOrd="0" presId="urn:microsoft.com/office/officeart/2008/layout/VerticalCurvedList"/>
    <dgm:cxn modelId="{28EC744B-4C6F-4F77-8248-87DE18E3E6FC}" type="presOf" srcId="{8DF90202-E4EC-564E-9702-464C62F2A0DE}" destId="{A7214251-F578-E34A-ABD2-1765BDFBEB56}" srcOrd="0" destOrd="0" presId="urn:microsoft.com/office/officeart/2008/layout/VerticalCurvedList"/>
    <dgm:cxn modelId="{7564724F-FA1B-4E31-884B-CC833F5AACD8}" type="presOf" srcId="{8047BCCB-65AF-F24B-9BA6-7E4E6F75AE34}" destId="{581599CB-EC88-3046-A2A5-E9A5A890A4C1}" srcOrd="0" destOrd="0" presId="urn:microsoft.com/office/officeart/2008/layout/VerticalCurvedList"/>
    <dgm:cxn modelId="{B1AEEB5D-2CBE-C540-9F17-A06856A2247C}" srcId="{8DF90202-E4EC-564E-9702-464C62F2A0DE}" destId="{52C6941F-3077-2E4E-A9B8-2950960A5142}" srcOrd="2" destOrd="0" parTransId="{C5E060EC-1446-464D-B1C9-DA1720F71D26}" sibTransId="{E4B076EE-FDC0-6945-A025-DDA701D59A28}"/>
    <dgm:cxn modelId="{7035EF7B-525A-6B45-B877-B9EFC454B2F7}" srcId="{8DF90202-E4EC-564E-9702-464C62F2A0DE}" destId="{4C2E020B-D78C-CE4E-AFB3-9DAAA638E2C2}" srcOrd="0" destOrd="0" parTransId="{FA30458D-91B6-6B42-A481-473E541224D4}" sibTransId="{9CE45193-AA78-2D4C-93F5-FF01868700D2}"/>
    <dgm:cxn modelId="{BE052385-B802-43B7-9A2A-6BF208A7E7A7}" type="presOf" srcId="{9CE45193-AA78-2D4C-93F5-FF01868700D2}" destId="{DF872B2C-DB15-5C4F-B939-8AD16B109703}" srcOrd="0" destOrd="0" presId="urn:microsoft.com/office/officeart/2008/layout/VerticalCurvedList"/>
    <dgm:cxn modelId="{B93708A3-754E-4C33-A7BC-404CEF4701DF}" type="presOf" srcId="{4C2E020B-D78C-CE4E-AFB3-9DAAA638E2C2}" destId="{236D22BE-16A3-714F-A04E-35DED07162FB}" srcOrd="0" destOrd="0" presId="urn:microsoft.com/office/officeart/2008/layout/VerticalCurvedList"/>
    <dgm:cxn modelId="{7C0704A5-8CD5-4647-AAB4-6DB6A756E4FB}" srcId="{8DF90202-E4EC-564E-9702-464C62F2A0DE}" destId="{2638B153-EA63-9949-8BDF-D137635BD42A}" srcOrd="1" destOrd="0" parTransId="{46F43EFF-7470-344C-9077-9D49472FB4E4}" sibTransId="{3D244F36-5883-1440-A35D-80B188622B18}"/>
    <dgm:cxn modelId="{39A234B3-E00C-4453-8059-0E883FBD4055}" type="presOf" srcId="{2638B153-EA63-9949-8BDF-D137635BD42A}" destId="{7BD45C00-F9E7-2046-A285-0D97821D7332}" srcOrd="0" destOrd="0" presId="urn:microsoft.com/office/officeart/2008/layout/VerticalCurvedList"/>
    <dgm:cxn modelId="{3E7E2454-11E7-41D8-ADCF-8A1CB6C1EB96}" type="presParOf" srcId="{A7214251-F578-E34A-ABD2-1765BDFBEB56}" destId="{5B8B8E06-3C2B-0747-AC40-6BDBFDCC383F}" srcOrd="0" destOrd="0" presId="urn:microsoft.com/office/officeart/2008/layout/VerticalCurvedList"/>
    <dgm:cxn modelId="{907FAFC2-6EC2-41A3-8ECC-3C533C510AEA}" type="presParOf" srcId="{5B8B8E06-3C2B-0747-AC40-6BDBFDCC383F}" destId="{5522EE25-9179-CC43-9C39-658AB8FB1F8A}" srcOrd="0" destOrd="0" presId="urn:microsoft.com/office/officeart/2008/layout/VerticalCurvedList"/>
    <dgm:cxn modelId="{B371E61C-EAFD-4804-A685-906294FDBC3D}" type="presParOf" srcId="{5522EE25-9179-CC43-9C39-658AB8FB1F8A}" destId="{9FC3FB2B-66CD-7C4F-866E-31BE921FCE6F}" srcOrd="0" destOrd="0" presId="urn:microsoft.com/office/officeart/2008/layout/VerticalCurvedList"/>
    <dgm:cxn modelId="{EBF88AA5-1BFE-4ABF-B2CD-1CD62DE6785B}" type="presParOf" srcId="{5522EE25-9179-CC43-9C39-658AB8FB1F8A}" destId="{DF872B2C-DB15-5C4F-B939-8AD16B109703}" srcOrd="1" destOrd="0" presId="urn:microsoft.com/office/officeart/2008/layout/VerticalCurvedList"/>
    <dgm:cxn modelId="{7C0F14D3-C3AA-4A57-93B7-186424F83498}" type="presParOf" srcId="{5522EE25-9179-CC43-9C39-658AB8FB1F8A}" destId="{E0EF2516-B007-164F-B9BE-95A5B772CA31}" srcOrd="2" destOrd="0" presId="urn:microsoft.com/office/officeart/2008/layout/VerticalCurvedList"/>
    <dgm:cxn modelId="{A09CBDBD-E3B8-4EC2-B57E-9FE422F09CA4}" type="presParOf" srcId="{5522EE25-9179-CC43-9C39-658AB8FB1F8A}" destId="{8F313755-F4C0-2E41-BF64-0B7BE2650C26}" srcOrd="3" destOrd="0" presId="urn:microsoft.com/office/officeart/2008/layout/VerticalCurvedList"/>
    <dgm:cxn modelId="{E91AE135-EA93-41E8-8421-2BABFD9E5D2F}" type="presParOf" srcId="{5B8B8E06-3C2B-0747-AC40-6BDBFDCC383F}" destId="{236D22BE-16A3-714F-A04E-35DED07162FB}" srcOrd="1" destOrd="0" presId="urn:microsoft.com/office/officeart/2008/layout/VerticalCurvedList"/>
    <dgm:cxn modelId="{75D6BC62-1A91-4116-A826-5CB5D1431910}" type="presParOf" srcId="{5B8B8E06-3C2B-0747-AC40-6BDBFDCC383F}" destId="{4D33136A-4A8C-AB48-840B-19D3656639EC}" srcOrd="2" destOrd="0" presId="urn:microsoft.com/office/officeart/2008/layout/VerticalCurvedList"/>
    <dgm:cxn modelId="{712148FA-4E64-423D-BEBA-3FED020E38C6}" type="presParOf" srcId="{4D33136A-4A8C-AB48-840B-19D3656639EC}" destId="{7C6296EB-DBD7-D34D-9483-86CD7E39F47D}" srcOrd="0" destOrd="0" presId="urn:microsoft.com/office/officeart/2008/layout/VerticalCurvedList"/>
    <dgm:cxn modelId="{37CF8743-0DEA-4DCF-8FB2-84779E15F0FC}" type="presParOf" srcId="{5B8B8E06-3C2B-0747-AC40-6BDBFDCC383F}" destId="{7BD45C00-F9E7-2046-A285-0D97821D7332}" srcOrd="3" destOrd="0" presId="urn:microsoft.com/office/officeart/2008/layout/VerticalCurvedList"/>
    <dgm:cxn modelId="{0BC6093D-1319-46D4-8A75-09068DA209A3}" type="presParOf" srcId="{5B8B8E06-3C2B-0747-AC40-6BDBFDCC383F}" destId="{E071668E-14A3-7C41-9CB5-041EC7A0F0B8}" srcOrd="4" destOrd="0" presId="urn:microsoft.com/office/officeart/2008/layout/VerticalCurvedList"/>
    <dgm:cxn modelId="{7723C7B7-631C-48FC-8DAE-9E9F8BB6C2BB}" type="presParOf" srcId="{E071668E-14A3-7C41-9CB5-041EC7A0F0B8}" destId="{3D7C91C0-4126-9546-B6FD-C0856C609A36}" srcOrd="0" destOrd="0" presId="urn:microsoft.com/office/officeart/2008/layout/VerticalCurvedList"/>
    <dgm:cxn modelId="{5BF8B8AB-B99F-49DA-9AC3-1296262AAC9E}" type="presParOf" srcId="{5B8B8E06-3C2B-0747-AC40-6BDBFDCC383F}" destId="{2D598E94-4E17-6146-BA72-CBEAC547CCF1}" srcOrd="5" destOrd="0" presId="urn:microsoft.com/office/officeart/2008/layout/VerticalCurvedList"/>
    <dgm:cxn modelId="{307E6821-09A2-4F31-9FED-271391F4A9DA}" type="presParOf" srcId="{5B8B8E06-3C2B-0747-AC40-6BDBFDCC383F}" destId="{F1F554A1-1445-0A47-8105-0307657EBF7C}" srcOrd="6" destOrd="0" presId="urn:microsoft.com/office/officeart/2008/layout/VerticalCurvedList"/>
    <dgm:cxn modelId="{18563310-5D6E-4CC4-AB57-28FE408EAB98}" type="presParOf" srcId="{F1F554A1-1445-0A47-8105-0307657EBF7C}" destId="{836EB642-8D23-C94A-8278-A76343B44987}" srcOrd="0" destOrd="0" presId="urn:microsoft.com/office/officeart/2008/layout/VerticalCurvedList"/>
    <dgm:cxn modelId="{84F58D69-08BA-4355-865E-3BE5CB00C5BE}" type="presParOf" srcId="{5B8B8E06-3C2B-0747-AC40-6BDBFDCC383F}" destId="{581599CB-EC88-3046-A2A5-E9A5A890A4C1}" srcOrd="7" destOrd="0" presId="urn:microsoft.com/office/officeart/2008/layout/VerticalCurvedList"/>
    <dgm:cxn modelId="{95F497DC-4BF5-4E75-BB15-2E78AE76C72A}" type="presParOf" srcId="{5B8B8E06-3C2B-0747-AC40-6BDBFDCC383F}" destId="{91E69EB5-9809-874C-9C44-328192628F3A}" srcOrd="8" destOrd="0" presId="urn:microsoft.com/office/officeart/2008/layout/VerticalCurvedList"/>
    <dgm:cxn modelId="{9683B554-F880-4C6C-911E-CCB1FF59F464}" type="presParOf" srcId="{91E69EB5-9809-874C-9C44-328192628F3A}" destId="{81BAFA1C-6B08-C740-8F6C-EB656BFDDD6C}"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F90202-E4EC-564E-9702-464C62F2A0DE}" type="doc">
      <dgm:prSet loTypeId="urn:microsoft.com/office/officeart/2008/layout/VerticalCurvedList" loCatId="" qsTypeId="urn:microsoft.com/office/officeart/2005/8/quickstyle/simple1" qsCatId="simple" csTypeId="urn:microsoft.com/office/officeart/2005/8/colors/accent3_3" csCatId="accent3" phldr="1"/>
      <dgm:spPr/>
      <dgm:t>
        <a:bodyPr/>
        <a:lstStyle/>
        <a:p>
          <a:endParaRPr lang="it-IT"/>
        </a:p>
      </dgm:t>
    </dgm:pt>
    <dgm:pt modelId="{4C2E020B-D78C-CE4E-AFB3-9DAAA638E2C2}">
      <dgm:prSet phldrT="[Testo]"/>
      <dgm:spPr/>
      <dgm:t>
        <a:bodyPr/>
        <a:lstStyle/>
        <a:p>
          <a:r>
            <a:rPr lang="it-IT" dirty="0" err="1"/>
            <a:t>Availability</a:t>
          </a:r>
          <a:endParaRPr lang="it-IT" dirty="0"/>
        </a:p>
      </dgm:t>
    </dgm:pt>
    <dgm:pt modelId="{FA30458D-91B6-6B42-A481-473E541224D4}" type="parTrans" cxnId="{7035EF7B-525A-6B45-B877-B9EFC454B2F7}">
      <dgm:prSet/>
      <dgm:spPr/>
      <dgm:t>
        <a:bodyPr/>
        <a:lstStyle/>
        <a:p>
          <a:endParaRPr lang="it-IT"/>
        </a:p>
      </dgm:t>
    </dgm:pt>
    <dgm:pt modelId="{9CE45193-AA78-2D4C-93F5-FF01868700D2}" type="sibTrans" cxnId="{7035EF7B-525A-6B45-B877-B9EFC454B2F7}">
      <dgm:prSet/>
      <dgm:spPr/>
      <dgm:t>
        <a:bodyPr/>
        <a:lstStyle/>
        <a:p>
          <a:endParaRPr lang="it-IT"/>
        </a:p>
      </dgm:t>
    </dgm:pt>
    <dgm:pt modelId="{BBAC1BAF-1057-4B4F-91D1-0CD2D90FD801}">
      <dgm:prSet/>
      <dgm:spPr/>
      <dgm:t>
        <a:bodyPr/>
        <a:lstStyle/>
        <a:p>
          <a:r>
            <a:rPr lang="it-IT" dirty="0" err="1"/>
            <a:t>Scalability</a:t>
          </a:r>
          <a:endParaRPr lang="it-IT" dirty="0"/>
        </a:p>
      </dgm:t>
    </dgm:pt>
    <dgm:pt modelId="{573B4F7A-6A50-B544-A00A-5966DD40E25E}" type="parTrans" cxnId="{92A16C79-B901-4C47-A937-690CE0D55388}">
      <dgm:prSet/>
      <dgm:spPr/>
      <dgm:t>
        <a:bodyPr/>
        <a:lstStyle/>
        <a:p>
          <a:endParaRPr lang="it-IT"/>
        </a:p>
      </dgm:t>
    </dgm:pt>
    <dgm:pt modelId="{AE2A2C68-B92E-7248-88EA-2FA262293DAA}" type="sibTrans" cxnId="{92A16C79-B901-4C47-A937-690CE0D55388}">
      <dgm:prSet/>
      <dgm:spPr/>
      <dgm:t>
        <a:bodyPr/>
        <a:lstStyle/>
        <a:p>
          <a:endParaRPr lang="it-IT"/>
        </a:p>
      </dgm:t>
    </dgm:pt>
    <dgm:pt modelId="{34A91582-7B59-ED4C-A91E-AAAAE349BFAC}">
      <dgm:prSet/>
      <dgm:spPr/>
      <dgm:t>
        <a:bodyPr/>
        <a:lstStyle/>
        <a:p>
          <a:r>
            <a:rPr lang="it-IT" dirty="0" err="1"/>
            <a:t>Response</a:t>
          </a:r>
          <a:r>
            <a:rPr lang="it-IT" dirty="0"/>
            <a:t> </a:t>
          </a:r>
          <a:r>
            <a:rPr lang="it-IT" dirty="0" err="1"/>
            <a:t>Time</a:t>
          </a:r>
          <a:endParaRPr lang="it-IT" dirty="0"/>
        </a:p>
      </dgm:t>
    </dgm:pt>
    <dgm:pt modelId="{8371863A-1745-1A4F-9376-385EF69B74E5}" type="parTrans" cxnId="{5B3D47D2-5822-934A-BB76-21B082D43909}">
      <dgm:prSet/>
      <dgm:spPr/>
      <dgm:t>
        <a:bodyPr/>
        <a:lstStyle/>
        <a:p>
          <a:endParaRPr lang="it-IT"/>
        </a:p>
      </dgm:t>
    </dgm:pt>
    <dgm:pt modelId="{097AA101-C056-D147-8983-AEC4CF4718AC}" type="sibTrans" cxnId="{5B3D47D2-5822-934A-BB76-21B082D43909}">
      <dgm:prSet/>
      <dgm:spPr/>
      <dgm:t>
        <a:bodyPr/>
        <a:lstStyle/>
        <a:p>
          <a:endParaRPr lang="it-IT"/>
        </a:p>
      </dgm:t>
    </dgm:pt>
    <dgm:pt modelId="{5526C2FB-E24B-6847-8A85-08C02AE2DA09}">
      <dgm:prSet/>
      <dgm:spPr/>
      <dgm:t>
        <a:bodyPr/>
        <a:lstStyle/>
        <a:p>
          <a:r>
            <a:rPr lang="it-IT" dirty="0" err="1"/>
            <a:t>Throughput</a:t>
          </a:r>
          <a:endParaRPr lang="it-IT" dirty="0"/>
        </a:p>
      </dgm:t>
    </dgm:pt>
    <dgm:pt modelId="{CDB800EE-6359-7F43-B303-CBC28E1F6D93}" type="parTrans" cxnId="{F81CD76E-9735-934F-9E37-CCB65D7BBFEB}">
      <dgm:prSet/>
      <dgm:spPr/>
      <dgm:t>
        <a:bodyPr/>
        <a:lstStyle/>
        <a:p>
          <a:endParaRPr lang="it-IT"/>
        </a:p>
      </dgm:t>
    </dgm:pt>
    <dgm:pt modelId="{737C0F24-2C80-7C44-BC63-504D1E625DD6}" type="sibTrans" cxnId="{F81CD76E-9735-934F-9E37-CCB65D7BBFEB}">
      <dgm:prSet/>
      <dgm:spPr/>
      <dgm:t>
        <a:bodyPr/>
        <a:lstStyle/>
        <a:p>
          <a:endParaRPr lang="it-IT"/>
        </a:p>
      </dgm:t>
    </dgm:pt>
    <dgm:pt modelId="{EE55D5C5-D1BE-4B40-B8D4-FD7494F939B7}">
      <dgm:prSet/>
      <dgm:spPr/>
      <dgm:t>
        <a:bodyPr/>
        <a:lstStyle/>
        <a:p>
          <a:r>
            <a:rPr lang="it-IT" dirty="0" err="1"/>
            <a:t>Extensibility</a:t>
          </a:r>
          <a:r>
            <a:rPr lang="it-IT" dirty="0"/>
            <a:t>, in </a:t>
          </a:r>
          <a:r>
            <a:rPr lang="it-IT" dirty="0" err="1"/>
            <a:t>particular</a:t>
          </a:r>
          <a:r>
            <a:rPr lang="it-IT" dirty="0"/>
            <a:t> </a:t>
          </a:r>
          <a:r>
            <a:rPr lang="it-IT" dirty="0" err="1"/>
            <a:t>to</a:t>
          </a:r>
          <a:r>
            <a:rPr lang="it-IT" dirty="0"/>
            <a:t> </a:t>
          </a:r>
          <a:r>
            <a:rPr lang="it-IT" dirty="0" err="1"/>
            <a:t>support</a:t>
          </a:r>
          <a:r>
            <a:rPr lang="it-IT" dirty="0"/>
            <a:t> </a:t>
          </a:r>
          <a:r>
            <a:rPr lang="it-IT" dirty="0" err="1"/>
            <a:t>new</a:t>
          </a:r>
          <a:r>
            <a:rPr lang="it-IT" dirty="0"/>
            <a:t> service </a:t>
          </a:r>
          <a:r>
            <a:rPr lang="it-IT" dirty="0" err="1"/>
            <a:t>protocols</a:t>
          </a:r>
          <a:r>
            <a:rPr lang="it-IT" dirty="0"/>
            <a:t>/</a:t>
          </a:r>
          <a:r>
            <a:rPr lang="it-IT" dirty="0" err="1"/>
            <a:t>APIs</a:t>
          </a:r>
          <a:r>
            <a:rPr lang="it-IT" dirty="0"/>
            <a:t>, </a:t>
          </a:r>
          <a:r>
            <a:rPr lang="it-IT" dirty="0" err="1"/>
            <a:t>metadata</a:t>
          </a:r>
          <a:r>
            <a:rPr lang="it-IT" dirty="0"/>
            <a:t> </a:t>
          </a:r>
          <a:r>
            <a:rPr lang="it-IT" dirty="0" err="1"/>
            <a:t>schemas</a:t>
          </a:r>
          <a:r>
            <a:rPr lang="it-IT" dirty="0"/>
            <a:t>/</a:t>
          </a:r>
          <a:r>
            <a:rPr lang="it-IT" dirty="0" err="1"/>
            <a:t>encodings</a:t>
          </a:r>
          <a:r>
            <a:rPr lang="it-IT" dirty="0"/>
            <a:t> and data </a:t>
          </a:r>
          <a:r>
            <a:rPr lang="it-IT" dirty="0" err="1"/>
            <a:t>models</a:t>
          </a:r>
          <a:r>
            <a:rPr lang="it-IT" dirty="0"/>
            <a:t>/</a:t>
          </a:r>
          <a:r>
            <a:rPr lang="it-IT" dirty="0" err="1"/>
            <a:t>formats</a:t>
          </a:r>
          <a:endParaRPr lang="it-IT" dirty="0"/>
        </a:p>
      </dgm:t>
    </dgm:pt>
    <dgm:pt modelId="{1AEB01F5-5946-1940-BF8F-78AEC128F293}" type="parTrans" cxnId="{C65A630D-919D-1A41-BEFC-3FBFCC790E5B}">
      <dgm:prSet/>
      <dgm:spPr/>
      <dgm:t>
        <a:bodyPr/>
        <a:lstStyle/>
        <a:p>
          <a:endParaRPr lang="it-IT"/>
        </a:p>
      </dgm:t>
    </dgm:pt>
    <dgm:pt modelId="{9C2D3422-25E1-1742-A2ED-28484A18BA21}" type="sibTrans" cxnId="{C65A630D-919D-1A41-BEFC-3FBFCC790E5B}">
      <dgm:prSet/>
      <dgm:spPr/>
      <dgm:t>
        <a:bodyPr/>
        <a:lstStyle/>
        <a:p>
          <a:endParaRPr lang="it-IT"/>
        </a:p>
      </dgm:t>
    </dgm:pt>
    <dgm:pt modelId="{A7214251-F578-E34A-ABD2-1765BDFBEB56}" type="pres">
      <dgm:prSet presAssocID="{8DF90202-E4EC-564E-9702-464C62F2A0DE}" presName="Name0" presStyleCnt="0">
        <dgm:presLayoutVars>
          <dgm:chMax val="7"/>
          <dgm:chPref val="7"/>
          <dgm:dir/>
        </dgm:presLayoutVars>
      </dgm:prSet>
      <dgm:spPr/>
    </dgm:pt>
    <dgm:pt modelId="{5B8B8E06-3C2B-0747-AC40-6BDBFDCC383F}" type="pres">
      <dgm:prSet presAssocID="{8DF90202-E4EC-564E-9702-464C62F2A0DE}" presName="Name1" presStyleCnt="0"/>
      <dgm:spPr/>
    </dgm:pt>
    <dgm:pt modelId="{5522EE25-9179-CC43-9C39-658AB8FB1F8A}" type="pres">
      <dgm:prSet presAssocID="{8DF90202-E4EC-564E-9702-464C62F2A0DE}" presName="cycle" presStyleCnt="0"/>
      <dgm:spPr/>
    </dgm:pt>
    <dgm:pt modelId="{9FC3FB2B-66CD-7C4F-866E-31BE921FCE6F}" type="pres">
      <dgm:prSet presAssocID="{8DF90202-E4EC-564E-9702-464C62F2A0DE}" presName="srcNode" presStyleLbl="node1" presStyleIdx="0" presStyleCnt="5"/>
      <dgm:spPr/>
    </dgm:pt>
    <dgm:pt modelId="{DF872B2C-DB15-5C4F-B939-8AD16B109703}" type="pres">
      <dgm:prSet presAssocID="{8DF90202-E4EC-564E-9702-464C62F2A0DE}" presName="conn" presStyleLbl="parChTrans1D2" presStyleIdx="0" presStyleCnt="1"/>
      <dgm:spPr/>
    </dgm:pt>
    <dgm:pt modelId="{E0EF2516-B007-164F-B9BE-95A5B772CA31}" type="pres">
      <dgm:prSet presAssocID="{8DF90202-E4EC-564E-9702-464C62F2A0DE}" presName="extraNode" presStyleLbl="node1" presStyleIdx="0" presStyleCnt="5"/>
      <dgm:spPr/>
    </dgm:pt>
    <dgm:pt modelId="{8F313755-F4C0-2E41-BF64-0B7BE2650C26}" type="pres">
      <dgm:prSet presAssocID="{8DF90202-E4EC-564E-9702-464C62F2A0DE}" presName="dstNode" presStyleLbl="node1" presStyleIdx="0" presStyleCnt="5"/>
      <dgm:spPr/>
    </dgm:pt>
    <dgm:pt modelId="{236D22BE-16A3-714F-A04E-35DED07162FB}" type="pres">
      <dgm:prSet presAssocID="{4C2E020B-D78C-CE4E-AFB3-9DAAA638E2C2}" presName="text_1" presStyleLbl="node1" presStyleIdx="0" presStyleCnt="5">
        <dgm:presLayoutVars>
          <dgm:bulletEnabled val="1"/>
        </dgm:presLayoutVars>
      </dgm:prSet>
      <dgm:spPr/>
    </dgm:pt>
    <dgm:pt modelId="{4D33136A-4A8C-AB48-840B-19D3656639EC}" type="pres">
      <dgm:prSet presAssocID="{4C2E020B-D78C-CE4E-AFB3-9DAAA638E2C2}" presName="accent_1" presStyleCnt="0"/>
      <dgm:spPr/>
    </dgm:pt>
    <dgm:pt modelId="{7C6296EB-DBD7-D34D-9483-86CD7E39F47D}" type="pres">
      <dgm:prSet presAssocID="{4C2E020B-D78C-CE4E-AFB3-9DAAA638E2C2}" presName="accentRepeatNode" presStyleLbl="solidFgAcc1" presStyleIdx="0" presStyleCnt="5"/>
      <dgm:spPr/>
    </dgm:pt>
    <dgm:pt modelId="{A1533CF9-0EFB-3E45-BC70-C247200ECC19}" type="pres">
      <dgm:prSet presAssocID="{BBAC1BAF-1057-4B4F-91D1-0CD2D90FD801}" presName="text_2" presStyleLbl="node1" presStyleIdx="1" presStyleCnt="5">
        <dgm:presLayoutVars>
          <dgm:bulletEnabled val="1"/>
        </dgm:presLayoutVars>
      </dgm:prSet>
      <dgm:spPr/>
    </dgm:pt>
    <dgm:pt modelId="{5EC8E716-81B0-3B48-90CC-FE22FF7E9084}" type="pres">
      <dgm:prSet presAssocID="{BBAC1BAF-1057-4B4F-91D1-0CD2D90FD801}" presName="accent_2" presStyleCnt="0"/>
      <dgm:spPr/>
    </dgm:pt>
    <dgm:pt modelId="{7D8DD9AC-5811-424F-84E6-B3D16834A61F}" type="pres">
      <dgm:prSet presAssocID="{BBAC1BAF-1057-4B4F-91D1-0CD2D90FD801}" presName="accentRepeatNode" presStyleLbl="solidFgAcc1" presStyleIdx="1" presStyleCnt="5"/>
      <dgm:spPr/>
    </dgm:pt>
    <dgm:pt modelId="{9466D60A-A98D-B541-A786-23869F7B5F09}" type="pres">
      <dgm:prSet presAssocID="{34A91582-7B59-ED4C-A91E-AAAAE349BFAC}" presName="text_3" presStyleLbl="node1" presStyleIdx="2" presStyleCnt="5">
        <dgm:presLayoutVars>
          <dgm:bulletEnabled val="1"/>
        </dgm:presLayoutVars>
      </dgm:prSet>
      <dgm:spPr/>
    </dgm:pt>
    <dgm:pt modelId="{AF276F6B-CC0C-844A-8045-B8477898936F}" type="pres">
      <dgm:prSet presAssocID="{34A91582-7B59-ED4C-A91E-AAAAE349BFAC}" presName="accent_3" presStyleCnt="0"/>
      <dgm:spPr/>
    </dgm:pt>
    <dgm:pt modelId="{2D9CDD61-FE8E-3747-A552-884978CA2BD0}" type="pres">
      <dgm:prSet presAssocID="{34A91582-7B59-ED4C-A91E-AAAAE349BFAC}" presName="accentRepeatNode" presStyleLbl="solidFgAcc1" presStyleIdx="2" presStyleCnt="5"/>
      <dgm:spPr/>
    </dgm:pt>
    <dgm:pt modelId="{E91FA33E-6D97-D747-B207-A11E046C44B5}" type="pres">
      <dgm:prSet presAssocID="{5526C2FB-E24B-6847-8A85-08C02AE2DA09}" presName="text_4" presStyleLbl="node1" presStyleIdx="3" presStyleCnt="5">
        <dgm:presLayoutVars>
          <dgm:bulletEnabled val="1"/>
        </dgm:presLayoutVars>
      </dgm:prSet>
      <dgm:spPr/>
    </dgm:pt>
    <dgm:pt modelId="{F8C920F6-D16A-944F-9071-711A057F4F25}" type="pres">
      <dgm:prSet presAssocID="{5526C2FB-E24B-6847-8A85-08C02AE2DA09}" presName="accent_4" presStyleCnt="0"/>
      <dgm:spPr/>
    </dgm:pt>
    <dgm:pt modelId="{59E91523-55CF-DC4F-9109-C5F4205B1900}" type="pres">
      <dgm:prSet presAssocID="{5526C2FB-E24B-6847-8A85-08C02AE2DA09}" presName="accentRepeatNode" presStyleLbl="solidFgAcc1" presStyleIdx="3" presStyleCnt="5"/>
      <dgm:spPr/>
    </dgm:pt>
    <dgm:pt modelId="{CB1D1CEF-4C24-5D4F-9405-3CD8EF0CFB10}" type="pres">
      <dgm:prSet presAssocID="{EE55D5C5-D1BE-4B40-B8D4-FD7494F939B7}" presName="text_5" presStyleLbl="node1" presStyleIdx="4" presStyleCnt="5">
        <dgm:presLayoutVars>
          <dgm:bulletEnabled val="1"/>
        </dgm:presLayoutVars>
      </dgm:prSet>
      <dgm:spPr/>
    </dgm:pt>
    <dgm:pt modelId="{7E3507BF-1B57-DF4F-8097-6F615A32FC80}" type="pres">
      <dgm:prSet presAssocID="{EE55D5C5-D1BE-4B40-B8D4-FD7494F939B7}" presName="accent_5" presStyleCnt="0"/>
      <dgm:spPr/>
    </dgm:pt>
    <dgm:pt modelId="{FF3267A9-495D-5A48-94D6-82C48A981096}" type="pres">
      <dgm:prSet presAssocID="{EE55D5C5-D1BE-4B40-B8D4-FD7494F939B7}" presName="accentRepeatNode" presStyleLbl="solidFgAcc1" presStyleIdx="4" presStyleCnt="5"/>
      <dgm:spPr/>
    </dgm:pt>
  </dgm:ptLst>
  <dgm:cxnLst>
    <dgm:cxn modelId="{C65A630D-919D-1A41-BEFC-3FBFCC790E5B}" srcId="{8DF90202-E4EC-564E-9702-464C62F2A0DE}" destId="{EE55D5C5-D1BE-4B40-B8D4-FD7494F939B7}" srcOrd="4" destOrd="0" parTransId="{1AEB01F5-5946-1940-BF8F-78AEC128F293}" sibTransId="{9C2D3422-25E1-1742-A2ED-28484A18BA21}"/>
    <dgm:cxn modelId="{7C73940F-969B-45AE-AB6E-E789C81A7D61}" type="presOf" srcId="{8DF90202-E4EC-564E-9702-464C62F2A0DE}" destId="{A7214251-F578-E34A-ABD2-1765BDFBEB56}" srcOrd="0" destOrd="0" presId="urn:microsoft.com/office/officeart/2008/layout/VerticalCurvedList"/>
    <dgm:cxn modelId="{460F6337-01C0-4841-99A1-36263987774D}" type="presOf" srcId="{4C2E020B-D78C-CE4E-AFB3-9DAAA638E2C2}" destId="{236D22BE-16A3-714F-A04E-35DED07162FB}" srcOrd="0" destOrd="0" presId="urn:microsoft.com/office/officeart/2008/layout/VerticalCurvedList"/>
    <dgm:cxn modelId="{408EBA4A-3BA0-4FBF-B4D2-5959BEBE0B69}" type="presOf" srcId="{5526C2FB-E24B-6847-8A85-08C02AE2DA09}" destId="{E91FA33E-6D97-D747-B207-A11E046C44B5}" srcOrd="0" destOrd="0" presId="urn:microsoft.com/office/officeart/2008/layout/VerticalCurvedList"/>
    <dgm:cxn modelId="{F81CD76E-9735-934F-9E37-CCB65D7BBFEB}" srcId="{8DF90202-E4EC-564E-9702-464C62F2A0DE}" destId="{5526C2FB-E24B-6847-8A85-08C02AE2DA09}" srcOrd="3" destOrd="0" parTransId="{CDB800EE-6359-7F43-B303-CBC28E1F6D93}" sibTransId="{737C0F24-2C80-7C44-BC63-504D1E625DD6}"/>
    <dgm:cxn modelId="{92A16C79-B901-4C47-A937-690CE0D55388}" srcId="{8DF90202-E4EC-564E-9702-464C62F2A0DE}" destId="{BBAC1BAF-1057-4B4F-91D1-0CD2D90FD801}" srcOrd="1" destOrd="0" parTransId="{573B4F7A-6A50-B544-A00A-5966DD40E25E}" sibTransId="{AE2A2C68-B92E-7248-88EA-2FA262293DAA}"/>
    <dgm:cxn modelId="{7035EF7B-525A-6B45-B877-B9EFC454B2F7}" srcId="{8DF90202-E4EC-564E-9702-464C62F2A0DE}" destId="{4C2E020B-D78C-CE4E-AFB3-9DAAA638E2C2}" srcOrd="0" destOrd="0" parTransId="{FA30458D-91B6-6B42-A481-473E541224D4}" sibTransId="{9CE45193-AA78-2D4C-93F5-FF01868700D2}"/>
    <dgm:cxn modelId="{6E0704AF-6FA9-409C-9BAB-01FE1FF99776}" type="presOf" srcId="{EE55D5C5-D1BE-4B40-B8D4-FD7494F939B7}" destId="{CB1D1CEF-4C24-5D4F-9405-3CD8EF0CFB10}" srcOrd="0" destOrd="0" presId="urn:microsoft.com/office/officeart/2008/layout/VerticalCurvedList"/>
    <dgm:cxn modelId="{CFBA0ACC-E9DA-4F83-A7DA-F45EF00922D6}" type="presOf" srcId="{BBAC1BAF-1057-4B4F-91D1-0CD2D90FD801}" destId="{A1533CF9-0EFB-3E45-BC70-C247200ECC19}" srcOrd="0" destOrd="0" presId="urn:microsoft.com/office/officeart/2008/layout/VerticalCurvedList"/>
    <dgm:cxn modelId="{61EE3FCE-C257-40A1-90E3-A10F7FFA2197}" type="presOf" srcId="{34A91582-7B59-ED4C-A91E-AAAAE349BFAC}" destId="{9466D60A-A98D-B541-A786-23869F7B5F09}" srcOrd="0" destOrd="0" presId="urn:microsoft.com/office/officeart/2008/layout/VerticalCurvedList"/>
    <dgm:cxn modelId="{5B3D47D2-5822-934A-BB76-21B082D43909}" srcId="{8DF90202-E4EC-564E-9702-464C62F2A0DE}" destId="{34A91582-7B59-ED4C-A91E-AAAAE349BFAC}" srcOrd="2" destOrd="0" parTransId="{8371863A-1745-1A4F-9376-385EF69B74E5}" sibTransId="{097AA101-C056-D147-8983-AEC4CF4718AC}"/>
    <dgm:cxn modelId="{02C58CE9-9889-4195-8E8F-43207BFE22D9}" type="presOf" srcId="{9CE45193-AA78-2D4C-93F5-FF01868700D2}" destId="{DF872B2C-DB15-5C4F-B939-8AD16B109703}" srcOrd="0" destOrd="0" presId="urn:microsoft.com/office/officeart/2008/layout/VerticalCurvedList"/>
    <dgm:cxn modelId="{2A032679-7CD9-45B1-A517-A41319559F93}" type="presParOf" srcId="{A7214251-F578-E34A-ABD2-1765BDFBEB56}" destId="{5B8B8E06-3C2B-0747-AC40-6BDBFDCC383F}" srcOrd="0" destOrd="0" presId="urn:microsoft.com/office/officeart/2008/layout/VerticalCurvedList"/>
    <dgm:cxn modelId="{DDF139CD-73DE-4354-A90D-64B52E620BB2}" type="presParOf" srcId="{5B8B8E06-3C2B-0747-AC40-6BDBFDCC383F}" destId="{5522EE25-9179-CC43-9C39-658AB8FB1F8A}" srcOrd="0" destOrd="0" presId="urn:microsoft.com/office/officeart/2008/layout/VerticalCurvedList"/>
    <dgm:cxn modelId="{E2644F9A-D31D-4069-9E7A-64ABCE454405}" type="presParOf" srcId="{5522EE25-9179-CC43-9C39-658AB8FB1F8A}" destId="{9FC3FB2B-66CD-7C4F-866E-31BE921FCE6F}" srcOrd="0" destOrd="0" presId="urn:microsoft.com/office/officeart/2008/layout/VerticalCurvedList"/>
    <dgm:cxn modelId="{59A900FD-8575-4831-A39A-96E1EE10E694}" type="presParOf" srcId="{5522EE25-9179-CC43-9C39-658AB8FB1F8A}" destId="{DF872B2C-DB15-5C4F-B939-8AD16B109703}" srcOrd="1" destOrd="0" presId="urn:microsoft.com/office/officeart/2008/layout/VerticalCurvedList"/>
    <dgm:cxn modelId="{17D590B5-C287-4BC5-A0FE-59E51D95681E}" type="presParOf" srcId="{5522EE25-9179-CC43-9C39-658AB8FB1F8A}" destId="{E0EF2516-B007-164F-B9BE-95A5B772CA31}" srcOrd="2" destOrd="0" presId="urn:microsoft.com/office/officeart/2008/layout/VerticalCurvedList"/>
    <dgm:cxn modelId="{67ED3264-11D4-4A75-8212-20ABDA424EEE}" type="presParOf" srcId="{5522EE25-9179-CC43-9C39-658AB8FB1F8A}" destId="{8F313755-F4C0-2E41-BF64-0B7BE2650C26}" srcOrd="3" destOrd="0" presId="urn:microsoft.com/office/officeart/2008/layout/VerticalCurvedList"/>
    <dgm:cxn modelId="{EE7ED58C-3B2C-4733-8897-065EEC30E7BF}" type="presParOf" srcId="{5B8B8E06-3C2B-0747-AC40-6BDBFDCC383F}" destId="{236D22BE-16A3-714F-A04E-35DED07162FB}" srcOrd="1" destOrd="0" presId="urn:microsoft.com/office/officeart/2008/layout/VerticalCurvedList"/>
    <dgm:cxn modelId="{CE54CF6C-99D7-41D4-9BEB-B9ABBA6C8A34}" type="presParOf" srcId="{5B8B8E06-3C2B-0747-AC40-6BDBFDCC383F}" destId="{4D33136A-4A8C-AB48-840B-19D3656639EC}" srcOrd="2" destOrd="0" presId="urn:microsoft.com/office/officeart/2008/layout/VerticalCurvedList"/>
    <dgm:cxn modelId="{0479A1B2-1990-4519-BB1A-EF48F0E32CD2}" type="presParOf" srcId="{4D33136A-4A8C-AB48-840B-19D3656639EC}" destId="{7C6296EB-DBD7-D34D-9483-86CD7E39F47D}" srcOrd="0" destOrd="0" presId="urn:microsoft.com/office/officeart/2008/layout/VerticalCurvedList"/>
    <dgm:cxn modelId="{1416E6E6-8708-49B7-9E36-11AFB88C9566}" type="presParOf" srcId="{5B8B8E06-3C2B-0747-AC40-6BDBFDCC383F}" destId="{A1533CF9-0EFB-3E45-BC70-C247200ECC19}" srcOrd="3" destOrd="0" presId="urn:microsoft.com/office/officeart/2008/layout/VerticalCurvedList"/>
    <dgm:cxn modelId="{6751C52E-C6D8-4465-9423-8E56EEA68C50}" type="presParOf" srcId="{5B8B8E06-3C2B-0747-AC40-6BDBFDCC383F}" destId="{5EC8E716-81B0-3B48-90CC-FE22FF7E9084}" srcOrd="4" destOrd="0" presId="urn:microsoft.com/office/officeart/2008/layout/VerticalCurvedList"/>
    <dgm:cxn modelId="{D685ECB7-2234-40E8-BC15-EA05C4F3AD2C}" type="presParOf" srcId="{5EC8E716-81B0-3B48-90CC-FE22FF7E9084}" destId="{7D8DD9AC-5811-424F-84E6-B3D16834A61F}" srcOrd="0" destOrd="0" presId="urn:microsoft.com/office/officeart/2008/layout/VerticalCurvedList"/>
    <dgm:cxn modelId="{D3F01579-FA9B-4CD0-A69B-07AC16B5FB76}" type="presParOf" srcId="{5B8B8E06-3C2B-0747-AC40-6BDBFDCC383F}" destId="{9466D60A-A98D-B541-A786-23869F7B5F09}" srcOrd="5" destOrd="0" presId="urn:microsoft.com/office/officeart/2008/layout/VerticalCurvedList"/>
    <dgm:cxn modelId="{AA446DE2-400F-40EC-AD4C-87150300BAEB}" type="presParOf" srcId="{5B8B8E06-3C2B-0747-AC40-6BDBFDCC383F}" destId="{AF276F6B-CC0C-844A-8045-B8477898936F}" srcOrd="6" destOrd="0" presId="urn:microsoft.com/office/officeart/2008/layout/VerticalCurvedList"/>
    <dgm:cxn modelId="{BB83BCE0-60A0-40F1-87DE-07DB9BBD2842}" type="presParOf" srcId="{AF276F6B-CC0C-844A-8045-B8477898936F}" destId="{2D9CDD61-FE8E-3747-A552-884978CA2BD0}" srcOrd="0" destOrd="0" presId="urn:microsoft.com/office/officeart/2008/layout/VerticalCurvedList"/>
    <dgm:cxn modelId="{138B684C-C577-4D75-B5CE-677F45C492F7}" type="presParOf" srcId="{5B8B8E06-3C2B-0747-AC40-6BDBFDCC383F}" destId="{E91FA33E-6D97-D747-B207-A11E046C44B5}" srcOrd="7" destOrd="0" presId="urn:microsoft.com/office/officeart/2008/layout/VerticalCurvedList"/>
    <dgm:cxn modelId="{0F993A5F-347C-41CE-825E-60729567D445}" type="presParOf" srcId="{5B8B8E06-3C2B-0747-AC40-6BDBFDCC383F}" destId="{F8C920F6-D16A-944F-9071-711A057F4F25}" srcOrd="8" destOrd="0" presId="urn:microsoft.com/office/officeart/2008/layout/VerticalCurvedList"/>
    <dgm:cxn modelId="{FB628ACC-8B9C-4F7A-A955-030FF6A665C9}" type="presParOf" srcId="{F8C920F6-D16A-944F-9071-711A057F4F25}" destId="{59E91523-55CF-DC4F-9109-C5F4205B1900}" srcOrd="0" destOrd="0" presId="urn:microsoft.com/office/officeart/2008/layout/VerticalCurvedList"/>
    <dgm:cxn modelId="{560B6170-18F0-4825-ACDE-65833D24C338}" type="presParOf" srcId="{5B8B8E06-3C2B-0747-AC40-6BDBFDCC383F}" destId="{CB1D1CEF-4C24-5D4F-9405-3CD8EF0CFB10}" srcOrd="9" destOrd="0" presId="urn:microsoft.com/office/officeart/2008/layout/VerticalCurvedList"/>
    <dgm:cxn modelId="{BDD97084-F892-46DA-BDCA-CBCBF48E2857}" type="presParOf" srcId="{5B8B8E06-3C2B-0747-AC40-6BDBFDCC383F}" destId="{7E3507BF-1B57-DF4F-8097-6F615A32FC80}" srcOrd="10" destOrd="0" presId="urn:microsoft.com/office/officeart/2008/layout/VerticalCurvedList"/>
    <dgm:cxn modelId="{FDF0A70F-8CE1-48A5-8E28-2EF66B3C966E}" type="presParOf" srcId="{7E3507BF-1B57-DF4F-8097-6F615A32FC80}" destId="{FF3267A9-495D-5A48-94D6-82C48A981096}"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564C46F-8CF5-DC48-9A8E-4BCCC75D547C}" type="doc">
      <dgm:prSet loTypeId="urn:microsoft.com/office/officeart/2005/8/layout/chevron1" loCatId="" qsTypeId="urn:microsoft.com/office/officeart/2005/8/quickstyle/simple1" qsCatId="simple" csTypeId="urn:microsoft.com/office/officeart/2005/8/colors/colorful2" csCatId="colorful" phldr="1"/>
      <dgm:spPr/>
    </dgm:pt>
    <dgm:pt modelId="{6D6A2CCF-41F9-0042-A189-F90830B4BEB6}">
      <dgm:prSet phldrT="[Testo]" custT="1"/>
      <dgm:spPr/>
      <dgm:t>
        <a:bodyPr/>
        <a:lstStyle/>
        <a:p>
          <a:r>
            <a:rPr lang="it-IT" sz="1600" dirty="0" err="1"/>
            <a:t>Publishes</a:t>
          </a:r>
          <a:r>
            <a:rPr lang="it-IT" sz="1600" dirty="0"/>
            <a:t> data</a:t>
          </a:r>
        </a:p>
      </dgm:t>
    </dgm:pt>
    <dgm:pt modelId="{1377D8FA-53EC-9644-876C-B77BC0CB8DFA}" type="parTrans" cxnId="{15468C3F-7A8E-EE40-A3E1-63FEF8381D82}">
      <dgm:prSet/>
      <dgm:spPr/>
      <dgm:t>
        <a:bodyPr/>
        <a:lstStyle/>
        <a:p>
          <a:endParaRPr lang="it-IT" sz="1600"/>
        </a:p>
      </dgm:t>
    </dgm:pt>
    <dgm:pt modelId="{A69C2899-3EDD-D143-AF02-854CF035DAFC}" type="sibTrans" cxnId="{15468C3F-7A8E-EE40-A3E1-63FEF8381D82}">
      <dgm:prSet/>
      <dgm:spPr/>
      <dgm:t>
        <a:bodyPr/>
        <a:lstStyle/>
        <a:p>
          <a:endParaRPr lang="it-IT" sz="1600"/>
        </a:p>
      </dgm:t>
    </dgm:pt>
    <dgm:pt modelId="{02E82DF3-49B7-604F-B36B-4AB93B534147}">
      <dgm:prSet phldrT="[Testo]" custT="1"/>
      <dgm:spPr/>
      <dgm:t>
        <a:bodyPr/>
        <a:lstStyle/>
        <a:p>
          <a:r>
            <a:rPr lang="it-IT" sz="1600" dirty="0" err="1"/>
            <a:t>Interoperability</a:t>
          </a:r>
          <a:r>
            <a:rPr lang="it-IT" sz="1600" dirty="0"/>
            <a:t> </a:t>
          </a:r>
          <a:r>
            <a:rPr lang="it-IT" sz="1600" dirty="0" err="1"/>
            <a:t>Tests</a:t>
          </a:r>
          <a:r>
            <a:rPr lang="it-IT" sz="1600" dirty="0"/>
            <a:t> </a:t>
          </a:r>
        </a:p>
      </dgm:t>
    </dgm:pt>
    <dgm:pt modelId="{D2E3538C-E6BB-6343-A7FC-039E7DBFD065}" type="parTrans" cxnId="{9A12EE5E-7A01-8942-8C3F-617C68E0B0E2}">
      <dgm:prSet/>
      <dgm:spPr/>
      <dgm:t>
        <a:bodyPr/>
        <a:lstStyle/>
        <a:p>
          <a:endParaRPr lang="it-IT" sz="1600"/>
        </a:p>
      </dgm:t>
    </dgm:pt>
    <dgm:pt modelId="{502AEF7F-735B-5E43-8A34-9A984089459A}" type="sibTrans" cxnId="{9A12EE5E-7A01-8942-8C3F-617C68E0B0E2}">
      <dgm:prSet/>
      <dgm:spPr/>
      <dgm:t>
        <a:bodyPr/>
        <a:lstStyle/>
        <a:p>
          <a:endParaRPr lang="it-IT" sz="1600"/>
        </a:p>
      </dgm:t>
    </dgm:pt>
    <dgm:pt modelId="{C034B1DB-0D00-4E4C-AA6D-0818F9332EB2}">
      <dgm:prSet phldrT="[Testo]" custT="1"/>
      <dgm:spPr/>
      <dgm:t>
        <a:bodyPr/>
        <a:lstStyle/>
        <a:p>
          <a:r>
            <a:rPr lang="it-IT" sz="1600" dirty="0"/>
            <a:t>Data </a:t>
          </a:r>
          <a:r>
            <a:rPr lang="it-IT" sz="1600" dirty="0" err="1"/>
            <a:t>Node</a:t>
          </a:r>
          <a:r>
            <a:rPr lang="it-IT" sz="1600" dirty="0"/>
            <a:t> </a:t>
          </a:r>
          <a:r>
            <a:rPr lang="it-IT" sz="1600" dirty="0" err="1"/>
            <a:t>becomes</a:t>
          </a:r>
          <a:r>
            <a:rPr lang="it-IT" sz="1600" dirty="0"/>
            <a:t> part of the System of Systems</a:t>
          </a:r>
        </a:p>
      </dgm:t>
    </dgm:pt>
    <dgm:pt modelId="{F7B0ACCB-CE8E-C740-A344-02BF0D8F9CC6}" type="parTrans" cxnId="{C81FD974-9627-E443-809F-0594D2FF27E4}">
      <dgm:prSet/>
      <dgm:spPr/>
      <dgm:t>
        <a:bodyPr/>
        <a:lstStyle/>
        <a:p>
          <a:endParaRPr lang="it-IT" sz="1600"/>
        </a:p>
      </dgm:t>
    </dgm:pt>
    <dgm:pt modelId="{83318F5A-E0D0-3349-BFCE-01CB56FF114E}" type="sibTrans" cxnId="{C81FD974-9627-E443-809F-0594D2FF27E4}">
      <dgm:prSet/>
      <dgm:spPr/>
      <dgm:t>
        <a:bodyPr/>
        <a:lstStyle/>
        <a:p>
          <a:endParaRPr lang="it-IT" sz="1600"/>
        </a:p>
      </dgm:t>
    </dgm:pt>
    <dgm:pt modelId="{691E8665-75D6-8046-9F98-C092C72E8AB6}" type="pres">
      <dgm:prSet presAssocID="{0564C46F-8CF5-DC48-9A8E-4BCCC75D547C}" presName="Name0" presStyleCnt="0">
        <dgm:presLayoutVars>
          <dgm:dir/>
          <dgm:animLvl val="lvl"/>
          <dgm:resizeHandles val="exact"/>
        </dgm:presLayoutVars>
      </dgm:prSet>
      <dgm:spPr/>
    </dgm:pt>
    <dgm:pt modelId="{A17CA81A-9E81-4549-919E-ED1C8B495F1F}" type="pres">
      <dgm:prSet presAssocID="{6D6A2CCF-41F9-0042-A189-F90830B4BEB6}" presName="parTxOnly" presStyleLbl="node1" presStyleIdx="0" presStyleCnt="3">
        <dgm:presLayoutVars>
          <dgm:chMax val="0"/>
          <dgm:chPref val="0"/>
          <dgm:bulletEnabled val="1"/>
        </dgm:presLayoutVars>
      </dgm:prSet>
      <dgm:spPr/>
    </dgm:pt>
    <dgm:pt modelId="{CCA6B996-67FF-8C4F-BE23-09591026FAF2}" type="pres">
      <dgm:prSet presAssocID="{A69C2899-3EDD-D143-AF02-854CF035DAFC}" presName="parTxOnlySpace" presStyleCnt="0"/>
      <dgm:spPr/>
    </dgm:pt>
    <dgm:pt modelId="{022BB29E-C0BD-5B4E-BD2F-346EAC9A1FBB}" type="pres">
      <dgm:prSet presAssocID="{02E82DF3-49B7-604F-B36B-4AB93B534147}" presName="parTxOnly" presStyleLbl="node1" presStyleIdx="1" presStyleCnt="3" custLinFactNeighborY="8450">
        <dgm:presLayoutVars>
          <dgm:chMax val="0"/>
          <dgm:chPref val="0"/>
          <dgm:bulletEnabled val="1"/>
        </dgm:presLayoutVars>
      </dgm:prSet>
      <dgm:spPr/>
    </dgm:pt>
    <dgm:pt modelId="{75256038-95C2-7D42-981E-AB3C6E4EA8DE}" type="pres">
      <dgm:prSet presAssocID="{502AEF7F-735B-5E43-8A34-9A984089459A}" presName="parTxOnlySpace" presStyleCnt="0"/>
      <dgm:spPr/>
    </dgm:pt>
    <dgm:pt modelId="{D346B28C-314A-4B47-8C56-5964F3C1BB20}" type="pres">
      <dgm:prSet presAssocID="{C034B1DB-0D00-4E4C-AA6D-0818F9332EB2}" presName="parTxOnly" presStyleLbl="node1" presStyleIdx="2" presStyleCnt="3">
        <dgm:presLayoutVars>
          <dgm:chMax val="0"/>
          <dgm:chPref val="0"/>
          <dgm:bulletEnabled val="1"/>
        </dgm:presLayoutVars>
      </dgm:prSet>
      <dgm:spPr/>
    </dgm:pt>
  </dgm:ptLst>
  <dgm:cxnLst>
    <dgm:cxn modelId="{3F0C4303-9574-4C65-92BE-0B2AF5B3B7C7}" type="presOf" srcId="{02E82DF3-49B7-604F-B36B-4AB93B534147}" destId="{022BB29E-C0BD-5B4E-BD2F-346EAC9A1FBB}" srcOrd="0" destOrd="0" presId="urn:microsoft.com/office/officeart/2005/8/layout/chevron1"/>
    <dgm:cxn modelId="{15468C3F-7A8E-EE40-A3E1-63FEF8381D82}" srcId="{0564C46F-8CF5-DC48-9A8E-4BCCC75D547C}" destId="{6D6A2CCF-41F9-0042-A189-F90830B4BEB6}" srcOrd="0" destOrd="0" parTransId="{1377D8FA-53EC-9644-876C-B77BC0CB8DFA}" sibTransId="{A69C2899-3EDD-D143-AF02-854CF035DAFC}"/>
    <dgm:cxn modelId="{9A12EE5E-7A01-8942-8C3F-617C68E0B0E2}" srcId="{0564C46F-8CF5-DC48-9A8E-4BCCC75D547C}" destId="{02E82DF3-49B7-604F-B36B-4AB93B534147}" srcOrd="1" destOrd="0" parTransId="{D2E3538C-E6BB-6343-A7FC-039E7DBFD065}" sibTransId="{502AEF7F-735B-5E43-8A34-9A984089459A}"/>
    <dgm:cxn modelId="{A4F9D270-7C57-49C4-8325-0FDCBA74E424}" type="presOf" srcId="{6D6A2CCF-41F9-0042-A189-F90830B4BEB6}" destId="{A17CA81A-9E81-4549-919E-ED1C8B495F1F}" srcOrd="0" destOrd="0" presId="urn:microsoft.com/office/officeart/2005/8/layout/chevron1"/>
    <dgm:cxn modelId="{C81FD974-9627-E443-809F-0594D2FF27E4}" srcId="{0564C46F-8CF5-DC48-9A8E-4BCCC75D547C}" destId="{C034B1DB-0D00-4E4C-AA6D-0818F9332EB2}" srcOrd="2" destOrd="0" parTransId="{F7B0ACCB-CE8E-C740-A344-02BF0D8F9CC6}" sibTransId="{83318F5A-E0D0-3349-BFCE-01CB56FF114E}"/>
    <dgm:cxn modelId="{E5744698-247B-4CA5-8813-9698FFDD28EA}" type="presOf" srcId="{C034B1DB-0D00-4E4C-AA6D-0818F9332EB2}" destId="{D346B28C-314A-4B47-8C56-5964F3C1BB20}" srcOrd="0" destOrd="0" presId="urn:microsoft.com/office/officeart/2005/8/layout/chevron1"/>
    <dgm:cxn modelId="{74FA62C9-D0CD-4FBD-8280-BB3C74F3B51B}" type="presOf" srcId="{0564C46F-8CF5-DC48-9A8E-4BCCC75D547C}" destId="{691E8665-75D6-8046-9F98-C092C72E8AB6}" srcOrd="0" destOrd="0" presId="urn:microsoft.com/office/officeart/2005/8/layout/chevron1"/>
    <dgm:cxn modelId="{8E2B63A1-2417-4457-8517-B3A1DA0D4BD2}" type="presParOf" srcId="{691E8665-75D6-8046-9F98-C092C72E8AB6}" destId="{A17CA81A-9E81-4549-919E-ED1C8B495F1F}" srcOrd="0" destOrd="0" presId="urn:microsoft.com/office/officeart/2005/8/layout/chevron1"/>
    <dgm:cxn modelId="{85AD61F9-57C3-4E5E-9FA3-544A9079DED6}" type="presParOf" srcId="{691E8665-75D6-8046-9F98-C092C72E8AB6}" destId="{CCA6B996-67FF-8C4F-BE23-09591026FAF2}" srcOrd="1" destOrd="0" presId="urn:microsoft.com/office/officeart/2005/8/layout/chevron1"/>
    <dgm:cxn modelId="{CC358208-96F0-4DCE-9749-2952CFA16C87}" type="presParOf" srcId="{691E8665-75D6-8046-9F98-C092C72E8AB6}" destId="{022BB29E-C0BD-5B4E-BD2F-346EAC9A1FBB}" srcOrd="2" destOrd="0" presId="urn:microsoft.com/office/officeart/2005/8/layout/chevron1"/>
    <dgm:cxn modelId="{1AAB7989-7972-47F7-8D27-E251F64D1892}" type="presParOf" srcId="{691E8665-75D6-8046-9F98-C092C72E8AB6}" destId="{75256038-95C2-7D42-981E-AB3C6E4EA8DE}" srcOrd="3" destOrd="0" presId="urn:microsoft.com/office/officeart/2005/8/layout/chevron1"/>
    <dgm:cxn modelId="{8573AA19-0681-43B0-8675-F63141F09622}" type="presParOf" srcId="{691E8665-75D6-8046-9F98-C092C72E8AB6}" destId="{D346B28C-314A-4B47-8C56-5964F3C1BB20}"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9C9456-8615-424A-8E7B-2769DB98EE2A}" type="doc">
      <dgm:prSet loTypeId="urn:microsoft.com/office/officeart/2005/8/layout/lProcess3" loCatId="" qsTypeId="urn:microsoft.com/office/officeart/2005/8/quickstyle/simple1" qsCatId="simple" csTypeId="urn:microsoft.com/office/officeart/2005/8/colors/accent1_3" csCatId="accent1" phldr="1"/>
      <dgm:spPr/>
      <dgm:t>
        <a:bodyPr/>
        <a:lstStyle/>
        <a:p>
          <a:endParaRPr lang="it-IT"/>
        </a:p>
      </dgm:t>
    </dgm:pt>
    <dgm:pt modelId="{E084778D-4FD0-6E4F-91E2-B6E2034AA6EA}">
      <dgm:prSet phldrT="[Testo]"/>
      <dgm:spPr/>
      <dgm:t>
        <a:bodyPr/>
        <a:lstStyle/>
        <a:p>
          <a:r>
            <a:rPr lang="it-IT" dirty="0"/>
            <a:t>Data </a:t>
          </a:r>
          <a:r>
            <a:rPr lang="it-IT" dirty="0" err="1"/>
            <a:t>Discoverability</a:t>
          </a:r>
          <a:endParaRPr lang="it-IT" dirty="0"/>
        </a:p>
      </dgm:t>
    </dgm:pt>
    <dgm:pt modelId="{C651F3F7-4779-924B-9FFE-D1924782E5E4}" type="parTrans" cxnId="{6D29B5EB-4087-6542-BF9A-69576F90C859}">
      <dgm:prSet/>
      <dgm:spPr/>
      <dgm:t>
        <a:bodyPr/>
        <a:lstStyle/>
        <a:p>
          <a:endParaRPr lang="it-IT"/>
        </a:p>
      </dgm:t>
    </dgm:pt>
    <dgm:pt modelId="{14354953-A05C-7243-B91E-46B2ABA6B77E}" type="sibTrans" cxnId="{6D29B5EB-4087-6542-BF9A-69576F90C859}">
      <dgm:prSet/>
      <dgm:spPr/>
      <dgm:t>
        <a:bodyPr/>
        <a:lstStyle/>
        <a:p>
          <a:endParaRPr lang="it-IT"/>
        </a:p>
      </dgm:t>
    </dgm:pt>
    <dgm:pt modelId="{00741246-6BDB-8C4E-87FE-1AF2EF7B4E20}">
      <dgm:prSet phldrT="[Testo]"/>
      <dgm:spPr/>
      <dgm:t>
        <a:bodyPr/>
        <a:lstStyle/>
        <a:p>
          <a:r>
            <a:rPr lang="it-IT" dirty="0"/>
            <a:t>Data Accessibility</a:t>
          </a:r>
        </a:p>
      </dgm:t>
    </dgm:pt>
    <dgm:pt modelId="{4DEAC901-E23B-DC41-AC34-182E59890D36}" type="parTrans" cxnId="{0F49F60C-6A69-FD4B-A0E6-E6798244DFC3}">
      <dgm:prSet/>
      <dgm:spPr/>
      <dgm:t>
        <a:bodyPr/>
        <a:lstStyle/>
        <a:p>
          <a:endParaRPr lang="it-IT"/>
        </a:p>
      </dgm:t>
    </dgm:pt>
    <dgm:pt modelId="{2CFAE3A1-44D6-634E-89A9-F674E15A5E1B}" type="sibTrans" cxnId="{0F49F60C-6A69-FD4B-A0E6-E6798244DFC3}">
      <dgm:prSet/>
      <dgm:spPr/>
      <dgm:t>
        <a:bodyPr/>
        <a:lstStyle/>
        <a:p>
          <a:endParaRPr lang="it-IT"/>
        </a:p>
      </dgm:t>
    </dgm:pt>
    <dgm:pt modelId="{5D12EC4B-2388-CE49-9622-C6EA80A583D7}">
      <dgm:prSet phldrT="[Testo]"/>
      <dgm:spPr/>
      <dgm:t>
        <a:bodyPr/>
        <a:lstStyle/>
        <a:p>
          <a:r>
            <a:rPr lang="it-IT" dirty="0"/>
            <a:t>Connectivity</a:t>
          </a:r>
        </a:p>
      </dgm:t>
    </dgm:pt>
    <dgm:pt modelId="{9BD3C2EC-876B-7A40-B0E5-11D904BBF01B}" type="parTrans" cxnId="{7615432C-1D48-5F46-BEC8-92A5FB2BF1F9}">
      <dgm:prSet/>
      <dgm:spPr/>
      <dgm:t>
        <a:bodyPr/>
        <a:lstStyle/>
        <a:p>
          <a:endParaRPr lang="it-IT"/>
        </a:p>
      </dgm:t>
    </dgm:pt>
    <dgm:pt modelId="{692FA907-BC0F-F444-89EF-A37E28AAA18C}" type="sibTrans" cxnId="{7615432C-1D48-5F46-BEC8-92A5FB2BF1F9}">
      <dgm:prSet/>
      <dgm:spPr/>
      <dgm:t>
        <a:bodyPr/>
        <a:lstStyle/>
        <a:p>
          <a:endParaRPr lang="it-IT"/>
        </a:p>
      </dgm:t>
    </dgm:pt>
    <dgm:pt modelId="{F696F0C0-E7B4-344E-9DA7-7B49D6CE72D3}">
      <dgm:prSet phldrT="[Testo]"/>
      <dgm:spPr/>
      <dgm:t>
        <a:bodyPr/>
        <a:lstStyle/>
        <a:p>
          <a:r>
            <a:rPr lang="it-IT" dirty="0"/>
            <a:t>The Data </a:t>
          </a:r>
          <a:r>
            <a:rPr lang="it-IT" dirty="0" err="1"/>
            <a:t>Node</a:t>
          </a:r>
          <a:r>
            <a:rPr lang="it-IT" dirty="0"/>
            <a:t> </a:t>
          </a:r>
          <a:r>
            <a:rPr lang="it-IT" dirty="0" err="1"/>
            <a:t>is</a:t>
          </a:r>
          <a:r>
            <a:rPr lang="it-IT" dirty="0"/>
            <a:t> </a:t>
          </a:r>
          <a:r>
            <a:rPr lang="it-IT" dirty="0" err="1"/>
            <a:t>reachable</a:t>
          </a:r>
          <a:r>
            <a:rPr lang="it-IT" dirty="0"/>
            <a:t> on the Web</a:t>
          </a:r>
        </a:p>
      </dgm:t>
    </dgm:pt>
    <dgm:pt modelId="{CF245B63-59AD-3449-9E6C-2E1E32922419}" type="parTrans" cxnId="{CF663066-1485-024D-B4C3-6F5C51C7DA5A}">
      <dgm:prSet/>
      <dgm:spPr/>
      <dgm:t>
        <a:bodyPr/>
        <a:lstStyle/>
        <a:p>
          <a:endParaRPr lang="it-IT"/>
        </a:p>
      </dgm:t>
    </dgm:pt>
    <dgm:pt modelId="{BCB41E88-D3CC-824D-8EFA-5A2473B783D2}" type="sibTrans" cxnId="{CF663066-1485-024D-B4C3-6F5C51C7DA5A}">
      <dgm:prSet/>
      <dgm:spPr/>
      <dgm:t>
        <a:bodyPr/>
        <a:lstStyle/>
        <a:p>
          <a:endParaRPr lang="it-IT"/>
        </a:p>
      </dgm:t>
    </dgm:pt>
    <dgm:pt modelId="{5F8C76FC-C56B-DF49-B6E5-C9F6FFD586C4}">
      <dgm:prSet phldrT="[Testo]"/>
      <dgm:spPr/>
      <dgm:t>
        <a:bodyPr/>
        <a:lstStyle/>
        <a:p>
          <a:r>
            <a:rPr lang="it-IT" dirty="0" err="1"/>
            <a:t>It</a:t>
          </a:r>
          <a:r>
            <a:rPr lang="it-IT" dirty="0"/>
            <a:t> </a:t>
          </a:r>
          <a:r>
            <a:rPr lang="it-IT" dirty="0" err="1"/>
            <a:t>is</a:t>
          </a:r>
          <a:r>
            <a:rPr lang="it-IT" dirty="0"/>
            <a:t> </a:t>
          </a:r>
          <a:r>
            <a:rPr lang="it-IT" dirty="0" err="1"/>
            <a:t>possible</a:t>
          </a:r>
          <a:r>
            <a:rPr lang="it-IT" dirty="0"/>
            <a:t> to </a:t>
          </a:r>
          <a:r>
            <a:rPr lang="it-IT" dirty="0" err="1"/>
            <a:t>discover</a:t>
          </a:r>
          <a:r>
            <a:rPr lang="it-IT" dirty="0"/>
            <a:t> data</a:t>
          </a:r>
        </a:p>
      </dgm:t>
    </dgm:pt>
    <dgm:pt modelId="{0C8CD090-F1B8-DA43-926A-C48BBA0425C8}" type="parTrans" cxnId="{36EE5027-7312-144B-9262-431292608925}">
      <dgm:prSet/>
      <dgm:spPr/>
      <dgm:t>
        <a:bodyPr/>
        <a:lstStyle/>
        <a:p>
          <a:endParaRPr lang="it-IT"/>
        </a:p>
      </dgm:t>
    </dgm:pt>
    <dgm:pt modelId="{D6F113B1-5E83-9D46-AA54-90EBB464BC81}" type="sibTrans" cxnId="{36EE5027-7312-144B-9262-431292608925}">
      <dgm:prSet/>
      <dgm:spPr/>
      <dgm:t>
        <a:bodyPr/>
        <a:lstStyle/>
        <a:p>
          <a:endParaRPr lang="it-IT"/>
        </a:p>
      </dgm:t>
    </dgm:pt>
    <dgm:pt modelId="{CB6C6666-8915-124B-8CA6-696234DD3D54}">
      <dgm:prSet phldrT="[Testo]"/>
      <dgm:spPr/>
      <dgm:t>
        <a:bodyPr/>
        <a:lstStyle/>
        <a:p>
          <a:r>
            <a:rPr lang="it-IT" dirty="0" err="1"/>
            <a:t>It</a:t>
          </a:r>
          <a:r>
            <a:rPr lang="it-IT" dirty="0"/>
            <a:t> </a:t>
          </a:r>
          <a:r>
            <a:rPr lang="it-IT" dirty="0" err="1"/>
            <a:t>is</a:t>
          </a:r>
          <a:r>
            <a:rPr lang="it-IT" dirty="0"/>
            <a:t> </a:t>
          </a:r>
          <a:r>
            <a:rPr lang="it-IT" dirty="0" err="1"/>
            <a:t>possible</a:t>
          </a:r>
          <a:r>
            <a:rPr lang="it-IT" dirty="0"/>
            <a:t> to download </a:t>
          </a:r>
          <a:r>
            <a:rPr lang="it-IT" dirty="0" err="1"/>
            <a:t>discovered</a:t>
          </a:r>
          <a:r>
            <a:rPr lang="it-IT" dirty="0"/>
            <a:t> data</a:t>
          </a:r>
        </a:p>
      </dgm:t>
    </dgm:pt>
    <dgm:pt modelId="{75CE700A-0BD4-AD49-92B9-32CF035D02C6}" type="parTrans" cxnId="{DAD57BFA-AEE4-814D-BA8E-4014E6EDE1CE}">
      <dgm:prSet/>
      <dgm:spPr/>
      <dgm:t>
        <a:bodyPr/>
        <a:lstStyle/>
        <a:p>
          <a:endParaRPr lang="it-IT"/>
        </a:p>
      </dgm:t>
    </dgm:pt>
    <dgm:pt modelId="{FA66EB7C-64F8-2A47-9FB2-BE9EF1018E48}" type="sibTrans" cxnId="{DAD57BFA-AEE4-814D-BA8E-4014E6EDE1CE}">
      <dgm:prSet/>
      <dgm:spPr/>
      <dgm:t>
        <a:bodyPr/>
        <a:lstStyle/>
        <a:p>
          <a:endParaRPr lang="it-IT"/>
        </a:p>
      </dgm:t>
    </dgm:pt>
    <dgm:pt modelId="{DFFCAC3D-0DB1-FB43-858B-715DCA9E97AD}" type="pres">
      <dgm:prSet presAssocID="{D09C9456-8615-424A-8E7B-2769DB98EE2A}" presName="Name0" presStyleCnt="0">
        <dgm:presLayoutVars>
          <dgm:chPref val="3"/>
          <dgm:dir/>
          <dgm:animLvl val="lvl"/>
          <dgm:resizeHandles/>
        </dgm:presLayoutVars>
      </dgm:prSet>
      <dgm:spPr/>
    </dgm:pt>
    <dgm:pt modelId="{DB9A6984-2ADB-D341-B7CD-A05709C90452}" type="pres">
      <dgm:prSet presAssocID="{5D12EC4B-2388-CE49-9622-C6EA80A583D7}" presName="horFlow" presStyleCnt="0"/>
      <dgm:spPr/>
    </dgm:pt>
    <dgm:pt modelId="{88B8BD01-0382-1644-B1E4-25A5D75A2CAC}" type="pres">
      <dgm:prSet presAssocID="{5D12EC4B-2388-CE49-9622-C6EA80A583D7}" presName="bigChev" presStyleLbl="node1" presStyleIdx="0" presStyleCnt="3"/>
      <dgm:spPr/>
    </dgm:pt>
    <dgm:pt modelId="{FD7A43B6-82C3-6C45-A04D-2931D16F3D79}" type="pres">
      <dgm:prSet presAssocID="{CF245B63-59AD-3449-9E6C-2E1E32922419}" presName="parTrans" presStyleCnt="0"/>
      <dgm:spPr/>
    </dgm:pt>
    <dgm:pt modelId="{57E36AA7-77C6-1145-B947-D4761A49D78D}" type="pres">
      <dgm:prSet presAssocID="{F696F0C0-E7B4-344E-9DA7-7B49D6CE72D3}" presName="node" presStyleLbl="alignAccFollowNode1" presStyleIdx="0" presStyleCnt="3" custScaleX="167488">
        <dgm:presLayoutVars>
          <dgm:bulletEnabled val="1"/>
        </dgm:presLayoutVars>
      </dgm:prSet>
      <dgm:spPr/>
    </dgm:pt>
    <dgm:pt modelId="{6E505655-245A-4A48-9F2D-5A3969C9CB84}" type="pres">
      <dgm:prSet presAssocID="{5D12EC4B-2388-CE49-9622-C6EA80A583D7}" presName="vSp" presStyleCnt="0"/>
      <dgm:spPr/>
    </dgm:pt>
    <dgm:pt modelId="{6EA423DE-CB9D-D24C-BD3E-942382C3D1E1}" type="pres">
      <dgm:prSet presAssocID="{E084778D-4FD0-6E4F-91E2-B6E2034AA6EA}" presName="horFlow" presStyleCnt="0"/>
      <dgm:spPr/>
    </dgm:pt>
    <dgm:pt modelId="{CB318C54-C92B-D746-9174-1756052320AA}" type="pres">
      <dgm:prSet presAssocID="{E084778D-4FD0-6E4F-91E2-B6E2034AA6EA}" presName="bigChev" presStyleLbl="node1" presStyleIdx="1" presStyleCnt="3"/>
      <dgm:spPr/>
    </dgm:pt>
    <dgm:pt modelId="{DB172AC6-8FE0-2849-98D1-F842A83598B7}" type="pres">
      <dgm:prSet presAssocID="{0C8CD090-F1B8-DA43-926A-C48BBA0425C8}" presName="parTrans" presStyleCnt="0"/>
      <dgm:spPr/>
    </dgm:pt>
    <dgm:pt modelId="{67A0FB03-01CD-4545-BEAA-58BB0F91A931}" type="pres">
      <dgm:prSet presAssocID="{5F8C76FC-C56B-DF49-B6E5-C9F6FFD586C4}" presName="node" presStyleLbl="alignAccFollowNode1" presStyleIdx="1" presStyleCnt="3" custScaleX="167488">
        <dgm:presLayoutVars>
          <dgm:bulletEnabled val="1"/>
        </dgm:presLayoutVars>
      </dgm:prSet>
      <dgm:spPr/>
    </dgm:pt>
    <dgm:pt modelId="{BFC858F5-AABE-0541-AE84-35332ECFC221}" type="pres">
      <dgm:prSet presAssocID="{E084778D-4FD0-6E4F-91E2-B6E2034AA6EA}" presName="vSp" presStyleCnt="0"/>
      <dgm:spPr/>
    </dgm:pt>
    <dgm:pt modelId="{92E8CEF0-47C5-ED41-88A0-4045844661EC}" type="pres">
      <dgm:prSet presAssocID="{00741246-6BDB-8C4E-87FE-1AF2EF7B4E20}" presName="horFlow" presStyleCnt="0"/>
      <dgm:spPr/>
    </dgm:pt>
    <dgm:pt modelId="{A968F967-C4CF-1A49-B433-D962FD79D6D6}" type="pres">
      <dgm:prSet presAssocID="{00741246-6BDB-8C4E-87FE-1AF2EF7B4E20}" presName="bigChev" presStyleLbl="node1" presStyleIdx="2" presStyleCnt="3"/>
      <dgm:spPr/>
    </dgm:pt>
    <dgm:pt modelId="{EDB59D81-C98C-C24E-8CD1-B067291B7927}" type="pres">
      <dgm:prSet presAssocID="{75CE700A-0BD4-AD49-92B9-32CF035D02C6}" presName="parTrans" presStyleCnt="0"/>
      <dgm:spPr/>
    </dgm:pt>
    <dgm:pt modelId="{26531FF5-AC54-4048-ADD5-AC8A5AE799F6}" type="pres">
      <dgm:prSet presAssocID="{CB6C6666-8915-124B-8CA6-696234DD3D54}" presName="node" presStyleLbl="alignAccFollowNode1" presStyleIdx="2" presStyleCnt="3" custScaleX="167488">
        <dgm:presLayoutVars>
          <dgm:bulletEnabled val="1"/>
        </dgm:presLayoutVars>
      </dgm:prSet>
      <dgm:spPr/>
    </dgm:pt>
  </dgm:ptLst>
  <dgm:cxnLst>
    <dgm:cxn modelId="{0F49F60C-6A69-FD4B-A0E6-E6798244DFC3}" srcId="{D09C9456-8615-424A-8E7B-2769DB98EE2A}" destId="{00741246-6BDB-8C4E-87FE-1AF2EF7B4E20}" srcOrd="2" destOrd="0" parTransId="{4DEAC901-E23B-DC41-AC34-182E59890D36}" sibTransId="{2CFAE3A1-44D6-634E-89A9-F674E15A5E1B}"/>
    <dgm:cxn modelId="{36EE5027-7312-144B-9262-431292608925}" srcId="{E084778D-4FD0-6E4F-91E2-B6E2034AA6EA}" destId="{5F8C76FC-C56B-DF49-B6E5-C9F6FFD586C4}" srcOrd="0" destOrd="0" parTransId="{0C8CD090-F1B8-DA43-926A-C48BBA0425C8}" sibTransId="{D6F113B1-5E83-9D46-AA54-90EBB464BC81}"/>
    <dgm:cxn modelId="{10101728-BB55-4575-8364-8CBD39583056}" type="presOf" srcId="{D09C9456-8615-424A-8E7B-2769DB98EE2A}" destId="{DFFCAC3D-0DB1-FB43-858B-715DCA9E97AD}" srcOrd="0" destOrd="0" presId="urn:microsoft.com/office/officeart/2005/8/layout/lProcess3"/>
    <dgm:cxn modelId="{D803322A-973F-4E17-A413-99B4385D8FC8}" type="presOf" srcId="{CB6C6666-8915-124B-8CA6-696234DD3D54}" destId="{26531FF5-AC54-4048-ADD5-AC8A5AE799F6}" srcOrd="0" destOrd="0" presId="urn:microsoft.com/office/officeart/2005/8/layout/lProcess3"/>
    <dgm:cxn modelId="{7615432C-1D48-5F46-BEC8-92A5FB2BF1F9}" srcId="{D09C9456-8615-424A-8E7B-2769DB98EE2A}" destId="{5D12EC4B-2388-CE49-9622-C6EA80A583D7}" srcOrd="0" destOrd="0" parTransId="{9BD3C2EC-876B-7A40-B0E5-11D904BBF01B}" sibTransId="{692FA907-BC0F-F444-89EF-A37E28AAA18C}"/>
    <dgm:cxn modelId="{942F0540-8AE8-403E-9F94-8BD9E76F0B8E}" type="presOf" srcId="{5D12EC4B-2388-CE49-9622-C6EA80A583D7}" destId="{88B8BD01-0382-1644-B1E4-25A5D75A2CAC}" srcOrd="0" destOrd="0" presId="urn:microsoft.com/office/officeart/2005/8/layout/lProcess3"/>
    <dgm:cxn modelId="{CF663066-1485-024D-B4C3-6F5C51C7DA5A}" srcId="{5D12EC4B-2388-CE49-9622-C6EA80A583D7}" destId="{F696F0C0-E7B4-344E-9DA7-7B49D6CE72D3}" srcOrd="0" destOrd="0" parTransId="{CF245B63-59AD-3449-9E6C-2E1E32922419}" sibTransId="{BCB41E88-D3CC-824D-8EFA-5A2473B783D2}"/>
    <dgm:cxn modelId="{30C0D176-2F87-4BFA-9798-4F5ABA96FF20}" type="presOf" srcId="{5F8C76FC-C56B-DF49-B6E5-C9F6FFD586C4}" destId="{67A0FB03-01CD-4545-BEAA-58BB0F91A931}" srcOrd="0" destOrd="0" presId="urn:microsoft.com/office/officeart/2005/8/layout/lProcess3"/>
    <dgm:cxn modelId="{6AF47792-1F42-4385-933E-B2045116DF79}" type="presOf" srcId="{00741246-6BDB-8C4E-87FE-1AF2EF7B4E20}" destId="{A968F967-C4CF-1A49-B433-D962FD79D6D6}" srcOrd="0" destOrd="0" presId="urn:microsoft.com/office/officeart/2005/8/layout/lProcess3"/>
    <dgm:cxn modelId="{3C34DDBB-2563-44D2-8D9D-86EADCB8FA23}" type="presOf" srcId="{E084778D-4FD0-6E4F-91E2-B6E2034AA6EA}" destId="{CB318C54-C92B-D746-9174-1756052320AA}" srcOrd="0" destOrd="0" presId="urn:microsoft.com/office/officeart/2005/8/layout/lProcess3"/>
    <dgm:cxn modelId="{884468D7-7371-44CF-A4F8-E49F368655EB}" type="presOf" srcId="{F696F0C0-E7B4-344E-9DA7-7B49D6CE72D3}" destId="{57E36AA7-77C6-1145-B947-D4761A49D78D}" srcOrd="0" destOrd="0" presId="urn:microsoft.com/office/officeart/2005/8/layout/lProcess3"/>
    <dgm:cxn modelId="{6D29B5EB-4087-6542-BF9A-69576F90C859}" srcId="{D09C9456-8615-424A-8E7B-2769DB98EE2A}" destId="{E084778D-4FD0-6E4F-91E2-B6E2034AA6EA}" srcOrd="1" destOrd="0" parTransId="{C651F3F7-4779-924B-9FFE-D1924782E5E4}" sibTransId="{14354953-A05C-7243-B91E-46B2ABA6B77E}"/>
    <dgm:cxn modelId="{DAD57BFA-AEE4-814D-BA8E-4014E6EDE1CE}" srcId="{00741246-6BDB-8C4E-87FE-1AF2EF7B4E20}" destId="{CB6C6666-8915-124B-8CA6-696234DD3D54}" srcOrd="0" destOrd="0" parTransId="{75CE700A-0BD4-AD49-92B9-32CF035D02C6}" sibTransId="{FA66EB7C-64F8-2A47-9FB2-BE9EF1018E48}"/>
    <dgm:cxn modelId="{B6051E6A-2BC6-47F2-BDBB-EE432CCAB4F2}" type="presParOf" srcId="{DFFCAC3D-0DB1-FB43-858B-715DCA9E97AD}" destId="{DB9A6984-2ADB-D341-B7CD-A05709C90452}" srcOrd="0" destOrd="0" presId="urn:microsoft.com/office/officeart/2005/8/layout/lProcess3"/>
    <dgm:cxn modelId="{DC147DE8-499B-44D0-B01E-9D4080C63112}" type="presParOf" srcId="{DB9A6984-2ADB-D341-B7CD-A05709C90452}" destId="{88B8BD01-0382-1644-B1E4-25A5D75A2CAC}" srcOrd="0" destOrd="0" presId="urn:microsoft.com/office/officeart/2005/8/layout/lProcess3"/>
    <dgm:cxn modelId="{8E068C66-E564-4645-8E7B-A087E128C805}" type="presParOf" srcId="{DB9A6984-2ADB-D341-B7CD-A05709C90452}" destId="{FD7A43B6-82C3-6C45-A04D-2931D16F3D79}" srcOrd="1" destOrd="0" presId="urn:microsoft.com/office/officeart/2005/8/layout/lProcess3"/>
    <dgm:cxn modelId="{E412DBBF-6B7F-4AF0-BE9C-17CBC09298C4}" type="presParOf" srcId="{DB9A6984-2ADB-D341-B7CD-A05709C90452}" destId="{57E36AA7-77C6-1145-B947-D4761A49D78D}" srcOrd="2" destOrd="0" presId="urn:microsoft.com/office/officeart/2005/8/layout/lProcess3"/>
    <dgm:cxn modelId="{29034AE9-81FD-4656-9C3A-BF92DC1231FA}" type="presParOf" srcId="{DFFCAC3D-0DB1-FB43-858B-715DCA9E97AD}" destId="{6E505655-245A-4A48-9F2D-5A3969C9CB84}" srcOrd="1" destOrd="0" presId="urn:microsoft.com/office/officeart/2005/8/layout/lProcess3"/>
    <dgm:cxn modelId="{33A13A14-B789-43A8-A77D-CDD353CE8486}" type="presParOf" srcId="{DFFCAC3D-0DB1-FB43-858B-715DCA9E97AD}" destId="{6EA423DE-CB9D-D24C-BD3E-942382C3D1E1}" srcOrd="2" destOrd="0" presId="urn:microsoft.com/office/officeart/2005/8/layout/lProcess3"/>
    <dgm:cxn modelId="{898BDBF0-DC12-4704-A99E-01B508BA9707}" type="presParOf" srcId="{6EA423DE-CB9D-D24C-BD3E-942382C3D1E1}" destId="{CB318C54-C92B-D746-9174-1756052320AA}" srcOrd="0" destOrd="0" presId="urn:microsoft.com/office/officeart/2005/8/layout/lProcess3"/>
    <dgm:cxn modelId="{48D38701-7EB2-4CA4-8B7A-8C8D979042EB}" type="presParOf" srcId="{6EA423DE-CB9D-D24C-BD3E-942382C3D1E1}" destId="{DB172AC6-8FE0-2849-98D1-F842A83598B7}" srcOrd="1" destOrd="0" presId="urn:microsoft.com/office/officeart/2005/8/layout/lProcess3"/>
    <dgm:cxn modelId="{3C999701-7049-4006-B2EA-417F1558556C}" type="presParOf" srcId="{6EA423DE-CB9D-D24C-BD3E-942382C3D1E1}" destId="{67A0FB03-01CD-4545-BEAA-58BB0F91A931}" srcOrd="2" destOrd="0" presId="urn:microsoft.com/office/officeart/2005/8/layout/lProcess3"/>
    <dgm:cxn modelId="{82EF76E6-3B9B-4EA7-A44F-211FD3FD3E61}" type="presParOf" srcId="{DFFCAC3D-0DB1-FB43-858B-715DCA9E97AD}" destId="{BFC858F5-AABE-0541-AE84-35332ECFC221}" srcOrd="3" destOrd="0" presId="urn:microsoft.com/office/officeart/2005/8/layout/lProcess3"/>
    <dgm:cxn modelId="{06B3ED49-2DAC-475B-A49C-0E99EEEEA616}" type="presParOf" srcId="{DFFCAC3D-0DB1-FB43-858B-715DCA9E97AD}" destId="{92E8CEF0-47C5-ED41-88A0-4045844661EC}" srcOrd="4" destOrd="0" presId="urn:microsoft.com/office/officeart/2005/8/layout/lProcess3"/>
    <dgm:cxn modelId="{78D5A2CA-190E-4B80-A691-6B194F68A11F}" type="presParOf" srcId="{92E8CEF0-47C5-ED41-88A0-4045844661EC}" destId="{A968F967-C4CF-1A49-B433-D962FD79D6D6}" srcOrd="0" destOrd="0" presId="urn:microsoft.com/office/officeart/2005/8/layout/lProcess3"/>
    <dgm:cxn modelId="{925A8FB8-6852-473D-86D7-AC1ACFED9B48}" type="presParOf" srcId="{92E8CEF0-47C5-ED41-88A0-4045844661EC}" destId="{EDB59D81-C98C-C24E-8CD1-B067291B7927}" srcOrd="1" destOrd="0" presId="urn:microsoft.com/office/officeart/2005/8/layout/lProcess3"/>
    <dgm:cxn modelId="{3CB2C4F2-B0C1-4527-8A78-C659111F09CC}" type="presParOf" srcId="{92E8CEF0-47C5-ED41-88A0-4045844661EC}" destId="{26531FF5-AC54-4048-ADD5-AC8A5AE799F6}" srcOrd="2" destOrd="0" presId="urn:microsoft.com/office/officeart/2005/8/layout/lProcess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564C46F-8CF5-DC48-9A8E-4BCCC75D547C}" type="doc">
      <dgm:prSet loTypeId="urn:microsoft.com/office/officeart/2005/8/layout/chevron1" loCatId="" qsTypeId="urn:microsoft.com/office/officeart/2005/8/quickstyle/simple1" qsCatId="simple" csTypeId="urn:microsoft.com/office/officeart/2005/8/colors/colorful2" csCatId="colorful" phldr="1"/>
      <dgm:spPr/>
    </dgm:pt>
    <dgm:pt modelId="{6D6A2CCF-41F9-0042-A189-F90830B4BEB6}">
      <dgm:prSet phldrT="[Testo]" custT="1"/>
      <dgm:spPr/>
      <dgm:t>
        <a:bodyPr/>
        <a:lstStyle/>
        <a:p>
          <a:r>
            <a:rPr lang="it-IT" sz="1600" dirty="0" err="1"/>
            <a:t>Publishes</a:t>
          </a:r>
          <a:r>
            <a:rPr lang="it-IT" sz="1600" dirty="0"/>
            <a:t> a set of web </a:t>
          </a:r>
          <a:r>
            <a:rPr lang="it-IT" sz="1600" dirty="0" err="1"/>
            <a:t>services</a:t>
          </a:r>
          <a:r>
            <a:rPr lang="it-IT" sz="1600" dirty="0"/>
            <a:t>/</a:t>
          </a:r>
          <a:r>
            <a:rPr lang="it-IT" sz="1600" dirty="0" err="1"/>
            <a:t>APIs</a:t>
          </a:r>
          <a:endParaRPr lang="it-IT" sz="1600" dirty="0"/>
        </a:p>
      </dgm:t>
    </dgm:pt>
    <dgm:pt modelId="{1377D8FA-53EC-9644-876C-B77BC0CB8DFA}" type="parTrans" cxnId="{15468C3F-7A8E-EE40-A3E1-63FEF8381D82}">
      <dgm:prSet/>
      <dgm:spPr/>
      <dgm:t>
        <a:bodyPr/>
        <a:lstStyle/>
        <a:p>
          <a:endParaRPr lang="it-IT" sz="1600"/>
        </a:p>
      </dgm:t>
    </dgm:pt>
    <dgm:pt modelId="{A69C2899-3EDD-D143-AF02-854CF035DAFC}" type="sibTrans" cxnId="{15468C3F-7A8E-EE40-A3E1-63FEF8381D82}">
      <dgm:prSet/>
      <dgm:spPr/>
      <dgm:t>
        <a:bodyPr/>
        <a:lstStyle/>
        <a:p>
          <a:endParaRPr lang="it-IT" sz="1600"/>
        </a:p>
      </dgm:t>
    </dgm:pt>
    <dgm:pt modelId="{02E82DF3-49B7-604F-B36B-4AB93B534147}">
      <dgm:prSet phldrT="[Testo]" custT="1"/>
      <dgm:spPr/>
      <dgm:t>
        <a:bodyPr/>
        <a:lstStyle/>
        <a:p>
          <a:r>
            <a:rPr lang="it-IT" sz="1600" dirty="0"/>
            <a:t>Can use </a:t>
          </a:r>
          <a:r>
            <a:rPr lang="it-IT" sz="1600" dirty="0" err="1"/>
            <a:t>any</a:t>
          </a:r>
          <a:r>
            <a:rPr lang="it-IT" sz="1600" dirty="0"/>
            <a:t> service/API to </a:t>
          </a:r>
          <a:r>
            <a:rPr lang="it-IT" sz="1600" dirty="0" err="1"/>
            <a:t>connect</a:t>
          </a:r>
          <a:r>
            <a:rPr lang="it-IT" sz="1600" dirty="0"/>
            <a:t> to the System</a:t>
          </a:r>
        </a:p>
      </dgm:t>
    </dgm:pt>
    <dgm:pt modelId="{D2E3538C-E6BB-6343-A7FC-039E7DBFD065}" type="parTrans" cxnId="{9A12EE5E-7A01-8942-8C3F-617C68E0B0E2}">
      <dgm:prSet/>
      <dgm:spPr/>
      <dgm:t>
        <a:bodyPr/>
        <a:lstStyle/>
        <a:p>
          <a:endParaRPr lang="it-IT" sz="1600"/>
        </a:p>
      </dgm:t>
    </dgm:pt>
    <dgm:pt modelId="{502AEF7F-735B-5E43-8A34-9A984089459A}" type="sibTrans" cxnId="{9A12EE5E-7A01-8942-8C3F-617C68E0B0E2}">
      <dgm:prSet/>
      <dgm:spPr/>
      <dgm:t>
        <a:bodyPr/>
        <a:lstStyle/>
        <a:p>
          <a:endParaRPr lang="it-IT" sz="1600"/>
        </a:p>
      </dgm:t>
    </dgm:pt>
    <dgm:pt modelId="{C034B1DB-0D00-4E4C-AA6D-0818F9332EB2}">
      <dgm:prSet phldrT="[Testo]" custT="1"/>
      <dgm:spPr/>
      <dgm:t>
        <a:bodyPr/>
        <a:lstStyle/>
        <a:p>
          <a:r>
            <a:rPr lang="it-IT" sz="1600" dirty="0" err="1"/>
            <a:t>Accesses</a:t>
          </a:r>
          <a:r>
            <a:rPr lang="it-IT" sz="1600" dirty="0"/>
            <a:t> the </a:t>
          </a:r>
          <a:r>
            <a:rPr lang="it-IT" sz="1600" dirty="0" err="1"/>
            <a:t>entire</a:t>
          </a:r>
          <a:r>
            <a:rPr lang="it-IT" sz="1600" dirty="0"/>
            <a:t> </a:t>
          </a:r>
          <a:r>
            <a:rPr lang="it-IT" sz="1600" dirty="0" err="1"/>
            <a:t>content</a:t>
          </a:r>
          <a:r>
            <a:rPr lang="it-IT" sz="1600" dirty="0"/>
            <a:t> of the System and </a:t>
          </a:r>
          <a:r>
            <a:rPr lang="it-IT" sz="1600" dirty="0" err="1"/>
            <a:t>displays</a:t>
          </a:r>
          <a:r>
            <a:rPr lang="it-IT" sz="1600" dirty="0"/>
            <a:t> </a:t>
          </a:r>
          <a:r>
            <a:rPr lang="it-IT" sz="1600" dirty="0" err="1"/>
            <a:t>it</a:t>
          </a:r>
          <a:r>
            <a:rPr lang="it-IT" sz="1600" dirty="0"/>
            <a:t> to </a:t>
          </a:r>
          <a:r>
            <a:rPr lang="it-IT" sz="1600" dirty="0" err="1"/>
            <a:t>user</a:t>
          </a:r>
          <a:endParaRPr lang="it-IT" sz="1600" dirty="0"/>
        </a:p>
      </dgm:t>
    </dgm:pt>
    <dgm:pt modelId="{F7B0ACCB-CE8E-C740-A344-02BF0D8F9CC6}" type="parTrans" cxnId="{C81FD974-9627-E443-809F-0594D2FF27E4}">
      <dgm:prSet/>
      <dgm:spPr/>
      <dgm:t>
        <a:bodyPr/>
        <a:lstStyle/>
        <a:p>
          <a:endParaRPr lang="it-IT" sz="1600"/>
        </a:p>
      </dgm:t>
    </dgm:pt>
    <dgm:pt modelId="{83318F5A-E0D0-3349-BFCE-01CB56FF114E}" type="sibTrans" cxnId="{C81FD974-9627-E443-809F-0594D2FF27E4}">
      <dgm:prSet/>
      <dgm:spPr/>
      <dgm:t>
        <a:bodyPr/>
        <a:lstStyle/>
        <a:p>
          <a:endParaRPr lang="it-IT" sz="1600"/>
        </a:p>
      </dgm:t>
    </dgm:pt>
    <dgm:pt modelId="{691E8665-75D6-8046-9F98-C092C72E8AB6}" type="pres">
      <dgm:prSet presAssocID="{0564C46F-8CF5-DC48-9A8E-4BCCC75D547C}" presName="Name0" presStyleCnt="0">
        <dgm:presLayoutVars>
          <dgm:dir/>
          <dgm:animLvl val="lvl"/>
          <dgm:resizeHandles val="exact"/>
        </dgm:presLayoutVars>
      </dgm:prSet>
      <dgm:spPr/>
    </dgm:pt>
    <dgm:pt modelId="{A17CA81A-9E81-4549-919E-ED1C8B495F1F}" type="pres">
      <dgm:prSet presAssocID="{6D6A2CCF-41F9-0042-A189-F90830B4BEB6}" presName="parTxOnly" presStyleLbl="node1" presStyleIdx="0" presStyleCnt="3">
        <dgm:presLayoutVars>
          <dgm:chMax val="0"/>
          <dgm:chPref val="0"/>
          <dgm:bulletEnabled val="1"/>
        </dgm:presLayoutVars>
      </dgm:prSet>
      <dgm:spPr/>
    </dgm:pt>
    <dgm:pt modelId="{CCA6B996-67FF-8C4F-BE23-09591026FAF2}" type="pres">
      <dgm:prSet presAssocID="{A69C2899-3EDD-D143-AF02-854CF035DAFC}" presName="parTxOnlySpace" presStyleCnt="0"/>
      <dgm:spPr/>
    </dgm:pt>
    <dgm:pt modelId="{022BB29E-C0BD-5B4E-BD2F-346EAC9A1FBB}" type="pres">
      <dgm:prSet presAssocID="{02E82DF3-49B7-604F-B36B-4AB93B534147}" presName="parTxOnly" presStyleLbl="node1" presStyleIdx="1" presStyleCnt="3" custLinFactNeighborY="8450">
        <dgm:presLayoutVars>
          <dgm:chMax val="0"/>
          <dgm:chPref val="0"/>
          <dgm:bulletEnabled val="1"/>
        </dgm:presLayoutVars>
      </dgm:prSet>
      <dgm:spPr/>
    </dgm:pt>
    <dgm:pt modelId="{75256038-95C2-7D42-981E-AB3C6E4EA8DE}" type="pres">
      <dgm:prSet presAssocID="{502AEF7F-735B-5E43-8A34-9A984089459A}" presName="parTxOnlySpace" presStyleCnt="0"/>
      <dgm:spPr/>
    </dgm:pt>
    <dgm:pt modelId="{D346B28C-314A-4B47-8C56-5964F3C1BB20}" type="pres">
      <dgm:prSet presAssocID="{C034B1DB-0D00-4E4C-AA6D-0818F9332EB2}" presName="parTxOnly" presStyleLbl="node1" presStyleIdx="2" presStyleCnt="3">
        <dgm:presLayoutVars>
          <dgm:chMax val="0"/>
          <dgm:chPref val="0"/>
          <dgm:bulletEnabled val="1"/>
        </dgm:presLayoutVars>
      </dgm:prSet>
      <dgm:spPr/>
    </dgm:pt>
  </dgm:ptLst>
  <dgm:cxnLst>
    <dgm:cxn modelId="{FFF61601-DCB6-4BBE-AC07-810D6DD5CF82}" type="presOf" srcId="{6D6A2CCF-41F9-0042-A189-F90830B4BEB6}" destId="{A17CA81A-9E81-4549-919E-ED1C8B495F1F}" srcOrd="0" destOrd="0" presId="urn:microsoft.com/office/officeart/2005/8/layout/chevron1"/>
    <dgm:cxn modelId="{5599A630-9547-4809-9601-2BCB1A3CA784}" type="presOf" srcId="{0564C46F-8CF5-DC48-9A8E-4BCCC75D547C}" destId="{691E8665-75D6-8046-9F98-C092C72E8AB6}" srcOrd="0" destOrd="0" presId="urn:microsoft.com/office/officeart/2005/8/layout/chevron1"/>
    <dgm:cxn modelId="{15468C3F-7A8E-EE40-A3E1-63FEF8381D82}" srcId="{0564C46F-8CF5-DC48-9A8E-4BCCC75D547C}" destId="{6D6A2CCF-41F9-0042-A189-F90830B4BEB6}" srcOrd="0" destOrd="0" parTransId="{1377D8FA-53EC-9644-876C-B77BC0CB8DFA}" sibTransId="{A69C2899-3EDD-D143-AF02-854CF035DAFC}"/>
    <dgm:cxn modelId="{9A12EE5E-7A01-8942-8C3F-617C68E0B0E2}" srcId="{0564C46F-8CF5-DC48-9A8E-4BCCC75D547C}" destId="{02E82DF3-49B7-604F-B36B-4AB93B534147}" srcOrd="1" destOrd="0" parTransId="{D2E3538C-E6BB-6343-A7FC-039E7DBFD065}" sibTransId="{502AEF7F-735B-5E43-8A34-9A984089459A}"/>
    <dgm:cxn modelId="{C81FD974-9627-E443-809F-0594D2FF27E4}" srcId="{0564C46F-8CF5-DC48-9A8E-4BCCC75D547C}" destId="{C034B1DB-0D00-4E4C-AA6D-0818F9332EB2}" srcOrd="2" destOrd="0" parTransId="{F7B0ACCB-CE8E-C740-A344-02BF0D8F9CC6}" sibTransId="{83318F5A-E0D0-3349-BFCE-01CB56FF114E}"/>
    <dgm:cxn modelId="{A6AEA9B0-7483-4CC2-85F2-CBED9AEE96DD}" type="presOf" srcId="{02E82DF3-49B7-604F-B36B-4AB93B534147}" destId="{022BB29E-C0BD-5B4E-BD2F-346EAC9A1FBB}" srcOrd="0" destOrd="0" presId="urn:microsoft.com/office/officeart/2005/8/layout/chevron1"/>
    <dgm:cxn modelId="{1F4966C0-D9E8-4D9A-A9AC-023EC7D3D729}" type="presOf" srcId="{C034B1DB-0D00-4E4C-AA6D-0818F9332EB2}" destId="{D346B28C-314A-4B47-8C56-5964F3C1BB20}" srcOrd="0" destOrd="0" presId="urn:microsoft.com/office/officeart/2005/8/layout/chevron1"/>
    <dgm:cxn modelId="{61716686-5059-4ECE-A823-C25839238E99}" type="presParOf" srcId="{691E8665-75D6-8046-9F98-C092C72E8AB6}" destId="{A17CA81A-9E81-4549-919E-ED1C8B495F1F}" srcOrd="0" destOrd="0" presId="urn:microsoft.com/office/officeart/2005/8/layout/chevron1"/>
    <dgm:cxn modelId="{4E230AF9-1F49-4D86-A7A8-81ED62AAEC34}" type="presParOf" srcId="{691E8665-75D6-8046-9F98-C092C72E8AB6}" destId="{CCA6B996-67FF-8C4F-BE23-09591026FAF2}" srcOrd="1" destOrd="0" presId="urn:microsoft.com/office/officeart/2005/8/layout/chevron1"/>
    <dgm:cxn modelId="{8BCB2D35-65CE-440A-BA4B-C155631172AD}" type="presParOf" srcId="{691E8665-75D6-8046-9F98-C092C72E8AB6}" destId="{022BB29E-C0BD-5B4E-BD2F-346EAC9A1FBB}" srcOrd="2" destOrd="0" presId="urn:microsoft.com/office/officeart/2005/8/layout/chevron1"/>
    <dgm:cxn modelId="{9C783241-D64B-4F8B-AA89-1FDDECA81454}" type="presParOf" srcId="{691E8665-75D6-8046-9F98-C092C72E8AB6}" destId="{75256038-95C2-7D42-981E-AB3C6E4EA8DE}" srcOrd="3" destOrd="0" presId="urn:microsoft.com/office/officeart/2005/8/layout/chevron1"/>
    <dgm:cxn modelId="{ACD462A9-A1FA-43A1-A5B9-37CCCA27FC0D}" type="presParOf" srcId="{691E8665-75D6-8046-9F98-C092C72E8AB6}" destId="{D346B28C-314A-4B47-8C56-5964F3C1BB20}" srcOrd="4" destOrd="0" presId="urn:microsoft.com/office/officeart/2005/8/layout/chevron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115A9A-273A-C24E-9E5E-CE8F5AB40C8D}">
      <dsp:nvSpPr>
        <dsp:cNvPr id="0" name=""/>
        <dsp:cNvSpPr/>
      </dsp:nvSpPr>
      <dsp:spPr>
        <a:xfrm>
          <a:off x="-5116992" y="-783865"/>
          <a:ext cx="6093694" cy="6093694"/>
        </a:xfrm>
        <a:prstGeom prst="blockArc">
          <a:avLst>
            <a:gd name="adj1" fmla="val 18900000"/>
            <a:gd name="adj2" fmla="val 2700000"/>
            <a:gd name="adj3" fmla="val 354"/>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F39484-3BAA-1647-BE78-23D37EEE0D81}">
      <dsp:nvSpPr>
        <dsp:cNvPr id="0" name=""/>
        <dsp:cNvSpPr/>
      </dsp:nvSpPr>
      <dsp:spPr>
        <a:xfrm>
          <a:off x="511409" y="347956"/>
          <a:ext cx="7655707" cy="69627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68" tIns="43180" rIns="43180" bIns="43180" numCol="1" spcCol="1270" anchor="ctr" anchorCtr="0">
          <a:noAutofit/>
        </a:bodyPr>
        <a:lstStyle/>
        <a:p>
          <a:pPr marL="0" lvl="0" indent="0" algn="l" defTabSz="755650">
            <a:lnSpc>
              <a:spcPct val="90000"/>
            </a:lnSpc>
            <a:spcBef>
              <a:spcPct val="0"/>
            </a:spcBef>
            <a:spcAft>
              <a:spcPct val="35000"/>
            </a:spcAft>
            <a:buNone/>
          </a:pPr>
          <a:r>
            <a:rPr lang="it-IT" sz="1700" kern="1200" dirty="0"/>
            <a:t>A </a:t>
          </a:r>
          <a:r>
            <a:rPr lang="it-IT" sz="1700" b="1" i="1" kern="1200" dirty="0">
              <a:solidFill>
                <a:srgbClr val="FF0000"/>
              </a:solidFill>
            </a:rPr>
            <a:t>System of Systems </a:t>
          </a:r>
          <a:r>
            <a:rPr lang="it-IT" sz="1700" kern="1200" dirty="0"/>
            <a:t>to </a:t>
          </a:r>
          <a:r>
            <a:rPr lang="it-IT" sz="1700" kern="1200" dirty="0" err="1"/>
            <a:t>provide</a:t>
          </a:r>
          <a:r>
            <a:rPr lang="it-IT" sz="1700" kern="1200" dirty="0"/>
            <a:t> a </a:t>
          </a:r>
          <a:r>
            <a:rPr lang="it-IT" sz="1700" kern="1200" dirty="0" err="1"/>
            <a:t>unique</a:t>
          </a:r>
          <a:r>
            <a:rPr lang="it-IT" sz="1700" kern="1200" dirty="0"/>
            <a:t> entry </a:t>
          </a:r>
          <a:r>
            <a:rPr lang="it-IT" sz="1700" kern="1200" dirty="0" err="1"/>
            <a:t>point</a:t>
          </a:r>
          <a:r>
            <a:rPr lang="it-IT" sz="1700" kern="1200" dirty="0"/>
            <a:t> for Client Applications to </a:t>
          </a:r>
          <a:r>
            <a:rPr lang="it-IT" sz="1700" kern="1200" dirty="0" err="1"/>
            <a:t>discover</a:t>
          </a:r>
          <a:r>
            <a:rPr lang="it-IT" sz="1700" kern="1200" dirty="0"/>
            <a:t> and </a:t>
          </a:r>
          <a:r>
            <a:rPr lang="it-IT" sz="1700" kern="1200" dirty="0" err="1"/>
            <a:t>access</a:t>
          </a:r>
          <a:r>
            <a:rPr lang="it-IT" sz="1700" kern="1200" dirty="0"/>
            <a:t> </a:t>
          </a:r>
          <a:r>
            <a:rPr lang="it-IT" sz="1700" kern="1200" dirty="0" err="1"/>
            <a:t>Hydrological</a:t>
          </a:r>
          <a:r>
            <a:rPr lang="it-IT" sz="1700" kern="1200" dirty="0"/>
            <a:t> data </a:t>
          </a:r>
          <a:r>
            <a:rPr lang="it-IT" sz="1700" kern="1200" dirty="0" err="1"/>
            <a:t>published</a:t>
          </a:r>
          <a:r>
            <a:rPr lang="it-IT" sz="1700" kern="1200" dirty="0"/>
            <a:t> by the </a:t>
          </a:r>
          <a:r>
            <a:rPr lang="it-IT" sz="1700" kern="1200" dirty="0" err="1"/>
            <a:t>contributing</a:t>
          </a:r>
          <a:r>
            <a:rPr lang="it-IT" sz="1700" kern="1200" dirty="0"/>
            <a:t> Data </a:t>
          </a:r>
          <a:r>
            <a:rPr lang="it-IT" sz="1700" kern="1200" dirty="0" err="1"/>
            <a:t>Nodes</a:t>
          </a:r>
          <a:r>
            <a:rPr lang="it-IT" sz="1700" kern="1200" dirty="0"/>
            <a:t>.</a:t>
          </a:r>
        </a:p>
      </dsp:txBody>
      <dsp:txXfrm>
        <a:off x="511409" y="347956"/>
        <a:ext cx="7655707" cy="696274"/>
      </dsp:txXfrm>
    </dsp:sp>
    <dsp:sp modelId="{7DB49859-BD17-F24C-85D3-B4987FB19F23}">
      <dsp:nvSpPr>
        <dsp:cNvPr id="0" name=""/>
        <dsp:cNvSpPr/>
      </dsp:nvSpPr>
      <dsp:spPr>
        <a:xfrm>
          <a:off x="76237" y="260921"/>
          <a:ext cx="870342" cy="870342"/>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B69CB5-0D8F-BA48-9E5E-4ED0ADE720D8}">
      <dsp:nvSpPr>
        <dsp:cNvPr id="0" name=""/>
        <dsp:cNvSpPr/>
      </dsp:nvSpPr>
      <dsp:spPr>
        <a:xfrm>
          <a:off x="910599" y="1392548"/>
          <a:ext cx="7256517" cy="696274"/>
        </a:xfrm>
        <a:prstGeom prst="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68" tIns="43180" rIns="43180" bIns="43180" numCol="1" spcCol="1270" anchor="ctr" anchorCtr="0">
          <a:noAutofit/>
        </a:bodyPr>
        <a:lstStyle/>
        <a:p>
          <a:pPr marL="0" lvl="0" indent="0" algn="l" defTabSz="755650">
            <a:lnSpc>
              <a:spcPct val="90000"/>
            </a:lnSpc>
            <a:spcBef>
              <a:spcPct val="0"/>
            </a:spcBef>
            <a:spcAft>
              <a:spcPct val="35000"/>
            </a:spcAft>
            <a:buNone/>
          </a:pPr>
          <a:r>
            <a:rPr lang="it-IT" sz="1700" kern="1200" dirty="0"/>
            <a:t>Client </a:t>
          </a:r>
          <a:r>
            <a:rPr lang="it-IT" sz="1700" kern="1200" dirty="0" err="1"/>
            <a:t>Applications</a:t>
          </a:r>
          <a:r>
            <a:rPr lang="it-IT" sz="1700" kern="1200" dirty="0"/>
            <a:t> </a:t>
          </a:r>
          <a:r>
            <a:rPr lang="it-IT" sz="1700" kern="1200" dirty="0" err="1"/>
            <a:t>access</a:t>
          </a:r>
          <a:r>
            <a:rPr lang="it-IT" sz="1700" kern="1200" dirty="0"/>
            <a:t> the system </a:t>
          </a:r>
          <a:r>
            <a:rPr lang="it-IT" sz="1700" kern="1200" dirty="0" err="1"/>
            <a:t>utlizing</a:t>
          </a:r>
          <a:r>
            <a:rPr lang="it-IT" sz="1700" kern="1200" dirty="0"/>
            <a:t> the </a:t>
          </a:r>
          <a:r>
            <a:rPr lang="it-IT" sz="1700" kern="1200" dirty="0" err="1"/>
            <a:t>preferred</a:t>
          </a:r>
          <a:r>
            <a:rPr lang="it-IT" sz="1700" kern="1200" dirty="0"/>
            <a:t> service </a:t>
          </a:r>
          <a:r>
            <a:rPr lang="it-IT" sz="1700" kern="1200" dirty="0" err="1"/>
            <a:t>protocol</a:t>
          </a:r>
          <a:r>
            <a:rPr lang="it-IT" sz="1700" kern="1200" dirty="0"/>
            <a:t>/</a:t>
          </a:r>
          <a:r>
            <a:rPr lang="it-IT" sz="1700" kern="1200" dirty="0" err="1"/>
            <a:t>APIs</a:t>
          </a:r>
          <a:r>
            <a:rPr lang="it-IT" sz="1700" kern="1200" dirty="0"/>
            <a:t>.</a:t>
          </a:r>
        </a:p>
      </dsp:txBody>
      <dsp:txXfrm>
        <a:off x="910599" y="1392548"/>
        <a:ext cx="7256517" cy="696274"/>
      </dsp:txXfrm>
    </dsp:sp>
    <dsp:sp modelId="{E5B7EE61-A906-FF48-9196-83B87A85CCDF}">
      <dsp:nvSpPr>
        <dsp:cNvPr id="0" name=""/>
        <dsp:cNvSpPr/>
      </dsp:nvSpPr>
      <dsp:spPr>
        <a:xfrm>
          <a:off x="475427" y="1305514"/>
          <a:ext cx="870342" cy="870342"/>
        </a:xfrm>
        <a:prstGeom prst="ellipse">
          <a:avLst/>
        </a:prstGeom>
        <a:solidFill>
          <a:schemeClr val="lt1">
            <a:hueOff val="0"/>
            <a:satOff val="0"/>
            <a:lumOff val="0"/>
            <a:alphaOff val="0"/>
          </a:scheme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dsp:style>
    </dsp:sp>
    <dsp:sp modelId="{4E5E316E-80F4-1D41-83BF-D81008E500EE}">
      <dsp:nvSpPr>
        <dsp:cNvPr id="0" name=""/>
        <dsp:cNvSpPr/>
      </dsp:nvSpPr>
      <dsp:spPr>
        <a:xfrm>
          <a:off x="910599" y="2437140"/>
          <a:ext cx="7256517" cy="696274"/>
        </a:xfrm>
        <a:prstGeom prst="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68" tIns="43180" rIns="43180" bIns="43180" numCol="1" spcCol="1270" anchor="ctr" anchorCtr="0">
          <a:noAutofit/>
        </a:bodyPr>
        <a:lstStyle/>
        <a:p>
          <a:pPr marL="0" lvl="0" indent="0" algn="l" defTabSz="755650">
            <a:lnSpc>
              <a:spcPct val="90000"/>
            </a:lnSpc>
            <a:spcBef>
              <a:spcPct val="0"/>
            </a:spcBef>
            <a:spcAft>
              <a:spcPct val="35000"/>
            </a:spcAft>
            <a:buNone/>
          </a:pPr>
          <a:r>
            <a:rPr lang="it-IT" sz="1700" kern="1200" dirty="0"/>
            <a:t>Data </a:t>
          </a:r>
          <a:r>
            <a:rPr lang="it-IT" sz="1700" kern="1200" dirty="0" err="1"/>
            <a:t>Nodes</a:t>
          </a:r>
          <a:r>
            <a:rPr lang="it-IT" sz="1700" kern="1200" dirty="0"/>
            <a:t> </a:t>
          </a:r>
          <a:r>
            <a:rPr lang="it-IT" sz="1700" kern="1200" dirty="0" err="1"/>
            <a:t>publish</a:t>
          </a:r>
          <a:r>
            <a:rPr lang="it-IT" sz="1700" kern="1200" dirty="0"/>
            <a:t> </a:t>
          </a:r>
          <a:r>
            <a:rPr lang="it-IT" sz="1700" kern="1200" dirty="0" err="1"/>
            <a:t>their</a:t>
          </a:r>
          <a:r>
            <a:rPr lang="it-IT" sz="1700" kern="1200" dirty="0"/>
            <a:t> data </a:t>
          </a:r>
          <a:r>
            <a:rPr lang="it-IT" sz="1700" kern="1200" dirty="0" err="1"/>
            <a:t>utilizing</a:t>
          </a:r>
          <a:r>
            <a:rPr lang="it-IT" sz="1700" kern="1200" dirty="0"/>
            <a:t> the </a:t>
          </a:r>
          <a:r>
            <a:rPr lang="it-IT" sz="1700" kern="1200" dirty="0" err="1"/>
            <a:t>preferred</a:t>
          </a:r>
          <a:r>
            <a:rPr lang="it-IT" sz="1700" kern="1200" dirty="0"/>
            <a:t> service </a:t>
          </a:r>
          <a:r>
            <a:rPr lang="it-IT" sz="1700" kern="1200" dirty="0" err="1"/>
            <a:t>protocol</a:t>
          </a:r>
          <a:r>
            <a:rPr lang="it-IT" sz="1700" kern="1200" dirty="0"/>
            <a:t>/</a:t>
          </a:r>
          <a:r>
            <a:rPr lang="it-IT" sz="1700" kern="1200" dirty="0" err="1"/>
            <a:t>APIs</a:t>
          </a:r>
          <a:r>
            <a:rPr lang="it-IT" sz="1700" kern="1200" dirty="0"/>
            <a:t>.</a:t>
          </a:r>
        </a:p>
      </dsp:txBody>
      <dsp:txXfrm>
        <a:off x="910599" y="2437140"/>
        <a:ext cx="7256517" cy="696274"/>
      </dsp:txXfrm>
    </dsp:sp>
    <dsp:sp modelId="{5E822DCF-EBCF-674B-9AFA-D9770CA421A3}">
      <dsp:nvSpPr>
        <dsp:cNvPr id="0" name=""/>
        <dsp:cNvSpPr/>
      </dsp:nvSpPr>
      <dsp:spPr>
        <a:xfrm>
          <a:off x="475427" y="2350106"/>
          <a:ext cx="870342" cy="870342"/>
        </a:xfrm>
        <a:prstGeom prst="ellipse">
          <a:avLst/>
        </a:prstGeom>
        <a:solidFill>
          <a:schemeClr val="lt1">
            <a:hueOff val="0"/>
            <a:satOff val="0"/>
            <a:lumOff val="0"/>
            <a:alphaOff val="0"/>
          </a:scheme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dsp:style>
    </dsp:sp>
    <dsp:sp modelId="{B80A2A0A-19F8-6D42-A4E2-A0695844884F}">
      <dsp:nvSpPr>
        <dsp:cNvPr id="0" name=""/>
        <dsp:cNvSpPr/>
      </dsp:nvSpPr>
      <dsp:spPr>
        <a:xfrm>
          <a:off x="511409" y="3481732"/>
          <a:ext cx="7655707" cy="696274"/>
        </a:xfrm>
        <a:prstGeom prst="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68" tIns="43180" rIns="43180" bIns="43180" numCol="1" spcCol="1270" anchor="ctr" anchorCtr="0">
          <a:noAutofit/>
        </a:bodyPr>
        <a:lstStyle/>
        <a:p>
          <a:pPr marL="0" lvl="0" indent="0" algn="l" defTabSz="755650">
            <a:lnSpc>
              <a:spcPct val="90000"/>
            </a:lnSpc>
            <a:spcBef>
              <a:spcPct val="0"/>
            </a:spcBef>
            <a:spcAft>
              <a:spcPct val="35000"/>
            </a:spcAft>
            <a:buNone/>
          </a:pPr>
          <a:r>
            <a:rPr lang="it-IT" sz="1700" kern="1200" dirty="0" err="1"/>
            <a:t>Contribute</a:t>
          </a:r>
          <a:r>
            <a:rPr lang="it-IT" sz="1700" kern="1200" dirty="0"/>
            <a:t> </a:t>
          </a:r>
          <a:r>
            <a:rPr lang="it-IT" sz="1700" kern="1200" dirty="0" err="1"/>
            <a:t>to</a:t>
          </a:r>
          <a:r>
            <a:rPr lang="it-IT" sz="1700" kern="1200" dirty="0"/>
            <a:t> WMO </a:t>
          </a:r>
          <a:r>
            <a:rPr lang="it-IT" sz="1700" kern="1200" dirty="0" err="1"/>
            <a:t>Hydrological</a:t>
          </a:r>
          <a:r>
            <a:rPr lang="it-IT" sz="1700" kern="1200" dirty="0"/>
            <a:t> </a:t>
          </a:r>
          <a:r>
            <a:rPr lang="it-IT" sz="1700" kern="1200" dirty="0" err="1"/>
            <a:t>Observing</a:t>
          </a:r>
          <a:r>
            <a:rPr lang="it-IT" sz="1700" kern="1200" dirty="0"/>
            <a:t> System (WHOS)</a:t>
          </a:r>
        </a:p>
      </dsp:txBody>
      <dsp:txXfrm>
        <a:off x="511409" y="3481732"/>
        <a:ext cx="7655707" cy="696274"/>
      </dsp:txXfrm>
    </dsp:sp>
    <dsp:sp modelId="{F703611D-43C6-1B47-99EC-32BF9C12BA2F}">
      <dsp:nvSpPr>
        <dsp:cNvPr id="0" name=""/>
        <dsp:cNvSpPr/>
      </dsp:nvSpPr>
      <dsp:spPr>
        <a:xfrm>
          <a:off x="76237" y="3394698"/>
          <a:ext cx="870342" cy="870342"/>
        </a:xfrm>
        <a:prstGeom prst="ellipse">
          <a:avLst/>
        </a:prstGeom>
        <a:solidFill>
          <a:schemeClr val="lt1">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72B2C-DB15-5C4F-B939-8AD16B109703}">
      <dsp:nvSpPr>
        <dsp:cNvPr id="0" name=""/>
        <dsp:cNvSpPr/>
      </dsp:nvSpPr>
      <dsp:spPr>
        <a:xfrm>
          <a:off x="-4387950" y="-673031"/>
          <a:ext cx="5227644" cy="5227644"/>
        </a:xfrm>
        <a:prstGeom prst="blockArc">
          <a:avLst>
            <a:gd name="adj1" fmla="val 18900000"/>
            <a:gd name="adj2" fmla="val 2700000"/>
            <a:gd name="adj3" fmla="val 413"/>
          </a:avLst>
        </a:prstGeom>
        <a:noFill/>
        <a:ln w="25400" cap="flat" cmpd="sng" algn="ctr">
          <a:solidFill>
            <a:schemeClr val="accent1">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6D22BE-16A3-714F-A04E-35DED07162FB}">
      <dsp:nvSpPr>
        <dsp:cNvPr id="0" name=""/>
        <dsp:cNvSpPr/>
      </dsp:nvSpPr>
      <dsp:spPr>
        <a:xfrm>
          <a:off x="439879" y="298415"/>
          <a:ext cx="4675560" cy="597142"/>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3982" tIns="45720" rIns="45720" bIns="45720" numCol="1" spcCol="1270" anchor="ctr" anchorCtr="0">
          <a:noAutofit/>
        </a:bodyPr>
        <a:lstStyle/>
        <a:p>
          <a:pPr marL="0" lvl="0" indent="0" algn="l" defTabSz="800100">
            <a:lnSpc>
              <a:spcPct val="90000"/>
            </a:lnSpc>
            <a:spcBef>
              <a:spcPct val="0"/>
            </a:spcBef>
            <a:spcAft>
              <a:spcPct val="35000"/>
            </a:spcAft>
            <a:buNone/>
          </a:pPr>
          <a:r>
            <a:rPr lang="it-IT" sz="1800" kern="1200" dirty="0" err="1"/>
            <a:t>Implement</a:t>
          </a:r>
          <a:r>
            <a:rPr lang="it-IT" sz="1800" kern="1200" dirty="0"/>
            <a:t> </a:t>
          </a:r>
          <a:r>
            <a:rPr lang="it-IT" sz="1800" kern="1200" dirty="0" err="1"/>
            <a:t>interoperability</a:t>
          </a:r>
          <a:r>
            <a:rPr lang="it-IT" sz="1800" kern="1200" dirty="0"/>
            <a:t> </a:t>
          </a:r>
          <a:r>
            <a:rPr lang="it-IT" sz="1800" kern="1200" dirty="0" err="1"/>
            <a:t>with</a:t>
          </a:r>
          <a:r>
            <a:rPr lang="it-IT" sz="1800" kern="1200" dirty="0"/>
            <a:t> service </a:t>
          </a:r>
          <a:r>
            <a:rPr lang="it-IT" sz="1800" kern="1200" dirty="0" err="1"/>
            <a:t>protocols</a:t>
          </a:r>
          <a:r>
            <a:rPr lang="it-IT" sz="1800" kern="1200" dirty="0"/>
            <a:t>/</a:t>
          </a:r>
          <a:r>
            <a:rPr lang="it-IT" sz="1800" kern="1200" dirty="0" err="1"/>
            <a:t>APIs</a:t>
          </a:r>
          <a:r>
            <a:rPr lang="it-IT" sz="1800" kern="1200" dirty="0"/>
            <a:t> </a:t>
          </a:r>
          <a:r>
            <a:rPr lang="it-IT" sz="1800" kern="1200" dirty="0" err="1"/>
            <a:t>utilized</a:t>
          </a:r>
          <a:r>
            <a:rPr lang="it-IT" sz="1800" kern="1200" dirty="0"/>
            <a:t> </a:t>
          </a:r>
          <a:r>
            <a:rPr lang="it-IT" sz="1800" kern="1200" dirty="0" err="1"/>
            <a:t>by</a:t>
          </a:r>
          <a:r>
            <a:rPr lang="it-IT" sz="1800" kern="1200" dirty="0"/>
            <a:t> the Data </a:t>
          </a:r>
          <a:r>
            <a:rPr lang="it-IT" sz="1800" kern="1200" dirty="0" err="1"/>
            <a:t>Nodes</a:t>
          </a:r>
          <a:endParaRPr lang="it-IT" sz="1800" kern="1200" dirty="0"/>
        </a:p>
      </dsp:txBody>
      <dsp:txXfrm>
        <a:off x="439879" y="298415"/>
        <a:ext cx="4675560" cy="597142"/>
      </dsp:txXfrm>
    </dsp:sp>
    <dsp:sp modelId="{7C6296EB-DBD7-D34D-9483-86CD7E39F47D}">
      <dsp:nvSpPr>
        <dsp:cNvPr id="0" name=""/>
        <dsp:cNvSpPr/>
      </dsp:nvSpPr>
      <dsp:spPr>
        <a:xfrm>
          <a:off x="66665" y="223773"/>
          <a:ext cx="746428" cy="746428"/>
        </a:xfrm>
        <a:prstGeom prst="ellipse">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D45C00-F9E7-2046-A285-0D97821D7332}">
      <dsp:nvSpPr>
        <dsp:cNvPr id="0" name=""/>
        <dsp:cNvSpPr/>
      </dsp:nvSpPr>
      <dsp:spPr>
        <a:xfrm>
          <a:off x="782234" y="1194284"/>
          <a:ext cx="4333205" cy="597142"/>
        </a:xfrm>
        <a:prstGeom prst="rect">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3982" tIns="45720" rIns="45720" bIns="45720" numCol="1" spcCol="1270" anchor="ctr" anchorCtr="0">
          <a:noAutofit/>
        </a:bodyPr>
        <a:lstStyle/>
        <a:p>
          <a:pPr marL="0" lvl="0" indent="0" algn="l" defTabSz="800100">
            <a:lnSpc>
              <a:spcPct val="90000"/>
            </a:lnSpc>
            <a:spcBef>
              <a:spcPct val="0"/>
            </a:spcBef>
            <a:spcAft>
              <a:spcPct val="35000"/>
            </a:spcAft>
            <a:buNone/>
          </a:pPr>
          <a:r>
            <a:rPr lang="it-IT" sz="1800" kern="1200" dirty="0" err="1"/>
            <a:t>Publish</a:t>
          </a:r>
          <a:r>
            <a:rPr lang="it-IT" sz="1800" kern="1200" dirty="0"/>
            <a:t> service </a:t>
          </a:r>
          <a:r>
            <a:rPr lang="it-IT" sz="1800" kern="1200" dirty="0" err="1"/>
            <a:t>protocols</a:t>
          </a:r>
          <a:r>
            <a:rPr lang="it-IT" sz="1800" kern="1200" dirty="0"/>
            <a:t>/</a:t>
          </a:r>
          <a:r>
            <a:rPr lang="it-IT" sz="1800" kern="1200" dirty="0" err="1"/>
            <a:t>APIs</a:t>
          </a:r>
          <a:r>
            <a:rPr lang="it-IT" sz="1800" kern="1200" dirty="0"/>
            <a:t> </a:t>
          </a:r>
          <a:r>
            <a:rPr lang="it-IT" sz="1800" kern="1200" dirty="0" err="1"/>
            <a:t>required</a:t>
          </a:r>
          <a:r>
            <a:rPr lang="it-IT" sz="1800" kern="1200" dirty="0"/>
            <a:t> </a:t>
          </a:r>
          <a:r>
            <a:rPr lang="it-IT" sz="1800" kern="1200" dirty="0" err="1"/>
            <a:t>by</a:t>
          </a:r>
          <a:r>
            <a:rPr lang="it-IT" sz="1800" kern="1200" dirty="0"/>
            <a:t> Client </a:t>
          </a:r>
          <a:r>
            <a:rPr lang="it-IT" sz="1800" kern="1200" dirty="0" err="1"/>
            <a:t>Applcations</a:t>
          </a:r>
          <a:endParaRPr lang="it-IT" sz="1800" kern="1200" dirty="0"/>
        </a:p>
      </dsp:txBody>
      <dsp:txXfrm>
        <a:off x="782234" y="1194284"/>
        <a:ext cx="4333205" cy="597142"/>
      </dsp:txXfrm>
    </dsp:sp>
    <dsp:sp modelId="{3D7C91C0-4126-9546-B6FD-C0856C609A36}">
      <dsp:nvSpPr>
        <dsp:cNvPr id="0" name=""/>
        <dsp:cNvSpPr/>
      </dsp:nvSpPr>
      <dsp:spPr>
        <a:xfrm>
          <a:off x="409020" y="1119642"/>
          <a:ext cx="746428" cy="746428"/>
        </a:xfrm>
        <a:prstGeom prst="ellipse">
          <a:avLst/>
        </a:prstGeom>
        <a:solidFill>
          <a:schemeClr val="lt1">
            <a:hueOff val="0"/>
            <a:satOff val="0"/>
            <a:lumOff val="0"/>
            <a:alphaOff val="0"/>
          </a:schemeClr>
        </a:solidFill>
        <a:ln w="25400" cap="flat" cmpd="sng" algn="ctr">
          <a:solidFill>
            <a:schemeClr val="accent1">
              <a:shade val="80000"/>
              <a:hueOff val="102082"/>
              <a:satOff val="-1464"/>
              <a:lumOff val="8538"/>
              <a:alphaOff val="0"/>
            </a:schemeClr>
          </a:solidFill>
          <a:prstDash val="solid"/>
        </a:ln>
        <a:effectLst/>
      </dsp:spPr>
      <dsp:style>
        <a:lnRef idx="2">
          <a:scrgbClr r="0" g="0" b="0"/>
        </a:lnRef>
        <a:fillRef idx="1">
          <a:scrgbClr r="0" g="0" b="0"/>
        </a:fillRef>
        <a:effectRef idx="0">
          <a:scrgbClr r="0" g="0" b="0"/>
        </a:effectRef>
        <a:fontRef idx="minor"/>
      </dsp:style>
    </dsp:sp>
    <dsp:sp modelId="{2D598E94-4E17-6146-BA72-CBEAC547CCF1}">
      <dsp:nvSpPr>
        <dsp:cNvPr id="0" name=""/>
        <dsp:cNvSpPr/>
      </dsp:nvSpPr>
      <dsp:spPr>
        <a:xfrm>
          <a:off x="782234" y="2090153"/>
          <a:ext cx="4333205" cy="597142"/>
        </a:xfrm>
        <a:prstGeom prst="rect">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3982" tIns="45720" rIns="45720" bIns="45720" numCol="1" spcCol="1270" anchor="ctr" anchorCtr="0">
          <a:noAutofit/>
        </a:bodyPr>
        <a:lstStyle/>
        <a:p>
          <a:pPr marL="0" lvl="0" indent="0" algn="l" defTabSz="800100">
            <a:lnSpc>
              <a:spcPct val="90000"/>
            </a:lnSpc>
            <a:spcBef>
              <a:spcPct val="0"/>
            </a:spcBef>
            <a:spcAft>
              <a:spcPct val="35000"/>
            </a:spcAft>
            <a:buNone/>
          </a:pPr>
          <a:r>
            <a:rPr lang="it-IT" sz="1800" kern="1200" dirty="0" err="1"/>
            <a:t>Metadata</a:t>
          </a:r>
          <a:r>
            <a:rPr lang="it-IT" sz="1800" kern="1200" dirty="0"/>
            <a:t> </a:t>
          </a:r>
          <a:r>
            <a:rPr lang="it-IT" sz="1800" kern="1200" dirty="0" err="1"/>
            <a:t>mapping</a:t>
          </a:r>
          <a:endParaRPr lang="it-IT" sz="1800" kern="1200" dirty="0"/>
        </a:p>
      </dsp:txBody>
      <dsp:txXfrm>
        <a:off x="782234" y="2090153"/>
        <a:ext cx="4333205" cy="597142"/>
      </dsp:txXfrm>
    </dsp:sp>
    <dsp:sp modelId="{836EB642-8D23-C94A-8278-A76343B44987}">
      <dsp:nvSpPr>
        <dsp:cNvPr id="0" name=""/>
        <dsp:cNvSpPr/>
      </dsp:nvSpPr>
      <dsp:spPr>
        <a:xfrm>
          <a:off x="409020" y="2015510"/>
          <a:ext cx="746428" cy="746428"/>
        </a:xfrm>
        <a:prstGeom prst="ellipse">
          <a:avLst/>
        </a:prstGeom>
        <a:solidFill>
          <a:schemeClr val="lt1">
            <a:hueOff val="0"/>
            <a:satOff val="0"/>
            <a:lumOff val="0"/>
            <a:alphaOff val="0"/>
          </a:schemeClr>
        </a:solidFill>
        <a:ln w="25400" cap="flat" cmpd="sng" algn="ctr">
          <a:solidFill>
            <a:schemeClr val="accent1">
              <a:shade val="80000"/>
              <a:hueOff val="204164"/>
              <a:satOff val="-2928"/>
              <a:lumOff val="17077"/>
              <a:alphaOff val="0"/>
            </a:schemeClr>
          </a:solidFill>
          <a:prstDash val="solid"/>
        </a:ln>
        <a:effectLst/>
      </dsp:spPr>
      <dsp:style>
        <a:lnRef idx="2">
          <a:scrgbClr r="0" g="0" b="0"/>
        </a:lnRef>
        <a:fillRef idx="1">
          <a:scrgbClr r="0" g="0" b="0"/>
        </a:fillRef>
        <a:effectRef idx="0">
          <a:scrgbClr r="0" g="0" b="0"/>
        </a:effectRef>
        <a:fontRef idx="minor"/>
      </dsp:style>
    </dsp:sp>
    <dsp:sp modelId="{581599CB-EC88-3046-A2A5-E9A5A890A4C1}">
      <dsp:nvSpPr>
        <dsp:cNvPr id="0" name=""/>
        <dsp:cNvSpPr/>
      </dsp:nvSpPr>
      <dsp:spPr>
        <a:xfrm>
          <a:off x="439879" y="2986022"/>
          <a:ext cx="4675560" cy="597142"/>
        </a:xfrm>
        <a:prstGeom prst="rect">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3982" tIns="45720" rIns="45720" bIns="45720" numCol="1" spcCol="1270" anchor="ctr" anchorCtr="0">
          <a:noAutofit/>
        </a:bodyPr>
        <a:lstStyle/>
        <a:p>
          <a:pPr marL="0" lvl="0" indent="0" algn="l" defTabSz="800100">
            <a:lnSpc>
              <a:spcPct val="90000"/>
            </a:lnSpc>
            <a:spcBef>
              <a:spcPct val="0"/>
            </a:spcBef>
            <a:spcAft>
              <a:spcPct val="35000"/>
            </a:spcAft>
            <a:buNone/>
          </a:pPr>
          <a:r>
            <a:rPr lang="it-IT" sz="1800" kern="1200" dirty="0"/>
            <a:t>Data </a:t>
          </a:r>
          <a:r>
            <a:rPr lang="it-IT" sz="1800" kern="1200" dirty="0" err="1"/>
            <a:t>transformation</a:t>
          </a:r>
          <a:endParaRPr lang="it-IT" sz="1800" kern="1200" dirty="0"/>
        </a:p>
      </dsp:txBody>
      <dsp:txXfrm>
        <a:off x="439879" y="2986022"/>
        <a:ext cx="4675560" cy="597142"/>
      </dsp:txXfrm>
    </dsp:sp>
    <dsp:sp modelId="{81BAFA1C-6B08-C740-8F6C-EB656BFDDD6C}">
      <dsp:nvSpPr>
        <dsp:cNvPr id="0" name=""/>
        <dsp:cNvSpPr/>
      </dsp:nvSpPr>
      <dsp:spPr>
        <a:xfrm>
          <a:off x="66665" y="2911379"/>
          <a:ext cx="746428" cy="746428"/>
        </a:xfrm>
        <a:prstGeom prst="ellipse">
          <a:avLst/>
        </a:prstGeom>
        <a:solidFill>
          <a:schemeClr val="lt1">
            <a:hueOff val="0"/>
            <a:satOff val="0"/>
            <a:lumOff val="0"/>
            <a:alphaOff val="0"/>
          </a:schemeClr>
        </a:solidFill>
        <a:ln w="25400" cap="flat" cmpd="sng" algn="ctr">
          <a:solidFill>
            <a:schemeClr val="accent1">
              <a:shade val="80000"/>
              <a:hueOff val="306246"/>
              <a:satOff val="-4392"/>
              <a:lumOff val="2561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72B2C-DB15-5C4F-B939-8AD16B109703}">
      <dsp:nvSpPr>
        <dsp:cNvPr id="0" name=""/>
        <dsp:cNvSpPr/>
      </dsp:nvSpPr>
      <dsp:spPr>
        <a:xfrm>
          <a:off x="-4387950" y="-673031"/>
          <a:ext cx="5227644" cy="5227644"/>
        </a:xfrm>
        <a:prstGeom prst="blockArc">
          <a:avLst>
            <a:gd name="adj1" fmla="val 18900000"/>
            <a:gd name="adj2" fmla="val 2700000"/>
            <a:gd name="adj3" fmla="val 413"/>
          </a:avLst>
        </a:prstGeom>
        <a:noFill/>
        <a:ln w="25400" cap="flat" cmpd="sng" algn="ctr">
          <a:solidFill>
            <a:schemeClr val="accent3">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6D22BE-16A3-714F-A04E-35DED07162FB}">
      <dsp:nvSpPr>
        <dsp:cNvPr id="0" name=""/>
        <dsp:cNvSpPr/>
      </dsp:nvSpPr>
      <dsp:spPr>
        <a:xfrm>
          <a:off x="367681" y="242521"/>
          <a:ext cx="4747757" cy="485352"/>
        </a:xfrm>
        <a:prstGeom prst="rect">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249" tIns="33020" rIns="33020" bIns="33020" numCol="1" spcCol="1270" anchor="ctr" anchorCtr="0">
          <a:noAutofit/>
        </a:bodyPr>
        <a:lstStyle/>
        <a:p>
          <a:pPr marL="0" lvl="0" indent="0" algn="l" defTabSz="577850">
            <a:lnSpc>
              <a:spcPct val="90000"/>
            </a:lnSpc>
            <a:spcBef>
              <a:spcPct val="0"/>
            </a:spcBef>
            <a:spcAft>
              <a:spcPct val="35000"/>
            </a:spcAft>
            <a:buNone/>
          </a:pPr>
          <a:r>
            <a:rPr lang="it-IT" sz="1300" kern="1200" dirty="0" err="1"/>
            <a:t>Availability</a:t>
          </a:r>
          <a:endParaRPr lang="it-IT" sz="1300" kern="1200" dirty="0"/>
        </a:p>
      </dsp:txBody>
      <dsp:txXfrm>
        <a:off x="367681" y="242521"/>
        <a:ext cx="4747757" cy="485352"/>
      </dsp:txXfrm>
    </dsp:sp>
    <dsp:sp modelId="{7C6296EB-DBD7-D34D-9483-86CD7E39F47D}">
      <dsp:nvSpPr>
        <dsp:cNvPr id="0" name=""/>
        <dsp:cNvSpPr/>
      </dsp:nvSpPr>
      <dsp:spPr>
        <a:xfrm>
          <a:off x="64336" y="181852"/>
          <a:ext cx="606691" cy="606691"/>
        </a:xfrm>
        <a:prstGeom prst="ellipse">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533CF9-0EFB-3E45-BC70-C247200ECC19}">
      <dsp:nvSpPr>
        <dsp:cNvPr id="0" name=""/>
        <dsp:cNvSpPr/>
      </dsp:nvSpPr>
      <dsp:spPr>
        <a:xfrm>
          <a:off x="715471" y="970317"/>
          <a:ext cx="4399968" cy="485352"/>
        </a:xfrm>
        <a:prstGeom prst="rect">
          <a:avLst/>
        </a:prstGeom>
        <a:solidFill>
          <a:schemeClr val="accent3">
            <a:shade val="80000"/>
            <a:hueOff val="54727"/>
            <a:satOff val="-358"/>
            <a:lumOff val="61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249" tIns="33020" rIns="33020" bIns="33020" numCol="1" spcCol="1270" anchor="ctr" anchorCtr="0">
          <a:noAutofit/>
        </a:bodyPr>
        <a:lstStyle/>
        <a:p>
          <a:pPr marL="0" lvl="0" indent="0" algn="l" defTabSz="577850">
            <a:lnSpc>
              <a:spcPct val="90000"/>
            </a:lnSpc>
            <a:spcBef>
              <a:spcPct val="0"/>
            </a:spcBef>
            <a:spcAft>
              <a:spcPct val="35000"/>
            </a:spcAft>
            <a:buNone/>
          </a:pPr>
          <a:r>
            <a:rPr lang="it-IT" sz="1300" kern="1200" dirty="0" err="1"/>
            <a:t>Scalability</a:t>
          </a:r>
          <a:endParaRPr lang="it-IT" sz="1300" kern="1200" dirty="0"/>
        </a:p>
      </dsp:txBody>
      <dsp:txXfrm>
        <a:off x="715471" y="970317"/>
        <a:ext cx="4399968" cy="485352"/>
      </dsp:txXfrm>
    </dsp:sp>
    <dsp:sp modelId="{7D8DD9AC-5811-424F-84E6-B3D16834A61F}">
      <dsp:nvSpPr>
        <dsp:cNvPr id="0" name=""/>
        <dsp:cNvSpPr/>
      </dsp:nvSpPr>
      <dsp:spPr>
        <a:xfrm>
          <a:off x="412125" y="909648"/>
          <a:ext cx="606691" cy="606691"/>
        </a:xfrm>
        <a:prstGeom prst="ellipse">
          <a:avLst/>
        </a:prstGeom>
        <a:solidFill>
          <a:schemeClr val="lt1">
            <a:hueOff val="0"/>
            <a:satOff val="0"/>
            <a:lumOff val="0"/>
            <a:alphaOff val="0"/>
          </a:schemeClr>
        </a:solidFill>
        <a:ln w="25400" cap="flat" cmpd="sng" algn="ctr">
          <a:solidFill>
            <a:schemeClr val="accent3">
              <a:shade val="80000"/>
              <a:hueOff val="54727"/>
              <a:satOff val="-358"/>
              <a:lumOff val="6139"/>
              <a:alphaOff val="0"/>
            </a:schemeClr>
          </a:solidFill>
          <a:prstDash val="solid"/>
        </a:ln>
        <a:effectLst/>
      </dsp:spPr>
      <dsp:style>
        <a:lnRef idx="2">
          <a:scrgbClr r="0" g="0" b="0"/>
        </a:lnRef>
        <a:fillRef idx="1">
          <a:scrgbClr r="0" g="0" b="0"/>
        </a:fillRef>
        <a:effectRef idx="0">
          <a:scrgbClr r="0" g="0" b="0"/>
        </a:effectRef>
        <a:fontRef idx="minor"/>
      </dsp:style>
    </dsp:sp>
    <dsp:sp modelId="{9466D60A-A98D-B541-A786-23869F7B5F09}">
      <dsp:nvSpPr>
        <dsp:cNvPr id="0" name=""/>
        <dsp:cNvSpPr/>
      </dsp:nvSpPr>
      <dsp:spPr>
        <a:xfrm>
          <a:off x="822214" y="1698114"/>
          <a:ext cx="4293224" cy="485352"/>
        </a:xfrm>
        <a:prstGeom prst="rect">
          <a:avLst/>
        </a:prstGeom>
        <a:solidFill>
          <a:schemeClr val="accent3">
            <a:shade val="80000"/>
            <a:hueOff val="109454"/>
            <a:satOff val="-716"/>
            <a:lumOff val="122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249" tIns="33020" rIns="33020" bIns="33020" numCol="1" spcCol="1270" anchor="ctr" anchorCtr="0">
          <a:noAutofit/>
        </a:bodyPr>
        <a:lstStyle/>
        <a:p>
          <a:pPr marL="0" lvl="0" indent="0" algn="l" defTabSz="577850">
            <a:lnSpc>
              <a:spcPct val="90000"/>
            </a:lnSpc>
            <a:spcBef>
              <a:spcPct val="0"/>
            </a:spcBef>
            <a:spcAft>
              <a:spcPct val="35000"/>
            </a:spcAft>
            <a:buNone/>
          </a:pPr>
          <a:r>
            <a:rPr lang="it-IT" sz="1300" kern="1200" dirty="0" err="1"/>
            <a:t>Response</a:t>
          </a:r>
          <a:r>
            <a:rPr lang="it-IT" sz="1300" kern="1200" dirty="0"/>
            <a:t> </a:t>
          </a:r>
          <a:r>
            <a:rPr lang="it-IT" sz="1300" kern="1200" dirty="0" err="1"/>
            <a:t>Time</a:t>
          </a:r>
          <a:endParaRPr lang="it-IT" sz="1300" kern="1200" dirty="0"/>
        </a:p>
      </dsp:txBody>
      <dsp:txXfrm>
        <a:off x="822214" y="1698114"/>
        <a:ext cx="4293224" cy="485352"/>
      </dsp:txXfrm>
    </dsp:sp>
    <dsp:sp modelId="{2D9CDD61-FE8E-3747-A552-884978CA2BD0}">
      <dsp:nvSpPr>
        <dsp:cNvPr id="0" name=""/>
        <dsp:cNvSpPr/>
      </dsp:nvSpPr>
      <dsp:spPr>
        <a:xfrm>
          <a:off x="518869" y="1637444"/>
          <a:ext cx="606691" cy="606691"/>
        </a:xfrm>
        <a:prstGeom prst="ellipse">
          <a:avLst/>
        </a:prstGeom>
        <a:solidFill>
          <a:schemeClr val="lt1">
            <a:hueOff val="0"/>
            <a:satOff val="0"/>
            <a:lumOff val="0"/>
            <a:alphaOff val="0"/>
          </a:schemeClr>
        </a:solidFill>
        <a:ln w="25400" cap="flat" cmpd="sng" algn="ctr">
          <a:solidFill>
            <a:schemeClr val="accent3">
              <a:shade val="80000"/>
              <a:hueOff val="109454"/>
              <a:satOff val="-716"/>
              <a:lumOff val="12277"/>
              <a:alphaOff val="0"/>
            </a:schemeClr>
          </a:solidFill>
          <a:prstDash val="solid"/>
        </a:ln>
        <a:effectLst/>
      </dsp:spPr>
      <dsp:style>
        <a:lnRef idx="2">
          <a:scrgbClr r="0" g="0" b="0"/>
        </a:lnRef>
        <a:fillRef idx="1">
          <a:scrgbClr r="0" g="0" b="0"/>
        </a:fillRef>
        <a:effectRef idx="0">
          <a:scrgbClr r="0" g="0" b="0"/>
        </a:effectRef>
        <a:fontRef idx="minor"/>
      </dsp:style>
    </dsp:sp>
    <dsp:sp modelId="{E91FA33E-6D97-D747-B207-A11E046C44B5}">
      <dsp:nvSpPr>
        <dsp:cNvPr id="0" name=""/>
        <dsp:cNvSpPr/>
      </dsp:nvSpPr>
      <dsp:spPr>
        <a:xfrm>
          <a:off x="715471" y="2425910"/>
          <a:ext cx="4399968" cy="485352"/>
        </a:xfrm>
        <a:prstGeom prst="rect">
          <a:avLst/>
        </a:prstGeom>
        <a:solidFill>
          <a:schemeClr val="accent3">
            <a:shade val="80000"/>
            <a:hueOff val="164180"/>
            <a:satOff val="-1073"/>
            <a:lumOff val="1841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249" tIns="33020" rIns="33020" bIns="33020" numCol="1" spcCol="1270" anchor="ctr" anchorCtr="0">
          <a:noAutofit/>
        </a:bodyPr>
        <a:lstStyle/>
        <a:p>
          <a:pPr marL="0" lvl="0" indent="0" algn="l" defTabSz="577850">
            <a:lnSpc>
              <a:spcPct val="90000"/>
            </a:lnSpc>
            <a:spcBef>
              <a:spcPct val="0"/>
            </a:spcBef>
            <a:spcAft>
              <a:spcPct val="35000"/>
            </a:spcAft>
            <a:buNone/>
          </a:pPr>
          <a:r>
            <a:rPr lang="it-IT" sz="1300" kern="1200" dirty="0" err="1"/>
            <a:t>Throughput</a:t>
          </a:r>
          <a:endParaRPr lang="it-IT" sz="1300" kern="1200" dirty="0"/>
        </a:p>
      </dsp:txBody>
      <dsp:txXfrm>
        <a:off x="715471" y="2425910"/>
        <a:ext cx="4399968" cy="485352"/>
      </dsp:txXfrm>
    </dsp:sp>
    <dsp:sp modelId="{59E91523-55CF-DC4F-9109-C5F4205B1900}">
      <dsp:nvSpPr>
        <dsp:cNvPr id="0" name=""/>
        <dsp:cNvSpPr/>
      </dsp:nvSpPr>
      <dsp:spPr>
        <a:xfrm>
          <a:off x="412125" y="2365241"/>
          <a:ext cx="606691" cy="606691"/>
        </a:xfrm>
        <a:prstGeom prst="ellipse">
          <a:avLst/>
        </a:prstGeom>
        <a:solidFill>
          <a:schemeClr val="lt1">
            <a:hueOff val="0"/>
            <a:satOff val="0"/>
            <a:lumOff val="0"/>
            <a:alphaOff val="0"/>
          </a:schemeClr>
        </a:solidFill>
        <a:ln w="25400" cap="flat" cmpd="sng" algn="ctr">
          <a:solidFill>
            <a:schemeClr val="accent3">
              <a:shade val="80000"/>
              <a:hueOff val="164180"/>
              <a:satOff val="-1073"/>
              <a:lumOff val="18416"/>
              <a:alphaOff val="0"/>
            </a:schemeClr>
          </a:solidFill>
          <a:prstDash val="solid"/>
        </a:ln>
        <a:effectLst/>
      </dsp:spPr>
      <dsp:style>
        <a:lnRef idx="2">
          <a:scrgbClr r="0" g="0" b="0"/>
        </a:lnRef>
        <a:fillRef idx="1">
          <a:scrgbClr r="0" g="0" b="0"/>
        </a:fillRef>
        <a:effectRef idx="0">
          <a:scrgbClr r="0" g="0" b="0"/>
        </a:effectRef>
        <a:fontRef idx="minor"/>
      </dsp:style>
    </dsp:sp>
    <dsp:sp modelId="{CB1D1CEF-4C24-5D4F-9405-3CD8EF0CFB10}">
      <dsp:nvSpPr>
        <dsp:cNvPr id="0" name=""/>
        <dsp:cNvSpPr/>
      </dsp:nvSpPr>
      <dsp:spPr>
        <a:xfrm>
          <a:off x="367681" y="3153706"/>
          <a:ext cx="4747757" cy="485352"/>
        </a:xfrm>
        <a:prstGeom prst="rect">
          <a:avLst/>
        </a:prstGeom>
        <a:solidFill>
          <a:schemeClr val="accent3">
            <a:shade val="80000"/>
            <a:hueOff val="218907"/>
            <a:satOff val="-1431"/>
            <a:lumOff val="245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249" tIns="33020" rIns="33020" bIns="33020" numCol="1" spcCol="1270" anchor="ctr" anchorCtr="0">
          <a:noAutofit/>
        </a:bodyPr>
        <a:lstStyle/>
        <a:p>
          <a:pPr marL="0" lvl="0" indent="0" algn="l" defTabSz="577850">
            <a:lnSpc>
              <a:spcPct val="90000"/>
            </a:lnSpc>
            <a:spcBef>
              <a:spcPct val="0"/>
            </a:spcBef>
            <a:spcAft>
              <a:spcPct val="35000"/>
            </a:spcAft>
            <a:buNone/>
          </a:pPr>
          <a:r>
            <a:rPr lang="it-IT" sz="1300" kern="1200" dirty="0" err="1"/>
            <a:t>Extensibility</a:t>
          </a:r>
          <a:r>
            <a:rPr lang="it-IT" sz="1300" kern="1200" dirty="0"/>
            <a:t>, in </a:t>
          </a:r>
          <a:r>
            <a:rPr lang="it-IT" sz="1300" kern="1200" dirty="0" err="1"/>
            <a:t>particular</a:t>
          </a:r>
          <a:r>
            <a:rPr lang="it-IT" sz="1300" kern="1200" dirty="0"/>
            <a:t> </a:t>
          </a:r>
          <a:r>
            <a:rPr lang="it-IT" sz="1300" kern="1200" dirty="0" err="1"/>
            <a:t>to</a:t>
          </a:r>
          <a:r>
            <a:rPr lang="it-IT" sz="1300" kern="1200" dirty="0"/>
            <a:t> </a:t>
          </a:r>
          <a:r>
            <a:rPr lang="it-IT" sz="1300" kern="1200" dirty="0" err="1"/>
            <a:t>support</a:t>
          </a:r>
          <a:r>
            <a:rPr lang="it-IT" sz="1300" kern="1200" dirty="0"/>
            <a:t> </a:t>
          </a:r>
          <a:r>
            <a:rPr lang="it-IT" sz="1300" kern="1200" dirty="0" err="1"/>
            <a:t>new</a:t>
          </a:r>
          <a:r>
            <a:rPr lang="it-IT" sz="1300" kern="1200" dirty="0"/>
            <a:t> service </a:t>
          </a:r>
          <a:r>
            <a:rPr lang="it-IT" sz="1300" kern="1200" dirty="0" err="1"/>
            <a:t>protocols</a:t>
          </a:r>
          <a:r>
            <a:rPr lang="it-IT" sz="1300" kern="1200" dirty="0"/>
            <a:t>/</a:t>
          </a:r>
          <a:r>
            <a:rPr lang="it-IT" sz="1300" kern="1200" dirty="0" err="1"/>
            <a:t>APIs</a:t>
          </a:r>
          <a:r>
            <a:rPr lang="it-IT" sz="1300" kern="1200" dirty="0"/>
            <a:t>, </a:t>
          </a:r>
          <a:r>
            <a:rPr lang="it-IT" sz="1300" kern="1200" dirty="0" err="1"/>
            <a:t>metadata</a:t>
          </a:r>
          <a:r>
            <a:rPr lang="it-IT" sz="1300" kern="1200" dirty="0"/>
            <a:t> </a:t>
          </a:r>
          <a:r>
            <a:rPr lang="it-IT" sz="1300" kern="1200" dirty="0" err="1"/>
            <a:t>schemas</a:t>
          </a:r>
          <a:r>
            <a:rPr lang="it-IT" sz="1300" kern="1200" dirty="0"/>
            <a:t>/</a:t>
          </a:r>
          <a:r>
            <a:rPr lang="it-IT" sz="1300" kern="1200" dirty="0" err="1"/>
            <a:t>encodings</a:t>
          </a:r>
          <a:r>
            <a:rPr lang="it-IT" sz="1300" kern="1200" dirty="0"/>
            <a:t> and data </a:t>
          </a:r>
          <a:r>
            <a:rPr lang="it-IT" sz="1300" kern="1200" dirty="0" err="1"/>
            <a:t>models</a:t>
          </a:r>
          <a:r>
            <a:rPr lang="it-IT" sz="1300" kern="1200" dirty="0"/>
            <a:t>/</a:t>
          </a:r>
          <a:r>
            <a:rPr lang="it-IT" sz="1300" kern="1200" dirty="0" err="1"/>
            <a:t>formats</a:t>
          </a:r>
          <a:endParaRPr lang="it-IT" sz="1300" kern="1200" dirty="0"/>
        </a:p>
      </dsp:txBody>
      <dsp:txXfrm>
        <a:off x="367681" y="3153706"/>
        <a:ext cx="4747757" cy="485352"/>
      </dsp:txXfrm>
    </dsp:sp>
    <dsp:sp modelId="{FF3267A9-495D-5A48-94D6-82C48A981096}">
      <dsp:nvSpPr>
        <dsp:cNvPr id="0" name=""/>
        <dsp:cNvSpPr/>
      </dsp:nvSpPr>
      <dsp:spPr>
        <a:xfrm>
          <a:off x="64336" y="3093037"/>
          <a:ext cx="606691" cy="606691"/>
        </a:xfrm>
        <a:prstGeom prst="ellipse">
          <a:avLst/>
        </a:prstGeom>
        <a:solidFill>
          <a:schemeClr val="lt1">
            <a:hueOff val="0"/>
            <a:satOff val="0"/>
            <a:lumOff val="0"/>
            <a:alphaOff val="0"/>
          </a:schemeClr>
        </a:solidFill>
        <a:ln w="25400" cap="flat" cmpd="sng" algn="ctr">
          <a:solidFill>
            <a:schemeClr val="accent3">
              <a:shade val="80000"/>
              <a:hueOff val="218907"/>
              <a:satOff val="-1431"/>
              <a:lumOff val="24554"/>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CA81A-9E81-4549-919E-ED1C8B495F1F}">
      <dsp:nvSpPr>
        <dsp:cNvPr id="0" name=""/>
        <dsp:cNvSpPr/>
      </dsp:nvSpPr>
      <dsp:spPr>
        <a:xfrm>
          <a:off x="2411" y="0"/>
          <a:ext cx="2937420" cy="819872"/>
        </a:xfrm>
        <a:prstGeom prst="chevr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it-IT" sz="1600" kern="1200" dirty="0" err="1"/>
            <a:t>Publishes</a:t>
          </a:r>
          <a:r>
            <a:rPr lang="it-IT" sz="1600" kern="1200" dirty="0"/>
            <a:t> data</a:t>
          </a:r>
        </a:p>
      </dsp:txBody>
      <dsp:txXfrm>
        <a:off x="2411" y="0"/>
        <a:ext cx="2937420" cy="819872"/>
      </dsp:txXfrm>
    </dsp:sp>
    <dsp:sp modelId="{022BB29E-C0BD-5B4E-BD2F-346EAC9A1FBB}">
      <dsp:nvSpPr>
        <dsp:cNvPr id="0" name=""/>
        <dsp:cNvSpPr/>
      </dsp:nvSpPr>
      <dsp:spPr>
        <a:xfrm>
          <a:off x="2646089" y="0"/>
          <a:ext cx="2937420" cy="819872"/>
        </a:xfrm>
        <a:prstGeom prst="chevron">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it-IT" sz="1600" kern="1200" dirty="0" err="1"/>
            <a:t>Interoperability</a:t>
          </a:r>
          <a:r>
            <a:rPr lang="it-IT" sz="1600" kern="1200" dirty="0"/>
            <a:t> </a:t>
          </a:r>
          <a:r>
            <a:rPr lang="it-IT" sz="1600" kern="1200" dirty="0" err="1"/>
            <a:t>Tests</a:t>
          </a:r>
          <a:r>
            <a:rPr lang="it-IT" sz="1600" kern="1200" dirty="0"/>
            <a:t> </a:t>
          </a:r>
        </a:p>
      </dsp:txBody>
      <dsp:txXfrm>
        <a:off x="2646089" y="0"/>
        <a:ext cx="2937420" cy="819872"/>
      </dsp:txXfrm>
    </dsp:sp>
    <dsp:sp modelId="{D346B28C-314A-4B47-8C56-5964F3C1BB20}">
      <dsp:nvSpPr>
        <dsp:cNvPr id="0" name=""/>
        <dsp:cNvSpPr/>
      </dsp:nvSpPr>
      <dsp:spPr>
        <a:xfrm>
          <a:off x="5289768" y="0"/>
          <a:ext cx="2937420" cy="819872"/>
        </a:xfrm>
        <a:prstGeom prst="chevron">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it-IT" sz="1600" kern="1200" dirty="0"/>
            <a:t>Data </a:t>
          </a:r>
          <a:r>
            <a:rPr lang="it-IT" sz="1600" kern="1200" dirty="0" err="1"/>
            <a:t>Node</a:t>
          </a:r>
          <a:r>
            <a:rPr lang="it-IT" sz="1600" kern="1200" dirty="0"/>
            <a:t> </a:t>
          </a:r>
          <a:r>
            <a:rPr lang="it-IT" sz="1600" kern="1200" dirty="0" err="1"/>
            <a:t>becomes</a:t>
          </a:r>
          <a:r>
            <a:rPr lang="it-IT" sz="1600" kern="1200" dirty="0"/>
            <a:t> part of the System of Systems</a:t>
          </a:r>
        </a:p>
      </dsp:txBody>
      <dsp:txXfrm>
        <a:off x="5289768" y="0"/>
        <a:ext cx="2937420" cy="8198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8BD01-0382-1644-B1E4-25A5D75A2CAC}">
      <dsp:nvSpPr>
        <dsp:cNvPr id="0" name=""/>
        <dsp:cNvSpPr/>
      </dsp:nvSpPr>
      <dsp:spPr>
        <a:xfrm>
          <a:off x="208848" y="340"/>
          <a:ext cx="1164229" cy="465691"/>
        </a:xfrm>
        <a:prstGeom prst="chevron">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it-IT" sz="900" kern="1200" dirty="0"/>
            <a:t>Connectivity</a:t>
          </a:r>
        </a:p>
      </dsp:txBody>
      <dsp:txXfrm>
        <a:off x="208848" y="340"/>
        <a:ext cx="1164229" cy="465691"/>
      </dsp:txXfrm>
    </dsp:sp>
    <dsp:sp modelId="{57E36AA7-77C6-1145-B947-D4761A49D78D}">
      <dsp:nvSpPr>
        <dsp:cNvPr id="0" name=""/>
        <dsp:cNvSpPr/>
      </dsp:nvSpPr>
      <dsp:spPr>
        <a:xfrm>
          <a:off x="1221728" y="39924"/>
          <a:ext cx="1618454" cy="38652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it-IT" sz="900" kern="1200" dirty="0"/>
            <a:t>The Data </a:t>
          </a:r>
          <a:r>
            <a:rPr lang="it-IT" sz="900" kern="1200" dirty="0" err="1"/>
            <a:t>Node</a:t>
          </a:r>
          <a:r>
            <a:rPr lang="it-IT" sz="900" kern="1200" dirty="0"/>
            <a:t> </a:t>
          </a:r>
          <a:r>
            <a:rPr lang="it-IT" sz="900" kern="1200" dirty="0" err="1"/>
            <a:t>is</a:t>
          </a:r>
          <a:r>
            <a:rPr lang="it-IT" sz="900" kern="1200" dirty="0"/>
            <a:t> </a:t>
          </a:r>
          <a:r>
            <a:rPr lang="it-IT" sz="900" kern="1200" dirty="0" err="1"/>
            <a:t>reachable</a:t>
          </a:r>
          <a:r>
            <a:rPr lang="it-IT" sz="900" kern="1200" dirty="0"/>
            <a:t> on the Web</a:t>
          </a:r>
        </a:p>
      </dsp:txBody>
      <dsp:txXfrm>
        <a:off x="1221728" y="39924"/>
        <a:ext cx="1618454" cy="386524"/>
      </dsp:txXfrm>
    </dsp:sp>
    <dsp:sp modelId="{CB318C54-C92B-D746-9174-1756052320AA}">
      <dsp:nvSpPr>
        <dsp:cNvPr id="0" name=""/>
        <dsp:cNvSpPr/>
      </dsp:nvSpPr>
      <dsp:spPr>
        <a:xfrm>
          <a:off x="208848" y="531229"/>
          <a:ext cx="1164229" cy="465691"/>
        </a:xfrm>
        <a:prstGeom prst="chevron">
          <a:avLst/>
        </a:prstGeom>
        <a:solidFill>
          <a:schemeClr val="accent1">
            <a:shade val="80000"/>
            <a:hueOff val="153123"/>
            <a:satOff val="-2196"/>
            <a:lumOff val="128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it-IT" sz="900" kern="1200" dirty="0"/>
            <a:t>Data </a:t>
          </a:r>
          <a:r>
            <a:rPr lang="it-IT" sz="900" kern="1200" dirty="0" err="1"/>
            <a:t>Discoverability</a:t>
          </a:r>
          <a:endParaRPr lang="it-IT" sz="900" kern="1200" dirty="0"/>
        </a:p>
      </dsp:txBody>
      <dsp:txXfrm>
        <a:off x="208848" y="531229"/>
        <a:ext cx="1164229" cy="465691"/>
      </dsp:txXfrm>
    </dsp:sp>
    <dsp:sp modelId="{67A0FB03-01CD-4545-BEAA-58BB0F91A931}">
      <dsp:nvSpPr>
        <dsp:cNvPr id="0" name=""/>
        <dsp:cNvSpPr/>
      </dsp:nvSpPr>
      <dsp:spPr>
        <a:xfrm>
          <a:off x="1221728" y="570812"/>
          <a:ext cx="1618454" cy="38652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it-IT" sz="900" kern="1200" dirty="0" err="1"/>
            <a:t>It</a:t>
          </a:r>
          <a:r>
            <a:rPr lang="it-IT" sz="900" kern="1200" dirty="0"/>
            <a:t> </a:t>
          </a:r>
          <a:r>
            <a:rPr lang="it-IT" sz="900" kern="1200" dirty="0" err="1"/>
            <a:t>is</a:t>
          </a:r>
          <a:r>
            <a:rPr lang="it-IT" sz="900" kern="1200" dirty="0"/>
            <a:t> </a:t>
          </a:r>
          <a:r>
            <a:rPr lang="it-IT" sz="900" kern="1200" dirty="0" err="1"/>
            <a:t>possible</a:t>
          </a:r>
          <a:r>
            <a:rPr lang="it-IT" sz="900" kern="1200" dirty="0"/>
            <a:t> to </a:t>
          </a:r>
          <a:r>
            <a:rPr lang="it-IT" sz="900" kern="1200" dirty="0" err="1"/>
            <a:t>discover</a:t>
          </a:r>
          <a:r>
            <a:rPr lang="it-IT" sz="900" kern="1200" dirty="0"/>
            <a:t> data</a:t>
          </a:r>
        </a:p>
      </dsp:txBody>
      <dsp:txXfrm>
        <a:off x="1221728" y="570812"/>
        <a:ext cx="1618454" cy="386524"/>
      </dsp:txXfrm>
    </dsp:sp>
    <dsp:sp modelId="{A968F967-C4CF-1A49-B433-D962FD79D6D6}">
      <dsp:nvSpPr>
        <dsp:cNvPr id="0" name=""/>
        <dsp:cNvSpPr/>
      </dsp:nvSpPr>
      <dsp:spPr>
        <a:xfrm>
          <a:off x="208848" y="1062117"/>
          <a:ext cx="1164229" cy="465691"/>
        </a:xfrm>
        <a:prstGeom prst="chevron">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it-IT" sz="900" kern="1200" dirty="0"/>
            <a:t>Data Accessibility</a:t>
          </a:r>
        </a:p>
      </dsp:txBody>
      <dsp:txXfrm>
        <a:off x="208848" y="1062117"/>
        <a:ext cx="1164229" cy="465691"/>
      </dsp:txXfrm>
    </dsp:sp>
    <dsp:sp modelId="{26531FF5-AC54-4048-ADD5-AC8A5AE799F6}">
      <dsp:nvSpPr>
        <dsp:cNvPr id="0" name=""/>
        <dsp:cNvSpPr/>
      </dsp:nvSpPr>
      <dsp:spPr>
        <a:xfrm>
          <a:off x="1221728" y="1101701"/>
          <a:ext cx="1618454" cy="38652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it-IT" sz="900" kern="1200" dirty="0" err="1"/>
            <a:t>It</a:t>
          </a:r>
          <a:r>
            <a:rPr lang="it-IT" sz="900" kern="1200" dirty="0"/>
            <a:t> </a:t>
          </a:r>
          <a:r>
            <a:rPr lang="it-IT" sz="900" kern="1200" dirty="0" err="1"/>
            <a:t>is</a:t>
          </a:r>
          <a:r>
            <a:rPr lang="it-IT" sz="900" kern="1200" dirty="0"/>
            <a:t> </a:t>
          </a:r>
          <a:r>
            <a:rPr lang="it-IT" sz="900" kern="1200" dirty="0" err="1"/>
            <a:t>possible</a:t>
          </a:r>
          <a:r>
            <a:rPr lang="it-IT" sz="900" kern="1200" dirty="0"/>
            <a:t> to download </a:t>
          </a:r>
          <a:r>
            <a:rPr lang="it-IT" sz="900" kern="1200" dirty="0" err="1"/>
            <a:t>discovered</a:t>
          </a:r>
          <a:r>
            <a:rPr lang="it-IT" sz="900" kern="1200" dirty="0"/>
            <a:t> data</a:t>
          </a:r>
        </a:p>
      </dsp:txBody>
      <dsp:txXfrm>
        <a:off x="1221728" y="1101701"/>
        <a:ext cx="1618454" cy="3865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CA81A-9E81-4549-919E-ED1C8B495F1F}">
      <dsp:nvSpPr>
        <dsp:cNvPr id="0" name=""/>
        <dsp:cNvSpPr/>
      </dsp:nvSpPr>
      <dsp:spPr>
        <a:xfrm>
          <a:off x="2411" y="0"/>
          <a:ext cx="2937420" cy="819872"/>
        </a:xfrm>
        <a:prstGeom prst="chevr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it-IT" sz="1600" kern="1200" dirty="0" err="1"/>
            <a:t>Publishes</a:t>
          </a:r>
          <a:r>
            <a:rPr lang="it-IT" sz="1600" kern="1200" dirty="0"/>
            <a:t> a set of web </a:t>
          </a:r>
          <a:r>
            <a:rPr lang="it-IT" sz="1600" kern="1200" dirty="0" err="1"/>
            <a:t>services</a:t>
          </a:r>
          <a:r>
            <a:rPr lang="it-IT" sz="1600" kern="1200" dirty="0"/>
            <a:t>/</a:t>
          </a:r>
          <a:r>
            <a:rPr lang="it-IT" sz="1600" kern="1200" dirty="0" err="1"/>
            <a:t>APIs</a:t>
          </a:r>
          <a:endParaRPr lang="it-IT" sz="1600" kern="1200" dirty="0"/>
        </a:p>
      </dsp:txBody>
      <dsp:txXfrm>
        <a:off x="2411" y="0"/>
        <a:ext cx="2937420" cy="819872"/>
      </dsp:txXfrm>
    </dsp:sp>
    <dsp:sp modelId="{022BB29E-C0BD-5B4E-BD2F-346EAC9A1FBB}">
      <dsp:nvSpPr>
        <dsp:cNvPr id="0" name=""/>
        <dsp:cNvSpPr/>
      </dsp:nvSpPr>
      <dsp:spPr>
        <a:xfrm>
          <a:off x="2646089" y="0"/>
          <a:ext cx="2937420" cy="819872"/>
        </a:xfrm>
        <a:prstGeom prst="chevron">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it-IT" sz="1600" kern="1200" dirty="0"/>
            <a:t>Can use </a:t>
          </a:r>
          <a:r>
            <a:rPr lang="it-IT" sz="1600" kern="1200" dirty="0" err="1"/>
            <a:t>any</a:t>
          </a:r>
          <a:r>
            <a:rPr lang="it-IT" sz="1600" kern="1200" dirty="0"/>
            <a:t> service/API to </a:t>
          </a:r>
          <a:r>
            <a:rPr lang="it-IT" sz="1600" kern="1200" dirty="0" err="1"/>
            <a:t>connect</a:t>
          </a:r>
          <a:r>
            <a:rPr lang="it-IT" sz="1600" kern="1200" dirty="0"/>
            <a:t> to the System</a:t>
          </a:r>
        </a:p>
      </dsp:txBody>
      <dsp:txXfrm>
        <a:off x="2646089" y="0"/>
        <a:ext cx="2937420" cy="819872"/>
      </dsp:txXfrm>
    </dsp:sp>
    <dsp:sp modelId="{D346B28C-314A-4B47-8C56-5964F3C1BB20}">
      <dsp:nvSpPr>
        <dsp:cNvPr id="0" name=""/>
        <dsp:cNvSpPr/>
      </dsp:nvSpPr>
      <dsp:spPr>
        <a:xfrm>
          <a:off x="5289768" y="0"/>
          <a:ext cx="2937420" cy="819872"/>
        </a:xfrm>
        <a:prstGeom prst="chevron">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it-IT" sz="1600" kern="1200" dirty="0" err="1"/>
            <a:t>Accesses</a:t>
          </a:r>
          <a:r>
            <a:rPr lang="it-IT" sz="1600" kern="1200" dirty="0"/>
            <a:t> the </a:t>
          </a:r>
          <a:r>
            <a:rPr lang="it-IT" sz="1600" kern="1200" dirty="0" err="1"/>
            <a:t>entire</a:t>
          </a:r>
          <a:r>
            <a:rPr lang="it-IT" sz="1600" kern="1200" dirty="0"/>
            <a:t> </a:t>
          </a:r>
          <a:r>
            <a:rPr lang="it-IT" sz="1600" kern="1200" dirty="0" err="1"/>
            <a:t>content</a:t>
          </a:r>
          <a:r>
            <a:rPr lang="it-IT" sz="1600" kern="1200" dirty="0"/>
            <a:t> of the System and </a:t>
          </a:r>
          <a:r>
            <a:rPr lang="it-IT" sz="1600" kern="1200" dirty="0" err="1"/>
            <a:t>displays</a:t>
          </a:r>
          <a:r>
            <a:rPr lang="it-IT" sz="1600" kern="1200" dirty="0"/>
            <a:t> </a:t>
          </a:r>
          <a:r>
            <a:rPr lang="it-IT" sz="1600" kern="1200" dirty="0" err="1"/>
            <a:t>it</a:t>
          </a:r>
          <a:r>
            <a:rPr lang="it-IT" sz="1600" kern="1200" dirty="0"/>
            <a:t> to </a:t>
          </a:r>
          <a:r>
            <a:rPr lang="it-IT" sz="1600" kern="1200" dirty="0" err="1"/>
            <a:t>user</a:t>
          </a:r>
          <a:endParaRPr lang="it-IT" sz="1600" kern="1200" dirty="0"/>
        </a:p>
      </dsp:txBody>
      <dsp:txXfrm>
        <a:off x="5289768" y="0"/>
        <a:ext cx="2937420" cy="819872"/>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image" Target="../media/image3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A51FC9-AFCF-49EB-A244-BC807F184F05}" type="datetimeFigureOut">
              <a:rPr lang="en-US" smtClean="0"/>
              <a:pPr/>
              <a:t>9/17/18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5321C3-9685-46B5-915C-1C4C4FEE7A3D}" type="slidenum">
              <a:rPr lang="en-US" smtClean="0"/>
              <a:pPr/>
              <a:t>‹#›</a:t>
            </a:fld>
            <a:endParaRPr lang="en-US"/>
          </a:p>
        </p:txBody>
      </p:sp>
    </p:spTree>
    <p:extLst>
      <p:ext uri="{BB962C8B-B14F-4D97-AF65-F5344CB8AC3E}">
        <p14:creationId xmlns:p14="http://schemas.microsoft.com/office/powerpoint/2010/main" val="594139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semanticweb.org/ontologies/hydrology"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www.w3.org/1999/02/22-rdf-syntax-n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it-IT" dirty="0"/>
          </a:p>
        </p:txBody>
      </p:sp>
      <p:sp>
        <p:nvSpPr>
          <p:cNvPr id="4" name="Segnaposto numero diapositiva 3"/>
          <p:cNvSpPr>
            <a:spLocks noGrp="1"/>
          </p:cNvSpPr>
          <p:nvPr>
            <p:ph type="sldNum" sz="quarter" idx="10"/>
          </p:nvPr>
        </p:nvSpPr>
        <p:spPr/>
        <p:txBody>
          <a:bodyPr/>
          <a:lstStyle/>
          <a:p>
            <a:fld id="{9B0FE348-F6E3-0D4A-9E6C-6330799BBDC4}"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it-IT" dirty="0" err="1"/>
              <a:t>hiscentral.ddns.net</a:t>
            </a:r>
            <a:r>
              <a:rPr lang="it-IT" dirty="0"/>
              <a:t>:8088/</a:t>
            </a:r>
            <a:r>
              <a:rPr lang="it-IT" dirty="0" err="1"/>
              <a:t>ontology</a:t>
            </a:r>
            <a:r>
              <a:rPr lang="it-IT" dirty="0"/>
              <a:t>/</a:t>
            </a:r>
          </a:p>
        </p:txBody>
      </p:sp>
      <p:sp>
        <p:nvSpPr>
          <p:cNvPr id="4" name="Segnaposto numero diapositiva 3"/>
          <p:cNvSpPr>
            <a:spLocks noGrp="1"/>
          </p:cNvSpPr>
          <p:nvPr>
            <p:ph type="sldNum" sz="quarter" idx="10"/>
          </p:nvPr>
        </p:nvSpPr>
        <p:spPr/>
        <p:txBody>
          <a:bodyPr/>
          <a:lstStyle/>
          <a:p>
            <a:fld id="{9B0FE348-F6E3-0D4A-9E6C-6330799BBDC4}" type="slidenum">
              <a:rPr lang="en-US" smtClean="0"/>
              <a:pPr/>
              <a:t>36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it-IT" sz="1200" b="0" i="0" kern="1200" dirty="0">
                <a:solidFill>
                  <a:schemeClr val="tx1"/>
                </a:solidFill>
                <a:latin typeface="Times" charset="0"/>
                <a:ea typeface="+mn-ea"/>
                <a:cs typeface="+mn-cs"/>
              </a:rPr>
              <a:t>PREFIX : &lt;</a:t>
            </a:r>
            <a:r>
              <a:rPr lang="it-IT" sz="1200" b="0" i="0" kern="1200" dirty="0">
                <a:solidFill>
                  <a:schemeClr val="tx1"/>
                </a:solidFill>
                <a:latin typeface="Times" charset="0"/>
                <a:ea typeface="+mn-ea"/>
                <a:cs typeface="+mn-cs"/>
                <a:hlinkClick r:id="rId3"/>
              </a:rPr>
              <a:t>http://www.semanticweb.org/</a:t>
            </a:r>
            <a:r>
              <a:rPr lang="it-IT" sz="1200" b="0" i="0" kern="1200" dirty="0" err="1">
                <a:solidFill>
                  <a:schemeClr val="tx1"/>
                </a:solidFill>
                <a:latin typeface="Times" charset="0"/>
                <a:ea typeface="+mn-ea"/>
                <a:cs typeface="+mn-cs"/>
                <a:hlinkClick r:id="rId3"/>
              </a:rPr>
              <a:t>ontologies</a:t>
            </a:r>
            <a:r>
              <a:rPr lang="it-IT" sz="1200" b="0" i="0" kern="1200" dirty="0">
                <a:solidFill>
                  <a:schemeClr val="tx1"/>
                </a:solidFill>
                <a:latin typeface="Times" charset="0"/>
                <a:ea typeface="+mn-ea"/>
                <a:cs typeface="+mn-cs"/>
                <a:hlinkClick r:id="rId3"/>
              </a:rPr>
              <a:t>/</a:t>
            </a:r>
            <a:r>
              <a:rPr lang="it-IT" sz="1200" b="0" i="0" kern="1200" dirty="0" err="1">
                <a:solidFill>
                  <a:schemeClr val="tx1"/>
                </a:solidFill>
                <a:latin typeface="Times" charset="0"/>
                <a:ea typeface="+mn-ea"/>
                <a:cs typeface="+mn-cs"/>
                <a:hlinkClick r:id="rId3"/>
              </a:rPr>
              <a:t>hydrology#</a:t>
            </a:r>
            <a:r>
              <a:rPr lang="it-IT" sz="1200" b="0" i="0" kern="1200" dirty="0">
                <a:solidFill>
                  <a:schemeClr val="tx1"/>
                </a:solidFill>
                <a:latin typeface="Times" charset="0"/>
                <a:ea typeface="+mn-ea"/>
                <a:cs typeface="+mn-cs"/>
              </a:rPr>
              <a:t>&gt; </a:t>
            </a:r>
            <a:br>
              <a:rPr lang="it-IT" dirty="0"/>
            </a:br>
            <a:r>
              <a:rPr lang="it-IT" sz="1200" b="0" i="0" kern="1200" dirty="0">
                <a:solidFill>
                  <a:schemeClr val="tx1"/>
                </a:solidFill>
                <a:latin typeface="Times" charset="0"/>
                <a:ea typeface="+mn-ea"/>
                <a:cs typeface="+mn-cs"/>
              </a:rPr>
              <a:t>PREFIX </a:t>
            </a:r>
            <a:r>
              <a:rPr lang="it-IT" sz="1200" b="0" i="0" kern="1200" dirty="0" err="1">
                <a:solidFill>
                  <a:schemeClr val="tx1"/>
                </a:solidFill>
                <a:latin typeface="Times" charset="0"/>
                <a:ea typeface="+mn-ea"/>
                <a:cs typeface="+mn-cs"/>
              </a:rPr>
              <a:t>rdf</a:t>
            </a:r>
            <a:r>
              <a:rPr lang="it-IT" sz="1200" b="0" i="0" kern="1200" dirty="0">
                <a:solidFill>
                  <a:schemeClr val="tx1"/>
                </a:solidFill>
                <a:latin typeface="Times" charset="0"/>
                <a:ea typeface="+mn-ea"/>
                <a:cs typeface="+mn-cs"/>
              </a:rPr>
              <a:t>: &lt;</a:t>
            </a:r>
            <a:r>
              <a:rPr lang="it-IT" sz="1200" b="0" i="0" kern="1200" dirty="0">
                <a:solidFill>
                  <a:schemeClr val="tx1"/>
                </a:solidFill>
                <a:latin typeface="Times" charset="0"/>
                <a:ea typeface="+mn-ea"/>
                <a:cs typeface="+mn-cs"/>
                <a:hlinkClick r:id="rId4"/>
              </a:rPr>
              <a:t>http://www.w3.org/1999/02/22-rdf-syntax-ns#</a:t>
            </a:r>
            <a:r>
              <a:rPr lang="it-IT" sz="1200" b="0" i="0" kern="1200" dirty="0">
                <a:solidFill>
                  <a:schemeClr val="tx1"/>
                </a:solidFill>
                <a:latin typeface="Times" charset="0"/>
                <a:ea typeface="+mn-ea"/>
                <a:cs typeface="+mn-cs"/>
              </a:rPr>
              <a:t>&gt; </a:t>
            </a:r>
            <a:br>
              <a:rPr lang="it-IT" dirty="0"/>
            </a:br>
            <a:r>
              <a:rPr lang="it-IT" sz="1200" b="0" i="0" kern="1200" dirty="0" err="1">
                <a:solidFill>
                  <a:schemeClr val="tx1"/>
                </a:solidFill>
                <a:latin typeface="Times" charset="0"/>
                <a:ea typeface="+mn-ea"/>
                <a:cs typeface="+mn-cs"/>
              </a:rPr>
              <a:t>select</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distinct</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name</a:t>
            </a:r>
            <a:r>
              <a:rPr lang="it-IT" sz="1200" b="0" i="0" kern="1200" dirty="0">
                <a:solidFill>
                  <a:schemeClr val="tx1"/>
                </a:solidFill>
                <a:latin typeface="Times" charset="0"/>
                <a:ea typeface="+mn-ea"/>
                <a:cs typeface="+mn-cs"/>
              </a:rPr>
              <a:t> </a:t>
            </a:r>
            <a:br>
              <a:rPr lang="it-IT" dirty="0"/>
            </a:br>
            <a:r>
              <a:rPr lang="it-IT" sz="1200" b="0" i="0" kern="1200" dirty="0" err="1">
                <a:solidFill>
                  <a:schemeClr val="tx1"/>
                </a:solidFill>
                <a:latin typeface="Times" charset="0"/>
                <a:ea typeface="+mn-ea"/>
                <a:cs typeface="+mn-cs"/>
              </a:rPr>
              <a:t>where</a:t>
            </a:r>
            <a:r>
              <a:rPr lang="it-IT" sz="1200" b="0" i="0" kern="1200" dirty="0">
                <a:solidFill>
                  <a:schemeClr val="tx1"/>
                </a:solidFill>
                <a:latin typeface="Times" charset="0"/>
                <a:ea typeface="+mn-ea"/>
                <a:cs typeface="+mn-cs"/>
              </a:rPr>
              <a:t> {?x </a:t>
            </a:r>
            <a:r>
              <a:rPr lang="it-IT" sz="1200" b="0" i="0" kern="1200" dirty="0" err="1">
                <a:solidFill>
                  <a:schemeClr val="tx1"/>
                </a:solidFill>
                <a:latin typeface="Times" charset="0"/>
                <a:ea typeface="+mn-ea"/>
                <a:cs typeface="+mn-cs"/>
              </a:rPr>
              <a:t>rdf</a:t>
            </a:r>
            <a:r>
              <a:rPr lang="it-IT" sz="1200" b="0" i="0" kern="1200" dirty="0">
                <a:solidFill>
                  <a:schemeClr val="tx1"/>
                </a:solidFill>
                <a:latin typeface="Times" charset="0"/>
                <a:ea typeface="+mn-ea"/>
                <a:cs typeface="+mn-cs"/>
              </a:rPr>
              <a:t>:</a:t>
            </a:r>
            <a:r>
              <a:rPr lang="it-IT" sz="1200" b="0" i="0" kern="1200" dirty="0" err="1">
                <a:solidFill>
                  <a:schemeClr val="tx1"/>
                </a:solidFill>
                <a:latin typeface="Times" charset="0"/>
                <a:ea typeface="+mn-ea"/>
                <a:cs typeface="+mn-cs"/>
              </a:rPr>
              <a:t>type</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Variable</a:t>
            </a:r>
            <a:r>
              <a:rPr lang="it-IT" sz="1200" b="0" i="0" kern="1200" dirty="0">
                <a:solidFill>
                  <a:schemeClr val="tx1"/>
                </a:solidFill>
                <a:latin typeface="Times" charset="0"/>
                <a:ea typeface="+mn-ea"/>
                <a:cs typeface="+mn-cs"/>
              </a:rPr>
              <a:t>. </a:t>
            </a:r>
            <a:br>
              <a:rPr lang="it-IT" dirty="0"/>
            </a:br>
            <a:r>
              <a:rPr lang="it-IT" sz="1200" b="0" i="0" kern="1200" dirty="0">
                <a:solidFill>
                  <a:schemeClr val="tx1"/>
                </a:solidFill>
                <a:latin typeface="Times" charset="0"/>
                <a:ea typeface="+mn-ea"/>
                <a:cs typeface="+mn-cs"/>
              </a:rPr>
              <a:t>       ?x :</a:t>
            </a:r>
            <a:r>
              <a:rPr lang="it-IT" sz="1200" b="0" i="0" kern="1200" dirty="0" err="1">
                <a:solidFill>
                  <a:schemeClr val="tx1"/>
                </a:solidFill>
                <a:latin typeface="Times" charset="0"/>
                <a:ea typeface="+mn-ea"/>
                <a:cs typeface="+mn-cs"/>
              </a:rPr>
              <a:t>variablename</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name</a:t>
            </a:r>
            <a:r>
              <a:rPr lang="it-IT" sz="1200" b="0" i="0" kern="1200" dirty="0">
                <a:solidFill>
                  <a:schemeClr val="tx1"/>
                </a:solidFill>
                <a:latin typeface="Times" charset="0"/>
                <a:ea typeface="+mn-ea"/>
                <a:cs typeface="+mn-cs"/>
              </a:rPr>
              <a:t>. </a:t>
            </a:r>
            <a:br>
              <a:rPr lang="it-IT" dirty="0"/>
            </a:br>
            <a:r>
              <a:rPr lang="it-IT" sz="1200" b="0" i="0" kern="1200" dirty="0">
                <a:solidFill>
                  <a:schemeClr val="tx1"/>
                </a:solidFill>
                <a:latin typeface="Times" charset="0"/>
                <a:ea typeface="+mn-ea"/>
                <a:cs typeface="+mn-cs"/>
              </a:rPr>
              <a:t>       ?x :</a:t>
            </a:r>
            <a:r>
              <a:rPr lang="it-IT" sz="1200" b="0" i="0" kern="1200" dirty="0" err="1">
                <a:solidFill>
                  <a:schemeClr val="tx1"/>
                </a:solidFill>
                <a:latin typeface="Times" charset="0"/>
                <a:ea typeface="+mn-ea"/>
                <a:cs typeface="+mn-cs"/>
              </a:rPr>
              <a:t>searchedBy</a:t>
            </a:r>
            <a:r>
              <a:rPr lang="it-IT" sz="1200" b="0" i="0" kern="1200" dirty="0">
                <a:solidFill>
                  <a:schemeClr val="tx1"/>
                </a:solidFill>
                <a:latin typeface="Times" charset="0"/>
                <a:ea typeface="+mn-ea"/>
                <a:cs typeface="+mn-cs"/>
              </a:rPr>
              <a:t> ?y. </a:t>
            </a:r>
            <a:br>
              <a:rPr lang="it-IT" dirty="0"/>
            </a:br>
            <a:r>
              <a:rPr lang="it-IT" sz="1200" b="0" i="0" kern="1200" dirty="0">
                <a:solidFill>
                  <a:schemeClr val="tx1"/>
                </a:solidFill>
                <a:latin typeface="Times" charset="0"/>
                <a:ea typeface="+mn-ea"/>
                <a:cs typeface="+mn-cs"/>
              </a:rPr>
              <a:t>       ?y </a:t>
            </a:r>
            <a:r>
              <a:rPr lang="it-IT" sz="1200" b="0" i="0" kern="1200" dirty="0" err="1">
                <a:solidFill>
                  <a:schemeClr val="tx1"/>
                </a:solidFill>
                <a:latin typeface="Times" charset="0"/>
                <a:ea typeface="+mn-ea"/>
                <a:cs typeface="+mn-cs"/>
              </a:rPr>
              <a:t>rdf</a:t>
            </a:r>
            <a:r>
              <a:rPr lang="it-IT" sz="1200" b="0" i="0" kern="1200" dirty="0">
                <a:solidFill>
                  <a:schemeClr val="tx1"/>
                </a:solidFill>
                <a:latin typeface="Times" charset="0"/>
                <a:ea typeface="+mn-ea"/>
                <a:cs typeface="+mn-cs"/>
              </a:rPr>
              <a:t>:</a:t>
            </a:r>
            <a:r>
              <a:rPr lang="it-IT" sz="1200" b="0" i="0" kern="1200" dirty="0" err="1">
                <a:solidFill>
                  <a:schemeClr val="tx1"/>
                </a:solidFill>
                <a:latin typeface="Times" charset="0"/>
                <a:ea typeface="+mn-ea"/>
                <a:cs typeface="+mn-cs"/>
              </a:rPr>
              <a:t>type</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Concept</a:t>
            </a:r>
            <a:r>
              <a:rPr lang="it-IT" sz="1200" b="0" i="0" kern="1200" dirty="0">
                <a:solidFill>
                  <a:schemeClr val="tx1"/>
                </a:solidFill>
                <a:latin typeface="Times" charset="0"/>
                <a:ea typeface="+mn-ea"/>
                <a:cs typeface="+mn-cs"/>
              </a:rPr>
              <a:t>. </a:t>
            </a:r>
            <a:br>
              <a:rPr lang="it-IT" dirty="0"/>
            </a:br>
            <a:r>
              <a:rPr lang="it-IT" sz="1200" b="0" i="0" kern="1200" dirty="0">
                <a:solidFill>
                  <a:schemeClr val="tx1"/>
                </a:solidFill>
                <a:latin typeface="Times" charset="0"/>
                <a:ea typeface="+mn-ea"/>
                <a:cs typeface="+mn-cs"/>
              </a:rPr>
              <a:t>       ?y :</a:t>
            </a:r>
            <a:r>
              <a:rPr lang="it-IT" sz="1200" b="0" i="0" kern="1200" dirty="0" err="1">
                <a:solidFill>
                  <a:schemeClr val="tx1"/>
                </a:solidFill>
                <a:latin typeface="Times" charset="0"/>
                <a:ea typeface="+mn-ea"/>
                <a:cs typeface="+mn-cs"/>
              </a:rPr>
              <a:t>conceptname</a:t>
            </a:r>
            <a:r>
              <a:rPr lang="it-IT" sz="1200" b="0" i="0" kern="1200" dirty="0">
                <a:solidFill>
                  <a:schemeClr val="tx1"/>
                </a:solidFill>
                <a:latin typeface="Times" charset="0"/>
                <a:ea typeface="+mn-ea"/>
                <a:cs typeface="+mn-cs"/>
              </a:rPr>
              <a:t> ?z. </a:t>
            </a:r>
            <a:br>
              <a:rPr lang="it-IT" dirty="0"/>
            </a:b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filter</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regex</a:t>
            </a:r>
            <a:r>
              <a:rPr lang="it-IT" sz="1200" b="0" i="0" kern="1200" dirty="0">
                <a:solidFill>
                  <a:schemeClr val="tx1"/>
                </a:solidFill>
                <a:latin typeface="Times" charset="0"/>
                <a:ea typeface="+mn-ea"/>
                <a:cs typeface="+mn-cs"/>
              </a:rPr>
              <a:t>(?z, "</a:t>
            </a:r>
            <a:r>
              <a:rPr lang="it-IT" sz="1200" b="0" i="0" kern="1200" dirty="0" err="1">
                <a:solidFill>
                  <a:schemeClr val="tx1"/>
                </a:solidFill>
                <a:latin typeface="Times" charset="0"/>
                <a:ea typeface="+mn-ea"/>
                <a:cs typeface="+mn-cs"/>
              </a:rPr>
              <a:t>level</a:t>
            </a:r>
            <a:r>
              <a:rPr lang="it-IT" sz="1200" b="0" i="0" kern="1200" dirty="0">
                <a:solidFill>
                  <a:schemeClr val="tx1"/>
                </a:solidFill>
                <a:latin typeface="Times" charset="0"/>
                <a:ea typeface="+mn-ea"/>
                <a:cs typeface="+mn-cs"/>
              </a:rPr>
              <a:t>, </a:t>
            </a:r>
            <a:r>
              <a:rPr lang="it-IT" sz="1200" b="0" i="0" kern="1200" dirty="0" err="1">
                <a:solidFill>
                  <a:schemeClr val="tx1"/>
                </a:solidFill>
                <a:latin typeface="Times" charset="0"/>
                <a:ea typeface="+mn-ea"/>
                <a:cs typeface="+mn-cs"/>
              </a:rPr>
              <a:t>stream</a:t>
            </a:r>
            <a:r>
              <a:rPr lang="it-IT" sz="1200" b="0" i="0" kern="1200" dirty="0">
                <a:solidFill>
                  <a:schemeClr val="tx1"/>
                </a:solidFill>
                <a:latin typeface="Times" charset="0"/>
                <a:ea typeface="+mn-ea"/>
                <a:cs typeface="+mn-cs"/>
              </a:rPr>
              <a:t>", "i" )} </a:t>
            </a:r>
            <a:endParaRPr lang="it-IT" dirty="0"/>
          </a:p>
        </p:txBody>
      </p:sp>
      <p:sp>
        <p:nvSpPr>
          <p:cNvPr id="4" name="Segnaposto numero diapositiva 3"/>
          <p:cNvSpPr>
            <a:spLocks noGrp="1"/>
          </p:cNvSpPr>
          <p:nvPr>
            <p:ph type="sldNum" sz="quarter" idx="10"/>
          </p:nvPr>
        </p:nvSpPr>
        <p:spPr/>
        <p:txBody>
          <a:bodyPr/>
          <a:lstStyle/>
          <a:p>
            <a:fld id="{9B0FE348-F6E3-0D4A-9E6C-6330799BBDC4}" type="slidenum">
              <a:rPr lang="en-US" smtClean="0"/>
              <a:pPr/>
              <a:t>38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39</a:t>
            </a:fld>
            <a:endParaRPr lang="en-US"/>
          </a:p>
        </p:txBody>
      </p:sp>
    </p:spTree>
    <p:extLst>
      <p:ext uri="{BB962C8B-B14F-4D97-AF65-F5344CB8AC3E}">
        <p14:creationId xmlns:p14="http://schemas.microsoft.com/office/powerpoint/2010/main" val="375196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xfrm>
            <a:off x="917575" y="744538"/>
            <a:ext cx="4962525" cy="3722687"/>
          </a:xfrm>
          <a:ln/>
        </p:spPr>
      </p:sp>
      <p:sp>
        <p:nvSpPr>
          <p:cNvPr id="12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ja-JP" dirty="0">
              <a:ea typeface="MS PGothic" panose="020B0600070205080204" pitchFamily="34" charset="-128"/>
            </a:endParaRPr>
          </a:p>
        </p:txBody>
      </p:sp>
      <p:sp>
        <p:nvSpPr>
          <p:cNvPr id="122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u="sng">
                <a:solidFill>
                  <a:schemeClr val="tx2"/>
                </a:solidFill>
                <a:latin typeface="Tahoma" panose="020B0604030504040204" pitchFamily="34" charset="0"/>
                <a:ea typeface="MS PGothic" panose="020B0600070205080204" pitchFamily="34" charset="-128"/>
              </a:defRPr>
            </a:lvl1pPr>
            <a:lvl2pPr marL="742950" indent="-285750">
              <a:defRPr sz="2000" b="1" u="sng">
                <a:solidFill>
                  <a:schemeClr val="tx2"/>
                </a:solidFill>
                <a:latin typeface="Tahoma" panose="020B0604030504040204" pitchFamily="34" charset="0"/>
                <a:ea typeface="MS PGothic" panose="020B0600070205080204" pitchFamily="34" charset="-128"/>
              </a:defRPr>
            </a:lvl2pPr>
            <a:lvl3pPr marL="1143000" indent="-228600">
              <a:defRPr sz="2000" b="1" u="sng">
                <a:solidFill>
                  <a:schemeClr val="tx2"/>
                </a:solidFill>
                <a:latin typeface="Tahoma" panose="020B0604030504040204" pitchFamily="34" charset="0"/>
                <a:ea typeface="MS PGothic" panose="020B0600070205080204" pitchFamily="34" charset="-128"/>
              </a:defRPr>
            </a:lvl3pPr>
            <a:lvl4pPr marL="1600200" indent="-228600">
              <a:defRPr sz="2000" b="1" u="sng">
                <a:solidFill>
                  <a:schemeClr val="tx2"/>
                </a:solidFill>
                <a:latin typeface="Tahoma" panose="020B0604030504040204" pitchFamily="34" charset="0"/>
                <a:ea typeface="MS PGothic" panose="020B0600070205080204" pitchFamily="34" charset="-128"/>
              </a:defRPr>
            </a:lvl4pPr>
            <a:lvl5pPr marL="2057400" indent="-228600">
              <a:defRPr sz="2000" b="1" u="sng">
                <a:solidFill>
                  <a:schemeClr val="tx2"/>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000" b="1" u="sng">
                <a:solidFill>
                  <a:schemeClr val="tx2"/>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000" b="1" u="sng">
                <a:solidFill>
                  <a:schemeClr val="tx2"/>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000" b="1" u="sng">
                <a:solidFill>
                  <a:schemeClr val="tx2"/>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000" b="1" u="sng">
                <a:solidFill>
                  <a:schemeClr val="tx2"/>
                </a:solidFill>
                <a:latin typeface="Tahoma" panose="020B0604030504040204" pitchFamily="34" charset="0"/>
                <a:ea typeface="MS PGothic" panose="020B0600070205080204" pitchFamily="34" charset="-128"/>
              </a:defRPr>
            </a:lvl9pPr>
          </a:lstStyle>
          <a:p>
            <a:fld id="{F1017890-9FF8-4956-B3B9-BE6C350FFE7B}" type="slidenum">
              <a:rPr lang="en-ZA" altLang="ja-JP" sz="1200" b="0" u="none" smtClean="0">
                <a:solidFill>
                  <a:srgbClr val="000000"/>
                </a:solidFill>
                <a:latin typeface="Arial" panose="020B0604020202020204" pitchFamily="34" charset="0"/>
              </a:rPr>
              <a:pPr/>
              <a:t>43</a:t>
            </a:fld>
            <a:endParaRPr lang="en-ZA" altLang="ja-JP" sz="1200" b="0" u="none">
              <a:solidFill>
                <a:srgbClr val="000000"/>
              </a:solidFill>
              <a:latin typeface="Arial" panose="020B0604020202020204" pitchFamily="34" charset="0"/>
            </a:endParaRPr>
          </a:p>
        </p:txBody>
      </p:sp>
    </p:spTree>
    <p:extLst>
      <p:ext uri="{BB962C8B-B14F-4D97-AF65-F5344CB8AC3E}">
        <p14:creationId xmlns:p14="http://schemas.microsoft.com/office/powerpoint/2010/main" val="3475808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A1F54D-2FD4-4EC0-B6CF-DE6E3DC6E733}" type="slidenum">
              <a:rPr lang="en-US" smtClean="0"/>
              <a:pPr/>
              <a:t>49</a:t>
            </a:fld>
            <a:endParaRPr lang="en-US"/>
          </a:p>
        </p:txBody>
      </p:sp>
    </p:spTree>
    <p:extLst>
      <p:ext uri="{BB962C8B-B14F-4D97-AF65-F5344CB8AC3E}">
        <p14:creationId xmlns:p14="http://schemas.microsoft.com/office/powerpoint/2010/main" val="101111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A1F54D-2FD4-4EC0-B6CF-DE6E3DC6E733}" type="slidenum">
              <a:rPr lang="en-US" smtClean="0"/>
              <a:pPr/>
              <a:t>50</a:t>
            </a:fld>
            <a:endParaRPr lang="en-US"/>
          </a:p>
        </p:txBody>
      </p:sp>
    </p:spTree>
    <p:extLst>
      <p:ext uri="{BB962C8B-B14F-4D97-AF65-F5344CB8AC3E}">
        <p14:creationId xmlns:p14="http://schemas.microsoft.com/office/powerpoint/2010/main" val="1830435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fld id="{A7116527-64FD-4ADC-8819-9BFA1E8A93FB}" type="slidenum">
              <a:rPr lang="en-GB" smtClean="0"/>
              <a:pPr/>
              <a:t>56</a:t>
            </a:fld>
            <a:endParaRPr lang="en-GB"/>
          </a:p>
        </p:txBody>
      </p:sp>
    </p:spTree>
    <p:extLst>
      <p:ext uri="{BB962C8B-B14F-4D97-AF65-F5344CB8AC3E}">
        <p14:creationId xmlns:p14="http://schemas.microsoft.com/office/powerpoint/2010/main" val="1574604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542D30C1-C519-46EF-949F-35A75EF166F5}" type="slidenum">
              <a:rPr lang="it-IT" sz="1200"/>
              <a:pPr algn="r"/>
              <a:t>63</a:t>
            </a:fld>
            <a:endParaRPr lang="it-IT"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960161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Shape 288"/>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9" name="Shape 289"/>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All 4 layers (Total, Surface Water, Soil Moisture, and Groundwater storage) will be available with all of the current functionality of GRACE application</a:t>
            </a:r>
            <a:endParaRPr/>
          </a:p>
          <a:p>
            <a:pPr marL="457200" lvl="0" indent="-298450" rtl="0">
              <a:spcBef>
                <a:spcPts val="0"/>
              </a:spcBef>
              <a:spcAft>
                <a:spcPts val="0"/>
              </a:spcAft>
              <a:buSzPts val="1100"/>
              <a:buChar char="-"/>
            </a:pPr>
            <a:r>
              <a:rPr lang="en"/>
              <a:t>Generate a time series for a user defined point(map interaction)</a:t>
            </a:r>
            <a:endParaRPr/>
          </a:p>
          <a:p>
            <a:pPr marL="457200" lvl="0" indent="-298450" rtl="0">
              <a:spcBef>
                <a:spcPts val="0"/>
              </a:spcBef>
              <a:spcAft>
                <a:spcPts val="0"/>
              </a:spcAft>
              <a:buSzPts val="1100"/>
              <a:buChar char="-"/>
            </a:pPr>
            <a:r>
              <a:rPr lang="en"/>
              <a:t>Regional analysis based on user uploaded shapefile</a:t>
            </a:r>
            <a:endParaRPr/>
          </a:p>
          <a:p>
            <a:pPr marL="457200" lvl="0" indent="-298450" rtl="0">
              <a:spcBef>
                <a:spcPts val="0"/>
              </a:spcBef>
              <a:spcAft>
                <a:spcPts val="0"/>
              </a:spcAft>
              <a:buSzPts val="1100"/>
              <a:buChar char="-"/>
            </a:pPr>
            <a:r>
              <a:rPr lang="en"/>
              <a:t>Animation to view changes over time</a:t>
            </a:r>
            <a:endParaRPr/>
          </a:p>
        </p:txBody>
      </p:sp>
      <p:sp>
        <p:nvSpPr>
          <p:cNvPr id="290" name="Shape 290"/>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Clr>
                <a:srgbClr val="000000"/>
              </a:buClr>
              <a:buFont typeface="Arial"/>
              <a:buNone/>
            </a:pPr>
            <a:fld id="{00000000-1234-1234-1234-123412341234}" type="slidenum">
              <a:rPr lang="en"/>
              <a:pPr marL="0" lvl="0" indent="0" rtl="0">
                <a:spcBef>
                  <a:spcPts val="0"/>
                </a:spcBef>
                <a:spcAft>
                  <a:spcPts val="0"/>
                </a:spcAft>
                <a:buClr>
                  <a:srgbClr val="000000"/>
                </a:buClr>
                <a:buFont typeface="Arial"/>
                <a:buNone/>
              </a:pPr>
              <a:t>66</a:t>
            </a:fld>
            <a:endParaRPr/>
          </a:p>
        </p:txBody>
      </p:sp>
    </p:spTree>
    <p:extLst>
      <p:ext uri="{BB962C8B-B14F-4D97-AF65-F5344CB8AC3E}">
        <p14:creationId xmlns:p14="http://schemas.microsoft.com/office/powerpoint/2010/main" val="638344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successful unless we transfer to you the capacity in a sustainable way to use the information and tools</a:t>
            </a:r>
          </a:p>
          <a:p>
            <a:endParaRPr lang="en-US" dirty="0"/>
          </a:p>
          <a:p>
            <a:r>
              <a:rPr lang="en-US" dirty="0"/>
              <a:t>We MUST know and understand your needs, capacities, gaps in order to be sure we are not a solution looking for a problem</a:t>
            </a:r>
          </a:p>
          <a:p>
            <a:endParaRPr lang="en-US" dirty="0"/>
          </a:p>
        </p:txBody>
      </p:sp>
      <p:sp>
        <p:nvSpPr>
          <p:cNvPr id="4" name="Slide Number Placeholder 3"/>
          <p:cNvSpPr>
            <a:spLocks noGrp="1"/>
          </p:cNvSpPr>
          <p:nvPr>
            <p:ph type="sldNum" sz="quarter" idx="10"/>
          </p:nvPr>
        </p:nvSpPr>
        <p:spPr/>
        <p:txBody>
          <a:bodyPr/>
          <a:lstStyle/>
          <a:p>
            <a:fld id="{26BBF07A-9901-0F41-A04C-2C68330B35C7}" type="slidenum">
              <a:rPr lang="en-US" smtClean="0"/>
              <a:pPr/>
              <a:t>70</a:t>
            </a:fld>
            <a:endParaRPr lang="en-US"/>
          </a:p>
        </p:txBody>
      </p:sp>
    </p:spTree>
    <p:extLst>
      <p:ext uri="{BB962C8B-B14F-4D97-AF65-F5344CB8AC3E}">
        <p14:creationId xmlns:p14="http://schemas.microsoft.com/office/powerpoint/2010/main" val="299044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39064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pic>
        <p:nvPicPr>
          <p:cNvPr id="7" name="Picture 6" descr="wmo2016_powerpoint_standard_v2-2.jp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5151694"/>
            <a:ext cx="1988820" cy="1714500"/>
          </a:xfrm>
          <a:prstGeom prst="rect">
            <a:avLst/>
          </a:prstGeom>
        </p:spPr>
      </p:pic>
    </p:spTree>
    <p:extLst>
      <p:ext uri="{BB962C8B-B14F-4D97-AF65-F5344CB8AC3E}">
        <p14:creationId xmlns:p14="http://schemas.microsoft.com/office/powerpoint/2010/main" val="500931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2833901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187663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203645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723727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418312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130550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pPr/>
              <a:t>‹#›</a:t>
            </a:fld>
            <a:endParaRPr lang="en-US" dirty="0"/>
          </a:p>
        </p:txBody>
      </p:sp>
    </p:spTree>
    <p:extLst>
      <p:ext uri="{BB962C8B-B14F-4D97-AF65-F5344CB8AC3E}">
        <p14:creationId xmlns:p14="http://schemas.microsoft.com/office/powerpoint/2010/main" val="283484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76101815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9AF2F-52C6-9B46-B8B2-0579234AE62E}" type="slidenum">
              <a:rPr lang="en-US" smtClean="0"/>
              <a:pPr/>
              <a:t>‹#›</a:t>
            </a:fld>
            <a:endParaRPr lang="en-US"/>
          </a:p>
        </p:txBody>
      </p:sp>
      <p:pic>
        <p:nvPicPr>
          <p:cNvPr id="7" name="Picture 6" descr="wmo2016_powerpoint_standard_v2-2.jpg"/>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0" y="5151694"/>
            <a:ext cx="1988820" cy="1714500"/>
          </a:xfrm>
          <a:prstGeom prst="rect">
            <a:avLst/>
          </a:prstGeom>
        </p:spPr>
      </p:pic>
    </p:spTree>
    <p:extLst>
      <p:ext uri="{BB962C8B-B14F-4D97-AF65-F5344CB8AC3E}">
        <p14:creationId xmlns:p14="http://schemas.microsoft.com/office/powerpoint/2010/main" val="3053617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jpeg"/><Relationship Id="rId9" Type="http://schemas.openxmlformats.org/officeDocument/2006/relationships/image" Target="../media/image14.pn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oleObject" Target="../embeddings/oleObject1.bin"/><Relationship Id="rId7"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36.png"/><Relationship Id="rId7" Type="http://schemas.openxmlformats.org/officeDocument/2006/relationships/image" Target="../media/image35.png"/><Relationship Id="rId12"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4.png"/><Relationship Id="rId11" Type="http://schemas.openxmlformats.org/officeDocument/2006/relationships/image" Target="../media/image41.png"/><Relationship Id="rId5" Type="http://schemas.openxmlformats.org/officeDocument/2006/relationships/image" Target="../media/image38.png"/><Relationship Id="rId10" Type="http://schemas.openxmlformats.org/officeDocument/2006/relationships/image" Target="../media/image40.png"/><Relationship Id="rId4" Type="http://schemas.openxmlformats.org/officeDocument/2006/relationships/oleObject" Target="../embeddings/oleObject2.bin"/><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5.png"/><Relationship Id="rId10"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8.png"/><Relationship Id="rId7" Type="http://schemas.openxmlformats.org/officeDocument/2006/relationships/image" Target="../media/image50.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35.png"/><Relationship Id="rId10" Type="http://schemas.openxmlformats.org/officeDocument/2006/relationships/image" Target="../media/image52.png"/><Relationship Id="rId4" Type="http://schemas.openxmlformats.org/officeDocument/2006/relationships/image" Target="../media/image34.png"/><Relationship Id="rId9" Type="http://schemas.openxmlformats.org/officeDocument/2006/relationships/image" Target="../media/image51.jpeg"/></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jpeg"/><Relationship Id="rId18" Type="http://schemas.openxmlformats.org/officeDocument/2006/relationships/image" Target="../media/image70.png"/><Relationship Id="rId3" Type="http://schemas.openxmlformats.org/officeDocument/2006/relationships/image" Target="../media/image55.png"/><Relationship Id="rId7" Type="http://schemas.openxmlformats.org/officeDocument/2006/relationships/image" Target="../media/image59.jpeg"/><Relationship Id="rId12" Type="http://schemas.openxmlformats.org/officeDocument/2006/relationships/image" Target="../media/image64.jpeg"/><Relationship Id="rId17" Type="http://schemas.openxmlformats.org/officeDocument/2006/relationships/image" Target="../media/image69.png"/><Relationship Id="rId2" Type="http://schemas.openxmlformats.org/officeDocument/2006/relationships/image" Target="../media/image54.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19" Type="http://schemas.openxmlformats.org/officeDocument/2006/relationships/image" Target="../media/image71.png"/><Relationship Id="rId4" Type="http://schemas.openxmlformats.org/officeDocument/2006/relationships/image" Target="../media/image56.jpeg"/><Relationship Id="rId9" Type="http://schemas.openxmlformats.org/officeDocument/2006/relationships/image" Target="../media/image61.png"/><Relationship Id="rId14" Type="http://schemas.openxmlformats.org/officeDocument/2006/relationships/image" Target="../media/image66.jpeg"/></Relationships>
</file>

<file path=ppt/slides/_rels/slide2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e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2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hyperlink" Target="https://www.wmo.int/pages/prog/www/wigos/documents/Cg-17/WIGOS_Metadata.pdf"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6.xml"/><Relationship Id="rId5" Type="http://schemas.openxmlformats.org/officeDocument/2006/relationships/image" Target="../media/image96.png"/><Relationship Id="rId4" Type="http://schemas.openxmlformats.org/officeDocument/2006/relationships/image" Target="../media/image95.png"/></Relationships>
</file>

<file path=ppt/slides/_rels/slide41.xml.rels><?xml version="1.0" encoding="UTF-8" standalone="yes"?>
<Relationships xmlns="http://schemas.openxmlformats.org/package/2006/relationships"><Relationship Id="rId8" Type="http://schemas.openxmlformats.org/officeDocument/2006/relationships/image" Target="../media/image103.jpeg"/><Relationship Id="rId3" Type="http://schemas.openxmlformats.org/officeDocument/2006/relationships/image" Target="../media/image98.jpeg"/><Relationship Id="rId7" Type="http://schemas.openxmlformats.org/officeDocument/2006/relationships/image" Target="../media/image102.jpeg"/><Relationship Id="rId2" Type="http://schemas.openxmlformats.org/officeDocument/2006/relationships/image" Target="../media/image97.jpeg"/><Relationship Id="rId1" Type="http://schemas.openxmlformats.org/officeDocument/2006/relationships/slideLayout" Target="../slideLayouts/slideLayout7.xml"/><Relationship Id="rId6" Type="http://schemas.openxmlformats.org/officeDocument/2006/relationships/image" Target="../media/image101.jpeg"/><Relationship Id="rId5" Type="http://schemas.openxmlformats.org/officeDocument/2006/relationships/image" Target="../media/image100.jpeg"/><Relationship Id="rId10" Type="http://schemas.openxmlformats.org/officeDocument/2006/relationships/image" Target="../media/image105.png"/><Relationship Id="rId4" Type="http://schemas.openxmlformats.org/officeDocument/2006/relationships/image" Target="../media/image99.jpeg"/><Relationship Id="rId9" Type="http://schemas.openxmlformats.org/officeDocument/2006/relationships/image" Target="../media/image104.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8" Type="http://schemas.openxmlformats.org/officeDocument/2006/relationships/image" Target="../media/image59.jpeg"/><Relationship Id="rId13" Type="http://schemas.openxmlformats.org/officeDocument/2006/relationships/image" Target="../media/image64.jpeg"/><Relationship Id="rId18" Type="http://schemas.openxmlformats.org/officeDocument/2006/relationships/image" Target="../media/image69.pn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 Type="http://schemas.openxmlformats.org/officeDocument/2006/relationships/notesSlide" Target="../notesSlides/notesSlide5.xml"/><Relationship Id="rId16"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jpeg"/><Relationship Id="rId15" Type="http://schemas.openxmlformats.org/officeDocument/2006/relationships/image" Target="../media/image66.jpe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jpeg"/></Relationships>
</file>

<file path=ppt/slides/_rels/slide44.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jpeg"/><Relationship Id="rId7" Type="http://schemas.openxmlformats.org/officeDocument/2006/relationships/image" Target="../media/image111.jpeg"/><Relationship Id="rId2" Type="http://schemas.openxmlformats.org/officeDocument/2006/relationships/image" Target="../media/image106.jpeg"/><Relationship Id="rId1" Type="http://schemas.openxmlformats.org/officeDocument/2006/relationships/slideLayout" Target="../slideLayouts/slideLayout7.xml"/><Relationship Id="rId6" Type="http://schemas.openxmlformats.org/officeDocument/2006/relationships/image" Target="../media/image110.jpeg"/><Relationship Id="rId5" Type="http://schemas.openxmlformats.org/officeDocument/2006/relationships/image" Target="../media/image109.jpeg"/><Relationship Id="rId4" Type="http://schemas.openxmlformats.org/officeDocument/2006/relationships/image" Target="../media/image108.jpeg"/></Relationships>
</file>

<file path=ppt/slides/_rels/slide4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7.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122.png"/><Relationship Id="rId9" Type="http://schemas.openxmlformats.org/officeDocument/2006/relationships/image" Target="../media/image127.png"/></Relationships>
</file>

<file path=ppt/slides/_rels/slide50.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jpeg"/><Relationship Id="rId3" Type="http://schemas.openxmlformats.org/officeDocument/2006/relationships/image" Target="../media/image121.png"/><Relationship Id="rId21" Type="http://schemas.openxmlformats.org/officeDocument/2006/relationships/image" Target="../media/image139.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 Type="http://schemas.openxmlformats.org/officeDocument/2006/relationships/notesSlide" Target="../notesSlides/notesSlide7.xml"/><Relationship Id="rId16" Type="http://schemas.openxmlformats.org/officeDocument/2006/relationships/image" Target="../media/image134.png"/><Relationship Id="rId20"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3.png"/><Relationship Id="rId15" Type="http://schemas.openxmlformats.org/officeDocument/2006/relationships/image" Target="../media/image133.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40.png"/></Relationships>
</file>

<file path=ppt/slides/_rels/slide5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144.png"/><Relationship Id="rId4" Type="http://schemas.openxmlformats.org/officeDocument/2006/relationships/image" Target="../media/image143.png"/></Relationships>
</file>

<file path=ppt/slides/_rels/slide52.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50.png"/><Relationship Id="rId18" Type="http://schemas.openxmlformats.org/officeDocument/2006/relationships/image" Target="../media/image153.png"/><Relationship Id="rId26" Type="http://schemas.openxmlformats.org/officeDocument/2006/relationships/image" Target="../media/image161.jpeg"/><Relationship Id="rId3" Type="http://schemas.openxmlformats.org/officeDocument/2006/relationships/image" Target="../media/image142.png"/><Relationship Id="rId21" Type="http://schemas.openxmlformats.org/officeDocument/2006/relationships/image" Target="../media/image156.png"/><Relationship Id="rId7" Type="http://schemas.openxmlformats.org/officeDocument/2006/relationships/image" Target="../media/image146.png"/><Relationship Id="rId12" Type="http://schemas.openxmlformats.org/officeDocument/2006/relationships/image" Target="../media/image149.png"/><Relationship Id="rId17" Type="http://schemas.microsoft.com/office/2007/relationships/hdphoto" Target="../media/hdphoto4.wdp"/><Relationship Id="rId25" Type="http://schemas.openxmlformats.org/officeDocument/2006/relationships/image" Target="../media/image160.png"/><Relationship Id="rId2" Type="http://schemas.openxmlformats.org/officeDocument/2006/relationships/image" Target="../media/image141.png"/><Relationship Id="rId16" Type="http://schemas.openxmlformats.org/officeDocument/2006/relationships/image" Target="../media/image152.png"/><Relationship Id="rId20" Type="http://schemas.openxmlformats.org/officeDocument/2006/relationships/image" Target="../media/image155.png"/><Relationship Id="rId1" Type="http://schemas.openxmlformats.org/officeDocument/2006/relationships/slideLayout" Target="../slideLayouts/slideLayout2.xml"/><Relationship Id="rId6" Type="http://schemas.openxmlformats.org/officeDocument/2006/relationships/image" Target="../media/image145.png"/><Relationship Id="rId11" Type="http://schemas.microsoft.com/office/2007/relationships/hdphoto" Target="../media/hdphoto2.wdp"/><Relationship Id="rId24" Type="http://schemas.openxmlformats.org/officeDocument/2006/relationships/image" Target="../media/image159.png"/><Relationship Id="rId5" Type="http://schemas.openxmlformats.org/officeDocument/2006/relationships/image" Target="../media/image144.png"/><Relationship Id="rId15" Type="http://schemas.openxmlformats.org/officeDocument/2006/relationships/image" Target="../media/image151.png"/><Relationship Id="rId23" Type="http://schemas.openxmlformats.org/officeDocument/2006/relationships/image" Target="../media/image158.png"/><Relationship Id="rId28" Type="http://schemas.openxmlformats.org/officeDocument/2006/relationships/image" Target="../media/image163.jpeg"/><Relationship Id="rId10" Type="http://schemas.openxmlformats.org/officeDocument/2006/relationships/image" Target="../media/image148.png"/><Relationship Id="rId19" Type="http://schemas.openxmlformats.org/officeDocument/2006/relationships/image" Target="../media/image154.png"/><Relationship Id="rId4" Type="http://schemas.openxmlformats.org/officeDocument/2006/relationships/image" Target="../media/image143.png"/><Relationship Id="rId9" Type="http://schemas.openxmlformats.org/officeDocument/2006/relationships/image" Target="../media/image147.png"/><Relationship Id="rId14" Type="http://schemas.microsoft.com/office/2007/relationships/hdphoto" Target="../media/hdphoto3.wdp"/><Relationship Id="rId22" Type="http://schemas.openxmlformats.org/officeDocument/2006/relationships/image" Target="../media/image157.png"/><Relationship Id="rId27" Type="http://schemas.openxmlformats.org/officeDocument/2006/relationships/image" Target="../media/image162.png"/></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65.jpeg"/><Relationship Id="rId7" Type="http://schemas.openxmlformats.org/officeDocument/2006/relationships/diagramColors" Target="../diagrams/colors2.xml"/><Relationship Id="rId2"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65.jpeg"/><Relationship Id="rId7" Type="http://schemas.openxmlformats.org/officeDocument/2006/relationships/diagramColors" Target="../diagrams/colors3.xml"/><Relationship Id="rId2"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6.xml.rels><?xml version="1.0" encoding="UTF-8" standalone="yes"?>
<Relationships xmlns="http://schemas.openxmlformats.org/package/2006/relationships"><Relationship Id="rId8" Type="http://schemas.openxmlformats.org/officeDocument/2006/relationships/image" Target="../media/image165.jpeg"/><Relationship Id="rId3" Type="http://schemas.openxmlformats.org/officeDocument/2006/relationships/image" Target="../media/image164.png"/><Relationship Id="rId7" Type="http://schemas.openxmlformats.org/officeDocument/2006/relationships/image" Target="../media/image16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8.png"/><Relationship Id="rId11" Type="http://schemas.openxmlformats.org/officeDocument/2006/relationships/image" Target="../media/image136.jpeg"/><Relationship Id="rId5" Type="http://schemas.openxmlformats.org/officeDocument/2006/relationships/image" Target="../media/image167.png"/><Relationship Id="rId10" Type="http://schemas.openxmlformats.org/officeDocument/2006/relationships/image" Target="../media/image171.png"/><Relationship Id="rId4" Type="http://schemas.openxmlformats.org/officeDocument/2006/relationships/image" Target="../media/image166.png"/><Relationship Id="rId9" Type="http://schemas.openxmlformats.org/officeDocument/2006/relationships/image" Target="../media/image170.png"/></Relationships>
</file>

<file path=ppt/slides/_rels/slide57.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image" Target="../media/image172.png"/><Relationship Id="rId12" Type="http://schemas.openxmlformats.org/officeDocument/2006/relationships/diagramData" Target="../diagrams/data5.xml"/><Relationship Id="rId2" Type="http://schemas.openxmlformats.org/officeDocument/2006/relationships/diagramData" Target="../diagrams/data4.xml"/><Relationship Id="rId16" Type="http://schemas.microsoft.com/office/2007/relationships/diagramDrawing" Target="../diagrams/drawing5.xml"/><Relationship Id="rId1" Type="http://schemas.openxmlformats.org/officeDocument/2006/relationships/slideLayout" Target="../slideLayouts/slideLayout2.xml"/><Relationship Id="rId6" Type="http://schemas.microsoft.com/office/2007/relationships/diagramDrawing" Target="../diagrams/drawing4.xml"/><Relationship Id="rId11" Type="http://schemas.openxmlformats.org/officeDocument/2006/relationships/image" Target="../media/image165.jpeg"/><Relationship Id="rId5" Type="http://schemas.openxmlformats.org/officeDocument/2006/relationships/diagramColors" Target="../diagrams/colors4.xml"/><Relationship Id="rId15" Type="http://schemas.openxmlformats.org/officeDocument/2006/relationships/diagramColors" Target="../diagrams/colors5.xml"/><Relationship Id="rId10" Type="http://schemas.openxmlformats.org/officeDocument/2006/relationships/image" Target="../media/image164.png"/><Relationship Id="rId4" Type="http://schemas.openxmlformats.org/officeDocument/2006/relationships/diagramQuickStyle" Target="../diagrams/quickStyle4.xml"/><Relationship Id="rId9" Type="http://schemas.openxmlformats.org/officeDocument/2006/relationships/image" Target="../media/image174.png"/><Relationship Id="rId14" Type="http://schemas.openxmlformats.org/officeDocument/2006/relationships/diagramQuickStyle" Target="../diagrams/quickStyle5.xml"/></Relationships>
</file>

<file path=ppt/slides/_rels/slide58.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diagramQuickStyle" Target="../diagrams/quickStyle6.xml"/><Relationship Id="rId3" Type="http://schemas.openxmlformats.org/officeDocument/2006/relationships/image" Target="../media/image165.jpeg"/><Relationship Id="rId7" Type="http://schemas.openxmlformats.org/officeDocument/2006/relationships/image" Target="../media/image176.png"/><Relationship Id="rId12" Type="http://schemas.openxmlformats.org/officeDocument/2006/relationships/diagramLayout" Target="../diagrams/layout6.xml"/><Relationship Id="rId2" Type="http://schemas.openxmlformats.org/officeDocument/2006/relationships/image" Target="../media/image164.png"/><Relationship Id="rId16" Type="http://schemas.openxmlformats.org/officeDocument/2006/relationships/image" Target="../media/image178.png"/><Relationship Id="rId1" Type="http://schemas.openxmlformats.org/officeDocument/2006/relationships/slideLayout" Target="../slideLayouts/slideLayout2.xml"/><Relationship Id="rId6" Type="http://schemas.microsoft.com/office/2007/relationships/hdphoto" Target="../media/hdphoto5.wdp"/><Relationship Id="rId11" Type="http://schemas.openxmlformats.org/officeDocument/2006/relationships/diagramData" Target="../diagrams/data6.xml"/><Relationship Id="rId5" Type="http://schemas.openxmlformats.org/officeDocument/2006/relationships/image" Target="../media/image175.png"/><Relationship Id="rId15" Type="http://schemas.microsoft.com/office/2007/relationships/diagramDrawing" Target="../diagrams/drawing6.xml"/><Relationship Id="rId10" Type="http://schemas.microsoft.com/office/2007/relationships/hdphoto" Target="../media/hdphoto7.wdp"/><Relationship Id="rId4" Type="http://schemas.openxmlformats.org/officeDocument/2006/relationships/image" Target="../media/image170.png"/><Relationship Id="rId9" Type="http://schemas.openxmlformats.org/officeDocument/2006/relationships/image" Target="../media/image177.png"/><Relationship Id="rId14" Type="http://schemas.openxmlformats.org/officeDocument/2006/relationships/diagramColors" Target="../diagrams/colors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8" Type="http://schemas.openxmlformats.org/officeDocument/2006/relationships/image" Target="../media/image181.jpeg"/><Relationship Id="rId3" Type="http://schemas.microsoft.com/office/2007/relationships/hdphoto" Target="../media/hdphoto8.wdp"/><Relationship Id="rId7" Type="http://schemas.openxmlformats.org/officeDocument/2006/relationships/image" Target="../media/image180.png"/><Relationship Id="rId2" Type="http://schemas.openxmlformats.org/officeDocument/2006/relationships/image" Target="../media/image176.png"/><Relationship Id="rId1" Type="http://schemas.openxmlformats.org/officeDocument/2006/relationships/slideLayout" Target="../slideLayouts/slideLayout2.xml"/><Relationship Id="rId6" Type="http://schemas.openxmlformats.org/officeDocument/2006/relationships/image" Target="../media/image179.jpeg"/><Relationship Id="rId5" Type="http://schemas.microsoft.com/office/2007/relationships/hdphoto" Target="../media/hdphoto10.wdp"/><Relationship Id="rId4" Type="http://schemas.microsoft.com/office/2007/relationships/hdphoto" Target="../media/hdphoto9.wdp"/></Relationships>
</file>

<file path=ppt/slides/_rels/slide61.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183.png"/><Relationship Id="rId7" Type="http://schemas.openxmlformats.org/officeDocument/2006/relationships/image" Target="../media/image187.png"/><Relationship Id="rId12" Type="http://schemas.openxmlformats.org/officeDocument/2006/relationships/image" Target="../media/image192.png"/><Relationship Id="rId2"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185.png"/><Relationship Id="rId10" Type="http://schemas.openxmlformats.org/officeDocument/2006/relationships/image" Target="../media/image190.png"/><Relationship Id="rId4" Type="http://schemas.openxmlformats.org/officeDocument/2006/relationships/image" Target="../media/image184.jpeg"/><Relationship Id="rId9" Type="http://schemas.openxmlformats.org/officeDocument/2006/relationships/image" Target="../media/image18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4.png"/></Relationships>
</file>

<file path=ppt/slides/_rels/slide64.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8.jpeg"/></Relationships>
</file>

<file path=ppt/slides/_rels/slide67.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image" Target="../media/image199.jpeg"/><Relationship Id="rId1" Type="http://schemas.openxmlformats.org/officeDocument/2006/relationships/slideLayout" Target="../slideLayouts/slideLayout2.xml"/><Relationship Id="rId6" Type="http://schemas.openxmlformats.org/officeDocument/2006/relationships/image" Target="../media/image203.jpeg"/><Relationship Id="rId5" Type="http://schemas.openxmlformats.org/officeDocument/2006/relationships/image" Target="../media/image202.jpeg"/><Relationship Id="rId4" Type="http://schemas.openxmlformats.org/officeDocument/2006/relationships/image" Target="../media/image201.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6" Type="http://schemas.openxmlformats.org/officeDocument/2006/relationships/image" Target="../media/image228.png"/><Relationship Id="rId21" Type="http://schemas.openxmlformats.org/officeDocument/2006/relationships/image" Target="../media/image223.png"/><Relationship Id="rId42" Type="http://schemas.openxmlformats.org/officeDocument/2006/relationships/image" Target="../media/image244.png"/><Relationship Id="rId47" Type="http://schemas.openxmlformats.org/officeDocument/2006/relationships/image" Target="../media/image249.png"/><Relationship Id="rId63" Type="http://schemas.openxmlformats.org/officeDocument/2006/relationships/image" Target="../media/image265.jpeg"/><Relationship Id="rId68" Type="http://schemas.openxmlformats.org/officeDocument/2006/relationships/image" Target="../media/image270.jpeg"/><Relationship Id="rId2" Type="http://schemas.openxmlformats.org/officeDocument/2006/relationships/image" Target="../media/image204.tiff"/><Relationship Id="rId16" Type="http://schemas.openxmlformats.org/officeDocument/2006/relationships/image" Target="../media/image218.png"/><Relationship Id="rId29" Type="http://schemas.openxmlformats.org/officeDocument/2006/relationships/image" Target="../media/image231.jpeg"/><Relationship Id="rId11" Type="http://schemas.openxmlformats.org/officeDocument/2006/relationships/image" Target="../media/image213.jpeg"/><Relationship Id="rId24" Type="http://schemas.openxmlformats.org/officeDocument/2006/relationships/image" Target="../media/image226.png"/><Relationship Id="rId32" Type="http://schemas.openxmlformats.org/officeDocument/2006/relationships/image" Target="../media/image234.png"/><Relationship Id="rId37" Type="http://schemas.openxmlformats.org/officeDocument/2006/relationships/image" Target="../media/image239.jpeg"/><Relationship Id="rId40" Type="http://schemas.openxmlformats.org/officeDocument/2006/relationships/image" Target="../media/image242.jpeg"/><Relationship Id="rId45" Type="http://schemas.openxmlformats.org/officeDocument/2006/relationships/image" Target="../media/image247.jpeg"/><Relationship Id="rId53" Type="http://schemas.openxmlformats.org/officeDocument/2006/relationships/image" Target="../media/image255.png"/><Relationship Id="rId58" Type="http://schemas.openxmlformats.org/officeDocument/2006/relationships/image" Target="../media/image260.jpeg"/><Relationship Id="rId66" Type="http://schemas.openxmlformats.org/officeDocument/2006/relationships/image" Target="../media/image268.png"/><Relationship Id="rId74" Type="http://schemas.openxmlformats.org/officeDocument/2006/relationships/image" Target="../media/image276.jpeg"/><Relationship Id="rId5" Type="http://schemas.openxmlformats.org/officeDocument/2006/relationships/image" Target="../media/image207.png"/><Relationship Id="rId61" Type="http://schemas.openxmlformats.org/officeDocument/2006/relationships/image" Target="../media/image263.jpeg"/><Relationship Id="rId19" Type="http://schemas.openxmlformats.org/officeDocument/2006/relationships/image" Target="../media/image221.png"/><Relationship Id="rId14" Type="http://schemas.openxmlformats.org/officeDocument/2006/relationships/image" Target="../media/image216.png"/><Relationship Id="rId22" Type="http://schemas.openxmlformats.org/officeDocument/2006/relationships/image" Target="../media/image224.png"/><Relationship Id="rId27" Type="http://schemas.openxmlformats.org/officeDocument/2006/relationships/image" Target="../media/image229.jpeg"/><Relationship Id="rId30" Type="http://schemas.openxmlformats.org/officeDocument/2006/relationships/image" Target="../media/image232.png"/><Relationship Id="rId35" Type="http://schemas.openxmlformats.org/officeDocument/2006/relationships/image" Target="../media/image237.jpeg"/><Relationship Id="rId43" Type="http://schemas.openxmlformats.org/officeDocument/2006/relationships/image" Target="../media/image245.jpeg"/><Relationship Id="rId48" Type="http://schemas.openxmlformats.org/officeDocument/2006/relationships/image" Target="../media/image250.png"/><Relationship Id="rId56" Type="http://schemas.openxmlformats.org/officeDocument/2006/relationships/image" Target="../media/image258.jpeg"/><Relationship Id="rId64" Type="http://schemas.openxmlformats.org/officeDocument/2006/relationships/image" Target="../media/image266.jpeg"/><Relationship Id="rId69" Type="http://schemas.openxmlformats.org/officeDocument/2006/relationships/image" Target="../media/image271.jpeg"/><Relationship Id="rId8" Type="http://schemas.openxmlformats.org/officeDocument/2006/relationships/image" Target="../media/image210.png"/><Relationship Id="rId51" Type="http://schemas.openxmlformats.org/officeDocument/2006/relationships/image" Target="../media/image253.png"/><Relationship Id="rId72" Type="http://schemas.openxmlformats.org/officeDocument/2006/relationships/image" Target="../media/image274.jpeg"/><Relationship Id="rId3" Type="http://schemas.openxmlformats.org/officeDocument/2006/relationships/image" Target="../media/image205.png"/><Relationship Id="rId12" Type="http://schemas.openxmlformats.org/officeDocument/2006/relationships/image" Target="../media/image214.png"/><Relationship Id="rId17" Type="http://schemas.openxmlformats.org/officeDocument/2006/relationships/image" Target="../media/image219.png"/><Relationship Id="rId25" Type="http://schemas.openxmlformats.org/officeDocument/2006/relationships/image" Target="../media/image227.png"/><Relationship Id="rId33" Type="http://schemas.openxmlformats.org/officeDocument/2006/relationships/image" Target="../media/image235.jpeg"/><Relationship Id="rId38" Type="http://schemas.openxmlformats.org/officeDocument/2006/relationships/image" Target="../media/image240.png"/><Relationship Id="rId46" Type="http://schemas.openxmlformats.org/officeDocument/2006/relationships/image" Target="../media/image248.jpeg"/><Relationship Id="rId59" Type="http://schemas.openxmlformats.org/officeDocument/2006/relationships/image" Target="../media/image261.png"/><Relationship Id="rId67" Type="http://schemas.openxmlformats.org/officeDocument/2006/relationships/image" Target="../media/image269.jpeg"/><Relationship Id="rId20" Type="http://schemas.openxmlformats.org/officeDocument/2006/relationships/image" Target="../media/image222.png"/><Relationship Id="rId41" Type="http://schemas.openxmlformats.org/officeDocument/2006/relationships/image" Target="../media/image243.png"/><Relationship Id="rId54" Type="http://schemas.openxmlformats.org/officeDocument/2006/relationships/image" Target="../media/image256.png"/><Relationship Id="rId62" Type="http://schemas.openxmlformats.org/officeDocument/2006/relationships/image" Target="../media/image264.jpeg"/><Relationship Id="rId70" Type="http://schemas.openxmlformats.org/officeDocument/2006/relationships/image" Target="../media/image272.png"/><Relationship Id="rId75" Type="http://schemas.openxmlformats.org/officeDocument/2006/relationships/image" Target="../media/image277.png"/><Relationship Id="rId1" Type="http://schemas.openxmlformats.org/officeDocument/2006/relationships/slideLayout" Target="../slideLayouts/slideLayout7.xml"/><Relationship Id="rId6" Type="http://schemas.openxmlformats.org/officeDocument/2006/relationships/image" Target="../media/image208.png"/><Relationship Id="rId15" Type="http://schemas.openxmlformats.org/officeDocument/2006/relationships/image" Target="../media/image217.png"/><Relationship Id="rId23" Type="http://schemas.openxmlformats.org/officeDocument/2006/relationships/image" Target="../media/image225.png"/><Relationship Id="rId28" Type="http://schemas.openxmlformats.org/officeDocument/2006/relationships/image" Target="../media/image230.png"/><Relationship Id="rId36" Type="http://schemas.openxmlformats.org/officeDocument/2006/relationships/image" Target="../media/image238.png"/><Relationship Id="rId49" Type="http://schemas.openxmlformats.org/officeDocument/2006/relationships/image" Target="../media/image251.png"/><Relationship Id="rId57" Type="http://schemas.openxmlformats.org/officeDocument/2006/relationships/image" Target="../media/image259.png"/><Relationship Id="rId10" Type="http://schemas.openxmlformats.org/officeDocument/2006/relationships/image" Target="../media/image212.png"/><Relationship Id="rId31" Type="http://schemas.openxmlformats.org/officeDocument/2006/relationships/image" Target="../media/image233.jpeg"/><Relationship Id="rId44" Type="http://schemas.openxmlformats.org/officeDocument/2006/relationships/image" Target="../media/image246.png"/><Relationship Id="rId52" Type="http://schemas.openxmlformats.org/officeDocument/2006/relationships/image" Target="../media/image254.png"/><Relationship Id="rId60" Type="http://schemas.openxmlformats.org/officeDocument/2006/relationships/image" Target="../media/image262.jpeg"/><Relationship Id="rId65" Type="http://schemas.openxmlformats.org/officeDocument/2006/relationships/image" Target="../media/image267.jpeg"/><Relationship Id="rId73" Type="http://schemas.openxmlformats.org/officeDocument/2006/relationships/image" Target="../media/image275.jpeg"/><Relationship Id="rId4" Type="http://schemas.openxmlformats.org/officeDocument/2006/relationships/image" Target="../media/image206.png"/><Relationship Id="rId9" Type="http://schemas.openxmlformats.org/officeDocument/2006/relationships/image" Target="../media/image211.jpeg"/><Relationship Id="rId13" Type="http://schemas.openxmlformats.org/officeDocument/2006/relationships/image" Target="../media/image215.png"/><Relationship Id="rId18" Type="http://schemas.openxmlformats.org/officeDocument/2006/relationships/image" Target="../media/image220.png"/><Relationship Id="rId39" Type="http://schemas.openxmlformats.org/officeDocument/2006/relationships/image" Target="../media/image241.png"/><Relationship Id="rId34" Type="http://schemas.openxmlformats.org/officeDocument/2006/relationships/image" Target="../media/image236.png"/><Relationship Id="rId50" Type="http://schemas.openxmlformats.org/officeDocument/2006/relationships/image" Target="../media/image252.png"/><Relationship Id="rId55" Type="http://schemas.openxmlformats.org/officeDocument/2006/relationships/image" Target="../media/image257.png"/><Relationship Id="rId76" Type="http://schemas.openxmlformats.org/officeDocument/2006/relationships/image" Target="../media/image278.jpeg"/><Relationship Id="rId7" Type="http://schemas.openxmlformats.org/officeDocument/2006/relationships/image" Target="../media/image209.jpeg"/><Relationship Id="rId71" Type="http://schemas.openxmlformats.org/officeDocument/2006/relationships/image" Target="../media/image273.jpeg"/></Relationships>
</file>

<file path=ppt/slides/_rels/slide70.xml.rels><?xml version="1.0" encoding="UTF-8" standalone="yes"?>
<Relationships xmlns="http://schemas.openxmlformats.org/package/2006/relationships"><Relationship Id="rId13" Type="http://schemas.openxmlformats.org/officeDocument/2006/relationships/image" Target="../media/image289.png"/><Relationship Id="rId18" Type="http://schemas.openxmlformats.org/officeDocument/2006/relationships/image" Target="../media/image294.png"/><Relationship Id="rId26" Type="http://schemas.openxmlformats.org/officeDocument/2006/relationships/image" Target="../media/image302.png"/><Relationship Id="rId39" Type="http://schemas.openxmlformats.org/officeDocument/2006/relationships/image" Target="../media/image315.jpeg"/><Relationship Id="rId21" Type="http://schemas.openxmlformats.org/officeDocument/2006/relationships/image" Target="../media/image297.png"/><Relationship Id="rId34" Type="http://schemas.openxmlformats.org/officeDocument/2006/relationships/image" Target="../media/image310.png"/><Relationship Id="rId7" Type="http://schemas.openxmlformats.org/officeDocument/2006/relationships/image" Target="../media/image283.png"/><Relationship Id="rId12" Type="http://schemas.openxmlformats.org/officeDocument/2006/relationships/image" Target="../media/image288.png"/><Relationship Id="rId17" Type="http://schemas.openxmlformats.org/officeDocument/2006/relationships/image" Target="../media/image293.png"/><Relationship Id="rId25" Type="http://schemas.openxmlformats.org/officeDocument/2006/relationships/image" Target="../media/image301.jpeg"/><Relationship Id="rId33" Type="http://schemas.openxmlformats.org/officeDocument/2006/relationships/image" Target="../media/image309.jpeg"/><Relationship Id="rId38" Type="http://schemas.openxmlformats.org/officeDocument/2006/relationships/image" Target="../media/image314.png"/><Relationship Id="rId2" Type="http://schemas.openxmlformats.org/officeDocument/2006/relationships/notesSlide" Target="../notesSlides/notesSlide11.xml"/><Relationship Id="rId16" Type="http://schemas.openxmlformats.org/officeDocument/2006/relationships/image" Target="../media/image292.png"/><Relationship Id="rId20" Type="http://schemas.openxmlformats.org/officeDocument/2006/relationships/image" Target="../media/image296.png"/><Relationship Id="rId29" Type="http://schemas.openxmlformats.org/officeDocument/2006/relationships/image" Target="../media/image305.tiff"/><Relationship Id="rId1" Type="http://schemas.openxmlformats.org/officeDocument/2006/relationships/slideLayout" Target="../slideLayouts/slideLayout2.xml"/><Relationship Id="rId6" Type="http://schemas.openxmlformats.org/officeDocument/2006/relationships/image" Target="../media/image282.jpeg"/><Relationship Id="rId11" Type="http://schemas.openxmlformats.org/officeDocument/2006/relationships/image" Target="../media/image287.png"/><Relationship Id="rId24" Type="http://schemas.openxmlformats.org/officeDocument/2006/relationships/image" Target="../media/image300.jpeg"/><Relationship Id="rId32" Type="http://schemas.openxmlformats.org/officeDocument/2006/relationships/image" Target="../media/image308.png"/><Relationship Id="rId37" Type="http://schemas.openxmlformats.org/officeDocument/2006/relationships/image" Target="../media/image313.tiff"/><Relationship Id="rId40" Type="http://schemas.openxmlformats.org/officeDocument/2006/relationships/image" Target="../media/image316.png"/><Relationship Id="rId5" Type="http://schemas.openxmlformats.org/officeDocument/2006/relationships/image" Target="../media/image281.jpeg"/><Relationship Id="rId15" Type="http://schemas.openxmlformats.org/officeDocument/2006/relationships/image" Target="../media/image291.png"/><Relationship Id="rId23" Type="http://schemas.openxmlformats.org/officeDocument/2006/relationships/image" Target="../media/image299.png"/><Relationship Id="rId28" Type="http://schemas.openxmlformats.org/officeDocument/2006/relationships/image" Target="../media/image304.jpeg"/><Relationship Id="rId36" Type="http://schemas.openxmlformats.org/officeDocument/2006/relationships/image" Target="../media/image312.jpeg"/><Relationship Id="rId10" Type="http://schemas.openxmlformats.org/officeDocument/2006/relationships/image" Target="../media/image286.png"/><Relationship Id="rId19" Type="http://schemas.openxmlformats.org/officeDocument/2006/relationships/image" Target="../media/image295.png"/><Relationship Id="rId31" Type="http://schemas.openxmlformats.org/officeDocument/2006/relationships/image" Target="../media/image307.tiff"/><Relationship Id="rId4" Type="http://schemas.openxmlformats.org/officeDocument/2006/relationships/image" Target="../media/image280.jpeg"/><Relationship Id="rId9" Type="http://schemas.openxmlformats.org/officeDocument/2006/relationships/image" Target="../media/image285.png"/><Relationship Id="rId14" Type="http://schemas.openxmlformats.org/officeDocument/2006/relationships/image" Target="../media/image290.png"/><Relationship Id="rId22" Type="http://schemas.openxmlformats.org/officeDocument/2006/relationships/image" Target="../media/image298.png"/><Relationship Id="rId27" Type="http://schemas.openxmlformats.org/officeDocument/2006/relationships/image" Target="../media/image303.jpeg"/><Relationship Id="rId30" Type="http://schemas.openxmlformats.org/officeDocument/2006/relationships/image" Target="../media/image306.png"/><Relationship Id="rId35" Type="http://schemas.openxmlformats.org/officeDocument/2006/relationships/image" Target="../media/image311.png"/><Relationship Id="rId8" Type="http://schemas.openxmlformats.org/officeDocument/2006/relationships/image" Target="../media/image284.png"/><Relationship Id="rId3" Type="http://schemas.openxmlformats.org/officeDocument/2006/relationships/image" Target="../media/image279.jpeg"/></Relationships>
</file>

<file path=ppt/slides/_rels/slide71.xml.rels><?xml version="1.0" encoding="UTF-8" standalone="yes"?>
<Relationships xmlns="http://schemas.openxmlformats.org/package/2006/relationships"><Relationship Id="rId2" Type="http://schemas.openxmlformats.org/officeDocument/2006/relationships/image" Target="../media/image3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mo2016_powerpoint_standard_v2-1.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9216000" cy="6912000"/>
          </a:xfrm>
          <a:prstGeom prst="rect">
            <a:avLst/>
          </a:prstGeom>
        </p:spPr>
      </p:pic>
      <p:sp>
        <p:nvSpPr>
          <p:cNvPr id="5" name="Title 1"/>
          <p:cNvSpPr txBox="1">
            <a:spLocks/>
          </p:cNvSpPr>
          <p:nvPr/>
        </p:nvSpPr>
        <p:spPr>
          <a:xfrm>
            <a:off x="721255" y="2044702"/>
            <a:ext cx="8229600" cy="1951564"/>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000090"/>
                </a:solidFill>
              </a:rPr>
              <a:t>WHOS IMPLEMENTATION</a:t>
            </a:r>
          </a:p>
          <a:p>
            <a:br>
              <a:rPr lang="en-US" sz="4800" dirty="0">
                <a:solidFill>
                  <a:srgbClr val="000090"/>
                </a:solidFill>
              </a:rPr>
            </a:br>
            <a:endParaRPr lang="en-US" sz="4800" dirty="0">
              <a:solidFill>
                <a:srgbClr val="000090"/>
              </a:solidFill>
            </a:endParaRPr>
          </a:p>
          <a:p>
            <a:r>
              <a:rPr lang="en-US" sz="2400" dirty="0">
                <a:solidFill>
                  <a:srgbClr val="000090"/>
                </a:solidFill>
              </a:rPr>
              <a:t>Silvano </a:t>
            </a:r>
            <a:r>
              <a:rPr lang="en-US" sz="2400" dirty="0" err="1">
                <a:solidFill>
                  <a:srgbClr val="000090"/>
                </a:solidFill>
              </a:rPr>
              <a:t>Pecora</a:t>
            </a:r>
            <a:endParaRPr lang="en-US" sz="2400" dirty="0">
              <a:solidFill>
                <a:srgbClr val="000090"/>
              </a:solidFill>
            </a:endParaRPr>
          </a:p>
          <a:p>
            <a:r>
              <a:rPr lang="en-US" sz="2400" dirty="0">
                <a:solidFill>
                  <a:srgbClr val="000090"/>
                </a:solidFill>
              </a:rPr>
              <a:t>Vice-President of </a:t>
            </a:r>
            <a:r>
              <a:rPr lang="en-US" sz="2400" dirty="0" err="1">
                <a:solidFill>
                  <a:srgbClr val="000090"/>
                </a:solidFill>
              </a:rPr>
              <a:t>CHy</a:t>
            </a:r>
            <a:endParaRPr lang="en-US" sz="2400" dirty="0">
              <a:solidFill>
                <a:srgbClr val="000090"/>
              </a:solidFill>
            </a:endParaRPr>
          </a:p>
          <a:p>
            <a:endParaRPr lang="en-US" sz="2400" dirty="0">
              <a:solidFill>
                <a:srgbClr val="000090"/>
              </a:solidFill>
            </a:endParaRPr>
          </a:p>
        </p:txBody>
      </p:sp>
      <p:sp>
        <p:nvSpPr>
          <p:cNvPr id="4" name="Rectangle 6"/>
          <p:cNvSpPr>
            <a:spLocks noGrp="1" noChangeArrowheads="1"/>
          </p:cNvSpPr>
          <p:nvPr>
            <p:ph type="subTitle" idx="1"/>
          </p:nvPr>
        </p:nvSpPr>
        <p:spPr>
          <a:xfrm>
            <a:off x="1294375" y="4093167"/>
            <a:ext cx="7921625" cy="1224236"/>
          </a:xfrm>
        </p:spPr>
        <p:txBody>
          <a:bodyPr>
            <a:normAutofit/>
          </a:bodyPr>
          <a:lstStyle/>
          <a:p>
            <a:r>
              <a:rPr lang="en-US" sz="2000" b="1" dirty="0"/>
              <a:t>HDWG Workshop</a:t>
            </a:r>
          </a:p>
          <a:p>
            <a:r>
              <a:rPr lang="en-US" sz="2000" b="1" dirty="0"/>
              <a:t>WMO, Geneva, Switzerland</a:t>
            </a:r>
          </a:p>
          <a:p>
            <a:r>
              <a:rPr lang="en-US" sz="2000" b="1" dirty="0"/>
              <a:t>17-21 September 2018</a:t>
            </a:r>
            <a:endParaRPr lang="en-US" altLang="en-US" sz="2000" dirty="0"/>
          </a:p>
        </p:txBody>
      </p:sp>
    </p:spTree>
    <p:extLst>
      <p:ext uri="{BB962C8B-B14F-4D97-AF65-F5344CB8AC3E}">
        <p14:creationId xmlns:p14="http://schemas.microsoft.com/office/powerpoint/2010/main" val="2389260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3524"/>
            <a:ext cx="9144000" cy="1143000"/>
          </a:xfrm>
        </p:spPr>
        <p:txBody>
          <a:bodyPr>
            <a:noAutofit/>
          </a:bodyPr>
          <a:lstStyle/>
          <a:p>
            <a:r>
              <a:rPr lang="en-US" sz="2800" b="1" dirty="0">
                <a:solidFill>
                  <a:srgbClr val="007AC2"/>
                </a:solidFill>
                <a:cs typeface="Avenir LT Std 55 Roman" pitchFamily="34" charset="0"/>
              </a:rPr>
              <a:t>WMO INTEGRATED GLOBAL OBSERVING SYSTEM (WIGOS)</a:t>
            </a:r>
            <a:br>
              <a:rPr lang="en-US" sz="2800" b="1" dirty="0">
                <a:solidFill>
                  <a:srgbClr val="007AC2"/>
                </a:solidFill>
                <a:cs typeface="Avenir LT Std 55 Roman" pitchFamily="34" charset="0"/>
              </a:rPr>
            </a:br>
            <a:r>
              <a:rPr lang="en-US" sz="2800" b="1" dirty="0">
                <a:solidFill>
                  <a:srgbClr val="007AC2"/>
                </a:solidFill>
                <a:cs typeface="Avenir LT Std 55 Roman" pitchFamily="34" charset="0"/>
              </a:rPr>
              <a:t>and</a:t>
            </a:r>
            <a:br>
              <a:rPr lang="en-US" sz="2800" b="1" dirty="0">
                <a:solidFill>
                  <a:srgbClr val="007AC2"/>
                </a:solidFill>
                <a:cs typeface="Avenir LT Std 55 Roman" pitchFamily="34" charset="0"/>
              </a:rPr>
            </a:br>
            <a:r>
              <a:rPr lang="en-US" sz="2800" b="1" dirty="0">
                <a:solidFill>
                  <a:srgbClr val="007AC2"/>
                </a:solidFill>
                <a:cs typeface="Avenir LT Std 55 Roman" pitchFamily="34" charset="0"/>
              </a:rPr>
              <a:t>WMO HYDROLOGICAL OBSERVING SYSTEM (WHOS)</a:t>
            </a:r>
            <a:endParaRPr lang="en-US" sz="2800" dirty="0"/>
          </a:p>
        </p:txBody>
      </p:sp>
      <p:sp>
        <p:nvSpPr>
          <p:cNvPr id="4" name="Slide Number Placeholder 3"/>
          <p:cNvSpPr>
            <a:spLocks noGrp="1"/>
          </p:cNvSpPr>
          <p:nvPr>
            <p:ph type="sldNum" sz="quarter" idx="12"/>
          </p:nvPr>
        </p:nvSpPr>
        <p:spPr/>
        <p:txBody>
          <a:bodyPr/>
          <a:lstStyle/>
          <a:p>
            <a:fld id="{9259AF2F-52C6-9B46-B8B2-0579234AE62E}" type="slidenum">
              <a:rPr lang="en-US" smtClean="0"/>
              <a:pPr/>
              <a:t>2</a:t>
            </a:fld>
            <a:endParaRPr lang="en-US" dirty="0"/>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469614" y="3669181"/>
            <a:ext cx="5150387" cy="3052294"/>
          </a:xfrm>
          <a:prstGeom prst="rect">
            <a:avLst/>
          </a:prstGeom>
          <a:noFill/>
          <a:ln w="9525">
            <a:noFill/>
            <a:miter lim="800000"/>
            <a:headEnd/>
            <a:tailEnd/>
          </a:ln>
        </p:spPr>
      </p:pic>
      <p:sp>
        <p:nvSpPr>
          <p:cNvPr id="7" name="TextBox 8"/>
          <p:cNvSpPr txBox="1"/>
          <p:nvPr/>
        </p:nvSpPr>
        <p:spPr>
          <a:xfrm>
            <a:off x="228600" y="1516701"/>
            <a:ext cx="8644944" cy="2308324"/>
          </a:xfrm>
          <a:prstGeom prst="rect">
            <a:avLst/>
          </a:prstGeom>
          <a:noFill/>
        </p:spPr>
        <p:txBody>
          <a:bodyPr wrap="square" rtlCol="0">
            <a:spAutoFit/>
          </a:bodyPr>
          <a:lstStyle/>
          <a:p>
            <a:pPr marL="457200" indent="-457200">
              <a:spcBef>
                <a:spcPts val="0"/>
              </a:spcBef>
              <a:spcAft>
                <a:spcPts val="0"/>
              </a:spcAft>
            </a:pPr>
            <a:r>
              <a:rPr lang="en-US" b="1" dirty="0"/>
              <a:t>In June 2015 the President of </a:t>
            </a:r>
            <a:r>
              <a:rPr lang="en-US" b="1" dirty="0" err="1"/>
              <a:t>CHy</a:t>
            </a:r>
            <a:r>
              <a:rPr lang="en-US" b="1" dirty="0"/>
              <a:t> informed Cg-17 of </a:t>
            </a:r>
            <a:r>
              <a:rPr lang="en-US" b="1" dirty="0" err="1"/>
              <a:t>CHy</a:t>
            </a:r>
            <a:r>
              <a:rPr lang="en-US" b="1" dirty="0"/>
              <a:t> proposal to develop WHOS as t</a:t>
            </a:r>
            <a:r>
              <a:rPr lang="en-US" b="1" kern="0" dirty="0"/>
              <a:t>he </a:t>
            </a:r>
            <a:r>
              <a:rPr lang="en-US" b="1" kern="0" dirty="0" err="1"/>
              <a:t>CHy</a:t>
            </a:r>
            <a:r>
              <a:rPr lang="en-US" b="1" kern="0" dirty="0"/>
              <a:t> contribution to WIGOS</a:t>
            </a:r>
          </a:p>
          <a:p>
            <a:pPr marL="457200" indent="-457200">
              <a:spcBef>
                <a:spcPts val="0"/>
              </a:spcBef>
              <a:spcAft>
                <a:spcPts val="0"/>
              </a:spcAft>
            </a:pPr>
            <a:endParaRPr lang="en-US" sz="1200" b="1" kern="0" dirty="0"/>
          </a:p>
          <a:p>
            <a:pPr lvl="1">
              <a:spcBef>
                <a:spcPts val="0"/>
              </a:spcBef>
              <a:buFont typeface="Arial"/>
              <a:buChar char="•"/>
            </a:pPr>
            <a:r>
              <a:rPr lang="en-US" dirty="0"/>
              <a:t>	</a:t>
            </a:r>
            <a:r>
              <a:rPr lang="en-US" i="1" dirty="0"/>
              <a:t>Congress welcomed the effort and urged the president of </a:t>
            </a:r>
            <a:r>
              <a:rPr lang="en-US" i="1" dirty="0" err="1"/>
              <a:t>CHy</a:t>
            </a:r>
            <a:r>
              <a:rPr lang="en-US" i="1" dirty="0"/>
              <a:t> to continue guiding WHOS to full implementation</a:t>
            </a:r>
          </a:p>
          <a:p>
            <a:pPr lvl="1">
              <a:spcBef>
                <a:spcPts val="0"/>
              </a:spcBef>
            </a:pPr>
            <a:endParaRPr lang="en-US" sz="1200" dirty="0"/>
          </a:p>
          <a:p>
            <a:pPr lvl="1">
              <a:spcBef>
                <a:spcPts val="0"/>
              </a:spcBef>
              <a:buFont typeface="Arial"/>
              <a:buChar char="•"/>
            </a:pPr>
            <a:r>
              <a:rPr lang="en-US" dirty="0"/>
              <a:t> 	</a:t>
            </a:r>
            <a:r>
              <a:rPr lang="en-US" i="1" dirty="0"/>
              <a:t>Congress urged the promotion of WHOS among NHSs and the hydrological community</a:t>
            </a:r>
          </a:p>
          <a:p>
            <a:pPr lvl="1">
              <a:spcBef>
                <a:spcPts val="0"/>
              </a:spcBef>
            </a:pPr>
            <a:endParaRPr lang="en-US" sz="1200" dirty="0"/>
          </a:p>
        </p:txBody>
      </p:sp>
    </p:spTree>
    <p:extLst>
      <p:ext uri="{BB962C8B-B14F-4D97-AF65-F5344CB8AC3E}">
        <p14:creationId xmlns:p14="http://schemas.microsoft.com/office/powerpoint/2010/main" val="1321063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81000"/>
            <a:ext cx="8686800" cy="553998"/>
          </a:xfrm>
          <a:prstGeom prst="rect">
            <a:avLst/>
          </a:prstGeom>
        </p:spPr>
        <p:txBody>
          <a:bodyPr wrap="square">
            <a:spAutoFit/>
          </a:bodyPr>
          <a:lstStyle/>
          <a:p>
            <a:pPr algn="ctr">
              <a:spcBef>
                <a:spcPts val="800"/>
              </a:spcBef>
              <a:defRPr/>
            </a:pPr>
            <a:r>
              <a:rPr lang="en-CA" sz="3000" b="1" dirty="0">
                <a:solidFill>
                  <a:srgbClr val="0000FF"/>
                </a:solidFill>
                <a:effectLst>
                  <a:outerShdw blurRad="38100" dist="25400" dir="2700000" algn="tl" rotWithShape="0">
                    <a:srgbClr val="000000">
                      <a:alpha val="60000"/>
                    </a:srgbClr>
                  </a:outerShdw>
                </a:effectLst>
              </a:rPr>
              <a:t>WMO Hydrological Observing System (WHOS)</a:t>
            </a:r>
          </a:p>
        </p:txBody>
      </p:sp>
      <p:sp>
        <p:nvSpPr>
          <p:cNvPr id="8" name="TextBox 7"/>
          <p:cNvSpPr txBox="1"/>
          <p:nvPr/>
        </p:nvSpPr>
        <p:spPr>
          <a:xfrm>
            <a:off x="304800" y="1286935"/>
            <a:ext cx="2759589" cy="492443"/>
          </a:xfrm>
          <a:prstGeom prst="rect">
            <a:avLst/>
          </a:prstGeom>
          <a:noFill/>
        </p:spPr>
        <p:txBody>
          <a:bodyPr wrap="none" rtlCol="0">
            <a:spAutoFit/>
          </a:bodyPr>
          <a:lstStyle/>
          <a:p>
            <a:pPr>
              <a:spcBef>
                <a:spcPts val="0"/>
              </a:spcBef>
              <a:spcAft>
                <a:spcPts val="600"/>
              </a:spcAft>
            </a:pPr>
            <a:r>
              <a:rPr lang="en-US" sz="2600" b="1" dirty="0">
                <a:solidFill>
                  <a:srgbClr val="0000CC"/>
                </a:solidFill>
              </a:rPr>
              <a:t>Implementation:</a:t>
            </a:r>
          </a:p>
        </p:txBody>
      </p:sp>
      <p:sp>
        <p:nvSpPr>
          <p:cNvPr id="9" name="TextBox 8"/>
          <p:cNvSpPr txBox="1"/>
          <p:nvPr/>
        </p:nvSpPr>
        <p:spPr>
          <a:xfrm>
            <a:off x="381000" y="1841679"/>
            <a:ext cx="8534400" cy="1000274"/>
          </a:xfrm>
          <a:prstGeom prst="rect">
            <a:avLst/>
          </a:prstGeom>
          <a:noFill/>
        </p:spPr>
        <p:txBody>
          <a:bodyPr wrap="square" rtlCol="0">
            <a:spAutoFit/>
          </a:bodyPr>
          <a:lstStyle/>
          <a:p>
            <a:pPr>
              <a:spcBef>
                <a:spcPts val="0"/>
              </a:spcBef>
              <a:spcAft>
                <a:spcPts val="600"/>
              </a:spcAft>
            </a:pPr>
            <a:r>
              <a:rPr lang="en-US" b="1" dirty="0"/>
              <a:t>Phase 1:</a:t>
            </a:r>
          </a:p>
          <a:p>
            <a:pPr>
              <a:spcBef>
                <a:spcPts val="0"/>
              </a:spcBef>
              <a:spcAft>
                <a:spcPts val="600"/>
              </a:spcAft>
            </a:pPr>
            <a:r>
              <a:rPr lang="en-US" dirty="0"/>
              <a:t>Map interface with links to those NHSs that make their real-time and historical stage and discharge data available online. implemented in August 2015.</a:t>
            </a:r>
          </a:p>
        </p:txBody>
      </p:sp>
      <p:sp>
        <p:nvSpPr>
          <p:cNvPr id="5" name="TextBox 4"/>
          <p:cNvSpPr txBox="1"/>
          <p:nvPr/>
        </p:nvSpPr>
        <p:spPr>
          <a:xfrm>
            <a:off x="381000" y="3518079"/>
            <a:ext cx="8534400" cy="1908215"/>
          </a:xfrm>
          <a:prstGeom prst="rect">
            <a:avLst/>
          </a:prstGeom>
          <a:noFill/>
        </p:spPr>
        <p:txBody>
          <a:bodyPr wrap="square" rtlCol="0">
            <a:spAutoFit/>
          </a:bodyPr>
          <a:lstStyle/>
          <a:p>
            <a:pPr>
              <a:spcBef>
                <a:spcPts val="0"/>
              </a:spcBef>
              <a:spcAft>
                <a:spcPts val="600"/>
              </a:spcAft>
            </a:pPr>
            <a:r>
              <a:rPr lang="en-US" b="1" dirty="0"/>
              <a:t>Phase 2:</a:t>
            </a:r>
          </a:p>
          <a:p>
            <a:pPr>
              <a:spcBef>
                <a:spcPts val="0"/>
              </a:spcBef>
              <a:spcAft>
                <a:spcPts val="600"/>
              </a:spcAft>
            </a:pPr>
            <a:r>
              <a:rPr lang="en-US" dirty="0"/>
              <a:t>A fully WIS/WIGOS compliant services-oriented framework linking hydrologic data providers and users through a hydrologic information system enabling data registration, data discovery, and data access.</a:t>
            </a:r>
          </a:p>
          <a:p>
            <a:pPr>
              <a:spcBef>
                <a:spcPts val="0"/>
              </a:spcBef>
              <a:spcAft>
                <a:spcPts val="0"/>
              </a:spcAft>
            </a:pPr>
            <a:r>
              <a:rPr lang="en-US" dirty="0"/>
              <a:t>Beta version for CHy-15 review and endorsement (Dec 2016)</a:t>
            </a:r>
          </a:p>
          <a:p>
            <a:pPr>
              <a:spcBef>
                <a:spcPts val="0"/>
              </a:spcBef>
              <a:spcAft>
                <a:spcPts val="0"/>
              </a:spcAft>
            </a:pPr>
            <a:r>
              <a:rPr lang="en-US" dirty="0"/>
              <a:t>Initial implementation for EC approval (June 2018)</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889" name="Picture 1"/>
          <p:cNvPicPr>
            <a:picLocks noChangeAspect="1" noChangeArrowheads="1"/>
          </p:cNvPicPr>
          <p:nvPr/>
        </p:nvPicPr>
        <p:blipFill>
          <a:blip r:embed="rId2"/>
          <a:srcRect/>
          <a:stretch>
            <a:fillRect/>
          </a:stretch>
        </p:blipFill>
        <p:spPr bwMode="auto">
          <a:xfrm>
            <a:off x="747713" y="1152525"/>
            <a:ext cx="7648575" cy="45529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865" name="Picture 1"/>
          <p:cNvPicPr>
            <a:picLocks noChangeAspect="1" noChangeArrowheads="1"/>
          </p:cNvPicPr>
          <p:nvPr/>
        </p:nvPicPr>
        <p:blipFill>
          <a:blip r:embed="rId2"/>
          <a:srcRect/>
          <a:stretch>
            <a:fillRect/>
          </a:stretch>
        </p:blipFill>
        <p:spPr bwMode="auto">
          <a:xfrm>
            <a:off x="733425" y="528638"/>
            <a:ext cx="7677150" cy="58007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0"/>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EC-70 DOCUMENT on THE INITIAL IMPLEMENTATION</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pic>
        <p:nvPicPr>
          <p:cNvPr id="28467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289008" y="484632"/>
            <a:ext cx="4682890" cy="5337488"/>
          </a:xfrm>
          <a:prstGeom prst="rect">
            <a:avLst/>
          </a:prstGeom>
          <a:noFill/>
          <a:ln w="9525">
            <a:noFill/>
            <a:miter lim="800000"/>
            <a:headEnd/>
            <a:tailEnd/>
          </a:ln>
        </p:spPr>
      </p:pic>
      <p:sp>
        <p:nvSpPr>
          <p:cNvPr id="6" name="Rettangolo 5"/>
          <p:cNvSpPr/>
          <p:nvPr/>
        </p:nvSpPr>
        <p:spPr>
          <a:xfrm>
            <a:off x="2163651" y="6211669"/>
            <a:ext cx="6980349" cy="646331"/>
          </a:xfrm>
          <a:prstGeom prst="rect">
            <a:avLst/>
          </a:prstGeom>
        </p:spPr>
        <p:txBody>
          <a:bodyPr wrap="square">
            <a:spAutoFit/>
          </a:bodyPr>
          <a:lstStyle/>
          <a:p>
            <a:r>
              <a:rPr lang="it-IT" dirty="0">
                <a:solidFill>
                  <a:srgbClr val="FF0000"/>
                </a:solidFill>
              </a:rPr>
              <a:t>http://www.wmo.int/</a:t>
            </a:r>
            <a:r>
              <a:rPr lang="it-IT" dirty="0" err="1">
                <a:solidFill>
                  <a:srgbClr val="FF0000"/>
                </a:solidFill>
              </a:rPr>
              <a:t>pages</a:t>
            </a:r>
            <a:r>
              <a:rPr lang="it-IT" dirty="0">
                <a:solidFill>
                  <a:srgbClr val="FF0000"/>
                </a:solidFill>
              </a:rPr>
              <a:t>/</a:t>
            </a:r>
            <a:r>
              <a:rPr lang="it-IT" dirty="0" err="1">
                <a:solidFill>
                  <a:srgbClr val="FF0000"/>
                </a:solidFill>
              </a:rPr>
              <a:t>prog</a:t>
            </a:r>
            <a:r>
              <a:rPr lang="it-IT" dirty="0">
                <a:solidFill>
                  <a:srgbClr val="FF0000"/>
                </a:solidFill>
              </a:rPr>
              <a:t>/</a:t>
            </a:r>
            <a:r>
              <a:rPr lang="it-IT" dirty="0" err="1">
                <a:solidFill>
                  <a:srgbClr val="FF0000"/>
                </a:solidFill>
              </a:rPr>
              <a:t>hwrp</a:t>
            </a:r>
            <a:r>
              <a:rPr lang="it-IT" dirty="0">
                <a:solidFill>
                  <a:srgbClr val="FF0000"/>
                </a:solidFill>
              </a:rPr>
              <a:t>/</a:t>
            </a:r>
            <a:r>
              <a:rPr lang="it-IT" dirty="0" err="1">
                <a:solidFill>
                  <a:srgbClr val="FF0000"/>
                </a:solidFill>
              </a:rPr>
              <a:t>chy</a:t>
            </a:r>
            <a:r>
              <a:rPr lang="it-IT" dirty="0">
                <a:solidFill>
                  <a:srgbClr val="FF0000"/>
                </a:solidFill>
              </a:rPr>
              <a:t>/</a:t>
            </a:r>
            <a:r>
              <a:rPr lang="it-IT" dirty="0" err="1">
                <a:solidFill>
                  <a:srgbClr val="FF0000"/>
                </a:solidFill>
              </a:rPr>
              <a:t>whos</a:t>
            </a:r>
            <a:r>
              <a:rPr lang="it-IT" dirty="0">
                <a:solidFill>
                  <a:srgbClr val="FF0000"/>
                </a:solidFill>
              </a:rPr>
              <a:t>/</a:t>
            </a:r>
            <a:r>
              <a:rPr lang="it-IT" dirty="0" err="1">
                <a:solidFill>
                  <a:srgbClr val="FF0000"/>
                </a:solidFill>
              </a:rPr>
              <a:t>documents</a:t>
            </a:r>
            <a:r>
              <a:rPr lang="it-IT" dirty="0">
                <a:solidFill>
                  <a:srgbClr val="FF0000"/>
                </a:solidFill>
              </a:rPr>
              <a:t>/WHOS_Phase-II_Initial_Implementation_Plan.pdf</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a:spcBef>
                <a:spcPct val="0"/>
              </a:spcBef>
            </a:pPr>
            <a:r>
              <a:rPr lang="en-US" sz="2800" b="1" dirty="0">
                <a:solidFill>
                  <a:srgbClr val="007AC2"/>
                </a:solidFill>
                <a:latin typeface="+mj-lt"/>
                <a:ea typeface="+mj-ea"/>
                <a:cs typeface="Avenir LT Std 85 Heavy"/>
              </a:rPr>
              <a:t>THE SEVEN COMPONENTS</a:t>
            </a:r>
            <a:r>
              <a:rPr lang="en-US" sz="2800" b="1" dirty="0">
                <a:solidFill>
                  <a:srgbClr val="007AC2"/>
                </a:solidFill>
                <a:cs typeface="Avenir LT Std 85 Heavy"/>
              </a:rPr>
              <a:t> OF WHOS</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32"/>
          <p:cNvGrpSpPr/>
          <p:nvPr/>
        </p:nvGrpSpPr>
        <p:grpSpPr>
          <a:xfrm>
            <a:off x="5652120" y="3212976"/>
            <a:ext cx="2165559" cy="1943371"/>
            <a:chOff x="2627784" y="3068960"/>
            <a:chExt cx="2165559" cy="1943371"/>
          </a:xfrm>
        </p:grpSpPr>
        <p:pic>
          <p:nvPicPr>
            <p:cNvPr id="24" name="Immagine 23" descr="1.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75856" y="3717032"/>
              <a:ext cx="1517487" cy="770884"/>
            </a:xfrm>
            <a:prstGeom prst="rect">
              <a:avLst/>
            </a:prstGeom>
          </p:spPr>
        </p:pic>
        <p:pic>
          <p:nvPicPr>
            <p:cNvPr id="32" name="Immagine 31" descr="b.png"/>
            <p:cNvPicPr>
              <a:picLocks noChangeAspect="1"/>
            </p:cNvPicPr>
            <p:nvPr/>
          </p:nvPicPr>
          <p:blipFill>
            <a:blip r:embed="rId3" cstate="print"/>
            <a:stretch>
              <a:fillRect/>
            </a:stretch>
          </p:blipFill>
          <p:spPr>
            <a:xfrm>
              <a:off x="2627784" y="3068960"/>
              <a:ext cx="1105054" cy="1943371"/>
            </a:xfrm>
            <a:prstGeom prst="rect">
              <a:avLst/>
            </a:prstGeom>
          </p:spPr>
        </p:pic>
      </p:grpSp>
      <p:grpSp>
        <p:nvGrpSpPr>
          <p:cNvPr id="4" name="Gruppo 19"/>
          <p:cNvGrpSpPr/>
          <p:nvPr/>
        </p:nvGrpSpPr>
        <p:grpSpPr>
          <a:xfrm>
            <a:off x="2195736" y="0"/>
            <a:ext cx="4752528" cy="3048000"/>
            <a:chOff x="0" y="0"/>
            <a:chExt cx="4860032" cy="3048000"/>
          </a:xfrm>
        </p:grpSpPr>
        <p:pic>
          <p:nvPicPr>
            <p:cNvPr id="3" name="Immagine 2" descr="240_F_64159178_H9kHNXEFnEA8A4uonCahv52lEM1Pmmyu.jpg"/>
            <p:cNvPicPr>
              <a:picLocks noChangeAspect="1"/>
            </p:cNvPicPr>
            <p:nvPr/>
          </p:nvPicPr>
          <p:blipFill>
            <a:blip r:embed="rId4" cstate="print"/>
            <a:stretch>
              <a:fillRect/>
            </a:stretch>
          </p:blipFill>
          <p:spPr>
            <a:xfrm>
              <a:off x="0" y="0"/>
              <a:ext cx="4860032" cy="3048000"/>
            </a:xfrm>
            <a:prstGeom prst="rect">
              <a:avLst/>
            </a:prstGeom>
          </p:spPr>
        </p:pic>
        <p:pic>
          <p:nvPicPr>
            <p:cNvPr id="14" name="Immagine 13" descr="WHOS senza sfondo.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67544" y="332656"/>
              <a:ext cx="2528664" cy="732067"/>
            </a:xfrm>
            <a:prstGeom prst="rect">
              <a:avLst/>
            </a:prstGeom>
          </p:spPr>
        </p:pic>
        <p:sp>
          <p:nvSpPr>
            <p:cNvPr id="15" name="CasellaDiTesto 14"/>
            <p:cNvSpPr txBox="1"/>
            <p:nvPr/>
          </p:nvSpPr>
          <p:spPr>
            <a:xfrm>
              <a:off x="883642" y="1268760"/>
              <a:ext cx="1914558" cy="1200329"/>
            </a:xfrm>
            <a:prstGeom prst="rect">
              <a:avLst/>
            </a:prstGeom>
            <a:noFill/>
          </p:spPr>
          <p:txBody>
            <a:bodyPr wrap="square" rtlCol="0">
              <a:spAutoFit/>
            </a:bodyPr>
            <a:lstStyle/>
            <a:p>
              <a:r>
                <a:rPr lang="it-IT" sz="3600" b="1" dirty="0" err="1">
                  <a:solidFill>
                    <a:srgbClr val="FF0000"/>
                  </a:solidFill>
                </a:rPr>
                <a:t>it</a:t>
              </a:r>
              <a:r>
                <a:rPr lang="it-IT" sz="3600" b="1" dirty="0">
                  <a:solidFill>
                    <a:srgbClr val="FF0000"/>
                  </a:solidFill>
                </a:rPr>
                <a:t>’s </a:t>
              </a:r>
              <a:r>
                <a:rPr lang="it-IT" sz="3600" b="1" dirty="0" err="1">
                  <a:solidFill>
                    <a:srgbClr val="FF0000"/>
                  </a:solidFill>
                </a:rPr>
                <a:t>not</a:t>
              </a:r>
              <a:r>
                <a:rPr lang="it-IT" sz="3600" b="1" dirty="0">
                  <a:solidFill>
                    <a:srgbClr val="FF0000"/>
                  </a:solidFill>
                </a:rPr>
                <a:t> a software</a:t>
              </a:r>
            </a:p>
          </p:txBody>
        </p:sp>
      </p:grpSp>
      <p:grpSp>
        <p:nvGrpSpPr>
          <p:cNvPr id="5" name="Gruppo 30"/>
          <p:cNvGrpSpPr/>
          <p:nvPr/>
        </p:nvGrpSpPr>
        <p:grpSpPr>
          <a:xfrm>
            <a:off x="7452234" y="2996952"/>
            <a:ext cx="1691766" cy="2067214"/>
            <a:chOff x="6084168" y="3429000"/>
            <a:chExt cx="1691766" cy="2067214"/>
          </a:xfrm>
        </p:grpSpPr>
        <p:pic>
          <p:nvPicPr>
            <p:cNvPr id="25" name="Immagine 24" descr="a.png"/>
            <p:cNvPicPr>
              <a:picLocks noChangeAspect="1"/>
            </p:cNvPicPr>
            <p:nvPr/>
          </p:nvPicPr>
          <p:blipFill>
            <a:blip r:embed="rId6" cstate="print"/>
            <a:stretch>
              <a:fillRect/>
            </a:stretch>
          </p:blipFill>
          <p:spPr>
            <a:xfrm>
              <a:off x="6804248" y="3429000"/>
              <a:ext cx="971686" cy="2067214"/>
            </a:xfrm>
            <a:prstGeom prst="rect">
              <a:avLst/>
            </a:prstGeom>
          </p:spPr>
        </p:pic>
        <p:pic>
          <p:nvPicPr>
            <p:cNvPr id="30" name="Immagine 29" descr="3_4.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084168" y="3717032"/>
              <a:ext cx="970283" cy="886367"/>
            </a:xfrm>
            <a:prstGeom prst="rect">
              <a:avLst/>
            </a:prstGeom>
          </p:spPr>
        </p:pic>
      </p:grpSp>
      <p:grpSp>
        <p:nvGrpSpPr>
          <p:cNvPr id="6" name="Gruppo 37"/>
          <p:cNvGrpSpPr/>
          <p:nvPr/>
        </p:nvGrpSpPr>
        <p:grpSpPr>
          <a:xfrm>
            <a:off x="2627784" y="3140968"/>
            <a:ext cx="1534294" cy="1982787"/>
            <a:chOff x="6228184" y="4725144"/>
            <a:chExt cx="1534294" cy="1982787"/>
          </a:xfrm>
        </p:grpSpPr>
        <p:pic>
          <p:nvPicPr>
            <p:cNvPr id="37" name="Immagine 36" descr="compatibilità-part-time-e-LSU-studio-paserio.jp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228184" y="4941168"/>
              <a:ext cx="1534294" cy="1766763"/>
            </a:xfrm>
            <a:prstGeom prst="rect">
              <a:avLst/>
            </a:prstGeom>
          </p:spPr>
        </p:pic>
        <p:pic>
          <p:nvPicPr>
            <p:cNvPr id="28" name="Immagine 27" descr="6_7.png"/>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rot="16200000">
              <a:off x="6356838" y="4596490"/>
              <a:ext cx="648630" cy="905938"/>
            </a:xfrm>
            <a:prstGeom prst="rect">
              <a:avLst/>
            </a:prstGeom>
          </p:spPr>
        </p:pic>
      </p:grpSp>
      <p:grpSp>
        <p:nvGrpSpPr>
          <p:cNvPr id="7" name="Gruppo 40"/>
          <p:cNvGrpSpPr/>
          <p:nvPr/>
        </p:nvGrpSpPr>
        <p:grpSpPr>
          <a:xfrm>
            <a:off x="107504" y="2996952"/>
            <a:ext cx="1502653" cy="2253819"/>
            <a:chOff x="0" y="3933056"/>
            <a:chExt cx="1502653" cy="2253819"/>
          </a:xfrm>
        </p:grpSpPr>
        <p:pic>
          <p:nvPicPr>
            <p:cNvPr id="22" name="Immagine 21" descr="2.png"/>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67544" y="4293096"/>
              <a:ext cx="1035109" cy="1893779"/>
            </a:xfrm>
            <a:prstGeom prst="rect">
              <a:avLst/>
            </a:prstGeom>
          </p:spPr>
        </p:pic>
        <p:pic>
          <p:nvPicPr>
            <p:cNvPr id="40" name="Immagine 39" descr="d.png"/>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0" y="3933056"/>
              <a:ext cx="899592" cy="1872208"/>
            </a:xfrm>
            <a:prstGeom prst="rect">
              <a:avLst/>
            </a:prstGeom>
          </p:spPr>
        </p:pic>
      </p:grpSp>
      <p:grpSp>
        <p:nvGrpSpPr>
          <p:cNvPr id="8" name="Gruppo 34"/>
          <p:cNvGrpSpPr/>
          <p:nvPr/>
        </p:nvGrpSpPr>
        <p:grpSpPr>
          <a:xfrm>
            <a:off x="1331640" y="4367231"/>
            <a:ext cx="1893779" cy="2490769"/>
            <a:chOff x="1403648" y="4149080"/>
            <a:chExt cx="1893779" cy="2490769"/>
          </a:xfrm>
        </p:grpSpPr>
        <p:pic>
          <p:nvPicPr>
            <p:cNvPr id="27" name="Immagine 26" descr="2.png"/>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rot="16200000">
              <a:off x="1832983" y="3719745"/>
              <a:ext cx="1035109" cy="1893779"/>
            </a:xfrm>
            <a:prstGeom prst="rect">
              <a:avLst/>
            </a:prstGeom>
          </p:spPr>
        </p:pic>
        <p:pic>
          <p:nvPicPr>
            <p:cNvPr id="34" name="Immagine 33" descr="c.png"/>
            <p:cNvPicPr>
              <a:picLocks noChangeAspect="1"/>
            </p:cNvPicPr>
            <p:nvPr/>
          </p:nvPicPr>
          <p:blipFill>
            <a:blip r:embed="rId12" cstate="print"/>
            <a:stretch>
              <a:fillRect/>
            </a:stretch>
          </p:blipFill>
          <p:spPr>
            <a:xfrm>
              <a:off x="1691680" y="4581128"/>
              <a:ext cx="1152128" cy="2058721"/>
            </a:xfrm>
            <a:prstGeom prst="rect">
              <a:avLst/>
            </a:prstGeom>
          </p:spPr>
        </p:pic>
      </p:grpSp>
      <p:grpSp>
        <p:nvGrpSpPr>
          <p:cNvPr id="9" name="Gruppo 45"/>
          <p:cNvGrpSpPr/>
          <p:nvPr/>
        </p:nvGrpSpPr>
        <p:grpSpPr>
          <a:xfrm>
            <a:off x="3779912" y="4509120"/>
            <a:ext cx="2148189" cy="2579540"/>
            <a:chOff x="3635896" y="4509120"/>
            <a:chExt cx="2148189" cy="2579540"/>
          </a:xfrm>
        </p:grpSpPr>
        <p:pic>
          <p:nvPicPr>
            <p:cNvPr id="29" name="Immagine 28" descr="5.png"/>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3635896" y="4869160"/>
              <a:ext cx="999983" cy="959521"/>
            </a:xfrm>
            <a:prstGeom prst="rect">
              <a:avLst/>
            </a:prstGeom>
          </p:spPr>
        </p:pic>
        <p:pic>
          <p:nvPicPr>
            <p:cNvPr id="45" name="Immagine 44" descr="e.png"/>
            <p:cNvPicPr>
              <a:picLocks noChangeAspect="1"/>
            </p:cNvPicPr>
            <p:nvPr/>
          </p:nvPicPr>
          <p:blipFill>
            <a:blip r:embed="rId14" cstate="print"/>
            <a:stretch>
              <a:fillRect/>
            </a:stretch>
          </p:blipFill>
          <p:spPr>
            <a:xfrm>
              <a:off x="3851920" y="4509120"/>
              <a:ext cx="1932165" cy="2579540"/>
            </a:xfrm>
            <a:prstGeom prst="rect">
              <a:avLst/>
            </a:prstGeom>
          </p:spPr>
        </p:pic>
      </p:grpSp>
      <p:grpSp>
        <p:nvGrpSpPr>
          <p:cNvPr id="10" name="Gruppo 34"/>
          <p:cNvGrpSpPr/>
          <p:nvPr/>
        </p:nvGrpSpPr>
        <p:grpSpPr>
          <a:xfrm>
            <a:off x="6228184" y="4725144"/>
            <a:ext cx="1856540" cy="1916832"/>
            <a:chOff x="6228184" y="4725144"/>
            <a:chExt cx="1856540" cy="1916832"/>
          </a:xfrm>
        </p:grpSpPr>
        <p:pic>
          <p:nvPicPr>
            <p:cNvPr id="43" name="Immagine 42" descr="omino_bianco.png"/>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6588224" y="4725144"/>
              <a:ext cx="1496500" cy="1916832"/>
            </a:xfrm>
            <a:prstGeom prst="rect">
              <a:avLst/>
            </a:prstGeom>
          </p:spPr>
        </p:pic>
        <p:pic>
          <p:nvPicPr>
            <p:cNvPr id="23" name="Immagine 22" descr="6_7.png"/>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228184" y="5013176"/>
              <a:ext cx="648630" cy="905938"/>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3469775" y="174420"/>
            <a:ext cx="2204450" cy="1015663"/>
          </a:xfrm>
          <a:prstGeom prst="rect">
            <a:avLst/>
          </a:prstGeom>
          <a:noFill/>
        </p:spPr>
        <p:txBody>
          <a:bodyPr wrap="none" rtlCol="0">
            <a:spAutoFit/>
          </a:bodyPr>
          <a:lstStyle/>
          <a:p>
            <a:r>
              <a:rPr lang="it-IT" sz="6000" b="1" dirty="0">
                <a:solidFill>
                  <a:schemeClr val="tx2"/>
                </a:solidFill>
                <a:latin typeface="Bradley Hand ITC" pitchFamily="66" charset="0"/>
              </a:rPr>
              <a:t>DATA</a:t>
            </a:r>
            <a:endParaRPr lang="en-US" sz="6000" b="1" dirty="0">
              <a:solidFill>
                <a:schemeClr val="tx2"/>
              </a:solidFill>
              <a:latin typeface="Bradley Hand ITC" pitchFamily="66" charset="0"/>
            </a:endParaRPr>
          </a:p>
        </p:txBody>
      </p:sp>
      <p:sp>
        <p:nvSpPr>
          <p:cNvPr id="4" name="Rettangolo 3"/>
          <p:cNvSpPr/>
          <p:nvPr/>
        </p:nvSpPr>
        <p:spPr>
          <a:xfrm>
            <a:off x="328411" y="1277721"/>
            <a:ext cx="8570890" cy="1938992"/>
          </a:xfrm>
          <a:prstGeom prst="rect">
            <a:avLst/>
          </a:prstGeom>
        </p:spPr>
        <p:txBody>
          <a:bodyPr wrap="square">
            <a:spAutoFit/>
          </a:bodyPr>
          <a:lstStyle/>
          <a:p>
            <a:r>
              <a:rPr lang="en-GB" sz="2000" dirty="0"/>
              <a:t>The ultimate goal of data collection in hydrology, be it precipitation measurements, water-level recordings, discharge </a:t>
            </a:r>
            <a:r>
              <a:rPr lang="en-GB" sz="2000" dirty="0" err="1"/>
              <a:t>gaugings</a:t>
            </a:r>
            <a:r>
              <a:rPr lang="en-GB" sz="2000" dirty="0"/>
              <a:t>, groundwater monitoring and water quality sampling, is to provide a set of sufficient good quality data that can be used in decision-making in all aspects of water resources management, in the wide range of operational applications as well as in research. </a:t>
            </a:r>
            <a:endParaRPr lang="en-US" sz="2000" dirty="0"/>
          </a:p>
        </p:txBody>
      </p:sp>
      <p:sp>
        <p:nvSpPr>
          <p:cNvPr id="6" name="Rettangolo 5"/>
          <p:cNvSpPr/>
          <p:nvPr/>
        </p:nvSpPr>
        <p:spPr>
          <a:xfrm>
            <a:off x="328411" y="3152318"/>
            <a:ext cx="6677696" cy="2862322"/>
          </a:xfrm>
          <a:prstGeom prst="rect">
            <a:avLst/>
          </a:prstGeom>
        </p:spPr>
        <p:txBody>
          <a:bodyPr wrap="square">
            <a:spAutoFit/>
          </a:bodyPr>
          <a:lstStyle/>
          <a:p>
            <a:r>
              <a:rPr lang="en-GB" sz="2000" dirty="0"/>
              <a:t>Decisions may be made directly from raw data measurements or based on derived statistics or on the results of many stages of modelling beyond the raw data stage, but it is the collected data that form the basis for these decisions.  Data sets are of great intrinsic value as they are collected through a huge commitment of human and financial resources and often during a long period of time, and they acquire also a use value when are made available in an usable form to the final users to respond to their specific needs.</a:t>
            </a:r>
            <a:endParaRPr lang="en-US" sz="2000" dirty="0"/>
          </a:p>
        </p:txBody>
      </p:sp>
      <p:grpSp>
        <p:nvGrpSpPr>
          <p:cNvPr id="2" name="Gruppo 40"/>
          <p:cNvGrpSpPr/>
          <p:nvPr/>
        </p:nvGrpSpPr>
        <p:grpSpPr>
          <a:xfrm>
            <a:off x="7006108" y="3152318"/>
            <a:ext cx="2137892" cy="3277357"/>
            <a:chOff x="0" y="3933056"/>
            <a:chExt cx="1502653" cy="2253819"/>
          </a:xfrm>
        </p:grpSpPr>
        <p:pic>
          <p:nvPicPr>
            <p:cNvPr id="8" name="Immagine 7" descr="2.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7544" y="4293096"/>
              <a:ext cx="1035109" cy="1893779"/>
            </a:xfrm>
            <a:prstGeom prst="rect">
              <a:avLst/>
            </a:prstGeom>
          </p:spPr>
        </p:pic>
        <p:pic>
          <p:nvPicPr>
            <p:cNvPr id="9" name="Immagine 8" descr="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933056"/>
              <a:ext cx="899592" cy="1872208"/>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2890290" y="174420"/>
            <a:ext cx="3363421" cy="1015663"/>
          </a:xfrm>
          <a:prstGeom prst="rect">
            <a:avLst/>
          </a:prstGeom>
          <a:noFill/>
        </p:spPr>
        <p:txBody>
          <a:bodyPr wrap="none" rtlCol="0">
            <a:spAutoFit/>
          </a:bodyPr>
          <a:lstStyle/>
          <a:p>
            <a:r>
              <a:rPr lang="it-IT" sz="6000" b="1" dirty="0">
                <a:solidFill>
                  <a:schemeClr val="tx2"/>
                </a:solidFill>
                <a:latin typeface="Bradley Hand ITC" pitchFamily="66" charset="0"/>
              </a:rPr>
              <a:t>FORMAT</a:t>
            </a:r>
            <a:endParaRPr lang="en-US" sz="6000" b="1" dirty="0">
              <a:solidFill>
                <a:schemeClr val="tx2"/>
              </a:solidFill>
              <a:latin typeface="Bradley Hand ITC" pitchFamily="66" charset="0"/>
            </a:endParaRPr>
          </a:p>
        </p:txBody>
      </p:sp>
      <p:sp>
        <p:nvSpPr>
          <p:cNvPr id="4" name="Rettangolo 3"/>
          <p:cNvSpPr/>
          <p:nvPr/>
        </p:nvSpPr>
        <p:spPr>
          <a:xfrm>
            <a:off x="283335" y="1028343"/>
            <a:ext cx="8500057" cy="2554545"/>
          </a:xfrm>
          <a:prstGeom prst="rect">
            <a:avLst/>
          </a:prstGeom>
        </p:spPr>
        <p:txBody>
          <a:bodyPr wrap="square">
            <a:spAutoFit/>
          </a:bodyPr>
          <a:lstStyle/>
          <a:p>
            <a:r>
              <a:rPr lang="en-GB" sz="2000" dirty="0"/>
              <a:t>Resolution 25, adopted in May 1999 by the Thirteenth World Meteorological Congress, commits WMO Members to broaden and enhance, whenever possible, the free and unrestricted international exchange of hydrological data and products. In 2005, a Global Climate Observing System (GCOS) report identified standards as a key problem in data exchange in global hydrological and atmospheric networks. Thus, in 2009, WMO and the Open Geospatial Consortium (OGC) jointly formed a Hydrology Domain Working Group (HDWG) to address this issue.</a:t>
            </a:r>
            <a:endParaRPr lang="en-US" sz="2000" dirty="0"/>
          </a:p>
        </p:txBody>
      </p:sp>
      <p:sp>
        <p:nvSpPr>
          <p:cNvPr id="7" name="Rettangolo 6"/>
          <p:cNvSpPr/>
          <p:nvPr/>
        </p:nvSpPr>
        <p:spPr>
          <a:xfrm>
            <a:off x="283334" y="3505614"/>
            <a:ext cx="7137743" cy="2554545"/>
          </a:xfrm>
          <a:prstGeom prst="rect">
            <a:avLst/>
          </a:prstGeom>
        </p:spPr>
        <p:txBody>
          <a:bodyPr wrap="square">
            <a:spAutoFit/>
          </a:bodyPr>
          <a:lstStyle/>
          <a:p>
            <a:r>
              <a:rPr lang="en-US" sz="2000" dirty="0"/>
              <a:t>In particular, activities of the WMO/OGC Hydrology Domain Working Group are providing technical and institutional solutions to the challenge of exchanging data describing the state and location of water resources, both above and below the ground surface, with a number of standards associated with </a:t>
            </a:r>
            <a:r>
              <a:rPr lang="en-US" sz="2000" dirty="0" err="1"/>
              <a:t>WaterML</a:t>
            </a:r>
            <a:r>
              <a:rPr lang="en-US" sz="2000" dirty="0"/>
              <a:t> 2.0 such as </a:t>
            </a:r>
            <a:r>
              <a:rPr lang="en-US" sz="2000" dirty="0" err="1"/>
              <a:t>WaterML</a:t>
            </a:r>
            <a:r>
              <a:rPr lang="en-US" sz="2000" dirty="0"/>
              <a:t> 2.0:Part 1 – Time Series;  </a:t>
            </a:r>
            <a:r>
              <a:rPr lang="en-US" sz="2000" dirty="0" err="1"/>
              <a:t>WaterML</a:t>
            </a:r>
            <a:r>
              <a:rPr lang="en-US" sz="2000" dirty="0"/>
              <a:t> 2.0:Part 2 - Ratings, </a:t>
            </a:r>
            <a:r>
              <a:rPr lang="en-US" sz="2000" dirty="0" err="1"/>
              <a:t>Gaugings</a:t>
            </a:r>
            <a:r>
              <a:rPr lang="en-US" sz="2000" dirty="0"/>
              <a:t> and Sections; </a:t>
            </a:r>
            <a:r>
              <a:rPr lang="en-US" sz="2000" dirty="0" err="1"/>
              <a:t>WaterML</a:t>
            </a:r>
            <a:r>
              <a:rPr lang="en-US" sz="2000" dirty="0"/>
              <a:t>-WQ; </a:t>
            </a:r>
            <a:r>
              <a:rPr lang="en-US" sz="2000" dirty="0" err="1"/>
              <a:t>GroundwaterML</a:t>
            </a:r>
            <a:r>
              <a:rPr lang="en-US" sz="2000" dirty="0"/>
              <a:t> 2.0;  among others.</a:t>
            </a:r>
          </a:p>
        </p:txBody>
      </p:sp>
      <p:grpSp>
        <p:nvGrpSpPr>
          <p:cNvPr id="2" name="Gruppo 34"/>
          <p:cNvGrpSpPr/>
          <p:nvPr/>
        </p:nvGrpSpPr>
        <p:grpSpPr>
          <a:xfrm>
            <a:off x="6889613" y="3582888"/>
            <a:ext cx="1893779" cy="2785048"/>
            <a:chOff x="1403648" y="4149080"/>
            <a:chExt cx="1893779" cy="2490769"/>
          </a:xfrm>
        </p:grpSpPr>
        <p:pic>
          <p:nvPicPr>
            <p:cNvPr id="9" name="Immagine 8" descr="2.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6200000">
              <a:off x="1832983" y="3719745"/>
              <a:ext cx="1035109" cy="1893779"/>
            </a:xfrm>
            <a:prstGeom prst="rect">
              <a:avLst/>
            </a:prstGeom>
          </p:spPr>
        </p:pic>
        <p:pic>
          <p:nvPicPr>
            <p:cNvPr id="10" name="Immagine 9" descr="c.png"/>
            <p:cNvPicPr>
              <a:picLocks noChangeAspect="1"/>
            </p:cNvPicPr>
            <p:nvPr/>
          </p:nvPicPr>
          <p:blipFill>
            <a:blip r:embed="rId3" cstate="print"/>
            <a:stretch>
              <a:fillRect/>
            </a:stretch>
          </p:blipFill>
          <p:spPr>
            <a:xfrm>
              <a:off x="1691680" y="4581128"/>
              <a:ext cx="1152128" cy="2058721"/>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2878267" y="0"/>
            <a:ext cx="3387466" cy="1015663"/>
          </a:xfrm>
          <a:prstGeom prst="rect">
            <a:avLst/>
          </a:prstGeom>
          <a:noFill/>
        </p:spPr>
        <p:txBody>
          <a:bodyPr wrap="none" rtlCol="0">
            <a:spAutoFit/>
          </a:bodyPr>
          <a:lstStyle/>
          <a:p>
            <a:r>
              <a:rPr lang="it-IT" sz="6000" b="1" dirty="0">
                <a:solidFill>
                  <a:schemeClr val="tx2"/>
                </a:solidFill>
                <a:latin typeface="Bradley Hand ITC" pitchFamily="66" charset="0"/>
              </a:rPr>
              <a:t>SERVICE</a:t>
            </a:r>
            <a:endParaRPr lang="en-US" sz="6000" b="1" dirty="0">
              <a:solidFill>
                <a:schemeClr val="tx2"/>
              </a:solidFill>
              <a:latin typeface="Bradley Hand ITC" pitchFamily="66" charset="0"/>
            </a:endParaRPr>
          </a:p>
        </p:txBody>
      </p:sp>
      <p:sp>
        <p:nvSpPr>
          <p:cNvPr id="4" name="Rettangolo 3"/>
          <p:cNvSpPr/>
          <p:nvPr/>
        </p:nvSpPr>
        <p:spPr>
          <a:xfrm>
            <a:off x="502276" y="904775"/>
            <a:ext cx="8229600" cy="5324535"/>
          </a:xfrm>
          <a:prstGeom prst="rect">
            <a:avLst/>
          </a:prstGeom>
        </p:spPr>
        <p:txBody>
          <a:bodyPr wrap="square">
            <a:spAutoFit/>
          </a:bodyPr>
          <a:lstStyle/>
          <a:p>
            <a:r>
              <a:rPr lang="en-GB" sz="2000" dirty="0"/>
              <a:t>Utilizing a collection of WMO and OGC Web services, WHOS is designed as a “services stack framework” that shares </a:t>
            </a:r>
            <a:r>
              <a:rPr lang="en-GB" sz="2000" dirty="0" err="1"/>
              <a:t>catalog</a:t>
            </a:r>
            <a:r>
              <a:rPr lang="en-GB" sz="2000" dirty="0"/>
              <a:t> data, metadata and data with the user. The services stack framework </a:t>
            </a:r>
            <a:r>
              <a:rPr lang="en-GB" sz="2000" dirty="0" err="1"/>
              <a:t>identiﬁes</a:t>
            </a:r>
            <a:r>
              <a:rPr lang="en-GB" sz="2000" dirty="0"/>
              <a:t> three types of services as essential to sharing water information across the web: </a:t>
            </a:r>
          </a:p>
          <a:p>
            <a:endParaRPr lang="en-GB" sz="2000" dirty="0"/>
          </a:p>
          <a:p>
            <a:pPr lvl="3">
              <a:buFontTx/>
              <a:buChar char="-"/>
            </a:pPr>
            <a:r>
              <a:rPr lang="en-GB" sz="2000" dirty="0"/>
              <a:t> </a:t>
            </a:r>
            <a:r>
              <a:rPr lang="en-GB" sz="2000" dirty="0" err="1"/>
              <a:t>catalog</a:t>
            </a:r>
            <a:r>
              <a:rPr lang="en-GB" sz="2000" dirty="0"/>
              <a:t> services</a:t>
            </a:r>
          </a:p>
          <a:p>
            <a:pPr lvl="3">
              <a:buFontTx/>
              <a:buChar char="-"/>
            </a:pPr>
            <a:r>
              <a:rPr lang="en-GB" sz="2000" dirty="0"/>
              <a:t> metadata services </a:t>
            </a:r>
          </a:p>
          <a:p>
            <a:pPr lvl="3">
              <a:buFontTx/>
              <a:buChar char="-"/>
            </a:pPr>
            <a:r>
              <a:rPr lang="en-GB" sz="2000" dirty="0"/>
              <a:t> data services. </a:t>
            </a:r>
          </a:p>
          <a:p>
            <a:endParaRPr lang="en-GB" sz="2000" dirty="0"/>
          </a:p>
          <a:p>
            <a:endParaRPr lang="en-GB" sz="2000" dirty="0"/>
          </a:p>
          <a:p>
            <a:r>
              <a:rPr lang="en-GB" sz="2000" dirty="0"/>
              <a:t>These three services work together to completely index, describe and provide access to water information (e.g. time series). </a:t>
            </a:r>
            <a:r>
              <a:rPr lang="en-GB" sz="2000" dirty="0" err="1"/>
              <a:t>Catalog</a:t>
            </a:r>
            <a:r>
              <a:rPr lang="en-GB" sz="2000" dirty="0"/>
              <a:t> services provide users with an index of hydrologic metadata, metadata services identify collections of time series available over a domain of space and time, and data services provide the user with the raw data for a speciﬁed temporal period and spatial area. This framework is designed to publish and distribute time series, but it can be extended to include grids and </a:t>
            </a:r>
            <a:r>
              <a:rPr lang="en-GB" sz="2000" dirty="0" err="1"/>
              <a:t>coverages</a:t>
            </a:r>
            <a:r>
              <a:rPr lang="en-GB" sz="2000" dirty="0"/>
              <a:t> as well.</a:t>
            </a:r>
            <a:endParaRPr lang="en-US" sz="2000" dirty="0"/>
          </a:p>
        </p:txBody>
      </p:sp>
      <p:grpSp>
        <p:nvGrpSpPr>
          <p:cNvPr id="2" name="Gruppo 32"/>
          <p:cNvGrpSpPr/>
          <p:nvPr/>
        </p:nvGrpSpPr>
        <p:grpSpPr>
          <a:xfrm>
            <a:off x="6566317" y="1917677"/>
            <a:ext cx="2165559" cy="1943371"/>
            <a:chOff x="2627784" y="3068960"/>
            <a:chExt cx="2165559" cy="1943371"/>
          </a:xfrm>
        </p:grpSpPr>
        <p:pic>
          <p:nvPicPr>
            <p:cNvPr id="7" name="Immagine 6" descr="1.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75856" y="3717032"/>
              <a:ext cx="1517487" cy="770884"/>
            </a:xfrm>
            <a:prstGeom prst="rect">
              <a:avLst/>
            </a:prstGeom>
          </p:spPr>
        </p:pic>
        <p:pic>
          <p:nvPicPr>
            <p:cNvPr id="8" name="Immagine 7" descr="b.png"/>
            <p:cNvPicPr>
              <a:picLocks noChangeAspect="1"/>
            </p:cNvPicPr>
            <p:nvPr/>
          </p:nvPicPr>
          <p:blipFill>
            <a:blip r:embed="rId3" cstate="print"/>
            <a:stretch>
              <a:fillRect/>
            </a:stretch>
          </p:blipFill>
          <p:spPr>
            <a:xfrm>
              <a:off x="2627784" y="3068960"/>
              <a:ext cx="1105054" cy="1943371"/>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2385344" y="578570"/>
            <a:ext cx="4373313" cy="1015663"/>
          </a:xfrm>
          <a:prstGeom prst="rect">
            <a:avLst/>
          </a:prstGeom>
          <a:noFill/>
        </p:spPr>
        <p:txBody>
          <a:bodyPr wrap="none" rtlCol="0">
            <a:spAutoFit/>
          </a:bodyPr>
          <a:lstStyle/>
          <a:p>
            <a:r>
              <a:rPr lang="it-IT" sz="6000" b="1" dirty="0">
                <a:solidFill>
                  <a:schemeClr val="tx2"/>
                </a:solidFill>
                <a:latin typeface="Bradley Hand ITC" pitchFamily="66" charset="0"/>
              </a:rPr>
              <a:t>ONTOLOGY</a:t>
            </a:r>
            <a:endParaRPr lang="en-US" sz="6000" b="1" dirty="0">
              <a:solidFill>
                <a:schemeClr val="tx2"/>
              </a:solidFill>
              <a:latin typeface="Bradley Hand ITC" pitchFamily="66" charset="0"/>
            </a:endParaRPr>
          </a:p>
        </p:txBody>
      </p:sp>
      <p:sp>
        <p:nvSpPr>
          <p:cNvPr id="4" name="Rettangolo 3"/>
          <p:cNvSpPr/>
          <p:nvPr/>
        </p:nvSpPr>
        <p:spPr>
          <a:xfrm>
            <a:off x="505027" y="1674798"/>
            <a:ext cx="8113690" cy="4401205"/>
          </a:xfrm>
          <a:prstGeom prst="rect">
            <a:avLst/>
          </a:prstGeom>
        </p:spPr>
        <p:txBody>
          <a:bodyPr wrap="square">
            <a:spAutoFit/>
          </a:bodyPr>
          <a:lstStyle/>
          <a:p>
            <a:r>
              <a:rPr lang="en-US" sz="2000" dirty="0"/>
              <a:t>The WMO Hydrological Ontology is a formal naming and definition of the types, properties, and interrelationships of entities that really or fundamentally exist in the domain of hydrology; in particular, it compartmentalizes the variables needed in hydrology and establishes the relationships between them. The ontology is encoded using OWL, and all its elements (classes, properties and individuals) are defined as RDF resources, and identified by URIs. The WMO Hydrological Ontology provides semantic access to linked data by incorporating OWL reasoning within the SPARQL syntax. The adopted development approach takes into account not only semantics, but a more general perspective in order to address possible future needs. The conceptual challenge concerns the enablement of new ways of searching and the adopted methodology is essentially supported by the approach of enriching the searchable information that is associated</a:t>
            </a:r>
          </a:p>
          <a:p>
            <a:r>
              <a:rPr lang="en-US" sz="2000" dirty="0"/>
              <a:t>with hydrological data and information.</a:t>
            </a:r>
          </a:p>
        </p:txBody>
      </p:sp>
      <p:grpSp>
        <p:nvGrpSpPr>
          <p:cNvPr id="2" name="Gruppo 30"/>
          <p:cNvGrpSpPr/>
          <p:nvPr/>
        </p:nvGrpSpPr>
        <p:grpSpPr>
          <a:xfrm>
            <a:off x="7065420" y="245972"/>
            <a:ext cx="1818244" cy="2387065"/>
            <a:chOff x="6084168" y="3429000"/>
            <a:chExt cx="1691766" cy="2067214"/>
          </a:xfrm>
        </p:grpSpPr>
        <p:pic>
          <p:nvPicPr>
            <p:cNvPr id="10" name="Immagine 9" descr="a.png"/>
            <p:cNvPicPr>
              <a:picLocks noChangeAspect="1"/>
            </p:cNvPicPr>
            <p:nvPr/>
          </p:nvPicPr>
          <p:blipFill>
            <a:blip r:embed="rId2" cstate="print"/>
            <a:stretch>
              <a:fillRect/>
            </a:stretch>
          </p:blipFill>
          <p:spPr>
            <a:xfrm>
              <a:off x="6804248" y="3429000"/>
              <a:ext cx="971686" cy="2067214"/>
            </a:xfrm>
            <a:prstGeom prst="rect">
              <a:avLst/>
            </a:prstGeom>
          </p:spPr>
        </p:pic>
        <p:pic>
          <p:nvPicPr>
            <p:cNvPr id="11" name="Immagine 10" descr="3_4.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84168" y="3717032"/>
              <a:ext cx="970283" cy="886367"/>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2528011" y="174420"/>
            <a:ext cx="4087979" cy="1015663"/>
          </a:xfrm>
          <a:prstGeom prst="rect">
            <a:avLst/>
          </a:prstGeom>
          <a:noFill/>
        </p:spPr>
        <p:txBody>
          <a:bodyPr wrap="none" rtlCol="0">
            <a:spAutoFit/>
          </a:bodyPr>
          <a:lstStyle/>
          <a:p>
            <a:r>
              <a:rPr lang="it-IT" sz="6000" b="1" dirty="0">
                <a:solidFill>
                  <a:schemeClr val="tx2"/>
                </a:solidFill>
                <a:latin typeface="Bradley Hand ITC" pitchFamily="66" charset="0"/>
              </a:rPr>
              <a:t>MEDIATOR</a:t>
            </a:r>
            <a:endParaRPr lang="en-US" sz="6000" b="1" dirty="0">
              <a:solidFill>
                <a:schemeClr val="tx2"/>
              </a:solidFill>
              <a:latin typeface="Bradley Hand ITC" pitchFamily="66" charset="0"/>
            </a:endParaRPr>
          </a:p>
        </p:txBody>
      </p:sp>
      <p:sp>
        <p:nvSpPr>
          <p:cNvPr id="4" name="Rettangolo 3"/>
          <p:cNvSpPr/>
          <p:nvPr/>
        </p:nvSpPr>
        <p:spPr>
          <a:xfrm>
            <a:off x="399246" y="1190083"/>
            <a:ext cx="8580147" cy="1938992"/>
          </a:xfrm>
          <a:prstGeom prst="rect">
            <a:avLst/>
          </a:prstGeom>
        </p:spPr>
        <p:txBody>
          <a:bodyPr wrap="square">
            <a:spAutoFit/>
          </a:bodyPr>
          <a:lstStyle/>
          <a:p>
            <a:r>
              <a:rPr lang="en-US" sz="2000" dirty="0"/>
              <a:t>Data interoperability is the capacity to move data and information across heterogeneous sources and destinations, in such a way that the receiver is able to restore the original representation of information. This problem can be tackled through the mediated approach, that is identifying the existing heterogeneity boundaries and implementing suitable adaptation logic by means of specialized, lightweight components.</a:t>
            </a:r>
          </a:p>
        </p:txBody>
      </p:sp>
      <p:sp>
        <p:nvSpPr>
          <p:cNvPr id="6" name="Rettangolo 5"/>
          <p:cNvSpPr/>
          <p:nvPr/>
        </p:nvSpPr>
        <p:spPr>
          <a:xfrm>
            <a:off x="399246" y="3129075"/>
            <a:ext cx="8371266" cy="707886"/>
          </a:xfrm>
          <a:prstGeom prst="rect">
            <a:avLst/>
          </a:prstGeom>
        </p:spPr>
        <p:txBody>
          <a:bodyPr wrap="square">
            <a:spAutoFit/>
          </a:bodyPr>
          <a:lstStyle/>
          <a:p>
            <a:r>
              <a:rPr lang="en-US" sz="2000" dirty="0"/>
              <a:t>WHOS is supported by a mediation-based federated solution, which has proven suitable for implementing data interoperability in the Hydrology domain. </a:t>
            </a:r>
          </a:p>
        </p:txBody>
      </p:sp>
      <p:grpSp>
        <p:nvGrpSpPr>
          <p:cNvPr id="2" name="Gruppo 37"/>
          <p:cNvGrpSpPr/>
          <p:nvPr/>
        </p:nvGrpSpPr>
        <p:grpSpPr>
          <a:xfrm>
            <a:off x="7420643" y="3710960"/>
            <a:ext cx="2072492" cy="2901595"/>
            <a:chOff x="6228184" y="4725144"/>
            <a:chExt cx="1534294" cy="1982787"/>
          </a:xfrm>
        </p:grpSpPr>
        <p:pic>
          <p:nvPicPr>
            <p:cNvPr id="9" name="Immagine 8" descr="compatibilità-part-time-e-LSU-studio-paserio.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28184" y="4941168"/>
              <a:ext cx="1534294" cy="1766763"/>
            </a:xfrm>
            <a:prstGeom prst="rect">
              <a:avLst/>
            </a:prstGeom>
          </p:spPr>
        </p:pic>
        <p:pic>
          <p:nvPicPr>
            <p:cNvPr id="10" name="Immagine 9" descr="6_7.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6200000">
              <a:off x="6356838" y="4596490"/>
              <a:ext cx="648630" cy="905938"/>
            </a:xfrm>
            <a:prstGeom prst="rect">
              <a:avLst/>
            </a:prstGeom>
          </p:spPr>
        </p:pic>
      </p:grpSp>
      <p:sp>
        <p:nvSpPr>
          <p:cNvPr id="8" name="Rettangolo 7"/>
          <p:cNvSpPr/>
          <p:nvPr/>
        </p:nvSpPr>
        <p:spPr>
          <a:xfrm>
            <a:off x="399246" y="3836961"/>
            <a:ext cx="7522346" cy="2554545"/>
          </a:xfrm>
          <a:prstGeom prst="rect">
            <a:avLst/>
          </a:prstGeom>
        </p:spPr>
        <p:txBody>
          <a:bodyPr wrap="square">
            <a:spAutoFit/>
          </a:bodyPr>
          <a:lstStyle/>
          <a:p>
            <a:r>
              <a:rPr lang="en-US" sz="2000" dirty="0"/>
              <a:t>The adopted solution includes discovery services, relating and combining data from sources characterized by heterogeneous models and encodings, and presenting the users a uniform federal view of metadata and data. A mediator-wrapper component transforms the flowing XML resources from the local to the federal schema, by means of ad-hoc structural mappings. The federal model is based on the ISO TC 211 conceptual model, which is nowadays fairly consolidated and captured in well accepted standards.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2876664" y="178307"/>
            <a:ext cx="3390672" cy="1015663"/>
          </a:xfrm>
          <a:prstGeom prst="rect">
            <a:avLst/>
          </a:prstGeom>
          <a:noFill/>
        </p:spPr>
        <p:txBody>
          <a:bodyPr wrap="none" rtlCol="0">
            <a:spAutoFit/>
          </a:bodyPr>
          <a:lstStyle/>
          <a:p>
            <a:r>
              <a:rPr lang="it-IT" sz="6000" b="1" dirty="0">
                <a:solidFill>
                  <a:schemeClr val="tx2"/>
                </a:solidFill>
                <a:latin typeface="Bradley Hand ITC" pitchFamily="66" charset="0"/>
              </a:rPr>
              <a:t>BROKER</a:t>
            </a:r>
            <a:endParaRPr lang="en-US" sz="6000" b="1" dirty="0">
              <a:solidFill>
                <a:schemeClr val="tx2"/>
              </a:solidFill>
              <a:latin typeface="Bradley Hand ITC" pitchFamily="66" charset="0"/>
            </a:endParaRPr>
          </a:p>
        </p:txBody>
      </p:sp>
      <p:sp>
        <p:nvSpPr>
          <p:cNvPr id="4" name="Rettangolo 3"/>
          <p:cNvSpPr/>
          <p:nvPr/>
        </p:nvSpPr>
        <p:spPr>
          <a:xfrm>
            <a:off x="125129" y="1607419"/>
            <a:ext cx="9018871" cy="4708981"/>
          </a:xfrm>
          <a:prstGeom prst="rect">
            <a:avLst/>
          </a:prstGeom>
        </p:spPr>
        <p:txBody>
          <a:bodyPr wrap="square">
            <a:spAutoFit/>
          </a:bodyPr>
          <a:lstStyle/>
          <a:p>
            <a:r>
              <a:rPr lang="en-US" sz="2000" dirty="0"/>
              <a:t>The Brokering approach is based on the following principles:</a:t>
            </a:r>
          </a:p>
          <a:p>
            <a:r>
              <a:rPr lang="en-US" sz="2000" dirty="0"/>
              <a:t>a)  </a:t>
            </a:r>
            <a:r>
              <a:rPr lang="en-US" sz="2000" b="1" dirty="0"/>
              <a:t>Autonomy</a:t>
            </a:r>
            <a:r>
              <a:rPr lang="en-US" sz="2000" dirty="0"/>
              <a:t>: Keep the existing disciplinary infrastructures as autonomous as possible, not asking them to implement any “more general” service bus.</a:t>
            </a:r>
          </a:p>
          <a:p>
            <a:r>
              <a:rPr lang="en-US" sz="2000" dirty="0"/>
              <a:t>b)  </a:t>
            </a:r>
            <a:r>
              <a:rPr lang="en-US" sz="2000" b="1" dirty="0" err="1"/>
              <a:t>Subsidiarity</a:t>
            </a:r>
            <a:r>
              <a:rPr lang="en-US" sz="2000" dirty="0"/>
              <a:t>: Supplement but not supplant disciplinary infrastructure mandates and governance arrangements by interconnecting and mediating their service buses.</a:t>
            </a:r>
          </a:p>
          <a:p>
            <a:r>
              <a:rPr lang="en-US" sz="2000" dirty="0"/>
              <a:t>c)  </a:t>
            </a:r>
            <a:r>
              <a:rPr lang="en-US" sz="2000" b="1" dirty="0"/>
              <a:t>Interconnection</a:t>
            </a:r>
            <a:r>
              <a:rPr lang="en-US" sz="2000" dirty="0"/>
              <a:t>: Build incrementally on existing infrastructures and introduce distribution and mediation functionalities to interconnect the heterogeneous service buses characterizing any domain speciﬁc or other infrastructure.</a:t>
            </a:r>
          </a:p>
          <a:p>
            <a:r>
              <a:rPr lang="en-US" sz="2000" dirty="0"/>
              <a:t>d)  </a:t>
            </a:r>
            <a:r>
              <a:rPr lang="en-US" sz="2000" b="1" dirty="0"/>
              <a:t>Low entry barrier</a:t>
            </a:r>
            <a:r>
              <a:rPr lang="en-US" sz="2000" dirty="0"/>
              <a:t>: Minimize the barrier for both users and resource providers of any disciplinary infrastructure.</a:t>
            </a:r>
          </a:p>
          <a:p>
            <a:r>
              <a:rPr lang="en-US" sz="2000" dirty="0"/>
              <a:t>e)  </a:t>
            </a:r>
            <a:r>
              <a:rPr lang="en-US" sz="2000" b="1" dirty="0"/>
              <a:t>Flexibility</a:t>
            </a:r>
            <a:r>
              <a:rPr lang="en-US" sz="2000" dirty="0"/>
              <a:t>: Be </a:t>
            </a:r>
            <a:r>
              <a:rPr lang="en-US" sz="2000" dirty="0" err="1"/>
              <a:t>ﬂexible</a:t>
            </a:r>
            <a:r>
              <a:rPr lang="en-US" sz="2000" dirty="0"/>
              <a:t> enough to accommodate existing and future information systems and information technologies that will augment the service bus implemented by any discipline.</a:t>
            </a:r>
          </a:p>
          <a:p>
            <a:r>
              <a:rPr lang="en-US" sz="2000" dirty="0"/>
              <a:t>f)  </a:t>
            </a:r>
            <a:r>
              <a:rPr lang="en-US" sz="2000" b="1" dirty="0"/>
              <a:t>Effectiveness</a:t>
            </a:r>
            <a:r>
              <a:rPr lang="en-US" sz="2000" dirty="0"/>
              <a:t>:  Address  the  full  range  of  information exchange needs (discovery, access, semantics, </a:t>
            </a:r>
            <a:r>
              <a:rPr lang="en-US" sz="2000" dirty="0" err="1"/>
              <a:t>workﬂow</a:t>
            </a:r>
            <a:r>
              <a:rPr lang="en-US" sz="2000" dirty="0"/>
              <a:t>, etc.).</a:t>
            </a:r>
          </a:p>
        </p:txBody>
      </p:sp>
      <p:grpSp>
        <p:nvGrpSpPr>
          <p:cNvPr id="2" name="Gruppo 5"/>
          <p:cNvGrpSpPr/>
          <p:nvPr/>
        </p:nvGrpSpPr>
        <p:grpSpPr>
          <a:xfrm>
            <a:off x="6447960" y="-1"/>
            <a:ext cx="2041521" cy="2098307"/>
            <a:chOff x="6228184" y="4725144"/>
            <a:chExt cx="1856540" cy="1916832"/>
          </a:xfrm>
        </p:grpSpPr>
        <p:pic>
          <p:nvPicPr>
            <p:cNvPr id="7" name="Immagine 6" descr="omino_bianco.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88224" y="4725144"/>
              <a:ext cx="1496500" cy="1916832"/>
            </a:xfrm>
            <a:prstGeom prst="rect">
              <a:avLst/>
            </a:prstGeom>
          </p:spPr>
        </p:pic>
        <p:pic>
          <p:nvPicPr>
            <p:cNvPr id="8" name="Immagine 7" descr="6_7.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28184" y="5013176"/>
              <a:ext cx="648630" cy="905938"/>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3157991" y="174420"/>
            <a:ext cx="2828018" cy="1015663"/>
          </a:xfrm>
          <a:prstGeom prst="rect">
            <a:avLst/>
          </a:prstGeom>
          <a:noFill/>
        </p:spPr>
        <p:txBody>
          <a:bodyPr wrap="none" rtlCol="0">
            <a:spAutoFit/>
          </a:bodyPr>
          <a:lstStyle/>
          <a:p>
            <a:r>
              <a:rPr lang="it-IT" sz="6000" b="1" dirty="0">
                <a:solidFill>
                  <a:schemeClr val="tx2"/>
                </a:solidFill>
                <a:latin typeface="Bradley Hand ITC" pitchFamily="66" charset="0"/>
              </a:rPr>
              <a:t>CLIENT</a:t>
            </a:r>
            <a:endParaRPr lang="en-US" sz="6000" b="1" dirty="0">
              <a:solidFill>
                <a:schemeClr val="tx2"/>
              </a:solidFill>
              <a:latin typeface="Bradley Hand ITC" pitchFamily="66" charset="0"/>
            </a:endParaRPr>
          </a:p>
        </p:txBody>
      </p:sp>
      <p:sp>
        <p:nvSpPr>
          <p:cNvPr id="4" name="Rettangolo 3"/>
          <p:cNvSpPr/>
          <p:nvPr/>
        </p:nvSpPr>
        <p:spPr>
          <a:xfrm>
            <a:off x="716610" y="1061036"/>
            <a:ext cx="8126569" cy="3477875"/>
          </a:xfrm>
          <a:prstGeom prst="rect">
            <a:avLst/>
          </a:prstGeom>
        </p:spPr>
        <p:txBody>
          <a:bodyPr wrap="square">
            <a:spAutoFit/>
          </a:bodyPr>
          <a:lstStyle/>
          <a:p>
            <a:r>
              <a:rPr lang="en-US" sz="2000" dirty="0"/>
              <a:t>The final component of WHOS is the web or desktop client. The client is the component that allows for the harvesting of hydrologic information at the locality of one’s own computer or analytical system as per Manual on WIS (WMO No.1060) section 3.6.7 “Provide access to information”.</a:t>
            </a:r>
          </a:p>
          <a:p>
            <a:r>
              <a:rPr lang="en-US" sz="2000" dirty="0"/>
              <a:t>The client is a platform located on the user’s machine and communicates with both data services and the registry.</a:t>
            </a:r>
          </a:p>
          <a:p>
            <a:r>
              <a:rPr lang="en-US" sz="2000" dirty="0"/>
              <a:t>Users can directly download hydrologic information from data providers if they already know of their existence or can search the registry for data that they might not know about.</a:t>
            </a:r>
          </a:p>
          <a:p>
            <a:r>
              <a:rPr lang="en-US" sz="2000" dirty="0"/>
              <a:t>Once the data of interest has been discovered, users can download the information onto their local databases.</a:t>
            </a:r>
          </a:p>
        </p:txBody>
      </p:sp>
      <p:grpSp>
        <p:nvGrpSpPr>
          <p:cNvPr id="2" name="Gruppo 45"/>
          <p:cNvGrpSpPr/>
          <p:nvPr/>
        </p:nvGrpSpPr>
        <p:grpSpPr>
          <a:xfrm>
            <a:off x="3493972" y="4138863"/>
            <a:ext cx="2492038" cy="2964581"/>
            <a:chOff x="3635896" y="4509120"/>
            <a:chExt cx="2148189" cy="2579540"/>
          </a:xfrm>
        </p:grpSpPr>
        <p:pic>
          <p:nvPicPr>
            <p:cNvPr id="7" name="Immagine 6" descr="5.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35896" y="4869160"/>
              <a:ext cx="999983" cy="959521"/>
            </a:xfrm>
            <a:prstGeom prst="rect">
              <a:avLst/>
            </a:prstGeom>
          </p:spPr>
        </p:pic>
        <p:pic>
          <p:nvPicPr>
            <p:cNvPr id="8" name="Immagine 7" descr="e.png"/>
            <p:cNvPicPr>
              <a:picLocks noChangeAspect="1"/>
            </p:cNvPicPr>
            <p:nvPr/>
          </p:nvPicPr>
          <p:blipFill>
            <a:blip r:embed="rId3" cstate="print"/>
            <a:stretch>
              <a:fillRect/>
            </a:stretch>
          </p:blipFill>
          <p:spPr>
            <a:xfrm>
              <a:off x="3851920" y="4509120"/>
              <a:ext cx="1932165" cy="2579540"/>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File:Tangram base Nevit.svg"/>
          <p:cNvPicPr>
            <a:picLocks noChangeAspect="1" noChangeArrowheads="1"/>
          </p:cNvPicPr>
          <p:nvPr/>
        </p:nvPicPr>
        <p:blipFill>
          <a:blip r:embed="rId2"/>
          <a:srcRect/>
          <a:stretch>
            <a:fillRect/>
          </a:stretch>
        </p:blipFill>
        <p:spPr bwMode="auto">
          <a:xfrm>
            <a:off x="2619375" y="1476375"/>
            <a:ext cx="3905250" cy="3905251"/>
          </a:xfrm>
          <a:prstGeom prst="rect">
            <a:avLst/>
          </a:prstGeom>
          <a:noFill/>
        </p:spPr>
      </p:pic>
      <p:sp>
        <p:nvSpPr>
          <p:cNvPr id="5" name="CasellaDiTesto 4"/>
          <p:cNvSpPr txBox="1"/>
          <p:nvPr/>
        </p:nvSpPr>
        <p:spPr>
          <a:xfrm>
            <a:off x="3283025" y="174420"/>
            <a:ext cx="2577950" cy="1015663"/>
          </a:xfrm>
          <a:prstGeom prst="rect">
            <a:avLst/>
          </a:prstGeom>
          <a:noFill/>
        </p:spPr>
        <p:txBody>
          <a:bodyPr wrap="none" rtlCol="0">
            <a:spAutoFit/>
          </a:bodyPr>
          <a:lstStyle/>
          <a:p>
            <a:r>
              <a:rPr lang="it-IT" sz="6000" b="1" dirty="0">
                <a:solidFill>
                  <a:schemeClr val="tx2"/>
                </a:solidFill>
                <a:latin typeface="Bradley Hand ITC" pitchFamily="66" charset="0"/>
              </a:rPr>
              <a:t>WHOS</a:t>
            </a:r>
            <a:endParaRPr lang="en-US" sz="6000" b="1" dirty="0">
              <a:solidFill>
                <a:schemeClr val="tx2"/>
              </a:solidFill>
              <a:latin typeface="Bradley Hand ITC" pitchFamily="66" charset="0"/>
            </a:endParaRPr>
          </a:p>
        </p:txBody>
      </p:sp>
      <p:sp>
        <p:nvSpPr>
          <p:cNvPr id="6" name="CasellaDiTesto 5"/>
          <p:cNvSpPr txBox="1"/>
          <p:nvPr/>
        </p:nvSpPr>
        <p:spPr>
          <a:xfrm>
            <a:off x="523305" y="5437989"/>
            <a:ext cx="7954422" cy="861774"/>
          </a:xfrm>
          <a:prstGeom prst="rect">
            <a:avLst/>
          </a:prstGeom>
          <a:noFill/>
        </p:spPr>
        <p:txBody>
          <a:bodyPr wrap="none" rtlCol="0">
            <a:spAutoFit/>
          </a:bodyPr>
          <a:lstStyle/>
          <a:p>
            <a:r>
              <a:rPr lang="it-IT" sz="5000" b="1" dirty="0" err="1">
                <a:solidFill>
                  <a:schemeClr val="tx2"/>
                </a:solidFill>
                <a:latin typeface="Bradley Hand ITC" pitchFamily="66" charset="0"/>
              </a:rPr>
              <a:t>reshaping</a:t>
            </a:r>
            <a:r>
              <a:rPr lang="it-IT" sz="5000" b="1" dirty="0">
                <a:solidFill>
                  <a:schemeClr val="tx2"/>
                </a:solidFill>
                <a:latin typeface="Bradley Hand ITC" pitchFamily="66" charset="0"/>
              </a:rPr>
              <a:t> data in </a:t>
            </a:r>
            <a:r>
              <a:rPr lang="it-IT" sz="5000" b="1" dirty="0" err="1">
                <a:solidFill>
                  <a:schemeClr val="tx2"/>
                </a:solidFill>
                <a:latin typeface="Bradley Hand ITC" pitchFamily="66" charset="0"/>
              </a:rPr>
              <a:t>hydrology</a:t>
            </a:r>
            <a:endParaRPr lang="en-US" sz="5000" b="1" dirty="0">
              <a:solidFill>
                <a:schemeClr val="tx2"/>
              </a:solidFill>
              <a:latin typeface="Bradley Hand ITC" pitchFamily="66" charset="0"/>
            </a:endParaRPr>
          </a:p>
        </p:txBody>
      </p:sp>
      <p:sp>
        <p:nvSpPr>
          <p:cNvPr id="8" name="CasellaDiTesto 7"/>
          <p:cNvSpPr txBox="1"/>
          <p:nvPr/>
        </p:nvSpPr>
        <p:spPr>
          <a:xfrm>
            <a:off x="5147318" y="3291783"/>
            <a:ext cx="713657" cy="276999"/>
          </a:xfrm>
          <a:prstGeom prst="rect">
            <a:avLst/>
          </a:prstGeom>
          <a:noFill/>
        </p:spPr>
        <p:txBody>
          <a:bodyPr wrap="none" rtlCol="0">
            <a:spAutoFit/>
          </a:bodyPr>
          <a:lstStyle/>
          <a:p>
            <a:r>
              <a:rPr lang="it-IT" sz="1200" b="1" dirty="0">
                <a:solidFill>
                  <a:schemeClr val="tx2"/>
                </a:solidFill>
                <a:latin typeface="Bradley Hand ITC" pitchFamily="66" charset="0"/>
              </a:rPr>
              <a:t>CLIENT</a:t>
            </a:r>
            <a:endParaRPr lang="en-US" sz="1200" b="1" dirty="0">
              <a:solidFill>
                <a:schemeClr val="tx2"/>
              </a:solidFill>
              <a:latin typeface="Bradley Hand ITC" pitchFamily="66" charset="0"/>
            </a:endParaRPr>
          </a:p>
        </p:txBody>
      </p:sp>
      <p:sp>
        <p:nvSpPr>
          <p:cNvPr id="9" name="CasellaDiTesto 8"/>
          <p:cNvSpPr txBox="1"/>
          <p:nvPr/>
        </p:nvSpPr>
        <p:spPr>
          <a:xfrm>
            <a:off x="5618581" y="2350555"/>
            <a:ext cx="827471" cy="276999"/>
          </a:xfrm>
          <a:prstGeom prst="rect">
            <a:avLst/>
          </a:prstGeom>
          <a:noFill/>
        </p:spPr>
        <p:txBody>
          <a:bodyPr wrap="none" rtlCol="0">
            <a:spAutoFit/>
          </a:bodyPr>
          <a:lstStyle/>
          <a:p>
            <a:r>
              <a:rPr lang="it-IT" sz="1200" b="1" dirty="0">
                <a:solidFill>
                  <a:schemeClr val="tx2"/>
                </a:solidFill>
                <a:latin typeface="Bradley Hand ITC" pitchFamily="66" charset="0"/>
              </a:rPr>
              <a:t>BROKER</a:t>
            </a:r>
            <a:endParaRPr lang="en-US" sz="1200" b="1" dirty="0">
              <a:solidFill>
                <a:schemeClr val="tx2"/>
              </a:solidFill>
              <a:latin typeface="Bradley Hand ITC" pitchFamily="66" charset="0"/>
            </a:endParaRPr>
          </a:p>
        </p:txBody>
      </p:sp>
      <p:sp>
        <p:nvSpPr>
          <p:cNvPr id="10" name="CasellaDiTesto 9"/>
          <p:cNvSpPr txBox="1"/>
          <p:nvPr/>
        </p:nvSpPr>
        <p:spPr>
          <a:xfrm>
            <a:off x="4072201" y="3978397"/>
            <a:ext cx="966931" cy="276999"/>
          </a:xfrm>
          <a:prstGeom prst="rect">
            <a:avLst/>
          </a:prstGeom>
          <a:noFill/>
        </p:spPr>
        <p:txBody>
          <a:bodyPr wrap="none" rtlCol="0">
            <a:spAutoFit/>
          </a:bodyPr>
          <a:lstStyle/>
          <a:p>
            <a:r>
              <a:rPr lang="it-IT" sz="1200" b="1" dirty="0">
                <a:solidFill>
                  <a:schemeClr val="tx2"/>
                </a:solidFill>
                <a:latin typeface="Bradley Hand ITC" pitchFamily="66" charset="0"/>
              </a:rPr>
              <a:t>MEDIATOR</a:t>
            </a:r>
            <a:endParaRPr lang="en-US" sz="1200" b="1" dirty="0">
              <a:solidFill>
                <a:schemeClr val="tx2"/>
              </a:solidFill>
              <a:latin typeface="Bradley Hand ITC" pitchFamily="66" charset="0"/>
            </a:endParaRPr>
          </a:p>
        </p:txBody>
      </p:sp>
      <p:sp>
        <p:nvSpPr>
          <p:cNvPr id="11" name="CasellaDiTesto 10"/>
          <p:cNvSpPr txBox="1"/>
          <p:nvPr/>
        </p:nvSpPr>
        <p:spPr>
          <a:xfrm>
            <a:off x="5281346" y="4599751"/>
            <a:ext cx="1023037" cy="276999"/>
          </a:xfrm>
          <a:prstGeom prst="rect">
            <a:avLst/>
          </a:prstGeom>
          <a:noFill/>
        </p:spPr>
        <p:txBody>
          <a:bodyPr wrap="none" rtlCol="0">
            <a:spAutoFit/>
          </a:bodyPr>
          <a:lstStyle/>
          <a:p>
            <a:r>
              <a:rPr lang="it-IT" sz="1200" b="1" dirty="0">
                <a:solidFill>
                  <a:schemeClr val="tx2"/>
                </a:solidFill>
                <a:latin typeface="Bradley Hand ITC" pitchFamily="66" charset="0"/>
              </a:rPr>
              <a:t>ONTOLOGY</a:t>
            </a:r>
            <a:endParaRPr lang="en-US" sz="1200" b="1" dirty="0">
              <a:solidFill>
                <a:schemeClr val="tx2"/>
              </a:solidFill>
              <a:latin typeface="Bradley Hand ITC" pitchFamily="66" charset="0"/>
            </a:endParaRPr>
          </a:p>
        </p:txBody>
      </p:sp>
      <p:sp>
        <p:nvSpPr>
          <p:cNvPr id="12" name="CasellaDiTesto 11"/>
          <p:cNvSpPr txBox="1"/>
          <p:nvPr/>
        </p:nvSpPr>
        <p:spPr>
          <a:xfrm>
            <a:off x="3581993" y="4738250"/>
            <a:ext cx="825867" cy="276999"/>
          </a:xfrm>
          <a:prstGeom prst="rect">
            <a:avLst/>
          </a:prstGeom>
          <a:noFill/>
        </p:spPr>
        <p:txBody>
          <a:bodyPr wrap="none" rtlCol="0">
            <a:spAutoFit/>
          </a:bodyPr>
          <a:lstStyle/>
          <a:p>
            <a:r>
              <a:rPr lang="it-IT" sz="1200" b="1" dirty="0">
                <a:solidFill>
                  <a:schemeClr val="tx2"/>
                </a:solidFill>
                <a:latin typeface="Bradley Hand ITC" pitchFamily="66" charset="0"/>
              </a:rPr>
              <a:t>SERVICE</a:t>
            </a:r>
            <a:endParaRPr lang="en-US" sz="1200" b="1" dirty="0">
              <a:solidFill>
                <a:schemeClr val="tx2"/>
              </a:solidFill>
              <a:latin typeface="Bradley Hand ITC" pitchFamily="66" charset="0"/>
            </a:endParaRPr>
          </a:p>
        </p:txBody>
      </p:sp>
      <p:sp>
        <p:nvSpPr>
          <p:cNvPr id="13" name="CasellaDiTesto 12"/>
          <p:cNvSpPr txBox="1"/>
          <p:nvPr/>
        </p:nvSpPr>
        <p:spPr>
          <a:xfrm>
            <a:off x="4072201" y="1922178"/>
            <a:ext cx="821059" cy="276999"/>
          </a:xfrm>
          <a:prstGeom prst="rect">
            <a:avLst/>
          </a:prstGeom>
          <a:noFill/>
        </p:spPr>
        <p:txBody>
          <a:bodyPr wrap="none" rtlCol="0">
            <a:spAutoFit/>
          </a:bodyPr>
          <a:lstStyle/>
          <a:p>
            <a:r>
              <a:rPr lang="it-IT" sz="1200" b="1" dirty="0">
                <a:solidFill>
                  <a:schemeClr val="tx2"/>
                </a:solidFill>
                <a:latin typeface="Bradley Hand ITC" pitchFamily="66" charset="0"/>
              </a:rPr>
              <a:t>FORMAT</a:t>
            </a:r>
            <a:endParaRPr lang="en-US" sz="1200" b="1" dirty="0">
              <a:solidFill>
                <a:schemeClr val="tx2"/>
              </a:solidFill>
              <a:latin typeface="Bradley Hand ITC" pitchFamily="66" charset="0"/>
            </a:endParaRPr>
          </a:p>
        </p:txBody>
      </p:sp>
      <p:sp>
        <p:nvSpPr>
          <p:cNvPr id="14" name="CasellaDiTesto 13"/>
          <p:cNvSpPr txBox="1"/>
          <p:nvPr/>
        </p:nvSpPr>
        <p:spPr>
          <a:xfrm>
            <a:off x="2991767" y="3153284"/>
            <a:ext cx="590226" cy="276999"/>
          </a:xfrm>
          <a:prstGeom prst="rect">
            <a:avLst/>
          </a:prstGeom>
          <a:noFill/>
        </p:spPr>
        <p:txBody>
          <a:bodyPr wrap="none" rtlCol="0">
            <a:spAutoFit/>
          </a:bodyPr>
          <a:lstStyle/>
          <a:p>
            <a:r>
              <a:rPr lang="it-IT" sz="1200" b="1" dirty="0">
                <a:solidFill>
                  <a:schemeClr val="tx2"/>
                </a:solidFill>
                <a:latin typeface="Bradley Hand ITC" pitchFamily="66" charset="0"/>
              </a:rPr>
              <a:t>DATA</a:t>
            </a:r>
            <a:endParaRPr lang="en-US" sz="1200" b="1" dirty="0">
              <a:solidFill>
                <a:schemeClr val="tx2"/>
              </a:solidFill>
              <a:latin typeface="Bradley Hand ITC"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WHOS at LOCAL SCALE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pic>
        <p:nvPicPr>
          <p:cNvPr id="81922" name="Picture 2" descr="https://upload.wikimedia.org/wikipedia/commons/thumb/d/d9/Tangram_001_Nevit.svg/320px-Tangram_001_Nevit.svg.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48003" y="1515269"/>
            <a:ext cx="1524000" cy="3471863"/>
          </a:xfrm>
          <a:prstGeom prst="rect">
            <a:avLst/>
          </a:prstGeom>
          <a:noFill/>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89828" y="313691"/>
            <a:ext cx="7409842" cy="90169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Hydrological Yearbooks</a:t>
            </a:r>
          </a:p>
        </p:txBody>
      </p:sp>
      <p:graphicFrame>
        <p:nvGraphicFramePr>
          <p:cNvPr id="1027" name="Object 3"/>
          <p:cNvGraphicFramePr>
            <a:graphicFrameLocks noChangeAspect="1"/>
          </p:cNvGraphicFramePr>
          <p:nvPr/>
        </p:nvGraphicFramePr>
        <p:xfrm>
          <a:off x="4738871" y="1439368"/>
          <a:ext cx="2973240" cy="2142577"/>
        </p:xfrm>
        <a:graphic>
          <a:graphicData uri="http://schemas.openxmlformats.org/presentationml/2006/ole">
            <mc:AlternateContent xmlns:mc="http://schemas.openxmlformats.org/markup-compatibility/2006">
              <mc:Choice xmlns:v="urn:schemas-microsoft-com:vml" Requires="v">
                <p:oleObj spid="_x0000_s272389" name="Immagine bitmap" r:id="rId3" imgW="9752381" imgH="7028571" progId="PBrush">
                  <p:embed/>
                </p:oleObj>
              </mc:Choice>
              <mc:Fallback>
                <p:oleObj name="Immagine bitmap" r:id="rId3" imgW="9752381" imgH="7028571" progId="PBrush">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871" y="1439368"/>
                        <a:ext cx="2973240" cy="2142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Picture 2" descr="interfacciaDEXTE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738871" y="3755066"/>
            <a:ext cx="2973240" cy="2229774"/>
          </a:xfrm>
          <a:prstGeom prst="rect">
            <a:avLst/>
          </a:prstGeom>
          <a:noFill/>
          <a:ln w="9525">
            <a:noFill/>
            <a:miter lim="800000"/>
            <a:headEnd/>
            <a:tailEnd/>
          </a:ln>
        </p:spPr>
      </p:pic>
      <p:pic>
        <p:nvPicPr>
          <p:cNvPr id="11" name="Picture 6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885320" y="2726366"/>
            <a:ext cx="1028700" cy="1028700"/>
          </a:xfrm>
          <a:prstGeom prst="rect">
            <a:avLst/>
          </a:prstGeom>
        </p:spPr>
      </p:pic>
      <p:pic>
        <p:nvPicPr>
          <p:cNvPr id="12" name="Picture 68"/>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885320" y="1697666"/>
            <a:ext cx="1028700" cy="1028700"/>
          </a:xfrm>
          <a:prstGeom prst="rect">
            <a:avLst/>
          </a:prstGeom>
        </p:spPr>
      </p:pic>
      <p:pic>
        <p:nvPicPr>
          <p:cNvPr id="1029" name="Picture 5" descr="Database symbol by eternaltyro"/>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74674" y="1491499"/>
            <a:ext cx="1507734" cy="2090446"/>
          </a:xfrm>
          <a:prstGeom prst="rect">
            <a:avLst/>
          </a:prstGeom>
          <a:noFill/>
        </p:spPr>
      </p:pic>
      <p:pic>
        <p:nvPicPr>
          <p:cNvPr id="14" name="Picture 5" descr="Database symbol by eternaltyro"/>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989828" y="2536722"/>
            <a:ext cx="1507734" cy="2090446"/>
          </a:xfrm>
          <a:prstGeom prst="rect">
            <a:avLst/>
          </a:prstGeom>
          <a:noFill/>
        </p:spPr>
      </p:pic>
      <p:pic>
        <p:nvPicPr>
          <p:cNvPr id="15" name="Picture 5" descr="Database symbol by eternaltyro"/>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74674" y="3734345"/>
            <a:ext cx="1507734" cy="2090446"/>
          </a:xfrm>
          <a:prstGeom prst="rect">
            <a:avLst/>
          </a:prstGeom>
          <a:noFill/>
        </p:spPr>
      </p:pic>
      <p:pic>
        <p:nvPicPr>
          <p:cNvPr id="1031" name="Picture 7" descr="File:Tangram 247 Nevit.svg"/>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982408" y="2684230"/>
            <a:ext cx="3570996" cy="210023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89828" y="313691"/>
            <a:ext cx="7409842" cy="90169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Hydrological Models</a:t>
            </a:r>
          </a:p>
        </p:txBody>
      </p:sp>
      <p:pic>
        <p:nvPicPr>
          <p:cNvPr id="3" name="Picture 5" descr="Database symbol by eternaltyr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35961" y="446276"/>
            <a:ext cx="1507734" cy="2090446"/>
          </a:xfrm>
          <a:prstGeom prst="rect">
            <a:avLst/>
          </a:prstGeom>
          <a:noFill/>
        </p:spPr>
      </p:pic>
      <p:graphicFrame>
        <p:nvGraphicFramePr>
          <p:cNvPr id="750599" name="Object 7"/>
          <p:cNvGraphicFramePr>
            <a:graphicFrameLocks noChangeAspect="1"/>
          </p:cNvGraphicFramePr>
          <p:nvPr/>
        </p:nvGraphicFramePr>
        <p:xfrm>
          <a:off x="2764237" y="3549816"/>
          <a:ext cx="2612031" cy="2022781"/>
        </p:xfrm>
        <a:graphic>
          <a:graphicData uri="http://schemas.openxmlformats.org/presentationml/2006/ole">
            <mc:AlternateContent xmlns:mc="http://schemas.openxmlformats.org/markup-compatibility/2006">
              <mc:Choice xmlns:v="urn:schemas-microsoft-com:vml" Requires="v">
                <p:oleObj spid="_x0000_s273416" r:id="rId4" imgW="3209524" imgH="2486372" progId="">
                  <p:embed/>
                </p:oleObj>
              </mc:Choice>
              <mc:Fallback>
                <p:oleObj r:id="rId4" imgW="3209524" imgH="2486372" progId="">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4237" y="3549816"/>
                        <a:ext cx="2612031" cy="2022781"/>
                      </a:xfrm>
                      <a:prstGeom prst="rect">
                        <a:avLst/>
                      </a:prstGeom>
                      <a:noFill/>
                      <a:ln w="635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6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885320" y="5572597"/>
            <a:ext cx="1028700" cy="1028700"/>
          </a:xfrm>
          <a:prstGeom prst="rect">
            <a:avLst/>
          </a:prstGeom>
        </p:spPr>
      </p:pic>
      <p:pic>
        <p:nvPicPr>
          <p:cNvPr id="10" name="Picture 68"/>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885320" y="4543897"/>
            <a:ext cx="1028700" cy="1028700"/>
          </a:xfrm>
          <a:prstGeom prst="rect">
            <a:avLst/>
          </a:prstGeom>
        </p:spPr>
      </p:pic>
      <p:graphicFrame>
        <p:nvGraphicFramePr>
          <p:cNvPr id="750600" name="Object 8"/>
          <p:cNvGraphicFramePr>
            <a:graphicFrameLocks noChangeAspect="1"/>
          </p:cNvGraphicFramePr>
          <p:nvPr/>
        </p:nvGraphicFramePr>
        <p:xfrm>
          <a:off x="4071678" y="1828939"/>
          <a:ext cx="3259757" cy="1879205"/>
        </p:xfrm>
        <a:graphic>
          <a:graphicData uri="http://schemas.openxmlformats.org/presentationml/2006/ole">
            <mc:AlternateContent xmlns:mc="http://schemas.openxmlformats.org/markup-compatibility/2006">
              <mc:Choice xmlns:v="urn:schemas-microsoft-com:vml" Requires="v">
                <p:oleObj spid="_x0000_s273417" r:id="rId8" imgW="4123810" imgH="2847619" progId="">
                  <p:embed/>
                </p:oleObj>
              </mc:Choice>
              <mc:Fallback>
                <p:oleObj r:id="rId8" imgW="4123810" imgH="2847619"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1678" y="1828939"/>
                        <a:ext cx="3259757" cy="1879205"/>
                      </a:xfrm>
                      <a:prstGeom prst="rect">
                        <a:avLst/>
                      </a:prstGeom>
                      <a:noFill/>
                      <a:ln w="635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5" descr="Database symbol by eternaltyro"/>
          <p:cNvPicPr>
            <a:picLocks noChangeAspect="1" noChangeArrowheads="1"/>
          </p:cNvPicPr>
          <p:nvPr/>
        </p:nvPicPr>
        <p:blipFill>
          <a:blip r:embed="rId10" cstate="email">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bwMode="auto">
          <a:xfrm>
            <a:off x="5863934" y="3927511"/>
            <a:ext cx="975333" cy="1352282"/>
          </a:xfrm>
          <a:prstGeom prst="rect">
            <a:avLst/>
          </a:prstGeom>
          <a:noFill/>
        </p:spPr>
      </p:pic>
      <p:pic>
        <p:nvPicPr>
          <p:cNvPr id="12" name="Picture 5" descr="Database symbol by eternaltyr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88900" y="1215390"/>
            <a:ext cx="1507734" cy="2090446"/>
          </a:xfrm>
          <a:prstGeom prst="rect">
            <a:avLst/>
          </a:prstGeom>
          <a:noFill/>
        </p:spPr>
      </p:pic>
      <p:pic>
        <p:nvPicPr>
          <p:cNvPr id="2052" name="Picture 4" descr="File:Tangram 194 Nevit.sv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2327213" y="1545465"/>
            <a:ext cx="1311296" cy="1760371"/>
          </a:xfrm>
          <a:prstGeom prst="rect">
            <a:avLst/>
          </a:prstGeom>
          <a:noFill/>
        </p:spPr>
      </p:pic>
      <p:pic>
        <p:nvPicPr>
          <p:cNvPr id="14" name="Picture 5" descr="Database symbol by eternaltyr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35961" y="2662921"/>
            <a:ext cx="1507734" cy="2090446"/>
          </a:xfrm>
          <a:prstGeom prst="rect">
            <a:avLst/>
          </a:prstGeom>
          <a:noFill/>
        </p:spPr>
      </p:pic>
      <p:pic>
        <p:nvPicPr>
          <p:cNvPr id="2054" name="Picture 6" descr="File:Tangram 206 Nevit.sv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flipH="1">
            <a:off x="5701557" y="5279793"/>
            <a:ext cx="2183763" cy="1321504"/>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89828" y="313691"/>
            <a:ext cx="7409842" cy="90169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Hydraulic Models</a:t>
            </a:r>
          </a:p>
        </p:txBody>
      </p:sp>
      <p:pic>
        <p:nvPicPr>
          <p:cNvPr id="3" name="Picture 5" descr="Database symbol by eternaltyr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35961" y="446276"/>
            <a:ext cx="1507734" cy="2090446"/>
          </a:xfrm>
          <a:prstGeom prst="rect">
            <a:avLst/>
          </a:prstGeom>
          <a:noFill/>
        </p:spPr>
      </p:pic>
      <p:pic>
        <p:nvPicPr>
          <p:cNvPr id="9"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85320" y="5572597"/>
            <a:ext cx="1028700" cy="1028700"/>
          </a:xfrm>
          <a:prstGeom prst="rect">
            <a:avLst/>
          </a:prstGeom>
        </p:spPr>
      </p:pic>
      <p:pic>
        <p:nvPicPr>
          <p:cNvPr id="10"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85320" y="4543897"/>
            <a:ext cx="1028700" cy="1028700"/>
          </a:xfrm>
          <a:prstGeom prst="rect">
            <a:avLst/>
          </a:prstGeom>
        </p:spPr>
      </p:pic>
      <p:pic>
        <p:nvPicPr>
          <p:cNvPr id="11" name="Picture 5" descr="Database symbol by eternaltyro"/>
          <p:cNvPicPr>
            <a:picLocks noChangeAspect="1" noChangeArrowheads="1"/>
          </p:cNvPicPr>
          <p:nvPr/>
        </p:nvPicPr>
        <p:blipFill>
          <a:blip r:embed="rId6" cstate="email">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bwMode="auto">
          <a:xfrm>
            <a:off x="5863934" y="3927511"/>
            <a:ext cx="975333" cy="1352282"/>
          </a:xfrm>
          <a:prstGeom prst="rect">
            <a:avLst/>
          </a:prstGeom>
          <a:noFill/>
        </p:spPr>
      </p:pic>
      <p:pic>
        <p:nvPicPr>
          <p:cNvPr id="12" name="Picture 5" descr="Database symbol by eternaltyr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88900" y="1215390"/>
            <a:ext cx="1507734" cy="2090446"/>
          </a:xfrm>
          <a:prstGeom prst="rect">
            <a:avLst/>
          </a:prstGeom>
          <a:noFill/>
        </p:spPr>
      </p:pic>
      <p:pic>
        <p:nvPicPr>
          <p:cNvPr id="14" name="Picture 5" descr="Database symbol by eternaltyr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35961" y="2662921"/>
            <a:ext cx="1507734" cy="2090446"/>
          </a:xfrm>
          <a:prstGeom prst="rect">
            <a:avLst/>
          </a:prstGeom>
          <a:noFill/>
        </p:spPr>
      </p:pic>
      <p:pic>
        <p:nvPicPr>
          <p:cNvPr id="2054" name="Picture 6" descr="File:Tangram 206 Nevit.sv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flipH="1">
            <a:off x="5701557" y="5279793"/>
            <a:ext cx="2183763" cy="1321504"/>
          </a:xfrm>
          <a:prstGeom prst="rect">
            <a:avLst/>
          </a:prstGeom>
          <a:noFill/>
        </p:spPr>
      </p:pic>
      <p:graphicFrame>
        <p:nvGraphicFramePr>
          <p:cNvPr id="887813" name="Object 5"/>
          <p:cNvGraphicFramePr>
            <a:graphicFrameLocks noChangeAspect="1"/>
          </p:cNvGraphicFramePr>
          <p:nvPr/>
        </p:nvGraphicFramePr>
        <p:xfrm>
          <a:off x="4336332" y="1454180"/>
          <a:ext cx="2730450" cy="2417482"/>
        </p:xfrm>
        <a:graphic>
          <a:graphicData uri="http://schemas.openxmlformats.org/presentationml/2006/ole">
            <mc:AlternateContent xmlns:mc="http://schemas.openxmlformats.org/markup-compatibility/2006">
              <mc:Choice xmlns:v="urn:schemas-microsoft-com:vml" Requires="v">
                <p:oleObj spid="_x0000_s274437" name="Immagine bitmap" r:id="rId8" imgW="6152381" imgH="5447619" progId="PBrush">
                  <p:embed/>
                </p:oleObj>
              </mc:Choice>
              <mc:Fallback>
                <p:oleObj name="Immagine bitmap" r:id="rId8" imgW="6152381" imgH="5447619" progId="PBrush">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6332" y="1454180"/>
                        <a:ext cx="2730450" cy="2417482"/>
                      </a:xfrm>
                      <a:prstGeom prst="rect">
                        <a:avLst/>
                      </a:prstGeom>
                      <a:noFill/>
                      <a:ln w="635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5" name="Picture 7"/>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2800370" y="3576984"/>
            <a:ext cx="2616893" cy="1933826"/>
          </a:xfrm>
          <a:prstGeom prst="rect">
            <a:avLst/>
          </a:prstGeom>
          <a:noFill/>
          <a:ln w="60325" algn="ctr">
            <a:solidFill>
              <a:srgbClr val="FF0000"/>
            </a:solidFill>
            <a:miter lim="800000"/>
            <a:headEnd/>
            <a:tailEnd/>
          </a:ln>
        </p:spPr>
      </p:pic>
      <p:pic>
        <p:nvPicPr>
          <p:cNvPr id="90118" name="Picture 6" descr="File:Tangram 109 Nevit.sv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743695" y="1215390"/>
            <a:ext cx="3050659" cy="260953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WHOS at NATIONAL SCALE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pic>
        <p:nvPicPr>
          <p:cNvPr id="80898" name="Picture 2" descr="https://upload.wikimedia.org/wikipedia/commons/thumb/8/87/Tangram_002_Nevit.svg/463px-Tangram_002_Nevit.svg.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1972" y="1498600"/>
            <a:ext cx="2205038" cy="3505200"/>
          </a:xfrm>
          <a:prstGeom prst="rect">
            <a:avLst/>
          </a:prstGeom>
          <a:noFill/>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02276" y="61764"/>
            <a:ext cx="7897394" cy="901699"/>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Federation of National Hydrological Data</a:t>
            </a:r>
          </a:p>
        </p:txBody>
      </p:sp>
      <p:pic>
        <p:nvPicPr>
          <p:cNvPr id="5"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816698" y="3153658"/>
            <a:ext cx="2820473" cy="1762796"/>
          </a:xfrm>
          <a:prstGeom prst="rect">
            <a:avLst/>
          </a:prstGeom>
          <a:noFill/>
          <a:ln w="9525">
            <a:noFill/>
            <a:miter lim="800000"/>
            <a:headEnd/>
            <a:tailEnd/>
          </a:ln>
        </p:spPr>
      </p:pic>
      <p:pic>
        <p:nvPicPr>
          <p:cNvPr id="6" name="Immagine 5" descr="fews_sections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40179" y="4644351"/>
            <a:ext cx="3296992" cy="1856492"/>
          </a:xfrm>
          <a:prstGeom prst="rect">
            <a:avLst/>
          </a:prstGeom>
        </p:spPr>
      </p:pic>
      <p:pic>
        <p:nvPicPr>
          <p:cNvPr id="7"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85320" y="3668008"/>
            <a:ext cx="1028700" cy="1028700"/>
          </a:xfrm>
          <a:prstGeom prst="rect">
            <a:avLst/>
          </a:prstGeom>
        </p:spPr>
      </p:pic>
      <p:pic>
        <p:nvPicPr>
          <p:cNvPr id="8"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85320" y="2639308"/>
            <a:ext cx="1028700" cy="1028700"/>
          </a:xfrm>
          <a:prstGeom prst="rect">
            <a:avLst/>
          </a:prstGeom>
        </p:spPr>
      </p:pic>
      <p:pic>
        <p:nvPicPr>
          <p:cNvPr id="9" name="Picture 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138904" y="1247695"/>
            <a:ext cx="2498267" cy="1905963"/>
          </a:xfrm>
          <a:prstGeom prst="rect">
            <a:avLst/>
          </a:prstGeom>
          <a:noFill/>
          <a:ln w="9525">
            <a:noFill/>
            <a:miter lim="800000"/>
            <a:headEnd/>
            <a:tailEnd/>
          </a:ln>
          <a:effectLst/>
        </p:spPr>
      </p:pic>
      <p:pic>
        <p:nvPicPr>
          <p:cNvPr id="11" name="Picture 5" descr="Database symbol by eternaltyro"/>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35961" y="788723"/>
            <a:ext cx="1280765" cy="1775757"/>
          </a:xfrm>
          <a:prstGeom prst="rect">
            <a:avLst/>
          </a:prstGeom>
          <a:noFill/>
        </p:spPr>
      </p:pic>
      <p:pic>
        <p:nvPicPr>
          <p:cNvPr id="12" name="Picture 5" descr="Database symbol by eternaltyro"/>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367155" y="512614"/>
            <a:ext cx="1507734" cy="2090446"/>
          </a:xfrm>
          <a:prstGeom prst="rect">
            <a:avLst/>
          </a:prstGeom>
          <a:noFill/>
        </p:spPr>
      </p:pic>
      <p:pic>
        <p:nvPicPr>
          <p:cNvPr id="13" name="Picture 5" descr="Database symbol by eternaltyro"/>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121022" y="788723"/>
            <a:ext cx="1280765" cy="1775757"/>
          </a:xfrm>
          <a:prstGeom prst="rect">
            <a:avLst/>
          </a:prstGeom>
          <a:noFill/>
        </p:spPr>
      </p:pic>
      <p:pic>
        <p:nvPicPr>
          <p:cNvPr id="14" name="Picture 5" descr="Database symbol by eternaltyro"/>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832445" y="1628385"/>
            <a:ext cx="1280765" cy="1775757"/>
          </a:xfrm>
          <a:prstGeom prst="rect">
            <a:avLst/>
          </a:prstGeom>
          <a:noFill/>
        </p:spPr>
      </p:pic>
      <p:pic>
        <p:nvPicPr>
          <p:cNvPr id="15" name="Picture 5" descr="Database symbol by eternaltyro"/>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078578" y="2603060"/>
            <a:ext cx="1280765" cy="1775757"/>
          </a:xfrm>
          <a:prstGeom prst="rect">
            <a:avLst/>
          </a:prstGeom>
          <a:noFill/>
        </p:spPr>
      </p:pic>
      <p:pic>
        <p:nvPicPr>
          <p:cNvPr id="16" name="Picture 5" descr="Database symbol by eternaltyro"/>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98523" y="2826008"/>
            <a:ext cx="1280765" cy="1775757"/>
          </a:xfrm>
          <a:prstGeom prst="rect">
            <a:avLst/>
          </a:prstGeom>
          <a:noFill/>
        </p:spPr>
      </p:pic>
      <p:pic>
        <p:nvPicPr>
          <p:cNvPr id="17" name="Picture 5" descr="Database symbol by eternaltyro"/>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44656" y="1936532"/>
            <a:ext cx="1280765" cy="1775757"/>
          </a:xfrm>
          <a:prstGeom prst="rect">
            <a:avLst/>
          </a:prstGeom>
          <a:noFill/>
        </p:spPr>
      </p:pic>
      <p:pic>
        <p:nvPicPr>
          <p:cNvPr id="10" name="Picture 2"/>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98523" y="1408639"/>
            <a:ext cx="2063215" cy="2196111"/>
          </a:xfrm>
          <a:prstGeom prst="rect">
            <a:avLst/>
          </a:prstGeom>
        </p:spPr>
      </p:pic>
      <p:pic>
        <p:nvPicPr>
          <p:cNvPr id="53252" name="Picture 4" descr="File:Tangram 028 Nevit.svg"/>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2592919" y="3535804"/>
            <a:ext cx="2223779" cy="2965039"/>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WHOS at TRANSBOUNDARY SCALE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pic>
        <p:nvPicPr>
          <p:cNvPr id="5" name="Picture 2" descr="https://upload.wikimedia.org/wikipedia/commons/thumb/a/ae/Tangram_012_Nevit.svg/320px-Tangram_012_Nevit.svg.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16183" y="1470025"/>
            <a:ext cx="1524000" cy="3562350"/>
          </a:xfrm>
          <a:prstGeom prst="rect">
            <a:avLst/>
          </a:prstGeom>
          <a:noFill/>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76716" y="104787"/>
            <a:ext cx="7409842" cy="901699"/>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Federation of Basin Hydrological Data</a:t>
            </a:r>
          </a:p>
        </p:txBody>
      </p:sp>
      <p:pic>
        <p:nvPicPr>
          <p:cNvPr id="5"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572000" y="1582550"/>
            <a:ext cx="1656184" cy="1035115"/>
          </a:xfrm>
          <a:prstGeom prst="rect">
            <a:avLst/>
          </a:prstGeom>
          <a:noFill/>
          <a:ln w="9525">
            <a:noFill/>
            <a:miter lim="800000"/>
            <a:headEnd/>
            <a:tailEnd/>
          </a:ln>
          <a:scene3d>
            <a:camera prst="isometricRightUp"/>
            <a:lightRig rig="threePt" dir="t"/>
          </a:scene3d>
        </p:spPr>
      </p:pic>
      <p:grpSp>
        <p:nvGrpSpPr>
          <p:cNvPr id="2" name="Gruppo 82"/>
          <p:cNvGrpSpPr/>
          <p:nvPr/>
        </p:nvGrpSpPr>
        <p:grpSpPr>
          <a:xfrm>
            <a:off x="555626" y="862470"/>
            <a:ext cx="4952478" cy="5206437"/>
            <a:chOff x="555626" y="534524"/>
            <a:chExt cx="4952478" cy="5508625"/>
          </a:xfrm>
        </p:grpSpPr>
        <p:sp>
          <p:nvSpPr>
            <p:cNvPr id="7" name="Fumetto 1 6"/>
            <p:cNvSpPr/>
            <p:nvPr/>
          </p:nvSpPr>
          <p:spPr bwMode="auto">
            <a:xfrm>
              <a:off x="611560" y="3068960"/>
              <a:ext cx="4896544" cy="2974189"/>
            </a:xfrm>
            <a:prstGeom prst="wedgeRectCallout">
              <a:avLst>
                <a:gd name="adj1" fmla="val 47171"/>
                <a:gd name="adj2" fmla="val 31749"/>
              </a:avLst>
            </a:prstGeom>
            <a:solidFill>
              <a:schemeClr val="accent5">
                <a:lumMod val="90000"/>
              </a:schemeClr>
            </a:solidFill>
            <a:ln>
              <a:noFill/>
            </a:ln>
            <a:effectLst/>
            <a:scene3d>
              <a:camera prst="perspectiveHeroicExtremeRightFacing"/>
              <a:lightRig rig="threePt" dir="t"/>
            </a:scene3d>
            <a:extLst>
              <a:ext uri="{909E8E84-426E-40dd-AFC4-6F175D3DCCD1}"/>
              <a:ext uri="{91240B29-F687-4f45-9708-019B960494DF}"/>
              <a:ext uri="{AF507438-7753-43e0-B8FC-AC1667EBCBE1}"/>
            </a:extLst>
          </p:spPr>
          <p:txBody>
            <a:bodyPr anchor="ctr"/>
            <a:lstStyle/>
            <a:p>
              <a:pPr algn="ctr" fontAlgn="base">
                <a:spcBef>
                  <a:spcPct val="0"/>
                </a:spcBef>
                <a:spcAft>
                  <a:spcPct val="0"/>
                </a:spcAft>
                <a:defRPr/>
              </a:pPr>
              <a:endParaRPr lang="en-US" sz="2000" b="1" u="sng" dirty="0">
                <a:solidFill>
                  <a:srgbClr val="000000"/>
                </a:solidFill>
                <a:latin typeface="Tahoma" panose="020B0604030504040204" pitchFamily="34" charset="0"/>
                <a:ea typeface="MS PGothic" panose="020B0600070205080204" pitchFamily="34" charset="-128"/>
              </a:endParaRPr>
            </a:p>
          </p:txBody>
        </p:sp>
        <p:sp>
          <p:nvSpPr>
            <p:cNvPr id="8" name="Fumetto 1 7"/>
            <p:cNvSpPr/>
            <p:nvPr/>
          </p:nvSpPr>
          <p:spPr bwMode="auto">
            <a:xfrm>
              <a:off x="555626" y="534524"/>
              <a:ext cx="4495799" cy="2925228"/>
            </a:xfrm>
            <a:prstGeom prst="wedgeRectCallout">
              <a:avLst>
                <a:gd name="adj1" fmla="val 86264"/>
                <a:gd name="adj2" fmla="val 53730"/>
              </a:avLst>
            </a:prstGeom>
            <a:solidFill>
              <a:schemeClr val="accent5">
                <a:lumMod val="90000"/>
              </a:schemeClr>
            </a:solidFill>
            <a:ln>
              <a:noFill/>
            </a:ln>
            <a:effectLst/>
            <a:scene3d>
              <a:camera prst="perspectiveHeroicExtremeRightFacing"/>
              <a:lightRig rig="threePt" dir="t"/>
            </a:scene3d>
            <a:extLst>
              <a:ext uri="{909E8E84-426E-40dd-AFC4-6F175D3DCCD1}"/>
              <a:ext uri="{91240B29-F687-4f45-9708-019B960494DF}"/>
              <a:ext uri="{AF507438-7753-43e0-B8FC-AC1667EBCBE1}"/>
            </a:extLst>
          </p:spPr>
          <p:txBody>
            <a:bodyPr anchor="ctr"/>
            <a:lstStyle/>
            <a:p>
              <a:pPr algn="ctr" fontAlgn="base">
                <a:spcBef>
                  <a:spcPct val="0"/>
                </a:spcBef>
                <a:spcAft>
                  <a:spcPct val="0"/>
                </a:spcAft>
                <a:defRPr/>
              </a:pPr>
              <a:endParaRPr lang="en-US" sz="2000" b="1" u="sng">
                <a:solidFill>
                  <a:srgbClr val="000000"/>
                </a:solidFill>
                <a:latin typeface="Tahoma" panose="020B0604030504040204" pitchFamily="34" charset="0"/>
                <a:ea typeface="MS PGothic" panose="020B0600070205080204" pitchFamily="34" charset="-128"/>
              </a:endParaRPr>
            </a:p>
          </p:txBody>
        </p:sp>
      </p:grpSp>
      <p:sp>
        <p:nvSpPr>
          <p:cNvPr id="9" name="TextBox 89"/>
          <p:cNvSpPr txBox="1">
            <a:spLocks noChangeArrowheads="1"/>
          </p:cNvSpPr>
          <p:nvPr/>
        </p:nvSpPr>
        <p:spPr bwMode="auto">
          <a:xfrm rot="21179596">
            <a:off x="811939" y="5618699"/>
            <a:ext cx="4498347" cy="276999"/>
          </a:xfrm>
          <a:prstGeom prst="rect">
            <a:avLst/>
          </a:prstGeom>
          <a:noFill/>
          <a:ln>
            <a:noFill/>
          </a:ln>
          <a:scene3d>
            <a:camera prst="perspectiveHeroicExtremeRigh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a:spcBef>
                <a:spcPct val="0"/>
              </a:spcBef>
              <a:buNone/>
              <a:defRPr/>
            </a:pPr>
            <a:r>
              <a:rPr kumimoji="0" lang="fr-CH" altLang="ja-JP" sz="1200" b="1" dirty="0" err="1">
                <a:solidFill>
                  <a:srgbClr val="C00000"/>
                </a:solidFill>
              </a:rPr>
              <a:t>Brokered</a:t>
            </a:r>
            <a:r>
              <a:rPr kumimoji="0" lang="fr-CH" altLang="ja-JP" sz="1200" b="1" dirty="0">
                <a:solidFill>
                  <a:srgbClr val="C00000"/>
                </a:solidFill>
              </a:rPr>
              <a:t> Data Providers </a:t>
            </a:r>
            <a:r>
              <a:rPr kumimoji="0" lang="fr-CH" altLang="ja-JP" sz="1200" dirty="0">
                <a:solidFill>
                  <a:srgbClr val="C00000"/>
                </a:solidFill>
              </a:rPr>
              <a:t>(</a:t>
            </a:r>
            <a:r>
              <a:rPr kumimoji="0" lang="fr-CH" altLang="ja-JP" sz="1200" dirty="0" err="1">
                <a:solidFill>
                  <a:srgbClr val="C00000"/>
                </a:solidFill>
              </a:rPr>
              <a:t>capacities</a:t>
            </a:r>
            <a:r>
              <a:rPr kumimoji="0" lang="fr-CH" altLang="ja-JP" sz="1200" dirty="0">
                <a:solidFill>
                  <a:srgbClr val="C00000"/>
                </a:solidFill>
              </a:rPr>
              <a:t>, </a:t>
            </a:r>
            <a:r>
              <a:rPr kumimoji="0" lang="fr-CH" altLang="ja-JP" sz="1200" dirty="0" err="1">
                <a:solidFill>
                  <a:srgbClr val="C00000"/>
                </a:solidFill>
              </a:rPr>
              <a:t>systems</a:t>
            </a:r>
            <a:r>
              <a:rPr kumimoji="0" lang="fr-CH" altLang="ja-JP" sz="1200" dirty="0">
                <a:solidFill>
                  <a:srgbClr val="C00000"/>
                </a:solidFill>
              </a:rPr>
              <a:t>, networks, etc.)</a:t>
            </a:r>
            <a:endParaRPr kumimoji="0" lang="en-US" altLang="ja-JP" sz="1200" dirty="0">
              <a:solidFill>
                <a:srgbClr val="C00000"/>
              </a:solidFill>
            </a:endParaRPr>
          </a:p>
        </p:txBody>
      </p:sp>
      <p:sp>
        <p:nvSpPr>
          <p:cNvPr id="10" name="CasellaDiTesto 153"/>
          <p:cNvSpPr txBox="1">
            <a:spLocks noChangeArrowheads="1"/>
          </p:cNvSpPr>
          <p:nvPr/>
        </p:nvSpPr>
        <p:spPr bwMode="auto">
          <a:xfrm>
            <a:off x="2526344" y="5264973"/>
            <a:ext cx="511679" cy="523220"/>
          </a:xfrm>
          <a:prstGeom prst="rect">
            <a:avLst/>
          </a:prstGeom>
          <a:noFill/>
          <a:ln>
            <a:noFill/>
          </a:ln>
          <a:scene3d>
            <a:camera prst="perspectiveHeroicExtremeRigh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a:t>
            </a:r>
          </a:p>
        </p:txBody>
      </p:sp>
      <p:grpSp>
        <p:nvGrpSpPr>
          <p:cNvPr id="3" name="Gruppo 1"/>
          <p:cNvGrpSpPr/>
          <p:nvPr/>
        </p:nvGrpSpPr>
        <p:grpSpPr>
          <a:xfrm>
            <a:off x="4572000" y="4581883"/>
            <a:ext cx="3859213" cy="2053412"/>
            <a:chOff x="5175250" y="4556125"/>
            <a:chExt cx="3859213" cy="2053412"/>
          </a:xfrm>
          <a:scene3d>
            <a:camera prst="perspectiveHeroicExtremeLeftFacing"/>
            <a:lightRig rig="threePt" dir="t"/>
          </a:scene3d>
        </p:grpSpPr>
        <p:grpSp>
          <p:nvGrpSpPr>
            <p:cNvPr id="6" name="Gruppo 3"/>
            <p:cNvGrpSpPr/>
            <p:nvPr/>
          </p:nvGrpSpPr>
          <p:grpSpPr>
            <a:xfrm>
              <a:off x="5175250" y="4556125"/>
              <a:ext cx="3859213" cy="2053412"/>
              <a:chOff x="5175250" y="4556125"/>
              <a:chExt cx="3859213" cy="2053412"/>
            </a:xfrm>
          </p:grpSpPr>
          <p:sp>
            <p:nvSpPr>
              <p:cNvPr id="14" name="Fumetto 1 151"/>
              <p:cNvSpPr>
                <a:spLocks noChangeArrowheads="1"/>
              </p:cNvSpPr>
              <p:nvPr/>
            </p:nvSpPr>
            <p:spPr bwMode="auto">
              <a:xfrm>
                <a:off x="5175250" y="4556125"/>
                <a:ext cx="3859213" cy="2038350"/>
              </a:xfrm>
              <a:prstGeom prst="wedgeRectCallout">
                <a:avLst>
                  <a:gd name="adj1" fmla="val -19398"/>
                  <a:gd name="adj2" fmla="val -87269"/>
                </a:avLst>
              </a:prstGeom>
              <a:solidFill>
                <a:srgbClr val="FFC000">
                  <a:alpha val="2196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endParaRPr kumimoji="0" lang="en-US" sz="2000" b="1" u="sng">
                  <a:solidFill>
                    <a:srgbClr val="000000"/>
                  </a:solidFill>
                  <a:latin typeface="Tahoma" panose="020B0604030504040204" pitchFamily="34" charset="0"/>
                </a:endParaRPr>
              </a:p>
            </p:txBody>
          </p:sp>
          <p:sp>
            <p:nvSpPr>
              <p:cNvPr id="15" name="TextBox 89"/>
              <p:cNvSpPr txBox="1">
                <a:spLocks noChangeArrowheads="1"/>
              </p:cNvSpPr>
              <p:nvPr/>
            </p:nvSpPr>
            <p:spPr bwMode="auto">
              <a:xfrm>
                <a:off x="5532843" y="6332538"/>
                <a:ext cx="30043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fr-CH" altLang="ja-JP" sz="1200" b="1" dirty="0" err="1">
                    <a:solidFill>
                      <a:srgbClr val="002060"/>
                    </a:solidFill>
                  </a:rPr>
                  <a:t>Hydrologic</a:t>
                </a:r>
                <a:r>
                  <a:rPr kumimoji="0" lang="fr-CH" altLang="ja-JP" sz="1200" b="1" dirty="0">
                    <a:solidFill>
                      <a:srgbClr val="002060"/>
                    </a:solidFill>
                  </a:rPr>
                  <a:t> </a:t>
                </a:r>
                <a:r>
                  <a:rPr kumimoji="0" lang="fr-CH" altLang="ja-JP" sz="1200" b="1" dirty="0" err="1">
                    <a:solidFill>
                      <a:srgbClr val="002060"/>
                    </a:solidFill>
                  </a:rPr>
                  <a:t>tools</a:t>
                </a:r>
                <a:r>
                  <a:rPr kumimoji="0" lang="fr-CH" altLang="ja-JP" sz="1200" b="1" dirty="0">
                    <a:solidFill>
                      <a:srgbClr val="002060"/>
                    </a:solidFill>
                  </a:rPr>
                  <a:t> </a:t>
                </a:r>
                <a:r>
                  <a:rPr kumimoji="0" lang="fr-CH" altLang="ja-JP" sz="1200" dirty="0">
                    <a:solidFill>
                      <a:srgbClr val="002060"/>
                    </a:solidFill>
                  </a:rPr>
                  <a:t>(</a:t>
                </a:r>
                <a:r>
                  <a:rPr kumimoji="0" lang="fr-CH" altLang="ja-JP" sz="1200" dirty="0" err="1">
                    <a:solidFill>
                      <a:srgbClr val="002060"/>
                    </a:solidFill>
                  </a:rPr>
                  <a:t>tested</a:t>
                </a:r>
                <a:r>
                  <a:rPr kumimoji="0" lang="fr-CH" altLang="ja-JP" sz="1200" dirty="0">
                    <a:solidFill>
                      <a:srgbClr val="002060"/>
                    </a:solidFill>
                  </a:rPr>
                  <a:t> </a:t>
                </a:r>
                <a:r>
                  <a:rPr kumimoji="0" lang="fr-CH" altLang="ja-JP" sz="1200" dirty="0" err="1">
                    <a:solidFill>
                      <a:srgbClr val="002060"/>
                    </a:solidFill>
                  </a:rPr>
                  <a:t>interoperability</a:t>
                </a:r>
                <a:r>
                  <a:rPr kumimoji="0" lang="fr-CH" altLang="ja-JP" sz="1200" dirty="0">
                    <a:solidFill>
                      <a:srgbClr val="002060"/>
                    </a:solidFill>
                  </a:rPr>
                  <a:t>)</a:t>
                </a:r>
                <a:endParaRPr kumimoji="0" lang="en-US" altLang="ja-JP" sz="1200" dirty="0">
                  <a:solidFill>
                    <a:srgbClr val="002060"/>
                  </a:solidFill>
                </a:endParaRPr>
              </a:p>
            </p:txBody>
          </p:sp>
          <p:pic>
            <p:nvPicPr>
              <p:cNvPr id="16" name="Immagine 15"/>
              <p:cNvPicPr>
                <a:picLocks noChangeAspect="1"/>
              </p:cNvPicPr>
              <p:nvPr/>
            </p:nvPicPr>
            <p:blipFill>
              <a:blip r:embed="rId3"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bwMode="auto">
              <a:xfrm flipH="1">
                <a:off x="5380186" y="5491661"/>
                <a:ext cx="1098550" cy="678170"/>
              </a:xfrm>
              <a:prstGeom prst="rect">
                <a:avLst/>
              </a:prstGeom>
            </p:spPr>
          </p:pic>
          <p:grpSp>
            <p:nvGrpSpPr>
              <p:cNvPr id="11" name="Gruppo 61"/>
              <p:cNvGrpSpPr>
                <a:grpSpLocks/>
              </p:cNvGrpSpPr>
              <p:nvPr/>
            </p:nvGrpSpPr>
            <p:grpSpPr bwMode="auto">
              <a:xfrm>
                <a:off x="5286375" y="4664075"/>
                <a:ext cx="1266825" cy="704850"/>
                <a:chOff x="5286174" y="4663844"/>
                <a:chExt cx="1267026" cy="704659"/>
              </a:xfrm>
            </p:grpSpPr>
            <p:pic>
              <p:nvPicPr>
                <p:cNvPr id="23" name="Picture 103"/>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569794" y="4876800"/>
                  <a:ext cx="983406" cy="491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magine 23"/>
                <p:cNvPicPr>
                  <a:picLocks noChangeAspect="1"/>
                </p:cNvPicPr>
                <p:nvPr/>
              </p:nvPicPr>
              <p:blipFill>
                <a:blip r:embed="rId5" cstate="email">
                  <a:duotone>
                    <a:prstClr val="black"/>
                    <a:srgbClr val="FF0000">
                      <a:tint val="45000"/>
                      <a:satMod val="400000"/>
                    </a:srgbClr>
                  </a:duotone>
                  <a:extLst>
                    <a:ext uri="{28A0092B-C50C-407E-A947-70E740481C1C}">
                      <a14:useLocalDpi xmlns:a14="http://schemas.microsoft.com/office/drawing/2010/main"/>
                    </a:ext>
                  </a:extLst>
                </a:blip>
                <a:stretch>
                  <a:fillRect/>
                </a:stretch>
              </p:blipFill>
              <p:spPr>
                <a:xfrm flipH="1">
                  <a:off x="5286174" y="4663844"/>
                  <a:ext cx="1091767" cy="655979"/>
                </a:xfrm>
                <a:prstGeom prst="rect">
                  <a:avLst/>
                </a:prstGeom>
              </p:spPr>
            </p:pic>
          </p:grpSp>
          <p:pic>
            <p:nvPicPr>
              <p:cNvPr id="18" name="Immagine 17"/>
              <p:cNvPicPr>
                <a:picLocks noChangeAspect="1"/>
              </p:cNvPicPr>
              <p:nvPr/>
            </p:nvPicPr>
            <p:blipFill>
              <a:blip r:embed="rId3"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bwMode="auto">
              <a:xfrm flipH="1">
                <a:off x="7792649" y="5473111"/>
                <a:ext cx="1098550" cy="678170"/>
              </a:xfrm>
              <a:prstGeom prst="rect">
                <a:avLst/>
              </a:prstGeom>
            </p:spPr>
          </p:pic>
          <p:grpSp>
            <p:nvGrpSpPr>
              <p:cNvPr id="12" name="Gruppo 37"/>
              <p:cNvGrpSpPr/>
              <p:nvPr/>
            </p:nvGrpSpPr>
            <p:grpSpPr>
              <a:xfrm>
                <a:off x="6418097" y="4630101"/>
                <a:ext cx="1092200" cy="661671"/>
                <a:chOff x="7815263" y="4671288"/>
                <a:chExt cx="1092200" cy="661671"/>
              </a:xfrm>
            </p:grpSpPr>
            <p:pic>
              <p:nvPicPr>
                <p:cNvPr id="21" name="Immagine 190"/>
                <p:cNvPicPr>
                  <a:picLocks noChangeAspect="1"/>
                </p:cNvPicPr>
                <p:nvPr/>
              </p:nvPicPr>
              <p:blipFill>
                <a:blip r:embed="rId6" cstate="email">
                  <a:grayscl/>
                  <a:biLevel thresh="50000"/>
                  <a:extLst>
                    <a:ext uri="{28A0092B-C50C-407E-A947-70E740481C1C}">
                      <a14:useLocalDpi xmlns:a14="http://schemas.microsoft.com/office/drawing/2010/main"/>
                    </a:ext>
                  </a:extLst>
                </a:blip>
                <a:srcRect/>
                <a:stretch>
                  <a:fillRect/>
                </a:stretch>
              </p:blipFill>
              <p:spPr bwMode="auto">
                <a:xfrm>
                  <a:off x="7815263" y="4671288"/>
                  <a:ext cx="10922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Immagine 21"/>
                <p:cNvPicPr>
                  <a:picLocks noChangeAspect="1"/>
                </p:cNvPicPr>
                <p:nvPr/>
              </p:nvPicPr>
              <p:blipFill>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176161" y="4969164"/>
                  <a:ext cx="687903" cy="363795"/>
                </a:xfrm>
                <a:prstGeom prst="rect">
                  <a:avLst/>
                </a:prstGeom>
              </p:spPr>
            </p:pic>
          </p:grpSp>
          <p:sp>
            <p:nvSpPr>
              <p:cNvPr id="20" name="CasellaDiTesto 153"/>
              <p:cNvSpPr txBox="1">
                <a:spLocks noChangeArrowheads="1"/>
              </p:cNvSpPr>
              <p:nvPr/>
            </p:nvSpPr>
            <p:spPr bwMode="auto">
              <a:xfrm>
                <a:off x="8215883" y="5596832"/>
                <a:ext cx="623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 .</a:t>
                </a:r>
              </a:p>
            </p:txBody>
          </p:sp>
        </p:grpSp>
        <p:pic>
          <p:nvPicPr>
            <p:cNvPr id="13" name="Immagine 12"/>
            <p:cNvPicPr>
              <a:picLocks noChangeAspect="1"/>
            </p:cNvPicPr>
            <p:nvPr/>
          </p:nvPicPr>
          <p:blipFill>
            <a:blip r:embed="rId5" cstate="email">
              <a:duotone>
                <a:prstClr val="black"/>
                <a:srgbClr val="FF66FF">
                  <a:tint val="45000"/>
                  <a:satMod val="400000"/>
                </a:srgbClr>
              </a:duotone>
              <a:extLst>
                <a:ext uri="{28A0092B-C50C-407E-A947-70E740481C1C}">
                  <a14:useLocalDpi xmlns:a14="http://schemas.microsoft.com/office/drawing/2010/main"/>
                </a:ext>
              </a:extLst>
            </a:blip>
            <a:stretch>
              <a:fillRect/>
            </a:stretch>
          </p:blipFill>
          <p:spPr bwMode="auto">
            <a:xfrm flipH="1">
              <a:off x="6422072" y="5584513"/>
              <a:ext cx="1092200" cy="655673"/>
            </a:xfrm>
            <a:prstGeom prst="rect">
              <a:avLst/>
            </a:prstGeom>
          </p:spPr>
        </p:pic>
      </p:grpSp>
      <p:pic>
        <p:nvPicPr>
          <p:cNvPr id="25" name="Picture 68" descr="GEOSS_Portal_Website_link2"/>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804248" y="1078494"/>
            <a:ext cx="1682310" cy="180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69"/>
          <p:cNvSpPr>
            <a:spLocks noChangeShapeType="1"/>
          </p:cNvSpPr>
          <p:nvPr/>
        </p:nvSpPr>
        <p:spPr bwMode="auto">
          <a:xfrm flipH="1">
            <a:off x="6831541" y="1147859"/>
            <a:ext cx="962592" cy="3841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27" name="Line 70"/>
          <p:cNvSpPr>
            <a:spLocks noChangeShapeType="1"/>
          </p:cNvSpPr>
          <p:nvPr/>
        </p:nvSpPr>
        <p:spPr bwMode="auto">
          <a:xfrm flipH="1">
            <a:off x="7867613" y="1290856"/>
            <a:ext cx="74530" cy="15815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28" name="Line 71"/>
          <p:cNvSpPr>
            <a:spLocks noChangeShapeType="1"/>
          </p:cNvSpPr>
          <p:nvPr/>
        </p:nvSpPr>
        <p:spPr bwMode="auto">
          <a:xfrm flipH="1">
            <a:off x="7370046" y="1230029"/>
            <a:ext cx="429335" cy="5229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29" name="Freeform 72"/>
          <p:cNvSpPr>
            <a:spLocks/>
          </p:cNvSpPr>
          <p:nvPr/>
        </p:nvSpPr>
        <p:spPr bwMode="auto">
          <a:xfrm>
            <a:off x="7573691" y="1239633"/>
            <a:ext cx="354805" cy="402315"/>
          </a:xfrm>
          <a:custGeom>
            <a:avLst/>
            <a:gdLst>
              <a:gd name="T0" fmla="*/ 0 w 276"/>
              <a:gd name="T1" fmla="*/ 0 h 315"/>
              <a:gd name="T2" fmla="*/ 0 w 276"/>
              <a:gd name="T3" fmla="*/ 2147483646 h 315"/>
              <a:gd name="T4" fmla="*/ 2147483646 w 276"/>
              <a:gd name="T5" fmla="*/ 2147483646 h 315"/>
              <a:gd name="T6" fmla="*/ 2147483646 w 276"/>
              <a:gd name="T7" fmla="*/ 2147483646 h 315"/>
              <a:gd name="T8" fmla="*/ 0 w 276"/>
              <a:gd name="T9" fmla="*/ 0 h 315"/>
              <a:gd name="T10" fmla="*/ 0 60000 65536"/>
              <a:gd name="T11" fmla="*/ 0 60000 65536"/>
              <a:gd name="T12" fmla="*/ 0 60000 65536"/>
              <a:gd name="T13" fmla="*/ 0 60000 65536"/>
              <a:gd name="T14" fmla="*/ 0 60000 65536"/>
              <a:gd name="T15" fmla="*/ 0 w 276"/>
              <a:gd name="T16" fmla="*/ 0 h 315"/>
              <a:gd name="T17" fmla="*/ 276 w 276"/>
              <a:gd name="T18" fmla="*/ 315 h 315"/>
            </a:gdLst>
            <a:ahLst/>
            <a:cxnLst>
              <a:cxn ang="T10">
                <a:pos x="T0" y="T1"/>
              </a:cxn>
              <a:cxn ang="T11">
                <a:pos x="T2" y="T3"/>
              </a:cxn>
              <a:cxn ang="T12">
                <a:pos x="T4" y="T5"/>
              </a:cxn>
              <a:cxn ang="T13">
                <a:pos x="T6" y="T7"/>
              </a:cxn>
              <a:cxn ang="T14">
                <a:pos x="T8" y="T9"/>
              </a:cxn>
            </a:cxnLst>
            <a:rect l="T15" t="T16" r="T17" b="T18"/>
            <a:pathLst>
              <a:path w="276" h="315">
                <a:moveTo>
                  <a:pt x="0" y="0"/>
                </a:moveTo>
                <a:lnTo>
                  <a:pt x="0" y="204"/>
                </a:lnTo>
                <a:lnTo>
                  <a:pt x="276" y="315"/>
                </a:lnTo>
                <a:lnTo>
                  <a:pt x="274" y="103"/>
                </a:lnTo>
                <a:lnTo>
                  <a:pt x="0" y="0"/>
                </a:lnTo>
                <a:close/>
              </a:path>
            </a:pathLst>
          </a:custGeom>
          <a:solidFill>
            <a:schemeClr val="accent1">
              <a:alpha val="36862"/>
            </a:schemeClr>
          </a:solidFill>
          <a:ln w="9525">
            <a:solidFill>
              <a:schemeClr val="tx1"/>
            </a:solidFill>
            <a:round/>
            <a:headEnd/>
            <a:tailEnd/>
          </a:ln>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30" name="Line 73"/>
          <p:cNvSpPr>
            <a:spLocks noChangeShapeType="1"/>
          </p:cNvSpPr>
          <p:nvPr/>
        </p:nvSpPr>
        <p:spPr bwMode="auto">
          <a:xfrm flipH="1">
            <a:off x="7853966" y="1214022"/>
            <a:ext cx="88176" cy="7299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31" name="Text Box 72"/>
          <p:cNvSpPr txBox="1">
            <a:spLocks noChangeArrowheads="1"/>
          </p:cNvSpPr>
          <p:nvPr/>
        </p:nvSpPr>
        <p:spPr bwMode="auto">
          <a:xfrm>
            <a:off x="8028384" y="760845"/>
            <a:ext cx="1043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a:solidFill>
                  <a:srgbClr val="C00000"/>
                </a:solidFill>
              </a:rPr>
              <a:t>CIC</a:t>
            </a:r>
            <a:r>
              <a:rPr kumimoji="0" lang="fr-CH" altLang="ja-JP" sz="1200" dirty="0">
                <a:solidFill>
                  <a:srgbClr val="000000"/>
                </a:solidFill>
              </a:rPr>
              <a:t> </a:t>
            </a:r>
          </a:p>
          <a:p>
            <a:pPr fontAlgn="base">
              <a:spcBef>
                <a:spcPct val="0"/>
              </a:spcBef>
              <a:spcAft>
                <a:spcPct val="0"/>
              </a:spcAft>
              <a:buFontTx/>
              <a:buNone/>
            </a:pPr>
            <a:r>
              <a:rPr kumimoji="0" lang="fr-CH" altLang="ja-JP" sz="1200" i="1" dirty="0">
                <a:solidFill>
                  <a:srgbClr val="C00000"/>
                </a:solidFill>
              </a:rPr>
              <a:t>Home Page</a:t>
            </a:r>
            <a:endParaRPr kumimoji="0" lang="en-US" altLang="ja-JP" sz="1800" dirty="0">
              <a:solidFill>
                <a:srgbClr val="000000"/>
              </a:solidFill>
            </a:endParaRPr>
          </a:p>
        </p:txBody>
      </p:sp>
      <p:sp>
        <p:nvSpPr>
          <p:cNvPr id="32" name="Text Box 72"/>
          <p:cNvSpPr txBox="1">
            <a:spLocks noChangeArrowheads="1"/>
          </p:cNvSpPr>
          <p:nvPr/>
        </p:nvSpPr>
        <p:spPr bwMode="auto">
          <a:xfrm>
            <a:off x="7956376" y="2230622"/>
            <a:ext cx="11876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a:solidFill>
                  <a:srgbClr val="C00000"/>
                </a:solidFill>
              </a:rPr>
              <a:t>PLATA HIS</a:t>
            </a:r>
            <a:r>
              <a:rPr kumimoji="0" lang="fr-CH" altLang="ja-JP" sz="1200" dirty="0">
                <a:solidFill>
                  <a:srgbClr val="000000"/>
                </a:solidFill>
              </a:rPr>
              <a:t>             </a:t>
            </a:r>
            <a:r>
              <a:rPr kumimoji="0" lang="fr-CH" altLang="ja-JP" sz="1200" i="1" dirty="0">
                <a:solidFill>
                  <a:srgbClr val="C00000"/>
                </a:solidFill>
              </a:rPr>
              <a:t>Portal</a:t>
            </a:r>
            <a:endParaRPr kumimoji="0" lang="en-US" altLang="ja-JP" sz="1800" dirty="0">
              <a:solidFill>
                <a:srgbClr val="000000"/>
              </a:solidFill>
            </a:endParaRPr>
          </a:p>
        </p:txBody>
      </p:sp>
      <p:pic>
        <p:nvPicPr>
          <p:cNvPr id="33" name="Immagine 3"/>
          <p:cNvPicPr>
            <a:picLocks noChangeAspect="1"/>
          </p:cNvPicPr>
          <p:nvPr/>
        </p:nvPicPr>
        <p:blipFill>
          <a:blip r:embed="rId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155482" y="749634"/>
            <a:ext cx="64135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Immagine 25"/>
          <p:cNvPicPr>
            <a:picLocks noChangeAspect="1"/>
          </p:cNvPicPr>
          <p:nvPr/>
        </p:nvPicPr>
        <p:blipFill>
          <a:blip r:embed="rId10" cstate="email">
            <a:clrChange>
              <a:clrFrom>
                <a:srgbClr val="F5F6E8"/>
              </a:clrFrom>
              <a:clrTo>
                <a:srgbClr val="F5F6E8">
                  <a:alpha val="0"/>
                </a:srgbClr>
              </a:clrTo>
            </a:clrChange>
            <a:extLst>
              <a:ext uri="{28A0092B-C50C-407E-A947-70E740481C1C}">
                <a14:useLocalDpi xmlns:a14="http://schemas.microsoft.com/office/drawing/2010/main"/>
              </a:ext>
            </a:extLst>
          </a:blip>
          <a:srcRect/>
          <a:stretch>
            <a:fillRect/>
          </a:stretch>
        </p:blipFill>
        <p:spPr bwMode="auto">
          <a:xfrm rot="706773">
            <a:off x="5943138" y="1438843"/>
            <a:ext cx="925513" cy="362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Immagine 9"/>
          <p:cNvPicPr>
            <a:picLocks noChangeAspect="1"/>
          </p:cNvPicPr>
          <p:nvPr/>
        </p:nvPicPr>
        <p:blipFill>
          <a:blip r:embed="rId11"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457107" y="646446"/>
            <a:ext cx="162083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ccia in giù 2"/>
          <p:cNvSpPr>
            <a:spLocks noChangeArrowheads="1"/>
          </p:cNvSpPr>
          <p:nvPr/>
        </p:nvSpPr>
        <p:spPr bwMode="auto">
          <a:xfrm rot="1877827">
            <a:off x="6615113" y="2521308"/>
            <a:ext cx="509587" cy="712788"/>
          </a:xfrm>
          <a:prstGeom prst="downArrow">
            <a:avLst>
              <a:gd name="adj1" fmla="val 50000"/>
              <a:gd name="adj2" fmla="val 49960"/>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pPr>
            <a:endParaRPr kumimoji="0" lang="en-US" altLang="en-US" sz="2000" b="1" u="sng">
              <a:solidFill>
                <a:srgbClr val="000000"/>
              </a:solidFill>
              <a:latin typeface="Tahoma" panose="020B0604030504040204" pitchFamily="34" charset="0"/>
            </a:endParaRPr>
          </a:p>
        </p:txBody>
      </p:sp>
      <p:pic>
        <p:nvPicPr>
          <p:cNvPr id="37" name="Immagine 36"/>
          <p:cNvPicPr>
            <a:picLocks noChangeAspect="1"/>
          </p:cNvPicPr>
          <p:nvPr/>
        </p:nvPicPr>
        <p:blipFill>
          <a:blip r:embed="rId12" cstate="print">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4860032" y="2518654"/>
            <a:ext cx="2448272" cy="2338920"/>
          </a:xfrm>
          <a:prstGeom prst="rect">
            <a:avLst/>
          </a:prstGeom>
          <a:scene3d>
            <a:camera prst="perspectiveHeroicExtremeLeftFacing"/>
            <a:lightRig rig="threePt" dir="t"/>
          </a:scene3d>
        </p:spPr>
      </p:pic>
      <p:pic>
        <p:nvPicPr>
          <p:cNvPr id="38" name="Immagine 37"/>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7515355" y="3953132"/>
            <a:ext cx="742210" cy="522605"/>
          </a:xfrm>
          <a:prstGeom prst="rect">
            <a:avLst/>
          </a:prstGeom>
        </p:spPr>
      </p:pic>
      <p:sp>
        <p:nvSpPr>
          <p:cNvPr id="39" name="Text Box 72"/>
          <p:cNvSpPr txBox="1">
            <a:spLocks noChangeArrowheads="1"/>
          </p:cNvSpPr>
          <p:nvPr/>
        </p:nvSpPr>
        <p:spPr bwMode="auto">
          <a:xfrm>
            <a:off x="8257565" y="4002858"/>
            <a:ext cx="9004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err="1">
                <a:solidFill>
                  <a:srgbClr val="C00000"/>
                </a:solidFill>
              </a:rPr>
              <a:t>Semantic</a:t>
            </a:r>
            <a:r>
              <a:rPr kumimoji="0" lang="fr-CH" altLang="ja-JP" sz="1200" i="1" dirty="0">
                <a:solidFill>
                  <a:srgbClr val="C00000"/>
                </a:solidFill>
              </a:rPr>
              <a:t> </a:t>
            </a:r>
            <a:r>
              <a:rPr kumimoji="0" lang="fr-CH" altLang="ja-JP" sz="1200" i="1" dirty="0" err="1">
                <a:solidFill>
                  <a:srgbClr val="C00000"/>
                </a:solidFill>
              </a:rPr>
              <a:t>engines</a:t>
            </a:r>
            <a:endParaRPr kumimoji="0" lang="fr-CH" altLang="ja-JP" sz="1200" i="1" dirty="0">
              <a:solidFill>
                <a:srgbClr val="C00000"/>
              </a:solidFill>
            </a:endParaRPr>
          </a:p>
        </p:txBody>
      </p:sp>
      <p:cxnSp>
        <p:nvCxnSpPr>
          <p:cNvPr id="40" name="Connettore 1 39"/>
          <p:cNvCxnSpPr>
            <a:stCxn id="38" idx="1"/>
          </p:cNvCxnSpPr>
          <p:nvPr/>
        </p:nvCxnSpPr>
        <p:spPr>
          <a:xfrm flipH="1" flipV="1">
            <a:off x="7189399" y="4129310"/>
            <a:ext cx="325956" cy="85125"/>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1" name="Immagine 40"/>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7593882" y="3448896"/>
            <a:ext cx="475184" cy="419514"/>
          </a:xfrm>
          <a:prstGeom prst="rect">
            <a:avLst/>
          </a:prstGeom>
        </p:spPr>
      </p:pic>
      <p:cxnSp>
        <p:nvCxnSpPr>
          <p:cNvPr id="42" name="Connettore 1 41"/>
          <p:cNvCxnSpPr>
            <a:stCxn id="41" idx="1"/>
          </p:cNvCxnSpPr>
          <p:nvPr/>
        </p:nvCxnSpPr>
        <p:spPr>
          <a:xfrm flipH="1">
            <a:off x="7188921" y="3658653"/>
            <a:ext cx="404961" cy="17389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Text Box 72"/>
          <p:cNvSpPr txBox="1">
            <a:spLocks noChangeArrowheads="1"/>
          </p:cNvSpPr>
          <p:nvPr/>
        </p:nvSpPr>
        <p:spPr bwMode="auto">
          <a:xfrm>
            <a:off x="8138649" y="3384031"/>
            <a:ext cx="9004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err="1">
                <a:solidFill>
                  <a:srgbClr val="C00000"/>
                </a:solidFill>
              </a:rPr>
              <a:t>Systems</a:t>
            </a:r>
            <a:endParaRPr kumimoji="0" lang="fr-CH" altLang="ja-JP" sz="1200" i="1" dirty="0">
              <a:solidFill>
                <a:srgbClr val="C00000"/>
              </a:solidFill>
            </a:endParaRPr>
          </a:p>
          <a:p>
            <a:pPr fontAlgn="base">
              <a:spcBef>
                <a:spcPct val="0"/>
              </a:spcBef>
              <a:spcAft>
                <a:spcPct val="0"/>
              </a:spcAft>
              <a:buFontTx/>
              <a:buNone/>
            </a:pPr>
            <a:r>
              <a:rPr kumimoji="0" lang="fr-CH" altLang="ja-JP" sz="1200" i="1" dirty="0" err="1">
                <a:solidFill>
                  <a:srgbClr val="C00000"/>
                </a:solidFill>
              </a:rPr>
              <a:t>Registry</a:t>
            </a:r>
            <a:endParaRPr kumimoji="0" lang="fr-CH" altLang="ja-JP" sz="1200" i="1" dirty="0">
              <a:solidFill>
                <a:srgbClr val="C00000"/>
              </a:solidFill>
            </a:endParaRPr>
          </a:p>
        </p:txBody>
      </p:sp>
      <p:grpSp>
        <p:nvGrpSpPr>
          <p:cNvPr id="17" name="Gruppo 84"/>
          <p:cNvGrpSpPr/>
          <p:nvPr/>
        </p:nvGrpSpPr>
        <p:grpSpPr>
          <a:xfrm>
            <a:off x="251520" y="862470"/>
            <a:ext cx="2088232" cy="1506688"/>
            <a:chOff x="323528" y="1124744"/>
            <a:chExt cx="2088232" cy="1506688"/>
          </a:xfrm>
        </p:grpSpPr>
        <p:pic>
          <p:nvPicPr>
            <p:cNvPr id="45" name="Immagine 44"/>
            <p:cNvPicPr>
              <a:picLocks noChangeAspect="1"/>
            </p:cNvPicPr>
            <p:nvPr/>
          </p:nvPicPr>
          <p:blipFill>
            <a:blip r:embed="rId15" cstate="print"/>
            <a:stretch>
              <a:fillRect/>
            </a:stretch>
          </p:blipFill>
          <p:spPr>
            <a:xfrm>
              <a:off x="323528" y="1124744"/>
              <a:ext cx="2088232" cy="1506688"/>
            </a:xfrm>
            <a:prstGeom prst="rect">
              <a:avLst/>
            </a:prstGeom>
            <a:scene3d>
              <a:camera prst="perspectiveHeroicExtremeRightFacing"/>
              <a:lightRig rig="threePt" dir="t"/>
            </a:scene3d>
          </p:spPr>
        </p:pic>
        <p:sp>
          <p:nvSpPr>
            <p:cNvPr id="46" name="CasellaDiTesto 45"/>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Argentina</a:t>
              </a:r>
            </a:p>
          </p:txBody>
        </p:sp>
      </p:grpSp>
      <p:grpSp>
        <p:nvGrpSpPr>
          <p:cNvPr id="19" name="Gruppo 85"/>
          <p:cNvGrpSpPr/>
          <p:nvPr/>
        </p:nvGrpSpPr>
        <p:grpSpPr>
          <a:xfrm>
            <a:off x="2483768" y="1006486"/>
            <a:ext cx="2088232" cy="1506688"/>
            <a:chOff x="323528" y="1124744"/>
            <a:chExt cx="2088232" cy="1506688"/>
          </a:xfrm>
        </p:grpSpPr>
        <p:pic>
          <p:nvPicPr>
            <p:cNvPr id="48" name="Immagine 47"/>
            <p:cNvPicPr>
              <a:picLocks noChangeAspect="1"/>
            </p:cNvPicPr>
            <p:nvPr/>
          </p:nvPicPr>
          <p:blipFill>
            <a:blip r:embed="rId15" cstate="print"/>
            <a:stretch>
              <a:fillRect/>
            </a:stretch>
          </p:blipFill>
          <p:spPr>
            <a:xfrm>
              <a:off x="323528" y="1124744"/>
              <a:ext cx="2088232" cy="1506688"/>
            </a:xfrm>
            <a:prstGeom prst="rect">
              <a:avLst/>
            </a:prstGeom>
            <a:scene3d>
              <a:camera prst="perspectiveHeroicExtremeRightFacing"/>
              <a:lightRig rig="threePt" dir="t"/>
            </a:scene3d>
          </p:spPr>
        </p:pic>
        <p:sp>
          <p:nvSpPr>
            <p:cNvPr id="49" name="CasellaDiTesto 48"/>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Bolivia</a:t>
              </a:r>
            </a:p>
          </p:txBody>
        </p:sp>
      </p:grpSp>
      <p:grpSp>
        <p:nvGrpSpPr>
          <p:cNvPr id="44" name="Gruppo 89"/>
          <p:cNvGrpSpPr/>
          <p:nvPr/>
        </p:nvGrpSpPr>
        <p:grpSpPr>
          <a:xfrm>
            <a:off x="395536" y="2590662"/>
            <a:ext cx="2088232" cy="1506688"/>
            <a:chOff x="323528" y="1124744"/>
            <a:chExt cx="2088232" cy="1506688"/>
          </a:xfrm>
        </p:grpSpPr>
        <p:pic>
          <p:nvPicPr>
            <p:cNvPr id="51" name="Immagine 50"/>
            <p:cNvPicPr>
              <a:picLocks noChangeAspect="1"/>
            </p:cNvPicPr>
            <p:nvPr/>
          </p:nvPicPr>
          <p:blipFill>
            <a:blip r:embed="rId15" cstate="print"/>
            <a:stretch>
              <a:fillRect/>
            </a:stretch>
          </p:blipFill>
          <p:spPr>
            <a:xfrm>
              <a:off x="323528" y="1124744"/>
              <a:ext cx="2088232" cy="1506688"/>
            </a:xfrm>
            <a:prstGeom prst="rect">
              <a:avLst/>
            </a:prstGeom>
            <a:scene3d>
              <a:camera prst="perspectiveHeroicExtremeRightFacing"/>
              <a:lightRig rig="threePt" dir="t"/>
            </a:scene3d>
          </p:spPr>
        </p:pic>
        <p:sp>
          <p:nvSpPr>
            <p:cNvPr id="52" name="CasellaDiTesto 51"/>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err="1">
                  <a:ea typeface="+mn-ea"/>
                  <a:cs typeface="+mn-cs"/>
                </a:rPr>
                <a:t>Brasil</a:t>
              </a:r>
              <a:endParaRPr lang="it-IT" sz="1400" b="1" dirty="0">
                <a:ea typeface="+mn-ea"/>
                <a:cs typeface="+mn-cs"/>
              </a:endParaRPr>
            </a:p>
          </p:txBody>
        </p:sp>
      </p:grpSp>
      <p:grpSp>
        <p:nvGrpSpPr>
          <p:cNvPr id="47" name="Gruppo 93"/>
          <p:cNvGrpSpPr/>
          <p:nvPr/>
        </p:nvGrpSpPr>
        <p:grpSpPr>
          <a:xfrm>
            <a:off x="2483768" y="2590662"/>
            <a:ext cx="2088232" cy="1506688"/>
            <a:chOff x="323528" y="1124744"/>
            <a:chExt cx="2088232" cy="1506688"/>
          </a:xfrm>
        </p:grpSpPr>
        <p:pic>
          <p:nvPicPr>
            <p:cNvPr id="54" name="Immagine 53"/>
            <p:cNvPicPr>
              <a:picLocks noChangeAspect="1"/>
            </p:cNvPicPr>
            <p:nvPr/>
          </p:nvPicPr>
          <p:blipFill>
            <a:blip r:embed="rId15" cstate="print"/>
            <a:stretch>
              <a:fillRect/>
            </a:stretch>
          </p:blipFill>
          <p:spPr>
            <a:xfrm>
              <a:off x="323528" y="1124744"/>
              <a:ext cx="2088232" cy="1506688"/>
            </a:xfrm>
            <a:prstGeom prst="rect">
              <a:avLst/>
            </a:prstGeom>
            <a:scene3d>
              <a:camera prst="perspectiveHeroicExtremeRightFacing"/>
              <a:lightRig rig="threePt" dir="t"/>
            </a:scene3d>
          </p:spPr>
        </p:pic>
        <p:sp>
          <p:nvSpPr>
            <p:cNvPr id="55" name="CasellaDiTesto 54"/>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Paraguay</a:t>
              </a:r>
            </a:p>
          </p:txBody>
        </p:sp>
      </p:grpSp>
      <p:grpSp>
        <p:nvGrpSpPr>
          <p:cNvPr id="50" name="Gruppo 96"/>
          <p:cNvGrpSpPr/>
          <p:nvPr/>
        </p:nvGrpSpPr>
        <p:grpSpPr>
          <a:xfrm>
            <a:off x="1475656" y="3886806"/>
            <a:ext cx="2088232" cy="1506688"/>
            <a:chOff x="323528" y="1124744"/>
            <a:chExt cx="2088232" cy="1506688"/>
          </a:xfrm>
        </p:grpSpPr>
        <p:pic>
          <p:nvPicPr>
            <p:cNvPr id="57" name="Immagine 56"/>
            <p:cNvPicPr>
              <a:picLocks noChangeAspect="1"/>
            </p:cNvPicPr>
            <p:nvPr/>
          </p:nvPicPr>
          <p:blipFill>
            <a:blip r:embed="rId15" cstate="print"/>
            <a:stretch>
              <a:fillRect/>
            </a:stretch>
          </p:blipFill>
          <p:spPr>
            <a:xfrm>
              <a:off x="323528" y="1124744"/>
              <a:ext cx="2088232" cy="1506688"/>
            </a:xfrm>
            <a:prstGeom prst="rect">
              <a:avLst/>
            </a:prstGeom>
            <a:scene3d>
              <a:camera prst="perspectiveHeroicExtremeRightFacing"/>
              <a:lightRig rig="threePt" dir="t"/>
            </a:scene3d>
          </p:spPr>
        </p:pic>
        <p:sp>
          <p:nvSpPr>
            <p:cNvPr id="58" name="CasellaDiTesto 57"/>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Uruguay</a:t>
              </a:r>
            </a:p>
          </p:txBody>
        </p:sp>
      </p:grpSp>
      <p:sp>
        <p:nvSpPr>
          <p:cNvPr id="59" name="CasellaDiTesto 4"/>
          <p:cNvSpPr txBox="1"/>
          <p:nvPr/>
        </p:nvSpPr>
        <p:spPr>
          <a:xfrm>
            <a:off x="323528" y="2446646"/>
            <a:ext cx="5017720" cy="1785104"/>
          </a:xfrm>
          <a:prstGeom prst="rect">
            <a:avLst/>
          </a:prstGeom>
          <a:solidFill>
            <a:schemeClr val="accent5">
              <a:lumMod val="50000"/>
              <a:alpha val="74000"/>
            </a:schemeClr>
          </a:solidFill>
          <a:effectLst>
            <a:softEdge rad="63500"/>
          </a:effectLst>
          <a:scene3d>
            <a:camera prst="perspectiveContrastingRightFacing"/>
            <a:lightRig rig="threePt" dir="t"/>
          </a:scene3d>
        </p:spPr>
        <p:txBody>
          <a:bodyPr wrap="none" rtlCol="0">
            <a:spAutoFit/>
          </a:bodyPr>
          <a:lstStyle/>
          <a:p>
            <a:pPr algn="ctr"/>
            <a:r>
              <a:rPr lang="en-US" sz="4400" b="1" dirty="0">
                <a:solidFill>
                  <a:srgbClr val="FFC000"/>
                </a:solidFill>
              </a:rPr>
              <a:t>5 national </a:t>
            </a:r>
          </a:p>
          <a:p>
            <a:pPr algn="ctr"/>
            <a:r>
              <a:rPr lang="en-US" sz="4400" b="1" dirty="0">
                <a:solidFill>
                  <a:srgbClr val="FFC000"/>
                </a:solidFill>
              </a:rPr>
              <a:t>brokered systems</a:t>
            </a:r>
          </a:p>
        </p:txBody>
      </p:sp>
      <p:pic>
        <p:nvPicPr>
          <p:cNvPr id="60" name="Immagine 59"/>
          <p:cNvPicPr>
            <a:picLocks noChangeAspect="1"/>
          </p:cNvPicPr>
          <p:nvPr/>
        </p:nvPicPr>
        <p:blipFill>
          <a:blip r:embed="rId3"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bwMode="auto">
          <a:xfrm flipH="1">
            <a:off x="7020272" y="4894918"/>
            <a:ext cx="1098550" cy="678170"/>
          </a:xfrm>
          <a:prstGeom prst="rect">
            <a:avLst/>
          </a:prstGeom>
          <a:scene3d>
            <a:camera prst="perspectiveHeroicExtremeLeftFacing"/>
            <a:lightRig rig="threePt" dir="t"/>
          </a:scene3d>
        </p:spPr>
      </p:pic>
      <p:sp>
        <p:nvSpPr>
          <p:cNvPr id="61" name="CasellaDiTesto 153"/>
          <p:cNvSpPr txBox="1">
            <a:spLocks noChangeArrowheads="1"/>
          </p:cNvSpPr>
          <p:nvPr/>
        </p:nvSpPr>
        <p:spPr bwMode="auto">
          <a:xfrm>
            <a:off x="5292080" y="5470982"/>
            <a:ext cx="623887" cy="523875"/>
          </a:xfrm>
          <a:prstGeom prst="rect">
            <a:avLst/>
          </a:prstGeom>
          <a:noFill/>
          <a:ln>
            <a:noFill/>
          </a:ln>
          <a:scene3d>
            <a:camera prst="perspectiveHeroicExtremeLef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 .</a:t>
            </a:r>
          </a:p>
        </p:txBody>
      </p:sp>
      <p:sp>
        <p:nvSpPr>
          <p:cNvPr id="62" name="CasellaDiTesto 153"/>
          <p:cNvSpPr txBox="1">
            <a:spLocks noChangeArrowheads="1"/>
          </p:cNvSpPr>
          <p:nvPr/>
        </p:nvSpPr>
        <p:spPr bwMode="auto">
          <a:xfrm>
            <a:off x="6156176" y="5759014"/>
            <a:ext cx="623887" cy="523875"/>
          </a:xfrm>
          <a:prstGeom prst="rect">
            <a:avLst/>
          </a:prstGeom>
          <a:noFill/>
          <a:ln>
            <a:noFill/>
          </a:ln>
          <a:scene3d>
            <a:camera prst="perspectiveHeroicExtremeLef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 .</a:t>
            </a:r>
          </a:p>
        </p:txBody>
      </p:sp>
      <p:pic>
        <p:nvPicPr>
          <p:cNvPr id="64" name="Immagine 25"/>
          <p:cNvPicPr>
            <a:picLocks noChangeAspect="1"/>
          </p:cNvPicPr>
          <p:nvPr/>
        </p:nvPicPr>
        <p:blipFill>
          <a:blip r:embed="rId16" cstate="email">
            <a:clrChange>
              <a:clrFrom>
                <a:srgbClr val="F5F6E8"/>
              </a:clrFrom>
              <a:clrTo>
                <a:srgbClr val="F5F6E8">
                  <a:alpha val="0"/>
                </a:srgbClr>
              </a:clrTo>
            </a:clrChange>
            <a:extLst>
              <a:ext uri="{28A0092B-C50C-407E-A947-70E740481C1C}">
                <a14:useLocalDpi xmlns:a14="http://schemas.microsoft.com/office/drawing/2010/main"/>
              </a:ext>
            </a:extLst>
          </a:blip>
          <a:srcRect/>
          <a:stretch>
            <a:fillRect/>
          </a:stretch>
        </p:blipFill>
        <p:spPr bwMode="auto">
          <a:xfrm rot="7808897">
            <a:off x="5472395" y="938058"/>
            <a:ext cx="925513"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ccia in giù 64"/>
          <p:cNvSpPr/>
          <p:nvPr/>
        </p:nvSpPr>
        <p:spPr bwMode="auto">
          <a:xfrm rot="9587761">
            <a:off x="5484375" y="2295834"/>
            <a:ext cx="432048" cy="671119"/>
          </a:xfrm>
          <a:prstGeom prst="down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it-IT" sz="1400" b="1" dirty="0">
              <a:solidFill>
                <a:srgbClr val="000000"/>
              </a:solidFill>
              <a:latin typeface="Arial" charset="0"/>
              <a:ea typeface="ＭＳ Ｐゴシック" pitchFamily="16" charset="-128"/>
              <a:cs typeface="ＭＳ Ｐゴシック" pitchFamily="-97" charset="-128"/>
            </a:endParaRPr>
          </a:p>
        </p:txBody>
      </p:sp>
      <p:pic>
        <p:nvPicPr>
          <p:cNvPr id="66" name="Picture 2"/>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rot="670447" flipV="1">
            <a:off x="7308304" y="5254958"/>
            <a:ext cx="609228" cy="251537"/>
          </a:xfrm>
          <a:prstGeom prst="rect">
            <a:avLst/>
          </a:prstGeom>
          <a:noFill/>
          <a:ln w="9525">
            <a:noFill/>
            <a:miter lim="800000"/>
            <a:headEnd/>
            <a:tailEnd/>
          </a:ln>
        </p:spPr>
      </p:pic>
      <p:sp>
        <p:nvSpPr>
          <p:cNvPr id="67" name="Text Box 72"/>
          <p:cNvSpPr txBox="1">
            <a:spLocks noChangeArrowheads="1"/>
          </p:cNvSpPr>
          <p:nvPr/>
        </p:nvSpPr>
        <p:spPr bwMode="auto">
          <a:xfrm>
            <a:off x="4644008" y="1222510"/>
            <a:ext cx="11521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a:solidFill>
                  <a:srgbClr val="C00000"/>
                </a:solidFill>
              </a:rPr>
              <a:t>GISC Brasilia</a:t>
            </a:r>
            <a:endParaRPr kumimoji="0" lang="fr-CH" altLang="ja-JP" sz="1200" dirty="0">
              <a:solidFill>
                <a:srgbClr val="000000"/>
              </a:solidFill>
            </a:endParaRPr>
          </a:p>
          <a:p>
            <a:pPr fontAlgn="base">
              <a:spcBef>
                <a:spcPct val="0"/>
              </a:spcBef>
              <a:spcAft>
                <a:spcPct val="0"/>
              </a:spcAft>
              <a:buFontTx/>
              <a:buNone/>
            </a:pPr>
            <a:r>
              <a:rPr kumimoji="0" lang="fr-CH" altLang="ja-JP" sz="1200" i="1" dirty="0">
                <a:solidFill>
                  <a:srgbClr val="C00000"/>
                </a:solidFill>
              </a:rPr>
              <a:t>Home Page</a:t>
            </a:r>
            <a:endParaRPr kumimoji="0" lang="en-US" altLang="ja-JP" sz="1800" dirty="0">
              <a:solidFill>
                <a:srgbClr val="000000"/>
              </a:solidFill>
            </a:endParaRPr>
          </a:p>
        </p:txBody>
      </p:sp>
      <p:pic>
        <p:nvPicPr>
          <p:cNvPr id="51202" name="Picture 2" descr="File:Tangram 020 Nevit.svg"/>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3343817" y="4581883"/>
            <a:ext cx="1707608" cy="2256751"/>
          </a:xfrm>
          <a:prstGeom prst="rect">
            <a:avLst/>
          </a:prstGeom>
          <a:noFill/>
        </p:spPr>
      </p:pic>
      <p:pic>
        <p:nvPicPr>
          <p:cNvPr id="51204" name="Picture 4" descr="File:Tangram 223 Nevit.svg"/>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5814847" y="3483010"/>
            <a:ext cx="701130" cy="470122"/>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WHOS at REGIONAL SCALE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pic>
        <p:nvPicPr>
          <p:cNvPr id="79876" name="Picture 4" descr="https://upload.wikimedia.org/wikipedia/commons/thumb/d/dc/Tangram_010_Nevit.svg/306px-Tangram_010_Nevit.svg.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54821" y="1273175"/>
            <a:ext cx="1457325" cy="3443288"/>
          </a:xfrm>
          <a:prstGeom prst="rect">
            <a:avLst/>
          </a:prstGeom>
          <a:noFill/>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0761" y="313691"/>
            <a:ext cx="7948909" cy="901699"/>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Federation of Regional Hydrological Data</a:t>
            </a:r>
          </a:p>
        </p:txBody>
      </p:sp>
      <p:pic>
        <p:nvPicPr>
          <p:cNvPr id="4" name="Immagine 3" descr="Arctic4Map.jp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547364" y="920767"/>
            <a:ext cx="5986778" cy="4597830"/>
          </a:xfrm>
          <a:prstGeom prst="rect">
            <a:avLst/>
          </a:prstGeom>
        </p:spPr>
      </p:pic>
      <p:pic>
        <p:nvPicPr>
          <p:cNvPr id="49154" name="Picture 2" descr="File:Tangram 222 Nevit.sv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974907" y="4438364"/>
            <a:ext cx="2936495" cy="2160466"/>
          </a:xfrm>
          <a:prstGeom prst="rect">
            <a:avLst/>
          </a:prstGeom>
          <a:noFill/>
        </p:spPr>
      </p:pic>
      <p:pic>
        <p:nvPicPr>
          <p:cNvPr id="6"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85320" y="2070225"/>
            <a:ext cx="1028700" cy="1028700"/>
          </a:xfrm>
          <a:prstGeom prst="rect">
            <a:avLst/>
          </a:prstGeom>
        </p:spPr>
      </p:pic>
      <p:pic>
        <p:nvPicPr>
          <p:cNvPr id="7"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85320" y="920767"/>
            <a:ext cx="1028700" cy="1028700"/>
          </a:xfrm>
          <a:prstGeom prst="rect">
            <a:avLst/>
          </a:prstGeom>
        </p:spPr>
      </p:pic>
      <p:pic>
        <p:nvPicPr>
          <p:cNvPr id="8"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85320" y="4369141"/>
            <a:ext cx="1028700" cy="1028700"/>
          </a:xfrm>
          <a:prstGeom prst="rect">
            <a:avLst/>
          </a:prstGeom>
        </p:spPr>
      </p:pic>
      <p:pic>
        <p:nvPicPr>
          <p:cNvPr id="9"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85320" y="3219683"/>
            <a:ext cx="1028700" cy="1028700"/>
          </a:xfrm>
          <a:prstGeom prst="rect">
            <a:avLst/>
          </a:prstGeom>
        </p:spPr>
      </p:pic>
      <p:pic>
        <p:nvPicPr>
          <p:cNvPr id="10"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05442" y="5570130"/>
            <a:ext cx="1028700" cy="1028700"/>
          </a:xfrm>
          <a:prstGeom prst="rect">
            <a:avLst/>
          </a:prstGeom>
        </p:spPr>
      </p:pic>
      <p:pic>
        <p:nvPicPr>
          <p:cNvPr id="11"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85320" y="5518597"/>
            <a:ext cx="1028700" cy="1028700"/>
          </a:xfrm>
          <a:prstGeom prst="rect">
            <a:avLst/>
          </a:prstGeom>
        </p:spPr>
      </p:pic>
      <p:pic>
        <p:nvPicPr>
          <p:cNvPr id="12"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257578" y="1850498"/>
            <a:ext cx="1028700" cy="1028700"/>
          </a:xfrm>
          <a:prstGeom prst="rect">
            <a:avLst/>
          </a:prstGeom>
        </p:spPr>
      </p:pic>
      <p:pic>
        <p:nvPicPr>
          <p:cNvPr id="13"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257578" y="701040"/>
            <a:ext cx="1028700" cy="1028700"/>
          </a:xfrm>
          <a:prstGeom prst="rect">
            <a:avLst/>
          </a:prstGeom>
        </p:spPr>
      </p:pic>
      <p:pic>
        <p:nvPicPr>
          <p:cNvPr id="14"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257578" y="4149414"/>
            <a:ext cx="1028700" cy="1028700"/>
          </a:xfrm>
          <a:prstGeom prst="rect">
            <a:avLst/>
          </a:prstGeom>
        </p:spPr>
      </p:pic>
      <p:pic>
        <p:nvPicPr>
          <p:cNvPr id="15"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257578" y="2999956"/>
            <a:ext cx="1028700" cy="1028700"/>
          </a:xfrm>
          <a:prstGeom prst="rect">
            <a:avLst/>
          </a:prstGeom>
        </p:spPr>
      </p:pic>
      <p:pic>
        <p:nvPicPr>
          <p:cNvPr id="16" name="Picture 6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257578" y="5298870"/>
            <a:ext cx="1028700" cy="1028700"/>
          </a:xfrm>
          <a:prstGeom prst="rect">
            <a:avLst/>
          </a:prstGeom>
        </p:spPr>
      </p:pic>
      <p:pic>
        <p:nvPicPr>
          <p:cNvPr id="17" name="Picture 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1547364" y="5570130"/>
            <a:ext cx="1028700" cy="10287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WHOS at GLOBAL SCALE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pic>
        <p:nvPicPr>
          <p:cNvPr id="4" name="Picture 2" descr="https://upload.wikimedia.org/wikipedia/commons/thumb/d/d6/Tangram_015_Nevit.svg/537px-Tangram_015_Nevit.svg.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26499" y="1523016"/>
            <a:ext cx="2557463" cy="2981325"/>
          </a:xfrm>
          <a:prstGeom prst="rect">
            <a:avLst/>
          </a:prstGeom>
          <a:noFill/>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69"/>
          <p:cNvPicPr>
            <a:picLocks noChangeAspect="1"/>
          </p:cNvPicPr>
          <p:nvPr/>
        </p:nvPicPr>
        <p:blipFill>
          <a:blip r:embed="rId2">
            <a:clrChange>
              <a:clrFrom>
                <a:srgbClr val="FF0000"/>
              </a:clrFrom>
              <a:clrTo>
                <a:srgbClr val="FF0000">
                  <a:alpha val="0"/>
                </a:srgbClr>
              </a:clrTo>
            </a:clrChange>
          </a:blip>
          <a:stretch>
            <a:fillRect/>
          </a:stretch>
        </p:blipFill>
        <p:spPr>
          <a:xfrm>
            <a:off x="5314416" y="2399793"/>
            <a:ext cx="923925" cy="866775"/>
          </a:xfrm>
          <a:prstGeom prst="rect">
            <a:avLst/>
          </a:prstGeom>
        </p:spPr>
      </p:pic>
      <p:pic>
        <p:nvPicPr>
          <p:cNvPr id="2" name="Picture 4" descr="Risultati immagini per cloud icon transparent"/>
          <p:cNvPicPr>
            <a:picLocks noChangeAspect="1" noChangeArrowheads="1"/>
          </p:cNvPicPr>
          <p:nvPr/>
        </p:nvPicPr>
        <p:blipFill>
          <a:blip r:embed="rId3" cstate="email">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0840" y="1605280"/>
            <a:ext cx="9248457" cy="489174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6522874" y="3240303"/>
            <a:ext cx="595107" cy="397094"/>
          </a:xfrm>
          <a:prstGeom prst="rect">
            <a:avLst/>
          </a:prstGeom>
        </p:spPr>
      </p:pic>
      <p:pic>
        <p:nvPicPr>
          <p:cNvPr id="34" name="Picture 33"/>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3501735" y="3219280"/>
            <a:ext cx="595107" cy="397094"/>
          </a:xfrm>
          <a:prstGeom prst="rect">
            <a:avLst/>
          </a:prstGeom>
        </p:spPr>
      </p:pic>
      <p:sp>
        <p:nvSpPr>
          <p:cNvPr id="5" name="Title 1"/>
          <p:cNvSpPr txBox="1">
            <a:spLocks/>
          </p:cNvSpPr>
          <p:nvPr/>
        </p:nvSpPr>
        <p:spPr>
          <a:xfrm>
            <a:off x="989828" y="313691"/>
            <a:ext cx="7409842" cy="901699"/>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Interoperability and Information Flow</a:t>
            </a:r>
          </a:p>
        </p:txBody>
      </p:sp>
      <p:sp>
        <p:nvSpPr>
          <p:cNvPr id="6" name="TextBox 5"/>
          <p:cNvSpPr txBox="1"/>
          <p:nvPr/>
        </p:nvSpPr>
        <p:spPr>
          <a:xfrm>
            <a:off x="187304" y="4542228"/>
            <a:ext cx="1527615" cy="584775"/>
          </a:xfrm>
          <a:prstGeom prst="rect">
            <a:avLst/>
          </a:prstGeom>
        </p:spPr>
        <p:style>
          <a:lnRef idx="0">
            <a:schemeClr val="accent5"/>
          </a:lnRef>
          <a:fillRef idx="3">
            <a:schemeClr val="accent5"/>
          </a:fillRef>
          <a:effectRef idx="3">
            <a:schemeClr val="accent5"/>
          </a:effectRef>
          <a:fontRef idx="minor">
            <a:schemeClr val="lt1"/>
          </a:fontRef>
        </p:style>
        <p:txBody>
          <a:bodyPr vert="horz" wrap="square" rtlCol="0">
            <a:spAutoFit/>
          </a:bodyPr>
          <a:lstStyle/>
          <a:p>
            <a:pPr algn="ctr"/>
            <a:r>
              <a:rPr lang="en-US" sz="1600" dirty="0">
                <a:solidFill>
                  <a:schemeClr val="bg1"/>
                </a:solidFill>
              </a:rPr>
              <a:t>National/Local</a:t>
            </a:r>
            <a:br>
              <a:rPr lang="en-US" sz="1600" dirty="0">
                <a:solidFill>
                  <a:schemeClr val="bg1"/>
                </a:solidFill>
              </a:rPr>
            </a:br>
            <a:r>
              <a:rPr lang="en-US" sz="1600" dirty="0">
                <a:solidFill>
                  <a:schemeClr val="bg1"/>
                </a:solidFill>
              </a:rPr>
              <a:t> Data Systems</a:t>
            </a:r>
          </a:p>
        </p:txBody>
      </p:sp>
      <p:sp>
        <p:nvSpPr>
          <p:cNvPr id="7" name="TextBox 6"/>
          <p:cNvSpPr txBox="1"/>
          <p:nvPr/>
        </p:nvSpPr>
        <p:spPr>
          <a:xfrm>
            <a:off x="187304" y="3682390"/>
            <a:ext cx="1500636" cy="338554"/>
          </a:xfrm>
          <a:prstGeom prst="rect">
            <a:avLst/>
          </a:prstGeom>
        </p:spPr>
        <p:style>
          <a:lnRef idx="0">
            <a:schemeClr val="accent5"/>
          </a:lnRef>
          <a:fillRef idx="3">
            <a:schemeClr val="accent5"/>
          </a:fillRef>
          <a:effectRef idx="3">
            <a:schemeClr val="accent5"/>
          </a:effectRef>
          <a:fontRef idx="minor">
            <a:schemeClr val="lt1"/>
          </a:fontRef>
        </p:style>
        <p:txBody>
          <a:bodyPr vert="horz" wrap="square" rtlCol="0">
            <a:spAutoFit/>
          </a:bodyPr>
          <a:lstStyle/>
          <a:p>
            <a:pPr algn="ctr"/>
            <a:r>
              <a:rPr lang="en-US" sz="1600" dirty="0">
                <a:solidFill>
                  <a:schemeClr val="bg1"/>
                </a:solidFill>
              </a:rPr>
              <a:t>Regional Nodes</a:t>
            </a:r>
          </a:p>
        </p:txBody>
      </p:sp>
      <p:sp>
        <p:nvSpPr>
          <p:cNvPr id="8" name="TextBox 7"/>
          <p:cNvSpPr txBox="1"/>
          <p:nvPr/>
        </p:nvSpPr>
        <p:spPr>
          <a:xfrm>
            <a:off x="189382" y="2460606"/>
            <a:ext cx="1500636" cy="584775"/>
          </a:xfrm>
          <a:prstGeom prst="rect">
            <a:avLst/>
          </a:prstGeom>
        </p:spPr>
        <p:style>
          <a:lnRef idx="0">
            <a:schemeClr val="accent5"/>
          </a:lnRef>
          <a:fillRef idx="3">
            <a:schemeClr val="accent5"/>
          </a:fillRef>
          <a:effectRef idx="3">
            <a:schemeClr val="accent5"/>
          </a:effectRef>
          <a:fontRef idx="minor">
            <a:schemeClr val="lt1"/>
          </a:fontRef>
        </p:style>
        <p:txBody>
          <a:bodyPr vert="horz" wrap="square" rtlCol="0">
            <a:spAutoFit/>
          </a:bodyPr>
          <a:lstStyle/>
          <a:p>
            <a:pPr algn="ctr"/>
            <a:r>
              <a:rPr lang="en-US" sz="1600" dirty="0">
                <a:solidFill>
                  <a:schemeClr val="bg1"/>
                </a:solidFill>
              </a:rPr>
              <a:t>Community Nodes</a:t>
            </a:r>
          </a:p>
        </p:txBody>
      </p:sp>
      <p:pic>
        <p:nvPicPr>
          <p:cNvPr id="14" name="Picture 13"/>
          <p:cNvPicPr>
            <a:picLocks noChangeAspect="1"/>
          </p:cNvPicPr>
          <p:nvPr/>
        </p:nvPicPr>
        <p:blipFill>
          <a:blip r:embed="rId5">
            <a:clrChange>
              <a:clrFrom>
                <a:srgbClr val="FF0000"/>
              </a:clrFrom>
              <a:clrTo>
                <a:srgbClr val="FF0000">
                  <a:alpha val="0"/>
                </a:srgbClr>
              </a:clrTo>
            </a:clrChange>
          </a:blip>
          <a:stretch>
            <a:fillRect/>
          </a:stretch>
        </p:blipFill>
        <p:spPr>
          <a:xfrm>
            <a:off x="3540015" y="2241808"/>
            <a:ext cx="1209675" cy="1066800"/>
          </a:xfrm>
          <a:prstGeom prst="rect">
            <a:avLst/>
          </a:prstGeom>
        </p:spPr>
      </p:pic>
      <p:sp>
        <p:nvSpPr>
          <p:cNvPr id="15" name="TextBox 14"/>
          <p:cNvSpPr txBox="1"/>
          <p:nvPr/>
        </p:nvSpPr>
        <p:spPr>
          <a:xfrm rot="1548697">
            <a:off x="2318965" y="1815133"/>
            <a:ext cx="1847301" cy="369332"/>
          </a:xfrm>
          <a:prstGeom prst="rect">
            <a:avLst/>
          </a:prstGeom>
          <a:noFill/>
        </p:spPr>
        <p:txBody>
          <a:bodyPr wrap="none" rtlCol="0">
            <a:spAutoFit/>
          </a:bodyPr>
          <a:lstStyle/>
          <a:p>
            <a:r>
              <a:rPr lang="en-US" dirty="0"/>
              <a:t>Special Data View</a:t>
            </a:r>
          </a:p>
        </p:txBody>
      </p:sp>
      <p:sp>
        <p:nvSpPr>
          <p:cNvPr id="16" name="TextBox 15"/>
          <p:cNvSpPr txBox="1"/>
          <p:nvPr/>
        </p:nvSpPr>
        <p:spPr>
          <a:xfrm rot="1548697">
            <a:off x="3917113" y="1830740"/>
            <a:ext cx="2752035" cy="369332"/>
          </a:xfrm>
          <a:prstGeom prst="rect">
            <a:avLst/>
          </a:prstGeom>
          <a:noFill/>
        </p:spPr>
        <p:txBody>
          <a:bodyPr wrap="none" rtlCol="0">
            <a:spAutoFit/>
          </a:bodyPr>
          <a:lstStyle/>
          <a:p>
            <a:r>
              <a:rPr lang="en-US" dirty="0"/>
              <a:t>Common Ontology services</a:t>
            </a:r>
          </a:p>
        </p:txBody>
      </p:sp>
      <p:pic>
        <p:nvPicPr>
          <p:cNvPr id="20" name="Picture 19"/>
          <p:cNvPicPr>
            <a:picLocks noChangeAspect="1"/>
          </p:cNvPicPr>
          <p:nvPr/>
        </p:nvPicPr>
        <p:blipFill>
          <a:blip r:embed="rId2">
            <a:clrChange>
              <a:clrFrom>
                <a:srgbClr val="FF0000"/>
              </a:clrFrom>
              <a:clrTo>
                <a:srgbClr val="FF0000">
                  <a:alpha val="0"/>
                </a:srgbClr>
              </a:clrTo>
            </a:clrChange>
          </a:blip>
          <a:stretch>
            <a:fillRect/>
          </a:stretch>
        </p:blipFill>
        <p:spPr>
          <a:xfrm>
            <a:off x="6722528" y="2399793"/>
            <a:ext cx="923925" cy="866775"/>
          </a:xfrm>
          <a:prstGeom prst="rect">
            <a:avLst/>
          </a:prstGeom>
        </p:spPr>
      </p:pic>
      <p:sp>
        <p:nvSpPr>
          <p:cNvPr id="21" name="TextBox 20"/>
          <p:cNvSpPr txBox="1"/>
          <p:nvPr/>
        </p:nvSpPr>
        <p:spPr>
          <a:xfrm rot="1548697">
            <a:off x="6014327" y="1781623"/>
            <a:ext cx="2560312" cy="646331"/>
          </a:xfrm>
          <a:prstGeom prst="rect">
            <a:avLst/>
          </a:prstGeom>
          <a:noFill/>
        </p:spPr>
        <p:txBody>
          <a:bodyPr wrap="square" rtlCol="0">
            <a:spAutoFit/>
          </a:bodyPr>
          <a:lstStyle/>
          <a:p>
            <a:pPr algn="ctr"/>
            <a:r>
              <a:rPr lang="en-US" dirty="0"/>
              <a:t>Regional nodes synchronization service</a:t>
            </a:r>
          </a:p>
        </p:txBody>
      </p:sp>
      <p:pic>
        <p:nvPicPr>
          <p:cNvPr id="22" name="Picture 21"/>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4589554" y="3235044"/>
            <a:ext cx="595107" cy="397094"/>
          </a:xfrm>
          <a:prstGeom prst="rect">
            <a:avLst/>
          </a:prstGeom>
        </p:spPr>
      </p:pic>
      <p:cxnSp>
        <p:nvCxnSpPr>
          <p:cNvPr id="24" name="Straight Connector 23"/>
          <p:cNvCxnSpPr/>
          <p:nvPr/>
        </p:nvCxnSpPr>
        <p:spPr>
          <a:xfrm>
            <a:off x="3540015" y="3191695"/>
            <a:ext cx="4106438" cy="0"/>
          </a:xfrm>
          <a:prstGeom prst="line">
            <a:avLst/>
          </a:prstGeom>
          <a:ln w="28575">
            <a:solidFill>
              <a:srgbClr val="2F57A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823140" y="2577370"/>
            <a:ext cx="606256" cy="523220"/>
          </a:xfrm>
          <a:prstGeom prst="rect">
            <a:avLst/>
          </a:prstGeom>
          <a:noFill/>
        </p:spPr>
        <p:txBody>
          <a:bodyPr wrap="none" rtlCol="0">
            <a:spAutoFit/>
          </a:bodyPr>
          <a:lstStyle/>
          <a:p>
            <a:r>
              <a:rPr lang="en-US" sz="2800" dirty="0">
                <a:solidFill>
                  <a:srgbClr val="2F57A1"/>
                </a:solidFill>
              </a:rPr>
              <a:t>… .</a:t>
            </a:r>
          </a:p>
        </p:txBody>
      </p:sp>
      <p:sp>
        <p:nvSpPr>
          <p:cNvPr id="26" name="TextBox 25"/>
          <p:cNvSpPr txBox="1"/>
          <p:nvPr/>
        </p:nvSpPr>
        <p:spPr>
          <a:xfrm>
            <a:off x="6285627" y="2572376"/>
            <a:ext cx="606256" cy="523220"/>
          </a:xfrm>
          <a:prstGeom prst="rect">
            <a:avLst/>
          </a:prstGeom>
          <a:noFill/>
        </p:spPr>
        <p:txBody>
          <a:bodyPr wrap="none" rtlCol="0">
            <a:spAutoFit/>
          </a:bodyPr>
          <a:lstStyle/>
          <a:p>
            <a:r>
              <a:rPr lang="en-US" sz="2800" dirty="0">
                <a:solidFill>
                  <a:srgbClr val="2F57A1"/>
                </a:solidFill>
              </a:rPr>
              <a:t>… .</a:t>
            </a:r>
          </a:p>
        </p:txBody>
      </p:sp>
      <p:grpSp>
        <p:nvGrpSpPr>
          <p:cNvPr id="3" name="Group 31"/>
          <p:cNvGrpSpPr/>
          <p:nvPr/>
        </p:nvGrpSpPr>
        <p:grpSpPr>
          <a:xfrm>
            <a:off x="1865475" y="3503199"/>
            <a:ext cx="6292879" cy="1071215"/>
            <a:chOff x="2136418" y="3650344"/>
            <a:chExt cx="6292879" cy="1071215"/>
          </a:xfrm>
        </p:grpSpPr>
        <p:pic>
          <p:nvPicPr>
            <p:cNvPr id="27" name="Picture 26"/>
            <p:cNvPicPr>
              <a:picLocks noChangeAspect="1"/>
            </p:cNvPicPr>
            <p:nvPr/>
          </p:nvPicPr>
          <p:blipFill>
            <a:blip r:embed="rId5">
              <a:clrChange>
                <a:clrFrom>
                  <a:srgbClr val="FF0000"/>
                </a:clrFrom>
                <a:clrTo>
                  <a:srgbClr val="FF0000">
                    <a:alpha val="0"/>
                  </a:srgbClr>
                </a:clrTo>
              </a:clrChange>
            </a:blip>
            <a:stretch>
              <a:fillRect/>
            </a:stretch>
          </p:blipFill>
          <p:spPr>
            <a:xfrm>
              <a:off x="3197961" y="3650344"/>
              <a:ext cx="1209675" cy="1066800"/>
            </a:xfrm>
            <a:prstGeom prst="rect">
              <a:avLst/>
            </a:prstGeom>
          </p:spPr>
        </p:pic>
        <p:pic>
          <p:nvPicPr>
            <p:cNvPr id="28" name="Picture 27"/>
            <p:cNvPicPr>
              <a:picLocks noChangeAspect="1"/>
            </p:cNvPicPr>
            <p:nvPr/>
          </p:nvPicPr>
          <p:blipFill>
            <a:blip r:embed="rId5">
              <a:clrChange>
                <a:clrFrom>
                  <a:srgbClr val="FF0000"/>
                </a:clrFrom>
                <a:clrTo>
                  <a:srgbClr val="FF0000">
                    <a:alpha val="0"/>
                  </a:srgbClr>
                </a:clrTo>
              </a:clrChange>
            </a:blip>
            <a:stretch>
              <a:fillRect/>
            </a:stretch>
          </p:blipFill>
          <p:spPr>
            <a:xfrm>
              <a:off x="4300904" y="3654759"/>
              <a:ext cx="1209675" cy="1066800"/>
            </a:xfrm>
            <a:prstGeom prst="rect">
              <a:avLst/>
            </a:prstGeom>
          </p:spPr>
        </p:pic>
        <p:pic>
          <p:nvPicPr>
            <p:cNvPr id="29" name="Picture 28"/>
            <p:cNvPicPr>
              <a:picLocks noChangeAspect="1"/>
            </p:cNvPicPr>
            <p:nvPr/>
          </p:nvPicPr>
          <p:blipFill>
            <a:blip r:embed="rId5">
              <a:clrChange>
                <a:clrFrom>
                  <a:srgbClr val="FF0000"/>
                </a:clrFrom>
                <a:clrTo>
                  <a:srgbClr val="FF0000">
                    <a:alpha val="0"/>
                  </a:srgbClr>
                </a:clrTo>
              </a:clrChange>
            </a:blip>
            <a:stretch>
              <a:fillRect/>
            </a:stretch>
          </p:blipFill>
          <p:spPr>
            <a:xfrm>
              <a:off x="6292661" y="3650878"/>
              <a:ext cx="1209675" cy="1066800"/>
            </a:xfrm>
            <a:prstGeom prst="rect">
              <a:avLst/>
            </a:prstGeom>
          </p:spPr>
        </p:pic>
        <p:cxnSp>
          <p:nvCxnSpPr>
            <p:cNvPr id="30" name="Straight Connector 29"/>
            <p:cNvCxnSpPr/>
            <p:nvPr/>
          </p:nvCxnSpPr>
          <p:spPr>
            <a:xfrm>
              <a:off x="2136418" y="4594826"/>
              <a:ext cx="6292879" cy="8705"/>
            </a:xfrm>
            <a:prstGeom prst="line">
              <a:avLst/>
            </a:prstGeom>
            <a:ln w="28575">
              <a:solidFill>
                <a:srgbClr val="2F57A1"/>
              </a:solidFill>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5395081" y="3789751"/>
            <a:ext cx="606256" cy="523220"/>
          </a:xfrm>
          <a:prstGeom prst="rect">
            <a:avLst/>
          </a:prstGeom>
          <a:noFill/>
        </p:spPr>
        <p:txBody>
          <a:bodyPr wrap="none" rtlCol="0">
            <a:spAutoFit/>
          </a:bodyPr>
          <a:lstStyle/>
          <a:p>
            <a:r>
              <a:rPr lang="en-US" sz="2800" dirty="0">
                <a:solidFill>
                  <a:srgbClr val="2F57A1"/>
                </a:solidFill>
              </a:rPr>
              <a:t>… .</a:t>
            </a:r>
          </a:p>
        </p:txBody>
      </p:sp>
      <p:sp>
        <p:nvSpPr>
          <p:cNvPr id="36" name="TextBox 35"/>
          <p:cNvSpPr txBox="1"/>
          <p:nvPr/>
        </p:nvSpPr>
        <p:spPr>
          <a:xfrm rot="1667560">
            <a:off x="3330654" y="4509037"/>
            <a:ext cx="854208" cy="369332"/>
          </a:xfrm>
          <a:prstGeom prst="rect">
            <a:avLst/>
          </a:prstGeom>
          <a:noFill/>
        </p:spPr>
        <p:txBody>
          <a:bodyPr wrap="none" rtlCol="0">
            <a:spAutoFit/>
          </a:bodyPr>
          <a:lstStyle/>
          <a:p>
            <a:r>
              <a:rPr lang="en-US" dirty="0"/>
              <a:t>Europe</a:t>
            </a:r>
          </a:p>
        </p:txBody>
      </p:sp>
      <p:sp>
        <p:nvSpPr>
          <p:cNvPr id="37" name="TextBox 36"/>
          <p:cNvSpPr txBox="1"/>
          <p:nvPr/>
        </p:nvSpPr>
        <p:spPr>
          <a:xfrm rot="1667560">
            <a:off x="4367819" y="4451853"/>
            <a:ext cx="727763" cy="369332"/>
          </a:xfrm>
          <a:prstGeom prst="rect">
            <a:avLst/>
          </a:prstGeom>
          <a:noFill/>
        </p:spPr>
        <p:txBody>
          <a:bodyPr wrap="none" rtlCol="0">
            <a:spAutoFit/>
          </a:bodyPr>
          <a:lstStyle/>
          <a:p>
            <a:r>
              <a:rPr lang="en-US" dirty="0"/>
              <a:t>Africa</a:t>
            </a:r>
          </a:p>
        </p:txBody>
      </p:sp>
      <p:sp>
        <p:nvSpPr>
          <p:cNvPr id="38" name="TextBox 37"/>
          <p:cNvSpPr txBox="1"/>
          <p:nvPr/>
        </p:nvSpPr>
        <p:spPr>
          <a:xfrm rot="1667560">
            <a:off x="6747788" y="4566435"/>
            <a:ext cx="1054891" cy="369332"/>
          </a:xfrm>
          <a:prstGeom prst="rect">
            <a:avLst/>
          </a:prstGeom>
          <a:noFill/>
        </p:spPr>
        <p:txBody>
          <a:bodyPr wrap="square" rtlCol="0">
            <a:spAutoFit/>
          </a:bodyPr>
          <a:lstStyle/>
          <a:p>
            <a:r>
              <a:rPr lang="en-US" dirty="0"/>
              <a:t>Asia</a:t>
            </a:r>
          </a:p>
        </p:txBody>
      </p:sp>
      <p:pic>
        <p:nvPicPr>
          <p:cNvPr id="45" name="Picture 44"/>
          <p:cNvPicPr>
            <a:picLocks noChangeAspect="1"/>
          </p:cNvPicPr>
          <p:nvPr/>
        </p:nvPicPr>
        <p:blipFill>
          <a:blip r:embed="rId6" cstate="email">
            <a:clrChange>
              <a:clrFrom>
                <a:srgbClr val="FF0000"/>
              </a:clrFrom>
              <a:clrTo>
                <a:srgbClr val="FF0000">
                  <a:alpha val="0"/>
                </a:srgbClr>
              </a:clrTo>
            </a:clrChange>
            <a:extLst>
              <a:ext uri="{28A0092B-C50C-407E-A947-70E740481C1C}">
                <a14:useLocalDpi xmlns:a14="http://schemas.microsoft.com/office/drawing/2010/main"/>
              </a:ext>
            </a:extLst>
          </a:blip>
          <a:stretch>
            <a:fillRect/>
          </a:stretch>
        </p:blipFill>
        <p:spPr>
          <a:xfrm>
            <a:off x="1603395" y="5179814"/>
            <a:ext cx="6567667" cy="943183"/>
          </a:xfrm>
          <a:prstGeom prst="rect">
            <a:avLst/>
          </a:prstGeom>
        </p:spPr>
      </p:pic>
      <p:grpSp>
        <p:nvGrpSpPr>
          <p:cNvPr id="4" name="Group 51"/>
          <p:cNvGrpSpPr/>
          <p:nvPr/>
        </p:nvGrpSpPr>
        <p:grpSpPr>
          <a:xfrm>
            <a:off x="2055623" y="4485849"/>
            <a:ext cx="397094" cy="880120"/>
            <a:chOff x="2326566" y="4485849"/>
            <a:chExt cx="397094" cy="880120"/>
          </a:xfrm>
        </p:grpSpPr>
        <p:pic>
          <p:nvPicPr>
            <p:cNvPr id="46" name="Picture 45"/>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2227559" y="4869869"/>
              <a:ext cx="595107" cy="397094"/>
            </a:xfrm>
            <a:prstGeom prst="rect">
              <a:avLst/>
            </a:prstGeom>
          </p:spPr>
        </p:pic>
        <p:cxnSp>
          <p:nvCxnSpPr>
            <p:cNvPr id="48" name="Straight Connector 47"/>
            <p:cNvCxnSpPr/>
            <p:nvPr/>
          </p:nvCxnSpPr>
          <p:spPr>
            <a:xfrm>
              <a:off x="2556201" y="4485849"/>
              <a:ext cx="0" cy="381331"/>
            </a:xfrm>
            <a:prstGeom prst="line">
              <a:avLst/>
            </a:prstGeom>
            <a:ln w="28575">
              <a:solidFill>
                <a:srgbClr val="2F57A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Group 52"/>
          <p:cNvGrpSpPr/>
          <p:nvPr/>
        </p:nvGrpSpPr>
        <p:grpSpPr>
          <a:xfrm>
            <a:off x="2889117" y="4484063"/>
            <a:ext cx="397094" cy="880120"/>
            <a:chOff x="2326566" y="4485849"/>
            <a:chExt cx="397094" cy="880120"/>
          </a:xfrm>
        </p:grpSpPr>
        <p:pic>
          <p:nvPicPr>
            <p:cNvPr id="54" name="Picture 53"/>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2227559" y="4869869"/>
              <a:ext cx="595107" cy="397094"/>
            </a:xfrm>
            <a:prstGeom prst="rect">
              <a:avLst/>
            </a:prstGeom>
          </p:spPr>
        </p:pic>
        <p:cxnSp>
          <p:nvCxnSpPr>
            <p:cNvPr id="55" name="Straight Connector 54"/>
            <p:cNvCxnSpPr/>
            <p:nvPr/>
          </p:nvCxnSpPr>
          <p:spPr>
            <a:xfrm>
              <a:off x="2556201" y="4485849"/>
              <a:ext cx="0" cy="381331"/>
            </a:xfrm>
            <a:prstGeom prst="line">
              <a:avLst/>
            </a:prstGeom>
            <a:ln w="28575">
              <a:solidFill>
                <a:srgbClr val="2F57A1"/>
              </a:solidFill>
              <a:prstDash val="sysDot"/>
            </a:ln>
          </p:spPr>
          <p:style>
            <a:lnRef idx="1">
              <a:schemeClr val="accent1"/>
            </a:lnRef>
            <a:fillRef idx="0">
              <a:schemeClr val="accent1"/>
            </a:fillRef>
            <a:effectRef idx="0">
              <a:schemeClr val="accent1"/>
            </a:effectRef>
            <a:fontRef idx="minor">
              <a:schemeClr val="tx1"/>
            </a:fontRef>
          </p:style>
        </p:cxnSp>
      </p:grpSp>
      <p:grpSp>
        <p:nvGrpSpPr>
          <p:cNvPr id="10" name="Group 55"/>
          <p:cNvGrpSpPr/>
          <p:nvPr/>
        </p:nvGrpSpPr>
        <p:grpSpPr>
          <a:xfrm>
            <a:off x="4088422" y="4484063"/>
            <a:ext cx="397094" cy="880120"/>
            <a:chOff x="2326566" y="4485849"/>
            <a:chExt cx="397094" cy="880120"/>
          </a:xfrm>
        </p:grpSpPr>
        <p:pic>
          <p:nvPicPr>
            <p:cNvPr id="57" name="Picture 56"/>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2227559" y="4869869"/>
              <a:ext cx="595107" cy="397094"/>
            </a:xfrm>
            <a:prstGeom prst="rect">
              <a:avLst/>
            </a:prstGeom>
          </p:spPr>
        </p:pic>
        <p:cxnSp>
          <p:nvCxnSpPr>
            <p:cNvPr id="58" name="Straight Connector 57"/>
            <p:cNvCxnSpPr/>
            <p:nvPr/>
          </p:nvCxnSpPr>
          <p:spPr>
            <a:xfrm>
              <a:off x="2556201" y="4485849"/>
              <a:ext cx="0" cy="381331"/>
            </a:xfrm>
            <a:prstGeom prst="line">
              <a:avLst/>
            </a:prstGeom>
            <a:ln w="28575">
              <a:solidFill>
                <a:srgbClr val="2F57A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 name="Group 58"/>
          <p:cNvGrpSpPr/>
          <p:nvPr/>
        </p:nvGrpSpPr>
        <p:grpSpPr>
          <a:xfrm>
            <a:off x="5025370" y="4489607"/>
            <a:ext cx="397094" cy="880120"/>
            <a:chOff x="2326566" y="4485849"/>
            <a:chExt cx="397094" cy="880120"/>
          </a:xfrm>
        </p:grpSpPr>
        <p:pic>
          <p:nvPicPr>
            <p:cNvPr id="60" name="Picture 59"/>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2227559" y="4869869"/>
              <a:ext cx="595107" cy="397094"/>
            </a:xfrm>
            <a:prstGeom prst="rect">
              <a:avLst/>
            </a:prstGeom>
          </p:spPr>
        </p:pic>
        <p:cxnSp>
          <p:nvCxnSpPr>
            <p:cNvPr id="61" name="Straight Connector 60"/>
            <p:cNvCxnSpPr/>
            <p:nvPr/>
          </p:nvCxnSpPr>
          <p:spPr>
            <a:xfrm>
              <a:off x="2556201" y="4485849"/>
              <a:ext cx="0" cy="381331"/>
            </a:xfrm>
            <a:prstGeom prst="line">
              <a:avLst/>
            </a:prstGeom>
            <a:ln w="28575">
              <a:solidFill>
                <a:srgbClr val="2F57A1"/>
              </a:solidFill>
              <a:prstDash val="sysDot"/>
            </a:ln>
          </p:spPr>
          <p:style>
            <a:lnRef idx="1">
              <a:schemeClr val="accent1"/>
            </a:lnRef>
            <a:fillRef idx="0">
              <a:schemeClr val="accent1"/>
            </a:fillRef>
            <a:effectRef idx="0">
              <a:schemeClr val="accent1"/>
            </a:effectRef>
            <a:fontRef idx="minor">
              <a:schemeClr val="tx1"/>
            </a:fontRef>
          </p:style>
        </p:cxnSp>
      </p:grpSp>
      <p:grpSp>
        <p:nvGrpSpPr>
          <p:cNvPr id="12" name="Group 61"/>
          <p:cNvGrpSpPr/>
          <p:nvPr/>
        </p:nvGrpSpPr>
        <p:grpSpPr>
          <a:xfrm>
            <a:off x="7558595" y="4484063"/>
            <a:ext cx="397094" cy="880120"/>
            <a:chOff x="2326566" y="4485849"/>
            <a:chExt cx="397094" cy="880120"/>
          </a:xfrm>
        </p:grpSpPr>
        <p:pic>
          <p:nvPicPr>
            <p:cNvPr id="63" name="Picture 62"/>
            <p:cNvPicPr>
              <a:picLocks noChangeAspect="1"/>
            </p:cNvPicPr>
            <p:nvPr/>
          </p:nvPicPr>
          <p:blipFill rotWithShape="1">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rot="16200000">
              <a:off x="2227559" y="4869869"/>
              <a:ext cx="595107" cy="397094"/>
            </a:xfrm>
            <a:prstGeom prst="rect">
              <a:avLst/>
            </a:prstGeom>
          </p:spPr>
        </p:pic>
        <p:cxnSp>
          <p:nvCxnSpPr>
            <p:cNvPr id="64" name="Straight Connector 63"/>
            <p:cNvCxnSpPr/>
            <p:nvPr/>
          </p:nvCxnSpPr>
          <p:spPr>
            <a:xfrm>
              <a:off x="2556201" y="4485849"/>
              <a:ext cx="0" cy="381331"/>
            </a:xfrm>
            <a:prstGeom prst="line">
              <a:avLst/>
            </a:prstGeom>
            <a:ln w="28575">
              <a:solidFill>
                <a:srgbClr val="2F57A1"/>
              </a:solidFill>
              <a:prstDash val="sysDot"/>
            </a:ln>
          </p:spPr>
          <p:style>
            <a:lnRef idx="1">
              <a:schemeClr val="accent1"/>
            </a:lnRef>
            <a:fillRef idx="0">
              <a:schemeClr val="accent1"/>
            </a:fillRef>
            <a:effectRef idx="0">
              <a:schemeClr val="accent1"/>
            </a:effectRef>
            <a:fontRef idx="minor">
              <a:schemeClr val="tx1"/>
            </a:fontRef>
          </p:style>
        </p:cxnSp>
      </p:grpSp>
      <p:sp>
        <p:nvSpPr>
          <p:cNvPr id="66" name="Right Arrow 65"/>
          <p:cNvSpPr/>
          <p:nvPr/>
        </p:nvSpPr>
        <p:spPr>
          <a:xfrm flipH="1">
            <a:off x="8072457" y="3875282"/>
            <a:ext cx="350488" cy="25043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67" name="Picture 66"/>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560541" y="4696832"/>
            <a:ext cx="597590" cy="597590"/>
          </a:xfrm>
          <a:prstGeom prst="rect">
            <a:avLst/>
          </a:prstGeom>
        </p:spPr>
      </p:pic>
      <p:sp>
        <p:nvSpPr>
          <p:cNvPr id="68" name="Right Arrow 67"/>
          <p:cNvSpPr/>
          <p:nvPr/>
        </p:nvSpPr>
        <p:spPr>
          <a:xfrm flipH="1">
            <a:off x="8148664" y="4941916"/>
            <a:ext cx="350488" cy="25043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69" name="Picture 68"/>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474658" y="3629498"/>
            <a:ext cx="683473" cy="683473"/>
          </a:xfrm>
          <a:prstGeom prst="rect">
            <a:avLst/>
          </a:prstGeom>
        </p:spPr>
      </p:pic>
      <p:grpSp>
        <p:nvGrpSpPr>
          <p:cNvPr id="13" name="Group 64"/>
          <p:cNvGrpSpPr/>
          <p:nvPr/>
        </p:nvGrpSpPr>
        <p:grpSpPr>
          <a:xfrm>
            <a:off x="2417126" y="4412913"/>
            <a:ext cx="1401896" cy="836550"/>
            <a:chOff x="-2910660" y="3612743"/>
            <a:chExt cx="1401896" cy="1075395"/>
          </a:xfrm>
        </p:grpSpPr>
        <p:sp>
          <p:nvSpPr>
            <p:cNvPr id="71" name="Freeform 70"/>
            <p:cNvSpPr/>
            <p:nvPr/>
          </p:nvSpPr>
          <p:spPr>
            <a:xfrm>
              <a:off x="-2910660" y="3612743"/>
              <a:ext cx="703488"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57150">
              <a:solidFill>
                <a:srgbClr val="FFC000"/>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p:nvSpPr>
          <p:spPr>
            <a:xfrm flipH="1">
              <a:off x="-2212252" y="3616083"/>
              <a:ext cx="703488"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57150">
              <a:solidFill>
                <a:srgbClr val="FFC000"/>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p:cNvCxnSpPr/>
            <p:nvPr/>
          </p:nvCxnSpPr>
          <p:spPr>
            <a:xfrm>
              <a:off x="-2214704" y="4177335"/>
              <a:ext cx="7532" cy="348945"/>
            </a:xfrm>
            <a:prstGeom prst="line">
              <a:avLst/>
            </a:prstGeom>
            <a:noFill/>
            <a:ln w="57150">
              <a:solidFill>
                <a:srgbClr val="FFC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grpSp>
        <p:nvGrpSpPr>
          <p:cNvPr id="17" name="Group 2"/>
          <p:cNvGrpSpPr/>
          <p:nvPr/>
        </p:nvGrpSpPr>
        <p:grpSpPr>
          <a:xfrm>
            <a:off x="3451471" y="3224290"/>
            <a:ext cx="3170801" cy="744020"/>
            <a:chOff x="7584544" y="935565"/>
            <a:chExt cx="2181814" cy="1072056"/>
          </a:xfrm>
        </p:grpSpPr>
        <p:sp>
          <p:nvSpPr>
            <p:cNvPr id="49" name="Freeform 48"/>
            <p:cNvSpPr/>
            <p:nvPr/>
          </p:nvSpPr>
          <p:spPr>
            <a:xfrm>
              <a:off x="7584544" y="935566"/>
              <a:ext cx="1094793"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76200">
              <a:solidFill>
                <a:srgbClr val="FFC000"/>
              </a:solidFill>
              <a:prstDash val="sysDot"/>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p:cNvSpPr/>
            <p:nvPr/>
          </p:nvSpPr>
          <p:spPr>
            <a:xfrm flipH="1">
              <a:off x="8671565" y="935565"/>
              <a:ext cx="1094793"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76200">
              <a:solidFill>
                <a:srgbClr val="FFC000"/>
              </a:solidFill>
              <a:prstDash val="sysDot"/>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83"/>
          <p:cNvGrpSpPr/>
          <p:nvPr/>
        </p:nvGrpSpPr>
        <p:grpSpPr>
          <a:xfrm>
            <a:off x="4261761" y="4412913"/>
            <a:ext cx="1401896" cy="836550"/>
            <a:chOff x="-2910660" y="3612743"/>
            <a:chExt cx="1401896" cy="1075395"/>
          </a:xfrm>
        </p:grpSpPr>
        <p:sp>
          <p:nvSpPr>
            <p:cNvPr id="85" name="Freeform 84"/>
            <p:cNvSpPr/>
            <p:nvPr/>
          </p:nvSpPr>
          <p:spPr>
            <a:xfrm>
              <a:off x="-2910660" y="3612743"/>
              <a:ext cx="703488"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57150">
              <a:solidFill>
                <a:srgbClr val="FFC000"/>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85"/>
            <p:cNvSpPr/>
            <p:nvPr/>
          </p:nvSpPr>
          <p:spPr>
            <a:xfrm flipH="1">
              <a:off x="-2212252" y="3616083"/>
              <a:ext cx="703488"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57150">
              <a:solidFill>
                <a:srgbClr val="FFC000"/>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2214704" y="4177335"/>
              <a:ext cx="7532" cy="348945"/>
            </a:xfrm>
            <a:prstGeom prst="line">
              <a:avLst/>
            </a:prstGeom>
            <a:noFill/>
            <a:ln w="57150">
              <a:solidFill>
                <a:srgbClr val="FFC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grpSp>
        <p:nvGrpSpPr>
          <p:cNvPr id="19" name="Group 87"/>
          <p:cNvGrpSpPr/>
          <p:nvPr/>
        </p:nvGrpSpPr>
        <p:grpSpPr>
          <a:xfrm>
            <a:off x="6456615" y="4443096"/>
            <a:ext cx="1401896" cy="836550"/>
            <a:chOff x="-2910660" y="3612743"/>
            <a:chExt cx="1401896" cy="1075395"/>
          </a:xfrm>
        </p:grpSpPr>
        <p:sp>
          <p:nvSpPr>
            <p:cNvPr id="89" name="Freeform 88"/>
            <p:cNvSpPr/>
            <p:nvPr/>
          </p:nvSpPr>
          <p:spPr>
            <a:xfrm>
              <a:off x="-2910660" y="3612743"/>
              <a:ext cx="703488"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57150">
              <a:solidFill>
                <a:srgbClr val="FFC000"/>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flipH="1">
              <a:off x="-2212252" y="3616083"/>
              <a:ext cx="703488" cy="1072055"/>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Lst>
              <a:ahLst/>
              <a:cxnLst>
                <a:cxn ang="0">
                  <a:pos x="connsiteX0" y="connsiteY0"/>
                </a:cxn>
                <a:cxn ang="0">
                  <a:pos x="connsiteX1" y="connsiteY1"/>
                </a:cxn>
                <a:cxn ang="0">
                  <a:pos x="connsiteX2" y="connsiteY2"/>
                </a:cxn>
                <a:cxn ang="0">
                  <a:pos x="connsiteX3" y="connsiteY3"/>
                </a:cxn>
              </a:cxnLst>
              <a:rect l="l" t="t" r="r" b="b"/>
              <a:pathLst>
                <a:path w="2589057" h="1072055">
                  <a:moveTo>
                    <a:pt x="28128" y="1072055"/>
                  </a:moveTo>
                  <a:cubicBezTo>
                    <a:pt x="93818" y="741855"/>
                    <a:pt x="-171569" y="674415"/>
                    <a:pt x="217314" y="588580"/>
                  </a:cubicBezTo>
                  <a:cubicBezTo>
                    <a:pt x="606197" y="502745"/>
                    <a:pt x="1988307" y="571062"/>
                    <a:pt x="2361424" y="557048"/>
                  </a:cubicBezTo>
                  <a:cubicBezTo>
                    <a:pt x="2734541" y="543034"/>
                    <a:pt x="2521707" y="217213"/>
                    <a:pt x="2582141" y="0"/>
                  </a:cubicBezTo>
                </a:path>
              </a:pathLst>
            </a:custGeom>
            <a:noFill/>
            <a:ln w="57150">
              <a:solidFill>
                <a:srgbClr val="FFC000"/>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p:cNvCxnSpPr/>
            <p:nvPr/>
          </p:nvCxnSpPr>
          <p:spPr>
            <a:xfrm>
              <a:off x="-2214704" y="4177335"/>
              <a:ext cx="7532" cy="348945"/>
            </a:xfrm>
            <a:prstGeom prst="line">
              <a:avLst/>
            </a:prstGeom>
            <a:noFill/>
            <a:ln w="57150">
              <a:solidFill>
                <a:srgbClr val="FFC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92" name="Freeform 91"/>
          <p:cNvSpPr/>
          <p:nvPr/>
        </p:nvSpPr>
        <p:spPr>
          <a:xfrm flipV="1">
            <a:off x="3533126" y="4174847"/>
            <a:ext cx="3094802" cy="45719"/>
          </a:xfrm>
          <a:custGeom>
            <a:avLst/>
            <a:gdLst>
              <a:gd name="connsiteX0" fmla="*/ 185353 w 2655354"/>
              <a:gd name="connsiteY0" fmla="*/ 1135117 h 1135117"/>
              <a:gd name="connsiteX1" fmla="*/ 216884 w 2655354"/>
              <a:gd name="connsiteY1" fmla="*/ 609600 h 1135117"/>
              <a:gd name="connsiteX2" fmla="*/ 2360994 w 2655354"/>
              <a:gd name="connsiteY2" fmla="*/ 557048 h 1135117"/>
              <a:gd name="connsiteX3" fmla="*/ 2581711 w 2655354"/>
              <a:gd name="connsiteY3" fmla="*/ 0 h 1135117"/>
              <a:gd name="connsiteX0" fmla="*/ 169493 w 2671025"/>
              <a:gd name="connsiteY0" fmla="*/ 1072055 h 1072055"/>
              <a:gd name="connsiteX1" fmla="*/ 232555 w 2671025"/>
              <a:gd name="connsiteY1" fmla="*/ 609600 h 1072055"/>
              <a:gd name="connsiteX2" fmla="*/ 2376665 w 2671025"/>
              <a:gd name="connsiteY2" fmla="*/ 557048 h 1072055"/>
              <a:gd name="connsiteX3" fmla="*/ 2597382 w 2671025"/>
              <a:gd name="connsiteY3" fmla="*/ 0 h 1072055"/>
              <a:gd name="connsiteX0" fmla="*/ 112432 w 2613964"/>
              <a:gd name="connsiteY0" fmla="*/ 1072055 h 1072055"/>
              <a:gd name="connsiteX1" fmla="*/ 175494 w 2613964"/>
              <a:gd name="connsiteY1" fmla="*/ 609600 h 1072055"/>
              <a:gd name="connsiteX2" fmla="*/ 2319604 w 2613964"/>
              <a:gd name="connsiteY2" fmla="*/ 557048 h 1072055"/>
              <a:gd name="connsiteX3" fmla="*/ 2540321 w 2613964"/>
              <a:gd name="connsiteY3" fmla="*/ 0 h 1072055"/>
              <a:gd name="connsiteX0" fmla="*/ 112432 w 2613964"/>
              <a:gd name="connsiteY0" fmla="*/ 1072055 h 1072055"/>
              <a:gd name="connsiteX1" fmla="*/ 175494 w 2613964"/>
              <a:gd name="connsiteY1" fmla="*/ 588580 h 1072055"/>
              <a:gd name="connsiteX2" fmla="*/ 2319604 w 2613964"/>
              <a:gd name="connsiteY2" fmla="*/ 557048 h 1072055"/>
              <a:gd name="connsiteX3" fmla="*/ 2540321 w 2613964"/>
              <a:gd name="connsiteY3" fmla="*/ 0 h 1072055"/>
              <a:gd name="connsiteX0" fmla="*/ 107790 w 2609322"/>
              <a:gd name="connsiteY0" fmla="*/ 1072055 h 1072055"/>
              <a:gd name="connsiteX1" fmla="*/ 170852 w 2609322"/>
              <a:gd name="connsiteY1" fmla="*/ 588580 h 1072055"/>
              <a:gd name="connsiteX2" fmla="*/ 2314962 w 2609322"/>
              <a:gd name="connsiteY2" fmla="*/ 557048 h 1072055"/>
              <a:gd name="connsiteX3" fmla="*/ 2535679 w 2609322"/>
              <a:gd name="connsiteY3" fmla="*/ 0 h 1072055"/>
              <a:gd name="connsiteX0" fmla="*/ 95193 w 2596725"/>
              <a:gd name="connsiteY0" fmla="*/ 1072055 h 1072055"/>
              <a:gd name="connsiteX1" fmla="*/ 158255 w 2596725"/>
              <a:gd name="connsiteY1" fmla="*/ 588580 h 1072055"/>
              <a:gd name="connsiteX2" fmla="*/ 2302365 w 2596725"/>
              <a:gd name="connsiteY2" fmla="*/ 557048 h 1072055"/>
              <a:gd name="connsiteX3" fmla="*/ 2523082 w 2596725"/>
              <a:gd name="connsiteY3" fmla="*/ 0 h 1072055"/>
              <a:gd name="connsiteX0" fmla="*/ 121866 w 2623398"/>
              <a:gd name="connsiteY0" fmla="*/ 1072055 h 1072055"/>
              <a:gd name="connsiteX1" fmla="*/ 184928 w 2623398"/>
              <a:gd name="connsiteY1" fmla="*/ 588580 h 1072055"/>
              <a:gd name="connsiteX2" fmla="*/ 2329038 w 2623398"/>
              <a:gd name="connsiteY2" fmla="*/ 557048 h 1072055"/>
              <a:gd name="connsiteX3" fmla="*/ 2549755 w 2623398"/>
              <a:gd name="connsiteY3" fmla="*/ 0 h 1072055"/>
              <a:gd name="connsiteX0" fmla="*/ 121866 w 2593005"/>
              <a:gd name="connsiteY0" fmla="*/ 1072055 h 1072055"/>
              <a:gd name="connsiteX1" fmla="*/ 184928 w 2593005"/>
              <a:gd name="connsiteY1" fmla="*/ 588580 h 1072055"/>
              <a:gd name="connsiteX2" fmla="*/ 2329038 w 2593005"/>
              <a:gd name="connsiteY2" fmla="*/ 557048 h 1072055"/>
              <a:gd name="connsiteX3" fmla="*/ 2549755 w 2593005"/>
              <a:gd name="connsiteY3" fmla="*/ 0 h 1072055"/>
              <a:gd name="connsiteX0" fmla="*/ 121866 w 2585961"/>
              <a:gd name="connsiteY0" fmla="*/ 1072055 h 1072055"/>
              <a:gd name="connsiteX1" fmla="*/ 184928 w 2585961"/>
              <a:gd name="connsiteY1" fmla="*/ 588580 h 1072055"/>
              <a:gd name="connsiteX2" fmla="*/ 2329038 w 2585961"/>
              <a:gd name="connsiteY2" fmla="*/ 557048 h 1072055"/>
              <a:gd name="connsiteX3" fmla="*/ 2549755 w 2585961"/>
              <a:gd name="connsiteY3" fmla="*/ 0 h 1072055"/>
              <a:gd name="connsiteX0" fmla="*/ 62153 w 2652372"/>
              <a:gd name="connsiteY0" fmla="*/ 1072055 h 1072055"/>
              <a:gd name="connsiteX1" fmla="*/ 251339 w 2652372"/>
              <a:gd name="connsiteY1" fmla="*/ 588580 h 1072055"/>
              <a:gd name="connsiteX2" fmla="*/ 2395449 w 2652372"/>
              <a:gd name="connsiteY2" fmla="*/ 557048 h 1072055"/>
              <a:gd name="connsiteX3" fmla="*/ 2616166 w 2652372"/>
              <a:gd name="connsiteY3" fmla="*/ 0 h 1072055"/>
              <a:gd name="connsiteX0" fmla="*/ 28128 w 2618347"/>
              <a:gd name="connsiteY0" fmla="*/ 1072055 h 1072055"/>
              <a:gd name="connsiteX1" fmla="*/ 217314 w 2618347"/>
              <a:gd name="connsiteY1" fmla="*/ 588580 h 1072055"/>
              <a:gd name="connsiteX2" fmla="*/ 2361424 w 2618347"/>
              <a:gd name="connsiteY2" fmla="*/ 557048 h 1072055"/>
              <a:gd name="connsiteX3" fmla="*/ 2582141 w 2618347"/>
              <a:gd name="connsiteY3" fmla="*/ 0 h 1072055"/>
              <a:gd name="connsiteX0" fmla="*/ 28128 w 2582141"/>
              <a:gd name="connsiteY0" fmla="*/ 1072055 h 1072055"/>
              <a:gd name="connsiteX1" fmla="*/ 217314 w 2582141"/>
              <a:gd name="connsiteY1" fmla="*/ 588580 h 1072055"/>
              <a:gd name="connsiteX2" fmla="*/ 2361424 w 2582141"/>
              <a:gd name="connsiteY2" fmla="*/ 557048 h 1072055"/>
              <a:gd name="connsiteX3" fmla="*/ 2582141 w 2582141"/>
              <a:gd name="connsiteY3" fmla="*/ 0 h 1072055"/>
              <a:gd name="connsiteX0" fmla="*/ 28128 w 2589057"/>
              <a:gd name="connsiteY0" fmla="*/ 1072055 h 1072055"/>
              <a:gd name="connsiteX1" fmla="*/ 217314 w 2589057"/>
              <a:gd name="connsiteY1" fmla="*/ 588580 h 1072055"/>
              <a:gd name="connsiteX2" fmla="*/ 2361424 w 2589057"/>
              <a:gd name="connsiteY2" fmla="*/ 557048 h 1072055"/>
              <a:gd name="connsiteX3" fmla="*/ 2582141 w 2589057"/>
              <a:gd name="connsiteY3" fmla="*/ 0 h 1072055"/>
              <a:gd name="connsiteX0" fmla="*/ 28128 w 2589057"/>
              <a:gd name="connsiteY0" fmla="*/ 1072055 h 1072055"/>
              <a:gd name="connsiteX1" fmla="*/ 217313 w 2589057"/>
              <a:gd name="connsiteY1" fmla="*/ 588581 h 1072055"/>
              <a:gd name="connsiteX2" fmla="*/ 2361424 w 2589057"/>
              <a:gd name="connsiteY2" fmla="*/ 557048 h 1072055"/>
              <a:gd name="connsiteX3" fmla="*/ 2582141 w 2589057"/>
              <a:gd name="connsiteY3" fmla="*/ 0 h 1072055"/>
              <a:gd name="connsiteX0" fmla="*/ 0 w 2560929"/>
              <a:gd name="connsiteY0" fmla="*/ 1072055 h 1072055"/>
              <a:gd name="connsiteX1" fmla="*/ 2333296 w 2560929"/>
              <a:gd name="connsiteY1" fmla="*/ 557048 h 1072055"/>
              <a:gd name="connsiteX2" fmla="*/ 2554013 w 2560929"/>
              <a:gd name="connsiteY2" fmla="*/ 0 h 1072055"/>
              <a:gd name="connsiteX0" fmla="*/ 0 w 2554013"/>
              <a:gd name="connsiteY0" fmla="*/ 1072055 h 1072055"/>
              <a:gd name="connsiteX1" fmla="*/ 2554013 w 2554013"/>
              <a:gd name="connsiteY1" fmla="*/ 0 h 1072055"/>
              <a:gd name="connsiteX0" fmla="*/ 0 w 1769683"/>
              <a:gd name="connsiteY0" fmla="*/ 45747 h 45747"/>
              <a:gd name="connsiteX1" fmla="*/ 1769683 w 1769683"/>
              <a:gd name="connsiteY1" fmla="*/ 0 h 45747"/>
              <a:gd name="connsiteX0" fmla="*/ 0 w 1769683"/>
              <a:gd name="connsiteY0" fmla="*/ 18008 h 18008"/>
              <a:gd name="connsiteX1" fmla="*/ 1769683 w 1769683"/>
              <a:gd name="connsiteY1" fmla="*/ 0 h 18008"/>
            </a:gdLst>
            <a:ahLst/>
            <a:cxnLst>
              <a:cxn ang="0">
                <a:pos x="connsiteX0" y="connsiteY0"/>
              </a:cxn>
              <a:cxn ang="0">
                <a:pos x="connsiteX1" y="connsiteY1"/>
              </a:cxn>
            </a:cxnLst>
            <a:rect l="l" t="t" r="r" b="b"/>
            <a:pathLst>
              <a:path w="1769683" h="18008">
                <a:moveTo>
                  <a:pt x="0" y="18008"/>
                </a:moveTo>
                <a:lnTo>
                  <a:pt x="1769683" y="0"/>
                </a:lnTo>
              </a:path>
            </a:pathLst>
          </a:custGeom>
          <a:noFill/>
          <a:ln w="76200">
            <a:solidFill>
              <a:srgbClr val="FFC000"/>
            </a:solidFill>
            <a:prstDash val="sysDot"/>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7480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2"/>
          </p:nvPr>
        </p:nvSpPr>
        <p:spPr/>
        <p:txBody>
          <a:bodyPr/>
          <a:lstStyle/>
          <a:p>
            <a:fld id="{9259AF2F-52C6-9B46-B8B2-0579234AE62E}" type="slidenum">
              <a:rPr lang="en-US" smtClean="0"/>
              <a:pPr/>
              <a:t>29</a:t>
            </a:fld>
            <a:endParaRPr lang="en-US"/>
          </a:p>
        </p:txBody>
      </p:sp>
      <p:pic>
        <p:nvPicPr>
          <p:cNvPr id="1026" name="Picture 2" descr="http://www.didatticarte.it/public/tangram_planisfero.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48019" y="759853"/>
            <a:ext cx="7402689" cy="5223009"/>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a:solidFill>
                  <a:srgbClr val="007AC2"/>
                </a:solidFill>
                <a:latin typeface="+mj-lt"/>
                <a:ea typeface="+mj-ea"/>
                <a:cs typeface="Avenir LT Std 85 Heavy"/>
              </a:rPr>
              <a:t>AN OPERATIONAL PROTOTYPE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212501"/>
            <a:ext cx="9169758" cy="5731099"/>
          </a:xfrm>
          <a:prstGeom prst="rect">
            <a:avLst/>
          </a:prstGeom>
          <a:noFill/>
          <a:ln w="9525">
            <a:noFill/>
            <a:miter lim="800000"/>
            <a:headEnd/>
            <a:tailEnd/>
          </a:ln>
        </p:spPr>
      </p:pic>
      <p:sp>
        <p:nvSpPr>
          <p:cNvPr id="5" name="Rettangolo 4"/>
          <p:cNvSpPr/>
          <p:nvPr/>
        </p:nvSpPr>
        <p:spPr>
          <a:xfrm>
            <a:off x="2964316" y="6175420"/>
            <a:ext cx="4378571" cy="461665"/>
          </a:xfrm>
          <a:prstGeom prst="rect">
            <a:avLst/>
          </a:prstGeom>
        </p:spPr>
        <p:txBody>
          <a:bodyPr wrap="none">
            <a:spAutoFit/>
          </a:bodyPr>
          <a:lstStyle/>
          <a:p>
            <a:r>
              <a:rPr lang="it-IT" sz="2400" b="1" dirty="0">
                <a:solidFill>
                  <a:schemeClr val="tx2"/>
                </a:solidFill>
              </a:rPr>
              <a:t>http://hydrolite.ddns.net/whos/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60609"/>
            <a:ext cx="9100970" cy="5688106"/>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412125"/>
            <a:ext cx="9169759" cy="5731099"/>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152" y="489397"/>
            <a:ext cx="9149152" cy="571822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296214"/>
            <a:ext cx="9144000" cy="57150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826"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1"/>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5874"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r="1446"/>
          <a:stretch>
            <a:fillRect/>
          </a:stretch>
        </p:blipFill>
        <p:spPr bwMode="auto">
          <a:xfrm>
            <a:off x="51543" y="0"/>
            <a:ext cx="9011775" cy="6858000"/>
          </a:xfrm>
          <a:prstGeom prst="rect">
            <a:avLst/>
          </a:prstGeom>
          <a:noFill/>
          <a:ln w="9525">
            <a:noFill/>
            <a:miter lim="800000"/>
            <a:headEnd/>
            <a:tailEnd/>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05128" y="0"/>
            <a:ext cx="4875384" cy="6309320"/>
          </a:xfrm>
          <a:prstGeom prst="rect">
            <a:avLst/>
          </a:prstGeom>
        </p:spPr>
      </p:pic>
      <p:sp>
        <p:nvSpPr>
          <p:cNvPr id="8" name="Title 1"/>
          <p:cNvSpPr>
            <a:spLocks noGrp="1"/>
          </p:cNvSpPr>
          <p:nvPr>
            <p:ph type="title"/>
          </p:nvPr>
        </p:nvSpPr>
        <p:spPr>
          <a:xfrm>
            <a:off x="179512" y="2708920"/>
            <a:ext cx="3923928" cy="792162"/>
          </a:xfrm>
        </p:spPr>
        <p:txBody>
          <a:bodyPr>
            <a:normAutofit fontScale="90000"/>
          </a:bodyPr>
          <a:lstStyle/>
          <a:p>
            <a:r>
              <a:rPr lang="en-US" sz="3000" b="1" dirty="0"/>
              <a:t>WIGOS Metadata Standard</a:t>
            </a:r>
            <a:br>
              <a:rPr lang="en-US" dirty="0"/>
            </a:br>
            <a:r>
              <a:rPr lang="en-US" dirty="0"/>
              <a:t>- </a:t>
            </a:r>
            <a:r>
              <a:rPr lang="en-US" sz="3000" dirty="0"/>
              <a:t>Approved at Cg-17 June 2015</a:t>
            </a:r>
          </a:p>
        </p:txBody>
      </p:sp>
      <p:sp>
        <p:nvSpPr>
          <p:cNvPr id="9" name="TextBox 4"/>
          <p:cNvSpPr txBox="1"/>
          <p:nvPr/>
        </p:nvSpPr>
        <p:spPr>
          <a:xfrm>
            <a:off x="0" y="4797152"/>
            <a:ext cx="4294465" cy="692497"/>
          </a:xfrm>
          <a:prstGeom prst="rect">
            <a:avLst/>
          </a:prstGeom>
          <a:noFill/>
        </p:spPr>
        <p:txBody>
          <a:bodyPr wrap="square" rtlCol="0">
            <a:spAutoFit/>
          </a:bodyPr>
          <a:lstStyle/>
          <a:p>
            <a:r>
              <a:rPr lang="en-US" sz="1300" dirty="0"/>
              <a:t>Source:     </a:t>
            </a:r>
            <a:r>
              <a:rPr lang="en-US" sz="1300" dirty="0">
                <a:hlinkClick r:id="rId4"/>
              </a:rPr>
              <a:t>https://</a:t>
            </a:r>
            <a:r>
              <a:rPr lang="en-US" sz="1300" dirty="0" err="1">
                <a:hlinkClick r:id="rId4"/>
              </a:rPr>
              <a:t>www.wmo.int</a:t>
            </a:r>
            <a:r>
              <a:rPr lang="en-US" sz="1300" dirty="0">
                <a:hlinkClick r:id="rId4"/>
              </a:rPr>
              <a:t>/pages/</a:t>
            </a:r>
            <a:r>
              <a:rPr lang="en-US" sz="1300" dirty="0" err="1">
                <a:hlinkClick r:id="rId4"/>
              </a:rPr>
              <a:t>prog</a:t>
            </a:r>
            <a:r>
              <a:rPr lang="en-US" sz="1300" dirty="0">
                <a:hlinkClick r:id="rId4"/>
              </a:rPr>
              <a:t>/www/</a:t>
            </a:r>
            <a:r>
              <a:rPr lang="en-US" sz="1300" dirty="0" err="1">
                <a:hlinkClick r:id="rId4"/>
              </a:rPr>
              <a:t>wigos</a:t>
            </a:r>
            <a:r>
              <a:rPr lang="en-US" sz="1300" dirty="0">
                <a:hlinkClick r:id="rId4"/>
              </a:rPr>
              <a:t>/documents/Cg-17/</a:t>
            </a:r>
            <a:r>
              <a:rPr lang="en-US" sz="1300" dirty="0" err="1">
                <a:hlinkClick r:id="rId4"/>
              </a:rPr>
              <a:t>WIGOS_Metadata.pdf</a:t>
            </a:r>
            <a:endParaRPr lang="en-US" sz="1300" dirty="0"/>
          </a:p>
        </p:txBody>
      </p:sp>
    </p:spTree>
    <p:extLst>
      <p:ext uri="{BB962C8B-B14F-4D97-AF65-F5344CB8AC3E}">
        <p14:creationId xmlns:p14="http://schemas.microsoft.com/office/powerpoint/2010/main" val="174103594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srcRect/>
          <a:stretch>
            <a:fillRect/>
          </a:stretch>
        </p:blipFill>
        <p:spPr bwMode="auto">
          <a:xfrm>
            <a:off x="0" y="2468"/>
            <a:ext cx="8048625" cy="3609975"/>
          </a:xfrm>
          <a:prstGeom prst="rect">
            <a:avLst/>
          </a:prstGeom>
          <a:noFill/>
          <a:ln w="9525">
            <a:noFill/>
            <a:miter lim="800000"/>
            <a:headEnd/>
            <a:tailEnd/>
          </a:ln>
        </p:spPr>
      </p:pic>
      <p:pic>
        <p:nvPicPr>
          <p:cNvPr id="1026"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 y="3308718"/>
            <a:ext cx="5576552" cy="3549282"/>
          </a:xfrm>
          <a:prstGeom prst="rect">
            <a:avLst/>
          </a:prstGeom>
          <a:noFill/>
          <a:ln w="9525">
            <a:noFill/>
            <a:miter lim="800000"/>
            <a:headEnd/>
            <a:tailEnd/>
          </a:ln>
        </p:spPr>
      </p:pic>
      <p:pic>
        <p:nvPicPr>
          <p:cNvPr id="1027"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487450" y="1511368"/>
            <a:ext cx="4656550" cy="2725907"/>
          </a:xfrm>
          <a:prstGeom prst="rect">
            <a:avLst/>
          </a:prstGeom>
          <a:noFill/>
          <a:ln w="9525">
            <a:noFill/>
            <a:miter lim="800000"/>
            <a:headEnd/>
            <a:tailEnd/>
          </a:ln>
        </p:spPr>
      </p:pic>
      <p:pic>
        <p:nvPicPr>
          <p:cNvPr id="1029" name="Picture 5"/>
          <p:cNvPicPr>
            <a:picLocks noChangeAspect="1" noChangeArrowheads="1"/>
          </p:cNvPicPr>
          <p:nvPr/>
        </p:nvPicPr>
        <p:blipFill>
          <a:blip r:embed="rId5"/>
          <a:srcRect/>
          <a:stretch>
            <a:fillRect/>
          </a:stretch>
        </p:blipFill>
        <p:spPr bwMode="auto">
          <a:xfrm>
            <a:off x="5081856" y="5133988"/>
            <a:ext cx="3590925" cy="122872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asellaDiTesto 13"/>
          <p:cNvSpPr txBox="1"/>
          <p:nvPr/>
        </p:nvSpPr>
        <p:spPr>
          <a:xfrm>
            <a:off x="457200" y="1663700"/>
            <a:ext cx="8407400" cy="4394200"/>
          </a:xfrm>
          <a:prstGeom prst="rect">
            <a:avLst/>
          </a:prstGeom>
          <a:noFill/>
          <a:effectLst/>
        </p:spPr>
        <p:txBody>
          <a:bodyPr wrap="square" lIns="0" tIns="0" rIns="0" bIns="0" rtlCol="0">
            <a:noAutofit/>
          </a:bodyPr>
          <a:lstStyle/>
          <a:p>
            <a:pPr algn="l" eaLnBrk="0" hangingPunct="0">
              <a:lnSpc>
                <a:spcPts val="1800"/>
              </a:lnSpc>
            </a:pPr>
            <a:endParaRPr lang="en-US" sz="1400" b="1" dirty="0">
              <a:ea typeface="+mn-ea"/>
              <a:cs typeface="+mn-cs"/>
            </a:endParaRPr>
          </a:p>
        </p:txBody>
      </p:sp>
      <p:sp>
        <p:nvSpPr>
          <p:cNvPr id="3" name="Title 1"/>
          <p:cNvSpPr>
            <a:spLocks noGrp="1"/>
          </p:cNvSpPr>
          <p:nvPr>
            <p:ph type="title" idx="4294967295"/>
          </p:nvPr>
        </p:nvSpPr>
        <p:spPr>
          <a:xfrm>
            <a:off x="0" y="89231"/>
            <a:ext cx="9144000" cy="485775"/>
          </a:xfrm>
        </p:spPr>
        <p:txBody>
          <a:bodyPr>
            <a:normAutofit/>
          </a:bodyPr>
          <a:lstStyle/>
          <a:p>
            <a:pPr lvl="0" algn="ctr">
              <a:defRPr/>
            </a:pPr>
            <a:r>
              <a:rPr lang="en-US" sz="2400" dirty="0">
                <a:solidFill>
                  <a:srgbClr val="0000FF"/>
                </a:solidFill>
                <a:effectLst>
                  <a:outerShdw blurRad="38100" dist="25400" dir="2700000" algn="tl" rotWithShape="0">
                    <a:srgbClr val="000000">
                      <a:alpha val="60000"/>
                    </a:srgbClr>
                  </a:outerShdw>
                </a:effectLst>
                <a:latin typeface="Arial" charset="0"/>
                <a:ea typeface="+mn-ea"/>
                <a:cs typeface="+mn-cs"/>
              </a:rPr>
              <a:t>STANDARDIZED DATA EXCHANGE IN HYDROLOGY</a:t>
            </a:r>
            <a:endParaRPr lang="en-US" sz="2400" dirty="0"/>
          </a:p>
        </p:txBody>
      </p:sp>
      <p:pic>
        <p:nvPicPr>
          <p:cNvPr id="8" name="Immagine 7" descr="earth.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30763" y="2211283"/>
            <a:ext cx="3153729" cy="3039953"/>
          </a:xfrm>
          <a:prstGeom prst="rect">
            <a:avLst/>
          </a:prstGeom>
        </p:spPr>
      </p:pic>
      <p:pic>
        <p:nvPicPr>
          <p:cNvPr id="6" name="Immagine 5" descr="Niger4Map.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43760" y="4398498"/>
            <a:ext cx="2857522" cy="2194560"/>
          </a:xfrm>
          <a:prstGeom prst="rect">
            <a:avLst/>
          </a:prstGeom>
        </p:spPr>
      </p:pic>
      <p:pic>
        <p:nvPicPr>
          <p:cNvPr id="4"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984492" y="2585720"/>
            <a:ext cx="3111500" cy="2333625"/>
          </a:xfrm>
          <a:prstGeom prst="rect">
            <a:avLst/>
          </a:prstGeom>
          <a:noFill/>
          <a:ln w="9525">
            <a:noFill/>
            <a:miter lim="800000"/>
            <a:headEnd/>
            <a:tailEnd/>
          </a:ln>
          <a:effectLst/>
        </p:spPr>
      </p:pic>
      <p:pic>
        <p:nvPicPr>
          <p:cNvPr id="5" name="Immagine 4" descr="China4Map.jpg"/>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591319" y="566420"/>
            <a:ext cx="2857522" cy="2194560"/>
          </a:xfrm>
          <a:prstGeom prst="rect">
            <a:avLst/>
          </a:prstGeom>
        </p:spPr>
      </p:pic>
      <p:pic>
        <p:nvPicPr>
          <p:cNvPr id="7" name="Immagine 6" descr="NZ4Map.jpg"/>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5743719" y="4398498"/>
            <a:ext cx="2857522" cy="2194560"/>
          </a:xfrm>
          <a:prstGeom prst="rect">
            <a:avLst/>
          </a:prstGeom>
        </p:spPr>
      </p:pic>
      <p:pic>
        <p:nvPicPr>
          <p:cNvPr id="9" name="Immagine 8" descr="Sadc4Map.jpg"/>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2886197" y="4663440"/>
            <a:ext cx="2857522" cy="2194560"/>
          </a:xfrm>
          <a:prstGeom prst="rect">
            <a:avLst/>
          </a:prstGeom>
        </p:spPr>
      </p:pic>
      <p:pic>
        <p:nvPicPr>
          <p:cNvPr id="10" name="Immagine 9" descr="05_RAIV_Obs_Map.jpg"/>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457200" y="934720"/>
            <a:ext cx="2857522" cy="2194560"/>
          </a:xfrm>
          <a:prstGeom prst="rect">
            <a:avLst/>
          </a:prstGeom>
        </p:spPr>
      </p:pic>
      <p:pic>
        <p:nvPicPr>
          <p:cNvPr id="11" name="Immagine 10" descr="Arctic4Map.jpg"/>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2830763" y="566420"/>
            <a:ext cx="2857522" cy="2194560"/>
          </a:xfrm>
          <a:prstGeom prst="rect">
            <a:avLst/>
          </a:prstGeom>
        </p:spPr>
      </p:pic>
      <p:pic>
        <p:nvPicPr>
          <p:cNvPr id="12" name="Picture 1"/>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43760" y="2643188"/>
            <a:ext cx="2687003" cy="2020252"/>
          </a:xfrm>
          <a:prstGeom prst="rect">
            <a:avLst/>
          </a:prstGeom>
          <a:noFill/>
          <a:ln w="9525">
            <a:noFill/>
            <a:miter lim="800000"/>
            <a:headEnd/>
            <a:tailEnd/>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ou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out)">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ou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amond(out)">
                                      <p:cBhvr>
                                        <p:cTn id="22" dur="2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ou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32"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amond(out)">
                                      <p:cBhvr>
                                        <p:cTn id="32" dur="20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ox(ou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32"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diamond(out)">
                                      <p:cBhvr>
                                        <p:cTn id="4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noAutofit/>
          </a:bodyPr>
          <a:lstStyle/>
          <a:p>
            <a:pPr algn="ctr"/>
            <a:r>
              <a:rPr lang="it-IT" sz="2800" b="1" dirty="0">
                <a:solidFill>
                  <a:srgbClr val="007AC2"/>
                </a:solidFill>
                <a:cs typeface="Avenir LT Std 85 Heavy"/>
              </a:rPr>
              <a:t>WHOS PLATA</a:t>
            </a:r>
            <a:endParaRPr lang="en-US" sz="2800" b="1" dirty="0">
              <a:solidFill>
                <a:srgbClr val="007AC2"/>
              </a:solidFill>
              <a:cs typeface="Avenir LT Std 85 Heavy"/>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572000" y="1556792"/>
            <a:ext cx="1656184" cy="1035115"/>
          </a:xfrm>
          <a:prstGeom prst="rect">
            <a:avLst/>
          </a:prstGeom>
          <a:noFill/>
          <a:ln w="9525">
            <a:noFill/>
            <a:miter lim="800000"/>
            <a:headEnd/>
            <a:tailEnd/>
          </a:ln>
          <a:scene3d>
            <a:camera prst="isometricRightUp"/>
            <a:lightRig rig="threePt" dir="t"/>
          </a:scene3d>
        </p:spPr>
      </p:pic>
      <p:grpSp>
        <p:nvGrpSpPr>
          <p:cNvPr id="3" name="Gruppo 82"/>
          <p:cNvGrpSpPr/>
          <p:nvPr/>
        </p:nvGrpSpPr>
        <p:grpSpPr>
          <a:xfrm>
            <a:off x="555626" y="836712"/>
            <a:ext cx="4952478" cy="5206437"/>
            <a:chOff x="555626" y="534524"/>
            <a:chExt cx="4952478" cy="5508625"/>
          </a:xfrm>
        </p:grpSpPr>
        <p:sp>
          <p:nvSpPr>
            <p:cNvPr id="153" name="Fumetto 1 152"/>
            <p:cNvSpPr/>
            <p:nvPr/>
          </p:nvSpPr>
          <p:spPr bwMode="auto">
            <a:xfrm>
              <a:off x="611560" y="3068960"/>
              <a:ext cx="4896544" cy="2974189"/>
            </a:xfrm>
            <a:prstGeom prst="wedgeRectCallout">
              <a:avLst>
                <a:gd name="adj1" fmla="val 47171"/>
                <a:gd name="adj2" fmla="val 31749"/>
              </a:avLst>
            </a:prstGeom>
            <a:solidFill>
              <a:schemeClr val="accent5">
                <a:lumMod val="90000"/>
              </a:schemeClr>
            </a:solidFill>
            <a:ln>
              <a:noFill/>
            </a:ln>
            <a:effectLst/>
            <a:scene3d>
              <a:camera prst="perspectiveHeroicExtremeRightFacing"/>
              <a:lightRig rig="threePt" dir="t"/>
            </a:scene3d>
            <a:extLst>
              <a:ext uri="{909E8E84-426E-40dd-AFC4-6F175D3DCCD1}"/>
              <a:ext uri="{91240B29-F687-4f45-9708-019B960494DF}"/>
              <a:ext uri="{AF507438-7753-43e0-B8FC-AC1667EBCBE1}"/>
            </a:extLst>
          </p:spPr>
          <p:txBody>
            <a:bodyPr anchor="ctr"/>
            <a:lstStyle/>
            <a:p>
              <a:pPr algn="ctr" fontAlgn="base">
                <a:spcBef>
                  <a:spcPct val="0"/>
                </a:spcBef>
                <a:spcAft>
                  <a:spcPct val="0"/>
                </a:spcAft>
                <a:defRPr/>
              </a:pPr>
              <a:endParaRPr lang="en-US" sz="2000" b="1" u="sng" dirty="0">
                <a:solidFill>
                  <a:srgbClr val="000000"/>
                </a:solidFill>
                <a:latin typeface="Tahoma" panose="020B0604030504040204" pitchFamily="34" charset="0"/>
                <a:ea typeface="MS PGothic" panose="020B0600070205080204" pitchFamily="34" charset="-128"/>
              </a:endParaRPr>
            </a:p>
          </p:txBody>
        </p:sp>
        <p:sp>
          <p:nvSpPr>
            <p:cNvPr id="35" name="Fumetto 1 34"/>
            <p:cNvSpPr/>
            <p:nvPr/>
          </p:nvSpPr>
          <p:spPr bwMode="auto">
            <a:xfrm>
              <a:off x="555626" y="534524"/>
              <a:ext cx="4495799" cy="2925228"/>
            </a:xfrm>
            <a:prstGeom prst="wedgeRectCallout">
              <a:avLst>
                <a:gd name="adj1" fmla="val 86264"/>
                <a:gd name="adj2" fmla="val 53730"/>
              </a:avLst>
            </a:prstGeom>
            <a:solidFill>
              <a:schemeClr val="accent5">
                <a:lumMod val="90000"/>
              </a:schemeClr>
            </a:solidFill>
            <a:ln>
              <a:noFill/>
            </a:ln>
            <a:effectLst/>
            <a:scene3d>
              <a:camera prst="perspectiveHeroicExtremeRightFacing"/>
              <a:lightRig rig="threePt" dir="t"/>
            </a:scene3d>
            <a:extLst>
              <a:ext uri="{909E8E84-426E-40dd-AFC4-6F175D3DCCD1}"/>
              <a:ext uri="{91240B29-F687-4f45-9708-019B960494DF}"/>
              <a:ext uri="{AF507438-7753-43e0-B8FC-AC1667EBCBE1}"/>
            </a:extLst>
          </p:spPr>
          <p:txBody>
            <a:bodyPr anchor="ctr"/>
            <a:lstStyle/>
            <a:p>
              <a:pPr algn="ctr" fontAlgn="base">
                <a:spcBef>
                  <a:spcPct val="0"/>
                </a:spcBef>
                <a:spcAft>
                  <a:spcPct val="0"/>
                </a:spcAft>
                <a:defRPr/>
              </a:pPr>
              <a:endParaRPr lang="en-US" sz="2000" b="1" u="sng">
                <a:solidFill>
                  <a:srgbClr val="000000"/>
                </a:solidFill>
                <a:latin typeface="Tahoma" panose="020B0604030504040204" pitchFamily="34" charset="0"/>
                <a:ea typeface="MS PGothic" panose="020B0600070205080204" pitchFamily="34" charset="-128"/>
              </a:endParaRPr>
            </a:p>
          </p:txBody>
        </p:sp>
      </p:grpSp>
      <p:sp>
        <p:nvSpPr>
          <p:cNvPr id="11280" name="TextBox 89"/>
          <p:cNvSpPr txBox="1">
            <a:spLocks noChangeArrowheads="1"/>
          </p:cNvSpPr>
          <p:nvPr/>
        </p:nvSpPr>
        <p:spPr bwMode="auto">
          <a:xfrm rot="21179596">
            <a:off x="811939" y="5592941"/>
            <a:ext cx="4498347" cy="276999"/>
          </a:xfrm>
          <a:prstGeom prst="rect">
            <a:avLst/>
          </a:prstGeom>
          <a:noFill/>
          <a:ln>
            <a:noFill/>
          </a:ln>
          <a:scene3d>
            <a:camera prst="perspectiveHeroicExtremeRigh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a:spcBef>
                <a:spcPct val="0"/>
              </a:spcBef>
              <a:buNone/>
              <a:defRPr/>
            </a:pPr>
            <a:r>
              <a:rPr kumimoji="0" lang="fr-CH" altLang="ja-JP" sz="1200" b="1" dirty="0" err="1">
                <a:solidFill>
                  <a:srgbClr val="C00000"/>
                </a:solidFill>
              </a:rPr>
              <a:t>Brokered</a:t>
            </a:r>
            <a:r>
              <a:rPr kumimoji="0" lang="fr-CH" altLang="ja-JP" sz="1200" b="1" dirty="0">
                <a:solidFill>
                  <a:srgbClr val="C00000"/>
                </a:solidFill>
              </a:rPr>
              <a:t> Data Providers </a:t>
            </a:r>
            <a:r>
              <a:rPr kumimoji="0" lang="fr-CH" altLang="ja-JP" sz="1200" dirty="0">
                <a:solidFill>
                  <a:srgbClr val="C00000"/>
                </a:solidFill>
              </a:rPr>
              <a:t>(</a:t>
            </a:r>
            <a:r>
              <a:rPr kumimoji="0" lang="fr-CH" altLang="ja-JP" sz="1200" dirty="0" err="1">
                <a:solidFill>
                  <a:srgbClr val="C00000"/>
                </a:solidFill>
              </a:rPr>
              <a:t>capacities</a:t>
            </a:r>
            <a:r>
              <a:rPr kumimoji="0" lang="fr-CH" altLang="ja-JP" sz="1200" dirty="0">
                <a:solidFill>
                  <a:srgbClr val="C00000"/>
                </a:solidFill>
              </a:rPr>
              <a:t>, </a:t>
            </a:r>
            <a:r>
              <a:rPr kumimoji="0" lang="fr-CH" altLang="ja-JP" sz="1200" dirty="0" err="1">
                <a:solidFill>
                  <a:srgbClr val="C00000"/>
                </a:solidFill>
              </a:rPr>
              <a:t>systems</a:t>
            </a:r>
            <a:r>
              <a:rPr kumimoji="0" lang="fr-CH" altLang="ja-JP" sz="1200" dirty="0">
                <a:solidFill>
                  <a:srgbClr val="C00000"/>
                </a:solidFill>
              </a:rPr>
              <a:t>, networks, etc.)</a:t>
            </a:r>
            <a:endParaRPr kumimoji="0" lang="en-US" altLang="ja-JP" sz="1200" dirty="0">
              <a:solidFill>
                <a:srgbClr val="C00000"/>
              </a:solidFill>
            </a:endParaRPr>
          </a:p>
        </p:txBody>
      </p:sp>
      <p:sp>
        <p:nvSpPr>
          <p:cNvPr id="11297" name="CasellaDiTesto 153"/>
          <p:cNvSpPr txBox="1">
            <a:spLocks noChangeArrowheads="1"/>
          </p:cNvSpPr>
          <p:nvPr/>
        </p:nvSpPr>
        <p:spPr bwMode="auto">
          <a:xfrm>
            <a:off x="2526344" y="5239215"/>
            <a:ext cx="511679" cy="523220"/>
          </a:xfrm>
          <a:prstGeom prst="rect">
            <a:avLst/>
          </a:prstGeom>
          <a:noFill/>
          <a:ln>
            <a:noFill/>
          </a:ln>
          <a:scene3d>
            <a:camera prst="perspectiveHeroicExtremeRigh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a:t>
            </a:r>
          </a:p>
        </p:txBody>
      </p:sp>
      <p:grpSp>
        <p:nvGrpSpPr>
          <p:cNvPr id="4" name="Gruppo 1"/>
          <p:cNvGrpSpPr/>
          <p:nvPr/>
        </p:nvGrpSpPr>
        <p:grpSpPr>
          <a:xfrm>
            <a:off x="4572000" y="4556125"/>
            <a:ext cx="3859213" cy="2053412"/>
            <a:chOff x="5175250" y="4556125"/>
            <a:chExt cx="3859213" cy="2053412"/>
          </a:xfrm>
          <a:scene3d>
            <a:camera prst="perspectiveHeroicExtremeLeftFacing"/>
            <a:lightRig rig="threePt" dir="t"/>
          </a:scene3d>
        </p:grpSpPr>
        <p:grpSp>
          <p:nvGrpSpPr>
            <p:cNvPr id="8" name="Gruppo 3"/>
            <p:cNvGrpSpPr/>
            <p:nvPr/>
          </p:nvGrpSpPr>
          <p:grpSpPr>
            <a:xfrm>
              <a:off x="5175250" y="4556125"/>
              <a:ext cx="3859213" cy="2053412"/>
              <a:chOff x="5175250" y="4556125"/>
              <a:chExt cx="3859213" cy="2053412"/>
            </a:xfrm>
          </p:grpSpPr>
          <p:sp>
            <p:nvSpPr>
              <p:cNvPr id="11267" name="Fumetto 1 151"/>
              <p:cNvSpPr>
                <a:spLocks noChangeArrowheads="1"/>
              </p:cNvSpPr>
              <p:nvPr/>
            </p:nvSpPr>
            <p:spPr bwMode="auto">
              <a:xfrm>
                <a:off x="5175250" y="4556125"/>
                <a:ext cx="3859213" cy="2038350"/>
              </a:xfrm>
              <a:prstGeom prst="wedgeRectCallout">
                <a:avLst>
                  <a:gd name="adj1" fmla="val -19398"/>
                  <a:gd name="adj2" fmla="val -87269"/>
                </a:avLst>
              </a:prstGeom>
              <a:solidFill>
                <a:srgbClr val="FFC000">
                  <a:alpha val="2196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endParaRPr kumimoji="0" lang="en-US" sz="2000" b="1" u="sng">
                  <a:solidFill>
                    <a:srgbClr val="000000"/>
                  </a:solidFill>
                  <a:latin typeface="Tahoma" panose="020B0604030504040204" pitchFamily="34" charset="0"/>
                </a:endParaRPr>
              </a:p>
            </p:txBody>
          </p:sp>
          <p:sp>
            <p:nvSpPr>
              <p:cNvPr id="11278" name="TextBox 89"/>
              <p:cNvSpPr txBox="1">
                <a:spLocks noChangeArrowheads="1"/>
              </p:cNvSpPr>
              <p:nvPr/>
            </p:nvSpPr>
            <p:spPr bwMode="auto">
              <a:xfrm>
                <a:off x="5532843" y="6332538"/>
                <a:ext cx="30043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fr-CH" altLang="ja-JP" sz="1200" b="1" dirty="0" err="1">
                    <a:solidFill>
                      <a:srgbClr val="002060"/>
                    </a:solidFill>
                  </a:rPr>
                  <a:t>Hydrologic</a:t>
                </a:r>
                <a:r>
                  <a:rPr kumimoji="0" lang="fr-CH" altLang="ja-JP" sz="1200" b="1" dirty="0">
                    <a:solidFill>
                      <a:srgbClr val="002060"/>
                    </a:solidFill>
                  </a:rPr>
                  <a:t> </a:t>
                </a:r>
                <a:r>
                  <a:rPr kumimoji="0" lang="fr-CH" altLang="ja-JP" sz="1200" b="1" dirty="0" err="1">
                    <a:solidFill>
                      <a:srgbClr val="002060"/>
                    </a:solidFill>
                  </a:rPr>
                  <a:t>tools</a:t>
                </a:r>
                <a:r>
                  <a:rPr kumimoji="0" lang="fr-CH" altLang="ja-JP" sz="1200" b="1" dirty="0">
                    <a:solidFill>
                      <a:srgbClr val="002060"/>
                    </a:solidFill>
                  </a:rPr>
                  <a:t> </a:t>
                </a:r>
                <a:r>
                  <a:rPr kumimoji="0" lang="fr-CH" altLang="ja-JP" sz="1200" dirty="0">
                    <a:solidFill>
                      <a:srgbClr val="002060"/>
                    </a:solidFill>
                  </a:rPr>
                  <a:t>(</a:t>
                </a:r>
                <a:r>
                  <a:rPr kumimoji="0" lang="fr-CH" altLang="ja-JP" sz="1200" dirty="0" err="1">
                    <a:solidFill>
                      <a:srgbClr val="002060"/>
                    </a:solidFill>
                  </a:rPr>
                  <a:t>tested</a:t>
                </a:r>
                <a:r>
                  <a:rPr kumimoji="0" lang="fr-CH" altLang="ja-JP" sz="1200" dirty="0">
                    <a:solidFill>
                      <a:srgbClr val="002060"/>
                    </a:solidFill>
                  </a:rPr>
                  <a:t> </a:t>
                </a:r>
                <a:r>
                  <a:rPr kumimoji="0" lang="fr-CH" altLang="ja-JP" sz="1200" dirty="0" err="1">
                    <a:solidFill>
                      <a:srgbClr val="002060"/>
                    </a:solidFill>
                  </a:rPr>
                  <a:t>interoperability</a:t>
                </a:r>
                <a:r>
                  <a:rPr kumimoji="0" lang="fr-CH" altLang="ja-JP" sz="1200" dirty="0">
                    <a:solidFill>
                      <a:srgbClr val="002060"/>
                    </a:solidFill>
                  </a:rPr>
                  <a:t>)</a:t>
                </a:r>
                <a:endParaRPr kumimoji="0" lang="en-US" altLang="ja-JP" sz="1200" dirty="0">
                  <a:solidFill>
                    <a:srgbClr val="002060"/>
                  </a:solidFill>
                </a:endParaRPr>
              </a:p>
            </p:txBody>
          </p:sp>
          <p:pic>
            <p:nvPicPr>
              <p:cNvPr id="180" name="Immagine 179"/>
              <p:cNvPicPr>
                <a:picLocks noChangeAspect="1"/>
              </p:cNvPicPr>
              <p:nvPr/>
            </p:nvPicPr>
            <p:blipFill>
              <a:blip r:embed="rId4"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bwMode="auto">
              <a:xfrm flipH="1">
                <a:off x="5380186" y="5491661"/>
                <a:ext cx="1098550" cy="678170"/>
              </a:xfrm>
              <a:prstGeom prst="rect">
                <a:avLst/>
              </a:prstGeom>
            </p:spPr>
          </p:pic>
          <p:grpSp>
            <p:nvGrpSpPr>
              <p:cNvPr id="9" name="Gruppo 61"/>
              <p:cNvGrpSpPr>
                <a:grpSpLocks/>
              </p:cNvGrpSpPr>
              <p:nvPr/>
            </p:nvGrpSpPr>
            <p:grpSpPr bwMode="auto">
              <a:xfrm>
                <a:off x="5286375" y="4664075"/>
                <a:ext cx="1266825" cy="704850"/>
                <a:chOff x="5286174" y="4663844"/>
                <a:chExt cx="1267026" cy="704659"/>
              </a:xfrm>
            </p:grpSpPr>
            <p:pic>
              <p:nvPicPr>
                <p:cNvPr id="11322" name="Picture 103"/>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569794" y="4876800"/>
                  <a:ext cx="983406" cy="491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 name="Immagine 180"/>
                <p:cNvPicPr>
                  <a:picLocks noChangeAspect="1"/>
                </p:cNvPicPr>
                <p:nvPr/>
              </p:nvPicPr>
              <p:blipFill>
                <a:blip r:embed="rId6" cstate="email">
                  <a:duotone>
                    <a:prstClr val="black"/>
                    <a:srgbClr val="FF0000">
                      <a:tint val="45000"/>
                      <a:satMod val="400000"/>
                    </a:srgbClr>
                  </a:duotone>
                  <a:extLst>
                    <a:ext uri="{28A0092B-C50C-407E-A947-70E740481C1C}">
                      <a14:useLocalDpi xmlns:a14="http://schemas.microsoft.com/office/drawing/2010/main"/>
                    </a:ext>
                  </a:extLst>
                </a:blip>
                <a:stretch>
                  <a:fillRect/>
                </a:stretch>
              </p:blipFill>
              <p:spPr>
                <a:xfrm flipH="1">
                  <a:off x="5286174" y="4663844"/>
                  <a:ext cx="1091767" cy="655979"/>
                </a:xfrm>
                <a:prstGeom prst="rect">
                  <a:avLst/>
                </a:prstGeom>
              </p:spPr>
            </p:pic>
          </p:grpSp>
          <p:pic>
            <p:nvPicPr>
              <p:cNvPr id="142" name="Immagine 141"/>
              <p:cNvPicPr>
                <a:picLocks noChangeAspect="1"/>
              </p:cNvPicPr>
              <p:nvPr/>
            </p:nvPicPr>
            <p:blipFill>
              <a:blip r:embed="rId4"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bwMode="auto">
              <a:xfrm flipH="1">
                <a:off x="7792649" y="5473111"/>
                <a:ext cx="1098550" cy="678170"/>
              </a:xfrm>
              <a:prstGeom prst="rect">
                <a:avLst/>
              </a:prstGeom>
            </p:spPr>
          </p:pic>
          <p:grpSp>
            <p:nvGrpSpPr>
              <p:cNvPr id="11" name="Gruppo 37"/>
              <p:cNvGrpSpPr/>
              <p:nvPr/>
            </p:nvGrpSpPr>
            <p:grpSpPr>
              <a:xfrm>
                <a:off x="6418097" y="4630101"/>
                <a:ext cx="1092200" cy="661671"/>
                <a:chOff x="7815263" y="4671288"/>
                <a:chExt cx="1092200" cy="661671"/>
              </a:xfrm>
            </p:grpSpPr>
            <p:pic>
              <p:nvPicPr>
                <p:cNvPr id="11312" name="Immagine 190"/>
                <p:cNvPicPr>
                  <a:picLocks noChangeAspect="1"/>
                </p:cNvPicPr>
                <p:nvPr/>
              </p:nvPicPr>
              <p:blipFill>
                <a:blip r:embed="rId7" cstate="email">
                  <a:grayscl/>
                  <a:biLevel thresh="50000"/>
                  <a:extLst>
                    <a:ext uri="{28A0092B-C50C-407E-A947-70E740481C1C}">
                      <a14:useLocalDpi xmlns:a14="http://schemas.microsoft.com/office/drawing/2010/main"/>
                    </a:ext>
                  </a:extLst>
                </a:blip>
                <a:srcRect/>
                <a:stretch>
                  <a:fillRect/>
                </a:stretch>
              </p:blipFill>
              <p:spPr bwMode="auto">
                <a:xfrm>
                  <a:off x="7815263" y="4671288"/>
                  <a:ext cx="10922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Immagine 36"/>
                <p:cNvPicPr>
                  <a:picLocks noChangeAspect="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176161" y="4969164"/>
                  <a:ext cx="687903" cy="363795"/>
                </a:xfrm>
                <a:prstGeom prst="rect">
                  <a:avLst/>
                </a:prstGeom>
              </p:spPr>
            </p:pic>
          </p:grpSp>
          <p:sp>
            <p:nvSpPr>
              <p:cNvPr id="152" name="CasellaDiTesto 153"/>
              <p:cNvSpPr txBox="1">
                <a:spLocks noChangeArrowheads="1"/>
              </p:cNvSpPr>
              <p:nvPr/>
            </p:nvSpPr>
            <p:spPr bwMode="auto">
              <a:xfrm>
                <a:off x="8215883" y="5596832"/>
                <a:ext cx="623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 .</a:t>
                </a:r>
              </a:p>
            </p:txBody>
          </p:sp>
        </p:grpSp>
        <p:pic>
          <p:nvPicPr>
            <p:cNvPr id="71" name="Immagine 70"/>
            <p:cNvPicPr>
              <a:picLocks noChangeAspect="1"/>
            </p:cNvPicPr>
            <p:nvPr/>
          </p:nvPicPr>
          <p:blipFill>
            <a:blip r:embed="rId6" cstate="email">
              <a:duotone>
                <a:prstClr val="black"/>
                <a:srgbClr val="FF66FF">
                  <a:tint val="45000"/>
                  <a:satMod val="400000"/>
                </a:srgbClr>
              </a:duotone>
              <a:extLst>
                <a:ext uri="{28A0092B-C50C-407E-A947-70E740481C1C}">
                  <a14:useLocalDpi xmlns:a14="http://schemas.microsoft.com/office/drawing/2010/main"/>
                </a:ext>
              </a:extLst>
            </a:blip>
            <a:stretch>
              <a:fillRect/>
            </a:stretch>
          </p:blipFill>
          <p:spPr bwMode="auto">
            <a:xfrm flipH="1">
              <a:off x="6422072" y="5584513"/>
              <a:ext cx="1092200" cy="655673"/>
            </a:xfrm>
            <a:prstGeom prst="rect">
              <a:avLst/>
            </a:prstGeom>
          </p:spPr>
        </p:pic>
      </p:grpSp>
      <p:pic>
        <p:nvPicPr>
          <p:cNvPr id="11282" name="Picture 68" descr="GEOSS_Portal_Website_link2"/>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6804248" y="1052736"/>
            <a:ext cx="1682310" cy="180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3" name="Line 69"/>
          <p:cNvSpPr>
            <a:spLocks noChangeShapeType="1"/>
          </p:cNvSpPr>
          <p:nvPr/>
        </p:nvSpPr>
        <p:spPr bwMode="auto">
          <a:xfrm flipH="1">
            <a:off x="6831541" y="1122101"/>
            <a:ext cx="962592" cy="3841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11284" name="Line 70"/>
          <p:cNvSpPr>
            <a:spLocks noChangeShapeType="1"/>
          </p:cNvSpPr>
          <p:nvPr/>
        </p:nvSpPr>
        <p:spPr bwMode="auto">
          <a:xfrm flipH="1">
            <a:off x="7867613" y="1265098"/>
            <a:ext cx="74530" cy="15815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11285" name="Line 71"/>
          <p:cNvSpPr>
            <a:spLocks noChangeShapeType="1"/>
          </p:cNvSpPr>
          <p:nvPr/>
        </p:nvSpPr>
        <p:spPr bwMode="auto">
          <a:xfrm flipH="1">
            <a:off x="7370046" y="1204271"/>
            <a:ext cx="429335" cy="5229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11286" name="Freeform 72"/>
          <p:cNvSpPr>
            <a:spLocks/>
          </p:cNvSpPr>
          <p:nvPr/>
        </p:nvSpPr>
        <p:spPr bwMode="auto">
          <a:xfrm>
            <a:off x="7573691" y="1213875"/>
            <a:ext cx="354805" cy="402315"/>
          </a:xfrm>
          <a:custGeom>
            <a:avLst/>
            <a:gdLst>
              <a:gd name="T0" fmla="*/ 0 w 276"/>
              <a:gd name="T1" fmla="*/ 0 h 315"/>
              <a:gd name="T2" fmla="*/ 0 w 276"/>
              <a:gd name="T3" fmla="*/ 2147483646 h 315"/>
              <a:gd name="T4" fmla="*/ 2147483646 w 276"/>
              <a:gd name="T5" fmla="*/ 2147483646 h 315"/>
              <a:gd name="T6" fmla="*/ 2147483646 w 276"/>
              <a:gd name="T7" fmla="*/ 2147483646 h 315"/>
              <a:gd name="T8" fmla="*/ 0 w 276"/>
              <a:gd name="T9" fmla="*/ 0 h 315"/>
              <a:gd name="T10" fmla="*/ 0 60000 65536"/>
              <a:gd name="T11" fmla="*/ 0 60000 65536"/>
              <a:gd name="T12" fmla="*/ 0 60000 65536"/>
              <a:gd name="T13" fmla="*/ 0 60000 65536"/>
              <a:gd name="T14" fmla="*/ 0 60000 65536"/>
              <a:gd name="T15" fmla="*/ 0 w 276"/>
              <a:gd name="T16" fmla="*/ 0 h 315"/>
              <a:gd name="T17" fmla="*/ 276 w 276"/>
              <a:gd name="T18" fmla="*/ 315 h 315"/>
            </a:gdLst>
            <a:ahLst/>
            <a:cxnLst>
              <a:cxn ang="T10">
                <a:pos x="T0" y="T1"/>
              </a:cxn>
              <a:cxn ang="T11">
                <a:pos x="T2" y="T3"/>
              </a:cxn>
              <a:cxn ang="T12">
                <a:pos x="T4" y="T5"/>
              </a:cxn>
              <a:cxn ang="T13">
                <a:pos x="T6" y="T7"/>
              </a:cxn>
              <a:cxn ang="T14">
                <a:pos x="T8" y="T9"/>
              </a:cxn>
            </a:cxnLst>
            <a:rect l="T15" t="T16" r="T17" b="T18"/>
            <a:pathLst>
              <a:path w="276" h="315">
                <a:moveTo>
                  <a:pt x="0" y="0"/>
                </a:moveTo>
                <a:lnTo>
                  <a:pt x="0" y="204"/>
                </a:lnTo>
                <a:lnTo>
                  <a:pt x="276" y="315"/>
                </a:lnTo>
                <a:lnTo>
                  <a:pt x="274" y="103"/>
                </a:lnTo>
                <a:lnTo>
                  <a:pt x="0" y="0"/>
                </a:lnTo>
                <a:close/>
              </a:path>
            </a:pathLst>
          </a:custGeom>
          <a:solidFill>
            <a:schemeClr val="accent1">
              <a:alpha val="36862"/>
            </a:schemeClr>
          </a:solidFill>
          <a:ln w="9525">
            <a:solidFill>
              <a:schemeClr val="tx1"/>
            </a:solidFill>
            <a:round/>
            <a:headEnd/>
            <a:tailEnd/>
          </a:ln>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11287" name="Line 73"/>
          <p:cNvSpPr>
            <a:spLocks noChangeShapeType="1"/>
          </p:cNvSpPr>
          <p:nvPr/>
        </p:nvSpPr>
        <p:spPr bwMode="auto">
          <a:xfrm flipH="1">
            <a:off x="7853966" y="1188264"/>
            <a:ext cx="88176" cy="7299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b="1" u="sng">
              <a:solidFill>
                <a:srgbClr val="000000"/>
              </a:solidFill>
              <a:latin typeface="Tahoma" panose="020B0604030504040204" pitchFamily="34" charset="0"/>
              <a:ea typeface="MS PGothic" panose="020B0600070205080204" pitchFamily="34" charset="-128"/>
            </a:endParaRPr>
          </a:p>
        </p:txBody>
      </p:sp>
      <p:sp>
        <p:nvSpPr>
          <p:cNvPr id="11269" name="Text Box 72"/>
          <p:cNvSpPr txBox="1">
            <a:spLocks noChangeArrowheads="1"/>
          </p:cNvSpPr>
          <p:nvPr/>
        </p:nvSpPr>
        <p:spPr bwMode="auto">
          <a:xfrm>
            <a:off x="8028384" y="735087"/>
            <a:ext cx="1043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a:solidFill>
                  <a:srgbClr val="C00000"/>
                </a:solidFill>
              </a:rPr>
              <a:t>CIC</a:t>
            </a:r>
            <a:r>
              <a:rPr kumimoji="0" lang="fr-CH" altLang="ja-JP" sz="1200" dirty="0">
                <a:solidFill>
                  <a:srgbClr val="000000"/>
                </a:solidFill>
              </a:rPr>
              <a:t> </a:t>
            </a:r>
          </a:p>
          <a:p>
            <a:pPr fontAlgn="base">
              <a:spcBef>
                <a:spcPct val="0"/>
              </a:spcBef>
              <a:spcAft>
                <a:spcPct val="0"/>
              </a:spcAft>
              <a:buFontTx/>
              <a:buNone/>
            </a:pPr>
            <a:r>
              <a:rPr kumimoji="0" lang="fr-CH" altLang="ja-JP" sz="1200" i="1" dirty="0">
                <a:solidFill>
                  <a:srgbClr val="C00000"/>
                </a:solidFill>
              </a:rPr>
              <a:t>Home Page</a:t>
            </a:r>
            <a:endParaRPr kumimoji="0" lang="en-US" altLang="ja-JP" sz="1800" dirty="0">
              <a:solidFill>
                <a:srgbClr val="000000"/>
              </a:solidFill>
            </a:endParaRPr>
          </a:p>
        </p:txBody>
      </p:sp>
      <p:sp>
        <p:nvSpPr>
          <p:cNvPr id="11271" name="Text Box 72"/>
          <p:cNvSpPr txBox="1">
            <a:spLocks noChangeArrowheads="1"/>
          </p:cNvSpPr>
          <p:nvPr/>
        </p:nvSpPr>
        <p:spPr bwMode="auto">
          <a:xfrm>
            <a:off x="7956376" y="2204864"/>
            <a:ext cx="11876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a:solidFill>
                  <a:srgbClr val="C00000"/>
                </a:solidFill>
              </a:rPr>
              <a:t>PLATA HIS</a:t>
            </a:r>
            <a:r>
              <a:rPr kumimoji="0" lang="fr-CH" altLang="ja-JP" sz="1200" dirty="0">
                <a:solidFill>
                  <a:srgbClr val="000000"/>
                </a:solidFill>
              </a:rPr>
              <a:t>             </a:t>
            </a:r>
            <a:r>
              <a:rPr kumimoji="0" lang="fr-CH" altLang="ja-JP" sz="1200" i="1" dirty="0">
                <a:solidFill>
                  <a:srgbClr val="C00000"/>
                </a:solidFill>
              </a:rPr>
              <a:t>Portal</a:t>
            </a:r>
            <a:endParaRPr kumimoji="0" lang="en-US" altLang="ja-JP" sz="1800" dirty="0">
              <a:solidFill>
                <a:srgbClr val="000000"/>
              </a:solidFill>
            </a:endParaRPr>
          </a:p>
        </p:txBody>
      </p:sp>
      <p:sp>
        <p:nvSpPr>
          <p:cNvPr id="11273" name="Rectangle 2"/>
          <p:cNvSpPr>
            <a:spLocks noChangeArrowheads="1"/>
          </p:cNvSpPr>
          <p:nvPr/>
        </p:nvSpPr>
        <p:spPr bwMode="auto">
          <a:xfrm>
            <a:off x="179512" y="50679"/>
            <a:ext cx="9164979" cy="542925"/>
          </a:xfrm>
          <a:prstGeom prst="rect">
            <a:avLst/>
          </a:prstGeom>
          <a:effectLst>
            <a:outerShdw blurRad="50800" dir="14400000">
              <a:srgbClr val="000000">
                <a:alpha val="60000"/>
              </a:srgbClr>
            </a:outerShdw>
          </a:effectLst>
          <a:extLst/>
        </p:spPr>
        <p:txBody>
          <a:bodyPr vert="horz" lIns="91440" tIns="45720" rIns="91440" bIns="45720" rtlCol="0" anchor="b">
            <a:noAutofit/>
          </a:bodyPr>
          <a:lstStyle/>
          <a:p>
            <a:pPr defTabSz="457200">
              <a:spcBef>
                <a:spcPct val="0"/>
              </a:spcBef>
            </a:pPr>
            <a:r>
              <a:rPr lang="fr-CH" altLang="ja-JP" sz="3200" b="1" dirty="0" err="1">
                <a:solidFill>
                  <a:srgbClr val="002060"/>
                </a:solidFill>
                <a:latin typeface="Corbel" panose="020B0503020204020204" pitchFamily="34" charset="0"/>
                <a:cs typeface="Trebuchet MS"/>
              </a:rPr>
              <a:t>Hydrologic</a:t>
            </a:r>
            <a:r>
              <a:rPr lang="fr-CH" altLang="ja-JP" sz="3200" b="1" dirty="0">
                <a:solidFill>
                  <a:srgbClr val="002060"/>
                </a:solidFill>
                <a:latin typeface="Corbel" panose="020B0503020204020204" pitchFamily="34" charset="0"/>
                <a:cs typeface="Trebuchet MS"/>
              </a:rPr>
              <a:t>  Information System in the </a:t>
            </a:r>
            <a:r>
              <a:rPr lang="fr-CH" altLang="ja-JP" sz="3200" b="1" dirty="0" err="1">
                <a:solidFill>
                  <a:srgbClr val="002060"/>
                </a:solidFill>
                <a:latin typeface="Corbel" panose="020B0503020204020204" pitchFamily="34" charset="0"/>
                <a:cs typeface="Trebuchet MS"/>
              </a:rPr>
              <a:t>Plata</a:t>
            </a:r>
            <a:r>
              <a:rPr lang="fr-CH" altLang="ja-JP" sz="3200" b="1" dirty="0">
                <a:solidFill>
                  <a:srgbClr val="002060"/>
                </a:solidFill>
                <a:latin typeface="Corbel" panose="020B0503020204020204" pitchFamily="34" charset="0"/>
                <a:cs typeface="Trebuchet MS"/>
              </a:rPr>
              <a:t> basin</a:t>
            </a:r>
            <a:endParaRPr lang="en-US" altLang="ja-JP" sz="3200" b="1" dirty="0">
              <a:solidFill>
                <a:srgbClr val="002060"/>
              </a:solidFill>
              <a:latin typeface="Corbel" panose="020B0503020204020204" pitchFamily="34" charset="0"/>
              <a:cs typeface="Trebuchet MS"/>
            </a:endParaRPr>
          </a:p>
        </p:txBody>
      </p:sp>
      <p:pic>
        <p:nvPicPr>
          <p:cNvPr id="11279" name="Immagine 3"/>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155482" y="723876"/>
            <a:ext cx="64135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25"/>
          <p:cNvPicPr>
            <a:picLocks noChangeAspect="1"/>
          </p:cNvPicPr>
          <p:nvPr/>
        </p:nvPicPr>
        <p:blipFill>
          <a:blip r:embed="rId11" cstate="email">
            <a:clrChange>
              <a:clrFrom>
                <a:srgbClr val="F5F6E8"/>
              </a:clrFrom>
              <a:clrTo>
                <a:srgbClr val="F5F6E8">
                  <a:alpha val="0"/>
                </a:srgbClr>
              </a:clrTo>
            </a:clrChange>
            <a:extLst>
              <a:ext uri="{28A0092B-C50C-407E-A947-70E740481C1C}">
                <a14:useLocalDpi xmlns:a14="http://schemas.microsoft.com/office/drawing/2010/main"/>
              </a:ext>
            </a:extLst>
          </a:blip>
          <a:srcRect/>
          <a:stretch>
            <a:fillRect/>
          </a:stretch>
        </p:blipFill>
        <p:spPr bwMode="auto">
          <a:xfrm rot="706773">
            <a:off x="5943138" y="1413085"/>
            <a:ext cx="925513" cy="362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1" name="Immagine 9"/>
          <p:cNvPicPr>
            <a:picLocks noChangeAspect="1"/>
          </p:cNvPicPr>
          <p:nvPr/>
        </p:nvPicPr>
        <p:blipFill>
          <a:blip r:embed="rId1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457107" y="620688"/>
            <a:ext cx="162083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ccia in giù 2"/>
          <p:cNvSpPr>
            <a:spLocks noChangeArrowheads="1"/>
          </p:cNvSpPr>
          <p:nvPr/>
        </p:nvSpPr>
        <p:spPr bwMode="auto">
          <a:xfrm rot="1877827">
            <a:off x="6615113" y="2495550"/>
            <a:ext cx="509587" cy="712788"/>
          </a:xfrm>
          <a:prstGeom prst="downArrow">
            <a:avLst>
              <a:gd name="adj1" fmla="val 50000"/>
              <a:gd name="adj2" fmla="val 49960"/>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pPr>
            <a:endParaRPr kumimoji="0" lang="en-US" altLang="en-US" sz="2000" b="1" u="sng">
              <a:solidFill>
                <a:srgbClr val="000000"/>
              </a:solidFill>
              <a:latin typeface="Tahoma" panose="020B0604030504040204" pitchFamily="34" charset="0"/>
            </a:endParaRPr>
          </a:p>
        </p:txBody>
      </p:sp>
      <p:pic>
        <p:nvPicPr>
          <p:cNvPr id="10" name="Immagine 9"/>
          <p:cNvPicPr>
            <a:picLocks noChangeAspect="1"/>
          </p:cNvPicPr>
          <p:nvPr/>
        </p:nvPicPr>
        <p:blipFill>
          <a:blip r:embed="rId13" cstate="print">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4860032" y="2492896"/>
            <a:ext cx="2448272" cy="2338920"/>
          </a:xfrm>
          <a:prstGeom prst="rect">
            <a:avLst/>
          </a:prstGeom>
          <a:scene3d>
            <a:camera prst="perspectiveHeroicExtremeLeftFacing"/>
            <a:lightRig rig="threePt" dir="t"/>
          </a:scene3d>
        </p:spPr>
      </p:pic>
      <p:pic>
        <p:nvPicPr>
          <p:cNvPr id="39" name="Immagine 38"/>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7515355" y="3927374"/>
            <a:ext cx="742210" cy="522605"/>
          </a:xfrm>
          <a:prstGeom prst="rect">
            <a:avLst/>
          </a:prstGeom>
        </p:spPr>
      </p:pic>
      <p:sp>
        <p:nvSpPr>
          <p:cNvPr id="79" name="Text Box 72"/>
          <p:cNvSpPr txBox="1">
            <a:spLocks noChangeArrowheads="1"/>
          </p:cNvSpPr>
          <p:nvPr/>
        </p:nvSpPr>
        <p:spPr bwMode="auto">
          <a:xfrm>
            <a:off x="8257565" y="3977100"/>
            <a:ext cx="9004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err="1">
                <a:solidFill>
                  <a:srgbClr val="C00000"/>
                </a:solidFill>
              </a:rPr>
              <a:t>Semantic</a:t>
            </a:r>
            <a:r>
              <a:rPr kumimoji="0" lang="fr-CH" altLang="ja-JP" sz="1200" i="1" dirty="0">
                <a:solidFill>
                  <a:srgbClr val="C00000"/>
                </a:solidFill>
              </a:rPr>
              <a:t> </a:t>
            </a:r>
            <a:r>
              <a:rPr kumimoji="0" lang="fr-CH" altLang="ja-JP" sz="1200" i="1" dirty="0" err="1">
                <a:solidFill>
                  <a:srgbClr val="C00000"/>
                </a:solidFill>
              </a:rPr>
              <a:t>engines</a:t>
            </a:r>
            <a:endParaRPr kumimoji="0" lang="fr-CH" altLang="ja-JP" sz="1200" i="1" dirty="0">
              <a:solidFill>
                <a:srgbClr val="C00000"/>
              </a:solidFill>
            </a:endParaRPr>
          </a:p>
        </p:txBody>
      </p:sp>
      <p:cxnSp>
        <p:nvCxnSpPr>
          <p:cNvPr id="45" name="Connettore 1 44"/>
          <p:cNvCxnSpPr>
            <a:stCxn id="39" idx="1"/>
          </p:cNvCxnSpPr>
          <p:nvPr/>
        </p:nvCxnSpPr>
        <p:spPr>
          <a:xfrm flipH="1" flipV="1">
            <a:off x="7189399" y="4103552"/>
            <a:ext cx="325956" cy="85125"/>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8" name="Immagine 47"/>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7593882" y="3423138"/>
            <a:ext cx="475184" cy="419514"/>
          </a:xfrm>
          <a:prstGeom prst="rect">
            <a:avLst/>
          </a:prstGeom>
        </p:spPr>
      </p:pic>
      <p:cxnSp>
        <p:nvCxnSpPr>
          <p:cNvPr id="89" name="Connettore 1 88"/>
          <p:cNvCxnSpPr>
            <a:stCxn id="48" idx="1"/>
          </p:cNvCxnSpPr>
          <p:nvPr/>
        </p:nvCxnSpPr>
        <p:spPr>
          <a:xfrm flipH="1">
            <a:off x="7188921" y="3632895"/>
            <a:ext cx="404961" cy="17389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3" name="Text Box 72"/>
          <p:cNvSpPr txBox="1">
            <a:spLocks noChangeArrowheads="1"/>
          </p:cNvSpPr>
          <p:nvPr/>
        </p:nvSpPr>
        <p:spPr bwMode="auto">
          <a:xfrm>
            <a:off x="8138649" y="3358273"/>
            <a:ext cx="9004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err="1">
                <a:solidFill>
                  <a:srgbClr val="C00000"/>
                </a:solidFill>
              </a:rPr>
              <a:t>Systems</a:t>
            </a:r>
            <a:endParaRPr kumimoji="0" lang="fr-CH" altLang="ja-JP" sz="1200" i="1" dirty="0">
              <a:solidFill>
                <a:srgbClr val="C00000"/>
              </a:solidFill>
            </a:endParaRPr>
          </a:p>
          <a:p>
            <a:pPr fontAlgn="base">
              <a:spcBef>
                <a:spcPct val="0"/>
              </a:spcBef>
              <a:spcAft>
                <a:spcPct val="0"/>
              </a:spcAft>
              <a:buFontTx/>
              <a:buNone/>
            </a:pPr>
            <a:r>
              <a:rPr kumimoji="0" lang="fr-CH" altLang="ja-JP" sz="1200" i="1" dirty="0" err="1">
                <a:solidFill>
                  <a:srgbClr val="C00000"/>
                </a:solidFill>
              </a:rPr>
              <a:t>Registry</a:t>
            </a:r>
            <a:endParaRPr kumimoji="0" lang="fr-CH" altLang="ja-JP" sz="1200" i="1" dirty="0">
              <a:solidFill>
                <a:srgbClr val="C00000"/>
              </a:solidFill>
            </a:endParaRPr>
          </a:p>
        </p:txBody>
      </p:sp>
      <p:grpSp>
        <p:nvGrpSpPr>
          <p:cNvPr id="12" name="Gruppo 84"/>
          <p:cNvGrpSpPr/>
          <p:nvPr/>
        </p:nvGrpSpPr>
        <p:grpSpPr>
          <a:xfrm>
            <a:off x="251520" y="836712"/>
            <a:ext cx="2088232" cy="1506688"/>
            <a:chOff x="323528" y="1124744"/>
            <a:chExt cx="2088232" cy="1506688"/>
          </a:xfrm>
        </p:grpSpPr>
        <p:pic>
          <p:nvPicPr>
            <p:cNvPr id="21" name="Immagine 20"/>
            <p:cNvPicPr>
              <a:picLocks noChangeAspect="1"/>
            </p:cNvPicPr>
            <p:nvPr/>
          </p:nvPicPr>
          <p:blipFill>
            <a:blip r:embed="rId16" cstate="print"/>
            <a:stretch>
              <a:fillRect/>
            </a:stretch>
          </p:blipFill>
          <p:spPr>
            <a:xfrm>
              <a:off x="323528" y="1124744"/>
              <a:ext cx="2088232" cy="1506688"/>
            </a:xfrm>
            <a:prstGeom prst="rect">
              <a:avLst/>
            </a:prstGeom>
            <a:scene3d>
              <a:camera prst="perspectiveHeroicExtremeRightFacing"/>
              <a:lightRig rig="threePt" dir="t"/>
            </a:scene3d>
          </p:spPr>
        </p:pic>
        <p:sp>
          <p:nvSpPr>
            <p:cNvPr id="84" name="CasellaDiTesto 83"/>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Argentina</a:t>
              </a:r>
            </a:p>
          </p:txBody>
        </p:sp>
      </p:grpSp>
      <p:grpSp>
        <p:nvGrpSpPr>
          <p:cNvPr id="13" name="Gruppo 85"/>
          <p:cNvGrpSpPr/>
          <p:nvPr/>
        </p:nvGrpSpPr>
        <p:grpSpPr>
          <a:xfrm>
            <a:off x="2483768" y="980728"/>
            <a:ext cx="2088232" cy="1506688"/>
            <a:chOff x="323528" y="1124744"/>
            <a:chExt cx="2088232" cy="1506688"/>
          </a:xfrm>
        </p:grpSpPr>
        <p:pic>
          <p:nvPicPr>
            <p:cNvPr id="87" name="Immagine 86"/>
            <p:cNvPicPr>
              <a:picLocks noChangeAspect="1"/>
            </p:cNvPicPr>
            <p:nvPr/>
          </p:nvPicPr>
          <p:blipFill>
            <a:blip r:embed="rId16" cstate="print"/>
            <a:stretch>
              <a:fillRect/>
            </a:stretch>
          </p:blipFill>
          <p:spPr>
            <a:xfrm>
              <a:off x="323528" y="1124744"/>
              <a:ext cx="2088232" cy="1506688"/>
            </a:xfrm>
            <a:prstGeom prst="rect">
              <a:avLst/>
            </a:prstGeom>
            <a:scene3d>
              <a:camera prst="perspectiveHeroicExtremeRightFacing"/>
              <a:lightRig rig="threePt" dir="t"/>
            </a:scene3d>
          </p:spPr>
        </p:pic>
        <p:sp>
          <p:nvSpPr>
            <p:cNvPr id="88" name="CasellaDiTesto 87"/>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Bolivia</a:t>
              </a:r>
            </a:p>
          </p:txBody>
        </p:sp>
      </p:grpSp>
      <p:grpSp>
        <p:nvGrpSpPr>
          <p:cNvPr id="14" name="Gruppo 89"/>
          <p:cNvGrpSpPr/>
          <p:nvPr/>
        </p:nvGrpSpPr>
        <p:grpSpPr>
          <a:xfrm>
            <a:off x="395536" y="2564904"/>
            <a:ext cx="2088232" cy="1506688"/>
            <a:chOff x="323528" y="1124744"/>
            <a:chExt cx="2088232" cy="1506688"/>
          </a:xfrm>
        </p:grpSpPr>
        <p:pic>
          <p:nvPicPr>
            <p:cNvPr id="91" name="Immagine 90"/>
            <p:cNvPicPr>
              <a:picLocks noChangeAspect="1"/>
            </p:cNvPicPr>
            <p:nvPr/>
          </p:nvPicPr>
          <p:blipFill>
            <a:blip r:embed="rId16" cstate="print"/>
            <a:stretch>
              <a:fillRect/>
            </a:stretch>
          </p:blipFill>
          <p:spPr>
            <a:xfrm>
              <a:off x="323528" y="1124744"/>
              <a:ext cx="2088232" cy="1506688"/>
            </a:xfrm>
            <a:prstGeom prst="rect">
              <a:avLst/>
            </a:prstGeom>
            <a:scene3d>
              <a:camera prst="perspectiveHeroicExtremeRightFacing"/>
              <a:lightRig rig="threePt" dir="t"/>
            </a:scene3d>
          </p:spPr>
        </p:pic>
        <p:sp>
          <p:nvSpPr>
            <p:cNvPr id="92" name="CasellaDiTesto 91"/>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err="1">
                  <a:ea typeface="+mn-ea"/>
                  <a:cs typeface="+mn-cs"/>
                </a:rPr>
                <a:t>Brasil</a:t>
              </a:r>
              <a:endParaRPr lang="it-IT" sz="1400" b="1" dirty="0">
                <a:ea typeface="+mn-ea"/>
                <a:cs typeface="+mn-cs"/>
              </a:endParaRPr>
            </a:p>
          </p:txBody>
        </p:sp>
      </p:grpSp>
      <p:grpSp>
        <p:nvGrpSpPr>
          <p:cNvPr id="15" name="Gruppo 93"/>
          <p:cNvGrpSpPr/>
          <p:nvPr/>
        </p:nvGrpSpPr>
        <p:grpSpPr>
          <a:xfrm>
            <a:off x="2483768" y="2564904"/>
            <a:ext cx="2088232" cy="1506688"/>
            <a:chOff x="323528" y="1124744"/>
            <a:chExt cx="2088232" cy="1506688"/>
          </a:xfrm>
        </p:grpSpPr>
        <p:pic>
          <p:nvPicPr>
            <p:cNvPr id="95" name="Immagine 94"/>
            <p:cNvPicPr>
              <a:picLocks noChangeAspect="1"/>
            </p:cNvPicPr>
            <p:nvPr/>
          </p:nvPicPr>
          <p:blipFill>
            <a:blip r:embed="rId16" cstate="print"/>
            <a:stretch>
              <a:fillRect/>
            </a:stretch>
          </p:blipFill>
          <p:spPr>
            <a:xfrm>
              <a:off x="323528" y="1124744"/>
              <a:ext cx="2088232" cy="1506688"/>
            </a:xfrm>
            <a:prstGeom prst="rect">
              <a:avLst/>
            </a:prstGeom>
            <a:scene3d>
              <a:camera prst="perspectiveHeroicExtremeRightFacing"/>
              <a:lightRig rig="threePt" dir="t"/>
            </a:scene3d>
          </p:spPr>
        </p:pic>
        <p:sp>
          <p:nvSpPr>
            <p:cNvPr id="96" name="CasellaDiTesto 95"/>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Paraguay</a:t>
              </a:r>
            </a:p>
          </p:txBody>
        </p:sp>
      </p:grpSp>
      <p:grpSp>
        <p:nvGrpSpPr>
          <p:cNvPr id="16" name="Gruppo 96"/>
          <p:cNvGrpSpPr/>
          <p:nvPr/>
        </p:nvGrpSpPr>
        <p:grpSpPr>
          <a:xfrm>
            <a:off x="1475656" y="3861048"/>
            <a:ext cx="2088232" cy="1506688"/>
            <a:chOff x="323528" y="1124744"/>
            <a:chExt cx="2088232" cy="1506688"/>
          </a:xfrm>
        </p:grpSpPr>
        <p:pic>
          <p:nvPicPr>
            <p:cNvPr id="98" name="Immagine 97"/>
            <p:cNvPicPr>
              <a:picLocks noChangeAspect="1"/>
            </p:cNvPicPr>
            <p:nvPr/>
          </p:nvPicPr>
          <p:blipFill>
            <a:blip r:embed="rId16" cstate="print"/>
            <a:stretch>
              <a:fillRect/>
            </a:stretch>
          </p:blipFill>
          <p:spPr>
            <a:xfrm>
              <a:off x="323528" y="1124744"/>
              <a:ext cx="2088232" cy="1506688"/>
            </a:xfrm>
            <a:prstGeom prst="rect">
              <a:avLst/>
            </a:prstGeom>
            <a:scene3d>
              <a:camera prst="perspectiveHeroicExtremeRightFacing"/>
              <a:lightRig rig="threePt" dir="t"/>
            </a:scene3d>
          </p:spPr>
        </p:pic>
        <p:sp>
          <p:nvSpPr>
            <p:cNvPr id="99" name="CasellaDiTesto 98"/>
            <p:cNvSpPr txBox="1"/>
            <p:nvPr/>
          </p:nvSpPr>
          <p:spPr>
            <a:xfrm rot="20890386">
              <a:off x="755576" y="1718224"/>
              <a:ext cx="914400" cy="504056"/>
            </a:xfrm>
            <a:prstGeom prst="rect">
              <a:avLst/>
            </a:prstGeom>
            <a:noFill/>
            <a:effectLst/>
          </p:spPr>
          <p:txBody>
            <a:bodyPr wrap="none" lIns="0" tIns="0" rIns="0" bIns="0" rtlCol="0">
              <a:noAutofit/>
            </a:bodyPr>
            <a:lstStyle/>
            <a:p>
              <a:pPr algn="ctr" eaLnBrk="0" hangingPunct="0">
                <a:lnSpc>
                  <a:spcPts val="1800"/>
                </a:lnSpc>
              </a:pPr>
              <a:r>
                <a:rPr lang="it-IT" sz="1400" b="1" dirty="0">
                  <a:ea typeface="+mn-ea"/>
                  <a:cs typeface="+mn-cs"/>
                </a:rPr>
                <a:t>Uruguay</a:t>
              </a:r>
            </a:p>
          </p:txBody>
        </p:sp>
      </p:grpSp>
      <p:sp>
        <p:nvSpPr>
          <p:cNvPr id="5" name="CasellaDiTesto 4"/>
          <p:cNvSpPr txBox="1"/>
          <p:nvPr/>
        </p:nvSpPr>
        <p:spPr>
          <a:xfrm>
            <a:off x="323528" y="2420888"/>
            <a:ext cx="5017720" cy="1785104"/>
          </a:xfrm>
          <a:prstGeom prst="rect">
            <a:avLst/>
          </a:prstGeom>
          <a:solidFill>
            <a:schemeClr val="accent5">
              <a:lumMod val="50000"/>
              <a:alpha val="74000"/>
            </a:schemeClr>
          </a:solidFill>
          <a:effectLst>
            <a:softEdge rad="63500"/>
          </a:effectLst>
          <a:scene3d>
            <a:camera prst="perspectiveContrastingRightFacing"/>
            <a:lightRig rig="threePt" dir="t"/>
          </a:scene3d>
        </p:spPr>
        <p:txBody>
          <a:bodyPr wrap="none" rtlCol="0">
            <a:spAutoFit/>
          </a:bodyPr>
          <a:lstStyle/>
          <a:p>
            <a:pPr algn="ctr"/>
            <a:r>
              <a:rPr lang="en-US" sz="4400" b="1" dirty="0">
                <a:solidFill>
                  <a:srgbClr val="FFC000"/>
                </a:solidFill>
              </a:rPr>
              <a:t>5 national </a:t>
            </a:r>
          </a:p>
          <a:p>
            <a:pPr algn="ctr"/>
            <a:r>
              <a:rPr lang="en-US" sz="4400" b="1" dirty="0">
                <a:solidFill>
                  <a:srgbClr val="FFC000"/>
                </a:solidFill>
              </a:rPr>
              <a:t>brokered systems</a:t>
            </a:r>
          </a:p>
        </p:txBody>
      </p:sp>
      <p:pic>
        <p:nvPicPr>
          <p:cNvPr id="100" name="Immagine 99"/>
          <p:cNvPicPr>
            <a:picLocks noChangeAspect="1"/>
          </p:cNvPicPr>
          <p:nvPr/>
        </p:nvPicPr>
        <p:blipFill>
          <a:blip r:embed="rId4"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bwMode="auto">
          <a:xfrm flipH="1">
            <a:off x="7020272" y="4869160"/>
            <a:ext cx="1098550" cy="678170"/>
          </a:xfrm>
          <a:prstGeom prst="rect">
            <a:avLst/>
          </a:prstGeom>
          <a:scene3d>
            <a:camera prst="perspectiveHeroicExtremeLeftFacing"/>
            <a:lightRig rig="threePt" dir="t"/>
          </a:scene3d>
        </p:spPr>
      </p:pic>
      <p:sp>
        <p:nvSpPr>
          <p:cNvPr id="101" name="CasellaDiTesto 153"/>
          <p:cNvSpPr txBox="1">
            <a:spLocks noChangeArrowheads="1"/>
          </p:cNvSpPr>
          <p:nvPr/>
        </p:nvSpPr>
        <p:spPr bwMode="auto">
          <a:xfrm>
            <a:off x="5292080" y="5445224"/>
            <a:ext cx="623887" cy="523875"/>
          </a:xfrm>
          <a:prstGeom prst="rect">
            <a:avLst/>
          </a:prstGeom>
          <a:noFill/>
          <a:ln>
            <a:noFill/>
          </a:ln>
          <a:scene3d>
            <a:camera prst="perspectiveHeroicExtremeLef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 .</a:t>
            </a:r>
          </a:p>
        </p:txBody>
      </p:sp>
      <p:sp>
        <p:nvSpPr>
          <p:cNvPr id="103" name="CasellaDiTesto 153"/>
          <p:cNvSpPr txBox="1">
            <a:spLocks noChangeArrowheads="1"/>
          </p:cNvSpPr>
          <p:nvPr/>
        </p:nvSpPr>
        <p:spPr bwMode="auto">
          <a:xfrm>
            <a:off x="6156176" y="5733256"/>
            <a:ext cx="623887" cy="523875"/>
          </a:xfrm>
          <a:prstGeom prst="rect">
            <a:avLst/>
          </a:prstGeom>
          <a:noFill/>
          <a:ln>
            <a:noFill/>
          </a:ln>
          <a:scene3d>
            <a:camera prst="perspectiveHeroicExtremeLeftFacing"/>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defRPr/>
            </a:pPr>
            <a:r>
              <a:rPr kumimoji="0" lang="en-US" sz="2800" dirty="0">
                <a:solidFill>
                  <a:srgbClr val="000000"/>
                </a:solidFill>
                <a:latin typeface="Tahoma" panose="020B0604030504040204" pitchFamily="34" charset="0"/>
              </a:rPr>
              <a:t>.. .</a:t>
            </a:r>
          </a:p>
        </p:txBody>
      </p:sp>
      <p:sp>
        <p:nvSpPr>
          <p:cNvPr id="106" name="CasellaDiTesto 105"/>
          <p:cNvSpPr txBox="1"/>
          <p:nvPr/>
        </p:nvSpPr>
        <p:spPr>
          <a:xfrm rot="591729">
            <a:off x="5475853" y="3210536"/>
            <a:ext cx="1296144" cy="576064"/>
          </a:xfrm>
          <a:prstGeom prst="rect">
            <a:avLst/>
          </a:prstGeom>
          <a:noFill/>
          <a:effectLst/>
        </p:spPr>
        <p:txBody>
          <a:bodyPr wrap="square" lIns="0" tIns="0" rIns="0" bIns="0" rtlCol="0">
            <a:noAutofit/>
          </a:bodyPr>
          <a:lstStyle/>
          <a:p>
            <a:pPr algn="ctr" eaLnBrk="0" hangingPunct="0">
              <a:lnSpc>
                <a:spcPts val="1800"/>
              </a:lnSpc>
            </a:pPr>
            <a:r>
              <a:rPr lang="it-IT" sz="1400" b="1" dirty="0">
                <a:solidFill>
                  <a:schemeClr val="tx2">
                    <a:lumMod val="75000"/>
                    <a:lumOff val="25000"/>
                  </a:schemeClr>
                </a:solidFill>
                <a:ea typeface="+mn-ea"/>
                <a:cs typeface="+mn-cs"/>
              </a:rPr>
              <a:t>Broker</a:t>
            </a:r>
          </a:p>
          <a:p>
            <a:pPr algn="ctr" eaLnBrk="0" hangingPunct="0">
              <a:lnSpc>
                <a:spcPts val="1800"/>
              </a:lnSpc>
            </a:pPr>
            <a:r>
              <a:rPr lang="it-IT" sz="1400" b="1" dirty="0">
                <a:solidFill>
                  <a:schemeClr val="tx2">
                    <a:lumMod val="75000"/>
                    <a:lumOff val="25000"/>
                  </a:schemeClr>
                </a:solidFill>
                <a:ea typeface="+mn-ea"/>
                <a:cs typeface="+mn-cs"/>
              </a:rPr>
              <a:t>and</a:t>
            </a:r>
          </a:p>
          <a:p>
            <a:pPr algn="ctr" eaLnBrk="0" hangingPunct="0">
              <a:lnSpc>
                <a:spcPts val="1800"/>
              </a:lnSpc>
            </a:pPr>
            <a:r>
              <a:rPr lang="it-IT" sz="1400" b="1" dirty="0" err="1">
                <a:solidFill>
                  <a:schemeClr val="tx2">
                    <a:lumMod val="75000"/>
                    <a:lumOff val="25000"/>
                  </a:schemeClr>
                </a:solidFill>
              </a:rPr>
              <a:t>Mediator</a:t>
            </a:r>
            <a:r>
              <a:rPr lang="it-IT" sz="1400" b="1" dirty="0">
                <a:solidFill>
                  <a:schemeClr val="tx2">
                    <a:lumMod val="75000"/>
                    <a:lumOff val="25000"/>
                  </a:schemeClr>
                </a:solidFill>
                <a:ea typeface="+mn-ea"/>
                <a:cs typeface="+mn-cs"/>
              </a:rPr>
              <a:t> </a:t>
            </a:r>
          </a:p>
        </p:txBody>
      </p:sp>
      <p:pic>
        <p:nvPicPr>
          <p:cNvPr id="64" name="Immagine 25"/>
          <p:cNvPicPr>
            <a:picLocks noChangeAspect="1"/>
          </p:cNvPicPr>
          <p:nvPr/>
        </p:nvPicPr>
        <p:blipFill>
          <a:blip r:embed="rId17" cstate="email">
            <a:clrChange>
              <a:clrFrom>
                <a:srgbClr val="F5F6E8"/>
              </a:clrFrom>
              <a:clrTo>
                <a:srgbClr val="F5F6E8">
                  <a:alpha val="0"/>
                </a:srgbClr>
              </a:clrTo>
            </a:clrChange>
            <a:extLst>
              <a:ext uri="{28A0092B-C50C-407E-A947-70E740481C1C}">
                <a14:useLocalDpi xmlns:a14="http://schemas.microsoft.com/office/drawing/2010/main"/>
              </a:ext>
            </a:extLst>
          </a:blip>
          <a:srcRect/>
          <a:stretch>
            <a:fillRect/>
          </a:stretch>
        </p:blipFill>
        <p:spPr bwMode="auto">
          <a:xfrm rot="7808897">
            <a:off x="5472395" y="912300"/>
            <a:ext cx="925513"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ccia in giù 64"/>
          <p:cNvSpPr/>
          <p:nvPr/>
        </p:nvSpPr>
        <p:spPr bwMode="auto">
          <a:xfrm rot="9587761">
            <a:off x="5484375" y="2270076"/>
            <a:ext cx="432048" cy="671119"/>
          </a:xfrm>
          <a:prstGeom prst="down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it-IT" sz="1400" b="1" dirty="0">
              <a:solidFill>
                <a:srgbClr val="000000"/>
              </a:solidFill>
              <a:latin typeface="Arial" charset="0"/>
              <a:ea typeface="ＭＳ Ｐゴシック" pitchFamily="16" charset="-128"/>
              <a:cs typeface="ＭＳ Ｐゴシック" pitchFamily="-97" charset="-128"/>
            </a:endParaRPr>
          </a:p>
        </p:txBody>
      </p:sp>
      <p:pic>
        <p:nvPicPr>
          <p:cNvPr id="1026" name="Picture 2"/>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rot="670447" flipV="1">
            <a:off x="7308304" y="5229200"/>
            <a:ext cx="609228" cy="251537"/>
          </a:xfrm>
          <a:prstGeom prst="rect">
            <a:avLst/>
          </a:prstGeom>
          <a:noFill/>
          <a:ln w="9525">
            <a:noFill/>
            <a:miter lim="800000"/>
            <a:headEnd/>
            <a:tailEnd/>
          </a:ln>
        </p:spPr>
      </p:pic>
      <p:sp>
        <p:nvSpPr>
          <p:cNvPr id="66" name="Text Box 72"/>
          <p:cNvSpPr txBox="1">
            <a:spLocks noChangeArrowheads="1"/>
          </p:cNvSpPr>
          <p:nvPr/>
        </p:nvSpPr>
        <p:spPr bwMode="auto">
          <a:xfrm>
            <a:off x="4644008" y="1196752"/>
            <a:ext cx="11521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kumimoji="1" sz="2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kumimoji="1"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kumimoji="1" sz="2400">
                <a:solidFill>
                  <a:schemeClr val="tx1"/>
                </a:solidFill>
                <a:latin typeface="Arial" panose="020B0604020202020204" pitchFamily="34" charset="0"/>
                <a:ea typeface="MS PGothic" panose="020B0600070205080204" pitchFamily="34" charset="-128"/>
              </a:defRPr>
            </a:lvl9pPr>
          </a:lstStyle>
          <a:p>
            <a:pPr fontAlgn="base">
              <a:spcBef>
                <a:spcPct val="0"/>
              </a:spcBef>
              <a:spcAft>
                <a:spcPct val="0"/>
              </a:spcAft>
              <a:buFontTx/>
              <a:buNone/>
            </a:pPr>
            <a:r>
              <a:rPr kumimoji="0" lang="fr-CH" altLang="ja-JP" sz="1200" i="1" dirty="0">
                <a:solidFill>
                  <a:srgbClr val="C00000"/>
                </a:solidFill>
              </a:rPr>
              <a:t>GISC Brasilia</a:t>
            </a:r>
            <a:endParaRPr kumimoji="0" lang="fr-CH" altLang="ja-JP" sz="1200" dirty="0">
              <a:solidFill>
                <a:srgbClr val="000000"/>
              </a:solidFill>
            </a:endParaRPr>
          </a:p>
          <a:p>
            <a:pPr fontAlgn="base">
              <a:spcBef>
                <a:spcPct val="0"/>
              </a:spcBef>
              <a:spcAft>
                <a:spcPct val="0"/>
              </a:spcAft>
              <a:buFontTx/>
              <a:buNone/>
            </a:pPr>
            <a:r>
              <a:rPr kumimoji="0" lang="fr-CH" altLang="ja-JP" sz="1200" i="1" dirty="0">
                <a:solidFill>
                  <a:srgbClr val="C00000"/>
                </a:solidFill>
              </a:rPr>
              <a:t>Home Page</a:t>
            </a:r>
            <a:endParaRPr kumimoji="0" lang="en-US" altLang="ja-JP" sz="1800" dirty="0">
              <a:solidFill>
                <a:srgbClr val="000000"/>
              </a:solidFill>
            </a:endParaRPr>
          </a:p>
        </p:txBody>
      </p:sp>
    </p:spTree>
    <p:extLst>
      <p:ext uri="{BB962C8B-B14F-4D97-AF65-F5344CB8AC3E}">
        <p14:creationId xmlns:p14="http://schemas.microsoft.com/office/powerpoint/2010/main" val="17764732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067299"/>
            <a:ext cx="3059832" cy="3790701"/>
          </a:xfrm>
          <a:prstGeom prst="rect">
            <a:avLst/>
          </a:prstGeom>
          <a:noFill/>
          <a:ln w="9525">
            <a:noFill/>
            <a:miter lim="800000"/>
            <a:headEnd/>
            <a:tailEnd/>
          </a:ln>
        </p:spPr>
      </p:pic>
      <p:pic>
        <p:nvPicPr>
          <p:cNvPr id="5"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981974" y="0"/>
            <a:ext cx="3162026" cy="3576439"/>
          </a:xfrm>
          <a:prstGeom prst="rect">
            <a:avLst/>
          </a:prstGeom>
          <a:noFill/>
          <a:ln w="9525">
            <a:noFill/>
            <a:miter lim="800000"/>
            <a:headEnd/>
            <a:tailEnd/>
          </a:ln>
        </p:spPr>
      </p:pic>
      <p:pic>
        <p:nvPicPr>
          <p:cNvPr id="8"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987824" y="-2"/>
            <a:ext cx="3096344" cy="3899099"/>
          </a:xfrm>
          <a:prstGeom prst="rect">
            <a:avLst/>
          </a:prstGeom>
          <a:noFill/>
          <a:ln w="9525">
            <a:noFill/>
            <a:miter lim="800000"/>
            <a:headEnd/>
            <a:tailEnd/>
          </a:ln>
        </p:spPr>
      </p:pic>
      <p:pic>
        <p:nvPicPr>
          <p:cNvPr id="4"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0"/>
            <a:ext cx="2987824" cy="3229814"/>
          </a:xfrm>
          <a:prstGeom prst="rect">
            <a:avLst/>
          </a:prstGeom>
          <a:noFill/>
          <a:ln w="9525">
            <a:noFill/>
            <a:miter lim="800000"/>
            <a:headEnd/>
            <a:tailEnd/>
          </a:ln>
        </p:spPr>
      </p:pic>
      <p:pic>
        <p:nvPicPr>
          <p:cNvPr id="6" name="Picture 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987824" y="3178686"/>
            <a:ext cx="3096344" cy="3679314"/>
          </a:xfrm>
          <a:prstGeom prst="rect">
            <a:avLst/>
          </a:prstGeom>
          <a:noFill/>
          <a:ln w="9525">
            <a:noFill/>
            <a:miter lim="800000"/>
            <a:headEnd/>
            <a:tailEnd/>
          </a:ln>
        </p:spPr>
      </p:pic>
      <p:pic>
        <p:nvPicPr>
          <p:cNvPr id="7" name="Picture 2"/>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084168" y="3140968"/>
            <a:ext cx="3059832" cy="3797073"/>
          </a:xfrm>
          <a:prstGeom prst="rect">
            <a:avLst/>
          </a:prstGeom>
          <a:noFill/>
          <a:ln w="9525">
            <a:noFill/>
            <a:miter lim="800000"/>
            <a:headEnd/>
            <a:tailEnd/>
          </a:ln>
        </p:spPr>
      </p:pic>
      <p:pic>
        <p:nvPicPr>
          <p:cNvPr id="3" name="Picture 2"/>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860032" y="2564904"/>
            <a:ext cx="2304256" cy="2501655"/>
          </a:xfrm>
          <a:prstGeom prst="rect">
            <a:avLst/>
          </a:prstGeom>
          <a:noFill/>
          <a:ln w="9525">
            <a:noFill/>
            <a:miter lim="800000"/>
            <a:headEnd/>
            <a:tailEnd/>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214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r="1855" b="5273"/>
          <a:stretch>
            <a:fillRect/>
          </a:stretch>
        </p:blipFill>
        <p:spPr bwMode="auto">
          <a:xfrm>
            <a:off x="467544" y="620688"/>
            <a:ext cx="8280921" cy="5994418"/>
          </a:xfrm>
          <a:prstGeom prst="rect">
            <a:avLst/>
          </a:prstGeom>
          <a:noFill/>
          <a:ln w="9525">
            <a:noFill/>
            <a:miter lim="800000"/>
            <a:headEnd/>
            <a:tailEnd/>
          </a:ln>
          <a:effectLst/>
        </p:spPr>
      </p:pic>
      <p:sp>
        <p:nvSpPr>
          <p:cNvPr id="4" name="Titolo 1"/>
          <p:cNvSpPr txBox="1">
            <a:spLocks/>
          </p:cNvSpPr>
          <p:nvPr/>
        </p:nvSpPr>
        <p:spPr>
          <a:xfrm>
            <a:off x="441512" y="129648"/>
            <a:ext cx="7312991" cy="484632"/>
          </a:xfrm>
          <a:prstGeom prst="rect">
            <a:avLst/>
          </a:prstGeom>
        </p:spPr>
        <p:txBody>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lang="it-IT" altLang="en-US" sz="2400" b="1" dirty="0">
                <a:solidFill>
                  <a:srgbClr val="007AC2"/>
                </a:solidFill>
              </a:rPr>
              <a:t>HIS in</a:t>
            </a:r>
            <a:r>
              <a:rPr lang="en-US" altLang="en-US" sz="2400" b="1" dirty="0">
                <a:solidFill>
                  <a:srgbClr val="007AC2"/>
                </a:solidFill>
              </a:rPr>
              <a:t> La</a:t>
            </a:r>
            <a:r>
              <a:rPr lang="it-IT" altLang="en-US" sz="2400" b="1" dirty="0">
                <a:solidFill>
                  <a:srgbClr val="007AC2"/>
                </a:solidFill>
              </a:rPr>
              <a:t> </a:t>
            </a:r>
            <a:r>
              <a:rPr lang="it-IT" altLang="en-US" sz="2400" b="1" dirty="0" err="1">
                <a:solidFill>
                  <a:srgbClr val="007AC2"/>
                </a:solidFill>
              </a:rPr>
              <a:t>Plata</a:t>
            </a:r>
            <a:r>
              <a:rPr lang="it-IT" altLang="en-US" sz="2400" b="1" dirty="0">
                <a:solidFill>
                  <a:srgbClr val="007AC2"/>
                </a:solidFill>
              </a:rPr>
              <a:t> </a:t>
            </a:r>
            <a:r>
              <a:rPr lang="it-IT" altLang="en-US" sz="2400" b="1" dirty="0" err="1">
                <a:solidFill>
                  <a:srgbClr val="007AC2"/>
                </a:solidFill>
              </a:rPr>
              <a:t>Basin</a:t>
            </a:r>
            <a:endParaRPr lang="en-US" altLang="en-US" sz="2400" b="1" dirty="0">
              <a:solidFill>
                <a:srgbClr val="007AC2"/>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6987628"/>
          </a:xfrm>
          <a:prstGeom prst="rect">
            <a:avLst/>
          </a:prstGeom>
          <a:noFill/>
          <a:ln w="9525">
            <a:noFill/>
            <a:miter lim="800000"/>
            <a:headEnd/>
            <a:tailEnd/>
          </a:ln>
          <a:effectLst/>
        </p:spPr>
      </p:pic>
      <p:pic>
        <p:nvPicPr>
          <p:cNvPr id="3"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r="1855"/>
          <a:stretch>
            <a:fillRect/>
          </a:stretch>
        </p:blipFill>
        <p:spPr bwMode="auto">
          <a:xfrm>
            <a:off x="-47030" y="0"/>
            <a:ext cx="9343430" cy="7140028"/>
          </a:xfrm>
          <a:prstGeom prst="rect">
            <a:avLst/>
          </a:prstGeom>
          <a:noFill/>
          <a:ln w="9525">
            <a:noFill/>
            <a:miter lim="800000"/>
            <a:headEnd/>
            <a:tailEnd/>
          </a:ln>
          <a:effectLst/>
        </p:spPr>
      </p:pic>
      <p:pic>
        <p:nvPicPr>
          <p:cNvPr id="4"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0480" y="0"/>
            <a:ext cx="9292892" cy="7101408"/>
          </a:xfrm>
          <a:prstGeom prst="rect">
            <a:avLst/>
          </a:prstGeom>
          <a:noFill/>
          <a:ln w="9525">
            <a:noFill/>
            <a:miter lim="800000"/>
            <a:headEnd/>
            <a:tailEnd/>
          </a:ln>
          <a:effectLst/>
        </p:spPr>
      </p:pic>
      <p:pic>
        <p:nvPicPr>
          <p:cNvPr id="5" name="Picture 3"/>
          <p:cNvPicPr>
            <a:picLocks noChangeAspect="1" noChangeArrowheads="1"/>
          </p:cNvPicPr>
          <p:nvPr/>
        </p:nvPicPr>
        <p:blipFill>
          <a:blip r:embed="rId5" cstate="email">
            <a:extLst>
              <a:ext uri="{28A0092B-C50C-407E-A947-70E740481C1C}">
                <a14:useLocalDpi xmlns:a14="http://schemas.microsoft.com/office/drawing/2010/main"/>
              </a:ext>
            </a:extLst>
          </a:blip>
          <a:srcRect r="1660"/>
          <a:stretch>
            <a:fillRect/>
          </a:stretch>
        </p:blipFill>
        <p:spPr bwMode="auto">
          <a:xfrm>
            <a:off x="0" y="0"/>
            <a:ext cx="9448800" cy="7206210"/>
          </a:xfrm>
          <a:prstGeom prst="rect">
            <a:avLst/>
          </a:prstGeom>
          <a:noFill/>
          <a:ln w="9525">
            <a:noFill/>
            <a:miter lim="800000"/>
            <a:headEnd/>
            <a:tailEnd/>
          </a:ln>
          <a:effectLst/>
        </p:spPr>
      </p:pic>
      <p:pic>
        <p:nvPicPr>
          <p:cNvPr id="6" name="Picture 4"/>
          <p:cNvPicPr>
            <a:picLocks noChangeAspect="1" noChangeArrowheads="1"/>
          </p:cNvPicPr>
          <p:nvPr/>
        </p:nvPicPr>
        <p:blipFill>
          <a:blip r:embed="rId6" cstate="print"/>
          <a:srcRect/>
          <a:stretch>
            <a:fillRect/>
          </a:stretch>
        </p:blipFill>
        <p:spPr bwMode="auto">
          <a:xfrm>
            <a:off x="1214414" y="2285992"/>
            <a:ext cx="6067425" cy="3495675"/>
          </a:xfrm>
          <a:prstGeom prst="rect">
            <a:avLst/>
          </a:prstGeom>
          <a:noFill/>
          <a:ln w="9525">
            <a:noFill/>
            <a:miter lim="800000"/>
            <a:headEnd/>
            <a:tailEnd/>
          </a:ln>
          <a:effectLst/>
        </p:spPr>
      </p:pic>
      <p:pic>
        <p:nvPicPr>
          <p:cNvPr id="7" name="Picture 5"/>
          <p:cNvPicPr>
            <a:picLocks noChangeAspect="1" noChangeArrowheads="1"/>
          </p:cNvPicPr>
          <p:nvPr/>
        </p:nvPicPr>
        <p:blipFill>
          <a:blip r:embed="rId7" cstate="email">
            <a:extLst>
              <a:ext uri="{28A0092B-C50C-407E-A947-70E740481C1C}">
                <a14:useLocalDpi xmlns:a14="http://schemas.microsoft.com/office/drawing/2010/main"/>
              </a:ext>
            </a:extLst>
          </a:blip>
          <a:srcRect r="2588"/>
          <a:stretch>
            <a:fillRect/>
          </a:stretch>
        </p:blipFill>
        <p:spPr bwMode="auto">
          <a:xfrm>
            <a:off x="2571736" y="2143116"/>
            <a:ext cx="5882598" cy="4529142"/>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ou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ou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ou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noAutofit/>
          </a:bodyPr>
          <a:lstStyle/>
          <a:p>
            <a:pPr algn="ctr"/>
            <a:r>
              <a:rPr lang="it-IT" sz="2800" b="1" dirty="0">
                <a:solidFill>
                  <a:srgbClr val="007AC2"/>
                </a:solidFill>
                <a:cs typeface="Avenir LT Std 85 Heavy"/>
              </a:rPr>
              <a:t>DEVELOPMENT OF WHOS PLATA</a:t>
            </a:r>
            <a:endParaRPr lang="en-US" sz="2800" b="1" dirty="0">
              <a:solidFill>
                <a:srgbClr val="007AC2"/>
              </a:solidFill>
              <a:cs typeface="Avenir LT Std 85 Heavy"/>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sz="3600" dirty="0"/>
              <a:t>System of Systems: Supply-</a:t>
            </a:r>
            <a:r>
              <a:rPr lang="it-IT" sz="3600" dirty="0" err="1"/>
              <a:t>chain</a:t>
            </a:r>
            <a:r>
              <a:rPr lang="it-IT" sz="3600" dirty="0"/>
              <a:t> model</a:t>
            </a:r>
          </a:p>
        </p:txBody>
      </p:sp>
      <p:sp>
        <p:nvSpPr>
          <p:cNvPr id="4" name="TextBox 54"/>
          <p:cNvSpPr txBox="1"/>
          <p:nvPr/>
        </p:nvSpPr>
        <p:spPr>
          <a:xfrm>
            <a:off x="0" y="1124744"/>
            <a:ext cx="9144000" cy="477054"/>
          </a:xfrm>
          <a:prstGeom prst="rect">
            <a:avLst/>
          </a:prstGeom>
          <a:noFill/>
        </p:spPr>
        <p:txBody>
          <a:bodyPr wrap="square" rtlCol="0">
            <a:spAutoFit/>
          </a:bodyPr>
          <a:lstStyle/>
          <a:p>
            <a:pPr algn="ctr"/>
            <a:r>
              <a:rPr lang="en-US" sz="2500" dirty="0">
                <a:solidFill>
                  <a:schemeClr val="accent5">
                    <a:lumMod val="75000"/>
                  </a:schemeClr>
                </a:solidFill>
                <a:latin typeface="Calibri" panose="020F0502020204030204" pitchFamily="34" charset="0"/>
              </a:rPr>
              <a:t>Data/information is the new “oil”</a:t>
            </a:r>
          </a:p>
        </p:txBody>
      </p:sp>
      <p:pic>
        <p:nvPicPr>
          <p:cNvPr id="5" name="Picture 3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86733" y="2065983"/>
            <a:ext cx="8370533" cy="4002785"/>
          </a:xfrm>
          <a:prstGeom prst="rect">
            <a:avLst/>
          </a:prstGeom>
        </p:spPr>
      </p:pic>
    </p:spTree>
    <p:extLst>
      <p:ext uri="{BB962C8B-B14F-4D97-AF65-F5344CB8AC3E}">
        <p14:creationId xmlns:p14="http://schemas.microsoft.com/office/powerpoint/2010/main" val="5410579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596" y="181253"/>
            <a:ext cx="7031255" cy="924713"/>
          </a:xfrm>
        </p:spPr>
        <p:txBody>
          <a:bodyPr/>
          <a:lstStyle/>
          <a:p>
            <a:r>
              <a:rPr lang="en-US" dirty="0"/>
              <a:t>Supply-chain SECO</a:t>
            </a:r>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63387" y="1803859"/>
            <a:ext cx="1485440" cy="617029"/>
          </a:xfrm>
          <a:prstGeom prst="rect">
            <a:avLst/>
          </a:prstGeom>
        </p:spPr>
      </p:pic>
      <p:grpSp>
        <p:nvGrpSpPr>
          <p:cNvPr id="3" name="Group 5"/>
          <p:cNvGrpSpPr/>
          <p:nvPr/>
        </p:nvGrpSpPr>
        <p:grpSpPr>
          <a:xfrm>
            <a:off x="352313" y="1596233"/>
            <a:ext cx="1616048" cy="807608"/>
            <a:chOff x="6086452" y="-22396"/>
            <a:chExt cx="1616048" cy="807608"/>
          </a:xfrm>
        </p:grpSpPr>
        <p:pic>
          <p:nvPicPr>
            <p:cNvPr id="7" name="Picture 2" descr="Related image"/>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140047" y="422041"/>
              <a:ext cx="301053" cy="3010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495472" y="369714"/>
              <a:ext cx="1049660" cy="4154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774C2"/>
                  </a:solidFill>
                  <a:effectLst/>
                  <a:uLnTx/>
                  <a:uFillTx/>
                </a:rPr>
                <a:t>Harmonization capacity</a:t>
              </a:r>
            </a:p>
          </p:txBody>
        </p:sp>
        <p:pic>
          <p:nvPicPr>
            <p:cNvPr id="9" name="Picture 4" descr="Image result for human computer interface"/>
            <p:cNvPicPr>
              <a:picLocks noChangeAspect="1" noChangeArrowheads="1"/>
            </p:cNvPicPr>
            <p:nvPr/>
          </p:nvPicPr>
          <p:blipFill>
            <a:blip r:embed="rId5"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086452" y="76130"/>
              <a:ext cx="379181" cy="17063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504942" y="-22396"/>
              <a:ext cx="1197558" cy="4154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774C2"/>
                  </a:solidFill>
                  <a:effectLst/>
                  <a:uLnTx/>
                  <a:uFillTx/>
                </a:rPr>
                <a:t>Human Computer Interface</a:t>
              </a:r>
            </a:p>
          </p:txBody>
        </p:sp>
      </p:grpSp>
      <p:sp>
        <p:nvSpPr>
          <p:cNvPr id="11" name="Pentagon 10"/>
          <p:cNvSpPr/>
          <p:nvPr/>
        </p:nvSpPr>
        <p:spPr>
          <a:xfrm>
            <a:off x="161591" y="4936766"/>
            <a:ext cx="8799528" cy="1180657"/>
          </a:xfrm>
          <a:prstGeom prst="homePlate">
            <a:avLst>
              <a:gd name="adj" fmla="val 47413"/>
            </a:avLst>
          </a:prstGeom>
          <a:solidFill>
            <a:srgbClr val="86B5E0"/>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12" name="Pentagon 11"/>
          <p:cNvSpPr/>
          <p:nvPr/>
        </p:nvSpPr>
        <p:spPr>
          <a:xfrm>
            <a:off x="161592" y="3819291"/>
            <a:ext cx="8799528" cy="1112334"/>
          </a:xfrm>
          <a:prstGeom prst="homePlate">
            <a:avLst/>
          </a:prstGeom>
          <a:solidFill>
            <a:srgbClr val="ADD393"/>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13" name="Pentagon 12"/>
          <p:cNvSpPr/>
          <p:nvPr/>
        </p:nvSpPr>
        <p:spPr>
          <a:xfrm>
            <a:off x="161592" y="2474453"/>
            <a:ext cx="8799528" cy="1337456"/>
          </a:xfrm>
          <a:prstGeom prst="homePlate">
            <a:avLst>
              <a:gd name="adj" fmla="val 42692"/>
            </a:avLst>
          </a:prstGeom>
          <a:solidFill>
            <a:srgbClr val="F3A773"/>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grpSp>
        <p:nvGrpSpPr>
          <p:cNvPr id="4" name="Group 13"/>
          <p:cNvGrpSpPr/>
          <p:nvPr/>
        </p:nvGrpSpPr>
        <p:grpSpPr>
          <a:xfrm>
            <a:off x="1704155" y="3308904"/>
            <a:ext cx="4257831" cy="279499"/>
            <a:chOff x="957942" y="2452612"/>
            <a:chExt cx="6709037" cy="440405"/>
          </a:xfrm>
        </p:grpSpPr>
        <p:sp>
          <p:nvSpPr>
            <p:cNvPr id="15" name="Rounded Rectangle 14"/>
            <p:cNvSpPr/>
            <p:nvPr/>
          </p:nvSpPr>
          <p:spPr>
            <a:xfrm>
              <a:off x="957942" y="2526122"/>
              <a:ext cx="6709037"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endParaRPr>
            </a:p>
          </p:txBody>
        </p:sp>
        <p:sp>
          <p:nvSpPr>
            <p:cNvPr id="16" name="TextBox 15"/>
            <p:cNvSpPr txBox="1"/>
            <p:nvPr/>
          </p:nvSpPr>
          <p:spPr>
            <a:xfrm>
              <a:off x="4839479" y="2452612"/>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sp>
          <p:nvSpPr>
            <p:cNvPr id="17" name="TextBox 16"/>
            <p:cNvSpPr txBox="1"/>
            <p:nvPr/>
          </p:nvSpPr>
          <p:spPr>
            <a:xfrm>
              <a:off x="2588240" y="2456551"/>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rPr>
                <a:t>APIs</a:t>
              </a:r>
            </a:p>
          </p:txBody>
        </p:sp>
      </p:grpSp>
      <p:grpSp>
        <p:nvGrpSpPr>
          <p:cNvPr id="6" name="Group 17"/>
          <p:cNvGrpSpPr/>
          <p:nvPr/>
        </p:nvGrpSpPr>
        <p:grpSpPr>
          <a:xfrm>
            <a:off x="1669165" y="5063019"/>
            <a:ext cx="4257831" cy="279499"/>
            <a:chOff x="902808" y="4716853"/>
            <a:chExt cx="6709037" cy="440405"/>
          </a:xfrm>
        </p:grpSpPr>
        <p:sp>
          <p:nvSpPr>
            <p:cNvPr id="19" name="Rounded Rectangle 18"/>
            <p:cNvSpPr/>
            <p:nvPr/>
          </p:nvSpPr>
          <p:spPr>
            <a:xfrm>
              <a:off x="902808" y="4790783"/>
              <a:ext cx="6709037"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endParaRPr>
            </a:p>
          </p:txBody>
        </p:sp>
        <p:sp>
          <p:nvSpPr>
            <p:cNvPr id="20" name="TextBox 19"/>
            <p:cNvSpPr txBox="1"/>
            <p:nvPr/>
          </p:nvSpPr>
          <p:spPr>
            <a:xfrm>
              <a:off x="4874309" y="4716853"/>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sp>
          <p:nvSpPr>
            <p:cNvPr id="21" name="TextBox 20"/>
            <p:cNvSpPr txBox="1"/>
            <p:nvPr/>
          </p:nvSpPr>
          <p:spPr>
            <a:xfrm>
              <a:off x="2623070" y="4720792"/>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grpSp>
      <p:sp>
        <p:nvSpPr>
          <p:cNvPr id="22" name="Rounded Rectangle 21"/>
          <p:cNvSpPr/>
          <p:nvPr/>
        </p:nvSpPr>
        <p:spPr>
          <a:xfrm>
            <a:off x="1541989" y="3548883"/>
            <a:ext cx="4535158" cy="605321"/>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23" name="TextBox 22"/>
          <p:cNvSpPr txBox="1"/>
          <p:nvPr/>
        </p:nvSpPr>
        <p:spPr>
          <a:xfrm>
            <a:off x="1769306" y="3706880"/>
            <a:ext cx="4001967"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Brokering/Mediation</a:t>
            </a:r>
            <a:r>
              <a:rPr kumimoji="0" lang="en-US" sz="1600" b="0" i="0" u="none" strike="noStrike" kern="0" cap="none" spc="0" normalizeH="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 </a:t>
            </a: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Platform</a:t>
            </a:r>
          </a:p>
        </p:txBody>
      </p:sp>
      <p:sp>
        <p:nvSpPr>
          <p:cNvPr id="24" name="Rounded Rectangle 23"/>
          <p:cNvSpPr/>
          <p:nvPr/>
        </p:nvSpPr>
        <p:spPr>
          <a:xfrm>
            <a:off x="1552823" y="4409054"/>
            <a:ext cx="4531318" cy="636104"/>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25" name="TextBox 24"/>
          <p:cNvSpPr txBox="1"/>
          <p:nvPr/>
        </p:nvSpPr>
        <p:spPr>
          <a:xfrm>
            <a:off x="1619916" y="4558345"/>
            <a:ext cx="4342071"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Regional/National Data Nodes</a:t>
            </a:r>
          </a:p>
        </p:txBody>
      </p:sp>
      <p:sp>
        <p:nvSpPr>
          <p:cNvPr id="28" name="Rounded Rectangle 27"/>
          <p:cNvSpPr/>
          <p:nvPr/>
        </p:nvSpPr>
        <p:spPr>
          <a:xfrm rot="16200000">
            <a:off x="5031428" y="3877198"/>
            <a:ext cx="3395656" cy="801126"/>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29" name="TextBox 28"/>
          <p:cNvSpPr txBox="1"/>
          <p:nvPr/>
        </p:nvSpPr>
        <p:spPr>
          <a:xfrm rot="16200000">
            <a:off x="5130150" y="4089255"/>
            <a:ext cx="3283364" cy="584775"/>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Thematic/International Federation systems</a:t>
            </a:r>
          </a:p>
        </p:txBody>
      </p:sp>
      <p:grpSp>
        <p:nvGrpSpPr>
          <p:cNvPr id="14" name="Group 29"/>
          <p:cNvGrpSpPr/>
          <p:nvPr/>
        </p:nvGrpSpPr>
        <p:grpSpPr>
          <a:xfrm>
            <a:off x="1552825" y="2579933"/>
            <a:ext cx="4431704" cy="753501"/>
            <a:chOff x="719492" y="1379524"/>
            <a:chExt cx="6983008" cy="1187287"/>
          </a:xfrm>
          <a:effectLst/>
        </p:grpSpPr>
        <p:sp>
          <p:nvSpPr>
            <p:cNvPr id="31" name="Rounded Rectangle 30"/>
            <p:cNvSpPr/>
            <p:nvPr/>
          </p:nvSpPr>
          <p:spPr>
            <a:xfrm>
              <a:off x="3225613" y="1381190"/>
              <a:ext cx="2465624" cy="1173629"/>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2" name="Rounded Rectangle 31"/>
            <p:cNvSpPr/>
            <p:nvPr/>
          </p:nvSpPr>
          <p:spPr>
            <a:xfrm>
              <a:off x="5793886" y="1379524"/>
              <a:ext cx="1908614" cy="1173629"/>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3" name="Rounded Rectangle 32"/>
            <p:cNvSpPr/>
            <p:nvPr/>
          </p:nvSpPr>
          <p:spPr>
            <a:xfrm>
              <a:off x="719492" y="1393182"/>
              <a:ext cx="2323491" cy="1173629"/>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4" name="TextBox 33"/>
            <p:cNvSpPr txBox="1"/>
            <p:nvPr/>
          </p:nvSpPr>
          <p:spPr>
            <a:xfrm>
              <a:off x="845934" y="1431015"/>
              <a:ext cx="2066483" cy="824435"/>
            </a:xfrm>
            <a:prstGeom prst="rect">
              <a:avLst/>
            </a:prstGeom>
            <a:noFill/>
            <a:effectLst>
              <a:softEdge rad="127000"/>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WMO </a:t>
              </a:r>
              <a:r>
                <a:rPr kumimoji="0" lang="en-US" sz="1400" b="0" i="0" u="none" strike="noStrike" kern="0" cap="none" spc="0" normalizeH="0" baseline="0" noProof="0" dirty="0" err="1">
                  <a:ln w="0"/>
                  <a:solidFill>
                    <a:srgbClr val="0070C0"/>
                  </a:solidFill>
                  <a:effectLst>
                    <a:outerShdw blurRad="38100" dist="25400" dir="5400000" algn="ctr" rotWithShape="0">
                      <a:srgbClr val="6E747A">
                        <a:alpha val="43000"/>
                      </a:srgbClr>
                    </a:outerShdw>
                  </a:effectLst>
                  <a:uLnTx/>
                  <a:uFillTx/>
                </a:rPr>
                <a:t>CHy</a:t>
              </a: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 Programmes</a:t>
              </a:r>
            </a:p>
          </p:txBody>
        </p:sp>
        <p:sp>
          <p:nvSpPr>
            <p:cNvPr id="35" name="Rectangle 34"/>
            <p:cNvSpPr/>
            <p:nvPr/>
          </p:nvSpPr>
          <p:spPr>
            <a:xfrm>
              <a:off x="3153017" y="1439664"/>
              <a:ext cx="2514861" cy="484962"/>
            </a:xfrm>
            <a:prstGeom prst="rect">
              <a:avLst/>
            </a:prstGeom>
            <a:noFill/>
            <a:effectLst>
              <a:softEdge rad="127000"/>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WMO </a:t>
              </a:r>
              <a:r>
                <a:rPr kumimoji="0" lang="en-US" sz="1400" b="0" i="0" u="none" strike="noStrike" kern="0" cap="none" spc="0" normalizeH="0" baseline="0" noProof="0" dirty="0" err="1">
                  <a:ln w="0"/>
                  <a:solidFill>
                    <a:srgbClr val="0070C0"/>
                  </a:solidFill>
                  <a:effectLst>
                    <a:outerShdw blurRad="38100" dist="25400" dir="5400000" algn="ctr" rotWithShape="0">
                      <a:srgbClr val="6E747A">
                        <a:alpha val="43000"/>
                      </a:srgbClr>
                    </a:outerShdw>
                  </a:effectLst>
                  <a:uLnTx/>
                  <a:uFillTx/>
                </a:rPr>
                <a:t>CHy</a:t>
              </a: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 Projects</a:t>
              </a:r>
            </a:p>
          </p:txBody>
        </p:sp>
        <p:sp>
          <p:nvSpPr>
            <p:cNvPr id="36" name="Rectangle 35"/>
            <p:cNvSpPr/>
            <p:nvPr/>
          </p:nvSpPr>
          <p:spPr>
            <a:xfrm>
              <a:off x="6062961" y="1383172"/>
              <a:ext cx="1248728" cy="824435"/>
            </a:xfrm>
            <a:prstGeom prst="rect">
              <a:avLst/>
            </a:prstGeom>
            <a:noFill/>
            <a:effectLst>
              <a:softEdge rad="127000"/>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Other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Apps</a:t>
              </a:r>
            </a:p>
          </p:txBody>
        </p:sp>
      </p:grpSp>
      <p:sp>
        <p:nvSpPr>
          <p:cNvPr id="37" name="Rounded Rectangle 36"/>
          <p:cNvSpPr/>
          <p:nvPr/>
        </p:nvSpPr>
        <p:spPr>
          <a:xfrm>
            <a:off x="1553963" y="5316804"/>
            <a:ext cx="4523183" cy="618267"/>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8" name="TextBox 37"/>
          <p:cNvSpPr txBox="1"/>
          <p:nvPr/>
        </p:nvSpPr>
        <p:spPr>
          <a:xfrm>
            <a:off x="2165231" y="5450454"/>
            <a:ext cx="3251441"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Data systems</a:t>
            </a:r>
          </a:p>
        </p:txBody>
      </p:sp>
      <p:sp>
        <p:nvSpPr>
          <p:cNvPr id="39" name="Right Arrow 38"/>
          <p:cNvSpPr/>
          <p:nvPr/>
        </p:nvSpPr>
        <p:spPr>
          <a:xfrm rot="5400000">
            <a:off x="3464338" y="3517540"/>
            <a:ext cx="269547"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0" name="Right Arrow 39"/>
          <p:cNvSpPr/>
          <p:nvPr/>
        </p:nvSpPr>
        <p:spPr>
          <a:xfrm rot="16200000" flipV="1">
            <a:off x="3553849" y="3352631"/>
            <a:ext cx="242924"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1" name="Rounded Rectangle 40"/>
          <p:cNvSpPr/>
          <p:nvPr/>
        </p:nvSpPr>
        <p:spPr>
          <a:xfrm>
            <a:off x="1702326" y="4209154"/>
            <a:ext cx="4257831" cy="137768"/>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2" name="Right Arrow 41"/>
          <p:cNvSpPr/>
          <p:nvPr/>
        </p:nvSpPr>
        <p:spPr>
          <a:xfrm rot="5400000">
            <a:off x="3446964" y="4211801"/>
            <a:ext cx="304296"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3" name="Right Arrow 42"/>
          <p:cNvSpPr/>
          <p:nvPr/>
        </p:nvSpPr>
        <p:spPr>
          <a:xfrm rot="16200000" flipV="1">
            <a:off x="3550905" y="4023739"/>
            <a:ext cx="304296"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4" name="Right Arrow 43"/>
          <p:cNvSpPr/>
          <p:nvPr/>
        </p:nvSpPr>
        <p:spPr>
          <a:xfrm rot="5400000">
            <a:off x="1642557" y="3871591"/>
            <a:ext cx="975043"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5" name="Right Arrow 44"/>
          <p:cNvSpPr/>
          <p:nvPr/>
        </p:nvSpPr>
        <p:spPr>
          <a:xfrm rot="16200000" flipV="1">
            <a:off x="1746113" y="3687364"/>
            <a:ext cx="975043"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8" name="Right Arrow 47"/>
          <p:cNvSpPr/>
          <p:nvPr/>
        </p:nvSpPr>
        <p:spPr>
          <a:xfrm rot="5400000">
            <a:off x="3462370" y="4961498"/>
            <a:ext cx="304296"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9" name="TextBox 48"/>
          <p:cNvSpPr txBox="1"/>
          <p:nvPr/>
        </p:nvSpPr>
        <p:spPr>
          <a:xfrm>
            <a:off x="4175827" y="4143020"/>
            <a:ext cx="453970"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sp>
        <p:nvSpPr>
          <p:cNvPr id="50" name="TextBox 49"/>
          <p:cNvSpPr txBox="1"/>
          <p:nvPr/>
        </p:nvSpPr>
        <p:spPr>
          <a:xfrm>
            <a:off x="2747098" y="4145521"/>
            <a:ext cx="453970"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rPr>
              <a:t>APIs</a:t>
            </a:r>
          </a:p>
        </p:txBody>
      </p:sp>
      <p:grpSp>
        <p:nvGrpSpPr>
          <p:cNvPr id="18" name="Group 55"/>
          <p:cNvGrpSpPr/>
          <p:nvPr/>
        </p:nvGrpSpPr>
        <p:grpSpPr>
          <a:xfrm>
            <a:off x="6055774" y="2880134"/>
            <a:ext cx="310543" cy="2785515"/>
            <a:chOff x="7680009" y="1525291"/>
            <a:chExt cx="489320" cy="4389120"/>
          </a:xfrm>
        </p:grpSpPr>
        <p:sp>
          <p:nvSpPr>
            <p:cNvPr id="57" name="Rounded Rectangle 56"/>
            <p:cNvSpPr/>
            <p:nvPr/>
          </p:nvSpPr>
          <p:spPr>
            <a:xfrm rot="16200000">
              <a:off x="5733743" y="3611311"/>
              <a:ext cx="4389120"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58" name="TextBox 57"/>
            <p:cNvSpPr txBox="1"/>
            <p:nvPr/>
          </p:nvSpPr>
          <p:spPr>
            <a:xfrm rot="16200000">
              <a:off x="7535089" y="4650140"/>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sp>
          <p:nvSpPr>
            <p:cNvPr id="59" name="TextBox 58"/>
            <p:cNvSpPr txBox="1"/>
            <p:nvPr/>
          </p:nvSpPr>
          <p:spPr>
            <a:xfrm rot="16200000">
              <a:off x="7530732" y="3504958"/>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sp>
          <p:nvSpPr>
            <p:cNvPr id="60" name="TextBox 59"/>
            <p:cNvSpPr txBox="1"/>
            <p:nvPr/>
          </p:nvSpPr>
          <p:spPr>
            <a:xfrm rot="16200000">
              <a:off x="7535084" y="2290114"/>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grpSp>
      <p:sp>
        <p:nvSpPr>
          <p:cNvPr id="61" name="Can 60"/>
          <p:cNvSpPr/>
          <p:nvPr/>
        </p:nvSpPr>
        <p:spPr>
          <a:xfrm>
            <a:off x="1479534" y="5712238"/>
            <a:ext cx="403457" cy="353716"/>
          </a:xfrm>
          <a:prstGeom prst="can">
            <a:avLst>
              <a:gd name="adj" fmla="val 50000"/>
            </a:avLst>
          </a:prstGeom>
          <a:solidFill>
            <a:srgbClr val="FFC000"/>
          </a:solidFill>
          <a:ln w="12700" cap="flat" cmpd="sng" algn="ctr">
            <a:solidFill>
              <a:srgbClr val="FFC0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62" name="Can 61"/>
          <p:cNvSpPr/>
          <p:nvPr/>
        </p:nvSpPr>
        <p:spPr>
          <a:xfrm>
            <a:off x="6125131" y="5716657"/>
            <a:ext cx="403457" cy="353716"/>
          </a:xfrm>
          <a:prstGeom prst="can">
            <a:avLst>
              <a:gd name="adj" fmla="val 50000"/>
            </a:avLst>
          </a:prstGeom>
          <a:solidFill>
            <a:srgbClr val="FFC000"/>
          </a:solidFill>
          <a:ln w="12700" cap="flat" cmpd="sng" algn="ctr">
            <a:solidFill>
              <a:srgbClr val="FFC0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pic>
        <p:nvPicPr>
          <p:cNvPr id="65" name="Picture 64"/>
          <p:cNvPicPr>
            <a:picLocks noChangeAspect="1"/>
          </p:cNvPicPr>
          <p:nvPr/>
        </p:nvPicPr>
        <p:blipFill>
          <a:blip r:embed="rId6" cstate="email">
            <a:duotone>
              <a:srgbClr val="5B9BD5">
                <a:shade val="45000"/>
                <a:satMod val="135000"/>
              </a:srgbClr>
              <a:prstClr val="white"/>
            </a:duotone>
            <a:extLst>
              <a:ext uri="{28A0092B-C50C-407E-A947-70E740481C1C}">
                <a14:useLocalDpi xmlns:a14="http://schemas.microsoft.com/office/drawing/2010/main"/>
              </a:ext>
            </a:extLst>
          </a:blip>
          <a:stretch>
            <a:fillRect/>
          </a:stretch>
        </p:blipFill>
        <p:spPr>
          <a:xfrm>
            <a:off x="6811676" y="5690736"/>
            <a:ext cx="249743" cy="249743"/>
          </a:xfrm>
          <a:prstGeom prst="rect">
            <a:avLst/>
          </a:prstGeom>
        </p:spPr>
      </p:pic>
      <p:pic>
        <p:nvPicPr>
          <p:cNvPr id="66" name="Picture 65"/>
          <p:cNvPicPr>
            <a:picLocks noChangeAspect="1"/>
          </p:cNvPicPr>
          <p:nvPr/>
        </p:nvPicPr>
        <p:blipFill>
          <a:blip r:embed="rId6" cstate="email">
            <a:duotone>
              <a:srgbClr val="5B9BD5">
                <a:shade val="45000"/>
                <a:satMod val="135000"/>
              </a:srgbClr>
              <a:prstClr val="white"/>
            </a:duotone>
            <a:extLst>
              <a:ext uri="{28A0092B-C50C-407E-A947-70E740481C1C}">
                <a14:useLocalDpi xmlns:a14="http://schemas.microsoft.com/office/drawing/2010/main"/>
              </a:ext>
            </a:extLst>
          </a:blip>
          <a:stretch>
            <a:fillRect/>
          </a:stretch>
        </p:blipFill>
        <p:spPr>
          <a:xfrm>
            <a:off x="1660415" y="4460895"/>
            <a:ext cx="249743" cy="249743"/>
          </a:xfrm>
          <a:prstGeom prst="rect">
            <a:avLst/>
          </a:prstGeom>
        </p:spPr>
      </p:pic>
      <p:sp>
        <p:nvSpPr>
          <p:cNvPr id="67" name="TextBox 66"/>
          <p:cNvSpPr txBox="1"/>
          <p:nvPr/>
        </p:nvSpPr>
        <p:spPr>
          <a:xfrm rot="20186430">
            <a:off x="7304492" y="3046358"/>
            <a:ext cx="132472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DOWNSTREAM</a:t>
            </a:r>
          </a:p>
        </p:txBody>
      </p:sp>
      <p:sp>
        <p:nvSpPr>
          <p:cNvPr id="68" name="TextBox 67"/>
          <p:cNvSpPr txBox="1"/>
          <p:nvPr/>
        </p:nvSpPr>
        <p:spPr>
          <a:xfrm rot="20186430">
            <a:off x="7452072" y="5435641"/>
            <a:ext cx="102233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UPSTREAM</a:t>
            </a:r>
          </a:p>
        </p:txBody>
      </p:sp>
      <p:sp>
        <p:nvSpPr>
          <p:cNvPr id="69" name="TextBox 68"/>
          <p:cNvSpPr txBox="1"/>
          <p:nvPr/>
        </p:nvSpPr>
        <p:spPr>
          <a:xfrm rot="20186430">
            <a:off x="7371015" y="4254426"/>
            <a:ext cx="1128129"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MIDSTREAM</a:t>
            </a:r>
          </a:p>
        </p:txBody>
      </p:sp>
      <p:pic>
        <p:nvPicPr>
          <p:cNvPr id="70" name="Picture 2" descr="Related image"/>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640590" y="3642876"/>
            <a:ext cx="294883" cy="29488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Related image"/>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670214" y="4743966"/>
            <a:ext cx="232506" cy="23250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Related image"/>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752106" y="2649219"/>
            <a:ext cx="232506" cy="232506"/>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649184" y="3167570"/>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4327413" y="3171805"/>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5619351" y="3173556"/>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426098" y="2679509"/>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80"/>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723564" y="3913309"/>
            <a:ext cx="193471" cy="206957"/>
          </a:xfrm>
          <a:prstGeom prst="rect">
            <a:avLst/>
          </a:prstGeom>
        </p:spPr>
      </p:pic>
      <p:pic>
        <p:nvPicPr>
          <p:cNvPr id="82" name="Picture 81"/>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694940" y="3099399"/>
            <a:ext cx="193471" cy="206957"/>
          </a:xfrm>
          <a:prstGeom prst="rect">
            <a:avLst/>
          </a:prstGeom>
        </p:spPr>
      </p:pic>
      <p:pic>
        <p:nvPicPr>
          <p:cNvPr id="83" name="Picture 82"/>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295824" y="3092227"/>
            <a:ext cx="193471" cy="206957"/>
          </a:xfrm>
          <a:prstGeom prst="rect">
            <a:avLst/>
          </a:prstGeom>
        </p:spPr>
      </p:pic>
      <p:pic>
        <p:nvPicPr>
          <p:cNvPr id="84" name="Picture 83"/>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741763" y="4809656"/>
            <a:ext cx="177199" cy="189551"/>
          </a:xfrm>
          <a:prstGeom prst="rect">
            <a:avLst/>
          </a:prstGeom>
        </p:spPr>
      </p:pic>
      <p:sp>
        <p:nvSpPr>
          <p:cNvPr id="77" name="Rounded Rectangle 25"/>
          <p:cNvSpPr/>
          <p:nvPr/>
        </p:nvSpPr>
        <p:spPr>
          <a:xfrm rot="16200000">
            <a:off x="-775059" y="3889936"/>
            <a:ext cx="3361215" cy="741212"/>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grpSp>
        <p:nvGrpSpPr>
          <p:cNvPr id="26" name="Group 50"/>
          <p:cNvGrpSpPr/>
          <p:nvPr/>
        </p:nvGrpSpPr>
        <p:grpSpPr>
          <a:xfrm>
            <a:off x="1260047" y="2898935"/>
            <a:ext cx="310543" cy="2785515"/>
            <a:chOff x="373669" y="1554915"/>
            <a:chExt cx="489320" cy="4389120"/>
          </a:xfrm>
        </p:grpSpPr>
        <p:sp>
          <p:nvSpPr>
            <p:cNvPr id="79" name="Rounded Rectangle 51"/>
            <p:cNvSpPr/>
            <p:nvPr/>
          </p:nvSpPr>
          <p:spPr>
            <a:xfrm rot="16200000">
              <a:off x="-1572597" y="3640935"/>
              <a:ext cx="4389120"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85" name="TextBox 52"/>
            <p:cNvSpPr txBox="1"/>
            <p:nvPr/>
          </p:nvSpPr>
          <p:spPr>
            <a:xfrm rot="16200000">
              <a:off x="228749" y="4679764"/>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sp>
          <p:nvSpPr>
            <p:cNvPr id="86" name="TextBox 53"/>
            <p:cNvSpPr txBox="1"/>
            <p:nvPr/>
          </p:nvSpPr>
          <p:spPr>
            <a:xfrm rot="16200000">
              <a:off x="224392" y="3534582"/>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sp>
          <p:nvSpPr>
            <p:cNvPr id="87" name="TextBox 54"/>
            <p:cNvSpPr txBox="1"/>
            <p:nvPr/>
          </p:nvSpPr>
          <p:spPr>
            <a:xfrm rot="16200000">
              <a:off x="228744" y="2319738"/>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grpSp>
      <p:sp>
        <p:nvSpPr>
          <p:cNvPr id="88" name="Can 62"/>
          <p:cNvSpPr/>
          <p:nvPr/>
        </p:nvSpPr>
        <p:spPr>
          <a:xfrm>
            <a:off x="318203" y="5683190"/>
            <a:ext cx="403457" cy="353716"/>
          </a:xfrm>
          <a:prstGeom prst="can">
            <a:avLst>
              <a:gd name="adj" fmla="val 50000"/>
            </a:avLst>
          </a:prstGeom>
          <a:solidFill>
            <a:srgbClr val="FFC000"/>
          </a:solidFill>
          <a:ln w="12700" cap="flat" cmpd="sng" algn="ctr">
            <a:solidFill>
              <a:srgbClr val="FFC0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pic>
        <p:nvPicPr>
          <p:cNvPr id="89" name="Picture 63"/>
          <p:cNvPicPr>
            <a:picLocks noChangeAspect="1"/>
          </p:cNvPicPr>
          <p:nvPr/>
        </p:nvPicPr>
        <p:blipFill>
          <a:blip r:embed="rId6" cstate="email">
            <a:duotone>
              <a:srgbClr val="5B9BD5">
                <a:shade val="45000"/>
                <a:satMod val="135000"/>
              </a:srgbClr>
              <a:prstClr val="white"/>
            </a:duotone>
            <a:extLst>
              <a:ext uri="{28A0092B-C50C-407E-A947-70E740481C1C}">
                <a14:useLocalDpi xmlns:a14="http://schemas.microsoft.com/office/drawing/2010/main"/>
              </a:ext>
            </a:extLst>
          </a:blip>
          <a:stretch>
            <a:fillRect/>
          </a:stretch>
        </p:blipFill>
        <p:spPr>
          <a:xfrm>
            <a:off x="586464" y="2627516"/>
            <a:ext cx="249743" cy="249743"/>
          </a:xfrm>
          <a:prstGeom prst="rect">
            <a:avLst/>
          </a:prstGeom>
        </p:spPr>
      </p:pic>
      <p:sp>
        <p:nvSpPr>
          <p:cNvPr id="90" name="TextBox 26"/>
          <p:cNvSpPr txBox="1"/>
          <p:nvPr/>
        </p:nvSpPr>
        <p:spPr>
          <a:xfrm rot="16200000">
            <a:off x="-662928" y="4166204"/>
            <a:ext cx="3319580"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Workflow/Processing systems</a:t>
            </a:r>
          </a:p>
        </p:txBody>
      </p:sp>
    </p:spTree>
    <p:extLst>
      <p:ext uri="{BB962C8B-B14F-4D97-AF65-F5344CB8AC3E}">
        <p14:creationId xmlns:p14="http://schemas.microsoft.com/office/powerpoint/2010/main" val="337000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ppt_y</p:attrName>
                                        </p:attrNameLst>
                                      </p:cBhvr>
                                      <p:tavLst>
                                        <p:tav tm="0">
                                          <p:val>
                                            <p:strVal val="#ppt_y+#ppt_h*1.125000"/>
                                          </p:val>
                                        </p:tav>
                                        <p:tav tm="100000">
                                          <p:val>
                                            <p:strVal val="#ppt_y"/>
                                          </p:val>
                                        </p:tav>
                                      </p:tavLst>
                                    </p:anim>
                                    <p:animEffect transition="in" filter="wipe(up)">
                                      <p:cBhvr>
                                        <p:cTn id="8" dur="500"/>
                                        <p:tgtEl>
                                          <p:spTgt spid="3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p:tgtEl>
                                          <p:spTgt spid="38"/>
                                        </p:tgtEl>
                                        <p:attrNameLst>
                                          <p:attrName>ppt_y</p:attrName>
                                        </p:attrNameLst>
                                      </p:cBhvr>
                                      <p:tavLst>
                                        <p:tav tm="0">
                                          <p:val>
                                            <p:strVal val="#ppt_y+#ppt_h*1.125000"/>
                                          </p:val>
                                        </p:tav>
                                        <p:tav tm="100000">
                                          <p:val>
                                            <p:strVal val="#ppt_y"/>
                                          </p:val>
                                        </p:tav>
                                      </p:tavLst>
                                    </p:anim>
                                    <p:animEffect transition="in" filter="wipe(up)">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anim calcmode="lin" valueType="num">
                                      <p:cBhvr>
                                        <p:cTn id="18" dur="1000" fill="hold"/>
                                        <p:tgtEl>
                                          <p:spTgt spid="24"/>
                                        </p:tgtEl>
                                        <p:attrNameLst>
                                          <p:attrName>ppt_x</p:attrName>
                                        </p:attrNameLst>
                                      </p:cBhvr>
                                      <p:tavLst>
                                        <p:tav tm="0">
                                          <p:val>
                                            <p:strVal val="#ppt_x"/>
                                          </p:val>
                                        </p:tav>
                                        <p:tav tm="100000">
                                          <p:val>
                                            <p:strVal val="#ppt_x"/>
                                          </p:val>
                                        </p:tav>
                                      </p:tavLst>
                                    </p:anim>
                                    <p:anim calcmode="lin" valueType="num">
                                      <p:cBhvr>
                                        <p:cTn id="19" dur="1000" fill="hold"/>
                                        <p:tgtEl>
                                          <p:spTgt spid="2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anim calcmode="lin" valueType="num">
                                      <p:cBhvr>
                                        <p:cTn id="35" dur="1000" fill="hold"/>
                                        <p:tgtEl>
                                          <p:spTgt spid="22"/>
                                        </p:tgtEl>
                                        <p:attrNameLst>
                                          <p:attrName>ppt_x</p:attrName>
                                        </p:attrNameLst>
                                      </p:cBhvr>
                                      <p:tavLst>
                                        <p:tav tm="0">
                                          <p:val>
                                            <p:strVal val="#ppt_x"/>
                                          </p:val>
                                        </p:tav>
                                        <p:tav tm="100000">
                                          <p:val>
                                            <p:strVal val="#ppt_x"/>
                                          </p:val>
                                        </p:tav>
                                      </p:tavLst>
                                    </p:anim>
                                    <p:anim calcmode="lin" valueType="num">
                                      <p:cBhvr>
                                        <p:cTn id="3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0"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800" decel="100000"/>
                                        <p:tgtEl>
                                          <p:spTgt spid="29"/>
                                        </p:tgtEl>
                                      </p:cBhvr>
                                    </p:animEffect>
                                    <p:anim calcmode="lin" valueType="num">
                                      <p:cBhvr>
                                        <p:cTn id="49" dur="800" decel="100000" fill="hold"/>
                                        <p:tgtEl>
                                          <p:spTgt spid="29"/>
                                        </p:tgtEl>
                                        <p:attrNameLst>
                                          <p:attrName>style.rotation</p:attrName>
                                        </p:attrNameLst>
                                      </p:cBhvr>
                                      <p:tavLst>
                                        <p:tav tm="0">
                                          <p:val>
                                            <p:fltVal val="-90"/>
                                          </p:val>
                                        </p:tav>
                                        <p:tav tm="100000">
                                          <p:val>
                                            <p:fltVal val="0"/>
                                          </p:val>
                                        </p:tav>
                                      </p:tavLst>
                                    </p:anim>
                                    <p:anim calcmode="lin" valueType="num">
                                      <p:cBhvr>
                                        <p:cTn id="50" dur="800" decel="100000" fill="hold"/>
                                        <p:tgtEl>
                                          <p:spTgt spid="29"/>
                                        </p:tgtEl>
                                        <p:attrNameLst>
                                          <p:attrName>ppt_x</p:attrName>
                                        </p:attrNameLst>
                                      </p:cBhvr>
                                      <p:tavLst>
                                        <p:tav tm="0">
                                          <p:val>
                                            <p:strVal val="#ppt_x+0.4"/>
                                          </p:val>
                                        </p:tav>
                                        <p:tav tm="100000">
                                          <p:val>
                                            <p:strVal val="#ppt_x-0.05"/>
                                          </p:val>
                                        </p:tav>
                                      </p:tavLst>
                                    </p:anim>
                                    <p:anim calcmode="lin" valueType="num">
                                      <p:cBhvr>
                                        <p:cTn id="51" dur="800" decel="100000" fill="hold"/>
                                        <p:tgtEl>
                                          <p:spTgt spid="29"/>
                                        </p:tgtEl>
                                        <p:attrNameLst>
                                          <p:attrName>ppt_y</p:attrName>
                                        </p:attrNameLst>
                                      </p:cBhvr>
                                      <p:tavLst>
                                        <p:tav tm="0">
                                          <p:val>
                                            <p:strVal val="#ppt_y-0.4"/>
                                          </p:val>
                                        </p:tav>
                                        <p:tav tm="100000">
                                          <p:val>
                                            <p:strVal val="#ppt_y+0.1"/>
                                          </p:val>
                                        </p:tav>
                                      </p:tavLst>
                                    </p:anim>
                                    <p:anim calcmode="lin" valueType="num">
                                      <p:cBhvr>
                                        <p:cTn id="52" dur="200" accel="100000" fill="hold">
                                          <p:stCondLst>
                                            <p:cond delay="800"/>
                                          </p:stCondLst>
                                        </p:cTn>
                                        <p:tgtEl>
                                          <p:spTgt spid="29"/>
                                        </p:tgtEl>
                                        <p:attrNameLst>
                                          <p:attrName>ppt_x</p:attrName>
                                        </p:attrNameLst>
                                      </p:cBhvr>
                                      <p:tavLst>
                                        <p:tav tm="0">
                                          <p:val>
                                            <p:strVal val="#ppt_x-0.05"/>
                                          </p:val>
                                        </p:tav>
                                        <p:tav tm="100000">
                                          <p:val>
                                            <p:strVal val="#ppt_x"/>
                                          </p:val>
                                        </p:tav>
                                      </p:tavLst>
                                    </p:anim>
                                    <p:anim calcmode="lin" valueType="num">
                                      <p:cBhvr>
                                        <p:cTn id="53" dur="200" accel="100000" fill="hold">
                                          <p:stCondLst>
                                            <p:cond delay="800"/>
                                          </p:stCondLst>
                                        </p:cTn>
                                        <p:tgtEl>
                                          <p:spTgt spid="29"/>
                                        </p:tgtEl>
                                        <p:attrNameLst>
                                          <p:attrName>ppt_y</p:attrName>
                                        </p:attrNameLst>
                                      </p:cBhvr>
                                      <p:tavLst>
                                        <p:tav tm="0">
                                          <p:val>
                                            <p:strVal val="#ppt_y+0.1"/>
                                          </p:val>
                                        </p:tav>
                                        <p:tav tm="100000">
                                          <p:val>
                                            <p:strVal val="#ppt_y"/>
                                          </p:val>
                                        </p:tav>
                                      </p:tavLst>
                                    </p:anim>
                                  </p:childTnLst>
                                </p:cTn>
                              </p:par>
                              <p:par>
                                <p:cTn id="54" presetID="3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800" decel="100000"/>
                                        <p:tgtEl>
                                          <p:spTgt spid="28"/>
                                        </p:tgtEl>
                                      </p:cBhvr>
                                    </p:animEffect>
                                    <p:anim calcmode="lin" valueType="num">
                                      <p:cBhvr>
                                        <p:cTn id="57" dur="800" decel="100000" fill="hold"/>
                                        <p:tgtEl>
                                          <p:spTgt spid="28"/>
                                        </p:tgtEl>
                                        <p:attrNameLst>
                                          <p:attrName>style.rotation</p:attrName>
                                        </p:attrNameLst>
                                      </p:cBhvr>
                                      <p:tavLst>
                                        <p:tav tm="0">
                                          <p:val>
                                            <p:fltVal val="-90"/>
                                          </p:val>
                                        </p:tav>
                                        <p:tav tm="100000">
                                          <p:val>
                                            <p:fltVal val="0"/>
                                          </p:val>
                                        </p:tav>
                                      </p:tavLst>
                                    </p:anim>
                                    <p:anim calcmode="lin" valueType="num">
                                      <p:cBhvr>
                                        <p:cTn id="58" dur="800" decel="100000" fill="hold"/>
                                        <p:tgtEl>
                                          <p:spTgt spid="28"/>
                                        </p:tgtEl>
                                        <p:attrNameLst>
                                          <p:attrName>ppt_x</p:attrName>
                                        </p:attrNameLst>
                                      </p:cBhvr>
                                      <p:tavLst>
                                        <p:tav tm="0">
                                          <p:val>
                                            <p:strVal val="#ppt_x+0.4"/>
                                          </p:val>
                                        </p:tav>
                                        <p:tav tm="100000">
                                          <p:val>
                                            <p:strVal val="#ppt_x-0.05"/>
                                          </p:val>
                                        </p:tav>
                                      </p:tavLst>
                                    </p:anim>
                                    <p:anim calcmode="lin" valueType="num">
                                      <p:cBhvr>
                                        <p:cTn id="59" dur="800" decel="100000" fill="hold"/>
                                        <p:tgtEl>
                                          <p:spTgt spid="28"/>
                                        </p:tgtEl>
                                        <p:attrNameLst>
                                          <p:attrName>ppt_y</p:attrName>
                                        </p:attrNameLst>
                                      </p:cBhvr>
                                      <p:tavLst>
                                        <p:tav tm="0">
                                          <p:val>
                                            <p:strVal val="#ppt_y-0.4"/>
                                          </p:val>
                                        </p:tav>
                                        <p:tav tm="100000">
                                          <p:val>
                                            <p:strVal val="#ppt_y+0.1"/>
                                          </p:val>
                                        </p:tav>
                                      </p:tavLst>
                                    </p:anim>
                                    <p:anim calcmode="lin" valueType="num">
                                      <p:cBhvr>
                                        <p:cTn id="60" dur="200" accel="100000" fill="hold">
                                          <p:stCondLst>
                                            <p:cond delay="800"/>
                                          </p:stCondLst>
                                        </p:cTn>
                                        <p:tgtEl>
                                          <p:spTgt spid="28"/>
                                        </p:tgtEl>
                                        <p:attrNameLst>
                                          <p:attrName>ppt_x</p:attrName>
                                        </p:attrNameLst>
                                      </p:cBhvr>
                                      <p:tavLst>
                                        <p:tav tm="0">
                                          <p:val>
                                            <p:strVal val="#ppt_x-0.05"/>
                                          </p:val>
                                        </p:tav>
                                        <p:tav tm="100000">
                                          <p:val>
                                            <p:strVal val="#ppt_x"/>
                                          </p:val>
                                        </p:tav>
                                      </p:tavLst>
                                    </p:anim>
                                    <p:anim calcmode="lin" valueType="num">
                                      <p:cBhvr>
                                        <p:cTn id="61" dur="200" accel="100000" fill="hold">
                                          <p:stCondLst>
                                            <p:cond delay="800"/>
                                          </p:stCondLst>
                                        </p:cTn>
                                        <p:tgtEl>
                                          <p:spTgt spid="28"/>
                                        </p:tgtEl>
                                        <p:attrNameLst>
                                          <p:attrName>ppt_y</p:attrName>
                                        </p:attrNameLst>
                                      </p:cBhvr>
                                      <p:tavLst>
                                        <p:tav tm="0">
                                          <p:val>
                                            <p:strVal val="#ppt_y+0.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30" presetClass="entr" presetSubtype="0" fill="hold" grpId="0" nodeType="clickEffect">
                                  <p:stCondLst>
                                    <p:cond delay="0"/>
                                  </p:stCondLst>
                                  <p:childTnLst>
                                    <p:set>
                                      <p:cBhvr>
                                        <p:cTn id="65" dur="1" fill="hold">
                                          <p:stCondLst>
                                            <p:cond delay="0"/>
                                          </p:stCondLst>
                                        </p:cTn>
                                        <p:tgtEl>
                                          <p:spTgt spid="90"/>
                                        </p:tgtEl>
                                        <p:attrNameLst>
                                          <p:attrName>style.visibility</p:attrName>
                                        </p:attrNameLst>
                                      </p:cBhvr>
                                      <p:to>
                                        <p:strVal val="visible"/>
                                      </p:to>
                                    </p:set>
                                    <p:animEffect transition="in" filter="fade">
                                      <p:cBhvr>
                                        <p:cTn id="66" dur="800" decel="100000"/>
                                        <p:tgtEl>
                                          <p:spTgt spid="90"/>
                                        </p:tgtEl>
                                      </p:cBhvr>
                                    </p:animEffect>
                                    <p:anim calcmode="lin" valueType="num">
                                      <p:cBhvr>
                                        <p:cTn id="67" dur="800" decel="100000" fill="hold"/>
                                        <p:tgtEl>
                                          <p:spTgt spid="90"/>
                                        </p:tgtEl>
                                        <p:attrNameLst>
                                          <p:attrName>style.rotation</p:attrName>
                                        </p:attrNameLst>
                                      </p:cBhvr>
                                      <p:tavLst>
                                        <p:tav tm="0">
                                          <p:val>
                                            <p:fltVal val="-90"/>
                                          </p:val>
                                        </p:tav>
                                        <p:tav tm="100000">
                                          <p:val>
                                            <p:fltVal val="0"/>
                                          </p:val>
                                        </p:tav>
                                      </p:tavLst>
                                    </p:anim>
                                    <p:anim calcmode="lin" valueType="num">
                                      <p:cBhvr>
                                        <p:cTn id="68" dur="800" decel="100000" fill="hold"/>
                                        <p:tgtEl>
                                          <p:spTgt spid="90"/>
                                        </p:tgtEl>
                                        <p:attrNameLst>
                                          <p:attrName>ppt_x</p:attrName>
                                        </p:attrNameLst>
                                      </p:cBhvr>
                                      <p:tavLst>
                                        <p:tav tm="0">
                                          <p:val>
                                            <p:strVal val="#ppt_x+0.4"/>
                                          </p:val>
                                        </p:tav>
                                        <p:tav tm="100000">
                                          <p:val>
                                            <p:strVal val="#ppt_x-0.05"/>
                                          </p:val>
                                        </p:tav>
                                      </p:tavLst>
                                    </p:anim>
                                    <p:anim calcmode="lin" valueType="num">
                                      <p:cBhvr>
                                        <p:cTn id="69" dur="800" decel="100000" fill="hold"/>
                                        <p:tgtEl>
                                          <p:spTgt spid="90"/>
                                        </p:tgtEl>
                                        <p:attrNameLst>
                                          <p:attrName>ppt_y</p:attrName>
                                        </p:attrNameLst>
                                      </p:cBhvr>
                                      <p:tavLst>
                                        <p:tav tm="0">
                                          <p:val>
                                            <p:strVal val="#ppt_y-0.4"/>
                                          </p:val>
                                        </p:tav>
                                        <p:tav tm="100000">
                                          <p:val>
                                            <p:strVal val="#ppt_y+0.1"/>
                                          </p:val>
                                        </p:tav>
                                      </p:tavLst>
                                    </p:anim>
                                    <p:anim calcmode="lin" valueType="num">
                                      <p:cBhvr>
                                        <p:cTn id="70" dur="200" accel="100000" fill="hold">
                                          <p:stCondLst>
                                            <p:cond delay="800"/>
                                          </p:stCondLst>
                                        </p:cTn>
                                        <p:tgtEl>
                                          <p:spTgt spid="90"/>
                                        </p:tgtEl>
                                        <p:attrNameLst>
                                          <p:attrName>ppt_x</p:attrName>
                                        </p:attrNameLst>
                                      </p:cBhvr>
                                      <p:tavLst>
                                        <p:tav tm="0">
                                          <p:val>
                                            <p:strVal val="#ppt_x-0.05"/>
                                          </p:val>
                                        </p:tav>
                                        <p:tav tm="100000">
                                          <p:val>
                                            <p:strVal val="#ppt_x"/>
                                          </p:val>
                                        </p:tav>
                                      </p:tavLst>
                                    </p:anim>
                                    <p:anim calcmode="lin" valueType="num">
                                      <p:cBhvr>
                                        <p:cTn id="71" dur="200" accel="100000" fill="hold">
                                          <p:stCondLst>
                                            <p:cond delay="800"/>
                                          </p:stCondLst>
                                        </p:cTn>
                                        <p:tgtEl>
                                          <p:spTgt spid="90"/>
                                        </p:tgtEl>
                                        <p:attrNameLst>
                                          <p:attrName>ppt_y</p:attrName>
                                        </p:attrNameLst>
                                      </p:cBhvr>
                                      <p:tavLst>
                                        <p:tav tm="0">
                                          <p:val>
                                            <p:strVal val="#ppt_y+0.1"/>
                                          </p:val>
                                        </p:tav>
                                        <p:tav tm="100000">
                                          <p:val>
                                            <p:strVal val="#ppt_y"/>
                                          </p:val>
                                        </p:tav>
                                      </p:tavLst>
                                    </p:anim>
                                  </p:childTnLst>
                                </p:cTn>
                              </p:par>
                              <p:par>
                                <p:cTn id="72" presetID="30" presetClass="entr" presetSubtype="0" fill="hold" grpId="0" nodeType="withEffect">
                                  <p:stCondLst>
                                    <p:cond delay="0"/>
                                  </p:stCondLst>
                                  <p:childTnLst>
                                    <p:set>
                                      <p:cBhvr>
                                        <p:cTn id="73" dur="1" fill="hold">
                                          <p:stCondLst>
                                            <p:cond delay="0"/>
                                          </p:stCondLst>
                                        </p:cTn>
                                        <p:tgtEl>
                                          <p:spTgt spid="77"/>
                                        </p:tgtEl>
                                        <p:attrNameLst>
                                          <p:attrName>style.visibility</p:attrName>
                                        </p:attrNameLst>
                                      </p:cBhvr>
                                      <p:to>
                                        <p:strVal val="visible"/>
                                      </p:to>
                                    </p:set>
                                    <p:animEffect transition="in" filter="fade">
                                      <p:cBhvr>
                                        <p:cTn id="74" dur="800" decel="100000"/>
                                        <p:tgtEl>
                                          <p:spTgt spid="77"/>
                                        </p:tgtEl>
                                      </p:cBhvr>
                                    </p:animEffect>
                                    <p:anim calcmode="lin" valueType="num">
                                      <p:cBhvr>
                                        <p:cTn id="75" dur="800" decel="100000" fill="hold"/>
                                        <p:tgtEl>
                                          <p:spTgt spid="77"/>
                                        </p:tgtEl>
                                        <p:attrNameLst>
                                          <p:attrName>style.rotation</p:attrName>
                                        </p:attrNameLst>
                                      </p:cBhvr>
                                      <p:tavLst>
                                        <p:tav tm="0">
                                          <p:val>
                                            <p:fltVal val="-90"/>
                                          </p:val>
                                        </p:tav>
                                        <p:tav tm="100000">
                                          <p:val>
                                            <p:fltVal val="0"/>
                                          </p:val>
                                        </p:tav>
                                      </p:tavLst>
                                    </p:anim>
                                    <p:anim calcmode="lin" valueType="num">
                                      <p:cBhvr>
                                        <p:cTn id="76" dur="800" decel="100000" fill="hold"/>
                                        <p:tgtEl>
                                          <p:spTgt spid="77"/>
                                        </p:tgtEl>
                                        <p:attrNameLst>
                                          <p:attrName>ppt_x</p:attrName>
                                        </p:attrNameLst>
                                      </p:cBhvr>
                                      <p:tavLst>
                                        <p:tav tm="0">
                                          <p:val>
                                            <p:strVal val="#ppt_x+0.4"/>
                                          </p:val>
                                        </p:tav>
                                        <p:tav tm="100000">
                                          <p:val>
                                            <p:strVal val="#ppt_x-0.05"/>
                                          </p:val>
                                        </p:tav>
                                      </p:tavLst>
                                    </p:anim>
                                    <p:anim calcmode="lin" valueType="num">
                                      <p:cBhvr>
                                        <p:cTn id="77" dur="800" decel="100000" fill="hold"/>
                                        <p:tgtEl>
                                          <p:spTgt spid="77"/>
                                        </p:tgtEl>
                                        <p:attrNameLst>
                                          <p:attrName>ppt_y</p:attrName>
                                        </p:attrNameLst>
                                      </p:cBhvr>
                                      <p:tavLst>
                                        <p:tav tm="0">
                                          <p:val>
                                            <p:strVal val="#ppt_y-0.4"/>
                                          </p:val>
                                        </p:tav>
                                        <p:tav tm="100000">
                                          <p:val>
                                            <p:strVal val="#ppt_y+0.1"/>
                                          </p:val>
                                        </p:tav>
                                      </p:tavLst>
                                    </p:anim>
                                    <p:anim calcmode="lin" valueType="num">
                                      <p:cBhvr>
                                        <p:cTn id="78" dur="200" accel="100000" fill="hold">
                                          <p:stCondLst>
                                            <p:cond delay="800"/>
                                          </p:stCondLst>
                                        </p:cTn>
                                        <p:tgtEl>
                                          <p:spTgt spid="77"/>
                                        </p:tgtEl>
                                        <p:attrNameLst>
                                          <p:attrName>ppt_x</p:attrName>
                                        </p:attrNameLst>
                                      </p:cBhvr>
                                      <p:tavLst>
                                        <p:tav tm="0">
                                          <p:val>
                                            <p:strVal val="#ppt_x-0.05"/>
                                          </p:val>
                                        </p:tav>
                                        <p:tav tm="100000">
                                          <p:val>
                                            <p:strVal val="#ppt_x"/>
                                          </p:val>
                                        </p:tav>
                                      </p:tavLst>
                                    </p:anim>
                                    <p:anim calcmode="lin" valueType="num">
                                      <p:cBhvr>
                                        <p:cTn id="79" dur="200" accel="100000" fill="hold">
                                          <p:stCondLst>
                                            <p:cond delay="800"/>
                                          </p:stCondLst>
                                        </p:cTn>
                                        <p:tgtEl>
                                          <p:spTgt spid="77"/>
                                        </p:tgtEl>
                                        <p:attrNameLst>
                                          <p:attrName>ppt_y</p:attrName>
                                        </p:attrNameLst>
                                      </p:cBhvr>
                                      <p:tavLst>
                                        <p:tav tm="0">
                                          <p:val>
                                            <p:strVal val="#ppt_y+0.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35" presetClass="entr" presetSubtype="0" fill="hold" grpId="0" nodeType="click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fade">
                                      <p:cBhvr>
                                        <p:cTn id="84" dur="2000"/>
                                        <p:tgtEl>
                                          <p:spTgt spid="61"/>
                                        </p:tgtEl>
                                      </p:cBhvr>
                                    </p:animEffect>
                                    <p:anim calcmode="lin" valueType="num">
                                      <p:cBhvr>
                                        <p:cTn id="85" dur="2000" fill="hold"/>
                                        <p:tgtEl>
                                          <p:spTgt spid="61"/>
                                        </p:tgtEl>
                                        <p:attrNameLst>
                                          <p:attrName>style.rotation</p:attrName>
                                        </p:attrNameLst>
                                      </p:cBhvr>
                                      <p:tavLst>
                                        <p:tav tm="0">
                                          <p:val>
                                            <p:fltVal val="720"/>
                                          </p:val>
                                        </p:tav>
                                        <p:tav tm="100000">
                                          <p:val>
                                            <p:fltVal val="0"/>
                                          </p:val>
                                        </p:tav>
                                      </p:tavLst>
                                    </p:anim>
                                    <p:anim calcmode="lin" valueType="num">
                                      <p:cBhvr>
                                        <p:cTn id="86" dur="2000" fill="hold"/>
                                        <p:tgtEl>
                                          <p:spTgt spid="61"/>
                                        </p:tgtEl>
                                        <p:attrNameLst>
                                          <p:attrName>ppt_h</p:attrName>
                                        </p:attrNameLst>
                                      </p:cBhvr>
                                      <p:tavLst>
                                        <p:tav tm="0">
                                          <p:val>
                                            <p:fltVal val="0"/>
                                          </p:val>
                                        </p:tav>
                                        <p:tav tm="100000">
                                          <p:val>
                                            <p:strVal val="#ppt_h"/>
                                          </p:val>
                                        </p:tav>
                                      </p:tavLst>
                                    </p:anim>
                                    <p:anim calcmode="lin" valueType="num">
                                      <p:cBhvr>
                                        <p:cTn id="87" dur="2000" fill="hold"/>
                                        <p:tgtEl>
                                          <p:spTgt spid="61"/>
                                        </p:tgtEl>
                                        <p:attrNameLst>
                                          <p:attrName>ppt_w</p:attrName>
                                        </p:attrNameLst>
                                      </p:cBhvr>
                                      <p:tavLst>
                                        <p:tav tm="0">
                                          <p:val>
                                            <p:fltVal val="0"/>
                                          </p:val>
                                        </p:tav>
                                        <p:tav tm="100000">
                                          <p:val>
                                            <p:strVal val="#ppt_w"/>
                                          </p:val>
                                        </p:tav>
                                      </p:tavLst>
                                    </p:anim>
                                  </p:childTnLst>
                                </p:cTn>
                              </p:par>
                              <p:par>
                                <p:cTn id="88" presetID="35" presetClass="entr" presetSubtype="0"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fade">
                                      <p:cBhvr>
                                        <p:cTn id="90" dur="2000"/>
                                        <p:tgtEl>
                                          <p:spTgt spid="62"/>
                                        </p:tgtEl>
                                      </p:cBhvr>
                                    </p:animEffect>
                                    <p:anim calcmode="lin" valueType="num">
                                      <p:cBhvr>
                                        <p:cTn id="91" dur="2000" fill="hold"/>
                                        <p:tgtEl>
                                          <p:spTgt spid="62"/>
                                        </p:tgtEl>
                                        <p:attrNameLst>
                                          <p:attrName>style.rotation</p:attrName>
                                        </p:attrNameLst>
                                      </p:cBhvr>
                                      <p:tavLst>
                                        <p:tav tm="0">
                                          <p:val>
                                            <p:fltVal val="720"/>
                                          </p:val>
                                        </p:tav>
                                        <p:tav tm="100000">
                                          <p:val>
                                            <p:fltVal val="0"/>
                                          </p:val>
                                        </p:tav>
                                      </p:tavLst>
                                    </p:anim>
                                    <p:anim calcmode="lin" valueType="num">
                                      <p:cBhvr>
                                        <p:cTn id="92" dur="2000" fill="hold"/>
                                        <p:tgtEl>
                                          <p:spTgt spid="62"/>
                                        </p:tgtEl>
                                        <p:attrNameLst>
                                          <p:attrName>ppt_h</p:attrName>
                                        </p:attrNameLst>
                                      </p:cBhvr>
                                      <p:tavLst>
                                        <p:tav tm="0">
                                          <p:val>
                                            <p:fltVal val="0"/>
                                          </p:val>
                                        </p:tav>
                                        <p:tav tm="100000">
                                          <p:val>
                                            <p:strVal val="#ppt_h"/>
                                          </p:val>
                                        </p:tav>
                                      </p:tavLst>
                                    </p:anim>
                                    <p:anim calcmode="lin" valueType="num">
                                      <p:cBhvr>
                                        <p:cTn id="93" dur="2000" fill="hold"/>
                                        <p:tgtEl>
                                          <p:spTgt spid="62"/>
                                        </p:tgtEl>
                                        <p:attrNameLst>
                                          <p:attrName>ppt_w</p:attrName>
                                        </p:attrNameLst>
                                      </p:cBhvr>
                                      <p:tavLst>
                                        <p:tav tm="0">
                                          <p:val>
                                            <p:fltVal val="0"/>
                                          </p:val>
                                        </p:tav>
                                        <p:tav tm="100000">
                                          <p:val>
                                            <p:strVal val="#ppt_w"/>
                                          </p:val>
                                        </p:tav>
                                      </p:tavLst>
                                    </p:anim>
                                  </p:childTnLst>
                                </p:cTn>
                              </p:par>
                              <p:par>
                                <p:cTn id="94" presetID="35" presetClass="entr" presetSubtype="0" fill="hold" nodeType="withEffect">
                                  <p:stCondLst>
                                    <p:cond delay="0"/>
                                  </p:stCondLst>
                                  <p:childTnLst>
                                    <p:set>
                                      <p:cBhvr>
                                        <p:cTn id="95" dur="1" fill="hold">
                                          <p:stCondLst>
                                            <p:cond delay="0"/>
                                          </p:stCondLst>
                                        </p:cTn>
                                        <p:tgtEl>
                                          <p:spTgt spid="65"/>
                                        </p:tgtEl>
                                        <p:attrNameLst>
                                          <p:attrName>style.visibility</p:attrName>
                                        </p:attrNameLst>
                                      </p:cBhvr>
                                      <p:to>
                                        <p:strVal val="visible"/>
                                      </p:to>
                                    </p:set>
                                    <p:animEffect transition="in" filter="fade">
                                      <p:cBhvr>
                                        <p:cTn id="96" dur="2000"/>
                                        <p:tgtEl>
                                          <p:spTgt spid="65"/>
                                        </p:tgtEl>
                                      </p:cBhvr>
                                    </p:animEffect>
                                    <p:anim calcmode="lin" valueType="num">
                                      <p:cBhvr>
                                        <p:cTn id="97" dur="2000" fill="hold"/>
                                        <p:tgtEl>
                                          <p:spTgt spid="65"/>
                                        </p:tgtEl>
                                        <p:attrNameLst>
                                          <p:attrName>style.rotation</p:attrName>
                                        </p:attrNameLst>
                                      </p:cBhvr>
                                      <p:tavLst>
                                        <p:tav tm="0">
                                          <p:val>
                                            <p:fltVal val="720"/>
                                          </p:val>
                                        </p:tav>
                                        <p:tav tm="100000">
                                          <p:val>
                                            <p:fltVal val="0"/>
                                          </p:val>
                                        </p:tav>
                                      </p:tavLst>
                                    </p:anim>
                                    <p:anim calcmode="lin" valueType="num">
                                      <p:cBhvr>
                                        <p:cTn id="98" dur="2000" fill="hold"/>
                                        <p:tgtEl>
                                          <p:spTgt spid="65"/>
                                        </p:tgtEl>
                                        <p:attrNameLst>
                                          <p:attrName>ppt_h</p:attrName>
                                        </p:attrNameLst>
                                      </p:cBhvr>
                                      <p:tavLst>
                                        <p:tav tm="0">
                                          <p:val>
                                            <p:fltVal val="0"/>
                                          </p:val>
                                        </p:tav>
                                        <p:tav tm="100000">
                                          <p:val>
                                            <p:strVal val="#ppt_h"/>
                                          </p:val>
                                        </p:tav>
                                      </p:tavLst>
                                    </p:anim>
                                    <p:anim calcmode="lin" valueType="num">
                                      <p:cBhvr>
                                        <p:cTn id="99" dur="2000" fill="hold"/>
                                        <p:tgtEl>
                                          <p:spTgt spid="65"/>
                                        </p:tgtEl>
                                        <p:attrNameLst>
                                          <p:attrName>ppt_w</p:attrName>
                                        </p:attrNameLst>
                                      </p:cBhvr>
                                      <p:tavLst>
                                        <p:tav tm="0">
                                          <p:val>
                                            <p:fltVal val="0"/>
                                          </p:val>
                                        </p:tav>
                                        <p:tav tm="100000">
                                          <p:val>
                                            <p:strVal val="#ppt_w"/>
                                          </p:val>
                                        </p:tav>
                                      </p:tavLst>
                                    </p:anim>
                                  </p:childTnLst>
                                </p:cTn>
                              </p:par>
                              <p:par>
                                <p:cTn id="100" presetID="35" presetClass="entr" presetSubtype="0" fill="hold" nodeType="withEffect">
                                  <p:stCondLst>
                                    <p:cond delay="0"/>
                                  </p:stCondLst>
                                  <p:childTnLst>
                                    <p:set>
                                      <p:cBhvr>
                                        <p:cTn id="101" dur="1" fill="hold">
                                          <p:stCondLst>
                                            <p:cond delay="0"/>
                                          </p:stCondLst>
                                        </p:cTn>
                                        <p:tgtEl>
                                          <p:spTgt spid="72"/>
                                        </p:tgtEl>
                                        <p:attrNameLst>
                                          <p:attrName>style.visibility</p:attrName>
                                        </p:attrNameLst>
                                      </p:cBhvr>
                                      <p:to>
                                        <p:strVal val="visible"/>
                                      </p:to>
                                    </p:set>
                                    <p:animEffect transition="in" filter="fade">
                                      <p:cBhvr>
                                        <p:cTn id="102" dur="2000"/>
                                        <p:tgtEl>
                                          <p:spTgt spid="72"/>
                                        </p:tgtEl>
                                      </p:cBhvr>
                                    </p:animEffect>
                                    <p:anim calcmode="lin" valueType="num">
                                      <p:cBhvr>
                                        <p:cTn id="103" dur="2000" fill="hold"/>
                                        <p:tgtEl>
                                          <p:spTgt spid="72"/>
                                        </p:tgtEl>
                                        <p:attrNameLst>
                                          <p:attrName>style.rotation</p:attrName>
                                        </p:attrNameLst>
                                      </p:cBhvr>
                                      <p:tavLst>
                                        <p:tav tm="0">
                                          <p:val>
                                            <p:fltVal val="720"/>
                                          </p:val>
                                        </p:tav>
                                        <p:tav tm="100000">
                                          <p:val>
                                            <p:fltVal val="0"/>
                                          </p:val>
                                        </p:tav>
                                      </p:tavLst>
                                    </p:anim>
                                    <p:anim calcmode="lin" valueType="num">
                                      <p:cBhvr>
                                        <p:cTn id="104" dur="2000" fill="hold"/>
                                        <p:tgtEl>
                                          <p:spTgt spid="72"/>
                                        </p:tgtEl>
                                        <p:attrNameLst>
                                          <p:attrName>ppt_h</p:attrName>
                                        </p:attrNameLst>
                                      </p:cBhvr>
                                      <p:tavLst>
                                        <p:tav tm="0">
                                          <p:val>
                                            <p:fltVal val="0"/>
                                          </p:val>
                                        </p:tav>
                                        <p:tav tm="100000">
                                          <p:val>
                                            <p:strVal val="#ppt_h"/>
                                          </p:val>
                                        </p:tav>
                                      </p:tavLst>
                                    </p:anim>
                                    <p:anim calcmode="lin" valueType="num">
                                      <p:cBhvr>
                                        <p:cTn id="105" dur="2000" fill="hold"/>
                                        <p:tgtEl>
                                          <p:spTgt spid="72"/>
                                        </p:tgtEl>
                                        <p:attrNameLst>
                                          <p:attrName>ppt_w</p:attrName>
                                        </p:attrNameLst>
                                      </p:cBhvr>
                                      <p:tavLst>
                                        <p:tav tm="0">
                                          <p:val>
                                            <p:fltVal val="0"/>
                                          </p:val>
                                        </p:tav>
                                        <p:tav tm="100000">
                                          <p:val>
                                            <p:strVal val="#ppt_w"/>
                                          </p:val>
                                        </p:tav>
                                      </p:tavLst>
                                    </p:anim>
                                  </p:childTnLst>
                                </p:cTn>
                              </p:par>
                              <p:par>
                                <p:cTn id="106" presetID="35" presetClass="entr" presetSubtype="0" fill="hold" nodeType="withEffect">
                                  <p:stCondLst>
                                    <p:cond delay="0"/>
                                  </p:stCondLst>
                                  <p:childTnLst>
                                    <p:set>
                                      <p:cBhvr>
                                        <p:cTn id="107" dur="1" fill="hold">
                                          <p:stCondLst>
                                            <p:cond delay="0"/>
                                          </p:stCondLst>
                                        </p:cTn>
                                        <p:tgtEl>
                                          <p:spTgt spid="76"/>
                                        </p:tgtEl>
                                        <p:attrNameLst>
                                          <p:attrName>style.visibility</p:attrName>
                                        </p:attrNameLst>
                                      </p:cBhvr>
                                      <p:to>
                                        <p:strVal val="visible"/>
                                      </p:to>
                                    </p:set>
                                    <p:animEffect transition="in" filter="fade">
                                      <p:cBhvr>
                                        <p:cTn id="108" dur="2000"/>
                                        <p:tgtEl>
                                          <p:spTgt spid="76"/>
                                        </p:tgtEl>
                                      </p:cBhvr>
                                    </p:animEffect>
                                    <p:anim calcmode="lin" valueType="num">
                                      <p:cBhvr>
                                        <p:cTn id="109" dur="2000" fill="hold"/>
                                        <p:tgtEl>
                                          <p:spTgt spid="76"/>
                                        </p:tgtEl>
                                        <p:attrNameLst>
                                          <p:attrName>style.rotation</p:attrName>
                                        </p:attrNameLst>
                                      </p:cBhvr>
                                      <p:tavLst>
                                        <p:tav tm="0">
                                          <p:val>
                                            <p:fltVal val="720"/>
                                          </p:val>
                                        </p:tav>
                                        <p:tav tm="100000">
                                          <p:val>
                                            <p:fltVal val="0"/>
                                          </p:val>
                                        </p:tav>
                                      </p:tavLst>
                                    </p:anim>
                                    <p:anim calcmode="lin" valueType="num">
                                      <p:cBhvr>
                                        <p:cTn id="110" dur="2000" fill="hold"/>
                                        <p:tgtEl>
                                          <p:spTgt spid="76"/>
                                        </p:tgtEl>
                                        <p:attrNameLst>
                                          <p:attrName>ppt_h</p:attrName>
                                        </p:attrNameLst>
                                      </p:cBhvr>
                                      <p:tavLst>
                                        <p:tav tm="0">
                                          <p:val>
                                            <p:fltVal val="0"/>
                                          </p:val>
                                        </p:tav>
                                        <p:tav tm="100000">
                                          <p:val>
                                            <p:strVal val="#ppt_h"/>
                                          </p:val>
                                        </p:tav>
                                      </p:tavLst>
                                    </p:anim>
                                    <p:anim calcmode="lin" valueType="num">
                                      <p:cBhvr>
                                        <p:cTn id="111" dur="2000" fill="hold"/>
                                        <p:tgtEl>
                                          <p:spTgt spid="76"/>
                                        </p:tgtEl>
                                        <p:attrNameLst>
                                          <p:attrName>ppt_w</p:attrName>
                                        </p:attrNameLst>
                                      </p:cBhvr>
                                      <p:tavLst>
                                        <p:tav tm="0">
                                          <p:val>
                                            <p:fltVal val="0"/>
                                          </p:val>
                                        </p:tav>
                                        <p:tav tm="100000">
                                          <p:val>
                                            <p:strVal val="#ppt_w"/>
                                          </p:val>
                                        </p:tav>
                                      </p:tavLst>
                                    </p:anim>
                                  </p:childTnLst>
                                </p:cTn>
                              </p:par>
                              <p:par>
                                <p:cTn id="112" presetID="35" presetClass="entr" presetSubtype="0" fill="hold" nodeType="withEffect">
                                  <p:stCondLst>
                                    <p:cond delay="0"/>
                                  </p:stCondLst>
                                  <p:childTnLst>
                                    <p:set>
                                      <p:cBhvr>
                                        <p:cTn id="113" dur="1" fill="hold">
                                          <p:stCondLst>
                                            <p:cond delay="0"/>
                                          </p:stCondLst>
                                        </p:cTn>
                                        <p:tgtEl>
                                          <p:spTgt spid="70"/>
                                        </p:tgtEl>
                                        <p:attrNameLst>
                                          <p:attrName>style.visibility</p:attrName>
                                        </p:attrNameLst>
                                      </p:cBhvr>
                                      <p:to>
                                        <p:strVal val="visible"/>
                                      </p:to>
                                    </p:set>
                                    <p:animEffect transition="in" filter="fade">
                                      <p:cBhvr>
                                        <p:cTn id="114" dur="2000"/>
                                        <p:tgtEl>
                                          <p:spTgt spid="70"/>
                                        </p:tgtEl>
                                      </p:cBhvr>
                                    </p:animEffect>
                                    <p:anim calcmode="lin" valueType="num">
                                      <p:cBhvr>
                                        <p:cTn id="115" dur="2000" fill="hold"/>
                                        <p:tgtEl>
                                          <p:spTgt spid="70"/>
                                        </p:tgtEl>
                                        <p:attrNameLst>
                                          <p:attrName>style.rotation</p:attrName>
                                        </p:attrNameLst>
                                      </p:cBhvr>
                                      <p:tavLst>
                                        <p:tav tm="0">
                                          <p:val>
                                            <p:fltVal val="720"/>
                                          </p:val>
                                        </p:tav>
                                        <p:tav tm="100000">
                                          <p:val>
                                            <p:fltVal val="0"/>
                                          </p:val>
                                        </p:tav>
                                      </p:tavLst>
                                    </p:anim>
                                    <p:anim calcmode="lin" valueType="num">
                                      <p:cBhvr>
                                        <p:cTn id="116" dur="2000" fill="hold"/>
                                        <p:tgtEl>
                                          <p:spTgt spid="70"/>
                                        </p:tgtEl>
                                        <p:attrNameLst>
                                          <p:attrName>ppt_h</p:attrName>
                                        </p:attrNameLst>
                                      </p:cBhvr>
                                      <p:tavLst>
                                        <p:tav tm="0">
                                          <p:val>
                                            <p:fltVal val="0"/>
                                          </p:val>
                                        </p:tav>
                                        <p:tav tm="100000">
                                          <p:val>
                                            <p:strVal val="#ppt_h"/>
                                          </p:val>
                                        </p:tav>
                                      </p:tavLst>
                                    </p:anim>
                                    <p:anim calcmode="lin" valueType="num">
                                      <p:cBhvr>
                                        <p:cTn id="117" dur="2000" fill="hold"/>
                                        <p:tgtEl>
                                          <p:spTgt spid="70"/>
                                        </p:tgtEl>
                                        <p:attrNameLst>
                                          <p:attrName>ppt_w</p:attrName>
                                        </p:attrNameLst>
                                      </p:cBhvr>
                                      <p:tavLst>
                                        <p:tav tm="0">
                                          <p:val>
                                            <p:fltVal val="0"/>
                                          </p:val>
                                        </p:tav>
                                        <p:tav tm="100000">
                                          <p:val>
                                            <p:strVal val="#ppt_w"/>
                                          </p:val>
                                        </p:tav>
                                      </p:tavLst>
                                    </p:anim>
                                  </p:childTnLst>
                                </p:cTn>
                              </p:par>
                              <p:par>
                                <p:cTn id="118" presetID="35" presetClass="entr" presetSubtype="0" fill="hold" nodeType="withEffect">
                                  <p:stCondLst>
                                    <p:cond delay="0"/>
                                  </p:stCondLst>
                                  <p:childTnLst>
                                    <p:set>
                                      <p:cBhvr>
                                        <p:cTn id="119" dur="1" fill="hold">
                                          <p:stCondLst>
                                            <p:cond delay="0"/>
                                          </p:stCondLst>
                                        </p:cTn>
                                        <p:tgtEl>
                                          <p:spTgt spid="66"/>
                                        </p:tgtEl>
                                        <p:attrNameLst>
                                          <p:attrName>style.visibility</p:attrName>
                                        </p:attrNameLst>
                                      </p:cBhvr>
                                      <p:to>
                                        <p:strVal val="visible"/>
                                      </p:to>
                                    </p:set>
                                    <p:animEffect transition="in" filter="fade">
                                      <p:cBhvr>
                                        <p:cTn id="120" dur="2000"/>
                                        <p:tgtEl>
                                          <p:spTgt spid="66"/>
                                        </p:tgtEl>
                                      </p:cBhvr>
                                    </p:animEffect>
                                    <p:anim calcmode="lin" valueType="num">
                                      <p:cBhvr>
                                        <p:cTn id="121" dur="2000" fill="hold"/>
                                        <p:tgtEl>
                                          <p:spTgt spid="66"/>
                                        </p:tgtEl>
                                        <p:attrNameLst>
                                          <p:attrName>style.rotation</p:attrName>
                                        </p:attrNameLst>
                                      </p:cBhvr>
                                      <p:tavLst>
                                        <p:tav tm="0">
                                          <p:val>
                                            <p:fltVal val="720"/>
                                          </p:val>
                                        </p:tav>
                                        <p:tav tm="100000">
                                          <p:val>
                                            <p:fltVal val="0"/>
                                          </p:val>
                                        </p:tav>
                                      </p:tavLst>
                                    </p:anim>
                                    <p:anim calcmode="lin" valueType="num">
                                      <p:cBhvr>
                                        <p:cTn id="122" dur="2000" fill="hold"/>
                                        <p:tgtEl>
                                          <p:spTgt spid="66"/>
                                        </p:tgtEl>
                                        <p:attrNameLst>
                                          <p:attrName>ppt_h</p:attrName>
                                        </p:attrNameLst>
                                      </p:cBhvr>
                                      <p:tavLst>
                                        <p:tav tm="0">
                                          <p:val>
                                            <p:fltVal val="0"/>
                                          </p:val>
                                        </p:tav>
                                        <p:tav tm="100000">
                                          <p:val>
                                            <p:strVal val="#ppt_h"/>
                                          </p:val>
                                        </p:tav>
                                      </p:tavLst>
                                    </p:anim>
                                    <p:anim calcmode="lin" valueType="num">
                                      <p:cBhvr>
                                        <p:cTn id="123" dur="2000" fill="hold"/>
                                        <p:tgtEl>
                                          <p:spTgt spid="66"/>
                                        </p:tgtEl>
                                        <p:attrNameLst>
                                          <p:attrName>ppt_w</p:attrName>
                                        </p:attrNameLst>
                                      </p:cBhvr>
                                      <p:tavLst>
                                        <p:tav tm="0">
                                          <p:val>
                                            <p:fltVal val="0"/>
                                          </p:val>
                                        </p:tav>
                                        <p:tav tm="100000">
                                          <p:val>
                                            <p:strVal val="#ppt_w"/>
                                          </p:val>
                                        </p:tav>
                                      </p:tavLst>
                                    </p:anim>
                                  </p:childTnLst>
                                </p:cTn>
                              </p:par>
                              <p:par>
                                <p:cTn id="124" presetID="35" presetClass="entr" presetSubtype="0" fill="hold" nodeType="withEffect">
                                  <p:stCondLst>
                                    <p:cond delay="0"/>
                                  </p:stCondLst>
                                  <p:childTnLst>
                                    <p:set>
                                      <p:cBhvr>
                                        <p:cTn id="125" dur="1" fill="hold">
                                          <p:stCondLst>
                                            <p:cond delay="0"/>
                                          </p:stCondLst>
                                        </p:cTn>
                                        <p:tgtEl>
                                          <p:spTgt spid="71"/>
                                        </p:tgtEl>
                                        <p:attrNameLst>
                                          <p:attrName>style.visibility</p:attrName>
                                        </p:attrNameLst>
                                      </p:cBhvr>
                                      <p:to>
                                        <p:strVal val="visible"/>
                                      </p:to>
                                    </p:set>
                                    <p:animEffect transition="in" filter="fade">
                                      <p:cBhvr>
                                        <p:cTn id="126" dur="2000"/>
                                        <p:tgtEl>
                                          <p:spTgt spid="71"/>
                                        </p:tgtEl>
                                      </p:cBhvr>
                                    </p:animEffect>
                                    <p:anim calcmode="lin" valueType="num">
                                      <p:cBhvr>
                                        <p:cTn id="127" dur="2000" fill="hold"/>
                                        <p:tgtEl>
                                          <p:spTgt spid="71"/>
                                        </p:tgtEl>
                                        <p:attrNameLst>
                                          <p:attrName>style.rotation</p:attrName>
                                        </p:attrNameLst>
                                      </p:cBhvr>
                                      <p:tavLst>
                                        <p:tav tm="0">
                                          <p:val>
                                            <p:fltVal val="720"/>
                                          </p:val>
                                        </p:tav>
                                        <p:tav tm="100000">
                                          <p:val>
                                            <p:fltVal val="0"/>
                                          </p:val>
                                        </p:tav>
                                      </p:tavLst>
                                    </p:anim>
                                    <p:anim calcmode="lin" valueType="num">
                                      <p:cBhvr>
                                        <p:cTn id="128" dur="2000" fill="hold"/>
                                        <p:tgtEl>
                                          <p:spTgt spid="71"/>
                                        </p:tgtEl>
                                        <p:attrNameLst>
                                          <p:attrName>ppt_h</p:attrName>
                                        </p:attrNameLst>
                                      </p:cBhvr>
                                      <p:tavLst>
                                        <p:tav tm="0">
                                          <p:val>
                                            <p:fltVal val="0"/>
                                          </p:val>
                                        </p:tav>
                                        <p:tav tm="100000">
                                          <p:val>
                                            <p:strVal val="#ppt_h"/>
                                          </p:val>
                                        </p:tav>
                                      </p:tavLst>
                                    </p:anim>
                                    <p:anim calcmode="lin" valueType="num">
                                      <p:cBhvr>
                                        <p:cTn id="129" dur="2000" fill="hold"/>
                                        <p:tgtEl>
                                          <p:spTgt spid="71"/>
                                        </p:tgtEl>
                                        <p:attrNameLst>
                                          <p:attrName>ppt_w</p:attrName>
                                        </p:attrNameLst>
                                      </p:cBhvr>
                                      <p:tavLst>
                                        <p:tav tm="0">
                                          <p:val>
                                            <p:fltVal val="0"/>
                                          </p:val>
                                        </p:tav>
                                        <p:tav tm="100000">
                                          <p:val>
                                            <p:strVal val="#ppt_w"/>
                                          </p:val>
                                        </p:tav>
                                      </p:tavLst>
                                    </p:anim>
                                  </p:childTnLst>
                                </p:cTn>
                              </p:par>
                              <p:par>
                                <p:cTn id="130" presetID="35" presetClass="entr" presetSubtype="0" fill="hold" nodeType="withEffect">
                                  <p:stCondLst>
                                    <p:cond delay="0"/>
                                  </p:stCondLst>
                                  <p:childTnLst>
                                    <p:set>
                                      <p:cBhvr>
                                        <p:cTn id="131" dur="1" fill="hold">
                                          <p:stCondLst>
                                            <p:cond delay="0"/>
                                          </p:stCondLst>
                                        </p:cTn>
                                        <p:tgtEl>
                                          <p:spTgt spid="73"/>
                                        </p:tgtEl>
                                        <p:attrNameLst>
                                          <p:attrName>style.visibility</p:attrName>
                                        </p:attrNameLst>
                                      </p:cBhvr>
                                      <p:to>
                                        <p:strVal val="visible"/>
                                      </p:to>
                                    </p:set>
                                    <p:animEffect transition="in" filter="fade">
                                      <p:cBhvr>
                                        <p:cTn id="132" dur="2000"/>
                                        <p:tgtEl>
                                          <p:spTgt spid="73"/>
                                        </p:tgtEl>
                                      </p:cBhvr>
                                    </p:animEffect>
                                    <p:anim calcmode="lin" valueType="num">
                                      <p:cBhvr>
                                        <p:cTn id="133" dur="2000" fill="hold"/>
                                        <p:tgtEl>
                                          <p:spTgt spid="73"/>
                                        </p:tgtEl>
                                        <p:attrNameLst>
                                          <p:attrName>style.rotation</p:attrName>
                                        </p:attrNameLst>
                                      </p:cBhvr>
                                      <p:tavLst>
                                        <p:tav tm="0">
                                          <p:val>
                                            <p:fltVal val="720"/>
                                          </p:val>
                                        </p:tav>
                                        <p:tav tm="100000">
                                          <p:val>
                                            <p:fltVal val="0"/>
                                          </p:val>
                                        </p:tav>
                                      </p:tavLst>
                                    </p:anim>
                                    <p:anim calcmode="lin" valueType="num">
                                      <p:cBhvr>
                                        <p:cTn id="134" dur="2000" fill="hold"/>
                                        <p:tgtEl>
                                          <p:spTgt spid="73"/>
                                        </p:tgtEl>
                                        <p:attrNameLst>
                                          <p:attrName>ppt_h</p:attrName>
                                        </p:attrNameLst>
                                      </p:cBhvr>
                                      <p:tavLst>
                                        <p:tav tm="0">
                                          <p:val>
                                            <p:fltVal val="0"/>
                                          </p:val>
                                        </p:tav>
                                        <p:tav tm="100000">
                                          <p:val>
                                            <p:strVal val="#ppt_h"/>
                                          </p:val>
                                        </p:tav>
                                      </p:tavLst>
                                    </p:anim>
                                    <p:anim calcmode="lin" valueType="num">
                                      <p:cBhvr>
                                        <p:cTn id="135" dur="2000" fill="hold"/>
                                        <p:tgtEl>
                                          <p:spTgt spid="73"/>
                                        </p:tgtEl>
                                        <p:attrNameLst>
                                          <p:attrName>ppt_w</p:attrName>
                                        </p:attrNameLst>
                                      </p:cBhvr>
                                      <p:tavLst>
                                        <p:tav tm="0">
                                          <p:val>
                                            <p:fltVal val="0"/>
                                          </p:val>
                                        </p:tav>
                                        <p:tav tm="100000">
                                          <p:val>
                                            <p:strVal val="#ppt_w"/>
                                          </p:val>
                                        </p:tav>
                                      </p:tavLst>
                                    </p:anim>
                                  </p:childTnLst>
                                </p:cTn>
                              </p:par>
                              <p:par>
                                <p:cTn id="136" presetID="35" presetClass="entr" presetSubtype="0" fill="hold" nodeType="withEffect">
                                  <p:stCondLst>
                                    <p:cond delay="0"/>
                                  </p:stCondLst>
                                  <p:childTnLst>
                                    <p:set>
                                      <p:cBhvr>
                                        <p:cTn id="137" dur="1" fill="hold">
                                          <p:stCondLst>
                                            <p:cond delay="0"/>
                                          </p:stCondLst>
                                        </p:cTn>
                                        <p:tgtEl>
                                          <p:spTgt spid="74"/>
                                        </p:tgtEl>
                                        <p:attrNameLst>
                                          <p:attrName>style.visibility</p:attrName>
                                        </p:attrNameLst>
                                      </p:cBhvr>
                                      <p:to>
                                        <p:strVal val="visible"/>
                                      </p:to>
                                    </p:set>
                                    <p:animEffect transition="in" filter="fade">
                                      <p:cBhvr>
                                        <p:cTn id="138" dur="2000"/>
                                        <p:tgtEl>
                                          <p:spTgt spid="74"/>
                                        </p:tgtEl>
                                      </p:cBhvr>
                                    </p:animEffect>
                                    <p:anim calcmode="lin" valueType="num">
                                      <p:cBhvr>
                                        <p:cTn id="139" dur="2000" fill="hold"/>
                                        <p:tgtEl>
                                          <p:spTgt spid="74"/>
                                        </p:tgtEl>
                                        <p:attrNameLst>
                                          <p:attrName>style.rotation</p:attrName>
                                        </p:attrNameLst>
                                      </p:cBhvr>
                                      <p:tavLst>
                                        <p:tav tm="0">
                                          <p:val>
                                            <p:fltVal val="720"/>
                                          </p:val>
                                        </p:tav>
                                        <p:tav tm="100000">
                                          <p:val>
                                            <p:fltVal val="0"/>
                                          </p:val>
                                        </p:tav>
                                      </p:tavLst>
                                    </p:anim>
                                    <p:anim calcmode="lin" valueType="num">
                                      <p:cBhvr>
                                        <p:cTn id="140" dur="2000" fill="hold"/>
                                        <p:tgtEl>
                                          <p:spTgt spid="74"/>
                                        </p:tgtEl>
                                        <p:attrNameLst>
                                          <p:attrName>ppt_h</p:attrName>
                                        </p:attrNameLst>
                                      </p:cBhvr>
                                      <p:tavLst>
                                        <p:tav tm="0">
                                          <p:val>
                                            <p:fltVal val="0"/>
                                          </p:val>
                                        </p:tav>
                                        <p:tav tm="100000">
                                          <p:val>
                                            <p:strVal val="#ppt_h"/>
                                          </p:val>
                                        </p:tav>
                                      </p:tavLst>
                                    </p:anim>
                                    <p:anim calcmode="lin" valueType="num">
                                      <p:cBhvr>
                                        <p:cTn id="141" dur="2000" fill="hold"/>
                                        <p:tgtEl>
                                          <p:spTgt spid="74"/>
                                        </p:tgtEl>
                                        <p:attrNameLst>
                                          <p:attrName>ppt_w</p:attrName>
                                        </p:attrNameLst>
                                      </p:cBhvr>
                                      <p:tavLst>
                                        <p:tav tm="0">
                                          <p:val>
                                            <p:fltVal val="0"/>
                                          </p:val>
                                        </p:tav>
                                        <p:tav tm="100000">
                                          <p:val>
                                            <p:strVal val="#ppt_w"/>
                                          </p:val>
                                        </p:tav>
                                      </p:tavLst>
                                    </p:anim>
                                  </p:childTnLst>
                                </p:cTn>
                              </p:par>
                              <p:par>
                                <p:cTn id="142" presetID="35" presetClass="entr" presetSubtype="0" fill="hold" nodeType="withEffect">
                                  <p:stCondLst>
                                    <p:cond delay="0"/>
                                  </p:stCondLst>
                                  <p:childTnLst>
                                    <p:set>
                                      <p:cBhvr>
                                        <p:cTn id="143" dur="1" fill="hold">
                                          <p:stCondLst>
                                            <p:cond delay="0"/>
                                          </p:stCondLst>
                                        </p:cTn>
                                        <p:tgtEl>
                                          <p:spTgt spid="75"/>
                                        </p:tgtEl>
                                        <p:attrNameLst>
                                          <p:attrName>style.visibility</p:attrName>
                                        </p:attrNameLst>
                                      </p:cBhvr>
                                      <p:to>
                                        <p:strVal val="visible"/>
                                      </p:to>
                                    </p:set>
                                    <p:animEffect transition="in" filter="fade">
                                      <p:cBhvr>
                                        <p:cTn id="144" dur="2000"/>
                                        <p:tgtEl>
                                          <p:spTgt spid="75"/>
                                        </p:tgtEl>
                                      </p:cBhvr>
                                    </p:animEffect>
                                    <p:anim calcmode="lin" valueType="num">
                                      <p:cBhvr>
                                        <p:cTn id="145" dur="2000" fill="hold"/>
                                        <p:tgtEl>
                                          <p:spTgt spid="75"/>
                                        </p:tgtEl>
                                        <p:attrNameLst>
                                          <p:attrName>style.rotation</p:attrName>
                                        </p:attrNameLst>
                                      </p:cBhvr>
                                      <p:tavLst>
                                        <p:tav tm="0">
                                          <p:val>
                                            <p:fltVal val="720"/>
                                          </p:val>
                                        </p:tav>
                                        <p:tav tm="100000">
                                          <p:val>
                                            <p:fltVal val="0"/>
                                          </p:val>
                                        </p:tav>
                                      </p:tavLst>
                                    </p:anim>
                                    <p:anim calcmode="lin" valueType="num">
                                      <p:cBhvr>
                                        <p:cTn id="146" dur="2000" fill="hold"/>
                                        <p:tgtEl>
                                          <p:spTgt spid="75"/>
                                        </p:tgtEl>
                                        <p:attrNameLst>
                                          <p:attrName>ppt_h</p:attrName>
                                        </p:attrNameLst>
                                      </p:cBhvr>
                                      <p:tavLst>
                                        <p:tav tm="0">
                                          <p:val>
                                            <p:fltVal val="0"/>
                                          </p:val>
                                        </p:tav>
                                        <p:tav tm="100000">
                                          <p:val>
                                            <p:strVal val="#ppt_h"/>
                                          </p:val>
                                        </p:tav>
                                      </p:tavLst>
                                    </p:anim>
                                    <p:anim calcmode="lin" valueType="num">
                                      <p:cBhvr>
                                        <p:cTn id="147" dur="2000" fill="hold"/>
                                        <p:tgtEl>
                                          <p:spTgt spid="75"/>
                                        </p:tgtEl>
                                        <p:attrNameLst>
                                          <p:attrName>ppt_w</p:attrName>
                                        </p:attrNameLst>
                                      </p:cBhvr>
                                      <p:tavLst>
                                        <p:tav tm="0">
                                          <p:val>
                                            <p:fltVal val="0"/>
                                          </p:val>
                                        </p:tav>
                                        <p:tav tm="100000">
                                          <p:val>
                                            <p:strVal val="#ppt_w"/>
                                          </p:val>
                                        </p:tav>
                                      </p:tavLst>
                                    </p:anim>
                                  </p:childTnLst>
                                </p:cTn>
                              </p:par>
                              <p:par>
                                <p:cTn id="148" presetID="10" presetClass="entr" presetSubtype="0" fill="hold" nodeType="withEffect">
                                  <p:stCondLst>
                                    <p:cond delay="0"/>
                                  </p:stCondLst>
                                  <p:childTnLst>
                                    <p:set>
                                      <p:cBhvr>
                                        <p:cTn id="149" dur="1" fill="hold">
                                          <p:stCondLst>
                                            <p:cond delay="0"/>
                                          </p:stCondLst>
                                        </p:cTn>
                                        <p:tgtEl>
                                          <p:spTgt spid="4"/>
                                        </p:tgtEl>
                                        <p:attrNameLst>
                                          <p:attrName>style.visibility</p:attrName>
                                        </p:attrNameLst>
                                      </p:cBhvr>
                                      <p:to>
                                        <p:strVal val="visible"/>
                                      </p:to>
                                    </p:set>
                                    <p:animEffect transition="in" filter="fade">
                                      <p:cBhvr>
                                        <p:cTn id="150" dur="500"/>
                                        <p:tgtEl>
                                          <p:spTgt spid="4"/>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0"/>
                                        </p:tgtEl>
                                        <p:attrNameLst>
                                          <p:attrName>style.visibility</p:attrName>
                                        </p:attrNameLst>
                                      </p:cBhvr>
                                      <p:to>
                                        <p:strVal val="visible"/>
                                      </p:to>
                                    </p:set>
                                    <p:animEffect transition="in" filter="fade">
                                      <p:cBhvr>
                                        <p:cTn id="153" dur="500"/>
                                        <p:tgtEl>
                                          <p:spTgt spid="50"/>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49"/>
                                        </p:tgtEl>
                                        <p:attrNameLst>
                                          <p:attrName>style.visibility</p:attrName>
                                        </p:attrNameLst>
                                      </p:cBhvr>
                                      <p:to>
                                        <p:strVal val="visible"/>
                                      </p:to>
                                    </p:set>
                                    <p:animEffect transition="in" filter="fade">
                                      <p:cBhvr>
                                        <p:cTn id="156" dur="500"/>
                                        <p:tgtEl>
                                          <p:spTgt spid="49"/>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41"/>
                                        </p:tgtEl>
                                        <p:attrNameLst>
                                          <p:attrName>style.visibility</p:attrName>
                                        </p:attrNameLst>
                                      </p:cBhvr>
                                      <p:to>
                                        <p:strVal val="visible"/>
                                      </p:to>
                                    </p:set>
                                    <p:animEffect transition="in" filter="fade">
                                      <p:cBhvr>
                                        <p:cTn id="159" dur="500"/>
                                        <p:tgtEl>
                                          <p:spTgt spid="41"/>
                                        </p:tgtEl>
                                      </p:cBhvr>
                                    </p:animEffect>
                                  </p:childTnLst>
                                </p:cTn>
                              </p:par>
                              <p:par>
                                <p:cTn id="160" presetID="10" presetClass="entr" presetSubtype="0" fill="hold" nodeType="withEffect">
                                  <p:stCondLst>
                                    <p:cond delay="0"/>
                                  </p:stCondLst>
                                  <p:childTnLst>
                                    <p:set>
                                      <p:cBhvr>
                                        <p:cTn id="161" dur="1" fill="hold">
                                          <p:stCondLst>
                                            <p:cond delay="0"/>
                                          </p:stCondLst>
                                        </p:cTn>
                                        <p:tgtEl>
                                          <p:spTgt spid="6"/>
                                        </p:tgtEl>
                                        <p:attrNameLst>
                                          <p:attrName>style.visibility</p:attrName>
                                        </p:attrNameLst>
                                      </p:cBhvr>
                                      <p:to>
                                        <p:strVal val="visible"/>
                                      </p:to>
                                    </p:set>
                                    <p:animEffect transition="in" filter="fade">
                                      <p:cBhvr>
                                        <p:cTn id="162" dur="500"/>
                                        <p:tgtEl>
                                          <p:spTgt spid="6"/>
                                        </p:tgtEl>
                                      </p:cBhvr>
                                    </p:animEffect>
                                  </p:childTnLst>
                                </p:cTn>
                              </p:par>
                              <p:par>
                                <p:cTn id="163" presetID="10" presetClass="entr" presetSubtype="0" fill="hold" nodeType="withEffect">
                                  <p:stCondLst>
                                    <p:cond delay="0"/>
                                  </p:stCondLst>
                                  <p:childTnLst>
                                    <p:set>
                                      <p:cBhvr>
                                        <p:cTn id="164" dur="1" fill="hold">
                                          <p:stCondLst>
                                            <p:cond delay="0"/>
                                          </p:stCondLst>
                                        </p:cTn>
                                        <p:tgtEl>
                                          <p:spTgt spid="18"/>
                                        </p:tgtEl>
                                        <p:attrNameLst>
                                          <p:attrName>style.visibility</p:attrName>
                                        </p:attrNameLst>
                                      </p:cBhvr>
                                      <p:to>
                                        <p:strVal val="visible"/>
                                      </p:to>
                                    </p:set>
                                    <p:animEffect transition="in" filter="fade">
                                      <p:cBhvr>
                                        <p:cTn id="165" dur="500"/>
                                        <p:tgtEl>
                                          <p:spTgt spid="18"/>
                                        </p:tgtEl>
                                      </p:cBhvr>
                                    </p:animEffect>
                                  </p:childTnLst>
                                </p:cTn>
                              </p:par>
                              <p:par>
                                <p:cTn id="166" presetID="35" presetClass="entr" presetSubtype="0" fill="hold" nodeType="withEffect">
                                  <p:stCondLst>
                                    <p:cond delay="0"/>
                                  </p:stCondLst>
                                  <p:childTnLst>
                                    <p:set>
                                      <p:cBhvr>
                                        <p:cTn id="167" dur="1" fill="hold">
                                          <p:stCondLst>
                                            <p:cond delay="0"/>
                                          </p:stCondLst>
                                        </p:cTn>
                                        <p:tgtEl>
                                          <p:spTgt spid="89"/>
                                        </p:tgtEl>
                                        <p:attrNameLst>
                                          <p:attrName>style.visibility</p:attrName>
                                        </p:attrNameLst>
                                      </p:cBhvr>
                                      <p:to>
                                        <p:strVal val="visible"/>
                                      </p:to>
                                    </p:set>
                                    <p:animEffect transition="in" filter="fade">
                                      <p:cBhvr>
                                        <p:cTn id="168" dur="2000"/>
                                        <p:tgtEl>
                                          <p:spTgt spid="89"/>
                                        </p:tgtEl>
                                      </p:cBhvr>
                                    </p:animEffect>
                                    <p:anim calcmode="lin" valueType="num">
                                      <p:cBhvr>
                                        <p:cTn id="169" dur="2000" fill="hold"/>
                                        <p:tgtEl>
                                          <p:spTgt spid="89"/>
                                        </p:tgtEl>
                                        <p:attrNameLst>
                                          <p:attrName>style.rotation</p:attrName>
                                        </p:attrNameLst>
                                      </p:cBhvr>
                                      <p:tavLst>
                                        <p:tav tm="0">
                                          <p:val>
                                            <p:fltVal val="720"/>
                                          </p:val>
                                        </p:tav>
                                        <p:tav tm="100000">
                                          <p:val>
                                            <p:fltVal val="0"/>
                                          </p:val>
                                        </p:tav>
                                      </p:tavLst>
                                    </p:anim>
                                    <p:anim calcmode="lin" valueType="num">
                                      <p:cBhvr>
                                        <p:cTn id="170" dur="2000" fill="hold"/>
                                        <p:tgtEl>
                                          <p:spTgt spid="89"/>
                                        </p:tgtEl>
                                        <p:attrNameLst>
                                          <p:attrName>ppt_h</p:attrName>
                                        </p:attrNameLst>
                                      </p:cBhvr>
                                      <p:tavLst>
                                        <p:tav tm="0">
                                          <p:val>
                                            <p:fltVal val="0"/>
                                          </p:val>
                                        </p:tav>
                                        <p:tav tm="100000">
                                          <p:val>
                                            <p:strVal val="#ppt_h"/>
                                          </p:val>
                                        </p:tav>
                                      </p:tavLst>
                                    </p:anim>
                                    <p:anim calcmode="lin" valueType="num">
                                      <p:cBhvr>
                                        <p:cTn id="171" dur="2000" fill="hold"/>
                                        <p:tgtEl>
                                          <p:spTgt spid="89"/>
                                        </p:tgtEl>
                                        <p:attrNameLst>
                                          <p:attrName>ppt_w</p:attrName>
                                        </p:attrNameLst>
                                      </p:cBhvr>
                                      <p:tavLst>
                                        <p:tav tm="0">
                                          <p:val>
                                            <p:fltVal val="0"/>
                                          </p:val>
                                        </p:tav>
                                        <p:tav tm="100000">
                                          <p:val>
                                            <p:strVal val="#ppt_w"/>
                                          </p:val>
                                        </p:tav>
                                      </p:tavLst>
                                    </p:anim>
                                  </p:childTnLst>
                                </p:cTn>
                              </p:par>
                              <p:par>
                                <p:cTn id="172" presetID="35" presetClass="entr" presetSubtype="0" fill="hold" grpId="0" nodeType="withEffect">
                                  <p:stCondLst>
                                    <p:cond delay="0"/>
                                  </p:stCondLst>
                                  <p:childTnLst>
                                    <p:set>
                                      <p:cBhvr>
                                        <p:cTn id="173" dur="1" fill="hold">
                                          <p:stCondLst>
                                            <p:cond delay="0"/>
                                          </p:stCondLst>
                                        </p:cTn>
                                        <p:tgtEl>
                                          <p:spTgt spid="88"/>
                                        </p:tgtEl>
                                        <p:attrNameLst>
                                          <p:attrName>style.visibility</p:attrName>
                                        </p:attrNameLst>
                                      </p:cBhvr>
                                      <p:to>
                                        <p:strVal val="visible"/>
                                      </p:to>
                                    </p:set>
                                    <p:animEffect transition="in" filter="fade">
                                      <p:cBhvr>
                                        <p:cTn id="174" dur="2000"/>
                                        <p:tgtEl>
                                          <p:spTgt spid="88"/>
                                        </p:tgtEl>
                                      </p:cBhvr>
                                    </p:animEffect>
                                    <p:anim calcmode="lin" valueType="num">
                                      <p:cBhvr>
                                        <p:cTn id="175" dur="2000" fill="hold"/>
                                        <p:tgtEl>
                                          <p:spTgt spid="88"/>
                                        </p:tgtEl>
                                        <p:attrNameLst>
                                          <p:attrName>style.rotation</p:attrName>
                                        </p:attrNameLst>
                                      </p:cBhvr>
                                      <p:tavLst>
                                        <p:tav tm="0">
                                          <p:val>
                                            <p:fltVal val="720"/>
                                          </p:val>
                                        </p:tav>
                                        <p:tav tm="100000">
                                          <p:val>
                                            <p:fltVal val="0"/>
                                          </p:val>
                                        </p:tav>
                                      </p:tavLst>
                                    </p:anim>
                                    <p:anim calcmode="lin" valueType="num">
                                      <p:cBhvr>
                                        <p:cTn id="176" dur="2000" fill="hold"/>
                                        <p:tgtEl>
                                          <p:spTgt spid="88"/>
                                        </p:tgtEl>
                                        <p:attrNameLst>
                                          <p:attrName>ppt_h</p:attrName>
                                        </p:attrNameLst>
                                      </p:cBhvr>
                                      <p:tavLst>
                                        <p:tav tm="0">
                                          <p:val>
                                            <p:fltVal val="0"/>
                                          </p:val>
                                        </p:tav>
                                        <p:tav tm="100000">
                                          <p:val>
                                            <p:strVal val="#ppt_h"/>
                                          </p:val>
                                        </p:tav>
                                      </p:tavLst>
                                    </p:anim>
                                    <p:anim calcmode="lin" valueType="num">
                                      <p:cBhvr>
                                        <p:cTn id="177" dur="2000" fill="hold"/>
                                        <p:tgtEl>
                                          <p:spTgt spid="88"/>
                                        </p:tgtEl>
                                        <p:attrNameLst>
                                          <p:attrName>ppt_w</p:attrName>
                                        </p:attrNameLst>
                                      </p:cBhvr>
                                      <p:tavLst>
                                        <p:tav tm="0">
                                          <p:val>
                                            <p:fltVal val="0"/>
                                          </p:val>
                                        </p:tav>
                                        <p:tav tm="100000">
                                          <p:val>
                                            <p:strVal val="#ppt_w"/>
                                          </p:val>
                                        </p:tav>
                                      </p:tavLst>
                                    </p:anim>
                                  </p:childTnLst>
                                </p:cTn>
                              </p:par>
                              <p:par>
                                <p:cTn id="178" presetID="10" presetClass="entr" presetSubtype="0" fill="hold" nodeType="withEffect">
                                  <p:stCondLst>
                                    <p:cond delay="0"/>
                                  </p:stCondLst>
                                  <p:childTnLst>
                                    <p:set>
                                      <p:cBhvr>
                                        <p:cTn id="179" dur="1" fill="hold">
                                          <p:stCondLst>
                                            <p:cond delay="0"/>
                                          </p:stCondLst>
                                        </p:cTn>
                                        <p:tgtEl>
                                          <p:spTgt spid="26"/>
                                        </p:tgtEl>
                                        <p:attrNameLst>
                                          <p:attrName>style.visibility</p:attrName>
                                        </p:attrNameLst>
                                      </p:cBhvr>
                                      <p:to>
                                        <p:strVal val="visible"/>
                                      </p:to>
                                    </p:set>
                                    <p:animEffect transition="in" filter="fade">
                                      <p:cBhvr>
                                        <p:cTn id="180" dur="500"/>
                                        <p:tgtEl>
                                          <p:spTgt spid="26"/>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45"/>
                                        </p:tgtEl>
                                        <p:attrNameLst>
                                          <p:attrName>style.visibility</p:attrName>
                                        </p:attrNameLst>
                                      </p:cBhvr>
                                      <p:to>
                                        <p:strVal val="visible"/>
                                      </p:to>
                                    </p:set>
                                    <p:animEffect transition="in" filter="fade">
                                      <p:cBhvr>
                                        <p:cTn id="185" dur="500"/>
                                        <p:tgtEl>
                                          <p:spTgt spid="45"/>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44"/>
                                        </p:tgtEl>
                                        <p:attrNameLst>
                                          <p:attrName>style.visibility</p:attrName>
                                        </p:attrNameLst>
                                      </p:cBhvr>
                                      <p:to>
                                        <p:strVal val="visible"/>
                                      </p:to>
                                    </p:set>
                                    <p:animEffect transition="in" filter="fade">
                                      <p:cBhvr>
                                        <p:cTn id="188" dur="500"/>
                                        <p:tgtEl>
                                          <p:spTgt spid="44"/>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40"/>
                                        </p:tgtEl>
                                        <p:attrNameLst>
                                          <p:attrName>style.visibility</p:attrName>
                                        </p:attrNameLst>
                                      </p:cBhvr>
                                      <p:to>
                                        <p:strVal val="visible"/>
                                      </p:to>
                                    </p:set>
                                    <p:animEffect transition="in" filter="fade">
                                      <p:cBhvr>
                                        <p:cTn id="191" dur="500"/>
                                        <p:tgtEl>
                                          <p:spTgt spid="40"/>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39"/>
                                        </p:tgtEl>
                                        <p:attrNameLst>
                                          <p:attrName>style.visibility</p:attrName>
                                        </p:attrNameLst>
                                      </p:cBhvr>
                                      <p:to>
                                        <p:strVal val="visible"/>
                                      </p:to>
                                    </p:set>
                                    <p:animEffect transition="in" filter="fade">
                                      <p:cBhvr>
                                        <p:cTn id="194" dur="500"/>
                                        <p:tgtEl>
                                          <p:spTgt spid="39"/>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43"/>
                                        </p:tgtEl>
                                        <p:attrNameLst>
                                          <p:attrName>style.visibility</p:attrName>
                                        </p:attrNameLst>
                                      </p:cBhvr>
                                      <p:to>
                                        <p:strVal val="visible"/>
                                      </p:to>
                                    </p:set>
                                    <p:animEffect transition="in" filter="fade">
                                      <p:cBhvr>
                                        <p:cTn id="197" dur="500"/>
                                        <p:tgtEl>
                                          <p:spTgt spid="43"/>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42"/>
                                        </p:tgtEl>
                                        <p:attrNameLst>
                                          <p:attrName>style.visibility</p:attrName>
                                        </p:attrNameLst>
                                      </p:cBhvr>
                                      <p:to>
                                        <p:strVal val="visible"/>
                                      </p:to>
                                    </p:set>
                                    <p:animEffect transition="in" filter="fade">
                                      <p:cBhvr>
                                        <p:cTn id="200" dur="500"/>
                                        <p:tgtEl>
                                          <p:spTgt spid="42"/>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48"/>
                                        </p:tgtEl>
                                        <p:attrNameLst>
                                          <p:attrName>style.visibility</p:attrName>
                                        </p:attrNameLst>
                                      </p:cBhvr>
                                      <p:to>
                                        <p:strVal val="visible"/>
                                      </p:to>
                                    </p:set>
                                    <p:animEffect transition="in" filter="fade">
                                      <p:cBhvr>
                                        <p:cTn id="203" dur="500"/>
                                        <p:tgtEl>
                                          <p:spTgt spid="48"/>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nodeType="clickEffect">
                                  <p:stCondLst>
                                    <p:cond delay="0"/>
                                  </p:stCondLst>
                                  <p:childTnLst>
                                    <p:set>
                                      <p:cBhvr>
                                        <p:cTn id="207" dur="1" fill="hold">
                                          <p:stCondLst>
                                            <p:cond delay="0"/>
                                          </p:stCondLst>
                                        </p:cTn>
                                        <p:tgtEl>
                                          <p:spTgt spid="82"/>
                                        </p:tgtEl>
                                        <p:attrNameLst>
                                          <p:attrName>style.visibility</p:attrName>
                                        </p:attrNameLst>
                                      </p:cBhvr>
                                      <p:to>
                                        <p:strVal val="visible"/>
                                      </p:to>
                                    </p:set>
                                    <p:animEffect transition="in" filter="fade">
                                      <p:cBhvr>
                                        <p:cTn id="208" dur="500"/>
                                        <p:tgtEl>
                                          <p:spTgt spid="82"/>
                                        </p:tgtEl>
                                      </p:cBhvr>
                                    </p:animEffect>
                                  </p:childTnLst>
                                </p:cTn>
                              </p:par>
                              <p:par>
                                <p:cTn id="209" presetID="10" presetClass="entr" presetSubtype="0" fill="hold" nodeType="withEffect">
                                  <p:stCondLst>
                                    <p:cond delay="0"/>
                                  </p:stCondLst>
                                  <p:childTnLst>
                                    <p:set>
                                      <p:cBhvr>
                                        <p:cTn id="210" dur="1" fill="hold">
                                          <p:stCondLst>
                                            <p:cond delay="0"/>
                                          </p:stCondLst>
                                        </p:cTn>
                                        <p:tgtEl>
                                          <p:spTgt spid="83"/>
                                        </p:tgtEl>
                                        <p:attrNameLst>
                                          <p:attrName>style.visibility</p:attrName>
                                        </p:attrNameLst>
                                      </p:cBhvr>
                                      <p:to>
                                        <p:strVal val="visible"/>
                                      </p:to>
                                    </p:set>
                                    <p:animEffect transition="in" filter="fade">
                                      <p:cBhvr>
                                        <p:cTn id="211" dur="500"/>
                                        <p:tgtEl>
                                          <p:spTgt spid="83"/>
                                        </p:tgtEl>
                                      </p:cBhvr>
                                    </p:animEffect>
                                  </p:childTnLst>
                                </p:cTn>
                              </p:par>
                              <p:par>
                                <p:cTn id="212" presetID="10" presetClass="entr" presetSubtype="0" fill="hold" nodeType="withEffect">
                                  <p:stCondLst>
                                    <p:cond delay="0"/>
                                  </p:stCondLst>
                                  <p:childTnLst>
                                    <p:set>
                                      <p:cBhvr>
                                        <p:cTn id="213" dur="1" fill="hold">
                                          <p:stCondLst>
                                            <p:cond delay="0"/>
                                          </p:stCondLst>
                                        </p:cTn>
                                        <p:tgtEl>
                                          <p:spTgt spid="81"/>
                                        </p:tgtEl>
                                        <p:attrNameLst>
                                          <p:attrName>style.visibility</p:attrName>
                                        </p:attrNameLst>
                                      </p:cBhvr>
                                      <p:to>
                                        <p:strVal val="visible"/>
                                      </p:to>
                                    </p:set>
                                    <p:animEffect transition="in" filter="fade">
                                      <p:cBhvr>
                                        <p:cTn id="214" dur="500"/>
                                        <p:tgtEl>
                                          <p:spTgt spid="81"/>
                                        </p:tgtEl>
                                      </p:cBhvr>
                                    </p:animEffect>
                                  </p:childTnLst>
                                </p:cTn>
                              </p:par>
                              <p:par>
                                <p:cTn id="215" presetID="10" presetClass="entr" presetSubtype="0" fill="hold" nodeType="withEffect">
                                  <p:stCondLst>
                                    <p:cond delay="0"/>
                                  </p:stCondLst>
                                  <p:childTnLst>
                                    <p:set>
                                      <p:cBhvr>
                                        <p:cTn id="216" dur="1" fill="hold">
                                          <p:stCondLst>
                                            <p:cond delay="0"/>
                                          </p:stCondLst>
                                        </p:cTn>
                                        <p:tgtEl>
                                          <p:spTgt spid="84"/>
                                        </p:tgtEl>
                                        <p:attrNameLst>
                                          <p:attrName>style.visibility</p:attrName>
                                        </p:attrNameLst>
                                      </p:cBhvr>
                                      <p:to>
                                        <p:strVal val="visible"/>
                                      </p:to>
                                    </p:set>
                                    <p:animEffect transition="in" filter="fade">
                                      <p:cBhvr>
                                        <p:cTn id="21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p:bldP spid="28" grpId="0" animBg="1"/>
      <p:bldP spid="29" grpId="0"/>
      <p:bldP spid="37" grpId="0" animBg="1"/>
      <p:bldP spid="38" grpId="0"/>
      <p:bldP spid="39" grpId="0" animBg="1"/>
      <p:bldP spid="40" grpId="0" animBg="1"/>
      <p:bldP spid="41" grpId="0" animBg="1"/>
      <p:bldP spid="42" grpId="0" animBg="1"/>
      <p:bldP spid="43" grpId="0" animBg="1"/>
      <p:bldP spid="44" grpId="0" animBg="1"/>
      <p:bldP spid="45" grpId="0" animBg="1"/>
      <p:bldP spid="48" grpId="0" animBg="1"/>
      <p:bldP spid="49" grpId="0"/>
      <p:bldP spid="50" grpId="0"/>
      <p:bldP spid="61" grpId="0" animBg="1"/>
      <p:bldP spid="62" grpId="0" animBg="1"/>
      <p:bldP spid="77" grpId="0" animBg="1"/>
      <p:bldP spid="88" grpId="0" animBg="1"/>
      <p:bldP spid="9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596" y="181253"/>
            <a:ext cx="7031255" cy="924713"/>
          </a:xfrm>
        </p:spPr>
        <p:txBody>
          <a:bodyPr/>
          <a:lstStyle/>
          <a:p>
            <a:r>
              <a:rPr lang="en-US" dirty="0"/>
              <a:t>Multi-Organization Effort</a:t>
            </a:r>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63387" y="1803859"/>
            <a:ext cx="1485440" cy="617029"/>
          </a:xfrm>
          <a:prstGeom prst="rect">
            <a:avLst/>
          </a:prstGeom>
        </p:spPr>
      </p:pic>
      <p:grpSp>
        <p:nvGrpSpPr>
          <p:cNvPr id="3" name="Group 5"/>
          <p:cNvGrpSpPr/>
          <p:nvPr/>
        </p:nvGrpSpPr>
        <p:grpSpPr>
          <a:xfrm>
            <a:off x="352313" y="1596233"/>
            <a:ext cx="1616048" cy="807608"/>
            <a:chOff x="6086452" y="-22396"/>
            <a:chExt cx="1616048" cy="807608"/>
          </a:xfrm>
        </p:grpSpPr>
        <p:pic>
          <p:nvPicPr>
            <p:cNvPr id="7" name="Picture 2" descr="Related image"/>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140047" y="422041"/>
              <a:ext cx="301053" cy="3010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495472" y="369714"/>
              <a:ext cx="1049660" cy="4154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774C2"/>
                  </a:solidFill>
                  <a:effectLst/>
                  <a:uLnTx/>
                  <a:uFillTx/>
                </a:rPr>
                <a:t>Harmonization capacity</a:t>
              </a:r>
            </a:p>
          </p:txBody>
        </p:sp>
        <p:pic>
          <p:nvPicPr>
            <p:cNvPr id="9" name="Picture 4" descr="Image result for human computer interface"/>
            <p:cNvPicPr>
              <a:picLocks noChangeAspect="1" noChangeArrowheads="1"/>
            </p:cNvPicPr>
            <p:nvPr/>
          </p:nvPicPr>
          <p:blipFill>
            <a:blip r:embed="rId5"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086452" y="76130"/>
              <a:ext cx="379181" cy="17063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504942" y="-22396"/>
              <a:ext cx="1197558" cy="4154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774C2"/>
                  </a:solidFill>
                  <a:effectLst/>
                  <a:uLnTx/>
                  <a:uFillTx/>
                </a:rPr>
                <a:t>Human Computer Interface</a:t>
              </a:r>
            </a:p>
          </p:txBody>
        </p:sp>
      </p:grpSp>
      <p:sp>
        <p:nvSpPr>
          <p:cNvPr id="11" name="Pentagon 10"/>
          <p:cNvSpPr/>
          <p:nvPr/>
        </p:nvSpPr>
        <p:spPr>
          <a:xfrm>
            <a:off x="161591" y="4936766"/>
            <a:ext cx="8799528" cy="1180657"/>
          </a:xfrm>
          <a:prstGeom prst="homePlate">
            <a:avLst>
              <a:gd name="adj" fmla="val 47413"/>
            </a:avLst>
          </a:prstGeom>
          <a:solidFill>
            <a:srgbClr val="86B5E0"/>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12" name="Pentagon 11"/>
          <p:cNvSpPr/>
          <p:nvPr/>
        </p:nvSpPr>
        <p:spPr>
          <a:xfrm>
            <a:off x="161592" y="3819291"/>
            <a:ext cx="8799528" cy="1112334"/>
          </a:xfrm>
          <a:prstGeom prst="homePlate">
            <a:avLst/>
          </a:prstGeom>
          <a:solidFill>
            <a:srgbClr val="ADD393"/>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13" name="Pentagon 12"/>
          <p:cNvSpPr/>
          <p:nvPr/>
        </p:nvSpPr>
        <p:spPr>
          <a:xfrm>
            <a:off x="161592" y="2474453"/>
            <a:ext cx="8799528" cy="1337456"/>
          </a:xfrm>
          <a:prstGeom prst="homePlate">
            <a:avLst>
              <a:gd name="adj" fmla="val 42692"/>
            </a:avLst>
          </a:prstGeom>
          <a:solidFill>
            <a:srgbClr val="F3A773"/>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grpSp>
        <p:nvGrpSpPr>
          <p:cNvPr id="4" name="Group 13"/>
          <p:cNvGrpSpPr/>
          <p:nvPr/>
        </p:nvGrpSpPr>
        <p:grpSpPr>
          <a:xfrm>
            <a:off x="1704155" y="3308904"/>
            <a:ext cx="4257831" cy="279499"/>
            <a:chOff x="957942" y="2452612"/>
            <a:chExt cx="6709037" cy="440405"/>
          </a:xfrm>
        </p:grpSpPr>
        <p:sp>
          <p:nvSpPr>
            <p:cNvPr id="15" name="Rounded Rectangle 14"/>
            <p:cNvSpPr/>
            <p:nvPr/>
          </p:nvSpPr>
          <p:spPr>
            <a:xfrm>
              <a:off x="957942" y="2526122"/>
              <a:ext cx="6709037"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endParaRPr>
            </a:p>
          </p:txBody>
        </p:sp>
        <p:sp>
          <p:nvSpPr>
            <p:cNvPr id="16" name="TextBox 15"/>
            <p:cNvSpPr txBox="1"/>
            <p:nvPr/>
          </p:nvSpPr>
          <p:spPr>
            <a:xfrm>
              <a:off x="4839479" y="2452612"/>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sp>
          <p:nvSpPr>
            <p:cNvPr id="17" name="TextBox 16"/>
            <p:cNvSpPr txBox="1"/>
            <p:nvPr/>
          </p:nvSpPr>
          <p:spPr>
            <a:xfrm>
              <a:off x="2588240" y="2456551"/>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rPr>
                <a:t>APIs</a:t>
              </a:r>
            </a:p>
          </p:txBody>
        </p:sp>
      </p:grpSp>
      <p:grpSp>
        <p:nvGrpSpPr>
          <p:cNvPr id="6" name="Group 17"/>
          <p:cNvGrpSpPr/>
          <p:nvPr/>
        </p:nvGrpSpPr>
        <p:grpSpPr>
          <a:xfrm>
            <a:off x="1669165" y="5063019"/>
            <a:ext cx="4257831" cy="279499"/>
            <a:chOff x="902808" y="4716853"/>
            <a:chExt cx="6709037" cy="440405"/>
          </a:xfrm>
        </p:grpSpPr>
        <p:sp>
          <p:nvSpPr>
            <p:cNvPr id="19" name="Rounded Rectangle 18"/>
            <p:cNvSpPr/>
            <p:nvPr/>
          </p:nvSpPr>
          <p:spPr>
            <a:xfrm>
              <a:off x="902808" y="4790783"/>
              <a:ext cx="6709037"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endParaRPr>
            </a:p>
          </p:txBody>
        </p:sp>
        <p:sp>
          <p:nvSpPr>
            <p:cNvPr id="20" name="TextBox 19"/>
            <p:cNvSpPr txBox="1"/>
            <p:nvPr/>
          </p:nvSpPr>
          <p:spPr>
            <a:xfrm>
              <a:off x="4874309" y="4716853"/>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sp>
          <p:nvSpPr>
            <p:cNvPr id="21" name="TextBox 20"/>
            <p:cNvSpPr txBox="1"/>
            <p:nvPr/>
          </p:nvSpPr>
          <p:spPr>
            <a:xfrm>
              <a:off x="2623070" y="4720792"/>
              <a:ext cx="715318" cy="43646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grpSp>
      <p:sp>
        <p:nvSpPr>
          <p:cNvPr id="22" name="Rounded Rectangle 21"/>
          <p:cNvSpPr/>
          <p:nvPr/>
        </p:nvSpPr>
        <p:spPr>
          <a:xfrm>
            <a:off x="1541989" y="3548883"/>
            <a:ext cx="4535158" cy="605321"/>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23" name="TextBox 22"/>
          <p:cNvSpPr txBox="1"/>
          <p:nvPr/>
        </p:nvSpPr>
        <p:spPr>
          <a:xfrm>
            <a:off x="1769306" y="3706880"/>
            <a:ext cx="4001967"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lvl="0">
              <a:defRPr/>
            </a:pPr>
            <a:r>
              <a:rPr lang="en-US" sz="1600" dirty="0"/>
              <a:t>Brokering/Mediation Platform</a:t>
            </a:r>
          </a:p>
        </p:txBody>
      </p:sp>
      <p:sp>
        <p:nvSpPr>
          <p:cNvPr id="24" name="Rounded Rectangle 23"/>
          <p:cNvSpPr/>
          <p:nvPr/>
        </p:nvSpPr>
        <p:spPr>
          <a:xfrm>
            <a:off x="1552823" y="4409054"/>
            <a:ext cx="4531318" cy="636104"/>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25" name="TextBox 24"/>
          <p:cNvSpPr txBox="1"/>
          <p:nvPr/>
        </p:nvSpPr>
        <p:spPr>
          <a:xfrm>
            <a:off x="1619916" y="4558345"/>
            <a:ext cx="4342071"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Regional/National Data Nodes</a:t>
            </a:r>
          </a:p>
        </p:txBody>
      </p:sp>
      <p:sp>
        <p:nvSpPr>
          <p:cNvPr id="28" name="Rounded Rectangle 27"/>
          <p:cNvSpPr/>
          <p:nvPr/>
        </p:nvSpPr>
        <p:spPr>
          <a:xfrm rot="16200000">
            <a:off x="5031428" y="3877198"/>
            <a:ext cx="3395656" cy="801126"/>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29" name="TextBox 28"/>
          <p:cNvSpPr txBox="1"/>
          <p:nvPr/>
        </p:nvSpPr>
        <p:spPr>
          <a:xfrm rot="16200000">
            <a:off x="5130150" y="4089255"/>
            <a:ext cx="3283364" cy="584775"/>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Thematic/International Federation systems</a:t>
            </a:r>
          </a:p>
        </p:txBody>
      </p:sp>
      <p:grpSp>
        <p:nvGrpSpPr>
          <p:cNvPr id="14" name="Group 29"/>
          <p:cNvGrpSpPr/>
          <p:nvPr/>
        </p:nvGrpSpPr>
        <p:grpSpPr>
          <a:xfrm>
            <a:off x="1552825" y="2579933"/>
            <a:ext cx="4431704" cy="753501"/>
            <a:chOff x="719492" y="1379524"/>
            <a:chExt cx="6983008" cy="1187287"/>
          </a:xfrm>
          <a:effectLst/>
        </p:grpSpPr>
        <p:sp>
          <p:nvSpPr>
            <p:cNvPr id="31" name="Rounded Rectangle 30"/>
            <p:cNvSpPr/>
            <p:nvPr/>
          </p:nvSpPr>
          <p:spPr>
            <a:xfrm>
              <a:off x="3225613" y="1381190"/>
              <a:ext cx="2465624" cy="1173629"/>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2" name="Rounded Rectangle 31"/>
            <p:cNvSpPr/>
            <p:nvPr/>
          </p:nvSpPr>
          <p:spPr>
            <a:xfrm>
              <a:off x="5793886" y="1379524"/>
              <a:ext cx="1908614" cy="1173629"/>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3" name="Rounded Rectangle 32"/>
            <p:cNvSpPr/>
            <p:nvPr/>
          </p:nvSpPr>
          <p:spPr>
            <a:xfrm>
              <a:off x="719492" y="1393182"/>
              <a:ext cx="2323491" cy="1173629"/>
            </a:xfrm>
            <a:prstGeom prst="roundRect">
              <a:avLst/>
            </a:prstGeom>
            <a:solidFill>
              <a:sysClr val="window" lastClr="FFFFFF"/>
            </a:solidFill>
            <a:ln w="12700" cap="flat" cmpd="sng" algn="ctr">
              <a:solidFill>
                <a:srgbClr val="5B9BD5">
                  <a:shade val="50000"/>
                </a:srgbClr>
              </a:solidFill>
              <a:prstDash val="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4" name="TextBox 33"/>
            <p:cNvSpPr txBox="1"/>
            <p:nvPr/>
          </p:nvSpPr>
          <p:spPr>
            <a:xfrm>
              <a:off x="845934" y="1431015"/>
              <a:ext cx="2066483" cy="824435"/>
            </a:xfrm>
            <a:prstGeom prst="rect">
              <a:avLst/>
            </a:prstGeom>
            <a:noFill/>
            <a:effectLst>
              <a:softEdge rad="127000"/>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WMO </a:t>
              </a:r>
              <a:r>
                <a:rPr kumimoji="0" lang="en-US" sz="1400" b="0" i="0" u="none" strike="noStrike" kern="0" cap="none" spc="0" normalizeH="0" baseline="0" noProof="0" dirty="0" err="1">
                  <a:ln w="0"/>
                  <a:solidFill>
                    <a:srgbClr val="0070C0"/>
                  </a:solidFill>
                  <a:effectLst>
                    <a:outerShdw blurRad="38100" dist="25400" dir="5400000" algn="ctr" rotWithShape="0">
                      <a:srgbClr val="6E747A">
                        <a:alpha val="43000"/>
                      </a:srgbClr>
                    </a:outerShdw>
                  </a:effectLst>
                  <a:uLnTx/>
                  <a:uFillTx/>
                </a:rPr>
                <a:t>CHy</a:t>
              </a: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 Programmes</a:t>
              </a:r>
            </a:p>
          </p:txBody>
        </p:sp>
        <p:sp>
          <p:nvSpPr>
            <p:cNvPr id="35" name="Rectangle 34"/>
            <p:cNvSpPr/>
            <p:nvPr/>
          </p:nvSpPr>
          <p:spPr>
            <a:xfrm>
              <a:off x="3153017" y="1439664"/>
              <a:ext cx="2514861" cy="484962"/>
            </a:xfrm>
            <a:prstGeom prst="rect">
              <a:avLst/>
            </a:prstGeom>
            <a:noFill/>
            <a:effectLst>
              <a:softEdge rad="127000"/>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WMO </a:t>
              </a:r>
              <a:r>
                <a:rPr kumimoji="0" lang="en-US" sz="1400" b="0" i="0" u="none" strike="noStrike" kern="0" cap="none" spc="0" normalizeH="0" baseline="0" noProof="0" dirty="0" err="1">
                  <a:ln w="0"/>
                  <a:solidFill>
                    <a:srgbClr val="0070C0"/>
                  </a:solidFill>
                  <a:effectLst>
                    <a:outerShdw blurRad="38100" dist="25400" dir="5400000" algn="ctr" rotWithShape="0">
                      <a:srgbClr val="6E747A">
                        <a:alpha val="43000"/>
                      </a:srgbClr>
                    </a:outerShdw>
                  </a:effectLst>
                  <a:uLnTx/>
                  <a:uFillTx/>
                </a:rPr>
                <a:t>CHy</a:t>
              </a: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 Projects</a:t>
              </a:r>
            </a:p>
          </p:txBody>
        </p:sp>
        <p:sp>
          <p:nvSpPr>
            <p:cNvPr id="36" name="Rectangle 35"/>
            <p:cNvSpPr/>
            <p:nvPr/>
          </p:nvSpPr>
          <p:spPr>
            <a:xfrm>
              <a:off x="6062961" y="1383172"/>
              <a:ext cx="1248728" cy="824435"/>
            </a:xfrm>
            <a:prstGeom prst="rect">
              <a:avLst/>
            </a:prstGeom>
            <a:noFill/>
            <a:effectLst>
              <a:softEdge rad="127000"/>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Other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rPr>
                <a:t>Apps</a:t>
              </a:r>
            </a:p>
          </p:txBody>
        </p:sp>
      </p:grpSp>
      <p:sp>
        <p:nvSpPr>
          <p:cNvPr id="95" name="Rounded Rectangle 25"/>
          <p:cNvSpPr/>
          <p:nvPr/>
        </p:nvSpPr>
        <p:spPr>
          <a:xfrm rot="16200000">
            <a:off x="-775059" y="3889936"/>
            <a:ext cx="3361215" cy="741212"/>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7" name="Rounded Rectangle 36"/>
          <p:cNvSpPr/>
          <p:nvPr/>
        </p:nvSpPr>
        <p:spPr>
          <a:xfrm>
            <a:off x="1553963" y="5316804"/>
            <a:ext cx="4523183" cy="618267"/>
          </a:xfrm>
          <a:prstGeom prst="roundRect">
            <a:avLst/>
          </a:prstGeom>
          <a:solidFill>
            <a:srgbClr val="FFC000">
              <a:lumMod val="20000"/>
              <a:lumOff val="80000"/>
            </a:srgbClr>
          </a:solidFill>
          <a:ln w="19050" cap="flat" cmpd="sng" algn="ctr">
            <a:solidFill>
              <a:srgbClr val="FFC000"/>
            </a:solidFill>
            <a:prstDash val="sysDash"/>
            <a:miter lim="800000"/>
          </a:ln>
          <a:effectLst/>
        </p:spPr>
        <p:txBody>
          <a:bodyPr rtlCol="0" anchor="ctr"/>
          <a:lstStyle/>
          <a:p>
            <a:pPr marL="0" marR="0" lvl="0" indent="0" algn="ctr" defTabSz="914400" eaLnBrk="1" fontAlgn="auto" latinLnBrk="0" hangingPunct="1">
              <a:lnSpc>
                <a:spcPts val="32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endParaRPr>
          </a:p>
        </p:txBody>
      </p:sp>
      <p:sp>
        <p:nvSpPr>
          <p:cNvPr id="38" name="TextBox 37"/>
          <p:cNvSpPr txBox="1"/>
          <p:nvPr/>
        </p:nvSpPr>
        <p:spPr>
          <a:xfrm>
            <a:off x="2165231" y="5450454"/>
            <a:ext cx="3251441"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0070C0"/>
                </a:solidFill>
                <a:effectLst>
                  <a:outerShdw blurRad="38100" dist="25400" dir="5400000" algn="ctr" rotWithShape="0">
                    <a:srgbClr val="6E747A">
                      <a:alpha val="43000"/>
                    </a:srgbClr>
                  </a:outerShdw>
                </a:effectLst>
                <a:uLnTx/>
                <a:uFillTx/>
                <a:latin typeface="Calibri" panose="020F0502020204030204"/>
              </a:rPr>
              <a:t>Data systems</a:t>
            </a:r>
          </a:p>
        </p:txBody>
      </p:sp>
      <p:sp>
        <p:nvSpPr>
          <p:cNvPr id="39" name="Right Arrow 38"/>
          <p:cNvSpPr/>
          <p:nvPr/>
        </p:nvSpPr>
        <p:spPr>
          <a:xfrm rot="5400000">
            <a:off x="3464338" y="3517540"/>
            <a:ext cx="269547"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0" name="Right Arrow 39"/>
          <p:cNvSpPr/>
          <p:nvPr/>
        </p:nvSpPr>
        <p:spPr>
          <a:xfrm rot="16200000" flipV="1">
            <a:off x="3553849" y="3352631"/>
            <a:ext cx="242924"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96" name="TextBox 26"/>
          <p:cNvSpPr txBox="1"/>
          <p:nvPr/>
        </p:nvSpPr>
        <p:spPr>
          <a:xfrm rot="16200000">
            <a:off x="-652551" y="4166204"/>
            <a:ext cx="3319580" cy="338554"/>
          </a:xfrm>
          <a:prstGeom prst="rect">
            <a:avLst/>
          </a:prstGeom>
          <a:noFill/>
          <a:effectLst>
            <a:softEdge rad="127000"/>
          </a:effectLst>
        </p:spPr>
        <p:txBody>
          <a:bodyPr wrap="square" rtlCol="0">
            <a:spAutoFit/>
          </a:bodyPr>
          <a:lstStyle>
            <a:defPPr>
              <a:defRPr lang="en-GB"/>
            </a:defPPr>
            <a:lvl1pPr marL="0" marR="0" lvl="0" indent="0" algn="ctr" defTabSz="914400" eaLnBrk="1" fontAlgn="auto" latinLnBrk="0" hangingPunct="1">
              <a:spcBef>
                <a:spcPts val="0"/>
              </a:spcBef>
              <a:spcAft>
                <a:spcPts val="0"/>
              </a:spcAft>
              <a:buClrTx/>
              <a:buSzTx/>
              <a:buFontTx/>
              <a:buNone/>
              <a:tabLst/>
              <a:defRPr kumimoji="0" sz="1400" b="0" i="0" u="none" strike="noStrike" kern="0" cap="none" spc="0" normalizeH="0" baseline="0">
                <a:ln w="0"/>
                <a:solidFill>
                  <a:srgbClr val="0070C0"/>
                </a:solidFill>
                <a:effectLst>
                  <a:outerShdw blurRad="38100" dist="25400" dir="5400000" algn="ctr" rotWithShape="0">
                    <a:srgbClr val="6E747A">
                      <a:alpha val="43000"/>
                    </a:srgbClr>
                  </a:outerShdw>
                </a:effectLst>
                <a:uLnTx/>
                <a:uFillTx/>
                <a:latin typeface="Calibri" panose="020F0502020204030204"/>
              </a:defRPr>
            </a:lvl1pPr>
          </a:lstStyle>
          <a:p>
            <a:pPr lvl="0">
              <a:defRPr/>
            </a:pPr>
            <a:r>
              <a:rPr lang="en-US" sz="1600" dirty="0"/>
              <a:t>Workflow/Processing systems</a:t>
            </a:r>
          </a:p>
        </p:txBody>
      </p:sp>
      <p:sp>
        <p:nvSpPr>
          <p:cNvPr id="41" name="Rounded Rectangle 40"/>
          <p:cNvSpPr/>
          <p:nvPr/>
        </p:nvSpPr>
        <p:spPr>
          <a:xfrm>
            <a:off x="1702326" y="4209154"/>
            <a:ext cx="4257831" cy="137768"/>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2" name="Right Arrow 41"/>
          <p:cNvSpPr/>
          <p:nvPr/>
        </p:nvSpPr>
        <p:spPr>
          <a:xfrm rot="5400000">
            <a:off x="3446964" y="4211801"/>
            <a:ext cx="304296"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3" name="Right Arrow 42"/>
          <p:cNvSpPr/>
          <p:nvPr/>
        </p:nvSpPr>
        <p:spPr>
          <a:xfrm rot="16200000" flipV="1">
            <a:off x="3550905" y="4023739"/>
            <a:ext cx="304296"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4" name="Right Arrow 43"/>
          <p:cNvSpPr/>
          <p:nvPr/>
        </p:nvSpPr>
        <p:spPr>
          <a:xfrm rot="5400000">
            <a:off x="1642557" y="3871591"/>
            <a:ext cx="975043"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5" name="Right Arrow 44"/>
          <p:cNvSpPr/>
          <p:nvPr/>
        </p:nvSpPr>
        <p:spPr>
          <a:xfrm rot="16200000" flipV="1">
            <a:off x="1746113" y="3687364"/>
            <a:ext cx="975043"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8" name="Right Arrow 47"/>
          <p:cNvSpPr/>
          <p:nvPr/>
        </p:nvSpPr>
        <p:spPr>
          <a:xfrm rot="5400000">
            <a:off x="3462370" y="4961498"/>
            <a:ext cx="304296" cy="319189"/>
          </a:xfrm>
          <a:prstGeom prst="rightArrow">
            <a:avLst/>
          </a:prstGeom>
          <a:solidFill>
            <a:srgbClr val="5B9BD5"/>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49" name="TextBox 48"/>
          <p:cNvSpPr txBox="1"/>
          <p:nvPr/>
        </p:nvSpPr>
        <p:spPr>
          <a:xfrm>
            <a:off x="4175827" y="4143020"/>
            <a:ext cx="453970"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rPr>
              <a:t>APIs</a:t>
            </a:r>
          </a:p>
        </p:txBody>
      </p:sp>
      <p:sp>
        <p:nvSpPr>
          <p:cNvPr id="50" name="TextBox 49"/>
          <p:cNvSpPr txBox="1"/>
          <p:nvPr/>
        </p:nvSpPr>
        <p:spPr>
          <a:xfrm>
            <a:off x="2747098" y="4145521"/>
            <a:ext cx="453970"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rPr>
              <a:t>APIs</a:t>
            </a:r>
          </a:p>
        </p:txBody>
      </p:sp>
      <p:grpSp>
        <p:nvGrpSpPr>
          <p:cNvPr id="18" name="Group 55"/>
          <p:cNvGrpSpPr/>
          <p:nvPr/>
        </p:nvGrpSpPr>
        <p:grpSpPr>
          <a:xfrm>
            <a:off x="6055774" y="2880134"/>
            <a:ext cx="310543" cy="2785515"/>
            <a:chOff x="7680009" y="1525291"/>
            <a:chExt cx="489320" cy="4389120"/>
          </a:xfrm>
        </p:grpSpPr>
        <p:sp>
          <p:nvSpPr>
            <p:cNvPr id="57" name="Rounded Rectangle 56"/>
            <p:cNvSpPr/>
            <p:nvPr/>
          </p:nvSpPr>
          <p:spPr>
            <a:xfrm rot="16200000">
              <a:off x="5733743" y="3611311"/>
              <a:ext cx="4389120" cy="217080"/>
            </a:xfrm>
            <a:prstGeom prst="roundRect">
              <a:avLst/>
            </a:prstGeom>
            <a:solidFill>
              <a:sysClr val="windowText" lastClr="000000">
                <a:lumMod val="50000"/>
                <a:lumOff val="50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58" name="TextBox 57"/>
            <p:cNvSpPr txBox="1"/>
            <p:nvPr/>
          </p:nvSpPr>
          <p:spPr>
            <a:xfrm rot="16200000">
              <a:off x="7535089" y="4650140"/>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sp>
          <p:nvSpPr>
            <p:cNvPr id="59" name="TextBox 58"/>
            <p:cNvSpPr txBox="1"/>
            <p:nvPr/>
          </p:nvSpPr>
          <p:spPr>
            <a:xfrm rot="16200000">
              <a:off x="7530732" y="3504958"/>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sp>
          <p:nvSpPr>
            <p:cNvPr id="60" name="TextBox 59"/>
            <p:cNvSpPr txBox="1"/>
            <p:nvPr/>
          </p:nvSpPr>
          <p:spPr>
            <a:xfrm rot="16200000">
              <a:off x="7535084" y="2290114"/>
              <a:ext cx="783517" cy="48496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APIs</a:t>
              </a:r>
            </a:p>
          </p:txBody>
        </p:sp>
      </p:grpSp>
      <p:sp>
        <p:nvSpPr>
          <p:cNvPr id="61" name="Can 60"/>
          <p:cNvSpPr/>
          <p:nvPr/>
        </p:nvSpPr>
        <p:spPr>
          <a:xfrm>
            <a:off x="1479534" y="5712238"/>
            <a:ext cx="403457" cy="353716"/>
          </a:xfrm>
          <a:prstGeom prst="can">
            <a:avLst>
              <a:gd name="adj" fmla="val 50000"/>
            </a:avLst>
          </a:prstGeom>
          <a:solidFill>
            <a:srgbClr val="FFC000"/>
          </a:solidFill>
          <a:ln w="12700" cap="flat" cmpd="sng" algn="ctr">
            <a:solidFill>
              <a:srgbClr val="FFC0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sp>
        <p:nvSpPr>
          <p:cNvPr id="62" name="Can 61"/>
          <p:cNvSpPr/>
          <p:nvPr/>
        </p:nvSpPr>
        <p:spPr>
          <a:xfrm>
            <a:off x="6125131" y="5716657"/>
            <a:ext cx="403457" cy="353716"/>
          </a:xfrm>
          <a:prstGeom prst="can">
            <a:avLst>
              <a:gd name="adj" fmla="val 50000"/>
            </a:avLst>
          </a:prstGeom>
          <a:solidFill>
            <a:srgbClr val="FFC000"/>
          </a:solidFill>
          <a:ln w="12700" cap="flat" cmpd="sng" algn="ctr">
            <a:solidFill>
              <a:srgbClr val="FFC0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ndParaRPr>
          </a:p>
        </p:txBody>
      </p:sp>
      <p:pic>
        <p:nvPicPr>
          <p:cNvPr id="65" name="Picture 64"/>
          <p:cNvPicPr>
            <a:picLocks noChangeAspect="1"/>
          </p:cNvPicPr>
          <p:nvPr/>
        </p:nvPicPr>
        <p:blipFill>
          <a:blip r:embed="rId6" cstate="email">
            <a:duotone>
              <a:srgbClr val="5B9BD5">
                <a:shade val="45000"/>
                <a:satMod val="135000"/>
              </a:srgbClr>
              <a:prstClr val="white"/>
            </a:duotone>
            <a:extLst>
              <a:ext uri="{28A0092B-C50C-407E-A947-70E740481C1C}">
                <a14:useLocalDpi xmlns:a14="http://schemas.microsoft.com/office/drawing/2010/main"/>
              </a:ext>
            </a:extLst>
          </a:blip>
          <a:stretch>
            <a:fillRect/>
          </a:stretch>
        </p:blipFill>
        <p:spPr>
          <a:xfrm>
            <a:off x="6811676" y="5690736"/>
            <a:ext cx="249743" cy="249743"/>
          </a:xfrm>
          <a:prstGeom prst="rect">
            <a:avLst/>
          </a:prstGeom>
        </p:spPr>
      </p:pic>
      <p:pic>
        <p:nvPicPr>
          <p:cNvPr id="66" name="Picture 65"/>
          <p:cNvPicPr>
            <a:picLocks noChangeAspect="1"/>
          </p:cNvPicPr>
          <p:nvPr/>
        </p:nvPicPr>
        <p:blipFill>
          <a:blip r:embed="rId6" cstate="email">
            <a:duotone>
              <a:srgbClr val="5B9BD5">
                <a:shade val="45000"/>
                <a:satMod val="135000"/>
              </a:srgbClr>
              <a:prstClr val="white"/>
            </a:duotone>
            <a:extLst>
              <a:ext uri="{28A0092B-C50C-407E-A947-70E740481C1C}">
                <a14:useLocalDpi xmlns:a14="http://schemas.microsoft.com/office/drawing/2010/main"/>
              </a:ext>
            </a:extLst>
          </a:blip>
          <a:stretch>
            <a:fillRect/>
          </a:stretch>
        </p:blipFill>
        <p:spPr>
          <a:xfrm>
            <a:off x="1660415" y="4460895"/>
            <a:ext cx="249743" cy="249743"/>
          </a:xfrm>
          <a:prstGeom prst="rect">
            <a:avLst/>
          </a:prstGeom>
        </p:spPr>
      </p:pic>
      <p:sp>
        <p:nvSpPr>
          <p:cNvPr id="67" name="TextBox 66"/>
          <p:cNvSpPr txBox="1"/>
          <p:nvPr/>
        </p:nvSpPr>
        <p:spPr>
          <a:xfrm rot="20186430">
            <a:off x="7304492" y="3046358"/>
            <a:ext cx="132472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DOWNSTREAM</a:t>
            </a:r>
          </a:p>
        </p:txBody>
      </p:sp>
      <p:sp>
        <p:nvSpPr>
          <p:cNvPr id="68" name="TextBox 67"/>
          <p:cNvSpPr txBox="1"/>
          <p:nvPr/>
        </p:nvSpPr>
        <p:spPr>
          <a:xfrm rot="20186430">
            <a:off x="7452072" y="5435641"/>
            <a:ext cx="102233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UPSTREAM</a:t>
            </a:r>
          </a:p>
        </p:txBody>
      </p:sp>
      <p:sp>
        <p:nvSpPr>
          <p:cNvPr id="69" name="TextBox 68"/>
          <p:cNvSpPr txBox="1"/>
          <p:nvPr/>
        </p:nvSpPr>
        <p:spPr>
          <a:xfrm rot="20186430">
            <a:off x="7371015" y="4254426"/>
            <a:ext cx="1128129"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MIDSTREAM</a:t>
            </a:r>
          </a:p>
        </p:txBody>
      </p:sp>
      <p:pic>
        <p:nvPicPr>
          <p:cNvPr id="70" name="Picture 2" descr="Related image"/>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640590" y="3642876"/>
            <a:ext cx="294883" cy="29488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Related image"/>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670214" y="4743966"/>
            <a:ext cx="232506" cy="23250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Related image"/>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752106" y="2649219"/>
            <a:ext cx="232506" cy="232506"/>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649184" y="3167570"/>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4327413" y="3171805"/>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5619351" y="3173556"/>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Image result for human computer interface"/>
          <p:cNvPicPr>
            <a:picLocks noChangeAspect="1" noChangeArrowheads="1"/>
          </p:cNvPicPr>
          <p:nvPr/>
        </p:nvPicPr>
        <p:blipFill>
          <a:blip r:embed="rId9" cstate="email">
            <a:duotone>
              <a:srgbClr val="5B9BD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426098" y="2679509"/>
            <a:ext cx="268665" cy="120899"/>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80"/>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723564" y="3913309"/>
            <a:ext cx="193471" cy="206957"/>
          </a:xfrm>
          <a:prstGeom prst="rect">
            <a:avLst/>
          </a:prstGeom>
        </p:spPr>
      </p:pic>
      <p:pic>
        <p:nvPicPr>
          <p:cNvPr id="82" name="Picture 81"/>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694940" y="3099399"/>
            <a:ext cx="193471" cy="206957"/>
          </a:xfrm>
          <a:prstGeom prst="rect">
            <a:avLst/>
          </a:prstGeom>
        </p:spPr>
      </p:pic>
      <p:pic>
        <p:nvPicPr>
          <p:cNvPr id="129" name="Picture 63"/>
          <p:cNvPicPr>
            <a:picLocks noChangeAspect="1"/>
          </p:cNvPicPr>
          <p:nvPr/>
        </p:nvPicPr>
        <p:blipFill>
          <a:blip r:embed="rId6" cstate="email">
            <a:duotone>
              <a:srgbClr val="5B9BD5">
                <a:shade val="45000"/>
                <a:satMod val="135000"/>
              </a:srgbClr>
              <a:prstClr val="white"/>
            </a:duotone>
            <a:extLst>
              <a:ext uri="{28A0092B-C50C-407E-A947-70E740481C1C}">
                <a14:useLocalDpi xmlns:a14="http://schemas.microsoft.com/office/drawing/2010/main"/>
              </a:ext>
            </a:extLst>
          </a:blip>
          <a:stretch>
            <a:fillRect/>
          </a:stretch>
        </p:blipFill>
        <p:spPr>
          <a:xfrm>
            <a:off x="586464" y="2627516"/>
            <a:ext cx="249743" cy="249743"/>
          </a:xfrm>
          <a:prstGeom prst="rect">
            <a:avLst/>
          </a:prstGeom>
        </p:spPr>
      </p:pic>
      <p:pic>
        <p:nvPicPr>
          <p:cNvPr id="83" name="Picture 82"/>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295824" y="3092227"/>
            <a:ext cx="193471" cy="206957"/>
          </a:xfrm>
          <a:prstGeom prst="rect">
            <a:avLst/>
          </a:prstGeom>
        </p:spPr>
      </p:pic>
      <p:pic>
        <p:nvPicPr>
          <p:cNvPr id="84" name="Picture 83"/>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741763" y="4809656"/>
            <a:ext cx="177199" cy="189551"/>
          </a:xfrm>
          <a:prstGeom prst="rect">
            <a:avLst/>
          </a:prstGeom>
        </p:spPr>
      </p:pic>
      <p:grpSp>
        <p:nvGrpSpPr>
          <p:cNvPr id="26" name="Group 95"/>
          <p:cNvGrpSpPr/>
          <p:nvPr/>
        </p:nvGrpSpPr>
        <p:grpSpPr>
          <a:xfrm>
            <a:off x="7652464" y="2810486"/>
            <a:ext cx="1140822" cy="416427"/>
            <a:chOff x="7784434" y="3468577"/>
            <a:chExt cx="1140822" cy="416427"/>
          </a:xfrm>
          <a:solidFill>
            <a:schemeClr val="bg1"/>
          </a:solidFill>
        </p:grpSpPr>
        <p:sp>
          <p:nvSpPr>
            <p:cNvPr id="91" name="Line Callout 3 (Border and Accent Bar) 96"/>
            <p:cNvSpPr/>
            <p:nvPr/>
          </p:nvSpPr>
          <p:spPr>
            <a:xfrm>
              <a:off x="7784434" y="3468577"/>
              <a:ext cx="1140822" cy="416427"/>
            </a:xfrm>
            <a:prstGeom prst="accentBorderCallout3">
              <a:avLst>
                <a:gd name="adj1" fmla="val 18750"/>
                <a:gd name="adj2" fmla="val -8333"/>
                <a:gd name="adj3" fmla="val 18750"/>
                <a:gd name="adj4" fmla="val -16667"/>
                <a:gd name="adj5" fmla="val 100000"/>
                <a:gd name="adj6" fmla="val -16667"/>
                <a:gd name="adj7" fmla="val 183022"/>
                <a:gd name="adj8" fmla="val -60016"/>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0" name="Picture 91"/>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7821787" y="3487063"/>
              <a:ext cx="1084475" cy="370670"/>
            </a:xfrm>
            <a:prstGeom prst="rect">
              <a:avLst/>
            </a:prstGeom>
            <a:grpFill/>
          </p:spPr>
        </p:pic>
      </p:grpSp>
      <p:sp>
        <p:nvSpPr>
          <p:cNvPr id="97" name="Line Callout 3 (Border and Accent Bar) 102"/>
          <p:cNvSpPr/>
          <p:nvPr/>
        </p:nvSpPr>
        <p:spPr>
          <a:xfrm>
            <a:off x="7187295" y="5716228"/>
            <a:ext cx="1701076" cy="352140"/>
          </a:xfrm>
          <a:prstGeom prst="accentBorderCallout3">
            <a:avLst>
              <a:gd name="adj1" fmla="val 18750"/>
              <a:gd name="adj2" fmla="val -8333"/>
              <a:gd name="adj3" fmla="val 18750"/>
              <a:gd name="adj4" fmla="val -16667"/>
              <a:gd name="adj5" fmla="val -95884"/>
              <a:gd name="adj6" fmla="val -19318"/>
              <a:gd name="adj7" fmla="val -124512"/>
              <a:gd name="adj8" fmla="val -21010"/>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mr-IN" dirty="0">
                <a:solidFill>
                  <a:schemeClr val="tx1"/>
                </a:solidFill>
              </a:rPr>
              <a:t>…</a:t>
            </a:r>
            <a:endParaRPr lang="en-US" dirty="0">
              <a:solidFill>
                <a:schemeClr val="tx1"/>
              </a:solidFill>
            </a:endParaRPr>
          </a:p>
        </p:txBody>
      </p:sp>
      <p:grpSp>
        <p:nvGrpSpPr>
          <p:cNvPr id="27" name="Group 101"/>
          <p:cNvGrpSpPr/>
          <p:nvPr/>
        </p:nvGrpSpPr>
        <p:grpSpPr>
          <a:xfrm>
            <a:off x="6907138" y="4652463"/>
            <a:ext cx="2193558" cy="499912"/>
            <a:chOff x="7346993" y="4765895"/>
            <a:chExt cx="2193558" cy="499912"/>
          </a:xfrm>
        </p:grpSpPr>
        <p:sp>
          <p:nvSpPr>
            <p:cNvPr id="100" name="Line Callout 3 (Border and Accent Bar) 105"/>
            <p:cNvSpPr/>
            <p:nvPr/>
          </p:nvSpPr>
          <p:spPr>
            <a:xfrm>
              <a:off x="7346993" y="4765895"/>
              <a:ext cx="2193558" cy="499912"/>
            </a:xfrm>
            <a:custGeom>
              <a:avLst/>
              <a:gdLst>
                <a:gd name="connsiteX0" fmla="*/ 0 w 1605473"/>
                <a:gd name="connsiteY0" fmla="*/ 0 h 499912"/>
                <a:gd name="connsiteX1" fmla="*/ 1605473 w 1605473"/>
                <a:gd name="connsiteY1" fmla="*/ 0 h 499912"/>
                <a:gd name="connsiteX2" fmla="*/ 1605473 w 1605473"/>
                <a:gd name="connsiteY2" fmla="*/ 499912 h 499912"/>
                <a:gd name="connsiteX3" fmla="*/ 0 w 1605473"/>
                <a:gd name="connsiteY3" fmla="*/ 499912 h 499912"/>
                <a:gd name="connsiteX4" fmla="*/ 0 w 1605473"/>
                <a:gd name="connsiteY4" fmla="*/ 0 h 499912"/>
                <a:gd name="connsiteX0" fmla="*/ -133784 w 1605473"/>
                <a:gd name="connsiteY0" fmla="*/ 0 h 499912"/>
                <a:gd name="connsiteX1" fmla="*/ -133784 w 1605473"/>
                <a:gd name="connsiteY1" fmla="*/ 499912 h 499912"/>
                <a:gd name="connsiteX2" fmla="*/ -133784 w 1605473"/>
                <a:gd name="connsiteY2" fmla="*/ 0 h 499912"/>
                <a:gd name="connsiteX0" fmla="*/ -133784 w 1605473"/>
                <a:gd name="connsiteY0" fmla="*/ 93734 h 499912"/>
                <a:gd name="connsiteX1" fmla="*/ -267584 w 1605473"/>
                <a:gd name="connsiteY1" fmla="*/ 93734 h 499912"/>
                <a:gd name="connsiteX2" fmla="*/ -682599 w 1605473"/>
                <a:gd name="connsiteY2" fmla="*/ 408853 h 499912"/>
                <a:gd name="connsiteX3" fmla="*/ -588085 w 1605473"/>
                <a:gd name="connsiteY3" fmla="*/ 484875 h 499912"/>
                <a:gd name="connsiteX0" fmla="*/ 588085 w 2193558"/>
                <a:gd name="connsiteY0" fmla="*/ 0 h 499912"/>
                <a:gd name="connsiteX1" fmla="*/ 2193558 w 2193558"/>
                <a:gd name="connsiteY1" fmla="*/ 0 h 499912"/>
                <a:gd name="connsiteX2" fmla="*/ 2193558 w 2193558"/>
                <a:gd name="connsiteY2" fmla="*/ 499912 h 499912"/>
                <a:gd name="connsiteX3" fmla="*/ 588085 w 2193558"/>
                <a:gd name="connsiteY3" fmla="*/ 499912 h 499912"/>
                <a:gd name="connsiteX4" fmla="*/ 588085 w 2193558"/>
                <a:gd name="connsiteY4" fmla="*/ 0 h 499912"/>
                <a:gd name="connsiteX0" fmla="*/ 454301 w 2193558"/>
                <a:gd name="connsiteY0" fmla="*/ 0 h 499912"/>
                <a:gd name="connsiteX1" fmla="*/ 454301 w 2193558"/>
                <a:gd name="connsiteY1" fmla="*/ 499912 h 499912"/>
                <a:gd name="connsiteX2" fmla="*/ 454301 w 2193558"/>
                <a:gd name="connsiteY2" fmla="*/ 0 h 499912"/>
                <a:gd name="connsiteX0" fmla="*/ 454301 w 2193558"/>
                <a:gd name="connsiteY0" fmla="*/ 93734 h 499912"/>
                <a:gd name="connsiteX1" fmla="*/ 320501 w 2193558"/>
                <a:gd name="connsiteY1" fmla="*/ 93734 h 499912"/>
                <a:gd name="connsiteX2" fmla="*/ 0 w 2193558"/>
                <a:gd name="connsiteY2" fmla="*/ 484875 h 499912"/>
              </a:gdLst>
              <a:ahLst/>
              <a:cxnLst>
                <a:cxn ang="0">
                  <a:pos x="connsiteX0" y="connsiteY0"/>
                </a:cxn>
                <a:cxn ang="0">
                  <a:pos x="connsiteX1" y="connsiteY1"/>
                </a:cxn>
                <a:cxn ang="0">
                  <a:pos x="connsiteX2" y="connsiteY2"/>
                </a:cxn>
              </a:cxnLst>
              <a:rect l="l" t="t" r="r" b="b"/>
              <a:pathLst>
                <a:path w="2193558" h="499912" extrusionOk="0">
                  <a:moveTo>
                    <a:pt x="588085" y="0"/>
                  </a:moveTo>
                  <a:lnTo>
                    <a:pt x="2193558" y="0"/>
                  </a:lnTo>
                  <a:lnTo>
                    <a:pt x="2193558" y="499912"/>
                  </a:lnTo>
                  <a:lnTo>
                    <a:pt x="588085" y="499912"/>
                  </a:lnTo>
                  <a:lnTo>
                    <a:pt x="588085" y="0"/>
                  </a:lnTo>
                  <a:close/>
                </a:path>
                <a:path w="2193558" h="499912" fill="none" extrusionOk="0">
                  <a:moveTo>
                    <a:pt x="454301" y="0"/>
                  </a:moveTo>
                  <a:lnTo>
                    <a:pt x="454301" y="499912"/>
                  </a:lnTo>
                  <a:lnTo>
                    <a:pt x="454301" y="0"/>
                  </a:lnTo>
                  <a:close/>
                </a:path>
                <a:path w="2193558" h="499912" fill="none" extrusionOk="0">
                  <a:moveTo>
                    <a:pt x="454301" y="93734"/>
                  </a:moveTo>
                  <a:lnTo>
                    <a:pt x="320501" y="93734"/>
                  </a:lnTo>
                  <a:lnTo>
                    <a:pt x="0" y="484875"/>
                  </a:lnTo>
                </a:path>
              </a:pathLst>
            </a:cu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9" name="Picture 6"/>
            <p:cNvPicPr>
              <a:picLocks noChangeAspect="1" noChangeArrowheads="1"/>
            </p:cNvPicPr>
            <p:nvPr/>
          </p:nvPicPr>
          <p:blipFill>
            <a:blip r:embed="rId13" cstate="email">
              <a:extLst>
                <a:ext uri="{28A0092B-C50C-407E-A947-70E740481C1C}">
                  <a14:useLocalDpi xmlns:a14="http://schemas.microsoft.com/office/drawing/2010/main"/>
                </a:ext>
              </a:extLst>
            </a:blip>
            <a:stretch>
              <a:fillRect/>
            </a:stretch>
          </p:blipFill>
          <p:spPr bwMode="auto">
            <a:xfrm>
              <a:off x="8066680" y="4894325"/>
              <a:ext cx="1321290" cy="304291"/>
            </a:xfrm>
            <a:prstGeom prst="rect">
              <a:avLst/>
            </a:prstGeom>
            <a:solidFill>
              <a:schemeClr val="bg1"/>
            </a:solidFill>
          </p:spPr>
        </p:pic>
      </p:grpSp>
      <p:grpSp>
        <p:nvGrpSpPr>
          <p:cNvPr id="30" name="Group 108"/>
          <p:cNvGrpSpPr/>
          <p:nvPr/>
        </p:nvGrpSpPr>
        <p:grpSpPr>
          <a:xfrm>
            <a:off x="409839" y="1898719"/>
            <a:ext cx="2063387" cy="492456"/>
            <a:chOff x="311766" y="1415738"/>
            <a:chExt cx="2063387" cy="492456"/>
          </a:xfrm>
          <a:solidFill>
            <a:srgbClr val="E5E5E5"/>
          </a:solidFill>
        </p:grpSpPr>
        <p:sp>
          <p:nvSpPr>
            <p:cNvPr id="114" name="Line Callout 3 (Border and Accent Bar) 82"/>
            <p:cNvSpPr/>
            <p:nvPr/>
          </p:nvSpPr>
          <p:spPr>
            <a:xfrm>
              <a:off x="311766" y="1415738"/>
              <a:ext cx="2063387" cy="492456"/>
            </a:xfrm>
            <a:prstGeom prst="accentBorderCallout3">
              <a:avLst>
                <a:gd name="adj1" fmla="val 18750"/>
                <a:gd name="adj2" fmla="val -8333"/>
                <a:gd name="adj3" fmla="val 18750"/>
                <a:gd name="adj4" fmla="val -16667"/>
                <a:gd name="adj5" fmla="val 100000"/>
                <a:gd name="adj6" fmla="val -16667"/>
                <a:gd name="adj7" fmla="val 543682"/>
                <a:gd name="adj8" fmla="val 81460"/>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5" name="Picture 86"/>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468087" y="1500078"/>
              <a:ext cx="1738338" cy="331211"/>
            </a:xfrm>
            <a:prstGeom prst="rect">
              <a:avLst/>
            </a:prstGeom>
            <a:grpFill/>
          </p:spPr>
        </p:pic>
      </p:grpSp>
      <p:grpSp>
        <p:nvGrpSpPr>
          <p:cNvPr id="46" name="Group 108"/>
          <p:cNvGrpSpPr/>
          <p:nvPr/>
        </p:nvGrpSpPr>
        <p:grpSpPr>
          <a:xfrm>
            <a:off x="409839" y="2462847"/>
            <a:ext cx="2063387" cy="492456"/>
            <a:chOff x="311766" y="1415738"/>
            <a:chExt cx="2063387" cy="492456"/>
          </a:xfrm>
          <a:solidFill>
            <a:srgbClr val="E5E5E5"/>
          </a:solidFill>
        </p:grpSpPr>
        <p:sp>
          <p:nvSpPr>
            <p:cNvPr id="123" name="Line Callout 3 (Border and Accent Bar) 82"/>
            <p:cNvSpPr/>
            <p:nvPr/>
          </p:nvSpPr>
          <p:spPr>
            <a:xfrm>
              <a:off x="311766" y="1415738"/>
              <a:ext cx="2063387" cy="492456"/>
            </a:xfrm>
            <a:prstGeom prst="accentBorderCallout3">
              <a:avLst>
                <a:gd name="adj1" fmla="val 18750"/>
                <a:gd name="adj2" fmla="val -8333"/>
                <a:gd name="adj3" fmla="val 18750"/>
                <a:gd name="adj4" fmla="val -16667"/>
                <a:gd name="adj5" fmla="val 100000"/>
                <a:gd name="adj6" fmla="val -16667"/>
                <a:gd name="adj7" fmla="val 457200"/>
                <a:gd name="adj8" fmla="val 75086"/>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4" name="Picture 86"/>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468087" y="1506384"/>
              <a:ext cx="1738338" cy="318599"/>
            </a:xfrm>
            <a:prstGeom prst="rect">
              <a:avLst/>
            </a:prstGeom>
            <a:grpFill/>
          </p:spPr>
        </p:pic>
      </p:grpSp>
      <p:grpSp>
        <p:nvGrpSpPr>
          <p:cNvPr id="47" name="Group 108"/>
          <p:cNvGrpSpPr/>
          <p:nvPr/>
        </p:nvGrpSpPr>
        <p:grpSpPr>
          <a:xfrm>
            <a:off x="420844" y="3030588"/>
            <a:ext cx="2063387" cy="492456"/>
            <a:chOff x="311766" y="1415738"/>
            <a:chExt cx="2063387" cy="492456"/>
          </a:xfrm>
          <a:solidFill>
            <a:srgbClr val="E5E5E5"/>
          </a:solidFill>
        </p:grpSpPr>
        <p:sp>
          <p:nvSpPr>
            <p:cNvPr id="120" name="Line Callout 3 (Border and Accent Bar) 82"/>
            <p:cNvSpPr/>
            <p:nvPr/>
          </p:nvSpPr>
          <p:spPr>
            <a:xfrm>
              <a:off x="311766" y="1415738"/>
              <a:ext cx="2063387" cy="492456"/>
            </a:xfrm>
            <a:prstGeom prst="accentBorderCallout3">
              <a:avLst>
                <a:gd name="adj1" fmla="val 18750"/>
                <a:gd name="adj2" fmla="val -8333"/>
                <a:gd name="adj3" fmla="val 18750"/>
                <a:gd name="adj4" fmla="val -16667"/>
                <a:gd name="adj5" fmla="val 100000"/>
                <a:gd name="adj6" fmla="val -16667"/>
                <a:gd name="adj7" fmla="val 366903"/>
                <a:gd name="adj8" fmla="val 61427"/>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1" name="Picture 86"/>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468087" y="1509836"/>
              <a:ext cx="1738338" cy="311695"/>
            </a:xfrm>
            <a:prstGeom prst="rect">
              <a:avLst/>
            </a:prstGeom>
            <a:grpFill/>
          </p:spPr>
        </p:pic>
      </p:grpSp>
      <p:grpSp>
        <p:nvGrpSpPr>
          <p:cNvPr id="51" name="Group 108"/>
          <p:cNvGrpSpPr/>
          <p:nvPr/>
        </p:nvGrpSpPr>
        <p:grpSpPr>
          <a:xfrm>
            <a:off x="418175" y="3591934"/>
            <a:ext cx="2063387" cy="492456"/>
            <a:chOff x="311766" y="1415738"/>
            <a:chExt cx="2063387" cy="492456"/>
          </a:xfrm>
          <a:solidFill>
            <a:srgbClr val="E5E5E5"/>
          </a:solidFill>
        </p:grpSpPr>
        <p:sp>
          <p:nvSpPr>
            <p:cNvPr id="117" name="Line Callout 3 (Border and Accent Bar) 82"/>
            <p:cNvSpPr/>
            <p:nvPr/>
          </p:nvSpPr>
          <p:spPr>
            <a:xfrm>
              <a:off x="311766" y="1415738"/>
              <a:ext cx="2063387" cy="492456"/>
            </a:xfrm>
            <a:prstGeom prst="accentBorderCallout3">
              <a:avLst>
                <a:gd name="adj1" fmla="val 18750"/>
                <a:gd name="adj2" fmla="val -8333"/>
                <a:gd name="adj3" fmla="val 18750"/>
                <a:gd name="adj4" fmla="val -16667"/>
                <a:gd name="adj5" fmla="val 100000"/>
                <a:gd name="adj6" fmla="val -16667"/>
                <a:gd name="adj7" fmla="val 280421"/>
                <a:gd name="adj8" fmla="val 62641"/>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8" name="Picture 86"/>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68087" y="1514424"/>
              <a:ext cx="1738338" cy="302518"/>
            </a:xfrm>
            <a:prstGeom prst="rect">
              <a:avLst/>
            </a:prstGeom>
            <a:grpFill/>
          </p:spPr>
        </p:pic>
      </p:grpSp>
      <p:grpSp>
        <p:nvGrpSpPr>
          <p:cNvPr id="52" name="Group 98"/>
          <p:cNvGrpSpPr/>
          <p:nvPr/>
        </p:nvGrpSpPr>
        <p:grpSpPr>
          <a:xfrm>
            <a:off x="7069756" y="3647388"/>
            <a:ext cx="1998932" cy="619197"/>
            <a:chOff x="6196213" y="1973446"/>
            <a:chExt cx="1998932" cy="619197"/>
          </a:xfrm>
          <a:solidFill>
            <a:schemeClr val="bg1"/>
          </a:solidFill>
        </p:grpSpPr>
        <p:sp>
          <p:nvSpPr>
            <p:cNvPr id="94" name="Line Callout 3 (Border and Accent Bar) 99"/>
            <p:cNvSpPr/>
            <p:nvPr/>
          </p:nvSpPr>
          <p:spPr>
            <a:xfrm>
              <a:off x="6196213" y="1973446"/>
              <a:ext cx="1998932" cy="619197"/>
            </a:xfrm>
            <a:custGeom>
              <a:avLst/>
              <a:gdLst>
                <a:gd name="connsiteX0" fmla="*/ 0 w 1415444"/>
                <a:gd name="connsiteY0" fmla="*/ 0 h 475231"/>
                <a:gd name="connsiteX1" fmla="*/ 1415444 w 1415444"/>
                <a:gd name="connsiteY1" fmla="*/ 0 h 475231"/>
                <a:gd name="connsiteX2" fmla="*/ 1415444 w 1415444"/>
                <a:gd name="connsiteY2" fmla="*/ 475231 h 475231"/>
                <a:gd name="connsiteX3" fmla="*/ 0 w 1415444"/>
                <a:gd name="connsiteY3" fmla="*/ 475231 h 475231"/>
                <a:gd name="connsiteX4" fmla="*/ 0 w 1415444"/>
                <a:gd name="connsiteY4" fmla="*/ 0 h 475231"/>
                <a:gd name="connsiteX0" fmla="*/ -117949 w 1415444"/>
                <a:gd name="connsiteY0" fmla="*/ 0 h 475231"/>
                <a:gd name="connsiteX1" fmla="*/ -117949 w 1415444"/>
                <a:gd name="connsiteY1" fmla="*/ 475231 h 475231"/>
                <a:gd name="connsiteX2" fmla="*/ -117949 w 1415444"/>
                <a:gd name="connsiteY2" fmla="*/ 0 h 475231"/>
                <a:gd name="connsiteX0" fmla="*/ -117949 w 1415444"/>
                <a:gd name="connsiteY0" fmla="*/ 89106 h 475231"/>
                <a:gd name="connsiteX1" fmla="*/ -235912 w 1415444"/>
                <a:gd name="connsiteY1" fmla="*/ 89106 h 475231"/>
                <a:gd name="connsiteX2" fmla="*/ -601804 w 1415444"/>
                <a:gd name="connsiteY2" fmla="*/ 388668 h 475231"/>
                <a:gd name="connsiteX3" fmla="*/ -583488 w 1415444"/>
                <a:gd name="connsiteY3" fmla="*/ 619197 h 475231"/>
                <a:gd name="connsiteX0" fmla="*/ 583488 w 1998932"/>
                <a:gd name="connsiteY0" fmla="*/ 0 h 619197"/>
                <a:gd name="connsiteX1" fmla="*/ 1998932 w 1998932"/>
                <a:gd name="connsiteY1" fmla="*/ 0 h 619197"/>
                <a:gd name="connsiteX2" fmla="*/ 1998932 w 1998932"/>
                <a:gd name="connsiteY2" fmla="*/ 475231 h 619197"/>
                <a:gd name="connsiteX3" fmla="*/ 583488 w 1998932"/>
                <a:gd name="connsiteY3" fmla="*/ 475231 h 619197"/>
                <a:gd name="connsiteX4" fmla="*/ 583488 w 1998932"/>
                <a:gd name="connsiteY4" fmla="*/ 0 h 619197"/>
                <a:gd name="connsiteX0" fmla="*/ 465539 w 1998932"/>
                <a:gd name="connsiteY0" fmla="*/ 0 h 619197"/>
                <a:gd name="connsiteX1" fmla="*/ 465539 w 1998932"/>
                <a:gd name="connsiteY1" fmla="*/ 475231 h 619197"/>
                <a:gd name="connsiteX2" fmla="*/ 465539 w 1998932"/>
                <a:gd name="connsiteY2" fmla="*/ 0 h 619197"/>
                <a:gd name="connsiteX0" fmla="*/ 465539 w 1998932"/>
                <a:gd name="connsiteY0" fmla="*/ 89106 h 619197"/>
                <a:gd name="connsiteX1" fmla="*/ 347576 w 1998932"/>
                <a:gd name="connsiteY1" fmla="*/ 89106 h 619197"/>
                <a:gd name="connsiteX2" fmla="*/ 0 w 1998932"/>
                <a:gd name="connsiteY2" fmla="*/ 619197 h 619197"/>
              </a:gdLst>
              <a:ahLst/>
              <a:cxnLst>
                <a:cxn ang="0">
                  <a:pos x="connsiteX0" y="connsiteY0"/>
                </a:cxn>
                <a:cxn ang="0">
                  <a:pos x="connsiteX1" y="connsiteY1"/>
                </a:cxn>
                <a:cxn ang="0">
                  <a:pos x="connsiteX2" y="connsiteY2"/>
                </a:cxn>
              </a:cxnLst>
              <a:rect l="l" t="t" r="r" b="b"/>
              <a:pathLst>
                <a:path w="1998932" h="619197" extrusionOk="0">
                  <a:moveTo>
                    <a:pt x="583488" y="0"/>
                  </a:moveTo>
                  <a:lnTo>
                    <a:pt x="1998932" y="0"/>
                  </a:lnTo>
                  <a:lnTo>
                    <a:pt x="1998932" y="475231"/>
                  </a:lnTo>
                  <a:lnTo>
                    <a:pt x="583488" y="475231"/>
                  </a:lnTo>
                  <a:lnTo>
                    <a:pt x="583488" y="0"/>
                  </a:lnTo>
                  <a:close/>
                </a:path>
                <a:path w="1998932" h="619197" fill="none" extrusionOk="0">
                  <a:moveTo>
                    <a:pt x="465539" y="0"/>
                  </a:moveTo>
                  <a:lnTo>
                    <a:pt x="465539" y="475231"/>
                  </a:lnTo>
                  <a:lnTo>
                    <a:pt x="465539" y="0"/>
                  </a:lnTo>
                  <a:close/>
                </a:path>
                <a:path w="1998932" h="619197" fill="none" extrusionOk="0">
                  <a:moveTo>
                    <a:pt x="465539" y="89106"/>
                  </a:moveTo>
                  <a:lnTo>
                    <a:pt x="347576" y="89106"/>
                  </a:lnTo>
                  <a:lnTo>
                    <a:pt x="0" y="619197"/>
                  </a:lnTo>
                </a:path>
              </a:pathLst>
            </a:cu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3" name="Picture 97"/>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6814792" y="2051239"/>
              <a:ext cx="1308630" cy="314733"/>
            </a:xfrm>
            <a:prstGeom prst="rect">
              <a:avLst/>
            </a:prstGeom>
            <a:grpFill/>
          </p:spPr>
        </p:pic>
      </p:grpSp>
      <p:grpSp>
        <p:nvGrpSpPr>
          <p:cNvPr id="53" name="Group 108"/>
          <p:cNvGrpSpPr/>
          <p:nvPr/>
        </p:nvGrpSpPr>
        <p:grpSpPr>
          <a:xfrm>
            <a:off x="5096410" y="1703618"/>
            <a:ext cx="1741285" cy="612648"/>
            <a:chOff x="311766" y="1415738"/>
            <a:chExt cx="1741285" cy="612648"/>
          </a:xfrm>
        </p:grpSpPr>
        <p:sp>
          <p:nvSpPr>
            <p:cNvPr id="102" name="Line Callout 3 (Border and Accent Bar) 82"/>
            <p:cNvSpPr/>
            <p:nvPr/>
          </p:nvSpPr>
          <p:spPr>
            <a:xfrm>
              <a:off x="311766" y="1415738"/>
              <a:ext cx="1741285" cy="612648"/>
            </a:xfrm>
            <a:prstGeom prst="accentBorderCallout3">
              <a:avLst>
                <a:gd name="adj1" fmla="val 18750"/>
                <a:gd name="adj2" fmla="val -8333"/>
                <a:gd name="adj3" fmla="val 18750"/>
                <a:gd name="adj4" fmla="val -16667"/>
                <a:gd name="adj5" fmla="val 100000"/>
                <a:gd name="adj6" fmla="val -16667"/>
                <a:gd name="adj7" fmla="val 351272"/>
                <a:gd name="adj8" fmla="val -56479"/>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3" name="Picture 86"/>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38299" y="1504639"/>
              <a:ext cx="1185668" cy="400575"/>
            </a:xfrm>
            <a:prstGeom prst="rect">
              <a:avLst/>
            </a:prstGeom>
          </p:spPr>
        </p:pic>
      </p:grpSp>
      <p:grpSp>
        <p:nvGrpSpPr>
          <p:cNvPr id="54" name="Group 121"/>
          <p:cNvGrpSpPr/>
          <p:nvPr/>
        </p:nvGrpSpPr>
        <p:grpSpPr>
          <a:xfrm>
            <a:off x="2635178" y="5962312"/>
            <a:ext cx="1514762" cy="426757"/>
            <a:chOff x="2982630" y="5727776"/>
            <a:chExt cx="1514762" cy="426757"/>
          </a:xfrm>
        </p:grpSpPr>
        <p:pic>
          <p:nvPicPr>
            <p:cNvPr id="105" name="Picture 112"/>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009227" y="5727776"/>
              <a:ext cx="1475360" cy="426757"/>
            </a:xfrm>
            <a:prstGeom prst="rect">
              <a:avLst/>
            </a:prstGeom>
            <a:solidFill>
              <a:schemeClr val="bg1"/>
            </a:solidFill>
          </p:spPr>
        </p:pic>
        <p:sp>
          <p:nvSpPr>
            <p:cNvPr id="106" name="Line Callout 3 (Border and Accent Bar) 128"/>
            <p:cNvSpPr/>
            <p:nvPr/>
          </p:nvSpPr>
          <p:spPr>
            <a:xfrm>
              <a:off x="2982630" y="5730563"/>
              <a:ext cx="1514762" cy="394242"/>
            </a:xfrm>
            <a:prstGeom prst="accentBorderCallout3">
              <a:avLst>
                <a:gd name="adj1" fmla="val 18750"/>
                <a:gd name="adj2" fmla="val -8333"/>
                <a:gd name="adj3" fmla="val 18750"/>
                <a:gd name="adj4" fmla="val -16667"/>
                <a:gd name="adj5" fmla="val 1012"/>
                <a:gd name="adj6" fmla="val -35645"/>
                <a:gd name="adj7" fmla="val -150145"/>
                <a:gd name="adj8" fmla="val -101421"/>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5" name="Group 125"/>
          <p:cNvGrpSpPr/>
          <p:nvPr/>
        </p:nvGrpSpPr>
        <p:grpSpPr>
          <a:xfrm>
            <a:off x="2405716" y="5171891"/>
            <a:ext cx="1804329" cy="418571"/>
            <a:chOff x="2305784" y="4758355"/>
            <a:chExt cx="1804329" cy="418571"/>
          </a:xfrm>
        </p:grpSpPr>
        <p:pic>
          <p:nvPicPr>
            <p:cNvPr id="108" name="Picture 123"/>
            <p:cNvPicPr>
              <a:picLocks noChangeAspect="1"/>
            </p:cNvPicPr>
            <p:nvPr/>
          </p:nvPicPr>
          <p:blipFill rotWithShape="1">
            <a:blip r:embed="rId21" cstate="email">
              <a:extLst>
                <a:ext uri="{28A0092B-C50C-407E-A947-70E740481C1C}">
                  <a14:useLocalDpi xmlns:a14="http://schemas.microsoft.com/office/drawing/2010/main"/>
                </a:ext>
              </a:extLst>
            </a:blip>
            <a:srcRect/>
            <a:stretch/>
          </p:blipFill>
          <p:spPr>
            <a:xfrm>
              <a:off x="2305784" y="4758355"/>
              <a:ext cx="1804329" cy="411857"/>
            </a:xfrm>
            <a:prstGeom prst="rect">
              <a:avLst/>
            </a:prstGeom>
          </p:spPr>
        </p:pic>
        <p:sp>
          <p:nvSpPr>
            <p:cNvPr id="127" name="Line Callout 3 (Border and Accent Bar) 131"/>
            <p:cNvSpPr/>
            <p:nvPr/>
          </p:nvSpPr>
          <p:spPr>
            <a:xfrm>
              <a:off x="2328257" y="4766863"/>
              <a:ext cx="1764834" cy="410063"/>
            </a:xfrm>
            <a:prstGeom prst="accentBorderCallout3">
              <a:avLst>
                <a:gd name="adj1" fmla="val 18750"/>
                <a:gd name="adj2" fmla="val -8333"/>
                <a:gd name="adj3" fmla="val 18750"/>
                <a:gd name="adj4" fmla="val -16667"/>
                <a:gd name="adj5" fmla="val 31394"/>
                <a:gd name="adj6" fmla="val -33422"/>
                <a:gd name="adj7" fmla="val -7218"/>
                <a:gd name="adj8" fmla="val -72762"/>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28" name="Picture 145"/>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276155" y="3362146"/>
            <a:ext cx="5761219" cy="2036240"/>
          </a:xfrm>
          <a:prstGeom prst="rect">
            <a:avLst/>
          </a:prstGeom>
        </p:spPr>
      </p:pic>
    </p:spTree>
    <p:extLst>
      <p:ext uri="{BB962C8B-B14F-4D97-AF65-F5344CB8AC3E}">
        <p14:creationId xmlns:p14="http://schemas.microsoft.com/office/powerpoint/2010/main" val="135846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1+#ppt_w/2"/>
                                          </p:val>
                                        </p:tav>
                                        <p:tav tm="100000">
                                          <p:val>
                                            <p:strVal val="#ppt_x"/>
                                          </p:val>
                                        </p:tav>
                                      </p:tavLst>
                                    </p:anim>
                                    <p:anim calcmode="lin" valueType="num">
                                      <p:cBhvr additive="base">
                                        <p:cTn id="12" dur="500" fill="hold"/>
                                        <p:tgtEl>
                                          <p:spTgt spid="52"/>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1+#ppt_w/2"/>
                                          </p:val>
                                        </p:tav>
                                        <p:tav tm="100000">
                                          <p:val>
                                            <p:strVal val="#ppt_x"/>
                                          </p:val>
                                        </p:tav>
                                      </p:tavLst>
                                    </p:anim>
                                    <p:anim calcmode="lin" valueType="num">
                                      <p:cBhvr additive="base">
                                        <p:cTn id="16" dur="500" fill="hold"/>
                                        <p:tgtEl>
                                          <p:spTgt spid="27"/>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7"/>
                                        </p:tgtEl>
                                        <p:attrNameLst>
                                          <p:attrName>style.visibility</p:attrName>
                                        </p:attrNameLst>
                                      </p:cBhvr>
                                      <p:to>
                                        <p:strVal val="visible"/>
                                      </p:to>
                                    </p:set>
                                    <p:anim calcmode="lin" valueType="num">
                                      <p:cBhvr additive="base">
                                        <p:cTn id="19" dur="500" fill="hold"/>
                                        <p:tgtEl>
                                          <p:spTgt spid="97"/>
                                        </p:tgtEl>
                                        <p:attrNameLst>
                                          <p:attrName>ppt_x</p:attrName>
                                        </p:attrNameLst>
                                      </p:cBhvr>
                                      <p:tavLst>
                                        <p:tav tm="0">
                                          <p:val>
                                            <p:strVal val="1+#ppt_w/2"/>
                                          </p:val>
                                        </p:tav>
                                        <p:tav tm="100000">
                                          <p:val>
                                            <p:strVal val="#ppt_x"/>
                                          </p:val>
                                        </p:tav>
                                      </p:tavLst>
                                    </p:anim>
                                    <p:anim calcmode="lin" valueType="num">
                                      <p:cBhvr additive="base">
                                        <p:cTn id="20"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1000"/>
                                        <p:tgtEl>
                                          <p:spTgt spid="30"/>
                                        </p:tgtEl>
                                      </p:cBhvr>
                                    </p:animEffect>
                                    <p:anim calcmode="lin" valueType="num">
                                      <p:cBhvr>
                                        <p:cTn id="26" dur="1000" fill="hold"/>
                                        <p:tgtEl>
                                          <p:spTgt spid="30"/>
                                        </p:tgtEl>
                                        <p:attrNameLst>
                                          <p:attrName>ppt_x</p:attrName>
                                        </p:attrNameLst>
                                      </p:cBhvr>
                                      <p:tavLst>
                                        <p:tav tm="0">
                                          <p:val>
                                            <p:strVal val="#ppt_x"/>
                                          </p:val>
                                        </p:tav>
                                        <p:tav tm="100000">
                                          <p:val>
                                            <p:strVal val="#ppt_x"/>
                                          </p:val>
                                        </p:tav>
                                      </p:tavLst>
                                    </p:anim>
                                    <p:anim calcmode="lin" valueType="num">
                                      <p:cBhvr>
                                        <p:cTn id="27" dur="1000" fill="hold"/>
                                        <p:tgtEl>
                                          <p:spTgt spid="30"/>
                                        </p:tgtEl>
                                        <p:attrNameLst>
                                          <p:attrName>ppt_y</p:attrName>
                                        </p:attrNameLst>
                                      </p:cBhvr>
                                      <p:tavLst>
                                        <p:tav tm="0">
                                          <p:val>
                                            <p:strVal val="#ppt_y-.1"/>
                                          </p:val>
                                        </p:tav>
                                        <p:tav tm="100000">
                                          <p:val>
                                            <p:strVal val="#ppt_y"/>
                                          </p:val>
                                        </p:tav>
                                      </p:tavLst>
                                    </p:anim>
                                  </p:childTnLst>
                                </p:cTn>
                              </p:par>
                              <p:par>
                                <p:cTn id="28" presetID="47" presetClass="entr" presetSubtype="0" fill="hold" nodeType="with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1000"/>
                                        <p:tgtEl>
                                          <p:spTgt spid="51"/>
                                        </p:tgtEl>
                                      </p:cBhvr>
                                    </p:animEffect>
                                    <p:anim calcmode="lin" valueType="num">
                                      <p:cBhvr>
                                        <p:cTn id="31" dur="1000" fill="hold"/>
                                        <p:tgtEl>
                                          <p:spTgt spid="51"/>
                                        </p:tgtEl>
                                        <p:attrNameLst>
                                          <p:attrName>ppt_x</p:attrName>
                                        </p:attrNameLst>
                                      </p:cBhvr>
                                      <p:tavLst>
                                        <p:tav tm="0">
                                          <p:val>
                                            <p:strVal val="#ppt_x"/>
                                          </p:val>
                                        </p:tav>
                                        <p:tav tm="100000">
                                          <p:val>
                                            <p:strVal val="#ppt_x"/>
                                          </p:val>
                                        </p:tav>
                                      </p:tavLst>
                                    </p:anim>
                                    <p:anim calcmode="lin" valueType="num">
                                      <p:cBhvr>
                                        <p:cTn id="32" dur="1000" fill="hold"/>
                                        <p:tgtEl>
                                          <p:spTgt spid="51"/>
                                        </p:tgtEl>
                                        <p:attrNameLst>
                                          <p:attrName>ppt_y</p:attrName>
                                        </p:attrNameLst>
                                      </p:cBhvr>
                                      <p:tavLst>
                                        <p:tav tm="0">
                                          <p:val>
                                            <p:strVal val="#ppt_y-.1"/>
                                          </p:val>
                                        </p:tav>
                                        <p:tav tm="100000">
                                          <p:val>
                                            <p:strVal val="#ppt_y"/>
                                          </p:val>
                                        </p:tav>
                                      </p:tavLst>
                                    </p:anim>
                                  </p:childTnLst>
                                </p:cTn>
                              </p:par>
                              <p:par>
                                <p:cTn id="33" presetID="47" presetClass="entr" presetSubtype="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1000"/>
                                        <p:tgtEl>
                                          <p:spTgt spid="47"/>
                                        </p:tgtEl>
                                      </p:cBhvr>
                                    </p:animEffect>
                                    <p:anim calcmode="lin" valueType="num">
                                      <p:cBhvr>
                                        <p:cTn id="36" dur="1000" fill="hold"/>
                                        <p:tgtEl>
                                          <p:spTgt spid="47"/>
                                        </p:tgtEl>
                                        <p:attrNameLst>
                                          <p:attrName>ppt_x</p:attrName>
                                        </p:attrNameLst>
                                      </p:cBhvr>
                                      <p:tavLst>
                                        <p:tav tm="0">
                                          <p:val>
                                            <p:strVal val="#ppt_x"/>
                                          </p:val>
                                        </p:tav>
                                        <p:tav tm="100000">
                                          <p:val>
                                            <p:strVal val="#ppt_x"/>
                                          </p:val>
                                        </p:tav>
                                      </p:tavLst>
                                    </p:anim>
                                    <p:anim calcmode="lin" valueType="num">
                                      <p:cBhvr>
                                        <p:cTn id="37" dur="1000" fill="hold"/>
                                        <p:tgtEl>
                                          <p:spTgt spid="47"/>
                                        </p:tgtEl>
                                        <p:attrNameLst>
                                          <p:attrName>ppt_y</p:attrName>
                                        </p:attrNameLst>
                                      </p:cBhvr>
                                      <p:tavLst>
                                        <p:tav tm="0">
                                          <p:val>
                                            <p:strVal val="#ppt_y-.1"/>
                                          </p:val>
                                        </p:tav>
                                        <p:tav tm="100000">
                                          <p:val>
                                            <p:strVal val="#ppt_y"/>
                                          </p:val>
                                        </p:tav>
                                      </p:tavLst>
                                    </p:anim>
                                  </p:childTnLst>
                                </p:cTn>
                              </p:par>
                              <p:par>
                                <p:cTn id="38" presetID="47" presetClass="entr" presetSubtype="0" fill="hold"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1000"/>
                                        <p:tgtEl>
                                          <p:spTgt spid="46"/>
                                        </p:tgtEl>
                                      </p:cBhvr>
                                    </p:animEffect>
                                    <p:anim calcmode="lin" valueType="num">
                                      <p:cBhvr>
                                        <p:cTn id="41" dur="1000" fill="hold"/>
                                        <p:tgtEl>
                                          <p:spTgt spid="46"/>
                                        </p:tgtEl>
                                        <p:attrNameLst>
                                          <p:attrName>ppt_x</p:attrName>
                                        </p:attrNameLst>
                                      </p:cBhvr>
                                      <p:tavLst>
                                        <p:tav tm="0">
                                          <p:val>
                                            <p:strVal val="#ppt_x"/>
                                          </p:val>
                                        </p:tav>
                                        <p:tav tm="100000">
                                          <p:val>
                                            <p:strVal val="#ppt_x"/>
                                          </p:val>
                                        </p:tav>
                                      </p:tavLst>
                                    </p:anim>
                                    <p:anim calcmode="lin" valueType="num">
                                      <p:cBhvr>
                                        <p:cTn id="4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anim calcmode="lin" valueType="num">
                                      <p:cBhvr additive="base">
                                        <p:cTn id="47" dur="500" fill="hold"/>
                                        <p:tgtEl>
                                          <p:spTgt spid="54"/>
                                        </p:tgtEl>
                                        <p:attrNameLst>
                                          <p:attrName>ppt_x</p:attrName>
                                        </p:attrNameLst>
                                      </p:cBhvr>
                                      <p:tavLst>
                                        <p:tav tm="0">
                                          <p:val>
                                            <p:strVal val="#ppt_x"/>
                                          </p:val>
                                        </p:tav>
                                        <p:tav tm="100000">
                                          <p:val>
                                            <p:strVal val="#ppt_x"/>
                                          </p:val>
                                        </p:tav>
                                      </p:tavLst>
                                    </p:anim>
                                    <p:anim calcmode="lin" valueType="num">
                                      <p:cBhvr additive="base">
                                        <p:cTn id="48" dur="500" fill="hold"/>
                                        <p:tgtEl>
                                          <p:spTgt spid="5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 calcmode="lin" valueType="num">
                                      <p:cBhvr additive="base">
                                        <p:cTn id="51" dur="500" fill="hold"/>
                                        <p:tgtEl>
                                          <p:spTgt spid="55"/>
                                        </p:tgtEl>
                                        <p:attrNameLst>
                                          <p:attrName>ppt_x</p:attrName>
                                        </p:attrNameLst>
                                      </p:cBhvr>
                                      <p:tavLst>
                                        <p:tav tm="0">
                                          <p:val>
                                            <p:strVal val="#ppt_x"/>
                                          </p:val>
                                        </p:tav>
                                        <p:tav tm="100000">
                                          <p:val>
                                            <p:strVal val="#ppt_x"/>
                                          </p:val>
                                        </p:tav>
                                      </p:tavLst>
                                    </p:anim>
                                    <p:anim calcmode="lin" valueType="num">
                                      <p:cBhvr additive="base">
                                        <p:cTn id="5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nodeType="click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1000"/>
                                        <p:tgtEl>
                                          <p:spTgt spid="53"/>
                                        </p:tgtEl>
                                      </p:cBhvr>
                                    </p:animEffect>
                                    <p:anim calcmode="lin" valueType="num">
                                      <p:cBhvr>
                                        <p:cTn id="58" dur="1000" fill="hold"/>
                                        <p:tgtEl>
                                          <p:spTgt spid="53"/>
                                        </p:tgtEl>
                                        <p:attrNameLst>
                                          <p:attrName>ppt_x</p:attrName>
                                        </p:attrNameLst>
                                      </p:cBhvr>
                                      <p:tavLst>
                                        <p:tav tm="0">
                                          <p:val>
                                            <p:strVal val="#ppt_x"/>
                                          </p:val>
                                        </p:tav>
                                        <p:tav tm="100000">
                                          <p:val>
                                            <p:strVal val="#ppt_x"/>
                                          </p:val>
                                        </p:tav>
                                      </p:tavLst>
                                    </p:anim>
                                    <p:anim calcmode="lin" valueType="num">
                                      <p:cBhvr>
                                        <p:cTn id="59"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5" presetClass="entr" presetSubtype="0" fill="hold" nodeType="clickEffect">
                                  <p:stCondLst>
                                    <p:cond delay="0"/>
                                  </p:stCondLst>
                                  <p:childTnLst>
                                    <p:set>
                                      <p:cBhvr>
                                        <p:cTn id="63" dur="1" fill="hold">
                                          <p:stCondLst>
                                            <p:cond delay="0"/>
                                          </p:stCondLst>
                                        </p:cTn>
                                        <p:tgtEl>
                                          <p:spTgt spid="128"/>
                                        </p:tgtEl>
                                        <p:attrNameLst>
                                          <p:attrName>style.visibility</p:attrName>
                                        </p:attrNameLst>
                                      </p:cBhvr>
                                      <p:to>
                                        <p:strVal val="visible"/>
                                      </p:to>
                                    </p:set>
                                    <p:animEffect transition="in" filter="fade">
                                      <p:cBhvr>
                                        <p:cTn id="64" dur="2000"/>
                                        <p:tgtEl>
                                          <p:spTgt spid="128"/>
                                        </p:tgtEl>
                                      </p:cBhvr>
                                    </p:animEffect>
                                    <p:anim calcmode="lin" valueType="num">
                                      <p:cBhvr>
                                        <p:cTn id="65" dur="2000" fill="hold"/>
                                        <p:tgtEl>
                                          <p:spTgt spid="128"/>
                                        </p:tgtEl>
                                        <p:attrNameLst>
                                          <p:attrName>ppt_w</p:attrName>
                                        </p:attrNameLst>
                                      </p:cBhvr>
                                      <p:tavLst>
                                        <p:tav tm="0" fmla="#ppt_w*sin(2.5*pi*$)">
                                          <p:val>
                                            <p:fltVal val="0"/>
                                          </p:val>
                                        </p:tav>
                                        <p:tav tm="100000">
                                          <p:val>
                                            <p:fltVal val="1"/>
                                          </p:val>
                                        </p:tav>
                                      </p:tavLst>
                                    </p:anim>
                                    <p:anim calcmode="lin" valueType="num">
                                      <p:cBhvr>
                                        <p:cTn id="66" dur="2000" fill="hold"/>
                                        <p:tgtEl>
                                          <p:spTgt spid="1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Autofit/>
          </a:bodyPr>
          <a:lstStyle/>
          <a:p>
            <a:r>
              <a:rPr lang="it-IT" dirty="0" err="1"/>
              <a:t>Ecosystem</a:t>
            </a:r>
            <a:r>
              <a:rPr lang="it-IT" dirty="0"/>
              <a:t>: Supply-</a:t>
            </a:r>
            <a:r>
              <a:rPr lang="it-IT" dirty="0" err="1"/>
              <a:t>chain</a:t>
            </a:r>
            <a:r>
              <a:rPr lang="it-IT" dirty="0"/>
              <a:t> model</a:t>
            </a:r>
            <a:br>
              <a:rPr lang="it-IT" dirty="0"/>
            </a:br>
            <a:endParaRPr lang="it-IT" dirty="0"/>
          </a:p>
        </p:txBody>
      </p:sp>
      <p:sp>
        <p:nvSpPr>
          <p:cNvPr id="28" name="Rounded Rectangle 30"/>
          <p:cNvSpPr/>
          <p:nvPr/>
        </p:nvSpPr>
        <p:spPr>
          <a:xfrm>
            <a:off x="3015494" y="1124744"/>
            <a:ext cx="3212690" cy="56987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a:solidFill>
                  <a:srgbClr val="4BACC6"/>
                </a:solidFill>
              </a:rPr>
              <a:t>Governance</a:t>
            </a:r>
          </a:p>
        </p:txBody>
      </p:sp>
      <p:grpSp>
        <p:nvGrpSpPr>
          <p:cNvPr id="3" name="Group 31"/>
          <p:cNvGrpSpPr/>
          <p:nvPr/>
        </p:nvGrpSpPr>
        <p:grpSpPr>
          <a:xfrm>
            <a:off x="-1548680" y="1527860"/>
            <a:ext cx="13033447" cy="4997483"/>
            <a:chOff x="-311863" y="1103536"/>
            <a:chExt cx="9865821" cy="4410410"/>
          </a:xfrm>
        </p:grpSpPr>
        <p:sp>
          <p:nvSpPr>
            <p:cNvPr id="30" name="Up Arrow 24"/>
            <p:cNvSpPr/>
            <p:nvPr/>
          </p:nvSpPr>
          <p:spPr>
            <a:xfrm>
              <a:off x="3841760" y="1103536"/>
              <a:ext cx="864096" cy="490078"/>
            </a:xfrm>
            <a:prstGeom prst="upArrow">
              <a:avLst>
                <a:gd name="adj1" fmla="val 50000"/>
                <a:gd name="adj2" fmla="val 71379"/>
              </a:avLst>
            </a:prstGeom>
            <a:solidFill>
              <a:srgbClr val="A4EBFF"/>
            </a:solid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1" name="Freeform 26"/>
            <p:cNvSpPr/>
            <p:nvPr/>
          </p:nvSpPr>
          <p:spPr>
            <a:xfrm>
              <a:off x="-311863" y="1505858"/>
              <a:ext cx="9865821" cy="4008088"/>
            </a:xfrm>
            <a:custGeom>
              <a:avLst/>
              <a:gdLst>
                <a:gd name="connsiteX0" fmla="*/ 4673064 w 10240343"/>
                <a:gd name="connsiteY0" fmla="*/ 0 h 2908188"/>
                <a:gd name="connsiteX1" fmla="*/ 3739614 w 10240343"/>
                <a:gd name="connsiteY1" fmla="*/ 142875 h 2908188"/>
                <a:gd name="connsiteX2" fmla="*/ 1901289 w 10240343"/>
                <a:gd name="connsiteY2" fmla="*/ 190500 h 2908188"/>
                <a:gd name="connsiteX3" fmla="*/ 834489 w 10240343"/>
                <a:gd name="connsiteY3" fmla="*/ 323850 h 2908188"/>
                <a:gd name="connsiteX4" fmla="*/ 634464 w 10240343"/>
                <a:gd name="connsiteY4" fmla="*/ 2466975 h 2908188"/>
                <a:gd name="connsiteX5" fmla="*/ 9464139 w 10240343"/>
                <a:gd name="connsiteY5" fmla="*/ 2743200 h 2908188"/>
                <a:gd name="connsiteX6" fmla="*/ 9483189 w 10240343"/>
                <a:gd name="connsiteY6" fmla="*/ 485775 h 2908188"/>
                <a:gd name="connsiteX7" fmla="*/ 6711414 w 10240343"/>
                <a:gd name="connsiteY7" fmla="*/ 257175 h 2908188"/>
                <a:gd name="connsiteX8" fmla="*/ 5196939 w 10240343"/>
                <a:gd name="connsiteY8" fmla="*/ 161925 h 2908188"/>
                <a:gd name="connsiteX9" fmla="*/ 4901664 w 10240343"/>
                <a:gd name="connsiteY9" fmla="*/ 28575 h 2908188"/>
                <a:gd name="connsiteX10" fmla="*/ 4730214 w 10240343"/>
                <a:gd name="connsiteY10" fmla="*/ 9525 h 2908188"/>
                <a:gd name="connsiteX0" fmla="*/ 4673064 w 10240343"/>
                <a:gd name="connsiteY0" fmla="*/ 0 h 2908188"/>
                <a:gd name="connsiteX1" fmla="*/ 3739614 w 10240343"/>
                <a:gd name="connsiteY1" fmla="*/ 142875 h 2908188"/>
                <a:gd name="connsiteX2" fmla="*/ 1901289 w 10240343"/>
                <a:gd name="connsiteY2" fmla="*/ 190500 h 2908188"/>
                <a:gd name="connsiteX3" fmla="*/ 834489 w 10240343"/>
                <a:gd name="connsiteY3" fmla="*/ 323850 h 2908188"/>
                <a:gd name="connsiteX4" fmla="*/ 634464 w 10240343"/>
                <a:gd name="connsiteY4" fmla="*/ 2466975 h 2908188"/>
                <a:gd name="connsiteX5" fmla="*/ 9464139 w 10240343"/>
                <a:gd name="connsiteY5" fmla="*/ 2743200 h 2908188"/>
                <a:gd name="connsiteX6" fmla="*/ 9483189 w 10240343"/>
                <a:gd name="connsiteY6" fmla="*/ 485775 h 2908188"/>
                <a:gd name="connsiteX7" fmla="*/ 6711414 w 10240343"/>
                <a:gd name="connsiteY7" fmla="*/ 257175 h 2908188"/>
                <a:gd name="connsiteX8" fmla="*/ 5473164 w 10240343"/>
                <a:gd name="connsiteY8" fmla="*/ 133350 h 2908188"/>
                <a:gd name="connsiteX9" fmla="*/ 4901664 w 10240343"/>
                <a:gd name="connsiteY9" fmla="*/ 28575 h 2908188"/>
                <a:gd name="connsiteX10" fmla="*/ 4730214 w 10240343"/>
                <a:gd name="connsiteY10" fmla="*/ 9525 h 2908188"/>
                <a:gd name="connsiteX0" fmla="*/ 4673064 w 10159006"/>
                <a:gd name="connsiteY0" fmla="*/ 0 h 2917349"/>
                <a:gd name="connsiteX1" fmla="*/ 3739614 w 10159006"/>
                <a:gd name="connsiteY1" fmla="*/ 142875 h 2917349"/>
                <a:gd name="connsiteX2" fmla="*/ 1901289 w 10159006"/>
                <a:gd name="connsiteY2" fmla="*/ 190500 h 2917349"/>
                <a:gd name="connsiteX3" fmla="*/ 834489 w 10159006"/>
                <a:gd name="connsiteY3" fmla="*/ 323850 h 2917349"/>
                <a:gd name="connsiteX4" fmla="*/ 634464 w 10159006"/>
                <a:gd name="connsiteY4" fmla="*/ 2466975 h 2917349"/>
                <a:gd name="connsiteX5" fmla="*/ 9464139 w 10159006"/>
                <a:gd name="connsiteY5" fmla="*/ 2743200 h 2917349"/>
                <a:gd name="connsiteX6" fmla="*/ 9273639 w 10159006"/>
                <a:gd name="connsiteY6" fmla="*/ 361950 h 2917349"/>
                <a:gd name="connsiteX7" fmla="*/ 6711414 w 10159006"/>
                <a:gd name="connsiteY7" fmla="*/ 257175 h 2917349"/>
                <a:gd name="connsiteX8" fmla="*/ 5473164 w 10159006"/>
                <a:gd name="connsiteY8" fmla="*/ 133350 h 2917349"/>
                <a:gd name="connsiteX9" fmla="*/ 4901664 w 10159006"/>
                <a:gd name="connsiteY9" fmla="*/ 28575 h 2917349"/>
                <a:gd name="connsiteX10" fmla="*/ 4730214 w 10159006"/>
                <a:gd name="connsiteY10" fmla="*/ 9525 h 2917349"/>
                <a:gd name="connsiteX0" fmla="*/ 4598297 w 9451861"/>
                <a:gd name="connsiteY0" fmla="*/ 0 h 3480033"/>
                <a:gd name="connsiteX1" fmla="*/ 3664847 w 9451861"/>
                <a:gd name="connsiteY1" fmla="*/ 142875 h 3480033"/>
                <a:gd name="connsiteX2" fmla="*/ 1826522 w 9451861"/>
                <a:gd name="connsiteY2" fmla="*/ 190500 h 3480033"/>
                <a:gd name="connsiteX3" fmla="*/ 759722 w 9451861"/>
                <a:gd name="connsiteY3" fmla="*/ 323850 h 3480033"/>
                <a:gd name="connsiteX4" fmla="*/ 559697 w 9451861"/>
                <a:gd name="connsiteY4" fmla="*/ 2466975 h 3480033"/>
                <a:gd name="connsiteX5" fmla="*/ 8379722 w 9451861"/>
                <a:gd name="connsiteY5" fmla="*/ 3390900 h 3480033"/>
                <a:gd name="connsiteX6" fmla="*/ 9198872 w 9451861"/>
                <a:gd name="connsiteY6" fmla="*/ 361950 h 3480033"/>
                <a:gd name="connsiteX7" fmla="*/ 6636647 w 9451861"/>
                <a:gd name="connsiteY7" fmla="*/ 257175 h 3480033"/>
                <a:gd name="connsiteX8" fmla="*/ 5398397 w 9451861"/>
                <a:gd name="connsiteY8" fmla="*/ 133350 h 3480033"/>
                <a:gd name="connsiteX9" fmla="*/ 4826897 w 9451861"/>
                <a:gd name="connsiteY9" fmla="*/ 28575 h 3480033"/>
                <a:gd name="connsiteX10" fmla="*/ 4655447 w 9451861"/>
                <a:gd name="connsiteY10" fmla="*/ 9525 h 3480033"/>
                <a:gd name="connsiteX0" fmla="*/ 3946680 w 8752018"/>
                <a:gd name="connsiteY0" fmla="*/ 0 h 3647494"/>
                <a:gd name="connsiteX1" fmla="*/ 3013230 w 8752018"/>
                <a:gd name="connsiteY1" fmla="*/ 142875 h 3647494"/>
                <a:gd name="connsiteX2" fmla="*/ 1174905 w 8752018"/>
                <a:gd name="connsiteY2" fmla="*/ 190500 h 3647494"/>
                <a:gd name="connsiteX3" fmla="*/ 108105 w 8752018"/>
                <a:gd name="connsiteY3" fmla="*/ 323850 h 3647494"/>
                <a:gd name="connsiteX4" fmla="*/ 898680 w 8752018"/>
                <a:gd name="connsiteY4" fmla="*/ 3133725 h 3647494"/>
                <a:gd name="connsiteX5" fmla="*/ 7728105 w 8752018"/>
                <a:gd name="connsiteY5" fmla="*/ 3390900 h 3647494"/>
                <a:gd name="connsiteX6" fmla="*/ 8547255 w 8752018"/>
                <a:gd name="connsiteY6" fmla="*/ 361950 h 3647494"/>
                <a:gd name="connsiteX7" fmla="*/ 5985030 w 8752018"/>
                <a:gd name="connsiteY7" fmla="*/ 257175 h 3647494"/>
                <a:gd name="connsiteX8" fmla="*/ 4746780 w 8752018"/>
                <a:gd name="connsiteY8" fmla="*/ 133350 h 3647494"/>
                <a:gd name="connsiteX9" fmla="*/ 4175280 w 8752018"/>
                <a:gd name="connsiteY9" fmla="*/ 28575 h 3647494"/>
                <a:gd name="connsiteX10" fmla="*/ 4003830 w 8752018"/>
                <a:gd name="connsiteY10" fmla="*/ 9525 h 3647494"/>
                <a:gd name="connsiteX0" fmla="*/ 4099460 w 8904798"/>
                <a:gd name="connsiteY0" fmla="*/ 0 h 3629504"/>
                <a:gd name="connsiteX1" fmla="*/ 3166010 w 8904798"/>
                <a:gd name="connsiteY1" fmla="*/ 142875 h 3629504"/>
                <a:gd name="connsiteX2" fmla="*/ 1327685 w 8904798"/>
                <a:gd name="connsiteY2" fmla="*/ 190500 h 3629504"/>
                <a:gd name="connsiteX3" fmla="*/ 51335 w 8904798"/>
                <a:gd name="connsiteY3" fmla="*/ 733425 h 3629504"/>
                <a:gd name="connsiteX4" fmla="*/ 1051460 w 8904798"/>
                <a:gd name="connsiteY4" fmla="*/ 3133725 h 3629504"/>
                <a:gd name="connsiteX5" fmla="*/ 7880885 w 8904798"/>
                <a:gd name="connsiteY5" fmla="*/ 3390900 h 3629504"/>
                <a:gd name="connsiteX6" fmla="*/ 8700035 w 8904798"/>
                <a:gd name="connsiteY6" fmla="*/ 361950 h 3629504"/>
                <a:gd name="connsiteX7" fmla="*/ 6137810 w 8904798"/>
                <a:gd name="connsiteY7" fmla="*/ 257175 h 3629504"/>
                <a:gd name="connsiteX8" fmla="*/ 4899560 w 8904798"/>
                <a:gd name="connsiteY8" fmla="*/ 133350 h 3629504"/>
                <a:gd name="connsiteX9" fmla="*/ 4328060 w 8904798"/>
                <a:gd name="connsiteY9" fmla="*/ 28575 h 3629504"/>
                <a:gd name="connsiteX10" fmla="*/ 4156610 w 8904798"/>
                <a:gd name="connsiteY10" fmla="*/ 9525 h 3629504"/>
                <a:gd name="connsiteX0" fmla="*/ 4099460 w 9139664"/>
                <a:gd name="connsiteY0" fmla="*/ 0 h 3629504"/>
                <a:gd name="connsiteX1" fmla="*/ 3166010 w 9139664"/>
                <a:gd name="connsiteY1" fmla="*/ 142875 h 3629504"/>
                <a:gd name="connsiteX2" fmla="*/ 1327685 w 9139664"/>
                <a:gd name="connsiteY2" fmla="*/ 190500 h 3629504"/>
                <a:gd name="connsiteX3" fmla="*/ 51335 w 9139664"/>
                <a:gd name="connsiteY3" fmla="*/ 733425 h 3629504"/>
                <a:gd name="connsiteX4" fmla="*/ 1051460 w 9139664"/>
                <a:gd name="connsiteY4" fmla="*/ 3133725 h 3629504"/>
                <a:gd name="connsiteX5" fmla="*/ 7880885 w 9139664"/>
                <a:gd name="connsiteY5" fmla="*/ 3390900 h 3629504"/>
                <a:gd name="connsiteX6" fmla="*/ 8700035 w 9139664"/>
                <a:gd name="connsiteY6" fmla="*/ 361950 h 3629504"/>
                <a:gd name="connsiteX7" fmla="*/ 6137810 w 9139664"/>
                <a:gd name="connsiteY7" fmla="*/ 257175 h 3629504"/>
                <a:gd name="connsiteX8" fmla="*/ 4899560 w 9139664"/>
                <a:gd name="connsiteY8" fmla="*/ 133350 h 3629504"/>
                <a:gd name="connsiteX9" fmla="*/ 4328060 w 9139664"/>
                <a:gd name="connsiteY9" fmla="*/ 28575 h 3629504"/>
                <a:gd name="connsiteX10" fmla="*/ 4156610 w 9139664"/>
                <a:gd name="connsiteY10" fmla="*/ 9525 h 3629504"/>
                <a:gd name="connsiteX0" fmla="*/ 4086868 w 8773020"/>
                <a:gd name="connsiteY0" fmla="*/ 0 h 3801544"/>
                <a:gd name="connsiteX1" fmla="*/ 3153418 w 8773020"/>
                <a:gd name="connsiteY1" fmla="*/ 142875 h 3801544"/>
                <a:gd name="connsiteX2" fmla="*/ 1315093 w 8773020"/>
                <a:gd name="connsiteY2" fmla="*/ 190500 h 3801544"/>
                <a:gd name="connsiteX3" fmla="*/ 38743 w 8773020"/>
                <a:gd name="connsiteY3" fmla="*/ 733425 h 3801544"/>
                <a:gd name="connsiteX4" fmla="*/ 1038868 w 8773020"/>
                <a:gd name="connsiteY4" fmla="*/ 3133725 h 3801544"/>
                <a:gd name="connsiteX5" fmla="*/ 7477768 w 8773020"/>
                <a:gd name="connsiteY5" fmla="*/ 3609975 h 3801544"/>
                <a:gd name="connsiteX6" fmla="*/ 8687443 w 8773020"/>
                <a:gd name="connsiteY6" fmla="*/ 361950 h 3801544"/>
                <a:gd name="connsiteX7" fmla="*/ 6125218 w 8773020"/>
                <a:gd name="connsiteY7" fmla="*/ 257175 h 3801544"/>
                <a:gd name="connsiteX8" fmla="*/ 4886968 w 8773020"/>
                <a:gd name="connsiteY8" fmla="*/ 133350 h 3801544"/>
                <a:gd name="connsiteX9" fmla="*/ 4315468 w 8773020"/>
                <a:gd name="connsiteY9" fmla="*/ 28575 h 3801544"/>
                <a:gd name="connsiteX10" fmla="*/ 4144018 w 8773020"/>
                <a:gd name="connsiteY10" fmla="*/ 9525 h 3801544"/>
                <a:gd name="connsiteX0" fmla="*/ 4086868 w 8900889"/>
                <a:gd name="connsiteY0" fmla="*/ 0 h 3784820"/>
                <a:gd name="connsiteX1" fmla="*/ 3153418 w 8900889"/>
                <a:gd name="connsiteY1" fmla="*/ 142875 h 3784820"/>
                <a:gd name="connsiteX2" fmla="*/ 1315093 w 8900889"/>
                <a:gd name="connsiteY2" fmla="*/ 190500 h 3784820"/>
                <a:gd name="connsiteX3" fmla="*/ 38743 w 8900889"/>
                <a:gd name="connsiteY3" fmla="*/ 733425 h 3784820"/>
                <a:gd name="connsiteX4" fmla="*/ 1038868 w 8900889"/>
                <a:gd name="connsiteY4" fmla="*/ 3133725 h 3784820"/>
                <a:gd name="connsiteX5" fmla="*/ 7477768 w 8900889"/>
                <a:gd name="connsiteY5" fmla="*/ 3609975 h 3784820"/>
                <a:gd name="connsiteX6" fmla="*/ 8830318 w 8900889"/>
                <a:gd name="connsiteY6" fmla="*/ 590550 h 3784820"/>
                <a:gd name="connsiteX7" fmla="*/ 6125218 w 8900889"/>
                <a:gd name="connsiteY7" fmla="*/ 257175 h 3784820"/>
                <a:gd name="connsiteX8" fmla="*/ 4886968 w 8900889"/>
                <a:gd name="connsiteY8" fmla="*/ 133350 h 3784820"/>
                <a:gd name="connsiteX9" fmla="*/ 4315468 w 8900889"/>
                <a:gd name="connsiteY9" fmla="*/ 28575 h 3784820"/>
                <a:gd name="connsiteX10" fmla="*/ 4144018 w 8900889"/>
                <a:gd name="connsiteY10" fmla="*/ 9525 h 3784820"/>
                <a:gd name="connsiteX0" fmla="*/ 4086868 w 8900889"/>
                <a:gd name="connsiteY0" fmla="*/ 394 h 3785214"/>
                <a:gd name="connsiteX1" fmla="*/ 3153418 w 8900889"/>
                <a:gd name="connsiteY1" fmla="*/ 143269 h 3785214"/>
                <a:gd name="connsiteX2" fmla="*/ 1315093 w 8900889"/>
                <a:gd name="connsiteY2" fmla="*/ 190894 h 3785214"/>
                <a:gd name="connsiteX3" fmla="*/ 38743 w 8900889"/>
                <a:gd name="connsiteY3" fmla="*/ 733819 h 3785214"/>
                <a:gd name="connsiteX4" fmla="*/ 1038868 w 8900889"/>
                <a:gd name="connsiteY4" fmla="*/ 3134119 h 3785214"/>
                <a:gd name="connsiteX5" fmla="*/ 7477768 w 8900889"/>
                <a:gd name="connsiteY5" fmla="*/ 3610369 h 3785214"/>
                <a:gd name="connsiteX6" fmla="*/ 8830318 w 8900889"/>
                <a:gd name="connsiteY6" fmla="*/ 590944 h 3785214"/>
                <a:gd name="connsiteX7" fmla="*/ 6125218 w 8900889"/>
                <a:gd name="connsiteY7" fmla="*/ 257569 h 3785214"/>
                <a:gd name="connsiteX8" fmla="*/ 4886968 w 8900889"/>
                <a:gd name="connsiteY8" fmla="*/ 133744 h 3785214"/>
                <a:gd name="connsiteX9" fmla="*/ 4258318 w 8900889"/>
                <a:gd name="connsiteY9" fmla="*/ 9919 h 3785214"/>
                <a:gd name="connsiteX10" fmla="*/ 4144018 w 8900889"/>
                <a:gd name="connsiteY10" fmla="*/ 9919 h 3785214"/>
                <a:gd name="connsiteX0" fmla="*/ 4086868 w 8900889"/>
                <a:gd name="connsiteY0" fmla="*/ 38460 h 3823280"/>
                <a:gd name="connsiteX1" fmla="*/ 3153418 w 8900889"/>
                <a:gd name="connsiteY1" fmla="*/ 181335 h 3823280"/>
                <a:gd name="connsiteX2" fmla="*/ 1315093 w 8900889"/>
                <a:gd name="connsiteY2" fmla="*/ 228960 h 3823280"/>
                <a:gd name="connsiteX3" fmla="*/ 38743 w 8900889"/>
                <a:gd name="connsiteY3" fmla="*/ 771885 h 3823280"/>
                <a:gd name="connsiteX4" fmla="*/ 1038868 w 8900889"/>
                <a:gd name="connsiteY4" fmla="*/ 3172185 h 3823280"/>
                <a:gd name="connsiteX5" fmla="*/ 7477768 w 8900889"/>
                <a:gd name="connsiteY5" fmla="*/ 3648435 h 3823280"/>
                <a:gd name="connsiteX6" fmla="*/ 8830318 w 8900889"/>
                <a:gd name="connsiteY6" fmla="*/ 629010 h 3823280"/>
                <a:gd name="connsiteX7" fmla="*/ 6125218 w 8900889"/>
                <a:gd name="connsiteY7" fmla="*/ 295635 h 3823280"/>
                <a:gd name="connsiteX8" fmla="*/ 4886968 w 8900889"/>
                <a:gd name="connsiteY8" fmla="*/ 171810 h 3823280"/>
                <a:gd name="connsiteX9" fmla="*/ 4258318 w 8900889"/>
                <a:gd name="connsiteY9" fmla="*/ 47985 h 3823280"/>
                <a:gd name="connsiteX10" fmla="*/ 4144018 w 8900889"/>
                <a:gd name="connsiteY10" fmla="*/ 47985 h 3823280"/>
                <a:gd name="connsiteX0" fmla="*/ 4052596 w 8866617"/>
                <a:gd name="connsiteY0" fmla="*/ 38460 h 3823280"/>
                <a:gd name="connsiteX1" fmla="*/ 3119146 w 8866617"/>
                <a:gd name="connsiteY1" fmla="*/ 181335 h 3823280"/>
                <a:gd name="connsiteX2" fmla="*/ 747421 w 8866617"/>
                <a:gd name="connsiteY2" fmla="*/ 248010 h 3823280"/>
                <a:gd name="connsiteX3" fmla="*/ 4471 w 8866617"/>
                <a:gd name="connsiteY3" fmla="*/ 771885 h 3823280"/>
                <a:gd name="connsiteX4" fmla="*/ 1004596 w 8866617"/>
                <a:gd name="connsiteY4" fmla="*/ 3172185 h 3823280"/>
                <a:gd name="connsiteX5" fmla="*/ 7443496 w 8866617"/>
                <a:gd name="connsiteY5" fmla="*/ 3648435 h 3823280"/>
                <a:gd name="connsiteX6" fmla="*/ 8796046 w 8866617"/>
                <a:gd name="connsiteY6" fmla="*/ 629010 h 3823280"/>
                <a:gd name="connsiteX7" fmla="*/ 6090946 w 8866617"/>
                <a:gd name="connsiteY7" fmla="*/ 295635 h 3823280"/>
                <a:gd name="connsiteX8" fmla="*/ 4852696 w 8866617"/>
                <a:gd name="connsiteY8" fmla="*/ 171810 h 3823280"/>
                <a:gd name="connsiteX9" fmla="*/ 4224046 w 8866617"/>
                <a:gd name="connsiteY9" fmla="*/ 47985 h 3823280"/>
                <a:gd name="connsiteX10" fmla="*/ 4109746 w 8866617"/>
                <a:gd name="connsiteY10" fmla="*/ 47985 h 3823280"/>
                <a:gd name="connsiteX0" fmla="*/ 4052616 w 8866637"/>
                <a:gd name="connsiteY0" fmla="*/ 38460 h 3823280"/>
                <a:gd name="connsiteX1" fmla="*/ 3128691 w 8866637"/>
                <a:gd name="connsiteY1" fmla="*/ 200385 h 3823280"/>
                <a:gd name="connsiteX2" fmla="*/ 747441 w 8866637"/>
                <a:gd name="connsiteY2" fmla="*/ 248010 h 3823280"/>
                <a:gd name="connsiteX3" fmla="*/ 4491 w 8866637"/>
                <a:gd name="connsiteY3" fmla="*/ 771885 h 3823280"/>
                <a:gd name="connsiteX4" fmla="*/ 1004616 w 8866637"/>
                <a:gd name="connsiteY4" fmla="*/ 3172185 h 3823280"/>
                <a:gd name="connsiteX5" fmla="*/ 7443516 w 8866637"/>
                <a:gd name="connsiteY5" fmla="*/ 3648435 h 3823280"/>
                <a:gd name="connsiteX6" fmla="*/ 8796066 w 8866637"/>
                <a:gd name="connsiteY6" fmla="*/ 629010 h 3823280"/>
                <a:gd name="connsiteX7" fmla="*/ 6090966 w 8866637"/>
                <a:gd name="connsiteY7" fmla="*/ 295635 h 3823280"/>
                <a:gd name="connsiteX8" fmla="*/ 4852716 w 8866637"/>
                <a:gd name="connsiteY8" fmla="*/ 171810 h 3823280"/>
                <a:gd name="connsiteX9" fmla="*/ 4224066 w 8866637"/>
                <a:gd name="connsiteY9" fmla="*/ 47985 h 3823280"/>
                <a:gd name="connsiteX10" fmla="*/ 4109766 w 8866637"/>
                <a:gd name="connsiteY10" fmla="*/ 47985 h 3823280"/>
                <a:gd name="connsiteX0" fmla="*/ 4085993 w 8900014"/>
                <a:gd name="connsiteY0" fmla="*/ 38460 h 3823280"/>
                <a:gd name="connsiteX1" fmla="*/ 3162068 w 8900014"/>
                <a:gd name="connsiteY1" fmla="*/ 200385 h 3823280"/>
                <a:gd name="connsiteX2" fmla="*/ 504593 w 8900014"/>
                <a:gd name="connsiteY2" fmla="*/ 286110 h 3823280"/>
                <a:gd name="connsiteX3" fmla="*/ 37868 w 8900014"/>
                <a:gd name="connsiteY3" fmla="*/ 771885 h 3823280"/>
                <a:gd name="connsiteX4" fmla="*/ 1037993 w 8900014"/>
                <a:gd name="connsiteY4" fmla="*/ 3172185 h 3823280"/>
                <a:gd name="connsiteX5" fmla="*/ 7476893 w 8900014"/>
                <a:gd name="connsiteY5" fmla="*/ 3648435 h 3823280"/>
                <a:gd name="connsiteX6" fmla="*/ 8829443 w 8900014"/>
                <a:gd name="connsiteY6" fmla="*/ 629010 h 3823280"/>
                <a:gd name="connsiteX7" fmla="*/ 6124343 w 8900014"/>
                <a:gd name="connsiteY7" fmla="*/ 295635 h 3823280"/>
                <a:gd name="connsiteX8" fmla="*/ 4886093 w 8900014"/>
                <a:gd name="connsiteY8" fmla="*/ 171810 h 3823280"/>
                <a:gd name="connsiteX9" fmla="*/ 4257443 w 8900014"/>
                <a:gd name="connsiteY9" fmla="*/ 47985 h 3823280"/>
                <a:gd name="connsiteX10" fmla="*/ 4143143 w 8900014"/>
                <a:gd name="connsiteY10" fmla="*/ 47985 h 3823280"/>
                <a:gd name="connsiteX0" fmla="*/ 4069805 w 8883826"/>
                <a:gd name="connsiteY0" fmla="*/ 38460 h 3782341"/>
                <a:gd name="connsiteX1" fmla="*/ 3145880 w 8883826"/>
                <a:gd name="connsiteY1" fmla="*/ 200385 h 3782341"/>
                <a:gd name="connsiteX2" fmla="*/ 488405 w 8883826"/>
                <a:gd name="connsiteY2" fmla="*/ 286110 h 3782341"/>
                <a:gd name="connsiteX3" fmla="*/ 40730 w 8883826"/>
                <a:gd name="connsiteY3" fmla="*/ 2448285 h 3782341"/>
                <a:gd name="connsiteX4" fmla="*/ 1021805 w 8883826"/>
                <a:gd name="connsiteY4" fmla="*/ 3172185 h 3782341"/>
                <a:gd name="connsiteX5" fmla="*/ 7460705 w 8883826"/>
                <a:gd name="connsiteY5" fmla="*/ 3648435 h 3782341"/>
                <a:gd name="connsiteX6" fmla="*/ 8813255 w 8883826"/>
                <a:gd name="connsiteY6" fmla="*/ 629010 h 3782341"/>
                <a:gd name="connsiteX7" fmla="*/ 6108155 w 8883826"/>
                <a:gd name="connsiteY7" fmla="*/ 295635 h 3782341"/>
                <a:gd name="connsiteX8" fmla="*/ 4869905 w 8883826"/>
                <a:gd name="connsiteY8" fmla="*/ 171810 h 3782341"/>
                <a:gd name="connsiteX9" fmla="*/ 4241255 w 8883826"/>
                <a:gd name="connsiteY9" fmla="*/ 47985 h 3782341"/>
                <a:gd name="connsiteX10" fmla="*/ 4126955 w 8883826"/>
                <a:gd name="connsiteY10" fmla="*/ 47985 h 3782341"/>
                <a:gd name="connsiteX0" fmla="*/ 4266783 w 9080804"/>
                <a:gd name="connsiteY0" fmla="*/ 38460 h 3782341"/>
                <a:gd name="connsiteX1" fmla="*/ 3342858 w 9080804"/>
                <a:gd name="connsiteY1" fmla="*/ 200385 h 3782341"/>
                <a:gd name="connsiteX2" fmla="*/ 285333 w 9080804"/>
                <a:gd name="connsiteY2" fmla="*/ 505185 h 3782341"/>
                <a:gd name="connsiteX3" fmla="*/ 237708 w 9080804"/>
                <a:gd name="connsiteY3" fmla="*/ 2448285 h 3782341"/>
                <a:gd name="connsiteX4" fmla="*/ 1218783 w 9080804"/>
                <a:gd name="connsiteY4" fmla="*/ 3172185 h 3782341"/>
                <a:gd name="connsiteX5" fmla="*/ 7657683 w 9080804"/>
                <a:gd name="connsiteY5" fmla="*/ 3648435 h 3782341"/>
                <a:gd name="connsiteX6" fmla="*/ 9010233 w 9080804"/>
                <a:gd name="connsiteY6" fmla="*/ 629010 h 3782341"/>
                <a:gd name="connsiteX7" fmla="*/ 6305133 w 9080804"/>
                <a:gd name="connsiteY7" fmla="*/ 295635 h 3782341"/>
                <a:gd name="connsiteX8" fmla="*/ 5066883 w 9080804"/>
                <a:gd name="connsiteY8" fmla="*/ 171810 h 3782341"/>
                <a:gd name="connsiteX9" fmla="*/ 4438233 w 9080804"/>
                <a:gd name="connsiteY9" fmla="*/ 47985 h 3782341"/>
                <a:gd name="connsiteX10" fmla="*/ 4323933 w 9080804"/>
                <a:gd name="connsiteY10" fmla="*/ 47985 h 3782341"/>
                <a:gd name="connsiteX0" fmla="*/ 4266783 w 8870558"/>
                <a:gd name="connsiteY0" fmla="*/ 38460 h 3777841"/>
                <a:gd name="connsiteX1" fmla="*/ 3342858 w 8870558"/>
                <a:gd name="connsiteY1" fmla="*/ 200385 h 3777841"/>
                <a:gd name="connsiteX2" fmla="*/ 285333 w 8870558"/>
                <a:gd name="connsiteY2" fmla="*/ 505185 h 3777841"/>
                <a:gd name="connsiteX3" fmla="*/ 237708 w 8870558"/>
                <a:gd name="connsiteY3" fmla="*/ 2448285 h 3777841"/>
                <a:gd name="connsiteX4" fmla="*/ 1218783 w 8870558"/>
                <a:gd name="connsiteY4" fmla="*/ 3172185 h 3777841"/>
                <a:gd name="connsiteX5" fmla="*/ 7657683 w 8870558"/>
                <a:gd name="connsiteY5" fmla="*/ 3648435 h 3777841"/>
                <a:gd name="connsiteX6" fmla="*/ 8772108 w 8870558"/>
                <a:gd name="connsiteY6" fmla="*/ 695685 h 3777841"/>
                <a:gd name="connsiteX7" fmla="*/ 6305133 w 8870558"/>
                <a:gd name="connsiteY7" fmla="*/ 295635 h 3777841"/>
                <a:gd name="connsiteX8" fmla="*/ 5066883 w 8870558"/>
                <a:gd name="connsiteY8" fmla="*/ 171810 h 3777841"/>
                <a:gd name="connsiteX9" fmla="*/ 4438233 w 8870558"/>
                <a:gd name="connsiteY9" fmla="*/ 47985 h 3777841"/>
                <a:gd name="connsiteX10" fmla="*/ 4323933 w 8870558"/>
                <a:gd name="connsiteY10" fmla="*/ 47985 h 3777841"/>
                <a:gd name="connsiteX0" fmla="*/ 4137235 w 8741010"/>
                <a:gd name="connsiteY0" fmla="*/ 38460 h 3777841"/>
                <a:gd name="connsiteX1" fmla="*/ 3213310 w 8741010"/>
                <a:gd name="connsiteY1" fmla="*/ 200385 h 3777841"/>
                <a:gd name="connsiteX2" fmla="*/ 374860 w 8741010"/>
                <a:gd name="connsiteY2" fmla="*/ 543285 h 3777841"/>
                <a:gd name="connsiteX3" fmla="*/ 108160 w 8741010"/>
                <a:gd name="connsiteY3" fmla="*/ 2448285 h 3777841"/>
                <a:gd name="connsiteX4" fmla="*/ 1089235 w 8741010"/>
                <a:gd name="connsiteY4" fmla="*/ 3172185 h 3777841"/>
                <a:gd name="connsiteX5" fmla="*/ 7528135 w 8741010"/>
                <a:gd name="connsiteY5" fmla="*/ 3648435 h 3777841"/>
                <a:gd name="connsiteX6" fmla="*/ 8642560 w 8741010"/>
                <a:gd name="connsiteY6" fmla="*/ 695685 h 3777841"/>
                <a:gd name="connsiteX7" fmla="*/ 6175585 w 8741010"/>
                <a:gd name="connsiteY7" fmla="*/ 295635 h 3777841"/>
                <a:gd name="connsiteX8" fmla="*/ 4937335 w 8741010"/>
                <a:gd name="connsiteY8" fmla="*/ 171810 h 3777841"/>
                <a:gd name="connsiteX9" fmla="*/ 4308685 w 8741010"/>
                <a:gd name="connsiteY9" fmla="*/ 47985 h 3777841"/>
                <a:gd name="connsiteX10" fmla="*/ 4194385 w 8741010"/>
                <a:gd name="connsiteY10" fmla="*/ 47985 h 3777841"/>
                <a:gd name="connsiteX0" fmla="*/ 3997960 w 8601735"/>
                <a:gd name="connsiteY0" fmla="*/ 38460 h 3774946"/>
                <a:gd name="connsiteX1" fmla="*/ 3074035 w 8601735"/>
                <a:gd name="connsiteY1" fmla="*/ 200385 h 3774946"/>
                <a:gd name="connsiteX2" fmla="*/ 235585 w 8601735"/>
                <a:gd name="connsiteY2" fmla="*/ 543285 h 3774946"/>
                <a:gd name="connsiteX3" fmla="*/ 245110 w 8601735"/>
                <a:gd name="connsiteY3" fmla="*/ 2600685 h 3774946"/>
                <a:gd name="connsiteX4" fmla="*/ 949960 w 8601735"/>
                <a:gd name="connsiteY4" fmla="*/ 3172185 h 3774946"/>
                <a:gd name="connsiteX5" fmla="*/ 7388860 w 8601735"/>
                <a:gd name="connsiteY5" fmla="*/ 3648435 h 3774946"/>
                <a:gd name="connsiteX6" fmla="*/ 8503285 w 8601735"/>
                <a:gd name="connsiteY6" fmla="*/ 695685 h 3774946"/>
                <a:gd name="connsiteX7" fmla="*/ 6036310 w 8601735"/>
                <a:gd name="connsiteY7" fmla="*/ 295635 h 3774946"/>
                <a:gd name="connsiteX8" fmla="*/ 4798060 w 8601735"/>
                <a:gd name="connsiteY8" fmla="*/ 171810 h 3774946"/>
                <a:gd name="connsiteX9" fmla="*/ 4169410 w 8601735"/>
                <a:gd name="connsiteY9" fmla="*/ 47985 h 3774946"/>
                <a:gd name="connsiteX10" fmla="*/ 4055110 w 8601735"/>
                <a:gd name="connsiteY10" fmla="*/ 47985 h 3774946"/>
                <a:gd name="connsiteX0" fmla="*/ 4091548 w 8660040"/>
                <a:gd name="connsiteY0" fmla="*/ 38460 h 3892200"/>
                <a:gd name="connsiteX1" fmla="*/ 3167623 w 8660040"/>
                <a:gd name="connsiteY1" fmla="*/ 200385 h 3892200"/>
                <a:gd name="connsiteX2" fmla="*/ 329173 w 8660040"/>
                <a:gd name="connsiteY2" fmla="*/ 543285 h 3892200"/>
                <a:gd name="connsiteX3" fmla="*/ 338698 w 8660040"/>
                <a:gd name="connsiteY3" fmla="*/ 2600685 h 3892200"/>
                <a:gd name="connsiteX4" fmla="*/ 2834248 w 8660040"/>
                <a:gd name="connsiteY4" fmla="*/ 3600810 h 3892200"/>
                <a:gd name="connsiteX5" fmla="*/ 7482448 w 8660040"/>
                <a:gd name="connsiteY5" fmla="*/ 3648435 h 3892200"/>
                <a:gd name="connsiteX6" fmla="*/ 8596873 w 8660040"/>
                <a:gd name="connsiteY6" fmla="*/ 695685 h 3892200"/>
                <a:gd name="connsiteX7" fmla="*/ 6129898 w 8660040"/>
                <a:gd name="connsiteY7" fmla="*/ 295635 h 3892200"/>
                <a:gd name="connsiteX8" fmla="*/ 4891648 w 8660040"/>
                <a:gd name="connsiteY8" fmla="*/ 171810 h 3892200"/>
                <a:gd name="connsiteX9" fmla="*/ 4262998 w 8660040"/>
                <a:gd name="connsiteY9" fmla="*/ 47985 h 3892200"/>
                <a:gd name="connsiteX10" fmla="*/ 4148698 w 8660040"/>
                <a:gd name="connsiteY10" fmla="*/ 47985 h 3892200"/>
                <a:gd name="connsiteX0" fmla="*/ 4091548 w 8660040"/>
                <a:gd name="connsiteY0" fmla="*/ 6023 h 3859763"/>
                <a:gd name="connsiteX1" fmla="*/ 3167623 w 8660040"/>
                <a:gd name="connsiteY1" fmla="*/ 167948 h 3859763"/>
                <a:gd name="connsiteX2" fmla="*/ 329173 w 8660040"/>
                <a:gd name="connsiteY2" fmla="*/ 510848 h 3859763"/>
                <a:gd name="connsiteX3" fmla="*/ 338698 w 8660040"/>
                <a:gd name="connsiteY3" fmla="*/ 2568248 h 3859763"/>
                <a:gd name="connsiteX4" fmla="*/ 2834248 w 8660040"/>
                <a:gd name="connsiteY4" fmla="*/ 3568373 h 3859763"/>
                <a:gd name="connsiteX5" fmla="*/ 7482448 w 8660040"/>
                <a:gd name="connsiteY5" fmla="*/ 3615998 h 3859763"/>
                <a:gd name="connsiteX6" fmla="*/ 8596873 w 8660040"/>
                <a:gd name="connsiteY6" fmla="*/ 663248 h 3859763"/>
                <a:gd name="connsiteX7" fmla="*/ 6129898 w 8660040"/>
                <a:gd name="connsiteY7" fmla="*/ 263198 h 3859763"/>
                <a:gd name="connsiteX8" fmla="*/ 5091673 w 8660040"/>
                <a:gd name="connsiteY8" fmla="*/ 215573 h 3859763"/>
                <a:gd name="connsiteX9" fmla="*/ 4262998 w 8660040"/>
                <a:gd name="connsiteY9" fmla="*/ 15548 h 3859763"/>
                <a:gd name="connsiteX10" fmla="*/ 4148698 w 8660040"/>
                <a:gd name="connsiteY10" fmla="*/ 15548 h 3859763"/>
                <a:gd name="connsiteX0" fmla="*/ 4091548 w 8649582"/>
                <a:gd name="connsiteY0" fmla="*/ 6023 h 3859763"/>
                <a:gd name="connsiteX1" fmla="*/ 3167623 w 8649582"/>
                <a:gd name="connsiteY1" fmla="*/ 167948 h 3859763"/>
                <a:gd name="connsiteX2" fmla="*/ 329173 w 8649582"/>
                <a:gd name="connsiteY2" fmla="*/ 510848 h 3859763"/>
                <a:gd name="connsiteX3" fmla="*/ 338698 w 8649582"/>
                <a:gd name="connsiteY3" fmla="*/ 2568248 h 3859763"/>
                <a:gd name="connsiteX4" fmla="*/ 2834248 w 8649582"/>
                <a:gd name="connsiteY4" fmla="*/ 3568373 h 3859763"/>
                <a:gd name="connsiteX5" fmla="*/ 7482448 w 8649582"/>
                <a:gd name="connsiteY5" fmla="*/ 3615998 h 3859763"/>
                <a:gd name="connsiteX6" fmla="*/ 8596873 w 8649582"/>
                <a:gd name="connsiteY6" fmla="*/ 663248 h 3859763"/>
                <a:gd name="connsiteX7" fmla="*/ 6301348 w 8649582"/>
                <a:gd name="connsiteY7" fmla="*/ 272723 h 3859763"/>
                <a:gd name="connsiteX8" fmla="*/ 5091673 w 8649582"/>
                <a:gd name="connsiteY8" fmla="*/ 215573 h 3859763"/>
                <a:gd name="connsiteX9" fmla="*/ 4262998 w 8649582"/>
                <a:gd name="connsiteY9" fmla="*/ 15548 h 3859763"/>
                <a:gd name="connsiteX10" fmla="*/ 4148698 w 8649582"/>
                <a:gd name="connsiteY10" fmla="*/ 15548 h 3859763"/>
                <a:gd name="connsiteX0" fmla="*/ 4091548 w 8649582"/>
                <a:gd name="connsiteY0" fmla="*/ 6023 h 3859763"/>
                <a:gd name="connsiteX1" fmla="*/ 3167623 w 8649582"/>
                <a:gd name="connsiteY1" fmla="*/ 167948 h 3859763"/>
                <a:gd name="connsiteX2" fmla="*/ 329173 w 8649582"/>
                <a:gd name="connsiteY2" fmla="*/ 510848 h 3859763"/>
                <a:gd name="connsiteX3" fmla="*/ 338698 w 8649582"/>
                <a:gd name="connsiteY3" fmla="*/ 2568248 h 3859763"/>
                <a:gd name="connsiteX4" fmla="*/ 2834248 w 8649582"/>
                <a:gd name="connsiteY4" fmla="*/ 3568373 h 3859763"/>
                <a:gd name="connsiteX5" fmla="*/ 7482448 w 8649582"/>
                <a:gd name="connsiteY5" fmla="*/ 3615998 h 3859763"/>
                <a:gd name="connsiteX6" fmla="*/ 8596873 w 8649582"/>
                <a:gd name="connsiteY6" fmla="*/ 663248 h 3859763"/>
                <a:gd name="connsiteX7" fmla="*/ 6301348 w 8649582"/>
                <a:gd name="connsiteY7" fmla="*/ 272723 h 3859763"/>
                <a:gd name="connsiteX8" fmla="*/ 5091673 w 8649582"/>
                <a:gd name="connsiteY8" fmla="*/ 215573 h 3859763"/>
                <a:gd name="connsiteX9" fmla="*/ 4262998 w 8649582"/>
                <a:gd name="connsiteY9" fmla="*/ 15548 h 3859763"/>
                <a:gd name="connsiteX10" fmla="*/ 4148698 w 8649582"/>
                <a:gd name="connsiteY10" fmla="*/ 15548 h 3859763"/>
                <a:gd name="connsiteX0" fmla="*/ 4091548 w 8685106"/>
                <a:gd name="connsiteY0" fmla="*/ 6023 h 3849986"/>
                <a:gd name="connsiteX1" fmla="*/ 3167623 w 8685106"/>
                <a:gd name="connsiteY1" fmla="*/ 167948 h 3849986"/>
                <a:gd name="connsiteX2" fmla="*/ 329173 w 8685106"/>
                <a:gd name="connsiteY2" fmla="*/ 510848 h 3849986"/>
                <a:gd name="connsiteX3" fmla="*/ 338698 w 8685106"/>
                <a:gd name="connsiteY3" fmla="*/ 2568248 h 3849986"/>
                <a:gd name="connsiteX4" fmla="*/ 2834248 w 8685106"/>
                <a:gd name="connsiteY4" fmla="*/ 3568373 h 3849986"/>
                <a:gd name="connsiteX5" fmla="*/ 7482448 w 8685106"/>
                <a:gd name="connsiteY5" fmla="*/ 3615998 h 3849986"/>
                <a:gd name="connsiteX6" fmla="*/ 8634973 w 8685106"/>
                <a:gd name="connsiteY6" fmla="*/ 796598 h 3849986"/>
                <a:gd name="connsiteX7" fmla="*/ 6301348 w 8685106"/>
                <a:gd name="connsiteY7" fmla="*/ 272723 h 3849986"/>
                <a:gd name="connsiteX8" fmla="*/ 5091673 w 8685106"/>
                <a:gd name="connsiteY8" fmla="*/ 215573 h 3849986"/>
                <a:gd name="connsiteX9" fmla="*/ 4262998 w 8685106"/>
                <a:gd name="connsiteY9" fmla="*/ 15548 h 3849986"/>
                <a:gd name="connsiteX10" fmla="*/ 4148698 w 8685106"/>
                <a:gd name="connsiteY10" fmla="*/ 15548 h 3849986"/>
                <a:gd name="connsiteX0" fmla="*/ 4091548 w 8685106"/>
                <a:gd name="connsiteY0" fmla="*/ 6023 h 3849986"/>
                <a:gd name="connsiteX1" fmla="*/ 3167623 w 8685106"/>
                <a:gd name="connsiteY1" fmla="*/ 167948 h 3849986"/>
                <a:gd name="connsiteX2" fmla="*/ 329173 w 8685106"/>
                <a:gd name="connsiteY2" fmla="*/ 653723 h 3849986"/>
                <a:gd name="connsiteX3" fmla="*/ 338698 w 8685106"/>
                <a:gd name="connsiteY3" fmla="*/ 2568248 h 3849986"/>
                <a:gd name="connsiteX4" fmla="*/ 2834248 w 8685106"/>
                <a:gd name="connsiteY4" fmla="*/ 3568373 h 3849986"/>
                <a:gd name="connsiteX5" fmla="*/ 7482448 w 8685106"/>
                <a:gd name="connsiteY5" fmla="*/ 3615998 h 3849986"/>
                <a:gd name="connsiteX6" fmla="*/ 8634973 w 8685106"/>
                <a:gd name="connsiteY6" fmla="*/ 796598 h 3849986"/>
                <a:gd name="connsiteX7" fmla="*/ 6301348 w 8685106"/>
                <a:gd name="connsiteY7" fmla="*/ 272723 h 3849986"/>
                <a:gd name="connsiteX8" fmla="*/ 5091673 w 8685106"/>
                <a:gd name="connsiteY8" fmla="*/ 215573 h 3849986"/>
                <a:gd name="connsiteX9" fmla="*/ 4262998 w 8685106"/>
                <a:gd name="connsiteY9" fmla="*/ 15548 h 3849986"/>
                <a:gd name="connsiteX10" fmla="*/ 4148698 w 8685106"/>
                <a:gd name="connsiteY10" fmla="*/ 15548 h 3849986"/>
                <a:gd name="connsiteX0" fmla="*/ 4091548 w 8761686"/>
                <a:gd name="connsiteY0" fmla="*/ 6023 h 3849986"/>
                <a:gd name="connsiteX1" fmla="*/ 3167623 w 8761686"/>
                <a:gd name="connsiteY1" fmla="*/ 167948 h 3849986"/>
                <a:gd name="connsiteX2" fmla="*/ 329173 w 8761686"/>
                <a:gd name="connsiteY2" fmla="*/ 653723 h 3849986"/>
                <a:gd name="connsiteX3" fmla="*/ 338698 w 8761686"/>
                <a:gd name="connsiteY3" fmla="*/ 2568248 h 3849986"/>
                <a:gd name="connsiteX4" fmla="*/ 2834248 w 8761686"/>
                <a:gd name="connsiteY4" fmla="*/ 3568373 h 3849986"/>
                <a:gd name="connsiteX5" fmla="*/ 7482448 w 8761686"/>
                <a:gd name="connsiteY5" fmla="*/ 3615998 h 3849986"/>
                <a:gd name="connsiteX6" fmla="*/ 8634973 w 8761686"/>
                <a:gd name="connsiteY6" fmla="*/ 796598 h 3849986"/>
                <a:gd name="connsiteX7" fmla="*/ 5091673 w 8761686"/>
                <a:gd name="connsiteY7" fmla="*/ 215573 h 3849986"/>
                <a:gd name="connsiteX8" fmla="*/ 4262998 w 8761686"/>
                <a:gd name="connsiteY8" fmla="*/ 15548 h 3849986"/>
                <a:gd name="connsiteX9" fmla="*/ 4148698 w 8761686"/>
                <a:gd name="connsiteY9" fmla="*/ 15548 h 3849986"/>
                <a:gd name="connsiteX0" fmla="*/ 4091548 w 8747827"/>
                <a:gd name="connsiteY0" fmla="*/ 7431 h 3851394"/>
                <a:gd name="connsiteX1" fmla="*/ 3167623 w 8747827"/>
                <a:gd name="connsiteY1" fmla="*/ 169356 h 3851394"/>
                <a:gd name="connsiteX2" fmla="*/ 329173 w 8747827"/>
                <a:gd name="connsiteY2" fmla="*/ 655131 h 3851394"/>
                <a:gd name="connsiteX3" fmla="*/ 338698 w 8747827"/>
                <a:gd name="connsiteY3" fmla="*/ 2569656 h 3851394"/>
                <a:gd name="connsiteX4" fmla="*/ 2834248 w 8747827"/>
                <a:gd name="connsiteY4" fmla="*/ 3569781 h 3851394"/>
                <a:gd name="connsiteX5" fmla="*/ 7482448 w 8747827"/>
                <a:gd name="connsiteY5" fmla="*/ 3617406 h 3851394"/>
                <a:gd name="connsiteX6" fmla="*/ 8634973 w 8747827"/>
                <a:gd name="connsiteY6" fmla="*/ 798006 h 3851394"/>
                <a:gd name="connsiteX7" fmla="*/ 5301223 w 8747827"/>
                <a:gd name="connsiteY7" fmla="*/ 236031 h 3851394"/>
                <a:gd name="connsiteX8" fmla="*/ 4262998 w 8747827"/>
                <a:gd name="connsiteY8" fmla="*/ 16956 h 3851394"/>
                <a:gd name="connsiteX9" fmla="*/ 4148698 w 8747827"/>
                <a:gd name="connsiteY9" fmla="*/ 16956 h 3851394"/>
                <a:gd name="connsiteX0" fmla="*/ 4091548 w 8747827"/>
                <a:gd name="connsiteY0" fmla="*/ 7431 h 3851394"/>
                <a:gd name="connsiteX1" fmla="*/ 3167623 w 8747827"/>
                <a:gd name="connsiteY1" fmla="*/ 169356 h 3851394"/>
                <a:gd name="connsiteX2" fmla="*/ 329173 w 8747827"/>
                <a:gd name="connsiteY2" fmla="*/ 655131 h 3851394"/>
                <a:gd name="connsiteX3" fmla="*/ 338698 w 8747827"/>
                <a:gd name="connsiteY3" fmla="*/ 2569656 h 3851394"/>
                <a:gd name="connsiteX4" fmla="*/ 2834248 w 8747827"/>
                <a:gd name="connsiteY4" fmla="*/ 3569781 h 3851394"/>
                <a:gd name="connsiteX5" fmla="*/ 7482448 w 8747827"/>
                <a:gd name="connsiteY5" fmla="*/ 3617406 h 3851394"/>
                <a:gd name="connsiteX6" fmla="*/ 8634973 w 8747827"/>
                <a:gd name="connsiteY6" fmla="*/ 798006 h 3851394"/>
                <a:gd name="connsiteX7" fmla="*/ 5301223 w 8747827"/>
                <a:gd name="connsiteY7" fmla="*/ 236031 h 3851394"/>
                <a:gd name="connsiteX8" fmla="*/ 4262998 w 8747827"/>
                <a:gd name="connsiteY8" fmla="*/ 16956 h 3851394"/>
                <a:gd name="connsiteX9" fmla="*/ 4148698 w 8747827"/>
                <a:gd name="connsiteY9" fmla="*/ 16956 h 3851394"/>
                <a:gd name="connsiteX0" fmla="*/ 4091548 w 8747827"/>
                <a:gd name="connsiteY0" fmla="*/ 0 h 3843963"/>
                <a:gd name="connsiteX1" fmla="*/ 3167623 w 8747827"/>
                <a:gd name="connsiteY1" fmla="*/ 161925 h 3843963"/>
                <a:gd name="connsiteX2" fmla="*/ 329173 w 8747827"/>
                <a:gd name="connsiteY2" fmla="*/ 647700 h 3843963"/>
                <a:gd name="connsiteX3" fmla="*/ 338698 w 8747827"/>
                <a:gd name="connsiteY3" fmla="*/ 2562225 h 3843963"/>
                <a:gd name="connsiteX4" fmla="*/ 2834248 w 8747827"/>
                <a:gd name="connsiteY4" fmla="*/ 3562350 h 3843963"/>
                <a:gd name="connsiteX5" fmla="*/ 7482448 w 8747827"/>
                <a:gd name="connsiteY5" fmla="*/ 3609975 h 3843963"/>
                <a:gd name="connsiteX6" fmla="*/ 8634973 w 8747827"/>
                <a:gd name="connsiteY6" fmla="*/ 790575 h 3843963"/>
                <a:gd name="connsiteX7" fmla="*/ 5301223 w 8747827"/>
                <a:gd name="connsiteY7" fmla="*/ 228600 h 3843963"/>
                <a:gd name="connsiteX8" fmla="*/ 4262998 w 8747827"/>
                <a:gd name="connsiteY8" fmla="*/ 9525 h 3843963"/>
                <a:gd name="connsiteX9" fmla="*/ 4043923 w 8747827"/>
                <a:gd name="connsiteY9" fmla="*/ 57150 h 3843963"/>
                <a:gd name="connsiteX0" fmla="*/ 3981058 w 8747827"/>
                <a:gd name="connsiteY0" fmla="*/ 35193 h 3841056"/>
                <a:gd name="connsiteX1" fmla="*/ 3167623 w 8747827"/>
                <a:gd name="connsiteY1" fmla="*/ 159018 h 3841056"/>
                <a:gd name="connsiteX2" fmla="*/ 329173 w 8747827"/>
                <a:gd name="connsiteY2" fmla="*/ 644793 h 3841056"/>
                <a:gd name="connsiteX3" fmla="*/ 338698 w 8747827"/>
                <a:gd name="connsiteY3" fmla="*/ 2559318 h 3841056"/>
                <a:gd name="connsiteX4" fmla="*/ 2834248 w 8747827"/>
                <a:gd name="connsiteY4" fmla="*/ 3559443 h 3841056"/>
                <a:gd name="connsiteX5" fmla="*/ 7482448 w 8747827"/>
                <a:gd name="connsiteY5" fmla="*/ 3607068 h 3841056"/>
                <a:gd name="connsiteX6" fmla="*/ 8634973 w 8747827"/>
                <a:gd name="connsiteY6" fmla="*/ 787668 h 3841056"/>
                <a:gd name="connsiteX7" fmla="*/ 5301223 w 8747827"/>
                <a:gd name="connsiteY7" fmla="*/ 225693 h 3841056"/>
                <a:gd name="connsiteX8" fmla="*/ 4262998 w 8747827"/>
                <a:gd name="connsiteY8" fmla="*/ 6618 h 3841056"/>
                <a:gd name="connsiteX9" fmla="*/ 4043923 w 8747827"/>
                <a:gd name="connsiteY9" fmla="*/ 54243 h 3841056"/>
                <a:gd name="connsiteX0" fmla="*/ 3981058 w 8747827"/>
                <a:gd name="connsiteY0" fmla="*/ 73290 h 3879153"/>
                <a:gd name="connsiteX1" fmla="*/ 3167623 w 8747827"/>
                <a:gd name="connsiteY1" fmla="*/ 197115 h 3879153"/>
                <a:gd name="connsiteX2" fmla="*/ 329173 w 8747827"/>
                <a:gd name="connsiteY2" fmla="*/ 682890 h 3879153"/>
                <a:gd name="connsiteX3" fmla="*/ 338698 w 8747827"/>
                <a:gd name="connsiteY3" fmla="*/ 2597415 h 3879153"/>
                <a:gd name="connsiteX4" fmla="*/ 2834248 w 8747827"/>
                <a:gd name="connsiteY4" fmla="*/ 3597540 h 3879153"/>
                <a:gd name="connsiteX5" fmla="*/ 7482448 w 8747827"/>
                <a:gd name="connsiteY5" fmla="*/ 3645165 h 3879153"/>
                <a:gd name="connsiteX6" fmla="*/ 8634973 w 8747827"/>
                <a:gd name="connsiteY6" fmla="*/ 825765 h 3879153"/>
                <a:gd name="connsiteX7" fmla="*/ 5301223 w 8747827"/>
                <a:gd name="connsiteY7" fmla="*/ 263790 h 3879153"/>
                <a:gd name="connsiteX8" fmla="*/ 4262998 w 8747827"/>
                <a:gd name="connsiteY8" fmla="*/ 44715 h 3879153"/>
                <a:gd name="connsiteX9" fmla="*/ 4131553 w 8747827"/>
                <a:gd name="connsiteY9" fmla="*/ 900 h 3879153"/>
                <a:gd name="connsiteX0" fmla="*/ 3981058 w 8747827"/>
                <a:gd name="connsiteY0" fmla="*/ 73290 h 3879153"/>
                <a:gd name="connsiteX1" fmla="*/ 3167623 w 8747827"/>
                <a:gd name="connsiteY1" fmla="*/ 197115 h 3879153"/>
                <a:gd name="connsiteX2" fmla="*/ 329173 w 8747827"/>
                <a:gd name="connsiteY2" fmla="*/ 682890 h 3879153"/>
                <a:gd name="connsiteX3" fmla="*/ 338698 w 8747827"/>
                <a:gd name="connsiteY3" fmla="*/ 2597415 h 3879153"/>
                <a:gd name="connsiteX4" fmla="*/ 2834248 w 8747827"/>
                <a:gd name="connsiteY4" fmla="*/ 3597540 h 3879153"/>
                <a:gd name="connsiteX5" fmla="*/ 7482448 w 8747827"/>
                <a:gd name="connsiteY5" fmla="*/ 3645165 h 3879153"/>
                <a:gd name="connsiteX6" fmla="*/ 8634973 w 8747827"/>
                <a:gd name="connsiteY6" fmla="*/ 825765 h 3879153"/>
                <a:gd name="connsiteX7" fmla="*/ 5301223 w 8747827"/>
                <a:gd name="connsiteY7" fmla="*/ 263790 h 3879153"/>
                <a:gd name="connsiteX8" fmla="*/ 4262998 w 8747827"/>
                <a:gd name="connsiteY8" fmla="*/ 44715 h 3879153"/>
                <a:gd name="connsiteX9" fmla="*/ 4131553 w 8747827"/>
                <a:gd name="connsiteY9" fmla="*/ 900 h 3879153"/>
                <a:gd name="connsiteX0" fmla="*/ 3981058 w 8747827"/>
                <a:gd name="connsiteY0" fmla="*/ 72689 h 3878552"/>
                <a:gd name="connsiteX1" fmla="*/ 3167623 w 8747827"/>
                <a:gd name="connsiteY1" fmla="*/ 196514 h 3878552"/>
                <a:gd name="connsiteX2" fmla="*/ 329173 w 8747827"/>
                <a:gd name="connsiteY2" fmla="*/ 682289 h 3878552"/>
                <a:gd name="connsiteX3" fmla="*/ 338698 w 8747827"/>
                <a:gd name="connsiteY3" fmla="*/ 2596814 h 3878552"/>
                <a:gd name="connsiteX4" fmla="*/ 2834248 w 8747827"/>
                <a:gd name="connsiteY4" fmla="*/ 3596939 h 3878552"/>
                <a:gd name="connsiteX5" fmla="*/ 7482448 w 8747827"/>
                <a:gd name="connsiteY5" fmla="*/ 3644564 h 3878552"/>
                <a:gd name="connsiteX6" fmla="*/ 8634973 w 8747827"/>
                <a:gd name="connsiteY6" fmla="*/ 825164 h 3878552"/>
                <a:gd name="connsiteX7" fmla="*/ 5301223 w 8747827"/>
                <a:gd name="connsiteY7" fmla="*/ 263189 h 3878552"/>
                <a:gd name="connsiteX8" fmla="*/ 4304908 w 8747827"/>
                <a:gd name="connsiteY8" fmla="*/ 63164 h 3878552"/>
                <a:gd name="connsiteX9" fmla="*/ 4131553 w 8747827"/>
                <a:gd name="connsiteY9" fmla="*/ 299 h 3878552"/>
                <a:gd name="connsiteX0" fmla="*/ 3981058 w 8747827"/>
                <a:gd name="connsiteY0" fmla="*/ 75718 h 3881581"/>
                <a:gd name="connsiteX1" fmla="*/ 3167623 w 8747827"/>
                <a:gd name="connsiteY1" fmla="*/ 199543 h 3881581"/>
                <a:gd name="connsiteX2" fmla="*/ 329173 w 8747827"/>
                <a:gd name="connsiteY2" fmla="*/ 685318 h 3881581"/>
                <a:gd name="connsiteX3" fmla="*/ 338698 w 8747827"/>
                <a:gd name="connsiteY3" fmla="*/ 2599843 h 3881581"/>
                <a:gd name="connsiteX4" fmla="*/ 2834248 w 8747827"/>
                <a:gd name="connsiteY4" fmla="*/ 3599968 h 3881581"/>
                <a:gd name="connsiteX5" fmla="*/ 7482448 w 8747827"/>
                <a:gd name="connsiteY5" fmla="*/ 3647593 h 3881581"/>
                <a:gd name="connsiteX6" fmla="*/ 8634973 w 8747827"/>
                <a:gd name="connsiteY6" fmla="*/ 828193 h 3881581"/>
                <a:gd name="connsiteX7" fmla="*/ 5301223 w 8747827"/>
                <a:gd name="connsiteY7" fmla="*/ 266218 h 3881581"/>
                <a:gd name="connsiteX8" fmla="*/ 4304908 w 8747827"/>
                <a:gd name="connsiteY8" fmla="*/ 66193 h 3881581"/>
                <a:gd name="connsiteX9" fmla="*/ 4131553 w 8747827"/>
                <a:gd name="connsiteY9" fmla="*/ 3328 h 3881581"/>
                <a:gd name="connsiteX0" fmla="*/ 3981058 w 8747827"/>
                <a:gd name="connsiteY0" fmla="*/ 75718 h 3881581"/>
                <a:gd name="connsiteX1" fmla="*/ 3167623 w 8747827"/>
                <a:gd name="connsiteY1" fmla="*/ 199543 h 3881581"/>
                <a:gd name="connsiteX2" fmla="*/ 329173 w 8747827"/>
                <a:gd name="connsiteY2" fmla="*/ 685318 h 3881581"/>
                <a:gd name="connsiteX3" fmla="*/ 338698 w 8747827"/>
                <a:gd name="connsiteY3" fmla="*/ 2599843 h 3881581"/>
                <a:gd name="connsiteX4" fmla="*/ 2834248 w 8747827"/>
                <a:gd name="connsiteY4" fmla="*/ 3599968 h 3881581"/>
                <a:gd name="connsiteX5" fmla="*/ 7482448 w 8747827"/>
                <a:gd name="connsiteY5" fmla="*/ 3647593 h 3881581"/>
                <a:gd name="connsiteX6" fmla="*/ 8634973 w 8747827"/>
                <a:gd name="connsiteY6" fmla="*/ 828193 h 3881581"/>
                <a:gd name="connsiteX7" fmla="*/ 5301223 w 8747827"/>
                <a:gd name="connsiteY7" fmla="*/ 266218 h 3881581"/>
                <a:gd name="connsiteX8" fmla="*/ 4304908 w 8747827"/>
                <a:gd name="connsiteY8" fmla="*/ 66193 h 3881581"/>
                <a:gd name="connsiteX9" fmla="*/ 4131553 w 8747827"/>
                <a:gd name="connsiteY9" fmla="*/ 3328 h 3881581"/>
                <a:gd name="connsiteX0" fmla="*/ 3981058 w 8747827"/>
                <a:gd name="connsiteY0" fmla="*/ 75718 h 3881581"/>
                <a:gd name="connsiteX1" fmla="*/ 3167623 w 8747827"/>
                <a:gd name="connsiteY1" fmla="*/ 199543 h 3881581"/>
                <a:gd name="connsiteX2" fmla="*/ 329173 w 8747827"/>
                <a:gd name="connsiteY2" fmla="*/ 685318 h 3881581"/>
                <a:gd name="connsiteX3" fmla="*/ 338698 w 8747827"/>
                <a:gd name="connsiteY3" fmla="*/ 2599843 h 3881581"/>
                <a:gd name="connsiteX4" fmla="*/ 2834248 w 8747827"/>
                <a:gd name="connsiteY4" fmla="*/ 3599968 h 3881581"/>
                <a:gd name="connsiteX5" fmla="*/ 7482448 w 8747827"/>
                <a:gd name="connsiteY5" fmla="*/ 3647593 h 3881581"/>
                <a:gd name="connsiteX6" fmla="*/ 8634973 w 8747827"/>
                <a:gd name="connsiteY6" fmla="*/ 828193 h 3881581"/>
                <a:gd name="connsiteX7" fmla="*/ 5301223 w 8747827"/>
                <a:gd name="connsiteY7" fmla="*/ 266218 h 3881581"/>
                <a:gd name="connsiteX8" fmla="*/ 4304908 w 8747827"/>
                <a:gd name="connsiteY8" fmla="*/ 66193 h 3881581"/>
                <a:gd name="connsiteX9" fmla="*/ 4131553 w 8747827"/>
                <a:gd name="connsiteY9" fmla="*/ 3328 h 3881581"/>
                <a:gd name="connsiteX0" fmla="*/ 4299209 w 9065978"/>
                <a:gd name="connsiteY0" fmla="*/ 75718 h 3871220"/>
                <a:gd name="connsiteX1" fmla="*/ 3485774 w 9065978"/>
                <a:gd name="connsiteY1" fmla="*/ 199543 h 3871220"/>
                <a:gd name="connsiteX2" fmla="*/ 647324 w 9065978"/>
                <a:gd name="connsiteY2" fmla="*/ 685318 h 3871220"/>
                <a:gd name="connsiteX3" fmla="*/ 189489 w 9065978"/>
                <a:gd name="connsiteY3" fmla="*/ 2843683 h 3871220"/>
                <a:gd name="connsiteX4" fmla="*/ 3152399 w 9065978"/>
                <a:gd name="connsiteY4" fmla="*/ 3599968 h 3871220"/>
                <a:gd name="connsiteX5" fmla="*/ 7800599 w 9065978"/>
                <a:gd name="connsiteY5" fmla="*/ 3647593 h 3871220"/>
                <a:gd name="connsiteX6" fmla="*/ 8953124 w 9065978"/>
                <a:gd name="connsiteY6" fmla="*/ 828193 h 3871220"/>
                <a:gd name="connsiteX7" fmla="*/ 5619374 w 9065978"/>
                <a:gd name="connsiteY7" fmla="*/ 266218 h 3871220"/>
                <a:gd name="connsiteX8" fmla="*/ 4623059 w 9065978"/>
                <a:gd name="connsiteY8" fmla="*/ 66193 h 3871220"/>
                <a:gd name="connsiteX9" fmla="*/ 4449704 w 9065978"/>
                <a:gd name="connsiteY9" fmla="*/ 3328 h 3871220"/>
                <a:gd name="connsiteX0" fmla="*/ 4299209 w 9442771"/>
                <a:gd name="connsiteY0" fmla="*/ 75718 h 3941669"/>
                <a:gd name="connsiteX1" fmla="*/ 3485774 w 9442771"/>
                <a:gd name="connsiteY1" fmla="*/ 199543 h 3941669"/>
                <a:gd name="connsiteX2" fmla="*/ 647324 w 9442771"/>
                <a:gd name="connsiteY2" fmla="*/ 685318 h 3941669"/>
                <a:gd name="connsiteX3" fmla="*/ 189489 w 9442771"/>
                <a:gd name="connsiteY3" fmla="*/ 2843683 h 3941669"/>
                <a:gd name="connsiteX4" fmla="*/ 3152399 w 9442771"/>
                <a:gd name="connsiteY4" fmla="*/ 3599968 h 3941669"/>
                <a:gd name="connsiteX5" fmla="*/ 8806439 w 9442771"/>
                <a:gd name="connsiteY5" fmla="*/ 3739033 h 3941669"/>
                <a:gd name="connsiteX6" fmla="*/ 8953124 w 9442771"/>
                <a:gd name="connsiteY6" fmla="*/ 828193 h 3941669"/>
                <a:gd name="connsiteX7" fmla="*/ 5619374 w 9442771"/>
                <a:gd name="connsiteY7" fmla="*/ 266218 h 3941669"/>
                <a:gd name="connsiteX8" fmla="*/ 4623059 w 9442771"/>
                <a:gd name="connsiteY8" fmla="*/ 66193 h 3941669"/>
                <a:gd name="connsiteX9" fmla="*/ 4449704 w 9442771"/>
                <a:gd name="connsiteY9" fmla="*/ 3328 h 3941669"/>
                <a:gd name="connsiteX0" fmla="*/ 4299209 w 9643812"/>
                <a:gd name="connsiteY0" fmla="*/ 75718 h 3940165"/>
                <a:gd name="connsiteX1" fmla="*/ 3485774 w 9643812"/>
                <a:gd name="connsiteY1" fmla="*/ 199543 h 3940165"/>
                <a:gd name="connsiteX2" fmla="*/ 647324 w 9643812"/>
                <a:gd name="connsiteY2" fmla="*/ 685318 h 3940165"/>
                <a:gd name="connsiteX3" fmla="*/ 189489 w 9643812"/>
                <a:gd name="connsiteY3" fmla="*/ 2843683 h 3940165"/>
                <a:gd name="connsiteX4" fmla="*/ 3152399 w 9643812"/>
                <a:gd name="connsiteY4" fmla="*/ 3599968 h 3940165"/>
                <a:gd name="connsiteX5" fmla="*/ 8806439 w 9643812"/>
                <a:gd name="connsiteY5" fmla="*/ 3739033 h 3940165"/>
                <a:gd name="connsiteX6" fmla="*/ 9288404 w 9643812"/>
                <a:gd name="connsiteY6" fmla="*/ 848513 h 3940165"/>
                <a:gd name="connsiteX7" fmla="*/ 5619374 w 9643812"/>
                <a:gd name="connsiteY7" fmla="*/ 266218 h 3940165"/>
                <a:gd name="connsiteX8" fmla="*/ 4623059 w 9643812"/>
                <a:gd name="connsiteY8" fmla="*/ 66193 h 3940165"/>
                <a:gd name="connsiteX9" fmla="*/ 4449704 w 9643812"/>
                <a:gd name="connsiteY9" fmla="*/ 3328 h 3940165"/>
                <a:gd name="connsiteX0" fmla="*/ 4445001 w 9789604"/>
                <a:gd name="connsiteY0" fmla="*/ 75718 h 3940165"/>
                <a:gd name="connsiteX1" fmla="*/ 3631566 w 9789604"/>
                <a:gd name="connsiteY1" fmla="*/ 199543 h 3940165"/>
                <a:gd name="connsiteX2" fmla="*/ 437516 w 9789604"/>
                <a:gd name="connsiteY2" fmla="*/ 725958 h 3940165"/>
                <a:gd name="connsiteX3" fmla="*/ 335281 w 9789604"/>
                <a:gd name="connsiteY3" fmla="*/ 2843683 h 3940165"/>
                <a:gd name="connsiteX4" fmla="*/ 3298191 w 9789604"/>
                <a:gd name="connsiteY4" fmla="*/ 3599968 h 3940165"/>
                <a:gd name="connsiteX5" fmla="*/ 8952231 w 9789604"/>
                <a:gd name="connsiteY5" fmla="*/ 3739033 h 3940165"/>
                <a:gd name="connsiteX6" fmla="*/ 9434196 w 9789604"/>
                <a:gd name="connsiteY6" fmla="*/ 848513 h 3940165"/>
                <a:gd name="connsiteX7" fmla="*/ 5765166 w 9789604"/>
                <a:gd name="connsiteY7" fmla="*/ 266218 h 3940165"/>
                <a:gd name="connsiteX8" fmla="*/ 4768851 w 9789604"/>
                <a:gd name="connsiteY8" fmla="*/ 66193 h 3940165"/>
                <a:gd name="connsiteX9" fmla="*/ 4595496 w 9789604"/>
                <a:gd name="connsiteY9" fmla="*/ 3328 h 3940165"/>
                <a:gd name="connsiteX0" fmla="*/ 4339426 w 9684029"/>
                <a:gd name="connsiteY0" fmla="*/ 75718 h 3929881"/>
                <a:gd name="connsiteX1" fmla="*/ 3525991 w 9684029"/>
                <a:gd name="connsiteY1" fmla="*/ 199543 h 3929881"/>
                <a:gd name="connsiteX2" fmla="*/ 331941 w 9684029"/>
                <a:gd name="connsiteY2" fmla="*/ 725958 h 3929881"/>
                <a:gd name="connsiteX3" fmla="*/ 422746 w 9684029"/>
                <a:gd name="connsiteY3" fmla="*/ 3148483 h 3929881"/>
                <a:gd name="connsiteX4" fmla="*/ 3192616 w 9684029"/>
                <a:gd name="connsiteY4" fmla="*/ 3599968 h 3929881"/>
                <a:gd name="connsiteX5" fmla="*/ 8846656 w 9684029"/>
                <a:gd name="connsiteY5" fmla="*/ 3739033 h 3929881"/>
                <a:gd name="connsiteX6" fmla="*/ 9328621 w 9684029"/>
                <a:gd name="connsiteY6" fmla="*/ 848513 h 3929881"/>
                <a:gd name="connsiteX7" fmla="*/ 5659591 w 9684029"/>
                <a:gd name="connsiteY7" fmla="*/ 266218 h 3929881"/>
                <a:gd name="connsiteX8" fmla="*/ 4663276 w 9684029"/>
                <a:gd name="connsiteY8" fmla="*/ 66193 h 3929881"/>
                <a:gd name="connsiteX9" fmla="*/ 4489921 w 9684029"/>
                <a:gd name="connsiteY9" fmla="*/ 3328 h 3929881"/>
                <a:gd name="connsiteX0" fmla="*/ 4409795 w 9696891"/>
                <a:gd name="connsiteY0" fmla="*/ 75718 h 4090229"/>
                <a:gd name="connsiteX1" fmla="*/ 3596360 w 9696891"/>
                <a:gd name="connsiteY1" fmla="*/ 199543 h 4090229"/>
                <a:gd name="connsiteX2" fmla="*/ 402310 w 9696891"/>
                <a:gd name="connsiteY2" fmla="*/ 725958 h 4090229"/>
                <a:gd name="connsiteX3" fmla="*/ 493115 w 9696891"/>
                <a:gd name="connsiteY3" fmla="*/ 3148483 h 4090229"/>
                <a:gd name="connsiteX4" fmla="*/ 4461865 w 9696891"/>
                <a:gd name="connsiteY4" fmla="*/ 3975888 h 4090229"/>
                <a:gd name="connsiteX5" fmla="*/ 8917025 w 9696891"/>
                <a:gd name="connsiteY5" fmla="*/ 3739033 h 4090229"/>
                <a:gd name="connsiteX6" fmla="*/ 9398990 w 9696891"/>
                <a:gd name="connsiteY6" fmla="*/ 848513 h 4090229"/>
                <a:gd name="connsiteX7" fmla="*/ 5729960 w 9696891"/>
                <a:gd name="connsiteY7" fmla="*/ 266218 h 4090229"/>
                <a:gd name="connsiteX8" fmla="*/ 4733645 w 9696891"/>
                <a:gd name="connsiteY8" fmla="*/ 66193 h 4090229"/>
                <a:gd name="connsiteX9" fmla="*/ 4560290 w 9696891"/>
                <a:gd name="connsiteY9" fmla="*/ 3328 h 4090229"/>
                <a:gd name="connsiteX0" fmla="*/ 4409795 w 9865821"/>
                <a:gd name="connsiteY0" fmla="*/ 75718 h 4008088"/>
                <a:gd name="connsiteX1" fmla="*/ 3596360 w 9865821"/>
                <a:gd name="connsiteY1" fmla="*/ 199543 h 4008088"/>
                <a:gd name="connsiteX2" fmla="*/ 402310 w 9865821"/>
                <a:gd name="connsiteY2" fmla="*/ 725958 h 4008088"/>
                <a:gd name="connsiteX3" fmla="*/ 493115 w 9865821"/>
                <a:gd name="connsiteY3" fmla="*/ 3148483 h 4008088"/>
                <a:gd name="connsiteX4" fmla="*/ 4461865 w 9865821"/>
                <a:gd name="connsiteY4" fmla="*/ 3975888 h 4008088"/>
                <a:gd name="connsiteX5" fmla="*/ 9272625 w 9865821"/>
                <a:gd name="connsiteY5" fmla="*/ 3535833 h 4008088"/>
                <a:gd name="connsiteX6" fmla="*/ 9398990 w 9865821"/>
                <a:gd name="connsiteY6" fmla="*/ 848513 h 4008088"/>
                <a:gd name="connsiteX7" fmla="*/ 5729960 w 9865821"/>
                <a:gd name="connsiteY7" fmla="*/ 266218 h 4008088"/>
                <a:gd name="connsiteX8" fmla="*/ 4733645 w 9865821"/>
                <a:gd name="connsiteY8" fmla="*/ 66193 h 4008088"/>
                <a:gd name="connsiteX9" fmla="*/ 4560290 w 9865821"/>
                <a:gd name="connsiteY9" fmla="*/ 3328 h 40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5821" h="4008088">
                  <a:moveTo>
                    <a:pt x="4409795" y="75718"/>
                  </a:moveTo>
                  <a:cubicBezTo>
                    <a:pt x="4185481" y="154140"/>
                    <a:pt x="4264274" y="91170"/>
                    <a:pt x="3596360" y="199543"/>
                  </a:cubicBezTo>
                  <a:cubicBezTo>
                    <a:pt x="2928446" y="307916"/>
                    <a:pt x="919517" y="234468"/>
                    <a:pt x="402310" y="725958"/>
                  </a:cubicBezTo>
                  <a:cubicBezTo>
                    <a:pt x="-114897" y="1217448"/>
                    <a:pt x="-183477" y="2606828"/>
                    <a:pt x="493115" y="3148483"/>
                  </a:cubicBezTo>
                  <a:cubicBezTo>
                    <a:pt x="1169707" y="3690138"/>
                    <a:pt x="2998614" y="3911330"/>
                    <a:pt x="4461865" y="3975888"/>
                  </a:cubicBezTo>
                  <a:cubicBezTo>
                    <a:pt x="5925116" y="4040446"/>
                    <a:pt x="8449771" y="4057062"/>
                    <a:pt x="9272625" y="3535833"/>
                  </a:cubicBezTo>
                  <a:cubicBezTo>
                    <a:pt x="10095479" y="3014604"/>
                    <a:pt x="9989434" y="1393449"/>
                    <a:pt x="9398990" y="848513"/>
                  </a:cubicBezTo>
                  <a:cubicBezTo>
                    <a:pt x="8808546" y="303577"/>
                    <a:pt x="6507517" y="396605"/>
                    <a:pt x="5729960" y="266218"/>
                  </a:cubicBezTo>
                  <a:cubicBezTo>
                    <a:pt x="4952403" y="135831"/>
                    <a:pt x="4920970" y="148108"/>
                    <a:pt x="4733645" y="66193"/>
                  </a:cubicBezTo>
                  <a:cubicBezTo>
                    <a:pt x="4546320" y="-15722"/>
                    <a:pt x="4607121" y="153"/>
                    <a:pt x="4560290" y="3328"/>
                  </a:cubicBezTo>
                </a:path>
              </a:pathLst>
            </a:custGeom>
            <a:gradFill flip="none" rotWithShape="1">
              <a:gsLst>
                <a:gs pos="0">
                  <a:srgbClr val="A4EBFF"/>
                </a:gs>
                <a:gs pos="30000">
                  <a:srgbClr val="CCFFFF">
                    <a:alpha val="68000"/>
                  </a:srgbClr>
                </a:gs>
                <a:gs pos="100000">
                  <a:schemeClr val="bg1">
                    <a:alpha val="7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ight Arrow 18"/>
          <p:cNvSpPr/>
          <p:nvPr/>
        </p:nvSpPr>
        <p:spPr>
          <a:xfrm>
            <a:off x="35496" y="4924317"/>
            <a:ext cx="9145016" cy="1449288"/>
          </a:xfrm>
          <a:prstGeom prst="rightArrow">
            <a:avLst>
              <a:gd name="adj1" fmla="val 50000"/>
              <a:gd name="adj2" fmla="val 54601"/>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3" name="TextBox 2"/>
          <p:cNvSpPr txBox="1"/>
          <p:nvPr/>
        </p:nvSpPr>
        <p:spPr>
          <a:xfrm>
            <a:off x="1847700" y="3807074"/>
            <a:ext cx="2105100" cy="1477328"/>
          </a:xfrm>
          <a:prstGeom prst="rect">
            <a:avLst/>
          </a:prstGeom>
          <a:noFill/>
        </p:spPr>
        <p:txBody>
          <a:bodyPr wrap="square" rtlCol="0">
            <a:spAutoFit/>
          </a:bodyPr>
          <a:lstStyle/>
          <a:p>
            <a:pPr algn="ctr"/>
            <a:r>
              <a:rPr lang="en-US" dirty="0"/>
              <a:t>Harmonization,</a:t>
            </a:r>
            <a:br>
              <a:rPr lang="en-US" dirty="0"/>
            </a:br>
            <a:r>
              <a:rPr lang="en-US" dirty="0"/>
              <a:t> Quality Assessment, </a:t>
            </a:r>
            <a:br>
              <a:rPr lang="en-US" dirty="0"/>
            </a:br>
            <a:r>
              <a:rPr lang="en-US" dirty="0"/>
              <a:t>Ranking,</a:t>
            </a:r>
            <a:br>
              <a:rPr lang="en-US" dirty="0"/>
            </a:br>
            <a:r>
              <a:rPr lang="en-US" dirty="0"/>
              <a:t> Enrichment</a:t>
            </a:r>
          </a:p>
        </p:txBody>
      </p:sp>
      <p:sp>
        <p:nvSpPr>
          <p:cNvPr id="34" name="TextBox 5"/>
          <p:cNvSpPr txBox="1"/>
          <p:nvPr/>
        </p:nvSpPr>
        <p:spPr>
          <a:xfrm>
            <a:off x="208087" y="3840982"/>
            <a:ext cx="1368152" cy="1200329"/>
          </a:xfrm>
          <a:prstGeom prst="rect">
            <a:avLst/>
          </a:prstGeom>
          <a:noFill/>
        </p:spPr>
        <p:txBody>
          <a:bodyPr wrap="square" rtlCol="0">
            <a:spAutoFit/>
          </a:bodyPr>
          <a:lstStyle/>
          <a:p>
            <a:pPr algn="ctr"/>
            <a:r>
              <a:rPr lang="en-US" dirty="0"/>
              <a:t>Sourcing</a:t>
            </a:r>
          </a:p>
          <a:p>
            <a:pPr algn="ctr"/>
            <a:endParaRPr lang="en-US" dirty="0"/>
          </a:p>
          <a:p>
            <a:pPr algn="ctr"/>
            <a:r>
              <a:rPr lang="en-US" dirty="0"/>
              <a:t>Quality Check</a:t>
            </a:r>
          </a:p>
        </p:txBody>
      </p:sp>
      <p:sp>
        <p:nvSpPr>
          <p:cNvPr id="35" name="TextBox 6"/>
          <p:cNvSpPr txBox="1"/>
          <p:nvPr/>
        </p:nvSpPr>
        <p:spPr>
          <a:xfrm>
            <a:off x="3851920" y="3807073"/>
            <a:ext cx="1728192" cy="1200329"/>
          </a:xfrm>
          <a:prstGeom prst="rect">
            <a:avLst/>
          </a:prstGeom>
          <a:noFill/>
        </p:spPr>
        <p:txBody>
          <a:bodyPr wrap="square" rtlCol="0">
            <a:spAutoFit/>
          </a:bodyPr>
          <a:lstStyle/>
          <a:p>
            <a:pPr algn="ctr"/>
            <a:r>
              <a:rPr lang="en-US" dirty="0"/>
              <a:t>Warehousing</a:t>
            </a:r>
          </a:p>
          <a:p>
            <a:pPr algn="ctr"/>
            <a:endParaRPr lang="en-US" dirty="0"/>
          </a:p>
          <a:p>
            <a:pPr algn="ctr"/>
            <a:endParaRPr lang="en-US" dirty="0"/>
          </a:p>
          <a:p>
            <a:pPr algn="ctr"/>
            <a:r>
              <a:rPr lang="en-US" dirty="0"/>
              <a:t>Transformation</a:t>
            </a:r>
          </a:p>
        </p:txBody>
      </p:sp>
      <p:sp>
        <p:nvSpPr>
          <p:cNvPr id="36" name="TextBox 7"/>
          <p:cNvSpPr txBox="1"/>
          <p:nvPr/>
        </p:nvSpPr>
        <p:spPr>
          <a:xfrm>
            <a:off x="5727836" y="3790836"/>
            <a:ext cx="1728192" cy="1477328"/>
          </a:xfrm>
          <a:prstGeom prst="rect">
            <a:avLst/>
          </a:prstGeom>
          <a:noFill/>
        </p:spPr>
        <p:txBody>
          <a:bodyPr wrap="square" rtlCol="0">
            <a:spAutoFit/>
          </a:bodyPr>
          <a:lstStyle/>
          <a:p>
            <a:pPr algn="ctr"/>
            <a:r>
              <a:rPr lang="en-US" dirty="0"/>
              <a:t>Distribution</a:t>
            </a:r>
          </a:p>
          <a:p>
            <a:pPr algn="ctr"/>
            <a:endParaRPr lang="en-US" dirty="0"/>
          </a:p>
          <a:p>
            <a:pPr algn="ctr"/>
            <a:r>
              <a:rPr lang="en-US" dirty="0"/>
              <a:t>Retailing,</a:t>
            </a:r>
          </a:p>
          <a:p>
            <a:pPr algn="ctr"/>
            <a:r>
              <a:rPr lang="en-US" dirty="0"/>
              <a:t>Corporate selling</a:t>
            </a:r>
          </a:p>
        </p:txBody>
      </p:sp>
      <p:sp>
        <p:nvSpPr>
          <p:cNvPr id="37" name="TextBox 8"/>
          <p:cNvSpPr txBox="1"/>
          <p:nvPr/>
        </p:nvSpPr>
        <p:spPr>
          <a:xfrm>
            <a:off x="7164288" y="3810495"/>
            <a:ext cx="1728192" cy="923330"/>
          </a:xfrm>
          <a:prstGeom prst="rect">
            <a:avLst/>
          </a:prstGeom>
          <a:noFill/>
        </p:spPr>
        <p:txBody>
          <a:bodyPr wrap="square" rtlCol="0">
            <a:spAutoFit/>
          </a:bodyPr>
          <a:lstStyle/>
          <a:p>
            <a:pPr algn="ctr"/>
            <a:r>
              <a:rPr lang="en-US" dirty="0"/>
              <a:t>Users uptake</a:t>
            </a:r>
          </a:p>
          <a:p>
            <a:pPr algn="ctr"/>
            <a:endParaRPr lang="en-US" dirty="0"/>
          </a:p>
          <a:p>
            <a:pPr algn="ctr"/>
            <a:r>
              <a:rPr lang="en-US" dirty="0"/>
              <a:t>Feedbacks</a:t>
            </a:r>
          </a:p>
        </p:txBody>
      </p:sp>
      <p:sp>
        <p:nvSpPr>
          <p:cNvPr id="38" name="Rounded Rectangle 3"/>
          <p:cNvSpPr/>
          <p:nvPr/>
        </p:nvSpPr>
        <p:spPr>
          <a:xfrm>
            <a:off x="171450" y="2404037"/>
            <a:ext cx="1472230" cy="3816424"/>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10"/>
          <p:cNvSpPr/>
          <p:nvPr/>
        </p:nvSpPr>
        <p:spPr>
          <a:xfrm>
            <a:off x="1787696" y="2413165"/>
            <a:ext cx="3792416" cy="3816424"/>
          </a:xfrm>
          <a:prstGeom prst="roundRect">
            <a:avLst>
              <a:gd name="adj" fmla="val 5114"/>
            </a:avLst>
          </a:prstGeom>
          <a:no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11"/>
          <p:cNvSpPr/>
          <p:nvPr/>
        </p:nvSpPr>
        <p:spPr>
          <a:xfrm>
            <a:off x="5724128" y="2404037"/>
            <a:ext cx="3096344" cy="3816424"/>
          </a:xfrm>
          <a:prstGeom prst="roundRect">
            <a:avLst>
              <a:gd name="adj" fmla="val 5114"/>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15"/>
          <p:cNvSpPr txBox="1"/>
          <p:nvPr/>
        </p:nvSpPr>
        <p:spPr>
          <a:xfrm>
            <a:off x="303986" y="5481632"/>
            <a:ext cx="1232132" cy="369332"/>
          </a:xfrm>
          <a:prstGeom prst="rect">
            <a:avLst/>
          </a:prstGeom>
          <a:noFill/>
        </p:spPr>
        <p:txBody>
          <a:bodyPr wrap="none" rtlCol="0">
            <a:spAutoFit/>
          </a:bodyPr>
          <a:lstStyle/>
          <a:p>
            <a:r>
              <a:rPr lang="en-US" dirty="0">
                <a:ln w="0"/>
                <a:solidFill>
                  <a:srgbClr val="385D8A"/>
                </a:solidFill>
                <a:effectLst>
                  <a:outerShdw blurRad="38100" dist="25400" dir="5400000" algn="ctr" rotWithShape="0">
                    <a:srgbClr val="6E747A">
                      <a:alpha val="43000"/>
                    </a:srgbClr>
                  </a:outerShdw>
                </a:effectLst>
              </a:rPr>
              <a:t>UPSTREAM</a:t>
            </a:r>
            <a:endParaRPr lang="en-US" dirty="0">
              <a:solidFill>
                <a:srgbClr val="385D8A"/>
              </a:solidFill>
            </a:endParaRPr>
          </a:p>
        </p:txBody>
      </p:sp>
      <p:sp>
        <p:nvSpPr>
          <p:cNvPr id="42" name="TextBox 16"/>
          <p:cNvSpPr txBox="1"/>
          <p:nvPr/>
        </p:nvSpPr>
        <p:spPr>
          <a:xfrm>
            <a:off x="3067838" y="5494380"/>
            <a:ext cx="1363578" cy="369332"/>
          </a:xfrm>
          <a:prstGeom prst="rect">
            <a:avLst/>
          </a:prstGeom>
          <a:noFill/>
        </p:spPr>
        <p:txBody>
          <a:bodyPr wrap="none" rtlCol="0">
            <a:spAutoFit/>
          </a:bodyPr>
          <a:lstStyle/>
          <a:p>
            <a:r>
              <a:rPr lang="en-US" dirty="0">
                <a:ln w="0"/>
                <a:solidFill>
                  <a:srgbClr val="77933C"/>
                </a:solidFill>
                <a:effectLst>
                  <a:outerShdw blurRad="38100" dist="25400" dir="5400000" algn="ctr" rotWithShape="0">
                    <a:srgbClr val="6E747A">
                      <a:alpha val="43000"/>
                    </a:srgbClr>
                  </a:outerShdw>
                </a:effectLst>
              </a:rPr>
              <a:t>MIDSTREAM</a:t>
            </a:r>
            <a:endParaRPr lang="en-US" dirty="0">
              <a:solidFill>
                <a:srgbClr val="77933C"/>
              </a:solidFill>
            </a:endParaRPr>
          </a:p>
        </p:txBody>
      </p:sp>
      <p:sp>
        <p:nvSpPr>
          <p:cNvPr id="43" name="TextBox 17"/>
          <p:cNvSpPr txBox="1"/>
          <p:nvPr/>
        </p:nvSpPr>
        <p:spPr>
          <a:xfrm>
            <a:off x="6516216" y="5459568"/>
            <a:ext cx="1612749" cy="369332"/>
          </a:xfrm>
          <a:prstGeom prst="rect">
            <a:avLst/>
          </a:prstGeom>
          <a:noFill/>
        </p:spPr>
        <p:txBody>
          <a:bodyPr wrap="none" rtlCol="0">
            <a:spAutoFit/>
          </a:bodyPr>
          <a:lstStyle/>
          <a:p>
            <a:r>
              <a:rPr lang="en-US" dirty="0">
                <a:ln w="0"/>
                <a:solidFill>
                  <a:srgbClr val="E46C0A"/>
                </a:solidFill>
                <a:effectLst>
                  <a:outerShdw blurRad="38100" dist="25400" dir="5400000" algn="ctr" rotWithShape="0">
                    <a:srgbClr val="6E747A">
                      <a:alpha val="43000"/>
                    </a:srgbClr>
                  </a:outerShdw>
                </a:effectLst>
              </a:rPr>
              <a:t>DOWNSTREAM</a:t>
            </a:r>
            <a:endParaRPr lang="en-US" dirty="0">
              <a:solidFill>
                <a:srgbClr val="E46C0A"/>
              </a:solidFill>
            </a:endParaRPr>
          </a:p>
        </p:txBody>
      </p:sp>
      <p:sp>
        <p:nvSpPr>
          <p:cNvPr id="44" name="Rounded Rectangle 19"/>
          <p:cNvSpPr/>
          <p:nvPr/>
        </p:nvSpPr>
        <p:spPr>
          <a:xfrm>
            <a:off x="275528" y="6079496"/>
            <a:ext cx="1512168"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Resource Providers</a:t>
            </a:r>
          </a:p>
        </p:txBody>
      </p:sp>
      <p:sp>
        <p:nvSpPr>
          <p:cNvPr id="45" name="Rounded Rectangle 20"/>
          <p:cNvSpPr/>
          <p:nvPr/>
        </p:nvSpPr>
        <p:spPr>
          <a:xfrm>
            <a:off x="2699792" y="6083322"/>
            <a:ext cx="2160240" cy="57606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Interoperability Platform</a:t>
            </a:r>
          </a:p>
        </p:txBody>
      </p:sp>
      <p:sp>
        <p:nvSpPr>
          <p:cNvPr id="46" name="Rounded Rectangle 21"/>
          <p:cNvSpPr/>
          <p:nvPr/>
        </p:nvSpPr>
        <p:spPr>
          <a:xfrm>
            <a:off x="5902443" y="6093296"/>
            <a:ext cx="1477869" cy="57606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Intermediate Users</a:t>
            </a:r>
          </a:p>
        </p:txBody>
      </p:sp>
      <p:sp>
        <p:nvSpPr>
          <p:cNvPr id="47" name="Rounded Rectangle 22"/>
          <p:cNvSpPr/>
          <p:nvPr/>
        </p:nvSpPr>
        <p:spPr>
          <a:xfrm>
            <a:off x="7522623" y="6074510"/>
            <a:ext cx="1153833" cy="57606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Final Users</a:t>
            </a:r>
          </a:p>
        </p:txBody>
      </p:sp>
      <p:pic>
        <p:nvPicPr>
          <p:cNvPr id="48" name="Picture 2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5528" y="2565595"/>
            <a:ext cx="1215717" cy="1056077"/>
          </a:xfrm>
          <a:prstGeom prst="rect">
            <a:avLst/>
          </a:prstGeom>
        </p:spPr>
      </p:pic>
      <p:pic>
        <p:nvPicPr>
          <p:cNvPr id="49" name="Picture 2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50865" y="2601614"/>
            <a:ext cx="3152732" cy="1102175"/>
          </a:xfrm>
          <a:prstGeom prst="rect">
            <a:avLst/>
          </a:prstGeom>
        </p:spPr>
      </p:pic>
      <p:pic>
        <p:nvPicPr>
          <p:cNvPr id="50" name="Picture 2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67466" y="2611943"/>
            <a:ext cx="2889010" cy="1096931"/>
          </a:xfrm>
          <a:prstGeom prst="rect">
            <a:avLst/>
          </a:prstGeom>
        </p:spPr>
      </p:pic>
      <p:pic>
        <p:nvPicPr>
          <p:cNvPr id="51" name="Picture 53"/>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768642" y="1122857"/>
            <a:ext cx="1889668" cy="638422"/>
          </a:xfrm>
          <a:prstGeom prst="rect">
            <a:avLst/>
          </a:prstGeom>
        </p:spPr>
      </p:pic>
    </p:spTree>
    <p:extLst>
      <p:ext uri="{BB962C8B-B14F-4D97-AF65-F5344CB8AC3E}">
        <p14:creationId xmlns:p14="http://schemas.microsoft.com/office/powerpoint/2010/main" val="181833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0-#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0-#ppt_w/2"/>
                                          </p:val>
                                        </p:tav>
                                        <p:tav tm="100000">
                                          <p:val>
                                            <p:strVal val="#ppt_x"/>
                                          </p:val>
                                        </p:tav>
                                      </p:tavLst>
                                    </p:anim>
                                    <p:anim calcmode="lin" valueType="num">
                                      <p:cBhvr additive="base">
                                        <p:cTn id="24" dur="500" fill="hold"/>
                                        <p:tgtEl>
                                          <p:spTgt spid="41"/>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500" fill="hold"/>
                                        <p:tgtEl>
                                          <p:spTgt spid="42"/>
                                        </p:tgtEl>
                                        <p:attrNameLst>
                                          <p:attrName>ppt_x</p:attrName>
                                        </p:attrNameLst>
                                      </p:cBhvr>
                                      <p:tavLst>
                                        <p:tav tm="0">
                                          <p:val>
                                            <p:strVal val="0-#ppt_w/2"/>
                                          </p:val>
                                        </p:tav>
                                        <p:tav tm="100000">
                                          <p:val>
                                            <p:strVal val="#ppt_x"/>
                                          </p:val>
                                        </p:tav>
                                      </p:tavLst>
                                    </p:anim>
                                    <p:anim calcmode="lin" valueType="num">
                                      <p:cBhvr additive="base">
                                        <p:cTn id="28" dur="500" fill="hold"/>
                                        <p:tgtEl>
                                          <p:spTgt spid="4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additive="base">
                                        <p:cTn id="31" dur="500" fill="hold"/>
                                        <p:tgtEl>
                                          <p:spTgt spid="43"/>
                                        </p:tgtEl>
                                        <p:attrNameLst>
                                          <p:attrName>ppt_x</p:attrName>
                                        </p:attrNameLst>
                                      </p:cBhvr>
                                      <p:tavLst>
                                        <p:tav tm="0">
                                          <p:val>
                                            <p:strVal val="0-#ppt_w/2"/>
                                          </p:val>
                                        </p:tav>
                                        <p:tav tm="100000">
                                          <p:val>
                                            <p:strVal val="#ppt_x"/>
                                          </p:val>
                                        </p:tav>
                                      </p:tavLst>
                                    </p:anim>
                                    <p:anim calcmode="lin" valueType="num">
                                      <p:cBhvr additive="base">
                                        <p:cTn id="32" dur="500" fill="hold"/>
                                        <p:tgtEl>
                                          <p:spTgt spid="43"/>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additive="base">
                                        <p:cTn id="36" dur="500" fill="hold"/>
                                        <p:tgtEl>
                                          <p:spTgt spid="34"/>
                                        </p:tgtEl>
                                        <p:attrNameLst>
                                          <p:attrName>ppt_x</p:attrName>
                                        </p:attrNameLst>
                                      </p:cBhvr>
                                      <p:tavLst>
                                        <p:tav tm="0">
                                          <p:val>
                                            <p:strVal val="0-#ppt_w/2"/>
                                          </p:val>
                                        </p:tav>
                                        <p:tav tm="100000">
                                          <p:val>
                                            <p:strVal val="#ppt_x"/>
                                          </p:val>
                                        </p:tav>
                                      </p:tavLst>
                                    </p:anim>
                                    <p:anim calcmode="lin" valueType="num">
                                      <p:cBhvr additive="base">
                                        <p:cTn id="37" dur="500" fill="hold"/>
                                        <p:tgtEl>
                                          <p:spTgt spid="34"/>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500" fill="hold"/>
                                        <p:tgtEl>
                                          <p:spTgt spid="38"/>
                                        </p:tgtEl>
                                        <p:attrNameLst>
                                          <p:attrName>ppt_x</p:attrName>
                                        </p:attrNameLst>
                                      </p:cBhvr>
                                      <p:tavLst>
                                        <p:tav tm="0">
                                          <p:val>
                                            <p:strVal val="0-#ppt_w/2"/>
                                          </p:val>
                                        </p:tav>
                                        <p:tav tm="100000">
                                          <p:val>
                                            <p:strVal val="#ppt_x"/>
                                          </p:val>
                                        </p:tav>
                                      </p:tavLst>
                                    </p:anim>
                                    <p:anim calcmode="lin" valueType="num">
                                      <p:cBhvr additive="base">
                                        <p:cTn id="41" dur="500" fill="hold"/>
                                        <p:tgtEl>
                                          <p:spTgt spid="38"/>
                                        </p:tgtEl>
                                        <p:attrNameLst>
                                          <p:attrName>ppt_y</p:attrName>
                                        </p:attrNameLst>
                                      </p:cBhvr>
                                      <p:tavLst>
                                        <p:tav tm="0">
                                          <p:val>
                                            <p:strVal val="#ppt_y"/>
                                          </p:val>
                                        </p:tav>
                                        <p:tav tm="100000">
                                          <p:val>
                                            <p:strVal val="#ppt_y"/>
                                          </p:val>
                                        </p:tav>
                                      </p:tavLst>
                                    </p:anim>
                                  </p:childTnLst>
                                </p:cTn>
                              </p:par>
                              <p:par>
                                <p:cTn id="42" presetID="2" presetClass="entr" presetSubtype="8" fill="hold" nodeType="withEffect">
                                  <p:stCondLst>
                                    <p:cond delay="0"/>
                                  </p:stCondLst>
                                  <p:childTnLst>
                                    <p:set>
                                      <p:cBhvr>
                                        <p:cTn id="43" dur="1" fill="hold">
                                          <p:stCondLst>
                                            <p:cond delay="0"/>
                                          </p:stCondLst>
                                        </p:cTn>
                                        <p:tgtEl>
                                          <p:spTgt spid="48"/>
                                        </p:tgtEl>
                                        <p:attrNameLst>
                                          <p:attrName>style.visibility</p:attrName>
                                        </p:attrNameLst>
                                      </p:cBhvr>
                                      <p:to>
                                        <p:strVal val="visible"/>
                                      </p:to>
                                    </p:set>
                                    <p:anim calcmode="lin" valueType="num">
                                      <p:cBhvr additive="base">
                                        <p:cTn id="44" dur="500" fill="hold"/>
                                        <p:tgtEl>
                                          <p:spTgt spid="48"/>
                                        </p:tgtEl>
                                        <p:attrNameLst>
                                          <p:attrName>ppt_x</p:attrName>
                                        </p:attrNameLst>
                                      </p:cBhvr>
                                      <p:tavLst>
                                        <p:tav tm="0">
                                          <p:val>
                                            <p:strVal val="0-#ppt_w/2"/>
                                          </p:val>
                                        </p:tav>
                                        <p:tav tm="100000">
                                          <p:val>
                                            <p:strVal val="#ppt_x"/>
                                          </p:val>
                                        </p:tav>
                                      </p:tavLst>
                                    </p:anim>
                                    <p:anim calcmode="lin" valueType="num">
                                      <p:cBhvr additive="base">
                                        <p:cTn id="45" dur="500" fill="hold"/>
                                        <p:tgtEl>
                                          <p:spTgt spid="48"/>
                                        </p:tgtEl>
                                        <p:attrNameLst>
                                          <p:attrName>ppt_y</p:attrName>
                                        </p:attrNameLst>
                                      </p:cBhvr>
                                      <p:tavLst>
                                        <p:tav tm="0">
                                          <p:val>
                                            <p:strVal val="#ppt_y"/>
                                          </p:val>
                                        </p:tav>
                                        <p:tav tm="100000">
                                          <p:val>
                                            <p:strVal val="#ppt_y"/>
                                          </p:val>
                                        </p:tav>
                                      </p:tavLst>
                                    </p:anim>
                                  </p:childTnLst>
                                </p:cTn>
                              </p:par>
                            </p:childTnLst>
                          </p:cTn>
                        </p:par>
                        <p:par>
                          <p:cTn id="46" fill="hold">
                            <p:stCondLst>
                              <p:cond delay="1000"/>
                            </p:stCondLst>
                            <p:childTnLst>
                              <p:par>
                                <p:cTn id="47" presetID="2" presetClass="entr" presetSubtype="8"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additive="base">
                                        <p:cTn id="49" dur="500" fill="hold"/>
                                        <p:tgtEl>
                                          <p:spTgt spid="33"/>
                                        </p:tgtEl>
                                        <p:attrNameLst>
                                          <p:attrName>ppt_x</p:attrName>
                                        </p:attrNameLst>
                                      </p:cBhvr>
                                      <p:tavLst>
                                        <p:tav tm="0">
                                          <p:val>
                                            <p:strVal val="0-#ppt_w/2"/>
                                          </p:val>
                                        </p:tav>
                                        <p:tav tm="100000">
                                          <p:val>
                                            <p:strVal val="#ppt_x"/>
                                          </p:val>
                                        </p:tav>
                                      </p:tavLst>
                                    </p:anim>
                                    <p:anim calcmode="lin" valueType="num">
                                      <p:cBhvr additive="base">
                                        <p:cTn id="50" dur="500" fill="hold"/>
                                        <p:tgtEl>
                                          <p:spTgt spid="33"/>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500" fill="hold"/>
                                        <p:tgtEl>
                                          <p:spTgt spid="35"/>
                                        </p:tgtEl>
                                        <p:attrNameLst>
                                          <p:attrName>ppt_x</p:attrName>
                                        </p:attrNameLst>
                                      </p:cBhvr>
                                      <p:tavLst>
                                        <p:tav tm="0">
                                          <p:val>
                                            <p:strVal val="0-#ppt_w/2"/>
                                          </p:val>
                                        </p:tav>
                                        <p:tav tm="100000">
                                          <p:val>
                                            <p:strVal val="#ppt_x"/>
                                          </p:val>
                                        </p:tav>
                                      </p:tavLst>
                                    </p:anim>
                                    <p:anim calcmode="lin" valueType="num">
                                      <p:cBhvr additive="base">
                                        <p:cTn id="54" dur="500" fill="hold"/>
                                        <p:tgtEl>
                                          <p:spTgt spid="35"/>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additive="base">
                                        <p:cTn id="57" dur="500" fill="hold"/>
                                        <p:tgtEl>
                                          <p:spTgt spid="39"/>
                                        </p:tgtEl>
                                        <p:attrNameLst>
                                          <p:attrName>ppt_x</p:attrName>
                                        </p:attrNameLst>
                                      </p:cBhvr>
                                      <p:tavLst>
                                        <p:tav tm="0">
                                          <p:val>
                                            <p:strVal val="0-#ppt_w/2"/>
                                          </p:val>
                                        </p:tav>
                                        <p:tav tm="100000">
                                          <p:val>
                                            <p:strVal val="#ppt_x"/>
                                          </p:val>
                                        </p:tav>
                                      </p:tavLst>
                                    </p:anim>
                                    <p:anim calcmode="lin" valueType="num">
                                      <p:cBhvr additive="base">
                                        <p:cTn id="58" dur="500" fill="hold"/>
                                        <p:tgtEl>
                                          <p:spTgt spid="39"/>
                                        </p:tgtEl>
                                        <p:attrNameLst>
                                          <p:attrName>ppt_y</p:attrName>
                                        </p:attrNameLst>
                                      </p:cBhvr>
                                      <p:tavLst>
                                        <p:tav tm="0">
                                          <p:val>
                                            <p:strVal val="#ppt_y"/>
                                          </p:val>
                                        </p:tav>
                                        <p:tav tm="100000">
                                          <p:val>
                                            <p:strVal val="#ppt_y"/>
                                          </p:val>
                                        </p:tav>
                                      </p:tavLst>
                                    </p:anim>
                                  </p:childTnLst>
                                </p:cTn>
                              </p:par>
                              <p:par>
                                <p:cTn id="59" presetID="2" presetClass="entr" presetSubtype="8" fill="hold" nodeType="withEffect">
                                  <p:stCondLst>
                                    <p:cond delay="0"/>
                                  </p:stCondLst>
                                  <p:childTnLst>
                                    <p:set>
                                      <p:cBhvr>
                                        <p:cTn id="60" dur="1" fill="hold">
                                          <p:stCondLst>
                                            <p:cond delay="0"/>
                                          </p:stCondLst>
                                        </p:cTn>
                                        <p:tgtEl>
                                          <p:spTgt spid="49"/>
                                        </p:tgtEl>
                                        <p:attrNameLst>
                                          <p:attrName>style.visibility</p:attrName>
                                        </p:attrNameLst>
                                      </p:cBhvr>
                                      <p:to>
                                        <p:strVal val="visible"/>
                                      </p:to>
                                    </p:set>
                                    <p:anim calcmode="lin" valueType="num">
                                      <p:cBhvr additive="base">
                                        <p:cTn id="61" dur="500" fill="hold"/>
                                        <p:tgtEl>
                                          <p:spTgt spid="49"/>
                                        </p:tgtEl>
                                        <p:attrNameLst>
                                          <p:attrName>ppt_x</p:attrName>
                                        </p:attrNameLst>
                                      </p:cBhvr>
                                      <p:tavLst>
                                        <p:tav tm="0">
                                          <p:val>
                                            <p:strVal val="0-#ppt_w/2"/>
                                          </p:val>
                                        </p:tav>
                                        <p:tav tm="100000">
                                          <p:val>
                                            <p:strVal val="#ppt_x"/>
                                          </p:val>
                                        </p:tav>
                                      </p:tavLst>
                                    </p:anim>
                                    <p:anim calcmode="lin" valueType="num">
                                      <p:cBhvr additive="base">
                                        <p:cTn id="62" dur="500" fill="hold"/>
                                        <p:tgtEl>
                                          <p:spTgt spid="49"/>
                                        </p:tgtEl>
                                        <p:attrNameLst>
                                          <p:attrName>ppt_y</p:attrName>
                                        </p:attrNameLst>
                                      </p:cBhvr>
                                      <p:tavLst>
                                        <p:tav tm="0">
                                          <p:val>
                                            <p:strVal val="#ppt_y"/>
                                          </p:val>
                                        </p:tav>
                                        <p:tav tm="100000">
                                          <p:val>
                                            <p:strVal val="#ppt_y"/>
                                          </p:val>
                                        </p:tav>
                                      </p:tavLst>
                                    </p:anim>
                                  </p:childTnLst>
                                </p:cTn>
                              </p:par>
                            </p:childTnLst>
                          </p:cTn>
                        </p:par>
                        <p:par>
                          <p:cTn id="63" fill="hold">
                            <p:stCondLst>
                              <p:cond delay="1500"/>
                            </p:stCondLst>
                            <p:childTnLst>
                              <p:par>
                                <p:cTn id="64" presetID="2" presetClass="entr" presetSubtype="8"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additive="base">
                                        <p:cTn id="66" dur="500" fill="hold"/>
                                        <p:tgtEl>
                                          <p:spTgt spid="36"/>
                                        </p:tgtEl>
                                        <p:attrNameLst>
                                          <p:attrName>ppt_x</p:attrName>
                                        </p:attrNameLst>
                                      </p:cBhvr>
                                      <p:tavLst>
                                        <p:tav tm="0">
                                          <p:val>
                                            <p:strVal val="0-#ppt_w/2"/>
                                          </p:val>
                                        </p:tav>
                                        <p:tav tm="100000">
                                          <p:val>
                                            <p:strVal val="#ppt_x"/>
                                          </p:val>
                                        </p:tav>
                                      </p:tavLst>
                                    </p:anim>
                                    <p:anim calcmode="lin" valueType="num">
                                      <p:cBhvr additive="base">
                                        <p:cTn id="67" dur="500" fill="hold"/>
                                        <p:tgtEl>
                                          <p:spTgt spid="36"/>
                                        </p:tgtEl>
                                        <p:attrNameLst>
                                          <p:attrName>ppt_y</p:attrName>
                                        </p:attrNameLst>
                                      </p:cBhvr>
                                      <p:tavLst>
                                        <p:tav tm="0">
                                          <p:val>
                                            <p:strVal val="#ppt_y"/>
                                          </p:val>
                                        </p:tav>
                                        <p:tav tm="100000">
                                          <p:val>
                                            <p:strVal val="#ppt_y"/>
                                          </p:val>
                                        </p:tav>
                                      </p:tavLst>
                                    </p:anim>
                                  </p:childTnLst>
                                </p:cTn>
                              </p:par>
                              <p:par>
                                <p:cTn id="68" presetID="2" presetClass="entr" presetSubtype="8"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anim calcmode="lin" valueType="num">
                                      <p:cBhvr additive="base">
                                        <p:cTn id="70" dur="500" fill="hold"/>
                                        <p:tgtEl>
                                          <p:spTgt spid="37"/>
                                        </p:tgtEl>
                                        <p:attrNameLst>
                                          <p:attrName>ppt_x</p:attrName>
                                        </p:attrNameLst>
                                      </p:cBhvr>
                                      <p:tavLst>
                                        <p:tav tm="0">
                                          <p:val>
                                            <p:strVal val="0-#ppt_w/2"/>
                                          </p:val>
                                        </p:tav>
                                        <p:tav tm="100000">
                                          <p:val>
                                            <p:strVal val="#ppt_x"/>
                                          </p:val>
                                        </p:tav>
                                      </p:tavLst>
                                    </p:anim>
                                    <p:anim calcmode="lin" valueType="num">
                                      <p:cBhvr additive="base">
                                        <p:cTn id="71" dur="500" fill="hold"/>
                                        <p:tgtEl>
                                          <p:spTgt spid="37"/>
                                        </p:tgtEl>
                                        <p:attrNameLst>
                                          <p:attrName>ppt_y</p:attrName>
                                        </p:attrNameLst>
                                      </p:cBhvr>
                                      <p:tavLst>
                                        <p:tav tm="0">
                                          <p:val>
                                            <p:strVal val="#ppt_y"/>
                                          </p:val>
                                        </p:tav>
                                        <p:tav tm="100000">
                                          <p:val>
                                            <p:strVal val="#ppt_y"/>
                                          </p:val>
                                        </p:tav>
                                      </p:tavLst>
                                    </p:anim>
                                  </p:childTnLst>
                                </p:cTn>
                              </p:par>
                              <p:par>
                                <p:cTn id="72" presetID="2" presetClass="entr" presetSubtype="8"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 calcmode="lin" valueType="num">
                                      <p:cBhvr additive="base">
                                        <p:cTn id="74" dur="500" fill="hold"/>
                                        <p:tgtEl>
                                          <p:spTgt spid="40"/>
                                        </p:tgtEl>
                                        <p:attrNameLst>
                                          <p:attrName>ppt_x</p:attrName>
                                        </p:attrNameLst>
                                      </p:cBhvr>
                                      <p:tavLst>
                                        <p:tav tm="0">
                                          <p:val>
                                            <p:strVal val="0-#ppt_w/2"/>
                                          </p:val>
                                        </p:tav>
                                        <p:tav tm="100000">
                                          <p:val>
                                            <p:strVal val="#ppt_x"/>
                                          </p:val>
                                        </p:tav>
                                      </p:tavLst>
                                    </p:anim>
                                    <p:anim calcmode="lin" valueType="num">
                                      <p:cBhvr additive="base">
                                        <p:cTn id="75" dur="500" fill="hold"/>
                                        <p:tgtEl>
                                          <p:spTgt spid="40"/>
                                        </p:tgtEl>
                                        <p:attrNameLst>
                                          <p:attrName>ppt_y</p:attrName>
                                        </p:attrNameLst>
                                      </p:cBhvr>
                                      <p:tavLst>
                                        <p:tav tm="0">
                                          <p:val>
                                            <p:strVal val="#ppt_y"/>
                                          </p:val>
                                        </p:tav>
                                        <p:tav tm="100000">
                                          <p:val>
                                            <p:strVal val="#ppt_y"/>
                                          </p:val>
                                        </p:tav>
                                      </p:tavLst>
                                    </p:anim>
                                  </p:childTnLst>
                                </p:cTn>
                              </p:par>
                              <p:par>
                                <p:cTn id="76" presetID="2" presetClass="entr" presetSubtype="8" fill="hold" nodeType="withEffect">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cBhvr additive="base">
                                        <p:cTn id="78" dur="500" fill="hold"/>
                                        <p:tgtEl>
                                          <p:spTgt spid="50"/>
                                        </p:tgtEl>
                                        <p:attrNameLst>
                                          <p:attrName>ppt_x</p:attrName>
                                        </p:attrNameLst>
                                      </p:cBhvr>
                                      <p:tavLst>
                                        <p:tav tm="0">
                                          <p:val>
                                            <p:strVal val="0-#ppt_w/2"/>
                                          </p:val>
                                        </p:tav>
                                        <p:tav tm="100000">
                                          <p:val>
                                            <p:strVal val="#ppt_x"/>
                                          </p:val>
                                        </p:tav>
                                      </p:tavLst>
                                    </p:anim>
                                    <p:anim calcmode="lin" valueType="num">
                                      <p:cBhvr additive="base">
                                        <p:cTn id="79" dur="500" fill="hold"/>
                                        <p:tgtEl>
                                          <p:spTgt spid="50"/>
                                        </p:tgtEl>
                                        <p:attrNameLst>
                                          <p:attrName>ppt_y</p:attrName>
                                        </p:attrNameLst>
                                      </p:cBhvr>
                                      <p:tavLst>
                                        <p:tav tm="0">
                                          <p:val>
                                            <p:strVal val="#ppt_y"/>
                                          </p:val>
                                        </p:tav>
                                        <p:tav tm="100000">
                                          <p:val>
                                            <p:strVal val="#ppt_y"/>
                                          </p:val>
                                        </p:tav>
                                      </p:tavLst>
                                    </p:anim>
                                  </p:childTnLst>
                                </p:cTn>
                              </p:par>
                            </p:childTnLst>
                          </p:cTn>
                        </p:par>
                        <p:par>
                          <p:cTn id="80" fill="hold">
                            <p:stCondLst>
                              <p:cond delay="2000"/>
                            </p:stCondLst>
                            <p:childTnLst>
                              <p:par>
                                <p:cTn id="81" presetID="2" presetClass="entr" presetSubtype="8" fill="hold" grpId="0" nodeType="afterEffect">
                                  <p:stCondLst>
                                    <p:cond delay="0"/>
                                  </p:stCondLst>
                                  <p:childTnLst>
                                    <p:set>
                                      <p:cBhvr>
                                        <p:cTn id="82" dur="1" fill="hold">
                                          <p:stCondLst>
                                            <p:cond delay="0"/>
                                          </p:stCondLst>
                                        </p:cTn>
                                        <p:tgtEl>
                                          <p:spTgt spid="44"/>
                                        </p:tgtEl>
                                        <p:attrNameLst>
                                          <p:attrName>style.visibility</p:attrName>
                                        </p:attrNameLst>
                                      </p:cBhvr>
                                      <p:to>
                                        <p:strVal val="visible"/>
                                      </p:to>
                                    </p:set>
                                    <p:anim calcmode="lin" valueType="num">
                                      <p:cBhvr additive="base">
                                        <p:cTn id="83" dur="500" fill="hold"/>
                                        <p:tgtEl>
                                          <p:spTgt spid="44"/>
                                        </p:tgtEl>
                                        <p:attrNameLst>
                                          <p:attrName>ppt_x</p:attrName>
                                        </p:attrNameLst>
                                      </p:cBhvr>
                                      <p:tavLst>
                                        <p:tav tm="0">
                                          <p:val>
                                            <p:strVal val="0-#ppt_w/2"/>
                                          </p:val>
                                        </p:tav>
                                        <p:tav tm="100000">
                                          <p:val>
                                            <p:strVal val="#ppt_x"/>
                                          </p:val>
                                        </p:tav>
                                      </p:tavLst>
                                    </p:anim>
                                    <p:anim calcmode="lin" valueType="num">
                                      <p:cBhvr additive="base">
                                        <p:cTn id="84" dur="500" fill="hold"/>
                                        <p:tgtEl>
                                          <p:spTgt spid="44"/>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 calcmode="lin" valueType="num">
                                      <p:cBhvr additive="base">
                                        <p:cTn id="87" dur="500" fill="hold"/>
                                        <p:tgtEl>
                                          <p:spTgt spid="45"/>
                                        </p:tgtEl>
                                        <p:attrNameLst>
                                          <p:attrName>ppt_x</p:attrName>
                                        </p:attrNameLst>
                                      </p:cBhvr>
                                      <p:tavLst>
                                        <p:tav tm="0">
                                          <p:val>
                                            <p:strVal val="0-#ppt_w/2"/>
                                          </p:val>
                                        </p:tav>
                                        <p:tav tm="100000">
                                          <p:val>
                                            <p:strVal val="#ppt_x"/>
                                          </p:val>
                                        </p:tav>
                                      </p:tavLst>
                                    </p:anim>
                                    <p:anim calcmode="lin" valueType="num">
                                      <p:cBhvr additive="base">
                                        <p:cTn id="88" dur="500" fill="hold"/>
                                        <p:tgtEl>
                                          <p:spTgt spid="45"/>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anim calcmode="lin" valueType="num">
                                      <p:cBhvr additive="base">
                                        <p:cTn id="91" dur="500" fill="hold"/>
                                        <p:tgtEl>
                                          <p:spTgt spid="46"/>
                                        </p:tgtEl>
                                        <p:attrNameLst>
                                          <p:attrName>ppt_x</p:attrName>
                                        </p:attrNameLst>
                                      </p:cBhvr>
                                      <p:tavLst>
                                        <p:tav tm="0">
                                          <p:val>
                                            <p:strVal val="0-#ppt_w/2"/>
                                          </p:val>
                                        </p:tav>
                                        <p:tav tm="100000">
                                          <p:val>
                                            <p:strVal val="#ppt_x"/>
                                          </p:val>
                                        </p:tav>
                                      </p:tavLst>
                                    </p:anim>
                                    <p:anim calcmode="lin" valueType="num">
                                      <p:cBhvr additive="base">
                                        <p:cTn id="92" dur="500" fill="hold"/>
                                        <p:tgtEl>
                                          <p:spTgt spid="46"/>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 calcmode="lin" valueType="num">
                                      <p:cBhvr additive="base">
                                        <p:cTn id="95" dur="500" fill="hold"/>
                                        <p:tgtEl>
                                          <p:spTgt spid="47"/>
                                        </p:tgtEl>
                                        <p:attrNameLst>
                                          <p:attrName>ppt_x</p:attrName>
                                        </p:attrNameLst>
                                      </p:cBhvr>
                                      <p:tavLst>
                                        <p:tav tm="0">
                                          <p:val>
                                            <p:strVal val="0-#ppt_w/2"/>
                                          </p:val>
                                        </p:tav>
                                        <p:tav tm="100000">
                                          <p:val>
                                            <p:strVal val="#ppt_x"/>
                                          </p:val>
                                        </p:tav>
                                      </p:tavLst>
                                    </p:anim>
                                    <p:anim calcmode="lin" valueType="num">
                                      <p:cBhvr additive="base">
                                        <p:cTn id="96"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animBg="1"/>
      <p:bldP spid="33" grpId="0"/>
      <p:bldP spid="34" grpId="0"/>
      <p:bldP spid="35" grpId="0"/>
      <p:bldP spid="36" grpId="0"/>
      <p:bldP spid="37" grpId="0"/>
      <p:bldP spid="38" grpId="0" animBg="1"/>
      <p:bldP spid="39" grpId="0" animBg="1"/>
      <p:bldP spid="40" grpId="0" animBg="1"/>
      <p:bldP spid="41" grpId="0"/>
      <p:bldP spid="42" grpId="0"/>
      <p:bldP spid="43" grpId="0"/>
      <p:bldP spid="44" grpId="0" animBg="1"/>
      <p:bldP spid="45" grpId="0" animBg="1"/>
      <p:bldP spid="46" grpId="0" animBg="1"/>
      <p:bldP spid="4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Autofit/>
          </a:bodyPr>
          <a:lstStyle/>
          <a:p>
            <a:r>
              <a:rPr lang="it-IT" dirty="0"/>
              <a:t>System of Systems </a:t>
            </a:r>
            <a:br>
              <a:rPr lang="it-IT" dirty="0"/>
            </a:br>
            <a:endParaRPr lang="it-IT" dirty="0"/>
          </a:p>
        </p:txBody>
      </p:sp>
      <p:sp>
        <p:nvSpPr>
          <p:cNvPr id="28" name="Rounded Rectangle 30"/>
          <p:cNvSpPr/>
          <p:nvPr/>
        </p:nvSpPr>
        <p:spPr>
          <a:xfrm>
            <a:off x="3015494" y="1124744"/>
            <a:ext cx="3212690" cy="56987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a:solidFill>
                  <a:srgbClr val="4BACC6"/>
                </a:solidFill>
              </a:rPr>
              <a:t>Governance</a:t>
            </a:r>
          </a:p>
        </p:txBody>
      </p:sp>
      <p:grpSp>
        <p:nvGrpSpPr>
          <p:cNvPr id="4" name="Group 31"/>
          <p:cNvGrpSpPr/>
          <p:nvPr/>
        </p:nvGrpSpPr>
        <p:grpSpPr>
          <a:xfrm>
            <a:off x="-1404664" y="1533729"/>
            <a:ext cx="13033447" cy="4997483"/>
            <a:chOff x="-311863" y="1103536"/>
            <a:chExt cx="9865821" cy="4410410"/>
          </a:xfrm>
        </p:grpSpPr>
        <p:sp>
          <p:nvSpPr>
            <p:cNvPr id="30" name="Up Arrow 24"/>
            <p:cNvSpPr/>
            <p:nvPr/>
          </p:nvSpPr>
          <p:spPr>
            <a:xfrm>
              <a:off x="3841760" y="1103536"/>
              <a:ext cx="864096" cy="490078"/>
            </a:xfrm>
            <a:prstGeom prst="upArrow">
              <a:avLst>
                <a:gd name="adj1" fmla="val 50000"/>
                <a:gd name="adj2" fmla="val 71379"/>
              </a:avLst>
            </a:prstGeom>
            <a:solidFill>
              <a:srgbClr val="A4EBFF"/>
            </a:solid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1" name="Freeform 26"/>
            <p:cNvSpPr/>
            <p:nvPr/>
          </p:nvSpPr>
          <p:spPr>
            <a:xfrm>
              <a:off x="-311863" y="1505858"/>
              <a:ext cx="9865821" cy="4008088"/>
            </a:xfrm>
            <a:custGeom>
              <a:avLst/>
              <a:gdLst>
                <a:gd name="connsiteX0" fmla="*/ 4673064 w 10240343"/>
                <a:gd name="connsiteY0" fmla="*/ 0 h 2908188"/>
                <a:gd name="connsiteX1" fmla="*/ 3739614 w 10240343"/>
                <a:gd name="connsiteY1" fmla="*/ 142875 h 2908188"/>
                <a:gd name="connsiteX2" fmla="*/ 1901289 w 10240343"/>
                <a:gd name="connsiteY2" fmla="*/ 190500 h 2908188"/>
                <a:gd name="connsiteX3" fmla="*/ 834489 w 10240343"/>
                <a:gd name="connsiteY3" fmla="*/ 323850 h 2908188"/>
                <a:gd name="connsiteX4" fmla="*/ 634464 w 10240343"/>
                <a:gd name="connsiteY4" fmla="*/ 2466975 h 2908188"/>
                <a:gd name="connsiteX5" fmla="*/ 9464139 w 10240343"/>
                <a:gd name="connsiteY5" fmla="*/ 2743200 h 2908188"/>
                <a:gd name="connsiteX6" fmla="*/ 9483189 w 10240343"/>
                <a:gd name="connsiteY6" fmla="*/ 485775 h 2908188"/>
                <a:gd name="connsiteX7" fmla="*/ 6711414 w 10240343"/>
                <a:gd name="connsiteY7" fmla="*/ 257175 h 2908188"/>
                <a:gd name="connsiteX8" fmla="*/ 5196939 w 10240343"/>
                <a:gd name="connsiteY8" fmla="*/ 161925 h 2908188"/>
                <a:gd name="connsiteX9" fmla="*/ 4901664 w 10240343"/>
                <a:gd name="connsiteY9" fmla="*/ 28575 h 2908188"/>
                <a:gd name="connsiteX10" fmla="*/ 4730214 w 10240343"/>
                <a:gd name="connsiteY10" fmla="*/ 9525 h 2908188"/>
                <a:gd name="connsiteX0" fmla="*/ 4673064 w 10240343"/>
                <a:gd name="connsiteY0" fmla="*/ 0 h 2908188"/>
                <a:gd name="connsiteX1" fmla="*/ 3739614 w 10240343"/>
                <a:gd name="connsiteY1" fmla="*/ 142875 h 2908188"/>
                <a:gd name="connsiteX2" fmla="*/ 1901289 w 10240343"/>
                <a:gd name="connsiteY2" fmla="*/ 190500 h 2908188"/>
                <a:gd name="connsiteX3" fmla="*/ 834489 w 10240343"/>
                <a:gd name="connsiteY3" fmla="*/ 323850 h 2908188"/>
                <a:gd name="connsiteX4" fmla="*/ 634464 w 10240343"/>
                <a:gd name="connsiteY4" fmla="*/ 2466975 h 2908188"/>
                <a:gd name="connsiteX5" fmla="*/ 9464139 w 10240343"/>
                <a:gd name="connsiteY5" fmla="*/ 2743200 h 2908188"/>
                <a:gd name="connsiteX6" fmla="*/ 9483189 w 10240343"/>
                <a:gd name="connsiteY6" fmla="*/ 485775 h 2908188"/>
                <a:gd name="connsiteX7" fmla="*/ 6711414 w 10240343"/>
                <a:gd name="connsiteY7" fmla="*/ 257175 h 2908188"/>
                <a:gd name="connsiteX8" fmla="*/ 5473164 w 10240343"/>
                <a:gd name="connsiteY8" fmla="*/ 133350 h 2908188"/>
                <a:gd name="connsiteX9" fmla="*/ 4901664 w 10240343"/>
                <a:gd name="connsiteY9" fmla="*/ 28575 h 2908188"/>
                <a:gd name="connsiteX10" fmla="*/ 4730214 w 10240343"/>
                <a:gd name="connsiteY10" fmla="*/ 9525 h 2908188"/>
                <a:gd name="connsiteX0" fmla="*/ 4673064 w 10159006"/>
                <a:gd name="connsiteY0" fmla="*/ 0 h 2917349"/>
                <a:gd name="connsiteX1" fmla="*/ 3739614 w 10159006"/>
                <a:gd name="connsiteY1" fmla="*/ 142875 h 2917349"/>
                <a:gd name="connsiteX2" fmla="*/ 1901289 w 10159006"/>
                <a:gd name="connsiteY2" fmla="*/ 190500 h 2917349"/>
                <a:gd name="connsiteX3" fmla="*/ 834489 w 10159006"/>
                <a:gd name="connsiteY3" fmla="*/ 323850 h 2917349"/>
                <a:gd name="connsiteX4" fmla="*/ 634464 w 10159006"/>
                <a:gd name="connsiteY4" fmla="*/ 2466975 h 2917349"/>
                <a:gd name="connsiteX5" fmla="*/ 9464139 w 10159006"/>
                <a:gd name="connsiteY5" fmla="*/ 2743200 h 2917349"/>
                <a:gd name="connsiteX6" fmla="*/ 9273639 w 10159006"/>
                <a:gd name="connsiteY6" fmla="*/ 361950 h 2917349"/>
                <a:gd name="connsiteX7" fmla="*/ 6711414 w 10159006"/>
                <a:gd name="connsiteY7" fmla="*/ 257175 h 2917349"/>
                <a:gd name="connsiteX8" fmla="*/ 5473164 w 10159006"/>
                <a:gd name="connsiteY8" fmla="*/ 133350 h 2917349"/>
                <a:gd name="connsiteX9" fmla="*/ 4901664 w 10159006"/>
                <a:gd name="connsiteY9" fmla="*/ 28575 h 2917349"/>
                <a:gd name="connsiteX10" fmla="*/ 4730214 w 10159006"/>
                <a:gd name="connsiteY10" fmla="*/ 9525 h 2917349"/>
                <a:gd name="connsiteX0" fmla="*/ 4598297 w 9451861"/>
                <a:gd name="connsiteY0" fmla="*/ 0 h 3480033"/>
                <a:gd name="connsiteX1" fmla="*/ 3664847 w 9451861"/>
                <a:gd name="connsiteY1" fmla="*/ 142875 h 3480033"/>
                <a:gd name="connsiteX2" fmla="*/ 1826522 w 9451861"/>
                <a:gd name="connsiteY2" fmla="*/ 190500 h 3480033"/>
                <a:gd name="connsiteX3" fmla="*/ 759722 w 9451861"/>
                <a:gd name="connsiteY3" fmla="*/ 323850 h 3480033"/>
                <a:gd name="connsiteX4" fmla="*/ 559697 w 9451861"/>
                <a:gd name="connsiteY4" fmla="*/ 2466975 h 3480033"/>
                <a:gd name="connsiteX5" fmla="*/ 8379722 w 9451861"/>
                <a:gd name="connsiteY5" fmla="*/ 3390900 h 3480033"/>
                <a:gd name="connsiteX6" fmla="*/ 9198872 w 9451861"/>
                <a:gd name="connsiteY6" fmla="*/ 361950 h 3480033"/>
                <a:gd name="connsiteX7" fmla="*/ 6636647 w 9451861"/>
                <a:gd name="connsiteY7" fmla="*/ 257175 h 3480033"/>
                <a:gd name="connsiteX8" fmla="*/ 5398397 w 9451861"/>
                <a:gd name="connsiteY8" fmla="*/ 133350 h 3480033"/>
                <a:gd name="connsiteX9" fmla="*/ 4826897 w 9451861"/>
                <a:gd name="connsiteY9" fmla="*/ 28575 h 3480033"/>
                <a:gd name="connsiteX10" fmla="*/ 4655447 w 9451861"/>
                <a:gd name="connsiteY10" fmla="*/ 9525 h 3480033"/>
                <a:gd name="connsiteX0" fmla="*/ 3946680 w 8752018"/>
                <a:gd name="connsiteY0" fmla="*/ 0 h 3647494"/>
                <a:gd name="connsiteX1" fmla="*/ 3013230 w 8752018"/>
                <a:gd name="connsiteY1" fmla="*/ 142875 h 3647494"/>
                <a:gd name="connsiteX2" fmla="*/ 1174905 w 8752018"/>
                <a:gd name="connsiteY2" fmla="*/ 190500 h 3647494"/>
                <a:gd name="connsiteX3" fmla="*/ 108105 w 8752018"/>
                <a:gd name="connsiteY3" fmla="*/ 323850 h 3647494"/>
                <a:gd name="connsiteX4" fmla="*/ 898680 w 8752018"/>
                <a:gd name="connsiteY4" fmla="*/ 3133725 h 3647494"/>
                <a:gd name="connsiteX5" fmla="*/ 7728105 w 8752018"/>
                <a:gd name="connsiteY5" fmla="*/ 3390900 h 3647494"/>
                <a:gd name="connsiteX6" fmla="*/ 8547255 w 8752018"/>
                <a:gd name="connsiteY6" fmla="*/ 361950 h 3647494"/>
                <a:gd name="connsiteX7" fmla="*/ 5985030 w 8752018"/>
                <a:gd name="connsiteY7" fmla="*/ 257175 h 3647494"/>
                <a:gd name="connsiteX8" fmla="*/ 4746780 w 8752018"/>
                <a:gd name="connsiteY8" fmla="*/ 133350 h 3647494"/>
                <a:gd name="connsiteX9" fmla="*/ 4175280 w 8752018"/>
                <a:gd name="connsiteY9" fmla="*/ 28575 h 3647494"/>
                <a:gd name="connsiteX10" fmla="*/ 4003830 w 8752018"/>
                <a:gd name="connsiteY10" fmla="*/ 9525 h 3647494"/>
                <a:gd name="connsiteX0" fmla="*/ 4099460 w 8904798"/>
                <a:gd name="connsiteY0" fmla="*/ 0 h 3629504"/>
                <a:gd name="connsiteX1" fmla="*/ 3166010 w 8904798"/>
                <a:gd name="connsiteY1" fmla="*/ 142875 h 3629504"/>
                <a:gd name="connsiteX2" fmla="*/ 1327685 w 8904798"/>
                <a:gd name="connsiteY2" fmla="*/ 190500 h 3629504"/>
                <a:gd name="connsiteX3" fmla="*/ 51335 w 8904798"/>
                <a:gd name="connsiteY3" fmla="*/ 733425 h 3629504"/>
                <a:gd name="connsiteX4" fmla="*/ 1051460 w 8904798"/>
                <a:gd name="connsiteY4" fmla="*/ 3133725 h 3629504"/>
                <a:gd name="connsiteX5" fmla="*/ 7880885 w 8904798"/>
                <a:gd name="connsiteY5" fmla="*/ 3390900 h 3629504"/>
                <a:gd name="connsiteX6" fmla="*/ 8700035 w 8904798"/>
                <a:gd name="connsiteY6" fmla="*/ 361950 h 3629504"/>
                <a:gd name="connsiteX7" fmla="*/ 6137810 w 8904798"/>
                <a:gd name="connsiteY7" fmla="*/ 257175 h 3629504"/>
                <a:gd name="connsiteX8" fmla="*/ 4899560 w 8904798"/>
                <a:gd name="connsiteY8" fmla="*/ 133350 h 3629504"/>
                <a:gd name="connsiteX9" fmla="*/ 4328060 w 8904798"/>
                <a:gd name="connsiteY9" fmla="*/ 28575 h 3629504"/>
                <a:gd name="connsiteX10" fmla="*/ 4156610 w 8904798"/>
                <a:gd name="connsiteY10" fmla="*/ 9525 h 3629504"/>
                <a:gd name="connsiteX0" fmla="*/ 4099460 w 9139664"/>
                <a:gd name="connsiteY0" fmla="*/ 0 h 3629504"/>
                <a:gd name="connsiteX1" fmla="*/ 3166010 w 9139664"/>
                <a:gd name="connsiteY1" fmla="*/ 142875 h 3629504"/>
                <a:gd name="connsiteX2" fmla="*/ 1327685 w 9139664"/>
                <a:gd name="connsiteY2" fmla="*/ 190500 h 3629504"/>
                <a:gd name="connsiteX3" fmla="*/ 51335 w 9139664"/>
                <a:gd name="connsiteY3" fmla="*/ 733425 h 3629504"/>
                <a:gd name="connsiteX4" fmla="*/ 1051460 w 9139664"/>
                <a:gd name="connsiteY4" fmla="*/ 3133725 h 3629504"/>
                <a:gd name="connsiteX5" fmla="*/ 7880885 w 9139664"/>
                <a:gd name="connsiteY5" fmla="*/ 3390900 h 3629504"/>
                <a:gd name="connsiteX6" fmla="*/ 8700035 w 9139664"/>
                <a:gd name="connsiteY6" fmla="*/ 361950 h 3629504"/>
                <a:gd name="connsiteX7" fmla="*/ 6137810 w 9139664"/>
                <a:gd name="connsiteY7" fmla="*/ 257175 h 3629504"/>
                <a:gd name="connsiteX8" fmla="*/ 4899560 w 9139664"/>
                <a:gd name="connsiteY8" fmla="*/ 133350 h 3629504"/>
                <a:gd name="connsiteX9" fmla="*/ 4328060 w 9139664"/>
                <a:gd name="connsiteY9" fmla="*/ 28575 h 3629504"/>
                <a:gd name="connsiteX10" fmla="*/ 4156610 w 9139664"/>
                <a:gd name="connsiteY10" fmla="*/ 9525 h 3629504"/>
                <a:gd name="connsiteX0" fmla="*/ 4086868 w 8773020"/>
                <a:gd name="connsiteY0" fmla="*/ 0 h 3801544"/>
                <a:gd name="connsiteX1" fmla="*/ 3153418 w 8773020"/>
                <a:gd name="connsiteY1" fmla="*/ 142875 h 3801544"/>
                <a:gd name="connsiteX2" fmla="*/ 1315093 w 8773020"/>
                <a:gd name="connsiteY2" fmla="*/ 190500 h 3801544"/>
                <a:gd name="connsiteX3" fmla="*/ 38743 w 8773020"/>
                <a:gd name="connsiteY3" fmla="*/ 733425 h 3801544"/>
                <a:gd name="connsiteX4" fmla="*/ 1038868 w 8773020"/>
                <a:gd name="connsiteY4" fmla="*/ 3133725 h 3801544"/>
                <a:gd name="connsiteX5" fmla="*/ 7477768 w 8773020"/>
                <a:gd name="connsiteY5" fmla="*/ 3609975 h 3801544"/>
                <a:gd name="connsiteX6" fmla="*/ 8687443 w 8773020"/>
                <a:gd name="connsiteY6" fmla="*/ 361950 h 3801544"/>
                <a:gd name="connsiteX7" fmla="*/ 6125218 w 8773020"/>
                <a:gd name="connsiteY7" fmla="*/ 257175 h 3801544"/>
                <a:gd name="connsiteX8" fmla="*/ 4886968 w 8773020"/>
                <a:gd name="connsiteY8" fmla="*/ 133350 h 3801544"/>
                <a:gd name="connsiteX9" fmla="*/ 4315468 w 8773020"/>
                <a:gd name="connsiteY9" fmla="*/ 28575 h 3801544"/>
                <a:gd name="connsiteX10" fmla="*/ 4144018 w 8773020"/>
                <a:gd name="connsiteY10" fmla="*/ 9525 h 3801544"/>
                <a:gd name="connsiteX0" fmla="*/ 4086868 w 8900889"/>
                <a:gd name="connsiteY0" fmla="*/ 0 h 3784820"/>
                <a:gd name="connsiteX1" fmla="*/ 3153418 w 8900889"/>
                <a:gd name="connsiteY1" fmla="*/ 142875 h 3784820"/>
                <a:gd name="connsiteX2" fmla="*/ 1315093 w 8900889"/>
                <a:gd name="connsiteY2" fmla="*/ 190500 h 3784820"/>
                <a:gd name="connsiteX3" fmla="*/ 38743 w 8900889"/>
                <a:gd name="connsiteY3" fmla="*/ 733425 h 3784820"/>
                <a:gd name="connsiteX4" fmla="*/ 1038868 w 8900889"/>
                <a:gd name="connsiteY4" fmla="*/ 3133725 h 3784820"/>
                <a:gd name="connsiteX5" fmla="*/ 7477768 w 8900889"/>
                <a:gd name="connsiteY5" fmla="*/ 3609975 h 3784820"/>
                <a:gd name="connsiteX6" fmla="*/ 8830318 w 8900889"/>
                <a:gd name="connsiteY6" fmla="*/ 590550 h 3784820"/>
                <a:gd name="connsiteX7" fmla="*/ 6125218 w 8900889"/>
                <a:gd name="connsiteY7" fmla="*/ 257175 h 3784820"/>
                <a:gd name="connsiteX8" fmla="*/ 4886968 w 8900889"/>
                <a:gd name="connsiteY8" fmla="*/ 133350 h 3784820"/>
                <a:gd name="connsiteX9" fmla="*/ 4315468 w 8900889"/>
                <a:gd name="connsiteY9" fmla="*/ 28575 h 3784820"/>
                <a:gd name="connsiteX10" fmla="*/ 4144018 w 8900889"/>
                <a:gd name="connsiteY10" fmla="*/ 9525 h 3784820"/>
                <a:gd name="connsiteX0" fmla="*/ 4086868 w 8900889"/>
                <a:gd name="connsiteY0" fmla="*/ 394 h 3785214"/>
                <a:gd name="connsiteX1" fmla="*/ 3153418 w 8900889"/>
                <a:gd name="connsiteY1" fmla="*/ 143269 h 3785214"/>
                <a:gd name="connsiteX2" fmla="*/ 1315093 w 8900889"/>
                <a:gd name="connsiteY2" fmla="*/ 190894 h 3785214"/>
                <a:gd name="connsiteX3" fmla="*/ 38743 w 8900889"/>
                <a:gd name="connsiteY3" fmla="*/ 733819 h 3785214"/>
                <a:gd name="connsiteX4" fmla="*/ 1038868 w 8900889"/>
                <a:gd name="connsiteY4" fmla="*/ 3134119 h 3785214"/>
                <a:gd name="connsiteX5" fmla="*/ 7477768 w 8900889"/>
                <a:gd name="connsiteY5" fmla="*/ 3610369 h 3785214"/>
                <a:gd name="connsiteX6" fmla="*/ 8830318 w 8900889"/>
                <a:gd name="connsiteY6" fmla="*/ 590944 h 3785214"/>
                <a:gd name="connsiteX7" fmla="*/ 6125218 w 8900889"/>
                <a:gd name="connsiteY7" fmla="*/ 257569 h 3785214"/>
                <a:gd name="connsiteX8" fmla="*/ 4886968 w 8900889"/>
                <a:gd name="connsiteY8" fmla="*/ 133744 h 3785214"/>
                <a:gd name="connsiteX9" fmla="*/ 4258318 w 8900889"/>
                <a:gd name="connsiteY9" fmla="*/ 9919 h 3785214"/>
                <a:gd name="connsiteX10" fmla="*/ 4144018 w 8900889"/>
                <a:gd name="connsiteY10" fmla="*/ 9919 h 3785214"/>
                <a:gd name="connsiteX0" fmla="*/ 4086868 w 8900889"/>
                <a:gd name="connsiteY0" fmla="*/ 38460 h 3823280"/>
                <a:gd name="connsiteX1" fmla="*/ 3153418 w 8900889"/>
                <a:gd name="connsiteY1" fmla="*/ 181335 h 3823280"/>
                <a:gd name="connsiteX2" fmla="*/ 1315093 w 8900889"/>
                <a:gd name="connsiteY2" fmla="*/ 228960 h 3823280"/>
                <a:gd name="connsiteX3" fmla="*/ 38743 w 8900889"/>
                <a:gd name="connsiteY3" fmla="*/ 771885 h 3823280"/>
                <a:gd name="connsiteX4" fmla="*/ 1038868 w 8900889"/>
                <a:gd name="connsiteY4" fmla="*/ 3172185 h 3823280"/>
                <a:gd name="connsiteX5" fmla="*/ 7477768 w 8900889"/>
                <a:gd name="connsiteY5" fmla="*/ 3648435 h 3823280"/>
                <a:gd name="connsiteX6" fmla="*/ 8830318 w 8900889"/>
                <a:gd name="connsiteY6" fmla="*/ 629010 h 3823280"/>
                <a:gd name="connsiteX7" fmla="*/ 6125218 w 8900889"/>
                <a:gd name="connsiteY7" fmla="*/ 295635 h 3823280"/>
                <a:gd name="connsiteX8" fmla="*/ 4886968 w 8900889"/>
                <a:gd name="connsiteY8" fmla="*/ 171810 h 3823280"/>
                <a:gd name="connsiteX9" fmla="*/ 4258318 w 8900889"/>
                <a:gd name="connsiteY9" fmla="*/ 47985 h 3823280"/>
                <a:gd name="connsiteX10" fmla="*/ 4144018 w 8900889"/>
                <a:gd name="connsiteY10" fmla="*/ 47985 h 3823280"/>
                <a:gd name="connsiteX0" fmla="*/ 4052596 w 8866617"/>
                <a:gd name="connsiteY0" fmla="*/ 38460 h 3823280"/>
                <a:gd name="connsiteX1" fmla="*/ 3119146 w 8866617"/>
                <a:gd name="connsiteY1" fmla="*/ 181335 h 3823280"/>
                <a:gd name="connsiteX2" fmla="*/ 747421 w 8866617"/>
                <a:gd name="connsiteY2" fmla="*/ 248010 h 3823280"/>
                <a:gd name="connsiteX3" fmla="*/ 4471 w 8866617"/>
                <a:gd name="connsiteY3" fmla="*/ 771885 h 3823280"/>
                <a:gd name="connsiteX4" fmla="*/ 1004596 w 8866617"/>
                <a:gd name="connsiteY4" fmla="*/ 3172185 h 3823280"/>
                <a:gd name="connsiteX5" fmla="*/ 7443496 w 8866617"/>
                <a:gd name="connsiteY5" fmla="*/ 3648435 h 3823280"/>
                <a:gd name="connsiteX6" fmla="*/ 8796046 w 8866617"/>
                <a:gd name="connsiteY6" fmla="*/ 629010 h 3823280"/>
                <a:gd name="connsiteX7" fmla="*/ 6090946 w 8866617"/>
                <a:gd name="connsiteY7" fmla="*/ 295635 h 3823280"/>
                <a:gd name="connsiteX8" fmla="*/ 4852696 w 8866617"/>
                <a:gd name="connsiteY8" fmla="*/ 171810 h 3823280"/>
                <a:gd name="connsiteX9" fmla="*/ 4224046 w 8866617"/>
                <a:gd name="connsiteY9" fmla="*/ 47985 h 3823280"/>
                <a:gd name="connsiteX10" fmla="*/ 4109746 w 8866617"/>
                <a:gd name="connsiteY10" fmla="*/ 47985 h 3823280"/>
                <a:gd name="connsiteX0" fmla="*/ 4052616 w 8866637"/>
                <a:gd name="connsiteY0" fmla="*/ 38460 h 3823280"/>
                <a:gd name="connsiteX1" fmla="*/ 3128691 w 8866637"/>
                <a:gd name="connsiteY1" fmla="*/ 200385 h 3823280"/>
                <a:gd name="connsiteX2" fmla="*/ 747441 w 8866637"/>
                <a:gd name="connsiteY2" fmla="*/ 248010 h 3823280"/>
                <a:gd name="connsiteX3" fmla="*/ 4491 w 8866637"/>
                <a:gd name="connsiteY3" fmla="*/ 771885 h 3823280"/>
                <a:gd name="connsiteX4" fmla="*/ 1004616 w 8866637"/>
                <a:gd name="connsiteY4" fmla="*/ 3172185 h 3823280"/>
                <a:gd name="connsiteX5" fmla="*/ 7443516 w 8866637"/>
                <a:gd name="connsiteY5" fmla="*/ 3648435 h 3823280"/>
                <a:gd name="connsiteX6" fmla="*/ 8796066 w 8866637"/>
                <a:gd name="connsiteY6" fmla="*/ 629010 h 3823280"/>
                <a:gd name="connsiteX7" fmla="*/ 6090966 w 8866637"/>
                <a:gd name="connsiteY7" fmla="*/ 295635 h 3823280"/>
                <a:gd name="connsiteX8" fmla="*/ 4852716 w 8866637"/>
                <a:gd name="connsiteY8" fmla="*/ 171810 h 3823280"/>
                <a:gd name="connsiteX9" fmla="*/ 4224066 w 8866637"/>
                <a:gd name="connsiteY9" fmla="*/ 47985 h 3823280"/>
                <a:gd name="connsiteX10" fmla="*/ 4109766 w 8866637"/>
                <a:gd name="connsiteY10" fmla="*/ 47985 h 3823280"/>
                <a:gd name="connsiteX0" fmla="*/ 4085993 w 8900014"/>
                <a:gd name="connsiteY0" fmla="*/ 38460 h 3823280"/>
                <a:gd name="connsiteX1" fmla="*/ 3162068 w 8900014"/>
                <a:gd name="connsiteY1" fmla="*/ 200385 h 3823280"/>
                <a:gd name="connsiteX2" fmla="*/ 504593 w 8900014"/>
                <a:gd name="connsiteY2" fmla="*/ 286110 h 3823280"/>
                <a:gd name="connsiteX3" fmla="*/ 37868 w 8900014"/>
                <a:gd name="connsiteY3" fmla="*/ 771885 h 3823280"/>
                <a:gd name="connsiteX4" fmla="*/ 1037993 w 8900014"/>
                <a:gd name="connsiteY4" fmla="*/ 3172185 h 3823280"/>
                <a:gd name="connsiteX5" fmla="*/ 7476893 w 8900014"/>
                <a:gd name="connsiteY5" fmla="*/ 3648435 h 3823280"/>
                <a:gd name="connsiteX6" fmla="*/ 8829443 w 8900014"/>
                <a:gd name="connsiteY6" fmla="*/ 629010 h 3823280"/>
                <a:gd name="connsiteX7" fmla="*/ 6124343 w 8900014"/>
                <a:gd name="connsiteY7" fmla="*/ 295635 h 3823280"/>
                <a:gd name="connsiteX8" fmla="*/ 4886093 w 8900014"/>
                <a:gd name="connsiteY8" fmla="*/ 171810 h 3823280"/>
                <a:gd name="connsiteX9" fmla="*/ 4257443 w 8900014"/>
                <a:gd name="connsiteY9" fmla="*/ 47985 h 3823280"/>
                <a:gd name="connsiteX10" fmla="*/ 4143143 w 8900014"/>
                <a:gd name="connsiteY10" fmla="*/ 47985 h 3823280"/>
                <a:gd name="connsiteX0" fmla="*/ 4069805 w 8883826"/>
                <a:gd name="connsiteY0" fmla="*/ 38460 h 3782341"/>
                <a:gd name="connsiteX1" fmla="*/ 3145880 w 8883826"/>
                <a:gd name="connsiteY1" fmla="*/ 200385 h 3782341"/>
                <a:gd name="connsiteX2" fmla="*/ 488405 w 8883826"/>
                <a:gd name="connsiteY2" fmla="*/ 286110 h 3782341"/>
                <a:gd name="connsiteX3" fmla="*/ 40730 w 8883826"/>
                <a:gd name="connsiteY3" fmla="*/ 2448285 h 3782341"/>
                <a:gd name="connsiteX4" fmla="*/ 1021805 w 8883826"/>
                <a:gd name="connsiteY4" fmla="*/ 3172185 h 3782341"/>
                <a:gd name="connsiteX5" fmla="*/ 7460705 w 8883826"/>
                <a:gd name="connsiteY5" fmla="*/ 3648435 h 3782341"/>
                <a:gd name="connsiteX6" fmla="*/ 8813255 w 8883826"/>
                <a:gd name="connsiteY6" fmla="*/ 629010 h 3782341"/>
                <a:gd name="connsiteX7" fmla="*/ 6108155 w 8883826"/>
                <a:gd name="connsiteY7" fmla="*/ 295635 h 3782341"/>
                <a:gd name="connsiteX8" fmla="*/ 4869905 w 8883826"/>
                <a:gd name="connsiteY8" fmla="*/ 171810 h 3782341"/>
                <a:gd name="connsiteX9" fmla="*/ 4241255 w 8883826"/>
                <a:gd name="connsiteY9" fmla="*/ 47985 h 3782341"/>
                <a:gd name="connsiteX10" fmla="*/ 4126955 w 8883826"/>
                <a:gd name="connsiteY10" fmla="*/ 47985 h 3782341"/>
                <a:gd name="connsiteX0" fmla="*/ 4266783 w 9080804"/>
                <a:gd name="connsiteY0" fmla="*/ 38460 h 3782341"/>
                <a:gd name="connsiteX1" fmla="*/ 3342858 w 9080804"/>
                <a:gd name="connsiteY1" fmla="*/ 200385 h 3782341"/>
                <a:gd name="connsiteX2" fmla="*/ 285333 w 9080804"/>
                <a:gd name="connsiteY2" fmla="*/ 505185 h 3782341"/>
                <a:gd name="connsiteX3" fmla="*/ 237708 w 9080804"/>
                <a:gd name="connsiteY3" fmla="*/ 2448285 h 3782341"/>
                <a:gd name="connsiteX4" fmla="*/ 1218783 w 9080804"/>
                <a:gd name="connsiteY4" fmla="*/ 3172185 h 3782341"/>
                <a:gd name="connsiteX5" fmla="*/ 7657683 w 9080804"/>
                <a:gd name="connsiteY5" fmla="*/ 3648435 h 3782341"/>
                <a:gd name="connsiteX6" fmla="*/ 9010233 w 9080804"/>
                <a:gd name="connsiteY6" fmla="*/ 629010 h 3782341"/>
                <a:gd name="connsiteX7" fmla="*/ 6305133 w 9080804"/>
                <a:gd name="connsiteY7" fmla="*/ 295635 h 3782341"/>
                <a:gd name="connsiteX8" fmla="*/ 5066883 w 9080804"/>
                <a:gd name="connsiteY8" fmla="*/ 171810 h 3782341"/>
                <a:gd name="connsiteX9" fmla="*/ 4438233 w 9080804"/>
                <a:gd name="connsiteY9" fmla="*/ 47985 h 3782341"/>
                <a:gd name="connsiteX10" fmla="*/ 4323933 w 9080804"/>
                <a:gd name="connsiteY10" fmla="*/ 47985 h 3782341"/>
                <a:gd name="connsiteX0" fmla="*/ 4266783 w 8870558"/>
                <a:gd name="connsiteY0" fmla="*/ 38460 h 3777841"/>
                <a:gd name="connsiteX1" fmla="*/ 3342858 w 8870558"/>
                <a:gd name="connsiteY1" fmla="*/ 200385 h 3777841"/>
                <a:gd name="connsiteX2" fmla="*/ 285333 w 8870558"/>
                <a:gd name="connsiteY2" fmla="*/ 505185 h 3777841"/>
                <a:gd name="connsiteX3" fmla="*/ 237708 w 8870558"/>
                <a:gd name="connsiteY3" fmla="*/ 2448285 h 3777841"/>
                <a:gd name="connsiteX4" fmla="*/ 1218783 w 8870558"/>
                <a:gd name="connsiteY4" fmla="*/ 3172185 h 3777841"/>
                <a:gd name="connsiteX5" fmla="*/ 7657683 w 8870558"/>
                <a:gd name="connsiteY5" fmla="*/ 3648435 h 3777841"/>
                <a:gd name="connsiteX6" fmla="*/ 8772108 w 8870558"/>
                <a:gd name="connsiteY6" fmla="*/ 695685 h 3777841"/>
                <a:gd name="connsiteX7" fmla="*/ 6305133 w 8870558"/>
                <a:gd name="connsiteY7" fmla="*/ 295635 h 3777841"/>
                <a:gd name="connsiteX8" fmla="*/ 5066883 w 8870558"/>
                <a:gd name="connsiteY8" fmla="*/ 171810 h 3777841"/>
                <a:gd name="connsiteX9" fmla="*/ 4438233 w 8870558"/>
                <a:gd name="connsiteY9" fmla="*/ 47985 h 3777841"/>
                <a:gd name="connsiteX10" fmla="*/ 4323933 w 8870558"/>
                <a:gd name="connsiteY10" fmla="*/ 47985 h 3777841"/>
                <a:gd name="connsiteX0" fmla="*/ 4137235 w 8741010"/>
                <a:gd name="connsiteY0" fmla="*/ 38460 h 3777841"/>
                <a:gd name="connsiteX1" fmla="*/ 3213310 w 8741010"/>
                <a:gd name="connsiteY1" fmla="*/ 200385 h 3777841"/>
                <a:gd name="connsiteX2" fmla="*/ 374860 w 8741010"/>
                <a:gd name="connsiteY2" fmla="*/ 543285 h 3777841"/>
                <a:gd name="connsiteX3" fmla="*/ 108160 w 8741010"/>
                <a:gd name="connsiteY3" fmla="*/ 2448285 h 3777841"/>
                <a:gd name="connsiteX4" fmla="*/ 1089235 w 8741010"/>
                <a:gd name="connsiteY4" fmla="*/ 3172185 h 3777841"/>
                <a:gd name="connsiteX5" fmla="*/ 7528135 w 8741010"/>
                <a:gd name="connsiteY5" fmla="*/ 3648435 h 3777841"/>
                <a:gd name="connsiteX6" fmla="*/ 8642560 w 8741010"/>
                <a:gd name="connsiteY6" fmla="*/ 695685 h 3777841"/>
                <a:gd name="connsiteX7" fmla="*/ 6175585 w 8741010"/>
                <a:gd name="connsiteY7" fmla="*/ 295635 h 3777841"/>
                <a:gd name="connsiteX8" fmla="*/ 4937335 w 8741010"/>
                <a:gd name="connsiteY8" fmla="*/ 171810 h 3777841"/>
                <a:gd name="connsiteX9" fmla="*/ 4308685 w 8741010"/>
                <a:gd name="connsiteY9" fmla="*/ 47985 h 3777841"/>
                <a:gd name="connsiteX10" fmla="*/ 4194385 w 8741010"/>
                <a:gd name="connsiteY10" fmla="*/ 47985 h 3777841"/>
                <a:gd name="connsiteX0" fmla="*/ 3997960 w 8601735"/>
                <a:gd name="connsiteY0" fmla="*/ 38460 h 3774946"/>
                <a:gd name="connsiteX1" fmla="*/ 3074035 w 8601735"/>
                <a:gd name="connsiteY1" fmla="*/ 200385 h 3774946"/>
                <a:gd name="connsiteX2" fmla="*/ 235585 w 8601735"/>
                <a:gd name="connsiteY2" fmla="*/ 543285 h 3774946"/>
                <a:gd name="connsiteX3" fmla="*/ 245110 w 8601735"/>
                <a:gd name="connsiteY3" fmla="*/ 2600685 h 3774946"/>
                <a:gd name="connsiteX4" fmla="*/ 949960 w 8601735"/>
                <a:gd name="connsiteY4" fmla="*/ 3172185 h 3774946"/>
                <a:gd name="connsiteX5" fmla="*/ 7388860 w 8601735"/>
                <a:gd name="connsiteY5" fmla="*/ 3648435 h 3774946"/>
                <a:gd name="connsiteX6" fmla="*/ 8503285 w 8601735"/>
                <a:gd name="connsiteY6" fmla="*/ 695685 h 3774946"/>
                <a:gd name="connsiteX7" fmla="*/ 6036310 w 8601735"/>
                <a:gd name="connsiteY7" fmla="*/ 295635 h 3774946"/>
                <a:gd name="connsiteX8" fmla="*/ 4798060 w 8601735"/>
                <a:gd name="connsiteY8" fmla="*/ 171810 h 3774946"/>
                <a:gd name="connsiteX9" fmla="*/ 4169410 w 8601735"/>
                <a:gd name="connsiteY9" fmla="*/ 47985 h 3774946"/>
                <a:gd name="connsiteX10" fmla="*/ 4055110 w 8601735"/>
                <a:gd name="connsiteY10" fmla="*/ 47985 h 3774946"/>
                <a:gd name="connsiteX0" fmla="*/ 4091548 w 8660040"/>
                <a:gd name="connsiteY0" fmla="*/ 38460 h 3892200"/>
                <a:gd name="connsiteX1" fmla="*/ 3167623 w 8660040"/>
                <a:gd name="connsiteY1" fmla="*/ 200385 h 3892200"/>
                <a:gd name="connsiteX2" fmla="*/ 329173 w 8660040"/>
                <a:gd name="connsiteY2" fmla="*/ 543285 h 3892200"/>
                <a:gd name="connsiteX3" fmla="*/ 338698 w 8660040"/>
                <a:gd name="connsiteY3" fmla="*/ 2600685 h 3892200"/>
                <a:gd name="connsiteX4" fmla="*/ 2834248 w 8660040"/>
                <a:gd name="connsiteY4" fmla="*/ 3600810 h 3892200"/>
                <a:gd name="connsiteX5" fmla="*/ 7482448 w 8660040"/>
                <a:gd name="connsiteY5" fmla="*/ 3648435 h 3892200"/>
                <a:gd name="connsiteX6" fmla="*/ 8596873 w 8660040"/>
                <a:gd name="connsiteY6" fmla="*/ 695685 h 3892200"/>
                <a:gd name="connsiteX7" fmla="*/ 6129898 w 8660040"/>
                <a:gd name="connsiteY7" fmla="*/ 295635 h 3892200"/>
                <a:gd name="connsiteX8" fmla="*/ 4891648 w 8660040"/>
                <a:gd name="connsiteY8" fmla="*/ 171810 h 3892200"/>
                <a:gd name="connsiteX9" fmla="*/ 4262998 w 8660040"/>
                <a:gd name="connsiteY9" fmla="*/ 47985 h 3892200"/>
                <a:gd name="connsiteX10" fmla="*/ 4148698 w 8660040"/>
                <a:gd name="connsiteY10" fmla="*/ 47985 h 3892200"/>
                <a:gd name="connsiteX0" fmla="*/ 4091548 w 8660040"/>
                <a:gd name="connsiteY0" fmla="*/ 6023 h 3859763"/>
                <a:gd name="connsiteX1" fmla="*/ 3167623 w 8660040"/>
                <a:gd name="connsiteY1" fmla="*/ 167948 h 3859763"/>
                <a:gd name="connsiteX2" fmla="*/ 329173 w 8660040"/>
                <a:gd name="connsiteY2" fmla="*/ 510848 h 3859763"/>
                <a:gd name="connsiteX3" fmla="*/ 338698 w 8660040"/>
                <a:gd name="connsiteY3" fmla="*/ 2568248 h 3859763"/>
                <a:gd name="connsiteX4" fmla="*/ 2834248 w 8660040"/>
                <a:gd name="connsiteY4" fmla="*/ 3568373 h 3859763"/>
                <a:gd name="connsiteX5" fmla="*/ 7482448 w 8660040"/>
                <a:gd name="connsiteY5" fmla="*/ 3615998 h 3859763"/>
                <a:gd name="connsiteX6" fmla="*/ 8596873 w 8660040"/>
                <a:gd name="connsiteY6" fmla="*/ 663248 h 3859763"/>
                <a:gd name="connsiteX7" fmla="*/ 6129898 w 8660040"/>
                <a:gd name="connsiteY7" fmla="*/ 263198 h 3859763"/>
                <a:gd name="connsiteX8" fmla="*/ 5091673 w 8660040"/>
                <a:gd name="connsiteY8" fmla="*/ 215573 h 3859763"/>
                <a:gd name="connsiteX9" fmla="*/ 4262998 w 8660040"/>
                <a:gd name="connsiteY9" fmla="*/ 15548 h 3859763"/>
                <a:gd name="connsiteX10" fmla="*/ 4148698 w 8660040"/>
                <a:gd name="connsiteY10" fmla="*/ 15548 h 3859763"/>
                <a:gd name="connsiteX0" fmla="*/ 4091548 w 8649582"/>
                <a:gd name="connsiteY0" fmla="*/ 6023 h 3859763"/>
                <a:gd name="connsiteX1" fmla="*/ 3167623 w 8649582"/>
                <a:gd name="connsiteY1" fmla="*/ 167948 h 3859763"/>
                <a:gd name="connsiteX2" fmla="*/ 329173 w 8649582"/>
                <a:gd name="connsiteY2" fmla="*/ 510848 h 3859763"/>
                <a:gd name="connsiteX3" fmla="*/ 338698 w 8649582"/>
                <a:gd name="connsiteY3" fmla="*/ 2568248 h 3859763"/>
                <a:gd name="connsiteX4" fmla="*/ 2834248 w 8649582"/>
                <a:gd name="connsiteY4" fmla="*/ 3568373 h 3859763"/>
                <a:gd name="connsiteX5" fmla="*/ 7482448 w 8649582"/>
                <a:gd name="connsiteY5" fmla="*/ 3615998 h 3859763"/>
                <a:gd name="connsiteX6" fmla="*/ 8596873 w 8649582"/>
                <a:gd name="connsiteY6" fmla="*/ 663248 h 3859763"/>
                <a:gd name="connsiteX7" fmla="*/ 6301348 w 8649582"/>
                <a:gd name="connsiteY7" fmla="*/ 272723 h 3859763"/>
                <a:gd name="connsiteX8" fmla="*/ 5091673 w 8649582"/>
                <a:gd name="connsiteY8" fmla="*/ 215573 h 3859763"/>
                <a:gd name="connsiteX9" fmla="*/ 4262998 w 8649582"/>
                <a:gd name="connsiteY9" fmla="*/ 15548 h 3859763"/>
                <a:gd name="connsiteX10" fmla="*/ 4148698 w 8649582"/>
                <a:gd name="connsiteY10" fmla="*/ 15548 h 3859763"/>
                <a:gd name="connsiteX0" fmla="*/ 4091548 w 8649582"/>
                <a:gd name="connsiteY0" fmla="*/ 6023 h 3859763"/>
                <a:gd name="connsiteX1" fmla="*/ 3167623 w 8649582"/>
                <a:gd name="connsiteY1" fmla="*/ 167948 h 3859763"/>
                <a:gd name="connsiteX2" fmla="*/ 329173 w 8649582"/>
                <a:gd name="connsiteY2" fmla="*/ 510848 h 3859763"/>
                <a:gd name="connsiteX3" fmla="*/ 338698 w 8649582"/>
                <a:gd name="connsiteY3" fmla="*/ 2568248 h 3859763"/>
                <a:gd name="connsiteX4" fmla="*/ 2834248 w 8649582"/>
                <a:gd name="connsiteY4" fmla="*/ 3568373 h 3859763"/>
                <a:gd name="connsiteX5" fmla="*/ 7482448 w 8649582"/>
                <a:gd name="connsiteY5" fmla="*/ 3615998 h 3859763"/>
                <a:gd name="connsiteX6" fmla="*/ 8596873 w 8649582"/>
                <a:gd name="connsiteY6" fmla="*/ 663248 h 3859763"/>
                <a:gd name="connsiteX7" fmla="*/ 6301348 w 8649582"/>
                <a:gd name="connsiteY7" fmla="*/ 272723 h 3859763"/>
                <a:gd name="connsiteX8" fmla="*/ 5091673 w 8649582"/>
                <a:gd name="connsiteY8" fmla="*/ 215573 h 3859763"/>
                <a:gd name="connsiteX9" fmla="*/ 4262998 w 8649582"/>
                <a:gd name="connsiteY9" fmla="*/ 15548 h 3859763"/>
                <a:gd name="connsiteX10" fmla="*/ 4148698 w 8649582"/>
                <a:gd name="connsiteY10" fmla="*/ 15548 h 3859763"/>
                <a:gd name="connsiteX0" fmla="*/ 4091548 w 8685106"/>
                <a:gd name="connsiteY0" fmla="*/ 6023 h 3849986"/>
                <a:gd name="connsiteX1" fmla="*/ 3167623 w 8685106"/>
                <a:gd name="connsiteY1" fmla="*/ 167948 h 3849986"/>
                <a:gd name="connsiteX2" fmla="*/ 329173 w 8685106"/>
                <a:gd name="connsiteY2" fmla="*/ 510848 h 3849986"/>
                <a:gd name="connsiteX3" fmla="*/ 338698 w 8685106"/>
                <a:gd name="connsiteY3" fmla="*/ 2568248 h 3849986"/>
                <a:gd name="connsiteX4" fmla="*/ 2834248 w 8685106"/>
                <a:gd name="connsiteY4" fmla="*/ 3568373 h 3849986"/>
                <a:gd name="connsiteX5" fmla="*/ 7482448 w 8685106"/>
                <a:gd name="connsiteY5" fmla="*/ 3615998 h 3849986"/>
                <a:gd name="connsiteX6" fmla="*/ 8634973 w 8685106"/>
                <a:gd name="connsiteY6" fmla="*/ 796598 h 3849986"/>
                <a:gd name="connsiteX7" fmla="*/ 6301348 w 8685106"/>
                <a:gd name="connsiteY7" fmla="*/ 272723 h 3849986"/>
                <a:gd name="connsiteX8" fmla="*/ 5091673 w 8685106"/>
                <a:gd name="connsiteY8" fmla="*/ 215573 h 3849986"/>
                <a:gd name="connsiteX9" fmla="*/ 4262998 w 8685106"/>
                <a:gd name="connsiteY9" fmla="*/ 15548 h 3849986"/>
                <a:gd name="connsiteX10" fmla="*/ 4148698 w 8685106"/>
                <a:gd name="connsiteY10" fmla="*/ 15548 h 3849986"/>
                <a:gd name="connsiteX0" fmla="*/ 4091548 w 8685106"/>
                <a:gd name="connsiteY0" fmla="*/ 6023 h 3849986"/>
                <a:gd name="connsiteX1" fmla="*/ 3167623 w 8685106"/>
                <a:gd name="connsiteY1" fmla="*/ 167948 h 3849986"/>
                <a:gd name="connsiteX2" fmla="*/ 329173 w 8685106"/>
                <a:gd name="connsiteY2" fmla="*/ 653723 h 3849986"/>
                <a:gd name="connsiteX3" fmla="*/ 338698 w 8685106"/>
                <a:gd name="connsiteY3" fmla="*/ 2568248 h 3849986"/>
                <a:gd name="connsiteX4" fmla="*/ 2834248 w 8685106"/>
                <a:gd name="connsiteY4" fmla="*/ 3568373 h 3849986"/>
                <a:gd name="connsiteX5" fmla="*/ 7482448 w 8685106"/>
                <a:gd name="connsiteY5" fmla="*/ 3615998 h 3849986"/>
                <a:gd name="connsiteX6" fmla="*/ 8634973 w 8685106"/>
                <a:gd name="connsiteY6" fmla="*/ 796598 h 3849986"/>
                <a:gd name="connsiteX7" fmla="*/ 6301348 w 8685106"/>
                <a:gd name="connsiteY7" fmla="*/ 272723 h 3849986"/>
                <a:gd name="connsiteX8" fmla="*/ 5091673 w 8685106"/>
                <a:gd name="connsiteY8" fmla="*/ 215573 h 3849986"/>
                <a:gd name="connsiteX9" fmla="*/ 4262998 w 8685106"/>
                <a:gd name="connsiteY9" fmla="*/ 15548 h 3849986"/>
                <a:gd name="connsiteX10" fmla="*/ 4148698 w 8685106"/>
                <a:gd name="connsiteY10" fmla="*/ 15548 h 3849986"/>
                <a:gd name="connsiteX0" fmla="*/ 4091548 w 8761686"/>
                <a:gd name="connsiteY0" fmla="*/ 6023 h 3849986"/>
                <a:gd name="connsiteX1" fmla="*/ 3167623 w 8761686"/>
                <a:gd name="connsiteY1" fmla="*/ 167948 h 3849986"/>
                <a:gd name="connsiteX2" fmla="*/ 329173 w 8761686"/>
                <a:gd name="connsiteY2" fmla="*/ 653723 h 3849986"/>
                <a:gd name="connsiteX3" fmla="*/ 338698 w 8761686"/>
                <a:gd name="connsiteY3" fmla="*/ 2568248 h 3849986"/>
                <a:gd name="connsiteX4" fmla="*/ 2834248 w 8761686"/>
                <a:gd name="connsiteY4" fmla="*/ 3568373 h 3849986"/>
                <a:gd name="connsiteX5" fmla="*/ 7482448 w 8761686"/>
                <a:gd name="connsiteY5" fmla="*/ 3615998 h 3849986"/>
                <a:gd name="connsiteX6" fmla="*/ 8634973 w 8761686"/>
                <a:gd name="connsiteY6" fmla="*/ 796598 h 3849986"/>
                <a:gd name="connsiteX7" fmla="*/ 5091673 w 8761686"/>
                <a:gd name="connsiteY7" fmla="*/ 215573 h 3849986"/>
                <a:gd name="connsiteX8" fmla="*/ 4262998 w 8761686"/>
                <a:gd name="connsiteY8" fmla="*/ 15548 h 3849986"/>
                <a:gd name="connsiteX9" fmla="*/ 4148698 w 8761686"/>
                <a:gd name="connsiteY9" fmla="*/ 15548 h 3849986"/>
                <a:gd name="connsiteX0" fmla="*/ 4091548 w 8747827"/>
                <a:gd name="connsiteY0" fmla="*/ 7431 h 3851394"/>
                <a:gd name="connsiteX1" fmla="*/ 3167623 w 8747827"/>
                <a:gd name="connsiteY1" fmla="*/ 169356 h 3851394"/>
                <a:gd name="connsiteX2" fmla="*/ 329173 w 8747827"/>
                <a:gd name="connsiteY2" fmla="*/ 655131 h 3851394"/>
                <a:gd name="connsiteX3" fmla="*/ 338698 w 8747827"/>
                <a:gd name="connsiteY3" fmla="*/ 2569656 h 3851394"/>
                <a:gd name="connsiteX4" fmla="*/ 2834248 w 8747827"/>
                <a:gd name="connsiteY4" fmla="*/ 3569781 h 3851394"/>
                <a:gd name="connsiteX5" fmla="*/ 7482448 w 8747827"/>
                <a:gd name="connsiteY5" fmla="*/ 3617406 h 3851394"/>
                <a:gd name="connsiteX6" fmla="*/ 8634973 w 8747827"/>
                <a:gd name="connsiteY6" fmla="*/ 798006 h 3851394"/>
                <a:gd name="connsiteX7" fmla="*/ 5301223 w 8747827"/>
                <a:gd name="connsiteY7" fmla="*/ 236031 h 3851394"/>
                <a:gd name="connsiteX8" fmla="*/ 4262998 w 8747827"/>
                <a:gd name="connsiteY8" fmla="*/ 16956 h 3851394"/>
                <a:gd name="connsiteX9" fmla="*/ 4148698 w 8747827"/>
                <a:gd name="connsiteY9" fmla="*/ 16956 h 3851394"/>
                <a:gd name="connsiteX0" fmla="*/ 4091548 w 8747827"/>
                <a:gd name="connsiteY0" fmla="*/ 7431 h 3851394"/>
                <a:gd name="connsiteX1" fmla="*/ 3167623 w 8747827"/>
                <a:gd name="connsiteY1" fmla="*/ 169356 h 3851394"/>
                <a:gd name="connsiteX2" fmla="*/ 329173 w 8747827"/>
                <a:gd name="connsiteY2" fmla="*/ 655131 h 3851394"/>
                <a:gd name="connsiteX3" fmla="*/ 338698 w 8747827"/>
                <a:gd name="connsiteY3" fmla="*/ 2569656 h 3851394"/>
                <a:gd name="connsiteX4" fmla="*/ 2834248 w 8747827"/>
                <a:gd name="connsiteY4" fmla="*/ 3569781 h 3851394"/>
                <a:gd name="connsiteX5" fmla="*/ 7482448 w 8747827"/>
                <a:gd name="connsiteY5" fmla="*/ 3617406 h 3851394"/>
                <a:gd name="connsiteX6" fmla="*/ 8634973 w 8747827"/>
                <a:gd name="connsiteY6" fmla="*/ 798006 h 3851394"/>
                <a:gd name="connsiteX7" fmla="*/ 5301223 w 8747827"/>
                <a:gd name="connsiteY7" fmla="*/ 236031 h 3851394"/>
                <a:gd name="connsiteX8" fmla="*/ 4262998 w 8747827"/>
                <a:gd name="connsiteY8" fmla="*/ 16956 h 3851394"/>
                <a:gd name="connsiteX9" fmla="*/ 4148698 w 8747827"/>
                <a:gd name="connsiteY9" fmla="*/ 16956 h 3851394"/>
                <a:gd name="connsiteX0" fmla="*/ 4091548 w 8747827"/>
                <a:gd name="connsiteY0" fmla="*/ 0 h 3843963"/>
                <a:gd name="connsiteX1" fmla="*/ 3167623 w 8747827"/>
                <a:gd name="connsiteY1" fmla="*/ 161925 h 3843963"/>
                <a:gd name="connsiteX2" fmla="*/ 329173 w 8747827"/>
                <a:gd name="connsiteY2" fmla="*/ 647700 h 3843963"/>
                <a:gd name="connsiteX3" fmla="*/ 338698 w 8747827"/>
                <a:gd name="connsiteY3" fmla="*/ 2562225 h 3843963"/>
                <a:gd name="connsiteX4" fmla="*/ 2834248 w 8747827"/>
                <a:gd name="connsiteY4" fmla="*/ 3562350 h 3843963"/>
                <a:gd name="connsiteX5" fmla="*/ 7482448 w 8747827"/>
                <a:gd name="connsiteY5" fmla="*/ 3609975 h 3843963"/>
                <a:gd name="connsiteX6" fmla="*/ 8634973 w 8747827"/>
                <a:gd name="connsiteY6" fmla="*/ 790575 h 3843963"/>
                <a:gd name="connsiteX7" fmla="*/ 5301223 w 8747827"/>
                <a:gd name="connsiteY7" fmla="*/ 228600 h 3843963"/>
                <a:gd name="connsiteX8" fmla="*/ 4262998 w 8747827"/>
                <a:gd name="connsiteY8" fmla="*/ 9525 h 3843963"/>
                <a:gd name="connsiteX9" fmla="*/ 4043923 w 8747827"/>
                <a:gd name="connsiteY9" fmla="*/ 57150 h 3843963"/>
                <a:gd name="connsiteX0" fmla="*/ 3981058 w 8747827"/>
                <a:gd name="connsiteY0" fmla="*/ 35193 h 3841056"/>
                <a:gd name="connsiteX1" fmla="*/ 3167623 w 8747827"/>
                <a:gd name="connsiteY1" fmla="*/ 159018 h 3841056"/>
                <a:gd name="connsiteX2" fmla="*/ 329173 w 8747827"/>
                <a:gd name="connsiteY2" fmla="*/ 644793 h 3841056"/>
                <a:gd name="connsiteX3" fmla="*/ 338698 w 8747827"/>
                <a:gd name="connsiteY3" fmla="*/ 2559318 h 3841056"/>
                <a:gd name="connsiteX4" fmla="*/ 2834248 w 8747827"/>
                <a:gd name="connsiteY4" fmla="*/ 3559443 h 3841056"/>
                <a:gd name="connsiteX5" fmla="*/ 7482448 w 8747827"/>
                <a:gd name="connsiteY5" fmla="*/ 3607068 h 3841056"/>
                <a:gd name="connsiteX6" fmla="*/ 8634973 w 8747827"/>
                <a:gd name="connsiteY6" fmla="*/ 787668 h 3841056"/>
                <a:gd name="connsiteX7" fmla="*/ 5301223 w 8747827"/>
                <a:gd name="connsiteY7" fmla="*/ 225693 h 3841056"/>
                <a:gd name="connsiteX8" fmla="*/ 4262998 w 8747827"/>
                <a:gd name="connsiteY8" fmla="*/ 6618 h 3841056"/>
                <a:gd name="connsiteX9" fmla="*/ 4043923 w 8747827"/>
                <a:gd name="connsiteY9" fmla="*/ 54243 h 3841056"/>
                <a:gd name="connsiteX0" fmla="*/ 3981058 w 8747827"/>
                <a:gd name="connsiteY0" fmla="*/ 73290 h 3879153"/>
                <a:gd name="connsiteX1" fmla="*/ 3167623 w 8747827"/>
                <a:gd name="connsiteY1" fmla="*/ 197115 h 3879153"/>
                <a:gd name="connsiteX2" fmla="*/ 329173 w 8747827"/>
                <a:gd name="connsiteY2" fmla="*/ 682890 h 3879153"/>
                <a:gd name="connsiteX3" fmla="*/ 338698 w 8747827"/>
                <a:gd name="connsiteY3" fmla="*/ 2597415 h 3879153"/>
                <a:gd name="connsiteX4" fmla="*/ 2834248 w 8747827"/>
                <a:gd name="connsiteY4" fmla="*/ 3597540 h 3879153"/>
                <a:gd name="connsiteX5" fmla="*/ 7482448 w 8747827"/>
                <a:gd name="connsiteY5" fmla="*/ 3645165 h 3879153"/>
                <a:gd name="connsiteX6" fmla="*/ 8634973 w 8747827"/>
                <a:gd name="connsiteY6" fmla="*/ 825765 h 3879153"/>
                <a:gd name="connsiteX7" fmla="*/ 5301223 w 8747827"/>
                <a:gd name="connsiteY7" fmla="*/ 263790 h 3879153"/>
                <a:gd name="connsiteX8" fmla="*/ 4262998 w 8747827"/>
                <a:gd name="connsiteY8" fmla="*/ 44715 h 3879153"/>
                <a:gd name="connsiteX9" fmla="*/ 4131553 w 8747827"/>
                <a:gd name="connsiteY9" fmla="*/ 900 h 3879153"/>
                <a:gd name="connsiteX0" fmla="*/ 3981058 w 8747827"/>
                <a:gd name="connsiteY0" fmla="*/ 73290 h 3879153"/>
                <a:gd name="connsiteX1" fmla="*/ 3167623 w 8747827"/>
                <a:gd name="connsiteY1" fmla="*/ 197115 h 3879153"/>
                <a:gd name="connsiteX2" fmla="*/ 329173 w 8747827"/>
                <a:gd name="connsiteY2" fmla="*/ 682890 h 3879153"/>
                <a:gd name="connsiteX3" fmla="*/ 338698 w 8747827"/>
                <a:gd name="connsiteY3" fmla="*/ 2597415 h 3879153"/>
                <a:gd name="connsiteX4" fmla="*/ 2834248 w 8747827"/>
                <a:gd name="connsiteY4" fmla="*/ 3597540 h 3879153"/>
                <a:gd name="connsiteX5" fmla="*/ 7482448 w 8747827"/>
                <a:gd name="connsiteY5" fmla="*/ 3645165 h 3879153"/>
                <a:gd name="connsiteX6" fmla="*/ 8634973 w 8747827"/>
                <a:gd name="connsiteY6" fmla="*/ 825765 h 3879153"/>
                <a:gd name="connsiteX7" fmla="*/ 5301223 w 8747827"/>
                <a:gd name="connsiteY7" fmla="*/ 263790 h 3879153"/>
                <a:gd name="connsiteX8" fmla="*/ 4262998 w 8747827"/>
                <a:gd name="connsiteY8" fmla="*/ 44715 h 3879153"/>
                <a:gd name="connsiteX9" fmla="*/ 4131553 w 8747827"/>
                <a:gd name="connsiteY9" fmla="*/ 900 h 3879153"/>
                <a:gd name="connsiteX0" fmla="*/ 3981058 w 8747827"/>
                <a:gd name="connsiteY0" fmla="*/ 72689 h 3878552"/>
                <a:gd name="connsiteX1" fmla="*/ 3167623 w 8747827"/>
                <a:gd name="connsiteY1" fmla="*/ 196514 h 3878552"/>
                <a:gd name="connsiteX2" fmla="*/ 329173 w 8747827"/>
                <a:gd name="connsiteY2" fmla="*/ 682289 h 3878552"/>
                <a:gd name="connsiteX3" fmla="*/ 338698 w 8747827"/>
                <a:gd name="connsiteY3" fmla="*/ 2596814 h 3878552"/>
                <a:gd name="connsiteX4" fmla="*/ 2834248 w 8747827"/>
                <a:gd name="connsiteY4" fmla="*/ 3596939 h 3878552"/>
                <a:gd name="connsiteX5" fmla="*/ 7482448 w 8747827"/>
                <a:gd name="connsiteY5" fmla="*/ 3644564 h 3878552"/>
                <a:gd name="connsiteX6" fmla="*/ 8634973 w 8747827"/>
                <a:gd name="connsiteY6" fmla="*/ 825164 h 3878552"/>
                <a:gd name="connsiteX7" fmla="*/ 5301223 w 8747827"/>
                <a:gd name="connsiteY7" fmla="*/ 263189 h 3878552"/>
                <a:gd name="connsiteX8" fmla="*/ 4304908 w 8747827"/>
                <a:gd name="connsiteY8" fmla="*/ 63164 h 3878552"/>
                <a:gd name="connsiteX9" fmla="*/ 4131553 w 8747827"/>
                <a:gd name="connsiteY9" fmla="*/ 299 h 3878552"/>
                <a:gd name="connsiteX0" fmla="*/ 3981058 w 8747827"/>
                <a:gd name="connsiteY0" fmla="*/ 75718 h 3881581"/>
                <a:gd name="connsiteX1" fmla="*/ 3167623 w 8747827"/>
                <a:gd name="connsiteY1" fmla="*/ 199543 h 3881581"/>
                <a:gd name="connsiteX2" fmla="*/ 329173 w 8747827"/>
                <a:gd name="connsiteY2" fmla="*/ 685318 h 3881581"/>
                <a:gd name="connsiteX3" fmla="*/ 338698 w 8747827"/>
                <a:gd name="connsiteY3" fmla="*/ 2599843 h 3881581"/>
                <a:gd name="connsiteX4" fmla="*/ 2834248 w 8747827"/>
                <a:gd name="connsiteY4" fmla="*/ 3599968 h 3881581"/>
                <a:gd name="connsiteX5" fmla="*/ 7482448 w 8747827"/>
                <a:gd name="connsiteY5" fmla="*/ 3647593 h 3881581"/>
                <a:gd name="connsiteX6" fmla="*/ 8634973 w 8747827"/>
                <a:gd name="connsiteY6" fmla="*/ 828193 h 3881581"/>
                <a:gd name="connsiteX7" fmla="*/ 5301223 w 8747827"/>
                <a:gd name="connsiteY7" fmla="*/ 266218 h 3881581"/>
                <a:gd name="connsiteX8" fmla="*/ 4304908 w 8747827"/>
                <a:gd name="connsiteY8" fmla="*/ 66193 h 3881581"/>
                <a:gd name="connsiteX9" fmla="*/ 4131553 w 8747827"/>
                <a:gd name="connsiteY9" fmla="*/ 3328 h 3881581"/>
                <a:gd name="connsiteX0" fmla="*/ 3981058 w 8747827"/>
                <a:gd name="connsiteY0" fmla="*/ 75718 h 3881581"/>
                <a:gd name="connsiteX1" fmla="*/ 3167623 w 8747827"/>
                <a:gd name="connsiteY1" fmla="*/ 199543 h 3881581"/>
                <a:gd name="connsiteX2" fmla="*/ 329173 w 8747827"/>
                <a:gd name="connsiteY2" fmla="*/ 685318 h 3881581"/>
                <a:gd name="connsiteX3" fmla="*/ 338698 w 8747827"/>
                <a:gd name="connsiteY3" fmla="*/ 2599843 h 3881581"/>
                <a:gd name="connsiteX4" fmla="*/ 2834248 w 8747827"/>
                <a:gd name="connsiteY4" fmla="*/ 3599968 h 3881581"/>
                <a:gd name="connsiteX5" fmla="*/ 7482448 w 8747827"/>
                <a:gd name="connsiteY5" fmla="*/ 3647593 h 3881581"/>
                <a:gd name="connsiteX6" fmla="*/ 8634973 w 8747827"/>
                <a:gd name="connsiteY6" fmla="*/ 828193 h 3881581"/>
                <a:gd name="connsiteX7" fmla="*/ 5301223 w 8747827"/>
                <a:gd name="connsiteY7" fmla="*/ 266218 h 3881581"/>
                <a:gd name="connsiteX8" fmla="*/ 4304908 w 8747827"/>
                <a:gd name="connsiteY8" fmla="*/ 66193 h 3881581"/>
                <a:gd name="connsiteX9" fmla="*/ 4131553 w 8747827"/>
                <a:gd name="connsiteY9" fmla="*/ 3328 h 3881581"/>
                <a:gd name="connsiteX0" fmla="*/ 3981058 w 8747827"/>
                <a:gd name="connsiteY0" fmla="*/ 75718 h 3881581"/>
                <a:gd name="connsiteX1" fmla="*/ 3167623 w 8747827"/>
                <a:gd name="connsiteY1" fmla="*/ 199543 h 3881581"/>
                <a:gd name="connsiteX2" fmla="*/ 329173 w 8747827"/>
                <a:gd name="connsiteY2" fmla="*/ 685318 h 3881581"/>
                <a:gd name="connsiteX3" fmla="*/ 338698 w 8747827"/>
                <a:gd name="connsiteY3" fmla="*/ 2599843 h 3881581"/>
                <a:gd name="connsiteX4" fmla="*/ 2834248 w 8747827"/>
                <a:gd name="connsiteY4" fmla="*/ 3599968 h 3881581"/>
                <a:gd name="connsiteX5" fmla="*/ 7482448 w 8747827"/>
                <a:gd name="connsiteY5" fmla="*/ 3647593 h 3881581"/>
                <a:gd name="connsiteX6" fmla="*/ 8634973 w 8747827"/>
                <a:gd name="connsiteY6" fmla="*/ 828193 h 3881581"/>
                <a:gd name="connsiteX7" fmla="*/ 5301223 w 8747827"/>
                <a:gd name="connsiteY7" fmla="*/ 266218 h 3881581"/>
                <a:gd name="connsiteX8" fmla="*/ 4304908 w 8747827"/>
                <a:gd name="connsiteY8" fmla="*/ 66193 h 3881581"/>
                <a:gd name="connsiteX9" fmla="*/ 4131553 w 8747827"/>
                <a:gd name="connsiteY9" fmla="*/ 3328 h 3881581"/>
                <a:gd name="connsiteX0" fmla="*/ 4299209 w 9065978"/>
                <a:gd name="connsiteY0" fmla="*/ 75718 h 3871220"/>
                <a:gd name="connsiteX1" fmla="*/ 3485774 w 9065978"/>
                <a:gd name="connsiteY1" fmla="*/ 199543 h 3871220"/>
                <a:gd name="connsiteX2" fmla="*/ 647324 w 9065978"/>
                <a:gd name="connsiteY2" fmla="*/ 685318 h 3871220"/>
                <a:gd name="connsiteX3" fmla="*/ 189489 w 9065978"/>
                <a:gd name="connsiteY3" fmla="*/ 2843683 h 3871220"/>
                <a:gd name="connsiteX4" fmla="*/ 3152399 w 9065978"/>
                <a:gd name="connsiteY4" fmla="*/ 3599968 h 3871220"/>
                <a:gd name="connsiteX5" fmla="*/ 7800599 w 9065978"/>
                <a:gd name="connsiteY5" fmla="*/ 3647593 h 3871220"/>
                <a:gd name="connsiteX6" fmla="*/ 8953124 w 9065978"/>
                <a:gd name="connsiteY6" fmla="*/ 828193 h 3871220"/>
                <a:gd name="connsiteX7" fmla="*/ 5619374 w 9065978"/>
                <a:gd name="connsiteY7" fmla="*/ 266218 h 3871220"/>
                <a:gd name="connsiteX8" fmla="*/ 4623059 w 9065978"/>
                <a:gd name="connsiteY8" fmla="*/ 66193 h 3871220"/>
                <a:gd name="connsiteX9" fmla="*/ 4449704 w 9065978"/>
                <a:gd name="connsiteY9" fmla="*/ 3328 h 3871220"/>
                <a:gd name="connsiteX0" fmla="*/ 4299209 w 9442771"/>
                <a:gd name="connsiteY0" fmla="*/ 75718 h 3941669"/>
                <a:gd name="connsiteX1" fmla="*/ 3485774 w 9442771"/>
                <a:gd name="connsiteY1" fmla="*/ 199543 h 3941669"/>
                <a:gd name="connsiteX2" fmla="*/ 647324 w 9442771"/>
                <a:gd name="connsiteY2" fmla="*/ 685318 h 3941669"/>
                <a:gd name="connsiteX3" fmla="*/ 189489 w 9442771"/>
                <a:gd name="connsiteY3" fmla="*/ 2843683 h 3941669"/>
                <a:gd name="connsiteX4" fmla="*/ 3152399 w 9442771"/>
                <a:gd name="connsiteY4" fmla="*/ 3599968 h 3941669"/>
                <a:gd name="connsiteX5" fmla="*/ 8806439 w 9442771"/>
                <a:gd name="connsiteY5" fmla="*/ 3739033 h 3941669"/>
                <a:gd name="connsiteX6" fmla="*/ 8953124 w 9442771"/>
                <a:gd name="connsiteY6" fmla="*/ 828193 h 3941669"/>
                <a:gd name="connsiteX7" fmla="*/ 5619374 w 9442771"/>
                <a:gd name="connsiteY7" fmla="*/ 266218 h 3941669"/>
                <a:gd name="connsiteX8" fmla="*/ 4623059 w 9442771"/>
                <a:gd name="connsiteY8" fmla="*/ 66193 h 3941669"/>
                <a:gd name="connsiteX9" fmla="*/ 4449704 w 9442771"/>
                <a:gd name="connsiteY9" fmla="*/ 3328 h 3941669"/>
                <a:gd name="connsiteX0" fmla="*/ 4299209 w 9643812"/>
                <a:gd name="connsiteY0" fmla="*/ 75718 h 3940165"/>
                <a:gd name="connsiteX1" fmla="*/ 3485774 w 9643812"/>
                <a:gd name="connsiteY1" fmla="*/ 199543 h 3940165"/>
                <a:gd name="connsiteX2" fmla="*/ 647324 w 9643812"/>
                <a:gd name="connsiteY2" fmla="*/ 685318 h 3940165"/>
                <a:gd name="connsiteX3" fmla="*/ 189489 w 9643812"/>
                <a:gd name="connsiteY3" fmla="*/ 2843683 h 3940165"/>
                <a:gd name="connsiteX4" fmla="*/ 3152399 w 9643812"/>
                <a:gd name="connsiteY4" fmla="*/ 3599968 h 3940165"/>
                <a:gd name="connsiteX5" fmla="*/ 8806439 w 9643812"/>
                <a:gd name="connsiteY5" fmla="*/ 3739033 h 3940165"/>
                <a:gd name="connsiteX6" fmla="*/ 9288404 w 9643812"/>
                <a:gd name="connsiteY6" fmla="*/ 848513 h 3940165"/>
                <a:gd name="connsiteX7" fmla="*/ 5619374 w 9643812"/>
                <a:gd name="connsiteY7" fmla="*/ 266218 h 3940165"/>
                <a:gd name="connsiteX8" fmla="*/ 4623059 w 9643812"/>
                <a:gd name="connsiteY8" fmla="*/ 66193 h 3940165"/>
                <a:gd name="connsiteX9" fmla="*/ 4449704 w 9643812"/>
                <a:gd name="connsiteY9" fmla="*/ 3328 h 3940165"/>
                <a:gd name="connsiteX0" fmla="*/ 4445001 w 9789604"/>
                <a:gd name="connsiteY0" fmla="*/ 75718 h 3940165"/>
                <a:gd name="connsiteX1" fmla="*/ 3631566 w 9789604"/>
                <a:gd name="connsiteY1" fmla="*/ 199543 h 3940165"/>
                <a:gd name="connsiteX2" fmla="*/ 437516 w 9789604"/>
                <a:gd name="connsiteY2" fmla="*/ 725958 h 3940165"/>
                <a:gd name="connsiteX3" fmla="*/ 335281 w 9789604"/>
                <a:gd name="connsiteY3" fmla="*/ 2843683 h 3940165"/>
                <a:gd name="connsiteX4" fmla="*/ 3298191 w 9789604"/>
                <a:gd name="connsiteY4" fmla="*/ 3599968 h 3940165"/>
                <a:gd name="connsiteX5" fmla="*/ 8952231 w 9789604"/>
                <a:gd name="connsiteY5" fmla="*/ 3739033 h 3940165"/>
                <a:gd name="connsiteX6" fmla="*/ 9434196 w 9789604"/>
                <a:gd name="connsiteY6" fmla="*/ 848513 h 3940165"/>
                <a:gd name="connsiteX7" fmla="*/ 5765166 w 9789604"/>
                <a:gd name="connsiteY7" fmla="*/ 266218 h 3940165"/>
                <a:gd name="connsiteX8" fmla="*/ 4768851 w 9789604"/>
                <a:gd name="connsiteY8" fmla="*/ 66193 h 3940165"/>
                <a:gd name="connsiteX9" fmla="*/ 4595496 w 9789604"/>
                <a:gd name="connsiteY9" fmla="*/ 3328 h 3940165"/>
                <a:gd name="connsiteX0" fmla="*/ 4339426 w 9684029"/>
                <a:gd name="connsiteY0" fmla="*/ 75718 h 3929881"/>
                <a:gd name="connsiteX1" fmla="*/ 3525991 w 9684029"/>
                <a:gd name="connsiteY1" fmla="*/ 199543 h 3929881"/>
                <a:gd name="connsiteX2" fmla="*/ 331941 w 9684029"/>
                <a:gd name="connsiteY2" fmla="*/ 725958 h 3929881"/>
                <a:gd name="connsiteX3" fmla="*/ 422746 w 9684029"/>
                <a:gd name="connsiteY3" fmla="*/ 3148483 h 3929881"/>
                <a:gd name="connsiteX4" fmla="*/ 3192616 w 9684029"/>
                <a:gd name="connsiteY4" fmla="*/ 3599968 h 3929881"/>
                <a:gd name="connsiteX5" fmla="*/ 8846656 w 9684029"/>
                <a:gd name="connsiteY5" fmla="*/ 3739033 h 3929881"/>
                <a:gd name="connsiteX6" fmla="*/ 9328621 w 9684029"/>
                <a:gd name="connsiteY6" fmla="*/ 848513 h 3929881"/>
                <a:gd name="connsiteX7" fmla="*/ 5659591 w 9684029"/>
                <a:gd name="connsiteY7" fmla="*/ 266218 h 3929881"/>
                <a:gd name="connsiteX8" fmla="*/ 4663276 w 9684029"/>
                <a:gd name="connsiteY8" fmla="*/ 66193 h 3929881"/>
                <a:gd name="connsiteX9" fmla="*/ 4489921 w 9684029"/>
                <a:gd name="connsiteY9" fmla="*/ 3328 h 3929881"/>
                <a:gd name="connsiteX0" fmla="*/ 4409795 w 9696891"/>
                <a:gd name="connsiteY0" fmla="*/ 75718 h 4090229"/>
                <a:gd name="connsiteX1" fmla="*/ 3596360 w 9696891"/>
                <a:gd name="connsiteY1" fmla="*/ 199543 h 4090229"/>
                <a:gd name="connsiteX2" fmla="*/ 402310 w 9696891"/>
                <a:gd name="connsiteY2" fmla="*/ 725958 h 4090229"/>
                <a:gd name="connsiteX3" fmla="*/ 493115 w 9696891"/>
                <a:gd name="connsiteY3" fmla="*/ 3148483 h 4090229"/>
                <a:gd name="connsiteX4" fmla="*/ 4461865 w 9696891"/>
                <a:gd name="connsiteY4" fmla="*/ 3975888 h 4090229"/>
                <a:gd name="connsiteX5" fmla="*/ 8917025 w 9696891"/>
                <a:gd name="connsiteY5" fmla="*/ 3739033 h 4090229"/>
                <a:gd name="connsiteX6" fmla="*/ 9398990 w 9696891"/>
                <a:gd name="connsiteY6" fmla="*/ 848513 h 4090229"/>
                <a:gd name="connsiteX7" fmla="*/ 5729960 w 9696891"/>
                <a:gd name="connsiteY7" fmla="*/ 266218 h 4090229"/>
                <a:gd name="connsiteX8" fmla="*/ 4733645 w 9696891"/>
                <a:gd name="connsiteY8" fmla="*/ 66193 h 4090229"/>
                <a:gd name="connsiteX9" fmla="*/ 4560290 w 9696891"/>
                <a:gd name="connsiteY9" fmla="*/ 3328 h 4090229"/>
                <a:gd name="connsiteX0" fmla="*/ 4409795 w 9865821"/>
                <a:gd name="connsiteY0" fmla="*/ 75718 h 4008088"/>
                <a:gd name="connsiteX1" fmla="*/ 3596360 w 9865821"/>
                <a:gd name="connsiteY1" fmla="*/ 199543 h 4008088"/>
                <a:gd name="connsiteX2" fmla="*/ 402310 w 9865821"/>
                <a:gd name="connsiteY2" fmla="*/ 725958 h 4008088"/>
                <a:gd name="connsiteX3" fmla="*/ 493115 w 9865821"/>
                <a:gd name="connsiteY3" fmla="*/ 3148483 h 4008088"/>
                <a:gd name="connsiteX4" fmla="*/ 4461865 w 9865821"/>
                <a:gd name="connsiteY4" fmla="*/ 3975888 h 4008088"/>
                <a:gd name="connsiteX5" fmla="*/ 9272625 w 9865821"/>
                <a:gd name="connsiteY5" fmla="*/ 3535833 h 4008088"/>
                <a:gd name="connsiteX6" fmla="*/ 9398990 w 9865821"/>
                <a:gd name="connsiteY6" fmla="*/ 848513 h 4008088"/>
                <a:gd name="connsiteX7" fmla="*/ 5729960 w 9865821"/>
                <a:gd name="connsiteY7" fmla="*/ 266218 h 4008088"/>
                <a:gd name="connsiteX8" fmla="*/ 4733645 w 9865821"/>
                <a:gd name="connsiteY8" fmla="*/ 66193 h 4008088"/>
                <a:gd name="connsiteX9" fmla="*/ 4560290 w 9865821"/>
                <a:gd name="connsiteY9" fmla="*/ 3328 h 40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5821" h="4008088">
                  <a:moveTo>
                    <a:pt x="4409795" y="75718"/>
                  </a:moveTo>
                  <a:cubicBezTo>
                    <a:pt x="4185481" y="154140"/>
                    <a:pt x="4264274" y="91170"/>
                    <a:pt x="3596360" y="199543"/>
                  </a:cubicBezTo>
                  <a:cubicBezTo>
                    <a:pt x="2928446" y="307916"/>
                    <a:pt x="919517" y="234468"/>
                    <a:pt x="402310" y="725958"/>
                  </a:cubicBezTo>
                  <a:cubicBezTo>
                    <a:pt x="-114897" y="1217448"/>
                    <a:pt x="-183477" y="2606828"/>
                    <a:pt x="493115" y="3148483"/>
                  </a:cubicBezTo>
                  <a:cubicBezTo>
                    <a:pt x="1169707" y="3690138"/>
                    <a:pt x="2998614" y="3911330"/>
                    <a:pt x="4461865" y="3975888"/>
                  </a:cubicBezTo>
                  <a:cubicBezTo>
                    <a:pt x="5925116" y="4040446"/>
                    <a:pt x="8449771" y="4057062"/>
                    <a:pt x="9272625" y="3535833"/>
                  </a:cubicBezTo>
                  <a:cubicBezTo>
                    <a:pt x="10095479" y="3014604"/>
                    <a:pt x="9989434" y="1393449"/>
                    <a:pt x="9398990" y="848513"/>
                  </a:cubicBezTo>
                  <a:cubicBezTo>
                    <a:pt x="8808546" y="303577"/>
                    <a:pt x="6507517" y="396605"/>
                    <a:pt x="5729960" y="266218"/>
                  </a:cubicBezTo>
                  <a:cubicBezTo>
                    <a:pt x="4952403" y="135831"/>
                    <a:pt x="4920970" y="148108"/>
                    <a:pt x="4733645" y="66193"/>
                  </a:cubicBezTo>
                  <a:cubicBezTo>
                    <a:pt x="4546320" y="-15722"/>
                    <a:pt x="4607121" y="153"/>
                    <a:pt x="4560290" y="3328"/>
                  </a:cubicBezTo>
                </a:path>
              </a:pathLst>
            </a:custGeom>
            <a:gradFill flip="none" rotWithShape="1">
              <a:gsLst>
                <a:gs pos="0">
                  <a:srgbClr val="A4EBFF"/>
                </a:gs>
                <a:gs pos="30000">
                  <a:srgbClr val="CCFFFF">
                    <a:alpha val="68000"/>
                  </a:srgbClr>
                </a:gs>
                <a:gs pos="100000">
                  <a:schemeClr val="bg1">
                    <a:alpha val="7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ight Arrow 18"/>
          <p:cNvSpPr/>
          <p:nvPr/>
        </p:nvSpPr>
        <p:spPr>
          <a:xfrm>
            <a:off x="35496" y="4924317"/>
            <a:ext cx="9145016" cy="1449288"/>
          </a:xfrm>
          <a:prstGeom prst="rightArrow">
            <a:avLst>
              <a:gd name="adj1" fmla="val 50000"/>
              <a:gd name="adj2" fmla="val 54601"/>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3" name="TextBox 2"/>
          <p:cNvSpPr txBox="1"/>
          <p:nvPr/>
        </p:nvSpPr>
        <p:spPr>
          <a:xfrm>
            <a:off x="1847700" y="3807074"/>
            <a:ext cx="2105100" cy="1477328"/>
          </a:xfrm>
          <a:prstGeom prst="rect">
            <a:avLst/>
          </a:prstGeom>
          <a:noFill/>
        </p:spPr>
        <p:txBody>
          <a:bodyPr wrap="square" rtlCol="0">
            <a:spAutoFit/>
          </a:bodyPr>
          <a:lstStyle/>
          <a:p>
            <a:pPr algn="ctr"/>
            <a:r>
              <a:rPr lang="en-US" dirty="0"/>
              <a:t>Harmonization,</a:t>
            </a:r>
            <a:br>
              <a:rPr lang="en-US" dirty="0"/>
            </a:br>
            <a:r>
              <a:rPr lang="en-US" dirty="0"/>
              <a:t> Quality Assessment, </a:t>
            </a:r>
            <a:br>
              <a:rPr lang="en-US" dirty="0"/>
            </a:br>
            <a:r>
              <a:rPr lang="en-US" dirty="0"/>
              <a:t>Ranking,</a:t>
            </a:r>
            <a:br>
              <a:rPr lang="en-US" dirty="0"/>
            </a:br>
            <a:r>
              <a:rPr lang="en-US" dirty="0"/>
              <a:t> Enrichment</a:t>
            </a:r>
          </a:p>
        </p:txBody>
      </p:sp>
      <p:sp>
        <p:nvSpPr>
          <p:cNvPr id="34" name="TextBox 5"/>
          <p:cNvSpPr txBox="1"/>
          <p:nvPr/>
        </p:nvSpPr>
        <p:spPr>
          <a:xfrm>
            <a:off x="208087" y="3840982"/>
            <a:ext cx="1368152" cy="1200329"/>
          </a:xfrm>
          <a:prstGeom prst="rect">
            <a:avLst/>
          </a:prstGeom>
          <a:noFill/>
        </p:spPr>
        <p:txBody>
          <a:bodyPr wrap="square" rtlCol="0">
            <a:spAutoFit/>
          </a:bodyPr>
          <a:lstStyle/>
          <a:p>
            <a:pPr algn="ctr"/>
            <a:r>
              <a:rPr lang="en-US" dirty="0"/>
              <a:t>Sourcing</a:t>
            </a:r>
          </a:p>
          <a:p>
            <a:pPr algn="ctr"/>
            <a:endParaRPr lang="en-US" dirty="0"/>
          </a:p>
          <a:p>
            <a:pPr algn="ctr"/>
            <a:r>
              <a:rPr lang="en-US" dirty="0"/>
              <a:t>Quality Check</a:t>
            </a:r>
          </a:p>
        </p:txBody>
      </p:sp>
      <p:sp>
        <p:nvSpPr>
          <p:cNvPr id="35" name="TextBox 6"/>
          <p:cNvSpPr txBox="1"/>
          <p:nvPr/>
        </p:nvSpPr>
        <p:spPr>
          <a:xfrm>
            <a:off x="3851920" y="3807073"/>
            <a:ext cx="1728192" cy="1200329"/>
          </a:xfrm>
          <a:prstGeom prst="rect">
            <a:avLst/>
          </a:prstGeom>
          <a:noFill/>
        </p:spPr>
        <p:txBody>
          <a:bodyPr wrap="square" rtlCol="0">
            <a:spAutoFit/>
          </a:bodyPr>
          <a:lstStyle/>
          <a:p>
            <a:pPr algn="ctr"/>
            <a:r>
              <a:rPr lang="en-US" dirty="0"/>
              <a:t>Warehousing</a:t>
            </a:r>
          </a:p>
          <a:p>
            <a:pPr algn="ctr"/>
            <a:endParaRPr lang="en-US" dirty="0"/>
          </a:p>
          <a:p>
            <a:pPr algn="ctr"/>
            <a:endParaRPr lang="en-US" dirty="0"/>
          </a:p>
          <a:p>
            <a:pPr algn="ctr"/>
            <a:r>
              <a:rPr lang="en-US" dirty="0"/>
              <a:t>Transformation</a:t>
            </a:r>
          </a:p>
        </p:txBody>
      </p:sp>
      <p:sp>
        <p:nvSpPr>
          <p:cNvPr id="36" name="TextBox 7"/>
          <p:cNvSpPr txBox="1"/>
          <p:nvPr/>
        </p:nvSpPr>
        <p:spPr>
          <a:xfrm>
            <a:off x="5727836" y="3790836"/>
            <a:ext cx="1728192" cy="1477328"/>
          </a:xfrm>
          <a:prstGeom prst="rect">
            <a:avLst/>
          </a:prstGeom>
          <a:noFill/>
        </p:spPr>
        <p:txBody>
          <a:bodyPr wrap="square" rtlCol="0">
            <a:spAutoFit/>
          </a:bodyPr>
          <a:lstStyle/>
          <a:p>
            <a:pPr algn="ctr"/>
            <a:r>
              <a:rPr lang="en-US" dirty="0"/>
              <a:t>Distribution</a:t>
            </a:r>
          </a:p>
          <a:p>
            <a:pPr algn="ctr"/>
            <a:endParaRPr lang="en-US" dirty="0"/>
          </a:p>
          <a:p>
            <a:pPr algn="ctr"/>
            <a:r>
              <a:rPr lang="en-US" dirty="0"/>
              <a:t>Retailing,</a:t>
            </a:r>
          </a:p>
          <a:p>
            <a:pPr algn="ctr"/>
            <a:r>
              <a:rPr lang="en-US" dirty="0"/>
              <a:t>Corporate selling</a:t>
            </a:r>
          </a:p>
        </p:txBody>
      </p:sp>
      <p:sp>
        <p:nvSpPr>
          <p:cNvPr id="37" name="TextBox 8"/>
          <p:cNvSpPr txBox="1"/>
          <p:nvPr/>
        </p:nvSpPr>
        <p:spPr>
          <a:xfrm>
            <a:off x="7164288" y="3810495"/>
            <a:ext cx="1728192" cy="923330"/>
          </a:xfrm>
          <a:prstGeom prst="rect">
            <a:avLst/>
          </a:prstGeom>
          <a:noFill/>
        </p:spPr>
        <p:txBody>
          <a:bodyPr wrap="square" rtlCol="0">
            <a:spAutoFit/>
          </a:bodyPr>
          <a:lstStyle/>
          <a:p>
            <a:pPr algn="ctr"/>
            <a:r>
              <a:rPr lang="en-US" dirty="0"/>
              <a:t>Users uptake</a:t>
            </a:r>
          </a:p>
          <a:p>
            <a:pPr algn="ctr"/>
            <a:endParaRPr lang="en-US" dirty="0"/>
          </a:p>
          <a:p>
            <a:pPr algn="ctr"/>
            <a:r>
              <a:rPr lang="en-US" dirty="0"/>
              <a:t>Feedbacks</a:t>
            </a:r>
          </a:p>
        </p:txBody>
      </p:sp>
      <p:sp>
        <p:nvSpPr>
          <p:cNvPr id="38" name="Rounded Rectangle 3"/>
          <p:cNvSpPr/>
          <p:nvPr/>
        </p:nvSpPr>
        <p:spPr>
          <a:xfrm>
            <a:off x="171450" y="2404037"/>
            <a:ext cx="1472230" cy="3816424"/>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10"/>
          <p:cNvSpPr/>
          <p:nvPr/>
        </p:nvSpPr>
        <p:spPr>
          <a:xfrm>
            <a:off x="1787696" y="2413165"/>
            <a:ext cx="3792416" cy="3816424"/>
          </a:xfrm>
          <a:prstGeom prst="roundRect">
            <a:avLst>
              <a:gd name="adj" fmla="val 5114"/>
            </a:avLst>
          </a:prstGeom>
          <a:no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11"/>
          <p:cNvSpPr/>
          <p:nvPr/>
        </p:nvSpPr>
        <p:spPr>
          <a:xfrm>
            <a:off x="5724128" y="2404037"/>
            <a:ext cx="3096344" cy="3816424"/>
          </a:xfrm>
          <a:prstGeom prst="roundRect">
            <a:avLst>
              <a:gd name="adj" fmla="val 5114"/>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15"/>
          <p:cNvSpPr txBox="1"/>
          <p:nvPr/>
        </p:nvSpPr>
        <p:spPr>
          <a:xfrm>
            <a:off x="303986" y="5481632"/>
            <a:ext cx="1232132" cy="369332"/>
          </a:xfrm>
          <a:prstGeom prst="rect">
            <a:avLst/>
          </a:prstGeom>
          <a:noFill/>
        </p:spPr>
        <p:txBody>
          <a:bodyPr wrap="none" rtlCol="0">
            <a:spAutoFit/>
          </a:bodyPr>
          <a:lstStyle/>
          <a:p>
            <a:r>
              <a:rPr lang="en-US" dirty="0">
                <a:ln w="0"/>
                <a:solidFill>
                  <a:srgbClr val="385D8A"/>
                </a:solidFill>
                <a:effectLst>
                  <a:outerShdw blurRad="38100" dist="25400" dir="5400000" algn="ctr" rotWithShape="0">
                    <a:srgbClr val="6E747A">
                      <a:alpha val="43000"/>
                    </a:srgbClr>
                  </a:outerShdw>
                </a:effectLst>
              </a:rPr>
              <a:t>UPSTREAM</a:t>
            </a:r>
            <a:endParaRPr lang="en-US" dirty="0">
              <a:solidFill>
                <a:srgbClr val="385D8A"/>
              </a:solidFill>
            </a:endParaRPr>
          </a:p>
        </p:txBody>
      </p:sp>
      <p:sp>
        <p:nvSpPr>
          <p:cNvPr id="42" name="TextBox 16"/>
          <p:cNvSpPr txBox="1"/>
          <p:nvPr/>
        </p:nvSpPr>
        <p:spPr>
          <a:xfrm>
            <a:off x="3067838" y="5494380"/>
            <a:ext cx="1363578" cy="369332"/>
          </a:xfrm>
          <a:prstGeom prst="rect">
            <a:avLst/>
          </a:prstGeom>
          <a:noFill/>
        </p:spPr>
        <p:txBody>
          <a:bodyPr wrap="none" rtlCol="0">
            <a:spAutoFit/>
          </a:bodyPr>
          <a:lstStyle/>
          <a:p>
            <a:r>
              <a:rPr lang="en-US" dirty="0">
                <a:ln w="0"/>
                <a:solidFill>
                  <a:srgbClr val="77933C"/>
                </a:solidFill>
                <a:effectLst>
                  <a:outerShdw blurRad="38100" dist="25400" dir="5400000" algn="ctr" rotWithShape="0">
                    <a:srgbClr val="6E747A">
                      <a:alpha val="43000"/>
                    </a:srgbClr>
                  </a:outerShdw>
                </a:effectLst>
              </a:rPr>
              <a:t>MIDSTREAM</a:t>
            </a:r>
            <a:endParaRPr lang="en-US" dirty="0">
              <a:solidFill>
                <a:srgbClr val="77933C"/>
              </a:solidFill>
            </a:endParaRPr>
          </a:p>
        </p:txBody>
      </p:sp>
      <p:sp>
        <p:nvSpPr>
          <p:cNvPr id="43" name="TextBox 17"/>
          <p:cNvSpPr txBox="1"/>
          <p:nvPr/>
        </p:nvSpPr>
        <p:spPr>
          <a:xfrm>
            <a:off x="6516216" y="5459568"/>
            <a:ext cx="1612749" cy="369332"/>
          </a:xfrm>
          <a:prstGeom prst="rect">
            <a:avLst/>
          </a:prstGeom>
          <a:noFill/>
        </p:spPr>
        <p:txBody>
          <a:bodyPr wrap="none" rtlCol="0">
            <a:spAutoFit/>
          </a:bodyPr>
          <a:lstStyle/>
          <a:p>
            <a:r>
              <a:rPr lang="en-US" dirty="0">
                <a:ln w="0"/>
                <a:solidFill>
                  <a:srgbClr val="E46C0A"/>
                </a:solidFill>
                <a:effectLst>
                  <a:outerShdw blurRad="38100" dist="25400" dir="5400000" algn="ctr" rotWithShape="0">
                    <a:srgbClr val="6E747A">
                      <a:alpha val="43000"/>
                    </a:srgbClr>
                  </a:outerShdw>
                </a:effectLst>
              </a:rPr>
              <a:t>DOWNSTREAM</a:t>
            </a:r>
            <a:endParaRPr lang="en-US" dirty="0">
              <a:solidFill>
                <a:srgbClr val="E46C0A"/>
              </a:solidFill>
            </a:endParaRPr>
          </a:p>
        </p:txBody>
      </p:sp>
      <p:sp>
        <p:nvSpPr>
          <p:cNvPr id="44" name="Rounded Rectangle 19"/>
          <p:cNvSpPr/>
          <p:nvPr/>
        </p:nvSpPr>
        <p:spPr>
          <a:xfrm>
            <a:off x="275528" y="6079496"/>
            <a:ext cx="1512168"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Resource Providers</a:t>
            </a:r>
          </a:p>
        </p:txBody>
      </p:sp>
      <p:sp>
        <p:nvSpPr>
          <p:cNvPr id="45" name="Rounded Rectangle 20"/>
          <p:cNvSpPr/>
          <p:nvPr/>
        </p:nvSpPr>
        <p:spPr>
          <a:xfrm>
            <a:off x="2699792" y="6083322"/>
            <a:ext cx="2160240" cy="57606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Interoperability Platform</a:t>
            </a:r>
          </a:p>
        </p:txBody>
      </p:sp>
      <p:sp>
        <p:nvSpPr>
          <p:cNvPr id="46" name="Rounded Rectangle 21"/>
          <p:cNvSpPr/>
          <p:nvPr/>
        </p:nvSpPr>
        <p:spPr>
          <a:xfrm>
            <a:off x="5902443" y="6093296"/>
            <a:ext cx="1477869" cy="57606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Intermediate Users</a:t>
            </a:r>
          </a:p>
        </p:txBody>
      </p:sp>
      <p:sp>
        <p:nvSpPr>
          <p:cNvPr id="47" name="Rounded Rectangle 22"/>
          <p:cNvSpPr/>
          <p:nvPr/>
        </p:nvSpPr>
        <p:spPr>
          <a:xfrm>
            <a:off x="7522623" y="6074510"/>
            <a:ext cx="1153833" cy="57606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Final Users</a:t>
            </a:r>
          </a:p>
        </p:txBody>
      </p:sp>
      <p:pic>
        <p:nvPicPr>
          <p:cNvPr id="48" name="Picture 2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5528" y="2565595"/>
            <a:ext cx="1215717" cy="1056077"/>
          </a:xfrm>
          <a:prstGeom prst="rect">
            <a:avLst/>
          </a:prstGeom>
        </p:spPr>
      </p:pic>
      <p:pic>
        <p:nvPicPr>
          <p:cNvPr id="49" name="Picture 2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50865" y="2601614"/>
            <a:ext cx="3152732" cy="1102175"/>
          </a:xfrm>
          <a:prstGeom prst="rect">
            <a:avLst/>
          </a:prstGeom>
        </p:spPr>
      </p:pic>
      <p:pic>
        <p:nvPicPr>
          <p:cNvPr id="50" name="Picture 2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67466" y="2611943"/>
            <a:ext cx="2889010" cy="1096931"/>
          </a:xfrm>
          <a:prstGeom prst="rect">
            <a:avLst/>
          </a:prstGeom>
        </p:spPr>
      </p:pic>
      <p:pic>
        <p:nvPicPr>
          <p:cNvPr id="51" name="Picture 53"/>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768642" y="1122857"/>
            <a:ext cx="1889668" cy="638422"/>
          </a:xfrm>
          <a:prstGeom prst="rect">
            <a:avLst/>
          </a:prstGeom>
        </p:spPr>
      </p:pic>
      <p:sp>
        <p:nvSpPr>
          <p:cNvPr id="3" name="Rettangolo 2"/>
          <p:cNvSpPr/>
          <p:nvPr/>
        </p:nvSpPr>
        <p:spPr>
          <a:xfrm>
            <a:off x="0" y="1052736"/>
            <a:ext cx="9144000" cy="5805264"/>
          </a:xfrm>
          <a:prstGeom prst="rect">
            <a:avLst/>
          </a:prstGeom>
          <a:solidFill>
            <a:srgbClr val="FFFFFF">
              <a:alpha val="83137"/>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55" name="TextBox 36"/>
          <p:cNvSpPr txBox="1"/>
          <p:nvPr/>
        </p:nvSpPr>
        <p:spPr>
          <a:xfrm>
            <a:off x="213118" y="2669936"/>
            <a:ext cx="1128124" cy="646331"/>
          </a:xfrm>
          <a:prstGeom prst="rect">
            <a:avLst/>
          </a:prstGeom>
          <a:noFill/>
        </p:spPr>
        <p:txBody>
          <a:bodyPr wrap="square" rtlCol="0">
            <a:spAutoFit/>
          </a:bodyPr>
          <a:lstStyle>
            <a:defPPr>
              <a:defRPr lang="en-US"/>
            </a:defPPr>
            <a:lvl1pPr algn="ctr">
              <a:defRPr sz="1600">
                <a:solidFill>
                  <a:schemeClr val="bg1">
                    <a:lumMod val="50000"/>
                  </a:schemeClr>
                </a:solidFill>
              </a:defRPr>
            </a:lvl1pPr>
          </a:lstStyle>
          <a:p>
            <a:pPr algn="l"/>
            <a:r>
              <a:rPr lang="en-US" sz="1800" dirty="0">
                <a:solidFill>
                  <a:srgbClr val="464646"/>
                </a:solidFill>
              </a:rPr>
              <a:t>Data</a:t>
            </a:r>
            <a:r>
              <a:rPr lang="en-US" sz="1800" dirty="0">
                <a:solidFill>
                  <a:srgbClr val="D28C52"/>
                </a:solidFill>
              </a:rPr>
              <a:t> </a:t>
            </a:r>
            <a:r>
              <a:rPr lang="en-US" sz="1800" dirty="0">
                <a:solidFill>
                  <a:srgbClr val="464646"/>
                </a:solidFill>
              </a:rPr>
              <a:t>Systems</a:t>
            </a:r>
          </a:p>
        </p:txBody>
      </p:sp>
      <p:sp>
        <p:nvSpPr>
          <p:cNvPr id="56" name="TextBox 51"/>
          <p:cNvSpPr txBox="1"/>
          <p:nvPr/>
        </p:nvSpPr>
        <p:spPr>
          <a:xfrm>
            <a:off x="7380139" y="1628510"/>
            <a:ext cx="1672578" cy="646331"/>
          </a:xfrm>
          <a:prstGeom prst="rect">
            <a:avLst/>
          </a:prstGeom>
          <a:noFill/>
        </p:spPr>
        <p:txBody>
          <a:bodyPr wrap="square" rtlCol="0">
            <a:spAutoFit/>
          </a:bodyPr>
          <a:lstStyle/>
          <a:p>
            <a:pPr algn="r"/>
            <a:r>
              <a:rPr lang="en-US" dirty="0">
                <a:solidFill>
                  <a:srgbClr val="B26562"/>
                </a:solidFill>
              </a:rPr>
              <a:t>Community Portals &amp; </a:t>
            </a:r>
            <a:r>
              <a:rPr lang="en-US" dirty="0" err="1">
                <a:solidFill>
                  <a:srgbClr val="B26562"/>
                </a:solidFill>
              </a:rPr>
              <a:t>Appl.s</a:t>
            </a:r>
            <a:endParaRPr lang="en-US" dirty="0">
              <a:solidFill>
                <a:srgbClr val="B26562"/>
              </a:solidFill>
            </a:endParaRPr>
          </a:p>
        </p:txBody>
      </p:sp>
      <p:sp>
        <p:nvSpPr>
          <p:cNvPr id="57" name="TextBox 52"/>
          <p:cNvSpPr txBox="1"/>
          <p:nvPr/>
        </p:nvSpPr>
        <p:spPr>
          <a:xfrm>
            <a:off x="7070708" y="5825286"/>
            <a:ext cx="2496279" cy="369332"/>
          </a:xfrm>
          <a:prstGeom prst="rect">
            <a:avLst/>
          </a:prstGeom>
          <a:noFill/>
        </p:spPr>
        <p:txBody>
          <a:bodyPr wrap="square" rtlCol="0">
            <a:spAutoFit/>
          </a:bodyPr>
          <a:lstStyle/>
          <a:p>
            <a:r>
              <a:rPr lang="en-US" dirty="0">
                <a:solidFill>
                  <a:srgbClr val="86749E"/>
                </a:solidFill>
              </a:rPr>
              <a:t>User-centered </a:t>
            </a:r>
            <a:r>
              <a:rPr lang="en-US" dirty="0" err="1">
                <a:solidFill>
                  <a:srgbClr val="86749E"/>
                </a:solidFill>
              </a:rPr>
              <a:t>Appl.s</a:t>
            </a:r>
            <a:endParaRPr lang="en-US" dirty="0">
              <a:solidFill>
                <a:srgbClr val="86749E"/>
              </a:solidFill>
            </a:endParaRPr>
          </a:p>
        </p:txBody>
      </p:sp>
      <p:grpSp>
        <p:nvGrpSpPr>
          <p:cNvPr id="5" name="Group 55"/>
          <p:cNvGrpSpPr/>
          <p:nvPr/>
        </p:nvGrpSpPr>
        <p:grpSpPr>
          <a:xfrm>
            <a:off x="7216493" y="2250893"/>
            <a:ext cx="1764388" cy="1718177"/>
            <a:chOff x="6811309" y="2296707"/>
            <a:chExt cx="1764388" cy="1718177"/>
          </a:xfrm>
        </p:grpSpPr>
        <p:pic>
          <p:nvPicPr>
            <p:cNvPr id="59" name="Picture 56"/>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6811309" y="2296707"/>
              <a:ext cx="1764388" cy="1718177"/>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60" name="Picture 8" descr="Image result for Community portal icon"/>
            <p:cNvPicPr>
              <a:picLocks noChangeAspect="1" noChangeArrowheads="1"/>
            </p:cNvPicPr>
            <p:nvPr/>
          </p:nvPicPr>
          <p:blipFill>
            <a:blip r:embed="rId7" cstate="email">
              <a:extLst>
                <a:ext uri="{BEBA8EAE-BF5A-486C-A8C5-ECC9F3942E4B}">
                  <a14:imgProps xmlns:a14="http://schemas.microsoft.com/office/drawing/2010/main">
                    <a14:imgLayer r:embed="rId8">
                      <a14:imgEffect>
                        <a14:saturation sat="66000"/>
                      </a14:imgEffect>
                    </a14:imgLayer>
                  </a14:imgProps>
                </a:ext>
                <a:ext uri="{28A0092B-C50C-407E-A947-70E740481C1C}">
                  <a14:useLocalDpi xmlns:a14="http://schemas.microsoft.com/office/drawing/2010/main"/>
                </a:ext>
              </a:extLst>
            </a:blip>
            <a:srcRect/>
            <a:stretch>
              <a:fillRect/>
            </a:stretch>
          </p:blipFill>
          <p:spPr bwMode="auto">
            <a:xfrm>
              <a:off x="7236296" y="2719169"/>
              <a:ext cx="893145" cy="8538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 58"/>
          <p:cNvGrpSpPr/>
          <p:nvPr/>
        </p:nvGrpSpPr>
        <p:grpSpPr>
          <a:xfrm>
            <a:off x="6039728" y="3540848"/>
            <a:ext cx="1104929" cy="1124612"/>
            <a:chOff x="6811309" y="2296707"/>
            <a:chExt cx="1764388" cy="1718177"/>
          </a:xfrm>
        </p:grpSpPr>
        <p:pic>
          <p:nvPicPr>
            <p:cNvPr id="62" name="Picture 59"/>
            <p:cNvPicPr>
              <a:picLocks noChangeAspect="1"/>
            </p:cNvPicPr>
            <p:nvPr/>
          </p:nvPicPr>
          <p:blipFill>
            <a:blip r:embed="rId9"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6811309" y="2296707"/>
              <a:ext cx="1764388" cy="1718177"/>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63" name="Picture 8" descr="Image result for Community portal icon"/>
            <p:cNvPicPr>
              <a:picLocks noChangeAspect="1" noChangeArrowheads="1"/>
            </p:cNvPicPr>
            <p:nvPr/>
          </p:nvPicPr>
          <p:blipFill>
            <a:blip r:embed="rId10" cstate="email">
              <a:extLst>
                <a:ext uri="{BEBA8EAE-BF5A-486C-A8C5-ECC9F3942E4B}">
                  <a14:imgProps xmlns:a14="http://schemas.microsoft.com/office/drawing/2010/main">
                    <a14:imgLayer r:embed="rId11">
                      <a14:imgEffect>
                        <a14:saturation sat="66000"/>
                      </a14:imgEffect>
                    </a14:imgLayer>
                  </a14:imgProps>
                </a:ext>
                <a:ext uri="{28A0092B-C50C-407E-A947-70E740481C1C}">
                  <a14:useLocalDpi xmlns:a14="http://schemas.microsoft.com/office/drawing/2010/main"/>
                </a:ext>
              </a:extLst>
            </a:blip>
            <a:srcRect/>
            <a:stretch>
              <a:fillRect/>
            </a:stretch>
          </p:blipFill>
          <p:spPr bwMode="auto">
            <a:xfrm>
              <a:off x="7236296" y="2719169"/>
              <a:ext cx="893145" cy="8538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1"/>
          <p:cNvGrpSpPr/>
          <p:nvPr/>
        </p:nvGrpSpPr>
        <p:grpSpPr>
          <a:xfrm>
            <a:off x="6999027" y="4137500"/>
            <a:ext cx="1636162" cy="1633454"/>
            <a:chOff x="9375786" y="3300715"/>
            <a:chExt cx="1636162" cy="1633454"/>
          </a:xfrm>
        </p:grpSpPr>
        <p:pic>
          <p:nvPicPr>
            <p:cNvPr id="65" name="Picture 62"/>
            <p:cNvPicPr>
              <a:picLocks noChangeAspect="1"/>
            </p:cNvPicPr>
            <p:nvPr/>
          </p:nvPicPr>
          <p:blipFill>
            <a:blip r:embed="rId12" cstate="email">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9375786" y="3300715"/>
              <a:ext cx="1636162" cy="1633454"/>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66" name="Picture 10" descr="Related image"/>
            <p:cNvPicPr>
              <a:picLocks noChangeAspect="1" noChangeArrowheads="1"/>
            </p:cNvPicPr>
            <p:nvPr/>
          </p:nvPicPr>
          <p:blipFill>
            <a:blip r:embed="rId13" cstate="email">
              <a:clrChange>
                <a:clrFrom>
                  <a:srgbClr val="FFFFFF"/>
                </a:clrFrom>
                <a:clrTo>
                  <a:srgbClr val="FFFFFF">
                    <a:alpha val="0"/>
                  </a:srgbClr>
                </a:clrTo>
              </a:clrChange>
              <a:extLst>
                <a:ext uri="{BEBA8EAE-BF5A-486C-A8C5-ECC9F3942E4B}">
                  <a14:imgProps xmlns:a14="http://schemas.microsoft.com/office/drawing/2010/main">
                    <a14:imgLayer r:embed="rId14">
                      <a14:imgEffect>
                        <a14:saturation sat="66000"/>
                      </a14:imgEffect>
                    </a14:imgLayer>
                  </a14:imgProps>
                </a:ext>
                <a:ext uri="{28A0092B-C50C-407E-A947-70E740481C1C}">
                  <a14:useLocalDpi xmlns:a14="http://schemas.microsoft.com/office/drawing/2010/main"/>
                </a:ext>
              </a:extLst>
            </a:blip>
            <a:srcRect/>
            <a:stretch>
              <a:fillRect/>
            </a:stretch>
          </p:blipFill>
          <p:spPr bwMode="auto">
            <a:xfrm>
              <a:off x="9511961" y="3725732"/>
              <a:ext cx="1279569" cy="8885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64"/>
          <p:cNvGrpSpPr/>
          <p:nvPr/>
        </p:nvGrpSpPr>
        <p:grpSpPr>
          <a:xfrm>
            <a:off x="6069539" y="5138959"/>
            <a:ext cx="988617" cy="1055937"/>
            <a:chOff x="9375786" y="3300715"/>
            <a:chExt cx="1636162" cy="1633454"/>
          </a:xfrm>
        </p:grpSpPr>
        <p:pic>
          <p:nvPicPr>
            <p:cNvPr id="68" name="Picture 65"/>
            <p:cNvPicPr>
              <a:picLocks noChangeAspect="1"/>
            </p:cNvPicPr>
            <p:nvPr/>
          </p:nvPicPr>
          <p:blipFill>
            <a:blip r:embed="rId15" cstate="email">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9375786" y="3300715"/>
              <a:ext cx="1636162" cy="1633454"/>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69" name="Picture 10" descr="Related image"/>
            <p:cNvPicPr>
              <a:picLocks noChangeAspect="1" noChangeArrowheads="1"/>
            </p:cNvPicPr>
            <p:nvPr/>
          </p:nvPicPr>
          <p:blipFill>
            <a:blip r:embed="rId16" cstate="email">
              <a:clrChange>
                <a:clrFrom>
                  <a:srgbClr val="FFFFFF"/>
                </a:clrFrom>
                <a:clrTo>
                  <a:srgbClr val="FFFFFF">
                    <a:alpha val="0"/>
                  </a:srgbClr>
                </a:clrTo>
              </a:clrChange>
              <a:extLst>
                <a:ext uri="{BEBA8EAE-BF5A-486C-A8C5-ECC9F3942E4B}">
                  <a14:imgProps xmlns:a14="http://schemas.microsoft.com/office/drawing/2010/main">
                    <a14:imgLayer r:embed="rId17">
                      <a14:imgEffect>
                        <a14:saturation sat="66000"/>
                      </a14:imgEffect>
                    </a14:imgLayer>
                  </a14:imgProps>
                </a:ext>
                <a:ext uri="{28A0092B-C50C-407E-A947-70E740481C1C}">
                  <a14:useLocalDpi xmlns:a14="http://schemas.microsoft.com/office/drawing/2010/main"/>
                </a:ext>
              </a:extLst>
            </a:blip>
            <a:srcRect/>
            <a:stretch>
              <a:fillRect/>
            </a:stretch>
          </p:blipFill>
          <p:spPr bwMode="auto">
            <a:xfrm>
              <a:off x="9511961" y="3725732"/>
              <a:ext cx="1279569" cy="8885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33"/>
          <p:cNvGrpSpPr/>
          <p:nvPr/>
        </p:nvGrpSpPr>
        <p:grpSpPr>
          <a:xfrm>
            <a:off x="509443" y="3323928"/>
            <a:ext cx="1414976" cy="1414976"/>
            <a:chOff x="-365216" y="3159108"/>
            <a:chExt cx="1414976" cy="1414976"/>
          </a:xfrm>
        </p:grpSpPr>
        <p:pic>
          <p:nvPicPr>
            <p:cNvPr id="87" name="Picture 34"/>
            <p:cNvPicPr>
              <a:picLocks noChangeAspect="1"/>
            </p:cNvPicPr>
            <p:nvPr/>
          </p:nvPicPr>
          <p:blipFill>
            <a:blip r:embed="rId18" cstate="email">
              <a:grayscl/>
              <a:extLst>
                <a:ext uri="{28A0092B-C50C-407E-A947-70E740481C1C}">
                  <a14:useLocalDpi xmlns:a14="http://schemas.microsoft.com/office/drawing/2010/main"/>
                </a:ext>
              </a:extLst>
            </a:blip>
            <a:stretch>
              <a:fillRect/>
            </a:stretch>
          </p:blipFill>
          <p:spPr>
            <a:xfrm>
              <a:off x="-365216" y="3159108"/>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88" name="Picture 35"/>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0617" y="3551158"/>
              <a:ext cx="601762" cy="601762"/>
            </a:xfrm>
            <a:prstGeom prst="rect">
              <a:avLst/>
            </a:prstGeom>
          </p:spPr>
        </p:pic>
      </p:grpSp>
      <p:grpSp>
        <p:nvGrpSpPr>
          <p:cNvPr id="10" name="Gruppo 4"/>
          <p:cNvGrpSpPr/>
          <p:nvPr/>
        </p:nvGrpSpPr>
        <p:grpSpPr>
          <a:xfrm>
            <a:off x="2641554" y="2892008"/>
            <a:ext cx="1414976" cy="1414976"/>
            <a:chOff x="1601543" y="4483620"/>
            <a:chExt cx="1414976" cy="1414976"/>
          </a:xfrm>
        </p:grpSpPr>
        <p:pic>
          <p:nvPicPr>
            <p:cNvPr id="90" name="Picture 34"/>
            <p:cNvPicPr>
              <a:picLocks noChangeAspect="1"/>
            </p:cNvPicPr>
            <p:nvPr/>
          </p:nvPicPr>
          <p:blipFill>
            <a:blip r:embed="rId18"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1601543" y="4483620"/>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70" name="Picture 7"/>
            <p:cNvPicPr>
              <a:picLocks noChangeAspect="1"/>
            </p:cNvPicPr>
            <p:nvPr/>
          </p:nvPicPr>
          <p:blipFill>
            <a:blip r:embed="rId20" cstate="email">
              <a:clrChange>
                <a:clrFrom>
                  <a:srgbClr val="000000"/>
                </a:clrFrom>
                <a:clrTo>
                  <a:srgbClr val="000000">
                    <a:alpha val="0"/>
                  </a:srgbClr>
                </a:clrTo>
              </a:clrChange>
              <a:extLst>
                <a:ext uri="{28A0092B-C50C-407E-A947-70E740481C1C}">
                  <a14:useLocalDpi xmlns:a14="http://schemas.microsoft.com/office/drawing/2010/main"/>
                </a:ext>
              </a:extLst>
            </a:blip>
            <a:stretch>
              <a:fillRect/>
            </a:stretch>
          </p:blipFill>
          <p:spPr>
            <a:xfrm>
              <a:off x="1930100" y="4812177"/>
              <a:ext cx="757863" cy="757863"/>
            </a:xfrm>
            <a:prstGeom prst="rect">
              <a:avLst/>
            </a:prstGeom>
            <a:effectLst>
              <a:softEdge rad="12700"/>
            </a:effectLst>
          </p:spPr>
        </p:pic>
      </p:grpSp>
      <p:grpSp>
        <p:nvGrpSpPr>
          <p:cNvPr id="11" name="Gruppo 6"/>
          <p:cNvGrpSpPr/>
          <p:nvPr/>
        </p:nvGrpSpPr>
        <p:grpSpPr>
          <a:xfrm>
            <a:off x="2199941" y="4647964"/>
            <a:ext cx="1414976" cy="1414976"/>
            <a:chOff x="1871877" y="2452920"/>
            <a:chExt cx="1414976" cy="1414976"/>
          </a:xfrm>
        </p:grpSpPr>
        <p:pic>
          <p:nvPicPr>
            <p:cNvPr id="92" name="Picture 34"/>
            <p:cNvPicPr>
              <a:picLocks noChangeAspect="1"/>
            </p:cNvPicPr>
            <p:nvPr/>
          </p:nvPicPr>
          <p:blipFill>
            <a:blip r:embed="rId18"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1871877" y="2452920"/>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72" name="Picture 11"/>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189998" y="2771041"/>
              <a:ext cx="778734" cy="778734"/>
            </a:xfrm>
            <a:prstGeom prst="rect">
              <a:avLst/>
            </a:prstGeom>
          </p:spPr>
        </p:pic>
      </p:grpSp>
      <p:grpSp>
        <p:nvGrpSpPr>
          <p:cNvPr id="12" name="Gruppo 10"/>
          <p:cNvGrpSpPr/>
          <p:nvPr/>
        </p:nvGrpSpPr>
        <p:grpSpPr>
          <a:xfrm>
            <a:off x="4528305" y="3083222"/>
            <a:ext cx="1414976" cy="1414976"/>
            <a:chOff x="3733153" y="2927628"/>
            <a:chExt cx="1414976" cy="1414976"/>
          </a:xfrm>
        </p:grpSpPr>
        <p:pic>
          <p:nvPicPr>
            <p:cNvPr id="100" name="Picture 34"/>
            <p:cNvPicPr>
              <a:picLocks noChangeAspect="1"/>
            </p:cNvPicPr>
            <p:nvPr/>
          </p:nvPicPr>
          <p:blipFill>
            <a:blip r:embed="rId18"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3733153" y="2927628"/>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76" name="Picture 16"/>
            <p:cNvPicPr>
              <a:picLocks noChangeAspect="1"/>
            </p:cNvPicPr>
            <p:nvPr/>
          </p:nvPicPr>
          <p:blipFill>
            <a:blip r:embed="rId22" cstate="email">
              <a:clrChange>
                <a:clrFrom>
                  <a:srgbClr val="000000"/>
                </a:clrFrom>
                <a:clrTo>
                  <a:srgbClr val="000000">
                    <a:alpha val="0"/>
                  </a:srgbClr>
                </a:clrTo>
              </a:clrChange>
              <a:extLst>
                <a:ext uri="{28A0092B-C50C-407E-A947-70E740481C1C}">
                  <a14:useLocalDpi xmlns:a14="http://schemas.microsoft.com/office/drawing/2010/main"/>
                </a:ext>
              </a:extLst>
            </a:blip>
            <a:stretch>
              <a:fillRect/>
            </a:stretch>
          </p:blipFill>
          <p:spPr>
            <a:xfrm>
              <a:off x="4089981" y="3284456"/>
              <a:ext cx="701321" cy="701321"/>
            </a:xfrm>
            <a:prstGeom prst="rect">
              <a:avLst/>
            </a:prstGeom>
            <a:effectLst>
              <a:softEdge rad="12700"/>
            </a:effectLst>
          </p:spPr>
        </p:pic>
      </p:grpSp>
      <p:grpSp>
        <p:nvGrpSpPr>
          <p:cNvPr id="13" name="Gruppo 11"/>
          <p:cNvGrpSpPr/>
          <p:nvPr/>
        </p:nvGrpSpPr>
        <p:grpSpPr>
          <a:xfrm>
            <a:off x="4307447" y="4789762"/>
            <a:ext cx="1414976" cy="1414976"/>
            <a:chOff x="3678480" y="3436871"/>
            <a:chExt cx="1414976" cy="1414976"/>
          </a:xfrm>
        </p:grpSpPr>
        <p:pic>
          <p:nvPicPr>
            <p:cNvPr id="99" name="Picture 34"/>
            <p:cNvPicPr>
              <a:picLocks noChangeAspect="1"/>
            </p:cNvPicPr>
            <p:nvPr/>
          </p:nvPicPr>
          <p:blipFill>
            <a:blip r:embed="rId18"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3678480" y="3436871"/>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77" name="Picture 5"/>
            <p:cNvPicPr>
              <a:picLocks noChangeAspect="1"/>
            </p:cNvPicPr>
            <p:nvPr/>
          </p:nvPicPr>
          <p:blipFill rotWithShape="1">
            <a:blip r:embed="rId23" cstate="email">
              <a:clrChange>
                <a:clrFrom>
                  <a:srgbClr val="006076"/>
                </a:clrFrom>
                <a:clrTo>
                  <a:srgbClr val="006076">
                    <a:alpha val="0"/>
                  </a:srgbClr>
                </a:clrTo>
              </a:clrChange>
              <a:extLst>
                <a:ext uri="{28A0092B-C50C-407E-A947-70E740481C1C}">
                  <a14:useLocalDpi xmlns:a14="http://schemas.microsoft.com/office/drawing/2010/main"/>
                </a:ext>
              </a:extLst>
            </a:blip>
            <a:srcRect/>
            <a:stretch/>
          </p:blipFill>
          <p:spPr>
            <a:xfrm>
              <a:off x="3992253" y="3754542"/>
              <a:ext cx="787431" cy="779635"/>
            </a:xfrm>
            <a:prstGeom prst="rect">
              <a:avLst/>
            </a:prstGeom>
            <a:effectLst>
              <a:softEdge rad="12700"/>
            </a:effectLst>
          </p:spPr>
        </p:pic>
      </p:grpSp>
      <p:sp>
        <p:nvSpPr>
          <p:cNvPr id="101" name="TextBox 51"/>
          <p:cNvSpPr txBox="1"/>
          <p:nvPr/>
        </p:nvSpPr>
        <p:spPr>
          <a:xfrm>
            <a:off x="3201509" y="2288251"/>
            <a:ext cx="1672578" cy="646331"/>
          </a:xfrm>
          <a:prstGeom prst="rect">
            <a:avLst/>
          </a:prstGeom>
          <a:noFill/>
        </p:spPr>
        <p:txBody>
          <a:bodyPr wrap="square" rtlCol="0">
            <a:spAutoFit/>
          </a:bodyPr>
          <a:lstStyle/>
          <a:p>
            <a:pPr algn="ctr"/>
            <a:r>
              <a:rPr lang="en-US" dirty="0">
                <a:solidFill>
                  <a:srgbClr val="0095B9"/>
                </a:solidFill>
              </a:rPr>
              <a:t>Brokering framework</a:t>
            </a:r>
          </a:p>
        </p:txBody>
      </p:sp>
      <p:sp>
        <p:nvSpPr>
          <p:cNvPr id="102" name="TextBox 51"/>
          <p:cNvSpPr txBox="1"/>
          <p:nvPr/>
        </p:nvSpPr>
        <p:spPr>
          <a:xfrm>
            <a:off x="4587711" y="6188231"/>
            <a:ext cx="1672578" cy="369332"/>
          </a:xfrm>
          <a:prstGeom prst="rect">
            <a:avLst/>
          </a:prstGeom>
          <a:noFill/>
        </p:spPr>
        <p:txBody>
          <a:bodyPr wrap="square" rtlCol="0">
            <a:spAutoFit/>
          </a:bodyPr>
          <a:lstStyle/>
          <a:p>
            <a:pPr algn="ctr"/>
            <a:r>
              <a:rPr lang="en-US">
                <a:solidFill>
                  <a:srgbClr val="0095B9"/>
                </a:solidFill>
              </a:rPr>
              <a:t>Platform APIs</a:t>
            </a:r>
            <a:endParaRPr lang="en-US" dirty="0">
              <a:solidFill>
                <a:srgbClr val="0095B9"/>
              </a:solidFill>
            </a:endParaRPr>
          </a:p>
        </p:txBody>
      </p:sp>
      <p:sp>
        <p:nvSpPr>
          <p:cNvPr id="103" name="TextBox 51"/>
          <p:cNvSpPr txBox="1"/>
          <p:nvPr/>
        </p:nvSpPr>
        <p:spPr>
          <a:xfrm>
            <a:off x="5033778" y="2466289"/>
            <a:ext cx="1672578" cy="646331"/>
          </a:xfrm>
          <a:prstGeom prst="rect">
            <a:avLst/>
          </a:prstGeom>
          <a:noFill/>
        </p:spPr>
        <p:txBody>
          <a:bodyPr wrap="square" rtlCol="0">
            <a:spAutoFit/>
          </a:bodyPr>
          <a:lstStyle/>
          <a:p>
            <a:pPr algn="ctr"/>
            <a:r>
              <a:rPr lang="en-US">
                <a:solidFill>
                  <a:srgbClr val="0095B9"/>
                </a:solidFill>
              </a:rPr>
              <a:t>Customization Tools</a:t>
            </a:r>
            <a:endParaRPr lang="en-US" dirty="0">
              <a:solidFill>
                <a:srgbClr val="0095B9"/>
              </a:solidFill>
            </a:endParaRPr>
          </a:p>
        </p:txBody>
      </p:sp>
      <p:sp>
        <p:nvSpPr>
          <p:cNvPr id="104" name="TextBox 51"/>
          <p:cNvSpPr txBox="1"/>
          <p:nvPr/>
        </p:nvSpPr>
        <p:spPr>
          <a:xfrm>
            <a:off x="1274992" y="5977425"/>
            <a:ext cx="1672578" cy="646331"/>
          </a:xfrm>
          <a:prstGeom prst="rect">
            <a:avLst/>
          </a:prstGeom>
          <a:noFill/>
        </p:spPr>
        <p:txBody>
          <a:bodyPr wrap="square" rtlCol="0">
            <a:spAutoFit/>
          </a:bodyPr>
          <a:lstStyle/>
          <a:p>
            <a:pPr algn="ctr"/>
            <a:r>
              <a:rPr lang="en-US" dirty="0">
                <a:solidFill>
                  <a:srgbClr val="0095B9"/>
                </a:solidFill>
              </a:rPr>
              <a:t>Providers Registry</a:t>
            </a:r>
          </a:p>
        </p:txBody>
      </p:sp>
      <p:grpSp>
        <p:nvGrpSpPr>
          <p:cNvPr id="14" name="Group 33"/>
          <p:cNvGrpSpPr/>
          <p:nvPr/>
        </p:nvGrpSpPr>
        <p:grpSpPr>
          <a:xfrm>
            <a:off x="430193" y="4936893"/>
            <a:ext cx="963758" cy="947700"/>
            <a:chOff x="-365216" y="3159108"/>
            <a:chExt cx="1414976" cy="1414976"/>
          </a:xfrm>
        </p:grpSpPr>
        <p:pic>
          <p:nvPicPr>
            <p:cNvPr id="106" name="Picture 34"/>
            <p:cNvPicPr>
              <a:picLocks noChangeAspect="1"/>
            </p:cNvPicPr>
            <p:nvPr/>
          </p:nvPicPr>
          <p:blipFill>
            <a:blip r:embed="rId24" cstate="email">
              <a:grayscl/>
              <a:extLst>
                <a:ext uri="{28A0092B-C50C-407E-A947-70E740481C1C}">
                  <a14:useLocalDpi xmlns:a14="http://schemas.microsoft.com/office/drawing/2010/main"/>
                </a:ext>
              </a:extLst>
            </a:blip>
            <a:stretch>
              <a:fillRect/>
            </a:stretch>
          </p:blipFill>
          <p:spPr>
            <a:xfrm>
              <a:off x="-365216" y="3159108"/>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107" name="Picture 35"/>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50617" y="3551158"/>
              <a:ext cx="601762" cy="601762"/>
            </a:xfrm>
            <a:prstGeom prst="rect">
              <a:avLst/>
            </a:prstGeom>
          </p:spPr>
        </p:pic>
      </p:grpSp>
      <p:sp>
        <p:nvSpPr>
          <p:cNvPr id="71" name="TextBox 37"/>
          <p:cNvSpPr txBox="1"/>
          <p:nvPr/>
        </p:nvSpPr>
        <p:spPr>
          <a:xfrm>
            <a:off x="199469" y="1523462"/>
            <a:ext cx="1794658" cy="646331"/>
          </a:xfrm>
          <a:prstGeom prst="rect">
            <a:avLst/>
          </a:prstGeom>
          <a:noFill/>
        </p:spPr>
        <p:txBody>
          <a:bodyPr wrap="square" rtlCol="0">
            <a:spAutoFit/>
          </a:bodyPr>
          <a:lstStyle>
            <a:defPPr>
              <a:defRPr lang="en-US"/>
            </a:defPPr>
            <a:lvl1pPr algn="ctr">
              <a:defRPr sz="1600">
                <a:solidFill>
                  <a:schemeClr val="bg1">
                    <a:lumMod val="50000"/>
                  </a:schemeClr>
                </a:solidFill>
              </a:defRPr>
            </a:lvl1pPr>
          </a:lstStyle>
          <a:p>
            <a:r>
              <a:rPr lang="en-US" sz="1800">
                <a:solidFill>
                  <a:srgbClr val="D28C52"/>
                </a:solidFill>
              </a:rPr>
              <a:t>WF/Processing</a:t>
            </a:r>
            <a:endParaRPr lang="en-US" sz="1800" dirty="0">
              <a:solidFill>
                <a:srgbClr val="D28C52"/>
              </a:solidFill>
            </a:endParaRPr>
          </a:p>
          <a:p>
            <a:r>
              <a:rPr lang="en-US" sz="1800" dirty="0">
                <a:solidFill>
                  <a:srgbClr val="D28C52"/>
                </a:solidFill>
              </a:rPr>
              <a:t>Systems</a:t>
            </a:r>
          </a:p>
        </p:txBody>
      </p:sp>
      <p:grpSp>
        <p:nvGrpSpPr>
          <p:cNvPr id="15" name="Group 38"/>
          <p:cNvGrpSpPr/>
          <p:nvPr/>
        </p:nvGrpSpPr>
        <p:grpSpPr>
          <a:xfrm>
            <a:off x="1994406" y="1071951"/>
            <a:ext cx="1414976" cy="1414976"/>
            <a:chOff x="1496553" y="1643783"/>
            <a:chExt cx="1414976" cy="1414976"/>
          </a:xfrm>
        </p:grpSpPr>
        <p:pic>
          <p:nvPicPr>
            <p:cNvPr id="74" name="Picture 39"/>
            <p:cNvPicPr>
              <a:picLocks noChangeAspect="1"/>
            </p:cNvPicPr>
            <p:nvPr/>
          </p:nvPicPr>
          <p:blipFill>
            <a:blip r:embed="rId18"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1496553" y="1643783"/>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75" name="Picture 6" descr="Related image"/>
            <p:cNvPicPr>
              <a:picLocks noChangeAspect="1" noChangeArrowheads="1"/>
            </p:cNvPicPr>
            <p:nvPr/>
          </p:nvPicPr>
          <p:blipFill rotWithShape="1">
            <a:blip r:embed="rId26" cstate="email">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1857657" y="2031411"/>
              <a:ext cx="754144" cy="7200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41"/>
          <p:cNvGrpSpPr/>
          <p:nvPr/>
        </p:nvGrpSpPr>
        <p:grpSpPr>
          <a:xfrm>
            <a:off x="1297661" y="2334037"/>
            <a:ext cx="1078761" cy="1055699"/>
            <a:chOff x="1496553" y="1643783"/>
            <a:chExt cx="1414976" cy="1414976"/>
          </a:xfrm>
        </p:grpSpPr>
        <p:pic>
          <p:nvPicPr>
            <p:cNvPr id="79" name="Picture 42"/>
            <p:cNvPicPr>
              <a:picLocks noChangeAspect="1"/>
            </p:cNvPicPr>
            <p:nvPr/>
          </p:nvPicPr>
          <p:blipFill>
            <a:blip r:embed="rId27"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1496553" y="1643783"/>
              <a:ext cx="1414976" cy="1414976"/>
            </a:xfrm>
            <a:prstGeom prst="rect">
              <a:avLst/>
            </a:prstGeom>
            <a:ln>
              <a:noFill/>
            </a:ln>
            <a:effectLst/>
            <a:scene3d>
              <a:camera prst="orthographicFront">
                <a:rot lat="0" lon="0" rev="0"/>
              </a:camera>
              <a:lightRig rig="contrasting" dir="t">
                <a:rot lat="0" lon="0" rev="1500000"/>
              </a:lightRig>
            </a:scene3d>
            <a:sp3d prstMaterial="metal">
              <a:bevelT w="88900" h="88900"/>
            </a:sp3d>
          </p:spPr>
        </p:pic>
        <p:pic>
          <p:nvPicPr>
            <p:cNvPr id="80" name="Picture 6" descr="Related image"/>
            <p:cNvPicPr>
              <a:picLocks noChangeAspect="1" noChangeArrowheads="1"/>
            </p:cNvPicPr>
            <p:nvPr/>
          </p:nvPicPr>
          <p:blipFill rotWithShape="1">
            <a:blip r:embed="rId28" cstate="email">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1857657" y="2031411"/>
              <a:ext cx="754144" cy="7200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3959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1000" fill="hold"/>
                                        <p:tgtEl>
                                          <p:spTgt spid="55"/>
                                        </p:tgtEl>
                                        <p:attrNameLst>
                                          <p:attrName>ppt_w</p:attrName>
                                        </p:attrNameLst>
                                      </p:cBhvr>
                                      <p:tavLst>
                                        <p:tav tm="0">
                                          <p:val>
                                            <p:fltVal val="0"/>
                                          </p:val>
                                        </p:tav>
                                        <p:tav tm="100000">
                                          <p:val>
                                            <p:strVal val="#ppt_w"/>
                                          </p:val>
                                        </p:tav>
                                      </p:tavLst>
                                    </p:anim>
                                    <p:anim calcmode="lin" valueType="num">
                                      <p:cBhvr>
                                        <p:cTn id="8" dur="1000" fill="hold"/>
                                        <p:tgtEl>
                                          <p:spTgt spid="55"/>
                                        </p:tgtEl>
                                        <p:attrNameLst>
                                          <p:attrName>ppt_h</p:attrName>
                                        </p:attrNameLst>
                                      </p:cBhvr>
                                      <p:tavLst>
                                        <p:tav tm="0">
                                          <p:val>
                                            <p:fltVal val="0"/>
                                          </p:val>
                                        </p:tav>
                                        <p:tav tm="100000">
                                          <p:val>
                                            <p:strVal val="#ppt_h"/>
                                          </p:val>
                                        </p:tav>
                                      </p:tavLst>
                                    </p:anim>
                                    <p:anim calcmode="lin" valueType="num">
                                      <p:cBhvr>
                                        <p:cTn id="9" dur="1000" fill="hold"/>
                                        <p:tgtEl>
                                          <p:spTgt spid="55"/>
                                        </p:tgtEl>
                                        <p:attrNameLst>
                                          <p:attrName>style.rotation</p:attrName>
                                        </p:attrNameLst>
                                      </p:cBhvr>
                                      <p:tavLst>
                                        <p:tav tm="0">
                                          <p:val>
                                            <p:fltVal val="90"/>
                                          </p:val>
                                        </p:tav>
                                        <p:tav tm="100000">
                                          <p:val>
                                            <p:fltVal val="0"/>
                                          </p:val>
                                        </p:tav>
                                      </p:tavLst>
                                    </p:anim>
                                    <p:animEffect transition="in" filter="fade">
                                      <p:cBhvr>
                                        <p:cTn id="10" dur="1000"/>
                                        <p:tgtEl>
                                          <p:spTgt spid="55"/>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par>
                          <p:cTn id="18" fill="hold">
                            <p:stCondLst>
                              <p:cond delay="2000"/>
                            </p:stCondLst>
                            <p:childTnLst>
                              <p:par>
                                <p:cTn id="19" presetID="31" presetClass="entr" presetSubtype="0"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1000" fill="hold"/>
                                        <p:tgtEl>
                                          <p:spTgt spid="14"/>
                                        </p:tgtEl>
                                        <p:attrNameLst>
                                          <p:attrName>ppt_w</p:attrName>
                                        </p:attrNameLst>
                                      </p:cBhvr>
                                      <p:tavLst>
                                        <p:tav tm="0">
                                          <p:val>
                                            <p:fltVal val="0"/>
                                          </p:val>
                                        </p:tav>
                                        <p:tav tm="100000">
                                          <p:val>
                                            <p:strVal val="#ppt_w"/>
                                          </p:val>
                                        </p:tav>
                                      </p:tavLst>
                                    </p:anim>
                                    <p:anim calcmode="lin" valueType="num">
                                      <p:cBhvr>
                                        <p:cTn id="22" dur="1000" fill="hold"/>
                                        <p:tgtEl>
                                          <p:spTgt spid="14"/>
                                        </p:tgtEl>
                                        <p:attrNameLst>
                                          <p:attrName>ppt_h</p:attrName>
                                        </p:attrNameLst>
                                      </p:cBhvr>
                                      <p:tavLst>
                                        <p:tav tm="0">
                                          <p:val>
                                            <p:fltVal val="0"/>
                                          </p:val>
                                        </p:tav>
                                        <p:tav tm="100000">
                                          <p:val>
                                            <p:strVal val="#ppt_h"/>
                                          </p:val>
                                        </p:tav>
                                      </p:tavLst>
                                    </p:anim>
                                    <p:anim calcmode="lin" valueType="num">
                                      <p:cBhvr>
                                        <p:cTn id="23" dur="1000" fill="hold"/>
                                        <p:tgtEl>
                                          <p:spTgt spid="14"/>
                                        </p:tgtEl>
                                        <p:attrNameLst>
                                          <p:attrName>style.rotation</p:attrName>
                                        </p:attrNameLst>
                                      </p:cBhvr>
                                      <p:tavLst>
                                        <p:tav tm="0">
                                          <p:val>
                                            <p:fltVal val="90"/>
                                          </p:val>
                                        </p:tav>
                                        <p:tav tm="100000">
                                          <p:val>
                                            <p:fltVal val="0"/>
                                          </p:val>
                                        </p:tav>
                                      </p:tavLst>
                                    </p:anim>
                                    <p:animEffect transition="in" filter="fade">
                                      <p:cBhvr>
                                        <p:cTn id="24" dur="10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1"/>
                                        </p:tgtEl>
                                        <p:attrNameLst>
                                          <p:attrName>style.visibility</p:attrName>
                                        </p:attrNameLst>
                                      </p:cBhvr>
                                      <p:to>
                                        <p:strVal val="visible"/>
                                      </p:to>
                                    </p:set>
                                    <p:anim calcmode="lin" valueType="num">
                                      <p:cBhvr>
                                        <p:cTn id="29" dur="1000" fill="hold"/>
                                        <p:tgtEl>
                                          <p:spTgt spid="71"/>
                                        </p:tgtEl>
                                        <p:attrNameLst>
                                          <p:attrName>ppt_w</p:attrName>
                                        </p:attrNameLst>
                                      </p:cBhvr>
                                      <p:tavLst>
                                        <p:tav tm="0">
                                          <p:val>
                                            <p:fltVal val="0"/>
                                          </p:val>
                                        </p:tav>
                                        <p:tav tm="100000">
                                          <p:val>
                                            <p:strVal val="#ppt_w"/>
                                          </p:val>
                                        </p:tav>
                                      </p:tavLst>
                                    </p:anim>
                                    <p:anim calcmode="lin" valueType="num">
                                      <p:cBhvr>
                                        <p:cTn id="30" dur="1000" fill="hold"/>
                                        <p:tgtEl>
                                          <p:spTgt spid="71"/>
                                        </p:tgtEl>
                                        <p:attrNameLst>
                                          <p:attrName>ppt_h</p:attrName>
                                        </p:attrNameLst>
                                      </p:cBhvr>
                                      <p:tavLst>
                                        <p:tav tm="0">
                                          <p:val>
                                            <p:fltVal val="0"/>
                                          </p:val>
                                        </p:tav>
                                        <p:tav tm="100000">
                                          <p:val>
                                            <p:strVal val="#ppt_h"/>
                                          </p:val>
                                        </p:tav>
                                      </p:tavLst>
                                    </p:anim>
                                    <p:anim calcmode="lin" valueType="num">
                                      <p:cBhvr>
                                        <p:cTn id="31" dur="1000" fill="hold"/>
                                        <p:tgtEl>
                                          <p:spTgt spid="71"/>
                                        </p:tgtEl>
                                        <p:attrNameLst>
                                          <p:attrName>style.rotation</p:attrName>
                                        </p:attrNameLst>
                                      </p:cBhvr>
                                      <p:tavLst>
                                        <p:tav tm="0">
                                          <p:val>
                                            <p:fltVal val="90"/>
                                          </p:val>
                                        </p:tav>
                                        <p:tav tm="100000">
                                          <p:val>
                                            <p:fltVal val="0"/>
                                          </p:val>
                                        </p:tav>
                                      </p:tavLst>
                                    </p:anim>
                                    <p:animEffect transition="in" filter="fade">
                                      <p:cBhvr>
                                        <p:cTn id="32" dur="1000"/>
                                        <p:tgtEl>
                                          <p:spTgt spid="71"/>
                                        </p:tgtEl>
                                      </p:cBhvr>
                                    </p:animEffect>
                                  </p:childTnLst>
                                </p:cTn>
                              </p:par>
                            </p:childTnLst>
                          </p:cTn>
                        </p:par>
                        <p:par>
                          <p:cTn id="33" fill="hold">
                            <p:stCondLst>
                              <p:cond delay="1000"/>
                            </p:stCondLst>
                            <p:childTnLst>
                              <p:par>
                                <p:cTn id="34" presetID="31" presetClass="entr" presetSubtype="0"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000" fill="hold"/>
                                        <p:tgtEl>
                                          <p:spTgt spid="15"/>
                                        </p:tgtEl>
                                        <p:attrNameLst>
                                          <p:attrName>ppt_w</p:attrName>
                                        </p:attrNameLst>
                                      </p:cBhvr>
                                      <p:tavLst>
                                        <p:tav tm="0">
                                          <p:val>
                                            <p:fltVal val="0"/>
                                          </p:val>
                                        </p:tav>
                                        <p:tav tm="100000">
                                          <p:val>
                                            <p:strVal val="#ppt_w"/>
                                          </p:val>
                                        </p:tav>
                                      </p:tavLst>
                                    </p:anim>
                                    <p:anim calcmode="lin" valueType="num">
                                      <p:cBhvr>
                                        <p:cTn id="37" dur="1000" fill="hold"/>
                                        <p:tgtEl>
                                          <p:spTgt spid="15"/>
                                        </p:tgtEl>
                                        <p:attrNameLst>
                                          <p:attrName>ppt_h</p:attrName>
                                        </p:attrNameLst>
                                      </p:cBhvr>
                                      <p:tavLst>
                                        <p:tav tm="0">
                                          <p:val>
                                            <p:fltVal val="0"/>
                                          </p:val>
                                        </p:tav>
                                        <p:tav tm="100000">
                                          <p:val>
                                            <p:strVal val="#ppt_h"/>
                                          </p:val>
                                        </p:tav>
                                      </p:tavLst>
                                    </p:anim>
                                    <p:anim calcmode="lin" valueType="num">
                                      <p:cBhvr>
                                        <p:cTn id="38" dur="1000" fill="hold"/>
                                        <p:tgtEl>
                                          <p:spTgt spid="15"/>
                                        </p:tgtEl>
                                        <p:attrNameLst>
                                          <p:attrName>style.rotation</p:attrName>
                                        </p:attrNameLst>
                                      </p:cBhvr>
                                      <p:tavLst>
                                        <p:tav tm="0">
                                          <p:val>
                                            <p:fltVal val="90"/>
                                          </p:val>
                                        </p:tav>
                                        <p:tav tm="100000">
                                          <p:val>
                                            <p:fltVal val="0"/>
                                          </p:val>
                                        </p:tav>
                                      </p:tavLst>
                                    </p:anim>
                                    <p:animEffect transition="in" filter="fade">
                                      <p:cBhvr>
                                        <p:cTn id="39" dur="1000"/>
                                        <p:tgtEl>
                                          <p:spTgt spid="15"/>
                                        </p:tgtEl>
                                      </p:cBhvr>
                                    </p:animEffect>
                                  </p:childTnLst>
                                </p:cTn>
                              </p:par>
                            </p:childTnLst>
                          </p:cTn>
                        </p:par>
                        <p:par>
                          <p:cTn id="40" fill="hold">
                            <p:stCondLst>
                              <p:cond delay="2000"/>
                            </p:stCondLst>
                            <p:childTnLst>
                              <p:par>
                                <p:cTn id="41" presetID="31" presetClass="entr" presetSubtype="0" fill="hold"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1000" fill="hold"/>
                                        <p:tgtEl>
                                          <p:spTgt spid="16"/>
                                        </p:tgtEl>
                                        <p:attrNameLst>
                                          <p:attrName>ppt_w</p:attrName>
                                        </p:attrNameLst>
                                      </p:cBhvr>
                                      <p:tavLst>
                                        <p:tav tm="0">
                                          <p:val>
                                            <p:fltVal val="0"/>
                                          </p:val>
                                        </p:tav>
                                        <p:tav tm="100000">
                                          <p:val>
                                            <p:strVal val="#ppt_w"/>
                                          </p:val>
                                        </p:tav>
                                      </p:tavLst>
                                    </p:anim>
                                    <p:anim calcmode="lin" valueType="num">
                                      <p:cBhvr>
                                        <p:cTn id="44" dur="1000" fill="hold"/>
                                        <p:tgtEl>
                                          <p:spTgt spid="16"/>
                                        </p:tgtEl>
                                        <p:attrNameLst>
                                          <p:attrName>ppt_h</p:attrName>
                                        </p:attrNameLst>
                                      </p:cBhvr>
                                      <p:tavLst>
                                        <p:tav tm="0">
                                          <p:val>
                                            <p:fltVal val="0"/>
                                          </p:val>
                                        </p:tav>
                                        <p:tav tm="100000">
                                          <p:val>
                                            <p:strVal val="#ppt_h"/>
                                          </p:val>
                                        </p:tav>
                                      </p:tavLst>
                                    </p:anim>
                                    <p:anim calcmode="lin" valueType="num">
                                      <p:cBhvr>
                                        <p:cTn id="45" dur="1000" fill="hold"/>
                                        <p:tgtEl>
                                          <p:spTgt spid="16"/>
                                        </p:tgtEl>
                                        <p:attrNameLst>
                                          <p:attrName>style.rotation</p:attrName>
                                        </p:attrNameLst>
                                      </p:cBhvr>
                                      <p:tavLst>
                                        <p:tav tm="0">
                                          <p:val>
                                            <p:fltVal val="90"/>
                                          </p:val>
                                        </p:tav>
                                        <p:tav tm="100000">
                                          <p:val>
                                            <p:fltVal val="0"/>
                                          </p:val>
                                        </p:tav>
                                      </p:tavLst>
                                    </p:anim>
                                    <p:animEffect transition="in" filter="fade">
                                      <p:cBhvr>
                                        <p:cTn id="46" dur="10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p:cTn id="51" dur="1000" fill="hold"/>
                                        <p:tgtEl>
                                          <p:spTgt spid="56"/>
                                        </p:tgtEl>
                                        <p:attrNameLst>
                                          <p:attrName>ppt_w</p:attrName>
                                        </p:attrNameLst>
                                      </p:cBhvr>
                                      <p:tavLst>
                                        <p:tav tm="0">
                                          <p:val>
                                            <p:fltVal val="0"/>
                                          </p:val>
                                        </p:tav>
                                        <p:tav tm="100000">
                                          <p:val>
                                            <p:strVal val="#ppt_w"/>
                                          </p:val>
                                        </p:tav>
                                      </p:tavLst>
                                    </p:anim>
                                    <p:anim calcmode="lin" valueType="num">
                                      <p:cBhvr>
                                        <p:cTn id="52" dur="1000" fill="hold"/>
                                        <p:tgtEl>
                                          <p:spTgt spid="56"/>
                                        </p:tgtEl>
                                        <p:attrNameLst>
                                          <p:attrName>ppt_h</p:attrName>
                                        </p:attrNameLst>
                                      </p:cBhvr>
                                      <p:tavLst>
                                        <p:tav tm="0">
                                          <p:val>
                                            <p:fltVal val="0"/>
                                          </p:val>
                                        </p:tav>
                                        <p:tav tm="100000">
                                          <p:val>
                                            <p:strVal val="#ppt_h"/>
                                          </p:val>
                                        </p:tav>
                                      </p:tavLst>
                                    </p:anim>
                                    <p:anim calcmode="lin" valueType="num">
                                      <p:cBhvr>
                                        <p:cTn id="53" dur="1000" fill="hold"/>
                                        <p:tgtEl>
                                          <p:spTgt spid="56"/>
                                        </p:tgtEl>
                                        <p:attrNameLst>
                                          <p:attrName>style.rotation</p:attrName>
                                        </p:attrNameLst>
                                      </p:cBhvr>
                                      <p:tavLst>
                                        <p:tav tm="0">
                                          <p:val>
                                            <p:fltVal val="90"/>
                                          </p:val>
                                        </p:tav>
                                        <p:tav tm="100000">
                                          <p:val>
                                            <p:fltVal val="0"/>
                                          </p:val>
                                        </p:tav>
                                      </p:tavLst>
                                    </p:anim>
                                    <p:animEffect transition="in" filter="fade">
                                      <p:cBhvr>
                                        <p:cTn id="54" dur="1000"/>
                                        <p:tgtEl>
                                          <p:spTgt spid="56"/>
                                        </p:tgtEl>
                                      </p:cBhvr>
                                    </p:animEffect>
                                  </p:childTnLst>
                                </p:cTn>
                              </p:par>
                            </p:childTnLst>
                          </p:cTn>
                        </p:par>
                        <p:par>
                          <p:cTn id="55" fill="hold">
                            <p:stCondLst>
                              <p:cond delay="1000"/>
                            </p:stCondLst>
                            <p:childTnLst>
                              <p:par>
                                <p:cTn id="56" presetID="31" presetClass="entr" presetSubtype="0" fill="hold" nodeType="afterEffect">
                                  <p:stCondLst>
                                    <p:cond delay="0"/>
                                  </p:stCondLst>
                                  <p:childTnLst>
                                    <p:set>
                                      <p:cBhvr>
                                        <p:cTn id="57" dur="1" fill="hold">
                                          <p:stCondLst>
                                            <p:cond delay="0"/>
                                          </p:stCondLst>
                                        </p:cTn>
                                        <p:tgtEl>
                                          <p:spTgt spid="5"/>
                                        </p:tgtEl>
                                        <p:attrNameLst>
                                          <p:attrName>style.visibility</p:attrName>
                                        </p:attrNameLst>
                                      </p:cBhvr>
                                      <p:to>
                                        <p:strVal val="visible"/>
                                      </p:to>
                                    </p:set>
                                    <p:anim calcmode="lin" valueType="num">
                                      <p:cBhvr>
                                        <p:cTn id="58" dur="1000" fill="hold"/>
                                        <p:tgtEl>
                                          <p:spTgt spid="5"/>
                                        </p:tgtEl>
                                        <p:attrNameLst>
                                          <p:attrName>ppt_w</p:attrName>
                                        </p:attrNameLst>
                                      </p:cBhvr>
                                      <p:tavLst>
                                        <p:tav tm="0">
                                          <p:val>
                                            <p:fltVal val="0"/>
                                          </p:val>
                                        </p:tav>
                                        <p:tav tm="100000">
                                          <p:val>
                                            <p:strVal val="#ppt_w"/>
                                          </p:val>
                                        </p:tav>
                                      </p:tavLst>
                                    </p:anim>
                                    <p:anim calcmode="lin" valueType="num">
                                      <p:cBhvr>
                                        <p:cTn id="59" dur="1000" fill="hold"/>
                                        <p:tgtEl>
                                          <p:spTgt spid="5"/>
                                        </p:tgtEl>
                                        <p:attrNameLst>
                                          <p:attrName>ppt_h</p:attrName>
                                        </p:attrNameLst>
                                      </p:cBhvr>
                                      <p:tavLst>
                                        <p:tav tm="0">
                                          <p:val>
                                            <p:fltVal val="0"/>
                                          </p:val>
                                        </p:tav>
                                        <p:tav tm="100000">
                                          <p:val>
                                            <p:strVal val="#ppt_h"/>
                                          </p:val>
                                        </p:tav>
                                      </p:tavLst>
                                    </p:anim>
                                    <p:anim calcmode="lin" valueType="num">
                                      <p:cBhvr>
                                        <p:cTn id="60" dur="1000" fill="hold"/>
                                        <p:tgtEl>
                                          <p:spTgt spid="5"/>
                                        </p:tgtEl>
                                        <p:attrNameLst>
                                          <p:attrName>style.rotation</p:attrName>
                                        </p:attrNameLst>
                                      </p:cBhvr>
                                      <p:tavLst>
                                        <p:tav tm="0">
                                          <p:val>
                                            <p:fltVal val="90"/>
                                          </p:val>
                                        </p:tav>
                                        <p:tav tm="100000">
                                          <p:val>
                                            <p:fltVal val="0"/>
                                          </p:val>
                                        </p:tav>
                                      </p:tavLst>
                                    </p:anim>
                                    <p:animEffect transition="in" filter="fade">
                                      <p:cBhvr>
                                        <p:cTn id="61" dur="1000"/>
                                        <p:tgtEl>
                                          <p:spTgt spid="5"/>
                                        </p:tgtEl>
                                      </p:cBhvr>
                                    </p:animEffect>
                                  </p:childTnLst>
                                </p:cTn>
                              </p:par>
                            </p:childTnLst>
                          </p:cTn>
                        </p:par>
                        <p:par>
                          <p:cTn id="62" fill="hold">
                            <p:stCondLst>
                              <p:cond delay="2000"/>
                            </p:stCondLst>
                            <p:childTnLst>
                              <p:par>
                                <p:cTn id="63" presetID="31" presetClass="entr" presetSubtype="0" fill="hold" nodeType="afterEffect">
                                  <p:stCondLst>
                                    <p:cond delay="0"/>
                                  </p:stCondLst>
                                  <p:childTnLst>
                                    <p:set>
                                      <p:cBhvr>
                                        <p:cTn id="64" dur="1" fill="hold">
                                          <p:stCondLst>
                                            <p:cond delay="0"/>
                                          </p:stCondLst>
                                        </p:cTn>
                                        <p:tgtEl>
                                          <p:spTgt spid="6"/>
                                        </p:tgtEl>
                                        <p:attrNameLst>
                                          <p:attrName>style.visibility</p:attrName>
                                        </p:attrNameLst>
                                      </p:cBhvr>
                                      <p:to>
                                        <p:strVal val="visible"/>
                                      </p:to>
                                    </p:set>
                                    <p:anim calcmode="lin" valueType="num">
                                      <p:cBhvr>
                                        <p:cTn id="65" dur="1000" fill="hold"/>
                                        <p:tgtEl>
                                          <p:spTgt spid="6"/>
                                        </p:tgtEl>
                                        <p:attrNameLst>
                                          <p:attrName>ppt_w</p:attrName>
                                        </p:attrNameLst>
                                      </p:cBhvr>
                                      <p:tavLst>
                                        <p:tav tm="0">
                                          <p:val>
                                            <p:fltVal val="0"/>
                                          </p:val>
                                        </p:tav>
                                        <p:tav tm="100000">
                                          <p:val>
                                            <p:strVal val="#ppt_w"/>
                                          </p:val>
                                        </p:tav>
                                      </p:tavLst>
                                    </p:anim>
                                    <p:anim calcmode="lin" valueType="num">
                                      <p:cBhvr>
                                        <p:cTn id="66" dur="1000" fill="hold"/>
                                        <p:tgtEl>
                                          <p:spTgt spid="6"/>
                                        </p:tgtEl>
                                        <p:attrNameLst>
                                          <p:attrName>ppt_h</p:attrName>
                                        </p:attrNameLst>
                                      </p:cBhvr>
                                      <p:tavLst>
                                        <p:tav tm="0">
                                          <p:val>
                                            <p:fltVal val="0"/>
                                          </p:val>
                                        </p:tav>
                                        <p:tav tm="100000">
                                          <p:val>
                                            <p:strVal val="#ppt_h"/>
                                          </p:val>
                                        </p:tav>
                                      </p:tavLst>
                                    </p:anim>
                                    <p:anim calcmode="lin" valueType="num">
                                      <p:cBhvr>
                                        <p:cTn id="67" dur="1000" fill="hold"/>
                                        <p:tgtEl>
                                          <p:spTgt spid="6"/>
                                        </p:tgtEl>
                                        <p:attrNameLst>
                                          <p:attrName>style.rotation</p:attrName>
                                        </p:attrNameLst>
                                      </p:cBhvr>
                                      <p:tavLst>
                                        <p:tav tm="0">
                                          <p:val>
                                            <p:fltVal val="90"/>
                                          </p:val>
                                        </p:tav>
                                        <p:tav tm="100000">
                                          <p:val>
                                            <p:fltVal val="0"/>
                                          </p:val>
                                        </p:tav>
                                      </p:tavLst>
                                    </p:anim>
                                    <p:animEffect transition="in" filter="fade">
                                      <p:cBhvr>
                                        <p:cTn id="68" dur="1000"/>
                                        <p:tgtEl>
                                          <p:spTgt spid="6"/>
                                        </p:tgtEl>
                                      </p:cBhvr>
                                    </p:animEffect>
                                  </p:childTnLst>
                                </p:cTn>
                              </p:par>
                            </p:childTnLst>
                          </p:cTn>
                        </p:par>
                      </p:childTnLst>
                    </p:cTn>
                  </p:par>
                  <p:par>
                    <p:cTn id="69" fill="hold">
                      <p:stCondLst>
                        <p:cond delay="indefinite"/>
                      </p:stCondLst>
                      <p:childTnLst>
                        <p:par>
                          <p:cTn id="70" fill="hold">
                            <p:stCondLst>
                              <p:cond delay="0"/>
                            </p:stCondLst>
                            <p:childTnLst>
                              <p:par>
                                <p:cTn id="71" presetID="31" presetClass="entr" presetSubtype="0" fill="hold" grpId="0" nodeType="clickEffect">
                                  <p:stCondLst>
                                    <p:cond delay="0"/>
                                  </p:stCondLst>
                                  <p:childTnLst>
                                    <p:set>
                                      <p:cBhvr>
                                        <p:cTn id="72" dur="1" fill="hold">
                                          <p:stCondLst>
                                            <p:cond delay="0"/>
                                          </p:stCondLst>
                                        </p:cTn>
                                        <p:tgtEl>
                                          <p:spTgt spid="57"/>
                                        </p:tgtEl>
                                        <p:attrNameLst>
                                          <p:attrName>style.visibility</p:attrName>
                                        </p:attrNameLst>
                                      </p:cBhvr>
                                      <p:to>
                                        <p:strVal val="visible"/>
                                      </p:to>
                                    </p:set>
                                    <p:anim calcmode="lin" valueType="num">
                                      <p:cBhvr>
                                        <p:cTn id="73" dur="1000" fill="hold"/>
                                        <p:tgtEl>
                                          <p:spTgt spid="57"/>
                                        </p:tgtEl>
                                        <p:attrNameLst>
                                          <p:attrName>ppt_w</p:attrName>
                                        </p:attrNameLst>
                                      </p:cBhvr>
                                      <p:tavLst>
                                        <p:tav tm="0">
                                          <p:val>
                                            <p:fltVal val="0"/>
                                          </p:val>
                                        </p:tav>
                                        <p:tav tm="100000">
                                          <p:val>
                                            <p:strVal val="#ppt_w"/>
                                          </p:val>
                                        </p:tav>
                                      </p:tavLst>
                                    </p:anim>
                                    <p:anim calcmode="lin" valueType="num">
                                      <p:cBhvr>
                                        <p:cTn id="74" dur="1000" fill="hold"/>
                                        <p:tgtEl>
                                          <p:spTgt spid="57"/>
                                        </p:tgtEl>
                                        <p:attrNameLst>
                                          <p:attrName>ppt_h</p:attrName>
                                        </p:attrNameLst>
                                      </p:cBhvr>
                                      <p:tavLst>
                                        <p:tav tm="0">
                                          <p:val>
                                            <p:fltVal val="0"/>
                                          </p:val>
                                        </p:tav>
                                        <p:tav tm="100000">
                                          <p:val>
                                            <p:strVal val="#ppt_h"/>
                                          </p:val>
                                        </p:tav>
                                      </p:tavLst>
                                    </p:anim>
                                    <p:anim calcmode="lin" valueType="num">
                                      <p:cBhvr>
                                        <p:cTn id="75" dur="1000" fill="hold"/>
                                        <p:tgtEl>
                                          <p:spTgt spid="57"/>
                                        </p:tgtEl>
                                        <p:attrNameLst>
                                          <p:attrName>style.rotation</p:attrName>
                                        </p:attrNameLst>
                                      </p:cBhvr>
                                      <p:tavLst>
                                        <p:tav tm="0">
                                          <p:val>
                                            <p:fltVal val="90"/>
                                          </p:val>
                                        </p:tav>
                                        <p:tav tm="100000">
                                          <p:val>
                                            <p:fltVal val="0"/>
                                          </p:val>
                                        </p:tav>
                                      </p:tavLst>
                                    </p:anim>
                                    <p:animEffect transition="in" filter="fade">
                                      <p:cBhvr>
                                        <p:cTn id="76" dur="1000"/>
                                        <p:tgtEl>
                                          <p:spTgt spid="57"/>
                                        </p:tgtEl>
                                      </p:cBhvr>
                                    </p:animEffect>
                                  </p:childTnLst>
                                </p:cTn>
                              </p:par>
                            </p:childTnLst>
                          </p:cTn>
                        </p:par>
                        <p:par>
                          <p:cTn id="77" fill="hold">
                            <p:stCondLst>
                              <p:cond delay="1000"/>
                            </p:stCondLst>
                            <p:childTnLst>
                              <p:par>
                                <p:cTn id="78" presetID="31" presetClass="entr" presetSubtype="0" fill="hold" nodeType="afterEffect">
                                  <p:stCondLst>
                                    <p:cond delay="0"/>
                                  </p:stCondLst>
                                  <p:childTnLst>
                                    <p:set>
                                      <p:cBhvr>
                                        <p:cTn id="79" dur="1" fill="hold">
                                          <p:stCondLst>
                                            <p:cond delay="0"/>
                                          </p:stCondLst>
                                        </p:cTn>
                                        <p:tgtEl>
                                          <p:spTgt spid="7"/>
                                        </p:tgtEl>
                                        <p:attrNameLst>
                                          <p:attrName>style.visibility</p:attrName>
                                        </p:attrNameLst>
                                      </p:cBhvr>
                                      <p:to>
                                        <p:strVal val="visible"/>
                                      </p:to>
                                    </p:set>
                                    <p:anim calcmode="lin" valueType="num">
                                      <p:cBhvr>
                                        <p:cTn id="80" dur="1000" fill="hold"/>
                                        <p:tgtEl>
                                          <p:spTgt spid="7"/>
                                        </p:tgtEl>
                                        <p:attrNameLst>
                                          <p:attrName>ppt_w</p:attrName>
                                        </p:attrNameLst>
                                      </p:cBhvr>
                                      <p:tavLst>
                                        <p:tav tm="0">
                                          <p:val>
                                            <p:fltVal val="0"/>
                                          </p:val>
                                        </p:tav>
                                        <p:tav tm="100000">
                                          <p:val>
                                            <p:strVal val="#ppt_w"/>
                                          </p:val>
                                        </p:tav>
                                      </p:tavLst>
                                    </p:anim>
                                    <p:anim calcmode="lin" valueType="num">
                                      <p:cBhvr>
                                        <p:cTn id="81" dur="1000" fill="hold"/>
                                        <p:tgtEl>
                                          <p:spTgt spid="7"/>
                                        </p:tgtEl>
                                        <p:attrNameLst>
                                          <p:attrName>ppt_h</p:attrName>
                                        </p:attrNameLst>
                                      </p:cBhvr>
                                      <p:tavLst>
                                        <p:tav tm="0">
                                          <p:val>
                                            <p:fltVal val="0"/>
                                          </p:val>
                                        </p:tav>
                                        <p:tav tm="100000">
                                          <p:val>
                                            <p:strVal val="#ppt_h"/>
                                          </p:val>
                                        </p:tav>
                                      </p:tavLst>
                                    </p:anim>
                                    <p:anim calcmode="lin" valueType="num">
                                      <p:cBhvr>
                                        <p:cTn id="82" dur="1000" fill="hold"/>
                                        <p:tgtEl>
                                          <p:spTgt spid="7"/>
                                        </p:tgtEl>
                                        <p:attrNameLst>
                                          <p:attrName>style.rotation</p:attrName>
                                        </p:attrNameLst>
                                      </p:cBhvr>
                                      <p:tavLst>
                                        <p:tav tm="0">
                                          <p:val>
                                            <p:fltVal val="90"/>
                                          </p:val>
                                        </p:tav>
                                        <p:tav tm="100000">
                                          <p:val>
                                            <p:fltVal val="0"/>
                                          </p:val>
                                        </p:tav>
                                      </p:tavLst>
                                    </p:anim>
                                    <p:animEffect transition="in" filter="fade">
                                      <p:cBhvr>
                                        <p:cTn id="83" dur="1000"/>
                                        <p:tgtEl>
                                          <p:spTgt spid="7"/>
                                        </p:tgtEl>
                                      </p:cBhvr>
                                    </p:animEffect>
                                  </p:childTnLst>
                                </p:cTn>
                              </p:par>
                            </p:childTnLst>
                          </p:cTn>
                        </p:par>
                        <p:par>
                          <p:cTn id="84" fill="hold">
                            <p:stCondLst>
                              <p:cond delay="2000"/>
                            </p:stCondLst>
                            <p:childTnLst>
                              <p:par>
                                <p:cTn id="85" presetID="31" presetClass="entr" presetSubtype="0" fill="hold" nodeType="after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1000" fill="hold"/>
                                        <p:tgtEl>
                                          <p:spTgt spid="8"/>
                                        </p:tgtEl>
                                        <p:attrNameLst>
                                          <p:attrName>ppt_w</p:attrName>
                                        </p:attrNameLst>
                                      </p:cBhvr>
                                      <p:tavLst>
                                        <p:tav tm="0">
                                          <p:val>
                                            <p:fltVal val="0"/>
                                          </p:val>
                                        </p:tav>
                                        <p:tav tm="100000">
                                          <p:val>
                                            <p:strVal val="#ppt_w"/>
                                          </p:val>
                                        </p:tav>
                                      </p:tavLst>
                                    </p:anim>
                                    <p:anim calcmode="lin" valueType="num">
                                      <p:cBhvr>
                                        <p:cTn id="88" dur="1000" fill="hold"/>
                                        <p:tgtEl>
                                          <p:spTgt spid="8"/>
                                        </p:tgtEl>
                                        <p:attrNameLst>
                                          <p:attrName>ppt_h</p:attrName>
                                        </p:attrNameLst>
                                      </p:cBhvr>
                                      <p:tavLst>
                                        <p:tav tm="0">
                                          <p:val>
                                            <p:fltVal val="0"/>
                                          </p:val>
                                        </p:tav>
                                        <p:tav tm="100000">
                                          <p:val>
                                            <p:strVal val="#ppt_h"/>
                                          </p:val>
                                        </p:tav>
                                      </p:tavLst>
                                    </p:anim>
                                    <p:anim calcmode="lin" valueType="num">
                                      <p:cBhvr>
                                        <p:cTn id="89" dur="1000" fill="hold"/>
                                        <p:tgtEl>
                                          <p:spTgt spid="8"/>
                                        </p:tgtEl>
                                        <p:attrNameLst>
                                          <p:attrName>style.rotation</p:attrName>
                                        </p:attrNameLst>
                                      </p:cBhvr>
                                      <p:tavLst>
                                        <p:tav tm="0">
                                          <p:val>
                                            <p:fltVal val="90"/>
                                          </p:val>
                                        </p:tav>
                                        <p:tav tm="100000">
                                          <p:val>
                                            <p:fltVal val="0"/>
                                          </p:val>
                                        </p:tav>
                                      </p:tavLst>
                                    </p:anim>
                                    <p:animEffect transition="in" filter="fade">
                                      <p:cBhvr>
                                        <p:cTn id="90" dur="1000"/>
                                        <p:tgtEl>
                                          <p:spTgt spid="8"/>
                                        </p:tgtEl>
                                      </p:cBhvr>
                                    </p:animEffect>
                                  </p:childTnLst>
                                </p:cTn>
                              </p:par>
                            </p:childTnLst>
                          </p:cTn>
                        </p:par>
                      </p:childTnLst>
                    </p:cTn>
                  </p:par>
                  <p:par>
                    <p:cTn id="91" fill="hold">
                      <p:stCondLst>
                        <p:cond delay="indefinite"/>
                      </p:stCondLst>
                      <p:childTnLst>
                        <p:par>
                          <p:cTn id="92" fill="hold">
                            <p:stCondLst>
                              <p:cond delay="0"/>
                            </p:stCondLst>
                            <p:childTnLst>
                              <p:par>
                                <p:cTn id="93" presetID="31" presetClass="entr" presetSubtype="0" fill="hold" grpId="0" nodeType="clickEffect">
                                  <p:stCondLst>
                                    <p:cond delay="0"/>
                                  </p:stCondLst>
                                  <p:childTnLst>
                                    <p:set>
                                      <p:cBhvr>
                                        <p:cTn id="94" dur="1" fill="hold">
                                          <p:stCondLst>
                                            <p:cond delay="0"/>
                                          </p:stCondLst>
                                        </p:cTn>
                                        <p:tgtEl>
                                          <p:spTgt spid="101"/>
                                        </p:tgtEl>
                                        <p:attrNameLst>
                                          <p:attrName>style.visibility</p:attrName>
                                        </p:attrNameLst>
                                      </p:cBhvr>
                                      <p:to>
                                        <p:strVal val="visible"/>
                                      </p:to>
                                    </p:set>
                                    <p:anim calcmode="lin" valueType="num">
                                      <p:cBhvr>
                                        <p:cTn id="95" dur="1000" fill="hold"/>
                                        <p:tgtEl>
                                          <p:spTgt spid="101"/>
                                        </p:tgtEl>
                                        <p:attrNameLst>
                                          <p:attrName>ppt_w</p:attrName>
                                        </p:attrNameLst>
                                      </p:cBhvr>
                                      <p:tavLst>
                                        <p:tav tm="0">
                                          <p:val>
                                            <p:fltVal val="0"/>
                                          </p:val>
                                        </p:tav>
                                        <p:tav tm="100000">
                                          <p:val>
                                            <p:strVal val="#ppt_w"/>
                                          </p:val>
                                        </p:tav>
                                      </p:tavLst>
                                    </p:anim>
                                    <p:anim calcmode="lin" valueType="num">
                                      <p:cBhvr>
                                        <p:cTn id="96" dur="1000" fill="hold"/>
                                        <p:tgtEl>
                                          <p:spTgt spid="101"/>
                                        </p:tgtEl>
                                        <p:attrNameLst>
                                          <p:attrName>ppt_h</p:attrName>
                                        </p:attrNameLst>
                                      </p:cBhvr>
                                      <p:tavLst>
                                        <p:tav tm="0">
                                          <p:val>
                                            <p:fltVal val="0"/>
                                          </p:val>
                                        </p:tav>
                                        <p:tav tm="100000">
                                          <p:val>
                                            <p:strVal val="#ppt_h"/>
                                          </p:val>
                                        </p:tav>
                                      </p:tavLst>
                                    </p:anim>
                                    <p:anim calcmode="lin" valueType="num">
                                      <p:cBhvr>
                                        <p:cTn id="97" dur="1000" fill="hold"/>
                                        <p:tgtEl>
                                          <p:spTgt spid="101"/>
                                        </p:tgtEl>
                                        <p:attrNameLst>
                                          <p:attrName>style.rotation</p:attrName>
                                        </p:attrNameLst>
                                      </p:cBhvr>
                                      <p:tavLst>
                                        <p:tav tm="0">
                                          <p:val>
                                            <p:fltVal val="90"/>
                                          </p:val>
                                        </p:tav>
                                        <p:tav tm="100000">
                                          <p:val>
                                            <p:fltVal val="0"/>
                                          </p:val>
                                        </p:tav>
                                      </p:tavLst>
                                    </p:anim>
                                    <p:animEffect transition="in" filter="fade">
                                      <p:cBhvr>
                                        <p:cTn id="98" dur="1000"/>
                                        <p:tgtEl>
                                          <p:spTgt spid="101"/>
                                        </p:tgtEl>
                                      </p:cBhvr>
                                    </p:animEffect>
                                  </p:childTnLst>
                                </p:cTn>
                              </p:par>
                            </p:childTnLst>
                          </p:cTn>
                        </p:par>
                        <p:par>
                          <p:cTn id="99" fill="hold">
                            <p:stCondLst>
                              <p:cond delay="1000"/>
                            </p:stCondLst>
                            <p:childTnLst>
                              <p:par>
                                <p:cTn id="100" presetID="31" presetClass="entr" presetSubtype="0" fill="hold" nodeType="afterEffect">
                                  <p:stCondLst>
                                    <p:cond delay="0"/>
                                  </p:stCondLst>
                                  <p:childTnLst>
                                    <p:set>
                                      <p:cBhvr>
                                        <p:cTn id="101" dur="1" fill="hold">
                                          <p:stCondLst>
                                            <p:cond delay="0"/>
                                          </p:stCondLst>
                                        </p:cTn>
                                        <p:tgtEl>
                                          <p:spTgt spid="10"/>
                                        </p:tgtEl>
                                        <p:attrNameLst>
                                          <p:attrName>style.visibility</p:attrName>
                                        </p:attrNameLst>
                                      </p:cBhvr>
                                      <p:to>
                                        <p:strVal val="visible"/>
                                      </p:to>
                                    </p:set>
                                    <p:anim calcmode="lin" valueType="num">
                                      <p:cBhvr>
                                        <p:cTn id="102" dur="1000" fill="hold"/>
                                        <p:tgtEl>
                                          <p:spTgt spid="10"/>
                                        </p:tgtEl>
                                        <p:attrNameLst>
                                          <p:attrName>ppt_w</p:attrName>
                                        </p:attrNameLst>
                                      </p:cBhvr>
                                      <p:tavLst>
                                        <p:tav tm="0">
                                          <p:val>
                                            <p:fltVal val="0"/>
                                          </p:val>
                                        </p:tav>
                                        <p:tav tm="100000">
                                          <p:val>
                                            <p:strVal val="#ppt_w"/>
                                          </p:val>
                                        </p:tav>
                                      </p:tavLst>
                                    </p:anim>
                                    <p:anim calcmode="lin" valueType="num">
                                      <p:cBhvr>
                                        <p:cTn id="103" dur="1000" fill="hold"/>
                                        <p:tgtEl>
                                          <p:spTgt spid="10"/>
                                        </p:tgtEl>
                                        <p:attrNameLst>
                                          <p:attrName>ppt_h</p:attrName>
                                        </p:attrNameLst>
                                      </p:cBhvr>
                                      <p:tavLst>
                                        <p:tav tm="0">
                                          <p:val>
                                            <p:fltVal val="0"/>
                                          </p:val>
                                        </p:tav>
                                        <p:tav tm="100000">
                                          <p:val>
                                            <p:strVal val="#ppt_h"/>
                                          </p:val>
                                        </p:tav>
                                      </p:tavLst>
                                    </p:anim>
                                    <p:anim calcmode="lin" valueType="num">
                                      <p:cBhvr>
                                        <p:cTn id="104" dur="1000" fill="hold"/>
                                        <p:tgtEl>
                                          <p:spTgt spid="10"/>
                                        </p:tgtEl>
                                        <p:attrNameLst>
                                          <p:attrName>style.rotation</p:attrName>
                                        </p:attrNameLst>
                                      </p:cBhvr>
                                      <p:tavLst>
                                        <p:tav tm="0">
                                          <p:val>
                                            <p:fltVal val="90"/>
                                          </p:val>
                                        </p:tav>
                                        <p:tav tm="100000">
                                          <p:val>
                                            <p:fltVal val="0"/>
                                          </p:val>
                                        </p:tav>
                                      </p:tavLst>
                                    </p:anim>
                                    <p:animEffect transition="in" filter="fade">
                                      <p:cBhvr>
                                        <p:cTn id="105" dur="1000"/>
                                        <p:tgtEl>
                                          <p:spTgt spid="10"/>
                                        </p:tgtEl>
                                      </p:cBhvr>
                                    </p:animEffect>
                                  </p:childTnLst>
                                </p:cTn>
                              </p:par>
                            </p:childTnLst>
                          </p:cTn>
                        </p:par>
                        <p:par>
                          <p:cTn id="106" fill="hold">
                            <p:stCondLst>
                              <p:cond delay="2000"/>
                            </p:stCondLst>
                            <p:childTnLst>
                              <p:par>
                                <p:cTn id="107" presetID="31" presetClass="entr" presetSubtype="0" fill="hold" grpId="0" nodeType="afterEffect">
                                  <p:stCondLst>
                                    <p:cond delay="0"/>
                                  </p:stCondLst>
                                  <p:childTnLst>
                                    <p:set>
                                      <p:cBhvr>
                                        <p:cTn id="108" dur="1" fill="hold">
                                          <p:stCondLst>
                                            <p:cond delay="0"/>
                                          </p:stCondLst>
                                        </p:cTn>
                                        <p:tgtEl>
                                          <p:spTgt spid="103"/>
                                        </p:tgtEl>
                                        <p:attrNameLst>
                                          <p:attrName>style.visibility</p:attrName>
                                        </p:attrNameLst>
                                      </p:cBhvr>
                                      <p:to>
                                        <p:strVal val="visible"/>
                                      </p:to>
                                    </p:set>
                                    <p:anim calcmode="lin" valueType="num">
                                      <p:cBhvr>
                                        <p:cTn id="109" dur="1000" fill="hold"/>
                                        <p:tgtEl>
                                          <p:spTgt spid="103"/>
                                        </p:tgtEl>
                                        <p:attrNameLst>
                                          <p:attrName>ppt_w</p:attrName>
                                        </p:attrNameLst>
                                      </p:cBhvr>
                                      <p:tavLst>
                                        <p:tav tm="0">
                                          <p:val>
                                            <p:fltVal val="0"/>
                                          </p:val>
                                        </p:tav>
                                        <p:tav tm="100000">
                                          <p:val>
                                            <p:strVal val="#ppt_w"/>
                                          </p:val>
                                        </p:tav>
                                      </p:tavLst>
                                    </p:anim>
                                    <p:anim calcmode="lin" valueType="num">
                                      <p:cBhvr>
                                        <p:cTn id="110" dur="1000" fill="hold"/>
                                        <p:tgtEl>
                                          <p:spTgt spid="103"/>
                                        </p:tgtEl>
                                        <p:attrNameLst>
                                          <p:attrName>ppt_h</p:attrName>
                                        </p:attrNameLst>
                                      </p:cBhvr>
                                      <p:tavLst>
                                        <p:tav tm="0">
                                          <p:val>
                                            <p:fltVal val="0"/>
                                          </p:val>
                                        </p:tav>
                                        <p:tav tm="100000">
                                          <p:val>
                                            <p:strVal val="#ppt_h"/>
                                          </p:val>
                                        </p:tav>
                                      </p:tavLst>
                                    </p:anim>
                                    <p:anim calcmode="lin" valueType="num">
                                      <p:cBhvr>
                                        <p:cTn id="111" dur="1000" fill="hold"/>
                                        <p:tgtEl>
                                          <p:spTgt spid="103"/>
                                        </p:tgtEl>
                                        <p:attrNameLst>
                                          <p:attrName>style.rotation</p:attrName>
                                        </p:attrNameLst>
                                      </p:cBhvr>
                                      <p:tavLst>
                                        <p:tav tm="0">
                                          <p:val>
                                            <p:fltVal val="90"/>
                                          </p:val>
                                        </p:tav>
                                        <p:tav tm="100000">
                                          <p:val>
                                            <p:fltVal val="0"/>
                                          </p:val>
                                        </p:tav>
                                      </p:tavLst>
                                    </p:anim>
                                    <p:animEffect transition="in" filter="fade">
                                      <p:cBhvr>
                                        <p:cTn id="112" dur="1000"/>
                                        <p:tgtEl>
                                          <p:spTgt spid="103"/>
                                        </p:tgtEl>
                                      </p:cBhvr>
                                    </p:animEffect>
                                  </p:childTnLst>
                                </p:cTn>
                              </p:par>
                            </p:childTnLst>
                          </p:cTn>
                        </p:par>
                        <p:par>
                          <p:cTn id="113" fill="hold">
                            <p:stCondLst>
                              <p:cond delay="3000"/>
                            </p:stCondLst>
                            <p:childTnLst>
                              <p:par>
                                <p:cTn id="114" presetID="31" presetClass="entr" presetSubtype="0" fill="hold" nodeType="afterEffect">
                                  <p:stCondLst>
                                    <p:cond delay="0"/>
                                  </p:stCondLst>
                                  <p:childTnLst>
                                    <p:set>
                                      <p:cBhvr>
                                        <p:cTn id="115" dur="1" fill="hold">
                                          <p:stCondLst>
                                            <p:cond delay="0"/>
                                          </p:stCondLst>
                                        </p:cTn>
                                        <p:tgtEl>
                                          <p:spTgt spid="12"/>
                                        </p:tgtEl>
                                        <p:attrNameLst>
                                          <p:attrName>style.visibility</p:attrName>
                                        </p:attrNameLst>
                                      </p:cBhvr>
                                      <p:to>
                                        <p:strVal val="visible"/>
                                      </p:to>
                                    </p:set>
                                    <p:anim calcmode="lin" valueType="num">
                                      <p:cBhvr>
                                        <p:cTn id="116" dur="1000" fill="hold"/>
                                        <p:tgtEl>
                                          <p:spTgt spid="12"/>
                                        </p:tgtEl>
                                        <p:attrNameLst>
                                          <p:attrName>ppt_w</p:attrName>
                                        </p:attrNameLst>
                                      </p:cBhvr>
                                      <p:tavLst>
                                        <p:tav tm="0">
                                          <p:val>
                                            <p:fltVal val="0"/>
                                          </p:val>
                                        </p:tav>
                                        <p:tav tm="100000">
                                          <p:val>
                                            <p:strVal val="#ppt_w"/>
                                          </p:val>
                                        </p:tav>
                                      </p:tavLst>
                                    </p:anim>
                                    <p:anim calcmode="lin" valueType="num">
                                      <p:cBhvr>
                                        <p:cTn id="117" dur="1000" fill="hold"/>
                                        <p:tgtEl>
                                          <p:spTgt spid="12"/>
                                        </p:tgtEl>
                                        <p:attrNameLst>
                                          <p:attrName>ppt_h</p:attrName>
                                        </p:attrNameLst>
                                      </p:cBhvr>
                                      <p:tavLst>
                                        <p:tav tm="0">
                                          <p:val>
                                            <p:fltVal val="0"/>
                                          </p:val>
                                        </p:tav>
                                        <p:tav tm="100000">
                                          <p:val>
                                            <p:strVal val="#ppt_h"/>
                                          </p:val>
                                        </p:tav>
                                      </p:tavLst>
                                    </p:anim>
                                    <p:anim calcmode="lin" valueType="num">
                                      <p:cBhvr>
                                        <p:cTn id="118" dur="1000" fill="hold"/>
                                        <p:tgtEl>
                                          <p:spTgt spid="12"/>
                                        </p:tgtEl>
                                        <p:attrNameLst>
                                          <p:attrName>style.rotation</p:attrName>
                                        </p:attrNameLst>
                                      </p:cBhvr>
                                      <p:tavLst>
                                        <p:tav tm="0">
                                          <p:val>
                                            <p:fltVal val="90"/>
                                          </p:val>
                                        </p:tav>
                                        <p:tav tm="100000">
                                          <p:val>
                                            <p:fltVal val="0"/>
                                          </p:val>
                                        </p:tav>
                                      </p:tavLst>
                                    </p:anim>
                                    <p:animEffect transition="in" filter="fade">
                                      <p:cBhvr>
                                        <p:cTn id="119" dur="1000"/>
                                        <p:tgtEl>
                                          <p:spTgt spid="12"/>
                                        </p:tgtEl>
                                      </p:cBhvr>
                                    </p:animEffect>
                                  </p:childTnLst>
                                </p:cTn>
                              </p:par>
                            </p:childTnLst>
                          </p:cTn>
                        </p:par>
                        <p:par>
                          <p:cTn id="120" fill="hold">
                            <p:stCondLst>
                              <p:cond delay="4000"/>
                            </p:stCondLst>
                            <p:childTnLst>
                              <p:par>
                                <p:cTn id="121" presetID="31" presetClass="entr" presetSubtype="0" fill="hold" grpId="0" nodeType="afterEffect">
                                  <p:stCondLst>
                                    <p:cond delay="0"/>
                                  </p:stCondLst>
                                  <p:childTnLst>
                                    <p:set>
                                      <p:cBhvr>
                                        <p:cTn id="122" dur="1" fill="hold">
                                          <p:stCondLst>
                                            <p:cond delay="0"/>
                                          </p:stCondLst>
                                        </p:cTn>
                                        <p:tgtEl>
                                          <p:spTgt spid="102"/>
                                        </p:tgtEl>
                                        <p:attrNameLst>
                                          <p:attrName>style.visibility</p:attrName>
                                        </p:attrNameLst>
                                      </p:cBhvr>
                                      <p:to>
                                        <p:strVal val="visible"/>
                                      </p:to>
                                    </p:set>
                                    <p:anim calcmode="lin" valueType="num">
                                      <p:cBhvr>
                                        <p:cTn id="123" dur="1000" fill="hold"/>
                                        <p:tgtEl>
                                          <p:spTgt spid="102"/>
                                        </p:tgtEl>
                                        <p:attrNameLst>
                                          <p:attrName>ppt_w</p:attrName>
                                        </p:attrNameLst>
                                      </p:cBhvr>
                                      <p:tavLst>
                                        <p:tav tm="0">
                                          <p:val>
                                            <p:fltVal val="0"/>
                                          </p:val>
                                        </p:tav>
                                        <p:tav tm="100000">
                                          <p:val>
                                            <p:strVal val="#ppt_w"/>
                                          </p:val>
                                        </p:tav>
                                      </p:tavLst>
                                    </p:anim>
                                    <p:anim calcmode="lin" valueType="num">
                                      <p:cBhvr>
                                        <p:cTn id="124" dur="1000" fill="hold"/>
                                        <p:tgtEl>
                                          <p:spTgt spid="102"/>
                                        </p:tgtEl>
                                        <p:attrNameLst>
                                          <p:attrName>ppt_h</p:attrName>
                                        </p:attrNameLst>
                                      </p:cBhvr>
                                      <p:tavLst>
                                        <p:tav tm="0">
                                          <p:val>
                                            <p:fltVal val="0"/>
                                          </p:val>
                                        </p:tav>
                                        <p:tav tm="100000">
                                          <p:val>
                                            <p:strVal val="#ppt_h"/>
                                          </p:val>
                                        </p:tav>
                                      </p:tavLst>
                                    </p:anim>
                                    <p:anim calcmode="lin" valueType="num">
                                      <p:cBhvr>
                                        <p:cTn id="125" dur="1000" fill="hold"/>
                                        <p:tgtEl>
                                          <p:spTgt spid="102"/>
                                        </p:tgtEl>
                                        <p:attrNameLst>
                                          <p:attrName>style.rotation</p:attrName>
                                        </p:attrNameLst>
                                      </p:cBhvr>
                                      <p:tavLst>
                                        <p:tav tm="0">
                                          <p:val>
                                            <p:fltVal val="90"/>
                                          </p:val>
                                        </p:tav>
                                        <p:tav tm="100000">
                                          <p:val>
                                            <p:fltVal val="0"/>
                                          </p:val>
                                        </p:tav>
                                      </p:tavLst>
                                    </p:anim>
                                    <p:animEffect transition="in" filter="fade">
                                      <p:cBhvr>
                                        <p:cTn id="126" dur="1000"/>
                                        <p:tgtEl>
                                          <p:spTgt spid="102"/>
                                        </p:tgtEl>
                                      </p:cBhvr>
                                    </p:animEffect>
                                  </p:childTnLst>
                                </p:cTn>
                              </p:par>
                            </p:childTnLst>
                          </p:cTn>
                        </p:par>
                        <p:par>
                          <p:cTn id="127" fill="hold">
                            <p:stCondLst>
                              <p:cond delay="5000"/>
                            </p:stCondLst>
                            <p:childTnLst>
                              <p:par>
                                <p:cTn id="128" presetID="31" presetClass="entr" presetSubtype="0" fill="hold" nodeType="afterEffect">
                                  <p:stCondLst>
                                    <p:cond delay="0"/>
                                  </p:stCondLst>
                                  <p:childTnLst>
                                    <p:set>
                                      <p:cBhvr>
                                        <p:cTn id="129" dur="1" fill="hold">
                                          <p:stCondLst>
                                            <p:cond delay="0"/>
                                          </p:stCondLst>
                                        </p:cTn>
                                        <p:tgtEl>
                                          <p:spTgt spid="13"/>
                                        </p:tgtEl>
                                        <p:attrNameLst>
                                          <p:attrName>style.visibility</p:attrName>
                                        </p:attrNameLst>
                                      </p:cBhvr>
                                      <p:to>
                                        <p:strVal val="visible"/>
                                      </p:to>
                                    </p:set>
                                    <p:anim calcmode="lin" valueType="num">
                                      <p:cBhvr>
                                        <p:cTn id="130" dur="1000" fill="hold"/>
                                        <p:tgtEl>
                                          <p:spTgt spid="13"/>
                                        </p:tgtEl>
                                        <p:attrNameLst>
                                          <p:attrName>ppt_w</p:attrName>
                                        </p:attrNameLst>
                                      </p:cBhvr>
                                      <p:tavLst>
                                        <p:tav tm="0">
                                          <p:val>
                                            <p:fltVal val="0"/>
                                          </p:val>
                                        </p:tav>
                                        <p:tav tm="100000">
                                          <p:val>
                                            <p:strVal val="#ppt_w"/>
                                          </p:val>
                                        </p:tav>
                                      </p:tavLst>
                                    </p:anim>
                                    <p:anim calcmode="lin" valueType="num">
                                      <p:cBhvr>
                                        <p:cTn id="131" dur="1000" fill="hold"/>
                                        <p:tgtEl>
                                          <p:spTgt spid="13"/>
                                        </p:tgtEl>
                                        <p:attrNameLst>
                                          <p:attrName>ppt_h</p:attrName>
                                        </p:attrNameLst>
                                      </p:cBhvr>
                                      <p:tavLst>
                                        <p:tav tm="0">
                                          <p:val>
                                            <p:fltVal val="0"/>
                                          </p:val>
                                        </p:tav>
                                        <p:tav tm="100000">
                                          <p:val>
                                            <p:strVal val="#ppt_h"/>
                                          </p:val>
                                        </p:tav>
                                      </p:tavLst>
                                    </p:anim>
                                    <p:anim calcmode="lin" valueType="num">
                                      <p:cBhvr>
                                        <p:cTn id="132" dur="1000" fill="hold"/>
                                        <p:tgtEl>
                                          <p:spTgt spid="13"/>
                                        </p:tgtEl>
                                        <p:attrNameLst>
                                          <p:attrName>style.rotation</p:attrName>
                                        </p:attrNameLst>
                                      </p:cBhvr>
                                      <p:tavLst>
                                        <p:tav tm="0">
                                          <p:val>
                                            <p:fltVal val="90"/>
                                          </p:val>
                                        </p:tav>
                                        <p:tav tm="100000">
                                          <p:val>
                                            <p:fltVal val="0"/>
                                          </p:val>
                                        </p:tav>
                                      </p:tavLst>
                                    </p:anim>
                                    <p:animEffect transition="in" filter="fade">
                                      <p:cBhvr>
                                        <p:cTn id="133" dur="1000"/>
                                        <p:tgtEl>
                                          <p:spTgt spid="13"/>
                                        </p:tgtEl>
                                      </p:cBhvr>
                                    </p:animEffect>
                                  </p:childTnLst>
                                </p:cTn>
                              </p:par>
                            </p:childTnLst>
                          </p:cTn>
                        </p:par>
                        <p:par>
                          <p:cTn id="134" fill="hold">
                            <p:stCondLst>
                              <p:cond delay="6000"/>
                            </p:stCondLst>
                            <p:childTnLst>
                              <p:par>
                                <p:cTn id="135" presetID="31" presetClass="entr" presetSubtype="0" fill="hold" grpId="0" nodeType="afterEffect">
                                  <p:stCondLst>
                                    <p:cond delay="0"/>
                                  </p:stCondLst>
                                  <p:childTnLst>
                                    <p:set>
                                      <p:cBhvr>
                                        <p:cTn id="136" dur="1" fill="hold">
                                          <p:stCondLst>
                                            <p:cond delay="0"/>
                                          </p:stCondLst>
                                        </p:cTn>
                                        <p:tgtEl>
                                          <p:spTgt spid="104"/>
                                        </p:tgtEl>
                                        <p:attrNameLst>
                                          <p:attrName>style.visibility</p:attrName>
                                        </p:attrNameLst>
                                      </p:cBhvr>
                                      <p:to>
                                        <p:strVal val="visible"/>
                                      </p:to>
                                    </p:set>
                                    <p:anim calcmode="lin" valueType="num">
                                      <p:cBhvr>
                                        <p:cTn id="137" dur="1000" fill="hold"/>
                                        <p:tgtEl>
                                          <p:spTgt spid="104"/>
                                        </p:tgtEl>
                                        <p:attrNameLst>
                                          <p:attrName>ppt_w</p:attrName>
                                        </p:attrNameLst>
                                      </p:cBhvr>
                                      <p:tavLst>
                                        <p:tav tm="0">
                                          <p:val>
                                            <p:fltVal val="0"/>
                                          </p:val>
                                        </p:tav>
                                        <p:tav tm="100000">
                                          <p:val>
                                            <p:strVal val="#ppt_w"/>
                                          </p:val>
                                        </p:tav>
                                      </p:tavLst>
                                    </p:anim>
                                    <p:anim calcmode="lin" valueType="num">
                                      <p:cBhvr>
                                        <p:cTn id="138" dur="1000" fill="hold"/>
                                        <p:tgtEl>
                                          <p:spTgt spid="104"/>
                                        </p:tgtEl>
                                        <p:attrNameLst>
                                          <p:attrName>ppt_h</p:attrName>
                                        </p:attrNameLst>
                                      </p:cBhvr>
                                      <p:tavLst>
                                        <p:tav tm="0">
                                          <p:val>
                                            <p:fltVal val="0"/>
                                          </p:val>
                                        </p:tav>
                                        <p:tav tm="100000">
                                          <p:val>
                                            <p:strVal val="#ppt_h"/>
                                          </p:val>
                                        </p:tav>
                                      </p:tavLst>
                                    </p:anim>
                                    <p:anim calcmode="lin" valueType="num">
                                      <p:cBhvr>
                                        <p:cTn id="139" dur="1000" fill="hold"/>
                                        <p:tgtEl>
                                          <p:spTgt spid="104"/>
                                        </p:tgtEl>
                                        <p:attrNameLst>
                                          <p:attrName>style.rotation</p:attrName>
                                        </p:attrNameLst>
                                      </p:cBhvr>
                                      <p:tavLst>
                                        <p:tav tm="0">
                                          <p:val>
                                            <p:fltVal val="90"/>
                                          </p:val>
                                        </p:tav>
                                        <p:tav tm="100000">
                                          <p:val>
                                            <p:fltVal val="0"/>
                                          </p:val>
                                        </p:tav>
                                      </p:tavLst>
                                    </p:anim>
                                    <p:animEffect transition="in" filter="fade">
                                      <p:cBhvr>
                                        <p:cTn id="140" dur="1000"/>
                                        <p:tgtEl>
                                          <p:spTgt spid="104"/>
                                        </p:tgtEl>
                                      </p:cBhvr>
                                    </p:animEffect>
                                  </p:childTnLst>
                                </p:cTn>
                              </p:par>
                            </p:childTnLst>
                          </p:cTn>
                        </p:par>
                        <p:par>
                          <p:cTn id="141" fill="hold">
                            <p:stCondLst>
                              <p:cond delay="7000"/>
                            </p:stCondLst>
                            <p:childTnLst>
                              <p:par>
                                <p:cTn id="142" presetID="31" presetClass="entr" presetSubtype="0" fill="hold" nodeType="afterEffect">
                                  <p:stCondLst>
                                    <p:cond delay="0"/>
                                  </p:stCondLst>
                                  <p:childTnLst>
                                    <p:set>
                                      <p:cBhvr>
                                        <p:cTn id="143" dur="1" fill="hold">
                                          <p:stCondLst>
                                            <p:cond delay="0"/>
                                          </p:stCondLst>
                                        </p:cTn>
                                        <p:tgtEl>
                                          <p:spTgt spid="11"/>
                                        </p:tgtEl>
                                        <p:attrNameLst>
                                          <p:attrName>style.visibility</p:attrName>
                                        </p:attrNameLst>
                                      </p:cBhvr>
                                      <p:to>
                                        <p:strVal val="visible"/>
                                      </p:to>
                                    </p:set>
                                    <p:anim calcmode="lin" valueType="num">
                                      <p:cBhvr>
                                        <p:cTn id="144" dur="1000" fill="hold"/>
                                        <p:tgtEl>
                                          <p:spTgt spid="11"/>
                                        </p:tgtEl>
                                        <p:attrNameLst>
                                          <p:attrName>ppt_w</p:attrName>
                                        </p:attrNameLst>
                                      </p:cBhvr>
                                      <p:tavLst>
                                        <p:tav tm="0">
                                          <p:val>
                                            <p:fltVal val="0"/>
                                          </p:val>
                                        </p:tav>
                                        <p:tav tm="100000">
                                          <p:val>
                                            <p:strVal val="#ppt_w"/>
                                          </p:val>
                                        </p:tav>
                                      </p:tavLst>
                                    </p:anim>
                                    <p:anim calcmode="lin" valueType="num">
                                      <p:cBhvr>
                                        <p:cTn id="145" dur="1000" fill="hold"/>
                                        <p:tgtEl>
                                          <p:spTgt spid="11"/>
                                        </p:tgtEl>
                                        <p:attrNameLst>
                                          <p:attrName>ppt_h</p:attrName>
                                        </p:attrNameLst>
                                      </p:cBhvr>
                                      <p:tavLst>
                                        <p:tav tm="0">
                                          <p:val>
                                            <p:fltVal val="0"/>
                                          </p:val>
                                        </p:tav>
                                        <p:tav tm="100000">
                                          <p:val>
                                            <p:strVal val="#ppt_h"/>
                                          </p:val>
                                        </p:tav>
                                      </p:tavLst>
                                    </p:anim>
                                    <p:anim calcmode="lin" valueType="num">
                                      <p:cBhvr>
                                        <p:cTn id="146" dur="1000" fill="hold"/>
                                        <p:tgtEl>
                                          <p:spTgt spid="11"/>
                                        </p:tgtEl>
                                        <p:attrNameLst>
                                          <p:attrName>style.rotation</p:attrName>
                                        </p:attrNameLst>
                                      </p:cBhvr>
                                      <p:tavLst>
                                        <p:tav tm="0">
                                          <p:val>
                                            <p:fltVal val="90"/>
                                          </p:val>
                                        </p:tav>
                                        <p:tav tm="100000">
                                          <p:val>
                                            <p:fltVal val="0"/>
                                          </p:val>
                                        </p:tav>
                                      </p:tavLst>
                                    </p:anim>
                                    <p:animEffect transition="in" filter="fade">
                                      <p:cBhvr>
                                        <p:cTn id="14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101" grpId="0"/>
      <p:bldP spid="102" grpId="0"/>
      <p:bldP spid="103" grpId="0"/>
      <p:bldP spid="104" grpId="0"/>
      <p:bldP spid="7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WHOS Plata System</a:t>
            </a:r>
          </a:p>
        </p:txBody>
      </p:sp>
      <p:graphicFrame>
        <p:nvGraphicFramePr>
          <p:cNvPr id="4" name="Segnaposto contenuto 3"/>
          <p:cNvGraphicFramePr>
            <a:graphicFrameLocks noGrp="1"/>
          </p:cNvGraphicFramePr>
          <p:nvPr>
            <p:ph idx="1"/>
            <p:extLst>
              <p:ext uri="{D42A27DB-BD31-4B8C-83A1-F6EECF244321}">
                <p14:modId xmlns:p14="http://schemas.microsoft.com/office/powerpoint/2010/main" val="55693894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6943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graphicEl>
                                              <a:dgm id="{F3115A9A-273A-C24E-9E5E-CE8F5AB40C8D}"/>
                                            </p:graphicEl>
                                          </p:spTgt>
                                        </p:tgtEl>
                                        <p:attrNameLst>
                                          <p:attrName>style.visibility</p:attrName>
                                        </p:attrNameLst>
                                      </p:cBhvr>
                                      <p:to>
                                        <p:strVal val="visible"/>
                                      </p:to>
                                    </p:set>
                                    <p:anim calcmode="lin" valueType="num">
                                      <p:cBhvr>
                                        <p:cTn id="7" dur="500" fill="hold"/>
                                        <p:tgtEl>
                                          <p:spTgt spid="4">
                                            <p:graphicEl>
                                              <a:dgm id="{F3115A9A-273A-C24E-9E5E-CE8F5AB40C8D}"/>
                                            </p:graphicEl>
                                          </p:spTgt>
                                        </p:tgtEl>
                                        <p:attrNameLst>
                                          <p:attrName>ppt_w</p:attrName>
                                        </p:attrNameLst>
                                      </p:cBhvr>
                                      <p:tavLst>
                                        <p:tav tm="0">
                                          <p:val>
                                            <p:fltVal val="0"/>
                                          </p:val>
                                        </p:tav>
                                        <p:tav tm="100000">
                                          <p:val>
                                            <p:strVal val="#ppt_w"/>
                                          </p:val>
                                        </p:tav>
                                      </p:tavLst>
                                    </p:anim>
                                    <p:anim calcmode="lin" valueType="num">
                                      <p:cBhvr>
                                        <p:cTn id="8" dur="500" fill="hold"/>
                                        <p:tgtEl>
                                          <p:spTgt spid="4">
                                            <p:graphicEl>
                                              <a:dgm id="{F3115A9A-273A-C24E-9E5E-CE8F5AB40C8D}"/>
                                            </p:graphicEl>
                                          </p:spTgt>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4">
                                            <p:graphicEl>
                                              <a:dgm id="{7DB49859-BD17-F24C-85D3-B4987FB19F23}"/>
                                            </p:graphicEl>
                                          </p:spTgt>
                                        </p:tgtEl>
                                        <p:attrNameLst>
                                          <p:attrName>style.visibility</p:attrName>
                                        </p:attrNameLst>
                                      </p:cBhvr>
                                      <p:to>
                                        <p:strVal val="visible"/>
                                      </p:to>
                                    </p:set>
                                    <p:anim calcmode="lin" valueType="num">
                                      <p:cBhvr>
                                        <p:cTn id="11" dur="500" fill="hold"/>
                                        <p:tgtEl>
                                          <p:spTgt spid="4">
                                            <p:graphicEl>
                                              <a:dgm id="{7DB49859-BD17-F24C-85D3-B4987FB19F23}"/>
                                            </p:graphicEl>
                                          </p:spTgt>
                                        </p:tgtEl>
                                        <p:attrNameLst>
                                          <p:attrName>ppt_w</p:attrName>
                                        </p:attrNameLst>
                                      </p:cBhvr>
                                      <p:tavLst>
                                        <p:tav tm="0">
                                          <p:val>
                                            <p:fltVal val="0"/>
                                          </p:val>
                                        </p:tav>
                                        <p:tav tm="100000">
                                          <p:val>
                                            <p:strVal val="#ppt_w"/>
                                          </p:val>
                                        </p:tav>
                                      </p:tavLst>
                                    </p:anim>
                                    <p:anim calcmode="lin" valueType="num">
                                      <p:cBhvr>
                                        <p:cTn id="12" dur="500" fill="hold"/>
                                        <p:tgtEl>
                                          <p:spTgt spid="4">
                                            <p:graphicEl>
                                              <a:dgm id="{7DB49859-BD17-F24C-85D3-B4987FB19F23}"/>
                                            </p:graphicEl>
                                          </p:spTgt>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4">
                                            <p:graphicEl>
                                              <a:dgm id="{42F39484-3BAA-1647-BE78-23D37EEE0D81}"/>
                                            </p:graphicEl>
                                          </p:spTgt>
                                        </p:tgtEl>
                                        <p:attrNameLst>
                                          <p:attrName>style.visibility</p:attrName>
                                        </p:attrNameLst>
                                      </p:cBhvr>
                                      <p:to>
                                        <p:strVal val="visible"/>
                                      </p:to>
                                    </p:set>
                                    <p:anim calcmode="lin" valueType="num">
                                      <p:cBhvr>
                                        <p:cTn id="15" dur="500" fill="hold"/>
                                        <p:tgtEl>
                                          <p:spTgt spid="4">
                                            <p:graphicEl>
                                              <a:dgm id="{42F39484-3BAA-1647-BE78-23D37EEE0D81}"/>
                                            </p:graphicEl>
                                          </p:spTgt>
                                        </p:tgtEl>
                                        <p:attrNameLst>
                                          <p:attrName>ppt_w</p:attrName>
                                        </p:attrNameLst>
                                      </p:cBhvr>
                                      <p:tavLst>
                                        <p:tav tm="0">
                                          <p:val>
                                            <p:fltVal val="0"/>
                                          </p:val>
                                        </p:tav>
                                        <p:tav tm="100000">
                                          <p:val>
                                            <p:strVal val="#ppt_w"/>
                                          </p:val>
                                        </p:tav>
                                      </p:tavLst>
                                    </p:anim>
                                    <p:anim calcmode="lin" valueType="num">
                                      <p:cBhvr>
                                        <p:cTn id="16" dur="500" fill="hold"/>
                                        <p:tgtEl>
                                          <p:spTgt spid="4">
                                            <p:graphicEl>
                                              <a:dgm id="{42F39484-3BAA-1647-BE78-23D37EEE0D81}"/>
                                            </p:graphicEl>
                                          </p:spTgt>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4">
                                            <p:graphicEl>
                                              <a:dgm id="{E5B7EE61-A906-FF48-9196-83B87A85CCDF}"/>
                                            </p:graphicEl>
                                          </p:spTgt>
                                        </p:tgtEl>
                                        <p:attrNameLst>
                                          <p:attrName>style.visibility</p:attrName>
                                        </p:attrNameLst>
                                      </p:cBhvr>
                                      <p:to>
                                        <p:strVal val="visible"/>
                                      </p:to>
                                    </p:set>
                                    <p:anim calcmode="lin" valueType="num">
                                      <p:cBhvr>
                                        <p:cTn id="21" dur="500" fill="hold"/>
                                        <p:tgtEl>
                                          <p:spTgt spid="4">
                                            <p:graphicEl>
                                              <a:dgm id="{E5B7EE61-A906-FF48-9196-83B87A85CCDF}"/>
                                            </p:graphicEl>
                                          </p:spTgt>
                                        </p:tgtEl>
                                        <p:attrNameLst>
                                          <p:attrName>ppt_w</p:attrName>
                                        </p:attrNameLst>
                                      </p:cBhvr>
                                      <p:tavLst>
                                        <p:tav tm="0">
                                          <p:val>
                                            <p:fltVal val="0"/>
                                          </p:val>
                                        </p:tav>
                                        <p:tav tm="100000">
                                          <p:val>
                                            <p:strVal val="#ppt_w"/>
                                          </p:val>
                                        </p:tav>
                                      </p:tavLst>
                                    </p:anim>
                                    <p:anim calcmode="lin" valueType="num">
                                      <p:cBhvr>
                                        <p:cTn id="22" dur="500" fill="hold"/>
                                        <p:tgtEl>
                                          <p:spTgt spid="4">
                                            <p:graphicEl>
                                              <a:dgm id="{E5B7EE61-A906-FF48-9196-83B87A85CCDF}"/>
                                            </p:graphic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4">
                                            <p:graphicEl>
                                              <a:dgm id="{74B69CB5-0D8F-BA48-9E5E-4ED0ADE720D8}"/>
                                            </p:graphicEl>
                                          </p:spTgt>
                                        </p:tgtEl>
                                        <p:attrNameLst>
                                          <p:attrName>style.visibility</p:attrName>
                                        </p:attrNameLst>
                                      </p:cBhvr>
                                      <p:to>
                                        <p:strVal val="visible"/>
                                      </p:to>
                                    </p:set>
                                    <p:anim calcmode="lin" valueType="num">
                                      <p:cBhvr>
                                        <p:cTn id="25" dur="500" fill="hold"/>
                                        <p:tgtEl>
                                          <p:spTgt spid="4">
                                            <p:graphicEl>
                                              <a:dgm id="{74B69CB5-0D8F-BA48-9E5E-4ED0ADE720D8}"/>
                                            </p:graphicEl>
                                          </p:spTgt>
                                        </p:tgtEl>
                                        <p:attrNameLst>
                                          <p:attrName>ppt_w</p:attrName>
                                        </p:attrNameLst>
                                      </p:cBhvr>
                                      <p:tavLst>
                                        <p:tav tm="0">
                                          <p:val>
                                            <p:fltVal val="0"/>
                                          </p:val>
                                        </p:tav>
                                        <p:tav tm="100000">
                                          <p:val>
                                            <p:strVal val="#ppt_w"/>
                                          </p:val>
                                        </p:tav>
                                      </p:tavLst>
                                    </p:anim>
                                    <p:anim calcmode="lin" valueType="num">
                                      <p:cBhvr>
                                        <p:cTn id="26" dur="500" fill="hold"/>
                                        <p:tgtEl>
                                          <p:spTgt spid="4">
                                            <p:graphicEl>
                                              <a:dgm id="{74B69CB5-0D8F-BA48-9E5E-4ED0ADE720D8}"/>
                                            </p:graphic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
                                            <p:graphicEl>
                                              <a:dgm id="{5E822DCF-EBCF-674B-9AFA-D9770CA421A3}"/>
                                            </p:graphicEl>
                                          </p:spTgt>
                                        </p:tgtEl>
                                        <p:attrNameLst>
                                          <p:attrName>style.visibility</p:attrName>
                                        </p:attrNameLst>
                                      </p:cBhvr>
                                      <p:to>
                                        <p:strVal val="visible"/>
                                      </p:to>
                                    </p:set>
                                    <p:anim calcmode="lin" valueType="num">
                                      <p:cBhvr>
                                        <p:cTn id="31" dur="500" fill="hold"/>
                                        <p:tgtEl>
                                          <p:spTgt spid="4">
                                            <p:graphicEl>
                                              <a:dgm id="{5E822DCF-EBCF-674B-9AFA-D9770CA421A3}"/>
                                            </p:graphicEl>
                                          </p:spTgt>
                                        </p:tgtEl>
                                        <p:attrNameLst>
                                          <p:attrName>ppt_w</p:attrName>
                                        </p:attrNameLst>
                                      </p:cBhvr>
                                      <p:tavLst>
                                        <p:tav tm="0">
                                          <p:val>
                                            <p:fltVal val="0"/>
                                          </p:val>
                                        </p:tav>
                                        <p:tav tm="100000">
                                          <p:val>
                                            <p:strVal val="#ppt_w"/>
                                          </p:val>
                                        </p:tav>
                                      </p:tavLst>
                                    </p:anim>
                                    <p:anim calcmode="lin" valueType="num">
                                      <p:cBhvr>
                                        <p:cTn id="32" dur="500" fill="hold"/>
                                        <p:tgtEl>
                                          <p:spTgt spid="4">
                                            <p:graphicEl>
                                              <a:dgm id="{5E822DCF-EBCF-674B-9AFA-D9770CA421A3}"/>
                                            </p:graphicEl>
                                          </p:spTgt>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4">
                                            <p:graphicEl>
                                              <a:dgm id="{4E5E316E-80F4-1D41-83BF-D81008E500EE}"/>
                                            </p:graphicEl>
                                          </p:spTgt>
                                        </p:tgtEl>
                                        <p:attrNameLst>
                                          <p:attrName>style.visibility</p:attrName>
                                        </p:attrNameLst>
                                      </p:cBhvr>
                                      <p:to>
                                        <p:strVal val="visible"/>
                                      </p:to>
                                    </p:set>
                                    <p:anim calcmode="lin" valueType="num">
                                      <p:cBhvr>
                                        <p:cTn id="35" dur="500" fill="hold"/>
                                        <p:tgtEl>
                                          <p:spTgt spid="4">
                                            <p:graphicEl>
                                              <a:dgm id="{4E5E316E-80F4-1D41-83BF-D81008E500EE}"/>
                                            </p:graphicEl>
                                          </p:spTgt>
                                        </p:tgtEl>
                                        <p:attrNameLst>
                                          <p:attrName>ppt_w</p:attrName>
                                        </p:attrNameLst>
                                      </p:cBhvr>
                                      <p:tavLst>
                                        <p:tav tm="0">
                                          <p:val>
                                            <p:fltVal val="0"/>
                                          </p:val>
                                        </p:tav>
                                        <p:tav tm="100000">
                                          <p:val>
                                            <p:strVal val="#ppt_w"/>
                                          </p:val>
                                        </p:tav>
                                      </p:tavLst>
                                    </p:anim>
                                    <p:anim calcmode="lin" valueType="num">
                                      <p:cBhvr>
                                        <p:cTn id="36" dur="500" fill="hold"/>
                                        <p:tgtEl>
                                          <p:spTgt spid="4">
                                            <p:graphicEl>
                                              <a:dgm id="{4E5E316E-80F4-1D41-83BF-D81008E500EE}"/>
                                            </p:graphicEl>
                                          </p:spTgt>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4">
                                            <p:graphicEl>
                                              <a:dgm id="{F703611D-43C6-1B47-99EC-32BF9C12BA2F}"/>
                                            </p:graphicEl>
                                          </p:spTgt>
                                        </p:tgtEl>
                                        <p:attrNameLst>
                                          <p:attrName>style.visibility</p:attrName>
                                        </p:attrNameLst>
                                      </p:cBhvr>
                                      <p:to>
                                        <p:strVal val="visible"/>
                                      </p:to>
                                    </p:set>
                                    <p:anim calcmode="lin" valueType="num">
                                      <p:cBhvr>
                                        <p:cTn id="41" dur="500" fill="hold"/>
                                        <p:tgtEl>
                                          <p:spTgt spid="4">
                                            <p:graphicEl>
                                              <a:dgm id="{F703611D-43C6-1B47-99EC-32BF9C12BA2F}"/>
                                            </p:graphicEl>
                                          </p:spTgt>
                                        </p:tgtEl>
                                        <p:attrNameLst>
                                          <p:attrName>ppt_w</p:attrName>
                                        </p:attrNameLst>
                                      </p:cBhvr>
                                      <p:tavLst>
                                        <p:tav tm="0">
                                          <p:val>
                                            <p:fltVal val="0"/>
                                          </p:val>
                                        </p:tav>
                                        <p:tav tm="100000">
                                          <p:val>
                                            <p:strVal val="#ppt_w"/>
                                          </p:val>
                                        </p:tav>
                                      </p:tavLst>
                                    </p:anim>
                                    <p:anim calcmode="lin" valueType="num">
                                      <p:cBhvr>
                                        <p:cTn id="42" dur="500" fill="hold"/>
                                        <p:tgtEl>
                                          <p:spTgt spid="4">
                                            <p:graphicEl>
                                              <a:dgm id="{F703611D-43C6-1B47-99EC-32BF9C12BA2F}"/>
                                            </p:graphicEl>
                                          </p:spTgt>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4">
                                            <p:graphicEl>
                                              <a:dgm id="{B80A2A0A-19F8-6D42-A4E2-A0695844884F}"/>
                                            </p:graphicEl>
                                          </p:spTgt>
                                        </p:tgtEl>
                                        <p:attrNameLst>
                                          <p:attrName>style.visibility</p:attrName>
                                        </p:attrNameLst>
                                      </p:cBhvr>
                                      <p:to>
                                        <p:strVal val="visible"/>
                                      </p:to>
                                    </p:set>
                                    <p:anim calcmode="lin" valueType="num">
                                      <p:cBhvr>
                                        <p:cTn id="45" dur="500" fill="hold"/>
                                        <p:tgtEl>
                                          <p:spTgt spid="4">
                                            <p:graphicEl>
                                              <a:dgm id="{B80A2A0A-19F8-6D42-A4E2-A0695844884F}"/>
                                            </p:graphicEl>
                                          </p:spTgt>
                                        </p:tgtEl>
                                        <p:attrNameLst>
                                          <p:attrName>ppt_w</p:attrName>
                                        </p:attrNameLst>
                                      </p:cBhvr>
                                      <p:tavLst>
                                        <p:tav tm="0">
                                          <p:val>
                                            <p:fltVal val="0"/>
                                          </p:val>
                                        </p:tav>
                                        <p:tav tm="100000">
                                          <p:val>
                                            <p:strVal val="#ppt_w"/>
                                          </p:val>
                                        </p:tav>
                                      </p:tavLst>
                                    </p:anim>
                                    <p:anim calcmode="lin" valueType="num">
                                      <p:cBhvr>
                                        <p:cTn id="46" dur="500" fill="hold"/>
                                        <p:tgtEl>
                                          <p:spTgt spid="4">
                                            <p:graphicEl>
                                              <a:dgm id="{B80A2A0A-19F8-6D42-A4E2-A0695844884F}"/>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WHOS Plata </a:t>
            </a:r>
            <a:r>
              <a:rPr lang="mr-IN" dirty="0"/>
              <a:t>–</a:t>
            </a:r>
            <a:r>
              <a:rPr lang="it-IT" dirty="0"/>
              <a:t> </a:t>
            </a:r>
            <a:r>
              <a:rPr lang="it-IT" dirty="0" err="1"/>
              <a:t>Main</a:t>
            </a:r>
            <a:r>
              <a:rPr lang="it-IT" dirty="0"/>
              <a:t> </a:t>
            </a:r>
            <a:r>
              <a:rPr lang="it-IT" dirty="0" err="1"/>
              <a:t>Functional</a:t>
            </a:r>
            <a:r>
              <a:rPr lang="it-IT" dirty="0"/>
              <a:t> </a:t>
            </a:r>
            <a:r>
              <a:rPr lang="it-IT" dirty="0" err="1"/>
              <a:t>Requirements</a:t>
            </a:r>
            <a:endParaRPr lang="it-IT" dirty="0"/>
          </a:p>
        </p:txBody>
      </p:sp>
      <p:grpSp>
        <p:nvGrpSpPr>
          <p:cNvPr id="3" name="Gruppo 6"/>
          <p:cNvGrpSpPr/>
          <p:nvPr/>
        </p:nvGrpSpPr>
        <p:grpSpPr>
          <a:xfrm>
            <a:off x="457200" y="2747674"/>
            <a:ext cx="3240360" cy="1644483"/>
            <a:chOff x="2430618" y="2664547"/>
            <a:chExt cx="3240360" cy="1644483"/>
          </a:xfrm>
        </p:grpSpPr>
        <p:pic>
          <p:nvPicPr>
            <p:cNvPr id="4" name="Picture 4" descr="http://clipartion.com/wp-content/uploads/2015/11/clipart-cloud.png"/>
            <p:cNvPicPr>
              <a:picLocks noChangeAspect="1" noChangeArrowheads="1"/>
            </p:cNvPicPr>
            <p:nvPr/>
          </p:nvPicPr>
          <p:blipFill>
            <a:blip r:embed="rId2" cstate="email">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430618" y="2664547"/>
              <a:ext cx="3240360" cy="1644483"/>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p:cNvSpPr txBox="1"/>
            <p:nvPr/>
          </p:nvSpPr>
          <p:spPr>
            <a:xfrm>
              <a:off x="3339942" y="3527308"/>
              <a:ext cx="2263761" cy="584775"/>
            </a:xfrm>
            <a:prstGeom prst="rect">
              <a:avLst/>
            </a:prstGeom>
            <a:noFill/>
          </p:spPr>
          <p:txBody>
            <a:bodyPr wrap="none" rtlCol="0">
              <a:spAutoFit/>
            </a:bodyPr>
            <a:lstStyle/>
            <a:p>
              <a:pPr algn="ctr"/>
              <a:r>
                <a:rPr lang="it-IT" sz="3200" b="1" i="1" dirty="0">
                  <a:solidFill>
                    <a:srgbClr val="406B9E"/>
                  </a:solidFill>
                </a:rPr>
                <a:t>WHOS Plata</a:t>
              </a:r>
            </a:p>
          </p:txBody>
        </p:sp>
        <p:pic>
          <p:nvPicPr>
            <p:cNvPr id="6" name="Picture 6" descr="wmo2016_powerpoint_standard_v2-2.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619117" y="3627107"/>
              <a:ext cx="359655" cy="377251"/>
            </a:xfrm>
            <a:prstGeom prst="rect">
              <a:avLst/>
            </a:prstGeom>
          </p:spPr>
        </p:pic>
      </p:grpSp>
      <p:graphicFrame>
        <p:nvGraphicFramePr>
          <p:cNvPr id="8" name="Diagramma 7"/>
          <p:cNvGraphicFramePr/>
          <p:nvPr>
            <p:extLst>
              <p:ext uri="{D42A27DB-BD31-4B8C-83A1-F6EECF244321}">
                <p14:modId xmlns:p14="http://schemas.microsoft.com/office/powerpoint/2010/main" val="1815483882"/>
              </p:ext>
            </p:extLst>
          </p:nvPr>
        </p:nvGraphicFramePr>
        <p:xfrm>
          <a:off x="3830781" y="1918854"/>
          <a:ext cx="5167745" cy="38815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7427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graphicEl>
                                              <a:dgm id="{DF872B2C-DB15-5C4F-B939-8AD16B109703}"/>
                                            </p:graphicEl>
                                          </p:spTgt>
                                        </p:tgtEl>
                                        <p:attrNameLst>
                                          <p:attrName>style.visibility</p:attrName>
                                        </p:attrNameLst>
                                      </p:cBhvr>
                                      <p:to>
                                        <p:strVal val="visible"/>
                                      </p:to>
                                    </p:set>
                                    <p:anim calcmode="lin" valueType="num">
                                      <p:cBhvr>
                                        <p:cTn id="7" dur="500" fill="hold"/>
                                        <p:tgtEl>
                                          <p:spTgt spid="8">
                                            <p:graphicEl>
                                              <a:dgm id="{DF872B2C-DB15-5C4F-B939-8AD16B109703}"/>
                                            </p:graphicEl>
                                          </p:spTgt>
                                        </p:tgtEl>
                                        <p:attrNameLst>
                                          <p:attrName>ppt_w</p:attrName>
                                        </p:attrNameLst>
                                      </p:cBhvr>
                                      <p:tavLst>
                                        <p:tav tm="0">
                                          <p:val>
                                            <p:fltVal val="0"/>
                                          </p:val>
                                        </p:tav>
                                        <p:tav tm="100000">
                                          <p:val>
                                            <p:strVal val="#ppt_w"/>
                                          </p:val>
                                        </p:tav>
                                      </p:tavLst>
                                    </p:anim>
                                    <p:anim calcmode="lin" valueType="num">
                                      <p:cBhvr>
                                        <p:cTn id="8" dur="500" fill="hold"/>
                                        <p:tgtEl>
                                          <p:spTgt spid="8">
                                            <p:graphicEl>
                                              <a:dgm id="{DF872B2C-DB15-5C4F-B939-8AD16B109703}"/>
                                            </p:graphicEl>
                                          </p:spTgt>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8">
                                            <p:graphicEl>
                                              <a:dgm id="{7C6296EB-DBD7-D34D-9483-86CD7E39F47D}"/>
                                            </p:graphicEl>
                                          </p:spTgt>
                                        </p:tgtEl>
                                        <p:attrNameLst>
                                          <p:attrName>style.visibility</p:attrName>
                                        </p:attrNameLst>
                                      </p:cBhvr>
                                      <p:to>
                                        <p:strVal val="visible"/>
                                      </p:to>
                                    </p:set>
                                    <p:anim calcmode="lin" valueType="num">
                                      <p:cBhvr>
                                        <p:cTn id="11" dur="500" fill="hold"/>
                                        <p:tgtEl>
                                          <p:spTgt spid="8">
                                            <p:graphicEl>
                                              <a:dgm id="{7C6296EB-DBD7-D34D-9483-86CD7E39F47D}"/>
                                            </p:graphicEl>
                                          </p:spTgt>
                                        </p:tgtEl>
                                        <p:attrNameLst>
                                          <p:attrName>ppt_w</p:attrName>
                                        </p:attrNameLst>
                                      </p:cBhvr>
                                      <p:tavLst>
                                        <p:tav tm="0">
                                          <p:val>
                                            <p:fltVal val="0"/>
                                          </p:val>
                                        </p:tav>
                                        <p:tav tm="100000">
                                          <p:val>
                                            <p:strVal val="#ppt_w"/>
                                          </p:val>
                                        </p:tav>
                                      </p:tavLst>
                                    </p:anim>
                                    <p:anim calcmode="lin" valueType="num">
                                      <p:cBhvr>
                                        <p:cTn id="12" dur="500" fill="hold"/>
                                        <p:tgtEl>
                                          <p:spTgt spid="8">
                                            <p:graphicEl>
                                              <a:dgm id="{7C6296EB-DBD7-D34D-9483-86CD7E39F47D}"/>
                                            </p:graphicEl>
                                          </p:spTgt>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8">
                                            <p:graphicEl>
                                              <a:dgm id="{236D22BE-16A3-714F-A04E-35DED07162FB}"/>
                                            </p:graphicEl>
                                          </p:spTgt>
                                        </p:tgtEl>
                                        <p:attrNameLst>
                                          <p:attrName>style.visibility</p:attrName>
                                        </p:attrNameLst>
                                      </p:cBhvr>
                                      <p:to>
                                        <p:strVal val="visible"/>
                                      </p:to>
                                    </p:set>
                                    <p:anim calcmode="lin" valueType="num">
                                      <p:cBhvr>
                                        <p:cTn id="15" dur="500" fill="hold"/>
                                        <p:tgtEl>
                                          <p:spTgt spid="8">
                                            <p:graphicEl>
                                              <a:dgm id="{236D22BE-16A3-714F-A04E-35DED07162FB}"/>
                                            </p:graphicEl>
                                          </p:spTgt>
                                        </p:tgtEl>
                                        <p:attrNameLst>
                                          <p:attrName>ppt_w</p:attrName>
                                        </p:attrNameLst>
                                      </p:cBhvr>
                                      <p:tavLst>
                                        <p:tav tm="0">
                                          <p:val>
                                            <p:fltVal val="0"/>
                                          </p:val>
                                        </p:tav>
                                        <p:tav tm="100000">
                                          <p:val>
                                            <p:strVal val="#ppt_w"/>
                                          </p:val>
                                        </p:tav>
                                      </p:tavLst>
                                    </p:anim>
                                    <p:anim calcmode="lin" valueType="num">
                                      <p:cBhvr>
                                        <p:cTn id="16" dur="500" fill="hold"/>
                                        <p:tgtEl>
                                          <p:spTgt spid="8">
                                            <p:graphicEl>
                                              <a:dgm id="{236D22BE-16A3-714F-A04E-35DED07162FB}"/>
                                            </p:graphicEl>
                                          </p:spTgt>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8">
                                            <p:graphicEl>
                                              <a:dgm id="{3D7C91C0-4126-9546-B6FD-C0856C609A36}"/>
                                            </p:graphicEl>
                                          </p:spTgt>
                                        </p:tgtEl>
                                        <p:attrNameLst>
                                          <p:attrName>style.visibility</p:attrName>
                                        </p:attrNameLst>
                                      </p:cBhvr>
                                      <p:to>
                                        <p:strVal val="visible"/>
                                      </p:to>
                                    </p:set>
                                    <p:anim calcmode="lin" valueType="num">
                                      <p:cBhvr>
                                        <p:cTn id="21" dur="500" fill="hold"/>
                                        <p:tgtEl>
                                          <p:spTgt spid="8">
                                            <p:graphicEl>
                                              <a:dgm id="{3D7C91C0-4126-9546-B6FD-C0856C609A36}"/>
                                            </p:graphicEl>
                                          </p:spTgt>
                                        </p:tgtEl>
                                        <p:attrNameLst>
                                          <p:attrName>ppt_w</p:attrName>
                                        </p:attrNameLst>
                                      </p:cBhvr>
                                      <p:tavLst>
                                        <p:tav tm="0">
                                          <p:val>
                                            <p:fltVal val="0"/>
                                          </p:val>
                                        </p:tav>
                                        <p:tav tm="100000">
                                          <p:val>
                                            <p:strVal val="#ppt_w"/>
                                          </p:val>
                                        </p:tav>
                                      </p:tavLst>
                                    </p:anim>
                                    <p:anim calcmode="lin" valueType="num">
                                      <p:cBhvr>
                                        <p:cTn id="22" dur="500" fill="hold"/>
                                        <p:tgtEl>
                                          <p:spTgt spid="8">
                                            <p:graphicEl>
                                              <a:dgm id="{3D7C91C0-4126-9546-B6FD-C0856C609A36}"/>
                                            </p:graphic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8">
                                            <p:graphicEl>
                                              <a:dgm id="{7BD45C00-F9E7-2046-A285-0D97821D7332}"/>
                                            </p:graphicEl>
                                          </p:spTgt>
                                        </p:tgtEl>
                                        <p:attrNameLst>
                                          <p:attrName>style.visibility</p:attrName>
                                        </p:attrNameLst>
                                      </p:cBhvr>
                                      <p:to>
                                        <p:strVal val="visible"/>
                                      </p:to>
                                    </p:set>
                                    <p:anim calcmode="lin" valueType="num">
                                      <p:cBhvr>
                                        <p:cTn id="25" dur="500" fill="hold"/>
                                        <p:tgtEl>
                                          <p:spTgt spid="8">
                                            <p:graphicEl>
                                              <a:dgm id="{7BD45C00-F9E7-2046-A285-0D97821D7332}"/>
                                            </p:graphicEl>
                                          </p:spTgt>
                                        </p:tgtEl>
                                        <p:attrNameLst>
                                          <p:attrName>ppt_w</p:attrName>
                                        </p:attrNameLst>
                                      </p:cBhvr>
                                      <p:tavLst>
                                        <p:tav tm="0">
                                          <p:val>
                                            <p:fltVal val="0"/>
                                          </p:val>
                                        </p:tav>
                                        <p:tav tm="100000">
                                          <p:val>
                                            <p:strVal val="#ppt_w"/>
                                          </p:val>
                                        </p:tav>
                                      </p:tavLst>
                                    </p:anim>
                                    <p:anim calcmode="lin" valueType="num">
                                      <p:cBhvr>
                                        <p:cTn id="26" dur="500" fill="hold"/>
                                        <p:tgtEl>
                                          <p:spTgt spid="8">
                                            <p:graphicEl>
                                              <a:dgm id="{7BD45C00-F9E7-2046-A285-0D97821D7332}"/>
                                            </p:graphic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8">
                                            <p:graphicEl>
                                              <a:dgm id="{836EB642-8D23-C94A-8278-A76343B44987}"/>
                                            </p:graphicEl>
                                          </p:spTgt>
                                        </p:tgtEl>
                                        <p:attrNameLst>
                                          <p:attrName>style.visibility</p:attrName>
                                        </p:attrNameLst>
                                      </p:cBhvr>
                                      <p:to>
                                        <p:strVal val="visible"/>
                                      </p:to>
                                    </p:set>
                                    <p:anim calcmode="lin" valueType="num">
                                      <p:cBhvr>
                                        <p:cTn id="31" dur="500" fill="hold"/>
                                        <p:tgtEl>
                                          <p:spTgt spid="8">
                                            <p:graphicEl>
                                              <a:dgm id="{836EB642-8D23-C94A-8278-A76343B44987}"/>
                                            </p:graphicEl>
                                          </p:spTgt>
                                        </p:tgtEl>
                                        <p:attrNameLst>
                                          <p:attrName>ppt_w</p:attrName>
                                        </p:attrNameLst>
                                      </p:cBhvr>
                                      <p:tavLst>
                                        <p:tav tm="0">
                                          <p:val>
                                            <p:fltVal val="0"/>
                                          </p:val>
                                        </p:tav>
                                        <p:tav tm="100000">
                                          <p:val>
                                            <p:strVal val="#ppt_w"/>
                                          </p:val>
                                        </p:tav>
                                      </p:tavLst>
                                    </p:anim>
                                    <p:anim calcmode="lin" valueType="num">
                                      <p:cBhvr>
                                        <p:cTn id="32" dur="500" fill="hold"/>
                                        <p:tgtEl>
                                          <p:spTgt spid="8">
                                            <p:graphicEl>
                                              <a:dgm id="{836EB642-8D23-C94A-8278-A76343B44987}"/>
                                            </p:graphicEl>
                                          </p:spTgt>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8">
                                            <p:graphicEl>
                                              <a:dgm id="{2D598E94-4E17-6146-BA72-CBEAC547CCF1}"/>
                                            </p:graphicEl>
                                          </p:spTgt>
                                        </p:tgtEl>
                                        <p:attrNameLst>
                                          <p:attrName>style.visibility</p:attrName>
                                        </p:attrNameLst>
                                      </p:cBhvr>
                                      <p:to>
                                        <p:strVal val="visible"/>
                                      </p:to>
                                    </p:set>
                                    <p:anim calcmode="lin" valueType="num">
                                      <p:cBhvr>
                                        <p:cTn id="35" dur="500" fill="hold"/>
                                        <p:tgtEl>
                                          <p:spTgt spid="8">
                                            <p:graphicEl>
                                              <a:dgm id="{2D598E94-4E17-6146-BA72-CBEAC547CCF1}"/>
                                            </p:graphicEl>
                                          </p:spTgt>
                                        </p:tgtEl>
                                        <p:attrNameLst>
                                          <p:attrName>ppt_w</p:attrName>
                                        </p:attrNameLst>
                                      </p:cBhvr>
                                      <p:tavLst>
                                        <p:tav tm="0">
                                          <p:val>
                                            <p:fltVal val="0"/>
                                          </p:val>
                                        </p:tav>
                                        <p:tav tm="100000">
                                          <p:val>
                                            <p:strVal val="#ppt_w"/>
                                          </p:val>
                                        </p:tav>
                                      </p:tavLst>
                                    </p:anim>
                                    <p:anim calcmode="lin" valueType="num">
                                      <p:cBhvr>
                                        <p:cTn id="36" dur="500" fill="hold"/>
                                        <p:tgtEl>
                                          <p:spTgt spid="8">
                                            <p:graphicEl>
                                              <a:dgm id="{2D598E94-4E17-6146-BA72-CBEAC547CCF1}"/>
                                            </p:graphicEl>
                                          </p:spTgt>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8">
                                            <p:graphicEl>
                                              <a:dgm id="{81BAFA1C-6B08-C740-8F6C-EB656BFDDD6C}"/>
                                            </p:graphicEl>
                                          </p:spTgt>
                                        </p:tgtEl>
                                        <p:attrNameLst>
                                          <p:attrName>style.visibility</p:attrName>
                                        </p:attrNameLst>
                                      </p:cBhvr>
                                      <p:to>
                                        <p:strVal val="visible"/>
                                      </p:to>
                                    </p:set>
                                    <p:anim calcmode="lin" valueType="num">
                                      <p:cBhvr>
                                        <p:cTn id="41" dur="500" fill="hold"/>
                                        <p:tgtEl>
                                          <p:spTgt spid="8">
                                            <p:graphicEl>
                                              <a:dgm id="{81BAFA1C-6B08-C740-8F6C-EB656BFDDD6C}"/>
                                            </p:graphicEl>
                                          </p:spTgt>
                                        </p:tgtEl>
                                        <p:attrNameLst>
                                          <p:attrName>ppt_w</p:attrName>
                                        </p:attrNameLst>
                                      </p:cBhvr>
                                      <p:tavLst>
                                        <p:tav tm="0">
                                          <p:val>
                                            <p:fltVal val="0"/>
                                          </p:val>
                                        </p:tav>
                                        <p:tav tm="100000">
                                          <p:val>
                                            <p:strVal val="#ppt_w"/>
                                          </p:val>
                                        </p:tav>
                                      </p:tavLst>
                                    </p:anim>
                                    <p:anim calcmode="lin" valueType="num">
                                      <p:cBhvr>
                                        <p:cTn id="42" dur="500" fill="hold"/>
                                        <p:tgtEl>
                                          <p:spTgt spid="8">
                                            <p:graphicEl>
                                              <a:dgm id="{81BAFA1C-6B08-C740-8F6C-EB656BFDDD6C}"/>
                                            </p:graphicEl>
                                          </p:spTgt>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8">
                                            <p:graphicEl>
                                              <a:dgm id="{581599CB-EC88-3046-A2A5-E9A5A890A4C1}"/>
                                            </p:graphicEl>
                                          </p:spTgt>
                                        </p:tgtEl>
                                        <p:attrNameLst>
                                          <p:attrName>style.visibility</p:attrName>
                                        </p:attrNameLst>
                                      </p:cBhvr>
                                      <p:to>
                                        <p:strVal val="visible"/>
                                      </p:to>
                                    </p:set>
                                    <p:anim calcmode="lin" valueType="num">
                                      <p:cBhvr>
                                        <p:cTn id="45" dur="500" fill="hold"/>
                                        <p:tgtEl>
                                          <p:spTgt spid="8">
                                            <p:graphicEl>
                                              <a:dgm id="{581599CB-EC88-3046-A2A5-E9A5A890A4C1}"/>
                                            </p:graphicEl>
                                          </p:spTgt>
                                        </p:tgtEl>
                                        <p:attrNameLst>
                                          <p:attrName>ppt_w</p:attrName>
                                        </p:attrNameLst>
                                      </p:cBhvr>
                                      <p:tavLst>
                                        <p:tav tm="0">
                                          <p:val>
                                            <p:fltVal val="0"/>
                                          </p:val>
                                        </p:tav>
                                        <p:tav tm="100000">
                                          <p:val>
                                            <p:strVal val="#ppt_w"/>
                                          </p:val>
                                        </p:tav>
                                      </p:tavLst>
                                    </p:anim>
                                    <p:anim calcmode="lin" valueType="num">
                                      <p:cBhvr>
                                        <p:cTn id="46" dur="500" fill="hold"/>
                                        <p:tgtEl>
                                          <p:spTgt spid="8">
                                            <p:graphicEl>
                                              <a:dgm id="{581599CB-EC88-3046-A2A5-E9A5A890A4C1}"/>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WHOS Plata </a:t>
            </a:r>
            <a:r>
              <a:rPr lang="mr-IN" dirty="0"/>
              <a:t>–</a:t>
            </a:r>
            <a:r>
              <a:rPr lang="it-IT" dirty="0"/>
              <a:t> </a:t>
            </a:r>
            <a:r>
              <a:rPr lang="it-IT" dirty="0" err="1"/>
              <a:t>Main</a:t>
            </a:r>
            <a:r>
              <a:rPr lang="it-IT" dirty="0"/>
              <a:t> Non-</a:t>
            </a:r>
            <a:r>
              <a:rPr lang="it-IT" dirty="0" err="1"/>
              <a:t>Functional</a:t>
            </a:r>
            <a:r>
              <a:rPr lang="it-IT" dirty="0"/>
              <a:t> </a:t>
            </a:r>
            <a:r>
              <a:rPr lang="it-IT" dirty="0" err="1"/>
              <a:t>Requirements</a:t>
            </a:r>
            <a:endParaRPr lang="it-IT" dirty="0"/>
          </a:p>
        </p:txBody>
      </p:sp>
      <p:grpSp>
        <p:nvGrpSpPr>
          <p:cNvPr id="7" name="Gruppo 6"/>
          <p:cNvGrpSpPr/>
          <p:nvPr/>
        </p:nvGrpSpPr>
        <p:grpSpPr>
          <a:xfrm>
            <a:off x="457200" y="2747674"/>
            <a:ext cx="3240360" cy="1644483"/>
            <a:chOff x="2430618" y="2664547"/>
            <a:chExt cx="3240360" cy="1644483"/>
          </a:xfrm>
        </p:grpSpPr>
        <p:pic>
          <p:nvPicPr>
            <p:cNvPr id="4" name="Picture 4" descr="http://clipartion.com/wp-content/uploads/2015/11/clipart-cloud.png"/>
            <p:cNvPicPr>
              <a:picLocks noChangeAspect="1" noChangeArrowheads="1"/>
            </p:cNvPicPr>
            <p:nvPr/>
          </p:nvPicPr>
          <p:blipFill>
            <a:blip r:embed="rId2" cstate="email">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430618" y="2664547"/>
              <a:ext cx="3240360" cy="1644483"/>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p:cNvSpPr txBox="1"/>
            <p:nvPr/>
          </p:nvSpPr>
          <p:spPr>
            <a:xfrm>
              <a:off x="3339942" y="3527308"/>
              <a:ext cx="2263761" cy="584775"/>
            </a:xfrm>
            <a:prstGeom prst="rect">
              <a:avLst/>
            </a:prstGeom>
            <a:noFill/>
          </p:spPr>
          <p:txBody>
            <a:bodyPr wrap="none" rtlCol="0">
              <a:spAutoFit/>
            </a:bodyPr>
            <a:lstStyle/>
            <a:p>
              <a:pPr algn="ctr"/>
              <a:r>
                <a:rPr lang="it-IT" sz="3200" b="1" i="1" dirty="0">
                  <a:solidFill>
                    <a:srgbClr val="406B9E"/>
                  </a:solidFill>
                </a:rPr>
                <a:t>WHOS Plata</a:t>
              </a:r>
            </a:p>
          </p:txBody>
        </p:sp>
        <p:pic>
          <p:nvPicPr>
            <p:cNvPr id="6" name="Picture 6" descr="wmo2016_powerpoint_standard_v2-2.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619117" y="3627107"/>
              <a:ext cx="359655" cy="377251"/>
            </a:xfrm>
            <a:prstGeom prst="rect">
              <a:avLst/>
            </a:prstGeom>
          </p:spPr>
        </p:pic>
      </p:grpSp>
      <p:graphicFrame>
        <p:nvGraphicFramePr>
          <p:cNvPr id="8" name="Diagramma 7"/>
          <p:cNvGraphicFramePr/>
          <p:nvPr>
            <p:extLst>
              <p:ext uri="{D42A27DB-BD31-4B8C-83A1-F6EECF244321}">
                <p14:modId xmlns:p14="http://schemas.microsoft.com/office/powerpoint/2010/main" val="1997618500"/>
              </p:ext>
            </p:extLst>
          </p:nvPr>
        </p:nvGraphicFramePr>
        <p:xfrm>
          <a:off x="3830781" y="1918854"/>
          <a:ext cx="5167745" cy="38815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Rettangolo arrotondato 2"/>
          <p:cNvSpPr/>
          <p:nvPr/>
        </p:nvSpPr>
        <p:spPr>
          <a:xfrm>
            <a:off x="4327072" y="1704109"/>
            <a:ext cx="4719945" cy="3228109"/>
          </a:xfrm>
          <a:prstGeom prst="roundRect">
            <a:avLst>
              <a:gd name="adj" fmla="val 8941"/>
            </a:avLst>
          </a:prstGeom>
          <a:noFill/>
          <a:ln w="76200">
            <a:prstDash val="lgDash"/>
          </a:ln>
        </p:spPr>
        <p:style>
          <a:lnRef idx="2">
            <a:schemeClr val="accent2"/>
          </a:lnRef>
          <a:fillRef idx="1">
            <a:schemeClr val="lt1"/>
          </a:fillRef>
          <a:effectRef idx="0">
            <a:schemeClr val="accent2"/>
          </a:effectRef>
          <a:fontRef idx="minor">
            <a:schemeClr val="dk1"/>
          </a:fontRef>
        </p:style>
        <p:txBody>
          <a:bodyPr rtlCol="0" anchor="t"/>
          <a:lstStyle/>
          <a:p>
            <a:pPr algn="ctr"/>
            <a:r>
              <a:rPr lang="it-IT" sz="2000" b="1" dirty="0" err="1">
                <a:solidFill>
                  <a:srgbClr val="C00000"/>
                </a:solidFill>
              </a:rPr>
              <a:t>Quality</a:t>
            </a:r>
            <a:r>
              <a:rPr lang="it-IT" sz="2000" b="1" dirty="0">
                <a:solidFill>
                  <a:srgbClr val="C00000"/>
                </a:solidFill>
              </a:rPr>
              <a:t> of Service</a:t>
            </a:r>
          </a:p>
        </p:txBody>
      </p:sp>
    </p:spTree>
    <p:extLst>
      <p:ext uri="{BB962C8B-B14F-4D97-AF65-F5344CB8AC3E}">
        <p14:creationId xmlns:p14="http://schemas.microsoft.com/office/powerpoint/2010/main" val="26013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graphicEl>
                                              <a:dgm id="{DF872B2C-DB15-5C4F-B939-8AD16B109703}"/>
                                            </p:graphicEl>
                                          </p:spTgt>
                                        </p:tgtEl>
                                        <p:attrNameLst>
                                          <p:attrName>style.visibility</p:attrName>
                                        </p:attrNameLst>
                                      </p:cBhvr>
                                      <p:to>
                                        <p:strVal val="visible"/>
                                      </p:to>
                                    </p:set>
                                    <p:anim calcmode="lin" valueType="num">
                                      <p:cBhvr>
                                        <p:cTn id="7" dur="500" fill="hold"/>
                                        <p:tgtEl>
                                          <p:spTgt spid="8">
                                            <p:graphicEl>
                                              <a:dgm id="{DF872B2C-DB15-5C4F-B939-8AD16B109703}"/>
                                            </p:graphicEl>
                                          </p:spTgt>
                                        </p:tgtEl>
                                        <p:attrNameLst>
                                          <p:attrName>ppt_w</p:attrName>
                                        </p:attrNameLst>
                                      </p:cBhvr>
                                      <p:tavLst>
                                        <p:tav tm="0">
                                          <p:val>
                                            <p:fltVal val="0"/>
                                          </p:val>
                                        </p:tav>
                                        <p:tav tm="100000">
                                          <p:val>
                                            <p:strVal val="#ppt_w"/>
                                          </p:val>
                                        </p:tav>
                                      </p:tavLst>
                                    </p:anim>
                                    <p:anim calcmode="lin" valueType="num">
                                      <p:cBhvr>
                                        <p:cTn id="8" dur="500" fill="hold"/>
                                        <p:tgtEl>
                                          <p:spTgt spid="8">
                                            <p:graphicEl>
                                              <a:dgm id="{DF872B2C-DB15-5C4F-B939-8AD16B109703}"/>
                                            </p:graphicEl>
                                          </p:spTgt>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8">
                                            <p:graphicEl>
                                              <a:dgm id="{7C6296EB-DBD7-D34D-9483-86CD7E39F47D}"/>
                                            </p:graphicEl>
                                          </p:spTgt>
                                        </p:tgtEl>
                                        <p:attrNameLst>
                                          <p:attrName>style.visibility</p:attrName>
                                        </p:attrNameLst>
                                      </p:cBhvr>
                                      <p:to>
                                        <p:strVal val="visible"/>
                                      </p:to>
                                    </p:set>
                                    <p:anim calcmode="lin" valueType="num">
                                      <p:cBhvr>
                                        <p:cTn id="11" dur="500" fill="hold"/>
                                        <p:tgtEl>
                                          <p:spTgt spid="8">
                                            <p:graphicEl>
                                              <a:dgm id="{7C6296EB-DBD7-D34D-9483-86CD7E39F47D}"/>
                                            </p:graphicEl>
                                          </p:spTgt>
                                        </p:tgtEl>
                                        <p:attrNameLst>
                                          <p:attrName>ppt_w</p:attrName>
                                        </p:attrNameLst>
                                      </p:cBhvr>
                                      <p:tavLst>
                                        <p:tav tm="0">
                                          <p:val>
                                            <p:fltVal val="0"/>
                                          </p:val>
                                        </p:tav>
                                        <p:tav tm="100000">
                                          <p:val>
                                            <p:strVal val="#ppt_w"/>
                                          </p:val>
                                        </p:tav>
                                      </p:tavLst>
                                    </p:anim>
                                    <p:anim calcmode="lin" valueType="num">
                                      <p:cBhvr>
                                        <p:cTn id="12" dur="500" fill="hold"/>
                                        <p:tgtEl>
                                          <p:spTgt spid="8">
                                            <p:graphicEl>
                                              <a:dgm id="{7C6296EB-DBD7-D34D-9483-86CD7E39F47D}"/>
                                            </p:graphicEl>
                                          </p:spTgt>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8">
                                            <p:graphicEl>
                                              <a:dgm id="{236D22BE-16A3-714F-A04E-35DED07162FB}"/>
                                            </p:graphicEl>
                                          </p:spTgt>
                                        </p:tgtEl>
                                        <p:attrNameLst>
                                          <p:attrName>style.visibility</p:attrName>
                                        </p:attrNameLst>
                                      </p:cBhvr>
                                      <p:to>
                                        <p:strVal val="visible"/>
                                      </p:to>
                                    </p:set>
                                    <p:anim calcmode="lin" valueType="num">
                                      <p:cBhvr>
                                        <p:cTn id="15" dur="500" fill="hold"/>
                                        <p:tgtEl>
                                          <p:spTgt spid="8">
                                            <p:graphicEl>
                                              <a:dgm id="{236D22BE-16A3-714F-A04E-35DED07162FB}"/>
                                            </p:graphicEl>
                                          </p:spTgt>
                                        </p:tgtEl>
                                        <p:attrNameLst>
                                          <p:attrName>ppt_w</p:attrName>
                                        </p:attrNameLst>
                                      </p:cBhvr>
                                      <p:tavLst>
                                        <p:tav tm="0">
                                          <p:val>
                                            <p:fltVal val="0"/>
                                          </p:val>
                                        </p:tav>
                                        <p:tav tm="100000">
                                          <p:val>
                                            <p:strVal val="#ppt_w"/>
                                          </p:val>
                                        </p:tav>
                                      </p:tavLst>
                                    </p:anim>
                                    <p:anim calcmode="lin" valueType="num">
                                      <p:cBhvr>
                                        <p:cTn id="16" dur="500" fill="hold"/>
                                        <p:tgtEl>
                                          <p:spTgt spid="8">
                                            <p:graphicEl>
                                              <a:dgm id="{236D22BE-16A3-714F-A04E-35DED07162FB}"/>
                                            </p:graphicEl>
                                          </p:spTgt>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8">
                                            <p:graphicEl>
                                              <a:dgm id="{7D8DD9AC-5811-424F-84E6-B3D16834A61F}"/>
                                            </p:graphicEl>
                                          </p:spTgt>
                                        </p:tgtEl>
                                        <p:attrNameLst>
                                          <p:attrName>style.visibility</p:attrName>
                                        </p:attrNameLst>
                                      </p:cBhvr>
                                      <p:to>
                                        <p:strVal val="visible"/>
                                      </p:to>
                                    </p:set>
                                    <p:anim calcmode="lin" valueType="num">
                                      <p:cBhvr>
                                        <p:cTn id="21" dur="500" fill="hold"/>
                                        <p:tgtEl>
                                          <p:spTgt spid="8">
                                            <p:graphicEl>
                                              <a:dgm id="{7D8DD9AC-5811-424F-84E6-B3D16834A61F}"/>
                                            </p:graphicEl>
                                          </p:spTgt>
                                        </p:tgtEl>
                                        <p:attrNameLst>
                                          <p:attrName>ppt_w</p:attrName>
                                        </p:attrNameLst>
                                      </p:cBhvr>
                                      <p:tavLst>
                                        <p:tav tm="0">
                                          <p:val>
                                            <p:fltVal val="0"/>
                                          </p:val>
                                        </p:tav>
                                        <p:tav tm="100000">
                                          <p:val>
                                            <p:strVal val="#ppt_w"/>
                                          </p:val>
                                        </p:tav>
                                      </p:tavLst>
                                    </p:anim>
                                    <p:anim calcmode="lin" valueType="num">
                                      <p:cBhvr>
                                        <p:cTn id="22" dur="500" fill="hold"/>
                                        <p:tgtEl>
                                          <p:spTgt spid="8">
                                            <p:graphicEl>
                                              <a:dgm id="{7D8DD9AC-5811-424F-84E6-B3D16834A61F}"/>
                                            </p:graphic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8">
                                            <p:graphicEl>
                                              <a:dgm id="{A1533CF9-0EFB-3E45-BC70-C247200ECC19}"/>
                                            </p:graphicEl>
                                          </p:spTgt>
                                        </p:tgtEl>
                                        <p:attrNameLst>
                                          <p:attrName>style.visibility</p:attrName>
                                        </p:attrNameLst>
                                      </p:cBhvr>
                                      <p:to>
                                        <p:strVal val="visible"/>
                                      </p:to>
                                    </p:set>
                                    <p:anim calcmode="lin" valueType="num">
                                      <p:cBhvr>
                                        <p:cTn id="25" dur="500" fill="hold"/>
                                        <p:tgtEl>
                                          <p:spTgt spid="8">
                                            <p:graphicEl>
                                              <a:dgm id="{A1533CF9-0EFB-3E45-BC70-C247200ECC19}"/>
                                            </p:graphicEl>
                                          </p:spTgt>
                                        </p:tgtEl>
                                        <p:attrNameLst>
                                          <p:attrName>ppt_w</p:attrName>
                                        </p:attrNameLst>
                                      </p:cBhvr>
                                      <p:tavLst>
                                        <p:tav tm="0">
                                          <p:val>
                                            <p:fltVal val="0"/>
                                          </p:val>
                                        </p:tav>
                                        <p:tav tm="100000">
                                          <p:val>
                                            <p:strVal val="#ppt_w"/>
                                          </p:val>
                                        </p:tav>
                                      </p:tavLst>
                                    </p:anim>
                                    <p:anim calcmode="lin" valueType="num">
                                      <p:cBhvr>
                                        <p:cTn id="26" dur="500" fill="hold"/>
                                        <p:tgtEl>
                                          <p:spTgt spid="8">
                                            <p:graphicEl>
                                              <a:dgm id="{A1533CF9-0EFB-3E45-BC70-C247200ECC19}"/>
                                            </p:graphic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8">
                                            <p:graphicEl>
                                              <a:dgm id="{2D9CDD61-FE8E-3747-A552-884978CA2BD0}"/>
                                            </p:graphicEl>
                                          </p:spTgt>
                                        </p:tgtEl>
                                        <p:attrNameLst>
                                          <p:attrName>style.visibility</p:attrName>
                                        </p:attrNameLst>
                                      </p:cBhvr>
                                      <p:to>
                                        <p:strVal val="visible"/>
                                      </p:to>
                                    </p:set>
                                    <p:anim calcmode="lin" valueType="num">
                                      <p:cBhvr>
                                        <p:cTn id="31" dur="500" fill="hold"/>
                                        <p:tgtEl>
                                          <p:spTgt spid="8">
                                            <p:graphicEl>
                                              <a:dgm id="{2D9CDD61-FE8E-3747-A552-884978CA2BD0}"/>
                                            </p:graphicEl>
                                          </p:spTgt>
                                        </p:tgtEl>
                                        <p:attrNameLst>
                                          <p:attrName>ppt_w</p:attrName>
                                        </p:attrNameLst>
                                      </p:cBhvr>
                                      <p:tavLst>
                                        <p:tav tm="0">
                                          <p:val>
                                            <p:fltVal val="0"/>
                                          </p:val>
                                        </p:tav>
                                        <p:tav tm="100000">
                                          <p:val>
                                            <p:strVal val="#ppt_w"/>
                                          </p:val>
                                        </p:tav>
                                      </p:tavLst>
                                    </p:anim>
                                    <p:anim calcmode="lin" valueType="num">
                                      <p:cBhvr>
                                        <p:cTn id="32" dur="500" fill="hold"/>
                                        <p:tgtEl>
                                          <p:spTgt spid="8">
                                            <p:graphicEl>
                                              <a:dgm id="{2D9CDD61-FE8E-3747-A552-884978CA2BD0}"/>
                                            </p:graphicEl>
                                          </p:spTgt>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8">
                                            <p:graphicEl>
                                              <a:dgm id="{9466D60A-A98D-B541-A786-23869F7B5F09}"/>
                                            </p:graphicEl>
                                          </p:spTgt>
                                        </p:tgtEl>
                                        <p:attrNameLst>
                                          <p:attrName>style.visibility</p:attrName>
                                        </p:attrNameLst>
                                      </p:cBhvr>
                                      <p:to>
                                        <p:strVal val="visible"/>
                                      </p:to>
                                    </p:set>
                                    <p:anim calcmode="lin" valueType="num">
                                      <p:cBhvr>
                                        <p:cTn id="35" dur="500" fill="hold"/>
                                        <p:tgtEl>
                                          <p:spTgt spid="8">
                                            <p:graphicEl>
                                              <a:dgm id="{9466D60A-A98D-B541-A786-23869F7B5F09}"/>
                                            </p:graphicEl>
                                          </p:spTgt>
                                        </p:tgtEl>
                                        <p:attrNameLst>
                                          <p:attrName>ppt_w</p:attrName>
                                        </p:attrNameLst>
                                      </p:cBhvr>
                                      <p:tavLst>
                                        <p:tav tm="0">
                                          <p:val>
                                            <p:fltVal val="0"/>
                                          </p:val>
                                        </p:tav>
                                        <p:tav tm="100000">
                                          <p:val>
                                            <p:strVal val="#ppt_w"/>
                                          </p:val>
                                        </p:tav>
                                      </p:tavLst>
                                    </p:anim>
                                    <p:anim calcmode="lin" valueType="num">
                                      <p:cBhvr>
                                        <p:cTn id="36" dur="500" fill="hold"/>
                                        <p:tgtEl>
                                          <p:spTgt spid="8">
                                            <p:graphicEl>
                                              <a:dgm id="{9466D60A-A98D-B541-A786-23869F7B5F09}"/>
                                            </p:graphicEl>
                                          </p:spTgt>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8">
                                            <p:graphicEl>
                                              <a:dgm id="{59E91523-55CF-DC4F-9109-C5F4205B1900}"/>
                                            </p:graphicEl>
                                          </p:spTgt>
                                        </p:tgtEl>
                                        <p:attrNameLst>
                                          <p:attrName>style.visibility</p:attrName>
                                        </p:attrNameLst>
                                      </p:cBhvr>
                                      <p:to>
                                        <p:strVal val="visible"/>
                                      </p:to>
                                    </p:set>
                                    <p:anim calcmode="lin" valueType="num">
                                      <p:cBhvr>
                                        <p:cTn id="41" dur="500" fill="hold"/>
                                        <p:tgtEl>
                                          <p:spTgt spid="8">
                                            <p:graphicEl>
                                              <a:dgm id="{59E91523-55CF-DC4F-9109-C5F4205B1900}"/>
                                            </p:graphicEl>
                                          </p:spTgt>
                                        </p:tgtEl>
                                        <p:attrNameLst>
                                          <p:attrName>ppt_w</p:attrName>
                                        </p:attrNameLst>
                                      </p:cBhvr>
                                      <p:tavLst>
                                        <p:tav tm="0">
                                          <p:val>
                                            <p:fltVal val="0"/>
                                          </p:val>
                                        </p:tav>
                                        <p:tav tm="100000">
                                          <p:val>
                                            <p:strVal val="#ppt_w"/>
                                          </p:val>
                                        </p:tav>
                                      </p:tavLst>
                                    </p:anim>
                                    <p:anim calcmode="lin" valueType="num">
                                      <p:cBhvr>
                                        <p:cTn id="42" dur="500" fill="hold"/>
                                        <p:tgtEl>
                                          <p:spTgt spid="8">
                                            <p:graphicEl>
                                              <a:dgm id="{59E91523-55CF-DC4F-9109-C5F4205B1900}"/>
                                            </p:graphicEl>
                                          </p:spTgt>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8">
                                            <p:graphicEl>
                                              <a:dgm id="{E91FA33E-6D97-D747-B207-A11E046C44B5}"/>
                                            </p:graphicEl>
                                          </p:spTgt>
                                        </p:tgtEl>
                                        <p:attrNameLst>
                                          <p:attrName>style.visibility</p:attrName>
                                        </p:attrNameLst>
                                      </p:cBhvr>
                                      <p:to>
                                        <p:strVal val="visible"/>
                                      </p:to>
                                    </p:set>
                                    <p:anim calcmode="lin" valueType="num">
                                      <p:cBhvr>
                                        <p:cTn id="45" dur="500" fill="hold"/>
                                        <p:tgtEl>
                                          <p:spTgt spid="8">
                                            <p:graphicEl>
                                              <a:dgm id="{E91FA33E-6D97-D747-B207-A11E046C44B5}"/>
                                            </p:graphicEl>
                                          </p:spTgt>
                                        </p:tgtEl>
                                        <p:attrNameLst>
                                          <p:attrName>ppt_w</p:attrName>
                                        </p:attrNameLst>
                                      </p:cBhvr>
                                      <p:tavLst>
                                        <p:tav tm="0">
                                          <p:val>
                                            <p:fltVal val="0"/>
                                          </p:val>
                                        </p:tav>
                                        <p:tav tm="100000">
                                          <p:val>
                                            <p:strVal val="#ppt_w"/>
                                          </p:val>
                                        </p:tav>
                                      </p:tavLst>
                                    </p:anim>
                                    <p:anim calcmode="lin" valueType="num">
                                      <p:cBhvr>
                                        <p:cTn id="46" dur="500" fill="hold"/>
                                        <p:tgtEl>
                                          <p:spTgt spid="8">
                                            <p:graphicEl>
                                              <a:dgm id="{E91FA33E-6D97-D747-B207-A11E046C44B5}"/>
                                            </p:graphicEl>
                                          </p:spTgt>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8">
                                            <p:graphicEl>
                                              <a:dgm id="{FF3267A9-495D-5A48-94D6-82C48A981096}"/>
                                            </p:graphicEl>
                                          </p:spTgt>
                                        </p:tgtEl>
                                        <p:attrNameLst>
                                          <p:attrName>style.visibility</p:attrName>
                                        </p:attrNameLst>
                                      </p:cBhvr>
                                      <p:to>
                                        <p:strVal val="visible"/>
                                      </p:to>
                                    </p:set>
                                    <p:anim calcmode="lin" valueType="num">
                                      <p:cBhvr>
                                        <p:cTn id="51" dur="500" fill="hold"/>
                                        <p:tgtEl>
                                          <p:spTgt spid="8">
                                            <p:graphicEl>
                                              <a:dgm id="{FF3267A9-495D-5A48-94D6-82C48A981096}"/>
                                            </p:graphicEl>
                                          </p:spTgt>
                                        </p:tgtEl>
                                        <p:attrNameLst>
                                          <p:attrName>ppt_w</p:attrName>
                                        </p:attrNameLst>
                                      </p:cBhvr>
                                      <p:tavLst>
                                        <p:tav tm="0">
                                          <p:val>
                                            <p:fltVal val="0"/>
                                          </p:val>
                                        </p:tav>
                                        <p:tav tm="100000">
                                          <p:val>
                                            <p:strVal val="#ppt_w"/>
                                          </p:val>
                                        </p:tav>
                                      </p:tavLst>
                                    </p:anim>
                                    <p:anim calcmode="lin" valueType="num">
                                      <p:cBhvr>
                                        <p:cTn id="52" dur="500" fill="hold"/>
                                        <p:tgtEl>
                                          <p:spTgt spid="8">
                                            <p:graphicEl>
                                              <a:dgm id="{FF3267A9-495D-5A48-94D6-82C48A981096}"/>
                                            </p:graphicEl>
                                          </p:spTgt>
                                        </p:tgtEl>
                                        <p:attrNameLst>
                                          <p:attrName>ppt_h</p:attrName>
                                        </p:attrNameLst>
                                      </p:cBhvr>
                                      <p:tavLst>
                                        <p:tav tm="0">
                                          <p:val>
                                            <p:fltVal val="0"/>
                                          </p:val>
                                        </p:tav>
                                        <p:tav tm="100000">
                                          <p:val>
                                            <p:strVal val="#ppt_h"/>
                                          </p:val>
                                        </p:tav>
                                      </p:tavLst>
                                    </p:anim>
                                  </p:childTnLst>
                                </p:cTn>
                              </p:par>
                              <p:par>
                                <p:cTn id="53" presetID="23" presetClass="entr" presetSubtype="16" fill="hold" grpId="0" nodeType="withEffect">
                                  <p:stCondLst>
                                    <p:cond delay="0"/>
                                  </p:stCondLst>
                                  <p:childTnLst>
                                    <p:set>
                                      <p:cBhvr>
                                        <p:cTn id="54" dur="1" fill="hold">
                                          <p:stCondLst>
                                            <p:cond delay="0"/>
                                          </p:stCondLst>
                                        </p:cTn>
                                        <p:tgtEl>
                                          <p:spTgt spid="8">
                                            <p:graphicEl>
                                              <a:dgm id="{CB1D1CEF-4C24-5D4F-9405-3CD8EF0CFB10}"/>
                                            </p:graphicEl>
                                          </p:spTgt>
                                        </p:tgtEl>
                                        <p:attrNameLst>
                                          <p:attrName>style.visibility</p:attrName>
                                        </p:attrNameLst>
                                      </p:cBhvr>
                                      <p:to>
                                        <p:strVal val="visible"/>
                                      </p:to>
                                    </p:set>
                                    <p:anim calcmode="lin" valueType="num">
                                      <p:cBhvr>
                                        <p:cTn id="55" dur="500" fill="hold"/>
                                        <p:tgtEl>
                                          <p:spTgt spid="8">
                                            <p:graphicEl>
                                              <a:dgm id="{CB1D1CEF-4C24-5D4F-9405-3CD8EF0CFB10}"/>
                                            </p:graphicEl>
                                          </p:spTgt>
                                        </p:tgtEl>
                                        <p:attrNameLst>
                                          <p:attrName>ppt_w</p:attrName>
                                        </p:attrNameLst>
                                      </p:cBhvr>
                                      <p:tavLst>
                                        <p:tav tm="0">
                                          <p:val>
                                            <p:fltVal val="0"/>
                                          </p:val>
                                        </p:tav>
                                        <p:tav tm="100000">
                                          <p:val>
                                            <p:strVal val="#ppt_w"/>
                                          </p:val>
                                        </p:tav>
                                      </p:tavLst>
                                    </p:anim>
                                    <p:anim calcmode="lin" valueType="num">
                                      <p:cBhvr>
                                        <p:cTn id="56" dur="500" fill="hold"/>
                                        <p:tgtEl>
                                          <p:spTgt spid="8">
                                            <p:graphicEl>
                                              <a:dgm id="{CB1D1CEF-4C24-5D4F-9405-3CD8EF0CFB10}"/>
                                            </p:graphicEl>
                                          </p:spTgt>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WHOS Plata System </a:t>
            </a:r>
            <a:r>
              <a:rPr lang="it-IT" dirty="0" err="1"/>
              <a:t>Overview</a:t>
            </a:r>
            <a:endParaRPr lang="it-IT" dirty="0"/>
          </a:p>
        </p:txBody>
      </p:sp>
      <p:pic>
        <p:nvPicPr>
          <p:cNvPr id="5" name="Picture 4" descr="http://clipartion.com/wp-content/uploads/2015/11/clipart-cloud.png"/>
          <p:cNvPicPr>
            <a:picLocks noChangeAspect="1" noChangeArrowheads="1"/>
          </p:cNvPicPr>
          <p:nvPr/>
        </p:nvPicPr>
        <p:blipFill>
          <a:blip r:embed="rId3" cstate="email">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758672" y="3134291"/>
            <a:ext cx="3240360" cy="1644483"/>
          </a:xfrm>
          <a:prstGeom prst="rect">
            <a:avLst/>
          </a:prstGeom>
          <a:noFill/>
          <a:extLst>
            <a:ext uri="{909E8E84-426E-40DD-AFC4-6F175D3DCCD1}">
              <a14:hiddenFill xmlns:a14="http://schemas.microsoft.com/office/drawing/2010/main">
                <a:solidFill>
                  <a:srgbClr val="FFFFFF"/>
                </a:solidFill>
              </a14:hiddenFill>
            </a:ext>
          </a:extLst>
        </p:spPr>
      </p:pic>
      <p:sp>
        <p:nvSpPr>
          <p:cNvPr id="6" name="Figura a mano libera 5"/>
          <p:cNvSpPr/>
          <p:nvPr/>
        </p:nvSpPr>
        <p:spPr>
          <a:xfrm rot="16608230" flipH="1" flipV="1">
            <a:off x="1665682" y="4844676"/>
            <a:ext cx="438696"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7" name="Picture 4" descr="http://clipartion.com/wp-content/uploads/2015/11/clipart-cloud.png"/>
          <p:cNvPicPr>
            <a:picLocks noChangeAspect="1" noChangeArrowheads="1"/>
          </p:cNvPicPr>
          <p:nvPr/>
        </p:nvPicPr>
        <p:blipFill>
          <a:blip r:embed="rId4" cstate="email">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93468" y="5127497"/>
            <a:ext cx="1042257" cy="528946"/>
          </a:xfrm>
          <a:prstGeom prst="rect">
            <a:avLst/>
          </a:prstGeom>
          <a:noFill/>
          <a:extLst>
            <a:ext uri="{909E8E84-426E-40DD-AFC4-6F175D3DCCD1}">
              <a14:hiddenFill xmlns:a14="http://schemas.microsoft.com/office/drawing/2010/main">
                <a:solidFill>
                  <a:srgbClr val="FFFFFF"/>
                </a:solidFill>
              </a14:hiddenFill>
            </a:ext>
          </a:extLst>
        </p:spPr>
      </p:pic>
      <p:sp>
        <p:nvSpPr>
          <p:cNvPr id="8" name="CasellaDiTesto 7"/>
          <p:cNvSpPr txBox="1"/>
          <p:nvPr/>
        </p:nvSpPr>
        <p:spPr>
          <a:xfrm>
            <a:off x="891849" y="5603932"/>
            <a:ext cx="872290" cy="276999"/>
          </a:xfrm>
          <a:prstGeom prst="rect">
            <a:avLst/>
          </a:prstGeom>
          <a:noFill/>
        </p:spPr>
        <p:txBody>
          <a:bodyPr wrap="none" rtlCol="0">
            <a:spAutoFit/>
          </a:bodyPr>
          <a:lstStyle/>
          <a:p>
            <a:pPr algn="ctr"/>
            <a:r>
              <a:rPr lang="it-IT" sz="1200" b="1" i="1" dirty="0">
                <a:solidFill>
                  <a:srgbClr val="CA7833"/>
                </a:solidFill>
              </a:rPr>
              <a:t>Data </a:t>
            </a:r>
            <a:r>
              <a:rPr lang="it-IT" sz="1200" b="1" i="1" dirty="0" err="1">
                <a:solidFill>
                  <a:srgbClr val="CA7833"/>
                </a:solidFill>
              </a:rPr>
              <a:t>Node</a:t>
            </a:r>
            <a:endParaRPr lang="it-IT" sz="1200" b="1" i="1" dirty="0">
              <a:solidFill>
                <a:srgbClr val="CA7833"/>
              </a:solidFill>
            </a:endParaRPr>
          </a:p>
        </p:txBody>
      </p:sp>
      <p:sp>
        <p:nvSpPr>
          <p:cNvPr id="10" name="Figura a mano libera 9"/>
          <p:cNvSpPr/>
          <p:nvPr/>
        </p:nvSpPr>
        <p:spPr>
          <a:xfrm rot="15332331" flipH="1" flipV="1">
            <a:off x="2539204" y="5032946"/>
            <a:ext cx="645972"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11" name="Picture 4" descr="http://clipartion.com/wp-content/uploads/2015/11/clipart-cloud.png"/>
          <p:cNvPicPr>
            <a:picLocks noChangeAspect="1" noChangeArrowheads="1"/>
          </p:cNvPicPr>
          <p:nvPr/>
        </p:nvPicPr>
        <p:blipFill>
          <a:blip r:embed="rId4" cstate="email">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934106" y="5469507"/>
            <a:ext cx="1042257" cy="528946"/>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p:cNvSpPr txBox="1"/>
          <p:nvPr/>
        </p:nvSpPr>
        <p:spPr>
          <a:xfrm>
            <a:off x="2032487" y="5945942"/>
            <a:ext cx="872290" cy="276999"/>
          </a:xfrm>
          <a:prstGeom prst="rect">
            <a:avLst/>
          </a:prstGeom>
          <a:noFill/>
        </p:spPr>
        <p:txBody>
          <a:bodyPr wrap="none" rtlCol="0">
            <a:spAutoFit/>
          </a:bodyPr>
          <a:lstStyle/>
          <a:p>
            <a:pPr algn="ctr"/>
            <a:r>
              <a:rPr lang="it-IT" sz="1200" b="1" i="1" dirty="0">
                <a:solidFill>
                  <a:srgbClr val="6B5488"/>
                </a:solidFill>
              </a:rPr>
              <a:t>Data </a:t>
            </a:r>
            <a:r>
              <a:rPr lang="it-IT" sz="1200" b="1" i="1" dirty="0" err="1">
                <a:solidFill>
                  <a:srgbClr val="6B5488"/>
                </a:solidFill>
              </a:rPr>
              <a:t>Node</a:t>
            </a:r>
            <a:endParaRPr lang="it-IT" sz="1200" b="1" i="1" dirty="0">
              <a:solidFill>
                <a:srgbClr val="6B5488"/>
              </a:solidFill>
            </a:endParaRPr>
          </a:p>
        </p:txBody>
      </p:sp>
      <p:sp>
        <p:nvSpPr>
          <p:cNvPr id="13" name="Figura a mano libera 12"/>
          <p:cNvSpPr/>
          <p:nvPr/>
        </p:nvSpPr>
        <p:spPr>
          <a:xfrm rot="2926912" flipH="1" flipV="1">
            <a:off x="3200633" y="5080552"/>
            <a:ext cx="747885"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non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14" name="Picture 4" descr="http://clipartion.com/wp-content/uploads/2015/11/clipart-cloud.png"/>
          <p:cNvPicPr>
            <a:picLocks noChangeAspect="1" noChangeArrowheads="1"/>
          </p:cNvPicPr>
          <p:nvPr/>
        </p:nvPicPr>
        <p:blipFill>
          <a:blip r:embed="rId4" cstate="email">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3448932" y="5616458"/>
            <a:ext cx="1042257" cy="528946"/>
          </a:xfrm>
          <a:prstGeom prst="rect">
            <a:avLst/>
          </a:prstGeom>
          <a:noFill/>
          <a:extLst>
            <a:ext uri="{909E8E84-426E-40DD-AFC4-6F175D3DCCD1}">
              <a14:hiddenFill xmlns:a14="http://schemas.microsoft.com/office/drawing/2010/main">
                <a:solidFill>
                  <a:srgbClr val="FFFFFF"/>
                </a:solidFill>
              </a14:hiddenFill>
            </a:ext>
          </a:extLst>
        </p:spPr>
      </p:pic>
      <p:sp>
        <p:nvSpPr>
          <p:cNvPr id="15" name="CasellaDiTesto 14"/>
          <p:cNvSpPr txBox="1"/>
          <p:nvPr/>
        </p:nvSpPr>
        <p:spPr>
          <a:xfrm>
            <a:off x="3547313" y="6092893"/>
            <a:ext cx="872290" cy="276999"/>
          </a:xfrm>
          <a:prstGeom prst="rect">
            <a:avLst/>
          </a:prstGeom>
          <a:noFill/>
        </p:spPr>
        <p:txBody>
          <a:bodyPr wrap="none" rtlCol="0">
            <a:spAutoFit/>
          </a:bodyPr>
          <a:lstStyle/>
          <a:p>
            <a:pPr algn="ctr"/>
            <a:r>
              <a:rPr lang="it-IT" sz="1200" b="1" i="1" dirty="0">
                <a:solidFill>
                  <a:srgbClr val="819C49"/>
                </a:solidFill>
              </a:rPr>
              <a:t>Data </a:t>
            </a:r>
            <a:r>
              <a:rPr lang="it-IT" sz="1200" b="1" i="1" dirty="0" err="1">
                <a:solidFill>
                  <a:srgbClr val="819C49"/>
                </a:solidFill>
              </a:rPr>
              <a:t>Node</a:t>
            </a:r>
            <a:endParaRPr lang="it-IT" sz="1200" b="1" i="1" dirty="0">
              <a:solidFill>
                <a:srgbClr val="819C49"/>
              </a:solidFill>
            </a:endParaRPr>
          </a:p>
        </p:txBody>
      </p:sp>
      <p:sp>
        <p:nvSpPr>
          <p:cNvPr id="16" name="Figura a mano libera 15"/>
          <p:cNvSpPr/>
          <p:nvPr/>
        </p:nvSpPr>
        <p:spPr>
          <a:xfrm rot="21391854" flipH="1" flipV="1">
            <a:off x="4953514" y="4582880"/>
            <a:ext cx="535427"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non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17" name="Picture 4" descr="http://clipartion.com/wp-content/uploads/2015/11/clipart-cloud.png"/>
          <p:cNvPicPr>
            <a:picLocks noChangeAspect="1" noChangeArrowheads="1"/>
          </p:cNvPicPr>
          <p:nvPr/>
        </p:nvPicPr>
        <p:blipFill>
          <a:blip r:embed="rId4" cstate="email">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531591" y="4678921"/>
            <a:ext cx="1042257" cy="528946"/>
          </a:xfrm>
          <a:prstGeom prst="rect">
            <a:avLst/>
          </a:prstGeom>
          <a:noFill/>
          <a:extLst>
            <a:ext uri="{909E8E84-426E-40DD-AFC4-6F175D3DCCD1}">
              <a14:hiddenFill xmlns:a14="http://schemas.microsoft.com/office/drawing/2010/main">
                <a:solidFill>
                  <a:srgbClr val="FFFFFF"/>
                </a:solidFill>
              </a14:hiddenFill>
            </a:ext>
          </a:extLst>
        </p:spPr>
      </p:pic>
      <p:sp>
        <p:nvSpPr>
          <p:cNvPr id="18" name="CasellaDiTesto 17"/>
          <p:cNvSpPr txBox="1"/>
          <p:nvPr/>
        </p:nvSpPr>
        <p:spPr>
          <a:xfrm>
            <a:off x="5629972" y="5155356"/>
            <a:ext cx="872290" cy="276999"/>
          </a:xfrm>
          <a:prstGeom prst="rect">
            <a:avLst/>
          </a:prstGeom>
          <a:noFill/>
        </p:spPr>
        <p:txBody>
          <a:bodyPr wrap="none" rtlCol="0">
            <a:spAutoFit/>
          </a:bodyPr>
          <a:lstStyle/>
          <a:p>
            <a:pPr algn="ctr"/>
            <a:r>
              <a:rPr lang="it-IT" sz="1200" b="1" i="1" dirty="0">
                <a:solidFill>
                  <a:srgbClr val="3D8FA5"/>
                </a:solidFill>
              </a:rPr>
              <a:t>Data </a:t>
            </a:r>
            <a:r>
              <a:rPr lang="it-IT" sz="1200" b="1" i="1" dirty="0" err="1">
                <a:solidFill>
                  <a:srgbClr val="3D8FA5"/>
                </a:solidFill>
              </a:rPr>
              <a:t>Node</a:t>
            </a:r>
            <a:endParaRPr lang="it-IT" sz="1200" b="1" i="1" dirty="0">
              <a:solidFill>
                <a:srgbClr val="3D8FA5"/>
              </a:solidFill>
            </a:endParaRPr>
          </a:p>
        </p:txBody>
      </p:sp>
      <p:sp>
        <p:nvSpPr>
          <p:cNvPr id="19" name="Figura a mano libera 18"/>
          <p:cNvSpPr/>
          <p:nvPr/>
        </p:nvSpPr>
        <p:spPr>
          <a:xfrm rot="17864032" flipH="1" flipV="1">
            <a:off x="4799018" y="5412770"/>
            <a:ext cx="535427"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19050" cap="flat" cmpd="sng" algn="ctr">
            <a:solidFill>
              <a:schemeClr val="bg1">
                <a:lumMod val="50000"/>
              </a:schemeClr>
            </a:solidFill>
            <a:prstDash val="dash"/>
            <a:headEnd type="non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21" name="Immagine 20"/>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02715" y="2594291"/>
            <a:ext cx="540000" cy="540000"/>
          </a:xfrm>
          <a:prstGeom prst="rect">
            <a:avLst/>
          </a:prstGeom>
        </p:spPr>
      </p:pic>
      <p:pic>
        <p:nvPicPr>
          <p:cNvPr id="23" name="Immagine 2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770312" y="2266139"/>
            <a:ext cx="540000" cy="540000"/>
          </a:xfrm>
          <a:prstGeom prst="rect">
            <a:avLst/>
          </a:prstGeom>
        </p:spPr>
      </p:pic>
      <p:pic>
        <p:nvPicPr>
          <p:cNvPr id="24" name="Immagine 23"/>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780575" y="1771519"/>
            <a:ext cx="540000" cy="540000"/>
          </a:xfrm>
          <a:prstGeom prst="rect">
            <a:avLst/>
          </a:prstGeom>
        </p:spPr>
      </p:pic>
      <p:sp>
        <p:nvSpPr>
          <p:cNvPr id="25" name="Figura a mano libera 24"/>
          <p:cNvSpPr/>
          <p:nvPr/>
        </p:nvSpPr>
        <p:spPr>
          <a:xfrm rot="1678115" flipH="1" flipV="1">
            <a:off x="1408026" y="3315829"/>
            <a:ext cx="737541"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26" name="Figura a mano libera 25"/>
          <p:cNvSpPr/>
          <p:nvPr/>
        </p:nvSpPr>
        <p:spPr>
          <a:xfrm rot="3235444" flipH="1" flipV="1">
            <a:off x="2664068" y="2593078"/>
            <a:ext cx="773014"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27" name="Figura a mano libera 26"/>
          <p:cNvSpPr/>
          <p:nvPr/>
        </p:nvSpPr>
        <p:spPr>
          <a:xfrm rot="5595231" flipH="1" flipV="1">
            <a:off x="3596951" y="2574884"/>
            <a:ext cx="773014"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28" name="Figura a mano libera 27"/>
          <p:cNvSpPr/>
          <p:nvPr/>
        </p:nvSpPr>
        <p:spPr>
          <a:xfrm rot="16867690" flipH="1" flipV="1">
            <a:off x="4234626" y="2986620"/>
            <a:ext cx="773014"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non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30" name="Figura a mano libera 29"/>
          <p:cNvSpPr/>
          <p:nvPr/>
        </p:nvSpPr>
        <p:spPr>
          <a:xfrm rot="6810276" flipH="1" flipV="1">
            <a:off x="1859286" y="2179220"/>
            <a:ext cx="535427"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19050" cap="flat" cmpd="sng" algn="ctr">
            <a:solidFill>
              <a:schemeClr val="bg1">
                <a:lumMod val="50000"/>
              </a:schemeClr>
            </a:solidFill>
            <a:prstDash val="dash"/>
            <a:headEnd type="non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31" name="CasellaDiTesto 30"/>
          <p:cNvSpPr txBox="1"/>
          <p:nvPr/>
        </p:nvSpPr>
        <p:spPr>
          <a:xfrm>
            <a:off x="869120" y="2302935"/>
            <a:ext cx="917752" cy="276999"/>
          </a:xfrm>
          <a:prstGeom prst="rect">
            <a:avLst/>
          </a:prstGeom>
          <a:noFill/>
        </p:spPr>
        <p:txBody>
          <a:bodyPr wrap="none" rtlCol="0">
            <a:spAutoFit/>
          </a:bodyPr>
          <a:lstStyle/>
          <a:p>
            <a:pPr algn="ctr"/>
            <a:r>
              <a:rPr lang="it-IT" sz="1200" b="1" i="1" dirty="0">
                <a:solidFill>
                  <a:srgbClr val="20D8DE"/>
                </a:solidFill>
              </a:rPr>
              <a:t>Application</a:t>
            </a:r>
          </a:p>
        </p:txBody>
      </p:sp>
      <p:sp>
        <p:nvSpPr>
          <p:cNvPr id="32" name="CasellaDiTesto 31"/>
          <p:cNvSpPr txBox="1"/>
          <p:nvPr/>
        </p:nvSpPr>
        <p:spPr>
          <a:xfrm>
            <a:off x="2629561" y="1595459"/>
            <a:ext cx="917752" cy="276999"/>
          </a:xfrm>
          <a:prstGeom prst="rect">
            <a:avLst/>
          </a:prstGeom>
          <a:noFill/>
        </p:spPr>
        <p:txBody>
          <a:bodyPr wrap="none" rtlCol="0">
            <a:spAutoFit/>
          </a:bodyPr>
          <a:lstStyle/>
          <a:p>
            <a:pPr algn="ctr"/>
            <a:r>
              <a:rPr lang="it-IT" sz="1200" b="1" i="1" dirty="0">
                <a:solidFill>
                  <a:srgbClr val="DAD8D7"/>
                </a:solidFill>
              </a:rPr>
              <a:t>Application</a:t>
            </a:r>
          </a:p>
        </p:txBody>
      </p:sp>
      <p:sp>
        <p:nvSpPr>
          <p:cNvPr id="33" name="CasellaDiTesto 32"/>
          <p:cNvSpPr txBox="1"/>
          <p:nvPr/>
        </p:nvSpPr>
        <p:spPr>
          <a:xfrm>
            <a:off x="4484701" y="1682641"/>
            <a:ext cx="917752" cy="276999"/>
          </a:xfrm>
          <a:prstGeom prst="rect">
            <a:avLst/>
          </a:prstGeom>
          <a:noFill/>
        </p:spPr>
        <p:txBody>
          <a:bodyPr wrap="none" rtlCol="0">
            <a:spAutoFit/>
          </a:bodyPr>
          <a:lstStyle/>
          <a:p>
            <a:pPr algn="ctr"/>
            <a:r>
              <a:rPr lang="it-IT" sz="1200" b="1" i="1" dirty="0">
                <a:solidFill>
                  <a:srgbClr val="0475A5"/>
                </a:solidFill>
              </a:rPr>
              <a:t>Application</a:t>
            </a:r>
          </a:p>
        </p:txBody>
      </p:sp>
      <p:sp>
        <p:nvSpPr>
          <p:cNvPr id="34" name="CasellaDiTesto 33"/>
          <p:cNvSpPr txBox="1"/>
          <p:nvPr/>
        </p:nvSpPr>
        <p:spPr>
          <a:xfrm>
            <a:off x="5025470" y="2778565"/>
            <a:ext cx="917752" cy="276999"/>
          </a:xfrm>
          <a:prstGeom prst="rect">
            <a:avLst/>
          </a:prstGeom>
          <a:noFill/>
        </p:spPr>
        <p:txBody>
          <a:bodyPr wrap="none" rtlCol="0">
            <a:spAutoFit/>
          </a:bodyPr>
          <a:lstStyle/>
          <a:p>
            <a:pPr algn="ctr"/>
            <a:r>
              <a:rPr lang="it-IT" sz="1200" b="1" i="1" dirty="0">
                <a:solidFill>
                  <a:srgbClr val="FFB733"/>
                </a:solidFill>
              </a:rPr>
              <a:t>Application</a:t>
            </a:r>
          </a:p>
        </p:txBody>
      </p:sp>
      <p:sp>
        <p:nvSpPr>
          <p:cNvPr id="35" name="CasellaDiTesto 34"/>
          <p:cNvSpPr txBox="1"/>
          <p:nvPr/>
        </p:nvSpPr>
        <p:spPr>
          <a:xfrm rot="16200000">
            <a:off x="6773470" y="3721522"/>
            <a:ext cx="4498347" cy="246221"/>
          </a:xfrm>
          <a:prstGeom prst="rect">
            <a:avLst/>
          </a:prstGeom>
          <a:noFill/>
        </p:spPr>
        <p:txBody>
          <a:bodyPr wrap="none" rtlCol="0">
            <a:spAutoFit/>
          </a:bodyPr>
          <a:lstStyle/>
          <a:p>
            <a:r>
              <a:rPr lang="it-IT" sz="1000" dirty="0" err="1">
                <a:solidFill>
                  <a:schemeClr val="bg1">
                    <a:lumMod val="65000"/>
                  </a:schemeClr>
                </a:solidFill>
              </a:rPr>
              <a:t>App</a:t>
            </a:r>
            <a:r>
              <a:rPr lang="it-IT" sz="1000" dirty="0">
                <a:solidFill>
                  <a:schemeClr val="bg1">
                    <a:lumMod val="65000"/>
                  </a:schemeClr>
                </a:solidFill>
              </a:rPr>
              <a:t> </a:t>
            </a:r>
            <a:r>
              <a:rPr lang="it-IT" sz="1000" dirty="0" err="1">
                <a:solidFill>
                  <a:schemeClr val="bg1">
                    <a:lumMod val="65000"/>
                  </a:schemeClr>
                </a:solidFill>
              </a:rPr>
              <a:t>Icons</a:t>
            </a:r>
            <a:r>
              <a:rPr lang="it-IT" sz="1000" dirty="0">
                <a:solidFill>
                  <a:schemeClr val="bg1">
                    <a:lumMod val="65000"/>
                  </a:schemeClr>
                </a:solidFill>
              </a:rPr>
              <a:t> made by </a:t>
            </a:r>
            <a:r>
              <a:rPr lang="it-IT" sz="1000" dirty="0" err="1">
                <a:solidFill>
                  <a:schemeClr val="bg1">
                    <a:lumMod val="65000"/>
                  </a:schemeClr>
                </a:solidFill>
              </a:rPr>
              <a:t>Maxim</a:t>
            </a:r>
            <a:r>
              <a:rPr lang="it-IT" sz="1000" dirty="0">
                <a:solidFill>
                  <a:schemeClr val="bg1">
                    <a:lumMod val="65000"/>
                  </a:schemeClr>
                </a:solidFill>
              </a:rPr>
              <a:t> </a:t>
            </a:r>
            <a:r>
              <a:rPr lang="it-IT" sz="1000" dirty="0" err="1">
                <a:solidFill>
                  <a:schemeClr val="bg1">
                    <a:lumMod val="65000"/>
                  </a:schemeClr>
                </a:solidFill>
              </a:rPr>
              <a:t>Basinski</a:t>
            </a:r>
            <a:r>
              <a:rPr lang="it-IT" sz="1000" dirty="0">
                <a:solidFill>
                  <a:schemeClr val="bg1">
                    <a:lumMod val="65000"/>
                  </a:schemeClr>
                </a:solidFill>
              </a:rPr>
              <a:t> from www.flaticon.com </a:t>
            </a:r>
            <a:r>
              <a:rPr lang="it-IT" sz="1000" dirty="0" err="1">
                <a:solidFill>
                  <a:schemeClr val="bg1">
                    <a:lumMod val="65000"/>
                  </a:schemeClr>
                </a:solidFill>
              </a:rPr>
              <a:t>is</a:t>
            </a:r>
            <a:r>
              <a:rPr lang="it-IT" sz="1000" dirty="0">
                <a:solidFill>
                  <a:schemeClr val="bg1">
                    <a:lumMod val="65000"/>
                  </a:schemeClr>
                </a:solidFill>
              </a:rPr>
              <a:t> </a:t>
            </a:r>
            <a:r>
              <a:rPr lang="it-IT" sz="1000" dirty="0" err="1">
                <a:solidFill>
                  <a:schemeClr val="bg1">
                    <a:lumMod val="65000"/>
                  </a:schemeClr>
                </a:solidFill>
              </a:rPr>
              <a:t>licensed</a:t>
            </a:r>
            <a:r>
              <a:rPr lang="it-IT" sz="1000" dirty="0">
                <a:solidFill>
                  <a:schemeClr val="bg1">
                    <a:lumMod val="65000"/>
                  </a:schemeClr>
                </a:solidFill>
              </a:rPr>
              <a:t> by CC 3.0 BY</a:t>
            </a:r>
          </a:p>
        </p:txBody>
      </p:sp>
      <p:sp>
        <p:nvSpPr>
          <p:cNvPr id="36" name="CasellaDiTesto 35"/>
          <p:cNvSpPr txBox="1"/>
          <p:nvPr/>
        </p:nvSpPr>
        <p:spPr>
          <a:xfrm>
            <a:off x="2667996" y="3997052"/>
            <a:ext cx="2263761" cy="584775"/>
          </a:xfrm>
          <a:prstGeom prst="rect">
            <a:avLst/>
          </a:prstGeom>
          <a:noFill/>
        </p:spPr>
        <p:txBody>
          <a:bodyPr wrap="none" rtlCol="0">
            <a:spAutoFit/>
          </a:bodyPr>
          <a:lstStyle/>
          <a:p>
            <a:pPr algn="ctr"/>
            <a:r>
              <a:rPr lang="it-IT" sz="3200" b="1" i="1" dirty="0">
                <a:solidFill>
                  <a:srgbClr val="406B9E"/>
                </a:solidFill>
              </a:rPr>
              <a:t>WHOS Plata</a:t>
            </a:r>
          </a:p>
        </p:txBody>
      </p:sp>
      <p:pic>
        <p:nvPicPr>
          <p:cNvPr id="37" name="Picture 6" descr="wmo2016_powerpoint_standard_v2-2.jpg"/>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1947171" y="4096851"/>
            <a:ext cx="359655" cy="377251"/>
          </a:xfrm>
          <a:prstGeom prst="rect">
            <a:avLst/>
          </a:prstGeom>
        </p:spPr>
      </p:pic>
      <p:pic>
        <p:nvPicPr>
          <p:cNvPr id="38" name="Immagine 3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080571" y="1843317"/>
            <a:ext cx="540000" cy="540000"/>
          </a:xfrm>
          <a:prstGeom prst="rect">
            <a:avLst/>
          </a:prstGeom>
        </p:spPr>
      </p:pic>
      <p:pic>
        <p:nvPicPr>
          <p:cNvPr id="40" name="Picture 4" descr="http://clipartion.com/wp-content/uploads/2015/11/clipart-cloud.png"/>
          <p:cNvPicPr>
            <a:picLocks noChangeAspect="1" noChangeArrowheads="1"/>
          </p:cNvPicPr>
          <p:nvPr/>
        </p:nvPicPr>
        <p:blipFill>
          <a:blip r:embed="rId10" cstate="email">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6406324" y="2300028"/>
            <a:ext cx="2341115" cy="1188116"/>
          </a:xfrm>
          <a:prstGeom prst="rect">
            <a:avLst/>
          </a:prstGeom>
          <a:noFill/>
          <a:extLst>
            <a:ext uri="{909E8E84-426E-40DD-AFC4-6F175D3DCCD1}">
              <a14:hiddenFill xmlns:a14="http://schemas.microsoft.com/office/drawing/2010/main">
                <a:solidFill>
                  <a:srgbClr val="FFFFFF"/>
                </a:solidFill>
              </a14:hiddenFill>
            </a:ext>
          </a:extLst>
        </p:spPr>
      </p:pic>
      <p:pic>
        <p:nvPicPr>
          <p:cNvPr id="3" name="Immagine 2"/>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7190491" y="3055125"/>
            <a:ext cx="1303849" cy="313584"/>
          </a:xfrm>
          <a:prstGeom prst="rect">
            <a:avLst/>
          </a:prstGeom>
        </p:spPr>
      </p:pic>
      <p:sp>
        <p:nvSpPr>
          <p:cNvPr id="41" name="Figura a mano libera 40"/>
          <p:cNvSpPr/>
          <p:nvPr/>
        </p:nvSpPr>
        <p:spPr>
          <a:xfrm rot="19286214" flipH="1" flipV="1">
            <a:off x="5004241" y="3583003"/>
            <a:ext cx="1429420" cy="34463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42" name="Picture 6" descr="wmo2016_powerpoint_standard_v2-2.jpg"/>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6616844" y="3023291"/>
            <a:ext cx="359655" cy="377251"/>
          </a:xfrm>
          <a:prstGeom prst="rect">
            <a:avLst/>
          </a:prstGeom>
        </p:spPr>
      </p:pic>
    </p:spTree>
    <p:extLst>
      <p:ext uri="{BB962C8B-B14F-4D97-AF65-F5344CB8AC3E}">
        <p14:creationId xmlns:p14="http://schemas.microsoft.com/office/powerpoint/2010/main" val="10526515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Brokering</a:t>
            </a:r>
            <a:r>
              <a:rPr lang="it-IT" dirty="0"/>
              <a:t> a Data </a:t>
            </a:r>
            <a:r>
              <a:rPr lang="it-IT" dirty="0" err="1"/>
              <a:t>Node</a:t>
            </a:r>
            <a:endParaRPr lang="it-IT" dirty="0"/>
          </a:p>
        </p:txBody>
      </p:sp>
      <p:graphicFrame>
        <p:nvGraphicFramePr>
          <p:cNvPr id="4" name="Segnaposto contenuto 3"/>
          <p:cNvGraphicFramePr>
            <a:graphicFrameLocks noGrp="1"/>
          </p:cNvGraphicFramePr>
          <p:nvPr>
            <p:ph idx="1"/>
            <p:extLst>
              <p:ext uri="{D42A27DB-BD31-4B8C-83A1-F6EECF244321}">
                <p14:modId xmlns:p14="http://schemas.microsoft.com/office/powerpoint/2010/main" val="1016412575"/>
              </p:ext>
            </p:extLst>
          </p:nvPr>
        </p:nvGraphicFramePr>
        <p:xfrm>
          <a:off x="512619" y="5763491"/>
          <a:ext cx="8229600" cy="8198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magine 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560608" y="3295257"/>
            <a:ext cx="660400" cy="660400"/>
          </a:xfrm>
          <a:prstGeom prst="rect">
            <a:avLst/>
          </a:prstGeom>
        </p:spPr>
      </p:pic>
      <p:pic>
        <p:nvPicPr>
          <p:cNvPr id="6" name="Picture 4" descr="http://clipartion.com/wp-content/uploads/2015/11/clipart-cloud.png"/>
          <p:cNvPicPr>
            <a:picLocks noChangeAspect="1" noChangeArrowheads="1"/>
          </p:cNvPicPr>
          <p:nvPr/>
        </p:nvPicPr>
        <p:blipFill>
          <a:blip r:embed="rId8" cstate="email">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457200" y="2695071"/>
            <a:ext cx="2073091" cy="1052095"/>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p:cNvSpPr txBox="1"/>
          <p:nvPr/>
        </p:nvSpPr>
        <p:spPr>
          <a:xfrm>
            <a:off x="568917" y="3203124"/>
            <a:ext cx="1323184" cy="400110"/>
          </a:xfrm>
          <a:prstGeom prst="rect">
            <a:avLst/>
          </a:prstGeom>
          <a:noFill/>
        </p:spPr>
        <p:txBody>
          <a:bodyPr wrap="none" rtlCol="0">
            <a:spAutoFit/>
          </a:bodyPr>
          <a:lstStyle/>
          <a:p>
            <a:pPr algn="ctr"/>
            <a:r>
              <a:rPr lang="it-IT" sz="2000" b="1" i="1" dirty="0">
                <a:solidFill>
                  <a:srgbClr val="CA7833"/>
                </a:solidFill>
              </a:rPr>
              <a:t>Data </a:t>
            </a:r>
            <a:r>
              <a:rPr lang="it-IT" sz="2000" b="1" i="1" dirty="0" err="1">
                <a:solidFill>
                  <a:srgbClr val="CA7833"/>
                </a:solidFill>
              </a:rPr>
              <a:t>Node</a:t>
            </a:r>
            <a:endParaRPr lang="it-IT" sz="2000" b="1" i="1" dirty="0">
              <a:solidFill>
                <a:srgbClr val="CA7833"/>
              </a:solidFill>
            </a:endParaRPr>
          </a:p>
        </p:txBody>
      </p:sp>
      <p:pic>
        <p:nvPicPr>
          <p:cNvPr id="8" name="Immagine 7"/>
          <p:cNvPicPr>
            <a:picLocks noChangeAspect="1"/>
          </p:cNvPicPr>
          <p:nvPr/>
        </p:nvPicPr>
        <p:blipFill>
          <a:blip r:embed="rId9" cstate="email">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2265496" y="3095181"/>
            <a:ext cx="714121" cy="505995"/>
          </a:xfrm>
          <a:prstGeom prst="rect">
            <a:avLst/>
          </a:prstGeom>
        </p:spPr>
      </p:pic>
      <p:pic>
        <p:nvPicPr>
          <p:cNvPr id="9" name="Picture 4" descr="http://clipartion.com/wp-content/uploads/2015/11/clipart-cloud.png"/>
          <p:cNvPicPr>
            <a:picLocks noChangeAspect="1" noChangeArrowheads="1"/>
          </p:cNvPicPr>
          <p:nvPr/>
        </p:nvPicPr>
        <p:blipFill>
          <a:blip r:embed="rId10" cstate="email">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831909" y="1417638"/>
            <a:ext cx="3240360" cy="1644483"/>
          </a:xfrm>
          <a:prstGeom prst="rect">
            <a:avLst/>
          </a:prstGeom>
          <a:noFill/>
          <a:extLst>
            <a:ext uri="{909E8E84-426E-40DD-AFC4-6F175D3DCCD1}">
              <a14:hiddenFill xmlns:a14="http://schemas.microsoft.com/office/drawing/2010/main">
                <a:solidFill>
                  <a:srgbClr val="FFFFFF"/>
                </a:solidFill>
              </a14:hiddenFill>
            </a:ext>
          </a:extLst>
        </p:spPr>
      </p:pic>
      <p:sp>
        <p:nvSpPr>
          <p:cNvPr id="10" name="CasellaDiTesto 9"/>
          <p:cNvSpPr txBox="1"/>
          <p:nvPr/>
        </p:nvSpPr>
        <p:spPr>
          <a:xfrm>
            <a:off x="6741233" y="2280399"/>
            <a:ext cx="2263761" cy="584775"/>
          </a:xfrm>
          <a:prstGeom prst="rect">
            <a:avLst/>
          </a:prstGeom>
          <a:noFill/>
        </p:spPr>
        <p:txBody>
          <a:bodyPr wrap="none" rtlCol="0">
            <a:spAutoFit/>
          </a:bodyPr>
          <a:lstStyle/>
          <a:p>
            <a:pPr algn="ctr"/>
            <a:r>
              <a:rPr lang="it-IT" sz="3200" b="1" i="1" dirty="0">
                <a:solidFill>
                  <a:srgbClr val="406B9E"/>
                </a:solidFill>
              </a:rPr>
              <a:t>WHOS Plata</a:t>
            </a:r>
          </a:p>
        </p:txBody>
      </p:sp>
      <p:pic>
        <p:nvPicPr>
          <p:cNvPr id="11" name="Picture 6" descr="wmo2016_powerpoint_standard_v2-2.jpg"/>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6020408" y="2380198"/>
            <a:ext cx="359655" cy="377251"/>
          </a:xfrm>
          <a:prstGeom prst="rect">
            <a:avLst/>
          </a:prstGeom>
        </p:spPr>
      </p:pic>
      <p:sp>
        <p:nvSpPr>
          <p:cNvPr id="12" name="Figura a mano libera 11"/>
          <p:cNvSpPr/>
          <p:nvPr/>
        </p:nvSpPr>
        <p:spPr>
          <a:xfrm rot="19871605" flipH="1" flipV="1">
            <a:off x="3021391" y="2750985"/>
            <a:ext cx="2440229" cy="965232"/>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rgbClr val="C00000"/>
            </a:solidFill>
            <a:prstDash val="sysDot"/>
            <a:headEnd type="triangl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13" name="Immagine 12"/>
          <p:cNvPicPr>
            <a:picLocks noChangeAspect="1"/>
          </p:cNvPicPr>
          <p:nvPr/>
        </p:nvPicPr>
        <p:blipFill>
          <a:blip r:embed="rId9" cstate="email">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5514193" y="2695071"/>
            <a:ext cx="714121" cy="505995"/>
          </a:xfrm>
          <a:prstGeom prst="rect">
            <a:avLst/>
          </a:prstGeom>
        </p:spPr>
      </p:pic>
      <p:sp>
        <p:nvSpPr>
          <p:cNvPr id="14" name="CasellaDiTesto 13"/>
          <p:cNvSpPr txBox="1"/>
          <p:nvPr/>
        </p:nvSpPr>
        <p:spPr>
          <a:xfrm>
            <a:off x="1755424" y="1825578"/>
            <a:ext cx="2180308" cy="738664"/>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it-IT" sz="1400" dirty="0"/>
              <a:t>The </a:t>
            </a:r>
            <a:r>
              <a:rPr lang="it-IT" sz="1400" dirty="0" err="1"/>
              <a:t>choice</a:t>
            </a:r>
            <a:r>
              <a:rPr lang="it-IT" sz="1400" dirty="0"/>
              <a:t> of </a:t>
            </a:r>
            <a:r>
              <a:rPr lang="it-IT" sz="1400" dirty="0" err="1"/>
              <a:t>which</a:t>
            </a:r>
            <a:r>
              <a:rPr lang="it-IT" sz="1400" dirty="0"/>
              <a:t> service</a:t>
            </a:r>
          </a:p>
          <a:p>
            <a:r>
              <a:rPr lang="it-IT" sz="1400" dirty="0"/>
              <a:t>or API to use </a:t>
            </a:r>
            <a:r>
              <a:rPr lang="it-IT" sz="1400" dirty="0" err="1"/>
              <a:t>is</a:t>
            </a:r>
            <a:r>
              <a:rPr lang="it-IT" sz="1400" dirty="0"/>
              <a:t> up to the Data </a:t>
            </a:r>
            <a:r>
              <a:rPr lang="it-IT" sz="1400" dirty="0" err="1"/>
              <a:t>Node</a:t>
            </a:r>
            <a:endParaRPr lang="it-IT" sz="1400" dirty="0"/>
          </a:p>
        </p:txBody>
      </p:sp>
      <p:grpSp>
        <p:nvGrpSpPr>
          <p:cNvPr id="3" name="Gruppo 14"/>
          <p:cNvGrpSpPr/>
          <p:nvPr/>
        </p:nvGrpSpPr>
        <p:grpSpPr>
          <a:xfrm>
            <a:off x="4958132" y="3955657"/>
            <a:ext cx="1855235" cy="1805569"/>
            <a:chOff x="6123708" y="3380155"/>
            <a:chExt cx="2177411" cy="2177411"/>
          </a:xfrm>
        </p:grpSpPr>
        <p:sp>
          <p:nvSpPr>
            <p:cNvPr id="16" name="Freccia ad arco 15"/>
            <p:cNvSpPr>
              <a:spLocks noChangeAspect="1"/>
            </p:cNvSpPr>
            <p:nvPr/>
          </p:nvSpPr>
          <p:spPr>
            <a:xfrm>
              <a:off x="6123708" y="3380155"/>
              <a:ext cx="2177411" cy="2177411"/>
            </a:xfrm>
            <a:prstGeom prst="circularArrow">
              <a:avLst>
                <a:gd name="adj1" fmla="val 8422"/>
                <a:gd name="adj2" fmla="val 1142319"/>
                <a:gd name="adj3" fmla="val 20430222"/>
                <a:gd name="adj4" fmla="val 2122040"/>
                <a:gd name="adj5" fmla="val 10383"/>
              </a:avLst>
            </a:prstGeom>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solidFill>
                  <a:schemeClr val="tx1"/>
                </a:solidFill>
              </a:endParaRPr>
            </a:p>
          </p:txBody>
        </p:sp>
        <p:sp>
          <p:nvSpPr>
            <p:cNvPr id="17" name="CasellaDiTesto 16"/>
            <p:cNvSpPr txBox="1"/>
            <p:nvPr/>
          </p:nvSpPr>
          <p:spPr>
            <a:xfrm>
              <a:off x="6584067" y="3844514"/>
              <a:ext cx="1256691" cy="830998"/>
            </a:xfrm>
            <a:prstGeom prst="rect">
              <a:avLst/>
            </a:prstGeom>
            <a:noFill/>
          </p:spPr>
          <p:txBody>
            <a:bodyPr wrap="square" rtlCol="0">
              <a:spAutoFit/>
            </a:bodyPr>
            <a:lstStyle/>
            <a:p>
              <a:pPr algn="ctr"/>
              <a:r>
                <a:rPr lang="it-IT" sz="1200" dirty="0" err="1"/>
                <a:t>If</a:t>
              </a:r>
              <a:r>
                <a:rPr lang="it-IT" sz="1200" dirty="0"/>
                <a:t> </a:t>
              </a:r>
              <a:r>
                <a:rPr lang="it-IT" sz="1200" dirty="0" err="1"/>
                <a:t>needed</a:t>
              </a:r>
              <a:r>
                <a:rPr lang="it-IT" sz="1200" dirty="0"/>
                <a:t>, </a:t>
              </a:r>
              <a:r>
                <a:rPr lang="it-IT" sz="1200" dirty="0" err="1"/>
                <a:t>one</a:t>
              </a:r>
              <a:r>
                <a:rPr lang="it-IT" sz="1200" dirty="0"/>
                <a:t> or more </a:t>
              </a:r>
              <a:r>
                <a:rPr lang="it-IT" sz="1200" dirty="0" err="1"/>
                <a:t>cycles</a:t>
              </a:r>
              <a:r>
                <a:rPr lang="it-IT" sz="1200" dirty="0"/>
                <a:t> of </a:t>
              </a:r>
              <a:r>
                <a:rPr lang="it-IT" sz="1200" dirty="0" err="1"/>
                <a:t>tuning</a:t>
              </a:r>
              <a:r>
                <a:rPr lang="it-IT" sz="1200" dirty="0"/>
                <a:t>/</a:t>
              </a:r>
              <a:r>
                <a:rPr lang="it-IT" sz="1200" dirty="0" err="1"/>
                <a:t>tests</a:t>
              </a:r>
              <a:r>
                <a:rPr lang="it-IT" sz="1200" dirty="0"/>
                <a:t> can take </a:t>
              </a:r>
              <a:r>
                <a:rPr lang="it-IT" sz="1200" dirty="0" err="1"/>
                <a:t>place</a:t>
              </a:r>
              <a:endParaRPr lang="it-IT" sz="1200" dirty="0"/>
            </a:p>
          </p:txBody>
        </p:sp>
      </p:grpSp>
      <p:graphicFrame>
        <p:nvGraphicFramePr>
          <p:cNvPr id="18" name="Diagramma 17"/>
          <p:cNvGraphicFramePr/>
          <p:nvPr>
            <p:extLst>
              <p:ext uri="{D42A27DB-BD31-4B8C-83A1-F6EECF244321}">
                <p14:modId xmlns:p14="http://schemas.microsoft.com/office/powerpoint/2010/main" val="241577889"/>
              </p:ext>
            </p:extLst>
          </p:nvPr>
        </p:nvGraphicFramePr>
        <p:xfrm>
          <a:off x="1814946" y="4091340"/>
          <a:ext cx="3049031" cy="152815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87441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4">
                                            <p:graphicEl>
                                              <a:dgm id="{A17CA81A-9E81-4549-919E-ED1C8B495F1F}"/>
                                            </p:graphicEl>
                                          </p:spTgt>
                                        </p:tgtEl>
                                        <p:attrNameLst>
                                          <p:attrName>style.visibility</p:attrName>
                                        </p:attrNameLst>
                                      </p:cBhvr>
                                      <p:to>
                                        <p:strVal val="visible"/>
                                      </p:to>
                                    </p:set>
                                    <p:anim calcmode="lin" valueType="num">
                                      <p:cBhvr>
                                        <p:cTn id="11" dur="500" fill="hold"/>
                                        <p:tgtEl>
                                          <p:spTgt spid="4">
                                            <p:graphicEl>
                                              <a:dgm id="{A17CA81A-9E81-4549-919E-ED1C8B495F1F}"/>
                                            </p:graphicEl>
                                          </p:spTgt>
                                        </p:tgtEl>
                                        <p:attrNameLst>
                                          <p:attrName>ppt_w</p:attrName>
                                        </p:attrNameLst>
                                      </p:cBhvr>
                                      <p:tavLst>
                                        <p:tav tm="0">
                                          <p:val>
                                            <p:fltVal val="0"/>
                                          </p:val>
                                        </p:tav>
                                        <p:tav tm="100000">
                                          <p:val>
                                            <p:strVal val="#ppt_w"/>
                                          </p:val>
                                        </p:tav>
                                      </p:tavLst>
                                    </p:anim>
                                    <p:anim calcmode="lin" valueType="num">
                                      <p:cBhvr>
                                        <p:cTn id="12" dur="500" fill="hold"/>
                                        <p:tgtEl>
                                          <p:spTgt spid="4">
                                            <p:graphicEl>
                                              <a:dgm id="{A17CA81A-9E81-4549-919E-ED1C8B495F1F}"/>
                                            </p:graphicEl>
                                          </p:spTgt>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4">
                                            <p:graphicEl>
                                              <a:dgm id="{022BB29E-C0BD-5B4E-BD2F-346EAC9A1FBB}"/>
                                            </p:graphicEl>
                                          </p:spTgt>
                                        </p:tgtEl>
                                        <p:attrNameLst>
                                          <p:attrName>style.visibility</p:attrName>
                                        </p:attrNameLst>
                                      </p:cBhvr>
                                      <p:to>
                                        <p:strVal val="visible"/>
                                      </p:to>
                                    </p:set>
                                    <p:anim calcmode="lin" valueType="num">
                                      <p:cBhvr>
                                        <p:cTn id="23" dur="500" fill="hold"/>
                                        <p:tgtEl>
                                          <p:spTgt spid="4">
                                            <p:graphicEl>
                                              <a:dgm id="{022BB29E-C0BD-5B4E-BD2F-346EAC9A1FBB}"/>
                                            </p:graphicEl>
                                          </p:spTgt>
                                        </p:tgtEl>
                                        <p:attrNameLst>
                                          <p:attrName>ppt_w</p:attrName>
                                        </p:attrNameLst>
                                      </p:cBhvr>
                                      <p:tavLst>
                                        <p:tav tm="0">
                                          <p:val>
                                            <p:fltVal val="0"/>
                                          </p:val>
                                        </p:tav>
                                        <p:tav tm="100000">
                                          <p:val>
                                            <p:strVal val="#ppt_w"/>
                                          </p:val>
                                        </p:tav>
                                      </p:tavLst>
                                    </p:anim>
                                    <p:anim calcmode="lin" valueType="num">
                                      <p:cBhvr>
                                        <p:cTn id="24" dur="500" fill="hold"/>
                                        <p:tgtEl>
                                          <p:spTgt spid="4">
                                            <p:graphicEl>
                                              <a:dgm id="{022BB29E-C0BD-5B4E-BD2F-346EAC9A1FBB}"/>
                                            </p:graphicEl>
                                          </p:spTgt>
                                        </p:tgtEl>
                                        <p:attrNameLst>
                                          <p:attrName>ppt_h</p:attrName>
                                        </p:attrNameLst>
                                      </p:cBhvr>
                                      <p:tavLst>
                                        <p:tav tm="0">
                                          <p:val>
                                            <p:fltVal val="0"/>
                                          </p:val>
                                        </p:tav>
                                        <p:tav tm="100000">
                                          <p:val>
                                            <p:strVal val="#ppt_h"/>
                                          </p:val>
                                        </p:tav>
                                      </p:tavLst>
                                    </p:anim>
                                  </p:childTnLst>
                                </p:cTn>
                              </p:par>
                            </p:childTnLst>
                          </p:cTn>
                        </p:par>
                        <p:par>
                          <p:cTn id="25" fill="hold">
                            <p:stCondLst>
                              <p:cond delay="500"/>
                            </p:stCondLst>
                            <p:childTnLst>
                              <p:par>
                                <p:cTn id="26" presetID="23" presetClass="entr" presetSubtype="16"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childTnLst>
                                </p:cTn>
                              </p:par>
                              <p:par>
                                <p:cTn id="30" presetID="22" presetClass="entr" presetSubtype="4"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8">
                                            <p:graphicEl>
                                              <a:dgm id="{88B8BD01-0382-1644-B1E4-25A5D75A2CAC}"/>
                                            </p:graphicEl>
                                          </p:spTgt>
                                        </p:tgtEl>
                                        <p:attrNameLst>
                                          <p:attrName>style.visibility</p:attrName>
                                        </p:attrNameLst>
                                      </p:cBhvr>
                                      <p:to>
                                        <p:strVal val="visible"/>
                                      </p:to>
                                    </p:set>
                                    <p:anim calcmode="lin" valueType="num">
                                      <p:cBhvr>
                                        <p:cTn id="37" dur="500" fill="hold"/>
                                        <p:tgtEl>
                                          <p:spTgt spid="18">
                                            <p:graphicEl>
                                              <a:dgm id="{88B8BD01-0382-1644-B1E4-25A5D75A2CAC}"/>
                                            </p:graphicEl>
                                          </p:spTgt>
                                        </p:tgtEl>
                                        <p:attrNameLst>
                                          <p:attrName>ppt_w</p:attrName>
                                        </p:attrNameLst>
                                      </p:cBhvr>
                                      <p:tavLst>
                                        <p:tav tm="0">
                                          <p:val>
                                            <p:fltVal val="0"/>
                                          </p:val>
                                        </p:tav>
                                        <p:tav tm="100000">
                                          <p:val>
                                            <p:strVal val="#ppt_w"/>
                                          </p:val>
                                        </p:tav>
                                      </p:tavLst>
                                    </p:anim>
                                    <p:anim calcmode="lin" valueType="num">
                                      <p:cBhvr>
                                        <p:cTn id="38" dur="500" fill="hold"/>
                                        <p:tgtEl>
                                          <p:spTgt spid="18">
                                            <p:graphicEl>
                                              <a:dgm id="{88B8BD01-0382-1644-B1E4-25A5D75A2CAC}"/>
                                            </p:graphicEl>
                                          </p:spTgt>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18">
                                            <p:graphicEl>
                                              <a:dgm id="{CB318C54-C92B-D746-9174-1756052320AA}"/>
                                            </p:graphicEl>
                                          </p:spTgt>
                                        </p:tgtEl>
                                        <p:attrNameLst>
                                          <p:attrName>style.visibility</p:attrName>
                                        </p:attrNameLst>
                                      </p:cBhvr>
                                      <p:to>
                                        <p:strVal val="visible"/>
                                      </p:to>
                                    </p:set>
                                    <p:anim calcmode="lin" valueType="num">
                                      <p:cBhvr>
                                        <p:cTn id="41" dur="500" fill="hold"/>
                                        <p:tgtEl>
                                          <p:spTgt spid="18">
                                            <p:graphicEl>
                                              <a:dgm id="{CB318C54-C92B-D746-9174-1756052320AA}"/>
                                            </p:graphicEl>
                                          </p:spTgt>
                                        </p:tgtEl>
                                        <p:attrNameLst>
                                          <p:attrName>ppt_w</p:attrName>
                                        </p:attrNameLst>
                                      </p:cBhvr>
                                      <p:tavLst>
                                        <p:tav tm="0">
                                          <p:val>
                                            <p:fltVal val="0"/>
                                          </p:val>
                                        </p:tav>
                                        <p:tav tm="100000">
                                          <p:val>
                                            <p:strVal val="#ppt_w"/>
                                          </p:val>
                                        </p:tav>
                                      </p:tavLst>
                                    </p:anim>
                                    <p:anim calcmode="lin" valueType="num">
                                      <p:cBhvr>
                                        <p:cTn id="42" dur="500" fill="hold"/>
                                        <p:tgtEl>
                                          <p:spTgt spid="18">
                                            <p:graphicEl>
                                              <a:dgm id="{CB318C54-C92B-D746-9174-1756052320AA}"/>
                                            </p:graphicEl>
                                          </p:spTgt>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18">
                                            <p:graphicEl>
                                              <a:dgm id="{A968F967-C4CF-1A49-B433-D962FD79D6D6}"/>
                                            </p:graphicEl>
                                          </p:spTgt>
                                        </p:tgtEl>
                                        <p:attrNameLst>
                                          <p:attrName>style.visibility</p:attrName>
                                        </p:attrNameLst>
                                      </p:cBhvr>
                                      <p:to>
                                        <p:strVal val="visible"/>
                                      </p:to>
                                    </p:set>
                                    <p:anim calcmode="lin" valueType="num">
                                      <p:cBhvr>
                                        <p:cTn id="45" dur="500" fill="hold"/>
                                        <p:tgtEl>
                                          <p:spTgt spid="18">
                                            <p:graphicEl>
                                              <a:dgm id="{A968F967-C4CF-1A49-B433-D962FD79D6D6}"/>
                                            </p:graphicEl>
                                          </p:spTgt>
                                        </p:tgtEl>
                                        <p:attrNameLst>
                                          <p:attrName>ppt_w</p:attrName>
                                        </p:attrNameLst>
                                      </p:cBhvr>
                                      <p:tavLst>
                                        <p:tav tm="0">
                                          <p:val>
                                            <p:fltVal val="0"/>
                                          </p:val>
                                        </p:tav>
                                        <p:tav tm="100000">
                                          <p:val>
                                            <p:strVal val="#ppt_w"/>
                                          </p:val>
                                        </p:tav>
                                      </p:tavLst>
                                    </p:anim>
                                    <p:anim calcmode="lin" valueType="num">
                                      <p:cBhvr>
                                        <p:cTn id="46" dur="500" fill="hold"/>
                                        <p:tgtEl>
                                          <p:spTgt spid="18">
                                            <p:graphicEl>
                                              <a:dgm id="{A968F967-C4CF-1A49-B433-D962FD79D6D6}"/>
                                            </p:graphicEl>
                                          </p:spTgt>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18">
                                            <p:graphicEl>
                                              <a:dgm id="{57E36AA7-77C6-1145-B947-D4761A49D78D}"/>
                                            </p:graphicEl>
                                          </p:spTgt>
                                        </p:tgtEl>
                                        <p:attrNameLst>
                                          <p:attrName>style.visibility</p:attrName>
                                        </p:attrNameLst>
                                      </p:cBhvr>
                                      <p:to>
                                        <p:strVal val="visible"/>
                                      </p:to>
                                    </p:set>
                                    <p:anim calcmode="lin" valueType="num">
                                      <p:cBhvr>
                                        <p:cTn id="51" dur="500" fill="hold"/>
                                        <p:tgtEl>
                                          <p:spTgt spid="18">
                                            <p:graphicEl>
                                              <a:dgm id="{57E36AA7-77C6-1145-B947-D4761A49D78D}"/>
                                            </p:graphicEl>
                                          </p:spTgt>
                                        </p:tgtEl>
                                        <p:attrNameLst>
                                          <p:attrName>ppt_w</p:attrName>
                                        </p:attrNameLst>
                                      </p:cBhvr>
                                      <p:tavLst>
                                        <p:tav tm="0">
                                          <p:val>
                                            <p:fltVal val="0"/>
                                          </p:val>
                                        </p:tav>
                                        <p:tav tm="100000">
                                          <p:val>
                                            <p:strVal val="#ppt_w"/>
                                          </p:val>
                                        </p:tav>
                                      </p:tavLst>
                                    </p:anim>
                                    <p:anim calcmode="lin" valueType="num">
                                      <p:cBhvr>
                                        <p:cTn id="52" dur="500" fill="hold"/>
                                        <p:tgtEl>
                                          <p:spTgt spid="18">
                                            <p:graphicEl>
                                              <a:dgm id="{57E36AA7-77C6-1145-B947-D4761A49D78D}"/>
                                            </p:graphicEl>
                                          </p:spTgt>
                                        </p:tgtEl>
                                        <p:attrNameLst>
                                          <p:attrName>ppt_h</p:attrName>
                                        </p:attrNameLst>
                                      </p:cBhvr>
                                      <p:tavLst>
                                        <p:tav tm="0">
                                          <p:val>
                                            <p:fltVal val="0"/>
                                          </p:val>
                                        </p:tav>
                                        <p:tav tm="100000">
                                          <p:val>
                                            <p:strVal val="#ppt_h"/>
                                          </p:val>
                                        </p:tav>
                                      </p:tavLst>
                                    </p:anim>
                                  </p:childTnLst>
                                </p:cTn>
                              </p:par>
                              <p:par>
                                <p:cTn id="53" presetID="23" presetClass="entr" presetSubtype="16" fill="hold" grpId="0" nodeType="withEffect">
                                  <p:stCondLst>
                                    <p:cond delay="0"/>
                                  </p:stCondLst>
                                  <p:childTnLst>
                                    <p:set>
                                      <p:cBhvr>
                                        <p:cTn id="54" dur="1" fill="hold">
                                          <p:stCondLst>
                                            <p:cond delay="0"/>
                                          </p:stCondLst>
                                        </p:cTn>
                                        <p:tgtEl>
                                          <p:spTgt spid="18">
                                            <p:graphicEl>
                                              <a:dgm id="{67A0FB03-01CD-4545-BEAA-58BB0F91A931}"/>
                                            </p:graphicEl>
                                          </p:spTgt>
                                        </p:tgtEl>
                                        <p:attrNameLst>
                                          <p:attrName>style.visibility</p:attrName>
                                        </p:attrNameLst>
                                      </p:cBhvr>
                                      <p:to>
                                        <p:strVal val="visible"/>
                                      </p:to>
                                    </p:set>
                                    <p:anim calcmode="lin" valueType="num">
                                      <p:cBhvr>
                                        <p:cTn id="55" dur="500" fill="hold"/>
                                        <p:tgtEl>
                                          <p:spTgt spid="18">
                                            <p:graphicEl>
                                              <a:dgm id="{67A0FB03-01CD-4545-BEAA-58BB0F91A931}"/>
                                            </p:graphicEl>
                                          </p:spTgt>
                                        </p:tgtEl>
                                        <p:attrNameLst>
                                          <p:attrName>ppt_w</p:attrName>
                                        </p:attrNameLst>
                                      </p:cBhvr>
                                      <p:tavLst>
                                        <p:tav tm="0">
                                          <p:val>
                                            <p:fltVal val="0"/>
                                          </p:val>
                                        </p:tav>
                                        <p:tav tm="100000">
                                          <p:val>
                                            <p:strVal val="#ppt_w"/>
                                          </p:val>
                                        </p:tav>
                                      </p:tavLst>
                                    </p:anim>
                                    <p:anim calcmode="lin" valueType="num">
                                      <p:cBhvr>
                                        <p:cTn id="56" dur="500" fill="hold"/>
                                        <p:tgtEl>
                                          <p:spTgt spid="18">
                                            <p:graphicEl>
                                              <a:dgm id="{67A0FB03-01CD-4545-BEAA-58BB0F91A931}"/>
                                            </p:graphicEl>
                                          </p:spTgt>
                                        </p:tgtEl>
                                        <p:attrNameLst>
                                          <p:attrName>ppt_h</p:attrName>
                                        </p:attrNameLst>
                                      </p:cBhvr>
                                      <p:tavLst>
                                        <p:tav tm="0">
                                          <p:val>
                                            <p:fltVal val="0"/>
                                          </p:val>
                                        </p:tav>
                                        <p:tav tm="100000">
                                          <p:val>
                                            <p:strVal val="#ppt_h"/>
                                          </p:val>
                                        </p:tav>
                                      </p:tavLst>
                                    </p:anim>
                                  </p:childTnLst>
                                </p:cTn>
                              </p:par>
                              <p:par>
                                <p:cTn id="57" presetID="23" presetClass="entr" presetSubtype="16" fill="hold" grpId="0" nodeType="withEffect">
                                  <p:stCondLst>
                                    <p:cond delay="0"/>
                                  </p:stCondLst>
                                  <p:childTnLst>
                                    <p:set>
                                      <p:cBhvr>
                                        <p:cTn id="58" dur="1" fill="hold">
                                          <p:stCondLst>
                                            <p:cond delay="0"/>
                                          </p:stCondLst>
                                        </p:cTn>
                                        <p:tgtEl>
                                          <p:spTgt spid="18">
                                            <p:graphicEl>
                                              <a:dgm id="{26531FF5-AC54-4048-ADD5-AC8A5AE799F6}"/>
                                            </p:graphicEl>
                                          </p:spTgt>
                                        </p:tgtEl>
                                        <p:attrNameLst>
                                          <p:attrName>style.visibility</p:attrName>
                                        </p:attrNameLst>
                                      </p:cBhvr>
                                      <p:to>
                                        <p:strVal val="visible"/>
                                      </p:to>
                                    </p:set>
                                    <p:anim calcmode="lin" valueType="num">
                                      <p:cBhvr>
                                        <p:cTn id="59" dur="500" fill="hold"/>
                                        <p:tgtEl>
                                          <p:spTgt spid="18">
                                            <p:graphicEl>
                                              <a:dgm id="{26531FF5-AC54-4048-ADD5-AC8A5AE799F6}"/>
                                            </p:graphicEl>
                                          </p:spTgt>
                                        </p:tgtEl>
                                        <p:attrNameLst>
                                          <p:attrName>ppt_w</p:attrName>
                                        </p:attrNameLst>
                                      </p:cBhvr>
                                      <p:tavLst>
                                        <p:tav tm="0">
                                          <p:val>
                                            <p:fltVal val="0"/>
                                          </p:val>
                                        </p:tav>
                                        <p:tav tm="100000">
                                          <p:val>
                                            <p:strVal val="#ppt_w"/>
                                          </p:val>
                                        </p:tav>
                                      </p:tavLst>
                                    </p:anim>
                                    <p:anim calcmode="lin" valueType="num">
                                      <p:cBhvr>
                                        <p:cTn id="60" dur="500" fill="hold"/>
                                        <p:tgtEl>
                                          <p:spTgt spid="18">
                                            <p:graphicEl>
                                              <a:dgm id="{26531FF5-AC54-4048-ADD5-AC8A5AE799F6}"/>
                                            </p:graphicEl>
                                          </p:spTgt>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 calcmode="lin" valueType="num">
                                      <p:cBhvr>
                                        <p:cTn id="65" dur="500" fill="hold"/>
                                        <p:tgtEl>
                                          <p:spTgt spid="3"/>
                                        </p:tgtEl>
                                        <p:attrNameLst>
                                          <p:attrName>ppt_w</p:attrName>
                                        </p:attrNameLst>
                                      </p:cBhvr>
                                      <p:tavLst>
                                        <p:tav tm="0">
                                          <p:val>
                                            <p:fltVal val="0"/>
                                          </p:val>
                                        </p:tav>
                                        <p:tav tm="100000">
                                          <p:val>
                                            <p:strVal val="#ppt_w"/>
                                          </p:val>
                                        </p:tav>
                                      </p:tavLst>
                                    </p:anim>
                                    <p:anim calcmode="lin" valueType="num">
                                      <p:cBhvr>
                                        <p:cTn id="6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grpId="0" nodeType="clickEffect">
                                  <p:stCondLst>
                                    <p:cond delay="0"/>
                                  </p:stCondLst>
                                  <p:childTnLst>
                                    <p:set>
                                      <p:cBhvr>
                                        <p:cTn id="70" dur="1" fill="hold">
                                          <p:stCondLst>
                                            <p:cond delay="0"/>
                                          </p:stCondLst>
                                        </p:cTn>
                                        <p:tgtEl>
                                          <p:spTgt spid="4">
                                            <p:graphicEl>
                                              <a:dgm id="{D346B28C-314A-4B47-8C56-5964F3C1BB20}"/>
                                            </p:graphicEl>
                                          </p:spTgt>
                                        </p:tgtEl>
                                        <p:attrNameLst>
                                          <p:attrName>style.visibility</p:attrName>
                                        </p:attrNameLst>
                                      </p:cBhvr>
                                      <p:to>
                                        <p:strVal val="visible"/>
                                      </p:to>
                                    </p:set>
                                    <p:anim calcmode="lin" valueType="num">
                                      <p:cBhvr>
                                        <p:cTn id="71" dur="500" fill="hold"/>
                                        <p:tgtEl>
                                          <p:spTgt spid="4">
                                            <p:graphicEl>
                                              <a:dgm id="{D346B28C-314A-4B47-8C56-5964F3C1BB20}"/>
                                            </p:graphicEl>
                                          </p:spTgt>
                                        </p:tgtEl>
                                        <p:attrNameLst>
                                          <p:attrName>ppt_w</p:attrName>
                                        </p:attrNameLst>
                                      </p:cBhvr>
                                      <p:tavLst>
                                        <p:tav tm="0">
                                          <p:val>
                                            <p:fltVal val="0"/>
                                          </p:val>
                                        </p:tav>
                                        <p:tav tm="100000">
                                          <p:val>
                                            <p:strVal val="#ppt_w"/>
                                          </p:val>
                                        </p:tav>
                                      </p:tavLst>
                                    </p:anim>
                                    <p:anim calcmode="lin" valueType="num">
                                      <p:cBhvr>
                                        <p:cTn id="72" dur="500" fill="hold"/>
                                        <p:tgtEl>
                                          <p:spTgt spid="4">
                                            <p:graphicEl>
                                              <a:dgm id="{D346B28C-314A-4B47-8C56-5964F3C1BB20}"/>
                                            </p:graphicEl>
                                          </p:spTgt>
                                        </p:tgtEl>
                                        <p:attrNameLst>
                                          <p:attrName>ppt_h</p:attrName>
                                        </p:attrNameLst>
                                      </p:cBhvr>
                                      <p:tavLst>
                                        <p:tav tm="0">
                                          <p:val>
                                            <p:fltVal val="0"/>
                                          </p:val>
                                        </p:tav>
                                        <p:tav tm="100000">
                                          <p:val>
                                            <p:strVal val="#ppt_h"/>
                                          </p:val>
                                        </p:tav>
                                      </p:tavLst>
                                    </p:anim>
                                  </p:childTnLst>
                                </p:cTn>
                              </p:par>
                            </p:childTnLst>
                          </p:cTn>
                        </p:par>
                        <p:par>
                          <p:cTn id="73" fill="hold">
                            <p:stCondLst>
                              <p:cond delay="500"/>
                            </p:stCondLst>
                            <p:childTnLst>
                              <p:par>
                                <p:cTn id="74" presetID="9" presetClass="entr" presetSubtype="0" fill="hold" nodeType="afterEffect">
                                  <p:stCondLst>
                                    <p:cond delay="500"/>
                                  </p:stCondLst>
                                  <p:childTnLst>
                                    <p:set>
                                      <p:cBhvr>
                                        <p:cTn id="75" dur="1" fill="hold">
                                          <p:stCondLst>
                                            <p:cond delay="0"/>
                                          </p:stCondLst>
                                        </p:cTn>
                                        <p:tgtEl>
                                          <p:spTgt spid="5"/>
                                        </p:tgtEl>
                                        <p:attrNameLst>
                                          <p:attrName>style.visibility</p:attrName>
                                        </p:attrNameLst>
                                      </p:cBhvr>
                                      <p:to>
                                        <p:strVal val="visible"/>
                                      </p:to>
                                    </p:set>
                                    <p:animEffect transition="in" filter="dissolve">
                                      <p:cBhvr>
                                        <p:cTn id="76" dur="500"/>
                                        <p:tgtEl>
                                          <p:spTgt spid="5"/>
                                        </p:tgtEl>
                                      </p:cBhvr>
                                    </p:animEffect>
                                  </p:childTnLst>
                                </p:cTn>
                              </p:par>
                              <p:par>
                                <p:cTn id="77" presetID="7" presetClass="emph" presetSubtype="2" fill="hold" nodeType="withEffect">
                                  <p:stCondLst>
                                    <p:cond delay="0"/>
                                  </p:stCondLst>
                                  <p:childTnLst>
                                    <p:animClr clrSpc="rgb" dir="cw">
                                      <p:cBhvr>
                                        <p:cTn id="78" dur="2000" fill="hold"/>
                                        <p:tgtEl>
                                          <p:spTgt spid="12"/>
                                        </p:tgtEl>
                                        <p:attrNameLst>
                                          <p:attrName>stroke.color</p:attrName>
                                        </p:attrNameLst>
                                      </p:cBhvr>
                                      <p:to>
                                        <a:srgbClr val="68BA1B"/>
                                      </p:to>
                                    </p:animClr>
                                    <p:set>
                                      <p:cBhvr>
                                        <p:cTn id="79" dur="2000" fill="hold"/>
                                        <p:tgtEl>
                                          <p:spTgt spid="12"/>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12" grpId="0" animBg="1"/>
      <p:bldP spid="14" grpId="0" animBg="1"/>
      <p:bldGraphic spid="18" grpId="0">
        <p:bldSub>
          <a:bldDgm bld="lvlAtOnce"/>
        </p:bldSub>
      </p:bldGraphic>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Connecting</a:t>
            </a:r>
            <a:r>
              <a:rPr lang="it-IT" dirty="0"/>
              <a:t> an Application</a:t>
            </a:r>
          </a:p>
        </p:txBody>
      </p:sp>
      <p:pic>
        <p:nvPicPr>
          <p:cNvPr id="4" name="Picture 4" descr="http://clipartion.com/wp-content/uploads/2015/11/clipart-cloud.png"/>
          <p:cNvPicPr>
            <a:picLocks noChangeAspect="1" noChangeArrowheads="1"/>
          </p:cNvPicPr>
          <p:nvPr/>
        </p:nvPicPr>
        <p:blipFill>
          <a:blip r:embed="rId2" cstate="email">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324727" y="3454251"/>
            <a:ext cx="3240360" cy="1644483"/>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p:cNvSpPr txBox="1"/>
          <p:nvPr/>
        </p:nvSpPr>
        <p:spPr>
          <a:xfrm>
            <a:off x="1234051" y="4317012"/>
            <a:ext cx="2263761" cy="584775"/>
          </a:xfrm>
          <a:prstGeom prst="rect">
            <a:avLst/>
          </a:prstGeom>
          <a:noFill/>
        </p:spPr>
        <p:txBody>
          <a:bodyPr wrap="none" rtlCol="0">
            <a:spAutoFit/>
          </a:bodyPr>
          <a:lstStyle/>
          <a:p>
            <a:pPr algn="ctr"/>
            <a:r>
              <a:rPr lang="it-IT" sz="3200" b="1" i="1" dirty="0">
                <a:solidFill>
                  <a:srgbClr val="406B9E"/>
                </a:solidFill>
              </a:rPr>
              <a:t>WHOS Plata</a:t>
            </a:r>
          </a:p>
        </p:txBody>
      </p:sp>
      <p:pic>
        <p:nvPicPr>
          <p:cNvPr id="6" name="Picture 6" descr="wmo2016_powerpoint_standard_v2-2.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3226" y="4416811"/>
            <a:ext cx="359655" cy="377251"/>
          </a:xfrm>
          <a:prstGeom prst="rect">
            <a:avLst/>
          </a:prstGeom>
        </p:spPr>
      </p:pic>
      <p:sp>
        <p:nvSpPr>
          <p:cNvPr id="7" name="CasellaDiTesto 6"/>
          <p:cNvSpPr txBox="1"/>
          <p:nvPr/>
        </p:nvSpPr>
        <p:spPr>
          <a:xfrm>
            <a:off x="7027011" y="2280668"/>
            <a:ext cx="917752" cy="276999"/>
          </a:xfrm>
          <a:prstGeom prst="rect">
            <a:avLst/>
          </a:prstGeom>
          <a:noFill/>
        </p:spPr>
        <p:txBody>
          <a:bodyPr wrap="none" rtlCol="0">
            <a:spAutoFit/>
          </a:bodyPr>
          <a:lstStyle/>
          <a:p>
            <a:pPr algn="ctr"/>
            <a:r>
              <a:rPr lang="it-IT" sz="1200" b="1" i="1" dirty="0">
                <a:solidFill>
                  <a:srgbClr val="0475A5"/>
                </a:solidFill>
              </a:rPr>
              <a:t>Application</a:t>
            </a:r>
          </a:p>
        </p:txBody>
      </p:sp>
      <p:pic>
        <p:nvPicPr>
          <p:cNvPr id="8" name="Immagine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22881" y="2441344"/>
            <a:ext cx="540000" cy="540000"/>
          </a:xfrm>
          <a:prstGeom prst="rect">
            <a:avLst/>
          </a:prstGeom>
        </p:spPr>
      </p:pic>
      <p:pic>
        <p:nvPicPr>
          <p:cNvPr id="3" name="Immagine 2"/>
          <p:cNvPicPr>
            <a:picLocks noChangeAspect="1"/>
          </p:cNvPicPr>
          <p:nvPr/>
        </p:nvPicPr>
        <p:blipFill>
          <a:blip r:embed="rId5" cstate="email">
            <a:duotone>
              <a:schemeClr val="accent1">
                <a:shade val="45000"/>
                <a:satMod val="135000"/>
              </a:schemeClr>
              <a:prstClr val="white"/>
            </a:duotone>
            <a:extLst>
              <a:ext uri="{BEBA8EAE-BF5A-486C-A8C5-ECC9F3942E4B}">
                <a14:imgProps xmlns:a14="http://schemas.microsoft.com/office/drawing/2010/main">
                  <a14:imgLayer r:embed="rId6">
                    <a14:imgEffect>
                      <a14:backgroundRemoval t="7218" b="92257" l="9988" r="89888">
                        <a14:foregroundMark x1="68165" y1="41339" x2="68165" y2="41339"/>
                        <a14:foregroundMark x1="43321" y1="40945" x2="43321" y2="40945"/>
                      </a14:backgroundRemoval>
                    </a14:imgEffect>
                  </a14:imgLayer>
                </a14:imgProps>
              </a:ext>
              <a:ext uri="{28A0092B-C50C-407E-A947-70E740481C1C}">
                <a14:useLocalDpi xmlns:a14="http://schemas.microsoft.com/office/drawing/2010/main"/>
              </a:ext>
            </a:extLst>
          </a:blip>
          <a:stretch>
            <a:fillRect/>
          </a:stretch>
        </p:blipFill>
        <p:spPr>
          <a:xfrm>
            <a:off x="2725810" y="3067409"/>
            <a:ext cx="503659" cy="479136"/>
          </a:xfrm>
          <a:prstGeom prst="rect">
            <a:avLst/>
          </a:prstGeom>
        </p:spPr>
      </p:pic>
      <p:pic>
        <p:nvPicPr>
          <p:cNvPr id="10" name="Immagine 9"/>
          <p:cNvPicPr>
            <a:picLocks noChangeAspect="1"/>
          </p:cNvPicPr>
          <p:nvPr/>
        </p:nvPicPr>
        <p:blipFill>
          <a:blip r:embed="rId7" cstate="email">
            <a:duotone>
              <a:schemeClr val="accent2">
                <a:shade val="45000"/>
                <a:satMod val="135000"/>
              </a:schemeClr>
              <a:prstClr val="white"/>
            </a:duotone>
            <a:extLst>
              <a:ext uri="{BEBA8EAE-BF5A-486C-A8C5-ECC9F3942E4B}">
                <a14:imgProps xmlns:a14="http://schemas.microsoft.com/office/drawing/2010/main">
                  <a14:imgLayer r:embed="rId8">
                    <a14:imgEffect>
                      <a14:backgroundRemoval t="7218" b="92257" l="9988" r="89888">
                        <a14:foregroundMark x1="68165" y1="41339" x2="68165" y2="41339"/>
                        <a14:foregroundMark x1="43321" y1="40945" x2="43321" y2="40945"/>
                      </a14:backgroundRemoval>
                    </a14:imgEffect>
                  </a14:imgLayer>
                </a14:imgProps>
              </a:ext>
              <a:ext uri="{28A0092B-C50C-407E-A947-70E740481C1C}">
                <a14:useLocalDpi xmlns:a14="http://schemas.microsoft.com/office/drawing/2010/main"/>
              </a:ext>
            </a:extLst>
          </a:blip>
          <a:stretch>
            <a:fillRect/>
          </a:stretch>
        </p:blipFill>
        <p:spPr>
          <a:xfrm>
            <a:off x="3229469" y="3403626"/>
            <a:ext cx="503659" cy="479136"/>
          </a:xfrm>
          <a:prstGeom prst="rect">
            <a:avLst/>
          </a:prstGeom>
        </p:spPr>
      </p:pic>
      <p:pic>
        <p:nvPicPr>
          <p:cNvPr id="11" name="Immagine 10"/>
          <p:cNvPicPr>
            <a:picLocks noChangeAspect="1"/>
          </p:cNvPicPr>
          <p:nvPr/>
        </p:nvPicPr>
        <p:blipFill>
          <a:blip r:embed="rId9" cstate="email">
            <a:duotone>
              <a:schemeClr val="accent3">
                <a:shade val="45000"/>
                <a:satMod val="135000"/>
              </a:schemeClr>
              <a:prstClr val="white"/>
            </a:duotone>
            <a:extLst>
              <a:ext uri="{BEBA8EAE-BF5A-486C-A8C5-ECC9F3942E4B}">
                <a14:imgProps xmlns:a14="http://schemas.microsoft.com/office/drawing/2010/main">
                  <a14:imgLayer r:embed="rId10">
                    <a14:imgEffect>
                      <a14:backgroundRemoval t="7218" b="92257" l="9988" r="89888">
                        <a14:foregroundMark x1="68165" y1="41339" x2="68165" y2="41339"/>
                        <a14:foregroundMark x1="43321" y1="40945" x2="43321" y2="40945"/>
                      </a14:backgroundRemoval>
                    </a14:imgEffect>
                  </a14:imgLayer>
                </a14:imgProps>
              </a:ext>
              <a:ext uri="{28A0092B-C50C-407E-A947-70E740481C1C}">
                <a14:useLocalDpi xmlns:a14="http://schemas.microsoft.com/office/drawing/2010/main"/>
              </a:ext>
            </a:extLst>
          </a:blip>
          <a:stretch>
            <a:fillRect/>
          </a:stretch>
        </p:blipFill>
        <p:spPr>
          <a:xfrm>
            <a:off x="3607151" y="3882762"/>
            <a:ext cx="503659" cy="479136"/>
          </a:xfrm>
          <a:prstGeom prst="rect">
            <a:avLst/>
          </a:prstGeom>
        </p:spPr>
      </p:pic>
      <p:graphicFrame>
        <p:nvGraphicFramePr>
          <p:cNvPr id="16" name="Segnaposto contenuto 3"/>
          <p:cNvGraphicFramePr>
            <a:graphicFrameLocks noGrp="1"/>
          </p:cNvGraphicFramePr>
          <p:nvPr>
            <p:ph idx="1"/>
            <p:extLst>
              <p:ext uri="{D42A27DB-BD31-4B8C-83A1-F6EECF244321}">
                <p14:modId xmlns:p14="http://schemas.microsoft.com/office/powerpoint/2010/main" val="922837795"/>
              </p:ext>
            </p:extLst>
          </p:nvPr>
        </p:nvGraphicFramePr>
        <p:xfrm>
          <a:off x="512619" y="5915885"/>
          <a:ext cx="8229600" cy="81987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17" name="Figura a mano libera 16"/>
          <p:cNvSpPr/>
          <p:nvPr/>
        </p:nvSpPr>
        <p:spPr>
          <a:xfrm rot="8674753" flipH="1" flipV="1">
            <a:off x="3360341" y="2147847"/>
            <a:ext cx="3131667" cy="1451682"/>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rgbClr val="245289"/>
            </a:solidFill>
            <a:prstDash val="sysDot"/>
            <a:headEnd type="triangl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18" name="Ovale 17"/>
          <p:cNvSpPr/>
          <p:nvPr/>
        </p:nvSpPr>
        <p:spPr>
          <a:xfrm>
            <a:off x="3229468" y="3403626"/>
            <a:ext cx="503660" cy="479136"/>
          </a:xfrm>
          <a:prstGeom prst="ellipse">
            <a:avLst/>
          </a:prstGeom>
          <a:solidFill>
            <a:srgbClr val="FFFFFF">
              <a:alpha val="8235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9" name="Ovale 18"/>
          <p:cNvSpPr/>
          <p:nvPr/>
        </p:nvSpPr>
        <p:spPr>
          <a:xfrm>
            <a:off x="3607150" y="3882762"/>
            <a:ext cx="503660" cy="479136"/>
          </a:xfrm>
          <a:prstGeom prst="ellipse">
            <a:avLst/>
          </a:prstGeom>
          <a:solidFill>
            <a:srgbClr val="FFFFFF">
              <a:alpha val="8235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pic>
        <p:nvPicPr>
          <p:cNvPr id="21" name="Immagine 20"/>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4926174" y="3389024"/>
            <a:ext cx="2850793" cy="1755274"/>
          </a:xfrm>
          <a:prstGeom prst="rect">
            <a:avLst/>
          </a:prstGeom>
          <a:ln>
            <a:noFill/>
          </a:ln>
          <a:effectLst>
            <a:outerShdw blurRad="190500" algn="tl" rotWithShape="0">
              <a:srgbClr val="000000">
                <a:alpha val="70000"/>
              </a:srgbClr>
            </a:outerShdw>
          </a:effectLst>
        </p:spPr>
      </p:pic>
      <p:sp>
        <p:nvSpPr>
          <p:cNvPr id="22" name="CasellaDiTesto 21"/>
          <p:cNvSpPr txBox="1"/>
          <p:nvPr/>
        </p:nvSpPr>
        <p:spPr>
          <a:xfrm>
            <a:off x="645030" y="1690600"/>
            <a:ext cx="2180308" cy="95410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it-IT" sz="1400" dirty="0"/>
              <a:t>The System must </a:t>
            </a:r>
            <a:r>
              <a:rPr lang="it-IT" sz="1400" dirty="0" err="1"/>
              <a:t>support</a:t>
            </a:r>
            <a:r>
              <a:rPr lang="it-IT" sz="1400" dirty="0"/>
              <a:t> </a:t>
            </a:r>
            <a:r>
              <a:rPr lang="it-IT" sz="1400" dirty="0" err="1"/>
              <a:t>required</a:t>
            </a:r>
            <a:r>
              <a:rPr lang="it-IT" sz="1400" dirty="0"/>
              <a:t> </a:t>
            </a:r>
            <a:r>
              <a:rPr lang="it-IT" sz="1400" dirty="0" err="1"/>
              <a:t>services</a:t>
            </a:r>
            <a:r>
              <a:rPr lang="it-IT" sz="1400" dirty="0"/>
              <a:t>/</a:t>
            </a:r>
            <a:r>
              <a:rPr lang="it-IT" sz="1400" dirty="0" err="1"/>
              <a:t>APIs</a:t>
            </a:r>
            <a:r>
              <a:rPr lang="it-IT" sz="1400" dirty="0"/>
              <a:t> </a:t>
            </a:r>
            <a:r>
              <a:rPr lang="it-IT" sz="1400" dirty="0" err="1"/>
              <a:t>utilized</a:t>
            </a:r>
            <a:r>
              <a:rPr lang="it-IT" sz="1400" dirty="0"/>
              <a:t> by the </a:t>
            </a:r>
            <a:r>
              <a:rPr lang="it-IT" sz="1400" dirty="0" err="1"/>
              <a:t>different</a:t>
            </a:r>
            <a:r>
              <a:rPr lang="it-IT" sz="1400" dirty="0"/>
              <a:t> Applications</a:t>
            </a:r>
          </a:p>
        </p:txBody>
      </p:sp>
      <p:sp>
        <p:nvSpPr>
          <p:cNvPr id="23" name="CasellaDiTesto 22"/>
          <p:cNvSpPr txBox="1"/>
          <p:nvPr/>
        </p:nvSpPr>
        <p:spPr>
          <a:xfrm>
            <a:off x="6395733" y="1274537"/>
            <a:ext cx="2180308" cy="73866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it-IT" sz="1400" dirty="0"/>
              <a:t>Applications </a:t>
            </a:r>
            <a:r>
              <a:rPr lang="it-IT" sz="1400" dirty="0" err="1"/>
              <a:t>will</a:t>
            </a:r>
            <a:r>
              <a:rPr lang="it-IT" sz="1400" dirty="0"/>
              <a:t> </a:t>
            </a:r>
            <a:r>
              <a:rPr lang="it-IT" sz="1400" dirty="0" err="1"/>
              <a:t>interact</a:t>
            </a:r>
            <a:r>
              <a:rPr lang="it-IT" sz="1400" dirty="0"/>
              <a:t> with the System </a:t>
            </a:r>
            <a:r>
              <a:rPr lang="it-IT" sz="1400" dirty="0" err="1"/>
              <a:t>as</a:t>
            </a:r>
            <a:r>
              <a:rPr lang="it-IT" sz="1400" dirty="0"/>
              <a:t> </a:t>
            </a:r>
            <a:r>
              <a:rPr lang="it-IT" sz="1400" dirty="0" err="1"/>
              <a:t>if</a:t>
            </a:r>
            <a:r>
              <a:rPr lang="it-IT" sz="1400" dirty="0"/>
              <a:t> </a:t>
            </a:r>
            <a:r>
              <a:rPr lang="it-IT" sz="1400" dirty="0" err="1"/>
              <a:t>it</a:t>
            </a:r>
            <a:r>
              <a:rPr lang="it-IT" sz="1400" dirty="0"/>
              <a:t> </a:t>
            </a:r>
            <a:r>
              <a:rPr lang="it-IT" sz="1400" dirty="0" err="1"/>
              <a:t>were</a:t>
            </a:r>
            <a:r>
              <a:rPr lang="it-IT" sz="1400" dirty="0"/>
              <a:t> a single server</a:t>
            </a:r>
          </a:p>
        </p:txBody>
      </p:sp>
      <p:sp>
        <p:nvSpPr>
          <p:cNvPr id="24" name="CasellaDiTesto 23"/>
          <p:cNvSpPr txBox="1"/>
          <p:nvPr/>
        </p:nvSpPr>
        <p:spPr>
          <a:xfrm rot="16200000">
            <a:off x="6773470" y="3721522"/>
            <a:ext cx="4498347" cy="246221"/>
          </a:xfrm>
          <a:prstGeom prst="rect">
            <a:avLst/>
          </a:prstGeom>
          <a:noFill/>
        </p:spPr>
        <p:txBody>
          <a:bodyPr wrap="none" rtlCol="0">
            <a:spAutoFit/>
          </a:bodyPr>
          <a:lstStyle/>
          <a:p>
            <a:r>
              <a:rPr lang="it-IT" sz="1000" dirty="0" err="1">
                <a:solidFill>
                  <a:schemeClr val="bg1">
                    <a:lumMod val="65000"/>
                  </a:schemeClr>
                </a:solidFill>
              </a:rPr>
              <a:t>App</a:t>
            </a:r>
            <a:r>
              <a:rPr lang="it-IT" sz="1000" dirty="0">
                <a:solidFill>
                  <a:schemeClr val="bg1">
                    <a:lumMod val="65000"/>
                  </a:schemeClr>
                </a:solidFill>
              </a:rPr>
              <a:t> </a:t>
            </a:r>
            <a:r>
              <a:rPr lang="it-IT" sz="1000" dirty="0" err="1">
                <a:solidFill>
                  <a:schemeClr val="bg1">
                    <a:lumMod val="65000"/>
                  </a:schemeClr>
                </a:solidFill>
              </a:rPr>
              <a:t>Icons</a:t>
            </a:r>
            <a:r>
              <a:rPr lang="it-IT" sz="1000" dirty="0">
                <a:solidFill>
                  <a:schemeClr val="bg1">
                    <a:lumMod val="65000"/>
                  </a:schemeClr>
                </a:solidFill>
              </a:rPr>
              <a:t> made by </a:t>
            </a:r>
            <a:r>
              <a:rPr lang="it-IT" sz="1000" dirty="0" err="1">
                <a:solidFill>
                  <a:schemeClr val="bg1">
                    <a:lumMod val="65000"/>
                  </a:schemeClr>
                </a:solidFill>
              </a:rPr>
              <a:t>Maxim</a:t>
            </a:r>
            <a:r>
              <a:rPr lang="it-IT" sz="1000" dirty="0">
                <a:solidFill>
                  <a:schemeClr val="bg1">
                    <a:lumMod val="65000"/>
                  </a:schemeClr>
                </a:solidFill>
              </a:rPr>
              <a:t> </a:t>
            </a:r>
            <a:r>
              <a:rPr lang="it-IT" sz="1000" dirty="0" err="1">
                <a:solidFill>
                  <a:schemeClr val="bg1">
                    <a:lumMod val="65000"/>
                  </a:schemeClr>
                </a:solidFill>
              </a:rPr>
              <a:t>Basinski</a:t>
            </a:r>
            <a:r>
              <a:rPr lang="it-IT" sz="1000" dirty="0">
                <a:solidFill>
                  <a:schemeClr val="bg1">
                    <a:lumMod val="65000"/>
                  </a:schemeClr>
                </a:solidFill>
              </a:rPr>
              <a:t> from www.flaticon.com </a:t>
            </a:r>
            <a:r>
              <a:rPr lang="it-IT" sz="1000" dirty="0" err="1">
                <a:solidFill>
                  <a:schemeClr val="bg1">
                    <a:lumMod val="65000"/>
                  </a:schemeClr>
                </a:solidFill>
              </a:rPr>
              <a:t>is</a:t>
            </a:r>
            <a:r>
              <a:rPr lang="it-IT" sz="1000" dirty="0">
                <a:solidFill>
                  <a:schemeClr val="bg1">
                    <a:lumMod val="65000"/>
                  </a:schemeClr>
                </a:solidFill>
              </a:rPr>
              <a:t> </a:t>
            </a:r>
            <a:r>
              <a:rPr lang="it-IT" sz="1000" dirty="0" err="1">
                <a:solidFill>
                  <a:schemeClr val="bg1">
                    <a:lumMod val="65000"/>
                  </a:schemeClr>
                </a:solidFill>
              </a:rPr>
              <a:t>licensed</a:t>
            </a:r>
            <a:r>
              <a:rPr lang="it-IT" sz="1000" dirty="0">
                <a:solidFill>
                  <a:schemeClr val="bg1">
                    <a:lumMod val="65000"/>
                  </a:schemeClr>
                </a:solidFill>
              </a:rPr>
              <a:t> by CC 3.0 BY</a:t>
            </a:r>
          </a:p>
        </p:txBody>
      </p:sp>
    </p:spTree>
    <p:extLst>
      <p:ext uri="{BB962C8B-B14F-4D97-AF65-F5344CB8AC3E}">
        <p14:creationId xmlns:p14="http://schemas.microsoft.com/office/powerpoint/2010/main" val="116478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16">
                                            <p:graphicEl>
                                              <a:dgm id="{A17CA81A-9E81-4549-919E-ED1C8B495F1F}"/>
                                            </p:graphicEl>
                                          </p:spTgt>
                                        </p:tgtEl>
                                        <p:attrNameLst>
                                          <p:attrName>style.visibility</p:attrName>
                                        </p:attrNameLst>
                                      </p:cBhvr>
                                      <p:to>
                                        <p:strVal val="visible"/>
                                      </p:to>
                                    </p:set>
                                    <p:anim calcmode="lin" valueType="num">
                                      <p:cBhvr>
                                        <p:cTn id="15" dur="500" fill="hold"/>
                                        <p:tgtEl>
                                          <p:spTgt spid="16">
                                            <p:graphicEl>
                                              <a:dgm id="{A17CA81A-9E81-4549-919E-ED1C8B495F1F}"/>
                                            </p:graphicEl>
                                          </p:spTgt>
                                        </p:tgtEl>
                                        <p:attrNameLst>
                                          <p:attrName>ppt_w</p:attrName>
                                        </p:attrNameLst>
                                      </p:cBhvr>
                                      <p:tavLst>
                                        <p:tav tm="0">
                                          <p:val>
                                            <p:fltVal val="0"/>
                                          </p:val>
                                        </p:tav>
                                        <p:tav tm="100000">
                                          <p:val>
                                            <p:strVal val="#ppt_w"/>
                                          </p:val>
                                        </p:tav>
                                      </p:tavLst>
                                    </p:anim>
                                    <p:anim calcmode="lin" valueType="num">
                                      <p:cBhvr>
                                        <p:cTn id="16" dur="500" fill="hold"/>
                                        <p:tgtEl>
                                          <p:spTgt spid="16">
                                            <p:graphicEl>
                                              <a:dgm id="{A17CA81A-9E81-4549-919E-ED1C8B495F1F}"/>
                                            </p:graphicEl>
                                          </p:spTgt>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6">
                                            <p:graphicEl>
                                              <a:dgm id="{022BB29E-C0BD-5B4E-BD2F-346EAC9A1FBB}"/>
                                            </p:graphicEl>
                                          </p:spTgt>
                                        </p:tgtEl>
                                        <p:attrNameLst>
                                          <p:attrName>style.visibility</p:attrName>
                                        </p:attrNameLst>
                                      </p:cBhvr>
                                      <p:to>
                                        <p:strVal val="visible"/>
                                      </p:to>
                                    </p:set>
                                    <p:anim calcmode="lin" valueType="num">
                                      <p:cBhvr>
                                        <p:cTn id="31" dur="500" fill="hold"/>
                                        <p:tgtEl>
                                          <p:spTgt spid="16">
                                            <p:graphicEl>
                                              <a:dgm id="{022BB29E-C0BD-5B4E-BD2F-346EAC9A1FBB}"/>
                                            </p:graphicEl>
                                          </p:spTgt>
                                        </p:tgtEl>
                                        <p:attrNameLst>
                                          <p:attrName>ppt_w</p:attrName>
                                        </p:attrNameLst>
                                      </p:cBhvr>
                                      <p:tavLst>
                                        <p:tav tm="0">
                                          <p:val>
                                            <p:fltVal val="0"/>
                                          </p:val>
                                        </p:tav>
                                        <p:tav tm="100000">
                                          <p:val>
                                            <p:strVal val="#ppt_w"/>
                                          </p:val>
                                        </p:tav>
                                      </p:tavLst>
                                    </p:anim>
                                    <p:anim calcmode="lin" valueType="num">
                                      <p:cBhvr>
                                        <p:cTn id="32" dur="500" fill="hold"/>
                                        <p:tgtEl>
                                          <p:spTgt spid="16">
                                            <p:graphicEl>
                                              <a:dgm id="{022BB29E-C0BD-5B4E-BD2F-346EAC9A1FBB}"/>
                                            </p:graphicEl>
                                          </p:spTgt>
                                        </p:tgtEl>
                                        <p:attrNameLst>
                                          <p:attrName>ppt_h</p:attrName>
                                        </p:attrNameLst>
                                      </p:cBhvr>
                                      <p:tavLst>
                                        <p:tav tm="0">
                                          <p:val>
                                            <p:fltVal val="0"/>
                                          </p:val>
                                        </p:tav>
                                        <p:tav tm="100000">
                                          <p:val>
                                            <p:strVal val="#ppt_h"/>
                                          </p:val>
                                        </p:tav>
                                      </p:tavLst>
                                    </p:anim>
                                  </p:childTnLst>
                                </p:cTn>
                              </p:par>
                            </p:childTnLst>
                          </p:cTn>
                        </p:par>
                        <p:par>
                          <p:cTn id="33" fill="hold">
                            <p:stCondLst>
                              <p:cond delay="500"/>
                            </p:stCondLst>
                            <p:childTnLst>
                              <p:par>
                                <p:cTn id="34" presetID="22" presetClass="entr" presetSubtype="4"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1000"/>
                                        <p:tgtEl>
                                          <p:spTgt spid="17"/>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dissolve">
                                      <p:cBhvr>
                                        <p:cTn id="39" dur="500"/>
                                        <p:tgtEl>
                                          <p:spTgt spid="19"/>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dissolv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6">
                                            <p:graphicEl>
                                              <a:dgm id="{D346B28C-314A-4B47-8C56-5964F3C1BB20}"/>
                                            </p:graphicEl>
                                          </p:spTgt>
                                        </p:tgtEl>
                                        <p:attrNameLst>
                                          <p:attrName>style.visibility</p:attrName>
                                        </p:attrNameLst>
                                      </p:cBhvr>
                                      <p:to>
                                        <p:strVal val="visible"/>
                                      </p:to>
                                    </p:set>
                                    <p:anim calcmode="lin" valueType="num">
                                      <p:cBhvr>
                                        <p:cTn id="53" dur="500" fill="hold"/>
                                        <p:tgtEl>
                                          <p:spTgt spid="16">
                                            <p:graphicEl>
                                              <a:dgm id="{D346B28C-314A-4B47-8C56-5964F3C1BB20}"/>
                                            </p:graphicEl>
                                          </p:spTgt>
                                        </p:tgtEl>
                                        <p:attrNameLst>
                                          <p:attrName>ppt_w</p:attrName>
                                        </p:attrNameLst>
                                      </p:cBhvr>
                                      <p:tavLst>
                                        <p:tav tm="0">
                                          <p:val>
                                            <p:fltVal val="0"/>
                                          </p:val>
                                        </p:tav>
                                        <p:tav tm="100000">
                                          <p:val>
                                            <p:strVal val="#ppt_w"/>
                                          </p:val>
                                        </p:tav>
                                      </p:tavLst>
                                    </p:anim>
                                    <p:anim calcmode="lin" valueType="num">
                                      <p:cBhvr>
                                        <p:cTn id="54" dur="500" fill="hold"/>
                                        <p:tgtEl>
                                          <p:spTgt spid="16">
                                            <p:graphicEl>
                                              <a:dgm id="{D346B28C-314A-4B47-8C56-5964F3C1BB20}"/>
                                            </p:graphicEl>
                                          </p:spTgt>
                                        </p:tgtEl>
                                        <p:attrNameLst>
                                          <p:attrName>ppt_h</p:attrName>
                                        </p:attrNameLst>
                                      </p:cBhvr>
                                      <p:tavLst>
                                        <p:tav tm="0">
                                          <p:val>
                                            <p:fltVal val="0"/>
                                          </p:val>
                                        </p:tav>
                                        <p:tav tm="100000">
                                          <p:val>
                                            <p:strVal val="#ppt_h"/>
                                          </p:val>
                                        </p:tav>
                                      </p:tavLst>
                                    </p:anim>
                                  </p:childTnLst>
                                </p:cTn>
                              </p:par>
                            </p:childTnLst>
                          </p:cTn>
                        </p:par>
                        <p:par>
                          <p:cTn id="55" fill="hold">
                            <p:stCondLst>
                              <p:cond delay="500"/>
                            </p:stCondLst>
                            <p:childTnLst>
                              <p:par>
                                <p:cTn id="56" presetID="23" presetClass="entr" presetSubtype="16" fill="hold" nodeType="after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p:cTn id="58" dur="500" fill="hold"/>
                                        <p:tgtEl>
                                          <p:spTgt spid="21"/>
                                        </p:tgtEl>
                                        <p:attrNameLst>
                                          <p:attrName>ppt_w</p:attrName>
                                        </p:attrNameLst>
                                      </p:cBhvr>
                                      <p:tavLst>
                                        <p:tav tm="0">
                                          <p:val>
                                            <p:fltVal val="0"/>
                                          </p:val>
                                        </p:tav>
                                        <p:tav tm="100000">
                                          <p:val>
                                            <p:strVal val="#ppt_w"/>
                                          </p:val>
                                        </p:tav>
                                      </p:tavLst>
                                    </p:anim>
                                    <p:anim calcmode="lin" valueType="num">
                                      <p:cBhvr>
                                        <p:cTn id="59" dur="5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Sub>
          <a:bldDgm bld="one"/>
        </p:bldSub>
      </p:bldGraphic>
      <p:bldP spid="17" grpId="0" animBg="1"/>
      <p:bldP spid="18" grpId="0" animBg="1"/>
      <p:bldP spid="19" grpId="0" animBg="1"/>
      <p:bldP spid="22" grpId="0" animBg="1"/>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noAutofit/>
          </a:bodyPr>
          <a:lstStyle/>
          <a:p>
            <a:pPr algn="ctr"/>
            <a:r>
              <a:rPr lang="it-IT" sz="2800" b="1" dirty="0">
                <a:solidFill>
                  <a:srgbClr val="007AC2"/>
                </a:solidFill>
                <a:cs typeface="Avenir LT Std 85 Heavy"/>
              </a:rPr>
              <a:t>BROKER OF WHOS PLATA</a:t>
            </a:r>
            <a:endParaRPr lang="en-US" sz="2800" b="1" dirty="0">
              <a:solidFill>
                <a:srgbClr val="007AC2"/>
              </a:solidFill>
              <a:cs typeface="Avenir LT Std 85 Heavy"/>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err="1"/>
              <a:t>Plata</a:t>
            </a:r>
            <a:r>
              <a:rPr lang="it-IT" dirty="0"/>
              <a:t> Broker </a:t>
            </a:r>
            <a:r>
              <a:rPr lang="it-IT" dirty="0" err="1"/>
              <a:t>Configuration</a:t>
            </a:r>
            <a:r>
              <a:rPr lang="it-IT" dirty="0"/>
              <a:t> at INMET</a:t>
            </a:r>
          </a:p>
        </p:txBody>
      </p:sp>
      <p:sp>
        <p:nvSpPr>
          <p:cNvPr id="4" name="Rettangolo arrotondato 3"/>
          <p:cNvSpPr/>
          <p:nvPr/>
        </p:nvSpPr>
        <p:spPr>
          <a:xfrm>
            <a:off x="2311494" y="5555545"/>
            <a:ext cx="1355079" cy="6499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a:t>GI-suite</a:t>
            </a:r>
          </a:p>
        </p:txBody>
      </p:sp>
      <p:sp>
        <p:nvSpPr>
          <p:cNvPr id="5" name="Segnaposto contenuto 2"/>
          <p:cNvSpPr>
            <a:spLocks noGrp="1"/>
          </p:cNvSpPr>
          <p:nvPr>
            <p:ph idx="1"/>
          </p:nvPr>
        </p:nvSpPr>
        <p:spPr>
          <a:xfrm>
            <a:off x="457199" y="1600200"/>
            <a:ext cx="8566299" cy="754775"/>
          </a:xfrm>
        </p:spPr>
        <p:txBody>
          <a:bodyPr/>
          <a:lstStyle/>
          <a:p>
            <a:r>
              <a:rPr lang="en-US" dirty="0"/>
              <a:t>Public DNS</a:t>
            </a:r>
          </a:p>
        </p:txBody>
      </p:sp>
      <p:pic>
        <p:nvPicPr>
          <p:cNvPr id="6" name="Immagine 5"/>
          <p:cNvPicPr>
            <a:picLocks noChangeAspect="1"/>
          </p:cNvPicPr>
          <p:nvPr/>
        </p:nvPicPr>
        <p:blipFill>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backgroundRemoval t="7218" b="92257" l="9988" r="89888">
                        <a14:foregroundMark x1="68165" y1="41339" x2="68165" y2="41339"/>
                        <a14:foregroundMark x1="43321" y1="40945" x2="43321" y2="40945"/>
                      </a14:backgroundRemoval>
                    </a14:imgEffect>
                  </a14:imgLayer>
                </a14:imgProps>
              </a:ext>
              <a:ext uri="{28A0092B-C50C-407E-A947-70E740481C1C}">
                <a14:useLocalDpi xmlns:a14="http://schemas.microsoft.com/office/drawing/2010/main"/>
              </a:ext>
            </a:extLst>
          </a:blip>
          <a:stretch>
            <a:fillRect/>
          </a:stretch>
        </p:blipFill>
        <p:spPr>
          <a:xfrm>
            <a:off x="2737203" y="4819246"/>
            <a:ext cx="503659" cy="479136"/>
          </a:xfrm>
          <a:prstGeom prst="rect">
            <a:avLst/>
          </a:prstGeom>
        </p:spPr>
      </p:pic>
      <p:cxnSp>
        <p:nvCxnSpPr>
          <p:cNvPr id="7" name="Connettore 1 6"/>
          <p:cNvCxnSpPr>
            <a:stCxn id="4" idx="0"/>
            <a:endCxn id="6" idx="2"/>
          </p:cNvCxnSpPr>
          <p:nvPr/>
        </p:nvCxnSpPr>
        <p:spPr>
          <a:xfrm flipH="1" flipV="1">
            <a:off x="2989033" y="5298382"/>
            <a:ext cx="1" cy="257163"/>
          </a:xfrm>
          <a:prstGeom prst="line">
            <a:avLst/>
          </a:prstGeom>
          <a:ln>
            <a:solidFill>
              <a:srgbClr val="0070C0"/>
            </a:solidFill>
          </a:ln>
          <a:effectLst/>
        </p:spPr>
        <p:style>
          <a:lnRef idx="2">
            <a:schemeClr val="accent1"/>
          </a:lnRef>
          <a:fillRef idx="0">
            <a:schemeClr val="accent1"/>
          </a:fillRef>
          <a:effectRef idx="1">
            <a:schemeClr val="accent1"/>
          </a:effectRef>
          <a:fontRef idx="minor">
            <a:schemeClr val="tx1"/>
          </a:fontRef>
        </p:style>
      </p:cxnSp>
      <p:sp>
        <p:nvSpPr>
          <p:cNvPr id="8" name="CasellaDiTesto 7"/>
          <p:cNvSpPr txBox="1"/>
          <p:nvPr/>
        </p:nvSpPr>
        <p:spPr>
          <a:xfrm>
            <a:off x="1951013" y="4704128"/>
            <a:ext cx="851515" cy="276999"/>
          </a:xfrm>
          <a:prstGeom prst="rect">
            <a:avLst/>
          </a:prstGeom>
          <a:noFill/>
        </p:spPr>
        <p:txBody>
          <a:bodyPr wrap="none" rtlCol="0">
            <a:spAutoFit/>
          </a:bodyPr>
          <a:lstStyle/>
          <a:p>
            <a:r>
              <a:rPr lang="it-IT" sz="1200" b="1" i="1" dirty="0"/>
              <a:t>IP </a:t>
            </a:r>
            <a:r>
              <a:rPr lang="it-IT" sz="1200" b="1" i="1" dirty="0" err="1"/>
              <a:t>Address</a:t>
            </a:r>
            <a:endParaRPr lang="it-IT" sz="1200" b="1" i="1" dirty="0"/>
          </a:p>
        </p:txBody>
      </p:sp>
      <p:sp>
        <p:nvSpPr>
          <p:cNvPr id="12" name="Rettangolo arrotondato 11"/>
          <p:cNvSpPr/>
          <p:nvPr/>
        </p:nvSpPr>
        <p:spPr>
          <a:xfrm>
            <a:off x="456730" y="2579661"/>
            <a:ext cx="2070365" cy="34024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a:t>broker.hisplata.org</a:t>
            </a:r>
            <a:endParaRPr lang="it-IT" dirty="0"/>
          </a:p>
        </p:txBody>
      </p:sp>
      <p:sp>
        <p:nvSpPr>
          <p:cNvPr id="13" name="Figura a mano libera 12"/>
          <p:cNvSpPr/>
          <p:nvPr/>
        </p:nvSpPr>
        <p:spPr>
          <a:xfrm rot="16745513" flipH="1">
            <a:off x="768476" y="3013349"/>
            <a:ext cx="440139" cy="494541"/>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none" w="med" len="med"/>
            <a:tailEnd type="triangl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15" name="Ovale 14"/>
          <p:cNvSpPr/>
          <p:nvPr/>
        </p:nvSpPr>
        <p:spPr>
          <a:xfrm>
            <a:off x="1298264" y="3112034"/>
            <a:ext cx="1438939" cy="740860"/>
          </a:xfrm>
          <a:prstGeom prst="ellipse">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it-IT" dirty="0"/>
              <a:t>Routing Service</a:t>
            </a:r>
          </a:p>
        </p:txBody>
      </p:sp>
      <p:sp>
        <p:nvSpPr>
          <p:cNvPr id="16" name="Segnaposto contenuto 2"/>
          <p:cNvSpPr txBox="1">
            <a:spLocks/>
          </p:cNvSpPr>
          <p:nvPr/>
        </p:nvSpPr>
        <p:spPr>
          <a:xfrm>
            <a:off x="5752212" y="1600200"/>
            <a:ext cx="2583713" cy="75477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err="1"/>
              <a:t>Clusterizing</a:t>
            </a:r>
            <a:endParaRPr lang="en-US" dirty="0"/>
          </a:p>
        </p:txBody>
      </p:sp>
      <p:sp>
        <p:nvSpPr>
          <p:cNvPr id="20" name="Rettangolo arrotondato 19"/>
          <p:cNvSpPr/>
          <p:nvPr/>
        </p:nvSpPr>
        <p:spPr>
          <a:xfrm>
            <a:off x="3918401" y="5555545"/>
            <a:ext cx="1355079" cy="6499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a:t>GI-suite</a:t>
            </a:r>
          </a:p>
        </p:txBody>
      </p:sp>
      <p:pic>
        <p:nvPicPr>
          <p:cNvPr id="21" name="Immagine 20"/>
          <p:cNvPicPr>
            <a:picLocks noChangeAspect="1"/>
          </p:cNvPicPr>
          <p:nvPr/>
        </p:nvPicPr>
        <p:blipFill>
          <a:blip r:embed="rId2" cstate="email">
            <a:duotone>
              <a:schemeClr val="accent1">
                <a:shade val="45000"/>
                <a:satMod val="135000"/>
              </a:schemeClr>
              <a:prstClr val="white"/>
            </a:duotone>
            <a:extLst>
              <a:ext uri="{BEBA8EAE-BF5A-486C-A8C5-ECC9F3942E4B}">
                <a14:imgProps xmlns:a14="http://schemas.microsoft.com/office/drawing/2010/main">
                  <a14:imgLayer r:embed="rId4">
                    <a14:imgEffect>
                      <a14:backgroundRemoval t="7218" b="92257" l="9988" r="89888">
                        <a14:foregroundMark x1="68165" y1="41339" x2="68165" y2="41339"/>
                        <a14:foregroundMark x1="43321" y1="40945" x2="43321" y2="40945"/>
                      </a14:backgroundRemoval>
                    </a14:imgEffect>
                  </a14:imgLayer>
                </a14:imgProps>
              </a:ext>
              <a:ext uri="{28A0092B-C50C-407E-A947-70E740481C1C}">
                <a14:useLocalDpi xmlns:a14="http://schemas.microsoft.com/office/drawing/2010/main"/>
              </a:ext>
            </a:extLst>
          </a:blip>
          <a:stretch>
            <a:fillRect/>
          </a:stretch>
        </p:blipFill>
        <p:spPr>
          <a:xfrm>
            <a:off x="4344110" y="4819246"/>
            <a:ext cx="503659" cy="479136"/>
          </a:xfrm>
          <a:prstGeom prst="rect">
            <a:avLst/>
          </a:prstGeom>
        </p:spPr>
      </p:pic>
      <p:cxnSp>
        <p:nvCxnSpPr>
          <p:cNvPr id="22" name="Connettore 1 21"/>
          <p:cNvCxnSpPr>
            <a:stCxn id="22" idx="0"/>
          </p:cNvCxnSpPr>
          <p:nvPr/>
        </p:nvCxnSpPr>
        <p:spPr>
          <a:xfrm flipH="1" flipV="1">
            <a:off x="4595940" y="5298382"/>
            <a:ext cx="1" cy="257163"/>
          </a:xfrm>
          <a:prstGeom prst="line">
            <a:avLst/>
          </a:prstGeom>
          <a:ln>
            <a:solidFill>
              <a:srgbClr val="0070C0"/>
            </a:solidFill>
          </a:ln>
          <a:effectLst/>
        </p:spPr>
        <p:style>
          <a:lnRef idx="2">
            <a:schemeClr val="accent1"/>
          </a:lnRef>
          <a:fillRef idx="0">
            <a:schemeClr val="accent1"/>
          </a:fillRef>
          <a:effectRef idx="1">
            <a:schemeClr val="accent1"/>
          </a:effectRef>
          <a:fontRef idx="minor">
            <a:schemeClr val="tx1"/>
          </a:fontRef>
        </p:style>
      </p:cxnSp>
      <p:sp>
        <p:nvSpPr>
          <p:cNvPr id="23" name="CasellaDiTesto 22"/>
          <p:cNvSpPr txBox="1"/>
          <p:nvPr/>
        </p:nvSpPr>
        <p:spPr>
          <a:xfrm>
            <a:off x="3557920" y="4704128"/>
            <a:ext cx="851515" cy="276999"/>
          </a:xfrm>
          <a:prstGeom prst="rect">
            <a:avLst/>
          </a:prstGeom>
          <a:noFill/>
        </p:spPr>
        <p:txBody>
          <a:bodyPr wrap="none" rtlCol="0">
            <a:spAutoFit/>
          </a:bodyPr>
          <a:lstStyle/>
          <a:p>
            <a:r>
              <a:rPr lang="it-IT" sz="1200" b="1" i="1" dirty="0"/>
              <a:t>IP </a:t>
            </a:r>
            <a:r>
              <a:rPr lang="it-IT" sz="1200" b="1" i="1" dirty="0" err="1"/>
              <a:t>Address</a:t>
            </a:r>
            <a:endParaRPr lang="it-IT" sz="1200" b="1" i="1" dirty="0"/>
          </a:p>
        </p:txBody>
      </p:sp>
      <p:sp>
        <p:nvSpPr>
          <p:cNvPr id="24" name="Rettangolo arrotondato 23"/>
          <p:cNvSpPr/>
          <p:nvPr/>
        </p:nvSpPr>
        <p:spPr>
          <a:xfrm>
            <a:off x="6454675" y="5555545"/>
            <a:ext cx="1355079" cy="6499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a:t>GI-suite</a:t>
            </a:r>
          </a:p>
        </p:txBody>
      </p:sp>
      <p:pic>
        <p:nvPicPr>
          <p:cNvPr id="25" name="Immagine 24"/>
          <p:cNvPicPr>
            <a:picLocks noChangeAspect="1"/>
          </p:cNvPicPr>
          <p:nvPr/>
        </p:nvPicPr>
        <p:blipFill>
          <a:blip r:embed="rId2" cstate="email">
            <a:duotone>
              <a:schemeClr val="accent1">
                <a:shade val="45000"/>
                <a:satMod val="135000"/>
              </a:schemeClr>
              <a:prstClr val="white"/>
            </a:duotone>
            <a:extLst>
              <a:ext uri="{BEBA8EAE-BF5A-486C-A8C5-ECC9F3942E4B}">
                <a14:imgProps xmlns:a14="http://schemas.microsoft.com/office/drawing/2010/main">
                  <a14:imgLayer r:embed="rId5">
                    <a14:imgEffect>
                      <a14:backgroundRemoval t="7218" b="92257" l="9988" r="89888">
                        <a14:foregroundMark x1="68165" y1="41339" x2="68165" y2="41339"/>
                        <a14:foregroundMark x1="43321" y1="40945" x2="43321" y2="40945"/>
                      </a14:backgroundRemoval>
                    </a14:imgEffect>
                  </a14:imgLayer>
                </a14:imgProps>
              </a:ext>
              <a:ext uri="{28A0092B-C50C-407E-A947-70E740481C1C}">
                <a14:useLocalDpi xmlns:a14="http://schemas.microsoft.com/office/drawing/2010/main"/>
              </a:ext>
            </a:extLst>
          </a:blip>
          <a:stretch>
            <a:fillRect/>
          </a:stretch>
        </p:blipFill>
        <p:spPr>
          <a:xfrm>
            <a:off x="6880384" y="4819246"/>
            <a:ext cx="503659" cy="479136"/>
          </a:xfrm>
          <a:prstGeom prst="rect">
            <a:avLst/>
          </a:prstGeom>
        </p:spPr>
      </p:pic>
      <p:cxnSp>
        <p:nvCxnSpPr>
          <p:cNvPr id="26" name="Connettore 1 25"/>
          <p:cNvCxnSpPr/>
          <p:nvPr/>
        </p:nvCxnSpPr>
        <p:spPr>
          <a:xfrm flipH="1" flipV="1">
            <a:off x="7132214" y="5298382"/>
            <a:ext cx="1" cy="257163"/>
          </a:xfrm>
          <a:prstGeom prst="line">
            <a:avLst/>
          </a:prstGeom>
          <a:ln>
            <a:solidFill>
              <a:srgbClr val="0070C0"/>
            </a:solidFill>
          </a:ln>
          <a:effectLst/>
        </p:spPr>
        <p:style>
          <a:lnRef idx="2">
            <a:schemeClr val="accent1"/>
          </a:lnRef>
          <a:fillRef idx="0">
            <a:schemeClr val="accent1"/>
          </a:fillRef>
          <a:effectRef idx="1">
            <a:schemeClr val="accent1"/>
          </a:effectRef>
          <a:fontRef idx="minor">
            <a:schemeClr val="tx1"/>
          </a:fontRef>
        </p:style>
      </p:cxnSp>
      <p:sp>
        <p:nvSpPr>
          <p:cNvPr id="27" name="CasellaDiTesto 26"/>
          <p:cNvSpPr txBox="1"/>
          <p:nvPr/>
        </p:nvSpPr>
        <p:spPr>
          <a:xfrm>
            <a:off x="6094194" y="4704128"/>
            <a:ext cx="851515" cy="276999"/>
          </a:xfrm>
          <a:prstGeom prst="rect">
            <a:avLst/>
          </a:prstGeom>
          <a:noFill/>
        </p:spPr>
        <p:txBody>
          <a:bodyPr wrap="none" rtlCol="0">
            <a:spAutoFit/>
          </a:bodyPr>
          <a:lstStyle/>
          <a:p>
            <a:r>
              <a:rPr lang="it-IT" sz="1200" b="1" i="1" dirty="0"/>
              <a:t>IP </a:t>
            </a:r>
            <a:r>
              <a:rPr lang="it-IT" sz="1200" b="1" i="1" dirty="0" err="1"/>
              <a:t>Address</a:t>
            </a:r>
            <a:endParaRPr lang="it-IT" sz="1200" b="1" i="1" dirty="0"/>
          </a:p>
        </p:txBody>
      </p:sp>
      <p:cxnSp>
        <p:nvCxnSpPr>
          <p:cNvPr id="29" name="Connettore 1 28"/>
          <p:cNvCxnSpPr/>
          <p:nvPr/>
        </p:nvCxnSpPr>
        <p:spPr>
          <a:xfrm>
            <a:off x="5557284" y="5911702"/>
            <a:ext cx="536910" cy="0"/>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Ovale 30"/>
          <p:cNvSpPr/>
          <p:nvPr/>
        </p:nvSpPr>
        <p:spPr>
          <a:xfrm>
            <a:off x="3918401" y="3112034"/>
            <a:ext cx="2367517" cy="740860"/>
          </a:xfrm>
          <a:prstGeom prst="ellipse">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it-IT" dirty="0" err="1"/>
              <a:t>Load</a:t>
            </a:r>
            <a:r>
              <a:rPr lang="it-IT" dirty="0"/>
              <a:t> </a:t>
            </a:r>
            <a:r>
              <a:rPr lang="it-IT" dirty="0" err="1"/>
              <a:t>Balancing</a:t>
            </a:r>
            <a:r>
              <a:rPr lang="it-IT" dirty="0"/>
              <a:t> Service</a:t>
            </a:r>
          </a:p>
        </p:txBody>
      </p:sp>
      <p:sp>
        <p:nvSpPr>
          <p:cNvPr id="32" name="Figura a mano libera 31"/>
          <p:cNvSpPr/>
          <p:nvPr/>
        </p:nvSpPr>
        <p:spPr>
          <a:xfrm rot="5964587" flipH="1">
            <a:off x="2306931" y="3958940"/>
            <a:ext cx="807168" cy="698400"/>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33" name="Parentesi graffa chiusa 32"/>
          <p:cNvSpPr/>
          <p:nvPr/>
        </p:nvSpPr>
        <p:spPr>
          <a:xfrm rot="16200000">
            <a:off x="5434378" y="2498941"/>
            <a:ext cx="443847" cy="4196760"/>
          </a:xfrm>
          <a:prstGeom prst="rightBrace">
            <a:avLst>
              <a:gd name="adj1" fmla="val 54487"/>
              <a:gd name="adj2" fmla="val 50000"/>
            </a:avLst>
          </a:prstGeom>
          <a:ln>
            <a:solidFill>
              <a:srgbClr val="C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34" name="Rettangolo arrotondato 33"/>
          <p:cNvSpPr/>
          <p:nvPr/>
        </p:nvSpPr>
        <p:spPr>
          <a:xfrm>
            <a:off x="3678424" y="3911881"/>
            <a:ext cx="3955754" cy="36393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it-IT" dirty="0" err="1"/>
              <a:t>Unreachable</a:t>
            </a:r>
            <a:r>
              <a:rPr lang="it-IT" dirty="0"/>
              <a:t> from DNS</a:t>
            </a:r>
          </a:p>
        </p:txBody>
      </p:sp>
      <p:sp>
        <p:nvSpPr>
          <p:cNvPr id="35" name="Figura a mano libera 34"/>
          <p:cNvSpPr/>
          <p:nvPr/>
        </p:nvSpPr>
        <p:spPr>
          <a:xfrm rot="2847182" flipH="1">
            <a:off x="2973100" y="3049974"/>
            <a:ext cx="712401" cy="776172"/>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37" name="Figura a mano libera 36"/>
          <p:cNvSpPr/>
          <p:nvPr/>
        </p:nvSpPr>
        <p:spPr>
          <a:xfrm rot="2847182" flipH="1">
            <a:off x="5498606" y="4045381"/>
            <a:ext cx="1692281" cy="584504"/>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38" name="Figura a mano libera 37"/>
          <p:cNvSpPr/>
          <p:nvPr/>
        </p:nvSpPr>
        <p:spPr>
          <a:xfrm rot="2847182" flipH="1" flipV="1">
            <a:off x="4772130" y="3820386"/>
            <a:ext cx="230853" cy="1090353"/>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sp>
        <p:nvSpPr>
          <p:cNvPr id="39" name="Figura a mano libera 38"/>
          <p:cNvSpPr/>
          <p:nvPr/>
        </p:nvSpPr>
        <p:spPr>
          <a:xfrm rot="2847182" flipV="1">
            <a:off x="3607910" y="3369358"/>
            <a:ext cx="604062" cy="1957235"/>
          </a:xfrm>
          <a:custGeom>
            <a:avLst/>
            <a:gdLst>
              <a:gd name="connsiteX0" fmla="*/ 0 w 601942"/>
              <a:gd name="connsiteY0" fmla="*/ 0 h 477877"/>
              <a:gd name="connsiteX1" fmla="*/ 335434 w 601942"/>
              <a:gd name="connsiteY1" fmla="*/ 192989 h 477877"/>
              <a:gd name="connsiteX2" fmla="*/ 601942 w 601942"/>
              <a:gd name="connsiteY2" fmla="*/ 477877 h 477877"/>
              <a:gd name="connsiteX3" fmla="*/ 601942 w 601942"/>
              <a:gd name="connsiteY3" fmla="*/ 477877 h 477877"/>
            </a:gdLst>
            <a:ahLst/>
            <a:cxnLst>
              <a:cxn ang="0">
                <a:pos x="connsiteX0" y="connsiteY0"/>
              </a:cxn>
              <a:cxn ang="0">
                <a:pos x="connsiteX1" y="connsiteY1"/>
              </a:cxn>
              <a:cxn ang="0">
                <a:pos x="connsiteX2" y="connsiteY2"/>
              </a:cxn>
              <a:cxn ang="0">
                <a:pos x="connsiteX3" y="connsiteY3"/>
              </a:cxn>
            </a:cxnLst>
            <a:rect l="l" t="t" r="r" b="b"/>
            <a:pathLst>
              <a:path w="601942" h="477877">
                <a:moveTo>
                  <a:pt x="0" y="0"/>
                </a:moveTo>
                <a:cubicBezTo>
                  <a:pt x="117555" y="56671"/>
                  <a:pt x="235110" y="113343"/>
                  <a:pt x="335434" y="192989"/>
                </a:cubicBezTo>
                <a:cubicBezTo>
                  <a:pt x="435758" y="272635"/>
                  <a:pt x="601942" y="477877"/>
                  <a:pt x="601942" y="477877"/>
                </a:cubicBezTo>
                <a:lnTo>
                  <a:pt x="601942" y="477877"/>
                </a:lnTo>
              </a:path>
            </a:pathLst>
          </a:custGeom>
          <a:noFill/>
          <a:ln w="38100" cap="flat" cmpd="sng" algn="ctr">
            <a:solidFill>
              <a:schemeClr val="bg1">
                <a:lumMod val="50000"/>
              </a:schemeClr>
            </a:solidFill>
            <a:prstDash val="sysDot"/>
            <a:headEnd type="triangle" w="med" len="med"/>
            <a:tailEnd type="none" w="med" len="med"/>
          </a:ln>
          <a:effectLst/>
        </p:spPr>
        <p:txBody>
          <a:bodyPr rtlCol="0" anchor="ctr"/>
          <a:lstStyle/>
          <a:p>
            <a:pPr algn="ctr" defTabSz="685800" fontAlgn="auto">
              <a:spcBef>
                <a:spcPts val="0"/>
              </a:spcBef>
              <a:spcAft>
                <a:spcPts val="0"/>
              </a:spcAft>
              <a:defRPr/>
            </a:pPr>
            <a:endParaRPr lang="en-US" sz="1350" kern="0">
              <a:solidFill>
                <a:prstClr val="black"/>
              </a:solidFill>
              <a:latin typeface="Calibri"/>
            </a:endParaRPr>
          </a:p>
        </p:txBody>
      </p:sp>
      <p:pic>
        <p:nvPicPr>
          <p:cNvPr id="40" name="Immagine 3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18384" y="4512225"/>
            <a:ext cx="720000" cy="720000"/>
          </a:xfrm>
          <a:prstGeom prst="rect">
            <a:avLst/>
          </a:prstGeom>
        </p:spPr>
      </p:pic>
      <p:sp>
        <p:nvSpPr>
          <p:cNvPr id="41" name="Freccia giù 40"/>
          <p:cNvSpPr/>
          <p:nvPr/>
        </p:nvSpPr>
        <p:spPr>
          <a:xfrm rot="10800000">
            <a:off x="1038384" y="4512225"/>
            <a:ext cx="427340" cy="480670"/>
          </a:xfrm>
          <a:prstGeom prst="downArrow">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it-IT"/>
          </a:p>
        </p:txBody>
      </p:sp>
      <p:sp>
        <p:nvSpPr>
          <p:cNvPr id="43" name="Ovale 42"/>
          <p:cNvSpPr/>
          <p:nvPr/>
        </p:nvSpPr>
        <p:spPr>
          <a:xfrm>
            <a:off x="6576946" y="3112034"/>
            <a:ext cx="1758979" cy="740860"/>
          </a:xfrm>
          <a:prstGeom prst="ellipse">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it-IT" dirty="0" err="1"/>
              <a:t>Monitoring</a:t>
            </a:r>
            <a:r>
              <a:rPr lang="it-IT" dirty="0"/>
              <a:t> Service</a:t>
            </a:r>
          </a:p>
        </p:txBody>
      </p:sp>
      <p:cxnSp>
        <p:nvCxnSpPr>
          <p:cNvPr id="44" name="Connettore 1 43"/>
          <p:cNvCxnSpPr>
            <a:stCxn id="31" idx="6"/>
            <a:endCxn id="43" idx="2"/>
          </p:cNvCxnSpPr>
          <p:nvPr/>
        </p:nvCxnSpPr>
        <p:spPr>
          <a:xfrm>
            <a:off x="6285918" y="3482464"/>
            <a:ext cx="291028" cy="0"/>
          </a:xfrm>
          <a:prstGeom prst="line">
            <a:avLst/>
          </a:prstGeom>
          <a:ln>
            <a:solidFill>
              <a:srgbClr val="F89645"/>
            </a:solidFill>
          </a:ln>
          <a:effectLst/>
        </p:spPr>
        <p:style>
          <a:lnRef idx="2">
            <a:schemeClr val="accent1"/>
          </a:lnRef>
          <a:fillRef idx="0">
            <a:schemeClr val="accent1"/>
          </a:fillRef>
          <a:effectRef idx="1">
            <a:schemeClr val="accent1"/>
          </a:effectRef>
          <a:fontRef idx="minor">
            <a:schemeClr val="tx1"/>
          </a:fontRef>
        </p:style>
      </p:cxnSp>
      <p:sp>
        <p:nvSpPr>
          <p:cNvPr id="48" name="Fumetto 2 47"/>
          <p:cNvSpPr/>
          <p:nvPr/>
        </p:nvSpPr>
        <p:spPr>
          <a:xfrm>
            <a:off x="1767630" y="1229314"/>
            <a:ext cx="2828260" cy="1155405"/>
          </a:xfrm>
          <a:prstGeom prst="wedgeRoundRectCallout">
            <a:avLst>
              <a:gd name="adj1" fmla="val 34637"/>
              <a:gd name="adj2" fmla="val 11771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err="1"/>
              <a:t>Distributes</a:t>
            </a:r>
            <a:r>
              <a:rPr lang="it-IT" dirty="0"/>
              <a:t> </a:t>
            </a:r>
            <a:r>
              <a:rPr lang="it-IT" dirty="0" err="1"/>
              <a:t>incoming</a:t>
            </a:r>
            <a:r>
              <a:rPr lang="it-IT" dirty="0"/>
              <a:t> </a:t>
            </a:r>
            <a:r>
              <a:rPr lang="it-IT" dirty="0" err="1"/>
              <a:t>requests</a:t>
            </a:r>
            <a:r>
              <a:rPr lang="it-IT" dirty="0"/>
              <a:t> to the </a:t>
            </a:r>
            <a:r>
              <a:rPr lang="it-IT" dirty="0" err="1"/>
              <a:t>node</a:t>
            </a:r>
            <a:r>
              <a:rPr lang="it-IT" dirty="0"/>
              <a:t> with the </a:t>
            </a:r>
            <a:r>
              <a:rPr lang="it-IT" dirty="0" err="1"/>
              <a:t>lightest</a:t>
            </a:r>
            <a:r>
              <a:rPr lang="it-IT" dirty="0"/>
              <a:t> </a:t>
            </a:r>
            <a:r>
              <a:rPr lang="it-IT" dirty="0" err="1"/>
              <a:t>workload</a:t>
            </a:r>
            <a:endParaRPr lang="it-IT" dirty="0"/>
          </a:p>
        </p:txBody>
      </p:sp>
      <p:sp>
        <p:nvSpPr>
          <p:cNvPr id="49" name="Fumetto 2 48"/>
          <p:cNvSpPr/>
          <p:nvPr/>
        </p:nvSpPr>
        <p:spPr>
          <a:xfrm>
            <a:off x="4717316" y="1234689"/>
            <a:ext cx="2123946" cy="731020"/>
          </a:xfrm>
          <a:prstGeom prst="wedgeRoundRectCallout">
            <a:avLst>
              <a:gd name="adj1" fmla="val 43429"/>
              <a:gd name="adj2" fmla="val 22134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err="1"/>
              <a:t>Periodically</a:t>
            </a:r>
            <a:r>
              <a:rPr lang="it-IT" dirty="0"/>
              <a:t> </a:t>
            </a:r>
            <a:r>
              <a:rPr lang="it-IT" dirty="0" err="1"/>
              <a:t>checks</a:t>
            </a:r>
            <a:r>
              <a:rPr lang="it-IT" dirty="0"/>
              <a:t> </a:t>
            </a:r>
            <a:r>
              <a:rPr lang="it-IT" dirty="0" err="1"/>
              <a:t>health</a:t>
            </a:r>
            <a:r>
              <a:rPr lang="it-IT" dirty="0"/>
              <a:t> of </a:t>
            </a:r>
            <a:r>
              <a:rPr lang="it-IT" dirty="0" err="1"/>
              <a:t>each</a:t>
            </a:r>
            <a:r>
              <a:rPr lang="it-IT" dirty="0"/>
              <a:t> </a:t>
            </a:r>
            <a:r>
              <a:rPr lang="it-IT" dirty="0" err="1"/>
              <a:t>node</a:t>
            </a:r>
            <a:endParaRPr lang="it-IT" dirty="0"/>
          </a:p>
        </p:txBody>
      </p:sp>
      <p:sp>
        <p:nvSpPr>
          <p:cNvPr id="50" name="Fumetto 2 49"/>
          <p:cNvSpPr/>
          <p:nvPr/>
        </p:nvSpPr>
        <p:spPr>
          <a:xfrm>
            <a:off x="7023779" y="1230752"/>
            <a:ext cx="2027275" cy="1124223"/>
          </a:xfrm>
          <a:prstGeom prst="wedgeRoundRectCallout">
            <a:avLst>
              <a:gd name="adj1" fmla="val -26752"/>
              <a:gd name="adj2" fmla="val 11062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err="1"/>
              <a:t>When</a:t>
            </a:r>
            <a:r>
              <a:rPr lang="it-IT" dirty="0"/>
              <a:t> a </a:t>
            </a:r>
            <a:r>
              <a:rPr lang="it-IT" dirty="0" err="1"/>
              <a:t>node</a:t>
            </a:r>
            <a:r>
              <a:rPr lang="it-IT" dirty="0"/>
              <a:t> </a:t>
            </a:r>
            <a:r>
              <a:rPr lang="it-IT" dirty="0" err="1"/>
              <a:t>is</a:t>
            </a:r>
            <a:r>
              <a:rPr lang="it-IT" dirty="0"/>
              <a:t> </a:t>
            </a:r>
            <a:r>
              <a:rPr lang="it-IT" dirty="0" err="1"/>
              <a:t>found</a:t>
            </a:r>
            <a:r>
              <a:rPr lang="it-IT" dirty="0"/>
              <a:t> </a:t>
            </a:r>
            <a:r>
              <a:rPr lang="it-IT" dirty="0" err="1"/>
              <a:t>unhealthy</a:t>
            </a:r>
            <a:r>
              <a:rPr lang="it-IT" dirty="0"/>
              <a:t>, </a:t>
            </a:r>
            <a:r>
              <a:rPr lang="it-IT" dirty="0" err="1"/>
              <a:t>it</a:t>
            </a:r>
            <a:r>
              <a:rPr lang="it-IT" dirty="0"/>
              <a:t> </a:t>
            </a:r>
            <a:r>
              <a:rPr lang="it-IT" dirty="0" err="1"/>
              <a:t>removed</a:t>
            </a:r>
            <a:r>
              <a:rPr lang="it-IT" dirty="0"/>
              <a:t> from </a:t>
            </a:r>
            <a:r>
              <a:rPr lang="it-IT" dirty="0" err="1"/>
              <a:t>load</a:t>
            </a:r>
            <a:r>
              <a:rPr lang="it-IT" dirty="0"/>
              <a:t> </a:t>
            </a:r>
            <a:r>
              <a:rPr lang="it-IT" dirty="0" err="1"/>
              <a:t>balancer</a:t>
            </a:r>
            <a:endParaRPr lang="it-IT" dirty="0"/>
          </a:p>
        </p:txBody>
      </p:sp>
      <p:pic>
        <p:nvPicPr>
          <p:cNvPr id="51" name="Immagine 5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50963" y="4093846"/>
            <a:ext cx="2582188" cy="2582188"/>
          </a:xfrm>
          <a:prstGeom prst="rect">
            <a:avLst/>
          </a:prstGeom>
        </p:spPr>
      </p:pic>
      <p:sp>
        <p:nvSpPr>
          <p:cNvPr id="52" name="Freccia giù 51"/>
          <p:cNvSpPr/>
          <p:nvPr/>
        </p:nvSpPr>
        <p:spPr>
          <a:xfrm rot="10800000">
            <a:off x="1037027" y="5485472"/>
            <a:ext cx="427340" cy="480670"/>
          </a:xfrm>
          <a:prstGeom prst="downArrow">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it-IT"/>
          </a:p>
        </p:txBody>
      </p:sp>
      <p:pic>
        <p:nvPicPr>
          <p:cNvPr id="53" name="Immagine 52"/>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7027" y="5485472"/>
            <a:ext cx="720000" cy="720000"/>
          </a:xfrm>
          <a:prstGeom prst="rect">
            <a:avLst/>
          </a:prstGeom>
        </p:spPr>
      </p:pic>
      <p:sp>
        <p:nvSpPr>
          <p:cNvPr id="54" name="Freccia giù 53"/>
          <p:cNvSpPr/>
          <p:nvPr/>
        </p:nvSpPr>
        <p:spPr>
          <a:xfrm rot="10800000">
            <a:off x="1460136" y="4523051"/>
            <a:ext cx="427340" cy="480670"/>
          </a:xfrm>
          <a:prstGeom prst="downArrow">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2868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childTnLst>
                                </p:cTn>
                              </p:par>
                              <p:par>
                                <p:cTn id="15" presetID="23" presetClass="entr" presetSubtype="16"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childTnLst>
                                </p:cTn>
                              </p:par>
                              <p:par>
                                <p:cTn id="19" presetID="23" presetClass="entr" presetSubtype="16"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p:cTn id="25" dur="500" fill="hold"/>
                                        <p:tgtEl>
                                          <p:spTgt spid="23"/>
                                        </p:tgtEl>
                                        <p:attrNameLst>
                                          <p:attrName>ppt_w</p:attrName>
                                        </p:attrNameLst>
                                      </p:cBhvr>
                                      <p:tavLst>
                                        <p:tav tm="0">
                                          <p:val>
                                            <p:fltVal val="0"/>
                                          </p:val>
                                        </p:tav>
                                        <p:tav tm="100000">
                                          <p:val>
                                            <p:strVal val="#ppt_w"/>
                                          </p:val>
                                        </p:tav>
                                      </p:tavLst>
                                    </p:anim>
                                    <p:anim calcmode="lin" valueType="num">
                                      <p:cBhvr>
                                        <p:cTn id="26" dur="500" fill="hold"/>
                                        <p:tgtEl>
                                          <p:spTgt spid="23"/>
                                        </p:tgtEl>
                                        <p:attrNameLst>
                                          <p:attrName>ppt_h</p:attrName>
                                        </p:attrNameLst>
                                      </p:cBhvr>
                                      <p:tavLst>
                                        <p:tav tm="0">
                                          <p:val>
                                            <p:fltVal val="0"/>
                                          </p:val>
                                        </p:tav>
                                        <p:tav tm="100000">
                                          <p:val>
                                            <p:strVal val="#ppt_h"/>
                                          </p:val>
                                        </p:tav>
                                      </p:tavLst>
                                    </p:anim>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childTnLst>
                          </p:cTn>
                        </p:par>
                        <p:par>
                          <p:cTn id="31" fill="hold">
                            <p:stCondLst>
                              <p:cond delay="1000"/>
                            </p:stCondLst>
                            <p:childTnLst>
                              <p:par>
                                <p:cTn id="32" presetID="23" presetClass="entr" presetSubtype="16"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p:cTn id="34" dur="500" fill="hold"/>
                                        <p:tgtEl>
                                          <p:spTgt spid="24"/>
                                        </p:tgtEl>
                                        <p:attrNameLst>
                                          <p:attrName>ppt_w</p:attrName>
                                        </p:attrNameLst>
                                      </p:cBhvr>
                                      <p:tavLst>
                                        <p:tav tm="0">
                                          <p:val>
                                            <p:fltVal val="0"/>
                                          </p:val>
                                        </p:tav>
                                        <p:tav tm="100000">
                                          <p:val>
                                            <p:strVal val="#ppt_w"/>
                                          </p:val>
                                        </p:tav>
                                      </p:tavLst>
                                    </p:anim>
                                    <p:anim calcmode="lin" valueType="num">
                                      <p:cBhvr>
                                        <p:cTn id="35" dur="500" fill="hold"/>
                                        <p:tgtEl>
                                          <p:spTgt spid="24"/>
                                        </p:tgtEl>
                                        <p:attrNameLst>
                                          <p:attrName>ppt_h</p:attrName>
                                        </p:attrNameLst>
                                      </p:cBhvr>
                                      <p:tavLst>
                                        <p:tav tm="0">
                                          <p:val>
                                            <p:fltVal val="0"/>
                                          </p:val>
                                        </p:tav>
                                        <p:tav tm="100000">
                                          <p:val>
                                            <p:strVal val="#ppt_h"/>
                                          </p:val>
                                        </p:tav>
                                      </p:tavLst>
                                    </p:anim>
                                  </p:childTnLst>
                                </p:cTn>
                              </p:par>
                              <p:par>
                                <p:cTn id="36" presetID="23" presetClass="entr" presetSubtype="16"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p:cTn id="38" dur="500" fill="hold"/>
                                        <p:tgtEl>
                                          <p:spTgt spid="25"/>
                                        </p:tgtEl>
                                        <p:attrNameLst>
                                          <p:attrName>ppt_w</p:attrName>
                                        </p:attrNameLst>
                                      </p:cBhvr>
                                      <p:tavLst>
                                        <p:tav tm="0">
                                          <p:val>
                                            <p:fltVal val="0"/>
                                          </p:val>
                                        </p:tav>
                                        <p:tav tm="100000">
                                          <p:val>
                                            <p:strVal val="#ppt_w"/>
                                          </p:val>
                                        </p:tav>
                                      </p:tavLst>
                                    </p:anim>
                                    <p:anim calcmode="lin" valueType="num">
                                      <p:cBhvr>
                                        <p:cTn id="39" dur="500" fill="hold"/>
                                        <p:tgtEl>
                                          <p:spTgt spid="25"/>
                                        </p:tgtEl>
                                        <p:attrNameLst>
                                          <p:attrName>ppt_h</p:attrName>
                                        </p:attrNameLst>
                                      </p:cBhvr>
                                      <p:tavLst>
                                        <p:tav tm="0">
                                          <p:val>
                                            <p:fltVal val="0"/>
                                          </p:val>
                                        </p:tav>
                                        <p:tav tm="100000">
                                          <p:val>
                                            <p:strVal val="#ppt_h"/>
                                          </p:val>
                                        </p:tav>
                                      </p:tavLst>
                                    </p:anim>
                                  </p:childTnLst>
                                </p:cTn>
                              </p:par>
                              <p:par>
                                <p:cTn id="40" presetID="23" presetClass="entr" presetSubtype="16"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ppt_w</p:attrName>
                                        </p:attrNameLst>
                                      </p:cBhvr>
                                      <p:tavLst>
                                        <p:tav tm="0">
                                          <p:val>
                                            <p:fltVal val="0"/>
                                          </p:val>
                                        </p:tav>
                                        <p:tav tm="100000">
                                          <p:val>
                                            <p:strVal val="#ppt_w"/>
                                          </p:val>
                                        </p:tav>
                                      </p:tavLst>
                                    </p:anim>
                                    <p:anim calcmode="lin" valueType="num">
                                      <p:cBhvr>
                                        <p:cTn id="43" dur="500" fill="hold"/>
                                        <p:tgtEl>
                                          <p:spTgt spid="26"/>
                                        </p:tgtEl>
                                        <p:attrNameLst>
                                          <p:attrName>ppt_h</p:attrName>
                                        </p:attrNameLst>
                                      </p:cBhvr>
                                      <p:tavLst>
                                        <p:tav tm="0">
                                          <p:val>
                                            <p:fltVal val="0"/>
                                          </p:val>
                                        </p:tav>
                                        <p:tav tm="100000">
                                          <p:val>
                                            <p:strVal val="#ppt_h"/>
                                          </p:val>
                                        </p:tav>
                                      </p:tavLst>
                                    </p:anim>
                                  </p:childTnLst>
                                </p:cTn>
                              </p:par>
                              <p:par>
                                <p:cTn id="44" presetID="23" presetClass="entr" presetSubtype="16"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p:cTn id="52" dur="500" fill="hold"/>
                                        <p:tgtEl>
                                          <p:spTgt spid="33"/>
                                        </p:tgtEl>
                                        <p:attrNameLst>
                                          <p:attrName>ppt_w</p:attrName>
                                        </p:attrNameLst>
                                      </p:cBhvr>
                                      <p:tavLst>
                                        <p:tav tm="0">
                                          <p:val>
                                            <p:fltVal val="0"/>
                                          </p:val>
                                        </p:tav>
                                        <p:tav tm="100000">
                                          <p:val>
                                            <p:strVal val="#ppt_w"/>
                                          </p:val>
                                        </p:tav>
                                      </p:tavLst>
                                    </p:anim>
                                    <p:anim calcmode="lin" valueType="num">
                                      <p:cBhvr>
                                        <p:cTn id="53" dur="500" fill="hold"/>
                                        <p:tgtEl>
                                          <p:spTgt spid="33"/>
                                        </p:tgtEl>
                                        <p:attrNameLst>
                                          <p:attrName>ppt_h</p:attrName>
                                        </p:attrNameLst>
                                      </p:cBhvr>
                                      <p:tavLst>
                                        <p:tav tm="0">
                                          <p:val>
                                            <p:fltVal val="0"/>
                                          </p:val>
                                        </p:tav>
                                        <p:tav tm="100000">
                                          <p:val>
                                            <p:strVal val="#ppt_h"/>
                                          </p:val>
                                        </p:tav>
                                      </p:tavLst>
                                    </p:anim>
                                  </p:childTnLst>
                                </p:cTn>
                              </p:par>
                              <p:par>
                                <p:cTn id="54" presetID="23" presetClass="entr" presetSubtype="16"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 calcmode="lin" valueType="num">
                                      <p:cBhvr>
                                        <p:cTn id="56" dur="500" fill="hold"/>
                                        <p:tgtEl>
                                          <p:spTgt spid="34"/>
                                        </p:tgtEl>
                                        <p:attrNameLst>
                                          <p:attrName>ppt_w</p:attrName>
                                        </p:attrNameLst>
                                      </p:cBhvr>
                                      <p:tavLst>
                                        <p:tav tm="0">
                                          <p:val>
                                            <p:fltVal val="0"/>
                                          </p:val>
                                        </p:tav>
                                        <p:tav tm="100000">
                                          <p:val>
                                            <p:strVal val="#ppt_w"/>
                                          </p:val>
                                        </p:tav>
                                      </p:tavLst>
                                    </p:anim>
                                    <p:anim calcmode="lin" valueType="num">
                                      <p:cBhvr>
                                        <p:cTn id="57"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grpId="0" nodeType="clickEffect">
                                  <p:stCondLst>
                                    <p:cond delay="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childTnLst>
                                </p:cTn>
                              </p:par>
                            </p:childTnLst>
                          </p:cTn>
                        </p:par>
                        <p:par>
                          <p:cTn id="64" fill="hold">
                            <p:stCondLst>
                              <p:cond delay="500"/>
                            </p:stCondLst>
                            <p:childTnLst>
                              <p:par>
                                <p:cTn id="65" presetID="9" presetClass="exit" presetSubtype="0" fill="hold" grpId="0" nodeType="afterEffect">
                                  <p:stCondLst>
                                    <p:cond delay="0"/>
                                  </p:stCondLst>
                                  <p:childTnLst>
                                    <p:animEffect transition="out" filter="dissolve">
                                      <p:cBhvr>
                                        <p:cTn id="66" dur="500"/>
                                        <p:tgtEl>
                                          <p:spTgt spid="32"/>
                                        </p:tgtEl>
                                      </p:cBhvr>
                                    </p:animEffect>
                                    <p:set>
                                      <p:cBhvr>
                                        <p:cTn id="67" dur="1" fill="hold">
                                          <p:stCondLst>
                                            <p:cond delay="499"/>
                                          </p:stCondLst>
                                        </p:cTn>
                                        <p:tgtEl>
                                          <p:spTgt spid="32"/>
                                        </p:tgtEl>
                                        <p:attrNameLst>
                                          <p:attrName>style.visibility</p:attrName>
                                        </p:attrNameLst>
                                      </p:cBhvr>
                                      <p:to>
                                        <p:strVal val="hidden"/>
                                      </p:to>
                                    </p:set>
                                  </p:childTnLst>
                                </p:cTn>
                              </p:par>
                            </p:childTnLst>
                          </p:cTn>
                        </p:par>
                        <p:par>
                          <p:cTn id="68" fill="hold">
                            <p:stCondLst>
                              <p:cond delay="1000"/>
                            </p:stCondLst>
                            <p:childTnLst>
                              <p:par>
                                <p:cTn id="69" presetID="9" presetClass="exit" presetSubtype="0" fill="hold" grpId="1" nodeType="afterEffect">
                                  <p:stCondLst>
                                    <p:cond delay="0"/>
                                  </p:stCondLst>
                                  <p:childTnLst>
                                    <p:animEffect transition="out" filter="dissolve">
                                      <p:cBhvr>
                                        <p:cTn id="70" dur="500"/>
                                        <p:tgtEl>
                                          <p:spTgt spid="34"/>
                                        </p:tgtEl>
                                      </p:cBhvr>
                                    </p:animEffect>
                                    <p:set>
                                      <p:cBhvr>
                                        <p:cTn id="71" dur="1" fill="hold">
                                          <p:stCondLst>
                                            <p:cond delay="499"/>
                                          </p:stCondLst>
                                        </p:cTn>
                                        <p:tgtEl>
                                          <p:spTgt spid="34"/>
                                        </p:tgtEl>
                                        <p:attrNameLst>
                                          <p:attrName>style.visibility</p:attrName>
                                        </p:attrNameLst>
                                      </p:cBhvr>
                                      <p:to>
                                        <p:strVal val="hidden"/>
                                      </p:to>
                                    </p:set>
                                  </p:childTnLst>
                                </p:cTn>
                              </p:par>
                              <p:par>
                                <p:cTn id="72" presetID="9" presetClass="exit" presetSubtype="0" fill="hold" grpId="1" nodeType="withEffect">
                                  <p:stCondLst>
                                    <p:cond delay="0"/>
                                  </p:stCondLst>
                                  <p:childTnLst>
                                    <p:animEffect transition="out" filter="dissolve">
                                      <p:cBhvr>
                                        <p:cTn id="73" dur="500"/>
                                        <p:tgtEl>
                                          <p:spTgt spid="33"/>
                                        </p:tgtEl>
                                      </p:cBhvr>
                                    </p:animEffect>
                                    <p:set>
                                      <p:cBhvr>
                                        <p:cTn id="74" dur="1" fill="hold">
                                          <p:stCondLst>
                                            <p:cond delay="499"/>
                                          </p:stCondLst>
                                        </p:cTn>
                                        <p:tgtEl>
                                          <p:spTgt spid="33"/>
                                        </p:tgtEl>
                                        <p:attrNameLst>
                                          <p:attrName>style.visibility</p:attrName>
                                        </p:attrNameLst>
                                      </p:cBhvr>
                                      <p:to>
                                        <p:strVal val="hidden"/>
                                      </p:to>
                                    </p:set>
                                  </p:childTnLst>
                                </p:cTn>
                              </p:par>
                            </p:childTnLst>
                          </p:cTn>
                        </p:par>
                        <p:par>
                          <p:cTn id="75" fill="hold">
                            <p:stCondLst>
                              <p:cond delay="1500"/>
                            </p:stCondLst>
                            <p:childTnLst>
                              <p:par>
                                <p:cTn id="76" presetID="22" presetClass="entr" presetSubtype="4" fill="hold" grpId="0" nodeType="after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wipe(down)">
                                      <p:cBhvr>
                                        <p:cTn id="78" dur="500"/>
                                        <p:tgtEl>
                                          <p:spTgt spid="35"/>
                                        </p:tgtEl>
                                      </p:cBhvr>
                                    </p:animEffect>
                                  </p:childTnLst>
                                </p:cTn>
                              </p:par>
                            </p:childTnLst>
                          </p:cTn>
                        </p:par>
                        <p:par>
                          <p:cTn id="79" fill="hold">
                            <p:stCondLst>
                              <p:cond delay="2000"/>
                            </p:stCondLst>
                            <p:childTnLst>
                              <p:par>
                                <p:cTn id="80" presetID="22" presetClass="entr" presetSubtype="1" fill="hold" grpId="0" nodeType="after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wipe(up)">
                                      <p:cBhvr>
                                        <p:cTn id="82" dur="500"/>
                                        <p:tgtEl>
                                          <p:spTgt spid="37"/>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wipe(up)">
                                      <p:cBhvr>
                                        <p:cTn id="85" dur="500"/>
                                        <p:tgtEl>
                                          <p:spTgt spid="38"/>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ipe(up)">
                                      <p:cBhvr>
                                        <p:cTn id="88" dur="500"/>
                                        <p:tgtEl>
                                          <p:spTgt spid="39"/>
                                        </p:tgtEl>
                                      </p:cBhvr>
                                    </p:animEffect>
                                  </p:childTnLst>
                                </p:cTn>
                              </p:par>
                            </p:childTnLst>
                          </p:cTn>
                        </p:par>
                        <p:par>
                          <p:cTn id="89" fill="hold">
                            <p:stCondLst>
                              <p:cond delay="2500"/>
                            </p:stCondLst>
                            <p:childTnLst>
                              <p:par>
                                <p:cTn id="90" presetID="23" presetClass="entr" presetSubtype="16" fill="hold" grpId="0" nodeType="afterEffect">
                                  <p:stCondLst>
                                    <p:cond delay="0"/>
                                  </p:stCondLst>
                                  <p:childTnLst>
                                    <p:set>
                                      <p:cBhvr>
                                        <p:cTn id="91" dur="1" fill="hold">
                                          <p:stCondLst>
                                            <p:cond delay="0"/>
                                          </p:stCondLst>
                                        </p:cTn>
                                        <p:tgtEl>
                                          <p:spTgt spid="48"/>
                                        </p:tgtEl>
                                        <p:attrNameLst>
                                          <p:attrName>style.visibility</p:attrName>
                                        </p:attrNameLst>
                                      </p:cBhvr>
                                      <p:to>
                                        <p:strVal val="visible"/>
                                      </p:to>
                                    </p:set>
                                    <p:anim calcmode="lin" valueType="num">
                                      <p:cBhvr>
                                        <p:cTn id="92" dur="500" fill="hold"/>
                                        <p:tgtEl>
                                          <p:spTgt spid="48"/>
                                        </p:tgtEl>
                                        <p:attrNameLst>
                                          <p:attrName>ppt_w</p:attrName>
                                        </p:attrNameLst>
                                      </p:cBhvr>
                                      <p:tavLst>
                                        <p:tav tm="0">
                                          <p:val>
                                            <p:fltVal val="0"/>
                                          </p:val>
                                        </p:tav>
                                        <p:tav tm="100000">
                                          <p:val>
                                            <p:strVal val="#ppt_w"/>
                                          </p:val>
                                        </p:tav>
                                      </p:tavLst>
                                    </p:anim>
                                    <p:anim calcmode="lin" valueType="num">
                                      <p:cBhvr>
                                        <p:cTn id="93"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nodeType="clickEffect">
                                  <p:stCondLst>
                                    <p:cond delay="0"/>
                                  </p:stCondLst>
                                  <p:childTnLst>
                                    <p:set>
                                      <p:cBhvr>
                                        <p:cTn id="97" dur="1" fill="hold">
                                          <p:stCondLst>
                                            <p:cond delay="0"/>
                                          </p:stCondLst>
                                        </p:cTn>
                                        <p:tgtEl>
                                          <p:spTgt spid="53"/>
                                        </p:tgtEl>
                                        <p:attrNameLst>
                                          <p:attrName>style.visibility</p:attrName>
                                        </p:attrNameLst>
                                      </p:cBhvr>
                                      <p:to>
                                        <p:strVal val="visible"/>
                                      </p:to>
                                    </p:set>
                                    <p:anim calcmode="lin" valueType="num">
                                      <p:cBhvr>
                                        <p:cTn id="98" dur="500" fill="hold"/>
                                        <p:tgtEl>
                                          <p:spTgt spid="53"/>
                                        </p:tgtEl>
                                        <p:attrNameLst>
                                          <p:attrName>ppt_w</p:attrName>
                                        </p:attrNameLst>
                                      </p:cBhvr>
                                      <p:tavLst>
                                        <p:tav tm="0">
                                          <p:val>
                                            <p:fltVal val="0"/>
                                          </p:val>
                                        </p:tav>
                                        <p:tav tm="100000">
                                          <p:val>
                                            <p:strVal val="#ppt_w"/>
                                          </p:val>
                                        </p:tav>
                                      </p:tavLst>
                                    </p:anim>
                                    <p:anim calcmode="lin" valueType="num">
                                      <p:cBhvr>
                                        <p:cTn id="99" dur="500" fill="hold"/>
                                        <p:tgtEl>
                                          <p:spTgt spid="53"/>
                                        </p:tgtEl>
                                        <p:attrNameLst>
                                          <p:attrName>ppt_h</p:attrName>
                                        </p:attrNameLst>
                                      </p:cBhvr>
                                      <p:tavLst>
                                        <p:tav tm="0">
                                          <p:val>
                                            <p:fltVal val="0"/>
                                          </p:val>
                                        </p:tav>
                                        <p:tav tm="100000">
                                          <p:val>
                                            <p:strVal val="#ppt_h"/>
                                          </p:val>
                                        </p:tav>
                                      </p:tavLst>
                                    </p:anim>
                                  </p:childTnLst>
                                </p:cTn>
                              </p:par>
                            </p:childTnLst>
                          </p:cTn>
                        </p:par>
                        <p:par>
                          <p:cTn id="100" fill="hold">
                            <p:stCondLst>
                              <p:cond delay="500"/>
                            </p:stCondLst>
                            <p:childTnLst>
                              <p:par>
                                <p:cTn id="101" presetID="22" presetClass="entr" presetSubtype="4" fill="hold" grpId="0" nodeType="after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wipe(down)">
                                      <p:cBhvr>
                                        <p:cTn id="103" dur="500"/>
                                        <p:tgtEl>
                                          <p:spTgt spid="52"/>
                                        </p:tgtEl>
                                      </p:cBhvr>
                                    </p:animEffect>
                                  </p:childTnLst>
                                </p:cTn>
                              </p:par>
                            </p:childTnLst>
                          </p:cTn>
                        </p:par>
                      </p:childTnLst>
                    </p:cTn>
                  </p:par>
                  <p:par>
                    <p:cTn id="104" fill="hold">
                      <p:stCondLst>
                        <p:cond delay="indefinite"/>
                      </p:stCondLst>
                      <p:childTnLst>
                        <p:par>
                          <p:cTn id="105" fill="hold">
                            <p:stCondLst>
                              <p:cond delay="0"/>
                            </p:stCondLst>
                            <p:childTnLst>
                              <p:par>
                                <p:cTn id="106" presetID="23" presetClass="entr" presetSubtype="16" fill="hold" nodeType="clickEffect">
                                  <p:stCondLst>
                                    <p:cond delay="0"/>
                                  </p:stCondLst>
                                  <p:childTnLst>
                                    <p:set>
                                      <p:cBhvr>
                                        <p:cTn id="107" dur="1" fill="hold">
                                          <p:stCondLst>
                                            <p:cond delay="0"/>
                                          </p:stCondLst>
                                        </p:cTn>
                                        <p:tgtEl>
                                          <p:spTgt spid="40"/>
                                        </p:tgtEl>
                                        <p:attrNameLst>
                                          <p:attrName>style.visibility</p:attrName>
                                        </p:attrNameLst>
                                      </p:cBhvr>
                                      <p:to>
                                        <p:strVal val="visible"/>
                                      </p:to>
                                    </p:set>
                                    <p:anim calcmode="lin" valueType="num">
                                      <p:cBhvr>
                                        <p:cTn id="108" dur="500" fill="hold"/>
                                        <p:tgtEl>
                                          <p:spTgt spid="40"/>
                                        </p:tgtEl>
                                        <p:attrNameLst>
                                          <p:attrName>ppt_w</p:attrName>
                                        </p:attrNameLst>
                                      </p:cBhvr>
                                      <p:tavLst>
                                        <p:tav tm="0">
                                          <p:val>
                                            <p:fltVal val="0"/>
                                          </p:val>
                                        </p:tav>
                                        <p:tav tm="100000">
                                          <p:val>
                                            <p:strVal val="#ppt_w"/>
                                          </p:val>
                                        </p:tav>
                                      </p:tavLst>
                                    </p:anim>
                                    <p:anim calcmode="lin" valueType="num">
                                      <p:cBhvr>
                                        <p:cTn id="109" dur="500" fill="hold"/>
                                        <p:tgtEl>
                                          <p:spTgt spid="40"/>
                                        </p:tgtEl>
                                        <p:attrNameLst>
                                          <p:attrName>ppt_h</p:attrName>
                                        </p:attrNameLst>
                                      </p:cBhvr>
                                      <p:tavLst>
                                        <p:tav tm="0">
                                          <p:val>
                                            <p:fltVal val="0"/>
                                          </p:val>
                                        </p:tav>
                                        <p:tav tm="100000">
                                          <p:val>
                                            <p:strVal val="#ppt_h"/>
                                          </p:val>
                                        </p:tav>
                                      </p:tavLst>
                                    </p:anim>
                                  </p:childTnLst>
                                </p:cTn>
                              </p:par>
                            </p:childTnLst>
                          </p:cTn>
                        </p:par>
                        <p:par>
                          <p:cTn id="110" fill="hold">
                            <p:stCondLst>
                              <p:cond delay="500"/>
                            </p:stCondLst>
                            <p:childTnLst>
                              <p:par>
                                <p:cTn id="111" presetID="22" presetClass="entr" presetSubtype="4" fill="hold" grpId="0" nodeType="after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wipe(down)">
                                      <p:cBhvr>
                                        <p:cTn id="113" dur="500"/>
                                        <p:tgtEl>
                                          <p:spTgt spid="41"/>
                                        </p:tgtEl>
                                      </p:cBhvr>
                                    </p:animEffect>
                                  </p:childTnLst>
                                </p:cTn>
                              </p:par>
                            </p:childTnLst>
                          </p:cTn>
                        </p:par>
                      </p:childTnLst>
                    </p:cTn>
                  </p:par>
                  <p:par>
                    <p:cTn id="114" fill="hold">
                      <p:stCondLst>
                        <p:cond delay="indefinite"/>
                      </p:stCondLst>
                      <p:childTnLst>
                        <p:par>
                          <p:cTn id="115" fill="hold">
                            <p:stCondLst>
                              <p:cond delay="0"/>
                            </p:stCondLst>
                            <p:childTnLst>
                              <p:par>
                                <p:cTn id="116" presetID="23" presetClass="entr" presetSubtype="16" fill="hold" grpId="0" nodeType="clickEffect">
                                  <p:stCondLst>
                                    <p:cond delay="0"/>
                                  </p:stCondLst>
                                  <p:childTnLst>
                                    <p:set>
                                      <p:cBhvr>
                                        <p:cTn id="117" dur="1" fill="hold">
                                          <p:stCondLst>
                                            <p:cond delay="0"/>
                                          </p:stCondLst>
                                        </p:cTn>
                                        <p:tgtEl>
                                          <p:spTgt spid="43"/>
                                        </p:tgtEl>
                                        <p:attrNameLst>
                                          <p:attrName>style.visibility</p:attrName>
                                        </p:attrNameLst>
                                      </p:cBhvr>
                                      <p:to>
                                        <p:strVal val="visible"/>
                                      </p:to>
                                    </p:set>
                                    <p:anim calcmode="lin" valueType="num">
                                      <p:cBhvr>
                                        <p:cTn id="118" dur="500" fill="hold"/>
                                        <p:tgtEl>
                                          <p:spTgt spid="43"/>
                                        </p:tgtEl>
                                        <p:attrNameLst>
                                          <p:attrName>ppt_w</p:attrName>
                                        </p:attrNameLst>
                                      </p:cBhvr>
                                      <p:tavLst>
                                        <p:tav tm="0">
                                          <p:val>
                                            <p:fltVal val="0"/>
                                          </p:val>
                                        </p:tav>
                                        <p:tav tm="100000">
                                          <p:val>
                                            <p:strVal val="#ppt_w"/>
                                          </p:val>
                                        </p:tav>
                                      </p:tavLst>
                                    </p:anim>
                                    <p:anim calcmode="lin" valueType="num">
                                      <p:cBhvr>
                                        <p:cTn id="119" dur="500" fill="hold"/>
                                        <p:tgtEl>
                                          <p:spTgt spid="43"/>
                                        </p:tgtEl>
                                        <p:attrNameLst>
                                          <p:attrName>ppt_h</p:attrName>
                                        </p:attrNameLst>
                                      </p:cBhvr>
                                      <p:tavLst>
                                        <p:tav tm="0">
                                          <p:val>
                                            <p:fltVal val="0"/>
                                          </p:val>
                                        </p:tav>
                                        <p:tav tm="100000">
                                          <p:val>
                                            <p:strVal val="#ppt_h"/>
                                          </p:val>
                                        </p:tav>
                                      </p:tavLst>
                                    </p:anim>
                                  </p:childTnLst>
                                </p:cTn>
                              </p:par>
                              <p:par>
                                <p:cTn id="120" presetID="23" presetClass="entr" presetSubtype="16" fill="hold" nodeType="withEffect">
                                  <p:stCondLst>
                                    <p:cond delay="0"/>
                                  </p:stCondLst>
                                  <p:childTnLst>
                                    <p:set>
                                      <p:cBhvr>
                                        <p:cTn id="121" dur="1" fill="hold">
                                          <p:stCondLst>
                                            <p:cond delay="0"/>
                                          </p:stCondLst>
                                        </p:cTn>
                                        <p:tgtEl>
                                          <p:spTgt spid="44"/>
                                        </p:tgtEl>
                                        <p:attrNameLst>
                                          <p:attrName>style.visibility</p:attrName>
                                        </p:attrNameLst>
                                      </p:cBhvr>
                                      <p:to>
                                        <p:strVal val="visible"/>
                                      </p:to>
                                    </p:set>
                                    <p:anim calcmode="lin" valueType="num">
                                      <p:cBhvr>
                                        <p:cTn id="122" dur="500" fill="hold"/>
                                        <p:tgtEl>
                                          <p:spTgt spid="44"/>
                                        </p:tgtEl>
                                        <p:attrNameLst>
                                          <p:attrName>ppt_w</p:attrName>
                                        </p:attrNameLst>
                                      </p:cBhvr>
                                      <p:tavLst>
                                        <p:tav tm="0">
                                          <p:val>
                                            <p:fltVal val="0"/>
                                          </p:val>
                                        </p:tav>
                                        <p:tav tm="100000">
                                          <p:val>
                                            <p:strVal val="#ppt_w"/>
                                          </p:val>
                                        </p:tav>
                                      </p:tavLst>
                                    </p:anim>
                                    <p:anim calcmode="lin" valueType="num">
                                      <p:cBhvr>
                                        <p:cTn id="123" dur="500" fill="hold"/>
                                        <p:tgtEl>
                                          <p:spTgt spid="44"/>
                                        </p:tgtEl>
                                        <p:attrNameLst>
                                          <p:attrName>ppt_h</p:attrName>
                                        </p:attrNameLst>
                                      </p:cBhvr>
                                      <p:tavLst>
                                        <p:tav tm="0">
                                          <p:val>
                                            <p:fltVal val="0"/>
                                          </p:val>
                                        </p:tav>
                                        <p:tav tm="100000">
                                          <p:val>
                                            <p:strVal val="#ppt_h"/>
                                          </p:val>
                                        </p:tav>
                                      </p:tavLst>
                                    </p:anim>
                                  </p:childTnLst>
                                </p:cTn>
                              </p:par>
                            </p:childTnLst>
                          </p:cTn>
                        </p:par>
                        <p:par>
                          <p:cTn id="124" fill="hold">
                            <p:stCondLst>
                              <p:cond delay="500"/>
                            </p:stCondLst>
                            <p:childTnLst>
                              <p:par>
                                <p:cTn id="125" presetID="23" presetClass="entr" presetSubtype="16" fill="hold" grpId="0" nodeType="afterEffect">
                                  <p:stCondLst>
                                    <p:cond delay="0"/>
                                  </p:stCondLst>
                                  <p:childTnLst>
                                    <p:set>
                                      <p:cBhvr>
                                        <p:cTn id="126" dur="1" fill="hold">
                                          <p:stCondLst>
                                            <p:cond delay="0"/>
                                          </p:stCondLst>
                                        </p:cTn>
                                        <p:tgtEl>
                                          <p:spTgt spid="49"/>
                                        </p:tgtEl>
                                        <p:attrNameLst>
                                          <p:attrName>style.visibility</p:attrName>
                                        </p:attrNameLst>
                                      </p:cBhvr>
                                      <p:to>
                                        <p:strVal val="visible"/>
                                      </p:to>
                                    </p:set>
                                    <p:anim calcmode="lin" valueType="num">
                                      <p:cBhvr>
                                        <p:cTn id="127" dur="500" fill="hold"/>
                                        <p:tgtEl>
                                          <p:spTgt spid="49"/>
                                        </p:tgtEl>
                                        <p:attrNameLst>
                                          <p:attrName>ppt_w</p:attrName>
                                        </p:attrNameLst>
                                      </p:cBhvr>
                                      <p:tavLst>
                                        <p:tav tm="0">
                                          <p:val>
                                            <p:fltVal val="0"/>
                                          </p:val>
                                        </p:tav>
                                        <p:tav tm="100000">
                                          <p:val>
                                            <p:strVal val="#ppt_w"/>
                                          </p:val>
                                        </p:tav>
                                      </p:tavLst>
                                    </p:anim>
                                    <p:anim calcmode="lin" valueType="num">
                                      <p:cBhvr>
                                        <p:cTn id="128"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23" presetClass="entr" presetSubtype="16"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 calcmode="lin" valueType="num">
                                      <p:cBhvr>
                                        <p:cTn id="133" dur="500" fill="hold"/>
                                        <p:tgtEl>
                                          <p:spTgt spid="50"/>
                                        </p:tgtEl>
                                        <p:attrNameLst>
                                          <p:attrName>ppt_w</p:attrName>
                                        </p:attrNameLst>
                                      </p:cBhvr>
                                      <p:tavLst>
                                        <p:tav tm="0">
                                          <p:val>
                                            <p:fltVal val="0"/>
                                          </p:val>
                                        </p:tav>
                                        <p:tav tm="100000">
                                          <p:val>
                                            <p:strVal val="#ppt_w"/>
                                          </p:val>
                                        </p:tav>
                                      </p:tavLst>
                                    </p:anim>
                                    <p:anim calcmode="lin" valueType="num">
                                      <p:cBhvr>
                                        <p:cTn id="134" dur="500" fill="hold"/>
                                        <p:tgtEl>
                                          <p:spTgt spid="50"/>
                                        </p:tgtEl>
                                        <p:attrNameLst>
                                          <p:attrName>ppt_h</p:attrName>
                                        </p:attrNameLst>
                                      </p:cBhvr>
                                      <p:tavLst>
                                        <p:tav tm="0">
                                          <p:val>
                                            <p:fltVal val="0"/>
                                          </p:val>
                                        </p:tav>
                                        <p:tav tm="100000">
                                          <p:val>
                                            <p:strVal val="#ppt_h"/>
                                          </p:val>
                                        </p:tav>
                                      </p:tavLst>
                                    </p:anim>
                                  </p:childTnLst>
                                </p:cTn>
                              </p:par>
                              <p:par>
                                <p:cTn id="135" presetID="23" presetClass="entr" presetSubtype="16" fill="hold" nodeType="withEffect">
                                  <p:stCondLst>
                                    <p:cond delay="0"/>
                                  </p:stCondLst>
                                  <p:childTnLst>
                                    <p:set>
                                      <p:cBhvr>
                                        <p:cTn id="136" dur="1" fill="hold">
                                          <p:stCondLst>
                                            <p:cond delay="0"/>
                                          </p:stCondLst>
                                        </p:cTn>
                                        <p:tgtEl>
                                          <p:spTgt spid="51"/>
                                        </p:tgtEl>
                                        <p:attrNameLst>
                                          <p:attrName>style.visibility</p:attrName>
                                        </p:attrNameLst>
                                      </p:cBhvr>
                                      <p:to>
                                        <p:strVal val="visible"/>
                                      </p:to>
                                    </p:set>
                                    <p:anim calcmode="lin" valueType="num">
                                      <p:cBhvr>
                                        <p:cTn id="137" dur="500" fill="hold"/>
                                        <p:tgtEl>
                                          <p:spTgt spid="51"/>
                                        </p:tgtEl>
                                        <p:attrNameLst>
                                          <p:attrName>ppt_w</p:attrName>
                                        </p:attrNameLst>
                                      </p:cBhvr>
                                      <p:tavLst>
                                        <p:tav tm="0">
                                          <p:val>
                                            <p:fltVal val="0"/>
                                          </p:val>
                                        </p:tav>
                                        <p:tav tm="100000">
                                          <p:val>
                                            <p:strVal val="#ppt_w"/>
                                          </p:val>
                                        </p:tav>
                                      </p:tavLst>
                                    </p:anim>
                                    <p:anim calcmode="lin" valueType="num">
                                      <p:cBhvr>
                                        <p:cTn id="138"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22" presetClass="entr" presetSubtype="4" fill="hold" grpId="0" nodeType="click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wipe(down)">
                                      <p:cBhvr>
                                        <p:cTn id="14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animBg="1"/>
      <p:bldP spid="23" grpId="0"/>
      <p:bldP spid="24" grpId="0" animBg="1"/>
      <p:bldP spid="27" grpId="0"/>
      <p:bldP spid="31" grpId="0" animBg="1"/>
      <p:bldP spid="32" grpId="0" animBg="1"/>
      <p:bldP spid="33" grpId="0" animBg="1"/>
      <p:bldP spid="33" grpId="1" animBg="1"/>
      <p:bldP spid="34" grpId="0" animBg="1"/>
      <p:bldP spid="34" grpId="1" animBg="1"/>
      <p:bldP spid="35" grpId="0" animBg="1"/>
      <p:bldP spid="37" grpId="0" animBg="1"/>
      <p:bldP spid="38" grpId="0" animBg="1"/>
      <p:bldP spid="39" grpId="0" animBg="1"/>
      <p:bldP spid="41" grpId="0" animBg="1"/>
      <p:bldP spid="43" grpId="0" animBg="1"/>
      <p:bldP spid="48" grpId="0" animBg="1"/>
      <p:bldP spid="49" grpId="0" animBg="1"/>
      <p:bldP spid="50" grpId="0" animBg="1"/>
      <p:bldP spid="52" grpId="0" animBg="1"/>
      <p:bldP spid="5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Connettore 2 13"/>
          <p:cNvCxnSpPr/>
          <p:nvPr/>
        </p:nvCxnSpPr>
        <p:spPr>
          <a:xfrm flipV="1">
            <a:off x="1783189" y="3051576"/>
            <a:ext cx="671028" cy="34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 name="Gruppo 21"/>
          <p:cNvGrpSpPr/>
          <p:nvPr/>
        </p:nvGrpSpPr>
        <p:grpSpPr>
          <a:xfrm>
            <a:off x="7284143" y="1651575"/>
            <a:ext cx="1499770" cy="1434543"/>
            <a:chOff x="4587471" y="5542629"/>
            <a:chExt cx="971202" cy="928965"/>
          </a:xfrm>
        </p:grpSpPr>
        <p:sp>
          <p:nvSpPr>
            <p:cNvPr id="23" name="CasellaDiTesto 22"/>
            <p:cNvSpPr txBox="1"/>
            <p:nvPr/>
          </p:nvSpPr>
          <p:spPr>
            <a:xfrm>
              <a:off x="4587471" y="6013189"/>
              <a:ext cx="971202" cy="458405"/>
            </a:xfrm>
            <a:prstGeom prst="rect">
              <a:avLst/>
            </a:prstGeom>
            <a:noFill/>
          </p:spPr>
          <p:txBody>
            <a:bodyPr wrap="none" rtlCol="0">
              <a:spAutoFit/>
            </a:bodyPr>
            <a:lstStyle/>
            <a:p>
              <a:pPr algn="ctr"/>
              <a:r>
                <a:rPr lang="en-US" sz="2000" b="1" i="1" dirty="0">
                  <a:solidFill>
                    <a:srgbClr val="9BBB59"/>
                  </a:solidFill>
                  <a:effectLst>
                    <a:innerShdw blurRad="63500" dist="50800" dir="10800000">
                      <a:prstClr val="black">
                        <a:alpha val="50000"/>
                      </a:prstClr>
                    </a:innerShdw>
                  </a:effectLst>
                </a:rPr>
                <a:t>CUAHSI</a:t>
              </a:r>
            </a:p>
            <a:p>
              <a:pPr algn="ctr"/>
              <a:r>
                <a:rPr lang="en-US" sz="2000" b="1" i="1" dirty="0" err="1">
                  <a:solidFill>
                    <a:srgbClr val="9BBB59"/>
                  </a:solidFill>
                  <a:effectLst>
                    <a:innerShdw blurRad="63500" dist="50800" dir="10800000">
                      <a:prstClr val="black">
                        <a:alpha val="50000"/>
                      </a:prstClr>
                    </a:innerShdw>
                  </a:effectLst>
                </a:rPr>
                <a:t>HydroServer</a:t>
              </a:r>
              <a:endParaRPr lang="en-US" sz="2000" b="1" i="1" dirty="0">
                <a:solidFill>
                  <a:srgbClr val="9BBB59"/>
                </a:solidFill>
                <a:effectLst>
                  <a:innerShdw blurRad="63500" dist="50800" dir="10800000">
                    <a:prstClr val="black">
                      <a:alpha val="50000"/>
                    </a:prstClr>
                  </a:innerShdw>
                </a:effectLst>
              </a:endParaRPr>
            </a:p>
          </p:txBody>
        </p:sp>
        <p:pic>
          <p:nvPicPr>
            <p:cNvPr id="24" name="Immagine 2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49740" y="5542629"/>
              <a:ext cx="446660" cy="450874"/>
            </a:xfrm>
            <a:prstGeom prst="rect">
              <a:avLst/>
            </a:prstGeom>
          </p:spPr>
        </p:pic>
      </p:grpSp>
      <p:grpSp>
        <p:nvGrpSpPr>
          <p:cNvPr id="3" name="Gruppo 24"/>
          <p:cNvGrpSpPr/>
          <p:nvPr/>
        </p:nvGrpSpPr>
        <p:grpSpPr>
          <a:xfrm>
            <a:off x="7284140" y="165617"/>
            <a:ext cx="1499770" cy="1434543"/>
            <a:chOff x="4587471" y="5542629"/>
            <a:chExt cx="971202" cy="928965"/>
          </a:xfrm>
        </p:grpSpPr>
        <p:sp>
          <p:nvSpPr>
            <p:cNvPr id="26" name="CasellaDiTesto 25"/>
            <p:cNvSpPr txBox="1"/>
            <p:nvPr/>
          </p:nvSpPr>
          <p:spPr>
            <a:xfrm>
              <a:off x="4587471" y="6013189"/>
              <a:ext cx="971202" cy="458405"/>
            </a:xfrm>
            <a:prstGeom prst="rect">
              <a:avLst/>
            </a:prstGeom>
            <a:noFill/>
          </p:spPr>
          <p:txBody>
            <a:bodyPr wrap="none" rtlCol="0">
              <a:spAutoFit/>
            </a:bodyPr>
            <a:lstStyle/>
            <a:p>
              <a:pPr algn="ctr"/>
              <a:r>
                <a:rPr lang="en-US" sz="2000" b="1" i="1" dirty="0">
                  <a:solidFill>
                    <a:srgbClr val="9BBB59"/>
                  </a:solidFill>
                  <a:effectLst>
                    <a:innerShdw blurRad="63500" dist="50800" dir="10800000">
                      <a:prstClr val="black">
                        <a:alpha val="50000"/>
                      </a:prstClr>
                    </a:innerShdw>
                  </a:effectLst>
                </a:rPr>
                <a:t>CUAHSI</a:t>
              </a:r>
            </a:p>
            <a:p>
              <a:pPr algn="ctr"/>
              <a:r>
                <a:rPr lang="en-US" sz="2000" b="1" i="1" dirty="0" err="1">
                  <a:solidFill>
                    <a:srgbClr val="9BBB59"/>
                  </a:solidFill>
                  <a:effectLst>
                    <a:innerShdw blurRad="63500" dist="50800" dir="10800000">
                      <a:prstClr val="black">
                        <a:alpha val="50000"/>
                      </a:prstClr>
                    </a:innerShdw>
                  </a:effectLst>
                </a:rPr>
                <a:t>HydroServer</a:t>
              </a:r>
              <a:endParaRPr lang="en-US" sz="2000" b="1" i="1" dirty="0">
                <a:solidFill>
                  <a:srgbClr val="9BBB59"/>
                </a:solidFill>
                <a:effectLst>
                  <a:innerShdw blurRad="63500" dist="50800" dir="10800000">
                    <a:prstClr val="black">
                      <a:alpha val="50000"/>
                    </a:prstClr>
                  </a:innerShdw>
                </a:effectLst>
              </a:endParaRPr>
            </a:p>
          </p:txBody>
        </p:sp>
        <p:pic>
          <p:nvPicPr>
            <p:cNvPr id="27" name="Immagin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49740" y="5542629"/>
              <a:ext cx="446660" cy="450874"/>
            </a:xfrm>
            <a:prstGeom prst="rect">
              <a:avLst/>
            </a:prstGeom>
          </p:spPr>
        </p:pic>
      </p:grpSp>
      <p:grpSp>
        <p:nvGrpSpPr>
          <p:cNvPr id="6" name="Gruppo 27"/>
          <p:cNvGrpSpPr/>
          <p:nvPr/>
        </p:nvGrpSpPr>
        <p:grpSpPr>
          <a:xfrm>
            <a:off x="5652692" y="1625785"/>
            <a:ext cx="1499770" cy="1434543"/>
            <a:chOff x="4587471" y="5542629"/>
            <a:chExt cx="971202" cy="928965"/>
          </a:xfrm>
        </p:grpSpPr>
        <p:sp>
          <p:nvSpPr>
            <p:cNvPr id="29" name="CasellaDiTesto 28"/>
            <p:cNvSpPr txBox="1"/>
            <p:nvPr/>
          </p:nvSpPr>
          <p:spPr>
            <a:xfrm>
              <a:off x="4587471" y="6013189"/>
              <a:ext cx="971202" cy="458405"/>
            </a:xfrm>
            <a:prstGeom prst="rect">
              <a:avLst/>
            </a:prstGeom>
            <a:noFill/>
          </p:spPr>
          <p:txBody>
            <a:bodyPr wrap="none" rtlCol="0">
              <a:spAutoFit/>
            </a:bodyPr>
            <a:lstStyle/>
            <a:p>
              <a:pPr algn="ctr"/>
              <a:r>
                <a:rPr lang="en-US" sz="2000" b="1" i="1" dirty="0">
                  <a:solidFill>
                    <a:srgbClr val="9BBB59"/>
                  </a:solidFill>
                  <a:effectLst>
                    <a:innerShdw blurRad="63500" dist="50800" dir="10800000">
                      <a:prstClr val="black">
                        <a:alpha val="50000"/>
                      </a:prstClr>
                    </a:innerShdw>
                  </a:effectLst>
                </a:rPr>
                <a:t>CUAHSI</a:t>
              </a:r>
            </a:p>
            <a:p>
              <a:pPr algn="ctr"/>
              <a:r>
                <a:rPr lang="en-US" sz="2000" b="1" i="1" dirty="0" err="1">
                  <a:solidFill>
                    <a:srgbClr val="9BBB59"/>
                  </a:solidFill>
                  <a:effectLst>
                    <a:innerShdw blurRad="63500" dist="50800" dir="10800000">
                      <a:prstClr val="black">
                        <a:alpha val="50000"/>
                      </a:prstClr>
                    </a:innerShdw>
                  </a:effectLst>
                </a:rPr>
                <a:t>HydroServer</a:t>
              </a:r>
              <a:endParaRPr lang="en-US" sz="2000" b="1" i="1" dirty="0">
                <a:solidFill>
                  <a:srgbClr val="9BBB59"/>
                </a:solidFill>
                <a:effectLst>
                  <a:innerShdw blurRad="63500" dist="50800" dir="10800000">
                    <a:prstClr val="black">
                      <a:alpha val="50000"/>
                    </a:prstClr>
                  </a:innerShdw>
                </a:effectLst>
              </a:endParaRPr>
            </a:p>
          </p:txBody>
        </p:sp>
        <p:pic>
          <p:nvPicPr>
            <p:cNvPr id="30" name="Immagine 2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49740" y="5542629"/>
              <a:ext cx="446660" cy="450874"/>
            </a:xfrm>
            <a:prstGeom prst="rect">
              <a:avLst/>
            </a:prstGeom>
          </p:spPr>
        </p:pic>
      </p:grpSp>
      <p:grpSp>
        <p:nvGrpSpPr>
          <p:cNvPr id="9" name="Gruppo 30"/>
          <p:cNvGrpSpPr/>
          <p:nvPr/>
        </p:nvGrpSpPr>
        <p:grpSpPr>
          <a:xfrm>
            <a:off x="5652689" y="139827"/>
            <a:ext cx="1499770" cy="1434543"/>
            <a:chOff x="4587471" y="5542629"/>
            <a:chExt cx="971202" cy="928965"/>
          </a:xfrm>
        </p:grpSpPr>
        <p:sp>
          <p:nvSpPr>
            <p:cNvPr id="32" name="CasellaDiTesto 31"/>
            <p:cNvSpPr txBox="1"/>
            <p:nvPr/>
          </p:nvSpPr>
          <p:spPr>
            <a:xfrm>
              <a:off x="4587471" y="6013189"/>
              <a:ext cx="971202" cy="458405"/>
            </a:xfrm>
            <a:prstGeom prst="rect">
              <a:avLst/>
            </a:prstGeom>
            <a:noFill/>
          </p:spPr>
          <p:txBody>
            <a:bodyPr wrap="none" rtlCol="0">
              <a:spAutoFit/>
            </a:bodyPr>
            <a:lstStyle/>
            <a:p>
              <a:pPr algn="ctr"/>
              <a:r>
                <a:rPr lang="en-US" sz="2000" b="1" i="1" dirty="0">
                  <a:solidFill>
                    <a:srgbClr val="9BBB59"/>
                  </a:solidFill>
                  <a:effectLst>
                    <a:innerShdw blurRad="63500" dist="50800" dir="10800000">
                      <a:prstClr val="black">
                        <a:alpha val="50000"/>
                      </a:prstClr>
                    </a:innerShdw>
                  </a:effectLst>
                </a:rPr>
                <a:t>CUAHSI</a:t>
              </a:r>
            </a:p>
            <a:p>
              <a:pPr algn="ctr"/>
              <a:r>
                <a:rPr lang="en-US" sz="2000" b="1" i="1" dirty="0" err="1">
                  <a:solidFill>
                    <a:srgbClr val="9BBB59"/>
                  </a:solidFill>
                  <a:effectLst>
                    <a:innerShdw blurRad="63500" dist="50800" dir="10800000">
                      <a:prstClr val="black">
                        <a:alpha val="50000"/>
                      </a:prstClr>
                    </a:innerShdw>
                  </a:effectLst>
                </a:rPr>
                <a:t>HydroServer</a:t>
              </a:r>
              <a:endParaRPr lang="en-US" sz="2000" b="1" i="1" dirty="0">
                <a:solidFill>
                  <a:srgbClr val="9BBB59"/>
                </a:solidFill>
                <a:effectLst>
                  <a:innerShdw blurRad="63500" dist="50800" dir="10800000">
                    <a:prstClr val="black">
                      <a:alpha val="50000"/>
                    </a:prstClr>
                  </a:innerShdw>
                </a:effectLst>
              </a:endParaRPr>
            </a:p>
          </p:txBody>
        </p:sp>
        <p:pic>
          <p:nvPicPr>
            <p:cNvPr id="33" name="Immagine 3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49740" y="5542629"/>
              <a:ext cx="446660" cy="450874"/>
            </a:xfrm>
            <a:prstGeom prst="rect">
              <a:avLst/>
            </a:prstGeom>
          </p:spPr>
        </p:pic>
      </p:grpSp>
      <p:sp>
        <p:nvSpPr>
          <p:cNvPr id="34" name="CasellaDiTesto 33"/>
          <p:cNvSpPr txBox="1"/>
          <p:nvPr/>
        </p:nvSpPr>
        <p:spPr>
          <a:xfrm>
            <a:off x="1629853" y="0"/>
            <a:ext cx="3923766" cy="461665"/>
          </a:xfrm>
          <a:prstGeom prst="rect">
            <a:avLst/>
          </a:prstGeom>
          <a:noFill/>
        </p:spPr>
        <p:txBody>
          <a:bodyPr wrap="none" rtlCol="0">
            <a:spAutoFit/>
          </a:bodyPr>
          <a:lstStyle/>
          <a:p>
            <a:r>
              <a:rPr lang="en-US" sz="2400" dirty="0"/>
              <a:t>GI-suite powered architecture</a:t>
            </a:r>
          </a:p>
        </p:txBody>
      </p:sp>
      <p:grpSp>
        <p:nvGrpSpPr>
          <p:cNvPr id="10" name="Group 84"/>
          <p:cNvGrpSpPr/>
          <p:nvPr/>
        </p:nvGrpSpPr>
        <p:grpSpPr>
          <a:xfrm>
            <a:off x="2493923" y="2361308"/>
            <a:ext cx="2416237" cy="1191629"/>
            <a:chOff x="-4697875" y="2248347"/>
            <a:chExt cx="2416237" cy="1191629"/>
          </a:xfrm>
        </p:grpSpPr>
        <p:sp>
          <p:nvSpPr>
            <p:cNvPr id="36" name="Cloud 74"/>
            <p:cNvSpPr/>
            <p:nvPr/>
          </p:nvSpPr>
          <p:spPr>
            <a:xfrm>
              <a:off x="-4666077" y="2344635"/>
              <a:ext cx="2046702" cy="1013511"/>
            </a:xfrm>
            <a:prstGeom prst="cloud">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it-IT">
                <a:solidFill>
                  <a:schemeClr val="tx1"/>
                </a:solidFill>
              </a:endParaRPr>
            </a:p>
          </p:txBody>
        </p:sp>
        <p:pic>
          <p:nvPicPr>
            <p:cNvPr id="37" name="Picture 2"/>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211410" y="2282826"/>
              <a:ext cx="1169004" cy="876753"/>
            </a:xfrm>
            <a:prstGeom prst="rect">
              <a:avLst/>
            </a:prstGeom>
            <a:noFill/>
            <a:ln w="9525">
              <a:noFill/>
              <a:miter lim="800000"/>
              <a:headEnd/>
              <a:tailEnd/>
            </a:ln>
            <a:effectLst/>
          </p:spPr>
        </p:pic>
        <p:sp>
          <p:nvSpPr>
            <p:cNvPr id="38" name="TextBox 77"/>
            <p:cNvSpPr txBox="1"/>
            <p:nvPr/>
          </p:nvSpPr>
          <p:spPr>
            <a:xfrm>
              <a:off x="-4052570" y="2506979"/>
              <a:ext cx="1004570" cy="338554"/>
            </a:xfrm>
            <a:prstGeom prst="rect">
              <a:avLst/>
            </a:prstGeom>
            <a:solidFill>
              <a:srgbClr val="FFFFFF">
                <a:alpha val="23137"/>
              </a:srgbClr>
            </a:solidFill>
            <a:ln>
              <a:noFill/>
            </a:ln>
            <a:effectLst/>
          </p:spPr>
          <p:txBody>
            <a:bodyPr wrap="square" rtlCol="0">
              <a:spAutoFit/>
            </a:bodyPr>
            <a:lstStyle/>
            <a:p>
              <a:r>
                <a:rPr lang="it-IT" sz="1600" b="1" dirty="0">
                  <a:effectLst>
                    <a:outerShdw blurRad="38100" dist="38100" dir="2700000" algn="tl">
                      <a:srgbClr val="000000">
                        <a:alpha val="43137"/>
                      </a:srgbClr>
                    </a:outerShdw>
                  </a:effectLst>
                </a:rPr>
                <a:t>GI-suite</a:t>
              </a:r>
            </a:p>
          </p:txBody>
        </p:sp>
        <p:pic>
          <p:nvPicPr>
            <p:cNvPr id="39" name="Picture 2"/>
            <p:cNvPicPr>
              <a:picLocks noChangeAspect="1" noChangeArrowheads="1"/>
            </p:cNvPicPr>
            <p:nvPr/>
          </p:nvPicPr>
          <p:blipFill>
            <a:blip r:embed="rId4" cstate="email">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3879215" y="2908767"/>
              <a:ext cx="440690" cy="531209"/>
            </a:xfrm>
            <a:prstGeom prst="rect">
              <a:avLst/>
            </a:prstGeom>
            <a:noFill/>
            <a:ln w="9525">
              <a:noFill/>
              <a:miter lim="800000"/>
              <a:headEnd/>
              <a:tailEnd/>
            </a:ln>
            <a:effectLst/>
          </p:spPr>
        </p:pic>
        <p:pic>
          <p:nvPicPr>
            <p:cNvPr id="40" name="Picture 3"/>
            <p:cNvPicPr>
              <a:picLocks noChangeAspect="1" noChangeArrowheads="1"/>
            </p:cNvPicPr>
            <p:nvPr/>
          </p:nvPicPr>
          <p:blipFill>
            <a:blip r:embed="rId5" cstate="email">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4697875" y="2248347"/>
              <a:ext cx="811093" cy="612963"/>
            </a:xfrm>
            <a:prstGeom prst="rect">
              <a:avLst/>
            </a:prstGeom>
            <a:noFill/>
            <a:ln w="9525">
              <a:noFill/>
              <a:miter lim="800000"/>
              <a:headEnd/>
              <a:tailEnd/>
            </a:ln>
            <a:effectLst/>
          </p:spPr>
        </p:pic>
        <p:sp>
          <p:nvSpPr>
            <p:cNvPr id="41" name="TextBox 83"/>
            <p:cNvSpPr txBox="1"/>
            <p:nvPr/>
          </p:nvSpPr>
          <p:spPr>
            <a:xfrm>
              <a:off x="-3525889" y="2763826"/>
              <a:ext cx="1244251" cy="646331"/>
            </a:xfrm>
            <a:prstGeom prst="rect">
              <a:avLst/>
            </a:prstGeom>
            <a:noFill/>
            <a:ln>
              <a:noFill/>
            </a:ln>
          </p:spPr>
          <p:txBody>
            <a:bodyPr wrap="none" rtlCol="0">
              <a:spAutoFit/>
            </a:bodyPr>
            <a:lstStyle/>
            <a:p>
              <a:r>
                <a:rPr lang="it-IT" dirty="0" err="1">
                  <a:effectLst>
                    <a:outerShdw blurRad="38100" dist="38100" dir="2700000" algn="tl">
                      <a:srgbClr val="000000">
                        <a:alpha val="43137"/>
                      </a:srgbClr>
                    </a:outerShdw>
                  </a:effectLst>
                </a:rPr>
                <a:t>Brokering</a:t>
              </a:r>
              <a:r>
                <a:rPr lang="it-IT" dirty="0">
                  <a:effectLst>
                    <a:outerShdw blurRad="38100" dist="38100" dir="2700000" algn="tl">
                      <a:srgbClr val="000000">
                        <a:alpha val="43137"/>
                      </a:srgbClr>
                    </a:outerShdw>
                  </a:effectLst>
                </a:rPr>
                <a:t> </a:t>
              </a:r>
            </a:p>
            <a:p>
              <a:r>
                <a:rPr lang="it-IT" dirty="0">
                  <a:effectLst>
                    <a:outerShdw blurRad="38100" dist="38100" dir="2700000" algn="tl">
                      <a:srgbClr val="000000">
                        <a:alpha val="43137"/>
                      </a:srgbClr>
                    </a:outerShdw>
                  </a:effectLst>
                </a:rPr>
                <a:t>Framework</a:t>
              </a:r>
            </a:p>
          </p:txBody>
        </p:sp>
      </p:grpSp>
      <p:pic>
        <p:nvPicPr>
          <p:cNvPr id="42" name="Immagine 4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41204" y="166190"/>
            <a:ext cx="622516" cy="622516"/>
          </a:xfrm>
          <a:prstGeom prst="rect">
            <a:avLst/>
          </a:prstGeom>
        </p:spPr>
      </p:pic>
      <p:pic>
        <p:nvPicPr>
          <p:cNvPr id="43" name="Immagine 4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879131" y="1659740"/>
            <a:ext cx="622516" cy="622516"/>
          </a:xfrm>
          <a:prstGeom prst="rect">
            <a:avLst/>
          </a:prstGeom>
        </p:spPr>
      </p:pic>
      <p:pic>
        <p:nvPicPr>
          <p:cNvPr id="44" name="Immagine 43"/>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472655" y="216033"/>
            <a:ext cx="622516" cy="622516"/>
          </a:xfrm>
          <a:prstGeom prst="rect">
            <a:avLst/>
          </a:prstGeom>
        </p:spPr>
      </p:pic>
      <p:pic>
        <p:nvPicPr>
          <p:cNvPr id="45" name="Immagine 4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471014" y="1666971"/>
            <a:ext cx="622603" cy="622603"/>
          </a:xfrm>
          <a:prstGeom prst="rect">
            <a:avLst/>
          </a:prstGeom>
        </p:spPr>
      </p:pic>
      <p:cxnSp>
        <p:nvCxnSpPr>
          <p:cNvPr id="46" name="Connettore 2 45"/>
          <p:cNvCxnSpPr/>
          <p:nvPr/>
        </p:nvCxnSpPr>
        <p:spPr>
          <a:xfrm flipV="1">
            <a:off x="4664536" y="2047394"/>
            <a:ext cx="1076960" cy="6278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ttore 2 46"/>
          <p:cNvCxnSpPr/>
          <p:nvPr/>
        </p:nvCxnSpPr>
        <p:spPr>
          <a:xfrm>
            <a:off x="4886824" y="3303049"/>
            <a:ext cx="854672" cy="417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1" name="Gruppo 52"/>
          <p:cNvGrpSpPr/>
          <p:nvPr/>
        </p:nvGrpSpPr>
        <p:grpSpPr>
          <a:xfrm>
            <a:off x="4491075" y="4759823"/>
            <a:ext cx="1566624" cy="646331"/>
            <a:chOff x="3161736" y="6571651"/>
            <a:chExt cx="1566624" cy="646331"/>
          </a:xfrm>
        </p:grpSpPr>
        <p:sp>
          <p:nvSpPr>
            <p:cNvPr id="54" name="CasellaDiTesto 53"/>
            <p:cNvSpPr txBox="1"/>
            <p:nvPr/>
          </p:nvSpPr>
          <p:spPr>
            <a:xfrm>
              <a:off x="3642806" y="6571651"/>
              <a:ext cx="1085554" cy="646331"/>
            </a:xfrm>
            <a:prstGeom prst="rect">
              <a:avLst/>
            </a:prstGeom>
            <a:noFill/>
          </p:spPr>
          <p:txBody>
            <a:bodyPr wrap="none" rtlCol="0">
              <a:spAutoFit/>
            </a:bodyPr>
            <a:lstStyle/>
            <a:p>
              <a:r>
                <a:rPr lang="en-US" b="1" i="1" dirty="0" err="1">
                  <a:solidFill>
                    <a:srgbClr val="8EB4E3"/>
                  </a:solidFill>
                  <a:effectLst>
                    <a:innerShdw blurRad="63500" dist="50800" dir="10800000">
                      <a:prstClr val="black">
                        <a:alpha val="50000"/>
                      </a:prstClr>
                    </a:innerShdw>
                  </a:effectLst>
                </a:rPr>
                <a:t>Unidata</a:t>
              </a:r>
              <a:endParaRPr lang="en-US" b="1" i="1" dirty="0">
                <a:solidFill>
                  <a:srgbClr val="8EB4E3"/>
                </a:solidFill>
                <a:effectLst>
                  <a:innerShdw blurRad="63500" dist="50800" dir="10800000">
                    <a:prstClr val="black">
                      <a:alpha val="50000"/>
                    </a:prstClr>
                  </a:innerShdw>
                </a:effectLst>
              </a:endParaRPr>
            </a:p>
            <a:p>
              <a:r>
                <a:rPr lang="en-US" b="1" i="1" dirty="0">
                  <a:solidFill>
                    <a:srgbClr val="8EB4E3"/>
                  </a:solidFill>
                  <a:effectLst>
                    <a:innerShdw blurRad="63500" dist="50800" dir="10800000">
                      <a:prstClr val="black">
                        <a:alpha val="50000"/>
                      </a:prstClr>
                    </a:innerShdw>
                  </a:effectLst>
                </a:rPr>
                <a:t>THREDDS</a:t>
              </a:r>
            </a:p>
          </p:txBody>
        </p:sp>
        <p:grpSp>
          <p:nvGrpSpPr>
            <p:cNvPr id="12" name="Gruppo 54"/>
            <p:cNvGrpSpPr/>
            <p:nvPr/>
          </p:nvGrpSpPr>
          <p:grpSpPr>
            <a:xfrm>
              <a:off x="3161736" y="6650482"/>
              <a:ext cx="469104" cy="469104"/>
              <a:chOff x="676275" y="4493824"/>
              <a:chExt cx="835631" cy="835631"/>
            </a:xfrm>
          </p:grpSpPr>
          <p:sp>
            <p:nvSpPr>
              <p:cNvPr id="56" name="Ovale 55"/>
              <p:cNvSpPr/>
              <p:nvPr/>
            </p:nvSpPr>
            <p:spPr>
              <a:xfrm>
                <a:off x="676275" y="4493824"/>
                <a:ext cx="835631" cy="835631"/>
              </a:xfrm>
              <a:prstGeom prst="ellipse">
                <a:avLst/>
              </a:prstGeom>
              <a:gradFill>
                <a:gsLst>
                  <a:gs pos="100000">
                    <a:schemeClr val="bg1"/>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7" name="Immagine 56"/>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16945" y="4660624"/>
                <a:ext cx="536884" cy="536884"/>
              </a:xfrm>
              <a:prstGeom prst="rect">
                <a:avLst/>
              </a:prstGeom>
            </p:spPr>
          </p:pic>
        </p:grpSp>
      </p:grpSp>
      <p:cxnSp>
        <p:nvCxnSpPr>
          <p:cNvPr id="58" name="Connettore 2 57"/>
          <p:cNvCxnSpPr/>
          <p:nvPr/>
        </p:nvCxnSpPr>
        <p:spPr>
          <a:xfrm>
            <a:off x="3993923" y="3577111"/>
            <a:ext cx="603667" cy="1012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 name="Gruppo 58"/>
          <p:cNvGrpSpPr/>
          <p:nvPr/>
        </p:nvGrpSpPr>
        <p:grpSpPr>
          <a:xfrm>
            <a:off x="128885" y="2805579"/>
            <a:ext cx="1712884" cy="646331"/>
            <a:chOff x="3153537" y="6065161"/>
            <a:chExt cx="1712884" cy="646331"/>
          </a:xfrm>
        </p:grpSpPr>
        <p:sp>
          <p:nvSpPr>
            <p:cNvPr id="60" name="CasellaDiTesto 59"/>
            <p:cNvSpPr txBox="1"/>
            <p:nvPr/>
          </p:nvSpPr>
          <p:spPr>
            <a:xfrm>
              <a:off x="3700717" y="6065161"/>
              <a:ext cx="1165704" cy="646331"/>
            </a:xfrm>
            <a:prstGeom prst="rect">
              <a:avLst/>
            </a:prstGeom>
            <a:noFill/>
          </p:spPr>
          <p:txBody>
            <a:bodyPr wrap="none" rtlCol="0">
              <a:spAutoFit/>
            </a:bodyPr>
            <a:lstStyle/>
            <a:p>
              <a:r>
                <a:rPr lang="en-US" b="1" i="1" dirty="0">
                  <a:solidFill>
                    <a:srgbClr val="F79646"/>
                  </a:solidFill>
                  <a:effectLst>
                    <a:innerShdw blurRad="63500" dist="50800" dir="10800000">
                      <a:prstClr val="black">
                        <a:alpha val="50000"/>
                      </a:prstClr>
                    </a:innerShdw>
                  </a:effectLst>
                </a:rPr>
                <a:t>52 North</a:t>
              </a:r>
            </a:p>
            <a:p>
              <a:r>
                <a:rPr lang="en-US" b="1" i="1" dirty="0">
                  <a:solidFill>
                    <a:srgbClr val="F79646"/>
                  </a:solidFill>
                  <a:effectLst>
                    <a:innerShdw blurRad="63500" dist="50800" dir="10800000">
                      <a:prstClr val="black">
                        <a:alpha val="50000"/>
                      </a:prstClr>
                    </a:innerShdw>
                  </a:effectLst>
                </a:rPr>
                <a:t>Helgoland</a:t>
              </a:r>
            </a:p>
          </p:txBody>
        </p:sp>
        <p:grpSp>
          <p:nvGrpSpPr>
            <p:cNvPr id="15" name="Gruppo 60"/>
            <p:cNvGrpSpPr/>
            <p:nvPr/>
          </p:nvGrpSpPr>
          <p:grpSpPr>
            <a:xfrm>
              <a:off x="3153537" y="6159429"/>
              <a:ext cx="480915" cy="480915"/>
              <a:chOff x="297364" y="846138"/>
              <a:chExt cx="830262" cy="830262"/>
            </a:xfrm>
          </p:grpSpPr>
          <p:sp>
            <p:nvSpPr>
              <p:cNvPr id="62" name="Ovale 61"/>
              <p:cNvSpPr/>
              <p:nvPr/>
            </p:nvSpPr>
            <p:spPr>
              <a:xfrm>
                <a:off x="297364" y="846138"/>
                <a:ext cx="830262" cy="830262"/>
              </a:xfrm>
              <a:prstGeom prst="ellipse">
                <a:avLst/>
              </a:prstGeom>
              <a:gradFill>
                <a:gsLst>
                  <a:gs pos="100000">
                    <a:schemeClr val="accent6">
                      <a:lumMod val="20000"/>
                      <a:lumOff val="80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Immagine 62"/>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50268" y="1078706"/>
                <a:ext cx="724454" cy="365125"/>
              </a:xfrm>
              <a:prstGeom prst="rect">
                <a:avLst/>
              </a:prstGeom>
            </p:spPr>
          </p:pic>
        </p:grpSp>
      </p:grpSp>
      <p:grpSp>
        <p:nvGrpSpPr>
          <p:cNvPr id="16" name="Gruppo 73"/>
          <p:cNvGrpSpPr/>
          <p:nvPr/>
        </p:nvGrpSpPr>
        <p:grpSpPr>
          <a:xfrm>
            <a:off x="6122867" y="3607101"/>
            <a:ext cx="1907688" cy="646331"/>
            <a:chOff x="3153537" y="6037319"/>
            <a:chExt cx="1907688" cy="646331"/>
          </a:xfrm>
        </p:grpSpPr>
        <p:sp>
          <p:nvSpPr>
            <p:cNvPr id="75" name="CasellaDiTesto 74"/>
            <p:cNvSpPr txBox="1"/>
            <p:nvPr/>
          </p:nvSpPr>
          <p:spPr>
            <a:xfrm>
              <a:off x="3778117" y="6037319"/>
              <a:ext cx="1283108" cy="646331"/>
            </a:xfrm>
            <a:prstGeom prst="rect">
              <a:avLst/>
            </a:prstGeom>
            <a:noFill/>
          </p:spPr>
          <p:txBody>
            <a:bodyPr wrap="none" rtlCol="0">
              <a:spAutoFit/>
            </a:bodyPr>
            <a:lstStyle/>
            <a:p>
              <a:r>
                <a:rPr lang="en-US" b="1" i="1" dirty="0">
                  <a:solidFill>
                    <a:srgbClr val="F79646"/>
                  </a:solidFill>
                  <a:effectLst>
                    <a:innerShdw blurRad="63500" dist="50800" dir="10800000">
                      <a:prstClr val="black">
                        <a:alpha val="50000"/>
                      </a:prstClr>
                    </a:innerShdw>
                  </a:effectLst>
                </a:rPr>
                <a:t>52 North</a:t>
              </a:r>
            </a:p>
            <a:p>
              <a:r>
                <a:rPr lang="en-US" b="1" i="1" dirty="0">
                  <a:solidFill>
                    <a:srgbClr val="F79646"/>
                  </a:solidFill>
                  <a:effectLst>
                    <a:innerShdw blurRad="63500" dist="50800" dir="10800000">
                      <a:prstClr val="black">
                        <a:alpha val="50000"/>
                      </a:prstClr>
                    </a:innerShdw>
                  </a:effectLst>
                </a:rPr>
                <a:t>SOS Service</a:t>
              </a:r>
            </a:p>
          </p:txBody>
        </p:sp>
        <p:grpSp>
          <p:nvGrpSpPr>
            <p:cNvPr id="17" name="Gruppo 75"/>
            <p:cNvGrpSpPr/>
            <p:nvPr/>
          </p:nvGrpSpPr>
          <p:grpSpPr>
            <a:xfrm>
              <a:off x="3153537" y="6159429"/>
              <a:ext cx="480915" cy="480915"/>
              <a:chOff x="297364" y="846138"/>
              <a:chExt cx="830262" cy="830262"/>
            </a:xfrm>
          </p:grpSpPr>
          <p:sp>
            <p:nvSpPr>
              <p:cNvPr id="77" name="Ovale 76"/>
              <p:cNvSpPr/>
              <p:nvPr/>
            </p:nvSpPr>
            <p:spPr>
              <a:xfrm>
                <a:off x="297364" y="846138"/>
                <a:ext cx="830262" cy="830262"/>
              </a:xfrm>
              <a:prstGeom prst="ellipse">
                <a:avLst/>
              </a:prstGeom>
              <a:gradFill>
                <a:gsLst>
                  <a:gs pos="100000">
                    <a:schemeClr val="accent6">
                      <a:lumMod val="20000"/>
                      <a:lumOff val="80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8" name="Immagine 77"/>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50268" y="1078706"/>
                <a:ext cx="724454" cy="365125"/>
              </a:xfrm>
              <a:prstGeom prst="rect">
                <a:avLst/>
              </a:prstGeom>
            </p:spPr>
          </p:pic>
        </p:grpSp>
      </p:grpSp>
      <p:sp>
        <p:nvSpPr>
          <p:cNvPr id="79" name="CasellaDiTesto 78"/>
          <p:cNvSpPr txBox="1"/>
          <p:nvPr/>
        </p:nvSpPr>
        <p:spPr>
          <a:xfrm>
            <a:off x="3515189" y="6259748"/>
            <a:ext cx="2904641" cy="461665"/>
          </a:xfrm>
          <a:prstGeom prst="rect">
            <a:avLst/>
          </a:prstGeom>
          <a:noFill/>
        </p:spPr>
        <p:txBody>
          <a:bodyPr wrap="none" rtlCol="0">
            <a:spAutoFit/>
          </a:bodyPr>
          <a:lstStyle/>
          <a:p>
            <a:r>
              <a:rPr lang="en-US" sz="2400" dirty="0"/>
              <a:t>Brokered architecture</a:t>
            </a:r>
          </a:p>
        </p:txBody>
      </p:sp>
      <p:grpSp>
        <p:nvGrpSpPr>
          <p:cNvPr id="18" name="Gruppo 8"/>
          <p:cNvGrpSpPr/>
          <p:nvPr/>
        </p:nvGrpSpPr>
        <p:grpSpPr>
          <a:xfrm>
            <a:off x="2504499" y="3607101"/>
            <a:ext cx="1907610" cy="2246395"/>
            <a:chOff x="2504499" y="3607101"/>
            <a:chExt cx="1907610" cy="2246395"/>
          </a:xfrm>
        </p:grpSpPr>
        <p:sp>
          <p:nvSpPr>
            <p:cNvPr id="80" name="CasellaDiTesto 79"/>
            <p:cNvSpPr txBox="1"/>
            <p:nvPr/>
          </p:nvSpPr>
          <p:spPr>
            <a:xfrm>
              <a:off x="3054793" y="4653167"/>
              <a:ext cx="1357316" cy="1200329"/>
            </a:xfrm>
            <a:prstGeom prst="rect">
              <a:avLst/>
            </a:prstGeom>
            <a:noFill/>
          </p:spPr>
          <p:txBody>
            <a:bodyPr wrap="square" rtlCol="0">
              <a:spAutoFit/>
            </a:bodyPr>
            <a:lstStyle/>
            <a:p>
              <a:r>
                <a:rPr lang="en-US" b="1" i="1" dirty="0"/>
                <a:t>… Other existing &amp; future networks ...</a:t>
              </a:r>
            </a:p>
          </p:txBody>
        </p:sp>
        <p:sp>
          <p:nvSpPr>
            <p:cNvPr id="81" name="Ovale 80"/>
            <p:cNvSpPr/>
            <p:nvPr/>
          </p:nvSpPr>
          <p:spPr>
            <a:xfrm>
              <a:off x="2504499" y="4899531"/>
              <a:ext cx="510810" cy="510810"/>
            </a:xfrm>
            <a:prstGeom prst="ellipse">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effectLst>
                    <a:outerShdw blurRad="38100" dist="38100" dir="2700000" algn="tl">
                      <a:srgbClr val="000000">
                        <a:alpha val="43137"/>
                      </a:srgbClr>
                    </a:outerShdw>
                  </a:effectLst>
                </a:rPr>
                <a:t>?</a:t>
              </a:r>
            </a:p>
          </p:txBody>
        </p:sp>
        <p:cxnSp>
          <p:nvCxnSpPr>
            <p:cNvPr id="82" name="Connettore 2 81"/>
            <p:cNvCxnSpPr/>
            <p:nvPr/>
          </p:nvCxnSpPr>
          <p:spPr>
            <a:xfrm flipH="1">
              <a:off x="2936694" y="3607101"/>
              <a:ext cx="296923" cy="10980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9" name="Gruppo 68"/>
          <p:cNvGrpSpPr/>
          <p:nvPr/>
        </p:nvGrpSpPr>
        <p:grpSpPr>
          <a:xfrm>
            <a:off x="169508" y="3969668"/>
            <a:ext cx="1692258" cy="1180542"/>
            <a:chOff x="4230688" y="5542627"/>
            <a:chExt cx="1684763" cy="1175314"/>
          </a:xfrm>
        </p:grpSpPr>
        <p:sp>
          <p:nvSpPr>
            <p:cNvPr id="70" name="CasellaDiTesto 69"/>
            <p:cNvSpPr txBox="1"/>
            <p:nvPr/>
          </p:nvSpPr>
          <p:spPr>
            <a:xfrm>
              <a:off x="4230688" y="6013189"/>
              <a:ext cx="1684763" cy="704752"/>
            </a:xfrm>
            <a:prstGeom prst="rect">
              <a:avLst/>
            </a:prstGeom>
            <a:noFill/>
          </p:spPr>
          <p:txBody>
            <a:bodyPr wrap="none" rtlCol="0">
              <a:spAutoFit/>
            </a:bodyPr>
            <a:lstStyle/>
            <a:p>
              <a:pPr algn="ctr"/>
              <a:r>
                <a:rPr lang="en-US" sz="2000" b="1" i="1" dirty="0">
                  <a:solidFill>
                    <a:srgbClr val="9BBB59"/>
                  </a:solidFill>
                  <a:effectLst>
                    <a:innerShdw blurRad="63500" dist="50800" dir="10800000">
                      <a:prstClr val="black">
                        <a:alpha val="50000"/>
                      </a:prstClr>
                    </a:innerShdw>
                  </a:effectLst>
                </a:rPr>
                <a:t>CUAHSI</a:t>
              </a:r>
            </a:p>
            <a:p>
              <a:pPr algn="ctr"/>
              <a:r>
                <a:rPr lang="en-US" sz="2000" b="1" i="1" dirty="0" err="1">
                  <a:solidFill>
                    <a:srgbClr val="9BBB59"/>
                  </a:solidFill>
                  <a:effectLst>
                    <a:innerShdw blurRad="63500" dist="50800" dir="10800000">
                      <a:prstClr val="black">
                        <a:alpha val="50000"/>
                      </a:prstClr>
                    </a:innerShdw>
                  </a:effectLst>
                </a:rPr>
                <a:t>HydroDesktop</a:t>
              </a:r>
              <a:endParaRPr lang="en-US" sz="2000" b="1" i="1" dirty="0">
                <a:solidFill>
                  <a:srgbClr val="9BBB59"/>
                </a:solidFill>
                <a:effectLst>
                  <a:innerShdw blurRad="63500" dist="50800" dir="10800000">
                    <a:prstClr val="black">
                      <a:alpha val="50000"/>
                    </a:prstClr>
                  </a:innerShdw>
                </a:effectLst>
              </a:endParaRPr>
            </a:p>
          </p:txBody>
        </p:sp>
        <p:pic>
          <p:nvPicPr>
            <p:cNvPr id="71" name="Immagine 70"/>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849740" y="5542627"/>
              <a:ext cx="446660" cy="450874"/>
            </a:xfrm>
            <a:prstGeom prst="rect">
              <a:avLst/>
            </a:prstGeom>
          </p:spPr>
        </p:pic>
      </p:grpSp>
      <p:cxnSp>
        <p:nvCxnSpPr>
          <p:cNvPr id="72" name="Connettore 2 71"/>
          <p:cNvCxnSpPr/>
          <p:nvPr/>
        </p:nvCxnSpPr>
        <p:spPr>
          <a:xfrm flipV="1">
            <a:off x="1543281" y="3451910"/>
            <a:ext cx="773791" cy="510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CasellaDiTesto 4"/>
          <p:cNvSpPr txBox="1"/>
          <p:nvPr/>
        </p:nvSpPr>
        <p:spPr>
          <a:xfrm>
            <a:off x="1812345" y="382124"/>
            <a:ext cx="1809598" cy="369332"/>
          </a:xfrm>
          <a:prstGeom prst="rect">
            <a:avLst/>
          </a:prstGeom>
          <a:noFill/>
        </p:spPr>
        <p:txBody>
          <a:bodyPr wrap="none" rtlCol="0">
            <a:spAutoFit/>
          </a:bodyPr>
          <a:lstStyle/>
          <a:p>
            <a:r>
              <a:rPr lang="en-US" dirty="0"/>
              <a:t>Additional clients</a:t>
            </a:r>
          </a:p>
        </p:txBody>
      </p:sp>
      <p:grpSp>
        <p:nvGrpSpPr>
          <p:cNvPr id="20" name="Gruppo 1"/>
          <p:cNvGrpSpPr/>
          <p:nvPr/>
        </p:nvGrpSpPr>
        <p:grpSpPr>
          <a:xfrm>
            <a:off x="791314" y="1793289"/>
            <a:ext cx="1669423" cy="763417"/>
            <a:chOff x="791314" y="1793289"/>
            <a:chExt cx="1669423" cy="763417"/>
          </a:xfrm>
        </p:grpSpPr>
        <p:cxnSp>
          <p:nvCxnSpPr>
            <p:cNvPr id="7" name="Connettore 2 6"/>
            <p:cNvCxnSpPr/>
            <p:nvPr/>
          </p:nvCxnSpPr>
          <p:spPr>
            <a:xfrm>
              <a:off x="2048842" y="2343776"/>
              <a:ext cx="411895" cy="2129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Ovale 7"/>
            <p:cNvSpPr/>
            <p:nvPr/>
          </p:nvSpPr>
          <p:spPr>
            <a:xfrm>
              <a:off x="791314" y="1793289"/>
              <a:ext cx="467603" cy="46760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CasellaDiTesto 82"/>
            <p:cNvSpPr txBox="1"/>
            <p:nvPr/>
          </p:nvSpPr>
          <p:spPr>
            <a:xfrm>
              <a:off x="1272684" y="1884492"/>
              <a:ext cx="1044388" cy="369332"/>
            </a:xfrm>
            <a:prstGeom prst="rect">
              <a:avLst/>
            </a:prstGeom>
            <a:noFill/>
          </p:spPr>
          <p:txBody>
            <a:bodyPr wrap="none" rtlCol="0">
              <a:spAutoFit/>
            </a:bodyPr>
            <a:lstStyle/>
            <a:p>
              <a:r>
                <a:rPr lang="en-US" b="1" i="1" dirty="0">
                  <a:effectLst>
                    <a:innerShdw blurRad="63500" dist="50800" dir="10800000">
                      <a:prstClr val="black">
                        <a:alpha val="50000"/>
                      </a:prstClr>
                    </a:innerShdw>
                  </a:effectLst>
                </a:rPr>
                <a:t>GI-portal</a:t>
              </a:r>
            </a:p>
          </p:txBody>
        </p:sp>
      </p:grpSp>
      <p:grpSp>
        <p:nvGrpSpPr>
          <p:cNvPr id="21" name="Gruppo 2"/>
          <p:cNvGrpSpPr/>
          <p:nvPr/>
        </p:nvGrpSpPr>
        <p:grpSpPr>
          <a:xfrm>
            <a:off x="1258917" y="1314232"/>
            <a:ext cx="1618284" cy="939592"/>
            <a:chOff x="1258917" y="1314232"/>
            <a:chExt cx="1618284" cy="939592"/>
          </a:xfrm>
        </p:grpSpPr>
        <p:sp>
          <p:nvSpPr>
            <p:cNvPr id="84" name="Ovale 83"/>
            <p:cNvSpPr/>
            <p:nvPr/>
          </p:nvSpPr>
          <p:spPr>
            <a:xfrm>
              <a:off x="1258917" y="1314232"/>
              <a:ext cx="467603" cy="46760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CasellaDiTesto 84"/>
            <p:cNvSpPr txBox="1"/>
            <p:nvPr/>
          </p:nvSpPr>
          <p:spPr>
            <a:xfrm>
              <a:off x="1740287" y="1405435"/>
              <a:ext cx="1136914" cy="369332"/>
            </a:xfrm>
            <a:prstGeom prst="rect">
              <a:avLst/>
            </a:prstGeom>
            <a:noFill/>
          </p:spPr>
          <p:txBody>
            <a:bodyPr wrap="none" rtlCol="0">
              <a:spAutoFit/>
            </a:bodyPr>
            <a:lstStyle/>
            <a:p>
              <a:r>
                <a:rPr lang="en-US" b="1" i="1" dirty="0" err="1">
                  <a:effectLst>
                    <a:innerShdw blurRad="63500" dist="50800" dir="10800000">
                      <a:prstClr val="black">
                        <a:alpha val="50000"/>
                      </a:prstClr>
                    </a:innerShdw>
                  </a:effectLst>
                </a:rPr>
                <a:t>jOAI</a:t>
              </a:r>
              <a:r>
                <a:rPr lang="en-US" b="1" i="1" dirty="0">
                  <a:effectLst>
                    <a:innerShdw blurRad="63500" dist="50800" dir="10800000">
                      <a:prstClr val="black">
                        <a:alpha val="50000"/>
                      </a:prstClr>
                    </a:innerShdw>
                  </a:effectLst>
                </a:rPr>
                <a:t>-PMH</a:t>
              </a:r>
            </a:p>
          </p:txBody>
        </p:sp>
        <p:cxnSp>
          <p:nvCxnSpPr>
            <p:cNvPr id="86" name="Connettore 2 85"/>
            <p:cNvCxnSpPr/>
            <p:nvPr/>
          </p:nvCxnSpPr>
          <p:spPr>
            <a:xfrm>
              <a:off x="2518466" y="1793289"/>
              <a:ext cx="335294" cy="4605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2" name="Gruppo 5"/>
          <p:cNvGrpSpPr/>
          <p:nvPr/>
        </p:nvGrpSpPr>
        <p:grpSpPr>
          <a:xfrm>
            <a:off x="2886945" y="804489"/>
            <a:ext cx="2080564" cy="1392149"/>
            <a:chOff x="2413695" y="758245"/>
            <a:chExt cx="2080564" cy="1399805"/>
          </a:xfrm>
        </p:grpSpPr>
        <p:sp>
          <p:nvSpPr>
            <p:cNvPr id="87" name="Ovale 86"/>
            <p:cNvSpPr/>
            <p:nvPr/>
          </p:nvSpPr>
          <p:spPr>
            <a:xfrm>
              <a:off x="2413695" y="997960"/>
              <a:ext cx="467603" cy="46760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CasellaDiTesto 87"/>
            <p:cNvSpPr txBox="1"/>
            <p:nvPr/>
          </p:nvSpPr>
          <p:spPr>
            <a:xfrm>
              <a:off x="2846179" y="758245"/>
              <a:ext cx="1648080" cy="923330"/>
            </a:xfrm>
            <a:prstGeom prst="rect">
              <a:avLst/>
            </a:prstGeom>
            <a:noFill/>
          </p:spPr>
          <p:txBody>
            <a:bodyPr wrap="none" rtlCol="0">
              <a:spAutoFit/>
            </a:bodyPr>
            <a:lstStyle/>
            <a:p>
              <a:pPr algn="ctr"/>
              <a:r>
                <a:rPr lang="en-US" b="1" i="1" dirty="0">
                  <a:effectLst>
                    <a:innerShdw blurRad="63500" dist="50800" dir="10800000">
                      <a:prstClr val="black">
                        <a:alpha val="50000"/>
                      </a:prstClr>
                    </a:innerShdw>
                  </a:effectLst>
                </a:rPr>
                <a:t>WIGOS</a:t>
              </a:r>
            </a:p>
            <a:p>
              <a:pPr algn="ctr"/>
              <a:r>
                <a:rPr lang="en-US" b="1" i="1" dirty="0">
                  <a:effectLst>
                    <a:innerShdw blurRad="63500" dist="50800" dir="10800000">
                      <a:prstClr val="black">
                        <a:alpha val="50000"/>
                      </a:prstClr>
                    </a:innerShdw>
                  </a:effectLst>
                </a:rPr>
                <a:t>OSCAR/Surface</a:t>
              </a:r>
            </a:p>
            <a:p>
              <a:pPr algn="ctr"/>
              <a:r>
                <a:rPr lang="en-US" b="1" i="1" dirty="0">
                  <a:effectLst>
                    <a:innerShdw blurRad="63500" dist="50800" dir="10800000">
                      <a:prstClr val="black">
                        <a:alpha val="50000"/>
                      </a:prstClr>
                    </a:innerShdw>
                  </a:effectLst>
                </a:rPr>
                <a:t>M2M Interface</a:t>
              </a:r>
            </a:p>
          </p:txBody>
        </p:sp>
        <p:cxnSp>
          <p:nvCxnSpPr>
            <p:cNvPr id="89" name="Connettore 2 88"/>
            <p:cNvCxnSpPr/>
            <p:nvPr/>
          </p:nvCxnSpPr>
          <p:spPr>
            <a:xfrm>
              <a:off x="2726517" y="1568284"/>
              <a:ext cx="105245" cy="5897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8530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randombar(horizont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randombar(horizont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randombar(horizontal)">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noAutofit/>
          </a:bodyPr>
          <a:lstStyle/>
          <a:p>
            <a:pPr algn="ctr"/>
            <a:r>
              <a:rPr lang="it-IT" sz="2800" b="1" dirty="0">
                <a:solidFill>
                  <a:srgbClr val="007AC2"/>
                </a:solidFill>
                <a:cs typeface="Avenir LT Std 85 Heavy"/>
              </a:rPr>
              <a:t>CLIENTS OF WHOS PLATA</a:t>
            </a:r>
            <a:endParaRPr lang="en-US" sz="2800" b="1" dirty="0">
              <a:solidFill>
                <a:srgbClr val="007AC2"/>
              </a:solidFill>
              <a:cs typeface="Avenir LT Std 85 Heavy"/>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323528" y="334778"/>
            <a:ext cx="8569325" cy="612775"/>
          </a:xfrm>
          <a:prstGeom prst="rect">
            <a:avLst/>
          </a:prstGeom>
          <a:noFill/>
          <a:ln w="9525">
            <a:noFill/>
            <a:miter lim="800000"/>
            <a:headEnd/>
            <a:tailEnd/>
          </a:ln>
        </p:spPr>
        <p:txBody>
          <a:bodyPr/>
          <a:lstStyle/>
          <a:p>
            <a:pPr marL="342900" indent="-342900" algn="ctr" eaLnBrk="0" hangingPunct="0">
              <a:spcBef>
                <a:spcPct val="20000"/>
              </a:spcBef>
              <a:defRPr/>
            </a:pPr>
            <a:r>
              <a:rPr lang="en-US" sz="3000" b="1" dirty="0">
                <a:solidFill>
                  <a:srgbClr val="007AC2"/>
                </a:solidFill>
                <a:latin typeface="+mj-lt"/>
                <a:ea typeface="+mj-ea"/>
                <a:cs typeface="Avenir LT Std 55 Roman" pitchFamily="34" charset="0"/>
              </a:rPr>
              <a:t>HYDRODESKTOP</a:t>
            </a:r>
            <a:endParaRPr lang="it-IT" sz="3000" b="1" dirty="0">
              <a:solidFill>
                <a:srgbClr val="007AC2"/>
              </a:solidFill>
              <a:latin typeface="+mj-lt"/>
              <a:ea typeface="+mj-ea"/>
              <a:cs typeface="Avenir LT Std 55 Roman" pitchFamily="34" charset="0"/>
            </a:endParaRPr>
          </a:p>
        </p:txBody>
      </p:sp>
      <p:pic>
        <p:nvPicPr>
          <p:cNvPr id="5" name="Immagin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13360" y="1419911"/>
            <a:ext cx="8288867" cy="4417009"/>
          </a:xfrm>
          <a:prstGeom prst="rect">
            <a:avLst/>
          </a:prstGeom>
        </p:spPr>
      </p:pic>
      <p:pic>
        <p:nvPicPr>
          <p:cNvPr id="6" name="Immagin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21766" y="1189724"/>
            <a:ext cx="4493828" cy="2500220"/>
          </a:xfrm>
          <a:prstGeom prst="rect">
            <a:avLst/>
          </a:prstGeom>
        </p:spPr>
      </p:pic>
    </p:spTree>
    <p:extLst>
      <p:ext uri="{BB962C8B-B14F-4D97-AF65-F5344CB8AC3E}">
        <p14:creationId xmlns:p14="http://schemas.microsoft.com/office/powerpoint/2010/main" val="16025882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HydroExplorer</a:t>
            </a:r>
            <a:endParaRPr lang="en-US" dirty="0"/>
          </a:p>
        </p:txBody>
      </p:sp>
      <p:sp>
        <p:nvSpPr>
          <p:cNvPr id="4" name="Slide Number Placeholder 3"/>
          <p:cNvSpPr>
            <a:spLocks noGrp="1"/>
          </p:cNvSpPr>
          <p:nvPr>
            <p:ph type="sldNum" sz="quarter" idx="12"/>
          </p:nvPr>
        </p:nvSpPr>
        <p:spPr/>
        <p:txBody>
          <a:bodyPr/>
          <a:lstStyle/>
          <a:p>
            <a:r>
              <a:rPr lang="en-US" dirty="0"/>
              <a:t>LaPlataHIS2018 pp</a:t>
            </a:r>
            <a:fld id="{9259AF2F-52C6-9B46-B8B2-0579234AE62E}" type="slidenum">
              <a:rPr lang="en-US" smtClean="0"/>
              <a:pPr/>
              <a:t>64</a:t>
            </a:fld>
            <a:endParaRPr lang="en-US" dirty="0"/>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73370"/>
            <a:ext cx="9144000" cy="4227247"/>
          </a:xfrm>
          <a:prstGeom prst="rect">
            <a:avLst/>
          </a:prstGeom>
        </p:spPr>
      </p:pic>
    </p:spTree>
    <p:extLst>
      <p:ext uri="{BB962C8B-B14F-4D97-AF65-F5344CB8AC3E}">
        <p14:creationId xmlns:p14="http://schemas.microsoft.com/office/powerpoint/2010/main" val="1784798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70545"/>
            <a:ext cx="8229600" cy="1143000"/>
          </a:xfrm>
        </p:spPr>
        <p:txBody>
          <a:bodyPr/>
          <a:lstStyle/>
          <a:p>
            <a:r>
              <a:rPr lang="en-US" dirty="0"/>
              <a:t>Brokered OGC network client</a:t>
            </a:r>
          </a:p>
        </p:txBody>
      </p:sp>
      <p:sp>
        <p:nvSpPr>
          <p:cNvPr id="3" name="Segnaposto contenuto 2"/>
          <p:cNvSpPr>
            <a:spLocks noGrp="1"/>
          </p:cNvSpPr>
          <p:nvPr>
            <p:ph idx="1"/>
          </p:nvPr>
        </p:nvSpPr>
        <p:spPr/>
        <p:txBody>
          <a:bodyPr/>
          <a:lstStyle/>
          <a:p>
            <a:endParaRPr lang="en-US"/>
          </a:p>
        </p:txBody>
      </p:sp>
      <p:pic>
        <p:nvPicPr>
          <p:cNvPr id="6" name="Immagin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402080"/>
            <a:ext cx="9144000" cy="4465320"/>
          </a:xfrm>
          <a:prstGeom prst="rect">
            <a:avLst/>
          </a:prstGeom>
        </p:spPr>
      </p:pic>
      <p:sp>
        <p:nvSpPr>
          <p:cNvPr id="10" name="Ovale 9"/>
          <p:cNvSpPr/>
          <p:nvPr/>
        </p:nvSpPr>
        <p:spPr>
          <a:xfrm>
            <a:off x="1953120" y="3940760"/>
            <a:ext cx="1305017" cy="1189608"/>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CasellaDiTesto 10"/>
          <p:cNvSpPr txBox="1"/>
          <p:nvPr/>
        </p:nvSpPr>
        <p:spPr>
          <a:xfrm>
            <a:off x="1837612" y="5094687"/>
            <a:ext cx="3392815" cy="646331"/>
          </a:xfrm>
          <a:prstGeom prst="rect">
            <a:avLst/>
          </a:prstGeom>
          <a:noFill/>
        </p:spPr>
        <p:txBody>
          <a:bodyPr wrap="square" rtlCol="0">
            <a:spAutoFit/>
          </a:bodyPr>
          <a:lstStyle/>
          <a:p>
            <a:r>
              <a:rPr lang="en-US" b="1" dirty="0">
                <a:solidFill>
                  <a:srgbClr val="FF0000"/>
                </a:solidFill>
              </a:rPr>
              <a:t>Additional resources coming from</a:t>
            </a:r>
          </a:p>
          <a:p>
            <a:r>
              <a:rPr lang="en-US" b="1" dirty="0">
                <a:solidFill>
                  <a:srgbClr val="FF0000"/>
                </a:solidFill>
              </a:rPr>
              <a:t>HIS Servers!</a:t>
            </a:r>
          </a:p>
        </p:txBody>
      </p:sp>
    </p:spTree>
    <p:extLst>
      <p:ext uri="{BB962C8B-B14F-4D97-AF65-F5344CB8AC3E}">
        <p14:creationId xmlns:p14="http://schemas.microsoft.com/office/powerpoint/2010/main" val="18590919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Shape 292"/>
          <p:cNvSpPr txBox="1">
            <a:spLocks noGrp="1"/>
          </p:cNvSpPr>
          <p:nvPr>
            <p:ph type="title"/>
          </p:nvPr>
        </p:nvSpPr>
        <p:spPr>
          <a:xfrm>
            <a:off x="218875" y="365125"/>
            <a:ext cx="8925000" cy="1325600"/>
          </a:xfrm>
          <a:prstGeom prst="rect">
            <a:avLst/>
          </a:prstGeom>
        </p:spPr>
        <p:txBody>
          <a:bodyPr spcFirstLastPara="1" vert="horz" wrap="square" lIns="121900" tIns="121900" rIns="121900" bIns="121900" rtlCol="0" anchor="ctr" anchorCtr="0">
            <a:noAutofit/>
          </a:bodyPr>
          <a:lstStyle/>
          <a:p>
            <a:pPr>
              <a:spcBef>
                <a:spcPts val="0"/>
              </a:spcBef>
            </a:pPr>
            <a:r>
              <a:rPr lang="en" dirty="0"/>
              <a:t>Tethys GRACE App</a:t>
            </a:r>
            <a:endParaRPr dirty="0"/>
          </a:p>
        </p:txBody>
      </p:sp>
      <p:pic>
        <p:nvPicPr>
          <p:cNvPr id="293" name="Shape 29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423476" y="1773101"/>
            <a:ext cx="6561099" cy="4678499"/>
          </a:xfrm>
          <a:prstGeom prst="rect">
            <a:avLst/>
          </a:prstGeom>
          <a:noFill/>
          <a:ln>
            <a:noFill/>
          </a:ln>
        </p:spPr>
      </p:pic>
      <p:sp>
        <p:nvSpPr>
          <p:cNvPr id="294" name="Shape 294"/>
          <p:cNvSpPr/>
          <p:nvPr/>
        </p:nvSpPr>
        <p:spPr>
          <a:xfrm>
            <a:off x="75050" y="3883500"/>
            <a:ext cx="2277000" cy="2786400"/>
          </a:xfrm>
          <a:prstGeom prst="wedgeRoundRectCallout">
            <a:avLst>
              <a:gd name="adj1" fmla="val 55787"/>
              <a:gd name="adj2" fmla="val -68941"/>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pic>
        <p:nvPicPr>
          <p:cNvPr id="295" name="Shape 29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18851" y="4123254"/>
            <a:ext cx="1989375" cy="2306881"/>
          </a:xfrm>
          <a:prstGeom prst="rect">
            <a:avLst/>
          </a:prstGeom>
          <a:noFill/>
          <a:ln w="19050" cap="flat" cmpd="sng">
            <a:solidFill>
              <a:srgbClr val="999999"/>
            </a:solidFill>
            <a:prstDash val="solid"/>
            <a:round/>
            <a:headEnd type="none" w="sm" len="sm"/>
            <a:tailEnd type="none" w="sm" len="sm"/>
          </a:ln>
        </p:spPr>
      </p:pic>
      <p:sp>
        <p:nvSpPr>
          <p:cNvPr id="296" name="Shape 296"/>
          <p:cNvSpPr txBox="1"/>
          <p:nvPr/>
        </p:nvSpPr>
        <p:spPr>
          <a:xfrm>
            <a:off x="120900" y="1480033"/>
            <a:ext cx="2277000" cy="1992800"/>
          </a:xfrm>
          <a:prstGeom prst="rect">
            <a:avLst/>
          </a:prstGeom>
          <a:noFill/>
          <a:ln>
            <a:noFill/>
          </a:ln>
        </p:spPr>
        <p:txBody>
          <a:bodyPr spcFirstLastPara="1" wrap="square" lIns="121900" tIns="121900" rIns="121900" bIns="121900" anchor="t" anchorCtr="0">
            <a:noAutofit/>
          </a:bodyPr>
          <a:lstStyle/>
          <a:p>
            <a:r>
              <a:rPr lang="en" sz="2400"/>
              <a:t>- GRACE Data</a:t>
            </a:r>
            <a:endParaRPr sz="2400"/>
          </a:p>
          <a:p>
            <a:endParaRPr sz="2400"/>
          </a:p>
          <a:p>
            <a:r>
              <a:rPr lang="en" sz="2400"/>
              <a:t>- GLDAS Data</a:t>
            </a:r>
            <a:endParaRPr sz="2400"/>
          </a:p>
          <a:p>
            <a:endParaRPr sz="2400"/>
          </a:p>
          <a:p>
            <a:r>
              <a:rPr lang="en" sz="2400"/>
              <a:t>- Calculated Groundwater Data</a:t>
            </a:r>
            <a:endParaRPr sz="2400"/>
          </a:p>
        </p:txBody>
      </p:sp>
    </p:spTree>
    <p:extLst>
      <p:ext uri="{BB962C8B-B14F-4D97-AF65-F5344CB8AC3E}">
        <p14:creationId xmlns:p14="http://schemas.microsoft.com/office/powerpoint/2010/main" val="16438653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8A87F-E4D6-E442-9380-2126BB279F16}"/>
              </a:ext>
            </a:extLst>
          </p:cNvPr>
          <p:cNvSpPr>
            <a:spLocks noGrp="1"/>
          </p:cNvSpPr>
          <p:nvPr>
            <p:ph type="title"/>
          </p:nvPr>
        </p:nvSpPr>
        <p:spPr>
          <a:xfrm>
            <a:off x="137583" y="94192"/>
            <a:ext cx="7886700" cy="696031"/>
          </a:xfrm>
        </p:spPr>
        <p:txBody>
          <a:bodyPr>
            <a:normAutofit fontScale="90000"/>
          </a:bodyPr>
          <a:lstStyle/>
          <a:p>
            <a:r>
              <a:rPr lang="en-US" dirty="0"/>
              <a:t>Streamflow Prediction App</a:t>
            </a:r>
          </a:p>
        </p:txBody>
      </p:sp>
      <p:pic>
        <p:nvPicPr>
          <p:cNvPr id="5" name="Picture 4">
            <a:extLst>
              <a:ext uri="{FF2B5EF4-FFF2-40B4-BE49-F238E27FC236}">
                <a16:creationId xmlns:a16="http://schemas.microsoft.com/office/drawing/2014/main" id="{09FB818C-3B48-C54E-AF22-842D32C41EB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906841"/>
            <a:ext cx="4818200" cy="5028803"/>
          </a:xfrm>
          <a:prstGeom prst="rect">
            <a:avLst/>
          </a:prstGeom>
        </p:spPr>
      </p:pic>
      <p:pic>
        <p:nvPicPr>
          <p:cNvPr id="7" name="Picture 6">
            <a:extLst>
              <a:ext uri="{FF2B5EF4-FFF2-40B4-BE49-F238E27FC236}">
                <a16:creationId xmlns:a16="http://schemas.microsoft.com/office/drawing/2014/main" id="{49FFF541-5B52-A747-95C8-C67CDF5381D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50367" y="2607731"/>
            <a:ext cx="3447029" cy="3025424"/>
          </a:xfrm>
          <a:prstGeom prst="rect">
            <a:avLst/>
          </a:prstGeom>
        </p:spPr>
      </p:pic>
      <p:pic>
        <p:nvPicPr>
          <p:cNvPr id="9" name="Picture 8">
            <a:extLst>
              <a:ext uri="{FF2B5EF4-FFF2-40B4-BE49-F238E27FC236}">
                <a16:creationId xmlns:a16="http://schemas.microsoft.com/office/drawing/2014/main" id="{A16D85EF-E6F7-BF4B-B696-BAF5AC0BBE9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63101" y="645477"/>
            <a:ext cx="3191933" cy="2301552"/>
          </a:xfrm>
          <a:prstGeom prst="rect">
            <a:avLst/>
          </a:prstGeom>
        </p:spPr>
      </p:pic>
      <p:pic>
        <p:nvPicPr>
          <p:cNvPr id="11" name="Picture 10">
            <a:extLst>
              <a:ext uri="{FF2B5EF4-FFF2-40B4-BE49-F238E27FC236}">
                <a16:creationId xmlns:a16="http://schemas.microsoft.com/office/drawing/2014/main" id="{125B2EBD-AE7E-2A41-B0A4-191B25B5472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997396" y="2705007"/>
            <a:ext cx="3050202" cy="2058903"/>
          </a:xfrm>
          <a:prstGeom prst="rect">
            <a:avLst/>
          </a:prstGeom>
        </p:spPr>
      </p:pic>
      <p:pic>
        <p:nvPicPr>
          <p:cNvPr id="13" name="Picture 12">
            <a:extLst>
              <a:ext uri="{FF2B5EF4-FFF2-40B4-BE49-F238E27FC236}">
                <a16:creationId xmlns:a16="http://schemas.microsoft.com/office/drawing/2014/main" id="{62446CF8-2638-0342-BD13-3492F94BD7B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994447" y="4614485"/>
            <a:ext cx="3056102" cy="2064210"/>
          </a:xfrm>
          <a:prstGeom prst="rect">
            <a:avLst/>
          </a:prstGeom>
        </p:spPr>
      </p:pic>
    </p:spTree>
    <p:extLst>
      <p:ext uri="{BB962C8B-B14F-4D97-AF65-F5344CB8AC3E}">
        <p14:creationId xmlns:p14="http://schemas.microsoft.com/office/powerpoint/2010/main" val="27133386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noAutofit/>
          </a:bodyPr>
          <a:lstStyle/>
          <a:p>
            <a:pPr algn="ctr"/>
            <a:r>
              <a:rPr lang="it-IT" sz="2800" b="1" dirty="0">
                <a:solidFill>
                  <a:srgbClr val="007AC2"/>
                </a:solidFill>
                <a:cs typeface="Avenir LT Std 85 Heavy"/>
              </a:rPr>
              <a:t>PORTAL OF WHOS PLATA</a:t>
            </a:r>
            <a:endParaRPr lang="en-US" sz="2800" b="1" dirty="0">
              <a:solidFill>
                <a:srgbClr val="007AC2"/>
              </a:solidFill>
              <a:cs typeface="Avenir LT Std 85 Heavy"/>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A33ED2-DC32-F045-8D4D-2C27CC5A69A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1000"/>
            <a:ext cx="9144000" cy="6096000"/>
          </a:xfrm>
          <a:prstGeom prst="rect">
            <a:avLst/>
          </a:prstGeom>
        </p:spPr>
      </p:pic>
      <p:sp>
        <p:nvSpPr>
          <p:cNvPr id="9" name="Oval 8">
            <a:extLst>
              <a:ext uri="{FF2B5EF4-FFF2-40B4-BE49-F238E27FC236}">
                <a16:creationId xmlns:a16="http://schemas.microsoft.com/office/drawing/2014/main" id="{50C5A944-2AF1-8643-97D4-B1CEDDB84C5C}"/>
              </a:ext>
            </a:extLst>
          </p:cNvPr>
          <p:cNvSpPr/>
          <p:nvPr/>
        </p:nvSpPr>
        <p:spPr>
          <a:xfrm>
            <a:off x="6682563" y="2434856"/>
            <a:ext cx="127591" cy="15948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3CB89DF-13B2-E140-A3F6-C58EB7CA8ED8}"/>
              </a:ext>
            </a:extLst>
          </p:cNvPr>
          <p:cNvSpPr/>
          <p:nvPr/>
        </p:nvSpPr>
        <p:spPr>
          <a:xfrm>
            <a:off x="2442830" y="2235647"/>
            <a:ext cx="127591" cy="15948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0293621-8C96-AA49-9082-76E78B9A40EA}"/>
              </a:ext>
            </a:extLst>
          </p:cNvPr>
          <p:cNvSpPr/>
          <p:nvPr/>
        </p:nvSpPr>
        <p:spPr>
          <a:xfrm>
            <a:off x="3051544" y="4534980"/>
            <a:ext cx="127591" cy="15948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8">
            <a:extLst>
              <a:ext uri="{FF2B5EF4-FFF2-40B4-BE49-F238E27FC236}">
                <a16:creationId xmlns:a16="http://schemas.microsoft.com/office/drawing/2014/main" id="{B44EBA27-1EB3-D24D-903C-F50079127123}"/>
              </a:ext>
            </a:extLst>
          </p:cNvPr>
          <p:cNvGrpSpPr/>
          <p:nvPr/>
        </p:nvGrpSpPr>
        <p:grpSpPr>
          <a:xfrm>
            <a:off x="3322931" y="3546262"/>
            <a:ext cx="2149889" cy="2136925"/>
            <a:chOff x="593414" y="4540923"/>
            <a:chExt cx="6261563" cy="4592757"/>
          </a:xfrm>
        </p:grpSpPr>
        <p:sp>
          <p:nvSpPr>
            <p:cNvPr id="20" name="Rectangle 19">
              <a:extLst>
                <a:ext uri="{FF2B5EF4-FFF2-40B4-BE49-F238E27FC236}">
                  <a16:creationId xmlns:a16="http://schemas.microsoft.com/office/drawing/2014/main" id="{14EC0BE8-A1A4-AB42-97DB-A67BAB409907}"/>
                </a:ext>
              </a:extLst>
            </p:cNvPr>
            <p:cNvSpPr/>
            <p:nvPr/>
          </p:nvSpPr>
          <p:spPr>
            <a:xfrm>
              <a:off x="593414" y="4540923"/>
              <a:ext cx="6261563" cy="4582034"/>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800" dirty="0"/>
            </a:p>
          </p:txBody>
        </p:sp>
        <p:sp>
          <p:nvSpPr>
            <p:cNvPr id="21" name="Rectangle 20">
              <a:extLst>
                <a:ext uri="{FF2B5EF4-FFF2-40B4-BE49-F238E27FC236}">
                  <a16:creationId xmlns:a16="http://schemas.microsoft.com/office/drawing/2014/main" id="{28BEABAF-9D2C-4440-9581-A82170C69537}"/>
                </a:ext>
              </a:extLst>
            </p:cNvPr>
            <p:cNvSpPr/>
            <p:nvPr/>
          </p:nvSpPr>
          <p:spPr>
            <a:xfrm>
              <a:off x="593414" y="8812138"/>
              <a:ext cx="6261563" cy="32154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2" name="Rectangle 21">
              <a:extLst>
                <a:ext uri="{FF2B5EF4-FFF2-40B4-BE49-F238E27FC236}">
                  <a16:creationId xmlns:a16="http://schemas.microsoft.com/office/drawing/2014/main" id="{656FDAA4-660A-1F46-A597-91CBE4F6D2CF}"/>
                </a:ext>
              </a:extLst>
            </p:cNvPr>
            <p:cNvSpPr/>
            <p:nvPr/>
          </p:nvSpPr>
          <p:spPr>
            <a:xfrm>
              <a:off x="1215466" y="4552570"/>
              <a:ext cx="5639511" cy="52909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WMO LA PLATA PORTAL</a:t>
              </a:r>
            </a:p>
          </p:txBody>
        </p:sp>
        <p:pic>
          <p:nvPicPr>
            <p:cNvPr id="23" name="Picture 22">
              <a:extLst>
                <a:ext uri="{FF2B5EF4-FFF2-40B4-BE49-F238E27FC236}">
                  <a16:creationId xmlns:a16="http://schemas.microsoft.com/office/drawing/2014/main" id="{07F1A917-56B5-2648-A687-F5F3D5E124B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5614"/>
            <a:stretch/>
          </p:blipFill>
          <p:spPr>
            <a:xfrm>
              <a:off x="593414" y="4552570"/>
              <a:ext cx="622052" cy="561302"/>
            </a:xfrm>
            <a:prstGeom prst="rect">
              <a:avLst/>
            </a:prstGeom>
          </p:spPr>
        </p:pic>
      </p:grpSp>
      <p:grpSp>
        <p:nvGrpSpPr>
          <p:cNvPr id="4" name="Group 23">
            <a:extLst>
              <a:ext uri="{FF2B5EF4-FFF2-40B4-BE49-F238E27FC236}">
                <a16:creationId xmlns:a16="http://schemas.microsoft.com/office/drawing/2014/main" id="{8C8D689C-12F9-3E4B-B115-63AF36DD63B4}"/>
              </a:ext>
            </a:extLst>
          </p:cNvPr>
          <p:cNvGrpSpPr/>
          <p:nvPr/>
        </p:nvGrpSpPr>
        <p:grpSpPr>
          <a:xfrm>
            <a:off x="2634243" y="652319"/>
            <a:ext cx="2038973" cy="2014372"/>
            <a:chOff x="593414" y="4540923"/>
            <a:chExt cx="6261563" cy="4592757"/>
          </a:xfrm>
        </p:grpSpPr>
        <p:sp>
          <p:nvSpPr>
            <p:cNvPr id="25" name="Rectangle 24">
              <a:extLst>
                <a:ext uri="{FF2B5EF4-FFF2-40B4-BE49-F238E27FC236}">
                  <a16:creationId xmlns:a16="http://schemas.microsoft.com/office/drawing/2014/main" id="{E3EAC3ED-EC53-274C-9164-0E55D18F819B}"/>
                </a:ext>
              </a:extLst>
            </p:cNvPr>
            <p:cNvSpPr/>
            <p:nvPr/>
          </p:nvSpPr>
          <p:spPr>
            <a:xfrm>
              <a:off x="593414" y="4540923"/>
              <a:ext cx="6261563" cy="4582034"/>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800" dirty="0"/>
            </a:p>
          </p:txBody>
        </p:sp>
        <p:sp>
          <p:nvSpPr>
            <p:cNvPr id="26" name="Rectangle 25">
              <a:extLst>
                <a:ext uri="{FF2B5EF4-FFF2-40B4-BE49-F238E27FC236}">
                  <a16:creationId xmlns:a16="http://schemas.microsoft.com/office/drawing/2014/main" id="{26679A80-C34F-8840-B176-062E2DBA0326}"/>
                </a:ext>
              </a:extLst>
            </p:cNvPr>
            <p:cNvSpPr/>
            <p:nvPr/>
          </p:nvSpPr>
          <p:spPr>
            <a:xfrm>
              <a:off x="593414" y="8812138"/>
              <a:ext cx="6261563" cy="32154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7" name="Rectangle 26">
              <a:extLst>
                <a:ext uri="{FF2B5EF4-FFF2-40B4-BE49-F238E27FC236}">
                  <a16:creationId xmlns:a16="http://schemas.microsoft.com/office/drawing/2014/main" id="{153E572E-F064-7B47-8D38-329BE6474331}"/>
                </a:ext>
              </a:extLst>
            </p:cNvPr>
            <p:cNvSpPr/>
            <p:nvPr/>
          </p:nvSpPr>
          <p:spPr>
            <a:xfrm>
              <a:off x="1215466" y="4552570"/>
              <a:ext cx="5639511" cy="52909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NASA SERVIR PORTAL</a:t>
              </a:r>
            </a:p>
          </p:txBody>
        </p:sp>
        <p:pic>
          <p:nvPicPr>
            <p:cNvPr id="28" name="Picture 27">
              <a:extLst>
                <a:ext uri="{FF2B5EF4-FFF2-40B4-BE49-F238E27FC236}">
                  <a16:creationId xmlns:a16="http://schemas.microsoft.com/office/drawing/2014/main" id="{B99A4E47-3963-2D4E-BB02-9B735A5022A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b="-5614"/>
            <a:stretch/>
          </p:blipFill>
          <p:spPr>
            <a:xfrm>
              <a:off x="593414" y="4552570"/>
              <a:ext cx="622052" cy="561302"/>
            </a:xfrm>
            <a:prstGeom prst="rect">
              <a:avLst/>
            </a:prstGeom>
          </p:spPr>
        </p:pic>
      </p:grpSp>
      <p:grpSp>
        <p:nvGrpSpPr>
          <p:cNvPr id="5" name="Group 3">
            <a:extLst>
              <a:ext uri="{FF2B5EF4-FFF2-40B4-BE49-F238E27FC236}">
                <a16:creationId xmlns:a16="http://schemas.microsoft.com/office/drawing/2014/main" id="{CF78121A-BF8F-FA4B-A136-71BE3F74133E}"/>
              </a:ext>
            </a:extLst>
          </p:cNvPr>
          <p:cNvGrpSpPr/>
          <p:nvPr/>
        </p:nvGrpSpPr>
        <p:grpSpPr>
          <a:xfrm>
            <a:off x="6396274" y="2766359"/>
            <a:ext cx="2329004" cy="2294528"/>
            <a:chOff x="8528365" y="2766359"/>
            <a:chExt cx="3105338" cy="2294528"/>
          </a:xfrm>
        </p:grpSpPr>
        <p:sp>
          <p:nvSpPr>
            <p:cNvPr id="15" name="Rectangle 14">
              <a:extLst>
                <a:ext uri="{FF2B5EF4-FFF2-40B4-BE49-F238E27FC236}">
                  <a16:creationId xmlns:a16="http://schemas.microsoft.com/office/drawing/2014/main" id="{6F80F9A4-78FC-CE45-8A30-6E9F8DE9F652}"/>
                </a:ext>
              </a:extLst>
            </p:cNvPr>
            <p:cNvSpPr/>
            <p:nvPr/>
          </p:nvSpPr>
          <p:spPr>
            <a:xfrm>
              <a:off x="8528365" y="2766359"/>
              <a:ext cx="3105338" cy="2289171"/>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600" dirty="0"/>
            </a:p>
          </p:txBody>
        </p:sp>
        <p:sp>
          <p:nvSpPr>
            <p:cNvPr id="16" name="Rectangle 15">
              <a:extLst>
                <a:ext uri="{FF2B5EF4-FFF2-40B4-BE49-F238E27FC236}">
                  <a16:creationId xmlns:a16="http://schemas.microsoft.com/office/drawing/2014/main" id="{D6DE51F6-1C1F-BF4F-8C3D-B83CC002DADA}"/>
                </a:ext>
              </a:extLst>
            </p:cNvPr>
            <p:cNvSpPr/>
            <p:nvPr/>
          </p:nvSpPr>
          <p:spPr>
            <a:xfrm>
              <a:off x="8528365" y="4900246"/>
              <a:ext cx="3105338" cy="16064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525AD8E3-F8A4-3F47-BB45-790D2B701A8E}"/>
                </a:ext>
              </a:extLst>
            </p:cNvPr>
            <p:cNvSpPr/>
            <p:nvPr/>
          </p:nvSpPr>
          <p:spPr>
            <a:xfrm>
              <a:off x="8836863" y="2772178"/>
              <a:ext cx="2796840" cy="269710"/>
            </a:xfrm>
            <a:prstGeom prst="rect">
              <a:avLst/>
            </a:prstGeom>
            <a:solidFill>
              <a:srgbClr val="0E4D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ICIMOD NEPAL PORTAL</a:t>
              </a:r>
            </a:p>
          </p:txBody>
        </p:sp>
        <p:pic>
          <p:nvPicPr>
            <p:cNvPr id="18" name="Picture 17">
              <a:extLst>
                <a:ext uri="{FF2B5EF4-FFF2-40B4-BE49-F238E27FC236}">
                  <a16:creationId xmlns:a16="http://schemas.microsoft.com/office/drawing/2014/main" id="{D8DBC756-2AA7-CC4F-A589-036620B4A0E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b="-5614"/>
            <a:stretch/>
          </p:blipFill>
          <p:spPr>
            <a:xfrm>
              <a:off x="8528365" y="2772178"/>
              <a:ext cx="308498" cy="280425"/>
            </a:xfrm>
            <a:prstGeom prst="rect">
              <a:avLst/>
            </a:prstGeom>
          </p:spPr>
        </p:pic>
      </p:grpSp>
      <p:grpSp>
        <p:nvGrpSpPr>
          <p:cNvPr id="6" name="Group 185">
            <a:extLst>
              <a:ext uri="{FF2B5EF4-FFF2-40B4-BE49-F238E27FC236}">
                <a16:creationId xmlns:a16="http://schemas.microsoft.com/office/drawing/2014/main" id="{5B53CABC-21FA-DC43-8D44-6F36B2CDAEC5}"/>
              </a:ext>
            </a:extLst>
          </p:cNvPr>
          <p:cNvGrpSpPr/>
          <p:nvPr/>
        </p:nvGrpSpPr>
        <p:grpSpPr>
          <a:xfrm>
            <a:off x="12317" y="3079763"/>
            <a:ext cx="2941161" cy="2953414"/>
            <a:chOff x="43582" y="3395050"/>
            <a:chExt cx="3466846" cy="2610967"/>
          </a:xfrm>
        </p:grpSpPr>
        <p:grpSp>
          <p:nvGrpSpPr>
            <p:cNvPr id="7" name="Group 28">
              <a:extLst>
                <a:ext uri="{FF2B5EF4-FFF2-40B4-BE49-F238E27FC236}">
                  <a16:creationId xmlns:a16="http://schemas.microsoft.com/office/drawing/2014/main" id="{D45EDBC0-2F67-0042-B8B1-C0BD7C376EA4}"/>
                </a:ext>
              </a:extLst>
            </p:cNvPr>
            <p:cNvGrpSpPr/>
            <p:nvPr/>
          </p:nvGrpSpPr>
          <p:grpSpPr>
            <a:xfrm>
              <a:off x="43583" y="3794474"/>
              <a:ext cx="3466845" cy="2211543"/>
              <a:chOff x="3024490" y="147145"/>
              <a:chExt cx="6484883" cy="3920358"/>
            </a:xfrm>
          </p:grpSpPr>
          <p:sp>
            <p:nvSpPr>
              <p:cNvPr id="30" name="Rounded Rectangle 29">
                <a:extLst>
                  <a:ext uri="{FF2B5EF4-FFF2-40B4-BE49-F238E27FC236}">
                    <a16:creationId xmlns:a16="http://schemas.microsoft.com/office/drawing/2014/main" id="{0981C84A-106A-4F46-B6D9-AE3A46707277}"/>
                  </a:ext>
                </a:extLst>
              </p:cNvPr>
              <p:cNvSpPr/>
              <p:nvPr/>
            </p:nvSpPr>
            <p:spPr>
              <a:xfrm>
                <a:off x="3024490" y="147145"/>
                <a:ext cx="6484883" cy="3920358"/>
              </a:xfrm>
              <a:prstGeom prst="roundRect">
                <a:avLst>
                  <a:gd name="adj" fmla="val 0"/>
                </a:avLst>
              </a:prstGeom>
              <a:effectLst>
                <a:outerShdw blurRad="50800" dist="38100" dir="2700000" algn="tl"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grpSp>
            <p:nvGrpSpPr>
              <p:cNvPr id="8" name="Group 30">
                <a:extLst>
                  <a:ext uri="{FF2B5EF4-FFF2-40B4-BE49-F238E27FC236}">
                    <a16:creationId xmlns:a16="http://schemas.microsoft.com/office/drawing/2014/main" id="{801672A5-85F9-3F4A-B05C-649329C01C49}"/>
                  </a:ext>
                </a:extLst>
              </p:cNvPr>
              <p:cNvGrpSpPr/>
              <p:nvPr/>
            </p:nvGrpSpPr>
            <p:grpSpPr>
              <a:xfrm>
                <a:off x="3258487" y="333697"/>
                <a:ext cx="1126236" cy="839365"/>
                <a:chOff x="626875" y="945373"/>
                <a:chExt cx="1926319" cy="1435653"/>
              </a:xfrm>
            </p:grpSpPr>
            <p:pic>
              <p:nvPicPr>
                <p:cNvPr id="160" name="Picture 159" descr="screenshot_01.png">
                  <a:extLst>
                    <a:ext uri="{FF2B5EF4-FFF2-40B4-BE49-F238E27FC236}">
                      <a16:creationId xmlns:a16="http://schemas.microsoft.com/office/drawing/2014/main" id="{28C4397A-30F8-F546-826D-E7322C018FD3}"/>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26875" y="945373"/>
                  <a:ext cx="1926319" cy="1435653"/>
                </a:xfrm>
                <a:prstGeom prst="rect">
                  <a:avLst/>
                </a:prstGeom>
              </p:spPr>
            </p:pic>
            <p:sp>
              <p:nvSpPr>
                <p:cNvPr id="161" name="Rectangle 160">
                  <a:extLst>
                    <a:ext uri="{FF2B5EF4-FFF2-40B4-BE49-F238E27FC236}">
                      <a16:creationId xmlns:a16="http://schemas.microsoft.com/office/drawing/2014/main" id="{B83811E7-912B-4846-830A-7AC2A1BC5336}"/>
                    </a:ext>
                  </a:extLst>
                </p:cNvPr>
                <p:cNvSpPr/>
                <p:nvPr/>
              </p:nvSpPr>
              <p:spPr>
                <a:xfrm>
                  <a:off x="1023023" y="129340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2" name="Picture 161" descr="rasterviewer.jpg">
                  <a:extLst>
                    <a:ext uri="{FF2B5EF4-FFF2-40B4-BE49-F238E27FC236}">
                      <a16:creationId xmlns:a16="http://schemas.microsoft.com/office/drawing/2014/main" id="{DF42445C-480F-4B43-8BE7-DFC8E143BC7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99407" y="1423707"/>
                  <a:ext cx="1081816" cy="724433"/>
                </a:xfrm>
                <a:prstGeom prst="rect">
                  <a:avLst/>
                </a:prstGeom>
              </p:spPr>
            </p:pic>
            <p:pic>
              <p:nvPicPr>
                <p:cNvPr id="163" name="Picture 162">
                  <a:extLst>
                    <a:ext uri="{FF2B5EF4-FFF2-40B4-BE49-F238E27FC236}">
                      <a16:creationId xmlns:a16="http://schemas.microsoft.com/office/drawing/2014/main" id="{8950CCDE-1E53-784B-9E42-85ABF9B01671}"/>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68669" y="1046483"/>
                  <a:ext cx="1653661" cy="246577"/>
                </a:xfrm>
                <a:prstGeom prst="rect">
                  <a:avLst/>
                </a:prstGeom>
              </p:spPr>
            </p:pic>
          </p:grpSp>
          <p:grpSp>
            <p:nvGrpSpPr>
              <p:cNvPr id="11" name="Group 31">
                <a:extLst>
                  <a:ext uri="{FF2B5EF4-FFF2-40B4-BE49-F238E27FC236}">
                    <a16:creationId xmlns:a16="http://schemas.microsoft.com/office/drawing/2014/main" id="{C75458E2-C423-FF42-B659-B4CEE4656939}"/>
                  </a:ext>
                </a:extLst>
              </p:cNvPr>
              <p:cNvGrpSpPr/>
              <p:nvPr/>
            </p:nvGrpSpPr>
            <p:grpSpPr>
              <a:xfrm>
                <a:off x="3258487" y="1225428"/>
                <a:ext cx="1126236" cy="839365"/>
                <a:chOff x="191331" y="1956125"/>
                <a:chExt cx="1926319" cy="1435653"/>
              </a:xfrm>
            </p:grpSpPr>
            <p:pic>
              <p:nvPicPr>
                <p:cNvPr id="156" name="Picture 155" descr="screenshot_01.png">
                  <a:extLst>
                    <a:ext uri="{FF2B5EF4-FFF2-40B4-BE49-F238E27FC236}">
                      <a16:creationId xmlns:a16="http://schemas.microsoft.com/office/drawing/2014/main" id="{70D6E18F-CF92-644D-BC0C-FC636E55E14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1331" y="1956125"/>
                  <a:ext cx="1926319" cy="1435653"/>
                </a:xfrm>
                <a:prstGeom prst="rect">
                  <a:avLst/>
                </a:prstGeom>
              </p:spPr>
            </p:pic>
            <p:sp>
              <p:nvSpPr>
                <p:cNvPr id="157" name="Rectangle 156">
                  <a:extLst>
                    <a:ext uri="{FF2B5EF4-FFF2-40B4-BE49-F238E27FC236}">
                      <a16:creationId xmlns:a16="http://schemas.microsoft.com/office/drawing/2014/main" id="{29D1DAC7-72B6-0E4E-A2AD-FF57D86CAF95}"/>
                    </a:ext>
                  </a:extLst>
                </p:cNvPr>
                <p:cNvSpPr/>
                <p:nvPr/>
              </p:nvSpPr>
              <p:spPr>
                <a:xfrm>
                  <a:off x="587479" y="2304160"/>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8" name="Picture 157" descr="featureviewer.jpg">
                  <a:extLst>
                    <a:ext uri="{FF2B5EF4-FFF2-40B4-BE49-F238E27FC236}">
                      <a16:creationId xmlns:a16="http://schemas.microsoft.com/office/drawing/2014/main" id="{93F233DC-9D57-9A44-B0E6-2E06937CE539}"/>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71161" y="2385837"/>
                  <a:ext cx="798601" cy="777133"/>
                </a:xfrm>
                <a:prstGeom prst="rect">
                  <a:avLst/>
                </a:prstGeom>
              </p:spPr>
            </p:pic>
            <p:pic>
              <p:nvPicPr>
                <p:cNvPr id="159" name="Picture 158">
                  <a:extLst>
                    <a:ext uri="{FF2B5EF4-FFF2-40B4-BE49-F238E27FC236}">
                      <a16:creationId xmlns:a16="http://schemas.microsoft.com/office/drawing/2014/main" id="{089A17EB-9658-D44E-9026-347A204A6769}"/>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09133" y="2092969"/>
                  <a:ext cx="1701636" cy="235951"/>
                </a:xfrm>
                <a:prstGeom prst="rect">
                  <a:avLst/>
                </a:prstGeom>
              </p:spPr>
            </p:pic>
          </p:grpSp>
          <p:grpSp>
            <p:nvGrpSpPr>
              <p:cNvPr id="13" name="Group 32">
                <a:extLst>
                  <a:ext uri="{FF2B5EF4-FFF2-40B4-BE49-F238E27FC236}">
                    <a16:creationId xmlns:a16="http://schemas.microsoft.com/office/drawing/2014/main" id="{553DF16F-560F-3141-BB05-2F5DCCA7F08F}"/>
                  </a:ext>
                </a:extLst>
              </p:cNvPr>
              <p:cNvGrpSpPr/>
              <p:nvPr/>
            </p:nvGrpSpPr>
            <p:grpSpPr>
              <a:xfrm>
                <a:off x="3258487" y="2128969"/>
                <a:ext cx="1126236" cy="839365"/>
                <a:chOff x="249659" y="3601823"/>
                <a:chExt cx="1926319" cy="1435653"/>
              </a:xfrm>
            </p:grpSpPr>
            <p:pic>
              <p:nvPicPr>
                <p:cNvPr id="152" name="Picture 151" descr="screenshot_01.png">
                  <a:extLst>
                    <a:ext uri="{FF2B5EF4-FFF2-40B4-BE49-F238E27FC236}">
                      <a16:creationId xmlns:a16="http://schemas.microsoft.com/office/drawing/2014/main" id="{BC31F030-3317-AB4F-9822-B694D7F0E0D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49659" y="3601823"/>
                  <a:ext cx="1926319" cy="1435653"/>
                </a:xfrm>
                <a:prstGeom prst="rect">
                  <a:avLst/>
                </a:prstGeom>
              </p:spPr>
            </p:pic>
            <p:sp>
              <p:nvSpPr>
                <p:cNvPr id="153" name="Rectangle 152">
                  <a:extLst>
                    <a:ext uri="{FF2B5EF4-FFF2-40B4-BE49-F238E27FC236}">
                      <a16:creationId xmlns:a16="http://schemas.microsoft.com/office/drawing/2014/main" id="{9FF67C3F-4FD7-8147-A3D4-A3428DA80F8B}"/>
                    </a:ext>
                  </a:extLst>
                </p:cNvPr>
                <p:cNvSpPr/>
                <p:nvPr/>
              </p:nvSpPr>
              <p:spPr>
                <a:xfrm>
                  <a:off x="645807" y="394985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4" name="Picture 153" descr="timeseriesviewer.jpg">
                  <a:extLst>
                    <a:ext uri="{FF2B5EF4-FFF2-40B4-BE49-F238E27FC236}">
                      <a16:creationId xmlns:a16="http://schemas.microsoft.com/office/drawing/2014/main" id="{B6C6B820-03E9-0743-B2F0-1C3BB07BBD4E}"/>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53496" y="4044365"/>
                  <a:ext cx="798578" cy="776518"/>
                </a:xfrm>
                <a:prstGeom prst="rect">
                  <a:avLst/>
                </a:prstGeom>
              </p:spPr>
            </p:pic>
            <p:pic>
              <p:nvPicPr>
                <p:cNvPr id="155" name="Picture 154">
                  <a:extLst>
                    <a:ext uri="{FF2B5EF4-FFF2-40B4-BE49-F238E27FC236}">
                      <a16:creationId xmlns:a16="http://schemas.microsoft.com/office/drawing/2014/main" id="{FC02D50C-2E2A-D041-98B0-B11B2E193799}"/>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03202" y="3744107"/>
                  <a:ext cx="1629583" cy="194908"/>
                </a:xfrm>
                <a:prstGeom prst="rect">
                  <a:avLst/>
                </a:prstGeom>
              </p:spPr>
            </p:pic>
          </p:grpSp>
          <p:grpSp>
            <p:nvGrpSpPr>
              <p:cNvPr id="14" name="Group 33">
                <a:extLst>
                  <a:ext uri="{FF2B5EF4-FFF2-40B4-BE49-F238E27FC236}">
                    <a16:creationId xmlns:a16="http://schemas.microsoft.com/office/drawing/2014/main" id="{3E81F844-F1BC-364A-96E9-8850781A855A}"/>
                  </a:ext>
                </a:extLst>
              </p:cNvPr>
              <p:cNvGrpSpPr/>
              <p:nvPr/>
            </p:nvGrpSpPr>
            <p:grpSpPr>
              <a:xfrm>
                <a:off x="4497535" y="333697"/>
                <a:ext cx="1126236" cy="839365"/>
                <a:chOff x="2330515" y="473671"/>
                <a:chExt cx="1926319" cy="1435653"/>
              </a:xfrm>
            </p:grpSpPr>
            <p:pic>
              <p:nvPicPr>
                <p:cNvPr id="148" name="Picture 147" descr="screenshot_01.png">
                  <a:extLst>
                    <a:ext uri="{FF2B5EF4-FFF2-40B4-BE49-F238E27FC236}">
                      <a16:creationId xmlns:a16="http://schemas.microsoft.com/office/drawing/2014/main" id="{F9DCCCD6-D5A9-894A-8AA3-6BA6FDAA5B5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30515" y="473671"/>
                  <a:ext cx="1926319" cy="1435653"/>
                </a:xfrm>
                <a:prstGeom prst="rect">
                  <a:avLst/>
                </a:prstGeom>
              </p:spPr>
            </p:pic>
            <p:sp>
              <p:nvSpPr>
                <p:cNvPr id="149" name="Rectangle 148">
                  <a:extLst>
                    <a:ext uri="{FF2B5EF4-FFF2-40B4-BE49-F238E27FC236}">
                      <a16:creationId xmlns:a16="http://schemas.microsoft.com/office/drawing/2014/main" id="{09DA455A-EC27-D140-ACEA-7B4185FDCEEA}"/>
                    </a:ext>
                  </a:extLst>
                </p:cNvPr>
                <p:cNvSpPr/>
                <p:nvPr/>
              </p:nvSpPr>
              <p:spPr>
                <a:xfrm>
                  <a:off x="2726663" y="821706"/>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0" name="Picture 149" descr="table_5rows.png">
                  <a:extLst>
                    <a:ext uri="{FF2B5EF4-FFF2-40B4-BE49-F238E27FC236}">
                      <a16:creationId xmlns:a16="http://schemas.microsoft.com/office/drawing/2014/main" id="{68E3A58E-0588-104B-B0A5-0343063EEE72}"/>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2915585" y="877030"/>
                  <a:ext cx="1011881" cy="865080"/>
                </a:xfrm>
                <a:prstGeom prst="rect">
                  <a:avLst/>
                </a:prstGeom>
              </p:spPr>
            </p:pic>
            <p:pic>
              <p:nvPicPr>
                <p:cNvPr id="151" name="Picture 150">
                  <a:extLst>
                    <a:ext uri="{FF2B5EF4-FFF2-40B4-BE49-F238E27FC236}">
                      <a16:creationId xmlns:a16="http://schemas.microsoft.com/office/drawing/2014/main" id="{2AF6544B-5E30-184B-A575-CBE500A1002B}"/>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462890" y="603710"/>
                  <a:ext cx="1688889" cy="207610"/>
                </a:xfrm>
                <a:prstGeom prst="rect">
                  <a:avLst/>
                </a:prstGeom>
              </p:spPr>
            </p:pic>
          </p:grpSp>
          <p:grpSp>
            <p:nvGrpSpPr>
              <p:cNvPr id="19" name="Group 34">
                <a:extLst>
                  <a:ext uri="{FF2B5EF4-FFF2-40B4-BE49-F238E27FC236}">
                    <a16:creationId xmlns:a16="http://schemas.microsoft.com/office/drawing/2014/main" id="{60AD5C22-6F87-8543-B613-218C68C71C22}"/>
                  </a:ext>
                </a:extLst>
              </p:cNvPr>
              <p:cNvGrpSpPr/>
              <p:nvPr/>
            </p:nvGrpSpPr>
            <p:grpSpPr>
              <a:xfrm>
                <a:off x="4497535" y="1225428"/>
                <a:ext cx="1126236" cy="839365"/>
                <a:chOff x="2342274" y="1966969"/>
                <a:chExt cx="1926319" cy="1435653"/>
              </a:xfrm>
            </p:grpSpPr>
            <p:pic>
              <p:nvPicPr>
                <p:cNvPr id="118" name="Picture 117" descr="screenshot_01.png">
                  <a:extLst>
                    <a:ext uri="{FF2B5EF4-FFF2-40B4-BE49-F238E27FC236}">
                      <a16:creationId xmlns:a16="http://schemas.microsoft.com/office/drawing/2014/main" id="{1481FA09-3D51-1943-B291-6F5C95AA33E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42274" y="1966969"/>
                  <a:ext cx="1926319" cy="1435653"/>
                </a:xfrm>
                <a:prstGeom prst="rect">
                  <a:avLst/>
                </a:prstGeom>
              </p:spPr>
            </p:pic>
            <p:sp>
              <p:nvSpPr>
                <p:cNvPr id="119" name="Rectangle 118">
                  <a:extLst>
                    <a:ext uri="{FF2B5EF4-FFF2-40B4-BE49-F238E27FC236}">
                      <a16:creationId xmlns:a16="http://schemas.microsoft.com/office/drawing/2014/main" id="{24DBC81D-8652-2540-BCE1-9373272C19F1}"/>
                    </a:ext>
                  </a:extLst>
                </p:cNvPr>
                <p:cNvSpPr/>
                <p:nvPr/>
              </p:nvSpPr>
              <p:spPr>
                <a:xfrm>
                  <a:off x="2738422" y="2315004"/>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4" name="Group 119">
                  <a:extLst>
                    <a:ext uri="{FF2B5EF4-FFF2-40B4-BE49-F238E27FC236}">
                      <a16:creationId xmlns:a16="http://schemas.microsoft.com/office/drawing/2014/main" id="{2BA27E94-F2FB-7146-8B9F-EA5EBA565561}"/>
                    </a:ext>
                  </a:extLst>
                </p:cNvPr>
                <p:cNvGrpSpPr/>
                <p:nvPr/>
              </p:nvGrpSpPr>
              <p:grpSpPr>
                <a:xfrm>
                  <a:off x="2941473" y="2386926"/>
                  <a:ext cx="917352" cy="846594"/>
                  <a:chOff x="1318745" y="3304070"/>
                  <a:chExt cx="1030949" cy="999450"/>
                </a:xfrm>
              </p:grpSpPr>
              <p:grpSp>
                <p:nvGrpSpPr>
                  <p:cNvPr id="29" name="Group 121">
                    <a:extLst>
                      <a:ext uri="{FF2B5EF4-FFF2-40B4-BE49-F238E27FC236}">
                        <a16:creationId xmlns:a16="http://schemas.microsoft.com/office/drawing/2014/main" id="{98123B41-BFDC-A34B-AA17-EFDBD73674EA}"/>
                      </a:ext>
                    </a:extLst>
                  </p:cNvPr>
                  <p:cNvGrpSpPr/>
                  <p:nvPr/>
                </p:nvGrpSpPr>
                <p:grpSpPr>
                  <a:xfrm>
                    <a:off x="1804591" y="3621541"/>
                    <a:ext cx="545103" cy="681979"/>
                    <a:chOff x="4062296" y="1830253"/>
                    <a:chExt cx="1770110" cy="2214586"/>
                  </a:xfrm>
                </p:grpSpPr>
                <p:pic>
                  <p:nvPicPr>
                    <p:cNvPr id="129" name="Picture 128" descr="database_org.png">
                      <a:extLst>
                        <a:ext uri="{FF2B5EF4-FFF2-40B4-BE49-F238E27FC236}">
                          <a16:creationId xmlns:a16="http://schemas.microsoft.com/office/drawing/2014/main" id="{B4C299A8-D4B7-6344-9EAC-ACB19A564CD9}"/>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4062296" y="1830253"/>
                      <a:ext cx="1770110" cy="2214586"/>
                    </a:xfrm>
                    <a:prstGeom prst="rect">
                      <a:avLst/>
                    </a:prstGeom>
                  </p:spPr>
                </p:pic>
                <p:grpSp>
                  <p:nvGrpSpPr>
                    <p:cNvPr id="31" name="Group 129">
                      <a:extLst>
                        <a:ext uri="{FF2B5EF4-FFF2-40B4-BE49-F238E27FC236}">
                          <a16:creationId xmlns:a16="http://schemas.microsoft.com/office/drawing/2014/main" id="{0359EC5C-42BF-2540-AF0A-5B976E6ED657}"/>
                        </a:ext>
                      </a:extLst>
                    </p:cNvPr>
                    <p:cNvGrpSpPr/>
                    <p:nvPr/>
                  </p:nvGrpSpPr>
                  <p:grpSpPr>
                    <a:xfrm>
                      <a:off x="4163927" y="2582324"/>
                      <a:ext cx="679163" cy="651197"/>
                      <a:chOff x="3106093" y="2382889"/>
                      <a:chExt cx="2208921" cy="2117965"/>
                    </a:xfrm>
                  </p:grpSpPr>
                  <p:pic>
                    <p:nvPicPr>
                      <p:cNvPr id="143" name="Picture 142" descr="database_blu.png">
                        <a:extLst>
                          <a:ext uri="{FF2B5EF4-FFF2-40B4-BE49-F238E27FC236}">
                            <a16:creationId xmlns:a16="http://schemas.microsoft.com/office/drawing/2014/main" id="{7CF1FFC5-D42F-DB4F-86A4-5A7991D0F530}"/>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3106093" y="2382889"/>
                        <a:ext cx="2208921" cy="2117965"/>
                      </a:xfrm>
                      <a:prstGeom prst="rect">
                        <a:avLst/>
                      </a:prstGeom>
                    </p:spPr>
                  </p:pic>
                  <p:pic>
                    <p:nvPicPr>
                      <p:cNvPr id="144" name="Picture 143" descr="table_5rows.png">
                        <a:extLst>
                          <a:ext uri="{FF2B5EF4-FFF2-40B4-BE49-F238E27FC236}">
                            <a16:creationId xmlns:a16="http://schemas.microsoft.com/office/drawing/2014/main" id="{53D559B6-8349-FE49-B61A-E1DA6F291143}"/>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4314896" y="3178989"/>
                        <a:ext cx="612775" cy="523875"/>
                      </a:xfrm>
                      <a:prstGeom prst="rect">
                        <a:avLst/>
                      </a:prstGeom>
                    </p:spPr>
                  </p:pic>
                  <p:pic>
                    <p:nvPicPr>
                      <p:cNvPr id="145" name="Picture 144" descr="map_09.png">
                        <a:extLst>
                          <a:ext uri="{FF2B5EF4-FFF2-40B4-BE49-F238E27FC236}">
                            <a16:creationId xmlns:a16="http://schemas.microsoft.com/office/drawing/2014/main" id="{FF5F54F9-0110-644C-978C-2154FC6B3FA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250925" y="3127239"/>
                        <a:ext cx="826768" cy="612276"/>
                      </a:xfrm>
                      <a:prstGeom prst="rect">
                        <a:avLst/>
                      </a:prstGeom>
                    </p:spPr>
                  </p:pic>
                  <p:pic>
                    <p:nvPicPr>
                      <p:cNvPr id="146" name="Picture 145" descr="map_layer_analysis_01.png">
                        <a:extLst>
                          <a:ext uri="{FF2B5EF4-FFF2-40B4-BE49-F238E27FC236}">
                            <a16:creationId xmlns:a16="http://schemas.microsoft.com/office/drawing/2014/main" id="{74235221-59C5-3147-AE65-75C8A3D843B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rot="20370976">
                        <a:off x="4219848" y="3782623"/>
                        <a:ext cx="958101" cy="567924"/>
                      </a:xfrm>
                      <a:prstGeom prst="rect">
                        <a:avLst/>
                      </a:prstGeom>
                    </p:spPr>
                  </p:pic>
                  <p:pic>
                    <p:nvPicPr>
                      <p:cNvPr id="147" name="Picture 146">
                        <a:extLst>
                          <a:ext uri="{FF2B5EF4-FFF2-40B4-BE49-F238E27FC236}">
                            <a16:creationId xmlns:a16="http://schemas.microsoft.com/office/drawing/2014/main" id="{4E8AAFF2-8C56-0F4D-AA0C-2656B3018CBF}"/>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457109" y="3774400"/>
                        <a:ext cx="751955" cy="481580"/>
                      </a:xfrm>
                      <a:prstGeom prst="rect">
                        <a:avLst/>
                      </a:prstGeom>
                      <a:ln w="12700">
                        <a:solidFill>
                          <a:schemeClr val="tx1"/>
                        </a:solidFill>
                      </a:ln>
                    </p:spPr>
                  </p:pic>
                </p:grpSp>
                <p:grpSp>
                  <p:nvGrpSpPr>
                    <p:cNvPr id="32" name="Group 130">
                      <a:extLst>
                        <a:ext uri="{FF2B5EF4-FFF2-40B4-BE49-F238E27FC236}">
                          <a16:creationId xmlns:a16="http://schemas.microsoft.com/office/drawing/2014/main" id="{D2D01DC2-A0B7-6E44-96F2-58A937F9B1F5}"/>
                        </a:ext>
                      </a:extLst>
                    </p:cNvPr>
                    <p:cNvGrpSpPr/>
                    <p:nvPr/>
                  </p:nvGrpSpPr>
                  <p:grpSpPr>
                    <a:xfrm>
                      <a:off x="5021860" y="2652416"/>
                      <a:ext cx="679163" cy="651197"/>
                      <a:chOff x="3106093" y="2382889"/>
                      <a:chExt cx="2208921" cy="2117965"/>
                    </a:xfrm>
                  </p:grpSpPr>
                  <p:pic>
                    <p:nvPicPr>
                      <p:cNvPr id="138" name="Picture 137" descr="database_blu.png">
                        <a:extLst>
                          <a:ext uri="{FF2B5EF4-FFF2-40B4-BE49-F238E27FC236}">
                            <a16:creationId xmlns:a16="http://schemas.microsoft.com/office/drawing/2014/main" id="{1C751FB0-70C7-3743-A897-11E3F2B756F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3106093" y="2382889"/>
                        <a:ext cx="2208921" cy="2117965"/>
                      </a:xfrm>
                      <a:prstGeom prst="rect">
                        <a:avLst/>
                      </a:prstGeom>
                    </p:spPr>
                  </p:pic>
                  <p:pic>
                    <p:nvPicPr>
                      <p:cNvPr id="139" name="Picture 138" descr="table_5rows.png">
                        <a:extLst>
                          <a:ext uri="{FF2B5EF4-FFF2-40B4-BE49-F238E27FC236}">
                            <a16:creationId xmlns:a16="http://schemas.microsoft.com/office/drawing/2014/main" id="{798583BC-A5C9-0E48-9E88-2A76648228AB}"/>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4314896" y="3178989"/>
                        <a:ext cx="612775" cy="523875"/>
                      </a:xfrm>
                      <a:prstGeom prst="rect">
                        <a:avLst/>
                      </a:prstGeom>
                    </p:spPr>
                  </p:pic>
                  <p:pic>
                    <p:nvPicPr>
                      <p:cNvPr id="140" name="Picture 139" descr="map_09.png">
                        <a:extLst>
                          <a:ext uri="{FF2B5EF4-FFF2-40B4-BE49-F238E27FC236}">
                            <a16:creationId xmlns:a16="http://schemas.microsoft.com/office/drawing/2014/main" id="{12BBC321-75EB-1E44-8BDF-A7CDC822A21D}"/>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250925" y="3127239"/>
                        <a:ext cx="826768" cy="612276"/>
                      </a:xfrm>
                      <a:prstGeom prst="rect">
                        <a:avLst/>
                      </a:prstGeom>
                    </p:spPr>
                  </p:pic>
                  <p:pic>
                    <p:nvPicPr>
                      <p:cNvPr id="141" name="Picture 140" descr="map_layer_analysis_01.png">
                        <a:extLst>
                          <a:ext uri="{FF2B5EF4-FFF2-40B4-BE49-F238E27FC236}">
                            <a16:creationId xmlns:a16="http://schemas.microsoft.com/office/drawing/2014/main" id="{1E02F810-A47D-4146-8FE0-24B2B6F594F9}"/>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rot="20370976">
                        <a:off x="4219848" y="3782623"/>
                        <a:ext cx="958101" cy="567924"/>
                      </a:xfrm>
                      <a:prstGeom prst="rect">
                        <a:avLst/>
                      </a:prstGeom>
                    </p:spPr>
                  </p:pic>
                  <p:pic>
                    <p:nvPicPr>
                      <p:cNvPr id="142" name="Picture 141">
                        <a:extLst>
                          <a:ext uri="{FF2B5EF4-FFF2-40B4-BE49-F238E27FC236}">
                            <a16:creationId xmlns:a16="http://schemas.microsoft.com/office/drawing/2014/main" id="{2428B14C-8DB6-8F48-BF01-96EC902BDB5C}"/>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457109" y="3774400"/>
                        <a:ext cx="751955" cy="481580"/>
                      </a:xfrm>
                      <a:prstGeom prst="rect">
                        <a:avLst/>
                      </a:prstGeom>
                      <a:ln w="12700">
                        <a:solidFill>
                          <a:schemeClr val="tx1"/>
                        </a:solidFill>
                      </a:ln>
                    </p:spPr>
                  </p:pic>
                </p:grpSp>
                <p:grpSp>
                  <p:nvGrpSpPr>
                    <p:cNvPr id="33" name="Group 131">
                      <a:extLst>
                        <a:ext uri="{FF2B5EF4-FFF2-40B4-BE49-F238E27FC236}">
                          <a16:creationId xmlns:a16="http://schemas.microsoft.com/office/drawing/2014/main" id="{1BD46500-84D8-954C-BDFC-FA4BA31CAAD2}"/>
                        </a:ext>
                      </a:extLst>
                    </p:cNvPr>
                    <p:cNvGrpSpPr/>
                    <p:nvPr/>
                  </p:nvGrpSpPr>
                  <p:grpSpPr>
                    <a:xfrm>
                      <a:off x="4492710" y="3252088"/>
                      <a:ext cx="679163" cy="651197"/>
                      <a:chOff x="3106093" y="2382889"/>
                      <a:chExt cx="2208921" cy="2117965"/>
                    </a:xfrm>
                  </p:grpSpPr>
                  <p:pic>
                    <p:nvPicPr>
                      <p:cNvPr id="133" name="Picture 132" descr="database_blu.png">
                        <a:extLst>
                          <a:ext uri="{FF2B5EF4-FFF2-40B4-BE49-F238E27FC236}">
                            <a16:creationId xmlns:a16="http://schemas.microsoft.com/office/drawing/2014/main" id="{4E379D91-CE2E-9A49-BDBF-0F8FF478BA11}"/>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3106093" y="2382889"/>
                        <a:ext cx="2208921" cy="2117965"/>
                      </a:xfrm>
                      <a:prstGeom prst="rect">
                        <a:avLst/>
                      </a:prstGeom>
                    </p:spPr>
                  </p:pic>
                  <p:pic>
                    <p:nvPicPr>
                      <p:cNvPr id="134" name="Picture 133" descr="table_5rows.png">
                        <a:extLst>
                          <a:ext uri="{FF2B5EF4-FFF2-40B4-BE49-F238E27FC236}">
                            <a16:creationId xmlns:a16="http://schemas.microsoft.com/office/drawing/2014/main" id="{F3CA9888-2F5B-6E4A-974D-45D47F7F7848}"/>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4314896" y="3178989"/>
                        <a:ext cx="612775" cy="523875"/>
                      </a:xfrm>
                      <a:prstGeom prst="rect">
                        <a:avLst/>
                      </a:prstGeom>
                    </p:spPr>
                  </p:pic>
                  <p:pic>
                    <p:nvPicPr>
                      <p:cNvPr id="135" name="Picture 134" descr="map_09.png">
                        <a:extLst>
                          <a:ext uri="{FF2B5EF4-FFF2-40B4-BE49-F238E27FC236}">
                            <a16:creationId xmlns:a16="http://schemas.microsoft.com/office/drawing/2014/main" id="{2A85FE84-E147-2A42-9948-0970D981DCFC}"/>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250925" y="3127239"/>
                        <a:ext cx="826768" cy="612276"/>
                      </a:xfrm>
                      <a:prstGeom prst="rect">
                        <a:avLst/>
                      </a:prstGeom>
                    </p:spPr>
                  </p:pic>
                  <p:pic>
                    <p:nvPicPr>
                      <p:cNvPr id="136" name="Picture 135" descr="map_layer_analysis_01.png">
                        <a:extLst>
                          <a:ext uri="{FF2B5EF4-FFF2-40B4-BE49-F238E27FC236}">
                            <a16:creationId xmlns:a16="http://schemas.microsoft.com/office/drawing/2014/main" id="{CFB6F0A9-1300-4646-8F4F-56F322EC0ED4}"/>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rot="20370976">
                        <a:off x="4219848" y="3782623"/>
                        <a:ext cx="958101" cy="567924"/>
                      </a:xfrm>
                      <a:prstGeom prst="rect">
                        <a:avLst/>
                      </a:prstGeom>
                    </p:spPr>
                  </p:pic>
                  <p:pic>
                    <p:nvPicPr>
                      <p:cNvPr id="137" name="Picture 136">
                        <a:extLst>
                          <a:ext uri="{FF2B5EF4-FFF2-40B4-BE49-F238E27FC236}">
                            <a16:creationId xmlns:a16="http://schemas.microsoft.com/office/drawing/2014/main" id="{2BEDF9E8-4A04-864B-9C6D-A3816203C1E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457109" y="3774400"/>
                        <a:ext cx="751955" cy="481580"/>
                      </a:xfrm>
                      <a:prstGeom prst="rect">
                        <a:avLst/>
                      </a:prstGeom>
                      <a:ln w="12700">
                        <a:solidFill>
                          <a:schemeClr val="tx1"/>
                        </a:solidFill>
                      </a:ln>
                    </p:spPr>
                  </p:pic>
                </p:grpSp>
              </p:grpSp>
              <p:grpSp>
                <p:nvGrpSpPr>
                  <p:cNvPr id="34" name="Group 122">
                    <a:extLst>
                      <a:ext uri="{FF2B5EF4-FFF2-40B4-BE49-F238E27FC236}">
                        <a16:creationId xmlns:a16="http://schemas.microsoft.com/office/drawing/2014/main" id="{02627B68-BA82-1545-8D67-A5B8D9337EC6}"/>
                      </a:ext>
                    </a:extLst>
                  </p:cNvPr>
                  <p:cNvGrpSpPr/>
                  <p:nvPr/>
                </p:nvGrpSpPr>
                <p:grpSpPr>
                  <a:xfrm>
                    <a:off x="1318745" y="3304070"/>
                    <a:ext cx="659546" cy="632388"/>
                    <a:chOff x="3106093" y="2382889"/>
                    <a:chExt cx="2208921" cy="2117965"/>
                  </a:xfrm>
                </p:grpSpPr>
                <p:pic>
                  <p:nvPicPr>
                    <p:cNvPr id="124" name="Picture 123" descr="database_blu.png">
                      <a:extLst>
                        <a:ext uri="{FF2B5EF4-FFF2-40B4-BE49-F238E27FC236}">
                          <a16:creationId xmlns:a16="http://schemas.microsoft.com/office/drawing/2014/main" id="{02AD3746-F5E3-2748-B85F-A7BD77069E46}"/>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3106093" y="2382889"/>
                      <a:ext cx="2208921" cy="2117965"/>
                    </a:xfrm>
                    <a:prstGeom prst="rect">
                      <a:avLst/>
                    </a:prstGeom>
                  </p:spPr>
                </p:pic>
                <p:pic>
                  <p:nvPicPr>
                    <p:cNvPr id="125" name="Picture 124" descr="table_5rows.png">
                      <a:extLst>
                        <a:ext uri="{FF2B5EF4-FFF2-40B4-BE49-F238E27FC236}">
                          <a16:creationId xmlns:a16="http://schemas.microsoft.com/office/drawing/2014/main" id="{8ADD4469-13F9-F14D-AECE-F22EFAED8D96}"/>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4314896" y="3178989"/>
                      <a:ext cx="612775" cy="523875"/>
                    </a:xfrm>
                    <a:prstGeom prst="rect">
                      <a:avLst/>
                    </a:prstGeom>
                  </p:spPr>
                </p:pic>
                <p:pic>
                  <p:nvPicPr>
                    <p:cNvPr id="126" name="Picture 125" descr="map_09.png">
                      <a:extLst>
                        <a:ext uri="{FF2B5EF4-FFF2-40B4-BE49-F238E27FC236}">
                          <a16:creationId xmlns:a16="http://schemas.microsoft.com/office/drawing/2014/main" id="{62A184F0-87BA-D749-BF83-5A41805DE361}"/>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3250925" y="3127239"/>
                      <a:ext cx="826768" cy="612276"/>
                    </a:xfrm>
                    <a:prstGeom prst="rect">
                      <a:avLst/>
                    </a:prstGeom>
                  </p:spPr>
                </p:pic>
                <p:pic>
                  <p:nvPicPr>
                    <p:cNvPr id="127" name="Picture 126" descr="map_layer_analysis_01.png">
                      <a:extLst>
                        <a:ext uri="{FF2B5EF4-FFF2-40B4-BE49-F238E27FC236}">
                          <a16:creationId xmlns:a16="http://schemas.microsoft.com/office/drawing/2014/main" id="{EB891875-974A-DD4A-A85E-7CFFE70C909D}"/>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rot="20370976">
                      <a:off x="4219848" y="3782623"/>
                      <a:ext cx="958101" cy="567924"/>
                    </a:xfrm>
                    <a:prstGeom prst="rect">
                      <a:avLst/>
                    </a:prstGeom>
                  </p:spPr>
                </p:pic>
                <p:pic>
                  <p:nvPicPr>
                    <p:cNvPr id="128" name="Picture 127">
                      <a:extLst>
                        <a:ext uri="{FF2B5EF4-FFF2-40B4-BE49-F238E27FC236}">
                          <a16:creationId xmlns:a16="http://schemas.microsoft.com/office/drawing/2014/main" id="{8732B9B0-8125-4E4C-90F5-49E3EB50FF15}"/>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3457109" y="3774400"/>
                      <a:ext cx="751955" cy="481580"/>
                    </a:xfrm>
                    <a:prstGeom prst="rect">
                      <a:avLst/>
                    </a:prstGeom>
                    <a:ln w="12700">
                      <a:solidFill>
                        <a:schemeClr val="tx1"/>
                      </a:solidFill>
                    </a:ln>
                  </p:spPr>
                </p:pic>
              </p:grpSp>
            </p:grpSp>
            <p:pic>
              <p:nvPicPr>
                <p:cNvPr id="121" name="Picture 120">
                  <a:extLst>
                    <a:ext uri="{FF2B5EF4-FFF2-40B4-BE49-F238E27FC236}">
                      <a16:creationId xmlns:a16="http://schemas.microsoft.com/office/drawing/2014/main" id="{BD5A1D18-58A5-9C4D-89F0-EC2B7DE8DB20}"/>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2461007" y="2085250"/>
                  <a:ext cx="1702832" cy="207609"/>
                </a:xfrm>
                <a:prstGeom prst="rect">
                  <a:avLst/>
                </a:prstGeom>
              </p:spPr>
            </p:pic>
          </p:grpSp>
          <p:grpSp>
            <p:nvGrpSpPr>
              <p:cNvPr id="35" name="Group 35">
                <a:extLst>
                  <a:ext uri="{FF2B5EF4-FFF2-40B4-BE49-F238E27FC236}">
                    <a16:creationId xmlns:a16="http://schemas.microsoft.com/office/drawing/2014/main" id="{69EBFDBC-B3A9-1849-B1DA-74C58F862890}"/>
                  </a:ext>
                </a:extLst>
              </p:cNvPr>
              <p:cNvGrpSpPr/>
              <p:nvPr/>
            </p:nvGrpSpPr>
            <p:grpSpPr>
              <a:xfrm>
                <a:off x="4497535" y="2128969"/>
                <a:ext cx="1126236" cy="839365"/>
                <a:chOff x="2365792" y="3648398"/>
                <a:chExt cx="1926319" cy="1435653"/>
              </a:xfrm>
            </p:grpSpPr>
            <p:pic>
              <p:nvPicPr>
                <p:cNvPr id="114" name="Picture 113" descr="screenshot_01.png">
                  <a:extLst>
                    <a:ext uri="{FF2B5EF4-FFF2-40B4-BE49-F238E27FC236}">
                      <a16:creationId xmlns:a16="http://schemas.microsoft.com/office/drawing/2014/main" id="{8900EA31-7567-1142-98DC-02EA254949E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65792" y="3648398"/>
                  <a:ext cx="1926319" cy="1435653"/>
                </a:xfrm>
                <a:prstGeom prst="rect">
                  <a:avLst/>
                </a:prstGeom>
              </p:spPr>
            </p:pic>
            <p:sp>
              <p:nvSpPr>
                <p:cNvPr id="115" name="Rectangle 114">
                  <a:extLst>
                    <a:ext uri="{FF2B5EF4-FFF2-40B4-BE49-F238E27FC236}">
                      <a16:creationId xmlns:a16="http://schemas.microsoft.com/office/drawing/2014/main" id="{E51D35BC-7F82-3941-8E6D-05FD8584694A}"/>
                    </a:ext>
                  </a:extLst>
                </p:cNvPr>
                <p:cNvSpPr/>
                <p:nvPr/>
              </p:nvSpPr>
              <p:spPr>
                <a:xfrm>
                  <a:off x="2761940" y="3996433"/>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6" name="Picture 115" descr="datarodsviewer.jpg">
                  <a:extLst>
                    <a:ext uri="{FF2B5EF4-FFF2-40B4-BE49-F238E27FC236}">
                      <a16:creationId xmlns:a16="http://schemas.microsoft.com/office/drawing/2014/main" id="{21A8ADBF-B313-FB4C-BC0F-6A0F4FF90D3B}"/>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2982487" y="4041086"/>
                  <a:ext cx="886185" cy="862103"/>
                </a:xfrm>
                <a:prstGeom prst="rect">
                  <a:avLst/>
                </a:prstGeom>
              </p:spPr>
            </p:pic>
            <p:pic>
              <p:nvPicPr>
                <p:cNvPr id="117" name="Picture 116">
                  <a:extLst>
                    <a:ext uri="{FF2B5EF4-FFF2-40B4-BE49-F238E27FC236}">
                      <a16:creationId xmlns:a16="http://schemas.microsoft.com/office/drawing/2014/main" id="{3FB328EC-62B7-234B-B0BA-61605E62FD37}"/>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2497225" y="3789255"/>
                  <a:ext cx="1677178" cy="196793"/>
                </a:xfrm>
                <a:prstGeom prst="rect">
                  <a:avLst/>
                </a:prstGeom>
              </p:spPr>
            </p:pic>
          </p:grpSp>
          <p:grpSp>
            <p:nvGrpSpPr>
              <p:cNvPr id="36" name="Group 36">
                <a:extLst>
                  <a:ext uri="{FF2B5EF4-FFF2-40B4-BE49-F238E27FC236}">
                    <a16:creationId xmlns:a16="http://schemas.microsoft.com/office/drawing/2014/main" id="{4CF28D10-620F-0144-AAC9-913F5AB887DF}"/>
                  </a:ext>
                </a:extLst>
              </p:cNvPr>
              <p:cNvGrpSpPr/>
              <p:nvPr/>
            </p:nvGrpSpPr>
            <p:grpSpPr>
              <a:xfrm>
                <a:off x="5736583" y="333697"/>
                <a:ext cx="1126236" cy="839365"/>
                <a:chOff x="4599979" y="473671"/>
                <a:chExt cx="1926319" cy="1435653"/>
              </a:xfrm>
            </p:grpSpPr>
            <p:pic>
              <p:nvPicPr>
                <p:cNvPr id="110" name="Picture 109" descr="screenshot_01.png">
                  <a:extLst>
                    <a:ext uri="{FF2B5EF4-FFF2-40B4-BE49-F238E27FC236}">
                      <a16:creationId xmlns:a16="http://schemas.microsoft.com/office/drawing/2014/main" id="{7EF6CFB4-6864-6946-AE96-7F23C64FB84C}"/>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99979" y="473671"/>
                  <a:ext cx="1926319" cy="1435653"/>
                </a:xfrm>
                <a:prstGeom prst="rect">
                  <a:avLst/>
                </a:prstGeom>
              </p:spPr>
            </p:pic>
            <p:sp>
              <p:nvSpPr>
                <p:cNvPr id="111" name="Rectangle 110">
                  <a:extLst>
                    <a:ext uri="{FF2B5EF4-FFF2-40B4-BE49-F238E27FC236}">
                      <a16:creationId xmlns:a16="http://schemas.microsoft.com/office/drawing/2014/main" id="{D3961815-D080-BD47-B374-7BC6CD3DB443}"/>
                    </a:ext>
                  </a:extLst>
                </p:cNvPr>
                <p:cNvSpPr/>
                <p:nvPr/>
              </p:nvSpPr>
              <p:spPr>
                <a:xfrm>
                  <a:off x="4996127" y="821706"/>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2" name="Picture 111" descr="Delineation.jpg">
                  <a:extLst>
                    <a:ext uri="{FF2B5EF4-FFF2-40B4-BE49-F238E27FC236}">
                      <a16:creationId xmlns:a16="http://schemas.microsoft.com/office/drawing/2014/main" id="{7F84AE1C-5B3D-C841-83C7-B5BBD8D87BC5}"/>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5185131" y="866167"/>
                  <a:ext cx="953265" cy="862298"/>
                </a:xfrm>
                <a:prstGeom prst="rect">
                  <a:avLst/>
                </a:prstGeom>
              </p:spPr>
            </p:pic>
            <p:pic>
              <p:nvPicPr>
                <p:cNvPr id="113" name="Picture 112">
                  <a:extLst>
                    <a:ext uri="{FF2B5EF4-FFF2-40B4-BE49-F238E27FC236}">
                      <a16:creationId xmlns:a16="http://schemas.microsoft.com/office/drawing/2014/main" id="{D1E63869-B0D6-804B-A6EB-12BA9CACEEBB}"/>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4731411" y="591952"/>
                  <a:ext cx="1700697" cy="219368"/>
                </a:xfrm>
                <a:prstGeom prst="rect">
                  <a:avLst/>
                </a:prstGeom>
              </p:spPr>
            </p:pic>
          </p:grpSp>
          <p:grpSp>
            <p:nvGrpSpPr>
              <p:cNvPr id="37" name="Group 37">
                <a:extLst>
                  <a:ext uri="{FF2B5EF4-FFF2-40B4-BE49-F238E27FC236}">
                    <a16:creationId xmlns:a16="http://schemas.microsoft.com/office/drawing/2014/main" id="{3DDBC67B-BD42-0044-9E57-E8AAAE655C66}"/>
                  </a:ext>
                </a:extLst>
              </p:cNvPr>
              <p:cNvGrpSpPr/>
              <p:nvPr/>
            </p:nvGrpSpPr>
            <p:grpSpPr>
              <a:xfrm>
                <a:off x="5736583" y="1225428"/>
                <a:ext cx="1126236" cy="839365"/>
                <a:chOff x="4623497" y="2002244"/>
                <a:chExt cx="1926319" cy="1435653"/>
              </a:xfrm>
            </p:grpSpPr>
            <p:pic>
              <p:nvPicPr>
                <p:cNvPr id="106" name="Picture 105" descr="screenshot_01.png">
                  <a:extLst>
                    <a:ext uri="{FF2B5EF4-FFF2-40B4-BE49-F238E27FC236}">
                      <a16:creationId xmlns:a16="http://schemas.microsoft.com/office/drawing/2014/main" id="{965CCA0F-29B6-4A4A-99C4-6B52F1F4468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623497" y="2002244"/>
                  <a:ext cx="1926319" cy="1435653"/>
                </a:xfrm>
                <a:prstGeom prst="rect">
                  <a:avLst/>
                </a:prstGeom>
              </p:spPr>
            </p:pic>
            <p:sp>
              <p:nvSpPr>
                <p:cNvPr id="107" name="Rectangle 106">
                  <a:extLst>
                    <a:ext uri="{FF2B5EF4-FFF2-40B4-BE49-F238E27FC236}">
                      <a16:creationId xmlns:a16="http://schemas.microsoft.com/office/drawing/2014/main" id="{6FA49FDA-6BEE-9541-97C4-F9C34FA13806}"/>
                    </a:ext>
                  </a:extLst>
                </p:cNvPr>
                <p:cNvSpPr/>
                <p:nvPr/>
              </p:nvSpPr>
              <p:spPr>
                <a:xfrm>
                  <a:off x="5019645" y="2350279"/>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8" name="Picture 107" descr="Streamflowprediction.jpg">
                  <a:extLst>
                    <a:ext uri="{FF2B5EF4-FFF2-40B4-BE49-F238E27FC236}">
                      <a16:creationId xmlns:a16="http://schemas.microsoft.com/office/drawing/2014/main" id="{6E194E8F-C889-8A44-9EBA-AF704ADD2CDD}"/>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5244479" y="2393550"/>
                  <a:ext cx="839970" cy="839970"/>
                </a:xfrm>
                <a:prstGeom prst="rect">
                  <a:avLst/>
                </a:prstGeom>
              </p:spPr>
            </p:pic>
            <p:pic>
              <p:nvPicPr>
                <p:cNvPr id="109" name="Picture 108">
                  <a:extLst>
                    <a:ext uri="{FF2B5EF4-FFF2-40B4-BE49-F238E27FC236}">
                      <a16:creationId xmlns:a16="http://schemas.microsoft.com/office/drawing/2014/main" id="{4C11C10A-02B1-2C4D-A451-3D011472FC89}"/>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4753988" y="2132284"/>
                  <a:ext cx="1689879" cy="207610"/>
                </a:xfrm>
                <a:prstGeom prst="rect">
                  <a:avLst/>
                </a:prstGeom>
              </p:spPr>
            </p:pic>
          </p:grpSp>
          <p:grpSp>
            <p:nvGrpSpPr>
              <p:cNvPr id="38" name="Group 38">
                <a:extLst>
                  <a:ext uri="{FF2B5EF4-FFF2-40B4-BE49-F238E27FC236}">
                    <a16:creationId xmlns:a16="http://schemas.microsoft.com/office/drawing/2014/main" id="{B7D8D592-D17A-8D4C-8CCD-641F0CB18AD6}"/>
                  </a:ext>
                </a:extLst>
              </p:cNvPr>
              <p:cNvGrpSpPr/>
              <p:nvPr/>
            </p:nvGrpSpPr>
            <p:grpSpPr>
              <a:xfrm>
                <a:off x="5736583" y="2128969"/>
                <a:ext cx="1126236" cy="839365"/>
                <a:chOff x="4576462" y="3636641"/>
                <a:chExt cx="1926319" cy="1435653"/>
              </a:xfrm>
            </p:grpSpPr>
            <p:pic>
              <p:nvPicPr>
                <p:cNvPr id="102" name="Picture 101" descr="screenshot_01.png">
                  <a:extLst>
                    <a:ext uri="{FF2B5EF4-FFF2-40B4-BE49-F238E27FC236}">
                      <a16:creationId xmlns:a16="http://schemas.microsoft.com/office/drawing/2014/main" id="{45B58E8A-5EE0-A646-A30E-D3BCD2ED747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76462" y="3636641"/>
                  <a:ext cx="1926319" cy="1435653"/>
                </a:xfrm>
                <a:prstGeom prst="rect">
                  <a:avLst/>
                </a:prstGeom>
              </p:spPr>
            </p:pic>
            <p:sp>
              <p:nvSpPr>
                <p:cNvPr id="103" name="Rectangle 102">
                  <a:extLst>
                    <a:ext uri="{FF2B5EF4-FFF2-40B4-BE49-F238E27FC236}">
                      <a16:creationId xmlns:a16="http://schemas.microsoft.com/office/drawing/2014/main" id="{A5F7667C-A8D2-6544-A3E5-44962A864C56}"/>
                    </a:ext>
                  </a:extLst>
                </p:cNvPr>
                <p:cNvSpPr/>
                <p:nvPr/>
              </p:nvSpPr>
              <p:spPr>
                <a:xfrm>
                  <a:off x="4972610" y="3984676"/>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4" name="Picture 103" descr="NASADataExplorer.jpg">
                  <a:extLst>
                    <a:ext uri="{FF2B5EF4-FFF2-40B4-BE49-F238E27FC236}">
                      <a16:creationId xmlns:a16="http://schemas.microsoft.com/office/drawing/2014/main" id="{54117DB3-FD20-3B42-BA70-A3B965995FC8}"/>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244461" y="4045248"/>
                  <a:ext cx="834881" cy="839734"/>
                </a:xfrm>
                <a:prstGeom prst="rect">
                  <a:avLst/>
                </a:prstGeom>
              </p:spPr>
            </p:pic>
            <p:pic>
              <p:nvPicPr>
                <p:cNvPr id="105" name="Picture 104">
                  <a:extLst>
                    <a:ext uri="{FF2B5EF4-FFF2-40B4-BE49-F238E27FC236}">
                      <a16:creationId xmlns:a16="http://schemas.microsoft.com/office/drawing/2014/main" id="{88125B05-3E77-F540-B5E0-BCBB5EE7AC4D}"/>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4718712" y="3753980"/>
                  <a:ext cx="1649113" cy="220309"/>
                </a:xfrm>
                <a:prstGeom prst="rect">
                  <a:avLst/>
                </a:prstGeom>
              </p:spPr>
            </p:pic>
          </p:grpSp>
          <p:grpSp>
            <p:nvGrpSpPr>
              <p:cNvPr id="39" name="Group 39">
                <a:extLst>
                  <a:ext uri="{FF2B5EF4-FFF2-40B4-BE49-F238E27FC236}">
                    <a16:creationId xmlns:a16="http://schemas.microsoft.com/office/drawing/2014/main" id="{E5B8A4B2-87E1-BC43-889E-E73286AA632F}"/>
                  </a:ext>
                </a:extLst>
              </p:cNvPr>
              <p:cNvGrpSpPr/>
              <p:nvPr/>
            </p:nvGrpSpPr>
            <p:grpSpPr>
              <a:xfrm>
                <a:off x="6975631" y="333697"/>
                <a:ext cx="1126236" cy="839365"/>
                <a:chOff x="6845461" y="461456"/>
                <a:chExt cx="1926319" cy="1435653"/>
              </a:xfrm>
            </p:grpSpPr>
            <p:pic>
              <p:nvPicPr>
                <p:cNvPr id="98" name="Picture 97" descr="screenshot_01.png">
                  <a:extLst>
                    <a:ext uri="{FF2B5EF4-FFF2-40B4-BE49-F238E27FC236}">
                      <a16:creationId xmlns:a16="http://schemas.microsoft.com/office/drawing/2014/main" id="{83B025B9-ADC0-274C-AB56-373FFCF05D3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45461" y="461456"/>
                  <a:ext cx="1926319" cy="1435653"/>
                </a:xfrm>
                <a:prstGeom prst="rect">
                  <a:avLst/>
                </a:prstGeom>
              </p:spPr>
            </p:pic>
            <p:sp>
              <p:nvSpPr>
                <p:cNvPr id="99" name="Rectangle 98">
                  <a:extLst>
                    <a:ext uri="{FF2B5EF4-FFF2-40B4-BE49-F238E27FC236}">
                      <a16:creationId xmlns:a16="http://schemas.microsoft.com/office/drawing/2014/main" id="{DE2CE876-7B2D-F646-A34F-37C5DA594879}"/>
                    </a:ext>
                  </a:extLst>
                </p:cNvPr>
                <p:cNvSpPr/>
                <p:nvPr/>
              </p:nvSpPr>
              <p:spPr>
                <a:xfrm>
                  <a:off x="7241609" y="809491"/>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0" name="Picture 99" descr="GSSHAApp.jpg">
                  <a:extLst>
                    <a:ext uri="{FF2B5EF4-FFF2-40B4-BE49-F238E27FC236}">
                      <a16:creationId xmlns:a16="http://schemas.microsoft.com/office/drawing/2014/main" id="{DA0E33FA-42DA-F341-A455-9776003E767D}"/>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468996" y="869087"/>
                  <a:ext cx="936840" cy="847617"/>
                </a:xfrm>
                <a:prstGeom prst="rect">
                  <a:avLst/>
                </a:prstGeom>
              </p:spPr>
            </p:pic>
            <p:pic>
              <p:nvPicPr>
                <p:cNvPr id="101" name="Picture 100">
                  <a:extLst>
                    <a:ext uri="{FF2B5EF4-FFF2-40B4-BE49-F238E27FC236}">
                      <a16:creationId xmlns:a16="http://schemas.microsoft.com/office/drawing/2014/main" id="{BB800CE4-2878-1440-88D6-ABE68A612463}"/>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87109" y="602769"/>
                  <a:ext cx="1644144" cy="196792"/>
                </a:xfrm>
                <a:prstGeom prst="rect">
                  <a:avLst/>
                </a:prstGeom>
              </p:spPr>
            </p:pic>
          </p:grpSp>
          <p:grpSp>
            <p:nvGrpSpPr>
              <p:cNvPr id="40" name="Group 40">
                <a:extLst>
                  <a:ext uri="{FF2B5EF4-FFF2-40B4-BE49-F238E27FC236}">
                    <a16:creationId xmlns:a16="http://schemas.microsoft.com/office/drawing/2014/main" id="{30626D55-20AB-4E49-A46E-745DEC248B9A}"/>
                  </a:ext>
                </a:extLst>
              </p:cNvPr>
              <p:cNvGrpSpPr/>
              <p:nvPr/>
            </p:nvGrpSpPr>
            <p:grpSpPr>
              <a:xfrm>
                <a:off x="6975631" y="1225428"/>
                <a:ext cx="1126236" cy="839365"/>
                <a:chOff x="6833702" y="2037062"/>
                <a:chExt cx="1926319" cy="1435653"/>
              </a:xfrm>
            </p:grpSpPr>
            <p:pic>
              <p:nvPicPr>
                <p:cNvPr id="93" name="Picture 92" descr="screenshot_01.png">
                  <a:extLst>
                    <a:ext uri="{FF2B5EF4-FFF2-40B4-BE49-F238E27FC236}">
                      <a16:creationId xmlns:a16="http://schemas.microsoft.com/office/drawing/2014/main" id="{475AB6C4-F49C-1541-A5C7-DAEF0C2323B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33702" y="2037062"/>
                  <a:ext cx="1926319" cy="1435653"/>
                </a:xfrm>
                <a:prstGeom prst="rect">
                  <a:avLst/>
                </a:prstGeom>
              </p:spPr>
            </p:pic>
            <p:sp>
              <p:nvSpPr>
                <p:cNvPr id="94" name="Rectangle 93">
                  <a:extLst>
                    <a:ext uri="{FF2B5EF4-FFF2-40B4-BE49-F238E27FC236}">
                      <a16:creationId xmlns:a16="http://schemas.microsoft.com/office/drawing/2014/main" id="{26F0FAA5-6BA3-0146-8959-B0197CEE87CB}"/>
                    </a:ext>
                  </a:extLst>
                </p:cNvPr>
                <p:cNvSpPr/>
                <p:nvPr/>
              </p:nvSpPr>
              <p:spPr>
                <a:xfrm>
                  <a:off x="7229850" y="2385097"/>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5" name="Picture 5" descr="Full Map Interface">
                  <a:extLst>
                    <a:ext uri="{FF2B5EF4-FFF2-40B4-BE49-F238E27FC236}">
                      <a16:creationId xmlns:a16="http://schemas.microsoft.com/office/drawing/2014/main" id="{0A67D272-6087-AE4A-BF29-82EACCBA3B21}"/>
                    </a:ext>
                  </a:extLst>
                </p:cNvPr>
                <p:cNvPicPr>
                  <a:picLocks noChangeAspect="1" noChangeArrowheads="1"/>
                </p:cNvPicPr>
                <p:nvPr/>
              </p:nvPicPr>
              <p:blipFill>
                <a:blip r:embed="rId37" cstate="email">
                  <a:extLst>
                    <a:ext uri="{28A0092B-C50C-407E-A947-70E740481C1C}">
                      <a14:useLocalDpi xmlns:a14="http://schemas.microsoft.com/office/drawing/2010/main"/>
                    </a:ext>
                  </a:extLst>
                </a:blip>
                <a:srcRect/>
                <a:stretch>
                  <a:fillRect/>
                </a:stretch>
              </p:blipFill>
              <p:spPr bwMode="auto">
                <a:xfrm>
                  <a:off x="7356403" y="2439403"/>
                  <a:ext cx="1133509" cy="832056"/>
                </a:xfrm>
                <a:prstGeom prst="rect">
                  <a:avLst/>
                </a:prstGeom>
                <a:no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pic>
            <p:pic>
              <p:nvPicPr>
                <p:cNvPr id="96" name="Picture 95" descr="network_01.png">
                  <a:extLst>
                    <a:ext uri="{FF2B5EF4-FFF2-40B4-BE49-F238E27FC236}">
                      <a16:creationId xmlns:a16="http://schemas.microsoft.com/office/drawing/2014/main" id="{338F2030-79E9-7944-8100-31E3A0A52C61}"/>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7751997" y="2669121"/>
                  <a:ext cx="521575" cy="361909"/>
                </a:xfrm>
                <a:prstGeom prst="rect">
                  <a:avLst/>
                </a:prstGeom>
              </p:spPr>
            </p:pic>
            <p:pic>
              <p:nvPicPr>
                <p:cNvPr id="97" name="Picture 96">
                  <a:extLst>
                    <a:ext uri="{FF2B5EF4-FFF2-40B4-BE49-F238E27FC236}">
                      <a16:creationId xmlns:a16="http://schemas.microsoft.com/office/drawing/2014/main" id="{707D3CEF-C5A0-8A46-B6B1-DD5BF0D1452E}"/>
                    </a:ext>
                  </a:extLst>
                </p:cNvPr>
                <p:cNvPicPr>
                  <a:picLocks noChangeAspect="1"/>
                </p:cNvPicPr>
                <p:nvPr/>
              </p:nvPicPr>
              <p:blipFill>
                <a:blip r:embed="rId39" cstate="email">
                  <a:extLst>
                    <a:ext uri="{28A0092B-C50C-407E-A947-70E740481C1C}">
                      <a14:useLocalDpi xmlns:a14="http://schemas.microsoft.com/office/drawing/2010/main"/>
                    </a:ext>
                  </a:extLst>
                </a:blip>
                <a:stretch>
                  <a:fillRect/>
                </a:stretch>
              </p:blipFill>
              <p:spPr>
                <a:xfrm>
                  <a:off x="6964659" y="2178374"/>
                  <a:ext cx="1689878" cy="196793"/>
                </a:xfrm>
                <a:prstGeom prst="rect">
                  <a:avLst/>
                </a:prstGeom>
              </p:spPr>
            </p:pic>
          </p:grpSp>
          <p:grpSp>
            <p:nvGrpSpPr>
              <p:cNvPr id="41" name="Group 41">
                <a:extLst>
                  <a:ext uri="{FF2B5EF4-FFF2-40B4-BE49-F238E27FC236}">
                    <a16:creationId xmlns:a16="http://schemas.microsoft.com/office/drawing/2014/main" id="{5D29B19A-21B7-2B4F-BC45-691444B82EA3}"/>
                  </a:ext>
                </a:extLst>
              </p:cNvPr>
              <p:cNvGrpSpPr/>
              <p:nvPr/>
            </p:nvGrpSpPr>
            <p:grpSpPr>
              <a:xfrm>
                <a:off x="6975631" y="2128969"/>
                <a:ext cx="1126236" cy="839365"/>
                <a:chOff x="6845461" y="3683217"/>
                <a:chExt cx="1926319" cy="1435653"/>
              </a:xfrm>
            </p:grpSpPr>
            <p:pic>
              <p:nvPicPr>
                <p:cNvPr id="89" name="Picture 88" descr="screenshot_01.png">
                  <a:extLst>
                    <a:ext uri="{FF2B5EF4-FFF2-40B4-BE49-F238E27FC236}">
                      <a16:creationId xmlns:a16="http://schemas.microsoft.com/office/drawing/2014/main" id="{D1DAB482-3F31-0D46-B6FF-32F38416017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45461" y="3683217"/>
                  <a:ext cx="1926319" cy="1435653"/>
                </a:xfrm>
                <a:prstGeom prst="rect">
                  <a:avLst/>
                </a:prstGeom>
              </p:spPr>
            </p:pic>
            <p:sp>
              <p:nvSpPr>
                <p:cNvPr id="90" name="Rectangle 89">
                  <a:extLst>
                    <a:ext uri="{FF2B5EF4-FFF2-40B4-BE49-F238E27FC236}">
                      <a16:creationId xmlns:a16="http://schemas.microsoft.com/office/drawing/2014/main" id="{385B46F0-40B4-184F-B408-9B03B91D5015}"/>
                    </a:ext>
                  </a:extLst>
                </p:cNvPr>
                <p:cNvSpPr/>
                <p:nvPr/>
              </p:nvSpPr>
              <p:spPr>
                <a:xfrm>
                  <a:off x="7241609" y="4031252"/>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1" name="Picture 90" descr="CannedGSSHA.jpg">
                  <a:extLst>
                    <a:ext uri="{FF2B5EF4-FFF2-40B4-BE49-F238E27FC236}">
                      <a16:creationId xmlns:a16="http://schemas.microsoft.com/office/drawing/2014/main" id="{96B041E5-9F8D-8E42-A9CB-8FF787AC02EA}"/>
                    </a:ext>
                  </a:extLst>
                </p:cNvPr>
                <p:cNvPicPr>
                  <a:picLocks noChangeAspect="1"/>
                </p:cNvPicPr>
                <p:nvPr/>
              </p:nvPicPr>
              <p:blipFill>
                <a:blip r:embed="rId40" cstate="email">
                  <a:extLst>
                    <a:ext uri="{28A0092B-C50C-407E-A947-70E740481C1C}">
                      <a14:useLocalDpi xmlns:a14="http://schemas.microsoft.com/office/drawing/2010/main"/>
                    </a:ext>
                  </a:extLst>
                </a:blip>
                <a:stretch>
                  <a:fillRect/>
                </a:stretch>
              </p:blipFill>
              <p:spPr>
                <a:xfrm>
                  <a:off x="7510367" y="4080450"/>
                  <a:ext cx="779643" cy="854919"/>
                </a:xfrm>
                <a:prstGeom prst="rect">
                  <a:avLst/>
                </a:prstGeom>
              </p:spPr>
            </p:pic>
            <p:pic>
              <p:nvPicPr>
                <p:cNvPr id="92" name="Picture 91">
                  <a:extLst>
                    <a:ext uri="{FF2B5EF4-FFF2-40B4-BE49-F238E27FC236}">
                      <a16:creationId xmlns:a16="http://schemas.microsoft.com/office/drawing/2014/main" id="{8083285F-A8EB-3B49-9EF8-B62CDB329ACF}"/>
                    </a:ext>
                  </a:extLst>
                </p:cNvPr>
                <p:cNvPicPr>
                  <a:picLocks noChangeAspect="1"/>
                </p:cNvPicPr>
                <p:nvPr/>
              </p:nvPicPr>
              <p:blipFill>
                <a:blip r:embed="rId41" cstate="email">
                  <a:extLst>
                    <a:ext uri="{28A0092B-C50C-407E-A947-70E740481C1C}">
                      <a14:useLocalDpi xmlns:a14="http://schemas.microsoft.com/office/drawing/2010/main"/>
                    </a:ext>
                  </a:extLst>
                </a:blip>
                <a:stretch>
                  <a:fillRect/>
                </a:stretch>
              </p:blipFill>
              <p:spPr>
                <a:xfrm>
                  <a:off x="6964659" y="3812771"/>
                  <a:ext cx="1689878" cy="220309"/>
                </a:xfrm>
                <a:prstGeom prst="rect">
                  <a:avLst/>
                </a:prstGeom>
              </p:spPr>
            </p:pic>
          </p:grpSp>
          <p:grpSp>
            <p:nvGrpSpPr>
              <p:cNvPr id="42" name="Group 42">
                <a:extLst>
                  <a:ext uri="{FF2B5EF4-FFF2-40B4-BE49-F238E27FC236}">
                    <a16:creationId xmlns:a16="http://schemas.microsoft.com/office/drawing/2014/main" id="{ECEB3AB0-9E2C-7246-A1A7-49EAB8D959E1}"/>
                  </a:ext>
                </a:extLst>
              </p:cNvPr>
              <p:cNvGrpSpPr/>
              <p:nvPr/>
            </p:nvGrpSpPr>
            <p:grpSpPr>
              <a:xfrm>
                <a:off x="3258487" y="3049488"/>
                <a:ext cx="1126236" cy="839365"/>
                <a:chOff x="249194" y="5259279"/>
                <a:chExt cx="1926319" cy="1435653"/>
              </a:xfrm>
            </p:grpSpPr>
            <p:pic>
              <p:nvPicPr>
                <p:cNvPr id="84" name="Picture 83" descr="screenshot_01.png">
                  <a:extLst>
                    <a:ext uri="{FF2B5EF4-FFF2-40B4-BE49-F238E27FC236}">
                      <a16:creationId xmlns:a16="http://schemas.microsoft.com/office/drawing/2014/main" id="{5C705668-01CF-AB46-B5D4-89C6F413B42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49194" y="5259279"/>
                  <a:ext cx="1926319" cy="1435653"/>
                </a:xfrm>
                <a:prstGeom prst="rect">
                  <a:avLst/>
                </a:prstGeom>
              </p:spPr>
            </p:pic>
            <p:grpSp>
              <p:nvGrpSpPr>
                <p:cNvPr id="43" name="Group 84">
                  <a:extLst>
                    <a:ext uri="{FF2B5EF4-FFF2-40B4-BE49-F238E27FC236}">
                      <a16:creationId xmlns:a16="http://schemas.microsoft.com/office/drawing/2014/main" id="{37462F5B-0D28-B547-962F-D11F5A623A8E}"/>
                    </a:ext>
                  </a:extLst>
                </p:cNvPr>
                <p:cNvGrpSpPr/>
                <p:nvPr/>
              </p:nvGrpSpPr>
              <p:grpSpPr>
                <a:xfrm>
                  <a:off x="380151" y="5400134"/>
                  <a:ext cx="1677654" cy="1159598"/>
                  <a:chOff x="380151" y="5400134"/>
                  <a:chExt cx="1677654" cy="1159598"/>
                </a:xfrm>
              </p:grpSpPr>
              <p:sp>
                <p:nvSpPr>
                  <p:cNvPr id="86" name="Rectangle 85">
                    <a:extLst>
                      <a:ext uri="{FF2B5EF4-FFF2-40B4-BE49-F238E27FC236}">
                        <a16:creationId xmlns:a16="http://schemas.microsoft.com/office/drawing/2014/main" id="{8CC955F5-1EB4-2A42-8DFC-F088F4043150}"/>
                      </a:ext>
                    </a:extLst>
                  </p:cNvPr>
                  <p:cNvSpPr/>
                  <p:nvPr/>
                </p:nvSpPr>
                <p:spPr>
                  <a:xfrm>
                    <a:off x="645342" y="5607314"/>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7" name="Picture 86">
                    <a:extLst>
                      <a:ext uri="{FF2B5EF4-FFF2-40B4-BE49-F238E27FC236}">
                        <a16:creationId xmlns:a16="http://schemas.microsoft.com/office/drawing/2014/main" id="{BE1A9261-5958-6F4B-8153-7599FE59CBFF}"/>
                      </a:ext>
                    </a:extLst>
                  </p:cNvPr>
                  <p:cNvPicPr>
                    <a:picLocks noChangeAspect="1"/>
                  </p:cNvPicPr>
                  <p:nvPr/>
                </p:nvPicPr>
                <p:blipFill>
                  <a:blip r:embed="rId42" cstate="email">
                    <a:extLst>
                      <a:ext uri="{28A0092B-C50C-407E-A947-70E740481C1C}">
                        <a14:useLocalDpi xmlns:a14="http://schemas.microsoft.com/office/drawing/2010/main"/>
                      </a:ext>
                    </a:extLst>
                  </a:blip>
                  <a:stretch>
                    <a:fillRect/>
                  </a:stretch>
                </p:blipFill>
                <p:spPr>
                  <a:xfrm>
                    <a:off x="380151" y="5400134"/>
                    <a:ext cx="1677654" cy="185035"/>
                  </a:xfrm>
                  <a:prstGeom prst="rect">
                    <a:avLst/>
                  </a:prstGeom>
                </p:spPr>
              </p:pic>
              <p:pic>
                <p:nvPicPr>
                  <p:cNvPr id="88" name="Picture 87" descr="Description: http://www.futurerenewables.eu/images/hydro.jpg">
                    <a:extLst>
                      <a:ext uri="{FF2B5EF4-FFF2-40B4-BE49-F238E27FC236}">
                        <a16:creationId xmlns:a16="http://schemas.microsoft.com/office/drawing/2014/main" id="{DB68B8B3-7C8A-074B-B6AE-05A26A1B0587}"/>
                      </a:ext>
                    </a:extLst>
                  </p:cNvPr>
                  <p:cNvPicPr/>
                  <p:nvPr/>
                </p:nvPicPr>
                <p:blipFill>
                  <a:blip r:embed="rId43" cstate="email">
                    <a:extLst>
                      <a:ext uri="{28A0092B-C50C-407E-A947-70E740481C1C}">
                        <a14:useLocalDpi xmlns:a14="http://schemas.microsoft.com/office/drawing/2010/main"/>
                      </a:ext>
                    </a:extLst>
                  </a:blip>
                  <a:srcRect/>
                  <a:stretch>
                    <a:fillRect/>
                  </a:stretch>
                </p:blipFill>
                <p:spPr bwMode="auto">
                  <a:xfrm>
                    <a:off x="852103" y="5723710"/>
                    <a:ext cx="1021609" cy="660755"/>
                  </a:xfrm>
                  <a:prstGeom prst="rect">
                    <a:avLst/>
                  </a:prstGeom>
                  <a:noFill/>
                  <a:ln>
                    <a:noFill/>
                  </a:ln>
                </p:spPr>
              </p:pic>
            </p:grpSp>
          </p:grpSp>
          <p:grpSp>
            <p:nvGrpSpPr>
              <p:cNvPr id="44" name="Group 43">
                <a:extLst>
                  <a:ext uri="{FF2B5EF4-FFF2-40B4-BE49-F238E27FC236}">
                    <a16:creationId xmlns:a16="http://schemas.microsoft.com/office/drawing/2014/main" id="{7341DF45-BD00-5040-9821-E9CF53DD81AD}"/>
                  </a:ext>
                </a:extLst>
              </p:cNvPr>
              <p:cNvGrpSpPr/>
              <p:nvPr/>
            </p:nvGrpSpPr>
            <p:grpSpPr>
              <a:xfrm>
                <a:off x="5736583" y="3049488"/>
                <a:ext cx="1126236" cy="839365"/>
                <a:chOff x="4583046" y="5169849"/>
                <a:chExt cx="1926319" cy="1435653"/>
              </a:xfrm>
            </p:grpSpPr>
            <p:pic>
              <p:nvPicPr>
                <p:cNvPr id="79" name="Picture 78" descr="screenshot_01.png">
                  <a:extLst>
                    <a:ext uri="{FF2B5EF4-FFF2-40B4-BE49-F238E27FC236}">
                      <a16:creationId xmlns:a16="http://schemas.microsoft.com/office/drawing/2014/main" id="{69C6B630-BB18-DF41-801A-E323FFCD52A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83046" y="5169849"/>
                  <a:ext cx="1926319" cy="1435653"/>
                </a:xfrm>
                <a:prstGeom prst="rect">
                  <a:avLst/>
                </a:prstGeom>
              </p:spPr>
            </p:pic>
            <p:sp>
              <p:nvSpPr>
                <p:cNvPr id="80" name="Rectangle 79">
                  <a:extLst>
                    <a:ext uri="{FF2B5EF4-FFF2-40B4-BE49-F238E27FC236}">
                      <a16:creationId xmlns:a16="http://schemas.microsoft.com/office/drawing/2014/main" id="{0B70D650-B729-704C-9765-C31281AF199A}"/>
                    </a:ext>
                  </a:extLst>
                </p:cNvPr>
                <p:cNvSpPr/>
                <p:nvPr/>
              </p:nvSpPr>
              <p:spPr>
                <a:xfrm>
                  <a:off x="4979194" y="5517884"/>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1" name="Picture 80">
                  <a:extLst>
                    <a:ext uri="{FF2B5EF4-FFF2-40B4-BE49-F238E27FC236}">
                      <a16:creationId xmlns:a16="http://schemas.microsoft.com/office/drawing/2014/main" id="{AEC1CF0B-8519-ED45-9650-ABFCE8A6AD4E}"/>
                    </a:ext>
                  </a:extLst>
                </p:cNvPr>
                <p:cNvPicPr>
                  <a:picLocks noChangeAspect="1"/>
                </p:cNvPicPr>
                <p:nvPr/>
              </p:nvPicPr>
              <p:blipFill>
                <a:blip r:embed="rId44" cstate="email">
                  <a:extLst>
                    <a:ext uri="{28A0092B-C50C-407E-A947-70E740481C1C}">
                      <a14:useLocalDpi xmlns:a14="http://schemas.microsoft.com/office/drawing/2010/main"/>
                    </a:ext>
                  </a:extLst>
                </a:blip>
                <a:stretch>
                  <a:fillRect/>
                </a:stretch>
              </p:blipFill>
              <p:spPr>
                <a:xfrm>
                  <a:off x="4704645" y="5297311"/>
                  <a:ext cx="1687688" cy="206023"/>
                </a:xfrm>
                <a:prstGeom prst="rect">
                  <a:avLst/>
                </a:prstGeom>
              </p:spPr>
            </p:pic>
            <p:pic>
              <p:nvPicPr>
                <p:cNvPr id="82" name="Picture 81" descr="StorageCapacityMap.JPG">
                  <a:extLst>
                    <a:ext uri="{FF2B5EF4-FFF2-40B4-BE49-F238E27FC236}">
                      <a16:creationId xmlns:a16="http://schemas.microsoft.com/office/drawing/2014/main" id="{3A057DED-B0FD-8E4C-8FDD-982F42446792}"/>
                    </a:ext>
                  </a:extLst>
                </p:cNvPr>
                <p:cNvPicPr>
                  <a:picLocks noChangeAspect="1"/>
                </p:cNvPicPr>
                <p:nvPr/>
              </p:nvPicPr>
              <p:blipFill rotWithShape="1">
                <a:blip r:embed="rId45" cstate="email">
                  <a:extLst>
                    <a:ext uri="{28A0092B-C50C-407E-A947-70E740481C1C}">
                      <a14:useLocalDpi xmlns:a14="http://schemas.microsoft.com/office/drawing/2010/main"/>
                    </a:ext>
                  </a:extLst>
                </a:blip>
                <a:srcRect/>
                <a:stretch/>
              </p:blipFill>
              <p:spPr>
                <a:xfrm>
                  <a:off x="5305777" y="5545666"/>
                  <a:ext cx="730761" cy="917223"/>
                </a:xfrm>
                <a:prstGeom prst="rect">
                  <a:avLst/>
                </a:prstGeom>
              </p:spPr>
            </p:pic>
            <p:pic>
              <p:nvPicPr>
                <p:cNvPr id="83" name="Picture 82" descr="StorageCapacityPlot.JPG">
                  <a:extLst>
                    <a:ext uri="{FF2B5EF4-FFF2-40B4-BE49-F238E27FC236}">
                      <a16:creationId xmlns:a16="http://schemas.microsoft.com/office/drawing/2014/main" id="{6C1B1C6B-381F-C74A-B489-88B0B6603198}"/>
                    </a:ext>
                  </a:extLst>
                </p:cNvPr>
                <p:cNvPicPr>
                  <a:picLocks noChangeAspect="1"/>
                </p:cNvPicPr>
                <p:nvPr/>
              </p:nvPicPr>
              <p:blipFill>
                <a:blip r:embed="rId46" cstate="email">
                  <a:alphaModFix amt="57000"/>
                  <a:extLst>
                    <a:ext uri="{28A0092B-C50C-407E-A947-70E740481C1C}">
                      <a14:useLocalDpi xmlns:a14="http://schemas.microsoft.com/office/drawing/2010/main"/>
                    </a:ext>
                  </a:extLst>
                </a:blip>
                <a:stretch>
                  <a:fillRect/>
                </a:stretch>
              </p:blipFill>
              <p:spPr>
                <a:xfrm>
                  <a:off x="5150556" y="5957122"/>
                  <a:ext cx="1001889" cy="497724"/>
                </a:xfrm>
                <a:prstGeom prst="rect">
                  <a:avLst/>
                </a:prstGeom>
              </p:spPr>
            </p:pic>
          </p:grpSp>
          <p:grpSp>
            <p:nvGrpSpPr>
              <p:cNvPr id="45" name="Group 44">
                <a:extLst>
                  <a:ext uri="{FF2B5EF4-FFF2-40B4-BE49-F238E27FC236}">
                    <a16:creationId xmlns:a16="http://schemas.microsoft.com/office/drawing/2014/main" id="{FA2AA259-140E-254D-B7DE-6577E7549CB4}"/>
                  </a:ext>
                </a:extLst>
              </p:cNvPr>
              <p:cNvGrpSpPr/>
              <p:nvPr/>
            </p:nvGrpSpPr>
            <p:grpSpPr>
              <a:xfrm>
                <a:off x="6975631" y="3049488"/>
                <a:ext cx="1126236" cy="839365"/>
                <a:chOff x="6766171" y="5193557"/>
                <a:chExt cx="1926319" cy="1435653"/>
              </a:xfrm>
            </p:grpSpPr>
            <p:pic>
              <p:nvPicPr>
                <p:cNvPr id="75" name="Picture 74" descr="screenshot_01.png">
                  <a:extLst>
                    <a:ext uri="{FF2B5EF4-FFF2-40B4-BE49-F238E27FC236}">
                      <a16:creationId xmlns:a16="http://schemas.microsoft.com/office/drawing/2014/main" id="{6C54558B-4319-C44B-8037-61E79130989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766171" y="5193557"/>
                  <a:ext cx="1926319" cy="1435653"/>
                </a:xfrm>
                <a:prstGeom prst="rect">
                  <a:avLst/>
                </a:prstGeom>
              </p:spPr>
            </p:pic>
            <p:sp>
              <p:nvSpPr>
                <p:cNvPr id="76" name="Rectangle 75">
                  <a:extLst>
                    <a:ext uri="{FF2B5EF4-FFF2-40B4-BE49-F238E27FC236}">
                      <a16:creationId xmlns:a16="http://schemas.microsoft.com/office/drawing/2014/main" id="{0266551A-6E1B-C245-8B12-8E3DBF2D6EB4}"/>
                    </a:ext>
                  </a:extLst>
                </p:cNvPr>
                <p:cNvSpPr/>
                <p:nvPr/>
              </p:nvSpPr>
              <p:spPr>
                <a:xfrm>
                  <a:off x="7162319" y="5541592"/>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E40E4D12-ECFE-434E-98D7-F87BA356ED05}"/>
                    </a:ext>
                  </a:extLst>
                </p:cNvPr>
                <p:cNvPicPr>
                  <a:picLocks noChangeAspect="1"/>
                </p:cNvPicPr>
                <p:nvPr/>
              </p:nvPicPr>
              <p:blipFill>
                <a:blip r:embed="rId47" cstate="email">
                  <a:extLst>
                    <a:ext uri="{28A0092B-C50C-407E-A947-70E740481C1C}">
                      <a14:useLocalDpi xmlns:a14="http://schemas.microsoft.com/office/drawing/2010/main"/>
                    </a:ext>
                  </a:extLst>
                </a:blip>
                <a:stretch>
                  <a:fillRect/>
                </a:stretch>
              </p:blipFill>
              <p:spPr>
                <a:xfrm>
                  <a:off x="7388577" y="5626653"/>
                  <a:ext cx="951089" cy="806358"/>
                </a:xfrm>
                <a:prstGeom prst="rect">
                  <a:avLst/>
                </a:prstGeom>
              </p:spPr>
            </p:pic>
            <p:pic>
              <p:nvPicPr>
                <p:cNvPr id="78" name="Picture 77">
                  <a:extLst>
                    <a:ext uri="{FF2B5EF4-FFF2-40B4-BE49-F238E27FC236}">
                      <a16:creationId xmlns:a16="http://schemas.microsoft.com/office/drawing/2014/main" id="{36B468DD-2CFE-E443-9F46-F764A4673E2C}"/>
                    </a:ext>
                  </a:extLst>
                </p:cNvPr>
                <p:cNvPicPr>
                  <a:picLocks noChangeAspect="1"/>
                </p:cNvPicPr>
                <p:nvPr/>
              </p:nvPicPr>
              <p:blipFill>
                <a:blip r:embed="rId48" cstate="email">
                  <a:extLst>
                    <a:ext uri="{28A0092B-C50C-407E-A947-70E740481C1C}">
                      <a14:useLocalDpi xmlns:a14="http://schemas.microsoft.com/office/drawing/2010/main"/>
                    </a:ext>
                  </a:extLst>
                </a:blip>
                <a:stretch>
                  <a:fillRect/>
                </a:stretch>
              </p:blipFill>
              <p:spPr>
                <a:xfrm>
                  <a:off x="6896100" y="5316705"/>
                  <a:ext cx="1669344" cy="210618"/>
                </a:xfrm>
                <a:prstGeom prst="rect">
                  <a:avLst/>
                </a:prstGeom>
              </p:spPr>
            </p:pic>
          </p:grpSp>
          <p:grpSp>
            <p:nvGrpSpPr>
              <p:cNvPr id="46" name="Group 45">
                <a:extLst>
                  <a:ext uri="{FF2B5EF4-FFF2-40B4-BE49-F238E27FC236}">
                    <a16:creationId xmlns:a16="http://schemas.microsoft.com/office/drawing/2014/main" id="{9CCC5DAE-C794-A540-B607-09A74CBA04F7}"/>
                  </a:ext>
                </a:extLst>
              </p:cNvPr>
              <p:cNvGrpSpPr/>
              <p:nvPr/>
            </p:nvGrpSpPr>
            <p:grpSpPr>
              <a:xfrm>
                <a:off x="4497535" y="3049488"/>
                <a:ext cx="1126236" cy="839365"/>
                <a:chOff x="2363503" y="5264112"/>
                <a:chExt cx="1926319" cy="1435653"/>
              </a:xfrm>
            </p:grpSpPr>
            <p:pic>
              <p:nvPicPr>
                <p:cNvPr id="71" name="Picture 70" descr="screenshot_01.png">
                  <a:extLst>
                    <a:ext uri="{FF2B5EF4-FFF2-40B4-BE49-F238E27FC236}">
                      <a16:creationId xmlns:a16="http://schemas.microsoft.com/office/drawing/2014/main" id="{16280BDA-815D-374F-8209-B22CE4C67F0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63503" y="5264112"/>
                  <a:ext cx="1926319" cy="1435653"/>
                </a:xfrm>
                <a:prstGeom prst="rect">
                  <a:avLst/>
                </a:prstGeom>
              </p:spPr>
            </p:pic>
            <p:sp>
              <p:nvSpPr>
                <p:cNvPr id="72" name="Rectangle 71">
                  <a:extLst>
                    <a:ext uri="{FF2B5EF4-FFF2-40B4-BE49-F238E27FC236}">
                      <a16:creationId xmlns:a16="http://schemas.microsoft.com/office/drawing/2014/main" id="{F1B852C8-0A67-184F-AD5B-0AEDCA294E73}"/>
                    </a:ext>
                  </a:extLst>
                </p:cNvPr>
                <p:cNvSpPr/>
                <p:nvPr/>
              </p:nvSpPr>
              <p:spPr>
                <a:xfrm>
                  <a:off x="2759651" y="5612147"/>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6815F7A5-1A96-BC44-A43E-7E0D671F7B1E}"/>
                    </a:ext>
                  </a:extLst>
                </p:cNvPr>
                <p:cNvPicPr>
                  <a:picLocks noChangeAspect="1"/>
                </p:cNvPicPr>
                <p:nvPr/>
              </p:nvPicPr>
              <p:blipFill>
                <a:blip r:embed="rId49" cstate="email">
                  <a:extLst>
                    <a:ext uri="{28A0092B-C50C-407E-A947-70E740481C1C}">
                      <a14:useLocalDpi xmlns:a14="http://schemas.microsoft.com/office/drawing/2010/main"/>
                    </a:ext>
                  </a:extLst>
                </a:blip>
                <a:stretch>
                  <a:fillRect/>
                </a:stretch>
              </p:blipFill>
              <p:spPr>
                <a:xfrm>
                  <a:off x="2822223" y="5743222"/>
                  <a:ext cx="1223142" cy="711200"/>
                </a:xfrm>
                <a:prstGeom prst="rect">
                  <a:avLst/>
                </a:prstGeom>
              </p:spPr>
            </p:pic>
            <p:pic>
              <p:nvPicPr>
                <p:cNvPr id="74" name="Picture 73">
                  <a:extLst>
                    <a:ext uri="{FF2B5EF4-FFF2-40B4-BE49-F238E27FC236}">
                      <a16:creationId xmlns:a16="http://schemas.microsoft.com/office/drawing/2014/main" id="{0B951E58-68BF-3748-BFC1-CB12F32074EC}"/>
                    </a:ext>
                  </a:extLst>
                </p:cNvPr>
                <p:cNvPicPr>
                  <a:picLocks noChangeAspect="1"/>
                </p:cNvPicPr>
                <p:nvPr/>
              </p:nvPicPr>
              <p:blipFill>
                <a:blip r:embed="rId50" cstate="email">
                  <a:extLst>
                    <a:ext uri="{28A0092B-C50C-407E-A947-70E740481C1C}">
                      <a14:useLocalDpi xmlns:a14="http://schemas.microsoft.com/office/drawing/2010/main"/>
                    </a:ext>
                  </a:extLst>
                </a:blip>
                <a:stretch>
                  <a:fillRect/>
                </a:stretch>
              </p:blipFill>
              <p:spPr>
                <a:xfrm>
                  <a:off x="2511778" y="5394677"/>
                  <a:ext cx="536222" cy="174272"/>
                </a:xfrm>
                <a:prstGeom prst="rect">
                  <a:avLst/>
                </a:prstGeom>
              </p:spPr>
            </p:pic>
          </p:grpSp>
          <p:grpSp>
            <p:nvGrpSpPr>
              <p:cNvPr id="47" name="Group 46">
                <a:extLst>
                  <a:ext uri="{FF2B5EF4-FFF2-40B4-BE49-F238E27FC236}">
                    <a16:creationId xmlns:a16="http://schemas.microsoft.com/office/drawing/2014/main" id="{DB7DBA70-205F-D643-B03D-1E554CC9D925}"/>
                  </a:ext>
                </a:extLst>
              </p:cNvPr>
              <p:cNvGrpSpPr/>
              <p:nvPr/>
            </p:nvGrpSpPr>
            <p:grpSpPr>
              <a:xfrm>
                <a:off x="8214680" y="345819"/>
                <a:ext cx="1093706" cy="815121"/>
                <a:chOff x="447214" y="737267"/>
                <a:chExt cx="1926319" cy="1435653"/>
              </a:xfrm>
            </p:grpSpPr>
            <p:grpSp>
              <p:nvGrpSpPr>
                <p:cNvPr id="48" name="Group 65">
                  <a:extLst>
                    <a:ext uri="{FF2B5EF4-FFF2-40B4-BE49-F238E27FC236}">
                      <a16:creationId xmlns:a16="http://schemas.microsoft.com/office/drawing/2014/main" id="{655B835F-A216-BE4E-A932-645C23E98374}"/>
                    </a:ext>
                  </a:extLst>
                </p:cNvPr>
                <p:cNvGrpSpPr/>
                <p:nvPr/>
              </p:nvGrpSpPr>
              <p:grpSpPr>
                <a:xfrm>
                  <a:off x="447214" y="737267"/>
                  <a:ext cx="1926319" cy="1435653"/>
                  <a:chOff x="249659" y="3601823"/>
                  <a:chExt cx="1926319" cy="1435653"/>
                </a:xfrm>
              </p:grpSpPr>
              <p:pic>
                <p:nvPicPr>
                  <p:cNvPr id="69" name="Picture 68" descr="screenshot_01.png">
                    <a:extLst>
                      <a:ext uri="{FF2B5EF4-FFF2-40B4-BE49-F238E27FC236}">
                        <a16:creationId xmlns:a16="http://schemas.microsoft.com/office/drawing/2014/main" id="{8A41BE97-5685-E34A-99B8-F94FA423A0F6}"/>
                      </a:ext>
                    </a:extLst>
                  </p:cNvPr>
                  <p:cNvPicPr>
                    <a:picLocks noChangeAspect="1"/>
                  </p:cNvPicPr>
                  <p:nvPr/>
                </p:nvPicPr>
                <p:blipFill>
                  <a:blip r:embed="rId51" cstate="email">
                    <a:extLst>
                      <a:ext uri="{28A0092B-C50C-407E-A947-70E740481C1C}">
                        <a14:useLocalDpi xmlns:a14="http://schemas.microsoft.com/office/drawing/2010/main"/>
                      </a:ext>
                    </a:extLst>
                  </a:blip>
                  <a:stretch>
                    <a:fillRect/>
                  </a:stretch>
                </p:blipFill>
                <p:spPr>
                  <a:xfrm>
                    <a:off x="249659" y="3601823"/>
                    <a:ext cx="1926319" cy="1435653"/>
                  </a:xfrm>
                  <a:prstGeom prst="rect">
                    <a:avLst/>
                  </a:prstGeom>
                </p:spPr>
              </p:pic>
              <p:sp>
                <p:nvSpPr>
                  <p:cNvPr id="70" name="Rectangle 69">
                    <a:extLst>
                      <a:ext uri="{FF2B5EF4-FFF2-40B4-BE49-F238E27FC236}">
                        <a16:creationId xmlns:a16="http://schemas.microsoft.com/office/drawing/2014/main" id="{2583B167-05E6-D34C-8925-7FD549267F32}"/>
                      </a:ext>
                    </a:extLst>
                  </p:cNvPr>
                  <p:cNvSpPr/>
                  <p:nvPr/>
                </p:nvSpPr>
                <p:spPr>
                  <a:xfrm>
                    <a:off x="645807" y="394985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7" name="Picture 66">
                  <a:extLst>
                    <a:ext uri="{FF2B5EF4-FFF2-40B4-BE49-F238E27FC236}">
                      <a16:creationId xmlns:a16="http://schemas.microsoft.com/office/drawing/2014/main" id="{C70C99EF-E791-4A4D-9EC5-0BE8D24F9BA6}"/>
                    </a:ext>
                  </a:extLst>
                </p:cNvPr>
                <p:cNvPicPr>
                  <a:picLocks noChangeAspect="1"/>
                </p:cNvPicPr>
                <p:nvPr/>
              </p:nvPicPr>
              <p:blipFill>
                <a:blip r:embed="rId52" cstate="email">
                  <a:extLst>
                    <a:ext uri="{28A0092B-C50C-407E-A947-70E740481C1C}">
                      <a14:useLocalDpi xmlns:a14="http://schemas.microsoft.com/office/drawing/2010/main"/>
                    </a:ext>
                  </a:extLst>
                </a:blip>
                <a:stretch>
                  <a:fillRect/>
                </a:stretch>
              </p:blipFill>
              <p:spPr>
                <a:xfrm>
                  <a:off x="1054100" y="1110544"/>
                  <a:ext cx="939800" cy="927100"/>
                </a:xfrm>
                <a:prstGeom prst="rect">
                  <a:avLst/>
                </a:prstGeom>
              </p:spPr>
            </p:pic>
            <p:pic>
              <p:nvPicPr>
                <p:cNvPr id="68" name="Picture 67">
                  <a:extLst>
                    <a:ext uri="{FF2B5EF4-FFF2-40B4-BE49-F238E27FC236}">
                      <a16:creationId xmlns:a16="http://schemas.microsoft.com/office/drawing/2014/main" id="{9D603579-17A0-954D-ABB1-7F838F9AA287}"/>
                    </a:ext>
                  </a:extLst>
                </p:cNvPr>
                <p:cNvPicPr>
                  <a:picLocks noChangeAspect="1"/>
                </p:cNvPicPr>
                <p:nvPr/>
              </p:nvPicPr>
              <p:blipFill>
                <a:blip r:embed="rId53" cstate="email">
                  <a:extLst>
                    <a:ext uri="{28A0092B-C50C-407E-A947-70E740481C1C}">
                      <a14:useLocalDpi xmlns:a14="http://schemas.microsoft.com/office/drawing/2010/main"/>
                    </a:ext>
                  </a:extLst>
                </a:blip>
                <a:stretch>
                  <a:fillRect/>
                </a:stretch>
              </p:blipFill>
              <p:spPr>
                <a:xfrm>
                  <a:off x="587022" y="865010"/>
                  <a:ext cx="1683397" cy="207433"/>
                </a:xfrm>
                <a:prstGeom prst="rect">
                  <a:avLst/>
                </a:prstGeom>
              </p:spPr>
            </p:pic>
          </p:grpSp>
          <p:grpSp>
            <p:nvGrpSpPr>
              <p:cNvPr id="49" name="Group 47">
                <a:extLst>
                  <a:ext uri="{FF2B5EF4-FFF2-40B4-BE49-F238E27FC236}">
                    <a16:creationId xmlns:a16="http://schemas.microsoft.com/office/drawing/2014/main" id="{34C52D75-9057-AB4D-91C0-A44E6330570B}"/>
                  </a:ext>
                </a:extLst>
              </p:cNvPr>
              <p:cNvGrpSpPr/>
              <p:nvPr/>
            </p:nvGrpSpPr>
            <p:grpSpPr>
              <a:xfrm>
                <a:off x="8214680" y="1237550"/>
                <a:ext cx="1093706" cy="815121"/>
                <a:chOff x="3323059" y="762668"/>
                <a:chExt cx="1926319" cy="1435653"/>
              </a:xfrm>
            </p:grpSpPr>
            <p:grpSp>
              <p:nvGrpSpPr>
                <p:cNvPr id="50" name="Group 60">
                  <a:extLst>
                    <a:ext uri="{FF2B5EF4-FFF2-40B4-BE49-F238E27FC236}">
                      <a16:creationId xmlns:a16="http://schemas.microsoft.com/office/drawing/2014/main" id="{E6E5DF67-4A1C-934F-B8CC-72587DC0B3A9}"/>
                    </a:ext>
                  </a:extLst>
                </p:cNvPr>
                <p:cNvGrpSpPr/>
                <p:nvPr/>
              </p:nvGrpSpPr>
              <p:grpSpPr>
                <a:xfrm>
                  <a:off x="3323059" y="762668"/>
                  <a:ext cx="1926319" cy="1435653"/>
                  <a:chOff x="249659" y="3601823"/>
                  <a:chExt cx="1926319" cy="1435653"/>
                </a:xfrm>
              </p:grpSpPr>
              <p:pic>
                <p:nvPicPr>
                  <p:cNvPr id="64" name="Picture 63" descr="screenshot_01.png">
                    <a:extLst>
                      <a:ext uri="{FF2B5EF4-FFF2-40B4-BE49-F238E27FC236}">
                        <a16:creationId xmlns:a16="http://schemas.microsoft.com/office/drawing/2014/main" id="{8A704222-EE3D-E546-97AA-6F6169651F19}"/>
                      </a:ext>
                    </a:extLst>
                  </p:cNvPr>
                  <p:cNvPicPr>
                    <a:picLocks noChangeAspect="1"/>
                  </p:cNvPicPr>
                  <p:nvPr/>
                </p:nvPicPr>
                <p:blipFill>
                  <a:blip r:embed="rId51" cstate="email">
                    <a:extLst>
                      <a:ext uri="{28A0092B-C50C-407E-A947-70E740481C1C}">
                        <a14:useLocalDpi xmlns:a14="http://schemas.microsoft.com/office/drawing/2010/main"/>
                      </a:ext>
                    </a:extLst>
                  </a:blip>
                  <a:stretch>
                    <a:fillRect/>
                  </a:stretch>
                </p:blipFill>
                <p:spPr>
                  <a:xfrm>
                    <a:off x="249659" y="3601823"/>
                    <a:ext cx="1926319" cy="1435653"/>
                  </a:xfrm>
                  <a:prstGeom prst="rect">
                    <a:avLst/>
                  </a:prstGeom>
                </p:spPr>
              </p:pic>
              <p:sp>
                <p:nvSpPr>
                  <p:cNvPr id="65" name="Rectangle 64">
                    <a:extLst>
                      <a:ext uri="{FF2B5EF4-FFF2-40B4-BE49-F238E27FC236}">
                        <a16:creationId xmlns:a16="http://schemas.microsoft.com/office/drawing/2014/main" id="{5B3AC2CF-9CFE-764B-8B73-B598CCD3D0E9}"/>
                      </a:ext>
                    </a:extLst>
                  </p:cNvPr>
                  <p:cNvSpPr/>
                  <p:nvPr/>
                </p:nvSpPr>
                <p:spPr>
                  <a:xfrm>
                    <a:off x="645807" y="394985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2" name="Picture 61">
                  <a:extLst>
                    <a:ext uri="{FF2B5EF4-FFF2-40B4-BE49-F238E27FC236}">
                      <a16:creationId xmlns:a16="http://schemas.microsoft.com/office/drawing/2014/main" id="{E353F9B8-5C3B-0A42-AAFD-D9B14AA8C465}"/>
                    </a:ext>
                  </a:extLst>
                </p:cNvPr>
                <p:cNvPicPr>
                  <a:picLocks noChangeAspect="1"/>
                </p:cNvPicPr>
                <p:nvPr/>
              </p:nvPicPr>
              <p:blipFill>
                <a:blip r:embed="rId5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007557" y="1158523"/>
                  <a:ext cx="852172" cy="873477"/>
                </a:xfrm>
                <a:prstGeom prst="rect">
                  <a:avLst/>
                </a:prstGeom>
              </p:spPr>
            </p:pic>
            <p:pic>
              <p:nvPicPr>
                <p:cNvPr id="63" name="Picture 62">
                  <a:extLst>
                    <a:ext uri="{FF2B5EF4-FFF2-40B4-BE49-F238E27FC236}">
                      <a16:creationId xmlns:a16="http://schemas.microsoft.com/office/drawing/2014/main" id="{A01C710A-2814-BF43-8AED-AD74D22FDE80}"/>
                    </a:ext>
                  </a:extLst>
                </p:cNvPr>
                <p:cNvPicPr>
                  <a:picLocks noChangeAspect="1"/>
                </p:cNvPicPr>
                <p:nvPr/>
              </p:nvPicPr>
              <p:blipFill>
                <a:blip r:embed="rId55" cstate="email">
                  <a:extLst>
                    <a:ext uri="{28A0092B-C50C-407E-A947-70E740481C1C}">
                      <a14:useLocalDpi xmlns:a14="http://schemas.microsoft.com/office/drawing/2010/main"/>
                    </a:ext>
                  </a:extLst>
                </a:blip>
                <a:stretch>
                  <a:fillRect/>
                </a:stretch>
              </p:blipFill>
              <p:spPr>
                <a:xfrm>
                  <a:off x="3468511" y="880533"/>
                  <a:ext cx="1667933" cy="230945"/>
                </a:xfrm>
                <a:prstGeom prst="rect">
                  <a:avLst/>
                </a:prstGeom>
              </p:spPr>
            </p:pic>
          </p:grpSp>
          <p:grpSp>
            <p:nvGrpSpPr>
              <p:cNvPr id="51" name="Group 48">
                <a:extLst>
                  <a:ext uri="{FF2B5EF4-FFF2-40B4-BE49-F238E27FC236}">
                    <a16:creationId xmlns:a16="http://schemas.microsoft.com/office/drawing/2014/main" id="{A9CE6B21-857D-5E4D-8D6E-38B0EF3AFEFB}"/>
                  </a:ext>
                </a:extLst>
              </p:cNvPr>
              <p:cNvGrpSpPr/>
              <p:nvPr/>
            </p:nvGrpSpPr>
            <p:grpSpPr>
              <a:xfrm>
                <a:off x="8214680" y="2141091"/>
                <a:ext cx="1093706" cy="815121"/>
                <a:chOff x="406574" y="2322227"/>
                <a:chExt cx="1926319" cy="1435653"/>
              </a:xfrm>
            </p:grpSpPr>
            <p:grpSp>
              <p:nvGrpSpPr>
                <p:cNvPr id="56" name="Group 55">
                  <a:extLst>
                    <a:ext uri="{FF2B5EF4-FFF2-40B4-BE49-F238E27FC236}">
                      <a16:creationId xmlns:a16="http://schemas.microsoft.com/office/drawing/2014/main" id="{0604D3F9-E72B-5943-AC24-828D1E6350B0}"/>
                    </a:ext>
                  </a:extLst>
                </p:cNvPr>
                <p:cNvGrpSpPr/>
                <p:nvPr/>
              </p:nvGrpSpPr>
              <p:grpSpPr>
                <a:xfrm>
                  <a:off x="406574" y="2322227"/>
                  <a:ext cx="1926319" cy="1435653"/>
                  <a:chOff x="249659" y="3601823"/>
                  <a:chExt cx="1926319" cy="1435653"/>
                </a:xfrm>
              </p:grpSpPr>
              <p:pic>
                <p:nvPicPr>
                  <p:cNvPr id="59" name="Picture 58" descr="screenshot_01.png">
                    <a:extLst>
                      <a:ext uri="{FF2B5EF4-FFF2-40B4-BE49-F238E27FC236}">
                        <a16:creationId xmlns:a16="http://schemas.microsoft.com/office/drawing/2014/main" id="{5DFBABCD-2826-AD4C-A799-D3C36BA893E5}"/>
                      </a:ext>
                    </a:extLst>
                  </p:cNvPr>
                  <p:cNvPicPr>
                    <a:picLocks noChangeAspect="1"/>
                  </p:cNvPicPr>
                  <p:nvPr/>
                </p:nvPicPr>
                <p:blipFill>
                  <a:blip r:embed="rId51" cstate="email">
                    <a:extLst>
                      <a:ext uri="{28A0092B-C50C-407E-A947-70E740481C1C}">
                        <a14:useLocalDpi xmlns:a14="http://schemas.microsoft.com/office/drawing/2010/main"/>
                      </a:ext>
                    </a:extLst>
                  </a:blip>
                  <a:stretch>
                    <a:fillRect/>
                  </a:stretch>
                </p:blipFill>
                <p:spPr>
                  <a:xfrm>
                    <a:off x="249659" y="3601823"/>
                    <a:ext cx="1926319" cy="1435653"/>
                  </a:xfrm>
                  <a:prstGeom prst="rect">
                    <a:avLst/>
                  </a:prstGeom>
                </p:spPr>
              </p:pic>
              <p:sp>
                <p:nvSpPr>
                  <p:cNvPr id="60" name="Rectangle 59">
                    <a:extLst>
                      <a:ext uri="{FF2B5EF4-FFF2-40B4-BE49-F238E27FC236}">
                        <a16:creationId xmlns:a16="http://schemas.microsoft.com/office/drawing/2014/main" id="{68FFBD18-90C0-CD4D-A557-A3CD1A39D3C5}"/>
                      </a:ext>
                    </a:extLst>
                  </p:cNvPr>
                  <p:cNvSpPr/>
                  <p:nvPr/>
                </p:nvSpPr>
                <p:spPr>
                  <a:xfrm>
                    <a:off x="645807" y="394985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7" name="Picture 56" descr="nfieexplorer.jpg">
                  <a:extLst>
                    <a:ext uri="{FF2B5EF4-FFF2-40B4-BE49-F238E27FC236}">
                      <a16:creationId xmlns:a16="http://schemas.microsoft.com/office/drawing/2014/main" id="{A3F5A675-C88D-3543-ADDE-AF2BD51154B5}"/>
                    </a:ext>
                  </a:extLst>
                </p:cNvPr>
                <p:cNvPicPr>
                  <a:picLocks noChangeAspect="1"/>
                </p:cNvPicPr>
                <p:nvPr/>
              </p:nvPicPr>
              <p:blipFill>
                <a:blip r:embed="rId56" cstate="email">
                  <a:extLst>
                    <a:ext uri="{28A0092B-C50C-407E-A947-70E740481C1C}">
                      <a14:useLocalDpi xmlns:a14="http://schemas.microsoft.com/office/drawing/2010/main"/>
                    </a:ext>
                  </a:extLst>
                </a:blip>
                <a:stretch>
                  <a:fillRect/>
                </a:stretch>
              </p:blipFill>
              <p:spPr>
                <a:xfrm>
                  <a:off x="1054100" y="2722880"/>
                  <a:ext cx="783192" cy="896620"/>
                </a:xfrm>
                <a:prstGeom prst="rect">
                  <a:avLst/>
                </a:prstGeom>
              </p:spPr>
            </p:pic>
            <p:pic>
              <p:nvPicPr>
                <p:cNvPr id="58" name="Picture 57">
                  <a:extLst>
                    <a:ext uri="{FF2B5EF4-FFF2-40B4-BE49-F238E27FC236}">
                      <a16:creationId xmlns:a16="http://schemas.microsoft.com/office/drawing/2014/main" id="{D6B08B68-DB14-1745-AACD-8CB8FF2B82BC}"/>
                    </a:ext>
                  </a:extLst>
                </p:cNvPr>
                <p:cNvPicPr>
                  <a:picLocks noChangeAspect="1"/>
                </p:cNvPicPr>
                <p:nvPr/>
              </p:nvPicPr>
              <p:blipFill>
                <a:blip r:embed="rId57" cstate="email">
                  <a:extLst>
                    <a:ext uri="{28A0092B-C50C-407E-A947-70E740481C1C}">
                      <a14:useLocalDpi xmlns:a14="http://schemas.microsoft.com/office/drawing/2010/main"/>
                    </a:ext>
                  </a:extLst>
                </a:blip>
                <a:stretch>
                  <a:fillRect/>
                </a:stretch>
              </p:blipFill>
              <p:spPr>
                <a:xfrm>
                  <a:off x="551180" y="2458720"/>
                  <a:ext cx="1115060" cy="174531"/>
                </a:xfrm>
                <a:prstGeom prst="rect">
                  <a:avLst/>
                </a:prstGeom>
              </p:spPr>
            </p:pic>
          </p:grpSp>
          <p:grpSp>
            <p:nvGrpSpPr>
              <p:cNvPr id="61" name="Group 49">
                <a:extLst>
                  <a:ext uri="{FF2B5EF4-FFF2-40B4-BE49-F238E27FC236}">
                    <a16:creationId xmlns:a16="http://schemas.microsoft.com/office/drawing/2014/main" id="{A753672D-E594-1547-B218-A36006F5FF02}"/>
                  </a:ext>
                </a:extLst>
              </p:cNvPr>
              <p:cNvGrpSpPr/>
              <p:nvPr/>
            </p:nvGrpSpPr>
            <p:grpSpPr>
              <a:xfrm>
                <a:off x="8214680" y="3061610"/>
                <a:ext cx="1093706" cy="815121"/>
                <a:chOff x="416734" y="4181507"/>
                <a:chExt cx="1926319" cy="1435653"/>
              </a:xfrm>
            </p:grpSpPr>
            <p:grpSp>
              <p:nvGrpSpPr>
                <p:cNvPr id="66" name="Group 50">
                  <a:extLst>
                    <a:ext uri="{FF2B5EF4-FFF2-40B4-BE49-F238E27FC236}">
                      <a16:creationId xmlns:a16="http://schemas.microsoft.com/office/drawing/2014/main" id="{E0E3BF60-24D3-4841-8C34-FB2AED12447C}"/>
                    </a:ext>
                  </a:extLst>
                </p:cNvPr>
                <p:cNvGrpSpPr/>
                <p:nvPr/>
              </p:nvGrpSpPr>
              <p:grpSpPr>
                <a:xfrm>
                  <a:off x="416734" y="4181507"/>
                  <a:ext cx="1926319" cy="1435653"/>
                  <a:chOff x="249659" y="3601823"/>
                  <a:chExt cx="1926319" cy="1435653"/>
                </a:xfrm>
              </p:grpSpPr>
              <p:pic>
                <p:nvPicPr>
                  <p:cNvPr id="54" name="Picture 53" descr="screenshot_01.png">
                    <a:extLst>
                      <a:ext uri="{FF2B5EF4-FFF2-40B4-BE49-F238E27FC236}">
                        <a16:creationId xmlns:a16="http://schemas.microsoft.com/office/drawing/2014/main" id="{C0B8F7A9-5981-9A40-8C47-ABF87A2DCA69}"/>
                      </a:ext>
                    </a:extLst>
                  </p:cNvPr>
                  <p:cNvPicPr>
                    <a:picLocks noChangeAspect="1"/>
                  </p:cNvPicPr>
                  <p:nvPr/>
                </p:nvPicPr>
                <p:blipFill>
                  <a:blip r:embed="rId51" cstate="email">
                    <a:extLst>
                      <a:ext uri="{28A0092B-C50C-407E-A947-70E740481C1C}">
                        <a14:useLocalDpi xmlns:a14="http://schemas.microsoft.com/office/drawing/2010/main"/>
                      </a:ext>
                    </a:extLst>
                  </a:blip>
                  <a:stretch>
                    <a:fillRect/>
                  </a:stretch>
                </p:blipFill>
                <p:spPr>
                  <a:xfrm>
                    <a:off x="249659" y="3601823"/>
                    <a:ext cx="1926319" cy="1435653"/>
                  </a:xfrm>
                  <a:prstGeom prst="rect">
                    <a:avLst/>
                  </a:prstGeom>
                </p:spPr>
              </p:pic>
              <p:sp>
                <p:nvSpPr>
                  <p:cNvPr id="55" name="Rectangle 54">
                    <a:extLst>
                      <a:ext uri="{FF2B5EF4-FFF2-40B4-BE49-F238E27FC236}">
                        <a16:creationId xmlns:a16="http://schemas.microsoft.com/office/drawing/2014/main" id="{F182E8FC-69F3-DF4D-9572-6016A3648A7B}"/>
                      </a:ext>
                    </a:extLst>
                  </p:cNvPr>
                  <p:cNvSpPr/>
                  <p:nvPr/>
                </p:nvSpPr>
                <p:spPr>
                  <a:xfrm>
                    <a:off x="645807" y="394985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2" name="Picture 51" descr="irodsexplorer.jpg">
                  <a:extLst>
                    <a:ext uri="{FF2B5EF4-FFF2-40B4-BE49-F238E27FC236}">
                      <a16:creationId xmlns:a16="http://schemas.microsoft.com/office/drawing/2014/main" id="{903C1B68-F94E-D640-B060-902F97C37AC7}"/>
                    </a:ext>
                  </a:extLst>
                </p:cNvPr>
                <p:cNvPicPr>
                  <a:picLocks noChangeAspect="1"/>
                </p:cNvPicPr>
                <p:nvPr/>
              </p:nvPicPr>
              <p:blipFill>
                <a:blip r:embed="rId58" cstate="email">
                  <a:extLst>
                    <a:ext uri="{28A0092B-C50C-407E-A947-70E740481C1C}">
                      <a14:useLocalDpi xmlns:a14="http://schemas.microsoft.com/office/drawing/2010/main"/>
                    </a:ext>
                  </a:extLst>
                </a:blip>
                <a:stretch>
                  <a:fillRect/>
                </a:stretch>
              </p:blipFill>
              <p:spPr>
                <a:xfrm>
                  <a:off x="1069340" y="4551679"/>
                  <a:ext cx="830580" cy="923917"/>
                </a:xfrm>
                <a:prstGeom prst="rect">
                  <a:avLst/>
                </a:prstGeom>
              </p:spPr>
            </p:pic>
            <p:pic>
              <p:nvPicPr>
                <p:cNvPr id="53" name="Picture 52">
                  <a:extLst>
                    <a:ext uri="{FF2B5EF4-FFF2-40B4-BE49-F238E27FC236}">
                      <a16:creationId xmlns:a16="http://schemas.microsoft.com/office/drawing/2014/main" id="{DC513C33-A536-1A43-A938-B678D7ECB0F2}"/>
                    </a:ext>
                  </a:extLst>
                </p:cNvPr>
                <p:cNvPicPr>
                  <a:picLocks noChangeAspect="1"/>
                </p:cNvPicPr>
                <p:nvPr/>
              </p:nvPicPr>
              <p:blipFill>
                <a:blip r:embed="rId59" cstate="email">
                  <a:extLst>
                    <a:ext uri="{28A0092B-C50C-407E-A947-70E740481C1C}">
                      <a14:useLocalDpi xmlns:a14="http://schemas.microsoft.com/office/drawing/2010/main"/>
                    </a:ext>
                  </a:extLst>
                </a:blip>
                <a:stretch>
                  <a:fillRect/>
                </a:stretch>
              </p:blipFill>
              <p:spPr>
                <a:xfrm>
                  <a:off x="551180" y="4315460"/>
                  <a:ext cx="982980" cy="169954"/>
                </a:xfrm>
                <a:prstGeom prst="rect">
                  <a:avLst/>
                </a:prstGeom>
              </p:spPr>
            </p:pic>
          </p:grpSp>
        </p:grpSp>
        <p:sp>
          <p:nvSpPr>
            <p:cNvPr id="185" name="Rectangle 184">
              <a:extLst>
                <a:ext uri="{FF2B5EF4-FFF2-40B4-BE49-F238E27FC236}">
                  <a16:creationId xmlns:a16="http://schemas.microsoft.com/office/drawing/2014/main" id="{0530D31D-75AD-A244-A91D-421A97767DD7}"/>
                </a:ext>
              </a:extLst>
            </p:cNvPr>
            <p:cNvSpPr/>
            <p:nvPr/>
          </p:nvSpPr>
          <p:spPr>
            <a:xfrm>
              <a:off x="43582" y="3395050"/>
              <a:ext cx="3466845" cy="3994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APP WAREHOUSE</a:t>
              </a:r>
            </a:p>
          </p:txBody>
        </p:sp>
      </p:grpSp>
      <p:pic>
        <p:nvPicPr>
          <p:cNvPr id="165" name="Picture 164" descr="Delineation.jpg">
            <a:extLst>
              <a:ext uri="{FF2B5EF4-FFF2-40B4-BE49-F238E27FC236}">
                <a16:creationId xmlns:a16="http://schemas.microsoft.com/office/drawing/2014/main" id="{54FF898F-769A-514C-B223-C77D26AAC2D2}"/>
              </a:ext>
            </a:extLst>
          </p:cNvPr>
          <p:cNvPicPr>
            <a:picLocks noChangeAspect="1"/>
          </p:cNvPicPr>
          <p:nvPr/>
        </p:nvPicPr>
        <p:blipFill>
          <a:blip r:embed="rId60" cstate="email">
            <a:extLst>
              <a:ext uri="{28A0092B-C50C-407E-A947-70E740481C1C}">
                <a14:useLocalDpi xmlns:a14="http://schemas.microsoft.com/office/drawing/2010/main"/>
              </a:ext>
            </a:extLst>
          </a:blip>
          <a:stretch>
            <a:fillRect/>
          </a:stretch>
        </p:blipFill>
        <p:spPr>
          <a:xfrm>
            <a:off x="1284037" y="3644848"/>
            <a:ext cx="447188" cy="539352"/>
          </a:xfrm>
          <a:prstGeom prst="rect">
            <a:avLst/>
          </a:prstGeom>
        </p:spPr>
      </p:pic>
      <p:pic>
        <p:nvPicPr>
          <p:cNvPr id="166" name="Picture 165" descr="Description: http://www.futurerenewables.eu/images/hydro.jpg">
            <a:extLst>
              <a:ext uri="{FF2B5EF4-FFF2-40B4-BE49-F238E27FC236}">
                <a16:creationId xmlns:a16="http://schemas.microsoft.com/office/drawing/2014/main" id="{DB1E0271-0EFA-2F4F-A500-920A9330F40A}"/>
              </a:ext>
            </a:extLst>
          </p:cNvPr>
          <p:cNvPicPr/>
          <p:nvPr/>
        </p:nvPicPr>
        <p:blipFill>
          <a:blip r:embed="rId61" cstate="email">
            <a:extLst>
              <a:ext uri="{28A0092B-C50C-407E-A947-70E740481C1C}">
                <a14:useLocalDpi xmlns:a14="http://schemas.microsoft.com/office/drawing/2010/main"/>
              </a:ext>
            </a:extLst>
          </a:blip>
          <a:srcRect/>
          <a:stretch>
            <a:fillRect/>
          </a:stretch>
        </p:blipFill>
        <p:spPr bwMode="auto">
          <a:xfrm>
            <a:off x="124505" y="5395921"/>
            <a:ext cx="502833" cy="532630"/>
          </a:xfrm>
          <a:prstGeom prst="rect">
            <a:avLst/>
          </a:prstGeom>
          <a:noFill/>
          <a:ln>
            <a:noFill/>
          </a:ln>
        </p:spPr>
      </p:pic>
      <p:pic>
        <p:nvPicPr>
          <p:cNvPr id="167" name="Picture 166" descr="nfieexplorer.jpg">
            <a:extLst>
              <a:ext uri="{FF2B5EF4-FFF2-40B4-BE49-F238E27FC236}">
                <a16:creationId xmlns:a16="http://schemas.microsoft.com/office/drawing/2014/main" id="{010E72C5-F63E-B24A-9923-F6F0C4EF65D8}"/>
              </a:ext>
            </a:extLst>
          </p:cNvPr>
          <p:cNvPicPr>
            <a:picLocks noChangeAspect="1"/>
          </p:cNvPicPr>
          <p:nvPr/>
        </p:nvPicPr>
        <p:blipFill>
          <a:blip r:embed="rId62" cstate="email">
            <a:extLst>
              <a:ext uri="{28A0092B-C50C-407E-A947-70E740481C1C}">
                <a14:useLocalDpi xmlns:a14="http://schemas.microsoft.com/office/drawing/2010/main"/>
              </a:ext>
            </a:extLst>
          </a:blip>
          <a:stretch>
            <a:fillRect/>
          </a:stretch>
        </p:blipFill>
        <p:spPr>
          <a:xfrm>
            <a:off x="2375969" y="4774146"/>
            <a:ext cx="511179" cy="629544"/>
          </a:xfrm>
          <a:prstGeom prst="rect">
            <a:avLst/>
          </a:prstGeom>
        </p:spPr>
      </p:pic>
      <p:pic>
        <p:nvPicPr>
          <p:cNvPr id="168" name="Picture 167" descr="rasterviewer.jpg">
            <a:extLst>
              <a:ext uri="{FF2B5EF4-FFF2-40B4-BE49-F238E27FC236}">
                <a16:creationId xmlns:a16="http://schemas.microsoft.com/office/drawing/2014/main" id="{AFBD4BF7-1AFC-1048-8BD5-B80978BD10F2}"/>
              </a:ext>
            </a:extLst>
          </p:cNvPr>
          <p:cNvPicPr>
            <a:picLocks noChangeAspect="1"/>
          </p:cNvPicPr>
          <p:nvPr/>
        </p:nvPicPr>
        <p:blipFill>
          <a:blip r:embed="rId63" cstate="email">
            <a:extLst>
              <a:ext uri="{28A0092B-C50C-407E-A947-70E740481C1C}">
                <a14:useLocalDpi xmlns:a14="http://schemas.microsoft.com/office/drawing/2010/main"/>
              </a:ext>
            </a:extLst>
          </a:blip>
          <a:stretch>
            <a:fillRect/>
          </a:stretch>
        </p:blipFill>
        <p:spPr>
          <a:xfrm>
            <a:off x="77145" y="3641243"/>
            <a:ext cx="564805" cy="504292"/>
          </a:xfrm>
          <a:prstGeom prst="rect">
            <a:avLst/>
          </a:prstGeom>
        </p:spPr>
      </p:pic>
      <p:pic>
        <p:nvPicPr>
          <p:cNvPr id="169" name="Picture 168" descr="timeseriesviewer.jpg">
            <a:extLst>
              <a:ext uri="{FF2B5EF4-FFF2-40B4-BE49-F238E27FC236}">
                <a16:creationId xmlns:a16="http://schemas.microsoft.com/office/drawing/2014/main" id="{5484A0BF-515D-BC40-A86C-FE5E7054BA5C}"/>
              </a:ext>
            </a:extLst>
          </p:cNvPr>
          <p:cNvPicPr>
            <a:picLocks noChangeAspect="1"/>
          </p:cNvPicPr>
          <p:nvPr/>
        </p:nvPicPr>
        <p:blipFill>
          <a:blip r:embed="rId64" cstate="email">
            <a:extLst>
              <a:ext uri="{28A0092B-C50C-407E-A947-70E740481C1C}">
                <a14:useLocalDpi xmlns:a14="http://schemas.microsoft.com/office/drawing/2010/main"/>
              </a:ext>
            </a:extLst>
          </a:blip>
          <a:stretch>
            <a:fillRect/>
          </a:stretch>
        </p:blipFill>
        <p:spPr>
          <a:xfrm>
            <a:off x="151005" y="4796188"/>
            <a:ext cx="411248" cy="533185"/>
          </a:xfrm>
          <a:prstGeom prst="rect">
            <a:avLst/>
          </a:prstGeom>
        </p:spPr>
      </p:pic>
      <p:pic>
        <p:nvPicPr>
          <p:cNvPr id="170" name="Picture 169" descr="NASADataExplorer.jpg">
            <a:extLst>
              <a:ext uri="{FF2B5EF4-FFF2-40B4-BE49-F238E27FC236}">
                <a16:creationId xmlns:a16="http://schemas.microsoft.com/office/drawing/2014/main" id="{C1E90BB7-A283-0946-936E-BD87AD83486B}"/>
              </a:ext>
            </a:extLst>
          </p:cNvPr>
          <p:cNvPicPr>
            <a:picLocks noChangeAspect="1"/>
          </p:cNvPicPr>
          <p:nvPr/>
        </p:nvPicPr>
        <p:blipFill>
          <a:blip r:embed="rId65" cstate="email">
            <a:extLst>
              <a:ext uri="{28A0092B-C50C-407E-A947-70E740481C1C}">
                <a14:useLocalDpi xmlns:a14="http://schemas.microsoft.com/office/drawing/2010/main"/>
              </a:ext>
            </a:extLst>
          </a:blip>
          <a:stretch>
            <a:fillRect/>
          </a:stretch>
        </p:blipFill>
        <p:spPr>
          <a:xfrm>
            <a:off x="1285241" y="4790422"/>
            <a:ext cx="400931" cy="537683"/>
          </a:xfrm>
          <a:prstGeom prst="rect">
            <a:avLst/>
          </a:prstGeom>
        </p:spPr>
      </p:pic>
      <p:pic>
        <p:nvPicPr>
          <p:cNvPr id="172" name="Picture 171" descr="rasterviewer.jpg">
            <a:extLst>
              <a:ext uri="{FF2B5EF4-FFF2-40B4-BE49-F238E27FC236}">
                <a16:creationId xmlns:a16="http://schemas.microsoft.com/office/drawing/2014/main" id="{5707BAAF-B9F3-EB41-BEA9-8836D74D5305}"/>
              </a:ext>
            </a:extLst>
          </p:cNvPr>
          <p:cNvPicPr>
            <a:picLocks noChangeAspect="1"/>
          </p:cNvPicPr>
          <p:nvPr/>
        </p:nvPicPr>
        <p:blipFill>
          <a:blip r:embed="rId63" cstate="email">
            <a:extLst>
              <a:ext uri="{28A0092B-C50C-407E-A947-70E740481C1C}">
                <a14:useLocalDpi xmlns:a14="http://schemas.microsoft.com/office/drawing/2010/main"/>
              </a:ext>
            </a:extLst>
          </a:blip>
          <a:stretch>
            <a:fillRect/>
          </a:stretch>
        </p:blipFill>
        <p:spPr>
          <a:xfrm>
            <a:off x="78967" y="3661418"/>
            <a:ext cx="564711" cy="504209"/>
          </a:xfrm>
          <a:prstGeom prst="rect">
            <a:avLst/>
          </a:prstGeom>
        </p:spPr>
      </p:pic>
      <p:pic>
        <p:nvPicPr>
          <p:cNvPr id="173" name="Picture 172">
            <a:extLst>
              <a:ext uri="{FF2B5EF4-FFF2-40B4-BE49-F238E27FC236}">
                <a16:creationId xmlns:a16="http://schemas.microsoft.com/office/drawing/2014/main" id="{64E9F5A1-7E5E-B447-BDDB-A35C66357C3C}"/>
              </a:ext>
            </a:extLst>
          </p:cNvPr>
          <p:cNvPicPr>
            <a:picLocks noChangeAspect="1"/>
          </p:cNvPicPr>
          <p:nvPr/>
        </p:nvPicPr>
        <p:blipFill>
          <a:blip r:embed="rId66"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99846" y="4182094"/>
            <a:ext cx="433395" cy="592307"/>
          </a:xfrm>
          <a:prstGeom prst="rect">
            <a:avLst/>
          </a:prstGeom>
        </p:spPr>
      </p:pic>
      <p:pic>
        <p:nvPicPr>
          <p:cNvPr id="174" name="Picture 173" descr="timeseriesviewer.jpg">
            <a:extLst>
              <a:ext uri="{FF2B5EF4-FFF2-40B4-BE49-F238E27FC236}">
                <a16:creationId xmlns:a16="http://schemas.microsoft.com/office/drawing/2014/main" id="{9A4ABF54-218A-1945-993F-E10EB1E24998}"/>
              </a:ext>
            </a:extLst>
          </p:cNvPr>
          <p:cNvPicPr>
            <a:picLocks noChangeAspect="1"/>
          </p:cNvPicPr>
          <p:nvPr/>
        </p:nvPicPr>
        <p:blipFill>
          <a:blip r:embed="rId67" cstate="email">
            <a:extLst>
              <a:ext uri="{28A0092B-C50C-407E-A947-70E740481C1C}">
                <a14:useLocalDpi xmlns:a14="http://schemas.microsoft.com/office/drawing/2010/main"/>
              </a:ext>
            </a:extLst>
          </a:blip>
          <a:stretch>
            <a:fillRect/>
          </a:stretch>
        </p:blipFill>
        <p:spPr>
          <a:xfrm>
            <a:off x="142356" y="4750761"/>
            <a:ext cx="439984" cy="570441"/>
          </a:xfrm>
          <a:prstGeom prst="rect">
            <a:avLst/>
          </a:prstGeom>
        </p:spPr>
      </p:pic>
      <p:pic>
        <p:nvPicPr>
          <p:cNvPr id="175" name="Picture 174" descr="CannedGSSHA.jpg">
            <a:extLst>
              <a:ext uri="{FF2B5EF4-FFF2-40B4-BE49-F238E27FC236}">
                <a16:creationId xmlns:a16="http://schemas.microsoft.com/office/drawing/2014/main" id="{B863D97C-AFB2-0C4D-9BB8-2FA761C4453F}"/>
              </a:ext>
            </a:extLst>
          </p:cNvPr>
          <p:cNvPicPr>
            <a:picLocks noChangeAspect="1"/>
          </p:cNvPicPr>
          <p:nvPr/>
        </p:nvPicPr>
        <p:blipFill>
          <a:blip r:embed="rId68" cstate="email">
            <a:extLst>
              <a:ext uri="{28A0092B-C50C-407E-A947-70E740481C1C}">
                <a14:useLocalDpi xmlns:a14="http://schemas.microsoft.com/office/drawing/2010/main"/>
              </a:ext>
            </a:extLst>
          </a:blip>
          <a:stretch>
            <a:fillRect/>
          </a:stretch>
        </p:blipFill>
        <p:spPr>
          <a:xfrm>
            <a:off x="1857595" y="4746554"/>
            <a:ext cx="437814" cy="640115"/>
          </a:xfrm>
          <a:prstGeom prst="rect">
            <a:avLst/>
          </a:prstGeom>
        </p:spPr>
      </p:pic>
      <p:pic>
        <p:nvPicPr>
          <p:cNvPr id="176" name="Picture 175" descr="datarodsviewer.jpg">
            <a:extLst>
              <a:ext uri="{FF2B5EF4-FFF2-40B4-BE49-F238E27FC236}">
                <a16:creationId xmlns:a16="http://schemas.microsoft.com/office/drawing/2014/main" id="{C451FCAA-0F0A-DD40-89A0-BAE29EF433DA}"/>
              </a:ext>
            </a:extLst>
          </p:cNvPr>
          <p:cNvPicPr>
            <a:picLocks noChangeAspect="1"/>
          </p:cNvPicPr>
          <p:nvPr/>
        </p:nvPicPr>
        <p:blipFill>
          <a:blip r:embed="rId69" cstate="email">
            <a:extLst>
              <a:ext uri="{28A0092B-C50C-407E-A947-70E740481C1C}">
                <a14:useLocalDpi xmlns:a14="http://schemas.microsoft.com/office/drawing/2010/main"/>
              </a:ext>
            </a:extLst>
          </a:blip>
          <a:stretch>
            <a:fillRect/>
          </a:stretch>
        </p:blipFill>
        <p:spPr>
          <a:xfrm>
            <a:off x="705804" y="4737778"/>
            <a:ext cx="489645" cy="635119"/>
          </a:xfrm>
          <a:prstGeom prst="rect">
            <a:avLst/>
          </a:prstGeom>
        </p:spPr>
      </p:pic>
      <p:pic>
        <p:nvPicPr>
          <p:cNvPr id="177" name="Picture 176" descr="table_5rows.png">
            <a:extLst>
              <a:ext uri="{FF2B5EF4-FFF2-40B4-BE49-F238E27FC236}">
                <a16:creationId xmlns:a16="http://schemas.microsoft.com/office/drawing/2014/main" id="{206271BE-5190-0240-A78A-D2B30715C0C8}"/>
              </a:ext>
            </a:extLst>
          </p:cNvPr>
          <p:cNvPicPr>
            <a:picLocks noChangeAspect="1"/>
          </p:cNvPicPr>
          <p:nvPr/>
        </p:nvPicPr>
        <p:blipFill>
          <a:blip r:embed="rId70" cstate="email">
            <a:extLst>
              <a:ext uri="{28A0092B-C50C-407E-A947-70E740481C1C}">
                <a14:useLocalDpi xmlns:a14="http://schemas.microsoft.com/office/drawing/2010/main"/>
              </a:ext>
            </a:extLst>
          </a:blip>
          <a:stretch>
            <a:fillRect/>
          </a:stretch>
        </p:blipFill>
        <p:spPr>
          <a:xfrm>
            <a:off x="665656" y="3607380"/>
            <a:ext cx="522800" cy="595939"/>
          </a:xfrm>
          <a:prstGeom prst="rect">
            <a:avLst/>
          </a:prstGeom>
        </p:spPr>
      </p:pic>
      <p:pic>
        <p:nvPicPr>
          <p:cNvPr id="178" name="Picture 177" descr="featureviewer.jpg">
            <a:extLst>
              <a:ext uri="{FF2B5EF4-FFF2-40B4-BE49-F238E27FC236}">
                <a16:creationId xmlns:a16="http://schemas.microsoft.com/office/drawing/2014/main" id="{E469A720-7A98-4044-AF51-B45CDF0657DC}"/>
              </a:ext>
            </a:extLst>
          </p:cNvPr>
          <p:cNvPicPr>
            <a:picLocks noChangeAspect="1"/>
          </p:cNvPicPr>
          <p:nvPr/>
        </p:nvPicPr>
        <p:blipFill>
          <a:blip r:embed="rId71" cstate="email">
            <a:extLst>
              <a:ext uri="{28A0092B-C50C-407E-A947-70E740481C1C}">
                <a14:useLocalDpi xmlns:a14="http://schemas.microsoft.com/office/drawing/2010/main"/>
              </a:ext>
            </a:extLst>
          </a:blip>
          <a:stretch>
            <a:fillRect/>
          </a:stretch>
        </p:blipFill>
        <p:spPr>
          <a:xfrm>
            <a:off x="107705" y="4090813"/>
            <a:ext cx="541973" cy="718478"/>
          </a:xfrm>
          <a:prstGeom prst="rect">
            <a:avLst/>
          </a:prstGeom>
        </p:spPr>
      </p:pic>
      <p:pic>
        <p:nvPicPr>
          <p:cNvPr id="179" name="Picture 178" descr="NASADataExplorer.jpg">
            <a:extLst>
              <a:ext uri="{FF2B5EF4-FFF2-40B4-BE49-F238E27FC236}">
                <a16:creationId xmlns:a16="http://schemas.microsoft.com/office/drawing/2014/main" id="{61568708-4307-D446-8B26-BCEDFCDBA824}"/>
              </a:ext>
            </a:extLst>
          </p:cNvPr>
          <p:cNvPicPr>
            <a:picLocks noChangeAspect="1"/>
          </p:cNvPicPr>
          <p:nvPr/>
        </p:nvPicPr>
        <p:blipFill>
          <a:blip r:embed="rId72" cstate="email">
            <a:extLst>
              <a:ext uri="{28A0092B-C50C-407E-A947-70E740481C1C}">
                <a14:useLocalDpi xmlns:a14="http://schemas.microsoft.com/office/drawing/2010/main"/>
              </a:ext>
            </a:extLst>
          </a:blip>
          <a:stretch>
            <a:fillRect/>
          </a:stretch>
        </p:blipFill>
        <p:spPr>
          <a:xfrm>
            <a:off x="1261794" y="4682140"/>
            <a:ext cx="509727" cy="698436"/>
          </a:xfrm>
          <a:prstGeom prst="rect">
            <a:avLst/>
          </a:prstGeom>
        </p:spPr>
      </p:pic>
      <p:pic>
        <p:nvPicPr>
          <p:cNvPr id="180" name="Picture 179" descr="Streamflowprediction.jpg">
            <a:extLst>
              <a:ext uri="{FF2B5EF4-FFF2-40B4-BE49-F238E27FC236}">
                <a16:creationId xmlns:a16="http://schemas.microsoft.com/office/drawing/2014/main" id="{1DEFCAAD-BBCF-6246-A19A-A15A0D59CAB5}"/>
              </a:ext>
            </a:extLst>
          </p:cNvPr>
          <p:cNvPicPr>
            <a:picLocks noChangeAspect="1"/>
          </p:cNvPicPr>
          <p:nvPr/>
        </p:nvPicPr>
        <p:blipFill>
          <a:blip r:embed="rId73" cstate="email">
            <a:extLst>
              <a:ext uri="{28A0092B-C50C-407E-A947-70E740481C1C}">
                <a14:useLocalDpi xmlns:a14="http://schemas.microsoft.com/office/drawing/2010/main"/>
              </a:ext>
            </a:extLst>
          </a:blip>
          <a:stretch>
            <a:fillRect/>
          </a:stretch>
        </p:blipFill>
        <p:spPr>
          <a:xfrm>
            <a:off x="1273106" y="4211377"/>
            <a:ext cx="478694" cy="652123"/>
          </a:xfrm>
          <a:prstGeom prst="rect">
            <a:avLst/>
          </a:prstGeom>
        </p:spPr>
      </p:pic>
      <p:pic>
        <p:nvPicPr>
          <p:cNvPr id="181" name="Picture 180" descr="irodsexplorer.jpg">
            <a:extLst>
              <a:ext uri="{FF2B5EF4-FFF2-40B4-BE49-F238E27FC236}">
                <a16:creationId xmlns:a16="http://schemas.microsoft.com/office/drawing/2014/main" id="{6B72BC98-1FBE-1B47-A86A-FBAC0838CBBF}"/>
              </a:ext>
            </a:extLst>
          </p:cNvPr>
          <p:cNvPicPr>
            <a:picLocks noChangeAspect="1"/>
          </p:cNvPicPr>
          <p:nvPr/>
        </p:nvPicPr>
        <p:blipFill>
          <a:blip r:embed="rId74" cstate="email">
            <a:extLst>
              <a:ext uri="{28A0092B-C50C-407E-A947-70E740481C1C}">
                <a14:useLocalDpi xmlns:a14="http://schemas.microsoft.com/office/drawing/2010/main"/>
              </a:ext>
            </a:extLst>
          </a:blip>
          <a:stretch>
            <a:fillRect/>
          </a:stretch>
        </p:blipFill>
        <p:spPr>
          <a:xfrm>
            <a:off x="2390752" y="5328104"/>
            <a:ext cx="475937" cy="721228"/>
          </a:xfrm>
          <a:prstGeom prst="rect">
            <a:avLst/>
          </a:prstGeom>
        </p:spPr>
      </p:pic>
      <p:pic>
        <p:nvPicPr>
          <p:cNvPr id="182" name="Picture 181">
            <a:extLst>
              <a:ext uri="{FF2B5EF4-FFF2-40B4-BE49-F238E27FC236}">
                <a16:creationId xmlns:a16="http://schemas.microsoft.com/office/drawing/2014/main" id="{65338C57-09E6-594B-BF2E-E0A0800AA37D}"/>
              </a:ext>
            </a:extLst>
          </p:cNvPr>
          <p:cNvPicPr>
            <a:picLocks noChangeAspect="1"/>
          </p:cNvPicPr>
          <p:nvPr/>
        </p:nvPicPr>
        <p:blipFill>
          <a:blip r:embed="rId75" cstate="email">
            <a:extLst>
              <a:ext uri="{28A0092B-C50C-407E-A947-70E740481C1C}">
                <a14:useLocalDpi xmlns:a14="http://schemas.microsoft.com/office/drawing/2010/main"/>
              </a:ext>
            </a:extLst>
          </a:blip>
          <a:stretch>
            <a:fillRect/>
          </a:stretch>
        </p:blipFill>
        <p:spPr>
          <a:xfrm>
            <a:off x="1771521" y="5412355"/>
            <a:ext cx="581411" cy="671522"/>
          </a:xfrm>
          <a:prstGeom prst="rect">
            <a:avLst/>
          </a:prstGeom>
        </p:spPr>
      </p:pic>
      <p:pic>
        <p:nvPicPr>
          <p:cNvPr id="183" name="Picture 182" descr="CannedGSSHA.jpg">
            <a:extLst>
              <a:ext uri="{FF2B5EF4-FFF2-40B4-BE49-F238E27FC236}">
                <a16:creationId xmlns:a16="http://schemas.microsoft.com/office/drawing/2014/main" id="{D0672856-541F-624C-9973-BD4F3F9575CF}"/>
              </a:ext>
            </a:extLst>
          </p:cNvPr>
          <p:cNvPicPr>
            <a:picLocks noChangeAspect="1"/>
          </p:cNvPicPr>
          <p:nvPr/>
        </p:nvPicPr>
        <p:blipFill>
          <a:blip r:embed="rId76" cstate="email">
            <a:extLst>
              <a:ext uri="{28A0092B-C50C-407E-A947-70E740481C1C}">
                <a14:useLocalDpi xmlns:a14="http://schemas.microsoft.com/office/drawing/2010/main"/>
              </a:ext>
            </a:extLst>
          </a:blip>
          <a:stretch>
            <a:fillRect/>
          </a:stretch>
        </p:blipFill>
        <p:spPr>
          <a:xfrm>
            <a:off x="1847537" y="4714774"/>
            <a:ext cx="451036" cy="673770"/>
          </a:xfrm>
          <a:prstGeom prst="rect">
            <a:avLst/>
          </a:prstGeom>
        </p:spPr>
      </p:pic>
    </p:spTree>
    <p:extLst>
      <p:ext uri="{BB962C8B-B14F-4D97-AF65-F5344CB8AC3E}">
        <p14:creationId xmlns:p14="http://schemas.microsoft.com/office/powerpoint/2010/main" val="341383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0"/>
                            </p:stCondLst>
                            <p:childTnLst>
                              <p:par>
                                <p:cTn id="12" presetID="9"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dissolve">
                                      <p:cBhvr>
                                        <p:cTn id="14" dur="500"/>
                                        <p:tgtEl>
                                          <p:spTgt spid="4"/>
                                        </p:tgtEl>
                                      </p:cBhvr>
                                    </p:animEffec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169"/>
                                        </p:tgtEl>
                                        <p:attrNameLst>
                                          <p:attrName>style.visibility</p:attrName>
                                        </p:attrNameLst>
                                      </p:cBhvr>
                                      <p:to>
                                        <p:strVal val="visible"/>
                                      </p:to>
                                    </p:set>
                                  </p:childTnLst>
                                </p:cTn>
                              </p:par>
                            </p:childTnLst>
                          </p:cTn>
                        </p:par>
                        <p:par>
                          <p:cTn id="18" fill="hold">
                            <p:stCondLst>
                              <p:cond delay="500"/>
                            </p:stCondLst>
                            <p:childTnLst>
                              <p:par>
                                <p:cTn id="19" presetID="0" presetClass="path" presetSubtype="0" accel="50000" decel="50000" fill="hold" nodeType="afterEffect">
                                  <p:stCondLst>
                                    <p:cond delay="0"/>
                                  </p:stCondLst>
                                  <p:childTnLst>
                                    <p:animMotion origin="layout" path="M 0.00013 -0.00601 L 0.28581 -0.54236 " pathEditMode="relative" ptsTypes="AA">
                                      <p:cBhvr>
                                        <p:cTn id="20" dur="500" fill="hold"/>
                                        <p:tgtEl>
                                          <p:spTgt spid="169"/>
                                        </p:tgtEl>
                                        <p:attrNameLst>
                                          <p:attrName>ppt_x</p:attrName>
                                          <p:attrName>ppt_y</p:attrName>
                                        </p:attrNameLst>
                                      </p:cBhvr>
                                    </p:animMotion>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165"/>
                                        </p:tgtEl>
                                        <p:attrNameLst>
                                          <p:attrName>style.visibility</p:attrName>
                                        </p:attrNameLst>
                                      </p:cBhvr>
                                      <p:to>
                                        <p:strVal val="visible"/>
                                      </p:to>
                                    </p:set>
                                  </p:childTnLst>
                                </p:cTn>
                              </p:par>
                            </p:childTnLst>
                          </p:cTn>
                        </p:par>
                        <p:par>
                          <p:cTn id="24" fill="hold">
                            <p:stCondLst>
                              <p:cond delay="1000"/>
                            </p:stCondLst>
                            <p:childTnLst>
                              <p:par>
                                <p:cTn id="25" presetID="0" presetClass="path" presetSubtype="0" accel="50000" decel="50000" fill="hold" nodeType="afterEffect">
                                  <p:stCondLst>
                                    <p:cond delay="0"/>
                                  </p:stCondLst>
                                  <p:childTnLst>
                                    <p:animMotion origin="layout" path="M 0.00013 0.00278 L 0.22956 -0.37963 " pathEditMode="relative" ptsTypes="AA">
                                      <p:cBhvr>
                                        <p:cTn id="26" dur="500" fill="hold"/>
                                        <p:tgtEl>
                                          <p:spTgt spid="165"/>
                                        </p:tgtEl>
                                        <p:attrNameLst>
                                          <p:attrName>ppt_x</p:attrName>
                                          <p:attrName>ppt_y</p:attrName>
                                        </p:attrNameLst>
                                      </p:cBhvr>
                                    </p:animMotion>
                                  </p:childTnLst>
                                </p:cTn>
                              </p:par>
                            </p:childTnLst>
                          </p:cTn>
                        </p:par>
                        <p:par>
                          <p:cTn id="27" fill="hold">
                            <p:stCondLst>
                              <p:cond delay="1500"/>
                            </p:stCondLst>
                            <p:childTnLst>
                              <p:par>
                                <p:cTn id="28" presetID="1" presetClass="entr" presetSubtype="0" fill="hold" nodeType="afterEffect">
                                  <p:stCondLst>
                                    <p:cond delay="0"/>
                                  </p:stCondLst>
                                  <p:childTnLst>
                                    <p:set>
                                      <p:cBhvr>
                                        <p:cTn id="29" dur="1" fill="hold">
                                          <p:stCondLst>
                                            <p:cond delay="0"/>
                                          </p:stCondLst>
                                        </p:cTn>
                                        <p:tgtEl>
                                          <p:spTgt spid="170"/>
                                        </p:tgtEl>
                                        <p:attrNameLst>
                                          <p:attrName>style.visibility</p:attrName>
                                        </p:attrNameLst>
                                      </p:cBhvr>
                                      <p:to>
                                        <p:strVal val="visible"/>
                                      </p:to>
                                    </p:set>
                                  </p:childTnLst>
                                </p:cTn>
                              </p:par>
                            </p:childTnLst>
                          </p:cTn>
                        </p:par>
                        <p:par>
                          <p:cTn id="30" fill="hold">
                            <p:stCondLst>
                              <p:cond delay="1500"/>
                            </p:stCondLst>
                            <p:childTnLst>
                              <p:par>
                                <p:cTn id="31" presetID="0" presetClass="path" presetSubtype="0" accel="50000" decel="50000" fill="hold" nodeType="afterEffect">
                                  <p:stCondLst>
                                    <p:cond delay="0"/>
                                  </p:stCondLst>
                                  <p:childTnLst>
                                    <p:animMotion origin="layout" path="M 0.00013 0.00046 L 0.30299 -0.55879 " pathEditMode="relative" ptsTypes="AA">
                                      <p:cBhvr>
                                        <p:cTn id="32" dur="500" fill="hold"/>
                                        <p:tgtEl>
                                          <p:spTgt spid="170"/>
                                        </p:tgtEl>
                                        <p:attrNameLst>
                                          <p:attrName>ppt_x</p:attrName>
                                          <p:attrName>ppt_y</p:attrName>
                                        </p:attrNameLst>
                                      </p:cBhvr>
                                    </p:animMotion>
                                  </p:childTnLst>
                                </p:cTn>
                              </p:par>
                            </p:childTnLst>
                          </p:cTn>
                        </p:par>
                        <p:par>
                          <p:cTn id="33" fill="hold">
                            <p:stCondLst>
                              <p:cond delay="2000"/>
                            </p:stCondLst>
                            <p:childTnLst>
                              <p:par>
                                <p:cTn id="34" presetID="1" presetClass="entr" presetSubtype="0" fill="hold" nodeType="afterEffect">
                                  <p:stCondLst>
                                    <p:cond delay="0"/>
                                  </p:stCondLst>
                                  <p:childTnLst>
                                    <p:set>
                                      <p:cBhvr>
                                        <p:cTn id="35" dur="1" fill="hold">
                                          <p:stCondLst>
                                            <p:cond delay="0"/>
                                          </p:stCondLst>
                                        </p:cTn>
                                        <p:tgtEl>
                                          <p:spTgt spid="166"/>
                                        </p:tgtEl>
                                        <p:attrNameLst>
                                          <p:attrName>style.visibility</p:attrName>
                                        </p:attrNameLst>
                                      </p:cBhvr>
                                      <p:to>
                                        <p:strVal val="visible"/>
                                      </p:to>
                                    </p:set>
                                  </p:childTnLst>
                                </p:cTn>
                              </p:par>
                            </p:childTnLst>
                          </p:cTn>
                        </p:par>
                        <p:par>
                          <p:cTn id="36" fill="hold">
                            <p:stCondLst>
                              <p:cond delay="2000"/>
                            </p:stCondLst>
                            <p:childTnLst>
                              <p:par>
                                <p:cTn id="37" presetID="0" presetClass="path" presetSubtype="0" accel="50000" decel="50000" fill="hold" nodeType="afterEffect">
                                  <p:stCondLst>
                                    <p:cond delay="0"/>
                                  </p:stCondLst>
                                  <p:childTnLst>
                                    <p:animMotion origin="layout" path="M -0.00183 0.00209 L 0.29674 -0.51805 " pathEditMode="relative" rAng="0" ptsTypes="AA">
                                      <p:cBhvr>
                                        <p:cTn id="38" dur="500" fill="hold"/>
                                        <p:tgtEl>
                                          <p:spTgt spid="166"/>
                                        </p:tgtEl>
                                        <p:attrNameLst>
                                          <p:attrName>ppt_x</p:attrName>
                                          <p:attrName>ppt_y</p:attrName>
                                        </p:attrNameLst>
                                      </p:cBhvr>
                                      <p:rCtr x="14922" y="-26019"/>
                                    </p:animMotion>
                                  </p:childTnLst>
                                </p:cTn>
                              </p:par>
                            </p:childTnLst>
                          </p:cTn>
                        </p:par>
                        <p:par>
                          <p:cTn id="39" fill="hold">
                            <p:stCondLst>
                              <p:cond delay="2500"/>
                            </p:stCondLst>
                            <p:childTnLst>
                              <p:par>
                                <p:cTn id="40" presetID="1" presetClass="entr" presetSubtype="0" fill="hold" nodeType="afterEffect">
                                  <p:stCondLst>
                                    <p:cond delay="0"/>
                                  </p:stCondLst>
                                  <p:childTnLst>
                                    <p:set>
                                      <p:cBhvr>
                                        <p:cTn id="41" dur="1" fill="hold">
                                          <p:stCondLst>
                                            <p:cond delay="0"/>
                                          </p:stCondLst>
                                        </p:cTn>
                                        <p:tgtEl>
                                          <p:spTgt spid="167"/>
                                        </p:tgtEl>
                                        <p:attrNameLst>
                                          <p:attrName>style.visibility</p:attrName>
                                        </p:attrNameLst>
                                      </p:cBhvr>
                                      <p:to>
                                        <p:strVal val="visible"/>
                                      </p:to>
                                    </p:set>
                                  </p:childTnLst>
                                </p:cTn>
                              </p:par>
                            </p:childTnLst>
                          </p:cTn>
                        </p:par>
                        <p:par>
                          <p:cTn id="42" fill="hold">
                            <p:stCondLst>
                              <p:cond delay="2500"/>
                            </p:stCondLst>
                            <p:childTnLst>
                              <p:par>
                                <p:cTn id="43" presetID="0" presetClass="path" presetSubtype="0" accel="50000" decel="50000" fill="hold" nodeType="afterEffect">
                                  <p:stCondLst>
                                    <p:cond delay="0"/>
                                  </p:stCondLst>
                                  <p:childTnLst>
                                    <p:animMotion origin="layout" path="M -0.00378 -0.00857 L 0.11406 -0.44329 " pathEditMode="relative" ptsTypes="AA">
                                      <p:cBhvr>
                                        <p:cTn id="44" dur="500" fill="hold"/>
                                        <p:tgtEl>
                                          <p:spTgt spid="167"/>
                                        </p:tgtEl>
                                        <p:attrNameLst>
                                          <p:attrName>ppt_x</p:attrName>
                                          <p:attrName>ppt_y</p:attrName>
                                        </p:attrNameLst>
                                      </p:cBhvr>
                                    </p:animMotion>
                                  </p:childTnLst>
                                </p:cTn>
                              </p:par>
                            </p:childTnLst>
                          </p:cTn>
                        </p:par>
                        <p:par>
                          <p:cTn id="45" fill="hold">
                            <p:stCondLst>
                              <p:cond delay="3000"/>
                            </p:stCondLst>
                            <p:childTnLst>
                              <p:par>
                                <p:cTn id="46" presetID="1" presetClass="entr" presetSubtype="0" fill="hold" nodeType="afterEffect">
                                  <p:stCondLst>
                                    <p:cond delay="0"/>
                                  </p:stCondLst>
                                  <p:childTnLst>
                                    <p:set>
                                      <p:cBhvr>
                                        <p:cTn id="47" dur="1" fill="hold">
                                          <p:stCondLst>
                                            <p:cond delay="0"/>
                                          </p:stCondLst>
                                        </p:cTn>
                                        <p:tgtEl>
                                          <p:spTgt spid="168"/>
                                        </p:tgtEl>
                                        <p:attrNameLst>
                                          <p:attrName>style.visibility</p:attrName>
                                        </p:attrNameLst>
                                      </p:cBhvr>
                                      <p:to>
                                        <p:strVal val="visible"/>
                                      </p:to>
                                    </p:set>
                                  </p:childTnLst>
                                </p:cTn>
                              </p:par>
                            </p:childTnLst>
                          </p:cTn>
                        </p:par>
                        <p:par>
                          <p:cTn id="48" fill="hold">
                            <p:stCondLst>
                              <p:cond delay="3000"/>
                            </p:stCondLst>
                            <p:childTnLst>
                              <p:par>
                                <p:cTn id="49" presetID="0" presetClass="path" presetSubtype="0" accel="50000" decel="50000" fill="hold" nodeType="afterEffect">
                                  <p:stCondLst>
                                    <p:cond delay="0"/>
                                  </p:stCondLst>
                                  <p:childTnLst>
                                    <p:animMotion origin="layout" path="M 0.00144 -0.00416 L 0.4224 -0.26782 " pathEditMode="relative" ptsTypes="AA">
                                      <p:cBhvr>
                                        <p:cTn id="50" dur="500" fill="hold"/>
                                        <p:tgtEl>
                                          <p:spTgt spid="168"/>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par>
                          <p:cTn id="55" fill="hold">
                            <p:stCondLst>
                              <p:cond delay="0"/>
                            </p:stCondLst>
                            <p:childTnLst>
                              <p:par>
                                <p:cTn id="56" presetID="9" presetClass="entr" presetSubtype="0" fill="hold" nodeType="after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dissolve">
                                      <p:cBhvr>
                                        <p:cTn id="58" dur="500"/>
                                        <p:tgtEl>
                                          <p:spTgt spid="2"/>
                                        </p:tgtEl>
                                      </p:cBhvr>
                                    </p:animEffect>
                                  </p:childTnLst>
                                </p:cTn>
                              </p:par>
                            </p:childTnLst>
                          </p:cTn>
                        </p:par>
                        <p:par>
                          <p:cTn id="59" fill="hold">
                            <p:stCondLst>
                              <p:cond delay="500"/>
                            </p:stCondLst>
                            <p:childTnLst>
                              <p:par>
                                <p:cTn id="60" presetID="1" presetClass="entr" presetSubtype="0" fill="hold" nodeType="afterEffect">
                                  <p:stCondLst>
                                    <p:cond delay="0"/>
                                  </p:stCondLst>
                                  <p:childTnLst>
                                    <p:set>
                                      <p:cBhvr>
                                        <p:cTn id="61" dur="1" fill="hold">
                                          <p:stCondLst>
                                            <p:cond delay="0"/>
                                          </p:stCondLst>
                                        </p:cTn>
                                        <p:tgtEl>
                                          <p:spTgt spid="172"/>
                                        </p:tgtEl>
                                        <p:attrNameLst>
                                          <p:attrName>style.visibility</p:attrName>
                                        </p:attrNameLst>
                                      </p:cBhvr>
                                      <p:to>
                                        <p:strVal val="visible"/>
                                      </p:to>
                                    </p:set>
                                  </p:childTnLst>
                                </p:cTn>
                              </p:par>
                            </p:childTnLst>
                          </p:cTn>
                        </p:par>
                        <p:par>
                          <p:cTn id="62" fill="hold">
                            <p:stCondLst>
                              <p:cond delay="500"/>
                            </p:stCondLst>
                            <p:childTnLst>
                              <p:par>
                                <p:cTn id="63" presetID="0" presetClass="path" presetSubtype="0" accel="50000" decel="50000" fill="hold" nodeType="afterEffect">
                                  <p:stCondLst>
                                    <p:cond delay="0"/>
                                  </p:stCondLst>
                                  <p:childTnLst>
                                    <p:animMotion origin="layout" path="M 0.00065 -0.00579 L 0.36966 0.03079 " pathEditMode="relative" rAng="0" ptsTypes="AA">
                                      <p:cBhvr>
                                        <p:cTn id="64" dur="500" fill="hold"/>
                                        <p:tgtEl>
                                          <p:spTgt spid="172"/>
                                        </p:tgtEl>
                                        <p:attrNameLst>
                                          <p:attrName>ppt_x</p:attrName>
                                          <p:attrName>ppt_y</p:attrName>
                                        </p:attrNameLst>
                                      </p:cBhvr>
                                      <p:rCtr x="18451" y="1829"/>
                                    </p:animMotion>
                                  </p:childTnLst>
                                </p:cTn>
                              </p:par>
                            </p:childTnLst>
                          </p:cTn>
                        </p:par>
                        <p:par>
                          <p:cTn id="65" fill="hold">
                            <p:stCondLst>
                              <p:cond delay="1000"/>
                            </p:stCondLst>
                            <p:childTnLst>
                              <p:par>
                                <p:cTn id="66" presetID="1" presetClass="entr" presetSubtype="0" fill="hold" nodeType="afterEffect">
                                  <p:stCondLst>
                                    <p:cond delay="0"/>
                                  </p:stCondLst>
                                  <p:childTnLst>
                                    <p:set>
                                      <p:cBhvr>
                                        <p:cTn id="67" dur="1" fill="hold">
                                          <p:stCondLst>
                                            <p:cond delay="0"/>
                                          </p:stCondLst>
                                        </p:cTn>
                                        <p:tgtEl>
                                          <p:spTgt spid="173"/>
                                        </p:tgtEl>
                                        <p:attrNameLst>
                                          <p:attrName>style.visibility</p:attrName>
                                        </p:attrNameLst>
                                      </p:cBhvr>
                                      <p:to>
                                        <p:strVal val="visible"/>
                                      </p:to>
                                    </p:set>
                                  </p:childTnLst>
                                </p:cTn>
                              </p:par>
                            </p:childTnLst>
                          </p:cTn>
                        </p:par>
                        <p:par>
                          <p:cTn id="68" fill="hold">
                            <p:stCondLst>
                              <p:cond delay="1000"/>
                            </p:stCondLst>
                            <p:childTnLst>
                              <p:par>
                                <p:cTn id="69" presetID="0" presetClass="path" presetSubtype="0" accel="50000" decel="50000" fill="hold" nodeType="afterEffect">
                                  <p:stCondLst>
                                    <p:cond delay="0"/>
                                  </p:stCondLst>
                                  <p:childTnLst>
                                    <p:animMotion origin="layout" path="M -0.00508 -0.00509 L 0.17956 -0.04838 " pathEditMode="relative" rAng="0" ptsTypes="AA">
                                      <p:cBhvr>
                                        <p:cTn id="70" dur="500" fill="hold"/>
                                        <p:tgtEl>
                                          <p:spTgt spid="173"/>
                                        </p:tgtEl>
                                        <p:attrNameLst>
                                          <p:attrName>ppt_x</p:attrName>
                                          <p:attrName>ppt_y</p:attrName>
                                        </p:attrNameLst>
                                      </p:cBhvr>
                                      <p:rCtr x="9232" y="-2176"/>
                                    </p:animMotion>
                                  </p:childTnLst>
                                </p:cTn>
                              </p:par>
                            </p:childTnLst>
                          </p:cTn>
                        </p:par>
                        <p:par>
                          <p:cTn id="71" fill="hold">
                            <p:stCondLst>
                              <p:cond delay="1500"/>
                            </p:stCondLst>
                            <p:childTnLst>
                              <p:par>
                                <p:cTn id="72" presetID="1" presetClass="entr" presetSubtype="0" fill="hold" nodeType="afterEffect">
                                  <p:stCondLst>
                                    <p:cond delay="0"/>
                                  </p:stCondLst>
                                  <p:childTnLst>
                                    <p:set>
                                      <p:cBhvr>
                                        <p:cTn id="73" dur="1" fill="hold">
                                          <p:stCondLst>
                                            <p:cond delay="0"/>
                                          </p:stCondLst>
                                        </p:cTn>
                                        <p:tgtEl>
                                          <p:spTgt spid="174"/>
                                        </p:tgtEl>
                                        <p:attrNameLst>
                                          <p:attrName>style.visibility</p:attrName>
                                        </p:attrNameLst>
                                      </p:cBhvr>
                                      <p:to>
                                        <p:strVal val="visible"/>
                                      </p:to>
                                    </p:set>
                                  </p:childTnLst>
                                </p:cTn>
                              </p:par>
                            </p:childTnLst>
                          </p:cTn>
                        </p:par>
                        <p:par>
                          <p:cTn id="74" fill="hold">
                            <p:stCondLst>
                              <p:cond delay="1500"/>
                            </p:stCondLst>
                            <p:childTnLst>
                              <p:par>
                                <p:cTn id="75" presetID="0" presetClass="path" presetSubtype="0" accel="50000" decel="50000" fill="hold" nodeType="afterEffect">
                                  <p:stCondLst>
                                    <p:cond delay="0"/>
                                  </p:stCondLst>
                                  <p:childTnLst>
                                    <p:animMotion origin="layout" path="M -0.00182 -0.0037 L 0.50261 -0.13171 " pathEditMode="relative" ptsTypes="AA">
                                      <p:cBhvr>
                                        <p:cTn id="76" dur="500" fill="hold"/>
                                        <p:tgtEl>
                                          <p:spTgt spid="174"/>
                                        </p:tgtEl>
                                        <p:attrNameLst>
                                          <p:attrName>ppt_x</p:attrName>
                                          <p:attrName>ppt_y</p:attrName>
                                        </p:attrNameLst>
                                      </p:cBhvr>
                                    </p:animMotion>
                                  </p:childTnLst>
                                </p:cTn>
                              </p:par>
                            </p:childTnLst>
                          </p:cTn>
                        </p:par>
                        <p:par>
                          <p:cTn id="77" fill="hold">
                            <p:stCondLst>
                              <p:cond delay="2000"/>
                            </p:stCondLst>
                            <p:childTnLst>
                              <p:par>
                                <p:cTn id="78" presetID="1" presetClass="entr" presetSubtype="0" fill="hold" nodeType="afterEffect">
                                  <p:stCondLst>
                                    <p:cond delay="0"/>
                                  </p:stCondLst>
                                  <p:childTnLst>
                                    <p:set>
                                      <p:cBhvr>
                                        <p:cTn id="79" dur="1" fill="hold">
                                          <p:stCondLst>
                                            <p:cond delay="0"/>
                                          </p:stCondLst>
                                        </p:cTn>
                                        <p:tgtEl>
                                          <p:spTgt spid="175"/>
                                        </p:tgtEl>
                                        <p:attrNameLst>
                                          <p:attrName>style.visibility</p:attrName>
                                        </p:attrNameLst>
                                      </p:cBhvr>
                                      <p:to>
                                        <p:strVal val="visible"/>
                                      </p:to>
                                    </p:set>
                                  </p:childTnLst>
                                </p:cTn>
                              </p:par>
                            </p:childTnLst>
                          </p:cTn>
                        </p:par>
                        <p:par>
                          <p:cTn id="80" fill="hold">
                            <p:stCondLst>
                              <p:cond delay="2000"/>
                            </p:stCondLst>
                            <p:childTnLst>
                              <p:par>
                                <p:cTn id="81" presetID="0" presetClass="path" presetSubtype="0" accel="50000" decel="50000" fill="hold" nodeType="afterEffect">
                                  <p:stCondLst>
                                    <p:cond delay="0"/>
                                  </p:stCondLst>
                                  <p:childTnLst>
                                    <p:animMotion origin="layout" path="M 0.00118 -0.0044 L 0.18295 -0.01713 " pathEditMode="relative" ptsTypes="AA">
                                      <p:cBhvr>
                                        <p:cTn id="82" dur="500" fill="hold"/>
                                        <p:tgtEl>
                                          <p:spTgt spid="175"/>
                                        </p:tgtEl>
                                        <p:attrNameLst>
                                          <p:attrName>ppt_x</p:attrName>
                                          <p:attrName>ppt_y</p:attrName>
                                        </p:attrNameLst>
                                      </p:cBhvr>
                                    </p:animMotion>
                                  </p:childTnLst>
                                </p:cTn>
                              </p:par>
                            </p:childTnLst>
                          </p:cTn>
                        </p:par>
                        <p:par>
                          <p:cTn id="83" fill="hold">
                            <p:stCondLst>
                              <p:cond delay="2500"/>
                            </p:stCondLst>
                            <p:childTnLst>
                              <p:par>
                                <p:cTn id="84" presetID="1" presetClass="entr" presetSubtype="0" fill="hold" nodeType="afterEffect">
                                  <p:stCondLst>
                                    <p:cond delay="0"/>
                                  </p:stCondLst>
                                  <p:childTnLst>
                                    <p:set>
                                      <p:cBhvr>
                                        <p:cTn id="85" dur="1" fill="hold">
                                          <p:stCondLst>
                                            <p:cond delay="0"/>
                                          </p:stCondLst>
                                        </p:cTn>
                                        <p:tgtEl>
                                          <p:spTgt spid="176"/>
                                        </p:tgtEl>
                                        <p:attrNameLst>
                                          <p:attrName>style.visibility</p:attrName>
                                        </p:attrNameLst>
                                      </p:cBhvr>
                                      <p:to>
                                        <p:strVal val="visible"/>
                                      </p:to>
                                    </p:set>
                                  </p:childTnLst>
                                </p:cTn>
                              </p:par>
                            </p:childTnLst>
                          </p:cTn>
                        </p:par>
                        <p:par>
                          <p:cTn id="86" fill="hold">
                            <p:stCondLst>
                              <p:cond delay="2500"/>
                            </p:stCondLst>
                            <p:childTnLst>
                              <p:par>
                                <p:cTn id="87" presetID="0" presetClass="path" presetSubtype="0" accel="50000" decel="50000" fill="hold" nodeType="afterEffect">
                                  <p:stCondLst>
                                    <p:cond delay="0"/>
                                  </p:stCondLst>
                                  <p:childTnLst>
                                    <p:animMotion origin="layout" path="M 0.00091 0.00185 L 0.36432 -0.02246 " pathEditMode="relative" ptsTypes="AA">
                                      <p:cBhvr>
                                        <p:cTn id="88" dur="500" fill="hold"/>
                                        <p:tgtEl>
                                          <p:spTgt spid="176"/>
                                        </p:tgtEl>
                                        <p:attrNameLst>
                                          <p:attrName>ppt_x</p:attrName>
                                          <p:attrName>ppt_y</p:attrName>
                                        </p:attrNameLst>
                                      </p:cBhvr>
                                    </p:animMotion>
                                  </p:childTnLst>
                                </p:cTn>
                              </p:par>
                            </p:childTnLst>
                          </p:cTn>
                        </p:par>
                        <p:par>
                          <p:cTn id="89" fill="hold">
                            <p:stCondLst>
                              <p:cond delay="3000"/>
                            </p:stCondLst>
                            <p:childTnLst>
                              <p:par>
                                <p:cTn id="90" presetID="1" presetClass="entr" presetSubtype="0" fill="hold" nodeType="afterEffect">
                                  <p:stCondLst>
                                    <p:cond delay="0"/>
                                  </p:stCondLst>
                                  <p:childTnLst>
                                    <p:set>
                                      <p:cBhvr>
                                        <p:cTn id="91" dur="1" fill="hold">
                                          <p:stCondLst>
                                            <p:cond delay="0"/>
                                          </p:stCondLst>
                                        </p:cTn>
                                        <p:tgtEl>
                                          <p:spTgt spid="177"/>
                                        </p:tgtEl>
                                        <p:attrNameLst>
                                          <p:attrName>style.visibility</p:attrName>
                                        </p:attrNameLst>
                                      </p:cBhvr>
                                      <p:to>
                                        <p:strVal val="visible"/>
                                      </p:to>
                                    </p:set>
                                  </p:childTnLst>
                                </p:cTn>
                              </p:par>
                            </p:childTnLst>
                          </p:cTn>
                        </p:par>
                        <p:par>
                          <p:cTn id="92" fill="hold">
                            <p:stCondLst>
                              <p:cond delay="3000"/>
                            </p:stCondLst>
                            <p:childTnLst>
                              <p:par>
                                <p:cTn id="93" presetID="0" presetClass="path" presetSubtype="0" accel="50000" decel="50000" fill="hold" nodeType="afterEffect">
                                  <p:stCondLst>
                                    <p:cond delay="0"/>
                                  </p:stCondLst>
                                  <p:childTnLst>
                                    <p:animMotion origin="layout" path="M 0.00274 -0.00833 L 0.43933 0.14885 " pathEditMode="relative" ptsTypes="AA">
                                      <p:cBhvr>
                                        <p:cTn id="94" dur="500" fill="hold"/>
                                        <p:tgtEl>
                                          <p:spTgt spid="177"/>
                                        </p:tgtEl>
                                        <p:attrNameLst>
                                          <p:attrName>ppt_x</p:attrName>
                                          <p:attrName>ppt_y</p:attrName>
                                        </p:attrNameLst>
                                      </p:cBhvr>
                                    </p:animMotion>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
                                        </p:tgtEl>
                                        <p:attrNameLst>
                                          <p:attrName>style.visibility</p:attrName>
                                        </p:attrNameLst>
                                      </p:cBhvr>
                                      <p:to>
                                        <p:strVal val="visible"/>
                                      </p:to>
                                    </p:set>
                                  </p:childTnLst>
                                </p:cTn>
                              </p:par>
                            </p:childTnLst>
                          </p:cTn>
                        </p:par>
                        <p:par>
                          <p:cTn id="99" fill="hold">
                            <p:stCondLst>
                              <p:cond delay="0"/>
                            </p:stCondLst>
                            <p:childTnLst>
                              <p:par>
                                <p:cTn id="100" presetID="9" presetClass="entr" presetSubtype="0" fill="hold" nodeType="afterEffect">
                                  <p:stCondLst>
                                    <p:cond delay="0"/>
                                  </p:stCondLst>
                                  <p:childTnLst>
                                    <p:set>
                                      <p:cBhvr>
                                        <p:cTn id="101" dur="1" fill="hold">
                                          <p:stCondLst>
                                            <p:cond delay="0"/>
                                          </p:stCondLst>
                                        </p:cTn>
                                        <p:tgtEl>
                                          <p:spTgt spid="5"/>
                                        </p:tgtEl>
                                        <p:attrNameLst>
                                          <p:attrName>style.visibility</p:attrName>
                                        </p:attrNameLst>
                                      </p:cBhvr>
                                      <p:to>
                                        <p:strVal val="visible"/>
                                      </p:to>
                                    </p:set>
                                    <p:animEffect transition="in" filter="dissolve">
                                      <p:cBhvr>
                                        <p:cTn id="102" dur="500"/>
                                        <p:tgtEl>
                                          <p:spTgt spid="5"/>
                                        </p:tgtEl>
                                      </p:cBhvr>
                                    </p:animEffect>
                                  </p:childTnLst>
                                </p:cTn>
                              </p:par>
                            </p:childTnLst>
                          </p:cTn>
                        </p:par>
                        <p:par>
                          <p:cTn id="103" fill="hold">
                            <p:stCondLst>
                              <p:cond delay="500"/>
                            </p:stCondLst>
                            <p:childTnLst>
                              <p:par>
                                <p:cTn id="104" presetID="1" presetClass="entr" presetSubtype="0" fill="hold" nodeType="afterEffect">
                                  <p:stCondLst>
                                    <p:cond delay="0"/>
                                  </p:stCondLst>
                                  <p:childTnLst>
                                    <p:set>
                                      <p:cBhvr>
                                        <p:cTn id="105" dur="1" fill="hold">
                                          <p:stCondLst>
                                            <p:cond delay="0"/>
                                          </p:stCondLst>
                                        </p:cTn>
                                        <p:tgtEl>
                                          <p:spTgt spid="178"/>
                                        </p:tgtEl>
                                        <p:attrNameLst>
                                          <p:attrName>style.visibility</p:attrName>
                                        </p:attrNameLst>
                                      </p:cBhvr>
                                      <p:to>
                                        <p:strVal val="visible"/>
                                      </p:to>
                                    </p:set>
                                  </p:childTnLst>
                                </p:cTn>
                              </p:par>
                            </p:childTnLst>
                          </p:cTn>
                        </p:par>
                        <p:par>
                          <p:cTn id="106" fill="hold">
                            <p:stCondLst>
                              <p:cond delay="500"/>
                            </p:stCondLst>
                            <p:childTnLst>
                              <p:par>
                                <p:cTn id="107" presetID="0" presetClass="path" presetSubtype="0" accel="50000" decel="50000" fill="hold" nodeType="afterEffect">
                                  <p:stCondLst>
                                    <p:cond delay="0"/>
                                  </p:stCondLst>
                                  <p:childTnLst>
                                    <p:animMotion origin="layout" path="M -0.00183 -0.01412 L 0.71237 -0.14352 " pathEditMode="relative" rAng="0" ptsTypes="AA">
                                      <p:cBhvr>
                                        <p:cTn id="108" dur="500" fill="hold"/>
                                        <p:tgtEl>
                                          <p:spTgt spid="178"/>
                                        </p:tgtEl>
                                        <p:attrNameLst>
                                          <p:attrName>ppt_x</p:attrName>
                                          <p:attrName>ppt_y</p:attrName>
                                        </p:attrNameLst>
                                      </p:cBhvr>
                                      <p:rCtr x="35703" y="-6481"/>
                                    </p:animMotion>
                                  </p:childTnLst>
                                </p:cTn>
                              </p:par>
                            </p:childTnLst>
                          </p:cTn>
                        </p:par>
                        <p:par>
                          <p:cTn id="109" fill="hold">
                            <p:stCondLst>
                              <p:cond delay="1000"/>
                            </p:stCondLst>
                            <p:childTnLst>
                              <p:par>
                                <p:cTn id="110" presetID="1" presetClass="entr" presetSubtype="0" fill="hold" nodeType="afterEffect">
                                  <p:stCondLst>
                                    <p:cond delay="0"/>
                                  </p:stCondLst>
                                  <p:childTnLst>
                                    <p:set>
                                      <p:cBhvr>
                                        <p:cTn id="111" dur="1" fill="hold">
                                          <p:stCondLst>
                                            <p:cond delay="0"/>
                                          </p:stCondLst>
                                        </p:cTn>
                                        <p:tgtEl>
                                          <p:spTgt spid="179"/>
                                        </p:tgtEl>
                                        <p:attrNameLst>
                                          <p:attrName>style.visibility</p:attrName>
                                        </p:attrNameLst>
                                      </p:cBhvr>
                                      <p:to>
                                        <p:strVal val="visible"/>
                                      </p:to>
                                    </p:set>
                                  </p:childTnLst>
                                </p:cTn>
                              </p:par>
                            </p:childTnLst>
                          </p:cTn>
                        </p:par>
                        <p:par>
                          <p:cTn id="112" fill="hold">
                            <p:stCondLst>
                              <p:cond delay="1000"/>
                            </p:stCondLst>
                            <p:childTnLst>
                              <p:par>
                                <p:cTn id="113" presetID="0" presetClass="path" presetSubtype="0" accel="50000" decel="50000" fill="hold" nodeType="afterEffect">
                                  <p:stCondLst>
                                    <p:cond delay="0"/>
                                  </p:stCondLst>
                                  <p:childTnLst>
                                    <p:animMotion origin="layout" path="M -0.00235 0.0007 L 0.65768 -0.22592 " pathEditMode="relative" rAng="0" ptsTypes="AA">
                                      <p:cBhvr>
                                        <p:cTn id="114" dur="500" fill="hold"/>
                                        <p:tgtEl>
                                          <p:spTgt spid="179"/>
                                        </p:tgtEl>
                                        <p:attrNameLst>
                                          <p:attrName>ppt_x</p:attrName>
                                          <p:attrName>ppt_y</p:attrName>
                                        </p:attrNameLst>
                                      </p:cBhvr>
                                      <p:rCtr x="32995" y="-11343"/>
                                    </p:animMotion>
                                  </p:childTnLst>
                                </p:cTn>
                              </p:par>
                            </p:childTnLst>
                          </p:cTn>
                        </p:par>
                        <p:par>
                          <p:cTn id="115" fill="hold">
                            <p:stCondLst>
                              <p:cond delay="1500"/>
                            </p:stCondLst>
                            <p:childTnLst>
                              <p:par>
                                <p:cTn id="116" presetID="1" presetClass="entr" presetSubtype="0" fill="hold" nodeType="afterEffect">
                                  <p:stCondLst>
                                    <p:cond delay="0"/>
                                  </p:stCondLst>
                                  <p:childTnLst>
                                    <p:set>
                                      <p:cBhvr>
                                        <p:cTn id="117" dur="1" fill="hold">
                                          <p:stCondLst>
                                            <p:cond delay="0"/>
                                          </p:stCondLst>
                                        </p:cTn>
                                        <p:tgtEl>
                                          <p:spTgt spid="183"/>
                                        </p:tgtEl>
                                        <p:attrNameLst>
                                          <p:attrName>style.visibility</p:attrName>
                                        </p:attrNameLst>
                                      </p:cBhvr>
                                      <p:to>
                                        <p:strVal val="visible"/>
                                      </p:to>
                                    </p:set>
                                  </p:childTnLst>
                                </p:cTn>
                              </p:par>
                            </p:childTnLst>
                          </p:cTn>
                        </p:par>
                        <p:par>
                          <p:cTn id="118" fill="hold">
                            <p:stCondLst>
                              <p:cond delay="1500"/>
                            </p:stCondLst>
                            <p:childTnLst>
                              <p:par>
                                <p:cTn id="119" presetID="0" presetClass="path" presetSubtype="0" accel="50000" decel="50000" fill="hold" nodeType="afterEffect">
                                  <p:stCondLst>
                                    <p:cond delay="0"/>
                                  </p:stCondLst>
                                  <p:childTnLst>
                                    <p:animMotion origin="layout" path="M 0.00339 0.00371 L 0.67331 -0.22893 " pathEditMode="relative" rAng="0" ptsTypes="AA">
                                      <p:cBhvr>
                                        <p:cTn id="120" dur="500" fill="hold"/>
                                        <p:tgtEl>
                                          <p:spTgt spid="183"/>
                                        </p:tgtEl>
                                        <p:attrNameLst>
                                          <p:attrName>ppt_x</p:attrName>
                                          <p:attrName>ppt_y</p:attrName>
                                        </p:attrNameLst>
                                      </p:cBhvr>
                                      <p:rCtr x="33490" y="-11644"/>
                                    </p:animMotion>
                                  </p:childTnLst>
                                </p:cTn>
                              </p:par>
                            </p:childTnLst>
                          </p:cTn>
                        </p:par>
                        <p:par>
                          <p:cTn id="121" fill="hold">
                            <p:stCondLst>
                              <p:cond delay="2000"/>
                            </p:stCondLst>
                            <p:childTnLst>
                              <p:par>
                                <p:cTn id="122" presetID="1" presetClass="entr" presetSubtype="0" fill="hold" nodeType="afterEffect">
                                  <p:stCondLst>
                                    <p:cond delay="0"/>
                                  </p:stCondLst>
                                  <p:childTnLst>
                                    <p:set>
                                      <p:cBhvr>
                                        <p:cTn id="123" dur="1" fill="hold">
                                          <p:stCondLst>
                                            <p:cond delay="0"/>
                                          </p:stCondLst>
                                        </p:cTn>
                                        <p:tgtEl>
                                          <p:spTgt spid="180"/>
                                        </p:tgtEl>
                                        <p:attrNameLst>
                                          <p:attrName>style.visibility</p:attrName>
                                        </p:attrNameLst>
                                      </p:cBhvr>
                                      <p:to>
                                        <p:strVal val="visible"/>
                                      </p:to>
                                    </p:set>
                                  </p:childTnLst>
                                </p:cTn>
                              </p:par>
                            </p:childTnLst>
                          </p:cTn>
                        </p:par>
                        <p:par>
                          <p:cTn id="124" fill="hold">
                            <p:stCondLst>
                              <p:cond delay="2000"/>
                            </p:stCondLst>
                            <p:childTnLst>
                              <p:par>
                                <p:cTn id="125" presetID="0" presetClass="path" presetSubtype="0" accel="50000" decel="50000" fill="hold" nodeType="afterEffect">
                                  <p:stCondLst>
                                    <p:cond delay="0"/>
                                  </p:stCondLst>
                                  <p:childTnLst>
                                    <p:animMotion origin="layout" path="M 0.00118 -0.00439 L 0.58998 -0.04351 " pathEditMode="relative" ptsTypes="AA">
                                      <p:cBhvr>
                                        <p:cTn id="126" dur="500" fill="hold"/>
                                        <p:tgtEl>
                                          <p:spTgt spid="180"/>
                                        </p:tgtEl>
                                        <p:attrNameLst>
                                          <p:attrName>ppt_x</p:attrName>
                                          <p:attrName>ppt_y</p:attrName>
                                        </p:attrNameLst>
                                      </p:cBhvr>
                                    </p:animMotion>
                                  </p:childTnLst>
                                </p:cTn>
                              </p:par>
                            </p:childTnLst>
                          </p:cTn>
                        </p:par>
                        <p:par>
                          <p:cTn id="127" fill="hold">
                            <p:stCondLst>
                              <p:cond delay="2500"/>
                            </p:stCondLst>
                            <p:childTnLst>
                              <p:par>
                                <p:cTn id="128" presetID="1" presetClass="entr" presetSubtype="0" fill="hold" nodeType="afterEffect">
                                  <p:stCondLst>
                                    <p:cond delay="0"/>
                                  </p:stCondLst>
                                  <p:childTnLst>
                                    <p:set>
                                      <p:cBhvr>
                                        <p:cTn id="129" dur="1" fill="hold">
                                          <p:stCondLst>
                                            <p:cond delay="0"/>
                                          </p:stCondLst>
                                        </p:cTn>
                                        <p:tgtEl>
                                          <p:spTgt spid="181"/>
                                        </p:tgtEl>
                                        <p:attrNameLst>
                                          <p:attrName>style.visibility</p:attrName>
                                        </p:attrNameLst>
                                      </p:cBhvr>
                                      <p:to>
                                        <p:strVal val="visible"/>
                                      </p:to>
                                    </p:set>
                                  </p:childTnLst>
                                </p:cTn>
                              </p:par>
                            </p:childTnLst>
                          </p:cTn>
                        </p:par>
                        <p:par>
                          <p:cTn id="130" fill="hold">
                            <p:stCondLst>
                              <p:cond delay="2500"/>
                            </p:stCondLst>
                            <p:childTnLst>
                              <p:par>
                                <p:cTn id="131" presetID="0" presetClass="path" presetSubtype="0" accel="50000" decel="50000" fill="hold" nodeType="afterEffect">
                                  <p:stCondLst>
                                    <p:cond delay="0"/>
                                  </p:stCondLst>
                                  <p:childTnLst>
                                    <p:animMotion origin="layout" path="M -0.00417 -0.00533 L 0.54271 -0.20764 " pathEditMode="relative" rAng="0" ptsTypes="AA">
                                      <p:cBhvr>
                                        <p:cTn id="132" dur="500" fill="hold"/>
                                        <p:tgtEl>
                                          <p:spTgt spid="181"/>
                                        </p:tgtEl>
                                        <p:attrNameLst>
                                          <p:attrName>ppt_x</p:attrName>
                                          <p:attrName>ppt_y</p:attrName>
                                        </p:attrNameLst>
                                      </p:cBhvr>
                                      <p:rCtr x="27344" y="-10116"/>
                                    </p:animMotion>
                                  </p:childTnLst>
                                </p:cTn>
                              </p:par>
                            </p:childTnLst>
                          </p:cTn>
                        </p:par>
                        <p:par>
                          <p:cTn id="133" fill="hold">
                            <p:stCondLst>
                              <p:cond delay="3000"/>
                            </p:stCondLst>
                            <p:childTnLst>
                              <p:par>
                                <p:cTn id="134" presetID="1" presetClass="entr" presetSubtype="0" fill="hold" nodeType="afterEffect">
                                  <p:stCondLst>
                                    <p:cond delay="0"/>
                                  </p:stCondLst>
                                  <p:childTnLst>
                                    <p:set>
                                      <p:cBhvr>
                                        <p:cTn id="135" dur="1" fill="hold">
                                          <p:stCondLst>
                                            <p:cond delay="0"/>
                                          </p:stCondLst>
                                        </p:cTn>
                                        <p:tgtEl>
                                          <p:spTgt spid="182"/>
                                        </p:tgtEl>
                                        <p:attrNameLst>
                                          <p:attrName>style.visibility</p:attrName>
                                        </p:attrNameLst>
                                      </p:cBhvr>
                                      <p:to>
                                        <p:strVal val="visible"/>
                                      </p:to>
                                    </p:set>
                                  </p:childTnLst>
                                </p:cTn>
                              </p:par>
                            </p:childTnLst>
                          </p:cTn>
                        </p:par>
                        <p:par>
                          <p:cTn id="136" fill="hold">
                            <p:stCondLst>
                              <p:cond delay="3000"/>
                            </p:stCondLst>
                            <p:childTnLst>
                              <p:par>
                                <p:cTn id="137" presetID="0" presetClass="path" presetSubtype="0" accel="50000" decel="50000" fill="hold" nodeType="afterEffect">
                                  <p:stCondLst>
                                    <p:cond delay="0"/>
                                  </p:stCondLst>
                                  <p:childTnLst>
                                    <p:animMotion origin="layout" path="M -0.00013 -0.01018 L 0.67149 -0.21898 " pathEditMode="relative" rAng="0" ptsTypes="AA">
                                      <p:cBhvr>
                                        <p:cTn id="138" dur="500" fill="hold"/>
                                        <p:tgtEl>
                                          <p:spTgt spid="182"/>
                                        </p:tgtEl>
                                        <p:attrNameLst>
                                          <p:attrName>ppt_x</p:attrName>
                                          <p:attrName>ppt_y</p:attrName>
                                        </p:attrNameLst>
                                      </p:cBhvr>
                                      <p:rCtr x="33581" y="-1044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0073F0CE-6AA3-0E4A-919B-9BCC061DBAD6}"/>
              </a:ext>
            </a:extLst>
          </p:cNvPr>
          <p:cNvPicPr>
            <a:picLocks noChangeAspect="1"/>
          </p:cNvPicPr>
          <p:nvPr/>
        </p:nvPicPr>
        <p:blipFill rotWithShape="1">
          <a:blip r:embed="rId3" cstate="email">
            <a:alphaModFix amt="20000"/>
            <a:extLst>
              <a:ext uri="{28A0092B-C50C-407E-A947-70E740481C1C}">
                <a14:useLocalDpi xmlns:a14="http://schemas.microsoft.com/office/drawing/2010/main"/>
              </a:ext>
            </a:extLst>
          </a:blip>
          <a:srcRect/>
          <a:stretch/>
        </p:blipFill>
        <p:spPr>
          <a:xfrm>
            <a:off x="-381871" y="-52042"/>
            <a:ext cx="10470563" cy="6953556"/>
          </a:xfrm>
          <a:prstGeom prst="rect">
            <a:avLst/>
          </a:prstGeom>
        </p:spPr>
      </p:pic>
      <p:sp>
        <p:nvSpPr>
          <p:cNvPr id="2" name="Title 1">
            <a:extLst>
              <a:ext uri="{FF2B5EF4-FFF2-40B4-BE49-F238E27FC236}">
                <a16:creationId xmlns:a16="http://schemas.microsoft.com/office/drawing/2014/main" id="{6D4D3415-C790-C141-AA59-A09BB6294FC1}"/>
              </a:ext>
            </a:extLst>
          </p:cNvPr>
          <p:cNvSpPr>
            <a:spLocks noGrp="1"/>
          </p:cNvSpPr>
          <p:nvPr>
            <p:ph type="title"/>
          </p:nvPr>
        </p:nvSpPr>
        <p:spPr/>
        <p:txBody>
          <a:bodyPr>
            <a:normAutofit/>
          </a:bodyPr>
          <a:lstStyle/>
          <a:p>
            <a:r>
              <a:rPr lang="en-US" sz="3600" dirty="0"/>
              <a:t>Stakeholders – They Make the Decisions</a:t>
            </a:r>
          </a:p>
        </p:txBody>
      </p:sp>
      <p:pic>
        <p:nvPicPr>
          <p:cNvPr id="29" name="Picture 28" descr="imgres.jpg">
            <a:extLst>
              <a:ext uri="{FF2B5EF4-FFF2-40B4-BE49-F238E27FC236}">
                <a16:creationId xmlns:a16="http://schemas.microsoft.com/office/drawing/2014/main" id="{E1BBCE53-B51A-9D4E-81BF-67D90BC5E78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92860" y="1413786"/>
            <a:ext cx="1622490" cy="1452741"/>
          </a:xfrm>
          <a:prstGeom prst="rect">
            <a:avLst/>
          </a:prstGeom>
        </p:spPr>
      </p:pic>
      <p:pic>
        <p:nvPicPr>
          <p:cNvPr id="30" name="Picture 29" descr="hydropower.jpg">
            <a:extLst>
              <a:ext uri="{FF2B5EF4-FFF2-40B4-BE49-F238E27FC236}">
                <a16:creationId xmlns:a16="http://schemas.microsoft.com/office/drawing/2014/main" id="{0B04B682-1A24-7144-98F0-291A1DF4ACB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22731" y="5020220"/>
            <a:ext cx="2793114" cy="1489661"/>
          </a:xfrm>
          <a:prstGeom prst="rect">
            <a:avLst/>
          </a:prstGeom>
        </p:spPr>
      </p:pic>
      <p:pic>
        <p:nvPicPr>
          <p:cNvPr id="31" name="Picture 30" descr="imgres.jpg">
            <a:extLst>
              <a:ext uri="{FF2B5EF4-FFF2-40B4-BE49-F238E27FC236}">
                <a16:creationId xmlns:a16="http://schemas.microsoft.com/office/drawing/2014/main" id="{603CBD6C-0A43-BC41-A372-F032755162F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94429" y="3084454"/>
            <a:ext cx="2004144" cy="1717839"/>
          </a:xfrm>
          <a:prstGeom prst="rect">
            <a:avLst/>
          </a:prstGeom>
        </p:spPr>
      </p:pic>
      <p:pic>
        <p:nvPicPr>
          <p:cNvPr id="10" name="Picture 27" descr="User_Blue_Half">
            <a:extLst>
              <a:ext uri="{FF2B5EF4-FFF2-40B4-BE49-F238E27FC236}">
                <a16:creationId xmlns:a16="http://schemas.microsoft.com/office/drawing/2014/main" id="{D14BF625-16EF-7C4B-995D-C852A37DAE9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622537" y="3512691"/>
            <a:ext cx="279187" cy="675668"/>
          </a:xfrm>
          <a:prstGeom prst="rect">
            <a:avLst/>
          </a:prstGeom>
          <a:noFill/>
          <a:ln w="9525">
            <a:noFill/>
            <a:miter lim="800000"/>
            <a:headEnd/>
            <a:tailEnd/>
          </a:ln>
        </p:spPr>
      </p:pic>
      <p:pic>
        <p:nvPicPr>
          <p:cNvPr id="11" name="Picture 37" descr="User_Red_Half">
            <a:extLst>
              <a:ext uri="{FF2B5EF4-FFF2-40B4-BE49-F238E27FC236}">
                <a16:creationId xmlns:a16="http://schemas.microsoft.com/office/drawing/2014/main" id="{87FA85EC-DD30-EC42-9AE6-7189478E9EF5}"/>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5201927" y="3265755"/>
            <a:ext cx="274973" cy="675668"/>
          </a:xfrm>
          <a:prstGeom prst="rect">
            <a:avLst/>
          </a:prstGeom>
          <a:noFill/>
          <a:ln w="9525">
            <a:noFill/>
            <a:miter lim="800000"/>
            <a:headEnd/>
            <a:tailEnd/>
          </a:ln>
        </p:spPr>
      </p:pic>
      <p:pic>
        <p:nvPicPr>
          <p:cNvPr id="12" name="Picture 39" descr="User_Yellow_Half">
            <a:extLst>
              <a:ext uri="{FF2B5EF4-FFF2-40B4-BE49-F238E27FC236}">
                <a16:creationId xmlns:a16="http://schemas.microsoft.com/office/drawing/2014/main" id="{595464AE-1ED9-C245-8AEA-6B60ECBC2CCC}"/>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5490685" y="2590087"/>
            <a:ext cx="274973" cy="675668"/>
          </a:xfrm>
          <a:prstGeom prst="rect">
            <a:avLst/>
          </a:prstGeom>
          <a:noFill/>
          <a:ln w="9525">
            <a:noFill/>
            <a:miter lim="800000"/>
            <a:headEnd/>
            <a:tailEnd/>
          </a:ln>
        </p:spPr>
      </p:pic>
      <p:pic>
        <p:nvPicPr>
          <p:cNvPr id="15" name="Picture 170" descr="Browser_map">
            <a:extLst>
              <a:ext uri="{FF2B5EF4-FFF2-40B4-BE49-F238E27FC236}">
                <a16:creationId xmlns:a16="http://schemas.microsoft.com/office/drawing/2014/main" id="{3C5F3E69-8E89-8645-B2D9-AD90DB50297A}"/>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3327270" y="3756277"/>
            <a:ext cx="1048816" cy="1076176"/>
          </a:xfrm>
          <a:prstGeom prst="rect">
            <a:avLst/>
          </a:prstGeom>
          <a:noFill/>
          <a:ln w="9525">
            <a:noFill/>
            <a:miter lim="800000"/>
            <a:headEnd/>
            <a:tailEnd/>
          </a:ln>
        </p:spPr>
      </p:pic>
      <p:pic>
        <p:nvPicPr>
          <p:cNvPr id="20" name="Picture 47" descr="MapTeble">
            <a:extLst>
              <a:ext uri="{FF2B5EF4-FFF2-40B4-BE49-F238E27FC236}">
                <a16:creationId xmlns:a16="http://schemas.microsoft.com/office/drawing/2014/main" id="{70432AE5-3826-4C45-A53C-AC05845E061C}"/>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5285245" y="4643862"/>
            <a:ext cx="681638" cy="852661"/>
          </a:xfrm>
          <a:prstGeom prst="rect">
            <a:avLst/>
          </a:prstGeom>
          <a:noFill/>
          <a:ln w="9525">
            <a:noFill/>
            <a:miter lim="800000"/>
            <a:headEnd/>
            <a:tailEnd/>
          </a:ln>
        </p:spPr>
      </p:pic>
      <p:pic>
        <p:nvPicPr>
          <p:cNvPr id="22" name="Picture 39" descr="arrowcurveupright.png">
            <a:extLst>
              <a:ext uri="{FF2B5EF4-FFF2-40B4-BE49-F238E27FC236}">
                <a16:creationId xmlns:a16="http://schemas.microsoft.com/office/drawing/2014/main" id="{4E2C66A7-B42C-BD45-BCD4-D1B55AF50B38}"/>
              </a:ext>
            </a:extLst>
          </p:cNvPr>
          <p:cNvPicPr>
            <a:picLocks noChangeAspect="1"/>
          </p:cNvPicPr>
          <p:nvPr/>
        </p:nvPicPr>
        <p:blipFill>
          <a:blip r:embed="rId12" cstate="email">
            <a:extLst>
              <a:ext uri="{28A0092B-C50C-407E-A947-70E740481C1C}">
                <a14:useLocalDpi xmlns:a14="http://schemas.microsoft.com/office/drawing/2010/main"/>
              </a:ext>
            </a:extLst>
          </a:blip>
          <a:srcRect/>
          <a:stretch>
            <a:fillRect/>
          </a:stretch>
        </p:blipFill>
        <p:spPr bwMode="auto">
          <a:xfrm rot="712082" flipV="1">
            <a:off x="2988196" y="3159473"/>
            <a:ext cx="581552" cy="441080"/>
          </a:xfrm>
          <a:prstGeom prst="rect">
            <a:avLst/>
          </a:prstGeom>
          <a:noFill/>
          <a:ln w="9525">
            <a:noFill/>
            <a:miter lim="800000"/>
            <a:headEnd/>
            <a:tailEnd/>
          </a:ln>
        </p:spPr>
      </p:pic>
      <p:pic>
        <p:nvPicPr>
          <p:cNvPr id="23" name="Picture 41" descr="bluearrow.png">
            <a:extLst>
              <a:ext uri="{FF2B5EF4-FFF2-40B4-BE49-F238E27FC236}">
                <a16:creationId xmlns:a16="http://schemas.microsoft.com/office/drawing/2014/main" id="{C56956B4-34D8-6A43-91E4-AF4D61DC1CED}"/>
              </a:ext>
            </a:extLst>
          </p:cNvPr>
          <p:cNvPicPr>
            <a:picLocks noChangeAspect="1"/>
          </p:cNvPicPr>
          <p:nvPr/>
        </p:nvPicPr>
        <p:blipFill>
          <a:blip r:embed="rId13" cstate="email">
            <a:extLst>
              <a:ext uri="{28A0092B-C50C-407E-A947-70E740481C1C}">
                <a14:useLocalDpi xmlns:a14="http://schemas.microsoft.com/office/drawing/2010/main"/>
              </a:ext>
            </a:extLst>
          </a:blip>
          <a:srcRect/>
          <a:stretch>
            <a:fillRect/>
          </a:stretch>
        </p:blipFill>
        <p:spPr bwMode="auto">
          <a:xfrm rot="20146567">
            <a:off x="4509085" y="3603590"/>
            <a:ext cx="533090" cy="376464"/>
          </a:xfrm>
          <a:prstGeom prst="rect">
            <a:avLst/>
          </a:prstGeom>
          <a:noFill/>
          <a:ln w="9525">
            <a:noFill/>
            <a:miter lim="800000"/>
            <a:headEnd/>
            <a:tailEnd/>
          </a:ln>
        </p:spPr>
      </p:pic>
      <p:pic>
        <p:nvPicPr>
          <p:cNvPr id="24" name="Picture 41" descr="bluearrow.png">
            <a:extLst>
              <a:ext uri="{FF2B5EF4-FFF2-40B4-BE49-F238E27FC236}">
                <a16:creationId xmlns:a16="http://schemas.microsoft.com/office/drawing/2014/main" id="{8AE28C92-F31C-D04C-A51E-6EDEFE6C038E}"/>
              </a:ext>
            </a:extLst>
          </p:cNvPr>
          <p:cNvPicPr>
            <a:picLocks noChangeAspect="1"/>
          </p:cNvPicPr>
          <p:nvPr/>
        </p:nvPicPr>
        <p:blipFill>
          <a:blip r:embed="rId13" cstate="email">
            <a:extLst>
              <a:ext uri="{28A0092B-C50C-407E-A947-70E740481C1C}">
                <a14:useLocalDpi xmlns:a14="http://schemas.microsoft.com/office/drawing/2010/main"/>
              </a:ext>
            </a:extLst>
          </a:blip>
          <a:srcRect/>
          <a:stretch>
            <a:fillRect/>
          </a:stretch>
        </p:blipFill>
        <p:spPr bwMode="auto">
          <a:xfrm rot="1041163">
            <a:off x="4539058" y="4391795"/>
            <a:ext cx="533090" cy="376464"/>
          </a:xfrm>
          <a:prstGeom prst="rect">
            <a:avLst/>
          </a:prstGeom>
          <a:noFill/>
          <a:ln w="9525">
            <a:noFill/>
            <a:miter lim="800000"/>
            <a:headEnd/>
            <a:tailEnd/>
          </a:ln>
        </p:spPr>
      </p:pic>
      <p:grpSp>
        <p:nvGrpSpPr>
          <p:cNvPr id="3" name="Group 72">
            <a:extLst>
              <a:ext uri="{FF2B5EF4-FFF2-40B4-BE49-F238E27FC236}">
                <a16:creationId xmlns:a16="http://schemas.microsoft.com/office/drawing/2014/main" id="{790742F3-7E61-1846-8A1F-6B0F2A8260E0}"/>
              </a:ext>
            </a:extLst>
          </p:cNvPr>
          <p:cNvGrpSpPr/>
          <p:nvPr/>
        </p:nvGrpSpPr>
        <p:grpSpPr>
          <a:xfrm>
            <a:off x="447675" y="1882942"/>
            <a:ext cx="5879831" cy="4972285"/>
            <a:chOff x="596900" y="1882942"/>
            <a:chExt cx="7839774" cy="4972285"/>
          </a:xfrm>
        </p:grpSpPr>
        <p:sp>
          <p:nvSpPr>
            <p:cNvPr id="7" name="Line 129">
              <a:extLst>
                <a:ext uri="{FF2B5EF4-FFF2-40B4-BE49-F238E27FC236}">
                  <a16:creationId xmlns:a16="http://schemas.microsoft.com/office/drawing/2014/main" id="{1A1B4742-E4E4-7743-93BA-0164C9F2212B}"/>
                </a:ext>
              </a:extLst>
            </p:cNvPr>
            <p:cNvSpPr>
              <a:spLocks noChangeShapeType="1"/>
            </p:cNvSpPr>
            <p:nvPr/>
          </p:nvSpPr>
          <p:spPr bwMode="auto">
            <a:xfrm rot="10800000">
              <a:off x="2594008" y="2285733"/>
              <a:ext cx="468933" cy="1111320"/>
            </a:xfrm>
            <a:prstGeom prst="line">
              <a:avLst/>
            </a:prstGeom>
            <a:ln>
              <a:headEnd/>
              <a:tailEnd/>
            </a:ln>
          </p:spPr>
          <p:style>
            <a:lnRef idx="3">
              <a:schemeClr val="dk1"/>
            </a:lnRef>
            <a:fillRef idx="0">
              <a:schemeClr val="dk1"/>
            </a:fillRef>
            <a:effectRef idx="2">
              <a:schemeClr val="dk1"/>
            </a:effectRef>
            <a:fontRef idx="minor">
              <a:schemeClr val="tx1"/>
            </a:fontRef>
          </p:style>
          <p:txBody>
            <a:bodyPr>
              <a:prstTxWarp prst="textNoShape">
                <a:avLst/>
              </a:prstTxWarp>
            </a:bodyPr>
            <a:lstStyle/>
            <a:p>
              <a:pPr>
                <a:defRPr/>
              </a:pPr>
              <a:endParaRPr lang="en-US" sz="1646" dirty="0">
                <a:effectLst>
                  <a:outerShdw blurRad="38100" dist="38100" dir="2700000" algn="tl">
                    <a:srgbClr val="000000">
                      <a:alpha val="43137"/>
                    </a:srgbClr>
                  </a:outerShdw>
                </a:effectLst>
                <a:latin typeface="Arial" pitchFamily="-112" charset="0"/>
                <a:ea typeface="ＭＳ Ｐゴシック" pitchFamily="-112" charset="-128"/>
                <a:cs typeface="ＭＳ Ｐゴシック" pitchFamily="-112" charset="-128"/>
              </a:endParaRPr>
            </a:p>
          </p:txBody>
        </p:sp>
        <p:sp>
          <p:nvSpPr>
            <p:cNvPr id="8" name="Line 129">
              <a:extLst>
                <a:ext uri="{FF2B5EF4-FFF2-40B4-BE49-F238E27FC236}">
                  <a16:creationId xmlns:a16="http://schemas.microsoft.com/office/drawing/2014/main" id="{0CC76CBD-14FF-A746-8A56-05171FE18718}"/>
                </a:ext>
              </a:extLst>
            </p:cNvPr>
            <p:cNvSpPr>
              <a:spLocks noChangeShapeType="1"/>
            </p:cNvSpPr>
            <p:nvPr/>
          </p:nvSpPr>
          <p:spPr bwMode="auto">
            <a:xfrm rot="10800000">
              <a:off x="1564621" y="3265755"/>
              <a:ext cx="1263851" cy="360347"/>
            </a:xfrm>
            <a:prstGeom prst="line">
              <a:avLst/>
            </a:prstGeom>
            <a:ln>
              <a:headEnd/>
              <a:tailEnd/>
            </a:ln>
          </p:spPr>
          <p:style>
            <a:lnRef idx="3">
              <a:schemeClr val="dk1"/>
            </a:lnRef>
            <a:fillRef idx="0">
              <a:schemeClr val="dk1"/>
            </a:fillRef>
            <a:effectRef idx="2">
              <a:schemeClr val="dk1"/>
            </a:effectRef>
            <a:fontRef idx="minor">
              <a:schemeClr val="tx1"/>
            </a:fontRef>
          </p:style>
          <p:txBody>
            <a:bodyPr>
              <a:prstTxWarp prst="textNoShape">
                <a:avLst/>
              </a:prstTxWarp>
            </a:bodyPr>
            <a:lstStyle/>
            <a:p>
              <a:pPr>
                <a:defRPr/>
              </a:pPr>
              <a:endParaRPr lang="en-US" sz="1646" dirty="0">
                <a:effectLst>
                  <a:outerShdw blurRad="38100" dist="38100" dir="2700000" algn="tl">
                    <a:srgbClr val="000000">
                      <a:alpha val="43137"/>
                    </a:srgbClr>
                  </a:outerShdw>
                </a:effectLst>
                <a:latin typeface="Arial" pitchFamily="-112" charset="0"/>
                <a:ea typeface="ＭＳ Ｐゴシック" pitchFamily="-112" charset="-128"/>
                <a:cs typeface="ＭＳ Ｐゴシック" pitchFamily="-112" charset="-128"/>
              </a:endParaRPr>
            </a:p>
          </p:txBody>
        </p:sp>
        <p:sp>
          <p:nvSpPr>
            <p:cNvPr id="9" name="Line 129">
              <a:extLst>
                <a:ext uri="{FF2B5EF4-FFF2-40B4-BE49-F238E27FC236}">
                  <a16:creationId xmlns:a16="http://schemas.microsoft.com/office/drawing/2014/main" id="{27CCA889-AF52-EA41-9D84-D4069E7F938F}"/>
                </a:ext>
              </a:extLst>
            </p:cNvPr>
            <p:cNvSpPr>
              <a:spLocks noChangeShapeType="1"/>
            </p:cNvSpPr>
            <p:nvPr/>
          </p:nvSpPr>
          <p:spPr bwMode="auto">
            <a:xfrm rot="10800000" flipV="1">
              <a:off x="1791505" y="3844375"/>
              <a:ext cx="1128687" cy="559727"/>
            </a:xfrm>
            <a:prstGeom prst="line">
              <a:avLst/>
            </a:prstGeom>
            <a:ln>
              <a:headEnd/>
              <a:tailEnd/>
            </a:ln>
          </p:spPr>
          <p:style>
            <a:lnRef idx="3">
              <a:schemeClr val="dk1"/>
            </a:lnRef>
            <a:fillRef idx="0">
              <a:schemeClr val="dk1"/>
            </a:fillRef>
            <a:effectRef idx="2">
              <a:schemeClr val="dk1"/>
            </a:effectRef>
            <a:fontRef idx="minor">
              <a:schemeClr val="tx1"/>
            </a:fontRef>
          </p:style>
          <p:txBody>
            <a:bodyPr>
              <a:prstTxWarp prst="textNoShape">
                <a:avLst/>
              </a:prstTxWarp>
            </a:bodyPr>
            <a:lstStyle/>
            <a:p>
              <a:pPr>
                <a:defRPr/>
              </a:pPr>
              <a:endParaRPr lang="en-US" sz="1646" dirty="0">
                <a:effectLst>
                  <a:outerShdw blurRad="38100" dist="38100" dir="2700000" algn="tl">
                    <a:srgbClr val="000000">
                      <a:alpha val="43137"/>
                    </a:srgbClr>
                  </a:outerShdw>
                </a:effectLst>
                <a:latin typeface="Arial" pitchFamily="-112" charset="0"/>
                <a:ea typeface="ＭＳ Ｐゴシック" pitchFamily="-112" charset="-128"/>
                <a:cs typeface="ＭＳ Ｐゴシック" pitchFamily="-112" charset="-128"/>
              </a:endParaRPr>
            </a:p>
          </p:txBody>
        </p:sp>
        <p:grpSp>
          <p:nvGrpSpPr>
            <p:cNvPr id="4" name="Group 111">
              <a:extLst>
                <a:ext uri="{FF2B5EF4-FFF2-40B4-BE49-F238E27FC236}">
                  <a16:creationId xmlns:a16="http://schemas.microsoft.com/office/drawing/2014/main" id="{428E6B38-67F8-DE47-A34C-8DB4BC181B14}"/>
                </a:ext>
              </a:extLst>
            </p:cNvPr>
            <p:cNvGrpSpPr>
              <a:grpSpLocks/>
            </p:cNvGrpSpPr>
            <p:nvPr/>
          </p:nvGrpSpPr>
          <p:grpSpPr bwMode="auto">
            <a:xfrm>
              <a:off x="2249147" y="1943827"/>
              <a:ext cx="1158653" cy="1023311"/>
              <a:chOff x="4373563" y="480206"/>
              <a:chExt cx="919162" cy="873932"/>
            </a:xfrm>
          </p:grpSpPr>
          <p:pic>
            <p:nvPicPr>
              <p:cNvPr id="27" name="Picture 110" descr="database_org.png">
                <a:extLst>
                  <a:ext uri="{FF2B5EF4-FFF2-40B4-BE49-F238E27FC236}">
                    <a16:creationId xmlns:a16="http://schemas.microsoft.com/office/drawing/2014/main" id="{A4B329E3-1068-6546-A922-4A9CEFC5C971}"/>
                  </a:ext>
                </a:extLst>
              </p:cNvPr>
              <p:cNvPicPr>
                <a:picLocks noChangeAspect="1"/>
              </p:cNvPicPr>
              <p:nvPr/>
            </p:nvPicPr>
            <p:blipFill>
              <a:blip r:embed="rId14" cstate="email">
                <a:extLst>
                  <a:ext uri="{28A0092B-C50C-407E-A947-70E740481C1C}">
                    <a14:useLocalDpi xmlns:a14="http://schemas.microsoft.com/office/drawing/2010/main"/>
                  </a:ext>
                </a:extLst>
              </a:blip>
              <a:srcRect/>
              <a:stretch>
                <a:fillRect/>
              </a:stretch>
            </p:blipFill>
            <p:spPr bwMode="auto">
              <a:xfrm>
                <a:off x="4373563" y="480206"/>
                <a:ext cx="705994" cy="694545"/>
              </a:xfrm>
              <a:prstGeom prst="rect">
                <a:avLst/>
              </a:prstGeom>
              <a:noFill/>
              <a:ln w="9525">
                <a:noFill/>
                <a:miter lim="800000"/>
                <a:headEnd/>
                <a:tailEnd/>
              </a:ln>
            </p:spPr>
          </p:pic>
          <p:pic>
            <p:nvPicPr>
              <p:cNvPr id="28" name="Picture 165">
                <a:extLst>
                  <a:ext uri="{FF2B5EF4-FFF2-40B4-BE49-F238E27FC236}">
                    <a16:creationId xmlns:a16="http://schemas.microsoft.com/office/drawing/2014/main" id="{C5FA7F77-EC72-FF4C-B0E6-C0D1F60637F0}"/>
                  </a:ext>
                </a:extLst>
              </p:cNvPr>
              <p:cNvPicPr>
                <a:picLocks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4776643" y="797739"/>
                <a:ext cx="516082" cy="556399"/>
              </a:xfrm>
              <a:prstGeom prst="rect">
                <a:avLst/>
              </a:prstGeom>
              <a:noFill/>
              <a:ln w="12700">
                <a:noFill/>
                <a:miter lim="800000"/>
                <a:headEnd/>
                <a:tailEnd/>
              </a:ln>
            </p:spPr>
          </p:pic>
        </p:grpSp>
        <p:pic>
          <p:nvPicPr>
            <p:cNvPr id="14" name="Picture 219" descr="Raster">
              <a:extLst>
                <a:ext uri="{FF2B5EF4-FFF2-40B4-BE49-F238E27FC236}">
                  <a16:creationId xmlns:a16="http://schemas.microsoft.com/office/drawing/2014/main" id="{3B8DE358-D210-B44A-931E-9FB6BCEB9BA1}"/>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891700" y="2947379"/>
              <a:ext cx="830953" cy="770907"/>
            </a:xfrm>
            <a:prstGeom prst="rect">
              <a:avLst/>
            </a:prstGeom>
            <a:noFill/>
            <a:ln w="9525">
              <a:noFill/>
              <a:miter lim="800000"/>
              <a:headEnd/>
              <a:tailEnd/>
            </a:ln>
          </p:spPr>
        </p:pic>
        <p:pic>
          <p:nvPicPr>
            <p:cNvPr id="16" name="Picture 80" descr="ETL_diagram">
              <a:extLst>
                <a:ext uri="{FF2B5EF4-FFF2-40B4-BE49-F238E27FC236}">
                  <a16:creationId xmlns:a16="http://schemas.microsoft.com/office/drawing/2014/main" id="{DBF55629-6229-2E45-B0A7-602643007EC9}"/>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1039329" y="4391373"/>
              <a:ext cx="868114" cy="441080"/>
            </a:xfrm>
            <a:prstGeom prst="rect">
              <a:avLst/>
            </a:prstGeom>
            <a:noFill/>
            <a:ln w="9525">
              <a:noFill/>
              <a:miter lim="800000"/>
              <a:headEnd/>
              <a:tailEnd/>
            </a:ln>
          </p:spPr>
        </p:pic>
        <p:sp>
          <p:nvSpPr>
            <p:cNvPr id="17" name="TextBox 16">
              <a:extLst>
                <a:ext uri="{FF2B5EF4-FFF2-40B4-BE49-F238E27FC236}">
                  <a16:creationId xmlns:a16="http://schemas.microsoft.com/office/drawing/2014/main" id="{80DDCBD3-DDD7-C841-B399-22526436CCE5}"/>
                </a:ext>
              </a:extLst>
            </p:cNvPr>
            <p:cNvSpPr txBox="1"/>
            <p:nvPr/>
          </p:nvSpPr>
          <p:spPr>
            <a:xfrm>
              <a:off x="715418" y="1882942"/>
              <a:ext cx="1526481" cy="85215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r"/>
              <a:r>
                <a:rPr lang="en-US" sz="1646" dirty="0"/>
                <a:t>Spatial</a:t>
              </a:r>
            </a:p>
            <a:p>
              <a:pPr algn="r"/>
              <a:r>
                <a:rPr lang="en-US" sz="1646" dirty="0"/>
                <a:t>Databases and Tools</a:t>
              </a:r>
            </a:p>
          </p:txBody>
        </p:sp>
        <p:sp>
          <p:nvSpPr>
            <p:cNvPr id="18" name="TextBox 17">
              <a:extLst>
                <a:ext uri="{FF2B5EF4-FFF2-40B4-BE49-F238E27FC236}">
                  <a16:creationId xmlns:a16="http://schemas.microsoft.com/office/drawing/2014/main" id="{59ACA5BE-F995-0345-9D1E-20612BB9FE4D}"/>
                </a:ext>
              </a:extLst>
            </p:cNvPr>
            <p:cNvSpPr txBox="1"/>
            <p:nvPr/>
          </p:nvSpPr>
          <p:spPr>
            <a:xfrm>
              <a:off x="596900" y="3722346"/>
              <a:ext cx="1128909" cy="598882"/>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46" dirty="0"/>
                <a:t>Model Files</a:t>
              </a:r>
            </a:p>
          </p:txBody>
        </p:sp>
        <p:sp>
          <p:nvSpPr>
            <p:cNvPr id="19" name="TextBox 18">
              <a:extLst>
                <a:ext uri="{FF2B5EF4-FFF2-40B4-BE49-F238E27FC236}">
                  <a16:creationId xmlns:a16="http://schemas.microsoft.com/office/drawing/2014/main" id="{DABB515B-FC24-A648-8E55-87707A182876}"/>
                </a:ext>
              </a:extLst>
            </p:cNvPr>
            <p:cNvSpPr txBox="1"/>
            <p:nvPr/>
          </p:nvSpPr>
          <p:spPr>
            <a:xfrm>
              <a:off x="812399" y="4829141"/>
              <a:ext cx="1820511" cy="85215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Custom Python Scripts</a:t>
              </a:r>
            </a:p>
          </p:txBody>
        </p:sp>
        <p:sp>
          <p:nvSpPr>
            <p:cNvPr id="21" name="TextBox 20">
              <a:extLst>
                <a:ext uri="{FF2B5EF4-FFF2-40B4-BE49-F238E27FC236}">
                  <a16:creationId xmlns:a16="http://schemas.microsoft.com/office/drawing/2014/main" id="{E8EA9B96-7426-3A4F-B692-774FA12E72D9}"/>
                </a:ext>
              </a:extLst>
            </p:cNvPr>
            <p:cNvSpPr txBox="1"/>
            <p:nvPr/>
          </p:nvSpPr>
          <p:spPr>
            <a:xfrm>
              <a:off x="4259030" y="4913177"/>
              <a:ext cx="1753084" cy="598882"/>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Simple Web Interfaces</a:t>
              </a:r>
            </a:p>
          </p:txBody>
        </p:sp>
        <p:sp>
          <p:nvSpPr>
            <p:cNvPr id="25" name="TextBox 24">
              <a:extLst>
                <a:ext uri="{FF2B5EF4-FFF2-40B4-BE49-F238E27FC236}">
                  <a16:creationId xmlns:a16="http://schemas.microsoft.com/office/drawing/2014/main" id="{CF26D57C-9E82-1B48-8C88-3A9585397B9C}"/>
                </a:ext>
              </a:extLst>
            </p:cNvPr>
            <p:cNvSpPr txBox="1"/>
            <p:nvPr/>
          </p:nvSpPr>
          <p:spPr>
            <a:xfrm>
              <a:off x="6328197" y="5496522"/>
              <a:ext cx="2108477" cy="135870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Engineers, Decision Makers, Advocacy Groups, Public</a:t>
              </a:r>
            </a:p>
          </p:txBody>
        </p:sp>
      </p:grpSp>
      <p:pic>
        <p:nvPicPr>
          <p:cNvPr id="26" name="Picture 34">
            <a:extLst>
              <a:ext uri="{FF2B5EF4-FFF2-40B4-BE49-F238E27FC236}">
                <a16:creationId xmlns:a16="http://schemas.microsoft.com/office/drawing/2014/main" id="{77825BEE-369F-6048-8DA9-CF7C07C059A9}"/>
              </a:ext>
            </a:extLst>
          </p:cNvPr>
          <p:cNvPicPr>
            <a:picLocks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714643" y="3141975"/>
            <a:ext cx="1298941" cy="12102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32" name="Picture 11" descr="triserver_globe.png">
            <a:extLst>
              <a:ext uri="{FF2B5EF4-FFF2-40B4-BE49-F238E27FC236}">
                <a16:creationId xmlns:a16="http://schemas.microsoft.com/office/drawing/2014/main" id="{DCF28A0C-4457-7B4A-B1C4-31E668A1C85A}"/>
              </a:ext>
            </a:extLst>
          </p:cNvPr>
          <p:cNvPicPr>
            <a:picLocks noChangeAspect="1"/>
          </p:cNvPicPr>
          <p:nvPr/>
        </p:nvPicPr>
        <p:blipFill>
          <a:blip r:embed="rId19" cstate="email">
            <a:extLst>
              <a:ext uri="{28A0092B-C50C-407E-A947-70E740481C1C}">
                <a14:useLocalDpi xmlns:a14="http://schemas.microsoft.com/office/drawing/2010/main"/>
              </a:ext>
            </a:extLst>
          </a:blip>
          <a:srcRect/>
          <a:stretch>
            <a:fillRect/>
          </a:stretch>
        </p:blipFill>
        <p:spPr bwMode="auto">
          <a:xfrm>
            <a:off x="2093472" y="3424736"/>
            <a:ext cx="541282" cy="684563"/>
          </a:xfrm>
          <a:prstGeom prst="rect">
            <a:avLst/>
          </a:prstGeom>
          <a:noFill/>
          <a:ln w="9525">
            <a:noFill/>
            <a:miter lim="800000"/>
            <a:headEnd/>
            <a:tailEnd/>
          </a:ln>
        </p:spPr>
      </p:pic>
      <p:sp>
        <p:nvSpPr>
          <p:cNvPr id="74" name="TextBox 73">
            <a:extLst>
              <a:ext uri="{FF2B5EF4-FFF2-40B4-BE49-F238E27FC236}">
                <a16:creationId xmlns:a16="http://schemas.microsoft.com/office/drawing/2014/main" id="{D26CD8C9-E8EC-304E-9ECB-8007226C6CDA}"/>
              </a:ext>
            </a:extLst>
          </p:cNvPr>
          <p:cNvSpPr txBox="1"/>
          <p:nvPr/>
        </p:nvSpPr>
        <p:spPr>
          <a:xfrm>
            <a:off x="3209717" y="4910738"/>
            <a:ext cx="1314813" cy="85215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Streamflow Prediction Tool</a:t>
            </a:r>
          </a:p>
        </p:txBody>
      </p:sp>
      <p:grpSp>
        <p:nvGrpSpPr>
          <p:cNvPr id="5" name="Group 82">
            <a:extLst>
              <a:ext uri="{FF2B5EF4-FFF2-40B4-BE49-F238E27FC236}">
                <a16:creationId xmlns:a16="http://schemas.microsoft.com/office/drawing/2014/main" id="{04DD4D16-D707-CC4D-9125-4D548BBCBDAD}"/>
              </a:ext>
            </a:extLst>
          </p:cNvPr>
          <p:cNvGrpSpPr/>
          <p:nvPr/>
        </p:nvGrpSpPr>
        <p:grpSpPr>
          <a:xfrm>
            <a:off x="96515" y="1806292"/>
            <a:ext cx="6189096" cy="5072691"/>
            <a:chOff x="128686" y="1806291"/>
            <a:chExt cx="8252128" cy="5072691"/>
          </a:xfrm>
        </p:grpSpPr>
        <p:grpSp>
          <p:nvGrpSpPr>
            <p:cNvPr id="6" name="Group 34">
              <a:extLst>
                <a:ext uri="{FF2B5EF4-FFF2-40B4-BE49-F238E27FC236}">
                  <a16:creationId xmlns:a16="http://schemas.microsoft.com/office/drawing/2014/main" id="{50B5B882-82F5-AF4E-8BFC-4E3ED8BB688B}"/>
                </a:ext>
              </a:extLst>
            </p:cNvPr>
            <p:cNvGrpSpPr/>
            <p:nvPr/>
          </p:nvGrpSpPr>
          <p:grpSpPr>
            <a:xfrm>
              <a:off x="2267436" y="3144083"/>
              <a:ext cx="1755878" cy="1226970"/>
              <a:chOff x="3356653" y="4198656"/>
              <a:chExt cx="3364924" cy="2351338"/>
            </a:xfrm>
          </p:grpSpPr>
          <p:pic>
            <p:nvPicPr>
              <p:cNvPr id="36" name="Picture 34">
                <a:extLst>
                  <a:ext uri="{FF2B5EF4-FFF2-40B4-BE49-F238E27FC236}">
                    <a16:creationId xmlns:a16="http://schemas.microsoft.com/office/drawing/2014/main" id="{5440F6D1-3F4C-7E4D-99AD-228EDF63EA47}"/>
                  </a:ext>
                </a:extLst>
              </p:cNvPr>
              <p:cNvPicPr>
                <a:picLocks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3356653" y="4198656"/>
                <a:ext cx="3364924" cy="2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37" name="Picture 4">
                <a:extLst>
                  <a:ext uri="{FF2B5EF4-FFF2-40B4-BE49-F238E27FC236}">
                    <a16:creationId xmlns:a16="http://schemas.microsoft.com/office/drawing/2014/main" id="{17B5ECCA-8B8D-DC4A-8D2E-6A58582106F0}"/>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4599971" y="4647414"/>
                <a:ext cx="931539" cy="55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Content Placeholder 4">
                <a:extLst>
                  <a:ext uri="{FF2B5EF4-FFF2-40B4-BE49-F238E27FC236}">
                    <a16:creationId xmlns:a16="http://schemas.microsoft.com/office/drawing/2014/main" id="{E689F6E8-AF4D-D746-A8CE-13A4F58DB569}"/>
                  </a:ext>
                </a:extLst>
              </p:cNvPr>
              <p:cNvPicPr>
                <a:picLocks noChangeAspect="1"/>
              </p:cNvPicPr>
              <p:nvPr/>
            </p:nvPicPr>
            <p:blipFill rotWithShape="1">
              <a:blip r:embed="rId22" cstate="email">
                <a:extLst>
                  <a:ext uri="{28A0092B-C50C-407E-A947-70E740481C1C}">
                    <a14:useLocalDpi xmlns:a14="http://schemas.microsoft.com/office/drawing/2010/main"/>
                  </a:ext>
                </a:extLst>
              </a:blip>
              <a:srcRect/>
              <a:stretch/>
            </p:blipFill>
            <p:spPr>
              <a:xfrm>
                <a:off x="4343668" y="5400360"/>
                <a:ext cx="1120533" cy="754783"/>
              </a:xfrm>
              <a:prstGeom prst="rect">
                <a:avLst/>
              </a:prstGeom>
            </p:spPr>
          </p:pic>
          <p:pic>
            <p:nvPicPr>
              <p:cNvPr id="39" name="Picture 38">
                <a:extLst>
                  <a:ext uri="{FF2B5EF4-FFF2-40B4-BE49-F238E27FC236}">
                    <a16:creationId xmlns:a16="http://schemas.microsoft.com/office/drawing/2014/main" id="{B8427C50-4EB7-E44A-B7FA-A4D4191062AB}"/>
                  </a:ext>
                </a:extLst>
              </p:cNvPr>
              <p:cNvPicPr/>
              <p:nvPr/>
            </p:nvPicPr>
            <p:blipFill>
              <a:blip r:embed="rId23" cstate="email">
                <a:extLst>
                  <a:ext uri="{28A0092B-C50C-407E-A947-70E740481C1C}">
                    <a14:useLocalDpi xmlns:a14="http://schemas.microsoft.com/office/drawing/2010/main"/>
                  </a:ext>
                </a:extLst>
              </a:blip>
              <a:stretch>
                <a:fillRect/>
              </a:stretch>
            </p:blipFill>
            <p:spPr>
              <a:xfrm>
                <a:off x="3828264" y="4999305"/>
                <a:ext cx="572857" cy="1026627"/>
              </a:xfrm>
              <a:prstGeom prst="rect">
                <a:avLst/>
              </a:prstGeom>
            </p:spPr>
          </p:pic>
          <p:sp>
            <p:nvSpPr>
              <p:cNvPr id="40" name="Freeform 39">
                <a:extLst>
                  <a:ext uri="{FF2B5EF4-FFF2-40B4-BE49-F238E27FC236}">
                    <a16:creationId xmlns:a16="http://schemas.microsoft.com/office/drawing/2014/main" id="{823C177F-773E-8646-945F-FF236C61B30E}"/>
                  </a:ext>
                </a:extLst>
              </p:cNvPr>
              <p:cNvSpPr/>
              <p:nvPr/>
            </p:nvSpPr>
            <p:spPr>
              <a:xfrm>
                <a:off x="3965275" y="5457327"/>
                <a:ext cx="138900" cy="195117"/>
              </a:xfrm>
              <a:custGeom>
                <a:avLst/>
                <a:gdLst>
                  <a:gd name="connsiteX0" fmla="*/ 1494 w 583385"/>
                  <a:gd name="connsiteY0" fmla="*/ 766055 h 819494"/>
                  <a:gd name="connsiteX1" fmla="*/ 7432 w 583385"/>
                  <a:gd name="connsiteY1" fmla="*/ 736367 h 819494"/>
                  <a:gd name="connsiteX2" fmla="*/ 13369 w 583385"/>
                  <a:gd name="connsiteY2" fmla="*/ 718554 h 819494"/>
                  <a:gd name="connsiteX3" fmla="*/ 31182 w 583385"/>
                  <a:gd name="connsiteY3" fmla="*/ 653239 h 819494"/>
                  <a:gd name="connsiteX4" fmla="*/ 66808 w 583385"/>
                  <a:gd name="connsiteY4" fmla="*/ 629489 h 819494"/>
                  <a:gd name="connsiteX5" fmla="*/ 78683 w 583385"/>
                  <a:gd name="connsiteY5" fmla="*/ 617613 h 819494"/>
                  <a:gd name="connsiteX6" fmla="*/ 84621 w 583385"/>
                  <a:gd name="connsiteY6" fmla="*/ 593863 h 819494"/>
                  <a:gd name="connsiteX7" fmla="*/ 96496 w 583385"/>
                  <a:gd name="connsiteY7" fmla="*/ 576050 h 819494"/>
                  <a:gd name="connsiteX8" fmla="*/ 108372 w 583385"/>
                  <a:gd name="connsiteY8" fmla="*/ 528549 h 819494"/>
                  <a:gd name="connsiteX9" fmla="*/ 126185 w 583385"/>
                  <a:gd name="connsiteY9" fmla="*/ 475110 h 819494"/>
                  <a:gd name="connsiteX10" fmla="*/ 138060 w 583385"/>
                  <a:gd name="connsiteY10" fmla="*/ 463234 h 819494"/>
                  <a:gd name="connsiteX11" fmla="*/ 143998 w 583385"/>
                  <a:gd name="connsiteY11" fmla="*/ 445421 h 819494"/>
                  <a:gd name="connsiteX12" fmla="*/ 126185 w 583385"/>
                  <a:gd name="connsiteY12" fmla="*/ 439484 h 819494"/>
                  <a:gd name="connsiteX13" fmla="*/ 149935 w 583385"/>
                  <a:gd name="connsiteY13" fmla="*/ 386045 h 819494"/>
                  <a:gd name="connsiteX14" fmla="*/ 126185 w 583385"/>
                  <a:gd name="connsiteY14" fmla="*/ 356356 h 819494"/>
                  <a:gd name="connsiteX15" fmla="*/ 132122 w 583385"/>
                  <a:gd name="connsiteY15" fmla="*/ 320730 h 819494"/>
                  <a:gd name="connsiteX16" fmla="*/ 143998 w 583385"/>
                  <a:gd name="connsiteY16" fmla="*/ 308855 h 819494"/>
                  <a:gd name="connsiteX17" fmla="*/ 143998 w 583385"/>
                  <a:gd name="connsiteY17" fmla="*/ 201977 h 819494"/>
                  <a:gd name="connsiteX18" fmla="*/ 179624 w 583385"/>
                  <a:gd name="connsiteY18" fmla="*/ 190102 h 819494"/>
                  <a:gd name="connsiteX19" fmla="*/ 197437 w 583385"/>
                  <a:gd name="connsiteY19" fmla="*/ 184164 h 819494"/>
                  <a:gd name="connsiteX20" fmla="*/ 215250 w 583385"/>
                  <a:gd name="connsiteY20" fmla="*/ 190102 h 819494"/>
                  <a:gd name="connsiteX21" fmla="*/ 215250 w 583385"/>
                  <a:gd name="connsiteY21" fmla="*/ 237603 h 819494"/>
                  <a:gd name="connsiteX22" fmla="*/ 233063 w 583385"/>
                  <a:gd name="connsiteY22" fmla="*/ 249478 h 819494"/>
                  <a:gd name="connsiteX23" fmla="*/ 268689 w 583385"/>
                  <a:gd name="connsiteY23" fmla="*/ 225728 h 819494"/>
                  <a:gd name="connsiteX24" fmla="*/ 280564 w 583385"/>
                  <a:gd name="connsiteY24" fmla="*/ 213852 h 819494"/>
                  <a:gd name="connsiteX25" fmla="*/ 339941 w 583385"/>
                  <a:gd name="connsiteY25" fmla="*/ 207915 h 819494"/>
                  <a:gd name="connsiteX26" fmla="*/ 357754 w 583385"/>
                  <a:gd name="connsiteY26" fmla="*/ 201977 h 819494"/>
                  <a:gd name="connsiteX27" fmla="*/ 381504 w 583385"/>
                  <a:gd name="connsiteY27" fmla="*/ 148538 h 819494"/>
                  <a:gd name="connsiteX28" fmla="*/ 393380 w 583385"/>
                  <a:gd name="connsiteY28" fmla="*/ 130725 h 819494"/>
                  <a:gd name="connsiteX29" fmla="*/ 411193 w 583385"/>
                  <a:gd name="connsiteY29" fmla="*/ 77286 h 819494"/>
                  <a:gd name="connsiteX30" fmla="*/ 417130 w 583385"/>
                  <a:gd name="connsiteY30" fmla="*/ 59473 h 819494"/>
                  <a:gd name="connsiteX31" fmla="*/ 446819 w 583385"/>
                  <a:gd name="connsiteY31" fmla="*/ 41660 h 819494"/>
                  <a:gd name="connsiteX32" fmla="*/ 482445 w 583385"/>
                  <a:gd name="connsiteY32" fmla="*/ 23847 h 819494"/>
                  <a:gd name="connsiteX33" fmla="*/ 488382 w 583385"/>
                  <a:gd name="connsiteY33" fmla="*/ 6034 h 819494"/>
                  <a:gd name="connsiteX34" fmla="*/ 529946 w 583385"/>
                  <a:gd name="connsiteY34" fmla="*/ 6034 h 819494"/>
                  <a:gd name="connsiteX35" fmla="*/ 541821 w 583385"/>
                  <a:gd name="connsiteY35" fmla="*/ 23847 h 819494"/>
                  <a:gd name="connsiteX36" fmla="*/ 524008 w 583385"/>
                  <a:gd name="connsiteY36" fmla="*/ 59473 h 819494"/>
                  <a:gd name="connsiteX37" fmla="*/ 518070 w 583385"/>
                  <a:gd name="connsiteY37" fmla="*/ 77286 h 819494"/>
                  <a:gd name="connsiteX38" fmla="*/ 518070 w 583385"/>
                  <a:gd name="connsiteY38" fmla="*/ 213852 h 819494"/>
                  <a:gd name="connsiteX39" fmla="*/ 547759 w 583385"/>
                  <a:gd name="connsiteY39" fmla="*/ 219790 h 819494"/>
                  <a:gd name="connsiteX40" fmla="*/ 541821 w 583385"/>
                  <a:gd name="connsiteY40" fmla="*/ 267291 h 819494"/>
                  <a:gd name="connsiteX41" fmla="*/ 529946 w 583385"/>
                  <a:gd name="connsiteY41" fmla="*/ 279167 h 819494"/>
                  <a:gd name="connsiteX42" fmla="*/ 535883 w 583385"/>
                  <a:gd name="connsiteY42" fmla="*/ 380107 h 819494"/>
                  <a:gd name="connsiteX43" fmla="*/ 565572 w 583385"/>
                  <a:gd name="connsiteY43" fmla="*/ 386045 h 819494"/>
                  <a:gd name="connsiteX44" fmla="*/ 565572 w 583385"/>
                  <a:gd name="connsiteY44" fmla="*/ 427608 h 819494"/>
                  <a:gd name="connsiteX45" fmla="*/ 553696 w 583385"/>
                  <a:gd name="connsiteY45" fmla="*/ 463234 h 819494"/>
                  <a:gd name="connsiteX46" fmla="*/ 559634 w 583385"/>
                  <a:gd name="connsiteY46" fmla="*/ 481047 h 819494"/>
                  <a:gd name="connsiteX47" fmla="*/ 583385 w 583385"/>
                  <a:gd name="connsiteY47" fmla="*/ 510736 h 819494"/>
                  <a:gd name="connsiteX48" fmla="*/ 571509 w 583385"/>
                  <a:gd name="connsiteY48" fmla="*/ 558237 h 819494"/>
                  <a:gd name="connsiteX49" fmla="*/ 565572 w 583385"/>
                  <a:gd name="connsiteY49" fmla="*/ 581988 h 819494"/>
                  <a:gd name="connsiteX50" fmla="*/ 553696 w 583385"/>
                  <a:gd name="connsiteY50" fmla="*/ 593863 h 819494"/>
                  <a:gd name="connsiteX51" fmla="*/ 541821 w 583385"/>
                  <a:gd name="connsiteY51" fmla="*/ 611676 h 819494"/>
                  <a:gd name="connsiteX52" fmla="*/ 529946 w 583385"/>
                  <a:gd name="connsiteY52" fmla="*/ 647302 h 819494"/>
                  <a:gd name="connsiteX53" fmla="*/ 476507 w 583385"/>
                  <a:gd name="connsiteY53" fmla="*/ 659177 h 819494"/>
                  <a:gd name="connsiteX54" fmla="*/ 458694 w 583385"/>
                  <a:gd name="connsiteY54" fmla="*/ 694803 h 819494"/>
                  <a:gd name="connsiteX55" fmla="*/ 452756 w 583385"/>
                  <a:gd name="connsiteY55" fmla="*/ 712616 h 819494"/>
                  <a:gd name="connsiteX56" fmla="*/ 440881 w 583385"/>
                  <a:gd name="connsiteY56" fmla="*/ 730429 h 819494"/>
                  <a:gd name="connsiteX57" fmla="*/ 423068 w 583385"/>
                  <a:gd name="connsiteY57" fmla="*/ 766055 h 819494"/>
                  <a:gd name="connsiteX58" fmla="*/ 387442 w 583385"/>
                  <a:gd name="connsiteY58" fmla="*/ 783868 h 819494"/>
                  <a:gd name="connsiteX59" fmla="*/ 381504 w 583385"/>
                  <a:gd name="connsiteY59" fmla="*/ 801681 h 819494"/>
                  <a:gd name="connsiteX60" fmla="*/ 345878 w 583385"/>
                  <a:gd name="connsiteY60" fmla="*/ 819494 h 819494"/>
                  <a:gd name="connsiteX61" fmla="*/ 316190 w 583385"/>
                  <a:gd name="connsiteY61" fmla="*/ 795743 h 819494"/>
                  <a:gd name="connsiteX62" fmla="*/ 203374 w 583385"/>
                  <a:gd name="connsiteY62" fmla="*/ 777930 h 819494"/>
                  <a:gd name="connsiteX63" fmla="*/ 185561 w 583385"/>
                  <a:gd name="connsiteY63" fmla="*/ 766055 h 819494"/>
                  <a:gd name="connsiteX64" fmla="*/ 149935 w 583385"/>
                  <a:gd name="connsiteY64" fmla="*/ 754180 h 819494"/>
                  <a:gd name="connsiteX65" fmla="*/ 78683 w 583385"/>
                  <a:gd name="connsiteY65" fmla="*/ 766055 h 819494"/>
                  <a:gd name="connsiteX66" fmla="*/ 31182 w 583385"/>
                  <a:gd name="connsiteY66" fmla="*/ 777930 h 819494"/>
                  <a:gd name="connsiteX67" fmla="*/ 1494 w 583385"/>
                  <a:gd name="connsiteY67" fmla="*/ 783868 h 819494"/>
                  <a:gd name="connsiteX68" fmla="*/ 1494 w 583385"/>
                  <a:gd name="connsiteY68" fmla="*/ 766055 h 81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385" h="819494">
                    <a:moveTo>
                      <a:pt x="1494" y="766055"/>
                    </a:moveTo>
                    <a:cubicBezTo>
                      <a:pt x="2484" y="758138"/>
                      <a:pt x="4984" y="746158"/>
                      <a:pt x="7432" y="736367"/>
                    </a:cubicBezTo>
                    <a:cubicBezTo>
                      <a:pt x="8950" y="730295"/>
                      <a:pt x="11851" y="724626"/>
                      <a:pt x="13369" y="718554"/>
                    </a:cubicBezTo>
                    <a:cubicBezTo>
                      <a:pt x="30151" y="651421"/>
                      <a:pt x="5710" y="729657"/>
                      <a:pt x="31182" y="653239"/>
                    </a:cubicBezTo>
                    <a:cubicBezTo>
                      <a:pt x="35695" y="639699"/>
                      <a:pt x="56716" y="639581"/>
                      <a:pt x="66808" y="629489"/>
                    </a:cubicBezTo>
                    <a:lnTo>
                      <a:pt x="78683" y="617613"/>
                    </a:lnTo>
                    <a:cubicBezTo>
                      <a:pt x="80662" y="609696"/>
                      <a:pt x="81406" y="601364"/>
                      <a:pt x="84621" y="593863"/>
                    </a:cubicBezTo>
                    <a:cubicBezTo>
                      <a:pt x="87432" y="587304"/>
                      <a:pt x="94057" y="582756"/>
                      <a:pt x="96496" y="576050"/>
                    </a:cubicBezTo>
                    <a:cubicBezTo>
                      <a:pt x="102074" y="560712"/>
                      <a:pt x="104413" y="544383"/>
                      <a:pt x="108372" y="528549"/>
                    </a:cubicBezTo>
                    <a:cubicBezTo>
                      <a:pt x="108376" y="528535"/>
                      <a:pt x="123214" y="484023"/>
                      <a:pt x="126185" y="475110"/>
                    </a:cubicBezTo>
                    <a:cubicBezTo>
                      <a:pt x="127955" y="469799"/>
                      <a:pt x="134102" y="467193"/>
                      <a:pt x="138060" y="463234"/>
                    </a:cubicBezTo>
                    <a:cubicBezTo>
                      <a:pt x="140039" y="457296"/>
                      <a:pt x="146797" y="451019"/>
                      <a:pt x="143998" y="445421"/>
                    </a:cubicBezTo>
                    <a:cubicBezTo>
                      <a:pt x="141199" y="439823"/>
                      <a:pt x="127543" y="445594"/>
                      <a:pt x="126185" y="439484"/>
                    </a:cubicBezTo>
                    <a:cubicBezTo>
                      <a:pt x="115534" y="391559"/>
                      <a:pt x="123794" y="394758"/>
                      <a:pt x="149935" y="386045"/>
                    </a:cubicBezTo>
                    <a:cubicBezTo>
                      <a:pt x="144031" y="380141"/>
                      <a:pt x="127121" y="364782"/>
                      <a:pt x="126185" y="356356"/>
                    </a:cubicBezTo>
                    <a:cubicBezTo>
                      <a:pt x="124855" y="344391"/>
                      <a:pt x="127895" y="332003"/>
                      <a:pt x="132122" y="320730"/>
                    </a:cubicBezTo>
                    <a:cubicBezTo>
                      <a:pt x="134088" y="315488"/>
                      <a:pt x="140039" y="312813"/>
                      <a:pt x="143998" y="308855"/>
                    </a:cubicBezTo>
                    <a:cubicBezTo>
                      <a:pt x="131746" y="272100"/>
                      <a:pt x="122929" y="253145"/>
                      <a:pt x="143998" y="201977"/>
                    </a:cubicBezTo>
                    <a:cubicBezTo>
                      <a:pt x="148764" y="190402"/>
                      <a:pt x="167749" y="194060"/>
                      <a:pt x="179624" y="190102"/>
                    </a:cubicBezTo>
                    <a:lnTo>
                      <a:pt x="197437" y="184164"/>
                    </a:lnTo>
                    <a:cubicBezTo>
                      <a:pt x="203375" y="186143"/>
                      <a:pt x="210824" y="185676"/>
                      <a:pt x="215250" y="190102"/>
                    </a:cubicBezTo>
                    <a:cubicBezTo>
                      <a:pt x="227421" y="202273"/>
                      <a:pt x="217508" y="226312"/>
                      <a:pt x="215250" y="237603"/>
                    </a:cubicBezTo>
                    <a:cubicBezTo>
                      <a:pt x="221188" y="241561"/>
                      <a:pt x="226097" y="251026"/>
                      <a:pt x="233063" y="249478"/>
                    </a:cubicBezTo>
                    <a:cubicBezTo>
                      <a:pt x="246995" y="246382"/>
                      <a:pt x="258597" y="235820"/>
                      <a:pt x="268689" y="225728"/>
                    </a:cubicBezTo>
                    <a:cubicBezTo>
                      <a:pt x="272647" y="221769"/>
                      <a:pt x="275133" y="215210"/>
                      <a:pt x="280564" y="213852"/>
                    </a:cubicBezTo>
                    <a:cubicBezTo>
                      <a:pt x="299861" y="209028"/>
                      <a:pt x="320149" y="209894"/>
                      <a:pt x="339941" y="207915"/>
                    </a:cubicBezTo>
                    <a:cubicBezTo>
                      <a:pt x="345879" y="205936"/>
                      <a:pt x="352867" y="205887"/>
                      <a:pt x="357754" y="201977"/>
                    </a:cubicBezTo>
                    <a:cubicBezTo>
                      <a:pt x="370585" y="191712"/>
                      <a:pt x="377876" y="159424"/>
                      <a:pt x="381504" y="148538"/>
                    </a:cubicBezTo>
                    <a:cubicBezTo>
                      <a:pt x="383761" y="141768"/>
                      <a:pt x="389421" y="136663"/>
                      <a:pt x="393380" y="130725"/>
                    </a:cubicBezTo>
                    <a:lnTo>
                      <a:pt x="411193" y="77286"/>
                    </a:lnTo>
                    <a:cubicBezTo>
                      <a:pt x="413172" y="71348"/>
                      <a:pt x="412704" y="63898"/>
                      <a:pt x="417130" y="59473"/>
                    </a:cubicBezTo>
                    <a:cubicBezTo>
                      <a:pt x="440327" y="36278"/>
                      <a:pt x="415987" y="57076"/>
                      <a:pt x="446819" y="41660"/>
                    </a:cubicBezTo>
                    <a:cubicBezTo>
                      <a:pt x="492861" y="18639"/>
                      <a:pt x="437671" y="38772"/>
                      <a:pt x="482445" y="23847"/>
                    </a:cubicBezTo>
                    <a:cubicBezTo>
                      <a:pt x="484424" y="17909"/>
                      <a:pt x="483956" y="10460"/>
                      <a:pt x="488382" y="6034"/>
                    </a:cubicBezTo>
                    <a:cubicBezTo>
                      <a:pt x="500307" y="-5891"/>
                      <a:pt x="517895" y="3022"/>
                      <a:pt x="529946" y="6034"/>
                    </a:cubicBezTo>
                    <a:cubicBezTo>
                      <a:pt x="533904" y="11972"/>
                      <a:pt x="540648" y="16808"/>
                      <a:pt x="541821" y="23847"/>
                    </a:cubicBezTo>
                    <a:cubicBezTo>
                      <a:pt x="543686" y="35039"/>
                      <a:pt x="527885" y="51719"/>
                      <a:pt x="524008" y="59473"/>
                    </a:cubicBezTo>
                    <a:cubicBezTo>
                      <a:pt x="521209" y="65071"/>
                      <a:pt x="520049" y="71348"/>
                      <a:pt x="518070" y="77286"/>
                    </a:cubicBezTo>
                    <a:cubicBezTo>
                      <a:pt x="515286" y="107909"/>
                      <a:pt x="504528" y="184510"/>
                      <a:pt x="518070" y="213852"/>
                    </a:cubicBezTo>
                    <a:cubicBezTo>
                      <a:pt x="522299" y="223015"/>
                      <a:pt x="537863" y="217811"/>
                      <a:pt x="547759" y="219790"/>
                    </a:cubicBezTo>
                    <a:cubicBezTo>
                      <a:pt x="545780" y="235624"/>
                      <a:pt x="546406" y="252007"/>
                      <a:pt x="541821" y="267291"/>
                    </a:cubicBezTo>
                    <a:cubicBezTo>
                      <a:pt x="540212" y="272653"/>
                      <a:pt x="530240" y="273577"/>
                      <a:pt x="529946" y="279167"/>
                    </a:cubicBezTo>
                    <a:cubicBezTo>
                      <a:pt x="528174" y="312825"/>
                      <a:pt x="525225" y="348132"/>
                      <a:pt x="535883" y="380107"/>
                    </a:cubicBezTo>
                    <a:cubicBezTo>
                      <a:pt x="539074" y="389681"/>
                      <a:pt x="555676" y="384066"/>
                      <a:pt x="565572" y="386045"/>
                    </a:cubicBezTo>
                    <a:cubicBezTo>
                      <a:pt x="573487" y="409793"/>
                      <a:pt x="573812" y="400142"/>
                      <a:pt x="565572" y="427608"/>
                    </a:cubicBezTo>
                    <a:cubicBezTo>
                      <a:pt x="561975" y="439598"/>
                      <a:pt x="553696" y="463234"/>
                      <a:pt x="553696" y="463234"/>
                    </a:cubicBezTo>
                    <a:cubicBezTo>
                      <a:pt x="555675" y="469172"/>
                      <a:pt x="556835" y="475449"/>
                      <a:pt x="559634" y="481047"/>
                    </a:cubicBezTo>
                    <a:cubicBezTo>
                      <a:pt x="567125" y="496029"/>
                      <a:pt x="572339" y="499690"/>
                      <a:pt x="583385" y="510736"/>
                    </a:cubicBezTo>
                    <a:cubicBezTo>
                      <a:pt x="571308" y="571116"/>
                      <a:pt x="583684" y="515621"/>
                      <a:pt x="571509" y="558237"/>
                    </a:cubicBezTo>
                    <a:cubicBezTo>
                      <a:pt x="569267" y="566084"/>
                      <a:pt x="569222" y="574689"/>
                      <a:pt x="565572" y="581988"/>
                    </a:cubicBezTo>
                    <a:cubicBezTo>
                      <a:pt x="563068" y="586995"/>
                      <a:pt x="557193" y="589492"/>
                      <a:pt x="553696" y="593863"/>
                    </a:cubicBezTo>
                    <a:cubicBezTo>
                      <a:pt x="549238" y="599435"/>
                      <a:pt x="544719" y="605155"/>
                      <a:pt x="541821" y="611676"/>
                    </a:cubicBezTo>
                    <a:cubicBezTo>
                      <a:pt x="536737" y="623115"/>
                      <a:pt x="541821" y="643344"/>
                      <a:pt x="529946" y="647302"/>
                    </a:cubicBezTo>
                    <a:cubicBezTo>
                      <a:pt x="500712" y="657046"/>
                      <a:pt x="518307" y="652210"/>
                      <a:pt x="476507" y="659177"/>
                    </a:cubicBezTo>
                    <a:cubicBezTo>
                      <a:pt x="461582" y="703951"/>
                      <a:pt x="481715" y="648761"/>
                      <a:pt x="458694" y="694803"/>
                    </a:cubicBezTo>
                    <a:cubicBezTo>
                      <a:pt x="455895" y="700401"/>
                      <a:pt x="455555" y="707018"/>
                      <a:pt x="452756" y="712616"/>
                    </a:cubicBezTo>
                    <a:cubicBezTo>
                      <a:pt x="449565" y="718999"/>
                      <a:pt x="444072" y="724046"/>
                      <a:pt x="440881" y="730429"/>
                    </a:cubicBezTo>
                    <a:cubicBezTo>
                      <a:pt x="431224" y="749744"/>
                      <a:pt x="440082" y="749041"/>
                      <a:pt x="423068" y="766055"/>
                    </a:cubicBezTo>
                    <a:cubicBezTo>
                      <a:pt x="411559" y="777564"/>
                      <a:pt x="401929" y="779039"/>
                      <a:pt x="387442" y="783868"/>
                    </a:cubicBezTo>
                    <a:cubicBezTo>
                      <a:pt x="385463" y="789806"/>
                      <a:pt x="385414" y="796794"/>
                      <a:pt x="381504" y="801681"/>
                    </a:cubicBezTo>
                    <a:cubicBezTo>
                      <a:pt x="373133" y="812144"/>
                      <a:pt x="357612" y="815583"/>
                      <a:pt x="345878" y="819494"/>
                    </a:cubicBezTo>
                    <a:cubicBezTo>
                      <a:pt x="280910" y="797837"/>
                      <a:pt x="377583" y="834113"/>
                      <a:pt x="316190" y="795743"/>
                    </a:cubicBezTo>
                    <a:cubicBezTo>
                      <a:pt x="288071" y="778168"/>
                      <a:pt x="227099" y="779755"/>
                      <a:pt x="203374" y="777930"/>
                    </a:cubicBezTo>
                    <a:cubicBezTo>
                      <a:pt x="197436" y="773972"/>
                      <a:pt x="192082" y="768953"/>
                      <a:pt x="185561" y="766055"/>
                    </a:cubicBezTo>
                    <a:cubicBezTo>
                      <a:pt x="174122" y="760971"/>
                      <a:pt x="149935" y="754180"/>
                      <a:pt x="149935" y="754180"/>
                    </a:cubicBezTo>
                    <a:cubicBezTo>
                      <a:pt x="52882" y="764962"/>
                      <a:pt x="126557" y="752998"/>
                      <a:pt x="78683" y="766055"/>
                    </a:cubicBezTo>
                    <a:cubicBezTo>
                      <a:pt x="62937" y="770349"/>
                      <a:pt x="31182" y="777930"/>
                      <a:pt x="31182" y="777930"/>
                    </a:cubicBezTo>
                    <a:cubicBezTo>
                      <a:pt x="26372" y="782741"/>
                      <a:pt x="11771" y="804424"/>
                      <a:pt x="1494" y="783868"/>
                    </a:cubicBezTo>
                    <a:cubicBezTo>
                      <a:pt x="-1305" y="778270"/>
                      <a:pt x="504" y="773972"/>
                      <a:pt x="1494" y="766055"/>
                    </a:cubicBezTo>
                    <a:close/>
                  </a:path>
                </a:pathLst>
              </a:custGeom>
              <a:noFill/>
              <a:ln w="3810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6A4F40DA-2741-C947-9461-BAB018173BEB}"/>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5769638" y="4884464"/>
                <a:ext cx="574682" cy="1025110"/>
              </a:xfrm>
              <a:prstGeom prst="rect">
                <a:avLst/>
              </a:prstGeom>
            </p:spPr>
          </p:pic>
          <p:pic>
            <p:nvPicPr>
              <p:cNvPr id="42" name="Picture 41">
                <a:extLst>
                  <a:ext uri="{FF2B5EF4-FFF2-40B4-BE49-F238E27FC236}">
                    <a16:creationId xmlns:a16="http://schemas.microsoft.com/office/drawing/2014/main" id="{19EDBF8C-092B-2F43-98A8-A2C845D4BE06}"/>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6203989" y="5103565"/>
                <a:ext cx="365544" cy="212550"/>
              </a:xfrm>
              <a:prstGeom prst="rect">
                <a:avLst/>
              </a:prstGeom>
            </p:spPr>
          </p:pic>
          <p:pic>
            <p:nvPicPr>
              <p:cNvPr id="43" name="Picture 42">
                <a:extLst>
                  <a:ext uri="{FF2B5EF4-FFF2-40B4-BE49-F238E27FC236}">
                    <a16:creationId xmlns:a16="http://schemas.microsoft.com/office/drawing/2014/main" id="{53F41FFB-3E31-8C4E-82C8-631269E4B322}"/>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5499217" y="5502959"/>
                <a:ext cx="365544" cy="212550"/>
              </a:xfrm>
              <a:prstGeom prst="rect">
                <a:avLst/>
              </a:prstGeom>
            </p:spPr>
          </p:pic>
          <p:pic>
            <p:nvPicPr>
              <p:cNvPr id="44" name="Picture 43">
                <a:extLst>
                  <a:ext uri="{FF2B5EF4-FFF2-40B4-BE49-F238E27FC236}">
                    <a16:creationId xmlns:a16="http://schemas.microsoft.com/office/drawing/2014/main" id="{08DDA575-EBC5-D044-8A8D-78F191F50BFE}"/>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6060422" y="5367994"/>
                <a:ext cx="365544" cy="212550"/>
              </a:xfrm>
              <a:prstGeom prst="rect">
                <a:avLst/>
              </a:prstGeom>
            </p:spPr>
          </p:pic>
          <p:pic>
            <p:nvPicPr>
              <p:cNvPr id="45" name="Picture 44">
                <a:extLst>
                  <a:ext uri="{FF2B5EF4-FFF2-40B4-BE49-F238E27FC236}">
                    <a16:creationId xmlns:a16="http://schemas.microsoft.com/office/drawing/2014/main" id="{849FCFA5-77CF-6747-980E-4962DFAC6F41}"/>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5593529" y="5232067"/>
                <a:ext cx="365544" cy="212550"/>
              </a:xfrm>
              <a:prstGeom prst="rect">
                <a:avLst/>
              </a:prstGeom>
            </p:spPr>
          </p:pic>
          <p:pic>
            <p:nvPicPr>
              <p:cNvPr id="46" name="Picture 45">
                <a:extLst>
                  <a:ext uri="{FF2B5EF4-FFF2-40B4-BE49-F238E27FC236}">
                    <a16:creationId xmlns:a16="http://schemas.microsoft.com/office/drawing/2014/main" id="{63718A75-A05F-4D46-B728-17188B05087B}"/>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5978776" y="5636417"/>
                <a:ext cx="365544" cy="212550"/>
              </a:xfrm>
              <a:prstGeom prst="rect">
                <a:avLst/>
              </a:prstGeom>
            </p:spPr>
          </p:pic>
          <p:pic>
            <p:nvPicPr>
              <p:cNvPr id="47" name="Picture 46">
                <a:extLst>
                  <a:ext uri="{FF2B5EF4-FFF2-40B4-BE49-F238E27FC236}">
                    <a16:creationId xmlns:a16="http://schemas.microsoft.com/office/drawing/2014/main" id="{4E501A5F-328C-D444-BA0A-0DE5C918F9DA}"/>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6168205" y="4890097"/>
                <a:ext cx="365544" cy="212550"/>
              </a:xfrm>
              <a:prstGeom prst="rect">
                <a:avLst/>
              </a:prstGeom>
            </p:spPr>
          </p:pic>
          <p:pic>
            <p:nvPicPr>
              <p:cNvPr id="48" name="Picture 11" descr="triserver_globe.png">
                <a:extLst>
                  <a:ext uri="{FF2B5EF4-FFF2-40B4-BE49-F238E27FC236}">
                    <a16:creationId xmlns:a16="http://schemas.microsoft.com/office/drawing/2014/main" id="{B461B4C0-611E-8643-8524-355FD21F00A7}"/>
                  </a:ext>
                </a:extLst>
              </p:cNvPr>
              <p:cNvPicPr>
                <a:picLocks noChangeAspect="1"/>
              </p:cNvPicPr>
              <p:nvPr/>
            </p:nvPicPr>
            <p:blipFill>
              <a:blip r:embed="rId26" cstate="email">
                <a:alphaModFix amt="20000"/>
                <a:extLst>
                  <a:ext uri="{28A0092B-C50C-407E-A947-70E740481C1C}">
                    <a14:useLocalDpi xmlns:a14="http://schemas.microsoft.com/office/drawing/2010/main"/>
                  </a:ext>
                </a:extLst>
              </a:blip>
              <a:srcRect/>
              <a:stretch>
                <a:fillRect/>
              </a:stretch>
            </p:blipFill>
            <p:spPr bwMode="auto">
              <a:xfrm>
                <a:off x="4388184" y="4633457"/>
                <a:ext cx="1246243" cy="1182100"/>
              </a:xfrm>
              <a:prstGeom prst="rect">
                <a:avLst/>
              </a:prstGeom>
              <a:noFill/>
              <a:ln w="9525">
                <a:noFill/>
                <a:miter lim="800000"/>
                <a:headEnd/>
                <a:tailEnd/>
              </a:ln>
            </p:spPr>
          </p:pic>
        </p:grpSp>
        <p:grpSp>
          <p:nvGrpSpPr>
            <p:cNvPr id="13" name="Group 3">
              <a:extLst>
                <a:ext uri="{FF2B5EF4-FFF2-40B4-BE49-F238E27FC236}">
                  <a16:creationId xmlns:a16="http://schemas.microsoft.com/office/drawing/2014/main" id="{900FBBA9-7610-7041-B90A-3B3F299B1402}"/>
                </a:ext>
              </a:extLst>
            </p:cNvPr>
            <p:cNvGrpSpPr/>
            <p:nvPr/>
          </p:nvGrpSpPr>
          <p:grpSpPr>
            <a:xfrm>
              <a:off x="4435831" y="3753790"/>
              <a:ext cx="1440666" cy="1081102"/>
              <a:chOff x="628649" y="1377950"/>
              <a:chExt cx="11081535" cy="5478665"/>
            </a:xfrm>
          </p:grpSpPr>
          <p:pic>
            <p:nvPicPr>
              <p:cNvPr id="49" name="Picture 48">
                <a:extLst>
                  <a:ext uri="{FF2B5EF4-FFF2-40B4-BE49-F238E27FC236}">
                    <a16:creationId xmlns:a16="http://schemas.microsoft.com/office/drawing/2014/main" id="{1181AD3B-6F31-1948-83F9-895A81D0F2EE}"/>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28649" y="1377950"/>
                <a:ext cx="11081535" cy="5478665"/>
              </a:xfrm>
              <a:prstGeom prst="rect">
                <a:avLst/>
              </a:prstGeom>
            </p:spPr>
          </p:pic>
          <p:grpSp>
            <p:nvGrpSpPr>
              <p:cNvPr id="34" name="Group 49">
                <a:extLst>
                  <a:ext uri="{FF2B5EF4-FFF2-40B4-BE49-F238E27FC236}">
                    <a16:creationId xmlns:a16="http://schemas.microsoft.com/office/drawing/2014/main" id="{5D0277F5-C7D1-6A45-9163-ECA9B9CDDF8B}"/>
                  </a:ext>
                </a:extLst>
              </p:cNvPr>
              <p:cNvGrpSpPr/>
              <p:nvPr/>
            </p:nvGrpSpPr>
            <p:grpSpPr>
              <a:xfrm>
                <a:off x="5372100" y="1949450"/>
                <a:ext cx="4887706" cy="3536950"/>
                <a:chOff x="5372100" y="1949450"/>
                <a:chExt cx="4887706" cy="3536950"/>
              </a:xfrm>
            </p:grpSpPr>
            <p:pic>
              <p:nvPicPr>
                <p:cNvPr id="51" name="Picture 50">
                  <a:extLst>
                    <a:ext uri="{FF2B5EF4-FFF2-40B4-BE49-F238E27FC236}">
                      <a16:creationId xmlns:a16="http://schemas.microsoft.com/office/drawing/2014/main" id="{55385BEA-71B7-8E4B-9934-69AF8683C29F}"/>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5372100" y="1949450"/>
                  <a:ext cx="4887706" cy="3536950"/>
                </a:xfrm>
                <a:prstGeom prst="rect">
                  <a:avLst/>
                </a:prstGeom>
              </p:spPr>
            </p:pic>
            <p:pic>
              <p:nvPicPr>
                <p:cNvPr id="52" name="Picture 51">
                  <a:extLst>
                    <a:ext uri="{FF2B5EF4-FFF2-40B4-BE49-F238E27FC236}">
                      <a16:creationId xmlns:a16="http://schemas.microsoft.com/office/drawing/2014/main" id="{E6DA46F8-A77E-0B48-9E7F-9B72C83D685C}"/>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5693179" y="4837977"/>
                  <a:ext cx="3908021" cy="557213"/>
                </a:xfrm>
                <a:prstGeom prst="rect">
                  <a:avLst/>
                </a:prstGeom>
              </p:spPr>
            </p:pic>
          </p:grpSp>
        </p:grpSp>
        <p:grpSp>
          <p:nvGrpSpPr>
            <p:cNvPr id="35" name="Group 52">
              <a:extLst>
                <a:ext uri="{FF2B5EF4-FFF2-40B4-BE49-F238E27FC236}">
                  <a16:creationId xmlns:a16="http://schemas.microsoft.com/office/drawing/2014/main" id="{CA521C27-FF29-B048-93C9-2A6D42E75D5A}"/>
                </a:ext>
              </a:extLst>
            </p:cNvPr>
            <p:cNvGrpSpPr/>
            <p:nvPr/>
          </p:nvGrpSpPr>
          <p:grpSpPr>
            <a:xfrm>
              <a:off x="128686" y="1806291"/>
              <a:ext cx="2270503" cy="1586580"/>
              <a:chOff x="6929705" y="2617467"/>
              <a:chExt cx="2337207" cy="1633191"/>
            </a:xfrm>
          </p:grpSpPr>
          <p:grpSp>
            <p:nvGrpSpPr>
              <p:cNvPr id="50" name="Group 53">
                <a:extLst>
                  <a:ext uri="{FF2B5EF4-FFF2-40B4-BE49-F238E27FC236}">
                    <a16:creationId xmlns:a16="http://schemas.microsoft.com/office/drawing/2014/main" id="{5BFC489C-7E8B-A14B-A272-294ADEE1EFBF}"/>
                  </a:ext>
                </a:extLst>
              </p:cNvPr>
              <p:cNvGrpSpPr/>
              <p:nvPr/>
            </p:nvGrpSpPr>
            <p:grpSpPr>
              <a:xfrm>
                <a:off x="6929705" y="2617467"/>
                <a:ext cx="2337207" cy="1633191"/>
                <a:chOff x="6929705" y="2617467"/>
                <a:chExt cx="2337207" cy="1633191"/>
              </a:xfrm>
            </p:grpSpPr>
            <p:pic>
              <p:nvPicPr>
                <p:cNvPr id="56" name="Picture 34">
                  <a:extLst>
                    <a:ext uri="{FF2B5EF4-FFF2-40B4-BE49-F238E27FC236}">
                      <a16:creationId xmlns:a16="http://schemas.microsoft.com/office/drawing/2014/main" id="{C1150CEA-307D-5A4E-A84C-01CDD876E891}"/>
                    </a:ext>
                  </a:extLst>
                </p:cNvPr>
                <p:cNvPicPr>
                  <a:picLocks noChangeArrowheads="1"/>
                </p:cNvPicPr>
                <p:nvPr/>
              </p:nvPicPr>
              <p:blipFill>
                <a:blip r:embed="rId30" cstate="email">
                  <a:extLst>
                    <a:ext uri="{28A0092B-C50C-407E-A947-70E740481C1C}">
                      <a14:useLocalDpi xmlns:a14="http://schemas.microsoft.com/office/drawing/2010/main"/>
                    </a:ext>
                  </a:extLst>
                </a:blip>
                <a:srcRect/>
                <a:stretch>
                  <a:fillRect/>
                </a:stretch>
              </p:blipFill>
              <p:spPr bwMode="auto">
                <a:xfrm>
                  <a:off x="6929705" y="2617467"/>
                  <a:ext cx="2337207" cy="16331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57" name="Picture 56">
                  <a:extLst>
                    <a:ext uri="{FF2B5EF4-FFF2-40B4-BE49-F238E27FC236}">
                      <a16:creationId xmlns:a16="http://schemas.microsoft.com/office/drawing/2014/main" id="{798387D0-7C73-9649-AD51-C7E702F0A437}"/>
                    </a:ext>
                  </a:extLst>
                </p:cNvPr>
                <p:cNvPicPr>
                  <a:picLocks noChangeAspect="1"/>
                </p:cNvPicPr>
                <p:nvPr/>
              </p:nvPicPr>
              <p:blipFill>
                <a:blip r:embed="rId31"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7964065" y="2903799"/>
                  <a:ext cx="471387" cy="1082825"/>
                </a:xfrm>
                <a:prstGeom prst="rect">
                  <a:avLst/>
                </a:prstGeom>
              </p:spPr>
            </p:pic>
            <p:grpSp>
              <p:nvGrpSpPr>
                <p:cNvPr id="53" name="Group 57">
                  <a:extLst>
                    <a:ext uri="{FF2B5EF4-FFF2-40B4-BE49-F238E27FC236}">
                      <a16:creationId xmlns:a16="http://schemas.microsoft.com/office/drawing/2014/main" id="{33CAC51B-9341-7E43-8283-133C2C2C076D}"/>
                    </a:ext>
                  </a:extLst>
                </p:cNvPr>
                <p:cNvGrpSpPr/>
                <p:nvPr/>
              </p:nvGrpSpPr>
              <p:grpSpPr>
                <a:xfrm>
                  <a:off x="8500782" y="3076608"/>
                  <a:ext cx="504797" cy="805650"/>
                  <a:chOff x="3084224" y="4503266"/>
                  <a:chExt cx="1073503" cy="1713298"/>
                </a:xfrm>
              </p:grpSpPr>
              <p:pic>
                <p:nvPicPr>
                  <p:cNvPr id="63" name="Picture 62" descr="raster_layer_01.png">
                    <a:extLst>
                      <a:ext uri="{FF2B5EF4-FFF2-40B4-BE49-F238E27FC236}">
                        <a16:creationId xmlns:a16="http://schemas.microsoft.com/office/drawing/2014/main" id="{6564C700-15B9-6D4E-9C34-D7AB4660E534}"/>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3456052" y="5800639"/>
                    <a:ext cx="701675" cy="415925"/>
                  </a:xfrm>
                  <a:prstGeom prst="rect">
                    <a:avLst/>
                  </a:prstGeom>
                </p:spPr>
              </p:pic>
              <p:pic>
                <p:nvPicPr>
                  <p:cNvPr id="64" name="Picture 63" descr="raster_layer_01.png">
                    <a:extLst>
                      <a:ext uri="{FF2B5EF4-FFF2-40B4-BE49-F238E27FC236}">
                        <a16:creationId xmlns:a16="http://schemas.microsoft.com/office/drawing/2014/main" id="{B3A938A2-4070-E940-BDC7-F8A8552F6377}"/>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3242914" y="4906275"/>
                    <a:ext cx="701675" cy="415925"/>
                  </a:xfrm>
                  <a:prstGeom prst="rect">
                    <a:avLst/>
                  </a:prstGeom>
                </p:spPr>
              </p:pic>
              <p:pic>
                <p:nvPicPr>
                  <p:cNvPr id="65" name="Picture 64" descr="raster_layer_01.png">
                    <a:extLst>
                      <a:ext uri="{FF2B5EF4-FFF2-40B4-BE49-F238E27FC236}">
                        <a16:creationId xmlns:a16="http://schemas.microsoft.com/office/drawing/2014/main" id="{832546C7-501A-5E4D-B3A3-1FB11CFA79D6}"/>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3084224" y="4503266"/>
                    <a:ext cx="701675" cy="415925"/>
                  </a:xfrm>
                  <a:prstGeom prst="rect">
                    <a:avLst/>
                  </a:prstGeom>
                </p:spPr>
              </p:pic>
              <p:pic>
                <p:nvPicPr>
                  <p:cNvPr id="66" name="Picture 65" descr="raster_layer_01.png">
                    <a:extLst>
                      <a:ext uri="{FF2B5EF4-FFF2-40B4-BE49-F238E27FC236}">
                        <a16:creationId xmlns:a16="http://schemas.microsoft.com/office/drawing/2014/main" id="{CCC8FB8F-E943-C04C-AE99-F2BCB296141C}"/>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3347580" y="5344812"/>
                    <a:ext cx="701675" cy="415925"/>
                  </a:xfrm>
                  <a:prstGeom prst="rect">
                    <a:avLst/>
                  </a:prstGeom>
                </p:spPr>
              </p:pic>
            </p:grpSp>
            <p:grpSp>
              <p:nvGrpSpPr>
                <p:cNvPr id="54" name="Group 58">
                  <a:extLst>
                    <a:ext uri="{FF2B5EF4-FFF2-40B4-BE49-F238E27FC236}">
                      <a16:creationId xmlns:a16="http://schemas.microsoft.com/office/drawing/2014/main" id="{44861A6C-9CEE-7D42-95D8-1595819B788A}"/>
                    </a:ext>
                  </a:extLst>
                </p:cNvPr>
                <p:cNvGrpSpPr/>
                <p:nvPr/>
              </p:nvGrpSpPr>
              <p:grpSpPr>
                <a:xfrm>
                  <a:off x="7172425" y="3275712"/>
                  <a:ext cx="734714" cy="521293"/>
                  <a:chOff x="401363" y="4054131"/>
                  <a:chExt cx="1966966" cy="1395597"/>
                </a:xfrm>
              </p:grpSpPr>
              <p:pic>
                <p:nvPicPr>
                  <p:cNvPr id="60" name="Picture 3">
                    <a:extLst>
                      <a:ext uri="{FF2B5EF4-FFF2-40B4-BE49-F238E27FC236}">
                        <a16:creationId xmlns:a16="http://schemas.microsoft.com/office/drawing/2014/main" id="{C21C3552-E92F-EB4A-9F95-7F016E66069E}"/>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401363" y="4054131"/>
                    <a:ext cx="1662166" cy="109079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 name="Picture 3">
                    <a:extLst>
                      <a:ext uri="{FF2B5EF4-FFF2-40B4-BE49-F238E27FC236}">
                        <a16:creationId xmlns:a16="http://schemas.microsoft.com/office/drawing/2014/main" id="{2E441278-2264-DD4D-A893-347BD6A8D6A6}"/>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553763" y="4206531"/>
                    <a:ext cx="1662166" cy="109079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2" name="Picture 3">
                    <a:extLst>
                      <a:ext uri="{FF2B5EF4-FFF2-40B4-BE49-F238E27FC236}">
                        <a16:creationId xmlns:a16="http://schemas.microsoft.com/office/drawing/2014/main" id="{FE45DFEF-5B93-7946-B6B5-C081986B91CF}"/>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706163" y="4358931"/>
                    <a:ext cx="1662166" cy="109079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pic>
            <p:nvPicPr>
              <p:cNvPr id="55" name="Picture 11" descr="triserver_globe.png">
                <a:extLst>
                  <a:ext uri="{FF2B5EF4-FFF2-40B4-BE49-F238E27FC236}">
                    <a16:creationId xmlns:a16="http://schemas.microsoft.com/office/drawing/2014/main" id="{7172DECD-10C0-C242-933D-EEEB503A355C}"/>
                  </a:ext>
                </a:extLst>
              </p:cNvPr>
              <p:cNvPicPr>
                <a:picLocks noChangeAspect="1"/>
              </p:cNvPicPr>
              <p:nvPr/>
            </p:nvPicPr>
            <p:blipFill>
              <a:blip r:embed="rId34" cstate="email">
                <a:alphaModFix amt="20000"/>
                <a:extLst>
                  <a:ext uri="{28A0092B-C50C-407E-A947-70E740481C1C}">
                    <a14:useLocalDpi xmlns:a14="http://schemas.microsoft.com/office/drawing/2010/main"/>
                  </a:ext>
                </a:extLst>
              </a:blip>
              <a:srcRect/>
              <a:stretch>
                <a:fillRect/>
              </a:stretch>
            </p:blipFill>
            <p:spPr bwMode="auto">
              <a:xfrm>
                <a:off x="7663979" y="2930899"/>
                <a:ext cx="967104" cy="917327"/>
              </a:xfrm>
              <a:prstGeom prst="rect">
                <a:avLst/>
              </a:prstGeom>
              <a:noFill/>
              <a:ln w="9525">
                <a:noFill/>
                <a:miter lim="800000"/>
                <a:headEnd/>
                <a:tailEnd/>
              </a:ln>
            </p:spPr>
          </p:pic>
        </p:grpSp>
        <p:pic>
          <p:nvPicPr>
            <p:cNvPr id="71" name="Picture 46" descr="orangearrow.png">
              <a:extLst>
                <a:ext uri="{FF2B5EF4-FFF2-40B4-BE49-F238E27FC236}">
                  <a16:creationId xmlns:a16="http://schemas.microsoft.com/office/drawing/2014/main" id="{58D58C7B-CDE5-3B42-B85E-8CD3E600AC83}"/>
                </a:ext>
              </a:extLst>
            </p:cNvPr>
            <p:cNvPicPr>
              <a:picLocks noChangeAspect="1"/>
            </p:cNvPicPr>
            <p:nvPr/>
          </p:nvPicPr>
          <p:blipFill>
            <a:blip r:embed="rId35" cstate="email">
              <a:extLst>
                <a:ext uri="{28A0092B-C50C-407E-A947-70E740481C1C}">
                  <a14:useLocalDpi xmlns:a14="http://schemas.microsoft.com/office/drawing/2010/main"/>
                </a:ext>
              </a:extLst>
            </a:blip>
            <a:srcRect/>
            <a:stretch>
              <a:fillRect/>
            </a:stretch>
          </p:blipFill>
          <p:spPr bwMode="auto">
            <a:xfrm rot="2237477">
              <a:off x="1749128" y="3258549"/>
              <a:ext cx="635680" cy="336684"/>
            </a:xfrm>
            <a:prstGeom prst="rect">
              <a:avLst/>
            </a:prstGeom>
            <a:noFill/>
            <a:ln w="9525">
              <a:noFill/>
              <a:miter lim="800000"/>
              <a:headEnd/>
              <a:tailEnd/>
            </a:ln>
          </p:spPr>
        </p:pic>
        <p:sp>
          <p:nvSpPr>
            <p:cNvPr id="75" name="TextBox 74">
              <a:extLst>
                <a:ext uri="{FF2B5EF4-FFF2-40B4-BE49-F238E27FC236}">
                  <a16:creationId xmlns:a16="http://schemas.microsoft.com/office/drawing/2014/main" id="{ACC69EA4-BC60-AC43-A491-6215A7732571}"/>
                </a:ext>
              </a:extLst>
            </p:cNvPr>
            <p:cNvSpPr txBox="1"/>
            <p:nvPr/>
          </p:nvSpPr>
          <p:spPr>
            <a:xfrm>
              <a:off x="6272337" y="5520277"/>
              <a:ext cx="2108477" cy="135870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ICIMOD, DHM, FFWD, BWD, Pakistan, Mercy Corps, Practical Action, Others</a:t>
              </a:r>
            </a:p>
          </p:txBody>
        </p:sp>
        <p:sp>
          <p:nvSpPr>
            <p:cNvPr id="77" name="TextBox 76">
              <a:extLst>
                <a:ext uri="{FF2B5EF4-FFF2-40B4-BE49-F238E27FC236}">
                  <a16:creationId xmlns:a16="http://schemas.microsoft.com/office/drawing/2014/main" id="{C6C2311D-EF11-5F48-8A3A-46C2E57158D9}"/>
                </a:ext>
              </a:extLst>
            </p:cNvPr>
            <p:cNvSpPr txBox="1"/>
            <p:nvPr/>
          </p:nvSpPr>
          <p:spPr>
            <a:xfrm>
              <a:off x="346248" y="3390417"/>
              <a:ext cx="1820510" cy="598882"/>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ECWMF/</a:t>
              </a:r>
              <a:r>
                <a:rPr lang="en-US" sz="1646" dirty="0" err="1"/>
                <a:t>Glofas</a:t>
              </a:r>
              <a:r>
                <a:rPr lang="en-US" sz="1646" dirty="0"/>
                <a:t> Forecasts</a:t>
              </a:r>
            </a:p>
          </p:txBody>
        </p:sp>
        <p:sp>
          <p:nvSpPr>
            <p:cNvPr id="78" name="TextBox 77">
              <a:extLst>
                <a:ext uri="{FF2B5EF4-FFF2-40B4-BE49-F238E27FC236}">
                  <a16:creationId xmlns:a16="http://schemas.microsoft.com/office/drawing/2014/main" id="{F40A2E01-44A2-574D-B0FE-B1A48A660E1F}"/>
                </a:ext>
              </a:extLst>
            </p:cNvPr>
            <p:cNvSpPr txBox="1"/>
            <p:nvPr/>
          </p:nvSpPr>
          <p:spPr>
            <a:xfrm>
              <a:off x="2135855" y="4373485"/>
              <a:ext cx="1820511" cy="85215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Streamflow Forecast Services</a:t>
              </a:r>
            </a:p>
          </p:txBody>
        </p:sp>
      </p:grpSp>
      <p:grpSp>
        <p:nvGrpSpPr>
          <p:cNvPr id="58" name="Group 79">
            <a:extLst>
              <a:ext uri="{FF2B5EF4-FFF2-40B4-BE49-F238E27FC236}">
                <a16:creationId xmlns:a16="http://schemas.microsoft.com/office/drawing/2014/main" id="{A86DB20F-81DA-5B44-A33B-18E18FB5C24B}"/>
              </a:ext>
            </a:extLst>
          </p:cNvPr>
          <p:cNvGrpSpPr/>
          <p:nvPr/>
        </p:nvGrpSpPr>
        <p:grpSpPr>
          <a:xfrm>
            <a:off x="3145610" y="3767018"/>
            <a:ext cx="1365383" cy="1715613"/>
            <a:chOff x="2277488" y="5443641"/>
            <a:chExt cx="1820510" cy="1715613"/>
          </a:xfrm>
        </p:grpSpPr>
        <p:pic>
          <p:nvPicPr>
            <p:cNvPr id="68" name="Picture 67">
              <a:extLst>
                <a:ext uri="{FF2B5EF4-FFF2-40B4-BE49-F238E27FC236}">
                  <a16:creationId xmlns:a16="http://schemas.microsoft.com/office/drawing/2014/main" id="{6C9F4795-312A-BD4B-BDFE-3C55E41D3631}"/>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2508095" y="5443641"/>
              <a:ext cx="1474470" cy="1066239"/>
            </a:xfrm>
            <a:prstGeom prst="rect">
              <a:avLst/>
            </a:prstGeom>
          </p:spPr>
        </p:pic>
        <p:sp>
          <p:nvSpPr>
            <p:cNvPr id="79" name="TextBox 78">
              <a:extLst>
                <a:ext uri="{FF2B5EF4-FFF2-40B4-BE49-F238E27FC236}">
                  <a16:creationId xmlns:a16="http://schemas.microsoft.com/office/drawing/2014/main" id="{B7993F4F-33ED-8746-839B-F01D2DAABDDC}"/>
                </a:ext>
              </a:extLst>
            </p:cNvPr>
            <p:cNvSpPr txBox="1"/>
            <p:nvPr/>
          </p:nvSpPr>
          <p:spPr>
            <a:xfrm>
              <a:off x="2277488" y="6560372"/>
              <a:ext cx="1820510" cy="598882"/>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Flood Impact Mapping</a:t>
              </a:r>
            </a:p>
          </p:txBody>
        </p:sp>
      </p:grpSp>
      <p:grpSp>
        <p:nvGrpSpPr>
          <p:cNvPr id="59" name="Group 81">
            <a:extLst>
              <a:ext uri="{FF2B5EF4-FFF2-40B4-BE49-F238E27FC236}">
                <a16:creationId xmlns:a16="http://schemas.microsoft.com/office/drawing/2014/main" id="{8EBECE43-A172-7046-A345-BED8FE92759A}"/>
              </a:ext>
            </a:extLst>
          </p:cNvPr>
          <p:cNvGrpSpPr/>
          <p:nvPr/>
        </p:nvGrpSpPr>
        <p:grpSpPr>
          <a:xfrm>
            <a:off x="3110680" y="3742745"/>
            <a:ext cx="1511765" cy="1854512"/>
            <a:chOff x="6094635" y="1286886"/>
            <a:chExt cx="2015687" cy="1854512"/>
          </a:xfrm>
        </p:grpSpPr>
        <p:pic>
          <p:nvPicPr>
            <p:cNvPr id="67" name="Picture 66">
              <a:extLst>
                <a:ext uri="{FF2B5EF4-FFF2-40B4-BE49-F238E27FC236}">
                  <a16:creationId xmlns:a16="http://schemas.microsoft.com/office/drawing/2014/main" id="{A78C3E0E-CF4C-9640-9BEC-07DDAA6E2F6C}"/>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379138" y="1286886"/>
              <a:ext cx="1540932" cy="1043784"/>
            </a:xfrm>
            <a:prstGeom prst="rect">
              <a:avLst/>
            </a:prstGeom>
          </p:spPr>
        </p:pic>
        <p:sp>
          <p:nvSpPr>
            <p:cNvPr id="81" name="TextBox 80">
              <a:extLst>
                <a:ext uri="{FF2B5EF4-FFF2-40B4-BE49-F238E27FC236}">
                  <a16:creationId xmlns:a16="http://schemas.microsoft.com/office/drawing/2014/main" id="{C8817708-0588-2F47-A12A-77B660635429}"/>
                </a:ext>
              </a:extLst>
            </p:cNvPr>
            <p:cNvSpPr txBox="1"/>
            <p:nvPr/>
          </p:nvSpPr>
          <p:spPr>
            <a:xfrm>
              <a:off x="6094635" y="2289242"/>
              <a:ext cx="2015687" cy="85215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Bangladesh Transboundary Flows</a:t>
              </a:r>
            </a:p>
          </p:txBody>
        </p:sp>
      </p:grpSp>
      <p:grpSp>
        <p:nvGrpSpPr>
          <p:cNvPr id="69" name="Group 90">
            <a:extLst>
              <a:ext uri="{FF2B5EF4-FFF2-40B4-BE49-F238E27FC236}">
                <a16:creationId xmlns:a16="http://schemas.microsoft.com/office/drawing/2014/main" id="{9DDA20DA-A4E4-AC4E-A365-12064E11FC06}"/>
              </a:ext>
            </a:extLst>
          </p:cNvPr>
          <p:cNvGrpSpPr/>
          <p:nvPr/>
        </p:nvGrpSpPr>
        <p:grpSpPr>
          <a:xfrm>
            <a:off x="3252124" y="3767260"/>
            <a:ext cx="1254272" cy="1903852"/>
            <a:chOff x="4331792" y="3706900"/>
            <a:chExt cx="1672362" cy="1903852"/>
          </a:xfrm>
        </p:grpSpPr>
        <p:grpSp>
          <p:nvGrpSpPr>
            <p:cNvPr id="70" name="Group 84">
              <a:extLst>
                <a:ext uri="{FF2B5EF4-FFF2-40B4-BE49-F238E27FC236}">
                  <a16:creationId xmlns:a16="http://schemas.microsoft.com/office/drawing/2014/main" id="{3419BC5F-8251-CC4D-B56B-D47C87165F82}"/>
                </a:ext>
              </a:extLst>
            </p:cNvPr>
            <p:cNvGrpSpPr/>
            <p:nvPr/>
          </p:nvGrpSpPr>
          <p:grpSpPr>
            <a:xfrm>
              <a:off x="4426079" y="3706900"/>
              <a:ext cx="1541893" cy="1149147"/>
              <a:chOff x="249659" y="3601823"/>
              <a:chExt cx="1926319" cy="1435653"/>
            </a:xfrm>
          </p:grpSpPr>
          <p:pic>
            <p:nvPicPr>
              <p:cNvPr id="86" name="Picture 85" descr="screenshot_01.png">
                <a:extLst>
                  <a:ext uri="{FF2B5EF4-FFF2-40B4-BE49-F238E27FC236}">
                    <a16:creationId xmlns:a16="http://schemas.microsoft.com/office/drawing/2014/main" id="{BDA152C7-8F3A-514E-A03E-149243B831FA}"/>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249659" y="3601823"/>
                <a:ext cx="1926319" cy="1435653"/>
              </a:xfrm>
              <a:prstGeom prst="rect">
                <a:avLst/>
              </a:prstGeom>
            </p:spPr>
          </p:pic>
          <p:sp>
            <p:nvSpPr>
              <p:cNvPr id="87" name="Rectangle 86">
                <a:extLst>
                  <a:ext uri="{FF2B5EF4-FFF2-40B4-BE49-F238E27FC236}">
                    <a16:creationId xmlns:a16="http://schemas.microsoft.com/office/drawing/2014/main" id="{B0B74DF5-521A-C241-A991-C16974815CCA}"/>
                  </a:ext>
                </a:extLst>
              </p:cNvPr>
              <p:cNvSpPr/>
              <p:nvPr/>
            </p:nvSpPr>
            <p:spPr>
              <a:xfrm>
                <a:off x="645807" y="3949858"/>
                <a:ext cx="1387548" cy="952418"/>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8" name="Picture 87" descr="timeseriesviewer.jpg">
                <a:extLst>
                  <a:ext uri="{FF2B5EF4-FFF2-40B4-BE49-F238E27FC236}">
                    <a16:creationId xmlns:a16="http://schemas.microsoft.com/office/drawing/2014/main" id="{4A180196-0A27-1048-A66F-B05C5A0E7447}"/>
                  </a:ext>
                </a:extLst>
              </p:cNvPr>
              <p:cNvPicPr>
                <a:picLocks noChangeAspect="1"/>
              </p:cNvPicPr>
              <p:nvPr/>
            </p:nvPicPr>
            <p:blipFill>
              <a:blip r:embed="rId39" cstate="email">
                <a:extLst>
                  <a:ext uri="{28A0092B-C50C-407E-A947-70E740481C1C}">
                    <a14:useLocalDpi xmlns:a14="http://schemas.microsoft.com/office/drawing/2010/main"/>
                  </a:ext>
                </a:extLst>
              </a:blip>
              <a:stretch>
                <a:fillRect/>
              </a:stretch>
            </p:blipFill>
            <p:spPr>
              <a:xfrm>
                <a:off x="953496" y="4044365"/>
                <a:ext cx="798578" cy="776518"/>
              </a:xfrm>
              <a:prstGeom prst="rect">
                <a:avLst/>
              </a:prstGeom>
            </p:spPr>
          </p:pic>
          <p:pic>
            <p:nvPicPr>
              <p:cNvPr id="89" name="Picture 88">
                <a:extLst>
                  <a:ext uri="{FF2B5EF4-FFF2-40B4-BE49-F238E27FC236}">
                    <a16:creationId xmlns:a16="http://schemas.microsoft.com/office/drawing/2014/main" id="{6BB0FB64-AFF2-5049-ABE5-E6219C603752}"/>
                  </a:ext>
                </a:extLst>
              </p:cNvPr>
              <p:cNvPicPr>
                <a:picLocks noChangeAspect="1"/>
              </p:cNvPicPr>
              <p:nvPr/>
            </p:nvPicPr>
            <p:blipFill>
              <a:blip r:embed="rId40" cstate="email">
                <a:extLst>
                  <a:ext uri="{28A0092B-C50C-407E-A947-70E740481C1C}">
                    <a14:useLocalDpi xmlns:a14="http://schemas.microsoft.com/office/drawing/2010/main"/>
                  </a:ext>
                </a:extLst>
              </a:blip>
              <a:stretch>
                <a:fillRect/>
              </a:stretch>
            </p:blipFill>
            <p:spPr>
              <a:xfrm>
                <a:off x="403202" y="3744107"/>
                <a:ext cx="1629583" cy="194908"/>
              </a:xfrm>
              <a:prstGeom prst="rect">
                <a:avLst/>
              </a:prstGeom>
            </p:spPr>
          </p:pic>
        </p:grpSp>
        <p:sp>
          <p:nvSpPr>
            <p:cNvPr id="90" name="TextBox 89">
              <a:extLst>
                <a:ext uri="{FF2B5EF4-FFF2-40B4-BE49-F238E27FC236}">
                  <a16:creationId xmlns:a16="http://schemas.microsoft.com/office/drawing/2014/main" id="{9826D535-4D7F-374D-A363-66D3A220CCC8}"/>
                </a:ext>
              </a:extLst>
            </p:cNvPr>
            <p:cNvSpPr txBox="1"/>
            <p:nvPr/>
          </p:nvSpPr>
          <p:spPr>
            <a:xfrm>
              <a:off x="4331792" y="4758596"/>
              <a:ext cx="1672362" cy="85215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46" dirty="0"/>
                <a:t>Your Custom Web App</a:t>
              </a:r>
            </a:p>
          </p:txBody>
        </p:sp>
      </p:grpSp>
    </p:spTree>
    <p:extLst>
      <p:ext uri="{BB962C8B-B14F-4D97-AF65-F5344CB8AC3E}">
        <p14:creationId xmlns:p14="http://schemas.microsoft.com/office/powerpoint/2010/main" val="201215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dissolve">
                                      <p:cBhvr>
                                        <p:cTn id="13" dur="500"/>
                                        <p:tgtEl>
                                          <p:spTgt spid="7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grpId="1" nodeType="clickEffect">
                                  <p:stCondLst>
                                    <p:cond delay="0"/>
                                  </p:stCondLst>
                                  <p:childTnLst>
                                    <p:animEffect transition="out" filter="dissolve">
                                      <p:cBhvr>
                                        <p:cTn id="17" dur="500"/>
                                        <p:tgtEl>
                                          <p:spTgt spid="74"/>
                                        </p:tgtEl>
                                      </p:cBhvr>
                                    </p:animEffect>
                                    <p:set>
                                      <p:cBhvr>
                                        <p:cTn id="18" dur="1" fill="hold">
                                          <p:stCondLst>
                                            <p:cond delay="499"/>
                                          </p:stCondLst>
                                        </p:cTn>
                                        <p:tgtEl>
                                          <p:spTgt spid="74"/>
                                        </p:tgtEl>
                                        <p:attrNameLst>
                                          <p:attrName>style.visibility</p:attrName>
                                        </p:attrNameLst>
                                      </p:cBhvr>
                                      <p:to>
                                        <p:strVal val="hidden"/>
                                      </p:to>
                                    </p:set>
                                  </p:childTnLst>
                                </p:cTn>
                              </p:par>
                              <p:par>
                                <p:cTn id="19" presetID="9" presetClass="entr" presetSubtype="0"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dissolve">
                                      <p:cBhvr>
                                        <p:cTn id="21" dur="500"/>
                                        <p:tgtEl>
                                          <p:spTgt spid="5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xit" presetSubtype="0" fill="hold" nodeType="clickEffect">
                                  <p:stCondLst>
                                    <p:cond delay="0"/>
                                  </p:stCondLst>
                                  <p:childTnLst>
                                    <p:animEffect transition="out" filter="dissolve">
                                      <p:cBhvr>
                                        <p:cTn id="25" dur="500"/>
                                        <p:tgtEl>
                                          <p:spTgt spid="58"/>
                                        </p:tgtEl>
                                      </p:cBhvr>
                                    </p:animEffect>
                                    <p:set>
                                      <p:cBhvr>
                                        <p:cTn id="26" dur="1" fill="hold">
                                          <p:stCondLst>
                                            <p:cond delay="499"/>
                                          </p:stCondLst>
                                        </p:cTn>
                                        <p:tgtEl>
                                          <p:spTgt spid="58"/>
                                        </p:tgtEl>
                                        <p:attrNameLst>
                                          <p:attrName>style.visibility</p:attrName>
                                        </p:attrNameLst>
                                      </p:cBhvr>
                                      <p:to>
                                        <p:strVal val="hidden"/>
                                      </p:to>
                                    </p:set>
                                  </p:childTnLst>
                                </p:cTn>
                              </p:par>
                              <p:par>
                                <p:cTn id="27" presetID="9" presetClass="entr" presetSubtype="0" fill="hold" nodeType="with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dissolve">
                                      <p:cBhvr>
                                        <p:cTn id="29" dur="500"/>
                                        <p:tgtEl>
                                          <p:spTgt spid="5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nodeType="clickEffect">
                                  <p:stCondLst>
                                    <p:cond delay="0"/>
                                  </p:stCondLst>
                                  <p:childTnLst>
                                    <p:animEffect transition="out" filter="dissolve">
                                      <p:cBhvr>
                                        <p:cTn id="33" dur="500"/>
                                        <p:tgtEl>
                                          <p:spTgt spid="59"/>
                                        </p:tgtEl>
                                      </p:cBhvr>
                                    </p:animEffect>
                                    <p:set>
                                      <p:cBhvr>
                                        <p:cTn id="34" dur="1" fill="hold">
                                          <p:stCondLst>
                                            <p:cond delay="499"/>
                                          </p:stCondLst>
                                        </p:cTn>
                                        <p:tgtEl>
                                          <p:spTgt spid="59"/>
                                        </p:tgtEl>
                                        <p:attrNameLst>
                                          <p:attrName>style.visibility</p:attrName>
                                        </p:attrNameLst>
                                      </p:cBhvr>
                                      <p:to>
                                        <p:strVal val="hidden"/>
                                      </p:to>
                                    </p:set>
                                  </p:childTnLst>
                                </p:cTn>
                              </p:par>
                              <p:par>
                                <p:cTn id="35" presetID="9" presetClass="entr" presetSubtype="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dissolve">
                                      <p:cBhvr>
                                        <p:cTn id="3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4"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mo2016_powerpoint_standard_v2.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7" name="Title 1"/>
          <p:cNvSpPr txBox="1">
            <a:spLocks/>
          </p:cNvSpPr>
          <p:nvPr/>
        </p:nvSpPr>
        <p:spPr>
          <a:xfrm>
            <a:off x="457200" y="2002370"/>
            <a:ext cx="8229600" cy="184081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dirty="0">
                <a:solidFill>
                  <a:srgbClr val="000090"/>
                </a:solidFill>
              </a:rPr>
              <a:t>Thank you for your attention</a:t>
            </a:r>
          </a:p>
        </p:txBody>
      </p:sp>
    </p:spTree>
    <p:extLst>
      <p:ext uri="{BB962C8B-B14F-4D97-AF65-F5344CB8AC3E}">
        <p14:creationId xmlns:p14="http://schemas.microsoft.com/office/powerpoint/2010/main" val="380228457"/>
      </p:ext>
    </p:extLst>
  </p:cSld>
  <p:clrMapOvr>
    <a:masterClrMapping/>
  </p:clrMapOvr>
</p:sld>
</file>

<file path=ppt/theme/theme1.xml><?xml version="1.0" encoding="utf-8"?>
<a:theme xmlns:a="http://schemas.openxmlformats.org/drawingml/2006/main" name="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WMO_WHITE_Powerpoint_en_fr</Template>
  <TotalTime>604</TotalTime>
  <Words>2419</Words>
  <Application>Microsoft Macintosh PowerPoint</Application>
  <PresentationFormat>On-screen Show (4:3)</PresentationFormat>
  <Paragraphs>415</Paragraphs>
  <Slides>71</Slides>
  <Notes>11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85" baseType="lpstr">
      <vt:lpstr>MS PGothic</vt:lpstr>
      <vt:lpstr>MS PGothic</vt:lpstr>
      <vt:lpstr>Arial</vt:lpstr>
      <vt:lpstr>Avenir LT Std 55 Roman</vt:lpstr>
      <vt:lpstr>Avenir LT Std 85 Heavy</vt:lpstr>
      <vt:lpstr>Bradley Hand ITC</vt:lpstr>
      <vt:lpstr>Calibri</vt:lpstr>
      <vt:lpstr>Corbel</vt:lpstr>
      <vt:lpstr>Mangal</vt:lpstr>
      <vt:lpstr>Tahoma</vt:lpstr>
      <vt:lpstr>Times</vt:lpstr>
      <vt:lpstr>Trebuchet MS</vt:lpstr>
      <vt:lpstr>WMO_WHITE_Powerpoint_en_fr</vt:lpstr>
      <vt:lpstr>Immagine bitmap</vt:lpstr>
      <vt:lpstr>PowerPoint Presentation</vt:lpstr>
      <vt:lpstr>WMO INTEGRATED GLOBAL OBSERVING SYSTEM (WIGOS) and WMO HYDROLOGICAL OBSERVING SYSTEM (WHOS)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WIGOS Metadata Standard - Approved at Cg-17 June 2015</vt:lpstr>
      <vt:lpstr>PowerPoint Presentation</vt:lpstr>
      <vt:lpstr>STANDARDIZED DATA EXCHANGE IN HYDROLOGY</vt:lpstr>
      <vt:lpstr>WHOS PLATA</vt:lpstr>
      <vt:lpstr>PowerPoint Presentation</vt:lpstr>
      <vt:lpstr>PowerPoint Presentation</vt:lpstr>
      <vt:lpstr>PowerPoint Presentation</vt:lpstr>
      <vt:lpstr>PowerPoint Presentation</vt:lpstr>
      <vt:lpstr>DEVELOPMENT OF WHOS PLATA</vt:lpstr>
      <vt:lpstr>System of Systems: Supply-chain model</vt:lpstr>
      <vt:lpstr>Supply-chain SECO</vt:lpstr>
      <vt:lpstr>Multi-Organization Effort</vt:lpstr>
      <vt:lpstr>Ecosystem: Supply-chain model </vt:lpstr>
      <vt:lpstr>System of Systems  </vt:lpstr>
      <vt:lpstr>WHOS Plata System</vt:lpstr>
      <vt:lpstr>WHOS Plata – Main Functional Requirements</vt:lpstr>
      <vt:lpstr>WHOS Plata – Main Non-Functional Requirements</vt:lpstr>
      <vt:lpstr>WHOS Plata System Overview</vt:lpstr>
      <vt:lpstr>Brokering a Data Node</vt:lpstr>
      <vt:lpstr>Connecting an Application</vt:lpstr>
      <vt:lpstr>BROKER OF WHOS PLATA</vt:lpstr>
      <vt:lpstr>Plata Broker Configuration at INMET</vt:lpstr>
      <vt:lpstr>PowerPoint Presentation</vt:lpstr>
      <vt:lpstr>CLIENTS OF WHOS PLATA</vt:lpstr>
      <vt:lpstr>PowerPoint Presentation</vt:lpstr>
      <vt:lpstr>HydroExplorer</vt:lpstr>
      <vt:lpstr>Brokered OGC network client</vt:lpstr>
      <vt:lpstr>Tethys GRACE App</vt:lpstr>
      <vt:lpstr>Streamflow Prediction App</vt:lpstr>
      <vt:lpstr>PORTAL OF WHOS PLATA</vt:lpstr>
      <vt:lpstr>PowerPoint Presentation</vt:lpstr>
      <vt:lpstr>Stakeholders – They Make the Decisions</vt:lpstr>
      <vt:lpstr>PowerPoint Presentation</vt:lpstr>
    </vt:vector>
  </TitlesOfParts>
  <Company>World Meteorological Organization</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Thomas</dc:creator>
  <cp:lastModifiedBy>Tony Boston</cp:lastModifiedBy>
  <cp:revision>142</cp:revision>
  <dcterms:created xsi:type="dcterms:W3CDTF">2016-08-17T13:13:24Z</dcterms:created>
  <dcterms:modified xsi:type="dcterms:W3CDTF">2018-09-17T13:27:19Z</dcterms:modified>
</cp:coreProperties>
</file>