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4" r:id="rId1"/>
    <p:sldMasterId id="2147483823" r:id="rId2"/>
  </p:sldMasterIdLst>
  <p:notesMasterIdLst>
    <p:notesMasterId r:id="rId44"/>
  </p:notesMasterIdLst>
  <p:handoutMasterIdLst>
    <p:handoutMasterId r:id="rId45"/>
  </p:handoutMasterIdLst>
  <p:sldIdLst>
    <p:sldId id="256" r:id="rId3"/>
    <p:sldId id="392" r:id="rId4"/>
    <p:sldId id="397" r:id="rId5"/>
    <p:sldId id="362" r:id="rId6"/>
    <p:sldId id="366" r:id="rId7"/>
    <p:sldId id="365" r:id="rId8"/>
    <p:sldId id="398" r:id="rId9"/>
    <p:sldId id="307" r:id="rId10"/>
    <p:sldId id="308" r:id="rId11"/>
    <p:sldId id="306" r:id="rId12"/>
    <p:sldId id="399" r:id="rId13"/>
    <p:sldId id="378" r:id="rId14"/>
    <p:sldId id="367" r:id="rId15"/>
    <p:sldId id="400" r:id="rId16"/>
    <p:sldId id="382" r:id="rId17"/>
    <p:sldId id="368" r:id="rId18"/>
    <p:sldId id="375" r:id="rId19"/>
    <p:sldId id="376" r:id="rId20"/>
    <p:sldId id="379" r:id="rId21"/>
    <p:sldId id="401" r:id="rId22"/>
    <p:sldId id="387" r:id="rId23"/>
    <p:sldId id="411" r:id="rId24"/>
    <p:sldId id="412" r:id="rId25"/>
    <p:sldId id="413" r:id="rId26"/>
    <p:sldId id="404" r:id="rId27"/>
    <p:sldId id="406" r:id="rId28"/>
    <p:sldId id="386" r:id="rId29"/>
    <p:sldId id="373" r:id="rId30"/>
    <p:sldId id="403" r:id="rId31"/>
    <p:sldId id="350" r:id="rId32"/>
    <p:sldId id="416" r:id="rId33"/>
    <p:sldId id="351" r:id="rId34"/>
    <p:sldId id="300" r:id="rId35"/>
    <p:sldId id="353" r:id="rId36"/>
    <p:sldId id="417" r:id="rId37"/>
    <p:sldId id="415" r:id="rId38"/>
    <p:sldId id="414" r:id="rId39"/>
    <p:sldId id="419" r:id="rId40"/>
    <p:sldId id="418" r:id="rId41"/>
    <p:sldId id="325" r:id="rId42"/>
    <p:sldId id="407" r:id="rId43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1000" b="1" kern="1200">
        <a:solidFill>
          <a:schemeClr val="tx1"/>
        </a:solidFill>
        <a:latin typeface="CG Times" charset="0"/>
        <a:ea typeface="MS PGothic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333FF"/>
    <a:srgbClr val="0000FF"/>
    <a:srgbClr val="0000CC"/>
    <a:srgbClr val="C3DBF9"/>
    <a:srgbClr val="FFCCFF"/>
    <a:srgbClr val="CC9900"/>
    <a:srgbClr val="092E5C"/>
    <a:srgbClr val="00CCFF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84" autoAdjust="0"/>
    <p:restoredTop sz="93622" autoAdjust="0"/>
  </p:normalViewPr>
  <p:slideViewPr>
    <p:cSldViewPr showGuides="1">
      <p:cViewPr>
        <p:scale>
          <a:sx n="100" d="100"/>
          <a:sy n="100" d="100"/>
        </p:scale>
        <p:origin x="-98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147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E172AEAA-A912-41BA-91FC-FF7763BC90F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9950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339" y="1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60937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565" y="4716250"/>
            <a:ext cx="4984545" cy="4466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defTabSz="920750" eaLnBrk="0" hangingPunct="0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339" y="9432498"/>
            <a:ext cx="2946337" cy="495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135" tIns="46067" rIns="92135" bIns="46067" numCol="1" anchor="b" anchorCtr="0" compatLnSpc="1">
            <a:prstTxWarp prst="textNoShape">
              <a:avLst/>
            </a:prstTxWarp>
          </a:bodyPr>
          <a:lstStyle>
            <a:lvl1pPr algn="r" defTabSz="920750" eaLnBrk="0" hangingPunct="0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0C123297-CA6C-48F9-94E3-71CDB3C52E8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273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MS PGothic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534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u</a:t>
            </a:r>
            <a:r>
              <a:rPr lang="en-GB" dirty="0" smtClean="0"/>
              <a:t>niverse of application-specific IT infrastructures,</a:t>
            </a:r>
            <a:r>
              <a:rPr lang="en-GB" baseline="0" dirty="0" smtClean="0"/>
              <a:t> </a:t>
            </a:r>
            <a:r>
              <a:rPr lang="en-GB" dirty="0" smtClean="0"/>
              <a:t>either as stand-alone systems</a:t>
            </a:r>
            <a:r>
              <a:rPr lang="en-GB" baseline="0" dirty="0" smtClean="0"/>
              <a:t> </a:t>
            </a:r>
            <a:r>
              <a:rPr lang="en-GB" dirty="0" smtClean="0"/>
              <a:t>or information networks,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intended to </a:t>
            </a:r>
            <a:r>
              <a:rPr lang="en-GB" dirty="0" smtClean="0"/>
              <a:t>provide data and information for exchange in the Internet, and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on the other side a</a:t>
            </a:r>
            <a:r>
              <a:rPr lang="en-GB" baseline="0" dirty="0" smtClean="0"/>
              <a:t> wide range of search engines are established to discover these information</a:t>
            </a: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Over the last 10</a:t>
            </a:r>
            <a:r>
              <a:rPr lang="en-GB" baseline="0" dirty="0" smtClean="0"/>
              <a:t> </a:t>
            </a:r>
            <a:r>
              <a:rPr lang="en-GB" baseline="0" dirty="0" err="1" smtClean="0"/>
              <a:t>yrs</a:t>
            </a:r>
            <a:r>
              <a:rPr lang="en-GB" baseline="0" dirty="0" smtClean="0"/>
              <a:t> the use of </a:t>
            </a:r>
            <a:r>
              <a:rPr lang="en-GB" dirty="0" smtClean="0"/>
              <a:t>standard web services such as WCS, WMS, WFS, SOS or CSW</a:t>
            </a:r>
            <a:r>
              <a:rPr lang="en-GB" baseline="0" dirty="0" smtClean="0"/>
              <a:t> is widely accepted Community or domain-specific profiles are under development to cover specific needs such the Hydro Profile of SOS2.0 based on the WaterML2 implementation of the O&amp;M model to make information discoverable (as capabilities) …</a:t>
            </a: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… and in turn to provide access to map, features, observations, records, etc. via Internet portals, ...</a:t>
            </a: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“The user application makes a request for data that is received by the supplier application. In response, the supplier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application delivers a resulting dataset. …”  (ISO19109:2005, p8)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“… Both the request and the resulting dataset are defined according to a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common application schema. The supplier application is responsible for transforming the data in system A into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the data in the exchanged dataset. After receipt, the user application is responsible for transforming the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exchanged data into data in system B. Data interchange by transaction is provided by geospatial services as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defined in ISO 19119. In particular, feature access services are defined in Geographic model/information</a:t>
            </a:r>
          </a:p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management services.” (ISO19109:2005, p8)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u="none" strike="noStrike" kern="1200" baseline="0" dirty="0" smtClean="0">
                <a:solidFill>
                  <a:schemeClr val="tx1"/>
                </a:solidFill>
                <a:latin typeface="Times New Roman" charset="0"/>
                <a:ea typeface="MS PGothic" pitchFamily="34" charset="-128"/>
                <a:cs typeface="MS PGothic" charset="0"/>
              </a:rPr>
              <a:t>create and document hydrology–specific application schemas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Standard Web services are widely accepted to </a:t>
            </a:r>
            <a:r>
              <a:rPr lang="en-GB" dirty="0" smtClean="0"/>
              <a:t>link a</a:t>
            </a:r>
            <a:r>
              <a:rPr lang="en-GB" baseline="0" dirty="0" smtClean="0"/>
              <a:t> </a:t>
            </a:r>
            <a:r>
              <a:rPr lang="en-GB" dirty="0" smtClean="0"/>
              <a:t>provider’s app</a:t>
            </a:r>
            <a:r>
              <a:rPr lang="en-GB" baseline="0" dirty="0" smtClean="0"/>
              <a:t> </a:t>
            </a:r>
            <a:r>
              <a:rPr lang="en-GB" dirty="0" smtClean="0"/>
              <a:t>system </a:t>
            </a:r>
            <a:r>
              <a:rPr lang="en-GB" baseline="0" dirty="0" smtClean="0"/>
              <a:t>(in terms of </a:t>
            </a:r>
            <a:r>
              <a:rPr lang="en-GB" dirty="0" smtClean="0"/>
              <a:t>understanding the request</a:t>
            </a:r>
            <a:r>
              <a:rPr lang="en-GB" baseline="0" dirty="0" smtClean="0"/>
              <a:t> received</a:t>
            </a:r>
            <a:r>
              <a:rPr lang="en-GB" dirty="0" smtClean="0"/>
              <a:t>)</a:t>
            </a:r>
            <a:r>
              <a:rPr lang="en-GB" baseline="0" dirty="0" smtClean="0"/>
              <a:t> </a:t>
            </a:r>
            <a:r>
              <a:rPr lang="en-GB" dirty="0" smtClean="0"/>
              <a:t>and</a:t>
            </a:r>
            <a:r>
              <a:rPr lang="en-GB" baseline="0" dirty="0" smtClean="0"/>
              <a:t> a user’s app system (in terms of understanding the response) </a:t>
            </a:r>
            <a:r>
              <a:rPr lang="en-GB" dirty="0" smtClean="0"/>
              <a:t>while maintaining both sides technically independent</a:t>
            </a:r>
            <a:r>
              <a:rPr lang="en-GB" baseline="0" dirty="0" smtClean="0"/>
              <a:t> from the other using standard interfaces for request and response.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While </a:t>
            </a:r>
            <a:r>
              <a:rPr lang="en-GB" dirty="0" smtClean="0"/>
              <a:t>technical interoperability between Web services (understanding the structure of request/response) will </a:t>
            </a:r>
            <a:r>
              <a:rPr lang="en-GB" baseline="0" dirty="0" smtClean="0"/>
              <a:t>be</a:t>
            </a:r>
            <a:r>
              <a:rPr lang="en-GB" dirty="0" smtClean="0"/>
              <a:t> ensured by using standard</a:t>
            </a:r>
            <a:r>
              <a:rPr lang="en-GB" baseline="0" dirty="0" smtClean="0"/>
              <a:t> services, the semantic interoperability (i.e. understanding the content and meaning of the request/response), usually requires human interaction to capture the meaning, to align and share overlapping concepts by their meaning.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In a community wherein common semantics are shared, e.g. the community of WMO Member countries, consensus on concepts is usually based on agreed definitions documented in vocabularies/glossaries/ontologies etc., provided these exist.  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With respect to cross-domain and interdisciplinary applications, application-specific concepts representing one aspect of a shared logical concept may reference the overarching concept. For example, a drainage basin and as well a </a:t>
            </a:r>
            <a:r>
              <a:rPr lang="en-GB" baseline="0" dirty="0" err="1" smtClean="0"/>
              <a:t>groundwaterbasin</a:t>
            </a:r>
            <a:r>
              <a:rPr lang="en-GB" baseline="0" dirty="0" smtClean="0"/>
              <a:t> refer to the overarching concept of a physiographic unit wherein all water (surface and groundwater) is channelled to a common outlet. Semantic interoperability may be established by mapping application-specific representations to the multiple represented concept …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baseline="0" dirty="0" smtClean="0"/>
              <a:t>With respect to cross-domain and interdisciplinary applications, application-specific concepts representing an aspect of a shared logical concept may be reference the overarching concept. For example, a drainage basin and as well a </a:t>
            </a:r>
            <a:r>
              <a:rPr lang="en-GB" baseline="0" dirty="0" err="1" smtClean="0"/>
              <a:t>groundwaterbasin</a:t>
            </a:r>
            <a:r>
              <a:rPr lang="en-GB" baseline="0" dirty="0" smtClean="0"/>
              <a:t> refer to the overarching concept of a physiographic unit wherein all water (surface and groundwater) is channelled to a common outlet. Semantic interoperability may be established by mapping application-specific representations to the multiple represented concept, … such as those defined within the WMO/OGC HY_Features common hydrologic feature model.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baseline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8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dirty="0" smtClean="0"/>
              <a:t>… </a:t>
            </a:r>
            <a:r>
              <a:rPr lang="en-GB" baseline="0" dirty="0" smtClean="0"/>
              <a:t>such as those defined within the WMO/OGC HY_Features common hydrologic feature model.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312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Datasets and data product created by the GRDC for global exchange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3128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Datasets and data product created by the GRDC for global exchange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312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particularly</a:t>
            </a:r>
            <a:r>
              <a:rPr lang="en-GB" baseline="0" dirty="0" smtClean="0"/>
              <a:t> representing a </a:t>
            </a:r>
            <a:r>
              <a:rPr lang="en-GB" baseline="0" dirty="0" err="1" smtClean="0"/>
              <a:t>HY_Basin</a:t>
            </a:r>
            <a:r>
              <a:rPr lang="en-GB" baseline="0" dirty="0" smtClean="0"/>
              <a:t>, the hydrologic unit wherein …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312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… context dependent, i.e. depending on organizational</a:t>
            </a:r>
            <a:r>
              <a:rPr lang="en-GB" baseline="0" dirty="0" smtClean="0"/>
              <a:t> goals and structures, e.g. </a:t>
            </a:r>
            <a:r>
              <a:rPr lang="en-GB" dirty="0" smtClean="0"/>
              <a:t> the basin identified as </a:t>
            </a:r>
            <a:r>
              <a:rPr lang="en-GB" baseline="0" dirty="0" smtClean="0"/>
              <a:t>WMO_BB 159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312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…</a:t>
            </a:r>
            <a:r>
              <a:rPr lang="en-GB" baseline="0" dirty="0" smtClean="0"/>
              <a:t> or representing the higher-level reporting or management region, the containing HY_Catchment</a:t>
            </a: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52312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70057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07451" eaLnBrk="0" fontAlgn="base" hangingPunct="0">
              <a:spcBef>
                <a:spcPct val="30000"/>
              </a:spcBef>
              <a:spcAft>
                <a:spcPct val="0"/>
              </a:spcAft>
              <a:defRPr/>
            </a:pPr>
            <a:endParaRPr lang="en-GB" sz="2000" dirty="0">
              <a:solidFill>
                <a:srgbClr val="092E5C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36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51014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7CB4F-95A1-D04C-BDAD-A36BCB04A36A}" type="slidenum">
              <a:rPr lang="en-US" smtClean="0">
                <a:solidFill>
                  <a:prstClr val="black"/>
                </a:solidFill>
              </a:rPr>
              <a:pPr/>
              <a:t>37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3586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7CB4F-95A1-D04C-BDAD-A36BCB04A36A}" type="slidenum">
              <a:rPr lang="en-US" smtClean="0">
                <a:solidFill>
                  <a:prstClr val="black"/>
                </a:solidFill>
              </a:rPr>
              <a:pPr/>
              <a:t>38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35865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57CB4F-95A1-D04C-BDAD-A36BCB04A36A}" type="slidenum">
              <a:rPr lang="en-US" smtClean="0">
                <a:solidFill>
                  <a:prstClr val="black"/>
                </a:solidFill>
              </a:rPr>
              <a:pPr/>
              <a:t>39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3586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C123297-CA6C-48F9-94E3-71CDB3C52E89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254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pic>
        <p:nvPicPr>
          <p:cNvPr id="7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1341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71386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xfrm>
            <a:off x="2667000" y="6553200"/>
            <a:ext cx="4495800" cy="228600"/>
          </a:xfrm>
          <a:ln/>
        </p:spPr>
        <p:txBody>
          <a:bodyPr/>
          <a:lstStyle>
            <a:lvl1pPr>
              <a:defRPr sz="900"/>
            </a:lvl1pPr>
          </a:lstStyle>
          <a:p>
            <a:r>
              <a:rPr lang="en-GB" altLang="en-US" kern="0" smtClean="0">
                <a:cs typeface="Arial" pitchFamily="34" charset="0"/>
              </a:rPr>
              <a:t>5th, Workshop of OGC Hydro DWG, New York, 11-15 Aug 2014</a:t>
            </a:r>
            <a:endParaRPr lang="en-US" altLang="en-US" kern="0" dirty="0" smtClean="0">
              <a:cs typeface="Arial" pitchFamily="34" charset="0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3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1534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198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5452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8276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36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178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845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004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 smtClean="0"/>
              <a:t>5th, Workshop of OGC Hydro DWG, New York, 11-15 Aug 2014</a:t>
            </a:r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5088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8739188" y="214313"/>
            <a:ext cx="74612" cy="21431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sz="800" dirty="0" smtClean="0">
                <a:solidFill>
                  <a:srgbClr val="FFFFFF"/>
                </a:solidFill>
                <a:latin typeface="Arial" pitchFamily="34" charset="0"/>
              </a:rPr>
              <a:t>®</a:t>
            </a:r>
          </a:p>
        </p:txBody>
      </p:sp>
      <p:pic>
        <p:nvPicPr>
          <p:cNvPr id="5" name="Picture 10" descr="OGC header 2010122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224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1" descr="Picture 7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9" y="5943600"/>
            <a:ext cx="1381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3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762000" y="3276600"/>
            <a:ext cx="7772400" cy="1143000"/>
          </a:xfrm>
        </p:spPr>
        <p:txBody>
          <a:bodyPr/>
          <a:lstStyle>
            <a:lvl1pPr>
              <a:defRPr sz="3200">
                <a:latin typeface="Arial Black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63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45720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1800">
                <a:solidFill>
                  <a:srgbClr val="092E5C"/>
                </a:solidFill>
              </a:defRPr>
            </a:lvl1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Rectangle 2"/>
          <p:cNvSpPr>
            <a:spLocks noGrp="1" noChangeArrowheads="1"/>
          </p:cNvSpPr>
          <p:nvPr>
            <p:ph type="ftr" sz="quarter" idx="10"/>
          </p:nvPr>
        </p:nvSpPr>
        <p:spPr>
          <a:xfrm>
            <a:off x="3009900" y="6400800"/>
            <a:ext cx="3276600" cy="3048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</p:spTree>
    <p:extLst>
      <p:ext uri="{BB962C8B-B14F-4D97-AF65-F5344CB8AC3E}">
        <p14:creationId xmlns:p14="http://schemas.microsoft.com/office/powerpoint/2010/main" val="38532148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D129D0-DFFA-44F8-BA3B-A4FAE77A70B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149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E36BA-EB45-43BA-8973-92FEFA06CE3A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371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60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1375" y="1279525"/>
            <a:ext cx="4152900" cy="48910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031678-7CCE-4001-AE80-C0DA3761CC30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26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168557-3EC0-4E40-BD03-BD918E1CDD05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0602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CCDBE2-DD47-41F3-8579-D8E533D95D6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651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12E1BE-8CDA-4433-BFF1-BAA91AEA66D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12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38BDE7-1BD4-413C-B8BF-A4EA12E83AD7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1424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7C245E-A03E-4E42-9FEE-C11F743D1CCF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134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16C38-7E66-41AF-931A-501F5F45D453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847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5288" y="136525"/>
            <a:ext cx="2170112" cy="60340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36525"/>
            <a:ext cx="6361113" cy="60340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D134C2-33D7-4F0D-85DC-CBD7B3525529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45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 smtClean="0"/>
              <a:t>Click to edit Master text styles</a:t>
            </a:r>
          </a:p>
          <a:p>
            <a:pPr lvl="1"/>
            <a:r>
              <a:rPr lang="en-US" altLang="en-US" dirty="0" smtClean="0"/>
              <a:t>Second level</a:t>
            </a:r>
          </a:p>
          <a:p>
            <a:pPr lvl="2"/>
            <a:r>
              <a:rPr lang="en-US" altLang="en-US" dirty="0" smtClean="0"/>
              <a:t>Third level</a:t>
            </a:r>
          </a:p>
          <a:p>
            <a:pPr lvl="3"/>
            <a:r>
              <a:rPr lang="en-US" altLang="en-US" dirty="0" smtClean="0"/>
              <a:t>Fourth level</a:t>
            </a:r>
          </a:p>
          <a:p>
            <a:pPr lvl="4"/>
            <a:r>
              <a:rPr lang="en-US" altLang="en-US" dirty="0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15100"/>
            <a:ext cx="3579812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GB" dirty="0" smtClean="0"/>
              <a:t>5th, Workshop of OGC Hydro DWG, New York, 11-15 Aug 2014</a:t>
            </a:r>
            <a:endParaRPr lang="en-US" dirty="0"/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chemeClr val="tx2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chemeClr val="tx2"/>
                </a:solidFill>
                <a:latin typeface="Arial" pitchFamily="34" charset="0"/>
              </a:rPr>
              <a:t>®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" y="776288"/>
            <a:ext cx="845502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28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31775" y="136525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6285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73388" y="6553200"/>
            <a:ext cx="3200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en-US" dirty="0"/>
              <a:t>Copyright © 2014 Open Geospatial Consortium</a:t>
            </a:r>
          </a:p>
        </p:txBody>
      </p:sp>
      <p:sp>
        <p:nvSpPr>
          <p:cNvPr id="4628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96100" y="65532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900" b="0">
                <a:solidFill>
                  <a:srgbClr val="092E5C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7E725F1A-1E3F-4657-9D4B-5DCBC0B76A54}" type="slidenum">
              <a:rPr lang="en-US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1031" name="Text Box 16"/>
          <p:cNvSpPr txBox="1">
            <a:spLocks noChangeArrowheads="1"/>
          </p:cNvSpPr>
          <p:nvPr/>
        </p:nvSpPr>
        <p:spPr bwMode="auto">
          <a:xfrm>
            <a:off x="333375" y="6219825"/>
            <a:ext cx="1157288" cy="609600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charset="0"/>
                <a:cs typeface="MS PGothic" charset="0"/>
              </a:defRPr>
            </a:lvl9pPr>
          </a:lstStyle>
          <a:p>
            <a:pPr>
              <a:defRPr/>
            </a:pPr>
            <a:r>
              <a:rPr lang="en-US" sz="4000" dirty="0" smtClean="0">
                <a:solidFill>
                  <a:srgbClr val="092E5C"/>
                </a:solidFill>
                <a:latin typeface="Times New Roman" charset="0"/>
              </a:rPr>
              <a:t>OGC</a:t>
            </a:r>
          </a:p>
        </p:txBody>
      </p:sp>
      <p:sp>
        <p:nvSpPr>
          <p:cNvPr id="1032" name="Text Box 20"/>
          <p:cNvSpPr txBox="1">
            <a:spLocks noChangeArrowheads="1"/>
          </p:cNvSpPr>
          <p:nvPr/>
        </p:nvSpPr>
        <p:spPr bwMode="auto">
          <a:xfrm>
            <a:off x="1498600" y="6270625"/>
            <a:ext cx="93663" cy="244475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rIns="0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dirty="0" smtClean="0">
                <a:solidFill>
                  <a:srgbClr val="092E5C"/>
                </a:solidFill>
                <a:latin typeface="Arial" pitchFamily="34" charset="0"/>
              </a:rPr>
              <a:t>®</a:t>
            </a:r>
          </a:p>
        </p:txBody>
      </p:sp>
    </p:spTree>
    <p:extLst>
      <p:ext uri="{BB962C8B-B14F-4D97-AF65-F5344CB8AC3E}">
        <p14:creationId xmlns:p14="http://schemas.microsoft.com/office/powerpoint/2010/main" val="1387795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MS PGothic" pitchFamily="34" charset="-128"/>
          <a:cs typeface="MS PGothic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MS PGothic" pitchFamily="34" charset="-128"/>
          <a:cs typeface="MS PGothic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092E5C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</a:defRPr>
      </a:lvl9pPr>
    </p:titleStyle>
    <p:bodyStyle>
      <a:lvl1pPr marL="233363" indent="-233363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 sz="24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1pPr>
      <a:lvl2pPr marL="569913" indent="-22225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20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2pPr>
      <a:lvl3pPr marL="912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•"/>
        <a:defRPr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3pPr>
      <a:lvl4pPr marL="12557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–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4pPr>
      <a:lvl5pPr marL="15986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  <a:ea typeface="MS PGothic" pitchFamily="34" charset="-128"/>
          <a:cs typeface="MS PGothic" charset="0"/>
        </a:defRPr>
      </a:lvl5pPr>
      <a:lvl6pPr marL="20558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6pPr>
      <a:lvl7pPr marL="25130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7pPr>
      <a:lvl8pPr marL="29702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8pPr>
      <a:lvl9pPr marL="3427413" indent="-228600" algn="l" rtl="0" eaLnBrk="0" fontAlgn="base" hangingPunct="0">
        <a:spcBef>
          <a:spcPct val="20000"/>
        </a:spcBef>
        <a:spcAft>
          <a:spcPct val="0"/>
        </a:spcAft>
        <a:buClr>
          <a:srgbClr val="092E5C"/>
        </a:buClr>
        <a:buChar char="»"/>
        <a:defRPr sz="16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om.gov.au/water/geofabric/index.s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rtal.opengeospatial.org/files/?artifact_id=59556" TargetMode="External"/><Relationship Id="rId4" Type="http://schemas.openxmlformats.org/officeDocument/2006/relationships/hyperlink" Target="https://portal.opengeospatial.org/files/?artifact_id=58944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5.jpe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jpe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5.jpe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jpe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jpeg"/><Relationship Id="rId7" Type="http://schemas.openxmlformats.org/officeDocument/2006/relationships/image" Target="../media/image29.jpeg"/><Relationship Id="rId12" Type="http://schemas.openxmlformats.org/officeDocument/2006/relationships/image" Target="../media/image3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11" Type="http://schemas.openxmlformats.org/officeDocument/2006/relationships/image" Target="../media/image33.jpeg"/><Relationship Id="rId5" Type="http://schemas.openxmlformats.org/officeDocument/2006/relationships/image" Target="../media/image25.jpe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jpe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13" Type="http://schemas.openxmlformats.org/officeDocument/2006/relationships/image" Target="../media/image34.jpeg"/><Relationship Id="rId3" Type="http://schemas.openxmlformats.org/officeDocument/2006/relationships/image" Target="../media/image35.png"/><Relationship Id="rId7" Type="http://schemas.openxmlformats.org/officeDocument/2006/relationships/image" Target="../media/image28.jpeg"/><Relationship Id="rId12" Type="http://schemas.openxmlformats.org/officeDocument/2006/relationships/image" Target="../media/image33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jpeg"/><Relationship Id="rId11" Type="http://schemas.openxmlformats.org/officeDocument/2006/relationships/image" Target="../media/image32.png"/><Relationship Id="rId5" Type="http://schemas.openxmlformats.org/officeDocument/2006/relationships/image" Target="../media/image27.png"/><Relationship Id="rId10" Type="http://schemas.openxmlformats.org/officeDocument/2006/relationships/image" Target="../media/image31.jpeg"/><Relationship Id="rId4" Type="http://schemas.openxmlformats.org/officeDocument/2006/relationships/image" Target="../media/image26.jpeg"/><Relationship Id="rId9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jpeg"/><Relationship Id="rId7" Type="http://schemas.openxmlformats.org/officeDocument/2006/relationships/image" Target="../media/image29.jpeg"/><Relationship Id="rId12" Type="http://schemas.openxmlformats.org/officeDocument/2006/relationships/image" Target="../media/image34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11" Type="http://schemas.openxmlformats.org/officeDocument/2006/relationships/image" Target="../media/image33.jpeg"/><Relationship Id="rId5" Type="http://schemas.openxmlformats.org/officeDocument/2006/relationships/image" Target="../media/image25.jpeg"/><Relationship Id="rId10" Type="http://schemas.openxmlformats.org/officeDocument/2006/relationships/image" Target="../media/image32.png"/><Relationship Id="rId4" Type="http://schemas.openxmlformats.org/officeDocument/2006/relationships/image" Target="../media/image27.png"/><Relationship Id="rId9" Type="http://schemas.openxmlformats.org/officeDocument/2006/relationships/image" Target="../media/image31.jpe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rdc.bafg.de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2733763"/>
            <a:ext cx="8382000" cy="738664"/>
          </a:xfr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2800" dirty="0" smtClean="0">
                <a:cs typeface="Arial" pitchFamily="34" charset="0"/>
              </a:rPr>
              <a:t>Suite of Water Information Standards</a:t>
            </a:r>
            <a:endParaRPr lang="en-US" sz="2800" dirty="0">
              <a:effectLst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37160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GB" dirty="0" smtClean="0"/>
              <a:t>HIC-11 Tutorial: Standardization </a:t>
            </a:r>
            <a:r>
              <a:rPr lang="en-GB" dirty="0"/>
              <a:t>of Water Data Exchange</a:t>
            </a:r>
          </a:p>
          <a:p>
            <a:pPr>
              <a:spcBef>
                <a:spcPts val="600"/>
              </a:spcBef>
            </a:pPr>
            <a:r>
              <a:rPr lang="en-US" altLang="en-US" dirty="0" smtClean="0">
                <a:cs typeface="Arial" pitchFamily="34" charset="0"/>
              </a:rPr>
              <a:t>WMO/OGC Hydrology Domain Working Group</a:t>
            </a:r>
          </a:p>
          <a:p>
            <a:pPr>
              <a:spcBef>
                <a:spcPts val="600"/>
              </a:spcBef>
            </a:pPr>
            <a:r>
              <a:rPr lang="en-US" altLang="en-US" dirty="0" smtClean="0">
                <a:cs typeface="Arial" pitchFamily="34" charset="0"/>
              </a:rPr>
              <a:t>Irina Dornblut, GRDC of WMO at </a:t>
            </a:r>
            <a:r>
              <a:rPr lang="en-US" altLang="en-US" dirty="0" err="1" smtClean="0">
                <a:cs typeface="Arial" pitchFamily="34" charset="0"/>
              </a:rPr>
              <a:t>BfG</a:t>
            </a:r>
            <a:endParaRPr lang="en-US" altLang="en-US" dirty="0" smtClean="0">
              <a:cs typeface="Arial" pitchFamily="34" charset="0"/>
            </a:endParaRPr>
          </a:p>
          <a:p>
            <a:pPr>
              <a:spcBef>
                <a:spcPts val="600"/>
              </a:spcBef>
            </a:pPr>
            <a:r>
              <a:rPr lang="en-US" altLang="en-US" dirty="0">
                <a:cs typeface="Arial" pitchFamily="34" charset="0"/>
              </a:rPr>
              <a:t>New York, CCNY, August 16, 2014</a:t>
            </a:r>
          </a:p>
          <a:p>
            <a:pPr>
              <a:spcBef>
                <a:spcPts val="600"/>
              </a:spcBef>
            </a:pPr>
            <a:endParaRPr lang="en-US" altLang="en-US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6600" y="6093230"/>
            <a:ext cx="1095375" cy="588747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399" y="5867400"/>
            <a:ext cx="990600" cy="990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114424" y="1981200"/>
            <a:ext cx="80295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0" dirty="0" smtClean="0">
                <a:solidFill>
                  <a:schemeClr val="tx2"/>
                </a:solidFill>
              </a:rPr>
              <a:t>Hydrologic </a:t>
            </a:r>
            <a:r>
              <a:rPr lang="en-GB" sz="2400" b="0" dirty="0">
                <a:solidFill>
                  <a:schemeClr val="tx2"/>
                </a:solidFill>
              </a:rPr>
              <a:t>data </a:t>
            </a:r>
            <a:r>
              <a:rPr lang="en-GB" sz="2400" b="0" dirty="0" smtClean="0">
                <a:solidFill>
                  <a:schemeClr val="tx2"/>
                </a:solidFill>
              </a:rPr>
              <a:t>exchanged</a:t>
            </a:r>
            <a:r>
              <a:rPr lang="en-GB" sz="2400" dirty="0" smtClean="0">
                <a:solidFill>
                  <a:schemeClr val="tx2"/>
                </a:solidFill>
              </a:rPr>
              <a:t> </a:t>
            </a:r>
            <a:r>
              <a:rPr lang="en-GB" sz="2400" b="0" dirty="0" smtClean="0">
                <a:solidFill>
                  <a:schemeClr val="tx2"/>
                </a:solidFill>
              </a:rPr>
              <a:t>via Web Services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0" dirty="0" smtClean="0">
                <a:solidFill>
                  <a:schemeClr val="tx2"/>
                </a:solidFill>
              </a:rPr>
              <a:t>Water data exchange using standards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0" dirty="0" smtClean="0">
                <a:solidFill>
                  <a:schemeClr val="tx2"/>
                </a:solidFill>
              </a:rPr>
              <a:t>Interoperability </a:t>
            </a:r>
            <a:r>
              <a:rPr lang="en-GB" sz="2400" b="0" dirty="0">
                <a:solidFill>
                  <a:schemeClr val="tx2"/>
                </a:solidFill>
              </a:rPr>
              <a:t>of Web services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0" i="1" dirty="0" err="1" smtClean="0">
                <a:solidFill>
                  <a:schemeClr val="tx2"/>
                </a:solidFill>
              </a:rPr>
              <a:t>HY_Features</a:t>
            </a:r>
            <a:r>
              <a:rPr lang="en-GB" sz="2400" b="0" i="1" dirty="0">
                <a:solidFill>
                  <a:schemeClr val="tx2"/>
                </a:solidFill>
              </a:rPr>
              <a:t> </a:t>
            </a:r>
            <a:r>
              <a:rPr lang="en-GB" sz="2400" b="0" dirty="0" smtClean="0">
                <a:solidFill>
                  <a:schemeClr val="tx2"/>
                </a:solidFill>
              </a:rPr>
              <a:t>common hydrologic feature model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0" dirty="0">
                <a:solidFill>
                  <a:schemeClr val="tx2"/>
                </a:solidFill>
              </a:rPr>
              <a:t>Hydrologic data linked via shared spatial </a:t>
            </a:r>
            <a:r>
              <a:rPr lang="en-GB" sz="2400" b="0" dirty="0" smtClean="0">
                <a:solidFill>
                  <a:schemeClr val="tx2"/>
                </a:solidFill>
              </a:rPr>
              <a:t>reference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GB" sz="2400" b="0" dirty="0" smtClean="0">
                <a:solidFill>
                  <a:schemeClr val="tx2"/>
                </a:solidFill>
              </a:rPr>
              <a:t>WMO/OGC Hydrology Domain Working Group</a:t>
            </a:r>
            <a:endParaRPr lang="en-GB" sz="2400" b="0" dirty="0">
              <a:solidFill>
                <a:schemeClr val="tx2"/>
              </a:solidFill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endParaRPr lang="en-GB" sz="24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dirty="0"/>
              <a:t>Suite of Water Information standards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013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557212" y="2652117"/>
            <a:ext cx="802957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Sharing data in the Internet is common practice. </a:t>
            </a:r>
            <a:endParaRPr lang="en-GB" sz="2800" b="0" dirty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n-GB" sz="2800" b="0" dirty="0" smtClean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sharing is realized by Web services.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dirty="0" smtClean="0"/>
              <a:t>Suite of Water Information standards</a:t>
            </a:r>
            <a:endParaRPr lang="en-GB" sz="2800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437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Flussdiagramm: Datenträger mit direktem Zugriff 130"/>
          <p:cNvSpPr/>
          <p:nvPr/>
        </p:nvSpPr>
        <p:spPr bwMode="auto">
          <a:xfrm flipH="1">
            <a:off x="6210968" y="1792995"/>
            <a:ext cx="312609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64" name="Gruppieren 563"/>
          <p:cNvGrpSpPr/>
          <p:nvPr/>
        </p:nvGrpSpPr>
        <p:grpSpPr>
          <a:xfrm flipH="1">
            <a:off x="5152571" y="2074448"/>
            <a:ext cx="732377" cy="264405"/>
            <a:chOff x="477449" y="2158821"/>
            <a:chExt cx="1770451" cy="566777"/>
          </a:xfrm>
        </p:grpSpPr>
        <p:sp>
          <p:nvSpPr>
            <p:cNvPr id="565" name="Flussdiagramm: Datenträger mit direktem Zugriff 56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6" name="Flussdiagramm: Alternativer Prozess 56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567" name="Gerade Verbindung mit Pfeil 56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568" name="Gerade Verbindung mit Pfeil 56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98" name="Flussdiagramm: Datenträger mit direktem Zugriff 397"/>
          <p:cNvSpPr/>
          <p:nvPr/>
        </p:nvSpPr>
        <p:spPr bwMode="auto">
          <a:xfrm>
            <a:off x="1981200" y="4572000"/>
            <a:ext cx="321287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Flussdiagramm: Datenträger mit direktem Zugriff 94"/>
          <p:cNvSpPr/>
          <p:nvPr/>
        </p:nvSpPr>
        <p:spPr bwMode="auto">
          <a:xfrm flipH="1">
            <a:off x="5668352" y="5181600"/>
            <a:ext cx="759727" cy="566777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Wolke 562"/>
          <p:cNvSpPr/>
          <p:nvPr/>
        </p:nvSpPr>
        <p:spPr bwMode="auto">
          <a:xfrm>
            <a:off x="1601023" y="1761069"/>
            <a:ext cx="5897201" cy="3937978"/>
          </a:xfrm>
          <a:prstGeom prst="cloud">
            <a:avLst/>
          </a:prstGeom>
          <a:solidFill>
            <a:srgbClr val="FFFFFF"/>
          </a:solidFill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2400" dirty="0" smtClean="0"/>
              <a:t> Internet</a:t>
            </a:r>
            <a:endParaRPr lang="en-GB" sz="24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 smtClean="0"/>
              <a:t>Hydrologic data </a:t>
            </a:r>
            <a:r>
              <a:rPr lang="en-GB" dirty="0"/>
              <a:t>via Web </a:t>
            </a:r>
            <a:r>
              <a:rPr lang="en-GB" dirty="0" smtClean="0"/>
              <a:t>services</a:t>
            </a:r>
            <a:endParaRPr lang="en-GB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24" name="Gruppieren 23"/>
          <p:cNvGrpSpPr/>
          <p:nvPr/>
        </p:nvGrpSpPr>
        <p:grpSpPr>
          <a:xfrm>
            <a:off x="2746945" y="2666999"/>
            <a:ext cx="3377130" cy="2209801"/>
            <a:chOff x="2498735" y="2529794"/>
            <a:chExt cx="3734837" cy="2426593"/>
          </a:xfrm>
        </p:grpSpPr>
        <p:sp>
          <p:nvSpPr>
            <p:cNvPr id="17" name="Wolke 16"/>
            <p:cNvSpPr/>
            <p:nvPr/>
          </p:nvSpPr>
          <p:spPr bwMode="auto">
            <a:xfrm>
              <a:off x="2653218" y="2737037"/>
              <a:ext cx="3242864" cy="1957297"/>
            </a:xfrm>
            <a:prstGeom prst="cloud">
              <a:avLst/>
            </a:prstGeom>
            <a:noFill/>
            <a:ln w="190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2400" dirty="0" smtClean="0"/>
                <a:t> </a:t>
              </a:r>
              <a:endParaRPr lang="en-GB" sz="2400" dirty="0"/>
            </a:p>
          </p:txBody>
        </p:sp>
        <p:grpSp>
          <p:nvGrpSpPr>
            <p:cNvPr id="38" name="Gruppieren 37"/>
            <p:cNvGrpSpPr/>
            <p:nvPr/>
          </p:nvGrpSpPr>
          <p:grpSpPr>
            <a:xfrm>
              <a:off x="5721172" y="3611394"/>
              <a:ext cx="512400" cy="385943"/>
              <a:chOff x="1352011" y="4568240"/>
              <a:chExt cx="2381250" cy="2381250"/>
            </a:xfrm>
          </p:grpSpPr>
          <p:pic>
            <p:nvPicPr>
              <p:cNvPr id="39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2011" y="456824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Abgerundetes Rechteck 39"/>
              <p:cNvSpPr/>
              <p:nvPr/>
            </p:nvSpPr>
            <p:spPr bwMode="auto">
              <a:xfrm>
                <a:off x="1544977" y="4651951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uppieren 40"/>
            <p:cNvGrpSpPr/>
            <p:nvPr/>
          </p:nvGrpSpPr>
          <p:grpSpPr>
            <a:xfrm>
              <a:off x="5444082" y="2957897"/>
              <a:ext cx="512400" cy="385943"/>
              <a:chOff x="497898" y="3080237"/>
              <a:chExt cx="2381251" cy="2381250"/>
            </a:xfrm>
          </p:grpSpPr>
          <p:pic>
            <p:nvPicPr>
              <p:cNvPr id="4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98" y="3080237"/>
                <a:ext cx="2381251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Abgerundetes Rechteck 42"/>
              <p:cNvSpPr/>
              <p:nvPr/>
            </p:nvSpPr>
            <p:spPr bwMode="auto">
              <a:xfrm>
                <a:off x="690865" y="3173586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uppieren 46"/>
            <p:cNvGrpSpPr/>
            <p:nvPr/>
          </p:nvGrpSpPr>
          <p:grpSpPr>
            <a:xfrm>
              <a:off x="4617316" y="2529794"/>
              <a:ext cx="512400" cy="385943"/>
              <a:chOff x="1118457" y="3085316"/>
              <a:chExt cx="2381250" cy="2381250"/>
            </a:xfrm>
          </p:grpSpPr>
          <p:pic>
            <p:nvPicPr>
              <p:cNvPr id="48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457" y="3085316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Abgerundetes Rechteck 48"/>
              <p:cNvSpPr/>
              <p:nvPr/>
            </p:nvSpPr>
            <p:spPr bwMode="auto">
              <a:xfrm>
                <a:off x="1211754" y="3239561"/>
                <a:ext cx="2192703" cy="1410661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3" name="Gruppieren 52"/>
            <p:cNvGrpSpPr/>
            <p:nvPr/>
          </p:nvGrpSpPr>
          <p:grpSpPr>
            <a:xfrm>
              <a:off x="3586980" y="2529794"/>
              <a:ext cx="512400" cy="385943"/>
              <a:chOff x="1204628" y="2903841"/>
              <a:chExt cx="2381250" cy="2381250"/>
            </a:xfrm>
          </p:grpSpPr>
          <p:pic>
            <p:nvPicPr>
              <p:cNvPr id="54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4628" y="2903841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Abgerundetes Rechteck 54"/>
              <p:cNvSpPr/>
              <p:nvPr/>
            </p:nvSpPr>
            <p:spPr bwMode="auto">
              <a:xfrm>
                <a:off x="1397595" y="2987549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4341785" y="4570444"/>
              <a:ext cx="512400" cy="385943"/>
              <a:chOff x="1598990" y="3986255"/>
              <a:chExt cx="2381250" cy="2381250"/>
            </a:xfrm>
          </p:grpSpPr>
          <p:pic>
            <p:nvPicPr>
              <p:cNvPr id="57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8990" y="3986255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Abgerundetes Rechteck 57"/>
              <p:cNvSpPr/>
              <p:nvPr/>
            </p:nvSpPr>
            <p:spPr bwMode="auto">
              <a:xfrm>
                <a:off x="1791958" y="4069970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2" name="Gruppieren 61"/>
            <p:cNvGrpSpPr/>
            <p:nvPr/>
          </p:nvGrpSpPr>
          <p:grpSpPr>
            <a:xfrm>
              <a:off x="5233956" y="4192677"/>
              <a:ext cx="512400" cy="385943"/>
              <a:chOff x="601887" y="3469967"/>
              <a:chExt cx="2381250" cy="2381250"/>
            </a:xfrm>
          </p:grpSpPr>
          <p:pic>
            <p:nvPicPr>
              <p:cNvPr id="63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887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Abgerundetes Rechteck 63"/>
              <p:cNvSpPr/>
              <p:nvPr/>
            </p:nvSpPr>
            <p:spPr bwMode="auto">
              <a:xfrm>
                <a:off x="794853" y="3553678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2498735" y="3794653"/>
              <a:ext cx="512400" cy="385943"/>
              <a:chOff x="638951" y="4628190"/>
              <a:chExt cx="2381250" cy="2381250"/>
            </a:xfrm>
          </p:grpSpPr>
          <p:pic>
            <p:nvPicPr>
              <p:cNvPr id="7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951" y="462819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Abgerundetes Rechteck 72"/>
              <p:cNvSpPr/>
              <p:nvPr/>
            </p:nvSpPr>
            <p:spPr bwMode="auto">
              <a:xfrm>
                <a:off x="831918" y="471189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2743200" y="3019498"/>
              <a:ext cx="512400" cy="385943"/>
              <a:chOff x="1066800" y="2269713"/>
              <a:chExt cx="2381250" cy="2381250"/>
            </a:xfrm>
          </p:grpSpPr>
          <p:pic>
            <p:nvPicPr>
              <p:cNvPr id="75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800" y="2269713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Abgerundetes Rechteck 75"/>
              <p:cNvSpPr/>
              <p:nvPr/>
            </p:nvSpPr>
            <p:spPr bwMode="auto">
              <a:xfrm>
                <a:off x="1259766" y="2353424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uppieren 79"/>
            <p:cNvGrpSpPr/>
            <p:nvPr/>
          </p:nvGrpSpPr>
          <p:grpSpPr>
            <a:xfrm>
              <a:off x="3330532" y="4350696"/>
              <a:ext cx="512400" cy="385943"/>
              <a:chOff x="2025679" y="3469967"/>
              <a:chExt cx="2381250" cy="2381250"/>
            </a:xfrm>
          </p:grpSpPr>
          <p:pic>
            <p:nvPicPr>
              <p:cNvPr id="81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5679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Abgerundetes Rechteck 81"/>
              <p:cNvSpPr/>
              <p:nvPr/>
            </p:nvSpPr>
            <p:spPr bwMode="auto">
              <a:xfrm>
                <a:off x="2218647" y="3553682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100" name="Flussdiagramm: Datenträger mit direktem Zugriff 99"/>
          <p:cNvSpPr/>
          <p:nvPr/>
        </p:nvSpPr>
        <p:spPr bwMode="auto">
          <a:xfrm>
            <a:off x="324111" y="3788362"/>
            <a:ext cx="757577" cy="566777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Flussdiagramm: Datenträger mit direktem Zugriff 112"/>
          <p:cNvSpPr/>
          <p:nvPr/>
        </p:nvSpPr>
        <p:spPr bwMode="auto">
          <a:xfrm>
            <a:off x="1100400" y="9144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Flussdiagramm: Datenträger mit direktem Zugriff 123"/>
          <p:cNvSpPr/>
          <p:nvPr/>
        </p:nvSpPr>
        <p:spPr bwMode="auto">
          <a:xfrm>
            <a:off x="381000" y="2938423"/>
            <a:ext cx="757577" cy="566777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1" name="Gruppieren 140"/>
          <p:cNvGrpSpPr/>
          <p:nvPr/>
        </p:nvGrpSpPr>
        <p:grpSpPr>
          <a:xfrm flipH="1">
            <a:off x="7390920" y="4545863"/>
            <a:ext cx="1153222" cy="1016737"/>
            <a:chOff x="609600" y="1469843"/>
            <a:chExt cx="1143000" cy="1016737"/>
          </a:xfrm>
        </p:grpSpPr>
        <p:sp>
          <p:nvSpPr>
            <p:cNvPr id="142" name="Flussdiagramm: Datenträger mit direktem Zugriff 141"/>
            <p:cNvSpPr/>
            <p:nvPr/>
          </p:nvSpPr>
          <p:spPr bwMode="auto">
            <a:xfrm>
              <a:off x="995023" y="146984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" name="Flussdiagramm: Datenträger mit direktem Zugriff 145"/>
            <p:cNvSpPr/>
            <p:nvPr/>
          </p:nvSpPr>
          <p:spPr bwMode="auto">
            <a:xfrm>
              <a:off x="952200" y="191980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" name="Flussdiagramm: Datenträger mit direktem Zugriff 148"/>
            <p:cNvSpPr/>
            <p:nvPr/>
          </p:nvSpPr>
          <p:spPr bwMode="auto">
            <a:xfrm>
              <a:off x="609600" y="1600200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52" name="Flussdiagramm: Datenträger mit direktem Zugriff 151"/>
          <p:cNvSpPr/>
          <p:nvPr/>
        </p:nvSpPr>
        <p:spPr bwMode="auto">
          <a:xfrm flipH="1">
            <a:off x="7546073" y="2176423"/>
            <a:ext cx="759727" cy="566777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7" name="Flussdiagramm: Datenträger mit direktem Zugriff 156"/>
          <p:cNvSpPr/>
          <p:nvPr/>
        </p:nvSpPr>
        <p:spPr bwMode="auto">
          <a:xfrm flipH="1">
            <a:off x="5488673" y="990600"/>
            <a:ext cx="759727" cy="566777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61" name="Gruppieren 160"/>
          <p:cNvGrpSpPr/>
          <p:nvPr/>
        </p:nvGrpSpPr>
        <p:grpSpPr>
          <a:xfrm flipH="1">
            <a:off x="7794894" y="3189066"/>
            <a:ext cx="1196706" cy="697134"/>
            <a:chOff x="1080057" y="5069506"/>
            <a:chExt cx="1143000" cy="697134"/>
          </a:xfrm>
        </p:grpSpPr>
        <p:sp>
          <p:nvSpPr>
            <p:cNvPr id="162" name="Flussdiagramm: Datenträger mit direktem Zugriff 161"/>
            <p:cNvSpPr/>
            <p:nvPr/>
          </p:nvSpPr>
          <p:spPr bwMode="auto">
            <a:xfrm>
              <a:off x="1465480" y="5069506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5" name="Flussdiagramm: Datenträger mit direktem Zugriff 164"/>
            <p:cNvSpPr/>
            <p:nvPr/>
          </p:nvSpPr>
          <p:spPr bwMode="auto">
            <a:xfrm>
              <a:off x="1080057" y="519986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7" name="Gruppieren 176"/>
          <p:cNvGrpSpPr/>
          <p:nvPr/>
        </p:nvGrpSpPr>
        <p:grpSpPr>
          <a:xfrm>
            <a:off x="1546060" y="2215359"/>
            <a:ext cx="465770" cy="527835"/>
            <a:chOff x="1080057" y="4896613"/>
            <a:chExt cx="1143001" cy="1223197"/>
          </a:xfrm>
        </p:grpSpPr>
        <p:sp>
          <p:nvSpPr>
            <p:cNvPr id="178" name="Flussdiagramm: Datenträger mit direktem Zugriff 177"/>
            <p:cNvSpPr/>
            <p:nvPr/>
          </p:nvSpPr>
          <p:spPr bwMode="auto">
            <a:xfrm>
              <a:off x="1465480" y="4896613"/>
              <a:ext cx="757578" cy="515252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" name="Flussdiagramm: Datenträger mit direktem Zugriff 185"/>
            <p:cNvSpPr/>
            <p:nvPr/>
          </p:nvSpPr>
          <p:spPr bwMode="auto">
            <a:xfrm>
              <a:off x="1080057" y="5553033"/>
              <a:ext cx="757578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9" name="Flussdiagramm: Datenträger mit direktem Zugriff 188"/>
          <p:cNvSpPr/>
          <p:nvPr/>
        </p:nvSpPr>
        <p:spPr bwMode="auto">
          <a:xfrm>
            <a:off x="533400" y="6040522"/>
            <a:ext cx="321287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9" name="Flussdiagramm: Datenträger mit direktem Zugriff 198"/>
          <p:cNvSpPr/>
          <p:nvPr/>
        </p:nvSpPr>
        <p:spPr bwMode="auto">
          <a:xfrm>
            <a:off x="2827277" y="1076033"/>
            <a:ext cx="321286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" name="Flussdiagramm: Datenträger mit direktem Zugriff 208"/>
          <p:cNvSpPr/>
          <p:nvPr/>
        </p:nvSpPr>
        <p:spPr bwMode="auto">
          <a:xfrm flipH="1">
            <a:off x="8374191" y="1219200"/>
            <a:ext cx="312609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4" name="Flussdiagramm: Datenträger mit direktem Zugriff 213"/>
          <p:cNvSpPr/>
          <p:nvPr/>
        </p:nvSpPr>
        <p:spPr bwMode="auto">
          <a:xfrm flipH="1">
            <a:off x="5935791" y="5983995"/>
            <a:ext cx="312609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5" name="Flussdiagramm: Datenträger mit direktem Zugriff 224"/>
          <p:cNvSpPr/>
          <p:nvPr/>
        </p:nvSpPr>
        <p:spPr bwMode="auto">
          <a:xfrm flipH="1">
            <a:off x="7277768" y="5715000"/>
            <a:ext cx="312609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0" name="Flussdiagramm: Datenträger mit direktem Zugriff 229"/>
          <p:cNvSpPr/>
          <p:nvPr/>
        </p:nvSpPr>
        <p:spPr bwMode="auto">
          <a:xfrm flipH="1">
            <a:off x="7125368" y="990600"/>
            <a:ext cx="312609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34" name="Gruppieren 233"/>
          <p:cNvGrpSpPr/>
          <p:nvPr/>
        </p:nvGrpSpPr>
        <p:grpSpPr>
          <a:xfrm flipH="1">
            <a:off x="7316157" y="1385097"/>
            <a:ext cx="532443" cy="519903"/>
            <a:chOff x="846317" y="4760484"/>
            <a:chExt cx="1306616" cy="1204813"/>
          </a:xfrm>
        </p:grpSpPr>
        <p:sp>
          <p:nvSpPr>
            <p:cNvPr id="235" name="Flussdiagramm: Datenträger mit direktem Zugriff 234"/>
            <p:cNvSpPr/>
            <p:nvPr/>
          </p:nvSpPr>
          <p:spPr bwMode="auto">
            <a:xfrm>
              <a:off x="1395355" y="4760484"/>
              <a:ext cx="757578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8" name="Flussdiagramm: Datenträger mit direktem Zugriff 237"/>
            <p:cNvSpPr/>
            <p:nvPr/>
          </p:nvSpPr>
          <p:spPr bwMode="auto">
            <a:xfrm>
              <a:off x="846317" y="5398521"/>
              <a:ext cx="757577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47" name="Flussdiagramm: Datenträger mit direktem Zugriff 246"/>
          <p:cNvSpPr/>
          <p:nvPr/>
        </p:nvSpPr>
        <p:spPr bwMode="auto">
          <a:xfrm>
            <a:off x="1874320" y="6019800"/>
            <a:ext cx="321287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2" name="Flussdiagramm: Datenträger mit direktem Zugriff 251"/>
          <p:cNvSpPr/>
          <p:nvPr/>
        </p:nvSpPr>
        <p:spPr bwMode="auto">
          <a:xfrm>
            <a:off x="3438294" y="5486400"/>
            <a:ext cx="321287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7" name="Flussdiagramm: Datenträger mit direktem Zugriff 256"/>
          <p:cNvSpPr/>
          <p:nvPr/>
        </p:nvSpPr>
        <p:spPr bwMode="auto">
          <a:xfrm>
            <a:off x="3200149" y="1628866"/>
            <a:ext cx="321286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2" name="Flussdiagramm: Datenträger mit direktem Zugriff 261"/>
          <p:cNvSpPr/>
          <p:nvPr/>
        </p:nvSpPr>
        <p:spPr bwMode="auto">
          <a:xfrm flipH="1">
            <a:off x="4686968" y="6019800"/>
            <a:ext cx="312609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6" name="Flussdiagramm: Datenträger mit direktem Zugriff 345"/>
          <p:cNvSpPr/>
          <p:nvPr/>
        </p:nvSpPr>
        <p:spPr bwMode="auto">
          <a:xfrm>
            <a:off x="954885" y="152119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" name="Flussdiagramm: Datenträger mit direktem Zugriff 346"/>
          <p:cNvSpPr/>
          <p:nvPr/>
        </p:nvSpPr>
        <p:spPr bwMode="auto">
          <a:xfrm>
            <a:off x="762000" y="1905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7" name="Gerade Verbindung mit Pfeil 316"/>
          <p:cNvCxnSpPr>
            <a:stCxn id="370" idx="4"/>
            <a:endCxn id="118" idx="1"/>
          </p:cNvCxnSpPr>
          <p:nvPr/>
        </p:nvCxnSpPr>
        <p:spPr bwMode="auto">
          <a:xfrm>
            <a:off x="1109400" y="1323000"/>
            <a:ext cx="667317" cy="307887"/>
          </a:xfrm>
          <a:prstGeom prst="straightConnector1">
            <a:avLst/>
          </a:prstGeom>
          <a:noFill/>
          <a:ln w="127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9" name="Gerade Verbindung mit Pfeil 318"/>
          <p:cNvCxnSpPr>
            <a:stCxn id="346" idx="4"/>
            <a:endCxn id="118" idx="2"/>
          </p:cNvCxnSpPr>
          <p:nvPr/>
        </p:nvCxnSpPr>
        <p:spPr bwMode="auto">
          <a:xfrm flipV="1">
            <a:off x="1530885" y="1649739"/>
            <a:ext cx="236896" cy="51451"/>
          </a:xfrm>
          <a:prstGeom prst="straightConnector1">
            <a:avLst/>
          </a:prstGeom>
          <a:noFill/>
          <a:ln w="127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18" name="Ellipse 117"/>
          <p:cNvSpPr/>
          <p:nvPr/>
        </p:nvSpPr>
        <p:spPr bwMode="auto">
          <a:xfrm>
            <a:off x="1767781" y="1623078"/>
            <a:ext cx="61019" cy="53322"/>
          </a:xfrm>
          <a:prstGeom prst="ellips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Flussdiagramm: Datenträger mit direktem Zugriff 369"/>
          <p:cNvSpPr/>
          <p:nvPr/>
        </p:nvSpPr>
        <p:spPr bwMode="auto">
          <a:xfrm>
            <a:off x="533400" y="1143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2" name="Gerade Verbindung mit Pfeil 1041"/>
          <p:cNvCxnSpPr>
            <a:stCxn id="113" idx="4"/>
            <a:endCxn id="118" idx="0"/>
          </p:cNvCxnSpPr>
          <p:nvPr/>
        </p:nvCxnSpPr>
        <p:spPr bwMode="auto">
          <a:xfrm>
            <a:off x="1676400" y="1094400"/>
            <a:ext cx="121891" cy="528678"/>
          </a:xfrm>
          <a:prstGeom prst="straightConnector1">
            <a:avLst/>
          </a:prstGeom>
          <a:noFill/>
          <a:ln w="127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45" name="Gerade Verbindung 1044"/>
          <p:cNvCxnSpPr>
            <a:stCxn id="347" idx="4"/>
            <a:endCxn id="118" idx="3"/>
          </p:cNvCxnSpPr>
          <p:nvPr/>
        </p:nvCxnSpPr>
        <p:spPr bwMode="auto">
          <a:xfrm flipV="1">
            <a:off x="1338000" y="1668591"/>
            <a:ext cx="438717" cy="416409"/>
          </a:xfrm>
          <a:prstGeom prst="line">
            <a:avLst/>
          </a:prstGeom>
          <a:noFill/>
          <a:ln w="127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9" name="Flussdiagramm: Datenträger mit direktem Zugriff 378"/>
          <p:cNvSpPr/>
          <p:nvPr/>
        </p:nvSpPr>
        <p:spPr bwMode="auto">
          <a:xfrm>
            <a:off x="1767781" y="980438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Gerade Verbindung 1048"/>
          <p:cNvCxnSpPr>
            <a:stCxn id="379" idx="4"/>
            <a:endCxn id="118" idx="7"/>
          </p:cNvCxnSpPr>
          <p:nvPr/>
        </p:nvCxnSpPr>
        <p:spPr bwMode="auto">
          <a:xfrm flipH="1">
            <a:off x="1819864" y="1160438"/>
            <a:ext cx="523917" cy="470449"/>
          </a:xfrm>
          <a:prstGeom prst="line">
            <a:avLst/>
          </a:prstGeom>
          <a:noFill/>
          <a:ln w="127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9" name="Gruppieren 328"/>
          <p:cNvGrpSpPr/>
          <p:nvPr/>
        </p:nvGrpSpPr>
        <p:grpSpPr>
          <a:xfrm>
            <a:off x="1181023" y="5029200"/>
            <a:ext cx="789419" cy="838200"/>
            <a:chOff x="1176600" y="5029200"/>
            <a:chExt cx="789419" cy="838200"/>
          </a:xfrm>
        </p:grpSpPr>
        <p:sp>
          <p:nvSpPr>
            <p:cNvPr id="384" name="Flussdiagramm: Datenträger mit direktem Zugriff 383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8" name="Gerade Verbindung mit Pfeil 387"/>
            <p:cNvCxnSpPr>
              <a:stCxn id="391" idx="4"/>
              <a:endCxn id="390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0" name="Ellipse 389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Flussdiagramm: Datenträger mit direktem Zugriff 390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2" name="Gerade Verbindung mit Pfeil 391"/>
            <p:cNvCxnSpPr>
              <a:stCxn id="384" idx="4"/>
              <a:endCxn id="390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28" name="Gruppieren 327"/>
          <p:cNvGrpSpPr/>
          <p:nvPr/>
        </p:nvGrpSpPr>
        <p:grpSpPr>
          <a:xfrm>
            <a:off x="407145" y="4545863"/>
            <a:ext cx="633015" cy="605462"/>
            <a:chOff x="240154" y="4574069"/>
            <a:chExt cx="633015" cy="605462"/>
          </a:xfrm>
        </p:grpSpPr>
        <p:sp>
          <p:nvSpPr>
            <p:cNvPr id="403" name="Flussdiagramm: Datenträger mit direktem Zugriff 402"/>
            <p:cNvSpPr/>
            <p:nvPr/>
          </p:nvSpPr>
          <p:spPr bwMode="auto">
            <a:xfrm>
              <a:off x="240154" y="47244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4" name="Flussdiagramm: Datenträger mit direktem Zugriff 403"/>
            <p:cNvSpPr/>
            <p:nvPr/>
          </p:nvSpPr>
          <p:spPr bwMode="auto">
            <a:xfrm>
              <a:off x="457200" y="49530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Gerade Verbindung mit Pfeil 404"/>
            <p:cNvCxnSpPr>
              <a:stCxn id="407" idx="4"/>
              <a:endCxn id="409" idx="4"/>
            </p:cNvCxnSpPr>
            <p:nvPr/>
          </p:nvCxnSpPr>
          <p:spPr bwMode="auto">
            <a:xfrm>
              <a:off x="821400" y="4687335"/>
              <a:ext cx="28910" cy="242523"/>
            </a:xfrm>
            <a:prstGeom prst="straightConnector1">
              <a:avLst/>
            </a:prstGeom>
            <a:noFill/>
            <a:ln w="12700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6" name="Gerade Verbindung mit Pfeil 405"/>
            <p:cNvCxnSpPr>
              <a:stCxn id="403" idx="4"/>
              <a:endCxn id="409" idx="2"/>
            </p:cNvCxnSpPr>
            <p:nvPr/>
          </p:nvCxnSpPr>
          <p:spPr bwMode="auto">
            <a:xfrm>
              <a:off x="528154" y="4837666"/>
              <a:ext cx="299296" cy="115051"/>
            </a:xfrm>
            <a:prstGeom prst="straightConnector1">
              <a:avLst/>
            </a:prstGeom>
            <a:noFill/>
            <a:ln w="12700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7" name="Flussdiagramm: Datenträger mit direktem Zugriff 406"/>
            <p:cNvSpPr/>
            <p:nvPr/>
          </p:nvSpPr>
          <p:spPr bwMode="auto">
            <a:xfrm>
              <a:off x="533400" y="4574069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8" name="Gerade Verbindung 407"/>
            <p:cNvCxnSpPr>
              <a:stCxn id="404" idx="4"/>
              <a:endCxn id="409" idx="1"/>
            </p:cNvCxnSpPr>
            <p:nvPr/>
          </p:nvCxnSpPr>
          <p:spPr bwMode="auto">
            <a:xfrm flipV="1">
              <a:off x="745200" y="4968882"/>
              <a:ext cx="88945" cy="97384"/>
            </a:xfrm>
            <a:prstGeom prst="line">
              <a:avLst/>
            </a:prstGeom>
            <a:noFill/>
            <a:ln w="12700" cap="flat" cmpd="sng" algn="ctr">
              <a:solidFill>
                <a:srgbClr val="B2B2B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9" name="Ellipse 408"/>
            <p:cNvSpPr/>
            <p:nvPr/>
          </p:nvSpPr>
          <p:spPr bwMode="auto">
            <a:xfrm flipV="1">
              <a:off x="827450" y="4929858"/>
              <a:ext cx="45719" cy="45719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6" name="Gruppieren 425"/>
          <p:cNvGrpSpPr/>
          <p:nvPr/>
        </p:nvGrpSpPr>
        <p:grpSpPr>
          <a:xfrm flipH="1">
            <a:off x="8470420" y="5966073"/>
            <a:ext cx="451166" cy="434727"/>
            <a:chOff x="1176600" y="5029200"/>
            <a:chExt cx="789419" cy="838200"/>
          </a:xfrm>
        </p:grpSpPr>
        <p:sp>
          <p:nvSpPr>
            <p:cNvPr id="428" name="Flussdiagramm: Datenträger mit direktem Zugriff 427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0" name="Gerade Verbindung mit Pfeil 429"/>
            <p:cNvCxnSpPr>
              <a:stCxn id="432" idx="4"/>
              <a:endCxn id="431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1" name="Ellipse 430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Flussdiagramm: Datenträger mit direktem Zugriff 431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3" name="Gerade Verbindung mit Pfeil 432"/>
            <p:cNvCxnSpPr>
              <a:stCxn id="428" idx="4"/>
              <a:endCxn id="431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98" name="Flussdiagramm: Datenträger mit direktem Zugriff 497"/>
          <p:cNvSpPr/>
          <p:nvPr/>
        </p:nvSpPr>
        <p:spPr bwMode="auto">
          <a:xfrm flipH="1">
            <a:off x="8682889" y="4419600"/>
            <a:ext cx="308711" cy="244576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9" name="Gerade Verbindung mit Pfeil 498"/>
          <p:cNvCxnSpPr>
            <a:stCxn id="498" idx="4"/>
            <a:endCxn id="149" idx="1"/>
          </p:cNvCxnSpPr>
          <p:nvPr/>
        </p:nvCxnSpPr>
        <p:spPr bwMode="auto">
          <a:xfrm flipH="1">
            <a:off x="8544142" y="4541888"/>
            <a:ext cx="138747" cy="417721"/>
          </a:xfrm>
          <a:prstGeom prst="straightConnector1">
            <a:avLst/>
          </a:prstGeom>
          <a:noFill/>
          <a:ln w="127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00" name="Flussdiagramm: Datenträger mit direktem Zugriff 499"/>
          <p:cNvSpPr/>
          <p:nvPr/>
        </p:nvSpPr>
        <p:spPr bwMode="auto">
          <a:xfrm flipH="1">
            <a:off x="8763000" y="5013224"/>
            <a:ext cx="308711" cy="244576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1" name="Gerade Verbindung mit Pfeil 500"/>
          <p:cNvCxnSpPr>
            <a:stCxn id="149" idx="1"/>
            <a:endCxn id="500" idx="4"/>
          </p:cNvCxnSpPr>
          <p:nvPr/>
        </p:nvCxnSpPr>
        <p:spPr bwMode="auto">
          <a:xfrm>
            <a:off x="8544142" y="4959609"/>
            <a:ext cx="218858" cy="175903"/>
          </a:xfrm>
          <a:prstGeom prst="straightConnector1">
            <a:avLst/>
          </a:prstGeom>
          <a:noFill/>
          <a:ln w="127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04" name="Flussdiagramm: Datenträger mit direktem Zugriff 503"/>
          <p:cNvSpPr/>
          <p:nvPr/>
        </p:nvSpPr>
        <p:spPr bwMode="auto">
          <a:xfrm flipH="1">
            <a:off x="8448458" y="5470424"/>
            <a:ext cx="308711" cy="244576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5" name="Gerade Verbindung mit Pfeil 504"/>
          <p:cNvCxnSpPr>
            <a:stCxn id="146" idx="1"/>
            <a:endCxn id="504" idx="4"/>
          </p:cNvCxnSpPr>
          <p:nvPr/>
        </p:nvCxnSpPr>
        <p:spPr bwMode="auto">
          <a:xfrm>
            <a:off x="8198478" y="5279212"/>
            <a:ext cx="249980" cy="313500"/>
          </a:xfrm>
          <a:prstGeom prst="straightConnector1">
            <a:avLst/>
          </a:prstGeom>
          <a:noFill/>
          <a:ln w="127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59" name="Flussdiagramm: Datenträger mit direktem Zugriff 558"/>
          <p:cNvSpPr/>
          <p:nvPr/>
        </p:nvSpPr>
        <p:spPr bwMode="auto">
          <a:xfrm>
            <a:off x="3017326" y="6172200"/>
            <a:ext cx="338347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69" name="Gerade Verbindung mit Pfeil 568"/>
          <p:cNvCxnSpPr/>
          <p:nvPr/>
        </p:nvCxnSpPr>
        <p:spPr bwMode="auto">
          <a:xfrm flipH="1" flipV="1">
            <a:off x="4876799" y="2326530"/>
            <a:ext cx="17480" cy="34046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0" name="Gerade Verbindung mit Pfeil 569"/>
          <p:cNvCxnSpPr/>
          <p:nvPr/>
        </p:nvCxnSpPr>
        <p:spPr bwMode="auto">
          <a:xfrm flipV="1">
            <a:off x="5641672" y="2666999"/>
            <a:ext cx="444478" cy="40363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1" name="Gerade Verbindung mit Pfeil 570"/>
          <p:cNvCxnSpPr/>
          <p:nvPr/>
        </p:nvCxnSpPr>
        <p:spPr bwMode="auto">
          <a:xfrm flipH="1" flipV="1">
            <a:off x="2827277" y="2609424"/>
            <a:ext cx="372192" cy="51588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2" name="Gerade Verbindung mit Pfeil 571"/>
          <p:cNvCxnSpPr/>
          <p:nvPr/>
        </p:nvCxnSpPr>
        <p:spPr bwMode="auto">
          <a:xfrm flipH="1" flipV="1">
            <a:off x="3869713" y="2169405"/>
            <a:ext cx="92911" cy="49759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3" name="Gerade Verbindung mit Pfeil 572"/>
          <p:cNvCxnSpPr/>
          <p:nvPr/>
        </p:nvCxnSpPr>
        <p:spPr bwMode="auto">
          <a:xfrm flipV="1">
            <a:off x="6086150" y="3680119"/>
            <a:ext cx="434729" cy="9871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5" name="Gerade Verbindung mit Pfeil 574"/>
          <p:cNvCxnSpPr/>
          <p:nvPr/>
        </p:nvCxnSpPr>
        <p:spPr bwMode="auto">
          <a:xfrm>
            <a:off x="4644947" y="4766721"/>
            <a:ext cx="231852" cy="26247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76" name="Gerade Verbindung mit Pfeil 575"/>
          <p:cNvCxnSpPr/>
          <p:nvPr/>
        </p:nvCxnSpPr>
        <p:spPr bwMode="auto">
          <a:xfrm flipH="1">
            <a:off x="2978607" y="4452091"/>
            <a:ext cx="558015" cy="507518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80" name="Gerade Verbindung mit Pfeil 579"/>
          <p:cNvCxnSpPr/>
          <p:nvPr/>
        </p:nvCxnSpPr>
        <p:spPr bwMode="auto">
          <a:xfrm flipH="1">
            <a:off x="2371940" y="3945724"/>
            <a:ext cx="412551" cy="8690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23" name="Flussdiagramm: Datenträger mit direktem Zugriff 122"/>
          <p:cNvSpPr/>
          <p:nvPr/>
        </p:nvSpPr>
        <p:spPr bwMode="auto">
          <a:xfrm flipH="1">
            <a:off x="7498224" y="4027843"/>
            <a:ext cx="312609" cy="264405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9" name="Gerade Verbindung mit Pfeil 128"/>
          <p:cNvCxnSpPr/>
          <p:nvPr/>
        </p:nvCxnSpPr>
        <p:spPr bwMode="auto">
          <a:xfrm>
            <a:off x="5451671" y="4422703"/>
            <a:ext cx="484120" cy="26792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940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 smtClean="0"/>
              <a:t>Hydrologic data via Web services</a:t>
            </a:r>
            <a:endParaRPr lang="en-GB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24" name="Gruppieren 23"/>
          <p:cNvGrpSpPr/>
          <p:nvPr/>
        </p:nvGrpSpPr>
        <p:grpSpPr>
          <a:xfrm>
            <a:off x="2746945" y="2666999"/>
            <a:ext cx="3377130" cy="2209801"/>
            <a:chOff x="2498735" y="2529794"/>
            <a:chExt cx="3734837" cy="2426593"/>
          </a:xfrm>
        </p:grpSpPr>
        <p:sp>
          <p:nvSpPr>
            <p:cNvPr id="17" name="Wolke 16"/>
            <p:cNvSpPr/>
            <p:nvPr/>
          </p:nvSpPr>
          <p:spPr bwMode="auto">
            <a:xfrm>
              <a:off x="2653218" y="2737037"/>
              <a:ext cx="3242864" cy="1957297"/>
            </a:xfrm>
            <a:prstGeom prst="cloud">
              <a:avLst/>
            </a:prstGeom>
            <a:noFill/>
            <a:ln w="190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2400" dirty="0" smtClean="0"/>
                <a:t> Internet</a:t>
              </a:r>
              <a:endParaRPr lang="en-GB" sz="2400" dirty="0"/>
            </a:p>
          </p:txBody>
        </p:sp>
        <p:grpSp>
          <p:nvGrpSpPr>
            <p:cNvPr id="38" name="Gruppieren 37"/>
            <p:cNvGrpSpPr/>
            <p:nvPr/>
          </p:nvGrpSpPr>
          <p:grpSpPr>
            <a:xfrm>
              <a:off x="5721172" y="3611394"/>
              <a:ext cx="512400" cy="385943"/>
              <a:chOff x="1352011" y="4568240"/>
              <a:chExt cx="2381250" cy="2381250"/>
            </a:xfrm>
          </p:grpSpPr>
          <p:pic>
            <p:nvPicPr>
              <p:cNvPr id="39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2011" y="456824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Abgerundetes Rechteck 39"/>
              <p:cNvSpPr/>
              <p:nvPr/>
            </p:nvSpPr>
            <p:spPr bwMode="auto">
              <a:xfrm>
                <a:off x="1544977" y="4651951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uppieren 40"/>
            <p:cNvGrpSpPr/>
            <p:nvPr/>
          </p:nvGrpSpPr>
          <p:grpSpPr>
            <a:xfrm>
              <a:off x="5444082" y="2957897"/>
              <a:ext cx="512400" cy="385943"/>
              <a:chOff x="497898" y="3080237"/>
              <a:chExt cx="2381251" cy="2381250"/>
            </a:xfrm>
          </p:grpSpPr>
          <p:pic>
            <p:nvPicPr>
              <p:cNvPr id="4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98" y="3080237"/>
                <a:ext cx="2381251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Abgerundetes Rechteck 42"/>
              <p:cNvSpPr/>
              <p:nvPr/>
            </p:nvSpPr>
            <p:spPr bwMode="auto">
              <a:xfrm>
                <a:off x="690865" y="3173586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uppieren 46"/>
            <p:cNvGrpSpPr/>
            <p:nvPr/>
          </p:nvGrpSpPr>
          <p:grpSpPr>
            <a:xfrm>
              <a:off x="4617316" y="2529794"/>
              <a:ext cx="512400" cy="385943"/>
              <a:chOff x="1118457" y="3085316"/>
              <a:chExt cx="2381250" cy="2381250"/>
            </a:xfrm>
          </p:grpSpPr>
          <p:pic>
            <p:nvPicPr>
              <p:cNvPr id="48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457" y="3085316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Abgerundetes Rechteck 48"/>
              <p:cNvSpPr/>
              <p:nvPr/>
            </p:nvSpPr>
            <p:spPr bwMode="auto">
              <a:xfrm>
                <a:off x="1211754" y="3239561"/>
                <a:ext cx="2192703" cy="1410661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3" name="Gruppieren 52"/>
            <p:cNvGrpSpPr/>
            <p:nvPr/>
          </p:nvGrpSpPr>
          <p:grpSpPr>
            <a:xfrm>
              <a:off x="3586980" y="2529794"/>
              <a:ext cx="512400" cy="385943"/>
              <a:chOff x="1204628" y="2903841"/>
              <a:chExt cx="2381250" cy="2381250"/>
            </a:xfrm>
          </p:grpSpPr>
          <p:pic>
            <p:nvPicPr>
              <p:cNvPr id="54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4628" y="2903841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Abgerundetes Rechteck 54"/>
              <p:cNvSpPr/>
              <p:nvPr/>
            </p:nvSpPr>
            <p:spPr bwMode="auto">
              <a:xfrm>
                <a:off x="1397595" y="2987549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4341785" y="4570444"/>
              <a:ext cx="512400" cy="385943"/>
              <a:chOff x="1598990" y="3986255"/>
              <a:chExt cx="2381250" cy="2381250"/>
            </a:xfrm>
          </p:grpSpPr>
          <p:pic>
            <p:nvPicPr>
              <p:cNvPr id="57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8990" y="3986255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Abgerundetes Rechteck 57"/>
              <p:cNvSpPr/>
              <p:nvPr/>
            </p:nvSpPr>
            <p:spPr bwMode="auto">
              <a:xfrm>
                <a:off x="1791958" y="4069970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2" name="Gruppieren 61"/>
            <p:cNvGrpSpPr/>
            <p:nvPr/>
          </p:nvGrpSpPr>
          <p:grpSpPr>
            <a:xfrm>
              <a:off x="5233956" y="4192677"/>
              <a:ext cx="512400" cy="385943"/>
              <a:chOff x="601887" y="3469967"/>
              <a:chExt cx="2381250" cy="2381250"/>
            </a:xfrm>
          </p:grpSpPr>
          <p:pic>
            <p:nvPicPr>
              <p:cNvPr id="63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887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Abgerundetes Rechteck 63"/>
              <p:cNvSpPr/>
              <p:nvPr/>
            </p:nvSpPr>
            <p:spPr bwMode="auto">
              <a:xfrm>
                <a:off x="794853" y="3553678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2498735" y="3794653"/>
              <a:ext cx="512400" cy="385943"/>
              <a:chOff x="638951" y="4628190"/>
              <a:chExt cx="2381250" cy="2381250"/>
            </a:xfrm>
          </p:grpSpPr>
          <p:pic>
            <p:nvPicPr>
              <p:cNvPr id="7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951" y="462819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Abgerundetes Rechteck 72"/>
              <p:cNvSpPr/>
              <p:nvPr/>
            </p:nvSpPr>
            <p:spPr bwMode="auto">
              <a:xfrm>
                <a:off x="831918" y="471189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2743200" y="3019498"/>
              <a:ext cx="512400" cy="385943"/>
              <a:chOff x="1066800" y="2269713"/>
              <a:chExt cx="2381250" cy="2381250"/>
            </a:xfrm>
          </p:grpSpPr>
          <p:pic>
            <p:nvPicPr>
              <p:cNvPr id="75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800" y="2269713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Abgerundetes Rechteck 75"/>
              <p:cNvSpPr/>
              <p:nvPr/>
            </p:nvSpPr>
            <p:spPr bwMode="auto">
              <a:xfrm>
                <a:off x="1259766" y="2353424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uppieren 79"/>
            <p:cNvGrpSpPr/>
            <p:nvPr/>
          </p:nvGrpSpPr>
          <p:grpSpPr>
            <a:xfrm>
              <a:off x="3330532" y="4350696"/>
              <a:ext cx="512400" cy="385943"/>
              <a:chOff x="2025679" y="3469967"/>
              <a:chExt cx="2381250" cy="2381250"/>
            </a:xfrm>
          </p:grpSpPr>
          <p:pic>
            <p:nvPicPr>
              <p:cNvPr id="81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5679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Abgerundetes Rechteck 81"/>
              <p:cNvSpPr/>
              <p:nvPr/>
            </p:nvSpPr>
            <p:spPr bwMode="auto">
              <a:xfrm>
                <a:off x="2218647" y="3553682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4" name="Gruppieren 93"/>
          <p:cNvGrpSpPr/>
          <p:nvPr/>
        </p:nvGrpSpPr>
        <p:grpSpPr>
          <a:xfrm flipH="1">
            <a:off x="4648200" y="5181600"/>
            <a:ext cx="1779879" cy="566777"/>
            <a:chOff x="477449" y="2158821"/>
            <a:chExt cx="1770451" cy="566777"/>
          </a:xfrm>
        </p:grpSpPr>
        <p:sp>
          <p:nvSpPr>
            <p:cNvPr id="95" name="Flussdiagramm: Datenträger mit direktem Zugriff 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Flussdiagramm: Alternativer Prozess 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97" name="Gerade Verbindung mit Pfeil 9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8" name="Gerade Verbindung mit Pfeil 9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99" name="Gruppieren 98"/>
          <p:cNvGrpSpPr/>
          <p:nvPr/>
        </p:nvGrpSpPr>
        <p:grpSpPr>
          <a:xfrm>
            <a:off x="324111" y="3788362"/>
            <a:ext cx="1774842" cy="566777"/>
            <a:chOff x="477449" y="2158821"/>
            <a:chExt cx="1770451" cy="566777"/>
          </a:xfrm>
        </p:grpSpPr>
        <p:sp>
          <p:nvSpPr>
            <p:cNvPr id="100" name="Flussdiagramm: Datenträger mit direktem Zugriff 9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Flussdiagramm: Alternativer Prozess 10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WFS</a:t>
              </a:r>
              <a:endParaRPr lang="en-GB" sz="1800" dirty="0"/>
            </a:p>
          </p:txBody>
        </p:sp>
        <p:cxnSp>
          <p:nvCxnSpPr>
            <p:cNvPr id="102" name="Gerade Verbindung mit Pfeil 10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3" name="Gerade Verbindung mit Pfeil 10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86" name="Flussdiagramm: Alternativer Prozess 85"/>
          <p:cNvSpPr/>
          <p:nvPr/>
        </p:nvSpPr>
        <p:spPr bwMode="auto">
          <a:xfrm>
            <a:off x="2133600" y="1616887"/>
            <a:ext cx="757577" cy="506321"/>
          </a:xfrm>
          <a:prstGeom prst="flowChartAlternateProcess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800" dirty="0" smtClean="0"/>
              <a:t>WMS</a:t>
            </a:r>
            <a:endParaRPr lang="en-GB" sz="1800" dirty="0"/>
          </a:p>
        </p:txBody>
      </p:sp>
      <p:sp>
        <p:nvSpPr>
          <p:cNvPr id="113" name="Flussdiagramm: Datenträger mit direktem Zugriff 112"/>
          <p:cNvSpPr/>
          <p:nvPr/>
        </p:nvSpPr>
        <p:spPr bwMode="auto">
          <a:xfrm>
            <a:off x="1100400" y="9144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Gerade Verbindung mit Pfeil 87"/>
          <p:cNvCxnSpPr>
            <a:stCxn id="118" idx="6"/>
            <a:endCxn id="86" idx="1"/>
          </p:cNvCxnSpPr>
          <p:nvPr/>
        </p:nvCxnSpPr>
        <p:spPr bwMode="auto">
          <a:xfrm>
            <a:off x="1828800" y="1649739"/>
            <a:ext cx="304800" cy="22030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/>
          </a:ln>
          <a:effectLst/>
        </p:spPr>
      </p:cxnSp>
      <p:grpSp>
        <p:nvGrpSpPr>
          <p:cNvPr id="123" name="Gruppieren 122"/>
          <p:cNvGrpSpPr/>
          <p:nvPr/>
        </p:nvGrpSpPr>
        <p:grpSpPr>
          <a:xfrm>
            <a:off x="381000" y="2938423"/>
            <a:ext cx="1774842" cy="566777"/>
            <a:chOff x="477449" y="2158821"/>
            <a:chExt cx="1770451" cy="566777"/>
          </a:xfrm>
        </p:grpSpPr>
        <p:sp>
          <p:nvSpPr>
            <p:cNvPr id="124" name="Flussdiagramm: Datenträger mit direktem Zugriff 12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lussdiagramm: Alternativer Prozess 12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130" name="Gerade Verbindung mit Pfeil 12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1" name="Gerade Verbindung mit Pfeil 13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56" name="Gruppieren 155"/>
          <p:cNvGrpSpPr/>
          <p:nvPr/>
        </p:nvGrpSpPr>
        <p:grpSpPr>
          <a:xfrm flipH="1">
            <a:off x="4468521" y="990600"/>
            <a:ext cx="1779879" cy="566777"/>
            <a:chOff x="477449" y="2158821"/>
            <a:chExt cx="1770451" cy="566777"/>
          </a:xfrm>
        </p:grpSpPr>
        <p:sp>
          <p:nvSpPr>
            <p:cNvPr id="157" name="Flussdiagramm: Datenträger mit direktem Zugriff 1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Flussdiagramm: Alternativer Prozess 1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600" dirty="0" smtClean="0"/>
                <a:t>WMS</a:t>
              </a:r>
              <a:endParaRPr lang="en-GB" sz="1600" dirty="0"/>
            </a:p>
          </p:txBody>
        </p:sp>
        <p:cxnSp>
          <p:nvCxnSpPr>
            <p:cNvPr id="159" name="Gerade Verbindung mit Pfeil 158"/>
            <p:cNvCxnSpPr/>
            <p:nvPr/>
          </p:nvCxnSpPr>
          <p:spPr bwMode="auto">
            <a:xfrm flipH="1" flipV="1">
              <a:off x="1084493" y="2316999"/>
              <a:ext cx="408425" cy="1091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0" name="Gerade Verbindung mit Pfeil 1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77" name="Gruppieren 176"/>
          <p:cNvGrpSpPr/>
          <p:nvPr/>
        </p:nvGrpSpPr>
        <p:grpSpPr>
          <a:xfrm>
            <a:off x="1546060" y="2215359"/>
            <a:ext cx="988201" cy="527835"/>
            <a:chOff x="1080057" y="4896613"/>
            <a:chExt cx="2425050" cy="1223197"/>
          </a:xfrm>
        </p:grpSpPr>
        <p:sp>
          <p:nvSpPr>
            <p:cNvPr id="178" name="Flussdiagramm: Datenträger mit direktem Zugriff 177"/>
            <p:cNvSpPr/>
            <p:nvPr/>
          </p:nvSpPr>
          <p:spPr bwMode="auto">
            <a:xfrm>
              <a:off x="1465480" y="4896613"/>
              <a:ext cx="757578" cy="515252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Flussdiagramm: Alternativer Prozess 178"/>
            <p:cNvSpPr/>
            <p:nvPr/>
          </p:nvSpPr>
          <p:spPr bwMode="auto">
            <a:xfrm>
              <a:off x="2671771" y="5216549"/>
              <a:ext cx="833336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85" name="Gerade Verbindung mit Pfeil 184"/>
            <p:cNvCxnSpPr>
              <a:stCxn id="178" idx="4"/>
              <a:endCxn id="179" idx="1"/>
            </p:cNvCxnSpPr>
            <p:nvPr/>
          </p:nvCxnSpPr>
          <p:spPr bwMode="auto">
            <a:xfrm>
              <a:off x="2223059" y="5154239"/>
              <a:ext cx="448712" cy="3154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186" name="Flussdiagramm: Datenträger mit direktem Zugriff 185"/>
            <p:cNvSpPr/>
            <p:nvPr/>
          </p:nvSpPr>
          <p:spPr bwMode="auto">
            <a:xfrm>
              <a:off x="1080057" y="5553033"/>
              <a:ext cx="757578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7" name="Gerade Verbindung mit Pfeil 186"/>
            <p:cNvCxnSpPr>
              <a:stCxn id="179" idx="1"/>
              <a:endCxn id="186" idx="4"/>
            </p:cNvCxnSpPr>
            <p:nvPr/>
          </p:nvCxnSpPr>
          <p:spPr bwMode="auto">
            <a:xfrm flipH="1">
              <a:off x="1837635" y="5469709"/>
              <a:ext cx="834136" cy="36671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188" name="Gruppieren 187"/>
          <p:cNvGrpSpPr/>
          <p:nvPr/>
        </p:nvGrpSpPr>
        <p:grpSpPr>
          <a:xfrm>
            <a:off x="533400" y="6040522"/>
            <a:ext cx="752706" cy="264405"/>
            <a:chOff x="477449" y="2158821"/>
            <a:chExt cx="1770451" cy="566777"/>
          </a:xfrm>
        </p:grpSpPr>
        <p:sp>
          <p:nvSpPr>
            <p:cNvPr id="189" name="Flussdiagramm: Datenträger mit direktem Zugriff 18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Flussdiagramm: Alternativer Prozess 18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91" name="Gerade Verbindung mit Pfeil 19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2" name="Gerade Verbindung mit Pfeil 19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98" name="Gruppieren 197"/>
          <p:cNvGrpSpPr/>
          <p:nvPr/>
        </p:nvGrpSpPr>
        <p:grpSpPr>
          <a:xfrm>
            <a:off x="2827277" y="1076033"/>
            <a:ext cx="752706" cy="264405"/>
            <a:chOff x="477449" y="2158821"/>
            <a:chExt cx="1770451" cy="566777"/>
          </a:xfrm>
        </p:grpSpPr>
        <p:sp>
          <p:nvSpPr>
            <p:cNvPr id="199" name="Flussdiagramm: Datenträger mit direktem Zugriff 19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Flussdiagramm: Alternativer Prozess 19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01" name="Gerade Verbindung mit Pfeil 20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02" name="Gerade Verbindung mit Pfeil 20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08" name="Gruppieren 207"/>
          <p:cNvGrpSpPr/>
          <p:nvPr/>
        </p:nvGrpSpPr>
        <p:grpSpPr>
          <a:xfrm flipH="1">
            <a:off x="7954423" y="1219200"/>
            <a:ext cx="732377" cy="264405"/>
            <a:chOff x="477449" y="2158821"/>
            <a:chExt cx="1770451" cy="566777"/>
          </a:xfrm>
        </p:grpSpPr>
        <p:sp>
          <p:nvSpPr>
            <p:cNvPr id="209" name="Flussdiagramm: Datenträger mit direktem Zugriff 20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Flussdiagramm: Alternativer Prozess 20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1" name="Gerade Verbindung mit Pfeil 21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2" name="Gerade Verbindung mit Pfeil 21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13" name="Gruppieren 212"/>
          <p:cNvGrpSpPr/>
          <p:nvPr/>
        </p:nvGrpSpPr>
        <p:grpSpPr>
          <a:xfrm flipH="1">
            <a:off x="5516023" y="5983995"/>
            <a:ext cx="732377" cy="264405"/>
            <a:chOff x="477449" y="2158821"/>
            <a:chExt cx="1770451" cy="566777"/>
          </a:xfrm>
        </p:grpSpPr>
        <p:sp>
          <p:nvSpPr>
            <p:cNvPr id="214" name="Flussdiagramm: Datenträger mit direktem Zugriff 21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Flussdiagramm: Alternativer Prozess 21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6" name="Gerade Verbindung mit Pfeil 215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7" name="Gerade Verbindung mit Pfeil 216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4" name="Gruppieren 223"/>
          <p:cNvGrpSpPr/>
          <p:nvPr/>
        </p:nvGrpSpPr>
        <p:grpSpPr>
          <a:xfrm flipH="1">
            <a:off x="6858000" y="5715000"/>
            <a:ext cx="732377" cy="264405"/>
            <a:chOff x="477449" y="2158821"/>
            <a:chExt cx="1770451" cy="566777"/>
          </a:xfrm>
        </p:grpSpPr>
        <p:sp>
          <p:nvSpPr>
            <p:cNvPr id="225" name="Flussdiagramm: Datenträger mit direktem Zugriff 22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6" name="Flussdiagramm: Alternativer Prozess 22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27" name="Gerade Verbindung mit Pfeil 22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8" name="Gerade Verbindung mit Pfeil 22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9" name="Gruppieren 228"/>
          <p:cNvGrpSpPr/>
          <p:nvPr/>
        </p:nvGrpSpPr>
        <p:grpSpPr>
          <a:xfrm flipH="1">
            <a:off x="6705600" y="990600"/>
            <a:ext cx="732377" cy="264405"/>
            <a:chOff x="477449" y="2158821"/>
            <a:chExt cx="1770451" cy="566777"/>
          </a:xfrm>
        </p:grpSpPr>
        <p:sp>
          <p:nvSpPr>
            <p:cNvPr id="230" name="Flussdiagramm: Datenträger mit direktem Zugriff 22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" name="Flussdiagramm: Alternativer Prozess 23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2" name="Gerade Verbindung mit Pfeil 23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3" name="Gerade Verbindung mit Pfeil 23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34" name="Gruppieren 233"/>
          <p:cNvGrpSpPr/>
          <p:nvPr/>
        </p:nvGrpSpPr>
        <p:grpSpPr>
          <a:xfrm flipH="1">
            <a:off x="6904409" y="1385097"/>
            <a:ext cx="944191" cy="519903"/>
            <a:chOff x="846317" y="4760484"/>
            <a:chExt cx="2317045" cy="1204813"/>
          </a:xfrm>
        </p:grpSpPr>
        <p:sp>
          <p:nvSpPr>
            <p:cNvPr id="235" name="Flussdiagramm: Datenträger mit direktem Zugriff 234"/>
            <p:cNvSpPr/>
            <p:nvPr/>
          </p:nvSpPr>
          <p:spPr bwMode="auto">
            <a:xfrm>
              <a:off x="1395355" y="4760484"/>
              <a:ext cx="757578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" name="Flussdiagramm: Alternativer Prozess 235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7" name="Gerade Verbindung mit Pfeil 236"/>
            <p:cNvCxnSpPr>
              <a:stCxn id="235" idx="4"/>
              <a:endCxn id="236" idx="1"/>
            </p:cNvCxnSpPr>
            <p:nvPr/>
          </p:nvCxnSpPr>
          <p:spPr bwMode="auto">
            <a:xfrm>
              <a:off x="2152933" y="5043872"/>
              <a:ext cx="252851" cy="4258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38" name="Flussdiagramm: Datenträger mit direktem Zugriff 237"/>
            <p:cNvSpPr/>
            <p:nvPr/>
          </p:nvSpPr>
          <p:spPr bwMode="auto">
            <a:xfrm>
              <a:off x="846317" y="5398521"/>
              <a:ext cx="757577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9" name="Gerade Verbindung mit Pfeil 238"/>
            <p:cNvCxnSpPr>
              <a:stCxn id="236" idx="1"/>
              <a:endCxn id="238" idx="4"/>
            </p:cNvCxnSpPr>
            <p:nvPr/>
          </p:nvCxnSpPr>
          <p:spPr bwMode="auto">
            <a:xfrm flipH="1">
              <a:off x="1603894" y="5469711"/>
              <a:ext cx="801891" cy="21219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46" name="Gruppieren 245"/>
          <p:cNvGrpSpPr/>
          <p:nvPr/>
        </p:nvGrpSpPr>
        <p:grpSpPr>
          <a:xfrm>
            <a:off x="1874320" y="6019800"/>
            <a:ext cx="752706" cy="264405"/>
            <a:chOff x="477449" y="2158821"/>
            <a:chExt cx="1770451" cy="566777"/>
          </a:xfrm>
        </p:grpSpPr>
        <p:sp>
          <p:nvSpPr>
            <p:cNvPr id="247" name="Flussdiagramm: Datenträger mit direktem Zugriff 24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Flussdiagramm: Alternativer Prozess 24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9" name="Gerade Verbindung mit Pfeil 24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0" name="Gerade Verbindung mit Pfeil 24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1" name="Gruppieren 250"/>
          <p:cNvGrpSpPr/>
          <p:nvPr/>
        </p:nvGrpSpPr>
        <p:grpSpPr>
          <a:xfrm>
            <a:off x="3438294" y="5486400"/>
            <a:ext cx="752706" cy="264405"/>
            <a:chOff x="477449" y="2158821"/>
            <a:chExt cx="1770451" cy="566777"/>
          </a:xfrm>
        </p:grpSpPr>
        <p:sp>
          <p:nvSpPr>
            <p:cNvPr id="252" name="Flussdiagramm: Datenträger mit direktem Zugriff 25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Flussdiagramm: Alternativer Prozess 25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4" name="Gerade Verbindung mit Pfeil 25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5" name="Gerade Verbindung mit Pfeil 25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6" name="Gruppieren 255"/>
          <p:cNvGrpSpPr/>
          <p:nvPr/>
        </p:nvGrpSpPr>
        <p:grpSpPr>
          <a:xfrm>
            <a:off x="3200149" y="1628866"/>
            <a:ext cx="752706" cy="264405"/>
            <a:chOff x="477449" y="2158821"/>
            <a:chExt cx="1770451" cy="566777"/>
          </a:xfrm>
        </p:grpSpPr>
        <p:sp>
          <p:nvSpPr>
            <p:cNvPr id="257" name="Flussdiagramm: Datenträger mit direktem Zugriff 2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Flussdiagramm: Alternativer Prozess 2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9" name="Gerade Verbindung mit Pfeil 25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0" name="Gerade Verbindung mit Pfeil 2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61" name="Gruppieren 260"/>
          <p:cNvGrpSpPr/>
          <p:nvPr/>
        </p:nvGrpSpPr>
        <p:grpSpPr>
          <a:xfrm flipH="1">
            <a:off x="4267200" y="6019800"/>
            <a:ext cx="732377" cy="264405"/>
            <a:chOff x="477449" y="2158821"/>
            <a:chExt cx="1770451" cy="566777"/>
          </a:xfrm>
        </p:grpSpPr>
        <p:sp>
          <p:nvSpPr>
            <p:cNvPr id="262" name="Flussdiagramm: Datenträger mit direktem Zugriff 26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Flussdiagramm: Alternativer Prozess 26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64" name="Gerade Verbindung mit Pfeil 26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5" name="Gerade Verbindung mit Pfeil 26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46" name="Flussdiagramm: Datenträger mit direktem Zugriff 345"/>
          <p:cNvSpPr/>
          <p:nvPr/>
        </p:nvSpPr>
        <p:spPr bwMode="auto">
          <a:xfrm>
            <a:off x="954885" y="152119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" name="Flussdiagramm: Datenträger mit direktem Zugriff 346"/>
          <p:cNvSpPr/>
          <p:nvPr/>
        </p:nvSpPr>
        <p:spPr bwMode="auto">
          <a:xfrm>
            <a:off x="762000" y="1905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7" name="Gerade Verbindung mit Pfeil 316"/>
          <p:cNvCxnSpPr>
            <a:stCxn id="370" idx="4"/>
            <a:endCxn id="118" idx="1"/>
          </p:cNvCxnSpPr>
          <p:nvPr/>
        </p:nvCxnSpPr>
        <p:spPr bwMode="auto">
          <a:xfrm>
            <a:off x="1109400" y="1323000"/>
            <a:ext cx="667317" cy="30788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9" name="Gerade Verbindung mit Pfeil 318"/>
          <p:cNvCxnSpPr>
            <a:stCxn id="346" idx="4"/>
            <a:endCxn id="118" idx="2"/>
          </p:cNvCxnSpPr>
          <p:nvPr/>
        </p:nvCxnSpPr>
        <p:spPr bwMode="auto">
          <a:xfrm flipV="1">
            <a:off x="1530885" y="1649739"/>
            <a:ext cx="236896" cy="51451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18" name="Ellipse 117"/>
          <p:cNvSpPr/>
          <p:nvPr/>
        </p:nvSpPr>
        <p:spPr bwMode="auto">
          <a:xfrm>
            <a:off x="1767781" y="1623078"/>
            <a:ext cx="61019" cy="53322"/>
          </a:xfrm>
          <a:prstGeom prst="ellips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Flussdiagramm: Datenträger mit direktem Zugriff 369"/>
          <p:cNvSpPr/>
          <p:nvPr/>
        </p:nvSpPr>
        <p:spPr bwMode="auto">
          <a:xfrm>
            <a:off x="533400" y="1143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2" name="Gerade Verbindung mit Pfeil 1041"/>
          <p:cNvCxnSpPr>
            <a:stCxn id="113" idx="4"/>
            <a:endCxn id="118" idx="0"/>
          </p:cNvCxnSpPr>
          <p:nvPr/>
        </p:nvCxnSpPr>
        <p:spPr bwMode="auto">
          <a:xfrm>
            <a:off x="1676400" y="1094400"/>
            <a:ext cx="121891" cy="528678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45" name="Gerade Verbindung 1044"/>
          <p:cNvCxnSpPr>
            <a:stCxn id="347" idx="4"/>
            <a:endCxn id="118" idx="3"/>
          </p:cNvCxnSpPr>
          <p:nvPr/>
        </p:nvCxnSpPr>
        <p:spPr bwMode="auto">
          <a:xfrm flipV="1">
            <a:off x="1338000" y="1668591"/>
            <a:ext cx="438717" cy="41640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9" name="Flussdiagramm: Datenträger mit direktem Zugriff 378"/>
          <p:cNvSpPr/>
          <p:nvPr/>
        </p:nvSpPr>
        <p:spPr bwMode="auto">
          <a:xfrm>
            <a:off x="1767781" y="980438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Gerade Verbindung 1048"/>
          <p:cNvCxnSpPr>
            <a:stCxn id="379" idx="4"/>
            <a:endCxn id="118" idx="7"/>
          </p:cNvCxnSpPr>
          <p:nvPr/>
        </p:nvCxnSpPr>
        <p:spPr bwMode="auto">
          <a:xfrm flipH="1">
            <a:off x="1819864" y="1160438"/>
            <a:ext cx="523917" cy="47044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9" name="Gruppieren 328"/>
          <p:cNvGrpSpPr/>
          <p:nvPr/>
        </p:nvGrpSpPr>
        <p:grpSpPr>
          <a:xfrm>
            <a:off x="1181023" y="5029200"/>
            <a:ext cx="1943177" cy="838200"/>
            <a:chOff x="1176600" y="5029200"/>
            <a:chExt cx="1943177" cy="838200"/>
          </a:xfrm>
        </p:grpSpPr>
        <p:sp>
          <p:nvSpPr>
            <p:cNvPr id="133" name="Flussdiagramm: Alternativer Prozess 132"/>
            <p:cNvSpPr/>
            <p:nvPr/>
          </p:nvSpPr>
          <p:spPr bwMode="auto">
            <a:xfrm>
              <a:off x="2362200" y="518160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WCS</a:t>
              </a:r>
              <a:endParaRPr lang="en-GB" sz="1800" dirty="0"/>
            </a:p>
          </p:txBody>
        </p:sp>
        <p:sp>
          <p:nvSpPr>
            <p:cNvPr id="384" name="Flussdiagramm: Datenträger mit direktem Zugriff 383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5" name="Gerade Verbindung mit Pfeil 384"/>
            <p:cNvCxnSpPr>
              <a:stCxn id="390" idx="6"/>
              <a:endCxn id="133" idx="1"/>
            </p:cNvCxnSpPr>
            <p:nvPr/>
          </p:nvCxnSpPr>
          <p:spPr bwMode="auto">
            <a:xfrm flipV="1">
              <a:off x="1966019" y="5434761"/>
              <a:ext cx="396181" cy="21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388" name="Gerade Verbindung mit Pfeil 387"/>
            <p:cNvCxnSpPr>
              <a:stCxn id="391" idx="4"/>
              <a:endCxn id="390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0" name="Ellipse 389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Flussdiagramm: Datenträger mit direktem Zugriff 390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2" name="Gerade Verbindung mit Pfeil 391"/>
            <p:cNvCxnSpPr>
              <a:stCxn id="384" idx="4"/>
              <a:endCxn id="390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7" name="Gruppieren 396"/>
          <p:cNvGrpSpPr/>
          <p:nvPr/>
        </p:nvGrpSpPr>
        <p:grpSpPr>
          <a:xfrm>
            <a:off x="1981200" y="4572000"/>
            <a:ext cx="752706" cy="264405"/>
            <a:chOff x="477449" y="2158821"/>
            <a:chExt cx="1770451" cy="566777"/>
          </a:xfrm>
        </p:grpSpPr>
        <p:sp>
          <p:nvSpPr>
            <p:cNvPr id="398" name="Flussdiagramm: Datenträger mit direktem Zugriff 39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9" name="Flussdiagramm: Alternativer Prozess 39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0" name="Gerade Verbindung mit Pfeil 39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1" name="Gerade Verbindung mit Pfeil 40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8" name="Gruppieren 327"/>
          <p:cNvGrpSpPr/>
          <p:nvPr/>
        </p:nvGrpSpPr>
        <p:grpSpPr>
          <a:xfrm>
            <a:off x="407145" y="4545863"/>
            <a:ext cx="1207646" cy="605462"/>
            <a:chOff x="240154" y="4574069"/>
            <a:chExt cx="1207646" cy="605462"/>
          </a:xfrm>
        </p:grpSpPr>
        <p:sp>
          <p:nvSpPr>
            <p:cNvPr id="169" name="Flussdiagramm: Alternativer Prozess 168"/>
            <p:cNvSpPr/>
            <p:nvPr/>
          </p:nvSpPr>
          <p:spPr bwMode="auto">
            <a:xfrm>
              <a:off x="1130107" y="4693385"/>
              <a:ext cx="317693" cy="215775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2" name="Gerade Verbindung mit Pfeil 401"/>
            <p:cNvCxnSpPr>
              <a:stCxn id="409" idx="6"/>
              <a:endCxn id="169" idx="1"/>
            </p:cNvCxnSpPr>
            <p:nvPr/>
          </p:nvCxnSpPr>
          <p:spPr bwMode="auto">
            <a:xfrm flipV="1">
              <a:off x="873169" y="4801273"/>
              <a:ext cx="256938" cy="151444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03" name="Flussdiagramm: Datenträger mit direktem Zugriff 402"/>
            <p:cNvSpPr/>
            <p:nvPr/>
          </p:nvSpPr>
          <p:spPr bwMode="auto">
            <a:xfrm>
              <a:off x="240154" y="47244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4" name="Flussdiagramm: Datenträger mit direktem Zugriff 403"/>
            <p:cNvSpPr/>
            <p:nvPr/>
          </p:nvSpPr>
          <p:spPr bwMode="auto">
            <a:xfrm>
              <a:off x="457200" y="49530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Gerade Verbindung mit Pfeil 404"/>
            <p:cNvCxnSpPr>
              <a:stCxn id="407" idx="4"/>
              <a:endCxn id="409" idx="4"/>
            </p:cNvCxnSpPr>
            <p:nvPr/>
          </p:nvCxnSpPr>
          <p:spPr bwMode="auto">
            <a:xfrm>
              <a:off x="821400" y="4687335"/>
              <a:ext cx="28910" cy="242523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6" name="Gerade Verbindung mit Pfeil 405"/>
            <p:cNvCxnSpPr>
              <a:stCxn id="403" idx="4"/>
              <a:endCxn id="409" idx="2"/>
            </p:cNvCxnSpPr>
            <p:nvPr/>
          </p:nvCxnSpPr>
          <p:spPr bwMode="auto">
            <a:xfrm>
              <a:off x="528154" y="4837666"/>
              <a:ext cx="299296" cy="11505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7" name="Flussdiagramm: Datenträger mit direktem Zugriff 406"/>
            <p:cNvSpPr/>
            <p:nvPr/>
          </p:nvSpPr>
          <p:spPr bwMode="auto">
            <a:xfrm>
              <a:off x="533400" y="4574069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8" name="Gerade Verbindung 407"/>
            <p:cNvCxnSpPr>
              <a:stCxn id="404" idx="4"/>
              <a:endCxn id="409" idx="1"/>
            </p:cNvCxnSpPr>
            <p:nvPr/>
          </p:nvCxnSpPr>
          <p:spPr bwMode="auto">
            <a:xfrm flipV="1">
              <a:off x="745200" y="4968882"/>
              <a:ext cx="88945" cy="97384"/>
            </a:xfrm>
            <a:prstGeom prst="line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9" name="Ellipse 408"/>
            <p:cNvSpPr/>
            <p:nvPr/>
          </p:nvSpPr>
          <p:spPr bwMode="auto">
            <a:xfrm flipV="1">
              <a:off x="827450" y="4929858"/>
              <a:ext cx="45719" cy="45719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6" name="Gruppieren 425"/>
          <p:cNvGrpSpPr/>
          <p:nvPr/>
        </p:nvGrpSpPr>
        <p:grpSpPr>
          <a:xfrm flipH="1">
            <a:off x="7848600" y="5966073"/>
            <a:ext cx="1072986" cy="434727"/>
            <a:chOff x="1176600" y="5029200"/>
            <a:chExt cx="1877436" cy="838200"/>
          </a:xfrm>
        </p:grpSpPr>
        <p:sp>
          <p:nvSpPr>
            <p:cNvPr id="427" name="Flussdiagramm: Alternativer Prozess 426"/>
            <p:cNvSpPr/>
            <p:nvPr/>
          </p:nvSpPr>
          <p:spPr bwMode="auto">
            <a:xfrm>
              <a:off x="2427939" y="5181599"/>
              <a:ext cx="62609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sp>
          <p:nvSpPr>
            <p:cNvPr id="428" name="Flussdiagramm: Datenträger mit direktem Zugriff 427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9" name="Gerade Verbindung mit Pfeil 428"/>
            <p:cNvCxnSpPr>
              <a:stCxn id="431" idx="6"/>
              <a:endCxn id="427" idx="1"/>
            </p:cNvCxnSpPr>
            <p:nvPr/>
          </p:nvCxnSpPr>
          <p:spPr bwMode="auto">
            <a:xfrm flipV="1">
              <a:off x="1966019" y="5434760"/>
              <a:ext cx="461920" cy="2102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430" name="Gerade Verbindung mit Pfeil 429"/>
            <p:cNvCxnSpPr>
              <a:stCxn id="432" idx="4"/>
              <a:endCxn id="431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1" name="Ellipse 430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Flussdiagramm: Datenträger mit direktem Zugriff 431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3" name="Gerade Verbindung mit Pfeil 432"/>
            <p:cNvCxnSpPr>
              <a:stCxn id="428" idx="4"/>
              <a:endCxn id="431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40" name="Gruppieren 239"/>
          <p:cNvGrpSpPr/>
          <p:nvPr/>
        </p:nvGrpSpPr>
        <p:grpSpPr>
          <a:xfrm>
            <a:off x="3017326" y="6172200"/>
            <a:ext cx="792674" cy="264405"/>
            <a:chOff x="477449" y="2158821"/>
            <a:chExt cx="1770451" cy="566777"/>
          </a:xfrm>
        </p:grpSpPr>
        <p:sp>
          <p:nvSpPr>
            <p:cNvPr id="241" name="Flussdiagramm: Datenträger mit direktem Zugriff 240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" name="Flussdiagramm: Alternativer Prozess 241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3" name="Gerade Verbindung mit Pfeil 242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4" name="Gerade Verbindung mit Pfeil 243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320" name="Gerade Verbindung mit Pfeil 319"/>
          <p:cNvCxnSpPr>
            <a:endCxn id="158" idx="2"/>
          </p:cNvCxnSpPr>
          <p:nvPr/>
        </p:nvCxnSpPr>
        <p:spPr bwMode="auto">
          <a:xfrm flipH="1" flipV="1">
            <a:off x="4848384" y="1527149"/>
            <a:ext cx="45895" cy="1139851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1" name="Gerade Verbindung mit Pfeil 320"/>
          <p:cNvCxnSpPr>
            <a:stCxn id="43" idx="0"/>
            <a:endCxn id="153" idx="3"/>
          </p:cNvCxnSpPr>
          <p:nvPr/>
        </p:nvCxnSpPr>
        <p:spPr bwMode="auto">
          <a:xfrm flipV="1">
            <a:off x="5641672" y="2612212"/>
            <a:ext cx="655649" cy="458421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2" name="Gerade Verbindung mit Pfeil 321"/>
          <p:cNvCxnSpPr>
            <a:endCxn id="86" idx="2"/>
          </p:cNvCxnSpPr>
          <p:nvPr/>
        </p:nvCxnSpPr>
        <p:spPr bwMode="auto">
          <a:xfrm flipH="1" flipV="1">
            <a:off x="2512389" y="2123208"/>
            <a:ext cx="687080" cy="1002100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3" name="Gerade Verbindung mit Pfeil 322"/>
          <p:cNvCxnSpPr>
            <a:endCxn id="258" idx="2"/>
          </p:cNvCxnSpPr>
          <p:nvPr/>
        </p:nvCxnSpPr>
        <p:spPr bwMode="auto">
          <a:xfrm flipH="1" flipV="1">
            <a:off x="3792212" y="1879170"/>
            <a:ext cx="170413" cy="78782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4" name="Gerade Verbindung mit Pfeil 323"/>
          <p:cNvCxnSpPr>
            <a:stCxn id="40" idx="3"/>
            <a:endCxn id="309" idx="3"/>
          </p:cNvCxnSpPr>
          <p:nvPr/>
        </p:nvCxnSpPr>
        <p:spPr bwMode="auto">
          <a:xfrm flipV="1">
            <a:off x="6086150" y="3537475"/>
            <a:ext cx="724257" cy="241363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5" name="Gerade Verbindung mit Pfeil 324"/>
          <p:cNvCxnSpPr>
            <a:stCxn id="64" idx="2"/>
            <a:endCxn id="335" idx="3"/>
          </p:cNvCxnSpPr>
          <p:nvPr/>
        </p:nvCxnSpPr>
        <p:spPr bwMode="auto">
          <a:xfrm>
            <a:off x="5451671" y="4422703"/>
            <a:ext cx="990535" cy="447165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6" name="Gerade Verbindung mit Pfeil 325"/>
          <p:cNvCxnSpPr>
            <a:endCxn id="96" idx="0"/>
          </p:cNvCxnSpPr>
          <p:nvPr/>
        </p:nvCxnSpPr>
        <p:spPr bwMode="auto">
          <a:xfrm>
            <a:off x="4644947" y="4766721"/>
            <a:ext cx="383116" cy="445107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7" name="Gerade Verbindung mit Pfeil 326"/>
          <p:cNvCxnSpPr>
            <a:stCxn id="82" idx="1"/>
            <a:endCxn id="133" idx="0"/>
          </p:cNvCxnSpPr>
          <p:nvPr/>
        </p:nvCxnSpPr>
        <p:spPr bwMode="auto">
          <a:xfrm flipH="1">
            <a:off x="2745412" y="4452091"/>
            <a:ext cx="791210" cy="72950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0" name="Gerade Verbindung mit Pfeil 329"/>
          <p:cNvCxnSpPr>
            <a:endCxn id="101" idx="3"/>
          </p:cNvCxnSpPr>
          <p:nvPr/>
        </p:nvCxnSpPr>
        <p:spPr bwMode="auto">
          <a:xfrm flipH="1">
            <a:off x="2098953" y="3945724"/>
            <a:ext cx="685539" cy="126027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02" name="Gruppieren 301"/>
          <p:cNvGrpSpPr/>
          <p:nvPr/>
        </p:nvGrpSpPr>
        <p:grpSpPr>
          <a:xfrm flipH="1">
            <a:off x="7078456" y="4027843"/>
            <a:ext cx="732377" cy="264405"/>
            <a:chOff x="477449" y="2158821"/>
            <a:chExt cx="1770451" cy="566777"/>
          </a:xfrm>
        </p:grpSpPr>
        <p:sp>
          <p:nvSpPr>
            <p:cNvPr id="303" name="Flussdiagramm: Datenträger mit direktem Zugriff 302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4" name="Flussdiagramm: Alternativer Prozess 303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305" name="Gerade Verbindung mit Pfeil 304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06" name="Gerade Verbindung mit Pfeil 305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07" name="Gruppieren 306"/>
          <p:cNvGrpSpPr/>
          <p:nvPr/>
        </p:nvGrpSpPr>
        <p:grpSpPr>
          <a:xfrm flipH="1">
            <a:off x="6810407" y="3137270"/>
            <a:ext cx="2181193" cy="697134"/>
            <a:chOff x="1080057" y="5069506"/>
            <a:chExt cx="2083305" cy="697134"/>
          </a:xfrm>
        </p:grpSpPr>
        <p:sp>
          <p:nvSpPr>
            <p:cNvPr id="308" name="Flussdiagramm: Datenträger mit direktem Zugriff 307"/>
            <p:cNvSpPr/>
            <p:nvPr/>
          </p:nvSpPr>
          <p:spPr bwMode="auto">
            <a:xfrm>
              <a:off x="1465480" y="5069506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9" name="Flussdiagramm: Alternativer Prozess 308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310" name="Gerade Verbindung mit Pfeil 309"/>
            <p:cNvCxnSpPr>
              <a:endCxn id="309" idx="1"/>
            </p:cNvCxnSpPr>
            <p:nvPr/>
          </p:nvCxnSpPr>
          <p:spPr bwMode="auto">
            <a:xfrm>
              <a:off x="2119046" y="5329670"/>
              <a:ext cx="286739" cy="14004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311" name="Flussdiagramm: Datenträger mit direktem Zugriff 310"/>
            <p:cNvSpPr/>
            <p:nvPr/>
          </p:nvSpPr>
          <p:spPr bwMode="auto">
            <a:xfrm>
              <a:off x="1080057" y="519986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12" name="Gerade Verbindung mit Pfeil 311"/>
            <p:cNvCxnSpPr>
              <a:stCxn id="309" idx="1"/>
            </p:cNvCxnSpPr>
            <p:nvPr/>
          </p:nvCxnSpPr>
          <p:spPr bwMode="auto">
            <a:xfrm flipH="1" flipV="1">
              <a:off x="1716341" y="5469710"/>
              <a:ext cx="68944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313" name="Gruppieren 312"/>
          <p:cNvGrpSpPr/>
          <p:nvPr/>
        </p:nvGrpSpPr>
        <p:grpSpPr>
          <a:xfrm>
            <a:off x="6442206" y="4343400"/>
            <a:ext cx="2629505" cy="1295400"/>
            <a:chOff x="6442206" y="4191000"/>
            <a:chExt cx="2629505" cy="1295400"/>
          </a:xfrm>
        </p:grpSpPr>
        <p:grpSp>
          <p:nvGrpSpPr>
            <p:cNvPr id="314" name="Gruppieren 313"/>
            <p:cNvGrpSpPr/>
            <p:nvPr/>
          </p:nvGrpSpPr>
          <p:grpSpPr>
            <a:xfrm flipH="1">
              <a:off x="6442206" y="4317263"/>
              <a:ext cx="2101936" cy="1016737"/>
              <a:chOff x="609600" y="1469843"/>
              <a:chExt cx="2083305" cy="1016737"/>
            </a:xfrm>
          </p:grpSpPr>
          <p:sp>
            <p:nvSpPr>
              <p:cNvPr id="334" name="Flussdiagramm: Datenträger mit direktem Zugriff 333"/>
              <p:cNvSpPr/>
              <p:nvPr/>
            </p:nvSpPr>
            <p:spPr bwMode="auto">
              <a:xfrm>
                <a:off x="995023" y="146984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5" name="Flussdiagramm: Alternativer Prozess 334"/>
              <p:cNvSpPr/>
              <p:nvPr/>
            </p:nvSpPr>
            <p:spPr bwMode="auto">
              <a:xfrm>
                <a:off x="1935328" y="1616887"/>
                <a:ext cx="757577" cy="506321"/>
              </a:xfrm>
              <a:prstGeom prst="flowChartAlternateProcess">
                <a:avLst/>
              </a:prstGeom>
              <a:noFill/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rIns="0" rtlCol="0" anchor="ctr"/>
              <a:lstStyle/>
              <a:p>
                <a:pPr algn="ctr"/>
                <a:r>
                  <a:rPr lang="en-GB" sz="1800" dirty="0" smtClean="0"/>
                  <a:t>CSW</a:t>
                </a:r>
                <a:endParaRPr lang="en-GB" sz="1800" dirty="0"/>
              </a:p>
            </p:txBody>
          </p:sp>
          <p:cxnSp>
            <p:nvCxnSpPr>
              <p:cNvPr id="336" name="Gerade Verbindung mit Pfeil 335"/>
              <p:cNvCxnSpPr>
                <a:endCxn id="335" idx="1"/>
              </p:cNvCxnSpPr>
              <p:nvPr/>
            </p:nvCxnSpPr>
            <p:spPr bwMode="auto">
              <a:xfrm>
                <a:off x="1634307" y="1766214"/>
                <a:ext cx="301021" cy="10383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337" name="Flussdiagramm: Datenträger mit direktem Zugriff 336"/>
              <p:cNvSpPr/>
              <p:nvPr/>
            </p:nvSpPr>
            <p:spPr bwMode="auto">
              <a:xfrm>
                <a:off x="952200" y="191980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38" name="Gerade Verbindung mit Pfeil 337"/>
              <p:cNvCxnSpPr>
                <a:stCxn id="335" idx="1"/>
              </p:cNvCxnSpPr>
              <p:nvPr/>
            </p:nvCxnSpPr>
            <p:spPr bwMode="auto">
              <a:xfrm flipH="1">
                <a:off x="1578422" y="1870048"/>
                <a:ext cx="356906" cy="406826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339" name="Flussdiagramm: Datenträger mit direktem Zugriff 338"/>
              <p:cNvSpPr/>
              <p:nvPr/>
            </p:nvSpPr>
            <p:spPr bwMode="auto">
              <a:xfrm>
                <a:off x="609600" y="1600200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40" name="Gerade Verbindung mit Pfeil 339"/>
              <p:cNvCxnSpPr>
                <a:stCxn id="335" idx="1"/>
              </p:cNvCxnSpPr>
              <p:nvPr/>
            </p:nvCxnSpPr>
            <p:spPr bwMode="auto">
              <a:xfrm flipH="1">
                <a:off x="1221515" y="1870048"/>
                <a:ext cx="713813" cy="13541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</p:grpSp>
        <p:sp>
          <p:nvSpPr>
            <p:cNvPr id="315" name="Flussdiagramm: Datenträger mit direktem Zugriff 314"/>
            <p:cNvSpPr/>
            <p:nvPr/>
          </p:nvSpPr>
          <p:spPr bwMode="auto">
            <a:xfrm flipH="1">
              <a:off x="8682889" y="4191000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16" name="Gerade Verbindung mit Pfeil 315"/>
            <p:cNvCxnSpPr>
              <a:stCxn id="315" idx="4"/>
              <a:endCxn id="339" idx="1"/>
            </p:cNvCxnSpPr>
            <p:nvPr/>
          </p:nvCxnSpPr>
          <p:spPr bwMode="auto">
            <a:xfrm flipH="1">
              <a:off x="8544142" y="4313288"/>
              <a:ext cx="138747" cy="417721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18" name="Flussdiagramm: Datenträger mit direktem Zugriff 317"/>
            <p:cNvSpPr/>
            <p:nvPr/>
          </p:nvSpPr>
          <p:spPr bwMode="auto">
            <a:xfrm flipH="1">
              <a:off x="8763000" y="47846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31" name="Gerade Verbindung mit Pfeil 330"/>
            <p:cNvCxnSpPr>
              <a:stCxn id="339" idx="1"/>
              <a:endCxn id="318" idx="4"/>
            </p:cNvCxnSpPr>
            <p:nvPr/>
          </p:nvCxnSpPr>
          <p:spPr bwMode="auto">
            <a:xfrm>
              <a:off x="8544142" y="4731009"/>
              <a:ext cx="218858" cy="175903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32" name="Flussdiagramm: Datenträger mit direktem Zugriff 331"/>
            <p:cNvSpPr/>
            <p:nvPr/>
          </p:nvSpPr>
          <p:spPr bwMode="auto">
            <a:xfrm flipH="1">
              <a:off x="8448458" y="52418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33" name="Gerade Verbindung mit Pfeil 332"/>
            <p:cNvCxnSpPr>
              <a:stCxn id="337" idx="1"/>
              <a:endCxn id="332" idx="4"/>
            </p:cNvCxnSpPr>
            <p:nvPr/>
          </p:nvCxnSpPr>
          <p:spPr bwMode="auto">
            <a:xfrm>
              <a:off x="8198478" y="5050612"/>
              <a:ext cx="249980" cy="31350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48" name="Gruppieren 347"/>
          <p:cNvGrpSpPr/>
          <p:nvPr/>
        </p:nvGrpSpPr>
        <p:grpSpPr>
          <a:xfrm flipH="1">
            <a:off x="6525921" y="2328823"/>
            <a:ext cx="1779879" cy="566777"/>
            <a:chOff x="477449" y="2158821"/>
            <a:chExt cx="1770451" cy="566777"/>
          </a:xfrm>
        </p:grpSpPr>
        <p:sp>
          <p:nvSpPr>
            <p:cNvPr id="349" name="Flussdiagramm: Datenträger mit direktem Zugriff 34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0" name="Flussdiagramm: Alternativer Prozess 34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SOS</a:t>
              </a:r>
              <a:endParaRPr lang="en-GB" sz="1800" dirty="0"/>
            </a:p>
          </p:txBody>
        </p:sp>
        <p:cxnSp>
          <p:nvCxnSpPr>
            <p:cNvPr id="351" name="Gerade Verbindung mit Pfeil 350"/>
            <p:cNvCxnSpPr/>
            <p:nvPr/>
          </p:nvCxnSpPr>
          <p:spPr bwMode="auto">
            <a:xfrm flipH="1">
              <a:off x="1096653" y="2327909"/>
              <a:ext cx="39626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52" name="Gerade Verbindung mit Pfeil 35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53" name="Gruppieren 352"/>
          <p:cNvGrpSpPr/>
          <p:nvPr/>
        </p:nvGrpSpPr>
        <p:grpSpPr>
          <a:xfrm flipH="1">
            <a:off x="5791200" y="1792995"/>
            <a:ext cx="732377" cy="264405"/>
            <a:chOff x="477449" y="2158821"/>
            <a:chExt cx="1770451" cy="566777"/>
          </a:xfrm>
        </p:grpSpPr>
        <p:sp>
          <p:nvSpPr>
            <p:cNvPr id="354" name="Flussdiagramm: Datenträger mit direktem Zugriff 35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5" name="Flussdiagramm: Alternativer Prozess 35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356" name="Gerade Verbindung mit Pfeil 355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57" name="Gerade Verbindung mit Pfeil 356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76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 smtClean="0"/>
              <a:t>Hydrologic data via Web services</a:t>
            </a:r>
            <a:endParaRPr lang="en-GB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24" name="Gruppieren 23"/>
          <p:cNvGrpSpPr/>
          <p:nvPr/>
        </p:nvGrpSpPr>
        <p:grpSpPr>
          <a:xfrm>
            <a:off x="2746945" y="2666999"/>
            <a:ext cx="3377130" cy="2209801"/>
            <a:chOff x="2498735" y="2529794"/>
            <a:chExt cx="3734837" cy="2426593"/>
          </a:xfrm>
        </p:grpSpPr>
        <p:sp>
          <p:nvSpPr>
            <p:cNvPr id="17" name="Wolke 16"/>
            <p:cNvSpPr/>
            <p:nvPr/>
          </p:nvSpPr>
          <p:spPr bwMode="auto">
            <a:xfrm>
              <a:off x="2653218" y="2737037"/>
              <a:ext cx="3242864" cy="1957297"/>
            </a:xfrm>
            <a:prstGeom prst="cloud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2400" dirty="0" smtClean="0"/>
                <a:t> Internet</a:t>
              </a:r>
              <a:endParaRPr lang="en-GB" sz="2400" dirty="0"/>
            </a:p>
          </p:txBody>
        </p:sp>
        <p:grpSp>
          <p:nvGrpSpPr>
            <p:cNvPr id="38" name="Gruppieren 37"/>
            <p:cNvGrpSpPr/>
            <p:nvPr/>
          </p:nvGrpSpPr>
          <p:grpSpPr>
            <a:xfrm>
              <a:off x="5721172" y="3611394"/>
              <a:ext cx="512400" cy="385943"/>
              <a:chOff x="1352011" y="4568240"/>
              <a:chExt cx="2381250" cy="2381250"/>
            </a:xfrm>
          </p:grpSpPr>
          <p:pic>
            <p:nvPicPr>
              <p:cNvPr id="39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2011" y="456824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Abgerundetes Rechteck 39"/>
              <p:cNvSpPr/>
              <p:nvPr/>
            </p:nvSpPr>
            <p:spPr bwMode="auto">
              <a:xfrm>
                <a:off x="1544977" y="4651951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uppieren 40"/>
            <p:cNvGrpSpPr/>
            <p:nvPr/>
          </p:nvGrpSpPr>
          <p:grpSpPr>
            <a:xfrm>
              <a:off x="5444082" y="2957897"/>
              <a:ext cx="512400" cy="385943"/>
              <a:chOff x="497898" y="3080237"/>
              <a:chExt cx="2381251" cy="2381250"/>
            </a:xfrm>
          </p:grpSpPr>
          <p:pic>
            <p:nvPicPr>
              <p:cNvPr id="4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98" y="3080237"/>
                <a:ext cx="2381251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Abgerundetes Rechteck 42"/>
              <p:cNvSpPr/>
              <p:nvPr/>
            </p:nvSpPr>
            <p:spPr bwMode="auto">
              <a:xfrm>
                <a:off x="690865" y="3173586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uppieren 46"/>
            <p:cNvGrpSpPr/>
            <p:nvPr/>
          </p:nvGrpSpPr>
          <p:grpSpPr>
            <a:xfrm>
              <a:off x="4617316" y="2529794"/>
              <a:ext cx="512400" cy="385943"/>
              <a:chOff x="1118457" y="3085316"/>
              <a:chExt cx="2381250" cy="2381250"/>
            </a:xfrm>
          </p:grpSpPr>
          <p:pic>
            <p:nvPicPr>
              <p:cNvPr id="48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457" y="3085316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Abgerundetes Rechteck 48"/>
              <p:cNvSpPr/>
              <p:nvPr/>
            </p:nvSpPr>
            <p:spPr bwMode="auto">
              <a:xfrm>
                <a:off x="1211754" y="3239561"/>
                <a:ext cx="2192703" cy="1410661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3" name="Gruppieren 52"/>
            <p:cNvGrpSpPr/>
            <p:nvPr/>
          </p:nvGrpSpPr>
          <p:grpSpPr>
            <a:xfrm>
              <a:off x="3586980" y="2529794"/>
              <a:ext cx="512400" cy="385943"/>
              <a:chOff x="1204628" y="2903841"/>
              <a:chExt cx="2381250" cy="2381250"/>
            </a:xfrm>
          </p:grpSpPr>
          <p:pic>
            <p:nvPicPr>
              <p:cNvPr id="54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4628" y="2903841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Abgerundetes Rechteck 54"/>
              <p:cNvSpPr/>
              <p:nvPr/>
            </p:nvSpPr>
            <p:spPr bwMode="auto">
              <a:xfrm>
                <a:off x="1397595" y="2987549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4341785" y="4570444"/>
              <a:ext cx="512400" cy="385943"/>
              <a:chOff x="1598990" y="3986255"/>
              <a:chExt cx="2381250" cy="2381250"/>
            </a:xfrm>
          </p:grpSpPr>
          <p:pic>
            <p:nvPicPr>
              <p:cNvPr id="57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8990" y="3986255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Abgerundetes Rechteck 57"/>
              <p:cNvSpPr/>
              <p:nvPr/>
            </p:nvSpPr>
            <p:spPr bwMode="auto">
              <a:xfrm>
                <a:off x="1791958" y="4069970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2" name="Gruppieren 61"/>
            <p:cNvGrpSpPr/>
            <p:nvPr/>
          </p:nvGrpSpPr>
          <p:grpSpPr>
            <a:xfrm>
              <a:off x="5233956" y="4192677"/>
              <a:ext cx="512400" cy="385943"/>
              <a:chOff x="601887" y="3469967"/>
              <a:chExt cx="2381250" cy="2381250"/>
            </a:xfrm>
          </p:grpSpPr>
          <p:pic>
            <p:nvPicPr>
              <p:cNvPr id="63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887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Abgerundetes Rechteck 63"/>
              <p:cNvSpPr/>
              <p:nvPr/>
            </p:nvSpPr>
            <p:spPr bwMode="auto">
              <a:xfrm>
                <a:off x="794853" y="3553678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2498735" y="3794653"/>
              <a:ext cx="512400" cy="385943"/>
              <a:chOff x="638951" y="4628190"/>
              <a:chExt cx="2381250" cy="2381250"/>
            </a:xfrm>
          </p:grpSpPr>
          <p:pic>
            <p:nvPicPr>
              <p:cNvPr id="7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951" y="462819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Abgerundetes Rechteck 72"/>
              <p:cNvSpPr/>
              <p:nvPr/>
            </p:nvSpPr>
            <p:spPr bwMode="auto">
              <a:xfrm>
                <a:off x="831918" y="471189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2743200" y="3019498"/>
              <a:ext cx="512400" cy="385943"/>
              <a:chOff x="1066800" y="2269713"/>
              <a:chExt cx="2381250" cy="2381250"/>
            </a:xfrm>
          </p:grpSpPr>
          <p:pic>
            <p:nvPicPr>
              <p:cNvPr id="75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800" y="2269713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Abgerundetes Rechteck 75"/>
              <p:cNvSpPr/>
              <p:nvPr/>
            </p:nvSpPr>
            <p:spPr bwMode="auto">
              <a:xfrm>
                <a:off x="1259766" y="2353424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uppieren 79"/>
            <p:cNvGrpSpPr/>
            <p:nvPr/>
          </p:nvGrpSpPr>
          <p:grpSpPr>
            <a:xfrm>
              <a:off x="3330532" y="4350696"/>
              <a:ext cx="512400" cy="385943"/>
              <a:chOff x="2025679" y="3469967"/>
              <a:chExt cx="2381250" cy="2381250"/>
            </a:xfrm>
          </p:grpSpPr>
          <p:pic>
            <p:nvPicPr>
              <p:cNvPr id="81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5679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Abgerundetes Rechteck 81"/>
              <p:cNvSpPr/>
              <p:nvPr/>
            </p:nvSpPr>
            <p:spPr bwMode="auto">
              <a:xfrm>
                <a:off x="2218647" y="3553682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4" name="Gruppieren 93"/>
          <p:cNvGrpSpPr/>
          <p:nvPr/>
        </p:nvGrpSpPr>
        <p:grpSpPr>
          <a:xfrm flipH="1">
            <a:off x="4648200" y="5181600"/>
            <a:ext cx="1779879" cy="566777"/>
            <a:chOff x="477449" y="2158821"/>
            <a:chExt cx="1770451" cy="566777"/>
          </a:xfrm>
        </p:grpSpPr>
        <p:sp>
          <p:nvSpPr>
            <p:cNvPr id="95" name="Flussdiagramm: Datenträger mit direktem Zugriff 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Flussdiagramm: Alternativer Prozess 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97" name="Gerade Verbindung mit Pfeil 9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8" name="Gerade Verbindung mit Pfeil 9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99" name="Gruppieren 98"/>
          <p:cNvGrpSpPr/>
          <p:nvPr/>
        </p:nvGrpSpPr>
        <p:grpSpPr>
          <a:xfrm>
            <a:off x="324111" y="3788362"/>
            <a:ext cx="1774842" cy="566777"/>
            <a:chOff x="477449" y="2158821"/>
            <a:chExt cx="1770451" cy="566777"/>
          </a:xfrm>
        </p:grpSpPr>
        <p:sp>
          <p:nvSpPr>
            <p:cNvPr id="100" name="Flussdiagramm: Datenträger mit direktem Zugriff 9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Flussdiagramm: Alternativer Prozess 10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WFS</a:t>
              </a:r>
              <a:endParaRPr lang="en-GB" sz="1800" dirty="0"/>
            </a:p>
          </p:txBody>
        </p:sp>
        <p:cxnSp>
          <p:nvCxnSpPr>
            <p:cNvPr id="102" name="Gerade Verbindung mit Pfeil 10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3" name="Gerade Verbindung mit Pfeil 10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86" name="Flussdiagramm: Alternativer Prozess 85"/>
          <p:cNvSpPr/>
          <p:nvPr/>
        </p:nvSpPr>
        <p:spPr bwMode="auto">
          <a:xfrm>
            <a:off x="2133600" y="1616887"/>
            <a:ext cx="757577" cy="506321"/>
          </a:xfrm>
          <a:prstGeom prst="flowChartAlternateProcess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800" dirty="0" smtClean="0"/>
              <a:t>WMS</a:t>
            </a:r>
            <a:endParaRPr lang="en-GB" sz="1800" dirty="0"/>
          </a:p>
        </p:txBody>
      </p:sp>
      <p:sp>
        <p:nvSpPr>
          <p:cNvPr id="113" name="Flussdiagramm: Datenträger mit direktem Zugriff 112"/>
          <p:cNvSpPr/>
          <p:nvPr/>
        </p:nvSpPr>
        <p:spPr bwMode="auto">
          <a:xfrm>
            <a:off x="1100400" y="9144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Gerade Verbindung mit Pfeil 87"/>
          <p:cNvCxnSpPr>
            <a:stCxn id="118" idx="6"/>
            <a:endCxn id="86" idx="1"/>
          </p:cNvCxnSpPr>
          <p:nvPr/>
        </p:nvCxnSpPr>
        <p:spPr bwMode="auto">
          <a:xfrm>
            <a:off x="1828800" y="1649739"/>
            <a:ext cx="304800" cy="220309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/>
          </a:ln>
          <a:effectLst/>
        </p:spPr>
      </p:cxnSp>
      <p:grpSp>
        <p:nvGrpSpPr>
          <p:cNvPr id="123" name="Gruppieren 122"/>
          <p:cNvGrpSpPr/>
          <p:nvPr/>
        </p:nvGrpSpPr>
        <p:grpSpPr>
          <a:xfrm>
            <a:off x="381000" y="2938423"/>
            <a:ext cx="1774842" cy="566777"/>
            <a:chOff x="477449" y="2158821"/>
            <a:chExt cx="1770451" cy="566777"/>
          </a:xfrm>
        </p:grpSpPr>
        <p:sp>
          <p:nvSpPr>
            <p:cNvPr id="124" name="Flussdiagramm: Datenträger mit direktem Zugriff 12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lussdiagramm: Alternativer Prozess 12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130" name="Gerade Verbindung mit Pfeil 12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1" name="Gerade Verbindung mit Pfeil 13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56" name="Gruppieren 155"/>
          <p:cNvGrpSpPr/>
          <p:nvPr/>
        </p:nvGrpSpPr>
        <p:grpSpPr>
          <a:xfrm flipH="1">
            <a:off x="4468521" y="990600"/>
            <a:ext cx="1779879" cy="566777"/>
            <a:chOff x="477449" y="2158821"/>
            <a:chExt cx="1770451" cy="566777"/>
          </a:xfrm>
        </p:grpSpPr>
        <p:sp>
          <p:nvSpPr>
            <p:cNvPr id="157" name="Flussdiagramm: Datenträger mit direktem Zugriff 1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Flussdiagramm: Alternativer Prozess 1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600" dirty="0" smtClean="0"/>
                <a:t>WMS</a:t>
              </a:r>
              <a:endParaRPr lang="en-GB" sz="1600" dirty="0"/>
            </a:p>
          </p:txBody>
        </p:sp>
        <p:cxnSp>
          <p:nvCxnSpPr>
            <p:cNvPr id="159" name="Gerade Verbindung mit Pfeil 158"/>
            <p:cNvCxnSpPr/>
            <p:nvPr/>
          </p:nvCxnSpPr>
          <p:spPr bwMode="auto">
            <a:xfrm flipH="1" flipV="1">
              <a:off x="1084493" y="2316999"/>
              <a:ext cx="408425" cy="1091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0" name="Gerade Verbindung mit Pfeil 1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77" name="Gruppieren 176"/>
          <p:cNvGrpSpPr/>
          <p:nvPr/>
        </p:nvGrpSpPr>
        <p:grpSpPr>
          <a:xfrm>
            <a:off x="1546060" y="2215359"/>
            <a:ext cx="988201" cy="527835"/>
            <a:chOff x="1080057" y="4896613"/>
            <a:chExt cx="2425050" cy="1223197"/>
          </a:xfrm>
        </p:grpSpPr>
        <p:sp>
          <p:nvSpPr>
            <p:cNvPr id="178" name="Flussdiagramm: Datenträger mit direktem Zugriff 177"/>
            <p:cNvSpPr/>
            <p:nvPr/>
          </p:nvSpPr>
          <p:spPr bwMode="auto">
            <a:xfrm>
              <a:off x="1465480" y="4896613"/>
              <a:ext cx="757578" cy="515252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Flussdiagramm: Alternativer Prozess 178"/>
            <p:cNvSpPr/>
            <p:nvPr/>
          </p:nvSpPr>
          <p:spPr bwMode="auto">
            <a:xfrm>
              <a:off x="2671771" y="5216549"/>
              <a:ext cx="833336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85" name="Gerade Verbindung mit Pfeil 184"/>
            <p:cNvCxnSpPr>
              <a:stCxn id="178" idx="4"/>
              <a:endCxn id="179" idx="1"/>
            </p:cNvCxnSpPr>
            <p:nvPr/>
          </p:nvCxnSpPr>
          <p:spPr bwMode="auto">
            <a:xfrm>
              <a:off x="2223059" y="5154239"/>
              <a:ext cx="448712" cy="31547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186" name="Flussdiagramm: Datenträger mit direktem Zugriff 185"/>
            <p:cNvSpPr/>
            <p:nvPr/>
          </p:nvSpPr>
          <p:spPr bwMode="auto">
            <a:xfrm>
              <a:off x="1080057" y="5553033"/>
              <a:ext cx="757578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7" name="Gerade Verbindung mit Pfeil 186"/>
            <p:cNvCxnSpPr>
              <a:stCxn id="179" idx="1"/>
              <a:endCxn id="186" idx="4"/>
            </p:cNvCxnSpPr>
            <p:nvPr/>
          </p:nvCxnSpPr>
          <p:spPr bwMode="auto">
            <a:xfrm flipH="1">
              <a:off x="1837635" y="5469709"/>
              <a:ext cx="834136" cy="366712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188" name="Gruppieren 187"/>
          <p:cNvGrpSpPr/>
          <p:nvPr/>
        </p:nvGrpSpPr>
        <p:grpSpPr>
          <a:xfrm>
            <a:off x="533400" y="6040522"/>
            <a:ext cx="752706" cy="264405"/>
            <a:chOff x="477449" y="2158821"/>
            <a:chExt cx="1770451" cy="566777"/>
          </a:xfrm>
        </p:grpSpPr>
        <p:sp>
          <p:nvSpPr>
            <p:cNvPr id="189" name="Flussdiagramm: Datenträger mit direktem Zugriff 18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Flussdiagramm: Alternativer Prozess 18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91" name="Gerade Verbindung mit Pfeil 19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2" name="Gerade Verbindung mit Pfeil 19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98" name="Gruppieren 197"/>
          <p:cNvGrpSpPr/>
          <p:nvPr/>
        </p:nvGrpSpPr>
        <p:grpSpPr>
          <a:xfrm>
            <a:off x="2827277" y="1076033"/>
            <a:ext cx="752706" cy="264405"/>
            <a:chOff x="477449" y="2158821"/>
            <a:chExt cx="1770451" cy="566777"/>
          </a:xfrm>
        </p:grpSpPr>
        <p:sp>
          <p:nvSpPr>
            <p:cNvPr id="199" name="Flussdiagramm: Datenträger mit direktem Zugriff 19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Flussdiagramm: Alternativer Prozess 19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01" name="Gerade Verbindung mit Pfeil 20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02" name="Gerade Verbindung mit Pfeil 20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08" name="Gruppieren 207"/>
          <p:cNvGrpSpPr/>
          <p:nvPr/>
        </p:nvGrpSpPr>
        <p:grpSpPr>
          <a:xfrm flipH="1">
            <a:off x="7954423" y="1219200"/>
            <a:ext cx="732377" cy="264405"/>
            <a:chOff x="477449" y="2158821"/>
            <a:chExt cx="1770451" cy="566777"/>
          </a:xfrm>
        </p:grpSpPr>
        <p:sp>
          <p:nvSpPr>
            <p:cNvPr id="209" name="Flussdiagramm: Datenträger mit direktem Zugriff 20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Flussdiagramm: Alternativer Prozess 20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1" name="Gerade Verbindung mit Pfeil 21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2" name="Gerade Verbindung mit Pfeil 21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13" name="Gruppieren 212"/>
          <p:cNvGrpSpPr/>
          <p:nvPr/>
        </p:nvGrpSpPr>
        <p:grpSpPr>
          <a:xfrm flipH="1">
            <a:off x="5516023" y="5983995"/>
            <a:ext cx="732377" cy="264405"/>
            <a:chOff x="477449" y="2158821"/>
            <a:chExt cx="1770451" cy="566777"/>
          </a:xfrm>
        </p:grpSpPr>
        <p:sp>
          <p:nvSpPr>
            <p:cNvPr id="214" name="Flussdiagramm: Datenträger mit direktem Zugriff 21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Flussdiagramm: Alternativer Prozess 21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6" name="Gerade Verbindung mit Pfeil 215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7" name="Gerade Verbindung mit Pfeil 216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4" name="Gruppieren 223"/>
          <p:cNvGrpSpPr/>
          <p:nvPr/>
        </p:nvGrpSpPr>
        <p:grpSpPr>
          <a:xfrm flipH="1">
            <a:off x="6858000" y="5715000"/>
            <a:ext cx="732377" cy="264405"/>
            <a:chOff x="477449" y="2158821"/>
            <a:chExt cx="1770451" cy="566777"/>
          </a:xfrm>
        </p:grpSpPr>
        <p:sp>
          <p:nvSpPr>
            <p:cNvPr id="225" name="Flussdiagramm: Datenträger mit direktem Zugriff 22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6" name="Flussdiagramm: Alternativer Prozess 22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27" name="Gerade Verbindung mit Pfeil 22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8" name="Gerade Verbindung mit Pfeil 22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9" name="Gruppieren 228"/>
          <p:cNvGrpSpPr/>
          <p:nvPr/>
        </p:nvGrpSpPr>
        <p:grpSpPr>
          <a:xfrm flipH="1">
            <a:off x="6705600" y="990600"/>
            <a:ext cx="732377" cy="264405"/>
            <a:chOff x="477449" y="2158821"/>
            <a:chExt cx="1770451" cy="566777"/>
          </a:xfrm>
        </p:grpSpPr>
        <p:sp>
          <p:nvSpPr>
            <p:cNvPr id="230" name="Flussdiagramm: Datenträger mit direktem Zugriff 22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" name="Flussdiagramm: Alternativer Prozess 23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2" name="Gerade Verbindung mit Pfeil 23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3" name="Gerade Verbindung mit Pfeil 23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34" name="Gruppieren 233"/>
          <p:cNvGrpSpPr/>
          <p:nvPr/>
        </p:nvGrpSpPr>
        <p:grpSpPr>
          <a:xfrm flipH="1">
            <a:off x="6904409" y="1385097"/>
            <a:ext cx="944191" cy="519903"/>
            <a:chOff x="846317" y="4760484"/>
            <a:chExt cx="2317045" cy="1204813"/>
          </a:xfrm>
        </p:grpSpPr>
        <p:sp>
          <p:nvSpPr>
            <p:cNvPr id="235" name="Flussdiagramm: Datenträger mit direktem Zugriff 234"/>
            <p:cNvSpPr/>
            <p:nvPr/>
          </p:nvSpPr>
          <p:spPr bwMode="auto">
            <a:xfrm>
              <a:off x="1395355" y="4760484"/>
              <a:ext cx="757578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" name="Flussdiagramm: Alternativer Prozess 235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7" name="Gerade Verbindung mit Pfeil 236"/>
            <p:cNvCxnSpPr>
              <a:stCxn id="235" idx="4"/>
              <a:endCxn id="236" idx="1"/>
            </p:cNvCxnSpPr>
            <p:nvPr/>
          </p:nvCxnSpPr>
          <p:spPr bwMode="auto">
            <a:xfrm>
              <a:off x="2152933" y="5043872"/>
              <a:ext cx="252851" cy="425837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38" name="Flussdiagramm: Datenträger mit direktem Zugriff 237"/>
            <p:cNvSpPr/>
            <p:nvPr/>
          </p:nvSpPr>
          <p:spPr bwMode="auto">
            <a:xfrm>
              <a:off x="846317" y="5398521"/>
              <a:ext cx="757577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9" name="Gerade Verbindung mit Pfeil 238"/>
            <p:cNvCxnSpPr>
              <a:stCxn id="236" idx="1"/>
              <a:endCxn id="238" idx="4"/>
            </p:cNvCxnSpPr>
            <p:nvPr/>
          </p:nvCxnSpPr>
          <p:spPr bwMode="auto">
            <a:xfrm flipH="1">
              <a:off x="1603894" y="5469711"/>
              <a:ext cx="801891" cy="212198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46" name="Gruppieren 245"/>
          <p:cNvGrpSpPr/>
          <p:nvPr/>
        </p:nvGrpSpPr>
        <p:grpSpPr>
          <a:xfrm>
            <a:off x="1874320" y="6019800"/>
            <a:ext cx="752706" cy="264405"/>
            <a:chOff x="477449" y="2158821"/>
            <a:chExt cx="1770451" cy="566777"/>
          </a:xfrm>
        </p:grpSpPr>
        <p:sp>
          <p:nvSpPr>
            <p:cNvPr id="247" name="Flussdiagramm: Datenträger mit direktem Zugriff 24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Flussdiagramm: Alternativer Prozess 24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9" name="Gerade Verbindung mit Pfeil 24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0" name="Gerade Verbindung mit Pfeil 24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1" name="Gruppieren 250"/>
          <p:cNvGrpSpPr/>
          <p:nvPr/>
        </p:nvGrpSpPr>
        <p:grpSpPr>
          <a:xfrm>
            <a:off x="3438294" y="5486400"/>
            <a:ext cx="752706" cy="264405"/>
            <a:chOff x="477449" y="2158821"/>
            <a:chExt cx="1770451" cy="566777"/>
          </a:xfrm>
        </p:grpSpPr>
        <p:sp>
          <p:nvSpPr>
            <p:cNvPr id="252" name="Flussdiagramm: Datenträger mit direktem Zugriff 25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Flussdiagramm: Alternativer Prozess 25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4" name="Gerade Verbindung mit Pfeil 25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5" name="Gerade Verbindung mit Pfeil 25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6" name="Gruppieren 255"/>
          <p:cNvGrpSpPr/>
          <p:nvPr/>
        </p:nvGrpSpPr>
        <p:grpSpPr>
          <a:xfrm>
            <a:off x="3200149" y="1628866"/>
            <a:ext cx="752706" cy="264405"/>
            <a:chOff x="477449" y="2158821"/>
            <a:chExt cx="1770451" cy="566777"/>
          </a:xfrm>
        </p:grpSpPr>
        <p:sp>
          <p:nvSpPr>
            <p:cNvPr id="257" name="Flussdiagramm: Datenträger mit direktem Zugriff 2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Flussdiagramm: Alternativer Prozess 2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9" name="Gerade Verbindung mit Pfeil 25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0" name="Gerade Verbindung mit Pfeil 2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61" name="Gruppieren 260"/>
          <p:cNvGrpSpPr/>
          <p:nvPr/>
        </p:nvGrpSpPr>
        <p:grpSpPr>
          <a:xfrm flipH="1">
            <a:off x="4267200" y="6019800"/>
            <a:ext cx="732377" cy="264405"/>
            <a:chOff x="477449" y="2158821"/>
            <a:chExt cx="1770451" cy="566777"/>
          </a:xfrm>
        </p:grpSpPr>
        <p:sp>
          <p:nvSpPr>
            <p:cNvPr id="262" name="Flussdiagramm: Datenträger mit direktem Zugriff 26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Flussdiagramm: Alternativer Prozess 26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64" name="Gerade Verbindung mit Pfeil 26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5" name="Gerade Verbindung mit Pfeil 26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72" name="Gruppieren 271"/>
          <p:cNvGrpSpPr/>
          <p:nvPr/>
        </p:nvGrpSpPr>
        <p:grpSpPr>
          <a:xfrm flipH="1">
            <a:off x="7078456" y="4027843"/>
            <a:ext cx="732377" cy="264405"/>
            <a:chOff x="477449" y="2158821"/>
            <a:chExt cx="1770451" cy="566777"/>
          </a:xfrm>
        </p:grpSpPr>
        <p:sp>
          <p:nvSpPr>
            <p:cNvPr id="273" name="Flussdiagramm: Datenträger mit direktem Zugriff 272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4" name="Flussdiagramm: Alternativer Prozess 273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75" name="Gerade Verbindung mit Pfeil 274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76" name="Gerade Verbindung mit Pfeil 275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87" name="Gruppieren 286"/>
          <p:cNvGrpSpPr/>
          <p:nvPr/>
        </p:nvGrpSpPr>
        <p:grpSpPr>
          <a:xfrm flipH="1">
            <a:off x="3095161" y="6212595"/>
            <a:ext cx="732377" cy="264405"/>
            <a:chOff x="477449" y="2158821"/>
            <a:chExt cx="1770451" cy="566777"/>
          </a:xfrm>
        </p:grpSpPr>
        <p:sp>
          <p:nvSpPr>
            <p:cNvPr id="288" name="Flussdiagramm: Datenträger mit direktem Zugriff 28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9" name="Flussdiagramm: Alternativer Prozess 28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90" name="Gerade Verbindung mit Pfeil 28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91" name="Gerade Verbindung mit Pfeil 29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46" name="Flussdiagramm: Datenträger mit direktem Zugriff 345"/>
          <p:cNvSpPr/>
          <p:nvPr/>
        </p:nvSpPr>
        <p:spPr bwMode="auto">
          <a:xfrm>
            <a:off x="954885" y="152119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" name="Flussdiagramm: Datenträger mit direktem Zugriff 346"/>
          <p:cNvSpPr/>
          <p:nvPr/>
        </p:nvSpPr>
        <p:spPr bwMode="auto">
          <a:xfrm>
            <a:off x="762000" y="1905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7" name="Gerade Verbindung mit Pfeil 316"/>
          <p:cNvCxnSpPr>
            <a:stCxn id="370" idx="4"/>
            <a:endCxn id="118" idx="1"/>
          </p:cNvCxnSpPr>
          <p:nvPr/>
        </p:nvCxnSpPr>
        <p:spPr bwMode="auto">
          <a:xfrm>
            <a:off x="1109400" y="1323000"/>
            <a:ext cx="667317" cy="307887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9" name="Gerade Verbindung mit Pfeil 318"/>
          <p:cNvCxnSpPr>
            <a:stCxn id="346" idx="4"/>
            <a:endCxn id="118" idx="2"/>
          </p:cNvCxnSpPr>
          <p:nvPr/>
        </p:nvCxnSpPr>
        <p:spPr bwMode="auto">
          <a:xfrm flipV="1">
            <a:off x="1530885" y="1649739"/>
            <a:ext cx="236896" cy="51451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18" name="Ellipse 117"/>
          <p:cNvSpPr/>
          <p:nvPr/>
        </p:nvSpPr>
        <p:spPr bwMode="auto">
          <a:xfrm>
            <a:off x="1767781" y="1623078"/>
            <a:ext cx="61019" cy="53322"/>
          </a:xfrm>
          <a:prstGeom prst="ellips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Flussdiagramm: Datenträger mit direktem Zugriff 369"/>
          <p:cNvSpPr/>
          <p:nvPr/>
        </p:nvSpPr>
        <p:spPr bwMode="auto">
          <a:xfrm>
            <a:off x="533400" y="1143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2" name="Gerade Verbindung mit Pfeil 1041"/>
          <p:cNvCxnSpPr>
            <a:stCxn id="113" idx="4"/>
            <a:endCxn id="118" idx="0"/>
          </p:cNvCxnSpPr>
          <p:nvPr/>
        </p:nvCxnSpPr>
        <p:spPr bwMode="auto">
          <a:xfrm>
            <a:off x="1676400" y="1094400"/>
            <a:ext cx="121891" cy="528678"/>
          </a:xfrm>
          <a:prstGeom prst="straightConnector1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45" name="Gerade Verbindung 1044"/>
          <p:cNvCxnSpPr>
            <a:stCxn id="347" idx="4"/>
            <a:endCxn id="118" idx="3"/>
          </p:cNvCxnSpPr>
          <p:nvPr/>
        </p:nvCxnSpPr>
        <p:spPr bwMode="auto">
          <a:xfrm flipV="1">
            <a:off x="1338000" y="1668591"/>
            <a:ext cx="438717" cy="416409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9" name="Flussdiagramm: Datenträger mit direktem Zugriff 378"/>
          <p:cNvSpPr/>
          <p:nvPr/>
        </p:nvSpPr>
        <p:spPr bwMode="auto">
          <a:xfrm>
            <a:off x="1767781" y="980438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Gerade Verbindung 1048"/>
          <p:cNvCxnSpPr>
            <a:stCxn id="379" idx="4"/>
            <a:endCxn id="118" idx="7"/>
          </p:cNvCxnSpPr>
          <p:nvPr/>
        </p:nvCxnSpPr>
        <p:spPr bwMode="auto">
          <a:xfrm flipH="1">
            <a:off x="1819864" y="1160438"/>
            <a:ext cx="523917" cy="470449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9" name="Gruppieren 328"/>
          <p:cNvGrpSpPr/>
          <p:nvPr/>
        </p:nvGrpSpPr>
        <p:grpSpPr>
          <a:xfrm>
            <a:off x="1181023" y="5029200"/>
            <a:ext cx="1943177" cy="838200"/>
            <a:chOff x="1176600" y="5029200"/>
            <a:chExt cx="1943177" cy="838200"/>
          </a:xfrm>
        </p:grpSpPr>
        <p:sp>
          <p:nvSpPr>
            <p:cNvPr id="133" name="Flussdiagramm: Alternativer Prozess 132"/>
            <p:cNvSpPr/>
            <p:nvPr/>
          </p:nvSpPr>
          <p:spPr bwMode="auto">
            <a:xfrm>
              <a:off x="2362200" y="518160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SOS</a:t>
              </a:r>
              <a:endParaRPr lang="en-GB" sz="1800" dirty="0"/>
            </a:p>
          </p:txBody>
        </p:sp>
        <p:sp>
          <p:nvSpPr>
            <p:cNvPr id="384" name="Flussdiagramm: Datenträger mit direktem Zugriff 383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5" name="Gerade Verbindung mit Pfeil 384"/>
            <p:cNvCxnSpPr>
              <a:stCxn id="390" idx="6"/>
              <a:endCxn id="133" idx="1"/>
            </p:cNvCxnSpPr>
            <p:nvPr/>
          </p:nvCxnSpPr>
          <p:spPr bwMode="auto">
            <a:xfrm flipV="1">
              <a:off x="1966019" y="5434761"/>
              <a:ext cx="396181" cy="210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388" name="Gerade Verbindung mit Pfeil 387"/>
            <p:cNvCxnSpPr>
              <a:stCxn id="391" idx="4"/>
              <a:endCxn id="390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0" name="Ellipse 389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Flussdiagramm: Datenträger mit direktem Zugriff 390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2" name="Gerade Verbindung mit Pfeil 391"/>
            <p:cNvCxnSpPr>
              <a:stCxn id="384" idx="4"/>
              <a:endCxn id="390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7" name="Gruppieren 396"/>
          <p:cNvGrpSpPr/>
          <p:nvPr/>
        </p:nvGrpSpPr>
        <p:grpSpPr>
          <a:xfrm>
            <a:off x="1981200" y="4572000"/>
            <a:ext cx="752706" cy="264405"/>
            <a:chOff x="477449" y="2158821"/>
            <a:chExt cx="1770451" cy="566777"/>
          </a:xfrm>
        </p:grpSpPr>
        <p:sp>
          <p:nvSpPr>
            <p:cNvPr id="398" name="Flussdiagramm: Datenträger mit direktem Zugriff 39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9" name="Flussdiagramm: Alternativer Prozess 39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0" name="Gerade Verbindung mit Pfeil 39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1" name="Gerade Verbindung mit Pfeil 40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8" name="Gruppieren 327"/>
          <p:cNvGrpSpPr/>
          <p:nvPr/>
        </p:nvGrpSpPr>
        <p:grpSpPr>
          <a:xfrm>
            <a:off x="407145" y="4545863"/>
            <a:ext cx="1207646" cy="605462"/>
            <a:chOff x="240154" y="4574069"/>
            <a:chExt cx="1207646" cy="605462"/>
          </a:xfrm>
        </p:grpSpPr>
        <p:sp>
          <p:nvSpPr>
            <p:cNvPr id="169" name="Flussdiagramm: Alternativer Prozess 168"/>
            <p:cNvSpPr/>
            <p:nvPr/>
          </p:nvSpPr>
          <p:spPr bwMode="auto">
            <a:xfrm>
              <a:off x="1130107" y="4693385"/>
              <a:ext cx="317693" cy="215775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2" name="Gerade Verbindung mit Pfeil 401"/>
            <p:cNvCxnSpPr>
              <a:stCxn id="409" idx="6"/>
              <a:endCxn id="169" idx="1"/>
            </p:cNvCxnSpPr>
            <p:nvPr/>
          </p:nvCxnSpPr>
          <p:spPr bwMode="auto">
            <a:xfrm flipV="1">
              <a:off x="873169" y="4801273"/>
              <a:ext cx="256938" cy="151444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03" name="Flussdiagramm: Datenträger mit direktem Zugriff 402"/>
            <p:cNvSpPr/>
            <p:nvPr/>
          </p:nvSpPr>
          <p:spPr bwMode="auto">
            <a:xfrm>
              <a:off x="240154" y="47244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4" name="Flussdiagramm: Datenträger mit direktem Zugriff 403"/>
            <p:cNvSpPr/>
            <p:nvPr/>
          </p:nvSpPr>
          <p:spPr bwMode="auto">
            <a:xfrm>
              <a:off x="457200" y="49530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Gerade Verbindung mit Pfeil 404"/>
            <p:cNvCxnSpPr>
              <a:stCxn id="407" idx="4"/>
              <a:endCxn id="409" idx="4"/>
            </p:cNvCxnSpPr>
            <p:nvPr/>
          </p:nvCxnSpPr>
          <p:spPr bwMode="auto">
            <a:xfrm>
              <a:off x="821400" y="4687335"/>
              <a:ext cx="28910" cy="242523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6" name="Gerade Verbindung mit Pfeil 405"/>
            <p:cNvCxnSpPr>
              <a:stCxn id="403" idx="4"/>
              <a:endCxn id="409" idx="2"/>
            </p:cNvCxnSpPr>
            <p:nvPr/>
          </p:nvCxnSpPr>
          <p:spPr bwMode="auto">
            <a:xfrm>
              <a:off x="528154" y="4837666"/>
              <a:ext cx="299296" cy="115051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7" name="Flussdiagramm: Datenträger mit direktem Zugriff 406"/>
            <p:cNvSpPr/>
            <p:nvPr/>
          </p:nvSpPr>
          <p:spPr bwMode="auto">
            <a:xfrm>
              <a:off x="533400" y="4574069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8" name="Gerade Verbindung 407"/>
            <p:cNvCxnSpPr>
              <a:stCxn id="404" idx="4"/>
              <a:endCxn id="409" idx="1"/>
            </p:cNvCxnSpPr>
            <p:nvPr/>
          </p:nvCxnSpPr>
          <p:spPr bwMode="auto">
            <a:xfrm flipV="1">
              <a:off x="745200" y="4968882"/>
              <a:ext cx="88945" cy="97384"/>
            </a:xfrm>
            <a:prstGeom prst="lin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9" name="Ellipse 408"/>
            <p:cNvSpPr/>
            <p:nvPr/>
          </p:nvSpPr>
          <p:spPr bwMode="auto">
            <a:xfrm flipV="1">
              <a:off x="827450" y="4929858"/>
              <a:ext cx="45719" cy="45719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6" name="Gruppieren 425"/>
          <p:cNvGrpSpPr/>
          <p:nvPr/>
        </p:nvGrpSpPr>
        <p:grpSpPr>
          <a:xfrm flipH="1">
            <a:off x="7848600" y="5966073"/>
            <a:ext cx="1072986" cy="434727"/>
            <a:chOff x="1176600" y="5029200"/>
            <a:chExt cx="1877436" cy="838200"/>
          </a:xfrm>
        </p:grpSpPr>
        <p:sp>
          <p:nvSpPr>
            <p:cNvPr id="427" name="Flussdiagramm: Alternativer Prozess 426"/>
            <p:cNvSpPr/>
            <p:nvPr/>
          </p:nvSpPr>
          <p:spPr bwMode="auto">
            <a:xfrm>
              <a:off x="2427939" y="5181599"/>
              <a:ext cx="62609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sp>
          <p:nvSpPr>
            <p:cNvPr id="428" name="Flussdiagramm: Datenträger mit direktem Zugriff 427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9" name="Gerade Verbindung mit Pfeil 428"/>
            <p:cNvCxnSpPr>
              <a:stCxn id="431" idx="6"/>
              <a:endCxn id="427" idx="1"/>
            </p:cNvCxnSpPr>
            <p:nvPr/>
          </p:nvCxnSpPr>
          <p:spPr bwMode="auto">
            <a:xfrm flipV="1">
              <a:off x="1966019" y="5434760"/>
              <a:ext cx="461920" cy="2102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430" name="Gerade Verbindung mit Pfeil 429"/>
            <p:cNvCxnSpPr>
              <a:stCxn id="432" idx="4"/>
              <a:endCxn id="431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1" name="Ellipse 430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Flussdiagramm: Datenträger mit direktem Zugriff 431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3" name="Gerade Verbindung mit Pfeil 432"/>
            <p:cNvCxnSpPr>
              <a:stCxn id="428" idx="4"/>
              <a:endCxn id="431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cxnSp>
        <p:nvCxnSpPr>
          <p:cNvPr id="333" name="Gerade Verbindung mit Pfeil 332"/>
          <p:cNvCxnSpPr>
            <a:stCxn id="86" idx="3"/>
            <a:endCxn id="55" idx="0"/>
          </p:cNvCxnSpPr>
          <p:nvPr/>
        </p:nvCxnSpPr>
        <p:spPr bwMode="auto">
          <a:xfrm>
            <a:off x="2891177" y="1870048"/>
            <a:ext cx="1071258" cy="809306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5" name="Gerade Verbindung mit Pfeil 334"/>
          <p:cNvCxnSpPr>
            <a:stCxn id="86" idx="3"/>
            <a:endCxn id="76" idx="0"/>
          </p:cNvCxnSpPr>
          <p:nvPr/>
        </p:nvCxnSpPr>
        <p:spPr bwMode="auto">
          <a:xfrm>
            <a:off x="2891177" y="1870048"/>
            <a:ext cx="308292" cy="1255261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7" name="Gerade Verbindung mit Pfeil 336"/>
          <p:cNvCxnSpPr>
            <a:stCxn id="86" idx="3"/>
            <a:endCxn id="49" idx="0"/>
          </p:cNvCxnSpPr>
          <p:nvPr/>
        </p:nvCxnSpPr>
        <p:spPr bwMode="auto">
          <a:xfrm>
            <a:off x="2891177" y="1870048"/>
            <a:ext cx="2002912" cy="81971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39" name="Gerade Verbindung mit Pfeil 338"/>
          <p:cNvCxnSpPr>
            <a:stCxn id="86" idx="3"/>
            <a:endCxn id="72" idx="0"/>
          </p:cNvCxnSpPr>
          <p:nvPr/>
        </p:nvCxnSpPr>
        <p:spPr bwMode="auto">
          <a:xfrm>
            <a:off x="2891177" y="1870048"/>
            <a:ext cx="87430" cy="194880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1" name="Gerade Verbindung mit Pfeil 340"/>
          <p:cNvCxnSpPr>
            <a:stCxn id="86" idx="3"/>
            <a:endCxn id="82" idx="0"/>
          </p:cNvCxnSpPr>
          <p:nvPr/>
        </p:nvCxnSpPr>
        <p:spPr bwMode="auto">
          <a:xfrm>
            <a:off x="2891177" y="1870048"/>
            <a:ext cx="839371" cy="2467531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3" name="Gerade Verbindung mit Pfeil 342"/>
          <p:cNvCxnSpPr>
            <a:stCxn id="86" idx="3"/>
            <a:endCxn id="58" idx="0"/>
          </p:cNvCxnSpPr>
          <p:nvPr/>
        </p:nvCxnSpPr>
        <p:spPr bwMode="auto">
          <a:xfrm>
            <a:off x="2891177" y="1870048"/>
            <a:ext cx="1753771" cy="2667645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5" name="Gerade Verbindung mit Pfeil 344"/>
          <p:cNvCxnSpPr>
            <a:stCxn id="86" idx="3"/>
            <a:endCxn id="64" idx="0"/>
          </p:cNvCxnSpPr>
          <p:nvPr/>
        </p:nvCxnSpPr>
        <p:spPr bwMode="auto">
          <a:xfrm>
            <a:off x="2891177" y="1870048"/>
            <a:ext cx="2560494" cy="232362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9" name="Gerade Verbindung mit Pfeil 348"/>
          <p:cNvCxnSpPr>
            <a:stCxn id="86" idx="3"/>
            <a:endCxn id="39" idx="0"/>
          </p:cNvCxnSpPr>
          <p:nvPr/>
        </p:nvCxnSpPr>
        <p:spPr bwMode="auto">
          <a:xfrm>
            <a:off x="2891177" y="1870048"/>
            <a:ext cx="3001236" cy="1781922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1" name="Gerade Verbindung mit Pfeil 350"/>
          <p:cNvCxnSpPr>
            <a:stCxn id="86" idx="3"/>
            <a:endCxn id="43" idx="0"/>
          </p:cNvCxnSpPr>
          <p:nvPr/>
        </p:nvCxnSpPr>
        <p:spPr bwMode="auto">
          <a:xfrm>
            <a:off x="2891177" y="1870048"/>
            <a:ext cx="2750495" cy="1200586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3" name="Gerade Verbindung mit Pfeil 352"/>
          <p:cNvCxnSpPr>
            <a:stCxn id="101" idx="3"/>
            <a:endCxn id="76" idx="1"/>
          </p:cNvCxnSpPr>
          <p:nvPr/>
        </p:nvCxnSpPr>
        <p:spPr bwMode="auto">
          <a:xfrm flipV="1">
            <a:off x="2098953" y="3239823"/>
            <a:ext cx="906589" cy="831928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6" name="Gerade Verbindung mit Pfeil 355"/>
          <p:cNvCxnSpPr>
            <a:stCxn id="101" idx="3"/>
            <a:endCxn id="55" idx="1"/>
          </p:cNvCxnSpPr>
          <p:nvPr/>
        </p:nvCxnSpPr>
        <p:spPr bwMode="auto">
          <a:xfrm flipV="1">
            <a:off x="2098953" y="2793868"/>
            <a:ext cx="1669555" cy="1277883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8" name="Gerade Verbindung mit Pfeil 357"/>
          <p:cNvCxnSpPr>
            <a:stCxn id="101" idx="3"/>
            <a:endCxn id="72" idx="1"/>
          </p:cNvCxnSpPr>
          <p:nvPr/>
        </p:nvCxnSpPr>
        <p:spPr bwMode="auto">
          <a:xfrm flipV="1">
            <a:off x="2098953" y="3994589"/>
            <a:ext cx="647992" cy="77162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0" name="Gerade Verbindung mit Pfeil 359"/>
          <p:cNvCxnSpPr>
            <a:stCxn id="101" idx="3"/>
            <a:endCxn id="48" idx="1"/>
          </p:cNvCxnSpPr>
          <p:nvPr/>
        </p:nvCxnSpPr>
        <p:spPr bwMode="auto">
          <a:xfrm flipV="1">
            <a:off x="2098953" y="2842731"/>
            <a:ext cx="2563664" cy="122902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2" name="Gerade Verbindung mit Pfeil 361"/>
          <p:cNvCxnSpPr>
            <a:stCxn id="101" idx="3"/>
            <a:endCxn id="82" idx="1"/>
          </p:cNvCxnSpPr>
          <p:nvPr/>
        </p:nvCxnSpPr>
        <p:spPr bwMode="auto">
          <a:xfrm>
            <a:off x="2098953" y="4071751"/>
            <a:ext cx="1437669" cy="380342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5" name="Gerade Verbindung mit Pfeil 364"/>
          <p:cNvCxnSpPr>
            <a:stCxn id="101" idx="3"/>
            <a:endCxn id="58" idx="1"/>
          </p:cNvCxnSpPr>
          <p:nvPr/>
        </p:nvCxnSpPr>
        <p:spPr bwMode="auto">
          <a:xfrm>
            <a:off x="2098953" y="4071751"/>
            <a:ext cx="2352069" cy="580456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7" name="Gerade Verbindung mit Pfeil 366"/>
          <p:cNvCxnSpPr>
            <a:stCxn id="101" idx="3"/>
            <a:endCxn id="43" idx="1"/>
          </p:cNvCxnSpPr>
          <p:nvPr/>
        </p:nvCxnSpPr>
        <p:spPr bwMode="auto">
          <a:xfrm flipV="1">
            <a:off x="2098953" y="3185148"/>
            <a:ext cx="3348792" cy="886603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69" name="Gerade Verbindung mit Pfeil 368"/>
          <p:cNvCxnSpPr>
            <a:stCxn id="101" idx="3"/>
            <a:endCxn id="40" idx="1"/>
          </p:cNvCxnSpPr>
          <p:nvPr/>
        </p:nvCxnSpPr>
        <p:spPr bwMode="auto">
          <a:xfrm flipV="1">
            <a:off x="2098953" y="3778839"/>
            <a:ext cx="3599344" cy="292912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2" name="Gerade Verbindung mit Pfeil 371"/>
          <p:cNvCxnSpPr>
            <a:stCxn id="101" idx="3"/>
            <a:endCxn id="64" idx="1"/>
          </p:cNvCxnSpPr>
          <p:nvPr/>
        </p:nvCxnSpPr>
        <p:spPr bwMode="auto">
          <a:xfrm>
            <a:off x="2098953" y="4071751"/>
            <a:ext cx="3158791" cy="236440"/>
          </a:xfrm>
          <a:prstGeom prst="straightConnector1">
            <a:avLst/>
          </a:prstGeom>
          <a:noFill/>
          <a:ln w="1270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4" name="Gerade Verbindung mit Pfeil 373"/>
          <p:cNvCxnSpPr>
            <a:stCxn id="284" idx="3"/>
            <a:endCxn id="49" idx="3"/>
          </p:cNvCxnSpPr>
          <p:nvPr/>
        </p:nvCxnSpPr>
        <p:spPr bwMode="auto">
          <a:xfrm flipH="1">
            <a:off x="5107408" y="2612212"/>
            <a:ext cx="1418513" cy="181657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6" name="Gerade Verbindung mit Pfeil 375"/>
          <p:cNvCxnSpPr>
            <a:stCxn id="284" idx="3"/>
            <a:endCxn id="43" idx="3"/>
          </p:cNvCxnSpPr>
          <p:nvPr/>
        </p:nvCxnSpPr>
        <p:spPr bwMode="auto">
          <a:xfrm flipH="1">
            <a:off x="5835598" y="2612212"/>
            <a:ext cx="690323" cy="572935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8" name="Gerade Verbindung mit Pfeil 377"/>
          <p:cNvCxnSpPr>
            <a:stCxn id="284" idx="3"/>
            <a:endCxn id="55" idx="3"/>
          </p:cNvCxnSpPr>
          <p:nvPr/>
        </p:nvCxnSpPr>
        <p:spPr bwMode="auto">
          <a:xfrm flipH="1">
            <a:off x="4156361" y="2612212"/>
            <a:ext cx="2369560" cy="181656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1" name="Gerade Verbindung mit Pfeil 380"/>
          <p:cNvCxnSpPr>
            <a:stCxn id="284" idx="3"/>
            <a:endCxn id="76" idx="3"/>
          </p:cNvCxnSpPr>
          <p:nvPr/>
        </p:nvCxnSpPr>
        <p:spPr bwMode="auto">
          <a:xfrm flipH="1">
            <a:off x="3393395" y="2612212"/>
            <a:ext cx="3132526" cy="627610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3" name="Gerade Verbindung mit Pfeil 382"/>
          <p:cNvCxnSpPr>
            <a:stCxn id="284" idx="3"/>
            <a:endCxn id="73" idx="3"/>
          </p:cNvCxnSpPr>
          <p:nvPr/>
        </p:nvCxnSpPr>
        <p:spPr bwMode="auto">
          <a:xfrm flipH="1">
            <a:off x="3172344" y="2612212"/>
            <a:ext cx="3353577" cy="1333512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5" name="Gerade Verbindung mit Pfeil 394"/>
          <p:cNvCxnSpPr>
            <a:stCxn id="284" idx="3"/>
            <a:endCxn id="82" idx="3"/>
          </p:cNvCxnSpPr>
          <p:nvPr/>
        </p:nvCxnSpPr>
        <p:spPr bwMode="auto">
          <a:xfrm flipH="1">
            <a:off x="3924474" y="2612212"/>
            <a:ext cx="2601447" cy="1839879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0" name="Gerade Verbindung mit Pfeil 409"/>
          <p:cNvCxnSpPr>
            <a:stCxn id="284" idx="3"/>
            <a:endCxn id="58" idx="3"/>
          </p:cNvCxnSpPr>
          <p:nvPr/>
        </p:nvCxnSpPr>
        <p:spPr bwMode="auto">
          <a:xfrm flipH="1">
            <a:off x="4838873" y="2612212"/>
            <a:ext cx="1687048" cy="2039995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2" name="Gerade Verbindung mit Pfeil 411"/>
          <p:cNvCxnSpPr>
            <a:stCxn id="284" idx="3"/>
            <a:endCxn id="40" idx="3"/>
          </p:cNvCxnSpPr>
          <p:nvPr/>
        </p:nvCxnSpPr>
        <p:spPr bwMode="auto">
          <a:xfrm flipH="1">
            <a:off x="6086150" y="2612212"/>
            <a:ext cx="439771" cy="1166626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4" name="Gerade Verbindung mit Pfeil 413"/>
          <p:cNvCxnSpPr>
            <a:stCxn id="284" idx="3"/>
            <a:endCxn id="64" idx="3"/>
          </p:cNvCxnSpPr>
          <p:nvPr/>
        </p:nvCxnSpPr>
        <p:spPr bwMode="auto">
          <a:xfrm flipH="1">
            <a:off x="5645597" y="2612212"/>
            <a:ext cx="880324" cy="1695977"/>
          </a:xfrm>
          <a:prstGeom prst="straightConnector1">
            <a:avLst/>
          </a:prstGeom>
          <a:noFill/>
          <a:ln w="12700" cap="flat" cmpd="sng" algn="ctr">
            <a:solidFill>
              <a:srgbClr val="00CCFF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9" name="Gerade Verbindung mit Pfeil 418"/>
          <p:cNvCxnSpPr>
            <a:stCxn id="307" idx="3"/>
            <a:endCxn id="64" idx="2"/>
          </p:cNvCxnSpPr>
          <p:nvPr/>
        </p:nvCxnSpPr>
        <p:spPr bwMode="auto">
          <a:xfrm flipH="1" flipV="1">
            <a:off x="5451671" y="4422703"/>
            <a:ext cx="990535" cy="447165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9" name="Gerade Verbindung mit Pfeil 438"/>
          <p:cNvCxnSpPr>
            <a:stCxn id="307" idx="3"/>
            <a:endCxn id="40" idx="2"/>
          </p:cNvCxnSpPr>
          <p:nvPr/>
        </p:nvCxnSpPr>
        <p:spPr bwMode="auto">
          <a:xfrm flipH="1" flipV="1">
            <a:off x="5892224" y="3893352"/>
            <a:ext cx="549982" cy="976516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2" name="Gerade Verbindung mit Pfeil 441"/>
          <p:cNvCxnSpPr>
            <a:stCxn id="307" idx="3"/>
            <a:endCxn id="43" idx="2"/>
          </p:cNvCxnSpPr>
          <p:nvPr/>
        </p:nvCxnSpPr>
        <p:spPr bwMode="auto">
          <a:xfrm flipH="1" flipV="1">
            <a:off x="5641672" y="3299661"/>
            <a:ext cx="800534" cy="1570207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4" name="Gerade Verbindung mit Pfeil 443"/>
          <p:cNvCxnSpPr>
            <a:stCxn id="307" idx="3"/>
            <a:endCxn id="49" idx="2"/>
          </p:cNvCxnSpPr>
          <p:nvPr/>
        </p:nvCxnSpPr>
        <p:spPr bwMode="auto">
          <a:xfrm flipH="1" flipV="1">
            <a:off x="4894089" y="2897973"/>
            <a:ext cx="1548117" cy="1971895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46" name="Gerade Verbindung mit Pfeil 445"/>
          <p:cNvCxnSpPr>
            <a:stCxn id="307" idx="3"/>
            <a:endCxn id="55" idx="2"/>
          </p:cNvCxnSpPr>
          <p:nvPr/>
        </p:nvCxnSpPr>
        <p:spPr bwMode="auto">
          <a:xfrm flipH="1" flipV="1">
            <a:off x="3962435" y="2908382"/>
            <a:ext cx="2479771" cy="1961486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0" name="Gerade Verbindung mit Pfeil 479"/>
          <p:cNvCxnSpPr>
            <a:stCxn id="307" idx="3"/>
            <a:endCxn id="76" idx="2"/>
          </p:cNvCxnSpPr>
          <p:nvPr/>
        </p:nvCxnSpPr>
        <p:spPr bwMode="auto">
          <a:xfrm flipH="1" flipV="1">
            <a:off x="3199469" y="3354336"/>
            <a:ext cx="3242737" cy="1515532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2" name="Gerade Verbindung mit Pfeil 481"/>
          <p:cNvCxnSpPr>
            <a:stCxn id="307" idx="3"/>
            <a:endCxn id="58" idx="2"/>
          </p:cNvCxnSpPr>
          <p:nvPr/>
        </p:nvCxnSpPr>
        <p:spPr bwMode="auto">
          <a:xfrm flipH="1" flipV="1">
            <a:off x="4644947" y="4766721"/>
            <a:ext cx="1797259" cy="103147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4" name="Gerade Verbindung mit Pfeil 483"/>
          <p:cNvCxnSpPr>
            <a:stCxn id="307" idx="3"/>
            <a:endCxn id="82" idx="2"/>
          </p:cNvCxnSpPr>
          <p:nvPr/>
        </p:nvCxnSpPr>
        <p:spPr bwMode="auto">
          <a:xfrm flipH="1" flipV="1">
            <a:off x="3730548" y="4566605"/>
            <a:ext cx="2711658" cy="303263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6" name="Gerade Verbindung mit Pfeil 485"/>
          <p:cNvCxnSpPr>
            <a:stCxn id="307" idx="3"/>
            <a:endCxn id="73" idx="2"/>
          </p:cNvCxnSpPr>
          <p:nvPr/>
        </p:nvCxnSpPr>
        <p:spPr bwMode="auto">
          <a:xfrm flipH="1" flipV="1">
            <a:off x="2978418" y="4060238"/>
            <a:ext cx="3463788" cy="809630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8" name="Gerade Verbindung mit Pfeil 487"/>
          <p:cNvCxnSpPr>
            <a:stCxn id="133" idx="0"/>
            <a:endCxn id="72" idx="2"/>
          </p:cNvCxnSpPr>
          <p:nvPr/>
        </p:nvCxnSpPr>
        <p:spPr bwMode="auto">
          <a:xfrm flipV="1">
            <a:off x="2745412" y="4170318"/>
            <a:ext cx="233195" cy="1011282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1" name="Gerade Verbindung mit Pfeil 490"/>
          <p:cNvCxnSpPr>
            <a:stCxn id="133" idx="0"/>
            <a:endCxn id="76" idx="2"/>
          </p:cNvCxnSpPr>
          <p:nvPr/>
        </p:nvCxnSpPr>
        <p:spPr bwMode="auto">
          <a:xfrm flipV="1">
            <a:off x="2745412" y="3354336"/>
            <a:ext cx="454057" cy="1827264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3" name="Gerade Verbindung mit Pfeil 492"/>
          <p:cNvCxnSpPr>
            <a:stCxn id="133" idx="0"/>
            <a:endCxn id="55" idx="2"/>
          </p:cNvCxnSpPr>
          <p:nvPr/>
        </p:nvCxnSpPr>
        <p:spPr bwMode="auto">
          <a:xfrm flipV="1">
            <a:off x="2745412" y="2908382"/>
            <a:ext cx="1217023" cy="2273218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5" name="Gerade Verbindung mit Pfeil 494"/>
          <p:cNvCxnSpPr>
            <a:stCxn id="133" idx="0"/>
            <a:endCxn id="49" idx="2"/>
          </p:cNvCxnSpPr>
          <p:nvPr/>
        </p:nvCxnSpPr>
        <p:spPr bwMode="auto">
          <a:xfrm flipV="1">
            <a:off x="2745412" y="2897973"/>
            <a:ext cx="2148677" cy="2283627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97" name="Gerade Verbindung mit Pfeil 496"/>
          <p:cNvCxnSpPr>
            <a:stCxn id="133" idx="0"/>
            <a:endCxn id="43" idx="2"/>
          </p:cNvCxnSpPr>
          <p:nvPr/>
        </p:nvCxnSpPr>
        <p:spPr bwMode="auto">
          <a:xfrm flipV="1">
            <a:off x="2745412" y="3299661"/>
            <a:ext cx="2896260" cy="1881939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3" name="Gerade Verbindung mit Pfeil 502"/>
          <p:cNvCxnSpPr>
            <a:stCxn id="133" idx="0"/>
            <a:endCxn id="40" idx="2"/>
          </p:cNvCxnSpPr>
          <p:nvPr/>
        </p:nvCxnSpPr>
        <p:spPr bwMode="auto">
          <a:xfrm flipV="1">
            <a:off x="2745412" y="3893352"/>
            <a:ext cx="3146812" cy="1288248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7" name="Gerade Verbindung mit Pfeil 506"/>
          <p:cNvCxnSpPr>
            <a:stCxn id="133" idx="0"/>
            <a:endCxn id="64" idx="2"/>
          </p:cNvCxnSpPr>
          <p:nvPr/>
        </p:nvCxnSpPr>
        <p:spPr bwMode="auto">
          <a:xfrm flipV="1">
            <a:off x="2745412" y="4422703"/>
            <a:ext cx="2706259" cy="758897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9" name="Gerade Verbindung mit Pfeil 508"/>
          <p:cNvCxnSpPr>
            <a:stCxn id="133" idx="0"/>
            <a:endCxn id="58" idx="2"/>
          </p:cNvCxnSpPr>
          <p:nvPr/>
        </p:nvCxnSpPr>
        <p:spPr bwMode="auto">
          <a:xfrm flipV="1">
            <a:off x="2745412" y="4766721"/>
            <a:ext cx="1899535" cy="414879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11" name="Gerade Verbindung mit Pfeil 510"/>
          <p:cNvCxnSpPr>
            <a:stCxn id="133" idx="0"/>
            <a:endCxn id="82" idx="2"/>
          </p:cNvCxnSpPr>
          <p:nvPr/>
        </p:nvCxnSpPr>
        <p:spPr bwMode="auto">
          <a:xfrm flipV="1">
            <a:off x="2745412" y="4566605"/>
            <a:ext cx="985136" cy="614995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" name="Gerade Verbindung mit Pfeil 3"/>
          <p:cNvCxnSpPr>
            <a:stCxn id="158" idx="2"/>
            <a:endCxn id="54" idx="0"/>
          </p:cNvCxnSpPr>
          <p:nvPr/>
        </p:nvCxnSpPr>
        <p:spPr bwMode="auto">
          <a:xfrm flipH="1">
            <a:off x="3962624" y="1527149"/>
            <a:ext cx="885760" cy="1139850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" name="Gerade Verbindung mit Pfeil 5"/>
          <p:cNvCxnSpPr>
            <a:stCxn id="158" idx="2"/>
            <a:endCxn id="48" idx="0"/>
          </p:cNvCxnSpPr>
          <p:nvPr/>
        </p:nvCxnSpPr>
        <p:spPr bwMode="auto">
          <a:xfrm>
            <a:off x="4848384" y="1527149"/>
            <a:ext cx="45895" cy="1139850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Gerade Verbindung mit Pfeil 7"/>
          <p:cNvCxnSpPr>
            <a:stCxn id="158" idx="2"/>
            <a:endCxn id="43" idx="0"/>
          </p:cNvCxnSpPr>
          <p:nvPr/>
        </p:nvCxnSpPr>
        <p:spPr bwMode="auto">
          <a:xfrm>
            <a:off x="4848384" y="1527149"/>
            <a:ext cx="793288" cy="1543484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Gerade Verbindung mit Pfeil 9"/>
          <p:cNvCxnSpPr>
            <a:stCxn id="158" idx="2"/>
            <a:endCxn id="39" idx="0"/>
          </p:cNvCxnSpPr>
          <p:nvPr/>
        </p:nvCxnSpPr>
        <p:spPr bwMode="auto">
          <a:xfrm>
            <a:off x="4848384" y="1527149"/>
            <a:ext cx="1044029" cy="2124820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Gerade Verbindung mit Pfeil 11"/>
          <p:cNvCxnSpPr>
            <a:stCxn id="158" idx="2"/>
            <a:endCxn id="64" idx="0"/>
          </p:cNvCxnSpPr>
          <p:nvPr/>
        </p:nvCxnSpPr>
        <p:spPr bwMode="auto">
          <a:xfrm>
            <a:off x="4848384" y="1527149"/>
            <a:ext cx="603287" cy="2666526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Gerade Verbindung mit Pfeil 13"/>
          <p:cNvCxnSpPr>
            <a:stCxn id="158" idx="2"/>
            <a:endCxn id="58" idx="0"/>
          </p:cNvCxnSpPr>
          <p:nvPr/>
        </p:nvCxnSpPr>
        <p:spPr bwMode="auto">
          <a:xfrm flipH="1">
            <a:off x="4644947" y="1527149"/>
            <a:ext cx="203437" cy="3010544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Gerade Verbindung mit Pfeil 15"/>
          <p:cNvCxnSpPr>
            <a:stCxn id="158" idx="2"/>
            <a:endCxn id="82" idx="0"/>
          </p:cNvCxnSpPr>
          <p:nvPr/>
        </p:nvCxnSpPr>
        <p:spPr bwMode="auto">
          <a:xfrm flipH="1">
            <a:off x="3730548" y="1527149"/>
            <a:ext cx="1117836" cy="2810428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Gerade Verbindung mit Pfeil 18"/>
          <p:cNvCxnSpPr>
            <a:stCxn id="158" idx="2"/>
            <a:endCxn id="72" idx="0"/>
          </p:cNvCxnSpPr>
          <p:nvPr/>
        </p:nvCxnSpPr>
        <p:spPr bwMode="auto">
          <a:xfrm flipH="1">
            <a:off x="2978607" y="1527149"/>
            <a:ext cx="1869777" cy="2291706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Gerade Verbindung mit Pfeil 20"/>
          <p:cNvCxnSpPr>
            <a:stCxn id="158" idx="2"/>
            <a:endCxn id="76" idx="0"/>
          </p:cNvCxnSpPr>
          <p:nvPr/>
        </p:nvCxnSpPr>
        <p:spPr bwMode="auto">
          <a:xfrm flipH="1">
            <a:off x="3199469" y="1527149"/>
            <a:ext cx="1648915" cy="159815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82" name="Gruppieren 281"/>
          <p:cNvGrpSpPr/>
          <p:nvPr/>
        </p:nvGrpSpPr>
        <p:grpSpPr>
          <a:xfrm flipH="1">
            <a:off x="6525921" y="2328823"/>
            <a:ext cx="1779879" cy="566777"/>
            <a:chOff x="477449" y="2158821"/>
            <a:chExt cx="1770451" cy="566777"/>
          </a:xfrm>
        </p:grpSpPr>
        <p:sp>
          <p:nvSpPr>
            <p:cNvPr id="283" name="Flussdiagramm: Datenträger mit direktem Zugriff 282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4" name="Flussdiagramm: Alternativer Prozess 283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SOS</a:t>
              </a:r>
              <a:endParaRPr lang="en-GB" sz="1800" dirty="0"/>
            </a:p>
          </p:txBody>
        </p:sp>
        <p:cxnSp>
          <p:nvCxnSpPr>
            <p:cNvPr id="285" name="Gerade Verbindung mit Pfeil 284"/>
            <p:cNvCxnSpPr/>
            <p:nvPr/>
          </p:nvCxnSpPr>
          <p:spPr bwMode="auto">
            <a:xfrm flipH="1">
              <a:off x="1096653" y="2327909"/>
              <a:ext cx="39626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86" name="Gerade Verbindung mit Pfeil 285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92" name="Gruppieren 291"/>
          <p:cNvGrpSpPr/>
          <p:nvPr/>
        </p:nvGrpSpPr>
        <p:grpSpPr>
          <a:xfrm flipH="1">
            <a:off x="6810407" y="3137270"/>
            <a:ext cx="2181193" cy="697134"/>
            <a:chOff x="1080057" y="5069506"/>
            <a:chExt cx="2083305" cy="697134"/>
          </a:xfrm>
        </p:grpSpPr>
        <p:sp>
          <p:nvSpPr>
            <p:cNvPr id="293" name="Flussdiagramm: Datenträger mit direktem Zugriff 292"/>
            <p:cNvSpPr/>
            <p:nvPr/>
          </p:nvSpPr>
          <p:spPr bwMode="auto">
            <a:xfrm>
              <a:off x="1465480" y="5069506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4" name="Flussdiagramm: Alternativer Prozess 293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295" name="Gerade Verbindung mit Pfeil 294"/>
            <p:cNvCxnSpPr>
              <a:endCxn id="294" idx="1"/>
            </p:cNvCxnSpPr>
            <p:nvPr/>
          </p:nvCxnSpPr>
          <p:spPr bwMode="auto">
            <a:xfrm>
              <a:off x="2119046" y="5329670"/>
              <a:ext cx="286739" cy="14004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96" name="Flussdiagramm: Datenträger mit direktem Zugriff 295"/>
            <p:cNvSpPr/>
            <p:nvPr/>
          </p:nvSpPr>
          <p:spPr bwMode="auto">
            <a:xfrm>
              <a:off x="1080057" y="519986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7" name="Gerade Verbindung mit Pfeil 296"/>
            <p:cNvCxnSpPr>
              <a:stCxn id="294" idx="1"/>
            </p:cNvCxnSpPr>
            <p:nvPr/>
          </p:nvCxnSpPr>
          <p:spPr bwMode="auto">
            <a:xfrm flipH="1" flipV="1">
              <a:off x="1716341" y="5469710"/>
              <a:ext cx="68944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98" name="Gruppieren 297"/>
          <p:cNvGrpSpPr/>
          <p:nvPr/>
        </p:nvGrpSpPr>
        <p:grpSpPr>
          <a:xfrm>
            <a:off x="6442206" y="4343400"/>
            <a:ext cx="2629505" cy="1295400"/>
            <a:chOff x="6442206" y="4191000"/>
            <a:chExt cx="2629505" cy="1295400"/>
          </a:xfrm>
        </p:grpSpPr>
        <p:grpSp>
          <p:nvGrpSpPr>
            <p:cNvPr id="299" name="Gruppieren 298"/>
            <p:cNvGrpSpPr/>
            <p:nvPr/>
          </p:nvGrpSpPr>
          <p:grpSpPr>
            <a:xfrm flipH="1">
              <a:off x="6442206" y="4317263"/>
              <a:ext cx="2101936" cy="1016737"/>
              <a:chOff x="609600" y="1469843"/>
              <a:chExt cx="2083305" cy="1016737"/>
            </a:xfrm>
          </p:grpSpPr>
          <p:sp>
            <p:nvSpPr>
              <p:cNvPr id="306" name="Flussdiagramm: Datenträger mit direktem Zugriff 305"/>
              <p:cNvSpPr/>
              <p:nvPr/>
            </p:nvSpPr>
            <p:spPr bwMode="auto">
              <a:xfrm>
                <a:off x="995023" y="146984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7" name="Flussdiagramm: Alternativer Prozess 306"/>
              <p:cNvSpPr/>
              <p:nvPr/>
            </p:nvSpPr>
            <p:spPr bwMode="auto">
              <a:xfrm>
                <a:off x="1935328" y="1616887"/>
                <a:ext cx="757577" cy="506321"/>
              </a:xfrm>
              <a:prstGeom prst="flowChartAlternateProcess">
                <a:avLst/>
              </a:prstGeom>
              <a:noFill/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rIns="0" rtlCol="0" anchor="ctr"/>
              <a:lstStyle/>
              <a:p>
                <a:pPr algn="ctr"/>
                <a:r>
                  <a:rPr lang="en-GB" sz="1800" dirty="0" smtClean="0"/>
                  <a:t>CSW</a:t>
                </a:r>
                <a:endParaRPr lang="en-GB" sz="1800" dirty="0"/>
              </a:p>
            </p:txBody>
          </p:sp>
          <p:cxnSp>
            <p:nvCxnSpPr>
              <p:cNvPr id="308" name="Gerade Verbindung mit Pfeil 307"/>
              <p:cNvCxnSpPr>
                <a:endCxn id="307" idx="1"/>
              </p:cNvCxnSpPr>
              <p:nvPr/>
            </p:nvCxnSpPr>
            <p:spPr bwMode="auto">
              <a:xfrm>
                <a:off x="1634307" y="1766214"/>
                <a:ext cx="301021" cy="10383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309" name="Flussdiagramm: Datenträger mit direktem Zugriff 308"/>
              <p:cNvSpPr/>
              <p:nvPr/>
            </p:nvSpPr>
            <p:spPr bwMode="auto">
              <a:xfrm>
                <a:off x="952200" y="191980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10" name="Gerade Verbindung mit Pfeil 309"/>
              <p:cNvCxnSpPr>
                <a:stCxn id="307" idx="1"/>
              </p:cNvCxnSpPr>
              <p:nvPr/>
            </p:nvCxnSpPr>
            <p:spPr bwMode="auto">
              <a:xfrm flipH="1">
                <a:off x="1578422" y="1870048"/>
                <a:ext cx="356906" cy="406826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311" name="Flussdiagramm: Datenträger mit direktem Zugriff 310"/>
              <p:cNvSpPr/>
              <p:nvPr/>
            </p:nvSpPr>
            <p:spPr bwMode="auto">
              <a:xfrm>
                <a:off x="609600" y="1600200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12" name="Gerade Verbindung mit Pfeil 311"/>
              <p:cNvCxnSpPr>
                <a:stCxn id="307" idx="1"/>
              </p:cNvCxnSpPr>
              <p:nvPr/>
            </p:nvCxnSpPr>
            <p:spPr bwMode="auto">
              <a:xfrm flipH="1">
                <a:off x="1221515" y="1870048"/>
                <a:ext cx="713813" cy="13541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</p:grpSp>
        <p:sp>
          <p:nvSpPr>
            <p:cNvPr id="300" name="Flussdiagramm: Datenträger mit direktem Zugriff 299"/>
            <p:cNvSpPr/>
            <p:nvPr/>
          </p:nvSpPr>
          <p:spPr bwMode="auto">
            <a:xfrm flipH="1">
              <a:off x="8682889" y="4191000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1" name="Gerade Verbindung mit Pfeil 300"/>
            <p:cNvCxnSpPr>
              <a:stCxn id="300" idx="4"/>
              <a:endCxn id="311" idx="1"/>
            </p:cNvCxnSpPr>
            <p:nvPr/>
          </p:nvCxnSpPr>
          <p:spPr bwMode="auto">
            <a:xfrm flipH="1">
              <a:off x="8544142" y="4313288"/>
              <a:ext cx="138747" cy="417721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2" name="Flussdiagramm: Datenträger mit direktem Zugriff 301"/>
            <p:cNvSpPr/>
            <p:nvPr/>
          </p:nvSpPr>
          <p:spPr bwMode="auto">
            <a:xfrm flipH="1">
              <a:off x="8763000" y="47846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3" name="Gerade Verbindung mit Pfeil 302"/>
            <p:cNvCxnSpPr>
              <a:stCxn id="311" idx="1"/>
              <a:endCxn id="302" idx="4"/>
            </p:cNvCxnSpPr>
            <p:nvPr/>
          </p:nvCxnSpPr>
          <p:spPr bwMode="auto">
            <a:xfrm>
              <a:off x="8544142" y="4731009"/>
              <a:ext cx="218858" cy="175903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4" name="Flussdiagramm: Datenträger mit direktem Zugriff 303"/>
            <p:cNvSpPr/>
            <p:nvPr/>
          </p:nvSpPr>
          <p:spPr bwMode="auto">
            <a:xfrm flipH="1">
              <a:off x="8448458" y="52418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5" name="Gerade Verbindung mit Pfeil 304"/>
            <p:cNvCxnSpPr>
              <a:stCxn id="309" idx="1"/>
              <a:endCxn id="304" idx="4"/>
            </p:cNvCxnSpPr>
            <p:nvPr/>
          </p:nvCxnSpPr>
          <p:spPr bwMode="auto">
            <a:xfrm>
              <a:off x="8198478" y="5050612"/>
              <a:ext cx="249980" cy="31350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34" name="Gruppieren 333"/>
          <p:cNvGrpSpPr/>
          <p:nvPr/>
        </p:nvGrpSpPr>
        <p:grpSpPr>
          <a:xfrm flipH="1">
            <a:off x="5791200" y="1792995"/>
            <a:ext cx="732377" cy="264405"/>
            <a:chOff x="477449" y="2158821"/>
            <a:chExt cx="1770451" cy="566777"/>
          </a:xfrm>
        </p:grpSpPr>
        <p:sp>
          <p:nvSpPr>
            <p:cNvPr id="336" name="Flussdiagramm: Datenträger mit direktem Zugriff 335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8" name="Flussdiagramm: Alternativer Prozess 33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340" name="Gerade Verbindung mit Pfeil 33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42" name="Gerade Verbindung mit Pfeil 34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756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090612" y="2209800"/>
            <a:ext cx="6986588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Interoperability ensures communication among Web services.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n-GB" sz="2800" b="0" dirty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Rules for application schemas ensure interoperability between technical systems.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dirty="0"/>
              <a:t>Suite of Water Information standards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67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827426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Water data exchange using standards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8" name="Abgerundetes Rechteck 7"/>
          <p:cNvSpPr/>
          <p:nvPr/>
        </p:nvSpPr>
        <p:spPr bwMode="auto">
          <a:xfrm>
            <a:off x="533400" y="993347"/>
            <a:ext cx="8274260" cy="5178853"/>
          </a:xfrm>
          <a:prstGeom prst="roundRect">
            <a:avLst>
              <a:gd name="adj" fmla="val 3728"/>
            </a:avLst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feld 8"/>
          <p:cNvSpPr txBox="1"/>
          <p:nvPr/>
        </p:nvSpPr>
        <p:spPr>
          <a:xfrm>
            <a:off x="1430482" y="5756077"/>
            <a:ext cx="2493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 smtClean="0">
                <a:solidFill>
                  <a:srgbClr val="002060"/>
                </a:solidFill>
              </a:rPr>
              <a:t>[ISO19109:2005,              ]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153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Water data exchange using standards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066800"/>
            <a:ext cx="827426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hteck 3"/>
          <p:cNvSpPr/>
          <p:nvPr/>
        </p:nvSpPr>
        <p:spPr>
          <a:xfrm>
            <a:off x="3581400" y="2255715"/>
            <a:ext cx="2209800" cy="1005508"/>
          </a:xfrm>
          <a:prstGeom prst="rect">
            <a:avLst/>
          </a:prstGeom>
          <a:solidFill>
            <a:schemeClr val="accent3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600" b="0" dirty="0">
                <a:solidFill>
                  <a:srgbClr val="002060"/>
                </a:solidFill>
                <a:latin typeface="Times New Roman" charset="0"/>
                <a:cs typeface="MS PGothic" charset="0"/>
              </a:rPr>
              <a:t>C</a:t>
            </a:r>
            <a:r>
              <a:rPr lang="en-GB" sz="1600" b="0" dirty="0" smtClean="0">
                <a:solidFill>
                  <a:srgbClr val="002060"/>
                </a:solidFill>
                <a:latin typeface="Times New Roman" charset="0"/>
                <a:cs typeface="MS PGothic" charset="0"/>
              </a:rPr>
              <a:t>ommon semantics used to define both the  </a:t>
            </a:r>
            <a:r>
              <a:rPr lang="en-GB" sz="1600" b="0" dirty="0">
                <a:solidFill>
                  <a:srgbClr val="002060"/>
                </a:solidFill>
                <a:latin typeface="Times New Roman" charset="0"/>
                <a:cs typeface="MS PGothic" charset="0"/>
              </a:rPr>
              <a:t>request and the </a:t>
            </a:r>
            <a:r>
              <a:rPr lang="en-GB" sz="1600" b="0" dirty="0" smtClean="0">
                <a:solidFill>
                  <a:srgbClr val="002060"/>
                </a:solidFill>
                <a:latin typeface="Times New Roman" charset="0"/>
                <a:cs typeface="MS PGothic" charset="0"/>
              </a:rPr>
              <a:t>result</a:t>
            </a:r>
            <a:endParaRPr lang="en-GB" sz="1600" dirty="0">
              <a:solidFill>
                <a:srgbClr val="002060"/>
              </a:solidFill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grpSp>
        <p:nvGrpSpPr>
          <p:cNvPr id="6" name="Gruppieren 5"/>
          <p:cNvGrpSpPr/>
          <p:nvPr/>
        </p:nvGrpSpPr>
        <p:grpSpPr>
          <a:xfrm>
            <a:off x="533400" y="993347"/>
            <a:ext cx="8274260" cy="5178853"/>
            <a:chOff x="533400" y="993347"/>
            <a:chExt cx="8274260" cy="5178853"/>
          </a:xfrm>
        </p:grpSpPr>
        <p:sp>
          <p:nvSpPr>
            <p:cNvPr id="10" name="Abgerundetes Rechteck 9"/>
            <p:cNvSpPr/>
            <p:nvPr/>
          </p:nvSpPr>
          <p:spPr bwMode="auto">
            <a:xfrm>
              <a:off x="533400" y="993347"/>
              <a:ext cx="8274260" cy="5178853"/>
            </a:xfrm>
            <a:prstGeom prst="roundRect">
              <a:avLst>
                <a:gd name="adj" fmla="val 3728"/>
              </a:avLst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Textfeld 8"/>
            <p:cNvSpPr txBox="1"/>
            <p:nvPr/>
          </p:nvSpPr>
          <p:spPr>
            <a:xfrm>
              <a:off x="1430482" y="5756077"/>
              <a:ext cx="249381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400" b="0" dirty="0" smtClean="0">
                  <a:solidFill>
                    <a:srgbClr val="002060"/>
                  </a:solidFill>
                </a:rPr>
                <a:t>[ISO19109:2005,              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259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14" y="993347"/>
            <a:ext cx="8274260" cy="5178853"/>
          </a:xfrm>
          <a:prstGeom prst="rect">
            <a:avLst/>
          </a:prstGeom>
          <a:noFill/>
          <a:ln w="12700" cap="rnd">
            <a:noFill/>
            <a:bevel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sz="2800" dirty="0" smtClean="0">
                <a:cs typeface="+mj-cs"/>
              </a:rPr>
              <a:t>Water data exchange using standards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9" name="Abgerundetes Rechteck 8"/>
          <p:cNvSpPr/>
          <p:nvPr/>
        </p:nvSpPr>
        <p:spPr bwMode="auto">
          <a:xfrm>
            <a:off x="3107268" y="2171700"/>
            <a:ext cx="3200401" cy="106680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i="1" dirty="0" smtClean="0">
                <a:solidFill>
                  <a:srgbClr val="002060"/>
                </a:solidFill>
              </a:rPr>
              <a:t>Hydrology-specific application schemas</a:t>
            </a:r>
          </a:p>
        </p:txBody>
      </p:sp>
      <p:sp>
        <p:nvSpPr>
          <p:cNvPr id="10" name="Abgerundetes Rechteck 9"/>
          <p:cNvSpPr/>
          <p:nvPr/>
        </p:nvSpPr>
        <p:spPr bwMode="auto">
          <a:xfrm>
            <a:off x="533400" y="993347"/>
            <a:ext cx="8274260" cy="5178853"/>
          </a:xfrm>
          <a:prstGeom prst="roundRect">
            <a:avLst>
              <a:gd name="adj" fmla="val 3728"/>
            </a:avLst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Textfeld 10"/>
          <p:cNvSpPr txBox="1"/>
          <p:nvPr/>
        </p:nvSpPr>
        <p:spPr>
          <a:xfrm>
            <a:off x="1430482" y="5756077"/>
            <a:ext cx="24938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0" dirty="0" smtClean="0">
                <a:solidFill>
                  <a:srgbClr val="002060"/>
                </a:solidFill>
              </a:rPr>
              <a:t>[ISO19109:2005,              ]</a:t>
            </a:r>
          </a:p>
        </p:txBody>
      </p:sp>
      <p:sp>
        <p:nvSpPr>
          <p:cNvPr id="12" name="Rechteck 11"/>
          <p:cNvSpPr/>
          <p:nvPr/>
        </p:nvSpPr>
        <p:spPr>
          <a:xfrm>
            <a:off x="3703786" y="1295400"/>
            <a:ext cx="2007363" cy="584775"/>
          </a:xfrm>
          <a:prstGeom prst="rect">
            <a:avLst/>
          </a:prstGeom>
          <a:solidFill>
            <a:schemeClr val="accent3"/>
          </a:solidFill>
          <a:ln>
            <a:solidFill>
              <a:srgbClr val="00206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GB" sz="1600" b="0" dirty="0" smtClean="0">
                <a:solidFill>
                  <a:srgbClr val="002060"/>
                </a:solidFill>
                <a:latin typeface="Times New Roman" charset="0"/>
                <a:cs typeface="MS PGothic" charset="0"/>
              </a:rPr>
              <a:t>ISO19109: </a:t>
            </a:r>
            <a:r>
              <a:rPr lang="en-GB" sz="1600" b="0" dirty="0">
                <a:solidFill>
                  <a:srgbClr val="002060"/>
                </a:solidFill>
                <a:latin typeface="Times New Roman" charset="0"/>
                <a:cs typeface="MS PGothic" charset="0"/>
              </a:rPr>
              <a:t>Rules for application schema.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13" name="Abgerundetes Rechteck 12"/>
          <p:cNvSpPr/>
          <p:nvPr/>
        </p:nvSpPr>
        <p:spPr bwMode="auto">
          <a:xfrm>
            <a:off x="6553200" y="3213670"/>
            <a:ext cx="1295400" cy="755703"/>
          </a:xfrm>
          <a:prstGeom prst="roundRect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400" dirty="0" smtClean="0"/>
              <a:t>Requesting Service</a:t>
            </a:r>
            <a:endParaRPr lang="en-GB" sz="1400" dirty="0"/>
          </a:p>
        </p:txBody>
      </p:sp>
      <p:sp>
        <p:nvSpPr>
          <p:cNvPr id="14" name="Abgerundetes Rechteck 13"/>
          <p:cNvSpPr/>
          <p:nvPr/>
        </p:nvSpPr>
        <p:spPr bwMode="auto">
          <a:xfrm>
            <a:off x="1447800" y="3213670"/>
            <a:ext cx="1295400" cy="755703"/>
          </a:xfrm>
          <a:prstGeom prst="roundRect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400" dirty="0" smtClean="0"/>
              <a:t>Supplying Service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40346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876300" y="1981200"/>
            <a:ext cx="7391400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of standards today is widely accepted </a:t>
            </a:r>
            <a:r>
              <a:rPr lang="en-GB" sz="2800" b="0" dirty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in </a:t>
            </a:r>
            <a:r>
              <a:rPr lang="en-GB" sz="2800" b="0" dirty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geographic 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n-GB" sz="2800" b="0" dirty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Standard services ensure understanding 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how 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 is exchanged </a:t>
            </a:r>
            <a:r>
              <a:rPr lang="en-GB" sz="2800" b="0" dirty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 interoperability).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dirty="0"/>
              <a:t>Suite of Water Information standards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58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809624" y="914400"/>
            <a:ext cx="7953376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  <a:buFontTx/>
              <a:buChar char="+"/>
            </a:pPr>
            <a:endParaRPr lang="en-GB" sz="2400" b="0" dirty="0" smtClean="0">
              <a:solidFill>
                <a:srgbClr val="092E5C"/>
              </a:solidFill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Tx/>
              <a:buChar char="+"/>
            </a:pPr>
            <a:r>
              <a:rPr lang="en-GB" sz="2400" b="0" dirty="0" smtClean="0">
                <a:solidFill>
                  <a:srgbClr val="092E5C"/>
                </a:solidFill>
              </a:rPr>
              <a:t>Use of standard Web services widely </a:t>
            </a:r>
            <a:r>
              <a:rPr lang="en-GB" sz="2400" b="0" dirty="0">
                <a:solidFill>
                  <a:srgbClr val="092E5C"/>
                </a:solidFill>
              </a:rPr>
              <a:t>accepted </a:t>
            </a:r>
            <a:r>
              <a:rPr lang="en-GB" sz="2400" b="0" dirty="0" smtClean="0">
                <a:solidFill>
                  <a:srgbClr val="092E5C"/>
                </a:solidFill>
              </a:rPr>
              <a:t>today,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Tx/>
              <a:buChar char="+"/>
            </a:pPr>
            <a:r>
              <a:rPr lang="en-GB" sz="2400" b="0" dirty="0" smtClean="0">
                <a:solidFill>
                  <a:srgbClr val="092E5C"/>
                </a:solidFill>
              </a:rPr>
              <a:t>Standard services ensure technical interoperability 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rgbClr val="092E5C"/>
                </a:solidFill>
              </a:rPr>
              <a:t>c</a:t>
            </a:r>
            <a:r>
              <a:rPr lang="en-GB" sz="2400" b="0" dirty="0" smtClean="0">
                <a:solidFill>
                  <a:srgbClr val="092E5C"/>
                </a:solidFill>
              </a:rPr>
              <a:t>oncerned with understanding the syntax of requests and responses received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using standard interfaces, formats, protocols, etc.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Tx/>
              <a:buChar char="+"/>
            </a:pPr>
            <a:r>
              <a:rPr lang="en-GB" sz="2400" b="0" dirty="0">
                <a:solidFill>
                  <a:srgbClr val="092E5C"/>
                </a:solidFill>
              </a:rPr>
              <a:t>D</a:t>
            </a:r>
            <a:r>
              <a:rPr lang="en-GB" sz="2400" b="0" dirty="0" smtClean="0">
                <a:solidFill>
                  <a:srgbClr val="092E5C"/>
                </a:solidFill>
              </a:rPr>
              <a:t>omain-specific </a:t>
            </a:r>
            <a:r>
              <a:rPr lang="en-GB" sz="2400" b="0" dirty="0">
                <a:solidFill>
                  <a:srgbClr val="092E5C"/>
                </a:solidFill>
              </a:rPr>
              <a:t>profiles </a:t>
            </a:r>
            <a:r>
              <a:rPr lang="en-GB" sz="2400" b="0" dirty="0" smtClean="0">
                <a:solidFill>
                  <a:srgbClr val="092E5C"/>
                </a:solidFill>
              </a:rPr>
              <a:t>optimize general standards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covering specific needs of a community / domain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rgbClr val="092E5C"/>
                </a:solidFill>
              </a:rPr>
              <a:t>c</a:t>
            </a:r>
            <a:r>
              <a:rPr lang="en-GB" sz="2400" b="0" dirty="0" smtClean="0">
                <a:solidFill>
                  <a:srgbClr val="092E5C"/>
                </a:solidFill>
              </a:rPr>
              <a:t>apturing domain perspectives (context relation)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Tx/>
              <a:buChar char="-"/>
            </a:pPr>
            <a:r>
              <a:rPr lang="en-GB" sz="2400" b="0" dirty="0" smtClean="0">
                <a:solidFill>
                  <a:srgbClr val="092E5C"/>
                </a:solidFill>
              </a:rPr>
              <a:t>Context / meaning of information is not easily accessible for technical systems such as Web services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400" b="0" dirty="0" smtClean="0">
              <a:solidFill>
                <a:srgbClr val="092E5C"/>
              </a:solidFill>
            </a:endParaRP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400" b="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03734"/>
            <a:ext cx="8837613" cy="5355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dirty="0"/>
              <a:t>I</a:t>
            </a:r>
            <a:r>
              <a:rPr lang="en-GB" dirty="0" smtClean="0"/>
              <a:t>nteroperability of </a:t>
            </a:r>
            <a:r>
              <a:rPr lang="en-GB" dirty="0"/>
              <a:t>Web services</a:t>
            </a:r>
            <a:endParaRPr lang="en-GB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38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 smtClean="0"/>
              <a:t>Technical </a:t>
            </a:r>
            <a:r>
              <a:rPr lang="en-GB" dirty="0"/>
              <a:t>interoperability </a:t>
            </a:r>
            <a:r>
              <a:rPr lang="en-GB" dirty="0" smtClean="0"/>
              <a:t>of </a:t>
            </a:r>
            <a:r>
              <a:rPr lang="en-GB" dirty="0"/>
              <a:t>Web services</a:t>
            </a: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24" name="Gruppieren 23"/>
          <p:cNvGrpSpPr/>
          <p:nvPr/>
        </p:nvGrpSpPr>
        <p:grpSpPr>
          <a:xfrm>
            <a:off x="2746945" y="2666999"/>
            <a:ext cx="3377130" cy="2209801"/>
            <a:chOff x="2498735" y="2529794"/>
            <a:chExt cx="3734837" cy="2426593"/>
          </a:xfrm>
        </p:grpSpPr>
        <p:sp>
          <p:nvSpPr>
            <p:cNvPr id="17" name="Wolke 16"/>
            <p:cNvSpPr/>
            <p:nvPr/>
          </p:nvSpPr>
          <p:spPr bwMode="auto">
            <a:xfrm>
              <a:off x="2653218" y="2737037"/>
              <a:ext cx="3242864" cy="1957297"/>
            </a:xfrm>
            <a:prstGeom prst="cloud">
              <a:avLst/>
            </a:prstGeom>
            <a:noFill/>
            <a:ln w="190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2400" dirty="0" smtClean="0"/>
                <a:t>Internet</a:t>
              </a:r>
              <a:endParaRPr lang="en-GB" sz="2400" dirty="0"/>
            </a:p>
          </p:txBody>
        </p:sp>
        <p:grpSp>
          <p:nvGrpSpPr>
            <p:cNvPr id="38" name="Gruppieren 37"/>
            <p:cNvGrpSpPr/>
            <p:nvPr/>
          </p:nvGrpSpPr>
          <p:grpSpPr>
            <a:xfrm>
              <a:off x="5721172" y="3611394"/>
              <a:ext cx="512400" cy="385943"/>
              <a:chOff x="1352011" y="4568240"/>
              <a:chExt cx="2381250" cy="2381250"/>
            </a:xfrm>
          </p:grpSpPr>
          <p:pic>
            <p:nvPicPr>
              <p:cNvPr id="39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2011" y="456824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Abgerundetes Rechteck 39"/>
              <p:cNvSpPr/>
              <p:nvPr/>
            </p:nvSpPr>
            <p:spPr bwMode="auto">
              <a:xfrm>
                <a:off x="1544977" y="4651951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uppieren 40"/>
            <p:cNvGrpSpPr/>
            <p:nvPr/>
          </p:nvGrpSpPr>
          <p:grpSpPr>
            <a:xfrm>
              <a:off x="5444082" y="2957897"/>
              <a:ext cx="512400" cy="385943"/>
              <a:chOff x="497898" y="3080237"/>
              <a:chExt cx="2381251" cy="2381250"/>
            </a:xfrm>
          </p:grpSpPr>
          <p:pic>
            <p:nvPicPr>
              <p:cNvPr id="4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98" y="3080237"/>
                <a:ext cx="2381251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Abgerundetes Rechteck 42"/>
              <p:cNvSpPr/>
              <p:nvPr/>
            </p:nvSpPr>
            <p:spPr bwMode="auto">
              <a:xfrm>
                <a:off x="690865" y="3173586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uppieren 46"/>
            <p:cNvGrpSpPr/>
            <p:nvPr/>
          </p:nvGrpSpPr>
          <p:grpSpPr>
            <a:xfrm>
              <a:off x="4617316" y="2529794"/>
              <a:ext cx="512400" cy="385943"/>
              <a:chOff x="1118457" y="3085316"/>
              <a:chExt cx="2381250" cy="2381250"/>
            </a:xfrm>
          </p:grpSpPr>
          <p:pic>
            <p:nvPicPr>
              <p:cNvPr id="48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457" y="3085316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Abgerundetes Rechteck 48"/>
              <p:cNvSpPr/>
              <p:nvPr/>
            </p:nvSpPr>
            <p:spPr bwMode="auto">
              <a:xfrm>
                <a:off x="1211754" y="3239561"/>
                <a:ext cx="2192703" cy="1410661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3" name="Gruppieren 52"/>
            <p:cNvGrpSpPr/>
            <p:nvPr/>
          </p:nvGrpSpPr>
          <p:grpSpPr>
            <a:xfrm>
              <a:off x="3586980" y="2529794"/>
              <a:ext cx="512400" cy="385943"/>
              <a:chOff x="1204628" y="2903841"/>
              <a:chExt cx="2381250" cy="2381250"/>
            </a:xfrm>
          </p:grpSpPr>
          <p:pic>
            <p:nvPicPr>
              <p:cNvPr id="54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4628" y="2903841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Abgerundetes Rechteck 54"/>
              <p:cNvSpPr/>
              <p:nvPr/>
            </p:nvSpPr>
            <p:spPr bwMode="auto">
              <a:xfrm>
                <a:off x="1397595" y="2987549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4341785" y="4570444"/>
              <a:ext cx="512400" cy="385943"/>
              <a:chOff x="1598990" y="3986255"/>
              <a:chExt cx="2381250" cy="2381250"/>
            </a:xfrm>
          </p:grpSpPr>
          <p:pic>
            <p:nvPicPr>
              <p:cNvPr id="57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8990" y="3986255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Abgerundetes Rechteck 57"/>
              <p:cNvSpPr/>
              <p:nvPr/>
            </p:nvSpPr>
            <p:spPr bwMode="auto">
              <a:xfrm>
                <a:off x="1791958" y="4069970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2" name="Gruppieren 61"/>
            <p:cNvGrpSpPr/>
            <p:nvPr/>
          </p:nvGrpSpPr>
          <p:grpSpPr>
            <a:xfrm>
              <a:off x="5233956" y="4192677"/>
              <a:ext cx="512400" cy="385943"/>
              <a:chOff x="601887" y="3469967"/>
              <a:chExt cx="2381250" cy="2381250"/>
            </a:xfrm>
          </p:grpSpPr>
          <p:pic>
            <p:nvPicPr>
              <p:cNvPr id="63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887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Abgerundetes Rechteck 63"/>
              <p:cNvSpPr/>
              <p:nvPr/>
            </p:nvSpPr>
            <p:spPr bwMode="auto">
              <a:xfrm>
                <a:off x="794853" y="3553678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2498735" y="3794653"/>
              <a:ext cx="512400" cy="385943"/>
              <a:chOff x="638951" y="4628190"/>
              <a:chExt cx="2381250" cy="2381250"/>
            </a:xfrm>
          </p:grpSpPr>
          <p:pic>
            <p:nvPicPr>
              <p:cNvPr id="7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951" y="462819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Abgerundetes Rechteck 72"/>
              <p:cNvSpPr/>
              <p:nvPr/>
            </p:nvSpPr>
            <p:spPr bwMode="auto">
              <a:xfrm>
                <a:off x="831918" y="471189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2743200" y="3019498"/>
              <a:ext cx="512400" cy="385943"/>
              <a:chOff x="1066800" y="2269713"/>
              <a:chExt cx="2381250" cy="2381250"/>
            </a:xfrm>
          </p:grpSpPr>
          <p:pic>
            <p:nvPicPr>
              <p:cNvPr id="75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800" y="2269713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Abgerundetes Rechteck 75"/>
              <p:cNvSpPr/>
              <p:nvPr/>
            </p:nvSpPr>
            <p:spPr bwMode="auto">
              <a:xfrm>
                <a:off x="1259766" y="2353424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uppieren 79"/>
            <p:cNvGrpSpPr/>
            <p:nvPr/>
          </p:nvGrpSpPr>
          <p:grpSpPr>
            <a:xfrm>
              <a:off x="3330532" y="4350696"/>
              <a:ext cx="512400" cy="385943"/>
              <a:chOff x="2025679" y="3469967"/>
              <a:chExt cx="2381250" cy="2381250"/>
            </a:xfrm>
          </p:grpSpPr>
          <p:pic>
            <p:nvPicPr>
              <p:cNvPr id="81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5679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Abgerundetes Rechteck 81"/>
              <p:cNvSpPr/>
              <p:nvPr/>
            </p:nvSpPr>
            <p:spPr bwMode="auto">
              <a:xfrm>
                <a:off x="2218647" y="3553682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4" name="Gruppieren 93"/>
          <p:cNvGrpSpPr/>
          <p:nvPr/>
        </p:nvGrpSpPr>
        <p:grpSpPr>
          <a:xfrm flipH="1">
            <a:off x="4648200" y="5181600"/>
            <a:ext cx="1779879" cy="566777"/>
            <a:chOff x="477449" y="2158821"/>
            <a:chExt cx="1770451" cy="566777"/>
          </a:xfrm>
        </p:grpSpPr>
        <p:sp>
          <p:nvSpPr>
            <p:cNvPr id="95" name="Flussdiagramm: Datenträger mit direktem Zugriff 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Flussdiagramm: Alternativer Prozess 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97" name="Gerade Verbindung mit Pfeil 9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8" name="Gerade Verbindung mit Pfeil 9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99" name="Gruppieren 98"/>
          <p:cNvGrpSpPr/>
          <p:nvPr/>
        </p:nvGrpSpPr>
        <p:grpSpPr>
          <a:xfrm>
            <a:off x="324111" y="3788362"/>
            <a:ext cx="1774842" cy="566777"/>
            <a:chOff x="477449" y="2158821"/>
            <a:chExt cx="1770451" cy="566777"/>
          </a:xfrm>
        </p:grpSpPr>
        <p:sp>
          <p:nvSpPr>
            <p:cNvPr id="100" name="Flussdiagramm: Datenträger mit direktem Zugriff 9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Flussdiagramm: Alternativer Prozess 10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WFS</a:t>
              </a:r>
              <a:endParaRPr lang="en-GB" sz="1800" dirty="0"/>
            </a:p>
          </p:txBody>
        </p:sp>
        <p:cxnSp>
          <p:nvCxnSpPr>
            <p:cNvPr id="102" name="Gerade Verbindung mit Pfeil 10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3" name="Gerade Verbindung mit Pfeil 10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86" name="Flussdiagramm: Alternativer Prozess 85"/>
          <p:cNvSpPr/>
          <p:nvPr/>
        </p:nvSpPr>
        <p:spPr bwMode="auto">
          <a:xfrm>
            <a:off x="2133600" y="1616887"/>
            <a:ext cx="757577" cy="506321"/>
          </a:xfrm>
          <a:prstGeom prst="flowChartAlternateProcess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800" dirty="0" smtClean="0"/>
              <a:t>WMS</a:t>
            </a:r>
            <a:endParaRPr lang="en-GB" sz="1800" dirty="0"/>
          </a:p>
        </p:txBody>
      </p:sp>
      <p:sp>
        <p:nvSpPr>
          <p:cNvPr id="113" name="Flussdiagramm: Datenträger mit direktem Zugriff 112"/>
          <p:cNvSpPr/>
          <p:nvPr/>
        </p:nvSpPr>
        <p:spPr bwMode="auto">
          <a:xfrm>
            <a:off x="1100400" y="9144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Gerade Verbindung mit Pfeil 87"/>
          <p:cNvCxnSpPr>
            <a:stCxn id="118" idx="6"/>
            <a:endCxn id="86" idx="1"/>
          </p:cNvCxnSpPr>
          <p:nvPr/>
        </p:nvCxnSpPr>
        <p:spPr bwMode="auto">
          <a:xfrm>
            <a:off x="1828800" y="1649739"/>
            <a:ext cx="304800" cy="22030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/>
          </a:ln>
          <a:effectLst/>
        </p:spPr>
      </p:cxnSp>
      <p:grpSp>
        <p:nvGrpSpPr>
          <p:cNvPr id="123" name="Gruppieren 122"/>
          <p:cNvGrpSpPr/>
          <p:nvPr/>
        </p:nvGrpSpPr>
        <p:grpSpPr>
          <a:xfrm>
            <a:off x="381000" y="2938423"/>
            <a:ext cx="1774842" cy="566777"/>
            <a:chOff x="477449" y="2158821"/>
            <a:chExt cx="1770451" cy="566777"/>
          </a:xfrm>
        </p:grpSpPr>
        <p:sp>
          <p:nvSpPr>
            <p:cNvPr id="124" name="Flussdiagramm: Datenträger mit direktem Zugriff 12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lussdiagramm: Alternativer Prozess 12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130" name="Gerade Verbindung mit Pfeil 12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1" name="Gerade Verbindung mit Pfeil 13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56" name="Gruppieren 155"/>
          <p:cNvGrpSpPr/>
          <p:nvPr/>
        </p:nvGrpSpPr>
        <p:grpSpPr>
          <a:xfrm flipH="1">
            <a:off x="4468521" y="990600"/>
            <a:ext cx="1779879" cy="566777"/>
            <a:chOff x="477449" y="2158821"/>
            <a:chExt cx="1770451" cy="566777"/>
          </a:xfrm>
        </p:grpSpPr>
        <p:sp>
          <p:nvSpPr>
            <p:cNvPr id="157" name="Flussdiagramm: Datenträger mit direktem Zugriff 1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Flussdiagramm: Alternativer Prozess 1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600" dirty="0" smtClean="0"/>
                <a:t>WMS</a:t>
              </a:r>
              <a:endParaRPr lang="en-GB" sz="1600" dirty="0"/>
            </a:p>
          </p:txBody>
        </p:sp>
        <p:cxnSp>
          <p:nvCxnSpPr>
            <p:cNvPr id="159" name="Gerade Verbindung mit Pfeil 158"/>
            <p:cNvCxnSpPr/>
            <p:nvPr/>
          </p:nvCxnSpPr>
          <p:spPr bwMode="auto">
            <a:xfrm flipH="1" flipV="1">
              <a:off x="1084493" y="2316999"/>
              <a:ext cx="408425" cy="1091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0" name="Gerade Verbindung mit Pfeil 1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77" name="Gruppieren 176"/>
          <p:cNvGrpSpPr/>
          <p:nvPr/>
        </p:nvGrpSpPr>
        <p:grpSpPr>
          <a:xfrm>
            <a:off x="1546060" y="2215359"/>
            <a:ext cx="988201" cy="527835"/>
            <a:chOff x="1080057" y="4896613"/>
            <a:chExt cx="2425050" cy="1223197"/>
          </a:xfrm>
        </p:grpSpPr>
        <p:sp>
          <p:nvSpPr>
            <p:cNvPr id="178" name="Flussdiagramm: Datenträger mit direktem Zugriff 177"/>
            <p:cNvSpPr/>
            <p:nvPr/>
          </p:nvSpPr>
          <p:spPr bwMode="auto">
            <a:xfrm>
              <a:off x="1465480" y="4896613"/>
              <a:ext cx="757578" cy="515252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Flussdiagramm: Alternativer Prozess 178"/>
            <p:cNvSpPr/>
            <p:nvPr/>
          </p:nvSpPr>
          <p:spPr bwMode="auto">
            <a:xfrm>
              <a:off x="2671771" y="5216549"/>
              <a:ext cx="833336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85" name="Gerade Verbindung mit Pfeil 184"/>
            <p:cNvCxnSpPr>
              <a:stCxn id="178" idx="4"/>
              <a:endCxn id="179" idx="1"/>
            </p:cNvCxnSpPr>
            <p:nvPr/>
          </p:nvCxnSpPr>
          <p:spPr bwMode="auto">
            <a:xfrm>
              <a:off x="2223059" y="5154239"/>
              <a:ext cx="448712" cy="3154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186" name="Flussdiagramm: Datenträger mit direktem Zugriff 185"/>
            <p:cNvSpPr/>
            <p:nvPr/>
          </p:nvSpPr>
          <p:spPr bwMode="auto">
            <a:xfrm>
              <a:off x="1080057" y="5553033"/>
              <a:ext cx="757578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7" name="Gerade Verbindung mit Pfeil 186"/>
            <p:cNvCxnSpPr>
              <a:stCxn id="179" idx="1"/>
              <a:endCxn id="186" idx="4"/>
            </p:cNvCxnSpPr>
            <p:nvPr/>
          </p:nvCxnSpPr>
          <p:spPr bwMode="auto">
            <a:xfrm flipH="1">
              <a:off x="1837635" y="5469709"/>
              <a:ext cx="834136" cy="36671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188" name="Gruppieren 187"/>
          <p:cNvGrpSpPr/>
          <p:nvPr/>
        </p:nvGrpSpPr>
        <p:grpSpPr>
          <a:xfrm>
            <a:off x="533400" y="6040522"/>
            <a:ext cx="752706" cy="264405"/>
            <a:chOff x="477449" y="2158821"/>
            <a:chExt cx="1770451" cy="566777"/>
          </a:xfrm>
        </p:grpSpPr>
        <p:sp>
          <p:nvSpPr>
            <p:cNvPr id="189" name="Flussdiagramm: Datenträger mit direktem Zugriff 18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Flussdiagramm: Alternativer Prozess 18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91" name="Gerade Verbindung mit Pfeil 19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2" name="Gerade Verbindung mit Pfeil 19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98" name="Gruppieren 197"/>
          <p:cNvGrpSpPr/>
          <p:nvPr/>
        </p:nvGrpSpPr>
        <p:grpSpPr>
          <a:xfrm>
            <a:off x="2827277" y="1076033"/>
            <a:ext cx="752706" cy="264405"/>
            <a:chOff x="477449" y="2158821"/>
            <a:chExt cx="1770451" cy="566777"/>
          </a:xfrm>
        </p:grpSpPr>
        <p:sp>
          <p:nvSpPr>
            <p:cNvPr id="199" name="Flussdiagramm: Datenträger mit direktem Zugriff 19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Flussdiagramm: Alternativer Prozess 19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01" name="Gerade Verbindung mit Pfeil 20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02" name="Gerade Verbindung mit Pfeil 20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08" name="Gruppieren 207"/>
          <p:cNvGrpSpPr/>
          <p:nvPr/>
        </p:nvGrpSpPr>
        <p:grpSpPr>
          <a:xfrm flipH="1">
            <a:off x="7954423" y="1219200"/>
            <a:ext cx="732377" cy="264405"/>
            <a:chOff x="477449" y="2158821"/>
            <a:chExt cx="1770451" cy="566777"/>
          </a:xfrm>
        </p:grpSpPr>
        <p:sp>
          <p:nvSpPr>
            <p:cNvPr id="209" name="Flussdiagramm: Datenträger mit direktem Zugriff 20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Flussdiagramm: Alternativer Prozess 20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1" name="Gerade Verbindung mit Pfeil 21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2" name="Gerade Verbindung mit Pfeil 21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13" name="Gruppieren 212"/>
          <p:cNvGrpSpPr/>
          <p:nvPr/>
        </p:nvGrpSpPr>
        <p:grpSpPr>
          <a:xfrm flipH="1">
            <a:off x="5516023" y="5983995"/>
            <a:ext cx="732377" cy="264405"/>
            <a:chOff x="477449" y="2158821"/>
            <a:chExt cx="1770451" cy="566777"/>
          </a:xfrm>
        </p:grpSpPr>
        <p:sp>
          <p:nvSpPr>
            <p:cNvPr id="214" name="Flussdiagramm: Datenträger mit direktem Zugriff 21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Flussdiagramm: Alternativer Prozess 21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6" name="Gerade Verbindung mit Pfeil 215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7" name="Gerade Verbindung mit Pfeil 216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4" name="Gruppieren 223"/>
          <p:cNvGrpSpPr/>
          <p:nvPr/>
        </p:nvGrpSpPr>
        <p:grpSpPr>
          <a:xfrm flipH="1">
            <a:off x="6858000" y="5715000"/>
            <a:ext cx="732377" cy="264405"/>
            <a:chOff x="477449" y="2158821"/>
            <a:chExt cx="1770451" cy="566777"/>
          </a:xfrm>
        </p:grpSpPr>
        <p:sp>
          <p:nvSpPr>
            <p:cNvPr id="225" name="Flussdiagramm: Datenträger mit direktem Zugriff 22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6" name="Flussdiagramm: Alternativer Prozess 22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27" name="Gerade Verbindung mit Pfeil 22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8" name="Gerade Verbindung mit Pfeil 22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9" name="Gruppieren 228"/>
          <p:cNvGrpSpPr/>
          <p:nvPr/>
        </p:nvGrpSpPr>
        <p:grpSpPr>
          <a:xfrm flipH="1">
            <a:off x="6705600" y="990600"/>
            <a:ext cx="732377" cy="264405"/>
            <a:chOff x="477449" y="2158821"/>
            <a:chExt cx="1770451" cy="566777"/>
          </a:xfrm>
        </p:grpSpPr>
        <p:sp>
          <p:nvSpPr>
            <p:cNvPr id="230" name="Flussdiagramm: Datenträger mit direktem Zugriff 22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" name="Flussdiagramm: Alternativer Prozess 23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2" name="Gerade Verbindung mit Pfeil 23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3" name="Gerade Verbindung mit Pfeil 23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34" name="Gruppieren 233"/>
          <p:cNvGrpSpPr/>
          <p:nvPr/>
        </p:nvGrpSpPr>
        <p:grpSpPr>
          <a:xfrm flipH="1">
            <a:off x="6904409" y="1385097"/>
            <a:ext cx="944191" cy="519903"/>
            <a:chOff x="846317" y="4760484"/>
            <a:chExt cx="2317045" cy="1204813"/>
          </a:xfrm>
        </p:grpSpPr>
        <p:sp>
          <p:nvSpPr>
            <p:cNvPr id="235" name="Flussdiagramm: Datenträger mit direktem Zugriff 234"/>
            <p:cNvSpPr/>
            <p:nvPr/>
          </p:nvSpPr>
          <p:spPr bwMode="auto">
            <a:xfrm>
              <a:off x="1395355" y="4760484"/>
              <a:ext cx="757578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" name="Flussdiagramm: Alternativer Prozess 235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7" name="Gerade Verbindung mit Pfeil 236"/>
            <p:cNvCxnSpPr>
              <a:stCxn id="235" idx="4"/>
              <a:endCxn id="236" idx="1"/>
            </p:cNvCxnSpPr>
            <p:nvPr/>
          </p:nvCxnSpPr>
          <p:spPr bwMode="auto">
            <a:xfrm>
              <a:off x="2152933" y="5043872"/>
              <a:ext cx="252851" cy="4258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38" name="Flussdiagramm: Datenträger mit direktem Zugriff 237"/>
            <p:cNvSpPr/>
            <p:nvPr/>
          </p:nvSpPr>
          <p:spPr bwMode="auto">
            <a:xfrm>
              <a:off x="846317" y="5398521"/>
              <a:ext cx="757577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9" name="Gerade Verbindung mit Pfeil 238"/>
            <p:cNvCxnSpPr>
              <a:stCxn id="236" idx="1"/>
              <a:endCxn id="238" idx="4"/>
            </p:cNvCxnSpPr>
            <p:nvPr/>
          </p:nvCxnSpPr>
          <p:spPr bwMode="auto">
            <a:xfrm flipH="1">
              <a:off x="1603894" y="5469711"/>
              <a:ext cx="801891" cy="21219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46" name="Gruppieren 245"/>
          <p:cNvGrpSpPr/>
          <p:nvPr/>
        </p:nvGrpSpPr>
        <p:grpSpPr>
          <a:xfrm>
            <a:off x="1874320" y="6019800"/>
            <a:ext cx="752706" cy="264405"/>
            <a:chOff x="477449" y="2158821"/>
            <a:chExt cx="1770451" cy="566777"/>
          </a:xfrm>
        </p:grpSpPr>
        <p:sp>
          <p:nvSpPr>
            <p:cNvPr id="247" name="Flussdiagramm: Datenträger mit direktem Zugriff 24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Flussdiagramm: Alternativer Prozess 24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9" name="Gerade Verbindung mit Pfeil 24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0" name="Gerade Verbindung mit Pfeil 24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1" name="Gruppieren 250"/>
          <p:cNvGrpSpPr/>
          <p:nvPr/>
        </p:nvGrpSpPr>
        <p:grpSpPr>
          <a:xfrm>
            <a:off x="3438294" y="5486400"/>
            <a:ext cx="752706" cy="264405"/>
            <a:chOff x="477449" y="2158821"/>
            <a:chExt cx="1770451" cy="566777"/>
          </a:xfrm>
        </p:grpSpPr>
        <p:sp>
          <p:nvSpPr>
            <p:cNvPr id="252" name="Flussdiagramm: Datenträger mit direktem Zugriff 25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Flussdiagramm: Alternativer Prozess 25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4" name="Gerade Verbindung mit Pfeil 25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5" name="Gerade Verbindung mit Pfeil 25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6" name="Gruppieren 255"/>
          <p:cNvGrpSpPr/>
          <p:nvPr/>
        </p:nvGrpSpPr>
        <p:grpSpPr>
          <a:xfrm>
            <a:off x="3200149" y="1628866"/>
            <a:ext cx="752706" cy="264405"/>
            <a:chOff x="477449" y="2158821"/>
            <a:chExt cx="1770451" cy="566777"/>
          </a:xfrm>
        </p:grpSpPr>
        <p:sp>
          <p:nvSpPr>
            <p:cNvPr id="257" name="Flussdiagramm: Datenträger mit direktem Zugriff 2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Flussdiagramm: Alternativer Prozess 2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9" name="Gerade Verbindung mit Pfeil 25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0" name="Gerade Verbindung mit Pfeil 2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61" name="Gruppieren 260"/>
          <p:cNvGrpSpPr/>
          <p:nvPr/>
        </p:nvGrpSpPr>
        <p:grpSpPr>
          <a:xfrm flipH="1">
            <a:off x="4267200" y="6019800"/>
            <a:ext cx="732377" cy="264405"/>
            <a:chOff x="477449" y="2158821"/>
            <a:chExt cx="1770451" cy="566777"/>
          </a:xfrm>
        </p:grpSpPr>
        <p:sp>
          <p:nvSpPr>
            <p:cNvPr id="262" name="Flussdiagramm: Datenträger mit direktem Zugriff 26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Flussdiagramm: Alternativer Prozess 26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64" name="Gerade Verbindung mit Pfeil 26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5" name="Gerade Verbindung mit Pfeil 26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46" name="Flussdiagramm: Datenträger mit direktem Zugriff 345"/>
          <p:cNvSpPr/>
          <p:nvPr/>
        </p:nvSpPr>
        <p:spPr bwMode="auto">
          <a:xfrm>
            <a:off x="954885" y="152119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" name="Flussdiagramm: Datenträger mit direktem Zugriff 346"/>
          <p:cNvSpPr/>
          <p:nvPr/>
        </p:nvSpPr>
        <p:spPr bwMode="auto">
          <a:xfrm>
            <a:off x="762000" y="1905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7" name="Gerade Verbindung mit Pfeil 316"/>
          <p:cNvCxnSpPr>
            <a:stCxn id="370" idx="4"/>
            <a:endCxn id="118" idx="1"/>
          </p:cNvCxnSpPr>
          <p:nvPr/>
        </p:nvCxnSpPr>
        <p:spPr bwMode="auto">
          <a:xfrm>
            <a:off x="1109400" y="1323000"/>
            <a:ext cx="667317" cy="30788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9" name="Gerade Verbindung mit Pfeil 318"/>
          <p:cNvCxnSpPr>
            <a:stCxn id="346" idx="4"/>
            <a:endCxn id="118" idx="2"/>
          </p:cNvCxnSpPr>
          <p:nvPr/>
        </p:nvCxnSpPr>
        <p:spPr bwMode="auto">
          <a:xfrm flipV="1">
            <a:off x="1530885" y="1649739"/>
            <a:ext cx="236896" cy="51451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18" name="Ellipse 117"/>
          <p:cNvSpPr/>
          <p:nvPr/>
        </p:nvSpPr>
        <p:spPr bwMode="auto">
          <a:xfrm>
            <a:off x="1767781" y="1623078"/>
            <a:ext cx="61019" cy="53322"/>
          </a:xfrm>
          <a:prstGeom prst="ellips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Flussdiagramm: Datenträger mit direktem Zugriff 369"/>
          <p:cNvSpPr/>
          <p:nvPr/>
        </p:nvSpPr>
        <p:spPr bwMode="auto">
          <a:xfrm>
            <a:off x="533400" y="1143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2" name="Gerade Verbindung mit Pfeil 1041"/>
          <p:cNvCxnSpPr>
            <a:stCxn id="113" idx="4"/>
            <a:endCxn id="118" idx="0"/>
          </p:cNvCxnSpPr>
          <p:nvPr/>
        </p:nvCxnSpPr>
        <p:spPr bwMode="auto">
          <a:xfrm>
            <a:off x="1676400" y="1094400"/>
            <a:ext cx="121891" cy="528678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45" name="Gerade Verbindung 1044"/>
          <p:cNvCxnSpPr>
            <a:stCxn id="347" idx="4"/>
            <a:endCxn id="118" idx="3"/>
          </p:cNvCxnSpPr>
          <p:nvPr/>
        </p:nvCxnSpPr>
        <p:spPr bwMode="auto">
          <a:xfrm flipV="1">
            <a:off x="1338000" y="1668591"/>
            <a:ext cx="438717" cy="41640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9" name="Flussdiagramm: Datenträger mit direktem Zugriff 378"/>
          <p:cNvSpPr/>
          <p:nvPr/>
        </p:nvSpPr>
        <p:spPr bwMode="auto">
          <a:xfrm>
            <a:off x="1767781" y="980438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Gerade Verbindung 1048"/>
          <p:cNvCxnSpPr>
            <a:stCxn id="379" idx="4"/>
            <a:endCxn id="118" idx="7"/>
          </p:cNvCxnSpPr>
          <p:nvPr/>
        </p:nvCxnSpPr>
        <p:spPr bwMode="auto">
          <a:xfrm flipH="1">
            <a:off x="1819864" y="1160438"/>
            <a:ext cx="523917" cy="47044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9" name="Gruppieren 328"/>
          <p:cNvGrpSpPr/>
          <p:nvPr/>
        </p:nvGrpSpPr>
        <p:grpSpPr>
          <a:xfrm>
            <a:off x="1181023" y="5029200"/>
            <a:ext cx="1943177" cy="838200"/>
            <a:chOff x="1176600" y="5029200"/>
            <a:chExt cx="1943177" cy="838200"/>
          </a:xfrm>
        </p:grpSpPr>
        <p:sp>
          <p:nvSpPr>
            <p:cNvPr id="133" name="Flussdiagramm: Alternativer Prozess 132"/>
            <p:cNvSpPr/>
            <p:nvPr/>
          </p:nvSpPr>
          <p:spPr bwMode="auto">
            <a:xfrm>
              <a:off x="2362200" y="518160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WCS</a:t>
              </a:r>
              <a:endParaRPr lang="en-GB" sz="1800" dirty="0"/>
            </a:p>
          </p:txBody>
        </p:sp>
        <p:sp>
          <p:nvSpPr>
            <p:cNvPr id="384" name="Flussdiagramm: Datenträger mit direktem Zugriff 383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5" name="Gerade Verbindung mit Pfeil 384"/>
            <p:cNvCxnSpPr>
              <a:stCxn id="390" idx="6"/>
              <a:endCxn id="133" idx="1"/>
            </p:cNvCxnSpPr>
            <p:nvPr/>
          </p:nvCxnSpPr>
          <p:spPr bwMode="auto">
            <a:xfrm flipV="1">
              <a:off x="1966019" y="5434761"/>
              <a:ext cx="396181" cy="21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388" name="Gerade Verbindung mit Pfeil 387"/>
            <p:cNvCxnSpPr>
              <a:stCxn id="391" idx="4"/>
              <a:endCxn id="390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0" name="Ellipse 389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Flussdiagramm: Datenträger mit direktem Zugriff 390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2" name="Gerade Verbindung mit Pfeil 391"/>
            <p:cNvCxnSpPr>
              <a:stCxn id="384" idx="4"/>
              <a:endCxn id="390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7" name="Gruppieren 396"/>
          <p:cNvGrpSpPr/>
          <p:nvPr/>
        </p:nvGrpSpPr>
        <p:grpSpPr>
          <a:xfrm>
            <a:off x="1981200" y="4572000"/>
            <a:ext cx="752706" cy="264405"/>
            <a:chOff x="477449" y="2158821"/>
            <a:chExt cx="1770451" cy="566777"/>
          </a:xfrm>
        </p:grpSpPr>
        <p:sp>
          <p:nvSpPr>
            <p:cNvPr id="398" name="Flussdiagramm: Datenträger mit direktem Zugriff 39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9" name="Flussdiagramm: Alternativer Prozess 39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0" name="Gerade Verbindung mit Pfeil 39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1" name="Gerade Verbindung mit Pfeil 40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8" name="Gruppieren 327"/>
          <p:cNvGrpSpPr/>
          <p:nvPr/>
        </p:nvGrpSpPr>
        <p:grpSpPr>
          <a:xfrm>
            <a:off x="407145" y="4545863"/>
            <a:ext cx="1207646" cy="605462"/>
            <a:chOff x="240154" y="4574069"/>
            <a:chExt cx="1207646" cy="605462"/>
          </a:xfrm>
        </p:grpSpPr>
        <p:sp>
          <p:nvSpPr>
            <p:cNvPr id="169" name="Flussdiagramm: Alternativer Prozess 168"/>
            <p:cNvSpPr/>
            <p:nvPr/>
          </p:nvSpPr>
          <p:spPr bwMode="auto">
            <a:xfrm>
              <a:off x="1130107" y="4693385"/>
              <a:ext cx="317693" cy="215775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2" name="Gerade Verbindung mit Pfeil 401"/>
            <p:cNvCxnSpPr>
              <a:stCxn id="409" idx="6"/>
              <a:endCxn id="169" idx="1"/>
            </p:cNvCxnSpPr>
            <p:nvPr/>
          </p:nvCxnSpPr>
          <p:spPr bwMode="auto">
            <a:xfrm flipV="1">
              <a:off x="873169" y="4801273"/>
              <a:ext cx="256938" cy="151444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03" name="Flussdiagramm: Datenträger mit direktem Zugriff 402"/>
            <p:cNvSpPr/>
            <p:nvPr/>
          </p:nvSpPr>
          <p:spPr bwMode="auto">
            <a:xfrm>
              <a:off x="240154" y="47244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4" name="Flussdiagramm: Datenträger mit direktem Zugriff 403"/>
            <p:cNvSpPr/>
            <p:nvPr/>
          </p:nvSpPr>
          <p:spPr bwMode="auto">
            <a:xfrm>
              <a:off x="457200" y="49530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Gerade Verbindung mit Pfeil 404"/>
            <p:cNvCxnSpPr>
              <a:stCxn id="407" idx="4"/>
              <a:endCxn id="409" idx="4"/>
            </p:cNvCxnSpPr>
            <p:nvPr/>
          </p:nvCxnSpPr>
          <p:spPr bwMode="auto">
            <a:xfrm>
              <a:off x="821400" y="4687335"/>
              <a:ext cx="28910" cy="242523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6" name="Gerade Verbindung mit Pfeil 405"/>
            <p:cNvCxnSpPr>
              <a:stCxn id="403" idx="4"/>
              <a:endCxn id="409" idx="2"/>
            </p:cNvCxnSpPr>
            <p:nvPr/>
          </p:nvCxnSpPr>
          <p:spPr bwMode="auto">
            <a:xfrm>
              <a:off x="528154" y="4837666"/>
              <a:ext cx="299296" cy="11505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7" name="Flussdiagramm: Datenträger mit direktem Zugriff 406"/>
            <p:cNvSpPr/>
            <p:nvPr/>
          </p:nvSpPr>
          <p:spPr bwMode="auto">
            <a:xfrm>
              <a:off x="533400" y="4574069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8" name="Gerade Verbindung 407"/>
            <p:cNvCxnSpPr>
              <a:stCxn id="404" idx="4"/>
              <a:endCxn id="409" idx="1"/>
            </p:cNvCxnSpPr>
            <p:nvPr/>
          </p:nvCxnSpPr>
          <p:spPr bwMode="auto">
            <a:xfrm flipV="1">
              <a:off x="745200" y="4968882"/>
              <a:ext cx="88945" cy="97384"/>
            </a:xfrm>
            <a:prstGeom prst="line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9" name="Ellipse 408"/>
            <p:cNvSpPr/>
            <p:nvPr/>
          </p:nvSpPr>
          <p:spPr bwMode="auto">
            <a:xfrm flipV="1">
              <a:off x="827450" y="4929858"/>
              <a:ext cx="45719" cy="45719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6" name="Gruppieren 425"/>
          <p:cNvGrpSpPr/>
          <p:nvPr/>
        </p:nvGrpSpPr>
        <p:grpSpPr>
          <a:xfrm flipH="1">
            <a:off x="7848600" y="5966073"/>
            <a:ext cx="1072986" cy="434727"/>
            <a:chOff x="1176600" y="5029200"/>
            <a:chExt cx="1877436" cy="838200"/>
          </a:xfrm>
        </p:grpSpPr>
        <p:sp>
          <p:nvSpPr>
            <p:cNvPr id="427" name="Flussdiagramm: Alternativer Prozess 426"/>
            <p:cNvSpPr/>
            <p:nvPr/>
          </p:nvSpPr>
          <p:spPr bwMode="auto">
            <a:xfrm>
              <a:off x="2427939" y="5181599"/>
              <a:ext cx="62609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sp>
          <p:nvSpPr>
            <p:cNvPr id="428" name="Flussdiagramm: Datenträger mit direktem Zugriff 427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9" name="Gerade Verbindung mit Pfeil 428"/>
            <p:cNvCxnSpPr>
              <a:stCxn id="431" idx="6"/>
              <a:endCxn id="427" idx="1"/>
            </p:cNvCxnSpPr>
            <p:nvPr/>
          </p:nvCxnSpPr>
          <p:spPr bwMode="auto">
            <a:xfrm flipV="1">
              <a:off x="1966019" y="5434760"/>
              <a:ext cx="461920" cy="2102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430" name="Gerade Verbindung mit Pfeil 429"/>
            <p:cNvCxnSpPr>
              <a:stCxn id="432" idx="4"/>
              <a:endCxn id="431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1" name="Ellipse 430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Flussdiagramm: Datenträger mit direktem Zugriff 431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3" name="Gerade Verbindung mit Pfeil 432"/>
            <p:cNvCxnSpPr>
              <a:stCxn id="428" idx="4"/>
              <a:endCxn id="431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34" name="Gruppieren 433"/>
          <p:cNvGrpSpPr/>
          <p:nvPr/>
        </p:nvGrpSpPr>
        <p:grpSpPr>
          <a:xfrm flipH="1">
            <a:off x="5791200" y="1792995"/>
            <a:ext cx="732377" cy="264405"/>
            <a:chOff x="477449" y="2158821"/>
            <a:chExt cx="1770451" cy="566777"/>
          </a:xfrm>
        </p:grpSpPr>
        <p:sp>
          <p:nvSpPr>
            <p:cNvPr id="435" name="Flussdiagramm: Datenträger mit direktem Zugriff 43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6" name="Flussdiagramm: Alternativer Prozess 43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37" name="Gerade Verbindung mit Pfeil 43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38" name="Gerade Verbindung mit Pfeil 43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40" name="Gruppieren 239"/>
          <p:cNvGrpSpPr/>
          <p:nvPr/>
        </p:nvGrpSpPr>
        <p:grpSpPr>
          <a:xfrm>
            <a:off x="3017326" y="6172200"/>
            <a:ext cx="792674" cy="264405"/>
            <a:chOff x="477449" y="2158821"/>
            <a:chExt cx="1770451" cy="566777"/>
          </a:xfrm>
        </p:grpSpPr>
        <p:sp>
          <p:nvSpPr>
            <p:cNvPr id="241" name="Flussdiagramm: Datenträger mit direktem Zugriff 240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" name="Flussdiagramm: Alternativer Prozess 241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3" name="Gerade Verbindung mit Pfeil 242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4" name="Gerade Verbindung mit Pfeil 243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6" name="Gerade Verbindung mit Pfeil 5"/>
          <p:cNvCxnSpPr>
            <a:stCxn id="48" idx="0"/>
          </p:cNvCxnSpPr>
          <p:nvPr/>
        </p:nvCxnSpPr>
        <p:spPr bwMode="auto">
          <a:xfrm flipH="1" flipV="1">
            <a:off x="4876799" y="2189091"/>
            <a:ext cx="17480" cy="477908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" name="Gerade Verbindung mit Pfeil 9"/>
          <p:cNvCxnSpPr>
            <a:stCxn id="76" idx="0"/>
          </p:cNvCxnSpPr>
          <p:nvPr/>
        </p:nvCxnSpPr>
        <p:spPr bwMode="auto">
          <a:xfrm flipH="1" flipV="1">
            <a:off x="2827277" y="2609424"/>
            <a:ext cx="372192" cy="51588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2" name="Gerade Verbindung mit Pfeil 11"/>
          <p:cNvCxnSpPr>
            <a:stCxn id="54" idx="0"/>
          </p:cNvCxnSpPr>
          <p:nvPr/>
        </p:nvCxnSpPr>
        <p:spPr bwMode="auto">
          <a:xfrm flipH="1" flipV="1">
            <a:off x="3869713" y="2169405"/>
            <a:ext cx="92911" cy="49759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4" name="Gerade Verbindung mit Pfeil 13"/>
          <p:cNvCxnSpPr>
            <a:stCxn id="40" idx="3"/>
          </p:cNvCxnSpPr>
          <p:nvPr/>
        </p:nvCxnSpPr>
        <p:spPr bwMode="auto">
          <a:xfrm flipV="1">
            <a:off x="6086150" y="3651969"/>
            <a:ext cx="356056" cy="12686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0" name="Gerade Verbindung mit Pfeil 19"/>
          <p:cNvCxnSpPr>
            <a:stCxn id="64" idx="2"/>
            <a:endCxn id="327" idx="5"/>
          </p:cNvCxnSpPr>
          <p:nvPr/>
        </p:nvCxnSpPr>
        <p:spPr bwMode="auto">
          <a:xfrm>
            <a:off x="5451671" y="4422703"/>
            <a:ext cx="368569" cy="214897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2" name="Gerade Verbindung mit Pfeil 21"/>
          <p:cNvCxnSpPr>
            <a:stCxn id="58" idx="2"/>
          </p:cNvCxnSpPr>
          <p:nvPr/>
        </p:nvCxnSpPr>
        <p:spPr bwMode="auto">
          <a:xfrm>
            <a:off x="4644947" y="4766721"/>
            <a:ext cx="231852" cy="26247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25" name="Gerade Verbindung mit Pfeil 24"/>
          <p:cNvCxnSpPr>
            <a:stCxn id="82" idx="1"/>
          </p:cNvCxnSpPr>
          <p:nvPr/>
        </p:nvCxnSpPr>
        <p:spPr bwMode="auto">
          <a:xfrm flipH="1">
            <a:off x="3186499" y="4452091"/>
            <a:ext cx="350123" cy="339743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5" name="Gerade Verbindung mit Pfeil 34"/>
          <p:cNvCxnSpPr>
            <a:stCxn id="86" idx="2"/>
          </p:cNvCxnSpPr>
          <p:nvPr/>
        </p:nvCxnSpPr>
        <p:spPr bwMode="auto">
          <a:xfrm>
            <a:off x="2512389" y="2123208"/>
            <a:ext cx="314888" cy="48621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7" name="Gerade Verbindung mit Pfeil 36"/>
          <p:cNvCxnSpPr>
            <a:stCxn id="258" idx="2"/>
          </p:cNvCxnSpPr>
          <p:nvPr/>
        </p:nvCxnSpPr>
        <p:spPr bwMode="auto">
          <a:xfrm>
            <a:off x="3792212" y="1879170"/>
            <a:ext cx="77501" cy="29023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45" name="Gerade Verbindung mit Pfeil 44"/>
          <p:cNvCxnSpPr>
            <a:stCxn id="158" idx="2"/>
          </p:cNvCxnSpPr>
          <p:nvPr/>
        </p:nvCxnSpPr>
        <p:spPr bwMode="auto">
          <a:xfrm>
            <a:off x="4848384" y="1527149"/>
            <a:ext cx="18577" cy="661942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52" name="Gerade Verbindung mit Pfeil 51"/>
          <p:cNvCxnSpPr>
            <a:stCxn id="291" idx="3"/>
          </p:cNvCxnSpPr>
          <p:nvPr/>
        </p:nvCxnSpPr>
        <p:spPr bwMode="auto">
          <a:xfrm flipH="1">
            <a:off x="6568052" y="3537475"/>
            <a:ext cx="242355" cy="114494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65" name="Gerade Verbindung mit Pfeil 64"/>
          <p:cNvCxnSpPr>
            <a:endCxn id="327" idx="5"/>
          </p:cNvCxnSpPr>
          <p:nvPr/>
        </p:nvCxnSpPr>
        <p:spPr bwMode="auto">
          <a:xfrm flipH="1" flipV="1">
            <a:off x="5820240" y="4637600"/>
            <a:ext cx="621967" cy="308469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8" name="Gerade Verbindung mit Pfeil 77"/>
          <p:cNvCxnSpPr>
            <a:stCxn id="96" idx="0"/>
          </p:cNvCxnSpPr>
          <p:nvPr/>
        </p:nvCxnSpPr>
        <p:spPr bwMode="auto">
          <a:xfrm flipH="1" flipV="1">
            <a:off x="4876799" y="5029200"/>
            <a:ext cx="151264" cy="182628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85" name="Gerade Verbindung mit Pfeil 84"/>
          <p:cNvCxnSpPr>
            <a:stCxn id="133" idx="0"/>
          </p:cNvCxnSpPr>
          <p:nvPr/>
        </p:nvCxnSpPr>
        <p:spPr bwMode="auto">
          <a:xfrm flipV="1">
            <a:off x="2745412" y="4791834"/>
            <a:ext cx="441087" cy="38976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5" name="Gerade Verbindung mit Pfeil 104"/>
          <p:cNvCxnSpPr>
            <a:stCxn id="101" idx="3"/>
          </p:cNvCxnSpPr>
          <p:nvPr/>
        </p:nvCxnSpPr>
        <p:spPr bwMode="auto">
          <a:xfrm flipV="1">
            <a:off x="2098953" y="3994586"/>
            <a:ext cx="361689" cy="7716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5" name="Gerade Verbindung mit Pfeil 314"/>
          <p:cNvCxnSpPr>
            <a:stCxn id="73" idx="1"/>
          </p:cNvCxnSpPr>
          <p:nvPr/>
        </p:nvCxnSpPr>
        <p:spPr bwMode="auto">
          <a:xfrm flipH="1">
            <a:off x="2416975" y="3945724"/>
            <a:ext cx="367516" cy="57708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284" name="Gruppieren 283"/>
          <p:cNvGrpSpPr/>
          <p:nvPr/>
        </p:nvGrpSpPr>
        <p:grpSpPr>
          <a:xfrm flipH="1">
            <a:off x="7078456" y="4027843"/>
            <a:ext cx="732377" cy="264405"/>
            <a:chOff x="477449" y="2158821"/>
            <a:chExt cx="1770451" cy="566777"/>
          </a:xfrm>
        </p:grpSpPr>
        <p:sp>
          <p:nvSpPr>
            <p:cNvPr id="285" name="Flussdiagramm: Datenträger mit direktem Zugriff 28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6" name="Flussdiagramm: Alternativer Prozess 28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87" name="Gerade Verbindung mit Pfeil 28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88" name="Gerade Verbindung mit Pfeil 28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89" name="Gruppieren 288"/>
          <p:cNvGrpSpPr/>
          <p:nvPr/>
        </p:nvGrpSpPr>
        <p:grpSpPr>
          <a:xfrm flipH="1">
            <a:off x="6810407" y="3137270"/>
            <a:ext cx="2181193" cy="697134"/>
            <a:chOff x="1080057" y="5069506"/>
            <a:chExt cx="2083305" cy="697134"/>
          </a:xfrm>
        </p:grpSpPr>
        <p:sp>
          <p:nvSpPr>
            <p:cNvPr id="290" name="Flussdiagramm: Datenträger mit direktem Zugriff 289"/>
            <p:cNvSpPr/>
            <p:nvPr/>
          </p:nvSpPr>
          <p:spPr bwMode="auto">
            <a:xfrm>
              <a:off x="1465480" y="5069506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91" name="Flussdiagramm: Alternativer Prozess 290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292" name="Gerade Verbindung mit Pfeil 291"/>
            <p:cNvCxnSpPr>
              <a:endCxn id="291" idx="1"/>
            </p:cNvCxnSpPr>
            <p:nvPr/>
          </p:nvCxnSpPr>
          <p:spPr bwMode="auto">
            <a:xfrm>
              <a:off x="2119046" y="5329670"/>
              <a:ext cx="286739" cy="14004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93" name="Flussdiagramm: Datenträger mit direktem Zugriff 292"/>
            <p:cNvSpPr/>
            <p:nvPr/>
          </p:nvSpPr>
          <p:spPr bwMode="auto">
            <a:xfrm>
              <a:off x="1080057" y="519986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4" name="Gerade Verbindung mit Pfeil 293"/>
            <p:cNvCxnSpPr>
              <a:stCxn id="291" idx="1"/>
            </p:cNvCxnSpPr>
            <p:nvPr/>
          </p:nvCxnSpPr>
          <p:spPr bwMode="auto">
            <a:xfrm flipH="1" flipV="1">
              <a:off x="1716341" y="5469710"/>
              <a:ext cx="68944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95" name="Gruppieren 294"/>
          <p:cNvGrpSpPr/>
          <p:nvPr/>
        </p:nvGrpSpPr>
        <p:grpSpPr>
          <a:xfrm>
            <a:off x="6442206" y="4343400"/>
            <a:ext cx="2629505" cy="1295400"/>
            <a:chOff x="6442206" y="4191000"/>
            <a:chExt cx="2629505" cy="1295400"/>
          </a:xfrm>
        </p:grpSpPr>
        <p:grpSp>
          <p:nvGrpSpPr>
            <p:cNvPr id="296" name="Gruppieren 295"/>
            <p:cNvGrpSpPr/>
            <p:nvPr/>
          </p:nvGrpSpPr>
          <p:grpSpPr>
            <a:xfrm flipH="1">
              <a:off x="6442206" y="4317263"/>
              <a:ext cx="2101936" cy="1016737"/>
              <a:chOff x="609600" y="1469843"/>
              <a:chExt cx="2083305" cy="1016737"/>
            </a:xfrm>
          </p:grpSpPr>
          <p:sp>
            <p:nvSpPr>
              <p:cNvPr id="303" name="Flussdiagramm: Datenträger mit direktem Zugriff 302"/>
              <p:cNvSpPr/>
              <p:nvPr/>
            </p:nvSpPr>
            <p:spPr bwMode="auto">
              <a:xfrm>
                <a:off x="995023" y="146984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04" name="Flussdiagramm: Alternativer Prozess 303"/>
              <p:cNvSpPr/>
              <p:nvPr/>
            </p:nvSpPr>
            <p:spPr bwMode="auto">
              <a:xfrm>
                <a:off x="1935328" y="1616887"/>
                <a:ext cx="757577" cy="506321"/>
              </a:xfrm>
              <a:prstGeom prst="flowChartAlternateProcess">
                <a:avLst/>
              </a:prstGeom>
              <a:noFill/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rIns="0" rtlCol="0" anchor="ctr"/>
              <a:lstStyle/>
              <a:p>
                <a:pPr algn="ctr"/>
                <a:r>
                  <a:rPr lang="en-GB" sz="1800" dirty="0" smtClean="0"/>
                  <a:t>CSW</a:t>
                </a:r>
                <a:endParaRPr lang="en-GB" sz="1800" dirty="0"/>
              </a:p>
            </p:txBody>
          </p:sp>
          <p:cxnSp>
            <p:nvCxnSpPr>
              <p:cNvPr id="305" name="Gerade Verbindung mit Pfeil 304"/>
              <p:cNvCxnSpPr>
                <a:endCxn id="304" idx="1"/>
              </p:cNvCxnSpPr>
              <p:nvPr/>
            </p:nvCxnSpPr>
            <p:spPr bwMode="auto">
              <a:xfrm>
                <a:off x="1634307" y="1766214"/>
                <a:ext cx="301021" cy="10383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306" name="Flussdiagramm: Datenträger mit direktem Zugriff 305"/>
              <p:cNvSpPr/>
              <p:nvPr/>
            </p:nvSpPr>
            <p:spPr bwMode="auto">
              <a:xfrm>
                <a:off x="952200" y="191980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07" name="Gerade Verbindung mit Pfeil 306"/>
              <p:cNvCxnSpPr>
                <a:stCxn id="304" idx="1"/>
              </p:cNvCxnSpPr>
              <p:nvPr/>
            </p:nvCxnSpPr>
            <p:spPr bwMode="auto">
              <a:xfrm flipH="1">
                <a:off x="1578422" y="1870048"/>
                <a:ext cx="356906" cy="406826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308" name="Flussdiagramm: Datenträger mit direktem Zugriff 307"/>
              <p:cNvSpPr/>
              <p:nvPr/>
            </p:nvSpPr>
            <p:spPr bwMode="auto">
              <a:xfrm>
                <a:off x="609600" y="1600200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09" name="Gerade Verbindung mit Pfeil 308"/>
              <p:cNvCxnSpPr>
                <a:stCxn id="304" idx="1"/>
              </p:cNvCxnSpPr>
              <p:nvPr/>
            </p:nvCxnSpPr>
            <p:spPr bwMode="auto">
              <a:xfrm flipH="1">
                <a:off x="1221515" y="1870048"/>
                <a:ext cx="713813" cy="13541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</p:grpSp>
        <p:sp>
          <p:nvSpPr>
            <p:cNvPr id="297" name="Flussdiagramm: Datenträger mit direktem Zugriff 296"/>
            <p:cNvSpPr/>
            <p:nvPr/>
          </p:nvSpPr>
          <p:spPr bwMode="auto">
            <a:xfrm flipH="1">
              <a:off x="8682889" y="4191000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8" name="Gerade Verbindung mit Pfeil 297"/>
            <p:cNvCxnSpPr>
              <a:stCxn id="297" idx="4"/>
              <a:endCxn id="308" idx="1"/>
            </p:cNvCxnSpPr>
            <p:nvPr/>
          </p:nvCxnSpPr>
          <p:spPr bwMode="auto">
            <a:xfrm flipH="1">
              <a:off x="8544142" y="4313288"/>
              <a:ext cx="138747" cy="417721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99" name="Flussdiagramm: Datenträger mit direktem Zugriff 298"/>
            <p:cNvSpPr/>
            <p:nvPr/>
          </p:nvSpPr>
          <p:spPr bwMode="auto">
            <a:xfrm flipH="1">
              <a:off x="8763000" y="47846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0" name="Gerade Verbindung mit Pfeil 299"/>
            <p:cNvCxnSpPr>
              <a:stCxn id="308" idx="1"/>
              <a:endCxn id="299" idx="4"/>
            </p:cNvCxnSpPr>
            <p:nvPr/>
          </p:nvCxnSpPr>
          <p:spPr bwMode="auto">
            <a:xfrm>
              <a:off x="8544142" y="4731009"/>
              <a:ext cx="218858" cy="175903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01" name="Flussdiagramm: Datenträger mit direktem Zugriff 300"/>
            <p:cNvSpPr/>
            <p:nvPr/>
          </p:nvSpPr>
          <p:spPr bwMode="auto">
            <a:xfrm flipH="1">
              <a:off x="8448458" y="52418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02" name="Gerade Verbindung mit Pfeil 301"/>
            <p:cNvCxnSpPr>
              <a:stCxn id="306" idx="1"/>
              <a:endCxn id="301" idx="4"/>
            </p:cNvCxnSpPr>
            <p:nvPr/>
          </p:nvCxnSpPr>
          <p:spPr bwMode="auto">
            <a:xfrm>
              <a:off x="8198478" y="5050612"/>
              <a:ext cx="249980" cy="31350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10" name="Gruppieren 309"/>
          <p:cNvGrpSpPr/>
          <p:nvPr/>
        </p:nvGrpSpPr>
        <p:grpSpPr>
          <a:xfrm flipH="1">
            <a:off x="6525921" y="2328823"/>
            <a:ext cx="1779879" cy="566777"/>
            <a:chOff x="477449" y="2158821"/>
            <a:chExt cx="1770451" cy="566777"/>
          </a:xfrm>
        </p:grpSpPr>
        <p:sp>
          <p:nvSpPr>
            <p:cNvPr id="311" name="Flussdiagramm: Datenträger mit direktem Zugriff 310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2" name="Flussdiagramm: Alternativer Prozess 311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SOS</a:t>
              </a:r>
              <a:endParaRPr lang="en-GB" sz="1800" dirty="0"/>
            </a:p>
          </p:txBody>
        </p:sp>
        <p:cxnSp>
          <p:nvCxnSpPr>
            <p:cNvPr id="313" name="Gerade Verbindung mit Pfeil 312"/>
            <p:cNvCxnSpPr/>
            <p:nvPr/>
          </p:nvCxnSpPr>
          <p:spPr bwMode="auto">
            <a:xfrm flipH="1">
              <a:off x="1096653" y="2327909"/>
              <a:ext cx="39626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14" name="Gerade Verbindung mit Pfeil 313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27" name="Ellipse 326"/>
          <p:cNvSpPr/>
          <p:nvPr/>
        </p:nvSpPr>
        <p:spPr bwMode="auto">
          <a:xfrm>
            <a:off x="2310095" y="2133600"/>
            <a:ext cx="4112391" cy="2933619"/>
          </a:xfrm>
          <a:prstGeom prst="ellipse">
            <a:avLst/>
          </a:prstGeom>
          <a:noFill/>
          <a:ln w="19050" cap="flat" cmpd="sng" algn="ctr">
            <a:solidFill>
              <a:schemeClr val="accent4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2" name="Flussdiagramm: Verbindungsstelle 321"/>
          <p:cNvSpPr/>
          <p:nvPr/>
        </p:nvSpPr>
        <p:spPr bwMode="auto">
          <a:xfrm>
            <a:off x="2658032" y="2394596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sp>
        <p:nvSpPr>
          <p:cNvPr id="332" name="Flussdiagramm: Verbindungsstelle 331"/>
          <p:cNvSpPr/>
          <p:nvPr/>
        </p:nvSpPr>
        <p:spPr bwMode="auto">
          <a:xfrm>
            <a:off x="5656348" y="4379205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sp>
        <p:nvSpPr>
          <p:cNvPr id="333" name="Flussdiagramm: Verbindungsstelle 332"/>
          <p:cNvSpPr/>
          <p:nvPr/>
        </p:nvSpPr>
        <p:spPr bwMode="auto">
          <a:xfrm>
            <a:off x="4705453" y="4791834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sp>
        <p:nvSpPr>
          <p:cNvPr id="334" name="Flussdiagramm: Verbindungsstelle 333"/>
          <p:cNvSpPr/>
          <p:nvPr/>
        </p:nvSpPr>
        <p:spPr bwMode="auto">
          <a:xfrm>
            <a:off x="2936195" y="4551790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sp>
        <p:nvSpPr>
          <p:cNvPr id="335" name="Flussdiagramm: Verbindungsstelle 334"/>
          <p:cNvSpPr/>
          <p:nvPr/>
        </p:nvSpPr>
        <p:spPr bwMode="auto">
          <a:xfrm>
            <a:off x="2232042" y="3774832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sp>
        <p:nvSpPr>
          <p:cNvPr id="336" name="Flussdiagramm: Verbindungsstelle 335"/>
          <p:cNvSpPr/>
          <p:nvPr/>
        </p:nvSpPr>
        <p:spPr bwMode="auto">
          <a:xfrm>
            <a:off x="6172768" y="3406959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sp>
        <p:nvSpPr>
          <p:cNvPr id="338" name="Flussdiagramm: Verbindungsstelle 337"/>
          <p:cNvSpPr/>
          <p:nvPr/>
        </p:nvSpPr>
        <p:spPr bwMode="auto">
          <a:xfrm>
            <a:off x="4667807" y="1943049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sp>
        <p:nvSpPr>
          <p:cNvPr id="339" name="Flussdiagramm: Verbindungsstelle 338"/>
          <p:cNvSpPr/>
          <p:nvPr/>
        </p:nvSpPr>
        <p:spPr bwMode="auto">
          <a:xfrm>
            <a:off x="3630139" y="1994896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cxnSp>
        <p:nvCxnSpPr>
          <p:cNvPr id="340" name="Gerade Verbindung mit Pfeil 339"/>
          <p:cNvCxnSpPr/>
          <p:nvPr/>
        </p:nvCxnSpPr>
        <p:spPr bwMode="auto">
          <a:xfrm flipV="1">
            <a:off x="5641672" y="2822798"/>
            <a:ext cx="462137" cy="247835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1" name="Gerade Verbindung mit Pfeil 340"/>
          <p:cNvCxnSpPr/>
          <p:nvPr/>
        </p:nvCxnSpPr>
        <p:spPr bwMode="auto">
          <a:xfrm flipH="1">
            <a:off x="6048215" y="2612212"/>
            <a:ext cx="477706" cy="18165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7" name="Flussdiagramm: Verbindungsstelle 336"/>
          <p:cNvSpPr/>
          <p:nvPr/>
        </p:nvSpPr>
        <p:spPr bwMode="auto">
          <a:xfrm>
            <a:off x="5791805" y="2574681"/>
            <a:ext cx="457200" cy="457200"/>
          </a:xfrm>
          <a:prstGeom prst="flowChartConnector">
            <a:avLst/>
          </a:prstGeom>
          <a:solidFill>
            <a:srgbClr val="FFFFFF"/>
          </a:solidFill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API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4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876300" y="1981200"/>
            <a:ext cx="7391400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Content of </a:t>
            </a:r>
            <a:r>
              <a:rPr lang="en-GB" sz="2800" b="0" dirty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 is 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easily accessible </a:t>
            </a:r>
            <a:r>
              <a:rPr lang="en-GB" sz="2800" b="0" dirty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technical </a:t>
            </a: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n-GB" sz="2800" b="0" dirty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Mediation ensures understanding the context and meaning of exchanged information  (semantic interoperability).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dirty="0"/>
              <a:t>Suite of Water Information standards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50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809624" y="1143000"/>
            <a:ext cx="7800976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Concerned with understanding the context and correct </a:t>
            </a:r>
            <a:r>
              <a:rPr lang="en-GB" sz="2400" b="0" dirty="0">
                <a:solidFill>
                  <a:srgbClr val="092E5C"/>
                </a:solidFill>
              </a:rPr>
              <a:t>meaning of </a:t>
            </a:r>
            <a:r>
              <a:rPr lang="en-GB" sz="2400" b="0" dirty="0" smtClean="0">
                <a:solidFill>
                  <a:srgbClr val="092E5C"/>
                </a:solidFill>
              </a:rPr>
              <a:t>exchanged information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Requires representation of context (e.g. ontology) and concepts (terms)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May be achieved by linking references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Referencing shared concepts within </a:t>
            </a:r>
            <a:r>
              <a:rPr lang="en-GB" sz="2000" b="0" dirty="0">
                <a:solidFill>
                  <a:srgbClr val="092E5C"/>
                </a:solidFill>
              </a:rPr>
              <a:t>a community </a:t>
            </a:r>
            <a:r>
              <a:rPr lang="en-GB" sz="2000" b="0" dirty="0" smtClean="0">
                <a:solidFill>
                  <a:srgbClr val="092E5C"/>
                </a:solidFill>
              </a:rPr>
              <a:t>/ domain 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Using an reference model / ontologies as mediator between conceptually overlapping perspectives (mapping semantics)</a:t>
            </a: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2000" b="0" dirty="0" smtClean="0">
                <a:solidFill>
                  <a:srgbClr val="092E5C"/>
                </a:solidFill>
              </a:rPr>
              <a:t>Mapping </a:t>
            </a:r>
            <a:r>
              <a:rPr lang="en-GB" sz="2000" b="0" dirty="0">
                <a:solidFill>
                  <a:srgbClr val="092E5C"/>
                </a:solidFill>
              </a:rPr>
              <a:t>corresponding </a:t>
            </a:r>
            <a:r>
              <a:rPr lang="en-GB" sz="2000" b="0" dirty="0" smtClean="0">
                <a:solidFill>
                  <a:srgbClr val="092E5C"/>
                </a:solidFill>
              </a:rPr>
              <a:t>ontologies, assisted </a:t>
            </a:r>
            <a:r>
              <a:rPr lang="en-GB" sz="2000" b="0" dirty="0">
                <a:solidFill>
                  <a:srgbClr val="092E5C"/>
                </a:solidFill>
              </a:rPr>
              <a:t>by a set of </a:t>
            </a:r>
            <a:r>
              <a:rPr lang="en-GB" sz="2000" b="0" dirty="0" smtClean="0">
                <a:solidFill>
                  <a:srgbClr val="092E5C"/>
                </a:solidFill>
              </a:rPr>
              <a:t>formal mapping </a:t>
            </a:r>
            <a:r>
              <a:rPr lang="en-GB" sz="2000" b="0" dirty="0">
                <a:solidFill>
                  <a:srgbClr val="092E5C"/>
                </a:solidFill>
              </a:rPr>
              <a:t>rules based on the description logic of Semantic </a:t>
            </a:r>
            <a:r>
              <a:rPr lang="en-GB" sz="2000" b="0" dirty="0" smtClean="0">
                <a:solidFill>
                  <a:srgbClr val="092E5C"/>
                </a:solidFill>
              </a:rPr>
              <a:t>Web (</a:t>
            </a:r>
            <a:r>
              <a:rPr lang="en-GB" sz="2000" b="0" dirty="0">
                <a:solidFill>
                  <a:srgbClr val="092E5C"/>
                </a:solidFill>
              </a:rPr>
              <a:t>semantic mapping</a:t>
            </a:r>
            <a:r>
              <a:rPr lang="en-GB" sz="2000" b="0" dirty="0" smtClean="0">
                <a:solidFill>
                  <a:srgbClr val="092E5C"/>
                </a:solidFill>
              </a:rPr>
              <a:t>)</a:t>
            </a:r>
            <a:endParaRPr lang="en-GB" sz="2000" b="0" dirty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0" dirty="0" smtClean="0">
              <a:solidFill>
                <a:srgbClr val="092E5C"/>
              </a:solidFill>
            </a:endParaRPr>
          </a:p>
          <a:p>
            <a:pPr marL="8001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GB" sz="2000" b="0" dirty="0" smtClean="0">
              <a:solidFill>
                <a:srgbClr val="092E5C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dirty="0"/>
              <a:t>Semantic </a:t>
            </a:r>
            <a:r>
              <a:rPr lang="en-GB" sz="2800" dirty="0" smtClean="0"/>
              <a:t>interoperability between </a:t>
            </a:r>
            <a:r>
              <a:rPr lang="en-GB" sz="2800" dirty="0"/>
              <a:t>Web services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313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Semantic interoperability of Web services</a:t>
            </a: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4" name="Gruppieren 3"/>
          <p:cNvGrpSpPr/>
          <p:nvPr/>
        </p:nvGrpSpPr>
        <p:grpSpPr>
          <a:xfrm>
            <a:off x="2746945" y="2666999"/>
            <a:ext cx="3377130" cy="2209801"/>
            <a:chOff x="2746945" y="2666999"/>
            <a:chExt cx="3377130" cy="2209801"/>
          </a:xfrm>
        </p:grpSpPr>
        <p:sp>
          <p:nvSpPr>
            <p:cNvPr id="17" name="Wolke 16"/>
            <p:cNvSpPr/>
            <p:nvPr/>
          </p:nvSpPr>
          <p:spPr bwMode="auto">
            <a:xfrm>
              <a:off x="2886632" y="2855727"/>
              <a:ext cx="2932276" cy="1782432"/>
            </a:xfrm>
            <a:prstGeom prst="cloud">
              <a:avLst/>
            </a:prstGeom>
            <a:noFill/>
            <a:ln w="190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2400" dirty="0" smtClean="0">
                  <a:solidFill>
                    <a:srgbClr val="C00000"/>
                  </a:solidFill>
                </a:rPr>
                <a:t>Talking about the same?</a:t>
              </a:r>
              <a:endParaRPr lang="en-GB" sz="2400" dirty="0">
                <a:solidFill>
                  <a:srgbClr val="C00000"/>
                </a:solidFill>
              </a:endParaRPr>
            </a:p>
          </p:txBody>
        </p:sp>
        <p:grpSp>
          <p:nvGrpSpPr>
            <p:cNvPr id="38" name="Gruppieren 37"/>
            <p:cNvGrpSpPr/>
            <p:nvPr/>
          </p:nvGrpSpPr>
          <p:grpSpPr>
            <a:xfrm>
              <a:off x="5660751" y="3651969"/>
              <a:ext cx="463324" cy="351463"/>
              <a:chOff x="1352011" y="4568240"/>
              <a:chExt cx="2381250" cy="2381250"/>
            </a:xfrm>
          </p:grpSpPr>
          <p:pic>
            <p:nvPicPr>
              <p:cNvPr id="39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2011" y="456824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Abgerundetes Rechteck 39"/>
              <p:cNvSpPr/>
              <p:nvPr/>
            </p:nvSpPr>
            <p:spPr bwMode="auto">
              <a:xfrm>
                <a:off x="1544978" y="465194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uppieren 40"/>
            <p:cNvGrpSpPr/>
            <p:nvPr/>
          </p:nvGrpSpPr>
          <p:grpSpPr>
            <a:xfrm>
              <a:off x="5410199" y="3056855"/>
              <a:ext cx="463324" cy="351463"/>
              <a:chOff x="497898" y="3080237"/>
              <a:chExt cx="2381251" cy="2381250"/>
            </a:xfrm>
          </p:grpSpPr>
          <p:pic>
            <p:nvPicPr>
              <p:cNvPr id="4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98" y="3080237"/>
                <a:ext cx="2381251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Abgerundetes Rechteck 42"/>
              <p:cNvSpPr/>
              <p:nvPr/>
            </p:nvSpPr>
            <p:spPr bwMode="auto">
              <a:xfrm>
                <a:off x="690865" y="3173587"/>
                <a:ext cx="1993368" cy="1551726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uppieren 46"/>
            <p:cNvGrpSpPr/>
            <p:nvPr/>
          </p:nvGrpSpPr>
          <p:grpSpPr>
            <a:xfrm>
              <a:off x="4662617" y="2666999"/>
              <a:ext cx="463324" cy="351463"/>
              <a:chOff x="1118457" y="3085316"/>
              <a:chExt cx="2381250" cy="2381250"/>
            </a:xfrm>
          </p:grpSpPr>
          <p:pic>
            <p:nvPicPr>
              <p:cNvPr id="48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457" y="3085316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Abgerundetes Rechteck 48"/>
              <p:cNvSpPr/>
              <p:nvPr/>
            </p:nvSpPr>
            <p:spPr bwMode="auto">
              <a:xfrm>
                <a:off x="1211754" y="3239561"/>
                <a:ext cx="2192703" cy="141066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3" name="Gruppieren 52"/>
            <p:cNvGrpSpPr/>
            <p:nvPr/>
          </p:nvGrpSpPr>
          <p:grpSpPr>
            <a:xfrm>
              <a:off x="3730962" y="2666999"/>
              <a:ext cx="463324" cy="351463"/>
              <a:chOff x="1204628" y="2903841"/>
              <a:chExt cx="2381250" cy="2381250"/>
            </a:xfrm>
          </p:grpSpPr>
          <p:pic>
            <p:nvPicPr>
              <p:cNvPr id="54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4628" y="2903841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Abgerundetes Rechteck 54"/>
              <p:cNvSpPr/>
              <p:nvPr/>
            </p:nvSpPr>
            <p:spPr bwMode="auto">
              <a:xfrm>
                <a:off x="1397595" y="2987549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4413475" y="4525337"/>
              <a:ext cx="463324" cy="351463"/>
              <a:chOff x="1598990" y="3986255"/>
              <a:chExt cx="2381250" cy="2381250"/>
            </a:xfrm>
          </p:grpSpPr>
          <p:pic>
            <p:nvPicPr>
              <p:cNvPr id="57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8990" y="3986255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Abgerundetes Rechteck 57"/>
              <p:cNvSpPr/>
              <p:nvPr/>
            </p:nvSpPr>
            <p:spPr bwMode="auto">
              <a:xfrm>
                <a:off x="1791957" y="4069970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2" name="Gruppieren 61"/>
            <p:cNvGrpSpPr/>
            <p:nvPr/>
          </p:nvGrpSpPr>
          <p:grpSpPr>
            <a:xfrm>
              <a:off x="5220198" y="4181320"/>
              <a:ext cx="463324" cy="351463"/>
              <a:chOff x="601887" y="3469967"/>
              <a:chExt cx="2381250" cy="2381250"/>
            </a:xfrm>
          </p:grpSpPr>
          <p:pic>
            <p:nvPicPr>
              <p:cNvPr id="63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887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Abgerundetes Rechteck 63"/>
              <p:cNvSpPr/>
              <p:nvPr/>
            </p:nvSpPr>
            <p:spPr bwMode="auto">
              <a:xfrm>
                <a:off x="794854" y="3553675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2746945" y="3818855"/>
              <a:ext cx="463324" cy="351463"/>
              <a:chOff x="638951" y="4628190"/>
              <a:chExt cx="2381250" cy="2381250"/>
            </a:xfrm>
          </p:grpSpPr>
          <p:pic>
            <p:nvPicPr>
              <p:cNvPr id="7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951" y="462819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Abgerundetes Rechteck 72"/>
              <p:cNvSpPr/>
              <p:nvPr/>
            </p:nvSpPr>
            <p:spPr bwMode="auto">
              <a:xfrm>
                <a:off x="831918" y="471189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2967996" y="3112953"/>
              <a:ext cx="463324" cy="351463"/>
              <a:chOff x="1066800" y="2269713"/>
              <a:chExt cx="2381250" cy="2381250"/>
            </a:xfrm>
          </p:grpSpPr>
          <p:pic>
            <p:nvPicPr>
              <p:cNvPr id="75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800" y="2269713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Abgerundetes Rechteck 75"/>
              <p:cNvSpPr/>
              <p:nvPr/>
            </p:nvSpPr>
            <p:spPr bwMode="auto">
              <a:xfrm>
                <a:off x="1259767" y="2353421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uppieren 79"/>
            <p:cNvGrpSpPr/>
            <p:nvPr/>
          </p:nvGrpSpPr>
          <p:grpSpPr>
            <a:xfrm>
              <a:off x="3499076" y="4325221"/>
              <a:ext cx="463324" cy="351463"/>
              <a:chOff x="2025679" y="3469967"/>
              <a:chExt cx="2381250" cy="2381250"/>
            </a:xfrm>
          </p:grpSpPr>
          <p:pic>
            <p:nvPicPr>
              <p:cNvPr id="81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5679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Abgerundetes Rechteck 81"/>
              <p:cNvSpPr/>
              <p:nvPr/>
            </p:nvSpPr>
            <p:spPr bwMode="auto">
              <a:xfrm>
                <a:off x="2218646" y="3553682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4" name="Gruppieren 93"/>
          <p:cNvGrpSpPr/>
          <p:nvPr/>
        </p:nvGrpSpPr>
        <p:grpSpPr>
          <a:xfrm flipH="1">
            <a:off x="4648200" y="5181600"/>
            <a:ext cx="1779879" cy="566777"/>
            <a:chOff x="477449" y="2158821"/>
            <a:chExt cx="1770451" cy="566777"/>
          </a:xfrm>
        </p:grpSpPr>
        <p:sp>
          <p:nvSpPr>
            <p:cNvPr id="95" name="Flussdiagramm: Datenträger mit direktem Zugriff 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Flussdiagramm: Alternativer Prozess 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97" name="Gerade Verbindung mit Pfeil 9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8" name="Gerade Verbindung mit Pfeil 9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99" name="Gruppieren 98"/>
          <p:cNvGrpSpPr/>
          <p:nvPr/>
        </p:nvGrpSpPr>
        <p:grpSpPr>
          <a:xfrm>
            <a:off x="324111" y="3788362"/>
            <a:ext cx="1774842" cy="566777"/>
            <a:chOff x="477449" y="2158821"/>
            <a:chExt cx="1770451" cy="566777"/>
          </a:xfrm>
        </p:grpSpPr>
        <p:sp>
          <p:nvSpPr>
            <p:cNvPr id="100" name="Flussdiagramm: Datenträger mit direktem Zugriff 9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Flussdiagramm: Alternativer Prozess 10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WFS</a:t>
              </a:r>
              <a:endParaRPr lang="en-GB" sz="1800" dirty="0"/>
            </a:p>
          </p:txBody>
        </p:sp>
        <p:cxnSp>
          <p:nvCxnSpPr>
            <p:cNvPr id="102" name="Gerade Verbindung mit Pfeil 10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3" name="Gerade Verbindung mit Pfeil 10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86" name="Flussdiagramm: Alternativer Prozess 85"/>
          <p:cNvSpPr/>
          <p:nvPr/>
        </p:nvSpPr>
        <p:spPr bwMode="auto">
          <a:xfrm>
            <a:off x="2133600" y="1616887"/>
            <a:ext cx="757577" cy="506321"/>
          </a:xfrm>
          <a:prstGeom prst="flowChartAlternateProcess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800" dirty="0" smtClean="0"/>
              <a:t>WMS</a:t>
            </a:r>
            <a:endParaRPr lang="en-GB" sz="1800" dirty="0"/>
          </a:p>
        </p:txBody>
      </p:sp>
      <p:sp>
        <p:nvSpPr>
          <p:cNvPr id="113" name="Flussdiagramm: Datenträger mit direktem Zugriff 112"/>
          <p:cNvSpPr/>
          <p:nvPr/>
        </p:nvSpPr>
        <p:spPr bwMode="auto">
          <a:xfrm>
            <a:off x="1100400" y="9144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Gerade Verbindung mit Pfeil 87"/>
          <p:cNvCxnSpPr>
            <a:stCxn id="118" idx="6"/>
            <a:endCxn id="86" idx="1"/>
          </p:cNvCxnSpPr>
          <p:nvPr/>
        </p:nvCxnSpPr>
        <p:spPr bwMode="auto">
          <a:xfrm>
            <a:off x="1828800" y="1649739"/>
            <a:ext cx="304800" cy="22030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/>
          </a:ln>
          <a:effectLst/>
        </p:spPr>
      </p:cxnSp>
      <p:grpSp>
        <p:nvGrpSpPr>
          <p:cNvPr id="123" name="Gruppieren 122"/>
          <p:cNvGrpSpPr/>
          <p:nvPr/>
        </p:nvGrpSpPr>
        <p:grpSpPr>
          <a:xfrm>
            <a:off x="381000" y="2938423"/>
            <a:ext cx="1774842" cy="566777"/>
            <a:chOff x="477449" y="2158821"/>
            <a:chExt cx="1770451" cy="566777"/>
          </a:xfrm>
        </p:grpSpPr>
        <p:sp>
          <p:nvSpPr>
            <p:cNvPr id="124" name="Flussdiagramm: Datenträger mit direktem Zugriff 12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lussdiagramm: Alternativer Prozess 12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130" name="Gerade Verbindung mit Pfeil 12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1" name="Gerade Verbindung mit Pfeil 13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56" name="Gruppieren 155"/>
          <p:cNvGrpSpPr/>
          <p:nvPr/>
        </p:nvGrpSpPr>
        <p:grpSpPr>
          <a:xfrm flipH="1">
            <a:off x="4468521" y="990600"/>
            <a:ext cx="1779879" cy="566777"/>
            <a:chOff x="477449" y="2158821"/>
            <a:chExt cx="1770451" cy="566777"/>
          </a:xfrm>
        </p:grpSpPr>
        <p:sp>
          <p:nvSpPr>
            <p:cNvPr id="157" name="Flussdiagramm: Datenträger mit direktem Zugriff 1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Flussdiagramm: Alternativer Prozess 1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600" dirty="0" smtClean="0"/>
                <a:t>WMS</a:t>
              </a:r>
              <a:endParaRPr lang="en-GB" sz="1600" dirty="0"/>
            </a:p>
          </p:txBody>
        </p:sp>
        <p:cxnSp>
          <p:nvCxnSpPr>
            <p:cNvPr id="159" name="Gerade Verbindung mit Pfeil 158"/>
            <p:cNvCxnSpPr/>
            <p:nvPr/>
          </p:nvCxnSpPr>
          <p:spPr bwMode="auto">
            <a:xfrm flipH="1" flipV="1">
              <a:off x="1084493" y="2316999"/>
              <a:ext cx="408425" cy="1091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0" name="Gerade Verbindung mit Pfeil 1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77" name="Gruppieren 176"/>
          <p:cNvGrpSpPr/>
          <p:nvPr/>
        </p:nvGrpSpPr>
        <p:grpSpPr>
          <a:xfrm>
            <a:off x="1546060" y="2215359"/>
            <a:ext cx="988201" cy="527835"/>
            <a:chOff x="1080057" y="4896613"/>
            <a:chExt cx="2425050" cy="1223197"/>
          </a:xfrm>
        </p:grpSpPr>
        <p:sp>
          <p:nvSpPr>
            <p:cNvPr id="178" name="Flussdiagramm: Datenträger mit direktem Zugriff 177"/>
            <p:cNvSpPr/>
            <p:nvPr/>
          </p:nvSpPr>
          <p:spPr bwMode="auto">
            <a:xfrm>
              <a:off x="1465480" y="4896613"/>
              <a:ext cx="757578" cy="515252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Flussdiagramm: Alternativer Prozess 178"/>
            <p:cNvSpPr/>
            <p:nvPr/>
          </p:nvSpPr>
          <p:spPr bwMode="auto">
            <a:xfrm>
              <a:off x="2671771" y="5216549"/>
              <a:ext cx="833336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85" name="Gerade Verbindung mit Pfeil 184"/>
            <p:cNvCxnSpPr>
              <a:stCxn id="178" idx="4"/>
              <a:endCxn id="179" idx="1"/>
            </p:cNvCxnSpPr>
            <p:nvPr/>
          </p:nvCxnSpPr>
          <p:spPr bwMode="auto">
            <a:xfrm>
              <a:off x="2223059" y="5154239"/>
              <a:ext cx="448712" cy="3154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186" name="Flussdiagramm: Datenträger mit direktem Zugriff 185"/>
            <p:cNvSpPr/>
            <p:nvPr/>
          </p:nvSpPr>
          <p:spPr bwMode="auto">
            <a:xfrm>
              <a:off x="1080057" y="5553033"/>
              <a:ext cx="757578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7" name="Gerade Verbindung mit Pfeil 186"/>
            <p:cNvCxnSpPr>
              <a:stCxn id="179" idx="1"/>
              <a:endCxn id="186" idx="4"/>
            </p:cNvCxnSpPr>
            <p:nvPr/>
          </p:nvCxnSpPr>
          <p:spPr bwMode="auto">
            <a:xfrm flipH="1">
              <a:off x="1837635" y="5469709"/>
              <a:ext cx="834136" cy="36671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188" name="Gruppieren 187"/>
          <p:cNvGrpSpPr/>
          <p:nvPr/>
        </p:nvGrpSpPr>
        <p:grpSpPr>
          <a:xfrm>
            <a:off x="533400" y="6040522"/>
            <a:ext cx="752706" cy="264405"/>
            <a:chOff x="477449" y="2158821"/>
            <a:chExt cx="1770451" cy="566777"/>
          </a:xfrm>
        </p:grpSpPr>
        <p:sp>
          <p:nvSpPr>
            <p:cNvPr id="189" name="Flussdiagramm: Datenträger mit direktem Zugriff 18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Flussdiagramm: Alternativer Prozess 18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91" name="Gerade Verbindung mit Pfeil 19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2" name="Gerade Verbindung mit Pfeil 19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98" name="Gruppieren 197"/>
          <p:cNvGrpSpPr/>
          <p:nvPr/>
        </p:nvGrpSpPr>
        <p:grpSpPr>
          <a:xfrm>
            <a:off x="2827277" y="1076033"/>
            <a:ext cx="752706" cy="264405"/>
            <a:chOff x="477449" y="2158821"/>
            <a:chExt cx="1770451" cy="566777"/>
          </a:xfrm>
        </p:grpSpPr>
        <p:sp>
          <p:nvSpPr>
            <p:cNvPr id="199" name="Flussdiagramm: Datenträger mit direktem Zugriff 19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Flussdiagramm: Alternativer Prozess 19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01" name="Gerade Verbindung mit Pfeil 20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02" name="Gerade Verbindung mit Pfeil 20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08" name="Gruppieren 207"/>
          <p:cNvGrpSpPr/>
          <p:nvPr/>
        </p:nvGrpSpPr>
        <p:grpSpPr>
          <a:xfrm flipH="1">
            <a:off x="7954423" y="1219200"/>
            <a:ext cx="732377" cy="264405"/>
            <a:chOff x="477449" y="2158821"/>
            <a:chExt cx="1770451" cy="566777"/>
          </a:xfrm>
        </p:grpSpPr>
        <p:sp>
          <p:nvSpPr>
            <p:cNvPr id="209" name="Flussdiagramm: Datenträger mit direktem Zugriff 20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Flussdiagramm: Alternativer Prozess 20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1" name="Gerade Verbindung mit Pfeil 21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2" name="Gerade Verbindung mit Pfeil 21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13" name="Gruppieren 212"/>
          <p:cNvGrpSpPr/>
          <p:nvPr/>
        </p:nvGrpSpPr>
        <p:grpSpPr>
          <a:xfrm flipH="1">
            <a:off x="5516023" y="5983995"/>
            <a:ext cx="732377" cy="264405"/>
            <a:chOff x="477449" y="2158821"/>
            <a:chExt cx="1770451" cy="566777"/>
          </a:xfrm>
        </p:grpSpPr>
        <p:sp>
          <p:nvSpPr>
            <p:cNvPr id="214" name="Flussdiagramm: Datenträger mit direktem Zugriff 21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Flussdiagramm: Alternativer Prozess 21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6" name="Gerade Verbindung mit Pfeil 215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7" name="Gerade Verbindung mit Pfeil 216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4" name="Gruppieren 223"/>
          <p:cNvGrpSpPr/>
          <p:nvPr/>
        </p:nvGrpSpPr>
        <p:grpSpPr>
          <a:xfrm flipH="1">
            <a:off x="6858000" y="5715000"/>
            <a:ext cx="732377" cy="264405"/>
            <a:chOff x="477449" y="2158821"/>
            <a:chExt cx="1770451" cy="566777"/>
          </a:xfrm>
        </p:grpSpPr>
        <p:sp>
          <p:nvSpPr>
            <p:cNvPr id="225" name="Flussdiagramm: Datenträger mit direktem Zugriff 22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6" name="Flussdiagramm: Alternativer Prozess 22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27" name="Gerade Verbindung mit Pfeil 22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8" name="Gerade Verbindung mit Pfeil 22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9" name="Gruppieren 228"/>
          <p:cNvGrpSpPr/>
          <p:nvPr/>
        </p:nvGrpSpPr>
        <p:grpSpPr>
          <a:xfrm flipH="1">
            <a:off x="6705600" y="990600"/>
            <a:ext cx="732377" cy="264405"/>
            <a:chOff x="477449" y="2158821"/>
            <a:chExt cx="1770451" cy="566777"/>
          </a:xfrm>
        </p:grpSpPr>
        <p:sp>
          <p:nvSpPr>
            <p:cNvPr id="230" name="Flussdiagramm: Datenträger mit direktem Zugriff 22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" name="Flussdiagramm: Alternativer Prozess 23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2" name="Gerade Verbindung mit Pfeil 23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3" name="Gerade Verbindung mit Pfeil 23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34" name="Gruppieren 233"/>
          <p:cNvGrpSpPr/>
          <p:nvPr/>
        </p:nvGrpSpPr>
        <p:grpSpPr>
          <a:xfrm flipH="1">
            <a:off x="6904409" y="1385097"/>
            <a:ext cx="944191" cy="519903"/>
            <a:chOff x="846317" y="4760484"/>
            <a:chExt cx="2317045" cy="1204813"/>
          </a:xfrm>
        </p:grpSpPr>
        <p:sp>
          <p:nvSpPr>
            <p:cNvPr id="235" name="Flussdiagramm: Datenträger mit direktem Zugriff 234"/>
            <p:cNvSpPr/>
            <p:nvPr/>
          </p:nvSpPr>
          <p:spPr bwMode="auto">
            <a:xfrm>
              <a:off x="1395355" y="4760484"/>
              <a:ext cx="757578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" name="Flussdiagramm: Alternativer Prozess 235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7" name="Gerade Verbindung mit Pfeil 236"/>
            <p:cNvCxnSpPr>
              <a:stCxn id="235" idx="4"/>
              <a:endCxn id="236" idx="1"/>
            </p:cNvCxnSpPr>
            <p:nvPr/>
          </p:nvCxnSpPr>
          <p:spPr bwMode="auto">
            <a:xfrm>
              <a:off x="2152933" y="5043872"/>
              <a:ext cx="252851" cy="4258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38" name="Flussdiagramm: Datenträger mit direktem Zugriff 237"/>
            <p:cNvSpPr/>
            <p:nvPr/>
          </p:nvSpPr>
          <p:spPr bwMode="auto">
            <a:xfrm>
              <a:off x="846317" y="5398521"/>
              <a:ext cx="757577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9" name="Gerade Verbindung mit Pfeil 238"/>
            <p:cNvCxnSpPr>
              <a:stCxn id="236" idx="1"/>
              <a:endCxn id="238" idx="4"/>
            </p:cNvCxnSpPr>
            <p:nvPr/>
          </p:nvCxnSpPr>
          <p:spPr bwMode="auto">
            <a:xfrm flipH="1">
              <a:off x="1603894" y="5469711"/>
              <a:ext cx="801891" cy="21219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46" name="Gruppieren 245"/>
          <p:cNvGrpSpPr/>
          <p:nvPr/>
        </p:nvGrpSpPr>
        <p:grpSpPr>
          <a:xfrm>
            <a:off x="1874320" y="6019800"/>
            <a:ext cx="752706" cy="264405"/>
            <a:chOff x="477449" y="2158821"/>
            <a:chExt cx="1770451" cy="566777"/>
          </a:xfrm>
        </p:grpSpPr>
        <p:sp>
          <p:nvSpPr>
            <p:cNvPr id="247" name="Flussdiagramm: Datenträger mit direktem Zugriff 24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Flussdiagramm: Alternativer Prozess 24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9" name="Gerade Verbindung mit Pfeil 24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0" name="Gerade Verbindung mit Pfeil 24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1" name="Gruppieren 250"/>
          <p:cNvGrpSpPr/>
          <p:nvPr/>
        </p:nvGrpSpPr>
        <p:grpSpPr>
          <a:xfrm>
            <a:off x="3438294" y="5486400"/>
            <a:ext cx="752706" cy="264405"/>
            <a:chOff x="477449" y="2158821"/>
            <a:chExt cx="1770451" cy="566777"/>
          </a:xfrm>
        </p:grpSpPr>
        <p:sp>
          <p:nvSpPr>
            <p:cNvPr id="252" name="Flussdiagramm: Datenträger mit direktem Zugriff 25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Flussdiagramm: Alternativer Prozess 25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4" name="Gerade Verbindung mit Pfeil 25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5" name="Gerade Verbindung mit Pfeil 25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6" name="Gruppieren 255"/>
          <p:cNvGrpSpPr/>
          <p:nvPr/>
        </p:nvGrpSpPr>
        <p:grpSpPr>
          <a:xfrm>
            <a:off x="3200149" y="1628866"/>
            <a:ext cx="752706" cy="264405"/>
            <a:chOff x="477449" y="2158821"/>
            <a:chExt cx="1770451" cy="566777"/>
          </a:xfrm>
        </p:grpSpPr>
        <p:sp>
          <p:nvSpPr>
            <p:cNvPr id="257" name="Flussdiagramm: Datenträger mit direktem Zugriff 2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Flussdiagramm: Alternativer Prozess 2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9" name="Gerade Verbindung mit Pfeil 25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0" name="Gerade Verbindung mit Pfeil 2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61" name="Gruppieren 260"/>
          <p:cNvGrpSpPr/>
          <p:nvPr/>
        </p:nvGrpSpPr>
        <p:grpSpPr>
          <a:xfrm flipH="1">
            <a:off x="4267200" y="6019800"/>
            <a:ext cx="732377" cy="264405"/>
            <a:chOff x="477449" y="2158821"/>
            <a:chExt cx="1770451" cy="566777"/>
          </a:xfrm>
        </p:grpSpPr>
        <p:sp>
          <p:nvSpPr>
            <p:cNvPr id="262" name="Flussdiagramm: Datenträger mit direktem Zugriff 26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Flussdiagramm: Alternativer Prozess 26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64" name="Gerade Verbindung mit Pfeil 26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5" name="Gerade Verbindung mit Pfeil 26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46" name="Flussdiagramm: Datenträger mit direktem Zugriff 345"/>
          <p:cNvSpPr/>
          <p:nvPr/>
        </p:nvSpPr>
        <p:spPr bwMode="auto">
          <a:xfrm>
            <a:off x="954885" y="152119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" name="Flussdiagramm: Datenträger mit direktem Zugriff 346"/>
          <p:cNvSpPr/>
          <p:nvPr/>
        </p:nvSpPr>
        <p:spPr bwMode="auto">
          <a:xfrm>
            <a:off x="762000" y="1905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7" name="Gerade Verbindung mit Pfeil 316"/>
          <p:cNvCxnSpPr>
            <a:stCxn id="370" idx="4"/>
            <a:endCxn id="118" idx="1"/>
          </p:cNvCxnSpPr>
          <p:nvPr/>
        </p:nvCxnSpPr>
        <p:spPr bwMode="auto">
          <a:xfrm>
            <a:off x="1109400" y="1323000"/>
            <a:ext cx="667317" cy="30788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9" name="Gerade Verbindung mit Pfeil 318"/>
          <p:cNvCxnSpPr>
            <a:stCxn id="346" idx="4"/>
            <a:endCxn id="118" idx="2"/>
          </p:cNvCxnSpPr>
          <p:nvPr/>
        </p:nvCxnSpPr>
        <p:spPr bwMode="auto">
          <a:xfrm flipV="1">
            <a:off x="1530885" y="1649739"/>
            <a:ext cx="236896" cy="51451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18" name="Ellipse 117"/>
          <p:cNvSpPr/>
          <p:nvPr/>
        </p:nvSpPr>
        <p:spPr bwMode="auto">
          <a:xfrm>
            <a:off x="1767781" y="1623078"/>
            <a:ext cx="61019" cy="53322"/>
          </a:xfrm>
          <a:prstGeom prst="ellips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Flussdiagramm: Datenträger mit direktem Zugriff 369"/>
          <p:cNvSpPr/>
          <p:nvPr/>
        </p:nvSpPr>
        <p:spPr bwMode="auto">
          <a:xfrm>
            <a:off x="533400" y="1143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2" name="Gerade Verbindung mit Pfeil 1041"/>
          <p:cNvCxnSpPr>
            <a:stCxn id="113" idx="4"/>
            <a:endCxn id="118" idx="0"/>
          </p:cNvCxnSpPr>
          <p:nvPr/>
        </p:nvCxnSpPr>
        <p:spPr bwMode="auto">
          <a:xfrm>
            <a:off x="1676400" y="1094400"/>
            <a:ext cx="121891" cy="528678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45" name="Gerade Verbindung 1044"/>
          <p:cNvCxnSpPr>
            <a:stCxn id="347" idx="4"/>
            <a:endCxn id="118" idx="3"/>
          </p:cNvCxnSpPr>
          <p:nvPr/>
        </p:nvCxnSpPr>
        <p:spPr bwMode="auto">
          <a:xfrm flipV="1">
            <a:off x="1338000" y="1668591"/>
            <a:ext cx="438717" cy="41640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9" name="Flussdiagramm: Datenträger mit direktem Zugriff 378"/>
          <p:cNvSpPr/>
          <p:nvPr/>
        </p:nvSpPr>
        <p:spPr bwMode="auto">
          <a:xfrm>
            <a:off x="1767781" y="980438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Gerade Verbindung 1048"/>
          <p:cNvCxnSpPr>
            <a:stCxn id="379" idx="4"/>
            <a:endCxn id="118" idx="7"/>
          </p:cNvCxnSpPr>
          <p:nvPr/>
        </p:nvCxnSpPr>
        <p:spPr bwMode="auto">
          <a:xfrm flipH="1">
            <a:off x="1819864" y="1160438"/>
            <a:ext cx="523917" cy="47044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9" name="Gruppieren 328"/>
          <p:cNvGrpSpPr/>
          <p:nvPr/>
        </p:nvGrpSpPr>
        <p:grpSpPr>
          <a:xfrm>
            <a:off x="1181023" y="5029200"/>
            <a:ext cx="1943177" cy="838200"/>
            <a:chOff x="1176600" y="5029200"/>
            <a:chExt cx="1943177" cy="838200"/>
          </a:xfrm>
        </p:grpSpPr>
        <p:sp>
          <p:nvSpPr>
            <p:cNvPr id="133" name="Flussdiagramm: Alternativer Prozess 132"/>
            <p:cNvSpPr/>
            <p:nvPr/>
          </p:nvSpPr>
          <p:spPr bwMode="auto">
            <a:xfrm>
              <a:off x="2362200" y="518160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WCS</a:t>
              </a:r>
              <a:endParaRPr lang="en-GB" sz="1800" dirty="0"/>
            </a:p>
          </p:txBody>
        </p:sp>
        <p:sp>
          <p:nvSpPr>
            <p:cNvPr id="384" name="Flussdiagramm: Datenträger mit direktem Zugriff 383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5" name="Gerade Verbindung mit Pfeil 384"/>
            <p:cNvCxnSpPr>
              <a:stCxn id="390" idx="6"/>
              <a:endCxn id="133" idx="1"/>
            </p:cNvCxnSpPr>
            <p:nvPr/>
          </p:nvCxnSpPr>
          <p:spPr bwMode="auto">
            <a:xfrm flipV="1">
              <a:off x="1966019" y="5434761"/>
              <a:ext cx="396181" cy="21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388" name="Gerade Verbindung mit Pfeil 387"/>
            <p:cNvCxnSpPr>
              <a:stCxn id="391" idx="4"/>
              <a:endCxn id="390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0" name="Ellipse 389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Flussdiagramm: Datenträger mit direktem Zugriff 390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2" name="Gerade Verbindung mit Pfeil 391"/>
            <p:cNvCxnSpPr>
              <a:stCxn id="384" idx="4"/>
              <a:endCxn id="390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7" name="Gruppieren 396"/>
          <p:cNvGrpSpPr/>
          <p:nvPr/>
        </p:nvGrpSpPr>
        <p:grpSpPr>
          <a:xfrm>
            <a:off x="1981200" y="4572000"/>
            <a:ext cx="752706" cy="264405"/>
            <a:chOff x="477449" y="2158821"/>
            <a:chExt cx="1770451" cy="566777"/>
          </a:xfrm>
        </p:grpSpPr>
        <p:sp>
          <p:nvSpPr>
            <p:cNvPr id="398" name="Flussdiagramm: Datenträger mit direktem Zugriff 39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9" name="Flussdiagramm: Alternativer Prozess 39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0" name="Gerade Verbindung mit Pfeil 39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1" name="Gerade Verbindung mit Pfeil 40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8" name="Gruppieren 327"/>
          <p:cNvGrpSpPr/>
          <p:nvPr/>
        </p:nvGrpSpPr>
        <p:grpSpPr>
          <a:xfrm>
            <a:off x="407145" y="4545863"/>
            <a:ext cx="1207646" cy="605462"/>
            <a:chOff x="240154" y="4574069"/>
            <a:chExt cx="1207646" cy="605462"/>
          </a:xfrm>
        </p:grpSpPr>
        <p:sp>
          <p:nvSpPr>
            <p:cNvPr id="169" name="Flussdiagramm: Alternativer Prozess 168"/>
            <p:cNvSpPr/>
            <p:nvPr/>
          </p:nvSpPr>
          <p:spPr bwMode="auto">
            <a:xfrm>
              <a:off x="1130107" y="4693385"/>
              <a:ext cx="317693" cy="215775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2" name="Gerade Verbindung mit Pfeil 401"/>
            <p:cNvCxnSpPr>
              <a:stCxn id="409" idx="6"/>
              <a:endCxn id="169" idx="1"/>
            </p:cNvCxnSpPr>
            <p:nvPr/>
          </p:nvCxnSpPr>
          <p:spPr bwMode="auto">
            <a:xfrm flipV="1">
              <a:off x="873169" y="4801273"/>
              <a:ext cx="256938" cy="151444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03" name="Flussdiagramm: Datenträger mit direktem Zugriff 402"/>
            <p:cNvSpPr/>
            <p:nvPr/>
          </p:nvSpPr>
          <p:spPr bwMode="auto">
            <a:xfrm>
              <a:off x="240154" y="47244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4" name="Flussdiagramm: Datenträger mit direktem Zugriff 403"/>
            <p:cNvSpPr/>
            <p:nvPr/>
          </p:nvSpPr>
          <p:spPr bwMode="auto">
            <a:xfrm>
              <a:off x="457200" y="49530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Gerade Verbindung mit Pfeil 404"/>
            <p:cNvCxnSpPr>
              <a:stCxn id="407" idx="4"/>
              <a:endCxn id="409" idx="4"/>
            </p:cNvCxnSpPr>
            <p:nvPr/>
          </p:nvCxnSpPr>
          <p:spPr bwMode="auto">
            <a:xfrm>
              <a:off x="821400" y="4687335"/>
              <a:ext cx="28910" cy="242523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6" name="Gerade Verbindung mit Pfeil 405"/>
            <p:cNvCxnSpPr>
              <a:stCxn id="403" idx="4"/>
              <a:endCxn id="409" idx="2"/>
            </p:cNvCxnSpPr>
            <p:nvPr/>
          </p:nvCxnSpPr>
          <p:spPr bwMode="auto">
            <a:xfrm>
              <a:off x="528154" y="4837666"/>
              <a:ext cx="299296" cy="11505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7" name="Flussdiagramm: Datenträger mit direktem Zugriff 406"/>
            <p:cNvSpPr/>
            <p:nvPr/>
          </p:nvSpPr>
          <p:spPr bwMode="auto">
            <a:xfrm>
              <a:off x="533400" y="4574069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8" name="Gerade Verbindung 407"/>
            <p:cNvCxnSpPr>
              <a:stCxn id="404" idx="4"/>
              <a:endCxn id="409" idx="1"/>
            </p:cNvCxnSpPr>
            <p:nvPr/>
          </p:nvCxnSpPr>
          <p:spPr bwMode="auto">
            <a:xfrm flipV="1">
              <a:off x="745200" y="4968882"/>
              <a:ext cx="88945" cy="97384"/>
            </a:xfrm>
            <a:prstGeom prst="line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9" name="Ellipse 408"/>
            <p:cNvSpPr/>
            <p:nvPr/>
          </p:nvSpPr>
          <p:spPr bwMode="auto">
            <a:xfrm flipV="1">
              <a:off x="827450" y="4929858"/>
              <a:ext cx="45719" cy="45719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6" name="Gruppieren 425"/>
          <p:cNvGrpSpPr/>
          <p:nvPr/>
        </p:nvGrpSpPr>
        <p:grpSpPr>
          <a:xfrm flipH="1">
            <a:off x="7848600" y="5966073"/>
            <a:ext cx="1072986" cy="434727"/>
            <a:chOff x="1176600" y="5029200"/>
            <a:chExt cx="1877436" cy="838200"/>
          </a:xfrm>
        </p:grpSpPr>
        <p:sp>
          <p:nvSpPr>
            <p:cNvPr id="427" name="Flussdiagramm: Alternativer Prozess 426"/>
            <p:cNvSpPr/>
            <p:nvPr/>
          </p:nvSpPr>
          <p:spPr bwMode="auto">
            <a:xfrm>
              <a:off x="2427939" y="5181599"/>
              <a:ext cx="62609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sp>
          <p:nvSpPr>
            <p:cNvPr id="428" name="Flussdiagramm: Datenträger mit direktem Zugriff 427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9" name="Gerade Verbindung mit Pfeil 428"/>
            <p:cNvCxnSpPr>
              <a:stCxn id="431" idx="6"/>
              <a:endCxn id="427" idx="1"/>
            </p:cNvCxnSpPr>
            <p:nvPr/>
          </p:nvCxnSpPr>
          <p:spPr bwMode="auto">
            <a:xfrm flipV="1">
              <a:off x="1966019" y="5434760"/>
              <a:ext cx="461920" cy="2102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430" name="Gerade Verbindung mit Pfeil 429"/>
            <p:cNvCxnSpPr>
              <a:stCxn id="432" idx="4"/>
              <a:endCxn id="431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1" name="Ellipse 430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Flussdiagramm: Datenträger mit direktem Zugriff 431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3" name="Gerade Verbindung mit Pfeil 432"/>
            <p:cNvCxnSpPr>
              <a:stCxn id="428" idx="4"/>
              <a:endCxn id="431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40" name="Gruppieren 239"/>
          <p:cNvGrpSpPr/>
          <p:nvPr/>
        </p:nvGrpSpPr>
        <p:grpSpPr>
          <a:xfrm>
            <a:off x="3017326" y="6172200"/>
            <a:ext cx="792674" cy="264405"/>
            <a:chOff x="477449" y="2158821"/>
            <a:chExt cx="1770451" cy="566777"/>
          </a:xfrm>
        </p:grpSpPr>
        <p:sp>
          <p:nvSpPr>
            <p:cNvPr id="241" name="Flussdiagramm: Datenträger mit direktem Zugriff 240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" name="Flussdiagramm: Alternativer Prozess 241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3" name="Gerade Verbindung mit Pfeil 242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4" name="Gerade Verbindung mit Pfeil 243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6" name="Gerade Verbindung mit Pfeil 5"/>
          <p:cNvCxnSpPr>
            <a:stCxn id="48" idx="0"/>
          </p:cNvCxnSpPr>
          <p:nvPr/>
        </p:nvCxnSpPr>
        <p:spPr bwMode="auto">
          <a:xfrm flipH="1" flipV="1">
            <a:off x="4876799" y="2326530"/>
            <a:ext cx="17480" cy="34046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Gerade Verbindung mit Pfeil 9"/>
          <p:cNvCxnSpPr>
            <a:stCxn id="76" idx="0"/>
          </p:cNvCxnSpPr>
          <p:nvPr/>
        </p:nvCxnSpPr>
        <p:spPr bwMode="auto">
          <a:xfrm flipH="1" flipV="1">
            <a:off x="2827277" y="2609424"/>
            <a:ext cx="372192" cy="51588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Gerade Verbindung mit Pfeil 11"/>
          <p:cNvCxnSpPr>
            <a:stCxn id="54" idx="0"/>
          </p:cNvCxnSpPr>
          <p:nvPr/>
        </p:nvCxnSpPr>
        <p:spPr bwMode="auto">
          <a:xfrm flipH="1" flipV="1">
            <a:off x="3869713" y="2169405"/>
            <a:ext cx="92911" cy="49759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Gerade Verbindung mit Pfeil 13"/>
          <p:cNvCxnSpPr>
            <a:stCxn id="40" idx="3"/>
            <a:endCxn id="3" idx="6"/>
          </p:cNvCxnSpPr>
          <p:nvPr/>
        </p:nvCxnSpPr>
        <p:spPr bwMode="auto">
          <a:xfrm flipV="1">
            <a:off x="6086150" y="3600410"/>
            <a:ext cx="336336" cy="178428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Gerade Verbindung mit Pfeil 19"/>
          <p:cNvCxnSpPr>
            <a:stCxn id="64" idx="3"/>
          </p:cNvCxnSpPr>
          <p:nvPr/>
        </p:nvCxnSpPr>
        <p:spPr bwMode="auto">
          <a:xfrm>
            <a:off x="5645597" y="4308189"/>
            <a:ext cx="299210" cy="277913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Gerade Verbindung mit Pfeil 21"/>
          <p:cNvCxnSpPr>
            <a:stCxn id="58" idx="2"/>
          </p:cNvCxnSpPr>
          <p:nvPr/>
        </p:nvCxnSpPr>
        <p:spPr bwMode="auto">
          <a:xfrm>
            <a:off x="4644947" y="4766721"/>
            <a:ext cx="231852" cy="26247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Gerade Verbindung mit Pfeil 24"/>
          <p:cNvCxnSpPr>
            <a:stCxn id="82" idx="1"/>
          </p:cNvCxnSpPr>
          <p:nvPr/>
        </p:nvCxnSpPr>
        <p:spPr bwMode="auto">
          <a:xfrm flipH="1">
            <a:off x="2978607" y="4452091"/>
            <a:ext cx="558015" cy="507518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Gerade Verbindung mit Pfeil 34"/>
          <p:cNvCxnSpPr>
            <a:stCxn id="86" idx="2"/>
          </p:cNvCxnSpPr>
          <p:nvPr/>
        </p:nvCxnSpPr>
        <p:spPr bwMode="auto">
          <a:xfrm>
            <a:off x="2512389" y="2123208"/>
            <a:ext cx="314888" cy="48621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Gerade Verbindung mit Pfeil 36"/>
          <p:cNvCxnSpPr>
            <a:stCxn id="258" idx="2"/>
          </p:cNvCxnSpPr>
          <p:nvPr/>
        </p:nvCxnSpPr>
        <p:spPr bwMode="auto">
          <a:xfrm>
            <a:off x="3792212" y="1879170"/>
            <a:ext cx="77501" cy="29023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Gerade Verbindung mit Pfeil 44"/>
          <p:cNvCxnSpPr>
            <a:stCxn id="158" idx="2"/>
          </p:cNvCxnSpPr>
          <p:nvPr/>
        </p:nvCxnSpPr>
        <p:spPr bwMode="auto">
          <a:xfrm>
            <a:off x="4848384" y="1527149"/>
            <a:ext cx="28415" cy="811704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Gerade Verbindung mit Pfeil 51"/>
          <p:cNvCxnSpPr>
            <a:stCxn id="286" idx="3"/>
            <a:endCxn id="3" idx="6"/>
          </p:cNvCxnSpPr>
          <p:nvPr/>
        </p:nvCxnSpPr>
        <p:spPr bwMode="auto">
          <a:xfrm flipH="1">
            <a:off x="6422486" y="3537475"/>
            <a:ext cx="387921" cy="6293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Gerade Verbindung mit Pfeil 64"/>
          <p:cNvCxnSpPr>
            <a:stCxn id="299" idx="3"/>
          </p:cNvCxnSpPr>
          <p:nvPr/>
        </p:nvCxnSpPr>
        <p:spPr bwMode="auto">
          <a:xfrm flipH="1" flipV="1">
            <a:off x="5944808" y="4586102"/>
            <a:ext cx="497398" cy="28376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Ellipse 2"/>
          <p:cNvSpPr/>
          <p:nvPr/>
        </p:nvSpPr>
        <p:spPr bwMode="auto">
          <a:xfrm>
            <a:off x="2310095" y="2133600"/>
            <a:ext cx="4112391" cy="2933619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8" name="Gerade Verbindung mit Pfeil 77"/>
          <p:cNvCxnSpPr>
            <a:stCxn id="96" idx="0"/>
          </p:cNvCxnSpPr>
          <p:nvPr/>
        </p:nvCxnSpPr>
        <p:spPr bwMode="auto">
          <a:xfrm flipH="1" flipV="1">
            <a:off x="4876799" y="5029200"/>
            <a:ext cx="151264" cy="182628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5" name="Gerade Verbindung mit Pfeil 84"/>
          <p:cNvCxnSpPr>
            <a:stCxn id="133" idx="0"/>
          </p:cNvCxnSpPr>
          <p:nvPr/>
        </p:nvCxnSpPr>
        <p:spPr bwMode="auto">
          <a:xfrm flipV="1">
            <a:off x="2745412" y="4952838"/>
            <a:ext cx="233195" cy="228762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Gerade Verbindung mit Pfeil 104"/>
          <p:cNvCxnSpPr>
            <a:stCxn id="101" idx="3"/>
          </p:cNvCxnSpPr>
          <p:nvPr/>
        </p:nvCxnSpPr>
        <p:spPr bwMode="auto">
          <a:xfrm flipV="1">
            <a:off x="2098953" y="4032628"/>
            <a:ext cx="272987" cy="39123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5" name="Gerade Verbindung mit Pfeil 314"/>
          <p:cNvCxnSpPr>
            <a:stCxn id="73" idx="1"/>
          </p:cNvCxnSpPr>
          <p:nvPr/>
        </p:nvCxnSpPr>
        <p:spPr bwMode="auto">
          <a:xfrm flipH="1">
            <a:off x="2371940" y="3945724"/>
            <a:ext cx="412551" cy="8690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45" name="Picture 5" descr="D:\Users\Dornblut\Desktop\conductor-ico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767423" y="4500952"/>
            <a:ext cx="594119" cy="634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7" name="Picture 7" descr="D:\Users\Dornblut\Desktop\Age-Child-Female-Light-ico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496874" y="1904999"/>
            <a:ext cx="592676" cy="586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8" name="Picture 8" descr="D:\Users\Dornblut\Desktop\Person-Female-Light-icon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4484" y="1867237"/>
            <a:ext cx="570463" cy="57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9" name="Picture 9" descr="D:\Users\Dornblut\Desktop\Age-Child-Female-Dark-icon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8799" y="4638159"/>
            <a:ext cx="570498" cy="570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aucasian Female Boss icon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3651000"/>
            <a:ext cx="540000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Office Customer Female Light ico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360" y="4242494"/>
            <a:ext cx="539999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Office Customer Male Light icon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1735" y="3203751"/>
            <a:ext cx="602512" cy="602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engineer icon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045" y="2255323"/>
            <a:ext cx="628519" cy="62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66" name="Gruppieren 265"/>
          <p:cNvGrpSpPr/>
          <p:nvPr/>
        </p:nvGrpSpPr>
        <p:grpSpPr>
          <a:xfrm flipH="1">
            <a:off x="7078456" y="4027843"/>
            <a:ext cx="732377" cy="264405"/>
            <a:chOff x="477449" y="2158821"/>
            <a:chExt cx="1770451" cy="566777"/>
          </a:xfrm>
        </p:grpSpPr>
        <p:sp>
          <p:nvSpPr>
            <p:cNvPr id="270" name="Flussdiagramm: Datenträger mit direktem Zugriff 26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1" name="Flussdiagramm: Alternativer Prozess 27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82" name="Gerade Verbindung mit Pfeil 28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83" name="Gerade Verbindung mit Pfeil 28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84" name="Gruppieren 283"/>
          <p:cNvGrpSpPr/>
          <p:nvPr/>
        </p:nvGrpSpPr>
        <p:grpSpPr>
          <a:xfrm flipH="1">
            <a:off x="6810407" y="3137270"/>
            <a:ext cx="2181193" cy="697134"/>
            <a:chOff x="1080057" y="5069506"/>
            <a:chExt cx="2083305" cy="697134"/>
          </a:xfrm>
        </p:grpSpPr>
        <p:sp>
          <p:nvSpPr>
            <p:cNvPr id="285" name="Flussdiagramm: Datenträger mit direktem Zugriff 284"/>
            <p:cNvSpPr/>
            <p:nvPr/>
          </p:nvSpPr>
          <p:spPr bwMode="auto">
            <a:xfrm>
              <a:off x="1465480" y="5069506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86" name="Flussdiagramm: Alternativer Prozess 285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287" name="Gerade Verbindung mit Pfeil 286"/>
            <p:cNvCxnSpPr>
              <a:endCxn id="286" idx="1"/>
            </p:cNvCxnSpPr>
            <p:nvPr/>
          </p:nvCxnSpPr>
          <p:spPr bwMode="auto">
            <a:xfrm>
              <a:off x="2119046" y="5329670"/>
              <a:ext cx="286739" cy="14004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88" name="Flussdiagramm: Datenträger mit direktem Zugriff 287"/>
            <p:cNvSpPr/>
            <p:nvPr/>
          </p:nvSpPr>
          <p:spPr bwMode="auto">
            <a:xfrm>
              <a:off x="1080057" y="519986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89" name="Gerade Verbindung mit Pfeil 288"/>
            <p:cNvCxnSpPr>
              <a:stCxn id="286" idx="1"/>
            </p:cNvCxnSpPr>
            <p:nvPr/>
          </p:nvCxnSpPr>
          <p:spPr bwMode="auto">
            <a:xfrm flipH="1" flipV="1">
              <a:off x="1716341" y="5469710"/>
              <a:ext cx="68944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90" name="Gruppieren 289"/>
          <p:cNvGrpSpPr/>
          <p:nvPr/>
        </p:nvGrpSpPr>
        <p:grpSpPr>
          <a:xfrm>
            <a:off x="6442206" y="4343400"/>
            <a:ext cx="2629505" cy="1295400"/>
            <a:chOff x="6442206" y="4191000"/>
            <a:chExt cx="2629505" cy="1295400"/>
          </a:xfrm>
        </p:grpSpPr>
        <p:grpSp>
          <p:nvGrpSpPr>
            <p:cNvPr id="291" name="Gruppieren 290"/>
            <p:cNvGrpSpPr/>
            <p:nvPr/>
          </p:nvGrpSpPr>
          <p:grpSpPr>
            <a:xfrm flipH="1">
              <a:off x="6442206" y="4317263"/>
              <a:ext cx="2101936" cy="1016737"/>
              <a:chOff x="609600" y="1469843"/>
              <a:chExt cx="2083305" cy="1016737"/>
            </a:xfrm>
          </p:grpSpPr>
          <p:sp>
            <p:nvSpPr>
              <p:cNvPr id="298" name="Flussdiagramm: Datenträger mit direktem Zugriff 297"/>
              <p:cNvSpPr/>
              <p:nvPr/>
            </p:nvSpPr>
            <p:spPr bwMode="auto">
              <a:xfrm>
                <a:off x="995023" y="146984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99" name="Flussdiagramm: Alternativer Prozess 298"/>
              <p:cNvSpPr/>
              <p:nvPr/>
            </p:nvSpPr>
            <p:spPr bwMode="auto">
              <a:xfrm>
                <a:off x="1935328" y="1616887"/>
                <a:ext cx="757577" cy="506321"/>
              </a:xfrm>
              <a:prstGeom prst="flowChartAlternateProcess">
                <a:avLst/>
              </a:prstGeom>
              <a:noFill/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rIns="0" rtlCol="0" anchor="ctr"/>
              <a:lstStyle/>
              <a:p>
                <a:pPr algn="ctr"/>
                <a:r>
                  <a:rPr lang="en-GB" sz="1800" dirty="0" smtClean="0"/>
                  <a:t>CSW</a:t>
                </a:r>
                <a:endParaRPr lang="en-GB" sz="1800" dirty="0"/>
              </a:p>
            </p:txBody>
          </p:sp>
          <p:cxnSp>
            <p:nvCxnSpPr>
              <p:cNvPr id="300" name="Gerade Verbindung mit Pfeil 299"/>
              <p:cNvCxnSpPr>
                <a:endCxn id="299" idx="1"/>
              </p:cNvCxnSpPr>
              <p:nvPr/>
            </p:nvCxnSpPr>
            <p:spPr bwMode="auto">
              <a:xfrm>
                <a:off x="1634307" y="1766214"/>
                <a:ext cx="301021" cy="10383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301" name="Flussdiagramm: Datenträger mit direktem Zugriff 300"/>
              <p:cNvSpPr/>
              <p:nvPr/>
            </p:nvSpPr>
            <p:spPr bwMode="auto">
              <a:xfrm>
                <a:off x="952200" y="191980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02" name="Gerade Verbindung mit Pfeil 301"/>
              <p:cNvCxnSpPr>
                <a:stCxn id="299" idx="1"/>
              </p:cNvCxnSpPr>
              <p:nvPr/>
            </p:nvCxnSpPr>
            <p:spPr bwMode="auto">
              <a:xfrm flipH="1">
                <a:off x="1578422" y="1870048"/>
                <a:ext cx="356906" cy="406826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303" name="Flussdiagramm: Datenträger mit direktem Zugriff 302"/>
              <p:cNvSpPr/>
              <p:nvPr/>
            </p:nvSpPr>
            <p:spPr bwMode="auto">
              <a:xfrm>
                <a:off x="609600" y="1600200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304" name="Gerade Verbindung mit Pfeil 303"/>
              <p:cNvCxnSpPr>
                <a:stCxn id="299" idx="1"/>
              </p:cNvCxnSpPr>
              <p:nvPr/>
            </p:nvCxnSpPr>
            <p:spPr bwMode="auto">
              <a:xfrm flipH="1">
                <a:off x="1221515" y="1870048"/>
                <a:ext cx="713813" cy="13541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</p:grpSp>
        <p:sp>
          <p:nvSpPr>
            <p:cNvPr id="292" name="Flussdiagramm: Datenträger mit direktem Zugriff 291"/>
            <p:cNvSpPr/>
            <p:nvPr/>
          </p:nvSpPr>
          <p:spPr bwMode="auto">
            <a:xfrm flipH="1">
              <a:off x="8682889" y="4191000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3" name="Gerade Verbindung mit Pfeil 292"/>
            <p:cNvCxnSpPr>
              <a:stCxn id="292" idx="4"/>
              <a:endCxn id="303" idx="1"/>
            </p:cNvCxnSpPr>
            <p:nvPr/>
          </p:nvCxnSpPr>
          <p:spPr bwMode="auto">
            <a:xfrm flipH="1">
              <a:off x="8544142" y="4313288"/>
              <a:ext cx="138747" cy="417721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94" name="Flussdiagramm: Datenträger mit direktem Zugriff 293"/>
            <p:cNvSpPr/>
            <p:nvPr/>
          </p:nvSpPr>
          <p:spPr bwMode="auto">
            <a:xfrm flipH="1">
              <a:off x="8763000" y="47846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5" name="Gerade Verbindung mit Pfeil 294"/>
            <p:cNvCxnSpPr>
              <a:stCxn id="303" idx="1"/>
              <a:endCxn id="294" idx="4"/>
            </p:cNvCxnSpPr>
            <p:nvPr/>
          </p:nvCxnSpPr>
          <p:spPr bwMode="auto">
            <a:xfrm>
              <a:off x="8544142" y="4731009"/>
              <a:ext cx="218858" cy="175903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296" name="Flussdiagramm: Datenträger mit direktem Zugriff 295"/>
            <p:cNvSpPr/>
            <p:nvPr/>
          </p:nvSpPr>
          <p:spPr bwMode="auto">
            <a:xfrm flipH="1">
              <a:off x="8448458" y="52418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97" name="Gerade Verbindung mit Pfeil 296"/>
            <p:cNvCxnSpPr>
              <a:stCxn id="301" idx="1"/>
              <a:endCxn id="296" idx="4"/>
            </p:cNvCxnSpPr>
            <p:nvPr/>
          </p:nvCxnSpPr>
          <p:spPr bwMode="auto">
            <a:xfrm>
              <a:off x="8198478" y="5050612"/>
              <a:ext cx="249980" cy="31350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05" name="Gruppieren 304"/>
          <p:cNvGrpSpPr/>
          <p:nvPr/>
        </p:nvGrpSpPr>
        <p:grpSpPr>
          <a:xfrm flipH="1">
            <a:off x="6525921" y="2328823"/>
            <a:ext cx="1779879" cy="566777"/>
            <a:chOff x="477449" y="2158821"/>
            <a:chExt cx="1770451" cy="566777"/>
          </a:xfrm>
        </p:grpSpPr>
        <p:sp>
          <p:nvSpPr>
            <p:cNvPr id="306" name="Flussdiagramm: Datenträger mit direktem Zugriff 305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07" name="Flussdiagramm: Alternativer Prozess 306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SOS</a:t>
              </a:r>
              <a:endParaRPr lang="en-GB" sz="1800" dirty="0"/>
            </a:p>
          </p:txBody>
        </p:sp>
        <p:cxnSp>
          <p:nvCxnSpPr>
            <p:cNvPr id="308" name="Gerade Verbindung mit Pfeil 307"/>
            <p:cNvCxnSpPr/>
            <p:nvPr/>
          </p:nvCxnSpPr>
          <p:spPr bwMode="auto">
            <a:xfrm flipH="1">
              <a:off x="1096653" y="2327909"/>
              <a:ext cx="39626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09" name="Gerade Verbindung mit Pfeil 308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10" name="Gruppieren 309"/>
          <p:cNvGrpSpPr/>
          <p:nvPr/>
        </p:nvGrpSpPr>
        <p:grpSpPr>
          <a:xfrm flipH="1">
            <a:off x="5791200" y="1792995"/>
            <a:ext cx="732377" cy="264405"/>
            <a:chOff x="477449" y="2158821"/>
            <a:chExt cx="1770451" cy="566777"/>
          </a:xfrm>
        </p:grpSpPr>
        <p:sp>
          <p:nvSpPr>
            <p:cNvPr id="311" name="Flussdiagramm: Datenträger mit direktem Zugriff 310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2" name="Flussdiagramm: Alternativer Prozess 311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313" name="Gerade Verbindung mit Pfeil 312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314" name="Gerade Verbindung mit Pfeil 313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316" name="Gerade Verbindung mit Pfeil 315"/>
          <p:cNvCxnSpPr/>
          <p:nvPr/>
        </p:nvCxnSpPr>
        <p:spPr bwMode="auto">
          <a:xfrm flipV="1">
            <a:off x="5641672" y="2822798"/>
            <a:ext cx="462137" cy="247835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8" name="Gerade Verbindung mit Pfeil 317"/>
          <p:cNvCxnSpPr/>
          <p:nvPr/>
        </p:nvCxnSpPr>
        <p:spPr bwMode="auto">
          <a:xfrm flipH="1">
            <a:off x="6048215" y="2612212"/>
            <a:ext cx="477706" cy="18165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pic>
        <p:nvPicPr>
          <p:cNvPr id="2060" name="Picture 12" descr="Age Child Male Light icon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438" y="2317269"/>
            <a:ext cx="636879" cy="636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016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Semantic interoperability of Web services</a:t>
            </a: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24" name="Gruppieren 23"/>
          <p:cNvGrpSpPr/>
          <p:nvPr/>
        </p:nvGrpSpPr>
        <p:grpSpPr>
          <a:xfrm>
            <a:off x="2746945" y="2666999"/>
            <a:ext cx="3377130" cy="2209801"/>
            <a:chOff x="2498735" y="2529794"/>
            <a:chExt cx="3734837" cy="2426593"/>
          </a:xfrm>
        </p:grpSpPr>
        <p:sp>
          <p:nvSpPr>
            <p:cNvPr id="17" name="Wolke 16"/>
            <p:cNvSpPr/>
            <p:nvPr/>
          </p:nvSpPr>
          <p:spPr bwMode="auto">
            <a:xfrm>
              <a:off x="2653218" y="2737037"/>
              <a:ext cx="3242864" cy="1957297"/>
            </a:xfrm>
            <a:prstGeom prst="cloud">
              <a:avLst/>
            </a:prstGeom>
            <a:noFill/>
            <a:ln w="190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2400" dirty="0" smtClean="0">
                  <a:solidFill>
                    <a:srgbClr val="002060"/>
                  </a:solidFill>
                </a:rPr>
                <a:t>Community consensus !</a:t>
              </a:r>
            </a:p>
          </p:txBody>
        </p:sp>
        <p:grpSp>
          <p:nvGrpSpPr>
            <p:cNvPr id="38" name="Gruppieren 37"/>
            <p:cNvGrpSpPr/>
            <p:nvPr/>
          </p:nvGrpSpPr>
          <p:grpSpPr>
            <a:xfrm>
              <a:off x="5721172" y="3611394"/>
              <a:ext cx="512400" cy="385943"/>
              <a:chOff x="1352011" y="4568240"/>
              <a:chExt cx="2381250" cy="2381250"/>
            </a:xfrm>
          </p:grpSpPr>
          <p:pic>
            <p:nvPicPr>
              <p:cNvPr id="39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2011" y="456824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Abgerundetes Rechteck 39"/>
              <p:cNvSpPr/>
              <p:nvPr/>
            </p:nvSpPr>
            <p:spPr bwMode="auto">
              <a:xfrm>
                <a:off x="1544977" y="4651951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uppieren 40"/>
            <p:cNvGrpSpPr/>
            <p:nvPr/>
          </p:nvGrpSpPr>
          <p:grpSpPr>
            <a:xfrm>
              <a:off x="5444082" y="2957897"/>
              <a:ext cx="512400" cy="385943"/>
              <a:chOff x="497898" y="3080237"/>
              <a:chExt cx="2381251" cy="2381250"/>
            </a:xfrm>
          </p:grpSpPr>
          <p:pic>
            <p:nvPicPr>
              <p:cNvPr id="4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98" y="3080237"/>
                <a:ext cx="2381251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Abgerundetes Rechteck 42"/>
              <p:cNvSpPr/>
              <p:nvPr/>
            </p:nvSpPr>
            <p:spPr bwMode="auto">
              <a:xfrm>
                <a:off x="690865" y="3173586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uppieren 46"/>
            <p:cNvGrpSpPr/>
            <p:nvPr/>
          </p:nvGrpSpPr>
          <p:grpSpPr>
            <a:xfrm>
              <a:off x="4617316" y="2529794"/>
              <a:ext cx="512400" cy="385943"/>
              <a:chOff x="1118457" y="3085316"/>
              <a:chExt cx="2381250" cy="2381250"/>
            </a:xfrm>
          </p:grpSpPr>
          <p:pic>
            <p:nvPicPr>
              <p:cNvPr id="48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457" y="3085316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Abgerundetes Rechteck 48"/>
              <p:cNvSpPr/>
              <p:nvPr/>
            </p:nvSpPr>
            <p:spPr bwMode="auto">
              <a:xfrm>
                <a:off x="1211754" y="3239561"/>
                <a:ext cx="2192703" cy="1410661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3" name="Gruppieren 52"/>
            <p:cNvGrpSpPr/>
            <p:nvPr/>
          </p:nvGrpSpPr>
          <p:grpSpPr>
            <a:xfrm>
              <a:off x="3586980" y="2529794"/>
              <a:ext cx="512400" cy="385943"/>
              <a:chOff x="1204628" y="2903841"/>
              <a:chExt cx="2381250" cy="2381250"/>
            </a:xfrm>
          </p:grpSpPr>
          <p:pic>
            <p:nvPicPr>
              <p:cNvPr id="54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4628" y="2903841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Abgerundetes Rechteck 54"/>
              <p:cNvSpPr/>
              <p:nvPr/>
            </p:nvSpPr>
            <p:spPr bwMode="auto">
              <a:xfrm>
                <a:off x="1397595" y="2987549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4341785" y="4570444"/>
              <a:ext cx="512400" cy="385943"/>
              <a:chOff x="1598990" y="3986255"/>
              <a:chExt cx="2381250" cy="2381250"/>
            </a:xfrm>
          </p:grpSpPr>
          <p:pic>
            <p:nvPicPr>
              <p:cNvPr id="57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8990" y="3986255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Abgerundetes Rechteck 57"/>
              <p:cNvSpPr/>
              <p:nvPr/>
            </p:nvSpPr>
            <p:spPr bwMode="auto">
              <a:xfrm>
                <a:off x="1791958" y="4069970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2" name="Gruppieren 61"/>
            <p:cNvGrpSpPr/>
            <p:nvPr/>
          </p:nvGrpSpPr>
          <p:grpSpPr>
            <a:xfrm>
              <a:off x="5233956" y="4192677"/>
              <a:ext cx="512400" cy="385943"/>
              <a:chOff x="601887" y="3469967"/>
              <a:chExt cx="2381250" cy="2381250"/>
            </a:xfrm>
          </p:grpSpPr>
          <p:pic>
            <p:nvPicPr>
              <p:cNvPr id="63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887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Abgerundetes Rechteck 63"/>
              <p:cNvSpPr/>
              <p:nvPr/>
            </p:nvSpPr>
            <p:spPr bwMode="auto">
              <a:xfrm>
                <a:off x="794853" y="3553678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2498735" y="3794653"/>
              <a:ext cx="512400" cy="385943"/>
              <a:chOff x="638951" y="4628190"/>
              <a:chExt cx="2381250" cy="2381250"/>
            </a:xfrm>
          </p:grpSpPr>
          <p:pic>
            <p:nvPicPr>
              <p:cNvPr id="7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951" y="462819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Abgerundetes Rechteck 72"/>
              <p:cNvSpPr/>
              <p:nvPr/>
            </p:nvSpPr>
            <p:spPr bwMode="auto">
              <a:xfrm>
                <a:off x="831918" y="471189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2743200" y="3019498"/>
              <a:ext cx="512400" cy="385943"/>
              <a:chOff x="1066800" y="2269713"/>
              <a:chExt cx="2381250" cy="2381250"/>
            </a:xfrm>
          </p:grpSpPr>
          <p:pic>
            <p:nvPicPr>
              <p:cNvPr id="75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800" y="2269713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Abgerundetes Rechteck 75"/>
              <p:cNvSpPr/>
              <p:nvPr/>
            </p:nvSpPr>
            <p:spPr bwMode="auto">
              <a:xfrm>
                <a:off x="1259766" y="2353424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uppieren 79"/>
            <p:cNvGrpSpPr/>
            <p:nvPr/>
          </p:nvGrpSpPr>
          <p:grpSpPr>
            <a:xfrm>
              <a:off x="3330532" y="4350696"/>
              <a:ext cx="512400" cy="385943"/>
              <a:chOff x="2025679" y="3469967"/>
              <a:chExt cx="2381250" cy="2381250"/>
            </a:xfrm>
          </p:grpSpPr>
          <p:pic>
            <p:nvPicPr>
              <p:cNvPr id="81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5679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Abgerundetes Rechteck 81"/>
              <p:cNvSpPr/>
              <p:nvPr/>
            </p:nvSpPr>
            <p:spPr bwMode="auto">
              <a:xfrm>
                <a:off x="2218647" y="3553682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4" name="Gruppieren 93"/>
          <p:cNvGrpSpPr/>
          <p:nvPr/>
        </p:nvGrpSpPr>
        <p:grpSpPr>
          <a:xfrm flipH="1">
            <a:off x="4648200" y="5181600"/>
            <a:ext cx="1779879" cy="566777"/>
            <a:chOff x="477449" y="2158821"/>
            <a:chExt cx="1770451" cy="566777"/>
          </a:xfrm>
        </p:grpSpPr>
        <p:sp>
          <p:nvSpPr>
            <p:cNvPr id="95" name="Flussdiagramm: Datenträger mit direktem Zugriff 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Flussdiagramm: Alternativer Prozess 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97" name="Gerade Verbindung mit Pfeil 9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8" name="Gerade Verbindung mit Pfeil 9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99" name="Gruppieren 98"/>
          <p:cNvGrpSpPr/>
          <p:nvPr/>
        </p:nvGrpSpPr>
        <p:grpSpPr>
          <a:xfrm>
            <a:off x="324111" y="3788362"/>
            <a:ext cx="1774842" cy="566777"/>
            <a:chOff x="477449" y="2158821"/>
            <a:chExt cx="1770451" cy="566777"/>
          </a:xfrm>
        </p:grpSpPr>
        <p:sp>
          <p:nvSpPr>
            <p:cNvPr id="100" name="Flussdiagramm: Datenträger mit direktem Zugriff 9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Flussdiagramm: Alternativer Prozess 10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WFS</a:t>
              </a:r>
              <a:endParaRPr lang="en-GB" sz="1800" dirty="0"/>
            </a:p>
          </p:txBody>
        </p:sp>
        <p:cxnSp>
          <p:nvCxnSpPr>
            <p:cNvPr id="102" name="Gerade Verbindung mit Pfeil 10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3" name="Gerade Verbindung mit Pfeil 10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86" name="Flussdiagramm: Alternativer Prozess 85"/>
          <p:cNvSpPr/>
          <p:nvPr/>
        </p:nvSpPr>
        <p:spPr bwMode="auto">
          <a:xfrm>
            <a:off x="2133600" y="1616887"/>
            <a:ext cx="757577" cy="506321"/>
          </a:xfrm>
          <a:prstGeom prst="flowChartAlternateProcess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800" dirty="0" smtClean="0"/>
              <a:t>WMS</a:t>
            </a:r>
            <a:endParaRPr lang="en-GB" sz="1800" dirty="0"/>
          </a:p>
        </p:txBody>
      </p:sp>
      <p:sp>
        <p:nvSpPr>
          <p:cNvPr id="113" name="Flussdiagramm: Datenträger mit direktem Zugriff 112"/>
          <p:cNvSpPr/>
          <p:nvPr/>
        </p:nvSpPr>
        <p:spPr bwMode="auto">
          <a:xfrm>
            <a:off x="1100400" y="9144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Gerade Verbindung mit Pfeil 87"/>
          <p:cNvCxnSpPr>
            <a:stCxn id="118" idx="6"/>
            <a:endCxn id="86" idx="1"/>
          </p:cNvCxnSpPr>
          <p:nvPr/>
        </p:nvCxnSpPr>
        <p:spPr bwMode="auto">
          <a:xfrm>
            <a:off x="1828800" y="1649739"/>
            <a:ext cx="304800" cy="22030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/>
          </a:ln>
          <a:effectLst/>
        </p:spPr>
      </p:cxnSp>
      <p:grpSp>
        <p:nvGrpSpPr>
          <p:cNvPr id="123" name="Gruppieren 122"/>
          <p:cNvGrpSpPr/>
          <p:nvPr/>
        </p:nvGrpSpPr>
        <p:grpSpPr>
          <a:xfrm>
            <a:off x="381000" y="2938423"/>
            <a:ext cx="1774842" cy="566777"/>
            <a:chOff x="477449" y="2158821"/>
            <a:chExt cx="1770451" cy="566777"/>
          </a:xfrm>
        </p:grpSpPr>
        <p:sp>
          <p:nvSpPr>
            <p:cNvPr id="124" name="Flussdiagramm: Datenträger mit direktem Zugriff 12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lussdiagramm: Alternativer Prozess 12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130" name="Gerade Verbindung mit Pfeil 12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1" name="Gerade Verbindung mit Pfeil 13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56" name="Gruppieren 155"/>
          <p:cNvGrpSpPr/>
          <p:nvPr/>
        </p:nvGrpSpPr>
        <p:grpSpPr>
          <a:xfrm flipH="1">
            <a:off x="4468521" y="990600"/>
            <a:ext cx="1779879" cy="566777"/>
            <a:chOff x="477449" y="2158821"/>
            <a:chExt cx="1770451" cy="566777"/>
          </a:xfrm>
        </p:grpSpPr>
        <p:sp>
          <p:nvSpPr>
            <p:cNvPr id="157" name="Flussdiagramm: Datenträger mit direktem Zugriff 1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Flussdiagramm: Alternativer Prozess 1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600" dirty="0" smtClean="0"/>
                <a:t>WMS</a:t>
              </a:r>
              <a:endParaRPr lang="en-GB" sz="1600" dirty="0"/>
            </a:p>
          </p:txBody>
        </p:sp>
        <p:cxnSp>
          <p:nvCxnSpPr>
            <p:cNvPr id="159" name="Gerade Verbindung mit Pfeil 158"/>
            <p:cNvCxnSpPr/>
            <p:nvPr/>
          </p:nvCxnSpPr>
          <p:spPr bwMode="auto">
            <a:xfrm flipH="1" flipV="1">
              <a:off x="1084493" y="2316999"/>
              <a:ext cx="408425" cy="1091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0" name="Gerade Verbindung mit Pfeil 1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77" name="Gruppieren 176"/>
          <p:cNvGrpSpPr/>
          <p:nvPr/>
        </p:nvGrpSpPr>
        <p:grpSpPr>
          <a:xfrm>
            <a:off x="1546060" y="2215359"/>
            <a:ext cx="988201" cy="527835"/>
            <a:chOff x="1080057" y="4896613"/>
            <a:chExt cx="2425050" cy="1223197"/>
          </a:xfrm>
        </p:grpSpPr>
        <p:sp>
          <p:nvSpPr>
            <p:cNvPr id="178" name="Flussdiagramm: Datenträger mit direktem Zugriff 177"/>
            <p:cNvSpPr/>
            <p:nvPr/>
          </p:nvSpPr>
          <p:spPr bwMode="auto">
            <a:xfrm>
              <a:off x="1465480" y="4896613"/>
              <a:ext cx="757578" cy="515252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Flussdiagramm: Alternativer Prozess 178"/>
            <p:cNvSpPr/>
            <p:nvPr/>
          </p:nvSpPr>
          <p:spPr bwMode="auto">
            <a:xfrm>
              <a:off x="2671771" y="5216549"/>
              <a:ext cx="833336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85" name="Gerade Verbindung mit Pfeil 184"/>
            <p:cNvCxnSpPr>
              <a:stCxn id="178" idx="4"/>
              <a:endCxn id="179" idx="1"/>
            </p:cNvCxnSpPr>
            <p:nvPr/>
          </p:nvCxnSpPr>
          <p:spPr bwMode="auto">
            <a:xfrm>
              <a:off x="2223059" y="5154239"/>
              <a:ext cx="448712" cy="3154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186" name="Flussdiagramm: Datenträger mit direktem Zugriff 185"/>
            <p:cNvSpPr/>
            <p:nvPr/>
          </p:nvSpPr>
          <p:spPr bwMode="auto">
            <a:xfrm>
              <a:off x="1080057" y="5553033"/>
              <a:ext cx="757578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7" name="Gerade Verbindung mit Pfeil 186"/>
            <p:cNvCxnSpPr>
              <a:stCxn id="179" idx="1"/>
              <a:endCxn id="186" idx="4"/>
            </p:cNvCxnSpPr>
            <p:nvPr/>
          </p:nvCxnSpPr>
          <p:spPr bwMode="auto">
            <a:xfrm flipH="1">
              <a:off x="1837635" y="5469709"/>
              <a:ext cx="834136" cy="36671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188" name="Gruppieren 187"/>
          <p:cNvGrpSpPr/>
          <p:nvPr/>
        </p:nvGrpSpPr>
        <p:grpSpPr>
          <a:xfrm>
            <a:off x="533400" y="6040522"/>
            <a:ext cx="752706" cy="264405"/>
            <a:chOff x="477449" y="2158821"/>
            <a:chExt cx="1770451" cy="566777"/>
          </a:xfrm>
        </p:grpSpPr>
        <p:sp>
          <p:nvSpPr>
            <p:cNvPr id="189" name="Flussdiagramm: Datenträger mit direktem Zugriff 18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Flussdiagramm: Alternativer Prozess 18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91" name="Gerade Verbindung mit Pfeil 19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2" name="Gerade Verbindung mit Pfeil 19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98" name="Gruppieren 197"/>
          <p:cNvGrpSpPr/>
          <p:nvPr/>
        </p:nvGrpSpPr>
        <p:grpSpPr>
          <a:xfrm>
            <a:off x="2827277" y="1076033"/>
            <a:ext cx="752706" cy="264405"/>
            <a:chOff x="477449" y="2158821"/>
            <a:chExt cx="1770451" cy="566777"/>
          </a:xfrm>
        </p:grpSpPr>
        <p:sp>
          <p:nvSpPr>
            <p:cNvPr id="199" name="Flussdiagramm: Datenträger mit direktem Zugriff 19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Flussdiagramm: Alternativer Prozess 19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01" name="Gerade Verbindung mit Pfeil 20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02" name="Gerade Verbindung mit Pfeil 20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08" name="Gruppieren 207"/>
          <p:cNvGrpSpPr/>
          <p:nvPr/>
        </p:nvGrpSpPr>
        <p:grpSpPr>
          <a:xfrm flipH="1">
            <a:off x="7954423" y="1219200"/>
            <a:ext cx="732377" cy="264405"/>
            <a:chOff x="477449" y="2158821"/>
            <a:chExt cx="1770451" cy="566777"/>
          </a:xfrm>
        </p:grpSpPr>
        <p:sp>
          <p:nvSpPr>
            <p:cNvPr id="209" name="Flussdiagramm: Datenträger mit direktem Zugriff 20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Flussdiagramm: Alternativer Prozess 20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1" name="Gerade Verbindung mit Pfeil 21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2" name="Gerade Verbindung mit Pfeil 21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13" name="Gruppieren 212"/>
          <p:cNvGrpSpPr/>
          <p:nvPr/>
        </p:nvGrpSpPr>
        <p:grpSpPr>
          <a:xfrm flipH="1">
            <a:off x="5516023" y="5983995"/>
            <a:ext cx="732377" cy="264405"/>
            <a:chOff x="477449" y="2158821"/>
            <a:chExt cx="1770451" cy="566777"/>
          </a:xfrm>
        </p:grpSpPr>
        <p:sp>
          <p:nvSpPr>
            <p:cNvPr id="214" name="Flussdiagramm: Datenträger mit direktem Zugriff 21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Flussdiagramm: Alternativer Prozess 21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6" name="Gerade Verbindung mit Pfeil 215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7" name="Gerade Verbindung mit Pfeil 216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4" name="Gruppieren 223"/>
          <p:cNvGrpSpPr/>
          <p:nvPr/>
        </p:nvGrpSpPr>
        <p:grpSpPr>
          <a:xfrm flipH="1">
            <a:off x="6858000" y="5715000"/>
            <a:ext cx="732377" cy="264405"/>
            <a:chOff x="477449" y="2158821"/>
            <a:chExt cx="1770451" cy="566777"/>
          </a:xfrm>
        </p:grpSpPr>
        <p:sp>
          <p:nvSpPr>
            <p:cNvPr id="225" name="Flussdiagramm: Datenträger mit direktem Zugriff 22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6" name="Flussdiagramm: Alternativer Prozess 22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27" name="Gerade Verbindung mit Pfeil 22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8" name="Gerade Verbindung mit Pfeil 22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9" name="Gruppieren 228"/>
          <p:cNvGrpSpPr/>
          <p:nvPr/>
        </p:nvGrpSpPr>
        <p:grpSpPr>
          <a:xfrm flipH="1">
            <a:off x="6705600" y="990600"/>
            <a:ext cx="732377" cy="264405"/>
            <a:chOff x="477449" y="2158821"/>
            <a:chExt cx="1770451" cy="566777"/>
          </a:xfrm>
        </p:grpSpPr>
        <p:sp>
          <p:nvSpPr>
            <p:cNvPr id="230" name="Flussdiagramm: Datenträger mit direktem Zugriff 22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" name="Flussdiagramm: Alternativer Prozess 23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2" name="Gerade Verbindung mit Pfeil 23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3" name="Gerade Verbindung mit Pfeil 23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34" name="Gruppieren 233"/>
          <p:cNvGrpSpPr/>
          <p:nvPr/>
        </p:nvGrpSpPr>
        <p:grpSpPr>
          <a:xfrm flipH="1">
            <a:off x="6904409" y="1385097"/>
            <a:ext cx="944191" cy="519903"/>
            <a:chOff x="846317" y="4760484"/>
            <a:chExt cx="2317045" cy="1204813"/>
          </a:xfrm>
        </p:grpSpPr>
        <p:sp>
          <p:nvSpPr>
            <p:cNvPr id="235" name="Flussdiagramm: Datenträger mit direktem Zugriff 234"/>
            <p:cNvSpPr/>
            <p:nvPr/>
          </p:nvSpPr>
          <p:spPr bwMode="auto">
            <a:xfrm>
              <a:off x="1395355" y="4760484"/>
              <a:ext cx="757578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" name="Flussdiagramm: Alternativer Prozess 235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7" name="Gerade Verbindung mit Pfeil 236"/>
            <p:cNvCxnSpPr>
              <a:stCxn id="235" idx="4"/>
              <a:endCxn id="236" idx="1"/>
            </p:cNvCxnSpPr>
            <p:nvPr/>
          </p:nvCxnSpPr>
          <p:spPr bwMode="auto">
            <a:xfrm>
              <a:off x="2152933" y="5043872"/>
              <a:ext cx="252851" cy="4258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38" name="Flussdiagramm: Datenträger mit direktem Zugriff 237"/>
            <p:cNvSpPr/>
            <p:nvPr/>
          </p:nvSpPr>
          <p:spPr bwMode="auto">
            <a:xfrm>
              <a:off x="846317" y="5398521"/>
              <a:ext cx="757577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9" name="Gerade Verbindung mit Pfeil 238"/>
            <p:cNvCxnSpPr>
              <a:stCxn id="236" idx="1"/>
              <a:endCxn id="238" idx="4"/>
            </p:cNvCxnSpPr>
            <p:nvPr/>
          </p:nvCxnSpPr>
          <p:spPr bwMode="auto">
            <a:xfrm flipH="1">
              <a:off x="1603894" y="5469711"/>
              <a:ext cx="801891" cy="21219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46" name="Gruppieren 245"/>
          <p:cNvGrpSpPr/>
          <p:nvPr/>
        </p:nvGrpSpPr>
        <p:grpSpPr>
          <a:xfrm>
            <a:off x="1874320" y="6019800"/>
            <a:ext cx="752706" cy="264405"/>
            <a:chOff x="477449" y="2158821"/>
            <a:chExt cx="1770451" cy="566777"/>
          </a:xfrm>
        </p:grpSpPr>
        <p:sp>
          <p:nvSpPr>
            <p:cNvPr id="247" name="Flussdiagramm: Datenträger mit direktem Zugriff 24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Flussdiagramm: Alternativer Prozess 24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9" name="Gerade Verbindung mit Pfeil 24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0" name="Gerade Verbindung mit Pfeil 24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1" name="Gruppieren 250"/>
          <p:cNvGrpSpPr/>
          <p:nvPr/>
        </p:nvGrpSpPr>
        <p:grpSpPr>
          <a:xfrm>
            <a:off x="3438294" y="5486400"/>
            <a:ext cx="752706" cy="264405"/>
            <a:chOff x="477449" y="2158821"/>
            <a:chExt cx="1770451" cy="566777"/>
          </a:xfrm>
        </p:grpSpPr>
        <p:sp>
          <p:nvSpPr>
            <p:cNvPr id="252" name="Flussdiagramm: Datenträger mit direktem Zugriff 25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Flussdiagramm: Alternativer Prozess 25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4" name="Gerade Verbindung mit Pfeil 25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5" name="Gerade Verbindung mit Pfeil 25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6" name="Gruppieren 255"/>
          <p:cNvGrpSpPr/>
          <p:nvPr/>
        </p:nvGrpSpPr>
        <p:grpSpPr>
          <a:xfrm>
            <a:off x="3200149" y="1628866"/>
            <a:ext cx="752706" cy="264405"/>
            <a:chOff x="477449" y="2158821"/>
            <a:chExt cx="1770451" cy="566777"/>
          </a:xfrm>
        </p:grpSpPr>
        <p:sp>
          <p:nvSpPr>
            <p:cNvPr id="257" name="Flussdiagramm: Datenträger mit direktem Zugriff 2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Flussdiagramm: Alternativer Prozess 2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9" name="Gerade Verbindung mit Pfeil 25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0" name="Gerade Verbindung mit Pfeil 2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61" name="Gruppieren 260"/>
          <p:cNvGrpSpPr/>
          <p:nvPr/>
        </p:nvGrpSpPr>
        <p:grpSpPr>
          <a:xfrm flipH="1">
            <a:off x="4267200" y="6019800"/>
            <a:ext cx="732377" cy="264405"/>
            <a:chOff x="477449" y="2158821"/>
            <a:chExt cx="1770451" cy="566777"/>
          </a:xfrm>
        </p:grpSpPr>
        <p:sp>
          <p:nvSpPr>
            <p:cNvPr id="262" name="Flussdiagramm: Datenträger mit direktem Zugriff 26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Flussdiagramm: Alternativer Prozess 26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64" name="Gerade Verbindung mit Pfeil 26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5" name="Gerade Verbindung mit Pfeil 26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77" name="Gruppieren 276"/>
          <p:cNvGrpSpPr/>
          <p:nvPr/>
        </p:nvGrpSpPr>
        <p:grpSpPr>
          <a:xfrm flipH="1">
            <a:off x="6648115" y="6301741"/>
            <a:ext cx="732377" cy="264405"/>
            <a:chOff x="477449" y="2158821"/>
            <a:chExt cx="1770451" cy="566777"/>
          </a:xfrm>
        </p:grpSpPr>
        <p:sp>
          <p:nvSpPr>
            <p:cNvPr id="278" name="Flussdiagramm: Datenträger mit direktem Zugriff 27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79" name="Flussdiagramm: Alternativer Prozess 27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80" name="Gerade Verbindung mit Pfeil 27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81" name="Gerade Verbindung mit Pfeil 28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46" name="Flussdiagramm: Datenträger mit direktem Zugriff 345"/>
          <p:cNvSpPr/>
          <p:nvPr/>
        </p:nvSpPr>
        <p:spPr bwMode="auto">
          <a:xfrm>
            <a:off x="954885" y="152119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" name="Flussdiagramm: Datenträger mit direktem Zugriff 346"/>
          <p:cNvSpPr/>
          <p:nvPr/>
        </p:nvSpPr>
        <p:spPr bwMode="auto">
          <a:xfrm>
            <a:off x="762000" y="1905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7" name="Gerade Verbindung mit Pfeil 316"/>
          <p:cNvCxnSpPr>
            <a:stCxn id="370" idx="4"/>
            <a:endCxn id="118" idx="1"/>
          </p:cNvCxnSpPr>
          <p:nvPr/>
        </p:nvCxnSpPr>
        <p:spPr bwMode="auto">
          <a:xfrm>
            <a:off x="1109400" y="1323000"/>
            <a:ext cx="667317" cy="30788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9" name="Gerade Verbindung mit Pfeil 318"/>
          <p:cNvCxnSpPr>
            <a:stCxn id="346" idx="4"/>
            <a:endCxn id="118" idx="2"/>
          </p:cNvCxnSpPr>
          <p:nvPr/>
        </p:nvCxnSpPr>
        <p:spPr bwMode="auto">
          <a:xfrm flipV="1">
            <a:off x="1530885" y="1649739"/>
            <a:ext cx="236896" cy="51451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18" name="Ellipse 117"/>
          <p:cNvSpPr/>
          <p:nvPr/>
        </p:nvSpPr>
        <p:spPr bwMode="auto">
          <a:xfrm>
            <a:off x="1767781" y="1623078"/>
            <a:ext cx="61019" cy="53322"/>
          </a:xfrm>
          <a:prstGeom prst="ellips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Flussdiagramm: Datenträger mit direktem Zugriff 369"/>
          <p:cNvSpPr/>
          <p:nvPr/>
        </p:nvSpPr>
        <p:spPr bwMode="auto">
          <a:xfrm>
            <a:off x="533400" y="1143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2" name="Gerade Verbindung mit Pfeil 1041"/>
          <p:cNvCxnSpPr>
            <a:stCxn id="113" idx="4"/>
            <a:endCxn id="118" idx="0"/>
          </p:cNvCxnSpPr>
          <p:nvPr/>
        </p:nvCxnSpPr>
        <p:spPr bwMode="auto">
          <a:xfrm>
            <a:off x="1676400" y="1094400"/>
            <a:ext cx="121891" cy="528678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45" name="Gerade Verbindung 1044"/>
          <p:cNvCxnSpPr>
            <a:stCxn id="347" idx="4"/>
            <a:endCxn id="118" idx="3"/>
          </p:cNvCxnSpPr>
          <p:nvPr/>
        </p:nvCxnSpPr>
        <p:spPr bwMode="auto">
          <a:xfrm flipV="1">
            <a:off x="1338000" y="1668591"/>
            <a:ext cx="438717" cy="41640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9" name="Flussdiagramm: Datenträger mit direktem Zugriff 378"/>
          <p:cNvSpPr/>
          <p:nvPr/>
        </p:nvSpPr>
        <p:spPr bwMode="auto">
          <a:xfrm>
            <a:off x="1767781" y="980438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Gerade Verbindung 1048"/>
          <p:cNvCxnSpPr>
            <a:stCxn id="379" idx="4"/>
            <a:endCxn id="118" idx="7"/>
          </p:cNvCxnSpPr>
          <p:nvPr/>
        </p:nvCxnSpPr>
        <p:spPr bwMode="auto">
          <a:xfrm flipH="1">
            <a:off x="1819864" y="1160438"/>
            <a:ext cx="523917" cy="47044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9" name="Gruppieren 328"/>
          <p:cNvGrpSpPr/>
          <p:nvPr/>
        </p:nvGrpSpPr>
        <p:grpSpPr>
          <a:xfrm>
            <a:off x="1181023" y="5029200"/>
            <a:ext cx="1943177" cy="838200"/>
            <a:chOff x="1176600" y="5029200"/>
            <a:chExt cx="1943177" cy="838200"/>
          </a:xfrm>
        </p:grpSpPr>
        <p:sp>
          <p:nvSpPr>
            <p:cNvPr id="133" name="Flussdiagramm: Alternativer Prozess 132"/>
            <p:cNvSpPr/>
            <p:nvPr/>
          </p:nvSpPr>
          <p:spPr bwMode="auto">
            <a:xfrm>
              <a:off x="2362200" y="518160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WCS</a:t>
              </a:r>
              <a:endParaRPr lang="en-GB" sz="1800" dirty="0"/>
            </a:p>
          </p:txBody>
        </p:sp>
        <p:sp>
          <p:nvSpPr>
            <p:cNvPr id="384" name="Flussdiagramm: Datenträger mit direktem Zugriff 383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5" name="Gerade Verbindung mit Pfeil 384"/>
            <p:cNvCxnSpPr>
              <a:stCxn id="390" idx="6"/>
              <a:endCxn id="133" idx="1"/>
            </p:cNvCxnSpPr>
            <p:nvPr/>
          </p:nvCxnSpPr>
          <p:spPr bwMode="auto">
            <a:xfrm flipV="1">
              <a:off x="1966019" y="5434761"/>
              <a:ext cx="396181" cy="21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388" name="Gerade Verbindung mit Pfeil 387"/>
            <p:cNvCxnSpPr>
              <a:stCxn id="391" idx="4"/>
              <a:endCxn id="390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0" name="Ellipse 389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Flussdiagramm: Datenträger mit direktem Zugriff 390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2" name="Gerade Verbindung mit Pfeil 391"/>
            <p:cNvCxnSpPr>
              <a:stCxn id="384" idx="4"/>
              <a:endCxn id="390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7" name="Gruppieren 396"/>
          <p:cNvGrpSpPr/>
          <p:nvPr/>
        </p:nvGrpSpPr>
        <p:grpSpPr>
          <a:xfrm>
            <a:off x="1981200" y="4572000"/>
            <a:ext cx="752706" cy="264405"/>
            <a:chOff x="477449" y="2158821"/>
            <a:chExt cx="1770451" cy="566777"/>
          </a:xfrm>
        </p:grpSpPr>
        <p:sp>
          <p:nvSpPr>
            <p:cNvPr id="398" name="Flussdiagramm: Datenträger mit direktem Zugriff 39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9" name="Flussdiagramm: Alternativer Prozess 39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0" name="Gerade Verbindung mit Pfeil 39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1" name="Gerade Verbindung mit Pfeil 40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8" name="Gruppieren 327"/>
          <p:cNvGrpSpPr/>
          <p:nvPr/>
        </p:nvGrpSpPr>
        <p:grpSpPr>
          <a:xfrm>
            <a:off x="407145" y="4545863"/>
            <a:ext cx="1207646" cy="605462"/>
            <a:chOff x="240154" y="4574069"/>
            <a:chExt cx="1207646" cy="605462"/>
          </a:xfrm>
        </p:grpSpPr>
        <p:sp>
          <p:nvSpPr>
            <p:cNvPr id="169" name="Flussdiagramm: Alternativer Prozess 168"/>
            <p:cNvSpPr/>
            <p:nvPr/>
          </p:nvSpPr>
          <p:spPr bwMode="auto">
            <a:xfrm>
              <a:off x="1130107" y="4693385"/>
              <a:ext cx="317693" cy="215775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2" name="Gerade Verbindung mit Pfeil 401"/>
            <p:cNvCxnSpPr>
              <a:stCxn id="409" idx="6"/>
              <a:endCxn id="169" idx="1"/>
            </p:cNvCxnSpPr>
            <p:nvPr/>
          </p:nvCxnSpPr>
          <p:spPr bwMode="auto">
            <a:xfrm flipV="1">
              <a:off x="873169" y="4801273"/>
              <a:ext cx="256938" cy="151444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03" name="Flussdiagramm: Datenträger mit direktem Zugriff 402"/>
            <p:cNvSpPr/>
            <p:nvPr/>
          </p:nvSpPr>
          <p:spPr bwMode="auto">
            <a:xfrm>
              <a:off x="240154" y="47244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4" name="Flussdiagramm: Datenträger mit direktem Zugriff 403"/>
            <p:cNvSpPr/>
            <p:nvPr/>
          </p:nvSpPr>
          <p:spPr bwMode="auto">
            <a:xfrm>
              <a:off x="457200" y="49530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Gerade Verbindung mit Pfeil 404"/>
            <p:cNvCxnSpPr>
              <a:stCxn id="407" idx="4"/>
              <a:endCxn id="409" idx="4"/>
            </p:cNvCxnSpPr>
            <p:nvPr/>
          </p:nvCxnSpPr>
          <p:spPr bwMode="auto">
            <a:xfrm>
              <a:off x="821400" y="4687335"/>
              <a:ext cx="28910" cy="242523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6" name="Gerade Verbindung mit Pfeil 405"/>
            <p:cNvCxnSpPr>
              <a:stCxn id="403" idx="4"/>
              <a:endCxn id="409" idx="2"/>
            </p:cNvCxnSpPr>
            <p:nvPr/>
          </p:nvCxnSpPr>
          <p:spPr bwMode="auto">
            <a:xfrm>
              <a:off x="528154" y="4837666"/>
              <a:ext cx="299296" cy="11505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7" name="Flussdiagramm: Datenträger mit direktem Zugriff 406"/>
            <p:cNvSpPr/>
            <p:nvPr/>
          </p:nvSpPr>
          <p:spPr bwMode="auto">
            <a:xfrm>
              <a:off x="533400" y="4574069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8" name="Gerade Verbindung 407"/>
            <p:cNvCxnSpPr>
              <a:stCxn id="404" idx="4"/>
              <a:endCxn id="409" idx="1"/>
            </p:cNvCxnSpPr>
            <p:nvPr/>
          </p:nvCxnSpPr>
          <p:spPr bwMode="auto">
            <a:xfrm flipV="1">
              <a:off x="745200" y="4968882"/>
              <a:ext cx="88945" cy="97384"/>
            </a:xfrm>
            <a:prstGeom prst="line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9" name="Ellipse 408"/>
            <p:cNvSpPr/>
            <p:nvPr/>
          </p:nvSpPr>
          <p:spPr bwMode="auto">
            <a:xfrm flipV="1">
              <a:off x="827450" y="4929858"/>
              <a:ext cx="45719" cy="45719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6" name="Gruppieren 425"/>
          <p:cNvGrpSpPr/>
          <p:nvPr/>
        </p:nvGrpSpPr>
        <p:grpSpPr>
          <a:xfrm flipH="1">
            <a:off x="7848600" y="5966073"/>
            <a:ext cx="1072986" cy="434727"/>
            <a:chOff x="1176600" y="5029200"/>
            <a:chExt cx="1877436" cy="838200"/>
          </a:xfrm>
        </p:grpSpPr>
        <p:sp>
          <p:nvSpPr>
            <p:cNvPr id="427" name="Flussdiagramm: Alternativer Prozess 426"/>
            <p:cNvSpPr/>
            <p:nvPr/>
          </p:nvSpPr>
          <p:spPr bwMode="auto">
            <a:xfrm>
              <a:off x="2427939" y="5181599"/>
              <a:ext cx="62609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sp>
          <p:nvSpPr>
            <p:cNvPr id="428" name="Flussdiagramm: Datenträger mit direktem Zugriff 427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9" name="Gerade Verbindung mit Pfeil 428"/>
            <p:cNvCxnSpPr>
              <a:stCxn id="431" idx="6"/>
              <a:endCxn id="427" idx="1"/>
            </p:cNvCxnSpPr>
            <p:nvPr/>
          </p:nvCxnSpPr>
          <p:spPr bwMode="auto">
            <a:xfrm flipV="1">
              <a:off x="1966019" y="5434760"/>
              <a:ext cx="461920" cy="2102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430" name="Gerade Verbindung mit Pfeil 429"/>
            <p:cNvCxnSpPr>
              <a:stCxn id="432" idx="4"/>
              <a:endCxn id="431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1" name="Ellipse 430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Flussdiagramm: Datenträger mit direktem Zugriff 431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3" name="Gerade Verbindung mit Pfeil 432"/>
            <p:cNvCxnSpPr>
              <a:stCxn id="428" idx="4"/>
              <a:endCxn id="431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sp>
        <p:nvSpPr>
          <p:cNvPr id="498" name="Flussdiagramm: Datenträger mit direktem Zugriff 497"/>
          <p:cNvSpPr/>
          <p:nvPr/>
        </p:nvSpPr>
        <p:spPr bwMode="auto">
          <a:xfrm flipH="1">
            <a:off x="8682889" y="4419600"/>
            <a:ext cx="308711" cy="244576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499" name="Gerade Verbindung mit Pfeil 498"/>
          <p:cNvCxnSpPr>
            <a:stCxn id="498" idx="4"/>
            <a:endCxn id="149" idx="1"/>
          </p:cNvCxnSpPr>
          <p:nvPr/>
        </p:nvCxnSpPr>
        <p:spPr bwMode="auto">
          <a:xfrm flipH="1">
            <a:off x="8544142" y="4541888"/>
            <a:ext cx="138747" cy="417721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00" name="Flussdiagramm: Datenträger mit direktem Zugriff 499"/>
          <p:cNvSpPr/>
          <p:nvPr/>
        </p:nvSpPr>
        <p:spPr bwMode="auto">
          <a:xfrm flipH="1">
            <a:off x="8763000" y="5013224"/>
            <a:ext cx="308711" cy="244576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1" name="Gerade Verbindung mit Pfeil 500"/>
          <p:cNvCxnSpPr>
            <a:stCxn id="149" idx="1"/>
            <a:endCxn id="500" idx="4"/>
          </p:cNvCxnSpPr>
          <p:nvPr/>
        </p:nvCxnSpPr>
        <p:spPr bwMode="auto">
          <a:xfrm>
            <a:off x="8544142" y="4959609"/>
            <a:ext cx="218858" cy="175903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504" name="Flussdiagramm: Datenträger mit direktem Zugriff 503"/>
          <p:cNvSpPr/>
          <p:nvPr/>
        </p:nvSpPr>
        <p:spPr bwMode="auto">
          <a:xfrm flipH="1">
            <a:off x="8448458" y="5470424"/>
            <a:ext cx="308711" cy="244576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5" name="Gerade Verbindung mit Pfeil 504"/>
          <p:cNvCxnSpPr>
            <a:stCxn id="146" idx="1"/>
            <a:endCxn id="504" idx="4"/>
          </p:cNvCxnSpPr>
          <p:nvPr/>
        </p:nvCxnSpPr>
        <p:spPr bwMode="auto">
          <a:xfrm>
            <a:off x="8198478" y="5279212"/>
            <a:ext cx="249980" cy="313500"/>
          </a:xfrm>
          <a:prstGeom prst="straightConnector1">
            <a:avLst/>
          </a:prstGeom>
          <a:noFill/>
          <a:ln w="127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/>
          </a:ln>
          <a:effectLst/>
        </p:spPr>
      </p:cxnSp>
      <p:grpSp>
        <p:nvGrpSpPr>
          <p:cNvPr id="240" name="Gruppieren 239"/>
          <p:cNvGrpSpPr/>
          <p:nvPr/>
        </p:nvGrpSpPr>
        <p:grpSpPr>
          <a:xfrm>
            <a:off x="3017326" y="6172200"/>
            <a:ext cx="792674" cy="264405"/>
            <a:chOff x="477449" y="2158821"/>
            <a:chExt cx="1770451" cy="566777"/>
          </a:xfrm>
        </p:grpSpPr>
        <p:sp>
          <p:nvSpPr>
            <p:cNvPr id="241" name="Flussdiagramm: Datenträger mit direktem Zugriff 240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" name="Flussdiagramm: Alternativer Prozess 241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3" name="Gerade Verbindung mit Pfeil 242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4" name="Gerade Verbindung mit Pfeil 243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6" name="Gerade Verbindung mit Pfeil 5"/>
          <p:cNvCxnSpPr>
            <a:stCxn id="48" idx="0"/>
          </p:cNvCxnSpPr>
          <p:nvPr/>
        </p:nvCxnSpPr>
        <p:spPr bwMode="auto">
          <a:xfrm flipH="1" flipV="1">
            <a:off x="4876799" y="2326530"/>
            <a:ext cx="17480" cy="34046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Gerade Verbindung mit Pfeil 7"/>
          <p:cNvCxnSpPr>
            <a:stCxn id="43" idx="0"/>
          </p:cNvCxnSpPr>
          <p:nvPr/>
        </p:nvCxnSpPr>
        <p:spPr bwMode="auto">
          <a:xfrm flipV="1">
            <a:off x="5641672" y="2822798"/>
            <a:ext cx="462137" cy="247835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Gerade Verbindung mit Pfeil 9"/>
          <p:cNvCxnSpPr>
            <a:stCxn id="76" idx="0"/>
          </p:cNvCxnSpPr>
          <p:nvPr/>
        </p:nvCxnSpPr>
        <p:spPr bwMode="auto">
          <a:xfrm flipH="1" flipV="1">
            <a:off x="2827277" y="2609424"/>
            <a:ext cx="372192" cy="51588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Gerade Verbindung mit Pfeil 11"/>
          <p:cNvCxnSpPr>
            <a:stCxn id="54" idx="0"/>
          </p:cNvCxnSpPr>
          <p:nvPr/>
        </p:nvCxnSpPr>
        <p:spPr bwMode="auto">
          <a:xfrm flipH="1" flipV="1">
            <a:off x="3869713" y="2169405"/>
            <a:ext cx="92911" cy="49759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Gerade Verbindung mit Pfeil 13"/>
          <p:cNvCxnSpPr>
            <a:stCxn id="40" idx="3"/>
          </p:cNvCxnSpPr>
          <p:nvPr/>
        </p:nvCxnSpPr>
        <p:spPr bwMode="auto">
          <a:xfrm flipV="1">
            <a:off x="6086150" y="3704047"/>
            <a:ext cx="341929" cy="74791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Gerade Verbindung mit Pfeil 19"/>
          <p:cNvCxnSpPr>
            <a:stCxn id="64" idx="3"/>
          </p:cNvCxnSpPr>
          <p:nvPr/>
        </p:nvCxnSpPr>
        <p:spPr bwMode="auto">
          <a:xfrm>
            <a:off x="5645597" y="4308189"/>
            <a:ext cx="335441" cy="249312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Gerade Verbindung mit Pfeil 21"/>
          <p:cNvCxnSpPr>
            <a:stCxn id="58" idx="2"/>
          </p:cNvCxnSpPr>
          <p:nvPr/>
        </p:nvCxnSpPr>
        <p:spPr bwMode="auto">
          <a:xfrm>
            <a:off x="4644947" y="4766721"/>
            <a:ext cx="231852" cy="26247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Gerade Verbindung mit Pfeil 24"/>
          <p:cNvCxnSpPr>
            <a:stCxn id="82" idx="1"/>
          </p:cNvCxnSpPr>
          <p:nvPr/>
        </p:nvCxnSpPr>
        <p:spPr bwMode="auto">
          <a:xfrm flipH="1">
            <a:off x="2978607" y="4452091"/>
            <a:ext cx="558015" cy="507518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Gerade Verbindung mit Pfeil 34"/>
          <p:cNvCxnSpPr>
            <a:stCxn id="86" idx="2"/>
          </p:cNvCxnSpPr>
          <p:nvPr/>
        </p:nvCxnSpPr>
        <p:spPr bwMode="auto">
          <a:xfrm>
            <a:off x="2512389" y="2123208"/>
            <a:ext cx="314888" cy="48621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Gerade Verbindung mit Pfeil 36"/>
          <p:cNvCxnSpPr>
            <a:stCxn id="258" idx="2"/>
          </p:cNvCxnSpPr>
          <p:nvPr/>
        </p:nvCxnSpPr>
        <p:spPr bwMode="auto">
          <a:xfrm>
            <a:off x="3792212" y="1879170"/>
            <a:ext cx="77501" cy="29023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Gerade Verbindung mit Pfeil 44"/>
          <p:cNvCxnSpPr>
            <a:stCxn id="158" idx="2"/>
          </p:cNvCxnSpPr>
          <p:nvPr/>
        </p:nvCxnSpPr>
        <p:spPr bwMode="auto">
          <a:xfrm>
            <a:off x="4848384" y="1527149"/>
            <a:ext cx="28415" cy="811704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Gerade Verbindung mit Pfeil 49"/>
          <p:cNvCxnSpPr>
            <a:stCxn id="469" idx="3"/>
          </p:cNvCxnSpPr>
          <p:nvPr/>
        </p:nvCxnSpPr>
        <p:spPr bwMode="auto">
          <a:xfrm flipH="1">
            <a:off x="6048215" y="2612212"/>
            <a:ext cx="477706" cy="18165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2" name="Gerade Verbindung mit Pfeil 51"/>
          <p:cNvCxnSpPr>
            <a:stCxn id="448" idx="3"/>
          </p:cNvCxnSpPr>
          <p:nvPr/>
        </p:nvCxnSpPr>
        <p:spPr bwMode="auto">
          <a:xfrm flipH="1">
            <a:off x="6422486" y="3537475"/>
            <a:ext cx="387921" cy="166572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65" name="Gerade Verbindung mit Pfeil 64"/>
          <p:cNvCxnSpPr>
            <a:stCxn id="461" idx="3"/>
          </p:cNvCxnSpPr>
          <p:nvPr/>
        </p:nvCxnSpPr>
        <p:spPr bwMode="auto">
          <a:xfrm flipH="1" flipV="1">
            <a:off x="5981038" y="4532783"/>
            <a:ext cx="461168" cy="33708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Gerade Verbindung mit Pfeil 77"/>
          <p:cNvCxnSpPr>
            <a:stCxn id="96" idx="0"/>
          </p:cNvCxnSpPr>
          <p:nvPr/>
        </p:nvCxnSpPr>
        <p:spPr bwMode="auto">
          <a:xfrm flipH="1" flipV="1">
            <a:off x="4876799" y="5029200"/>
            <a:ext cx="151264" cy="182628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5" name="Gerade Verbindung mit Pfeil 84"/>
          <p:cNvCxnSpPr>
            <a:stCxn id="133" idx="0"/>
          </p:cNvCxnSpPr>
          <p:nvPr/>
        </p:nvCxnSpPr>
        <p:spPr bwMode="auto">
          <a:xfrm flipV="1">
            <a:off x="2745412" y="4952838"/>
            <a:ext cx="233195" cy="228762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Gerade Verbindung mit Pfeil 104"/>
          <p:cNvCxnSpPr>
            <a:stCxn id="101" idx="3"/>
          </p:cNvCxnSpPr>
          <p:nvPr/>
        </p:nvCxnSpPr>
        <p:spPr bwMode="auto">
          <a:xfrm flipV="1">
            <a:off x="2098953" y="4032628"/>
            <a:ext cx="272987" cy="39123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5" name="Gerade Verbindung mit Pfeil 314"/>
          <p:cNvCxnSpPr>
            <a:stCxn id="73" idx="1"/>
          </p:cNvCxnSpPr>
          <p:nvPr/>
        </p:nvCxnSpPr>
        <p:spPr bwMode="auto">
          <a:xfrm flipH="1">
            <a:off x="2371940" y="3945724"/>
            <a:ext cx="412551" cy="86904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5" name="Ellipse 394"/>
          <p:cNvSpPr/>
          <p:nvPr/>
        </p:nvSpPr>
        <p:spPr bwMode="auto">
          <a:xfrm>
            <a:off x="2310095" y="2133600"/>
            <a:ext cx="4112391" cy="2933619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96" name="Grafik 39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654" y="2394596"/>
            <a:ext cx="382323" cy="428202"/>
          </a:xfrm>
          <a:prstGeom prst="rect">
            <a:avLst/>
          </a:prstGeom>
        </p:spPr>
      </p:pic>
      <p:pic>
        <p:nvPicPr>
          <p:cNvPr id="410" name="Grafik 40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898" y="4829598"/>
            <a:ext cx="382323" cy="428202"/>
          </a:xfrm>
          <a:prstGeom prst="rect">
            <a:avLst/>
          </a:prstGeom>
        </p:spPr>
      </p:pic>
      <p:pic>
        <p:nvPicPr>
          <p:cNvPr id="411" name="Grafik 4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3038" y="4587976"/>
            <a:ext cx="382323" cy="428202"/>
          </a:xfrm>
          <a:prstGeom prst="rect">
            <a:avLst/>
          </a:prstGeom>
        </p:spPr>
      </p:pic>
      <p:pic>
        <p:nvPicPr>
          <p:cNvPr id="412" name="Grafik 4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5446" y="3796255"/>
            <a:ext cx="382323" cy="428202"/>
          </a:xfrm>
          <a:prstGeom prst="rect">
            <a:avLst/>
          </a:prstGeom>
        </p:spPr>
      </p:pic>
      <p:pic>
        <p:nvPicPr>
          <p:cNvPr id="413" name="Grafik 4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1324" y="3450223"/>
            <a:ext cx="382323" cy="428202"/>
          </a:xfrm>
          <a:prstGeom prst="rect">
            <a:avLst/>
          </a:prstGeom>
        </p:spPr>
      </p:pic>
      <p:pic>
        <p:nvPicPr>
          <p:cNvPr id="414" name="Grafik 413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3797" y="2485593"/>
            <a:ext cx="420556" cy="471024"/>
          </a:xfrm>
          <a:prstGeom prst="rect">
            <a:avLst/>
          </a:prstGeom>
        </p:spPr>
      </p:pic>
      <p:pic>
        <p:nvPicPr>
          <p:cNvPr id="415" name="Grafik 41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5637" y="1981200"/>
            <a:ext cx="382323" cy="428202"/>
          </a:xfrm>
          <a:prstGeom prst="rect">
            <a:avLst/>
          </a:prstGeom>
        </p:spPr>
      </p:pic>
      <p:pic>
        <p:nvPicPr>
          <p:cNvPr id="416" name="Grafik 4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8551" y="2010198"/>
            <a:ext cx="382323" cy="428202"/>
          </a:xfrm>
          <a:prstGeom prst="rect">
            <a:avLst/>
          </a:prstGeom>
        </p:spPr>
      </p:pic>
      <p:pic>
        <p:nvPicPr>
          <p:cNvPr id="417" name="Grafik 41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9877" y="4343400"/>
            <a:ext cx="382323" cy="428202"/>
          </a:xfrm>
          <a:prstGeom prst="rect">
            <a:avLst/>
          </a:prstGeom>
        </p:spPr>
      </p:pic>
      <p:grpSp>
        <p:nvGrpSpPr>
          <p:cNvPr id="418" name="Gruppieren 417"/>
          <p:cNvGrpSpPr/>
          <p:nvPr/>
        </p:nvGrpSpPr>
        <p:grpSpPr>
          <a:xfrm flipH="1">
            <a:off x="5791200" y="1792995"/>
            <a:ext cx="732377" cy="264405"/>
            <a:chOff x="477449" y="2158821"/>
            <a:chExt cx="1770451" cy="566777"/>
          </a:xfrm>
        </p:grpSpPr>
        <p:sp>
          <p:nvSpPr>
            <p:cNvPr id="419" name="Flussdiagramm: Datenträger mit direktem Zugriff 41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5" name="Flussdiagramm: Alternativer Prozess 42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39" name="Gerade Verbindung mit Pfeil 43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40" name="Gerade Verbindung mit Pfeil 43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41" name="Gruppieren 440"/>
          <p:cNvGrpSpPr/>
          <p:nvPr/>
        </p:nvGrpSpPr>
        <p:grpSpPr>
          <a:xfrm flipH="1">
            <a:off x="7078456" y="4027843"/>
            <a:ext cx="732377" cy="264405"/>
            <a:chOff x="477449" y="2158821"/>
            <a:chExt cx="1770451" cy="566777"/>
          </a:xfrm>
        </p:grpSpPr>
        <p:sp>
          <p:nvSpPr>
            <p:cNvPr id="442" name="Flussdiagramm: Datenträger mit direktem Zugriff 44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3" name="Flussdiagramm: Alternativer Prozess 44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44" name="Gerade Verbindung mit Pfeil 44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45" name="Gerade Verbindung mit Pfeil 44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46" name="Gruppieren 445"/>
          <p:cNvGrpSpPr/>
          <p:nvPr/>
        </p:nvGrpSpPr>
        <p:grpSpPr>
          <a:xfrm flipH="1">
            <a:off x="6810407" y="3137270"/>
            <a:ext cx="2181193" cy="697134"/>
            <a:chOff x="1080057" y="5069506"/>
            <a:chExt cx="2083305" cy="697134"/>
          </a:xfrm>
        </p:grpSpPr>
        <p:sp>
          <p:nvSpPr>
            <p:cNvPr id="447" name="Flussdiagramm: Datenträger mit direktem Zugriff 446"/>
            <p:cNvSpPr/>
            <p:nvPr/>
          </p:nvSpPr>
          <p:spPr bwMode="auto">
            <a:xfrm>
              <a:off x="1465480" y="5069506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8" name="Flussdiagramm: Alternativer Prozess 447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449" name="Gerade Verbindung mit Pfeil 448"/>
            <p:cNvCxnSpPr>
              <a:endCxn id="448" idx="1"/>
            </p:cNvCxnSpPr>
            <p:nvPr/>
          </p:nvCxnSpPr>
          <p:spPr bwMode="auto">
            <a:xfrm>
              <a:off x="2119046" y="5329670"/>
              <a:ext cx="286739" cy="14004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50" name="Flussdiagramm: Datenträger mit direktem Zugriff 449"/>
            <p:cNvSpPr/>
            <p:nvPr/>
          </p:nvSpPr>
          <p:spPr bwMode="auto">
            <a:xfrm>
              <a:off x="1080057" y="519986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1" name="Gerade Verbindung mit Pfeil 450"/>
            <p:cNvCxnSpPr>
              <a:stCxn id="448" idx="1"/>
            </p:cNvCxnSpPr>
            <p:nvPr/>
          </p:nvCxnSpPr>
          <p:spPr bwMode="auto">
            <a:xfrm flipH="1" flipV="1">
              <a:off x="1716341" y="5469710"/>
              <a:ext cx="68944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452" name="Gruppieren 451"/>
          <p:cNvGrpSpPr/>
          <p:nvPr/>
        </p:nvGrpSpPr>
        <p:grpSpPr>
          <a:xfrm>
            <a:off x="6442206" y="4343400"/>
            <a:ext cx="2629505" cy="1295400"/>
            <a:chOff x="6442206" y="4191000"/>
            <a:chExt cx="2629505" cy="1295400"/>
          </a:xfrm>
        </p:grpSpPr>
        <p:grpSp>
          <p:nvGrpSpPr>
            <p:cNvPr id="453" name="Gruppieren 452"/>
            <p:cNvGrpSpPr/>
            <p:nvPr/>
          </p:nvGrpSpPr>
          <p:grpSpPr>
            <a:xfrm flipH="1">
              <a:off x="6442206" y="4317263"/>
              <a:ext cx="2101936" cy="1016737"/>
              <a:chOff x="609600" y="1469843"/>
              <a:chExt cx="2083305" cy="1016737"/>
            </a:xfrm>
          </p:grpSpPr>
          <p:sp>
            <p:nvSpPr>
              <p:cNvPr id="460" name="Flussdiagramm: Datenträger mit direktem Zugriff 459"/>
              <p:cNvSpPr/>
              <p:nvPr/>
            </p:nvSpPr>
            <p:spPr bwMode="auto">
              <a:xfrm>
                <a:off x="995023" y="146984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1" name="Flussdiagramm: Alternativer Prozess 460"/>
              <p:cNvSpPr/>
              <p:nvPr/>
            </p:nvSpPr>
            <p:spPr bwMode="auto">
              <a:xfrm>
                <a:off x="1935328" y="1616887"/>
                <a:ext cx="757577" cy="506321"/>
              </a:xfrm>
              <a:prstGeom prst="flowChartAlternateProcess">
                <a:avLst/>
              </a:prstGeom>
              <a:noFill/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rIns="0" rtlCol="0" anchor="ctr"/>
              <a:lstStyle/>
              <a:p>
                <a:pPr algn="ctr"/>
                <a:r>
                  <a:rPr lang="en-GB" sz="1800" dirty="0" smtClean="0"/>
                  <a:t>CSW</a:t>
                </a:r>
                <a:endParaRPr lang="en-GB" sz="1800" dirty="0"/>
              </a:p>
            </p:txBody>
          </p:sp>
          <p:cxnSp>
            <p:nvCxnSpPr>
              <p:cNvPr id="462" name="Gerade Verbindung mit Pfeil 461"/>
              <p:cNvCxnSpPr>
                <a:endCxn id="461" idx="1"/>
              </p:cNvCxnSpPr>
              <p:nvPr/>
            </p:nvCxnSpPr>
            <p:spPr bwMode="auto">
              <a:xfrm>
                <a:off x="1634307" y="1766214"/>
                <a:ext cx="301021" cy="10383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463" name="Flussdiagramm: Datenträger mit direktem Zugriff 462"/>
              <p:cNvSpPr/>
              <p:nvPr/>
            </p:nvSpPr>
            <p:spPr bwMode="auto">
              <a:xfrm>
                <a:off x="952200" y="191980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64" name="Gerade Verbindung mit Pfeil 463"/>
              <p:cNvCxnSpPr>
                <a:stCxn id="461" idx="1"/>
              </p:cNvCxnSpPr>
              <p:nvPr/>
            </p:nvCxnSpPr>
            <p:spPr bwMode="auto">
              <a:xfrm flipH="1">
                <a:off x="1578422" y="1870048"/>
                <a:ext cx="356906" cy="406826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465" name="Flussdiagramm: Datenträger mit direktem Zugriff 464"/>
              <p:cNvSpPr/>
              <p:nvPr/>
            </p:nvSpPr>
            <p:spPr bwMode="auto">
              <a:xfrm>
                <a:off x="609600" y="1600200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66" name="Gerade Verbindung mit Pfeil 465"/>
              <p:cNvCxnSpPr>
                <a:stCxn id="461" idx="1"/>
              </p:cNvCxnSpPr>
              <p:nvPr/>
            </p:nvCxnSpPr>
            <p:spPr bwMode="auto">
              <a:xfrm flipH="1">
                <a:off x="1221515" y="1870048"/>
                <a:ext cx="713813" cy="13541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</p:grpSp>
        <p:sp>
          <p:nvSpPr>
            <p:cNvPr id="454" name="Flussdiagramm: Datenträger mit direktem Zugriff 453"/>
            <p:cNvSpPr/>
            <p:nvPr/>
          </p:nvSpPr>
          <p:spPr bwMode="auto">
            <a:xfrm flipH="1">
              <a:off x="8682889" y="4191000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5" name="Gerade Verbindung mit Pfeil 454"/>
            <p:cNvCxnSpPr>
              <a:stCxn id="454" idx="4"/>
              <a:endCxn id="465" idx="1"/>
            </p:cNvCxnSpPr>
            <p:nvPr/>
          </p:nvCxnSpPr>
          <p:spPr bwMode="auto">
            <a:xfrm flipH="1">
              <a:off x="8544142" y="4313288"/>
              <a:ext cx="138747" cy="417721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6" name="Flussdiagramm: Datenträger mit direktem Zugriff 455"/>
            <p:cNvSpPr/>
            <p:nvPr/>
          </p:nvSpPr>
          <p:spPr bwMode="auto">
            <a:xfrm flipH="1">
              <a:off x="8763000" y="47846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7" name="Gerade Verbindung mit Pfeil 456"/>
            <p:cNvCxnSpPr>
              <a:stCxn id="465" idx="1"/>
              <a:endCxn id="456" idx="4"/>
            </p:cNvCxnSpPr>
            <p:nvPr/>
          </p:nvCxnSpPr>
          <p:spPr bwMode="auto">
            <a:xfrm>
              <a:off x="8544142" y="4731009"/>
              <a:ext cx="218858" cy="175903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58" name="Flussdiagramm: Datenträger mit direktem Zugriff 457"/>
            <p:cNvSpPr/>
            <p:nvPr/>
          </p:nvSpPr>
          <p:spPr bwMode="auto">
            <a:xfrm flipH="1">
              <a:off x="8448458" y="52418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59" name="Gerade Verbindung mit Pfeil 458"/>
            <p:cNvCxnSpPr>
              <a:stCxn id="463" idx="1"/>
              <a:endCxn id="458" idx="4"/>
            </p:cNvCxnSpPr>
            <p:nvPr/>
          </p:nvCxnSpPr>
          <p:spPr bwMode="auto">
            <a:xfrm>
              <a:off x="8198478" y="5050612"/>
              <a:ext cx="249980" cy="31350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67" name="Gruppieren 466"/>
          <p:cNvGrpSpPr/>
          <p:nvPr/>
        </p:nvGrpSpPr>
        <p:grpSpPr>
          <a:xfrm flipH="1">
            <a:off x="6525921" y="2328823"/>
            <a:ext cx="1779879" cy="566777"/>
            <a:chOff x="477449" y="2158821"/>
            <a:chExt cx="1770451" cy="566777"/>
          </a:xfrm>
        </p:grpSpPr>
        <p:sp>
          <p:nvSpPr>
            <p:cNvPr id="468" name="Flussdiagramm: Datenträger mit direktem Zugriff 46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9" name="Flussdiagramm: Alternativer Prozess 46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SOS</a:t>
              </a:r>
              <a:endParaRPr lang="en-GB" sz="1800" dirty="0"/>
            </a:p>
          </p:txBody>
        </p:sp>
        <p:cxnSp>
          <p:nvCxnSpPr>
            <p:cNvPr id="470" name="Gerade Verbindung mit Pfeil 469"/>
            <p:cNvCxnSpPr/>
            <p:nvPr/>
          </p:nvCxnSpPr>
          <p:spPr bwMode="auto">
            <a:xfrm flipH="1">
              <a:off x="1096653" y="2327909"/>
              <a:ext cx="39626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71" name="Gerade Verbindung mit Pfeil 47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056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Semantic interoperability of Web services</a:t>
            </a: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24" name="Gruppieren 23"/>
          <p:cNvGrpSpPr/>
          <p:nvPr/>
        </p:nvGrpSpPr>
        <p:grpSpPr>
          <a:xfrm>
            <a:off x="2746945" y="2666999"/>
            <a:ext cx="3377130" cy="2209801"/>
            <a:chOff x="2498735" y="2529794"/>
            <a:chExt cx="3734837" cy="2426593"/>
          </a:xfrm>
        </p:grpSpPr>
        <p:sp>
          <p:nvSpPr>
            <p:cNvPr id="17" name="Wolke 16"/>
            <p:cNvSpPr/>
            <p:nvPr/>
          </p:nvSpPr>
          <p:spPr bwMode="auto">
            <a:xfrm>
              <a:off x="2653218" y="2737037"/>
              <a:ext cx="3242864" cy="1957297"/>
            </a:xfrm>
            <a:prstGeom prst="cloud">
              <a:avLst/>
            </a:prstGeom>
            <a:noFill/>
            <a:ln w="190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2400" dirty="0" smtClean="0"/>
                <a:t> </a:t>
              </a:r>
              <a:r>
                <a:rPr lang="en-GB" sz="2400" dirty="0" smtClean="0">
                  <a:solidFill>
                    <a:srgbClr val="002060"/>
                  </a:solidFill>
                </a:rPr>
                <a:t>Referencing the same !!!</a:t>
              </a:r>
              <a:endParaRPr lang="en-GB" sz="2400" dirty="0">
                <a:solidFill>
                  <a:srgbClr val="002060"/>
                </a:solidFill>
              </a:endParaRPr>
            </a:p>
          </p:txBody>
        </p:sp>
        <p:grpSp>
          <p:nvGrpSpPr>
            <p:cNvPr id="38" name="Gruppieren 37"/>
            <p:cNvGrpSpPr/>
            <p:nvPr/>
          </p:nvGrpSpPr>
          <p:grpSpPr>
            <a:xfrm>
              <a:off x="5721172" y="3611394"/>
              <a:ext cx="512400" cy="385943"/>
              <a:chOff x="1352011" y="4568240"/>
              <a:chExt cx="2381250" cy="2381250"/>
            </a:xfrm>
          </p:grpSpPr>
          <p:pic>
            <p:nvPicPr>
              <p:cNvPr id="39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2011" y="456824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Abgerundetes Rechteck 39"/>
              <p:cNvSpPr/>
              <p:nvPr/>
            </p:nvSpPr>
            <p:spPr bwMode="auto">
              <a:xfrm>
                <a:off x="1544977" y="4651951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uppieren 40"/>
            <p:cNvGrpSpPr/>
            <p:nvPr/>
          </p:nvGrpSpPr>
          <p:grpSpPr>
            <a:xfrm>
              <a:off x="5444082" y="2957897"/>
              <a:ext cx="512400" cy="385943"/>
              <a:chOff x="497898" y="3080237"/>
              <a:chExt cx="2381251" cy="2381250"/>
            </a:xfrm>
          </p:grpSpPr>
          <p:pic>
            <p:nvPicPr>
              <p:cNvPr id="4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98" y="3080237"/>
                <a:ext cx="2381251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Abgerundetes Rechteck 42"/>
              <p:cNvSpPr/>
              <p:nvPr/>
            </p:nvSpPr>
            <p:spPr bwMode="auto">
              <a:xfrm>
                <a:off x="690865" y="3173586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uppieren 46"/>
            <p:cNvGrpSpPr/>
            <p:nvPr/>
          </p:nvGrpSpPr>
          <p:grpSpPr>
            <a:xfrm>
              <a:off x="4617316" y="2529794"/>
              <a:ext cx="512400" cy="385943"/>
              <a:chOff x="1118457" y="3085316"/>
              <a:chExt cx="2381250" cy="2381250"/>
            </a:xfrm>
          </p:grpSpPr>
          <p:pic>
            <p:nvPicPr>
              <p:cNvPr id="48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457" y="3085316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Abgerundetes Rechteck 48"/>
              <p:cNvSpPr/>
              <p:nvPr/>
            </p:nvSpPr>
            <p:spPr bwMode="auto">
              <a:xfrm>
                <a:off x="1211754" y="3239561"/>
                <a:ext cx="2192703" cy="1410661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3" name="Gruppieren 52"/>
            <p:cNvGrpSpPr/>
            <p:nvPr/>
          </p:nvGrpSpPr>
          <p:grpSpPr>
            <a:xfrm>
              <a:off x="3586980" y="2529794"/>
              <a:ext cx="512400" cy="385943"/>
              <a:chOff x="1204628" y="2903841"/>
              <a:chExt cx="2381250" cy="2381250"/>
            </a:xfrm>
          </p:grpSpPr>
          <p:pic>
            <p:nvPicPr>
              <p:cNvPr id="54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4628" y="2903841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Abgerundetes Rechteck 54"/>
              <p:cNvSpPr/>
              <p:nvPr/>
            </p:nvSpPr>
            <p:spPr bwMode="auto">
              <a:xfrm>
                <a:off x="1397595" y="2987549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4341785" y="4570444"/>
              <a:ext cx="512400" cy="385943"/>
              <a:chOff x="1598990" y="3986255"/>
              <a:chExt cx="2381250" cy="2381250"/>
            </a:xfrm>
          </p:grpSpPr>
          <p:pic>
            <p:nvPicPr>
              <p:cNvPr id="57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8990" y="3986255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Abgerundetes Rechteck 57"/>
              <p:cNvSpPr/>
              <p:nvPr/>
            </p:nvSpPr>
            <p:spPr bwMode="auto">
              <a:xfrm>
                <a:off x="1791958" y="4069970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2" name="Gruppieren 61"/>
            <p:cNvGrpSpPr/>
            <p:nvPr/>
          </p:nvGrpSpPr>
          <p:grpSpPr>
            <a:xfrm>
              <a:off x="5233956" y="4192677"/>
              <a:ext cx="512400" cy="385943"/>
              <a:chOff x="601887" y="3469967"/>
              <a:chExt cx="2381250" cy="2381250"/>
            </a:xfrm>
          </p:grpSpPr>
          <p:pic>
            <p:nvPicPr>
              <p:cNvPr id="63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887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Abgerundetes Rechteck 63"/>
              <p:cNvSpPr/>
              <p:nvPr/>
            </p:nvSpPr>
            <p:spPr bwMode="auto">
              <a:xfrm>
                <a:off x="794853" y="3553678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2498735" y="3794653"/>
              <a:ext cx="512400" cy="385943"/>
              <a:chOff x="638951" y="4628190"/>
              <a:chExt cx="2381250" cy="2381250"/>
            </a:xfrm>
          </p:grpSpPr>
          <p:pic>
            <p:nvPicPr>
              <p:cNvPr id="7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951" y="462819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Abgerundetes Rechteck 72"/>
              <p:cNvSpPr/>
              <p:nvPr/>
            </p:nvSpPr>
            <p:spPr bwMode="auto">
              <a:xfrm>
                <a:off x="831918" y="471189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2743200" y="3019498"/>
              <a:ext cx="512400" cy="385943"/>
              <a:chOff x="1066800" y="2269713"/>
              <a:chExt cx="2381250" cy="2381250"/>
            </a:xfrm>
          </p:grpSpPr>
          <p:pic>
            <p:nvPicPr>
              <p:cNvPr id="75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800" y="2269713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Abgerundetes Rechteck 75"/>
              <p:cNvSpPr/>
              <p:nvPr/>
            </p:nvSpPr>
            <p:spPr bwMode="auto">
              <a:xfrm>
                <a:off x="1259766" y="2353424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uppieren 79"/>
            <p:cNvGrpSpPr/>
            <p:nvPr/>
          </p:nvGrpSpPr>
          <p:grpSpPr>
            <a:xfrm>
              <a:off x="3330532" y="4350696"/>
              <a:ext cx="512400" cy="385943"/>
              <a:chOff x="2025679" y="3469967"/>
              <a:chExt cx="2381250" cy="2381250"/>
            </a:xfrm>
          </p:grpSpPr>
          <p:pic>
            <p:nvPicPr>
              <p:cNvPr id="81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5679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Abgerundetes Rechteck 81"/>
              <p:cNvSpPr/>
              <p:nvPr/>
            </p:nvSpPr>
            <p:spPr bwMode="auto">
              <a:xfrm>
                <a:off x="2218647" y="3553682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4" name="Gruppieren 93"/>
          <p:cNvGrpSpPr/>
          <p:nvPr/>
        </p:nvGrpSpPr>
        <p:grpSpPr>
          <a:xfrm flipH="1">
            <a:off x="4648200" y="5181600"/>
            <a:ext cx="1779879" cy="566777"/>
            <a:chOff x="477449" y="2158821"/>
            <a:chExt cx="1770451" cy="566777"/>
          </a:xfrm>
        </p:grpSpPr>
        <p:sp>
          <p:nvSpPr>
            <p:cNvPr id="95" name="Flussdiagramm: Datenträger mit direktem Zugriff 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Flussdiagramm: Alternativer Prozess 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97" name="Gerade Verbindung mit Pfeil 9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8" name="Gerade Verbindung mit Pfeil 9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99" name="Gruppieren 98"/>
          <p:cNvGrpSpPr/>
          <p:nvPr/>
        </p:nvGrpSpPr>
        <p:grpSpPr>
          <a:xfrm>
            <a:off x="324111" y="3788362"/>
            <a:ext cx="1774842" cy="566777"/>
            <a:chOff x="477449" y="2158821"/>
            <a:chExt cx="1770451" cy="566777"/>
          </a:xfrm>
        </p:grpSpPr>
        <p:sp>
          <p:nvSpPr>
            <p:cNvPr id="100" name="Flussdiagramm: Datenträger mit direktem Zugriff 9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Flussdiagramm: Alternativer Prozess 10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WFS</a:t>
              </a:r>
              <a:endParaRPr lang="en-GB" sz="1800" dirty="0"/>
            </a:p>
          </p:txBody>
        </p:sp>
        <p:cxnSp>
          <p:nvCxnSpPr>
            <p:cNvPr id="102" name="Gerade Verbindung mit Pfeil 10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3" name="Gerade Verbindung mit Pfeil 10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86" name="Flussdiagramm: Alternativer Prozess 85"/>
          <p:cNvSpPr/>
          <p:nvPr/>
        </p:nvSpPr>
        <p:spPr bwMode="auto">
          <a:xfrm>
            <a:off x="2133600" y="1616887"/>
            <a:ext cx="757577" cy="506321"/>
          </a:xfrm>
          <a:prstGeom prst="flowChartAlternateProcess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800" dirty="0" smtClean="0"/>
              <a:t>WMS</a:t>
            </a:r>
            <a:endParaRPr lang="en-GB" sz="1800" dirty="0"/>
          </a:p>
        </p:txBody>
      </p:sp>
      <p:sp>
        <p:nvSpPr>
          <p:cNvPr id="113" name="Flussdiagramm: Datenträger mit direktem Zugriff 112"/>
          <p:cNvSpPr/>
          <p:nvPr/>
        </p:nvSpPr>
        <p:spPr bwMode="auto">
          <a:xfrm>
            <a:off x="1100400" y="9144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Gerade Verbindung mit Pfeil 87"/>
          <p:cNvCxnSpPr>
            <a:stCxn id="118" idx="6"/>
            <a:endCxn id="86" idx="1"/>
          </p:cNvCxnSpPr>
          <p:nvPr/>
        </p:nvCxnSpPr>
        <p:spPr bwMode="auto">
          <a:xfrm>
            <a:off x="1828800" y="1649739"/>
            <a:ext cx="304800" cy="22030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/>
          </a:ln>
          <a:effectLst/>
        </p:spPr>
      </p:cxnSp>
      <p:grpSp>
        <p:nvGrpSpPr>
          <p:cNvPr id="123" name="Gruppieren 122"/>
          <p:cNvGrpSpPr/>
          <p:nvPr/>
        </p:nvGrpSpPr>
        <p:grpSpPr>
          <a:xfrm>
            <a:off x="381000" y="2938423"/>
            <a:ext cx="1774842" cy="566777"/>
            <a:chOff x="477449" y="2158821"/>
            <a:chExt cx="1770451" cy="566777"/>
          </a:xfrm>
        </p:grpSpPr>
        <p:sp>
          <p:nvSpPr>
            <p:cNvPr id="124" name="Flussdiagramm: Datenträger mit direktem Zugriff 12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lussdiagramm: Alternativer Prozess 12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130" name="Gerade Verbindung mit Pfeil 12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1" name="Gerade Verbindung mit Pfeil 13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56" name="Gruppieren 155"/>
          <p:cNvGrpSpPr/>
          <p:nvPr/>
        </p:nvGrpSpPr>
        <p:grpSpPr>
          <a:xfrm flipH="1">
            <a:off x="4468521" y="990600"/>
            <a:ext cx="1779879" cy="566777"/>
            <a:chOff x="477449" y="2158821"/>
            <a:chExt cx="1770451" cy="566777"/>
          </a:xfrm>
        </p:grpSpPr>
        <p:sp>
          <p:nvSpPr>
            <p:cNvPr id="157" name="Flussdiagramm: Datenträger mit direktem Zugriff 1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Flussdiagramm: Alternativer Prozess 1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600" dirty="0" smtClean="0"/>
                <a:t>WMS</a:t>
              </a:r>
              <a:endParaRPr lang="en-GB" sz="1600" dirty="0"/>
            </a:p>
          </p:txBody>
        </p:sp>
        <p:cxnSp>
          <p:nvCxnSpPr>
            <p:cNvPr id="159" name="Gerade Verbindung mit Pfeil 158"/>
            <p:cNvCxnSpPr/>
            <p:nvPr/>
          </p:nvCxnSpPr>
          <p:spPr bwMode="auto">
            <a:xfrm flipH="1" flipV="1">
              <a:off x="1084493" y="2316999"/>
              <a:ext cx="408425" cy="1091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0" name="Gerade Verbindung mit Pfeil 1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77" name="Gruppieren 176"/>
          <p:cNvGrpSpPr/>
          <p:nvPr/>
        </p:nvGrpSpPr>
        <p:grpSpPr>
          <a:xfrm>
            <a:off x="1546060" y="2215359"/>
            <a:ext cx="988201" cy="527835"/>
            <a:chOff x="1080057" y="4896613"/>
            <a:chExt cx="2425050" cy="1223197"/>
          </a:xfrm>
        </p:grpSpPr>
        <p:sp>
          <p:nvSpPr>
            <p:cNvPr id="178" name="Flussdiagramm: Datenträger mit direktem Zugriff 177"/>
            <p:cNvSpPr/>
            <p:nvPr/>
          </p:nvSpPr>
          <p:spPr bwMode="auto">
            <a:xfrm>
              <a:off x="1465480" y="4896613"/>
              <a:ext cx="757578" cy="515252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Flussdiagramm: Alternativer Prozess 178"/>
            <p:cNvSpPr/>
            <p:nvPr/>
          </p:nvSpPr>
          <p:spPr bwMode="auto">
            <a:xfrm>
              <a:off x="2671771" y="5216549"/>
              <a:ext cx="833336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85" name="Gerade Verbindung mit Pfeil 184"/>
            <p:cNvCxnSpPr>
              <a:stCxn id="178" idx="4"/>
              <a:endCxn id="179" idx="1"/>
            </p:cNvCxnSpPr>
            <p:nvPr/>
          </p:nvCxnSpPr>
          <p:spPr bwMode="auto">
            <a:xfrm>
              <a:off x="2223059" y="5154239"/>
              <a:ext cx="448712" cy="3154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186" name="Flussdiagramm: Datenträger mit direktem Zugriff 185"/>
            <p:cNvSpPr/>
            <p:nvPr/>
          </p:nvSpPr>
          <p:spPr bwMode="auto">
            <a:xfrm>
              <a:off x="1080057" y="5553033"/>
              <a:ext cx="757578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7" name="Gerade Verbindung mit Pfeil 186"/>
            <p:cNvCxnSpPr>
              <a:stCxn id="179" idx="1"/>
              <a:endCxn id="186" idx="4"/>
            </p:cNvCxnSpPr>
            <p:nvPr/>
          </p:nvCxnSpPr>
          <p:spPr bwMode="auto">
            <a:xfrm flipH="1">
              <a:off x="1837635" y="5469709"/>
              <a:ext cx="834136" cy="36671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188" name="Gruppieren 187"/>
          <p:cNvGrpSpPr/>
          <p:nvPr/>
        </p:nvGrpSpPr>
        <p:grpSpPr>
          <a:xfrm>
            <a:off x="533400" y="6040522"/>
            <a:ext cx="752706" cy="264405"/>
            <a:chOff x="477449" y="2158821"/>
            <a:chExt cx="1770451" cy="566777"/>
          </a:xfrm>
        </p:grpSpPr>
        <p:sp>
          <p:nvSpPr>
            <p:cNvPr id="189" name="Flussdiagramm: Datenträger mit direktem Zugriff 18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Flussdiagramm: Alternativer Prozess 18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91" name="Gerade Verbindung mit Pfeil 19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2" name="Gerade Verbindung mit Pfeil 19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98" name="Gruppieren 197"/>
          <p:cNvGrpSpPr/>
          <p:nvPr/>
        </p:nvGrpSpPr>
        <p:grpSpPr>
          <a:xfrm>
            <a:off x="2827277" y="1076033"/>
            <a:ext cx="752706" cy="264405"/>
            <a:chOff x="477449" y="2158821"/>
            <a:chExt cx="1770451" cy="566777"/>
          </a:xfrm>
        </p:grpSpPr>
        <p:sp>
          <p:nvSpPr>
            <p:cNvPr id="199" name="Flussdiagramm: Datenträger mit direktem Zugriff 19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Flussdiagramm: Alternativer Prozess 19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01" name="Gerade Verbindung mit Pfeil 20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02" name="Gerade Verbindung mit Pfeil 20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08" name="Gruppieren 207"/>
          <p:cNvGrpSpPr/>
          <p:nvPr/>
        </p:nvGrpSpPr>
        <p:grpSpPr>
          <a:xfrm flipH="1">
            <a:off x="7954423" y="1219200"/>
            <a:ext cx="732377" cy="264405"/>
            <a:chOff x="477449" y="2158821"/>
            <a:chExt cx="1770451" cy="566777"/>
          </a:xfrm>
        </p:grpSpPr>
        <p:sp>
          <p:nvSpPr>
            <p:cNvPr id="209" name="Flussdiagramm: Datenträger mit direktem Zugriff 20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Flussdiagramm: Alternativer Prozess 20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1" name="Gerade Verbindung mit Pfeil 21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2" name="Gerade Verbindung mit Pfeil 21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13" name="Gruppieren 212"/>
          <p:cNvGrpSpPr/>
          <p:nvPr/>
        </p:nvGrpSpPr>
        <p:grpSpPr>
          <a:xfrm flipH="1">
            <a:off x="5516023" y="5983995"/>
            <a:ext cx="732377" cy="264405"/>
            <a:chOff x="477449" y="2158821"/>
            <a:chExt cx="1770451" cy="566777"/>
          </a:xfrm>
        </p:grpSpPr>
        <p:sp>
          <p:nvSpPr>
            <p:cNvPr id="214" name="Flussdiagramm: Datenträger mit direktem Zugriff 21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Flussdiagramm: Alternativer Prozess 21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6" name="Gerade Verbindung mit Pfeil 215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7" name="Gerade Verbindung mit Pfeil 216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4" name="Gruppieren 223"/>
          <p:cNvGrpSpPr/>
          <p:nvPr/>
        </p:nvGrpSpPr>
        <p:grpSpPr>
          <a:xfrm flipH="1">
            <a:off x="6858000" y="5715000"/>
            <a:ext cx="732377" cy="264405"/>
            <a:chOff x="477449" y="2158821"/>
            <a:chExt cx="1770451" cy="566777"/>
          </a:xfrm>
        </p:grpSpPr>
        <p:sp>
          <p:nvSpPr>
            <p:cNvPr id="225" name="Flussdiagramm: Datenträger mit direktem Zugriff 22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6" name="Flussdiagramm: Alternativer Prozess 22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27" name="Gerade Verbindung mit Pfeil 22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8" name="Gerade Verbindung mit Pfeil 22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9" name="Gruppieren 228"/>
          <p:cNvGrpSpPr/>
          <p:nvPr/>
        </p:nvGrpSpPr>
        <p:grpSpPr>
          <a:xfrm flipH="1">
            <a:off x="6705600" y="990600"/>
            <a:ext cx="732377" cy="264405"/>
            <a:chOff x="477449" y="2158821"/>
            <a:chExt cx="1770451" cy="566777"/>
          </a:xfrm>
        </p:grpSpPr>
        <p:sp>
          <p:nvSpPr>
            <p:cNvPr id="230" name="Flussdiagramm: Datenträger mit direktem Zugriff 22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" name="Flussdiagramm: Alternativer Prozess 23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2" name="Gerade Verbindung mit Pfeil 23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3" name="Gerade Verbindung mit Pfeil 23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34" name="Gruppieren 233"/>
          <p:cNvGrpSpPr/>
          <p:nvPr/>
        </p:nvGrpSpPr>
        <p:grpSpPr>
          <a:xfrm flipH="1">
            <a:off x="6904409" y="1385097"/>
            <a:ext cx="944191" cy="519903"/>
            <a:chOff x="846317" y="4760484"/>
            <a:chExt cx="2317045" cy="1204813"/>
          </a:xfrm>
        </p:grpSpPr>
        <p:sp>
          <p:nvSpPr>
            <p:cNvPr id="235" name="Flussdiagramm: Datenträger mit direktem Zugriff 234"/>
            <p:cNvSpPr/>
            <p:nvPr/>
          </p:nvSpPr>
          <p:spPr bwMode="auto">
            <a:xfrm>
              <a:off x="1395355" y="4760484"/>
              <a:ext cx="757578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" name="Flussdiagramm: Alternativer Prozess 235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7" name="Gerade Verbindung mit Pfeil 236"/>
            <p:cNvCxnSpPr>
              <a:stCxn id="235" idx="4"/>
              <a:endCxn id="236" idx="1"/>
            </p:cNvCxnSpPr>
            <p:nvPr/>
          </p:nvCxnSpPr>
          <p:spPr bwMode="auto">
            <a:xfrm>
              <a:off x="2152933" y="5043872"/>
              <a:ext cx="252851" cy="4258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38" name="Flussdiagramm: Datenträger mit direktem Zugriff 237"/>
            <p:cNvSpPr/>
            <p:nvPr/>
          </p:nvSpPr>
          <p:spPr bwMode="auto">
            <a:xfrm>
              <a:off x="846317" y="5398521"/>
              <a:ext cx="757577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9" name="Gerade Verbindung mit Pfeil 238"/>
            <p:cNvCxnSpPr>
              <a:stCxn id="236" idx="1"/>
              <a:endCxn id="238" idx="4"/>
            </p:cNvCxnSpPr>
            <p:nvPr/>
          </p:nvCxnSpPr>
          <p:spPr bwMode="auto">
            <a:xfrm flipH="1">
              <a:off x="1603894" y="5469711"/>
              <a:ext cx="801891" cy="21219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46" name="Gruppieren 245"/>
          <p:cNvGrpSpPr/>
          <p:nvPr/>
        </p:nvGrpSpPr>
        <p:grpSpPr>
          <a:xfrm>
            <a:off x="1874320" y="6019800"/>
            <a:ext cx="752706" cy="264405"/>
            <a:chOff x="477449" y="2158821"/>
            <a:chExt cx="1770451" cy="566777"/>
          </a:xfrm>
        </p:grpSpPr>
        <p:sp>
          <p:nvSpPr>
            <p:cNvPr id="247" name="Flussdiagramm: Datenträger mit direktem Zugriff 24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Flussdiagramm: Alternativer Prozess 24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9" name="Gerade Verbindung mit Pfeil 24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0" name="Gerade Verbindung mit Pfeil 24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1" name="Gruppieren 250"/>
          <p:cNvGrpSpPr/>
          <p:nvPr/>
        </p:nvGrpSpPr>
        <p:grpSpPr>
          <a:xfrm>
            <a:off x="3438294" y="5486400"/>
            <a:ext cx="752706" cy="264405"/>
            <a:chOff x="477449" y="2158821"/>
            <a:chExt cx="1770451" cy="566777"/>
          </a:xfrm>
        </p:grpSpPr>
        <p:sp>
          <p:nvSpPr>
            <p:cNvPr id="252" name="Flussdiagramm: Datenträger mit direktem Zugriff 25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Flussdiagramm: Alternativer Prozess 25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4" name="Gerade Verbindung mit Pfeil 25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5" name="Gerade Verbindung mit Pfeil 25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6" name="Gruppieren 255"/>
          <p:cNvGrpSpPr/>
          <p:nvPr/>
        </p:nvGrpSpPr>
        <p:grpSpPr>
          <a:xfrm>
            <a:off x="3200149" y="1628866"/>
            <a:ext cx="752706" cy="264405"/>
            <a:chOff x="477449" y="2158821"/>
            <a:chExt cx="1770451" cy="566777"/>
          </a:xfrm>
        </p:grpSpPr>
        <p:sp>
          <p:nvSpPr>
            <p:cNvPr id="257" name="Flussdiagramm: Datenträger mit direktem Zugriff 2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Flussdiagramm: Alternativer Prozess 2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9" name="Gerade Verbindung mit Pfeil 25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0" name="Gerade Verbindung mit Pfeil 2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61" name="Gruppieren 260"/>
          <p:cNvGrpSpPr/>
          <p:nvPr/>
        </p:nvGrpSpPr>
        <p:grpSpPr>
          <a:xfrm flipH="1">
            <a:off x="4267200" y="6019800"/>
            <a:ext cx="732377" cy="264405"/>
            <a:chOff x="477449" y="2158821"/>
            <a:chExt cx="1770451" cy="566777"/>
          </a:xfrm>
        </p:grpSpPr>
        <p:sp>
          <p:nvSpPr>
            <p:cNvPr id="262" name="Flussdiagramm: Datenträger mit direktem Zugriff 26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Flussdiagramm: Alternativer Prozess 26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64" name="Gerade Verbindung mit Pfeil 26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5" name="Gerade Verbindung mit Pfeil 26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46" name="Flussdiagramm: Datenträger mit direktem Zugriff 345"/>
          <p:cNvSpPr/>
          <p:nvPr/>
        </p:nvSpPr>
        <p:spPr bwMode="auto">
          <a:xfrm>
            <a:off x="954885" y="152119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" name="Flussdiagramm: Datenträger mit direktem Zugriff 346"/>
          <p:cNvSpPr/>
          <p:nvPr/>
        </p:nvSpPr>
        <p:spPr bwMode="auto">
          <a:xfrm>
            <a:off x="762000" y="1905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7" name="Gerade Verbindung mit Pfeil 316"/>
          <p:cNvCxnSpPr>
            <a:stCxn id="370" idx="4"/>
            <a:endCxn id="118" idx="1"/>
          </p:cNvCxnSpPr>
          <p:nvPr/>
        </p:nvCxnSpPr>
        <p:spPr bwMode="auto">
          <a:xfrm>
            <a:off x="1109400" y="1323000"/>
            <a:ext cx="667317" cy="30788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9" name="Gerade Verbindung mit Pfeil 318"/>
          <p:cNvCxnSpPr>
            <a:stCxn id="346" idx="4"/>
            <a:endCxn id="118" idx="2"/>
          </p:cNvCxnSpPr>
          <p:nvPr/>
        </p:nvCxnSpPr>
        <p:spPr bwMode="auto">
          <a:xfrm flipV="1">
            <a:off x="1530885" y="1649739"/>
            <a:ext cx="236896" cy="51451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18" name="Ellipse 117"/>
          <p:cNvSpPr/>
          <p:nvPr/>
        </p:nvSpPr>
        <p:spPr bwMode="auto">
          <a:xfrm>
            <a:off x="1767781" y="1623078"/>
            <a:ext cx="61019" cy="53322"/>
          </a:xfrm>
          <a:prstGeom prst="ellips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Flussdiagramm: Datenträger mit direktem Zugriff 369"/>
          <p:cNvSpPr/>
          <p:nvPr/>
        </p:nvSpPr>
        <p:spPr bwMode="auto">
          <a:xfrm>
            <a:off x="533400" y="1143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2" name="Gerade Verbindung mit Pfeil 1041"/>
          <p:cNvCxnSpPr>
            <a:stCxn id="113" idx="4"/>
            <a:endCxn id="118" idx="0"/>
          </p:cNvCxnSpPr>
          <p:nvPr/>
        </p:nvCxnSpPr>
        <p:spPr bwMode="auto">
          <a:xfrm>
            <a:off x="1676400" y="1094400"/>
            <a:ext cx="121891" cy="528678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45" name="Gerade Verbindung 1044"/>
          <p:cNvCxnSpPr>
            <a:stCxn id="347" idx="4"/>
            <a:endCxn id="118" idx="3"/>
          </p:cNvCxnSpPr>
          <p:nvPr/>
        </p:nvCxnSpPr>
        <p:spPr bwMode="auto">
          <a:xfrm flipV="1">
            <a:off x="1338000" y="1668591"/>
            <a:ext cx="438717" cy="41640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9" name="Flussdiagramm: Datenträger mit direktem Zugriff 378"/>
          <p:cNvSpPr/>
          <p:nvPr/>
        </p:nvSpPr>
        <p:spPr bwMode="auto">
          <a:xfrm>
            <a:off x="1767781" y="980438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Gerade Verbindung 1048"/>
          <p:cNvCxnSpPr>
            <a:stCxn id="379" idx="4"/>
            <a:endCxn id="118" idx="7"/>
          </p:cNvCxnSpPr>
          <p:nvPr/>
        </p:nvCxnSpPr>
        <p:spPr bwMode="auto">
          <a:xfrm flipH="1">
            <a:off x="1819864" y="1160438"/>
            <a:ext cx="523917" cy="47044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9" name="Gruppieren 328"/>
          <p:cNvGrpSpPr/>
          <p:nvPr/>
        </p:nvGrpSpPr>
        <p:grpSpPr>
          <a:xfrm>
            <a:off x="1181023" y="5029200"/>
            <a:ext cx="1943177" cy="838200"/>
            <a:chOff x="1176600" y="5029200"/>
            <a:chExt cx="1943177" cy="838200"/>
          </a:xfrm>
        </p:grpSpPr>
        <p:sp>
          <p:nvSpPr>
            <p:cNvPr id="133" name="Flussdiagramm: Alternativer Prozess 132"/>
            <p:cNvSpPr/>
            <p:nvPr/>
          </p:nvSpPr>
          <p:spPr bwMode="auto">
            <a:xfrm>
              <a:off x="2362200" y="518160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WCS</a:t>
              </a:r>
              <a:endParaRPr lang="en-GB" sz="1800" dirty="0"/>
            </a:p>
          </p:txBody>
        </p:sp>
        <p:sp>
          <p:nvSpPr>
            <p:cNvPr id="384" name="Flussdiagramm: Datenträger mit direktem Zugriff 383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5" name="Gerade Verbindung mit Pfeil 384"/>
            <p:cNvCxnSpPr>
              <a:stCxn id="390" idx="6"/>
              <a:endCxn id="133" idx="1"/>
            </p:cNvCxnSpPr>
            <p:nvPr/>
          </p:nvCxnSpPr>
          <p:spPr bwMode="auto">
            <a:xfrm flipV="1">
              <a:off x="1966019" y="5434761"/>
              <a:ext cx="396181" cy="21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388" name="Gerade Verbindung mit Pfeil 387"/>
            <p:cNvCxnSpPr>
              <a:stCxn id="391" idx="4"/>
              <a:endCxn id="390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0" name="Ellipse 389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Flussdiagramm: Datenträger mit direktem Zugriff 390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2" name="Gerade Verbindung mit Pfeil 391"/>
            <p:cNvCxnSpPr>
              <a:stCxn id="384" idx="4"/>
              <a:endCxn id="390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7" name="Gruppieren 396"/>
          <p:cNvGrpSpPr/>
          <p:nvPr/>
        </p:nvGrpSpPr>
        <p:grpSpPr>
          <a:xfrm>
            <a:off x="1981200" y="4572000"/>
            <a:ext cx="752706" cy="264405"/>
            <a:chOff x="477449" y="2158821"/>
            <a:chExt cx="1770451" cy="566777"/>
          </a:xfrm>
        </p:grpSpPr>
        <p:sp>
          <p:nvSpPr>
            <p:cNvPr id="398" name="Flussdiagramm: Datenträger mit direktem Zugriff 39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9" name="Flussdiagramm: Alternativer Prozess 39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0" name="Gerade Verbindung mit Pfeil 39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1" name="Gerade Verbindung mit Pfeil 40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8" name="Gruppieren 327"/>
          <p:cNvGrpSpPr/>
          <p:nvPr/>
        </p:nvGrpSpPr>
        <p:grpSpPr>
          <a:xfrm>
            <a:off x="407145" y="4545863"/>
            <a:ext cx="1207646" cy="605462"/>
            <a:chOff x="240154" y="4574069"/>
            <a:chExt cx="1207646" cy="605462"/>
          </a:xfrm>
        </p:grpSpPr>
        <p:sp>
          <p:nvSpPr>
            <p:cNvPr id="169" name="Flussdiagramm: Alternativer Prozess 168"/>
            <p:cNvSpPr/>
            <p:nvPr/>
          </p:nvSpPr>
          <p:spPr bwMode="auto">
            <a:xfrm>
              <a:off x="1130107" y="4693385"/>
              <a:ext cx="317693" cy="215775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2" name="Gerade Verbindung mit Pfeil 401"/>
            <p:cNvCxnSpPr>
              <a:stCxn id="409" idx="6"/>
              <a:endCxn id="169" idx="1"/>
            </p:cNvCxnSpPr>
            <p:nvPr/>
          </p:nvCxnSpPr>
          <p:spPr bwMode="auto">
            <a:xfrm flipV="1">
              <a:off x="873169" y="4801273"/>
              <a:ext cx="256938" cy="151444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03" name="Flussdiagramm: Datenträger mit direktem Zugriff 402"/>
            <p:cNvSpPr/>
            <p:nvPr/>
          </p:nvSpPr>
          <p:spPr bwMode="auto">
            <a:xfrm>
              <a:off x="240154" y="47244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4" name="Flussdiagramm: Datenträger mit direktem Zugriff 403"/>
            <p:cNvSpPr/>
            <p:nvPr/>
          </p:nvSpPr>
          <p:spPr bwMode="auto">
            <a:xfrm>
              <a:off x="457200" y="49530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Gerade Verbindung mit Pfeil 404"/>
            <p:cNvCxnSpPr>
              <a:stCxn id="407" idx="4"/>
              <a:endCxn id="409" idx="4"/>
            </p:cNvCxnSpPr>
            <p:nvPr/>
          </p:nvCxnSpPr>
          <p:spPr bwMode="auto">
            <a:xfrm>
              <a:off x="821400" y="4687335"/>
              <a:ext cx="28910" cy="242523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6" name="Gerade Verbindung mit Pfeil 405"/>
            <p:cNvCxnSpPr>
              <a:stCxn id="403" idx="4"/>
              <a:endCxn id="409" idx="2"/>
            </p:cNvCxnSpPr>
            <p:nvPr/>
          </p:nvCxnSpPr>
          <p:spPr bwMode="auto">
            <a:xfrm>
              <a:off x="528154" y="4837666"/>
              <a:ext cx="299296" cy="11505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7" name="Flussdiagramm: Datenträger mit direktem Zugriff 406"/>
            <p:cNvSpPr/>
            <p:nvPr/>
          </p:nvSpPr>
          <p:spPr bwMode="auto">
            <a:xfrm>
              <a:off x="533400" y="4574069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8" name="Gerade Verbindung 407"/>
            <p:cNvCxnSpPr>
              <a:stCxn id="404" idx="4"/>
              <a:endCxn id="409" idx="1"/>
            </p:cNvCxnSpPr>
            <p:nvPr/>
          </p:nvCxnSpPr>
          <p:spPr bwMode="auto">
            <a:xfrm flipV="1">
              <a:off x="745200" y="4968882"/>
              <a:ext cx="88945" cy="97384"/>
            </a:xfrm>
            <a:prstGeom prst="line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9" name="Ellipse 408"/>
            <p:cNvSpPr/>
            <p:nvPr/>
          </p:nvSpPr>
          <p:spPr bwMode="auto">
            <a:xfrm flipV="1">
              <a:off x="827450" y="4929858"/>
              <a:ext cx="45719" cy="45719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6" name="Gruppieren 425"/>
          <p:cNvGrpSpPr/>
          <p:nvPr/>
        </p:nvGrpSpPr>
        <p:grpSpPr>
          <a:xfrm flipH="1">
            <a:off x="7848600" y="5966073"/>
            <a:ext cx="1072986" cy="434727"/>
            <a:chOff x="1176600" y="5029200"/>
            <a:chExt cx="1877436" cy="838200"/>
          </a:xfrm>
        </p:grpSpPr>
        <p:sp>
          <p:nvSpPr>
            <p:cNvPr id="427" name="Flussdiagramm: Alternativer Prozess 426"/>
            <p:cNvSpPr/>
            <p:nvPr/>
          </p:nvSpPr>
          <p:spPr bwMode="auto">
            <a:xfrm>
              <a:off x="2427939" y="5181599"/>
              <a:ext cx="62609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sp>
          <p:nvSpPr>
            <p:cNvPr id="428" name="Flussdiagramm: Datenträger mit direktem Zugriff 427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9" name="Gerade Verbindung mit Pfeil 428"/>
            <p:cNvCxnSpPr>
              <a:stCxn id="431" idx="6"/>
              <a:endCxn id="427" idx="1"/>
            </p:cNvCxnSpPr>
            <p:nvPr/>
          </p:nvCxnSpPr>
          <p:spPr bwMode="auto">
            <a:xfrm flipV="1">
              <a:off x="1966019" y="5434760"/>
              <a:ext cx="461920" cy="2102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430" name="Gerade Verbindung mit Pfeil 429"/>
            <p:cNvCxnSpPr>
              <a:stCxn id="432" idx="4"/>
              <a:endCxn id="431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1" name="Ellipse 430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Flussdiagramm: Datenträger mit direktem Zugriff 431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3" name="Gerade Verbindung mit Pfeil 432"/>
            <p:cNvCxnSpPr>
              <a:stCxn id="428" idx="4"/>
              <a:endCxn id="431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40" name="Gruppieren 239"/>
          <p:cNvGrpSpPr/>
          <p:nvPr/>
        </p:nvGrpSpPr>
        <p:grpSpPr>
          <a:xfrm>
            <a:off x="3017326" y="6172200"/>
            <a:ext cx="792674" cy="264405"/>
            <a:chOff x="477449" y="2158821"/>
            <a:chExt cx="1770451" cy="566777"/>
          </a:xfrm>
        </p:grpSpPr>
        <p:sp>
          <p:nvSpPr>
            <p:cNvPr id="241" name="Flussdiagramm: Datenträger mit direktem Zugriff 240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" name="Flussdiagramm: Alternativer Prozess 241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3" name="Gerade Verbindung mit Pfeil 242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4" name="Gerade Verbindung mit Pfeil 243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6" name="Gerade Verbindung mit Pfeil 5"/>
          <p:cNvCxnSpPr>
            <a:stCxn id="48" idx="0"/>
            <a:endCxn id="373" idx="6"/>
          </p:cNvCxnSpPr>
          <p:nvPr/>
        </p:nvCxnSpPr>
        <p:spPr bwMode="auto">
          <a:xfrm flipV="1">
            <a:off x="4894279" y="2395436"/>
            <a:ext cx="99289" cy="271563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Gerade Verbindung mit Pfeil 9"/>
          <p:cNvCxnSpPr>
            <a:stCxn id="76" idx="0"/>
            <a:endCxn id="270" idx="6"/>
          </p:cNvCxnSpPr>
          <p:nvPr/>
        </p:nvCxnSpPr>
        <p:spPr bwMode="auto">
          <a:xfrm flipH="1" flipV="1">
            <a:off x="3001798" y="2746769"/>
            <a:ext cx="197671" cy="37853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Gerade Verbindung mit Pfeil 11"/>
          <p:cNvCxnSpPr>
            <a:stCxn id="54" idx="0"/>
            <a:endCxn id="382" idx="6"/>
          </p:cNvCxnSpPr>
          <p:nvPr/>
        </p:nvCxnSpPr>
        <p:spPr bwMode="auto">
          <a:xfrm flipV="1">
            <a:off x="3962624" y="2317063"/>
            <a:ext cx="39052" cy="349936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Gerade Verbindung mit Pfeil 21"/>
          <p:cNvCxnSpPr>
            <a:stCxn id="58" idx="2"/>
            <a:endCxn id="364" idx="1"/>
          </p:cNvCxnSpPr>
          <p:nvPr/>
        </p:nvCxnSpPr>
        <p:spPr bwMode="auto">
          <a:xfrm>
            <a:off x="4644947" y="4766721"/>
            <a:ext cx="42764" cy="194066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Gerade Verbindung mit Pfeil 24"/>
          <p:cNvCxnSpPr>
            <a:stCxn id="82" idx="1"/>
            <a:endCxn id="356" idx="4"/>
          </p:cNvCxnSpPr>
          <p:nvPr/>
        </p:nvCxnSpPr>
        <p:spPr bwMode="auto">
          <a:xfrm flipH="1">
            <a:off x="3337652" y="4452091"/>
            <a:ext cx="198970" cy="189441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Gerade Verbindung mit Pfeil 34"/>
          <p:cNvCxnSpPr>
            <a:stCxn id="86" idx="2"/>
            <a:endCxn id="270" idx="2"/>
          </p:cNvCxnSpPr>
          <p:nvPr/>
        </p:nvCxnSpPr>
        <p:spPr bwMode="auto">
          <a:xfrm>
            <a:off x="2512389" y="2123208"/>
            <a:ext cx="318987" cy="309317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Gerade Verbindung mit Pfeil 36"/>
          <p:cNvCxnSpPr>
            <a:stCxn id="258" idx="2"/>
            <a:endCxn id="382" idx="2"/>
          </p:cNvCxnSpPr>
          <p:nvPr/>
        </p:nvCxnSpPr>
        <p:spPr bwMode="auto">
          <a:xfrm>
            <a:off x="3792212" y="1879170"/>
            <a:ext cx="39042" cy="123649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Gerade Verbindung mit Pfeil 44"/>
          <p:cNvCxnSpPr>
            <a:stCxn id="158" idx="2"/>
            <a:endCxn id="373" idx="3"/>
          </p:cNvCxnSpPr>
          <p:nvPr/>
        </p:nvCxnSpPr>
        <p:spPr bwMode="auto">
          <a:xfrm>
            <a:off x="4848384" y="1527149"/>
            <a:ext cx="168935" cy="508294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Gerade Verbindung mit Pfeil 77"/>
          <p:cNvCxnSpPr>
            <a:stCxn id="96" idx="0"/>
            <a:endCxn id="364" idx="6"/>
          </p:cNvCxnSpPr>
          <p:nvPr/>
        </p:nvCxnSpPr>
        <p:spPr bwMode="auto">
          <a:xfrm flipH="1" flipV="1">
            <a:off x="5002390" y="5137243"/>
            <a:ext cx="25673" cy="7458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5" name="Gerade Verbindung mit Pfeil 84"/>
          <p:cNvCxnSpPr>
            <a:stCxn id="133" idx="0"/>
            <a:endCxn id="356" idx="7"/>
          </p:cNvCxnSpPr>
          <p:nvPr/>
        </p:nvCxnSpPr>
        <p:spPr bwMode="auto">
          <a:xfrm flipV="1">
            <a:off x="2745412" y="5104860"/>
            <a:ext cx="173787" cy="76740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Gerade Verbindung mit Pfeil 104"/>
          <p:cNvCxnSpPr>
            <a:stCxn id="101" idx="3"/>
            <a:endCxn id="348" idx="0"/>
          </p:cNvCxnSpPr>
          <p:nvPr/>
        </p:nvCxnSpPr>
        <p:spPr bwMode="auto">
          <a:xfrm>
            <a:off x="2098953" y="4071751"/>
            <a:ext cx="91516" cy="15608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5" name="Gerade Verbindung mit Pfeil 314"/>
          <p:cNvCxnSpPr>
            <a:stCxn id="73" idx="1"/>
            <a:endCxn id="348" idx="5"/>
          </p:cNvCxnSpPr>
          <p:nvPr/>
        </p:nvCxnSpPr>
        <p:spPr bwMode="auto">
          <a:xfrm flipH="1">
            <a:off x="2659243" y="3945724"/>
            <a:ext cx="125248" cy="3118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16" name="Gruppieren 315"/>
          <p:cNvGrpSpPr/>
          <p:nvPr/>
        </p:nvGrpSpPr>
        <p:grpSpPr>
          <a:xfrm flipH="1">
            <a:off x="5791200" y="1792995"/>
            <a:ext cx="732377" cy="264405"/>
            <a:chOff x="477449" y="2158821"/>
            <a:chExt cx="1770451" cy="566777"/>
          </a:xfrm>
        </p:grpSpPr>
        <p:sp>
          <p:nvSpPr>
            <p:cNvPr id="395" name="Flussdiagramm: Datenträger mit direktem Zugriff 3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6" name="Flussdiagramm: Alternativer Prozess 3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10" name="Gerade Verbindung mit Pfeil 40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11" name="Gerade Verbindung mit Pfeil 41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12" name="Gruppieren 411"/>
          <p:cNvGrpSpPr/>
          <p:nvPr/>
        </p:nvGrpSpPr>
        <p:grpSpPr>
          <a:xfrm flipH="1">
            <a:off x="7078456" y="4027843"/>
            <a:ext cx="732377" cy="264405"/>
            <a:chOff x="477449" y="2158821"/>
            <a:chExt cx="1770451" cy="566777"/>
          </a:xfrm>
        </p:grpSpPr>
        <p:sp>
          <p:nvSpPr>
            <p:cNvPr id="413" name="Flussdiagramm: Datenträger mit direktem Zugriff 412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4" name="Flussdiagramm: Alternativer Prozess 413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15" name="Gerade Verbindung mit Pfeil 414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16" name="Gerade Verbindung mit Pfeil 415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17" name="Gruppieren 416"/>
          <p:cNvGrpSpPr/>
          <p:nvPr/>
        </p:nvGrpSpPr>
        <p:grpSpPr>
          <a:xfrm flipH="1">
            <a:off x="6810407" y="3137270"/>
            <a:ext cx="2181193" cy="697134"/>
            <a:chOff x="1080057" y="5069506"/>
            <a:chExt cx="2083305" cy="697134"/>
          </a:xfrm>
        </p:grpSpPr>
        <p:sp>
          <p:nvSpPr>
            <p:cNvPr id="418" name="Flussdiagramm: Datenträger mit direktem Zugriff 417"/>
            <p:cNvSpPr/>
            <p:nvPr/>
          </p:nvSpPr>
          <p:spPr bwMode="auto">
            <a:xfrm>
              <a:off x="1465480" y="5069506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9" name="Flussdiagramm: Alternativer Prozess 418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425" name="Gerade Verbindung mit Pfeil 424"/>
            <p:cNvCxnSpPr>
              <a:endCxn id="419" idx="1"/>
            </p:cNvCxnSpPr>
            <p:nvPr/>
          </p:nvCxnSpPr>
          <p:spPr bwMode="auto">
            <a:xfrm>
              <a:off x="2119046" y="5329670"/>
              <a:ext cx="286739" cy="14004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39" name="Flussdiagramm: Datenträger mit direktem Zugriff 438"/>
            <p:cNvSpPr/>
            <p:nvPr/>
          </p:nvSpPr>
          <p:spPr bwMode="auto">
            <a:xfrm>
              <a:off x="1080057" y="519986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0" name="Gerade Verbindung mit Pfeil 439"/>
            <p:cNvCxnSpPr>
              <a:stCxn id="419" idx="1"/>
            </p:cNvCxnSpPr>
            <p:nvPr/>
          </p:nvCxnSpPr>
          <p:spPr bwMode="auto">
            <a:xfrm flipH="1" flipV="1">
              <a:off x="1716341" y="5469710"/>
              <a:ext cx="68944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441" name="Gruppieren 440"/>
          <p:cNvGrpSpPr/>
          <p:nvPr/>
        </p:nvGrpSpPr>
        <p:grpSpPr>
          <a:xfrm>
            <a:off x="6442206" y="4343400"/>
            <a:ext cx="2629505" cy="1295400"/>
            <a:chOff x="6442206" y="4191000"/>
            <a:chExt cx="2629505" cy="1295400"/>
          </a:xfrm>
        </p:grpSpPr>
        <p:grpSp>
          <p:nvGrpSpPr>
            <p:cNvPr id="442" name="Gruppieren 441"/>
            <p:cNvGrpSpPr/>
            <p:nvPr/>
          </p:nvGrpSpPr>
          <p:grpSpPr>
            <a:xfrm flipH="1">
              <a:off x="6442206" y="4317263"/>
              <a:ext cx="2101936" cy="1016737"/>
              <a:chOff x="609600" y="1469843"/>
              <a:chExt cx="2083305" cy="1016737"/>
            </a:xfrm>
          </p:grpSpPr>
          <p:sp>
            <p:nvSpPr>
              <p:cNvPr id="449" name="Flussdiagramm: Datenträger mit direktem Zugriff 448"/>
              <p:cNvSpPr/>
              <p:nvPr/>
            </p:nvSpPr>
            <p:spPr bwMode="auto">
              <a:xfrm>
                <a:off x="995023" y="146984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0" name="Flussdiagramm: Alternativer Prozess 449"/>
              <p:cNvSpPr/>
              <p:nvPr/>
            </p:nvSpPr>
            <p:spPr bwMode="auto">
              <a:xfrm>
                <a:off x="1935328" y="1616887"/>
                <a:ext cx="757577" cy="506321"/>
              </a:xfrm>
              <a:prstGeom prst="flowChartAlternateProcess">
                <a:avLst/>
              </a:prstGeom>
              <a:noFill/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rIns="0" rtlCol="0" anchor="ctr"/>
              <a:lstStyle/>
              <a:p>
                <a:pPr algn="ctr"/>
                <a:r>
                  <a:rPr lang="en-GB" sz="1800" dirty="0" smtClean="0"/>
                  <a:t>CSW</a:t>
                </a:r>
                <a:endParaRPr lang="en-GB" sz="1800" dirty="0"/>
              </a:p>
            </p:txBody>
          </p:sp>
          <p:cxnSp>
            <p:nvCxnSpPr>
              <p:cNvPr id="451" name="Gerade Verbindung mit Pfeil 450"/>
              <p:cNvCxnSpPr>
                <a:endCxn id="450" idx="1"/>
              </p:cNvCxnSpPr>
              <p:nvPr/>
            </p:nvCxnSpPr>
            <p:spPr bwMode="auto">
              <a:xfrm>
                <a:off x="1634307" y="1766214"/>
                <a:ext cx="301021" cy="10383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452" name="Flussdiagramm: Datenträger mit direktem Zugriff 451"/>
              <p:cNvSpPr/>
              <p:nvPr/>
            </p:nvSpPr>
            <p:spPr bwMode="auto">
              <a:xfrm>
                <a:off x="952200" y="191980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53" name="Gerade Verbindung mit Pfeil 452"/>
              <p:cNvCxnSpPr>
                <a:stCxn id="450" idx="1"/>
              </p:cNvCxnSpPr>
              <p:nvPr/>
            </p:nvCxnSpPr>
            <p:spPr bwMode="auto">
              <a:xfrm flipH="1">
                <a:off x="1578422" y="1870048"/>
                <a:ext cx="356906" cy="406826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454" name="Flussdiagramm: Datenträger mit direktem Zugriff 453"/>
              <p:cNvSpPr/>
              <p:nvPr/>
            </p:nvSpPr>
            <p:spPr bwMode="auto">
              <a:xfrm>
                <a:off x="609600" y="1600200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55" name="Gerade Verbindung mit Pfeil 454"/>
              <p:cNvCxnSpPr>
                <a:stCxn id="450" idx="1"/>
              </p:cNvCxnSpPr>
              <p:nvPr/>
            </p:nvCxnSpPr>
            <p:spPr bwMode="auto">
              <a:xfrm flipH="1">
                <a:off x="1221515" y="1870048"/>
                <a:ext cx="713813" cy="13541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</p:grpSp>
        <p:sp>
          <p:nvSpPr>
            <p:cNvPr id="443" name="Flussdiagramm: Datenträger mit direktem Zugriff 442"/>
            <p:cNvSpPr/>
            <p:nvPr/>
          </p:nvSpPr>
          <p:spPr bwMode="auto">
            <a:xfrm flipH="1">
              <a:off x="8682889" y="4191000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4" name="Gerade Verbindung mit Pfeil 443"/>
            <p:cNvCxnSpPr>
              <a:stCxn id="443" idx="4"/>
              <a:endCxn id="454" idx="1"/>
            </p:cNvCxnSpPr>
            <p:nvPr/>
          </p:nvCxnSpPr>
          <p:spPr bwMode="auto">
            <a:xfrm flipH="1">
              <a:off x="8544142" y="4313288"/>
              <a:ext cx="138747" cy="417721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5" name="Flussdiagramm: Datenträger mit direktem Zugriff 444"/>
            <p:cNvSpPr/>
            <p:nvPr/>
          </p:nvSpPr>
          <p:spPr bwMode="auto">
            <a:xfrm flipH="1">
              <a:off x="8763000" y="47846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6" name="Gerade Verbindung mit Pfeil 445"/>
            <p:cNvCxnSpPr>
              <a:stCxn id="454" idx="1"/>
              <a:endCxn id="445" idx="4"/>
            </p:cNvCxnSpPr>
            <p:nvPr/>
          </p:nvCxnSpPr>
          <p:spPr bwMode="auto">
            <a:xfrm>
              <a:off x="8544142" y="4731009"/>
              <a:ext cx="218858" cy="175903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7" name="Flussdiagramm: Datenträger mit direktem Zugriff 446"/>
            <p:cNvSpPr/>
            <p:nvPr/>
          </p:nvSpPr>
          <p:spPr bwMode="auto">
            <a:xfrm flipH="1">
              <a:off x="8448458" y="52418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8" name="Gerade Verbindung mit Pfeil 447"/>
            <p:cNvCxnSpPr>
              <a:stCxn id="452" idx="1"/>
              <a:endCxn id="447" idx="4"/>
            </p:cNvCxnSpPr>
            <p:nvPr/>
          </p:nvCxnSpPr>
          <p:spPr bwMode="auto">
            <a:xfrm>
              <a:off x="8198478" y="5050612"/>
              <a:ext cx="249980" cy="31350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56" name="Gruppieren 455"/>
          <p:cNvGrpSpPr/>
          <p:nvPr/>
        </p:nvGrpSpPr>
        <p:grpSpPr>
          <a:xfrm flipH="1">
            <a:off x="6525921" y="2328823"/>
            <a:ext cx="1779879" cy="566777"/>
            <a:chOff x="477449" y="2158821"/>
            <a:chExt cx="1770451" cy="566777"/>
          </a:xfrm>
        </p:grpSpPr>
        <p:sp>
          <p:nvSpPr>
            <p:cNvPr id="457" name="Flussdiagramm: Datenträger mit direktem Zugriff 4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8" name="Flussdiagramm: Alternativer Prozess 4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SOS</a:t>
              </a:r>
              <a:endParaRPr lang="en-GB" sz="1800" dirty="0"/>
            </a:p>
          </p:txBody>
        </p:sp>
        <p:cxnSp>
          <p:nvCxnSpPr>
            <p:cNvPr id="459" name="Gerade Verbindung mit Pfeil 458"/>
            <p:cNvCxnSpPr/>
            <p:nvPr/>
          </p:nvCxnSpPr>
          <p:spPr bwMode="auto">
            <a:xfrm flipH="1">
              <a:off x="1096653" y="2327909"/>
              <a:ext cx="39626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60" name="Gerade Verbindung mit Pfeil 4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462" name="Gerade Verbindung mit Pfeil 461"/>
          <p:cNvCxnSpPr>
            <a:endCxn id="330" idx="0"/>
          </p:cNvCxnSpPr>
          <p:nvPr/>
        </p:nvCxnSpPr>
        <p:spPr bwMode="auto">
          <a:xfrm flipV="1">
            <a:off x="6086150" y="3662857"/>
            <a:ext cx="138511" cy="115982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3" name="Gerade Verbindung mit Pfeil 462"/>
          <p:cNvCxnSpPr>
            <a:endCxn id="338" idx="2"/>
          </p:cNvCxnSpPr>
          <p:nvPr/>
        </p:nvCxnSpPr>
        <p:spPr bwMode="auto">
          <a:xfrm>
            <a:off x="5645597" y="4308189"/>
            <a:ext cx="270067" cy="6856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5" name="Gerade Verbindung mit Pfeil 464"/>
          <p:cNvCxnSpPr>
            <a:endCxn id="330" idx="5"/>
          </p:cNvCxnSpPr>
          <p:nvPr/>
        </p:nvCxnSpPr>
        <p:spPr bwMode="auto">
          <a:xfrm flipH="1">
            <a:off x="6693435" y="3537475"/>
            <a:ext cx="116973" cy="1493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6" name="Gerade Verbindung mit Pfeil 465"/>
          <p:cNvCxnSpPr>
            <a:endCxn id="338" idx="5"/>
          </p:cNvCxnSpPr>
          <p:nvPr/>
        </p:nvCxnSpPr>
        <p:spPr bwMode="auto">
          <a:xfrm flipH="1" flipV="1">
            <a:off x="6230343" y="4553214"/>
            <a:ext cx="211863" cy="31665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Ellipse 2"/>
          <p:cNvSpPr/>
          <p:nvPr/>
        </p:nvSpPr>
        <p:spPr bwMode="auto">
          <a:xfrm>
            <a:off x="2310095" y="2133600"/>
            <a:ext cx="4112391" cy="2933619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66" name="Gruppieren 265"/>
          <p:cNvGrpSpPr/>
          <p:nvPr/>
        </p:nvGrpSpPr>
        <p:grpSpPr>
          <a:xfrm>
            <a:off x="2644355" y="2410906"/>
            <a:ext cx="544464" cy="473360"/>
            <a:chOff x="3251645" y="2470179"/>
            <a:chExt cx="1838625" cy="2178022"/>
          </a:xfrm>
        </p:grpSpPr>
        <p:sp>
          <p:nvSpPr>
            <p:cNvPr id="270" name="Träne 269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71" name="Gruppieren 270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282" name="Freihandform 281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3" name="Freihandform 282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4" name="Freihandform 283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5" name="Freihandform 284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6" name="Freihandform 285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18" name="Gruppieren 317"/>
          <p:cNvGrpSpPr/>
          <p:nvPr/>
        </p:nvGrpSpPr>
        <p:grpSpPr>
          <a:xfrm>
            <a:off x="5846811" y="2590800"/>
            <a:ext cx="544464" cy="473360"/>
            <a:chOff x="3251645" y="2470179"/>
            <a:chExt cx="1838625" cy="2178022"/>
          </a:xfrm>
        </p:grpSpPr>
        <p:sp>
          <p:nvSpPr>
            <p:cNvPr id="320" name="Träne 319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21" name="Gruppieren 320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22" name="Freihandform 321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3" name="Freihandform 322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4" name="Freihandform 323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5" name="Freihandform 324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6" name="Freihandform 325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27" name="Gruppieren 326"/>
          <p:cNvGrpSpPr/>
          <p:nvPr/>
        </p:nvGrpSpPr>
        <p:grpSpPr>
          <a:xfrm>
            <a:off x="6191735" y="3354336"/>
            <a:ext cx="544464" cy="473360"/>
            <a:chOff x="3251645" y="2470179"/>
            <a:chExt cx="1838625" cy="2178022"/>
          </a:xfrm>
        </p:grpSpPr>
        <p:sp>
          <p:nvSpPr>
            <p:cNvPr id="330" name="Träne 329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31" name="Gruppieren 330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32" name="Freihandform 331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3" name="Freihandform 332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4" name="Freihandform 333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5" name="Freihandform 334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6" name="Freihandform 335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37" name="Gruppieren 336"/>
          <p:cNvGrpSpPr/>
          <p:nvPr/>
        </p:nvGrpSpPr>
        <p:grpSpPr>
          <a:xfrm>
            <a:off x="5728643" y="4355139"/>
            <a:ext cx="544464" cy="473360"/>
            <a:chOff x="3251645" y="2470179"/>
            <a:chExt cx="1838625" cy="2178022"/>
          </a:xfrm>
        </p:grpSpPr>
        <p:sp>
          <p:nvSpPr>
            <p:cNvPr id="338" name="Träne 337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39" name="Gruppieren 338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40" name="Freihandform 339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1" name="Freihandform 340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2" name="Freihandform 341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3" name="Freihandform 342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4" name="Freihandform 343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45" name="Gruppieren 344"/>
          <p:cNvGrpSpPr/>
          <p:nvPr/>
        </p:nvGrpSpPr>
        <p:grpSpPr>
          <a:xfrm>
            <a:off x="2157543" y="3778838"/>
            <a:ext cx="544464" cy="473360"/>
            <a:chOff x="3251645" y="2470179"/>
            <a:chExt cx="1838625" cy="2178022"/>
          </a:xfrm>
        </p:grpSpPr>
        <p:sp>
          <p:nvSpPr>
            <p:cNvPr id="348" name="Träne 347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49" name="Gruppieren 348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50" name="Freihandform 349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1" name="Freihandform 350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2" name="Freihandform 351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3" name="Freihandform 352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4" name="Freihandform 353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55" name="Gruppieren 354"/>
          <p:cNvGrpSpPr/>
          <p:nvPr/>
        </p:nvGrpSpPr>
        <p:grpSpPr>
          <a:xfrm>
            <a:off x="2826114" y="4592571"/>
            <a:ext cx="544464" cy="473360"/>
            <a:chOff x="3251645" y="2470179"/>
            <a:chExt cx="1838625" cy="2178022"/>
          </a:xfrm>
        </p:grpSpPr>
        <p:sp>
          <p:nvSpPr>
            <p:cNvPr id="356" name="Träne 355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57" name="Gruppieren 356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58" name="Freihandform 357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9" name="Freihandform 358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0" name="Freihandform 359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1" name="Freihandform 360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2" name="Freihandform 361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63" name="Gruppieren 362"/>
          <p:cNvGrpSpPr/>
          <p:nvPr/>
        </p:nvGrpSpPr>
        <p:grpSpPr>
          <a:xfrm>
            <a:off x="4644947" y="4801380"/>
            <a:ext cx="544464" cy="473360"/>
            <a:chOff x="3251645" y="2470179"/>
            <a:chExt cx="1838625" cy="2178022"/>
          </a:xfrm>
        </p:grpSpPr>
        <p:sp>
          <p:nvSpPr>
            <p:cNvPr id="364" name="Träne 363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65" name="Gruppieren 364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66" name="Freihandform 365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7" name="Freihandform 366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8" name="Freihandform 367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9" name="Freihandform 368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1" name="Freihandform 370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72" name="Gruppieren 371"/>
          <p:cNvGrpSpPr/>
          <p:nvPr/>
        </p:nvGrpSpPr>
        <p:grpSpPr>
          <a:xfrm>
            <a:off x="4636125" y="2059573"/>
            <a:ext cx="544464" cy="473360"/>
            <a:chOff x="3251645" y="2470179"/>
            <a:chExt cx="1838625" cy="2178022"/>
          </a:xfrm>
        </p:grpSpPr>
        <p:sp>
          <p:nvSpPr>
            <p:cNvPr id="373" name="Träne 372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74" name="Gruppieren 373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75" name="Freihandform 374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6" name="Freihandform 375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7" name="Freihandform 376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8" name="Freihandform 377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0" name="Freihandform 379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81" name="Gruppieren 380"/>
          <p:cNvGrpSpPr/>
          <p:nvPr/>
        </p:nvGrpSpPr>
        <p:grpSpPr>
          <a:xfrm>
            <a:off x="3644233" y="1981200"/>
            <a:ext cx="544464" cy="473360"/>
            <a:chOff x="3251645" y="2470179"/>
            <a:chExt cx="1838625" cy="2178022"/>
          </a:xfrm>
        </p:grpSpPr>
        <p:sp>
          <p:nvSpPr>
            <p:cNvPr id="382" name="Träne 381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83" name="Gruppieren 382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86" name="Freihandform 385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7" name="Freihandform 386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9" name="Freihandform 388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3" name="Freihandform 392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4" name="Freihandform 393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467" name="Gerade Verbindung mit Pfeil 466"/>
          <p:cNvCxnSpPr>
            <a:endCxn id="320" idx="0"/>
          </p:cNvCxnSpPr>
          <p:nvPr/>
        </p:nvCxnSpPr>
        <p:spPr bwMode="auto">
          <a:xfrm flipV="1">
            <a:off x="5641672" y="2899321"/>
            <a:ext cx="238065" cy="171313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8" name="Gerade Verbindung mit Pfeil 467"/>
          <p:cNvCxnSpPr>
            <a:endCxn id="320" idx="4"/>
          </p:cNvCxnSpPr>
          <p:nvPr/>
        </p:nvCxnSpPr>
        <p:spPr bwMode="auto">
          <a:xfrm flipH="1">
            <a:off x="6358349" y="2612212"/>
            <a:ext cx="167572" cy="27549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9" name="Gerade Verbindung mit Pfeil 468"/>
          <p:cNvCxnSpPr/>
          <p:nvPr/>
        </p:nvCxnSpPr>
        <p:spPr bwMode="auto">
          <a:xfrm>
            <a:off x="2309766" y="3659702"/>
            <a:ext cx="16079" cy="15029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0" name="Gerade Verbindung mit Pfeil 469"/>
          <p:cNvCxnSpPr/>
          <p:nvPr/>
        </p:nvCxnSpPr>
        <p:spPr bwMode="auto">
          <a:xfrm flipH="1">
            <a:off x="3126581" y="2371028"/>
            <a:ext cx="116904" cy="5550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1" name="Gerade Verbindung mit Pfeil 470"/>
          <p:cNvCxnSpPr/>
          <p:nvPr/>
        </p:nvCxnSpPr>
        <p:spPr bwMode="auto">
          <a:xfrm flipH="1">
            <a:off x="4161123" y="2134613"/>
            <a:ext cx="116904" cy="907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2" name="Gerade Verbindung mit Pfeil 471"/>
          <p:cNvCxnSpPr/>
          <p:nvPr/>
        </p:nvCxnSpPr>
        <p:spPr bwMode="auto">
          <a:xfrm flipH="1" flipV="1">
            <a:off x="5152676" y="2242558"/>
            <a:ext cx="108589" cy="36104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3" name="Gerade Verbindung mit Pfeil 472"/>
          <p:cNvCxnSpPr/>
          <p:nvPr/>
        </p:nvCxnSpPr>
        <p:spPr bwMode="auto">
          <a:xfrm flipH="1" flipV="1">
            <a:off x="6193637" y="2926553"/>
            <a:ext cx="76200" cy="116404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4" name="Gerade Verbindung mit Pfeil 473"/>
          <p:cNvCxnSpPr/>
          <p:nvPr/>
        </p:nvCxnSpPr>
        <p:spPr bwMode="auto">
          <a:xfrm flipV="1">
            <a:off x="6381752" y="3780662"/>
            <a:ext cx="24991" cy="10078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5" name="Gerade Verbindung mit Pfeil 474"/>
          <p:cNvCxnSpPr/>
          <p:nvPr/>
        </p:nvCxnSpPr>
        <p:spPr bwMode="auto">
          <a:xfrm flipV="1">
            <a:off x="5680257" y="4674551"/>
            <a:ext cx="92352" cy="50391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6" name="Gerade Verbindung mit Pfeil 475"/>
          <p:cNvCxnSpPr/>
          <p:nvPr/>
        </p:nvCxnSpPr>
        <p:spPr bwMode="auto">
          <a:xfrm flipV="1">
            <a:off x="4572000" y="5047272"/>
            <a:ext cx="92352" cy="868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7" name="Gerade Verbindung mit Pfeil 476"/>
          <p:cNvCxnSpPr/>
          <p:nvPr/>
        </p:nvCxnSpPr>
        <p:spPr bwMode="auto">
          <a:xfrm>
            <a:off x="2857709" y="4598262"/>
            <a:ext cx="87056" cy="6140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018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/>
              <a:t>Semantic interoperability of Web services</a:t>
            </a: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grpSp>
        <p:nvGrpSpPr>
          <p:cNvPr id="24" name="Gruppieren 23"/>
          <p:cNvGrpSpPr/>
          <p:nvPr/>
        </p:nvGrpSpPr>
        <p:grpSpPr>
          <a:xfrm>
            <a:off x="2746945" y="2666999"/>
            <a:ext cx="3377130" cy="2209801"/>
            <a:chOff x="2498735" y="2529794"/>
            <a:chExt cx="3734837" cy="2426593"/>
          </a:xfrm>
        </p:grpSpPr>
        <p:sp>
          <p:nvSpPr>
            <p:cNvPr id="17" name="Wolke 16"/>
            <p:cNvSpPr/>
            <p:nvPr/>
          </p:nvSpPr>
          <p:spPr bwMode="auto">
            <a:xfrm>
              <a:off x="2653218" y="2737037"/>
              <a:ext cx="3242864" cy="1957297"/>
            </a:xfrm>
            <a:prstGeom prst="cloud">
              <a:avLst/>
            </a:prstGeom>
            <a:noFill/>
            <a:ln w="1905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2000" i="1" dirty="0" smtClean="0">
                  <a:solidFill>
                    <a:srgbClr val="002060"/>
                  </a:solidFill>
                </a:rPr>
                <a:t>Catchment</a:t>
              </a:r>
              <a:endParaRPr lang="en-GB" sz="2000" i="1" dirty="0">
                <a:solidFill>
                  <a:srgbClr val="002060"/>
                </a:solidFill>
              </a:endParaRPr>
            </a:p>
          </p:txBody>
        </p:sp>
        <p:grpSp>
          <p:nvGrpSpPr>
            <p:cNvPr id="38" name="Gruppieren 37"/>
            <p:cNvGrpSpPr/>
            <p:nvPr/>
          </p:nvGrpSpPr>
          <p:grpSpPr>
            <a:xfrm>
              <a:off x="5721172" y="3611394"/>
              <a:ext cx="512400" cy="385943"/>
              <a:chOff x="1352011" y="4568240"/>
              <a:chExt cx="2381250" cy="2381250"/>
            </a:xfrm>
          </p:grpSpPr>
          <p:pic>
            <p:nvPicPr>
              <p:cNvPr id="39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52011" y="456824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0" name="Abgerundetes Rechteck 39"/>
              <p:cNvSpPr/>
              <p:nvPr/>
            </p:nvSpPr>
            <p:spPr bwMode="auto">
              <a:xfrm>
                <a:off x="1544977" y="4651951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1" name="Gruppieren 40"/>
            <p:cNvGrpSpPr/>
            <p:nvPr/>
          </p:nvGrpSpPr>
          <p:grpSpPr>
            <a:xfrm>
              <a:off x="5444082" y="2957897"/>
              <a:ext cx="512400" cy="385943"/>
              <a:chOff x="497898" y="3080237"/>
              <a:chExt cx="2381251" cy="2381250"/>
            </a:xfrm>
          </p:grpSpPr>
          <p:pic>
            <p:nvPicPr>
              <p:cNvPr id="4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97898" y="3080237"/>
                <a:ext cx="2381251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3" name="Abgerundetes Rechteck 42"/>
              <p:cNvSpPr/>
              <p:nvPr/>
            </p:nvSpPr>
            <p:spPr bwMode="auto">
              <a:xfrm>
                <a:off x="690865" y="3173586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47" name="Gruppieren 46"/>
            <p:cNvGrpSpPr/>
            <p:nvPr/>
          </p:nvGrpSpPr>
          <p:grpSpPr>
            <a:xfrm>
              <a:off x="4617316" y="2529794"/>
              <a:ext cx="512400" cy="385943"/>
              <a:chOff x="1118457" y="3085316"/>
              <a:chExt cx="2381250" cy="2381250"/>
            </a:xfrm>
          </p:grpSpPr>
          <p:pic>
            <p:nvPicPr>
              <p:cNvPr id="48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18457" y="3085316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9" name="Abgerundetes Rechteck 48"/>
              <p:cNvSpPr/>
              <p:nvPr/>
            </p:nvSpPr>
            <p:spPr bwMode="auto">
              <a:xfrm>
                <a:off x="1211754" y="3239561"/>
                <a:ext cx="2192703" cy="1410661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3" name="Gruppieren 52"/>
            <p:cNvGrpSpPr/>
            <p:nvPr/>
          </p:nvGrpSpPr>
          <p:grpSpPr>
            <a:xfrm>
              <a:off x="3586980" y="2529794"/>
              <a:ext cx="512400" cy="385943"/>
              <a:chOff x="1204628" y="2903841"/>
              <a:chExt cx="2381250" cy="2381250"/>
            </a:xfrm>
          </p:grpSpPr>
          <p:pic>
            <p:nvPicPr>
              <p:cNvPr id="54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04628" y="2903841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5" name="Abgerundetes Rechteck 54"/>
              <p:cNvSpPr/>
              <p:nvPr/>
            </p:nvSpPr>
            <p:spPr bwMode="auto">
              <a:xfrm>
                <a:off x="1397595" y="2987549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4341785" y="4570444"/>
              <a:ext cx="512400" cy="385943"/>
              <a:chOff x="1598990" y="3986255"/>
              <a:chExt cx="2381250" cy="2381250"/>
            </a:xfrm>
          </p:grpSpPr>
          <p:pic>
            <p:nvPicPr>
              <p:cNvPr id="57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98990" y="3986255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58" name="Abgerundetes Rechteck 57"/>
              <p:cNvSpPr/>
              <p:nvPr/>
            </p:nvSpPr>
            <p:spPr bwMode="auto">
              <a:xfrm>
                <a:off x="1791958" y="4069970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62" name="Gruppieren 61"/>
            <p:cNvGrpSpPr/>
            <p:nvPr/>
          </p:nvGrpSpPr>
          <p:grpSpPr>
            <a:xfrm>
              <a:off x="5233956" y="4192677"/>
              <a:ext cx="512400" cy="385943"/>
              <a:chOff x="601887" y="3469967"/>
              <a:chExt cx="2381250" cy="2381250"/>
            </a:xfrm>
          </p:grpSpPr>
          <p:pic>
            <p:nvPicPr>
              <p:cNvPr id="63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1887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4" name="Abgerundetes Rechteck 63"/>
              <p:cNvSpPr/>
              <p:nvPr/>
            </p:nvSpPr>
            <p:spPr bwMode="auto">
              <a:xfrm>
                <a:off x="794853" y="3553678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1" name="Gruppieren 70"/>
            <p:cNvGrpSpPr/>
            <p:nvPr/>
          </p:nvGrpSpPr>
          <p:grpSpPr>
            <a:xfrm>
              <a:off x="2498735" y="3794653"/>
              <a:ext cx="512400" cy="385943"/>
              <a:chOff x="638951" y="4628190"/>
              <a:chExt cx="2381250" cy="2381250"/>
            </a:xfrm>
          </p:grpSpPr>
          <p:pic>
            <p:nvPicPr>
              <p:cNvPr id="72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8951" y="4628190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3" name="Abgerundetes Rechteck 72"/>
              <p:cNvSpPr/>
              <p:nvPr/>
            </p:nvSpPr>
            <p:spPr bwMode="auto">
              <a:xfrm>
                <a:off x="831918" y="4711898"/>
                <a:ext cx="1993367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2743200" y="3019498"/>
              <a:ext cx="512400" cy="385943"/>
              <a:chOff x="1066800" y="2269713"/>
              <a:chExt cx="2381250" cy="2381250"/>
            </a:xfrm>
          </p:grpSpPr>
          <p:pic>
            <p:nvPicPr>
              <p:cNvPr id="75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6800" y="2269713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Abgerundetes Rechteck 75"/>
              <p:cNvSpPr/>
              <p:nvPr/>
            </p:nvSpPr>
            <p:spPr bwMode="auto">
              <a:xfrm>
                <a:off x="1259766" y="2353424"/>
                <a:ext cx="1993365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80" name="Gruppieren 79"/>
            <p:cNvGrpSpPr/>
            <p:nvPr/>
          </p:nvGrpSpPr>
          <p:grpSpPr>
            <a:xfrm>
              <a:off x="3330532" y="4350696"/>
              <a:ext cx="512400" cy="385943"/>
              <a:chOff x="2025679" y="3469967"/>
              <a:chExt cx="2381250" cy="2381250"/>
            </a:xfrm>
          </p:grpSpPr>
          <p:pic>
            <p:nvPicPr>
              <p:cNvPr id="81" name="Picture 10" descr="D:\Users\Dornblut\Desktop\It-Infrastructure-Windows-client-icon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025679" y="3469967"/>
                <a:ext cx="2381250" cy="23812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2" name="Abgerundetes Rechteck 81"/>
              <p:cNvSpPr/>
              <p:nvPr/>
            </p:nvSpPr>
            <p:spPr bwMode="auto">
              <a:xfrm>
                <a:off x="2218647" y="3553682"/>
                <a:ext cx="1993362" cy="1551722"/>
              </a:xfrm>
              <a:prstGeom prst="roundRect">
                <a:avLst/>
              </a:prstGeom>
              <a:solidFill>
                <a:srgbClr val="C3DBF9"/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94" name="Gruppieren 93"/>
          <p:cNvGrpSpPr/>
          <p:nvPr/>
        </p:nvGrpSpPr>
        <p:grpSpPr>
          <a:xfrm flipH="1">
            <a:off x="4648200" y="5181600"/>
            <a:ext cx="1779879" cy="566777"/>
            <a:chOff x="477449" y="2158821"/>
            <a:chExt cx="1770451" cy="566777"/>
          </a:xfrm>
        </p:grpSpPr>
        <p:sp>
          <p:nvSpPr>
            <p:cNvPr id="95" name="Flussdiagramm: Datenträger mit direktem Zugriff 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Flussdiagramm: Alternativer Prozess 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97" name="Gerade Verbindung mit Pfeil 9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98" name="Gerade Verbindung mit Pfeil 9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99" name="Gruppieren 98"/>
          <p:cNvGrpSpPr/>
          <p:nvPr/>
        </p:nvGrpSpPr>
        <p:grpSpPr>
          <a:xfrm>
            <a:off x="324111" y="3788362"/>
            <a:ext cx="1774842" cy="566777"/>
            <a:chOff x="477449" y="2158821"/>
            <a:chExt cx="1770451" cy="566777"/>
          </a:xfrm>
        </p:grpSpPr>
        <p:sp>
          <p:nvSpPr>
            <p:cNvPr id="100" name="Flussdiagramm: Datenträger mit direktem Zugriff 9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Flussdiagramm: Alternativer Prozess 10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WFS</a:t>
              </a:r>
              <a:endParaRPr lang="en-GB" sz="1800" dirty="0"/>
            </a:p>
          </p:txBody>
        </p:sp>
        <p:cxnSp>
          <p:nvCxnSpPr>
            <p:cNvPr id="102" name="Gerade Verbindung mit Pfeil 10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03" name="Gerade Verbindung mit Pfeil 10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86" name="Flussdiagramm: Alternativer Prozess 85"/>
          <p:cNvSpPr/>
          <p:nvPr/>
        </p:nvSpPr>
        <p:spPr bwMode="auto">
          <a:xfrm>
            <a:off x="2133600" y="1616887"/>
            <a:ext cx="757577" cy="506321"/>
          </a:xfrm>
          <a:prstGeom prst="flowChartAlternateProcess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sz="1800" dirty="0" smtClean="0"/>
              <a:t>WMS</a:t>
            </a:r>
            <a:endParaRPr lang="en-GB" sz="1800" dirty="0"/>
          </a:p>
        </p:txBody>
      </p:sp>
      <p:sp>
        <p:nvSpPr>
          <p:cNvPr id="113" name="Flussdiagramm: Datenträger mit direktem Zugriff 112"/>
          <p:cNvSpPr/>
          <p:nvPr/>
        </p:nvSpPr>
        <p:spPr bwMode="auto">
          <a:xfrm>
            <a:off x="1100400" y="9144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8" name="Gerade Verbindung mit Pfeil 87"/>
          <p:cNvCxnSpPr>
            <a:stCxn id="118" idx="6"/>
            <a:endCxn id="86" idx="1"/>
          </p:cNvCxnSpPr>
          <p:nvPr/>
        </p:nvCxnSpPr>
        <p:spPr bwMode="auto">
          <a:xfrm>
            <a:off x="1828800" y="1649739"/>
            <a:ext cx="304800" cy="220309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arrow" w="med" len="med"/>
            <a:tailEnd type="arrow"/>
          </a:ln>
          <a:effectLst/>
        </p:spPr>
      </p:cxnSp>
      <p:grpSp>
        <p:nvGrpSpPr>
          <p:cNvPr id="123" name="Gruppieren 122"/>
          <p:cNvGrpSpPr/>
          <p:nvPr/>
        </p:nvGrpSpPr>
        <p:grpSpPr>
          <a:xfrm>
            <a:off x="381000" y="2938423"/>
            <a:ext cx="1774842" cy="566777"/>
            <a:chOff x="477449" y="2158821"/>
            <a:chExt cx="1770451" cy="566777"/>
          </a:xfrm>
        </p:grpSpPr>
        <p:sp>
          <p:nvSpPr>
            <p:cNvPr id="124" name="Flussdiagramm: Datenträger mit direktem Zugriff 12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9" name="Flussdiagramm: Alternativer Prozess 12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130" name="Gerade Verbindung mit Pfeil 12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31" name="Gerade Verbindung mit Pfeil 13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56" name="Gruppieren 155"/>
          <p:cNvGrpSpPr/>
          <p:nvPr/>
        </p:nvGrpSpPr>
        <p:grpSpPr>
          <a:xfrm flipH="1">
            <a:off x="4468521" y="990600"/>
            <a:ext cx="1779879" cy="566777"/>
            <a:chOff x="477449" y="2158821"/>
            <a:chExt cx="1770451" cy="566777"/>
          </a:xfrm>
        </p:grpSpPr>
        <p:sp>
          <p:nvSpPr>
            <p:cNvPr id="157" name="Flussdiagramm: Datenträger mit direktem Zugriff 1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8" name="Flussdiagramm: Alternativer Prozess 1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600" dirty="0" smtClean="0"/>
                <a:t>WMS</a:t>
              </a:r>
              <a:endParaRPr lang="en-GB" sz="1600" dirty="0"/>
            </a:p>
          </p:txBody>
        </p:sp>
        <p:cxnSp>
          <p:nvCxnSpPr>
            <p:cNvPr id="159" name="Gerade Verbindung mit Pfeil 158"/>
            <p:cNvCxnSpPr/>
            <p:nvPr/>
          </p:nvCxnSpPr>
          <p:spPr bwMode="auto">
            <a:xfrm flipH="1" flipV="1">
              <a:off x="1084493" y="2316999"/>
              <a:ext cx="408425" cy="1091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60" name="Gerade Verbindung mit Pfeil 1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77" name="Gruppieren 176"/>
          <p:cNvGrpSpPr/>
          <p:nvPr/>
        </p:nvGrpSpPr>
        <p:grpSpPr>
          <a:xfrm>
            <a:off x="1546060" y="2215359"/>
            <a:ext cx="988201" cy="527835"/>
            <a:chOff x="1080057" y="4896613"/>
            <a:chExt cx="2425050" cy="1223197"/>
          </a:xfrm>
        </p:grpSpPr>
        <p:sp>
          <p:nvSpPr>
            <p:cNvPr id="178" name="Flussdiagramm: Datenträger mit direktem Zugriff 177"/>
            <p:cNvSpPr/>
            <p:nvPr/>
          </p:nvSpPr>
          <p:spPr bwMode="auto">
            <a:xfrm>
              <a:off x="1465480" y="4896613"/>
              <a:ext cx="757578" cy="515252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Flussdiagramm: Alternativer Prozess 178"/>
            <p:cNvSpPr/>
            <p:nvPr/>
          </p:nvSpPr>
          <p:spPr bwMode="auto">
            <a:xfrm>
              <a:off x="2671771" y="5216549"/>
              <a:ext cx="833336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85" name="Gerade Verbindung mit Pfeil 184"/>
            <p:cNvCxnSpPr>
              <a:stCxn id="178" idx="4"/>
              <a:endCxn id="179" idx="1"/>
            </p:cNvCxnSpPr>
            <p:nvPr/>
          </p:nvCxnSpPr>
          <p:spPr bwMode="auto">
            <a:xfrm>
              <a:off x="2223059" y="5154239"/>
              <a:ext cx="448712" cy="31547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186" name="Flussdiagramm: Datenträger mit direktem Zugriff 185"/>
            <p:cNvSpPr/>
            <p:nvPr/>
          </p:nvSpPr>
          <p:spPr bwMode="auto">
            <a:xfrm>
              <a:off x="1080057" y="5553033"/>
              <a:ext cx="757578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87" name="Gerade Verbindung mit Pfeil 186"/>
            <p:cNvCxnSpPr>
              <a:stCxn id="179" idx="1"/>
              <a:endCxn id="186" idx="4"/>
            </p:cNvCxnSpPr>
            <p:nvPr/>
          </p:nvCxnSpPr>
          <p:spPr bwMode="auto">
            <a:xfrm flipH="1">
              <a:off x="1837635" y="5469709"/>
              <a:ext cx="834136" cy="366712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188" name="Gruppieren 187"/>
          <p:cNvGrpSpPr/>
          <p:nvPr/>
        </p:nvGrpSpPr>
        <p:grpSpPr>
          <a:xfrm>
            <a:off x="533400" y="6040522"/>
            <a:ext cx="752706" cy="264405"/>
            <a:chOff x="477449" y="2158821"/>
            <a:chExt cx="1770451" cy="566777"/>
          </a:xfrm>
        </p:grpSpPr>
        <p:sp>
          <p:nvSpPr>
            <p:cNvPr id="189" name="Flussdiagramm: Datenträger mit direktem Zugriff 18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Flussdiagramm: Alternativer Prozess 18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191" name="Gerade Verbindung mit Pfeil 19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92" name="Gerade Verbindung mit Pfeil 19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198" name="Gruppieren 197"/>
          <p:cNvGrpSpPr/>
          <p:nvPr/>
        </p:nvGrpSpPr>
        <p:grpSpPr>
          <a:xfrm>
            <a:off x="2827277" y="1076033"/>
            <a:ext cx="752706" cy="264405"/>
            <a:chOff x="477449" y="2158821"/>
            <a:chExt cx="1770451" cy="566777"/>
          </a:xfrm>
        </p:grpSpPr>
        <p:sp>
          <p:nvSpPr>
            <p:cNvPr id="199" name="Flussdiagramm: Datenträger mit direktem Zugriff 19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Flussdiagramm: Alternativer Prozess 19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01" name="Gerade Verbindung mit Pfeil 20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02" name="Gerade Verbindung mit Pfeil 20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08" name="Gruppieren 207"/>
          <p:cNvGrpSpPr/>
          <p:nvPr/>
        </p:nvGrpSpPr>
        <p:grpSpPr>
          <a:xfrm flipH="1">
            <a:off x="7954423" y="1219200"/>
            <a:ext cx="732377" cy="264405"/>
            <a:chOff x="477449" y="2158821"/>
            <a:chExt cx="1770451" cy="566777"/>
          </a:xfrm>
        </p:grpSpPr>
        <p:sp>
          <p:nvSpPr>
            <p:cNvPr id="209" name="Flussdiagramm: Datenträger mit direktem Zugriff 208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Flussdiagramm: Alternativer Prozess 209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1" name="Gerade Verbindung mit Pfeil 210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2" name="Gerade Verbindung mit Pfeil 211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13" name="Gruppieren 212"/>
          <p:cNvGrpSpPr/>
          <p:nvPr/>
        </p:nvGrpSpPr>
        <p:grpSpPr>
          <a:xfrm flipH="1">
            <a:off x="5516023" y="5983995"/>
            <a:ext cx="732377" cy="264405"/>
            <a:chOff x="477449" y="2158821"/>
            <a:chExt cx="1770451" cy="566777"/>
          </a:xfrm>
        </p:grpSpPr>
        <p:sp>
          <p:nvSpPr>
            <p:cNvPr id="214" name="Flussdiagramm: Datenträger mit direktem Zugriff 213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Flussdiagramm: Alternativer Prozess 214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16" name="Gerade Verbindung mit Pfeil 215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17" name="Gerade Verbindung mit Pfeil 216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4" name="Gruppieren 223"/>
          <p:cNvGrpSpPr/>
          <p:nvPr/>
        </p:nvGrpSpPr>
        <p:grpSpPr>
          <a:xfrm flipH="1">
            <a:off x="6858000" y="5715000"/>
            <a:ext cx="732377" cy="264405"/>
            <a:chOff x="477449" y="2158821"/>
            <a:chExt cx="1770451" cy="566777"/>
          </a:xfrm>
        </p:grpSpPr>
        <p:sp>
          <p:nvSpPr>
            <p:cNvPr id="225" name="Flussdiagramm: Datenträger mit direktem Zugriff 22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6" name="Flussdiagramm: Alternativer Prozess 22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27" name="Gerade Verbindung mit Pfeil 226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28" name="Gerade Verbindung mit Pfeil 227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29" name="Gruppieren 228"/>
          <p:cNvGrpSpPr/>
          <p:nvPr/>
        </p:nvGrpSpPr>
        <p:grpSpPr>
          <a:xfrm flipH="1">
            <a:off x="6705600" y="990600"/>
            <a:ext cx="732377" cy="264405"/>
            <a:chOff x="477449" y="2158821"/>
            <a:chExt cx="1770451" cy="566777"/>
          </a:xfrm>
        </p:grpSpPr>
        <p:sp>
          <p:nvSpPr>
            <p:cNvPr id="230" name="Flussdiagramm: Datenträger mit direktem Zugriff 229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1" name="Flussdiagramm: Alternativer Prozess 230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2" name="Gerade Verbindung mit Pfeil 231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33" name="Gerade Verbindung mit Pfeil 232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34" name="Gruppieren 233"/>
          <p:cNvGrpSpPr/>
          <p:nvPr/>
        </p:nvGrpSpPr>
        <p:grpSpPr>
          <a:xfrm flipH="1">
            <a:off x="6904409" y="1385097"/>
            <a:ext cx="944191" cy="519903"/>
            <a:chOff x="846317" y="4760484"/>
            <a:chExt cx="2317045" cy="1204813"/>
          </a:xfrm>
        </p:grpSpPr>
        <p:sp>
          <p:nvSpPr>
            <p:cNvPr id="235" name="Flussdiagramm: Datenträger mit direktem Zugriff 234"/>
            <p:cNvSpPr/>
            <p:nvPr/>
          </p:nvSpPr>
          <p:spPr bwMode="auto">
            <a:xfrm>
              <a:off x="1395355" y="4760484"/>
              <a:ext cx="757578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36" name="Flussdiagramm: Alternativer Prozess 235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37" name="Gerade Verbindung mit Pfeil 236"/>
            <p:cNvCxnSpPr>
              <a:stCxn id="235" idx="4"/>
              <a:endCxn id="236" idx="1"/>
            </p:cNvCxnSpPr>
            <p:nvPr/>
          </p:nvCxnSpPr>
          <p:spPr bwMode="auto">
            <a:xfrm>
              <a:off x="2152933" y="5043872"/>
              <a:ext cx="252851" cy="425837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238" name="Flussdiagramm: Datenträger mit direktem Zugriff 237"/>
            <p:cNvSpPr/>
            <p:nvPr/>
          </p:nvSpPr>
          <p:spPr bwMode="auto">
            <a:xfrm>
              <a:off x="846317" y="5398521"/>
              <a:ext cx="757577" cy="5667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39" name="Gerade Verbindung mit Pfeil 238"/>
            <p:cNvCxnSpPr>
              <a:stCxn id="236" idx="1"/>
              <a:endCxn id="238" idx="4"/>
            </p:cNvCxnSpPr>
            <p:nvPr/>
          </p:nvCxnSpPr>
          <p:spPr bwMode="auto">
            <a:xfrm flipH="1">
              <a:off x="1603894" y="5469711"/>
              <a:ext cx="801891" cy="212198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246" name="Gruppieren 245"/>
          <p:cNvGrpSpPr/>
          <p:nvPr/>
        </p:nvGrpSpPr>
        <p:grpSpPr>
          <a:xfrm>
            <a:off x="1874320" y="6019800"/>
            <a:ext cx="752706" cy="264405"/>
            <a:chOff x="477449" y="2158821"/>
            <a:chExt cx="1770451" cy="566777"/>
          </a:xfrm>
        </p:grpSpPr>
        <p:sp>
          <p:nvSpPr>
            <p:cNvPr id="247" name="Flussdiagramm: Datenträger mit direktem Zugriff 24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8" name="Flussdiagramm: Alternativer Prozess 24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9" name="Gerade Verbindung mit Pfeil 24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0" name="Gerade Verbindung mit Pfeil 24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1" name="Gruppieren 250"/>
          <p:cNvGrpSpPr/>
          <p:nvPr/>
        </p:nvGrpSpPr>
        <p:grpSpPr>
          <a:xfrm>
            <a:off x="3438294" y="5486400"/>
            <a:ext cx="752706" cy="264405"/>
            <a:chOff x="477449" y="2158821"/>
            <a:chExt cx="1770451" cy="566777"/>
          </a:xfrm>
        </p:grpSpPr>
        <p:sp>
          <p:nvSpPr>
            <p:cNvPr id="252" name="Flussdiagramm: Datenträger mit direktem Zugriff 25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3" name="Flussdiagramm: Alternativer Prozess 25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4" name="Gerade Verbindung mit Pfeil 25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55" name="Gerade Verbindung mit Pfeil 25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56" name="Gruppieren 255"/>
          <p:cNvGrpSpPr/>
          <p:nvPr/>
        </p:nvGrpSpPr>
        <p:grpSpPr>
          <a:xfrm>
            <a:off x="3200149" y="1628866"/>
            <a:ext cx="752706" cy="264405"/>
            <a:chOff x="477449" y="2158821"/>
            <a:chExt cx="1770451" cy="566777"/>
          </a:xfrm>
        </p:grpSpPr>
        <p:sp>
          <p:nvSpPr>
            <p:cNvPr id="257" name="Flussdiagramm: Datenträger mit direktem Zugriff 2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58" name="Flussdiagramm: Alternativer Prozess 2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59" name="Gerade Verbindung mit Pfeil 258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0" name="Gerade Verbindung mit Pfeil 2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261" name="Gruppieren 260"/>
          <p:cNvGrpSpPr/>
          <p:nvPr/>
        </p:nvGrpSpPr>
        <p:grpSpPr>
          <a:xfrm flipH="1">
            <a:off x="4267200" y="6019800"/>
            <a:ext cx="732377" cy="264405"/>
            <a:chOff x="477449" y="2158821"/>
            <a:chExt cx="1770451" cy="566777"/>
          </a:xfrm>
        </p:grpSpPr>
        <p:sp>
          <p:nvSpPr>
            <p:cNvPr id="262" name="Flussdiagramm: Datenträger mit direktem Zugriff 261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3" name="Flussdiagramm: Alternativer Prozess 262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64" name="Gerade Verbindung mit Pfeil 263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65" name="Gerade Verbindung mit Pfeil 264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346" name="Flussdiagramm: Datenträger mit direktem Zugriff 345"/>
          <p:cNvSpPr/>
          <p:nvPr/>
        </p:nvSpPr>
        <p:spPr bwMode="auto">
          <a:xfrm>
            <a:off x="954885" y="152119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7" name="Flussdiagramm: Datenträger mit direktem Zugriff 346"/>
          <p:cNvSpPr/>
          <p:nvPr/>
        </p:nvSpPr>
        <p:spPr bwMode="auto">
          <a:xfrm>
            <a:off x="762000" y="1905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7" name="Gerade Verbindung mit Pfeil 316"/>
          <p:cNvCxnSpPr>
            <a:stCxn id="370" idx="4"/>
            <a:endCxn id="118" idx="1"/>
          </p:cNvCxnSpPr>
          <p:nvPr/>
        </p:nvCxnSpPr>
        <p:spPr bwMode="auto">
          <a:xfrm>
            <a:off x="1109400" y="1323000"/>
            <a:ext cx="667317" cy="307887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19" name="Gerade Verbindung mit Pfeil 318"/>
          <p:cNvCxnSpPr>
            <a:stCxn id="346" idx="4"/>
            <a:endCxn id="118" idx="2"/>
          </p:cNvCxnSpPr>
          <p:nvPr/>
        </p:nvCxnSpPr>
        <p:spPr bwMode="auto">
          <a:xfrm flipV="1">
            <a:off x="1530885" y="1649739"/>
            <a:ext cx="236896" cy="51451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118" name="Ellipse 117"/>
          <p:cNvSpPr/>
          <p:nvPr/>
        </p:nvSpPr>
        <p:spPr bwMode="auto">
          <a:xfrm>
            <a:off x="1767781" y="1623078"/>
            <a:ext cx="61019" cy="53322"/>
          </a:xfrm>
          <a:prstGeom prst="ellipse">
            <a:avLst/>
          </a:prstGeom>
          <a:noFill/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Flussdiagramm: Datenträger mit direktem Zugriff 369"/>
          <p:cNvSpPr/>
          <p:nvPr/>
        </p:nvSpPr>
        <p:spPr bwMode="auto">
          <a:xfrm>
            <a:off x="533400" y="1143000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2" name="Gerade Verbindung mit Pfeil 1041"/>
          <p:cNvCxnSpPr>
            <a:stCxn id="113" idx="4"/>
            <a:endCxn id="118" idx="0"/>
          </p:cNvCxnSpPr>
          <p:nvPr/>
        </p:nvCxnSpPr>
        <p:spPr bwMode="auto">
          <a:xfrm>
            <a:off x="1676400" y="1094400"/>
            <a:ext cx="121891" cy="528678"/>
          </a:xfrm>
          <a:prstGeom prst="straightConnector1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1045" name="Gerade Verbindung 1044"/>
          <p:cNvCxnSpPr>
            <a:stCxn id="347" idx="4"/>
            <a:endCxn id="118" idx="3"/>
          </p:cNvCxnSpPr>
          <p:nvPr/>
        </p:nvCxnSpPr>
        <p:spPr bwMode="auto">
          <a:xfrm flipV="1">
            <a:off x="1338000" y="1668591"/>
            <a:ext cx="438717" cy="41640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79" name="Flussdiagramm: Datenträger mit direktem Zugriff 378"/>
          <p:cNvSpPr/>
          <p:nvPr/>
        </p:nvSpPr>
        <p:spPr bwMode="auto">
          <a:xfrm>
            <a:off x="1767781" y="980438"/>
            <a:ext cx="576000" cy="360000"/>
          </a:xfrm>
          <a:prstGeom prst="flowChartMagneticDrum">
            <a:avLst/>
          </a:prstGeom>
          <a:solidFill>
            <a:schemeClr val="bg1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049" name="Gerade Verbindung 1048"/>
          <p:cNvCxnSpPr>
            <a:stCxn id="379" idx="4"/>
            <a:endCxn id="118" idx="7"/>
          </p:cNvCxnSpPr>
          <p:nvPr/>
        </p:nvCxnSpPr>
        <p:spPr bwMode="auto">
          <a:xfrm flipH="1">
            <a:off x="1819864" y="1160438"/>
            <a:ext cx="523917" cy="470449"/>
          </a:xfrm>
          <a:prstGeom prst="line">
            <a:avLst/>
          </a:prstGeom>
          <a:noFill/>
          <a:ln w="127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29" name="Gruppieren 328"/>
          <p:cNvGrpSpPr/>
          <p:nvPr/>
        </p:nvGrpSpPr>
        <p:grpSpPr>
          <a:xfrm>
            <a:off x="1181023" y="5029200"/>
            <a:ext cx="1943177" cy="838200"/>
            <a:chOff x="1176600" y="5029200"/>
            <a:chExt cx="1943177" cy="838200"/>
          </a:xfrm>
        </p:grpSpPr>
        <p:sp>
          <p:nvSpPr>
            <p:cNvPr id="133" name="Flussdiagramm: Alternativer Prozess 132"/>
            <p:cNvSpPr/>
            <p:nvPr/>
          </p:nvSpPr>
          <p:spPr bwMode="auto">
            <a:xfrm>
              <a:off x="2362200" y="518160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WCS</a:t>
              </a:r>
              <a:endParaRPr lang="en-GB" sz="1800" dirty="0"/>
            </a:p>
          </p:txBody>
        </p:sp>
        <p:sp>
          <p:nvSpPr>
            <p:cNvPr id="384" name="Flussdiagramm: Datenträger mit direktem Zugriff 383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85" name="Gerade Verbindung mit Pfeil 384"/>
            <p:cNvCxnSpPr>
              <a:stCxn id="390" idx="6"/>
              <a:endCxn id="133" idx="1"/>
            </p:cNvCxnSpPr>
            <p:nvPr/>
          </p:nvCxnSpPr>
          <p:spPr bwMode="auto">
            <a:xfrm flipV="1">
              <a:off x="1966019" y="5434761"/>
              <a:ext cx="396181" cy="21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388" name="Gerade Verbindung mit Pfeil 387"/>
            <p:cNvCxnSpPr>
              <a:stCxn id="391" idx="4"/>
              <a:endCxn id="390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390" name="Ellipse 389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1" name="Flussdiagramm: Datenträger mit direktem Zugriff 390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92" name="Gerade Verbindung mit Pfeil 391"/>
            <p:cNvCxnSpPr>
              <a:stCxn id="384" idx="4"/>
              <a:endCxn id="390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00CCFF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397" name="Gruppieren 396"/>
          <p:cNvGrpSpPr/>
          <p:nvPr/>
        </p:nvGrpSpPr>
        <p:grpSpPr>
          <a:xfrm>
            <a:off x="1981200" y="4572000"/>
            <a:ext cx="752706" cy="264405"/>
            <a:chOff x="477449" y="2158821"/>
            <a:chExt cx="1770451" cy="566777"/>
          </a:xfrm>
        </p:grpSpPr>
        <p:sp>
          <p:nvSpPr>
            <p:cNvPr id="398" name="Flussdiagramm: Datenträger mit direktem Zugriff 397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9" name="Flussdiagramm: Alternativer Prozess 398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0" name="Gerade Verbindung mit Pfeil 39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01" name="Gerade Verbindung mit Pfeil 40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28" name="Gruppieren 327"/>
          <p:cNvGrpSpPr/>
          <p:nvPr/>
        </p:nvGrpSpPr>
        <p:grpSpPr>
          <a:xfrm>
            <a:off x="407145" y="4545863"/>
            <a:ext cx="1207646" cy="605462"/>
            <a:chOff x="240154" y="4574069"/>
            <a:chExt cx="1207646" cy="605462"/>
          </a:xfrm>
        </p:grpSpPr>
        <p:sp>
          <p:nvSpPr>
            <p:cNvPr id="169" name="Flussdiagramm: Alternativer Prozess 168"/>
            <p:cNvSpPr/>
            <p:nvPr/>
          </p:nvSpPr>
          <p:spPr bwMode="auto">
            <a:xfrm>
              <a:off x="1130107" y="4693385"/>
              <a:ext cx="317693" cy="215775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02" name="Gerade Verbindung mit Pfeil 401"/>
            <p:cNvCxnSpPr>
              <a:stCxn id="409" idx="6"/>
              <a:endCxn id="169" idx="1"/>
            </p:cNvCxnSpPr>
            <p:nvPr/>
          </p:nvCxnSpPr>
          <p:spPr bwMode="auto">
            <a:xfrm flipV="1">
              <a:off x="873169" y="4801273"/>
              <a:ext cx="256938" cy="151444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03" name="Flussdiagramm: Datenträger mit direktem Zugriff 402"/>
            <p:cNvSpPr/>
            <p:nvPr/>
          </p:nvSpPr>
          <p:spPr bwMode="auto">
            <a:xfrm>
              <a:off x="240154" y="47244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4" name="Flussdiagramm: Datenträger mit direktem Zugriff 403"/>
            <p:cNvSpPr/>
            <p:nvPr/>
          </p:nvSpPr>
          <p:spPr bwMode="auto">
            <a:xfrm>
              <a:off x="457200" y="4953000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5" name="Gerade Verbindung mit Pfeil 404"/>
            <p:cNvCxnSpPr>
              <a:stCxn id="407" idx="4"/>
              <a:endCxn id="409" idx="4"/>
            </p:cNvCxnSpPr>
            <p:nvPr/>
          </p:nvCxnSpPr>
          <p:spPr bwMode="auto">
            <a:xfrm>
              <a:off x="821400" y="4687335"/>
              <a:ext cx="28910" cy="242523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cxnSp>
          <p:nvCxnSpPr>
            <p:cNvPr id="406" name="Gerade Verbindung mit Pfeil 405"/>
            <p:cNvCxnSpPr>
              <a:stCxn id="403" idx="4"/>
              <a:endCxn id="409" idx="2"/>
            </p:cNvCxnSpPr>
            <p:nvPr/>
          </p:nvCxnSpPr>
          <p:spPr bwMode="auto">
            <a:xfrm>
              <a:off x="528154" y="4837666"/>
              <a:ext cx="299296" cy="11505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07" name="Flussdiagramm: Datenträger mit direktem Zugriff 406"/>
            <p:cNvSpPr/>
            <p:nvPr/>
          </p:nvSpPr>
          <p:spPr bwMode="auto">
            <a:xfrm>
              <a:off x="533400" y="4574069"/>
              <a:ext cx="288000" cy="226531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08" name="Gerade Verbindung 407"/>
            <p:cNvCxnSpPr>
              <a:stCxn id="404" idx="4"/>
              <a:endCxn id="409" idx="1"/>
            </p:cNvCxnSpPr>
            <p:nvPr/>
          </p:nvCxnSpPr>
          <p:spPr bwMode="auto">
            <a:xfrm flipV="1">
              <a:off x="745200" y="4968882"/>
              <a:ext cx="88945" cy="97384"/>
            </a:xfrm>
            <a:prstGeom prst="line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09" name="Ellipse 408"/>
            <p:cNvSpPr/>
            <p:nvPr/>
          </p:nvSpPr>
          <p:spPr bwMode="auto">
            <a:xfrm flipV="1">
              <a:off x="827450" y="4929858"/>
              <a:ext cx="45719" cy="45719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26" name="Gruppieren 425"/>
          <p:cNvGrpSpPr/>
          <p:nvPr/>
        </p:nvGrpSpPr>
        <p:grpSpPr>
          <a:xfrm flipH="1">
            <a:off x="7848600" y="5966073"/>
            <a:ext cx="1072986" cy="434727"/>
            <a:chOff x="1176600" y="5029200"/>
            <a:chExt cx="1877436" cy="838200"/>
          </a:xfrm>
        </p:grpSpPr>
        <p:sp>
          <p:nvSpPr>
            <p:cNvPr id="427" name="Flussdiagramm: Alternativer Prozess 426"/>
            <p:cNvSpPr/>
            <p:nvPr/>
          </p:nvSpPr>
          <p:spPr bwMode="auto">
            <a:xfrm>
              <a:off x="2427939" y="5181599"/>
              <a:ext cx="62609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sp>
          <p:nvSpPr>
            <p:cNvPr id="428" name="Flussdiagramm: Datenträger mit direktem Zugriff 427"/>
            <p:cNvSpPr/>
            <p:nvPr/>
          </p:nvSpPr>
          <p:spPr bwMode="auto">
            <a:xfrm>
              <a:off x="1295400" y="50292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29" name="Gerade Verbindung mit Pfeil 428"/>
            <p:cNvCxnSpPr>
              <a:stCxn id="431" idx="6"/>
              <a:endCxn id="427" idx="1"/>
            </p:cNvCxnSpPr>
            <p:nvPr/>
          </p:nvCxnSpPr>
          <p:spPr bwMode="auto">
            <a:xfrm flipV="1">
              <a:off x="1966019" y="5434760"/>
              <a:ext cx="461920" cy="2102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cxnSp>
          <p:nvCxnSpPr>
            <p:cNvPr id="430" name="Gerade Verbindung mit Pfeil 429"/>
            <p:cNvCxnSpPr>
              <a:stCxn id="432" idx="4"/>
              <a:endCxn id="431" idx="3"/>
            </p:cNvCxnSpPr>
            <p:nvPr/>
          </p:nvCxnSpPr>
          <p:spPr bwMode="auto">
            <a:xfrm flipV="1">
              <a:off x="1752600" y="5455713"/>
              <a:ext cx="161336" cy="231687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31" name="Ellipse 430"/>
            <p:cNvSpPr/>
            <p:nvPr/>
          </p:nvSpPr>
          <p:spPr bwMode="auto">
            <a:xfrm>
              <a:off x="1905000" y="5410200"/>
              <a:ext cx="61019" cy="53322"/>
            </a:xfrm>
            <a:prstGeom prst="ellipse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2" name="Flussdiagramm: Datenträger mit direktem Zugriff 431"/>
            <p:cNvSpPr/>
            <p:nvPr/>
          </p:nvSpPr>
          <p:spPr bwMode="auto">
            <a:xfrm>
              <a:off x="1176600" y="5507400"/>
              <a:ext cx="576000" cy="360000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33" name="Gerade Verbindung mit Pfeil 432"/>
            <p:cNvCxnSpPr>
              <a:stCxn id="428" idx="4"/>
              <a:endCxn id="431" idx="0"/>
            </p:cNvCxnSpPr>
            <p:nvPr/>
          </p:nvCxnSpPr>
          <p:spPr bwMode="auto">
            <a:xfrm>
              <a:off x="1871400" y="5209200"/>
              <a:ext cx="64110" cy="20100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240" name="Gruppieren 239"/>
          <p:cNvGrpSpPr/>
          <p:nvPr/>
        </p:nvGrpSpPr>
        <p:grpSpPr>
          <a:xfrm>
            <a:off x="3017326" y="6172200"/>
            <a:ext cx="792674" cy="264405"/>
            <a:chOff x="477449" y="2158821"/>
            <a:chExt cx="1770451" cy="566777"/>
          </a:xfrm>
        </p:grpSpPr>
        <p:sp>
          <p:nvSpPr>
            <p:cNvPr id="241" name="Flussdiagramm: Datenträger mit direktem Zugriff 240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42" name="Flussdiagramm: Alternativer Prozess 241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243" name="Gerade Verbindung mit Pfeil 242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244" name="Gerade Verbindung mit Pfeil 243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6" name="Gerade Verbindung mit Pfeil 5"/>
          <p:cNvCxnSpPr>
            <a:stCxn id="48" idx="0"/>
            <a:endCxn id="373" idx="6"/>
          </p:cNvCxnSpPr>
          <p:nvPr/>
        </p:nvCxnSpPr>
        <p:spPr bwMode="auto">
          <a:xfrm flipV="1">
            <a:off x="4894279" y="2395436"/>
            <a:ext cx="99289" cy="271563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Gerade Verbindung mit Pfeil 9"/>
          <p:cNvCxnSpPr>
            <a:stCxn id="76" idx="0"/>
            <a:endCxn id="270" idx="6"/>
          </p:cNvCxnSpPr>
          <p:nvPr/>
        </p:nvCxnSpPr>
        <p:spPr bwMode="auto">
          <a:xfrm flipH="1" flipV="1">
            <a:off x="3001798" y="2746769"/>
            <a:ext cx="197671" cy="37853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Gerade Verbindung mit Pfeil 11"/>
          <p:cNvCxnSpPr>
            <a:stCxn id="54" idx="0"/>
            <a:endCxn id="382" idx="6"/>
          </p:cNvCxnSpPr>
          <p:nvPr/>
        </p:nvCxnSpPr>
        <p:spPr bwMode="auto">
          <a:xfrm flipV="1">
            <a:off x="3962624" y="2317063"/>
            <a:ext cx="39052" cy="349936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2" name="Gerade Verbindung mit Pfeil 21"/>
          <p:cNvCxnSpPr>
            <a:stCxn id="58" idx="2"/>
            <a:endCxn id="364" idx="1"/>
          </p:cNvCxnSpPr>
          <p:nvPr/>
        </p:nvCxnSpPr>
        <p:spPr bwMode="auto">
          <a:xfrm>
            <a:off x="4644947" y="4766721"/>
            <a:ext cx="42764" cy="194066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Gerade Verbindung mit Pfeil 24"/>
          <p:cNvCxnSpPr>
            <a:stCxn id="82" idx="1"/>
            <a:endCxn id="356" idx="4"/>
          </p:cNvCxnSpPr>
          <p:nvPr/>
        </p:nvCxnSpPr>
        <p:spPr bwMode="auto">
          <a:xfrm flipH="1">
            <a:off x="3337652" y="4452091"/>
            <a:ext cx="198970" cy="189441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5" name="Gerade Verbindung mit Pfeil 34"/>
          <p:cNvCxnSpPr>
            <a:stCxn id="86" idx="2"/>
            <a:endCxn id="270" idx="2"/>
          </p:cNvCxnSpPr>
          <p:nvPr/>
        </p:nvCxnSpPr>
        <p:spPr bwMode="auto">
          <a:xfrm>
            <a:off x="2512389" y="2123208"/>
            <a:ext cx="318987" cy="309317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Gerade Verbindung mit Pfeil 36"/>
          <p:cNvCxnSpPr>
            <a:stCxn id="258" idx="2"/>
            <a:endCxn id="382" idx="2"/>
          </p:cNvCxnSpPr>
          <p:nvPr/>
        </p:nvCxnSpPr>
        <p:spPr bwMode="auto">
          <a:xfrm>
            <a:off x="3792212" y="1879170"/>
            <a:ext cx="39042" cy="123649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5" name="Gerade Verbindung mit Pfeil 44"/>
          <p:cNvCxnSpPr>
            <a:stCxn id="158" idx="2"/>
            <a:endCxn id="373" idx="3"/>
          </p:cNvCxnSpPr>
          <p:nvPr/>
        </p:nvCxnSpPr>
        <p:spPr bwMode="auto">
          <a:xfrm>
            <a:off x="4848384" y="1527149"/>
            <a:ext cx="168935" cy="508294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8" name="Gerade Verbindung mit Pfeil 77"/>
          <p:cNvCxnSpPr>
            <a:stCxn id="96" idx="0"/>
            <a:endCxn id="364" idx="6"/>
          </p:cNvCxnSpPr>
          <p:nvPr/>
        </p:nvCxnSpPr>
        <p:spPr bwMode="auto">
          <a:xfrm flipH="1" flipV="1">
            <a:off x="5002390" y="5137243"/>
            <a:ext cx="25673" cy="7458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5" name="Gerade Verbindung mit Pfeil 84"/>
          <p:cNvCxnSpPr>
            <a:stCxn id="133" idx="0"/>
            <a:endCxn id="356" idx="7"/>
          </p:cNvCxnSpPr>
          <p:nvPr/>
        </p:nvCxnSpPr>
        <p:spPr bwMode="auto">
          <a:xfrm flipV="1">
            <a:off x="2745412" y="5104860"/>
            <a:ext cx="173787" cy="76740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5" name="Gerade Verbindung mit Pfeil 104"/>
          <p:cNvCxnSpPr>
            <a:stCxn id="101" idx="3"/>
            <a:endCxn id="348" idx="0"/>
          </p:cNvCxnSpPr>
          <p:nvPr/>
        </p:nvCxnSpPr>
        <p:spPr bwMode="auto">
          <a:xfrm>
            <a:off x="2098953" y="4071751"/>
            <a:ext cx="91516" cy="15608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15" name="Gerade Verbindung mit Pfeil 314"/>
          <p:cNvCxnSpPr>
            <a:stCxn id="73" idx="1"/>
            <a:endCxn id="348" idx="5"/>
          </p:cNvCxnSpPr>
          <p:nvPr/>
        </p:nvCxnSpPr>
        <p:spPr bwMode="auto">
          <a:xfrm flipH="1">
            <a:off x="2659243" y="3945724"/>
            <a:ext cx="125248" cy="3118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16" name="Gruppieren 315"/>
          <p:cNvGrpSpPr/>
          <p:nvPr/>
        </p:nvGrpSpPr>
        <p:grpSpPr>
          <a:xfrm flipH="1">
            <a:off x="5791200" y="1792995"/>
            <a:ext cx="732377" cy="264405"/>
            <a:chOff x="477449" y="2158821"/>
            <a:chExt cx="1770451" cy="566777"/>
          </a:xfrm>
        </p:grpSpPr>
        <p:sp>
          <p:nvSpPr>
            <p:cNvPr id="395" name="Flussdiagramm: Datenträger mit direktem Zugriff 394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6" name="Flussdiagramm: Alternativer Prozess 395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10" name="Gerade Verbindung mit Pfeil 409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11" name="Gerade Verbindung mit Pfeil 410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12" name="Gruppieren 411"/>
          <p:cNvGrpSpPr/>
          <p:nvPr/>
        </p:nvGrpSpPr>
        <p:grpSpPr>
          <a:xfrm flipH="1">
            <a:off x="7078456" y="4027843"/>
            <a:ext cx="732377" cy="264405"/>
            <a:chOff x="477449" y="2158821"/>
            <a:chExt cx="1770451" cy="566777"/>
          </a:xfrm>
        </p:grpSpPr>
        <p:sp>
          <p:nvSpPr>
            <p:cNvPr id="413" name="Flussdiagramm: Datenträger mit direktem Zugriff 412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4" name="Flussdiagramm: Alternativer Prozess 413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dirty="0" smtClean="0"/>
                <a:t>…</a:t>
              </a:r>
              <a:endParaRPr lang="en-GB" dirty="0"/>
            </a:p>
          </p:txBody>
        </p:sp>
        <p:cxnSp>
          <p:nvCxnSpPr>
            <p:cNvPr id="415" name="Gerade Verbindung mit Pfeil 414"/>
            <p:cNvCxnSpPr/>
            <p:nvPr/>
          </p:nvCxnSpPr>
          <p:spPr bwMode="auto">
            <a:xfrm flipH="1">
              <a:off x="1219200" y="23279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16" name="Gerade Verbindung mit Pfeil 415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417" name="Gruppieren 416"/>
          <p:cNvGrpSpPr/>
          <p:nvPr/>
        </p:nvGrpSpPr>
        <p:grpSpPr>
          <a:xfrm flipH="1">
            <a:off x="6810407" y="3137270"/>
            <a:ext cx="2181193" cy="697134"/>
            <a:chOff x="1080057" y="5069506"/>
            <a:chExt cx="2083305" cy="697134"/>
          </a:xfrm>
        </p:grpSpPr>
        <p:sp>
          <p:nvSpPr>
            <p:cNvPr id="418" name="Flussdiagramm: Datenträger mit direktem Zugriff 417"/>
            <p:cNvSpPr/>
            <p:nvPr/>
          </p:nvSpPr>
          <p:spPr bwMode="auto">
            <a:xfrm>
              <a:off x="1465480" y="5069506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9" name="Flussdiagramm: Alternativer Prozess 418"/>
            <p:cNvSpPr/>
            <p:nvPr/>
          </p:nvSpPr>
          <p:spPr bwMode="auto">
            <a:xfrm>
              <a:off x="2405785" y="5216550"/>
              <a:ext cx="757577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r>
                <a:rPr lang="en-GB" sz="1800" dirty="0" smtClean="0"/>
                <a:t>…</a:t>
              </a:r>
              <a:endParaRPr lang="en-GB" sz="1800" dirty="0"/>
            </a:p>
          </p:txBody>
        </p:sp>
        <p:cxnSp>
          <p:nvCxnSpPr>
            <p:cNvPr id="425" name="Gerade Verbindung mit Pfeil 424"/>
            <p:cNvCxnSpPr>
              <a:endCxn id="419" idx="1"/>
            </p:cNvCxnSpPr>
            <p:nvPr/>
          </p:nvCxnSpPr>
          <p:spPr bwMode="auto">
            <a:xfrm>
              <a:off x="2119046" y="5329670"/>
              <a:ext cx="286739" cy="14004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  <p:sp>
          <p:nvSpPr>
            <p:cNvPr id="439" name="Flussdiagramm: Datenträger mit direktem Zugriff 438"/>
            <p:cNvSpPr/>
            <p:nvPr/>
          </p:nvSpPr>
          <p:spPr bwMode="auto">
            <a:xfrm>
              <a:off x="1080057" y="5199863"/>
              <a:ext cx="757577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0" name="Gerade Verbindung mit Pfeil 439"/>
            <p:cNvCxnSpPr>
              <a:stCxn id="419" idx="1"/>
            </p:cNvCxnSpPr>
            <p:nvPr/>
          </p:nvCxnSpPr>
          <p:spPr bwMode="auto">
            <a:xfrm flipH="1" flipV="1">
              <a:off x="1716341" y="5469710"/>
              <a:ext cx="689444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FFC000"/>
              </a:solidFill>
              <a:prstDash val="solid"/>
              <a:round/>
              <a:headEnd type="arrow" w="med" len="med"/>
              <a:tailEnd type="arrow"/>
            </a:ln>
            <a:effectLst/>
          </p:spPr>
        </p:cxnSp>
      </p:grpSp>
      <p:grpSp>
        <p:nvGrpSpPr>
          <p:cNvPr id="441" name="Gruppieren 440"/>
          <p:cNvGrpSpPr/>
          <p:nvPr/>
        </p:nvGrpSpPr>
        <p:grpSpPr>
          <a:xfrm>
            <a:off x="6442206" y="4343400"/>
            <a:ext cx="2629505" cy="1295400"/>
            <a:chOff x="6442206" y="4191000"/>
            <a:chExt cx="2629505" cy="1295400"/>
          </a:xfrm>
        </p:grpSpPr>
        <p:grpSp>
          <p:nvGrpSpPr>
            <p:cNvPr id="442" name="Gruppieren 441"/>
            <p:cNvGrpSpPr/>
            <p:nvPr/>
          </p:nvGrpSpPr>
          <p:grpSpPr>
            <a:xfrm flipH="1">
              <a:off x="6442206" y="4317263"/>
              <a:ext cx="2101936" cy="1016737"/>
              <a:chOff x="609600" y="1469843"/>
              <a:chExt cx="2083305" cy="1016737"/>
            </a:xfrm>
          </p:grpSpPr>
          <p:sp>
            <p:nvSpPr>
              <p:cNvPr id="449" name="Flussdiagramm: Datenträger mit direktem Zugriff 448"/>
              <p:cNvSpPr/>
              <p:nvPr/>
            </p:nvSpPr>
            <p:spPr bwMode="auto">
              <a:xfrm>
                <a:off x="995023" y="146984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0" name="Flussdiagramm: Alternativer Prozess 449"/>
              <p:cNvSpPr/>
              <p:nvPr/>
            </p:nvSpPr>
            <p:spPr bwMode="auto">
              <a:xfrm>
                <a:off x="1935328" y="1616887"/>
                <a:ext cx="757577" cy="506321"/>
              </a:xfrm>
              <a:prstGeom prst="flowChartAlternateProcess">
                <a:avLst/>
              </a:prstGeom>
              <a:noFill/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lIns="0" rIns="0" rtlCol="0" anchor="ctr"/>
              <a:lstStyle/>
              <a:p>
                <a:pPr algn="ctr"/>
                <a:r>
                  <a:rPr lang="en-GB" sz="1800" dirty="0" smtClean="0"/>
                  <a:t>CSW</a:t>
                </a:r>
                <a:endParaRPr lang="en-GB" sz="1800" dirty="0"/>
              </a:p>
            </p:txBody>
          </p:sp>
          <p:cxnSp>
            <p:nvCxnSpPr>
              <p:cNvPr id="451" name="Gerade Verbindung mit Pfeil 450"/>
              <p:cNvCxnSpPr>
                <a:endCxn id="450" idx="1"/>
              </p:cNvCxnSpPr>
              <p:nvPr/>
            </p:nvCxnSpPr>
            <p:spPr bwMode="auto">
              <a:xfrm>
                <a:off x="1634307" y="1766214"/>
                <a:ext cx="301021" cy="103834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452" name="Flussdiagramm: Datenträger mit direktem Zugriff 451"/>
              <p:cNvSpPr/>
              <p:nvPr/>
            </p:nvSpPr>
            <p:spPr bwMode="auto">
              <a:xfrm>
                <a:off x="952200" y="1919803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53" name="Gerade Verbindung mit Pfeil 452"/>
              <p:cNvCxnSpPr>
                <a:stCxn id="450" idx="1"/>
              </p:cNvCxnSpPr>
              <p:nvPr/>
            </p:nvCxnSpPr>
            <p:spPr bwMode="auto">
              <a:xfrm flipH="1">
                <a:off x="1578422" y="1870048"/>
                <a:ext cx="356906" cy="406826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  <p:sp>
            <p:nvSpPr>
              <p:cNvPr id="454" name="Flussdiagramm: Datenträger mit direktem Zugriff 453"/>
              <p:cNvSpPr/>
              <p:nvPr/>
            </p:nvSpPr>
            <p:spPr bwMode="auto">
              <a:xfrm>
                <a:off x="609600" y="1600200"/>
                <a:ext cx="757577" cy="566777"/>
              </a:xfrm>
              <a:prstGeom prst="flowChartMagneticDrum">
                <a:avLst/>
              </a:prstGeom>
              <a:solidFill>
                <a:schemeClr val="bg1">
                  <a:lumMod val="90000"/>
                </a:schemeClr>
              </a:solidFill>
              <a:ln w="12700" cap="flat" cmpd="sng" algn="ctr">
                <a:solidFill>
                  <a:srgbClr val="969696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cxnSp>
            <p:nvCxnSpPr>
              <p:cNvPr id="455" name="Gerade Verbindung mit Pfeil 454"/>
              <p:cNvCxnSpPr>
                <a:stCxn id="450" idx="1"/>
              </p:cNvCxnSpPr>
              <p:nvPr/>
            </p:nvCxnSpPr>
            <p:spPr bwMode="auto">
              <a:xfrm flipH="1">
                <a:off x="1221515" y="1870048"/>
                <a:ext cx="713813" cy="13541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B050"/>
                </a:solidFill>
                <a:prstDash val="solid"/>
                <a:round/>
                <a:headEnd type="arrow" w="med" len="med"/>
                <a:tailEnd type="arrow"/>
              </a:ln>
              <a:effectLst/>
            </p:spPr>
          </p:cxnSp>
        </p:grpSp>
        <p:sp>
          <p:nvSpPr>
            <p:cNvPr id="443" name="Flussdiagramm: Datenträger mit direktem Zugriff 442"/>
            <p:cNvSpPr/>
            <p:nvPr/>
          </p:nvSpPr>
          <p:spPr bwMode="auto">
            <a:xfrm flipH="1">
              <a:off x="8682889" y="4191000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4" name="Gerade Verbindung mit Pfeil 443"/>
            <p:cNvCxnSpPr>
              <a:stCxn id="443" idx="4"/>
              <a:endCxn id="454" idx="1"/>
            </p:cNvCxnSpPr>
            <p:nvPr/>
          </p:nvCxnSpPr>
          <p:spPr bwMode="auto">
            <a:xfrm flipH="1">
              <a:off x="8544142" y="4313288"/>
              <a:ext cx="138747" cy="417721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5" name="Flussdiagramm: Datenträger mit direktem Zugriff 444"/>
            <p:cNvSpPr/>
            <p:nvPr/>
          </p:nvSpPr>
          <p:spPr bwMode="auto">
            <a:xfrm flipH="1">
              <a:off x="8763000" y="47846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6" name="Gerade Verbindung mit Pfeil 445"/>
            <p:cNvCxnSpPr>
              <a:stCxn id="454" idx="1"/>
              <a:endCxn id="445" idx="4"/>
            </p:cNvCxnSpPr>
            <p:nvPr/>
          </p:nvCxnSpPr>
          <p:spPr bwMode="auto">
            <a:xfrm>
              <a:off x="8544142" y="4731009"/>
              <a:ext cx="218858" cy="175903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  <p:sp>
          <p:nvSpPr>
            <p:cNvPr id="447" name="Flussdiagramm: Datenträger mit direktem Zugriff 446"/>
            <p:cNvSpPr/>
            <p:nvPr/>
          </p:nvSpPr>
          <p:spPr bwMode="auto">
            <a:xfrm flipH="1">
              <a:off x="8448458" y="5241824"/>
              <a:ext cx="308711" cy="244576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448" name="Gerade Verbindung mit Pfeil 447"/>
            <p:cNvCxnSpPr>
              <a:stCxn id="452" idx="1"/>
              <a:endCxn id="447" idx="4"/>
            </p:cNvCxnSpPr>
            <p:nvPr/>
          </p:nvCxnSpPr>
          <p:spPr bwMode="auto">
            <a:xfrm>
              <a:off x="8198478" y="5050612"/>
              <a:ext cx="249980" cy="313500"/>
            </a:xfrm>
            <a:prstGeom prst="straightConnector1">
              <a:avLst/>
            </a:prstGeom>
            <a:noFill/>
            <a:ln w="127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/>
            </a:ln>
            <a:effectLst/>
          </p:spPr>
        </p:cxnSp>
      </p:grpSp>
      <p:grpSp>
        <p:nvGrpSpPr>
          <p:cNvPr id="456" name="Gruppieren 455"/>
          <p:cNvGrpSpPr/>
          <p:nvPr/>
        </p:nvGrpSpPr>
        <p:grpSpPr>
          <a:xfrm flipH="1">
            <a:off x="6525921" y="2328823"/>
            <a:ext cx="1779879" cy="566777"/>
            <a:chOff x="477449" y="2158821"/>
            <a:chExt cx="1770451" cy="566777"/>
          </a:xfrm>
        </p:grpSpPr>
        <p:sp>
          <p:nvSpPr>
            <p:cNvPr id="457" name="Flussdiagramm: Datenträger mit direktem Zugriff 456"/>
            <p:cNvSpPr/>
            <p:nvPr/>
          </p:nvSpPr>
          <p:spPr bwMode="auto">
            <a:xfrm>
              <a:off x="477449" y="2158821"/>
              <a:ext cx="755703" cy="566777"/>
            </a:xfrm>
            <a:prstGeom prst="flowChartMagneticDrum">
              <a:avLst/>
            </a:prstGeom>
            <a:solidFill>
              <a:schemeClr val="bg1">
                <a:lumMod val="9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8" name="Flussdiagramm: Alternativer Prozess 457"/>
            <p:cNvSpPr/>
            <p:nvPr/>
          </p:nvSpPr>
          <p:spPr bwMode="auto">
            <a:xfrm>
              <a:off x="1492197" y="2189049"/>
              <a:ext cx="755703" cy="506321"/>
            </a:xfrm>
            <a:prstGeom prst="flowChartAlternateProcess">
              <a:avLst/>
            </a:prstGeom>
            <a:noFill/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0" rIns="0" rtlCol="0" anchor="ctr"/>
            <a:lstStyle/>
            <a:p>
              <a:pPr algn="ctr"/>
              <a:r>
                <a:rPr lang="en-GB" sz="1800" dirty="0" smtClean="0"/>
                <a:t>SOS</a:t>
              </a:r>
              <a:endParaRPr lang="en-GB" sz="1800" dirty="0"/>
            </a:p>
          </p:txBody>
        </p:sp>
        <p:cxnSp>
          <p:nvCxnSpPr>
            <p:cNvPr id="459" name="Gerade Verbindung mit Pfeil 458"/>
            <p:cNvCxnSpPr/>
            <p:nvPr/>
          </p:nvCxnSpPr>
          <p:spPr bwMode="auto">
            <a:xfrm flipH="1">
              <a:off x="1096653" y="2327909"/>
              <a:ext cx="396266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460" name="Gerade Verbindung mit Pfeil 459"/>
            <p:cNvCxnSpPr/>
            <p:nvPr/>
          </p:nvCxnSpPr>
          <p:spPr bwMode="auto">
            <a:xfrm>
              <a:off x="1228725" y="2556509"/>
              <a:ext cx="273718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cxnSp>
        <p:nvCxnSpPr>
          <p:cNvPr id="462" name="Gerade Verbindung mit Pfeil 461"/>
          <p:cNvCxnSpPr>
            <a:endCxn id="330" idx="0"/>
          </p:cNvCxnSpPr>
          <p:nvPr/>
        </p:nvCxnSpPr>
        <p:spPr bwMode="auto">
          <a:xfrm flipV="1">
            <a:off x="6086150" y="3662857"/>
            <a:ext cx="138511" cy="115982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3" name="Gerade Verbindung mit Pfeil 462"/>
          <p:cNvCxnSpPr>
            <a:endCxn id="338" idx="2"/>
          </p:cNvCxnSpPr>
          <p:nvPr/>
        </p:nvCxnSpPr>
        <p:spPr bwMode="auto">
          <a:xfrm>
            <a:off x="5645597" y="4308189"/>
            <a:ext cx="270067" cy="68569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5" name="Gerade Verbindung mit Pfeil 464"/>
          <p:cNvCxnSpPr>
            <a:endCxn id="330" idx="5"/>
          </p:cNvCxnSpPr>
          <p:nvPr/>
        </p:nvCxnSpPr>
        <p:spPr bwMode="auto">
          <a:xfrm flipH="1">
            <a:off x="6693435" y="3537475"/>
            <a:ext cx="116973" cy="14936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6" name="Gerade Verbindung mit Pfeil 465"/>
          <p:cNvCxnSpPr>
            <a:endCxn id="338" idx="5"/>
          </p:cNvCxnSpPr>
          <p:nvPr/>
        </p:nvCxnSpPr>
        <p:spPr bwMode="auto">
          <a:xfrm flipH="1" flipV="1">
            <a:off x="6230343" y="4553214"/>
            <a:ext cx="211863" cy="316655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Ellipse 2"/>
          <p:cNvSpPr/>
          <p:nvPr/>
        </p:nvSpPr>
        <p:spPr bwMode="auto">
          <a:xfrm>
            <a:off x="2310095" y="2133600"/>
            <a:ext cx="4112391" cy="2933619"/>
          </a:xfrm>
          <a:prstGeom prst="ellipse">
            <a:avLst/>
          </a:prstGeom>
          <a:noFill/>
          <a:ln w="19050" cap="flat" cmpd="sng" algn="ctr">
            <a:solidFill>
              <a:srgbClr val="C00000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266" name="Gruppieren 265"/>
          <p:cNvGrpSpPr/>
          <p:nvPr/>
        </p:nvGrpSpPr>
        <p:grpSpPr>
          <a:xfrm>
            <a:off x="2644355" y="2410906"/>
            <a:ext cx="544464" cy="473360"/>
            <a:chOff x="3251645" y="2470179"/>
            <a:chExt cx="1838625" cy="2178022"/>
          </a:xfrm>
        </p:grpSpPr>
        <p:sp>
          <p:nvSpPr>
            <p:cNvPr id="270" name="Träne 269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271" name="Gruppieren 270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282" name="Freihandform 281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3" name="Freihandform 282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4" name="Freihandform 283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5" name="Freihandform 284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286" name="Freihandform 285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18" name="Gruppieren 317"/>
          <p:cNvGrpSpPr/>
          <p:nvPr/>
        </p:nvGrpSpPr>
        <p:grpSpPr>
          <a:xfrm>
            <a:off x="5846811" y="2590800"/>
            <a:ext cx="544464" cy="473360"/>
            <a:chOff x="3251645" y="2470179"/>
            <a:chExt cx="1838625" cy="2178022"/>
          </a:xfrm>
        </p:grpSpPr>
        <p:sp>
          <p:nvSpPr>
            <p:cNvPr id="320" name="Träne 319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21" name="Gruppieren 320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22" name="Freihandform 321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3" name="Freihandform 322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4" name="Freihandform 323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5" name="Freihandform 324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26" name="Freihandform 325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27" name="Gruppieren 326"/>
          <p:cNvGrpSpPr/>
          <p:nvPr/>
        </p:nvGrpSpPr>
        <p:grpSpPr>
          <a:xfrm>
            <a:off x="6191735" y="3354336"/>
            <a:ext cx="544464" cy="473360"/>
            <a:chOff x="3251645" y="2470179"/>
            <a:chExt cx="1838625" cy="2178022"/>
          </a:xfrm>
        </p:grpSpPr>
        <p:sp>
          <p:nvSpPr>
            <p:cNvPr id="330" name="Träne 329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31" name="Gruppieren 330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32" name="Freihandform 331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3" name="Freihandform 332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4" name="Freihandform 333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5" name="Freihandform 334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36" name="Freihandform 335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37" name="Gruppieren 336"/>
          <p:cNvGrpSpPr/>
          <p:nvPr/>
        </p:nvGrpSpPr>
        <p:grpSpPr>
          <a:xfrm>
            <a:off x="5728643" y="4355139"/>
            <a:ext cx="544464" cy="473360"/>
            <a:chOff x="3251645" y="2470179"/>
            <a:chExt cx="1838625" cy="2178022"/>
          </a:xfrm>
        </p:grpSpPr>
        <p:sp>
          <p:nvSpPr>
            <p:cNvPr id="338" name="Träne 337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39" name="Gruppieren 338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40" name="Freihandform 339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1" name="Freihandform 340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2" name="Freihandform 341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3" name="Freihandform 342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44" name="Freihandform 343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45" name="Gruppieren 344"/>
          <p:cNvGrpSpPr/>
          <p:nvPr/>
        </p:nvGrpSpPr>
        <p:grpSpPr>
          <a:xfrm>
            <a:off x="2157543" y="3778838"/>
            <a:ext cx="544464" cy="473360"/>
            <a:chOff x="3251645" y="2470179"/>
            <a:chExt cx="1838625" cy="2178022"/>
          </a:xfrm>
        </p:grpSpPr>
        <p:sp>
          <p:nvSpPr>
            <p:cNvPr id="348" name="Träne 347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49" name="Gruppieren 348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50" name="Freihandform 349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1" name="Freihandform 350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2" name="Freihandform 351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3" name="Freihandform 352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4" name="Freihandform 353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55" name="Gruppieren 354"/>
          <p:cNvGrpSpPr/>
          <p:nvPr/>
        </p:nvGrpSpPr>
        <p:grpSpPr>
          <a:xfrm>
            <a:off x="2826114" y="4592571"/>
            <a:ext cx="544464" cy="473360"/>
            <a:chOff x="3251645" y="2470179"/>
            <a:chExt cx="1838625" cy="2178022"/>
          </a:xfrm>
        </p:grpSpPr>
        <p:sp>
          <p:nvSpPr>
            <p:cNvPr id="356" name="Träne 355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57" name="Gruppieren 356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58" name="Freihandform 357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59" name="Freihandform 358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0" name="Freihandform 359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1" name="Freihandform 360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2" name="Freihandform 361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63" name="Gruppieren 362"/>
          <p:cNvGrpSpPr/>
          <p:nvPr/>
        </p:nvGrpSpPr>
        <p:grpSpPr>
          <a:xfrm>
            <a:off x="4644947" y="4801380"/>
            <a:ext cx="544464" cy="473360"/>
            <a:chOff x="3251645" y="2470179"/>
            <a:chExt cx="1838625" cy="2178022"/>
          </a:xfrm>
        </p:grpSpPr>
        <p:sp>
          <p:nvSpPr>
            <p:cNvPr id="364" name="Träne 363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65" name="Gruppieren 364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66" name="Freihandform 365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7" name="Freihandform 366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8" name="Freihandform 367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69" name="Freihandform 368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1" name="Freihandform 370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72" name="Gruppieren 371"/>
          <p:cNvGrpSpPr/>
          <p:nvPr/>
        </p:nvGrpSpPr>
        <p:grpSpPr>
          <a:xfrm>
            <a:off x="4636125" y="2059573"/>
            <a:ext cx="544464" cy="473360"/>
            <a:chOff x="3251645" y="2470179"/>
            <a:chExt cx="1838625" cy="2178022"/>
          </a:xfrm>
        </p:grpSpPr>
        <p:sp>
          <p:nvSpPr>
            <p:cNvPr id="373" name="Träne 372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74" name="Gruppieren 373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75" name="Freihandform 374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6" name="Freihandform 375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7" name="Freihandform 376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78" name="Freihandform 377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0" name="Freihandform 379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381" name="Gruppieren 380"/>
          <p:cNvGrpSpPr/>
          <p:nvPr/>
        </p:nvGrpSpPr>
        <p:grpSpPr>
          <a:xfrm>
            <a:off x="3644233" y="1981200"/>
            <a:ext cx="544464" cy="473360"/>
            <a:chOff x="3251645" y="2470179"/>
            <a:chExt cx="1838625" cy="2178022"/>
          </a:xfrm>
        </p:grpSpPr>
        <p:sp>
          <p:nvSpPr>
            <p:cNvPr id="382" name="Träne 381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383" name="Gruppieren 382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386" name="Freihandform 385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7" name="Freihandform 386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89" name="Freihandform 388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3" name="Freihandform 392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394" name="Freihandform 393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cxnSp>
        <p:nvCxnSpPr>
          <p:cNvPr id="467" name="Gerade Verbindung mit Pfeil 466"/>
          <p:cNvCxnSpPr>
            <a:endCxn id="320" idx="0"/>
          </p:cNvCxnSpPr>
          <p:nvPr/>
        </p:nvCxnSpPr>
        <p:spPr bwMode="auto">
          <a:xfrm flipV="1">
            <a:off x="5641672" y="2899321"/>
            <a:ext cx="238065" cy="171313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8" name="Gerade Verbindung mit Pfeil 467"/>
          <p:cNvCxnSpPr>
            <a:endCxn id="320" idx="4"/>
          </p:cNvCxnSpPr>
          <p:nvPr/>
        </p:nvCxnSpPr>
        <p:spPr bwMode="auto">
          <a:xfrm flipH="1">
            <a:off x="6358349" y="2612212"/>
            <a:ext cx="167572" cy="27549"/>
          </a:xfrm>
          <a:prstGeom prst="straightConnector1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69" name="Gerade Verbindung mit Pfeil 468"/>
          <p:cNvCxnSpPr/>
          <p:nvPr/>
        </p:nvCxnSpPr>
        <p:spPr bwMode="auto">
          <a:xfrm>
            <a:off x="2309766" y="3659702"/>
            <a:ext cx="16079" cy="15029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0" name="Gerade Verbindung mit Pfeil 469"/>
          <p:cNvCxnSpPr/>
          <p:nvPr/>
        </p:nvCxnSpPr>
        <p:spPr bwMode="auto">
          <a:xfrm flipH="1">
            <a:off x="3126581" y="2371028"/>
            <a:ext cx="116904" cy="5550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1" name="Gerade Verbindung mit Pfeil 470"/>
          <p:cNvCxnSpPr/>
          <p:nvPr/>
        </p:nvCxnSpPr>
        <p:spPr bwMode="auto">
          <a:xfrm flipH="1">
            <a:off x="4161123" y="2134613"/>
            <a:ext cx="116904" cy="907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2" name="Gerade Verbindung mit Pfeil 471"/>
          <p:cNvCxnSpPr/>
          <p:nvPr/>
        </p:nvCxnSpPr>
        <p:spPr bwMode="auto">
          <a:xfrm flipH="1" flipV="1">
            <a:off x="5152676" y="2242558"/>
            <a:ext cx="108589" cy="36104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3" name="Gerade Verbindung mit Pfeil 472"/>
          <p:cNvCxnSpPr/>
          <p:nvPr/>
        </p:nvCxnSpPr>
        <p:spPr bwMode="auto">
          <a:xfrm flipH="1" flipV="1">
            <a:off x="6193637" y="2926553"/>
            <a:ext cx="76200" cy="116404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4" name="Gerade Verbindung mit Pfeil 473"/>
          <p:cNvCxnSpPr/>
          <p:nvPr/>
        </p:nvCxnSpPr>
        <p:spPr bwMode="auto">
          <a:xfrm flipV="1">
            <a:off x="6381752" y="3780662"/>
            <a:ext cx="24991" cy="10078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5" name="Gerade Verbindung mit Pfeil 474"/>
          <p:cNvCxnSpPr/>
          <p:nvPr/>
        </p:nvCxnSpPr>
        <p:spPr bwMode="auto">
          <a:xfrm flipV="1">
            <a:off x="5680257" y="4674551"/>
            <a:ext cx="92352" cy="50391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6" name="Gerade Verbindung mit Pfeil 475"/>
          <p:cNvCxnSpPr/>
          <p:nvPr/>
        </p:nvCxnSpPr>
        <p:spPr bwMode="auto">
          <a:xfrm flipV="1">
            <a:off x="4572000" y="5047272"/>
            <a:ext cx="92352" cy="868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7" name="Gerade Verbindung mit Pfeil 476"/>
          <p:cNvCxnSpPr/>
          <p:nvPr/>
        </p:nvCxnSpPr>
        <p:spPr bwMode="auto">
          <a:xfrm>
            <a:off x="2857709" y="4598262"/>
            <a:ext cx="87056" cy="61408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50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57200" y="2247543"/>
            <a:ext cx="82296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Consensus on context and meaning requires mediation by referencing shared concepts.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n-GB" sz="2800" b="0" dirty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Common concepts mediate among overlapping concepts and multiple representations.</a:t>
            </a:r>
            <a:endParaRPr lang="en-GB" sz="2800" b="0" dirty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dirty="0"/>
              <a:t>Suite of Water Information standards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349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685800" y="1253728"/>
            <a:ext cx="80772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1" indent="-34290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b="0" dirty="0" smtClean="0">
              <a:solidFill>
                <a:schemeClr val="tx2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i="1" dirty="0" smtClean="0">
                <a:solidFill>
                  <a:schemeClr val="tx2"/>
                </a:solidFill>
              </a:rPr>
              <a:t>HY_Features,</a:t>
            </a:r>
            <a:r>
              <a:rPr lang="en-US" sz="2400" b="0" dirty="0" smtClean="0">
                <a:solidFill>
                  <a:schemeClr val="tx2"/>
                </a:solidFill>
              </a:rPr>
              <a:t> common hydrologic feature model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92E5C"/>
                </a:solidFill>
              </a:rPr>
              <a:t>describes major </a:t>
            </a:r>
            <a:r>
              <a:rPr lang="en-US" sz="2000" b="0" dirty="0">
                <a:solidFill>
                  <a:srgbClr val="092E5C"/>
                </a:solidFill>
              </a:rPr>
              <a:t>components of the hydrosphere and their fundamental </a:t>
            </a:r>
            <a:r>
              <a:rPr lang="en-US" sz="2000" b="0" dirty="0" smtClean="0">
                <a:solidFill>
                  <a:srgbClr val="092E5C"/>
                </a:solidFill>
              </a:rPr>
              <a:t>relationships incl. a segmentation of watercourses,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chemeClr val="tx2"/>
                </a:solidFill>
              </a:rPr>
              <a:t>concepts </a:t>
            </a:r>
            <a:r>
              <a:rPr lang="en-US" sz="2000" b="0" dirty="0">
                <a:solidFill>
                  <a:schemeClr val="tx2"/>
                </a:solidFill>
              </a:rPr>
              <a:t>which reflect hydrologic significance and network </a:t>
            </a:r>
            <a:r>
              <a:rPr lang="en-US" sz="2000" b="0" dirty="0" smtClean="0">
                <a:solidFill>
                  <a:schemeClr val="tx2"/>
                </a:solidFill>
              </a:rPr>
              <a:t>connectivity,</a:t>
            </a:r>
            <a:endParaRPr lang="en-US" sz="2000" b="0" dirty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92E5C"/>
                </a:solidFill>
              </a:rPr>
              <a:t>compatible concepts, based on definitions </a:t>
            </a:r>
            <a:r>
              <a:rPr lang="en-US" sz="2000" b="0" dirty="0">
                <a:solidFill>
                  <a:srgbClr val="092E5C"/>
                </a:solidFill>
              </a:rPr>
              <a:t>endorsed by </a:t>
            </a:r>
            <a:r>
              <a:rPr lang="en-US" sz="2000" b="0" dirty="0" smtClean="0">
                <a:solidFill>
                  <a:srgbClr val="092E5C"/>
                </a:solidFill>
              </a:rPr>
              <a:t>WMO-CHy (documented in  “WMO International Glossary of Hydrology”)</a:t>
            </a:r>
            <a:endParaRPr lang="en-US" sz="2000" b="0" dirty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dirty="0" smtClean="0">
              <a:solidFill>
                <a:schemeClr val="tx2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i="1" dirty="0">
                <a:solidFill>
                  <a:schemeClr val="tx2"/>
                </a:solidFill>
              </a:rPr>
              <a:t>HY_Features, </a:t>
            </a:r>
            <a:r>
              <a:rPr lang="en-GB" sz="2800" dirty="0">
                <a:solidFill>
                  <a:schemeClr val="tx2"/>
                </a:solidFill>
              </a:rPr>
              <a:t>common </a:t>
            </a:r>
            <a:r>
              <a:rPr lang="en-GB" sz="2800" dirty="0" smtClean="0">
                <a:solidFill>
                  <a:schemeClr val="tx2"/>
                </a:solidFill>
              </a:rPr>
              <a:t>hydrologic feature </a:t>
            </a:r>
            <a:r>
              <a:rPr lang="en-GB" sz="2800" dirty="0">
                <a:solidFill>
                  <a:schemeClr val="tx2"/>
                </a:solidFill>
              </a:rPr>
              <a:t>model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6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altLang="en-US" sz="2800" i="1" dirty="0">
                <a:effectLst/>
              </a:rPr>
              <a:t>HY_Features</a:t>
            </a:r>
            <a:r>
              <a:rPr lang="en-GB" altLang="en-US" sz="2800" dirty="0">
                <a:effectLst/>
              </a:rPr>
              <a:t> – Basic concepts, 1(3)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5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79525"/>
            <a:ext cx="8575675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581025" y="5010150"/>
            <a:ext cx="5638800" cy="107721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marL="342900" indent="-34290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2"/>
                </a:solidFill>
              </a:rPr>
              <a:t>Multiple represented catchment</a:t>
            </a:r>
          </a:p>
          <a:p>
            <a:pPr marL="342900" indent="-34290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2"/>
                </a:solidFill>
              </a:rPr>
              <a:t>Basin hierarchy</a:t>
            </a:r>
          </a:p>
          <a:p>
            <a:pPr marL="342900" indent="-342900"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GB" altLang="en-US" sz="1800" dirty="0" smtClean="0">
                <a:solidFill>
                  <a:schemeClr val="tx2"/>
                </a:solidFill>
              </a:rPr>
              <a:t>Basin </a:t>
            </a:r>
            <a:r>
              <a:rPr lang="en-GB" altLang="en-US" sz="1800" dirty="0">
                <a:solidFill>
                  <a:schemeClr val="tx2"/>
                </a:solidFill>
              </a:rPr>
              <a:t>and </a:t>
            </a:r>
            <a:r>
              <a:rPr lang="en-GB" altLang="en-US" sz="1800" dirty="0" smtClean="0">
                <a:solidFill>
                  <a:schemeClr val="tx2"/>
                </a:solidFill>
              </a:rPr>
              <a:t>its common outlet (outfall)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80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altLang="en-US" sz="2800" i="1" dirty="0">
                <a:effectLst/>
              </a:rPr>
              <a:t>HY_Features</a:t>
            </a:r>
            <a:r>
              <a:rPr lang="en-GB" altLang="en-US" sz="2800" dirty="0">
                <a:effectLst/>
              </a:rPr>
              <a:t> – Basic concepts, </a:t>
            </a:r>
            <a:r>
              <a:rPr lang="en-GB" altLang="en-US" sz="2800" dirty="0" smtClean="0">
                <a:effectLst/>
              </a:rPr>
              <a:t>2(3</a:t>
            </a:r>
            <a:r>
              <a:rPr lang="en-GB" altLang="en-US" sz="2800" dirty="0">
                <a:effectLst/>
              </a:rPr>
              <a:t>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371600"/>
            <a:ext cx="8645525" cy="479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3200400" y="5927725"/>
            <a:ext cx="5638800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1800" dirty="0">
                <a:solidFill>
                  <a:schemeClr val="tx2"/>
                </a:solidFill>
              </a:rPr>
              <a:t>Outfall, indirect position and reference point</a:t>
            </a:r>
            <a:endParaRPr lang="en-GB" altLang="en-US" sz="18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105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altLang="en-US" sz="2800" i="1" dirty="0">
                <a:effectLst/>
              </a:rPr>
              <a:t>HY_Features</a:t>
            </a:r>
            <a:r>
              <a:rPr lang="en-GB" altLang="en-US" sz="2800" dirty="0">
                <a:effectLst/>
              </a:rPr>
              <a:t> – Basic concepts, </a:t>
            </a:r>
            <a:r>
              <a:rPr lang="en-GB" altLang="en-US" sz="2800" dirty="0" smtClean="0">
                <a:effectLst/>
              </a:rPr>
              <a:t>3(3</a:t>
            </a:r>
            <a:r>
              <a:rPr lang="en-GB" altLang="en-US" sz="2800" dirty="0">
                <a:effectLst/>
              </a:rPr>
              <a:t>)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075" y="1279525"/>
            <a:ext cx="8458200" cy="489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2286000"/>
            <a:ext cx="4038600" cy="3248025"/>
          </a:xfrm>
          <a:prstGeom prst="rect">
            <a:avLst/>
          </a:prstGeom>
          <a:noFill/>
          <a:ln w="9525">
            <a:solidFill>
              <a:srgbClr val="80808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3657600" y="5927725"/>
            <a:ext cx="5105400" cy="3693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1pPr>
            <a:lvl2pPr marL="742950" indent="-28575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2pPr>
            <a:lvl3pPr marL="11430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3pPr>
            <a:lvl4pPr marL="16002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4pPr>
            <a:lvl5pPr marL="2057400" indent="-228600" eaLnBrk="0" hangingPunct="0"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000" b="1">
                <a:solidFill>
                  <a:schemeClr val="tx1"/>
                </a:solidFill>
                <a:latin typeface="CG Times" charset="0"/>
                <a:ea typeface="MS PGothic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GB" altLang="en-US" sz="1800" dirty="0">
                <a:solidFill>
                  <a:schemeClr val="tx2"/>
                </a:solidFill>
              </a:rPr>
              <a:t>Water, water accumulation and storage </a:t>
            </a:r>
            <a:endParaRPr lang="en-GB" altLang="en-US" sz="1800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3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sz="2800" i="1" dirty="0" smtClean="0">
                <a:solidFill>
                  <a:schemeClr val="tx2"/>
                </a:solidFill>
              </a:rPr>
              <a:t>HY_Features, </a:t>
            </a:r>
            <a:r>
              <a:rPr lang="en-GB" sz="2800" dirty="0" smtClean="0">
                <a:solidFill>
                  <a:schemeClr val="tx2"/>
                </a:solidFill>
              </a:rPr>
              <a:t>implementation examples</a:t>
            </a:r>
            <a:endParaRPr lang="en-GB" sz="2800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609600" y="1143000"/>
            <a:ext cx="8305800" cy="398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0" dirty="0">
                <a:solidFill>
                  <a:srgbClr val="092E5C"/>
                </a:solidFill>
              </a:rPr>
              <a:t>s</a:t>
            </a:r>
            <a:r>
              <a:rPr lang="en-US" sz="2000" b="0" dirty="0" smtClean="0">
                <a:solidFill>
                  <a:srgbClr val="092E5C"/>
                </a:solidFill>
              </a:rPr>
              <a:t>et </a:t>
            </a:r>
            <a:r>
              <a:rPr lang="en-US" sz="2000" b="0" dirty="0">
                <a:solidFill>
                  <a:srgbClr val="092E5C"/>
                </a:solidFill>
              </a:rPr>
              <a:t>of inter-related Application Schemas using the GFM (ISO 19109</a:t>
            </a:r>
            <a:r>
              <a:rPr lang="en-US" sz="2000" b="0" dirty="0" smtClean="0">
                <a:solidFill>
                  <a:srgbClr val="092E5C"/>
                </a:solidFill>
              </a:rPr>
              <a:t>)</a:t>
            </a:r>
          </a:p>
          <a:p>
            <a:pPr marL="342900" lvl="1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0" dirty="0" smtClean="0">
                <a:solidFill>
                  <a:srgbClr val="092E5C"/>
                </a:solidFill>
              </a:rPr>
              <a:t>expressed </a:t>
            </a:r>
            <a:r>
              <a:rPr lang="en-US" sz="2000" b="0" dirty="0">
                <a:solidFill>
                  <a:srgbClr val="092E5C"/>
                </a:solidFill>
              </a:rPr>
              <a:t>in UML (ISO 19103), GML (</a:t>
            </a:r>
            <a:r>
              <a:rPr lang="en-US" sz="2000" b="0" dirty="0" smtClean="0">
                <a:solidFill>
                  <a:srgbClr val="092E5C"/>
                </a:solidFill>
              </a:rPr>
              <a:t>ISO 19136</a:t>
            </a:r>
            <a:r>
              <a:rPr lang="en-US" sz="2000" b="0" dirty="0">
                <a:solidFill>
                  <a:srgbClr val="092E5C"/>
                </a:solidFill>
              </a:rPr>
              <a:t>) and OWL  </a:t>
            </a:r>
            <a:r>
              <a:rPr lang="en-US" sz="2000" b="0" dirty="0" smtClean="0">
                <a:solidFill>
                  <a:srgbClr val="092E5C"/>
                </a:solidFill>
              </a:rPr>
              <a:t>(following the rules of ISO19150 </a:t>
            </a:r>
            <a:r>
              <a:rPr lang="en-US" sz="2000" b="0" dirty="0">
                <a:solidFill>
                  <a:srgbClr val="092E5C"/>
                </a:solidFill>
              </a:rPr>
              <a:t>under development)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endParaRPr lang="en-US" sz="2000" b="0" i="1" dirty="0" smtClean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i="1" dirty="0" smtClean="0">
                <a:solidFill>
                  <a:srgbClr val="092E5C"/>
                </a:solidFill>
              </a:rPr>
              <a:t>HY_Features</a:t>
            </a:r>
            <a:r>
              <a:rPr lang="en-US" sz="2000" b="0" dirty="0" smtClean="0">
                <a:solidFill>
                  <a:srgbClr val="092E5C"/>
                </a:solidFill>
              </a:rPr>
              <a:t>  to be used:</a:t>
            </a:r>
            <a:endParaRPr lang="en-US" sz="2000" b="0" dirty="0">
              <a:solidFill>
                <a:srgbClr val="092E5C"/>
              </a:solidFill>
            </a:endParaRPr>
          </a:p>
          <a:p>
            <a:pPr marL="742950" lvl="1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800" b="0" u="sng" dirty="0">
                <a:solidFill>
                  <a:schemeClr val="tx2"/>
                </a:solidFill>
              </a:rPr>
              <a:t>AU Hydrological Geo Fabric </a:t>
            </a:r>
            <a:r>
              <a:rPr lang="en-GB" sz="1800" b="0" dirty="0" smtClean="0">
                <a:solidFill>
                  <a:schemeClr val="tx2"/>
                </a:solidFill>
              </a:rPr>
              <a:t>(in terms of an ontology)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	Read more: </a:t>
            </a:r>
            <a:r>
              <a:rPr lang="en-GB" sz="1800" b="0" dirty="0" smtClean="0">
                <a:solidFill>
                  <a:schemeClr val="tx2"/>
                </a:solidFill>
                <a:hlinkClick r:id="rId3"/>
              </a:rPr>
              <a:t>http://www.bom.gov.au/water/geofabric/index.shtml</a:t>
            </a:r>
            <a:endParaRPr lang="en-GB" sz="1800" b="0" dirty="0" smtClean="0"/>
          </a:p>
          <a:p>
            <a:pPr marL="742950" lvl="1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800" b="0" u="sng" dirty="0" smtClean="0">
                <a:solidFill>
                  <a:schemeClr val="tx2"/>
                </a:solidFill>
              </a:rPr>
              <a:t>OWS </a:t>
            </a:r>
            <a:r>
              <a:rPr lang="en-GB" sz="1800" b="0" u="sng" dirty="0">
                <a:solidFill>
                  <a:schemeClr val="tx2"/>
                </a:solidFill>
              </a:rPr>
              <a:t>10 CCI Hydro Model Interoperability </a:t>
            </a:r>
            <a:r>
              <a:rPr lang="en-GB" sz="1800" b="0" dirty="0" smtClean="0"/>
              <a:t>(</a:t>
            </a:r>
            <a:r>
              <a:rPr lang="en-GB" sz="1800" b="0" dirty="0">
                <a:solidFill>
                  <a:schemeClr val="tx2"/>
                </a:solidFill>
              </a:rPr>
              <a:t>in terms of a mediator</a:t>
            </a:r>
            <a:r>
              <a:rPr lang="en-GB" sz="1800" b="0" dirty="0" smtClean="0">
                <a:solidFill>
                  <a:schemeClr val="tx2"/>
                </a:solidFill>
              </a:rPr>
              <a:t>)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	Read </a:t>
            </a:r>
            <a:r>
              <a:rPr lang="en-GB" sz="1800" b="0" dirty="0">
                <a:solidFill>
                  <a:schemeClr val="tx2"/>
                </a:solidFill>
              </a:rPr>
              <a:t>more: </a:t>
            </a:r>
            <a:r>
              <a:rPr lang="en-GB" sz="1800" b="0" dirty="0">
                <a:solidFill>
                  <a:schemeClr val="tx2"/>
                </a:solidFill>
                <a:hlinkClick r:id="rId4"/>
              </a:rPr>
              <a:t>https://portal.opengeospatial.org/files/?artifact_id=58944</a:t>
            </a:r>
            <a:endParaRPr lang="en-GB" sz="1800" b="0" dirty="0">
              <a:solidFill>
                <a:schemeClr val="tx2"/>
              </a:solidFill>
            </a:endParaRPr>
          </a:p>
          <a:p>
            <a:pPr marL="742950" lvl="1" indent="-28575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GB" sz="1800" b="0" u="sng" dirty="0" err="1" smtClean="0">
                <a:solidFill>
                  <a:schemeClr val="tx2"/>
                </a:solidFill>
              </a:rPr>
              <a:t>WatERP</a:t>
            </a:r>
            <a:r>
              <a:rPr lang="en-GB" sz="1800" b="0" u="sng" dirty="0" smtClean="0">
                <a:solidFill>
                  <a:schemeClr val="tx2"/>
                </a:solidFill>
              </a:rPr>
              <a:t> </a:t>
            </a:r>
            <a:r>
              <a:rPr lang="en-GB" sz="1800" b="0" u="sng" dirty="0">
                <a:solidFill>
                  <a:schemeClr val="tx2"/>
                </a:solidFill>
              </a:rPr>
              <a:t>ontology </a:t>
            </a:r>
            <a:r>
              <a:rPr lang="en-GB" sz="1800" b="0" dirty="0">
                <a:solidFill>
                  <a:schemeClr val="tx2"/>
                </a:solidFill>
              </a:rPr>
              <a:t>(in terms of  reference</a:t>
            </a:r>
            <a:r>
              <a:rPr lang="en-GB" sz="1800" b="0" dirty="0" smtClean="0">
                <a:solidFill>
                  <a:schemeClr val="tx2"/>
                </a:solidFill>
              </a:rPr>
              <a:t>)</a:t>
            </a:r>
          </a:p>
          <a:p>
            <a:pPr lvl="1">
              <a:spcBef>
                <a:spcPts val="600"/>
              </a:spcBef>
              <a:spcAft>
                <a:spcPts val="0"/>
              </a:spcAft>
            </a:pPr>
            <a:r>
              <a:rPr lang="en-GB" sz="1800" b="0" dirty="0" smtClean="0">
                <a:solidFill>
                  <a:schemeClr val="tx2"/>
                </a:solidFill>
              </a:rPr>
              <a:t>	Read </a:t>
            </a:r>
            <a:r>
              <a:rPr lang="en-GB" sz="1800" b="0" dirty="0">
                <a:solidFill>
                  <a:schemeClr val="tx2"/>
                </a:solidFill>
              </a:rPr>
              <a:t>more: </a:t>
            </a:r>
            <a:r>
              <a:rPr lang="en-GB" sz="1800" b="0" dirty="0">
                <a:hlinkClick r:id="rId5"/>
              </a:rPr>
              <a:t>https://portal.opengeospatial.org/files/?artifact_id=59556</a:t>
            </a:r>
            <a:r>
              <a:rPr lang="en-GB" sz="1800" b="0" dirty="0"/>
              <a:t> </a:t>
            </a:r>
            <a:endParaRPr lang="en-GB" sz="1800" b="0" dirty="0">
              <a:solidFill>
                <a:schemeClr val="tx2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72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685800" y="1454527"/>
            <a:ext cx="777240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sz="2400" i="1" dirty="0" smtClean="0">
                <a:solidFill>
                  <a:schemeClr val="tx2"/>
                </a:solidFill>
              </a:rPr>
              <a:t>HY_Features,</a:t>
            </a:r>
            <a:r>
              <a:rPr lang="en-US" sz="2400" b="0" dirty="0" smtClean="0">
                <a:solidFill>
                  <a:schemeClr val="tx2"/>
                </a:solidFill>
              </a:rPr>
              <a:t> common hydrologic feature model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GB" sz="2000" b="0" dirty="0">
                <a:solidFill>
                  <a:srgbClr val="092E5C"/>
                </a:solidFill>
              </a:rPr>
              <a:t>c</a:t>
            </a:r>
            <a:r>
              <a:rPr lang="en-GB" sz="2000" b="0" dirty="0" smtClean="0">
                <a:solidFill>
                  <a:srgbClr val="092E5C"/>
                </a:solidFill>
              </a:rPr>
              <a:t>oncepts, </a:t>
            </a:r>
            <a:r>
              <a:rPr lang="en-GB" sz="2000" b="0" dirty="0">
                <a:solidFill>
                  <a:srgbClr val="092E5C"/>
                </a:solidFill>
              </a:rPr>
              <a:t>well-established and used in the hydrology </a:t>
            </a:r>
            <a:r>
              <a:rPr lang="en-GB" sz="2000" b="0" dirty="0" smtClean="0">
                <a:solidFill>
                  <a:srgbClr val="092E5C"/>
                </a:solidFill>
              </a:rPr>
              <a:t>domain</a:t>
            </a:r>
            <a:endParaRPr lang="en-GB" sz="2000" b="0" dirty="0">
              <a:solidFill>
                <a:srgbClr val="092E5C"/>
              </a:solidFill>
            </a:endParaRP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 smtClean="0">
                <a:solidFill>
                  <a:srgbClr val="092E5C"/>
                </a:solidFill>
              </a:rPr>
              <a:t>concepts should </a:t>
            </a:r>
            <a:r>
              <a:rPr lang="en-US" sz="2000" b="0" dirty="0">
                <a:solidFill>
                  <a:srgbClr val="092E5C"/>
                </a:solidFill>
              </a:rPr>
              <a:t>be addressed wherever </a:t>
            </a:r>
            <a:r>
              <a:rPr lang="en-US" sz="2000" b="0" dirty="0" smtClean="0">
                <a:solidFill>
                  <a:srgbClr val="092E5C"/>
                </a:solidFill>
              </a:rPr>
              <a:t>real-world phenomena </a:t>
            </a:r>
            <a:r>
              <a:rPr lang="en-US" sz="2000" b="0" dirty="0">
                <a:solidFill>
                  <a:srgbClr val="092E5C"/>
                </a:solidFill>
              </a:rPr>
              <a:t>are </a:t>
            </a:r>
            <a:r>
              <a:rPr lang="en-US" sz="2000" b="0" dirty="0" smtClean="0">
                <a:solidFill>
                  <a:srgbClr val="092E5C"/>
                </a:solidFill>
              </a:rPr>
              <a:t>considered </a:t>
            </a:r>
            <a:r>
              <a:rPr lang="en-US" sz="2000" b="0" dirty="0">
                <a:solidFill>
                  <a:srgbClr val="092E5C"/>
                </a:solidFill>
              </a:rPr>
              <a:t>to be hydrologic </a:t>
            </a:r>
            <a:r>
              <a:rPr lang="en-US" sz="2000" b="0" dirty="0" smtClean="0">
                <a:solidFill>
                  <a:srgbClr val="092E5C"/>
                </a:solidFill>
              </a:rPr>
              <a:t>features, e.g. </a:t>
            </a:r>
            <a:r>
              <a:rPr lang="en-US" sz="2000" b="0" dirty="0" smtClean="0">
                <a:solidFill>
                  <a:schemeClr val="tx2"/>
                </a:solidFill>
              </a:rPr>
              <a:t>subject of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 smtClean="0">
                <a:solidFill>
                  <a:schemeClr val="tx2"/>
                </a:solidFill>
              </a:rPr>
              <a:t>hydrologic measurement and observation, </a:t>
            </a:r>
            <a:endParaRPr lang="en-US" sz="1800" b="0" dirty="0">
              <a:solidFill>
                <a:schemeClr val="tx2"/>
              </a:solidFill>
            </a:endParaRP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chemeClr val="tx2"/>
                </a:solidFill>
              </a:rPr>
              <a:t>w</a:t>
            </a:r>
            <a:r>
              <a:rPr lang="en-US" sz="1800" b="0" dirty="0" smtClean="0">
                <a:solidFill>
                  <a:schemeClr val="tx2"/>
                </a:solidFill>
              </a:rPr>
              <a:t>ater accumulation and storage,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 smtClean="0">
                <a:solidFill>
                  <a:schemeClr val="tx2"/>
                </a:solidFill>
              </a:rPr>
              <a:t>water allocation and supply, </a:t>
            </a:r>
          </a:p>
          <a:p>
            <a:pPr marL="800100" lvl="1" indent="-34290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b="0" dirty="0" smtClean="0">
                <a:solidFill>
                  <a:schemeClr val="tx2"/>
                </a:solidFill>
              </a:rPr>
              <a:t>environmental reporting, etc.</a:t>
            </a:r>
          </a:p>
          <a:p>
            <a:pPr marL="342900" indent="-342900">
              <a:spcBef>
                <a:spcPts val="600"/>
              </a:spcBef>
              <a:spcAft>
                <a:spcPts val="0"/>
              </a:spcAft>
              <a:buFont typeface="Wingdings" panose="05000000000000000000" pitchFamily="2" charset="2"/>
              <a:buChar char="Ø"/>
            </a:pPr>
            <a:r>
              <a:rPr lang="en-US" sz="2000" b="0" dirty="0">
                <a:solidFill>
                  <a:schemeClr val="tx2"/>
                </a:solidFill>
              </a:rPr>
              <a:t>c</a:t>
            </a:r>
            <a:r>
              <a:rPr lang="en-US" sz="2000" b="0" dirty="0" smtClean="0">
                <a:solidFill>
                  <a:schemeClr val="tx2"/>
                </a:solidFill>
              </a:rPr>
              <a:t>oncepts should be referenced wherever datasets and products represent a catchment, particularly a basin, or parts of these</a:t>
            </a:r>
            <a:endParaRPr lang="en-US" sz="20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GB" sz="2800" i="1" dirty="0">
                <a:solidFill>
                  <a:schemeClr val="tx2"/>
                </a:solidFill>
              </a:rPr>
              <a:t>HY_Features, </a:t>
            </a:r>
            <a:r>
              <a:rPr lang="en-GB" sz="2800" dirty="0">
                <a:solidFill>
                  <a:schemeClr val="tx2"/>
                </a:solidFill>
              </a:rPr>
              <a:t>common hydrologic feature model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341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0187" y="152400"/>
            <a:ext cx="8683625" cy="685800"/>
          </a:xfrm>
        </p:spPr>
        <p:txBody>
          <a:bodyPr/>
          <a:lstStyle/>
          <a:p>
            <a:pPr>
              <a:defRPr/>
            </a:pPr>
            <a:r>
              <a:rPr lang="en-GB" altLang="en-US" sz="2400" i="1" dirty="0" err="1" smtClean="0">
                <a:effectLst/>
              </a:rPr>
              <a:t>HY_Features</a:t>
            </a:r>
            <a:r>
              <a:rPr lang="en-GB" altLang="en-US" sz="2400" dirty="0" smtClean="0">
                <a:effectLst/>
              </a:rPr>
              <a:t>, hydrosphere objects related to the basin outlet</a:t>
            </a:r>
            <a:endParaRPr lang="en-GB" sz="2400" i="1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Abgerundetes Rechteck 2"/>
          <p:cNvSpPr/>
          <p:nvPr/>
        </p:nvSpPr>
        <p:spPr bwMode="auto">
          <a:xfrm>
            <a:off x="7772400" y="1109778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err="1" smtClean="0"/>
              <a:t>Precipi</a:t>
            </a:r>
            <a:r>
              <a:rPr lang="en-GB" dirty="0" smtClean="0"/>
              <a:t> </a:t>
            </a:r>
            <a:r>
              <a:rPr lang="en-GB" dirty="0" err="1" smtClean="0"/>
              <a:t>tation</a:t>
            </a:r>
            <a:endParaRPr lang="en-GB" dirty="0"/>
          </a:p>
        </p:txBody>
      </p:sp>
      <p:sp>
        <p:nvSpPr>
          <p:cNvPr id="40" name="Abgerundetes Rechteck 39"/>
          <p:cNvSpPr/>
          <p:nvPr/>
        </p:nvSpPr>
        <p:spPr bwMode="auto">
          <a:xfrm>
            <a:off x="7772400" y="3880663"/>
            <a:ext cx="914400" cy="914400"/>
          </a:xfrm>
          <a:prstGeom prst="roundRect">
            <a:avLst/>
          </a:prstGeom>
          <a:blipFill>
            <a:blip r:embed="rId3"/>
            <a:tile tx="0" ty="0" sx="100000" sy="100000" flip="none" algn="tl"/>
          </a:blip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Aquifer</a:t>
            </a:r>
            <a:endParaRPr lang="en-GB" dirty="0"/>
          </a:p>
        </p:txBody>
      </p:sp>
      <p:sp>
        <p:nvSpPr>
          <p:cNvPr id="41" name="Abgerundetes Rechteck 40"/>
          <p:cNvSpPr/>
          <p:nvPr/>
        </p:nvSpPr>
        <p:spPr bwMode="auto">
          <a:xfrm>
            <a:off x="7772400" y="2492452"/>
            <a:ext cx="914400" cy="914400"/>
          </a:xfrm>
          <a:prstGeom prst="roundRect">
            <a:avLst/>
          </a:prstGeom>
          <a:solidFill>
            <a:srgbClr val="00B0F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Ground water</a:t>
            </a:r>
            <a:endParaRPr lang="en-GB" dirty="0"/>
          </a:p>
        </p:txBody>
      </p:sp>
      <p:sp>
        <p:nvSpPr>
          <p:cNvPr id="42" name="Abgerundetes Rechteck 41"/>
          <p:cNvSpPr/>
          <p:nvPr/>
        </p:nvSpPr>
        <p:spPr bwMode="auto">
          <a:xfrm>
            <a:off x="7772400" y="5257800"/>
            <a:ext cx="914400" cy="914400"/>
          </a:xfrm>
          <a:prstGeom prst="roundRect">
            <a:avLst/>
          </a:prstGeom>
          <a:solidFill>
            <a:srgbClr val="00B0F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Soil water</a:t>
            </a:r>
            <a:endParaRPr lang="en-GB" dirty="0"/>
          </a:p>
        </p:txBody>
      </p:sp>
      <p:sp>
        <p:nvSpPr>
          <p:cNvPr id="44" name="Abgerundetes Rechteck 43"/>
          <p:cNvSpPr/>
          <p:nvPr/>
        </p:nvSpPr>
        <p:spPr bwMode="auto">
          <a:xfrm>
            <a:off x="3340451" y="2492452"/>
            <a:ext cx="914400" cy="914400"/>
          </a:xfrm>
          <a:prstGeom prst="roundRect">
            <a:avLst/>
          </a:prstGeom>
          <a:gradFill>
            <a:gsLst>
              <a:gs pos="0">
                <a:srgbClr val="5E9EFF"/>
              </a:gs>
              <a:gs pos="11000">
                <a:srgbClr val="85C2FF"/>
              </a:gs>
              <a:gs pos="48000">
                <a:srgbClr val="C4D6EB"/>
              </a:gs>
              <a:gs pos="100000">
                <a:srgbClr val="FFC000"/>
              </a:gs>
            </a:gsLst>
            <a:lin ang="5400000" scaled="0"/>
          </a:gra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Cross Section / </a:t>
            </a:r>
            <a:r>
              <a:rPr lang="en-GB" dirty="0" err="1" smtClean="0"/>
              <a:t>Longitu</a:t>
            </a:r>
            <a:r>
              <a:rPr lang="en-GB" dirty="0" smtClean="0"/>
              <a:t> </a:t>
            </a:r>
            <a:r>
              <a:rPr lang="en-GB" dirty="0" err="1" smtClean="0"/>
              <a:t>dinal</a:t>
            </a:r>
            <a:r>
              <a:rPr lang="en-GB" dirty="0" smtClean="0"/>
              <a:t> Section </a:t>
            </a:r>
            <a:endParaRPr lang="en-GB" dirty="0"/>
          </a:p>
        </p:txBody>
      </p:sp>
      <p:sp>
        <p:nvSpPr>
          <p:cNvPr id="45" name="Abgerundetes Rechteck 44"/>
          <p:cNvSpPr/>
          <p:nvPr/>
        </p:nvSpPr>
        <p:spPr bwMode="auto">
          <a:xfrm>
            <a:off x="3348725" y="1109778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Water Body  Segment </a:t>
            </a:r>
            <a:endParaRPr lang="en-GB" dirty="0"/>
          </a:p>
        </p:txBody>
      </p:sp>
      <p:sp>
        <p:nvSpPr>
          <p:cNvPr id="46" name="Abgerundetes Rechteck 45"/>
          <p:cNvSpPr/>
          <p:nvPr/>
        </p:nvSpPr>
        <p:spPr bwMode="auto">
          <a:xfrm>
            <a:off x="3352800" y="3880663"/>
            <a:ext cx="914400" cy="914400"/>
          </a:xfrm>
          <a:prstGeom prst="roundRect">
            <a:avLst/>
          </a:prstGeom>
          <a:solidFill>
            <a:srgbClr val="CC990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Channel  Segment  </a:t>
            </a:r>
            <a:endParaRPr lang="en-GB" dirty="0"/>
          </a:p>
        </p:txBody>
      </p:sp>
      <p:sp>
        <p:nvSpPr>
          <p:cNvPr id="47" name="Abgerundetes Rechteck 46"/>
          <p:cNvSpPr/>
          <p:nvPr/>
        </p:nvSpPr>
        <p:spPr bwMode="auto">
          <a:xfrm>
            <a:off x="2029045" y="5257800"/>
            <a:ext cx="914400" cy="914400"/>
          </a:xfrm>
          <a:prstGeom prst="roundRect">
            <a:avLst/>
          </a:prstGeom>
          <a:solidFill>
            <a:srgbClr val="FFCC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Hydro-metric Feature</a:t>
            </a:r>
            <a:endParaRPr lang="en-GB" dirty="0"/>
          </a:p>
        </p:txBody>
      </p:sp>
      <p:sp>
        <p:nvSpPr>
          <p:cNvPr id="49" name="Abgerundetes Rechteck 48"/>
          <p:cNvSpPr/>
          <p:nvPr/>
        </p:nvSpPr>
        <p:spPr bwMode="auto">
          <a:xfrm>
            <a:off x="6327318" y="3880663"/>
            <a:ext cx="914400" cy="914400"/>
          </a:xfrm>
          <a:prstGeom prst="roundRect">
            <a:avLst/>
          </a:prstGeom>
          <a:solidFill>
            <a:srgbClr val="FFCC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Well</a:t>
            </a:r>
            <a:endParaRPr lang="en-GB" dirty="0"/>
          </a:p>
        </p:txBody>
      </p:sp>
      <p:sp>
        <p:nvSpPr>
          <p:cNvPr id="51" name="Abgerundetes Rechteck 50"/>
          <p:cNvSpPr/>
          <p:nvPr/>
        </p:nvSpPr>
        <p:spPr bwMode="auto">
          <a:xfrm>
            <a:off x="4871366" y="1109778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Water Body Stratum</a:t>
            </a:r>
            <a:endParaRPr lang="en-GB" dirty="0"/>
          </a:p>
        </p:txBody>
      </p:sp>
      <p:cxnSp>
        <p:nvCxnSpPr>
          <p:cNvPr id="4096" name="Gerade Verbindung mit Pfeil 4095"/>
          <p:cNvCxnSpPr>
            <a:stCxn id="49" idx="1"/>
          </p:cNvCxnSpPr>
          <p:nvPr/>
        </p:nvCxnSpPr>
        <p:spPr bwMode="auto">
          <a:xfrm flipH="1">
            <a:off x="5379551" y="4337863"/>
            <a:ext cx="947767" cy="69642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03" name="Gerade Verbindung mit Pfeil 4102"/>
          <p:cNvCxnSpPr>
            <a:stCxn id="51" idx="1"/>
            <a:endCxn id="45" idx="3"/>
          </p:cNvCxnSpPr>
          <p:nvPr/>
        </p:nvCxnSpPr>
        <p:spPr bwMode="auto">
          <a:xfrm flipH="1">
            <a:off x="4263125" y="1566978"/>
            <a:ext cx="608241" cy="0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05" name="Gerade Verbindung mit Pfeil 4104"/>
          <p:cNvCxnSpPr>
            <a:stCxn id="3" idx="1"/>
            <a:endCxn id="289" idx="3"/>
          </p:cNvCxnSpPr>
          <p:nvPr/>
        </p:nvCxnSpPr>
        <p:spPr bwMode="auto">
          <a:xfrm flipH="1">
            <a:off x="7239000" y="1566978"/>
            <a:ext cx="533400" cy="0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02" name="Gerade Verbindung mit Pfeil 4201"/>
          <p:cNvCxnSpPr>
            <a:stCxn id="46" idx="0"/>
            <a:endCxn id="44" idx="2"/>
          </p:cNvCxnSpPr>
          <p:nvPr/>
        </p:nvCxnSpPr>
        <p:spPr bwMode="auto">
          <a:xfrm flipH="1" flipV="1">
            <a:off x="3797651" y="3406852"/>
            <a:ext cx="12349" cy="473811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36" name="Gerade Verbindung mit Pfeil 4235"/>
          <p:cNvCxnSpPr>
            <a:stCxn id="45" idx="2"/>
            <a:endCxn id="44" idx="0"/>
          </p:cNvCxnSpPr>
          <p:nvPr/>
        </p:nvCxnSpPr>
        <p:spPr bwMode="auto">
          <a:xfrm flipH="1">
            <a:off x="3797651" y="2024178"/>
            <a:ext cx="8274" cy="468274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41" name="Gerade Verbindung mit Pfeil 4240"/>
          <p:cNvCxnSpPr>
            <a:stCxn id="44" idx="3"/>
          </p:cNvCxnSpPr>
          <p:nvPr/>
        </p:nvCxnSpPr>
        <p:spPr bwMode="auto">
          <a:xfrm>
            <a:off x="4254851" y="2949652"/>
            <a:ext cx="1124700" cy="1457853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73" name="Gerade Verbindung mit Pfeil 4272"/>
          <p:cNvCxnSpPr/>
          <p:nvPr/>
        </p:nvCxnSpPr>
        <p:spPr bwMode="auto">
          <a:xfrm flipH="1">
            <a:off x="7241718" y="4337863"/>
            <a:ext cx="530682" cy="0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75" name="Gerade Verbindung mit Pfeil 4274"/>
          <p:cNvCxnSpPr>
            <a:stCxn id="41" idx="2"/>
            <a:endCxn id="40" idx="0"/>
          </p:cNvCxnSpPr>
          <p:nvPr/>
        </p:nvCxnSpPr>
        <p:spPr bwMode="auto">
          <a:xfrm>
            <a:off x="8229600" y="3406852"/>
            <a:ext cx="0" cy="473811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77" name="Gerade Verbindung mit Pfeil 4276"/>
          <p:cNvCxnSpPr>
            <a:stCxn id="42" idx="0"/>
            <a:endCxn id="40" idx="2"/>
          </p:cNvCxnSpPr>
          <p:nvPr/>
        </p:nvCxnSpPr>
        <p:spPr bwMode="auto">
          <a:xfrm flipV="1">
            <a:off x="8229600" y="4795063"/>
            <a:ext cx="0" cy="462737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81" name="Gerade Verbindung mit Pfeil 4280"/>
          <p:cNvCxnSpPr>
            <a:stCxn id="47" idx="3"/>
          </p:cNvCxnSpPr>
          <p:nvPr/>
        </p:nvCxnSpPr>
        <p:spPr bwMode="auto">
          <a:xfrm flipV="1">
            <a:off x="2943445" y="4407505"/>
            <a:ext cx="2436106" cy="1307495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89" name="Abgerundetes Rechteck 288"/>
          <p:cNvSpPr/>
          <p:nvPr/>
        </p:nvSpPr>
        <p:spPr bwMode="auto">
          <a:xfrm>
            <a:off x="6324600" y="1109778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Water Liquid Phase</a:t>
            </a:r>
            <a:endParaRPr lang="en-GB" dirty="0"/>
          </a:p>
        </p:txBody>
      </p:sp>
      <p:cxnSp>
        <p:nvCxnSpPr>
          <p:cNvPr id="4324" name="Gerade Verbindung mit Pfeil 4323"/>
          <p:cNvCxnSpPr>
            <a:stCxn id="289" idx="1"/>
            <a:endCxn id="51" idx="3"/>
          </p:cNvCxnSpPr>
          <p:nvPr/>
        </p:nvCxnSpPr>
        <p:spPr bwMode="auto">
          <a:xfrm flipH="1">
            <a:off x="5785766" y="1566978"/>
            <a:ext cx="538834" cy="0"/>
          </a:xfrm>
          <a:prstGeom prst="straightConnector1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27" name="Gerade Verbindung mit Pfeil 4326"/>
          <p:cNvCxnSpPr/>
          <p:nvPr/>
        </p:nvCxnSpPr>
        <p:spPr bwMode="auto">
          <a:xfrm>
            <a:off x="4254887" y="1954330"/>
            <a:ext cx="1124664" cy="2453175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7" name="Abgerundetes Rechteck 296"/>
          <p:cNvSpPr/>
          <p:nvPr/>
        </p:nvSpPr>
        <p:spPr bwMode="auto">
          <a:xfrm>
            <a:off x="1970334" y="1109778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Water Body</a:t>
            </a:r>
            <a:endParaRPr lang="en-GB" dirty="0"/>
          </a:p>
        </p:txBody>
      </p:sp>
      <p:sp>
        <p:nvSpPr>
          <p:cNvPr id="298" name="Abgerundetes Rechteck 297"/>
          <p:cNvSpPr/>
          <p:nvPr/>
        </p:nvSpPr>
        <p:spPr bwMode="auto">
          <a:xfrm>
            <a:off x="1981200" y="3880663"/>
            <a:ext cx="914400" cy="914400"/>
          </a:xfrm>
          <a:prstGeom prst="roundRect">
            <a:avLst/>
          </a:prstGeom>
          <a:solidFill>
            <a:srgbClr val="CC990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Channel</a:t>
            </a:r>
            <a:endParaRPr lang="en-GB" dirty="0"/>
          </a:p>
        </p:txBody>
      </p:sp>
      <p:cxnSp>
        <p:nvCxnSpPr>
          <p:cNvPr id="4330" name="Gerade Verbindung 4329"/>
          <p:cNvCxnSpPr>
            <a:stCxn id="297" idx="3"/>
            <a:endCxn id="45" idx="1"/>
          </p:cNvCxnSpPr>
          <p:nvPr/>
        </p:nvCxnSpPr>
        <p:spPr bwMode="auto">
          <a:xfrm>
            <a:off x="2884734" y="1566978"/>
            <a:ext cx="463991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332" name="Gerade Verbindung 4331"/>
          <p:cNvCxnSpPr/>
          <p:nvPr/>
        </p:nvCxnSpPr>
        <p:spPr bwMode="auto">
          <a:xfrm>
            <a:off x="2895600" y="4337863"/>
            <a:ext cx="457200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08" name="Abgerundetes Rechteck 307"/>
          <p:cNvSpPr/>
          <p:nvPr/>
        </p:nvSpPr>
        <p:spPr bwMode="auto">
          <a:xfrm>
            <a:off x="533400" y="5257800"/>
            <a:ext cx="914400" cy="914400"/>
          </a:xfrm>
          <a:prstGeom prst="roundRect">
            <a:avLst/>
          </a:prstGeom>
          <a:solidFill>
            <a:srgbClr val="FFCC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Hydro- metric Network</a:t>
            </a:r>
            <a:endParaRPr lang="en-GB" dirty="0"/>
          </a:p>
        </p:txBody>
      </p:sp>
      <p:sp>
        <p:nvSpPr>
          <p:cNvPr id="309" name="Abgerundetes Rechteck 308"/>
          <p:cNvSpPr/>
          <p:nvPr/>
        </p:nvSpPr>
        <p:spPr bwMode="auto">
          <a:xfrm>
            <a:off x="519818" y="1109778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Hydro- graphic Network</a:t>
            </a:r>
            <a:endParaRPr lang="en-GB" dirty="0"/>
          </a:p>
        </p:txBody>
      </p:sp>
      <p:sp>
        <p:nvSpPr>
          <p:cNvPr id="310" name="Abgerundetes Rechteck 309"/>
          <p:cNvSpPr/>
          <p:nvPr/>
        </p:nvSpPr>
        <p:spPr bwMode="auto">
          <a:xfrm>
            <a:off x="533400" y="3880663"/>
            <a:ext cx="914400" cy="914400"/>
          </a:xfrm>
          <a:prstGeom prst="roundRect">
            <a:avLst/>
          </a:prstGeom>
          <a:solidFill>
            <a:srgbClr val="CC990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Channel Network</a:t>
            </a:r>
            <a:endParaRPr lang="en-GB" dirty="0"/>
          </a:p>
        </p:txBody>
      </p:sp>
      <p:cxnSp>
        <p:nvCxnSpPr>
          <p:cNvPr id="4341" name="Gerade Verbindung 4340"/>
          <p:cNvCxnSpPr>
            <a:stCxn id="309" idx="3"/>
            <a:endCxn id="297" idx="1"/>
          </p:cNvCxnSpPr>
          <p:nvPr/>
        </p:nvCxnSpPr>
        <p:spPr bwMode="auto">
          <a:xfrm>
            <a:off x="1434218" y="1566978"/>
            <a:ext cx="536116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343" name="Gerade Verbindung 4342"/>
          <p:cNvCxnSpPr/>
          <p:nvPr/>
        </p:nvCxnSpPr>
        <p:spPr bwMode="auto">
          <a:xfrm>
            <a:off x="1447800" y="4337863"/>
            <a:ext cx="533400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4345" name="Gerade Verbindung 4344"/>
          <p:cNvCxnSpPr>
            <a:stCxn id="308" idx="3"/>
            <a:endCxn id="47" idx="1"/>
          </p:cNvCxnSpPr>
          <p:nvPr/>
        </p:nvCxnSpPr>
        <p:spPr bwMode="auto">
          <a:xfrm>
            <a:off x="1447800" y="5715000"/>
            <a:ext cx="581245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50" name="Textfeld 349"/>
          <p:cNvSpPr txBox="1"/>
          <p:nvPr/>
        </p:nvSpPr>
        <p:spPr>
          <a:xfrm>
            <a:off x="4789734" y="4343400"/>
            <a:ext cx="163266" cy="26634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dirty="0" smtClean="0"/>
          </a:p>
        </p:txBody>
      </p:sp>
      <p:sp>
        <p:nvSpPr>
          <p:cNvPr id="318" name="Flussdiagramm: Verzweigung 317"/>
          <p:cNvSpPr/>
          <p:nvPr/>
        </p:nvSpPr>
        <p:spPr bwMode="auto">
          <a:xfrm>
            <a:off x="1428750" y="1500373"/>
            <a:ext cx="200150" cy="133210"/>
          </a:xfrm>
          <a:prstGeom prst="flowChartDecision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9" name="Flussdiagramm: Verzweigung 358"/>
          <p:cNvSpPr/>
          <p:nvPr/>
        </p:nvSpPr>
        <p:spPr bwMode="auto">
          <a:xfrm>
            <a:off x="1447800" y="4271258"/>
            <a:ext cx="200150" cy="133210"/>
          </a:xfrm>
          <a:prstGeom prst="flowChartDecision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0" name="Flussdiagramm: Verzweigung 359"/>
          <p:cNvSpPr/>
          <p:nvPr/>
        </p:nvSpPr>
        <p:spPr bwMode="auto">
          <a:xfrm>
            <a:off x="2916579" y="4271258"/>
            <a:ext cx="200150" cy="133210"/>
          </a:xfrm>
          <a:prstGeom prst="flowChartDecision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1" name="Flussdiagramm: Verzweigung 360"/>
          <p:cNvSpPr/>
          <p:nvPr/>
        </p:nvSpPr>
        <p:spPr bwMode="auto">
          <a:xfrm>
            <a:off x="2895600" y="1505461"/>
            <a:ext cx="200150" cy="133210"/>
          </a:xfrm>
          <a:prstGeom prst="flowChartDecision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2" name="Flussdiagramm: Verzweigung 361"/>
          <p:cNvSpPr/>
          <p:nvPr/>
        </p:nvSpPr>
        <p:spPr bwMode="auto">
          <a:xfrm>
            <a:off x="1447800" y="5648395"/>
            <a:ext cx="200150" cy="133210"/>
          </a:xfrm>
          <a:prstGeom prst="flowChartDecision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8" name="Gruppieren 77"/>
          <p:cNvGrpSpPr/>
          <p:nvPr/>
        </p:nvGrpSpPr>
        <p:grpSpPr>
          <a:xfrm>
            <a:off x="4953000" y="2362200"/>
            <a:ext cx="2003625" cy="1925047"/>
            <a:chOff x="3251645" y="2470179"/>
            <a:chExt cx="1838625" cy="2178024"/>
          </a:xfrm>
        </p:grpSpPr>
        <p:sp>
          <p:nvSpPr>
            <p:cNvPr id="85" name="Träne 84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86" name="Gruppieren 85"/>
            <p:cNvGrpSpPr/>
            <p:nvPr/>
          </p:nvGrpSpPr>
          <p:grpSpPr>
            <a:xfrm>
              <a:off x="3476625" y="2563072"/>
              <a:ext cx="1497634" cy="2085131"/>
              <a:chOff x="3560334" y="2808955"/>
              <a:chExt cx="1377300" cy="1809139"/>
            </a:xfrm>
          </p:grpSpPr>
          <p:sp>
            <p:nvSpPr>
              <p:cNvPr id="87" name="Freihandform 86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8" name="Freihandform 87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89" name="Freihandform 88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0" name="Freihandform 89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1" name="Freihandform 90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84" name="Textfeld 83"/>
          <p:cNvSpPr txBox="1"/>
          <p:nvPr/>
        </p:nvSpPr>
        <p:spPr>
          <a:xfrm>
            <a:off x="5824817" y="2600905"/>
            <a:ext cx="131736" cy="2251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GB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67" name="Ellipse 66"/>
          <p:cNvSpPr/>
          <p:nvPr/>
        </p:nvSpPr>
        <p:spPr bwMode="auto">
          <a:xfrm>
            <a:off x="5314950" y="4314795"/>
            <a:ext cx="130082" cy="123855"/>
          </a:xfrm>
          <a:prstGeom prst="ellipse">
            <a:avLst/>
          </a:prstGeom>
          <a:solidFill>
            <a:srgbClr val="00206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feld 8"/>
          <p:cNvSpPr txBox="1"/>
          <p:nvPr/>
        </p:nvSpPr>
        <p:spPr>
          <a:xfrm>
            <a:off x="4878369" y="5257800"/>
            <a:ext cx="191487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de-DE" dirty="0" smtClean="0"/>
              <a:t>Common </a:t>
            </a:r>
            <a:r>
              <a:rPr lang="de-DE" dirty="0" err="1" smtClean="0"/>
              <a:t>outlet</a:t>
            </a:r>
            <a:r>
              <a:rPr lang="de-DE" dirty="0" smtClean="0"/>
              <a:t> </a:t>
            </a:r>
            <a:r>
              <a:rPr lang="de-DE" dirty="0" err="1" smtClean="0"/>
              <a:t>of</a:t>
            </a:r>
            <a:r>
              <a:rPr lang="de-DE" dirty="0" smtClean="0"/>
              <a:t>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corresponding</a:t>
            </a:r>
            <a:r>
              <a:rPr lang="de-DE" dirty="0" smtClean="0"/>
              <a:t> </a:t>
            </a:r>
            <a:r>
              <a:rPr lang="de-DE" dirty="0" err="1" smtClean="0"/>
              <a:t>basin</a:t>
            </a:r>
            <a:endParaRPr lang="en-US" dirty="0" err="1" smtClean="0"/>
          </a:p>
        </p:txBody>
      </p:sp>
      <p:cxnSp>
        <p:nvCxnSpPr>
          <p:cNvPr id="4568" name="Gerade Verbindung 4567"/>
          <p:cNvCxnSpPr>
            <a:stCxn id="9" idx="0"/>
            <a:endCxn id="67" idx="5"/>
          </p:cNvCxnSpPr>
          <p:nvPr/>
        </p:nvCxnSpPr>
        <p:spPr bwMode="auto">
          <a:xfrm flipH="1" flipV="1">
            <a:off x="5425982" y="4420512"/>
            <a:ext cx="409822" cy="837288"/>
          </a:xfrm>
          <a:prstGeom prst="line">
            <a:avLst/>
          </a:prstGeom>
          <a:noFill/>
          <a:ln w="12700" cap="flat" cmpd="sng" algn="ctr">
            <a:solidFill>
              <a:srgbClr val="969696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87714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lIns="0" rIns="0"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altLang="en-US" sz="2400" i="1" dirty="0" err="1" smtClean="0">
                <a:effectLst/>
              </a:rPr>
              <a:t>HY_Features</a:t>
            </a:r>
            <a:r>
              <a:rPr lang="en-GB" altLang="en-US" sz="2400" i="1" dirty="0" smtClean="0">
                <a:effectLst/>
              </a:rPr>
              <a:t> </a:t>
            </a:r>
            <a:r>
              <a:rPr lang="en-GB" altLang="en-US" sz="2400" dirty="0" smtClean="0">
                <a:effectLst/>
              </a:rPr>
              <a:t>associates datasets with the represented basin</a:t>
            </a:r>
            <a:endParaRPr lang="en-GB" sz="2400" dirty="0">
              <a:solidFill>
                <a:schemeClr val="tx2"/>
              </a:solidFill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1033" name="Picture 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0" y="5163344"/>
            <a:ext cx="609600" cy="4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Abgerundetes Rechteck 20"/>
          <p:cNvSpPr/>
          <p:nvPr/>
        </p:nvSpPr>
        <p:spPr bwMode="auto">
          <a:xfrm>
            <a:off x="7924800" y="5257800"/>
            <a:ext cx="914400" cy="914400"/>
          </a:xfrm>
          <a:prstGeom prst="roundRect">
            <a:avLst/>
          </a:prstGeom>
          <a:solidFill>
            <a:srgbClr val="FFCC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Hydro-metric Feature</a:t>
            </a:r>
            <a:endParaRPr lang="en-GB" dirty="0"/>
          </a:p>
        </p:txBody>
      </p:sp>
      <p:sp>
        <p:nvSpPr>
          <p:cNvPr id="23" name="Abgerundetes Rechteck 22"/>
          <p:cNvSpPr/>
          <p:nvPr/>
        </p:nvSpPr>
        <p:spPr bwMode="auto">
          <a:xfrm>
            <a:off x="7866089" y="1109778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Water Body</a:t>
            </a:r>
            <a:endParaRPr lang="en-GB" dirty="0"/>
          </a:p>
        </p:txBody>
      </p:sp>
      <p:sp>
        <p:nvSpPr>
          <p:cNvPr id="24" name="Abgerundetes Rechteck 23"/>
          <p:cNvSpPr/>
          <p:nvPr/>
        </p:nvSpPr>
        <p:spPr bwMode="auto">
          <a:xfrm>
            <a:off x="7876955" y="3913965"/>
            <a:ext cx="914400" cy="914400"/>
          </a:xfrm>
          <a:prstGeom prst="roundRect">
            <a:avLst/>
          </a:prstGeom>
          <a:solidFill>
            <a:srgbClr val="CC990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Channel</a:t>
            </a:r>
            <a:endParaRPr lang="en-GB" dirty="0"/>
          </a:p>
        </p:txBody>
      </p:sp>
      <p:sp>
        <p:nvSpPr>
          <p:cNvPr id="25" name="Abgerundetes Rechteck 24"/>
          <p:cNvSpPr/>
          <p:nvPr/>
        </p:nvSpPr>
        <p:spPr bwMode="auto">
          <a:xfrm>
            <a:off x="6429155" y="5257800"/>
            <a:ext cx="914400" cy="914400"/>
          </a:xfrm>
          <a:prstGeom prst="roundRect">
            <a:avLst/>
          </a:prstGeom>
          <a:solidFill>
            <a:srgbClr val="FFCC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Hydro- metric Network</a:t>
            </a:r>
            <a:endParaRPr lang="en-GB" dirty="0"/>
          </a:p>
        </p:txBody>
      </p:sp>
      <p:sp>
        <p:nvSpPr>
          <p:cNvPr id="26" name="Abgerundetes Rechteck 25"/>
          <p:cNvSpPr/>
          <p:nvPr/>
        </p:nvSpPr>
        <p:spPr bwMode="auto">
          <a:xfrm>
            <a:off x="6415573" y="1109778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Hydro- graphic Network</a:t>
            </a:r>
            <a:endParaRPr lang="en-GB" dirty="0"/>
          </a:p>
        </p:txBody>
      </p:sp>
      <p:sp>
        <p:nvSpPr>
          <p:cNvPr id="27" name="Abgerundetes Rechteck 26"/>
          <p:cNvSpPr/>
          <p:nvPr/>
        </p:nvSpPr>
        <p:spPr bwMode="auto">
          <a:xfrm>
            <a:off x="6429155" y="3913965"/>
            <a:ext cx="914400" cy="914400"/>
          </a:xfrm>
          <a:prstGeom prst="roundRect">
            <a:avLst/>
          </a:prstGeom>
          <a:solidFill>
            <a:srgbClr val="CC990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Channel Network</a:t>
            </a:r>
            <a:endParaRPr lang="en-GB" dirty="0"/>
          </a:p>
        </p:txBody>
      </p:sp>
      <p:cxnSp>
        <p:nvCxnSpPr>
          <p:cNvPr id="28" name="Gerade Verbindung 27"/>
          <p:cNvCxnSpPr>
            <a:stCxn id="26" idx="3"/>
            <a:endCxn id="23" idx="1"/>
          </p:cNvCxnSpPr>
          <p:nvPr/>
        </p:nvCxnSpPr>
        <p:spPr bwMode="auto">
          <a:xfrm>
            <a:off x="7329973" y="1566978"/>
            <a:ext cx="536116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29" name="Gerade Verbindung 28"/>
          <p:cNvCxnSpPr/>
          <p:nvPr/>
        </p:nvCxnSpPr>
        <p:spPr bwMode="auto">
          <a:xfrm>
            <a:off x="7343555" y="4337863"/>
            <a:ext cx="533400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30" name="Gerade Verbindung 29"/>
          <p:cNvCxnSpPr>
            <a:stCxn id="25" idx="3"/>
            <a:endCxn id="21" idx="1"/>
          </p:cNvCxnSpPr>
          <p:nvPr/>
        </p:nvCxnSpPr>
        <p:spPr bwMode="auto">
          <a:xfrm>
            <a:off x="7343555" y="5715000"/>
            <a:ext cx="581245" cy="0"/>
          </a:xfrm>
          <a:prstGeom prst="line">
            <a:avLst/>
          </a:prstGeom>
          <a:noFill/>
          <a:ln w="19050" cap="flat" cmpd="sng" algn="ctr">
            <a:solidFill>
              <a:srgbClr val="969696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1" name="Flussdiagramm: Verzweigung 30"/>
          <p:cNvSpPr/>
          <p:nvPr/>
        </p:nvSpPr>
        <p:spPr bwMode="auto">
          <a:xfrm>
            <a:off x="7334125" y="1500373"/>
            <a:ext cx="200150" cy="133210"/>
          </a:xfrm>
          <a:prstGeom prst="flowChartDecision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lussdiagramm: Verzweigung 31"/>
          <p:cNvSpPr/>
          <p:nvPr/>
        </p:nvSpPr>
        <p:spPr bwMode="auto">
          <a:xfrm>
            <a:off x="7353175" y="4271258"/>
            <a:ext cx="200150" cy="133210"/>
          </a:xfrm>
          <a:prstGeom prst="flowChartDecision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ussdiagramm: Verzweigung 32"/>
          <p:cNvSpPr/>
          <p:nvPr/>
        </p:nvSpPr>
        <p:spPr bwMode="auto">
          <a:xfrm>
            <a:off x="7353175" y="5648395"/>
            <a:ext cx="200150" cy="133210"/>
          </a:xfrm>
          <a:prstGeom prst="flowChartDecision">
            <a:avLst/>
          </a:prstGeom>
          <a:solidFill>
            <a:srgbClr val="FFFFFF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Abgerundetes Rechteck 33"/>
          <p:cNvSpPr/>
          <p:nvPr/>
        </p:nvSpPr>
        <p:spPr bwMode="auto">
          <a:xfrm>
            <a:off x="1156582" y="5257800"/>
            <a:ext cx="914400" cy="914400"/>
          </a:xfrm>
          <a:prstGeom prst="roundRect">
            <a:avLst/>
          </a:prstGeom>
          <a:solidFill>
            <a:srgbClr val="00B05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smtClean="0"/>
              <a:t>Hydro- geologic </a:t>
            </a:r>
          </a:p>
          <a:p>
            <a:pPr algn="ctr"/>
            <a:r>
              <a:rPr lang="en-GB" dirty="0" smtClean="0"/>
              <a:t>Unit</a:t>
            </a:r>
            <a:endParaRPr lang="en-GB" dirty="0"/>
          </a:p>
        </p:txBody>
      </p:sp>
      <p:sp>
        <p:nvSpPr>
          <p:cNvPr id="35" name="Abgerundetes Rechteck 34"/>
          <p:cNvSpPr/>
          <p:nvPr/>
        </p:nvSpPr>
        <p:spPr bwMode="auto">
          <a:xfrm>
            <a:off x="1143000" y="1176383"/>
            <a:ext cx="914400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dirty="0" err="1" smtClean="0"/>
              <a:t>Flowpath</a:t>
            </a:r>
            <a:r>
              <a:rPr lang="en-GB" dirty="0" smtClean="0"/>
              <a:t> </a:t>
            </a:r>
            <a:endParaRPr lang="en-GB" dirty="0"/>
          </a:p>
        </p:txBody>
      </p:sp>
      <p:sp>
        <p:nvSpPr>
          <p:cNvPr id="36" name="Abgerundetes Rechteck 35"/>
          <p:cNvSpPr/>
          <p:nvPr/>
        </p:nvSpPr>
        <p:spPr bwMode="auto">
          <a:xfrm>
            <a:off x="1156582" y="3913965"/>
            <a:ext cx="914400" cy="914400"/>
          </a:xfrm>
          <a:prstGeom prst="roundRect">
            <a:avLst/>
          </a:prstGeom>
          <a:solidFill>
            <a:srgbClr val="92D05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Catchment Area</a:t>
            </a:r>
            <a:endParaRPr lang="en-GB" dirty="0"/>
          </a:p>
        </p:txBody>
      </p:sp>
      <p:sp>
        <p:nvSpPr>
          <p:cNvPr id="37" name="Abgerundetes Rechteck 36"/>
          <p:cNvSpPr/>
          <p:nvPr/>
        </p:nvSpPr>
        <p:spPr bwMode="auto">
          <a:xfrm>
            <a:off x="1143000" y="2514600"/>
            <a:ext cx="914400" cy="914400"/>
          </a:xfrm>
          <a:prstGeom prst="roundRect">
            <a:avLst/>
          </a:prstGeom>
          <a:solidFill>
            <a:srgbClr val="92D050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0" rIns="0" rtlCol="0" anchor="ctr"/>
          <a:lstStyle/>
          <a:p>
            <a:pPr algn="ctr"/>
            <a:r>
              <a:rPr lang="en-GB" dirty="0" smtClean="0"/>
              <a:t>Catchment Boundary</a:t>
            </a:r>
            <a:endParaRPr lang="en-GB" dirty="0"/>
          </a:p>
        </p:txBody>
      </p:sp>
      <p:cxnSp>
        <p:nvCxnSpPr>
          <p:cNvPr id="38" name="Gerade Verbindung mit Pfeil 37"/>
          <p:cNvCxnSpPr>
            <a:stCxn id="35" idx="3"/>
          </p:cNvCxnSpPr>
          <p:nvPr/>
        </p:nvCxnSpPr>
        <p:spPr bwMode="auto">
          <a:xfrm>
            <a:off x="2057400" y="1633583"/>
            <a:ext cx="1600200" cy="939781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9" name="Gerade Verbindung mit Pfeil 38"/>
          <p:cNvCxnSpPr>
            <a:stCxn id="37" idx="3"/>
          </p:cNvCxnSpPr>
          <p:nvPr/>
        </p:nvCxnSpPr>
        <p:spPr bwMode="auto">
          <a:xfrm>
            <a:off x="2057400" y="2971800"/>
            <a:ext cx="1219200" cy="273173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Gerade Verbindung mit Pfeil 39"/>
          <p:cNvCxnSpPr>
            <a:stCxn id="26" idx="1"/>
          </p:cNvCxnSpPr>
          <p:nvPr/>
        </p:nvCxnSpPr>
        <p:spPr bwMode="auto">
          <a:xfrm flipH="1">
            <a:off x="5029200" y="1566978"/>
            <a:ext cx="1386373" cy="928518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1" name="Gerade Verbindung mit Pfeil 40"/>
          <p:cNvCxnSpPr>
            <a:stCxn id="27" idx="1"/>
          </p:cNvCxnSpPr>
          <p:nvPr/>
        </p:nvCxnSpPr>
        <p:spPr bwMode="auto">
          <a:xfrm flipH="1" flipV="1">
            <a:off x="4861502" y="3553482"/>
            <a:ext cx="1567653" cy="817683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Gerade Verbindung mit Pfeil 41"/>
          <p:cNvCxnSpPr>
            <a:stCxn id="25" idx="1"/>
          </p:cNvCxnSpPr>
          <p:nvPr/>
        </p:nvCxnSpPr>
        <p:spPr bwMode="auto">
          <a:xfrm flipH="1" flipV="1">
            <a:off x="4260629" y="3910390"/>
            <a:ext cx="2168526" cy="1804610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3" name="Gerade Verbindung mit Pfeil 42"/>
          <p:cNvCxnSpPr>
            <a:stCxn id="34" idx="3"/>
          </p:cNvCxnSpPr>
          <p:nvPr/>
        </p:nvCxnSpPr>
        <p:spPr bwMode="auto">
          <a:xfrm flipV="1">
            <a:off x="2070982" y="4205671"/>
            <a:ext cx="1510418" cy="1509329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0" name="Gerade Verbindung mit Pfeil 49"/>
          <p:cNvCxnSpPr>
            <a:stCxn id="36" idx="3"/>
          </p:cNvCxnSpPr>
          <p:nvPr/>
        </p:nvCxnSpPr>
        <p:spPr bwMode="auto">
          <a:xfrm flipV="1">
            <a:off x="2070982" y="3770384"/>
            <a:ext cx="1358018" cy="600781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86" name="Abgerundetes Rechteck 85"/>
          <p:cNvSpPr/>
          <p:nvPr/>
        </p:nvSpPr>
        <p:spPr bwMode="auto">
          <a:xfrm>
            <a:off x="6467481" y="2438400"/>
            <a:ext cx="2371719" cy="914400"/>
          </a:xfrm>
          <a:prstGeom prst="roundRect">
            <a:avLst/>
          </a:prstGeom>
          <a:solidFill>
            <a:srgbClr val="C3DBF9"/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r>
              <a:rPr lang="en-GB" sz="1800" b="0" i="1" dirty="0" smtClean="0"/>
              <a:t>Any other</a:t>
            </a:r>
            <a:endParaRPr lang="en-GB" sz="1800" b="0" i="1" dirty="0"/>
          </a:p>
        </p:txBody>
      </p:sp>
      <p:cxnSp>
        <p:nvCxnSpPr>
          <p:cNvPr id="87" name="Gerade Verbindung mit Pfeil 86"/>
          <p:cNvCxnSpPr>
            <a:stCxn id="86" idx="1"/>
          </p:cNvCxnSpPr>
          <p:nvPr/>
        </p:nvCxnSpPr>
        <p:spPr bwMode="auto">
          <a:xfrm flipH="1">
            <a:off x="5088179" y="2895600"/>
            <a:ext cx="1379302" cy="266700"/>
          </a:xfrm>
          <a:prstGeom prst="straightConnector1">
            <a:avLst/>
          </a:prstGeom>
          <a:noFill/>
          <a:ln w="19050" cap="flat" cmpd="sng" algn="ctr">
            <a:solidFill>
              <a:schemeClr val="accent4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44" name="Gruppieren 43"/>
          <p:cNvGrpSpPr/>
          <p:nvPr/>
        </p:nvGrpSpPr>
        <p:grpSpPr>
          <a:xfrm>
            <a:off x="3200400" y="2362200"/>
            <a:ext cx="2003625" cy="1925047"/>
            <a:chOff x="3251645" y="2470179"/>
            <a:chExt cx="1838625" cy="2178024"/>
          </a:xfrm>
        </p:grpSpPr>
        <p:sp>
          <p:nvSpPr>
            <p:cNvPr id="45" name="Träne 44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6" name="Gruppieren 45"/>
            <p:cNvGrpSpPr/>
            <p:nvPr/>
          </p:nvGrpSpPr>
          <p:grpSpPr>
            <a:xfrm>
              <a:off x="3476625" y="2563072"/>
              <a:ext cx="1497634" cy="2085131"/>
              <a:chOff x="3560334" y="2808955"/>
              <a:chExt cx="1377300" cy="1809139"/>
            </a:xfrm>
          </p:grpSpPr>
          <p:sp>
            <p:nvSpPr>
              <p:cNvPr id="47" name="Freihandform 46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8" name="Freihandform 47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9" name="Freihandform 48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1" name="Freihandform 50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52" name="Freihandform 51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8742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dirty="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809624" y="2171343"/>
            <a:ext cx="7724776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>
              <a:spcBef>
                <a:spcPts val="0"/>
              </a:spcBef>
              <a:spcAft>
                <a:spcPts val="600"/>
              </a:spcAft>
            </a:pPr>
            <a:r>
              <a:rPr lang="en-GB" sz="2800" b="0" i="1" dirty="0" err="1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HY_Features</a:t>
            </a:r>
            <a:r>
              <a:rPr lang="en-GB" sz="2800" b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common model enables semantic interoperability among Web services !</a:t>
            </a:r>
          </a:p>
          <a:p>
            <a:pPr marL="0" lvl="1" algn="ctr">
              <a:spcBef>
                <a:spcPts val="0"/>
              </a:spcBef>
              <a:spcAft>
                <a:spcPts val="600"/>
              </a:spcAft>
            </a:pPr>
            <a:endParaRPr lang="en-GB" sz="2800" b="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lvl="1" algn="ctr">
              <a:spcBef>
                <a:spcPts val="0"/>
              </a:spcBef>
              <a:spcAft>
                <a:spcPts val="600"/>
              </a:spcAft>
            </a:pPr>
            <a:r>
              <a:rPr lang="en-GB" sz="2800" b="0" i="1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HY_Features</a:t>
            </a:r>
            <a:r>
              <a:rPr lang="en-GB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common model </a:t>
            </a:r>
            <a:r>
              <a:rPr lang="en-GB" sz="2800" b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will support the  principle of Linked Data </a:t>
            </a:r>
            <a:r>
              <a:rPr lang="en-GB" sz="2800" b="0" dirty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</a:t>
            </a:r>
          </a:p>
          <a:p>
            <a:pPr marL="0" lvl="1" algn="ctr">
              <a:spcBef>
                <a:spcPts val="0"/>
              </a:spcBef>
              <a:spcAft>
                <a:spcPts val="600"/>
              </a:spcAft>
            </a:pPr>
            <a:endParaRPr lang="en-GB" sz="2800" b="0" dirty="0">
              <a:solidFill>
                <a:schemeClr val="tx2"/>
              </a:solidFill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dirty="0"/>
              <a:t>Suite of Water Information standards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249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sz="2800" dirty="0">
                <a:solidFill>
                  <a:schemeClr val="tx2"/>
                </a:solidFill>
              </a:rPr>
              <a:t>Hydrologic data linked </a:t>
            </a:r>
            <a:r>
              <a:rPr lang="en-GB" sz="2800" dirty="0" smtClean="0">
                <a:solidFill>
                  <a:schemeClr val="tx2"/>
                </a:solidFill>
              </a:rPr>
              <a:t>via shared spatial </a:t>
            </a:r>
            <a:r>
              <a:rPr lang="en-GB" sz="2800" dirty="0">
                <a:solidFill>
                  <a:schemeClr val="tx2"/>
                </a:solidFill>
              </a:rPr>
              <a:t>reference</a:t>
            </a: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23" name="Picture 37" descr="gridQ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9485"/>
            <a:ext cx="1905000" cy="1302120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982" y="4860856"/>
            <a:ext cx="2808018" cy="1440000"/>
          </a:xfrm>
          <a:prstGeom prst="rect">
            <a:avLst/>
          </a:prstGeom>
          <a:noFill/>
          <a:ln w="6350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163344"/>
            <a:ext cx="609600" cy="4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D:\Users\Dornblut\OGC_HDWG\2014_HDWG_NewYork\pointShape_40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81" y="4207145"/>
            <a:ext cx="1905000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768" y="2711640"/>
            <a:ext cx="1904983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173" y="1071979"/>
            <a:ext cx="1881717" cy="124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1" descr="D:\Users\Dornblut\OGC_HDWG\2014_HDWG_NewYork\BASINS_15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46390"/>
            <a:ext cx="1894007" cy="146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27" y="4152941"/>
            <a:ext cx="2214173" cy="142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430304" y="1292540"/>
            <a:ext cx="1276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Raster data: </a:t>
            </a:r>
          </a:p>
          <a:p>
            <a:r>
              <a:rPr lang="en-GB" dirty="0" smtClean="0"/>
              <a:t>Freshwater fluxes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430304" y="1981200"/>
            <a:ext cx="1276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Raster data: </a:t>
            </a:r>
          </a:p>
          <a:p>
            <a:r>
              <a:rPr lang="en-GB" dirty="0" smtClean="0"/>
              <a:t>Gridded Runoff</a:t>
            </a:r>
          </a:p>
        </p:txBody>
      </p:sp>
      <p:sp>
        <p:nvSpPr>
          <p:cNvPr id="35" name="Textfeld 34"/>
          <p:cNvSpPr txBox="1"/>
          <p:nvPr/>
        </p:nvSpPr>
        <p:spPr>
          <a:xfrm>
            <a:off x="7086600" y="5623086"/>
            <a:ext cx="1752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Vector data: </a:t>
            </a:r>
          </a:p>
          <a:p>
            <a:r>
              <a:rPr lang="en-GB" dirty="0" smtClean="0"/>
              <a:t>Hydrometric stations</a:t>
            </a:r>
          </a:p>
          <a:p>
            <a:r>
              <a:rPr lang="en-GB" dirty="0" smtClean="0"/>
              <a:t>(points, </a:t>
            </a:r>
            <a:r>
              <a:rPr lang="en-GB" dirty="0" err="1" smtClean="0"/>
              <a:t>multipoints</a:t>
            </a:r>
            <a:r>
              <a:rPr lang="en-GB" dirty="0" smtClean="0"/>
              <a:t>)</a:t>
            </a:r>
          </a:p>
        </p:txBody>
      </p:sp>
      <p:sp>
        <p:nvSpPr>
          <p:cNvPr id="36" name="Textfeld 35"/>
          <p:cNvSpPr txBox="1"/>
          <p:nvPr/>
        </p:nvSpPr>
        <p:spPr>
          <a:xfrm>
            <a:off x="6867265" y="1044830"/>
            <a:ext cx="16935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Vector data: </a:t>
            </a:r>
          </a:p>
          <a:p>
            <a:r>
              <a:rPr lang="en-GB" dirty="0" smtClean="0"/>
              <a:t>GRDC Basins </a:t>
            </a:r>
          </a:p>
          <a:p>
            <a:r>
              <a:rPr lang="en-GB" dirty="0" smtClean="0"/>
              <a:t>(nested polygons)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7277100" y="2113002"/>
            <a:ext cx="1581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Vector data: </a:t>
            </a:r>
          </a:p>
          <a:p>
            <a:r>
              <a:rPr lang="en-GB" dirty="0" smtClean="0"/>
              <a:t>GRDC Major Rivers</a:t>
            </a:r>
          </a:p>
          <a:p>
            <a:r>
              <a:rPr lang="en-GB" dirty="0" smtClean="0"/>
              <a:t>(polylines, </a:t>
            </a:r>
            <a:r>
              <a:rPr lang="en-GB" dirty="0" err="1" smtClean="0"/>
              <a:t>multilines</a:t>
            </a:r>
            <a:r>
              <a:rPr lang="en-GB" dirty="0" smtClean="0"/>
              <a:t>)</a:t>
            </a:r>
          </a:p>
        </p:txBody>
      </p:sp>
      <p:sp>
        <p:nvSpPr>
          <p:cNvPr id="39" name="Textfeld 38"/>
          <p:cNvSpPr txBox="1"/>
          <p:nvPr/>
        </p:nvSpPr>
        <p:spPr>
          <a:xfrm>
            <a:off x="795761" y="5670492"/>
            <a:ext cx="20669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Time series data: </a:t>
            </a:r>
          </a:p>
          <a:p>
            <a:pPr algn="ctr"/>
            <a:r>
              <a:rPr lang="en-GB" dirty="0" smtClean="0"/>
              <a:t>Daily river discharge           (line graph, but also bar graph)</a:t>
            </a:r>
          </a:p>
        </p:txBody>
      </p:sp>
      <p:sp>
        <p:nvSpPr>
          <p:cNvPr id="41" name="Textfeld 40"/>
          <p:cNvSpPr txBox="1"/>
          <p:nvPr/>
        </p:nvSpPr>
        <p:spPr>
          <a:xfrm>
            <a:off x="3287982" y="4194715"/>
            <a:ext cx="2808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Time series data:</a:t>
            </a:r>
          </a:p>
          <a:p>
            <a:pPr algn="ctr"/>
            <a:r>
              <a:rPr lang="en-GB" dirty="0" smtClean="0"/>
              <a:t>Daily river discharge </a:t>
            </a:r>
          </a:p>
          <a:p>
            <a:pPr algn="ctr"/>
            <a:r>
              <a:rPr lang="en-GB" dirty="0" smtClean="0"/>
              <a:t>(ordered time value pairs)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3042743" y="2856164"/>
            <a:ext cx="236440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 smtClean="0">
                <a:solidFill>
                  <a:schemeClr val="tx2"/>
                </a:solidFill>
              </a:rPr>
              <a:t>Examples of GRDC data sets and products</a:t>
            </a:r>
            <a:endParaRPr lang="en-GB" sz="2000" i="1" dirty="0">
              <a:solidFill>
                <a:schemeClr val="tx2"/>
              </a:solidFill>
              <a:effectLst/>
            </a:endParaRP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29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sz="2800" dirty="0">
                <a:solidFill>
                  <a:schemeClr val="tx2"/>
                </a:solidFill>
              </a:rPr>
              <a:t>Hydrologic data linked </a:t>
            </a:r>
            <a:r>
              <a:rPr lang="en-GB" sz="2800" dirty="0" smtClean="0">
                <a:solidFill>
                  <a:schemeClr val="tx2"/>
                </a:solidFill>
              </a:rPr>
              <a:t>via shared spatial </a:t>
            </a:r>
            <a:r>
              <a:rPr lang="en-GB" sz="2800" dirty="0">
                <a:solidFill>
                  <a:schemeClr val="tx2"/>
                </a:solidFill>
              </a:rPr>
              <a:t>reference</a:t>
            </a: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23" name="Picture 37" descr="gridQ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9485"/>
            <a:ext cx="1905000" cy="1302120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982" y="4860856"/>
            <a:ext cx="2808018" cy="1440000"/>
          </a:xfrm>
          <a:prstGeom prst="rect">
            <a:avLst/>
          </a:prstGeom>
          <a:noFill/>
          <a:ln w="6350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163344"/>
            <a:ext cx="609600" cy="4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D:\Users\Dornblut\OGC_HDWG\2014_HDWG_NewYork\pointShape_40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81" y="4207145"/>
            <a:ext cx="1905000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768" y="2711640"/>
            <a:ext cx="1904983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173" y="1071979"/>
            <a:ext cx="1881717" cy="124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1" descr="D:\Users\Dornblut\OGC_HDWG\2014_HDWG_NewYork\BASINS_15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46390"/>
            <a:ext cx="1894007" cy="146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627" y="4152941"/>
            <a:ext cx="2214173" cy="142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feld 3"/>
          <p:cNvSpPr txBox="1"/>
          <p:nvPr/>
        </p:nvSpPr>
        <p:spPr>
          <a:xfrm>
            <a:off x="430304" y="1292540"/>
            <a:ext cx="1276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Raster data: </a:t>
            </a:r>
          </a:p>
          <a:p>
            <a:r>
              <a:rPr lang="en-GB" dirty="0" smtClean="0"/>
              <a:t>Freshwater fluxes</a:t>
            </a:r>
          </a:p>
        </p:txBody>
      </p:sp>
      <p:sp>
        <p:nvSpPr>
          <p:cNvPr id="34" name="Textfeld 33"/>
          <p:cNvSpPr txBox="1"/>
          <p:nvPr/>
        </p:nvSpPr>
        <p:spPr>
          <a:xfrm>
            <a:off x="430304" y="1981200"/>
            <a:ext cx="12768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Raster data: </a:t>
            </a:r>
          </a:p>
          <a:p>
            <a:r>
              <a:rPr lang="en-GB" dirty="0" smtClean="0"/>
              <a:t>Gridded Runoff</a:t>
            </a:r>
          </a:p>
        </p:txBody>
      </p:sp>
      <p:sp>
        <p:nvSpPr>
          <p:cNvPr id="35" name="Textfeld 34"/>
          <p:cNvSpPr txBox="1"/>
          <p:nvPr/>
        </p:nvSpPr>
        <p:spPr>
          <a:xfrm>
            <a:off x="7086600" y="5623086"/>
            <a:ext cx="1752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Vector data: </a:t>
            </a:r>
          </a:p>
          <a:p>
            <a:r>
              <a:rPr lang="en-GB" dirty="0" smtClean="0"/>
              <a:t>Hydrometric stations</a:t>
            </a:r>
          </a:p>
          <a:p>
            <a:r>
              <a:rPr lang="en-GB" dirty="0" smtClean="0"/>
              <a:t>(points, </a:t>
            </a:r>
            <a:r>
              <a:rPr lang="en-GB" dirty="0" err="1" smtClean="0"/>
              <a:t>multipoints</a:t>
            </a:r>
            <a:r>
              <a:rPr lang="en-GB" dirty="0" smtClean="0"/>
              <a:t>)</a:t>
            </a:r>
          </a:p>
        </p:txBody>
      </p:sp>
      <p:sp>
        <p:nvSpPr>
          <p:cNvPr id="36" name="Textfeld 35"/>
          <p:cNvSpPr txBox="1"/>
          <p:nvPr/>
        </p:nvSpPr>
        <p:spPr>
          <a:xfrm>
            <a:off x="6867265" y="1044830"/>
            <a:ext cx="169351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Vector data: </a:t>
            </a:r>
          </a:p>
          <a:p>
            <a:r>
              <a:rPr lang="en-GB" dirty="0" smtClean="0"/>
              <a:t>GRDC Basins </a:t>
            </a:r>
          </a:p>
          <a:p>
            <a:r>
              <a:rPr lang="en-GB" dirty="0" smtClean="0"/>
              <a:t>(nested polygons)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7277100" y="2113002"/>
            <a:ext cx="15816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GIS Vector data: </a:t>
            </a:r>
          </a:p>
          <a:p>
            <a:r>
              <a:rPr lang="en-GB" dirty="0" smtClean="0"/>
              <a:t>GRDC Major Rivers</a:t>
            </a:r>
          </a:p>
          <a:p>
            <a:r>
              <a:rPr lang="en-GB" dirty="0" smtClean="0"/>
              <a:t>(polylines, </a:t>
            </a:r>
            <a:r>
              <a:rPr lang="en-GB" dirty="0" err="1" smtClean="0"/>
              <a:t>multilines</a:t>
            </a:r>
            <a:r>
              <a:rPr lang="en-GB" dirty="0" smtClean="0"/>
              <a:t>)</a:t>
            </a:r>
          </a:p>
        </p:txBody>
      </p:sp>
      <p:sp>
        <p:nvSpPr>
          <p:cNvPr id="39" name="Textfeld 38"/>
          <p:cNvSpPr txBox="1"/>
          <p:nvPr/>
        </p:nvSpPr>
        <p:spPr>
          <a:xfrm>
            <a:off x="795761" y="5670492"/>
            <a:ext cx="206699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Time series data: </a:t>
            </a:r>
          </a:p>
          <a:p>
            <a:pPr algn="ctr"/>
            <a:r>
              <a:rPr lang="en-GB" dirty="0" smtClean="0"/>
              <a:t>Daily river discharge           (line graph, but also bar graph)</a:t>
            </a:r>
          </a:p>
        </p:txBody>
      </p:sp>
      <p:sp>
        <p:nvSpPr>
          <p:cNvPr id="41" name="Textfeld 40"/>
          <p:cNvSpPr txBox="1"/>
          <p:nvPr/>
        </p:nvSpPr>
        <p:spPr>
          <a:xfrm>
            <a:off x="3287982" y="4194715"/>
            <a:ext cx="28080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Time series data:</a:t>
            </a:r>
          </a:p>
          <a:p>
            <a:pPr algn="ctr"/>
            <a:r>
              <a:rPr lang="en-GB" dirty="0" smtClean="0"/>
              <a:t>Daily river discharge </a:t>
            </a:r>
          </a:p>
          <a:p>
            <a:pPr algn="ctr"/>
            <a:r>
              <a:rPr lang="en-GB" dirty="0" smtClean="0"/>
              <a:t>(ordered time value pairs)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21" name="Textfeld 20"/>
          <p:cNvSpPr txBox="1"/>
          <p:nvPr/>
        </p:nvSpPr>
        <p:spPr>
          <a:xfrm>
            <a:off x="2809009" y="2895600"/>
            <a:ext cx="28401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i="1" dirty="0" smtClean="0">
                <a:solidFill>
                  <a:srgbClr val="C00000"/>
                </a:solidFill>
              </a:rPr>
              <a:t>Observation results, </a:t>
            </a:r>
            <a:r>
              <a:rPr lang="en-GB" sz="2000" i="1" dirty="0">
                <a:solidFill>
                  <a:srgbClr val="C00000"/>
                </a:solidFill>
              </a:rPr>
              <a:t>which can be </a:t>
            </a:r>
            <a:r>
              <a:rPr lang="en-GB" sz="2000" i="1" dirty="0" smtClean="0">
                <a:solidFill>
                  <a:srgbClr val="C00000"/>
                </a:solidFill>
              </a:rPr>
              <a:t>related </a:t>
            </a:r>
            <a:r>
              <a:rPr lang="en-GB" sz="2000" i="1" dirty="0">
                <a:solidFill>
                  <a:srgbClr val="C00000"/>
                </a:solidFill>
              </a:rPr>
              <a:t>to </a:t>
            </a:r>
            <a:r>
              <a:rPr lang="en-GB" sz="2000" i="1" dirty="0" smtClean="0">
                <a:solidFill>
                  <a:srgbClr val="C00000"/>
                </a:solidFill>
              </a:rPr>
              <a:t>a  basin</a:t>
            </a:r>
            <a:endParaRPr lang="en-GB" sz="2000" i="1" dirty="0">
              <a:solidFill>
                <a:srgbClr val="C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0094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lIns="0" rIns="0"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>
                <a:solidFill>
                  <a:schemeClr val="tx2"/>
                </a:solidFill>
              </a:rPr>
              <a:t>Hydrologic data </a:t>
            </a:r>
            <a:r>
              <a:rPr lang="en-GB" dirty="0" smtClean="0">
                <a:solidFill>
                  <a:schemeClr val="tx2"/>
                </a:solidFill>
              </a:rPr>
              <a:t>linked…, hydrologically discrete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23" name="Picture 37" descr="gridQ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9485"/>
            <a:ext cx="1905000" cy="1302120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259" y="4877371"/>
            <a:ext cx="2160000" cy="1440000"/>
          </a:xfrm>
          <a:prstGeom prst="rect">
            <a:avLst/>
          </a:prstGeom>
          <a:noFill/>
          <a:ln w="6350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163344"/>
            <a:ext cx="609600" cy="4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D:\Users\Dornblut\OGC_HDWG\2014_HDWG_NewYork\pointShape_40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81" y="4207145"/>
            <a:ext cx="1905000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768" y="2711640"/>
            <a:ext cx="1904983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173" y="1071979"/>
            <a:ext cx="1881717" cy="124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1" descr="D:\Users\Dornblut\OGC_HDWG\2014_HDWG_NewYork\BASINS_15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46390"/>
            <a:ext cx="1894007" cy="146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86" y="4300026"/>
            <a:ext cx="2214173" cy="142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124" name="Gruppieren 4123"/>
          <p:cNvGrpSpPr/>
          <p:nvPr/>
        </p:nvGrpSpPr>
        <p:grpSpPr>
          <a:xfrm>
            <a:off x="3270695" y="2384454"/>
            <a:ext cx="1838625" cy="2178022"/>
            <a:chOff x="3251645" y="2470179"/>
            <a:chExt cx="1838625" cy="2178022"/>
          </a:xfrm>
        </p:grpSpPr>
        <p:sp>
          <p:nvSpPr>
            <p:cNvPr id="7" name="Träne 6"/>
            <p:cNvSpPr/>
            <p:nvPr/>
          </p:nvSpPr>
          <p:spPr bwMode="auto">
            <a:xfrm rot="19891687" flipH="1" flipV="1">
              <a:off x="3251645" y="2470179"/>
              <a:ext cx="1838625" cy="1644845"/>
            </a:xfrm>
            <a:prstGeom prst="teardrop">
              <a:avLst>
                <a:gd name="adj" fmla="val 116258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4" name="Gruppieren 3"/>
            <p:cNvGrpSpPr/>
            <p:nvPr/>
          </p:nvGrpSpPr>
          <p:grpSpPr>
            <a:xfrm>
              <a:off x="3476625" y="2563071"/>
              <a:ext cx="1497634" cy="2085130"/>
              <a:chOff x="3560334" y="2808955"/>
              <a:chExt cx="1377300" cy="1809139"/>
            </a:xfrm>
          </p:grpSpPr>
          <p:sp>
            <p:nvSpPr>
              <p:cNvPr id="10" name="Freihandform 9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9" name="Freihandform 8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Freihandform 10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Freihandform 11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3" name="Freihandform 12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pic>
        <p:nvPicPr>
          <p:cNvPr id="77" name="Picture 10" descr="loggers 008 small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164" y="5233104"/>
            <a:ext cx="1033814" cy="72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50" descr="Installation 005 small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57" y="4648197"/>
            <a:ext cx="1033814" cy="77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Gerade Verbindung mit Pfeil 20"/>
          <p:cNvCxnSpPr>
            <a:stCxn id="23" idx="3"/>
            <a:endCxn id="7" idx="1"/>
          </p:cNvCxnSpPr>
          <p:nvPr/>
        </p:nvCxnSpPr>
        <p:spPr bwMode="auto">
          <a:xfrm flipV="1">
            <a:off x="2362200" y="3005571"/>
            <a:ext cx="979142" cy="124974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Gerade Verbindung mit Pfeil 24"/>
          <p:cNvCxnSpPr>
            <a:stCxn id="1055" idx="1"/>
            <a:endCxn id="7" idx="3"/>
          </p:cNvCxnSpPr>
          <p:nvPr/>
        </p:nvCxnSpPr>
        <p:spPr bwMode="auto">
          <a:xfrm flipH="1">
            <a:off x="4484201" y="1778838"/>
            <a:ext cx="392599" cy="606937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Gerade Verbindung mit Pfeil 27"/>
          <p:cNvCxnSpPr>
            <a:stCxn id="1053" idx="1"/>
            <a:endCxn id="7" idx="5"/>
          </p:cNvCxnSpPr>
          <p:nvPr/>
        </p:nvCxnSpPr>
        <p:spPr bwMode="auto">
          <a:xfrm flipH="1">
            <a:off x="5038673" y="3363997"/>
            <a:ext cx="988095" cy="44185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Gerade Verbindung mit Pfeil 29"/>
          <p:cNvCxnSpPr>
            <a:stCxn id="1035" idx="1"/>
          </p:cNvCxnSpPr>
          <p:nvPr/>
        </p:nvCxnSpPr>
        <p:spPr bwMode="auto">
          <a:xfrm flipH="1" flipV="1">
            <a:off x="4819747" y="3819169"/>
            <a:ext cx="1912234" cy="1040333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Gerade Verbindung mit Pfeil 31"/>
          <p:cNvCxnSpPr>
            <a:stCxn id="74" idx="1"/>
            <a:endCxn id="7" idx="6"/>
          </p:cNvCxnSpPr>
          <p:nvPr/>
        </p:nvCxnSpPr>
        <p:spPr bwMode="auto">
          <a:xfrm flipH="1" flipV="1">
            <a:off x="4582078" y="3929828"/>
            <a:ext cx="676879" cy="1106050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Gerade Verbindung mit Pfeil 36"/>
          <p:cNvCxnSpPr>
            <a:stCxn id="24" idx="0"/>
            <a:endCxn id="7" idx="7"/>
          </p:cNvCxnSpPr>
          <p:nvPr/>
        </p:nvCxnSpPr>
        <p:spPr bwMode="auto">
          <a:xfrm flipH="1" flipV="1">
            <a:off x="3706314" y="4556879"/>
            <a:ext cx="187945" cy="320492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Gerade Verbindung mit Pfeil 39"/>
          <p:cNvCxnSpPr>
            <a:stCxn id="1056" idx="0"/>
            <a:endCxn id="7" idx="0"/>
          </p:cNvCxnSpPr>
          <p:nvPr/>
        </p:nvCxnSpPr>
        <p:spPr bwMode="auto">
          <a:xfrm flipV="1">
            <a:off x="1707173" y="3645138"/>
            <a:ext cx="1674712" cy="654888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Gerade Verbindung mit Pfeil 55"/>
          <p:cNvCxnSpPr/>
          <p:nvPr/>
        </p:nvCxnSpPr>
        <p:spPr bwMode="auto">
          <a:xfrm>
            <a:off x="2648032" y="2313321"/>
            <a:ext cx="817426" cy="499501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feld 30"/>
          <p:cNvSpPr txBox="1"/>
          <p:nvPr/>
        </p:nvSpPr>
        <p:spPr>
          <a:xfrm>
            <a:off x="3620778" y="3578396"/>
            <a:ext cx="671979" cy="307777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GB" sz="1400" dirty="0" smtClean="0"/>
              <a:t>Basin</a:t>
            </a:r>
          </a:p>
        </p:txBody>
      </p:sp>
      <p:sp>
        <p:nvSpPr>
          <p:cNvPr id="33" name="Textfeld 32"/>
          <p:cNvSpPr txBox="1"/>
          <p:nvPr/>
        </p:nvSpPr>
        <p:spPr>
          <a:xfrm>
            <a:off x="1702780" y="1977914"/>
            <a:ext cx="5764819" cy="31700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sz="2000" u="sng" dirty="0" smtClean="0"/>
              <a:t>Basin: </a:t>
            </a:r>
          </a:p>
          <a:p>
            <a:endParaRPr lang="en-GB" sz="2000" dirty="0" smtClean="0"/>
          </a:p>
          <a:p>
            <a:r>
              <a:rPr lang="en-GB" sz="2000" dirty="0" smtClean="0"/>
              <a:t>hydrologic </a:t>
            </a:r>
            <a:r>
              <a:rPr lang="en-GB" sz="2000" dirty="0"/>
              <a:t>unit wherein all incoming water is channelled to a common outlet. </a:t>
            </a:r>
          </a:p>
          <a:p>
            <a:pPr lvl="0"/>
            <a:endParaRPr lang="en-GB" sz="1800" i="1" dirty="0" smtClean="0"/>
          </a:p>
          <a:p>
            <a:pPr lvl="0"/>
            <a:r>
              <a:rPr lang="en-GB" sz="1800" b="0" i="1" dirty="0" smtClean="0"/>
              <a:t>Note: The </a:t>
            </a:r>
            <a:r>
              <a:rPr lang="en-GB" sz="1800" b="0" i="1" dirty="0"/>
              <a:t>common outlet of a basin may be a particular location, but also a body of water. It may be a real place or a fictive one built from joining several places</a:t>
            </a:r>
            <a:r>
              <a:rPr lang="en-GB" sz="1800" b="0" i="1" dirty="0" smtClean="0"/>
              <a:t>.</a:t>
            </a:r>
          </a:p>
          <a:p>
            <a:pPr lvl="0"/>
            <a:endParaRPr lang="en-GB" sz="1800" b="0" i="1" dirty="0"/>
          </a:p>
          <a:p>
            <a:pPr lvl="0"/>
            <a:r>
              <a:rPr lang="en-GB" sz="1200" b="0" i="1" dirty="0" smtClean="0"/>
              <a:t>Source: </a:t>
            </a:r>
            <a:r>
              <a:rPr lang="en-GB" sz="1200" b="0" i="1" dirty="0" err="1" smtClean="0"/>
              <a:t>HY_Features.HY_Basin</a:t>
            </a:r>
            <a:r>
              <a:rPr lang="en-GB" sz="1200" b="0" i="1" dirty="0" smtClean="0"/>
              <a:t>, derived  from IGH EN0360 and EN0552</a:t>
            </a:r>
            <a:endParaRPr lang="en-GB" sz="1200" b="0" dirty="0" smtClean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458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uppieren 28"/>
          <p:cNvGrpSpPr/>
          <p:nvPr/>
        </p:nvGrpSpPr>
        <p:grpSpPr>
          <a:xfrm>
            <a:off x="3266775" y="2418285"/>
            <a:ext cx="1838625" cy="2153715"/>
            <a:chOff x="3266775" y="2418285"/>
            <a:chExt cx="1838625" cy="2153715"/>
          </a:xfrm>
        </p:grpSpPr>
        <p:sp>
          <p:nvSpPr>
            <p:cNvPr id="39" name="Träne 38"/>
            <p:cNvSpPr/>
            <p:nvPr/>
          </p:nvSpPr>
          <p:spPr bwMode="auto">
            <a:xfrm rot="19891687" flipH="1" flipV="1">
              <a:off x="3266775" y="2418285"/>
              <a:ext cx="1838625" cy="1644845"/>
            </a:xfrm>
            <a:prstGeom prst="teardrop">
              <a:avLst>
                <a:gd name="adj" fmla="val 116258"/>
              </a:avLst>
            </a:prstGeom>
            <a:blipFill dpi="0" rotWithShape="0">
              <a:blip r:embed="rId3"/>
              <a:srcRect/>
              <a:tile tx="0" ty="0" sx="100000" sy="100000" flip="none" algn="br"/>
            </a:blipFill>
            <a:ln w="12700" cap="flat" cmpd="sng" algn="ctr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GB" dirty="0"/>
            </a:p>
          </p:txBody>
        </p:sp>
        <p:grpSp>
          <p:nvGrpSpPr>
            <p:cNvPr id="41" name="Gruppieren 40"/>
            <p:cNvGrpSpPr/>
            <p:nvPr/>
          </p:nvGrpSpPr>
          <p:grpSpPr>
            <a:xfrm>
              <a:off x="3467453" y="2486870"/>
              <a:ext cx="1497634" cy="2085130"/>
              <a:chOff x="3560334" y="2808955"/>
              <a:chExt cx="1377300" cy="1809139"/>
            </a:xfrm>
          </p:grpSpPr>
          <p:sp>
            <p:nvSpPr>
              <p:cNvPr id="42" name="Freihandform 41"/>
              <p:cNvSpPr/>
              <p:nvPr/>
            </p:nvSpPr>
            <p:spPr bwMode="auto">
              <a:xfrm>
                <a:off x="3560334" y="2952750"/>
                <a:ext cx="363966" cy="1295400"/>
              </a:xfrm>
              <a:custGeom>
                <a:avLst/>
                <a:gdLst>
                  <a:gd name="connsiteX0" fmla="*/ 354441 w 363966"/>
                  <a:gd name="connsiteY0" fmla="*/ 1295400 h 1295400"/>
                  <a:gd name="connsiteX1" fmla="*/ 363966 w 363966"/>
                  <a:gd name="connsiteY1" fmla="*/ 1200150 h 1295400"/>
                  <a:gd name="connsiteX2" fmla="*/ 354441 w 363966"/>
                  <a:gd name="connsiteY2" fmla="*/ 1047750 h 1295400"/>
                  <a:gd name="connsiteX3" fmla="*/ 325866 w 363966"/>
                  <a:gd name="connsiteY3" fmla="*/ 952500 h 1295400"/>
                  <a:gd name="connsiteX4" fmla="*/ 316341 w 363966"/>
                  <a:gd name="connsiteY4" fmla="*/ 923925 h 1295400"/>
                  <a:gd name="connsiteX5" fmla="*/ 306816 w 363966"/>
                  <a:gd name="connsiteY5" fmla="*/ 895350 h 1295400"/>
                  <a:gd name="connsiteX6" fmla="*/ 287766 w 363966"/>
                  <a:gd name="connsiteY6" fmla="*/ 866775 h 1295400"/>
                  <a:gd name="connsiteX7" fmla="*/ 249666 w 363966"/>
                  <a:gd name="connsiteY7" fmla="*/ 809625 h 1295400"/>
                  <a:gd name="connsiteX8" fmla="*/ 202041 w 363966"/>
                  <a:gd name="connsiteY8" fmla="*/ 723900 h 1295400"/>
                  <a:gd name="connsiteX9" fmla="*/ 182991 w 363966"/>
                  <a:gd name="connsiteY9" fmla="*/ 695325 h 1295400"/>
                  <a:gd name="connsiteX10" fmla="*/ 173466 w 363966"/>
                  <a:gd name="connsiteY10" fmla="*/ 666750 h 1295400"/>
                  <a:gd name="connsiteX11" fmla="*/ 135366 w 363966"/>
                  <a:gd name="connsiteY11" fmla="*/ 609600 h 1295400"/>
                  <a:gd name="connsiteX12" fmla="*/ 97266 w 363966"/>
                  <a:gd name="connsiteY12" fmla="*/ 552450 h 1295400"/>
                  <a:gd name="connsiteX13" fmla="*/ 87741 w 363966"/>
                  <a:gd name="connsiteY13" fmla="*/ 523875 h 1295400"/>
                  <a:gd name="connsiteX14" fmla="*/ 40116 w 363966"/>
                  <a:gd name="connsiteY14" fmla="*/ 457200 h 1295400"/>
                  <a:gd name="connsiteX15" fmla="*/ 30591 w 363966"/>
                  <a:gd name="connsiteY15" fmla="*/ 428625 h 1295400"/>
                  <a:gd name="connsiteX16" fmla="*/ 11541 w 363966"/>
                  <a:gd name="connsiteY16" fmla="*/ 400050 h 1295400"/>
                  <a:gd name="connsiteX17" fmla="*/ 2016 w 363966"/>
                  <a:gd name="connsiteY17" fmla="*/ 361950 h 1295400"/>
                  <a:gd name="connsiteX18" fmla="*/ 49641 w 363966"/>
                  <a:gd name="connsiteY18" fmla="*/ 123825 h 1295400"/>
                  <a:gd name="connsiteX19" fmla="*/ 78216 w 363966"/>
                  <a:gd name="connsiteY19" fmla="*/ 104775 h 1295400"/>
                  <a:gd name="connsiteX20" fmla="*/ 87741 w 363966"/>
                  <a:gd name="connsiteY20" fmla="*/ 76200 h 1295400"/>
                  <a:gd name="connsiteX21" fmla="*/ 106791 w 363966"/>
                  <a:gd name="connsiteY21" fmla="*/ 47625 h 1295400"/>
                  <a:gd name="connsiteX22" fmla="*/ 116316 w 363966"/>
                  <a:gd name="connsiteY22" fmla="*/ 0 h 1295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63966" h="1295400">
                    <a:moveTo>
                      <a:pt x="354441" y="1295400"/>
                    </a:moveTo>
                    <a:cubicBezTo>
                      <a:pt x="357616" y="1263650"/>
                      <a:pt x="363966" y="1232058"/>
                      <a:pt x="363966" y="1200150"/>
                    </a:cubicBezTo>
                    <a:cubicBezTo>
                      <a:pt x="363966" y="1149251"/>
                      <a:pt x="359506" y="1098397"/>
                      <a:pt x="354441" y="1047750"/>
                    </a:cubicBezTo>
                    <a:cubicBezTo>
                      <a:pt x="352385" y="1027185"/>
                      <a:pt x="330129" y="965289"/>
                      <a:pt x="325866" y="952500"/>
                    </a:cubicBezTo>
                    <a:lnTo>
                      <a:pt x="316341" y="923925"/>
                    </a:lnTo>
                    <a:cubicBezTo>
                      <a:pt x="313166" y="914400"/>
                      <a:pt x="312385" y="903704"/>
                      <a:pt x="306816" y="895350"/>
                    </a:cubicBezTo>
                    <a:cubicBezTo>
                      <a:pt x="300466" y="885825"/>
                      <a:pt x="292886" y="877014"/>
                      <a:pt x="287766" y="866775"/>
                    </a:cubicBezTo>
                    <a:cubicBezTo>
                      <a:pt x="260197" y="811636"/>
                      <a:pt x="303835" y="863794"/>
                      <a:pt x="249666" y="809625"/>
                    </a:cubicBezTo>
                    <a:cubicBezTo>
                      <a:pt x="232901" y="759330"/>
                      <a:pt x="245710" y="789404"/>
                      <a:pt x="202041" y="723900"/>
                    </a:cubicBezTo>
                    <a:cubicBezTo>
                      <a:pt x="195691" y="714375"/>
                      <a:pt x="186611" y="706185"/>
                      <a:pt x="182991" y="695325"/>
                    </a:cubicBezTo>
                    <a:cubicBezTo>
                      <a:pt x="179816" y="685800"/>
                      <a:pt x="178342" y="675527"/>
                      <a:pt x="173466" y="666750"/>
                    </a:cubicBezTo>
                    <a:cubicBezTo>
                      <a:pt x="162347" y="646736"/>
                      <a:pt x="142606" y="631320"/>
                      <a:pt x="135366" y="609600"/>
                    </a:cubicBezTo>
                    <a:cubicBezTo>
                      <a:pt x="121581" y="568246"/>
                      <a:pt x="132941" y="588125"/>
                      <a:pt x="97266" y="552450"/>
                    </a:cubicBezTo>
                    <a:cubicBezTo>
                      <a:pt x="94091" y="542925"/>
                      <a:pt x="92231" y="532855"/>
                      <a:pt x="87741" y="523875"/>
                    </a:cubicBezTo>
                    <a:cubicBezTo>
                      <a:pt x="80777" y="509947"/>
                      <a:pt x="46588" y="465829"/>
                      <a:pt x="40116" y="457200"/>
                    </a:cubicBezTo>
                    <a:cubicBezTo>
                      <a:pt x="36941" y="447675"/>
                      <a:pt x="35081" y="437605"/>
                      <a:pt x="30591" y="428625"/>
                    </a:cubicBezTo>
                    <a:cubicBezTo>
                      <a:pt x="25471" y="418386"/>
                      <a:pt x="16050" y="410572"/>
                      <a:pt x="11541" y="400050"/>
                    </a:cubicBezTo>
                    <a:cubicBezTo>
                      <a:pt x="6384" y="388018"/>
                      <a:pt x="5191" y="374650"/>
                      <a:pt x="2016" y="361950"/>
                    </a:cubicBezTo>
                    <a:cubicBezTo>
                      <a:pt x="4156" y="321285"/>
                      <a:pt x="-18713" y="169394"/>
                      <a:pt x="49641" y="123825"/>
                    </a:cubicBezTo>
                    <a:lnTo>
                      <a:pt x="78216" y="104775"/>
                    </a:lnTo>
                    <a:cubicBezTo>
                      <a:pt x="81391" y="95250"/>
                      <a:pt x="83251" y="85180"/>
                      <a:pt x="87741" y="76200"/>
                    </a:cubicBezTo>
                    <a:cubicBezTo>
                      <a:pt x="92861" y="65961"/>
                      <a:pt x="101671" y="57864"/>
                      <a:pt x="106791" y="47625"/>
                    </a:cubicBezTo>
                    <a:cubicBezTo>
                      <a:pt x="118324" y="24559"/>
                      <a:pt x="116316" y="21796"/>
                      <a:pt x="116316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3" name="Freihandform 42"/>
              <p:cNvSpPr/>
              <p:nvPr/>
            </p:nvSpPr>
            <p:spPr bwMode="auto">
              <a:xfrm>
                <a:off x="3776907" y="3177483"/>
                <a:ext cx="1042840" cy="1440611"/>
              </a:xfrm>
              <a:custGeom>
                <a:avLst/>
                <a:gdLst>
                  <a:gd name="connsiteX0" fmla="*/ 0 w 1095375"/>
                  <a:gd name="connsiteY0" fmla="*/ 1638300 h 1638300"/>
                  <a:gd name="connsiteX1" fmla="*/ 19050 w 1095375"/>
                  <a:gd name="connsiteY1" fmla="*/ 1590675 h 1638300"/>
                  <a:gd name="connsiteX2" fmla="*/ 38100 w 1095375"/>
                  <a:gd name="connsiteY2" fmla="*/ 1562100 h 1638300"/>
                  <a:gd name="connsiteX3" fmla="*/ 66675 w 1095375"/>
                  <a:gd name="connsiteY3" fmla="*/ 1495425 h 1638300"/>
                  <a:gd name="connsiteX4" fmla="*/ 85725 w 1095375"/>
                  <a:gd name="connsiteY4" fmla="*/ 1466850 h 1638300"/>
                  <a:gd name="connsiteX5" fmla="*/ 95250 w 1095375"/>
                  <a:gd name="connsiteY5" fmla="*/ 1438275 h 1638300"/>
                  <a:gd name="connsiteX6" fmla="*/ 123825 w 1095375"/>
                  <a:gd name="connsiteY6" fmla="*/ 1381125 h 1638300"/>
                  <a:gd name="connsiteX7" fmla="*/ 142875 w 1095375"/>
                  <a:gd name="connsiteY7" fmla="*/ 1247775 h 1638300"/>
                  <a:gd name="connsiteX8" fmla="*/ 152400 w 1095375"/>
                  <a:gd name="connsiteY8" fmla="*/ 1152525 h 1638300"/>
                  <a:gd name="connsiteX9" fmla="*/ 161925 w 1095375"/>
                  <a:gd name="connsiteY9" fmla="*/ 1085850 h 1638300"/>
                  <a:gd name="connsiteX10" fmla="*/ 180975 w 1095375"/>
                  <a:gd name="connsiteY10" fmla="*/ 990600 h 1638300"/>
                  <a:gd name="connsiteX11" fmla="*/ 190500 w 1095375"/>
                  <a:gd name="connsiteY11" fmla="*/ 942975 h 1638300"/>
                  <a:gd name="connsiteX12" fmla="*/ 209550 w 1095375"/>
                  <a:gd name="connsiteY12" fmla="*/ 847725 h 1638300"/>
                  <a:gd name="connsiteX13" fmla="*/ 228600 w 1095375"/>
                  <a:gd name="connsiteY13" fmla="*/ 790575 h 1638300"/>
                  <a:gd name="connsiteX14" fmla="*/ 247650 w 1095375"/>
                  <a:gd name="connsiteY14" fmla="*/ 733425 h 1638300"/>
                  <a:gd name="connsiteX15" fmla="*/ 257175 w 1095375"/>
                  <a:gd name="connsiteY15" fmla="*/ 704850 h 1638300"/>
                  <a:gd name="connsiteX16" fmla="*/ 266700 w 1095375"/>
                  <a:gd name="connsiteY16" fmla="*/ 676275 h 1638300"/>
                  <a:gd name="connsiteX17" fmla="*/ 285750 w 1095375"/>
                  <a:gd name="connsiteY17" fmla="*/ 647700 h 1638300"/>
                  <a:gd name="connsiteX18" fmla="*/ 295275 w 1095375"/>
                  <a:gd name="connsiteY18" fmla="*/ 619125 h 1638300"/>
                  <a:gd name="connsiteX19" fmla="*/ 323850 w 1095375"/>
                  <a:gd name="connsiteY19" fmla="*/ 600075 h 1638300"/>
                  <a:gd name="connsiteX20" fmla="*/ 371475 w 1095375"/>
                  <a:gd name="connsiteY20" fmla="*/ 542925 h 1638300"/>
                  <a:gd name="connsiteX21" fmla="*/ 409575 w 1095375"/>
                  <a:gd name="connsiteY21" fmla="*/ 485775 h 1638300"/>
                  <a:gd name="connsiteX22" fmla="*/ 428625 w 1095375"/>
                  <a:gd name="connsiteY22" fmla="*/ 457200 h 1638300"/>
                  <a:gd name="connsiteX23" fmla="*/ 457200 w 1095375"/>
                  <a:gd name="connsiteY23" fmla="*/ 447675 h 1638300"/>
                  <a:gd name="connsiteX24" fmla="*/ 485775 w 1095375"/>
                  <a:gd name="connsiteY24" fmla="*/ 390525 h 1638300"/>
                  <a:gd name="connsiteX25" fmla="*/ 542925 w 1095375"/>
                  <a:gd name="connsiteY25" fmla="*/ 352425 h 1638300"/>
                  <a:gd name="connsiteX26" fmla="*/ 571500 w 1095375"/>
                  <a:gd name="connsiteY26" fmla="*/ 323850 h 1638300"/>
                  <a:gd name="connsiteX27" fmla="*/ 638175 w 1095375"/>
                  <a:gd name="connsiteY27" fmla="*/ 295275 h 1638300"/>
                  <a:gd name="connsiteX28" fmla="*/ 666750 w 1095375"/>
                  <a:gd name="connsiteY28" fmla="*/ 276225 h 1638300"/>
                  <a:gd name="connsiteX29" fmla="*/ 695325 w 1095375"/>
                  <a:gd name="connsiteY29" fmla="*/ 266700 h 1638300"/>
                  <a:gd name="connsiteX30" fmla="*/ 752475 w 1095375"/>
                  <a:gd name="connsiteY30" fmla="*/ 228600 h 1638300"/>
                  <a:gd name="connsiteX31" fmla="*/ 809625 w 1095375"/>
                  <a:gd name="connsiteY31" fmla="*/ 209550 h 1638300"/>
                  <a:gd name="connsiteX32" fmla="*/ 838200 w 1095375"/>
                  <a:gd name="connsiteY32" fmla="*/ 180975 h 1638300"/>
                  <a:gd name="connsiteX33" fmla="*/ 866775 w 1095375"/>
                  <a:gd name="connsiteY33" fmla="*/ 171450 h 1638300"/>
                  <a:gd name="connsiteX34" fmla="*/ 923925 w 1095375"/>
                  <a:gd name="connsiteY34" fmla="*/ 133350 h 1638300"/>
                  <a:gd name="connsiteX35" fmla="*/ 981075 w 1095375"/>
                  <a:gd name="connsiteY35" fmla="*/ 85725 h 1638300"/>
                  <a:gd name="connsiteX36" fmla="*/ 1009650 w 1095375"/>
                  <a:gd name="connsiteY36" fmla="*/ 76200 h 1638300"/>
                  <a:gd name="connsiteX37" fmla="*/ 1066800 w 1095375"/>
                  <a:gd name="connsiteY37" fmla="*/ 38100 h 1638300"/>
                  <a:gd name="connsiteX38" fmla="*/ 1095375 w 1095375"/>
                  <a:gd name="connsiteY38" fmla="*/ 0 h 1638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095375" h="1638300">
                    <a:moveTo>
                      <a:pt x="0" y="1638300"/>
                    </a:moveTo>
                    <a:cubicBezTo>
                      <a:pt x="6350" y="1622425"/>
                      <a:pt x="11404" y="1605968"/>
                      <a:pt x="19050" y="1590675"/>
                    </a:cubicBezTo>
                    <a:cubicBezTo>
                      <a:pt x="24170" y="1580436"/>
                      <a:pt x="32980" y="1572339"/>
                      <a:pt x="38100" y="1562100"/>
                    </a:cubicBezTo>
                    <a:cubicBezTo>
                      <a:pt x="91530" y="1455239"/>
                      <a:pt x="-12607" y="1634168"/>
                      <a:pt x="66675" y="1495425"/>
                    </a:cubicBezTo>
                    <a:cubicBezTo>
                      <a:pt x="72355" y="1485486"/>
                      <a:pt x="80605" y="1477089"/>
                      <a:pt x="85725" y="1466850"/>
                    </a:cubicBezTo>
                    <a:cubicBezTo>
                      <a:pt x="90215" y="1457870"/>
                      <a:pt x="90760" y="1447255"/>
                      <a:pt x="95250" y="1438275"/>
                    </a:cubicBezTo>
                    <a:cubicBezTo>
                      <a:pt x="118530" y="1391714"/>
                      <a:pt x="111854" y="1429008"/>
                      <a:pt x="123825" y="1381125"/>
                    </a:cubicBezTo>
                    <a:cubicBezTo>
                      <a:pt x="135652" y="1333815"/>
                      <a:pt x="137487" y="1298963"/>
                      <a:pt x="142875" y="1247775"/>
                    </a:cubicBezTo>
                    <a:cubicBezTo>
                      <a:pt x="146215" y="1216042"/>
                      <a:pt x="148672" y="1184215"/>
                      <a:pt x="152400" y="1152525"/>
                    </a:cubicBezTo>
                    <a:cubicBezTo>
                      <a:pt x="155023" y="1130228"/>
                      <a:pt x="158023" y="1107959"/>
                      <a:pt x="161925" y="1085850"/>
                    </a:cubicBezTo>
                    <a:cubicBezTo>
                      <a:pt x="167552" y="1053964"/>
                      <a:pt x="174625" y="1022350"/>
                      <a:pt x="180975" y="990600"/>
                    </a:cubicBezTo>
                    <a:cubicBezTo>
                      <a:pt x="184150" y="974725"/>
                      <a:pt x="187838" y="958944"/>
                      <a:pt x="190500" y="942975"/>
                    </a:cubicBezTo>
                    <a:cubicBezTo>
                      <a:pt x="196937" y="904356"/>
                      <a:pt x="198893" y="883248"/>
                      <a:pt x="209550" y="847725"/>
                    </a:cubicBezTo>
                    <a:cubicBezTo>
                      <a:pt x="215320" y="828491"/>
                      <a:pt x="222250" y="809625"/>
                      <a:pt x="228600" y="790575"/>
                    </a:cubicBezTo>
                    <a:lnTo>
                      <a:pt x="247650" y="733425"/>
                    </a:lnTo>
                    <a:lnTo>
                      <a:pt x="257175" y="704850"/>
                    </a:lnTo>
                    <a:cubicBezTo>
                      <a:pt x="260350" y="695325"/>
                      <a:pt x="261131" y="684629"/>
                      <a:pt x="266700" y="676275"/>
                    </a:cubicBezTo>
                    <a:cubicBezTo>
                      <a:pt x="273050" y="666750"/>
                      <a:pt x="280630" y="657939"/>
                      <a:pt x="285750" y="647700"/>
                    </a:cubicBezTo>
                    <a:cubicBezTo>
                      <a:pt x="290240" y="638720"/>
                      <a:pt x="289003" y="626965"/>
                      <a:pt x="295275" y="619125"/>
                    </a:cubicBezTo>
                    <a:cubicBezTo>
                      <a:pt x="302426" y="610186"/>
                      <a:pt x="314325" y="606425"/>
                      <a:pt x="323850" y="600075"/>
                    </a:cubicBezTo>
                    <a:cubicBezTo>
                      <a:pt x="391923" y="497965"/>
                      <a:pt x="285912" y="652934"/>
                      <a:pt x="371475" y="542925"/>
                    </a:cubicBezTo>
                    <a:cubicBezTo>
                      <a:pt x="385531" y="524853"/>
                      <a:pt x="396875" y="504825"/>
                      <a:pt x="409575" y="485775"/>
                    </a:cubicBezTo>
                    <a:cubicBezTo>
                      <a:pt x="415925" y="476250"/>
                      <a:pt x="417765" y="460820"/>
                      <a:pt x="428625" y="457200"/>
                    </a:cubicBezTo>
                    <a:lnTo>
                      <a:pt x="457200" y="447675"/>
                    </a:lnTo>
                    <a:cubicBezTo>
                      <a:pt x="463994" y="427292"/>
                      <a:pt x="468397" y="405731"/>
                      <a:pt x="485775" y="390525"/>
                    </a:cubicBezTo>
                    <a:cubicBezTo>
                      <a:pt x="503005" y="375448"/>
                      <a:pt x="526736" y="368614"/>
                      <a:pt x="542925" y="352425"/>
                    </a:cubicBezTo>
                    <a:cubicBezTo>
                      <a:pt x="552450" y="342900"/>
                      <a:pt x="560539" y="331680"/>
                      <a:pt x="571500" y="323850"/>
                    </a:cubicBezTo>
                    <a:cubicBezTo>
                      <a:pt x="617748" y="290816"/>
                      <a:pt x="596718" y="316003"/>
                      <a:pt x="638175" y="295275"/>
                    </a:cubicBezTo>
                    <a:cubicBezTo>
                      <a:pt x="648414" y="290155"/>
                      <a:pt x="656511" y="281345"/>
                      <a:pt x="666750" y="276225"/>
                    </a:cubicBezTo>
                    <a:cubicBezTo>
                      <a:pt x="675730" y="271735"/>
                      <a:pt x="686548" y="271576"/>
                      <a:pt x="695325" y="266700"/>
                    </a:cubicBezTo>
                    <a:cubicBezTo>
                      <a:pt x="715339" y="255581"/>
                      <a:pt x="730755" y="235840"/>
                      <a:pt x="752475" y="228600"/>
                    </a:cubicBezTo>
                    <a:lnTo>
                      <a:pt x="809625" y="209550"/>
                    </a:lnTo>
                    <a:cubicBezTo>
                      <a:pt x="819150" y="200025"/>
                      <a:pt x="826992" y="188447"/>
                      <a:pt x="838200" y="180975"/>
                    </a:cubicBezTo>
                    <a:cubicBezTo>
                      <a:pt x="846554" y="175406"/>
                      <a:pt x="857998" y="176326"/>
                      <a:pt x="866775" y="171450"/>
                    </a:cubicBezTo>
                    <a:cubicBezTo>
                      <a:pt x="886789" y="160331"/>
                      <a:pt x="907736" y="149539"/>
                      <a:pt x="923925" y="133350"/>
                    </a:cubicBezTo>
                    <a:cubicBezTo>
                      <a:pt x="944991" y="112284"/>
                      <a:pt x="954553" y="98986"/>
                      <a:pt x="981075" y="85725"/>
                    </a:cubicBezTo>
                    <a:cubicBezTo>
                      <a:pt x="990055" y="81235"/>
                      <a:pt x="1000873" y="81076"/>
                      <a:pt x="1009650" y="76200"/>
                    </a:cubicBezTo>
                    <a:cubicBezTo>
                      <a:pt x="1029664" y="65081"/>
                      <a:pt x="1066800" y="38100"/>
                      <a:pt x="1066800" y="38100"/>
                    </a:cubicBezTo>
                    <a:cubicBezTo>
                      <a:pt x="1078570" y="2790"/>
                      <a:pt x="1067345" y="14015"/>
                      <a:pt x="1095375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4" name="Freihandform 43"/>
              <p:cNvSpPr/>
              <p:nvPr/>
            </p:nvSpPr>
            <p:spPr bwMode="auto">
              <a:xfrm>
                <a:off x="4157771" y="2808955"/>
                <a:ext cx="180810" cy="678427"/>
              </a:xfrm>
              <a:custGeom>
                <a:avLst/>
                <a:gdLst>
                  <a:gd name="connsiteX0" fmla="*/ 171450 w 189919"/>
                  <a:gd name="connsiteY0" fmla="*/ 771525 h 771525"/>
                  <a:gd name="connsiteX1" fmla="*/ 171450 w 189919"/>
                  <a:gd name="connsiteY1" fmla="*/ 371475 h 771525"/>
                  <a:gd name="connsiteX2" fmla="*/ 152400 w 189919"/>
                  <a:gd name="connsiteY2" fmla="*/ 304800 h 771525"/>
                  <a:gd name="connsiteX3" fmla="*/ 133350 w 189919"/>
                  <a:gd name="connsiteY3" fmla="*/ 276225 h 771525"/>
                  <a:gd name="connsiteX4" fmla="*/ 123825 w 189919"/>
                  <a:gd name="connsiteY4" fmla="*/ 247650 h 771525"/>
                  <a:gd name="connsiteX5" fmla="*/ 104775 w 189919"/>
                  <a:gd name="connsiteY5" fmla="*/ 219075 h 771525"/>
                  <a:gd name="connsiteX6" fmla="*/ 95250 w 189919"/>
                  <a:gd name="connsiteY6" fmla="*/ 190500 h 771525"/>
                  <a:gd name="connsiteX7" fmla="*/ 57150 w 189919"/>
                  <a:gd name="connsiteY7" fmla="*/ 133350 h 771525"/>
                  <a:gd name="connsiteX8" fmla="*/ 38100 w 189919"/>
                  <a:gd name="connsiteY8" fmla="*/ 76200 h 771525"/>
                  <a:gd name="connsiteX9" fmla="*/ 28575 w 189919"/>
                  <a:gd name="connsiteY9" fmla="*/ 47625 h 771525"/>
                  <a:gd name="connsiteX10" fmla="*/ 0 w 189919"/>
                  <a:gd name="connsiteY10" fmla="*/ 0 h 771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9919" h="771525">
                    <a:moveTo>
                      <a:pt x="171450" y="771525"/>
                    </a:moveTo>
                    <a:cubicBezTo>
                      <a:pt x="203134" y="613104"/>
                      <a:pt x="187859" y="707852"/>
                      <a:pt x="171450" y="371475"/>
                    </a:cubicBezTo>
                    <a:cubicBezTo>
                      <a:pt x="171120" y="364711"/>
                      <a:pt x="157145" y="314289"/>
                      <a:pt x="152400" y="304800"/>
                    </a:cubicBezTo>
                    <a:cubicBezTo>
                      <a:pt x="147280" y="294561"/>
                      <a:pt x="138470" y="286464"/>
                      <a:pt x="133350" y="276225"/>
                    </a:cubicBezTo>
                    <a:cubicBezTo>
                      <a:pt x="128860" y="267245"/>
                      <a:pt x="128315" y="256630"/>
                      <a:pt x="123825" y="247650"/>
                    </a:cubicBezTo>
                    <a:cubicBezTo>
                      <a:pt x="118705" y="237411"/>
                      <a:pt x="109895" y="229314"/>
                      <a:pt x="104775" y="219075"/>
                    </a:cubicBezTo>
                    <a:cubicBezTo>
                      <a:pt x="100285" y="210095"/>
                      <a:pt x="100126" y="199277"/>
                      <a:pt x="95250" y="190500"/>
                    </a:cubicBezTo>
                    <a:cubicBezTo>
                      <a:pt x="84131" y="170486"/>
                      <a:pt x="64390" y="155070"/>
                      <a:pt x="57150" y="133350"/>
                    </a:cubicBezTo>
                    <a:lnTo>
                      <a:pt x="38100" y="76200"/>
                    </a:lnTo>
                    <a:cubicBezTo>
                      <a:pt x="34925" y="66675"/>
                      <a:pt x="34144" y="55979"/>
                      <a:pt x="28575" y="47625"/>
                    </a:cubicBezTo>
                    <a:cubicBezTo>
                      <a:pt x="5587" y="13143"/>
                      <a:pt x="14645" y="29289"/>
                      <a:pt x="0" y="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5" name="Freihandform 44"/>
              <p:cNvSpPr/>
              <p:nvPr/>
            </p:nvSpPr>
            <p:spPr bwMode="auto">
              <a:xfrm>
                <a:off x="4030816" y="3579213"/>
                <a:ext cx="906818" cy="226443"/>
              </a:xfrm>
              <a:custGeom>
                <a:avLst/>
                <a:gdLst>
                  <a:gd name="connsiteX0" fmla="*/ 0 w 952500"/>
                  <a:gd name="connsiteY0" fmla="*/ 257517 h 257517"/>
                  <a:gd name="connsiteX1" fmla="*/ 114300 w 952500"/>
                  <a:gd name="connsiteY1" fmla="*/ 238467 h 257517"/>
                  <a:gd name="connsiteX2" fmla="*/ 152400 w 952500"/>
                  <a:gd name="connsiteY2" fmla="*/ 228942 h 257517"/>
                  <a:gd name="connsiteX3" fmla="*/ 180975 w 952500"/>
                  <a:gd name="connsiteY3" fmla="*/ 219417 h 257517"/>
                  <a:gd name="connsiteX4" fmla="*/ 400050 w 952500"/>
                  <a:gd name="connsiteY4" fmla="*/ 200367 h 257517"/>
                  <a:gd name="connsiteX5" fmla="*/ 447675 w 952500"/>
                  <a:gd name="connsiteY5" fmla="*/ 190842 h 257517"/>
                  <a:gd name="connsiteX6" fmla="*/ 476250 w 952500"/>
                  <a:gd name="connsiteY6" fmla="*/ 181317 h 257517"/>
                  <a:gd name="connsiteX7" fmla="*/ 514350 w 952500"/>
                  <a:gd name="connsiteY7" fmla="*/ 171792 h 257517"/>
                  <a:gd name="connsiteX8" fmla="*/ 542925 w 952500"/>
                  <a:gd name="connsiteY8" fmla="*/ 162267 h 257517"/>
                  <a:gd name="connsiteX9" fmla="*/ 590550 w 952500"/>
                  <a:gd name="connsiteY9" fmla="*/ 152742 h 257517"/>
                  <a:gd name="connsiteX10" fmla="*/ 723900 w 952500"/>
                  <a:gd name="connsiteY10" fmla="*/ 114642 h 257517"/>
                  <a:gd name="connsiteX11" fmla="*/ 809625 w 952500"/>
                  <a:gd name="connsiteY11" fmla="*/ 86067 h 257517"/>
                  <a:gd name="connsiteX12" fmla="*/ 838200 w 952500"/>
                  <a:gd name="connsiteY12" fmla="*/ 76542 h 257517"/>
                  <a:gd name="connsiteX13" fmla="*/ 866775 w 952500"/>
                  <a:gd name="connsiteY13" fmla="*/ 57492 h 257517"/>
                  <a:gd name="connsiteX14" fmla="*/ 885825 w 952500"/>
                  <a:gd name="connsiteY14" fmla="*/ 28917 h 257517"/>
                  <a:gd name="connsiteX15" fmla="*/ 942975 w 952500"/>
                  <a:gd name="connsiteY15" fmla="*/ 342 h 257517"/>
                  <a:gd name="connsiteX16" fmla="*/ 952500 w 952500"/>
                  <a:gd name="connsiteY16" fmla="*/ 342 h 25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52500" h="257517">
                    <a:moveTo>
                      <a:pt x="0" y="257517"/>
                    </a:moveTo>
                    <a:cubicBezTo>
                      <a:pt x="38100" y="251167"/>
                      <a:pt x="76336" y="245585"/>
                      <a:pt x="114300" y="238467"/>
                    </a:cubicBezTo>
                    <a:cubicBezTo>
                      <a:pt x="127167" y="236055"/>
                      <a:pt x="139813" y="232538"/>
                      <a:pt x="152400" y="228942"/>
                    </a:cubicBezTo>
                    <a:cubicBezTo>
                      <a:pt x="162054" y="226184"/>
                      <a:pt x="171071" y="221068"/>
                      <a:pt x="180975" y="219417"/>
                    </a:cubicBezTo>
                    <a:cubicBezTo>
                      <a:pt x="235148" y="210388"/>
                      <a:pt x="355577" y="203544"/>
                      <a:pt x="400050" y="200367"/>
                    </a:cubicBezTo>
                    <a:cubicBezTo>
                      <a:pt x="415925" y="197192"/>
                      <a:pt x="431969" y="194769"/>
                      <a:pt x="447675" y="190842"/>
                    </a:cubicBezTo>
                    <a:cubicBezTo>
                      <a:pt x="457415" y="188407"/>
                      <a:pt x="466596" y="184075"/>
                      <a:pt x="476250" y="181317"/>
                    </a:cubicBezTo>
                    <a:cubicBezTo>
                      <a:pt x="488837" y="177721"/>
                      <a:pt x="501763" y="175388"/>
                      <a:pt x="514350" y="171792"/>
                    </a:cubicBezTo>
                    <a:cubicBezTo>
                      <a:pt x="524004" y="169034"/>
                      <a:pt x="533185" y="164702"/>
                      <a:pt x="542925" y="162267"/>
                    </a:cubicBezTo>
                    <a:cubicBezTo>
                      <a:pt x="558631" y="158340"/>
                      <a:pt x="574775" y="156382"/>
                      <a:pt x="590550" y="152742"/>
                    </a:cubicBezTo>
                    <a:cubicBezTo>
                      <a:pt x="668291" y="134802"/>
                      <a:pt x="655671" y="137385"/>
                      <a:pt x="723900" y="114642"/>
                    </a:cubicBezTo>
                    <a:lnTo>
                      <a:pt x="809625" y="86067"/>
                    </a:lnTo>
                    <a:cubicBezTo>
                      <a:pt x="819150" y="82892"/>
                      <a:pt x="829846" y="82111"/>
                      <a:pt x="838200" y="76542"/>
                    </a:cubicBezTo>
                    <a:lnTo>
                      <a:pt x="866775" y="57492"/>
                    </a:lnTo>
                    <a:cubicBezTo>
                      <a:pt x="873125" y="47967"/>
                      <a:pt x="877730" y="37012"/>
                      <a:pt x="885825" y="28917"/>
                    </a:cubicBezTo>
                    <a:cubicBezTo>
                      <a:pt x="901345" y="13397"/>
                      <a:pt x="922317" y="5507"/>
                      <a:pt x="942975" y="342"/>
                    </a:cubicBezTo>
                    <a:cubicBezTo>
                      <a:pt x="946055" y="-428"/>
                      <a:pt x="949325" y="342"/>
                      <a:pt x="952500" y="342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46" name="Freihandform 45"/>
              <p:cNvSpPr/>
              <p:nvPr/>
            </p:nvSpPr>
            <p:spPr bwMode="auto">
              <a:xfrm>
                <a:off x="4320998" y="2859209"/>
                <a:ext cx="335523" cy="251269"/>
              </a:xfrm>
              <a:custGeom>
                <a:avLst/>
                <a:gdLst>
                  <a:gd name="connsiteX0" fmla="*/ 0 w 352425"/>
                  <a:gd name="connsiteY0" fmla="*/ 285750 h 285750"/>
                  <a:gd name="connsiteX1" fmla="*/ 76200 w 352425"/>
                  <a:gd name="connsiteY1" fmla="*/ 200025 h 285750"/>
                  <a:gd name="connsiteX2" fmla="*/ 114300 w 352425"/>
                  <a:gd name="connsiteY2" fmla="*/ 152400 h 285750"/>
                  <a:gd name="connsiteX3" fmla="*/ 133350 w 352425"/>
                  <a:gd name="connsiteY3" fmla="*/ 123825 h 285750"/>
                  <a:gd name="connsiteX4" fmla="*/ 161925 w 352425"/>
                  <a:gd name="connsiteY4" fmla="*/ 114300 h 285750"/>
                  <a:gd name="connsiteX5" fmla="*/ 190500 w 352425"/>
                  <a:gd name="connsiteY5" fmla="*/ 95250 h 285750"/>
                  <a:gd name="connsiteX6" fmla="*/ 266700 w 352425"/>
                  <a:gd name="connsiteY6" fmla="*/ 28575 h 285750"/>
                  <a:gd name="connsiteX7" fmla="*/ 323850 w 352425"/>
                  <a:gd name="connsiteY7" fmla="*/ 9525 h 285750"/>
                  <a:gd name="connsiteX8" fmla="*/ 352425 w 352425"/>
                  <a:gd name="connsiteY8" fmla="*/ 0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2425" h="285750">
                    <a:moveTo>
                      <a:pt x="0" y="285750"/>
                    </a:moveTo>
                    <a:cubicBezTo>
                      <a:pt x="25816" y="259934"/>
                      <a:pt x="57513" y="232727"/>
                      <a:pt x="76200" y="200025"/>
                    </a:cubicBezTo>
                    <a:cubicBezTo>
                      <a:pt x="104512" y="150478"/>
                      <a:pt x="60078" y="188548"/>
                      <a:pt x="114300" y="152400"/>
                    </a:cubicBezTo>
                    <a:cubicBezTo>
                      <a:pt x="120650" y="142875"/>
                      <a:pt x="124411" y="130976"/>
                      <a:pt x="133350" y="123825"/>
                    </a:cubicBezTo>
                    <a:cubicBezTo>
                      <a:pt x="141190" y="117553"/>
                      <a:pt x="152945" y="118790"/>
                      <a:pt x="161925" y="114300"/>
                    </a:cubicBezTo>
                    <a:cubicBezTo>
                      <a:pt x="172164" y="109180"/>
                      <a:pt x="180975" y="101600"/>
                      <a:pt x="190500" y="95250"/>
                    </a:cubicBezTo>
                    <a:cubicBezTo>
                      <a:pt x="212725" y="61913"/>
                      <a:pt x="219075" y="44450"/>
                      <a:pt x="266700" y="28575"/>
                    </a:cubicBezTo>
                    <a:lnTo>
                      <a:pt x="323850" y="9525"/>
                    </a:lnTo>
                    <a:lnTo>
                      <a:pt x="352425" y="0"/>
                    </a:lnTo>
                  </a:path>
                </a:pathLst>
              </a:custGeom>
              <a:noFill/>
              <a:ln w="19050" cap="flat" cmpd="sng" algn="ctr">
                <a:solidFill>
                  <a:schemeClr val="tx2">
                    <a:lumMod val="75000"/>
                    <a:lumOff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>
                <a:solidFill>
                  <a:schemeClr val="tx2"/>
                </a:solidFill>
              </a:rPr>
              <a:t>Hydrologic data </a:t>
            </a:r>
            <a:r>
              <a:rPr lang="en-GB" dirty="0" smtClean="0">
                <a:solidFill>
                  <a:schemeClr val="tx2"/>
                </a:solidFill>
              </a:rPr>
              <a:t>linked …, context-dependent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23" name="Picture 37" descr="gridQ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9485"/>
            <a:ext cx="1905000" cy="1302120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 preferRelativeResize="0"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259" y="4877371"/>
            <a:ext cx="2160000" cy="1440000"/>
          </a:xfrm>
          <a:prstGeom prst="rect">
            <a:avLst/>
          </a:prstGeom>
          <a:noFill/>
          <a:ln w="6350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163344"/>
            <a:ext cx="609600" cy="4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D:\Users\Dornblut\OGC_HDWG\2014_HDWG_NewYork\pointShape_40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81" y="4207145"/>
            <a:ext cx="1905000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768" y="2711640"/>
            <a:ext cx="1904983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173" y="1071979"/>
            <a:ext cx="1881717" cy="124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1" descr="D:\Users\Dornblut\OGC_HDWG\2014_HDWG_NewYork\BASINS_159.jpg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046390"/>
            <a:ext cx="1894007" cy="146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86" y="4300026"/>
            <a:ext cx="2214173" cy="142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Picture 10" descr="loggers 008 small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164" y="5233104"/>
            <a:ext cx="1033814" cy="72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50" descr="Installation 005 small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57" y="4648197"/>
            <a:ext cx="1033814" cy="77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Gerade Verbindung mit Pfeil 18"/>
          <p:cNvCxnSpPr>
            <a:stCxn id="1054" idx="2"/>
          </p:cNvCxnSpPr>
          <p:nvPr/>
        </p:nvCxnSpPr>
        <p:spPr bwMode="auto">
          <a:xfrm>
            <a:off x="2648032" y="2313321"/>
            <a:ext cx="817426" cy="499501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Gerade Verbindung mit Pfeil 20"/>
          <p:cNvCxnSpPr>
            <a:stCxn id="23" idx="3"/>
            <a:endCxn id="7" idx="1"/>
          </p:cNvCxnSpPr>
          <p:nvPr/>
        </p:nvCxnSpPr>
        <p:spPr bwMode="auto">
          <a:xfrm>
            <a:off x="2362200" y="3130545"/>
            <a:ext cx="923880" cy="37507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Gerade Verbindung mit Pfeil 24"/>
          <p:cNvCxnSpPr>
            <a:stCxn id="1055" idx="1"/>
            <a:endCxn id="39" idx="3"/>
          </p:cNvCxnSpPr>
          <p:nvPr/>
        </p:nvCxnSpPr>
        <p:spPr bwMode="auto">
          <a:xfrm flipH="1">
            <a:off x="4480281" y="1778838"/>
            <a:ext cx="472719" cy="640768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Gerade Verbindung mit Pfeil 27"/>
          <p:cNvCxnSpPr>
            <a:stCxn id="1053" idx="1"/>
            <a:endCxn id="39" idx="5"/>
          </p:cNvCxnSpPr>
          <p:nvPr/>
        </p:nvCxnSpPr>
        <p:spPr bwMode="auto">
          <a:xfrm flipH="1">
            <a:off x="5034753" y="3363997"/>
            <a:ext cx="992015" cy="78016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Gerade Verbindung mit Pfeil 29"/>
          <p:cNvCxnSpPr>
            <a:stCxn id="1035" idx="1"/>
          </p:cNvCxnSpPr>
          <p:nvPr/>
        </p:nvCxnSpPr>
        <p:spPr bwMode="auto">
          <a:xfrm flipH="1" flipV="1">
            <a:off x="4842305" y="3741809"/>
            <a:ext cx="1889676" cy="1117693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Gerade Verbindung mit Pfeil 31"/>
          <p:cNvCxnSpPr>
            <a:stCxn id="74" idx="1"/>
            <a:endCxn id="7" idx="6"/>
          </p:cNvCxnSpPr>
          <p:nvPr/>
        </p:nvCxnSpPr>
        <p:spPr bwMode="auto">
          <a:xfrm flipH="1" flipV="1">
            <a:off x="4551673" y="3966057"/>
            <a:ext cx="707284" cy="1069821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Gerade Verbindung mit Pfeil 36"/>
          <p:cNvCxnSpPr/>
          <p:nvPr/>
        </p:nvCxnSpPr>
        <p:spPr bwMode="auto">
          <a:xfrm flipH="1" flipV="1">
            <a:off x="3863219" y="4401921"/>
            <a:ext cx="153058" cy="475450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Gerade Verbindung mit Pfeil 39"/>
          <p:cNvCxnSpPr>
            <a:stCxn id="1056" idx="0"/>
            <a:endCxn id="39" idx="0"/>
          </p:cNvCxnSpPr>
          <p:nvPr/>
        </p:nvCxnSpPr>
        <p:spPr bwMode="auto">
          <a:xfrm flipV="1">
            <a:off x="1707173" y="3678969"/>
            <a:ext cx="1670792" cy="621057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1" name="Textfeld 30"/>
          <p:cNvSpPr txBox="1"/>
          <p:nvPr/>
        </p:nvSpPr>
        <p:spPr>
          <a:xfrm>
            <a:off x="3535557" y="2834391"/>
            <a:ext cx="1359668" cy="307777"/>
          </a:xfrm>
          <a:prstGeom prst="rect">
            <a:avLst/>
          </a:prstGeom>
          <a:solidFill>
            <a:schemeClr val="accent3"/>
          </a:solidFill>
        </p:spPr>
        <p:txBody>
          <a:bodyPr wrap="none" rtlCol="0">
            <a:spAutoFit/>
          </a:bodyPr>
          <a:lstStyle/>
          <a:p>
            <a:r>
              <a:rPr lang="en-GB" sz="1400" dirty="0" smtClean="0"/>
              <a:t>WMO_BB:159</a:t>
            </a:r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774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indent="-457200">
              <a:spcBef>
                <a:spcPts val="0"/>
              </a:spcBef>
              <a:spcAft>
                <a:spcPts val="600"/>
              </a:spcAft>
            </a:pPr>
            <a:r>
              <a:rPr lang="en-GB" dirty="0">
                <a:solidFill>
                  <a:schemeClr val="tx2"/>
                </a:solidFill>
              </a:rPr>
              <a:t>Hydrologic data </a:t>
            </a:r>
            <a:r>
              <a:rPr lang="en-GB" dirty="0" smtClean="0">
                <a:solidFill>
                  <a:schemeClr val="tx2"/>
                </a:solidFill>
              </a:rPr>
              <a:t>linked …, context-dependent</a:t>
            </a:r>
            <a:endParaRPr lang="en-GB" dirty="0">
              <a:solidFill>
                <a:schemeClr val="tx2"/>
              </a:solidFill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pic>
        <p:nvPicPr>
          <p:cNvPr id="23" name="Picture 37" descr="gridQ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479485"/>
            <a:ext cx="1905000" cy="1302120"/>
          </a:xfrm>
          <a:prstGeom prst="rect">
            <a:avLst/>
          </a:prstGeom>
          <a:noFill/>
          <a:ln w="9525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4"/>
          <p:cNvPicPr preferRelativeResize="0"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4259" y="4877371"/>
            <a:ext cx="2160000" cy="1440000"/>
          </a:xfrm>
          <a:prstGeom prst="rect">
            <a:avLst/>
          </a:prstGeom>
          <a:noFill/>
          <a:ln w="6350">
            <a:solidFill>
              <a:srgbClr val="969696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3" name="Picture 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2300" y="5163344"/>
            <a:ext cx="609600" cy="417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5" name="Picture 11" descr="D:\Users\Dornblut\OGC_HDWG\2014_HDWG_NewYork\pointShape_400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1981" y="4207145"/>
            <a:ext cx="1905000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3" name="Picture 29" descr="D:\Users\Dornblut\OGC_HDWG\2014_HDWG_NewYork\lineShape_400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768" y="2711640"/>
            <a:ext cx="1904983" cy="1304713"/>
          </a:xfrm>
          <a:prstGeom prst="rect">
            <a:avLst/>
          </a:prstGeom>
          <a:noFill/>
          <a:ln>
            <a:solidFill>
              <a:srgbClr val="96969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3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173" y="1071979"/>
            <a:ext cx="1881717" cy="12413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5" name="Picture 31" descr="D:\Users\Dornblut\OGC_HDWG\2014_HDWG_NewYork\BASINS_159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046390"/>
            <a:ext cx="1894007" cy="1464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86" y="4300026"/>
            <a:ext cx="2214173" cy="14279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" name="Picture 10" descr="loggers 008 small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164" y="5233104"/>
            <a:ext cx="1033814" cy="728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4" name="Picture 50" descr="Installation 005 small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957" y="4648197"/>
            <a:ext cx="1033814" cy="775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9" name="Gerade Verbindung mit Pfeil 18"/>
          <p:cNvCxnSpPr>
            <a:stCxn id="1054" idx="2"/>
          </p:cNvCxnSpPr>
          <p:nvPr/>
        </p:nvCxnSpPr>
        <p:spPr bwMode="auto">
          <a:xfrm>
            <a:off x="2648032" y="2313321"/>
            <a:ext cx="729933" cy="499501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1" name="Gerade Verbindung mit Pfeil 20"/>
          <p:cNvCxnSpPr>
            <a:stCxn id="23" idx="3"/>
          </p:cNvCxnSpPr>
          <p:nvPr/>
        </p:nvCxnSpPr>
        <p:spPr bwMode="auto">
          <a:xfrm>
            <a:off x="2362200" y="3130545"/>
            <a:ext cx="838200" cy="18753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Gerade Verbindung mit Pfeil 24"/>
          <p:cNvCxnSpPr>
            <a:stCxn id="1055" idx="1"/>
          </p:cNvCxnSpPr>
          <p:nvPr/>
        </p:nvCxnSpPr>
        <p:spPr bwMode="auto">
          <a:xfrm flipH="1">
            <a:off x="4419600" y="1778838"/>
            <a:ext cx="533400" cy="784233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8" name="Gerade Verbindung mit Pfeil 27"/>
          <p:cNvCxnSpPr>
            <a:stCxn id="1053" idx="1"/>
            <a:endCxn id="3" idx="0"/>
          </p:cNvCxnSpPr>
          <p:nvPr/>
        </p:nvCxnSpPr>
        <p:spPr bwMode="auto">
          <a:xfrm flipH="1">
            <a:off x="5257144" y="3363997"/>
            <a:ext cx="769624" cy="7183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Gerade Verbindung mit Pfeil 29"/>
          <p:cNvCxnSpPr/>
          <p:nvPr/>
        </p:nvCxnSpPr>
        <p:spPr bwMode="auto">
          <a:xfrm flipH="1" flipV="1">
            <a:off x="4933830" y="3894774"/>
            <a:ext cx="1889676" cy="1117693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2" name="Gerade Verbindung mit Pfeil 31"/>
          <p:cNvCxnSpPr>
            <a:stCxn id="74" idx="1"/>
          </p:cNvCxnSpPr>
          <p:nvPr/>
        </p:nvCxnSpPr>
        <p:spPr bwMode="auto">
          <a:xfrm flipH="1" flipV="1">
            <a:off x="4551673" y="3966057"/>
            <a:ext cx="707284" cy="1069821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7" name="Gerade Verbindung mit Pfeil 36"/>
          <p:cNvCxnSpPr>
            <a:stCxn id="24" idx="0"/>
          </p:cNvCxnSpPr>
          <p:nvPr/>
        </p:nvCxnSpPr>
        <p:spPr bwMode="auto">
          <a:xfrm flipH="1" flipV="1">
            <a:off x="3714736" y="4114800"/>
            <a:ext cx="179523" cy="762571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Gerade Verbindung mit Pfeil 39"/>
          <p:cNvCxnSpPr>
            <a:stCxn id="1056" idx="0"/>
          </p:cNvCxnSpPr>
          <p:nvPr/>
        </p:nvCxnSpPr>
        <p:spPr bwMode="auto">
          <a:xfrm flipV="1">
            <a:off x="1707173" y="3741809"/>
            <a:ext cx="1493227" cy="558217"/>
          </a:xfrm>
          <a:prstGeom prst="straightConnector1">
            <a:avLst/>
          </a:prstGeom>
          <a:noFill/>
          <a:ln w="1270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" name="Wolke 2"/>
          <p:cNvSpPr/>
          <p:nvPr/>
        </p:nvSpPr>
        <p:spPr bwMode="auto">
          <a:xfrm>
            <a:off x="3083274" y="2563071"/>
            <a:ext cx="2175683" cy="1616218"/>
          </a:xfrm>
          <a:prstGeom prst="cloud">
            <a:avLst/>
          </a:prstGeom>
          <a:solidFill>
            <a:schemeClr val="accent3">
              <a:lumMod val="90000"/>
            </a:schemeClr>
          </a:solidFill>
          <a:ln w="12700" cap="flat" cmpd="sng" algn="ctr">
            <a:solidFill>
              <a:srgbClr val="96969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feld 9"/>
          <p:cNvSpPr txBox="1"/>
          <p:nvPr/>
        </p:nvSpPr>
        <p:spPr>
          <a:xfrm>
            <a:off x="3227963" y="3040830"/>
            <a:ext cx="19543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800" dirty="0" smtClean="0">
                <a:solidFill>
                  <a:schemeClr val="accent1">
                    <a:lumMod val="50000"/>
                  </a:schemeClr>
                </a:solidFill>
              </a:rPr>
              <a:t>Management or </a:t>
            </a:r>
          </a:p>
          <a:p>
            <a:pPr algn="ctr"/>
            <a:r>
              <a:rPr lang="en-GB" sz="1800" dirty="0" smtClean="0">
                <a:solidFill>
                  <a:schemeClr val="accent1">
                    <a:lumMod val="50000"/>
                  </a:schemeClr>
                </a:solidFill>
              </a:rPr>
              <a:t>Reporting unit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1689590" y="2145713"/>
            <a:ext cx="5764819" cy="2616101"/>
          </a:xfrm>
          <a:prstGeom prst="rect">
            <a:avLst/>
          </a:prstGeom>
          <a:solidFill>
            <a:schemeClr val="accent3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GB" sz="2000" u="sng" dirty="0" smtClean="0"/>
              <a:t>Catchment: </a:t>
            </a:r>
          </a:p>
          <a:p>
            <a:endParaRPr lang="en-GB" sz="2000" dirty="0" smtClean="0"/>
          </a:p>
          <a:p>
            <a:r>
              <a:rPr lang="en-GB" sz="2000" dirty="0" smtClean="0"/>
              <a:t>distinct </a:t>
            </a:r>
            <a:r>
              <a:rPr lang="en-GB" sz="2000" dirty="0"/>
              <a:t>unit catching something, </a:t>
            </a:r>
            <a:r>
              <a:rPr lang="en-GB" sz="2000" b="0" dirty="0"/>
              <a:t>e.g. water.  </a:t>
            </a:r>
          </a:p>
          <a:p>
            <a:r>
              <a:rPr lang="en-GB" sz="2000" dirty="0"/>
              <a:t> </a:t>
            </a:r>
          </a:p>
          <a:p>
            <a:pPr lvl="0"/>
            <a:r>
              <a:rPr lang="en-GB" sz="1800" b="0" i="1" dirty="0" smtClean="0"/>
              <a:t>Note: across </a:t>
            </a:r>
            <a:r>
              <a:rPr lang="en-GB" sz="1800" b="0" i="1" dirty="0"/>
              <a:t>scientific disciplines in the domain of hydrology, a catchment is commonly recognized as the basic unit of study and reporting. </a:t>
            </a:r>
          </a:p>
          <a:p>
            <a:pPr lvl="0"/>
            <a:endParaRPr lang="en-GB" sz="1800" b="0" i="1" dirty="0"/>
          </a:p>
          <a:p>
            <a:pPr lvl="0"/>
            <a:r>
              <a:rPr lang="en-GB" sz="1200" b="0" i="1" dirty="0" smtClean="0"/>
              <a:t>Source: </a:t>
            </a:r>
            <a:r>
              <a:rPr lang="en-GB" sz="1200" b="0" i="1" dirty="0" err="1" smtClean="0"/>
              <a:t>HY_Features.HY_Catchment</a:t>
            </a:r>
            <a:endParaRPr lang="en-GB" sz="1200" b="0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0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457200" y="2171343"/>
            <a:ext cx="83058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Hydrologic data result from observing a              real-world hydrosphere phenomenon.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endParaRPr lang="en-GB" sz="2800" b="0" dirty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GB" sz="2800" b="0" dirty="0" smtClean="0">
                <a:solidFill>
                  <a:srgbClr val="092E5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Water information standards reflect the specific needs of sharing hydrologic data.</a:t>
            </a:r>
            <a:endParaRPr lang="en-GB" sz="2800" b="0" dirty="0">
              <a:solidFill>
                <a:srgbClr val="092E5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>
          <a:xfrm>
            <a:off x="152400" y="331434"/>
            <a:ext cx="8837613" cy="480131"/>
          </a:xfrm>
        </p:spPr>
        <p:txBody>
          <a:bodyPr wrap="square">
            <a:spAutoFit/>
          </a:bodyPr>
          <a:lstStyle/>
          <a:p>
            <a:pPr marL="457200" indent="-457200"/>
            <a:r>
              <a:rPr lang="en-US" sz="2800" dirty="0"/>
              <a:t>Suite of Water Information standards</a:t>
            </a:r>
            <a:endParaRPr lang="en-GB" sz="2800" i="1" dirty="0">
              <a:solidFill>
                <a:srgbClr val="002060"/>
              </a:solidFill>
            </a:endParaRPr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822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 smtClean="0"/>
              <a:t>Suite of Water Information Standards</a:t>
            </a:r>
            <a:endParaRPr lang="en-GB" sz="2800" u="sng" dirty="0"/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4" name="Textfeld 3"/>
          <p:cNvSpPr txBox="1"/>
          <p:nvPr/>
        </p:nvSpPr>
        <p:spPr>
          <a:xfrm>
            <a:off x="609600" y="1392972"/>
            <a:ext cx="82296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2000" dirty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Tools </a:t>
            </a:r>
            <a:r>
              <a:rPr lang="en-GB" sz="2400" b="0" dirty="0">
                <a:solidFill>
                  <a:srgbClr val="092E5C"/>
                </a:solidFill>
              </a:rPr>
              <a:t>and services for the exchange of hydrologic data using Web services </a:t>
            </a:r>
            <a:r>
              <a:rPr lang="en-GB" sz="24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 </a:t>
            </a:r>
            <a:r>
              <a:rPr lang="en-GB" sz="2400" b="0" dirty="0" smtClean="0">
                <a:solidFill>
                  <a:srgbClr val="092E5C"/>
                </a:solidFill>
              </a:rPr>
              <a:t>technical interoperability</a:t>
            </a:r>
            <a:endParaRPr lang="en-GB" sz="2400" b="0" dirty="0">
              <a:solidFill>
                <a:srgbClr val="092E5C"/>
              </a:solidFill>
            </a:endParaRPr>
          </a:p>
          <a:p>
            <a:endParaRPr lang="en-GB" sz="2400" dirty="0" smtClean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Tools </a:t>
            </a:r>
            <a:r>
              <a:rPr lang="en-GB" sz="2400" b="0" dirty="0">
                <a:solidFill>
                  <a:srgbClr val="092E5C"/>
                </a:solidFill>
              </a:rPr>
              <a:t>and services for referencing hydrologic features, for the “mapping” of semantic concepts to preserve context and meaning across applications and domains </a:t>
            </a:r>
            <a:r>
              <a:rPr lang="en-GB" sz="24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 </a:t>
            </a:r>
            <a:r>
              <a:rPr lang="en-GB" sz="2400" b="0" dirty="0" smtClean="0">
                <a:solidFill>
                  <a:srgbClr val="092E5C"/>
                </a:solidFill>
              </a:rPr>
              <a:t>mediation</a:t>
            </a:r>
            <a:r>
              <a:rPr lang="en-GB" sz="2400" b="0" dirty="0">
                <a:solidFill>
                  <a:srgbClr val="092E5C"/>
                </a:solidFill>
              </a:rPr>
              <a:t> </a:t>
            </a:r>
            <a:r>
              <a:rPr lang="en-GB" sz="2400" b="0" dirty="0" smtClean="0">
                <a:solidFill>
                  <a:srgbClr val="092E5C"/>
                </a:solidFill>
              </a:rPr>
              <a:t>between information systems</a:t>
            </a:r>
            <a:endParaRPr lang="en-GB" sz="2400" b="0" dirty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>
              <a:solidFill>
                <a:srgbClr val="092E5C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 smtClean="0">
                <a:solidFill>
                  <a:srgbClr val="092E5C"/>
                </a:solidFill>
              </a:rPr>
              <a:t>Tools and services to share water information across  communities </a:t>
            </a:r>
            <a:r>
              <a:rPr lang="en-GB" sz="2400" b="0" dirty="0" smtClean="0">
                <a:solidFill>
                  <a:srgbClr val="092E5C"/>
                </a:solidFill>
                <a:sym typeface="Wingdings" panose="05000000000000000000" pitchFamily="2" charset="2"/>
              </a:rPr>
              <a:t></a:t>
            </a:r>
            <a:r>
              <a:rPr lang="en-GB" sz="2400" b="0" dirty="0" smtClean="0">
                <a:solidFill>
                  <a:srgbClr val="092E5C"/>
                </a:solidFill>
              </a:rPr>
              <a:t> semantic interoperability of services</a:t>
            </a:r>
          </a:p>
        </p:txBody>
      </p:sp>
    </p:spTree>
    <p:extLst>
      <p:ext uri="{BB962C8B-B14F-4D97-AF65-F5344CB8AC3E}">
        <p14:creationId xmlns:p14="http://schemas.microsoft.com/office/powerpoint/2010/main" val="3151039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llipse 40"/>
          <p:cNvSpPr/>
          <p:nvPr/>
        </p:nvSpPr>
        <p:spPr bwMode="auto">
          <a:xfrm>
            <a:off x="934404" y="1573378"/>
            <a:ext cx="7285351" cy="47246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GB" sz="1800" b="0">
              <a:solidFill>
                <a:srgbClr val="000000"/>
              </a:solidFill>
              <a:latin typeface="Arial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19" y="136525"/>
            <a:ext cx="8582925" cy="685800"/>
          </a:xfrm>
        </p:spPr>
        <p:txBody>
          <a:bodyPr/>
          <a:lstStyle/>
          <a:p>
            <a:r>
              <a:rPr lang="en-GB" sz="2800" dirty="0" smtClean="0"/>
              <a:t>WMO/OGC Hydrology Domain Working Group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471775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 dirty="0"/>
          </a:p>
        </p:txBody>
      </p:sp>
      <p:sp>
        <p:nvSpPr>
          <p:cNvPr id="18" name="File"/>
          <p:cNvSpPr>
            <a:spLocks noEditPoints="1" noChangeArrowheads="1"/>
          </p:cNvSpPr>
          <p:nvPr/>
        </p:nvSpPr>
        <p:spPr bwMode="auto">
          <a:xfrm>
            <a:off x="1607359" y="1731105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WaterML2Part1</a:t>
            </a:r>
            <a:r>
              <a:rPr lang="en-GB" sz="1100" dirty="0">
                <a:solidFill>
                  <a:srgbClr val="002060"/>
                </a:solidFill>
              </a:rPr>
              <a:t>: </a:t>
            </a:r>
          </a:p>
          <a:p>
            <a:pPr algn="ctr"/>
            <a:r>
              <a:rPr lang="en-GB" sz="1200" dirty="0">
                <a:solidFill>
                  <a:srgbClr val="092E5C"/>
                </a:solidFill>
              </a:rPr>
              <a:t>Water Quantity Observation</a:t>
            </a:r>
          </a:p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(OGC10-126)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19" name="File"/>
          <p:cNvSpPr>
            <a:spLocks noEditPoints="1" noChangeArrowheads="1"/>
          </p:cNvSpPr>
          <p:nvPr/>
        </p:nvSpPr>
        <p:spPr bwMode="auto">
          <a:xfrm>
            <a:off x="3547924" y="11995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WaterML2Part2</a:t>
            </a:r>
            <a:r>
              <a:rPr lang="en-GB" sz="1100" b="0" dirty="0">
                <a:solidFill>
                  <a:srgbClr val="002060"/>
                </a:solidFill>
              </a:rPr>
              <a:t>:</a:t>
            </a:r>
            <a:r>
              <a:rPr lang="en-GB" sz="1100" dirty="0">
                <a:solidFill>
                  <a:srgbClr val="002060"/>
                </a:solidFill>
              </a:rPr>
              <a:t> </a:t>
            </a:r>
            <a:r>
              <a:rPr lang="en-GB" sz="1200" dirty="0">
                <a:solidFill>
                  <a:srgbClr val="002060"/>
                </a:solidFill>
              </a:rPr>
              <a:t>Gauging Observation</a:t>
            </a:r>
          </a:p>
          <a:p>
            <a:pPr algn="ctr"/>
            <a:r>
              <a:rPr lang="en-GB" sz="1100" b="0" dirty="0">
                <a:solidFill>
                  <a:srgbClr val="002060"/>
                </a:solidFill>
              </a:rPr>
              <a:t>(</a:t>
            </a:r>
            <a:r>
              <a:rPr lang="en-GB" sz="1100" b="0" dirty="0" smtClean="0">
                <a:solidFill>
                  <a:srgbClr val="002060"/>
                </a:solidFill>
              </a:rPr>
              <a:t>OGC13-021)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20" name="File"/>
          <p:cNvSpPr>
            <a:spLocks noEditPoints="1" noChangeArrowheads="1"/>
          </p:cNvSpPr>
          <p:nvPr/>
        </p:nvSpPr>
        <p:spPr bwMode="auto">
          <a:xfrm>
            <a:off x="5579817" y="133158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WaterML2Part3</a:t>
            </a:r>
            <a:r>
              <a:rPr lang="en-GB" sz="1100" dirty="0">
                <a:solidFill>
                  <a:srgbClr val="002060"/>
                </a:solidFill>
              </a:rPr>
              <a:t>:</a:t>
            </a:r>
            <a:br>
              <a:rPr lang="en-GB" sz="1100" dirty="0">
                <a:solidFill>
                  <a:srgbClr val="002060"/>
                </a:solidFill>
              </a:rPr>
            </a:br>
            <a:r>
              <a:rPr lang="en-GB" sz="1200" dirty="0">
                <a:solidFill>
                  <a:srgbClr val="002060"/>
                </a:solidFill>
              </a:rPr>
              <a:t>Water Quality Observation</a:t>
            </a:r>
          </a:p>
          <a:p>
            <a:pPr algn="ctr"/>
            <a:r>
              <a:rPr lang="en-GB" sz="1100" b="0" dirty="0">
                <a:solidFill>
                  <a:srgbClr val="002060"/>
                </a:solidFill>
              </a:rPr>
              <a:t>(</a:t>
            </a:r>
            <a:r>
              <a:rPr lang="en-GB" sz="1100" b="0" dirty="0" smtClean="0">
                <a:solidFill>
                  <a:srgbClr val="002060"/>
                </a:solidFill>
              </a:rPr>
              <a:t>OGC14-003</a:t>
            </a:r>
            <a:r>
              <a:rPr lang="en-GB" sz="1100" dirty="0" smtClean="0">
                <a:solidFill>
                  <a:srgbClr val="002060"/>
                </a:solidFill>
              </a:rPr>
              <a:t>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885696" y="3048000"/>
            <a:ext cx="5453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Suite </a:t>
            </a:r>
            <a:r>
              <a:rPr lang="de-DE" sz="2400" b="0" u="sng" dirty="0" err="1" smtClean="0">
                <a:solidFill>
                  <a:srgbClr val="002060"/>
                </a:solidFill>
                <a:latin typeface="Arial"/>
                <a:ea typeface="+mn-ea"/>
              </a:rPr>
              <a:t>of</a:t>
            </a: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u="sng" dirty="0" err="1" smtClean="0">
                <a:solidFill>
                  <a:srgbClr val="002060"/>
                </a:solidFill>
                <a:latin typeface="Arial"/>
                <a:ea typeface="+mn-ea"/>
              </a:rPr>
              <a:t>Water</a:t>
            </a: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 Information Standards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: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towards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the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identification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,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observation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and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representation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of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hydrologic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features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using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standards</a:t>
            </a:r>
            <a:endParaRPr lang="en-US" sz="2400" b="0" dirty="0" err="1" smtClean="0">
              <a:solidFill>
                <a:srgbClr val="002060"/>
              </a:solidFill>
              <a:latin typeface="Arial"/>
              <a:ea typeface="+mn-ea"/>
            </a:endParaRPr>
          </a:p>
        </p:txBody>
      </p:sp>
      <p:sp>
        <p:nvSpPr>
          <p:cNvPr id="33" name="File"/>
          <p:cNvSpPr>
            <a:spLocks noEditPoints="1" noChangeArrowheads="1"/>
          </p:cNvSpPr>
          <p:nvPr/>
        </p:nvSpPr>
        <p:spPr bwMode="auto">
          <a:xfrm>
            <a:off x="388219" y="3219342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400" dirty="0" err="1" smtClean="0">
                <a:solidFill>
                  <a:srgbClr val="002060"/>
                </a:solidFill>
                <a:latin typeface="Arial"/>
                <a:ea typeface="+mn-ea"/>
              </a:rPr>
              <a:t>HY_Features</a:t>
            </a:r>
            <a:r>
              <a:rPr lang="en-GB" sz="1400" dirty="0" smtClean="0">
                <a:solidFill>
                  <a:srgbClr val="002060"/>
                </a:solidFill>
                <a:latin typeface="Arial"/>
                <a:ea typeface="+mn-ea"/>
              </a:rPr>
              <a:t>, </a:t>
            </a: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common hydrologic  feature model</a:t>
            </a: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en-US" sz="1100" b="0" dirty="0">
                <a:solidFill>
                  <a:srgbClr val="092E5C"/>
                </a:solidFill>
                <a:latin typeface="Arial"/>
                <a:ea typeface="+mn-ea"/>
              </a:rPr>
              <a:t>(</a:t>
            </a: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OGC11-039</a:t>
            </a:r>
            <a:r>
              <a:rPr lang="en-US" sz="1100" b="0" dirty="0" smtClean="0">
                <a:solidFill>
                  <a:srgbClr val="000000"/>
                </a:solidFill>
                <a:latin typeface="Arial"/>
                <a:ea typeface="+mn-ea"/>
              </a:rPr>
              <a:t>)</a:t>
            </a:r>
            <a:endParaRPr lang="en-GB" sz="1100" b="0" dirty="0">
              <a:solidFill>
                <a:srgbClr val="002060"/>
              </a:solidFill>
              <a:latin typeface="Arial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778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llipse 40"/>
          <p:cNvSpPr/>
          <p:nvPr/>
        </p:nvSpPr>
        <p:spPr bwMode="auto">
          <a:xfrm>
            <a:off x="934404" y="1573378"/>
            <a:ext cx="7285351" cy="47246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GB" sz="1800" b="0">
              <a:solidFill>
                <a:srgbClr val="000000"/>
              </a:solidFill>
              <a:latin typeface="Arial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19" y="136525"/>
            <a:ext cx="8582925" cy="685800"/>
          </a:xfrm>
        </p:spPr>
        <p:txBody>
          <a:bodyPr/>
          <a:lstStyle/>
          <a:p>
            <a:r>
              <a:rPr lang="en-GB" sz="2800" dirty="0" smtClean="0"/>
              <a:t>WMO/OGC Hydrology Domain Working Group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471775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 dirty="0"/>
          </a:p>
        </p:txBody>
      </p:sp>
      <p:sp>
        <p:nvSpPr>
          <p:cNvPr id="12" name="File"/>
          <p:cNvSpPr>
            <a:spLocks noEditPoints="1" noChangeArrowheads="1"/>
          </p:cNvSpPr>
          <p:nvPr/>
        </p:nvSpPr>
        <p:spPr bwMode="auto">
          <a:xfrm>
            <a:off x="7388622" y="4051490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WaterML2Part5: </a:t>
            </a:r>
            <a:r>
              <a:rPr lang="en-US" sz="1200" dirty="0" smtClean="0">
                <a:solidFill>
                  <a:srgbClr val="092E5C"/>
                </a:solidFill>
                <a:latin typeface="Arial"/>
                <a:ea typeface="+mn-ea"/>
              </a:rPr>
              <a:t>River Channel</a:t>
            </a:r>
          </a:p>
          <a:p>
            <a:pPr algn="ctr"/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(</a:t>
            </a:r>
            <a:r>
              <a:rPr lang="en-US" sz="1100" b="0" dirty="0" err="1" smtClean="0">
                <a:solidFill>
                  <a:srgbClr val="092E5C"/>
                </a:solidFill>
                <a:latin typeface="Arial"/>
                <a:ea typeface="+mn-ea"/>
              </a:rPr>
              <a:t>RiverML</a:t>
            </a: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, under development)</a:t>
            </a:r>
            <a:r>
              <a:rPr lang="en-AU" sz="1100" b="0" dirty="0" smtClean="0">
                <a:solidFill>
                  <a:srgbClr val="092E5C"/>
                </a:solidFill>
                <a:latin typeface="Arial"/>
                <a:ea typeface="+mn-ea"/>
              </a:rPr>
              <a:t> </a:t>
            </a:r>
            <a:endParaRPr lang="en-GB" sz="1100" b="0" dirty="0">
              <a:solidFill>
                <a:srgbClr val="092E5C"/>
              </a:solidFill>
            </a:endParaRPr>
          </a:p>
        </p:txBody>
      </p:sp>
      <p:sp>
        <p:nvSpPr>
          <p:cNvPr id="18" name="File"/>
          <p:cNvSpPr>
            <a:spLocks noEditPoints="1" noChangeArrowheads="1"/>
          </p:cNvSpPr>
          <p:nvPr/>
        </p:nvSpPr>
        <p:spPr bwMode="auto">
          <a:xfrm>
            <a:off x="1607359" y="1731105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WaterML2Part1</a:t>
            </a:r>
            <a:r>
              <a:rPr lang="en-GB" sz="1100" dirty="0">
                <a:solidFill>
                  <a:srgbClr val="002060"/>
                </a:solidFill>
              </a:rPr>
              <a:t>: </a:t>
            </a:r>
          </a:p>
          <a:p>
            <a:pPr algn="ctr"/>
            <a:r>
              <a:rPr lang="en-GB" sz="1200" dirty="0">
                <a:solidFill>
                  <a:srgbClr val="092E5C"/>
                </a:solidFill>
              </a:rPr>
              <a:t>Water Quantity Observation</a:t>
            </a:r>
          </a:p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(OGC10-126)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19" name="File"/>
          <p:cNvSpPr>
            <a:spLocks noEditPoints="1" noChangeArrowheads="1"/>
          </p:cNvSpPr>
          <p:nvPr/>
        </p:nvSpPr>
        <p:spPr bwMode="auto">
          <a:xfrm>
            <a:off x="3547924" y="11995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WaterML2Part2</a:t>
            </a:r>
            <a:r>
              <a:rPr lang="en-GB" sz="1100" b="0" dirty="0">
                <a:solidFill>
                  <a:srgbClr val="002060"/>
                </a:solidFill>
              </a:rPr>
              <a:t>:</a:t>
            </a:r>
            <a:r>
              <a:rPr lang="en-GB" sz="1100" dirty="0">
                <a:solidFill>
                  <a:srgbClr val="002060"/>
                </a:solidFill>
              </a:rPr>
              <a:t> </a:t>
            </a:r>
            <a:r>
              <a:rPr lang="en-GB" sz="1200" dirty="0">
                <a:solidFill>
                  <a:srgbClr val="002060"/>
                </a:solidFill>
              </a:rPr>
              <a:t>Gauging Observation</a:t>
            </a:r>
          </a:p>
          <a:p>
            <a:pPr algn="ctr"/>
            <a:r>
              <a:rPr lang="en-GB" sz="1100" b="0" dirty="0">
                <a:solidFill>
                  <a:srgbClr val="002060"/>
                </a:solidFill>
              </a:rPr>
              <a:t>(</a:t>
            </a:r>
            <a:r>
              <a:rPr lang="en-GB" sz="1100" b="0" dirty="0" smtClean="0">
                <a:solidFill>
                  <a:srgbClr val="002060"/>
                </a:solidFill>
              </a:rPr>
              <a:t>OGC13-021)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20" name="File"/>
          <p:cNvSpPr>
            <a:spLocks noEditPoints="1" noChangeArrowheads="1"/>
          </p:cNvSpPr>
          <p:nvPr/>
        </p:nvSpPr>
        <p:spPr bwMode="auto">
          <a:xfrm>
            <a:off x="5579817" y="133158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WaterML2Part3</a:t>
            </a:r>
            <a:r>
              <a:rPr lang="en-GB" sz="1100" dirty="0">
                <a:solidFill>
                  <a:srgbClr val="002060"/>
                </a:solidFill>
              </a:rPr>
              <a:t>:</a:t>
            </a:r>
            <a:br>
              <a:rPr lang="en-GB" sz="1100" dirty="0">
                <a:solidFill>
                  <a:srgbClr val="002060"/>
                </a:solidFill>
              </a:rPr>
            </a:br>
            <a:r>
              <a:rPr lang="en-GB" sz="1200" dirty="0">
                <a:solidFill>
                  <a:srgbClr val="002060"/>
                </a:solidFill>
              </a:rPr>
              <a:t>Water Quality Observation</a:t>
            </a:r>
          </a:p>
          <a:p>
            <a:pPr algn="ctr"/>
            <a:r>
              <a:rPr lang="en-GB" sz="1100" b="0" dirty="0">
                <a:solidFill>
                  <a:srgbClr val="002060"/>
                </a:solidFill>
              </a:rPr>
              <a:t>(</a:t>
            </a:r>
            <a:r>
              <a:rPr lang="en-GB" sz="1100" b="0" dirty="0" smtClean="0">
                <a:solidFill>
                  <a:srgbClr val="002060"/>
                </a:solidFill>
              </a:rPr>
              <a:t>OGC14-003</a:t>
            </a:r>
            <a:r>
              <a:rPr lang="en-GB" sz="1100" dirty="0" smtClean="0">
                <a:solidFill>
                  <a:srgbClr val="002060"/>
                </a:solidFill>
              </a:rPr>
              <a:t>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29" name="File"/>
          <p:cNvSpPr>
            <a:spLocks noEditPoints="1" noChangeArrowheads="1"/>
          </p:cNvSpPr>
          <p:nvPr/>
        </p:nvSpPr>
        <p:spPr bwMode="auto">
          <a:xfrm>
            <a:off x="1607359" y="46985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WaterML2Part4: </a:t>
            </a:r>
            <a:r>
              <a:rPr lang="en-US" sz="1200" dirty="0" smtClean="0">
                <a:solidFill>
                  <a:srgbClr val="092E5C"/>
                </a:solidFill>
                <a:latin typeface="Arial"/>
                <a:ea typeface="+mn-ea"/>
              </a:rPr>
              <a:t>Groundwater</a:t>
            </a:r>
            <a:r>
              <a:rPr lang="en-US" sz="1200" b="0" dirty="0" smtClean="0">
                <a:solidFill>
                  <a:srgbClr val="092E5C"/>
                </a:solidFill>
                <a:latin typeface="Arial"/>
                <a:ea typeface="+mn-ea"/>
              </a:rPr>
              <a:t> </a:t>
            </a:r>
            <a:endParaRPr lang="en-AU" sz="1200" b="0" dirty="0">
              <a:solidFill>
                <a:srgbClr val="092E5C"/>
              </a:solidFill>
              <a:latin typeface="Arial"/>
              <a:ea typeface="+mn-ea"/>
            </a:endParaRP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092E5C"/>
                </a:solidFill>
                <a:latin typeface="Arial"/>
                <a:ea typeface="+mn-ea"/>
              </a:rPr>
              <a:t>(</a:t>
            </a: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GWML2, under development</a:t>
            </a:r>
            <a:r>
              <a:rPr lang="en-AU" sz="1100" b="0" dirty="0" smtClean="0">
                <a:solidFill>
                  <a:srgbClr val="092E5C"/>
                </a:solidFill>
                <a:latin typeface="Arial"/>
                <a:ea typeface="+mn-ea"/>
              </a:rPr>
              <a:t>)</a:t>
            </a:r>
            <a:endParaRPr lang="en-GB" sz="1100" b="0" dirty="0">
              <a:solidFill>
                <a:srgbClr val="092E5C"/>
              </a:solidFill>
            </a:endParaRPr>
          </a:p>
        </p:txBody>
      </p:sp>
      <p:sp>
        <p:nvSpPr>
          <p:cNvPr id="30" name="File"/>
          <p:cNvSpPr>
            <a:spLocks noEditPoints="1" noChangeArrowheads="1"/>
          </p:cNvSpPr>
          <p:nvPr/>
        </p:nvSpPr>
        <p:spPr bwMode="auto">
          <a:xfrm>
            <a:off x="7388622" y="2420542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GB" sz="1100" b="0" dirty="0" smtClean="0">
              <a:solidFill>
                <a:srgbClr val="002060"/>
              </a:solidFill>
              <a:latin typeface="Arial"/>
              <a:ea typeface="+mn-ea"/>
            </a:endParaRP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400" dirty="0" err="1" smtClean="0">
                <a:solidFill>
                  <a:srgbClr val="002060"/>
                </a:solidFill>
                <a:latin typeface="Arial"/>
                <a:ea typeface="+mn-ea"/>
              </a:rPr>
              <a:t>TimeSeries</a:t>
            </a:r>
            <a:endParaRPr lang="en-GB" sz="1400" dirty="0" smtClean="0">
              <a:solidFill>
                <a:srgbClr val="002060"/>
              </a:solidFill>
              <a:latin typeface="Arial"/>
              <a:ea typeface="+mn-ea"/>
            </a:endParaRP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10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(TSML, under development)</a:t>
            </a:r>
            <a:endParaRPr lang="en-GB" sz="1100" b="0" dirty="0">
              <a:solidFill>
                <a:srgbClr val="002060"/>
              </a:solidFill>
              <a:latin typeface="Arial"/>
              <a:ea typeface="+mn-ea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885696" y="3048000"/>
            <a:ext cx="5453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Suite </a:t>
            </a:r>
            <a:r>
              <a:rPr lang="de-DE" sz="2400" b="0" u="sng" dirty="0" err="1" smtClean="0">
                <a:solidFill>
                  <a:srgbClr val="002060"/>
                </a:solidFill>
                <a:latin typeface="Arial"/>
                <a:ea typeface="+mn-ea"/>
              </a:rPr>
              <a:t>of</a:t>
            </a: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u="sng" dirty="0" err="1" smtClean="0">
                <a:solidFill>
                  <a:srgbClr val="002060"/>
                </a:solidFill>
                <a:latin typeface="Arial"/>
                <a:ea typeface="+mn-ea"/>
              </a:rPr>
              <a:t>Water</a:t>
            </a: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 Information Standards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: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towards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the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identification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,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observation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and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representation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of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hydrologic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features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using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standards</a:t>
            </a:r>
            <a:endParaRPr lang="en-US" sz="2400" b="0" dirty="0" err="1" smtClean="0">
              <a:solidFill>
                <a:srgbClr val="002060"/>
              </a:solidFill>
              <a:latin typeface="Arial"/>
              <a:ea typeface="+mn-ea"/>
            </a:endParaRPr>
          </a:p>
        </p:txBody>
      </p:sp>
      <p:sp>
        <p:nvSpPr>
          <p:cNvPr id="33" name="File"/>
          <p:cNvSpPr>
            <a:spLocks noEditPoints="1" noChangeArrowheads="1"/>
          </p:cNvSpPr>
          <p:nvPr/>
        </p:nvSpPr>
        <p:spPr bwMode="auto">
          <a:xfrm>
            <a:off x="388219" y="3219342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400" dirty="0" err="1" smtClean="0">
                <a:solidFill>
                  <a:srgbClr val="002060"/>
                </a:solidFill>
                <a:latin typeface="Arial"/>
                <a:ea typeface="+mn-ea"/>
              </a:rPr>
              <a:t>HY_Features</a:t>
            </a:r>
            <a:r>
              <a:rPr lang="en-GB" sz="1400" dirty="0" smtClean="0">
                <a:solidFill>
                  <a:srgbClr val="002060"/>
                </a:solidFill>
                <a:latin typeface="Arial"/>
                <a:ea typeface="+mn-ea"/>
              </a:rPr>
              <a:t>, </a:t>
            </a: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common hydrologic  feature model</a:t>
            </a: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en-US" sz="1100" b="0" dirty="0">
                <a:solidFill>
                  <a:srgbClr val="092E5C"/>
                </a:solidFill>
                <a:latin typeface="Arial"/>
                <a:ea typeface="+mn-ea"/>
              </a:rPr>
              <a:t>(</a:t>
            </a: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OGC11-039</a:t>
            </a:r>
            <a:r>
              <a:rPr lang="en-US" sz="1100" b="0" dirty="0" smtClean="0">
                <a:solidFill>
                  <a:srgbClr val="000000"/>
                </a:solidFill>
                <a:latin typeface="Arial"/>
                <a:ea typeface="+mn-ea"/>
              </a:rPr>
              <a:t>)</a:t>
            </a:r>
            <a:endParaRPr lang="en-GB" sz="1100" b="0" dirty="0">
              <a:solidFill>
                <a:srgbClr val="002060"/>
              </a:solidFill>
              <a:latin typeface="Arial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5905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llipse 40"/>
          <p:cNvSpPr/>
          <p:nvPr/>
        </p:nvSpPr>
        <p:spPr bwMode="auto">
          <a:xfrm>
            <a:off x="934404" y="1573378"/>
            <a:ext cx="7285351" cy="47246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GB" sz="1800" b="0">
              <a:solidFill>
                <a:srgbClr val="000000"/>
              </a:solidFill>
              <a:latin typeface="Arial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19" y="136525"/>
            <a:ext cx="8582925" cy="685800"/>
          </a:xfrm>
        </p:spPr>
        <p:txBody>
          <a:bodyPr/>
          <a:lstStyle/>
          <a:p>
            <a:r>
              <a:rPr lang="en-GB" sz="2800" dirty="0" smtClean="0"/>
              <a:t>WMO/OGC Hydrology Domain Working Group</a:t>
            </a:r>
            <a:endParaRPr lang="en-US" sz="2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471775" y="6553200"/>
            <a:ext cx="3200400" cy="228600"/>
          </a:xfrm>
        </p:spPr>
        <p:txBody>
          <a:bodyPr/>
          <a:lstStyle/>
          <a:p>
            <a:pPr>
              <a:defRPr/>
            </a:pPr>
            <a:r>
              <a:rPr lang="en-US" smtClean="0"/>
              <a:t>Copyright © 2014 Open Geospatial Consortium</a:t>
            </a:r>
            <a:endParaRPr lang="en-US" dirty="0"/>
          </a:p>
        </p:txBody>
      </p:sp>
      <p:sp>
        <p:nvSpPr>
          <p:cNvPr id="12" name="File"/>
          <p:cNvSpPr>
            <a:spLocks noEditPoints="1" noChangeArrowheads="1"/>
          </p:cNvSpPr>
          <p:nvPr/>
        </p:nvSpPr>
        <p:spPr bwMode="auto">
          <a:xfrm>
            <a:off x="7388622" y="4051490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WaterML2Part5: </a:t>
            </a:r>
            <a:r>
              <a:rPr lang="en-US" sz="1200" dirty="0" smtClean="0">
                <a:solidFill>
                  <a:srgbClr val="092E5C"/>
                </a:solidFill>
                <a:latin typeface="Arial"/>
                <a:ea typeface="+mn-ea"/>
              </a:rPr>
              <a:t>River Channel</a:t>
            </a:r>
          </a:p>
          <a:p>
            <a:pPr algn="ctr"/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(</a:t>
            </a:r>
            <a:r>
              <a:rPr lang="en-US" sz="1100" b="0" dirty="0" err="1" smtClean="0">
                <a:solidFill>
                  <a:srgbClr val="092E5C"/>
                </a:solidFill>
                <a:latin typeface="Arial"/>
                <a:ea typeface="+mn-ea"/>
              </a:rPr>
              <a:t>RiverML</a:t>
            </a: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, under development)</a:t>
            </a:r>
            <a:r>
              <a:rPr lang="en-AU" sz="1100" b="0" dirty="0" smtClean="0">
                <a:solidFill>
                  <a:srgbClr val="092E5C"/>
                </a:solidFill>
                <a:latin typeface="Arial"/>
                <a:ea typeface="+mn-ea"/>
              </a:rPr>
              <a:t> </a:t>
            </a:r>
            <a:endParaRPr lang="en-GB" sz="1100" b="0" dirty="0">
              <a:solidFill>
                <a:srgbClr val="092E5C"/>
              </a:solidFill>
            </a:endParaRPr>
          </a:p>
        </p:txBody>
      </p:sp>
      <p:sp>
        <p:nvSpPr>
          <p:cNvPr id="18" name="File"/>
          <p:cNvSpPr>
            <a:spLocks noEditPoints="1" noChangeArrowheads="1"/>
          </p:cNvSpPr>
          <p:nvPr/>
        </p:nvSpPr>
        <p:spPr bwMode="auto">
          <a:xfrm>
            <a:off x="1607359" y="1731105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WaterML2Part1</a:t>
            </a:r>
            <a:r>
              <a:rPr lang="en-GB" sz="1100" dirty="0">
                <a:solidFill>
                  <a:srgbClr val="002060"/>
                </a:solidFill>
              </a:rPr>
              <a:t>: </a:t>
            </a:r>
          </a:p>
          <a:p>
            <a:pPr algn="ctr"/>
            <a:r>
              <a:rPr lang="en-GB" sz="1200" dirty="0">
                <a:solidFill>
                  <a:srgbClr val="092E5C"/>
                </a:solidFill>
              </a:rPr>
              <a:t>Water Quantity Observation</a:t>
            </a:r>
          </a:p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(OGC10-126)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19" name="File"/>
          <p:cNvSpPr>
            <a:spLocks noEditPoints="1" noChangeArrowheads="1"/>
          </p:cNvSpPr>
          <p:nvPr/>
        </p:nvSpPr>
        <p:spPr bwMode="auto">
          <a:xfrm>
            <a:off x="3547924" y="11995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WaterML2Part2</a:t>
            </a:r>
            <a:r>
              <a:rPr lang="en-GB" sz="1100" b="0" dirty="0">
                <a:solidFill>
                  <a:srgbClr val="002060"/>
                </a:solidFill>
              </a:rPr>
              <a:t>:</a:t>
            </a:r>
            <a:r>
              <a:rPr lang="en-GB" sz="1100" dirty="0">
                <a:solidFill>
                  <a:srgbClr val="002060"/>
                </a:solidFill>
              </a:rPr>
              <a:t> </a:t>
            </a:r>
            <a:r>
              <a:rPr lang="en-GB" sz="1200" dirty="0">
                <a:solidFill>
                  <a:srgbClr val="002060"/>
                </a:solidFill>
              </a:rPr>
              <a:t>Gauging Observation</a:t>
            </a:r>
          </a:p>
          <a:p>
            <a:pPr algn="ctr"/>
            <a:r>
              <a:rPr lang="en-GB" sz="1100" b="0" dirty="0">
                <a:solidFill>
                  <a:srgbClr val="002060"/>
                </a:solidFill>
              </a:rPr>
              <a:t>(</a:t>
            </a:r>
            <a:r>
              <a:rPr lang="en-GB" sz="1100" b="0" dirty="0" smtClean="0">
                <a:solidFill>
                  <a:srgbClr val="002060"/>
                </a:solidFill>
              </a:rPr>
              <a:t>OGC13-021)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20" name="File"/>
          <p:cNvSpPr>
            <a:spLocks noEditPoints="1" noChangeArrowheads="1"/>
          </p:cNvSpPr>
          <p:nvPr/>
        </p:nvSpPr>
        <p:spPr bwMode="auto">
          <a:xfrm>
            <a:off x="5579817" y="133158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B9F7F9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72000" tIns="45720" rIns="7200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WaterML2Part3</a:t>
            </a:r>
            <a:r>
              <a:rPr lang="en-GB" sz="1100" dirty="0">
                <a:solidFill>
                  <a:srgbClr val="002060"/>
                </a:solidFill>
              </a:rPr>
              <a:t>:</a:t>
            </a:r>
            <a:br>
              <a:rPr lang="en-GB" sz="1100" dirty="0">
                <a:solidFill>
                  <a:srgbClr val="002060"/>
                </a:solidFill>
              </a:rPr>
            </a:br>
            <a:r>
              <a:rPr lang="en-GB" sz="1200" dirty="0">
                <a:solidFill>
                  <a:srgbClr val="002060"/>
                </a:solidFill>
              </a:rPr>
              <a:t>Water Quality Observation</a:t>
            </a:r>
          </a:p>
          <a:p>
            <a:pPr algn="ctr"/>
            <a:r>
              <a:rPr lang="en-GB" sz="1100" b="0" dirty="0">
                <a:solidFill>
                  <a:srgbClr val="002060"/>
                </a:solidFill>
              </a:rPr>
              <a:t>(</a:t>
            </a:r>
            <a:r>
              <a:rPr lang="en-GB" sz="1100" b="0" dirty="0" smtClean="0">
                <a:solidFill>
                  <a:srgbClr val="002060"/>
                </a:solidFill>
              </a:rPr>
              <a:t>OGC14-003</a:t>
            </a:r>
            <a:r>
              <a:rPr lang="en-GB" sz="1100" dirty="0" smtClean="0">
                <a:solidFill>
                  <a:srgbClr val="002060"/>
                </a:solidFill>
              </a:rPr>
              <a:t>)</a:t>
            </a:r>
            <a:endParaRPr lang="en-GB" sz="1100" dirty="0">
              <a:solidFill>
                <a:srgbClr val="002060"/>
              </a:solidFill>
            </a:endParaRPr>
          </a:p>
        </p:txBody>
      </p:sp>
      <p:sp>
        <p:nvSpPr>
          <p:cNvPr id="21" name="File"/>
          <p:cNvSpPr>
            <a:spLocks noEditPoints="1" noChangeArrowheads="1"/>
          </p:cNvSpPr>
          <p:nvPr/>
        </p:nvSpPr>
        <p:spPr bwMode="auto">
          <a:xfrm>
            <a:off x="5579816" y="5063908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CSML3:</a:t>
            </a: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200" dirty="0" smtClean="0">
                <a:solidFill>
                  <a:srgbClr val="002060"/>
                </a:solidFill>
                <a:latin typeface="Arial"/>
                <a:ea typeface="+mn-ea"/>
              </a:rPr>
              <a:t>Atmospheric-water</a:t>
            </a:r>
            <a:r>
              <a:rPr lang="en-GB" sz="1200" b="0" dirty="0" smtClean="0">
                <a:solidFill>
                  <a:srgbClr val="000000">
                    <a:lumMod val="50000"/>
                    <a:lumOff val="50000"/>
                  </a:srgbClr>
                </a:solidFill>
                <a:latin typeface="Arial"/>
                <a:ea typeface="+mn-ea"/>
              </a:rPr>
              <a:t> </a:t>
            </a: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component </a:t>
            </a:r>
            <a:endParaRPr lang="en-GB" sz="1100" dirty="0">
              <a:solidFill>
                <a:srgbClr val="000000">
                  <a:lumMod val="50000"/>
                  <a:lumOff val="50000"/>
                </a:srgbClr>
              </a:solidFill>
            </a:endParaRPr>
          </a:p>
        </p:txBody>
      </p:sp>
      <p:sp>
        <p:nvSpPr>
          <p:cNvPr id="28" name="File"/>
          <p:cNvSpPr>
            <a:spLocks noEditPoints="1" noChangeArrowheads="1"/>
          </p:cNvSpPr>
          <p:nvPr/>
        </p:nvSpPr>
        <p:spPr bwMode="auto">
          <a:xfrm>
            <a:off x="3547923" y="5194795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err="1" smtClean="0">
                <a:solidFill>
                  <a:srgbClr val="002060"/>
                </a:solidFill>
              </a:rPr>
              <a:t>SoilML</a:t>
            </a:r>
            <a:r>
              <a:rPr lang="en-GB" sz="1100" b="0" dirty="0" smtClean="0">
                <a:solidFill>
                  <a:srgbClr val="002060"/>
                </a:solidFill>
              </a:rPr>
              <a:t>:</a:t>
            </a:r>
          </a:p>
          <a:p>
            <a:pPr algn="ctr"/>
            <a:r>
              <a:rPr lang="en-GB" sz="1200" dirty="0" smtClean="0">
                <a:solidFill>
                  <a:srgbClr val="002060"/>
                </a:solidFill>
              </a:rPr>
              <a:t>Soil-water</a:t>
            </a:r>
            <a:r>
              <a:rPr lang="en-GB" sz="1200" b="0" dirty="0" smtClean="0">
                <a:solidFill>
                  <a:srgbClr val="002060"/>
                </a:solidFill>
              </a:rPr>
              <a:t> </a:t>
            </a:r>
            <a:r>
              <a:rPr lang="en-GB" sz="1100" b="0" dirty="0">
                <a:solidFill>
                  <a:srgbClr val="002060"/>
                </a:solidFill>
              </a:rPr>
              <a:t>component </a:t>
            </a:r>
            <a:r>
              <a:rPr lang="en-GB" sz="1100" b="0" dirty="0" smtClean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29" name="File"/>
          <p:cNvSpPr>
            <a:spLocks noEditPoints="1" noChangeArrowheads="1"/>
          </p:cNvSpPr>
          <p:nvPr/>
        </p:nvSpPr>
        <p:spPr bwMode="auto">
          <a:xfrm>
            <a:off x="1607359" y="4698502"/>
            <a:ext cx="1411595" cy="115178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CC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WaterML2Part4: </a:t>
            </a:r>
            <a:r>
              <a:rPr lang="en-US" sz="1200" dirty="0" smtClean="0">
                <a:solidFill>
                  <a:srgbClr val="092E5C"/>
                </a:solidFill>
                <a:latin typeface="Arial"/>
                <a:ea typeface="+mn-ea"/>
              </a:rPr>
              <a:t>Groundwater</a:t>
            </a:r>
            <a:r>
              <a:rPr lang="en-US" sz="1200" b="0" dirty="0" smtClean="0">
                <a:solidFill>
                  <a:srgbClr val="092E5C"/>
                </a:solidFill>
                <a:latin typeface="Arial"/>
                <a:ea typeface="+mn-ea"/>
              </a:rPr>
              <a:t> </a:t>
            </a:r>
            <a:endParaRPr lang="en-AU" sz="1200" b="0" dirty="0">
              <a:solidFill>
                <a:srgbClr val="092E5C"/>
              </a:solidFill>
              <a:latin typeface="Arial"/>
              <a:ea typeface="+mn-ea"/>
            </a:endParaRP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US" sz="1100" b="0" dirty="0">
                <a:solidFill>
                  <a:srgbClr val="092E5C"/>
                </a:solidFill>
                <a:latin typeface="Arial"/>
                <a:ea typeface="+mn-ea"/>
              </a:rPr>
              <a:t>(</a:t>
            </a: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GWML2, under development</a:t>
            </a:r>
            <a:r>
              <a:rPr lang="en-AU" sz="1100" b="0" dirty="0" smtClean="0">
                <a:solidFill>
                  <a:srgbClr val="092E5C"/>
                </a:solidFill>
                <a:latin typeface="Arial"/>
                <a:ea typeface="+mn-ea"/>
              </a:rPr>
              <a:t>)</a:t>
            </a:r>
            <a:endParaRPr lang="en-GB" sz="1100" b="0" dirty="0">
              <a:solidFill>
                <a:srgbClr val="092E5C"/>
              </a:solidFill>
            </a:endParaRPr>
          </a:p>
        </p:txBody>
      </p:sp>
      <p:sp>
        <p:nvSpPr>
          <p:cNvPr id="30" name="File"/>
          <p:cNvSpPr>
            <a:spLocks noEditPoints="1" noChangeArrowheads="1"/>
          </p:cNvSpPr>
          <p:nvPr/>
        </p:nvSpPr>
        <p:spPr bwMode="auto">
          <a:xfrm>
            <a:off x="7388622" y="2420542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bg1">
              <a:lumMod val="90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endParaRPr lang="en-GB" sz="1100" b="0" dirty="0" smtClean="0">
              <a:solidFill>
                <a:srgbClr val="002060"/>
              </a:solidFill>
              <a:latin typeface="Arial"/>
              <a:ea typeface="+mn-ea"/>
            </a:endParaRP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400" dirty="0" err="1" smtClean="0">
                <a:solidFill>
                  <a:srgbClr val="002060"/>
                </a:solidFill>
                <a:latin typeface="Arial"/>
                <a:ea typeface="+mn-ea"/>
              </a:rPr>
              <a:t>TimeSeries</a:t>
            </a:r>
            <a:r>
              <a:rPr lang="en-GB" sz="110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(TSML, under development)</a:t>
            </a:r>
            <a:endParaRPr lang="en-GB" sz="1100" b="0" dirty="0">
              <a:solidFill>
                <a:srgbClr val="002060"/>
              </a:solidFill>
              <a:latin typeface="Arial"/>
              <a:ea typeface="+mn-ea"/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885696" y="3048000"/>
            <a:ext cx="54538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Suite </a:t>
            </a:r>
            <a:r>
              <a:rPr lang="de-DE" sz="2400" b="0" u="sng" dirty="0" err="1" smtClean="0">
                <a:solidFill>
                  <a:srgbClr val="002060"/>
                </a:solidFill>
                <a:latin typeface="Arial"/>
                <a:ea typeface="+mn-ea"/>
              </a:rPr>
              <a:t>of</a:t>
            </a: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u="sng" dirty="0" err="1" smtClean="0">
                <a:solidFill>
                  <a:srgbClr val="002060"/>
                </a:solidFill>
                <a:latin typeface="Arial"/>
                <a:ea typeface="+mn-ea"/>
              </a:rPr>
              <a:t>Water</a:t>
            </a:r>
            <a:r>
              <a:rPr lang="de-DE" sz="2400" b="0" u="sng" dirty="0" smtClean="0">
                <a:solidFill>
                  <a:srgbClr val="002060"/>
                </a:solidFill>
                <a:latin typeface="Arial"/>
                <a:ea typeface="+mn-ea"/>
              </a:rPr>
              <a:t> Information Standards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: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towards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the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identification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,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observation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and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representation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of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hydrologic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features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using</a:t>
            </a:r>
            <a:r>
              <a:rPr lang="de-DE" sz="24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de-DE" sz="2400" b="0" dirty="0" err="1" smtClean="0">
                <a:solidFill>
                  <a:srgbClr val="002060"/>
                </a:solidFill>
                <a:latin typeface="Arial"/>
                <a:ea typeface="+mn-ea"/>
              </a:rPr>
              <a:t>standards</a:t>
            </a:r>
            <a:endParaRPr lang="en-US" sz="2400" b="0" dirty="0" err="1" smtClean="0">
              <a:solidFill>
                <a:srgbClr val="002060"/>
              </a:solidFill>
              <a:latin typeface="Arial"/>
              <a:ea typeface="+mn-ea"/>
            </a:endParaRPr>
          </a:p>
        </p:txBody>
      </p:sp>
      <p:sp>
        <p:nvSpPr>
          <p:cNvPr id="33" name="File"/>
          <p:cNvSpPr>
            <a:spLocks noEditPoints="1" noChangeArrowheads="1"/>
          </p:cNvSpPr>
          <p:nvPr/>
        </p:nvSpPr>
        <p:spPr bwMode="auto">
          <a:xfrm>
            <a:off x="388219" y="3219342"/>
            <a:ext cx="1420684" cy="1148214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chemeClr val="tx2">
              <a:lumMod val="25000"/>
              <a:lumOff val="75000"/>
            </a:schemeClr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400" dirty="0" err="1" smtClean="0">
                <a:solidFill>
                  <a:srgbClr val="002060"/>
                </a:solidFill>
                <a:latin typeface="Arial"/>
                <a:ea typeface="+mn-ea"/>
              </a:rPr>
              <a:t>HY_Features</a:t>
            </a:r>
            <a:r>
              <a:rPr lang="en-GB" sz="1400" dirty="0" smtClean="0">
                <a:solidFill>
                  <a:srgbClr val="002060"/>
                </a:solidFill>
                <a:latin typeface="Arial"/>
                <a:ea typeface="+mn-ea"/>
              </a:rPr>
              <a:t>,</a:t>
            </a:r>
            <a:r>
              <a:rPr lang="en-GB" sz="110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common hydrologic  feature model</a:t>
            </a:r>
          </a:p>
          <a:p>
            <a:pPr algn="ctr" defTabSz="457200" fontAlgn="auto">
              <a:spcBef>
                <a:spcPts val="0"/>
              </a:spcBef>
              <a:spcAft>
                <a:spcPts val="0"/>
              </a:spcAft>
            </a:pPr>
            <a:r>
              <a:rPr lang="en-GB" sz="1100" b="0" dirty="0" smtClean="0">
                <a:solidFill>
                  <a:srgbClr val="002060"/>
                </a:solidFill>
                <a:latin typeface="Arial"/>
                <a:ea typeface="+mn-ea"/>
              </a:rPr>
              <a:t> </a:t>
            </a:r>
            <a:r>
              <a:rPr lang="en-US" sz="1100" b="0" dirty="0">
                <a:solidFill>
                  <a:srgbClr val="092E5C"/>
                </a:solidFill>
                <a:latin typeface="Arial"/>
                <a:ea typeface="+mn-ea"/>
              </a:rPr>
              <a:t>(</a:t>
            </a:r>
            <a:r>
              <a:rPr lang="en-US" sz="1100" b="0" dirty="0" smtClean="0">
                <a:solidFill>
                  <a:srgbClr val="092E5C"/>
                </a:solidFill>
                <a:latin typeface="Arial"/>
                <a:ea typeface="+mn-ea"/>
              </a:rPr>
              <a:t>OGC11-039</a:t>
            </a:r>
            <a:r>
              <a:rPr lang="en-US" sz="1100" b="0" dirty="0" smtClean="0">
                <a:solidFill>
                  <a:srgbClr val="000000"/>
                </a:solidFill>
                <a:latin typeface="Arial"/>
                <a:ea typeface="+mn-ea"/>
              </a:rPr>
              <a:t>)</a:t>
            </a:r>
            <a:endParaRPr lang="en-GB" sz="1100" b="0" dirty="0">
              <a:solidFill>
                <a:srgbClr val="002060"/>
              </a:solidFill>
              <a:latin typeface="Arial"/>
              <a:ea typeface="+mn-ea"/>
            </a:endParaRPr>
          </a:p>
        </p:txBody>
      </p:sp>
      <p:sp>
        <p:nvSpPr>
          <p:cNvPr id="16" name="File"/>
          <p:cNvSpPr>
            <a:spLocks noEditPoints="1" noChangeArrowheads="1"/>
          </p:cNvSpPr>
          <p:nvPr/>
        </p:nvSpPr>
        <p:spPr bwMode="auto">
          <a:xfrm>
            <a:off x="662195" y="2291037"/>
            <a:ext cx="544418" cy="486918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…..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17" name="File"/>
          <p:cNvSpPr>
            <a:spLocks noEditPoints="1" noChangeArrowheads="1"/>
          </p:cNvSpPr>
          <p:nvPr/>
        </p:nvSpPr>
        <p:spPr bwMode="auto">
          <a:xfrm>
            <a:off x="662195" y="4820449"/>
            <a:ext cx="544418" cy="486918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…..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22" name="File"/>
          <p:cNvSpPr>
            <a:spLocks noEditPoints="1" noChangeArrowheads="1"/>
          </p:cNvSpPr>
          <p:nvPr/>
        </p:nvSpPr>
        <p:spPr bwMode="auto">
          <a:xfrm>
            <a:off x="7388622" y="1664015"/>
            <a:ext cx="544418" cy="486918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…..</a:t>
            </a:r>
            <a:endParaRPr lang="en-GB" sz="1100" b="0" dirty="0">
              <a:solidFill>
                <a:srgbClr val="002060"/>
              </a:solidFill>
            </a:endParaRPr>
          </a:p>
        </p:txBody>
      </p:sp>
      <p:sp>
        <p:nvSpPr>
          <p:cNvPr id="23" name="File"/>
          <p:cNvSpPr>
            <a:spLocks noEditPoints="1" noChangeArrowheads="1"/>
          </p:cNvSpPr>
          <p:nvPr/>
        </p:nvSpPr>
        <p:spPr bwMode="auto">
          <a:xfrm>
            <a:off x="7388622" y="5527228"/>
            <a:ext cx="544418" cy="486918"/>
          </a:xfrm>
          <a:custGeom>
            <a:avLst/>
            <a:gdLst>
              <a:gd name="T0" fmla="*/ 10981 w 21600"/>
              <a:gd name="T1" fmla="*/ 3240 h 21600"/>
              <a:gd name="T2" fmla="*/ 0 w 21600"/>
              <a:gd name="T3" fmla="*/ 10800 h 21600"/>
              <a:gd name="T4" fmla="*/ 10800 w 21600"/>
              <a:gd name="T5" fmla="*/ 21600 h 21600"/>
              <a:gd name="T6" fmla="*/ 21600 w 21600"/>
              <a:gd name="T7" fmla="*/ 10800 h 21600"/>
              <a:gd name="T8" fmla="*/ 0 w 21600"/>
              <a:gd name="T9" fmla="*/ 21600 h 21600"/>
              <a:gd name="T10" fmla="*/ 21600 w 21600"/>
              <a:gd name="T11" fmla="*/ 21600 h 21600"/>
              <a:gd name="T12" fmla="*/ 1086 w 21600"/>
              <a:gd name="T13" fmla="*/ 4628 h 21600"/>
              <a:gd name="T14" fmla="*/ 20635 w 21600"/>
              <a:gd name="T15" fmla="*/ 20289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T12" t="T13" r="T14" b="T15"/>
            <a:pathLst>
              <a:path w="21600" h="21600">
                <a:moveTo>
                  <a:pt x="19790" y="3240"/>
                </a:moveTo>
                <a:cubicBezTo>
                  <a:pt x="10981" y="3240"/>
                  <a:pt x="9171" y="3240"/>
                  <a:pt x="9050" y="3086"/>
                </a:cubicBezTo>
                <a:cubicBezTo>
                  <a:pt x="9050" y="2931"/>
                  <a:pt x="8930" y="2777"/>
                  <a:pt x="8930" y="2469"/>
                </a:cubicBezTo>
                <a:cubicBezTo>
                  <a:pt x="8930" y="2160"/>
                  <a:pt x="8809" y="1851"/>
                  <a:pt x="8688" y="1389"/>
                </a:cubicBezTo>
                <a:cubicBezTo>
                  <a:pt x="8568" y="1080"/>
                  <a:pt x="8326" y="771"/>
                  <a:pt x="8085" y="463"/>
                </a:cubicBezTo>
                <a:cubicBezTo>
                  <a:pt x="7723" y="154"/>
                  <a:pt x="7361" y="0"/>
                  <a:pt x="7361" y="0"/>
                </a:cubicBezTo>
                <a:cubicBezTo>
                  <a:pt x="7361" y="0"/>
                  <a:pt x="2293" y="0"/>
                  <a:pt x="2051" y="154"/>
                </a:cubicBezTo>
                <a:cubicBezTo>
                  <a:pt x="1689" y="309"/>
                  <a:pt x="1448" y="463"/>
                  <a:pt x="1327" y="771"/>
                </a:cubicBezTo>
                <a:cubicBezTo>
                  <a:pt x="1207" y="1080"/>
                  <a:pt x="1086" y="1389"/>
                  <a:pt x="965" y="1697"/>
                </a:cubicBezTo>
                <a:cubicBezTo>
                  <a:pt x="845" y="2160"/>
                  <a:pt x="724" y="2314"/>
                  <a:pt x="724" y="2469"/>
                </a:cubicBezTo>
                <a:cubicBezTo>
                  <a:pt x="603" y="2623"/>
                  <a:pt x="603" y="2777"/>
                  <a:pt x="483" y="2931"/>
                </a:cubicBezTo>
                <a:cubicBezTo>
                  <a:pt x="483" y="3086"/>
                  <a:pt x="362" y="3240"/>
                  <a:pt x="241" y="3240"/>
                </a:cubicBezTo>
                <a:lnTo>
                  <a:pt x="0" y="3394"/>
                </a:lnTo>
                <a:lnTo>
                  <a:pt x="0" y="3703"/>
                </a:lnTo>
                <a:lnTo>
                  <a:pt x="0" y="10800"/>
                </a:lnTo>
                <a:lnTo>
                  <a:pt x="0" y="21600"/>
                </a:lnTo>
                <a:lnTo>
                  <a:pt x="10981" y="21600"/>
                </a:lnTo>
                <a:lnTo>
                  <a:pt x="21600" y="21600"/>
                </a:lnTo>
                <a:lnTo>
                  <a:pt x="21600" y="10800"/>
                </a:lnTo>
                <a:lnTo>
                  <a:pt x="21600" y="5246"/>
                </a:lnTo>
                <a:lnTo>
                  <a:pt x="21600" y="4783"/>
                </a:lnTo>
                <a:cubicBezTo>
                  <a:pt x="21479" y="4320"/>
                  <a:pt x="21359" y="4011"/>
                  <a:pt x="21117" y="3703"/>
                </a:cubicBezTo>
                <a:cubicBezTo>
                  <a:pt x="20876" y="3549"/>
                  <a:pt x="20514" y="3394"/>
                  <a:pt x="20152" y="3240"/>
                </a:cubicBezTo>
                <a:close/>
              </a:path>
            </a:pathLst>
          </a:cu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GB" sz="1100" b="0" dirty="0" smtClean="0">
                <a:solidFill>
                  <a:srgbClr val="002060"/>
                </a:solidFill>
              </a:rPr>
              <a:t>…..</a:t>
            </a:r>
            <a:endParaRPr lang="en-GB" sz="1100" b="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60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sz="900" smtClean="0">
                <a:solidFill>
                  <a:srgbClr val="092E5C"/>
                </a:solidFill>
              </a:rPr>
              <a:t>5th, Workshop of OGC Hydro DWG, New York, 11-15 Aug 2014</a:t>
            </a:r>
            <a:endParaRPr lang="en-US" altLang="en-US" sz="900" dirty="0" smtClean="0">
              <a:solidFill>
                <a:srgbClr val="092E5C"/>
              </a:solidFill>
            </a:endParaRP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!   </a:t>
            </a:r>
            <a:endParaRPr lang="en-GB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38200" y="4343400"/>
            <a:ext cx="73914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33363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569913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2557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6pPr>
            <a:lvl7pPr marL="25130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7pPr>
            <a:lvl8pPr marL="29702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8pPr>
            <a:lvl9pPr marL="3427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algn="ctr">
              <a:buNone/>
            </a:pPr>
            <a:endParaRPr lang="en-US" altLang="en-US" sz="2000" b="0" kern="0" dirty="0" smtClean="0">
              <a:cs typeface="Arial" pitchFamily="34" charset="0"/>
            </a:endParaRPr>
          </a:p>
          <a:p>
            <a:pPr marL="0" indent="0" algn="ctr">
              <a:buNone/>
            </a:pPr>
            <a:endParaRPr lang="en-US" altLang="en-US" sz="2000" b="0" kern="0" dirty="0">
              <a:cs typeface="Arial" pitchFamily="34" charset="0"/>
            </a:endParaRPr>
          </a:p>
          <a:p>
            <a:pPr marL="0" indent="0" algn="ctr">
              <a:buNone/>
            </a:pPr>
            <a:endParaRPr lang="en-US" altLang="en-US" sz="2000" b="0" kern="0" dirty="0" smtClean="0">
              <a:cs typeface="Arial" pitchFamily="34" charset="0"/>
            </a:endParaRPr>
          </a:p>
          <a:p>
            <a:pPr marL="0" indent="0" algn="ctr">
              <a:buNone/>
            </a:pPr>
            <a:endParaRPr lang="en-US" altLang="en-US" sz="2000" b="0" kern="0" dirty="0" smtClean="0">
              <a:cs typeface="Arial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381000" y="1891843"/>
            <a:ext cx="83820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en-GB" sz="2800" dirty="0"/>
              <a:t>Suite of Water Information Standards</a:t>
            </a:r>
            <a:r>
              <a:rPr lang="en-US" sz="2800" b="0" kern="0" dirty="0" smtClean="0"/>
              <a:t/>
            </a:r>
            <a:br>
              <a:rPr lang="en-US" sz="2800" b="0" kern="0" dirty="0" smtClean="0"/>
            </a:br>
            <a:endParaRPr lang="en-US" sz="2400" b="0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371600" y="2971800"/>
            <a:ext cx="6781800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233363" indent="-2333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1pPr>
            <a:lvl2pPr marL="569913" indent="-2222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2pPr>
            <a:lvl3pPr marL="912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3pPr>
            <a:lvl4pPr marL="12557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4pPr>
            <a:lvl5pPr marL="15986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  <a:ea typeface="MS PGothic" pitchFamily="34" charset="-128"/>
                <a:cs typeface="MS PGothic" charset="0"/>
              </a:defRPr>
            </a:lvl5pPr>
            <a:lvl6pPr marL="20558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6pPr>
            <a:lvl7pPr marL="25130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7pPr>
            <a:lvl8pPr marL="29702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8pPr>
            <a:lvl9pPr marL="3427413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+mn-lt"/>
              </a:defRPr>
            </a:lvl9pPr>
          </a:lstStyle>
          <a:p>
            <a:pPr marL="0" indent="0" algn="ctr">
              <a:spcBef>
                <a:spcPts val="600"/>
              </a:spcBef>
              <a:buNone/>
            </a:pPr>
            <a:r>
              <a:rPr lang="en-GB" sz="2000" b="0" dirty="0" smtClean="0"/>
              <a:t>HIC-11 </a:t>
            </a:r>
            <a:r>
              <a:rPr lang="en-GB" sz="2000" b="0" dirty="0"/>
              <a:t>Tutorial: Standardization of Water Data Exchange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altLang="en-US" sz="2000" b="0" dirty="0">
                <a:cs typeface="Arial" pitchFamily="34" charset="0"/>
              </a:rPr>
              <a:t>WMO/OGC Hydrology Domain Working Group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altLang="en-US" sz="2000" b="0" dirty="0">
                <a:cs typeface="Arial" pitchFamily="34" charset="0"/>
              </a:rPr>
              <a:t> New York, CCNY, August 16, 2014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n-US" altLang="en-US" sz="2000" b="0" dirty="0">
                <a:cs typeface="Arial" pitchFamily="34" charset="0"/>
              </a:rPr>
              <a:t>Irina Dornblut, GRDC of WMO at </a:t>
            </a:r>
            <a:r>
              <a:rPr lang="en-US" altLang="en-US" sz="2000" b="0" dirty="0" err="1">
                <a:cs typeface="Arial" pitchFamily="34" charset="0"/>
              </a:rPr>
              <a:t>BfG</a:t>
            </a:r>
            <a:endParaRPr lang="en-US" altLang="en-US" sz="2000" b="0" dirty="0"/>
          </a:p>
          <a:p>
            <a:pPr marL="0" indent="0" algn="ctr">
              <a:spcBef>
                <a:spcPct val="0"/>
              </a:spcBef>
              <a:buNone/>
            </a:pPr>
            <a:r>
              <a:rPr lang="en-US" altLang="en-US" sz="2000" b="0" kern="0" dirty="0" smtClean="0">
                <a:cs typeface="Arial" pitchFamily="34" charset="0"/>
              </a:rPr>
              <a:t>(</a:t>
            </a:r>
            <a:r>
              <a:rPr lang="en-US" altLang="en-US" sz="2000" b="0" kern="0" dirty="0">
                <a:cs typeface="Arial" pitchFamily="34" charset="0"/>
                <a:hlinkClick r:id="rId3"/>
              </a:rPr>
              <a:t>www.grdc.de</a:t>
            </a:r>
            <a:r>
              <a:rPr lang="en-US" altLang="en-US" sz="2000" b="0" kern="0" dirty="0">
                <a:cs typeface="Arial" pitchFamily="34" charset="0"/>
              </a:rPr>
              <a:t> ; dornblut@bafg.de)</a:t>
            </a:r>
            <a:endParaRPr lang="en-US" altLang="en-US" sz="2000" b="0" kern="0" dirty="0"/>
          </a:p>
          <a:p>
            <a:pPr marL="0" indent="0" algn="ctr">
              <a:spcBef>
                <a:spcPct val="0"/>
              </a:spcBef>
              <a:buNone/>
            </a:pPr>
            <a:endParaRPr lang="en-US" altLang="en-US" sz="2000" b="0" kern="0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D129D0-DFFA-44F8-BA3B-A4FAE77A70BA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9" name="Titel 2"/>
          <p:cNvSpPr txBox="1">
            <a:spLocks/>
          </p:cNvSpPr>
          <p:nvPr/>
        </p:nvSpPr>
        <p:spPr bwMode="auto">
          <a:xfrm>
            <a:off x="384175" y="1066800"/>
            <a:ext cx="86836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MS PGothic" pitchFamily="34" charset="-128"/>
                <a:cs typeface="MS PGothic" charset="0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MS PGothic" pitchFamily="34" charset="-128"/>
                <a:cs typeface="MS PGothic" charset="0"/>
              </a:defRPr>
            </a:lvl5pPr>
            <a:lvl6pPr marL="4572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6pPr>
            <a:lvl7pPr marL="9144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7pPr>
            <a:lvl8pPr marL="13716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8pPr>
            <a:lvl9pPr marL="1828800"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092E5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</a:defRPr>
            </a:lvl9pPr>
          </a:lstStyle>
          <a:p>
            <a:r>
              <a:rPr lang="en-US" b="0" kern="0" dirty="0" smtClean="0"/>
              <a:t>  </a:t>
            </a:r>
            <a:endParaRPr lang="en-GB" b="0" kern="0" dirty="0"/>
          </a:p>
        </p:txBody>
      </p:sp>
    </p:spTree>
    <p:extLst>
      <p:ext uri="{BB962C8B-B14F-4D97-AF65-F5344CB8AC3E}">
        <p14:creationId xmlns:p14="http://schemas.microsoft.com/office/powerpoint/2010/main" val="257785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GB" dirty="0" smtClean="0">
                <a:cs typeface="+mj-cs"/>
              </a:rPr>
              <a:t>Definitions</a:t>
            </a:r>
            <a:endParaRPr lang="en-GB" dirty="0">
              <a:cs typeface="+mj-cs"/>
            </a:endParaRPr>
          </a:p>
        </p:txBody>
      </p:sp>
      <p:sp>
        <p:nvSpPr>
          <p:cNvPr id="4100" name="Fußzeilenplatzhalt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rgbClr val="092E5C"/>
              </a:buClr>
              <a:buChar char="•"/>
              <a:defRPr sz="24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20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lr>
                <a:srgbClr val="092E5C"/>
              </a:buClr>
              <a:buChar char="•"/>
              <a:defRPr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lr>
                <a:srgbClr val="092E5C"/>
              </a:buClr>
              <a:buChar char="–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92E5C"/>
              </a:buClr>
              <a:buChar char="»"/>
              <a:defRPr sz="1600">
                <a:solidFill>
                  <a:schemeClr val="tx2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900" dirty="0" smtClean="0">
                <a:solidFill>
                  <a:srgbClr val="092E5C"/>
                </a:solidFill>
              </a:rPr>
              <a:t>Copyright © 2014 Open Geospatial Consortium</a:t>
            </a:r>
          </a:p>
        </p:txBody>
      </p:sp>
      <p:sp>
        <p:nvSpPr>
          <p:cNvPr id="3" name="Textfeld 2"/>
          <p:cNvSpPr txBox="1"/>
          <p:nvPr/>
        </p:nvSpPr>
        <p:spPr>
          <a:xfrm>
            <a:off x="838200" y="1066800"/>
            <a:ext cx="80772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 smtClean="0">
                <a:solidFill>
                  <a:srgbClr val="092E5C"/>
                </a:solidFill>
              </a:rPr>
              <a:t>Data: </a:t>
            </a:r>
            <a:r>
              <a:rPr lang="en-GB" sz="1600" b="0" dirty="0" smtClean="0">
                <a:solidFill>
                  <a:srgbClr val="092E5C"/>
                </a:solidFill>
              </a:rPr>
              <a:t>notion </a:t>
            </a:r>
            <a:r>
              <a:rPr lang="en-GB" sz="1600" b="0" dirty="0">
                <a:solidFill>
                  <a:srgbClr val="092E5C"/>
                </a:solidFill>
              </a:rPr>
              <a:t>of a documented value of some characteristics of a </a:t>
            </a:r>
            <a:r>
              <a:rPr lang="en-GB" sz="1600" b="0" dirty="0" smtClean="0">
                <a:solidFill>
                  <a:srgbClr val="092E5C"/>
                </a:solidFill>
              </a:rPr>
              <a:t>phenomenon</a:t>
            </a:r>
            <a:r>
              <a:rPr lang="en-GB" sz="1600" b="0" dirty="0">
                <a:solidFill>
                  <a:srgbClr val="092E5C"/>
                </a:solidFill>
              </a:rPr>
              <a:t>. </a:t>
            </a:r>
          </a:p>
          <a:p>
            <a:endParaRPr lang="en-GB" sz="1600" b="0" dirty="0">
              <a:solidFill>
                <a:srgbClr val="092E5C"/>
              </a:solidFill>
            </a:endParaRPr>
          </a:p>
          <a:p>
            <a:r>
              <a:rPr lang="en-GB" sz="1600" dirty="0">
                <a:solidFill>
                  <a:srgbClr val="092E5C"/>
                </a:solidFill>
              </a:rPr>
              <a:t>Dataset: </a:t>
            </a:r>
            <a:r>
              <a:rPr lang="en-GB" sz="1600" b="0" dirty="0">
                <a:solidFill>
                  <a:srgbClr val="092E5C"/>
                </a:solidFill>
              </a:rPr>
              <a:t>identifiable collection of data. [ISO19115:2003] 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Coverage</a:t>
            </a:r>
            <a:r>
              <a:rPr lang="en-GB" sz="1600" dirty="0">
                <a:solidFill>
                  <a:srgbClr val="092E5C"/>
                </a:solidFill>
              </a:rPr>
              <a:t>: </a:t>
            </a:r>
            <a:r>
              <a:rPr lang="en-GB" sz="1600" b="0" dirty="0">
                <a:solidFill>
                  <a:srgbClr val="092E5C"/>
                </a:solidFill>
              </a:rPr>
              <a:t>set of attribute values arranged with respect to a particular </a:t>
            </a:r>
            <a:r>
              <a:rPr lang="en-GB" sz="1600" b="0" dirty="0" smtClean="0">
                <a:solidFill>
                  <a:srgbClr val="092E5C"/>
                </a:solidFill>
              </a:rPr>
              <a:t>domain. – function to return values from its range for any direct position within its spatial, temporal or spatiotemporal domain. </a:t>
            </a:r>
            <a:r>
              <a:rPr lang="en-GB" sz="1600" b="0" dirty="0">
                <a:solidFill>
                  <a:srgbClr val="092E5C"/>
                </a:solidFill>
              </a:rPr>
              <a:t>[</a:t>
            </a:r>
            <a:r>
              <a:rPr lang="en-GB" sz="1600" b="0" dirty="0" smtClean="0">
                <a:solidFill>
                  <a:srgbClr val="092E5C"/>
                </a:solidFill>
              </a:rPr>
              <a:t>ISO19123:2005]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Feature: </a:t>
            </a:r>
            <a:r>
              <a:rPr lang="en-GB" sz="1600" b="0" dirty="0">
                <a:solidFill>
                  <a:srgbClr val="092E5C"/>
                </a:solidFill>
              </a:rPr>
              <a:t>abstraction (abstract notion) of real-world phenomena</a:t>
            </a:r>
            <a:r>
              <a:rPr lang="en-GB" sz="1600" b="0" dirty="0" smtClean="0">
                <a:solidFill>
                  <a:srgbClr val="092E5C"/>
                </a:solidFill>
              </a:rPr>
              <a:t>. [ISO19101:2002];      the fundamental unit of geographic information. [ISO19109:2005]</a:t>
            </a:r>
            <a:endParaRPr lang="en-GB" sz="1600" b="0" dirty="0">
              <a:solidFill>
                <a:srgbClr val="092E5C"/>
              </a:solidFill>
            </a:endParaRP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Hydrologic Feature: </a:t>
            </a:r>
            <a:r>
              <a:rPr lang="en-GB" sz="1600" b="0" dirty="0" smtClean="0">
                <a:solidFill>
                  <a:srgbClr val="092E5C"/>
                </a:solidFill>
              </a:rPr>
              <a:t>abstract notion </a:t>
            </a:r>
            <a:r>
              <a:rPr lang="en-GB" sz="1600" b="0" dirty="0">
                <a:solidFill>
                  <a:srgbClr val="092E5C"/>
                </a:solidFill>
              </a:rPr>
              <a:t>of </a:t>
            </a:r>
            <a:r>
              <a:rPr lang="en-GB" sz="1600" b="0" dirty="0" smtClean="0">
                <a:solidFill>
                  <a:srgbClr val="092E5C"/>
                </a:solidFill>
              </a:rPr>
              <a:t>the hydrology phenomenon. [OGC 11-039r3]</a:t>
            </a:r>
            <a:endParaRPr lang="en-GB" sz="1600" dirty="0" smtClean="0">
              <a:solidFill>
                <a:srgbClr val="092E5C"/>
              </a:solidFill>
            </a:endParaRPr>
          </a:p>
          <a:p>
            <a:endParaRPr lang="en-GB" sz="1600" dirty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Property</a:t>
            </a:r>
            <a:r>
              <a:rPr lang="en-GB" sz="1600" dirty="0">
                <a:solidFill>
                  <a:srgbClr val="092E5C"/>
                </a:solidFill>
              </a:rPr>
              <a:t>: </a:t>
            </a:r>
            <a:r>
              <a:rPr lang="en-GB" sz="1600" b="0" dirty="0">
                <a:solidFill>
                  <a:srgbClr val="092E5C"/>
                </a:solidFill>
              </a:rPr>
              <a:t>notion of a characteristic property of a real-world phenomenon</a:t>
            </a:r>
            <a:r>
              <a:rPr lang="en-GB" sz="1600" dirty="0">
                <a:solidFill>
                  <a:srgbClr val="092E5C"/>
                </a:solidFill>
              </a:rPr>
              <a:t>. </a:t>
            </a:r>
            <a:endParaRPr lang="en-GB" sz="1600" dirty="0" smtClean="0">
              <a:solidFill>
                <a:srgbClr val="092E5C"/>
              </a:solidFill>
            </a:endParaRPr>
          </a:p>
          <a:p>
            <a:endParaRPr lang="en-GB" sz="1600" dirty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Observation: </a:t>
            </a:r>
            <a:r>
              <a:rPr lang="en-GB" sz="1600" b="0" dirty="0">
                <a:solidFill>
                  <a:srgbClr val="092E5C"/>
                </a:solidFill>
              </a:rPr>
              <a:t>act of observing a property or phenomenon, with the goal of producing an estimate of the value of the </a:t>
            </a:r>
            <a:r>
              <a:rPr lang="en-GB" sz="1600" b="0" dirty="0" smtClean="0">
                <a:solidFill>
                  <a:srgbClr val="092E5C"/>
                </a:solidFill>
              </a:rPr>
              <a:t>property. [</a:t>
            </a:r>
            <a:r>
              <a:rPr lang="en-GB" sz="1600" b="0" dirty="0">
                <a:solidFill>
                  <a:srgbClr val="092E5C"/>
                </a:solidFill>
              </a:rPr>
              <a:t>ISO19156:2011]</a:t>
            </a:r>
          </a:p>
          <a:p>
            <a:endParaRPr lang="en-GB" sz="1600" dirty="0" smtClean="0">
              <a:solidFill>
                <a:srgbClr val="092E5C"/>
              </a:solidFill>
            </a:endParaRPr>
          </a:p>
          <a:p>
            <a:r>
              <a:rPr lang="en-GB" sz="1600" dirty="0" smtClean="0">
                <a:solidFill>
                  <a:srgbClr val="092E5C"/>
                </a:solidFill>
              </a:rPr>
              <a:t>Variable: </a:t>
            </a:r>
            <a:r>
              <a:rPr lang="en-GB" sz="1600" b="0" dirty="0" smtClean="0">
                <a:solidFill>
                  <a:srgbClr val="092E5C"/>
                </a:solidFill>
              </a:rPr>
              <a:t>feature properties whose values may change with Space, Time, or Observation. A variable may take any value in a range of possible values [WMO, 1992].</a:t>
            </a:r>
            <a:endParaRPr lang="en-GB" sz="1600" dirty="0" smtClean="0">
              <a:solidFill>
                <a:srgbClr val="092E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20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GC_PowerPoint_Template">
  <a:themeElements>
    <a:clrScheme name="">
      <a:dk1>
        <a:srgbClr val="000000"/>
      </a:dk1>
      <a:lt1>
        <a:srgbClr val="FFFFCC"/>
      </a:lt1>
      <a:dk2>
        <a:srgbClr val="092E5C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OGC_PowerPoint_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12700" cap="flat" cmpd="sng" algn="ctr">
          <a:solidFill>
            <a:srgbClr val="969696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noAutofit/>
      </a:bodyPr>
      <a:lstStyle>
        <a:defPPr>
          <a:defRPr dirty="0" err="1" smtClean="0"/>
        </a:defPPr>
      </a:lstStyle>
    </a:txDef>
  </a:objectDefaults>
  <a:extraClrSchemeLst>
    <a:extraClrScheme>
      <a:clrScheme name="OGC_PowerPoint_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GC_PowerPoint_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GC_PowerPoint_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3054</Words>
  <Application>Microsoft Office PowerPoint</Application>
  <PresentationFormat>Bildschirmpräsentation (4:3)</PresentationFormat>
  <Paragraphs>647</Paragraphs>
  <Slides>41</Slides>
  <Notes>40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41</vt:i4>
      </vt:variant>
    </vt:vector>
  </HeadingPairs>
  <TitlesOfParts>
    <vt:vector size="43" baseType="lpstr">
      <vt:lpstr>OGC_PowerPoint_Template</vt:lpstr>
      <vt:lpstr>1_OGC_PowerPoint_Template</vt:lpstr>
      <vt:lpstr>Suite of Water Information Standards</vt:lpstr>
      <vt:lpstr>Suite of Water Information standards</vt:lpstr>
      <vt:lpstr>Suite of Water Information standards</vt:lpstr>
      <vt:lpstr>Hydrologic data via Web services</vt:lpstr>
      <vt:lpstr>Hydrologic data via Web services</vt:lpstr>
      <vt:lpstr>Hydrologic data via Web services</vt:lpstr>
      <vt:lpstr>Suite of Water Information standards</vt:lpstr>
      <vt:lpstr>Water data exchange using standards</vt:lpstr>
      <vt:lpstr>Water data exchange using standards</vt:lpstr>
      <vt:lpstr>Water data exchange using standards</vt:lpstr>
      <vt:lpstr>Suite of Water Information standards</vt:lpstr>
      <vt:lpstr>Interoperability of Web services</vt:lpstr>
      <vt:lpstr>Technical interoperability of Web services</vt:lpstr>
      <vt:lpstr>Suite of Water Information standards</vt:lpstr>
      <vt:lpstr>Semantic interoperability between Web services</vt:lpstr>
      <vt:lpstr>Semantic interoperability of Web services</vt:lpstr>
      <vt:lpstr>Semantic interoperability of Web services</vt:lpstr>
      <vt:lpstr>Semantic interoperability of Web services</vt:lpstr>
      <vt:lpstr>Semantic interoperability of Web services</vt:lpstr>
      <vt:lpstr>Suite of Water Information standards</vt:lpstr>
      <vt:lpstr>HY_Features, common hydrologic feature model</vt:lpstr>
      <vt:lpstr>HY_Features – Basic concepts, 1(3)</vt:lpstr>
      <vt:lpstr>HY_Features – Basic concepts, 2(3)</vt:lpstr>
      <vt:lpstr>HY_Features – Basic concepts, 3(3)</vt:lpstr>
      <vt:lpstr>HY_Features, implementation examples</vt:lpstr>
      <vt:lpstr>HY_Features, common hydrologic feature model</vt:lpstr>
      <vt:lpstr>HY_Features, hydrosphere objects related to the basin outlet</vt:lpstr>
      <vt:lpstr>HY_Features associates datasets with the represented basin</vt:lpstr>
      <vt:lpstr>Suite of Water Information standards</vt:lpstr>
      <vt:lpstr>Hydrologic data linked via shared spatial reference</vt:lpstr>
      <vt:lpstr>Hydrologic data linked via shared spatial reference</vt:lpstr>
      <vt:lpstr>Hydrologic data linked…, hydrologically discrete</vt:lpstr>
      <vt:lpstr>Hydrologic data linked …, context-dependent</vt:lpstr>
      <vt:lpstr>Hydrologic data linked …, context-dependent</vt:lpstr>
      <vt:lpstr>Suite of Water Information standards</vt:lpstr>
      <vt:lpstr>Suite of Water Information Standards</vt:lpstr>
      <vt:lpstr>WMO/OGC Hydrology Domain Working Group</vt:lpstr>
      <vt:lpstr>WMO/OGC Hydrology Domain Working Group</vt:lpstr>
      <vt:lpstr>WMO/OGC Hydrology Domain Working Group</vt:lpstr>
      <vt:lpstr>Thank you !   </vt:lpstr>
      <vt:lpstr>Definitions</vt:lpstr>
    </vt:vector>
  </TitlesOfParts>
  <Company>OGC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OGC TC/PC</dc:subject>
  <dc:creator>GRDC/ID</dc:creator>
  <cp:lastModifiedBy>iche</cp:lastModifiedBy>
  <cp:revision>923</cp:revision>
  <cp:lastPrinted>2014-07-31T11:45:23Z</cp:lastPrinted>
  <dcterms:created xsi:type="dcterms:W3CDTF">2009-10-20T16:54:31Z</dcterms:created>
  <dcterms:modified xsi:type="dcterms:W3CDTF">2014-08-16T11:35:22Z</dcterms:modified>
</cp:coreProperties>
</file>