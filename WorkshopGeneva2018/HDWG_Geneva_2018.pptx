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80" r:id="rId5"/>
    <p:sldId id="399" r:id="rId6"/>
    <p:sldId id="281" r:id="rId7"/>
    <p:sldId id="272" r:id="rId8"/>
    <p:sldId id="274" r:id="rId9"/>
    <p:sldId id="268" r:id="rId10"/>
    <p:sldId id="270" r:id="rId11"/>
    <p:sldId id="260" r:id="rId12"/>
    <p:sldId id="259" r:id="rId13"/>
    <p:sldId id="262" r:id="rId14"/>
    <p:sldId id="263" r:id="rId15"/>
    <p:sldId id="264" r:id="rId16"/>
    <p:sldId id="265" r:id="rId17"/>
    <p:sldId id="282" r:id="rId18"/>
    <p:sldId id="261" r:id="rId19"/>
    <p:sldId id="283" r:id="rId20"/>
    <p:sldId id="279" r:id="rId21"/>
    <p:sldId id="266" r:id="rId22"/>
    <p:sldId id="278" r:id="rId23"/>
    <p:sldId id="288" r:id="rId24"/>
    <p:sldId id="287" r:id="rId25"/>
    <p:sldId id="284" r:id="rId26"/>
    <p:sldId id="286" r:id="rId27"/>
    <p:sldId id="396" r:id="rId28"/>
    <p:sldId id="397" r:id="rId29"/>
    <p:sldId id="285" r:id="rId30"/>
    <p:sldId id="39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660"/>
  </p:normalViewPr>
  <p:slideViewPr>
    <p:cSldViewPr snapToGrid="0">
      <p:cViewPr varScale="1">
        <p:scale>
          <a:sx n="72" d="100"/>
          <a:sy n="72" d="100"/>
        </p:scale>
        <p:origin x="2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D40B6-454C-44C0-9610-5E0C8835EFDC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508F4-1ACC-4A10-B414-AF4C137787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69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hiscentral.ddns.net</a:t>
            </a:r>
            <a:r>
              <a:rPr lang="it-IT" dirty="0"/>
              <a:t>:8088/</a:t>
            </a:r>
            <a:r>
              <a:rPr lang="it-IT" dirty="0" err="1"/>
              <a:t>ontology</a:t>
            </a:r>
            <a:r>
              <a:rPr lang="it-IT" dirty="0"/>
              <a:t>/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D2D1-BA41-4528-B3EB-134809850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87218-930E-4EA2-B430-47345163D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22048-6723-47AB-92D4-285EDBD1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645B-917C-4605-862A-CBF9F653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7058B-6A20-4B87-B14B-25C811C8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496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82FB-3A7F-4110-BA37-E20BCE24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5B97-6CA6-488E-ABE1-40CF0019C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E6E9B-6E3F-4BC9-BFC3-A2F666B7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7F4BB-173B-45A5-B979-BA422C37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05E9-DE51-4D8D-B896-7B7FC540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15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7E19-4036-48C0-920A-D71B4930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3E6E2-D306-4678-9605-48842C2C3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ED498-BF37-4280-919E-8732D72D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FFDF8-46CB-4D8D-9A8E-2AD6FD17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769BF-C3DB-4735-81F1-2A6C1710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118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E1CB-E775-400B-92C7-90BE96C9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744C9-9A94-4B3E-905B-2CB1AD8B6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2645C-8925-48AE-A67B-AEDA8DB57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A2538-CD17-46CF-9CAD-CF360953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73FA2-05DC-4627-B137-2981BB50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8A17E-1814-4349-B049-7F096E30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18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6638-8802-49AA-BAED-F80648CEB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FE483-0774-48DC-BF49-9EDAA07B5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0C3BA-4AD7-4FF9-A10F-DD6A69B43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A84F-E441-4669-9FD6-3615FBCF9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69A0D-668E-4E46-A46C-B86F54DEB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EB0B7F-06E2-433F-B516-D1CC4018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95C59-CEAB-4677-9390-010C226B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7E954-C275-4FEA-81F5-AA6FD018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96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8F48-1B2E-4E52-ABAF-90511255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7C428-B7CA-4AC0-BDC2-69351971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2749A-70BA-498E-B23D-8A7611D6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8B187-A81D-4F0F-A66E-4B0AE44F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7368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7655E-7EB2-47AD-B298-5510F571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F1D0D-871D-4DB6-8EA6-E1818B83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36762-0655-42D7-97D3-FFA0134F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933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C28B-0EC8-4FBC-83D4-657CEF46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AD13-3DF0-4F63-9526-7F0DB224F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45C34-5A34-43CF-B923-88A28D21A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906C7-C425-418B-9530-8B716A08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C1B86-F0CF-4300-B609-D912EEB4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77A19-DE39-43FD-B840-2E4BF0D6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179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D1C8-C5CF-46CE-85F7-BF9BAF92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43F9E-1AE4-400B-934E-02EC71F6B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BE58D-9317-4B62-8B69-CAB288D2F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9214D-D6E0-4D06-89F9-21C4AFD1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09F5C-AF0E-47F4-BD18-413105ED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818CE-79EA-40C8-AFE7-1EDAF149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03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40FEF-00F8-4F6D-836F-191B1A7E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0F70B-B421-4CF7-96D8-CBD4103D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9C425-669C-438B-9C0E-5A378475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2EAA3-5027-4E5F-B896-478B8AC9E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3274-9349-4ED0-BF3F-D436B3E6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532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BA002-F1AB-4EB1-A440-06EF6A82F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87E5-2372-47F7-B80B-63BE85FE8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2C27F-14C7-4429-911B-CD5E295F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E48D5-10B0-495C-ACAF-3AA96C7E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69042-BF9B-4CEF-8FD5-DD5A56F2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57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45E011-02E4-4B08-9F44-A5E1679A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74046-7DBC-40CA-B6F1-06D5F43F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4FAC7-5FC6-4DFF-8D21-54AFD1A1B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F9E76-6CF7-4DFF-8918-9B59C4048BBA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72545-5779-4F12-8C51-CF65B1557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057-F8EF-49F0-814B-C73C6B7BE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FF5F0-88AC-4690-BA15-AD1D5EF40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165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x.stackexchange.com/questions/89298/login-screen-branding-for-customer-and-administartor/89310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questions-answers-question-mark-1014060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commons.wikimedia.org/wiki/File:Data-transfer.svg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168E7B-6D42-4B3A-B7A1-17D4C49E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A030C2-9F23-4593-9F99-7B73C232A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9633FB-989B-43CC-A6F1-E3E335F0A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6432" y="1741337"/>
            <a:ext cx="6739136" cy="2387918"/>
          </a:xfrm>
        </p:spPr>
        <p:txBody>
          <a:bodyPr anchor="b">
            <a:normAutofit fontScale="90000"/>
          </a:bodyPr>
          <a:lstStyle/>
          <a:p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6600" dirty="0">
                <a:solidFill>
                  <a:srgbClr val="FFFFFF"/>
                </a:solidFill>
              </a:rPr>
              <a:t>Interoperability Directions</a:t>
            </a:r>
            <a:endParaRPr lang="en-AU" sz="6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1A652-920F-49F8-B34B-68986BDA1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9559" y="4200522"/>
            <a:ext cx="6740685" cy="68207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Rob Atkinson </a:t>
            </a:r>
          </a:p>
          <a:p>
            <a:r>
              <a:rPr lang="en-US" dirty="0">
                <a:solidFill>
                  <a:srgbClr val="FFFFFF"/>
                </a:solidFill>
              </a:rPr>
              <a:t>(</a:t>
            </a:r>
            <a:r>
              <a:rPr lang="en-US" dirty="0" err="1">
                <a:solidFill>
                  <a:srgbClr val="FFFFFF"/>
                </a:solidFill>
              </a:rPr>
              <a:t>Metalinkage</a:t>
            </a:r>
            <a:r>
              <a:rPr lang="en-US" dirty="0">
                <a:solidFill>
                  <a:srgbClr val="FFFFFF"/>
                </a:solidFill>
              </a:rPr>
              <a:t> and OGC)</a:t>
            </a:r>
            <a:endParaRPr lang="en-A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96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CF97-D0AB-4D24-8C07-F0A64B2E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037D-016C-4B44-BACE-0AD945E6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OGC and WMO Naming Authority and code registries</a:t>
            </a:r>
          </a:p>
          <a:p>
            <a:r>
              <a:rPr lang="en-AU" dirty="0"/>
              <a:t>Publishing domain ontologies</a:t>
            </a:r>
          </a:p>
          <a:p>
            <a:pPr lvl="1"/>
            <a:r>
              <a:rPr lang="en-AU" dirty="0"/>
              <a:t> (</a:t>
            </a:r>
            <a:r>
              <a:rPr lang="en-AU" dirty="0" err="1"/>
              <a:t>eg</a:t>
            </a:r>
            <a:r>
              <a:rPr lang="en-AU" dirty="0"/>
              <a:t> </a:t>
            </a:r>
            <a:r>
              <a:rPr lang="en-AU" dirty="0" err="1"/>
              <a:t>HY_Features</a:t>
            </a:r>
            <a:r>
              <a:rPr lang="en-AU" dirty="0"/>
              <a:t>) as linked data</a:t>
            </a:r>
          </a:p>
          <a:p>
            <a:r>
              <a:rPr lang="en-AU" dirty="0"/>
              <a:t>Practical data sharing using linked data</a:t>
            </a:r>
          </a:p>
          <a:p>
            <a:pPr lvl="1"/>
            <a:r>
              <a:rPr lang="en-US" dirty="0"/>
              <a:t>profiles</a:t>
            </a:r>
            <a:endParaRPr lang="en-AU" dirty="0"/>
          </a:p>
          <a:p>
            <a:pPr lvl="1"/>
            <a:r>
              <a:rPr lang="en-AU" dirty="0" err="1"/>
              <a:t>HY_Features</a:t>
            </a:r>
            <a:r>
              <a:rPr lang="en-AU" dirty="0"/>
              <a:t> profiles</a:t>
            </a:r>
          </a:p>
        </p:txBody>
      </p:sp>
    </p:spTree>
    <p:extLst>
      <p:ext uri="{BB962C8B-B14F-4D97-AF65-F5344CB8AC3E}">
        <p14:creationId xmlns:p14="http://schemas.microsoft.com/office/powerpoint/2010/main" val="85002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0E6D-ABFF-4917-B695-9A31CA25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Naming Authority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BDA98-AD9C-4267-8207-D3245229B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Manages </a:t>
            </a:r>
            <a:r>
              <a:rPr lang="en-US" b="1" i="1" dirty="0"/>
              <a:t>identifiers</a:t>
            </a:r>
            <a:r>
              <a:rPr lang="en-US" dirty="0"/>
              <a:t> in OGC scope</a:t>
            </a:r>
          </a:p>
          <a:p>
            <a:pPr lvl="1"/>
            <a:r>
              <a:rPr lang="en-US" dirty="0"/>
              <a:t>Many, many (many) independent activities</a:t>
            </a:r>
          </a:p>
          <a:p>
            <a:pPr lvl="2"/>
            <a:r>
              <a:rPr lang="en-US" dirty="0"/>
              <a:t>Inconsistency and impossibility to use those identifiers for any run-time actions</a:t>
            </a:r>
          </a:p>
          <a:p>
            <a:pPr lvl="1"/>
            <a:r>
              <a:rPr lang="en-US" dirty="0"/>
              <a:t>Common needs to define patterns</a:t>
            </a:r>
          </a:p>
          <a:p>
            <a:pPr lvl="2"/>
            <a:r>
              <a:rPr lang="en-US" dirty="0"/>
              <a:t>Terms</a:t>
            </a:r>
          </a:p>
          <a:p>
            <a:pPr lvl="2"/>
            <a:r>
              <a:rPr lang="en-US" dirty="0"/>
              <a:t>Specification components (requirements, “conformance classes”)</a:t>
            </a:r>
          </a:p>
          <a:p>
            <a:pPr lvl="2"/>
            <a:r>
              <a:rPr lang="en-US" dirty="0"/>
              <a:t>Ontologies</a:t>
            </a:r>
          </a:p>
          <a:p>
            <a:r>
              <a:rPr lang="en-US" dirty="0"/>
              <a:t>OGC takes responsibility for </a:t>
            </a:r>
            <a:r>
              <a:rPr lang="en-US" b="1" i="1" dirty="0"/>
              <a:t>dereferencing</a:t>
            </a:r>
            <a:r>
              <a:rPr lang="en-US" dirty="0"/>
              <a:t> </a:t>
            </a:r>
            <a:r>
              <a:rPr lang="en-US" dirty="0" err="1"/>
              <a:t>identitfiers</a:t>
            </a:r>
            <a:endParaRPr lang="en-US" dirty="0"/>
          </a:p>
          <a:p>
            <a:pPr lvl="1"/>
            <a:r>
              <a:rPr lang="en-US" dirty="0"/>
              <a:t>But what to?</a:t>
            </a:r>
          </a:p>
          <a:p>
            <a:pPr lvl="1"/>
            <a:r>
              <a:rPr lang="en-US" dirty="0"/>
              <a:t>OGC Definitions Server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180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117F-FF7A-4043-91D2-DFB44C03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Definitions Server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3B80C-3C44-48B7-A3F7-6ED44112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Linked Data</a:t>
            </a:r>
          </a:p>
          <a:p>
            <a:pPr lvl="1"/>
            <a:r>
              <a:rPr lang="en-US" dirty="0"/>
              <a:t>HTML view for browsers</a:t>
            </a:r>
          </a:p>
          <a:p>
            <a:pPr lvl="1"/>
            <a:r>
              <a:rPr lang="en-US" dirty="0"/>
              <a:t>Json view for web apps</a:t>
            </a:r>
          </a:p>
          <a:p>
            <a:pPr lvl="1"/>
            <a:r>
              <a:rPr lang="en-US" dirty="0"/>
              <a:t>RDF view for semantic apps</a:t>
            </a:r>
          </a:p>
          <a:p>
            <a:pPr lvl="1"/>
            <a:r>
              <a:rPr lang="en-US" dirty="0"/>
              <a:t>XML for web service integration</a:t>
            </a:r>
          </a:p>
          <a:p>
            <a:r>
              <a:rPr lang="en-US" dirty="0"/>
              <a:t>“Content-negotiation”</a:t>
            </a:r>
          </a:p>
          <a:p>
            <a:pPr lvl="1"/>
            <a:r>
              <a:rPr lang="en-US" dirty="0"/>
              <a:t>Web architecture best practice</a:t>
            </a:r>
          </a:p>
          <a:p>
            <a:r>
              <a:rPr lang="en-US" dirty="0"/>
              <a:t>Lower level APIs also available</a:t>
            </a:r>
          </a:p>
          <a:p>
            <a:pPr lvl="1"/>
            <a:r>
              <a:rPr lang="en-US" dirty="0"/>
              <a:t>SPARQL endpoint</a:t>
            </a:r>
          </a:p>
          <a:p>
            <a:pPr lvl="1"/>
            <a:r>
              <a:rPr lang="en-US" dirty="0"/>
              <a:t>REST (non-standard)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072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0C76-E6C6-4299-B33E-CFB0B653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Data (IMHO) is…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B22AA-A511-425B-BC99-E99C143C9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NOT! Converting data into RDF </a:t>
            </a:r>
          </a:p>
          <a:p>
            <a:pPr lvl="1"/>
            <a:r>
              <a:rPr lang="en-US" dirty="0"/>
              <a:t>(a new religion)</a:t>
            </a:r>
          </a:p>
          <a:p>
            <a:r>
              <a:rPr lang="en-US" dirty="0"/>
              <a:t>NOT! Web scale computable (Semantic Web)</a:t>
            </a:r>
          </a:p>
          <a:p>
            <a:pPr lvl="1"/>
            <a:r>
              <a:rPr lang="en-US" dirty="0"/>
              <a:t>Another religion</a:t>
            </a:r>
          </a:p>
          <a:p>
            <a:r>
              <a:rPr lang="en-US" dirty="0"/>
              <a:t>Forcing unambiguous identifiers </a:t>
            </a:r>
          </a:p>
          <a:p>
            <a:r>
              <a:rPr lang="en-US" dirty="0"/>
              <a:t>A way to link data and services using these identifiers</a:t>
            </a:r>
          </a:p>
          <a:p>
            <a:r>
              <a:rPr lang="en-US" dirty="0"/>
              <a:t>An “index” into heterogenous fit-for-purpose resources</a:t>
            </a:r>
          </a:p>
          <a:p>
            <a:pPr lvl="1"/>
            <a:r>
              <a:rPr lang="en-US" dirty="0"/>
              <a:t>XML, JSON, RDF</a:t>
            </a:r>
          </a:p>
          <a:p>
            <a:pPr lvl="1"/>
            <a:r>
              <a:rPr lang="en-US" dirty="0"/>
              <a:t>Different profiles for </a:t>
            </a:r>
            <a:r>
              <a:rPr lang="en-US"/>
              <a:t>different communities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207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D733-17D4-4B4A-9D3D-3A53D943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AE125-9E09-4EC1-9E5E-7565CA2CF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organized into “</a:t>
            </a:r>
            <a:r>
              <a:rPr lang="en-US" dirty="0" err="1"/>
              <a:t>ConceptSchemes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SKOS standard baseline</a:t>
            </a:r>
          </a:p>
          <a:p>
            <a:pPr lvl="1"/>
            <a:r>
              <a:rPr lang="en-US" dirty="0"/>
              <a:t>Users can download a coherent subset – a “register”</a:t>
            </a:r>
          </a:p>
          <a:p>
            <a:pPr lvl="1"/>
            <a:r>
              <a:rPr lang="en-US" dirty="0"/>
              <a:t>Or access definition by definition</a:t>
            </a:r>
          </a:p>
          <a:p>
            <a:r>
              <a:rPr lang="en-US" dirty="0"/>
              <a:t>i.e. information space is </a:t>
            </a:r>
            <a:r>
              <a:rPr lang="en-US" b="1" dirty="0"/>
              <a:t>modular</a:t>
            </a:r>
          </a:p>
          <a:p>
            <a:pPr lvl="1"/>
            <a:r>
              <a:rPr lang="en-US" dirty="0"/>
              <a:t>we are working through devolving and delegating governance to working groups</a:t>
            </a:r>
          </a:p>
          <a:p>
            <a:pPr lvl="1"/>
            <a:r>
              <a:rPr lang="en-US" dirty="0"/>
              <a:t>WG can make up their own rules once they have a base URI</a:t>
            </a:r>
            <a:endParaRPr lang="en-AU" dirty="0"/>
          </a:p>
          <a:p>
            <a:r>
              <a:rPr lang="en-US" dirty="0"/>
              <a:t>R</a:t>
            </a:r>
            <a:r>
              <a:rPr lang="en-AU" dirty="0"/>
              <a:t>DF store can hold information from other namespaces</a:t>
            </a:r>
          </a:p>
          <a:p>
            <a:r>
              <a:rPr lang="en-US" dirty="0"/>
              <a:t>A</a:t>
            </a:r>
            <a:r>
              <a:rPr lang="en-AU" dirty="0" err="1"/>
              <a:t>nd</a:t>
            </a:r>
            <a:r>
              <a:rPr lang="en-AU" dirty="0"/>
              <a:t> we can hold richer data models:</a:t>
            </a:r>
          </a:p>
          <a:p>
            <a:pPr lvl="1"/>
            <a:r>
              <a:rPr lang="en-US" dirty="0"/>
              <a:t>Application Schema</a:t>
            </a:r>
          </a:p>
          <a:p>
            <a:pPr lvl="1"/>
            <a:r>
              <a:rPr lang="en-US" dirty="0"/>
              <a:t>Profile descriptions</a:t>
            </a:r>
          </a:p>
          <a:p>
            <a:pPr lvl="1"/>
            <a:r>
              <a:rPr lang="en-US" dirty="0"/>
              <a:t>Variable definitions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98874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7D3F-6D3A-4430-BD95-5DBB47EE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</a:t>
            </a:r>
            <a:r>
              <a:rPr lang="en-US" dirty="0" err="1"/>
              <a:t>organisation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0380F-642E-411E-B5D9-E8F7507D8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0837"/>
            <a:ext cx="8193295" cy="450039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10912-11D1-4946-82A4-45D77B58F3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755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1543-39BB-4D0C-98EC-6C78F8DA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B4379-DD2C-4F71-8470-9926C9EEE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109E6-4496-434E-9A18-B7C89983DF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D68E7-F3CC-4D4F-B8DC-9DCC5A06C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3568"/>
            <a:ext cx="9144000" cy="625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7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153C-C23B-4768-9FBF-B9A33BF5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negotiation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23471-65D2-4BB5-8413-5ABF67A779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  <p:pic>
        <p:nvPicPr>
          <p:cNvPr id="2050" name="Picture 2" descr="enter image description here">
            <a:extLst>
              <a:ext uri="{FF2B5EF4-FFF2-40B4-BE49-F238E27FC236}">
                <a16:creationId xmlns:a16="http://schemas.microsoft.com/office/drawing/2014/main" id="{1A974F8C-0DC6-4FE8-859D-5A5C3D552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10" y="1676401"/>
            <a:ext cx="8094053" cy="54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8D168-3CB9-4A99-B094-246B240DF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36" y="1573211"/>
            <a:ext cx="10515600" cy="4351338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095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C237-F9FE-4653-8630-DBBB6E4B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negotiation concerns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B128-5FA9-4E60-9D49-C74C28CD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Profiles 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GML SF vs GML nested (profile)</a:t>
            </a:r>
            <a:endParaRPr lang="en-AU" dirty="0"/>
          </a:p>
          <a:p>
            <a:r>
              <a:rPr lang="en-US" dirty="0"/>
              <a:t>P</a:t>
            </a:r>
            <a:r>
              <a:rPr lang="en-AU" dirty="0" err="1"/>
              <a:t>oint</a:t>
            </a:r>
            <a:r>
              <a:rPr lang="en-AU" dirty="0"/>
              <a:t> vs polygon representation (geometry type)</a:t>
            </a:r>
          </a:p>
          <a:p>
            <a:r>
              <a:rPr lang="en-US" dirty="0"/>
              <a:t>G</a:t>
            </a:r>
            <a:r>
              <a:rPr lang="en-AU" dirty="0" err="1"/>
              <a:t>eneralised</a:t>
            </a:r>
            <a:r>
              <a:rPr lang="en-AU" dirty="0"/>
              <a:t> outline vs detailed</a:t>
            </a:r>
          </a:p>
          <a:p>
            <a:r>
              <a:rPr lang="en-US" dirty="0"/>
              <a:t>D</a:t>
            </a:r>
            <a:r>
              <a:rPr lang="en-AU" dirty="0"/>
              <a:t>GGS refinement level (resolution)</a:t>
            </a:r>
          </a:p>
          <a:p>
            <a:r>
              <a:rPr lang="en-US" dirty="0"/>
              <a:t>C</a:t>
            </a:r>
            <a:r>
              <a:rPr lang="en-AU" dirty="0" err="1"/>
              <a:t>entroid</a:t>
            </a:r>
            <a:r>
              <a:rPr lang="en-AU" dirty="0"/>
              <a:t> vs property street address (geometry semantics)</a:t>
            </a:r>
          </a:p>
          <a:p>
            <a:r>
              <a:rPr lang="en-US" dirty="0"/>
              <a:t>C</a:t>
            </a:r>
            <a:r>
              <a:rPr lang="en-AU" dirty="0"/>
              <a:t>RS</a:t>
            </a:r>
          </a:p>
          <a:p>
            <a:r>
              <a:rPr lang="en-US" dirty="0"/>
              <a:t>…</a:t>
            </a:r>
            <a:r>
              <a:rPr lang="en-AU" dirty="0"/>
              <a:t> 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Am working to make sure W3C does not preclude OGC specific negotiation domains in future</a:t>
            </a:r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BD27D-FCE8-4E22-B653-BD623FD003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212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DA84-2814-4C26-8F5E-4813D023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DB5837-857F-4002-BEC7-6979DDD18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55" y="201705"/>
            <a:ext cx="12064534" cy="54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18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01D1-2407-478F-90F0-3E500A0D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835" y="0"/>
            <a:ext cx="10515600" cy="1325563"/>
          </a:xfrm>
        </p:spPr>
        <p:txBody>
          <a:bodyPr/>
          <a:lstStyle/>
          <a:p>
            <a:r>
              <a:rPr lang="en-AU" dirty="0"/>
              <a:t>http://codes.wmo.int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8E155-1281-49E7-B488-E7B12679E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06" y="1234355"/>
            <a:ext cx="8430301" cy="547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4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5A8331-2728-48A0-8932-E7036D2AF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0" y="1825625"/>
            <a:ext cx="12192000" cy="4721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A926FC-426E-4BB3-93CF-753E2261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definitions – in different forms..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0563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9990-65B9-4B13-B09D-7ACCDB48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schema and choice of format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D1BDC5-1981-47C1-B6BE-03EEC3E62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5747"/>
            <a:ext cx="10515600" cy="363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7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5D88-195E-47D6-89E6-57CE2306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+ model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0EF676-8879-4060-AA89-8CEE525BF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6497"/>
            <a:ext cx="7580247" cy="49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6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49E3-E1BD-4DB0-BC8E-C36BABD0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84F800-EC3E-4360-9F72-DB45F1EE6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7560" y="1825625"/>
            <a:ext cx="60168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8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3B65-7CD7-4C16-9914-FD3187BD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5B28-8A98-48E6-AA52-C77EF9332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Emerging “best practice”</a:t>
            </a:r>
          </a:p>
          <a:p>
            <a:pPr lvl="1"/>
            <a:r>
              <a:rPr lang="en-US" dirty="0"/>
              <a:t>Current offerings diverse (not very interoperable)</a:t>
            </a:r>
          </a:p>
          <a:p>
            <a:pPr lvl="1"/>
            <a:r>
              <a:rPr lang="en-US" dirty="0"/>
              <a:t>OGC </a:t>
            </a:r>
            <a:r>
              <a:rPr lang="en-US" dirty="0" err="1"/>
              <a:t>defs</a:t>
            </a:r>
            <a:r>
              <a:rPr lang="en-US" dirty="0"/>
              <a:t> server at the “most flexible” end of the spectrum</a:t>
            </a:r>
          </a:p>
          <a:p>
            <a:pPr lvl="2"/>
            <a:r>
              <a:rPr lang="en-US" dirty="0"/>
              <a:t>Tracking (and driving) W3C standards</a:t>
            </a:r>
          </a:p>
          <a:p>
            <a:r>
              <a:rPr lang="en-US" dirty="0"/>
              <a:t>Lots to learn for all parties</a:t>
            </a:r>
          </a:p>
          <a:p>
            <a:r>
              <a:rPr lang="en-US" dirty="0"/>
              <a:t>Need to have some good clients</a:t>
            </a:r>
          </a:p>
          <a:p>
            <a:pPr lvl="1"/>
            <a:r>
              <a:rPr lang="en-US" dirty="0"/>
              <a:t>Out of current OGC roadmap</a:t>
            </a:r>
          </a:p>
          <a:p>
            <a:pPr lvl="2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381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D933-6E86-47CB-BA12-4ECB3C4A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C1DE-1C96-459E-91BD-70202FF9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Definitions Server (OGC-NA)</a:t>
            </a:r>
          </a:p>
          <a:p>
            <a:r>
              <a:rPr lang="en-US" dirty="0"/>
              <a:t>Citizen Science IE</a:t>
            </a:r>
          </a:p>
          <a:p>
            <a:r>
              <a:rPr lang="en-US" dirty="0"/>
              <a:t>ELFIE 2</a:t>
            </a:r>
          </a:p>
          <a:p>
            <a:r>
              <a:rPr lang="en-US" dirty="0"/>
              <a:t>(??) dimensional synthesis across coverages and observations</a:t>
            </a:r>
          </a:p>
          <a:p>
            <a:pPr lvl="1"/>
            <a:r>
              <a:rPr lang="en-US" dirty="0"/>
              <a:t>E.g. space and in-situ (COPERNICUS &amp; INSPIRE)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Datacubes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Standards relevant to OSCAR design – can the _metadata_ be shared and federated?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1614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549F-248E-4131-B28F-F3B17784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Domain Ontologies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AAC2-9E5B-4A69-A484-7B92B422E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definitions to be</a:t>
            </a:r>
          </a:p>
          <a:p>
            <a:pPr lvl="1"/>
            <a:r>
              <a:rPr lang="en-US" dirty="0"/>
              <a:t>Simple and standard</a:t>
            </a:r>
          </a:p>
          <a:p>
            <a:pPr lvl="1"/>
            <a:r>
              <a:rPr lang="en-US" dirty="0"/>
              <a:t>Rich models if available</a:t>
            </a:r>
          </a:p>
          <a:p>
            <a:pPr lvl="1"/>
            <a:r>
              <a:rPr lang="en-US" dirty="0"/>
              <a:t>Packaged in a way to suit different systems</a:t>
            </a:r>
          </a:p>
          <a:p>
            <a:r>
              <a:rPr lang="en-US" dirty="0"/>
              <a:t>Reconciled by Linked Data and content-negotiation </a:t>
            </a:r>
          </a:p>
          <a:p>
            <a:pPr lvl="1"/>
            <a:r>
              <a:rPr lang="en-US" dirty="0"/>
              <a:t>From user perspective</a:t>
            </a:r>
          </a:p>
          <a:p>
            <a:r>
              <a:rPr lang="en-US" dirty="0"/>
              <a:t>Maintenance headache?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2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5AC7-349D-4AAE-8840-8F465B0A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51B66-1AAA-4851-9B4F-2BD9AE80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4F4D1-2E1D-4DEE-9A5C-6A545265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728" y="168725"/>
            <a:ext cx="7992528" cy="655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26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2F4B-A33F-4E24-92F6-3CF1163E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138" y="143657"/>
            <a:ext cx="7886700" cy="994172"/>
          </a:xfrm>
        </p:spPr>
        <p:txBody>
          <a:bodyPr/>
          <a:lstStyle/>
          <a:p>
            <a:r>
              <a:rPr lang="en-US" dirty="0"/>
              <a:t>Automated inferencing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7E83F-3ACF-45C3-8DBF-A25E3F370A88}"/>
              </a:ext>
            </a:extLst>
          </p:cNvPr>
          <p:cNvSpPr txBox="1"/>
          <p:nvPr/>
        </p:nvSpPr>
        <p:spPr>
          <a:xfrm>
            <a:off x="1429305" y="2768060"/>
            <a:ext cx="1409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</a:t>
            </a:r>
          </a:p>
          <a:p>
            <a:r>
              <a:rPr lang="en-US" dirty="0"/>
              <a:t>Document(s)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96A6A1DF-CF2F-485D-859F-6B45FC916505}"/>
              </a:ext>
            </a:extLst>
          </p:cNvPr>
          <p:cNvSpPr/>
          <p:nvPr/>
        </p:nvSpPr>
        <p:spPr>
          <a:xfrm>
            <a:off x="1429305" y="1872317"/>
            <a:ext cx="1140459" cy="70275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Ontology</a:t>
            </a:r>
            <a:endParaRPr lang="en-AU" dirty="0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A8A991E4-394D-46FE-8263-29EA3BCAB017}"/>
              </a:ext>
            </a:extLst>
          </p:cNvPr>
          <p:cNvSpPr/>
          <p:nvPr/>
        </p:nvSpPr>
        <p:spPr>
          <a:xfrm>
            <a:off x="3048000" y="1905759"/>
            <a:ext cx="746090" cy="64279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  <a:endParaRPr lang="en-AU" dirty="0"/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41115A4A-6DAF-4823-9010-5BFE308C4B7F}"/>
              </a:ext>
            </a:extLst>
          </p:cNvPr>
          <p:cNvSpPr/>
          <p:nvPr/>
        </p:nvSpPr>
        <p:spPr>
          <a:xfrm>
            <a:off x="8417506" y="4071345"/>
            <a:ext cx="1188848" cy="99417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public</a:t>
            </a:r>
          </a:p>
          <a:p>
            <a:pPr algn="ctr"/>
            <a:r>
              <a:rPr lang="en-US" dirty="0"/>
              <a:t>repository</a:t>
            </a:r>
            <a:endParaRPr lang="en-AU" dirty="0"/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90ADCF9A-A277-40D9-B89B-D9E730772A00}"/>
              </a:ext>
            </a:extLst>
          </p:cNvPr>
          <p:cNvSpPr/>
          <p:nvPr/>
        </p:nvSpPr>
        <p:spPr>
          <a:xfrm>
            <a:off x="4161463" y="4001443"/>
            <a:ext cx="978144" cy="646811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 rules for SKOS</a:t>
            </a:r>
            <a:endParaRPr lang="en-AU" dirty="0"/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8499AAEE-966D-478F-8E46-A77C8E29B663}"/>
              </a:ext>
            </a:extLst>
          </p:cNvPr>
          <p:cNvSpPr/>
          <p:nvPr/>
        </p:nvSpPr>
        <p:spPr>
          <a:xfrm>
            <a:off x="4861415" y="4568431"/>
            <a:ext cx="1059473" cy="934268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 rules for metadata and links</a:t>
            </a:r>
            <a:endParaRPr lang="en-AU" dirty="0"/>
          </a:p>
        </p:txBody>
      </p: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51AECE3A-F0E1-4FC4-944B-3E57D29F6DD7}"/>
              </a:ext>
            </a:extLst>
          </p:cNvPr>
          <p:cNvSpPr/>
          <p:nvPr/>
        </p:nvSpPr>
        <p:spPr>
          <a:xfrm>
            <a:off x="6179212" y="4041393"/>
            <a:ext cx="1055078" cy="99417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inferencing</a:t>
            </a:r>
          </a:p>
          <a:p>
            <a:pPr algn="ctr"/>
            <a:r>
              <a:rPr lang="en-US" dirty="0"/>
              <a:t>repository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CC0A4F-233F-49ED-8947-E35DDBE062A9}"/>
              </a:ext>
            </a:extLst>
          </p:cNvPr>
          <p:cNvCxnSpPr>
            <a:cxnSpLocks/>
            <a:stCxn id="33" idx="3"/>
            <a:endCxn id="11" idx="3"/>
          </p:cNvCxnSpPr>
          <p:nvPr/>
        </p:nvCxnSpPr>
        <p:spPr>
          <a:xfrm flipH="1" flipV="1">
            <a:off x="6706751" y="5035566"/>
            <a:ext cx="1000754" cy="784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749D91-EF2A-4F2D-8A4C-50571FF0D7A6}"/>
              </a:ext>
            </a:extLst>
          </p:cNvPr>
          <p:cNvSpPr/>
          <p:nvPr/>
        </p:nvSpPr>
        <p:spPr>
          <a:xfrm>
            <a:off x="5442859" y="2768061"/>
            <a:ext cx="3707841" cy="8777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Service Chain</a:t>
            </a:r>
            <a:endParaRPr lang="en-A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361BE5-014C-4C27-95E8-B735F82A55E3}"/>
              </a:ext>
            </a:extLst>
          </p:cNvPr>
          <p:cNvSpPr/>
          <p:nvPr/>
        </p:nvSpPr>
        <p:spPr>
          <a:xfrm>
            <a:off x="5631265" y="2871935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A46CCE-53EF-41D0-81BF-5A855ABED6BA}"/>
              </a:ext>
            </a:extLst>
          </p:cNvPr>
          <p:cNvSpPr/>
          <p:nvPr/>
        </p:nvSpPr>
        <p:spPr>
          <a:xfrm>
            <a:off x="8467412" y="2871935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165CA7-E440-4902-9639-323DAFB3125B}"/>
              </a:ext>
            </a:extLst>
          </p:cNvPr>
          <p:cNvSpPr/>
          <p:nvPr/>
        </p:nvSpPr>
        <p:spPr>
          <a:xfrm>
            <a:off x="7707505" y="2871935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51F2FB-7BDD-486D-A853-F9E137C438D4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>
            <a:off x="5139608" y="4324847"/>
            <a:ext cx="1039605" cy="213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4A3D5AB-ABC2-421A-8DD2-78DA70B0F2A3}"/>
              </a:ext>
            </a:extLst>
          </p:cNvPr>
          <p:cNvCxnSpPr>
            <a:cxnSpLocks/>
            <a:stCxn id="10" idx="3"/>
            <a:endCxn id="11" idx="2"/>
          </p:cNvCxnSpPr>
          <p:nvPr/>
        </p:nvCxnSpPr>
        <p:spPr>
          <a:xfrm flipV="1">
            <a:off x="5920886" y="4538479"/>
            <a:ext cx="258326" cy="49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48A4DB3-E9F9-40E2-B419-26A4F818CE2B}"/>
              </a:ext>
            </a:extLst>
          </p:cNvPr>
          <p:cNvSpPr/>
          <p:nvPr/>
        </p:nvSpPr>
        <p:spPr>
          <a:xfrm>
            <a:off x="6461353" y="2871935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598D15-AD85-40B8-A3FC-27BCCC0B9F71}"/>
              </a:ext>
            </a:extLst>
          </p:cNvPr>
          <p:cNvCxnSpPr>
            <a:cxnSpLocks/>
            <a:stCxn id="19" idx="2"/>
            <a:endCxn id="49" idx="3"/>
          </p:cNvCxnSpPr>
          <p:nvPr/>
        </p:nvCxnSpPr>
        <p:spPr>
          <a:xfrm>
            <a:off x="5917643" y="3148934"/>
            <a:ext cx="784712" cy="603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07257FA-7E0C-4956-91E7-DD34882A0077}"/>
              </a:ext>
            </a:extLst>
          </p:cNvPr>
          <p:cNvCxnSpPr>
            <a:cxnSpLocks/>
            <a:stCxn id="19" idx="3"/>
            <a:endCxn id="31" idx="1"/>
          </p:cNvCxnSpPr>
          <p:nvPr/>
        </p:nvCxnSpPr>
        <p:spPr>
          <a:xfrm>
            <a:off x="6204022" y="3010433"/>
            <a:ext cx="257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6999427-91D7-415B-B61D-05228A81DBC6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993884" y="3148934"/>
            <a:ext cx="882293" cy="560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Top Corners Snipped 48">
            <a:extLst>
              <a:ext uri="{FF2B5EF4-FFF2-40B4-BE49-F238E27FC236}">
                <a16:creationId xmlns:a16="http://schemas.microsoft.com/office/drawing/2014/main" id="{5D65962D-B9F2-40E4-A467-D5BD8A2A3160}"/>
              </a:ext>
            </a:extLst>
          </p:cNvPr>
          <p:cNvSpPr/>
          <p:nvPr/>
        </p:nvSpPr>
        <p:spPr>
          <a:xfrm>
            <a:off x="6107931" y="3751973"/>
            <a:ext cx="1188848" cy="342355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 API</a:t>
            </a:r>
            <a:endParaRPr lang="en-AU" dirty="0"/>
          </a:p>
        </p:txBody>
      </p:sp>
      <p:sp>
        <p:nvSpPr>
          <p:cNvPr id="52" name="Rectangle: Top Corners Snipped 51">
            <a:extLst>
              <a:ext uri="{FF2B5EF4-FFF2-40B4-BE49-F238E27FC236}">
                <a16:creationId xmlns:a16="http://schemas.microsoft.com/office/drawing/2014/main" id="{5A293A2A-1F53-4BD5-9104-EB6EB144B5BC}"/>
              </a:ext>
            </a:extLst>
          </p:cNvPr>
          <p:cNvSpPr/>
          <p:nvPr/>
        </p:nvSpPr>
        <p:spPr>
          <a:xfrm>
            <a:off x="8378860" y="3713508"/>
            <a:ext cx="1188848" cy="342355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 API</a:t>
            </a:r>
            <a:endParaRPr lang="en-AU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4BD01F-848F-46BE-992B-6639E079EA12}"/>
              </a:ext>
            </a:extLst>
          </p:cNvPr>
          <p:cNvCxnSpPr>
            <a:cxnSpLocks/>
            <a:stCxn id="20" idx="2"/>
            <a:endCxn id="52" idx="3"/>
          </p:cNvCxnSpPr>
          <p:nvPr/>
        </p:nvCxnSpPr>
        <p:spPr>
          <a:xfrm>
            <a:off x="8753791" y="3148933"/>
            <a:ext cx="219494" cy="564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378A48A-209D-49FE-BB43-1BF02C7F1429}"/>
              </a:ext>
            </a:extLst>
          </p:cNvPr>
          <p:cNvCxnSpPr>
            <a:cxnSpLocks/>
            <a:stCxn id="31" idx="3"/>
            <a:endCxn id="21" idx="1"/>
          </p:cNvCxnSpPr>
          <p:nvPr/>
        </p:nvCxnSpPr>
        <p:spPr>
          <a:xfrm>
            <a:off x="7034110" y="3010433"/>
            <a:ext cx="6733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5295799-FF0B-4B31-9BF8-4A887F8DDAE9}"/>
              </a:ext>
            </a:extLst>
          </p:cNvPr>
          <p:cNvCxnSpPr>
            <a:cxnSpLocks/>
            <a:stCxn id="49" idx="3"/>
            <a:endCxn id="31" idx="2"/>
          </p:cNvCxnSpPr>
          <p:nvPr/>
        </p:nvCxnSpPr>
        <p:spPr>
          <a:xfrm flipV="1">
            <a:off x="6702356" y="3148934"/>
            <a:ext cx="45377" cy="603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B27EB6-1FB3-48B0-B750-EC16EBF846D6}"/>
              </a:ext>
            </a:extLst>
          </p:cNvPr>
          <p:cNvCxnSpPr>
            <a:stCxn id="6" idx="4"/>
            <a:endCxn id="18" idx="1"/>
          </p:cNvCxnSpPr>
          <p:nvPr/>
        </p:nvCxnSpPr>
        <p:spPr>
          <a:xfrm>
            <a:off x="3794090" y="2227156"/>
            <a:ext cx="1648768" cy="979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>
            <a:extLst>
              <a:ext uri="{FF2B5EF4-FFF2-40B4-BE49-F238E27FC236}">
                <a16:creationId xmlns:a16="http://schemas.microsoft.com/office/drawing/2014/main" id="{401BE479-1085-451B-9881-B80BB6C45CC9}"/>
              </a:ext>
            </a:extLst>
          </p:cNvPr>
          <p:cNvSpPr/>
          <p:nvPr/>
        </p:nvSpPr>
        <p:spPr>
          <a:xfrm>
            <a:off x="6579489" y="5468686"/>
            <a:ext cx="1128016" cy="70275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AppSchema</a:t>
            </a:r>
            <a:r>
              <a:rPr lang="en-US" dirty="0"/>
              <a:t> </a:t>
            </a:r>
            <a:r>
              <a:rPr lang="en-US" dirty="0" err="1"/>
              <a:t>txform</a:t>
            </a:r>
            <a:endParaRPr lang="en-A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A3042-260F-4216-9FD9-0A6AA0B1BBED}"/>
              </a:ext>
            </a:extLst>
          </p:cNvPr>
          <p:cNvSpPr txBox="1"/>
          <p:nvPr/>
        </p:nvSpPr>
        <p:spPr>
          <a:xfrm>
            <a:off x="4781669" y="5884802"/>
            <a:ext cx="1966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Specific rules</a:t>
            </a:r>
            <a:endParaRPr lang="en-AU" sz="2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1A207F-87D1-4DAD-A98E-19705AE3E620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2569764" y="2223696"/>
            <a:ext cx="478236" cy="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ocument 40">
            <a:extLst>
              <a:ext uri="{FF2B5EF4-FFF2-40B4-BE49-F238E27FC236}">
                <a16:creationId xmlns:a16="http://schemas.microsoft.com/office/drawing/2014/main" id="{6464192F-13B6-4A83-9CCC-E8914F9B0062}"/>
              </a:ext>
            </a:extLst>
          </p:cNvPr>
          <p:cNvSpPr/>
          <p:nvPr/>
        </p:nvSpPr>
        <p:spPr>
          <a:xfrm>
            <a:off x="4272326" y="1452591"/>
            <a:ext cx="1130284" cy="70275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Metadata</a:t>
            </a:r>
            <a:endParaRPr lang="en-A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8CA8E0-D402-49C8-B3D6-22723E1D8700}"/>
              </a:ext>
            </a:extLst>
          </p:cNvPr>
          <p:cNvSpPr txBox="1"/>
          <p:nvPr/>
        </p:nvSpPr>
        <p:spPr>
          <a:xfrm>
            <a:off x="5656614" y="1293303"/>
            <a:ext cx="2354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a </a:t>
            </a:r>
            <a:r>
              <a:rPr lang="en-US" sz="1600" dirty="0" err="1"/>
              <a:t>AppSchema</a:t>
            </a:r>
            <a:r>
              <a:rPr lang="en-US" sz="1600" dirty="0"/>
              <a:t> ;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sourceFile</a:t>
            </a:r>
            <a:r>
              <a:rPr lang="en-US" sz="1600" dirty="0"/>
              <a:t> &lt;URL&gt; ;</a:t>
            </a:r>
          </a:p>
          <a:p>
            <a:r>
              <a:rPr lang="en-US" sz="1600" dirty="0"/>
              <a:t>  user X ;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createDate</a:t>
            </a:r>
            <a:r>
              <a:rPr lang="en-US" sz="1600" dirty="0"/>
              <a:t> D .</a:t>
            </a:r>
            <a:endParaRPr lang="en-AU" sz="16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54B4FBE-CFBA-488C-A959-27354F1A07D5}"/>
              </a:ext>
            </a:extLst>
          </p:cNvPr>
          <p:cNvCxnSpPr>
            <a:cxnSpLocks/>
            <a:stCxn id="41" idx="3"/>
            <a:endCxn id="6" idx="2"/>
          </p:cNvCxnSpPr>
          <p:nvPr/>
        </p:nvCxnSpPr>
        <p:spPr>
          <a:xfrm flipH="1">
            <a:off x="3048000" y="1803970"/>
            <a:ext cx="2354610" cy="423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172853B-CCD9-4116-BA61-2E42471FEAF1}"/>
              </a:ext>
            </a:extLst>
          </p:cNvPr>
          <p:cNvSpPr txBox="1"/>
          <p:nvPr/>
        </p:nvSpPr>
        <p:spPr>
          <a:xfrm>
            <a:off x="6697685" y="2460329"/>
            <a:ext cx="4956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(Reusable) custom service chain (managed in CMS)</a:t>
            </a:r>
            <a:endParaRPr lang="en-AU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F33A36-5541-4AB6-BE33-66E24FEC27B4}"/>
              </a:ext>
            </a:extLst>
          </p:cNvPr>
          <p:cNvSpPr txBox="1"/>
          <p:nvPr/>
        </p:nvSpPr>
        <p:spPr>
          <a:xfrm>
            <a:off x="4003866" y="5357834"/>
            <a:ext cx="1694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Standard rules</a:t>
            </a:r>
            <a:endParaRPr lang="en-AU" sz="20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5AD02F4-2DEE-461C-A6F2-276D3A61C9A3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4837468" y="2108888"/>
            <a:ext cx="656849" cy="68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owchart: Document 57">
            <a:extLst>
              <a:ext uri="{FF2B5EF4-FFF2-40B4-BE49-F238E27FC236}">
                <a16:creationId xmlns:a16="http://schemas.microsoft.com/office/drawing/2014/main" id="{F56B08B6-4054-4494-B8F4-DBD332B88E51}"/>
              </a:ext>
            </a:extLst>
          </p:cNvPr>
          <p:cNvSpPr/>
          <p:nvPr/>
        </p:nvSpPr>
        <p:spPr>
          <a:xfrm>
            <a:off x="1225118" y="3766777"/>
            <a:ext cx="1311411" cy="702757"/>
          </a:xfrm>
          <a:prstGeom prst="flowChart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Additional Ontology</a:t>
            </a:r>
            <a:endParaRPr lang="en-AU" dirty="0"/>
          </a:p>
        </p:txBody>
      </p:sp>
      <p:sp>
        <p:nvSpPr>
          <p:cNvPr id="59" name="Flowchart: Document 58">
            <a:extLst>
              <a:ext uri="{FF2B5EF4-FFF2-40B4-BE49-F238E27FC236}">
                <a16:creationId xmlns:a16="http://schemas.microsoft.com/office/drawing/2014/main" id="{A2553446-20B6-468C-8F19-FBC522A5C325}"/>
              </a:ext>
            </a:extLst>
          </p:cNvPr>
          <p:cNvSpPr/>
          <p:nvPr/>
        </p:nvSpPr>
        <p:spPr>
          <a:xfrm>
            <a:off x="1630830" y="4832600"/>
            <a:ext cx="902782" cy="702757"/>
          </a:xfrm>
          <a:prstGeom prst="flowChart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 rules</a:t>
            </a:r>
            <a:endParaRPr lang="en-AU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268F627-103A-456C-86CD-EF3AC60EA387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2536529" y="2590224"/>
            <a:ext cx="746090" cy="15279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672CE5C-2F4D-4165-9604-5E21517D1909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2533612" y="2616742"/>
            <a:ext cx="890770" cy="25672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1BCFBAA-1CEA-4102-B84A-C373B6E2A2C3}"/>
              </a:ext>
            </a:extLst>
          </p:cNvPr>
          <p:cNvSpPr txBox="1"/>
          <p:nvPr/>
        </p:nvSpPr>
        <p:spPr>
          <a:xfrm>
            <a:off x="8522294" y="5102589"/>
            <a:ext cx="1966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Specific rules</a:t>
            </a:r>
            <a:endParaRPr lang="en-AU" sz="2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7B33A8-5114-43C0-BB53-17D7FB7D4EF3}"/>
              </a:ext>
            </a:extLst>
          </p:cNvPr>
          <p:cNvSpPr/>
          <p:nvPr/>
        </p:nvSpPr>
        <p:spPr bwMode="auto">
          <a:xfrm>
            <a:off x="3733801" y="2514600"/>
            <a:ext cx="4578177" cy="4165790"/>
          </a:xfrm>
          <a:prstGeom prst="ellipse">
            <a:avLst/>
          </a:prstGeom>
          <a:solidFill>
            <a:schemeClr val="accent6">
              <a:lumMod val="60000"/>
              <a:lumOff val="40000"/>
              <a:alpha val="78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ISOLATE 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FOR 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TESTING</a:t>
            </a:r>
            <a:endParaRPr lang="en-AU" sz="2400" dirty="0">
              <a:solidFill>
                <a:srgbClr val="002060"/>
              </a:solidFill>
            </a:endParaRP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239EDF7A-4EDD-490F-B71A-919C89A368D9}"/>
              </a:ext>
            </a:extLst>
          </p:cNvPr>
          <p:cNvSpPr/>
          <p:nvPr/>
        </p:nvSpPr>
        <p:spPr>
          <a:xfrm>
            <a:off x="10076155" y="3414391"/>
            <a:ext cx="1081511" cy="2578036"/>
          </a:xfrm>
          <a:prstGeom prst="flowChartInputOutpu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Linked Data</a:t>
            </a:r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7CED01D3-E9EC-40D9-9402-C41A4C36A7D7}"/>
              </a:ext>
            </a:extLst>
          </p:cNvPr>
          <p:cNvSpPr/>
          <p:nvPr/>
        </p:nvSpPr>
        <p:spPr>
          <a:xfrm>
            <a:off x="9883302" y="4324847"/>
            <a:ext cx="1770548" cy="626532"/>
          </a:xfrm>
          <a:prstGeom prst="stripedRightArrow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534546BD-B135-4C55-84D4-4E58BDC62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76674" y="5235979"/>
            <a:ext cx="648823" cy="648823"/>
          </a:xfrm>
          <a:prstGeom prst="rect">
            <a:avLst/>
          </a:prstGeom>
        </p:spPr>
      </p:pic>
      <p:pic>
        <p:nvPicPr>
          <p:cNvPr id="56" name="Picture 55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FF773EA1-F7EC-4375-9397-21FC73A3B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567738" y="4351518"/>
            <a:ext cx="648823" cy="648823"/>
          </a:xfrm>
          <a:prstGeom prst="rect">
            <a:avLst/>
          </a:prstGeom>
        </p:spPr>
      </p:pic>
      <p:pic>
        <p:nvPicPr>
          <p:cNvPr id="57" name="Picture 56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75A0E7B1-6593-4E3A-8E30-1BBCA9899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68490" y="3371755"/>
            <a:ext cx="648823" cy="64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2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6EB1-7009-4B4E-A3CA-504DD3D5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F295B4-CEEF-480D-91E7-47368D24F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00" y="1839655"/>
            <a:ext cx="11436800" cy="317869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4E00E-AFED-443B-A4E3-5E0162B8D2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144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Australian Government Identifiers work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9E96C-1A0D-46FB-B766-4C78699619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1219200"/>
            <a:ext cx="5946351" cy="456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80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FE85-F4F3-489B-A37B-4AA47E5A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60" y="235074"/>
            <a:ext cx="10515600" cy="1325563"/>
          </a:xfrm>
        </p:spPr>
        <p:txBody>
          <a:bodyPr/>
          <a:lstStyle/>
          <a:p>
            <a:r>
              <a:rPr lang="en-AU" dirty="0"/>
              <a:t>Loc-I Project Process Map  -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515EF-1B26-4AE2-85D9-9E096CA0E5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40471B-DE4B-404B-AC34-C6942C608AF0}"/>
              </a:ext>
            </a:extLst>
          </p:cNvPr>
          <p:cNvGrpSpPr/>
          <p:nvPr/>
        </p:nvGrpSpPr>
        <p:grpSpPr>
          <a:xfrm>
            <a:off x="2490589" y="839747"/>
            <a:ext cx="1877203" cy="2376759"/>
            <a:chOff x="2012717" y="1434834"/>
            <a:chExt cx="2310404" cy="29252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7BBCB0E-3A35-41B2-B811-308547BFB9A3}"/>
                </a:ext>
              </a:extLst>
            </p:cNvPr>
            <p:cNvGrpSpPr/>
            <p:nvPr/>
          </p:nvGrpSpPr>
          <p:grpSpPr>
            <a:xfrm>
              <a:off x="2012717" y="2108008"/>
              <a:ext cx="1759518" cy="2252070"/>
              <a:chOff x="2778963" y="2179539"/>
              <a:chExt cx="1555583" cy="2515934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E7B2CDD-285F-45DA-9036-366B46B77144}"/>
                  </a:ext>
                </a:extLst>
              </p:cNvPr>
              <p:cNvCxnSpPr/>
              <p:nvPr/>
            </p:nvCxnSpPr>
            <p:spPr>
              <a:xfrm flipV="1">
                <a:off x="2778963" y="2179539"/>
                <a:ext cx="1555583" cy="1236659"/>
              </a:xfrm>
              <a:prstGeom prst="line">
                <a:avLst/>
              </a:prstGeom>
              <a:noFill/>
              <a:ln w="28575" cap="flat" cmpd="sng" algn="ctr">
                <a:solidFill>
                  <a:srgbClr val="00A9CE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630C388-E762-4A34-A295-C086BFBB9687}"/>
                  </a:ext>
                </a:extLst>
              </p:cNvPr>
              <p:cNvCxnSpPr/>
              <p:nvPr/>
            </p:nvCxnSpPr>
            <p:spPr>
              <a:xfrm>
                <a:off x="2784324" y="3434587"/>
                <a:ext cx="1542822" cy="1260886"/>
              </a:xfrm>
              <a:prstGeom prst="line">
                <a:avLst/>
              </a:prstGeom>
              <a:noFill/>
              <a:ln w="28575" cap="flat" cmpd="sng" algn="ctr">
                <a:solidFill>
                  <a:srgbClr val="00A9CE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23F890-A210-41B8-8EA2-B0B4CAFAF160}"/>
                </a:ext>
              </a:extLst>
            </p:cNvPr>
            <p:cNvSpPr txBox="1"/>
            <p:nvPr/>
          </p:nvSpPr>
          <p:spPr>
            <a:xfrm>
              <a:off x="3253399" y="1434834"/>
              <a:ext cx="1069722" cy="329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AU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Discovery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910613-735E-4E68-ADFE-E5D6BC52C1A9}"/>
              </a:ext>
            </a:extLst>
          </p:cNvPr>
          <p:cNvSpPr txBox="1"/>
          <p:nvPr/>
        </p:nvSpPr>
        <p:spPr>
          <a:xfrm>
            <a:off x="2399262" y="1353229"/>
            <a:ext cx="606256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75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Explore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FD13045-8128-4B37-B8F0-CB12E5095FD2}"/>
              </a:ext>
            </a:extLst>
          </p:cNvPr>
          <p:cNvGrpSpPr/>
          <p:nvPr/>
        </p:nvGrpSpPr>
        <p:grpSpPr>
          <a:xfrm>
            <a:off x="1692182" y="2169767"/>
            <a:ext cx="590226" cy="511038"/>
            <a:chOff x="1306433" y="3071782"/>
            <a:chExt cx="726431" cy="628970"/>
          </a:xfrm>
        </p:grpSpPr>
        <p:grpSp>
          <p:nvGrpSpPr>
            <p:cNvPr id="12" name="Gruppieren 225">
              <a:extLst>
                <a:ext uri="{FF2B5EF4-FFF2-40B4-BE49-F238E27FC236}">
                  <a16:creationId xmlns:a16="http://schemas.microsoft.com/office/drawing/2014/main" id="{D18A2A44-3678-4D6C-94D7-A1C7C8E189B4}"/>
                </a:ext>
              </a:extLst>
            </p:cNvPr>
            <p:cNvGrpSpPr/>
            <p:nvPr/>
          </p:nvGrpSpPr>
          <p:grpSpPr bwMode="gray">
            <a:xfrm>
              <a:off x="1559715" y="3071782"/>
              <a:ext cx="284061" cy="297777"/>
              <a:chOff x="-637304" y="4004053"/>
              <a:chExt cx="408228" cy="399304"/>
            </a:xfrm>
            <a:solidFill>
              <a:srgbClr val="000000"/>
            </a:solidFill>
          </p:grpSpPr>
          <p:sp>
            <p:nvSpPr>
              <p:cNvPr id="14" name="Freeform 1093">
                <a:extLst>
                  <a:ext uri="{FF2B5EF4-FFF2-40B4-BE49-F238E27FC236}">
                    <a16:creationId xmlns:a16="http://schemas.microsoft.com/office/drawing/2014/main" id="{42DA8988-BCFE-4B0F-9908-154C3664FF2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-467767" y="4004053"/>
                <a:ext cx="238691" cy="231998"/>
              </a:xfrm>
              <a:custGeom>
                <a:avLst/>
                <a:gdLst>
                  <a:gd name="T0" fmla="*/ 151 w 151"/>
                  <a:gd name="T1" fmla="*/ 16 h 146"/>
                  <a:gd name="T2" fmla="*/ 151 w 151"/>
                  <a:gd name="T3" fmla="*/ 35 h 146"/>
                  <a:gd name="T4" fmla="*/ 151 w 151"/>
                  <a:gd name="T5" fmla="*/ 127 h 146"/>
                  <a:gd name="T6" fmla="*/ 149 w 151"/>
                  <a:gd name="T7" fmla="*/ 131 h 146"/>
                  <a:gd name="T8" fmla="*/ 90 w 151"/>
                  <a:gd name="T9" fmla="*/ 133 h 146"/>
                  <a:gd name="T10" fmla="*/ 67 w 151"/>
                  <a:gd name="T11" fmla="*/ 120 h 146"/>
                  <a:gd name="T12" fmla="*/ 27 w 151"/>
                  <a:gd name="T13" fmla="*/ 119 h 146"/>
                  <a:gd name="T14" fmla="*/ 3 w 151"/>
                  <a:gd name="T15" fmla="*/ 130 h 146"/>
                  <a:gd name="T16" fmla="*/ 0 w 151"/>
                  <a:gd name="T17" fmla="*/ 132 h 146"/>
                  <a:gd name="T18" fmla="*/ 0 w 151"/>
                  <a:gd name="T19" fmla="*/ 129 h 146"/>
                  <a:gd name="T20" fmla="*/ 0 w 151"/>
                  <a:gd name="T21" fmla="*/ 21 h 146"/>
                  <a:gd name="T22" fmla="*/ 3 w 151"/>
                  <a:gd name="T23" fmla="*/ 16 h 146"/>
                  <a:gd name="T24" fmla="*/ 59 w 151"/>
                  <a:gd name="T25" fmla="*/ 3 h 146"/>
                  <a:gd name="T26" fmla="*/ 80 w 151"/>
                  <a:gd name="T27" fmla="*/ 13 h 146"/>
                  <a:gd name="T28" fmla="*/ 87 w 151"/>
                  <a:gd name="T29" fmla="*/ 18 h 146"/>
                  <a:gd name="T30" fmla="*/ 139 w 151"/>
                  <a:gd name="T31" fmla="*/ 23 h 146"/>
                  <a:gd name="T32" fmla="*/ 145 w 151"/>
                  <a:gd name="T33" fmla="*/ 20 h 146"/>
                  <a:gd name="T34" fmla="*/ 151 w 151"/>
                  <a:gd name="T35" fmla="*/ 1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1" h="146">
                    <a:moveTo>
                      <a:pt x="151" y="16"/>
                    </a:moveTo>
                    <a:cubicBezTo>
                      <a:pt x="151" y="23"/>
                      <a:pt x="151" y="29"/>
                      <a:pt x="151" y="35"/>
                    </a:cubicBezTo>
                    <a:cubicBezTo>
                      <a:pt x="151" y="66"/>
                      <a:pt x="151" y="96"/>
                      <a:pt x="151" y="127"/>
                    </a:cubicBezTo>
                    <a:cubicBezTo>
                      <a:pt x="151" y="129"/>
                      <a:pt x="151" y="130"/>
                      <a:pt x="149" y="131"/>
                    </a:cubicBezTo>
                    <a:cubicBezTo>
                      <a:pt x="131" y="144"/>
                      <a:pt x="109" y="146"/>
                      <a:pt x="90" y="133"/>
                    </a:cubicBezTo>
                    <a:cubicBezTo>
                      <a:pt x="82" y="128"/>
                      <a:pt x="75" y="123"/>
                      <a:pt x="67" y="120"/>
                    </a:cubicBezTo>
                    <a:cubicBezTo>
                      <a:pt x="54" y="114"/>
                      <a:pt x="40" y="115"/>
                      <a:pt x="27" y="119"/>
                    </a:cubicBezTo>
                    <a:cubicBezTo>
                      <a:pt x="18" y="122"/>
                      <a:pt x="11" y="125"/>
                      <a:pt x="3" y="130"/>
                    </a:cubicBezTo>
                    <a:cubicBezTo>
                      <a:pt x="2" y="130"/>
                      <a:pt x="2" y="131"/>
                      <a:pt x="0" y="132"/>
                    </a:cubicBezTo>
                    <a:cubicBezTo>
                      <a:pt x="0" y="131"/>
                      <a:pt x="0" y="130"/>
                      <a:pt x="0" y="129"/>
                    </a:cubicBezTo>
                    <a:cubicBezTo>
                      <a:pt x="0" y="93"/>
                      <a:pt x="0" y="57"/>
                      <a:pt x="0" y="21"/>
                    </a:cubicBezTo>
                    <a:cubicBezTo>
                      <a:pt x="0" y="19"/>
                      <a:pt x="1" y="17"/>
                      <a:pt x="3" y="16"/>
                    </a:cubicBezTo>
                    <a:cubicBezTo>
                      <a:pt x="20" y="5"/>
                      <a:pt x="38" y="0"/>
                      <a:pt x="59" y="3"/>
                    </a:cubicBezTo>
                    <a:cubicBezTo>
                      <a:pt x="66" y="4"/>
                      <a:pt x="73" y="8"/>
                      <a:pt x="80" y="13"/>
                    </a:cubicBezTo>
                    <a:cubicBezTo>
                      <a:pt x="82" y="15"/>
                      <a:pt x="85" y="17"/>
                      <a:pt x="87" y="18"/>
                    </a:cubicBezTo>
                    <a:cubicBezTo>
                      <a:pt x="103" y="32"/>
                      <a:pt x="121" y="32"/>
                      <a:pt x="139" y="23"/>
                    </a:cubicBezTo>
                    <a:cubicBezTo>
                      <a:pt x="141" y="23"/>
                      <a:pt x="143" y="21"/>
                      <a:pt x="145" y="20"/>
                    </a:cubicBezTo>
                    <a:cubicBezTo>
                      <a:pt x="147" y="19"/>
                      <a:pt x="149" y="18"/>
                      <a:pt x="151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Freeform 1094">
                <a:extLst>
                  <a:ext uri="{FF2B5EF4-FFF2-40B4-BE49-F238E27FC236}">
                    <a16:creationId xmlns:a16="http://schemas.microsoft.com/office/drawing/2014/main" id="{E4D50E9A-5CF7-4B39-AA50-7B7B27667D9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-532458" y="4004053"/>
                <a:ext cx="37923" cy="343536"/>
              </a:xfrm>
              <a:custGeom>
                <a:avLst/>
                <a:gdLst>
                  <a:gd name="T0" fmla="*/ 24 w 24"/>
                  <a:gd name="T1" fmla="*/ 216 h 216"/>
                  <a:gd name="T2" fmla="*/ 2 w 24"/>
                  <a:gd name="T3" fmla="*/ 216 h 216"/>
                  <a:gd name="T4" fmla="*/ 0 w 24"/>
                  <a:gd name="T5" fmla="*/ 216 h 216"/>
                  <a:gd name="T6" fmla="*/ 0 w 24"/>
                  <a:gd name="T7" fmla="*/ 0 h 216"/>
                  <a:gd name="T8" fmla="*/ 24 w 24"/>
                  <a:gd name="T9" fmla="*/ 0 h 216"/>
                  <a:gd name="T10" fmla="*/ 24 w 24"/>
                  <a:gd name="T11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16">
                    <a:moveTo>
                      <a:pt x="24" y="216"/>
                    </a:moveTo>
                    <a:cubicBezTo>
                      <a:pt x="16" y="216"/>
                      <a:pt x="9" y="216"/>
                      <a:pt x="2" y="216"/>
                    </a:cubicBezTo>
                    <a:cubicBezTo>
                      <a:pt x="1" y="216"/>
                      <a:pt x="1" y="216"/>
                      <a:pt x="0" y="216"/>
                    </a:cubicBezTo>
                    <a:cubicBezTo>
                      <a:pt x="0" y="144"/>
                      <a:pt x="0" y="72"/>
                      <a:pt x="0" y="0"/>
                    </a:cubicBezTo>
                    <a:cubicBezTo>
                      <a:pt x="8" y="0"/>
                      <a:pt x="16" y="0"/>
                      <a:pt x="24" y="0"/>
                    </a:cubicBezTo>
                    <a:cubicBezTo>
                      <a:pt x="24" y="72"/>
                      <a:pt x="24" y="144"/>
                      <a:pt x="2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" name="Freeform 1095">
                <a:extLst>
                  <a:ext uri="{FF2B5EF4-FFF2-40B4-BE49-F238E27FC236}">
                    <a16:creationId xmlns:a16="http://schemas.microsoft.com/office/drawing/2014/main" id="{1876915B-4F18-4323-B536-CFDB5E206C8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-637304" y="4289589"/>
                <a:ext cx="247614" cy="113768"/>
              </a:xfrm>
              <a:custGeom>
                <a:avLst/>
                <a:gdLst>
                  <a:gd name="T0" fmla="*/ 49 w 156"/>
                  <a:gd name="T1" fmla="*/ 0 h 71"/>
                  <a:gd name="T2" fmla="*/ 49 w 156"/>
                  <a:gd name="T3" fmla="*/ 18 h 71"/>
                  <a:gd name="T4" fmla="*/ 31 w 156"/>
                  <a:gd name="T5" fmla="*/ 25 h 71"/>
                  <a:gd name="T6" fmla="*/ 24 w 156"/>
                  <a:gd name="T7" fmla="*/ 30 h 71"/>
                  <a:gd name="T8" fmla="*/ 24 w 156"/>
                  <a:gd name="T9" fmla="*/ 38 h 71"/>
                  <a:gd name="T10" fmla="*/ 36 w 156"/>
                  <a:gd name="T11" fmla="*/ 45 h 71"/>
                  <a:gd name="T12" fmla="*/ 81 w 156"/>
                  <a:gd name="T13" fmla="*/ 52 h 71"/>
                  <a:gd name="T14" fmla="*/ 123 w 156"/>
                  <a:gd name="T15" fmla="*/ 44 h 71"/>
                  <a:gd name="T16" fmla="*/ 132 w 156"/>
                  <a:gd name="T17" fmla="*/ 39 h 71"/>
                  <a:gd name="T18" fmla="*/ 132 w 156"/>
                  <a:gd name="T19" fmla="*/ 29 h 71"/>
                  <a:gd name="T20" fmla="*/ 117 w 156"/>
                  <a:gd name="T21" fmla="*/ 21 h 71"/>
                  <a:gd name="T22" fmla="*/ 107 w 156"/>
                  <a:gd name="T23" fmla="*/ 19 h 71"/>
                  <a:gd name="T24" fmla="*/ 107 w 156"/>
                  <a:gd name="T25" fmla="*/ 10 h 71"/>
                  <a:gd name="T26" fmla="*/ 107 w 156"/>
                  <a:gd name="T27" fmla="*/ 0 h 71"/>
                  <a:gd name="T28" fmla="*/ 147 w 156"/>
                  <a:gd name="T29" fmla="*/ 18 h 71"/>
                  <a:gd name="T30" fmla="*/ 148 w 156"/>
                  <a:gd name="T31" fmla="*/ 19 h 71"/>
                  <a:gd name="T32" fmla="*/ 146 w 156"/>
                  <a:gd name="T33" fmla="*/ 51 h 71"/>
                  <a:gd name="T34" fmla="*/ 122 w 156"/>
                  <a:gd name="T35" fmla="*/ 64 h 71"/>
                  <a:gd name="T36" fmla="*/ 71 w 156"/>
                  <a:gd name="T37" fmla="*/ 70 h 71"/>
                  <a:gd name="T38" fmla="*/ 25 w 156"/>
                  <a:gd name="T39" fmla="*/ 60 h 71"/>
                  <a:gd name="T40" fmla="*/ 9 w 156"/>
                  <a:gd name="T41" fmla="*/ 49 h 71"/>
                  <a:gd name="T42" fmla="*/ 9 w 156"/>
                  <a:gd name="T43" fmla="*/ 18 h 71"/>
                  <a:gd name="T44" fmla="*/ 34 w 156"/>
                  <a:gd name="T45" fmla="*/ 4 h 71"/>
                  <a:gd name="T46" fmla="*/ 49 w 156"/>
                  <a:gd name="T4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6" h="71">
                    <a:moveTo>
                      <a:pt x="49" y="0"/>
                    </a:moveTo>
                    <a:cubicBezTo>
                      <a:pt x="49" y="7"/>
                      <a:pt x="49" y="13"/>
                      <a:pt x="49" y="18"/>
                    </a:cubicBezTo>
                    <a:cubicBezTo>
                      <a:pt x="43" y="20"/>
                      <a:pt x="37" y="22"/>
                      <a:pt x="31" y="25"/>
                    </a:cubicBezTo>
                    <a:cubicBezTo>
                      <a:pt x="28" y="26"/>
                      <a:pt x="26" y="28"/>
                      <a:pt x="24" y="30"/>
                    </a:cubicBezTo>
                    <a:cubicBezTo>
                      <a:pt x="21" y="32"/>
                      <a:pt x="20" y="36"/>
                      <a:pt x="24" y="38"/>
                    </a:cubicBezTo>
                    <a:cubicBezTo>
                      <a:pt x="27" y="41"/>
                      <a:pt x="32" y="43"/>
                      <a:pt x="36" y="45"/>
                    </a:cubicBezTo>
                    <a:cubicBezTo>
                      <a:pt x="51" y="50"/>
                      <a:pt x="66" y="52"/>
                      <a:pt x="81" y="52"/>
                    </a:cubicBezTo>
                    <a:cubicBezTo>
                      <a:pt x="95" y="51"/>
                      <a:pt x="109" y="50"/>
                      <a:pt x="123" y="44"/>
                    </a:cubicBezTo>
                    <a:cubicBezTo>
                      <a:pt x="126" y="43"/>
                      <a:pt x="129" y="41"/>
                      <a:pt x="132" y="39"/>
                    </a:cubicBezTo>
                    <a:cubicBezTo>
                      <a:pt x="136" y="36"/>
                      <a:pt x="136" y="32"/>
                      <a:pt x="132" y="29"/>
                    </a:cubicBezTo>
                    <a:cubicBezTo>
                      <a:pt x="128" y="25"/>
                      <a:pt x="122" y="23"/>
                      <a:pt x="117" y="21"/>
                    </a:cubicBezTo>
                    <a:cubicBezTo>
                      <a:pt x="113" y="20"/>
                      <a:pt x="110" y="20"/>
                      <a:pt x="107" y="19"/>
                    </a:cubicBezTo>
                    <a:cubicBezTo>
                      <a:pt x="107" y="16"/>
                      <a:pt x="107" y="13"/>
                      <a:pt x="107" y="10"/>
                    </a:cubicBezTo>
                    <a:cubicBezTo>
                      <a:pt x="107" y="7"/>
                      <a:pt x="107" y="4"/>
                      <a:pt x="107" y="0"/>
                    </a:cubicBezTo>
                    <a:cubicBezTo>
                      <a:pt x="122" y="3"/>
                      <a:pt x="136" y="7"/>
                      <a:pt x="147" y="18"/>
                    </a:cubicBezTo>
                    <a:cubicBezTo>
                      <a:pt x="147" y="18"/>
                      <a:pt x="148" y="19"/>
                      <a:pt x="148" y="19"/>
                    </a:cubicBezTo>
                    <a:cubicBezTo>
                      <a:pt x="156" y="29"/>
                      <a:pt x="156" y="41"/>
                      <a:pt x="146" y="51"/>
                    </a:cubicBezTo>
                    <a:cubicBezTo>
                      <a:pt x="139" y="57"/>
                      <a:pt x="131" y="61"/>
                      <a:pt x="122" y="64"/>
                    </a:cubicBezTo>
                    <a:cubicBezTo>
                      <a:pt x="105" y="69"/>
                      <a:pt x="88" y="71"/>
                      <a:pt x="71" y="70"/>
                    </a:cubicBezTo>
                    <a:cubicBezTo>
                      <a:pt x="55" y="69"/>
                      <a:pt x="40" y="67"/>
                      <a:pt x="25" y="60"/>
                    </a:cubicBezTo>
                    <a:cubicBezTo>
                      <a:pt x="19" y="58"/>
                      <a:pt x="14" y="54"/>
                      <a:pt x="9" y="49"/>
                    </a:cubicBezTo>
                    <a:cubicBezTo>
                      <a:pt x="0" y="40"/>
                      <a:pt x="0" y="27"/>
                      <a:pt x="9" y="18"/>
                    </a:cubicBezTo>
                    <a:cubicBezTo>
                      <a:pt x="16" y="11"/>
                      <a:pt x="25" y="7"/>
                      <a:pt x="34" y="4"/>
                    </a:cubicBezTo>
                    <a:cubicBezTo>
                      <a:pt x="39" y="2"/>
                      <a:pt x="44" y="1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4DCBD-0E16-4E72-BD9D-A472D7D65013}"/>
                </a:ext>
              </a:extLst>
            </p:cNvPr>
            <p:cNvSpPr txBox="1"/>
            <p:nvPr/>
          </p:nvSpPr>
          <p:spPr>
            <a:xfrm>
              <a:off x="1306433" y="3371587"/>
              <a:ext cx="726431" cy="329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Intent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2D30096-B290-4A61-832E-57941B1C1848}"/>
              </a:ext>
            </a:extLst>
          </p:cNvPr>
          <p:cNvSpPr txBox="1"/>
          <p:nvPr/>
        </p:nvSpPr>
        <p:spPr>
          <a:xfrm>
            <a:off x="4324587" y="1363123"/>
            <a:ext cx="66877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75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Evaluate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32F6E-5D15-4858-A15B-18F2236E5D82}"/>
              </a:ext>
            </a:extLst>
          </p:cNvPr>
          <p:cNvSpPr txBox="1"/>
          <p:nvPr/>
        </p:nvSpPr>
        <p:spPr>
          <a:xfrm>
            <a:off x="7760610" y="839746"/>
            <a:ext cx="550151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Build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3F367B-40E7-4223-BEE4-A4E3900F24C3}"/>
              </a:ext>
            </a:extLst>
          </p:cNvPr>
          <p:cNvGrpSpPr/>
          <p:nvPr/>
        </p:nvGrpSpPr>
        <p:grpSpPr>
          <a:xfrm>
            <a:off x="2856490" y="2162542"/>
            <a:ext cx="285871" cy="308874"/>
            <a:chOff x="5250466" y="3061316"/>
            <a:chExt cx="351841" cy="380152"/>
          </a:xfrm>
        </p:grpSpPr>
        <p:sp>
          <p:nvSpPr>
            <p:cNvPr id="20" name="Freeform 39">
              <a:extLst>
                <a:ext uri="{FF2B5EF4-FFF2-40B4-BE49-F238E27FC236}">
                  <a16:creationId xmlns:a16="http://schemas.microsoft.com/office/drawing/2014/main" id="{26557C2F-3D6B-4CF5-AB3B-2370FEA3199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250466" y="3105740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Freeform 39">
              <a:extLst>
                <a:ext uri="{FF2B5EF4-FFF2-40B4-BE49-F238E27FC236}">
                  <a16:creationId xmlns:a16="http://schemas.microsoft.com/office/drawing/2014/main" id="{426521AB-5ADA-4A6C-BEDC-A81866A0754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370984" y="3283281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8D9FE298-3DB7-427B-B96B-7A27DA1B788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466664" y="3061316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E10E8-0CC7-458C-A5B9-430B45E97097}"/>
              </a:ext>
            </a:extLst>
          </p:cNvPr>
          <p:cNvGrpSpPr/>
          <p:nvPr/>
        </p:nvGrpSpPr>
        <p:grpSpPr>
          <a:xfrm>
            <a:off x="3644860" y="1545328"/>
            <a:ext cx="794153" cy="1500405"/>
            <a:chOff x="4136150" y="2271645"/>
            <a:chExt cx="844118" cy="1846653"/>
          </a:xfrm>
        </p:grpSpPr>
        <p:sp>
          <p:nvSpPr>
            <p:cNvPr id="24" name="Freeform 39">
              <a:extLst>
                <a:ext uri="{FF2B5EF4-FFF2-40B4-BE49-F238E27FC236}">
                  <a16:creationId xmlns:a16="http://schemas.microsoft.com/office/drawing/2014/main" id="{8A569454-2540-4074-B03E-BD4758A6C62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256839" y="3960111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805BE8EC-47D5-4D53-B6FD-36B7E77FEDA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421659" y="3694546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Freeform 39">
              <a:extLst>
                <a:ext uri="{FF2B5EF4-FFF2-40B4-BE49-F238E27FC236}">
                  <a16:creationId xmlns:a16="http://schemas.microsoft.com/office/drawing/2014/main" id="{C0200EED-A0A5-4B2F-A7B8-4B61C8DF9AE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653890" y="3538763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C9AE9E46-FB0E-4003-B6BC-91AEB9C9D76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653675" y="2710157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Freeform 39">
              <a:extLst>
                <a:ext uri="{FF2B5EF4-FFF2-40B4-BE49-F238E27FC236}">
                  <a16:creationId xmlns:a16="http://schemas.microsoft.com/office/drawing/2014/main" id="{2AEB26D8-F9AD-43A6-9B6A-70C7547F5B2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340303" y="2271645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975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Freeform 39">
              <a:extLst>
                <a:ext uri="{FF2B5EF4-FFF2-40B4-BE49-F238E27FC236}">
                  <a16:creationId xmlns:a16="http://schemas.microsoft.com/office/drawing/2014/main" id="{E81400C8-2DC4-41B6-838A-7F0BE94CF54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191545" y="2656053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975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Freeform 39">
              <a:extLst>
                <a:ext uri="{FF2B5EF4-FFF2-40B4-BE49-F238E27FC236}">
                  <a16:creationId xmlns:a16="http://schemas.microsoft.com/office/drawing/2014/main" id="{BE521C25-1673-4B43-9262-35506DF3E86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398240" y="3329706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FB1D731E-7864-47B5-BDE8-257BFB1FA2B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174092" y="3173868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8B3DDAC9-4530-4265-B109-DA6CAAB9755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533882" y="3072653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B69AEC03-746C-4A8A-AF34-62D7ACA60D9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463587" y="2657228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7952E22-1910-48B1-84CD-002819A5F4E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395343" y="2889339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F97B77F9-2973-42F6-9030-20DFA7B25D6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844625" y="2967260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975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29851452-F04B-432C-A6EA-8B93A85EDD8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724817" y="3312780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227B0CDE-DC90-46AD-88C0-D71AFB185FD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136150" y="2340771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6ABC839C-5380-4662-B872-2EDAA170F9B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160478" y="3656790"/>
              <a:ext cx="135643" cy="158187"/>
            </a:xfrm>
            <a:custGeom>
              <a:avLst/>
              <a:gdLst>
                <a:gd name="T0" fmla="*/ 295 w 377"/>
                <a:gd name="T1" fmla="*/ 269 h 361"/>
                <a:gd name="T2" fmla="*/ 230 w 377"/>
                <a:gd name="T3" fmla="*/ 204 h 361"/>
                <a:gd name="T4" fmla="*/ 251 w 377"/>
                <a:gd name="T5" fmla="*/ 155 h 361"/>
                <a:gd name="T6" fmla="*/ 270 w 377"/>
                <a:gd name="T7" fmla="*/ 121 h 361"/>
                <a:gd name="T8" fmla="*/ 263 w 377"/>
                <a:gd name="T9" fmla="*/ 104 h 361"/>
                <a:gd name="T10" fmla="*/ 268 w 377"/>
                <a:gd name="T11" fmla="*/ 68 h 361"/>
                <a:gd name="T12" fmla="*/ 188 w 377"/>
                <a:gd name="T13" fmla="*/ 0 h 361"/>
                <a:gd name="T14" fmla="*/ 108 w 377"/>
                <a:gd name="T15" fmla="*/ 68 h 361"/>
                <a:gd name="T16" fmla="*/ 114 w 377"/>
                <a:gd name="T17" fmla="*/ 104 h 361"/>
                <a:gd name="T18" fmla="*/ 106 w 377"/>
                <a:gd name="T19" fmla="*/ 121 h 361"/>
                <a:gd name="T20" fmla="*/ 125 w 377"/>
                <a:gd name="T21" fmla="*/ 155 h 361"/>
                <a:gd name="T22" fmla="*/ 147 w 377"/>
                <a:gd name="T23" fmla="*/ 204 h 361"/>
                <a:gd name="T24" fmla="*/ 81 w 377"/>
                <a:gd name="T25" fmla="*/ 269 h 361"/>
                <a:gd name="T26" fmla="*/ 0 w 377"/>
                <a:gd name="T27" fmla="*/ 318 h 361"/>
                <a:gd name="T28" fmla="*/ 0 w 377"/>
                <a:gd name="T29" fmla="*/ 361 h 361"/>
                <a:gd name="T30" fmla="*/ 377 w 377"/>
                <a:gd name="T31" fmla="*/ 361 h 361"/>
                <a:gd name="T32" fmla="*/ 377 w 377"/>
                <a:gd name="T33" fmla="*/ 318 h 361"/>
                <a:gd name="T34" fmla="*/ 295 w 377"/>
                <a:gd name="T35" fmla="*/ 26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361">
                  <a:moveTo>
                    <a:pt x="295" y="269"/>
                  </a:moveTo>
                  <a:cubicBezTo>
                    <a:pt x="245" y="251"/>
                    <a:pt x="230" y="236"/>
                    <a:pt x="230" y="204"/>
                  </a:cubicBezTo>
                  <a:cubicBezTo>
                    <a:pt x="230" y="184"/>
                    <a:pt x="245" y="191"/>
                    <a:pt x="251" y="155"/>
                  </a:cubicBezTo>
                  <a:cubicBezTo>
                    <a:pt x="254" y="140"/>
                    <a:pt x="267" y="154"/>
                    <a:pt x="270" y="121"/>
                  </a:cubicBezTo>
                  <a:cubicBezTo>
                    <a:pt x="270" y="107"/>
                    <a:pt x="263" y="104"/>
                    <a:pt x="263" y="104"/>
                  </a:cubicBezTo>
                  <a:cubicBezTo>
                    <a:pt x="263" y="104"/>
                    <a:pt x="266" y="84"/>
                    <a:pt x="268" y="68"/>
                  </a:cubicBezTo>
                  <a:cubicBezTo>
                    <a:pt x="270" y="49"/>
                    <a:pt x="257" y="0"/>
                    <a:pt x="188" y="0"/>
                  </a:cubicBezTo>
                  <a:cubicBezTo>
                    <a:pt x="120" y="0"/>
                    <a:pt x="107" y="49"/>
                    <a:pt x="108" y="68"/>
                  </a:cubicBezTo>
                  <a:cubicBezTo>
                    <a:pt x="110" y="84"/>
                    <a:pt x="114" y="104"/>
                    <a:pt x="114" y="104"/>
                  </a:cubicBezTo>
                  <a:cubicBezTo>
                    <a:pt x="114" y="104"/>
                    <a:pt x="106" y="107"/>
                    <a:pt x="106" y="121"/>
                  </a:cubicBezTo>
                  <a:cubicBezTo>
                    <a:pt x="109" y="154"/>
                    <a:pt x="122" y="140"/>
                    <a:pt x="125" y="155"/>
                  </a:cubicBezTo>
                  <a:cubicBezTo>
                    <a:pt x="132" y="191"/>
                    <a:pt x="147" y="184"/>
                    <a:pt x="147" y="204"/>
                  </a:cubicBezTo>
                  <a:cubicBezTo>
                    <a:pt x="147" y="236"/>
                    <a:pt x="131" y="251"/>
                    <a:pt x="81" y="269"/>
                  </a:cubicBezTo>
                  <a:cubicBezTo>
                    <a:pt x="32" y="287"/>
                    <a:pt x="0" y="306"/>
                    <a:pt x="0" y="318"/>
                  </a:cubicBezTo>
                  <a:cubicBezTo>
                    <a:pt x="0" y="331"/>
                    <a:pt x="0" y="361"/>
                    <a:pt x="0" y="361"/>
                  </a:cubicBezTo>
                  <a:cubicBezTo>
                    <a:pt x="377" y="361"/>
                    <a:pt x="377" y="361"/>
                    <a:pt x="377" y="361"/>
                  </a:cubicBezTo>
                  <a:cubicBezTo>
                    <a:pt x="377" y="361"/>
                    <a:pt x="377" y="331"/>
                    <a:pt x="377" y="318"/>
                  </a:cubicBezTo>
                  <a:cubicBezTo>
                    <a:pt x="377" y="306"/>
                    <a:pt x="344" y="287"/>
                    <a:pt x="295" y="2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94C8C86A-16F8-42D5-A418-B5D0C36ADE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863" y="2128132"/>
            <a:ext cx="1341282" cy="66520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CBDD1AA-3491-4804-B50C-5EA27EFBE3E6}"/>
              </a:ext>
            </a:extLst>
          </p:cNvPr>
          <p:cNvSpPr txBox="1"/>
          <p:nvPr/>
        </p:nvSpPr>
        <p:spPr>
          <a:xfrm>
            <a:off x="6606960" y="1881356"/>
            <a:ext cx="63350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75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Validate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3435B7-BC1B-4774-AFC2-112779F70775}"/>
              </a:ext>
            </a:extLst>
          </p:cNvPr>
          <p:cNvCxnSpPr/>
          <p:nvPr/>
        </p:nvCxnSpPr>
        <p:spPr>
          <a:xfrm>
            <a:off x="1890803" y="3264889"/>
            <a:ext cx="8175265" cy="7739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16D4E9A-57EA-4B34-A01C-8790F4CD8CD6}"/>
              </a:ext>
            </a:extLst>
          </p:cNvPr>
          <p:cNvGrpSpPr/>
          <p:nvPr/>
        </p:nvGrpSpPr>
        <p:grpSpPr>
          <a:xfrm>
            <a:off x="9982200" y="1965881"/>
            <a:ext cx="753732" cy="582948"/>
            <a:chOff x="9952373" y="2678195"/>
            <a:chExt cx="927668" cy="71747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59135B-CEE8-480B-A4A2-9B3B51226EE1}"/>
                </a:ext>
              </a:extLst>
            </p:cNvPr>
            <p:cNvSpPr/>
            <p:nvPr/>
          </p:nvSpPr>
          <p:spPr>
            <a:xfrm>
              <a:off x="9952373" y="2678195"/>
              <a:ext cx="927668" cy="329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AU" sz="1138" kern="0" dirty="0" err="1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Loc</a:t>
              </a:r>
              <a:r>
                <a:rPr lang="en-AU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-I 1.0</a:t>
              </a:r>
            </a:p>
          </p:txBody>
        </p:sp>
        <p:grpSp>
          <p:nvGrpSpPr>
            <p:cNvPr id="44" name="Gruppieren 112">
              <a:extLst>
                <a:ext uri="{FF2B5EF4-FFF2-40B4-BE49-F238E27FC236}">
                  <a16:creationId xmlns:a16="http://schemas.microsoft.com/office/drawing/2014/main" id="{68C978D0-56D1-4DCC-87E2-599E41FED030}"/>
                </a:ext>
              </a:extLst>
            </p:cNvPr>
            <p:cNvGrpSpPr/>
            <p:nvPr/>
          </p:nvGrpSpPr>
          <p:grpSpPr bwMode="gray">
            <a:xfrm>
              <a:off x="10280450" y="3041186"/>
              <a:ext cx="403775" cy="354484"/>
              <a:chOff x="1117601" y="5489575"/>
              <a:chExt cx="403225" cy="344487"/>
            </a:xfrm>
            <a:solidFill>
              <a:srgbClr val="000000"/>
            </a:solidFill>
          </p:grpSpPr>
          <p:sp>
            <p:nvSpPr>
              <p:cNvPr id="45" name="Freeform 1189">
                <a:extLst>
                  <a:ext uri="{FF2B5EF4-FFF2-40B4-BE49-F238E27FC236}">
                    <a16:creationId xmlns:a16="http://schemas.microsoft.com/office/drawing/2014/main" id="{A35D9768-E28D-481D-A705-2E551E91FD0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117601" y="5489575"/>
                <a:ext cx="336550" cy="344487"/>
              </a:xfrm>
              <a:custGeom>
                <a:avLst/>
                <a:gdLst>
                  <a:gd name="T0" fmla="*/ 286 w 298"/>
                  <a:gd name="T1" fmla="*/ 124 h 303"/>
                  <a:gd name="T2" fmla="*/ 205 w 298"/>
                  <a:gd name="T3" fmla="*/ 276 h 303"/>
                  <a:gd name="T4" fmla="*/ 33 w 298"/>
                  <a:gd name="T5" fmla="*/ 215 h 303"/>
                  <a:gd name="T6" fmla="*/ 77 w 298"/>
                  <a:gd name="T7" fmla="*/ 38 h 303"/>
                  <a:gd name="T8" fmla="*/ 244 w 298"/>
                  <a:gd name="T9" fmla="*/ 50 h 303"/>
                  <a:gd name="T10" fmla="*/ 227 w 298"/>
                  <a:gd name="T11" fmla="*/ 69 h 303"/>
                  <a:gd name="T12" fmla="*/ 205 w 298"/>
                  <a:gd name="T13" fmla="*/ 55 h 303"/>
                  <a:gd name="T14" fmla="*/ 100 w 298"/>
                  <a:gd name="T15" fmla="*/ 55 h 303"/>
                  <a:gd name="T16" fmla="*/ 45 w 298"/>
                  <a:gd name="T17" fmla="*/ 130 h 303"/>
                  <a:gd name="T18" fmla="*/ 126 w 298"/>
                  <a:gd name="T19" fmla="*/ 256 h 303"/>
                  <a:gd name="T20" fmla="*/ 261 w 298"/>
                  <a:gd name="T21" fmla="*/ 167 h 303"/>
                  <a:gd name="T22" fmla="*/ 260 w 298"/>
                  <a:gd name="T23" fmla="*/ 132 h 303"/>
                  <a:gd name="T24" fmla="*/ 263 w 298"/>
                  <a:gd name="T25" fmla="*/ 127 h 303"/>
                  <a:gd name="T26" fmla="*/ 286 w 298"/>
                  <a:gd name="T27" fmla="*/ 124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8" h="303">
                    <a:moveTo>
                      <a:pt x="286" y="124"/>
                    </a:moveTo>
                    <a:cubicBezTo>
                      <a:pt x="298" y="182"/>
                      <a:pt x="268" y="249"/>
                      <a:pt x="205" y="276"/>
                    </a:cubicBezTo>
                    <a:cubicBezTo>
                      <a:pt x="141" y="303"/>
                      <a:pt x="66" y="276"/>
                      <a:pt x="33" y="215"/>
                    </a:cubicBezTo>
                    <a:cubicBezTo>
                      <a:pt x="0" y="154"/>
                      <a:pt x="18" y="79"/>
                      <a:pt x="77" y="38"/>
                    </a:cubicBezTo>
                    <a:cubicBezTo>
                      <a:pt x="133" y="0"/>
                      <a:pt x="203" y="12"/>
                      <a:pt x="244" y="50"/>
                    </a:cubicBezTo>
                    <a:cubicBezTo>
                      <a:pt x="239" y="60"/>
                      <a:pt x="234" y="65"/>
                      <a:pt x="227" y="69"/>
                    </a:cubicBezTo>
                    <a:cubicBezTo>
                      <a:pt x="220" y="64"/>
                      <a:pt x="212" y="59"/>
                      <a:pt x="205" y="55"/>
                    </a:cubicBezTo>
                    <a:cubicBezTo>
                      <a:pt x="170" y="36"/>
                      <a:pt x="135" y="36"/>
                      <a:pt x="100" y="55"/>
                    </a:cubicBezTo>
                    <a:cubicBezTo>
                      <a:pt x="70" y="71"/>
                      <a:pt x="52" y="97"/>
                      <a:pt x="45" y="130"/>
                    </a:cubicBezTo>
                    <a:cubicBezTo>
                      <a:pt x="35" y="187"/>
                      <a:pt x="70" y="242"/>
                      <a:pt x="126" y="256"/>
                    </a:cubicBezTo>
                    <a:cubicBezTo>
                      <a:pt x="189" y="272"/>
                      <a:pt x="251" y="231"/>
                      <a:pt x="261" y="167"/>
                    </a:cubicBezTo>
                    <a:cubicBezTo>
                      <a:pt x="263" y="155"/>
                      <a:pt x="263" y="144"/>
                      <a:pt x="260" y="132"/>
                    </a:cubicBezTo>
                    <a:cubicBezTo>
                      <a:pt x="260" y="129"/>
                      <a:pt x="260" y="128"/>
                      <a:pt x="263" y="127"/>
                    </a:cubicBezTo>
                    <a:cubicBezTo>
                      <a:pt x="271" y="124"/>
                      <a:pt x="278" y="124"/>
                      <a:pt x="286" y="1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Freeform 1190">
                <a:extLst>
                  <a:ext uri="{FF2B5EF4-FFF2-40B4-BE49-F238E27FC236}">
                    <a16:creationId xmlns:a16="http://schemas.microsoft.com/office/drawing/2014/main" id="{EA65A485-1A6C-4C0C-8ABA-430DFE86808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255713" y="5510213"/>
                <a:ext cx="265113" cy="185737"/>
              </a:xfrm>
              <a:custGeom>
                <a:avLst/>
                <a:gdLst>
                  <a:gd name="T0" fmla="*/ 205 w 234"/>
                  <a:gd name="T1" fmla="*/ 0 h 164"/>
                  <a:gd name="T2" fmla="*/ 194 w 234"/>
                  <a:gd name="T3" fmla="*/ 42 h 164"/>
                  <a:gd name="T4" fmla="*/ 234 w 234"/>
                  <a:gd name="T5" fmla="*/ 54 h 164"/>
                  <a:gd name="T6" fmla="*/ 232 w 234"/>
                  <a:gd name="T7" fmla="*/ 56 h 164"/>
                  <a:gd name="T8" fmla="*/ 176 w 234"/>
                  <a:gd name="T9" fmla="*/ 87 h 164"/>
                  <a:gd name="T10" fmla="*/ 171 w 234"/>
                  <a:gd name="T11" fmla="*/ 88 h 164"/>
                  <a:gd name="T12" fmla="*/ 124 w 234"/>
                  <a:gd name="T13" fmla="*/ 95 h 164"/>
                  <a:gd name="T14" fmla="*/ 62 w 234"/>
                  <a:gd name="T15" fmla="*/ 130 h 164"/>
                  <a:gd name="T16" fmla="*/ 60 w 234"/>
                  <a:gd name="T17" fmla="*/ 134 h 164"/>
                  <a:gd name="T18" fmla="*/ 38 w 234"/>
                  <a:gd name="T19" fmla="*/ 160 h 164"/>
                  <a:gd name="T20" fmla="*/ 8 w 234"/>
                  <a:gd name="T21" fmla="*/ 150 h 164"/>
                  <a:gd name="T22" fmla="*/ 9 w 234"/>
                  <a:gd name="T23" fmla="*/ 114 h 164"/>
                  <a:gd name="T24" fmla="*/ 44 w 234"/>
                  <a:gd name="T25" fmla="*/ 107 h 164"/>
                  <a:gd name="T26" fmla="*/ 50 w 234"/>
                  <a:gd name="T27" fmla="*/ 108 h 164"/>
                  <a:gd name="T28" fmla="*/ 113 w 234"/>
                  <a:gd name="T29" fmla="*/ 72 h 164"/>
                  <a:gd name="T30" fmla="*/ 142 w 234"/>
                  <a:gd name="T31" fmla="*/ 38 h 164"/>
                  <a:gd name="T32" fmla="*/ 147 w 234"/>
                  <a:gd name="T33" fmla="*/ 32 h 164"/>
                  <a:gd name="T34" fmla="*/ 201 w 234"/>
                  <a:gd name="T35" fmla="*/ 2 h 164"/>
                  <a:gd name="T36" fmla="*/ 205 w 234"/>
                  <a:gd name="T37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4" h="164">
                    <a:moveTo>
                      <a:pt x="205" y="0"/>
                    </a:moveTo>
                    <a:cubicBezTo>
                      <a:pt x="201" y="15"/>
                      <a:pt x="197" y="28"/>
                      <a:pt x="194" y="42"/>
                    </a:cubicBezTo>
                    <a:cubicBezTo>
                      <a:pt x="207" y="46"/>
                      <a:pt x="221" y="50"/>
                      <a:pt x="234" y="54"/>
                    </a:cubicBezTo>
                    <a:cubicBezTo>
                      <a:pt x="233" y="55"/>
                      <a:pt x="232" y="55"/>
                      <a:pt x="232" y="56"/>
                    </a:cubicBezTo>
                    <a:cubicBezTo>
                      <a:pt x="213" y="66"/>
                      <a:pt x="195" y="76"/>
                      <a:pt x="176" y="87"/>
                    </a:cubicBezTo>
                    <a:cubicBezTo>
                      <a:pt x="175" y="88"/>
                      <a:pt x="173" y="88"/>
                      <a:pt x="171" y="88"/>
                    </a:cubicBezTo>
                    <a:cubicBezTo>
                      <a:pt x="155" y="84"/>
                      <a:pt x="139" y="87"/>
                      <a:pt x="124" y="95"/>
                    </a:cubicBezTo>
                    <a:cubicBezTo>
                      <a:pt x="103" y="107"/>
                      <a:pt x="83" y="118"/>
                      <a:pt x="62" y="130"/>
                    </a:cubicBezTo>
                    <a:cubicBezTo>
                      <a:pt x="61" y="131"/>
                      <a:pt x="60" y="133"/>
                      <a:pt x="60" y="134"/>
                    </a:cubicBezTo>
                    <a:cubicBezTo>
                      <a:pt x="58" y="147"/>
                      <a:pt x="50" y="157"/>
                      <a:pt x="38" y="160"/>
                    </a:cubicBezTo>
                    <a:cubicBezTo>
                      <a:pt x="27" y="164"/>
                      <a:pt x="15" y="159"/>
                      <a:pt x="8" y="150"/>
                    </a:cubicBezTo>
                    <a:cubicBezTo>
                      <a:pt x="0" y="139"/>
                      <a:pt x="0" y="124"/>
                      <a:pt x="9" y="114"/>
                    </a:cubicBezTo>
                    <a:cubicBezTo>
                      <a:pt x="18" y="103"/>
                      <a:pt x="33" y="101"/>
                      <a:pt x="44" y="107"/>
                    </a:cubicBezTo>
                    <a:cubicBezTo>
                      <a:pt x="46" y="108"/>
                      <a:pt x="48" y="109"/>
                      <a:pt x="50" y="108"/>
                    </a:cubicBezTo>
                    <a:cubicBezTo>
                      <a:pt x="71" y="96"/>
                      <a:pt x="92" y="84"/>
                      <a:pt x="113" y="72"/>
                    </a:cubicBezTo>
                    <a:cubicBezTo>
                      <a:pt x="127" y="64"/>
                      <a:pt x="136" y="52"/>
                      <a:pt x="142" y="38"/>
                    </a:cubicBezTo>
                    <a:cubicBezTo>
                      <a:pt x="143" y="36"/>
                      <a:pt x="145" y="33"/>
                      <a:pt x="147" y="32"/>
                    </a:cubicBezTo>
                    <a:cubicBezTo>
                      <a:pt x="165" y="22"/>
                      <a:pt x="183" y="12"/>
                      <a:pt x="201" y="2"/>
                    </a:cubicBezTo>
                    <a:cubicBezTo>
                      <a:pt x="202" y="2"/>
                      <a:pt x="203" y="1"/>
                      <a:pt x="2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Freeform 1191">
                <a:extLst>
                  <a:ext uri="{FF2B5EF4-FFF2-40B4-BE49-F238E27FC236}">
                    <a16:creationId xmlns:a16="http://schemas.microsoft.com/office/drawing/2014/main" id="{E0585D13-7D73-47A4-A42C-76709ACB22A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187451" y="5561013"/>
                <a:ext cx="198438" cy="201612"/>
              </a:xfrm>
              <a:custGeom>
                <a:avLst/>
                <a:gdLst>
                  <a:gd name="T0" fmla="*/ 172 w 176"/>
                  <a:gd name="T1" fmla="*/ 80 h 179"/>
                  <a:gd name="T2" fmla="*/ 116 w 176"/>
                  <a:gd name="T3" fmla="*/ 167 h 179"/>
                  <a:gd name="T4" fmla="*/ 18 w 176"/>
                  <a:gd name="T5" fmla="*/ 127 h 179"/>
                  <a:gd name="T6" fmla="*/ 38 w 176"/>
                  <a:gd name="T7" fmla="*/ 25 h 179"/>
                  <a:gd name="T8" fmla="*/ 139 w 176"/>
                  <a:gd name="T9" fmla="*/ 22 h 179"/>
                  <a:gd name="T10" fmla="*/ 136 w 176"/>
                  <a:gd name="T11" fmla="*/ 24 h 179"/>
                  <a:gd name="T12" fmla="*/ 126 w 176"/>
                  <a:gd name="T13" fmla="*/ 30 h 179"/>
                  <a:gd name="T14" fmla="*/ 102 w 176"/>
                  <a:gd name="T15" fmla="*/ 34 h 179"/>
                  <a:gd name="T16" fmla="*/ 36 w 176"/>
                  <a:gd name="T17" fmla="*/ 78 h 179"/>
                  <a:gd name="T18" fmla="*/ 81 w 176"/>
                  <a:gd name="T19" fmla="*/ 144 h 179"/>
                  <a:gd name="T20" fmla="*/ 145 w 176"/>
                  <a:gd name="T21" fmla="*/ 99 h 179"/>
                  <a:gd name="T22" fmla="*/ 150 w 176"/>
                  <a:gd name="T23" fmla="*/ 93 h 179"/>
                  <a:gd name="T24" fmla="*/ 172 w 176"/>
                  <a:gd name="T25" fmla="*/ 8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6" h="179">
                    <a:moveTo>
                      <a:pt x="172" y="80"/>
                    </a:moveTo>
                    <a:cubicBezTo>
                      <a:pt x="176" y="121"/>
                      <a:pt x="151" y="156"/>
                      <a:pt x="116" y="167"/>
                    </a:cubicBezTo>
                    <a:cubicBezTo>
                      <a:pt x="77" y="179"/>
                      <a:pt x="37" y="162"/>
                      <a:pt x="18" y="127"/>
                    </a:cubicBezTo>
                    <a:cubicBezTo>
                      <a:pt x="0" y="92"/>
                      <a:pt x="8" y="51"/>
                      <a:pt x="38" y="25"/>
                    </a:cubicBezTo>
                    <a:cubicBezTo>
                      <a:pt x="66" y="1"/>
                      <a:pt x="111" y="0"/>
                      <a:pt x="139" y="22"/>
                    </a:cubicBezTo>
                    <a:cubicBezTo>
                      <a:pt x="138" y="23"/>
                      <a:pt x="137" y="24"/>
                      <a:pt x="136" y="24"/>
                    </a:cubicBezTo>
                    <a:cubicBezTo>
                      <a:pt x="133" y="26"/>
                      <a:pt x="129" y="28"/>
                      <a:pt x="126" y="30"/>
                    </a:cubicBezTo>
                    <a:cubicBezTo>
                      <a:pt x="118" y="35"/>
                      <a:pt x="111" y="37"/>
                      <a:pt x="102" y="34"/>
                    </a:cubicBezTo>
                    <a:cubicBezTo>
                      <a:pt x="72" y="27"/>
                      <a:pt x="42" y="48"/>
                      <a:pt x="36" y="78"/>
                    </a:cubicBezTo>
                    <a:cubicBezTo>
                      <a:pt x="30" y="108"/>
                      <a:pt x="51" y="138"/>
                      <a:pt x="81" y="144"/>
                    </a:cubicBezTo>
                    <a:cubicBezTo>
                      <a:pt x="111" y="149"/>
                      <a:pt x="140" y="129"/>
                      <a:pt x="145" y="99"/>
                    </a:cubicBezTo>
                    <a:cubicBezTo>
                      <a:pt x="146" y="96"/>
                      <a:pt x="147" y="94"/>
                      <a:pt x="150" y="93"/>
                    </a:cubicBezTo>
                    <a:cubicBezTo>
                      <a:pt x="157" y="89"/>
                      <a:pt x="165" y="85"/>
                      <a:pt x="172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8C6554D-1B39-4FC7-91DA-5270476953DA}"/>
              </a:ext>
            </a:extLst>
          </p:cNvPr>
          <p:cNvSpPr txBox="1"/>
          <p:nvPr/>
        </p:nvSpPr>
        <p:spPr>
          <a:xfrm>
            <a:off x="8577996" y="229107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……………………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4A7A19-1E64-48E4-8AAF-35FE6CCB0706}"/>
              </a:ext>
            </a:extLst>
          </p:cNvPr>
          <p:cNvSpPr txBox="1"/>
          <p:nvPr/>
        </p:nvSpPr>
        <p:spPr>
          <a:xfrm>
            <a:off x="3178431" y="2104318"/>
            <a:ext cx="7691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Analyst types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4547658-A40B-41F9-AC7F-D15BCC4FF999}"/>
              </a:ext>
            </a:extLst>
          </p:cNvPr>
          <p:cNvCxnSpPr/>
          <p:nvPr/>
        </p:nvCxnSpPr>
        <p:spPr>
          <a:xfrm>
            <a:off x="3904392" y="1381786"/>
            <a:ext cx="1429608" cy="899405"/>
          </a:xfrm>
          <a:prstGeom prst="line">
            <a:avLst/>
          </a:prstGeom>
          <a:noFill/>
          <a:ln w="28575" cap="flat" cmpd="sng" algn="ctr">
            <a:solidFill>
              <a:srgbClr val="00A9CE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B02F5FF-61B6-4FBE-81A2-5A77398011F6}"/>
              </a:ext>
            </a:extLst>
          </p:cNvPr>
          <p:cNvCxnSpPr/>
          <p:nvPr/>
        </p:nvCxnSpPr>
        <p:spPr>
          <a:xfrm flipV="1">
            <a:off x="3916722" y="2294445"/>
            <a:ext cx="1417880" cy="917025"/>
          </a:xfrm>
          <a:prstGeom prst="line">
            <a:avLst/>
          </a:prstGeom>
          <a:noFill/>
          <a:ln w="28575" cap="flat" cmpd="sng" algn="ctr">
            <a:solidFill>
              <a:srgbClr val="00A9CE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367951-629A-4CC5-B787-9B6DAAD55A74}"/>
              </a:ext>
            </a:extLst>
          </p:cNvPr>
          <p:cNvGrpSpPr/>
          <p:nvPr/>
        </p:nvGrpSpPr>
        <p:grpSpPr>
          <a:xfrm>
            <a:off x="4972083" y="1902043"/>
            <a:ext cx="958917" cy="1081096"/>
            <a:chOff x="3672633" y="1902043"/>
            <a:chExt cx="958917" cy="108109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067359-2EC5-486C-AC07-14DDB1873D89}"/>
                </a:ext>
              </a:extLst>
            </p:cNvPr>
            <p:cNvSpPr txBox="1"/>
            <p:nvPr/>
          </p:nvSpPr>
          <p:spPr>
            <a:xfrm>
              <a:off x="3707711" y="1902043"/>
              <a:ext cx="800219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75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Hypothesis</a:t>
              </a:r>
            </a:p>
          </p:txBody>
        </p:sp>
        <p:grpSp>
          <p:nvGrpSpPr>
            <p:cNvPr id="54" name="Gruppieren 199">
              <a:extLst>
                <a:ext uri="{FF2B5EF4-FFF2-40B4-BE49-F238E27FC236}">
                  <a16:creationId xmlns:a16="http://schemas.microsoft.com/office/drawing/2014/main" id="{3E1FFF25-15B2-4D70-8CA1-A364B9DB8F67}"/>
                </a:ext>
              </a:extLst>
            </p:cNvPr>
            <p:cNvGrpSpPr/>
            <p:nvPr/>
          </p:nvGrpSpPr>
          <p:grpSpPr bwMode="gray">
            <a:xfrm>
              <a:off x="3972355" y="2144418"/>
              <a:ext cx="174128" cy="248804"/>
              <a:chOff x="4183201" y="2471526"/>
              <a:chExt cx="376998" cy="428305"/>
            </a:xfrm>
            <a:solidFill>
              <a:srgbClr val="000000"/>
            </a:solidFill>
          </p:grpSpPr>
          <p:sp>
            <p:nvSpPr>
              <p:cNvPr id="57" name="Freeform 1028">
                <a:extLst>
                  <a:ext uri="{FF2B5EF4-FFF2-40B4-BE49-F238E27FC236}">
                    <a16:creationId xmlns:a16="http://schemas.microsoft.com/office/drawing/2014/main" id="{F943C3E6-6025-4BF7-B804-18B6548FAAB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261278" y="2542910"/>
                <a:ext cx="220845" cy="258767"/>
              </a:xfrm>
              <a:custGeom>
                <a:avLst/>
                <a:gdLst>
                  <a:gd name="T0" fmla="*/ 103 w 139"/>
                  <a:gd name="T1" fmla="*/ 163 h 163"/>
                  <a:gd name="T2" fmla="*/ 37 w 139"/>
                  <a:gd name="T3" fmla="*/ 163 h 163"/>
                  <a:gd name="T4" fmla="*/ 36 w 139"/>
                  <a:gd name="T5" fmla="*/ 157 h 163"/>
                  <a:gd name="T6" fmla="*/ 25 w 139"/>
                  <a:gd name="T7" fmla="*/ 128 h 163"/>
                  <a:gd name="T8" fmla="*/ 8 w 139"/>
                  <a:gd name="T9" fmla="*/ 97 h 163"/>
                  <a:gd name="T10" fmla="*/ 4 w 139"/>
                  <a:gd name="T11" fmla="*/ 51 h 163"/>
                  <a:gd name="T12" fmla="*/ 37 w 139"/>
                  <a:gd name="T13" fmla="*/ 10 h 163"/>
                  <a:gd name="T14" fmla="*/ 102 w 139"/>
                  <a:gd name="T15" fmla="*/ 9 h 163"/>
                  <a:gd name="T16" fmla="*/ 138 w 139"/>
                  <a:gd name="T17" fmla="*/ 73 h 163"/>
                  <a:gd name="T18" fmla="*/ 126 w 139"/>
                  <a:gd name="T19" fmla="*/ 109 h 163"/>
                  <a:gd name="T20" fmla="*/ 111 w 139"/>
                  <a:gd name="T21" fmla="*/ 136 h 163"/>
                  <a:gd name="T22" fmla="*/ 103 w 139"/>
                  <a:gd name="T23" fmla="*/ 161 h 163"/>
                  <a:gd name="T24" fmla="*/ 103 w 139"/>
                  <a:gd name="T25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9" h="163">
                    <a:moveTo>
                      <a:pt x="103" y="163"/>
                    </a:moveTo>
                    <a:cubicBezTo>
                      <a:pt x="81" y="163"/>
                      <a:pt x="59" y="163"/>
                      <a:pt x="37" y="163"/>
                    </a:cubicBezTo>
                    <a:cubicBezTo>
                      <a:pt x="37" y="161"/>
                      <a:pt x="36" y="159"/>
                      <a:pt x="36" y="157"/>
                    </a:cubicBezTo>
                    <a:cubicBezTo>
                      <a:pt x="35" y="146"/>
                      <a:pt x="30" y="137"/>
                      <a:pt x="25" y="128"/>
                    </a:cubicBezTo>
                    <a:cubicBezTo>
                      <a:pt x="19" y="118"/>
                      <a:pt x="13" y="108"/>
                      <a:pt x="8" y="97"/>
                    </a:cubicBezTo>
                    <a:cubicBezTo>
                      <a:pt x="1" y="82"/>
                      <a:pt x="0" y="67"/>
                      <a:pt x="4" y="51"/>
                    </a:cubicBezTo>
                    <a:cubicBezTo>
                      <a:pt x="8" y="32"/>
                      <a:pt x="19" y="18"/>
                      <a:pt x="37" y="10"/>
                    </a:cubicBezTo>
                    <a:cubicBezTo>
                      <a:pt x="58" y="0"/>
                      <a:pt x="80" y="0"/>
                      <a:pt x="102" y="9"/>
                    </a:cubicBezTo>
                    <a:cubicBezTo>
                      <a:pt x="128" y="21"/>
                      <a:pt x="139" y="45"/>
                      <a:pt x="138" y="73"/>
                    </a:cubicBezTo>
                    <a:cubicBezTo>
                      <a:pt x="137" y="86"/>
                      <a:pt x="132" y="98"/>
                      <a:pt x="126" y="109"/>
                    </a:cubicBezTo>
                    <a:cubicBezTo>
                      <a:pt x="121" y="118"/>
                      <a:pt x="115" y="127"/>
                      <a:pt x="111" y="136"/>
                    </a:cubicBezTo>
                    <a:cubicBezTo>
                      <a:pt x="106" y="144"/>
                      <a:pt x="104" y="152"/>
                      <a:pt x="103" y="161"/>
                    </a:cubicBezTo>
                    <a:cubicBezTo>
                      <a:pt x="103" y="161"/>
                      <a:pt x="103" y="162"/>
                      <a:pt x="103" y="1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" name="Freeform 1029">
                <a:extLst>
                  <a:ext uri="{FF2B5EF4-FFF2-40B4-BE49-F238E27FC236}">
                    <a16:creationId xmlns:a16="http://schemas.microsoft.com/office/drawing/2014/main" id="{F1164A3C-9970-4C35-9576-AF782F8B6DF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325969" y="2815062"/>
                <a:ext cx="95923" cy="17846"/>
              </a:xfrm>
              <a:custGeom>
                <a:avLst/>
                <a:gdLst>
                  <a:gd name="T0" fmla="*/ 30 w 60"/>
                  <a:gd name="T1" fmla="*/ 12 h 12"/>
                  <a:gd name="T2" fmla="*/ 8 w 60"/>
                  <a:gd name="T3" fmla="*/ 12 h 12"/>
                  <a:gd name="T4" fmla="*/ 0 w 60"/>
                  <a:gd name="T5" fmla="*/ 6 h 12"/>
                  <a:gd name="T6" fmla="*/ 8 w 60"/>
                  <a:gd name="T7" fmla="*/ 0 h 12"/>
                  <a:gd name="T8" fmla="*/ 52 w 60"/>
                  <a:gd name="T9" fmla="*/ 0 h 12"/>
                  <a:gd name="T10" fmla="*/ 59 w 60"/>
                  <a:gd name="T11" fmla="*/ 7 h 12"/>
                  <a:gd name="T12" fmla="*/ 52 w 60"/>
                  <a:gd name="T13" fmla="*/ 12 h 12"/>
                  <a:gd name="T14" fmla="*/ 50 w 60"/>
                  <a:gd name="T15" fmla="*/ 12 h 12"/>
                  <a:gd name="T16" fmla="*/ 30 w 60"/>
                  <a:gd name="T1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2">
                    <a:moveTo>
                      <a:pt x="30" y="12"/>
                    </a:moveTo>
                    <a:cubicBezTo>
                      <a:pt x="22" y="12"/>
                      <a:pt x="15" y="12"/>
                      <a:pt x="8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23" y="0"/>
                      <a:pt x="37" y="0"/>
                      <a:pt x="52" y="0"/>
                    </a:cubicBezTo>
                    <a:cubicBezTo>
                      <a:pt x="57" y="0"/>
                      <a:pt x="60" y="3"/>
                      <a:pt x="59" y="7"/>
                    </a:cubicBezTo>
                    <a:cubicBezTo>
                      <a:pt x="59" y="10"/>
                      <a:pt x="56" y="12"/>
                      <a:pt x="52" y="12"/>
                    </a:cubicBezTo>
                    <a:cubicBezTo>
                      <a:pt x="52" y="12"/>
                      <a:pt x="51" y="12"/>
                      <a:pt x="50" y="12"/>
                    </a:cubicBezTo>
                    <a:cubicBezTo>
                      <a:pt x="43" y="12"/>
                      <a:pt x="37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Freeform 1030">
                <a:extLst>
                  <a:ext uri="{FF2B5EF4-FFF2-40B4-BE49-F238E27FC236}">
                    <a16:creationId xmlns:a16="http://schemas.microsoft.com/office/drawing/2014/main" id="{98B05581-A4B2-4BBD-A9B5-58C981D5DC5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328201" y="2846292"/>
                <a:ext cx="89230" cy="20076"/>
              </a:xfrm>
              <a:custGeom>
                <a:avLst/>
                <a:gdLst>
                  <a:gd name="T0" fmla="*/ 29 w 57"/>
                  <a:gd name="T1" fmla="*/ 12 h 12"/>
                  <a:gd name="T2" fmla="*/ 7 w 57"/>
                  <a:gd name="T3" fmla="*/ 12 h 12"/>
                  <a:gd name="T4" fmla="*/ 1 w 57"/>
                  <a:gd name="T5" fmla="*/ 6 h 12"/>
                  <a:gd name="T6" fmla="*/ 7 w 57"/>
                  <a:gd name="T7" fmla="*/ 0 h 12"/>
                  <a:gd name="T8" fmla="*/ 51 w 57"/>
                  <a:gd name="T9" fmla="*/ 0 h 12"/>
                  <a:gd name="T10" fmla="*/ 57 w 57"/>
                  <a:gd name="T11" fmla="*/ 6 h 12"/>
                  <a:gd name="T12" fmla="*/ 51 w 57"/>
                  <a:gd name="T13" fmla="*/ 12 h 12"/>
                  <a:gd name="T14" fmla="*/ 29 w 57"/>
                  <a:gd name="T1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12">
                    <a:moveTo>
                      <a:pt x="29" y="12"/>
                    </a:moveTo>
                    <a:cubicBezTo>
                      <a:pt x="22" y="12"/>
                      <a:pt x="14" y="12"/>
                      <a:pt x="7" y="12"/>
                    </a:cubicBezTo>
                    <a:cubicBezTo>
                      <a:pt x="3" y="12"/>
                      <a:pt x="0" y="10"/>
                      <a:pt x="1" y="6"/>
                    </a:cubicBezTo>
                    <a:cubicBezTo>
                      <a:pt x="1" y="3"/>
                      <a:pt x="3" y="0"/>
                      <a:pt x="7" y="0"/>
                    </a:cubicBezTo>
                    <a:cubicBezTo>
                      <a:pt x="22" y="0"/>
                      <a:pt x="36" y="0"/>
                      <a:pt x="51" y="0"/>
                    </a:cubicBezTo>
                    <a:cubicBezTo>
                      <a:pt x="55" y="0"/>
                      <a:pt x="57" y="3"/>
                      <a:pt x="57" y="6"/>
                    </a:cubicBezTo>
                    <a:cubicBezTo>
                      <a:pt x="57" y="10"/>
                      <a:pt x="55" y="12"/>
                      <a:pt x="51" y="12"/>
                    </a:cubicBezTo>
                    <a:cubicBezTo>
                      <a:pt x="43" y="12"/>
                      <a:pt x="36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" name="Freeform 1031">
                <a:extLst>
                  <a:ext uri="{FF2B5EF4-FFF2-40B4-BE49-F238E27FC236}">
                    <a16:creationId xmlns:a16="http://schemas.microsoft.com/office/drawing/2014/main" id="{162F4752-2080-40FC-AC85-9202E88965E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511122" y="2634372"/>
                <a:ext cx="49077" cy="24538"/>
              </a:xfrm>
              <a:custGeom>
                <a:avLst/>
                <a:gdLst>
                  <a:gd name="T0" fmla="*/ 32 w 32"/>
                  <a:gd name="T1" fmla="*/ 0 h 15"/>
                  <a:gd name="T2" fmla="*/ 32 w 32"/>
                  <a:gd name="T3" fmla="*/ 15 h 15"/>
                  <a:gd name="T4" fmla="*/ 0 w 32"/>
                  <a:gd name="T5" fmla="*/ 15 h 15"/>
                  <a:gd name="T6" fmla="*/ 0 w 32"/>
                  <a:gd name="T7" fmla="*/ 0 h 15"/>
                  <a:gd name="T8" fmla="*/ 32 w 32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5">
                    <a:moveTo>
                      <a:pt x="32" y="0"/>
                    </a:moveTo>
                    <a:cubicBezTo>
                      <a:pt x="32" y="5"/>
                      <a:pt x="32" y="10"/>
                      <a:pt x="32" y="15"/>
                    </a:cubicBezTo>
                    <a:cubicBezTo>
                      <a:pt x="21" y="15"/>
                      <a:pt x="11" y="15"/>
                      <a:pt x="0" y="15"/>
                    </a:cubicBezTo>
                    <a:cubicBezTo>
                      <a:pt x="0" y="10"/>
                      <a:pt x="0" y="5"/>
                      <a:pt x="0" y="0"/>
                    </a:cubicBezTo>
                    <a:cubicBezTo>
                      <a:pt x="10" y="0"/>
                      <a:pt x="21" y="0"/>
                      <a:pt x="3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Freeform 1032">
                <a:extLst>
                  <a:ext uri="{FF2B5EF4-FFF2-40B4-BE49-F238E27FC236}">
                    <a16:creationId xmlns:a16="http://schemas.microsoft.com/office/drawing/2014/main" id="{1098772F-077B-425E-8E0B-DFAE47659EE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183201" y="2634372"/>
                <a:ext cx="53538" cy="24538"/>
              </a:xfrm>
              <a:custGeom>
                <a:avLst/>
                <a:gdLst>
                  <a:gd name="T0" fmla="*/ 0 w 33"/>
                  <a:gd name="T1" fmla="*/ 16 h 16"/>
                  <a:gd name="T2" fmla="*/ 0 w 33"/>
                  <a:gd name="T3" fmla="*/ 0 h 16"/>
                  <a:gd name="T4" fmla="*/ 33 w 33"/>
                  <a:gd name="T5" fmla="*/ 0 h 16"/>
                  <a:gd name="T6" fmla="*/ 33 w 33"/>
                  <a:gd name="T7" fmla="*/ 16 h 16"/>
                  <a:gd name="T8" fmla="*/ 0 w 33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6">
                    <a:moveTo>
                      <a:pt x="0" y="16"/>
                    </a:moveTo>
                    <a:cubicBezTo>
                      <a:pt x="0" y="11"/>
                      <a:pt x="0" y="6"/>
                      <a:pt x="0" y="0"/>
                    </a:cubicBezTo>
                    <a:cubicBezTo>
                      <a:pt x="11" y="0"/>
                      <a:pt x="22" y="0"/>
                      <a:pt x="33" y="0"/>
                    </a:cubicBezTo>
                    <a:cubicBezTo>
                      <a:pt x="33" y="6"/>
                      <a:pt x="33" y="11"/>
                      <a:pt x="33" y="16"/>
                    </a:cubicBezTo>
                    <a:cubicBezTo>
                      <a:pt x="22" y="16"/>
                      <a:pt x="12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" name="Freeform 1033">
                <a:extLst>
                  <a:ext uri="{FF2B5EF4-FFF2-40B4-BE49-F238E27FC236}">
                    <a16:creationId xmlns:a16="http://schemas.microsoft.com/office/drawing/2014/main" id="{817E2092-D494-4D68-AF7B-1B52520565E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484353" y="2540680"/>
                <a:ext cx="58000" cy="51307"/>
              </a:xfrm>
              <a:custGeom>
                <a:avLst/>
                <a:gdLst>
                  <a:gd name="T0" fmla="*/ 10 w 36"/>
                  <a:gd name="T1" fmla="*/ 32 h 32"/>
                  <a:gd name="T2" fmla="*/ 0 w 36"/>
                  <a:gd name="T3" fmla="*/ 19 h 32"/>
                  <a:gd name="T4" fmla="*/ 26 w 36"/>
                  <a:gd name="T5" fmla="*/ 0 h 32"/>
                  <a:gd name="T6" fmla="*/ 36 w 36"/>
                  <a:gd name="T7" fmla="*/ 13 h 32"/>
                  <a:gd name="T8" fmla="*/ 10 w 3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2">
                    <a:moveTo>
                      <a:pt x="10" y="32"/>
                    </a:moveTo>
                    <a:cubicBezTo>
                      <a:pt x="7" y="27"/>
                      <a:pt x="4" y="23"/>
                      <a:pt x="0" y="19"/>
                    </a:cubicBezTo>
                    <a:cubicBezTo>
                      <a:pt x="9" y="12"/>
                      <a:pt x="18" y="6"/>
                      <a:pt x="26" y="0"/>
                    </a:cubicBezTo>
                    <a:cubicBezTo>
                      <a:pt x="30" y="4"/>
                      <a:pt x="33" y="9"/>
                      <a:pt x="36" y="13"/>
                    </a:cubicBezTo>
                    <a:cubicBezTo>
                      <a:pt x="27" y="19"/>
                      <a:pt x="19" y="25"/>
                      <a:pt x="10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" name="Freeform 1034">
                <a:extLst>
                  <a:ext uri="{FF2B5EF4-FFF2-40B4-BE49-F238E27FC236}">
                    <a16:creationId xmlns:a16="http://schemas.microsoft.com/office/drawing/2014/main" id="{8FCA4C89-123F-4990-8606-6E26276461D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201047" y="2705756"/>
                <a:ext cx="55769" cy="44615"/>
              </a:xfrm>
              <a:custGeom>
                <a:avLst/>
                <a:gdLst>
                  <a:gd name="T0" fmla="*/ 6 w 36"/>
                  <a:gd name="T1" fmla="*/ 28 h 28"/>
                  <a:gd name="T2" fmla="*/ 0 w 36"/>
                  <a:gd name="T3" fmla="*/ 13 h 28"/>
                  <a:gd name="T4" fmla="*/ 29 w 36"/>
                  <a:gd name="T5" fmla="*/ 0 h 28"/>
                  <a:gd name="T6" fmla="*/ 36 w 36"/>
                  <a:gd name="T7" fmla="*/ 15 h 28"/>
                  <a:gd name="T8" fmla="*/ 6 w 36"/>
                  <a:gd name="T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28">
                    <a:moveTo>
                      <a:pt x="6" y="28"/>
                    </a:moveTo>
                    <a:cubicBezTo>
                      <a:pt x="4" y="23"/>
                      <a:pt x="2" y="18"/>
                      <a:pt x="0" y="13"/>
                    </a:cubicBezTo>
                    <a:cubicBezTo>
                      <a:pt x="9" y="9"/>
                      <a:pt x="19" y="4"/>
                      <a:pt x="29" y="0"/>
                    </a:cubicBezTo>
                    <a:cubicBezTo>
                      <a:pt x="31" y="5"/>
                      <a:pt x="33" y="9"/>
                      <a:pt x="36" y="15"/>
                    </a:cubicBezTo>
                    <a:cubicBezTo>
                      <a:pt x="26" y="19"/>
                      <a:pt x="16" y="23"/>
                      <a:pt x="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" name="Freeform 1035">
                <a:extLst>
                  <a:ext uri="{FF2B5EF4-FFF2-40B4-BE49-F238E27FC236}">
                    <a16:creationId xmlns:a16="http://schemas.microsoft.com/office/drawing/2014/main" id="{F604610A-4610-413A-9E61-CC1C40E6C7E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205509" y="2540680"/>
                <a:ext cx="55769" cy="51307"/>
              </a:xfrm>
              <a:custGeom>
                <a:avLst/>
                <a:gdLst>
                  <a:gd name="T0" fmla="*/ 35 w 35"/>
                  <a:gd name="T1" fmla="*/ 19 h 32"/>
                  <a:gd name="T2" fmla="*/ 26 w 35"/>
                  <a:gd name="T3" fmla="*/ 32 h 32"/>
                  <a:gd name="T4" fmla="*/ 0 w 35"/>
                  <a:gd name="T5" fmla="*/ 13 h 32"/>
                  <a:gd name="T6" fmla="*/ 9 w 35"/>
                  <a:gd name="T7" fmla="*/ 0 h 32"/>
                  <a:gd name="T8" fmla="*/ 35 w 35"/>
                  <a:gd name="T9" fmla="*/ 1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2">
                    <a:moveTo>
                      <a:pt x="35" y="19"/>
                    </a:moveTo>
                    <a:cubicBezTo>
                      <a:pt x="32" y="23"/>
                      <a:pt x="29" y="27"/>
                      <a:pt x="26" y="32"/>
                    </a:cubicBezTo>
                    <a:cubicBezTo>
                      <a:pt x="17" y="26"/>
                      <a:pt x="9" y="19"/>
                      <a:pt x="0" y="13"/>
                    </a:cubicBezTo>
                    <a:cubicBezTo>
                      <a:pt x="3" y="9"/>
                      <a:pt x="6" y="4"/>
                      <a:pt x="9" y="0"/>
                    </a:cubicBezTo>
                    <a:cubicBezTo>
                      <a:pt x="18" y="6"/>
                      <a:pt x="26" y="12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" name="Freeform 1036">
                <a:extLst>
                  <a:ext uri="{FF2B5EF4-FFF2-40B4-BE49-F238E27FC236}">
                    <a16:creationId xmlns:a16="http://schemas.microsoft.com/office/drawing/2014/main" id="{468E7AC9-E2B1-4C7D-9A3A-4A42FEB380F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488815" y="2705756"/>
                <a:ext cx="58000" cy="44615"/>
              </a:xfrm>
              <a:custGeom>
                <a:avLst/>
                <a:gdLst>
                  <a:gd name="T0" fmla="*/ 0 w 36"/>
                  <a:gd name="T1" fmla="*/ 15 h 27"/>
                  <a:gd name="T2" fmla="*/ 7 w 36"/>
                  <a:gd name="T3" fmla="*/ 0 h 27"/>
                  <a:gd name="T4" fmla="*/ 36 w 36"/>
                  <a:gd name="T5" fmla="*/ 12 h 27"/>
                  <a:gd name="T6" fmla="*/ 30 w 36"/>
                  <a:gd name="T7" fmla="*/ 27 h 27"/>
                  <a:gd name="T8" fmla="*/ 0 w 36"/>
                  <a:gd name="T9" fmla="*/ 1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27">
                    <a:moveTo>
                      <a:pt x="0" y="15"/>
                    </a:moveTo>
                    <a:cubicBezTo>
                      <a:pt x="3" y="10"/>
                      <a:pt x="5" y="5"/>
                      <a:pt x="7" y="0"/>
                    </a:cubicBezTo>
                    <a:cubicBezTo>
                      <a:pt x="16" y="4"/>
                      <a:pt x="26" y="8"/>
                      <a:pt x="36" y="12"/>
                    </a:cubicBezTo>
                    <a:cubicBezTo>
                      <a:pt x="34" y="17"/>
                      <a:pt x="32" y="22"/>
                      <a:pt x="30" y="27"/>
                    </a:cubicBezTo>
                    <a:cubicBezTo>
                      <a:pt x="20" y="23"/>
                      <a:pt x="10" y="19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" name="Freeform 1037">
                <a:extLst>
                  <a:ext uri="{FF2B5EF4-FFF2-40B4-BE49-F238E27FC236}">
                    <a16:creationId xmlns:a16="http://schemas.microsoft.com/office/drawing/2014/main" id="{655E3F37-9F76-43F8-834F-936B9E71CE0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430815" y="2484911"/>
                <a:ext cx="44615" cy="55768"/>
              </a:xfrm>
              <a:custGeom>
                <a:avLst/>
                <a:gdLst>
                  <a:gd name="T0" fmla="*/ 14 w 28"/>
                  <a:gd name="T1" fmla="*/ 0 h 35"/>
                  <a:gd name="T2" fmla="*/ 28 w 28"/>
                  <a:gd name="T3" fmla="*/ 8 h 35"/>
                  <a:gd name="T4" fmla="*/ 14 w 28"/>
                  <a:gd name="T5" fmla="*/ 35 h 35"/>
                  <a:gd name="T6" fmla="*/ 0 w 28"/>
                  <a:gd name="T7" fmla="*/ 27 h 35"/>
                  <a:gd name="T8" fmla="*/ 14 w 28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5">
                    <a:moveTo>
                      <a:pt x="14" y="0"/>
                    </a:moveTo>
                    <a:cubicBezTo>
                      <a:pt x="19" y="3"/>
                      <a:pt x="23" y="5"/>
                      <a:pt x="28" y="8"/>
                    </a:cubicBezTo>
                    <a:cubicBezTo>
                      <a:pt x="24" y="17"/>
                      <a:pt x="19" y="26"/>
                      <a:pt x="14" y="35"/>
                    </a:cubicBezTo>
                    <a:cubicBezTo>
                      <a:pt x="9" y="32"/>
                      <a:pt x="5" y="29"/>
                      <a:pt x="0" y="27"/>
                    </a:cubicBezTo>
                    <a:cubicBezTo>
                      <a:pt x="4" y="18"/>
                      <a:pt x="9" y="9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7" name="Freeform 1038">
                <a:extLst>
                  <a:ext uri="{FF2B5EF4-FFF2-40B4-BE49-F238E27FC236}">
                    <a16:creationId xmlns:a16="http://schemas.microsoft.com/office/drawing/2014/main" id="{AA668B94-3419-4EE2-A529-3B39CDF4790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270201" y="2484911"/>
                <a:ext cx="46846" cy="55768"/>
              </a:xfrm>
              <a:custGeom>
                <a:avLst/>
                <a:gdLst>
                  <a:gd name="T0" fmla="*/ 15 w 29"/>
                  <a:gd name="T1" fmla="*/ 35 h 35"/>
                  <a:gd name="T2" fmla="*/ 0 w 29"/>
                  <a:gd name="T3" fmla="*/ 8 h 35"/>
                  <a:gd name="T4" fmla="*/ 15 w 29"/>
                  <a:gd name="T5" fmla="*/ 0 h 35"/>
                  <a:gd name="T6" fmla="*/ 29 w 29"/>
                  <a:gd name="T7" fmla="*/ 27 h 35"/>
                  <a:gd name="T8" fmla="*/ 15 w 29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5">
                    <a:moveTo>
                      <a:pt x="15" y="35"/>
                    </a:moveTo>
                    <a:cubicBezTo>
                      <a:pt x="10" y="26"/>
                      <a:pt x="5" y="17"/>
                      <a:pt x="0" y="8"/>
                    </a:cubicBezTo>
                    <a:cubicBezTo>
                      <a:pt x="5" y="5"/>
                      <a:pt x="10" y="3"/>
                      <a:pt x="15" y="0"/>
                    </a:cubicBezTo>
                    <a:cubicBezTo>
                      <a:pt x="20" y="9"/>
                      <a:pt x="24" y="18"/>
                      <a:pt x="29" y="27"/>
                    </a:cubicBezTo>
                    <a:cubicBezTo>
                      <a:pt x="24" y="29"/>
                      <a:pt x="20" y="32"/>
                      <a:pt x="15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8" name="Freeform 1039">
                <a:extLst>
                  <a:ext uri="{FF2B5EF4-FFF2-40B4-BE49-F238E27FC236}">
                    <a16:creationId xmlns:a16="http://schemas.microsoft.com/office/drawing/2014/main" id="{1D6140EE-AF0D-4ABC-80D7-C01A6D45C70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361661" y="2471526"/>
                <a:ext cx="24539" cy="46845"/>
              </a:xfrm>
              <a:custGeom>
                <a:avLst/>
                <a:gdLst>
                  <a:gd name="T0" fmla="*/ 0 w 16"/>
                  <a:gd name="T1" fmla="*/ 0 h 29"/>
                  <a:gd name="T2" fmla="*/ 16 w 16"/>
                  <a:gd name="T3" fmla="*/ 0 h 29"/>
                  <a:gd name="T4" fmla="*/ 16 w 16"/>
                  <a:gd name="T5" fmla="*/ 29 h 29"/>
                  <a:gd name="T6" fmla="*/ 0 w 16"/>
                  <a:gd name="T7" fmla="*/ 29 h 29"/>
                  <a:gd name="T8" fmla="*/ 0 w 16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9">
                    <a:moveTo>
                      <a:pt x="0" y="0"/>
                    </a:moveTo>
                    <a:cubicBezTo>
                      <a:pt x="6" y="0"/>
                      <a:pt x="11" y="0"/>
                      <a:pt x="16" y="0"/>
                    </a:cubicBezTo>
                    <a:cubicBezTo>
                      <a:pt x="16" y="10"/>
                      <a:pt x="16" y="20"/>
                      <a:pt x="16" y="29"/>
                    </a:cubicBezTo>
                    <a:cubicBezTo>
                      <a:pt x="11" y="29"/>
                      <a:pt x="6" y="29"/>
                      <a:pt x="0" y="29"/>
                    </a:cubicBezTo>
                    <a:cubicBezTo>
                      <a:pt x="0" y="20"/>
                      <a:pt x="0" y="1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9" name="Freeform 1040">
                <a:extLst>
                  <a:ext uri="{FF2B5EF4-FFF2-40B4-BE49-F238E27FC236}">
                    <a16:creationId xmlns:a16="http://schemas.microsoft.com/office/drawing/2014/main" id="{361D5CCD-42C7-48D4-B631-EE85AC07048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339354" y="2877523"/>
                <a:ext cx="69154" cy="22308"/>
              </a:xfrm>
              <a:custGeom>
                <a:avLst/>
                <a:gdLst>
                  <a:gd name="T0" fmla="*/ 0 w 44"/>
                  <a:gd name="T1" fmla="*/ 0 h 14"/>
                  <a:gd name="T2" fmla="*/ 44 w 44"/>
                  <a:gd name="T3" fmla="*/ 0 h 14"/>
                  <a:gd name="T4" fmla="*/ 30 w 44"/>
                  <a:gd name="T5" fmla="*/ 11 h 14"/>
                  <a:gd name="T6" fmla="*/ 25 w 44"/>
                  <a:gd name="T7" fmla="*/ 13 h 14"/>
                  <a:gd name="T8" fmla="*/ 5 w 44"/>
                  <a:gd name="T9" fmla="*/ 5 h 14"/>
                  <a:gd name="T10" fmla="*/ 0 w 44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14">
                    <a:moveTo>
                      <a:pt x="0" y="0"/>
                    </a:moveTo>
                    <a:cubicBezTo>
                      <a:pt x="15" y="0"/>
                      <a:pt x="29" y="0"/>
                      <a:pt x="44" y="0"/>
                    </a:cubicBezTo>
                    <a:cubicBezTo>
                      <a:pt x="39" y="4"/>
                      <a:pt x="35" y="8"/>
                      <a:pt x="30" y="11"/>
                    </a:cubicBezTo>
                    <a:cubicBezTo>
                      <a:pt x="29" y="13"/>
                      <a:pt x="27" y="12"/>
                      <a:pt x="25" y="13"/>
                    </a:cubicBezTo>
                    <a:cubicBezTo>
                      <a:pt x="17" y="14"/>
                      <a:pt x="10" y="11"/>
                      <a:pt x="5" y="5"/>
                    </a:cubicBezTo>
                    <a:cubicBezTo>
                      <a:pt x="4" y="4"/>
                      <a:pt x="2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38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" name="Freeform 31">
              <a:extLst>
                <a:ext uri="{FF2B5EF4-FFF2-40B4-BE49-F238E27FC236}">
                  <a16:creationId xmlns:a16="http://schemas.microsoft.com/office/drawing/2014/main" id="{0540C100-985F-40C8-9222-6065B070792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950815" y="2778389"/>
              <a:ext cx="204750" cy="204750"/>
            </a:xfrm>
            <a:custGeom>
              <a:avLst/>
              <a:gdLst>
                <a:gd name="T0" fmla="*/ 116 w 170"/>
                <a:gd name="T1" fmla="*/ 170 h 170"/>
                <a:gd name="T2" fmla="*/ 170 w 170"/>
                <a:gd name="T3" fmla="*/ 170 h 170"/>
                <a:gd name="T4" fmla="*/ 127 w 170"/>
                <a:gd name="T5" fmla="*/ 0 h 170"/>
                <a:gd name="T6" fmla="*/ 96 w 170"/>
                <a:gd name="T7" fmla="*/ 0 h 170"/>
                <a:gd name="T8" fmla="*/ 101 w 170"/>
                <a:gd name="T9" fmla="*/ 42 h 170"/>
                <a:gd name="T10" fmla="*/ 69 w 170"/>
                <a:gd name="T11" fmla="*/ 42 h 170"/>
                <a:gd name="T12" fmla="*/ 74 w 170"/>
                <a:gd name="T13" fmla="*/ 0 h 170"/>
                <a:gd name="T14" fmla="*/ 42 w 170"/>
                <a:gd name="T15" fmla="*/ 0 h 170"/>
                <a:gd name="T16" fmla="*/ 0 w 170"/>
                <a:gd name="T17" fmla="*/ 170 h 170"/>
                <a:gd name="T18" fmla="*/ 53 w 170"/>
                <a:gd name="T19" fmla="*/ 170 h 170"/>
                <a:gd name="T20" fmla="*/ 59 w 170"/>
                <a:gd name="T21" fmla="*/ 128 h 170"/>
                <a:gd name="T22" fmla="*/ 111 w 170"/>
                <a:gd name="T23" fmla="*/ 128 h 170"/>
                <a:gd name="T24" fmla="*/ 116 w 170"/>
                <a:gd name="T25" fmla="*/ 170 h 170"/>
                <a:gd name="T26" fmla="*/ 61 w 170"/>
                <a:gd name="T27" fmla="*/ 107 h 170"/>
                <a:gd name="T28" fmla="*/ 67 w 170"/>
                <a:gd name="T29" fmla="*/ 64 h 170"/>
                <a:gd name="T30" fmla="*/ 104 w 170"/>
                <a:gd name="T31" fmla="*/ 64 h 170"/>
                <a:gd name="T32" fmla="*/ 109 w 170"/>
                <a:gd name="T33" fmla="*/ 107 h 170"/>
                <a:gd name="T34" fmla="*/ 61 w 170"/>
                <a:gd name="T35" fmla="*/ 10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0" h="170">
                  <a:moveTo>
                    <a:pt x="116" y="170"/>
                  </a:moveTo>
                  <a:lnTo>
                    <a:pt x="170" y="170"/>
                  </a:lnTo>
                  <a:lnTo>
                    <a:pt x="127" y="0"/>
                  </a:lnTo>
                  <a:lnTo>
                    <a:pt x="96" y="0"/>
                  </a:lnTo>
                  <a:lnTo>
                    <a:pt x="101" y="42"/>
                  </a:lnTo>
                  <a:lnTo>
                    <a:pt x="69" y="42"/>
                  </a:lnTo>
                  <a:lnTo>
                    <a:pt x="74" y="0"/>
                  </a:lnTo>
                  <a:lnTo>
                    <a:pt x="42" y="0"/>
                  </a:lnTo>
                  <a:lnTo>
                    <a:pt x="0" y="170"/>
                  </a:lnTo>
                  <a:lnTo>
                    <a:pt x="53" y="170"/>
                  </a:lnTo>
                  <a:lnTo>
                    <a:pt x="59" y="128"/>
                  </a:lnTo>
                  <a:lnTo>
                    <a:pt x="111" y="128"/>
                  </a:lnTo>
                  <a:lnTo>
                    <a:pt x="116" y="170"/>
                  </a:lnTo>
                  <a:close/>
                  <a:moveTo>
                    <a:pt x="61" y="107"/>
                  </a:moveTo>
                  <a:lnTo>
                    <a:pt x="67" y="64"/>
                  </a:lnTo>
                  <a:lnTo>
                    <a:pt x="104" y="64"/>
                  </a:lnTo>
                  <a:lnTo>
                    <a:pt x="109" y="107"/>
                  </a:lnTo>
                  <a:lnTo>
                    <a:pt x="61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endParaRPr lang="en-US" sz="1138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2D9A0F2-EE0E-4791-AD01-6CE017A8FA31}"/>
                </a:ext>
              </a:extLst>
            </p:cNvPr>
            <p:cNvSpPr txBox="1"/>
            <p:nvPr/>
          </p:nvSpPr>
          <p:spPr>
            <a:xfrm>
              <a:off x="3672633" y="2465901"/>
              <a:ext cx="958917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975"/>
              </a:lvl1pPr>
            </a:lstStyle>
            <a:p>
              <a:r>
                <a:rPr lang="en-AU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Requirements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DE526AC-AD22-4D52-AE8F-5FD5B51AFB5B}"/>
              </a:ext>
            </a:extLst>
          </p:cNvPr>
          <p:cNvSpPr txBox="1"/>
          <p:nvPr/>
        </p:nvSpPr>
        <p:spPr>
          <a:xfrm>
            <a:off x="1524001" y="2639838"/>
            <a:ext cx="173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Current state &amp;</a:t>
            </a:r>
          </a:p>
          <a:p>
            <a:r>
              <a:rPr lang="en-AU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assumptions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0245DB-4AA3-4C2C-A80A-E9233601FBBD}"/>
              </a:ext>
            </a:extLst>
          </p:cNvPr>
          <p:cNvSpPr txBox="1"/>
          <p:nvPr/>
        </p:nvSpPr>
        <p:spPr>
          <a:xfrm>
            <a:off x="9489335" y="3546046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June 20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4D6AD65-358F-4C48-B12E-4F161A8AF01F}"/>
              </a:ext>
            </a:extLst>
          </p:cNvPr>
          <p:cNvGrpSpPr/>
          <p:nvPr/>
        </p:nvGrpSpPr>
        <p:grpSpPr>
          <a:xfrm>
            <a:off x="1727005" y="4735106"/>
            <a:ext cx="8275122" cy="630091"/>
            <a:chOff x="184674" y="4519811"/>
            <a:chExt cx="8275122" cy="630091"/>
          </a:xfrm>
        </p:grpSpPr>
        <p:sp>
          <p:nvSpPr>
            <p:cNvPr id="73" name="Right Arrow 185">
              <a:extLst>
                <a:ext uri="{FF2B5EF4-FFF2-40B4-BE49-F238E27FC236}">
                  <a16:creationId xmlns:a16="http://schemas.microsoft.com/office/drawing/2014/main" id="{0B38B39F-A72C-41BD-90A3-C1D6D0284B9C}"/>
                </a:ext>
              </a:extLst>
            </p:cNvPr>
            <p:cNvSpPr/>
            <p:nvPr/>
          </p:nvSpPr>
          <p:spPr>
            <a:xfrm>
              <a:off x="1784705" y="4732943"/>
              <a:ext cx="3317171" cy="203826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78BE20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74" name="Right Arrow 190">
              <a:extLst>
                <a:ext uri="{FF2B5EF4-FFF2-40B4-BE49-F238E27FC236}">
                  <a16:creationId xmlns:a16="http://schemas.microsoft.com/office/drawing/2014/main" id="{59569163-435A-422A-96D5-E1B3AFF7875C}"/>
                </a:ext>
              </a:extLst>
            </p:cNvPr>
            <p:cNvSpPr/>
            <p:nvPr/>
          </p:nvSpPr>
          <p:spPr>
            <a:xfrm>
              <a:off x="3972355" y="4620802"/>
              <a:ext cx="3593275" cy="428108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78BE20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 dirty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75" name="Right Arrow 218">
              <a:extLst>
                <a:ext uri="{FF2B5EF4-FFF2-40B4-BE49-F238E27FC236}">
                  <a16:creationId xmlns:a16="http://schemas.microsoft.com/office/drawing/2014/main" id="{49CA0270-235B-44A9-9154-D356D1B37154}"/>
                </a:ext>
              </a:extLst>
            </p:cNvPr>
            <p:cNvSpPr/>
            <p:nvPr/>
          </p:nvSpPr>
          <p:spPr>
            <a:xfrm>
              <a:off x="5691530" y="4519811"/>
              <a:ext cx="2768266" cy="630091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78BE20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 dirty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75073B-C806-4EDA-B90B-64C83C10AAA4}"/>
                </a:ext>
              </a:extLst>
            </p:cNvPr>
            <p:cNvSpPr/>
            <p:nvPr/>
          </p:nvSpPr>
          <p:spPr>
            <a:xfrm>
              <a:off x="184674" y="4652843"/>
              <a:ext cx="1868016" cy="3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Technical architecture </a:t>
              </a:r>
            </a:p>
            <a:p>
              <a:pPr>
                <a:defRPr/>
              </a:pPr>
              <a:r>
                <a:rPr lang="en-AU" sz="9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- Systems and APIs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1A96AFD-19C7-43B8-8567-3E8BFECF0971}"/>
              </a:ext>
            </a:extLst>
          </p:cNvPr>
          <p:cNvGrpSpPr/>
          <p:nvPr/>
        </p:nvGrpSpPr>
        <p:grpSpPr>
          <a:xfrm>
            <a:off x="1721494" y="5518250"/>
            <a:ext cx="8262303" cy="723653"/>
            <a:chOff x="184673" y="5194127"/>
            <a:chExt cx="8262303" cy="723653"/>
          </a:xfrm>
        </p:grpSpPr>
        <p:sp>
          <p:nvSpPr>
            <p:cNvPr id="78" name="Right Arrow 191">
              <a:extLst>
                <a:ext uri="{FF2B5EF4-FFF2-40B4-BE49-F238E27FC236}">
                  <a16:creationId xmlns:a16="http://schemas.microsoft.com/office/drawing/2014/main" id="{2B6F7AB5-3FF7-4783-A37C-71A3D24E796A}"/>
                </a:ext>
              </a:extLst>
            </p:cNvPr>
            <p:cNvSpPr/>
            <p:nvPr/>
          </p:nvSpPr>
          <p:spPr>
            <a:xfrm>
              <a:off x="2356319" y="5396261"/>
              <a:ext cx="4379917" cy="190391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9FAEE5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79" name="Right Arrow 196">
              <a:extLst>
                <a:ext uri="{FF2B5EF4-FFF2-40B4-BE49-F238E27FC236}">
                  <a16:creationId xmlns:a16="http://schemas.microsoft.com/office/drawing/2014/main" id="{997A3532-141C-48F1-B0C7-89AE558C1998}"/>
                </a:ext>
              </a:extLst>
            </p:cNvPr>
            <p:cNvSpPr/>
            <p:nvPr/>
          </p:nvSpPr>
          <p:spPr>
            <a:xfrm>
              <a:off x="5307510" y="5194127"/>
              <a:ext cx="3139466" cy="553412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9FAEE5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6E7A243-A67C-4F01-9156-59AF2544721A}"/>
                </a:ext>
              </a:extLst>
            </p:cNvPr>
            <p:cNvSpPr/>
            <p:nvPr/>
          </p:nvSpPr>
          <p:spPr>
            <a:xfrm>
              <a:off x="184673" y="5248366"/>
              <a:ext cx="4830775" cy="669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Social architecture</a:t>
              </a:r>
            </a:p>
            <a:p>
              <a:pPr marL="285750" indent="-285750">
                <a:buFontTx/>
                <a:buChar char="-"/>
                <a:defRPr/>
              </a:pPr>
              <a:r>
                <a:rPr lang="en-AU" sz="9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Institutional arrangements</a:t>
              </a:r>
            </a:p>
            <a:p>
              <a:pPr marL="285750" indent="-285750">
                <a:buFontTx/>
                <a:buChar char="-"/>
                <a:defRPr/>
              </a:pPr>
              <a:r>
                <a:rPr lang="en-AU" sz="9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User adoption and support</a:t>
              </a:r>
            </a:p>
            <a:p>
              <a:pPr marL="285750" indent="-285750">
                <a:buFontTx/>
                <a:buChar char="-"/>
                <a:defRPr/>
              </a:pPr>
              <a:r>
                <a:rPr lang="en-AU" sz="9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Data provider adoption   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EB36056-BAA5-4338-AE58-44DB58D781BE}"/>
              </a:ext>
            </a:extLst>
          </p:cNvPr>
          <p:cNvGrpSpPr/>
          <p:nvPr/>
        </p:nvGrpSpPr>
        <p:grpSpPr>
          <a:xfrm>
            <a:off x="1681483" y="3853624"/>
            <a:ext cx="8314183" cy="904289"/>
            <a:chOff x="157482" y="3714283"/>
            <a:chExt cx="8314183" cy="90428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D4BA844-5EC2-44EE-9605-CC8293857260}"/>
                </a:ext>
              </a:extLst>
            </p:cNvPr>
            <p:cNvSpPr txBox="1"/>
            <p:nvPr/>
          </p:nvSpPr>
          <p:spPr>
            <a:xfrm>
              <a:off x="157482" y="4064574"/>
              <a:ext cx="160172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Information architecture</a:t>
              </a:r>
            </a:p>
            <a:p>
              <a:pPr>
                <a:defRPr/>
              </a:pPr>
              <a:r>
                <a:rPr lang="en-AU" sz="9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- Spatial indexes &amp; grids</a:t>
              </a:r>
            </a:p>
            <a:p>
              <a:pPr>
                <a:defRPr/>
              </a:pPr>
              <a:endPara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Right Arrow 248">
              <a:extLst>
                <a:ext uri="{FF2B5EF4-FFF2-40B4-BE49-F238E27FC236}">
                  <a16:creationId xmlns:a16="http://schemas.microsoft.com/office/drawing/2014/main" id="{73399E21-388C-49B3-B032-EEB998E00286}"/>
                </a:ext>
              </a:extLst>
            </p:cNvPr>
            <p:cNvSpPr/>
            <p:nvPr/>
          </p:nvSpPr>
          <p:spPr>
            <a:xfrm>
              <a:off x="1784705" y="4238405"/>
              <a:ext cx="6686960" cy="165945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00A9C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9B0884B-60A6-49CB-B7E0-6018CAFFD905}"/>
                </a:ext>
              </a:extLst>
            </p:cNvPr>
            <p:cNvSpPr txBox="1"/>
            <p:nvPr/>
          </p:nvSpPr>
          <p:spPr>
            <a:xfrm>
              <a:off x="3768380" y="3714283"/>
              <a:ext cx="38779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G-NAF       ASGS           </a:t>
              </a:r>
              <a:r>
                <a:rPr lang="en-AU" sz="1050" kern="0" dirty="0" err="1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Geofabric</a:t>
              </a: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  	         Cadastre	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19DC681-203E-42CC-89E6-2CD1EBBDF97C}"/>
                </a:ext>
              </a:extLst>
            </p:cNvPr>
            <p:cNvSpPr txBox="1"/>
            <p:nvPr/>
          </p:nvSpPr>
          <p:spPr>
            <a:xfrm>
              <a:off x="4801474" y="3908301"/>
              <a:ext cx="5148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Links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D458890-A1F7-4A82-A191-EF5C5CD7FE4F}"/>
                </a:ext>
              </a:extLst>
            </p:cNvPr>
            <p:cNvSpPr/>
            <p:nvPr/>
          </p:nvSpPr>
          <p:spPr>
            <a:xfrm>
              <a:off x="3950815" y="4117989"/>
              <a:ext cx="3695550" cy="365298"/>
            </a:xfrm>
            <a:prstGeom prst="rect">
              <a:avLst/>
            </a:prstGeom>
            <a:solidFill>
              <a:srgbClr val="00A9C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AU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4FC5A87-7F94-417A-A8E0-BCF9E6B73912}"/>
                </a:ext>
              </a:extLst>
            </p:cNvPr>
            <p:cNvSpPr txBox="1"/>
            <p:nvPr/>
          </p:nvSpPr>
          <p:spPr>
            <a:xfrm>
              <a:off x="5966476" y="3908301"/>
              <a:ext cx="5148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AU" sz="105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Links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696C122-1331-460F-B6E2-E04EAC2102F7}"/>
              </a:ext>
            </a:extLst>
          </p:cNvPr>
          <p:cNvSpPr txBox="1"/>
          <p:nvPr/>
        </p:nvSpPr>
        <p:spPr>
          <a:xfrm>
            <a:off x="5348273" y="3560053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Dec 18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B67611D-F311-4935-929A-E667C09EA1B0}"/>
              </a:ext>
            </a:extLst>
          </p:cNvPr>
          <p:cNvSpPr txBox="1"/>
          <p:nvPr/>
        </p:nvSpPr>
        <p:spPr>
          <a:xfrm>
            <a:off x="6356823" y="3570763"/>
            <a:ext cx="5822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Apr 19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BFC3B61-CF21-4B80-BD23-33AC03D55EF4}"/>
              </a:ext>
            </a:extLst>
          </p:cNvPr>
          <p:cNvSpPr txBox="1"/>
          <p:nvPr/>
        </p:nvSpPr>
        <p:spPr>
          <a:xfrm>
            <a:off x="5631330" y="3261499"/>
            <a:ext cx="11785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Phase 1 - 18/19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A050D0-A9C0-44AF-97F0-33A26E35B18F}"/>
              </a:ext>
            </a:extLst>
          </p:cNvPr>
          <p:cNvSpPr txBox="1"/>
          <p:nvPr/>
        </p:nvSpPr>
        <p:spPr>
          <a:xfrm>
            <a:off x="8160610" y="3268065"/>
            <a:ext cx="1093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Phase 2 19/20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9288D4A6-ECA1-4C48-A8FC-90073750744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4971" y="2129965"/>
            <a:ext cx="1341282" cy="665209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B93F1129-88BD-4867-8225-0ADFD1A74385}"/>
              </a:ext>
            </a:extLst>
          </p:cNvPr>
          <p:cNvSpPr/>
          <p:nvPr/>
        </p:nvSpPr>
        <p:spPr>
          <a:xfrm>
            <a:off x="6136160" y="2839393"/>
            <a:ext cx="3289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Demonstrator   	Prototype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E0D9CB6-67B0-4875-B342-7148FEB958A9}"/>
              </a:ext>
            </a:extLst>
          </p:cNvPr>
          <p:cNvCxnSpPr/>
          <p:nvPr/>
        </p:nvCxnSpPr>
        <p:spPr>
          <a:xfrm>
            <a:off x="7858477" y="3317893"/>
            <a:ext cx="0" cy="419489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43FF23E-E6B2-41CA-9AD6-B44B47E40303}"/>
              </a:ext>
            </a:extLst>
          </p:cNvPr>
          <p:cNvSpPr txBox="1"/>
          <p:nvPr/>
        </p:nvSpPr>
        <p:spPr>
          <a:xfrm>
            <a:off x="7048123" y="3569305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June 19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AE8DC75-7892-4BDF-BC83-D6D4C6881DDD}"/>
              </a:ext>
            </a:extLst>
          </p:cNvPr>
          <p:cNvCxnSpPr/>
          <p:nvPr/>
        </p:nvCxnSpPr>
        <p:spPr>
          <a:xfrm>
            <a:off x="1925093" y="3793226"/>
            <a:ext cx="8175265" cy="7739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FE290BD-9927-4698-912F-A9CCB305A648}"/>
              </a:ext>
            </a:extLst>
          </p:cNvPr>
          <p:cNvSpPr txBox="1"/>
          <p:nvPr/>
        </p:nvSpPr>
        <p:spPr>
          <a:xfrm>
            <a:off x="1870548" y="3561611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July 18</a:t>
            </a:r>
          </a:p>
        </p:txBody>
      </p:sp>
    </p:spTree>
    <p:extLst>
      <p:ext uri="{BB962C8B-B14F-4D97-AF65-F5344CB8AC3E}">
        <p14:creationId xmlns:p14="http://schemas.microsoft.com/office/powerpoint/2010/main" val="2206038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5F2F-7C3B-4C00-AE1E-6AC337C6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sharing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A7F7009-8B56-4E9E-9D41-5FB73065170E}"/>
              </a:ext>
            </a:extLst>
          </p:cNvPr>
          <p:cNvSpPr/>
          <p:nvPr/>
        </p:nvSpPr>
        <p:spPr>
          <a:xfrm>
            <a:off x="838200" y="1899138"/>
            <a:ext cx="4683369" cy="3997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28371C-35A7-479B-9C06-0B70BA9853D2}"/>
              </a:ext>
            </a:extLst>
          </p:cNvPr>
          <p:cNvSpPr/>
          <p:nvPr/>
        </p:nvSpPr>
        <p:spPr>
          <a:xfrm>
            <a:off x="6670433" y="1899138"/>
            <a:ext cx="4683369" cy="399757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236232-7437-4300-AE02-2E1C60B8C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58220" y="3090007"/>
            <a:ext cx="2868340" cy="1615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618AD-A535-4391-B775-56A858D1D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00306" y="2463753"/>
            <a:ext cx="2787805" cy="2787805"/>
          </a:xfrm>
          <a:prstGeom prst="rect">
            <a:avLst/>
          </a:prstGeom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F42FA234-5C87-4E63-936F-5AB8B2C39D73}"/>
              </a:ext>
            </a:extLst>
          </p:cNvPr>
          <p:cNvSpPr/>
          <p:nvPr/>
        </p:nvSpPr>
        <p:spPr>
          <a:xfrm>
            <a:off x="5521569" y="468518"/>
            <a:ext cx="2943922" cy="981974"/>
          </a:xfrm>
          <a:prstGeom prst="wedgeEllipseCallout">
            <a:avLst>
              <a:gd name="adj1" fmla="val 11743"/>
              <a:gd name="adj2" fmla="val 23283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data?</a:t>
            </a:r>
            <a:endParaRPr lang="en-AU" dirty="0"/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4F3A982E-F794-4ED9-A1E9-B4E1E419856D}"/>
              </a:ext>
            </a:extLst>
          </p:cNvPr>
          <p:cNvSpPr/>
          <p:nvPr/>
        </p:nvSpPr>
        <p:spPr>
          <a:xfrm>
            <a:off x="8318536" y="842338"/>
            <a:ext cx="3404839" cy="632569"/>
          </a:xfrm>
          <a:prstGeom prst="wedgeEllipseCallout">
            <a:avLst>
              <a:gd name="adj1" fmla="val -77601"/>
              <a:gd name="adj2" fmla="val 32283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Where is it?</a:t>
            </a:r>
            <a:endParaRPr lang="en-AU" dirty="0"/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B57BF450-4DD4-41B0-98E2-692C08573A38}"/>
              </a:ext>
            </a:extLst>
          </p:cNvPr>
          <p:cNvSpPr/>
          <p:nvPr/>
        </p:nvSpPr>
        <p:spPr>
          <a:xfrm>
            <a:off x="8787161" y="1683331"/>
            <a:ext cx="3404839" cy="632569"/>
          </a:xfrm>
          <a:prstGeom prst="wedgeEllipseCallout">
            <a:avLst>
              <a:gd name="adj1" fmla="val -88410"/>
              <a:gd name="adj2" fmla="val 20471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How do I get it?</a:t>
            </a:r>
            <a:endParaRPr lang="en-AU" dirty="0"/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61030F70-889B-4FC3-AB46-C655E143D418}"/>
              </a:ext>
            </a:extLst>
          </p:cNvPr>
          <p:cNvSpPr/>
          <p:nvPr/>
        </p:nvSpPr>
        <p:spPr>
          <a:xfrm>
            <a:off x="8868935" y="2687812"/>
            <a:ext cx="3404839" cy="632569"/>
          </a:xfrm>
          <a:prstGeom prst="wedgeEllipseCallout">
            <a:avLst>
              <a:gd name="adj1" fmla="val -91029"/>
              <a:gd name="adj2" fmla="val 7779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schema?</a:t>
            </a:r>
            <a:endParaRPr lang="en-AU" dirty="0"/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678983A7-7EC5-44F4-BA05-8433C8A58265}"/>
              </a:ext>
            </a:extLst>
          </p:cNvPr>
          <p:cNvSpPr/>
          <p:nvPr/>
        </p:nvSpPr>
        <p:spPr>
          <a:xfrm>
            <a:off x="8318537" y="4066105"/>
            <a:ext cx="3404839" cy="1334405"/>
          </a:xfrm>
          <a:prstGeom prst="wedgeEllipseCallout">
            <a:avLst>
              <a:gd name="adj1" fmla="val -82514"/>
              <a:gd name="adj2" fmla="val -86261"/>
            </a:avLst>
          </a:prstGeom>
          <a:solidFill>
            <a:srgbClr val="FF33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What content inside that schema?</a:t>
            </a:r>
            <a:endParaRPr lang="en-AU" sz="2800" b="1" dirty="0"/>
          </a:p>
        </p:txBody>
      </p:sp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87DA1F5B-E699-4F99-ACEE-2DBDF8EBBD45}"/>
              </a:ext>
            </a:extLst>
          </p:cNvPr>
          <p:cNvSpPr/>
          <p:nvPr/>
        </p:nvSpPr>
        <p:spPr>
          <a:xfrm>
            <a:off x="6670433" y="5497552"/>
            <a:ext cx="3462527" cy="1017010"/>
          </a:xfrm>
          <a:prstGeom prst="wedgeEllipseCallout">
            <a:avLst>
              <a:gd name="adj1" fmla="val -27256"/>
              <a:gd name="adj2" fmla="val -202790"/>
            </a:avLst>
          </a:prstGeom>
          <a:solidFill>
            <a:srgbClr val="FF33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What will it work with?</a:t>
            </a:r>
            <a:endParaRPr lang="en-AU" sz="2800" b="1" dirty="0"/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E1E06048-4676-45A1-8945-F619656F6AC4}"/>
              </a:ext>
            </a:extLst>
          </p:cNvPr>
          <p:cNvSpPr/>
          <p:nvPr/>
        </p:nvSpPr>
        <p:spPr>
          <a:xfrm>
            <a:off x="367542" y="1474907"/>
            <a:ext cx="3958411" cy="2382748"/>
          </a:xfrm>
          <a:prstGeom prst="wedgeEllipseCallout">
            <a:avLst>
              <a:gd name="adj1" fmla="val 121328"/>
              <a:gd name="adj2" fmla="val 40100"/>
            </a:avLst>
          </a:prstGeom>
          <a:solidFill>
            <a:srgbClr val="FF33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What do these terms mean?</a:t>
            </a:r>
            <a:endParaRPr lang="en-AU" sz="2800" b="1" dirty="0"/>
          </a:p>
        </p:txBody>
      </p:sp>
      <p:sp>
        <p:nvSpPr>
          <p:cNvPr id="18" name="Speech Bubble: Oval 17">
            <a:extLst>
              <a:ext uri="{FF2B5EF4-FFF2-40B4-BE49-F238E27FC236}">
                <a16:creationId xmlns:a16="http://schemas.microsoft.com/office/drawing/2014/main" id="{FD468AEC-9953-4DAE-9E8C-FF1C6ECFEA94}"/>
              </a:ext>
            </a:extLst>
          </p:cNvPr>
          <p:cNvSpPr/>
          <p:nvPr/>
        </p:nvSpPr>
        <p:spPr>
          <a:xfrm>
            <a:off x="436135" y="4066105"/>
            <a:ext cx="3958411" cy="2382748"/>
          </a:xfrm>
          <a:prstGeom prst="wedgeEllipseCallout">
            <a:avLst>
              <a:gd name="adj1" fmla="val 124145"/>
              <a:gd name="adj2" fmla="val -58648"/>
            </a:avLst>
          </a:prstGeom>
          <a:solidFill>
            <a:srgbClr val="FF33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How do they relate to my terminology?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408084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82 -0.00162 L -0.14401 0.004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98" y="3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3FE5-9091-44C7-91E8-D4928462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HDWG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8D6D9-1198-4F5C-964B-F7C50651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HDWG standards</a:t>
            </a:r>
          </a:p>
          <a:p>
            <a:pPr lvl="1"/>
            <a:r>
              <a:rPr lang="en-US" dirty="0"/>
              <a:t>As ontologies, linked to more usual forms</a:t>
            </a:r>
          </a:p>
          <a:p>
            <a:pPr lvl="1"/>
            <a:r>
              <a:rPr lang="en-US" dirty="0"/>
              <a:t>Definitions server with machine readable data ready to be consumed</a:t>
            </a:r>
          </a:p>
          <a:p>
            <a:r>
              <a:rPr lang="en-US" dirty="0"/>
              <a:t>Profiles of HDWG standards</a:t>
            </a:r>
          </a:p>
          <a:p>
            <a:pPr lvl="1"/>
            <a:r>
              <a:rPr lang="en-US" dirty="0"/>
              <a:t>Vocabularies needed for these</a:t>
            </a:r>
          </a:p>
          <a:p>
            <a:pPr lvl="1"/>
            <a:r>
              <a:rPr lang="en-US" dirty="0"/>
              <a:t>Content – or delegated redirections</a:t>
            </a:r>
          </a:p>
          <a:p>
            <a:pPr lvl="1"/>
            <a:r>
              <a:rPr lang="en-US" dirty="0"/>
              <a:t>Or just metadata objects describing external sources</a:t>
            </a:r>
          </a:p>
          <a:p>
            <a:r>
              <a:rPr lang="en-US" dirty="0"/>
              <a:t>“Variables”</a:t>
            </a:r>
          </a:p>
          <a:p>
            <a:pPr lvl="1"/>
            <a:r>
              <a:rPr lang="en-US" dirty="0"/>
              <a:t>Could link out to WMO system(s)</a:t>
            </a:r>
          </a:p>
          <a:p>
            <a:pPr lvl="2"/>
            <a:r>
              <a:rPr lang="en-US" dirty="0"/>
              <a:t>Publish with URIs and multiple formats as required.</a:t>
            </a:r>
          </a:p>
          <a:p>
            <a:pPr lvl="1"/>
            <a:r>
              <a:rPr lang="en-US" dirty="0"/>
              <a:t>Cross references to other variables – e.g.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6417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8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ontology">
            <a:extLst>
              <a:ext uri="{FF2B5EF4-FFF2-40B4-BE49-F238E27FC236}">
                <a16:creationId xmlns:a16="http://schemas.microsoft.com/office/drawing/2014/main" id="{114EB7A7-6FF7-4B44-8F97-FAAA622C8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973" y="154897"/>
            <a:ext cx="7288306" cy="660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D7D96DC-1038-4CAF-BCC1-4D4D64B6F5B8}"/>
              </a:ext>
            </a:extLst>
          </p:cNvPr>
          <p:cNvSpPr/>
          <p:nvPr/>
        </p:nvSpPr>
        <p:spPr>
          <a:xfrm>
            <a:off x="4111985" y="3613505"/>
            <a:ext cx="3563471" cy="3415553"/>
          </a:xfrm>
          <a:prstGeom prst="ellipse">
            <a:avLst/>
          </a:prstGeom>
          <a:solidFill>
            <a:schemeClr val="accent1">
              <a:lumMod val="20000"/>
              <a:lumOff val="8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5CCB35-0E04-43FC-BD98-7BEACDE386E8}"/>
              </a:ext>
            </a:extLst>
          </p:cNvPr>
          <p:cNvSpPr/>
          <p:nvPr/>
        </p:nvSpPr>
        <p:spPr>
          <a:xfrm>
            <a:off x="5840506" y="4960895"/>
            <a:ext cx="1215237" cy="1110475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C0DA69-3811-4AF6-99BD-6B4579851F0D}"/>
              </a:ext>
            </a:extLst>
          </p:cNvPr>
          <p:cNvSpPr/>
          <p:nvPr/>
        </p:nvSpPr>
        <p:spPr>
          <a:xfrm>
            <a:off x="1345799" y="1650234"/>
            <a:ext cx="3414459" cy="3257941"/>
          </a:xfrm>
          <a:prstGeom prst="ellipse">
            <a:avLst/>
          </a:prstGeom>
          <a:solidFill>
            <a:schemeClr val="accent4">
              <a:lumMod val="40000"/>
              <a:lumOff val="6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A96B6-86DF-4A48-9CDB-362619EB9E47}"/>
              </a:ext>
            </a:extLst>
          </p:cNvPr>
          <p:cNvSpPr txBox="1"/>
          <p:nvPr/>
        </p:nvSpPr>
        <p:spPr>
          <a:xfrm>
            <a:off x="1501066" y="1350208"/>
            <a:ext cx="137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Models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880CB-0E51-4189-A30A-468C5C1741E9}"/>
              </a:ext>
            </a:extLst>
          </p:cNvPr>
          <p:cNvSpPr txBox="1"/>
          <p:nvPr/>
        </p:nvSpPr>
        <p:spPr>
          <a:xfrm>
            <a:off x="7579851" y="4951949"/>
            <a:ext cx="1955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Taxonomies (SKOS)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F5F2F-17F3-42E6-B1DA-E843E2B89423}"/>
              </a:ext>
            </a:extLst>
          </p:cNvPr>
          <p:cNvSpPr txBox="1"/>
          <p:nvPr/>
        </p:nvSpPr>
        <p:spPr>
          <a:xfrm>
            <a:off x="6090756" y="5655377"/>
            <a:ext cx="2325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Delegated subdomains</a:t>
            </a:r>
            <a:endParaRPr lang="en-AU" dirty="0"/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F731CF3B-F31D-4090-A2C3-F64581F14629}"/>
              </a:ext>
            </a:extLst>
          </p:cNvPr>
          <p:cNvGrpSpPr/>
          <p:nvPr/>
        </p:nvGrpSpPr>
        <p:grpSpPr>
          <a:xfrm>
            <a:off x="270379" y="3751730"/>
            <a:ext cx="2309214" cy="3163490"/>
            <a:chOff x="270379" y="3751730"/>
            <a:chExt cx="2309214" cy="316349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05CBB4D-A211-4B9C-BA97-DEB204ECF26D}"/>
                </a:ext>
              </a:extLst>
            </p:cNvPr>
            <p:cNvSpPr/>
            <p:nvPr/>
          </p:nvSpPr>
          <p:spPr>
            <a:xfrm>
              <a:off x="595057" y="4951949"/>
              <a:ext cx="1984536" cy="1963271"/>
            </a:xfrm>
            <a:prstGeom prst="ellipse">
              <a:avLst/>
            </a:prstGeom>
            <a:solidFill>
              <a:schemeClr val="accent6">
                <a:lumMod val="75000"/>
                <a:alpha val="2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6C808D-9473-4388-A905-BB56D5141356}"/>
                </a:ext>
              </a:extLst>
            </p:cNvPr>
            <p:cNvSpPr txBox="1"/>
            <p:nvPr/>
          </p:nvSpPr>
          <p:spPr>
            <a:xfrm>
              <a:off x="270379" y="4767283"/>
              <a:ext cx="883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Profiles</a:t>
              </a:r>
              <a:endParaRPr lang="en-AU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A8D93C-18CA-428C-B336-5AB652BEED3B}"/>
                </a:ext>
              </a:extLst>
            </p:cNvPr>
            <p:cNvSpPr/>
            <p:nvPr/>
          </p:nvSpPr>
          <p:spPr>
            <a:xfrm>
              <a:off x="1250576" y="5620925"/>
              <a:ext cx="161692" cy="1524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E9714AD-F3E8-402D-8ACB-235E3331B53A}"/>
                </a:ext>
              </a:extLst>
            </p:cNvPr>
            <p:cNvCxnSpPr>
              <a:cxnSpLocks/>
              <a:stCxn id="7" idx="7"/>
            </p:cNvCxnSpPr>
            <p:nvPr/>
          </p:nvCxnSpPr>
          <p:spPr>
            <a:xfrm flipV="1">
              <a:off x="1388589" y="3751730"/>
              <a:ext cx="789835" cy="18915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401253-A915-4DB5-9C84-B5611A1F8055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1388589" y="4487940"/>
            <a:ext cx="4030844" cy="115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F379CB79-7E8A-4542-83A9-432A8A28A52E}"/>
              </a:ext>
            </a:extLst>
          </p:cNvPr>
          <p:cNvGrpSpPr/>
          <p:nvPr/>
        </p:nvGrpSpPr>
        <p:grpSpPr>
          <a:xfrm>
            <a:off x="6730421" y="3240806"/>
            <a:ext cx="5059841" cy="3514155"/>
            <a:chOff x="6730421" y="3240806"/>
            <a:chExt cx="5059841" cy="351415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6889E75-D8B1-45FB-B866-C7BF6DB95D83}"/>
                </a:ext>
              </a:extLst>
            </p:cNvPr>
            <p:cNvSpPr/>
            <p:nvPr/>
          </p:nvSpPr>
          <p:spPr>
            <a:xfrm>
              <a:off x="10208013" y="5719536"/>
              <a:ext cx="146222" cy="1672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DA0D6ED-8D45-447F-8CB0-5A190F1FB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30421" y="5434737"/>
              <a:ext cx="3525203" cy="3385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9DC8BA8-102F-48AF-9CE0-C8E7F6D7CA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24683" y="3240806"/>
              <a:ext cx="1030942" cy="2532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8B5F5A-210C-4628-B919-8E5331318BBB}"/>
                </a:ext>
              </a:extLst>
            </p:cNvPr>
            <p:cNvSpPr/>
            <p:nvPr/>
          </p:nvSpPr>
          <p:spPr>
            <a:xfrm>
              <a:off x="9595910" y="4791690"/>
              <a:ext cx="1984536" cy="1963271"/>
            </a:xfrm>
            <a:prstGeom prst="ellipse">
              <a:avLst/>
            </a:prstGeom>
            <a:solidFill>
              <a:srgbClr val="00B0F0">
                <a:alpha val="2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3D93740-6409-4B74-8B33-38FE27B24CB1}"/>
                </a:ext>
              </a:extLst>
            </p:cNvPr>
            <p:cNvSpPr txBox="1"/>
            <p:nvPr/>
          </p:nvSpPr>
          <p:spPr>
            <a:xfrm>
              <a:off x="10045810" y="4394498"/>
              <a:ext cx="1744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Cross-references</a:t>
              </a:r>
              <a:endParaRPr lang="en-AU" dirty="0"/>
            </a:p>
          </p:txBody>
        </p:sp>
      </p:grpSp>
      <p:pic>
        <p:nvPicPr>
          <p:cNvPr id="31" name="Picture 30" descr="A close up of a sign&#10;&#10;Description generated with high confidence">
            <a:extLst>
              <a:ext uri="{FF2B5EF4-FFF2-40B4-BE49-F238E27FC236}">
                <a16:creationId xmlns:a16="http://schemas.microsoft.com/office/drawing/2014/main" id="{3C7EE275-3AEF-4BA0-BC4D-419D926BA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48687" y="4487940"/>
            <a:ext cx="1631057" cy="1798960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5FCDF74E-8359-4223-ABEB-3C70F9658BF1}"/>
              </a:ext>
            </a:extLst>
          </p:cNvPr>
          <p:cNvSpPr txBox="1"/>
          <p:nvPr/>
        </p:nvSpPr>
        <p:spPr>
          <a:xfrm>
            <a:off x="5331687" y="6114140"/>
            <a:ext cx="16310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4" tooltip="https://commons.wikimedia.org/wiki/File:Data-transfer.svg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5" tooltip="https://creativecommons.org/licenses/by-sa/3.0/"/>
              </a:rPr>
              <a:t>CC BY-SA</a:t>
            </a:r>
            <a:endParaRPr lang="en-AU" sz="900"/>
          </a:p>
        </p:txBody>
      </p:sp>
      <p:pic>
        <p:nvPicPr>
          <p:cNvPr id="36" name="Picture 35" descr="A close up of a sign&#10;&#10;Description generated with high confidence">
            <a:extLst>
              <a:ext uri="{FF2B5EF4-FFF2-40B4-BE49-F238E27FC236}">
                <a16:creationId xmlns:a16="http://schemas.microsoft.com/office/drawing/2014/main" id="{04BC44AE-4C73-4308-9518-2222AF21C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079760" y="4951949"/>
            <a:ext cx="1631057" cy="1798960"/>
          </a:xfrm>
          <a:prstGeom prst="rect">
            <a:avLst/>
          </a:prstGeom>
        </p:spPr>
      </p:pic>
      <p:pic>
        <p:nvPicPr>
          <p:cNvPr id="37" name="Picture 36" descr="A close up of a sign&#10;&#10;Description generated with high confidence">
            <a:extLst>
              <a:ext uri="{FF2B5EF4-FFF2-40B4-BE49-F238E27FC236}">
                <a16:creationId xmlns:a16="http://schemas.microsoft.com/office/drawing/2014/main" id="{3ACA6CED-9402-4331-8757-FBBB783DA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237831" y="2455750"/>
            <a:ext cx="1631057" cy="1798960"/>
          </a:xfrm>
          <a:prstGeom prst="rect">
            <a:avLst/>
          </a:prstGeom>
        </p:spPr>
      </p:pic>
      <p:pic>
        <p:nvPicPr>
          <p:cNvPr id="38" name="Picture 37" descr="A close up of a sign&#10;&#10;Description generated with high confidence">
            <a:extLst>
              <a:ext uri="{FF2B5EF4-FFF2-40B4-BE49-F238E27FC236}">
                <a16:creationId xmlns:a16="http://schemas.microsoft.com/office/drawing/2014/main" id="{77750B3F-B870-4A19-B3C5-A1567B627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95418" y="5125229"/>
            <a:ext cx="1631057" cy="17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9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4" grpId="0"/>
      <p:bldP spid="8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93D3-ACCE-4319-9CDE-0716B7B4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a Game Changer?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A11D7-FC29-419C-AFE3-17FBB9D17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OGC Definitions Server is </a:t>
            </a:r>
          </a:p>
          <a:p>
            <a:pPr lvl="1"/>
            <a:r>
              <a:rPr lang="en-US" dirty="0"/>
              <a:t>Example of best practice</a:t>
            </a:r>
          </a:p>
          <a:p>
            <a:pPr lvl="2"/>
            <a:r>
              <a:rPr lang="en-US" dirty="0"/>
              <a:t>Standards </a:t>
            </a:r>
          </a:p>
          <a:p>
            <a:pPr lvl="2"/>
            <a:r>
              <a:rPr lang="en-US" dirty="0"/>
              <a:t>Flexibility</a:t>
            </a:r>
          </a:p>
          <a:p>
            <a:pPr lvl="1"/>
            <a:r>
              <a:rPr lang="en-US" dirty="0"/>
              <a:t>Source of useful (low level tech) definitions</a:t>
            </a:r>
          </a:p>
          <a:p>
            <a:pPr lvl="1"/>
            <a:r>
              <a:rPr lang="en-US" dirty="0"/>
              <a:t>A place where “community” can publish resources needed to exploit </a:t>
            </a:r>
            <a:r>
              <a:rPr lang="en-AU" dirty="0"/>
              <a:t>OGC interface standards and data models</a:t>
            </a:r>
          </a:p>
          <a:p>
            <a:pPr lvl="1"/>
            <a:r>
              <a:rPr lang="en-US" dirty="0"/>
              <a:t>F</a:t>
            </a:r>
            <a:r>
              <a:rPr lang="en-AU" dirty="0" err="1"/>
              <a:t>lexible</a:t>
            </a:r>
            <a:r>
              <a:rPr lang="en-AU" dirty="0"/>
              <a:t> to handle special cases</a:t>
            </a:r>
          </a:p>
          <a:p>
            <a:pPr lvl="2"/>
            <a:r>
              <a:rPr lang="en-US" dirty="0"/>
              <a:t>V</a:t>
            </a:r>
            <a:r>
              <a:rPr lang="en-AU" dirty="0" err="1"/>
              <a:t>ariables</a:t>
            </a:r>
            <a:endParaRPr lang="en-AU" dirty="0"/>
          </a:p>
          <a:p>
            <a:pPr lvl="2"/>
            <a:r>
              <a:rPr lang="en-US" dirty="0"/>
              <a:t>D</a:t>
            </a:r>
            <a:r>
              <a:rPr lang="en-AU" dirty="0" err="1"/>
              <a:t>ata</a:t>
            </a:r>
            <a:r>
              <a:rPr lang="en-AU" dirty="0"/>
              <a:t> dimensions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27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437D-CDD5-4E42-A156-2DD9310F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40"/>
            <a:ext cx="10515600" cy="1325563"/>
          </a:xfrm>
        </p:spPr>
        <p:txBody>
          <a:bodyPr/>
          <a:lstStyle/>
          <a:p>
            <a:r>
              <a:rPr lang="en-US" dirty="0"/>
              <a:t>Why do we need this again?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748F59-26F2-4A75-820A-8565D6612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701" y="1383166"/>
            <a:ext cx="9156598" cy="510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79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911</Words>
  <Application>Microsoft Office PowerPoint</Application>
  <PresentationFormat>Widescreen</PresentationFormat>
  <Paragraphs>212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 Interoperability Directions</vt:lpstr>
      <vt:lpstr>Overview</vt:lpstr>
      <vt:lpstr>OGC Naming Authority</vt:lpstr>
      <vt:lpstr>OGC Definitions Server</vt:lpstr>
      <vt:lpstr>Linked Data (IMHO) is…</vt:lpstr>
      <vt:lpstr>Content</vt:lpstr>
      <vt:lpstr>High level organisation</vt:lpstr>
      <vt:lpstr>PowerPoint Presentation</vt:lpstr>
      <vt:lpstr>Content negotiation</vt:lpstr>
      <vt:lpstr>OGC negotiation concerns</vt:lpstr>
      <vt:lpstr>PowerPoint Presentation</vt:lpstr>
      <vt:lpstr>http://codes.wmo.int</vt:lpstr>
      <vt:lpstr>More definitions – in different forms..</vt:lpstr>
      <vt:lpstr>Custom schema and choice of format</vt:lpstr>
      <vt:lpstr>Definitions + model</vt:lpstr>
      <vt:lpstr>PowerPoint Presentation</vt:lpstr>
      <vt:lpstr>Summary</vt:lpstr>
      <vt:lpstr>OGC activities</vt:lpstr>
      <vt:lpstr>Publishing Domain Ontologies</vt:lpstr>
      <vt:lpstr>PowerPoint Presentation</vt:lpstr>
      <vt:lpstr>Automated inferencing</vt:lpstr>
      <vt:lpstr>Profiles</vt:lpstr>
      <vt:lpstr>Australian Government Identifiers work </vt:lpstr>
      <vt:lpstr>Loc-I Project Process Map  - overview</vt:lpstr>
      <vt:lpstr>Practical sharing</vt:lpstr>
      <vt:lpstr>Supporting HDWG</vt:lpstr>
      <vt:lpstr>PowerPoint Presentation</vt:lpstr>
      <vt:lpstr>PowerPoint Presentation</vt:lpstr>
      <vt:lpstr>Summary – a Game Changer?</vt:lpstr>
      <vt:lpstr>Why do we need this again?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Interoperability Directions</dc:title>
  <dc:creator>bodkin noodle</dc:creator>
  <cp:lastModifiedBy>bodkin noodle</cp:lastModifiedBy>
  <cp:revision>14</cp:revision>
  <dcterms:created xsi:type="dcterms:W3CDTF">2018-09-17T18:57:30Z</dcterms:created>
  <dcterms:modified xsi:type="dcterms:W3CDTF">2018-09-18T08:09:52Z</dcterms:modified>
</cp:coreProperties>
</file>