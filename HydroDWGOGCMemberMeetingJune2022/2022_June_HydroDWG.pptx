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82" r:id="rId3"/>
    <p:sldId id="283" r:id="rId4"/>
    <p:sldId id="265" r:id="rId5"/>
    <p:sldId id="284" r:id="rId6"/>
    <p:sldId id="285" r:id="rId7"/>
    <p:sldId id="286" r:id="rId8"/>
    <p:sldId id="287" r:id="rId9"/>
    <p:sldId id="288" r:id="rId10"/>
    <p:sldId id="277" r:id="rId11"/>
    <p:sldId id="289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71"/>
  </p:normalViewPr>
  <p:slideViewPr>
    <p:cSldViewPr snapToGrid="0" snapToObjects="1">
      <p:cViewPr varScale="1">
        <p:scale>
          <a:sx n="45" d="100"/>
          <a:sy n="45" d="100"/>
        </p:scale>
        <p:origin x="8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3990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3D Mark.png" descr="3D Mark.png"/>
          <p:cNvPicPr>
            <a:picLocks noChangeAspect="1"/>
          </p:cNvPicPr>
          <p:nvPr/>
        </p:nvPicPr>
        <p:blipFill>
          <a:blip r:embed="rId2" cstate="email">
            <a:alphaModFix amt="28042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6343" y="856308"/>
            <a:ext cx="8393334" cy="8393335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hank You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343969" y="1227969"/>
            <a:ext cx="9779001" cy="14351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500" b="1" spc="-170">
                <a:solidFill>
                  <a:srgbClr val="00B1FF"/>
                </a:solidFill>
              </a:defRPr>
            </a:lvl1pPr>
          </a:lstStyle>
          <a:p>
            <a:r>
              <a:rPr dirty="0"/>
              <a:t>Thank You</a:t>
            </a:r>
          </a:p>
        </p:txBody>
      </p:sp>
      <p:sp>
        <p:nvSpPr>
          <p:cNvPr id="241" name="Rectangle"/>
          <p:cNvSpPr/>
          <p:nvPr/>
        </p:nvSpPr>
        <p:spPr>
          <a:xfrm>
            <a:off x="11343969" y="2853794"/>
            <a:ext cx="3569395" cy="151693"/>
          </a:xfrm>
          <a:prstGeom prst="rect">
            <a:avLst/>
          </a:prstGeom>
          <a:solidFill>
            <a:srgbClr val="00B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Community"/>
          <p:cNvSpPr txBox="1">
            <a:spLocks noGrp="1"/>
          </p:cNvSpPr>
          <p:nvPr>
            <p:ph type="body" sz="quarter" idx="23"/>
          </p:nvPr>
        </p:nvSpPr>
        <p:spPr>
          <a:xfrm>
            <a:off x="11339402" y="3196211"/>
            <a:ext cx="9779001" cy="76633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500" b="1">
                <a:solidFill>
                  <a:srgbClr val="262626"/>
                </a:solidFill>
              </a:defRPr>
            </a:lvl1pPr>
          </a:lstStyle>
          <a:p>
            <a:r>
              <a:rPr dirty="0"/>
              <a:t>Community</a:t>
            </a:r>
          </a:p>
        </p:txBody>
      </p:sp>
      <p:sp>
        <p:nvSpPr>
          <p:cNvPr id="243" name="500+ International Members…"/>
          <p:cNvSpPr txBox="1"/>
          <p:nvPr/>
        </p:nvSpPr>
        <p:spPr>
          <a:xfrm>
            <a:off x="11339402" y="4029351"/>
            <a:ext cx="10439854" cy="281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500+ International Members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110+ Member Meetings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60+ Alliance and Liaison partners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50+ Standards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45+ Domain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25+ Years of Not for Profit Work</a:t>
            </a:r>
            <a:br>
              <a:rPr dirty="0"/>
            </a:br>
            <a:r>
              <a:rPr dirty="0"/>
              <a:t>10+ Regional and Country Forums</a:t>
            </a:r>
          </a:p>
        </p:txBody>
      </p:sp>
      <p:sp>
        <p:nvSpPr>
          <p:cNvPr id="244" name="Innovation"/>
          <p:cNvSpPr txBox="1"/>
          <p:nvPr/>
        </p:nvSpPr>
        <p:spPr>
          <a:xfrm>
            <a:off x="11339402" y="713570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Innovation</a:t>
            </a:r>
          </a:p>
        </p:txBody>
      </p:sp>
      <p:sp>
        <p:nvSpPr>
          <p:cNvPr id="245" name="120+ Innovation Initiatives…"/>
          <p:cNvSpPr txBox="1"/>
          <p:nvPr/>
        </p:nvSpPr>
        <p:spPr>
          <a:xfrm>
            <a:off x="11339402" y="8053019"/>
            <a:ext cx="10439854" cy="1196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120+ Innovation Initiatives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380+ Technical reports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Quarterly Tech Trends monitoring</a:t>
            </a:r>
          </a:p>
        </p:txBody>
      </p:sp>
      <p:sp>
        <p:nvSpPr>
          <p:cNvPr id="246" name="Standards"/>
          <p:cNvSpPr txBox="1"/>
          <p:nvPr/>
        </p:nvSpPr>
        <p:spPr>
          <a:xfrm>
            <a:off x="11339402" y="946876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Standards</a:t>
            </a:r>
          </a:p>
        </p:txBody>
      </p:sp>
      <p:sp>
        <p:nvSpPr>
          <p:cNvPr id="247" name="65+ Adopted Standards…"/>
          <p:cNvSpPr txBox="1"/>
          <p:nvPr/>
        </p:nvSpPr>
        <p:spPr>
          <a:xfrm>
            <a:off x="11339402" y="10454222"/>
            <a:ext cx="10439854" cy="1602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65+ Adopted Standards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300+ products with 1000+ certified implementations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1,700,000+ Operational Data Sets </a:t>
            </a:r>
            <a:br>
              <a:rPr dirty="0"/>
            </a:br>
            <a:r>
              <a:rPr dirty="0"/>
              <a:t>Using OGC Standards</a:t>
            </a:r>
          </a:p>
        </p:txBody>
      </p:sp>
      <p:pic>
        <p:nvPicPr>
          <p:cNvPr id="248" name="OGC Mark.pdf" descr="OGC Mark.pdf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9743" y="12374675"/>
            <a:ext cx="574285" cy="64790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Copyright © 2021 Open Geospatial Consortium"/>
          <p:cNvSpPr txBox="1"/>
          <p:nvPr/>
        </p:nvSpPr>
        <p:spPr>
          <a:xfrm>
            <a:off x="2058447" y="12456573"/>
            <a:ext cx="10439855" cy="48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40000"/>
              </a:lnSpc>
              <a:defRPr sz="2000">
                <a:solidFill>
                  <a:srgbClr val="00206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Copyright © 202</a:t>
            </a:r>
            <a:r>
              <a:rPr lang="en-US" dirty="0"/>
              <a:t>2</a:t>
            </a:r>
            <a:r>
              <a:rPr dirty="0"/>
              <a:t> Open Geospatial Consortium</a:t>
            </a:r>
          </a:p>
        </p:txBody>
      </p:sp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8088" y="12968286"/>
            <a:ext cx="495328" cy="48731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6275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9" r:id="rId3"/>
    <p:sldLayoutId id="2147483670" r:id="rId4"/>
    <p:sldLayoutId id="2147483671" r:id="rId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ortal.ogc.org/index.php?m=projects&amp;a=view&amp;project_id=301&amp;tab=6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unep.org/wwq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ogc.org/files/?artifact_id=10120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ogc.org/files/?artifact_id=101189" TargetMode="External"/><Relationship Id="rId4" Type="http://schemas.openxmlformats.org/officeDocument/2006/relationships/hyperlink" Target="https://portal.ogc.org/files/?artifact_id=10118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AU" dirty="0" err="1"/>
              <a:t>HydroDWG</a:t>
            </a:r>
            <a:endParaRPr dirty="0"/>
          </a:p>
        </p:txBody>
      </p:sp>
      <p:sp>
        <p:nvSpPr>
          <p:cNvPr id="9" name="Author and Date">
            <a:extLst>
              <a:ext uri="{FF2B5EF4-FFF2-40B4-BE49-F238E27FC236}">
                <a16:creationId xmlns:a16="http://schemas.microsoft.com/office/drawing/2014/main" id="{6C21ECEC-F4A7-8BE6-7A41-214EA008CA33}"/>
              </a:ext>
            </a:extLst>
          </p:cNvPr>
          <p:cNvSpPr txBox="1">
            <a:spLocks/>
          </p:cNvSpPr>
          <p:nvPr/>
        </p:nvSpPr>
        <p:spPr>
          <a:xfrm>
            <a:off x="1201342" y="7210490"/>
            <a:ext cx="21971001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B1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B1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B1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B1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500" b="1" i="0" u="none" strike="noStrike" cap="none" spc="0" baseline="0">
                <a:solidFill>
                  <a:srgbClr val="00B1FF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5pPr>
            <a:lvl6pPr marL="36576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B1FF"/>
              </a:buClr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6pPr>
            <a:lvl7pPr marL="42672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B1FF"/>
              </a:buClr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7pPr>
            <a:lvl8pPr marL="48768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B1FF"/>
              </a:buClr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8pPr>
            <a:lvl9pPr marL="5486400" marR="0" indent="-609600" algn="l" defTabSz="2438338" rtl="0" latinLnBrk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B1FF"/>
              </a:buClr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hangingPunct="1"/>
            <a:r>
              <a:rPr lang="en-US"/>
              <a:t>The 123</a:t>
            </a:r>
            <a:r>
              <a:rPr lang="en-US" baseline="30000"/>
              <a:t>rd</a:t>
            </a:r>
            <a:r>
              <a:rPr lang="en-US"/>
              <a:t> OGC Member Meeting</a:t>
            </a:r>
            <a:endParaRPr lang="en-US" dirty="0"/>
          </a:p>
        </p:txBody>
      </p:sp>
      <p:sp>
        <p:nvSpPr>
          <p:cNvPr id="10" name="Presentation Subtitle">
            <a:extLst>
              <a:ext uri="{FF2B5EF4-FFF2-40B4-BE49-F238E27FC236}">
                <a16:creationId xmlns:a16="http://schemas.microsoft.com/office/drawing/2014/main" id="{7E8836BB-23D5-63C4-9BEF-FA877834DFBB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772715" y="11858691"/>
            <a:ext cx="21971003" cy="123152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Tony Boston, Australian National University</a:t>
            </a:r>
          </a:p>
          <a:p>
            <a:r>
              <a:rPr lang="en-US" dirty="0"/>
              <a:t>13 June 2022</a:t>
            </a:r>
          </a:p>
          <a:p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E95E09-C200-92E9-44D6-8CC50CA750C0}"/>
              </a:ext>
            </a:extLst>
          </p:cNvPr>
          <p:cNvSpPr txBox="1"/>
          <p:nvPr/>
        </p:nvSpPr>
        <p:spPr>
          <a:xfrm>
            <a:off x="10514909" y="9591125"/>
            <a:ext cx="334386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0096FF"/>
                </a:solidFill>
              </a:rPr>
              <a:t>Meeting sponsor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96FF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  <p:pic>
        <p:nvPicPr>
          <p:cNvPr id="12" name="Picture 11" descr="European Union Satellite Centre – European Defence Network">
            <a:extLst>
              <a:ext uri="{FF2B5EF4-FFF2-40B4-BE49-F238E27FC236}">
                <a16:creationId xmlns:a16="http://schemas.microsoft.com/office/drawing/2014/main" id="{7E9969D0-A407-CAC9-BDF2-BA8508896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396262" y="10382684"/>
            <a:ext cx="3581157" cy="332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FA33D6-A370-5446-A092-521F4732E7BF}"/>
              </a:ext>
            </a:extLst>
          </p:cNvPr>
          <p:cNvSpPr txBox="1"/>
          <p:nvPr/>
        </p:nvSpPr>
        <p:spPr>
          <a:xfrm>
            <a:off x="314325" y="143614"/>
            <a:ext cx="23602949" cy="17953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1" u="none" strike="noStrike" cap="none" spc="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FillTx/>
                <a:latin typeface="Mont Bold" pitchFamily="2" charset="0"/>
                <a:sym typeface="Mont Book"/>
              </a:rPr>
              <a:t>MEMBERS: Please record your attendance here:</a:t>
            </a:r>
          </a:p>
          <a:p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https://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portal.ogc.org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/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index.php?m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=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projects&amp;a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=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view&amp;project_id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 Bold" pitchFamily="2" charset="0"/>
                <a:hlinkClick r:id="rId2"/>
              </a:rPr>
              <a:t>=301&amp;tab=6</a:t>
            </a:r>
            <a:endParaRPr kumimoji="0" lang="en-US" sz="4400" b="1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FillTx/>
              <a:latin typeface="Mont Bold" pitchFamily="2" charset="0"/>
              <a:sym typeface="Mont Book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935AD3-93D1-4543-A243-14E07BD414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8472661"/>
            <a:ext cx="23961561" cy="337224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29CDB88-3428-344D-B682-708989687018}"/>
              </a:ext>
            </a:extLst>
          </p:cNvPr>
          <p:cNvSpPr/>
          <p:nvPr/>
        </p:nvSpPr>
        <p:spPr bwMode="auto">
          <a:xfrm>
            <a:off x="4615580" y="10158782"/>
            <a:ext cx="2204320" cy="840203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371DB6-779D-E64C-9F25-D84F4B1F7952}"/>
              </a:ext>
            </a:extLst>
          </p:cNvPr>
          <p:cNvSpPr/>
          <p:nvPr/>
        </p:nvSpPr>
        <p:spPr bwMode="auto">
          <a:xfrm>
            <a:off x="20260707" y="11074380"/>
            <a:ext cx="4123293" cy="86077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1709CCAF-DE95-E144-BB3D-D4F9E32B2F7F}"/>
              </a:ext>
            </a:extLst>
          </p:cNvPr>
          <p:cNvSpPr/>
          <p:nvPr/>
        </p:nvSpPr>
        <p:spPr bwMode="auto">
          <a:xfrm>
            <a:off x="7451861" y="3981098"/>
            <a:ext cx="4219761" cy="1746143"/>
          </a:xfrm>
          <a:prstGeom prst="wedgeRoundRectCallout">
            <a:avLst>
              <a:gd name="adj1" fmla="val -74331"/>
              <a:gd name="adj2" fmla="val 305650"/>
              <a:gd name="adj3" fmla="val 16667"/>
            </a:avLst>
          </a:prstGeom>
          <a:solidFill>
            <a:schemeClr val="bg1">
              <a:lumMod val="50000"/>
              <a:lumOff val="5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 Book" pitchFamily="2" charset="0"/>
                <a:ea typeface="+mn-ea"/>
                <a:cs typeface="+mn-cs"/>
              </a:rPr>
              <a:t>2. Go to the Attendance tab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EF7DB155-84FF-C148-8CAB-0413728E1539}"/>
              </a:ext>
            </a:extLst>
          </p:cNvPr>
          <p:cNvSpPr/>
          <p:nvPr/>
        </p:nvSpPr>
        <p:spPr bwMode="auto">
          <a:xfrm>
            <a:off x="17031664" y="3356140"/>
            <a:ext cx="4219761" cy="1746143"/>
          </a:xfrm>
          <a:prstGeom prst="wedgeRoundRectCallout">
            <a:avLst>
              <a:gd name="adj1" fmla="val 73137"/>
              <a:gd name="adj2" fmla="val 384492"/>
              <a:gd name="adj3" fmla="val 16667"/>
            </a:avLst>
          </a:prstGeom>
          <a:solidFill>
            <a:schemeClr val="bg1">
              <a:lumMod val="50000"/>
              <a:lumOff val="5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 Book" pitchFamily="2" charset="0"/>
                <a:ea typeface="+mn-ea"/>
                <a:cs typeface="+mn-cs"/>
              </a:rPr>
              <a:t>3. Add yourself to the session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C6CB378C-326B-8641-9FB3-06D30068AED6}"/>
              </a:ext>
            </a:extLst>
          </p:cNvPr>
          <p:cNvSpPr/>
          <p:nvPr/>
        </p:nvSpPr>
        <p:spPr bwMode="auto">
          <a:xfrm>
            <a:off x="2091819" y="4104258"/>
            <a:ext cx="4844911" cy="1746143"/>
          </a:xfrm>
          <a:prstGeom prst="wedgeRoundRectCallout">
            <a:avLst>
              <a:gd name="adj1" fmla="val -62258"/>
              <a:gd name="adj2" fmla="val 197046"/>
              <a:gd name="adj3" fmla="val 16667"/>
            </a:avLst>
          </a:prstGeom>
          <a:solidFill>
            <a:schemeClr val="bg1">
              <a:lumMod val="50000"/>
              <a:lumOff val="5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 Book" pitchFamily="2" charset="0"/>
                <a:ea typeface="+mn-ea"/>
                <a:cs typeface="+mn-cs"/>
              </a:rPr>
              <a:t>1. Find the appropriate project</a:t>
            </a:r>
          </a:p>
        </p:txBody>
      </p:sp>
    </p:spTree>
    <p:extLst>
      <p:ext uri="{BB962C8B-B14F-4D97-AF65-F5344CB8AC3E}">
        <p14:creationId xmlns:p14="http://schemas.microsoft.com/office/powerpoint/2010/main" val="300364534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World Water Quality Alliance (WWQA) and Water Quality Monitoring initial workshop (Tony Boston) </a:t>
            </a:r>
          </a:p>
          <a:p>
            <a:r>
              <a:rPr lang="en-AU" dirty="0"/>
              <a:t>Water Quality Interoperability Experiment (David Blodgett) </a:t>
            </a:r>
          </a:p>
          <a:p>
            <a:r>
              <a:rPr lang="en-AU" dirty="0"/>
              <a:t>Observations &amp; Measurements v3 status (Sylvain </a:t>
            </a:r>
            <a:r>
              <a:rPr lang="en-AU" dirty="0" err="1"/>
              <a:t>Grellet</a:t>
            </a:r>
            <a:r>
              <a:rPr lang="en-AU" dirty="0"/>
              <a:t>) </a:t>
            </a:r>
          </a:p>
          <a:p>
            <a:r>
              <a:rPr lang="en-AU" dirty="0"/>
              <a:t>Sensor Things v2 and Soil Things demo (</a:t>
            </a:r>
            <a:r>
              <a:rPr lang="en-AU" dirty="0" err="1"/>
              <a:t>Hylke</a:t>
            </a:r>
            <a:r>
              <a:rPr lang="en-AU" dirty="0"/>
              <a:t> van der Schaaf)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21632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86A05-703D-084C-8F05-D8CF6C3C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352425"/>
            <a:ext cx="21971000" cy="1433163"/>
          </a:xfrm>
        </p:spPr>
        <p:txBody>
          <a:bodyPr>
            <a:normAutofit fontScale="90000"/>
          </a:bodyPr>
          <a:lstStyle/>
          <a:p>
            <a:r>
              <a:rPr lang="en-AU" dirty="0"/>
              <a:t>World Water Quality Alliance (WWQA)</a:t>
            </a:r>
            <a:br>
              <a:rPr lang="en-AU" dirty="0"/>
            </a:br>
            <a:r>
              <a:rPr lang="en-US" dirty="0" err="1">
                <a:hlinkClick r:id="rId2"/>
              </a:rPr>
              <a:t>www.unep.org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wwqa</a:t>
            </a:r>
            <a:br>
              <a:rPr lang="en-US" sz="8800" b="0" spc="0" dirty="0">
                <a:solidFill>
                  <a:srgbClr val="262626"/>
                </a:solidFill>
                <a:latin typeface="Mont Book"/>
                <a:ea typeface="Mont Book"/>
                <a:cs typeface="Mont Book"/>
                <a:sym typeface="Mont Book"/>
              </a:rPr>
            </a:b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B39D8C-4AE8-A547-8060-9B6A536850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2585688"/>
            <a:ext cx="18888075" cy="106496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30B3-8B73-7047-BA37-A47C1D71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Water Quality challenge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25E66-2DA0-1644-8CE9-CFF2677DF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499" y="2809875"/>
            <a:ext cx="18996025" cy="10247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955A23-A29B-0243-8679-003EDA24511C}"/>
              </a:ext>
            </a:extLst>
          </p:cNvPr>
          <p:cNvSpPr txBox="1"/>
          <p:nvPr/>
        </p:nvSpPr>
        <p:spPr>
          <a:xfrm>
            <a:off x="1177924" y="2781300"/>
            <a:ext cx="393701" cy="533400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  <p:extLst>
      <p:ext uri="{BB962C8B-B14F-4D97-AF65-F5344CB8AC3E}">
        <p14:creationId xmlns:p14="http://schemas.microsoft.com/office/powerpoint/2010/main" val="182289799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186AC-AE06-0E4D-9DE5-7932379D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WWQA mandate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8FA447-432B-F542-9748-8C9134A92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2841624"/>
            <a:ext cx="21539200" cy="1075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9571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A292-70AB-0345-A44E-7F0928EC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Water Quality Assessment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BA2A0-AB06-3948-B214-D862E2324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2828925"/>
            <a:ext cx="19081750" cy="103614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FCCE87-D4E8-714B-BF0A-C0F373A4DE33}"/>
              </a:ext>
            </a:extLst>
          </p:cNvPr>
          <p:cNvSpPr txBox="1"/>
          <p:nvPr/>
        </p:nvSpPr>
        <p:spPr>
          <a:xfrm>
            <a:off x="885825" y="2442813"/>
            <a:ext cx="885825" cy="110048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rgbClr val="262626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  <p:extLst>
      <p:ext uri="{BB962C8B-B14F-4D97-AF65-F5344CB8AC3E}">
        <p14:creationId xmlns:p14="http://schemas.microsoft.com/office/powerpoint/2010/main" val="321809850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7790D-C0D9-B046-AE93-AAA8B060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WWQA workshops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64D42-493A-E44E-BFD4-46D456BC4B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86"/>
          <a:stretch/>
        </p:blipFill>
        <p:spPr>
          <a:xfrm>
            <a:off x="1263650" y="3042888"/>
            <a:ext cx="19596100" cy="901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7739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51BCC-EF2A-E643-85C3-C9B82904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WWQA initial workshop – 29-31 March 2022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61D12-CD73-404E-8A1D-EC7ACD44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Day 1 – Regulatory and Guidance material on Water Quality</a:t>
            </a:r>
          </a:p>
          <a:p>
            <a:r>
              <a:rPr lang="en-AU" dirty="0"/>
              <a:t>Day 2 – Coordinated operational support to UN Member States &amp; WWQA</a:t>
            </a:r>
          </a:p>
          <a:p>
            <a:r>
              <a:rPr lang="en-AU" dirty="0"/>
              <a:t>Day 3 – Water Data Quality Interoperability Experiment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09731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4294967295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1198" y="1270000"/>
            <a:ext cx="9344152" cy="10780776"/>
          </a:xfrm>
          <a:prstGeom prst="rect">
            <a:avLst/>
          </a:prstGeom>
        </p:spPr>
      </p:pic>
      <p:sp>
        <p:nvSpPr>
          <p:cNvPr id="331" name="Thank You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32" name="Community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Community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(cont.)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>
                <a:hlinkClick r:id="rId3"/>
              </a:rPr>
              <a:t>Water Quality Interoperability Experiment</a:t>
            </a:r>
            <a:r>
              <a:rPr lang="en-AU" dirty="0"/>
              <a:t> (David Blodgett) </a:t>
            </a:r>
          </a:p>
          <a:p>
            <a:r>
              <a:rPr lang="en-AU" dirty="0"/>
              <a:t>Observations &amp; Measurements v3 status (Sylvain </a:t>
            </a:r>
            <a:r>
              <a:rPr lang="en-AU" dirty="0" err="1"/>
              <a:t>Grellet</a:t>
            </a:r>
            <a:r>
              <a:rPr lang="en-AU" dirty="0"/>
              <a:t>) </a:t>
            </a:r>
          </a:p>
          <a:p>
            <a:r>
              <a:rPr lang="en-AU" dirty="0">
                <a:hlinkClick r:id="rId4"/>
              </a:rPr>
              <a:t>Sensor Things v2</a:t>
            </a:r>
            <a:r>
              <a:rPr lang="en-AU" dirty="0"/>
              <a:t> and </a:t>
            </a:r>
            <a:r>
              <a:rPr lang="en-AU" dirty="0">
                <a:hlinkClick r:id="rId5"/>
              </a:rPr>
              <a:t>Soil Things demo</a:t>
            </a:r>
            <a:r>
              <a:rPr lang="en-AU" dirty="0"/>
              <a:t> (</a:t>
            </a:r>
            <a:r>
              <a:rPr lang="en-AU" dirty="0" err="1"/>
              <a:t>Hylke</a:t>
            </a:r>
            <a:r>
              <a:rPr lang="en-AU" dirty="0"/>
              <a:t> van der Schaaf)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8889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9810</TotalTime>
  <Words>235</Words>
  <Application>Microsoft Macintosh PowerPoint</Application>
  <PresentationFormat>Custom</PresentationFormat>
  <Paragraphs>32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Helvetica Neue</vt:lpstr>
      <vt:lpstr>Helvetica Neue Medium</vt:lpstr>
      <vt:lpstr>Mont Bold</vt:lpstr>
      <vt:lpstr>Mont Book</vt:lpstr>
      <vt:lpstr>Mont SemiBold</vt:lpstr>
      <vt:lpstr>30_BasicColor</vt:lpstr>
      <vt:lpstr>HydroDWG</vt:lpstr>
      <vt:lpstr>PowerPoint Presentation</vt:lpstr>
      <vt:lpstr>Agenda</vt:lpstr>
      <vt:lpstr>World Water Quality Alliance (WWQA) www.unep.org/wwqa </vt:lpstr>
      <vt:lpstr>The Water Quality challenge</vt:lpstr>
      <vt:lpstr>WWQA mandate</vt:lpstr>
      <vt:lpstr>World Water Quality Assessment</vt:lpstr>
      <vt:lpstr>WWQA workshops</vt:lpstr>
      <vt:lpstr>WWQA initial workshop – 29-31 March 2022</vt:lpstr>
      <vt:lpstr>PowerPoint Presentation</vt:lpstr>
      <vt:lpstr>Agenda (cont.)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Tony Boston</cp:lastModifiedBy>
  <cp:revision>61</cp:revision>
  <dcterms:modified xsi:type="dcterms:W3CDTF">2022-06-13T13:23:56Z</dcterms:modified>
</cp:coreProperties>
</file>