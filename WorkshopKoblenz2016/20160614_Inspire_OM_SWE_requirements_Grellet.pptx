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8" r:id="rId2"/>
    <p:sldId id="336" r:id="rId3"/>
    <p:sldId id="337" r:id="rId4"/>
    <p:sldId id="338" r:id="rId5"/>
    <p:sldId id="339" r:id="rId6"/>
    <p:sldId id="340" r:id="rId7"/>
    <p:sldId id="342" r:id="rId8"/>
    <p:sldId id="344" r:id="rId9"/>
    <p:sldId id="349" r:id="rId10"/>
    <p:sldId id="347" r:id="rId11"/>
    <p:sldId id="346" r:id="rId12"/>
    <p:sldId id="348" r:id="rId13"/>
    <p:sldId id="345" r:id="rId14"/>
    <p:sldId id="341" r:id="rId15"/>
  </p:sldIdLst>
  <p:sldSz cx="9144000" cy="6858000" type="screen4x3"/>
  <p:notesSz cx="7099300" cy="10234613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D9D"/>
    <a:srgbClr val="81FA26"/>
    <a:srgbClr val="3A7A8F"/>
    <a:srgbClr val="33B3B3"/>
    <a:srgbClr val="FF9218"/>
    <a:srgbClr val="66CC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21" autoAdjust="0"/>
    <p:restoredTop sz="94660"/>
  </p:normalViewPr>
  <p:slideViewPr>
    <p:cSldViewPr>
      <p:cViewPr varScale="1">
        <p:scale>
          <a:sx n="108" d="100"/>
          <a:sy n="108" d="100"/>
        </p:scale>
        <p:origin x="-90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937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" pitchFamily="18" charset="0"/>
              </a:defRPr>
            </a:lvl1pPr>
          </a:lstStyle>
          <a:p>
            <a:fld id="{33DA42C1-DA04-4DF4-9561-6734786B60B0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9083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937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574" y="4861441"/>
            <a:ext cx="5206153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b="0">
                <a:latin typeface="Times" pitchFamily="18" charset="0"/>
              </a:defRPr>
            </a:lvl1pPr>
          </a:lstStyle>
          <a:p>
            <a:endParaRPr lang="fr-FR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937" y="9722882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b="0">
                <a:latin typeface="Times" pitchFamily="18" charset="0"/>
              </a:defRPr>
            </a:lvl1pPr>
          </a:lstStyle>
          <a:p>
            <a:fld id="{B814575C-EC0B-41C9-B019-DBF56983308E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34036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14575C-EC0B-41C9-B019-DBF56983308E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83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309805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536" tIns="50268" rIns="100536" bIns="50268" anchor="b"/>
          <a:lstStyle/>
          <a:p>
            <a:pPr algn="r" defTabSz="1003689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" y="9722882"/>
            <a:ext cx="3296831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618618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3888" tIns="51943" rIns="103888" bIns="51943" anchor="b"/>
          <a:lstStyle/>
          <a:p>
            <a:pPr algn="r" defTabSz="1043903"/>
            <a:r>
              <a:rPr lang="fr-FR" sz="1300">
                <a:latin typeface="Times New Roman" pitchFamily="18" charset="0"/>
              </a:rPr>
              <a:t>2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" y="9722882"/>
            <a:ext cx="3532682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515" tIns="48257" rIns="96515" bIns="48257" anchor="ctr"/>
          <a:lstStyle/>
          <a:p>
            <a:endParaRPr lang="fr-FR"/>
          </a:p>
        </p:txBody>
      </p:sp>
      <p:sp>
        <p:nvSpPr>
          <p:cNvPr id="122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898525"/>
            <a:ext cx="4765675" cy="3575050"/>
          </a:xfrm>
          <a:ln cap="flat"/>
        </p:spPr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87633" y="4861441"/>
            <a:ext cx="5974339" cy="4605576"/>
          </a:xfrm>
          <a:noFill/>
        </p:spPr>
        <p:txBody>
          <a:bodyPr lIns="103888" tIns="51943" rIns="103888" bIns="51943"/>
          <a:lstStyle/>
          <a:p>
            <a:pPr defTabSz="1043903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28800" y="1295400"/>
            <a:ext cx="6781800" cy="3657600"/>
          </a:xfrm>
        </p:spPr>
        <p:txBody>
          <a:bodyPr anchor="ctr"/>
          <a:lstStyle>
            <a:lvl1pPr algn="r">
              <a:defRPr sz="4800"/>
            </a:lvl1pPr>
          </a:lstStyle>
          <a:p>
            <a:pPr lvl="0"/>
            <a:r>
              <a:rPr lang="fr-FR" noProof="0" smtClean="0"/>
              <a:t>Modifiez le style du titre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5943600"/>
            <a:ext cx="5638800" cy="609600"/>
          </a:xfrm>
        </p:spPr>
        <p:txBody>
          <a:bodyPr anchor="b"/>
          <a:lstStyle>
            <a:lvl1pPr marL="0" indent="0">
              <a:buFontTx/>
              <a:buNone/>
              <a:defRPr sz="1400" b="0"/>
            </a:lvl1pPr>
          </a:lstStyle>
          <a:p>
            <a:pPr lvl="0"/>
            <a:r>
              <a:rPr lang="fr-FR" noProof="0" smtClean="0"/>
              <a:t>Modifiez le style des sous-titres du masque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381000" y="304800"/>
            <a:ext cx="8382000" cy="6248400"/>
          </a:xfrm>
          <a:prstGeom prst="rect">
            <a:avLst/>
          </a:prstGeom>
          <a:noFill/>
          <a:ln w="12700">
            <a:solidFill>
              <a:srgbClr val="3A7A8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9230" name="Rectangle 14"/>
          <p:cNvSpPr>
            <a:spLocks noGrp="1" noChangeArrowheads="1"/>
          </p:cNvSpPr>
          <p:nvPr>
            <p:ph type="dt" sz="quarter" idx="2"/>
          </p:nvPr>
        </p:nvSpPr>
        <p:spPr>
          <a:xfrm>
            <a:off x="381000" y="6553200"/>
            <a:ext cx="3276600" cy="304800"/>
          </a:xfrm>
        </p:spPr>
        <p:txBody>
          <a:bodyPr/>
          <a:lstStyle>
            <a:lvl1pPr>
              <a:defRPr sz="1200"/>
            </a:lvl1pPr>
          </a:lstStyle>
          <a:p>
            <a:fld id="{EE027328-AF77-497C-ACAD-8DD8AF08CB0A}" type="datetime2">
              <a:rPr lang="fr-FR"/>
              <a:pPr/>
              <a:t>mardi 14 juin 2016</a:t>
            </a:fld>
            <a:endParaRPr lang="fr-FR" sz="1400" b="1">
              <a:latin typeface="Times" pitchFamily="18" charset="0"/>
            </a:endParaRPr>
          </a:p>
        </p:txBody>
      </p:sp>
      <p:pic>
        <p:nvPicPr>
          <p:cNvPr id="9231" name="Picture 15" descr="&#10;Frise_ppt.jpg                                                  0001758CInformatique                   B836A67F: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850" y="312738"/>
            <a:ext cx="4121150" cy="41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2" name="Picture 16" descr="BRGM_log_RVB_OK copie.jpg                                      0001758CInformatique                   B836A67F: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770563"/>
            <a:ext cx="1789113" cy="706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5AB3EA-ADE0-4DAC-886B-C474BD3B74C9}" type="datetime2">
              <a:rPr lang="fr-FR"/>
              <a:pPr/>
              <a:t>mardi 14 juin 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C0D72CD9-A247-4912-BFD1-6E7DD107D632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866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7F15F1-95A7-480A-93BA-F5FD77EB9451}" type="datetime2">
              <a:rPr lang="fr-FR"/>
              <a:pPr/>
              <a:t>mardi 14 juin 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4831642F-9A48-476C-99F7-D190911CE8FC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472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306513" y="1371600"/>
            <a:ext cx="315595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14863" y="1371600"/>
            <a:ext cx="3157537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B0D768-9D44-4F1D-AB4C-30062714F841}" type="datetime2">
              <a:rPr lang="fr-FR"/>
              <a:pPr/>
              <a:t>mardi 14 juin 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7F99C49C-0F7F-4892-8C9F-248984567316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42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2C0F16-C17B-41DE-8A41-13698432514E}" type="datetime2">
              <a:rPr lang="fr-FR"/>
              <a:pPr/>
              <a:t>mardi 14 juin 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424A3869-0C3F-48B4-BF30-FA0B0CAF76E5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092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00CE75-BC77-4048-AEA4-67E97F4FE482}" type="datetime2">
              <a:rPr lang="fr-FR"/>
              <a:pPr/>
              <a:t>mardi 14 juin 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BC7B207C-E62C-450C-94B6-2933A15854D7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146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6243201-3636-4836-83C0-B4A164E5CFF0}" type="datetime2">
              <a:rPr lang="fr-FR"/>
              <a:pPr/>
              <a:t>mardi 14 juin 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C8BE5DAE-9109-41E9-9FDA-B6443877C9A8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769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B53A83A-948B-468D-AE19-439E5E979F57}" type="datetime2">
              <a:rPr lang="fr-FR"/>
              <a:pPr/>
              <a:t>mardi 14 juin 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D3AB18ED-EFE1-4A75-BFF8-7D666CB0A916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703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F81C03-1E9F-4C84-8AA5-5562DCD7DC1B}" type="datetime2">
              <a:rPr lang="fr-FR"/>
              <a:pPr/>
              <a:t>mardi 14 juin 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C78FF34B-A223-46E3-86FB-AE793176ECEB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00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FDE939-39C1-4072-8C85-D4C6F1488AD8}" type="datetime2">
              <a:rPr lang="fr-FR"/>
              <a:pPr/>
              <a:t>mardi 14 juin 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7FCB5D8D-255A-405C-996C-ADEFAC9F27BC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948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5924550" y="304800"/>
            <a:ext cx="1847850" cy="55626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5391150" cy="556260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C81A7E-17B3-4235-AD93-75E60B0CE9A4}" type="datetime2">
              <a:rPr lang="fr-FR"/>
              <a:pPr/>
              <a:t>mardi 14 juin 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FC03FE9A-3C6D-4CEC-AEBF-253148A92F64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27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04800"/>
            <a:ext cx="5791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et modifiez le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06513" y="1371600"/>
            <a:ext cx="6465887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1036" name="Text Box 12"/>
          <p:cNvSpPr txBox="1">
            <a:spLocks noChangeArrowheads="1"/>
          </p:cNvSpPr>
          <p:nvPr/>
        </p:nvSpPr>
        <p:spPr bwMode="auto">
          <a:xfrm>
            <a:off x="7162800" y="62484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fr-FR" sz="2400" b="0">
              <a:latin typeface="Times" pitchFamily="18" charset="0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381000" y="304800"/>
            <a:ext cx="8382000" cy="6248400"/>
          </a:xfrm>
          <a:prstGeom prst="rect">
            <a:avLst/>
          </a:prstGeom>
          <a:noFill/>
          <a:ln w="12700">
            <a:solidFill>
              <a:srgbClr val="3A7A8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047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53200"/>
            <a:ext cx="19050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/>
            </a:lvl1pPr>
          </a:lstStyle>
          <a:p>
            <a:fld id="{E6C32AE2-FEE4-4828-889E-8EB2ED0CF187}" type="datetime2">
              <a:rPr lang="fr-FR"/>
              <a:pPr/>
              <a:t>mardi 14 juin 2016</a:t>
            </a:fld>
            <a:endParaRPr lang="fr-FR"/>
          </a:p>
        </p:txBody>
      </p:sp>
      <p:sp>
        <p:nvSpPr>
          <p:cNvPr id="1048" name="Rectangle 2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1000" y="6248400"/>
            <a:ext cx="2819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fr-FR"/>
              <a:t>Nom du service émetteur</a:t>
            </a:r>
            <a:endParaRPr lang="fr-FR" sz="1400">
              <a:latin typeface="Times" pitchFamily="18" charset="0"/>
            </a:endParaRPr>
          </a:p>
        </p:txBody>
      </p:sp>
      <p:sp>
        <p:nvSpPr>
          <p:cNvPr id="1049" name="Rectangle 2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553200"/>
            <a:ext cx="1981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3A7A8F"/>
                </a:solidFill>
              </a:defRPr>
            </a:lvl1pPr>
          </a:lstStyle>
          <a:p>
            <a:r>
              <a:rPr lang="fr-FR"/>
              <a:t> &gt;</a:t>
            </a:r>
            <a:r>
              <a:rPr lang="fr-FR">
                <a:solidFill>
                  <a:schemeClr val="tx1"/>
                </a:solidFill>
              </a:rPr>
              <a:t> </a:t>
            </a:r>
            <a:fld id="{326A04FC-8C6F-47C1-801A-7B666C115344}" type="slidenum">
              <a:rPr lang="fr-FR" b="0">
                <a:solidFill>
                  <a:schemeClr val="tx1"/>
                </a:solidFill>
              </a:rPr>
              <a:pPr/>
              <a:t>‹N°›</a:t>
            </a:fld>
            <a:endParaRPr lang="fr-FR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A7A8F"/>
        </a:buClr>
        <a:buSzPct val="150000"/>
        <a:buChar char="&gt;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3A7A8F"/>
        </a:buClr>
        <a:buSzPct val="150000"/>
        <a:buFont typeface="Times" pitchFamily="18" charset="0"/>
        <a:buChar char="•"/>
        <a:defRPr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A7A8F"/>
        </a:buClr>
        <a:buSzPct val="150000"/>
        <a:buChar char="–"/>
        <a:defRPr sz="1600">
          <a:solidFill>
            <a:schemeClr val="tx1"/>
          </a:solidFill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4"/>
          <p:cNvSpPr>
            <a:spLocks noGrp="1" noChangeArrowheads="1"/>
          </p:cNvSpPr>
          <p:nvPr>
            <p:ph type="dt" sz="quarter" idx="2"/>
          </p:nvPr>
        </p:nvSpPr>
        <p:spPr>
          <a:xfrm>
            <a:off x="381000" y="6553200"/>
            <a:ext cx="4623048" cy="304800"/>
          </a:xfrm>
        </p:spPr>
        <p:txBody>
          <a:bodyPr/>
          <a:lstStyle/>
          <a:p>
            <a:r>
              <a:rPr lang="en-US" dirty="0" smtClean="0"/>
              <a:t>OGC Hydro DWG Workshop </a:t>
            </a:r>
            <a:r>
              <a:rPr lang="en-US" dirty="0"/>
              <a:t>2016 – </a:t>
            </a:r>
            <a:r>
              <a:rPr lang="en-US" dirty="0" smtClean="0"/>
              <a:t> Koblenz – 2016-06-14</a:t>
            </a:r>
            <a:endParaRPr lang="fr-FR" sz="1400" b="1" dirty="0">
              <a:latin typeface="Times" pitchFamily="18" charset="0"/>
            </a:endParaRPr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15616" y="1700808"/>
            <a:ext cx="6997824" cy="2376264"/>
          </a:xfrm>
        </p:spPr>
        <p:txBody>
          <a:bodyPr/>
          <a:lstStyle/>
          <a:p>
            <a:pPr algn="ctr"/>
            <a:r>
              <a:rPr lang="fr-FR" sz="3600" dirty="0" smtClean="0"/>
              <a:t>Inspire </a:t>
            </a:r>
            <a:r>
              <a:rPr lang="fr-FR" sz="3600" dirty="0"/>
              <a:t>O&amp;M &amp; SWE </a:t>
            </a:r>
            <a:r>
              <a:rPr lang="fr-FR" sz="3600" dirty="0" err="1"/>
              <a:t>requirements</a:t>
            </a:r>
            <a:r>
              <a:rPr lang="fr-FR" sz="3600" dirty="0"/>
              <a:t> - </a:t>
            </a:r>
            <a:r>
              <a:rPr lang="fr-FR" sz="3600" dirty="0" smtClean="0"/>
              <a:t>profile</a:t>
            </a:r>
            <a:endParaRPr lang="fr-FR" sz="1600" dirty="0"/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BRGM – </a:t>
            </a:r>
            <a:r>
              <a:rPr lang="fr-FR" dirty="0" err="1" smtClean="0"/>
              <a:t>S.Grellet</a:t>
            </a:r>
            <a:endParaRPr lang="fr-FR" dirty="0" smtClean="0"/>
          </a:p>
        </p:txBody>
      </p:sp>
      <p:pic>
        <p:nvPicPr>
          <p:cNvPr id="67591" name="Picture 7" descr="D:\Dce Alain\logo janvier 2003\logos 2003 validés alain\version fevrier 2003\pcx\BRGM\BRGM couleur.pcx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663" y="5591175"/>
            <a:ext cx="2057400" cy="94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Context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Objectives </a:t>
            </a: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Refine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the INSPIRE O&amp;M &amp; SWE guidelines document (D2.9)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produced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in 2011</a:t>
            </a:r>
          </a:p>
          <a:p>
            <a:pPr lvl="2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on inputs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experts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coming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various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EU 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organisations and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outside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. A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dedicated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meeting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was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held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side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by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side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OGC Hydro DWG workshop in Delft (2011)</a:t>
            </a:r>
          </a:p>
          <a:p>
            <a:pPr lvl="2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restructure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differentiate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explanatory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text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on O&amp;M &amp; SWE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guidance (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should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shall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) -&gt; OGC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modular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spec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Refine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the INSPIRE SOS as an INSPIRE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dowload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service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technical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guidance</a:t>
            </a: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Better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link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together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documents</a:t>
            </a: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Develop</a:t>
            </a:r>
            <a:r>
              <a:rPr lang="fr-FR" smtClean="0">
                <a:latin typeface="Calibri" panose="020F0502020204030204" pitchFamily="34" charset="0"/>
                <a:cs typeface="Calibri" panose="020F0502020204030204" pitchFamily="34" charset="0"/>
              </a:rPr>
              <a:t> one reference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implementation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(52°N)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HDWG workshop Orléans 2015</a:t>
            </a: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Combine HDWG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members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knowledge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about SWE to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produce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a best practice document on SWE for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environmental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monitoring</a:t>
            </a: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Link to NZ profile, EU Ambiant air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quality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reporting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profile, …</a:t>
            </a:r>
          </a:p>
          <a:p>
            <a:pPr marL="457200" lvl="1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2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2016-06-14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47699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Documents\grellets\Travail\International\JRC\D2.9\Images\DecisionTre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854714"/>
            <a:ext cx="6696744" cy="5022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Decision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tree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Leading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specialisedObservations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Most of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which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derived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OM_DiscreteCoverageObservation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smtClean="0"/>
              <a:t>O&amp;M Design patterns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3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2016-06-14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8703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smtClean="0"/>
              <a:t>O&amp;M Design patterns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specialisedObservation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PointTimeSeries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4</a:t>
            </a:fld>
            <a:endParaRPr lang="fr-FR" dirty="0">
              <a:solidFill>
                <a:schemeClr val="tx1"/>
              </a:solidFill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81947"/>
              </p:ext>
            </p:extLst>
          </p:nvPr>
        </p:nvGraphicFramePr>
        <p:xfrm>
          <a:off x="467544" y="5661248"/>
          <a:ext cx="8280920" cy="720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55921"/>
                <a:gridCol w="5124999"/>
              </a:tblGrid>
              <a:tr h="7200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540385" algn="l"/>
                          <a:tab pos="180340" algn="l"/>
                          <a:tab pos="540385" algn="l"/>
                          <a:tab pos="1143000" algn="l"/>
                        </a:tabLst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en-GB" sz="1000" dirty="0" err="1">
                          <a:solidFill>
                            <a:schemeClr val="tx1"/>
                          </a:solidFill>
                          <a:effectLst/>
                        </a:rPr>
                        <a:t>req</a:t>
                      </a:r>
                      <a:r>
                        <a:rPr lang="en-GB" sz="1000" dirty="0">
                          <a:solidFill>
                            <a:schemeClr val="tx1"/>
                          </a:solidFill>
                          <a:effectLst/>
                        </a:rPr>
                        <a:t>/inspire-om-design-patterns/</a:t>
                      </a:r>
                      <a:r>
                        <a:rPr lang="en-GB" sz="1000" dirty="0" err="1">
                          <a:solidFill>
                            <a:schemeClr val="tx1"/>
                          </a:solidFill>
                          <a:effectLst/>
                        </a:rPr>
                        <a:t>pointTimeSeriesObservation</a:t>
                      </a:r>
                      <a:r>
                        <a:rPr lang="en-GB" sz="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fr-FR" sz="1000" dirty="0">
                        <a:solidFill>
                          <a:schemeClr val="tx1"/>
                        </a:solidFill>
                        <a:effectLst/>
                        <a:latin typeface="Arial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80340" algn="l"/>
                          <a:tab pos="540385" algn="l"/>
                          <a:tab pos="180340" algn="l"/>
                          <a:tab pos="540385" algn="l"/>
                          <a:tab pos="1143000" algn="l"/>
                        </a:tabLst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  <a:effectLst/>
                        </a:rPr>
                        <a:t>When the Observation represents a time-series of point measurements of a property at a fixed location in space the specialised observation ‘</a:t>
                      </a:r>
                      <a:r>
                        <a:rPr lang="en-GB" sz="1000" dirty="0" err="1">
                          <a:solidFill>
                            <a:schemeClr val="tx1"/>
                          </a:solidFill>
                          <a:effectLst/>
                        </a:rPr>
                        <a:t>PointTimeSeriesObservation</a:t>
                      </a:r>
                      <a:r>
                        <a:rPr lang="en-GB" sz="1000" dirty="0">
                          <a:solidFill>
                            <a:schemeClr val="tx1"/>
                          </a:solidFill>
                          <a:effectLst/>
                        </a:rPr>
                        <a:t>’ SHOULD be used</a:t>
                      </a:r>
                      <a:endParaRPr lang="fr-FR" sz="1000" dirty="0">
                        <a:solidFill>
                          <a:schemeClr val="tx1"/>
                        </a:solidFill>
                        <a:effectLst/>
                        <a:latin typeface="Arial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2" name="ZoneTexte 11"/>
          <p:cNvSpPr txBox="1"/>
          <p:nvPr/>
        </p:nvSpPr>
        <p:spPr>
          <a:xfrm>
            <a:off x="352770" y="4516140"/>
            <a:ext cx="80890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/>
              <a:t>An example of such case could be an air quality monitoring station providing </a:t>
            </a:r>
            <a:r>
              <a:rPr lang="en-US" b="0" i="1" dirty="0" smtClean="0"/>
              <a:t>ozone concentration measurements</a:t>
            </a:r>
            <a:r>
              <a:rPr lang="en-US" b="0" i="1" dirty="0"/>
              <a:t>. </a:t>
            </a:r>
            <a:endParaRPr lang="en-US" b="0" i="1" dirty="0" smtClean="0"/>
          </a:p>
          <a:p>
            <a:r>
              <a:rPr lang="en-US" b="0" i="1" dirty="0" smtClean="0"/>
              <a:t>The </a:t>
            </a:r>
            <a:r>
              <a:rPr lang="en-US" b="0" i="1" dirty="0" err="1"/>
              <a:t>featureOfInterest</a:t>
            </a:r>
            <a:r>
              <a:rPr lang="en-US" b="0" i="1" dirty="0"/>
              <a:t> represents the direct surrounds of the air intake (i.e. the air bubble surrounding the air intake). </a:t>
            </a:r>
            <a:endParaRPr lang="en-US" b="0" i="1" dirty="0" smtClean="0"/>
          </a:p>
          <a:p>
            <a:r>
              <a:rPr lang="en-US" b="0" i="1" dirty="0"/>
              <a:t>T</a:t>
            </a:r>
            <a:r>
              <a:rPr lang="en-US" b="0" i="1" dirty="0" smtClean="0"/>
              <a:t>he </a:t>
            </a:r>
            <a:r>
              <a:rPr lang="en-US" b="0" i="1" dirty="0"/>
              <a:t>location for the measurements is provided through this </a:t>
            </a:r>
            <a:r>
              <a:rPr lang="en-US" b="0" i="1" dirty="0" err="1"/>
              <a:t>featureOfInterest</a:t>
            </a:r>
            <a:r>
              <a:rPr lang="en-US" b="0" i="1" dirty="0"/>
              <a:t>. </a:t>
            </a:r>
          </a:p>
          <a:p>
            <a:r>
              <a:rPr lang="en-US" b="0" i="1" dirty="0"/>
              <a:t>As this design pattern usually provides a time series (temporal coverage) result, </a:t>
            </a:r>
            <a:endParaRPr lang="en-US" b="0" i="1" dirty="0" smtClean="0"/>
          </a:p>
          <a:p>
            <a:r>
              <a:rPr lang="en-US" b="0" i="1" dirty="0" smtClean="0"/>
              <a:t>the </a:t>
            </a:r>
            <a:r>
              <a:rPr lang="en-US" b="0" i="1" dirty="0" err="1"/>
              <a:t>phenomenonTime</a:t>
            </a:r>
            <a:r>
              <a:rPr lang="en-US" b="0" i="1" dirty="0"/>
              <a:t> and/or </a:t>
            </a:r>
            <a:r>
              <a:rPr lang="en-US" b="0" i="1" dirty="0" err="1"/>
              <a:t>resultTime</a:t>
            </a:r>
            <a:r>
              <a:rPr lang="en-US" b="0" i="1" dirty="0"/>
              <a:t> will often be provided together with the result values.</a:t>
            </a:r>
          </a:p>
          <a:p>
            <a:endParaRPr lang="fr-FR" b="0" dirty="0"/>
          </a:p>
        </p:txBody>
      </p:sp>
      <p:sp>
        <p:nvSpPr>
          <p:cNvPr id="11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2016-06-14</a:t>
            </a:r>
            <a:endParaRPr lang="fr-FR" sz="1050" b="1" dirty="0">
              <a:latin typeface="Times" pitchFamily="18" charset="0"/>
            </a:endParaRPr>
          </a:p>
        </p:txBody>
      </p:sp>
      <p:pic>
        <p:nvPicPr>
          <p:cNvPr id="1026" name="Picture 2" descr="PointTimeSeri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8" t="22394" b="12794"/>
          <a:stretch>
            <a:fillRect/>
          </a:stretch>
        </p:blipFill>
        <p:spPr bwMode="auto">
          <a:xfrm>
            <a:off x="1907704" y="1925340"/>
            <a:ext cx="47625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056493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smtClean="0"/>
              <a:t>O&amp;M Design patterns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5</a:t>
            </a:fld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4" t="3376" b="26"/>
          <a:stretch/>
        </p:blipFill>
        <p:spPr bwMode="auto">
          <a:xfrm>
            <a:off x="3431969" y="831273"/>
            <a:ext cx="5748543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514425" y="1124744"/>
            <a:ext cx="7441951" cy="4495800"/>
          </a:xfrm>
          <a:noFill/>
        </p:spPr>
        <p:txBody>
          <a:bodyPr/>
          <a:lstStyle/>
          <a:p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specialisedObservation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PointTimeSeries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2016-06-14</a:t>
            </a:r>
            <a:endParaRPr lang="fr-FR" sz="1050" b="1" dirty="0">
              <a:latin typeface="Times" pitchFamily="18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 rot="20774120">
            <a:off x="6348446" y="2142453"/>
            <a:ext cx="13246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Will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updated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74069496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smtClean="0"/>
              <a:t>O&amp;M Design patterns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Other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specialised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observations</a:t>
            </a: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point,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multiPoint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pointObservationCollection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profile &amp;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trajectory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gridTimeSeries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specimen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specimenTimeSeries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6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b="0" dirty="0" smtClean="0"/>
              <a:t>INSPIRE MIWP-7a – 2016-05-20</a:t>
            </a:r>
            <a:endParaRPr lang="fr-FR" sz="1400" b="0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55556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smtClean="0"/>
              <a:t>O&amp;M INSPIRE profile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Core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Observation profile</a:t>
            </a: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Requirement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classes 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most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them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recommendations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few are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requirements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OM_Observation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: identifier, time (ISO 8601)</a:t>
            </a:r>
          </a:p>
          <a:p>
            <a:pPr lvl="1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observedProperty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</a:p>
          <a:p>
            <a:pPr lvl="2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communityVocabulary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, SKOS</a:t>
            </a:r>
          </a:p>
          <a:p>
            <a:pPr lvl="2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observableProperty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inspired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CSML3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initially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recommended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(in V2)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: few implementation feedback available -&gt; moved to informative annex.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eatureOfInterest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SF_SamplingFeature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, </a:t>
            </a:r>
          </a:p>
          <a:p>
            <a:pPr lvl="2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provision of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sampledFeature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either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domain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or Nasa SWEET entry</a:t>
            </a:r>
          </a:p>
          <a:p>
            <a:pPr lvl="2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pattern for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depth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elevation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provision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7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2016-06-14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65230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smtClean="0"/>
              <a:t>O&amp;M </a:t>
            </a:r>
            <a:r>
              <a:rPr lang="fr-FR" dirty="0"/>
              <a:t>INSPIRE profile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Core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Observation profile</a:t>
            </a: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Procedure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sensorType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u="sng" dirty="0" smtClean="0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instance (as in SOS hydro profile)</a:t>
            </a:r>
          </a:p>
          <a:p>
            <a:pPr lvl="2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dedicated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Process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specialisation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in Inspire (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xsd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2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Link to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monitoringFacility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monitoringNetwork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generating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the observation : </a:t>
            </a:r>
          </a:p>
          <a:p>
            <a:pPr lvl="2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Pattern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defined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using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om:parameter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value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pointing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to URI of the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facility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/network</a:t>
            </a:r>
          </a:p>
          <a:p>
            <a:pPr lvl="2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clear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identified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8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2016-06-14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16248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smtClean="0"/>
              <a:t>Service Layer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Link to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INSPIRE 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SOS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technical guidance document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Work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updating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GetDataAvailability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in a V2</a:t>
            </a: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Adding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offeringID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formatDescriptor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observationType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procedureDescriptionFormat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inspireExtension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resultNature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in the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response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>
              <a:buFont typeface="Symbol"/>
              <a:buChar char="Þ"/>
            </a:pPr>
            <a:r>
              <a:rPr lang="fr-F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See</a:t>
            </a:r>
            <a:r>
              <a:rPr lang="fr-F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 Simon </a:t>
            </a:r>
            <a:r>
              <a:rPr lang="fr-FR" sz="1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Jirka’s</a:t>
            </a:r>
            <a:r>
              <a:rPr lang="fr-F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presentation</a:t>
            </a:r>
            <a:r>
              <a:rPr lang="fr-F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today</a:t>
            </a:r>
            <a:r>
              <a:rPr lang="fr-FR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“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SOS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2.0 Hydrology Profile (further </a:t>
            </a:r>
            <a:r>
              <a:rPr lang="en-US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development)”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9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2016-06-14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34832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smtClean="0"/>
              <a:t>Service Layer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Recommended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service pattern (WFS / SOS)</a:t>
            </a: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1°/ WFS :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Monitoring Facility/Network description</a:t>
            </a:r>
          </a:p>
          <a:p>
            <a:pPr lvl="1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2°/ SOS: 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getDataAvailability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to test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ground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for observation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available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at the monitoring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level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Symbol"/>
              <a:buChar char="Þ"/>
            </a:pP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retrieve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offeringID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3°/ SOS: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getObservation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on a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given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fferingID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2" indent="0">
              <a:buNone/>
            </a:pP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10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2016-06-14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02433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/>
              <a:t>Service Layer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encoding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TimeSeriesML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support: issue to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clarified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backward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compatibility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WaterML2 (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specialised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observation use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O&amp;M JSON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encoding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(OGC BP)</a:t>
            </a:r>
          </a:p>
          <a:p>
            <a:pPr lvl="1"/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Out-of-band issue not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solved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since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previous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version (a discussion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paper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was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produced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2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decision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was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taken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so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far.</a:t>
            </a:r>
          </a:p>
          <a:p>
            <a:pPr lvl="2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Keps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as informative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annex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to the document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produced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11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2016-06-14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45402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Technical</a:t>
            </a:r>
            <a:r>
              <a:rPr lang="fr-FR" dirty="0" smtClean="0"/>
              <a:t> guidelines for SOS as an INSPIRE  </a:t>
            </a:r>
            <a:r>
              <a:rPr lang="fr-FR" dirty="0" err="1" smtClean="0"/>
              <a:t>download</a:t>
            </a:r>
            <a:r>
              <a:rPr lang="fr-FR" dirty="0" smtClean="0"/>
              <a:t> service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Extended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capabilities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		</a:t>
            </a: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Mapping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Inspire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terminology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to SOS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operations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Ex : INSPIRE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-&gt;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Offerings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DescribeSensor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operation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Behaviour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linked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back to D2.9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recommendations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Observation identifier handling </a:t>
            </a: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getObservationById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should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reuse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gml:identifier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. Inspire ‘identifier’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dedicated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type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not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gml:identifier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12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2016-06-14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64818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Next</a:t>
            </a:r>
            <a:r>
              <a:rPr lang="fr-FR" dirty="0" smtClean="0"/>
              <a:t> </a:t>
            </a:r>
            <a:r>
              <a:rPr lang="fr-FR" dirty="0" err="1" smtClean="0"/>
              <a:t>steps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306513" y="1124744"/>
            <a:ext cx="7441951" cy="4495800"/>
          </a:xfrm>
          <a:noFill/>
        </p:spPr>
        <p:txBody>
          <a:bodyPr/>
          <a:lstStyle/>
          <a:p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Discuss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within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INSPIRE O&amp;M &amp; SWE maintenance group (MIWP-7a)</a:t>
            </a:r>
          </a:p>
          <a:p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Polish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the docs</a:t>
            </a: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Mainly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D2.9, SOS TG 95%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finished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Forward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to INSPIRE MIG-T for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comments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Communicate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raise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awareness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Done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: OGC Washington TC :  SWE DWG (5’) ,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HydroDWG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HydroDWG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Koblenz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OGC Dublin TC  : SWE  DWG (20’) To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discuss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more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details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After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TCs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circulate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D 2.9 document 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fr-FR" dirty="0" err="1">
                <a:latin typeface="Calibri" panose="020F0502020204030204" pitchFamily="34" charset="0"/>
                <a:cs typeface="Calibri" panose="020F0502020204030204" pitchFamily="34" charset="0"/>
              </a:rPr>
              <a:t>gather</a:t>
            </a:r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comments</a:t>
            </a:r>
            <a:endParaRPr lang="fr-F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OGC Orlando: push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as an OGC </a:t>
            </a:r>
            <a:r>
              <a:rPr lang="fr-FR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BestPractice</a:t>
            </a:r>
            <a:r>
              <a:rPr lang="fr-FR" dirty="0" smtClean="0">
                <a:latin typeface="Calibri" panose="020F0502020204030204" pitchFamily="34" charset="0"/>
                <a:cs typeface="Calibri" panose="020F0502020204030204" pitchFamily="34" charset="0"/>
              </a:rPr>
              <a:t> ?</a:t>
            </a:r>
          </a:p>
          <a:p>
            <a:endParaRPr lang="fr-FR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13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2016-06-14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66591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Windows\Web\Wallpaper\BRGM\fond_ecran_2013_0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052736"/>
            <a:ext cx="8525746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367464" cy="609600"/>
          </a:xfrm>
          <a:noFill/>
        </p:spPr>
        <p:txBody>
          <a:bodyPr/>
          <a:lstStyle/>
          <a:p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70409" y="1124744"/>
            <a:ext cx="7441951" cy="4495800"/>
          </a:xfrm>
          <a:noFill/>
        </p:spPr>
        <p:txBody>
          <a:bodyPr/>
          <a:lstStyle/>
          <a:p>
            <a:pPr marL="0" indent="0">
              <a:buNone/>
            </a:pPr>
            <a:r>
              <a:rPr lang="fr-FR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s.grellet@brgm.fr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804248" y="6580584"/>
            <a:ext cx="1981200" cy="304800"/>
          </a:xfrm>
        </p:spPr>
        <p:txBody>
          <a:bodyPr/>
          <a:lstStyle/>
          <a:p>
            <a:r>
              <a:rPr lang="fr-FR" dirty="0"/>
              <a:t> &gt;</a:t>
            </a:r>
            <a:r>
              <a:rPr lang="fr-FR" dirty="0">
                <a:solidFill>
                  <a:schemeClr val="tx1"/>
                </a:solidFill>
              </a:rPr>
              <a:t> </a:t>
            </a:r>
            <a:fld id="{2171F7E0-811F-4BBD-AF40-9D973D7209F2}" type="slidenum">
              <a:rPr lang="fr-FR">
                <a:solidFill>
                  <a:schemeClr val="tx1"/>
                </a:solidFill>
              </a:rPr>
              <a:pPr/>
              <a:t>14</a:t>
            </a:fld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Rectangle 14"/>
          <p:cNvSpPr>
            <a:spLocks noGrp="1" noChangeArrowheads="1"/>
          </p:cNvSpPr>
          <p:nvPr>
            <p:ph type="dt" sz="quarter" idx="4294967295"/>
          </p:nvPr>
        </p:nvSpPr>
        <p:spPr>
          <a:xfrm>
            <a:off x="381000" y="6553200"/>
            <a:ext cx="4623048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dirty="0"/>
              <a:t>OGC Hydro DWG Workshop 2016 –  Koblenz – 2016-06-14</a:t>
            </a:r>
            <a:endParaRPr lang="fr-FR" sz="1050" b="1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60128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_PowerPoint_BRGM">
  <a:themeElements>
    <a:clrScheme name="Thèm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hème 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hèm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ème Offic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ème Offic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Modèle_PowerPoint_BRGM</Template>
  <TotalTime>5908</TotalTime>
  <Words>856</Words>
  <Application>Microsoft Office PowerPoint</Application>
  <PresentationFormat>Affichage à l'écran (4:3)</PresentationFormat>
  <Paragraphs>197</Paragraphs>
  <Slides>14</Slides>
  <Notes>14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Modèle_PowerPoint_BRGM</vt:lpstr>
      <vt:lpstr>Inspire O&amp;M &amp; SWE requirements - profile</vt:lpstr>
      <vt:lpstr>Context</vt:lpstr>
      <vt:lpstr>O&amp;M Design patterns</vt:lpstr>
      <vt:lpstr>O&amp;M Design patterns</vt:lpstr>
      <vt:lpstr>O&amp;M Design patterns</vt:lpstr>
      <vt:lpstr>O&amp;M Design patterns</vt:lpstr>
      <vt:lpstr>O&amp;M INSPIRE profile</vt:lpstr>
      <vt:lpstr>O&amp;M INSPIRE profile</vt:lpstr>
      <vt:lpstr>Service Layer</vt:lpstr>
      <vt:lpstr>Service Layer</vt:lpstr>
      <vt:lpstr>Service Layer</vt:lpstr>
      <vt:lpstr>Technical guidelines for SOS as an INSPIRE  download service</vt:lpstr>
      <vt:lpstr>Next steps</vt:lpstr>
      <vt:lpstr>Thank you</vt:lpstr>
    </vt:vector>
  </TitlesOfParts>
  <Company>BRGM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  exemple de réalisation</dc:title>
  <dc:creator>J.J.Serrano</dc:creator>
  <cp:lastModifiedBy>Grellet Sylvain</cp:lastModifiedBy>
  <cp:revision>670</cp:revision>
  <cp:lastPrinted>2014-02-12T08:10:37Z</cp:lastPrinted>
  <dcterms:created xsi:type="dcterms:W3CDTF">2013-06-19T08:50:55Z</dcterms:created>
  <dcterms:modified xsi:type="dcterms:W3CDTF">2016-06-14T13:11:26Z</dcterms:modified>
</cp:coreProperties>
</file>