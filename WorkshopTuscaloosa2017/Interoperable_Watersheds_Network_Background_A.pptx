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5"/>
  </p:sldMasterIdLst>
  <p:notesMasterIdLst>
    <p:notesMasterId r:id="rId24"/>
  </p:notesMasterIdLst>
  <p:handoutMasterIdLst>
    <p:handoutMasterId r:id="rId25"/>
  </p:handoutMasterIdLst>
  <p:sldIdLst>
    <p:sldId id="258" r:id="rId6"/>
    <p:sldId id="260" r:id="rId7"/>
    <p:sldId id="275" r:id="rId8"/>
    <p:sldId id="276" r:id="rId9"/>
    <p:sldId id="290" r:id="rId10"/>
    <p:sldId id="277" r:id="rId11"/>
    <p:sldId id="278" r:id="rId12"/>
    <p:sldId id="279" r:id="rId13"/>
    <p:sldId id="281" r:id="rId14"/>
    <p:sldId id="282" r:id="rId15"/>
    <p:sldId id="283" r:id="rId16"/>
    <p:sldId id="284" r:id="rId17"/>
    <p:sldId id="291" r:id="rId18"/>
    <p:sldId id="292" r:id="rId19"/>
    <p:sldId id="285" r:id="rId20"/>
    <p:sldId id="286" r:id="rId21"/>
    <p:sldId id="287" r:id="rId22"/>
    <p:sldId id="26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11"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384" autoAdjust="0"/>
  </p:normalViewPr>
  <p:slideViewPr>
    <p:cSldViewPr snapToGrid="0">
      <p:cViewPr varScale="1">
        <p:scale>
          <a:sx n="74" d="100"/>
          <a:sy n="74" d="100"/>
        </p:scale>
        <p:origin x="372" y="60"/>
      </p:cViewPr>
      <p:guideLst>
        <p:guide orient="horz" pos="2160"/>
        <p:guide pos="3840"/>
      </p:guideLst>
    </p:cSldViewPr>
  </p:slideViewPr>
  <p:notesTextViewPr>
    <p:cViewPr>
      <p:scale>
        <a:sx n="3" d="2"/>
        <a:sy n="3" d="2"/>
      </p:scale>
      <p:origin x="0" y="0"/>
    </p:cViewPr>
  </p:notesTextViewPr>
  <p:notesViewPr>
    <p:cSldViewPr snapToGrid="0">
      <p:cViewPr varScale="1">
        <p:scale>
          <a:sx n="82" d="100"/>
          <a:sy n="82" d="100"/>
        </p:scale>
        <p:origin x="2034"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0E08F2E-5F06-4CE2-A139-452A1382A6F0}" type="datetimeFigureOut">
              <a:rPr lang="en-US"/>
              <a:t>6/22/2017</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828588A-5C4E-401A-AECC-B6F63A9DE965}" type="slidenum">
              <a:rPr/>
              <a:t>‹#›</a:t>
            </a:fld>
            <a:endParaRPr/>
          </a:p>
        </p:txBody>
      </p:sp>
    </p:spTree>
    <p:extLst>
      <p:ext uri="{BB962C8B-B14F-4D97-AF65-F5344CB8AC3E}">
        <p14:creationId xmlns:p14="http://schemas.microsoft.com/office/powerpoint/2010/main" val="10599797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4C5DC6-1594-414D-9341-ABA08739246C}" type="datetimeFigureOut">
              <a:rPr lang="en-US"/>
              <a:t>6/22/2017</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542409-6A04-4DC6-AC3A-D3758287A8F2}" type="slidenum">
              <a:rPr/>
              <a:t>‹#›</a:t>
            </a:fld>
            <a:endParaRPr/>
          </a:p>
        </p:txBody>
      </p:sp>
    </p:spTree>
    <p:extLst>
      <p:ext uri="{BB962C8B-B14F-4D97-AF65-F5344CB8AC3E}">
        <p14:creationId xmlns:p14="http://schemas.microsoft.com/office/powerpoint/2010/main" val="2541150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7542409-6A04-4DC6-AC3A-D3758287A8F2}" type="slidenum">
              <a:rPr lang="en-US" smtClean="0"/>
              <a:t>1</a:t>
            </a:fld>
            <a:endParaRPr lang="en-US"/>
          </a:p>
        </p:txBody>
      </p:sp>
    </p:spTree>
    <p:extLst>
      <p:ext uri="{BB962C8B-B14F-4D97-AF65-F5344CB8AC3E}">
        <p14:creationId xmlns:p14="http://schemas.microsoft.com/office/powerpoint/2010/main" val="330082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7542409-6A04-4DC6-AC3A-D3758287A8F2}" type="slidenum">
              <a:rPr lang="en-US" smtClean="0"/>
              <a:t>2</a:t>
            </a:fld>
            <a:endParaRPr lang="en-US"/>
          </a:p>
        </p:txBody>
      </p:sp>
    </p:spTree>
    <p:extLst>
      <p:ext uri="{BB962C8B-B14F-4D97-AF65-F5344CB8AC3E}">
        <p14:creationId xmlns:p14="http://schemas.microsoft.com/office/powerpoint/2010/main" val="36617990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if every time you needed to download financial information from your bank you needed to deal with a different formatted file and that required you to download it, import it in Excel, rename column headers, deal with changes in terms and currency before you could even begin to balance your checkbook.  We would never tolerate that, which is why the OFX standard exists.</a:t>
            </a:r>
          </a:p>
          <a:p>
            <a:endParaRPr lang="en-US" dirty="0"/>
          </a:p>
          <a:p>
            <a:r>
              <a:rPr lang="en-US" dirty="0"/>
              <a:t>Do you remember filling out IRS forms?  Now we can do our taxes in a weekend (what used to take months and required hiring a professional).  </a:t>
            </a:r>
          </a:p>
          <a:p>
            <a:endParaRPr lang="en-US" dirty="0"/>
          </a:p>
          <a:p>
            <a:r>
              <a:rPr lang="en-US" dirty="0"/>
              <a:t>All of these life improvements are thanks to standards.</a:t>
            </a:r>
          </a:p>
        </p:txBody>
      </p:sp>
      <p:sp>
        <p:nvSpPr>
          <p:cNvPr id="4" name="Slide Number Placeholder 3"/>
          <p:cNvSpPr>
            <a:spLocks noGrp="1"/>
          </p:cNvSpPr>
          <p:nvPr>
            <p:ph type="sldNum" sz="quarter" idx="10"/>
          </p:nvPr>
        </p:nvSpPr>
        <p:spPr/>
        <p:txBody>
          <a:bodyPr/>
          <a:lstStyle/>
          <a:p>
            <a:fld id="{77542409-6A04-4DC6-AC3A-D3758287A8F2}" type="slidenum">
              <a:rPr lang="en-US" smtClean="0"/>
              <a:t>4</a:t>
            </a:fld>
            <a:endParaRPr lang="en-US"/>
          </a:p>
        </p:txBody>
      </p:sp>
    </p:spTree>
    <p:extLst>
      <p:ext uri="{BB962C8B-B14F-4D97-AF65-F5344CB8AC3E}">
        <p14:creationId xmlns:p14="http://schemas.microsoft.com/office/powerpoint/2010/main" val="3364330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Extreme weather events &amp; spills do not operate on a M-F 9-5. Sensors help us know more about the environment! Which makes for better models</a:t>
            </a:r>
          </a:p>
        </p:txBody>
      </p:sp>
      <p:sp>
        <p:nvSpPr>
          <p:cNvPr id="4" name="Slide Number Placeholder 3"/>
          <p:cNvSpPr>
            <a:spLocks noGrp="1"/>
          </p:cNvSpPr>
          <p:nvPr>
            <p:ph type="sldNum" sz="quarter" idx="10"/>
          </p:nvPr>
        </p:nvSpPr>
        <p:spPr/>
        <p:txBody>
          <a:bodyPr/>
          <a:lstStyle/>
          <a:p>
            <a:fld id="{77542409-6A04-4DC6-AC3A-D3758287A8F2}" type="slidenum">
              <a:rPr lang="en-US" smtClean="0"/>
              <a:t>6</a:t>
            </a:fld>
            <a:endParaRPr lang="en-US"/>
          </a:p>
        </p:txBody>
      </p:sp>
    </p:spTree>
    <p:extLst>
      <p:ext uri="{BB962C8B-B14F-4D97-AF65-F5344CB8AC3E}">
        <p14:creationId xmlns:p14="http://schemas.microsoft.com/office/powerpoint/2010/main" val="1493589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would be equivalent</a:t>
            </a:r>
            <a:r>
              <a:rPr lang="en-US" baseline="0" dirty="0"/>
              <a:t> to the banking OFX standard in terms of what this accomplishes.  These are also, by the way, the same standards that were used in the National Flood Interoperability Experiment</a:t>
            </a:r>
            <a:endParaRPr lang="en-US" dirty="0"/>
          </a:p>
        </p:txBody>
      </p:sp>
      <p:sp>
        <p:nvSpPr>
          <p:cNvPr id="4" name="Slide Number Placeholder 3"/>
          <p:cNvSpPr>
            <a:spLocks noGrp="1"/>
          </p:cNvSpPr>
          <p:nvPr>
            <p:ph type="sldNum" sz="quarter" idx="10"/>
          </p:nvPr>
        </p:nvSpPr>
        <p:spPr/>
        <p:txBody>
          <a:bodyPr/>
          <a:lstStyle/>
          <a:p>
            <a:fld id="{77542409-6A04-4DC6-AC3A-D3758287A8F2}" type="slidenum">
              <a:rPr lang="en-US" smtClean="0"/>
              <a:t>10</a:t>
            </a:fld>
            <a:endParaRPr lang="en-US"/>
          </a:p>
        </p:txBody>
      </p:sp>
    </p:spTree>
    <p:extLst>
      <p:ext uri="{BB962C8B-B14F-4D97-AF65-F5344CB8AC3E}">
        <p14:creationId xmlns:p14="http://schemas.microsoft.com/office/powerpoint/2010/main" val="797179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7542409-6A04-4DC6-AC3A-D3758287A8F2}" type="slidenum">
              <a:rPr lang="en-US" smtClean="0"/>
              <a:t>13</a:t>
            </a:fld>
            <a:endParaRPr lang="en-US"/>
          </a:p>
        </p:txBody>
      </p:sp>
    </p:spTree>
    <p:extLst>
      <p:ext uri="{BB962C8B-B14F-4D97-AF65-F5344CB8AC3E}">
        <p14:creationId xmlns:p14="http://schemas.microsoft.com/office/powerpoint/2010/main" val="29699903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8" name="Picture 7" descr="Puffy white clouds in deep blue sky" title="Slide Design Picture"/>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0" y="2057400"/>
            <a:ext cx="1490472" cy="3886200"/>
          </a:xfrm>
          <a:prstGeom prst="rect">
            <a:avLst/>
          </a:prstGeom>
        </p:spPr>
      </p:pic>
      <p:sp>
        <p:nvSpPr>
          <p:cNvPr id="9" name="Rectangle 8"/>
          <p:cNvSpPr/>
          <p:nvPr/>
        </p:nvSpPr>
        <p:spPr>
          <a:xfrm>
            <a:off x="1600200" y="0"/>
            <a:ext cx="5029200" cy="5943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 name="Picture 9" descr="Closeup of plant shoot" title="Slide Design Picture"/>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739128" y="2057400"/>
            <a:ext cx="2060767" cy="3886200"/>
          </a:xfrm>
          <a:prstGeom prst="rect">
            <a:avLst/>
          </a:prstGeom>
        </p:spPr>
      </p:pic>
      <p:pic>
        <p:nvPicPr>
          <p:cNvPr id="11" name="Picture 10" descr="Waves" title="Slide Design Picture"/>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8909623" y="2057400"/>
            <a:ext cx="3282696" cy="3886200"/>
          </a:xfrm>
          <a:prstGeom prst="rect">
            <a:avLst/>
          </a:prstGeom>
        </p:spPr>
      </p:pic>
      <p:sp>
        <p:nvSpPr>
          <p:cNvPr id="2" name="Title 1"/>
          <p:cNvSpPr>
            <a:spLocks noGrp="1"/>
          </p:cNvSpPr>
          <p:nvPr>
            <p:ph type="ctrTitle"/>
          </p:nvPr>
        </p:nvSpPr>
        <p:spPr>
          <a:xfrm>
            <a:off x="1751777" y="3019706"/>
            <a:ext cx="4846320" cy="2387600"/>
          </a:xfrm>
        </p:spPr>
        <p:txBody>
          <a:bodyPr anchor="b">
            <a:normAutofit/>
          </a:bodyPr>
          <a:lstStyle>
            <a:lvl1pPr algn="l">
              <a:lnSpc>
                <a:spcPct val="90000"/>
              </a:lnSpc>
              <a:defRPr sz="4800">
                <a:solidFill>
                  <a:schemeClr val="bg1"/>
                </a:solidFill>
              </a:defRPr>
            </a:lvl1pPr>
          </a:lstStyle>
          <a:p>
            <a:r>
              <a:rPr lang="en-US"/>
              <a:t>Click to edit Master title style</a:t>
            </a:r>
            <a:endParaRPr/>
          </a:p>
        </p:txBody>
      </p:sp>
      <p:sp>
        <p:nvSpPr>
          <p:cNvPr id="3" name="Subtitle 2"/>
          <p:cNvSpPr>
            <a:spLocks noGrp="1"/>
          </p:cNvSpPr>
          <p:nvPr>
            <p:ph type="subTitle" idx="1"/>
          </p:nvPr>
        </p:nvSpPr>
        <p:spPr>
          <a:xfrm>
            <a:off x="1751777" y="5381894"/>
            <a:ext cx="4846320" cy="448056"/>
          </a:xfrm>
        </p:spPr>
        <p:txBody>
          <a:bodyPr>
            <a:normAutofit/>
          </a:bodyPr>
          <a:lstStyle>
            <a:lvl1pPr marL="0" indent="0" algn="l">
              <a:spcBef>
                <a:spcPts val="0"/>
              </a:spcBef>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Tree>
    <p:extLst>
      <p:ext uri="{BB962C8B-B14F-4D97-AF65-F5344CB8AC3E}">
        <p14:creationId xmlns:p14="http://schemas.microsoft.com/office/powerpoint/2010/main" val="698731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r>
              <a:t>July 22, 2012</a:t>
            </a:r>
          </a:p>
        </p:txBody>
      </p:sp>
      <p:sp>
        <p:nvSpPr>
          <p:cNvPr id="5" name="Footer Placeholder 4"/>
          <p:cNvSpPr>
            <a:spLocks noGrp="1"/>
          </p:cNvSpPr>
          <p:nvPr>
            <p:ph type="ftr" sz="quarter" idx="11"/>
          </p:nvPr>
        </p:nvSpPr>
        <p:spPr/>
        <p:txBody>
          <a:bodyPr/>
          <a:lstStyle/>
          <a:p>
            <a:r>
              <a:t>Footer text here</a:t>
            </a:r>
          </a:p>
        </p:txBody>
      </p:sp>
      <p:sp>
        <p:nvSpPr>
          <p:cNvPr id="6" name="Slide Number Placeholder 5"/>
          <p:cNvSpPr>
            <a:spLocks noGrp="1"/>
          </p:cNvSpPr>
          <p:nvPr>
            <p:ph type="sldNum" sz="quarter" idx="12"/>
          </p:nvPr>
        </p:nvSpPr>
        <p:spPr/>
        <p:txBody>
          <a:bodyPr/>
          <a:lstStyle/>
          <a:p>
            <a:fld id="{9CD8D479-8942-46E8-A226-A4E01F7A105C}" type="slidenum">
              <a:rPr/>
              <a:t>‹#›</a:t>
            </a:fld>
            <a:endParaRPr/>
          </a:p>
        </p:txBody>
      </p:sp>
    </p:spTree>
    <p:extLst>
      <p:ext uri="{BB962C8B-B14F-4D97-AF65-F5344CB8AC3E}">
        <p14:creationId xmlns:p14="http://schemas.microsoft.com/office/powerpoint/2010/main" val="3405116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p:cNvSpPr/>
          <p:nvPr/>
        </p:nvSpPr>
        <p:spPr>
          <a:xfrm>
            <a:off x="1600199" y="2059146"/>
            <a:ext cx="7199696" cy="3886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751777" y="2263913"/>
            <a:ext cx="6949440" cy="3143393"/>
          </a:xfrm>
        </p:spPr>
        <p:txBody>
          <a:bodyPr anchor="b"/>
          <a:lstStyle>
            <a:lvl1pPr>
              <a:defRPr sz="600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751777" y="5381893"/>
            <a:ext cx="6949440" cy="449523"/>
          </a:xfrm>
        </p:spPr>
        <p:txBody>
          <a:bodyPr/>
          <a:lstStyle>
            <a:lvl1pPr marL="0" indent="0">
              <a:spcBef>
                <a:spcPts val="0"/>
              </a:spcBef>
              <a:buNone/>
              <a:defRPr sz="240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pic>
        <p:nvPicPr>
          <p:cNvPr id="9" name="Picture 8" descr="Waves" title="Slide Design Picture"/>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8909623" y="2059146"/>
            <a:ext cx="3282696" cy="3886200"/>
          </a:xfrm>
          <a:prstGeom prst="rect">
            <a:avLst/>
          </a:prstGeom>
        </p:spPr>
      </p:pic>
      <p:pic>
        <p:nvPicPr>
          <p:cNvPr id="11" name="Picture 10" descr="Closeup of green plants" title="Slide Design Picture"/>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0" y="2059146"/>
            <a:ext cx="1490472" cy="3886200"/>
          </a:xfrm>
          <a:prstGeom prst="rect">
            <a:avLst/>
          </a:prstGeom>
        </p:spPr>
      </p:pic>
    </p:spTree>
    <p:extLst>
      <p:ext uri="{BB962C8B-B14F-4D97-AF65-F5344CB8AC3E}">
        <p14:creationId xmlns:p14="http://schemas.microsoft.com/office/powerpoint/2010/main" val="1289894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3768">
          <p15:clr>
            <a:srgbClr val="FDE53C"/>
          </p15:clr>
        </p15:guide>
        <p15:guide id="2" orient="horz" pos="1296">
          <p15:clr>
            <a:srgbClr val="FDE53C"/>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409700" y="1556281"/>
            <a:ext cx="4610099" cy="4620682"/>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556281"/>
            <a:ext cx="4609775" cy="4620682"/>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r>
              <a:t>July 22, 2012</a:t>
            </a:r>
          </a:p>
        </p:txBody>
      </p:sp>
      <p:sp>
        <p:nvSpPr>
          <p:cNvPr id="6" name="Footer Placeholder 5"/>
          <p:cNvSpPr>
            <a:spLocks noGrp="1"/>
          </p:cNvSpPr>
          <p:nvPr>
            <p:ph type="ftr" sz="quarter" idx="11"/>
          </p:nvPr>
        </p:nvSpPr>
        <p:spPr/>
        <p:txBody>
          <a:bodyPr/>
          <a:lstStyle/>
          <a:p>
            <a:r>
              <a:t>Footer text here</a:t>
            </a:r>
          </a:p>
        </p:txBody>
      </p:sp>
      <p:sp>
        <p:nvSpPr>
          <p:cNvPr id="7" name="Slide Number Placeholder 6"/>
          <p:cNvSpPr>
            <a:spLocks noGrp="1"/>
          </p:cNvSpPr>
          <p:nvPr>
            <p:ph type="sldNum" sz="quarter" idx="12"/>
          </p:nvPr>
        </p:nvSpPr>
        <p:spPr/>
        <p:txBody>
          <a:bodyPr/>
          <a:lstStyle/>
          <a:p>
            <a:fld id="{9CD8D479-8942-46E8-A226-A4E01F7A105C}" type="slidenum">
              <a:rPr/>
              <a:t>‹#›</a:t>
            </a:fld>
            <a:endParaRPr/>
          </a:p>
        </p:txBody>
      </p:sp>
    </p:spTree>
    <p:extLst>
      <p:ext uri="{BB962C8B-B14F-4D97-AF65-F5344CB8AC3E}">
        <p14:creationId xmlns:p14="http://schemas.microsoft.com/office/powerpoint/2010/main" val="2781687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409699" y="1554480"/>
            <a:ext cx="4608576" cy="823912"/>
          </a:xfrm>
        </p:spPr>
        <p:txBody>
          <a:bodyPr anchor="b">
            <a:normAutofit/>
          </a:bodyPr>
          <a:lstStyle>
            <a:lvl1pPr marL="0" indent="0">
              <a:spcBef>
                <a:spcPts val="0"/>
              </a:spcBef>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09699" y="2378392"/>
            <a:ext cx="4608576" cy="3811271"/>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72200" y="1554480"/>
            <a:ext cx="4610100" cy="823912"/>
          </a:xfrm>
        </p:spPr>
        <p:txBody>
          <a:bodyPr anchor="b">
            <a:normAutofit/>
          </a:bodyPr>
          <a:lstStyle>
            <a:lvl1pPr marL="0" indent="0">
              <a:spcBef>
                <a:spcPts val="0"/>
              </a:spcBef>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378392"/>
            <a:ext cx="4610100" cy="3811271"/>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r>
              <a:t>July 22, 2012</a:t>
            </a:r>
          </a:p>
        </p:txBody>
      </p:sp>
      <p:sp>
        <p:nvSpPr>
          <p:cNvPr id="8" name="Footer Placeholder 7"/>
          <p:cNvSpPr>
            <a:spLocks noGrp="1"/>
          </p:cNvSpPr>
          <p:nvPr>
            <p:ph type="ftr" sz="quarter" idx="11"/>
          </p:nvPr>
        </p:nvSpPr>
        <p:spPr/>
        <p:txBody>
          <a:bodyPr/>
          <a:lstStyle/>
          <a:p>
            <a:r>
              <a:t>Footer text here</a:t>
            </a:r>
          </a:p>
        </p:txBody>
      </p:sp>
      <p:sp>
        <p:nvSpPr>
          <p:cNvPr id="9" name="Slide Number Placeholder 8"/>
          <p:cNvSpPr>
            <a:spLocks noGrp="1"/>
          </p:cNvSpPr>
          <p:nvPr>
            <p:ph type="sldNum" sz="quarter" idx="12"/>
          </p:nvPr>
        </p:nvSpPr>
        <p:spPr/>
        <p:txBody>
          <a:bodyPr/>
          <a:lstStyle/>
          <a:p>
            <a:fld id="{9CD8D479-8942-46E8-A226-A4E01F7A105C}" type="slidenum">
              <a:rPr/>
              <a:t>‹#›</a:t>
            </a:fld>
            <a:endParaRPr/>
          </a:p>
        </p:txBody>
      </p:sp>
    </p:spTree>
    <p:extLst>
      <p:ext uri="{BB962C8B-B14F-4D97-AF65-F5344CB8AC3E}">
        <p14:creationId xmlns:p14="http://schemas.microsoft.com/office/powerpoint/2010/main" val="2827180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r>
              <a:t>July 22, 2012</a:t>
            </a:r>
          </a:p>
        </p:txBody>
      </p:sp>
      <p:sp>
        <p:nvSpPr>
          <p:cNvPr id="4" name="Footer Placeholder 3"/>
          <p:cNvSpPr>
            <a:spLocks noGrp="1"/>
          </p:cNvSpPr>
          <p:nvPr>
            <p:ph type="ftr" sz="quarter" idx="11"/>
          </p:nvPr>
        </p:nvSpPr>
        <p:spPr/>
        <p:txBody>
          <a:bodyPr/>
          <a:lstStyle/>
          <a:p>
            <a:r>
              <a:t>Footer text here</a:t>
            </a:r>
          </a:p>
        </p:txBody>
      </p:sp>
      <p:sp>
        <p:nvSpPr>
          <p:cNvPr id="5" name="Slide Number Placeholder 4"/>
          <p:cNvSpPr>
            <a:spLocks noGrp="1"/>
          </p:cNvSpPr>
          <p:nvPr>
            <p:ph type="sldNum" sz="quarter" idx="12"/>
          </p:nvPr>
        </p:nvSpPr>
        <p:spPr/>
        <p:txBody>
          <a:bodyPr/>
          <a:lstStyle/>
          <a:p>
            <a:fld id="{9CD8D479-8942-46E8-A226-A4E01F7A105C}" type="slidenum">
              <a:rPr/>
              <a:t>‹#›</a:t>
            </a:fld>
            <a:endParaRPr/>
          </a:p>
        </p:txBody>
      </p:sp>
    </p:spTree>
    <p:extLst>
      <p:ext uri="{BB962C8B-B14F-4D97-AF65-F5344CB8AC3E}">
        <p14:creationId xmlns:p14="http://schemas.microsoft.com/office/powerpoint/2010/main" val="2465877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t>July 22, 2012</a:t>
            </a:r>
          </a:p>
        </p:txBody>
      </p:sp>
      <p:sp>
        <p:nvSpPr>
          <p:cNvPr id="3" name="Footer Placeholder 2"/>
          <p:cNvSpPr>
            <a:spLocks noGrp="1"/>
          </p:cNvSpPr>
          <p:nvPr>
            <p:ph type="ftr" sz="quarter" idx="11"/>
          </p:nvPr>
        </p:nvSpPr>
        <p:spPr/>
        <p:txBody>
          <a:bodyPr/>
          <a:lstStyle/>
          <a:p>
            <a:r>
              <a:t>Footer text here</a:t>
            </a:r>
          </a:p>
        </p:txBody>
      </p:sp>
      <p:sp>
        <p:nvSpPr>
          <p:cNvPr id="4" name="Slide Number Placeholder 3"/>
          <p:cNvSpPr>
            <a:spLocks noGrp="1"/>
          </p:cNvSpPr>
          <p:nvPr>
            <p:ph type="sldNum" sz="quarter" idx="12"/>
          </p:nvPr>
        </p:nvSpPr>
        <p:spPr/>
        <p:txBody>
          <a:bodyPr/>
          <a:lstStyle/>
          <a:p>
            <a:fld id="{9CD8D479-8942-46E8-A226-A4E01F7A105C}" type="slidenum">
              <a:rPr/>
              <a:t>‹#›</a:t>
            </a:fld>
            <a:endParaRPr/>
          </a:p>
        </p:txBody>
      </p:sp>
    </p:spTree>
    <p:extLst>
      <p:ext uri="{BB962C8B-B14F-4D97-AF65-F5344CB8AC3E}">
        <p14:creationId xmlns:p14="http://schemas.microsoft.com/office/powerpoint/2010/main" val="1107393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26679" y="919616"/>
            <a:ext cx="4155622" cy="2532888"/>
          </a:xfrm>
        </p:spPr>
        <p:txBody>
          <a:bodyPr anchor="b"/>
          <a:lstStyle>
            <a:lvl1pPr>
              <a:defRPr sz="3200"/>
            </a:lvl1pPr>
          </a:lstStyle>
          <a:p>
            <a:r>
              <a:rPr lang="en-US"/>
              <a:t>Click to edit Master title style</a:t>
            </a:r>
            <a:endParaRPr/>
          </a:p>
        </p:txBody>
      </p:sp>
      <p:sp>
        <p:nvSpPr>
          <p:cNvPr id="3" name="Content Placeholder 2"/>
          <p:cNvSpPr>
            <a:spLocks noGrp="1"/>
          </p:cNvSpPr>
          <p:nvPr>
            <p:ph idx="1"/>
          </p:nvPr>
        </p:nvSpPr>
        <p:spPr>
          <a:xfrm>
            <a:off x="1409699" y="915923"/>
            <a:ext cx="5216979" cy="5065776"/>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626679" y="3446396"/>
            <a:ext cx="4155622" cy="2535303"/>
          </a:xfrm>
        </p:spPr>
        <p:txBody>
          <a:bodyPr>
            <a:normAutofit/>
          </a:bodyPr>
          <a:lstStyle>
            <a:lvl1pPr marL="0" indent="0">
              <a:spcBef>
                <a:spcPts val="9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t>July 22, 2012</a:t>
            </a:r>
          </a:p>
        </p:txBody>
      </p:sp>
      <p:sp>
        <p:nvSpPr>
          <p:cNvPr id="6" name="Footer Placeholder 5"/>
          <p:cNvSpPr>
            <a:spLocks noGrp="1"/>
          </p:cNvSpPr>
          <p:nvPr>
            <p:ph type="ftr" sz="quarter" idx="11"/>
          </p:nvPr>
        </p:nvSpPr>
        <p:spPr/>
        <p:txBody>
          <a:bodyPr/>
          <a:lstStyle/>
          <a:p>
            <a:r>
              <a:t>Footer text here</a:t>
            </a:r>
          </a:p>
        </p:txBody>
      </p:sp>
      <p:sp>
        <p:nvSpPr>
          <p:cNvPr id="7" name="Slide Number Placeholder 6"/>
          <p:cNvSpPr>
            <a:spLocks noGrp="1"/>
          </p:cNvSpPr>
          <p:nvPr>
            <p:ph type="sldNum" sz="quarter" idx="12"/>
          </p:nvPr>
        </p:nvSpPr>
        <p:spPr/>
        <p:txBody>
          <a:bodyPr/>
          <a:lstStyle/>
          <a:p>
            <a:fld id="{9CD8D479-8942-46E8-A226-A4E01F7A105C}" type="slidenum">
              <a:rPr/>
              <a:t>‹#›</a:t>
            </a:fld>
            <a:endParaRPr/>
          </a:p>
        </p:txBody>
      </p:sp>
    </p:spTree>
    <p:extLst>
      <p:ext uri="{BB962C8B-B14F-4D97-AF65-F5344CB8AC3E}">
        <p14:creationId xmlns:p14="http://schemas.microsoft.com/office/powerpoint/2010/main" val="3023549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26680" y="919616"/>
            <a:ext cx="4155622" cy="2532888"/>
          </a:xfrm>
        </p:spPr>
        <p:txBody>
          <a:bodyPr anchor="b"/>
          <a:lstStyle>
            <a:lvl1pPr>
              <a:defRPr sz="3200"/>
            </a:lvl1pPr>
          </a:lstStyle>
          <a:p>
            <a:r>
              <a:rPr lang="en-US"/>
              <a:t>Click to edit Master title style</a:t>
            </a:r>
            <a:endParaRPr/>
          </a:p>
        </p:txBody>
      </p:sp>
      <p:sp>
        <p:nvSpPr>
          <p:cNvPr id="3" name="Picture Placeholder 2"/>
          <p:cNvSpPr>
            <a:spLocks noGrp="1"/>
          </p:cNvSpPr>
          <p:nvPr>
            <p:ph type="pic" idx="1"/>
          </p:nvPr>
        </p:nvSpPr>
        <p:spPr>
          <a:xfrm>
            <a:off x="0" y="915923"/>
            <a:ext cx="6626677" cy="5065776"/>
          </a:xfrm>
        </p:spPr>
        <p:txBody>
          <a:bodyPr tIns="1371600">
            <a:normAutofit/>
          </a:bodyPr>
          <a:lstStyle>
            <a:lvl1pPr marL="0" indent="0" algn="ctr">
              <a:spcBef>
                <a:spcPts val="0"/>
              </a:spcBef>
              <a:buNone/>
              <a:defRPr sz="2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626680" y="3446397"/>
            <a:ext cx="4155622" cy="2535304"/>
          </a:xfrm>
        </p:spPr>
        <p:txBody>
          <a:bodyPr>
            <a:normAutofit/>
          </a:bodyPr>
          <a:lstStyle>
            <a:lvl1pPr marL="0" indent="0">
              <a:spcBef>
                <a:spcPts val="9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t>July 22, 2012</a:t>
            </a:r>
          </a:p>
        </p:txBody>
      </p:sp>
      <p:sp>
        <p:nvSpPr>
          <p:cNvPr id="6" name="Footer Placeholder 5"/>
          <p:cNvSpPr>
            <a:spLocks noGrp="1"/>
          </p:cNvSpPr>
          <p:nvPr>
            <p:ph type="ftr" sz="quarter" idx="11"/>
          </p:nvPr>
        </p:nvSpPr>
        <p:spPr/>
        <p:txBody>
          <a:bodyPr/>
          <a:lstStyle/>
          <a:p>
            <a:r>
              <a:t>Footer text here</a:t>
            </a:r>
          </a:p>
        </p:txBody>
      </p:sp>
      <p:sp>
        <p:nvSpPr>
          <p:cNvPr id="7" name="Slide Number Placeholder 6"/>
          <p:cNvSpPr>
            <a:spLocks noGrp="1"/>
          </p:cNvSpPr>
          <p:nvPr>
            <p:ph type="sldNum" sz="quarter" idx="12"/>
          </p:nvPr>
        </p:nvSpPr>
        <p:spPr/>
        <p:txBody>
          <a:bodyPr/>
          <a:lstStyle/>
          <a:p>
            <a:fld id="{9CD8D479-8942-46E8-A226-A4E01F7A105C}" type="slidenum">
              <a:rPr/>
              <a:t>‹#›</a:t>
            </a:fld>
            <a:endParaRPr/>
          </a:p>
        </p:txBody>
      </p:sp>
    </p:spTree>
    <p:extLst>
      <p:ext uri="{BB962C8B-B14F-4D97-AF65-F5344CB8AC3E}">
        <p14:creationId xmlns:p14="http://schemas.microsoft.com/office/powerpoint/2010/main" val="216422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r>
              <a:t>July 22, 2012</a:t>
            </a:r>
          </a:p>
        </p:txBody>
      </p:sp>
      <p:sp>
        <p:nvSpPr>
          <p:cNvPr id="5" name="Footer Placeholder 4"/>
          <p:cNvSpPr>
            <a:spLocks noGrp="1"/>
          </p:cNvSpPr>
          <p:nvPr>
            <p:ph type="ftr" sz="quarter" idx="11"/>
          </p:nvPr>
        </p:nvSpPr>
        <p:spPr/>
        <p:txBody>
          <a:bodyPr/>
          <a:lstStyle/>
          <a:p>
            <a:r>
              <a:t>Footer text here</a:t>
            </a:r>
          </a:p>
        </p:txBody>
      </p:sp>
      <p:sp>
        <p:nvSpPr>
          <p:cNvPr id="6" name="Slide Number Placeholder 5"/>
          <p:cNvSpPr>
            <a:spLocks noGrp="1"/>
          </p:cNvSpPr>
          <p:nvPr>
            <p:ph type="sldNum" sz="quarter" idx="12"/>
          </p:nvPr>
        </p:nvSpPr>
        <p:spPr/>
        <p:txBody>
          <a:bodyPr/>
          <a:lstStyle/>
          <a:p>
            <a:fld id="{9CD8D479-8942-46E8-A226-A4E01F7A105C}" type="slidenum">
              <a:rPr/>
              <a:t>‹#›</a:t>
            </a:fld>
            <a:endParaRPr/>
          </a:p>
        </p:txBody>
      </p:sp>
    </p:spTree>
    <p:extLst>
      <p:ext uri="{BB962C8B-B14F-4D97-AF65-F5344CB8AC3E}">
        <p14:creationId xmlns:p14="http://schemas.microsoft.com/office/powerpoint/2010/main" val="720709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190500"/>
            <a:ext cx="2057400" cy="5986463"/>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838200" y="190500"/>
            <a:ext cx="7734300" cy="598646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r>
              <a:t>July 22, 2012</a:t>
            </a:r>
          </a:p>
        </p:txBody>
      </p:sp>
      <p:sp>
        <p:nvSpPr>
          <p:cNvPr id="5" name="Footer Placeholder 4"/>
          <p:cNvSpPr>
            <a:spLocks noGrp="1"/>
          </p:cNvSpPr>
          <p:nvPr>
            <p:ph type="ftr" sz="quarter" idx="11"/>
          </p:nvPr>
        </p:nvSpPr>
        <p:spPr/>
        <p:txBody>
          <a:bodyPr/>
          <a:lstStyle/>
          <a:p>
            <a:r>
              <a:t>Footer text here</a:t>
            </a:r>
          </a:p>
        </p:txBody>
      </p:sp>
      <p:sp>
        <p:nvSpPr>
          <p:cNvPr id="6" name="Slide Number Placeholder 5"/>
          <p:cNvSpPr>
            <a:spLocks noGrp="1"/>
          </p:cNvSpPr>
          <p:nvPr>
            <p:ph type="sldNum" sz="quarter" idx="12"/>
          </p:nvPr>
        </p:nvSpPr>
        <p:spPr/>
        <p:txBody>
          <a:bodyPr/>
          <a:lstStyle/>
          <a:p>
            <a:fld id="{9CD8D479-8942-46E8-A226-A4E01F7A105C}" type="slidenum">
              <a:rPr/>
              <a:t>‹#›</a:t>
            </a:fld>
            <a:endParaRPr/>
          </a:p>
        </p:txBody>
      </p:sp>
    </p:spTree>
    <p:extLst>
      <p:ext uri="{BB962C8B-B14F-4D97-AF65-F5344CB8AC3E}">
        <p14:creationId xmlns:p14="http://schemas.microsoft.com/office/powerpoint/2010/main" val="1021014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6629400"/>
            <a:ext cx="1499616" cy="228600"/>
          </a:xfrm>
          <a:prstGeom prst="rect">
            <a:avLst/>
          </a:prstGeom>
          <a:gradFill>
            <a:gsLst>
              <a:gs pos="0">
                <a:schemeClr val="accent1">
                  <a:lumMod val="15000"/>
                  <a:lumOff val="85000"/>
                </a:schemeClr>
              </a:gs>
              <a:gs pos="100000">
                <a:schemeClr val="accent1">
                  <a:lumMod val="15000"/>
                  <a:lumOff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609344" y="6629400"/>
            <a:ext cx="10582656" cy="228600"/>
          </a:xfrm>
          <a:prstGeom prst="rect">
            <a:avLst/>
          </a:prstGeom>
          <a:gradFill>
            <a:gsLst>
              <a:gs pos="0">
                <a:schemeClr val="accent1">
                  <a:lumMod val="35000"/>
                  <a:lumOff val="65000"/>
                </a:schemeClr>
              </a:gs>
              <a:gs pos="100000">
                <a:schemeClr val="accent1">
                  <a:lumMod val="35000"/>
                  <a:lumOff val="6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schemeClr val="accent1">
                  <a:lumMod val="75000"/>
                </a:schemeClr>
              </a:solidFill>
            </a:endParaRPr>
          </a:p>
        </p:txBody>
      </p:sp>
      <p:sp>
        <p:nvSpPr>
          <p:cNvPr id="2" name="Title Placeholder 1"/>
          <p:cNvSpPr>
            <a:spLocks noGrp="1"/>
          </p:cNvSpPr>
          <p:nvPr>
            <p:ph type="title"/>
          </p:nvPr>
        </p:nvSpPr>
        <p:spPr>
          <a:xfrm>
            <a:off x="1410026" y="276087"/>
            <a:ext cx="9371949" cy="1183566"/>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410027" y="1566001"/>
            <a:ext cx="9371948" cy="462068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Slide Number Placeholder 5"/>
          <p:cNvSpPr>
            <a:spLocks noGrp="1"/>
          </p:cNvSpPr>
          <p:nvPr>
            <p:ph type="sldNum" sz="quarter" idx="4"/>
          </p:nvPr>
        </p:nvSpPr>
        <p:spPr>
          <a:xfrm>
            <a:off x="0" y="6629400"/>
            <a:ext cx="410402" cy="228600"/>
          </a:xfrm>
          <a:prstGeom prst="rect">
            <a:avLst/>
          </a:prstGeom>
        </p:spPr>
        <p:txBody>
          <a:bodyPr vert="horz" lIns="91440" tIns="45720" rIns="91440" bIns="45720" rtlCol="0" anchor="ctr"/>
          <a:lstStyle>
            <a:lvl1pPr algn="r">
              <a:defRPr sz="800">
                <a:solidFill>
                  <a:schemeClr val="accent1">
                    <a:lumMod val="75000"/>
                  </a:schemeClr>
                </a:solidFill>
              </a:defRPr>
            </a:lvl1pPr>
          </a:lstStyle>
          <a:p>
            <a:fld id="{9CD8D479-8942-46E8-A226-A4E01F7A105C}" type="slidenum">
              <a:rPr/>
              <a:pPr/>
              <a:t>‹#›</a:t>
            </a:fld>
            <a:endParaRPr/>
          </a:p>
        </p:txBody>
      </p:sp>
      <p:sp>
        <p:nvSpPr>
          <p:cNvPr id="4" name="Date Placeholder 3"/>
          <p:cNvSpPr>
            <a:spLocks noGrp="1"/>
          </p:cNvSpPr>
          <p:nvPr>
            <p:ph type="dt" sz="half" idx="2"/>
          </p:nvPr>
        </p:nvSpPr>
        <p:spPr>
          <a:xfrm>
            <a:off x="431101" y="6629400"/>
            <a:ext cx="1000662" cy="228600"/>
          </a:xfrm>
          <a:prstGeom prst="rect">
            <a:avLst/>
          </a:prstGeom>
        </p:spPr>
        <p:txBody>
          <a:bodyPr vert="horz" lIns="91440" tIns="45720" rIns="91440" bIns="45720" rtlCol="0" anchor="ctr"/>
          <a:lstStyle>
            <a:lvl1pPr algn="r">
              <a:defRPr sz="800">
                <a:solidFill>
                  <a:schemeClr val="accent1">
                    <a:lumMod val="75000"/>
                  </a:schemeClr>
                </a:solidFill>
              </a:defRPr>
            </a:lvl1pPr>
          </a:lstStyle>
          <a:p>
            <a:r>
              <a:t>July 22, 2012</a:t>
            </a:r>
          </a:p>
        </p:txBody>
      </p:sp>
      <p:sp>
        <p:nvSpPr>
          <p:cNvPr id="5" name="Footer Placeholder 4"/>
          <p:cNvSpPr>
            <a:spLocks noGrp="1"/>
          </p:cNvSpPr>
          <p:nvPr>
            <p:ph type="ftr" sz="quarter" idx="3"/>
          </p:nvPr>
        </p:nvSpPr>
        <p:spPr>
          <a:xfrm>
            <a:off x="1637716" y="6629400"/>
            <a:ext cx="9144259" cy="228600"/>
          </a:xfrm>
          <a:prstGeom prst="rect">
            <a:avLst/>
          </a:prstGeom>
        </p:spPr>
        <p:txBody>
          <a:bodyPr vert="horz" lIns="91440" tIns="45720" rIns="91440" bIns="45720" rtlCol="0" anchor="ctr"/>
          <a:lstStyle>
            <a:lvl1pPr algn="l">
              <a:defRPr sz="800">
                <a:solidFill>
                  <a:schemeClr val="accent1">
                    <a:lumMod val="75000"/>
                  </a:schemeClr>
                </a:solidFill>
              </a:defRPr>
            </a:lvl1pPr>
          </a:lstStyle>
          <a:p>
            <a:r>
              <a:t>Footer text here</a:t>
            </a:r>
          </a:p>
        </p:txBody>
      </p:sp>
    </p:spTree>
    <p:extLst>
      <p:ext uri="{BB962C8B-B14F-4D97-AF65-F5344CB8AC3E}">
        <p14:creationId xmlns:p14="http://schemas.microsoft.com/office/powerpoint/2010/main" val="2866046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spcBef>
          <a:spcPct val="0"/>
        </a:spcBef>
        <a:buNone/>
        <a:defRPr sz="3400" kern="1200">
          <a:solidFill>
            <a:schemeClr val="accent1"/>
          </a:solidFill>
          <a:latin typeface="+mj-lt"/>
          <a:ea typeface="+mj-ea"/>
          <a:cs typeface="+mj-cs"/>
        </a:defRPr>
      </a:lvl1pPr>
    </p:titleStyle>
    <p:bodyStyle>
      <a:lvl1pPr marL="210312" indent="-210312" algn="l" defTabSz="914400" rtl="0" eaLnBrk="1" latinLnBrk="0" hangingPunct="1">
        <a:lnSpc>
          <a:spcPct val="90000"/>
        </a:lnSpc>
        <a:spcBef>
          <a:spcPts val="1100"/>
        </a:spcBef>
        <a:buFont typeface="Arial" panose="020B0604020202020204" pitchFamily="34" charset="0"/>
        <a:buChar char="•"/>
        <a:defRPr sz="2200" kern="1200">
          <a:solidFill>
            <a:schemeClr val="tx1"/>
          </a:solidFill>
          <a:latin typeface="+mn-lt"/>
          <a:ea typeface="+mn-ea"/>
          <a:cs typeface="+mn-cs"/>
        </a:defRPr>
      </a:lvl1pPr>
      <a:lvl2pPr marL="438912" indent="-155448" algn="l" defTabSz="914400" rtl="0" eaLnBrk="1" latinLnBrk="0" hangingPunct="1">
        <a:lnSpc>
          <a:spcPct val="90000"/>
        </a:lnSpc>
        <a:spcBef>
          <a:spcPts val="400"/>
        </a:spcBef>
        <a:buFont typeface="Arial" panose="020B0604020202020204" pitchFamily="34" charset="0"/>
        <a:buChar char="•"/>
        <a:defRPr sz="1800" kern="1200">
          <a:solidFill>
            <a:schemeClr val="tx1"/>
          </a:solidFill>
          <a:latin typeface="+mn-lt"/>
          <a:ea typeface="+mn-ea"/>
          <a:cs typeface="+mn-cs"/>
        </a:defRPr>
      </a:lvl2pPr>
      <a:lvl3pPr marL="6766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3pPr>
      <a:lvl4pPr marL="9052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4pPr>
      <a:lvl5pPr marL="11338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5pPr>
      <a:lvl6pPr marL="13624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6pPr>
      <a:lvl7pPr marL="15910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7pPr>
      <a:lvl8pPr marL="18196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8pPr>
      <a:lvl9pPr marL="20482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gif"/><Relationship Id="rId7" Type="http://schemas.openxmlformats.org/officeDocument/2006/relationships/image" Target="../media/image25.jpe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jpeg"/><Relationship Id="rId4" Type="http://schemas.openxmlformats.org/officeDocument/2006/relationships/image" Target="../media/image22.png"/><Relationship Id="rId9" Type="http://schemas.openxmlformats.org/officeDocument/2006/relationships/image" Target="../media/image2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mailto:Dean.britt@epa.gov" TargetMode="External"/><Relationship Id="rId2" Type="http://schemas.openxmlformats.org/officeDocument/2006/relationships/hyperlink" Target="mailto:Young.dwane@epa.gov"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62877" y="1584606"/>
            <a:ext cx="4846320" cy="2387600"/>
          </a:xfrm>
        </p:spPr>
        <p:txBody>
          <a:bodyPr/>
          <a:lstStyle/>
          <a:p>
            <a:r>
              <a:rPr lang="en-US" dirty="0"/>
              <a:t>The Interoperable Watersheds Network</a:t>
            </a:r>
          </a:p>
        </p:txBody>
      </p:sp>
      <p:sp>
        <p:nvSpPr>
          <p:cNvPr id="3" name="Subtitle 2"/>
          <p:cNvSpPr>
            <a:spLocks noGrp="1"/>
          </p:cNvSpPr>
          <p:nvPr>
            <p:ph type="subTitle" idx="1"/>
          </p:nvPr>
        </p:nvSpPr>
        <p:spPr>
          <a:xfrm>
            <a:off x="1662877" y="4340493"/>
            <a:ext cx="4846320" cy="972911"/>
          </a:xfrm>
        </p:spPr>
        <p:txBody>
          <a:bodyPr>
            <a:noAutofit/>
          </a:bodyPr>
          <a:lstStyle/>
          <a:p>
            <a:r>
              <a:rPr lang="en-US" sz="2800" dirty="0"/>
              <a:t>Data Standards in Action</a:t>
            </a:r>
          </a:p>
        </p:txBody>
      </p:sp>
    </p:spTree>
    <p:extLst>
      <p:ext uri="{BB962C8B-B14F-4D97-AF65-F5344CB8AC3E}">
        <p14:creationId xmlns:p14="http://schemas.microsoft.com/office/powerpoint/2010/main" val="4261546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err="1"/>
              <a:t>Outline</a:t>
            </a:r>
            <a:endParaRPr lang="en-US" dirty="0"/>
          </a:p>
        </p:txBody>
      </p:sp>
      <p:sp>
        <p:nvSpPr>
          <p:cNvPr id="3" name="Content Placeholder 2"/>
          <p:cNvSpPr>
            <a:spLocks noGrp="1"/>
          </p:cNvSpPr>
          <p:nvPr>
            <p:ph idx="1"/>
          </p:nvPr>
        </p:nvSpPr>
        <p:spPr/>
        <p:txBody>
          <a:bodyPr/>
          <a:lstStyle/>
          <a:p>
            <a:r>
              <a:rPr lang="en-US" dirty="0"/>
              <a:t>An Introduction to ‘Standards’:  The World is Built on Standards!</a:t>
            </a:r>
          </a:p>
          <a:p>
            <a:r>
              <a:rPr lang="en-US" dirty="0"/>
              <a:t>What’s the problem we’re trying to solve?</a:t>
            </a:r>
          </a:p>
          <a:p>
            <a:r>
              <a:rPr lang="en-US"/>
              <a:t>How </a:t>
            </a:r>
            <a:r>
              <a:rPr lang="en-US" dirty="0"/>
              <a:t>IWN is a step towards solving these problems</a:t>
            </a:r>
          </a:p>
          <a:p>
            <a:pPr lvl="1"/>
            <a:r>
              <a:rPr lang="en-US" dirty="0"/>
              <a:t>The Data Standards Problem</a:t>
            </a:r>
          </a:p>
          <a:p>
            <a:pPr lvl="1"/>
            <a:r>
              <a:rPr lang="en-US" dirty="0"/>
              <a:t>The Metadata Problem</a:t>
            </a:r>
          </a:p>
          <a:p>
            <a:pPr lvl="1"/>
            <a:r>
              <a:rPr lang="en-US" dirty="0"/>
              <a:t>The Architecture Problem</a:t>
            </a:r>
          </a:p>
          <a:p>
            <a:r>
              <a:rPr lang="en-US" dirty="0"/>
              <a:t>Demonstration</a:t>
            </a:r>
          </a:p>
          <a:p>
            <a:r>
              <a:rPr lang="en-US" dirty="0"/>
              <a:t>Next Steps</a:t>
            </a:r>
          </a:p>
          <a:p>
            <a:endParaRPr lang="en-US" dirty="0"/>
          </a:p>
        </p:txBody>
      </p:sp>
      <p:sp>
        <p:nvSpPr>
          <p:cNvPr id="9" name="Slide Number Placeholder 8"/>
          <p:cNvSpPr>
            <a:spLocks noGrp="1"/>
          </p:cNvSpPr>
          <p:nvPr>
            <p:ph type="sldNum" sz="quarter" idx="12"/>
          </p:nvPr>
        </p:nvSpPr>
        <p:spPr/>
        <p:txBody>
          <a:bodyPr/>
          <a:lstStyle/>
          <a:p>
            <a:fld id="{9CD8D479-8942-46E8-A226-A4E01F7A105C}" type="slidenum">
              <a:rPr lang="en-US" smtClean="0"/>
              <a:pPr/>
              <a:t>2</a:t>
            </a:fld>
            <a:endParaRPr lang="en-US"/>
          </a:p>
        </p:txBody>
      </p:sp>
    </p:spTree>
    <p:extLst>
      <p:ext uri="{BB962C8B-B14F-4D97-AF65-F5344CB8AC3E}">
        <p14:creationId xmlns:p14="http://schemas.microsoft.com/office/powerpoint/2010/main" val="1628715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3" y="321176"/>
            <a:ext cx="5759117"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he &lt;strong&gt;Exchange Network&lt;/strong&gt; - Sharing information for a cleaner environment."/>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17280" y="3319156"/>
            <a:ext cx="2434639" cy="2434639"/>
          </a:xfrm>
          <a:prstGeom prst="rect">
            <a:avLst/>
          </a:prstGeom>
        </p:spPr>
      </p:pic>
      <p:pic>
        <p:nvPicPr>
          <p:cNvPr id="11" name="Content Placeholder 6" descr="simbolo &lt;strong&gt;bluetooth&lt;/strong&g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1674" y="3319156"/>
            <a:ext cx="2404738" cy="2404738"/>
          </a:xfrm>
          <a:prstGeom prst="rect">
            <a:avLst/>
          </a:prstGeom>
        </p:spPr>
      </p:pic>
      <p:pic>
        <p:nvPicPr>
          <p:cNvPr id="9" name="Picture 8" descr="Currency &lt;strong&gt;Exchange&lt;/strong&gt; Quotes on the Foreign &lt;strong&gt;Exchange&lt;/strong&gt; Market"/>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17281" y="1554248"/>
            <a:ext cx="2434638" cy="1625120"/>
          </a:xfrm>
          <a:prstGeom prst="rect">
            <a:avLst/>
          </a:prstGeom>
        </p:spPr>
      </p:pic>
      <p:pic>
        <p:nvPicPr>
          <p:cNvPr id="8" name="Picture 7" descr="هذه البدلة ستقوم بتحويلك إلى موزع ..."/>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55442" y="1066516"/>
            <a:ext cx="2400970" cy="2112852"/>
          </a:xfrm>
          <a:prstGeom prst="rect">
            <a:avLst/>
          </a:prstGeom>
        </p:spPr>
      </p:pic>
      <p:sp>
        <p:nvSpPr>
          <p:cNvPr id="2" name="Title 1"/>
          <p:cNvSpPr>
            <a:spLocks noGrp="1"/>
          </p:cNvSpPr>
          <p:nvPr>
            <p:ph type="title"/>
          </p:nvPr>
        </p:nvSpPr>
        <p:spPr>
          <a:xfrm>
            <a:off x="821516" y="640263"/>
            <a:ext cx="4911826" cy="1344975"/>
          </a:xfrm>
        </p:spPr>
        <p:txBody>
          <a:bodyPr>
            <a:normAutofit/>
          </a:bodyPr>
          <a:lstStyle/>
          <a:p>
            <a:r>
              <a:rPr lang="en-US" sz="4000"/>
              <a:t>The World is Built on Standards!</a:t>
            </a:r>
          </a:p>
        </p:txBody>
      </p:sp>
      <p:sp>
        <p:nvSpPr>
          <p:cNvPr id="6" name="Slide Number Placeholder 5"/>
          <p:cNvSpPr>
            <a:spLocks noGrp="1"/>
          </p:cNvSpPr>
          <p:nvPr>
            <p:ph type="sldNum" sz="quarter" idx="12"/>
          </p:nvPr>
        </p:nvSpPr>
        <p:spPr>
          <a:xfrm>
            <a:off x="8610600" y="6356350"/>
            <a:ext cx="2743200" cy="365125"/>
          </a:xfrm>
        </p:spPr>
        <p:txBody>
          <a:bodyPr>
            <a:normAutofit/>
          </a:bodyPr>
          <a:lstStyle/>
          <a:p>
            <a:fld id="{9CD8D479-8942-46E8-A226-A4E01F7A105C}" type="slidenum">
              <a:rPr lang="en-US" smtClean="0"/>
              <a:t>3</a:t>
            </a:fld>
            <a:endParaRPr lang="en-US"/>
          </a:p>
        </p:txBody>
      </p:sp>
      <p:sp>
        <p:nvSpPr>
          <p:cNvPr id="13" name="Content Placeholder 12"/>
          <p:cNvSpPr>
            <a:spLocks noGrp="1"/>
          </p:cNvSpPr>
          <p:nvPr>
            <p:ph idx="1"/>
          </p:nvPr>
        </p:nvSpPr>
        <p:spPr>
          <a:xfrm>
            <a:off x="821515" y="2121762"/>
            <a:ext cx="4911827" cy="3626917"/>
          </a:xfrm>
        </p:spPr>
        <p:txBody>
          <a:bodyPr>
            <a:normAutofit/>
          </a:bodyPr>
          <a:lstStyle/>
          <a:p>
            <a:r>
              <a:rPr lang="en-US" sz="2400" dirty="0"/>
              <a:t>When people agree to do things in a common way it opens up many opportunities for everybody to do things better.</a:t>
            </a:r>
          </a:p>
          <a:p>
            <a:pPr lvl="1"/>
            <a:r>
              <a:rPr lang="en-US" sz="2400" dirty="0"/>
              <a:t>Technology standards: like Bluetooth and </a:t>
            </a:r>
            <a:r>
              <a:rPr lang="en-US" sz="2400" dirty="0" err="1"/>
              <a:t>Wifi</a:t>
            </a:r>
            <a:endParaRPr lang="en-US" sz="2400" dirty="0"/>
          </a:p>
          <a:p>
            <a:pPr lvl="1"/>
            <a:r>
              <a:rPr lang="en-US" sz="2400" dirty="0"/>
              <a:t>Data Standards: like financial exchanges</a:t>
            </a:r>
          </a:p>
          <a:p>
            <a:pPr lvl="1"/>
            <a:r>
              <a:rPr lang="en-US" sz="2400" dirty="0"/>
              <a:t>Government Standards: like the Exchange Network</a:t>
            </a:r>
          </a:p>
          <a:p>
            <a:pPr lvl="1"/>
            <a:endParaRPr lang="en-US" sz="2400" dirty="0"/>
          </a:p>
        </p:txBody>
      </p:sp>
    </p:spTree>
    <p:extLst>
      <p:ext uri="{BB962C8B-B14F-4D97-AF65-F5344CB8AC3E}">
        <p14:creationId xmlns:p14="http://schemas.microsoft.com/office/powerpoint/2010/main" val="1282816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solidFill>
            <a:schemeClr val="bg1"/>
          </a:solidFill>
          <a:ln>
            <a:noFill/>
          </a:ln>
          <a:effectLst/>
        </p:spPr>
      </p:sp>
      <p:sp>
        <p:nvSpPr>
          <p:cNvPr id="13" name="Rectangle 12"/>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47911" y="481264"/>
            <a:ext cx="2212848" cy="1857871"/>
          </a:xfrm>
          <a:prstGeom prst="rect">
            <a:avLst/>
          </a:prstGeom>
          <a:solidFill>
            <a:srgbClr val="FF4E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99147" y="4459986"/>
            <a:ext cx="3931920" cy="0"/>
          </a:xfrm>
          <a:prstGeom prst="line">
            <a:avLst/>
          </a:prstGeom>
          <a:ln>
            <a:solidFill>
              <a:srgbClr val="835F5A"/>
            </a:solidFill>
          </a:ln>
        </p:spPr>
        <p:style>
          <a:lnRef idx="1">
            <a:schemeClr val="accent1"/>
          </a:lnRef>
          <a:fillRef idx="0">
            <a:schemeClr val="accent1"/>
          </a:fillRef>
          <a:effectRef idx="0">
            <a:schemeClr val="accent1"/>
          </a:effectRef>
          <a:fontRef idx="minor">
            <a:schemeClr val="tx1"/>
          </a:fontRef>
        </p:style>
      </p:cxnSp>
      <p:sp>
        <p:nvSpPr>
          <p:cNvPr id="17" name="Rectangle 16"/>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5351" y="3529187"/>
            <a:ext cx="2212848" cy="2857897"/>
          </a:xfrm>
          <a:prstGeom prst="rect">
            <a:avLst/>
          </a:prstGeom>
          <a:solidFill>
            <a:srgbClr val="835F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French District Florida | French accountants, lawyers, professionals ..."/>
          <p:cNvPicPr>
            <a:picLocks noChangeAspect="1"/>
          </p:cNvPicPr>
          <p:nvPr/>
        </p:nvPicPr>
        <p:blipFill rotWithShape="1">
          <a:blip r:embed="rId3">
            <a:extLst>
              <a:ext uri="{28A0092B-C50C-407E-A947-70E740481C1C}">
                <a14:useLocalDpi xmlns:a14="http://schemas.microsoft.com/office/drawing/2010/main" val="0"/>
              </a:ext>
            </a:extLst>
          </a:blip>
          <a:srcRect l="4021"/>
          <a:stretch/>
        </p:blipFill>
        <p:spPr>
          <a:xfrm>
            <a:off x="394638" y="2503727"/>
            <a:ext cx="4466122" cy="3897073"/>
          </a:xfrm>
          <a:prstGeom prst="rect">
            <a:avLst/>
          </a:prstGeom>
        </p:spPr>
      </p:pic>
      <p:pic>
        <p:nvPicPr>
          <p:cNvPr id="8" name="Picture 7" descr="Recent Photos The Commons 20under20 Galleries World Map App Garden ..."/>
          <p:cNvPicPr>
            <a:picLocks noChangeAspect="1"/>
          </p:cNvPicPr>
          <p:nvPr/>
        </p:nvPicPr>
        <p:blipFill rotWithShape="1">
          <a:blip r:embed="rId4">
            <a:extLst>
              <a:ext uri="{28A0092B-C50C-407E-A947-70E740481C1C}">
                <a14:useLocalDpi xmlns:a14="http://schemas.microsoft.com/office/drawing/2010/main" val="0"/>
              </a:ext>
            </a:extLst>
          </a:blip>
          <a:srcRect l="6709" r="16614" b="5"/>
          <a:stretch/>
        </p:blipFill>
        <p:spPr>
          <a:xfrm>
            <a:off x="5014762" y="481264"/>
            <a:ext cx="2213811" cy="2887056"/>
          </a:xfrm>
          <a:prstGeom prst="rect">
            <a:avLst/>
          </a:prstGeom>
        </p:spPr>
      </p:pic>
      <p:sp>
        <p:nvSpPr>
          <p:cNvPr id="2" name="Title 1"/>
          <p:cNvSpPr>
            <a:spLocks noGrp="1"/>
          </p:cNvSpPr>
          <p:nvPr>
            <p:ph type="title"/>
          </p:nvPr>
        </p:nvSpPr>
        <p:spPr>
          <a:xfrm>
            <a:off x="7517331" y="481264"/>
            <a:ext cx="4204207" cy="3907856"/>
          </a:xfrm>
        </p:spPr>
        <p:txBody>
          <a:bodyPr vert="horz" lIns="91440" tIns="45720" rIns="91440" bIns="45720" rtlCol="0" anchor="b">
            <a:normAutofit/>
          </a:bodyPr>
          <a:lstStyle/>
          <a:p>
            <a:pPr>
              <a:lnSpc>
                <a:spcPct val="90000"/>
              </a:lnSpc>
            </a:pPr>
            <a:r>
              <a:rPr lang="en-US" sz="6000" dirty="0">
                <a:solidFill>
                  <a:schemeClr val="tx1"/>
                </a:solidFill>
              </a:rPr>
              <a:t>Other Examples of Standards</a:t>
            </a:r>
          </a:p>
        </p:txBody>
      </p:sp>
      <p:sp>
        <p:nvSpPr>
          <p:cNvPr id="6" name="Slide Number Placeholder 5"/>
          <p:cNvSpPr>
            <a:spLocks noGrp="1"/>
          </p:cNvSpPr>
          <p:nvPr>
            <p:ph type="sldNum" sz="quarter" idx="12"/>
          </p:nvPr>
        </p:nvSpPr>
        <p:spPr>
          <a:xfrm>
            <a:off x="8610600" y="6356350"/>
            <a:ext cx="2743200" cy="365125"/>
          </a:xfrm>
        </p:spPr>
        <p:txBody>
          <a:bodyPr vert="horz" lIns="91440" tIns="45720" rIns="91440" bIns="45720" rtlCol="0" anchor="ctr">
            <a:normAutofit/>
          </a:bodyPr>
          <a:lstStyle/>
          <a:p>
            <a:fld id="{9CD8D479-8942-46E8-A226-A4E01F7A105C}" type="slidenum">
              <a:rPr lang="en-US" sz="1200" smtClean="0">
                <a:solidFill>
                  <a:schemeClr val="tx1">
                    <a:tint val="75000"/>
                  </a:schemeClr>
                </a:solidFill>
              </a:rPr>
              <a:pPr/>
              <a:t>4</a:t>
            </a:fld>
            <a:endParaRPr lang="en-US" sz="1200">
              <a:solidFill>
                <a:schemeClr val="tx1">
                  <a:tint val="75000"/>
                </a:schemeClr>
              </a:solidFill>
            </a:endParaRPr>
          </a:p>
        </p:txBody>
      </p:sp>
      <p:sp>
        <p:nvSpPr>
          <p:cNvPr id="9" name="TextBox 8"/>
          <p:cNvSpPr txBox="1"/>
          <p:nvPr/>
        </p:nvSpPr>
        <p:spPr>
          <a:xfrm>
            <a:off x="5181600" y="3771900"/>
            <a:ext cx="1905000" cy="2031325"/>
          </a:xfrm>
          <a:prstGeom prst="rect">
            <a:avLst/>
          </a:prstGeom>
          <a:noFill/>
        </p:spPr>
        <p:txBody>
          <a:bodyPr wrap="square" rtlCol="0">
            <a:spAutoFit/>
          </a:bodyPr>
          <a:lstStyle/>
          <a:p>
            <a:r>
              <a:rPr lang="en-US" dirty="0">
                <a:solidFill>
                  <a:schemeClr val="bg1">
                    <a:lumMod val="95000"/>
                  </a:schemeClr>
                </a:solidFill>
              </a:rPr>
              <a:t>Banking:  OFX Standards enable you to access your banking information from many 3</a:t>
            </a:r>
            <a:r>
              <a:rPr lang="en-US" baseline="30000" dirty="0">
                <a:solidFill>
                  <a:schemeClr val="bg1">
                    <a:lumMod val="95000"/>
                  </a:schemeClr>
                </a:solidFill>
              </a:rPr>
              <a:t>rd</a:t>
            </a:r>
            <a:r>
              <a:rPr lang="en-US" dirty="0">
                <a:solidFill>
                  <a:schemeClr val="bg1">
                    <a:lumMod val="95000"/>
                  </a:schemeClr>
                </a:solidFill>
              </a:rPr>
              <a:t>-party applications</a:t>
            </a:r>
          </a:p>
        </p:txBody>
      </p:sp>
      <p:sp>
        <p:nvSpPr>
          <p:cNvPr id="14" name="TextBox 13"/>
          <p:cNvSpPr txBox="1"/>
          <p:nvPr/>
        </p:nvSpPr>
        <p:spPr>
          <a:xfrm>
            <a:off x="2801835" y="533036"/>
            <a:ext cx="1905000" cy="1754326"/>
          </a:xfrm>
          <a:prstGeom prst="rect">
            <a:avLst/>
          </a:prstGeom>
          <a:noFill/>
        </p:spPr>
        <p:txBody>
          <a:bodyPr wrap="square" rtlCol="0">
            <a:spAutoFit/>
          </a:bodyPr>
          <a:lstStyle/>
          <a:p>
            <a:r>
              <a:rPr lang="en-US" dirty="0">
                <a:solidFill>
                  <a:schemeClr val="bg1">
                    <a:lumMod val="95000"/>
                  </a:schemeClr>
                </a:solidFill>
              </a:rPr>
              <a:t>The IRS has open standards for electronically filing your taxes, enabling a better user experience</a:t>
            </a:r>
          </a:p>
        </p:txBody>
      </p:sp>
    </p:spTree>
    <p:extLst>
      <p:ext uri="{BB962C8B-B14F-4D97-AF65-F5344CB8AC3E}">
        <p14:creationId xmlns:p14="http://schemas.microsoft.com/office/powerpoint/2010/main" val="2844425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 a Small Problem</a:t>
            </a:r>
          </a:p>
        </p:txBody>
      </p:sp>
      <p:sp>
        <p:nvSpPr>
          <p:cNvPr id="6" name="Slide Number Placeholder 5"/>
          <p:cNvSpPr>
            <a:spLocks noGrp="1"/>
          </p:cNvSpPr>
          <p:nvPr>
            <p:ph type="sldNum" sz="quarter" idx="12"/>
          </p:nvPr>
        </p:nvSpPr>
        <p:spPr/>
        <p:txBody>
          <a:bodyPr/>
          <a:lstStyle/>
          <a:p>
            <a:fld id="{9CD8D479-8942-46E8-A226-A4E01F7A105C}" type="slidenum">
              <a:rPr lang="en-US" smtClean="0"/>
              <a:t>5</a:t>
            </a:fld>
            <a:endParaRPr lang="en-US"/>
          </a:p>
        </p:txBody>
      </p:sp>
      <p:sp>
        <p:nvSpPr>
          <p:cNvPr id="8" name="Rounded Rectangle 7"/>
          <p:cNvSpPr/>
          <p:nvPr/>
        </p:nvSpPr>
        <p:spPr>
          <a:xfrm>
            <a:off x="1512226" y="2017905"/>
            <a:ext cx="7189939" cy="1578279"/>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4"/>
          <p:cNvSpPr txBox="1">
            <a:spLocks/>
          </p:cNvSpPr>
          <p:nvPr/>
        </p:nvSpPr>
        <p:spPr>
          <a:xfrm>
            <a:off x="1512226" y="2080934"/>
            <a:ext cx="7055380" cy="1200329"/>
          </a:xfrm>
          <a:prstGeom prst="rect">
            <a:avLst/>
          </a:prstGeom>
          <a:noFill/>
          <a:ln w="12700" cap="flat" cmpd="sng" algn="ctr">
            <a:noFill/>
            <a:prstDash val="solid"/>
            <a:miter lim="800000"/>
          </a:ln>
        </p:spPr>
        <p:style>
          <a:lnRef idx="2">
            <a:schemeClr val="accent6"/>
          </a:lnRef>
          <a:fillRef idx="1">
            <a:schemeClr val="lt1"/>
          </a:fillRef>
          <a:effectRef idx="0">
            <a:schemeClr val="accent6"/>
          </a:effectRef>
          <a:fontRef idx="minor">
            <a:schemeClr val="dk1"/>
          </a:fontRef>
        </p:style>
        <p:txBody>
          <a:bodyPr vert="horz" wrap="square" lIns="91440" tIns="45720" rIns="91440" bIns="45720" rtlCol="0" anchor="b">
            <a:spAutoFit/>
          </a:bodyPr>
          <a:lstStyle>
            <a:lvl1pPr algn="l" defTabSz="914400" rtl="0" eaLnBrk="1" latinLnBrk="0" hangingPunct="1">
              <a:spcBef>
                <a:spcPct val="0"/>
              </a:spcBef>
              <a:buNone/>
              <a:defRPr sz="3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3600" b="1" dirty="0">
                <a:solidFill>
                  <a:schemeClr val="bg1"/>
                </a:solidFill>
                <a:effectLst>
                  <a:outerShdw blurRad="38100" dist="38100" dir="2700000" algn="tl">
                    <a:srgbClr val="000000">
                      <a:alpha val="43137"/>
                    </a:srgbClr>
                  </a:outerShdw>
                </a:effectLst>
                <a:latin typeface="+mj-lt"/>
                <a:cs typeface="Times New Roman" panose="02020603050405020304" pitchFamily="18" charset="0"/>
              </a:rPr>
              <a:t>Data that people need is hard to get and hard to use!</a:t>
            </a:r>
          </a:p>
        </p:txBody>
      </p:sp>
      <p:sp>
        <p:nvSpPr>
          <p:cNvPr id="10" name="TextBox 9"/>
          <p:cNvSpPr txBox="1"/>
          <p:nvPr/>
        </p:nvSpPr>
        <p:spPr>
          <a:xfrm>
            <a:off x="1410026" y="3989336"/>
            <a:ext cx="7898296" cy="1569660"/>
          </a:xfrm>
          <a:prstGeom prst="rect">
            <a:avLst/>
          </a:prstGeom>
          <a:noFill/>
        </p:spPr>
        <p:txBody>
          <a:bodyPr wrap="square" rtlCol="0">
            <a:spAutoFit/>
          </a:bodyPr>
          <a:lstStyle/>
          <a:p>
            <a:r>
              <a:rPr lang="en-US" sz="3200" dirty="0"/>
              <a:t>How do we connect all of these data to the people who need it and deliver it in the same format?</a:t>
            </a:r>
          </a:p>
        </p:txBody>
      </p:sp>
    </p:spTree>
    <p:extLst>
      <p:ext uri="{BB962C8B-B14F-4D97-AF65-F5344CB8AC3E}">
        <p14:creationId xmlns:p14="http://schemas.microsoft.com/office/powerpoint/2010/main" val="4141611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6" descr="Source: Ærtebjerg et al. (2003)."/>
          <p:cNvPicPr>
            <a:picLocks noChangeAspect="1"/>
          </p:cNvPicPr>
          <p:nvPr/>
        </p:nvPicPr>
        <p:blipFill rotWithShape="1">
          <a:blip r:embed="rId3">
            <a:extLst>
              <a:ext uri="{28A0092B-C50C-407E-A947-70E740481C1C}">
                <a14:useLocalDpi xmlns:a14="http://schemas.microsoft.com/office/drawing/2010/main" val="0"/>
              </a:ext>
            </a:extLst>
          </a:blip>
          <a:srcRect l="5926" t="5370" r="3215" b="1"/>
          <a:stretch/>
        </p:blipFill>
        <p:spPr>
          <a:xfrm>
            <a:off x="4639056" y="368300"/>
            <a:ext cx="7552944" cy="6489700"/>
          </a:xfrm>
          <a:prstGeom prst="rect">
            <a:avLst/>
          </a:prstGeom>
          <a:effectLst/>
        </p:spPr>
      </p:pic>
      <p:sp>
        <p:nvSpPr>
          <p:cNvPr id="2" name="Title 1"/>
          <p:cNvSpPr>
            <a:spLocks noGrp="1"/>
          </p:cNvSpPr>
          <p:nvPr>
            <p:ph type="title"/>
          </p:nvPr>
        </p:nvSpPr>
        <p:spPr>
          <a:xfrm>
            <a:off x="648929" y="629266"/>
            <a:ext cx="5116871" cy="1676603"/>
          </a:xfrm>
        </p:spPr>
        <p:txBody>
          <a:bodyPr>
            <a:normAutofit/>
          </a:bodyPr>
          <a:lstStyle/>
          <a:p>
            <a:r>
              <a:rPr lang="en-US" sz="3100" dirty="0"/>
              <a:t>What Would Standardized Sensor Data Enable: </a:t>
            </a:r>
            <a:r>
              <a:rPr lang="en-US" sz="3100" b="1" dirty="0"/>
              <a:t>Better Modeling</a:t>
            </a:r>
          </a:p>
        </p:txBody>
      </p:sp>
      <p:sp>
        <p:nvSpPr>
          <p:cNvPr id="6" name="Slide Number Placeholder 5"/>
          <p:cNvSpPr>
            <a:spLocks noGrp="1"/>
          </p:cNvSpPr>
          <p:nvPr>
            <p:ph type="sldNum" sz="quarter" idx="12"/>
          </p:nvPr>
        </p:nvSpPr>
        <p:spPr>
          <a:xfrm>
            <a:off x="10853928" y="6356350"/>
            <a:ext cx="685800" cy="365125"/>
          </a:xfrm>
        </p:spPr>
        <p:txBody>
          <a:bodyPr>
            <a:normAutofit/>
          </a:bodyPr>
          <a:lstStyle/>
          <a:p>
            <a:pPr algn="l"/>
            <a:fld id="{9CD8D479-8942-46E8-A226-A4E01F7A105C}" type="slidenum">
              <a:rPr lang="en-US" smtClean="0">
                <a:solidFill>
                  <a:srgbClr val="FFFFFF"/>
                </a:solidFill>
              </a:rPr>
              <a:pPr algn="l"/>
              <a:t>6</a:t>
            </a:fld>
            <a:endParaRPr lang="en-US">
              <a:solidFill>
                <a:srgbClr val="FFFFFF"/>
              </a:solidFill>
            </a:endParaRPr>
          </a:p>
        </p:txBody>
      </p:sp>
      <p:sp>
        <p:nvSpPr>
          <p:cNvPr id="11" name="Content Placeholder 10"/>
          <p:cNvSpPr>
            <a:spLocks noGrp="1"/>
          </p:cNvSpPr>
          <p:nvPr>
            <p:ph idx="1"/>
          </p:nvPr>
        </p:nvSpPr>
        <p:spPr>
          <a:xfrm>
            <a:off x="648931" y="2438400"/>
            <a:ext cx="3651466" cy="3785419"/>
          </a:xfrm>
        </p:spPr>
        <p:txBody>
          <a:bodyPr>
            <a:normAutofit/>
          </a:bodyPr>
          <a:lstStyle/>
          <a:p>
            <a:r>
              <a:rPr lang="en-US" sz="1800" dirty="0"/>
              <a:t>Models need data, a lot of data</a:t>
            </a:r>
          </a:p>
          <a:p>
            <a:r>
              <a:rPr lang="en-US" sz="1800" dirty="0"/>
              <a:t>Sensors are a great input for models, and can provide necessary ground truth</a:t>
            </a:r>
          </a:p>
          <a:p>
            <a:r>
              <a:rPr lang="en-US" sz="1800" dirty="0"/>
              <a:t>Imagine being able to run a model without having to first discover and then reformat the data needed to run the model; rather the model can grab the data as it needs it in real time</a:t>
            </a:r>
          </a:p>
        </p:txBody>
      </p:sp>
    </p:spTree>
    <p:extLst>
      <p:ext uri="{BB962C8B-B14F-4D97-AF65-F5344CB8AC3E}">
        <p14:creationId xmlns:p14="http://schemas.microsoft.com/office/powerpoint/2010/main" val="2335475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6" descr="10 &lt;strong&gt;Apps&lt;/strong&gt; Que Potencian El Trabajo En Equipo"/>
          <p:cNvPicPr>
            <a:picLocks noChangeAspect="1"/>
          </p:cNvPicPr>
          <p:nvPr/>
        </p:nvPicPr>
        <p:blipFill rotWithShape="1">
          <a:blip r:embed="rId2">
            <a:extLst>
              <a:ext uri="{28A0092B-C50C-407E-A947-70E740481C1C}">
                <a14:useLocalDpi xmlns:a14="http://schemas.microsoft.com/office/drawing/2010/main" val="0"/>
              </a:ext>
            </a:extLst>
          </a:blip>
          <a:srcRect l="17019" r="17584" b="1"/>
          <a:stretch/>
        </p:blipFill>
        <p:spPr>
          <a:xfrm>
            <a:off x="20" y="10"/>
            <a:ext cx="4635571" cy="6857990"/>
          </a:xfrm>
          <a:prstGeom prst="rect">
            <a:avLst/>
          </a:prstGeom>
          <a:effectLst/>
        </p:spPr>
      </p:pic>
      <p:cxnSp>
        <p:nvCxnSpPr>
          <p:cNvPr id="14" name="Straight Connector 13"/>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a:solidFill>
              <a:srgbClr val="3F8653"/>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965430" y="629268"/>
            <a:ext cx="6586491" cy="1286160"/>
          </a:xfrm>
        </p:spPr>
        <p:txBody>
          <a:bodyPr anchor="b">
            <a:normAutofit/>
          </a:bodyPr>
          <a:lstStyle/>
          <a:p>
            <a:r>
              <a:rPr lang="en-US" sz="3100"/>
              <a:t>What Would Standardized Sensor Data Enable: </a:t>
            </a:r>
            <a:r>
              <a:rPr lang="en-US" sz="3100" b="1"/>
              <a:t>Third-Party Applications</a:t>
            </a:r>
            <a:endParaRPr lang="en-US" sz="3100"/>
          </a:p>
        </p:txBody>
      </p:sp>
      <p:sp>
        <p:nvSpPr>
          <p:cNvPr id="4" name="Date Placeholder 3"/>
          <p:cNvSpPr>
            <a:spLocks noGrp="1"/>
          </p:cNvSpPr>
          <p:nvPr>
            <p:ph type="dt" sz="half" idx="10"/>
          </p:nvPr>
        </p:nvSpPr>
        <p:spPr>
          <a:xfrm>
            <a:off x="838200" y="6356350"/>
            <a:ext cx="2049855" cy="365125"/>
          </a:xfrm>
        </p:spPr>
        <p:txBody>
          <a:bodyPr>
            <a:normAutofit/>
          </a:bodyPr>
          <a:lstStyle/>
          <a:p>
            <a:r>
              <a:rPr lang="en-US">
                <a:solidFill>
                  <a:srgbClr val="FFFFFF"/>
                </a:solidFill>
              </a:rPr>
              <a:t>July 22, 2012</a:t>
            </a:r>
          </a:p>
        </p:txBody>
      </p:sp>
      <p:sp>
        <p:nvSpPr>
          <p:cNvPr id="6" name="Slide Number Placeholder 5"/>
          <p:cNvSpPr>
            <a:spLocks noGrp="1"/>
          </p:cNvSpPr>
          <p:nvPr>
            <p:ph type="sldNum" sz="quarter" idx="12"/>
          </p:nvPr>
        </p:nvSpPr>
        <p:spPr>
          <a:xfrm>
            <a:off x="10167042" y="6356350"/>
            <a:ext cx="1186758" cy="365125"/>
          </a:xfrm>
        </p:spPr>
        <p:txBody>
          <a:bodyPr>
            <a:normAutofit/>
          </a:bodyPr>
          <a:lstStyle/>
          <a:p>
            <a:fld id="{9CD8D479-8942-46E8-A226-A4E01F7A105C}" type="slidenum">
              <a:rPr lang="en-US" smtClean="0"/>
              <a:t>7</a:t>
            </a:fld>
            <a:endParaRPr lang="en-US"/>
          </a:p>
        </p:txBody>
      </p:sp>
      <p:sp>
        <p:nvSpPr>
          <p:cNvPr id="11" name="Content Placeholder 10"/>
          <p:cNvSpPr>
            <a:spLocks noGrp="1"/>
          </p:cNvSpPr>
          <p:nvPr>
            <p:ph idx="1"/>
          </p:nvPr>
        </p:nvSpPr>
        <p:spPr>
          <a:xfrm>
            <a:off x="4965431" y="2438400"/>
            <a:ext cx="6586489" cy="3785419"/>
          </a:xfrm>
        </p:spPr>
        <p:txBody>
          <a:bodyPr>
            <a:normAutofit/>
          </a:bodyPr>
          <a:lstStyle/>
          <a:p>
            <a:r>
              <a:rPr lang="en-US" sz="2000" dirty="0"/>
              <a:t>Adopting and promoting standards sends a clear signal to the market that there is value in supporting those standards</a:t>
            </a:r>
          </a:p>
          <a:p>
            <a:r>
              <a:rPr lang="en-US" sz="2000" dirty="0"/>
              <a:t>Enables the market to develop solutions for data storage, data sharing, and data visualization</a:t>
            </a:r>
          </a:p>
          <a:p>
            <a:r>
              <a:rPr lang="en-US" sz="2000" dirty="0"/>
              <a:t>Allows those outside government to develop applications and tools that are valuable to them and meet their specific needs</a:t>
            </a:r>
          </a:p>
        </p:txBody>
      </p:sp>
    </p:spTree>
    <p:extLst>
      <p:ext uri="{BB962C8B-B14F-4D97-AF65-F5344CB8AC3E}">
        <p14:creationId xmlns:p14="http://schemas.microsoft.com/office/powerpoint/2010/main" val="2915364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6" descr="Where should I start?"/>
          <p:cNvPicPr>
            <a:picLocks noChangeAspect="1"/>
          </p:cNvPicPr>
          <p:nvPr/>
        </p:nvPicPr>
        <p:blipFill rotWithShape="1">
          <a:blip r:embed="rId2">
            <a:extLst>
              <a:ext uri="{28A0092B-C50C-407E-A947-70E740481C1C}">
                <a14:useLocalDpi xmlns:a14="http://schemas.microsoft.com/office/drawing/2010/main" val="0"/>
              </a:ext>
            </a:extLst>
          </a:blip>
          <a:srcRect r="1" b="2075"/>
          <a:stretch/>
        </p:blipFill>
        <p:spPr>
          <a:xfrm>
            <a:off x="838200" y="1904281"/>
            <a:ext cx="6233160" cy="4272681"/>
          </a:xfrm>
          <a:prstGeom prst="rect">
            <a:avLst/>
          </a:prstGeom>
        </p:spPr>
      </p:pic>
      <p:sp>
        <p:nvSpPr>
          <p:cNvPr id="2" name="Title 1"/>
          <p:cNvSpPr>
            <a:spLocks noGrp="1"/>
          </p:cNvSpPr>
          <p:nvPr>
            <p:ph type="title"/>
          </p:nvPr>
        </p:nvSpPr>
        <p:spPr>
          <a:xfrm>
            <a:off x="838200" y="365125"/>
            <a:ext cx="10515600" cy="1325563"/>
          </a:xfrm>
        </p:spPr>
        <p:txBody>
          <a:bodyPr>
            <a:normAutofit/>
          </a:bodyPr>
          <a:lstStyle/>
          <a:p>
            <a:r>
              <a:rPr lang="en-US" dirty="0"/>
              <a:t>What Would Standardized Sensor Data Enable: </a:t>
            </a:r>
            <a:r>
              <a:rPr lang="en-US" b="1" dirty="0"/>
              <a:t>Quicker and Better Decisions</a:t>
            </a:r>
            <a:endParaRPr lang="en-US" dirty="0"/>
          </a:p>
        </p:txBody>
      </p:sp>
      <p:sp>
        <p:nvSpPr>
          <p:cNvPr id="6" name="Slide Number Placeholder 5"/>
          <p:cNvSpPr>
            <a:spLocks noGrp="1"/>
          </p:cNvSpPr>
          <p:nvPr>
            <p:ph type="sldNum" sz="quarter" idx="12"/>
          </p:nvPr>
        </p:nvSpPr>
        <p:spPr>
          <a:xfrm>
            <a:off x="8610600" y="6356350"/>
            <a:ext cx="2743200" cy="365125"/>
          </a:xfrm>
        </p:spPr>
        <p:txBody>
          <a:bodyPr>
            <a:normAutofit/>
          </a:bodyPr>
          <a:lstStyle/>
          <a:p>
            <a:fld id="{9CD8D479-8942-46E8-A226-A4E01F7A105C}" type="slidenum">
              <a:rPr lang="en-US" smtClean="0"/>
              <a:t>8</a:t>
            </a:fld>
            <a:endParaRPr lang="en-US"/>
          </a:p>
        </p:txBody>
      </p:sp>
      <p:sp>
        <p:nvSpPr>
          <p:cNvPr id="11" name="Content Placeholder 10"/>
          <p:cNvSpPr>
            <a:spLocks noGrp="1"/>
          </p:cNvSpPr>
          <p:nvPr>
            <p:ph idx="1"/>
          </p:nvPr>
        </p:nvSpPr>
        <p:spPr>
          <a:xfrm>
            <a:off x="7552944" y="1825625"/>
            <a:ext cx="3800856" cy="4351338"/>
          </a:xfrm>
        </p:spPr>
        <p:txBody>
          <a:bodyPr>
            <a:normAutofit/>
          </a:bodyPr>
          <a:lstStyle/>
          <a:p>
            <a:r>
              <a:rPr lang="en-US" sz="2000" dirty="0"/>
              <a:t>Having standardized data decreases the amount of time needed to spend in discovering and standardizing data</a:t>
            </a:r>
          </a:p>
          <a:p>
            <a:r>
              <a:rPr lang="en-US" sz="2000" dirty="0"/>
              <a:t>Reduces errors from hand-entering data values</a:t>
            </a:r>
          </a:p>
          <a:p>
            <a:r>
              <a:rPr lang="en-US" sz="2000" dirty="0"/>
              <a:t>Allows for MORE data to be used (often can’t use data that’s hard to find or difficult to reformat)</a:t>
            </a:r>
          </a:p>
        </p:txBody>
      </p:sp>
      <p:sp>
        <p:nvSpPr>
          <p:cNvPr id="7" name="TextBox 6"/>
          <p:cNvSpPr txBox="1"/>
          <p:nvPr/>
        </p:nvSpPr>
        <p:spPr>
          <a:xfrm>
            <a:off x="7071360" y="5481826"/>
            <a:ext cx="4864100" cy="523220"/>
          </a:xfrm>
          <a:prstGeom prst="rect">
            <a:avLst/>
          </a:prstGeom>
          <a:noFill/>
        </p:spPr>
        <p:txBody>
          <a:bodyPr wrap="square" rtlCol="0">
            <a:spAutoFit/>
          </a:bodyPr>
          <a:lstStyle/>
          <a:p>
            <a:r>
              <a:rPr lang="en-US" sz="2800" b="1" dirty="0"/>
              <a:t>SAVED TIME = SAVED MONEY</a:t>
            </a:r>
          </a:p>
        </p:txBody>
      </p:sp>
    </p:spTree>
    <p:extLst>
      <p:ext uri="{BB962C8B-B14F-4D97-AF65-F5344CB8AC3E}">
        <p14:creationId xmlns:p14="http://schemas.microsoft.com/office/powerpoint/2010/main" val="1142826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636008" cy="6857998"/>
          </a:xfrm>
          <a:prstGeom prst="rect">
            <a:avLst/>
          </a:prstGeom>
          <a:solidFill>
            <a:schemeClr val="tx1">
              <a:lumMod val="85000"/>
              <a:lumOff val="1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a:solidFill>
                <a:srgbClr val="FFFFFF"/>
              </a:solidFill>
              <a:latin typeface="Calibri" panose="020F0502020204030204"/>
            </a:endParaRPr>
          </a:p>
        </p:txBody>
      </p:sp>
      <p:pic>
        <p:nvPicPr>
          <p:cNvPr id="7" name="Picture 6"/>
          <p:cNvPicPr>
            <a:picLocks noChangeAspect="1"/>
          </p:cNvPicPr>
          <p:nvPr/>
        </p:nvPicPr>
        <p:blipFill rotWithShape="1">
          <a:blip r:embed="rId2"/>
          <a:srcRect l="1108" r="27723" b="1"/>
          <a:stretch/>
        </p:blipFill>
        <p:spPr>
          <a:xfrm>
            <a:off x="5276088" y="640082"/>
            <a:ext cx="6276250" cy="5577838"/>
          </a:xfrm>
          <a:prstGeom prst="rect">
            <a:avLst/>
          </a:prstGeom>
          <a:effectLst/>
        </p:spPr>
      </p:pic>
      <p:sp>
        <p:nvSpPr>
          <p:cNvPr id="2" name="Title 1"/>
          <p:cNvSpPr>
            <a:spLocks noGrp="1"/>
          </p:cNvSpPr>
          <p:nvPr>
            <p:ph type="title"/>
          </p:nvPr>
        </p:nvSpPr>
        <p:spPr>
          <a:xfrm>
            <a:off x="648929" y="629266"/>
            <a:ext cx="3667039" cy="1676603"/>
          </a:xfrm>
        </p:spPr>
        <p:txBody>
          <a:bodyPr>
            <a:normAutofit/>
          </a:bodyPr>
          <a:lstStyle/>
          <a:p>
            <a:pPr>
              <a:lnSpc>
                <a:spcPct val="90000"/>
              </a:lnSpc>
            </a:pPr>
            <a:r>
              <a:rPr lang="en-US" sz="3600">
                <a:solidFill>
                  <a:schemeClr val="bg1"/>
                </a:solidFill>
              </a:rPr>
              <a:t>How IWN is a Step Towards Solving These Problems</a:t>
            </a:r>
          </a:p>
        </p:txBody>
      </p:sp>
      <p:sp>
        <p:nvSpPr>
          <p:cNvPr id="3" name="Content Placeholder 2"/>
          <p:cNvSpPr>
            <a:spLocks noGrp="1"/>
          </p:cNvSpPr>
          <p:nvPr>
            <p:ph idx="1"/>
          </p:nvPr>
        </p:nvSpPr>
        <p:spPr>
          <a:xfrm>
            <a:off x="648931" y="2438401"/>
            <a:ext cx="3667036" cy="3779520"/>
          </a:xfrm>
        </p:spPr>
        <p:txBody>
          <a:bodyPr>
            <a:normAutofit/>
          </a:bodyPr>
          <a:lstStyle/>
          <a:p>
            <a:r>
              <a:rPr lang="en-US" sz="1800">
                <a:solidFill>
                  <a:schemeClr val="bg1"/>
                </a:solidFill>
              </a:rPr>
              <a:t>The Interoperable Watersheds Network was a demonstration project that focused on evaluating approaches to improve sensor data sharing</a:t>
            </a:r>
          </a:p>
          <a:p>
            <a:r>
              <a:rPr lang="en-US" sz="1800">
                <a:solidFill>
                  <a:schemeClr val="bg1"/>
                </a:solidFill>
              </a:rPr>
              <a:t>It was based on knowledge gained from an recommendations report that EPA developed in 2014</a:t>
            </a:r>
          </a:p>
          <a:p>
            <a:r>
              <a:rPr lang="en-US" sz="1800">
                <a:solidFill>
                  <a:schemeClr val="bg1"/>
                </a:solidFill>
              </a:rPr>
              <a:t>The project focused on addressing three major areas:</a:t>
            </a:r>
          </a:p>
          <a:p>
            <a:pPr lvl="1"/>
            <a:r>
              <a:rPr lang="en-US">
                <a:solidFill>
                  <a:schemeClr val="bg1"/>
                </a:solidFill>
              </a:rPr>
              <a:t>Data Standards</a:t>
            </a:r>
          </a:p>
          <a:p>
            <a:pPr lvl="1"/>
            <a:r>
              <a:rPr lang="en-US">
                <a:solidFill>
                  <a:schemeClr val="bg1"/>
                </a:solidFill>
              </a:rPr>
              <a:t>Metadata</a:t>
            </a:r>
          </a:p>
          <a:p>
            <a:pPr lvl="1"/>
            <a:r>
              <a:rPr lang="en-US">
                <a:solidFill>
                  <a:schemeClr val="bg1"/>
                </a:solidFill>
              </a:rPr>
              <a:t>System Architecture</a:t>
            </a:r>
          </a:p>
        </p:txBody>
      </p:sp>
      <p:sp>
        <p:nvSpPr>
          <p:cNvPr id="6" name="Slide Number Placeholder 5"/>
          <p:cNvSpPr>
            <a:spLocks noGrp="1"/>
          </p:cNvSpPr>
          <p:nvPr>
            <p:ph type="sldNum" sz="quarter" idx="12"/>
          </p:nvPr>
        </p:nvSpPr>
        <p:spPr>
          <a:xfrm>
            <a:off x="288635" y="6356350"/>
            <a:ext cx="685800" cy="365125"/>
          </a:xfrm>
        </p:spPr>
        <p:txBody>
          <a:bodyPr>
            <a:normAutofit/>
          </a:bodyPr>
          <a:lstStyle/>
          <a:p>
            <a:fld id="{9CD8D479-8942-46E8-A226-A4E01F7A105C}" type="slidenum">
              <a:rPr lang="en-US" smtClean="0"/>
              <a:t>9</a:t>
            </a:fld>
            <a:endParaRPr lang="en-US"/>
          </a:p>
        </p:txBody>
      </p:sp>
    </p:spTree>
    <p:extLst>
      <p:ext uri="{BB962C8B-B14F-4D97-AF65-F5344CB8AC3E}">
        <p14:creationId xmlns:p14="http://schemas.microsoft.com/office/powerpoint/2010/main" val="4220241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3" y="321176"/>
            <a:ext cx="7174247"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3"/>
          <a:stretch>
            <a:fillRect/>
          </a:stretch>
        </p:blipFill>
        <p:spPr>
          <a:xfrm>
            <a:off x="7829551" y="3098473"/>
            <a:ext cx="4042410" cy="2849898"/>
          </a:xfrm>
          <a:prstGeom prst="rect">
            <a:avLst/>
          </a:prstGeom>
        </p:spPr>
      </p:pic>
      <p:pic>
        <p:nvPicPr>
          <p:cNvPr id="10" name="Content Placeholder 6" descr="&lt;strong&gt;Open Geospatial Consortium&lt;/strong&gt; - Wikipedia, the free encyclopedia"/>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29551" y="430119"/>
            <a:ext cx="4042409" cy="2039579"/>
          </a:xfrm>
          <a:prstGeom prst="rect">
            <a:avLst/>
          </a:prstGeom>
        </p:spPr>
      </p:pic>
      <p:sp>
        <p:nvSpPr>
          <p:cNvPr id="2" name="Title 1"/>
          <p:cNvSpPr>
            <a:spLocks noGrp="1"/>
          </p:cNvSpPr>
          <p:nvPr>
            <p:ph type="title"/>
          </p:nvPr>
        </p:nvSpPr>
        <p:spPr>
          <a:xfrm>
            <a:off x="821516" y="640263"/>
            <a:ext cx="6204984" cy="1344975"/>
          </a:xfrm>
        </p:spPr>
        <p:txBody>
          <a:bodyPr>
            <a:normAutofit/>
          </a:bodyPr>
          <a:lstStyle/>
          <a:p>
            <a:r>
              <a:rPr lang="en-US" sz="4000"/>
              <a:t>The Data Standards Problem</a:t>
            </a:r>
          </a:p>
        </p:txBody>
      </p:sp>
      <p:sp>
        <p:nvSpPr>
          <p:cNvPr id="6" name="Slide Number Placeholder 5"/>
          <p:cNvSpPr>
            <a:spLocks noGrp="1"/>
          </p:cNvSpPr>
          <p:nvPr>
            <p:ph type="sldNum" sz="quarter" idx="12"/>
          </p:nvPr>
        </p:nvSpPr>
        <p:spPr>
          <a:xfrm>
            <a:off x="8610600" y="6356350"/>
            <a:ext cx="2743200" cy="365125"/>
          </a:xfrm>
        </p:spPr>
        <p:txBody>
          <a:bodyPr>
            <a:normAutofit/>
          </a:bodyPr>
          <a:lstStyle/>
          <a:p>
            <a:fld id="{9CD8D479-8942-46E8-A226-A4E01F7A105C}" type="slidenum">
              <a:rPr lang="en-US" smtClean="0"/>
              <a:t>10</a:t>
            </a:fld>
            <a:endParaRPr lang="en-US"/>
          </a:p>
        </p:txBody>
      </p:sp>
      <p:sp>
        <p:nvSpPr>
          <p:cNvPr id="12" name="Content Placeholder 11"/>
          <p:cNvSpPr>
            <a:spLocks noGrp="1"/>
          </p:cNvSpPr>
          <p:nvPr>
            <p:ph idx="1"/>
          </p:nvPr>
        </p:nvSpPr>
        <p:spPr>
          <a:xfrm>
            <a:off x="821515" y="2121762"/>
            <a:ext cx="6204984" cy="3626917"/>
          </a:xfrm>
        </p:spPr>
        <p:txBody>
          <a:bodyPr>
            <a:normAutofit/>
          </a:bodyPr>
          <a:lstStyle/>
          <a:p>
            <a:r>
              <a:rPr lang="en-US" sz="2400" dirty="0"/>
              <a:t>We needed a common way to represent and communicate the data</a:t>
            </a:r>
          </a:p>
          <a:p>
            <a:r>
              <a:rPr lang="en-US" sz="2400" dirty="0"/>
              <a:t>Standards for sensor data already exist, there was no need to create new standards</a:t>
            </a:r>
          </a:p>
          <a:p>
            <a:pPr lvl="1"/>
            <a:r>
              <a:rPr lang="en-US" sz="2000" dirty="0"/>
              <a:t>OGC Sensor Observation Service</a:t>
            </a:r>
          </a:p>
          <a:p>
            <a:pPr lvl="1"/>
            <a:r>
              <a:rPr lang="en-US" sz="2000" dirty="0"/>
              <a:t>OGC Water ML 2 and Sensor ML</a:t>
            </a:r>
          </a:p>
          <a:p>
            <a:r>
              <a:rPr lang="en-US" sz="2800" dirty="0"/>
              <a:t>The Open Geospatial Consortium is an open-source, international standards setting body</a:t>
            </a:r>
          </a:p>
          <a:p>
            <a:pPr marL="0" indent="0">
              <a:buNone/>
            </a:pPr>
            <a:endParaRPr lang="en-US" sz="2800" dirty="0"/>
          </a:p>
          <a:p>
            <a:endParaRPr lang="en-US" sz="2400" dirty="0"/>
          </a:p>
        </p:txBody>
      </p:sp>
    </p:spTree>
    <p:extLst>
      <p:ext uri="{BB962C8B-B14F-4D97-AF65-F5344CB8AC3E}">
        <p14:creationId xmlns:p14="http://schemas.microsoft.com/office/powerpoint/2010/main" val="9456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11"/>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6801" y="1690688"/>
            <a:ext cx="7316944" cy="5167312"/>
          </a:xfrm>
          <a:custGeom>
            <a:avLst/>
            <a:gdLst>
              <a:gd name="connsiteX0" fmla="*/ 0 w 7316944"/>
              <a:gd name="connsiteY0" fmla="*/ 0 h 5167312"/>
              <a:gd name="connsiteX1" fmla="*/ 7316944 w 7316944"/>
              <a:gd name="connsiteY1" fmla="*/ 0 h 5167312"/>
              <a:gd name="connsiteX2" fmla="*/ 7316944 w 7316944"/>
              <a:gd name="connsiteY2" fmla="*/ 5167312 h 5167312"/>
              <a:gd name="connsiteX3" fmla="*/ 472697 w 7316944"/>
              <a:gd name="connsiteY3" fmla="*/ 5167312 h 5167312"/>
              <a:gd name="connsiteX4" fmla="*/ 2866576 w 7316944"/>
              <a:gd name="connsiteY4" fmla="*/ 952 h 5167312"/>
              <a:gd name="connsiteX5" fmla="*/ 0 w 7316944"/>
              <a:gd name="connsiteY5" fmla="*/ 952 h 516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16944" h="5167312">
                <a:moveTo>
                  <a:pt x="0" y="0"/>
                </a:moveTo>
                <a:lnTo>
                  <a:pt x="7316944" y="0"/>
                </a:lnTo>
                <a:lnTo>
                  <a:pt x="7316944" y="5167312"/>
                </a:lnTo>
                <a:lnTo>
                  <a:pt x="472697" y="5167312"/>
                </a:lnTo>
                <a:lnTo>
                  <a:pt x="2866576" y="952"/>
                </a:lnTo>
                <a:lnTo>
                  <a:pt x="0" y="952"/>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37"/>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746" y="1691164"/>
            <a:ext cx="7571262" cy="5166360"/>
          </a:xfrm>
          <a:custGeom>
            <a:avLst/>
            <a:gdLst>
              <a:gd name="connsiteX0" fmla="*/ 0 w 7571262"/>
              <a:gd name="connsiteY0" fmla="*/ 5166360 h 5166360"/>
              <a:gd name="connsiteX1" fmla="*/ 7571262 w 7571262"/>
              <a:gd name="connsiteY1" fmla="*/ 5166360 h 5166360"/>
              <a:gd name="connsiteX2" fmla="*/ 5177382 w 7571262"/>
              <a:gd name="connsiteY2" fmla="*/ 0 h 5166360"/>
              <a:gd name="connsiteX3" fmla="*/ 5171159 w 7571262"/>
              <a:gd name="connsiteY3" fmla="*/ 0 h 5166360"/>
              <a:gd name="connsiteX4" fmla="*/ 3981368 w 7571262"/>
              <a:gd name="connsiteY4" fmla="*/ 0 h 5166360"/>
              <a:gd name="connsiteX5" fmla="*/ 2331323 w 7571262"/>
              <a:gd name="connsiteY5" fmla="*/ 0 h 5166360"/>
              <a:gd name="connsiteX6" fmla="*/ 0 w 7571262"/>
              <a:gd name="connsiteY6" fmla="*/ 0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71262" h="5166360">
                <a:moveTo>
                  <a:pt x="0" y="5166360"/>
                </a:moveTo>
                <a:lnTo>
                  <a:pt x="7571262" y="5166360"/>
                </a:lnTo>
                <a:lnTo>
                  <a:pt x="5177382" y="0"/>
                </a:lnTo>
                <a:lnTo>
                  <a:pt x="5171159" y="0"/>
                </a:lnTo>
                <a:lnTo>
                  <a:pt x="3981368" y="0"/>
                </a:lnTo>
                <a:lnTo>
                  <a:pt x="2331323" y="0"/>
                </a:lnTo>
                <a:lnTo>
                  <a:pt x="0" y="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Content Placeholder 7" descr="under &lt;strong&gt;metadata&lt;/strong&gt; zoeken over de waarde en &lt;strong&gt;metadata&lt;/strong&gt; van tweet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56974" y="1828800"/>
            <a:ext cx="2854639" cy="2112433"/>
          </a:xfrm>
          <a:custGeom>
            <a:avLst/>
            <a:gdLst>
              <a:gd name="connsiteX0" fmla="*/ 0 w 4636009"/>
              <a:gd name="connsiteY0" fmla="*/ 0 h 5032375"/>
              <a:gd name="connsiteX1" fmla="*/ 4636009 w 4636009"/>
              <a:gd name="connsiteY1" fmla="*/ 0 h 5032375"/>
              <a:gd name="connsiteX2" fmla="*/ 4636009 w 4636009"/>
              <a:gd name="connsiteY2" fmla="*/ 5032375 h 5032375"/>
              <a:gd name="connsiteX3" fmla="*/ 0 w 4636009"/>
              <a:gd name="connsiteY3" fmla="*/ 5032375 h 5032375"/>
            </a:gdLst>
            <a:ahLst/>
            <a:cxnLst>
              <a:cxn ang="0">
                <a:pos x="connsiteX0" y="connsiteY0"/>
              </a:cxn>
              <a:cxn ang="0">
                <a:pos x="connsiteX1" y="connsiteY1"/>
              </a:cxn>
              <a:cxn ang="0">
                <a:pos x="connsiteX2" y="connsiteY2"/>
              </a:cxn>
              <a:cxn ang="0">
                <a:pos x="connsiteX3" y="connsiteY3"/>
              </a:cxn>
            </a:cxnLst>
            <a:rect l="l" t="t" r="r" b="b"/>
            <a:pathLst>
              <a:path w="4636009" h="5032375">
                <a:moveTo>
                  <a:pt x="0" y="0"/>
                </a:moveTo>
                <a:lnTo>
                  <a:pt x="4636009" y="0"/>
                </a:lnTo>
                <a:lnTo>
                  <a:pt x="4636009" y="5032375"/>
                </a:lnTo>
                <a:lnTo>
                  <a:pt x="0" y="5032375"/>
                </a:lnTo>
                <a:close/>
              </a:path>
            </a:pathLst>
          </a:custGeom>
        </p:spPr>
      </p:pic>
      <p:pic>
        <p:nvPicPr>
          <p:cNvPr id="7" name="Picture 6"/>
          <p:cNvPicPr>
            <a:picLocks noChangeAspect="1"/>
          </p:cNvPicPr>
          <p:nvPr/>
        </p:nvPicPr>
        <p:blipFill>
          <a:blip r:embed="rId3"/>
          <a:stretch>
            <a:fillRect/>
          </a:stretch>
        </p:blipFill>
        <p:spPr>
          <a:xfrm>
            <a:off x="6908801" y="4290942"/>
            <a:ext cx="5116410" cy="1734748"/>
          </a:xfrm>
          <a:custGeom>
            <a:avLst/>
            <a:gdLst>
              <a:gd name="connsiteX0" fmla="*/ 0 w 4636009"/>
              <a:gd name="connsiteY0" fmla="*/ 0 h 5032375"/>
              <a:gd name="connsiteX1" fmla="*/ 4636009 w 4636009"/>
              <a:gd name="connsiteY1" fmla="*/ 0 h 5032375"/>
              <a:gd name="connsiteX2" fmla="*/ 4636009 w 4636009"/>
              <a:gd name="connsiteY2" fmla="*/ 5032375 h 5032375"/>
              <a:gd name="connsiteX3" fmla="*/ 0 w 4636009"/>
              <a:gd name="connsiteY3" fmla="*/ 5032375 h 5032375"/>
            </a:gdLst>
            <a:ahLst/>
            <a:cxnLst>
              <a:cxn ang="0">
                <a:pos x="connsiteX0" y="connsiteY0"/>
              </a:cxn>
              <a:cxn ang="0">
                <a:pos x="connsiteX1" y="connsiteY1"/>
              </a:cxn>
              <a:cxn ang="0">
                <a:pos x="connsiteX2" y="connsiteY2"/>
              </a:cxn>
              <a:cxn ang="0">
                <a:pos x="connsiteX3" y="connsiteY3"/>
              </a:cxn>
            </a:cxnLst>
            <a:rect l="l" t="t" r="r" b="b"/>
            <a:pathLst>
              <a:path w="4636009" h="5032375">
                <a:moveTo>
                  <a:pt x="0" y="0"/>
                </a:moveTo>
                <a:lnTo>
                  <a:pt x="4636009" y="0"/>
                </a:lnTo>
                <a:lnTo>
                  <a:pt x="4636009" y="5032375"/>
                </a:lnTo>
                <a:lnTo>
                  <a:pt x="0" y="5032375"/>
                </a:lnTo>
                <a:close/>
              </a:path>
            </a:pathLst>
          </a:custGeom>
        </p:spPr>
      </p:pic>
      <p:sp>
        <p:nvSpPr>
          <p:cNvPr id="2" name="Title 1"/>
          <p:cNvSpPr>
            <a:spLocks noGrp="1"/>
          </p:cNvSpPr>
          <p:nvPr>
            <p:ph type="title"/>
          </p:nvPr>
        </p:nvSpPr>
        <p:spPr>
          <a:xfrm>
            <a:off x="838200" y="365125"/>
            <a:ext cx="10515600" cy="1325563"/>
          </a:xfrm>
        </p:spPr>
        <p:txBody>
          <a:bodyPr>
            <a:normAutofit/>
          </a:bodyPr>
          <a:lstStyle/>
          <a:p>
            <a:r>
              <a:rPr lang="en-US" dirty="0"/>
              <a:t>The Metadata Problem</a:t>
            </a:r>
          </a:p>
        </p:txBody>
      </p:sp>
      <p:sp>
        <p:nvSpPr>
          <p:cNvPr id="6" name="Slide Number Placeholder 5"/>
          <p:cNvSpPr>
            <a:spLocks noGrp="1"/>
          </p:cNvSpPr>
          <p:nvPr>
            <p:ph type="sldNum" sz="quarter" idx="12"/>
          </p:nvPr>
        </p:nvSpPr>
        <p:spPr>
          <a:xfrm>
            <a:off x="9974178" y="6356350"/>
            <a:ext cx="1379621" cy="365125"/>
          </a:xfrm>
        </p:spPr>
        <p:txBody>
          <a:bodyPr anchor="ctr">
            <a:normAutofit/>
          </a:bodyPr>
          <a:lstStyle/>
          <a:p>
            <a:fld id="{9CD8D479-8942-46E8-A226-A4E01F7A105C}" type="slidenum">
              <a:rPr lang="en-US" smtClean="0"/>
              <a:t>11</a:t>
            </a:fld>
            <a:endParaRPr lang="en-US"/>
          </a:p>
        </p:txBody>
      </p:sp>
      <p:sp>
        <p:nvSpPr>
          <p:cNvPr id="12" name="Content Placeholder 11"/>
          <p:cNvSpPr>
            <a:spLocks noGrp="1"/>
          </p:cNvSpPr>
          <p:nvPr>
            <p:ph idx="1"/>
          </p:nvPr>
        </p:nvSpPr>
        <p:spPr>
          <a:xfrm>
            <a:off x="838200" y="2015406"/>
            <a:ext cx="5097779" cy="4065986"/>
          </a:xfrm>
        </p:spPr>
        <p:txBody>
          <a:bodyPr anchor="t">
            <a:normAutofit/>
          </a:bodyPr>
          <a:lstStyle/>
          <a:p>
            <a:r>
              <a:rPr lang="en-US" sz="2000" dirty="0">
                <a:solidFill>
                  <a:schemeClr val="bg1"/>
                </a:solidFill>
              </a:rPr>
              <a:t>Needed a standard way to answer the following questions:</a:t>
            </a:r>
          </a:p>
          <a:p>
            <a:pPr lvl="1"/>
            <a:r>
              <a:rPr lang="en-US" sz="1600" dirty="0">
                <a:solidFill>
                  <a:schemeClr val="bg1"/>
                </a:solidFill>
              </a:rPr>
              <a:t>What data are available and for what parameters?</a:t>
            </a:r>
          </a:p>
          <a:p>
            <a:pPr lvl="1"/>
            <a:r>
              <a:rPr lang="en-US" sz="1600" dirty="0">
                <a:solidFill>
                  <a:schemeClr val="bg1"/>
                </a:solidFill>
              </a:rPr>
              <a:t>What data can I use?</a:t>
            </a:r>
          </a:p>
          <a:p>
            <a:pPr lvl="1"/>
            <a:r>
              <a:rPr lang="en-US" sz="1600" dirty="0">
                <a:solidFill>
                  <a:schemeClr val="bg1"/>
                </a:solidFill>
              </a:rPr>
              <a:t>What’s the quality of the data?</a:t>
            </a:r>
          </a:p>
          <a:p>
            <a:r>
              <a:rPr lang="en-US" sz="2000" dirty="0">
                <a:solidFill>
                  <a:schemeClr val="bg1"/>
                </a:solidFill>
              </a:rPr>
              <a:t>IWN had to develop standard ways to do this (no existing standard existed)</a:t>
            </a:r>
          </a:p>
          <a:p>
            <a:r>
              <a:rPr lang="en-US" sz="2000" dirty="0">
                <a:solidFill>
                  <a:schemeClr val="bg1"/>
                </a:solidFill>
              </a:rPr>
              <a:t>Further work needs to be done in this area as part of the Advanced Monitoring Team</a:t>
            </a:r>
          </a:p>
          <a:p>
            <a:endParaRPr lang="en-US" sz="2000" dirty="0">
              <a:solidFill>
                <a:schemeClr val="bg1"/>
              </a:solidFill>
            </a:endParaRPr>
          </a:p>
        </p:txBody>
      </p:sp>
    </p:spTree>
    <p:extLst>
      <p:ext uri="{BB962C8B-B14F-4D97-AF65-F5344CB8AC3E}">
        <p14:creationId xmlns:p14="http://schemas.microsoft.com/office/powerpoint/2010/main" val="3210871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23"/>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5429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ounded Rectangle 17"/>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78945" y="958640"/>
            <a:ext cx="6269591" cy="4945244"/>
          </a:xfrm>
          <a:prstGeom prst="roundRect">
            <a:avLst>
              <a:gd name="adj" fmla="val 3513"/>
            </a:avLst>
          </a:prstGeom>
          <a:solidFill>
            <a:srgbClr val="FFFFFF"/>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4767" y="365125"/>
            <a:ext cx="4513761" cy="1325563"/>
          </a:xfrm>
        </p:spPr>
        <p:txBody>
          <a:bodyPr>
            <a:normAutofit/>
          </a:bodyPr>
          <a:lstStyle/>
          <a:p>
            <a:r>
              <a:rPr lang="en-US" sz="3200" dirty="0"/>
              <a:t>The Architecture Problem</a:t>
            </a:r>
          </a:p>
        </p:txBody>
      </p:sp>
      <p:pic>
        <p:nvPicPr>
          <p:cNvPr id="10" name="Content Placeholder 9" descr="Archivo:&lt;strong&gt;USGS&lt;/strong&gt; logo green.svg - Wikipedia, la enciclopedia libre"/>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9588056" y="6026301"/>
            <a:ext cx="1614455" cy="645782"/>
          </a:xfrm>
        </p:spPr>
      </p:pic>
      <p:sp>
        <p:nvSpPr>
          <p:cNvPr id="6" name="Slide Number Placeholder 5"/>
          <p:cNvSpPr>
            <a:spLocks noGrp="1"/>
          </p:cNvSpPr>
          <p:nvPr>
            <p:ph type="sldNum" sz="quarter" idx="12"/>
          </p:nvPr>
        </p:nvSpPr>
        <p:spPr>
          <a:xfrm>
            <a:off x="10395284" y="6356350"/>
            <a:ext cx="958516" cy="365125"/>
          </a:xfrm>
        </p:spPr>
        <p:txBody>
          <a:bodyPr>
            <a:normAutofit/>
          </a:bodyPr>
          <a:lstStyle/>
          <a:p>
            <a:fld id="{9CD8D479-8942-46E8-A226-A4E01F7A105C}" type="slidenum">
              <a:rPr lang="en-US" smtClean="0">
                <a:solidFill>
                  <a:srgbClr val="898989"/>
                </a:solidFill>
              </a:rPr>
              <a:pPr/>
              <a:t>12</a:t>
            </a:fld>
            <a:endParaRPr lang="en-US">
              <a:solidFill>
                <a:srgbClr val="898989"/>
              </a:solidFill>
            </a:endParaRPr>
          </a:p>
        </p:txBody>
      </p:sp>
      <p:pic>
        <p:nvPicPr>
          <p:cNvPr id="1028" name="Picture 4" descr="Logo of 52°Nort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4851" y="6061074"/>
            <a:ext cx="1619250" cy="59055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KISTERS A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83453" y="6084093"/>
            <a:ext cx="192405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lt;strong&gt;Environmental Protection Agency&lt;/strong&gt; Seal | Flickr - Photo Shari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92545" y="23521"/>
            <a:ext cx="901931" cy="883892"/>
          </a:xfrm>
          <a:prstGeom prst="rect">
            <a:avLst/>
          </a:prstGeom>
        </p:spPr>
      </p:pic>
      <p:pic>
        <p:nvPicPr>
          <p:cNvPr id="14" name="Picture 13" descr="&lt;strong&gt;NJ-DEP&lt;/strong&gt; Ocean/Wind Power Ecological Baseline Study"/>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45038" y="22551"/>
            <a:ext cx="876137" cy="883036"/>
          </a:xfrm>
          <a:prstGeom prst="rect">
            <a:avLst/>
          </a:prstGeom>
        </p:spPr>
      </p:pic>
      <p:pic>
        <p:nvPicPr>
          <p:cNvPr id="16" name="Picture 15" descr="joe grzyb &lt;strong&gt;meadowlands&lt;/strong&gt; &lt;strong&gt;environmental&lt;/strong&gt; &lt;strong&gt;research&lt;/strong&gt; &lt;strong&gt;institute&lt;/strong&gt; vacant rutgers ..."/>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52833" y="68713"/>
            <a:ext cx="1160907" cy="790711"/>
          </a:xfrm>
          <a:prstGeom prst="rect">
            <a:avLst/>
          </a:prstGeom>
        </p:spPr>
      </p:pic>
      <p:pic>
        <p:nvPicPr>
          <p:cNvPr id="17" name="Picture 16" descr="&lt;strong&gt;Clermont&lt;/strong&gt; &lt;strong&gt;County&lt;/strong&gt;, &lt;strong&gt;Ohio&lt;/strong&gt; - Wikipedia, the free encyclopedia"/>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651593" y="68713"/>
            <a:ext cx="714375" cy="714375"/>
          </a:xfrm>
          <a:prstGeom prst="rect">
            <a:avLst/>
          </a:prstGeom>
        </p:spPr>
      </p:pic>
      <p:sp>
        <p:nvSpPr>
          <p:cNvPr id="18" name="TextBox 17"/>
          <p:cNvSpPr txBox="1"/>
          <p:nvPr/>
        </p:nvSpPr>
        <p:spPr>
          <a:xfrm>
            <a:off x="190500" y="1765301"/>
            <a:ext cx="4007230" cy="4801314"/>
          </a:xfrm>
          <a:prstGeom prst="rect">
            <a:avLst/>
          </a:prstGeom>
          <a:noFill/>
        </p:spPr>
        <p:txBody>
          <a:bodyPr wrap="square" rtlCol="0">
            <a:spAutoFit/>
          </a:bodyPr>
          <a:lstStyle/>
          <a:p>
            <a:r>
              <a:rPr lang="en-US" dirty="0"/>
              <a:t>How do you solve the problem of multiple data providers with large amounts of data that have the potential to change every 3-15 minutes?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Used a central catalog/index that references every data owner’s assets with the corresponding metadata for each sensor</a:t>
            </a:r>
          </a:p>
          <a:p>
            <a:pPr marL="285750" indent="-285750">
              <a:buFont typeface="Arial" panose="020B0604020202020204" pitchFamily="34" charset="0"/>
              <a:buChar char="•"/>
            </a:pPr>
            <a:r>
              <a:rPr lang="en-US" dirty="0"/>
              <a:t>Allowed for quick searching and discovery of available data</a:t>
            </a:r>
          </a:p>
          <a:p>
            <a:pPr marL="285750" indent="-285750">
              <a:buFont typeface="Arial" panose="020B0604020202020204" pitchFamily="34" charset="0"/>
              <a:buChar char="•"/>
            </a:pPr>
            <a:r>
              <a:rPr lang="en-US" dirty="0"/>
              <a:t>This approach is similar to how Google allows you to search the internet</a:t>
            </a:r>
          </a:p>
          <a:p>
            <a:pPr marL="285750" indent="-285750">
              <a:buFont typeface="Arial" panose="020B0604020202020204" pitchFamily="34" charset="0"/>
              <a:buChar char="•"/>
            </a:pPr>
            <a:r>
              <a:rPr lang="en-US" dirty="0"/>
              <a:t>Actual data comes from the partners systems in real-time</a:t>
            </a:r>
          </a:p>
          <a:p>
            <a:pPr marL="285750" indent="-285750">
              <a:buFont typeface="Arial" panose="020B0604020202020204" pitchFamily="34" charset="0"/>
              <a:buChar char="•"/>
            </a:pPr>
            <a:endParaRPr lang="en-US" dirty="0"/>
          </a:p>
        </p:txBody>
      </p:sp>
      <p:pic>
        <p:nvPicPr>
          <p:cNvPr id="20" name="Picture 19"/>
          <p:cNvPicPr>
            <a:picLocks noChangeAspect="1"/>
          </p:cNvPicPr>
          <p:nvPr/>
        </p:nvPicPr>
        <p:blipFill>
          <a:blip r:embed="rId9"/>
          <a:stretch>
            <a:fillRect/>
          </a:stretch>
        </p:blipFill>
        <p:spPr>
          <a:xfrm>
            <a:off x="5341046" y="1189473"/>
            <a:ext cx="6250386" cy="4434396"/>
          </a:xfrm>
          <a:prstGeom prst="rect">
            <a:avLst/>
          </a:prstGeom>
        </p:spPr>
      </p:pic>
    </p:spTree>
    <p:extLst>
      <p:ext uri="{BB962C8B-B14F-4D97-AF65-F5344CB8AC3E}">
        <p14:creationId xmlns:p14="http://schemas.microsoft.com/office/powerpoint/2010/main" val="11216808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a:xfrm>
            <a:off x="10571516" y="6033479"/>
            <a:ext cx="782283" cy="365125"/>
          </a:xfrm>
        </p:spPr>
        <p:txBody>
          <a:bodyPr vert="horz" lIns="91440" tIns="45720" rIns="91440" bIns="45720" rtlCol="0" anchor="ctr">
            <a:normAutofit/>
          </a:bodyPr>
          <a:lstStyle/>
          <a:p>
            <a:fld id="{D57F1E4F-1CFF-5643-939E-217C01CDF565}" type="slidenum">
              <a:rPr lang="en-US" sz="1050" smtClean="0">
                <a:solidFill>
                  <a:schemeClr val="tx1">
                    <a:alpha val="80000"/>
                  </a:schemeClr>
                </a:solidFill>
              </a:rPr>
              <a:pPr/>
              <a:t>13</a:t>
            </a:fld>
            <a:endParaRPr lang="en-US" sz="1050">
              <a:solidFill>
                <a:schemeClr val="tx1">
                  <a:alpha val="80000"/>
                </a:schemeClr>
              </a:solidFill>
            </a:endParaRPr>
          </a:p>
        </p:txBody>
      </p:sp>
      <p:sp>
        <p:nvSpPr>
          <p:cNvPr id="8" name="Content Placeholder 2"/>
          <p:cNvSpPr>
            <a:spLocks noGrp="1"/>
          </p:cNvSpPr>
          <p:nvPr>
            <p:ph idx="1"/>
          </p:nvPr>
        </p:nvSpPr>
        <p:spPr>
          <a:xfrm>
            <a:off x="4976031" y="1137564"/>
            <a:ext cx="6377769" cy="4930246"/>
          </a:xfrm>
        </p:spPr>
        <p:txBody>
          <a:bodyPr vert="horz" lIns="91440" tIns="45720" rIns="91440" bIns="45720" rtlCol="0" anchor="ctr">
            <a:normAutofit/>
          </a:bodyPr>
          <a:lstStyle/>
          <a:p>
            <a:pPr lvl="1" indent="-228600">
              <a:lnSpc>
                <a:spcPct val="70000"/>
              </a:lnSpc>
            </a:pPr>
            <a:r>
              <a:rPr lang="en-US" sz="2800" b="1" dirty="0" err="1"/>
              <a:t>GetOrganizations</a:t>
            </a:r>
            <a:r>
              <a:rPr lang="en-US" sz="2800" dirty="0"/>
              <a:t>:  </a:t>
            </a:r>
            <a:r>
              <a:rPr lang="en-US" sz="2400" dirty="0"/>
              <a:t>Returns who is providing data with their endpoints</a:t>
            </a:r>
          </a:p>
          <a:p>
            <a:pPr lvl="1" indent="-228600">
              <a:lnSpc>
                <a:spcPct val="70000"/>
              </a:lnSpc>
            </a:pPr>
            <a:endParaRPr lang="en-US" sz="2800" dirty="0"/>
          </a:p>
          <a:p>
            <a:pPr lvl="1" indent="-228600">
              <a:lnSpc>
                <a:spcPct val="70000"/>
              </a:lnSpc>
            </a:pPr>
            <a:r>
              <a:rPr lang="en-US" sz="2800" b="1" dirty="0" err="1"/>
              <a:t>AvailableParameters</a:t>
            </a:r>
            <a:r>
              <a:rPr lang="en-US" sz="2800" dirty="0"/>
              <a:t>: </a:t>
            </a:r>
            <a:r>
              <a:rPr lang="en-US" sz="2400" dirty="0"/>
              <a:t>What parameters can be queried </a:t>
            </a:r>
          </a:p>
          <a:p>
            <a:pPr lvl="1" indent="-228600">
              <a:lnSpc>
                <a:spcPct val="70000"/>
              </a:lnSpc>
            </a:pPr>
            <a:endParaRPr lang="en-US" sz="2400" dirty="0"/>
          </a:p>
          <a:p>
            <a:pPr lvl="1" indent="-228600">
              <a:lnSpc>
                <a:spcPct val="70000"/>
              </a:lnSpc>
            </a:pPr>
            <a:r>
              <a:rPr lang="en-US" sz="2800" b="1" dirty="0" err="1"/>
              <a:t>GetSensors</a:t>
            </a:r>
            <a:r>
              <a:rPr lang="en-US" sz="2800" b="1" dirty="0"/>
              <a:t>:</a:t>
            </a:r>
            <a:r>
              <a:rPr lang="en-US" sz="2400" dirty="0"/>
              <a:t> Gets the sensor information and provides different methods for querying sensors (i.e. by county, by HUC, by buffer, by a bounding box, upstream, and downstream)</a:t>
            </a:r>
          </a:p>
          <a:p>
            <a:pPr marL="210312" lvl="1" indent="0">
              <a:lnSpc>
                <a:spcPct val="70000"/>
              </a:lnSpc>
              <a:buNone/>
            </a:pPr>
            <a:endParaRPr lang="en-US" sz="2400" dirty="0"/>
          </a:p>
          <a:p>
            <a:pPr lvl="1" indent="-228600">
              <a:lnSpc>
                <a:spcPct val="70000"/>
              </a:lnSpc>
            </a:pPr>
            <a:r>
              <a:rPr lang="en-US" sz="2800" dirty="0"/>
              <a:t> </a:t>
            </a:r>
            <a:r>
              <a:rPr lang="en-US" sz="2800" b="1" dirty="0" err="1"/>
              <a:t>GetSensorParameters</a:t>
            </a:r>
            <a:r>
              <a:rPr lang="en-US" sz="2800" dirty="0"/>
              <a:t>: </a:t>
            </a:r>
            <a:r>
              <a:rPr lang="en-US" sz="2400" dirty="0"/>
              <a:t>Gets parameters for a sensor, including the period of record</a:t>
            </a:r>
          </a:p>
          <a:p>
            <a:pPr marL="210312" lvl="1" indent="0">
              <a:lnSpc>
                <a:spcPct val="70000"/>
              </a:lnSpc>
              <a:buNone/>
            </a:pPr>
            <a:endParaRPr lang="en-US" sz="2400" dirty="0"/>
          </a:p>
          <a:p>
            <a:pPr lvl="1" indent="-228600">
              <a:lnSpc>
                <a:spcPct val="70000"/>
              </a:lnSpc>
            </a:pPr>
            <a:r>
              <a:rPr lang="en-US" sz="2800" b="1" dirty="0" err="1"/>
              <a:t>GetOrganizationParameters</a:t>
            </a:r>
            <a:r>
              <a:rPr lang="en-US" sz="2800" dirty="0"/>
              <a:t>:  </a:t>
            </a:r>
            <a:r>
              <a:rPr lang="en-US" sz="2400" dirty="0"/>
              <a:t>Gets the parameters for an entire Organization</a:t>
            </a:r>
          </a:p>
          <a:p>
            <a:pPr lvl="1" indent="-228600">
              <a:lnSpc>
                <a:spcPct val="70000"/>
              </a:lnSpc>
            </a:pPr>
            <a:endParaRPr lang="en-US" sz="2000" dirty="0"/>
          </a:p>
          <a:p>
            <a:pPr marL="457207" lvl="1" indent="-228600">
              <a:lnSpc>
                <a:spcPct val="70000"/>
              </a:lnSpc>
            </a:pPr>
            <a:endParaRPr lang="en-US" sz="2000" dirty="0"/>
          </a:p>
        </p:txBody>
      </p:sp>
      <p:sp>
        <p:nvSpPr>
          <p:cNvPr id="7" name="Title 1"/>
          <p:cNvSpPr txBox="1">
            <a:spLocks/>
          </p:cNvSpPr>
          <p:nvPr/>
        </p:nvSpPr>
        <p:spPr>
          <a:xfrm>
            <a:off x="838200" y="963877"/>
            <a:ext cx="3494362" cy="4930246"/>
          </a:xfrm>
          <a:prstGeom prst="rect">
            <a:avLst/>
          </a:prstGeom>
        </p:spPr>
        <p:txBody>
          <a:bodyPr vert="horz" lIns="91440" tIns="45720" rIns="91440" bIns="45720" rtlCol="0" anchor="ctr">
            <a:normAutofit/>
          </a:bodyPr>
          <a:lst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defTabSz="914400">
              <a:lnSpc>
                <a:spcPct val="90000"/>
              </a:lnSpc>
            </a:pPr>
            <a:r>
              <a:rPr lang="en-US" sz="4400" dirty="0">
                <a:solidFill>
                  <a:schemeClr val="accent1"/>
                </a:solidFill>
              </a:rPr>
              <a:t>Underlying Catalog Services</a:t>
            </a:r>
          </a:p>
          <a:p>
            <a:pPr algn="r" defTabSz="914400">
              <a:lnSpc>
                <a:spcPct val="90000"/>
              </a:lnSpc>
            </a:pPr>
            <a:r>
              <a:rPr lang="en-US" sz="4400" dirty="0">
                <a:solidFill>
                  <a:schemeClr val="accent1"/>
                </a:solidFill>
              </a:rPr>
              <a:t>IWN Defined</a:t>
            </a:r>
          </a:p>
        </p:txBody>
      </p:sp>
    </p:spTree>
    <p:extLst>
      <p:ext uri="{BB962C8B-B14F-4D97-AF65-F5344CB8AC3E}">
        <p14:creationId xmlns:p14="http://schemas.microsoft.com/office/powerpoint/2010/main" val="2830142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1"/>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a:xfrm>
            <a:off x="10571516" y="6033479"/>
            <a:ext cx="782283" cy="365125"/>
          </a:xfrm>
        </p:spPr>
        <p:txBody>
          <a:bodyPr vert="horz" lIns="91440" tIns="45720" rIns="91440" bIns="45720" rtlCol="0" anchor="ctr">
            <a:normAutofit/>
          </a:bodyPr>
          <a:lstStyle/>
          <a:p>
            <a:fld id="{D57F1E4F-1CFF-5643-939E-217C01CDF565}" type="slidenum">
              <a:rPr lang="en-US" sz="1050" smtClean="0">
                <a:solidFill>
                  <a:schemeClr val="tx1">
                    <a:alpha val="80000"/>
                  </a:schemeClr>
                </a:solidFill>
              </a:rPr>
              <a:pPr/>
              <a:t>14</a:t>
            </a:fld>
            <a:endParaRPr lang="en-US" sz="1050">
              <a:solidFill>
                <a:schemeClr val="tx1">
                  <a:alpha val="80000"/>
                </a:schemeClr>
              </a:solidFill>
            </a:endParaRPr>
          </a:p>
        </p:txBody>
      </p:sp>
      <p:sp>
        <p:nvSpPr>
          <p:cNvPr id="8" name="Content Placeholder 2"/>
          <p:cNvSpPr>
            <a:spLocks noGrp="1"/>
          </p:cNvSpPr>
          <p:nvPr>
            <p:ph idx="1"/>
          </p:nvPr>
        </p:nvSpPr>
        <p:spPr>
          <a:xfrm>
            <a:off x="4976031" y="963877"/>
            <a:ext cx="6377769" cy="4930246"/>
          </a:xfrm>
        </p:spPr>
        <p:txBody>
          <a:bodyPr vert="horz" lIns="91440" tIns="45720" rIns="91440" bIns="45720" rtlCol="0" anchor="ctr">
            <a:normAutofit/>
          </a:bodyPr>
          <a:lstStyle/>
          <a:p>
            <a:pPr marL="0" indent="0">
              <a:lnSpc>
                <a:spcPct val="70000"/>
              </a:lnSpc>
              <a:buNone/>
            </a:pPr>
            <a:r>
              <a:rPr lang="en-US" sz="3200" b="1" dirty="0"/>
              <a:t>Each endpoint supports Sensor Observation Service in XML format (WaterML2)</a:t>
            </a:r>
          </a:p>
          <a:p>
            <a:pPr marL="0" indent="0">
              <a:lnSpc>
                <a:spcPct val="70000"/>
              </a:lnSpc>
              <a:buNone/>
            </a:pPr>
            <a:endParaRPr lang="en-US" sz="3200" b="1" dirty="0"/>
          </a:p>
          <a:p>
            <a:pPr lvl="1" indent="-228600">
              <a:lnSpc>
                <a:spcPct val="70000"/>
              </a:lnSpc>
            </a:pPr>
            <a:r>
              <a:rPr lang="en-US" sz="2800" b="1" dirty="0" err="1"/>
              <a:t>GetObservation</a:t>
            </a:r>
            <a:r>
              <a:rPr lang="en-US" sz="2000" dirty="0"/>
              <a:t>: </a:t>
            </a:r>
            <a:r>
              <a:rPr lang="en-US" sz="2400" dirty="0"/>
              <a:t>Gets the most recent data or retrieves a collection of data</a:t>
            </a:r>
          </a:p>
          <a:p>
            <a:pPr lvl="1" indent="-228600">
              <a:lnSpc>
                <a:spcPct val="70000"/>
              </a:lnSpc>
            </a:pPr>
            <a:endParaRPr lang="en-US" sz="2000" dirty="0"/>
          </a:p>
          <a:p>
            <a:pPr lvl="1" indent="-228600">
              <a:lnSpc>
                <a:spcPct val="70000"/>
              </a:lnSpc>
            </a:pPr>
            <a:r>
              <a:rPr lang="en-US" sz="2800" b="1" dirty="0" err="1"/>
              <a:t>GetCapabilities</a:t>
            </a:r>
            <a:r>
              <a:rPr lang="en-US" sz="2000" dirty="0"/>
              <a:t>: </a:t>
            </a:r>
            <a:r>
              <a:rPr lang="en-US" sz="2400" dirty="0"/>
              <a:t>Getting all the metadata from the endpoint</a:t>
            </a:r>
          </a:p>
          <a:p>
            <a:pPr lvl="1" indent="-228600">
              <a:lnSpc>
                <a:spcPct val="70000"/>
              </a:lnSpc>
            </a:pPr>
            <a:endParaRPr lang="en-US" sz="2000" dirty="0"/>
          </a:p>
          <a:p>
            <a:pPr lvl="1" indent="-228600">
              <a:lnSpc>
                <a:spcPct val="70000"/>
              </a:lnSpc>
            </a:pPr>
            <a:r>
              <a:rPr lang="en-US" sz="2800" b="1" dirty="0" err="1"/>
              <a:t>DescribeSensor</a:t>
            </a:r>
            <a:r>
              <a:rPr lang="en-US" sz="2000" dirty="0"/>
              <a:t>: </a:t>
            </a:r>
            <a:r>
              <a:rPr lang="en-US" sz="2400" dirty="0"/>
              <a:t>Describes the sensor</a:t>
            </a:r>
          </a:p>
          <a:p>
            <a:pPr marL="457207" lvl="1" indent="-228600">
              <a:lnSpc>
                <a:spcPct val="70000"/>
              </a:lnSpc>
            </a:pPr>
            <a:endParaRPr lang="en-US" sz="2000" dirty="0"/>
          </a:p>
          <a:p>
            <a:pPr marL="457207" lvl="1" indent="-228600">
              <a:lnSpc>
                <a:spcPct val="70000"/>
              </a:lnSpc>
            </a:pPr>
            <a:endParaRPr lang="en-US" sz="2000" dirty="0"/>
          </a:p>
          <a:p>
            <a:pPr marL="457207" lvl="1" indent="-228600">
              <a:lnSpc>
                <a:spcPct val="70000"/>
              </a:lnSpc>
            </a:pPr>
            <a:endParaRPr lang="en-US" sz="2000" dirty="0"/>
          </a:p>
        </p:txBody>
      </p:sp>
      <p:sp>
        <p:nvSpPr>
          <p:cNvPr id="7" name="Title 1"/>
          <p:cNvSpPr txBox="1">
            <a:spLocks/>
          </p:cNvSpPr>
          <p:nvPr/>
        </p:nvSpPr>
        <p:spPr>
          <a:xfrm>
            <a:off x="838200" y="963877"/>
            <a:ext cx="3494362" cy="4930246"/>
          </a:xfrm>
          <a:prstGeom prst="rect">
            <a:avLst/>
          </a:prstGeom>
        </p:spPr>
        <p:txBody>
          <a:bodyPr vert="horz" lIns="91440" tIns="45720" rIns="91440" bIns="45720" rtlCol="0" anchor="ctr">
            <a:normAutofit/>
          </a:bodyPr>
          <a:lst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defTabSz="914400">
              <a:lnSpc>
                <a:spcPct val="90000"/>
              </a:lnSpc>
            </a:pPr>
            <a:r>
              <a:rPr lang="en-US" sz="4400" dirty="0">
                <a:solidFill>
                  <a:schemeClr val="accent1"/>
                </a:solidFill>
              </a:rPr>
              <a:t>OGC Defined Services </a:t>
            </a:r>
          </a:p>
          <a:p>
            <a:pPr algn="r" defTabSz="914400">
              <a:lnSpc>
                <a:spcPct val="90000"/>
              </a:lnSpc>
            </a:pPr>
            <a:r>
              <a:rPr lang="en-US" sz="4400" dirty="0">
                <a:solidFill>
                  <a:schemeClr val="accent1"/>
                </a:solidFill>
              </a:rPr>
              <a:t>(SOS 2)</a:t>
            </a:r>
          </a:p>
        </p:txBody>
      </p:sp>
    </p:spTree>
    <p:extLst>
      <p:ext uri="{BB962C8B-B14F-4D97-AF65-F5344CB8AC3E}">
        <p14:creationId xmlns:p14="http://schemas.microsoft.com/office/powerpoint/2010/main" val="675570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28"/>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960120" y="0"/>
            <a:ext cx="11218661" cy="6858000"/>
          </a:xfrm>
          <a:custGeom>
            <a:avLst/>
            <a:gdLst>
              <a:gd name="connsiteX0" fmla="*/ 0 w 11218661"/>
              <a:gd name="connsiteY0" fmla="*/ 0 h 6858000"/>
              <a:gd name="connsiteX1" fmla="*/ 8042507 w 11218661"/>
              <a:gd name="connsiteY1" fmla="*/ 0 h 6858000"/>
              <a:gd name="connsiteX2" fmla="*/ 11218661 w 11218661"/>
              <a:gd name="connsiteY2" fmla="*/ 6858000 h 6858000"/>
              <a:gd name="connsiteX3" fmla="*/ 0 w 1121866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218661" h="6858000">
                <a:moveTo>
                  <a:pt x="0" y="0"/>
                </a:moveTo>
                <a:lnTo>
                  <a:pt x="8042507" y="0"/>
                </a:lnTo>
                <a:lnTo>
                  <a:pt x="11218661" y="6858000"/>
                </a:lnTo>
                <a:lnTo>
                  <a:pt x="0" y="6858000"/>
                </a:lnTo>
                <a:close/>
              </a:path>
            </a:pathLst>
          </a:cu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26"/>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407030" y="0"/>
            <a:ext cx="10771752" cy="6858000"/>
          </a:xfrm>
          <a:custGeom>
            <a:avLst/>
            <a:gdLst>
              <a:gd name="connsiteX0" fmla="*/ 0 w 10771752"/>
              <a:gd name="connsiteY0" fmla="*/ 0 h 6858000"/>
              <a:gd name="connsiteX1" fmla="*/ 7595598 w 10771752"/>
              <a:gd name="connsiteY1" fmla="*/ 0 h 6858000"/>
              <a:gd name="connsiteX2" fmla="*/ 10771752 w 10771752"/>
              <a:gd name="connsiteY2" fmla="*/ 6858000 h 6858000"/>
              <a:gd name="connsiteX3" fmla="*/ 0 w 1077175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771752" h="6858000">
                <a:moveTo>
                  <a:pt x="0" y="0"/>
                </a:moveTo>
                <a:lnTo>
                  <a:pt x="7595598" y="0"/>
                </a:lnTo>
                <a:lnTo>
                  <a:pt x="10771752" y="6858000"/>
                </a:lnTo>
                <a:lnTo>
                  <a:pt x="0" y="685800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p:cNvPicPr>
            <a:picLocks noChangeAspect="1"/>
          </p:cNvPicPr>
          <p:nvPr/>
        </p:nvPicPr>
        <p:blipFill>
          <a:blip r:embed="rId2"/>
          <a:stretch>
            <a:fillRect/>
          </a:stretch>
        </p:blipFill>
        <p:spPr>
          <a:xfrm>
            <a:off x="626042" y="642988"/>
            <a:ext cx="3133992" cy="5571543"/>
          </a:xfrm>
          <a:prstGeom prst="rect">
            <a:avLst/>
          </a:prstGeom>
        </p:spPr>
      </p:pic>
      <p:sp>
        <p:nvSpPr>
          <p:cNvPr id="2" name="Title 1"/>
          <p:cNvSpPr>
            <a:spLocks noGrp="1"/>
          </p:cNvSpPr>
          <p:nvPr>
            <p:ph type="title"/>
          </p:nvPr>
        </p:nvSpPr>
        <p:spPr>
          <a:xfrm>
            <a:off x="4384039" y="365125"/>
            <a:ext cx="7164493" cy="1325563"/>
          </a:xfrm>
        </p:spPr>
        <p:txBody>
          <a:bodyPr>
            <a:normAutofit/>
          </a:bodyPr>
          <a:lstStyle/>
          <a:p>
            <a:r>
              <a:rPr lang="en-US">
                <a:solidFill>
                  <a:schemeClr val="bg1"/>
                </a:solidFill>
              </a:rPr>
              <a:t>IWN’s Open Architecture Allows Other Possibilities</a:t>
            </a:r>
          </a:p>
        </p:txBody>
      </p:sp>
      <p:sp>
        <p:nvSpPr>
          <p:cNvPr id="3" name="Content Placeholder 2"/>
          <p:cNvSpPr>
            <a:spLocks noGrp="1"/>
          </p:cNvSpPr>
          <p:nvPr>
            <p:ph idx="1"/>
          </p:nvPr>
        </p:nvSpPr>
        <p:spPr>
          <a:xfrm>
            <a:off x="4387515" y="2022601"/>
            <a:ext cx="7161017" cy="4154361"/>
          </a:xfrm>
        </p:spPr>
        <p:txBody>
          <a:bodyPr>
            <a:normAutofit/>
          </a:bodyPr>
          <a:lstStyle/>
          <a:p>
            <a:r>
              <a:rPr lang="en-US" sz="2000" dirty="0">
                <a:solidFill>
                  <a:schemeClr val="bg1"/>
                </a:solidFill>
              </a:rPr>
              <a:t>IWN is built using an open architecture, meaning that all the functionality you see in the demonstration tool is also available as a corresponding </a:t>
            </a:r>
            <a:r>
              <a:rPr lang="en-US" sz="2000" b="1" dirty="0">
                <a:solidFill>
                  <a:schemeClr val="bg1"/>
                </a:solidFill>
              </a:rPr>
              <a:t>Web Service</a:t>
            </a:r>
            <a:r>
              <a:rPr lang="en-US" sz="2000" dirty="0">
                <a:solidFill>
                  <a:schemeClr val="bg1"/>
                </a:solidFill>
              </a:rPr>
              <a:t> or </a:t>
            </a:r>
            <a:r>
              <a:rPr lang="en-US" sz="2000" b="1" dirty="0">
                <a:solidFill>
                  <a:schemeClr val="bg1"/>
                </a:solidFill>
              </a:rPr>
              <a:t>Application Program Interface (API)</a:t>
            </a:r>
            <a:endParaRPr lang="en-US" sz="2000" dirty="0">
              <a:solidFill>
                <a:schemeClr val="bg1"/>
              </a:solidFill>
            </a:endParaRPr>
          </a:p>
          <a:p>
            <a:r>
              <a:rPr lang="en-US" sz="2000" dirty="0">
                <a:solidFill>
                  <a:schemeClr val="bg1"/>
                </a:solidFill>
              </a:rPr>
              <a:t>Enables for other apps to be developed (like mobile apps)</a:t>
            </a:r>
          </a:p>
          <a:p>
            <a:r>
              <a:rPr lang="en-US" sz="2000" dirty="0">
                <a:solidFill>
                  <a:schemeClr val="bg1"/>
                </a:solidFill>
              </a:rPr>
              <a:t>Also allows for other third-party applications (like Excel) to be able to directly interact with the data without having to go to a website and ‘download’ the data</a:t>
            </a:r>
          </a:p>
        </p:txBody>
      </p:sp>
      <p:sp>
        <p:nvSpPr>
          <p:cNvPr id="6" name="Slide Number Placeholder 5"/>
          <p:cNvSpPr>
            <a:spLocks noGrp="1"/>
          </p:cNvSpPr>
          <p:nvPr>
            <p:ph type="sldNum" sz="quarter" idx="12"/>
          </p:nvPr>
        </p:nvSpPr>
        <p:spPr>
          <a:xfrm>
            <a:off x="8610600" y="6356350"/>
            <a:ext cx="2743200" cy="365125"/>
          </a:xfrm>
        </p:spPr>
        <p:txBody>
          <a:bodyPr anchor="ctr">
            <a:normAutofit/>
          </a:bodyPr>
          <a:lstStyle/>
          <a:p>
            <a:fld id="{9CD8D479-8942-46E8-A226-A4E01F7A105C}" type="slidenum">
              <a:rPr lang="en-US" smtClean="0">
                <a:solidFill>
                  <a:schemeClr val="bg1">
                    <a:alpha val="80000"/>
                  </a:schemeClr>
                </a:solidFill>
              </a:rPr>
              <a:pPr/>
              <a:t>15</a:t>
            </a:fld>
            <a:endParaRPr lang="en-US">
              <a:solidFill>
                <a:schemeClr val="bg1">
                  <a:alpha val="80000"/>
                </a:schemeClr>
              </a:solidFill>
            </a:endParaRPr>
          </a:p>
        </p:txBody>
      </p:sp>
    </p:spTree>
    <p:extLst>
      <p:ext uri="{BB962C8B-B14F-4D97-AF65-F5344CB8AC3E}">
        <p14:creationId xmlns:p14="http://schemas.microsoft.com/office/powerpoint/2010/main" val="4163770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l="9091" t="13243" b="10148"/>
          <a:stretch/>
        </p:blipFill>
        <p:spPr>
          <a:xfrm>
            <a:off x="20" y="10"/>
            <a:ext cx="12191980" cy="6857989"/>
          </a:xfrm>
          <a:prstGeom prst="rect">
            <a:avLst/>
          </a:prstGeom>
        </p:spPr>
      </p:pic>
      <p:sp useBgFill="1">
        <p:nvSpPr>
          <p:cNvPr id="10" name="Freeform 6"/>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095999" y="546184"/>
            <a:ext cx="5607463" cy="5628660"/>
          </a:xfrm>
          <a:custGeom>
            <a:avLst/>
            <a:gdLst/>
            <a:ahLst/>
            <a:cxnLst/>
            <a:rect l="l" t="t" r="r" b="b"/>
            <a:pathLst>
              <a:path w="6332416" h="5838454">
                <a:moveTo>
                  <a:pt x="63624" y="0"/>
                </a:moveTo>
                <a:lnTo>
                  <a:pt x="82337" y="0"/>
                </a:lnTo>
                <a:lnTo>
                  <a:pt x="6250080" y="0"/>
                </a:lnTo>
                <a:lnTo>
                  <a:pt x="6268793" y="0"/>
                </a:lnTo>
                <a:lnTo>
                  <a:pt x="6283763" y="5614"/>
                </a:lnTo>
                <a:lnTo>
                  <a:pt x="6294991" y="11228"/>
                </a:lnTo>
                <a:lnTo>
                  <a:pt x="6309961" y="16842"/>
                </a:lnTo>
                <a:lnTo>
                  <a:pt x="6317446" y="28069"/>
                </a:lnTo>
                <a:lnTo>
                  <a:pt x="6324931" y="36490"/>
                </a:lnTo>
                <a:lnTo>
                  <a:pt x="6332416" y="47718"/>
                </a:lnTo>
                <a:lnTo>
                  <a:pt x="6332416" y="61752"/>
                </a:lnTo>
                <a:lnTo>
                  <a:pt x="6332416" y="2646984"/>
                </a:lnTo>
                <a:lnTo>
                  <a:pt x="6332416" y="2661018"/>
                </a:lnTo>
                <a:lnTo>
                  <a:pt x="6332416" y="2913585"/>
                </a:lnTo>
                <a:lnTo>
                  <a:pt x="6332416" y="2927620"/>
                </a:lnTo>
                <a:lnTo>
                  <a:pt x="6332416" y="5512851"/>
                </a:lnTo>
                <a:lnTo>
                  <a:pt x="6332416" y="5526886"/>
                </a:lnTo>
                <a:lnTo>
                  <a:pt x="6324931" y="5538114"/>
                </a:lnTo>
                <a:lnTo>
                  <a:pt x="6317446" y="5546534"/>
                </a:lnTo>
                <a:lnTo>
                  <a:pt x="6309961" y="5557762"/>
                </a:lnTo>
                <a:lnTo>
                  <a:pt x="6294991" y="5563376"/>
                </a:lnTo>
                <a:lnTo>
                  <a:pt x="6283763" y="5568990"/>
                </a:lnTo>
                <a:lnTo>
                  <a:pt x="6268793" y="5574604"/>
                </a:lnTo>
                <a:lnTo>
                  <a:pt x="6250080" y="5574604"/>
                </a:lnTo>
                <a:lnTo>
                  <a:pt x="1657955" y="5574604"/>
                </a:lnTo>
                <a:lnTo>
                  <a:pt x="1328610" y="5821613"/>
                </a:lnTo>
                <a:lnTo>
                  <a:pt x="1317382" y="5827227"/>
                </a:lnTo>
                <a:lnTo>
                  <a:pt x="1302412" y="5832840"/>
                </a:lnTo>
                <a:lnTo>
                  <a:pt x="1287442" y="5838454"/>
                </a:lnTo>
                <a:lnTo>
                  <a:pt x="1272472" y="5838454"/>
                </a:lnTo>
                <a:lnTo>
                  <a:pt x="1257501" y="5838454"/>
                </a:lnTo>
                <a:lnTo>
                  <a:pt x="1242531" y="5832840"/>
                </a:lnTo>
                <a:lnTo>
                  <a:pt x="1227561" y="5827227"/>
                </a:lnTo>
                <a:lnTo>
                  <a:pt x="1216333" y="5821613"/>
                </a:lnTo>
                <a:lnTo>
                  <a:pt x="886988" y="5574604"/>
                </a:lnTo>
                <a:lnTo>
                  <a:pt x="82337" y="5574604"/>
                </a:lnTo>
                <a:lnTo>
                  <a:pt x="63624" y="5574604"/>
                </a:lnTo>
                <a:lnTo>
                  <a:pt x="48654" y="5568990"/>
                </a:lnTo>
                <a:lnTo>
                  <a:pt x="37426" y="5563376"/>
                </a:lnTo>
                <a:lnTo>
                  <a:pt x="22456" y="5557762"/>
                </a:lnTo>
                <a:lnTo>
                  <a:pt x="14971" y="5546534"/>
                </a:lnTo>
                <a:lnTo>
                  <a:pt x="7485" y="5538114"/>
                </a:lnTo>
                <a:lnTo>
                  <a:pt x="0" y="5526886"/>
                </a:lnTo>
                <a:lnTo>
                  <a:pt x="0" y="5512851"/>
                </a:lnTo>
                <a:lnTo>
                  <a:pt x="0" y="2927620"/>
                </a:lnTo>
                <a:lnTo>
                  <a:pt x="0" y="2913585"/>
                </a:lnTo>
                <a:lnTo>
                  <a:pt x="0" y="2661018"/>
                </a:lnTo>
                <a:lnTo>
                  <a:pt x="0" y="2646984"/>
                </a:lnTo>
                <a:lnTo>
                  <a:pt x="0" y="61752"/>
                </a:lnTo>
                <a:lnTo>
                  <a:pt x="0" y="47718"/>
                </a:lnTo>
                <a:lnTo>
                  <a:pt x="7485" y="36490"/>
                </a:lnTo>
                <a:lnTo>
                  <a:pt x="14971" y="28069"/>
                </a:lnTo>
                <a:lnTo>
                  <a:pt x="22456" y="16842"/>
                </a:lnTo>
                <a:lnTo>
                  <a:pt x="37426" y="11228"/>
                </a:lnTo>
                <a:lnTo>
                  <a:pt x="48654" y="5614"/>
                </a:lnTo>
                <a:close/>
              </a:path>
            </a:pathLst>
          </a:custGeom>
          <a:solidFill>
            <a:schemeClr val="accent1"/>
          </a:solidFill>
          <a:ln w="19050">
            <a:solidFill>
              <a:schemeClr val="bg1"/>
            </a:solidFill>
          </a:ln>
          <a:effectLst>
            <a:outerShdw blurRad="76200" sx="101000" sy="101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412992" y="861904"/>
            <a:ext cx="4970430" cy="1144695"/>
          </a:xfrm>
        </p:spPr>
        <p:txBody>
          <a:bodyPr>
            <a:normAutofit/>
          </a:bodyPr>
          <a:lstStyle/>
          <a:p>
            <a:r>
              <a:rPr lang="en-US" sz="4000">
                <a:solidFill>
                  <a:srgbClr val="FFFFFF"/>
                </a:solidFill>
              </a:rPr>
              <a:t>Demonstration</a:t>
            </a:r>
          </a:p>
        </p:txBody>
      </p:sp>
      <p:sp>
        <p:nvSpPr>
          <p:cNvPr id="3" name="Content Placeholder 2"/>
          <p:cNvSpPr>
            <a:spLocks noGrp="1"/>
          </p:cNvSpPr>
          <p:nvPr>
            <p:ph idx="1"/>
          </p:nvPr>
        </p:nvSpPr>
        <p:spPr>
          <a:xfrm>
            <a:off x="6412992" y="2116667"/>
            <a:ext cx="4994374" cy="3493346"/>
          </a:xfrm>
        </p:spPr>
        <p:txBody>
          <a:bodyPr>
            <a:normAutofit/>
          </a:bodyPr>
          <a:lstStyle/>
          <a:p>
            <a:r>
              <a:rPr lang="en-US" sz="2000" dirty="0">
                <a:solidFill>
                  <a:srgbClr val="FFFFFF"/>
                </a:solidFill>
              </a:rPr>
              <a:t>CURRENTS is a demonstration tool</a:t>
            </a:r>
          </a:p>
          <a:p>
            <a:r>
              <a:rPr lang="en-US" sz="2000" dirty="0">
                <a:solidFill>
                  <a:srgbClr val="FFFFFF"/>
                </a:solidFill>
              </a:rPr>
              <a:t>It contains data from:</a:t>
            </a:r>
          </a:p>
          <a:p>
            <a:pPr marL="400056" lvl="1" indent="0">
              <a:buNone/>
            </a:pPr>
            <a:r>
              <a:rPr lang="en-US" dirty="0">
                <a:solidFill>
                  <a:schemeClr val="bg1"/>
                </a:solidFill>
              </a:rPr>
              <a:t>8 Partners:</a:t>
            </a:r>
          </a:p>
          <a:p>
            <a:pPr marL="685806" lvl="1" indent="-285750"/>
            <a:r>
              <a:rPr lang="en-US" sz="1600" dirty="0">
                <a:solidFill>
                  <a:schemeClr val="bg1"/>
                </a:solidFill>
              </a:rPr>
              <a:t>EPA Region 1: 2 Sensors</a:t>
            </a:r>
          </a:p>
          <a:p>
            <a:pPr marL="685806" lvl="1" indent="-285750"/>
            <a:r>
              <a:rPr lang="en-US" sz="1600" dirty="0">
                <a:solidFill>
                  <a:schemeClr val="bg1"/>
                </a:solidFill>
              </a:rPr>
              <a:t>EPA Region 7: 18 Sensors</a:t>
            </a:r>
          </a:p>
          <a:p>
            <a:pPr marL="685806" lvl="1" indent="-285750"/>
            <a:r>
              <a:rPr lang="en-US" sz="1600" dirty="0">
                <a:solidFill>
                  <a:schemeClr val="bg1"/>
                </a:solidFill>
              </a:rPr>
              <a:t>EPA Region 10: 1 Sensor</a:t>
            </a:r>
          </a:p>
          <a:p>
            <a:pPr marL="685806" lvl="1" indent="-285750"/>
            <a:r>
              <a:rPr lang="en-US" sz="1600" dirty="0">
                <a:solidFill>
                  <a:schemeClr val="bg1"/>
                </a:solidFill>
              </a:rPr>
              <a:t>EPA ORD: 3 Sensors</a:t>
            </a:r>
          </a:p>
          <a:p>
            <a:pPr marL="685806" lvl="1" indent="-285750"/>
            <a:r>
              <a:rPr lang="en-US" sz="1600" dirty="0">
                <a:solidFill>
                  <a:schemeClr val="bg1"/>
                </a:solidFill>
              </a:rPr>
              <a:t>NJ DEP: 106 Sensors</a:t>
            </a:r>
          </a:p>
          <a:p>
            <a:pPr marL="685806" lvl="1" indent="-285750"/>
            <a:r>
              <a:rPr lang="en-US" sz="1600" dirty="0">
                <a:solidFill>
                  <a:schemeClr val="bg1"/>
                </a:solidFill>
              </a:rPr>
              <a:t>NJ Meadowlands: 3 Sensors</a:t>
            </a:r>
          </a:p>
          <a:p>
            <a:pPr marL="685806" lvl="1" indent="-285750"/>
            <a:r>
              <a:rPr lang="en-US" sz="1600" dirty="0">
                <a:solidFill>
                  <a:schemeClr val="bg1"/>
                </a:solidFill>
              </a:rPr>
              <a:t>Clermont County, OH: 4 Sensors</a:t>
            </a:r>
          </a:p>
          <a:p>
            <a:pPr marL="685806" lvl="1" indent="-285750"/>
            <a:r>
              <a:rPr lang="en-US" sz="1600" dirty="0">
                <a:solidFill>
                  <a:schemeClr val="bg1"/>
                </a:solidFill>
              </a:rPr>
              <a:t>USGS: 15,541 Sensors (nationwide coverage)</a:t>
            </a:r>
          </a:p>
          <a:p>
            <a:endParaRPr lang="en-US" sz="2000" dirty="0">
              <a:solidFill>
                <a:srgbClr val="FFFFFF"/>
              </a:solidFill>
            </a:endParaRPr>
          </a:p>
        </p:txBody>
      </p:sp>
      <p:sp>
        <p:nvSpPr>
          <p:cNvPr id="4" name="Date Placeholder 3"/>
          <p:cNvSpPr>
            <a:spLocks noGrp="1"/>
          </p:cNvSpPr>
          <p:nvPr>
            <p:ph type="dt" sz="half" idx="10"/>
          </p:nvPr>
        </p:nvSpPr>
        <p:spPr>
          <a:xfrm>
            <a:off x="6092952" y="6356350"/>
            <a:ext cx="2743200" cy="365125"/>
          </a:xfrm>
        </p:spPr>
        <p:txBody>
          <a:bodyPr>
            <a:normAutofit/>
          </a:bodyPr>
          <a:lstStyle/>
          <a:p>
            <a:r>
              <a:rPr lang="en-US">
                <a:solidFill>
                  <a:srgbClr val="FFFFFF"/>
                </a:solidFill>
              </a:rPr>
              <a:t>July 22, 2012</a:t>
            </a:r>
          </a:p>
        </p:txBody>
      </p:sp>
      <p:sp>
        <p:nvSpPr>
          <p:cNvPr id="5" name="Footer Placeholder 4"/>
          <p:cNvSpPr>
            <a:spLocks noGrp="1"/>
          </p:cNvSpPr>
          <p:nvPr>
            <p:ph type="ftr" sz="quarter" idx="11"/>
          </p:nvPr>
        </p:nvSpPr>
        <p:spPr>
          <a:xfrm>
            <a:off x="758060" y="6356350"/>
            <a:ext cx="4628614" cy="365125"/>
          </a:xfrm>
        </p:spPr>
        <p:txBody>
          <a:bodyPr>
            <a:normAutofit/>
          </a:bodyPr>
          <a:lstStyle/>
          <a:p>
            <a:r>
              <a:rPr lang="en-US">
                <a:solidFill>
                  <a:srgbClr val="FFFFFF"/>
                </a:solidFill>
              </a:rPr>
              <a:t>Footer text here</a:t>
            </a:r>
          </a:p>
        </p:txBody>
      </p:sp>
      <p:sp>
        <p:nvSpPr>
          <p:cNvPr id="6" name="Slide Number Placeholder 5"/>
          <p:cNvSpPr>
            <a:spLocks noGrp="1"/>
          </p:cNvSpPr>
          <p:nvPr>
            <p:ph type="sldNum" sz="quarter" idx="12"/>
          </p:nvPr>
        </p:nvSpPr>
        <p:spPr>
          <a:xfrm>
            <a:off x="9431368" y="6356350"/>
            <a:ext cx="1922432" cy="365125"/>
          </a:xfrm>
        </p:spPr>
        <p:txBody>
          <a:bodyPr>
            <a:normAutofit/>
          </a:bodyPr>
          <a:lstStyle/>
          <a:p>
            <a:fld id="{9CD8D479-8942-46E8-A226-A4E01F7A105C}" type="slidenum">
              <a:rPr lang="en-US" smtClean="0">
                <a:solidFill>
                  <a:srgbClr val="FFFFFF"/>
                </a:solidFill>
              </a:rPr>
              <a:pPr/>
              <a:t>16</a:t>
            </a:fld>
            <a:endParaRPr lang="en-US">
              <a:solidFill>
                <a:srgbClr val="FFFFFF"/>
              </a:solidFill>
            </a:endParaRPr>
          </a:p>
        </p:txBody>
      </p:sp>
    </p:spTree>
    <p:extLst>
      <p:ext uri="{BB962C8B-B14F-4D97-AF65-F5344CB8AC3E}">
        <p14:creationId xmlns:p14="http://schemas.microsoft.com/office/powerpoint/2010/main" val="1979480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0026" y="276087"/>
            <a:ext cx="9371949" cy="1183566"/>
          </a:xfrm>
        </p:spPr>
        <p:txBody>
          <a:bodyPr/>
          <a:lstStyle/>
          <a:p>
            <a:r>
              <a:rPr lang="en-US" dirty="0"/>
              <a:t>Next Steps</a:t>
            </a:r>
          </a:p>
        </p:txBody>
      </p:sp>
      <p:sp>
        <p:nvSpPr>
          <p:cNvPr id="3" name="Content Placeholder 2"/>
          <p:cNvSpPr>
            <a:spLocks noGrp="1"/>
          </p:cNvSpPr>
          <p:nvPr>
            <p:ph idx="1"/>
          </p:nvPr>
        </p:nvSpPr>
        <p:spPr>
          <a:xfrm>
            <a:off x="1410027" y="1566001"/>
            <a:ext cx="9371948" cy="4620682"/>
          </a:xfrm>
        </p:spPr>
        <p:txBody>
          <a:bodyPr/>
          <a:lstStyle/>
          <a:p>
            <a:r>
              <a:rPr lang="en-US" dirty="0"/>
              <a:t>Demonstration project ended in December</a:t>
            </a:r>
          </a:p>
          <a:p>
            <a:pPr lvl="1"/>
            <a:r>
              <a:rPr lang="en-US" dirty="0"/>
              <a:t>A Lessons Learned Report has been completed</a:t>
            </a:r>
          </a:p>
          <a:p>
            <a:pPr lvl="1"/>
            <a:r>
              <a:rPr lang="en-US" dirty="0"/>
              <a:t>Demonstration tool will continue to be available</a:t>
            </a:r>
          </a:p>
          <a:p>
            <a:pPr lvl="1"/>
            <a:r>
              <a:rPr lang="en-US" dirty="0"/>
              <a:t>A mobile app is being developed that leverages the services/API developed as part of this project</a:t>
            </a:r>
          </a:p>
          <a:p>
            <a:r>
              <a:rPr lang="en-US" dirty="0"/>
              <a:t>Demonstration proved to be very successful</a:t>
            </a:r>
          </a:p>
          <a:p>
            <a:pPr lvl="1"/>
            <a:r>
              <a:rPr lang="en-US" dirty="0"/>
              <a:t>Services worked better than expected</a:t>
            </a:r>
          </a:p>
          <a:p>
            <a:pPr lvl="1"/>
            <a:r>
              <a:rPr lang="en-US" dirty="0"/>
              <a:t>Ease of setting up a data appliance was simpler than anticipated</a:t>
            </a:r>
          </a:p>
          <a:p>
            <a:pPr lvl="1"/>
            <a:r>
              <a:rPr lang="en-US" dirty="0"/>
              <a:t>Ready to  move to a production-level system</a:t>
            </a:r>
          </a:p>
          <a:p>
            <a:pPr lvl="1"/>
            <a:r>
              <a:rPr lang="en-US" dirty="0"/>
              <a:t>Advanced Monitoring Team is exploring if the services and standards would work for Air data as well</a:t>
            </a:r>
          </a:p>
          <a:p>
            <a:endParaRPr lang="en-US" dirty="0"/>
          </a:p>
        </p:txBody>
      </p:sp>
      <p:sp>
        <p:nvSpPr>
          <p:cNvPr id="6" name="Slide Number Placeholder 5"/>
          <p:cNvSpPr>
            <a:spLocks noGrp="1"/>
          </p:cNvSpPr>
          <p:nvPr>
            <p:ph type="sldNum" sz="quarter" idx="12"/>
          </p:nvPr>
        </p:nvSpPr>
        <p:spPr>
          <a:xfrm>
            <a:off x="0" y="6629400"/>
            <a:ext cx="410402" cy="228600"/>
          </a:xfrm>
        </p:spPr>
        <p:txBody>
          <a:bodyPr/>
          <a:lstStyle/>
          <a:p>
            <a:fld id="{9CD8D479-8942-46E8-A226-A4E01F7A105C}" type="slidenum">
              <a:rPr lang="en-US" smtClean="0"/>
              <a:t>17</a:t>
            </a:fld>
            <a:endParaRPr lang="en-US"/>
          </a:p>
        </p:txBody>
      </p:sp>
    </p:spTree>
    <p:extLst>
      <p:ext uri="{BB962C8B-B14F-4D97-AF65-F5344CB8AC3E}">
        <p14:creationId xmlns:p14="http://schemas.microsoft.com/office/powerpoint/2010/main" val="2358931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1777" y="2263913"/>
            <a:ext cx="6949440" cy="1241287"/>
          </a:xfrm>
        </p:spPr>
        <p:txBody>
          <a:bodyPr/>
          <a:lstStyle/>
          <a:p>
            <a:r>
              <a:rPr lang="en-US" dirty="0"/>
              <a:t>QUESTIONS?</a:t>
            </a:r>
          </a:p>
        </p:txBody>
      </p:sp>
      <p:sp>
        <p:nvSpPr>
          <p:cNvPr id="3" name="Text Placeholder 2"/>
          <p:cNvSpPr>
            <a:spLocks noGrp="1"/>
          </p:cNvSpPr>
          <p:nvPr>
            <p:ph type="body" idx="1"/>
          </p:nvPr>
        </p:nvSpPr>
        <p:spPr>
          <a:xfrm>
            <a:off x="1751777" y="3505200"/>
            <a:ext cx="6949440" cy="2006600"/>
          </a:xfrm>
        </p:spPr>
        <p:txBody>
          <a:bodyPr>
            <a:normAutofit fontScale="92500" lnSpcReduction="10000"/>
          </a:bodyPr>
          <a:lstStyle/>
          <a:p>
            <a:r>
              <a:rPr lang="en-US" dirty="0"/>
              <a:t>Dwane Young</a:t>
            </a:r>
          </a:p>
          <a:p>
            <a:r>
              <a:rPr lang="en-US" dirty="0">
                <a:hlinkClick r:id="rId2"/>
              </a:rPr>
              <a:t>Young.dwane@epa.gov</a:t>
            </a:r>
            <a:endParaRPr lang="en-US" dirty="0"/>
          </a:p>
          <a:p>
            <a:r>
              <a:rPr lang="en-US" dirty="0"/>
              <a:t>202-566-1214</a:t>
            </a:r>
          </a:p>
          <a:p>
            <a:endParaRPr lang="en-US" dirty="0"/>
          </a:p>
          <a:p>
            <a:r>
              <a:rPr lang="en-US" dirty="0"/>
              <a:t>Britt Dean</a:t>
            </a:r>
          </a:p>
          <a:p>
            <a:r>
              <a:rPr lang="en-US" dirty="0">
                <a:hlinkClick r:id="rId3"/>
              </a:rPr>
              <a:t>Dean.britt@epa.gov</a:t>
            </a:r>
            <a:endParaRPr lang="en-US" dirty="0"/>
          </a:p>
          <a:p>
            <a:r>
              <a:rPr lang="en-US" dirty="0"/>
              <a:t>202-566-1020</a:t>
            </a:r>
          </a:p>
        </p:txBody>
      </p:sp>
    </p:spTree>
    <p:extLst>
      <p:ext uri="{BB962C8B-B14F-4D97-AF65-F5344CB8AC3E}">
        <p14:creationId xmlns:p14="http://schemas.microsoft.com/office/powerpoint/2010/main" val="3752628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Ecology 16x9">
  <a:themeElements>
    <a:clrScheme name="Ecology">
      <a:dk1>
        <a:srgbClr val="4D3E2F"/>
      </a:dk1>
      <a:lt1>
        <a:sysClr val="window" lastClr="FFFFFF"/>
      </a:lt1>
      <a:dk2>
        <a:srgbClr val="000000"/>
      </a:dk2>
      <a:lt2>
        <a:srgbClr val="DDDDDD"/>
      </a:lt2>
      <a:accent1>
        <a:srgbClr val="8BAA00"/>
      </a:accent1>
      <a:accent2>
        <a:srgbClr val="2A6CB2"/>
      </a:accent2>
      <a:accent3>
        <a:srgbClr val="795837"/>
      </a:accent3>
      <a:accent4>
        <a:srgbClr val="D18316"/>
      </a:accent4>
      <a:accent5>
        <a:srgbClr val="79B4F0"/>
      </a:accent5>
      <a:accent6>
        <a:srgbClr val="CDC80F"/>
      </a:accent6>
      <a:hlink>
        <a:srgbClr val="2A6CB2"/>
      </a:hlink>
      <a:folHlink>
        <a:srgbClr val="808080"/>
      </a:folHlink>
    </a:clrScheme>
    <a:fontScheme name="Corbel">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Ecology">
      <a:dk1>
        <a:srgbClr val="4D3E2F"/>
      </a:dk1>
      <a:lt1>
        <a:sysClr val="window" lastClr="FFFFFF"/>
      </a:lt1>
      <a:dk2>
        <a:srgbClr val="000000"/>
      </a:dk2>
      <a:lt2>
        <a:srgbClr val="DDDDDD"/>
      </a:lt2>
      <a:accent1>
        <a:srgbClr val="8BAA00"/>
      </a:accent1>
      <a:accent2>
        <a:srgbClr val="2A6CB2"/>
      </a:accent2>
      <a:accent3>
        <a:srgbClr val="795837"/>
      </a:accent3>
      <a:accent4>
        <a:srgbClr val="D18316"/>
      </a:accent4>
      <a:accent5>
        <a:srgbClr val="79B4F0"/>
      </a:accent5>
      <a:accent6>
        <a:srgbClr val="CDC80F"/>
      </a:accent6>
      <a:hlink>
        <a:srgbClr val="2A6CB2"/>
      </a:hlink>
      <a:folHlink>
        <a:srgbClr val="808080"/>
      </a:folHlink>
    </a:clrScheme>
    <a:fontScheme name="Corbel">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cology">
      <a:dk1>
        <a:srgbClr val="4D3E2F"/>
      </a:dk1>
      <a:lt1>
        <a:sysClr val="window" lastClr="FFFFFF"/>
      </a:lt1>
      <a:dk2>
        <a:srgbClr val="000000"/>
      </a:dk2>
      <a:lt2>
        <a:srgbClr val="DDDDDD"/>
      </a:lt2>
      <a:accent1>
        <a:srgbClr val="8BAA00"/>
      </a:accent1>
      <a:accent2>
        <a:srgbClr val="2A6CB2"/>
      </a:accent2>
      <a:accent3>
        <a:srgbClr val="795837"/>
      </a:accent3>
      <a:accent4>
        <a:srgbClr val="D18316"/>
      </a:accent4>
      <a:accent5>
        <a:srgbClr val="79B4F0"/>
      </a:accent5>
      <a:accent6>
        <a:srgbClr val="CDC80F"/>
      </a:accent6>
      <a:hlink>
        <a:srgbClr val="2A6CB2"/>
      </a:hlink>
      <a:folHlink>
        <a:srgbClr val="808080"/>
      </a:folHlink>
    </a:clrScheme>
    <a:fontScheme name="Corbel">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EsriMapsInfo xmlns="ESRI.ArcGIS.Mapping.OfficeIntegration.PowerPointInfo">
  <Version>Version1</Version>
  <RequiresSignIn>False</RequiresSignIn>
</EsriMapsInfo>
</file>

<file path=customXml/item3.xml><?xml version="1.0" encoding="utf-8"?>
<EsriMapsInfo xmlns="ESRI.ArcGIS.Mapping.OfficeIntegration.PowerPointInfo">
  <Version>Version1</Version>
  <RequiresSignIn>False</RequiresSignIn>
</EsriMapsInfo>
</file>

<file path=customXml/item4.xml><?xml version="1.0" encoding="utf-8"?>
<EsriMapsInfo xmlns="ESRI.ArcGIS.Mapping.OfficeIntegration.PowerPointInfo">
  <Version>Version1</Version>
  <RequiresSignIn>False</RequiresSignIn>
</EsriMapsInfo>
</file>

<file path=customXml/itemProps1.xml><?xml version="1.0" encoding="utf-8"?>
<ds:datastoreItem xmlns:ds="http://schemas.openxmlformats.org/officeDocument/2006/customXml" ds:itemID="{5270532A-D598-4F6B-B05D-F62B681804A2}">
  <ds:schemaRefs>
    <ds:schemaRef ds:uri="http://schemas.microsoft.com/sharepoint/v3/contenttype/forms"/>
  </ds:schemaRefs>
</ds:datastoreItem>
</file>

<file path=customXml/itemProps2.xml><?xml version="1.0" encoding="utf-8"?>
<ds:datastoreItem xmlns:ds="http://schemas.openxmlformats.org/officeDocument/2006/customXml" ds:itemID="{4A373AEB-ABA1-4F3B-8FCD-6C684E252039}">
  <ds:schemaRefs>
    <ds:schemaRef ds:uri="ESRI.ArcGIS.Mapping.OfficeIntegration.PowerPointInfo"/>
  </ds:schemaRefs>
</ds:datastoreItem>
</file>

<file path=customXml/itemProps3.xml><?xml version="1.0" encoding="utf-8"?>
<ds:datastoreItem xmlns:ds="http://schemas.openxmlformats.org/officeDocument/2006/customXml" ds:itemID="{63A12E3B-53BA-4B78-BBBB-A961D8B10185}">
  <ds:schemaRefs>
    <ds:schemaRef ds:uri="ESRI.ArcGIS.Mapping.OfficeIntegration.PowerPointInfo"/>
  </ds:schemaRefs>
</ds:datastoreItem>
</file>

<file path=customXml/itemProps4.xml><?xml version="1.0" encoding="utf-8"?>
<ds:datastoreItem xmlns:ds="http://schemas.openxmlformats.org/officeDocument/2006/customXml" ds:itemID="{E16E9797-6A02-48CE-A635-E48DA3AE0BA2}">
  <ds:schemaRefs>
    <ds:schemaRef ds:uri="ESRI.ArcGIS.Mapping.OfficeIntegration.PowerPointInfo"/>
  </ds:schemaRefs>
</ds:datastoreItem>
</file>

<file path=docProps/app.xml><?xml version="1.0" encoding="utf-8"?>
<Properties xmlns="http://schemas.openxmlformats.org/officeDocument/2006/extended-properties" xmlns:vt="http://schemas.openxmlformats.org/officeDocument/2006/docPropsVTypes">
  <Template>Nature ecology education photo presentation</Template>
  <TotalTime>0</TotalTime>
  <Words>1186</Words>
  <Application>Microsoft Office PowerPoint</Application>
  <PresentationFormat>Widescreen</PresentationFormat>
  <Paragraphs>149</Paragraphs>
  <Slides>18</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Corbel</vt:lpstr>
      <vt:lpstr>Times New Roman</vt:lpstr>
      <vt:lpstr>Ecology 16x9</vt:lpstr>
      <vt:lpstr>The Interoperable Watersheds Network</vt:lpstr>
      <vt:lpstr>Outline</vt:lpstr>
      <vt:lpstr>The World is Built on Standards!</vt:lpstr>
      <vt:lpstr>Other Examples of Standards</vt:lpstr>
      <vt:lpstr>Not a Small Problem</vt:lpstr>
      <vt:lpstr>What Would Standardized Sensor Data Enable: Better Modeling</vt:lpstr>
      <vt:lpstr>What Would Standardized Sensor Data Enable: Third-Party Applications</vt:lpstr>
      <vt:lpstr>What Would Standardized Sensor Data Enable: Quicker and Better Decisions</vt:lpstr>
      <vt:lpstr>How IWN is a Step Towards Solving These Problems</vt:lpstr>
      <vt:lpstr>The Data Standards Problem</vt:lpstr>
      <vt:lpstr>The Metadata Problem</vt:lpstr>
      <vt:lpstr>The Architecture Problem</vt:lpstr>
      <vt:lpstr>PowerPoint Presentation</vt:lpstr>
      <vt:lpstr>PowerPoint Presentation</vt:lpstr>
      <vt:lpstr>IWN’s Open Architecture Allows Other Possibilities</vt:lpstr>
      <vt:lpstr>Demonstration</vt:lpstr>
      <vt:lpstr>Next Steps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Interoperable Watersheds Network</dc:title>
  <dc:creator/>
  <cp:keywords/>
  <cp:lastModifiedBy/>
  <cp:revision>2</cp:revision>
  <dcterms:created xsi:type="dcterms:W3CDTF">2017-02-13T14:36:32Z</dcterms:created>
  <dcterms:modified xsi:type="dcterms:W3CDTF">2017-06-22T13:18:27Z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TC030988899991</vt:lpwstr>
  </property>
</Properties>
</file>