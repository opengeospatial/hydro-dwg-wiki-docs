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6" r:id="rId1"/>
  </p:sldMasterIdLst>
  <p:notesMasterIdLst>
    <p:notesMasterId r:id="rId12"/>
  </p:notesMasterIdLst>
  <p:handoutMasterIdLst>
    <p:handoutMasterId r:id="rId13"/>
  </p:handoutMasterIdLst>
  <p:sldIdLst>
    <p:sldId id="408" r:id="rId2"/>
    <p:sldId id="438" r:id="rId3"/>
    <p:sldId id="470" r:id="rId4"/>
    <p:sldId id="449" r:id="rId5"/>
    <p:sldId id="473" r:id="rId6"/>
    <p:sldId id="460" r:id="rId7"/>
    <p:sldId id="472" r:id="rId8"/>
    <p:sldId id="467" r:id="rId9"/>
    <p:sldId id="474" r:id="rId10"/>
    <p:sldId id="461" r:id="rId11"/>
  </p:sldIdLst>
  <p:sldSz cx="10691813" cy="7559675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EAEF"/>
    <a:srgbClr val="4DB6C6"/>
    <a:srgbClr val="0097AE"/>
    <a:srgbClr val="6AB8C2"/>
    <a:srgbClr val="4C91AA"/>
    <a:srgbClr val="CCDDE6"/>
    <a:srgbClr val="EAEAEA"/>
    <a:srgbClr val="ABD5FF"/>
    <a:srgbClr val="B3E7B9"/>
    <a:srgbClr val="D7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705" autoAdjust="0"/>
  </p:normalViewPr>
  <p:slideViewPr>
    <p:cSldViewPr>
      <p:cViewPr varScale="1">
        <p:scale>
          <a:sx n="71" d="100"/>
          <a:sy n="71" d="100"/>
        </p:scale>
        <p:origin x="-346" y="-77"/>
      </p:cViewPr>
      <p:guideLst>
        <p:guide orient="horz" pos="192"/>
        <p:guide orient="horz" pos="4560"/>
        <p:guide orient="horz" pos="816"/>
        <p:guide orient="horz" pos="3984"/>
        <p:guide orient="horz" pos="1872"/>
        <p:guide orient="horz" pos="2928"/>
        <p:guide pos="192"/>
        <p:guide pos="6528"/>
        <p:guide pos="816"/>
        <p:guide pos="5856"/>
        <p:guide pos="2496"/>
        <p:guide pos="4176"/>
        <p:guide pos="5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1902" y="-90"/>
      </p:cViewPr>
      <p:guideLst>
        <p:guide orient="horz" pos="3126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4342" cy="49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83" tIns="46091" rIns="92183" bIns="46091" numCol="1" anchor="t" anchorCtr="0" compatLnSpc="1">
            <a:prstTxWarp prst="textNoShape">
              <a:avLst/>
            </a:prstTxWarp>
          </a:bodyPr>
          <a:lstStyle>
            <a:lvl1pPr defTabSz="922131">
              <a:defRPr sz="1200"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3335" y="1"/>
            <a:ext cx="2944341" cy="49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83" tIns="46091" rIns="92183" bIns="46091" numCol="1" anchor="t" anchorCtr="0" compatLnSpc="1">
            <a:prstTxWarp prst="textNoShape">
              <a:avLst/>
            </a:prstTxWarp>
          </a:bodyPr>
          <a:lstStyle>
            <a:lvl1pPr algn="r" defTabSz="922131">
              <a:defRPr sz="1200"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306"/>
            <a:ext cx="2944342" cy="49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83" tIns="46091" rIns="92183" bIns="46091" numCol="1" anchor="b" anchorCtr="0" compatLnSpc="1">
            <a:prstTxWarp prst="textNoShape">
              <a:avLst/>
            </a:prstTxWarp>
          </a:bodyPr>
          <a:lstStyle>
            <a:lvl1pPr defTabSz="922131">
              <a:defRPr sz="1200"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3335" y="9429306"/>
            <a:ext cx="2944341" cy="49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83" tIns="46091" rIns="92183" bIns="46091" numCol="1" anchor="b" anchorCtr="0" compatLnSpc="1">
            <a:prstTxWarp prst="textNoShape">
              <a:avLst/>
            </a:prstTxWarp>
          </a:bodyPr>
          <a:lstStyle>
            <a:lvl1pPr algn="r" defTabSz="922131">
              <a:defRPr sz="1200"/>
            </a:lvl1pPr>
          </a:lstStyle>
          <a:p>
            <a:pPr>
              <a:defRPr/>
            </a:pPr>
            <a:fld id="{809AC553-BF9B-4D34-BBBF-F7C2045A010E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299987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4342" cy="49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83" tIns="46091" rIns="92183" bIns="46091" numCol="1" anchor="t" anchorCtr="0" compatLnSpc="1">
            <a:prstTxWarp prst="textNoShape">
              <a:avLst/>
            </a:prstTxWarp>
          </a:bodyPr>
          <a:lstStyle>
            <a:lvl1pPr defTabSz="92213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335" y="1"/>
            <a:ext cx="2944341" cy="49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83" tIns="46091" rIns="92183" bIns="46091" numCol="1" anchor="t" anchorCtr="0" compatLnSpc="1">
            <a:prstTxWarp prst="textNoShape">
              <a:avLst/>
            </a:prstTxWarp>
          </a:bodyPr>
          <a:lstStyle>
            <a:lvl1pPr algn="r" defTabSz="92213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68350" y="744538"/>
            <a:ext cx="526415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432" y="4716193"/>
            <a:ext cx="4988812" cy="4466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83" tIns="46091" rIns="92183" bIns="460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smtClean="0"/>
              <a:t>Klicken Sie, um die Formate des Vorlagentextes zu bearbeiten</a:t>
            </a:r>
          </a:p>
          <a:p>
            <a:pPr lvl="1"/>
            <a:r>
              <a:rPr lang="de-DE" altLang="de-DE" noProof="0" smtClean="0"/>
              <a:t>Zweite Ebene</a:t>
            </a:r>
          </a:p>
          <a:p>
            <a:pPr lvl="2"/>
            <a:r>
              <a:rPr lang="de-DE" altLang="de-DE" noProof="0" smtClean="0"/>
              <a:t>Dritte Ebene</a:t>
            </a:r>
          </a:p>
          <a:p>
            <a:pPr lvl="3"/>
            <a:r>
              <a:rPr lang="de-DE" altLang="de-DE" noProof="0" smtClean="0"/>
              <a:t>Vierte Ebene</a:t>
            </a:r>
          </a:p>
          <a:p>
            <a:pPr lvl="4"/>
            <a:r>
              <a:rPr lang="de-DE" altLang="de-DE" noProof="0" smtClean="0"/>
              <a:t>Fünfte Ebene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306"/>
            <a:ext cx="2944342" cy="49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83" tIns="46091" rIns="92183" bIns="46091" numCol="1" anchor="b" anchorCtr="0" compatLnSpc="1">
            <a:prstTxWarp prst="textNoShape">
              <a:avLst/>
            </a:prstTxWarp>
          </a:bodyPr>
          <a:lstStyle>
            <a:lvl1pPr defTabSz="92213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335" y="9429306"/>
            <a:ext cx="2944341" cy="49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83" tIns="46091" rIns="92183" bIns="46091" numCol="1" anchor="b" anchorCtr="0" compatLnSpc="1">
            <a:prstTxWarp prst="textNoShape">
              <a:avLst/>
            </a:prstTxWarp>
          </a:bodyPr>
          <a:lstStyle>
            <a:lvl1pPr algn="r" defTabSz="92213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A244172-8055-453D-9AEF-3A1275EAC5D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1084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131">
              <a:defRPr sz="2300">
                <a:solidFill>
                  <a:schemeClr val="tx1"/>
                </a:solidFill>
                <a:latin typeface="Times" pitchFamily="18" charset="0"/>
              </a:defRPr>
            </a:lvl1pPr>
            <a:lvl2pPr marL="716872" indent="-275720" defTabSz="922131">
              <a:defRPr sz="2300">
                <a:solidFill>
                  <a:schemeClr val="tx1"/>
                </a:solidFill>
                <a:latin typeface="Times" pitchFamily="18" charset="0"/>
              </a:defRPr>
            </a:lvl2pPr>
            <a:lvl3pPr marL="1102881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3pPr>
            <a:lvl4pPr marL="1544033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4pPr>
            <a:lvl5pPr marL="1985185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5pPr>
            <a:lvl6pPr marL="2426338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6pPr>
            <a:lvl7pPr marL="2867490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7pPr>
            <a:lvl8pPr marL="3308642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8pPr>
            <a:lvl9pPr marL="3749794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6BF26FE4-C560-4A40-8E51-B4AE59A233C6}" type="slidenum">
              <a:rPr lang="de-DE" altLang="de-DE" sz="1200">
                <a:latin typeface="Times New Roman" pitchFamily="18" charset="0"/>
              </a:rPr>
              <a:pPr/>
              <a:t>1</a:t>
            </a:fld>
            <a:endParaRPr lang="de-DE" altLang="de-DE" sz="1200">
              <a:latin typeface="Times New Roman" pitchFamily="18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66763" y="744538"/>
            <a:ext cx="5264150" cy="3722687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52" y="4717732"/>
            <a:ext cx="4985772" cy="4465216"/>
          </a:xfrm>
          <a:noFill/>
        </p:spPr>
        <p:txBody>
          <a:bodyPr/>
          <a:lstStyle/>
          <a:p>
            <a:pPr eaLnBrk="1" hangingPunct="1"/>
            <a:endParaRPr lang="de-DE" altLang="de-DE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131">
              <a:defRPr sz="2300">
                <a:solidFill>
                  <a:schemeClr val="tx1"/>
                </a:solidFill>
                <a:latin typeface="Times" pitchFamily="18" charset="0"/>
              </a:defRPr>
            </a:lvl1pPr>
            <a:lvl2pPr marL="716872" indent="-275720" defTabSz="922131">
              <a:defRPr sz="2300">
                <a:solidFill>
                  <a:schemeClr val="tx1"/>
                </a:solidFill>
                <a:latin typeface="Times" pitchFamily="18" charset="0"/>
              </a:defRPr>
            </a:lvl2pPr>
            <a:lvl3pPr marL="1102881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3pPr>
            <a:lvl4pPr marL="1544033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4pPr>
            <a:lvl5pPr marL="1985185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5pPr>
            <a:lvl6pPr marL="2426338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6pPr>
            <a:lvl7pPr marL="2867490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7pPr>
            <a:lvl8pPr marL="3308642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8pPr>
            <a:lvl9pPr marL="3749794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341D7CED-770E-45A5-A2CA-297D9B112A20}" type="slidenum">
              <a:rPr lang="de-DE" altLang="de-DE" sz="1200">
                <a:latin typeface="Times New Roman" pitchFamily="18" charset="0"/>
              </a:rPr>
              <a:pPr/>
              <a:t>2</a:t>
            </a:fld>
            <a:endParaRPr lang="de-DE" altLang="de-DE" sz="1200">
              <a:latin typeface="Times New Roman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131">
              <a:defRPr sz="2300">
                <a:solidFill>
                  <a:schemeClr val="tx1"/>
                </a:solidFill>
                <a:latin typeface="Times" pitchFamily="18" charset="0"/>
              </a:defRPr>
            </a:lvl1pPr>
            <a:lvl2pPr marL="716872" indent="-275720" defTabSz="922131">
              <a:defRPr sz="2300">
                <a:solidFill>
                  <a:schemeClr val="tx1"/>
                </a:solidFill>
                <a:latin typeface="Times" pitchFamily="18" charset="0"/>
              </a:defRPr>
            </a:lvl2pPr>
            <a:lvl3pPr marL="1102881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3pPr>
            <a:lvl4pPr marL="1544033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4pPr>
            <a:lvl5pPr marL="1985185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5pPr>
            <a:lvl6pPr marL="2426338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6pPr>
            <a:lvl7pPr marL="2867490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7pPr>
            <a:lvl8pPr marL="3308642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8pPr>
            <a:lvl9pPr marL="3749794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7E5FEE18-D170-4239-A9FA-27920DC734E8}" type="slidenum">
              <a:rPr lang="de-DE" altLang="de-DE" sz="1200">
                <a:latin typeface="Times New Roman" pitchFamily="18" charset="0"/>
              </a:rPr>
              <a:pPr/>
              <a:t>3</a:t>
            </a:fld>
            <a:endParaRPr lang="de-DE" altLang="de-DE" sz="1200">
              <a:latin typeface="Times New Roman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131">
              <a:defRPr sz="2300">
                <a:solidFill>
                  <a:schemeClr val="tx1"/>
                </a:solidFill>
                <a:latin typeface="Times" pitchFamily="18" charset="0"/>
              </a:defRPr>
            </a:lvl1pPr>
            <a:lvl2pPr marL="716872" indent="-275720" defTabSz="922131">
              <a:defRPr sz="2300">
                <a:solidFill>
                  <a:schemeClr val="tx1"/>
                </a:solidFill>
                <a:latin typeface="Times" pitchFamily="18" charset="0"/>
              </a:defRPr>
            </a:lvl2pPr>
            <a:lvl3pPr marL="1102881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3pPr>
            <a:lvl4pPr marL="1544033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4pPr>
            <a:lvl5pPr marL="1985185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5pPr>
            <a:lvl6pPr marL="2426338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6pPr>
            <a:lvl7pPr marL="2867490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7pPr>
            <a:lvl8pPr marL="3308642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8pPr>
            <a:lvl9pPr marL="3749794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7E5FEE18-D170-4239-A9FA-27920DC734E8}" type="slidenum">
              <a:rPr lang="de-DE" altLang="de-DE" sz="1200">
                <a:latin typeface="Times New Roman" pitchFamily="18" charset="0"/>
              </a:rPr>
              <a:pPr/>
              <a:t>4</a:t>
            </a:fld>
            <a:endParaRPr lang="de-DE" altLang="de-DE" sz="1200">
              <a:latin typeface="Times New Roman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131">
              <a:defRPr sz="2300">
                <a:solidFill>
                  <a:schemeClr val="tx1"/>
                </a:solidFill>
                <a:latin typeface="Times" pitchFamily="18" charset="0"/>
              </a:defRPr>
            </a:lvl1pPr>
            <a:lvl2pPr marL="716872" indent="-275720" defTabSz="922131">
              <a:defRPr sz="2300">
                <a:solidFill>
                  <a:schemeClr val="tx1"/>
                </a:solidFill>
                <a:latin typeface="Times" pitchFamily="18" charset="0"/>
              </a:defRPr>
            </a:lvl2pPr>
            <a:lvl3pPr marL="1102881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3pPr>
            <a:lvl4pPr marL="1544033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4pPr>
            <a:lvl5pPr marL="1985185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5pPr>
            <a:lvl6pPr marL="2426338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6pPr>
            <a:lvl7pPr marL="2867490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7pPr>
            <a:lvl8pPr marL="3308642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8pPr>
            <a:lvl9pPr marL="3749794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6C2A4846-168D-45FE-B447-86C8218F58A5}" type="slidenum">
              <a:rPr lang="de-DE" altLang="de-DE" sz="1200">
                <a:latin typeface="Times New Roman" pitchFamily="18" charset="0"/>
              </a:rPr>
              <a:pPr/>
              <a:t>5</a:t>
            </a:fld>
            <a:endParaRPr lang="de-DE" altLang="de-DE" sz="1200">
              <a:latin typeface="Times New Roman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131">
              <a:defRPr sz="2300">
                <a:solidFill>
                  <a:schemeClr val="tx1"/>
                </a:solidFill>
                <a:latin typeface="Times" pitchFamily="18" charset="0"/>
              </a:defRPr>
            </a:lvl1pPr>
            <a:lvl2pPr marL="716872" indent="-275720" defTabSz="922131">
              <a:defRPr sz="2300">
                <a:solidFill>
                  <a:schemeClr val="tx1"/>
                </a:solidFill>
                <a:latin typeface="Times" pitchFamily="18" charset="0"/>
              </a:defRPr>
            </a:lvl2pPr>
            <a:lvl3pPr marL="1102881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3pPr>
            <a:lvl4pPr marL="1544033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4pPr>
            <a:lvl5pPr marL="1985185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5pPr>
            <a:lvl6pPr marL="2426338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6pPr>
            <a:lvl7pPr marL="2867490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7pPr>
            <a:lvl8pPr marL="3308642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8pPr>
            <a:lvl9pPr marL="3749794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756B26AD-0BBF-432C-98A7-9B77C9A242AF}" type="slidenum">
              <a:rPr lang="de-DE" altLang="de-DE" sz="1200">
                <a:latin typeface="Times New Roman" pitchFamily="18" charset="0"/>
              </a:rPr>
              <a:pPr/>
              <a:t>6</a:t>
            </a:fld>
            <a:endParaRPr lang="de-DE" altLang="de-DE" sz="1200">
              <a:latin typeface="Times New Roman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131">
              <a:defRPr sz="2300">
                <a:solidFill>
                  <a:schemeClr val="tx1"/>
                </a:solidFill>
                <a:latin typeface="Times" pitchFamily="18" charset="0"/>
              </a:defRPr>
            </a:lvl1pPr>
            <a:lvl2pPr marL="716872" indent="-275720" defTabSz="922131">
              <a:defRPr sz="2300">
                <a:solidFill>
                  <a:schemeClr val="tx1"/>
                </a:solidFill>
                <a:latin typeface="Times" pitchFamily="18" charset="0"/>
              </a:defRPr>
            </a:lvl2pPr>
            <a:lvl3pPr marL="1102881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3pPr>
            <a:lvl4pPr marL="1544033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4pPr>
            <a:lvl5pPr marL="1985185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5pPr>
            <a:lvl6pPr marL="2426338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6pPr>
            <a:lvl7pPr marL="2867490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7pPr>
            <a:lvl8pPr marL="3308642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8pPr>
            <a:lvl9pPr marL="3749794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BA12D949-F78A-4D12-8B3E-95FEF1DB84A0}" type="slidenum">
              <a:rPr lang="de-DE" altLang="de-DE" sz="1200">
                <a:latin typeface="Times New Roman" pitchFamily="18" charset="0"/>
              </a:rPr>
              <a:pPr/>
              <a:t>7</a:t>
            </a:fld>
            <a:endParaRPr lang="de-DE" altLang="de-DE" sz="1200">
              <a:latin typeface="Times New Roman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131">
              <a:defRPr sz="2300">
                <a:solidFill>
                  <a:schemeClr val="tx1"/>
                </a:solidFill>
                <a:latin typeface="Times" pitchFamily="18" charset="0"/>
              </a:defRPr>
            </a:lvl1pPr>
            <a:lvl2pPr marL="716872" indent="-275720" defTabSz="922131">
              <a:defRPr sz="2300">
                <a:solidFill>
                  <a:schemeClr val="tx1"/>
                </a:solidFill>
                <a:latin typeface="Times" pitchFamily="18" charset="0"/>
              </a:defRPr>
            </a:lvl2pPr>
            <a:lvl3pPr marL="1102881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3pPr>
            <a:lvl4pPr marL="1544033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4pPr>
            <a:lvl5pPr marL="1985185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5pPr>
            <a:lvl6pPr marL="2426338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6pPr>
            <a:lvl7pPr marL="2867490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7pPr>
            <a:lvl8pPr marL="3308642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8pPr>
            <a:lvl9pPr marL="3749794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756B26AD-0BBF-432C-98A7-9B77C9A242AF}" type="slidenum">
              <a:rPr lang="de-DE" altLang="de-DE" sz="1200">
                <a:latin typeface="Times New Roman" pitchFamily="18" charset="0"/>
              </a:rPr>
              <a:pPr/>
              <a:t>8</a:t>
            </a:fld>
            <a:endParaRPr lang="de-DE" altLang="de-DE" sz="1200">
              <a:latin typeface="Times New Roman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131">
              <a:defRPr sz="2300">
                <a:solidFill>
                  <a:schemeClr val="tx1"/>
                </a:solidFill>
                <a:latin typeface="Times" pitchFamily="18" charset="0"/>
              </a:defRPr>
            </a:lvl1pPr>
            <a:lvl2pPr marL="716872" indent="-275720" defTabSz="922131">
              <a:defRPr sz="2300">
                <a:solidFill>
                  <a:schemeClr val="tx1"/>
                </a:solidFill>
                <a:latin typeface="Times" pitchFamily="18" charset="0"/>
              </a:defRPr>
            </a:lvl2pPr>
            <a:lvl3pPr marL="1102881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3pPr>
            <a:lvl4pPr marL="1544033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4pPr>
            <a:lvl5pPr marL="1985185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5pPr>
            <a:lvl6pPr marL="2426338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6pPr>
            <a:lvl7pPr marL="2867490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7pPr>
            <a:lvl8pPr marL="3308642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8pPr>
            <a:lvl9pPr marL="3749794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C6030E42-FCD8-40C5-B188-760E4D1FFAEF}" type="slidenum">
              <a:rPr lang="de-DE" altLang="de-DE" sz="1200">
                <a:latin typeface="Times New Roman" pitchFamily="18" charset="0"/>
              </a:rPr>
              <a:pPr/>
              <a:t>9</a:t>
            </a:fld>
            <a:endParaRPr lang="de-DE" altLang="de-DE" sz="1200">
              <a:latin typeface="Times New Roman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131">
              <a:defRPr sz="2300">
                <a:solidFill>
                  <a:schemeClr val="tx1"/>
                </a:solidFill>
                <a:latin typeface="Times" pitchFamily="18" charset="0"/>
              </a:defRPr>
            </a:lvl1pPr>
            <a:lvl2pPr marL="716872" indent="-275720" defTabSz="922131">
              <a:defRPr sz="2300">
                <a:solidFill>
                  <a:schemeClr val="tx1"/>
                </a:solidFill>
                <a:latin typeface="Times" pitchFamily="18" charset="0"/>
              </a:defRPr>
            </a:lvl2pPr>
            <a:lvl3pPr marL="1102881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3pPr>
            <a:lvl4pPr marL="1544033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4pPr>
            <a:lvl5pPr marL="1985185" indent="-220576" defTabSz="922131">
              <a:defRPr sz="2300">
                <a:solidFill>
                  <a:schemeClr val="tx1"/>
                </a:solidFill>
                <a:latin typeface="Times" pitchFamily="18" charset="0"/>
              </a:defRPr>
            </a:lvl5pPr>
            <a:lvl6pPr marL="2426338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6pPr>
            <a:lvl7pPr marL="2867490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7pPr>
            <a:lvl8pPr marL="3308642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8pPr>
            <a:lvl9pPr marL="3749794" indent="-220576" defTabSz="92213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D585807B-8BA2-4FD5-9256-A6943D0F3786}" type="slidenum">
              <a:rPr lang="de-DE" altLang="de-DE" sz="1200">
                <a:latin typeface="Times New Roman" pitchFamily="18" charset="0"/>
              </a:rPr>
              <a:pPr/>
              <a:t>10</a:t>
            </a:fld>
            <a:endParaRPr lang="de-DE" altLang="de-DE" sz="1200">
              <a:latin typeface="Times New Roman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4737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BfG-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275" y="179388"/>
            <a:ext cx="1827164" cy="761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8" descr="BRUE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63688" cy="755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9"/>
          <p:cNvSpPr>
            <a:spLocks noChangeArrowheads="1"/>
          </p:cNvSpPr>
          <p:nvPr userDrawn="1"/>
        </p:nvSpPr>
        <p:spPr bwMode="auto">
          <a:xfrm>
            <a:off x="0" y="0"/>
            <a:ext cx="1576388" cy="7559675"/>
          </a:xfrm>
          <a:prstGeom prst="rect">
            <a:avLst/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rgbClr val="0033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defRPr/>
            </a:pPr>
            <a:endParaRPr lang="de-DE" altLang="de-DE" smtClean="0"/>
          </a:p>
        </p:txBody>
      </p:sp>
      <p:sp>
        <p:nvSpPr>
          <p:cNvPr id="1029" name="Text Box 12"/>
          <p:cNvSpPr txBox="1">
            <a:spLocks noChangeArrowheads="1"/>
          </p:cNvSpPr>
          <p:nvPr userDrawn="1"/>
        </p:nvSpPr>
        <p:spPr bwMode="auto">
          <a:xfrm>
            <a:off x="9353749" y="7286845"/>
            <a:ext cx="13319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de-DE" altLang="de-DE" sz="1000" smtClean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folio </a:t>
            </a:r>
            <a:fld id="{3BE36FE7-D539-4A4F-BD77-9DBF3F1A4EDB}" type="slidenum">
              <a:rPr lang="de-DE" altLang="de-DE" sz="1000" smtClean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pPr algn="r" eaLnBrk="1" hangingPunct="1">
                <a:spcBef>
                  <a:spcPct val="50000"/>
                </a:spcBef>
                <a:defRPr/>
              </a:pPr>
              <a:t>‹Nr.›</a:t>
            </a:fld>
            <a:endParaRPr lang="de-DE" altLang="de-DE" sz="1000" smtClean="0">
              <a:solidFill>
                <a:schemeClr val="bg2">
                  <a:lumMod val="75000"/>
                </a:schemeClr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defTabSz="10429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defTabSz="10429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" pitchFamily="18" charset="0"/>
        </a:defRPr>
      </a:lvl2pPr>
      <a:lvl3pPr algn="l" defTabSz="10429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" pitchFamily="18" charset="0"/>
        </a:defRPr>
      </a:lvl3pPr>
      <a:lvl4pPr algn="l" defTabSz="10429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" pitchFamily="18" charset="0"/>
        </a:defRPr>
      </a:lvl4pPr>
      <a:lvl5pPr algn="l" defTabSz="10429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" pitchFamily="18" charset="0"/>
        </a:defRPr>
      </a:lvl5pPr>
      <a:lvl6pPr marL="457200" algn="l" defTabSz="10429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" pitchFamily="18" charset="0"/>
        </a:defRPr>
      </a:lvl6pPr>
      <a:lvl7pPr marL="914400" algn="l" defTabSz="10429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" pitchFamily="18" charset="0"/>
        </a:defRPr>
      </a:lvl7pPr>
      <a:lvl8pPr marL="1371600" algn="l" defTabSz="10429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" pitchFamily="18" charset="0"/>
        </a:defRPr>
      </a:lvl8pPr>
      <a:lvl9pPr marL="1828800" algn="l" defTabSz="10429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" pitchFamily="18" charset="0"/>
        </a:defRPr>
      </a:lvl9pPr>
    </p:titleStyle>
    <p:bodyStyle>
      <a:lvl1pPr marL="390525" indent="-390525" algn="l" defTabSz="1042988" rtl="0" eaLnBrk="0" fontAlgn="base" hangingPunct="0">
        <a:spcBef>
          <a:spcPct val="20000"/>
        </a:spcBef>
        <a:spcAft>
          <a:spcPct val="0"/>
        </a:spcAft>
        <a:buChar char="&gt;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847725" indent="-327025" algn="l" defTabSz="1042988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&gt;"/>
        <a:defRPr sz="3000">
          <a:solidFill>
            <a:schemeClr val="tx1"/>
          </a:solidFill>
          <a:latin typeface="+mn-lt"/>
        </a:defRPr>
      </a:lvl2pPr>
      <a:lvl3pPr marL="1298575" indent="-260350" algn="l" defTabSz="1042988" rtl="0" eaLnBrk="0" fontAlgn="base" hangingPunct="0">
        <a:spcBef>
          <a:spcPct val="20000"/>
        </a:spcBef>
        <a:spcAft>
          <a:spcPct val="0"/>
        </a:spcAft>
        <a:buChar char="&gt;"/>
        <a:defRPr sz="2500">
          <a:solidFill>
            <a:schemeClr val="tx1"/>
          </a:solidFill>
          <a:latin typeface="+mn-lt"/>
        </a:defRPr>
      </a:lvl3pPr>
      <a:lvl4pPr marL="1751013" indent="-261938" algn="l" defTabSz="1042988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&gt;"/>
        <a:defRPr sz="2000">
          <a:solidFill>
            <a:schemeClr val="tx1"/>
          </a:solidFill>
          <a:latin typeface="+mn-lt"/>
        </a:defRPr>
      </a:lvl4pPr>
      <a:lvl5pPr marL="2201863" indent="-260350" algn="l" defTabSz="1042988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&gt;"/>
        <a:defRPr sz="1500">
          <a:solidFill>
            <a:schemeClr val="tx1"/>
          </a:solidFill>
          <a:latin typeface="+mn-lt"/>
        </a:defRPr>
      </a:lvl5pPr>
      <a:lvl6pPr marL="2659063" indent="-260350" algn="l" defTabSz="1042988" rtl="0" fontAlgn="base">
        <a:spcBef>
          <a:spcPct val="20000"/>
        </a:spcBef>
        <a:spcAft>
          <a:spcPct val="0"/>
        </a:spcAft>
        <a:buFont typeface="Times" pitchFamily="18" charset="0"/>
        <a:buChar char="&gt;"/>
        <a:defRPr sz="1500">
          <a:solidFill>
            <a:schemeClr val="tx1"/>
          </a:solidFill>
          <a:latin typeface="+mn-lt"/>
        </a:defRPr>
      </a:lvl6pPr>
      <a:lvl7pPr marL="3116263" indent="-260350" algn="l" defTabSz="1042988" rtl="0" fontAlgn="base">
        <a:spcBef>
          <a:spcPct val="20000"/>
        </a:spcBef>
        <a:spcAft>
          <a:spcPct val="0"/>
        </a:spcAft>
        <a:buFont typeface="Times" pitchFamily="18" charset="0"/>
        <a:buChar char="&gt;"/>
        <a:defRPr sz="1500">
          <a:solidFill>
            <a:schemeClr val="tx1"/>
          </a:solidFill>
          <a:latin typeface="+mn-lt"/>
        </a:defRPr>
      </a:lvl7pPr>
      <a:lvl8pPr marL="3573463" indent="-260350" algn="l" defTabSz="1042988" rtl="0" fontAlgn="base">
        <a:spcBef>
          <a:spcPct val="20000"/>
        </a:spcBef>
        <a:spcAft>
          <a:spcPct val="0"/>
        </a:spcAft>
        <a:buFont typeface="Times" pitchFamily="18" charset="0"/>
        <a:buChar char="&gt;"/>
        <a:defRPr sz="1500">
          <a:solidFill>
            <a:schemeClr val="tx1"/>
          </a:solidFill>
          <a:latin typeface="+mn-lt"/>
        </a:defRPr>
      </a:lvl8pPr>
      <a:lvl9pPr marL="4030663" indent="-260350" algn="l" defTabSz="1042988" rtl="0" fontAlgn="base">
        <a:spcBef>
          <a:spcPct val="20000"/>
        </a:spcBef>
        <a:spcAft>
          <a:spcPct val="0"/>
        </a:spcAft>
        <a:buFont typeface="Times" pitchFamily="18" charset="0"/>
        <a:buChar char="&gt;"/>
        <a:defRPr sz="15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0"/>
            <a:ext cx="1817688" cy="7559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endParaRPr lang="de-DE" altLang="de-DE"/>
          </a:p>
        </p:txBody>
      </p:sp>
      <p:pic>
        <p:nvPicPr>
          <p:cNvPr id="2052" name="Picture 5" descr="bfg_logoFL1_A0_rg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207963"/>
            <a:ext cx="2149475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Rechteck 1"/>
          <p:cNvSpPr>
            <a:spLocks noChangeArrowheads="1"/>
          </p:cNvSpPr>
          <p:nvPr/>
        </p:nvSpPr>
        <p:spPr bwMode="auto">
          <a:xfrm>
            <a:off x="398463" y="1908175"/>
            <a:ext cx="5305425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4287" tIns="52144" rIns="104287" bIns="52144">
            <a:spAutoFit/>
          </a:bodyPr>
          <a:lstStyle>
            <a:lvl1pPr defTabSz="104298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104298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104298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104298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104298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/>
            <a:r>
              <a:rPr lang="en-GB" altLang="de-DE">
                <a:solidFill>
                  <a:srgbClr val="003366"/>
                </a:solidFill>
                <a:latin typeface="Arial" charset="0"/>
              </a:rPr>
              <a:t>Welcome to the</a:t>
            </a:r>
            <a:br>
              <a:rPr lang="en-GB" altLang="de-DE">
                <a:solidFill>
                  <a:srgbClr val="003366"/>
                </a:solidFill>
                <a:latin typeface="Arial" charset="0"/>
              </a:rPr>
            </a:br>
            <a:endParaRPr lang="en-GB" altLang="de-DE">
              <a:solidFill>
                <a:srgbClr val="003366"/>
              </a:solidFill>
              <a:latin typeface="Arial" charset="0"/>
            </a:endParaRPr>
          </a:p>
          <a:p>
            <a:pPr eaLnBrk="1" hangingPunct="1"/>
            <a:r>
              <a:rPr lang="en-GB" altLang="de-DE" sz="2800" b="1">
                <a:solidFill>
                  <a:srgbClr val="003366"/>
                </a:solidFill>
                <a:latin typeface="Arial" charset="0"/>
              </a:rPr>
              <a:t>German</a:t>
            </a:r>
          </a:p>
          <a:p>
            <a:pPr eaLnBrk="1" hangingPunct="1"/>
            <a:r>
              <a:rPr lang="en-GB" altLang="de-DE" sz="2800" b="1">
                <a:solidFill>
                  <a:srgbClr val="003366"/>
                </a:solidFill>
                <a:latin typeface="Arial" charset="0"/>
              </a:rPr>
              <a:t>Federal Institute of Hydrology</a:t>
            </a:r>
          </a:p>
          <a:p>
            <a:pPr eaLnBrk="1" hangingPunct="1"/>
            <a:r>
              <a:rPr lang="en-GB" altLang="de-DE" sz="2800">
                <a:solidFill>
                  <a:srgbClr val="003366"/>
                </a:solidFill>
                <a:latin typeface="Arial" charset="0"/>
              </a:rPr>
              <a:t>(BfG)</a:t>
            </a:r>
          </a:p>
        </p:txBody>
      </p:sp>
      <p:pic>
        <p:nvPicPr>
          <p:cNvPr id="2054" name="Grafik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75" y="6216650"/>
            <a:ext cx="22098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5" name="Rechteck 3"/>
          <p:cNvSpPr>
            <a:spLocks noChangeArrowheads="1"/>
          </p:cNvSpPr>
          <p:nvPr/>
        </p:nvSpPr>
        <p:spPr bwMode="auto">
          <a:xfrm>
            <a:off x="449263" y="5724525"/>
            <a:ext cx="2393901" cy="1397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4287" tIns="52144" rIns="104287" bIns="52144">
            <a:spAutoFit/>
          </a:bodyPr>
          <a:lstStyle>
            <a:lvl1pPr defTabSz="104298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104298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104298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104298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104298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/>
            <a:r>
              <a:rPr lang="en-GB" altLang="de-DE" sz="1200" b="1">
                <a:solidFill>
                  <a:srgbClr val="003366"/>
                </a:solidFill>
                <a:latin typeface="Arial" charset="0"/>
              </a:rPr>
              <a:t>Federal Institute of Hydrology</a:t>
            </a:r>
            <a:r>
              <a:rPr lang="de-DE" altLang="de-DE" sz="1200">
                <a:solidFill>
                  <a:srgbClr val="003366"/>
                </a:solidFill>
                <a:latin typeface="Arial" charset="0"/>
              </a:rPr>
              <a:t/>
            </a:r>
            <a:br>
              <a:rPr lang="de-DE" altLang="de-DE" sz="1200">
                <a:solidFill>
                  <a:srgbClr val="003366"/>
                </a:solidFill>
                <a:latin typeface="Arial" charset="0"/>
              </a:rPr>
            </a:br>
            <a:r>
              <a:rPr lang="de-DE" altLang="de-DE" sz="1200">
                <a:solidFill>
                  <a:srgbClr val="003366"/>
                </a:solidFill>
                <a:latin typeface="Arial" charset="0"/>
              </a:rPr>
              <a:t>Am Mainzer Tor 1</a:t>
            </a:r>
            <a:br>
              <a:rPr lang="de-DE" altLang="de-DE" sz="1200">
                <a:solidFill>
                  <a:srgbClr val="003366"/>
                </a:solidFill>
                <a:latin typeface="Arial" charset="0"/>
              </a:rPr>
            </a:br>
            <a:r>
              <a:rPr lang="de-DE" altLang="de-DE" sz="1200">
                <a:solidFill>
                  <a:srgbClr val="003366"/>
                </a:solidFill>
                <a:latin typeface="Arial" charset="0"/>
              </a:rPr>
              <a:t>56068 </a:t>
            </a:r>
            <a:r>
              <a:rPr lang="de-DE" altLang="de-DE" sz="1200" smtClean="0">
                <a:solidFill>
                  <a:srgbClr val="003366"/>
                </a:solidFill>
                <a:latin typeface="Arial" charset="0"/>
              </a:rPr>
              <a:t>Koblenz, Germany</a:t>
            </a:r>
            <a:r>
              <a:rPr lang="de-DE" altLang="de-DE" sz="1200">
                <a:solidFill>
                  <a:srgbClr val="003366"/>
                </a:solidFill>
                <a:latin typeface="Arial" charset="0"/>
              </a:rPr>
              <a:t/>
            </a:r>
            <a:br>
              <a:rPr lang="de-DE" altLang="de-DE" sz="1200">
                <a:solidFill>
                  <a:srgbClr val="003366"/>
                </a:solidFill>
                <a:latin typeface="Arial" charset="0"/>
              </a:rPr>
            </a:br>
            <a:r>
              <a:rPr lang="de-DE" altLang="de-DE" sz="1200">
                <a:solidFill>
                  <a:srgbClr val="003366"/>
                </a:solidFill>
                <a:latin typeface="Arial" charset="0"/>
              </a:rPr>
              <a:t>Tel.:  </a:t>
            </a:r>
            <a:r>
              <a:rPr lang="de-DE" altLang="de-DE" sz="1200" smtClean="0">
                <a:solidFill>
                  <a:srgbClr val="003366"/>
                </a:solidFill>
                <a:latin typeface="Arial" charset="0"/>
              </a:rPr>
              <a:t>   +</a:t>
            </a:r>
            <a:r>
              <a:rPr lang="de-DE" altLang="de-DE" sz="1200">
                <a:solidFill>
                  <a:srgbClr val="003366"/>
                </a:solidFill>
                <a:latin typeface="Arial" charset="0"/>
              </a:rPr>
              <a:t>49 (0)261 1306 0</a:t>
            </a:r>
            <a:br>
              <a:rPr lang="de-DE" altLang="de-DE" sz="1200">
                <a:solidFill>
                  <a:srgbClr val="003366"/>
                </a:solidFill>
                <a:latin typeface="Arial" charset="0"/>
              </a:rPr>
            </a:br>
            <a:r>
              <a:rPr lang="de-DE" altLang="de-DE" sz="1200">
                <a:solidFill>
                  <a:srgbClr val="003366"/>
                </a:solidFill>
                <a:latin typeface="Arial" charset="0"/>
              </a:rPr>
              <a:t>Fax : </a:t>
            </a:r>
            <a:r>
              <a:rPr lang="de-DE" altLang="de-DE" sz="1200" smtClean="0">
                <a:solidFill>
                  <a:srgbClr val="003366"/>
                </a:solidFill>
                <a:latin typeface="Arial" charset="0"/>
              </a:rPr>
              <a:t>   +</a:t>
            </a:r>
            <a:r>
              <a:rPr lang="de-DE" altLang="de-DE" sz="1200">
                <a:solidFill>
                  <a:srgbClr val="003366"/>
                </a:solidFill>
                <a:latin typeface="Arial" charset="0"/>
              </a:rPr>
              <a:t>49 (0)261 1306 5302</a:t>
            </a:r>
            <a:br>
              <a:rPr lang="de-DE" altLang="de-DE" sz="1200">
                <a:solidFill>
                  <a:srgbClr val="003366"/>
                </a:solidFill>
                <a:latin typeface="Arial" charset="0"/>
              </a:rPr>
            </a:br>
            <a:r>
              <a:rPr lang="de-DE" altLang="de-DE" sz="1200">
                <a:solidFill>
                  <a:srgbClr val="003366"/>
                </a:solidFill>
                <a:latin typeface="Arial" charset="0"/>
              </a:rPr>
              <a:t>E-Mail: posteingang@bafg.de</a:t>
            </a:r>
            <a:br>
              <a:rPr lang="de-DE" altLang="de-DE" sz="1200">
                <a:solidFill>
                  <a:srgbClr val="003366"/>
                </a:solidFill>
                <a:latin typeface="Arial" charset="0"/>
              </a:rPr>
            </a:br>
            <a:r>
              <a:rPr lang="de-DE" altLang="de-DE" sz="1200">
                <a:solidFill>
                  <a:srgbClr val="003366"/>
                </a:solidFill>
                <a:latin typeface="Arial" charset="0"/>
              </a:rPr>
              <a:t>URL: </a:t>
            </a:r>
            <a:r>
              <a:rPr lang="de-DE" altLang="de-DE" sz="1200" smtClean="0">
                <a:solidFill>
                  <a:srgbClr val="003366"/>
                </a:solidFill>
                <a:latin typeface="Arial" charset="0"/>
              </a:rPr>
              <a:t>   http</a:t>
            </a:r>
            <a:r>
              <a:rPr lang="de-DE" altLang="de-DE" sz="1200">
                <a:solidFill>
                  <a:srgbClr val="003366"/>
                </a:solidFill>
                <a:latin typeface="Arial" charset="0"/>
              </a:rPr>
              <a:t>://www.bafg.de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5902346" y="7349963"/>
            <a:ext cx="9712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800" smtClean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 10/2014</a:t>
            </a:r>
            <a:endParaRPr lang="de-DE" sz="80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597" y="-318"/>
            <a:ext cx="3818215" cy="75596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hteck 1"/>
          <p:cNvSpPr>
            <a:spLocks noChangeArrowheads="1"/>
          </p:cNvSpPr>
          <p:nvPr/>
        </p:nvSpPr>
        <p:spPr bwMode="auto">
          <a:xfrm>
            <a:off x="2249562" y="644526"/>
            <a:ext cx="6408737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de-DE" altLang="de-DE" sz="2300" b="1">
                <a:solidFill>
                  <a:srgbClr val="003366"/>
                </a:solidFill>
                <a:latin typeface="Arial" charset="0"/>
              </a:rPr>
              <a:t>The Federal Institute of Hydrology </a:t>
            </a:r>
            <a:r>
              <a:rPr lang="de-DE" altLang="de-DE" sz="2300" b="1" smtClean="0">
                <a:solidFill>
                  <a:srgbClr val="003366"/>
                </a:solidFill>
                <a:latin typeface="Arial" charset="0"/>
              </a:rPr>
              <a:t>is...</a:t>
            </a:r>
            <a:endParaRPr lang="de-DE" altLang="de-DE" sz="2300" b="1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3" name="Rechteck 2"/>
          <p:cNvSpPr/>
          <p:nvPr/>
        </p:nvSpPr>
        <p:spPr>
          <a:xfrm>
            <a:off x="2371412" y="1694656"/>
            <a:ext cx="7777163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the </a:t>
            </a: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scientific institute of the Federal Government for research, assessments, and consulting in the fields of</a:t>
            </a:r>
          </a:p>
          <a:p>
            <a:pPr marL="1371600" lvl="2" indent="-457200" algn="just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hydrology</a:t>
            </a:r>
          </a:p>
          <a:p>
            <a:pPr marL="1371600" lvl="2" indent="-457200" algn="just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water-resources management</a:t>
            </a:r>
          </a:p>
          <a:p>
            <a:pPr marL="1371600" lvl="2" indent="-457200" algn="just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ecology and</a:t>
            </a:r>
          </a:p>
          <a:p>
            <a:pPr marL="1371600" lvl="2" indent="-457200" algn="just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conservation of waters</a:t>
            </a: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endParaRPr lang="de-DE" altLang="de-DE" sz="900">
              <a:solidFill>
                <a:srgbClr val="003366"/>
              </a:solidFill>
              <a:latin typeface="Arial" charset="0"/>
            </a:endParaRPr>
          </a:p>
          <a:p>
            <a:pPr algn="just">
              <a:spcBef>
                <a:spcPct val="20000"/>
              </a:spcBef>
              <a:defRPr/>
            </a:pPr>
            <a:endParaRPr lang="de-DE" altLang="de-DE" sz="900">
              <a:solidFill>
                <a:srgbClr val="003366"/>
              </a:solidFill>
              <a:latin typeface="Arial" charset="0"/>
            </a:endParaRP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the specialised consultant of the Federal Waterways and Shipping Administration regarding  the planning, development and new construction of Federal </a:t>
            </a: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waterways</a:t>
            </a:r>
          </a:p>
          <a:p>
            <a:pPr algn="just">
              <a:spcBef>
                <a:spcPct val="20000"/>
              </a:spcBef>
              <a:defRPr/>
            </a:pPr>
            <a:endParaRPr lang="de-DE" altLang="de-DE" sz="900" smtClean="0">
              <a:solidFill>
                <a:srgbClr val="003366"/>
              </a:solidFill>
              <a:latin typeface="Arial" charset="0"/>
            </a:endParaRP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consultant </a:t>
            </a: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for Federal Ministries (transport, environment, research, foreign affairs/international development) in </a:t>
            </a: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decision-making</a:t>
            </a:r>
          </a:p>
          <a:p>
            <a:pPr algn="just">
              <a:spcBef>
                <a:spcPct val="20000"/>
              </a:spcBef>
              <a:defRPr/>
            </a:pPr>
            <a:endParaRPr lang="de-DE" altLang="de-DE" sz="900">
              <a:solidFill>
                <a:srgbClr val="003366"/>
              </a:solidFill>
              <a:latin typeface="Arial" charset="0"/>
            </a:endParaRP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a </a:t>
            </a: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higher authority of the Federal Republic of Germany under the jurisdiction of the Federal Ministry of Transport and Digital Infrastructure (BMVI</a:t>
            </a: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)</a:t>
            </a:r>
          </a:p>
          <a:p>
            <a:pPr algn="just">
              <a:spcBef>
                <a:spcPct val="20000"/>
              </a:spcBef>
              <a:defRPr/>
            </a:pPr>
            <a:endParaRPr lang="de-DE" altLang="de-DE" sz="900">
              <a:solidFill>
                <a:srgbClr val="003366"/>
              </a:solidFill>
              <a:latin typeface="Arial" charset="0"/>
            </a:endParaRP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run by approximately 400 members of </a:t>
            </a: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staff</a:t>
            </a:r>
            <a:endParaRPr lang="de-DE" sz="1600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0" y="6326188"/>
            <a:ext cx="1570038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1D6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altLang="de-DE" sz="1600">
                <a:solidFill>
                  <a:srgbClr val="D5E5F3"/>
                </a:solidFill>
                <a:latin typeface="Arial" charset="0"/>
              </a:rPr>
              <a:t>We are…</a:t>
            </a:r>
          </a:p>
        </p:txBody>
      </p:sp>
      <p:pic>
        <p:nvPicPr>
          <p:cNvPr id="3078" name="Picture 6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25400" y="614363"/>
            <a:ext cx="2159000" cy="21605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0" y="6326188"/>
            <a:ext cx="15700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1D6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altLang="de-DE" sz="1600" smtClean="0">
                <a:solidFill>
                  <a:srgbClr val="D5E5F3"/>
                </a:solidFill>
                <a:latin typeface="Arial" charset="0"/>
              </a:rPr>
              <a:t>Fairways and more</a:t>
            </a:r>
            <a:endParaRPr lang="de-DE" altLang="de-DE" sz="1600">
              <a:solidFill>
                <a:srgbClr val="D5E5F3"/>
              </a:solidFill>
              <a:latin typeface="Arial" charset="0"/>
            </a:endParaRPr>
          </a:p>
        </p:txBody>
      </p:sp>
      <p:pic>
        <p:nvPicPr>
          <p:cNvPr id="1026" name="Picture 2"/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485"/>
            <a:ext cx="2160000" cy="216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602" y="1115540"/>
            <a:ext cx="6408712" cy="6219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1"/>
          <p:cNvSpPr>
            <a:spLocks noChangeArrowheads="1"/>
          </p:cNvSpPr>
          <p:nvPr/>
        </p:nvSpPr>
        <p:spPr bwMode="auto">
          <a:xfrm>
            <a:off x="2465586" y="602860"/>
            <a:ext cx="4104456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de-DE" altLang="de-DE" sz="2300" b="1" smtClean="0">
                <a:solidFill>
                  <a:srgbClr val="003366"/>
                </a:solidFill>
                <a:latin typeface="Arial" charset="0"/>
              </a:rPr>
              <a:t>BfG activity fields</a:t>
            </a:r>
            <a:endParaRPr lang="de-DE" altLang="de-DE" sz="2300" b="1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3" name="Rechteck 2"/>
          <p:cNvSpPr/>
          <p:nvPr/>
        </p:nvSpPr>
        <p:spPr bwMode="auto">
          <a:xfrm>
            <a:off x="2924622" y="1307296"/>
            <a:ext cx="2520280" cy="403244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2924622" y="1297426"/>
            <a:ext cx="2637308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 for the public</a:t>
            </a:r>
            <a:endParaRPr lang="de-DE" sz="14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Inland and coastal waterway transport</a:t>
            </a:r>
            <a:endParaRPr lang="de-DE" sz="12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Hydrological predictions</a:t>
            </a:r>
            <a:endParaRPr lang="de-DE" sz="12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Flood defence and warning</a:t>
            </a:r>
            <a:endParaRPr lang="de-DE" sz="12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de-DE" sz="1400" b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Waterways infrastructure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Fairways, harbours, locks</a:t>
            </a:r>
            <a:endParaRPr lang="de-DE" sz="12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Engineered and biological embankments</a:t>
            </a:r>
            <a:endParaRPr lang="de-DE" sz="12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Sediment management and dredging</a:t>
            </a:r>
            <a:endParaRPr lang="de-DE" sz="12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de-DE" sz="1400" b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European enviromental directives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Ecological quality of waters </a:t>
            </a:r>
            <a:endParaRPr lang="de-DE" sz="12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Hydrological regime</a:t>
            </a:r>
            <a:endParaRPr lang="de-DE" sz="12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River continuity</a:t>
            </a:r>
            <a:endParaRPr lang="de-DE" sz="12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Morphological conditions</a:t>
            </a:r>
            <a:endParaRPr lang="de-DE" sz="12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795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hteck 1"/>
          <p:cNvSpPr>
            <a:spLocks noChangeArrowheads="1"/>
          </p:cNvSpPr>
          <p:nvPr/>
        </p:nvSpPr>
        <p:spPr bwMode="auto">
          <a:xfrm>
            <a:off x="2681288" y="606917"/>
            <a:ext cx="2016125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de-DE" altLang="de-DE" sz="2300" b="1">
                <a:solidFill>
                  <a:srgbClr val="003366"/>
                </a:solidFill>
                <a:latin typeface="Arial" charset="0"/>
              </a:rPr>
              <a:t>Main tasks</a:t>
            </a:r>
          </a:p>
        </p:txBody>
      </p:sp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0" y="6326188"/>
            <a:ext cx="1570038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1D6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altLang="de-DE" sz="1600">
                <a:solidFill>
                  <a:srgbClr val="D5E5F3"/>
                </a:solidFill>
                <a:latin typeface="Arial" charset="0"/>
              </a:rPr>
              <a:t>Skills</a:t>
            </a:r>
          </a:p>
        </p:txBody>
      </p:sp>
      <p:sp>
        <p:nvSpPr>
          <p:cNvPr id="31" name="Rechteck 30"/>
          <p:cNvSpPr/>
          <p:nvPr/>
        </p:nvSpPr>
        <p:spPr>
          <a:xfrm>
            <a:off x="2674057" y="1343076"/>
            <a:ext cx="7200900" cy="5152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Identifying and solving conflicting interests regarding Federal </a:t>
            </a: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Waterways </a:t>
            </a: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between</a:t>
            </a:r>
          </a:p>
          <a:p>
            <a:pPr marL="1371600" lvl="2" indent="-457200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transportation function</a:t>
            </a:r>
          </a:p>
          <a:p>
            <a:pPr marL="1371600" lvl="2" indent="-457200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water-resources management (quantity and quality)</a:t>
            </a:r>
          </a:p>
          <a:p>
            <a:pPr marL="1371600" lvl="2" indent="-457200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ecology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endParaRPr lang="de-DE" altLang="de-DE" sz="900">
              <a:solidFill>
                <a:srgbClr val="003366"/>
              </a:solidFill>
              <a:latin typeface="Arial" charset="0"/>
            </a:endParaRP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Studying floodflow and low-flow conditions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endParaRPr lang="de-DE" altLang="de-DE" sz="900">
              <a:solidFill>
                <a:srgbClr val="003366"/>
              </a:solidFill>
              <a:latin typeface="Arial" charset="0"/>
            </a:endParaRP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Hydrological and ecological forecasting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endParaRPr lang="de-DE" altLang="de-DE" sz="900">
              <a:solidFill>
                <a:srgbClr val="003366"/>
              </a:solidFill>
              <a:latin typeface="Arial" charset="0"/>
            </a:endParaRP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Computing water balances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endParaRPr lang="de-DE" altLang="de-DE" sz="900">
              <a:solidFill>
                <a:srgbClr val="003366"/>
              </a:solidFill>
              <a:latin typeface="Arial" charset="0"/>
            </a:endParaRP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 smtClean="0">
                <a:solidFill>
                  <a:srgbClr val="003366"/>
                </a:solidFill>
                <a:latin typeface="Arial" charset="0"/>
                <a:sym typeface="Wingdings" pitchFamily="2" charset="2"/>
              </a:rPr>
              <a:t>Setting </a:t>
            </a:r>
            <a:r>
              <a:rPr lang="de-DE" altLang="de-DE" sz="1600">
                <a:solidFill>
                  <a:srgbClr val="003366"/>
                </a:solidFill>
                <a:latin typeface="Arial" charset="0"/>
                <a:sym typeface="Wingdings" pitchFamily="2" charset="2"/>
              </a:rPr>
              <a:t>up </a:t>
            </a: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methodologies for environmental impact </a:t>
            </a: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studies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endParaRPr lang="de-DE" altLang="de-DE" sz="900" smtClean="0">
              <a:solidFill>
                <a:srgbClr val="003366"/>
              </a:solidFill>
              <a:latin typeface="Arial" charset="0"/>
            </a:endParaRP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Impact assessment of anthropogenic activities on water quality, their risks for humans and environment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endParaRPr lang="de-DE" altLang="de-DE" sz="900">
              <a:solidFill>
                <a:srgbClr val="003366"/>
              </a:solidFill>
              <a:latin typeface="Arial" charset="0"/>
            </a:endParaRP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Monitoring of water quality in Federal waterways</a:t>
            </a:r>
          </a:p>
          <a:p>
            <a:pPr marL="1371600" lvl="2" indent="-457200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radiological 	</a:t>
            </a:r>
            <a:r>
              <a:rPr lang="de-DE" altLang="de-DE" sz="1400" smtClean="0">
                <a:solidFill>
                  <a:srgbClr val="003366"/>
                </a:solidFill>
                <a:latin typeface="Arial" charset="0"/>
                <a:sym typeface="Wingdings" pitchFamily="2" charset="2"/>
              </a:rPr>
              <a:t></a:t>
            </a:r>
            <a:r>
              <a:rPr lang="de-DE" altLang="de-DE" sz="1400" smtClean="0">
                <a:solidFill>
                  <a:srgbClr val="003366"/>
                </a:solidFill>
                <a:latin typeface="Arial" charset="0"/>
              </a:rPr>
              <a:t> </a:t>
            </a: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alarm </a:t>
            </a:r>
            <a:r>
              <a:rPr lang="de-DE" altLang="de-DE" sz="1400" smtClean="0">
                <a:solidFill>
                  <a:srgbClr val="003366"/>
                </a:solidFill>
                <a:latin typeface="Arial" charset="0"/>
              </a:rPr>
              <a:t>system</a:t>
            </a:r>
            <a:endParaRPr lang="de-DE" altLang="de-DE" sz="1400">
              <a:solidFill>
                <a:srgbClr val="003366"/>
              </a:solidFill>
              <a:latin typeface="Arial" charset="0"/>
            </a:endParaRPr>
          </a:p>
          <a:p>
            <a:pPr marL="1371600" lvl="2" indent="-457200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chemical 	</a:t>
            </a:r>
            <a:r>
              <a:rPr lang="de-DE" altLang="de-DE" sz="1400" smtClean="0">
                <a:solidFill>
                  <a:srgbClr val="003366"/>
                </a:solidFill>
                <a:latin typeface="Arial" charset="0"/>
                <a:sym typeface="Wingdings" pitchFamily="2" charset="2"/>
              </a:rPr>
              <a:t></a:t>
            </a:r>
            <a:r>
              <a:rPr lang="de-DE" altLang="de-DE" sz="1400" smtClean="0">
                <a:solidFill>
                  <a:srgbClr val="003366"/>
                </a:solidFill>
                <a:latin typeface="Arial" charset="0"/>
              </a:rPr>
              <a:t> </a:t>
            </a: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water, suspended solids and </a:t>
            </a:r>
            <a:r>
              <a:rPr lang="de-DE" altLang="de-DE" sz="1400" smtClean="0">
                <a:solidFill>
                  <a:srgbClr val="003366"/>
                </a:solidFill>
                <a:latin typeface="Arial" charset="0"/>
              </a:rPr>
              <a:t>sediments</a:t>
            </a:r>
            <a:endParaRPr lang="de-DE" altLang="de-DE" sz="1400">
              <a:solidFill>
                <a:srgbClr val="003366"/>
              </a:solidFill>
              <a:latin typeface="Arial" charset="0"/>
            </a:endParaRPr>
          </a:p>
          <a:p>
            <a:pPr marL="1371600" lvl="2" indent="-457200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biological 	</a:t>
            </a:r>
            <a:r>
              <a:rPr lang="de-DE" altLang="de-DE" sz="1400" smtClean="0">
                <a:solidFill>
                  <a:srgbClr val="003366"/>
                </a:solidFill>
                <a:latin typeface="Arial" charset="0"/>
                <a:sym typeface="Wingdings" pitchFamily="2" charset="2"/>
              </a:rPr>
              <a:t></a:t>
            </a:r>
            <a:r>
              <a:rPr lang="de-DE" altLang="de-DE" sz="1400" smtClean="0">
                <a:solidFill>
                  <a:srgbClr val="003366"/>
                </a:solidFill>
                <a:latin typeface="Arial" charset="0"/>
              </a:rPr>
              <a:t> </a:t>
            </a: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water, habitats, </a:t>
            </a:r>
            <a:r>
              <a:rPr lang="de-DE" altLang="de-DE" sz="1400" smtClean="0">
                <a:solidFill>
                  <a:srgbClr val="003366"/>
                </a:solidFill>
                <a:latin typeface="Arial" charset="0"/>
              </a:rPr>
              <a:t>impacts</a:t>
            </a:r>
            <a:endParaRPr lang="de-DE" sz="1600">
              <a:solidFill>
                <a:srgbClr val="003366"/>
              </a:solidFill>
              <a:latin typeface="Arial" charset="0"/>
            </a:endParaRPr>
          </a:p>
        </p:txBody>
      </p:sp>
      <p:pic>
        <p:nvPicPr>
          <p:cNvPr id="5126" name="Picture 6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588" y="611188"/>
            <a:ext cx="2159001" cy="21605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5"/>
          <p:cNvSpPr txBox="1">
            <a:spLocks noChangeArrowheads="1"/>
          </p:cNvSpPr>
          <p:nvPr/>
        </p:nvSpPr>
        <p:spPr bwMode="auto">
          <a:xfrm>
            <a:off x="0" y="6326188"/>
            <a:ext cx="1570038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1D6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altLang="de-DE" sz="1600">
                <a:solidFill>
                  <a:srgbClr val="D5E5F3"/>
                </a:solidFill>
                <a:latin typeface="Arial" charset="0"/>
              </a:rPr>
              <a:t>WSV</a:t>
            </a:r>
          </a:p>
        </p:txBody>
      </p:sp>
      <p:sp>
        <p:nvSpPr>
          <p:cNvPr id="14339" name="Rechteck 1"/>
          <p:cNvSpPr>
            <a:spLocks noChangeArrowheads="1"/>
          </p:cNvSpPr>
          <p:nvPr/>
        </p:nvSpPr>
        <p:spPr bwMode="auto">
          <a:xfrm>
            <a:off x="2465388" y="1033368"/>
            <a:ext cx="794385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de-DE" altLang="de-DE" sz="2300" b="1">
                <a:solidFill>
                  <a:srgbClr val="003366"/>
                </a:solidFill>
                <a:latin typeface="Arial" charset="0"/>
              </a:rPr>
              <a:t>Federal Waterways and Shipping </a:t>
            </a:r>
            <a:r>
              <a:rPr lang="de-DE" altLang="de-DE" sz="2300" b="1" smtClean="0">
                <a:solidFill>
                  <a:srgbClr val="003366"/>
                </a:solidFill>
                <a:latin typeface="Arial" charset="0"/>
              </a:rPr>
              <a:t>Administration </a:t>
            </a:r>
            <a:r>
              <a:rPr lang="de-DE" altLang="de-DE" sz="2300">
                <a:solidFill>
                  <a:srgbClr val="003366"/>
                </a:solidFill>
                <a:latin typeface="Arial" charset="0"/>
              </a:rPr>
              <a:t>(WSV)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843" y="2627709"/>
            <a:ext cx="3149002" cy="4222234"/>
          </a:xfrm>
          <a:prstGeom prst="rect">
            <a:avLst/>
          </a:prstGeom>
          <a:noFill/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5100000">
              <a:rot lat="19225962" lon="572051" rev="21360000"/>
            </a:camera>
            <a:lightRig rig="chilly" dir="t"/>
          </a:scene3d>
          <a:sp3d z="-6350" extrusionH="38100" prstMaterial="softEdge">
            <a:bevelT w="260350" h="50800"/>
            <a:bevelB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6387" name="Picture 3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11188"/>
            <a:ext cx="2160588" cy="21605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06146" y="2915741"/>
            <a:ext cx="2693366" cy="407878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Rechteck 132"/>
          <p:cNvSpPr>
            <a:spLocks noChangeArrowheads="1"/>
          </p:cNvSpPr>
          <p:nvPr/>
        </p:nvSpPr>
        <p:spPr bwMode="auto">
          <a:xfrm>
            <a:off x="2497138" y="1571446"/>
            <a:ext cx="64390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The waterways in the ownership of the Federal Government are managed by the Federal Waterways and Shipping Agency (GDWS) with 40  </a:t>
            </a: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local </a:t>
            </a: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offices and 13,000 employees.</a:t>
            </a:r>
            <a:endParaRPr lang="de-DE" altLang="de-DE" sz="1600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2969642" y="6960606"/>
            <a:ext cx="2837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smtClean="0">
                <a:latin typeface="Arial" panose="020B0604020202020204" pitchFamily="34" charset="0"/>
                <a:cs typeface="Arial" panose="020B0604020202020204" pitchFamily="34" charset="0"/>
              </a:rPr>
              <a:t>German Federal Waterways</a:t>
            </a: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Zur Startseite der Wasser- und Schifffahrtsverwaltung des Bund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612" y="1724024"/>
            <a:ext cx="1104900" cy="104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0697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5"/>
          <p:cNvSpPr txBox="1">
            <a:spLocks noChangeArrowheads="1"/>
          </p:cNvSpPr>
          <p:nvPr/>
        </p:nvSpPr>
        <p:spPr bwMode="auto">
          <a:xfrm>
            <a:off x="0" y="6311900"/>
            <a:ext cx="15287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1D6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altLang="de-DE" sz="1600">
                <a:solidFill>
                  <a:srgbClr val="D5E5F3"/>
                </a:solidFill>
                <a:latin typeface="Arial" charset="0"/>
              </a:rPr>
              <a:t>Interdisciplinary fields</a:t>
            </a:r>
          </a:p>
        </p:txBody>
      </p:sp>
      <p:sp>
        <p:nvSpPr>
          <p:cNvPr id="11267" name="Rechteck 1"/>
          <p:cNvSpPr>
            <a:spLocks noChangeArrowheads="1"/>
          </p:cNvSpPr>
          <p:nvPr/>
        </p:nvSpPr>
        <p:spPr bwMode="auto">
          <a:xfrm>
            <a:off x="2427288" y="592130"/>
            <a:ext cx="5207000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r>
              <a:rPr lang="de-DE" altLang="de-DE" sz="2300" b="1">
                <a:solidFill>
                  <a:srgbClr val="003366"/>
                </a:solidFill>
                <a:latin typeface="Arial" charset="0"/>
              </a:rPr>
              <a:t>Interdisciplinary fields of activity</a:t>
            </a:r>
          </a:p>
        </p:txBody>
      </p:sp>
      <p:sp>
        <p:nvSpPr>
          <p:cNvPr id="133" name="Rechteck 132"/>
          <p:cNvSpPr/>
          <p:nvPr/>
        </p:nvSpPr>
        <p:spPr>
          <a:xfrm>
            <a:off x="4235450" y="1673225"/>
            <a:ext cx="5862638" cy="2720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 smtClean="0">
                <a:solidFill>
                  <a:srgbClr val="003366"/>
                </a:solidFill>
                <a:latin typeface="Arial" charset="0"/>
              </a:rPr>
              <a:t>Environmental </a:t>
            </a: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impact assessments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System analyses, e.g. of tidal waters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de-DE" altLang="de-DE" sz="1600">
                <a:solidFill>
                  <a:srgbClr val="003366"/>
                </a:solidFill>
                <a:latin typeface="Arial" charset="0"/>
              </a:rPr>
              <a:t>Sediment and dredged material management concepts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US" sz="1600" smtClean="0">
                <a:solidFill>
                  <a:srgbClr val="003366"/>
                </a:solidFill>
                <a:latin typeface="Arial" charset="0"/>
              </a:rPr>
              <a:t>Scientific/technical </a:t>
            </a:r>
            <a:r>
              <a:rPr lang="en-US" sz="1600">
                <a:solidFill>
                  <a:srgbClr val="003366"/>
                </a:solidFill>
                <a:latin typeface="Arial" charset="0"/>
              </a:rPr>
              <a:t>support to airborne surveillance and disaster management</a:t>
            </a:r>
            <a:endParaRPr lang="de-DE" altLang="de-DE" sz="1600">
              <a:solidFill>
                <a:srgbClr val="003366"/>
              </a:solidFill>
              <a:latin typeface="Arial" charset="0"/>
            </a:endParaRPr>
          </a:p>
          <a:p>
            <a:pPr lvl="1">
              <a:spcBef>
                <a:spcPct val="20000"/>
              </a:spcBef>
              <a:defRPr/>
            </a:pPr>
            <a:r>
              <a:rPr lang="de-DE" altLang="de-DE" sz="1400" smtClean="0">
                <a:solidFill>
                  <a:srgbClr val="003366"/>
                </a:solidFill>
                <a:latin typeface="Arial" charset="0"/>
              </a:rPr>
              <a:t>Detection, quantification and classification of</a:t>
            </a:r>
          </a:p>
          <a:p>
            <a:pPr marL="914400" lvl="1" indent="-457200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 smtClean="0">
                <a:solidFill>
                  <a:srgbClr val="003366"/>
                </a:solidFill>
                <a:latin typeface="Arial" charset="0"/>
              </a:rPr>
              <a:t>oil </a:t>
            </a: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spills and</a:t>
            </a:r>
          </a:p>
          <a:p>
            <a:pPr marL="914400" lvl="1" indent="-457200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chemical pollution</a:t>
            </a:r>
          </a:p>
          <a:p>
            <a:pPr lvl="1">
              <a:spcBef>
                <a:spcPct val="20000"/>
              </a:spcBef>
              <a:defRPr/>
            </a:pPr>
            <a:r>
              <a:rPr lang="de-DE" altLang="de-DE" sz="1400">
                <a:solidFill>
                  <a:srgbClr val="003366"/>
                </a:solidFill>
                <a:latin typeface="Arial" charset="0"/>
              </a:rPr>
              <a:t>on the surface of German territorial waters in the North Sea and the Baltic Sea</a:t>
            </a:r>
          </a:p>
        </p:txBody>
      </p:sp>
      <p:sp>
        <p:nvSpPr>
          <p:cNvPr id="25" name="Rechteck 24"/>
          <p:cNvSpPr/>
          <p:nvPr/>
        </p:nvSpPr>
        <p:spPr>
          <a:xfrm>
            <a:off x="2547938" y="2630488"/>
            <a:ext cx="1281112" cy="706437"/>
          </a:xfrm>
          <a:prstGeom prst="rect">
            <a:avLst/>
          </a:prstGeom>
          <a:solidFill>
            <a:srgbClr val="58A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1270" name="Textfeld 28"/>
          <p:cNvSpPr txBox="1">
            <a:spLocks noChangeArrowheads="1"/>
          </p:cNvSpPr>
          <p:nvPr/>
        </p:nvSpPr>
        <p:spPr bwMode="auto">
          <a:xfrm>
            <a:off x="2603500" y="2665413"/>
            <a:ext cx="11652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/>
            <a:r>
              <a:rPr lang="de-DE" altLang="de-DE" sz="1200" b="1">
                <a:latin typeface="Arial" charset="0"/>
                <a:cs typeface="Arial" charset="0"/>
              </a:rPr>
              <a:t>Division G</a:t>
            </a:r>
          </a:p>
        </p:txBody>
      </p:sp>
      <p:sp>
        <p:nvSpPr>
          <p:cNvPr id="11271" name="Textfeld 29"/>
          <p:cNvSpPr txBox="1">
            <a:spLocks noChangeArrowheads="1"/>
          </p:cNvSpPr>
          <p:nvPr/>
        </p:nvSpPr>
        <p:spPr bwMode="auto">
          <a:xfrm>
            <a:off x="2522538" y="2873375"/>
            <a:ext cx="12461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/>
            <a:r>
              <a:rPr lang="de-DE" altLang="de-DE" sz="1000">
                <a:latin typeface="Arial" charset="0"/>
                <a:cs typeface="Arial" charset="0"/>
              </a:rPr>
              <a:t>Qualitative Hydrology</a:t>
            </a:r>
          </a:p>
        </p:txBody>
      </p:sp>
      <p:sp>
        <p:nvSpPr>
          <p:cNvPr id="32" name="Rechteck 31"/>
          <p:cNvSpPr/>
          <p:nvPr/>
        </p:nvSpPr>
        <p:spPr>
          <a:xfrm>
            <a:off x="2536825" y="3605213"/>
            <a:ext cx="1270000" cy="679450"/>
          </a:xfrm>
          <a:prstGeom prst="rect">
            <a:avLst/>
          </a:prstGeom>
          <a:solidFill>
            <a:srgbClr val="58A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1273" name="Textfeld 32"/>
          <p:cNvSpPr txBox="1">
            <a:spLocks noChangeArrowheads="1"/>
          </p:cNvSpPr>
          <p:nvPr/>
        </p:nvSpPr>
        <p:spPr bwMode="auto">
          <a:xfrm>
            <a:off x="2551113" y="3636963"/>
            <a:ext cx="1247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/>
            <a:r>
              <a:rPr lang="de-DE" altLang="de-DE" sz="1200" b="1">
                <a:latin typeface="Arial" charset="0"/>
                <a:cs typeface="Arial" charset="0"/>
              </a:rPr>
              <a:t>Division U</a:t>
            </a:r>
          </a:p>
        </p:txBody>
      </p:sp>
      <p:sp>
        <p:nvSpPr>
          <p:cNvPr id="11274" name="Textfeld 33"/>
          <p:cNvSpPr txBox="1">
            <a:spLocks noChangeArrowheads="1"/>
          </p:cNvSpPr>
          <p:nvPr/>
        </p:nvSpPr>
        <p:spPr bwMode="auto">
          <a:xfrm>
            <a:off x="2551113" y="3843338"/>
            <a:ext cx="12477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/>
            <a:r>
              <a:rPr lang="de-DE" altLang="de-DE" sz="1000">
                <a:latin typeface="Arial" charset="0"/>
                <a:cs typeface="Arial" charset="0"/>
              </a:rPr>
              <a:t>Ecology</a:t>
            </a:r>
          </a:p>
        </p:txBody>
      </p:sp>
      <p:cxnSp>
        <p:nvCxnSpPr>
          <p:cNvPr id="11275" name="Gerade Verbindung 34"/>
          <p:cNvCxnSpPr>
            <a:cxnSpLocks noChangeShapeType="1"/>
          </p:cNvCxnSpPr>
          <p:nvPr/>
        </p:nvCxnSpPr>
        <p:spPr bwMode="auto">
          <a:xfrm>
            <a:off x="2487613" y="4311650"/>
            <a:ext cx="1473200" cy="0"/>
          </a:xfrm>
          <a:prstGeom prst="line">
            <a:avLst/>
          </a:prstGeom>
          <a:noFill/>
          <a:ln w="44450" algn="ctr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hteck 35"/>
          <p:cNvSpPr/>
          <p:nvPr/>
        </p:nvSpPr>
        <p:spPr>
          <a:xfrm>
            <a:off x="2570163" y="1673225"/>
            <a:ext cx="1258887" cy="679450"/>
          </a:xfrm>
          <a:prstGeom prst="rect">
            <a:avLst/>
          </a:prstGeom>
          <a:solidFill>
            <a:srgbClr val="58A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1277" name="Textfeld 36"/>
          <p:cNvSpPr txBox="1">
            <a:spLocks noChangeArrowheads="1"/>
          </p:cNvSpPr>
          <p:nvPr/>
        </p:nvSpPr>
        <p:spPr bwMode="auto">
          <a:xfrm>
            <a:off x="2643188" y="1706563"/>
            <a:ext cx="11636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/>
            <a:r>
              <a:rPr lang="de-DE" altLang="de-DE" sz="1200" b="1">
                <a:latin typeface="Arial" charset="0"/>
                <a:cs typeface="Arial" charset="0"/>
              </a:rPr>
              <a:t>Division M</a:t>
            </a:r>
          </a:p>
        </p:txBody>
      </p:sp>
      <p:sp>
        <p:nvSpPr>
          <p:cNvPr id="11278" name="Textfeld 37"/>
          <p:cNvSpPr txBox="1">
            <a:spLocks noChangeArrowheads="1"/>
          </p:cNvSpPr>
          <p:nvPr/>
        </p:nvSpPr>
        <p:spPr bwMode="auto">
          <a:xfrm>
            <a:off x="2560638" y="1912938"/>
            <a:ext cx="12461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/>
            <a:r>
              <a:rPr lang="de-DE" altLang="de-DE" sz="1000">
                <a:latin typeface="Arial" charset="0"/>
                <a:cs typeface="Arial" charset="0"/>
              </a:rPr>
              <a:t>Quantitative Hydrology</a:t>
            </a:r>
          </a:p>
        </p:txBody>
      </p:sp>
      <p:pic>
        <p:nvPicPr>
          <p:cNvPr id="40" name="Picture 23" descr="StrahlenEntstört-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35450" y="5381297"/>
            <a:ext cx="1943100" cy="1848178"/>
          </a:xfrm>
          <a:prstGeom prst="rect">
            <a:avLst/>
          </a:prstGeom>
          <a:noFill/>
          <a:ln w="50800" cmpd="sng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70863" y="5395913"/>
            <a:ext cx="1844675" cy="1839912"/>
          </a:xfrm>
          <a:prstGeom prst="rect">
            <a:avLst/>
          </a:prstGeom>
          <a:noFill/>
          <a:ln w="50800" cmpd="sng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23000" y="5395913"/>
            <a:ext cx="1931988" cy="1833562"/>
          </a:xfrm>
          <a:prstGeom prst="rect">
            <a:avLst/>
          </a:prstGeom>
          <a:noFill/>
          <a:ln w="50800" cmpd="sng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8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225"/>
            <a:ext cx="2160000" cy="216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788" y="1460938"/>
            <a:ext cx="8164835" cy="517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0" y="6326188"/>
            <a:ext cx="16014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1D6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altLang="de-DE" sz="1600">
                <a:solidFill>
                  <a:srgbClr val="D5E5F3"/>
                </a:solidFill>
                <a:latin typeface="Arial" charset="0"/>
              </a:rPr>
              <a:t>S</a:t>
            </a:r>
            <a:r>
              <a:rPr lang="de-DE" altLang="de-DE" sz="1600" smtClean="0">
                <a:solidFill>
                  <a:srgbClr val="D5E5F3"/>
                </a:solidFill>
                <a:latin typeface="Arial" charset="0"/>
              </a:rPr>
              <a:t>cientists</a:t>
            </a:r>
            <a:endParaRPr lang="de-DE" altLang="de-DE" sz="1600">
              <a:solidFill>
                <a:srgbClr val="D5E5F3"/>
              </a:solidFill>
              <a:latin typeface="Arial" charset="0"/>
            </a:endParaRPr>
          </a:p>
        </p:txBody>
      </p:sp>
      <p:sp>
        <p:nvSpPr>
          <p:cNvPr id="13315" name="Rechteck 1"/>
          <p:cNvSpPr>
            <a:spLocks noChangeArrowheads="1"/>
          </p:cNvSpPr>
          <p:nvPr/>
        </p:nvSpPr>
        <p:spPr bwMode="auto">
          <a:xfrm>
            <a:off x="2391766" y="899517"/>
            <a:ext cx="7126953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de-DE" altLang="de-DE" sz="2300" b="1" smtClean="0">
                <a:solidFill>
                  <a:srgbClr val="003366"/>
                </a:solidFill>
                <a:latin typeface="Arial" charset="0"/>
              </a:rPr>
              <a:t>BfG works with a number </a:t>
            </a:r>
            <a:r>
              <a:rPr lang="de-DE" altLang="de-DE" sz="2300" b="1">
                <a:solidFill>
                  <a:srgbClr val="003366"/>
                </a:solidFill>
                <a:latin typeface="Arial" charset="0"/>
              </a:rPr>
              <a:t>of </a:t>
            </a:r>
            <a:r>
              <a:rPr lang="de-DE" sz="2300" b="1">
                <a:solidFill>
                  <a:srgbClr val="003366"/>
                </a:solidFill>
                <a:latin typeface="Arial" charset="0"/>
              </a:rPr>
              <a:t>university experts</a:t>
            </a:r>
            <a:endParaRPr lang="de-DE" altLang="de-DE" sz="2300" b="1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4769842" y="6681673"/>
            <a:ext cx="43924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to the scientists</a:t>
            </a:r>
          </a:p>
          <a:p>
            <a:pPr algn="ctr"/>
            <a:r>
              <a:rPr lang="de-DE" sz="140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(2014)</a:t>
            </a:r>
            <a:endParaRPr lang="de-DE" sz="1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64" name="Picture 4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485"/>
            <a:ext cx="2160000" cy="216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uppieren 8"/>
          <p:cNvGrpSpPr/>
          <p:nvPr/>
        </p:nvGrpSpPr>
        <p:grpSpPr>
          <a:xfrm>
            <a:off x="5777954" y="1979637"/>
            <a:ext cx="4564876" cy="4329203"/>
            <a:chOff x="1619992" y="608872"/>
            <a:chExt cx="5760000" cy="5771977"/>
          </a:xfrm>
        </p:grpSpPr>
        <p:pic>
          <p:nvPicPr>
            <p:cNvPr id="10" name="Picture 2"/>
            <p:cNvPicPr preferRelativeResize="0"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9992" y="4940849"/>
              <a:ext cx="1440000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/>
            <p:cNvPicPr preferRelativeResize="0"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9992" y="2048872"/>
              <a:ext cx="1440000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4"/>
            <p:cNvPicPr preferRelativeResize="0"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9992" y="4940849"/>
              <a:ext cx="1440000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5"/>
            <p:cNvPicPr preferRelativeResize="0">
              <a:picLocks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9992" y="4928872"/>
              <a:ext cx="1440000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6"/>
            <p:cNvPicPr preferRelativeResize="0">
              <a:picLocks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9993" y="3500849"/>
              <a:ext cx="1440001" cy="1440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7"/>
            <p:cNvPicPr preferRelativeResize="0"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9992" y="608872"/>
              <a:ext cx="1440000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8"/>
            <p:cNvPicPr preferRelativeResize="0">
              <a:picLocks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9992" y="4928872"/>
              <a:ext cx="1440000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9"/>
            <p:cNvPicPr preferRelativeResize="0">
              <a:picLocks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9992" y="3488872"/>
              <a:ext cx="1440000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0"/>
            <p:cNvPicPr preferRelativeResize="0">
              <a:picLocks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9992" y="3488872"/>
              <a:ext cx="1440000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11"/>
            <p:cNvPicPr preferRelativeResize="0">
              <a:picLocks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9992" y="2048872"/>
              <a:ext cx="1440000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feld 1"/>
          <p:cNvSpPr txBox="1"/>
          <p:nvPr/>
        </p:nvSpPr>
        <p:spPr>
          <a:xfrm>
            <a:off x="5417914" y="2793116"/>
            <a:ext cx="2376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250</a:t>
            </a:r>
          </a:p>
          <a:p>
            <a:pPr algn="ctr"/>
            <a:r>
              <a:rPr lang="de-DE" sz="160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scientists and</a:t>
            </a:r>
          </a:p>
          <a:p>
            <a:pPr algn="ctr"/>
            <a:r>
              <a:rPr lang="de-DE" sz="160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scientific assistants</a:t>
            </a:r>
            <a:endParaRPr lang="de-DE" sz="16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4196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5"/>
          <p:cNvSpPr txBox="1">
            <a:spLocks noChangeArrowheads="1"/>
          </p:cNvSpPr>
          <p:nvPr/>
        </p:nvSpPr>
        <p:spPr bwMode="auto">
          <a:xfrm>
            <a:off x="0" y="6311900"/>
            <a:ext cx="152876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1D6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altLang="de-DE" sz="1600" smtClean="0">
                <a:solidFill>
                  <a:srgbClr val="D5E5F3"/>
                </a:solidFill>
                <a:latin typeface="Arial" charset="0"/>
              </a:rPr>
              <a:t>UNESCO</a:t>
            </a:r>
          </a:p>
          <a:p>
            <a:pPr algn="ctr" eaLnBrk="1" hangingPunct="1">
              <a:spcBef>
                <a:spcPct val="50000"/>
              </a:spcBef>
            </a:pPr>
            <a:r>
              <a:rPr lang="de-DE" altLang="de-DE" sz="1600" smtClean="0">
                <a:solidFill>
                  <a:srgbClr val="D5E5F3"/>
                </a:solidFill>
                <a:latin typeface="Arial" charset="0"/>
              </a:rPr>
              <a:t>Cat II Centre</a:t>
            </a:r>
          </a:p>
          <a:p>
            <a:pPr algn="ctr" eaLnBrk="1" hangingPunct="1">
              <a:spcBef>
                <a:spcPct val="50000"/>
              </a:spcBef>
            </a:pPr>
            <a:endParaRPr lang="de-DE" altLang="de-DE" sz="1600">
              <a:solidFill>
                <a:srgbClr val="D5E5F3"/>
              </a:solidFill>
              <a:latin typeface="Arial" charset="0"/>
            </a:endParaRPr>
          </a:p>
        </p:txBody>
      </p:sp>
      <p:sp>
        <p:nvSpPr>
          <p:cNvPr id="11267" name="Rechteck 1"/>
          <p:cNvSpPr>
            <a:spLocks noChangeArrowheads="1"/>
          </p:cNvSpPr>
          <p:nvPr/>
        </p:nvSpPr>
        <p:spPr bwMode="auto">
          <a:xfrm>
            <a:off x="2805157" y="732059"/>
            <a:ext cx="520700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r>
              <a:rPr lang="de-DE" altLang="de-DE" sz="2300" b="1" dirty="0" smtClean="0">
                <a:solidFill>
                  <a:srgbClr val="003366"/>
                </a:solidFill>
                <a:latin typeface="Arial" charset="0"/>
              </a:rPr>
              <a:t>Networking </a:t>
            </a:r>
            <a:r>
              <a:rPr lang="de-DE" altLang="de-DE" sz="2300" b="1" err="1" smtClean="0">
                <a:solidFill>
                  <a:srgbClr val="003366"/>
                </a:solidFill>
                <a:latin typeface="Arial" charset="0"/>
              </a:rPr>
              <a:t>and</a:t>
            </a:r>
            <a:r>
              <a:rPr lang="de-DE" altLang="de-DE" sz="2300" b="1" smtClean="0">
                <a:solidFill>
                  <a:srgbClr val="003366"/>
                </a:solidFill>
                <a:latin typeface="Arial" charset="0"/>
              </a:rPr>
              <a:t> Co-operation</a:t>
            </a:r>
            <a:endParaRPr lang="de-DE" altLang="de-DE" sz="2300" b="1" dirty="0">
              <a:solidFill>
                <a:srgbClr val="003366"/>
              </a:solidFill>
              <a:latin typeface="Arial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05"/>
            <a:ext cx="2247900" cy="22669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Rechteck 43"/>
          <p:cNvSpPr/>
          <p:nvPr/>
        </p:nvSpPr>
        <p:spPr bwMode="auto">
          <a:xfrm>
            <a:off x="4308360" y="2850391"/>
            <a:ext cx="1334461" cy="2774850"/>
          </a:xfrm>
          <a:prstGeom prst="rect">
            <a:avLst/>
          </a:prstGeom>
          <a:solidFill>
            <a:srgbClr val="CDE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5" name="Rechteck 44"/>
          <p:cNvSpPr/>
          <p:nvPr/>
        </p:nvSpPr>
        <p:spPr bwMode="auto">
          <a:xfrm>
            <a:off x="5734201" y="2840320"/>
            <a:ext cx="1334461" cy="2774850"/>
          </a:xfrm>
          <a:prstGeom prst="rect">
            <a:avLst/>
          </a:prstGeom>
          <a:solidFill>
            <a:srgbClr val="CDE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6" name="Rechteck 45"/>
          <p:cNvSpPr/>
          <p:nvPr/>
        </p:nvSpPr>
        <p:spPr bwMode="auto">
          <a:xfrm>
            <a:off x="7174221" y="2850391"/>
            <a:ext cx="1334461" cy="2774850"/>
          </a:xfrm>
          <a:prstGeom prst="rect">
            <a:avLst/>
          </a:prstGeom>
          <a:solidFill>
            <a:srgbClr val="CDE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7" name="Rechteck 46"/>
          <p:cNvSpPr/>
          <p:nvPr/>
        </p:nvSpPr>
        <p:spPr bwMode="auto">
          <a:xfrm>
            <a:off x="8617176" y="2840320"/>
            <a:ext cx="1334461" cy="2774850"/>
          </a:xfrm>
          <a:prstGeom prst="rect">
            <a:avLst/>
          </a:prstGeom>
          <a:solidFill>
            <a:srgbClr val="CDE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8" name="Rechteck 47"/>
          <p:cNvSpPr/>
          <p:nvPr/>
        </p:nvSpPr>
        <p:spPr bwMode="auto">
          <a:xfrm>
            <a:off x="2881336" y="2840320"/>
            <a:ext cx="1334461" cy="2774850"/>
          </a:xfrm>
          <a:prstGeom prst="rect">
            <a:avLst/>
          </a:prstGeom>
          <a:solidFill>
            <a:srgbClr val="CDE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9" name="Rechteck 48"/>
          <p:cNvSpPr/>
          <p:nvPr/>
        </p:nvSpPr>
        <p:spPr bwMode="auto">
          <a:xfrm>
            <a:off x="2878417" y="1354195"/>
            <a:ext cx="7055326" cy="792088"/>
          </a:xfrm>
          <a:prstGeom prst="rect">
            <a:avLst/>
          </a:prstGeom>
          <a:solidFill>
            <a:srgbClr val="0097A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0" name="Textfeld 49"/>
          <p:cNvSpPr txBox="1"/>
          <p:nvPr/>
        </p:nvSpPr>
        <p:spPr>
          <a:xfrm>
            <a:off x="2881337" y="1445314"/>
            <a:ext cx="7084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Centre for Water Resources and Global Change</a:t>
            </a:r>
          </a:p>
          <a:p>
            <a:pPr algn="ctr"/>
            <a:r>
              <a:rPr lang="en-GB" sz="1600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UNESCO Cat II Centre</a:t>
            </a:r>
            <a:endParaRPr lang="en-GB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Rechteck 50"/>
          <p:cNvSpPr/>
          <p:nvPr/>
        </p:nvSpPr>
        <p:spPr bwMode="auto">
          <a:xfrm>
            <a:off x="2881337" y="2260359"/>
            <a:ext cx="1334461" cy="579962"/>
          </a:xfrm>
          <a:prstGeom prst="rect">
            <a:avLst/>
          </a:prstGeom>
          <a:solidFill>
            <a:srgbClr val="4DB6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2" name="Textfeld 51"/>
          <p:cNvSpPr txBox="1"/>
          <p:nvPr/>
        </p:nvSpPr>
        <p:spPr>
          <a:xfrm>
            <a:off x="2881337" y="2255546"/>
            <a:ext cx="133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projects</a:t>
            </a:r>
            <a:endParaRPr lang="en-GB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Rechteck 52"/>
          <p:cNvSpPr/>
          <p:nvPr/>
        </p:nvSpPr>
        <p:spPr bwMode="auto">
          <a:xfrm>
            <a:off x="4304652" y="2270429"/>
            <a:ext cx="1334461" cy="579962"/>
          </a:xfrm>
          <a:prstGeom prst="rect">
            <a:avLst/>
          </a:prstGeom>
          <a:solidFill>
            <a:srgbClr val="4DB6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4" name="Textfeld 53"/>
          <p:cNvSpPr txBox="1"/>
          <p:nvPr/>
        </p:nvSpPr>
        <p:spPr>
          <a:xfrm>
            <a:off x="4215798" y="2265616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Capacity development</a:t>
            </a:r>
            <a:endParaRPr lang="en-GB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5" name="Rechteck 54"/>
          <p:cNvSpPr/>
          <p:nvPr/>
        </p:nvSpPr>
        <p:spPr bwMode="auto">
          <a:xfrm>
            <a:off x="5727967" y="2260358"/>
            <a:ext cx="1334461" cy="579962"/>
          </a:xfrm>
          <a:prstGeom prst="rect">
            <a:avLst/>
          </a:prstGeom>
          <a:solidFill>
            <a:srgbClr val="4DB6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6" name="Textfeld 55"/>
          <p:cNvSpPr txBox="1"/>
          <p:nvPr/>
        </p:nvSpPr>
        <p:spPr>
          <a:xfrm>
            <a:off x="5573112" y="2378656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endParaRPr lang="en-GB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7" name="Rechteck 56"/>
          <p:cNvSpPr/>
          <p:nvPr/>
        </p:nvSpPr>
        <p:spPr bwMode="auto">
          <a:xfrm>
            <a:off x="7174221" y="2260358"/>
            <a:ext cx="1334461" cy="579962"/>
          </a:xfrm>
          <a:prstGeom prst="rect">
            <a:avLst/>
          </a:prstGeom>
          <a:solidFill>
            <a:srgbClr val="4DB6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8" name="Textfeld 57"/>
          <p:cNvSpPr txBox="1"/>
          <p:nvPr/>
        </p:nvSpPr>
        <p:spPr>
          <a:xfrm>
            <a:off x="7019366" y="2378656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Networks</a:t>
            </a:r>
            <a:endParaRPr lang="en-GB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9" name="Rechteck 58"/>
          <p:cNvSpPr/>
          <p:nvPr/>
        </p:nvSpPr>
        <p:spPr bwMode="auto">
          <a:xfrm>
            <a:off x="8617179" y="2270429"/>
            <a:ext cx="1334461" cy="579962"/>
          </a:xfrm>
          <a:prstGeom prst="rect">
            <a:avLst/>
          </a:prstGeom>
          <a:solidFill>
            <a:srgbClr val="4DB6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0" name="Textfeld 59"/>
          <p:cNvSpPr txBox="1"/>
          <p:nvPr/>
        </p:nvSpPr>
        <p:spPr>
          <a:xfrm>
            <a:off x="8617179" y="2265616"/>
            <a:ext cx="133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IHP /HWRP Secretariat</a:t>
            </a:r>
            <a:endParaRPr lang="en-GB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2881337" y="2950243"/>
            <a:ext cx="133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Seamless prediction</a:t>
            </a:r>
          </a:p>
        </p:txBody>
      </p:sp>
      <p:sp>
        <p:nvSpPr>
          <p:cNvPr id="62" name="Textfeld 61"/>
          <p:cNvSpPr txBox="1"/>
          <p:nvPr/>
        </p:nvSpPr>
        <p:spPr>
          <a:xfrm>
            <a:off x="2805157" y="3545693"/>
            <a:ext cx="1441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 smtClean="0"/>
              <a:t>Climate impact research in Vietnam</a:t>
            </a:r>
            <a:endParaRPr lang="en-GB" dirty="0"/>
          </a:p>
        </p:txBody>
      </p:sp>
      <p:sp>
        <p:nvSpPr>
          <p:cNvPr id="63" name="Textfeld 62"/>
          <p:cNvSpPr txBox="1"/>
          <p:nvPr/>
        </p:nvSpPr>
        <p:spPr>
          <a:xfrm>
            <a:off x="4304652" y="3057964"/>
            <a:ext cx="1334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 smtClean="0"/>
              <a:t>E-Learning</a:t>
            </a:r>
            <a:endParaRPr lang="en-GB" dirty="0"/>
          </a:p>
        </p:txBody>
      </p:sp>
      <p:sp>
        <p:nvSpPr>
          <p:cNvPr id="64" name="Textfeld 63"/>
          <p:cNvSpPr txBox="1"/>
          <p:nvPr/>
        </p:nvSpPr>
        <p:spPr>
          <a:xfrm>
            <a:off x="4273573" y="3499529"/>
            <a:ext cx="14543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Technical workshops for improving operational capabilities</a:t>
            </a:r>
            <a:endParaRPr lang="en-GB" sz="1200" b="1" dirty="0">
              <a:solidFill>
                <a:schemeClr val="bg2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5" name="Textfeld 64"/>
          <p:cNvSpPr txBox="1"/>
          <p:nvPr/>
        </p:nvSpPr>
        <p:spPr>
          <a:xfrm>
            <a:off x="4299621" y="4555286"/>
            <a:ext cx="133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 smtClean="0"/>
              <a:t>Scientific workshops</a:t>
            </a:r>
            <a:endParaRPr lang="en-GB" dirty="0"/>
          </a:p>
        </p:txBody>
      </p:sp>
      <p:sp>
        <p:nvSpPr>
          <p:cNvPr id="66" name="Textfeld 65"/>
          <p:cNvSpPr txBox="1"/>
          <p:nvPr/>
        </p:nvSpPr>
        <p:spPr>
          <a:xfrm>
            <a:off x="4238820" y="5213563"/>
            <a:ext cx="1423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 smtClean="0"/>
              <a:t>Conferences</a:t>
            </a:r>
            <a:endParaRPr lang="en-GB" dirty="0"/>
          </a:p>
        </p:txBody>
      </p:sp>
      <p:sp>
        <p:nvSpPr>
          <p:cNvPr id="67" name="Textfeld 66"/>
          <p:cNvSpPr txBox="1"/>
          <p:nvPr/>
        </p:nvSpPr>
        <p:spPr>
          <a:xfrm>
            <a:off x="7168357" y="3057963"/>
            <a:ext cx="1334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Hydroforum</a:t>
            </a:r>
          </a:p>
        </p:txBody>
      </p:sp>
      <p:sp>
        <p:nvSpPr>
          <p:cNvPr id="68" name="Textfeld 67"/>
          <p:cNvSpPr txBox="1"/>
          <p:nvPr/>
        </p:nvSpPr>
        <p:spPr>
          <a:xfrm>
            <a:off x="7149593" y="3776527"/>
            <a:ext cx="1404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 smtClean="0"/>
              <a:t>Scientific Commissions</a:t>
            </a:r>
            <a:endParaRPr lang="en-GB" dirty="0"/>
          </a:p>
        </p:txBody>
      </p:sp>
      <p:sp>
        <p:nvSpPr>
          <p:cNvPr id="69" name="Textfeld 68"/>
          <p:cNvSpPr txBox="1"/>
          <p:nvPr/>
        </p:nvSpPr>
        <p:spPr>
          <a:xfrm>
            <a:off x="5761952" y="2965628"/>
            <a:ext cx="133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 smtClean="0"/>
              <a:t>Global Water Data Centre</a:t>
            </a:r>
            <a:endParaRPr lang="en-GB" dirty="0"/>
          </a:p>
        </p:txBody>
      </p:sp>
      <p:sp>
        <p:nvSpPr>
          <p:cNvPr id="70" name="Textfeld 69"/>
          <p:cNvSpPr txBox="1"/>
          <p:nvPr/>
        </p:nvSpPr>
        <p:spPr>
          <a:xfrm>
            <a:off x="5727967" y="3868860"/>
            <a:ext cx="1334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 err="1"/>
              <a:t>GEMStat</a:t>
            </a:r>
            <a:endParaRPr lang="de-DE" dirty="0"/>
          </a:p>
        </p:txBody>
      </p:sp>
      <p:sp>
        <p:nvSpPr>
          <p:cNvPr id="71" name="Textfeld 70"/>
          <p:cNvSpPr txBox="1"/>
          <p:nvPr/>
        </p:nvSpPr>
        <p:spPr>
          <a:xfrm>
            <a:off x="5773989" y="4555287"/>
            <a:ext cx="133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Global Water Portal</a:t>
            </a:r>
          </a:p>
        </p:txBody>
      </p:sp>
      <p:sp>
        <p:nvSpPr>
          <p:cNvPr id="72" name="Textfeld 71"/>
          <p:cNvSpPr txBox="1"/>
          <p:nvPr/>
        </p:nvSpPr>
        <p:spPr>
          <a:xfrm>
            <a:off x="8617178" y="3057962"/>
            <a:ext cx="1334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IHP projects</a:t>
            </a:r>
          </a:p>
        </p:txBody>
      </p:sp>
      <p:sp>
        <p:nvSpPr>
          <p:cNvPr id="73" name="Textfeld 72"/>
          <p:cNvSpPr txBox="1"/>
          <p:nvPr/>
        </p:nvSpPr>
        <p:spPr>
          <a:xfrm>
            <a:off x="8641728" y="3776526"/>
            <a:ext cx="133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HWRP projects</a:t>
            </a:r>
          </a:p>
        </p:txBody>
      </p:sp>
      <p:sp>
        <p:nvSpPr>
          <p:cNvPr id="74" name="Textfeld 73"/>
          <p:cNvSpPr txBox="1"/>
          <p:nvPr/>
        </p:nvSpPr>
        <p:spPr>
          <a:xfrm>
            <a:off x="8592899" y="4647619"/>
            <a:ext cx="1334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HyWa</a:t>
            </a:r>
          </a:p>
        </p:txBody>
      </p:sp>
      <p:sp>
        <p:nvSpPr>
          <p:cNvPr id="75" name="Textfeld 74"/>
          <p:cNvSpPr txBox="1"/>
          <p:nvPr/>
        </p:nvSpPr>
        <p:spPr>
          <a:xfrm>
            <a:off x="8575004" y="5213564"/>
            <a:ext cx="1334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DHG</a:t>
            </a:r>
          </a:p>
        </p:txBody>
      </p:sp>
      <p:sp>
        <p:nvSpPr>
          <p:cNvPr id="76" name="Rechteck 75"/>
          <p:cNvSpPr/>
          <p:nvPr/>
        </p:nvSpPr>
        <p:spPr bwMode="auto">
          <a:xfrm>
            <a:off x="2877425" y="5575697"/>
            <a:ext cx="7067231" cy="579962"/>
          </a:xfrm>
          <a:prstGeom prst="rect">
            <a:avLst/>
          </a:prstGeom>
          <a:solidFill>
            <a:srgbClr val="4DB6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7" name="Textfeld 76"/>
          <p:cNvSpPr txBox="1"/>
          <p:nvPr/>
        </p:nvSpPr>
        <p:spPr>
          <a:xfrm>
            <a:off x="3050113" y="5575697"/>
            <a:ext cx="6779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Partners</a:t>
            </a:r>
            <a:endParaRPr lang="de-DE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de-DE" sz="1200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CHR – GRDC – GPCC – IAHS – IAH – ICRAG – UN-</a:t>
            </a:r>
            <a:r>
              <a:rPr lang="de-DE" sz="1200" dirty="0" err="1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</a:t>
            </a:r>
            <a:r>
              <a:rPr lang="de-DE" sz="1200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UNEP – UNESCO – WMO - WWAP</a:t>
            </a:r>
            <a:endParaRPr lang="de-DE" sz="1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8" name="Rechteck 77"/>
          <p:cNvSpPr/>
          <p:nvPr/>
        </p:nvSpPr>
        <p:spPr>
          <a:xfrm>
            <a:off x="2805157" y="6394537"/>
            <a:ext cx="71285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003366"/>
                </a:solidFill>
                <a:latin typeface="Arial" charset="0"/>
              </a:rPr>
              <a:t>The Federal Institute of </a:t>
            </a:r>
            <a:r>
              <a:rPr lang="en-US" sz="1600" dirty="0" smtClean="0">
                <a:solidFill>
                  <a:srgbClr val="003366"/>
                </a:solidFill>
                <a:latin typeface="Arial" charset="0"/>
              </a:rPr>
              <a:t>Hydrology is serving the </a:t>
            </a:r>
            <a:r>
              <a:rPr lang="en-US" sz="1600" smtClean="0">
                <a:solidFill>
                  <a:srgbClr val="003366"/>
                </a:solidFill>
                <a:latin typeface="Arial" charset="0"/>
              </a:rPr>
              <a:t>international community by </a:t>
            </a:r>
            <a:r>
              <a:rPr lang="en-US" sz="1600" dirty="0" smtClean="0">
                <a:solidFill>
                  <a:srgbClr val="003366"/>
                </a:solidFill>
                <a:latin typeface="Arial" charset="0"/>
              </a:rPr>
              <a:t>operating the Global Water Data Centre </a:t>
            </a:r>
            <a:r>
              <a:rPr lang="en-US" sz="1600" smtClean="0">
                <a:solidFill>
                  <a:srgbClr val="003366"/>
                </a:solidFill>
                <a:latin typeface="Arial" charset="0"/>
              </a:rPr>
              <a:t>&amp; the </a:t>
            </a:r>
            <a:r>
              <a:rPr lang="en-US" sz="1600" dirty="0" smtClean="0">
                <a:solidFill>
                  <a:srgbClr val="003366"/>
                </a:solidFill>
                <a:latin typeface="Arial" charset="0"/>
              </a:rPr>
              <a:t>Center for Water Resources and Global Change </a:t>
            </a:r>
          </a:p>
        </p:txBody>
      </p:sp>
    </p:spTree>
    <p:extLst>
      <p:ext uri="{BB962C8B-B14F-4D97-AF65-F5344CB8AC3E}">
        <p14:creationId xmlns:p14="http://schemas.microsoft.com/office/powerpoint/2010/main" val="12481584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5"/>
          <p:cNvSpPr txBox="1">
            <a:spLocks noChangeArrowheads="1"/>
          </p:cNvSpPr>
          <p:nvPr/>
        </p:nvSpPr>
        <p:spPr bwMode="auto">
          <a:xfrm>
            <a:off x="0" y="6311900"/>
            <a:ext cx="152876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1D6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altLang="de-DE" sz="1600">
                <a:solidFill>
                  <a:srgbClr val="D5E5F3"/>
                </a:solidFill>
                <a:latin typeface="Arial" charset="0"/>
              </a:rPr>
              <a:t>GRDC</a:t>
            </a:r>
          </a:p>
        </p:txBody>
      </p:sp>
      <p:sp>
        <p:nvSpPr>
          <p:cNvPr id="12291" name="Rechteck 1"/>
          <p:cNvSpPr>
            <a:spLocks noChangeArrowheads="1"/>
          </p:cNvSpPr>
          <p:nvPr/>
        </p:nvSpPr>
        <p:spPr bwMode="auto">
          <a:xfrm>
            <a:off x="2427288" y="755650"/>
            <a:ext cx="5207000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r>
              <a:rPr lang="de-DE" altLang="de-DE" sz="2300" b="1">
                <a:solidFill>
                  <a:srgbClr val="003366"/>
                </a:solidFill>
                <a:latin typeface="Arial" charset="0"/>
              </a:rPr>
              <a:t>Global Runoff Data Centre </a:t>
            </a:r>
            <a:r>
              <a:rPr lang="de-DE" altLang="de-DE" sz="2300">
                <a:solidFill>
                  <a:srgbClr val="003366"/>
                </a:solidFill>
                <a:latin typeface="Arial" charset="0"/>
              </a:rPr>
              <a:t>(GRDC)</a:t>
            </a:r>
          </a:p>
        </p:txBody>
      </p:sp>
      <p:pic>
        <p:nvPicPr>
          <p:cNvPr id="20483" name="Picture 3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27063"/>
            <a:ext cx="2160588" cy="2159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Rechteck 1"/>
          <p:cNvSpPr>
            <a:spLocks noChangeArrowheads="1"/>
          </p:cNvSpPr>
          <p:nvPr/>
        </p:nvSpPr>
        <p:spPr bwMode="auto">
          <a:xfrm>
            <a:off x="2391849" y="6075892"/>
            <a:ext cx="468205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just"/>
            <a:r>
              <a:rPr lang="en-US" altLang="de-DE" sz="1600">
                <a:solidFill>
                  <a:srgbClr val="003366"/>
                </a:solidFill>
                <a:latin typeface="Arial" charset="0"/>
              </a:rPr>
              <a:t>The </a:t>
            </a:r>
            <a:r>
              <a:rPr lang="en-US" altLang="de-DE" sz="1600" smtClean="0">
                <a:solidFill>
                  <a:srgbClr val="003366"/>
                </a:solidFill>
                <a:latin typeface="Arial" charset="0"/>
              </a:rPr>
              <a:t>BfG operates the GRDC under the auspices of the World Meteorological Organization.</a:t>
            </a:r>
          </a:p>
          <a:p>
            <a:pPr algn="just"/>
            <a:r>
              <a:rPr lang="en-US" altLang="de-DE" sz="1600" smtClean="0">
                <a:solidFill>
                  <a:srgbClr val="003366"/>
                </a:solidFill>
                <a:latin typeface="Arial" charset="0"/>
              </a:rPr>
              <a:t>This international archive of river discharge times series is supporting global change research.</a:t>
            </a:r>
            <a:endParaRPr lang="de-DE" altLang="de-DE" sz="1600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12295" name="Rechteck 1"/>
          <p:cNvSpPr>
            <a:spLocks noChangeArrowheads="1"/>
          </p:cNvSpPr>
          <p:nvPr/>
        </p:nvSpPr>
        <p:spPr bwMode="auto">
          <a:xfrm>
            <a:off x="7073900" y="6427788"/>
            <a:ext cx="3128963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r"/>
            <a:r>
              <a:rPr lang="de-DE" altLang="de-DE" sz="2300" b="1">
                <a:solidFill>
                  <a:srgbClr val="003366"/>
                </a:solidFill>
                <a:latin typeface="Arial" charset="0"/>
              </a:rPr>
              <a:t>www.bafg.de/GRDC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334" y="1732995"/>
            <a:ext cx="7982116" cy="3991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78490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5"/>
          <p:cNvSpPr txBox="1">
            <a:spLocks noChangeArrowheads="1"/>
          </p:cNvSpPr>
          <p:nvPr/>
        </p:nvSpPr>
        <p:spPr bwMode="auto">
          <a:xfrm>
            <a:off x="0" y="6326188"/>
            <a:ext cx="1570038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1D6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altLang="de-DE" sz="1600" smtClean="0">
                <a:solidFill>
                  <a:srgbClr val="D5E5F3"/>
                </a:solidFill>
                <a:latin typeface="Arial" charset="0"/>
              </a:rPr>
              <a:t>WWW</a:t>
            </a:r>
            <a:endParaRPr lang="de-DE" altLang="de-DE" sz="1600">
              <a:solidFill>
                <a:srgbClr val="D5E5F3"/>
              </a:solidFill>
              <a:latin typeface="Arial" charset="0"/>
            </a:endParaRPr>
          </a:p>
        </p:txBody>
      </p:sp>
      <p:sp>
        <p:nvSpPr>
          <p:cNvPr id="15363" name="Rechteck 132"/>
          <p:cNvSpPr>
            <a:spLocks noChangeArrowheads="1"/>
          </p:cNvSpPr>
          <p:nvPr/>
        </p:nvSpPr>
        <p:spPr bwMode="auto">
          <a:xfrm>
            <a:off x="2754313" y="819150"/>
            <a:ext cx="2303462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de-DE" altLang="de-DE" sz="2300" b="1">
                <a:solidFill>
                  <a:srgbClr val="003366"/>
                </a:solidFill>
                <a:latin typeface="Arial" charset="0"/>
              </a:rPr>
              <a:t>www.bafg.de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54313" y="1619250"/>
            <a:ext cx="6772275" cy="5348288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775"/>
            <a:ext cx="2160000" cy="216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fg_weiss_EV">
  <a:themeElements>
    <a:clrScheme name="bfg_weiss_EV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69FD1"/>
      </a:accent1>
      <a:accent2>
        <a:srgbClr val="B4D800"/>
      </a:accent2>
      <a:accent3>
        <a:srgbClr val="FFFFFF"/>
      </a:accent3>
      <a:accent4>
        <a:srgbClr val="000000"/>
      </a:accent4>
      <a:accent5>
        <a:srgbClr val="B8CDE5"/>
      </a:accent5>
      <a:accent6>
        <a:srgbClr val="A3C400"/>
      </a:accent6>
      <a:hlink>
        <a:srgbClr val="948580"/>
      </a:hlink>
      <a:folHlink>
        <a:srgbClr val="82AA97"/>
      </a:folHlink>
    </a:clrScheme>
    <a:fontScheme name="bfg_weiss_EV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fg_weiss_EV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9FD1"/>
        </a:accent1>
        <a:accent2>
          <a:srgbClr val="B4D800"/>
        </a:accent2>
        <a:accent3>
          <a:srgbClr val="FFFFFF"/>
        </a:accent3>
        <a:accent4>
          <a:srgbClr val="000000"/>
        </a:accent4>
        <a:accent5>
          <a:srgbClr val="B8CDE5"/>
        </a:accent5>
        <a:accent6>
          <a:srgbClr val="A3C400"/>
        </a:accent6>
        <a:hlink>
          <a:srgbClr val="948580"/>
        </a:hlink>
        <a:folHlink>
          <a:srgbClr val="82AA9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Grobi Dokus:BFG_2003_prod:bfg_ppt_010903:bfg_ppt_entwurfsvorlagen:bfg_weiss_EV.pot</Template>
  <TotalTime>0</TotalTime>
  <Words>489</Words>
  <Application>Microsoft Office PowerPoint</Application>
  <PresentationFormat>Benutzerdefiniert</PresentationFormat>
  <Paragraphs>132</Paragraphs>
  <Slides>10</Slides>
  <Notes>10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1" baseType="lpstr">
      <vt:lpstr>bfg_weiss_EV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morkvomork</dc:creator>
  <cp:lastModifiedBy>Ulrich Looser</cp:lastModifiedBy>
  <cp:revision>596</cp:revision>
  <cp:lastPrinted>2014-10-06T07:04:16Z</cp:lastPrinted>
  <dcterms:created xsi:type="dcterms:W3CDTF">2003-08-11T14:39:37Z</dcterms:created>
  <dcterms:modified xsi:type="dcterms:W3CDTF">2016-06-10T11:59:30Z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-1649977856</vt:i4>
  </property>
  <property fmtid="{D5CDD505-2E9C-101B-9397-08002B2CF9AE}" pid="3" name="_NewReviewCycle">
    <vt:lpwstr/>
  </property>
  <property fmtid="{D5CDD505-2E9C-101B-9397-08002B2CF9AE}" pid="4" name="_EmailSubject">
    <vt:lpwstr>BfG intro Englisch</vt:lpwstr>
  </property>
  <property fmtid="{D5CDD505-2E9C-101B-9397-08002B2CF9AE}" pid="5" name="_AuthorEmail">
    <vt:lpwstr>Boeth@bafg.de</vt:lpwstr>
  </property>
  <property fmtid="{D5CDD505-2E9C-101B-9397-08002B2CF9AE}" pid="6" name="_AuthorEmailDisplayName">
    <vt:lpwstr>Boeth, Harald, M5, MT</vt:lpwstr>
  </property>
</Properties>
</file>