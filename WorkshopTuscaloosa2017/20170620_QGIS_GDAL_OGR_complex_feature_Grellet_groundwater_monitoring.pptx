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8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36" r:id="rId19"/>
    <p:sldId id="365" r:id="rId20"/>
    <p:sldId id="382" r:id="rId21"/>
    <p:sldId id="350" r:id="rId22"/>
    <p:sldId id="383" r:id="rId23"/>
    <p:sldId id="384" r:id="rId24"/>
    <p:sldId id="341" r:id="rId25"/>
  </p:sldIdLst>
  <p:sldSz cx="9144000" cy="6858000" type="screen4x3"/>
  <p:notesSz cx="7099300" cy="10234613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D9D"/>
    <a:srgbClr val="81FA26"/>
    <a:srgbClr val="3A7A8F"/>
    <a:srgbClr val="33B3B3"/>
    <a:srgbClr val="FF9218"/>
    <a:srgbClr val="66CC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21" autoAdjust="0"/>
    <p:restoredTop sz="94660"/>
  </p:normalViewPr>
  <p:slideViewPr>
    <p:cSldViewPr>
      <p:cViewPr varScale="1">
        <p:scale>
          <a:sx n="117" d="100"/>
          <a:sy n="117" d="100"/>
        </p:scale>
        <p:origin x="51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937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b="0">
                <a:latin typeface="Times" pitchFamily="18" charset="0"/>
              </a:defRPr>
            </a:lvl1pPr>
          </a:lstStyle>
          <a:p>
            <a:fld id="{33DA42C1-DA04-4DF4-9561-6734786B60B0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90838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937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574" y="4861441"/>
            <a:ext cx="5206153" cy="460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b="0">
                <a:latin typeface="Times" pitchFamily="18" charset="0"/>
              </a:defRPr>
            </a:lvl1pPr>
          </a:lstStyle>
          <a:p>
            <a:fld id="{B814575C-EC0B-41C9-B019-DBF56983308E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34036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14575C-EC0B-41C9-B019-DBF56983308E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83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848193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575636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831833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447933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268908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119206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375700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056115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614639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5397669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5452957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39693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2394364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0168516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8970744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6966191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6201336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552042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7576475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28800" y="1295400"/>
            <a:ext cx="6781800" cy="3657600"/>
          </a:xfrm>
        </p:spPr>
        <p:txBody>
          <a:bodyPr anchor="ctr"/>
          <a:lstStyle>
            <a:lvl1pPr algn="r">
              <a:defRPr sz="4800"/>
            </a:lvl1pPr>
          </a:lstStyle>
          <a:p>
            <a:pPr lvl="0"/>
            <a:r>
              <a:rPr lang="fr-FR" noProof="0" smtClean="0"/>
              <a:t>Modifiez le style du titre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5943600"/>
            <a:ext cx="5638800" cy="609600"/>
          </a:xfrm>
        </p:spPr>
        <p:txBody>
          <a:bodyPr anchor="b"/>
          <a:lstStyle>
            <a:lvl1pPr marL="0" indent="0">
              <a:buFontTx/>
              <a:buNone/>
              <a:defRPr sz="1400" b="0"/>
            </a:lvl1pPr>
          </a:lstStyle>
          <a:p>
            <a:pPr lvl="0"/>
            <a:r>
              <a:rPr lang="fr-FR" noProof="0" smtClean="0"/>
              <a:t>Modifiez le style des sous-titres du masque</a:t>
            </a: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381000" y="304800"/>
            <a:ext cx="8382000" cy="6248400"/>
          </a:xfrm>
          <a:prstGeom prst="rect">
            <a:avLst/>
          </a:prstGeom>
          <a:noFill/>
          <a:ln w="12700">
            <a:solidFill>
              <a:srgbClr val="3A7A8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9230" name="Rectangle 14"/>
          <p:cNvSpPr>
            <a:spLocks noGrp="1" noChangeArrowheads="1"/>
          </p:cNvSpPr>
          <p:nvPr>
            <p:ph type="dt" sz="quarter" idx="2"/>
          </p:nvPr>
        </p:nvSpPr>
        <p:spPr>
          <a:xfrm>
            <a:off x="381000" y="6553200"/>
            <a:ext cx="3276600" cy="304800"/>
          </a:xfrm>
        </p:spPr>
        <p:txBody>
          <a:bodyPr/>
          <a:lstStyle>
            <a:lvl1pPr>
              <a:defRPr sz="1200"/>
            </a:lvl1pPr>
          </a:lstStyle>
          <a:p>
            <a:fld id="{EE027328-AF77-497C-ACAD-8DD8AF08CB0A}" type="datetime2">
              <a:rPr lang="fr-FR"/>
              <a:pPr/>
              <a:t>mardi 20 juin 2017</a:t>
            </a:fld>
            <a:endParaRPr lang="fr-FR" sz="1400" b="1">
              <a:latin typeface="Times" pitchFamily="18" charset="0"/>
            </a:endParaRPr>
          </a:p>
        </p:txBody>
      </p:sp>
      <p:pic>
        <p:nvPicPr>
          <p:cNvPr id="9231" name="Picture 15" descr="&#10;Frise_ppt.jpg                                                  0001758CInformatique                   B836A67F: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850" y="312738"/>
            <a:ext cx="4121150" cy="41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2" name="Picture 16" descr="BRGM_log_RVB_OK copie.jpg                                      0001758CInformatique                   B836A67F: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770563"/>
            <a:ext cx="1789113" cy="706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5AB3EA-ADE0-4DAC-886B-C474BD3B74C9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C0D72CD9-A247-4912-BFD1-6E7DD107D632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866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37F15F1-95A7-480A-93BA-F5FD77EB9451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4831642F-9A48-476C-99F7-D190911CE8FC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472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306513" y="1371600"/>
            <a:ext cx="315595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14863" y="1371600"/>
            <a:ext cx="3157537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B0D768-9D44-4F1D-AB4C-30062714F841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7F99C49C-0F7F-4892-8C9F-248984567316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42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2C0F16-C17B-41DE-8A41-13698432514E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424A3869-0C3F-48B4-BF30-FA0B0CAF76E5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092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00CE75-BC77-4048-AEA4-67E97F4FE482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BC7B207C-E62C-450C-94B6-2933A15854D7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146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6243201-3636-4836-83C0-B4A164E5CFF0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C8BE5DAE-9109-41E9-9FDA-B6443877C9A8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769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B53A83A-948B-468D-AE19-439E5E979F57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D3AB18ED-EFE1-4A75-BFF8-7D666CB0A916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703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F81C03-1E9F-4C84-8AA5-5562DCD7DC1B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C78FF34B-A223-46E3-86FB-AE793176ECEB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002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FDE939-39C1-4072-8C85-D4C6F1488AD8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7FCB5D8D-255A-405C-996C-ADEFAC9F27BC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948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5924550" y="304800"/>
            <a:ext cx="1847850" cy="55626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5391150" cy="556260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C81A7E-17B3-4235-AD93-75E60B0CE9A4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FC03FE9A-3C6D-4CEC-AEBF-253148A92F64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27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04800"/>
            <a:ext cx="5791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et modifiez le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06513" y="1371600"/>
            <a:ext cx="6465887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1036" name="Text Box 12"/>
          <p:cNvSpPr txBox="1">
            <a:spLocks noChangeArrowheads="1"/>
          </p:cNvSpPr>
          <p:nvPr/>
        </p:nvSpPr>
        <p:spPr bwMode="auto">
          <a:xfrm>
            <a:off x="7162800" y="62484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fr-FR" sz="2400" b="0">
              <a:latin typeface="Times" pitchFamily="18" charset="0"/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381000" y="304800"/>
            <a:ext cx="8382000" cy="6248400"/>
          </a:xfrm>
          <a:prstGeom prst="rect">
            <a:avLst/>
          </a:prstGeom>
          <a:noFill/>
          <a:ln w="12700">
            <a:solidFill>
              <a:srgbClr val="3A7A8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47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53200"/>
            <a:ext cx="19050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/>
            </a:lvl1pPr>
          </a:lstStyle>
          <a:p>
            <a:fld id="{E6C32AE2-FEE4-4828-889E-8EB2ED0CF187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1048" name="Rectangle 2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1000" y="6248400"/>
            <a:ext cx="2819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1049" name="Rectangle 2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53200"/>
            <a:ext cx="1981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3A7A8F"/>
                </a:solidFill>
              </a:defRPr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326A04FC-8C6F-47C1-801A-7B666C115344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A7A8F"/>
        </a:buClr>
        <a:buSzPct val="150000"/>
        <a:buChar char="&gt;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3A7A8F"/>
        </a:buClr>
        <a:buSzPct val="150000"/>
        <a:buFont typeface="Times" pitchFamily="18" charset="0"/>
        <a:buChar char="•"/>
        <a:defRPr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A7A8F"/>
        </a:buClr>
        <a:buSzPct val="150000"/>
        <a:buChar char="–"/>
        <a:defRPr sz="1600">
          <a:solidFill>
            <a:schemeClr val="tx1"/>
          </a:solidFill>
          <a:latin typeface="+mn-lt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microsoft.com/office/2007/relationships/hdphoto" Target="../media/hdphoto2.wdp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microsoft.com/office/2007/relationships/hdphoto" Target="../media/hdphoto2.wdp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external.opengis.org/twiki_public/pub/HydrologyDWG/WorkshopKoblenz2016/20160616_QGIS_GDAL_OGR__complex_feature_Grellet.pptx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dal.org/drv_gmlas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plugins.qgis.org/plugins/gml_application_schema_toolbox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rac.osgeo.org/osgeo4w/" TargetMode="External"/><Relationship Id="rId5" Type="http://schemas.openxmlformats.org/officeDocument/2006/relationships/hyperlink" Target="https://www.youtube.com/watch?v=EeAyyUOykVE" TargetMode="External"/><Relationship Id="rId4" Type="http://schemas.openxmlformats.org/officeDocument/2006/relationships/hyperlink" Target="https://github.com/BRGM/gml_application_schema_toolbox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RGM/gml_application_schema_toolbox/issues/12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4"/>
          <p:cNvSpPr>
            <a:spLocks noGrp="1" noChangeArrowheads="1"/>
          </p:cNvSpPr>
          <p:nvPr>
            <p:ph type="dt" sz="quarter" idx="2"/>
          </p:nvPr>
        </p:nvSpPr>
        <p:spPr>
          <a:xfrm>
            <a:off x="381000" y="6553200"/>
            <a:ext cx="4623048" cy="304800"/>
          </a:xfrm>
        </p:spPr>
        <p:txBody>
          <a:bodyPr/>
          <a:lstStyle/>
          <a:p>
            <a:r>
              <a:rPr lang="en-US" dirty="0"/>
              <a:t>OGC Hydro DWG Workshop 2017 –  Tuscaloosa – 2017-06-20</a:t>
            </a:r>
            <a:endParaRPr lang="fr-FR" sz="1400" b="1" dirty="0">
              <a:latin typeface="Times" pitchFamily="18" charset="0"/>
            </a:endParaRPr>
          </a:p>
        </p:txBody>
      </p:sp>
      <p:sp>
        <p:nvSpPr>
          <p:cNvPr id="6758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15616" y="1700808"/>
            <a:ext cx="6997824" cy="2376264"/>
          </a:xfrm>
        </p:spPr>
        <p:txBody>
          <a:bodyPr/>
          <a:lstStyle/>
          <a:p>
            <a:pPr algn="ctr"/>
            <a:r>
              <a:rPr lang="en-US" sz="3600" dirty="0"/>
              <a:t>QGIS / GDAL GML application schema support update : use case on French Groundwater Information </a:t>
            </a:r>
            <a:r>
              <a:rPr lang="en-US" sz="3600" dirty="0" smtClean="0"/>
              <a:t>Network (GIN)</a:t>
            </a:r>
            <a:r>
              <a:rPr lang="en-US" sz="3600" dirty="0"/>
              <a:t/>
            </a:r>
            <a:br>
              <a:rPr lang="en-US" sz="3600" dirty="0"/>
            </a:br>
            <a:endParaRPr lang="fr-FR" sz="1600" dirty="0"/>
          </a:p>
        </p:txBody>
      </p:sp>
      <p:sp>
        <p:nvSpPr>
          <p:cNvPr id="67589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BRGM – </a:t>
            </a:r>
            <a:r>
              <a:rPr lang="fr-FR" dirty="0" err="1" smtClean="0"/>
              <a:t>S.Grellet</a:t>
            </a:r>
            <a:endParaRPr lang="fr-FR" dirty="0" smtClean="0"/>
          </a:p>
        </p:txBody>
      </p:sp>
      <p:pic>
        <p:nvPicPr>
          <p:cNvPr id="67591" name="Picture 7" descr="D:\Dce Alain\logo janvier 2003\logos 2003 validés alain\version fevrier 2003\pcx\BRGM\BRGM couleur.pcx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663" y="5591175"/>
            <a:ext cx="2057400" cy="94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en-US" dirty="0"/>
              <a:t>French </a:t>
            </a:r>
            <a:r>
              <a:rPr lang="en-US" dirty="0" smtClean="0"/>
              <a:t>GIN </a:t>
            </a:r>
            <a:r>
              <a:rPr lang="en-US" dirty="0"/>
              <a:t>– linked data use case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 provide stable and resolvable links to resources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 allow reference / data citation</a:t>
            </a:r>
          </a:p>
          <a:p>
            <a:pPr lvl="1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Independant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from underlying technologies used to provide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2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</a:p>
        </p:txBody>
      </p:sp>
      <p:pic>
        <p:nvPicPr>
          <p:cNvPr id="7" name="Picture 2" descr="https://cdn.thinglink.me/api/image/717762046808031232/1240/10/scaletowidth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09"/>
          <a:stretch/>
        </p:blipFill>
        <p:spPr bwMode="auto">
          <a:xfrm>
            <a:off x="2267744" y="3693911"/>
            <a:ext cx="5430369" cy="2798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à coins arrondis 7"/>
          <p:cNvSpPr/>
          <p:nvPr/>
        </p:nvSpPr>
        <p:spPr bwMode="auto">
          <a:xfrm>
            <a:off x="5043972" y="2891535"/>
            <a:ext cx="3776500" cy="1224136"/>
          </a:xfrm>
          <a:prstGeom prst="wedgeRoundRectCallout">
            <a:avLst>
              <a:gd name="adj1" fmla="val -55223"/>
              <a:gd name="adj2" fmla="val 92523"/>
              <a:gd name="adj3" fmla="val 16667"/>
            </a:avLst>
          </a:prstGeom>
          <a:ln>
            <a:solidFill>
              <a:srgbClr val="33B3B3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am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#</a:t>
            </a:r>
            <a:r>
              <a:rPr lang="fr-FR" i="1" dirty="0" err="1" smtClean="0">
                <a:solidFill>
                  <a:srgbClr val="33B3B3"/>
                </a:solidFill>
                <a:latin typeface="Comic Sans MS" panose="030F0702030302020204" pitchFamily="66" charset="0"/>
              </a:rPr>
              <a:t>Piezometre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/00634X0147/PZ1.2</a:t>
            </a:r>
          </a:p>
          <a:p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attached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to #</a:t>
            </a:r>
            <a:r>
              <a:rPr lang="fr-FR" i="1" dirty="0" err="1">
                <a:solidFill>
                  <a:srgbClr val="33B3B3"/>
                </a:solidFill>
                <a:latin typeface="Comic Sans MS" panose="030F0702030302020204" pitchFamily="66" charset="0"/>
              </a:rPr>
              <a:t>Borehole</a:t>
            </a:r>
            <a:r>
              <a:rPr lang="fr-FR" i="1" dirty="0">
                <a:solidFill>
                  <a:srgbClr val="33B3B3"/>
                </a:solidFill>
                <a:latin typeface="Comic Sans MS" panose="030F0702030302020204" pitchFamily="66" charset="0"/>
              </a:rPr>
              <a:t>/00634X0147/PZ1.2</a:t>
            </a:r>
          </a:p>
          <a:p>
            <a:endParaRPr lang="fr-FR" i="1" dirty="0">
              <a:solidFill>
                <a:srgbClr val="33B3B3"/>
              </a:solidFill>
              <a:latin typeface="Comic Sans MS" panose="030F0702030302020204" pitchFamily="66" charset="0"/>
            </a:endParaRPr>
          </a:p>
          <a:p>
            <a:endParaRPr lang="fr-FR" dirty="0" smtClean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endParaRPr lang="fr-FR" i="1" dirty="0"/>
          </a:p>
        </p:txBody>
      </p:sp>
      <p:sp>
        <p:nvSpPr>
          <p:cNvPr id="9" name="Rectangle à coins arrondis 8"/>
          <p:cNvSpPr/>
          <p:nvPr/>
        </p:nvSpPr>
        <p:spPr bwMode="auto">
          <a:xfrm>
            <a:off x="5040484" y="2890664"/>
            <a:ext cx="3779988" cy="1224136"/>
          </a:xfrm>
          <a:prstGeom prst="wedgeRoundRectCallout">
            <a:avLst>
              <a:gd name="adj1" fmla="val -55223"/>
              <a:gd name="adj2" fmla="val 92523"/>
              <a:gd name="adj3" fmla="val 16667"/>
            </a:avLst>
          </a:prstGeom>
          <a:ln>
            <a:solidFill>
              <a:srgbClr val="33B3B3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am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#</a:t>
            </a:r>
            <a:r>
              <a:rPr lang="fr-FR" i="1" dirty="0" err="1" smtClean="0">
                <a:solidFill>
                  <a:srgbClr val="33B3B3"/>
                </a:solidFill>
                <a:latin typeface="Comic Sans MS" panose="030F0702030302020204" pitchFamily="66" charset="0"/>
              </a:rPr>
              <a:t>Piezometre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/00634X0147/PZ1.2</a:t>
            </a:r>
            <a:endParaRPr lang="fr-FR" i="1" dirty="0">
              <a:solidFill>
                <a:srgbClr val="33B3B3"/>
              </a:solidFill>
              <a:latin typeface="Comic Sans MS" panose="030F0702030302020204" pitchFamily="66" charset="0"/>
            </a:endParaRPr>
          </a:p>
          <a:p>
            <a:r>
              <a:rPr lang="fr-FR" dirty="0" err="1" smtClean="0">
                <a:solidFill>
                  <a:schemeClr val="tx1"/>
                </a:solidFill>
                <a:latin typeface="Comic Sans MS" panose="030F0702030302020204" pitchFamily="66" charset="0"/>
              </a:rPr>
              <a:t>attached</a:t>
            </a:r>
            <a:r>
              <a:rPr lang="fr-FR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 to #</a:t>
            </a:r>
            <a:r>
              <a:rPr lang="fr-FR" i="1" dirty="0" err="1" smtClean="0">
                <a:solidFill>
                  <a:srgbClr val="33B3B3"/>
                </a:solidFill>
                <a:latin typeface="Comic Sans MS" panose="030F0702030302020204" pitchFamily="66" charset="0"/>
              </a:rPr>
              <a:t>Borehole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/00634X0147/PZ1.2</a:t>
            </a:r>
            <a:endParaRPr lang="fr-FR" i="1" dirty="0">
              <a:solidFill>
                <a:srgbClr val="33B3B3"/>
              </a:solidFill>
              <a:latin typeface="Comic Sans MS" panose="030F0702030302020204" pitchFamily="66" charset="0"/>
            </a:endParaRPr>
          </a:p>
          <a:p>
            <a:endParaRPr lang="fr-FR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fr-FR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have a lot of </a:t>
            </a:r>
            <a:r>
              <a:rPr lang="fr-FR" i="1" dirty="0">
                <a:solidFill>
                  <a:schemeClr val="accent2"/>
                </a:solidFill>
              </a:rPr>
              <a:t>#</a:t>
            </a:r>
            <a:r>
              <a:rPr lang="fr-FR" i="1" dirty="0" err="1">
                <a:solidFill>
                  <a:schemeClr val="accent2"/>
                </a:solidFill>
              </a:rPr>
              <a:t>GroundWater</a:t>
            </a:r>
            <a:r>
              <a:rPr lang="fr-FR" i="1" dirty="0">
                <a:solidFill>
                  <a:schemeClr val="accent2"/>
                </a:solidFill>
              </a:rPr>
              <a:t> Levels </a:t>
            </a:r>
            <a:r>
              <a:rPr lang="fr-FR" i="1" dirty="0" smtClean="0">
                <a:solidFill>
                  <a:schemeClr val="accent2"/>
                </a:solidFill>
              </a:rPr>
              <a:t>observations</a:t>
            </a:r>
            <a:r>
              <a:rPr lang="fr-FR" i="1" dirty="0" smtClean="0">
                <a:solidFill>
                  <a:schemeClr val="accent2"/>
                </a:solidFill>
                <a:latin typeface="Comic Sans MS" panose="030F0702030302020204" pitchFamily="66" charset="0"/>
              </a:rPr>
              <a:t> </a:t>
            </a:r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regarding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i="1" dirty="0">
                <a:solidFill>
                  <a:srgbClr val="33B3B3"/>
                </a:solidFill>
                <a:latin typeface="Comic Sans MS" panose="030F0702030302020204" pitchFamily="66" charset="0"/>
              </a:rPr>
              <a:t>#</a:t>
            </a:r>
            <a:r>
              <a:rPr lang="fr-FR" i="1" dirty="0" err="1" smtClean="0">
                <a:solidFill>
                  <a:srgbClr val="33B3B3"/>
                </a:solidFill>
                <a:latin typeface="Comic Sans MS" panose="030F0702030302020204" pitchFamily="66" charset="0"/>
              </a:rPr>
              <a:t>EntiteHydroGeol</a:t>
            </a:r>
            <a:r>
              <a:rPr lang="fr-FR" i="1" dirty="0">
                <a:solidFill>
                  <a:srgbClr val="33B3B3"/>
                </a:solidFill>
                <a:latin typeface="Comic Sans MS" panose="030F0702030302020204" pitchFamily="66" charset="0"/>
              </a:rPr>
              <a:t>/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107AK01</a:t>
            </a:r>
            <a:endParaRPr lang="fr-FR" i="1" dirty="0">
              <a:solidFill>
                <a:srgbClr val="33B3B3"/>
              </a:solidFill>
              <a:latin typeface="Comic Sans MS" panose="030F0702030302020204" pitchFamily="66" charset="0"/>
            </a:endParaRPr>
          </a:p>
          <a:p>
            <a:endParaRPr lang="fr-FR" i="1" dirty="0"/>
          </a:p>
        </p:txBody>
      </p:sp>
      <p:sp>
        <p:nvSpPr>
          <p:cNvPr id="11" name="Rectangle à coins arrondis 10"/>
          <p:cNvSpPr/>
          <p:nvPr/>
        </p:nvSpPr>
        <p:spPr bwMode="auto">
          <a:xfrm>
            <a:off x="539552" y="3065023"/>
            <a:ext cx="3744416" cy="1008112"/>
          </a:xfrm>
          <a:prstGeom prst="wedgeRoundRectCallout">
            <a:avLst>
              <a:gd name="adj1" fmla="val 23575"/>
              <a:gd name="adj2" fmla="val 198747"/>
              <a:gd name="adj3" fmla="val 16667"/>
            </a:avLst>
          </a:prstGeom>
          <a:ln>
            <a:solidFill>
              <a:srgbClr val="33B3B3"/>
            </a:solidFill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am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#</a:t>
            </a:r>
            <a:r>
              <a:rPr lang="fr-FR" i="1" dirty="0" err="1" smtClean="0">
                <a:solidFill>
                  <a:srgbClr val="33B3B3"/>
                </a:solidFill>
                <a:latin typeface="Comic Sans MS" panose="030F0702030302020204" pitchFamily="66" charset="0"/>
              </a:rPr>
              <a:t>EntiteHydroGeol</a:t>
            </a:r>
            <a:r>
              <a:rPr lang="fr-FR" i="1" dirty="0">
                <a:solidFill>
                  <a:srgbClr val="33B3B3"/>
                </a:solidFill>
                <a:latin typeface="Comic Sans MS" panose="030F0702030302020204" pitchFamily="66" charset="0"/>
              </a:rPr>
              <a:t>/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107AK01</a:t>
            </a:r>
            <a:endParaRPr lang="fr-FR" i="1" dirty="0">
              <a:solidFill>
                <a:srgbClr val="33B3B3"/>
              </a:solidFill>
              <a:latin typeface="Comic Sans MS" panose="030F0702030302020204" pitchFamily="66" charset="0"/>
            </a:endParaRPr>
          </a:p>
          <a:p>
            <a:endParaRPr lang="fr-FR" dirty="0" smtClean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12" name="Groupe 11"/>
          <p:cNvGrpSpPr/>
          <p:nvPr/>
        </p:nvGrpSpPr>
        <p:grpSpPr>
          <a:xfrm>
            <a:off x="4171598" y="4500303"/>
            <a:ext cx="592619" cy="1631591"/>
            <a:chOff x="4171598" y="2517489"/>
            <a:chExt cx="592619" cy="1631591"/>
          </a:xfrm>
        </p:grpSpPr>
        <p:pic>
          <p:nvPicPr>
            <p:cNvPr id="13" name="Picture 2" descr="Afficher l'image d'origine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6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1598" y="2517489"/>
              <a:ext cx="592619" cy="592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4" name="Connecteur droit 13"/>
            <p:cNvCxnSpPr>
              <a:stCxn id="13" idx="2"/>
            </p:cNvCxnSpPr>
            <p:nvPr/>
          </p:nvCxnSpPr>
          <p:spPr bwMode="auto">
            <a:xfrm flipH="1">
              <a:off x="4467907" y="3110108"/>
              <a:ext cx="1" cy="1038972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5" name="Pensées 14"/>
          <p:cNvSpPr/>
          <p:nvPr/>
        </p:nvSpPr>
        <p:spPr bwMode="auto">
          <a:xfrm>
            <a:off x="5364088" y="5092922"/>
            <a:ext cx="3174930" cy="1460278"/>
          </a:xfrm>
          <a:prstGeom prst="cloudCallout">
            <a:avLst>
              <a:gd name="adj1" fmla="val -67328"/>
              <a:gd name="adj2" fmla="val -54575"/>
            </a:avLst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Organigramme : Multidocument 15"/>
          <p:cNvSpPr/>
          <p:nvPr/>
        </p:nvSpPr>
        <p:spPr bwMode="auto">
          <a:xfrm>
            <a:off x="5982732" y="5339806"/>
            <a:ext cx="1908213" cy="936104"/>
          </a:xfrm>
          <a:prstGeom prst="flowChartMultidocumen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fr-FR" i="1" dirty="0" smtClean="0">
                <a:solidFill>
                  <a:schemeClr val="accent2"/>
                </a:solidFill>
              </a:rPr>
              <a:t>#</a:t>
            </a:r>
            <a:r>
              <a:rPr lang="fr-FR" i="1" dirty="0" err="1" smtClean="0">
                <a:solidFill>
                  <a:schemeClr val="accent2"/>
                </a:solidFill>
              </a:rPr>
              <a:t>GroundWater</a:t>
            </a:r>
            <a:r>
              <a:rPr lang="fr-FR" i="1" dirty="0" smtClean="0">
                <a:solidFill>
                  <a:schemeClr val="accent2"/>
                </a:solidFill>
              </a:rPr>
              <a:t> Levels obs. </a:t>
            </a:r>
            <a:r>
              <a:rPr lang="fr-FR" dirty="0" err="1" smtClean="0">
                <a:solidFill>
                  <a:schemeClr val="tx1"/>
                </a:solidFill>
                <a:latin typeface="Comic Sans MS" panose="030F0702030302020204" pitchFamily="66" charset="0"/>
              </a:rPr>
              <a:t>from</a:t>
            </a:r>
            <a:r>
              <a:rPr lang="fr-FR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dirty="0">
                <a:solidFill>
                  <a:srgbClr val="33B3B3"/>
                </a:solidFill>
                <a:latin typeface="Comic Sans MS" panose="030F0702030302020204" pitchFamily="66" charset="0"/>
              </a:rPr>
              <a:t>#</a:t>
            </a:r>
            <a:r>
              <a:rPr lang="fr-FR" i="1" dirty="0" err="1">
                <a:solidFill>
                  <a:srgbClr val="33B3B3"/>
                </a:solidFill>
                <a:latin typeface="Comic Sans MS" panose="030F0702030302020204" pitchFamily="66" charset="0"/>
              </a:rPr>
              <a:t>Piezometre</a:t>
            </a:r>
            <a:r>
              <a:rPr lang="fr-FR" i="1" dirty="0">
                <a:solidFill>
                  <a:srgbClr val="33B3B3"/>
                </a:solidFill>
                <a:latin typeface="Comic Sans MS" panose="030F0702030302020204" pitchFamily="66" charset="0"/>
              </a:rPr>
              <a:t>/00634X0147/PZ1.2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i="1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17" name="Rectangle à coins arrondis 16"/>
          <p:cNvSpPr/>
          <p:nvPr/>
        </p:nvSpPr>
        <p:spPr bwMode="auto">
          <a:xfrm>
            <a:off x="530440" y="3065023"/>
            <a:ext cx="3744416" cy="1008112"/>
          </a:xfrm>
          <a:prstGeom prst="wedgeRoundRectCallout">
            <a:avLst>
              <a:gd name="adj1" fmla="val 23575"/>
              <a:gd name="adj2" fmla="val 198747"/>
              <a:gd name="adj3" fmla="val 16667"/>
            </a:avLst>
          </a:prstGeom>
          <a:ln>
            <a:solidFill>
              <a:srgbClr val="33B3B3"/>
            </a:solidFill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am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#</a:t>
            </a:r>
            <a:r>
              <a:rPr lang="fr-FR" i="1" dirty="0" err="1" smtClean="0">
                <a:solidFill>
                  <a:srgbClr val="33B3B3"/>
                </a:solidFill>
                <a:latin typeface="Comic Sans MS" panose="030F0702030302020204" pitchFamily="66" charset="0"/>
              </a:rPr>
              <a:t>EntiteHydroGeol</a:t>
            </a:r>
            <a:r>
              <a:rPr lang="fr-FR" i="1" dirty="0">
                <a:solidFill>
                  <a:srgbClr val="33B3B3"/>
                </a:solidFill>
                <a:latin typeface="Comic Sans MS" panose="030F0702030302020204" pitchFamily="66" charset="0"/>
              </a:rPr>
              <a:t>/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107AK01</a:t>
            </a:r>
            <a:endParaRPr lang="fr-FR" i="1" dirty="0">
              <a:solidFill>
                <a:srgbClr val="33B3B3"/>
              </a:solidFill>
              <a:latin typeface="Comic Sans MS" panose="030F0702030302020204" pitchFamily="66" charset="0"/>
            </a:endParaRPr>
          </a:p>
          <a:p>
            <a:endParaRPr lang="fr-FR" dirty="0" smtClean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fr-FR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am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monitored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by </a:t>
            </a:r>
            <a:r>
              <a:rPr lang="fr-FR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#</a:t>
            </a:r>
            <a:r>
              <a:rPr lang="fr-FR" i="1" dirty="0" err="1" smtClean="0">
                <a:solidFill>
                  <a:srgbClr val="33B3B3"/>
                </a:solidFill>
                <a:latin typeface="Comic Sans MS" panose="030F0702030302020204" pitchFamily="66" charset="0"/>
              </a:rPr>
              <a:t>Piezometre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/00634X0147/PZ1.2</a:t>
            </a:r>
          </a:p>
        </p:txBody>
      </p:sp>
    </p:spTree>
    <p:extLst>
      <p:ext uri="{BB962C8B-B14F-4D97-AF65-F5344CB8AC3E}">
        <p14:creationId xmlns:p14="http://schemas.microsoft.com/office/powerpoint/2010/main" val="243336283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en-US" dirty="0"/>
              <a:t>French GIN – linked data use case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Flows based on OGC and INSPIRE defined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featureTypes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3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</a:p>
        </p:txBody>
      </p:sp>
      <p:sp>
        <p:nvSpPr>
          <p:cNvPr id="18" name="Rectangle à coins arrondis 17"/>
          <p:cNvSpPr/>
          <p:nvPr/>
        </p:nvSpPr>
        <p:spPr bwMode="auto">
          <a:xfrm>
            <a:off x="1237030" y="2821702"/>
            <a:ext cx="1414013" cy="80883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Borehole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grpSp>
        <p:nvGrpSpPr>
          <p:cNvPr id="19" name="Groupe 18"/>
          <p:cNvGrpSpPr/>
          <p:nvPr/>
        </p:nvGrpSpPr>
        <p:grpSpPr>
          <a:xfrm>
            <a:off x="4843672" y="3558288"/>
            <a:ext cx="1896152" cy="2370827"/>
            <a:chOff x="6468518" y="3947710"/>
            <a:chExt cx="1896152" cy="2370827"/>
          </a:xfrm>
        </p:grpSpPr>
        <p:sp>
          <p:nvSpPr>
            <p:cNvPr id="20" name="Rectangle à coins arrondis 19"/>
            <p:cNvSpPr/>
            <p:nvPr/>
          </p:nvSpPr>
          <p:spPr bwMode="auto">
            <a:xfrm>
              <a:off x="6468518" y="5086400"/>
              <a:ext cx="1584176" cy="1232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Geology</a:t>
              </a:r>
              <a:r>
                <a:rPr kumimoji="0" lang="fr-FR" sz="1200" b="1" i="0" u="none" strike="noStrike" cap="none" normalizeH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 / </a:t>
              </a:r>
              <a:r>
                <a:rPr kumimoji="0" lang="fr-FR" sz="1200" b="1" i="0" u="none" strike="noStrike" cap="none" normalizeH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HydroGeology</a:t>
              </a:r>
              <a:endPara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1" name="Rectangle à coins arrondis 20"/>
            <p:cNvSpPr/>
            <p:nvPr/>
          </p:nvSpPr>
          <p:spPr bwMode="auto">
            <a:xfrm>
              <a:off x="6698523" y="5590456"/>
              <a:ext cx="1104064" cy="568063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22" name="Picture 2" descr="https://cdn.thinglink.me/api/image/717762046808031232/1240/10/scaletowidth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078"/>
            <a:stretch/>
          </p:blipFill>
          <p:spPr bwMode="auto">
            <a:xfrm>
              <a:off x="6763606" y="5662464"/>
              <a:ext cx="973897" cy="4486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3" name="Connecteur droit avec flèche 22"/>
            <p:cNvCxnSpPr>
              <a:stCxn id="20" idx="0"/>
              <a:endCxn id="45" idx="2"/>
            </p:cNvCxnSpPr>
            <p:nvPr/>
          </p:nvCxnSpPr>
          <p:spPr>
            <a:xfrm flipV="1">
              <a:off x="7260606" y="3947710"/>
              <a:ext cx="1104064" cy="1138690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ZoneTexte 23"/>
            <p:cNvSpPr txBox="1"/>
            <p:nvPr/>
          </p:nvSpPr>
          <p:spPr>
            <a:xfrm>
              <a:off x="6570010" y="4292599"/>
              <a:ext cx="12153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err="1" smtClean="0">
                  <a:solidFill>
                    <a:schemeClr val="accent1">
                      <a:lumMod val="50000"/>
                    </a:schemeClr>
                  </a:solidFill>
                </a:rPr>
                <a:t>featureOfInterest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25" name="Groupe 24"/>
          <p:cNvGrpSpPr/>
          <p:nvPr/>
        </p:nvGrpSpPr>
        <p:grpSpPr>
          <a:xfrm>
            <a:off x="2639363" y="5313030"/>
            <a:ext cx="2204309" cy="338801"/>
            <a:chOff x="4264209" y="5702470"/>
            <a:chExt cx="2204309" cy="338803"/>
          </a:xfrm>
        </p:grpSpPr>
        <p:cxnSp>
          <p:nvCxnSpPr>
            <p:cNvPr id="26" name="Connecteur en angle 25"/>
            <p:cNvCxnSpPr>
              <a:stCxn id="37" idx="3"/>
              <a:endCxn id="20" idx="1"/>
            </p:cNvCxnSpPr>
            <p:nvPr/>
          </p:nvCxnSpPr>
          <p:spPr bwMode="auto">
            <a:xfrm flipV="1">
              <a:off x="4264209" y="5702470"/>
              <a:ext cx="2204309" cy="338803"/>
            </a:xfrm>
            <a:prstGeom prst="bentConnector3">
              <a:avLst>
                <a:gd name="adj1" fmla="val 50000"/>
              </a:avLst>
            </a:prstGeom>
            <a:ln>
              <a:prstDash val="sysDot"/>
              <a:headEnd type="none" w="med" len="med"/>
              <a:tailEnd type="arrow"/>
            </a:ln>
            <a:ex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ZoneTexte 26"/>
            <p:cNvSpPr txBox="1"/>
            <p:nvPr/>
          </p:nvSpPr>
          <p:spPr>
            <a:xfrm>
              <a:off x="5002876" y="5751240"/>
              <a:ext cx="3193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i="1" dirty="0" smtClean="0">
                  <a:solidFill>
                    <a:schemeClr val="accent1">
                      <a:lumMod val="50000"/>
                    </a:schemeClr>
                  </a:solidFill>
                </a:rPr>
                <a:t>xx</a:t>
              </a:r>
              <a:endParaRPr lang="fr-FR" sz="12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28" name="Groupe 27"/>
          <p:cNvGrpSpPr/>
          <p:nvPr/>
        </p:nvGrpSpPr>
        <p:grpSpPr>
          <a:xfrm>
            <a:off x="2016045" y="1772816"/>
            <a:ext cx="3246835" cy="1422523"/>
            <a:chOff x="3640891" y="2162238"/>
            <a:chExt cx="3246835" cy="1422523"/>
          </a:xfrm>
        </p:grpSpPr>
        <p:sp>
          <p:nvSpPr>
            <p:cNvPr id="29" name="Rectangle à coins arrondis 28"/>
            <p:cNvSpPr/>
            <p:nvPr/>
          </p:nvSpPr>
          <p:spPr bwMode="auto">
            <a:xfrm>
              <a:off x="5303550" y="2162238"/>
              <a:ext cx="1584176" cy="1232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fr-FR" sz="1200" b="1" dirty="0">
                  <a:solidFill>
                    <a:schemeClr val="bg1"/>
                  </a:solidFill>
                  <a:latin typeface="Arial" charset="0"/>
                </a:rPr>
                <a:t>Env. Monitoring Facility</a:t>
              </a:r>
            </a:p>
          </p:txBody>
        </p:sp>
        <p:sp>
          <p:nvSpPr>
            <p:cNvPr id="30" name="Rectangle à coins arrondis 29"/>
            <p:cNvSpPr/>
            <p:nvPr/>
          </p:nvSpPr>
          <p:spPr bwMode="auto">
            <a:xfrm>
              <a:off x="5632568" y="2721131"/>
              <a:ext cx="888040" cy="55811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31" name="Picture 2" descr="Afficher l'image d'origine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6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3538" y="2748931"/>
              <a:ext cx="471921" cy="471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2" name="Connecteur droit avec flèche 55"/>
            <p:cNvCxnSpPr>
              <a:stCxn id="18" idx="0"/>
              <a:endCxn id="29" idx="1"/>
            </p:cNvCxnSpPr>
            <p:nvPr/>
          </p:nvCxnSpPr>
          <p:spPr>
            <a:xfrm rot="5400000" flipH="1" flipV="1">
              <a:off x="4255812" y="2163387"/>
              <a:ext cx="432817" cy="1662659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ZoneTexte 32"/>
            <p:cNvSpPr txBox="1"/>
            <p:nvPr/>
          </p:nvSpPr>
          <p:spPr>
            <a:xfrm>
              <a:off x="3703183" y="2507335"/>
              <a:ext cx="216116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err="1" smtClean="0">
                  <a:solidFill>
                    <a:schemeClr val="accent1">
                      <a:lumMod val="50000"/>
                    </a:schemeClr>
                  </a:solidFill>
                </a:rPr>
                <a:t>environmentalMonitoringFacility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34" name="Connecteur droit avec flèche 55"/>
            <p:cNvCxnSpPr/>
            <p:nvPr/>
          </p:nvCxnSpPr>
          <p:spPr>
            <a:xfrm rot="10800000" flipV="1">
              <a:off x="4275889" y="3069782"/>
              <a:ext cx="1030618" cy="308795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ZoneTexte 34"/>
            <p:cNvSpPr txBox="1"/>
            <p:nvPr/>
          </p:nvSpPr>
          <p:spPr>
            <a:xfrm>
              <a:off x="4438962" y="3338540"/>
              <a:ext cx="86754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err="1" smtClean="0">
                  <a:solidFill>
                    <a:schemeClr val="accent1">
                      <a:lumMod val="50000"/>
                    </a:schemeClr>
                  </a:solidFill>
                </a:rPr>
                <a:t>attachedTo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36" name="Groupe 35"/>
          <p:cNvGrpSpPr/>
          <p:nvPr/>
        </p:nvGrpSpPr>
        <p:grpSpPr>
          <a:xfrm>
            <a:off x="439928" y="3630533"/>
            <a:ext cx="2933213" cy="2894811"/>
            <a:chOff x="2064774" y="4019955"/>
            <a:chExt cx="2933213" cy="2894811"/>
          </a:xfrm>
        </p:grpSpPr>
        <p:sp>
          <p:nvSpPr>
            <p:cNvPr id="37" name="Rectangle à coins arrondis 36"/>
            <p:cNvSpPr/>
            <p:nvPr/>
          </p:nvSpPr>
          <p:spPr bwMode="auto">
            <a:xfrm>
              <a:off x="2064774" y="5167776"/>
              <a:ext cx="2199435" cy="174699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Observations/ </a:t>
              </a:r>
              <a:r>
                <a:rPr kumimoji="0" lang="fr-FR" sz="1200" b="1" i="0" u="none" strike="noStrike" cap="none" normalizeH="0" baseline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Geological</a:t>
              </a: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 logs</a:t>
              </a:r>
            </a:p>
          </p:txBody>
        </p:sp>
        <p:pic>
          <p:nvPicPr>
            <p:cNvPr id="38" name="Picture 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7499" y="5783606"/>
              <a:ext cx="243998" cy="73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9" name="Connecteur droit avec flèche 38"/>
            <p:cNvCxnSpPr/>
            <p:nvPr/>
          </p:nvCxnSpPr>
          <p:spPr>
            <a:xfrm flipH="1">
              <a:off x="3369443" y="4042606"/>
              <a:ext cx="11680" cy="1166619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ZoneTexte 39"/>
            <p:cNvSpPr txBox="1"/>
            <p:nvPr/>
          </p:nvSpPr>
          <p:spPr>
            <a:xfrm>
              <a:off x="2372766" y="4460166"/>
              <a:ext cx="13484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err="1" smtClean="0">
                  <a:solidFill>
                    <a:schemeClr val="accent1">
                      <a:lumMod val="50000"/>
                    </a:schemeClr>
                  </a:solidFill>
                </a:rPr>
                <a:t>relatedObservation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41" name="Connecteur droit avec flèche 40"/>
            <p:cNvCxnSpPr/>
            <p:nvPr/>
          </p:nvCxnSpPr>
          <p:spPr>
            <a:xfrm flipH="1">
              <a:off x="3823903" y="4019955"/>
              <a:ext cx="8284" cy="1164915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ZoneTexte 41"/>
            <p:cNvSpPr txBox="1"/>
            <p:nvPr/>
          </p:nvSpPr>
          <p:spPr>
            <a:xfrm>
              <a:off x="3782590" y="4474066"/>
              <a:ext cx="12153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err="1" smtClean="0">
                  <a:solidFill>
                    <a:schemeClr val="accent1">
                      <a:lumMod val="50000"/>
                    </a:schemeClr>
                  </a:solidFill>
                </a:rPr>
                <a:t>featureOfInterest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pic>
          <p:nvPicPr>
            <p:cNvPr id="43" name="Picture 2" descr="D:\Documents\grellets\Travail\International\H2020\EPOS\H2020\Realisation\WP15\20161122-23_Potsdam\Images\STREMY_Log.png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750"/>
            <a:stretch/>
          </p:blipFill>
          <p:spPr bwMode="auto">
            <a:xfrm>
              <a:off x="2197496" y="5762638"/>
              <a:ext cx="1183627" cy="1135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4" name="Groupe 43"/>
          <p:cNvGrpSpPr/>
          <p:nvPr/>
        </p:nvGrpSpPr>
        <p:grpSpPr>
          <a:xfrm>
            <a:off x="4284012" y="2155415"/>
            <a:ext cx="3162818" cy="1402873"/>
            <a:chOff x="5908858" y="2544837"/>
            <a:chExt cx="3162818" cy="1402873"/>
          </a:xfrm>
        </p:grpSpPr>
        <p:sp>
          <p:nvSpPr>
            <p:cNvPr id="45" name="Rectangle à coins arrondis 44"/>
            <p:cNvSpPr/>
            <p:nvPr/>
          </p:nvSpPr>
          <p:spPr bwMode="auto">
            <a:xfrm>
              <a:off x="7657663" y="2844081"/>
              <a:ext cx="1414013" cy="1103629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r-FR" dirty="0" err="1">
                  <a:solidFill>
                    <a:schemeClr val="bg1"/>
                  </a:solidFill>
                  <a:latin typeface="Arial" charset="0"/>
                </a:rPr>
                <a:t>GroundWater</a:t>
              </a:r>
              <a:endParaRPr lang="fr-FR" dirty="0">
                <a:solidFill>
                  <a:schemeClr val="bg1"/>
                </a:solidFill>
                <a:latin typeface="Arial" charset="0"/>
              </a:endParaRPr>
            </a:p>
            <a:p>
              <a:pPr algn="ctr"/>
              <a:r>
                <a:rPr lang="fr-FR" dirty="0" err="1">
                  <a:solidFill>
                    <a:schemeClr val="bg1"/>
                  </a:solidFill>
                  <a:latin typeface="Arial" charset="0"/>
                </a:rPr>
                <a:t>raw</a:t>
              </a:r>
              <a:r>
                <a:rPr lang="fr-FR" dirty="0">
                  <a:solidFill>
                    <a:schemeClr val="bg1"/>
                  </a:solidFill>
                  <a:latin typeface="Arial" charset="0"/>
                </a:rPr>
                <a:t> </a:t>
              </a:r>
              <a:r>
                <a:rPr lang="fr-FR" dirty="0" err="1">
                  <a:solidFill>
                    <a:schemeClr val="bg1"/>
                  </a:solidFill>
                  <a:latin typeface="Arial" charset="0"/>
                </a:rPr>
                <a:t>levels</a:t>
              </a:r>
              <a:endParaRPr lang="fr-FR" dirty="0">
                <a:solidFill>
                  <a:schemeClr val="bg1"/>
                </a:solidFill>
                <a:latin typeface="Arial" charset="0"/>
              </a:endParaRPr>
            </a:p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pic>
          <p:nvPicPr>
            <p:cNvPr id="46" name="Picture 5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6415" y="3347441"/>
              <a:ext cx="1114128" cy="448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" name="ZoneTexte 46"/>
            <p:cNvSpPr txBox="1"/>
            <p:nvPr/>
          </p:nvSpPr>
          <p:spPr>
            <a:xfrm>
              <a:off x="6967175" y="2544837"/>
              <a:ext cx="11496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err="1" smtClean="0">
                  <a:solidFill>
                    <a:schemeClr val="accent2">
                      <a:lumMod val="75000"/>
                    </a:schemeClr>
                  </a:solidFill>
                </a:rPr>
                <a:t>hasObservation</a:t>
              </a:r>
              <a:endParaRPr lang="fr-FR" sz="1000" i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48" name="ZoneTexte 47"/>
            <p:cNvSpPr txBox="1"/>
            <p:nvPr/>
          </p:nvSpPr>
          <p:spPr>
            <a:xfrm>
              <a:off x="5908858" y="3517231"/>
              <a:ext cx="172835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err="1" smtClean="0">
                  <a:solidFill>
                    <a:schemeClr val="accent1">
                      <a:lumMod val="50000"/>
                    </a:schemeClr>
                  </a:solidFill>
                </a:rPr>
                <a:t>relatedMonitoringFeature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49" name="Connecteur droit avec flèche 48"/>
            <p:cNvCxnSpPr/>
            <p:nvPr/>
          </p:nvCxnSpPr>
          <p:spPr bwMode="auto">
            <a:xfrm>
              <a:off x="6871232" y="2760989"/>
              <a:ext cx="788987" cy="617589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arrow"/>
            </a:ln>
            <a:ex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avec flèche 49"/>
            <p:cNvCxnSpPr/>
            <p:nvPr/>
          </p:nvCxnSpPr>
          <p:spPr>
            <a:xfrm>
              <a:off x="6871233" y="3069783"/>
              <a:ext cx="788986" cy="657794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e 50"/>
          <p:cNvGrpSpPr/>
          <p:nvPr/>
        </p:nvGrpSpPr>
        <p:grpSpPr>
          <a:xfrm>
            <a:off x="7236296" y="3006474"/>
            <a:ext cx="1584176" cy="1599693"/>
            <a:chOff x="7236296" y="3006474"/>
            <a:chExt cx="1584176" cy="1599693"/>
          </a:xfrm>
        </p:grpSpPr>
        <p:grpSp>
          <p:nvGrpSpPr>
            <p:cNvPr id="52" name="Groupe 51"/>
            <p:cNvGrpSpPr/>
            <p:nvPr/>
          </p:nvGrpSpPr>
          <p:grpSpPr>
            <a:xfrm>
              <a:off x="7236296" y="3006474"/>
              <a:ext cx="1584176" cy="1599693"/>
              <a:chOff x="7236296" y="3006474"/>
              <a:chExt cx="1584176" cy="1599693"/>
            </a:xfrm>
          </p:grpSpPr>
          <p:sp>
            <p:nvSpPr>
              <p:cNvPr id="57" name="Rectangle à coins arrondis 56"/>
              <p:cNvSpPr/>
              <p:nvPr/>
            </p:nvSpPr>
            <p:spPr bwMode="auto">
              <a:xfrm>
                <a:off x="7236296" y="3374030"/>
                <a:ext cx="1584176" cy="1232137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headEnd type="none" w="med" len="med"/>
                <a:tailEnd type="none" w="med" len="med"/>
              </a:ln>
              <a:ex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r-FR" dirty="0" err="1">
                    <a:solidFill>
                      <a:schemeClr val="bg1"/>
                    </a:solidFill>
                    <a:latin typeface="Arial" charset="0"/>
                  </a:rPr>
                  <a:t>GroundWater</a:t>
                </a:r>
                <a:r>
                  <a:rPr lang="fr-FR" dirty="0">
                    <a:solidFill>
                      <a:schemeClr val="bg1"/>
                    </a:solidFill>
                    <a:latin typeface="Arial" charset="0"/>
                  </a:rPr>
                  <a:t> </a:t>
                </a:r>
                <a:r>
                  <a:rPr lang="fr-FR" dirty="0" err="1">
                    <a:solidFill>
                      <a:schemeClr val="bg1"/>
                    </a:solidFill>
                    <a:latin typeface="Arial" charset="0"/>
                  </a:rPr>
                  <a:t>validated</a:t>
                </a:r>
                <a:r>
                  <a:rPr lang="fr-FR" dirty="0">
                    <a:solidFill>
                      <a:schemeClr val="bg1"/>
                    </a:solidFill>
                    <a:latin typeface="Arial" charset="0"/>
                  </a:rPr>
                  <a:t> </a:t>
                </a:r>
                <a:r>
                  <a:rPr lang="fr-FR" dirty="0" err="1">
                    <a:solidFill>
                      <a:schemeClr val="bg1"/>
                    </a:solidFill>
                    <a:latin typeface="Arial" charset="0"/>
                  </a:rPr>
                  <a:t>levels</a:t>
                </a:r>
                <a:endParaRPr lang="fr-FR" dirty="0">
                  <a:solidFill>
                    <a:schemeClr val="bg1"/>
                  </a:solidFill>
                  <a:latin typeface="Arial" charset="0"/>
                </a:endParaRPr>
              </a:p>
            </p:txBody>
          </p:sp>
          <p:cxnSp>
            <p:nvCxnSpPr>
              <p:cNvPr id="58" name="Connecteur en angle 57"/>
              <p:cNvCxnSpPr>
                <a:stCxn id="45" idx="3"/>
                <a:endCxn id="57" idx="0"/>
              </p:cNvCxnSpPr>
              <p:nvPr/>
            </p:nvCxnSpPr>
            <p:spPr bwMode="auto">
              <a:xfrm>
                <a:off x="7446830" y="3006474"/>
                <a:ext cx="581554" cy="367556"/>
              </a:xfrm>
              <a:prstGeom prst="bentConnector2">
                <a:avLst/>
              </a:prstGeom>
              <a:ln>
                <a:prstDash val="sysDot"/>
                <a:headEnd type="none" w="med" len="med"/>
                <a:tailEnd type="arrow"/>
              </a:ln>
              <a:ex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59" name="Rectangle à coins arrondis 58"/>
              <p:cNvSpPr/>
              <p:nvPr/>
            </p:nvSpPr>
            <p:spPr bwMode="auto">
              <a:xfrm>
                <a:off x="7488324" y="3981349"/>
                <a:ext cx="1080120" cy="504889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  <a:extLst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fr-FR" sz="12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pic>
          <p:nvPicPr>
            <p:cNvPr id="53" name="Picture 5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6336" y="4059935"/>
              <a:ext cx="864096" cy="3477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4" name="Groupe 53"/>
            <p:cNvGrpSpPr/>
            <p:nvPr/>
          </p:nvGrpSpPr>
          <p:grpSpPr>
            <a:xfrm>
              <a:off x="8446278" y="3922057"/>
              <a:ext cx="273878" cy="273464"/>
              <a:chOff x="7968348" y="4653136"/>
              <a:chExt cx="492084" cy="491340"/>
            </a:xfrm>
          </p:grpSpPr>
          <p:sp>
            <p:nvSpPr>
              <p:cNvPr id="55" name="Ellipse 54"/>
              <p:cNvSpPr/>
              <p:nvPr/>
            </p:nvSpPr>
            <p:spPr bwMode="auto">
              <a:xfrm>
                <a:off x="7968348" y="4653136"/>
                <a:ext cx="492084" cy="491340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fr-FR" sz="12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pic>
            <p:nvPicPr>
              <p:cNvPr id="56" name="Picture 9" descr="Afficher l'image d'origine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5685" y="4676972"/>
                <a:ext cx="457410" cy="4574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60" name="Rectangle à coins arrondis 59"/>
          <p:cNvSpPr/>
          <p:nvPr/>
        </p:nvSpPr>
        <p:spPr bwMode="auto">
          <a:xfrm>
            <a:off x="7221392" y="6021637"/>
            <a:ext cx="374944" cy="17502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61" name="Rectangle à coins arrondis 60"/>
          <p:cNvSpPr/>
          <p:nvPr/>
        </p:nvSpPr>
        <p:spPr bwMode="auto">
          <a:xfrm>
            <a:off x="7219085" y="6355836"/>
            <a:ext cx="374944" cy="175024"/>
          </a:xfrm>
          <a:prstGeom prst="roundRect">
            <a:avLst/>
          </a:prstGeom>
          <a:solidFill>
            <a:schemeClr val="accent2"/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62" name="ZoneTexte 61"/>
          <p:cNvSpPr txBox="1"/>
          <p:nvPr/>
        </p:nvSpPr>
        <p:spPr>
          <a:xfrm>
            <a:off x="7629120" y="5971346"/>
            <a:ext cx="92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0" i="1" dirty="0" err="1" smtClean="0"/>
              <a:t>Feature</a:t>
            </a:r>
            <a:r>
              <a:rPr lang="fr-FR" b="0" i="1" dirty="0" smtClean="0"/>
              <a:t>(s)</a:t>
            </a:r>
            <a:endParaRPr lang="fr-FR" b="0" i="1" dirty="0"/>
          </a:p>
        </p:txBody>
      </p:sp>
      <p:sp>
        <p:nvSpPr>
          <p:cNvPr id="63" name="ZoneTexte 62"/>
          <p:cNvSpPr txBox="1"/>
          <p:nvPr/>
        </p:nvSpPr>
        <p:spPr>
          <a:xfrm>
            <a:off x="7629120" y="6320353"/>
            <a:ext cx="1191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0" i="1" dirty="0" smtClean="0"/>
              <a:t>Observation(s)</a:t>
            </a:r>
            <a:endParaRPr lang="fr-FR" b="0" i="1" dirty="0"/>
          </a:p>
        </p:txBody>
      </p:sp>
      <p:sp>
        <p:nvSpPr>
          <p:cNvPr id="64" name="ZoneTexte 63"/>
          <p:cNvSpPr txBox="1"/>
          <p:nvPr/>
        </p:nvSpPr>
        <p:spPr>
          <a:xfrm>
            <a:off x="7092280" y="5600273"/>
            <a:ext cx="7841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err="1" smtClean="0"/>
              <a:t>Legend</a:t>
            </a:r>
            <a:r>
              <a:rPr lang="fr-FR" i="1" dirty="0" smtClean="0"/>
              <a:t>:</a:t>
            </a:r>
            <a:endParaRPr lang="fr-FR" i="1" dirty="0"/>
          </a:p>
        </p:txBody>
      </p:sp>
    </p:spTree>
    <p:extLst>
      <p:ext uri="{BB962C8B-B14F-4D97-AF65-F5344CB8AC3E}">
        <p14:creationId xmlns:p14="http://schemas.microsoft.com/office/powerpoint/2010/main" val="256585860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en-US" dirty="0"/>
              <a:t>French GIN – linked data use case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Object instances are associated by their URI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4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</a:p>
        </p:txBody>
      </p:sp>
      <p:sp>
        <p:nvSpPr>
          <p:cNvPr id="65" name="Rectangle à coins arrondis 64"/>
          <p:cNvSpPr/>
          <p:nvPr/>
        </p:nvSpPr>
        <p:spPr bwMode="auto">
          <a:xfrm>
            <a:off x="1237030" y="2821702"/>
            <a:ext cx="1414013" cy="80883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Borehole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grpSp>
        <p:nvGrpSpPr>
          <p:cNvPr id="66" name="Groupe 65"/>
          <p:cNvGrpSpPr/>
          <p:nvPr/>
        </p:nvGrpSpPr>
        <p:grpSpPr>
          <a:xfrm>
            <a:off x="4843672" y="3558288"/>
            <a:ext cx="1896152" cy="2370827"/>
            <a:chOff x="6468518" y="3947710"/>
            <a:chExt cx="1896152" cy="2370827"/>
          </a:xfrm>
        </p:grpSpPr>
        <p:sp>
          <p:nvSpPr>
            <p:cNvPr id="67" name="Rectangle à coins arrondis 66"/>
            <p:cNvSpPr/>
            <p:nvPr/>
          </p:nvSpPr>
          <p:spPr bwMode="auto">
            <a:xfrm>
              <a:off x="6468518" y="5086400"/>
              <a:ext cx="1584176" cy="1232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Geology</a:t>
              </a:r>
              <a:r>
                <a:rPr kumimoji="0" lang="fr-FR" sz="1200" b="1" i="0" u="none" strike="noStrike" cap="none" normalizeH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 / </a:t>
              </a:r>
              <a:r>
                <a:rPr kumimoji="0" lang="fr-FR" sz="1200" b="1" i="0" u="none" strike="noStrike" cap="none" normalizeH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HydroGeology</a:t>
              </a:r>
              <a:endPara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68" name="Rectangle à coins arrondis 67"/>
            <p:cNvSpPr/>
            <p:nvPr/>
          </p:nvSpPr>
          <p:spPr bwMode="auto">
            <a:xfrm>
              <a:off x="6698523" y="5590456"/>
              <a:ext cx="1104064" cy="568063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69" name="Picture 2" descr="https://cdn.thinglink.me/api/image/717762046808031232/1240/10/scaletowidth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078"/>
            <a:stretch/>
          </p:blipFill>
          <p:spPr bwMode="auto">
            <a:xfrm>
              <a:off x="6763606" y="5662464"/>
              <a:ext cx="973897" cy="4486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0" name="Connecteur droit avec flèche 69"/>
            <p:cNvCxnSpPr>
              <a:stCxn id="67" idx="0"/>
              <a:endCxn id="92" idx="2"/>
            </p:cNvCxnSpPr>
            <p:nvPr/>
          </p:nvCxnSpPr>
          <p:spPr>
            <a:xfrm flipV="1">
              <a:off x="7260606" y="3947710"/>
              <a:ext cx="1104064" cy="1138690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ZoneTexte 70"/>
            <p:cNvSpPr txBox="1"/>
            <p:nvPr/>
          </p:nvSpPr>
          <p:spPr>
            <a:xfrm>
              <a:off x="7410724" y="4350955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72" name="Groupe 71"/>
          <p:cNvGrpSpPr/>
          <p:nvPr/>
        </p:nvGrpSpPr>
        <p:grpSpPr>
          <a:xfrm>
            <a:off x="2639363" y="5313030"/>
            <a:ext cx="2204309" cy="338801"/>
            <a:chOff x="4264209" y="5702470"/>
            <a:chExt cx="2204309" cy="338803"/>
          </a:xfrm>
        </p:grpSpPr>
        <p:cxnSp>
          <p:nvCxnSpPr>
            <p:cNvPr id="73" name="Connecteur en angle 72"/>
            <p:cNvCxnSpPr>
              <a:stCxn id="84" idx="3"/>
              <a:endCxn id="67" idx="1"/>
            </p:cNvCxnSpPr>
            <p:nvPr/>
          </p:nvCxnSpPr>
          <p:spPr bwMode="auto">
            <a:xfrm flipV="1">
              <a:off x="4264209" y="5702470"/>
              <a:ext cx="2204309" cy="338803"/>
            </a:xfrm>
            <a:prstGeom prst="bentConnector3">
              <a:avLst>
                <a:gd name="adj1" fmla="val 50000"/>
              </a:avLst>
            </a:prstGeom>
            <a:ln>
              <a:prstDash val="sysDot"/>
              <a:headEnd type="none" w="med" len="med"/>
              <a:tailEnd type="arrow"/>
            </a:ln>
            <a:ex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ZoneTexte 73"/>
            <p:cNvSpPr txBox="1"/>
            <p:nvPr/>
          </p:nvSpPr>
          <p:spPr>
            <a:xfrm>
              <a:off x="4901446" y="5751240"/>
              <a:ext cx="405880" cy="246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75" name="Groupe 74"/>
          <p:cNvGrpSpPr/>
          <p:nvPr/>
        </p:nvGrpSpPr>
        <p:grpSpPr>
          <a:xfrm>
            <a:off x="2016045" y="1772816"/>
            <a:ext cx="3246835" cy="1422523"/>
            <a:chOff x="3640891" y="2162238"/>
            <a:chExt cx="3246835" cy="1422523"/>
          </a:xfrm>
        </p:grpSpPr>
        <p:sp>
          <p:nvSpPr>
            <p:cNvPr id="76" name="Rectangle à coins arrondis 75"/>
            <p:cNvSpPr/>
            <p:nvPr/>
          </p:nvSpPr>
          <p:spPr bwMode="auto">
            <a:xfrm>
              <a:off x="5303550" y="2162238"/>
              <a:ext cx="1584176" cy="1232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fr-FR" sz="1200" b="1" dirty="0">
                  <a:solidFill>
                    <a:schemeClr val="bg1"/>
                  </a:solidFill>
                  <a:latin typeface="Arial" charset="0"/>
                </a:rPr>
                <a:t>Env. Monitoring Facility</a:t>
              </a:r>
            </a:p>
          </p:txBody>
        </p:sp>
        <p:sp>
          <p:nvSpPr>
            <p:cNvPr id="77" name="Rectangle à coins arrondis 76"/>
            <p:cNvSpPr/>
            <p:nvPr/>
          </p:nvSpPr>
          <p:spPr bwMode="auto">
            <a:xfrm>
              <a:off x="5632568" y="2721131"/>
              <a:ext cx="888040" cy="55811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78" name="Picture 2" descr="Afficher l'image d'origine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6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3538" y="2748931"/>
              <a:ext cx="471921" cy="471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9" name="Connecteur droit avec flèche 55"/>
            <p:cNvCxnSpPr>
              <a:stCxn id="65" idx="0"/>
              <a:endCxn id="76" idx="1"/>
            </p:cNvCxnSpPr>
            <p:nvPr/>
          </p:nvCxnSpPr>
          <p:spPr>
            <a:xfrm rot="5400000" flipH="1" flipV="1">
              <a:off x="4255812" y="2163387"/>
              <a:ext cx="432817" cy="1662659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ZoneTexte 79"/>
            <p:cNvSpPr txBox="1"/>
            <p:nvPr/>
          </p:nvSpPr>
          <p:spPr>
            <a:xfrm>
              <a:off x="4072949" y="2520256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81" name="Connecteur droit avec flèche 55"/>
            <p:cNvCxnSpPr/>
            <p:nvPr/>
          </p:nvCxnSpPr>
          <p:spPr>
            <a:xfrm rot="10800000" flipV="1">
              <a:off x="4275889" y="3069782"/>
              <a:ext cx="1030618" cy="308795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ZoneTexte 81"/>
            <p:cNvSpPr txBox="1"/>
            <p:nvPr/>
          </p:nvSpPr>
          <p:spPr>
            <a:xfrm>
              <a:off x="4438962" y="3338540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83" name="Groupe 82"/>
          <p:cNvGrpSpPr/>
          <p:nvPr/>
        </p:nvGrpSpPr>
        <p:grpSpPr>
          <a:xfrm>
            <a:off x="439928" y="3630533"/>
            <a:ext cx="2199435" cy="2894811"/>
            <a:chOff x="2064774" y="4019955"/>
            <a:chExt cx="2199435" cy="2894811"/>
          </a:xfrm>
        </p:grpSpPr>
        <p:sp>
          <p:nvSpPr>
            <p:cNvPr id="84" name="Rectangle à coins arrondis 83"/>
            <p:cNvSpPr/>
            <p:nvPr/>
          </p:nvSpPr>
          <p:spPr bwMode="auto">
            <a:xfrm>
              <a:off x="2064774" y="5167776"/>
              <a:ext cx="2199435" cy="174699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Observations/ </a:t>
              </a:r>
              <a:r>
                <a:rPr kumimoji="0" lang="fr-FR" sz="1200" b="1" i="0" u="none" strike="noStrike" cap="none" normalizeH="0" baseline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Geological</a:t>
              </a: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 logs</a:t>
              </a:r>
            </a:p>
          </p:txBody>
        </p:sp>
        <p:pic>
          <p:nvPicPr>
            <p:cNvPr id="85" name="Picture 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7499" y="5783606"/>
              <a:ext cx="243998" cy="73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86" name="Connecteur droit avec flèche 85"/>
            <p:cNvCxnSpPr/>
            <p:nvPr/>
          </p:nvCxnSpPr>
          <p:spPr>
            <a:xfrm flipH="1">
              <a:off x="3369443" y="4042606"/>
              <a:ext cx="11680" cy="1166619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ZoneTexte 86"/>
            <p:cNvSpPr txBox="1"/>
            <p:nvPr/>
          </p:nvSpPr>
          <p:spPr>
            <a:xfrm>
              <a:off x="2940460" y="4448211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88" name="Connecteur droit avec flèche 87"/>
            <p:cNvCxnSpPr/>
            <p:nvPr/>
          </p:nvCxnSpPr>
          <p:spPr>
            <a:xfrm flipH="1">
              <a:off x="3823903" y="4019955"/>
              <a:ext cx="8284" cy="1164915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ZoneTexte 88"/>
            <p:cNvSpPr txBox="1"/>
            <p:nvPr/>
          </p:nvSpPr>
          <p:spPr>
            <a:xfrm>
              <a:off x="3782590" y="4474066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pic>
          <p:nvPicPr>
            <p:cNvPr id="90" name="Picture 2" descr="D:\Documents\grellets\Travail\International\H2020\EPOS\H2020\Realisation\WP15\20161122-23_Potsdam\Images\STREMY_Log.png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750"/>
            <a:stretch/>
          </p:blipFill>
          <p:spPr bwMode="auto">
            <a:xfrm>
              <a:off x="2197496" y="5762638"/>
              <a:ext cx="1183627" cy="1135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1" name="Groupe 90"/>
          <p:cNvGrpSpPr/>
          <p:nvPr/>
        </p:nvGrpSpPr>
        <p:grpSpPr>
          <a:xfrm>
            <a:off x="5234999" y="2371567"/>
            <a:ext cx="2211831" cy="1186721"/>
            <a:chOff x="6859845" y="2760989"/>
            <a:chExt cx="2211831" cy="1186721"/>
          </a:xfrm>
        </p:grpSpPr>
        <p:sp>
          <p:nvSpPr>
            <p:cNvPr id="92" name="Rectangle à coins arrondis 91"/>
            <p:cNvSpPr/>
            <p:nvPr/>
          </p:nvSpPr>
          <p:spPr bwMode="auto">
            <a:xfrm>
              <a:off x="7657663" y="2844081"/>
              <a:ext cx="1414013" cy="1103629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r-FR" dirty="0" err="1">
                  <a:solidFill>
                    <a:schemeClr val="bg1"/>
                  </a:solidFill>
                  <a:latin typeface="Arial" charset="0"/>
                </a:rPr>
                <a:t>GroundWater</a:t>
              </a:r>
              <a:endParaRPr lang="fr-FR" dirty="0">
                <a:solidFill>
                  <a:schemeClr val="bg1"/>
                </a:solidFill>
                <a:latin typeface="Arial" charset="0"/>
              </a:endParaRPr>
            </a:p>
            <a:p>
              <a:pPr algn="ctr"/>
              <a:r>
                <a:rPr lang="fr-FR" dirty="0" err="1">
                  <a:solidFill>
                    <a:schemeClr val="bg1"/>
                  </a:solidFill>
                  <a:latin typeface="Arial" charset="0"/>
                </a:rPr>
                <a:t>raw</a:t>
              </a:r>
              <a:r>
                <a:rPr lang="fr-FR" dirty="0">
                  <a:solidFill>
                    <a:schemeClr val="bg1"/>
                  </a:solidFill>
                  <a:latin typeface="Arial" charset="0"/>
                </a:rPr>
                <a:t> </a:t>
              </a:r>
              <a:r>
                <a:rPr lang="fr-FR" dirty="0" err="1">
                  <a:solidFill>
                    <a:schemeClr val="bg1"/>
                  </a:solidFill>
                  <a:latin typeface="Arial" charset="0"/>
                </a:rPr>
                <a:t>levels</a:t>
              </a:r>
              <a:endParaRPr lang="fr-FR" dirty="0">
                <a:solidFill>
                  <a:schemeClr val="bg1"/>
                </a:solidFill>
                <a:latin typeface="Arial" charset="0"/>
              </a:endParaRPr>
            </a:p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pic>
          <p:nvPicPr>
            <p:cNvPr id="93" name="Picture 5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6415" y="3347441"/>
              <a:ext cx="1114128" cy="448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4" name="ZoneTexte 93"/>
            <p:cNvSpPr txBox="1"/>
            <p:nvPr/>
          </p:nvSpPr>
          <p:spPr>
            <a:xfrm>
              <a:off x="7169004" y="2823561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2">
                      <a:lumMod val="75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95" name="ZoneTexte 94"/>
            <p:cNvSpPr txBox="1"/>
            <p:nvPr/>
          </p:nvSpPr>
          <p:spPr>
            <a:xfrm>
              <a:off x="6859845" y="3448495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96" name="Connecteur droit avec flèche 95"/>
            <p:cNvCxnSpPr/>
            <p:nvPr/>
          </p:nvCxnSpPr>
          <p:spPr bwMode="auto">
            <a:xfrm>
              <a:off x="6871232" y="2760989"/>
              <a:ext cx="788987" cy="617589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arrow"/>
            </a:ln>
            <a:ex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eur droit avec flèche 96"/>
            <p:cNvCxnSpPr/>
            <p:nvPr/>
          </p:nvCxnSpPr>
          <p:spPr>
            <a:xfrm>
              <a:off x="6871233" y="3069783"/>
              <a:ext cx="788986" cy="657794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Rectangle à coins arrondis 97"/>
          <p:cNvSpPr/>
          <p:nvPr/>
        </p:nvSpPr>
        <p:spPr bwMode="auto">
          <a:xfrm>
            <a:off x="7236296" y="3374030"/>
            <a:ext cx="1584176" cy="123213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  <a:latin typeface="Arial" charset="0"/>
              </a:rPr>
              <a:t>GroundWater</a:t>
            </a:r>
            <a:r>
              <a:rPr lang="fr-FR" dirty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" charset="0"/>
              </a:rPr>
              <a:t>validated</a:t>
            </a:r>
            <a:r>
              <a:rPr lang="fr-FR" dirty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" charset="0"/>
              </a:rPr>
              <a:t>levels</a:t>
            </a:r>
            <a:endParaRPr lang="fr-FR" dirty="0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99" name="Connecteur en angle 98"/>
          <p:cNvCxnSpPr>
            <a:stCxn id="92" idx="3"/>
            <a:endCxn id="98" idx="0"/>
          </p:cNvCxnSpPr>
          <p:nvPr/>
        </p:nvCxnSpPr>
        <p:spPr bwMode="auto">
          <a:xfrm>
            <a:off x="7446830" y="3006474"/>
            <a:ext cx="581554" cy="367556"/>
          </a:xfrm>
          <a:prstGeom prst="bentConnector2">
            <a:avLst/>
          </a:prstGeom>
          <a:ln>
            <a:prstDash val="sysDot"/>
            <a:headEnd type="none" w="med" len="med"/>
            <a:tailEnd type="arrow"/>
          </a:ln>
          <a:ex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0" name="Rectangle à coins arrondis 99"/>
          <p:cNvSpPr/>
          <p:nvPr/>
        </p:nvSpPr>
        <p:spPr bwMode="auto">
          <a:xfrm>
            <a:off x="7488324" y="3981349"/>
            <a:ext cx="1080120" cy="504889"/>
          </a:xfrm>
          <a:prstGeom prst="round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1" name="Picture 5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4059935"/>
            <a:ext cx="864096" cy="347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" name="Groupe 101"/>
          <p:cNvGrpSpPr/>
          <p:nvPr/>
        </p:nvGrpSpPr>
        <p:grpSpPr>
          <a:xfrm>
            <a:off x="8446278" y="3922057"/>
            <a:ext cx="273878" cy="273464"/>
            <a:chOff x="7968348" y="4653136"/>
            <a:chExt cx="492084" cy="491340"/>
          </a:xfrm>
        </p:grpSpPr>
        <p:sp>
          <p:nvSpPr>
            <p:cNvPr id="103" name="Ellipse 102"/>
            <p:cNvSpPr/>
            <p:nvPr/>
          </p:nvSpPr>
          <p:spPr bwMode="auto">
            <a:xfrm>
              <a:off x="7968348" y="4653136"/>
              <a:ext cx="492084" cy="49134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104" name="Picture 9" descr="Afficher l'image d'origine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5685" y="4676972"/>
              <a:ext cx="457410" cy="4574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5" name="Rectangle à coins arrondis 104"/>
          <p:cNvSpPr/>
          <p:nvPr/>
        </p:nvSpPr>
        <p:spPr bwMode="auto">
          <a:xfrm>
            <a:off x="7221392" y="6021637"/>
            <a:ext cx="374944" cy="17502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06" name="Rectangle à coins arrondis 105"/>
          <p:cNvSpPr/>
          <p:nvPr/>
        </p:nvSpPr>
        <p:spPr bwMode="auto">
          <a:xfrm>
            <a:off x="7219085" y="6355836"/>
            <a:ext cx="374944" cy="175024"/>
          </a:xfrm>
          <a:prstGeom prst="roundRect">
            <a:avLst/>
          </a:prstGeom>
          <a:solidFill>
            <a:schemeClr val="accent2"/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07" name="ZoneTexte 106"/>
          <p:cNvSpPr txBox="1"/>
          <p:nvPr/>
        </p:nvSpPr>
        <p:spPr>
          <a:xfrm>
            <a:off x="7629120" y="5971346"/>
            <a:ext cx="92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0" i="1" dirty="0" err="1" smtClean="0"/>
              <a:t>Feature</a:t>
            </a:r>
            <a:r>
              <a:rPr lang="fr-FR" b="0" i="1" dirty="0" smtClean="0"/>
              <a:t>(s)</a:t>
            </a:r>
            <a:endParaRPr lang="fr-FR" b="0" i="1" dirty="0"/>
          </a:p>
        </p:txBody>
      </p:sp>
      <p:sp>
        <p:nvSpPr>
          <p:cNvPr id="108" name="ZoneTexte 107"/>
          <p:cNvSpPr txBox="1"/>
          <p:nvPr/>
        </p:nvSpPr>
        <p:spPr>
          <a:xfrm>
            <a:off x="7629120" y="6320353"/>
            <a:ext cx="1191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0" i="1" dirty="0" smtClean="0"/>
              <a:t>Observation(s)</a:t>
            </a:r>
            <a:endParaRPr lang="fr-FR" b="0" i="1" dirty="0"/>
          </a:p>
        </p:txBody>
      </p:sp>
      <p:sp>
        <p:nvSpPr>
          <p:cNvPr id="109" name="ZoneTexte 108"/>
          <p:cNvSpPr txBox="1"/>
          <p:nvPr/>
        </p:nvSpPr>
        <p:spPr>
          <a:xfrm>
            <a:off x="7092280" y="5600273"/>
            <a:ext cx="7841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err="1" smtClean="0"/>
              <a:t>Legend</a:t>
            </a:r>
            <a:r>
              <a:rPr lang="fr-FR" i="1" dirty="0" smtClean="0"/>
              <a:t>:</a:t>
            </a:r>
            <a:endParaRPr lang="fr-FR" i="1" dirty="0"/>
          </a:p>
        </p:txBody>
      </p:sp>
    </p:spTree>
    <p:extLst>
      <p:ext uri="{BB962C8B-B14F-4D97-AF65-F5344CB8AC3E}">
        <p14:creationId xmlns:p14="http://schemas.microsoft.com/office/powerpoint/2010/main" val="259226172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en-US" dirty="0"/>
              <a:t>French GIN – linked data use case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URI allowing to dereference content exposed by OGC services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5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</a:p>
        </p:txBody>
      </p:sp>
      <p:sp>
        <p:nvSpPr>
          <p:cNvPr id="51" name="Rectangle à coins arrondis 50"/>
          <p:cNvSpPr/>
          <p:nvPr/>
        </p:nvSpPr>
        <p:spPr bwMode="auto">
          <a:xfrm>
            <a:off x="7236296" y="3374030"/>
            <a:ext cx="1584176" cy="123213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  <a:latin typeface="Arial" charset="0"/>
              </a:rPr>
              <a:t>GroundWater</a:t>
            </a:r>
            <a:r>
              <a:rPr lang="fr-FR" dirty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" charset="0"/>
              </a:rPr>
              <a:t>validated</a:t>
            </a:r>
            <a:r>
              <a:rPr lang="fr-FR" dirty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" charset="0"/>
              </a:rPr>
              <a:t>levels</a:t>
            </a:r>
            <a:endParaRPr lang="fr-FR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52" name="Rectangle à coins arrondis 51"/>
          <p:cNvSpPr/>
          <p:nvPr/>
        </p:nvSpPr>
        <p:spPr bwMode="auto">
          <a:xfrm>
            <a:off x="7488324" y="4011587"/>
            <a:ext cx="1080120" cy="340623"/>
          </a:xfrm>
          <a:prstGeom prst="round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SOS</a:t>
            </a:r>
          </a:p>
        </p:txBody>
      </p:sp>
      <p:sp>
        <p:nvSpPr>
          <p:cNvPr id="53" name="Rectangle à coins arrondis 52"/>
          <p:cNvSpPr/>
          <p:nvPr/>
        </p:nvSpPr>
        <p:spPr bwMode="auto">
          <a:xfrm>
            <a:off x="1237030" y="2821702"/>
            <a:ext cx="1414013" cy="80883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Borehole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grpSp>
        <p:nvGrpSpPr>
          <p:cNvPr id="54" name="Groupe 53"/>
          <p:cNvGrpSpPr/>
          <p:nvPr/>
        </p:nvGrpSpPr>
        <p:grpSpPr>
          <a:xfrm>
            <a:off x="4843672" y="3558288"/>
            <a:ext cx="1896152" cy="2370827"/>
            <a:chOff x="6468518" y="3947710"/>
            <a:chExt cx="1896152" cy="2370827"/>
          </a:xfrm>
        </p:grpSpPr>
        <p:sp>
          <p:nvSpPr>
            <p:cNvPr id="55" name="Rectangle à coins arrondis 54"/>
            <p:cNvSpPr/>
            <p:nvPr/>
          </p:nvSpPr>
          <p:spPr bwMode="auto">
            <a:xfrm>
              <a:off x="6468518" y="5086400"/>
              <a:ext cx="1584176" cy="1232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Geology</a:t>
              </a:r>
              <a:r>
                <a:rPr kumimoji="0" lang="fr-FR" sz="1200" b="1" i="0" u="none" strike="noStrike" cap="none" normalizeH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 / </a:t>
              </a:r>
              <a:r>
                <a:rPr kumimoji="0" lang="fr-FR" sz="1200" b="1" i="0" u="none" strike="noStrike" cap="none" normalizeH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HydroGeology</a:t>
              </a:r>
              <a:endPara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cxnSp>
          <p:nvCxnSpPr>
            <p:cNvPr id="56" name="Connecteur droit avec flèche 55"/>
            <p:cNvCxnSpPr>
              <a:stCxn id="55" idx="0"/>
              <a:endCxn id="116" idx="2"/>
            </p:cNvCxnSpPr>
            <p:nvPr/>
          </p:nvCxnSpPr>
          <p:spPr>
            <a:xfrm flipV="1">
              <a:off x="7260606" y="3947710"/>
              <a:ext cx="1104064" cy="1138690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ZoneTexte 56"/>
            <p:cNvSpPr txBox="1"/>
            <p:nvPr/>
          </p:nvSpPr>
          <p:spPr>
            <a:xfrm>
              <a:off x="7410724" y="4350955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58" name="Groupe 57"/>
          <p:cNvGrpSpPr/>
          <p:nvPr/>
        </p:nvGrpSpPr>
        <p:grpSpPr>
          <a:xfrm>
            <a:off x="2016045" y="1772816"/>
            <a:ext cx="3246835" cy="1422523"/>
            <a:chOff x="3640891" y="2162238"/>
            <a:chExt cx="3246835" cy="1422523"/>
          </a:xfrm>
        </p:grpSpPr>
        <p:sp>
          <p:nvSpPr>
            <p:cNvPr id="59" name="Rectangle à coins arrondis 58"/>
            <p:cNvSpPr/>
            <p:nvPr/>
          </p:nvSpPr>
          <p:spPr bwMode="auto">
            <a:xfrm>
              <a:off x="5303550" y="2162238"/>
              <a:ext cx="1584176" cy="1232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fr-FR" sz="1200" b="1" dirty="0">
                  <a:solidFill>
                    <a:schemeClr val="bg1"/>
                  </a:solidFill>
                  <a:latin typeface="Arial" charset="0"/>
                </a:rPr>
                <a:t>Env. Monitoring Facility</a:t>
              </a:r>
            </a:p>
          </p:txBody>
        </p:sp>
        <p:cxnSp>
          <p:nvCxnSpPr>
            <p:cNvPr id="60" name="Connecteur droit avec flèche 55"/>
            <p:cNvCxnSpPr>
              <a:stCxn id="53" idx="0"/>
              <a:endCxn id="59" idx="1"/>
            </p:cNvCxnSpPr>
            <p:nvPr/>
          </p:nvCxnSpPr>
          <p:spPr>
            <a:xfrm rot="5400000" flipH="1" flipV="1">
              <a:off x="4255812" y="2163387"/>
              <a:ext cx="432817" cy="1662659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ZoneTexte 60"/>
            <p:cNvSpPr txBox="1"/>
            <p:nvPr/>
          </p:nvSpPr>
          <p:spPr>
            <a:xfrm>
              <a:off x="4072949" y="2520256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62" name="Connecteur droit avec flèche 55"/>
            <p:cNvCxnSpPr/>
            <p:nvPr/>
          </p:nvCxnSpPr>
          <p:spPr>
            <a:xfrm rot="10800000" flipV="1">
              <a:off x="4275889" y="3069782"/>
              <a:ext cx="1030618" cy="308795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ZoneTexte 62"/>
            <p:cNvSpPr txBox="1"/>
            <p:nvPr/>
          </p:nvSpPr>
          <p:spPr>
            <a:xfrm>
              <a:off x="4438962" y="3338540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64" name="Groupe 63"/>
          <p:cNvGrpSpPr/>
          <p:nvPr/>
        </p:nvGrpSpPr>
        <p:grpSpPr>
          <a:xfrm>
            <a:off x="439928" y="3630533"/>
            <a:ext cx="2199435" cy="2894811"/>
            <a:chOff x="2064774" y="4019955"/>
            <a:chExt cx="2199435" cy="2894811"/>
          </a:xfrm>
        </p:grpSpPr>
        <p:sp>
          <p:nvSpPr>
            <p:cNvPr id="110" name="Rectangle à coins arrondis 109"/>
            <p:cNvSpPr/>
            <p:nvPr/>
          </p:nvSpPr>
          <p:spPr bwMode="auto">
            <a:xfrm>
              <a:off x="2064774" y="5167776"/>
              <a:ext cx="2199435" cy="174699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Observations/ </a:t>
              </a:r>
              <a:r>
                <a:rPr kumimoji="0" lang="fr-FR" sz="1200" b="1" i="0" u="none" strike="noStrike" cap="none" normalizeH="0" baseline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Geological</a:t>
              </a: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 logs</a:t>
              </a:r>
            </a:p>
          </p:txBody>
        </p:sp>
        <p:cxnSp>
          <p:nvCxnSpPr>
            <p:cNvPr id="111" name="Connecteur droit avec flèche 110"/>
            <p:cNvCxnSpPr/>
            <p:nvPr/>
          </p:nvCxnSpPr>
          <p:spPr>
            <a:xfrm flipH="1">
              <a:off x="3369443" y="4042606"/>
              <a:ext cx="11680" cy="1166619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ZoneTexte 111"/>
            <p:cNvSpPr txBox="1"/>
            <p:nvPr/>
          </p:nvSpPr>
          <p:spPr>
            <a:xfrm>
              <a:off x="2940460" y="4448211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113" name="Connecteur droit avec flèche 112"/>
            <p:cNvCxnSpPr/>
            <p:nvPr/>
          </p:nvCxnSpPr>
          <p:spPr>
            <a:xfrm flipH="1">
              <a:off x="3823903" y="4019955"/>
              <a:ext cx="8284" cy="1164915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ZoneTexte 113"/>
            <p:cNvSpPr txBox="1"/>
            <p:nvPr/>
          </p:nvSpPr>
          <p:spPr>
            <a:xfrm>
              <a:off x="3782590" y="4474066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115" name="Groupe 114"/>
          <p:cNvGrpSpPr/>
          <p:nvPr/>
        </p:nvGrpSpPr>
        <p:grpSpPr>
          <a:xfrm>
            <a:off x="5234999" y="2371567"/>
            <a:ext cx="2211831" cy="1186721"/>
            <a:chOff x="6859845" y="2760989"/>
            <a:chExt cx="2211831" cy="1186721"/>
          </a:xfrm>
        </p:grpSpPr>
        <p:sp>
          <p:nvSpPr>
            <p:cNvPr id="116" name="Rectangle à coins arrondis 115"/>
            <p:cNvSpPr/>
            <p:nvPr/>
          </p:nvSpPr>
          <p:spPr bwMode="auto">
            <a:xfrm>
              <a:off x="7657663" y="2844081"/>
              <a:ext cx="1414013" cy="1103629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r-FR" dirty="0" err="1">
                  <a:solidFill>
                    <a:schemeClr val="bg1"/>
                  </a:solidFill>
                  <a:latin typeface="Arial" charset="0"/>
                </a:rPr>
                <a:t>GroundWater</a:t>
              </a:r>
              <a:endParaRPr lang="fr-FR" dirty="0">
                <a:solidFill>
                  <a:schemeClr val="bg1"/>
                </a:solidFill>
                <a:latin typeface="Arial" charset="0"/>
              </a:endParaRPr>
            </a:p>
            <a:p>
              <a:pPr algn="ctr"/>
              <a:r>
                <a:rPr lang="fr-FR" dirty="0" err="1">
                  <a:solidFill>
                    <a:schemeClr val="bg1"/>
                  </a:solidFill>
                  <a:latin typeface="Arial" charset="0"/>
                </a:rPr>
                <a:t>raw</a:t>
              </a:r>
              <a:r>
                <a:rPr lang="fr-FR" dirty="0">
                  <a:solidFill>
                    <a:schemeClr val="bg1"/>
                  </a:solidFill>
                  <a:latin typeface="Arial" charset="0"/>
                </a:rPr>
                <a:t> </a:t>
              </a:r>
              <a:r>
                <a:rPr lang="fr-FR" dirty="0" err="1">
                  <a:solidFill>
                    <a:schemeClr val="bg1"/>
                  </a:solidFill>
                  <a:latin typeface="Arial" charset="0"/>
                </a:rPr>
                <a:t>levels</a:t>
              </a:r>
              <a:endParaRPr lang="fr-FR" dirty="0">
                <a:solidFill>
                  <a:schemeClr val="bg1"/>
                </a:solidFill>
                <a:latin typeface="Arial" charset="0"/>
              </a:endParaRPr>
            </a:p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17" name="ZoneTexte 116"/>
            <p:cNvSpPr txBox="1"/>
            <p:nvPr/>
          </p:nvSpPr>
          <p:spPr>
            <a:xfrm>
              <a:off x="7169004" y="2823561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2">
                      <a:lumMod val="75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18" name="ZoneTexte 117"/>
            <p:cNvSpPr txBox="1"/>
            <p:nvPr/>
          </p:nvSpPr>
          <p:spPr>
            <a:xfrm>
              <a:off x="6859845" y="3448495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119" name="Connecteur droit avec flèche 118"/>
            <p:cNvCxnSpPr/>
            <p:nvPr/>
          </p:nvCxnSpPr>
          <p:spPr bwMode="auto">
            <a:xfrm>
              <a:off x="6871232" y="2760989"/>
              <a:ext cx="788987" cy="617589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arrow"/>
            </a:ln>
            <a:ex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eur droit avec flèche 119"/>
            <p:cNvCxnSpPr/>
            <p:nvPr/>
          </p:nvCxnSpPr>
          <p:spPr>
            <a:xfrm>
              <a:off x="6871233" y="3069783"/>
              <a:ext cx="788986" cy="657794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1" name="Connecteur en angle 120"/>
          <p:cNvCxnSpPr>
            <a:stCxn id="116" idx="3"/>
            <a:endCxn id="51" idx="0"/>
          </p:cNvCxnSpPr>
          <p:nvPr/>
        </p:nvCxnSpPr>
        <p:spPr bwMode="auto">
          <a:xfrm>
            <a:off x="7446830" y="3006474"/>
            <a:ext cx="581554" cy="367556"/>
          </a:xfrm>
          <a:prstGeom prst="bentConnector2">
            <a:avLst/>
          </a:prstGeom>
          <a:ln>
            <a:prstDash val="sysDot"/>
            <a:headEnd type="none" w="med" len="med"/>
            <a:tailEnd type="arrow"/>
          </a:ln>
          <a:ex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22" name="Groupe 121"/>
          <p:cNvGrpSpPr/>
          <p:nvPr/>
        </p:nvGrpSpPr>
        <p:grpSpPr>
          <a:xfrm>
            <a:off x="8446278" y="3922057"/>
            <a:ext cx="273878" cy="273464"/>
            <a:chOff x="7968348" y="4653136"/>
            <a:chExt cx="492084" cy="491340"/>
          </a:xfrm>
        </p:grpSpPr>
        <p:sp>
          <p:nvSpPr>
            <p:cNvPr id="123" name="Ellipse 122"/>
            <p:cNvSpPr/>
            <p:nvPr/>
          </p:nvSpPr>
          <p:spPr bwMode="auto">
            <a:xfrm>
              <a:off x="7968348" y="4653136"/>
              <a:ext cx="492084" cy="49134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124" name="Picture 9" descr="Afficher l'image d'origine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5685" y="4676972"/>
              <a:ext cx="457410" cy="4574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5" name="Rectangle à coins arrondis 124"/>
          <p:cNvSpPr/>
          <p:nvPr/>
        </p:nvSpPr>
        <p:spPr bwMode="auto">
          <a:xfrm>
            <a:off x="1464592" y="3170021"/>
            <a:ext cx="1080120" cy="340623"/>
          </a:xfrm>
          <a:prstGeom prst="round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WFS</a:t>
            </a:r>
          </a:p>
        </p:txBody>
      </p:sp>
      <p:sp>
        <p:nvSpPr>
          <p:cNvPr id="126" name="Rectangle à coins arrondis 125"/>
          <p:cNvSpPr/>
          <p:nvPr/>
        </p:nvSpPr>
        <p:spPr bwMode="auto">
          <a:xfrm>
            <a:off x="3930732" y="2424700"/>
            <a:ext cx="1080120" cy="340623"/>
          </a:xfrm>
          <a:prstGeom prst="round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WFS</a:t>
            </a:r>
          </a:p>
        </p:txBody>
      </p:sp>
      <p:sp>
        <p:nvSpPr>
          <p:cNvPr id="127" name="Rectangle à coins arrondis 126"/>
          <p:cNvSpPr/>
          <p:nvPr/>
        </p:nvSpPr>
        <p:spPr bwMode="auto">
          <a:xfrm>
            <a:off x="5080502" y="5332207"/>
            <a:ext cx="1080120" cy="340623"/>
          </a:xfrm>
          <a:prstGeom prst="round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WFS</a:t>
            </a:r>
          </a:p>
        </p:txBody>
      </p:sp>
      <p:sp>
        <p:nvSpPr>
          <p:cNvPr id="128" name="Rectangle à coins arrondis 127"/>
          <p:cNvSpPr/>
          <p:nvPr/>
        </p:nvSpPr>
        <p:spPr bwMode="auto">
          <a:xfrm>
            <a:off x="6199764" y="3055805"/>
            <a:ext cx="1080120" cy="340623"/>
          </a:xfrm>
          <a:prstGeom prst="round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SOS</a:t>
            </a:r>
          </a:p>
        </p:txBody>
      </p:sp>
      <p:sp>
        <p:nvSpPr>
          <p:cNvPr id="129" name="Rectangle à coins arrondis 128"/>
          <p:cNvSpPr/>
          <p:nvPr/>
        </p:nvSpPr>
        <p:spPr bwMode="auto">
          <a:xfrm>
            <a:off x="1118937" y="5588492"/>
            <a:ext cx="1080120" cy="340623"/>
          </a:xfrm>
          <a:prstGeom prst="round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SOS</a:t>
            </a:r>
          </a:p>
        </p:txBody>
      </p:sp>
      <p:sp>
        <p:nvSpPr>
          <p:cNvPr id="130" name="Rectangle à coins arrondis 129"/>
          <p:cNvSpPr/>
          <p:nvPr/>
        </p:nvSpPr>
        <p:spPr bwMode="auto">
          <a:xfrm>
            <a:off x="7221392" y="6021637"/>
            <a:ext cx="374944" cy="17502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31" name="Rectangle à coins arrondis 130"/>
          <p:cNvSpPr/>
          <p:nvPr/>
        </p:nvSpPr>
        <p:spPr bwMode="auto">
          <a:xfrm>
            <a:off x="7219085" y="6355836"/>
            <a:ext cx="374944" cy="175024"/>
          </a:xfrm>
          <a:prstGeom prst="roundRect">
            <a:avLst/>
          </a:prstGeom>
          <a:solidFill>
            <a:schemeClr val="accent2"/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32" name="ZoneTexte 131"/>
          <p:cNvSpPr txBox="1"/>
          <p:nvPr/>
        </p:nvSpPr>
        <p:spPr>
          <a:xfrm>
            <a:off x="7629120" y="5971346"/>
            <a:ext cx="92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0" i="1" dirty="0" err="1" smtClean="0"/>
              <a:t>Feature</a:t>
            </a:r>
            <a:r>
              <a:rPr lang="fr-FR" b="0" i="1" dirty="0" smtClean="0"/>
              <a:t>(s)</a:t>
            </a:r>
            <a:endParaRPr lang="fr-FR" b="0" i="1" dirty="0"/>
          </a:p>
        </p:txBody>
      </p:sp>
      <p:sp>
        <p:nvSpPr>
          <p:cNvPr id="133" name="ZoneTexte 132"/>
          <p:cNvSpPr txBox="1"/>
          <p:nvPr/>
        </p:nvSpPr>
        <p:spPr>
          <a:xfrm>
            <a:off x="7092280" y="5600273"/>
            <a:ext cx="7841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err="1" smtClean="0"/>
              <a:t>Legend</a:t>
            </a:r>
            <a:r>
              <a:rPr lang="fr-FR" i="1" dirty="0" smtClean="0"/>
              <a:t>:</a:t>
            </a:r>
            <a:endParaRPr lang="fr-FR" i="1" dirty="0"/>
          </a:p>
        </p:txBody>
      </p:sp>
      <p:sp>
        <p:nvSpPr>
          <p:cNvPr id="134" name="ZoneTexte 133"/>
          <p:cNvSpPr txBox="1"/>
          <p:nvPr/>
        </p:nvSpPr>
        <p:spPr>
          <a:xfrm>
            <a:off x="7629120" y="6320353"/>
            <a:ext cx="1191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0" i="1" dirty="0" smtClean="0"/>
              <a:t>Observation(s)</a:t>
            </a:r>
            <a:endParaRPr lang="fr-FR" b="0" i="1" dirty="0"/>
          </a:p>
        </p:txBody>
      </p:sp>
      <p:grpSp>
        <p:nvGrpSpPr>
          <p:cNvPr id="135" name="Groupe 134"/>
          <p:cNvGrpSpPr/>
          <p:nvPr/>
        </p:nvGrpSpPr>
        <p:grpSpPr>
          <a:xfrm>
            <a:off x="2639363" y="5313030"/>
            <a:ext cx="2204309" cy="338801"/>
            <a:chOff x="4264209" y="5702470"/>
            <a:chExt cx="2204309" cy="338803"/>
          </a:xfrm>
        </p:grpSpPr>
        <p:cxnSp>
          <p:nvCxnSpPr>
            <p:cNvPr id="136" name="Connecteur en angle 135"/>
            <p:cNvCxnSpPr/>
            <p:nvPr/>
          </p:nvCxnSpPr>
          <p:spPr bwMode="auto">
            <a:xfrm flipV="1">
              <a:off x="4264209" y="5702470"/>
              <a:ext cx="2204309" cy="338803"/>
            </a:xfrm>
            <a:prstGeom prst="bentConnector3">
              <a:avLst>
                <a:gd name="adj1" fmla="val 50000"/>
              </a:avLst>
            </a:prstGeom>
            <a:ln>
              <a:prstDash val="sysDot"/>
              <a:headEnd type="none" w="med" len="med"/>
              <a:tailEnd type="arrow"/>
            </a:ln>
            <a:ex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ZoneTexte 136"/>
            <p:cNvSpPr txBox="1"/>
            <p:nvPr/>
          </p:nvSpPr>
          <p:spPr>
            <a:xfrm>
              <a:off x="4901446" y="5751240"/>
              <a:ext cx="405880" cy="246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1879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en-US" dirty="0"/>
              <a:t>GML application schema toolbox - overall </a:t>
            </a:r>
            <a:r>
              <a:rPr lang="en-US" dirty="0" smtClean="0"/>
              <a:t>context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Initial idea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Reuse information available in XML compliant to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xsd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(s) to handle this content with no hardcoded configuration -&gt; enriched XML and database generation on the fly.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Retrieve objects of interest described according to a standard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= semantic and geographical representation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interacts with the content (XML and Database). Database -&gt; plug other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tools</a:t>
            </a:r>
          </a:p>
          <a:p>
            <a:pPr lvl="1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Resolve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XLinks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to add more content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vocabulary registry definitions (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multilinguism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handled)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linked domain features /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observation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6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</a:p>
          <a:p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50959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en-US" dirty="0"/>
              <a:t>GML application schema toolbox - overall </a:t>
            </a:r>
            <a:r>
              <a:rPr lang="en-US" dirty="0" smtClean="0"/>
              <a:t>context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Trigger custom widgets based on standards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working: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Waterml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2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timeseries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Inspire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PointTimeSeries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drafty: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GW_GeologyLogCoverage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on-going EU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AirqualityDirective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timeseries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Writes content (file not WFS-T)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Standalone OGR/GDAL driver -&gt; reuse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Previously presented during last year workshop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Koblenz 2016 Hydro DWG Workshop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presentation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of the Proof Of Concept QGIS plugin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7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</a:p>
          <a:p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44888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en-US" dirty="0"/>
              <a:t>GML application schema toolbox use – QGIS 3</a:t>
            </a:r>
            <a:endParaRPr lang="fr-FR" dirty="0" smtClean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8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</a:p>
          <a:p>
            <a:endParaRPr lang="fr-FR" sz="1050" b="1" dirty="0">
              <a:latin typeface="Times" pitchFamily="18" charset="0"/>
            </a:endParaRPr>
          </a:p>
        </p:txBody>
      </p:sp>
      <p:pic>
        <p:nvPicPr>
          <p:cNvPr id="7" name="Picture 2" descr="D:\Documents\grellets\Travail\OGC\HydroDWG\Meetings\20170324_Delft_TC\Src\read-db-gmla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2544" y="789179"/>
            <a:ext cx="3384376" cy="595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322584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en-US" dirty="0"/>
              <a:t>GML application schema toolbox use – XML</a:t>
            </a:r>
            <a:endParaRPr lang="fr-FR" dirty="0" smtClean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9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</a:p>
          <a:p>
            <a:endParaRPr lang="fr-FR" sz="1050" b="1" dirty="0">
              <a:latin typeface="Times" pitchFamily="18" charset="0"/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2" t="7296"/>
          <a:stretch/>
        </p:blipFill>
        <p:spPr bwMode="auto">
          <a:xfrm>
            <a:off x="-998806" y="2313960"/>
            <a:ext cx="7997474" cy="26490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e 8"/>
          <p:cNvGrpSpPr/>
          <p:nvPr/>
        </p:nvGrpSpPr>
        <p:grpSpPr>
          <a:xfrm>
            <a:off x="2689820" y="1987352"/>
            <a:ext cx="528292" cy="4896544"/>
            <a:chOff x="3131840" y="1412776"/>
            <a:chExt cx="528292" cy="4896544"/>
          </a:xfrm>
        </p:grpSpPr>
        <p:cxnSp>
          <p:nvCxnSpPr>
            <p:cNvPr id="11" name="Connecteur droit 10"/>
            <p:cNvCxnSpPr/>
            <p:nvPr/>
          </p:nvCxnSpPr>
          <p:spPr bwMode="auto">
            <a:xfrm flipH="1">
              <a:off x="3203848" y="1412776"/>
              <a:ext cx="456284" cy="1368152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Connecteur droit 11"/>
            <p:cNvCxnSpPr/>
            <p:nvPr/>
          </p:nvCxnSpPr>
          <p:spPr bwMode="auto">
            <a:xfrm flipH="1" flipV="1">
              <a:off x="3203848" y="2933328"/>
              <a:ext cx="456284" cy="3375992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" name="Ellipse 12"/>
            <p:cNvSpPr/>
            <p:nvPr/>
          </p:nvSpPr>
          <p:spPr bwMode="auto">
            <a:xfrm>
              <a:off x="3131840" y="2708920"/>
              <a:ext cx="502396" cy="296416"/>
            </a:xfrm>
            <a:prstGeom prst="ellipse">
              <a:avLst/>
            </a:prstGeom>
            <a:noFill/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pic>
        <p:nvPicPr>
          <p:cNvPr id="14" name="Picture 2" descr="D:\Documents\grellets\Travail\BRGM\Dev\Standardisation_info_geoscientifique\20170109_Lundi_interop\XML\Piezo\EF_to_WML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4224" y="1988840"/>
            <a:ext cx="7919182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 bwMode="auto">
          <a:xfrm>
            <a:off x="3841948" y="6019800"/>
            <a:ext cx="5302052" cy="720080"/>
          </a:xfrm>
          <a:prstGeom prst="rect">
            <a:avLst/>
          </a:prstGeom>
          <a:noFill/>
          <a:ln w="317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2689820" y="5311552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fr-FR" sz="2400" dirty="0" smtClean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3384748" y="6019800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fr-FR" sz="2400" dirty="0" smtClean="0">
                <a:solidFill>
                  <a:srgbClr val="00B050"/>
                </a:solidFill>
              </a:rPr>
              <a:t>2</a:t>
            </a:r>
          </a:p>
        </p:txBody>
      </p:sp>
      <p:grpSp>
        <p:nvGrpSpPr>
          <p:cNvPr id="18" name="Groupe 17"/>
          <p:cNvGrpSpPr/>
          <p:nvPr/>
        </p:nvGrpSpPr>
        <p:grpSpPr>
          <a:xfrm>
            <a:off x="4419600" y="764704"/>
            <a:ext cx="1584176" cy="1232137"/>
            <a:chOff x="2553658" y="643019"/>
            <a:chExt cx="1584176" cy="1232137"/>
          </a:xfrm>
        </p:grpSpPr>
        <p:sp>
          <p:nvSpPr>
            <p:cNvPr id="19" name="Rectangle à coins arrondis 18"/>
            <p:cNvSpPr/>
            <p:nvPr/>
          </p:nvSpPr>
          <p:spPr bwMode="auto">
            <a:xfrm>
              <a:off x="2553658" y="643019"/>
              <a:ext cx="1584176" cy="1232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fr-FR" sz="1200" b="1" dirty="0">
                  <a:solidFill>
                    <a:schemeClr val="bg1"/>
                  </a:solidFill>
                  <a:latin typeface="Arial" charset="0"/>
                </a:rPr>
                <a:t>Env. Monitoring Facility</a:t>
              </a:r>
            </a:p>
          </p:txBody>
        </p:sp>
        <p:sp>
          <p:nvSpPr>
            <p:cNvPr id="20" name="Rectangle à coins arrondis 19"/>
            <p:cNvSpPr/>
            <p:nvPr/>
          </p:nvSpPr>
          <p:spPr bwMode="auto">
            <a:xfrm>
              <a:off x="2882676" y="1201912"/>
              <a:ext cx="888040" cy="55811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21" name="Picture 2" descr="Afficher l'image d'origine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6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3646" y="1229712"/>
              <a:ext cx="471921" cy="471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2" name="Rectangle à coins arrondis 21"/>
          <p:cNvSpPr/>
          <p:nvPr/>
        </p:nvSpPr>
        <p:spPr bwMode="auto">
          <a:xfrm>
            <a:off x="7778264" y="839564"/>
            <a:ext cx="1414013" cy="110362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  <a:latin typeface="Arial" charset="0"/>
              </a:rPr>
              <a:t>GroundWater</a:t>
            </a:r>
            <a:endParaRPr lang="fr-FR" dirty="0">
              <a:solidFill>
                <a:schemeClr val="bg1"/>
              </a:solidFill>
              <a:latin typeface="Arial" charset="0"/>
            </a:endParaRPr>
          </a:p>
          <a:p>
            <a:pPr algn="ctr"/>
            <a:r>
              <a:rPr lang="fr-FR" dirty="0" err="1">
                <a:solidFill>
                  <a:schemeClr val="bg1"/>
                </a:solidFill>
                <a:latin typeface="Arial" charset="0"/>
              </a:rPr>
              <a:t>raw</a:t>
            </a:r>
            <a:r>
              <a:rPr lang="fr-FR" dirty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" charset="0"/>
              </a:rPr>
              <a:t>levels</a:t>
            </a:r>
            <a:endParaRPr lang="fr-FR" dirty="0">
              <a:solidFill>
                <a:schemeClr val="bg1"/>
              </a:solidFill>
              <a:latin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7016" y="1342924"/>
            <a:ext cx="1114128" cy="448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ZoneTexte 23"/>
          <p:cNvSpPr txBox="1"/>
          <p:nvPr/>
        </p:nvSpPr>
        <p:spPr>
          <a:xfrm>
            <a:off x="7183595" y="106336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i="1" dirty="0" smtClean="0">
                <a:solidFill>
                  <a:schemeClr val="accent2">
                    <a:lumMod val="75000"/>
                  </a:schemeClr>
                </a:solidFill>
              </a:rPr>
              <a:t>URI</a:t>
            </a:r>
            <a:endParaRPr lang="fr-FR" sz="1000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6566418" y="148005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i="1" dirty="0" smtClean="0">
                <a:solidFill>
                  <a:schemeClr val="accent1">
                    <a:lumMod val="50000"/>
                  </a:schemeClr>
                </a:solidFill>
              </a:rPr>
              <a:t>URI</a:t>
            </a:r>
            <a:endParaRPr lang="fr-FR" sz="1000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26" name="Connecteur droit avec flèche 25"/>
          <p:cNvCxnSpPr/>
          <p:nvPr/>
        </p:nvCxnSpPr>
        <p:spPr bwMode="auto">
          <a:xfrm>
            <a:off x="6078259" y="1304046"/>
            <a:ext cx="1702561" cy="699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none" w="med" len="med"/>
            <a:tailEnd type="arrow"/>
          </a:ln>
          <a:ex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/>
          <p:cNvCxnSpPr/>
          <p:nvPr/>
        </p:nvCxnSpPr>
        <p:spPr>
          <a:xfrm>
            <a:off x="6078259" y="1671657"/>
            <a:ext cx="1774275" cy="5688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83450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en-US" dirty="0"/>
              <a:t>GML application schema toolbox use – XML</a:t>
            </a:r>
            <a:endParaRPr lang="fr-FR" dirty="0" smtClean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10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</a:p>
          <a:p>
            <a:endParaRPr lang="fr-FR" sz="1050" b="1" dirty="0">
              <a:latin typeface="Times" pitchFamily="18" charset="0"/>
            </a:endParaRPr>
          </a:p>
        </p:txBody>
      </p:sp>
      <p:pic>
        <p:nvPicPr>
          <p:cNvPr id="37" name="Picture 4" descr="D:\Documents\grellets\Travail\BRGM\Dev\Standardisation_info_geoscientifique\20170109_Lundi_interop\XML\Piezo\WML2_icon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4" t="27077" r="47777" b="21215"/>
          <a:stretch/>
        </p:blipFill>
        <p:spPr bwMode="auto">
          <a:xfrm>
            <a:off x="179512" y="2318792"/>
            <a:ext cx="4673600" cy="453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" name="Groupe 37"/>
          <p:cNvGrpSpPr/>
          <p:nvPr/>
        </p:nvGrpSpPr>
        <p:grpSpPr>
          <a:xfrm>
            <a:off x="1763688" y="2318792"/>
            <a:ext cx="7565752" cy="4464496"/>
            <a:chOff x="1763688" y="1556792"/>
            <a:chExt cx="7565752" cy="4464496"/>
          </a:xfrm>
        </p:grpSpPr>
        <p:sp>
          <p:nvSpPr>
            <p:cNvPr id="39" name="Rectangle 38"/>
            <p:cNvSpPr/>
            <p:nvPr/>
          </p:nvSpPr>
          <p:spPr bwMode="auto">
            <a:xfrm>
              <a:off x="1763688" y="5677250"/>
              <a:ext cx="360040" cy="344038"/>
            </a:xfrm>
            <a:prstGeom prst="rect">
              <a:avLst/>
            </a:prstGeom>
            <a:noFill/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40" name="Connecteur droit 39"/>
            <p:cNvCxnSpPr>
              <a:stCxn id="39" idx="0"/>
            </p:cNvCxnSpPr>
            <p:nvPr/>
          </p:nvCxnSpPr>
          <p:spPr bwMode="auto">
            <a:xfrm flipV="1">
              <a:off x="1943708" y="1556792"/>
              <a:ext cx="1764196" cy="4120458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Connecteur droit 40"/>
            <p:cNvCxnSpPr>
              <a:stCxn id="39" idx="2"/>
            </p:cNvCxnSpPr>
            <p:nvPr/>
          </p:nvCxnSpPr>
          <p:spPr bwMode="auto">
            <a:xfrm flipV="1">
              <a:off x="1943708" y="5772944"/>
              <a:ext cx="1764196" cy="248344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42" name="Picture 5" descr="D:\Documents\grellets\Travail\BRGM\Dev\Standardisation_info_geoscientifique\20170109_Lundi_interop\XML\Piezo\WML2_timeseries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07904" y="1556792"/>
              <a:ext cx="5621536" cy="42161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3" name="ZoneTexte 42"/>
          <p:cNvSpPr txBox="1"/>
          <p:nvPr/>
        </p:nvSpPr>
        <p:spPr>
          <a:xfrm>
            <a:off x="2133600" y="6248400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fr-FR" sz="2400" dirty="0" smtClean="0">
                <a:solidFill>
                  <a:srgbClr val="FF0000"/>
                </a:solidFill>
              </a:rPr>
              <a:t>3</a:t>
            </a:r>
          </a:p>
        </p:txBody>
      </p:sp>
      <p:grpSp>
        <p:nvGrpSpPr>
          <p:cNvPr id="54" name="Groupe 53"/>
          <p:cNvGrpSpPr/>
          <p:nvPr/>
        </p:nvGrpSpPr>
        <p:grpSpPr>
          <a:xfrm>
            <a:off x="4419600" y="764704"/>
            <a:ext cx="1584176" cy="1232137"/>
            <a:chOff x="2553658" y="643019"/>
            <a:chExt cx="1584176" cy="1232137"/>
          </a:xfrm>
        </p:grpSpPr>
        <p:sp>
          <p:nvSpPr>
            <p:cNvPr id="55" name="Rectangle à coins arrondis 54"/>
            <p:cNvSpPr/>
            <p:nvPr/>
          </p:nvSpPr>
          <p:spPr bwMode="auto">
            <a:xfrm>
              <a:off x="2553658" y="643019"/>
              <a:ext cx="1584176" cy="1232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fr-FR" sz="1200" b="1" dirty="0">
                  <a:solidFill>
                    <a:schemeClr val="bg1"/>
                  </a:solidFill>
                  <a:latin typeface="Arial" charset="0"/>
                </a:rPr>
                <a:t>Env. Monitoring Facility</a:t>
              </a:r>
            </a:p>
          </p:txBody>
        </p:sp>
        <p:sp>
          <p:nvSpPr>
            <p:cNvPr id="56" name="Rectangle à coins arrondis 55"/>
            <p:cNvSpPr/>
            <p:nvPr/>
          </p:nvSpPr>
          <p:spPr bwMode="auto">
            <a:xfrm>
              <a:off x="2882676" y="1201912"/>
              <a:ext cx="888040" cy="55811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57" name="Picture 2" descr="Afficher l'image d'origine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6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3646" y="1229712"/>
              <a:ext cx="471921" cy="471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8" name="Rectangle à coins arrondis 57"/>
          <p:cNvSpPr/>
          <p:nvPr/>
        </p:nvSpPr>
        <p:spPr bwMode="auto">
          <a:xfrm>
            <a:off x="7778264" y="839564"/>
            <a:ext cx="1414013" cy="110362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  <a:latin typeface="Arial" charset="0"/>
              </a:rPr>
              <a:t>GroundWater</a:t>
            </a:r>
            <a:endParaRPr lang="fr-FR" dirty="0">
              <a:solidFill>
                <a:schemeClr val="bg1"/>
              </a:solidFill>
              <a:latin typeface="Arial" charset="0"/>
            </a:endParaRPr>
          </a:p>
          <a:p>
            <a:pPr algn="ctr"/>
            <a:r>
              <a:rPr lang="fr-FR" dirty="0" err="1">
                <a:solidFill>
                  <a:schemeClr val="bg1"/>
                </a:solidFill>
                <a:latin typeface="Arial" charset="0"/>
              </a:rPr>
              <a:t>raw</a:t>
            </a:r>
            <a:r>
              <a:rPr lang="fr-FR" dirty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" charset="0"/>
              </a:rPr>
              <a:t>levels</a:t>
            </a:r>
            <a:endParaRPr lang="fr-FR" dirty="0">
              <a:solidFill>
                <a:schemeClr val="bg1"/>
              </a:solidFill>
              <a:latin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59" name="Picture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7016" y="1342924"/>
            <a:ext cx="1114128" cy="448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ZoneTexte 59"/>
          <p:cNvSpPr txBox="1"/>
          <p:nvPr/>
        </p:nvSpPr>
        <p:spPr>
          <a:xfrm>
            <a:off x="7183595" y="106336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i="1" dirty="0" smtClean="0">
                <a:solidFill>
                  <a:schemeClr val="accent2">
                    <a:lumMod val="75000"/>
                  </a:schemeClr>
                </a:solidFill>
              </a:rPr>
              <a:t>URI</a:t>
            </a:r>
            <a:endParaRPr lang="fr-FR" sz="1000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1" name="ZoneTexte 60"/>
          <p:cNvSpPr txBox="1"/>
          <p:nvPr/>
        </p:nvSpPr>
        <p:spPr>
          <a:xfrm>
            <a:off x="6566418" y="148005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i="1" dirty="0" smtClean="0">
                <a:solidFill>
                  <a:schemeClr val="accent1">
                    <a:lumMod val="50000"/>
                  </a:schemeClr>
                </a:solidFill>
              </a:rPr>
              <a:t>URI</a:t>
            </a:r>
            <a:endParaRPr lang="fr-FR" sz="1000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62" name="Connecteur droit avec flèche 61"/>
          <p:cNvCxnSpPr/>
          <p:nvPr/>
        </p:nvCxnSpPr>
        <p:spPr bwMode="auto">
          <a:xfrm>
            <a:off x="6078259" y="1304046"/>
            <a:ext cx="1702561" cy="699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none" w="med" len="med"/>
            <a:tailEnd type="arrow"/>
          </a:ln>
          <a:ex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/>
          <p:cNvCxnSpPr/>
          <p:nvPr/>
        </p:nvCxnSpPr>
        <p:spPr>
          <a:xfrm>
            <a:off x="6078259" y="1671657"/>
            <a:ext cx="1774275" cy="5688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92451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96952" y="1752027"/>
            <a:ext cx="14211300" cy="4752975"/>
          </a:xfrm>
          <a:prstGeom prst="rect">
            <a:avLst/>
          </a:prstGeom>
        </p:spPr>
      </p:pic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en-US" dirty="0"/>
              <a:t>GML application schema toolbox use – XML</a:t>
            </a:r>
            <a:endParaRPr lang="fr-FR" dirty="0" smtClean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11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</a:p>
          <a:p>
            <a:endParaRPr lang="fr-FR" sz="1050" b="1" dirty="0">
              <a:latin typeface="Times" pitchFamily="18" charset="0"/>
            </a:endParaRPr>
          </a:p>
        </p:txBody>
      </p:sp>
      <p:sp>
        <p:nvSpPr>
          <p:cNvPr id="22" name="Rectangle à coins arrondis 21"/>
          <p:cNvSpPr/>
          <p:nvPr/>
        </p:nvSpPr>
        <p:spPr bwMode="auto">
          <a:xfrm>
            <a:off x="7729987" y="975312"/>
            <a:ext cx="1414013" cy="80883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Borehole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grpSp>
        <p:nvGrpSpPr>
          <p:cNvPr id="24" name="Groupe 23"/>
          <p:cNvGrpSpPr/>
          <p:nvPr/>
        </p:nvGrpSpPr>
        <p:grpSpPr>
          <a:xfrm>
            <a:off x="1646898" y="1799297"/>
            <a:ext cx="789383" cy="4705705"/>
            <a:chOff x="609600" y="1254345"/>
            <a:chExt cx="1045342" cy="4883510"/>
          </a:xfrm>
        </p:grpSpPr>
        <p:cxnSp>
          <p:nvCxnSpPr>
            <p:cNvPr id="25" name="Connecteur droit 24"/>
            <p:cNvCxnSpPr/>
            <p:nvPr/>
          </p:nvCxnSpPr>
          <p:spPr bwMode="auto">
            <a:xfrm flipH="1">
              <a:off x="681608" y="1254345"/>
              <a:ext cx="973334" cy="2399807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Connecteur droit 25"/>
            <p:cNvCxnSpPr>
              <a:endCxn id="27" idx="3"/>
            </p:cNvCxnSpPr>
            <p:nvPr/>
          </p:nvCxnSpPr>
          <p:spPr bwMode="auto">
            <a:xfrm flipH="1" flipV="1">
              <a:off x="683174" y="3835150"/>
              <a:ext cx="971768" cy="2302705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" name="Ellipse 26"/>
            <p:cNvSpPr/>
            <p:nvPr/>
          </p:nvSpPr>
          <p:spPr bwMode="auto">
            <a:xfrm>
              <a:off x="609600" y="3582144"/>
              <a:ext cx="502396" cy="296416"/>
            </a:xfrm>
            <a:prstGeom prst="ellipse">
              <a:avLst/>
            </a:prstGeom>
            <a:noFill/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8" name="ZoneTexte 27"/>
          <p:cNvSpPr txBox="1"/>
          <p:nvPr/>
        </p:nvSpPr>
        <p:spPr>
          <a:xfrm>
            <a:off x="1217692" y="3974044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fr-FR" sz="2400" dirty="0">
                <a:solidFill>
                  <a:srgbClr val="FF0000"/>
                </a:solidFill>
              </a:rPr>
              <a:t>A</a:t>
            </a:r>
            <a:endParaRPr lang="fr-FR" sz="24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06658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</a:p>
          <a:p>
            <a:endParaRPr lang="fr-FR" sz="1050" b="1" dirty="0">
              <a:latin typeface="Times" pitchFamily="18" charset="0"/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 rotWithShape="1">
          <a:blip r:embed="rId3"/>
          <a:srcRect l="5774" t="4974" b="6021"/>
          <a:stretch/>
        </p:blipFill>
        <p:spPr>
          <a:xfrm>
            <a:off x="231775" y="479425"/>
            <a:ext cx="7305675" cy="6477000"/>
          </a:xfrm>
          <a:prstGeom prst="rect">
            <a:avLst/>
          </a:prstGeom>
        </p:spPr>
      </p:pic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en-US" dirty="0"/>
              <a:t>GML application schema toolbox use – XML</a:t>
            </a:r>
            <a:endParaRPr lang="fr-FR" dirty="0" smtClean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12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2" name="Rectangle à coins arrondis 21"/>
          <p:cNvSpPr/>
          <p:nvPr/>
        </p:nvSpPr>
        <p:spPr bwMode="auto">
          <a:xfrm>
            <a:off x="7729987" y="975312"/>
            <a:ext cx="1414013" cy="80883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Borehole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41443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</a:p>
          <a:p>
            <a:endParaRPr lang="fr-FR" sz="1050" b="1" dirty="0">
              <a:latin typeface="Times" pitchFamily="18" charset="0"/>
            </a:endParaRPr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 rotWithShape="1">
          <a:blip r:embed="rId3"/>
          <a:srcRect l="6258" t="41896"/>
          <a:stretch/>
        </p:blipFill>
        <p:spPr>
          <a:xfrm>
            <a:off x="381000" y="1619816"/>
            <a:ext cx="7348537" cy="5257800"/>
          </a:xfrm>
          <a:prstGeom prst="rect">
            <a:avLst/>
          </a:prstGeom>
        </p:spPr>
      </p:pic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en-US" dirty="0"/>
              <a:t>GML application schema toolbox use – XML</a:t>
            </a:r>
            <a:endParaRPr lang="fr-FR" dirty="0" smtClean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13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2" name="Rectangle à coins arrondis 21"/>
          <p:cNvSpPr/>
          <p:nvPr/>
        </p:nvSpPr>
        <p:spPr bwMode="auto">
          <a:xfrm>
            <a:off x="7729987" y="975312"/>
            <a:ext cx="1414013" cy="80883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Borehole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grpSp>
        <p:nvGrpSpPr>
          <p:cNvPr id="7" name="Groupe 6"/>
          <p:cNvGrpSpPr/>
          <p:nvPr/>
        </p:nvGrpSpPr>
        <p:grpSpPr>
          <a:xfrm>
            <a:off x="6944565" y="1784143"/>
            <a:ext cx="2199435" cy="2894811"/>
            <a:chOff x="2064774" y="4019955"/>
            <a:chExt cx="2199435" cy="2894811"/>
          </a:xfrm>
        </p:grpSpPr>
        <p:sp>
          <p:nvSpPr>
            <p:cNvPr id="8" name="Rectangle à coins arrondis 7"/>
            <p:cNvSpPr/>
            <p:nvPr/>
          </p:nvSpPr>
          <p:spPr bwMode="auto">
            <a:xfrm>
              <a:off x="2064774" y="5167776"/>
              <a:ext cx="2199435" cy="174699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Observations/ </a:t>
              </a:r>
              <a:r>
                <a:rPr kumimoji="0" lang="fr-FR" sz="1200" b="1" i="0" u="none" strike="noStrike" cap="none" normalizeH="0" baseline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Geological</a:t>
              </a: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 logs</a:t>
              </a:r>
            </a:p>
          </p:txBody>
        </p:sp>
        <p:pic>
          <p:nvPicPr>
            <p:cNvPr id="9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7499" y="5783606"/>
              <a:ext cx="243998" cy="73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1" name="Connecteur droit avec flèche 10"/>
            <p:cNvCxnSpPr/>
            <p:nvPr/>
          </p:nvCxnSpPr>
          <p:spPr>
            <a:xfrm flipH="1">
              <a:off x="3369443" y="4042606"/>
              <a:ext cx="11680" cy="1166619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ZoneTexte 12"/>
            <p:cNvSpPr txBox="1"/>
            <p:nvPr/>
          </p:nvSpPr>
          <p:spPr>
            <a:xfrm>
              <a:off x="2940460" y="4448211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14" name="Connecteur droit avec flèche 13"/>
            <p:cNvCxnSpPr/>
            <p:nvPr/>
          </p:nvCxnSpPr>
          <p:spPr>
            <a:xfrm flipH="1">
              <a:off x="3765970" y="4019955"/>
              <a:ext cx="8284" cy="1164915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ZoneTexte 14"/>
            <p:cNvSpPr txBox="1"/>
            <p:nvPr/>
          </p:nvSpPr>
          <p:spPr>
            <a:xfrm>
              <a:off x="3724657" y="4474066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pic>
          <p:nvPicPr>
            <p:cNvPr id="16" name="Picture 2" descr="D:\Documents\grellets\Travail\International\H2020\EPOS\H2020\Realisation\WP15\20161122-23_Potsdam\Images\STREMY_Log.pn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750"/>
            <a:stretch/>
          </p:blipFill>
          <p:spPr bwMode="auto">
            <a:xfrm>
              <a:off x="2197496" y="5762638"/>
              <a:ext cx="1183627" cy="1135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</p:spPr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sp>
        <p:nvSpPr>
          <p:cNvPr id="19" name="Rectangle 18"/>
          <p:cNvSpPr/>
          <p:nvPr/>
        </p:nvSpPr>
        <p:spPr bwMode="auto">
          <a:xfrm>
            <a:off x="609600" y="4267200"/>
            <a:ext cx="5564187" cy="1066800"/>
          </a:xfrm>
          <a:prstGeom prst="rect">
            <a:avLst/>
          </a:prstGeom>
          <a:noFill/>
          <a:ln w="317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76200" y="4343400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fr-FR" sz="2400" dirty="0" smtClean="0">
                <a:solidFill>
                  <a:srgbClr val="00B050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12688062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</a:p>
          <a:p>
            <a:endParaRPr lang="fr-FR" sz="1050" b="1" dirty="0">
              <a:latin typeface="Times" pitchFamily="18" charset="0"/>
            </a:endParaRPr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 rotWithShape="1">
          <a:blip r:embed="rId3"/>
          <a:srcRect l="-460" t="11130" b="21977"/>
          <a:stretch/>
        </p:blipFill>
        <p:spPr>
          <a:xfrm>
            <a:off x="-3023" y="1143000"/>
            <a:ext cx="7281862" cy="5638800"/>
          </a:xfrm>
          <a:prstGeom prst="rect">
            <a:avLst/>
          </a:prstGeom>
        </p:spPr>
      </p:pic>
      <p:grpSp>
        <p:nvGrpSpPr>
          <p:cNvPr id="24" name="Groupe 23"/>
          <p:cNvGrpSpPr/>
          <p:nvPr/>
        </p:nvGrpSpPr>
        <p:grpSpPr>
          <a:xfrm>
            <a:off x="1835696" y="635285"/>
            <a:ext cx="6641554" cy="6057900"/>
            <a:chOff x="1835696" y="635285"/>
            <a:chExt cx="6641554" cy="6057900"/>
          </a:xfrm>
        </p:grpSpPr>
        <p:sp>
          <p:nvSpPr>
            <p:cNvPr id="25" name="Rectangle 24"/>
            <p:cNvSpPr/>
            <p:nvPr/>
          </p:nvSpPr>
          <p:spPr bwMode="auto">
            <a:xfrm>
              <a:off x="2195736" y="2148858"/>
              <a:ext cx="360040" cy="344038"/>
            </a:xfrm>
            <a:prstGeom prst="rect">
              <a:avLst/>
            </a:prstGeom>
            <a:noFill/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26" name="Connecteur droit 25"/>
            <p:cNvCxnSpPr/>
            <p:nvPr/>
          </p:nvCxnSpPr>
          <p:spPr bwMode="auto">
            <a:xfrm flipV="1">
              <a:off x="2513200" y="799877"/>
              <a:ext cx="1982600" cy="1333723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Connecteur droit 26"/>
            <p:cNvCxnSpPr/>
            <p:nvPr/>
          </p:nvCxnSpPr>
          <p:spPr bwMode="auto">
            <a:xfrm>
              <a:off x="2553853" y="2477638"/>
              <a:ext cx="2016559" cy="4189862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" name="ZoneTexte 27"/>
            <p:cNvSpPr txBox="1"/>
            <p:nvPr/>
          </p:nvSpPr>
          <p:spPr>
            <a:xfrm>
              <a:off x="1835696" y="2057400"/>
              <a:ext cx="914400" cy="91440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fr-FR" sz="2400" dirty="0" smtClean="0">
                  <a:solidFill>
                    <a:srgbClr val="FF0000"/>
                  </a:solidFill>
                </a:rPr>
                <a:t>C</a:t>
              </a:r>
            </a:p>
          </p:txBody>
        </p:sp>
        <p:pic>
          <p:nvPicPr>
            <p:cNvPr id="29" name="Image 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5800" y="635285"/>
              <a:ext cx="3981450" cy="6057900"/>
            </a:xfrm>
            <a:prstGeom prst="rect">
              <a:avLst/>
            </a:prstGeom>
          </p:spPr>
        </p:pic>
      </p:grpSp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en-US" dirty="0"/>
              <a:t>GML application schema toolbox use – XML</a:t>
            </a:r>
            <a:endParaRPr lang="fr-FR" dirty="0" smtClean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14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2" name="Rectangle à coins arrondis 21"/>
          <p:cNvSpPr/>
          <p:nvPr/>
        </p:nvSpPr>
        <p:spPr bwMode="auto">
          <a:xfrm>
            <a:off x="7729987" y="975312"/>
            <a:ext cx="1414013" cy="80883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Borehole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grpSp>
        <p:nvGrpSpPr>
          <p:cNvPr id="7" name="Groupe 6"/>
          <p:cNvGrpSpPr/>
          <p:nvPr/>
        </p:nvGrpSpPr>
        <p:grpSpPr>
          <a:xfrm>
            <a:off x="6944565" y="1784143"/>
            <a:ext cx="2199435" cy="2894811"/>
            <a:chOff x="2064774" y="4019955"/>
            <a:chExt cx="2199435" cy="2894811"/>
          </a:xfrm>
        </p:grpSpPr>
        <p:sp>
          <p:nvSpPr>
            <p:cNvPr id="8" name="Rectangle à coins arrondis 7"/>
            <p:cNvSpPr/>
            <p:nvPr/>
          </p:nvSpPr>
          <p:spPr bwMode="auto">
            <a:xfrm>
              <a:off x="2064774" y="5167776"/>
              <a:ext cx="2199435" cy="174699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Observations/ </a:t>
              </a:r>
              <a:r>
                <a:rPr kumimoji="0" lang="fr-FR" sz="1200" b="1" i="0" u="none" strike="noStrike" cap="none" normalizeH="0" baseline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Geological</a:t>
              </a: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 logs</a:t>
              </a:r>
            </a:p>
          </p:txBody>
        </p:sp>
        <p:pic>
          <p:nvPicPr>
            <p:cNvPr id="9" name="Picture 3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7499" y="5783606"/>
              <a:ext cx="243998" cy="73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1" name="Connecteur droit avec flèche 10"/>
            <p:cNvCxnSpPr/>
            <p:nvPr/>
          </p:nvCxnSpPr>
          <p:spPr>
            <a:xfrm flipH="1">
              <a:off x="3369443" y="4042606"/>
              <a:ext cx="11680" cy="1166619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ZoneTexte 12"/>
            <p:cNvSpPr txBox="1"/>
            <p:nvPr/>
          </p:nvSpPr>
          <p:spPr>
            <a:xfrm>
              <a:off x="2940460" y="4448211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14" name="Connecteur droit avec flèche 13"/>
            <p:cNvCxnSpPr/>
            <p:nvPr/>
          </p:nvCxnSpPr>
          <p:spPr>
            <a:xfrm flipH="1">
              <a:off x="3765970" y="4019955"/>
              <a:ext cx="8284" cy="1164915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ZoneTexte 14"/>
            <p:cNvSpPr txBox="1"/>
            <p:nvPr/>
          </p:nvSpPr>
          <p:spPr>
            <a:xfrm>
              <a:off x="3724657" y="4474066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pic>
          <p:nvPicPr>
            <p:cNvPr id="16" name="Picture 2" descr="D:\Documents\grellets\Travail\International\H2020\EPOS\H2020\Realisation\WP15\20161122-23_Potsdam\Images\STREMY_Log.png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750"/>
            <a:stretch/>
          </p:blipFill>
          <p:spPr bwMode="auto">
            <a:xfrm>
              <a:off x="2197496" y="5762638"/>
              <a:ext cx="1183627" cy="1135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1872629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</a:p>
          <a:p>
            <a:endParaRPr lang="fr-FR" sz="1050" b="1" dirty="0">
              <a:latin typeface="Times" pitchFamily="18" charset="0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en-US" dirty="0"/>
              <a:t>GML application schema toolbox use – XML</a:t>
            </a:r>
            <a:endParaRPr lang="fr-FR" dirty="0" smtClean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15</a:t>
            </a:fld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 rotWithShape="1">
          <a:blip r:embed="rId3"/>
          <a:srcRect l="5774" t="4974" b="6021"/>
          <a:stretch/>
        </p:blipFill>
        <p:spPr>
          <a:xfrm>
            <a:off x="231775" y="479425"/>
            <a:ext cx="7305675" cy="6477000"/>
          </a:xfrm>
          <a:prstGeom prst="rect">
            <a:avLst/>
          </a:prstGeom>
        </p:spPr>
      </p:pic>
      <p:sp>
        <p:nvSpPr>
          <p:cNvPr id="30" name="Rectangle à coins arrondis 29"/>
          <p:cNvSpPr/>
          <p:nvPr/>
        </p:nvSpPr>
        <p:spPr bwMode="auto">
          <a:xfrm>
            <a:off x="7729987" y="3763169"/>
            <a:ext cx="1414013" cy="80883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Borehole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31" name="Rectangle à coins arrondis 30"/>
          <p:cNvSpPr/>
          <p:nvPr/>
        </p:nvSpPr>
        <p:spPr bwMode="auto">
          <a:xfrm>
            <a:off x="7672960" y="5625863"/>
            <a:ext cx="1584176" cy="123213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="1" dirty="0">
                <a:solidFill>
                  <a:schemeClr val="bg1"/>
                </a:solidFill>
                <a:latin typeface="Arial" charset="0"/>
              </a:rPr>
              <a:t>Env. Monitoring Facility</a:t>
            </a:r>
          </a:p>
        </p:txBody>
      </p:sp>
      <p:sp>
        <p:nvSpPr>
          <p:cNvPr id="32" name="Rectangle à coins arrondis 31"/>
          <p:cNvSpPr/>
          <p:nvPr/>
        </p:nvSpPr>
        <p:spPr bwMode="auto">
          <a:xfrm>
            <a:off x="8001978" y="6184756"/>
            <a:ext cx="888040" cy="558116"/>
          </a:xfrm>
          <a:prstGeom prst="round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33" name="Picture 2" descr="Afficher l'image d'origine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6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2948" y="6212556"/>
            <a:ext cx="471921" cy="471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ZoneTexte 33"/>
          <p:cNvSpPr txBox="1"/>
          <p:nvPr/>
        </p:nvSpPr>
        <p:spPr>
          <a:xfrm>
            <a:off x="8654869" y="4977085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i="1" dirty="0" smtClean="0">
                <a:solidFill>
                  <a:schemeClr val="accent1">
                    <a:lumMod val="50000"/>
                  </a:schemeClr>
                </a:solidFill>
              </a:rPr>
              <a:t>URI</a:t>
            </a:r>
            <a:endParaRPr lang="fr-FR" sz="1000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5" name="ZoneTexte 34"/>
          <p:cNvSpPr txBox="1"/>
          <p:nvPr/>
        </p:nvSpPr>
        <p:spPr>
          <a:xfrm>
            <a:off x="7801399" y="4701993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i="1" dirty="0" smtClean="0">
                <a:solidFill>
                  <a:schemeClr val="accent1">
                    <a:lumMod val="50000"/>
                  </a:schemeClr>
                </a:solidFill>
              </a:rPr>
              <a:t>URI</a:t>
            </a:r>
            <a:endParaRPr lang="fr-FR" sz="1000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36" name="Connecteur droit avec flèche 35"/>
          <p:cNvCxnSpPr/>
          <p:nvPr/>
        </p:nvCxnSpPr>
        <p:spPr>
          <a:xfrm>
            <a:off x="8305800" y="4581877"/>
            <a:ext cx="0" cy="1056923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/>
          <p:cNvCxnSpPr/>
          <p:nvPr/>
        </p:nvCxnSpPr>
        <p:spPr>
          <a:xfrm flipV="1">
            <a:off x="8576879" y="4623203"/>
            <a:ext cx="10235" cy="1054598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Groupe 37"/>
          <p:cNvGrpSpPr/>
          <p:nvPr/>
        </p:nvGrpSpPr>
        <p:grpSpPr>
          <a:xfrm>
            <a:off x="5562600" y="3886200"/>
            <a:ext cx="2140278" cy="2971800"/>
            <a:chOff x="5562600" y="3886200"/>
            <a:chExt cx="2140278" cy="2971800"/>
          </a:xfrm>
        </p:grpSpPr>
        <p:sp>
          <p:nvSpPr>
            <p:cNvPr id="39" name="Accolade fermante 38"/>
            <p:cNvSpPr/>
            <p:nvPr/>
          </p:nvSpPr>
          <p:spPr bwMode="auto">
            <a:xfrm rot="10800000">
              <a:off x="7321878" y="3886200"/>
              <a:ext cx="381000" cy="2971800"/>
            </a:xfrm>
            <a:prstGeom prst="rightBrace">
              <a:avLst/>
            </a:prstGeom>
            <a:noFill/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40" name="Connecteur droit avec flèche 39"/>
            <p:cNvCxnSpPr>
              <a:stCxn id="39" idx="1"/>
            </p:cNvCxnSpPr>
            <p:nvPr/>
          </p:nvCxnSpPr>
          <p:spPr bwMode="auto">
            <a:xfrm flipH="1">
              <a:off x="5562600" y="5372100"/>
              <a:ext cx="1759278" cy="1312377"/>
            </a:xfrm>
            <a:prstGeom prst="straightConnector1">
              <a:avLst/>
            </a:prstGeom>
            <a:noFill/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52" name="ZoneTexte 51"/>
          <p:cNvSpPr txBox="1"/>
          <p:nvPr/>
        </p:nvSpPr>
        <p:spPr>
          <a:xfrm rot="19319640">
            <a:off x="5380049" y="6188336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fr-FR" sz="2000" dirty="0" smtClean="0">
                <a:solidFill>
                  <a:srgbClr val="FF0000"/>
                </a:solidFill>
              </a:rPr>
              <a:t>-&gt; </a:t>
            </a:r>
            <a:r>
              <a:rPr lang="fr-FR" sz="2000" dirty="0" smtClean="0">
                <a:solidFill>
                  <a:srgbClr val="FF0000"/>
                </a:solidFill>
              </a:rPr>
              <a:t>back to slides 9, 10</a:t>
            </a:r>
            <a:endParaRPr lang="fr-FR" sz="20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40853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</a:p>
          <a:p>
            <a:endParaRPr lang="fr-FR" sz="1050" b="1" dirty="0">
              <a:latin typeface="Times" pitchFamily="18" charset="0"/>
            </a:endParaRPr>
          </a:p>
        </p:txBody>
      </p:sp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59034"/>
            <a:ext cx="6943510" cy="5142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Accolade fermante 2"/>
          <p:cNvSpPr/>
          <p:nvPr/>
        </p:nvSpPr>
        <p:spPr bwMode="auto">
          <a:xfrm>
            <a:off x="4067944" y="2780928"/>
            <a:ext cx="576064" cy="4104456"/>
          </a:xfrm>
          <a:prstGeom prst="rightBrace">
            <a:avLst/>
          </a:prstGeom>
          <a:noFill/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4361681" y="5036059"/>
            <a:ext cx="2172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Tables </a:t>
            </a:r>
            <a:r>
              <a:rPr lang="fr-FR" dirty="0" err="1" smtClean="0">
                <a:solidFill>
                  <a:srgbClr val="FF0000"/>
                </a:solidFill>
              </a:rPr>
              <a:t>created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 err="1" smtClean="0">
                <a:solidFill>
                  <a:srgbClr val="FF0000"/>
                </a:solidFill>
              </a:rPr>
              <a:t>dynamically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dirty="0" smtClean="0">
                <a:solidFill>
                  <a:srgbClr val="FF0000"/>
                </a:solidFill>
              </a:rPr>
              <a:t>by GDAL GMLAS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en-US" dirty="0"/>
              <a:t>GML application schema toolbox use – </a:t>
            </a:r>
            <a:r>
              <a:rPr lang="en-US" dirty="0" smtClean="0"/>
              <a:t>Database</a:t>
            </a:r>
            <a:endParaRPr lang="fr-FR" dirty="0" smtClean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798720" y="666353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16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 txBox="1">
            <a:spLocks noChangeArrowheads="1"/>
          </p:cNvSpPr>
          <p:nvPr/>
        </p:nvSpPr>
        <p:spPr bwMode="auto">
          <a:xfrm>
            <a:off x="1306513" y="1124744"/>
            <a:ext cx="7441951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A7A8F"/>
              </a:buClr>
              <a:buSzPct val="150000"/>
              <a:buChar char="&gt;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A7A8F"/>
              </a:buClr>
              <a:buSzPct val="150000"/>
              <a:buFont typeface="Times" pitchFamily="18" charset="0"/>
              <a:buChar char="•"/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A7A8F"/>
              </a:buClr>
              <a:buSzPct val="150000"/>
              <a:buChar char="–"/>
              <a:defRPr sz="16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>
                <a:latin typeface="Calibri" panose="020F0502020204030204" pitchFamily="34" charset="0"/>
                <a:cs typeface="Calibri" panose="020F0502020204030204" pitchFamily="34" charset="0"/>
              </a:rPr>
              <a:t>WaterML2 flow (see </a:t>
            </a:r>
            <a:r>
              <a:rPr lang="en-US" kern="0" dirty="0" smtClean="0">
                <a:latin typeface="Calibri" panose="020F0502020204030204" pitchFamily="34" charset="0"/>
                <a:cs typeface="Calibri" panose="020F0502020204030204" pitchFamily="34" charset="0"/>
              </a:rPr>
              <a:t>slide 10, </a:t>
            </a:r>
            <a:r>
              <a:rPr lang="en-US" kern="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Timeseries</a:t>
            </a:r>
            <a:r>
              <a:rPr lang="en-US" kern="0" dirty="0" smtClean="0">
                <a:latin typeface="Calibri" panose="020F0502020204030204" pitchFamily="34" charset="0"/>
                <a:cs typeface="Calibri" panose="020F0502020204030204" pitchFamily="34" charset="0"/>
              </a:rPr>
              <a:t> viewer) </a:t>
            </a:r>
            <a:r>
              <a:rPr lang="en-US" kern="0" dirty="0">
                <a:latin typeface="Calibri" panose="020F0502020204030204" pitchFamily="34" charset="0"/>
                <a:cs typeface="Calibri" panose="020F0502020204030204" pitchFamily="34" charset="0"/>
              </a:rPr>
              <a:t>but client in database mode</a:t>
            </a:r>
          </a:p>
          <a:p>
            <a:pPr lvl="1"/>
            <a:endParaRPr lang="fr-FR" sz="1800" b="0" kern="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33" b="10272"/>
          <a:stretch/>
        </p:blipFill>
        <p:spPr bwMode="auto">
          <a:xfrm>
            <a:off x="1332296" y="2592395"/>
            <a:ext cx="7551416" cy="38624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510" b="55857"/>
          <a:stretch/>
        </p:blipFill>
        <p:spPr bwMode="auto">
          <a:xfrm>
            <a:off x="4854504" y="3944973"/>
            <a:ext cx="3888432" cy="30399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ectangle 29"/>
          <p:cNvSpPr/>
          <p:nvPr/>
        </p:nvSpPr>
        <p:spPr bwMode="auto">
          <a:xfrm>
            <a:off x="3811310" y="4656835"/>
            <a:ext cx="184237" cy="184237"/>
          </a:xfrm>
          <a:prstGeom prst="rect">
            <a:avLst/>
          </a:prstGeom>
          <a:noFill/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1" name="Connecteur droit 30"/>
          <p:cNvCxnSpPr>
            <a:stCxn id="30" idx="0"/>
          </p:cNvCxnSpPr>
          <p:nvPr/>
        </p:nvCxnSpPr>
        <p:spPr bwMode="auto">
          <a:xfrm flipV="1">
            <a:off x="3903429" y="3944973"/>
            <a:ext cx="951075" cy="711862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Connecteur droit 31"/>
          <p:cNvCxnSpPr>
            <a:stCxn id="30" idx="2"/>
          </p:cNvCxnSpPr>
          <p:nvPr/>
        </p:nvCxnSpPr>
        <p:spPr bwMode="auto">
          <a:xfrm>
            <a:off x="3903429" y="4841072"/>
            <a:ext cx="951075" cy="2143811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28198945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</a:p>
          <a:p>
            <a:endParaRPr lang="fr-FR" sz="1050" b="1" dirty="0">
              <a:latin typeface="Times" pitchFamily="18" charset="0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en-US" dirty="0"/>
              <a:t>GML application schema toolbox use – </a:t>
            </a:r>
            <a:r>
              <a:rPr lang="en-US" dirty="0" err="1" smtClean="0"/>
              <a:t>ogrinfo</a:t>
            </a:r>
            <a:endParaRPr lang="fr-FR" dirty="0" smtClean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17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 txBox="1">
            <a:spLocks noChangeArrowheads="1"/>
          </p:cNvSpPr>
          <p:nvPr/>
        </p:nvSpPr>
        <p:spPr bwMode="auto">
          <a:xfrm>
            <a:off x="1306513" y="1124744"/>
            <a:ext cx="7441951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A7A8F"/>
              </a:buClr>
              <a:buSzPct val="150000"/>
              <a:buChar char="&gt;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A7A8F"/>
              </a:buClr>
              <a:buSzPct val="150000"/>
              <a:buFont typeface="Times" pitchFamily="18" charset="0"/>
              <a:buChar char="•"/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A7A8F"/>
              </a:buClr>
              <a:buSzPct val="150000"/>
              <a:buChar char="–"/>
              <a:defRPr sz="16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>
                <a:latin typeface="Calibri" panose="020F0502020204030204" pitchFamily="34" charset="0"/>
                <a:cs typeface="Calibri" panose="020F0502020204030204" pitchFamily="34" charset="0"/>
              </a:rPr>
              <a:t>Ex: direct driver access to GroundWaterML2 </a:t>
            </a:r>
            <a:r>
              <a:rPr lang="en-US" kern="0" dirty="0" err="1">
                <a:latin typeface="Calibri" panose="020F0502020204030204" pitchFamily="34" charset="0"/>
                <a:cs typeface="Calibri" panose="020F0502020204030204" pitchFamily="34" charset="0"/>
              </a:rPr>
              <a:t>GW_Well</a:t>
            </a:r>
            <a:endParaRPr lang="en-US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2" descr="D:\Documents\grellets\Travail\OGC\HydroDWG\Meetings\20170324_Delft_TC\Src\GDAL_ex2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99" y="1752600"/>
            <a:ext cx="6999211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 bwMode="auto">
          <a:xfrm>
            <a:off x="4419600" y="1676400"/>
            <a:ext cx="3048000" cy="28803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18463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/>
              <a:t>Overall</a:t>
            </a:r>
            <a:r>
              <a:rPr lang="fr-FR" dirty="0"/>
              <a:t> – </a:t>
            </a:r>
            <a:r>
              <a:rPr lang="fr-FR" dirty="0" err="1"/>
              <a:t>development</a:t>
            </a:r>
            <a:r>
              <a:rPr lang="fr-FR" dirty="0"/>
              <a:t> story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pPr lvl="1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18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</a:t>
            </a:r>
            <a:r>
              <a:rPr lang="en-US" dirty="0" smtClean="0"/>
              <a:t>2017-06-20</a:t>
            </a:r>
          </a:p>
          <a:p>
            <a:endParaRPr lang="fr-FR" sz="1050" b="1" dirty="0">
              <a:latin typeface="Times" pitchFamily="18" charset="0"/>
            </a:endParaRPr>
          </a:p>
        </p:txBody>
      </p:sp>
      <p:sp>
        <p:nvSpPr>
          <p:cNvPr id="2" name="Flèche courbée vers le haut 1"/>
          <p:cNvSpPr/>
          <p:nvPr/>
        </p:nvSpPr>
        <p:spPr bwMode="auto">
          <a:xfrm rot="5068084">
            <a:off x="2179639" y="2083006"/>
            <a:ext cx="1584176" cy="432048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388874" y="1124744"/>
            <a:ext cx="17679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NO DATA</a:t>
            </a:r>
            <a:endParaRPr lang="fr-FR" sz="2800" dirty="0"/>
          </a:p>
          <a:p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3359534" y="2691699"/>
            <a:ext cx="2119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NO CLIENT</a:t>
            </a:r>
            <a:endParaRPr lang="fr-FR" sz="2800" dirty="0"/>
          </a:p>
          <a:p>
            <a:endParaRPr lang="fr-FR" dirty="0"/>
          </a:p>
        </p:txBody>
      </p:sp>
      <p:sp>
        <p:nvSpPr>
          <p:cNvPr id="11" name="Flèche courbée vers le haut 10"/>
          <p:cNvSpPr/>
          <p:nvPr/>
        </p:nvSpPr>
        <p:spPr bwMode="auto">
          <a:xfrm rot="15753556">
            <a:off x="4838345" y="1904313"/>
            <a:ext cx="1584176" cy="432048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4105227" y="1871271"/>
            <a:ext cx="4042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?</a:t>
            </a:r>
            <a:endParaRPr lang="fr-FR" sz="2800" dirty="0"/>
          </a:p>
          <a:p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2051725" y="3356992"/>
            <a:ext cx="563968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000" dirty="0" smtClean="0"/>
              <a:t>«</a:t>
            </a:r>
            <a:r>
              <a:rPr lang="fr-FR" sz="2000" i="1" dirty="0" smtClean="0"/>
              <a:t> </a:t>
            </a:r>
            <a:r>
              <a:rPr lang="fr-FR" sz="2000" i="1" dirty="0" err="1" smtClean="0"/>
              <a:t>another</a:t>
            </a:r>
            <a:r>
              <a:rPr lang="fr-FR" sz="2000" i="1" dirty="0" smtClean="0"/>
              <a:t> </a:t>
            </a:r>
            <a:r>
              <a:rPr lang="fr-FR" sz="2000" i="1" dirty="0" err="1" smtClean="0"/>
              <a:t>approach</a:t>
            </a:r>
            <a:r>
              <a:rPr lang="fr-FR" sz="2000" i="1" dirty="0" smtClean="0"/>
              <a:t> to </a:t>
            </a:r>
            <a:r>
              <a:rPr lang="fr-FR" sz="2000" i="1" dirty="0" err="1" smtClean="0"/>
              <a:t>demonstrate</a:t>
            </a:r>
            <a:r>
              <a:rPr lang="fr-FR" sz="2000" i="1" dirty="0" smtClean="0"/>
              <a:t> </a:t>
            </a:r>
          </a:p>
          <a:p>
            <a:pPr algn="ctr"/>
            <a:r>
              <a:rPr lang="fr-FR" sz="2000" i="1" dirty="0" smtClean="0"/>
              <a:t>the </a:t>
            </a:r>
            <a:r>
              <a:rPr lang="fr-FR" sz="2000" i="1" dirty="0" err="1" smtClean="0"/>
              <a:t>usefulenessof</a:t>
            </a:r>
            <a:r>
              <a:rPr lang="fr-FR" sz="2000" i="1" dirty="0" smtClean="0"/>
              <a:t> </a:t>
            </a:r>
            <a:r>
              <a:rPr lang="fr-FR" sz="2000" i="1" dirty="0" err="1" smtClean="0"/>
              <a:t>interoperable</a:t>
            </a:r>
            <a:r>
              <a:rPr lang="fr-FR" sz="2000" i="1" dirty="0" smtClean="0"/>
              <a:t> standards</a:t>
            </a:r>
            <a:r>
              <a:rPr lang="fr-FR" sz="2000" dirty="0" smtClean="0"/>
              <a:t> » </a:t>
            </a: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o</a:t>
            </a:r>
            <a:r>
              <a:rPr lang="fr-FR" sz="2000" dirty="0" smtClean="0"/>
              <a:t>r</a:t>
            </a:r>
          </a:p>
          <a:p>
            <a:pPr algn="ctr"/>
            <a:endParaRPr lang="fr-FR" sz="2000" dirty="0" smtClean="0"/>
          </a:p>
          <a:p>
            <a:pPr algn="ctr"/>
            <a:r>
              <a:rPr lang="fr-FR" sz="2000" dirty="0" smtClean="0"/>
              <a:t>« </a:t>
            </a:r>
            <a:r>
              <a:rPr lang="fr-FR" sz="2000" i="1" dirty="0" err="1" smtClean="0"/>
              <a:t>having</a:t>
            </a:r>
            <a:r>
              <a:rPr lang="fr-FR" sz="2000" i="1" dirty="0" smtClean="0"/>
              <a:t> </a:t>
            </a:r>
            <a:r>
              <a:rPr lang="fr-FR" sz="2000" i="1" dirty="0" err="1" smtClean="0"/>
              <a:t>something</a:t>
            </a:r>
            <a:r>
              <a:rPr lang="fr-FR" sz="2000" i="1" dirty="0" smtClean="0"/>
              <a:t> to show to </a:t>
            </a:r>
            <a:r>
              <a:rPr lang="fr-FR" sz="2000" i="1" dirty="0" err="1" smtClean="0"/>
              <a:t>those</a:t>
            </a:r>
            <a:r>
              <a:rPr lang="fr-FR" sz="2000" i="1" dirty="0" smtClean="0"/>
              <a:t> </a:t>
            </a:r>
          </a:p>
          <a:p>
            <a:pPr algn="ctr"/>
            <a:r>
              <a:rPr lang="fr-FR" sz="2000" i="1" dirty="0" err="1" smtClean="0"/>
              <a:t>who</a:t>
            </a:r>
            <a:r>
              <a:rPr lang="fr-FR" sz="2000" i="1" dirty="0" smtClean="0"/>
              <a:t> </a:t>
            </a:r>
            <a:r>
              <a:rPr lang="fr-FR" sz="2000" i="1" dirty="0" err="1" smtClean="0"/>
              <a:t>consider</a:t>
            </a:r>
            <a:r>
              <a:rPr lang="fr-FR" sz="2000" i="1" dirty="0" smtClean="0"/>
              <a:t> XML </a:t>
            </a:r>
            <a:r>
              <a:rPr lang="fr-FR" sz="2000" i="1" dirty="0" err="1" smtClean="0"/>
              <a:t>is</a:t>
            </a:r>
            <a:r>
              <a:rPr lang="fr-FR" sz="2000" i="1" dirty="0" smtClean="0"/>
              <a:t> not sexy</a:t>
            </a:r>
            <a:r>
              <a:rPr lang="fr-FR" sz="2000" dirty="0" smtClean="0"/>
              <a:t> »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06547699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/>
              <a:t>Overall</a:t>
            </a:r>
            <a:r>
              <a:rPr lang="fr-FR" dirty="0"/>
              <a:t> – </a:t>
            </a:r>
            <a:r>
              <a:rPr lang="fr-FR" dirty="0" err="1"/>
              <a:t>development</a:t>
            </a:r>
            <a:r>
              <a:rPr lang="fr-FR" dirty="0"/>
              <a:t> story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From the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ProofOfConcept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to an enhanced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approach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19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  <a:endParaRPr lang="en-US" dirty="0"/>
          </a:p>
        </p:txBody>
      </p:sp>
      <p:pic>
        <p:nvPicPr>
          <p:cNvPr id="7" name="Shape 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4478" y="2073275"/>
            <a:ext cx="1286074" cy="53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Shape 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7255" y="3429000"/>
            <a:ext cx="37052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Shape 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7904" y="3526346"/>
            <a:ext cx="12001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Shape 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21696" y="2073200"/>
            <a:ext cx="96202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ZoneTexte 11"/>
          <p:cNvSpPr txBox="1"/>
          <p:nvPr/>
        </p:nvSpPr>
        <p:spPr>
          <a:xfrm>
            <a:off x="434267" y="2116200"/>
            <a:ext cx="904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 smtClean="0">
                <a:latin typeface="+mj-lt"/>
              </a:rPr>
              <a:t>Run</a:t>
            </a:r>
            <a:r>
              <a:rPr lang="fr-FR" sz="1200" dirty="0" smtClean="0">
                <a:latin typeface="+mj-lt"/>
              </a:rPr>
              <a:t> n° 1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434267" y="3558323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 smtClean="0">
                <a:latin typeface="+mj-lt"/>
              </a:rPr>
              <a:t>Run</a:t>
            </a:r>
            <a:r>
              <a:rPr lang="fr-FR" sz="1200" dirty="0" smtClean="0">
                <a:latin typeface="+mj-lt"/>
              </a:rPr>
              <a:t> n°2</a:t>
            </a:r>
          </a:p>
        </p:txBody>
      </p:sp>
      <p:sp>
        <p:nvSpPr>
          <p:cNvPr id="14" name="Shape 95"/>
          <p:cNvSpPr/>
          <p:nvPr/>
        </p:nvSpPr>
        <p:spPr>
          <a:xfrm>
            <a:off x="1292219" y="2116200"/>
            <a:ext cx="2447700" cy="703200"/>
          </a:xfrm>
          <a:prstGeom prst="rect">
            <a:avLst/>
          </a:prstGeom>
          <a:solidFill>
            <a:srgbClr val="FF921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GB" sz="1200" dirty="0" smtClean="0">
                <a:solidFill>
                  <a:srgbClr val="FFFFFF"/>
                </a:solidFill>
                <a:latin typeface="+mj-lt"/>
              </a:rPr>
              <a:t>QGIS 2.x GML application schema toolbox POC</a:t>
            </a:r>
            <a:endParaRPr lang="en-GB" sz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15" name="Shape 10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24226" y="3616247"/>
            <a:ext cx="4476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Shape 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4478" y="4744514"/>
            <a:ext cx="1286074" cy="53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Shape 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21696" y="4744439"/>
            <a:ext cx="96202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ZoneTexte 17"/>
          <p:cNvSpPr txBox="1"/>
          <p:nvPr/>
        </p:nvSpPr>
        <p:spPr>
          <a:xfrm>
            <a:off x="434267" y="4837502"/>
            <a:ext cx="861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 smtClean="0">
                <a:latin typeface="+mj-lt"/>
              </a:rPr>
              <a:t>Run</a:t>
            </a:r>
            <a:r>
              <a:rPr lang="fr-FR" sz="1200" dirty="0" smtClean="0">
                <a:latin typeface="+mj-lt"/>
              </a:rPr>
              <a:t> n°3</a:t>
            </a:r>
          </a:p>
          <a:p>
            <a:r>
              <a:rPr lang="fr-FR" sz="1200" dirty="0" smtClean="0">
                <a:latin typeface="+mj-lt"/>
              </a:rPr>
              <a:t>(</a:t>
            </a:r>
            <a:r>
              <a:rPr lang="fr-FR" sz="1200" dirty="0" err="1" smtClean="0">
                <a:latin typeface="+mj-lt"/>
              </a:rPr>
              <a:t>now</a:t>
            </a:r>
            <a:r>
              <a:rPr lang="fr-FR" sz="1200" dirty="0" smtClean="0">
                <a:latin typeface="+mj-lt"/>
              </a:rPr>
              <a:t>)</a:t>
            </a:r>
            <a:endParaRPr lang="fr-FR" sz="1200" dirty="0">
              <a:latin typeface="+mj-lt"/>
            </a:endParaRPr>
          </a:p>
        </p:txBody>
      </p:sp>
      <p:sp>
        <p:nvSpPr>
          <p:cNvPr id="19" name="Shape 95"/>
          <p:cNvSpPr/>
          <p:nvPr/>
        </p:nvSpPr>
        <p:spPr>
          <a:xfrm>
            <a:off x="1292219" y="4787439"/>
            <a:ext cx="2447700" cy="703200"/>
          </a:xfrm>
          <a:prstGeom prst="rect">
            <a:avLst/>
          </a:prstGeom>
          <a:solidFill>
            <a:srgbClr val="FF921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</a:pPr>
            <a:r>
              <a:rPr lang="en-GB" sz="1200" dirty="0">
                <a:solidFill>
                  <a:srgbClr val="FFFFFF"/>
                </a:solidFill>
                <a:latin typeface="+mj-lt"/>
              </a:rPr>
              <a:t>GML App Schema OGR Driver </a:t>
            </a:r>
            <a:r>
              <a:rPr lang="en-GB" sz="1200" dirty="0" smtClean="0">
                <a:solidFill>
                  <a:srgbClr val="FFFFFF"/>
                </a:solidFill>
                <a:latin typeface="+mj-lt"/>
              </a:rPr>
              <a:t> and </a:t>
            </a:r>
            <a:r>
              <a:rPr lang="en-GB" sz="1200" dirty="0">
                <a:solidFill>
                  <a:srgbClr val="FFFFFF"/>
                </a:solidFill>
                <a:latin typeface="+mj-lt"/>
              </a:rPr>
              <a:t>QGIS 3 </a:t>
            </a:r>
            <a:r>
              <a:rPr lang="en-GB" sz="1200" dirty="0" smtClean="0">
                <a:solidFill>
                  <a:srgbClr val="FFFFFF"/>
                </a:solidFill>
                <a:latin typeface="+mj-lt"/>
              </a:rPr>
              <a:t>integration </a:t>
            </a:r>
            <a:r>
              <a:rPr lang="en-GB" sz="1200" dirty="0">
                <a:solidFill>
                  <a:srgbClr val="FFFFFF"/>
                </a:solidFill>
                <a:latin typeface="+mj-lt"/>
              </a:rPr>
              <a:t>enhancements </a:t>
            </a:r>
          </a:p>
        </p:txBody>
      </p:sp>
      <p:pic>
        <p:nvPicPr>
          <p:cNvPr id="20" name="Shape 98"/>
          <p:cNvPicPr preferRelativeResize="0"/>
          <p:nvPr/>
        </p:nvPicPr>
        <p:blipFill rotWithShape="1">
          <a:blip r:embed="rId4">
            <a:alphaModFix/>
          </a:blip>
          <a:srcRect l="80028"/>
          <a:stretch/>
        </p:blipFill>
        <p:spPr>
          <a:xfrm>
            <a:off x="6692708" y="4653136"/>
            <a:ext cx="740016" cy="809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Shape 89"/>
          <p:cNvCxnSpPr/>
          <p:nvPr/>
        </p:nvCxnSpPr>
        <p:spPr>
          <a:xfrm>
            <a:off x="467544" y="2073200"/>
            <a:ext cx="0" cy="4243587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2" name="Shape 95"/>
          <p:cNvSpPr/>
          <p:nvPr/>
        </p:nvSpPr>
        <p:spPr>
          <a:xfrm>
            <a:off x="1292219" y="3460496"/>
            <a:ext cx="2447700" cy="703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GB" sz="1200" dirty="0">
                <a:solidFill>
                  <a:srgbClr val="FFFFFF"/>
                </a:solidFill>
                <a:latin typeface="+mj-lt"/>
              </a:rPr>
              <a:t>GML App Schema OGR Driver and QGIS </a:t>
            </a:r>
            <a:r>
              <a:rPr lang="en-GB" sz="1200" dirty="0" smtClean="0">
                <a:solidFill>
                  <a:srgbClr val="FFFFFF"/>
                </a:solidFill>
                <a:latin typeface="+mj-lt"/>
              </a:rPr>
              <a:t>3 integration</a:t>
            </a:r>
            <a:endParaRPr lang="en-GB" sz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8" name="Shape 90"/>
          <p:cNvSpPr txBox="1"/>
          <p:nvPr/>
        </p:nvSpPr>
        <p:spPr>
          <a:xfrm>
            <a:off x="-51215" y="2172300"/>
            <a:ext cx="786900" cy="4685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endParaRPr dirty="0"/>
          </a:p>
          <a:p>
            <a:pPr lvl="0" algn="l" rtl="0">
              <a:spcBef>
                <a:spcPts val="0"/>
              </a:spcBef>
              <a:buNone/>
            </a:pPr>
            <a:r>
              <a:rPr lang="en-GB" sz="1200" dirty="0">
                <a:latin typeface="+mj-lt"/>
              </a:rPr>
              <a:t>2016</a:t>
            </a:r>
          </a:p>
          <a:p>
            <a:pPr lvl="0" algn="l" rtl="0">
              <a:spcBef>
                <a:spcPts val="0"/>
              </a:spcBef>
              <a:buNone/>
            </a:pPr>
            <a:endParaRPr dirty="0"/>
          </a:p>
          <a:p>
            <a:pPr lvl="0" algn="l" rtl="0">
              <a:spcBef>
                <a:spcPts val="0"/>
              </a:spcBef>
              <a:buNone/>
            </a:pPr>
            <a:endParaRPr dirty="0"/>
          </a:p>
          <a:p>
            <a:pPr lvl="0" algn="l" rtl="0">
              <a:spcBef>
                <a:spcPts val="0"/>
              </a:spcBef>
              <a:buNone/>
            </a:pPr>
            <a:endParaRPr dirty="0"/>
          </a:p>
          <a:p>
            <a:pPr lvl="0" algn="l" rtl="0">
              <a:spcBef>
                <a:spcPts val="0"/>
              </a:spcBef>
              <a:buNone/>
            </a:pPr>
            <a:endParaRPr dirty="0"/>
          </a:p>
          <a:p>
            <a:pPr lvl="0" algn="l" rtl="0">
              <a:spcBef>
                <a:spcPts val="0"/>
              </a:spcBef>
              <a:buNone/>
            </a:pPr>
            <a:endParaRPr dirty="0"/>
          </a:p>
          <a:p>
            <a:pPr lvl="0" algn="l" rtl="0">
              <a:spcBef>
                <a:spcPts val="0"/>
              </a:spcBef>
              <a:buNone/>
            </a:pPr>
            <a:endParaRPr lang="fr-FR" dirty="0" smtClean="0"/>
          </a:p>
          <a:p>
            <a:pPr lvl="0" algn="l" rtl="0">
              <a:spcBef>
                <a:spcPts val="0"/>
              </a:spcBef>
              <a:buNone/>
            </a:pPr>
            <a:endParaRPr lang="fr-FR" dirty="0"/>
          </a:p>
          <a:p>
            <a:pPr lvl="0" algn="l" rtl="0">
              <a:spcBef>
                <a:spcPts val="0"/>
              </a:spcBef>
              <a:buNone/>
            </a:pPr>
            <a:endParaRPr lang="fr-FR" dirty="0" smtClean="0"/>
          </a:p>
          <a:p>
            <a:pPr lvl="0" algn="l" rtl="0">
              <a:spcBef>
                <a:spcPts val="0"/>
              </a:spcBef>
              <a:buNone/>
            </a:pPr>
            <a:endParaRPr lang="fr-FR" dirty="0"/>
          </a:p>
          <a:p>
            <a:pPr lvl="0" algn="l" rtl="0">
              <a:spcBef>
                <a:spcPts val="0"/>
              </a:spcBef>
              <a:buNone/>
            </a:pPr>
            <a:endParaRPr lang="fr-FR" dirty="0" smtClean="0"/>
          </a:p>
          <a:p>
            <a:pPr lvl="0" algn="l" rtl="0">
              <a:spcBef>
                <a:spcPts val="0"/>
              </a:spcBef>
              <a:buNone/>
            </a:pPr>
            <a:endParaRPr lang="fr-FR" dirty="0"/>
          </a:p>
          <a:p>
            <a:pPr lvl="0" algn="l" rtl="0">
              <a:spcBef>
                <a:spcPts val="0"/>
              </a:spcBef>
              <a:buNone/>
            </a:pPr>
            <a:endParaRPr lang="fr-FR" dirty="0" smtClean="0"/>
          </a:p>
          <a:p>
            <a:pPr lvl="0" algn="l" rtl="0">
              <a:spcBef>
                <a:spcPts val="0"/>
              </a:spcBef>
              <a:buNone/>
            </a:pPr>
            <a:endParaRPr dirty="0"/>
          </a:p>
          <a:p>
            <a:pPr lvl="0" algn="l" rtl="0">
              <a:spcBef>
                <a:spcPts val="0"/>
              </a:spcBef>
              <a:buNone/>
            </a:pPr>
            <a:r>
              <a:rPr lang="en-GB" sz="1200" dirty="0">
                <a:latin typeface="+mj-lt"/>
              </a:rPr>
              <a:t>2017</a:t>
            </a:r>
          </a:p>
        </p:txBody>
      </p:sp>
    </p:spTree>
    <p:extLst>
      <p:ext uri="{BB962C8B-B14F-4D97-AF65-F5344CB8AC3E}">
        <p14:creationId xmlns:p14="http://schemas.microsoft.com/office/powerpoint/2010/main" val="370864128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/>
              <a:t>Overall</a:t>
            </a:r>
            <a:r>
              <a:rPr lang="fr-FR" dirty="0"/>
              <a:t> – </a:t>
            </a:r>
            <a:r>
              <a:rPr lang="fr-FR" dirty="0" err="1"/>
              <a:t>development</a:t>
            </a:r>
            <a:r>
              <a:rPr lang="fr-FR" dirty="0"/>
              <a:t> story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From the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ProofOfConcept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to an enhanced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approach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20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  <a:endParaRPr lang="en-US" dirty="0"/>
          </a:p>
        </p:txBody>
      </p:sp>
      <p:sp>
        <p:nvSpPr>
          <p:cNvPr id="12" name="ZoneTexte 11"/>
          <p:cNvSpPr txBox="1"/>
          <p:nvPr/>
        </p:nvSpPr>
        <p:spPr>
          <a:xfrm>
            <a:off x="434267" y="2116200"/>
            <a:ext cx="904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 smtClean="0">
                <a:latin typeface="+mj-lt"/>
              </a:rPr>
              <a:t>Run</a:t>
            </a:r>
            <a:r>
              <a:rPr lang="fr-FR" sz="1200" dirty="0" smtClean="0">
                <a:latin typeface="+mj-lt"/>
              </a:rPr>
              <a:t> n° 1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434267" y="3558323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 smtClean="0">
                <a:latin typeface="+mj-lt"/>
              </a:rPr>
              <a:t>Run</a:t>
            </a:r>
            <a:r>
              <a:rPr lang="fr-FR" sz="1200" dirty="0" smtClean="0">
                <a:latin typeface="+mj-lt"/>
              </a:rPr>
              <a:t> n°2</a:t>
            </a:r>
          </a:p>
        </p:txBody>
      </p:sp>
      <p:sp>
        <p:nvSpPr>
          <p:cNvPr id="14" name="Shape 95"/>
          <p:cNvSpPr/>
          <p:nvPr/>
        </p:nvSpPr>
        <p:spPr>
          <a:xfrm>
            <a:off x="1292219" y="2116200"/>
            <a:ext cx="2447700" cy="703200"/>
          </a:xfrm>
          <a:prstGeom prst="rect">
            <a:avLst/>
          </a:prstGeom>
          <a:solidFill>
            <a:srgbClr val="FF921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GB" sz="1200" dirty="0" smtClean="0">
                <a:solidFill>
                  <a:srgbClr val="FFFFFF"/>
                </a:solidFill>
                <a:latin typeface="+mj-lt"/>
              </a:rPr>
              <a:t>QGIS 2.x GML application schema toolbox POC</a:t>
            </a:r>
            <a:endParaRPr lang="en-GB" sz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434267" y="4837502"/>
            <a:ext cx="861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 smtClean="0">
                <a:latin typeface="+mj-lt"/>
              </a:rPr>
              <a:t>Run</a:t>
            </a:r>
            <a:r>
              <a:rPr lang="fr-FR" sz="1200" dirty="0" smtClean="0">
                <a:latin typeface="+mj-lt"/>
              </a:rPr>
              <a:t> n°3</a:t>
            </a:r>
          </a:p>
          <a:p>
            <a:r>
              <a:rPr lang="fr-FR" sz="1200" dirty="0" smtClean="0">
                <a:latin typeface="+mj-lt"/>
              </a:rPr>
              <a:t>(</a:t>
            </a:r>
            <a:r>
              <a:rPr lang="fr-FR" sz="1200" dirty="0" err="1" smtClean="0">
                <a:latin typeface="+mj-lt"/>
              </a:rPr>
              <a:t>now</a:t>
            </a:r>
            <a:r>
              <a:rPr lang="fr-FR" sz="1200" dirty="0" smtClean="0">
                <a:latin typeface="+mj-lt"/>
              </a:rPr>
              <a:t>)</a:t>
            </a:r>
            <a:endParaRPr lang="fr-FR" sz="1200" dirty="0">
              <a:latin typeface="+mj-lt"/>
            </a:endParaRPr>
          </a:p>
        </p:txBody>
      </p:sp>
      <p:sp>
        <p:nvSpPr>
          <p:cNvPr id="19" name="Shape 95"/>
          <p:cNvSpPr/>
          <p:nvPr/>
        </p:nvSpPr>
        <p:spPr>
          <a:xfrm>
            <a:off x="1292219" y="4787439"/>
            <a:ext cx="2447700" cy="703200"/>
          </a:xfrm>
          <a:prstGeom prst="rect">
            <a:avLst/>
          </a:prstGeom>
          <a:solidFill>
            <a:srgbClr val="FF921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</a:pPr>
            <a:r>
              <a:rPr lang="en-GB" sz="1200" dirty="0">
                <a:solidFill>
                  <a:srgbClr val="FFFFFF"/>
                </a:solidFill>
                <a:latin typeface="+mj-lt"/>
              </a:rPr>
              <a:t>GML App Schema OGR Driver </a:t>
            </a:r>
            <a:r>
              <a:rPr lang="en-GB" sz="1200" dirty="0" smtClean="0">
                <a:solidFill>
                  <a:srgbClr val="FFFFFF"/>
                </a:solidFill>
                <a:latin typeface="+mj-lt"/>
              </a:rPr>
              <a:t> and </a:t>
            </a:r>
            <a:r>
              <a:rPr lang="en-GB" sz="1200" dirty="0">
                <a:solidFill>
                  <a:srgbClr val="FFFFFF"/>
                </a:solidFill>
                <a:latin typeface="+mj-lt"/>
              </a:rPr>
              <a:t>QGIS 3 </a:t>
            </a:r>
            <a:r>
              <a:rPr lang="en-GB" sz="1200" dirty="0" smtClean="0">
                <a:solidFill>
                  <a:srgbClr val="FFFFFF"/>
                </a:solidFill>
                <a:latin typeface="+mj-lt"/>
              </a:rPr>
              <a:t>integration </a:t>
            </a:r>
            <a:r>
              <a:rPr lang="en-GB" sz="1200" dirty="0">
                <a:solidFill>
                  <a:srgbClr val="FFFFFF"/>
                </a:solidFill>
                <a:latin typeface="+mj-lt"/>
              </a:rPr>
              <a:t>enhancements </a:t>
            </a:r>
          </a:p>
        </p:txBody>
      </p:sp>
      <p:sp>
        <p:nvSpPr>
          <p:cNvPr id="22" name="Shape 95"/>
          <p:cNvSpPr/>
          <p:nvPr/>
        </p:nvSpPr>
        <p:spPr>
          <a:xfrm>
            <a:off x="1292219" y="3460496"/>
            <a:ext cx="2447700" cy="703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GB" sz="1200" dirty="0">
                <a:solidFill>
                  <a:srgbClr val="FFFFFF"/>
                </a:solidFill>
                <a:latin typeface="+mj-lt"/>
              </a:rPr>
              <a:t>GML App Schema OGR Driver and QGIS </a:t>
            </a:r>
            <a:r>
              <a:rPr lang="en-GB" sz="1200" dirty="0" smtClean="0">
                <a:solidFill>
                  <a:srgbClr val="FFFFFF"/>
                </a:solidFill>
                <a:latin typeface="+mj-lt"/>
              </a:rPr>
              <a:t>3 integration</a:t>
            </a:r>
            <a:endParaRPr lang="en-GB" sz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3912005" y="3505200"/>
            <a:ext cx="4464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 smtClean="0">
                <a:latin typeface="+mj-lt"/>
              </a:rPr>
              <a:t>PyXB</a:t>
            </a:r>
            <a:r>
              <a:rPr lang="fr-FR" sz="1200" dirty="0" smtClean="0">
                <a:latin typeface="+mj-lt"/>
              </a:rPr>
              <a:t> -&gt; </a:t>
            </a:r>
            <a:r>
              <a:rPr lang="fr-FR" sz="1200" dirty="0" err="1" smtClean="0">
                <a:latin typeface="+mj-lt"/>
              </a:rPr>
              <a:t>specific</a:t>
            </a:r>
            <a:r>
              <a:rPr lang="fr-FR" sz="1200" dirty="0" smtClean="0">
                <a:latin typeface="+mj-lt"/>
              </a:rPr>
              <a:t> </a:t>
            </a:r>
            <a:r>
              <a:rPr lang="fr-FR" sz="1200" dirty="0" smtClean="0">
                <a:latin typeface="+mj-lt"/>
                <a:hlinkClick r:id="rId3"/>
              </a:rPr>
              <a:t>OGR/GDAL GMLAS driver</a:t>
            </a:r>
            <a:r>
              <a:rPr lang="fr-FR" sz="1200" dirty="0" smtClean="0">
                <a:latin typeface="+mj-lt"/>
              </a:rPr>
              <a:t> (</a:t>
            </a:r>
            <a:r>
              <a:rPr lang="fr-FR" sz="1200" dirty="0" err="1" smtClean="0">
                <a:latin typeface="+mj-lt"/>
              </a:rPr>
              <a:t>targetting</a:t>
            </a:r>
            <a:r>
              <a:rPr lang="fr-FR" sz="1200" dirty="0" smtClean="0">
                <a:latin typeface="+mj-lt"/>
              </a:rPr>
              <a:t> GDAL 2.2), handling </a:t>
            </a:r>
            <a:r>
              <a:rPr lang="fr-FR" sz="1200" dirty="0" err="1" smtClean="0">
                <a:latin typeface="+mj-lt"/>
              </a:rPr>
              <a:t>both</a:t>
            </a:r>
            <a:r>
              <a:rPr lang="fr-FR" sz="1200" dirty="0" smtClean="0">
                <a:latin typeface="+mj-lt"/>
              </a:rPr>
              <a:t> </a:t>
            </a:r>
            <a:r>
              <a:rPr lang="fr-FR" sz="1200" dirty="0" err="1" smtClean="0">
                <a:latin typeface="+mj-lt"/>
              </a:rPr>
              <a:t>reading</a:t>
            </a:r>
            <a:r>
              <a:rPr lang="fr-FR" sz="1200" dirty="0" smtClean="0">
                <a:latin typeface="+mj-lt"/>
              </a:rPr>
              <a:t> and </a:t>
            </a:r>
            <a:r>
              <a:rPr lang="fr-FR" sz="1200" dirty="0" err="1" smtClean="0">
                <a:latin typeface="+mj-lt"/>
              </a:rPr>
              <a:t>writing</a:t>
            </a:r>
            <a:endParaRPr lang="fr-FR" sz="1200" dirty="0" smtClean="0">
              <a:latin typeface="+mj-lt"/>
            </a:endParaRPr>
          </a:p>
          <a:p>
            <a:r>
              <a:rPr lang="fr-FR" sz="1200" dirty="0" err="1" smtClean="0">
                <a:latin typeface="+mj-lt"/>
              </a:rPr>
              <a:t>Integration</a:t>
            </a:r>
            <a:r>
              <a:rPr lang="fr-FR" sz="1200" dirty="0" smtClean="0">
                <a:latin typeface="+mj-lt"/>
              </a:rPr>
              <a:t> </a:t>
            </a:r>
            <a:r>
              <a:rPr lang="fr-FR" sz="1200" dirty="0" err="1" smtClean="0">
                <a:latin typeface="+mj-lt"/>
              </a:rPr>
              <a:t>within</a:t>
            </a:r>
            <a:r>
              <a:rPr lang="fr-FR" sz="1200" dirty="0" smtClean="0">
                <a:latin typeface="+mj-lt"/>
              </a:rPr>
              <a:t> QGIS 3</a:t>
            </a:r>
            <a:endParaRPr lang="fr-FR" sz="1200" dirty="0">
              <a:latin typeface="+mj-lt"/>
            </a:endParaRPr>
          </a:p>
        </p:txBody>
      </p:sp>
      <p:sp>
        <p:nvSpPr>
          <p:cNvPr id="30" name="ZoneTexte 29"/>
          <p:cNvSpPr txBox="1"/>
          <p:nvPr/>
        </p:nvSpPr>
        <p:spPr>
          <a:xfrm>
            <a:off x="3912005" y="4724400"/>
            <a:ext cx="44644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latin typeface="+mj-lt"/>
              </a:rPr>
              <a:t>- GDAL GMLAS : addition handling </a:t>
            </a:r>
            <a:r>
              <a:rPr lang="fr-FR" sz="1200" dirty="0" err="1" smtClean="0">
                <a:latin typeface="+mj-lt"/>
              </a:rPr>
              <a:t>specific</a:t>
            </a:r>
            <a:r>
              <a:rPr lang="fr-FR" sz="1200" dirty="0" smtClean="0">
                <a:latin typeface="+mj-lt"/>
              </a:rPr>
              <a:t> SWE types </a:t>
            </a:r>
            <a:r>
              <a:rPr lang="fr-FR" sz="1200" dirty="0" err="1" smtClean="0">
                <a:latin typeface="+mj-lt"/>
              </a:rPr>
              <a:t>based</a:t>
            </a:r>
            <a:r>
              <a:rPr lang="fr-FR" sz="1200" dirty="0" smtClean="0">
                <a:latin typeface="+mj-lt"/>
              </a:rPr>
              <a:t> on GWML2 </a:t>
            </a:r>
            <a:r>
              <a:rPr lang="fr-FR" sz="1200" dirty="0" err="1" smtClean="0">
                <a:latin typeface="+mj-lt"/>
              </a:rPr>
              <a:t>GW_GeologyLogCoverage</a:t>
            </a:r>
            <a:r>
              <a:rPr lang="fr-FR" sz="1200" dirty="0" smtClean="0">
                <a:latin typeface="+mj-lt"/>
              </a:rPr>
              <a:t> and EU Air </a:t>
            </a:r>
            <a:r>
              <a:rPr lang="fr-FR" sz="1200" dirty="0" err="1" smtClean="0">
                <a:latin typeface="+mj-lt"/>
              </a:rPr>
              <a:t>Quality</a:t>
            </a:r>
            <a:r>
              <a:rPr lang="fr-FR" sz="1200" dirty="0" smtClean="0">
                <a:latin typeface="+mj-lt"/>
              </a:rPr>
              <a:t> </a:t>
            </a:r>
            <a:r>
              <a:rPr lang="fr-FR" sz="1200" dirty="0" err="1" smtClean="0">
                <a:latin typeface="+mj-lt"/>
              </a:rPr>
              <a:t>Reportings</a:t>
            </a:r>
            <a:r>
              <a:rPr lang="fr-FR" sz="1200" dirty="0" smtClean="0">
                <a:latin typeface="+mj-lt"/>
              </a:rPr>
              <a:t> (</a:t>
            </a:r>
            <a:r>
              <a:rPr lang="fr-FR" sz="1200" dirty="0" err="1" smtClean="0">
                <a:latin typeface="+mj-lt"/>
              </a:rPr>
              <a:t>dataArray</a:t>
            </a:r>
            <a:r>
              <a:rPr lang="fr-FR" sz="1200" dirty="0" smtClean="0">
                <a:latin typeface="+mj-lt"/>
              </a:rPr>
              <a:t>, </a:t>
            </a:r>
            <a:r>
              <a:rPr lang="fr-FR" sz="1200" dirty="0" err="1" smtClean="0">
                <a:latin typeface="+mj-lt"/>
              </a:rPr>
              <a:t>dataRecord</a:t>
            </a:r>
            <a:r>
              <a:rPr lang="fr-FR" sz="1200" dirty="0" smtClean="0">
                <a:latin typeface="+mj-lt"/>
              </a:rPr>
              <a:t>, …)</a:t>
            </a:r>
          </a:p>
          <a:p>
            <a:endParaRPr lang="fr-FR" sz="1200" dirty="0" smtClean="0">
              <a:latin typeface="+mj-lt"/>
            </a:endParaRPr>
          </a:p>
          <a:p>
            <a:r>
              <a:rPr lang="fr-FR" sz="1200" dirty="0" smtClean="0">
                <a:latin typeface="+mj-lt"/>
              </a:rPr>
              <a:t>- QGIS 3 : </a:t>
            </a:r>
            <a:r>
              <a:rPr lang="fr-FR" sz="1200" dirty="0" err="1" smtClean="0">
                <a:latin typeface="+mj-lt"/>
              </a:rPr>
              <a:t>enhanced</a:t>
            </a:r>
            <a:r>
              <a:rPr lang="fr-FR" sz="1200" dirty="0" smtClean="0">
                <a:latin typeface="+mj-lt"/>
              </a:rPr>
              <a:t> widgets for </a:t>
            </a:r>
            <a:r>
              <a:rPr lang="fr-FR" sz="1200" dirty="0" err="1" smtClean="0">
                <a:latin typeface="+mj-lt"/>
              </a:rPr>
              <a:t>timeseries</a:t>
            </a:r>
            <a:r>
              <a:rPr lang="fr-FR" sz="1200" dirty="0" smtClean="0">
                <a:latin typeface="+mj-lt"/>
              </a:rPr>
              <a:t>, and </a:t>
            </a:r>
            <a:r>
              <a:rPr lang="fr-FR" sz="1200" dirty="0" err="1" smtClean="0">
                <a:latin typeface="+mj-lt"/>
              </a:rPr>
              <a:t>borehole</a:t>
            </a:r>
            <a:r>
              <a:rPr lang="fr-FR" sz="1200" dirty="0" smtClean="0">
                <a:latin typeface="+mj-lt"/>
              </a:rPr>
              <a:t> logs + </a:t>
            </a:r>
            <a:r>
              <a:rPr lang="fr-FR" sz="1200" dirty="0" err="1" smtClean="0">
                <a:latin typeface="+mj-lt"/>
              </a:rPr>
              <a:t>some</a:t>
            </a:r>
            <a:r>
              <a:rPr lang="fr-FR" sz="1200" dirty="0" smtClean="0">
                <a:latin typeface="+mj-lt"/>
              </a:rPr>
              <a:t> commit to the </a:t>
            </a:r>
            <a:r>
              <a:rPr lang="fr-FR" sz="1200" dirty="0" err="1" smtClean="0">
                <a:latin typeface="+mj-lt"/>
              </a:rPr>
              <a:t>trunk</a:t>
            </a:r>
            <a:endParaRPr lang="fr-FR" sz="1200" dirty="0">
              <a:latin typeface="+mj-lt"/>
            </a:endParaRPr>
          </a:p>
        </p:txBody>
      </p:sp>
      <p:pic>
        <p:nvPicPr>
          <p:cNvPr id="31" name="Shape 2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1856" y="4667475"/>
            <a:ext cx="425291" cy="481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Shape 2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4667" y="5536502"/>
            <a:ext cx="425297" cy="43893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Shape 295"/>
          <p:cNvSpPr txBox="1"/>
          <p:nvPr/>
        </p:nvSpPr>
        <p:spPr>
          <a:xfrm>
            <a:off x="8471896" y="4861410"/>
            <a:ext cx="564600" cy="40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b="1" dirty="0"/>
              <a:t>2.2</a:t>
            </a:r>
          </a:p>
        </p:txBody>
      </p:sp>
      <p:sp>
        <p:nvSpPr>
          <p:cNvPr id="34" name="Shape 296"/>
          <p:cNvSpPr txBox="1"/>
          <p:nvPr/>
        </p:nvSpPr>
        <p:spPr>
          <a:xfrm>
            <a:off x="8395696" y="5687400"/>
            <a:ext cx="564600" cy="40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GB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4151977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 smtClean="0"/>
              <a:t>Useful</a:t>
            </a:r>
            <a:r>
              <a:rPr lang="fr-FR" dirty="0" smtClean="0"/>
              <a:t> links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https://plugins.qgis.org/plugins/gml_application_schema_toolbox</a:t>
            </a:r>
            <a:r>
              <a:rPr lang="en-US" b="0" dirty="0" smtClean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/</a:t>
            </a:r>
            <a:r>
              <a:rPr lang="en-US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0" dirty="0" smtClean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://</a:t>
            </a:r>
            <a:r>
              <a:rPr lang="en-US" b="0" dirty="0" smtClean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github.com/BRGM/gml_application_schema_toolbox</a:t>
            </a:r>
            <a:r>
              <a:rPr lang="en-US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Documentation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GUI presentation</a:t>
            </a:r>
          </a:p>
          <a:p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Multilinguism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handling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on INSPIRE registry: same flow asking for English then Greek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definitions</a:t>
            </a:r>
          </a:p>
          <a:p>
            <a:pPr marL="457200" lvl="1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www.youtube.com/watch?v=EeAyyUOykVE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How to test under QGIS3 until its official release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OSGeo4W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installer</a:t>
            </a:r>
          </a:p>
          <a:p>
            <a:pPr lvl="1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Advanced install \ Desktop -&gt; add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qgis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-dev </a:t>
            </a:r>
          </a:p>
          <a:p>
            <a:pPr lvl="1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Then install the plugin from QGIS repository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21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76096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smtClean="0"/>
              <a:t>Conclusion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Generic work successfully tested on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OGC : GroundWaterML2, GeoSciML4, WaterML2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INSPIRE :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EnvironmentalMonitoringFacilities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BioGeographicalRegions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LandCover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ProtectedSites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MineralResources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PointTimeSeriesObservation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Our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domain colleagues can now finally make use of standardized content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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Next steps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Address (some) SWE specificities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Have more domain widgets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Handle other content type (JSON-LD ?)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Workshop at Foss4G-E :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github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 ticket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to gather content to play with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Feel free to use, test, enhance it, propose evolutions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22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76681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smtClean="0"/>
              <a:t>Conclusion - </a:t>
            </a:r>
            <a:r>
              <a:rPr lang="fr-FR" dirty="0" err="1" smtClean="0"/>
              <a:t>whishlist</a:t>
            </a:r>
            <a:endParaRPr lang="fr-FR" dirty="0" smtClean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23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  <a:endParaRPr lang="en-US" dirty="0"/>
          </a:p>
        </p:txBody>
      </p:sp>
      <p:sp>
        <p:nvSpPr>
          <p:cNvPr id="80" name="Rectangle à coins arrondis 79"/>
          <p:cNvSpPr/>
          <p:nvPr/>
        </p:nvSpPr>
        <p:spPr bwMode="auto">
          <a:xfrm>
            <a:off x="755576" y="2492326"/>
            <a:ext cx="1224136" cy="432048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WFS 2 client</a:t>
            </a:r>
          </a:p>
        </p:txBody>
      </p:sp>
      <p:sp>
        <p:nvSpPr>
          <p:cNvPr id="81" name="Rectangle à coins arrondis 80"/>
          <p:cNvSpPr/>
          <p:nvPr/>
        </p:nvSpPr>
        <p:spPr bwMode="auto">
          <a:xfrm>
            <a:off x="755576" y="3212406"/>
            <a:ext cx="1224136" cy="432048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dirty="0" smtClean="0"/>
              <a:t>File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2" name="Rectangle à coins arrondis 81"/>
          <p:cNvSpPr/>
          <p:nvPr/>
        </p:nvSpPr>
        <p:spPr bwMode="auto">
          <a:xfrm>
            <a:off x="755576" y="3935528"/>
            <a:ext cx="1224136" cy="43204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dirty="0" smtClean="0"/>
              <a:t>SOS 2 client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3" name="Rectangle à coins arrondis 82"/>
          <p:cNvSpPr/>
          <p:nvPr/>
        </p:nvSpPr>
        <p:spPr bwMode="auto">
          <a:xfrm>
            <a:off x="5492080" y="2082481"/>
            <a:ext cx="1296144" cy="56674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fr-FR" dirty="0" smtClean="0"/>
              <a:t>GUI-Widget </a:t>
            </a:r>
            <a:r>
              <a:rPr lang="fr-FR" dirty="0"/>
              <a:t>WaterML2</a:t>
            </a:r>
          </a:p>
        </p:txBody>
      </p:sp>
      <p:sp>
        <p:nvSpPr>
          <p:cNvPr id="84" name="ZoneTexte 83"/>
          <p:cNvSpPr txBox="1"/>
          <p:nvPr/>
        </p:nvSpPr>
        <p:spPr>
          <a:xfrm>
            <a:off x="4026404" y="2850947"/>
            <a:ext cx="689612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dirty="0" smtClean="0"/>
              <a:t>&lt;XML&gt;</a:t>
            </a:r>
            <a:endParaRPr lang="fr-FR" dirty="0"/>
          </a:p>
        </p:txBody>
      </p:sp>
      <p:sp>
        <p:nvSpPr>
          <p:cNvPr id="85" name="Organigramme : Disque magnétique 84"/>
          <p:cNvSpPr/>
          <p:nvPr/>
        </p:nvSpPr>
        <p:spPr bwMode="auto">
          <a:xfrm>
            <a:off x="3707904" y="3750242"/>
            <a:ext cx="1337684" cy="1201479"/>
          </a:xfrm>
          <a:prstGeom prst="flowChartMagneticDisk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PostreGre</a:t>
            </a: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/GIS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dirty="0" err="1" smtClean="0"/>
              <a:t>Spatialite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6" name="Rectangle à coins arrondis 85"/>
          <p:cNvSpPr/>
          <p:nvPr/>
        </p:nvSpPr>
        <p:spPr bwMode="auto">
          <a:xfrm>
            <a:off x="5492080" y="2793237"/>
            <a:ext cx="1296144" cy="727524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fr-FR" dirty="0"/>
              <a:t>GUI-</a:t>
            </a: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Widget GWML2 </a:t>
            </a:r>
            <a:r>
              <a:rPr kumimoji="0" lang="fr-FR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BoreholeLog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7" name="Rectangle à coins arrondis 86"/>
          <p:cNvSpPr/>
          <p:nvPr/>
        </p:nvSpPr>
        <p:spPr bwMode="auto">
          <a:xfrm>
            <a:off x="5492080" y="3654718"/>
            <a:ext cx="1286644" cy="56674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fr-FR" dirty="0"/>
              <a:t>GUI-</a:t>
            </a: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Widget</a:t>
            </a:r>
            <a:r>
              <a:rPr kumimoji="0" lang="fr-FR" sz="1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EU AQD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baseline="0" dirty="0" err="1" smtClean="0"/>
              <a:t>TimeSeries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8" name="Rectangle à coins arrondis 87"/>
          <p:cNvSpPr/>
          <p:nvPr/>
        </p:nvSpPr>
        <p:spPr bwMode="auto">
          <a:xfrm>
            <a:off x="5492080" y="4373858"/>
            <a:ext cx="1312168" cy="5667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More </a:t>
            </a:r>
            <a:r>
              <a:rPr kumimoji="0" lang="fr-FR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domain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algn="ctr"/>
            <a:r>
              <a:rPr lang="fr-FR" dirty="0"/>
              <a:t>GUI-</a:t>
            </a:r>
            <a:r>
              <a:rPr lang="fr-FR" dirty="0" smtClean="0"/>
              <a:t>widgets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89" name="Groupe 88"/>
          <p:cNvGrpSpPr/>
          <p:nvPr/>
        </p:nvGrpSpPr>
        <p:grpSpPr>
          <a:xfrm>
            <a:off x="2449981" y="2924374"/>
            <a:ext cx="1113907" cy="939146"/>
            <a:chOff x="2449981" y="2129814"/>
            <a:chExt cx="1113907" cy="939146"/>
          </a:xfrm>
        </p:grpSpPr>
        <p:pic>
          <p:nvPicPr>
            <p:cNvPr id="90" name="Shape 1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49981" y="2129814"/>
              <a:ext cx="687143" cy="76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ZoneTexte 90"/>
            <p:cNvSpPr txBox="1"/>
            <p:nvPr/>
          </p:nvSpPr>
          <p:spPr>
            <a:xfrm>
              <a:off x="2822980" y="2791961"/>
              <a:ext cx="740908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fr-FR" dirty="0" smtClean="0"/>
                <a:t>GMLAS</a:t>
              </a:r>
              <a:endParaRPr lang="fr-FR" dirty="0"/>
            </a:p>
          </p:txBody>
        </p:sp>
      </p:grpSp>
      <p:sp>
        <p:nvSpPr>
          <p:cNvPr id="92" name="Rectangle à coins arrondis 91"/>
          <p:cNvSpPr/>
          <p:nvPr/>
        </p:nvSpPr>
        <p:spPr bwMode="auto">
          <a:xfrm>
            <a:off x="5492080" y="5444654"/>
            <a:ext cx="1312168" cy="5667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dirty="0" smtClean="0"/>
              <a:t>Data </a:t>
            </a:r>
            <a:r>
              <a:rPr lang="fr-FR" dirty="0" err="1" smtClean="0"/>
              <a:t>processing</a:t>
            </a:r>
            <a:r>
              <a:rPr lang="fr-FR" dirty="0" smtClean="0"/>
              <a:t> </a:t>
            </a:r>
            <a:r>
              <a:rPr lang="fr-FR" dirty="0" err="1" smtClean="0"/>
              <a:t>libs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93" name="Groupe 92"/>
          <p:cNvGrpSpPr/>
          <p:nvPr/>
        </p:nvGrpSpPr>
        <p:grpSpPr>
          <a:xfrm>
            <a:off x="7380312" y="2996382"/>
            <a:ext cx="1113907" cy="939146"/>
            <a:chOff x="2449981" y="2129814"/>
            <a:chExt cx="1113907" cy="939146"/>
          </a:xfrm>
        </p:grpSpPr>
        <p:pic>
          <p:nvPicPr>
            <p:cNvPr id="94" name="Shape 1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49981" y="2129814"/>
              <a:ext cx="687143" cy="76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ZoneTexte 94"/>
            <p:cNvSpPr txBox="1"/>
            <p:nvPr/>
          </p:nvSpPr>
          <p:spPr>
            <a:xfrm>
              <a:off x="2822980" y="2791961"/>
              <a:ext cx="740908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fr-FR" dirty="0" smtClean="0"/>
                <a:t>GMLAS</a:t>
              </a:r>
              <a:endParaRPr lang="fr-FR" dirty="0"/>
            </a:p>
          </p:txBody>
        </p:sp>
      </p:grpSp>
      <p:cxnSp>
        <p:nvCxnSpPr>
          <p:cNvPr id="96" name="Connecteur droit 95"/>
          <p:cNvCxnSpPr/>
          <p:nvPr/>
        </p:nvCxnSpPr>
        <p:spPr bwMode="auto">
          <a:xfrm>
            <a:off x="2267744" y="2132286"/>
            <a:ext cx="0" cy="3600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7" name="Connecteur droit 96"/>
          <p:cNvCxnSpPr/>
          <p:nvPr/>
        </p:nvCxnSpPr>
        <p:spPr bwMode="auto">
          <a:xfrm>
            <a:off x="5148064" y="2132286"/>
            <a:ext cx="0" cy="3600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8" name="Connecteur droit 97"/>
          <p:cNvCxnSpPr/>
          <p:nvPr/>
        </p:nvCxnSpPr>
        <p:spPr bwMode="auto">
          <a:xfrm>
            <a:off x="3491880" y="2132286"/>
            <a:ext cx="0" cy="3600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9" name="Connecteur droit 98"/>
          <p:cNvCxnSpPr/>
          <p:nvPr/>
        </p:nvCxnSpPr>
        <p:spPr bwMode="auto">
          <a:xfrm>
            <a:off x="7092280" y="2132286"/>
            <a:ext cx="0" cy="3600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0" name="Rectangle à coins arrondis 99"/>
          <p:cNvSpPr/>
          <p:nvPr/>
        </p:nvSpPr>
        <p:spPr bwMode="auto">
          <a:xfrm>
            <a:off x="7099152" y="6165304"/>
            <a:ext cx="984324" cy="432048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Existing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1" name="Rectangle à coins arrondis 100"/>
          <p:cNvSpPr/>
          <p:nvPr/>
        </p:nvSpPr>
        <p:spPr bwMode="auto">
          <a:xfrm>
            <a:off x="8079520" y="6158480"/>
            <a:ext cx="988280" cy="43204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dirty="0" smtClean="0"/>
              <a:t>Evolution </a:t>
            </a:r>
            <a:r>
              <a:rPr lang="fr-FR" dirty="0" err="1" smtClean="0"/>
              <a:t>idea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2" name="ZoneTexte 101"/>
          <p:cNvSpPr txBox="1"/>
          <p:nvPr/>
        </p:nvSpPr>
        <p:spPr>
          <a:xfrm>
            <a:off x="899592" y="1380848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Input </a:t>
            </a:r>
          </a:p>
          <a:p>
            <a:r>
              <a:rPr lang="fr-FR" dirty="0" err="1" smtClean="0"/>
              <a:t>connector</a:t>
            </a:r>
            <a:endParaRPr lang="fr-FR" dirty="0"/>
          </a:p>
        </p:txBody>
      </p:sp>
      <p:sp>
        <p:nvSpPr>
          <p:cNvPr id="103" name="ZoneTexte 102"/>
          <p:cNvSpPr txBox="1"/>
          <p:nvPr/>
        </p:nvSpPr>
        <p:spPr>
          <a:xfrm>
            <a:off x="2568865" y="1196182"/>
            <a:ext cx="740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Input</a:t>
            </a:r>
          </a:p>
          <a:p>
            <a:r>
              <a:rPr lang="fr-FR" dirty="0" smtClean="0"/>
              <a:t>data </a:t>
            </a:r>
          </a:p>
          <a:p>
            <a:r>
              <a:rPr lang="fr-FR" dirty="0" err="1" smtClean="0"/>
              <a:t>reading</a:t>
            </a:r>
            <a:endParaRPr lang="fr-FR" dirty="0"/>
          </a:p>
        </p:txBody>
      </p:sp>
      <p:sp>
        <p:nvSpPr>
          <p:cNvPr id="104" name="ZoneTexte 103"/>
          <p:cNvSpPr txBox="1"/>
          <p:nvPr/>
        </p:nvSpPr>
        <p:spPr>
          <a:xfrm>
            <a:off x="4026404" y="1288515"/>
            <a:ext cx="705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Data </a:t>
            </a:r>
          </a:p>
          <a:p>
            <a:r>
              <a:rPr lang="fr-FR" dirty="0" smtClean="0"/>
              <a:t>format </a:t>
            </a:r>
            <a:endParaRPr lang="fr-FR" dirty="0"/>
          </a:p>
        </p:txBody>
      </p:sp>
      <p:sp>
        <p:nvSpPr>
          <p:cNvPr id="105" name="ZoneTexte 104"/>
          <p:cNvSpPr txBox="1"/>
          <p:nvPr/>
        </p:nvSpPr>
        <p:spPr>
          <a:xfrm>
            <a:off x="7625201" y="1196182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Output</a:t>
            </a:r>
          </a:p>
          <a:p>
            <a:r>
              <a:rPr lang="fr-FR" dirty="0" smtClean="0"/>
              <a:t>data </a:t>
            </a:r>
          </a:p>
          <a:p>
            <a:r>
              <a:rPr lang="fr-FR" dirty="0" err="1" smtClean="0"/>
              <a:t>writing</a:t>
            </a:r>
            <a:endParaRPr lang="fr-FR" dirty="0"/>
          </a:p>
        </p:txBody>
      </p:sp>
      <p:sp>
        <p:nvSpPr>
          <p:cNvPr id="106" name="ZoneTexte 105"/>
          <p:cNvSpPr txBox="1"/>
          <p:nvPr/>
        </p:nvSpPr>
        <p:spPr>
          <a:xfrm>
            <a:off x="5868144" y="1288515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Data </a:t>
            </a:r>
          </a:p>
          <a:p>
            <a:r>
              <a:rPr lang="fr-FR" dirty="0" smtClean="0"/>
              <a:t>use</a:t>
            </a:r>
            <a:endParaRPr lang="fr-FR" dirty="0"/>
          </a:p>
        </p:txBody>
      </p:sp>
      <p:sp>
        <p:nvSpPr>
          <p:cNvPr id="107" name="Flèche droite 106"/>
          <p:cNvSpPr/>
          <p:nvPr/>
        </p:nvSpPr>
        <p:spPr bwMode="auto">
          <a:xfrm>
            <a:off x="1991048" y="1465777"/>
            <a:ext cx="458933" cy="230833"/>
          </a:xfrm>
          <a:prstGeom prst="right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8" name="Flèche droite 107"/>
          <p:cNvSpPr/>
          <p:nvPr/>
        </p:nvSpPr>
        <p:spPr bwMode="auto">
          <a:xfrm>
            <a:off x="3419872" y="1465777"/>
            <a:ext cx="458933" cy="230833"/>
          </a:xfrm>
          <a:prstGeom prst="right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9" name="Flèche droite 108"/>
          <p:cNvSpPr/>
          <p:nvPr/>
        </p:nvSpPr>
        <p:spPr bwMode="auto">
          <a:xfrm>
            <a:off x="5076056" y="1465777"/>
            <a:ext cx="458933" cy="230833"/>
          </a:xfrm>
          <a:prstGeom prst="right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0" name="Flèche droite 109"/>
          <p:cNvSpPr/>
          <p:nvPr/>
        </p:nvSpPr>
        <p:spPr bwMode="auto">
          <a:xfrm>
            <a:off x="6777363" y="1465777"/>
            <a:ext cx="458933" cy="230833"/>
          </a:xfrm>
          <a:prstGeom prst="right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1" name="Rectangle à coins arrondis 110"/>
          <p:cNvSpPr/>
          <p:nvPr/>
        </p:nvSpPr>
        <p:spPr bwMode="auto">
          <a:xfrm>
            <a:off x="2339752" y="3956791"/>
            <a:ext cx="1041899" cy="41078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dirty="0" smtClean="0"/>
              <a:t>More data structures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2" name="Rectangle à coins arrondis 111"/>
          <p:cNvSpPr/>
          <p:nvPr/>
        </p:nvSpPr>
        <p:spPr bwMode="auto">
          <a:xfrm>
            <a:off x="7546505" y="3956791"/>
            <a:ext cx="1041899" cy="41078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dirty="0" smtClean="0"/>
              <a:t>More data structures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3" name="Rectangle à coins arrondis 112"/>
          <p:cNvSpPr/>
          <p:nvPr/>
        </p:nvSpPr>
        <p:spPr bwMode="auto">
          <a:xfrm>
            <a:off x="381000" y="1196182"/>
            <a:ext cx="8367464" cy="4815212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4" name="Shape 2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943" y="5572464"/>
            <a:ext cx="425297" cy="43893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ZoneTexte 114"/>
          <p:cNvSpPr txBox="1"/>
          <p:nvPr/>
        </p:nvSpPr>
        <p:spPr>
          <a:xfrm>
            <a:off x="1017838" y="5798037"/>
            <a:ext cx="2175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GML Application </a:t>
            </a:r>
            <a:r>
              <a:rPr lang="fr-FR" dirty="0" err="1" smtClean="0"/>
              <a:t>schema</a:t>
            </a:r>
            <a:r>
              <a:rPr lang="fr-FR" dirty="0" smtClean="0"/>
              <a:t> </a:t>
            </a:r>
            <a:r>
              <a:rPr lang="fr-FR" dirty="0" err="1" smtClean="0"/>
              <a:t>toobox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371618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88" grpId="0" animBg="1"/>
      <p:bldP spid="92" grpId="0" animBg="1"/>
      <p:bldP spid="101" grpId="0" animBg="1"/>
      <p:bldP spid="111" grpId="0" animBg="1"/>
      <p:bldP spid="1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Windows\Web\Wallpaper\BRGM\fond_ecran_2013_0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052736"/>
            <a:ext cx="8525746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70409" y="1124744"/>
            <a:ext cx="7441951" cy="4495800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s.grellet@brgm.fr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m.beaufils@brgm.fr</a:t>
            </a:r>
            <a:endParaRPr lang="fr-FR" dirty="0" smtClean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24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</a:p>
          <a:p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60128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_PowerPoint_BRGM">
  <a:themeElements>
    <a:clrScheme name="Thème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hème 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hème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Modèle_PowerPoint_BRGM</Template>
  <TotalTime>7225</TotalTime>
  <Words>1253</Words>
  <Application>Microsoft Office PowerPoint</Application>
  <PresentationFormat>Affichage à l'écran (4:3)</PresentationFormat>
  <Paragraphs>366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Comic Sans MS</vt:lpstr>
      <vt:lpstr>Times</vt:lpstr>
      <vt:lpstr>Times New Roman</vt:lpstr>
      <vt:lpstr>Wingdings</vt:lpstr>
      <vt:lpstr>Modèle_PowerPoint_BRGM</vt:lpstr>
      <vt:lpstr>QGIS / GDAL GML application schema support update : use case on French Groundwater Information Network (GIN) </vt:lpstr>
      <vt:lpstr>French GIN – linked data use case</vt:lpstr>
      <vt:lpstr>French GIN – linked data use case</vt:lpstr>
      <vt:lpstr>French GIN – linked data use case</vt:lpstr>
      <vt:lpstr>French GIN – linked data use case</vt:lpstr>
      <vt:lpstr>GML application schema toolbox - overall context</vt:lpstr>
      <vt:lpstr>GML application schema toolbox - overall context</vt:lpstr>
      <vt:lpstr>GML application schema toolbox use – QGIS 3</vt:lpstr>
      <vt:lpstr>GML application schema toolbox use – XML</vt:lpstr>
      <vt:lpstr>GML application schema toolbox use – XML</vt:lpstr>
      <vt:lpstr>GML application schema toolbox use – XML</vt:lpstr>
      <vt:lpstr>GML application schema toolbox use – XML</vt:lpstr>
      <vt:lpstr>GML application schema toolbox use – XML</vt:lpstr>
      <vt:lpstr>GML application schema toolbox use – XML</vt:lpstr>
      <vt:lpstr>GML application schema toolbox use – XML</vt:lpstr>
      <vt:lpstr>GML application schema toolbox use – Database</vt:lpstr>
      <vt:lpstr>GML application schema toolbox use – ogrinfo</vt:lpstr>
      <vt:lpstr>Overall – development story</vt:lpstr>
      <vt:lpstr>Overall – development story</vt:lpstr>
      <vt:lpstr>Overall – development story</vt:lpstr>
      <vt:lpstr>Useful links</vt:lpstr>
      <vt:lpstr>Conclusion</vt:lpstr>
      <vt:lpstr>Conclusion - whishlist</vt:lpstr>
      <vt:lpstr>Thank you</vt:lpstr>
    </vt:vector>
  </TitlesOfParts>
  <Company>BRGM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  exemple de réalisation</dc:title>
  <dc:creator>J.J.Serrano</dc:creator>
  <cp:lastModifiedBy>Grellet Sylvain</cp:lastModifiedBy>
  <cp:revision>751</cp:revision>
  <cp:lastPrinted>2014-02-12T08:10:37Z</cp:lastPrinted>
  <dcterms:created xsi:type="dcterms:W3CDTF">2013-06-19T08:50:55Z</dcterms:created>
  <dcterms:modified xsi:type="dcterms:W3CDTF">2017-06-21T13:39:54Z</dcterms:modified>
</cp:coreProperties>
</file>