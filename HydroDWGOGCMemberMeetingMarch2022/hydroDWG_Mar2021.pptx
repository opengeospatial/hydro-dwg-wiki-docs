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2"/>
    <p:sldId id="283" r:id="rId3"/>
    <p:sldId id="267" r:id="rId4"/>
    <p:sldId id="277" r:id="rId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262626"/>
        </a:solidFill>
        <a:effectLst/>
        <a:uFillTx/>
        <a:latin typeface="Mont Book"/>
        <a:ea typeface="Mont Book"/>
        <a:cs typeface="Mont Book"/>
        <a:sym typeface="Mont Book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6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48"/>
  </p:normalViewPr>
  <p:slideViewPr>
    <p:cSldViewPr snapToGrid="0" snapToObjects="1">
      <p:cViewPr varScale="1">
        <p:scale>
          <a:sx n="78" d="100"/>
          <a:sy n="78" d="100"/>
        </p:scale>
        <p:origin x="4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hape 25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7" name="Shape 25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D3BBFB6-EA16-814E-8BA7-170BD9422392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6309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3600" b="1">
                <a:solidFill>
                  <a:srgbClr val="00B1FF"/>
                </a:solidFill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14035938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5500" b="1">
                <a:solidFill>
                  <a:srgbClr val="00B1FF"/>
                </a:solidFill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4" name="Image" descr="Image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4053" y="2390223"/>
            <a:ext cx="10429948" cy="11325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Image" descr="Image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374" y="918735"/>
            <a:ext cx="6126909" cy="3121682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2785730"/>
            <a:ext cx="21971000" cy="971878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1500"/>
              </a:spcBef>
              <a:defRPr/>
            </a:lvl1pPr>
            <a:lvl2pPr>
              <a:lnSpc>
                <a:spcPct val="100000"/>
              </a:lnSpc>
              <a:spcBef>
                <a:spcPts val="1500"/>
              </a:spcBef>
              <a:defRPr/>
            </a:lvl2pPr>
            <a:lvl3pPr>
              <a:lnSpc>
                <a:spcPct val="100000"/>
              </a:lnSpc>
              <a:spcBef>
                <a:spcPts val="1500"/>
              </a:spcBef>
              <a:defRPr/>
            </a:lvl3pPr>
            <a:lvl4pPr>
              <a:lnSpc>
                <a:spcPct val="100000"/>
              </a:lnSpc>
              <a:spcBef>
                <a:spcPts val="1500"/>
              </a:spcBef>
              <a:defRPr/>
            </a:lvl4pPr>
            <a:lvl5pPr>
              <a:lnSpc>
                <a:spcPct val="100000"/>
              </a:lnSpc>
              <a:spcBef>
                <a:spcPts val="1500"/>
              </a:spcBef>
              <a:defRPr/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" descr="Image">
            <a:extLst>
              <a:ext uri="{FF2B5EF4-FFF2-40B4-BE49-F238E27FC236}">
                <a16:creationId xmlns:a16="http://schemas.microsoft.com/office/drawing/2014/main" id="{52B0C06E-0977-954B-BAB3-30BEF9D86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" y="-15246"/>
            <a:ext cx="24580123" cy="13732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</p:pic>
      <p:sp>
        <p:nvSpPr>
          <p:cNvPr id="1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4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Section Title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3D Mark.png" descr="3D Mark.png"/>
          <p:cNvPicPr>
            <a:picLocks noChangeAspect="1"/>
          </p:cNvPicPr>
          <p:nvPr/>
        </p:nvPicPr>
        <p:blipFill>
          <a:blip r:embed="rId2" cstate="screen">
            <a:alphaModFix amt="28042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16343" y="856308"/>
            <a:ext cx="8393334" cy="8393335"/>
          </a:xfrm>
          <a:prstGeom prst="rect">
            <a:avLst/>
          </a:prstGeom>
          <a:ln w="12700">
            <a:miter lim="400000"/>
          </a:ln>
        </p:spPr>
      </p:pic>
      <p:sp>
        <p:nvSpPr>
          <p:cNvPr id="240" name="Thank You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343969" y="1227969"/>
            <a:ext cx="9779001" cy="143510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500" b="1" spc="-170">
                <a:solidFill>
                  <a:srgbClr val="00B1FF"/>
                </a:solidFill>
              </a:defRPr>
            </a:lvl1pPr>
          </a:lstStyle>
          <a:p>
            <a:r>
              <a:rPr dirty="0"/>
              <a:t>Thank You</a:t>
            </a:r>
          </a:p>
        </p:txBody>
      </p:sp>
      <p:sp>
        <p:nvSpPr>
          <p:cNvPr id="241" name="Rectangle"/>
          <p:cNvSpPr/>
          <p:nvPr/>
        </p:nvSpPr>
        <p:spPr>
          <a:xfrm>
            <a:off x="11343969" y="2853794"/>
            <a:ext cx="3569395" cy="151693"/>
          </a:xfrm>
          <a:prstGeom prst="rect">
            <a:avLst/>
          </a:prstGeom>
          <a:solidFill>
            <a:srgbClr val="00B1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242" name="Community"/>
          <p:cNvSpPr txBox="1">
            <a:spLocks noGrp="1"/>
          </p:cNvSpPr>
          <p:nvPr>
            <p:ph type="body" sz="quarter" idx="23"/>
          </p:nvPr>
        </p:nvSpPr>
        <p:spPr>
          <a:xfrm>
            <a:off x="11339402" y="3196211"/>
            <a:ext cx="9779001" cy="76633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ClrTx/>
              <a:buSzTx/>
              <a:buNone/>
              <a:defRPr sz="4500" b="1">
                <a:solidFill>
                  <a:srgbClr val="262626"/>
                </a:solidFill>
              </a:defRPr>
            </a:lvl1pPr>
          </a:lstStyle>
          <a:p>
            <a:r>
              <a:rPr dirty="0"/>
              <a:t>Community</a:t>
            </a:r>
          </a:p>
        </p:txBody>
      </p:sp>
      <p:sp>
        <p:nvSpPr>
          <p:cNvPr id="243" name="500+ International Members…"/>
          <p:cNvSpPr txBox="1"/>
          <p:nvPr/>
        </p:nvSpPr>
        <p:spPr>
          <a:xfrm>
            <a:off x="11339402" y="4029351"/>
            <a:ext cx="10439854" cy="2819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500+ International Members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110+ Member Meetings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60+ Alliance and Liaison partners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50+ Standards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45+ Domain Working Groups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25+ Years of Not for Profit Work</a:t>
            </a:r>
            <a:br>
              <a:rPr dirty="0"/>
            </a:br>
            <a:r>
              <a:rPr dirty="0"/>
              <a:t>10+ Regional and Country Forums</a:t>
            </a:r>
          </a:p>
        </p:txBody>
      </p:sp>
      <p:sp>
        <p:nvSpPr>
          <p:cNvPr id="244" name="Innovation"/>
          <p:cNvSpPr txBox="1"/>
          <p:nvPr/>
        </p:nvSpPr>
        <p:spPr>
          <a:xfrm>
            <a:off x="11339402" y="713570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Innovation</a:t>
            </a:r>
          </a:p>
        </p:txBody>
      </p:sp>
      <p:sp>
        <p:nvSpPr>
          <p:cNvPr id="245" name="120+ Innovation Initiatives…"/>
          <p:cNvSpPr txBox="1"/>
          <p:nvPr/>
        </p:nvSpPr>
        <p:spPr>
          <a:xfrm>
            <a:off x="11339402" y="8053019"/>
            <a:ext cx="10439854" cy="11966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120+ Innovation Initiatives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380+ Technical reports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t>Quarterly Tech Trends monitoring</a:t>
            </a:r>
          </a:p>
        </p:txBody>
      </p:sp>
      <p:sp>
        <p:nvSpPr>
          <p:cNvPr id="246" name="Standards"/>
          <p:cNvSpPr txBox="1"/>
          <p:nvPr/>
        </p:nvSpPr>
        <p:spPr>
          <a:xfrm>
            <a:off x="11339402" y="9468763"/>
            <a:ext cx="9779001" cy="766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 lnSpcReduction="10000"/>
          </a:bodyPr>
          <a:lstStyle>
            <a:lvl1pPr algn="l" defTabSz="825500">
              <a:defRPr sz="4500" b="1"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Standards</a:t>
            </a:r>
          </a:p>
        </p:txBody>
      </p:sp>
      <p:sp>
        <p:nvSpPr>
          <p:cNvPr id="247" name="65+ Adopted Standards…"/>
          <p:cNvSpPr txBox="1"/>
          <p:nvPr/>
        </p:nvSpPr>
        <p:spPr>
          <a:xfrm>
            <a:off x="11339402" y="10454222"/>
            <a:ext cx="10439854" cy="1602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65+ Adopted Standards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300+ products with 1000+ certified implementations</a:t>
            </a:r>
          </a:p>
          <a:p>
            <a:pPr algn="l" defTabSz="457200">
              <a:lnSpc>
                <a:spcPct val="140000"/>
              </a:lnSpc>
              <a:defRPr sz="2000">
                <a:latin typeface="+mn-lt"/>
                <a:ea typeface="+mn-ea"/>
                <a:cs typeface="+mn-cs"/>
                <a:sym typeface="Arial"/>
              </a:defRPr>
            </a:pPr>
            <a:r>
              <a:rPr dirty="0"/>
              <a:t>1,700,000+ Operational Data Sets </a:t>
            </a:r>
            <a:br>
              <a:rPr dirty="0"/>
            </a:br>
            <a:r>
              <a:rPr dirty="0"/>
              <a:t>Using OGC Standards</a:t>
            </a:r>
          </a:p>
        </p:txBody>
      </p:sp>
      <p:pic>
        <p:nvPicPr>
          <p:cNvPr id="248" name="OGC Mark.pdf" descr="OGC Mark.pdf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9743" y="12374675"/>
            <a:ext cx="574285" cy="647902"/>
          </a:xfrm>
          <a:prstGeom prst="rect">
            <a:avLst/>
          </a:prstGeom>
          <a:ln w="12700">
            <a:miter lim="400000"/>
          </a:ln>
        </p:spPr>
      </p:pic>
      <p:sp>
        <p:nvSpPr>
          <p:cNvPr id="249" name="Copyright © 2021 Open Geospatial Consortium"/>
          <p:cNvSpPr txBox="1"/>
          <p:nvPr/>
        </p:nvSpPr>
        <p:spPr>
          <a:xfrm>
            <a:off x="2058447" y="12456573"/>
            <a:ext cx="10439855" cy="4841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 defTabSz="457200">
              <a:lnSpc>
                <a:spcPct val="140000"/>
              </a:lnSpc>
              <a:defRPr sz="2000">
                <a:solidFill>
                  <a:srgbClr val="002060"/>
                </a:solidFill>
                <a:latin typeface="+mn-lt"/>
                <a:ea typeface="+mn-ea"/>
                <a:cs typeface="+mn-cs"/>
                <a:sym typeface="Arial"/>
              </a:defRPr>
            </a:lvl1pPr>
          </a:lstStyle>
          <a:p>
            <a:r>
              <a:rPr dirty="0"/>
              <a:t>Copyright © 202</a:t>
            </a:r>
            <a:r>
              <a:rPr lang="en-US" dirty="0"/>
              <a:t>2</a:t>
            </a:r>
            <a:r>
              <a:rPr dirty="0"/>
              <a:t> Open Geospatial Consortium</a:t>
            </a:r>
          </a:p>
        </p:txBody>
      </p:sp>
      <p:sp>
        <p:nvSpPr>
          <p:cNvPr id="2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38088" y="12968286"/>
            <a:ext cx="495328" cy="487313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36275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4400"/>
            </a:lvl2pPr>
            <a:lvl3pPr>
              <a:defRPr sz="4000"/>
            </a:lvl3pPr>
            <a:lvl4pPr>
              <a:defRPr sz="3600"/>
            </a:lvl4pPr>
            <a:lvl5pPr>
              <a:defRPr sz="3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CC31B8C-D1BF-8D47-A3EB-AE9638A0471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11945301" y="12968286"/>
            <a:ext cx="480901" cy="487313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AC7AC4-9ADF-FA4E-BD12-A120307F00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61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360" y="13080314"/>
            <a:ext cx="418783" cy="375285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2500">
                <a:solidFill>
                  <a:srgbClr val="00B1FF"/>
                </a:solidFill>
                <a:latin typeface="Mont SemiBold"/>
                <a:ea typeface="Mont SemiBold"/>
                <a:cs typeface="Mont SemiBold"/>
                <a:sym typeface="Mont SemiBold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9" r:id="rId3"/>
    <p:sldLayoutId id="2147483670" r:id="rId4"/>
    <p:sldLayoutId id="2147483671" r:id="rId5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B1FF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>
          <a:srgbClr val="00B1FF"/>
        </a:buClr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5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Mont SemiBold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resenta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OGC Hydro DWG</a:t>
            </a:r>
            <a:endParaRPr dirty="0"/>
          </a:p>
        </p:txBody>
      </p:sp>
      <p:sp>
        <p:nvSpPr>
          <p:cNvPr id="262" name="Author and Date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122</a:t>
            </a:r>
            <a:r>
              <a:rPr lang="en-US" baseline="30000" dirty="0"/>
              <a:t>nd</a:t>
            </a:r>
            <a:r>
              <a:rPr lang="en-US" dirty="0"/>
              <a:t> OGC Member Meeting</a:t>
            </a:r>
            <a:endParaRPr dirty="0"/>
          </a:p>
        </p:txBody>
      </p:sp>
      <p:sp>
        <p:nvSpPr>
          <p:cNvPr id="5" name="Presentation Subtitle">
            <a:extLst>
              <a:ext uri="{FF2B5EF4-FFF2-40B4-BE49-F238E27FC236}">
                <a16:creationId xmlns:a16="http://schemas.microsoft.com/office/drawing/2014/main" id="{AD17ED5E-F497-D24E-82F8-50CA37AC85C0}"/>
              </a:ext>
            </a:extLst>
          </p:cNvPr>
          <p:cNvSpPr txBox="1">
            <a:spLocks noGrp="1"/>
          </p:cNvSpPr>
          <p:nvPr>
            <p:ph type="body" sz="quarter" idx="21"/>
          </p:nvPr>
        </p:nvSpPr>
        <p:spPr>
          <a:xfrm>
            <a:off x="1201340" y="11847162"/>
            <a:ext cx="21971003" cy="123152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1 March 2022</a:t>
            </a:r>
          </a:p>
          <a:p>
            <a:endParaRPr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648C30D-778E-C54B-8B3B-EB7DC6D11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972" y="11105083"/>
            <a:ext cx="3820067" cy="2276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EF3617E-90BE-984A-9825-F69529B2D3E4}"/>
              </a:ext>
            </a:extLst>
          </p:cNvPr>
          <p:cNvSpPr txBox="1"/>
          <p:nvPr/>
        </p:nvSpPr>
        <p:spPr>
          <a:xfrm>
            <a:off x="10514909" y="10145895"/>
            <a:ext cx="3343864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600" b="1" dirty="0">
                <a:solidFill>
                  <a:srgbClr val="0096FF"/>
                </a:solidFill>
              </a:rPr>
              <a:t>Meeting sponsor</a:t>
            </a:r>
            <a:endParaRPr kumimoji="0" lang="en-US" sz="3600" b="1" i="0" u="none" strike="noStrike" cap="none" spc="0" normalizeH="0" baseline="0" dirty="0">
              <a:ln>
                <a:noFill/>
              </a:ln>
              <a:solidFill>
                <a:srgbClr val="0096FF"/>
              </a:solidFill>
              <a:effectLst/>
              <a:uFillTx/>
              <a:latin typeface="Mont Book"/>
              <a:ea typeface="Mont Book"/>
              <a:cs typeface="Mont Book"/>
              <a:sym typeface="Mont Book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32C7D18-3F37-414C-8AE6-C08CA83CE4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GWML2 Workshop</a:t>
            </a:r>
          </a:p>
          <a:p>
            <a:r>
              <a:rPr lang="en-US" dirty="0"/>
              <a:t>Water Quality Workshop</a:t>
            </a:r>
          </a:p>
          <a:p>
            <a:r>
              <a:rPr lang="en-US" dirty="0"/>
              <a:t>HY_Features minimal ontology</a:t>
            </a:r>
          </a:p>
          <a:p>
            <a:r>
              <a:rPr lang="en-US" dirty="0"/>
              <a:t>US Progress on River Features and GWML2 </a:t>
            </a:r>
            <a:r>
              <a:rPr lang="en-US" dirty="0" err="1"/>
              <a:t>Geopackage</a:t>
            </a:r>
            <a:endParaRPr lang="en-US" dirty="0"/>
          </a:p>
          <a:p>
            <a:r>
              <a:rPr lang="en-US" dirty="0"/>
              <a:t>Open Discussion</a:t>
            </a:r>
          </a:p>
        </p:txBody>
      </p:sp>
    </p:spTree>
    <p:extLst>
      <p:ext uri="{BB962C8B-B14F-4D97-AF65-F5344CB8AC3E}">
        <p14:creationId xmlns:p14="http://schemas.microsoft.com/office/powerpoint/2010/main" val="4932163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Section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Hot-air balloons viewed from below against a blue sky" descr="Hot-air balloons viewed from below against a blue sky"/>
          <p:cNvPicPr>
            <a:picLocks noGrp="1" noChangeAspect="1"/>
          </p:cNvPicPr>
          <p:nvPr>
            <p:ph type="pic" idx="4294967295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11198" y="1270000"/>
            <a:ext cx="9344152" cy="10780776"/>
          </a:xfrm>
          <a:prstGeom prst="rect">
            <a:avLst/>
          </a:prstGeom>
        </p:spPr>
      </p:pic>
      <p:sp>
        <p:nvSpPr>
          <p:cNvPr id="331" name="Thank You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32" name="Community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dirty="0"/>
              <a:t>Community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262626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262626"/>
            </a:solidFill>
            <a:effectLst/>
            <a:uFillTx/>
            <a:latin typeface="Mont Book"/>
            <a:ea typeface="Mont Book"/>
            <a:cs typeface="Mont Book"/>
            <a:sym typeface="Mont Boo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5DAA7BED8BE1B4D9EB044D63F3AD51E" ma:contentTypeVersion="10" ma:contentTypeDescription="Create a new document." ma:contentTypeScope="" ma:versionID="6b78270a5f3ea173b875b13d797337b6">
  <xsd:schema xmlns:xsd="http://www.w3.org/2001/XMLSchema" xmlns:xs="http://www.w3.org/2001/XMLSchema" xmlns:p="http://schemas.microsoft.com/office/2006/metadata/properties" xmlns:ns2="b699bf1c-d12e-4205-86a0-c38a1c544e01" xmlns:ns3="56bcb0fd-f087-42ab-b450-612d245fd8db" targetNamespace="http://schemas.microsoft.com/office/2006/metadata/properties" ma:root="true" ma:fieldsID="ff57929b321ebc50da985626661b31d3" ns2:_="" ns3:_="">
    <xsd:import namespace="b699bf1c-d12e-4205-86a0-c38a1c544e01"/>
    <xsd:import namespace="56bcb0fd-f087-42ab-b450-612d245fd8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99bf1c-d12e-4205-86a0-c38a1c544e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cb0fd-f087-42ab-b450-612d245fd8d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38D7703-6224-4CFB-8147-6C82AAE46F51}"/>
</file>

<file path=customXml/itemProps2.xml><?xml version="1.0" encoding="utf-8"?>
<ds:datastoreItem xmlns:ds="http://schemas.openxmlformats.org/officeDocument/2006/customXml" ds:itemID="{489E17FB-AE9A-4067-8A30-905A5D644346}"/>
</file>

<file path=customXml/itemProps3.xml><?xml version="1.0" encoding="utf-8"?>
<ds:datastoreItem xmlns:ds="http://schemas.openxmlformats.org/officeDocument/2006/customXml" ds:itemID="{9F182FDE-7007-4E60-96DD-23F54F38CFE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9268</TotalTime>
  <Words>38</Words>
  <Application>Microsoft Office PowerPoint</Application>
  <PresentationFormat>Custom</PresentationFormat>
  <Paragraphs>13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Helvetica Neue</vt:lpstr>
      <vt:lpstr>Helvetica Neue Medium</vt:lpstr>
      <vt:lpstr>Mont Book</vt:lpstr>
      <vt:lpstr>Mont SemiBold</vt:lpstr>
      <vt:lpstr>30_BasicColor</vt:lpstr>
      <vt:lpstr>OGC Hydro DWG</vt:lpstr>
      <vt:lpstr>Agenda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Blodgett, David L.</dc:creator>
  <cp:lastModifiedBy>Blodgett, David L</cp:lastModifiedBy>
  <cp:revision>30</cp:revision>
  <dcterms:modified xsi:type="dcterms:W3CDTF">2022-02-25T16:05:22Z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0x010100E5DAA7BED8BE1B4D9EB044D63F3AD51E</vt:lpwstr>
  </property>
</Properties>
</file>