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1" r:id="rId3"/>
    <p:sldId id="260" r:id="rId4"/>
    <p:sldId id="262" r:id="rId5"/>
    <p:sldId id="264" r:id="rId6"/>
    <p:sldId id="271" r:id="rId7"/>
    <p:sldId id="263" r:id="rId8"/>
    <p:sldId id="268" r:id="rId9"/>
    <p:sldId id="278" r:id="rId10"/>
    <p:sldId id="277" r:id="rId11"/>
    <p:sldId id="269" r:id="rId12"/>
    <p:sldId id="270" r:id="rId13"/>
    <p:sldId id="275" r:id="rId14"/>
    <p:sldId id="272" r:id="rId15"/>
    <p:sldId id="265" r:id="rId16"/>
    <p:sldId id="266" r:id="rId17"/>
    <p:sldId id="267" r:id="rId18"/>
    <p:sldId id="273" r:id="rId19"/>
    <p:sldId id="276" r:id="rId20"/>
    <p:sldId id="274" r:id="rId21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  <a:srgbClr val="FF0000"/>
    <a:srgbClr val="006600"/>
    <a:srgbClr val="000066"/>
    <a:srgbClr val="FFFF99"/>
    <a:srgbClr val="CCFFFF"/>
    <a:srgbClr val="5C0909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530" y="-9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179CF063-04F6-4A87-9A35-4E6962CEFE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0071A1D-526C-4897-A27D-692A5DA9D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 w="9525">
            <a:noFill/>
            <a:miter lim="800000"/>
            <a:headEnd type="none" w="med" len="lg"/>
            <a:tailEnd/>
          </a:ln>
          <a:effectLst/>
        </p:spPr>
        <p:txBody>
          <a:bodyPr wrap="none" lIns="0" rIns="0">
            <a:spAutoFit/>
          </a:bodyPr>
          <a:lstStyle/>
          <a:p>
            <a:pPr eaLnBrk="0" hangingPunct="0">
              <a:defRPr/>
            </a:pPr>
            <a:r>
              <a:rPr lang="en-US" sz="80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3786188" y="1122363"/>
            <a:ext cx="1570037" cy="244475"/>
          </a:xfrm>
          <a:prstGeom prst="rect">
            <a:avLst/>
          </a:prstGeom>
          <a:noFill/>
          <a:ln w="9525">
            <a:noFill/>
            <a:miter lim="800000"/>
            <a:headEnd type="none" w="med" len="lg"/>
            <a:tailEnd/>
          </a:ln>
        </p:spPr>
        <p:txBody>
          <a:bodyPr wrap="none" lIns="0" rIns="0">
            <a:spAutoFit/>
          </a:bodyPr>
          <a:lstStyle/>
          <a:p>
            <a:pPr algn="ctr" eaLnBrk="0" hangingPunct="0">
              <a:defRPr/>
            </a:pPr>
            <a:r>
              <a:rPr lang="en-US">
                <a:latin typeface="Arial" pitchFamily="34" charset="0"/>
                <a:cs typeface="Arial" pitchFamily="34" charset="0"/>
              </a:rPr>
              <a:t>Hosted and Sponsored by</a:t>
            </a:r>
          </a:p>
        </p:txBody>
      </p:sp>
      <p:graphicFrame>
        <p:nvGraphicFramePr>
          <p:cNvPr id="8" name="Object 1044"/>
          <p:cNvGraphicFramePr>
            <a:graphicFrameLocks noChangeAspect="1"/>
          </p:cNvGraphicFramePr>
          <p:nvPr/>
        </p:nvGraphicFramePr>
        <p:xfrm>
          <a:off x="4572000" y="1447800"/>
          <a:ext cx="2476500" cy="568325"/>
        </p:xfrm>
        <a:graphic>
          <a:graphicData uri="http://schemas.openxmlformats.org/presentationml/2006/ole">
            <p:oleObj spid="_x0000_s30722" name="Bitmap Image" r:id="rId5" imgW="3734321" imgH="857143" progId="PBrush">
              <p:embed/>
            </p:oleObj>
          </a:graphicData>
        </a:graphic>
      </p:graphicFrame>
      <p:graphicFrame>
        <p:nvGraphicFramePr>
          <p:cNvPr id="9" name="Object 1045"/>
          <p:cNvGraphicFramePr>
            <a:graphicFrameLocks noChangeAspect="1"/>
          </p:cNvGraphicFramePr>
          <p:nvPr/>
        </p:nvGraphicFramePr>
        <p:xfrm>
          <a:off x="2819400" y="1981200"/>
          <a:ext cx="533400" cy="533400"/>
        </p:xfrm>
        <a:graphic>
          <a:graphicData uri="http://schemas.openxmlformats.org/presentationml/2006/ole">
            <p:oleObj spid="_x0000_s30723" name="Bitmap Image" r:id="rId6" imgW="380852" imgH="380852" progId="PBrush">
              <p:embed/>
            </p:oleObj>
          </a:graphicData>
        </a:graphic>
      </p:graphicFrame>
      <p:graphicFrame>
        <p:nvGraphicFramePr>
          <p:cNvPr id="10" name="Object 1046"/>
          <p:cNvGraphicFramePr>
            <a:graphicFrameLocks noChangeAspect="1"/>
          </p:cNvGraphicFramePr>
          <p:nvPr/>
        </p:nvGraphicFramePr>
        <p:xfrm>
          <a:off x="3429000" y="2057400"/>
          <a:ext cx="3695700" cy="428625"/>
        </p:xfrm>
        <a:graphic>
          <a:graphicData uri="http://schemas.openxmlformats.org/presentationml/2006/ole">
            <p:oleObj spid="_x0000_s30724" name="Bitmap Image" r:id="rId7" imgW="3696216" imgH="428798" progId="PBrush">
              <p:embed/>
            </p:oleObj>
          </a:graphicData>
        </a:graphic>
      </p:graphicFrame>
      <p:pic>
        <p:nvPicPr>
          <p:cNvPr id="11" name="Picture 1047" descr="C:\Users\CarlandSusie\Documents\OGC\pc facilitation\ncar_highres_transback.png"/>
          <p:cNvPicPr>
            <a:picLocks noChangeAspect="1" noChangeArrowheads="1"/>
          </p:cNvPicPr>
          <p:nvPr userDrawn="1"/>
        </p:nvPicPr>
        <p:blipFill>
          <a:blip r:embed="rId8"/>
          <a:srcRect/>
          <a:stretch>
            <a:fillRect/>
          </a:stretch>
        </p:blipFill>
        <p:spPr bwMode="auto">
          <a:xfrm>
            <a:off x="2667000" y="1371600"/>
            <a:ext cx="1676400" cy="633413"/>
          </a:xfrm>
          <a:prstGeom prst="rect">
            <a:avLst/>
          </a:prstGeom>
          <a:noFill/>
        </p:spPr>
      </p:pic>
      <p:pic>
        <p:nvPicPr>
          <p:cNvPr id="12" name="Picture 1050" descr="C:\Users\CarlandSusie\Documents\OGC\pc facilitation\lockheed_logo.gif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3571875" y="2819400"/>
            <a:ext cx="2000250" cy="685800"/>
          </a:xfrm>
          <a:prstGeom prst="rect">
            <a:avLst/>
          </a:prstGeom>
          <a:noFill/>
        </p:spPr>
      </p:pic>
      <p:sp>
        <p:nvSpPr>
          <p:cNvPr id="13" name="Text Box 1051"/>
          <p:cNvSpPr txBox="1">
            <a:spLocks noChangeArrowheads="1"/>
          </p:cNvSpPr>
          <p:nvPr userDrawn="1"/>
        </p:nvSpPr>
        <p:spPr bwMode="auto">
          <a:xfrm>
            <a:off x="4062413" y="2725738"/>
            <a:ext cx="1022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Arial" pitchFamily="34" charset="0"/>
              </a:rPr>
              <a:t>Gold Sponsor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4127F-5662-4A7A-AB19-1F1D561142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7301D-4AA7-45DF-90DE-91C96841CC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E5E1C-C221-4B4F-9EF2-64E0350E11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E0919-9D4F-4D08-8956-5E15AA6F7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93279-BCD4-435A-9E0A-726A1E7079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07FA2-F09E-4F7E-B902-01676CA478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94F12-3493-449C-A5EF-658B01740F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2044DF-A368-4D6C-ADF3-9E65B7FA4E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4D7A4C-4678-4695-854E-7C2F9AC08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92890-AFC8-4490-8C70-D471B1D37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Copyright © 2011 Open Geospatial Consortium</a:t>
            </a:r>
          </a:p>
        </p:txBody>
      </p:sp>
      <p:sp>
        <p:nvSpPr>
          <p:cNvPr id="462853" name="Text Box 5"/>
          <p:cNvSpPr txBox="1">
            <a:spLocks noChangeArrowheads="1"/>
          </p:cNvSpPr>
          <p:nvPr/>
        </p:nvSpPr>
        <p:spPr bwMode="auto">
          <a:xfrm>
            <a:off x="-1539875" y="3059113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endParaRPr lang="en-US" sz="140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+mn-ea"/>
            </a:endParaRP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125A5EA8-AD72-4A55-8F81-F89150C95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2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defRPr/>
            </a:pPr>
            <a:r>
              <a:rPr lang="en-US" sz="4000">
                <a:solidFill>
                  <a:schemeClr val="tx2"/>
                </a:solidFill>
                <a:latin typeface="Times New Roman" pitchFamily="18" charset="0"/>
              </a:rPr>
              <a:t>OGC</a:t>
            </a:r>
          </a:p>
        </p:txBody>
      </p:sp>
      <p:sp>
        <p:nvSpPr>
          <p:cNvPr id="462868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 w="9525">
            <a:noFill/>
            <a:miter lim="800000"/>
            <a:headEnd type="none" w="med" len="lg"/>
            <a:tailEnd/>
          </a:ln>
          <a:effectLst/>
        </p:spPr>
        <p:txBody>
          <a:bodyPr wrap="none" lIns="0" rIns="0">
            <a:spAutoFit/>
          </a:bodyPr>
          <a:lstStyle/>
          <a:p>
            <a:pPr eaLnBrk="0" hangingPunct="0">
              <a:defRPr/>
            </a:pPr>
            <a:r>
              <a:rPr lang="en-US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+mn-cs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external.opengis.org/twiki_public/bin/view/HydrologyDWG/WaterML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weet.jpl.nasa.gov/2.3/stateVisibility.owl" TargetMode="External"/><Relationship Id="rId2" Type="http://schemas.openxmlformats.org/officeDocument/2006/relationships/hyperlink" Target="http://www.opengis.net/def/timeseriesType/WaterML/2.0/MinSucc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</a:t>
            </a:r>
            <a:r>
              <a:rPr lang="en-US" dirty="0" smtClean="0"/>
              <a:t>2012Open </a:t>
            </a:r>
            <a:r>
              <a:rPr lang="en-US" dirty="0"/>
              <a:t>Geospatial Consortium</a:t>
            </a:r>
          </a:p>
        </p:txBody>
      </p:sp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3505200"/>
            <a:ext cx="7772400" cy="1143000"/>
          </a:xfrm>
        </p:spPr>
        <p:txBody>
          <a:bodyPr/>
          <a:lstStyle/>
          <a:p>
            <a:r>
              <a:rPr lang="en-AU" sz="2800" dirty="0" smtClean="0">
                <a:hlinkClick r:id="rId2"/>
              </a:rPr>
              <a:t>WaterML</a:t>
            </a:r>
            <a:r>
              <a:rPr lang="en-AU" sz="2800" dirty="0" smtClean="0"/>
              <a:t> 2.0 </a:t>
            </a:r>
            <a:r>
              <a:rPr lang="en-AU" sz="2800" dirty="0" smtClean="0"/>
              <a:t>Time Series and NetCDF</a:t>
            </a:r>
            <a:endParaRPr lang="en-US" sz="2800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4625" y="4649788"/>
            <a:ext cx="6400800" cy="1455737"/>
          </a:xfrm>
        </p:spPr>
        <p:txBody>
          <a:bodyPr/>
          <a:lstStyle/>
          <a:p>
            <a:r>
              <a:rPr lang="en-US" sz="2000" dirty="0" smtClean="0">
                <a:cs typeface="Arial" pitchFamily="34" charset="0"/>
              </a:rPr>
              <a:t>78th OGC Technical Committee</a:t>
            </a:r>
          </a:p>
          <a:p>
            <a:r>
              <a:rPr lang="en-US" sz="2000" dirty="0" smtClean="0">
                <a:cs typeface="Arial" pitchFamily="34" charset="0"/>
              </a:rPr>
              <a:t>Austin, Texas (USA)</a:t>
            </a:r>
          </a:p>
          <a:p>
            <a:r>
              <a:rPr lang="en-US" sz="2000" dirty="0" smtClean="0">
                <a:cs typeface="Arial" pitchFamily="34" charset="0"/>
              </a:rPr>
              <a:t>Doug Palmer</a:t>
            </a:r>
          </a:p>
          <a:p>
            <a:r>
              <a:rPr lang="en-US" sz="2000" dirty="0" smtClean="0">
                <a:cs typeface="Arial" pitchFamily="34" charset="0"/>
              </a:rPr>
              <a:t>March 21, 2012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Why? Why? </a:t>
            </a:r>
            <a:r>
              <a:rPr lang="en-US" dirty="0" smtClean="0"/>
              <a:t>Why?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Lots of existing software can read NetCDF</a:t>
            </a:r>
          </a:p>
          <a:p>
            <a:pPr lvl="1"/>
            <a:r>
              <a:rPr lang="en-US" dirty="0" smtClean="0"/>
              <a:t>With suitable conventions</a:t>
            </a:r>
          </a:p>
          <a:p>
            <a:r>
              <a:rPr lang="en-US" dirty="0" smtClean="0"/>
              <a:t>Archival format</a:t>
            </a:r>
          </a:p>
          <a:p>
            <a:pPr lvl="1"/>
            <a:r>
              <a:rPr lang="en-US" dirty="0" smtClean="0"/>
              <a:t>XML is good as an exchange format, but a bit verbose</a:t>
            </a:r>
          </a:p>
          <a:p>
            <a:pPr lvl="1"/>
            <a:r>
              <a:rPr lang="en-US" dirty="0" smtClean="0"/>
              <a:t>Metadata catalogues, such as THREDDS</a:t>
            </a:r>
          </a:p>
          <a:p>
            <a:pPr lvl="1"/>
            <a:r>
              <a:rPr lang="en-US" dirty="0" smtClean="0"/>
              <a:t>Access to large data sets via </a:t>
            </a:r>
            <a:r>
              <a:rPr lang="en-US" dirty="0" err="1" smtClean="0"/>
              <a:t>OPeNDAP</a:t>
            </a: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effectLst/>
              </a:rPr>
              <a:t>Use Cases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Archival Storage</a:t>
            </a:r>
          </a:p>
          <a:p>
            <a:pPr lvl="1"/>
            <a:r>
              <a:rPr lang="en-US" dirty="0" smtClean="0"/>
              <a:t>Need </a:t>
            </a:r>
            <a:r>
              <a:rPr lang="en-US" i="1" dirty="0" smtClean="0"/>
              <a:t>complete</a:t>
            </a:r>
            <a:r>
              <a:rPr lang="en-US" dirty="0" smtClean="0"/>
              <a:t> representation of WaterML </a:t>
            </a:r>
            <a:r>
              <a:rPr lang="en-US" dirty="0" smtClean="0"/>
              <a:t>2.0 instance</a:t>
            </a:r>
            <a:endParaRPr lang="en-US" dirty="0" smtClean="0"/>
          </a:p>
          <a:p>
            <a:pPr lvl="1"/>
            <a:r>
              <a:rPr lang="en-US" dirty="0" smtClean="0"/>
              <a:t>Discoverable, comprehensible</a:t>
            </a:r>
          </a:p>
          <a:p>
            <a:pPr lvl="1"/>
            <a:r>
              <a:rPr lang="en-US" dirty="0" smtClean="0"/>
              <a:t>Able to reconstruct WaterML </a:t>
            </a:r>
            <a:r>
              <a:rPr lang="en-US" dirty="0" smtClean="0"/>
              <a:t>2.0 from </a:t>
            </a:r>
            <a:r>
              <a:rPr lang="en-US" dirty="0" smtClean="0"/>
              <a:t>encoding</a:t>
            </a:r>
          </a:p>
          <a:p>
            <a:r>
              <a:rPr lang="en-US" dirty="0" smtClean="0"/>
              <a:t>Data Payload</a:t>
            </a:r>
          </a:p>
          <a:p>
            <a:pPr lvl="1"/>
            <a:r>
              <a:rPr lang="en-US" dirty="0" smtClean="0"/>
              <a:t>Timeseries result referenced by an </a:t>
            </a:r>
            <a:r>
              <a:rPr lang="en-US" dirty="0" smtClean="0"/>
              <a:t>observation</a:t>
            </a:r>
          </a:p>
          <a:p>
            <a:pPr lvl="2"/>
            <a:r>
              <a:rPr lang="en-US" dirty="0" smtClean="0"/>
              <a:t>Need to ensure that it remains comprehensible when separated from context</a:t>
            </a:r>
            <a:endParaRPr lang="en-US" dirty="0" smtClean="0"/>
          </a:p>
          <a:p>
            <a:pPr lvl="1"/>
            <a:r>
              <a:rPr lang="en-US" dirty="0" smtClean="0"/>
              <a:t>CSML</a:t>
            </a:r>
          </a:p>
          <a:p>
            <a:r>
              <a:rPr lang="en-US" dirty="0" smtClean="0"/>
              <a:t>Presenting Existing NetCDF as </a:t>
            </a:r>
            <a:r>
              <a:rPr lang="en-US" dirty="0" smtClean="0"/>
              <a:t>WaterML 2.0</a:t>
            </a:r>
            <a:endParaRPr lang="en-US" dirty="0" smtClean="0"/>
          </a:p>
          <a:p>
            <a:pPr lvl="1"/>
            <a:r>
              <a:rPr lang="en-US" dirty="0" smtClean="0"/>
              <a:t>Import timeseries stored in NetCDF and present as </a:t>
            </a:r>
            <a:r>
              <a:rPr lang="en-US" dirty="0" smtClean="0"/>
              <a:t>WaterML 2.0</a:t>
            </a:r>
            <a:endParaRPr lang="en-US" dirty="0" smtClean="0"/>
          </a:p>
          <a:p>
            <a:r>
              <a:rPr lang="en-US" dirty="0" smtClean="0"/>
              <a:t>Import/Export Format for Tools and Software</a:t>
            </a:r>
          </a:p>
          <a:p>
            <a:pPr lvl="1"/>
            <a:r>
              <a:rPr lang="en-US" dirty="0" smtClean="0"/>
              <a:t>Import hydrology data into </a:t>
            </a:r>
            <a:r>
              <a:rPr lang="en-US" dirty="0" err="1" smtClean="0"/>
              <a:t>visualisation</a:t>
            </a:r>
            <a:r>
              <a:rPr lang="en-US" dirty="0" smtClean="0"/>
              <a:t>, analysis, processing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WaterML 2.0</a:t>
            </a:r>
            <a:endParaRPr lang="en-US" dirty="0" smtClean="0"/>
          </a:p>
          <a:p>
            <a:pPr lvl="1"/>
            <a:r>
              <a:rPr lang="en-US" dirty="0" smtClean="0"/>
              <a:t>UML model</a:t>
            </a:r>
          </a:p>
          <a:p>
            <a:pPr lvl="1"/>
            <a:r>
              <a:rPr lang="en-US" dirty="0" smtClean="0"/>
              <a:t>Metadata part of the model</a:t>
            </a:r>
          </a:p>
          <a:p>
            <a:pPr lvl="1"/>
            <a:r>
              <a:rPr lang="en-US" dirty="0" smtClean="0"/>
              <a:t>Semantics provided by model and linked data</a:t>
            </a:r>
          </a:p>
          <a:p>
            <a:pPr lvl="1"/>
            <a:r>
              <a:rPr lang="en-US" dirty="0" smtClean="0"/>
              <a:t>Complex, deep, flexible</a:t>
            </a:r>
          </a:p>
          <a:p>
            <a:r>
              <a:rPr lang="en-US" dirty="0" smtClean="0"/>
              <a:t>NetCDF</a:t>
            </a:r>
          </a:p>
          <a:p>
            <a:pPr lvl="1"/>
            <a:r>
              <a:rPr lang="en-US" dirty="0" smtClean="0"/>
              <a:t>Multidimensional array-based model</a:t>
            </a:r>
          </a:p>
          <a:p>
            <a:pPr lvl="1"/>
            <a:r>
              <a:rPr lang="en-US" dirty="0" smtClean="0"/>
              <a:t>Metadata stored in named attributes</a:t>
            </a:r>
          </a:p>
          <a:p>
            <a:pPr lvl="1"/>
            <a:r>
              <a:rPr lang="en-US" dirty="0" smtClean="0"/>
              <a:t>Semantics provided by attribute and data conventions</a:t>
            </a:r>
          </a:p>
          <a:p>
            <a:pPr lvl="1"/>
            <a:r>
              <a:rPr lang="en-US" b="1" dirty="0" smtClean="0"/>
              <a:t>Classic </a:t>
            </a:r>
            <a:r>
              <a:rPr lang="en-US" b="1" dirty="0" smtClean="0"/>
              <a:t>Data </a:t>
            </a:r>
            <a:r>
              <a:rPr lang="en-US" b="1" dirty="0" smtClean="0"/>
              <a:t>Model </a:t>
            </a:r>
            <a:r>
              <a:rPr lang="en-US" dirty="0" smtClean="0"/>
              <a:t>NetCDF-3</a:t>
            </a:r>
            <a:endParaRPr lang="en-US" dirty="0" smtClean="0"/>
          </a:p>
          <a:p>
            <a:pPr lvl="2"/>
            <a:r>
              <a:rPr lang="en-US" dirty="0" smtClean="0"/>
              <a:t>Simple, shallow, accessible (even by FORTRAN)</a:t>
            </a:r>
          </a:p>
          <a:p>
            <a:pPr lvl="2"/>
            <a:r>
              <a:rPr lang="en-US" dirty="0" smtClean="0"/>
              <a:t>Most conventions use the classic </a:t>
            </a:r>
            <a:r>
              <a:rPr lang="en-US" dirty="0" smtClean="0"/>
              <a:t>model</a:t>
            </a:r>
          </a:p>
          <a:p>
            <a:pPr lvl="2"/>
            <a:r>
              <a:rPr lang="en-US" dirty="0" smtClean="0"/>
              <a:t>Use this model as much as possible</a:t>
            </a:r>
            <a:endParaRPr lang="en-US" dirty="0" smtClean="0"/>
          </a:p>
          <a:p>
            <a:pPr lvl="1"/>
            <a:r>
              <a:rPr lang="en-US" b="1" dirty="0" smtClean="0"/>
              <a:t>Extended </a:t>
            </a:r>
            <a:r>
              <a:rPr lang="en-US" b="1" dirty="0" smtClean="0"/>
              <a:t>Data </a:t>
            </a:r>
            <a:r>
              <a:rPr lang="en-US" b="1" dirty="0" smtClean="0"/>
              <a:t>Model </a:t>
            </a:r>
            <a:r>
              <a:rPr lang="en-US" dirty="0" smtClean="0"/>
              <a:t>NetCDF-4</a:t>
            </a:r>
            <a:endParaRPr lang="en-US" dirty="0" smtClean="0"/>
          </a:p>
          <a:p>
            <a:pPr lvl="2"/>
            <a:r>
              <a:rPr lang="en-US" dirty="0" smtClean="0"/>
              <a:t>More complex, deep, flexible</a:t>
            </a:r>
          </a:p>
          <a:p>
            <a:pPr lvl="2"/>
            <a:r>
              <a:rPr lang="en-US" dirty="0" smtClean="0"/>
              <a:t>No common conventions that use the </a:t>
            </a:r>
            <a:r>
              <a:rPr lang="en-US" dirty="0" smtClean="0"/>
              <a:t>extensions</a:t>
            </a:r>
          </a:p>
          <a:p>
            <a:pPr lvl="2"/>
            <a:r>
              <a:rPr lang="en-US" dirty="0" smtClean="0"/>
              <a:t>Tools use the binary encodings but not the extensions to the data model</a:t>
            </a: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2"/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NetCDF Conventions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NetCDF Attribute Conventions</a:t>
            </a:r>
          </a:p>
          <a:p>
            <a:pPr lvl="1"/>
            <a:r>
              <a:rPr lang="en-US" dirty="0" smtClean="0"/>
              <a:t>Useful everywhere</a:t>
            </a:r>
          </a:p>
          <a:p>
            <a:pPr lvl="1"/>
            <a:r>
              <a:rPr lang="en-US" dirty="0" smtClean="0"/>
              <a:t>Require unit alignment (UCUM, UDUNITS)</a:t>
            </a:r>
          </a:p>
          <a:p>
            <a:r>
              <a:rPr lang="en-US" dirty="0" smtClean="0"/>
              <a:t>Attribute Conventions for Dataset Discovery (ACDD)</a:t>
            </a:r>
          </a:p>
          <a:p>
            <a:pPr lvl="1"/>
            <a:r>
              <a:rPr lang="en-US" dirty="0" smtClean="0"/>
              <a:t>Useful for dataset catalogues</a:t>
            </a:r>
          </a:p>
          <a:p>
            <a:pPr lvl="1"/>
            <a:r>
              <a:rPr lang="en-US" dirty="0" smtClean="0"/>
              <a:t>A good place to put some of the ISO 19115 (and other) metadata that appears in WaterML (thanks NASA GEO-IDE!)</a:t>
            </a:r>
          </a:p>
          <a:p>
            <a:r>
              <a:rPr lang="en-US" dirty="0" smtClean="0"/>
              <a:t>Climate and Forecast Conventions (CF)</a:t>
            </a:r>
          </a:p>
          <a:p>
            <a:pPr lvl="1"/>
            <a:r>
              <a:rPr lang="en-US" dirty="0" smtClean="0"/>
              <a:t>Common</a:t>
            </a:r>
          </a:p>
          <a:p>
            <a:pPr lvl="1"/>
            <a:r>
              <a:rPr lang="en-US" dirty="0" smtClean="0"/>
              <a:t>Discrete Sampling Geometries (Timeseries)</a:t>
            </a:r>
          </a:p>
          <a:p>
            <a:pPr lvl="1"/>
            <a:r>
              <a:rPr lang="en-US" dirty="0" smtClean="0"/>
              <a:t>Location/Coordinate Reference System Conventions</a:t>
            </a:r>
          </a:p>
          <a:p>
            <a:pPr lvl="1"/>
            <a:r>
              <a:rPr lang="en-US" dirty="0" smtClean="0"/>
              <a:t>Metadata and Ancillary Variable Conventions</a:t>
            </a:r>
          </a:p>
          <a:p>
            <a:pPr lvl="1"/>
            <a:r>
              <a:rPr lang="en-US" b="1" dirty="0" smtClean="0"/>
              <a:t>But Not </a:t>
            </a:r>
            <a:r>
              <a:rPr lang="en-US" dirty="0" smtClean="0"/>
              <a:t>Stuff which is hard to map onto hydrology domain</a:t>
            </a:r>
          </a:p>
          <a:p>
            <a:pPr lvl="2"/>
            <a:r>
              <a:rPr lang="en-US" dirty="0" smtClean="0"/>
              <a:t>Standard names</a:t>
            </a:r>
          </a:p>
          <a:p>
            <a:pPr lvl="2"/>
            <a:r>
              <a:rPr lang="en-US" dirty="0" smtClean="0"/>
              <a:t>In future, feature types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Encoding Strategies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Gracefulness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81400" y="1371600"/>
            <a:ext cx="1938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Calibri" pitchFamily="34" charset="0"/>
              </a:rPr>
              <a:t>Completeness</a:t>
            </a:r>
            <a:endParaRPr lang="en-AU" sz="2000" dirty="0">
              <a:solidFill>
                <a:schemeClr val="tx2">
                  <a:lumMod val="50000"/>
                  <a:lumOff val="50000"/>
                </a:schemeClr>
              </a:solidFill>
              <a:latin typeface="+mn-lt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0" y="5638800"/>
            <a:ext cx="1806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  <a:cs typeface="Calibri" pitchFamily="34" charset="0"/>
              </a:rPr>
              <a:t>Compatibility</a:t>
            </a:r>
            <a:endParaRPr lang="en-AU" sz="2000" dirty="0">
              <a:solidFill>
                <a:schemeClr val="tx2">
                  <a:lumMod val="50000"/>
                  <a:lumOff val="50000"/>
                </a:schemeClr>
              </a:solidFill>
              <a:latin typeface="+mn-lt"/>
              <a:cs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96746" y="1905000"/>
            <a:ext cx="17347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Embedded XML Metadata</a:t>
            </a:r>
            <a:endParaRPr lang="en-AU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6746" y="2190750"/>
            <a:ext cx="19848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Extended NetCDF Data Model</a:t>
            </a:r>
            <a:endParaRPr lang="en-AU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6746" y="2476500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Linked Metadata</a:t>
            </a:r>
            <a:endParaRPr lang="en-AU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6746" y="3048000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Dictionaries</a:t>
            </a:r>
            <a:endParaRPr lang="en-AU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96746" y="3333750"/>
            <a:ext cx="2169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WaterML/O&amp;M-specific Metadata</a:t>
            </a:r>
            <a:endParaRPr lang="en-AU" dirty="0"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96746" y="2762250"/>
            <a:ext cx="1407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Data Point Metadata</a:t>
            </a:r>
            <a:endParaRPr lang="en-AU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96746" y="3619500"/>
            <a:ext cx="20537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Aggregate Cell Representation</a:t>
            </a:r>
            <a:endParaRPr lang="en-AU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96746" y="4191000"/>
            <a:ext cx="18357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Location/CRS Conventions</a:t>
            </a:r>
            <a:endParaRPr lang="en-AU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96746" y="4476750"/>
            <a:ext cx="28472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Discrete Sampling Geometries Conventions</a:t>
            </a:r>
            <a:endParaRPr lang="en-AU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96746" y="3905250"/>
            <a:ext cx="21355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Ancillary Variables Conventions</a:t>
            </a:r>
            <a:endParaRPr lang="en-AU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96746" y="4762500"/>
            <a:ext cx="13676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ACDD Conventions</a:t>
            </a:r>
            <a:endParaRPr lang="en-AU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96746" y="5048250"/>
            <a:ext cx="20377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NetCDF Attribute Conventions</a:t>
            </a:r>
            <a:endParaRPr lang="en-AU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96746" y="5334000"/>
            <a:ext cx="12458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Unit Conventions</a:t>
            </a:r>
            <a:endParaRPr lang="en-AU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8200" y="2209800"/>
            <a:ext cx="1747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Archival Format</a:t>
            </a:r>
            <a:endParaRPr lang="en-AU" sz="1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2971800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Data Payload</a:t>
            </a:r>
            <a:endParaRPr lang="en-AU" sz="1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" y="3581400"/>
            <a:ext cx="15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Import/Export</a:t>
            </a:r>
            <a:endParaRPr lang="en-AU" sz="1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3000" y="4495800"/>
            <a:ext cx="2476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NetCDF as 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+mn-lt"/>
              </a:rPr>
              <a:t>WaterML 2.0</a:t>
            </a:r>
            <a:endParaRPr lang="en-AU" sz="16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2" name="Down Arrow 31"/>
          <p:cNvSpPr/>
          <p:nvPr/>
        </p:nvSpPr>
        <p:spPr bwMode="auto">
          <a:xfrm flipV="1">
            <a:off x="2971800" y="1905000"/>
            <a:ext cx="3423761" cy="3276600"/>
          </a:xfrm>
          <a:prstGeom prst="downArrow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stealth" w="med" len="lg"/>
            <a:tailEnd type="none" w="med" len="med"/>
          </a:ln>
          <a:effectLst/>
        </p:spPr>
        <p:txBody>
          <a:bodyPr vert="vert270" wrap="square" lIns="0" tIns="45720" rIns="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969696"/>
                </a:solidFill>
                <a:effectLst/>
                <a:latin typeface="+mj-lt"/>
              </a:rPr>
              <a:t>Works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969696"/>
                </a:solidFill>
                <a:latin typeface="+mj-lt"/>
              </a:rPr>
              <a:t>a</a:t>
            </a:r>
            <a:r>
              <a:rPr lang="en-US" sz="2800" dirty="0" smtClean="0">
                <a:solidFill>
                  <a:srgbClr val="969696"/>
                </a:solidFill>
                <a:latin typeface="+mj-lt"/>
              </a:rPr>
              <a:t>s a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969696"/>
                </a:solidFill>
                <a:effectLst/>
                <a:latin typeface="+mj-lt"/>
              </a:rPr>
              <a:t>NetCDF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dirty="0" smtClean="0">
                <a:solidFill>
                  <a:srgbClr val="969696"/>
                </a:solidFill>
                <a:latin typeface="+mj-lt"/>
              </a:rPr>
              <a:t>Document</a:t>
            </a:r>
            <a:endParaRPr kumimoji="0" lang="en-AU" sz="2800" b="1" i="0" u="none" strike="noStrike" cap="none" normalizeH="0" baseline="0" dirty="0" smtClean="0">
              <a:ln>
                <a:noFill/>
              </a:ln>
              <a:solidFill>
                <a:srgbClr val="969696"/>
              </a:solidFill>
              <a:effectLst/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Timeseries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CF Discrete Sampling Geometries (Timeseries)</a:t>
            </a:r>
          </a:p>
          <a:p>
            <a:r>
              <a:rPr lang="en-US" dirty="0" smtClean="0"/>
              <a:t>Maps onto collections of timeseries from WaterML </a:t>
            </a:r>
            <a:r>
              <a:rPr lang="en-US" dirty="0" smtClean="0"/>
              <a:t>2.0 monitoring </a:t>
            </a:r>
            <a:r>
              <a:rPr lang="en-US" dirty="0" smtClean="0"/>
              <a:t>points collecting simple, single property values</a:t>
            </a:r>
          </a:p>
          <a:p>
            <a:pPr lvl="1"/>
            <a:r>
              <a:rPr lang="en-US" dirty="0" err="1" smtClean="0"/>
              <a:t>timeSeries</a:t>
            </a:r>
            <a:r>
              <a:rPr lang="en-US" dirty="0" smtClean="0"/>
              <a:t> feature type</a:t>
            </a:r>
          </a:p>
          <a:p>
            <a:pPr lvl="1"/>
            <a:r>
              <a:rPr lang="en-US" dirty="0" smtClean="0"/>
              <a:t>Each monitoring point is a station</a:t>
            </a:r>
          </a:p>
          <a:p>
            <a:pPr lvl="1"/>
            <a:r>
              <a:rPr lang="en-US" dirty="0" smtClean="0"/>
              <a:t>Independent timestamps for samples</a:t>
            </a:r>
          </a:p>
          <a:p>
            <a:pPr lvl="1"/>
            <a:r>
              <a:rPr lang="en-US" dirty="0" smtClean="0"/>
              <a:t>X- and Y-coordinates latitude and longitude of monitoring points</a:t>
            </a:r>
          </a:p>
          <a:p>
            <a:pPr lvl="1"/>
            <a:r>
              <a:rPr lang="en-US" dirty="0" smtClean="0"/>
              <a:t>Can map gridding onto coordinate reference system (CRS)</a:t>
            </a:r>
          </a:p>
          <a:p>
            <a:r>
              <a:rPr lang="en-US" dirty="0" smtClean="0"/>
              <a:t>Good correspondence to what is well-defined in the </a:t>
            </a:r>
            <a:r>
              <a:rPr lang="en-US" dirty="0" smtClean="0"/>
              <a:t>WaterML 2.0 </a:t>
            </a:r>
            <a:r>
              <a:rPr lang="en-US" dirty="0" smtClean="0"/>
              <a:t>specification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Timeseries Example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Open Geospatial Consortium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295400"/>
            <a:ext cx="4800600" cy="48320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v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ariables: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double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lat;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lat:standard_name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“latitude”;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lat:axis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“X”;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double long;</a:t>
            </a:r>
            <a:endParaRPr lang="en-AU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long:standard_name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“longitude”;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long:axis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“Y”;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time(station, time);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time:standard_name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“time”;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time:units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“seconds since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2011-11-21 	12:26:00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+10:00”;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time:axis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“T”;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char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station_id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(station,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station_name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station_id:standard_name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	“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station_name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station_id:cf_role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“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timeseries_id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 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double stage(station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, time);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stage:standard_name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“stage”;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1295400"/>
            <a:ext cx="3581400" cy="138499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data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lat = -35.154004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AU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long = 149.390391;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time = 0,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300;</a:t>
            </a:r>
            <a:endParaRPr lang="en-AU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station_id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= “Lake George 1”;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stage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1.20, 1.15;</a:t>
            </a:r>
            <a:endParaRPr lang="en-AU" sz="14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Timeseries (Future Issues)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WaterML 2.0 is not conceptually limited to point timeseries</a:t>
            </a:r>
          </a:p>
          <a:p>
            <a:pPr lvl="1"/>
            <a:r>
              <a:rPr lang="en-US" dirty="0" smtClean="0"/>
              <a:t>Transects</a:t>
            </a:r>
          </a:p>
          <a:p>
            <a:pPr lvl="1"/>
            <a:r>
              <a:rPr lang="en-US" dirty="0" smtClean="0"/>
              <a:t>Swaths</a:t>
            </a:r>
          </a:p>
          <a:p>
            <a:pPr lvl="1"/>
            <a:r>
              <a:rPr lang="en-US" dirty="0" smtClean="0"/>
              <a:t>Cross-sections</a:t>
            </a:r>
          </a:p>
          <a:p>
            <a:pPr lvl="1"/>
            <a:r>
              <a:rPr lang="en-US" dirty="0" smtClean="0"/>
              <a:t>…</a:t>
            </a:r>
            <a:endParaRPr lang="en-US" dirty="0" smtClean="0"/>
          </a:p>
          <a:p>
            <a:r>
              <a:rPr lang="en-US" dirty="0" smtClean="0"/>
              <a:t>CF timeseries feature types do not map well onto possible hydrological samples </a:t>
            </a:r>
            <a:endParaRPr lang="en-US" dirty="0" smtClean="0"/>
          </a:p>
          <a:p>
            <a:pPr lvl="1"/>
            <a:r>
              <a:rPr lang="en-US" dirty="0" smtClean="0"/>
              <a:t>horizontal </a:t>
            </a:r>
            <a:r>
              <a:rPr lang="en-US" dirty="0" smtClean="0"/>
              <a:t>transect vs. vertical </a:t>
            </a:r>
            <a:r>
              <a:rPr lang="en-US" dirty="0" smtClean="0"/>
              <a:t>profile</a:t>
            </a:r>
            <a:endParaRPr lang="en-US" dirty="0" smtClean="0"/>
          </a:p>
          <a:p>
            <a:pPr lvl="1"/>
            <a:r>
              <a:rPr lang="en-US" dirty="0" smtClean="0"/>
              <a:t>Possibility </a:t>
            </a:r>
            <a:r>
              <a:rPr lang="en-US" dirty="0" smtClean="0"/>
              <a:t>of multiple CRS </a:t>
            </a:r>
            <a:endParaRPr lang="en-US" dirty="0" smtClean="0"/>
          </a:p>
          <a:p>
            <a:pPr lvl="2"/>
            <a:r>
              <a:rPr lang="en-US" dirty="0" smtClean="0"/>
              <a:t>series </a:t>
            </a:r>
            <a:r>
              <a:rPr lang="en-US" dirty="0" smtClean="0"/>
              <a:t>of monitoring points located via GPS/WGS84 sampling grids laid out via </a:t>
            </a:r>
            <a:r>
              <a:rPr lang="en-GB" dirty="0" smtClean="0"/>
              <a:t>MGA94</a:t>
            </a:r>
            <a:endParaRPr lang="en-GB" dirty="0" smtClean="0"/>
          </a:p>
          <a:p>
            <a:r>
              <a:rPr lang="en-GB" dirty="0" smtClean="0"/>
              <a:t>More research needed ...</a:t>
            </a:r>
            <a:endParaRPr lang="en-US" dirty="0" smtClean="0"/>
          </a:p>
          <a:p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 Open Geospatial Consortium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Metadata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WaterML 2.0 </a:t>
            </a:r>
            <a:r>
              <a:rPr lang="en-US" dirty="0" smtClean="0"/>
              <a:t>has a </a:t>
            </a:r>
            <a:r>
              <a:rPr lang="en-US" i="1" dirty="0" smtClean="0"/>
              <a:t>lot</a:t>
            </a:r>
            <a:r>
              <a:rPr lang="en-US" dirty="0" smtClean="0"/>
              <a:t> of complex metadata</a:t>
            </a:r>
          </a:p>
          <a:p>
            <a:pPr lvl="1"/>
            <a:r>
              <a:rPr lang="en-US" dirty="0" smtClean="0"/>
              <a:t>ISO 19115</a:t>
            </a:r>
          </a:p>
          <a:p>
            <a:pPr lvl="1"/>
            <a:r>
              <a:rPr lang="en-US" dirty="0" smtClean="0"/>
              <a:t>O&amp;M procedure, times, bounding box, etc.</a:t>
            </a:r>
          </a:p>
          <a:p>
            <a:pPr lvl="1"/>
            <a:r>
              <a:rPr lang="en-US" dirty="0" smtClean="0"/>
              <a:t>Timeseries descriptions</a:t>
            </a:r>
          </a:p>
          <a:p>
            <a:r>
              <a:rPr lang="en-US" dirty="0" smtClean="0"/>
              <a:t>Map useful bits onto NetCDF global attributes</a:t>
            </a:r>
          </a:p>
          <a:p>
            <a:pPr lvl="1"/>
            <a:r>
              <a:rPr lang="en-US" dirty="0" smtClean="0"/>
              <a:t>Partial mapping of </a:t>
            </a:r>
            <a:r>
              <a:rPr lang="en-US" dirty="0" smtClean="0"/>
              <a:t>WaterML 2.0 </a:t>
            </a:r>
            <a:r>
              <a:rPr lang="en-US" dirty="0" smtClean="0"/>
              <a:t>metadata onto NetCDF attributes</a:t>
            </a:r>
          </a:p>
          <a:p>
            <a:pPr lvl="2"/>
            <a:r>
              <a:rPr lang="en-US" dirty="0" smtClean="0"/>
              <a:t>Attribute Conventions for Dataset Discovery (ACDD)</a:t>
            </a:r>
            <a:endParaRPr lang="en-US" dirty="0" smtClean="0"/>
          </a:p>
          <a:p>
            <a:pPr lvl="2"/>
            <a:r>
              <a:rPr lang="en-US" dirty="0" smtClean="0"/>
              <a:t>Standard NetCDF attribute conventions</a:t>
            </a:r>
          </a:p>
          <a:p>
            <a:pPr lvl="1"/>
            <a:r>
              <a:rPr lang="en-US" dirty="0" smtClean="0"/>
              <a:t>Additional attributes for domain-specific information</a:t>
            </a:r>
          </a:p>
          <a:p>
            <a:pPr lvl="2"/>
            <a:r>
              <a:rPr lang="en-US" dirty="0" smtClean="0"/>
              <a:t>Procedures</a:t>
            </a:r>
          </a:p>
          <a:p>
            <a:pPr lvl="2"/>
            <a:r>
              <a:rPr lang="en-US" dirty="0" smtClean="0"/>
              <a:t>Gauge datum</a:t>
            </a:r>
          </a:p>
          <a:p>
            <a:pPr lvl="2"/>
            <a:r>
              <a:rPr lang="en-US" dirty="0" smtClean="0"/>
              <a:t>Vocabularies</a:t>
            </a:r>
          </a:p>
          <a:p>
            <a:pPr lvl="2"/>
            <a:r>
              <a:rPr lang="en-US" dirty="0" smtClean="0"/>
              <a:t>…</a:t>
            </a:r>
          </a:p>
          <a:p>
            <a:r>
              <a:rPr lang="en-US" dirty="0" smtClean="0"/>
              <a:t>Permit a complete description for reconstruction</a:t>
            </a:r>
          </a:p>
          <a:p>
            <a:pPr lvl="1"/>
            <a:r>
              <a:rPr lang="en-US" dirty="0" smtClean="0"/>
              <a:t>An attribute with embedded XML</a:t>
            </a:r>
          </a:p>
          <a:p>
            <a:pPr lvl="1"/>
            <a:r>
              <a:rPr lang="en-US" dirty="0" smtClean="0"/>
              <a:t>I feel unclean!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Point Metadata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Each data point can have associated metadata</a:t>
            </a:r>
          </a:p>
          <a:p>
            <a:pPr lvl="1"/>
            <a:r>
              <a:rPr lang="en-US" dirty="0" smtClean="0"/>
              <a:t>Quality, Nil reason, Censored reason, Interpolation type, Processing, Comment, Related observation, Accuracy, Qualifier, Unit</a:t>
            </a:r>
          </a:p>
          <a:p>
            <a:r>
              <a:rPr lang="en-US" dirty="0" smtClean="0"/>
              <a:t>WaterML 2.0 </a:t>
            </a:r>
            <a:r>
              <a:rPr lang="en-US" dirty="0" err="1" smtClean="0"/>
              <a:t>timerseries</a:t>
            </a:r>
            <a:r>
              <a:rPr lang="en-US" dirty="0" smtClean="0"/>
              <a:t> have default values</a:t>
            </a:r>
          </a:p>
          <a:p>
            <a:pPr lvl="1"/>
            <a:r>
              <a:rPr lang="en-US" dirty="0" smtClean="0"/>
              <a:t>Map defaults onto variable attributes</a:t>
            </a:r>
          </a:p>
          <a:p>
            <a:r>
              <a:rPr lang="en-US" dirty="0" smtClean="0"/>
              <a:t>Map </a:t>
            </a:r>
            <a:r>
              <a:rPr lang="en-US" i="1" dirty="0" smtClean="0"/>
              <a:t>useful</a:t>
            </a:r>
            <a:r>
              <a:rPr lang="en-US" dirty="0" smtClean="0"/>
              <a:t> per-point metadata onto CF-style ancillary variables</a:t>
            </a:r>
          </a:p>
          <a:p>
            <a:pPr lvl="1"/>
            <a:r>
              <a:rPr lang="en-US" dirty="0" smtClean="0"/>
              <a:t>Include what is fit for purpose</a:t>
            </a:r>
          </a:p>
          <a:p>
            <a:pPr lvl="1"/>
            <a:r>
              <a:rPr lang="en-US" dirty="0" smtClean="0"/>
              <a:t>Some fields require use of the enhanced model</a:t>
            </a:r>
          </a:p>
          <a:p>
            <a:pPr lvl="2"/>
            <a:r>
              <a:rPr lang="en-US" dirty="0" smtClean="0"/>
              <a:t>Comments</a:t>
            </a:r>
          </a:p>
          <a:p>
            <a:pPr lvl="1"/>
            <a:r>
              <a:rPr lang="en-US" dirty="0" smtClean="0"/>
              <a:t>Some fields cannot be mapped onto a simple ancillary variable</a:t>
            </a:r>
          </a:p>
          <a:p>
            <a:pPr lvl="2"/>
            <a:r>
              <a:rPr lang="en-US" dirty="0" smtClean="0"/>
              <a:t>Arbitrary qualifiers</a:t>
            </a:r>
          </a:p>
          <a:p>
            <a:pPr lvl="2"/>
            <a:r>
              <a:rPr lang="en-US" dirty="0" smtClean="0"/>
              <a:t>Use XML representation, if needed</a:t>
            </a:r>
          </a:p>
          <a:p>
            <a:pPr lvl="1"/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Restrictions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Restrict ourselves to situations that can be sensibly represented as NetCDF</a:t>
            </a:r>
          </a:p>
          <a:p>
            <a:pPr lvl="1"/>
            <a:r>
              <a:rPr lang="en-US" dirty="0" smtClean="0"/>
              <a:t>Single observations</a:t>
            </a:r>
          </a:p>
          <a:p>
            <a:pPr lvl="1"/>
            <a:r>
              <a:rPr lang="en-US" dirty="0" smtClean="0"/>
              <a:t>Collections of monitoring points collecting homogeneous data</a:t>
            </a:r>
          </a:p>
          <a:p>
            <a:pPr lvl="1"/>
            <a:r>
              <a:rPr lang="en-US" dirty="0" smtClean="0"/>
              <a:t>Monitoring points collecting multi-property samples</a:t>
            </a:r>
          </a:p>
          <a:p>
            <a:pPr lvl="1"/>
            <a:r>
              <a:rPr lang="en-US" dirty="0" smtClean="0"/>
              <a:t>Simple aggregation</a:t>
            </a:r>
          </a:p>
          <a:p>
            <a:r>
              <a:rPr lang="en-US" dirty="0" smtClean="0"/>
              <a:t>Can represent most </a:t>
            </a:r>
            <a:r>
              <a:rPr lang="en-US" dirty="0" smtClean="0"/>
              <a:t>WaterML 2.0</a:t>
            </a:r>
            <a:endParaRPr lang="en-US" dirty="0" smtClean="0"/>
          </a:p>
          <a:p>
            <a:pPr lvl="1"/>
            <a:r>
              <a:rPr lang="en-US" dirty="0" smtClean="0"/>
              <a:t>But beware expanding complexity</a:t>
            </a:r>
          </a:p>
          <a:p>
            <a:pPr lvl="1"/>
            <a:r>
              <a:rPr lang="en-US" dirty="0" smtClean="0"/>
              <a:t>Beware crossing the “classic”/”enhanced” NetCDF border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and Encoding Strategies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 and Vocabularies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WaterML 2.0 </a:t>
            </a:r>
            <a:r>
              <a:rPr lang="en-US" dirty="0" smtClean="0"/>
              <a:t>tends to use URI-like terms</a:t>
            </a:r>
          </a:p>
          <a:p>
            <a:pPr lvl="1"/>
            <a:r>
              <a:rPr lang="en-GB" u="sng" dirty="0" smtClean="0">
                <a:hlinkClick r:id="rId2"/>
              </a:rPr>
              <a:t>http://www.opengis.net/def/timeseriesType/WaterML/2.0/MinSucc</a:t>
            </a:r>
            <a:endParaRPr lang="en-GB" u="sng" dirty="0" smtClean="0"/>
          </a:p>
          <a:p>
            <a:pPr lvl="1"/>
            <a:r>
              <a:rPr lang="en-GB" dirty="0" smtClean="0">
                <a:hlinkClick r:id="rId3"/>
              </a:rPr>
              <a:t>http://sweet.jpl.nasa.gov/2.3/stateVisibility.owl#Sunny</a:t>
            </a:r>
            <a:r>
              <a:rPr lang="en-GB" dirty="0" smtClean="0"/>
              <a:t> </a:t>
            </a:r>
          </a:p>
          <a:p>
            <a:pPr lvl="1"/>
            <a:r>
              <a:rPr lang="en-GB" dirty="0" smtClean="0"/>
              <a:t>&lt;</a:t>
            </a:r>
            <a:r>
              <a:rPr lang="en-GB" dirty="0" err="1" smtClean="0"/>
              <a:t>swe:Category</a:t>
            </a:r>
            <a:r>
              <a:rPr lang="en-GB" dirty="0" smtClean="0"/>
              <a:t> &gt;</a:t>
            </a:r>
          </a:p>
          <a:p>
            <a:pPr lvl="1">
              <a:buNone/>
            </a:pPr>
            <a:r>
              <a:rPr lang="en-GB" dirty="0" smtClean="0"/>
              <a:t>      &lt;</a:t>
            </a:r>
            <a:r>
              <a:rPr lang="en-GB" dirty="0" err="1" smtClean="0"/>
              <a:t>swe:codeSpace</a:t>
            </a:r>
            <a:r>
              <a:rPr lang="en-GB" dirty="0" smtClean="0"/>
              <a:t> </a:t>
            </a:r>
            <a:r>
              <a:rPr lang="en-GB" dirty="0" err="1" smtClean="0"/>
              <a:t>xlink:href</a:t>
            </a:r>
            <a:r>
              <a:rPr lang="en-GB" dirty="0" smtClean="0"/>
              <a:t>=“http://www.example.com/terms/2.3”/&gt;</a:t>
            </a:r>
          </a:p>
          <a:p>
            <a:pPr lvl="1">
              <a:buNone/>
            </a:pPr>
            <a:r>
              <a:rPr lang="en-GB" dirty="0" smtClean="0"/>
              <a:t>      &lt;</a:t>
            </a:r>
            <a:r>
              <a:rPr lang="en-GB" dirty="0" err="1" smtClean="0"/>
              <a:t>swe:value</a:t>
            </a:r>
            <a:r>
              <a:rPr lang="en-GB" dirty="0" smtClean="0"/>
              <a:t>&gt;Poor&lt;/</a:t>
            </a:r>
            <a:r>
              <a:rPr lang="en-GB" dirty="0" err="1" smtClean="0"/>
              <a:t>swe:value</a:t>
            </a:r>
            <a:r>
              <a:rPr lang="en-GB" dirty="0" smtClean="0"/>
              <a:t>&gt;</a:t>
            </a:r>
          </a:p>
          <a:p>
            <a:pPr lvl="1">
              <a:buNone/>
            </a:pPr>
            <a:r>
              <a:rPr lang="en-GB" dirty="0" smtClean="0"/>
              <a:t>    &lt;/</a:t>
            </a:r>
            <a:r>
              <a:rPr lang="en-GB" dirty="0" err="1" smtClean="0"/>
              <a:t>swe:Category</a:t>
            </a:r>
            <a:r>
              <a:rPr lang="en-GB" dirty="0" smtClean="0"/>
              <a:t>&gt;</a:t>
            </a:r>
          </a:p>
          <a:p>
            <a:pPr lvl="1"/>
            <a:r>
              <a:rPr lang="en-GB" dirty="0" smtClean="0"/>
              <a:t>Definitions provided by resolving the URI</a:t>
            </a:r>
          </a:p>
          <a:p>
            <a:r>
              <a:rPr lang="en-GB" dirty="0" smtClean="0"/>
              <a:t>NetCDF tends to use token-like terms</a:t>
            </a:r>
          </a:p>
          <a:p>
            <a:pPr lvl="1"/>
            <a:r>
              <a:rPr lang="en-US" dirty="0" err="1" smtClean="0"/>
              <a:t>quality_good</a:t>
            </a:r>
            <a:r>
              <a:rPr lang="en-US" dirty="0" smtClean="0"/>
              <a:t>, </a:t>
            </a:r>
            <a:r>
              <a:rPr lang="en-US" dirty="0" err="1" smtClean="0"/>
              <a:t>outside_valid_range</a:t>
            </a:r>
            <a:endParaRPr lang="en-US" dirty="0" smtClean="0"/>
          </a:p>
          <a:p>
            <a:pPr lvl="1"/>
            <a:r>
              <a:rPr lang="en-US" dirty="0" smtClean="0"/>
              <a:t>Definitions provided by a conventions document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Embedding Vocabularies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Leverage CF Flags Conventions</a:t>
            </a:r>
          </a:p>
          <a:p>
            <a:pPr lvl="1"/>
            <a:r>
              <a:rPr lang="en-US" i="1" dirty="0" err="1" smtClean="0"/>
              <a:t>Tokenise</a:t>
            </a:r>
            <a:r>
              <a:rPr lang="en-US" dirty="0" smtClean="0"/>
              <a:t> terms</a:t>
            </a:r>
          </a:p>
          <a:p>
            <a:pPr lvl="1"/>
            <a:r>
              <a:rPr lang="en-US" dirty="0" smtClean="0"/>
              <a:t>Construct an enumeration of terms</a:t>
            </a:r>
          </a:p>
          <a:p>
            <a:pPr lvl="1"/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438400"/>
            <a:ext cx="4267200" cy="31085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&lt;wml2:defaultPointMetadata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...      &lt;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wml2:codeSpace&gt;http://www.example.com/terms/2.3&lt;/wml2:codeSpace&gt;</a:t>
            </a:r>
            <a:br>
              <a:rPr lang="en-AU" sz="1400" dirty="0">
                <a:latin typeface="Courier New" pitchFamily="49" charset="0"/>
                <a:cs typeface="Courier New" pitchFamily="49" charset="0"/>
              </a:rPr>
            </a:b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wml2:point&gt;</a:t>
            </a:r>
            <a:br>
              <a:rPr lang="en-AU" sz="1400" dirty="0">
                <a:latin typeface="Courier New" pitchFamily="49" charset="0"/>
                <a:cs typeface="Courier New" pitchFamily="49" charset="0"/>
              </a:rPr>
            </a:b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&lt;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wml2:value&gt;</a:t>
            </a:r>
            <a:br>
              <a:rPr lang="en-AU" sz="1400" dirty="0">
                <a:latin typeface="Courier New" pitchFamily="49" charset="0"/>
                <a:cs typeface="Courier New" pitchFamily="49" charset="0"/>
              </a:rPr>
            </a:b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  &lt;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swe:Category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en-AU" sz="1400" dirty="0">
                <a:latin typeface="Courier New" pitchFamily="49" charset="0"/>
                <a:cs typeface="Courier New" pitchFamily="49" charset="0"/>
              </a:rPr>
            </a:b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    &lt;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swe:value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&gt;Poor&lt;/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swe:value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en-AU" sz="1400" dirty="0">
                <a:latin typeface="Courier New" pitchFamily="49" charset="0"/>
                <a:cs typeface="Courier New" pitchFamily="49" charset="0"/>
              </a:rPr>
            </a:b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  &lt;/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swe:Category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&gt;</a:t>
            </a:r>
            <a:br>
              <a:rPr lang="en-AU" sz="1400" dirty="0">
                <a:latin typeface="Courier New" pitchFamily="49" charset="0"/>
                <a:cs typeface="Courier New" pitchFamily="49" charset="0"/>
              </a:rPr>
            </a:b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&lt;/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wml2:value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&gt;</a:t>
            </a:r>
            <a:endParaRPr lang="en-AU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GB" sz="1400" dirty="0">
                <a:latin typeface="Courier New" pitchFamily="49" charset="0"/>
                <a:cs typeface="Courier New" pitchFamily="49" charset="0"/>
              </a:rPr>
              <a:t>wml2:point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...</a:t>
            </a:r>
            <a:endParaRPr lang="en-AU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00600" y="2438400"/>
            <a:ext cx="4038600" cy="31393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byte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measure_quality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(station, time);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...</a:t>
            </a:r>
            <a:endParaRPr lang="en-AU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measure_quality:flag_masks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= 7b;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measure_quality:flag_values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= 1b, 2b, 3b, 4b;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measure_quality:flag_meanings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= “good poor biased invalid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measure_quality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2b, ...;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endParaRPr lang="en-AU" sz="1400" dirty="0">
              <a:latin typeface="Courier New" pitchFamily="49" charset="0"/>
              <a:cs typeface="Courier New" pitchFamily="49" charset="0"/>
            </a:endParaRPr>
          </a:p>
          <a:p>
            <a:endParaRPr lang="en-AU" dirty="0">
              <a:latin typeface="Courier New" pitchFamily="49" charset="0"/>
              <a:cs typeface="Courier New" pitchFamily="49" charset="0"/>
            </a:endParaRPr>
          </a:p>
          <a:p>
            <a:r>
              <a:rPr lang="en-GB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GB" dirty="0">
                <a:latin typeface="Courier New" pitchFamily="49" charset="0"/>
                <a:cs typeface="Courier New" pitchFamily="49" charset="0"/>
              </a:rPr>
            </a:br>
            <a:endParaRPr lang="en-AU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Embedding Vocabularies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finished yet …</a:t>
            </a:r>
          </a:p>
          <a:p>
            <a:pPr lvl="1"/>
            <a:r>
              <a:rPr lang="en-US" dirty="0" smtClean="0"/>
              <a:t>Map tokens onto vocabulary</a:t>
            </a:r>
          </a:p>
          <a:p>
            <a:pPr lvl="1"/>
            <a:r>
              <a:rPr lang="en-US" dirty="0" smtClean="0"/>
              <a:t>Link the variable to the vocabulary</a:t>
            </a:r>
          </a:p>
          <a:p>
            <a:pPr lvl="2"/>
            <a:r>
              <a:rPr lang="en-US" dirty="0" smtClean="0"/>
              <a:t>Can be an external link</a:t>
            </a:r>
          </a:p>
          <a:p>
            <a:pPr lvl="1"/>
            <a:r>
              <a:rPr lang="en-US" dirty="0" smtClean="0"/>
              <a:t>Link the variable to the type of vocabulary</a:t>
            </a:r>
          </a:p>
          <a:p>
            <a:pPr lvl="2"/>
            <a:r>
              <a:rPr lang="en-US" dirty="0" smtClean="0"/>
              <a:t>Simple embedded dictionary</a:t>
            </a:r>
          </a:p>
          <a:p>
            <a:pPr lvl="2"/>
            <a:r>
              <a:rPr lang="en-US" dirty="0" smtClean="0"/>
              <a:t>SKOS concept scheme</a:t>
            </a:r>
          </a:p>
          <a:p>
            <a:pPr lvl="2"/>
            <a:r>
              <a:rPr lang="en-US" dirty="0" smtClean="0"/>
              <a:t>GML dictionary</a:t>
            </a:r>
          </a:p>
          <a:p>
            <a:pPr lvl="2"/>
            <a:r>
              <a:rPr lang="en-US" dirty="0" smtClean="0"/>
              <a:t>… more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4495800"/>
            <a:ext cx="8001000" cy="175432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measure_quality_dictionary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= “good=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http://www.example.com/terms/2.3#Good ...”;</a:t>
            </a:r>
          </a:p>
          <a:p>
            <a:endParaRPr lang="en-AU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byte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measure_quality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(station, time);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...</a:t>
            </a:r>
            <a:endParaRPr lang="en-AU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measure_quality:flag_vocabulary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= “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measure_quality_dictionary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measure_quality:flag_vocabulary_typeof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= “simple”;</a:t>
            </a:r>
            <a:endParaRPr lang="en-AU" sz="1400" dirty="0">
              <a:latin typeface="Courier New" pitchFamily="49" charset="0"/>
              <a:cs typeface="Courier New" pitchFamily="49" charset="0"/>
            </a:endParaRPr>
          </a:p>
          <a:p>
            <a:endParaRPr lang="en-AU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(Meta)Data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Lots of WaterML </a:t>
            </a:r>
            <a:r>
              <a:rPr lang="en-US" dirty="0" smtClean="0"/>
              <a:t>2.0 information </a:t>
            </a:r>
            <a:r>
              <a:rPr lang="en-US" dirty="0" smtClean="0"/>
              <a:t>is via linked data</a:t>
            </a:r>
          </a:p>
          <a:p>
            <a:pPr lvl="1"/>
            <a:r>
              <a:rPr lang="en-US" dirty="0" smtClean="0"/>
              <a:t>E.g. feature of interest, procedure</a:t>
            </a:r>
          </a:p>
          <a:p>
            <a:pPr lvl="1"/>
            <a:r>
              <a:rPr lang="en-US" dirty="0" smtClean="0"/>
              <a:t>Use of </a:t>
            </a:r>
            <a:r>
              <a:rPr lang="en-US" dirty="0" err="1" smtClean="0"/>
              <a:t>Xlink</a:t>
            </a:r>
            <a:endParaRPr lang="en-US" dirty="0" smtClean="0"/>
          </a:p>
          <a:p>
            <a:pPr lvl="1"/>
            <a:r>
              <a:rPr lang="en-US" dirty="0" err="1" smtClean="0"/>
              <a:t>xlink:title</a:t>
            </a:r>
            <a:r>
              <a:rPr lang="en-US" dirty="0" smtClean="0"/>
              <a:t> and </a:t>
            </a:r>
            <a:r>
              <a:rPr lang="en-US" dirty="0" err="1" smtClean="0"/>
              <a:t>xlink:href</a:t>
            </a:r>
            <a:r>
              <a:rPr lang="en-US" dirty="0" smtClean="0"/>
              <a:t> are expected</a:t>
            </a:r>
          </a:p>
          <a:p>
            <a:r>
              <a:rPr lang="en-US" dirty="0" smtClean="0"/>
              <a:t>Use link attributes</a:t>
            </a:r>
          </a:p>
          <a:p>
            <a:pPr lvl="1"/>
            <a:r>
              <a:rPr lang="en-US" dirty="0" smtClean="0"/>
              <a:t>Name/link pattern</a:t>
            </a:r>
          </a:p>
          <a:p>
            <a:pPr lvl="2"/>
            <a:r>
              <a:rPr lang="en-US" dirty="0" smtClean="0"/>
              <a:t>Drawn from unofficial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metadata_link</a:t>
            </a:r>
            <a:r>
              <a:rPr lang="en-US" dirty="0" smtClean="0"/>
              <a:t> attribute in ACDD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4114800"/>
            <a:ext cx="6629400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>
              <a:buNone/>
            </a:pPr>
            <a:r>
              <a:rPr lang="en-AU" sz="16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AU" sz="1600" dirty="0" err="1" smtClean="0">
                <a:latin typeface="Courier New" pitchFamily="49" charset="0"/>
                <a:cs typeface="Courier New" pitchFamily="49" charset="0"/>
              </a:rPr>
              <a:t>sam:sampledFeature</a:t>
            </a:r>
            <a:endParaRPr lang="en-AU" sz="1600" dirty="0">
              <a:latin typeface="Courier New" pitchFamily="49" charset="0"/>
              <a:cs typeface="Courier New" pitchFamily="49" charset="0"/>
            </a:endParaRPr>
          </a:p>
          <a:p>
            <a:pPr marL="0" lvl="1">
              <a:buNone/>
            </a:pPr>
            <a:r>
              <a:rPr lang="en-AU" sz="16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600" dirty="0" err="1" smtClean="0">
                <a:latin typeface="Courier New" pitchFamily="49" charset="0"/>
                <a:cs typeface="Courier New" pitchFamily="49" charset="0"/>
              </a:rPr>
              <a:t>xlink:href</a:t>
            </a:r>
            <a:r>
              <a:rPr lang="en-AU" sz="1600" dirty="0" smtClean="0">
                <a:latin typeface="Courier New" pitchFamily="49" charset="0"/>
                <a:cs typeface="Courier New" pitchFamily="49" charset="0"/>
              </a:rPr>
              <a:t>="http://www.example.com/foi/LG" 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  </a:t>
            </a:r>
          </a:p>
          <a:p>
            <a:pPr marL="0" lvl="1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xlink:title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="Lake George"/&gt;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257800"/>
            <a:ext cx="6629400" cy="5232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sampled_feature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= “Lake George”;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sampled_feature_link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= “http://www.example.com/foi/LG”;</a:t>
            </a:r>
            <a:endParaRPr lang="en-GB" sz="14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 Data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</a:t>
            </a:r>
            <a:r>
              <a:rPr lang="en-US" dirty="0" smtClean="0"/>
              <a:t>WaterML 2.0 </a:t>
            </a:r>
            <a:r>
              <a:rPr lang="en-US" dirty="0" smtClean="0"/>
              <a:t>timeseries represent aggregates</a:t>
            </a:r>
          </a:p>
          <a:p>
            <a:pPr lvl="1"/>
            <a:r>
              <a:rPr lang="en-US" dirty="0" smtClean="0"/>
              <a:t>Tipping bucket</a:t>
            </a:r>
          </a:p>
          <a:p>
            <a:pPr lvl="1"/>
            <a:r>
              <a:rPr lang="en-US" dirty="0" smtClean="0"/>
              <a:t>Maximum temperature</a:t>
            </a:r>
          </a:p>
          <a:p>
            <a:r>
              <a:rPr lang="en-US" dirty="0" smtClean="0"/>
              <a:t>CF Conventions allow cell boundaries and methods</a:t>
            </a:r>
          </a:p>
          <a:p>
            <a:pPr lvl="1"/>
            <a:r>
              <a:rPr lang="en-US" dirty="0" smtClean="0"/>
              <a:t>In the time domain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3352800"/>
            <a:ext cx="8001000" cy="264687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variables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double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maximum_stage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(station, time);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maximum_stage:cell_methods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= “time: maximum”;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time(station, time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time:units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= “seconds since 2011-11-21 12:27:00 +10:00”;</a:t>
            </a:r>
          </a:p>
          <a:p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AU" sz="1400" dirty="0" err="1" smtClean="0">
                <a:latin typeface="Courier New" pitchFamily="49" charset="0"/>
                <a:cs typeface="Courier New" pitchFamily="49" charset="0"/>
              </a:rPr>
              <a:t>time:bounds</a:t>
            </a:r>
            <a:r>
              <a:rPr lang="en-AU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= “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time_bounds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time_bounds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(station, time, bounds);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data: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time = 0, 60, 180, 240;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time_bounds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= -60, 0,   0, 60,   60, 180,   180, 240;</a:t>
            </a:r>
          </a:p>
          <a:p>
            <a:r>
              <a:rPr lang="en-AU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AU" sz="1400" dirty="0" err="1">
                <a:latin typeface="Courier New" pitchFamily="49" charset="0"/>
                <a:cs typeface="Courier New" pitchFamily="49" charset="0"/>
              </a:rPr>
              <a:t>maximum_stage</a:t>
            </a:r>
            <a:r>
              <a:rPr lang="en-AU" sz="1400" dirty="0">
                <a:latin typeface="Courier New" pitchFamily="49" charset="0"/>
                <a:cs typeface="Courier New" pitchFamily="49" charset="0"/>
              </a:rPr>
              <a:t> = 3.0, 3.5, 3.4, 3.3;</a:t>
            </a:r>
          </a:p>
          <a:p>
            <a:endParaRPr lang="en-AU" sz="12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Mapping between the </a:t>
            </a:r>
            <a:r>
              <a:rPr lang="en-US" dirty="0" smtClean="0"/>
              <a:t>WaterML 2.0 </a:t>
            </a:r>
            <a:r>
              <a:rPr lang="en-US" dirty="0" smtClean="0"/>
              <a:t>model and NetCDF</a:t>
            </a:r>
          </a:p>
          <a:p>
            <a:pPr lvl="1"/>
            <a:r>
              <a:rPr lang="en-US" dirty="0" smtClean="0"/>
              <a:t>Not complete</a:t>
            </a:r>
          </a:p>
          <a:p>
            <a:pPr lvl="2"/>
            <a:r>
              <a:rPr lang="en-US" dirty="0" smtClean="0"/>
              <a:t>But covers the major cases</a:t>
            </a:r>
          </a:p>
          <a:p>
            <a:pPr lvl="2"/>
            <a:r>
              <a:rPr lang="en-US" dirty="0" smtClean="0"/>
              <a:t>Some difficulties with both the model and the encoding</a:t>
            </a:r>
          </a:p>
          <a:p>
            <a:pPr lvl="1"/>
            <a:r>
              <a:rPr lang="en-US" dirty="0" smtClean="0"/>
              <a:t>Graceful complexity/completeness/compatibility trade-off</a:t>
            </a:r>
          </a:p>
          <a:p>
            <a:pPr lvl="2"/>
            <a:r>
              <a:rPr lang="en-US" dirty="0" smtClean="0"/>
              <a:t>Useful NetCDF documents</a:t>
            </a:r>
          </a:p>
          <a:p>
            <a:r>
              <a:rPr lang="en-US" dirty="0" smtClean="0"/>
              <a:t>Bridge between NetCDF and </a:t>
            </a:r>
            <a:r>
              <a:rPr lang="en-US" dirty="0" smtClean="0"/>
              <a:t>WaterML 2.0 </a:t>
            </a:r>
            <a:r>
              <a:rPr lang="en-US" dirty="0" smtClean="0"/>
              <a:t>vocabularies</a:t>
            </a:r>
          </a:p>
          <a:p>
            <a:pPr lvl="1"/>
            <a:r>
              <a:rPr lang="en-US" dirty="0" smtClean="0"/>
              <a:t>Dictionary construction</a:t>
            </a:r>
          </a:p>
          <a:p>
            <a:r>
              <a:rPr lang="en-US" dirty="0" smtClean="0"/>
              <a:t>Discussion Paper</a:t>
            </a:r>
          </a:p>
          <a:p>
            <a:pPr lvl="1"/>
            <a:r>
              <a:rPr lang="en-US" dirty="0" smtClean="0"/>
              <a:t>OGC 12-031 </a:t>
            </a:r>
            <a:r>
              <a:rPr lang="en-AU" dirty="0" smtClean="0"/>
              <a:t>WaterML 2.0 – Timeseries – NetCDF Discussion Paper</a:t>
            </a: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2012 Open Geospatial Consortium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969696"/>
          </a:solidFill>
          <a:prstDash val="solid"/>
          <a:round/>
          <a:headEnd type="stealth" w="med" len="lg"/>
          <a:tailEnd type="none" w="med" len="med"/>
        </a:ln>
        <a:effectLst/>
      </a:spPr>
      <a:bodyPr vert="horz" wrap="none" lIns="0" tIns="45720" rIns="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969696"/>
          </a:solidFill>
          <a:prstDash val="solid"/>
          <a:round/>
          <a:headEnd type="stealth" w="med" len="lg"/>
          <a:tailEnd type="none" w="med" len="med"/>
        </a:ln>
        <a:effectLst/>
      </a:spPr>
      <a:bodyPr vert="horz" wrap="none" lIns="0" tIns="45720" rIns="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charset="0"/>
          </a:defRPr>
        </a:defPPr>
      </a:lstStyle>
    </a:ln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C:\Users\CARLAN~1\AppData\Local\Temp\OGC_PowerPoint_Template.pot</Template>
  <TotalTime>568</TotalTime>
  <Words>1304</Words>
  <Application>Microsoft Macintosh PowerPoint</Application>
  <PresentationFormat>On-screen Show (4:3)</PresentationFormat>
  <Paragraphs>279</Paragraphs>
  <Slides>20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OGC_PowerPoint_Template</vt:lpstr>
      <vt:lpstr>Bitmap Image</vt:lpstr>
      <vt:lpstr>WaterML 2.0 Time Series and NetCDF</vt:lpstr>
      <vt:lpstr>Why? Why? Why?</vt:lpstr>
      <vt:lpstr>Use Cases</vt:lpstr>
      <vt:lpstr>Data Models</vt:lpstr>
      <vt:lpstr>NetCDF Conventions</vt:lpstr>
      <vt:lpstr>Encoding Strategies</vt:lpstr>
      <vt:lpstr>Gracefulness</vt:lpstr>
      <vt:lpstr>Timeseries</vt:lpstr>
      <vt:lpstr>Timeseries Example</vt:lpstr>
      <vt:lpstr>Timeseries (Future Issues)</vt:lpstr>
      <vt:lpstr>Dataset Metadata</vt:lpstr>
      <vt:lpstr>Data Point Metadata</vt:lpstr>
      <vt:lpstr>Restrictions</vt:lpstr>
      <vt:lpstr>Mapping and Encoding Strategies</vt:lpstr>
      <vt:lpstr>Terms and Vocabularies</vt:lpstr>
      <vt:lpstr>Embedding Vocabularies</vt:lpstr>
      <vt:lpstr>Embedding Vocabularies</vt:lpstr>
      <vt:lpstr>Linked (Meta)Data</vt:lpstr>
      <vt:lpstr>Aggregate Data</vt:lpstr>
      <vt:lpstr>Summary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mpp</dc:subject>
  <dc:creator>Carl Reed</dc:creator>
  <cp:lastModifiedBy>Doug Palmer</cp:lastModifiedBy>
  <cp:revision>58</cp:revision>
  <cp:lastPrinted>2003-02-03T21:59:32Z</cp:lastPrinted>
  <dcterms:created xsi:type="dcterms:W3CDTF">2009-10-20T16:54:31Z</dcterms:created>
  <dcterms:modified xsi:type="dcterms:W3CDTF">2012-03-16T02:45:45Z</dcterms:modified>
</cp:coreProperties>
</file>