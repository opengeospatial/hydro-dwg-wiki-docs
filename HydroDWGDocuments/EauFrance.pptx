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0" r:id="rId6"/>
    <p:sldId id="261" r:id="rId7"/>
    <p:sldId id="258" r:id="rId8"/>
    <p:sldId id="264" r:id="rId9"/>
    <p:sldId id="265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2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DA0-6259-4FFF-B62E-94D54D982D9E}" type="datetimeFigureOut">
              <a:rPr lang="en-US" smtClean="0"/>
              <a:pPr/>
              <a:t>9/16/2009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E82F-E5D6-4AE6-BE0B-E26A75FE83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DA0-6259-4FFF-B62E-94D54D982D9E}" type="datetimeFigureOut">
              <a:rPr lang="en-US" smtClean="0"/>
              <a:pPr/>
              <a:t>9/16/2009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E82F-E5D6-4AE6-BE0B-E26A75FE83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DA0-6259-4FFF-B62E-94D54D982D9E}" type="datetimeFigureOut">
              <a:rPr lang="en-US" smtClean="0"/>
              <a:pPr/>
              <a:t>9/16/2009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E82F-E5D6-4AE6-BE0B-E26A75FE83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DA0-6259-4FFF-B62E-94D54D982D9E}" type="datetimeFigureOut">
              <a:rPr lang="en-US" smtClean="0"/>
              <a:pPr/>
              <a:t>9/16/2009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E82F-E5D6-4AE6-BE0B-E26A75FE83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DA0-6259-4FFF-B62E-94D54D982D9E}" type="datetimeFigureOut">
              <a:rPr lang="en-US" smtClean="0"/>
              <a:pPr/>
              <a:t>9/16/2009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E82F-E5D6-4AE6-BE0B-E26A75FE83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DA0-6259-4FFF-B62E-94D54D982D9E}" type="datetimeFigureOut">
              <a:rPr lang="en-US" smtClean="0"/>
              <a:pPr/>
              <a:t>9/16/2009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E82F-E5D6-4AE6-BE0B-E26A75FE83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DA0-6259-4FFF-B62E-94D54D982D9E}" type="datetimeFigureOut">
              <a:rPr lang="en-US" smtClean="0"/>
              <a:pPr/>
              <a:t>9/16/2009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E82F-E5D6-4AE6-BE0B-E26A75FE83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DA0-6259-4FFF-B62E-94D54D982D9E}" type="datetimeFigureOut">
              <a:rPr lang="en-US" smtClean="0"/>
              <a:pPr/>
              <a:t>9/16/2009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E82F-E5D6-4AE6-BE0B-E26A75FE83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DA0-6259-4FFF-B62E-94D54D982D9E}" type="datetimeFigureOut">
              <a:rPr lang="en-US" smtClean="0"/>
              <a:pPr/>
              <a:t>9/16/2009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E82F-E5D6-4AE6-BE0B-E26A75FE83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DA0-6259-4FFF-B62E-94D54D982D9E}" type="datetimeFigureOut">
              <a:rPr lang="en-US" smtClean="0"/>
              <a:pPr/>
              <a:t>9/16/2009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E82F-E5D6-4AE6-BE0B-E26A75FE83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FDA0-6259-4FFF-B62E-94D54D982D9E}" type="datetimeFigureOut">
              <a:rPr lang="en-US" smtClean="0"/>
              <a:pPr/>
              <a:t>9/16/2009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2E82F-E5D6-4AE6-BE0B-E26A75FE83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8FDA0-6259-4FFF-B62E-94D54D982D9E}" type="datetimeFigureOut">
              <a:rPr lang="en-US" smtClean="0"/>
              <a:pPr/>
              <a:t>9/16/2009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2E82F-E5D6-4AE6-BE0B-E26A75FE836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translate.google.com/translate?hl=en&amp;sl=fr&amp;tl=en&amp;u=http://sandre.eaufrance.fr/rubrique.php3?id_rubrique=128&amp;lang=f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andre.eaufrance.fr/article.php3?id_article=57&amp;lang=fr" TargetMode="External"/><Relationship Id="rId7" Type="http://schemas.openxmlformats.org/officeDocument/2006/relationships/hyperlink" Target="http://xml.sandre.eaufrance.fr/scenario/sw_qu/1/sandre_sc_wsQualite.xsd" TargetMode="External"/><Relationship Id="rId2" Type="http://schemas.openxmlformats.org/officeDocument/2006/relationships/hyperlink" Target="http://sandre.eaufrance.f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xml.sandre.eaufrance.fr/scenario/quesu/1/sandre_sc_quesu.xsd" TargetMode="External"/><Relationship Id="rId5" Type="http://schemas.openxmlformats.org/officeDocument/2006/relationships/hyperlink" Target="http://sandre.eaufrance.fr/rubrique.php3?id_rubrique=128&amp;lang=fr" TargetMode="External"/><Relationship Id="rId4" Type="http://schemas.openxmlformats.org/officeDocument/2006/relationships/hyperlink" Target="http://sandre.eaufrance.fr/rubrique.php3?id_rubrique=44&amp;lang=fr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sz="5400" b="1" dirty="0" err="1" smtClean="0"/>
              <a:t>EauFrance</a:t>
            </a:r>
            <a:r>
              <a:rPr lang="en-US" sz="5400" b="1" dirty="0" smtClean="0"/>
              <a:t>/</a:t>
            </a:r>
            <a:r>
              <a:rPr lang="en-US" sz="5400" b="1" dirty="0" err="1" smtClean="0"/>
              <a:t>Sandre</a:t>
            </a:r>
            <a:r>
              <a:rPr lang="en-US" sz="5400" b="1" dirty="0" smtClean="0"/>
              <a:t> – </a:t>
            </a:r>
            <a:br>
              <a:rPr lang="en-US" sz="5400" b="1" dirty="0" smtClean="0"/>
            </a:br>
            <a:r>
              <a:rPr lang="en-US" sz="5400" b="1" dirty="0" smtClean="0"/>
              <a:t>Water Web Services</a:t>
            </a:r>
            <a:endParaRPr lang="en-US"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76800"/>
            <a:ext cx="6400800" cy="13716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</a:pPr>
            <a:r>
              <a:rPr lang="en-US" sz="2400" i="1" dirty="0" smtClean="0"/>
              <a:t>Eric Hersh and David Maidment</a:t>
            </a:r>
          </a:p>
          <a:p>
            <a:pPr>
              <a:spcBef>
                <a:spcPts val="0"/>
              </a:spcBef>
            </a:pPr>
            <a:r>
              <a:rPr lang="en-US" sz="2400" i="1" dirty="0" smtClean="0"/>
              <a:t>The University of Texas at Austin</a:t>
            </a:r>
          </a:p>
          <a:p>
            <a:pPr>
              <a:spcBef>
                <a:spcPts val="0"/>
              </a:spcBef>
            </a:pPr>
            <a:r>
              <a:rPr lang="en-US" sz="2400" i="1" dirty="0" smtClean="0"/>
              <a:t>Center for Research in Water Resources</a:t>
            </a:r>
          </a:p>
          <a:p>
            <a:pPr>
              <a:spcBef>
                <a:spcPts val="0"/>
              </a:spcBef>
            </a:pPr>
            <a:r>
              <a:rPr lang="en-US" sz="2400" i="1" dirty="0" smtClean="0"/>
              <a:t>9/16/09</a:t>
            </a:r>
            <a:endParaRPr lang="en-US" sz="2400" i="1" dirty="0"/>
          </a:p>
        </p:txBody>
      </p:sp>
      <p:sp>
        <p:nvSpPr>
          <p:cNvPr id="4" name="Rectangle 3"/>
          <p:cNvSpPr/>
          <p:nvPr/>
        </p:nvSpPr>
        <p:spPr>
          <a:xfrm>
            <a:off x="304800" y="2743200"/>
            <a:ext cx="8610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Water web services description, translated from French to English using Google Translate:</a:t>
            </a:r>
          </a:p>
          <a:p>
            <a:endParaRPr lang="en-US" dirty="0" smtClean="0">
              <a:hlinkClick r:id="rId2"/>
            </a:endParaRPr>
          </a:p>
          <a:p>
            <a:r>
              <a:rPr lang="en-US" dirty="0" smtClean="0">
                <a:hlinkClick r:id="rId2"/>
              </a:rPr>
              <a:t>http://translate.google.com/translate?hl=en&amp;sl=fr&amp;tl=en&amp;u=http%3A%2F%2Fsandre.eaufrance.fr%2Frubrique.php3%3Fid_rubrique%3D128%26lang%3Dfr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609600" y="106680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98713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Website is the following :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linkClick r:id="rId2"/>
              </a:rPr>
              <a:t>http://sandre.eaufrance.fr/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98713" algn="l"/>
              </a:tabLst>
            </a:pPr>
            <a:endParaRPr lang="en-US" sz="200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98713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Pages concerning data dictionaries are : </a:t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linkClick r:id="rId3"/>
              </a:rPr>
              <a:t>http://sandre.eaufrance.fr/article.php3?id_article=57&amp;lang=fr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98713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Pages concerning exchange scenarios : </a:t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linkClick r:id="rId4"/>
              </a:rPr>
              <a:t>http://sandre.eaufrance.fr/rubrique.php3?id_rubrique=44&amp;lang=fr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98713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Pages concerning web services : </a:t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linkClick r:id="rId5"/>
              </a:rPr>
              <a:t>http://sandre.eaufrance.fr/rubrique.php3?id_rubrique=128&amp;lang=fr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398713" algn="l"/>
              </a:tabLst>
            </a:pPr>
            <a:endParaRPr lang="en-US" sz="2000" dirty="0"/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2398713" algn="l"/>
              </a:tabLst>
            </a:pPr>
            <a:r>
              <a:rPr lang="en-US" sz="2000" dirty="0"/>
              <a:t>M</a:t>
            </a:r>
            <a:r>
              <a:rPr lang="en-US" sz="2000" dirty="0" smtClean="0"/>
              <a:t>onitoring station description : </a:t>
            </a:r>
            <a:br>
              <a:rPr lang="en-US" sz="2000" dirty="0" smtClean="0"/>
            </a:br>
            <a:r>
              <a:rPr lang="en-US" sz="2000" dirty="0" smtClean="0">
                <a:hlinkClick r:id="rId6"/>
              </a:rPr>
              <a:t>http://xml.sandre.eaufrance.fr/scenario/quesu/1/sandre_sc_quesu.xsd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  <a:p>
            <a:pPr lvl="0" fontAlgn="base">
              <a:spcBef>
                <a:spcPct val="0"/>
              </a:spcBef>
              <a:spcAft>
                <a:spcPct val="0"/>
              </a:spcAft>
              <a:tabLst>
                <a:tab pos="2398713" algn="l"/>
              </a:tabLst>
            </a:pPr>
            <a:r>
              <a:rPr lang="en-US" sz="2000" dirty="0" smtClean="0"/>
              <a:t>Water quality data : </a:t>
            </a:r>
            <a:br>
              <a:rPr lang="en-US" sz="2000" dirty="0" smtClean="0"/>
            </a:br>
            <a:r>
              <a:rPr lang="en-US" sz="2000" dirty="0" smtClean="0">
                <a:hlinkClick r:id="rId7"/>
              </a:rPr>
              <a:t>http://xml.sandre.eaufrance.fr/scenario/sw_qu/1/sandre_sc_wsQualite.xsd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4200" y="152400"/>
            <a:ext cx="327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3"/>
                </a:solidFill>
              </a:rPr>
              <a:t>Links</a:t>
            </a:r>
            <a:endParaRPr lang="en-US" sz="4400" b="1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76200"/>
            <a:ext cx="8769668" cy="6679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le 4"/>
          <p:cNvSpPr/>
          <p:nvPr/>
        </p:nvSpPr>
        <p:spPr>
          <a:xfrm>
            <a:off x="152400" y="3657600"/>
            <a:ext cx="2971800" cy="9144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52400" y="5605632"/>
            <a:ext cx="8839200" cy="1143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4800" b="1" dirty="0" err="1" smtClean="0">
                <a:solidFill>
                  <a:schemeClr val="accent2"/>
                </a:solidFill>
              </a:rPr>
              <a:t>Sandre</a:t>
            </a:r>
            <a:r>
              <a:rPr lang="en-US" sz="4800" b="1" dirty="0" smtClean="0"/>
              <a:t> </a:t>
            </a:r>
            <a:r>
              <a:rPr lang="en-US" sz="3600" b="1" i="1" dirty="0" smtClean="0"/>
              <a:t>and</a:t>
            </a:r>
            <a:r>
              <a:rPr lang="en-US" sz="4800" b="1" dirty="0" smtClean="0"/>
              <a:t> </a:t>
            </a:r>
            <a:r>
              <a:rPr lang="en-US" sz="4800" b="1" dirty="0" smtClean="0">
                <a:solidFill>
                  <a:schemeClr val="accent5"/>
                </a:solidFill>
              </a:rPr>
              <a:t>CUAHSI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sp>
        <p:nvSpPr>
          <p:cNvPr id="4" name="Rectangle 25"/>
          <p:cNvSpPr>
            <a:spLocks noChangeArrowheads="1"/>
          </p:cNvSpPr>
          <p:nvPr/>
        </p:nvSpPr>
        <p:spPr bwMode="auto">
          <a:xfrm>
            <a:off x="5943600" y="2438400"/>
            <a:ext cx="2066986" cy="2514600"/>
          </a:xfrm>
          <a:prstGeom prst="rect">
            <a:avLst/>
          </a:prstGeom>
          <a:noFill/>
          <a:ln w="28575" algn="ctr">
            <a:solidFill>
              <a:schemeClr val="accent5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27"/>
          <p:cNvSpPr txBox="1">
            <a:spLocks noChangeArrowheads="1"/>
          </p:cNvSpPr>
          <p:nvPr/>
        </p:nvSpPr>
        <p:spPr bwMode="auto">
          <a:xfrm>
            <a:off x="6526416" y="2908768"/>
            <a:ext cx="1012311" cy="29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945" tIns="41473" rIns="82945" bIns="41473">
            <a:spAutoFit/>
          </a:bodyPr>
          <a:lstStyle/>
          <a:p>
            <a:pPr algn="ctr" defTabSz="828675" hangingPunct="0">
              <a:lnSpc>
                <a:spcPct val="87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US" sz="1600" b="1" i="1" dirty="0">
                <a:solidFill>
                  <a:schemeClr val="accent5"/>
                </a:solidFill>
                <a:ea typeface="Arial Unicode MS" pitchFamily="34" charset="-128"/>
                <a:cs typeface="Arial Unicode MS" pitchFamily="34" charset="-128"/>
              </a:rPr>
              <a:t>GetSites</a:t>
            </a:r>
          </a:p>
        </p:txBody>
      </p:sp>
      <p:sp>
        <p:nvSpPr>
          <p:cNvPr id="6" name="Text Box 28"/>
          <p:cNvSpPr txBox="1">
            <a:spLocks noChangeArrowheads="1"/>
          </p:cNvSpPr>
          <p:nvPr/>
        </p:nvSpPr>
        <p:spPr bwMode="auto">
          <a:xfrm>
            <a:off x="6357843" y="3289768"/>
            <a:ext cx="1322590" cy="29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945" tIns="41473" rIns="82945" bIns="41473">
            <a:spAutoFit/>
          </a:bodyPr>
          <a:lstStyle/>
          <a:p>
            <a:pPr algn="ctr" defTabSz="828675" hangingPunct="0">
              <a:lnSpc>
                <a:spcPct val="87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US" sz="1600" b="1" i="1" dirty="0">
                <a:solidFill>
                  <a:schemeClr val="accent5"/>
                </a:solidFill>
                <a:ea typeface="Arial Unicode MS" pitchFamily="34" charset="-128"/>
                <a:cs typeface="Arial Unicode MS" pitchFamily="34" charset="-128"/>
              </a:rPr>
              <a:t>GetSiteInfo</a:t>
            </a:r>
          </a:p>
        </p:txBody>
      </p:sp>
      <p:sp>
        <p:nvSpPr>
          <p:cNvPr id="7" name="Text Box 30"/>
          <p:cNvSpPr txBox="1">
            <a:spLocks noChangeArrowheads="1"/>
          </p:cNvSpPr>
          <p:nvPr/>
        </p:nvSpPr>
        <p:spPr bwMode="auto">
          <a:xfrm>
            <a:off x="6096000" y="3740618"/>
            <a:ext cx="1789330" cy="29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945" tIns="41473" rIns="82945" bIns="41473">
            <a:spAutoFit/>
          </a:bodyPr>
          <a:lstStyle/>
          <a:p>
            <a:pPr algn="ctr" defTabSz="828675" hangingPunct="0">
              <a:lnSpc>
                <a:spcPct val="87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US" sz="1600" b="1" i="1" dirty="0">
                <a:solidFill>
                  <a:schemeClr val="accent5"/>
                </a:solidFill>
                <a:ea typeface="Arial Unicode MS" pitchFamily="34" charset="-128"/>
                <a:cs typeface="Arial Unicode MS" pitchFamily="34" charset="-128"/>
              </a:rPr>
              <a:t>GetVariableInfo</a:t>
            </a:r>
          </a:p>
        </p:txBody>
      </p:sp>
      <p:sp>
        <p:nvSpPr>
          <p:cNvPr id="8" name="Text Box 31"/>
          <p:cNvSpPr txBox="1">
            <a:spLocks noChangeArrowheads="1"/>
          </p:cNvSpPr>
          <p:nvPr/>
        </p:nvSpPr>
        <p:spPr bwMode="auto">
          <a:xfrm>
            <a:off x="6172200" y="4419600"/>
            <a:ext cx="1591275" cy="37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945" tIns="41473" rIns="82945" bIns="41473">
            <a:spAutoFit/>
          </a:bodyPr>
          <a:lstStyle/>
          <a:p>
            <a:pPr algn="ctr" defTabSz="828675" hangingPunct="0">
              <a:lnSpc>
                <a:spcPct val="87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US" sz="2200" b="1" i="1" dirty="0">
                <a:solidFill>
                  <a:schemeClr val="accent5"/>
                </a:solidFill>
                <a:ea typeface="Arial Unicode MS" pitchFamily="34" charset="-128"/>
                <a:cs typeface="Arial Unicode MS" pitchFamily="34" charset="-128"/>
              </a:rPr>
              <a:t>GetValues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3414" y="1752600"/>
            <a:ext cx="1914451" cy="646331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WaterOneFlow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Methods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5495925"/>
            <a:ext cx="784860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27"/>
          <p:cNvSpPr txBox="1">
            <a:spLocks noChangeArrowheads="1"/>
          </p:cNvSpPr>
          <p:nvPr/>
        </p:nvSpPr>
        <p:spPr bwMode="auto">
          <a:xfrm>
            <a:off x="1883289" y="2895600"/>
            <a:ext cx="1012311" cy="29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945" tIns="41473" rIns="82945" bIns="41473">
            <a:spAutoFit/>
          </a:bodyPr>
          <a:lstStyle/>
          <a:p>
            <a:pPr algn="ctr" defTabSz="828675" hangingPunct="0">
              <a:lnSpc>
                <a:spcPct val="87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US" sz="1600" b="1" i="1" dirty="0">
                <a:solidFill>
                  <a:schemeClr val="accent2"/>
                </a:solidFill>
                <a:ea typeface="Arial Unicode MS" pitchFamily="34" charset="-128"/>
                <a:cs typeface="Arial Unicode MS" pitchFamily="34" charset="-128"/>
              </a:rPr>
              <a:t>GetSites</a:t>
            </a:r>
          </a:p>
        </p:txBody>
      </p:sp>
      <p:sp>
        <p:nvSpPr>
          <p:cNvPr id="14" name="Text Box 28"/>
          <p:cNvSpPr txBox="1">
            <a:spLocks noChangeArrowheads="1"/>
          </p:cNvSpPr>
          <p:nvPr/>
        </p:nvSpPr>
        <p:spPr bwMode="auto">
          <a:xfrm>
            <a:off x="1447800" y="3276600"/>
            <a:ext cx="1828800" cy="29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945" tIns="41473" rIns="82945" bIns="41473">
            <a:spAutoFit/>
          </a:bodyPr>
          <a:lstStyle/>
          <a:p>
            <a:pPr algn="ctr" defTabSz="828675" hangingPunct="0">
              <a:lnSpc>
                <a:spcPct val="87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US" sz="1600" b="1" i="1" dirty="0" err="1" smtClean="0">
                <a:solidFill>
                  <a:schemeClr val="accent2"/>
                </a:solidFill>
                <a:ea typeface="Arial Unicode MS" pitchFamily="34" charset="-128"/>
                <a:cs typeface="Arial Unicode MS" pitchFamily="34" charset="-128"/>
              </a:rPr>
              <a:t>GetSiteDescription</a:t>
            </a:r>
            <a:endParaRPr lang="en-US" sz="1600" b="1" i="1" dirty="0">
              <a:solidFill>
                <a:schemeClr val="accent2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5" name="Text Box 30"/>
          <p:cNvSpPr txBox="1">
            <a:spLocks noChangeArrowheads="1"/>
          </p:cNvSpPr>
          <p:nvPr/>
        </p:nvSpPr>
        <p:spPr bwMode="auto">
          <a:xfrm>
            <a:off x="1371600" y="4121618"/>
            <a:ext cx="1905000" cy="29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945" tIns="41473" rIns="82945" bIns="41473">
            <a:spAutoFit/>
          </a:bodyPr>
          <a:lstStyle/>
          <a:p>
            <a:pPr algn="ctr" defTabSz="828675" hangingPunct="0">
              <a:lnSpc>
                <a:spcPct val="87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US" sz="1600" b="1" i="1" dirty="0" err="1" smtClean="0">
                <a:solidFill>
                  <a:schemeClr val="accent2"/>
                </a:solidFill>
                <a:ea typeface="Arial Unicode MS" pitchFamily="34" charset="-128"/>
                <a:cs typeface="Arial Unicode MS" pitchFamily="34" charset="-128"/>
              </a:rPr>
              <a:t>GetDataAvailability</a:t>
            </a:r>
            <a:endParaRPr lang="en-US" sz="1600" b="1" i="1" dirty="0">
              <a:solidFill>
                <a:schemeClr val="accent2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1462893" y="4399148"/>
            <a:ext cx="1591275" cy="37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945" tIns="41473" rIns="82945" bIns="41473">
            <a:spAutoFit/>
          </a:bodyPr>
          <a:lstStyle/>
          <a:p>
            <a:pPr algn="ctr" defTabSz="828675" hangingPunct="0">
              <a:lnSpc>
                <a:spcPct val="87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US" sz="2200" b="1" i="1" dirty="0" err="1" smtClean="0">
                <a:solidFill>
                  <a:schemeClr val="accent2"/>
                </a:solidFill>
                <a:ea typeface="Arial Unicode MS" pitchFamily="34" charset="-128"/>
                <a:cs typeface="Arial Unicode MS" pitchFamily="34" charset="-128"/>
              </a:rPr>
              <a:t>GetData</a:t>
            </a:r>
            <a:endParaRPr lang="en-US" sz="2200" b="1" i="1" dirty="0">
              <a:solidFill>
                <a:schemeClr val="accent2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" name="Text Box 27"/>
          <p:cNvSpPr txBox="1">
            <a:spLocks noChangeArrowheads="1"/>
          </p:cNvSpPr>
          <p:nvPr/>
        </p:nvSpPr>
        <p:spPr bwMode="auto">
          <a:xfrm>
            <a:off x="1600200" y="2521418"/>
            <a:ext cx="1524000" cy="29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945" tIns="41473" rIns="82945" bIns="41473">
            <a:spAutoFit/>
          </a:bodyPr>
          <a:lstStyle/>
          <a:p>
            <a:pPr algn="ctr" defTabSz="828675" hangingPunct="0">
              <a:lnSpc>
                <a:spcPct val="87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US" sz="1600" b="1" i="1" dirty="0" err="1" smtClean="0">
                <a:solidFill>
                  <a:schemeClr val="accent2"/>
                </a:solidFill>
                <a:ea typeface="Arial Unicode MS" pitchFamily="34" charset="-128"/>
                <a:cs typeface="Arial Unicode MS" pitchFamily="34" charset="-128"/>
              </a:rPr>
              <a:t>GetCapabilities</a:t>
            </a:r>
            <a:endParaRPr lang="en-US" sz="1600" b="1" i="1" dirty="0">
              <a:solidFill>
                <a:schemeClr val="accent2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8" name="Text Box 27"/>
          <p:cNvSpPr txBox="1">
            <a:spLocks noChangeArrowheads="1"/>
          </p:cNvSpPr>
          <p:nvPr/>
        </p:nvSpPr>
        <p:spPr bwMode="auto">
          <a:xfrm>
            <a:off x="6248400" y="2547644"/>
            <a:ext cx="1600200" cy="271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945" tIns="41473" rIns="82945" bIns="41473">
            <a:spAutoFit/>
          </a:bodyPr>
          <a:lstStyle/>
          <a:p>
            <a:pPr algn="ctr" defTabSz="828675" hangingPunct="0">
              <a:lnSpc>
                <a:spcPct val="87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US" sz="1400" b="1" i="1" dirty="0" smtClean="0">
                <a:solidFill>
                  <a:schemeClr val="accent5"/>
                </a:solidFill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1400" b="1" i="1" dirty="0" err="1" smtClean="0">
                <a:solidFill>
                  <a:schemeClr val="accent5"/>
                </a:solidFill>
                <a:ea typeface="Arial Unicode MS" pitchFamily="34" charset="-128"/>
                <a:cs typeface="Arial Unicode MS" pitchFamily="34" charset="-128"/>
              </a:rPr>
              <a:t>GetCapabilities</a:t>
            </a:r>
            <a:r>
              <a:rPr lang="en-US" sz="1400" b="1" i="1" dirty="0" smtClean="0">
                <a:solidFill>
                  <a:schemeClr val="accent5"/>
                </a:solidFill>
                <a:ea typeface="Arial Unicode MS" pitchFamily="34" charset="-128"/>
                <a:cs typeface="Arial Unicode MS" pitchFamily="34" charset="-128"/>
              </a:rPr>
              <a:t>)</a:t>
            </a:r>
            <a:endParaRPr lang="en-US" sz="1400" b="1" i="1" dirty="0">
              <a:solidFill>
                <a:schemeClr val="accent5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1" name="Curved Right Arrow 20"/>
          <p:cNvSpPr/>
          <p:nvPr/>
        </p:nvSpPr>
        <p:spPr>
          <a:xfrm>
            <a:off x="152400" y="4038600"/>
            <a:ext cx="609600" cy="1905000"/>
          </a:xfrm>
          <a:prstGeom prst="curved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  <a:scene3d>
            <a:camera prst="orthographicFront">
              <a:rot lat="0" lon="10800000" rev="108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3276600" y="2667000"/>
            <a:ext cx="3048000" cy="1588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276600" y="3048000"/>
            <a:ext cx="3048000" cy="1588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276600" y="3429000"/>
            <a:ext cx="3048000" cy="1588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276600" y="4582758"/>
            <a:ext cx="3048000" cy="1588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5" idx="3"/>
          </p:cNvCxnSpPr>
          <p:nvPr/>
        </p:nvCxnSpPr>
        <p:spPr>
          <a:xfrm flipV="1">
            <a:off x="3276600" y="3506788"/>
            <a:ext cx="3048000" cy="763821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296"/>
            <a:ext cx="5929312" cy="6762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562600" y="152400"/>
            <a:ext cx="3429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 smtClean="0">
                <a:solidFill>
                  <a:schemeClr val="accent2"/>
                </a:solidFill>
              </a:rPr>
              <a:t>GetCapabilities</a:t>
            </a:r>
            <a:endParaRPr lang="en-US" sz="3600" b="1" dirty="0" smtClean="0">
              <a:solidFill>
                <a:schemeClr val="accent2"/>
              </a:solidFill>
            </a:endParaRPr>
          </a:p>
          <a:p>
            <a:pPr algn="ctr"/>
            <a:endParaRPr lang="en-US" sz="2400" b="1" i="1" dirty="0" smtClean="0"/>
          </a:p>
          <a:p>
            <a:pPr algn="ctr"/>
            <a:r>
              <a:rPr lang="en-US" sz="2400" b="1" i="1" dirty="0" smtClean="0"/>
              <a:t>equivalent to </a:t>
            </a:r>
          </a:p>
          <a:p>
            <a:pPr algn="ctr"/>
            <a:r>
              <a:rPr lang="en-US" sz="3600" b="1" dirty="0" err="1" smtClean="0">
                <a:solidFill>
                  <a:schemeClr val="accent5"/>
                </a:solidFill>
              </a:rPr>
              <a:t>GetCapabilities</a:t>
            </a:r>
            <a:endParaRPr lang="en-US" sz="3600" b="1" dirty="0" smtClean="0">
              <a:solidFill>
                <a:schemeClr val="accent5"/>
              </a:solidFill>
            </a:endParaRPr>
          </a:p>
          <a:p>
            <a:pPr algn="ctr"/>
            <a:r>
              <a:rPr lang="en-US" sz="2800" b="1" dirty="0" smtClean="0">
                <a:solidFill>
                  <a:schemeClr val="accent5"/>
                </a:solidFill>
              </a:rPr>
              <a:t>(in HydroExcel)</a:t>
            </a:r>
          </a:p>
          <a:p>
            <a:pPr algn="ctr"/>
            <a:endParaRPr lang="en-US" sz="2800" b="1" dirty="0">
              <a:solidFill>
                <a:schemeClr val="accent5"/>
              </a:solidFill>
            </a:endParaRPr>
          </a:p>
          <a:p>
            <a:pPr algn="ctr"/>
            <a:r>
              <a:rPr lang="en-US" sz="2400" b="1" i="1" dirty="0" smtClean="0"/>
              <a:t>and</a:t>
            </a:r>
            <a:r>
              <a:rPr lang="en-US" sz="2400" b="1" i="1" dirty="0" smtClean="0">
                <a:solidFill>
                  <a:schemeClr val="accent5"/>
                </a:solidFill>
              </a:rPr>
              <a:t> </a:t>
            </a:r>
            <a:r>
              <a:rPr lang="en-US" sz="2400" b="1" i="1" dirty="0" smtClean="0"/>
              <a:t>similar to</a:t>
            </a:r>
          </a:p>
          <a:p>
            <a:pPr algn="ctr"/>
            <a:r>
              <a:rPr lang="en-US" sz="3600" b="1" dirty="0" smtClean="0">
                <a:solidFill>
                  <a:schemeClr val="accent5"/>
                </a:solidFill>
              </a:rPr>
              <a:t>Data Sources </a:t>
            </a:r>
          </a:p>
          <a:p>
            <a:pPr algn="ctr"/>
            <a:r>
              <a:rPr lang="en-US" sz="2800" b="1" dirty="0" smtClean="0">
                <a:solidFill>
                  <a:schemeClr val="accent5"/>
                </a:solidFill>
              </a:rPr>
              <a:t>in ODM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5" y="228600"/>
            <a:ext cx="5934075" cy="602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5562600" y="152400"/>
            <a:ext cx="34290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 smtClean="0">
                <a:solidFill>
                  <a:schemeClr val="accent2"/>
                </a:solidFill>
              </a:rPr>
              <a:t>ResumeSites</a:t>
            </a:r>
            <a:endParaRPr lang="en-US" sz="3600" b="1" dirty="0" smtClean="0">
              <a:solidFill>
                <a:schemeClr val="accent2"/>
              </a:solidFill>
            </a:endParaRPr>
          </a:p>
          <a:p>
            <a:pPr algn="ctr"/>
            <a:endParaRPr lang="en-US" sz="2400" b="1" i="1" dirty="0" smtClean="0"/>
          </a:p>
          <a:p>
            <a:pPr algn="ctr"/>
            <a:r>
              <a:rPr lang="en-US" sz="2400" b="1" i="1" dirty="0" smtClean="0"/>
              <a:t>equivalent to </a:t>
            </a:r>
          </a:p>
          <a:p>
            <a:pPr algn="ctr"/>
            <a:r>
              <a:rPr lang="en-US" sz="3600" b="1" dirty="0" err="1" smtClean="0">
                <a:solidFill>
                  <a:schemeClr val="accent5"/>
                </a:solidFill>
              </a:rPr>
              <a:t>GetSites</a:t>
            </a:r>
            <a:endParaRPr lang="en-US" sz="3600" b="1" dirty="0" smtClean="0">
              <a:solidFill>
                <a:schemeClr val="accent5"/>
              </a:solidFill>
            </a:endParaRPr>
          </a:p>
          <a:p>
            <a:pPr algn="ctr"/>
            <a:endParaRPr lang="en-US" sz="2800" b="1" dirty="0">
              <a:solidFill>
                <a:schemeClr val="accent5"/>
              </a:solidFill>
            </a:endParaRPr>
          </a:p>
          <a:p>
            <a:pPr algn="ctr"/>
            <a:r>
              <a:rPr lang="en-US" sz="2400" b="1" i="1" dirty="0" smtClean="0"/>
              <a:t>and</a:t>
            </a:r>
            <a:r>
              <a:rPr lang="en-US" sz="2400" b="1" i="1" dirty="0" smtClean="0">
                <a:solidFill>
                  <a:schemeClr val="accent5"/>
                </a:solidFill>
              </a:rPr>
              <a:t> </a:t>
            </a:r>
            <a:r>
              <a:rPr lang="en-US" sz="2400" b="1" i="1" dirty="0" smtClean="0"/>
              <a:t>similar to</a:t>
            </a:r>
          </a:p>
          <a:p>
            <a:pPr algn="ctr"/>
            <a:r>
              <a:rPr lang="en-US" sz="3600" b="1" dirty="0" smtClean="0">
                <a:solidFill>
                  <a:schemeClr val="accent5"/>
                </a:solidFill>
              </a:rPr>
              <a:t>Monitoring Site Locations</a:t>
            </a:r>
          </a:p>
          <a:p>
            <a:pPr algn="ctr"/>
            <a:r>
              <a:rPr lang="en-US" sz="2800" b="1" dirty="0" smtClean="0">
                <a:solidFill>
                  <a:schemeClr val="accent5"/>
                </a:solidFill>
              </a:rPr>
              <a:t>in ODM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4146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Site Code</a:t>
            </a:r>
          </a:p>
          <a:p>
            <a:r>
              <a:rPr lang="en-US" sz="1200" dirty="0" smtClean="0"/>
              <a:t>Agency?</a:t>
            </a:r>
          </a:p>
          <a:p>
            <a:r>
              <a:rPr lang="en-US" sz="1200" dirty="0" smtClean="0"/>
              <a:t>Site name</a:t>
            </a:r>
          </a:p>
          <a:p>
            <a:r>
              <a:rPr lang="en-US" sz="1200" dirty="0" smtClean="0"/>
              <a:t>Common site name</a:t>
            </a:r>
          </a:p>
          <a:p>
            <a:r>
              <a:rPr lang="en-US" sz="1200" dirty="0" smtClean="0"/>
              <a:t>X coordinate</a:t>
            </a:r>
          </a:p>
          <a:p>
            <a:r>
              <a:rPr lang="en-US" sz="1200" dirty="0" smtClean="0"/>
              <a:t>Y coordinate</a:t>
            </a:r>
          </a:p>
          <a:p>
            <a:r>
              <a:rPr lang="en-US" sz="1200" dirty="0" smtClean="0"/>
              <a:t>Projection System</a:t>
            </a:r>
          </a:p>
          <a:p>
            <a:r>
              <a:rPr lang="en-US" sz="1200" dirty="0" smtClean="0"/>
              <a:t>Start Date</a:t>
            </a:r>
          </a:p>
          <a:p>
            <a:r>
              <a:rPr lang="en-US" sz="1200" dirty="0" smtClean="0"/>
              <a:t>End Date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6248400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Measurement code</a:t>
            </a:r>
          </a:p>
          <a:p>
            <a:r>
              <a:rPr lang="en-US" sz="1200" dirty="0" smtClean="0"/>
              <a:t>Measurement name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0" y="6248400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Commune (~city) code</a:t>
            </a:r>
          </a:p>
          <a:p>
            <a:r>
              <a:rPr lang="en-US" sz="1200" dirty="0" smtClean="0"/>
              <a:t>Commune (~city) name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52400"/>
            <a:ext cx="4514850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876800" y="152400"/>
            <a:ext cx="40386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Spatial Filter:</a:t>
            </a:r>
          </a:p>
          <a:p>
            <a:endParaRPr lang="en-US" dirty="0"/>
          </a:p>
          <a:p>
            <a:r>
              <a:rPr lang="en-US" dirty="0" smtClean="0"/>
              <a:t>By Commune (~City), Department, Region (~State), Basin, Water Body, Hydrographic Section, Hydrologic Entity, Sea, etc, by Code/Number/Type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3962400"/>
            <a:ext cx="36861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876800" y="3962400"/>
            <a:ext cx="40386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Thematic Filter:</a:t>
            </a:r>
          </a:p>
          <a:p>
            <a:endParaRPr lang="en-US" dirty="0"/>
          </a:p>
          <a:p>
            <a:r>
              <a:rPr lang="en-US" dirty="0" smtClean="0"/>
              <a:t>By Parameter Family, </a:t>
            </a:r>
            <a:r>
              <a:rPr lang="en-US" dirty="0" err="1" smtClean="0"/>
              <a:t>Sandre</a:t>
            </a:r>
            <a:r>
              <a:rPr lang="en-US" dirty="0" smtClean="0"/>
              <a:t> Collecting Entity, Site Code, Site Name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533400"/>
            <a:ext cx="312420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191000" y="457200"/>
            <a:ext cx="4038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Domain:</a:t>
            </a:r>
          </a:p>
          <a:p>
            <a:endParaRPr lang="en-US" dirty="0"/>
          </a:p>
          <a:p>
            <a:r>
              <a:rPr lang="en-US" sz="1600" dirty="0" smtClean="0"/>
              <a:t>Coastal waters</a:t>
            </a:r>
          </a:p>
          <a:p>
            <a:r>
              <a:rPr lang="en-US" sz="1600" dirty="0" smtClean="0"/>
              <a:t>Streams and rivers</a:t>
            </a:r>
          </a:p>
          <a:p>
            <a:r>
              <a:rPr lang="en-US" sz="1600" dirty="0" smtClean="0"/>
              <a:t>Water bodies</a:t>
            </a:r>
          </a:p>
          <a:p>
            <a:r>
              <a:rPr lang="en-US" sz="1600" dirty="0" smtClean="0"/>
              <a:t>Groundwater</a:t>
            </a:r>
          </a:p>
          <a:p>
            <a:r>
              <a:rPr lang="en-US" sz="1600" dirty="0" smtClean="0"/>
              <a:t>Atmospheric water (not in this version)</a:t>
            </a:r>
          </a:p>
          <a:p>
            <a:endParaRPr lang="en-US" dirty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4114800"/>
            <a:ext cx="31718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114800" y="4038600"/>
            <a:ext cx="4038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Temporal Filter:</a:t>
            </a:r>
          </a:p>
          <a:p>
            <a:endParaRPr lang="en-US" dirty="0"/>
          </a:p>
          <a:p>
            <a:r>
              <a:rPr lang="en-US" sz="1600" dirty="0" smtClean="0"/>
              <a:t>Start Date</a:t>
            </a:r>
          </a:p>
          <a:p>
            <a:r>
              <a:rPr lang="en-US" sz="1600" dirty="0" smtClean="0"/>
              <a:t>End Date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457200"/>
            <a:ext cx="3152775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267200" y="381000"/>
            <a:ext cx="40386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Analytic Filter:</a:t>
            </a:r>
          </a:p>
          <a:p>
            <a:endParaRPr lang="en-US" dirty="0"/>
          </a:p>
          <a:p>
            <a:r>
              <a:rPr lang="en-US" sz="1600" dirty="0" smtClean="0"/>
              <a:t>Parameter Family Code</a:t>
            </a:r>
          </a:p>
          <a:p>
            <a:r>
              <a:rPr lang="en-US" sz="1600" dirty="0" smtClean="0"/>
              <a:t>Parameter Code</a:t>
            </a:r>
          </a:p>
          <a:p>
            <a:r>
              <a:rPr lang="en-US" sz="1600" dirty="0" smtClean="0"/>
              <a:t>Support Code?</a:t>
            </a:r>
          </a:p>
          <a:p>
            <a:r>
              <a:rPr lang="en-US" sz="1600" dirty="0" err="1" smtClean="0"/>
              <a:t>Taxa</a:t>
            </a:r>
            <a:r>
              <a:rPr lang="en-US" sz="1600" dirty="0" smtClean="0"/>
              <a:t> Code</a:t>
            </a:r>
          </a:p>
          <a:p>
            <a:r>
              <a:rPr lang="en-US" sz="1600" dirty="0" smtClean="0"/>
              <a:t>Taxonomic Family Code</a:t>
            </a:r>
          </a:p>
          <a:p>
            <a:r>
              <a:rPr lang="en-US" sz="1600" dirty="0" smtClean="0"/>
              <a:t>Type of Biological Sample</a:t>
            </a:r>
            <a:endParaRPr lang="en-US" sz="16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3886200"/>
            <a:ext cx="436245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105400" y="3581400"/>
            <a:ext cx="35052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Thematic Data Filter:</a:t>
            </a:r>
          </a:p>
          <a:p>
            <a:endParaRPr lang="en-US" dirty="0"/>
          </a:p>
          <a:p>
            <a:r>
              <a:rPr lang="en-US" sz="1600" dirty="0" smtClean="0"/>
              <a:t>Measuring Device Code</a:t>
            </a:r>
          </a:p>
          <a:p>
            <a:r>
              <a:rPr lang="en-US" sz="1600" dirty="0" smtClean="0"/>
              <a:t>Analytical Result Quantification?</a:t>
            </a:r>
          </a:p>
          <a:p>
            <a:r>
              <a:rPr lang="en-US" sz="1600" dirty="0" smtClean="0"/>
              <a:t>Result Status</a:t>
            </a:r>
          </a:p>
          <a:p>
            <a:r>
              <a:rPr lang="en-US" sz="1600" dirty="0" smtClean="0"/>
              <a:t>Code involved?</a:t>
            </a:r>
          </a:p>
          <a:p>
            <a:r>
              <a:rPr lang="en-US" sz="1600" dirty="0" smtClean="0"/>
              <a:t>Agency Schema?</a:t>
            </a:r>
          </a:p>
          <a:p>
            <a:r>
              <a:rPr lang="en-US" sz="1600" dirty="0" smtClean="0"/>
              <a:t>Role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407" y="0"/>
            <a:ext cx="565379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943600" y="152400"/>
            <a:ext cx="31242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Aquatic Biology:</a:t>
            </a:r>
          </a:p>
          <a:p>
            <a:endParaRPr lang="en-US" dirty="0"/>
          </a:p>
          <a:p>
            <a:endParaRPr lang="en-US" sz="1200" dirty="0" smtClean="0"/>
          </a:p>
          <a:p>
            <a:endParaRPr lang="en-US" sz="1200" dirty="0"/>
          </a:p>
          <a:p>
            <a:endParaRPr lang="en-US" sz="1200" dirty="0" smtClean="0"/>
          </a:p>
          <a:p>
            <a:r>
              <a:rPr lang="en-US" sz="1200" dirty="0" smtClean="0"/>
              <a:t>0  Unknown</a:t>
            </a:r>
          </a:p>
          <a:p>
            <a:r>
              <a:rPr lang="en-US" sz="1200" dirty="0" smtClean="0"/>
              <a:t>1  Macrophytes (longitudinal transect) (plants)</a:t>
            </a:r>
          </a:p>
          <a:p>
            <a:r>
              <a:rPr lang="en-US" sz="1200" dirty="0" smtClean="0"/>
              <a:t>2  Macrophytes (transverse transect)</a:t>
            </a:r>
          </a:p>
          <a:p>
            <a:r>
              <a:rPr lang="en-US" sz="1200" dirty="0" smtClean="0"/>
              <a:t>3  Macroinvertebrates (animals)</a:t>
            </a:r>
          </a:p>
          <a:p>
            <a:r>
              <a:rPr lang="en-US" sz="1200" dirty="0" smtClean="0"/>
              <a:t>4  Phytoplankton (drifting organisms)</a:t>
            </a:r>
          </a:p>
          <a:p>
            <a:r>
              <a:rPr lang="en-US" sz="1200" dirty="0" smtClean="0"/>
              <a:t>5  </a:t>
            </a:r>
            <a:r>
              <a:rPr lang="en-US" sz="1200" dirty="0" err="1" smtClean="0"/>
              <a:t>Phytobenthos</a:t>
            </a:r>
            <a:r>
              <a:rPr lang="en-US" sz="1200" dirty="0" smtClean="0"/>
              <a:t> (benthic plants)</a:t>
            </a:r>
          </a:p>
          <a:p>
            <a:r>
              <a:rPr lang="en-US" sz="1200" dirty="0" smtClean="0"/>
              <a:t>6  </a:t>
            </a:r>
            <a:r>
              <a:rPr lang="en-US" sz="1200" dirty="0" err="1" smtClean="0"/>
              <a:t>Oligochetes</a:t>
            </a:r>
            <a:r>
              <a:rPr lang="en-US" sz="1200" dirty="0" smtClean="0"/>
              <a:t> (worms)</a:t>
            </a:r>
          </a:p>
          <a:p>
            <a:r>
              <a:rPr lang="en-US" sz="1200" dirty="0" smtClean="0"/>
              <a:t>7  Mollusks (snails, clams, squid, etc)</a:t>
            </a:r>
          </a:p>
          <a:p>
            <a:r>
              <a:rPr lang="en-US" sz="1200" dirty="0" smtClean="0"/>
              <a:t>8  Diatoms (algae)</a:t>
            </a:r>
          </a:p>
          <a:p>
            <a:r>
              <a:rPr lang="en-US" sz="1200" dirty="0" smtClean="0"/>
              <a:t>9  Macrophytes (plants)</a:t>
            </a:r>
          </a:p>
          <a:p>
            <a:r>
              <a:rPr lang="en-US" sz="1200" dirty="0" smtClean="0"/>
              <a:t>10  Zooplankton (drifting animals)</a:t>
            </a:r>
          </a:p>
          <a:p>
            <a:r>
              <a:rPr lang="en-US" sz="1200" dirty="0" smtClean="0"/>
              <a:t>100  Physicochemical</a:t>
            </a:r>
          </a:p>
          <a:p>
            <a:r>
              <a:rPr lang="en-US" sz="1200" dirty="0" smtClean="0"/>
              <a:t>101  Fish</a:t>
            </a:r>
          </a:p>
          <a:p>
            <a:endParaRPr lang="en-US" sz="1200" dirty="0" smtClean="0"/>
          </a:p>
          <a:p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314</Words>
  <Application>Microsoft Office PowerPoint</Application>
  <PresentationFormat>On-screen Show (4:3)</PresentationFormat>
  <Paragraphs>110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EauFrance/Sandre –  Water Web Services</vt:lpstr>
      <vt:lpstr>Slide 2</vt:lpstr>
      <vt:lpstr>Slide 3</vt:lpstr>
      <vt:lpstr>Sandre and CUAHSI</vt:lpstr>
      <vt:lpstr>Slide 5</vt:lpstr>
      <vt:lpstr>Slide 6</vt:lpstr>
      <vt:lpstr>Slide 7</vt:lpstr>
      <vt:lpstr>Slide 8</vt:lpstr>
      <vt:lpstr>Slide 9</vt:lpstr>
      <vt:lpstr>Slide 10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EauFrance/Sandre –  Water Web Services</dc:title>
  <dc:creator>Eric S. Hersh</dc:creator>
  <cp:lastModifiedBy>Eric S. Hersh</cp:lastModifiedBy>
  <cp:revision>21</cp:revision>
  <dcterms:created xsi:type="dcterms:W3CDTF">2009-09-11T16:18:49Z</dcterms:created>
  <dcterms:modified xsi:type="dcterms:W3CDTF">2009-09-16T18:17:34Z</dcterms:modified>
</cp:coreProperties>
</file>