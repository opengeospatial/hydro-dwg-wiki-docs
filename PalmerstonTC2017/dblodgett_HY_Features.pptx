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  <p:sldMasterId id="2147483684" r:id="rId3"/>
  </p:sldMasterIdLst>
  <p:notesMasterIdLst>
    <p:notesMasterId r:id="rId16"/>
  </p:notesMasterIdLst>
  <p:sldIdLst>
    <p:sldId id="283" r:id="rId4"/>
    <p:sldId id="264" r:id="rId5"/>
    <p:sldId id="307" r:id="rId6"/>
    <p:sldId id="306" r:id="rId7"/>
    <p:sldId id="265" r:id="rId8"/>
    <p:sldId id="282" r:id="rId9"/>
    <p:sldId id="266" r:id="rId10"/>
    <p:sldId id="267" r:id="rId11"/>
    <p:sldId id="268" r:id="rId12"/>
    <p:sldId id="269" r:id="rId13"/>
    <p:sldId id="296" r:id="rId14"/>
    <p:sldId id="29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7"/>
    <p:restoredTop sz="72169"/>
  </p:normalViewPr>
  <p:slideViewPr>
    <p:cSldViewPr snapToGrid="0" snapToObjects="1">
      <p:cViewPr varScale="1">
        <p:scale>
          <a:sx n="89" d="100"/>
          <a:sy n="89" d="100"/>
        </p:scale>
        <p:origin x="181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20" Type="http://schemas.openxmlformats.org/officeDocument/2006/relationships/tableStyles" Target="tableStyles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1A50F-AE41-C945-9F03-E3AB649C46BF}" type="datetimeFigureOut">
              <a:rPr lang="en-US" smtClean="0"/>
              <a:t>12/3/17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09A670-BD5E-D143-B033-50C33C176B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46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09A670-BD5E-D143-B033-50C33C176B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496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Note the nature of these standards </a:t>
            </a:r>
            <a:r>
              <a:rPr lang="mr-IN" dirty="0" smtClean="0"/>
              <a:t>–</a:t>
            </a:r>
            <a:r>
              <a:rPr lang="en-US" dirty="0" smtClean="0"/>
              <a:t> some are conceptual models with XML</a:t>
            </a:r>
            <a:r>
              <a:rPr lang="en-US" baseline="0" dirty="0" smtClean="0"/>
              <a:t> schema, </a:t>
            </a:r>
            <a:r>
              <a:rPr lang="en-US" baseline="0" dirty="0" err="1" smtClean="0"/>
              <a:t>HY_Features</a:t>
            </a:r>
            <a:r>
              <a:rPr lang="en-US" baseline="0" dirty="0" smtClean="0"/>
              <a:t> is a conceptual model with no encoding.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051F01-34EE-4C5C-955A-7F8BEA0B1820}" type="slidenum">
              <a:rPr lang="en-GB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86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09A670-BD5E-D143-B033-50C33C176B5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4655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</a:t>
            </a:r>
            <a:r>
              <a:rPr lang="en-US" baseline="0" dirty="0" smtClean="0"/>
              <a:t> need a lingua franca for description and identification of hydrologic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09A670-BD5E-D143-B033-50C33C176B5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6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Jumping right in, note that the terms used here</a:t>
            </a:r>
            <a:r>
              <a:rPr lang="en-US" baseline="0" dirty="0" smtClean="0"/>
              <a:t> are chosen quite carefully to </a:t>
            </a:r>
            <a:r>
              <a:rPr lang="en-US" baseline="0" dirty="0" err="1" smtClean="0"/>
              <a:t>allign</a:t>
            </a:r>
            <a:r>
              <a:rPr lang="en-US" baseline="0" dirty="0" smtClean="0"/>
              <a:t> with the </a:t>
            </a:r>
            <a:r>
              <a:rPr lang="en-US" baseline="0" dirty="0" err="1" smtClean="0"/>
              <a:t>HY_Features</a:t>
            </a:r>
            <a:r>
              <a:rPr lang="en-US" baseline="0" dirty="0" smtClean="0"/>
              <a:t>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09A670-BD5E-D143-B033-50C33C176B5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79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 is a bit of an</a:t>
            </a:r>
            <a:r>
              <a:rPr lang="en-US" baseline="0" dirty="0" smtClean="0"/>
              <a:t> oversimplification, but it is basically true. There is a small divergence that flows into the Columbia further downstream but the main channel combines here. </a:t>
            </a:r>
          </a:p>
          <a:p>
            <a:endParaRPr lang="en-US" baseline="0" dirty="0" smtClean="0"/>
          </a:p>
          <a:p>
            <a:r>
              <a:rPr lang="en-US" baseline="0" dirty="0" smtClean="0"/>
              <a:t>It is very important to consider what information is NOT being conveyed here. No topology other than flows into, no geometry, only catchment names and place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09A670-BD5E-D143-B033-50C33C176B5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04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 slide is about the distinction between these kinds</a:t>
            </a:r>
            <a:r>
              <a:rPr lang="en-US" baseline="0" dirty="0" smtClean="0"/>
              <a:t> of realization </a:t>
            </a:r>
            <a:r>
              <a:rPr lang="mr-IN" baseline="0" dirty="0" smtClean="0"/>
              <a:t>–</a:t>
            </a:r>
            <a:r>
              <a:rPr lang="en-US" baseline="0" dirty="0" smtClean="0"/>
              <a:t> not about the particulars of the graphics. </a:t>
            </a:r>
            <a:r>
              <a:rPr lang="en-US" dirty="0" smtClean="0"/>
              <a:t>It’s nearly impossible to illustrate the idea of realization</a:t>
            </a:r>
            <a:r>
              <a:rPr lang="en-US" baseline="0" dirty="0" smtClean="0"/>
              <a:t> without an example representation of the realizations in question. The point here is that we have these three (and other) abstract ways of modeling (realizing) a catchment.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09A670-BD5E-D143-B033-50C33C176B5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160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a given realization (we have divide here) there are potentially</a:t>
            </a:r>
            <a:r>
              <a:rPr lang="en-US" baseline="0" dirty="0" smtClean="0"/>
              <a:t> multiple representations. In this case, the WBD and </a:t>
            </a:r>
            <a:r>
              <a:rPr lang="en-US" baseline="0" dirty="0" err="1" smtClean="0"/>
              <a:t>NHDPlus</a:t>
            </a:r>
            <a:r>
              <a:rPr lang="en-US" baseline="0" dirty="0" smtClean="0"/>
              <a:t> have differing representations. That is, they’ve modeled the drainage divide of this catchment’s divide realization slightly differently.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09A670-BD5E-D143-B033-50C33C176B5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07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tiff"/><Relationship Id="rId5" Type="http://schemas.openxmlformats.org/officeDocument/2006/relationships/image" Target="../media/image8.tiff"/><Relationship Id="rId6" Type="http://schemas.openxmlformats.org/officeDocument/2006/relationships/image" Target="../media/image9.tiff"/><Relationship Id="rId7" Type="http://schemas.openxmlformats.org/officeDocument/2006/relationships/image" Target="../media/image10.tiff"/><Relationship Id="rId8" Type="http://schemas.openxmlformats.org/officeDocument/2006/relationships/image" Target="../media/image11.tiff"/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404814" y="6083301"/>
            <a:ext cx="2039199" cy="397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8887" tIns="44444" rIns="88887" bIns="44444">
            <a:spAutoFit/>
          </a:bodyPr>
          <a:lstStyle/>
          <a:p>
            <a:pPr defTabSz="885689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00" b="1">
                <a:solidFill>
                  <a:srgbClr val="FFFFFF"/>
                </a:solidFill>
                <a:latin typeface="Arial" charset="0"/>
                <a:ea typeface="ＭＳ Ｐゴシック" charset="0"/>
                <a:cs typeface="ＭＳ Ｐゴシック" charset="-128"/>
              </a:rPr>
              <a:t>U.S. Department of the Interior</a:t>
            </a:r>
          </a:p>
          <a:p>
            <a:pPr defTabSz="885689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00" b="1">
                <a:solidFill>
                  <a:srgbClr val="FFFFFF"/>
                </a:solidFill>
                <a:latin typeface="Arial" charset="0"/>
                <a:ea typeface="ＭＳ Ｐゴシック" charset="0"/>
                <a:cs typeface="ＭＳ Ｐゴシック" charset="-128"/>
              </a:rPr>
              <a:t>U.S. Geological Survey</a:t>
            </a:r>
          </a:p>
        </p:txBody>
      </p:sp>
      <p:pic>
        <p:nvPicPr>
          <p:cNvPr id="5" name="Picture 9" descr="D:\Vugraph Info\Vugraph Templates\Templates-NEW-NMP and Bureau\ident_4_onscreen_png.png"/>
          <p:cNvPicPr>
            <a:picLocks noChangeAspect="1" noChangeArrowheads="1"/>
          </p:cNvPicPr>
          <p:nvPr/>
        </p:nvPicPr>
        <p:blipFill>
          <a:blip r:embed="rId2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black">
          <a:xfrm>
            <a:off x="457200" y="461966"/>
            <a:ext cx="2057400" cy="75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4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2286000"/>
            <a:ext cx="8305800" cy="1143000"/>
          </a:xfrm>
        </p:spPr>
        <p:txBody>
          <a:bodyPr/>
          <a:lstStyle>
            <a:lvl1pPr>
              <a:defRPr sz="4400"/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3886200"/>
            <a:ext cx="8305800" cy="17526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64962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84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6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30" indent="0">
              <a:buNone/>
              <a:defRPr sz="1800"/>
            </a:lvl2pPr>
            <a:lvl3pPr marL="914259" indent="0">
              <a:buNone/>
              <a:defRPr sz="1600"/>
            </a:lvl3pPr>
            <a:lvl4pPr marL="1371390" indent="0">
              <a:buNone/>
              <a:defRPr sz="1400"/>
            </a:lvl4pPr>
            <a:lvl5pPr marL="1828519" indent="0">
              <a:buNone/>
              <a:defRPr sz="1400"/>
            </a:lvl5pPr>
            <a:lvl6pPr marL="2285649" indent="0">
              <a:buNone/>
              <a:defRPr sz="1400"/>
            </a:lvl6pPr>
            <a:lvl7pPr marL="2742780" indent="0">
              <a:buNone/>
              <a:defRPr sz="1400"/>
            </a:lvl7pPr>
            <a:lvl8pPr marL="3199908" indent="0">
              <a:buNone/>
              <a:defRPr sz="1400"/>
            </a:lvl8pPr>
            <a:lvl9pPr marL="3657039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8022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40767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0767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01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0" indent="0">
              <a:buNone/>
              <a:defRPr sz="2000" b="1"/>
            </a:lvl2pPr>
            <a:lvl3pPr marL="914259" indent="0">
              <a:buNone/>
              <a:defRPr sz="1800" b="1"/>
            </a:lvl3pPr>
            <a:lvl4pPr marL="1371390" indent="0">
              <a:buNone/>
              <a:defRPr sz="1600" b="1"/>
            </a:lvl4pPr>
            <a:lvl5pPr marL="1828519" indent="0">
              <a:buNone/>
              <a:defRPr sz="1600" b="1"/>
            </a:lvl5pPr>
            <a:lvl6pPr marL="2285649" indent="0">
              <a:buNone/>
              <a:defRPr sz="1600" b="1"/>
            </a:lvl6pPr>
            <a:lvl7pPr marL="2742780" indent="0">
              <a:buNone/>
              <a:defRPr sz="1600" b="1"/>
            </a:lvl7pPr>
            <a:lvl8pPr marL="3199908" indent="0">
              <a:buNone/>
              <a:defRPr sz="1600" b="1"/>
            </a:lvl8pPr>
            <a:lvl9pPr marL="365703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0" indent="0">
              <a:buNone/>
              <a:defRPr sz="2000" b="1"/>
            </a:lvl2pPr>
            <a:lvl3pPr marL="914259" indent="0">
              <a:buNone/>
              <a:defRPr sz="1800" b="1"/>
            </a:lvl3pPr>
            <a:lvl4pPr marL="1371390" indent="0">
              <a:buNone/>
              <a:defRPr sz="1600" b="1"/>
            </a:lvl4pPr>
            <a:lvl5pPr marL="1828519" indent="0">
              <a:buNone/>
              <a:defRPr sz="1600" b="1"/>
            </a:lvl5pPr>
            <a:lvl6pPr marL="2285649" indent="0">
              <a:buNone/>
              <a:defRPr sz="1600" b="1"/>
            </a:lvl6pPr>
            <a:lvl7pPr marL="2742780" indent="0">
              <a:buNone/>
              <a:defRPr sz="1600" b="1"/>
            </a:lvl7pPr>
            <a:lvl8pPr marL="3199908" indent="0">
              <a:buNone/>
              <a:defRPr sz="1600" b="1"/>
            </a:lvl8pPr>
            <a:lvl9pPr marL="365703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224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29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560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30" indent="0">
              <a:buNone/>
              <a:defRPr sz="1200"/>
            </a:lvl2pPr>
            <a:lvl3pPr marL="914259" indent="0">
              <a:buNone/>
              <a:defRPr sz="1000"/>
            </a:lvl3pPr>
            <a:lvl4pPr marL="1371390" indent="0">
              <a:buNone/>
              <a:defRPr sz="900"/>
            </a:lvl4pPr>
            <a:lvl5pPr marL="1828519" indent="0">
              <a:buNone/>
              <a:defRPr sz="900"/>
            </a:lvl5pPr>
            <a:lvl6pPr marL="2285649" indent="0">
              <a:buNone/>
              <a:defRPr sz="900"/>
            </a:lvl6pPr>
            <a:lvl7pPr marL="2742780" indent="0">
              <a:buNone/>
              <a:defRPr sz="900"/>
            </a:lvl7pPr>
            <a:lvl8pPr marL="3199908" indent="0">
              <a:buNone/>
              <a:defRPr sz="900"/>
            </a:lvl8pPr>
            <a:lvl9pPr marL="3657039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2912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30" indent="0">
              <a:buNone/>
              <a:defRPr sz="2800"/>
            </a:lvl2pPr>
            <a:lvl3pPr marL="914259" indent="0">
              <a:buNone/>
              <a:defRPr sz="2400"/>
            </a:lvl3pPr>
            <a:lvl4pPr marL="1371390" indent="0">
              <a:buNone/>
              <a:defRPr sz="2000"/>
            </a:lvl4pPr>
            <a:lvl5pPr marL="1828519" indent="0">
              <a:buNone/>
              <a:defRPr sz="2000"/>
            </a:lvl5pPr>
            <a:lvl6pPr marL="2285649" indent="0">
              <a:buNone/>
              <a:defRPr sz="2000"/>
            </a:lvl6pPr>
            <a:lvl7pPr marL="2742780" indent="0">
              <a:buNone/>
              <a:defRPr sz="2000"/>
            </a:lvl7pPr>
            <a:lvl8pPr marL="3199908" indent="0">
              <a:buNone/>
              <a:defRPr sz="2000"/>
            </a:lvl8pPr>
            <a:lvl9pPr marL="3657039" indent="0">
              <a:buNone/>
              <a:defRPr sz="2000"/>
            </a:lvl9pPr>
          </a:lstStyle>
          <a:p>
            <a:pPr lvl="0"/>
            <a:r>
              <a:rPr lang="en-US" noProof="0" smtClean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30" indent="0">
              <a:buNone/>
              <a:defRPr sz="1200"/>
            </a:lvl2pPr>
            <a:lvl3pPr marL="914259" indent="0">
              <a:buNone/>
              <a:defRPr sz="1000"/>
            </a:lvl3pPr>
            <a:lvl4pPr marL="1371390" indent="0">
              <a:buNone/>
              <a:defRPr sz="900"/>
            </a:lvl4pPr>
            <a:lvl5pPr marL="1828519" indent="0">
              <a:buNone/>
              <a:defRPr sz="900"/>
            </a:lvl5pPr>
            <a:lvl6pPr marL="2285649" indent="0">
              <a:buNone/>
              <a:defRPr sz="900"/>
            </a:lvl6pPr>
            <a:lvl7pPr marL="2742780" indent="0">
              <a:buNone/>
              <a:defRPr sz="900"/>
            </a:lvl7pPr>
            <a:lvl8pPr marL="3199908" indent="0">
              <a:buNone/>
              <a:defRPr sz="900"/>
            </a:lvl8pPr>
            <a:lvl9pPr marL="3657039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4670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066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152400"/>
            <a:ext cx="2076450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07695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609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F8AB36FB-2821-4605-99FD-4619310A020B}" type="datetime1">
              <a:rPr lang="en-GB"/>
              <a:pPr>
                <a:defRPr/>
              </a:pPr>
              <a:t>03/12/2017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</p:spTree>
    <p:extLst/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BA22C867-C22E-4754-81A7-E0EEF1D3A57C}" type="datetime1">
              <a:rPr lang="en-GB"/>
              <a:pPr>
                <a:defRPr/>
              </a:pPr>
              <a:t>03/12/2017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</p:spTree>
    <p:extLst/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1C33763D-F0CA-45F0-8FED-A96FB84EC3D6}" type="datetime1">
              <a:rPr lang="en-GB"/>
              <a:pPr>
                <a:defRPr/>
              </a:pPr>
              <a:t>03/12/2017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8579C470-7F4B-4806-B818-14613218D196}" type="slidenum">
              <a:rPr lang="en-GB">
                <a:solidFill>
                  <a:srgbClr val="000000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/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47EE6D58-24F0-4820-A003-3BCDF39B2FDF}" type="datetime1">
              <a:rPr lang="en-GB"/>
              <a:pPr>
                <a:defRPr/>
              </a:pPr>
              <a:t>03/12/2017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90682B35-AD0E-4469-837B-ADF616699019}" type="slidenum">
              <a:rPr lang="en-GB">
                <a:solidFill>
                  <a:srgbClr val="000000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/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A02DF2B4-C32F-4877-9494-B9A0BF6392DA}" type="datetime1">
              <a:rPr lang="en-GB"/>
              <a:pPr>
                <a:defRPr/>
              </a:pPr>
              <a:t>03/12/2017</a:t>
            </a:fld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533ECD94-67D7-4A2C-B6DB-FD8DD087110D}" type="slidenum">
              <a:rPr lang="en-GB">
                <a:solidFill>
                  <a:srgbClr val="000000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/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7519FEBF-4983-444F-8A83-B2C2D35D227F}" type="datetime1">
              <a:rPr lang="en-GB"/>
              <a:pPr>
                <a:defRPr/>
              </a:pPr>
              <a:t>03/12/2017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7C9D8986-C530-4D59-8C8A-212DE80876CD}" type="slidenum">
              <a:rPr lang="en-GB">
                <a:solidFill>
                  <a:srgbClr val="000000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/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C1FC57EB-AA14-432F-BC49-F838223CF465}" type="datetime1">
              <a:rPr lang="en-GB"/>
              <a:pPr>
                <a:defRPr/>
              </a:pPr>
              <a:t>03/12/2017</a:t>
            </a:fld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3BE5E1B8-E1EA-4035-BEA1-DAA38DD3A5E6}" type="slidenum">
              <a:rPr lang="en-GB">
                <a:solidFill>
                  <a:srgbClr val="000000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/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4D810332-8693-4A5C-B0A0-9BC6A33292B8}" type="datetime1">
              <a:rPr lang="en-GB"/>
              <a:pPr>
                <a:defRPr/>
              </a:pPr>
              <a:t>03/12/2017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E5B8CDB3-C5F1-43F6-941B-7229598B94B8}" type="slidenum">
              <a:rPr lang="en-GB">
                <a:solidFill>
                  <a:srgbClr val="000000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/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197350F4-4FF4-4A4D-8E78-8EA80586E666}" type="datetime1">
              <a:rPr lang="en-GB"/>
              <a:pPr>
                <a:defRPr/>
              </a:pPr>
              <a:t>03/12/2017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F03713B8-542A-4299-9891-2CE5FE12FF4C}" type="slidenum">
              <a:rPr lang="en-GB">
                <a:solidFill>
                  <a:srgbClr val="000000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/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C110AD65-1A73-4C8A-8006-BFA10DA19E32}" type="datetime1">
              <a:rPr lang="en-GB"/>
              <a:pPr>
                <a:defRPr/>
              </a:pPr>
              <a:t>03/12/2017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DE6D320C-68CF-4EFB-82E7-A9B9F3E70BB0}" type="slidenum">
              <a:rPr lang="en-GB">
                <a:solidFill>
                  <a:srgbClr val="000000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/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58369FA2-0200-41B8-89DC-EDA4FE3817DE}" type="datetime1">
              <a:rPr lang="en-GB"/>
              <a:pPr>
                <a:defRPr/>
              </a:pPr>
              <a:t>03/12/2017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FD50DE84-48AF-4B31-83D8-F5A85BC0129C}" type="slidenum">
              <a:rPr lang="en-GB">
                <a:solidFill>
                  <a:srgbClr val="000000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/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800" smtClean="0">
                <a:solidFill>
                  <a:srgbClr val="FFFFFF"/>
                </a:solidFill>
                <a:latin typeface="Arial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904" y="2316458"/>
            <a:ext cx="2743200" cy="6629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2870" y="2353390"/>
            <a:ext cx="2738377" cy="5882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8615" y="2089507"/>
            <a:ext cx="2235200" cy="1117600"/>
          </a:xfrm>
          <a:prstGeom prst="rect">
            <a:avLst/>
          </a:prstGeom>
        </p:spPr>
      </p:pic>
      <p:sp>
        <p:nvSpPr>
          <p:cNvPr id="15" name="Text Box 5"/>
          <p:cNvSpPr txBox="1">
            <a:spLocks noChangeArrowheads="1"/>
          </p:cNvSpPr>
          <p:nvPr userDrawn="1"/>
        </p:nvSpPr>
        <p:spPr bwMode="auto">
          <a:xfrm>
            <a:off x="7099324" y="997538"/>
            <a:ext cx="1166986" cy="246221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>
                <a:solidFill>
                  <a:prstClr val="black"/>
                </a:solidFill>
                <a:latin typeface="Arial" charset="0"/>
              </a:rPr>
              <a:t>Supporting Partner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93806" y="1245504"/>
            <a:ext cx="2387159" cy="70939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3200" y="1066800"/>
            <a:ext cx="2631735" cy="1038346"/>
          </a:xfrm>
          <a:prstGeom prst="rect">
            <a:avLst/>
          </a:prstGeom>
        </p:spPr>
      </p:pic>
      <p:sp>
        <p:nvSpPr>
          <p:cNvPr id="11" name="Text Box 5"/>
          <p:cNvSpPr txBox="1">
            <a:spLocks noChangeArrowheads="1"/>
          </p:cNvSpPr>
          <p:nvPr userDrawn="1"/>
        </p:nvSpPr>
        <p:spPr bwMode="auto">
          <a:xfrm>
            <a:off x="4093561" y="2018424"/>
            <a:ext cx="1109278" cy="246221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>
                <a:solidFill>
                  <a:prstClr val="black"/>
                </a:solidFill>
                <a:latin typeface="Arial" charset="0"/>
              </a:rPr>
              <a:t>Meeting Sponsors</a:t>
            </a:r>
          </a:p>
        </p:txBody>
      </p:sp>
      <p:sp>
        <p:nvSpPr>
          <p:cNvPr id="8" name="Text Box 5"/>
          <p:cNvSpPr txBox="1">
            <a:spLocks noChangeArrowheads="1"/>
          </p:cNvSpPr>
          <p:nvPr userDrawn="1"/>
        </p:nvSpPr>
        <p:spPr bwMode="auto">
          <a:xfrm>
            <a:off x="3843492" y="997538"/>
            <a:ext cx="804708" cy="246221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>
                <a:solidFill>
                  <a:prstClr val="black"/>
                </a:solidFill>
                <a:latin typeface="Arial" charset="0"/>
              </a:rPr>
              <a:t>Meeting Host</a:t>
            </a:r>
          </a:p>
        </p:txBody>
      </p:sp>
    </p:spTree>
    <p:extLst/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9BF124-AF04-5448-81DF-7A81BF3CA4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/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96FCB-D23A-A24C-9D82-3F41F4AC5D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/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66CF4-B06C-C644-947A-3193A300C1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/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6F97B-9CFF-B245-85B9-914B1C89C3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/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45999-4989-CE46-9052-5F6CD8C2D6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/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E257F-3AC2-0942-956E-433F540C01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/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35DC85-1E39-6F45-8D26-88CB57EE5C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/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941DA-054F-A74C-AF1A-5876988B7C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/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F5C08-9863-464B-8ADE-A89BC41090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/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3E5D2-22FF-DE40-BB45-5904AFD691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/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3.jpeg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3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F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305800" cy="11430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4" tIns="44444" rIns="90474" bIns="444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71600"/>
            <a:ext cx="8305800" cy="44958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4" tIns="44444" rIns="90474" bIns="444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First level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11" descr="D:\Vugraph Info\Vugraph Templates\Templates-NEW-NMP and Bureau\ident-small_4_onscreen_png.png"/>
          <p:cNvPicPr>
            <a:picLocks noChangeAspect="1" noChangeArrowheads="1"/>
          </p:cNvPicPr>
          <p:nvPr/>
        </p:nvPicPr>
        <p:blipFill>
          <a:blip r:embed="rId13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black">
          <a:xfrm>
            <a:off x="457200" y="6094415"/>
            <a:ext cx="1143000" cy="42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03165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+mj-lt"/>
          <a:ea typeface="+mj-ea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  <a:cs typeface="ＭＳ Ｐゴシック" charset="0"/>
        </a:defRPr>
      </a:lvl5pPr>
      <a:lvl6pPr marL="45713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</a:defRPr>
      </a:lvl6pPr>
      <a:lvl7pPr marL="914259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</a:defRPr>
      </a:lvl7pPr>
      <a:lvl8pPr marL="1371390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</a:defRPr>
      </a:lvl8pPr>
      <a:lvl9pPr marL="1828519"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FFFF99"/>
          </a:solidFill>
          <a:latin typeface="Arial" charset="0"/>
          <a:ea typeface="ＭＳ Ｐゴシック" charset="0"/>
        </a:defRPr>
      </a:lvl9pPr>
    </p:titleStyle>
    <p:bodyStyle>
      <a:lvl1pPr marL="342848" indent="-342848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sz="2800" b="1">
          <a:solidFill>
            <a:schemeClr val="bg1"/>
          </a:solidFill>
          <a:latin typeface="+mn-lt"/>
          <a:ea typeface="+mn-ea"/>
          <a:cs typeface="ＭＳ Ｐゴシック" charset="0"/>
        </a:defRPr>
      </a:lvl1pPr>
      <a:lvl2pPr marL="742836" indent="-285707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sz="2400" b="1">
          <a:solidFill>
            <a:schemeClr val="bg1"/>
          </a:solidFill>
          <a:latin typeface="+mn-lt"/>
          <a:ea typeface="+mn-ea"/>
        </a:defRPr>
      </a:lvl2pPr>
      <a:lvl3pPr marL="1142824" indent="-228564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sz="2000" b="1">
          <a:solidFill>
            <a:schemeClr val="bg1"/>
          </a:solidFill>
          <a:latin typeface="+mn-lt"/>
          <a:ea typeface="+mn-ea"/>
        </a:defRPr>
      </a:lvl3pPr>
      <a:lvl4pPr marL="1599954" indent="-228564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b="1">
          <a:solidFill>
            <a:schemeClr val="bg1"/>
          </a:solidFill>
          <a:latin typeface="+mn-lt"/>
          <a:ea typeface="+mn-ea"/>
        </a:defRPr>
      </a:lvl4pPr>
      <a:lvl5pPr marL="2057085" indent="-228564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b="1">
          <a:solidFill>
            <a:schemeClr val="bg1"/>
          </a:solidFill>
          <a:latin typeface="+mn-lt"/>
          <a:ea typeface="+mn-ea"/>
        </a:defRPr>
      </a:lvl5pPr>
      <a:lvl6pPr marL="2514215" indent="-228564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b="1">
          <a:solidFill>
            <a:schemeClr val="bg1"/>
          </a:solidFill>
          <a:latin typeface="+mn-lt"/>
          <a:ea typeface="+mn-ea"/>
        </a:defRPr>
      </a:lvl6pPr>
      <a:lvl7pPr marL="2971344" indent="-228564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b="1">
          <a:solidFill>
            <a:schemeClr val="bg1"/>
          </a:solidFill>
          <a:latin typeface="+mn-lt"/>
          <a:ea typeface="+mn-ea"/>
        </a:defRPr>
      </a:lvl7pPr>
      <a:lvl8pPr marL="3428475" indent="-228564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b="1">
          <a:solidFill>
            <a:schemeClr val="bg1"/>
          </a:solidFill>
          <a:latin typeface="+mn-lt"/>
          <a:ea typeface="+mn-ea"/>
        </a:defRPr>
      </a:lvl8pPr>
      <a:lvl9pPr marL="3885603" indent="-228564" algn="l" rtl="0" eaLnBrk="1" fontAlgn="base" hangingPunct="1">
        <a:spcBef>
          <a:spcPct val="20000"/>
        </a:spcBef>
        <a:spcAft>
          <a:spcPct val="0"/>
        </a:spcAft>
        <a:buClr>
          <a:srgbClr val="FFFF99"/>
        </a:buClr>
        <a:buSzPct val="150000"/>
        <a:buChar char="·"/>
        <a:defRPr b="1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0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59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90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19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49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80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08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39" algn="l" defTabSz="457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Textmasterformate durch Klicken bearbeiten</a:t>
            </a:r>
          </a:p>
          <a:p>
            <a:pPr lvl="1"/>
            <a:r>
              <a:rPr lang="en-GB" altLang="en-US" smtClean="0"/>
              <a:t>Zweite Ebene</a:t>
            </a:r>
          </a:p>
          <a:p>
            <a:pPr lvl="2"/>
            <a:r>
              <a:rPr lang="en-GB" altLang="en-US" smtClean="0"/>
              <a:t>Dritte Ebene</a:t>
            </a:r>
          </a:p>
          <a:p>
            <a:pPr lvl="3"/>
            <a:r>
              <a:rPr lang="en-GB" altLang="en-US" smtClean="0"/>
              <a:t>Vierte Ebene</a:t>
            </a:r>
          </a:p>
          <a:p>
            <a:pPr lvl="4"/>
            <a:r>
              <a:rPr lang="en-GB" altLang="en-US" smtClean="0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627313" y="6381750"/>
            <a:ext cx="295275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3366"/>
                </a:solidFill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/>
              <a:t>Koblenz, </a:t>
            </a:r>
            <a:fld id="{61FD13C3-70D0-4E51-8230-7AFA0AAAA86A}" type="datetime1">
              <a:rPr lang="en-GB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03/12/2017</a:t>
            </a:fld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03350" y="6408738"/>
            <a:ext cx="489743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3366"/>
                </a:solidFill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/>
              <a:t>11th meeting of GRDC SC, Koblenz, 2013, June 10 - 12</a:t>
            </a:r>
          </a:p>
        </p:txBody>
      </p:sp>
      <p:pic>
        <p:nvPicPr>
          <p:cNvPr id="1033" name="Picture 10" descr="wmo_black_400 Kopie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39944" y="6180047"/>
            <a:ext cx="49371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64" name="Text Box 16"/>
          <p:cNvSpPr txBox="1">
            <a:spLocks noChangeArrowheads="1"/>
          </p:cNvSpPr>
          <p:nvPr userDrawn="1"/>
        </p:nvSpPr>
        <p:spPr bwMode="auto">
          <a:xfrm>
            <a:off x="174625" y="6092825"/>
            <a:ext cx="11572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b="1" smtClean="0">
                <a:solidFill>
                  <a:srgbClr val="003366"/>
                </a:solidFill>
                <a:latin typeface="Times New Roman" pitchFamily="18" charset="0"/>
              </a:rPr>
              <a:t>OGC</a:t>
            </a:r>
          </a:p>
        </p:txBody>
      </p:sp>
      <p:sp>
        <p:nvSpPr>
          <p:cNvPr id="1035" name="Line 13"/>
          <p:cNvSpPr>
            <a:spLocks noChangeShapeType="1"/>
          </p:cNvSpPr>
          <p:nvPr userDrawn="1"/>
        </p:nvSpPr>
        <p:spPr bwMode="auto">
          <a:xfrm>
            <a:off x="468313" y="1196975"/>
            <a:ext cx="8207375" cy="0"/>
          </a:xfrm>
          <a:prstGeom prst="line">
            <a:avLst/>
          </a:prstGeom>
          <a:noFill/>
          <a:ln w="19050">
            <a:solidFill>
              <a:srgbClr val="669FD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1036" name="Line 14"/>
          <p:cNvSpPr>
            <a:spLocks noChangeShapeType="1"/>
          </p:cNvSpPr>
          <p:nvPr userDrawn="1"/>
        </p:nvSpPr>
        <p:spPr bwMode="auto">
          <a:xfrm>
            <a:off x="468313" y="6130925"/>
            <a:ext cx="8207375" cy="0"/>
          </a:xfrm>
          <a:prstGeom prst="line">
            <a:avLst/>
          </a:prstGeom>
          <a:noFill/>
          <a:ln w="19050">
            <a:solidFill>
              <a:srgbClr val="669FD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914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dirty="0">
                <a:ea typeface="MS PGothic" charset="-128"/>
              </a:rPr>
              <a:t>Copyright © </a:t>
            </a:r>
            <a:r>
              <a:rPr lang="en-US" altLang="en-US" dirty="0" smtClean="0">
                <a:ea typeface="MS PGothic" charset="-128"/>
              </a:rPr>
              <a:t>2017 </a:t>
            </a:r>
            <a:r>
              <a:rPr lang="en-US" altLang="en-US" dirty="0">
                <a:ea typeface="MS PGothic" charset="-128"/>
              </a:rPr>
              <a:t>Open Geospatial Consortium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27D0F9EB-4EAC-1044-9312-C01285DE51F3}" type="slidenum">
              <a:rPr lang="en-US" altLang="en-US">
                <a:ea typeface="MS PGothic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MS PGothic" charset="-128"/>
            </a:endParaRPr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smtClean="0">
                <a:solidFill>
                  <a:srgbClr val="44546A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mtClean="0">
                <a:solidFill>
                  <a:srgbClr val="44546A"/>
                </a:solidFill>
                <a:latin typeface="Arial" charset="0"/>
              </a:rPr>
              <a:t>®</a:t>
            </a:r>
          </a:p>
        </p:txBody>
      </p:sp>
    </p:spTree>
    <p:extLst>
      <p:ext uri="{BB962C8B-B14F-4D97-AF65-F5344CB8AC3E}">
        <p14:creationId xmlns:p14="http://schemas.microsoft.com/office/powerpoint/2010/main" val="1145639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hyperlink" Target="http://opengeospatial.github.io/HY_Features/spec/index.html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HY_Features</a:t>
            </a:r>
            <a:r>
              <a:rPr lang="en-US" dirty="0" smtClean="0"/>
              <a:t> </a:t>
            </a:r>
            <a:r>
              <a:rPr lang="en-US" dirty="0" smtClean="0"/>
              <a:t>Update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 smtClean="0">
                <a:ea typeface="MS PGothic" charset="-128"/>
              </a:rPr>
              <a:t>105th </a:t>
            </a:r>
            <a:r>
              <a:rPr lang="en-US" altLang="en-US" dirty="0">
                <a:ea typeface="MS PGothic" charset="-128"/>
              </a:rPr>
              <a:t>OGC Technical Committee</a:t>
            </a:r>
          </a:p>
          <a:p>
            <a:r>
              <a:rPr lang="en-US" altLang="en-US" dirty="0" smtClean="0">
                <a:ea typeface="MS PGothic" charset="-128"/>
              </a:rPr>
              <a:t>Palmerston North, New Zealand</a:t>
            </a:r>
            <a:endParaRPr lang="en-US" altLang="en-US" dirty="0">
              <a:ea typeface="MS PGothic" charset="-128"/>
            </a:endParaRPr>
          </a:p>
          <a:p>
            <a:r>
              <a:rPr lang="en-US" altLang="en-US" dirty="0" smtClean="0">
                <a:ea typeface="MS PGothic" charset="-128"/>
              </a:rPr>
              <a:t>David Blodgett</a:t>
            </a:r>
            <a:endParaRPr lang="en-US" altLang="en-US" dirty="0">
              <a:ea typeface="MS PGothic" charset="-128"/>
            </a:endParaRPr>
          </a:p>
          <a:p>
            <a:r>
              <a:rPr lang="en-US" altLang="en-US" dirty="0" smtClean="0">
                <a:ea typeface="MS PGothic" charset="-128"/>
              </a:rPr>
              <a:t>04 December </a:t>
            </a:r>
            <a:r>
              <a:rPr lang="en-US" altLang="en-US" dirty="0" smtClean="0">
                <a:ea typeface="MS PGothic" charset="-128"/>
              </a:rPr>
              <a:t>2017</a:t>
            </a:r>
            <a:endParaRPr lang="en-US" altLang="en-US" dirty="0" smtClean="0">
              <a:ea typeface="MS PGothic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24181" y="1253896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00" b="1" dirty="0" err="1" smtClean="0">
              <a:solidFill>
                <a:prstClr val="black"/>
              </a:solidFill>
              <a:latin typeface="CG Times" charset="0"/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058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15888"/>
            <a:ext cx="8713787" cy="1143000"/>
          </a:xfrm>
        </p:spPr>
        <p:txBody>
          <a:bodyPr/>
          <a:lstStyle/>
          <a:p>
            <a:pPr eaLnBrk="1" hangingPunct="1"/>
            <a:r>
              <a:rPr lang="en-GB" altLang="en-US" sz="3200" dirty="0" smtClean="0">
                <a:solidFill>
                  <a:srgbClr val="003366"/>
                </a:solidFill>
              </a:rPr>
              <a:t>WMO/OGC Hydrology Domain Working Group</a:t>
            </a:r>
            <a:br>
              <a:rPr lang="en-GB" altLang="en-US" sz="3200" dirty="0" smtClean="0">
                <a:solidFill>
                  <a:srgbClr val="003366"/>
                </a:solidFill>
              </a:rPr>
            </a:br>
            <a:r>
              <a:rPr lang="en-GB" altLang="en-US" sz="3200" dirty="0" smtClean="0">
                <a:solidFill>
                  <a:srgbClr val="003366"/>
                </a:solidFill>
              </a:rPr>
              <a:t>WaterML2 suite</a:t>
            </a:r>
          </a:p>
        </p:txBody>
      </p:sp>
      <p:sp>
        <p:nvSpPr>
          <p:cNvPr id="19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410866" y="6408738"/>
            <a:ext cx="4897438" cy="4762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dirty="0" smtClean="0">
                <a:solidFill>
                  <a:srgbClr val="003366"/>
                </a:solidFill>
              </a:rPr>
              <a:t>16 September 2016</a:t>
            </a:r>
            <a:endParaRPr lang="en-GB" altLang="en-US" dirty="0">
              <a:solidFill>
                <a:srgbClr val="003366"/>
              </a:solidFill>
            </a:endParaRPr>
          </a:p>
        </p:txBody>
      </p:sp>
      <p:grpSp>
        <p:nvGrpSpPr>
          <p:cNvPr id="20" name="Gruppieren 2"/>
          <p:cNvGrpSpPr/>
          <p:nvPr/>
        </p:nvGrpSpPr>
        <p:grpSpPr>
          <a:xfrm>
            <a:off x="1293620" y="2116485"/>
            <a:ext cx="6623046" cy="3226981"/>
            <a:chOff x="1318203" y="1908835"/>
            <a:chExt cx="6623046" cy="390464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1" name="Gruppieren 5"/>
            <p:cNvGrpSpPr/>
            <p:nvPr/>
          </p:nvGrpSpPr>
          <p:grpSpPr>
            <a:xfrm>
              <a:off x="1318203" y="1908835"/>
              <a:ext cx="6623046" cy="3904647"/>
              <a:chOff x="934404" y="1573378"/>
              <a:chExt cx="7285351" cy="4724623"/>
            </a:xfrm>
          </p:grpSpPr>
          <p:sp>
            <p:nvSpPr>
              <p:cNvPr id="33" name="Ellipse 6"/>
              <p:cNvSpPr/>
              <p:nvPr/>
            </p:nvSpPr>
            <p:spPr bwMode="auto">
              <a:xfrm>
                <a:off x="934404" y="1573378"/>
                <a:ext cx="7285351" cy="4724623"/>
              </a:xfrm>
              <a:prstGeom prst="ellipse">
                <a:avLst/>
              </a:prstGeom>
              <a:solidFill>
                <a:srgbClr val="DDDDDD"/>
              </a:solidFill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50800" dir="7440000" sx="89000" sy="89000" algn="ctr" rotWithShape="0">
                  <a:srgbClr val="000000">
                    <a:alpha val="43137"/>
                  </a:srgbClr>
                </a:outerShdw>
              </a:effectLst>
            </p:spPr>
            <p:txBody>
              <a:bodyPr rtlCol="0" anchor="ctr"/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</a:endParaRPr>
              </a:p>
            </p:txBody>
          </p:sp>
          <p:sp>
            <p:nvSpPr>
              <p:cNvPr id="34" name="Textfeld 15"/>
              <p:cNvSpPr txBox="1"/>
              <p:nvPr/>
            </p:nvSpPr>
            <p:spPr>
              <a:xfrm>
                <a:off x="2096668" y="3023783"/>
                <a:ext cx="5453888" cy="1644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de-DE" sz="2200" u="sng" dirty="0" err="1" smtClean="0">
                    <a:solidFill>
                      <a:srgbClr val="002060"/>
                    </a:solidFill>
                  </a:rPr>
                  <a:t>Water</a:t>
                </a:r>
                <a:r>
                  <a:rPr lang="de-DE" sz="2200" u="sng" dirty="0" smtClean="0">
                    <a:solidFill>
                      <a:srgbClr val="002060"/>
                    </a:solidFill>
                  </a:rPr>
                  <a:t> Information </a:t>
                </a:r>
                <a:r>
                  <a:rPr lang="de-DE" sz="2200" u="sng" dirty="0">
                    <a:solidFill>
                      <a:srgbClr val="002060"/>
                    </a:solidFill>
                  </a:rPr>
                  <a:t>Standards</a:t>
                </a:r>
                <a:r>
                  <a:rPr lang="de-DE" sz="2200" dirty="0">
                    <a:solidFill>
                      <a:srgbClr val="002060"/>
                    </a:solidFill>
                  </a:rPr>
                  <a:t>: </a:t>
                </a:r>
                <a:endParaRPr lang="de-DE" sz="2200" dirty="0" smtClean="0">
                  <a:solidFill>
                    <a:srgbClr val="002060"/>
                  </a:solidFill>
                </a:endParaRPr>
              </a:p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de-DE" sz="2200" dirty="0">
                  <a:solidFill>
                    <a:srgbClr val="002060"/>
                  </a:solidFill>
                </a:endParaRPr>
              </a:p>
              <a:p>
                <a:pPr algn="ctr" defTabSz="914400" fontAlgn="base"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de-DE" dirty="0" err="1" smtClean="0">
                    <a:solidFill>
                      <a:srgbClr val="002060"/>
                    </a:solidFill>
                  </a:rPr>
                  <a:t>of</a:t>
                </a:r>
                <a:r>
                  <a:rPr lang="de-DE" dirty="0" smtClean="0">
                    <a:solidFill>
                      <a:srgbClr val="002060"/>
                    </a:solidFill>
                  </a:rPr>
                  <a:t> </a:t>
                </a:r>
                <a:r>
                  <a:rPr lang="de-DE" dirty="0" err="1" smtClean="0">
                    <a:solidFill>
                      <a:srgbClr val="002060"/>
                    </a:solidFill>
                  </a:rPr>
                  <a:t>hydrologic</a:t>
                </a:r>
                <a:r>
                  <a:rPr lang="de-DE" dirty="0" smtClean="0">
                    <a:solidFill>
                      <a:srgbClr val="002060"/>
                    </a:solidFill>
                  </a:rPr>
                  <a:t> (</a:t>
                </a:r>
                <a:r>
                  <a:rPr lang="de-DE" dirty="0" err="1" smtClean="0">
                    <a:solidFill>
                      <a:srgbClr val="002060"/>
                    </a:solidFill>
                  </a:rPr>
                  <a:t>water</a:t>
                </a:r>
                <a:r>
                  <a:rPr lang="de-DE" dirty="0" smtClean="0">
                    <a:solidFill>
                      <a:srgbClr val="002060"/>
                    </a:solidFill>
                  </a:rPr>
                  <a:t>) </a:t>
                </a:r>
                <a:r>
                  <a:rPr lang="de-DE" dirty="0" err="1" smtClean="0">
                    <a:solidFill>
                      <a:srgbClr val="002060"/>
                    </a:solidFill>
                  </a:rPr>
                  <a:t>features</a:t>
                </a:r>
                <a:endParaRPr lang="en-US" dirty="0" err="1">
                  <a:solidFill>
                    <a:srgbClr val="002060"/>
                  </a:solidFill>
                </a:endParaRPr>
              </a:p>
            </p:txBody>
          </p:sp>
        </p:grpSp>
        <p:sp>
          <p:nvSpPr>
            <p:cNvPr id="26" name="Textfeld 1"/>
            <p:cNvSpPr txBox="1"/>
            <p:nvPr/>
          </p:nvSpPr>
          <p:spPr>
            <a:xfrm>
              <a:off x="3824343" y="3615842"/>
              <a:ext cx="1780352" cy="484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2000" b="1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Observation,</a:t>
              </a:r>
              <a:endParaRPr lang="en-GB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" name="Textfeld 35"/>
            <p:cNvSpPr txBox="1"/>
            <p:nvPr/>
          </p:nvSpPr>
          <p:spPr>
            <a:xfrm>
              <a:off x="2201683" y="3615844"/>
              <a:ext cx="1839384" cy="484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2000" b="1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Identification,</a:t>
              </a:r>
              <a:endParaRPr lang="en-GB" sz="20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" name="Textfeld 36"/>
            <p:cNvSpPr txBox="1"/>
            <p:nvPr/>
          </p:nvSpPr>
          <p:spPr>
            <a:xfrm>
              <a:off x="5398685" y="3599903"/>
              <a:ext cx="2088232" cy="484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2000" b="1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Representation</a:t>
              </a:r>
            </a:p>
          </p:txBody>
        </p:sp>
      </p:grpSp>
      <p:sp>
        <p:nvSpPr>
          <p:cNvPr id="35" name="File"/>
          <p:cNvSpPr>
            <a:spLocks noEditPoints="1" noChangeArrowheads="1"/>
          </p:cNvSpPr>
          <p:nvPr/>
        </p:nvSpPr>
        <p:spPr bwMode="auto">
          <a:xfrm>
            <a:off x="5855926" y="1835590"/>
            <a:ext cx="1377353" cy="1068075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2060"/>
                </a:solidFill>
                <a:ea typeface="MS PGothic" pitchFamily="34" charset="-128"/>
              </a:rPr>
              <a:t>WaterML2Part3</a:t>
            </a:r>
            <a:r>
              <a:rPr lang="en-GB" sz="1000" b="1" dirty="0" smtClean="0">
                <a:solidFill>
                  <a:srgbClr val="002060"/>
                </a:solidFill>
                <a:ea typeface="MS PGothic" pitchFamily="34" charset="-128"/>
              </a:rPr>
              <a:t>:</a:t>
            </a:r>
            <a:r>
              <a:rPr lang="en-GB" sz="1000" b="1" dirty="0">
                <a:solidFill>
                  <a:srgbClr val="002060"/>
                </a:solidFill>
                <a:ea typeface="MS PGothic" pitchFamily="34" charset="-128"/>
              </a:rPr>
              <a:t/>
            </a:r>
            <a:br>
              <a:rPr lang="en-GB" sz="1000" b="1" dirty="0">
                <a:solidFill>
                  <a:srgbClr val="002060"/>
                </a:solidFill>
                <a:ea typeface="MS PGothic" pitchFamily="34" charset="-128"/>
              </a:rPr>
            </a:br>
            <a:r>
              <a:rPr lang="en-GB" sz="1000" b="1" dirty="0" smtClean="0">
                <a:solidFill>
                  <a:srgbClr val="002060"/>
                </a:solidFill>
                <a:ea typeface="MS PGothic" pitchFamily="34" charset="-128"/>
              </a:rPr>
              <a:t>Surface Hydrology Features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dirty="0" err="1" smtClean="0">
                <a:solidFill>
                  <a:srgbClr val="002060"/>
                </a:solidFill>
                <a:ea typeface="MS PGothic" pitchFamily="34" charset="-128"/>
              </a:rPr>
              <a:t>HY_Features</a:t>
            </a:r>
            <a:endParaRPr lang="en-GB" sz="1000" dirty="0" smtClean="0">
              <a:solidFill>
                <a:srgbClr val="002060"/>
              </a:solidFill>
              <a:ea typeface="MS PGothic" pitchFamily="34" charset="-128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2060"/>
                </a:solidFill>
                <a:ea typeface="MS PGothic" pitchFamily="34" charset="-128"/>
              </a:rPr>
              <a:t>(OGC IS 14-111rX)</a:t>
            </a:r>
            <a:endParaRPr lang="en-GB" sz="1000" dirty="0">
              <a:solidFill>
                <a:srgbClr val="002060"/>
              </a:solidFill>
              <a:ea typeface="MS PGothic" pitchFamily="34" charset="-128"/>
            </a:endParaRPr>
          </a:p>
        </p:txBody>
      </p:sp>
      <p:sp>
        <p:nvSpPr>
          <p:cNvPr id="36" name="File"/>
          <p:cNvSpPr>
            <a:spLocks noEditPoints="1" noChangeArrowheads="1"/>
          </p:cNvSpPr>
          <p:nvPr/>
        </p:nvSpPr>
        <p:spPr bwMode="auto">
          <a:xfrm>
            <a:off x="2217052" y="1795447"/>
            <a:ext cx="1276364" cy="949091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dirty="0">
                <a:solidFill>
                  <a:srgbClr val="002060"/>
                </a:solidFill>
                <a:ea typeface="MS PGothic" pitchFamily="34" charset="-128"/>
              </a:rPr>
              <a:t>WaterML2Part1: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 err="1" smtClean="0">
                <a:solidFill>
                  <a:srgbClr val="002060"/>
                </a:solidFill>
                <a:ea typeface="MS PGothic" pitchFamily="34" charset="-128"/>
              </a:rPr>
              <a:t>Timeseries</a:t>
            </a:r>
            <a:endParaRPr lang="en-GB" sz="1000" b="1" dirty="0" smtClean="0">
              <a:solidFill>
                <a:srgbClr val="002060"/>
              </a:solidFill>
              <a:ea typeface="MS PGothic" pitchFamily="34" charset="-128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smtClean="0">
                <a:solidFill>
                  <a:srgbClr val="002060"/>
                </a:solidFill>
                <a:ea typeface="MS PGothic" pitchFamily="34" charset="-128"/>
              </a:rPr>
              <a:t>Observation</a:t>
            </a:r>
            <a:endParaRPr lang="en-GB" sz="1000" b="1" dirty="0">
              <a:solidFill>
                <a:srgbClr val="002060"/>
              </a:solidFill>
              <a:ea typeface="MS PGothic" pitchFamily="34" charset="-128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2060"/>
                </a:solidFill>
                <a:ea typeface="MS PGothic" pitchFamily="34" charset="-128"/>
              </a:rPr>
              <a:t>(OGC IS 10-126r4)</a:t>
            </a:r>
            <a:endParaRPr lang="en-GB" sz="1000" dirty="0">
              <a:solidFill>
                <a:srgbClr val="002060"/>
              </a:solidFill>
              <a:ea typeface="MS PGothic" pitchFamily="34" charset="-128"/>
            </a:endParaRPr>
          </a:p>
        </p:txBody>
      </p:sp>
      <p:sp>
        <p:nvSpPr>
          <p:cNvPr id="37" name="File"/>
          <p:cNvSpPr>
            <a:spLocks noEditPoints="1" noChangeArrowheads="1"/>
          </p:cNvSpPr>
          <p:nvPr/>
        </p:nvSpPr>
        <p:spPr bwMode="auto">
          <a:xfrm>
            <a:off x="4054484" y="1506836"/>
            <a:ext cx="1276364" cy="949091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2060"/>
                </a:solidFill>
                <a:ea typeface="MS PGothic" pitchFamily="34" charset="-128"/>
              </a:rPr>
              <a:t>WaterML2Part2</a:t>
            </a:r>
            <a:r>
              <a:rPr lang="en-GB" sz="1000" dirty="0">
                <a:solidFill>
                  <a:srgbClr val="002060"/>
                </a:solidFill>
                <a:ea typeface="MS PGothic" pitchFamily="34" charset="-128"/>
              </a:rPr>
              <a:t>:</a:t>
            </a:r>
            <a:r>
              <a:rPr lang="en-GB" sz="1000" b="1" dirty="0">
                <a:solidFill>
                  <a:srgbClr val="002060"/>
                </a:solidFill>
                <a:ea typeface="MS PGothic" pitchFamily="34" charset="-128"/>
              </a:rPr>
              <a:t> </a:t>
            </a:r>
            <a:r>
              <a:rPr lang="en-GB" sz="1000" b="1" dirty="0" smtClean="0">
                <a:solidFill>
                  <a:srgbClr val="002060"/>
                </a:solidFill>
                <a:ea typeface="MS PGothic" pitchFamily="34" charset="-128"/>
              </a:rPr>
              <a:t>         Ratings, </a:t>
            </a:r>
            <a:r>
              <a:rPr lang="en-GB" sz="1000" b="1" dirty="0" err="1" smtClean="0">
                <a:solidFill>
                  <a:srgbClr val="002060"/>
                </a:solidFill>
                <a:ea typeface="MS PGothic" pitchFamily="34" charset="-128"/>
              </a:rPr>
              <a:t>Gaugings</a:t>
            </a:r>
            <a:r>
              <a:rPr lang="en-GB" sz="1000" b="1" dirty="0" smtClean="0">
                <a:solidFill>
                  <a:srgbClr val="002060"/>
                </a:solidFill>
                <a:ea typeface="MS PGothic" pitchFamily="34" charset="-128"/>
              </a:rPr>
              <a:t>, Sections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2060"/>
                </a:solidFill>
                <a:ea typeface="MS PGothic" pitchFamily="34" charset="-128"/>
              </a:rPr>
              <a:t>(OGC IS 15-018r2)</a:t>
            </a:r>
            <a:endParaRPr lang="en-GB" sz="1000" dirty="0">
              <a:solidFill>
                <a:srgbClr val="002060"/>
              </a:solidFill>
              <a:ea typeface="MS PGothic" pitchFamily="34" charset="-128"/>
            </a:endParaRPr>
          </a:p>
        </p:txBody>
      </p:sp>
      <p:sp>
        <p:nvSpPr>
          <p:cNvPr id="38" name="File"/>
          <p:cNvSpPr>
            <a:spLocks noEditPoints="1" noChangeArrowheads="1"/>
          </p:cNvSpPr>
          <p:nvPr/>
        </p:nvSpPr>
        <p:spPr bwMode="auto">
          <a:xfrm>
            <a:off x="7389558" y="3110647"/>
            <a:ext cx="1276364" cy="108012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dirty="0">
                <a:solidFill>
                  <a:srgbClr val="002060"/>
                </a:solidFill>
                <a:ea typeface="MS PGothic" pitchFamily="34" charset="-128"/>
              </a:rPr>
              <a:t>WaterML2Part4</a:t>
            </a:r>
            <a:r>
              <a:rPr lang="en-US" sz="1000" dirty="0">
                <a:solidFill>
                  <a:srgbClr val="000000"/>
                </a:solidFill>
              </a:rPr>
              <a:t>: </a:t>
            </a:r>
            <a:r>
              <a:rPr lang="en-US" sz="1000" b="1" dirty="0" smtClean="0">
                <a:solidFill>
                  <a:srgbClr val="002060"/>
                </a:solidFill>
              </a:rPr>
              <a:t>Groundwater </a:t>
            </a:r>
            <a:r>
              <a:rPr lang="en-US" sz="1000" b="1" dirty="0">
                <a:solidFill>
                  <a:srgbClr val="002060"/>
                </a:solidFill>
              </a:rPr>
              <a:t>Features </a:t>
            </a:r>
            <a:endParaRPr lang="en-US" sz="1000" b="1" dirty="0" smtClean="0">
              <a:solidFill>
                <a:srgbClr val="002060"/>
              </a:solidFill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 smtClean="0">
                <a:solidFill>
                  <a:srgbClr val="000000"/>
                </a:solidFill>
              </a:rPr>
              <a:t>GWML2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 smtClean="0">
                <a:solidFill>
                  <a:srgbClr val="002060"/>
                </a:solidFill>
                <a:ea typeface="MS PGothic" pitchFamily="34" charset="-128"/>
              </a:rPr>
              <a:t>(</a:t>
            </a:r>
            <a:r>
              <a:rPr lang="en-US" sz="1000" dirty="0">
                <a:solidFill>
                  <a:srgbClr val="002060"/>
                </a:solidFill>
                <a:ea typeface="MS PGothic" pitchFamily="34" charset="-128"/>
              </a:rPr>
              <a:t>OGC IS </a:t>
            </a:r>
            <a:r>
              <a:rPr lang="en-US" sz="1000" dirty="0" smtClean="0">
                <a:solidFill>
                  <a:srgbClr val="002060"/>
                </a:solidFill>
                <a:ea typeface="MS PGothic" pitchFamily="34" charset="-128"/>
              </a:rPr>
              <a:t>16-032rX</a:t>
            </a:r>
            <a:r>
              <a:rPr lang="en-AU" sz="1000" dirty="0" smtClean="0">
                <a:solidFill>
                  <a:srgbClr val="000000"/>
                </a:solidFill>
              </a:rPr>
              <a:t>)</a:t>
            </a:r>
            <a:endParaRPr lang="en-GB" sz="1000" dirty="0">
              <a:solidFill>
                <a:srgbClr val="000000"/>
              </a:solidFill>
              <a:ea typeface="MS PGothic" pitchFamily="34" charset="-128"/>
            </a:endParaRPr>
          </a:p>
        </p:txBody>
      </p:sp>
      <p:sp>
        <p:nvSpPr>
          <p:cNvPr id="39" name="File"/>
          <p:cNvSpPr>
            <a:spLocks noEditPoints="1" noChangeArrowheads="1"/>
          </p:cNvSpPr>
          <p:nvPr/>
        </p:nvSpPr>
        <p:spPr bwMode="auto">
          <a:xfrm>
            <a:off x="900736" y="3075300"/>
            <a:ext cx="1276364" cy="949091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dirty="0">
                <a:solidFill>
                  <a:srgbClr val="002060"/>
                </a:solidFill>
                <a:ea typeface="MS PGothic" pitchFamily="34" charset="-128"/>
              </a:rPr>
              <a:t>SOS 2.0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2060"/>
                </a:solidFill>
                <a:ea typeface="MS PGothic" pitchFamily="34" charset="-128"/>
              </a:rPr>
              <a:t>Hydrology Profile </a:t>
            </a:r>
            <a:r>
              <a:rPr lang="en-GB" sz="1000" dirty="0">
                <a:solidFill>
                  <a:srgbClr val="000000"/>
                </a:solidFill>
              </a:rPr>
              <a:t> </a:t>
            </a:r>
            <a:r>
              <a:rPr lang="en-GB" sz="1000" dirty="0" smtClean="0">
                <a:solidFill>
                  <a:srgbClr val="002060"/>
                </a:solidFill>
                <a:ea typeface="MS PGothic" pitchFamily="34" charset="-128"/>
              </a:rPr>
              <a:t> </a:t>
            </a:r>
            <a:endParaRPr lang="en-GB" sz="1000" dirty="0">
              <a:solidFill>
                <a:srgbClr val="002060"/>
              </a:solidFill>
              <a:ea typeface="MS PGothic" pitchFamily="34" charset="-128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dirty="0">
                <a:solidFill>
                  <a:srgbClr val="002060"/>
                </a:solidFill>
                <a:ea typeface="MS PGothic" pitchFamily="34" charset="-128"/>
              </a:rPr>
              <a:t>(OGC BP 14-004r1)</a:t>
            </a:r>
          </a:p>
        </p:txBody>
      </p:sp>
      <p:sp>
        <p:nvSpPr>
          <p:cNvPr id="40" name="File"/>
          <p:cNvSpPr>
            <a:spLocks noEditPoints="1" noChangeArrowheads="1"/>
          </p:cNvSpPr>
          <p:nvPr/>
        </p:nvSpPr>
        <p:spPr bwMode="auto">
          <a:xfrm>
            <a:off x="4208818" y="4646331"/>
            <a:ext cx="1276364" cy="108012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i="1">
                <a:solidFill>
                  <a:srgbClr val="002060"/>
                </a:solidFill>
                <a:ea typeface="MS PGothic" pitchFamily="34" charset="-128"/>
              </a:rPr>
              <a:t>WaterML2PartX</a:t>
            </a:r>
            <a:r>
              <a:rPr lang="en-GB" sz="1000" b="1" i="1">
                <a:solidFill>
                  <a:srgbClr val="002060"/>
                </a:solidFill>
                <a:ea typeface="MS PGothic" pitchFamily="34" charset="-128"/>
              </a:rPr>
              <a:t>: </a:t>
            </a:r>
            <a:r>
              <a:rPr lang="en-GB" sz="1000" b="1" i="1" smtClean="0">
                <a:solidFill>
                  <a:srgbClr val="002060"/>
                </a:solidFill>
              </a:rPr>
              <a:t>River Network </a:t>
            </a:r>
            <a:r>
              <a:rPr lang="en-GB" sz="1000" i="1" smtClean="0">
                <a:solidFill>
                  <a:srgbClr val="002060"/>
                </a:solidFill>
              </a:rPr>
              <a:t>Topology</a:t>
            </a:r>
            <a:r>
              <a:rPr lang="en-GB" sz="1000" b="1" i="1" smtClean="0">
                <a:solidFill>
                  <a:srgbClr val="002060"/>
                </a:solidFill>
              </a:rPr>
              <a:t>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 i="1" dirty="0" smtClean="0">
                <a:solidFill>
                  <a:srgbClr val="002060"/>
                </a:solidFill>
              </a:rPr>
              <a:t>(</a:t>
            </a:r>
            <a:r>
              <a:rPr lang="en-US" sz="1000" i="1" dirty="0">
                <a:solidFill>
                  <a:srgbClr val="002060"/>
                </a:solidFill>
              </a:rPr>
              <a:t>OGC IS </a:t>
            </a:r>
            <a:r>
              <a:rPr lang="en-US" sz="1000" i="1" dirty="0" smtClean="0">
                <a:solidFill>
                  <a:srgbClr val="002060"/>
                </a:solidFill>
              </a:rPr>
              <a:t>YY-XXX)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41" name="File"/>
          <p:cNvSpPr>
            <a:spLocks noEditPoints="1" noChangeArrowheads="1"/>
          </p:cNvSpPr>
          <p:nvPr/>
        </p:nvSpPr>
        <p:spPr bwMode="auto">
          <a:xfrm>
            <a:off x="502878" y="4565596"/>
            <a:ext cx="1178313" cy="668596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800" i="1" smtClean="0">
                <a:solidFill>
                  <a:srgbClr val="FFFFFF">
                    <a:lumMod val="50000"/>
                  </a:srgbClr>
                </a:solidFill>
                <a:ea typeface="MS PGothic" pitchFamily="34" charset="-128"/>
              </a:rPr>
              <a:t>SoilML component: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800" b="1" i="1" smtClean="0">
                <a:solidFill>
                  <a:srgbClr val="FFFFFF">
                    <a:lumMod val="50000"/>
                  </a:srgbClr>
                </a:solidFill>
                <a:ea typeface="MS PGothic" pitchFamily="34" charset="-128"/>
              </a:rPr>
              <a:t>Soil-water</a:t>
            </a:r>
            <a:r>
              <a:rPr lang="en-GB" sz="800" i="1" smtClean="0">
                <a:solidFill>
                  <a:srgbClr val="FFFFFF">
                    <a:lumMod val="50000"/>
                  </a:srgbClr>
                </a:solidFill>
                <a:ea typeface="MS PGothic" pitchFamily="34" charset="-128"/>
              </a:rPr>
              <a:t>   (collaboration tbd)  </a:t>
            </a:r>
            <a:endParaRPr lang="en-GB" sz="800" i="1" dirty="0" smtClean="0">
              <a:solidFill>
                <a:srgbClr val="FFFFFF">
                  <a:lumMod val="50000"/>
                </a:srgbClr>
              </a:solidFill>
              <a:ea typeface="MS PGothic" pitchFamily="34" charset="-128"/>
            </a:endParaRPr>
          </a:p>
        </p:txBody>
      </p:sp>
      <p:sp>
        <p:nvSpPr>
          <p:cNvPr id="42" name="File"/>
          <p:cNvSpPr>
            <a:spLocks noEditPoints="1" noChangeArrowheads="1"/>
          </p:cNvSpPr>
          <p:nvPr/>
        </p:nvSpPr>
        <p:spPr bwMode="auto">
          <a:xfrm>
            <a:off x="2159792" y="4465528"/>
            <a:ext cx="1276364" cy="949091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 i="1" smtClean="0">
                <a:solidFill>
                  <a:srgbClr val="FFFFFF">
                    <a:lumMod val="50000"/>
                  </a:srgbClr>
                </a:solidFill>
                <a:ea typeface="MS PGothic" pitchFamily="34" charset="-128"/>
              </a:rPr>
              <a:t>…(RiverML)…: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 i="1" smtClean="0">
                <a:solidFill>
                  <a:srgbClr val="FFFFFF">
                    <a:lumMod val="50000"/>
                  </a:srgbClr>
                </a:solidFill>
              </a:rPr>
              <a:t>Channel Geometry</a:t>
            </a:r>
            <a:endParaRPr lang="en-US" sz="1000" b="1" i="1" dirty="0" smtClean="0">
              <a:solidFill>
                <a:srgbClr val="FFFFFF">
                  <a:lumMod val="50000"/>
                </a:srgbClr>
              </a:solidFill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1000" i="1" smtClean="0">
                <a:solidFill>
                  <a:srgbClr val="FFFFFF">
                    <a:lumMod val="50000"/>
                  </a:srgbClr>
                </a:solidFill>
                <a:ea typeface="MS PGothic" pitchFamily="34" charset="-128"/>
              </a:rPr>
              <a:t>(continuation </a:t>
            </a:r>
            <a:r>
              <a:rPr lang="en-US" sz="1000" i="1" dirty="0" err="1" smtClean="0">
                <a:solidFill>
                  <a:srgbClr val="FFFFFF">
                    <a:lumMod val="50000"/>
                  </a:srgbClr>
                </a:solidFill>
                <a:ea typeface="MS PGothic" pitchFamily="34" charset="-128"/>
              </a:rPr>
              <a:t>tbd</a:t>
            </a:r>
            <a:r>
              <a:rPr lang="en-US" sz="1000" i="1" dirty="0" smtClean="0">
                <a:solidFill>
                  <a:srgbClr val="FFFFFF">
                    <a:lumMod val="50000"/>
                  </a:srgbClr>
                </a:solidFill>
                <a:ea typeface="MS PGothic" pitchFamily="34" charset="-128"/>
              </a:rPr>
              <a:t>)</a:t>
            </a:r>
            <a:r>
              <a:rPr lang="en-AU" sz="1000" i="1" dirty="0" smtClean="0">
                <a:solidFill>
                  <a:srgbClr val="FFFFFF">
                    <a:lumMod val="50000"/>
                  </a:srgbClr>
                </a:solidFill>
                <a:ea typeface="MS PGothic" pitchFamily="34" charset="-128"/>
              </a:rPr>
              <a:t> </a:t>
            </a:r>
            <a:endParaRPr lang="en-GB" sz="1000" i="1" dirty="0">
              <a:solidFill>
                <a:srgbClr val="FFFFFF">
                  <a:lumMod val="50000"/>
                </a:srgbClr>
              </a:solidFill>
              <a:ea typeface="MS PGothic" pitchFamily="34" charset="-128"/>
            </a:endParaRPr>
          </a:p>
        </p:txBody>
      </p:sp>
      <p:sp>
        <p:nvSpPr>
          <p:cNvPr id="44" name="File"/>
          <p:cNvSpPr>
            <a:spLocks noEditPoints="1" noChangeArrowheads="1"/>
          </p:cNvSpPr>
          <p:nvPr/>
        </p:nvSpPr>
        <p:spPr bwMode="auto">
          <a:xfrm>
            <a:off x="673265" y="5064660"/>
            <a:ext cx="1162431" cy="668596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800" i="1" dirty="0" smtClean="0">
                <a:solidFill>
                  <a:srgbClr val="FFFFFF">
                    <a:lumMod val="50000"/>
                  </a:srgbClr>
                </a:solidFill>
              </a:rPr>
              <a:t>CSML3 component: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800" b="1" i="1" dirty="0" smtClean="0">
                <a:solidFill>
                  <a:srgbClr val="FFFFFF">
                    <a:lumMod val="50000"/>
                  </a:srgbClr>
                </a:solidFill>
              </a:rPr>
              <a:t>Atmospheric-water</a:t>
            </a:r>
            <a:r>
              <a:rPr lang="en-GB" sz="800" i="1" dirty="0" smtClean="0">
                <a:solidFill>
                  <a:srgbClr val="FFFFFF">
                    <a:lumMod val="50000"/>
                  </a:srgbClr>
                </a:solidFill>
              </a:rPr>
              <a:t>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800" i="1" dirty="0" smtClean="0">
                <a:solidFill>
                  <a:srgbClr val="FFFFFF">
                    <a:lumMod val="50000"/>
                  </a:srgbClr>
                </a:solidFill>
              </a:rPr>
              <a:t> (collaboration </a:t>
            </a:r>
            <a:r>
              <a:rPr lang="en-GB" sz="800" i="1" dirty="0" err="1" smtClean="0">
                <a:solidFill>
                  <a:srgbClr val="FFFFFF">
                    <a:lumMod val="50000"/>
                  </a:srgbClr>
                </a:solidFill>
              </a:rPr>
              <a:t>tbd</a:t>
            </a:r>
            <a:r>
              <a:rPr lang="en-GB" sz="800" i="1" dirty="0" smtClean="0">
                <a:solidFill>
                  <a:srgbClr val="FFFFFF">
                    <a:lumMod val="50000"/>
                  </a:srgbClr>
                </a:solidFill>
              </a:rPr>
              <a:t>) </a:t>
            </a:r>
            <a:endParaRPr lang="en-GB" sz="800" b="1" i="1" dirty="0">
              <a:solidFill>
                <a:srgbClr val="FFFFFF">
                  <a:lumMod val="50000"/>
                </a:srgbClr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45" name="File"/>
          <p:cNvSpPr>
            <a:spLocks noEditPoints="1" noChangeArrowheads="1"/>
          </p:cNvSpPr>
          <p:nvPr/>
        </p:nvSpPr>
        <p:spPr bwMode="auto">
          <a:xfrm>
            <a:off x="444756" y="1556792"/>
            <a:ext cx="1278674" cy="978892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 err="1">
                <a:solidFill>
                  <a:srgbClr val="002060"/>
                </a:solidFill>
              </a:rPr>
              <a:t>TimeseriesML</a:t>
            </a:r>
            <a:r>
              <a:rPr lang="en-GB" sz="1000" b="1" dirty="0">
                <a:solidFill>
                  <a:srgbClr val="002060"/>
                </a:solidFill>
              </a:rPr>
              <a:t> 1.0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 err="1">
                <a:solidFill>
                  <a:srgbClr val="002060"/>
                </a:solidFill>
              </a:rPr>
              <a:t>Timeseries</a:t>
            </a:r>
            <a:r>
              <a:rPr lang="en-GB" sz="1000" b="1" dirty="0">
                <a:solidFill>
                  <a:srgbClr val="002060"/>
                </a:solidFill>
              </a:rPr>
              <a:t> </a:t>
            </a:r>
            <a:r>
              <a:rPr lang="en-GB" sz="1000" b="1" dirty="0" smtClean="0">
                <a:solidFill>
                  <a:srgbClr val="002060"/>
                </a:solidFill>
              </a:rPr>
              <a:t>profile  </a:t>
            </a:r>
            <a:endParaRPr lang="en-GB" sz="1000" b="1" dirty="0">
              <a:solidFill>
                <a:srgbClr val="002060"/>
              </a:solidFill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2060"/>
                </a:solidFill>
              </a:rPr>
              <a:t> </a:t>
            </a:r>
            <a:r>
              <a:rPr lang="en-GB" sz="1000" dirty="0">
                <a:solidFill>
                  <a:srgbClr val="002060"/>
                </a:solidFill>
              </a:rPr>
              <a:t>(OGC IS </a:t>
            </a:r>
            <a:r>
              <a:rPr lang="en-GB" sz="1000" dirty="0" smtClean="0">
                <a:solidFill>
                  <a:srgbClr val="002060"/>
                </a:solidFill>
              </a:rPr>
              <a:t>15-042rX)</a:t>
            </a:r>
            <a:endParaRPr lang="en-GB" sz="1000" dirty="0">
              <a:solidFill>
                <a:srgbClr val="002060"/>
              </a:solidFill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dirty="0">
                <a:solidFill>
                  <a:srgbClr val="002060"/>
                </a:solidFill>
              </a:rPr>
              <a:t>(OGC IS </a:t>
            </a:r>
            <a:r>
              <a:rPr lang="en-GB" sz="1000" dirty="0" smtClean="0">
                <a:solidFill>
                  <a:srgbClr val="002060"/>
                </a:solidFill>
              </a:rPr>
              <a:t>15-043rX)</a:t>
            </a:r>
            <a:endParaRPr lang="en-GB" sz="1000" dirty="0">
              <a:solidFill>
                <a:srgbClr val="002060"/>
              </a:solidFill>
              <a:ea typeface="MS PGothic" pitchFamily="34" charset="-128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 sz="1000" b="1" dirty="0">
              <a:solidFill>
                <a:srgbClr val="002060"/>
              </a:solidFill>
              <a:ea typeface="MS PGothic" pitchFamily="34" charset="-128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GB" sz="800" b="1" dirty="0">
              <a:solidFill>
                <a:srgbClr val="002060"/>
              </a:solidFill>
              <a:ea typeface="MS PGothic" pitchFamily="34" charset="-128"/>
            </a:endParaRPr>
          </a:p>
        </p:txBody>
      </p:sp>
      <p:sp>
        <p:nvSpPr>
          <p:cNvPr id="22" name="File"/>
          <p:cNvSpPr>
            <a:spLocks noEditPoints="1" noChangeArrowheads="1"/>
          </p:cNvSpPr>
          <p:nvPr/>
        </p:nvSpPr>
        <p:spPr bwMode="auto">
          <a:xfrm>
            <a:off x="6202257" y="4380853"/>
            <a:ext cx="1276364" cy="108012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2060"/>
                </a:solidFill>
                <a:ea typeface="MS PGothic" pitchFamily="34" charset="-128"/>
              </a:rPr>
              <a:t>WaterML2Part5</a:t>
            </a:r>
            <a:r>
              <a:rPr lang="en-GB" sz="1000" dirty="0" smtClean="0">
                <a:solidFill>
                  <a:srgbClr val="002060"/>
                </a:solidFill>
              </a:rPr>
              <a:t>: </a:t>
            </a:r>
            <a:r>
              <a:rPr lang="en-GB" sz="1000" b="1" dirty="0" smtClean="0">
                <a:solidFill>
                  <a:srgbClr val="002060"/>
                </a:solidFill>
              </a:rPr>
              <a:t>Water Quality Observation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2060"/>
                </a:solidFill>
                <a:ea typeface="MS PGothic" pitchFamily="34" charset="-128"/>
              </a:rPr>
              <a:t>(</a:t>
            </a:r>
            <a:r>
              <a:rPr lang="en-GB" sz="1000" dirty="0">
                <a:solidFill>
                  <a:srgbClr val="002060"/>
                </a:solidFill>
                <a:ea typeface="MS PGothic" pitchFamily="34" charset="-128"/>
              </a:rPr>
              <a:t>OGC BP 14-003</a:t>
            </a:r>
            <a:r>
              <a:rPr lang="en-GB" sz="1000" b="1" dirty="0">
                <a:solidFill>
                  <a:srgbClr val="002060"/>
                </a:solidFill>
                <a:ea typeface="MS PGothic" pitchFamily="34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6204126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HY_Features</a:t>
            </a:r>
            <a:r>
              <a:rPr lang="en-US" dirty="0" smtClean="0"/>
              <a:t> Progress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75" y="1417638"/>
            <a:ext cx="8458200" cy="4752975"/>
          </a:xfrm>
        </p:spPr>
        <p:txBody>
          <a:bodyPr/>
          <a:lstStyle/>
          <a:p>
            <a:r>
              <a:rPr lang="en-US" dirty="0" smtClean="0"/>
              <a:t>Public comment review reconciliation brought about some good improvements.</a:t>
            </a:r>
          </a:p>
          <a:p>
            <a:r>
              <a:rPr lang="en-US" dirty="0" smtClean="0"/>
              <a:t>Architecture Board requested rework of our conformance classes and formatting of normative content.</a:t>
            </a:r>
          </a:p>
          <a:p>
            <a:pPr lvl="1"/>
            <a:r>
              <a:rPr lang="en-US" dirty="0" smtClean="0"/>
              <a:t>Huge thanks to Josh for helping us through!</a:t>
            </a:r>
          </a:p>
          <a:p>
            <a:r>
              <a:rPr lang="en-US" dirty="0" smtClean="0"/>
              <a:t>Presented to TC in St. John’s NL</a:t>
            </a:r>
          </a:p>
          <a:p>
            <a:r>
              <a:rPr lang="en-US" dirty="0" smtClean="0"/>
              <a:t>E-Vote and PC went smoothly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96487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HY_Features</a:t>
            </a:r>
            <a:r>
              <a:rPr lang="en-US" dirty="0" smtClean="0"/>
              <a:t> Progress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75" y="1271588"/>
            <a:ext cx="8458200" cy="4899025"/>
          </a:xfrm>
        </p:spPr>
        <p:txBody>
          <a:bodyPr/>
          <a:lstStyle/>
          <a:p>
            <a:r>
              <a:rPr lang="en-US" dirty="0" smtClean="0"/>
              <a:t>We’re done! </a:t>
            </a:r>
          </a:p>
          <a:p>
            <a:endParaRPr lang="en-US" dirty="0" smtClean="0"/>
          </a:p>
          <a:p>
            <a:r>
              <a:rPr lang="en-US" dirty="0"/>
              <a:t>See draft html here: </a:t>
            </a: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opengeospatial.github.io/HY_Features/spec/index.html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OGC Publication Process Moving Forward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92122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019" y="0"/>
            <a:ext cx="8305800" cy="845288"/>
          </a:xfrm>
        </p:spPr>
        <p:txBody>
          <a:bodyPr/>
          <a:lstStyle/>
          <a:p>
            <a:r>
              <a:rPr lang="en-US" dirty="0" smtClean="0"/>
              <a:t>Observations and Measurements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5790"/>
            <a:ext cx="2795181" cy="3731567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795181" y="839971"/>
            <a:ext cx="6348819" cy="5807139"/>
          </a:xfrm>
        </p:spPr>
        <p:txBody>
          <a:bodyPr/>
          <a:lstStyle/>
          <a:p>
            <a:r>
              <a:rPr lang="en-US" dirty="0">
                <a:solidFill>
                  <a:srgbClr val="FFFF99"/>
                </a:solidFill>
                <a:latin typeface="+mj-lt"/>
                <a:ea typeface="+mj-ea"/>
              </a:rPr>
              <a:t>Observation</a:t>
            </a:r>
            <a:r>
              <a:rPr lang="en-US" dirty="0" smtClean="0"/>
              <a:t>: Stream Gage Visit</a:t>
            </a:r>
          </a:p>
          <a:p>
            <a:r>
              <a:rPr lang="en-US" dirty="0">
                <a:solidFill>
                  <a:srgbClr val="FFFF99"/>
                </a:solidFill>
                <a:latin typeface="+mj-lt"/>
                <a:ea typeface="+mj-ea"/>
              </a:rPr>
              <a:t>Feature of Interest</a:t>
            </a:r>
            <a:r>
              <a:rPr lang="en-US" dirty="0" smtClean="0"/>
              <a:t>: River</a:t>
            </a:r>
            <a:endParaRPr lang="en-US" dirty="0"/>
          </a:p>
          <a:p>
            <a:r>
              <a:rPr lang="en-US" dirty="0">
                <a:solidFill>
                  <a:srgbClr val="FFFF99"/>
                </a:solidFill>
                <a:latin typeface="+mj-lt"/>
                <a:ea typeface="+mj-ea"/>
              </a:rPr>
              <a:t>Sampling Feature</a:t>
            </a:r>
            <a:r>
              <a:rPr lang="en-US" dirty="0" smtClean="0"/>
              <a:t>: Cross Section</a:t>
            </a:r>
          </a:p>
          <a:p>
            <a:r>
              <a:rPr lang="en-US" dirty="0">
                <a:solidFill>
                  <a:srgbClr val="FFFF99"/>
                </a:solidFill>
                <a:latin typeface="+mj-lt"/>
                <a:ea typeface="+mj-ea"/>
              </a:rPr>
              <a:t>Procedure</a:t>
            </a:r>
            <a:r>
              <a:rPr lang="en-US" dirty="0" smtClean="0"/>
              <a:t>: Manual Acoustic Velocity Measurement.</a:t>
            </a:r>
          </a:p>
          <a:p>
            <a:r>
              <a:rPr lang="en-US" dirty="0">
                <a:solidFill>
                  <a:srgbClr val="FFFF99"/>
                </a:solidFill>
                <a:latin typeface="+mj-lt"/>
                <a:ea typeface="+mj-ea"/>
              </a:rPr>
              <a:t>Observed Property</a:t>
            </a:r>
            <a:r>
              <a:rPr lang="en-US" dirty="0" smtClean="0"/>
              <a:t>: Flow Rate</a:t>
            </a:r>
          </a:p>
          <a:p>
            <a:r>
              <a:rPr lang="en-US" dirty="0">
                <a:solidFill>
                  <a:srgbClr val="FFFF99"/>
                </a:solidFill>
                <a:latin typeface="+mj-lt"/>
                <a:ea typeface="+mj-ea"/>
              </a:rPr>
              <a:t>Result</a:t>
            </a:r>
            <a:r>
              <a:rPr lang="en-US" dirty="0" smtClean="0"/>
              <a:t>: X </a:t>
            </a:r>
            <a:r>
              <a:rPr lang="en-US" dirty="0" err="1" smtClean="0"/>
              <a:t>cfs</a:t>
            </a:r>
            <a:r>
              <a:rPr lang="en-US" dirty="0" smtClean="0"/>
              <a:t> at time Y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44549" y="51355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562637" y="4757929"/>
            <a:ext cx="8048846" cy="1663984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4" tIns="44444" rIns="90474" bIns="44444" numCol="1" anchor="t" anchorCtr="0" compatLnSpc="1">
            <a:prstTxWarp prst="textNoShape">
              <a:avLst/>
            </a:prstTxWarp>
          </a:bodyPr>
          <a:lstStyle>
            <a:lvl1pPr marL="342848" indent="-34284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50000"/>
              <a:buChar char="·"/>
              <a:defRPr sz="2800" b="1">
                <a:solidFill>
                  <a:schemeClr val="bg1"/>
                </a:solidFill>
                <a:latin typeface="+mn-lt"/>
                <a:ea typeface="+mn-ea"/>
                <a:cs typeface="ＭＳ Ｐゴシック" charset="0"/>
              </a:defRPr>
            </a:lvl1pPr>
            <a:lvl2pPr marL="742836" indent="-28570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50000"/>
              <a:buChar char="·"/>
              <a:defRPr sz="2400" b="1">
                <a:solidFill>
                  <a:schemeClr val="bg1"/>
                </a:solidFill>
                <a:latin typeface="+mn-lt"/>
                <a:ea typeface="+mn-ea"/>
              </a:defRPr>
            </a:lvl2pPr>
            <a:lvl3pPr marL="1142824" indent="-22856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50000"/>
              <a:buChar char="·"/>
              <a:defRPr sz="2000" b="1">
                <a:solidFill>
                  <a:schemeClr val="bg1"/>
                </a:solidFill>
                <a:latin typeface="+mn-lt"/>
                <a:ea typeface="+mn-ea"/>
              </a:defRPr>
            </a:lvl3pPr>
            <a:lvl4pPr marL="1599954" indent="-22856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50000"/>
              <a:buChar char="·"/>
              <a:defRPr b="1">
                <a:solidFill>
                  <a:schemeClr val="bg1"/>
                </a:solidFill>
                <a:latin typeface="+mn-lt"/>
                <a:ea typeface="+mn-ea"/>
              </a:defRPr>
            </a:lvl4pPr>
            <a:lvl5pPr marL="2057085" indent="-22856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50000"/>
              <a:buChar char="·"/>
              <a:defRPr b="1">
                <a:solidFill>
                  <a:schemeClr val="bg1"/>
                </a:solidFill>
                <a:latin typeface="+mn-lt"/>
                <a:ea typeface="+mn-ea"/>
              </a:defRPr>
            </a:lvl5pPr>
            <a:lvl6pPr marL="2514215" indent="-22856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50000"/>
              <a:buChar char="·"/>
              <a:defRPr b="1">
                <a:solidFill>
                  <a:schemeClr val="bg1"/>
                </a:solidFill>
                <a:latin typeface="+mn-lt"/>
                <a:ea typeface="+mn-ea"/>
              </a:defRPr>
            </a:lvl6pPr>
            <a:lvl7pPr marL="2971344" indent="-22856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50000"/>
              <a:buChar char="·"/>
              <a:defRPr b="1">
                <a:solidFill>
                  <a:schemeClr val="bg1"/>
                </a:solidFill>
                <a:latin typeface="+mn-lt"/>
                <a:ea typeface="+mn-ea"/>
              </a:defRPr>
            </a:lvl7pPr>
            <a:lvl8pPr marL="3428475" indent="-22856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50000"/>
              <a:buChar char="·"/>
              <a:defRPr b="1">
                <a:solidFill>
                  <a:schemeClr val="bg1"/>
                </a:solidFill>
                <a:latin typeface="+mn-lt"/>
                <a:ea typeface="+mn-ea"/>
              </a:defRPr>
            </a:lvl8pPr>
            <a:lvl9pPr marL="3885603" indent="-22856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50000"/>
              <a:buChar char="·"/>
              <a:defRPr b="1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defTabSz="914400">
              <a:buNone/>
            </a:pPr>
            <a:r>
              <a:rPr lang="en-US" sz="3600" kern="0" dirty="0" err="1" smtClean="0">
                <a:solidFill>
                  <a:srgbClr val="FF0000"/>
                </a:solidFill>
                <a:latin typeface="+mj-lt"/>
                <a:ea typeface="+mj-ea"/>
              </a:rPr>
              <a:t>HY_Features</a:t>
            </a:r>
            <a:r>
              <a:rPr lang="en-US" sz="3600" kern="0" dirty="0" smtClean="0">
                <a:solidFill>
                  <a:srgbClr val="FF0000"/>
                </a:solidFill>
                <a:latin typeface="+mj-lt"/>
                <a:ea typeface="+mj-ea"/>
              </a:rPr>
              <a:t> is a standard for the feature of interest of an observation</a:t>
            </a:r>
            <a:endParaRPr lang="en-US" sz="3600" kern="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73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399"/>
            <a:ext cx="8305800" cy="1704975"/>
          </a:xfrm>
        </p:spPr>
        <p:txBody>
          <a:bodyPr/>
          <a:lstStyle/>
          <a:p>
            <a:r>
              <a:rPr lang="en-US" sz="4400" dirty="0" smtClean="0"/>
              <a:t>But </a:t>
            </a:r>
            <a:br>
              <a:rPr lang="en-US" sz="4400" dirty="0" smtClean="0"/>
            </a:br>
            <a:r>
              <a:rPr lang="en-US" sz="4400" dirty="0" smtClean="0"/>
              <a:t>why?!?</a:t>
            </a:r>
            <a:endParaRPr lang="en-US" sz="4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14588"/>
            <a:ext cx="8555638" cy="44434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3425" y="0"/>
            <a:ext cx="5870575" cy="338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11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019" y="0"/>
            <a:ext cx="8305800" cy="845288"/>
          </a:xfrm>
        </p:spPr>
        <p:txBody>
          <a:bodyPr/>
          <a:lstStyle/>
          <a:p>
            <a:r>
              <a:rPr lang="en-US" dirty="0"/>
              <a:t>Three different levels of abstraction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549" y="51355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45288"/>
            <a:ext cx="8305800" cy="5022112"/>
          </a:xfrm>
        </p:spPr>
        <p:txBody>
          <a:bodyPr/>
          <a:lstStyle/>
          <a:p>
            <a:r>
              <a:rPr lang="en-US" dirty="0" smtClean="0"/>
              <a:t>Feature Identity</a:t>
            </a:r>
          </a:p>
          <a:p>
            <a:pPr lvl="1"/>
            <a:r>
              <a:rPr lang="en-US" dirty="0" smtClean="0"/>
              <a:t>Catchment </a:t>
            </a:r>
            <a:r>
              <a:rPr lang="en-US" i="1" dirty="0" smtClean="0">
                <a:solidFill>
                  <a:srgbClr val="FFFF99"/>
                </a:solidFill>
                <a:latin typeface="+mj-lt"/>
                <a:ea typeface="+mj-ea"/>
                <a:cs typeface="ＭＳ Ｐゴシック" charset="0"/>
              </a:rPr>
              <a:t>X</a:t>
            </a:r>
            <a:r>
              <a:rPr lang="en-US" dirty="0" smtClean="0"/>
              <a:t> flows into catchment </a:t>
            </a:r>
            <a:r>
              <a:rPr lang="en-US" i="1" dirty="0">
                <a:solidFill>
                  <a:srgbClr val="FFFF99"/>
                </a:solidFill>
                <a:latin typeface="+mj-lt"/>
                <a:ea typeface="+mj-ea"/>
                <a:cs typeface="ＭＳ Ｐゴシック" charset="0"/>
              </a:rPr>
              <a:t>Y</a:t>
            </a:r>
            <a:r>
              <a:rPr lang="en-US" dirty="0" smtClean="0"/>
              <a:t> at nexus </a:t>
            </a:r>
            <a:r>
              <a:rPr lang="en-US" i="1" dirty="0" smtClean="0">
                <a:solidFill>
                  <a:srgbClr val="FFFF99"/>
                </a:solidFill>
                <a:latin typeface="+mj-lt"/>
                <a:ea typeface="+mj-ea"/>
                <a:cs typeface="ＭＳ Ｐゴシック" charset="0"/>
              </a:rPr>
              <a:t>m</a:t>
            </a:r>
            <a:r>
              <a:rPr lang="en-US" dirty="0" smtClean="0">
                <a:cs typeface="ＭＳ Ｐゴシック" charset="0"/>
              </a:rPr>
              <a:t>.</a:t>
            </a:r>
            <a:endParaRPr lang="en-US" dirty="0">
              <a:cs typeface="ＭＳ Ｐゴシック" charset="0"/>
            </a:endParaRPr>
          </a:p>
          <a:p>
            <a:endParaRPr lang="en-US" dirty="0" smtClean="0"/>
          </a:p>
          <a:p>
            <a:r>
              <a:rPr lang="en-US" dirty="0" smtClean="0"/>
              <a:t>Feature Realization</a:t>
            </a:r>
          </a:p>
          <a:p>
            <a:pPr lvl="1"/>
            <a:r>
              <a:rPr lang="en-US" dirty="0" smtClean="0"/>
              <a:t>Catchment </a:t>
            </a:r>
            <a:r>
              <a:rPr lang="en-US" i="1" dirty="0">
                <a:solidFill>
                  <a:srgbClr val="FFFF99"/>
                </a:solidFill>
                <a:latin typeface="+mj-lt"/>
                <a:ea typeface="+mj-ea"/>
                <a:cs typeface="ＭＳ Ｐゴシック" charset="0"/>
              </a:rPr>
              <a:t>X</a:t>
            </a:r>
            <a:r>
              <a:rPr lang="en-US" dirty="0" smtClean="0"/>
              <a:t> can be described by a </a:t>
            </a:r>
            <a:r>
              <a:rPr lang="en-US" i="1" dirty="0" smtClean="0">
                <a:solidFill>
                  <a:srgbClr val="FFFF99"/>
                </a:solidFill>
                <a:latin typeface="+mj-lt"/>
                <a:ea typeface="+mj-ea"/>
                <a:cs typeface="ＭＳ Ｐゴシック" charset="0"/>
              </a:rPr>
              <a:t>divide</a:t>
            </a:r>
            <a:r>
              <a:rPr lang="en-US" dirty="0" smtClean="0"/>
              <a:t> or a </a:t>
            </a:r>
            <a:r>
              <a:rPr lang="en-US" i="1" dirty="0">
                <a:solidFill>
                  <a:srgbClr val="FFFF99"/>
                </a:solidFill>
                <a:latin typeface="+mj-lt"/>
                <a:ea typeface="+mj-ea"/>
                <a:cs typeface="ＭＳ Ｐゴシック" charset="0"/>
              </a:rPr>
              <a:t>network of waterbodies and channels </a:t>
            </a:r>
            <a:r>
              <a:rPr lang="en-US" dirty="0" smtClean="0"/>
              <a:t>-- etc. 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Feature Representation</a:t>
            </a:r>
          </a:p>
          <a:p>
            <a:pPr lvl="1"/>
            <a:r>
              <a:rPr lang="en-US" dirty="0" smtClean="0"/>
              <a:t>The boundary of catchment </a:t>
            </a:r>
            <a:r>
              <a:rPr lang="en-US" i="1" dirty="0">
                <a:solidFill>
                  <a:srgbClr val="FFFF99"/>
                </a:solidFill>
                <a:latin typeface="+mj-lt"/>
                <a:ea typeface="+mj-ea"/>
                <a:cs typeface="ＭＳ Ｐゴシック" charset="0"/>
              </a:rPr>
              <a:t>X</a:t>
            </a:r>
            <a:r>
              <a:rPr lang="en-US" dirty="0" smtClean="0"/>
              <a:t> is represented in two datasets differently.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67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019" y="0"/>
            <a:ext cx="8305800" cy="845288"/>
          </a:xfrm>
        </p:spPr>
        <p:txBody>
          <a:bodyPr/>
          <a:lstStyle/>
          <a:p>
            <a:r>
              <a:rPr lang="en-US" dirty="0"/>
              <a:t>Three different levels of abstraction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549" y="51355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45288"/>
            <a:ext cx="8305800" cy="5022112"/>
          </a:xfrm>
        </p:spPr>
        <p:txBody>
          <a:bodyPr/>
          <a:lstStyle/>
          <a:p>
            <a:r>
              <a:rPr lang="en-US" dirty="0" smtClean="0"/>
              <a:t>Feature Identity</a:t>
            </a:r>
          </a:p>
          <a:p>
            <a:pPr lvl="1"/>
            <a:r>
              <a:rPr lang="en-US" dirty="0" smtClean="0"/>
              <a:t>The Willamette River flows into the Columbia River at Kelley Point Park  </a:t>
            </a:r>
            <a:endParaRPr lang="en-US" dirty="0">
              <a:cs typeface="ＭＳ Ｐゴシック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539" y="2223332"/>
            <a:ext cx="3721396" cy="364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47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019" y="-127592"/>
            <a:ext cx="8305800" cy="845288"/>
          </a:xfrm>
        </p:spPr>
        <p:txBody>
          <a:bodyPr/>
          <a:lstStyle/>
          <a:p>
            <a:r>
              <a:rPr lang="en-US" dirty="0"/>
              <a:t>Three different levels of abstraction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549" y="51355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616688"/>
            <a:ext cx="9048307" cy="5043371"/>
          </a:xfrm>
        </p:spPr>
        <p:txBody>
          <a:bodyPr/>
          <a:lstStyle/>
          <a:p>
            <a:r>
              <a:rPr lang="en-US" dirty="0"/>
              <a:t>Feature Realization</a:t>
            </a:r>
          </a:p>
          <a:p>
            <a:pPr lvl="1"/>
            <a:r>
              <a:rPr lang="en-US" dirty="0" smtClean="0">
                <a:cs typeface="ＭＳ Ｐゴシック" charset="0"/>
              </a:rPr>
              <a:t>The Willamette is recognizable (can be realized) as a divide, or waterbody network, or catchment network </a:t>
            </a:r>
            <a:r>
              <a:rPr lang="mr-IN" dirty="0" smtClean="0">
                <a:cs typeface="ＭＳ Ｐゴシック" charset="0"/>
              </a:rPr>
              <a:t>…</a:t>
            </a:r>
            <a:endParaRPr lang="en-US" dirty="0">
              <a:cs typeface="ＭＳ Ｐゴシック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221" y="2204483"/>
            <a:ext cx="2699357" cy="45082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8374" y="2204482"/>
            <a:ext cx="2870200" cy="45082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15" y="2190425"/>
            <a:ext cx="2758510" cy="452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532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019" y="0"/>
            <a:ext cx="8305800" cy="845288"/>
          </a:xfrm>
        </p:spPr>
        <p:txBody>
          <a:bodyPr/>
          <a:lstStyle/>
          <a:p>
            <a:r>
              <a:rPr lang="en-US" dirty="0"/>
              <a:t>Three different levels of abstraction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549" y="51355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69851"/>
            <a:ext cx="9144000" cy="5197549"/>
          </a:xfrm>
        </p:spPr>
        <p:txBody>
          <a:bodyPr/>
          <a:lstStyle/>
          <a:p>
            <a:r>
              <a:rPr lang="en-US" dirty="0" smtClean="0"/>
              <a:t>Feature Representation</a:t>
            </a:r>
          </a:p>
          <a:p>
            <a:pPr lvl="1"/>
            <a:r>
              <a:rPr lang="en-US" dirty="0" smtClean="0"/>
              <a:t>The Willamette River’s drainage divide is represented differently by the WBD and the </a:t>
            </a:r>
            <a:r>
              <a:rPr lang="en-US" dirty="0" err="1" smtClean="0"/>
              <a:t>NHDPlus</a:t>
            </a:r>
            <a:r>
              <a:rPr lang="en-US" dirty="0" smtClean="0"/>
              <a:t>.</a:t>
            </a:r>
            <a:endParaRPr lang="en-US" dirty="0">
              <a:cs typeface="ＭＳ Ｐゴシック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986" y="2220432"/>
            <a:ext cx="2790467" cy="43168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80" y="2220431"/>
            <a:ext cx="2880028" cy="4316820"/>
          </a:xfrm>
          <a:prstGeom prst="rect">
            <a:avLst/>
          </a:prstGeom>
        </p:spPr>
      </p:pic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6226653" y="3498112"/>
            <a:ext cx="2828447" cy="1637414"/>
          </a:xfrm>
          <a:prstGeom prst="rect">
            <a:avLst/>
          </a:prstGeom>
          <a:solidFill>
            <a:schemeClr val="accent3">
              <a:lumMod val="85000"/>
            </a:schemeClr>
          </a:solidFill>
          <a:ln w="12700">
            <a:solidFill>
              <a:schemeClr val="tx1"/>
            </a:solidFill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4" tIns="44444" rIns="90474" bIns="44444" numCol="1" anchor="t" anchorCtr="0" compatLnSpc="1">
            <a:prstTxWarp prst="textNoShape">
              <a:avLst/>
            </a:prstTxWarp>
          </a:bodyPr>
          <a:lstStyle>
            <a:lvl1pPr marL="342848" indent="-34284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50000"/>
              <a:buChar char="·"/>
              <a:defRPr sz="2800" b="1">
                <a:solidFill>
                  <a:schemeClr val="bg1"/>
                </a:solidFill>
                <a:latin typeface="+mn-lt"/>
                <a:ea typeface="+mn-ea"/>
                <a:cs typeface="ＭＳ Ｐゴシック" charset="0"/>
              </a:defRPr>
            </a:lvl1pPr>
            <a:lvl2pPr marL="742836" indent="-28570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50000"/>
              <a:buChar char="·"/>
              <a:defRPr sz="2400" b="1">
                <a:solidFill>
                  <a:schemeClr val="bg1"/>
                </a:solidFill>
                <a:latin typeface="+mn-lt"/>
                <a:ea typeface="+mn-ea"/>
              </a:defRPr>
            </a:lvl2pPr>
            <a:lvl3pPr marL="1142824" indent="-22856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50000"/>
              <a:buChar char="·"/>
              <a:defRPr sz="2000" b="1">
                <a:solidFill>
                  <a:schemeClr val="bg1"/>
                </a:solidFill>
                <a:latin typeface="+mn-lt"/>
                <a:ea typeface="+mn-ea"/>
              </a:defRPr>
            </a:lvl3pPr>
            <a:lvl4pPr marL="1599954" indent="-22856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50000"/>
              <a:buChar char="·"/>
              <a:defRPr b="1">
                <a:solidFill>
                  <a:schemeClr val="bg1"/>
                </a:solidFill>
                <a:latin typeface="+mn-lt"/>
                <a:ea typeface="+mn-ea"/>
              </a:defRPr>
            </a:lvl4pPr>
            <a:lvl5pPr marL="2057085" indent="-22856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50000"/>
              <a:buChar char="·"/>
              <a:defRPr b="1">
                <a:solidFill>
                  <a:schemeClr val="bg1"/>
                </a:solidFill>
                <a:latin typeface="+mn-lt"/>
                <a:ea typeface="+mn-ea"/>
              </a:defRPr>
            </a:lvl5pPr>
            <a:lvl6pPr marL="2514215" indent="-22856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50000"/>
              <a:buChar char="·"/>
              <a:defRPr b="1">
                <a:solidFill>
                  <a:schemeClr val="bg1"/>
                </a:solidFill>
                <a:latin typeface="+mn-lt"/>
                <a:ea typeface="+mn-ea"/>
              </a:defRPr>
            </a:lvl6pPr>
            <a:lvl7pPr marL="2971344" indent="-22856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50000"/>
              <a:buChar char="·"/>
              <a:defRPr b="1">
                <a:solidFill>
                  <a:schemeClr val="bg1"/>
                </a:solidFill>
                <a:latin typeface="+mn-lt"/>
                <a:ea typeface="+mn-ea"/>
              </a:defRPr>
            </a:lvl7pPr>
            <a:lvl8pPr marL="3428475" indent="-22856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50000"/>
              <a:buChar char="·"/>
              <a:defRPr b="1">
                <a:solidFill>
                  <a:schemeClr val="bg1"/>
                </a:solidFill>
                <a:latin typeface="+mn-lt"/>
                <a:ea typeface="+mn-ea"/>
              </a:defRPr>
            </a:lvl8pPr>
            <a:lvl9pPr marL="3885603" indent="-22856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99"/>
              </a:buClr>
              <a:buSzPct val="150000"/>
              <a:buChar char="·"/>
              <a:defRPr b="1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defTabSz="914400">
              <a:buNone/>
            </a:pPr>
            <a:r>
              <a:rPr lang="en-US" kern="0" dirty="0" err="1" smtClean="0">
                <a:solidFill>
                  <a:srgbClr val="FF0000"/>
                </a:solidFill>
                <a:cs typeface="ＭＳ Ｐゴシック" charset="0"/>
              </a:rPr>
              <a:t>NHDPlus</a:t>
            </a:r>
            <a:r>
              <a:rPr lang="en-US" kern="0" dirty="0" smtClean="0">
                <a:solidFill>
                  <a:srgbClr val="FF0000"/>
                </a:solidFill>
                <a:cs typeface="ＭＳ Ｐゴシック" charset="0"/>
              </a:rPr>
              <a:t> in red</a:t>
            </a:r>
          </a:p>
          <a:p>
            <a:pPr marL="0" indent="0" defTabSz="914400">
              <a:buNone/>
            </a:pPr>
            <a:endParaRPr lang="en-US" kern="0" dirty="0">
              <a:solidFill>
                <a:schemeClr val="tx1"/>
              </a:solidFill>
            </a:endParaRPr>
          </a:p>
          <a:p>
            <a:pPr marL="0" indent="0" defTabSz="914400">
              <a:buNone/>
            </a:pPr>
            <a:r>
              <a:rPr lang="en-US" kern="0" dirty="0" smtClean="0">
                <a:solidFill>
                  <a:schemeClr val="tx1"/>
                </a:solidFill>
                <a:cs typeface="ＭＳ Ｐゴシック" charset="0"/>
              </a:rPr>
              <a:t>WBD in black</a:t>
            </a:r>
            <a:endParaRPr lang="en-US" kern="0" dirty="0">
              <a:solidFill>
                <a:schemeClr val="tx1"/>
              </a:solidFill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386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411" y="152400"/>
            <a:ext cx="8653929" cy="911412"/>
          </a:xfrm>
        </p:spPr>
        <p:txBody>
          <a:bodyPr/>
          <a:lstStyle/>
          <a:p>
            <a:r>
              <a:rPr lang="en-US" dirty="0" smtClean="0"/>
              <a:t>How does this help decision making?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411" y="1371600"/>
            <a:ext cx="8851713" cy="4495800"/>
          </a:xfrm>
        </p:spPr>
        <p:txBody>
          <a:bodyPr/>
          <a:lstStyle/>
          <a:p>
            <a:r>
              <a:rPr lang="en-US" dirty="0" smtClean="0"/>
              <a:t>Decisions require specific information.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Source data can be interpreted by software without expert input if standards are followed.</a:t>
            </a:r>
          </a:p>
          <a:p>
            <a:endParaRPr lang="en-US" dirty="0" smtClean="0"/>
          </a:p>
          <a:p>
            <a:r>
              <a:rPr lang="en-US" dirty="0" smtClean="0"/>
              <a:t>OK, so how do we do that?</a:t>
            </a:r>
          </a:p>
          <a:p>
            <a:pPr lvl="1"/>
            <a:r>
              <a:rPr lang="mr-IN" dirty="0" smtClean="0"/>
              <a:t>…</a:t>
            </a:r>
            <a:r>
              <a:rPr lang="en-US" dirty="0" smtClean="0"/>
              <a:t> good question!</a:t>
            </a:r>
          </a:p>
          <a:p>
            <a:r>
              <a:rPr lang="en-US" sz="3000" dirty="0" smtClean="0"/>
              <a:t>We need “The HTML for environmental data!”</a:t>
            </a:r>
          </a:p>
        </p:txBody>
      </p:sp>
    </p:spTree>
    <p:extLst>
      <p:ext uri="{BB962C8B-B14F-4D97-AF65-F5344CB8AC3E}">
        <p14:creationId xmlns:p14="http://schemas.microsoft.com/office/powerpoint/2010/main" val="174212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Environmental Linked Features Interoperability Experiment (ELFIE)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Goal: </a:t>
            </a:r>
            <a:br>
              <a:rPr lang="en-US" dirty="0" smtClean="0"/>
            </a:br>
            <a:r>
              <a:rPr lang="en-US" dirty="0" smtClean="0"/>
              <a:t>Test existing standards </a:t>
            </a:r>
            <a:r>
              <a:rPr lang="en-US" dirty="0"/>
              <a:t>(like </a:t>
            </a:r>
            <a:r>
              <a:rPr lang="en-US" dirty="0" err="1" smtClean="0"/>
              <a:t>HY_Features</a:t>
            </a:r>
            <a:r>
              <a:rPr lang="en-US" dirty="0" smtClean="0"/>
              <a:t>) </a:t>
            </a:r>
            <a:r>
              <a:rPr lang="en-US" dirty="0"/>
              <a:t>for </a:t>
            </a:r>
            <a:r>
              <a:rPr lang="en-US" dirty="0" smtClean="0"/>
              <a:t>publishing features on the internet.</a:t>
            </a:r>
          </a:p>
          <a:p>
            <a:endParaRPr lang="en-US" dirty="0" smtClean="0"/>
          </a:p>
          <a:p>
            <a:r>
              <a:rPr lang="en-US" dirty="0" smtClean="0"/>
              <a:t>Purpose: </a:t>
            </a:r>
            <a:br>
              <a:rPr lang="en-US" dirty="0" smtClean="0"/>
            </a:br>
            <a:r>
              <a:rPr lang="en-US" dirty="0" smtClean="0"/>
              <a:t>Set the stage for automated applications like search engines to discover and index data for decision support and other applications.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215416"/>
      </p:ext>
    </p:extLst>
  </p:cSld>
  <p:clrMapOvr>
    <a:masterClrMapping/>
  </p:clrMapOvr>
</p:sld>
</file>

<file path=ppt/theme/theme1.xml><?xml version="1.0" encoding="utf-8"?>
<a:theme xmlns:a="http://schemas.openxmlformats.org/drawingml/2006/main" name="USGS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Desktop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Deskt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ktop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ktop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ktop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ktop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ktop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ktop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GC_PowerPoint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3239</TotalTime>
  <Words>655</Words>
  <Application>Microsoft Macintosh PowerPoint</Application>
  <PresentationFormat>On-screen Show (4:3)</PresentationFormat>
  <Paragraphs>116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Arial Black</vt:lpstr>
      <vt:lpstr>Calibri</vt:lpstr>
      <vt:lpstr>CG Times</vt:lpstr>
      <vt:lpstr>Mangal</vt:lpstr>
      <vt:lpstr>MS PGothic</vt:lpstr>
      <vt:lpstr>ＭＳ Ｐゴシック</vt:lpstr>
      <vt:lpstr>Times New Roman</vt:lpstr>
      <vt:lpstr>Arial</vt:lpstr>
      <vt:lpstr>USGS</vt:lpstr>
      <vt:lpstr>Standarddesign</vt:lpstr>
      <vt:lpstr>OGC_PowerPoint_Template</vt:lpstr>
      <vt:lpstr>HY_Features Update</vt:lpstr>
      <vt:lpstr>WMO/OGC Hydrology Domain Working Group WaterML2 suite</vt:lpstr>
      <vt:lpstr>HY_Features Progress</vt:lpstr>
      <vt:lpstr>HY_Features Progress</vt:lpstr>
      <vt:lpstr>Observations and Measurements</vt:lpstr>
      <vt:lpstr>But  why?!?</vt:lpstr>
      <vt:lpstr>Three different levels of abstraction</vt:lpstr>
      <vt:lpstr>Three different levels of abstraction</vt:lpstr>
      <vt:lpstr>Three different levels of abstraction</vt:lpstr>
      <vt:lpstr>Three different levels of abstraction</vt:lpstr>
      <vt:lpstr>How does this help decision making?</vt:lpstr>
      <vt:lpstr>Environmental Linked Features Interoperability Experiment (ELFIE)</vt:lpstr>
    </vt:vector>
  </TitlesOfParts>
  <Company/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USGS Goals and Applications of the Network Linked Data Index</dc:title>
  <dc:creator>David Blodgett</dc:creator>
  <cp:lastModifiedBy>David Blodgett</cp:lastModifiedBy>
  <cp:revision>74</cp:revision>
  <dcterms:created xsi:type="dcterms:W3CDTF">2016-07-06T23:12:06Z</dcterms:created>
  <dcterms:modified xsi:type="dcterms:W3CDTF">2017-12-03T21:58:29Z</dcterms:modified>
</cp:coreProperties>
</file>