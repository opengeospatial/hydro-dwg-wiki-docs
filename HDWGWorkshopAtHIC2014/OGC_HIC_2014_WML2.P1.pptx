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22"/>
  </p:notesMasterIdLst>
  <p:sldIdLst>
    <p:sldId id="256" r:id="rId2"/>
    <p:sldId id="257" r:id="rId3"/>
    <p:sldId id="258" r:id="rId4"/>
    <p:sldId id="264" r:id="rId5"/>
    <p:sldId id="259" r:id="rId6"/>
    <p:sldId id="263" r:id="rId7"/>
    <p:sldId id="265" r:id="rId8"/>
    <p:sldId id="260" r:id="rId9"/>
    <p:sldId id="261" r:id="rId10"/>
    <p:sldId id="262" r:id="rId11"/>
    <p:sldId id="266" r:id="rId12"/>
    <p:sldId id="268" r:id="rId13"/>
    <p:sldId id="269" r:id="rId14"/>
    <p:sldId id="271" r:id="rId15"/>
    <p:sldId id="272" r:id="rId16"/>
    <p:sldId id="273" r:id="rId17"/>
    <p:sldId id="274" r:id="rId18"/>
    <p:sldId id="275" r:id="rId19"/>
    <p:sldId id="276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410" y="-192"/>
      </p:cViewPr>
      <p:guideLst>
        <p:guide orient="horz" pos="4319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15F4C9-675D-436C-B17C-663448D8EBCE}" type="datetimeFigureOut">
              <a:rPr lang="en-AU" smtClean="0"/>
              <a:t>16/08/2014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8EBA8-7F89-4F25-BB95-7FDB1D6E341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459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6869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9238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8397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6708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44068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55430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07754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27A854-DB2B-44B0-B5F1-CA5CF053B10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5962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AU" smtClean="0">
                <a:latin typeface="Times" pitchFamily="18" charset="0"/>
                <a:ea typeface="ＭＳ Ｐゴシック" charset="-128"/>
              </a:rPr>
              <a:t>The dots outline the picture</a:t>
            </a:r>
          </a:p>
          <a:p>
            <a:r>
              <a:rPr lang="en-AU" smtClean="0">
                <a:latin typeface="Times" pitchFamily="18" charset="0"/>
                <a:ea typeface="ＭＳ Ｐゴシック" charset="-128"/>
              </a:rPr>
              <a:t>Limited but adequate coverage of the subject – depending on monitoring regime</a:t>
            </a:r>
          </a:p>
          <a:p>
            <a:endParaRPr lang="en-AU" smtClean="0">
              <a:latin typeface="Times" pitchFamily="18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AU" smtClean="0">
                <a:latin typeface="Times" pitchFamily="18" charset="0"/>
                <a:ea typeface="ＭＳ Ｐゴシック" charset="-128"/>
              </a:rPr>
              <a:t>The line defines the assumed gaps</a:t>
            </a:r>
          </a:p>
          <a:p>
            <a:r>
              <a:rPr lang="en-AU" smtClean="0">
                <a:latin typeface="Times" pitchFamily="18" charset="0"/>
                <a:ea typeface="ＭＳ Ｐゴシック" charset="-128"/>
              </a:rPr>
              <a:t>Typically logger, telemetry or digitized analogue record</a:t>
            </a:r>
          </a:p>
          <a:p>
            <a:r>
              <a:rPr lang="en-AU" smtClean="0">
                <a:latin typeface="Times" pitchFamily="18" charset="0"/>
                <a:ea typeface="ＭＳ Ｐゴシック" charset="-128"/>
              </a:rPr>
              <a:t>The problem is  when data systems only record the dots when what we need is information about the lines</a:t>
            </a:r>
          </a:p>
          <a:p>
            <a:endParaRPr lang="en-AU" smtClean="0">
              <a:latin typeface="Times" pitchFamily="18" charset="0"/>
              <a:ea typeface="ＭＳ Ｐゴシック" charset="-128"/>
            </a:endParaRPr>
          </a:p>
          <a:p>
            <a:r>
              <a:rPr lang="en-AU" smtClean="0">
                <a:latin typeface="Times" pitchFamily="18" charset="0"/>
                <a:ea typeface="ＭＳ Ｐゴシック" charset="-128"/>
              </a:rPr>
              <a:t>Dots are line descriptors – not dots.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79332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38841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03773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60955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3089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63948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64560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2236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56530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7747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C59E-DD3E-4CC3-BBA6-4E516DDDB295}" type="datetimeFigureOut">
              <a:rPr lang="en-AU" smtClean="0"/>
              <a:t>16/08/2014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D604-CE8D-49A2-BB0F-72EFF510A14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C59E-DD3E-4CC3-BBA6-4E516DDDB295}" type="datetimeFigureOut">
              <a:rPr lang="en-AU" smtClean="0"/>
              <a:t>16/08/2014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D604-CE8D-49A2-BB0F-72EFF510A14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C59E-DD3E-4CC3-BBA6-4E516DDDB295}" type="datetimeFigureOut">
              <a:rPr lang="en-AU" smtClean="0"/>
              <a:t>16/08/2014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D604-CE8D-49A2-BB0F-72EFF510A14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C59E-DD3E-4CC3-BBA6-4E516DDDB295}" type="datetimeFigureOut">
              <a:rPr lang="en-AU" smtClean="0"/>
              <a:t>16/08/2014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D604-CE8D-49A2-BB0F-72EFF510A14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C59E-DD3E-4CC3-BBA6-4E516DDDB295}" type="datetimeFigureOut">
              <a:rPr lang="en-AU" smtClean="0"/>
              <a:t>16/08/2014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D604-CE8D-49A2-BB0F-72EFF510A14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C59E-DD3E-4CC3-BBA6-4E516DDDB295}" type="datetimeFigureOut">
              <a:rPr lang="en-AU" smtClean="0"/>
              <a:t>16/08/2014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D604-CE8D-49A2-BB0F-72EFF510A14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C59E-DD3E-4CC3-BBA6-4E516DDDB295}" type="datetimeFigureOut">
              <a:rPr lang="en-AU" smtClean="0"/>
              <a:t>16/08/2014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D604-CE8D-49A2-BB0F-72EFF510A14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C59E-DD3E-4CC3-BBA6-4E516DDDB295}" type="datetimeFigureOut">
              <a:rPr lang="en-AU" smtClean="0"/>
              <a:t>16/08/2014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D604-CE8D-49A2-BB0F-72EFF510A14C}" type="slidenum">
              <a:rPr lang="en-AU" smtClean="0"/>
              <a:t>‹#›</a:t>
            </a:fld>
            <a:endParaRPr lang="en-A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C59E-DD3E-4CC3-BBA6-4E516DDDB295}" type="datetimeFigureOut">
              <a:rPr lang="en-AU" smtClean="0"/>
              <a:t>16/08/2014</a:t>
            </a:fld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81D604-CE8D-49A2-BB0F-72EFF510A14C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C59E-DD3E-4CC3-BBA6-4E516DDDB295}" type="datetimeFigureOut">
              <a:rPr lang="en-AU" smtClean="0"/>
              <a:t>16/08/2014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D604-CE8D-49A2-BB0F-72EFF510A14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C59E-DD3E-4CC3-BBA6-4E516DDDB295}" type="datetimeFigureOut">
              <a:rPr lang="en-AU" smtClean="0"/>
              <a:t>16/08/2014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D604-CE8D-49A2-BB0F-72EFF510A14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CC81D604-CE8D-49A2-BB0F-72EFF510A14C}" type="slidenum">
              <a:rPr lang="en-AU" smtClean="0"/>
              <a:t>‹#›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C179C59E-DD3E-4CC3-BBA6-4E516DDDB295}" type="datetimeFigureOut">
              <a:rPr lang="en-AU" smtClean="0"/>
              <a:t>16/08/2014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43800" cy="2593975"/>
          </a:xfrm>
        </p:spPr>
        <p:txBody>
          <a:bodyPr/>
          <a:lstStyle/>
          <a:p>
            <a:r>
              <a:rPr lang="en-AU" dirty="0" err="1" smtClean="0"/>
              <a:t>WaterML</a:t>
            </a:r>
            <a:r>
              <a:rPr lang="en-AU" dirty="0" smtClean="0"/>
              <a:t> 2.0 Part 1 - </a:t>
            </a:r>
            <a:r>
              <a:rPr lang="en-AU" dirty="0" smtClean="0"/>
              <a:t>Time Series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3284984"/>
            <a:ext cx="6264696" cy="1752600"/>
          </a:xfrm>
        </p:spPr>
        <p:txBody>
          <a:bodyPr>
            <a:normAutofit fontScale="92500" lnSpcReduction="20000"/>
          </a:bodyPr>
          <a:lstStyle/>
          <a:p>
            <a:endParaRPr lang="en-US" dirty="0" smtClean="0"/>
          </a:p>
          <a:p>
            <a:r>
              <a:rPr lang="en-US" dirty="0" smtClean="0"/>
              <a:t>Hydro Informatics Conference Workshop </a:t>
            </a:r>
            <a:endParaRPr lang="en-US" dirty="0"/>
          </a:p>
          <a:p>
            <a:r>
              <a:rPr lang="en-US" dirty="0"/>
              <a:t>*Standardization of Water Data Exchange: WaterML2.0 and Beyond</a:t>
            </a:r>
            <a:r>
              <a:rPr lang="en-US" dirty="0" smtClean="0"/>
              <a:t>*</a:t>
            </a:r>
          </a:p>
          <a:p>
            <a:r>
              <a:rPr lang="en-US" dirty="0" smtClean="0"/>
              <a:t>Presented by : </a:t>
            </a:r>
            <a:r>
              <a:rPr lang="en-US" dirty="0" smtClean="0"/>
              <a:t>Open Geospatial Consortium Hydrology Domain Working Group </a:t>
            </a:r>
            <a:endParaRPr lang="en-US" dirty="0"/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179512" y="5517232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 smtClean="0"/>
              <a:t>Paul </a:t>
            </a:r>
            <a:r>
              <a:rPr lang="en-US" sz="2400" dirty="0" err="1" smtClean="0"/>
              <a:t>Sheahan</a:t>
            </a:r>
            <a:endParaRPr lang="en-US" sz="2400" dirty="0" smtClean="0"/>
          </a:p>
          <a:p>
            <a:r>
              <a:rPr lang="en-US" sz="2400" dirty="0" smtClean="0"/>
              <a:t>Australian Bureau of Meteorology</a:t>
            </a:r>
          </a:p>
          <a:p>
            <a:r>
              <a:rPr lang="en-US" sz="2400" dirty="0" smtClean="0"/>
              <a:t>August 2014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53399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WaterML2.0</a:t>
            </a:r>
            <a:endParaRPr lang="en-AU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636912"/>
            <a:ext cx="7620000" cy="376388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800" dirty="0"/>
              <a:t>WaterML2.0 </a:t>
            </a:r>
            <a:r>
              <a:rPr lang="en-US" sz="2800" dirty="0" smtClean="0"/>
              <a:t>is an interoperability </a:t>
            </a:r>
            <a:r>
              <a:rPr lang="en-US" sz="2800" dirty="0"/>
              <a:t>contract that facilitates data exchange</a:t>
            </a:r>
            <a:r>
              <a:rPr lang="en-US" sz="2800" dirty="0" smtClean="0"/>
              <a:t>.</a:t>
            </a:r>
          </a:p>
          <a:p>
            <a:pPr marL="114300" indent="0">
              <a:buNone/>
            </a:pPr>
            <a:endParaRPr lang="en-US" sz="2800" dirty="0"/>
          </a:p>
          <a:p>
            <a:pPr marL="114300" indent="0">
              <a:buNone/>
            </a:pPr>
            <a:endParaRPr lang="en-US" sz="2800" dirty="0"/>
          </a:p>
          <a:p>
            <a:r>
              <a:rPr lang="en-US" sz="2800" dirty="0" smtClean="0"/>
              <a:t>A conceptual model expressed in UML</a:t>
            </a:r>
          </a:p>
          <a:p>
            <a:r>
              <a:rPr lang="en-US" sz="2800" dirty="0" smtClean="0"/>
              <a:t>An XML schema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47290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Hydrological observations</a:t>
            </a:r>
            <a:endParaRPr lang="en-AU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AU" dirty="0" smtClean="0"/>
              <a:t>Broad categories of water observations</a:t>
            </a:r>
          </a:p>
          <a:p>
            <a:pPr marL="571500" indent="-457200">
              <a:buFont typeface="+mj-lt"/>
              <a:buAutoNum type="arabicPeriod"/>
            </a:pPr>
            <a:r>
              <a:rPr lang="en-AU" dirty="0" smtClean="0"/>
              <a:t>In-situ</a:t>
            </a:r>
            <a:r>
              <a:rPr lang="en-AU" dirty="0"/>
              <a:t>, fixed observation </a:t>
            </a:r>
            <a:r>
              <a:rPr lang="en-AU" dirty="0" smtClean="0"/>
              <a:t>style</a:t>
            </a:r>
          </a:p>
          <a:p>
            <a:pPr marL="571500" indent="-457200">
              <a:buFont typeface="+mj-lt"/>
              <a:buAutoNum type="arabicPeriod"/>
            </a:pPr>
            <a:r>
              <a:rPr lang="en-AU" dirty="0"/>
              <a:t>In-situ, manual </a:t>
            </a:r>
            <a:r>
              <a:rPr lang="en-AU" dirty="0" smtClean="0"/>
              <a:t>observations</a:t>
            </a:r>
          </a:p>
          <a:p>
            <a:pPr marL="571500" indent="-457200">
              <a:buFont typeface="+mj-lt"/>
              <a:buAutoNum type="arabicPeriod"/>
            </a:pPr>
            <a:r>
              <a:rPr lang="en-AU" dirty="0"/>
              <a:t>Ex-situ, complex processing </a:t>
            </a:r>
            <a:r>
              <a:rPr lang="en-AU" dirty="0" smtClean="0"/>
              <a:t>observations</a:t>
            </a:r>
          </a:p>
          <a:p>
            <a:pPr marL="571500" indent="-457200">
              <a:buFont typeface="+mj-lt"/>
              <a:buAutoNum type="arabicPeriod"/>
            </a:pPr>
            <a:r>
              <a:rPr lang="en-AU" dirty="0"/>
              <a:t>Remote-sensed </a:t>
            </a:r>
            <a:r>
              <a:rPr lang="en-AU" dirty="0" smtClean="0"/>
              <a:t>observations</a:t>
            </a:r>
          </a:p>
          <a:p>
            <a:pPr marL="571500" indent="-457200">
              <a:buFont typeface="+mj-lt"/>
              <a:buAutoNum type="arabicPeriod"/>
            </a:pPr>
            <a:r>
              <a:rPr lang="en-AU" dirty="0"/>
              <a:t>Complex data </a:t>
            </a:r>
            <a:r>
              <a:rPr lang="en-AU" dirty="0" smtClean="0"/>
              <a:t>products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3636601"/>
            <a:ext cx="4039343" cy="317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1"/>
          <p:cNvSpPr txBox="1">
            <a:spLocks/>
          </p:cNvSpPr>
          <p:nvPr/>
        </p:nvSpPr>
        <p:spPr>
          <a:xfrm>
            <a:off x="251520" y="4869160"/>
            <a:ext cx="3672408" cy="1728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Font typeface="Arial" pitchFamily="34" charset="0"/>
              <a:buNone/>
            </a:pPr>
            <a:r>
              <a:rPr lang="en-AU" sz="2000" i="1" dirty="0" smtClean="0"/>
              <a:t>Generally, </a:t>
            </a:r>
            <a:r>
              <a:rPr lang="en-US" sz="2000" i="1" dirty="0" smtClean="0"/>
              <a:t>the more complex the process of making the measurement, the less likely it is to be available as a </a:t>
            </a:r>
            <a:r>
              <a:rPr lang="en-AU" sz="2000" i="1" dirty="0" smtClean="0"/>
              <a:t>continuous observation.</a:t>
            </a:r>
            <a:endParaRPr lang="en-AU" sz="2000" i="1" dirty="0"/>
          </a:p>
        </p:txBody>
      </p:sp>
    </p:spTree>
    <p:extLst>
      <p:ext uri="{BB962C8B-B14F-4D97-AF65-F5344CB8AC3E}">
        <p14:creationId xmlns:p14="http://schemas.microsoft.com/office/powerpoint/2010/main" val="2299375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Concepts harmonisation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5069160"/>
          </a:xfrm>
        </p:spPr>
        <p:txBody>
          <a:bodyPr>
            <a:normAutofit fontScale="92500" lnSpcReduction="20000"/>
          </a:bodyPr>
          <a:lstStyle/>
          <a:p>
            <a:r>
              <a:rPr lang="en-AU" dirty="0" smtClean="0"/>
              <a:t>Discussion Paper</a:t>
            </a:r>
          </a:p>
          <a:p>
            <a:pPr lvl="1"/>
            <a:r>
              <a:rPr lang="en-AU" dirty="0" smtClean="0"/>
              <a:t>Harmonising Standards for Water Observation Data  (OGC 09-124r2)</a:t>
            </a:r>
          </a:p>
          <a:p>
            <a:pPr marL="411480" lvl="1" indent="0">
              <a:buNone/>
            </a:pPr>
            <a:endParaRPr lang="en-AU" dirty="0" smtClean="0"/>
          </a:p>
          <a:p>
            <a:r>
              <a:rPr lang="en-AU" dirty="0" smtClean="0"/>
              <a:t>Considered data exchange formats from:</a:t>
            </a:r>
          </a:p>
          <a:p>
            <a:pPr lvl="1"/>
            <a:r>
              <a:rPr lang="en-AU" dirty="0"/>
              <a:t>Australian Water Data Transfer Format </a:t>
            </a:r>
          </a:p>
          <a:p>
            <a:pPr lvl="1"/>
            <a:r>
              <a:rPr lang="en-AU" dirty="0"/>
              <a:t>WaterML1.0 </a:t>
            </a:r>
          </a:p>
          <a:p>
            <a:pPr lvl="1"/>
            <a:r>
              <a:rPr lang="en-AU" dirty="0" err="1"/>
              <a:t>XHydro</a:t>
            </a:r>
            <a:r>
              <a:rPr lang="en-AU" dirty="0"/>
              <a:t> </a:t>
            </a:r>
          </a:p>
          <a:p>
            <a:pPr lvl="1"/>
            <a:r>
              <a:rPr lang="en-AU" dirty="0"/>
              <a:t>UK Environmental Agency time series data exchange </a:t>
            </a:r>
          </a:p>
          <a:p>
            <a:pPr lvl="1"/>
            <a:r>
              <a:rPr lang="en-AU" dirty="0"/>
              <a:t>Climate Science Modelling Language </a:t>
            </a:r>
          </a:p>
          <a:p>
            <a:pPr lvl="1"/>
            <a:r>
              <a:rPr lang="en-AU" dirty="0"/>
              <a:t>Ground Water Mark-up Language (GWML) </a:t>
            </a:r>
          </a:p>
          <a:p>
            <a:pPr lvl="1"/>
            <a:r>
              <a:rPr lang="en-AU" dirty="0"/>
              <a:t>INSPIRE Hydrography model </a:t>
            </a:r>
          </a:p>
          <a:p>
            <a:pPr lvl="1"/>
            <a:r>
              <a:rPr lang="en-AU" dirty="0"/>
              <a:t>GRDC Hydrologic Datasets - metadata </a:t>
            </a:r>
          </a:p>
          <a:p>
            <a:pPr lvl="1"/>
            <a:r>
              <a:rPr lang="en-AU" dirty="0"/>
              <a:t>Integrated Ocean Observing System (IOOS) </a:t>
            </a:r>
          </a:p>
          <a:p>
            <a:pPr lvl="1"/>
            <a:r>
              <a:rPr lang="en-AU" dirty="0"/>
              <a:t>Marine Metadata Interoperability </a:t>
            </a:r>
          </a:p>
          <a:p>
            <a:pPr lvl="1"/>
            <a:r>
              <a:rPr lang="en-AU" dirty="0" err="1"/>
              <a:t>Sandre</a:t>
            </a:r>
            <a:r>
              <a:rPr lang="en-AU" dirty="0"/>
              <a:t> </a:t>
            </a:r>
            <a:r>
              <a:rPr lang="en-AU" dirty="0" smtClean="0"/>
              <a:t>- </a:t>
            </a:r>
            <a:r>
              <a:rPr lang="en-AU" dirty="0"/>
              <a:t>Surface Water Quantity exchange </a:t>
            </a:r>
            <a:endParaRPr lang="en-AU" dirty="0" smtClean="0"/>
          </a:p>
          <a:p>
            <a:pPr lvl="1"/>
            <a:r>
              <a:rPr lang="en-AU" dirty="0" err="1"/>
              <a:t>OpenMI</a:t>
            </a:r>
            <a:r>
              <a:rPr lang="en-AU" dirty="0"/>
              <a:t> 	</a:t>
            </a:r>
          </a:p>
          <a:p>
            <a:pPr lvl="1"/>
            <a:r>
              <a:rPr lang="en-AU" dirty="0"/>
              <a:t>FEWS </a:t>
            </a:r>
            <a:r>
              <a:rPr lang="en-AU" dirty="0" smtClean="0"/>
              <a:t>PI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60426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Standards based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AU" dirty="0" smtClean="0"/>
              <a:t>WaterML2.0 is based on:</a:t>
            </a:r>
          </a:p>
          <a:p>
            <a:r>
              <a:rPr lang="en-AU" dirty="0" smtClean="0"/>
              <a:t>ISO19156 </a:t>
            </a:r>
            <a:r>
              <a:rPr lang="en-AU" dirty="0"/>
              <a:t>– Observations &amp; Measurements</a:t>
            </a:r>
          </a:p>
          <a:p>
            <a:r>
              <a:rPr lang="en-US" dirty="0"/>
              <a:t>OGC Geography Markup Language v3.2</a:t>
            </a:r>
            <a:r>
              <a:rPr lang="en-US" dirty="0" smtClean="0"/>
              <a:t>.</a:t>
            </a:r>
          </a:p>
          <a:p>
            <a:r>
              <a:rPr lang="en-US" dirty="0" smtClean="0"/>
              <a:t>Other ISO and OGC</a:t>
            </a:r>
            <a:endParaRPr lang="en-US" dirty="0"/>
          </a:p>
          <a:p>
            <a:endParaRPr lang="en-AU" dirty="0"/>
          </a:p>
        </p:txBody>
      </p:sp>
      <p:pic>
        <p:nvPicPr>
          <p:cNvPr id="2050" name="Picture 2" descr="https://www.seegrid.csiro.au/wiki/pub/AppSchemas/ObservationsAndSampling/7th_Banan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328524"/>
            <a:ext cx="6903251" cy="3457467"/>
          </a:xfrm>
          <a:prstGeom prst="rect">
            <a:avLst/>
          </a:prstGeom>
          <a:noFill/>
          <a:ln>
            <a:solidFill>
              <a:srgbClr val="0070C0"/>
            </a:solidFill>
          </a:ln>
          <a:effectLst>
            <a:outerShdw blurRad="50800" dist="38100" dir="2700000" algn="tl" rotWithShape="0">
              <a:srgbClr val="0070C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7113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O&amp;M </a:t>
            </a:r>
            <a:r>
              <a:rPr lang="en-AU" dirty="0"/>
              <a:t>F</a:t>
            </a:r>
            <a:r>
              <a:rPr lang="en-AU" dirty="0" smtClean="0"/>
              <a:t>eature mapping</a:t>
            </a:r>
            <a:endParaRPr lang="en-A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0866561"/>
              </p:ext>
            </p:extLst>
          </p:nvPr>
        </p:nvGraphicFramePr>
        <p:xfrm>
          <a:off x="611560" y="1916832"/>
          <a:ext cx="6912768" cy="3764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328"/>
                <a:gridCol w="3960440"/>
              </a:tblGrid>
              <a:tr h="905289">
                <a:tc>
                  <a:txBody>
                    <a:bodyPr/>
                    <a:lstStyle/>
                    <a:p>
                      <a:r>
                        <a:rPr lang="en-AU" sz="24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Hydrological term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ISO19156 – Observations &amp;</a:t>
                      </a:r>
                    </a:p>
                    <a:p>
                      <a:r>
                        <a:rPr lang="en-AU" sz="24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Measurements</a:t>
                      </a:r>
                      <a:endParaRPr lang="en-AU" sz="2400" dirty="0"/>
                    </a:p>
                  </a:txBody>
                  <a:tcPr/>
                </a:tc>
              </a:tr>
              <a:tr h="1182943">
                <a:tc>
                  <a:txBody>
                    <a:bodyPr/>
                    <a:lstStyle/>
                    <a:p>
                      <a:pPr algn="l"/>
                      <a:r>
                        <a:rPr lang="en-AU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Monitoring station, gauging station, site</a:t>
                      </a: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SF_SamplingPoint</a:t>
                      </a:r>
                      <a:endParaRPr lang="en-AU" sz="2400" dirty="0"/>
                    </a:p>
                  </a:txBody>
                  <a:tcPr anchor="ctr"/>
                </a:tc>
              </a:tr>
              <a:tr h="1152128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Borehole, observation well, river profile</a:t>
                      </a: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SF_SamplingCurve</a:t>
                      </a:r>
                      <a:endParaRPr lang="en-AU" sz="2400" dirty="0"/>
                    </a:p>
                  </a:txBody>
                  <a:tcPr anchor="ctr"/>
                </a:tc>
              </a:tr>
              <a:tr h="524493">
                <a:tc>
                  <a:txBody>
                    <a:bodyPr/>
                    <a:lstStyle/>
                    <a:p>
                      <a:pPr algn="l"/>
                      <a:r>
                        <a:rPr lang="en-AU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River cross-section</a:t>
                      </a: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SF_SamplingSurface</a:t>
                      </a:r>
                      <a:endParaRPr lang="en-AU" sz="24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2799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XML schema overview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 smtClean="0"/>
              <a:t>Collection</a:t>
            </a:r>
            <a:endParaRPr lang="en-AU" dirty="0"/>
          </a:p>
          <a:p>
            <a:r>
              <a:rPr lang="en-AU" dirty="0" err="1" smtClean="0"/>
              <a:t>MonitoringPoint</a:t>
            </a:r>
            <a:endParaRPr lang="en-AU" dirty="0"/>
          </a:p>
          <a:p>
            <a:r>
              <a:rPr lang="en-AU" dirty="0" err="1" smtClean="0"/>
              <a:t>ObservationProcess</a:t>
            </a:r>
            <a:endParaRPr lang="en-AU" dirty="0"/>
          </a:p>
          <a:p>
            <a:pPr lvl="1"/>
            <a:r>
              <a:rPr lang="en-AU" dirty="0" err="1"/>
              <a:t>ObservationMetadata</a:t>
            </a:r>
            <a:endParaRPr lang="en-AU" dirty="0"/>
          </a:p>
          <a:p>
            <a:r>
              <a:rPr lang="en-AU" dirty="0" err="1" smtClean="0"/>
              <a:t>Timeseries</a:t>
            </a:r>
            <a:endParaRPr lang="en-AU" dirty="0"/>
          </a:p>
          <a:p>
            <a:pPr lvl="1"/>
            <a:r>
              <a:rPr lang="en-AU" dirty="0" err="1"/>
              <a:t>MeasurementTimeseries</a:t>
            </a:r>
            <a:endParaRPr lang="en-AU" dirty="0"/>
          </a:p>
          <a:p>
            <a:pPr lvl="2"/>
            <a:r>
              <a:rPr lang="en-AU" dirty="0" err="1"/>
              <a:t>MeasurementTimeseriesMetadata</a:t>
            </a:r>
            <a:endParaRPr lang="en-AU" dirty="0"/>
          </a:p>
          <a:p>
            <a:pPr lvl="1"/>
            <a:r>
              <a:rPr lang="en-AU" dirty="0" err="1"/>
              <a:t>CategoricalTimeseries</a:t>
            </a:r>
            <a:endParaRPr lang="en-AU" dirty="0"/>
          </a:p>
          <a:p>
            <a:pPr lvl="1"/>
            <a:r>
              <a:rPr lang="en-AU" dirty="0" err="1" smtClean="0"/>
              <a:t>TimeseriesMetadata</a:t>
            </a:r>
            <a:endParaRPr lang="en-AU" dirty="0"/>
          </a:p>
          <a:p>
            <a:r>
              <a:rPr lang="en-AU" dirty="0" err="1"/>
              <a:t>TimeValuePair</a:t>
            </a:r>
            <a:endParaRPr lang="en-AU" dirty="0"/>
          </a:p>
          <a:p>
            <a:pPr lvl="1"/>
            <a:r>
              <a:rPr lang="en-AU" dirty="0" err="1"/>
              <a:t>TVPMetadata</a:t>
            </a:r>
            <a:endParaRPr lang="en-AU" dirty="0"/>
          </a:p>
          <a:p>
            <a:pPr lvl="1"/>
            <a:r>
              <a:rPr lang="en-AU" dirty="0" err="1"/>
              <a:t>MeasurementTVP</a:t>
            </a:r>
            <a:endParaRPr lang="en-AU" dirty="0"/>
          </a:p>
          <a:p>
            <a:pPr lvl="2"/>
            <a:r>
              <a:rPr lang="en-AU" dirty="0" err="1"/>
              <a:t>TVPMeasurementMetadata</a:t>
            </a:r>
            <a:endParaRPr lang="en-AU" dirty="0"/>
          </a:p>
          <a:p>
            <a:pPr lvl="1"/>
            <a:r>
              <a:rPr lang="en-AU" dirty="0" err="1"/>
              <a:t>CategoricalTVP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62239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AU" dirty="0" smtClean="0">
                <a:ea typeface="ＭＳ Ｐゴシック" charset="-128"/>
              </a:rPr>
              <a:t>Time series data</a:t>
            </a:r>
            <a:endParaRPr lang="en-AU" dirty="0" smtClean="0">
              <a:ea typeface="ＭＳ Ｐゴシック" charset="-128"/>
            </a:endParaRPr>
          </a:p>
        </p:txBody>
      </p:sp>
      <p:pic>
        <p:nvPicPr>
          <p:cNvPr id="70660" name="Picture 4" descr="dalm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073652"/>
            <a:ext cx="5705475" cy="451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115616" y="1477868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Is it all about the dots on a graph?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7694753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2054497"/>
            <a:ext cx="6279232" cy="46148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ts val="1800"/>
              </a:spcAft>
            </a:pPr>
            <a:r>
              <a:rPr lang="en-US" dirty="0" smtClean="0">
                <a:ea typeface="ＭＳ Ｐゴシック" charset="-128"/>
              </a:rPr>
              <a:t>The </a:t>
            </a:r>
            <a:r>
              <a:rPr lang="en-US" dirty="0" smtClean="0">
                <a:ea typeface="ＭＳ Ｐゴシック" charset="-128"/>
              </a:rPr>
              <a:t>discrete observation is </a:t>
            </a:r>
            <a:r>
              <a:rPr lang="en-US" dirty="0" smtClean="0">
                <a:ea typeface="ＭＳ Ｐゴシック" charset="-128"/>
              </a:rPr>
              <a:t>an accurate </a:t>
            </a:r>
            <a:r>
              <a:rPr lang="en-US" dirty="0" smtClean="0">
                <a:ea typeface="ＭＳ Ｐゴシック" charset="-128"/>
              </a:rPr>
              <a:t>observation of a feature at a particular point in time.</a:t>
            </a:r>
          </a:p>
          <a:p>
            <a:pPr eaLnBrk="1" hangingPunct="1">
              <a:lnSpc>
                <a:spcPct val="90000"/>
              </a:lnSpc>
              <a:spcAft>
                <a:spcPts val="1800"/>
              </a:spcAft>
            </a:pPr>
            <a:r>
              <a:rPr lang="en-US" dirty="0" smtClean="0">
                <a:ea typeface="ＭＳ Ｐゴシック" charset="-128"/>
              </a:rPr>
              <a:t>The observation is </a:t>
            </a:r>
            <a:r>
              <a:rPr lang="en-US" dirty="0" smtClean="0">
                <a:ea typeface="ＭＳ Ｐゴシック" charset="-128"/>
              </a:rPr>
              <a:t>a stand alone </a:t>
            </a:r>
            <a:r>
              <a:rPr lang="en-US" dirty="0" smtClean="0">
                <a:ea typeface="ＭＳ Ｐゴシック" charset="-128"/>
              </a:rPr>
              <a:t>item, it is not related to other results.</a:t>
            </a:r>
            <a:endParaRPr lang="en-US" dirty="0" smtClean="0">
              <a:ea typeface="ＭＳ Ｐゴシック" charset="-128"/>
            </a:endParaRPr>
          </a:p>
          <a:p>
            <a:pPr eaLnBrk="1" hangingPunct="1">
              <a:lnSpc>
                <a:spcPct val="90000"/>
              </a:lnSpc>
              <a:spcAft>
                <a:spcPts val="1800"/>
              </a:spcAft>
            </a:pPr>
            <a:r>
              <a:rPr lang="en-US" dirty="0" smtClean="0">
                <a:ea typeface="ＭＳ Ｐゴシック" charset="-128"/>
              </a:rPr>
              <a:t>Typically ex-situ analysis</a:t>
            </a:r>
            <a:endParaRPr lang="en-US" dirty="0" smtClean="0">
              <a:ea typeface="ＭＳ Ｐゴシック" charset="-128"/>
            </a:endParaRPr>
          </a:p>
          <a:p>
            <a:pPr eaLnBrk="1" hangingPunct="1">
              <a:lnSpc>
                <a:spcPct val="90000"/>
              </a:lnSpc>
              <a:spcAft>
                <a:spcPts val="1800"/>
              </a:spcAft>
              <a:buFontTx/>
              <a:buNone/>
            </a:pPr>
            <a:endParaRPr lang="en-US" dirty="0" smtClean="0">
              <a:ea typeface="ＭＳ Ｐゴシック" charset="-128"/>
            </a:endParaRPr>
          </a:p>
        </p:txBody>
      </p:sp>
      <p:sp>
        <p:nvSpPr>
          <p:cNvPr id="71683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AU" dirty="0" smtClean="0">
                <a:ea typeface="ＭＳ Ｐゴシック" charset="-128"/>
              </a:rPr>
              <a:t>Discrete observations</a:t>
            </a:r>
            <a:endParaRPr lang="en-AU" dirty="0" smtClean="0">
              <a:ea typeface="ＭＳ Ｐゴシック" charset="-128"/>
            </a:endParaRPr>
          </a:p>
        </p:txBody>
      </p:sp>
      <p:pic>
        <p:nvPicPr>
          <p:cNvPr id="71684" name="Picture 4" descr="dalmatian-Puppy%20dot-to-dot%5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5512" y="3954289"/>
            <a:ext cx="2982912" cy="2859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160156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2060575"/>
            <a:ext cx="6639264" cy="46148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ts val="1800"/>
              </a:spcAft>
            </a:pPr>
            <a:r>
              <a:rPr lang="en-US" dirty="0" smtClean="0">
                <a:ea typeface="ＭＳ Ｐゴシック" charset="-128"/>
              </a:rPr>
              <a:t>Results are collected with a time resolution at which it is </a:t>
            </a:r>
            <a:r>
              <a:rPr lang="en-US" dirty="0" smtClean="0">
                <a:ea typeface="ＭＳ Ｐゴシック" charset="-128"/>
              </a:rPr>
              <a:t>appropriate to consider the record to be a continuous representation of the observed phenomena.</a:t>
            </a:r>
          </a:p>
          <a:p>
            <a:pPr eaLnBrk="1" hangingPunct="1">
              <a:lnSpc>
                <a:spcPct val="90000"/>
              </a:lnSpc>
              <a:spcAft>
                <a:spcPts val="1800"/>
              </a:spcAft>
            </a:pPr>
            <a:r>
              <a:rPr lang="en-US" dirty="0" smtClean="0">
                <a:ea typeface="ＭＳ Ｐゴシック" charset="-128"/>
              </a:rPr>
              <a:t>The high data density allows users to fill in the gaps between the </a:t>
            </a:r>
            <a:r>
              <a:rPr lang="en-US" dirty="0" smtClean="0">
                <a:ea typeface="ＭＳ Ｐゴシック" charset="-128"/>
              </a:rPr>
              <a:t>observations (dots).</a:t>
            </a:r>
            <a:endParaRPr lang="en-US" dirty="0" smtClean="0">
              <a:ea typeface="ＭＳ Ｐゴシック" charset="-128"/>
            </a:endParaRPr>
          </a:p>
          <a:p>
            <a:pPr eaLnBrk="1" hangingPunct="1">
              <a:lnSpc>
                <a:spcPct val="90000"/>
              </a:lnSpc>
              <a:spcAft>
                <a:spcPts val="1800"/>
              </a:spcAft>
            </a:pPr>
            <a:endParaRPr lang="en-US" dirty="0" smtClean="0">
              <a:ea typeface="ＭＳ Ｐゴシック" charset="-128"/>
            </a:endParaRPr>
          </a:p>
        </p:txBody>
      </p:sp>
      <p:sp>
        <p:nvSpPr>
          <p:cNvPr id="72707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AU" dirty="0" smtClean="0">
                <a:ea typeface="ＭＳ Ｐゴシック" charset="-128"/>
              </a:rPr>
              <a:t>Continuous observations</a:t>
            </a:r>
            <a:endParaRPr lang="en-AU" dirty="0" smtClean="0">
              <a:ea typeface="ＭＳ Ｐゴシック" charset="-128"/>
            </a:endParaRPr>
          </a:p>
        </p:txBody>
      </p:sp>
      <p:grpSp>
        <p:nvGrpSpPr>
          <p:cNvPr id="72708" name="Group 4"/>
          <p:cNvGrpSpPr>
            <a:grpSpLocks/>
          </p:cNvGrpSpPr>
          <p:nvPr/>
        </p:nvGrpSpPr>
        <p:grpSpPr bwMode="auto">
          <a:xfrm>
            <a:off x="5436096" y="4052713"/>
            <a:ext cx="2879725" cy="2760663"/>
            <a:chOff x="1526" y="754"/>
            <a:chExt cx="2760" cy="2646"/>
          </a:xfrm>
        </p:grpSpPr>
        <p:pic>
          <p:nvPicPr>
            <p:cNvPr id="72709" name="Picture 5" descr="dalmatian-Puppy%20dot-to-dot%5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6" y="754"/>
              <a:ext cx="2760" cy="26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2710" name="Freeform 6"/>
            <p:cNvSpPr>
              <a:spLocks/>
            </p:cNvSpPr>
            <p:nvPr/>
          </p:nvSpPr>
          <p:spPr bwMode="auto">
            <a:xfrm>
              <a:off x="1944" y="908"/>
              <a:ext cx="2228" cy="2396"/>
            </a:xfrm>
            <a:custGeom>
              <a:avLst/>
              <a:gdLst>
                <a:gd name="T0" fmla="*/ 492 w 2228"/>
                <a:gd name="T1" fmla="*/ 0 h 2396"/>
                <a:gd name="T2" fmla="*/ 256 w 2228"/>
                <a:gd name="T3" fmla="*/ 27 h 2396"/>
                <a:gd name="T4" fmla="*/ 29 w 2228"/>
                <a:gd name="T5" fmla="*/ 299 h 2396"/>
                <a:gd name="T6" fmla="*/ 60 w 2228"/>
                <a:gd name="T7" fmla="*/ 616 h 2396"/>
                <a:gd name="T8" fmla="*/ 120 w 2228"/>
                <a:gd name="T9" fmla="*/ 889 h 2396"/>
                <a:gd name="T10" fmla="*/ 224 w 2228"/>
                <a:gd name="T11" fmla="*/ 940 h 2396"/>
                <a:gd name="T12" fmla="*/ 256 w 2228"/>
                <a:gd name="T13" fmla="*/ 1070 h 2396"/>
                <a:gd name="T14" fmla="*/ 482 w 2228"/>
                <a:gd name="T15" fmla="*/ 1070 h 2396"/>
                <a:gd name="T16" fmla="*/ 456 w 2228"/>
                <a:gd name="T17" fmla="*/ 1216 h 2396"/>
                <a:gd name="T18" fmla="*/ 528 w 2228"/>
                <a:gd name="T19" fmla="*/ 1569 h 2396"/>
                <a:gd name="T20" fmla="*/ 573 w 2228"/>
                <a:gd name="T21" fmla="*/ 1887 h 2396"/>
                <a:gd name="T22" fmla="*/ 301 w 2228"/>
                <a:gd name="T23" fmla="*/ 1932 h 2396"/>
                <a:gd name="T24" fmla="*/ 165 w 2228"/>
                <a:gd name="T25" fmla="*/ 2068 h 2396"/>
                <a:gd name="T26" fmla="*/ 346 w 2228"/>
                <a:gd name="T27" fmla="*/ 2250 h 2396"/>
                <a:gd name="T28" fmla="*/ 755 w 2228"/>
                <a:gd name="T29" fmla="*/ 2068 h 2396"/>
                <a:gd name="T30" fmla="*/ 960 w 2228"/>
                <a:gd name="T31" fmla="*/ 1804 h 2396"/>
                <a:gd name="T32" fmla="*/ 1132 w 2228"/>
                <a:gd name="T33" fmla="*/ 1992 h 2396"/>
                <a:gd name="T34" fmla="*/ 1016 w 2228"/>
                <a:gd name="T35" fmla="*/ 2136 h 2396"/>
                <a:gd name="T36" fmla="*/ 1044 w 2228"/>
                <a:gd name="T37" fmla="*/ 2396 h 2396"/>
                <a:gd name="T38" fmla="*/ 1460 w 2228"/>
                <a:gd name="T39" fmla="*/ 2144 h 2396"/>
                <a:gd name="T40" fmla="*/ 1684 w 2228"/>
                <a:gd name="T41" fmla="*/ 1832 h 2396"/>
                <a:gd name="T42" fmla="*/ 1979 w 2228"/>
                <a:gd name="T43" fmla="*/ 2023 h 2396"/>
                <a:gd name="T44" fmla="*/ 1732 w 2228"/>
                <a:gd name="T45" fmla="*/ 2076 h 2396"/>
                <a:gd name="T46" fmla="*/ 1889 w 2228"/>
                <a:gd name="T47" fmla="*/ 2295 h 2396"/>
                <a:gd name="T48" fmla="*/ 2206 w 2228"/>
                <a:gd name="T49" fmla="*/ 1751 h 2396"/>
                <a:gd name="T50" fmla="*/ 1866 w 2228"/>
                <a:gd name="T51" fmla="*/ 1336 h 2396"/>
                <a:gd name="T52" fmla="*/ 2084 w 2228"/>
                <a:gd name="T53" fmla="*/ 760 h 2396"/>
                <a:gd name="T54" fmla="*/ 1984 w 2228"/>
                <a:gd name="T55" fmla="*/ 700 h 2396"/>
                <a:gd name="T56" fmla="*/ 1840 w 2228"/>
                <a:gd name="T57" fmla="*/ 1148 h 2396"/>
                <a:gd name="T58" fmla="*/ 1390 w 2228"/>
                <a:gd name="T59" fmla="*/ 1206 h 2396"/>
                <a:gd name="T60" fmla="*/ 948 w 2228"/>
                <a:gd name="T61" fmla="*/ 1008 h 2396"/>
                <a:gd name="T62" fmla="*/ 755 w 2228"/>
                <a:gd name="T63" fmla="*/ 843 h 2396"/>
                <a:gd name="T64" fmla="*/ 932 w 2228"/>
                <a:gd name="T65" fmla="*/ 624 h 2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228" h="2396">
                  <a:moveTo>
                    <a:pt x="640" y="8"/>
                  </a:moveTo>
                  <a:lnTo>
                    <a:pt x="492" y="0"/>
                  </a:lnTo>
                  <a:lnTo>
                    <a:pt x="304" y="44"/>
                  </a:lnTo>
                  <a:lnTo>
                    <a:pt x="256" y="27"/>
                  </a:lnTo>
                  <a:lnTo>
                    <a:pt x="74" y="72"/>
                  </a:lnTo>
                  <a:lnTo>
                    <a:pt x="29" y="299"/>
                  </a:lnTo>
                  <a:lnTo>
                    <a:pt x="28" y="524"/>
                  </a:lnTo>
                  <a:lnTo>
                    <a:pt x="60" y="616"/>
                  </a:lnTo>
                  <a:lnTo>
                    <a:pt x="0" y="692"/>
                  </a:lnTo>
                  <a:lnTo>
                    <a:pt x="120" y="889"/>
                  </a:lnTo>
                  <a:lnTo>
                    <a:pt x="244" y="836"/>
                  </a:lnTo>
                  <a:lnTo>
                    <a:pt x="224" y="940"/>
                  </a:lnTo>
                  <a:lnTo>
                    <a:pt x="192" y="996"/>
                  </a:lnTo>
                  <a:lnTo>
                    <a:pt x="256" y="1070"/>
                  </a:lnTo>
                  <a:lnTo>
                    <a:pt x="420" y="1108"/>
                  </a:lnTo>
                  <a:lnTo>
                    <a:pt x="482" y="1070"/>
                  </a:lnTo>
                  <a:lnTo>
                    <a:pt x="516" y="1120"/>
                  </a:lnTo>
                  <a:lnTo>
                    <a:pt x="456" y="1216"/>
                  </a:lnTo>
                  <a:lnTo>
                    <a:pt x="568" y="1388"/>
                  </a:lnTo>
                  <a:lnTo>
                    <a:pt x="528" y="1569"/>
                  </a:lnTo>
                  <a:lnTo>
                    <a:pt x="612" y="1772"/>
                  </a:lnTo>
                  <a:lnTo>
                    <a:pt x="573" y="1887"/>
                  </a:lnTo>
                  <a:lnTo>
                    <a:pt x="482" y="2023"/>
                  </a:lnTo>
                  <a:lnTo>
                    <a:pt x="301" y="1932"/>
                  </a:lnTo>
                  <a:lnTo>
                    <a:pt x="210" y="1977"/>
                  </a:lnTo>
                  <a:lnTo>
                    <a:pt x="165" y="2068"/>
                  </a:lnTo>
                  <a:lnTo>
                    <a:pt x="212" y="2220"/>
                  </a:lnTo>
                  <a:lnTo>
                    <a:pt x="346" y="2250"/>
                  </a:lnTo>
                  <a:lnTo>
                    <a:pt x="618" y="2250"/>
                  </a:lnTo>
                  <a:lnTo>
                    <a:pt x="755" y="2068"/>
                  </a:lnTo>
                  <a:lnTo>
                    <a:pt x="964" y="1924"/>
                  </a:lnTo>
                  <a:lnTo>
                    <a:pt x="960" y="1804"/>
                  </a:lnTo>
                  <a:lnTo>
                    <a:pt x="1052" y="1836"/>
                  </a:lnTo>
                  <a:lnTo>
                    <a:pt x="1132" y="1992"/>
                  </a:lnTo>
                  <a:lnTo>
                    <a:pt x="1132" y="2088"/>
                  </a:lnTo>
                  <a:lnTo>
                    <a:pt x="1016" y="2136"/>
                  </a:lnTo>
                  <a:lnTo>
                    <a:pt x="972" y="2224"/>
                  </a:lnTo>
                  <a:lnTo>
                    <a:pt x="1044" y="2396"/>
                  </a:lnTo>
                  <a:lnTo>
                    <a:pt x="1299" y="2386"/>
                  </a:lnTo>
                  <a:lnTo>
                    <a:pt x="1460" y="2144"/>
                  </a:lnTo>
                  <a:lnTo>
                    <a:pt x="1468" y="1912"/>
                  </a:lnTo>
                  <a:lnTo>
                    <a:pt x="1684" y="1832"/>
                  </a:lnTo>
                  <a:lnTo>
                    <a:pt x="1889" y="1887"/>
                  </a:lnTo>
                  <a:lnTo>
                    <a:pt x="1979" y="2023"/>
                  </a:lnTo>
                  <a:lnTo>
                    <a:pt x="1860" y="2016"/>
                  </a:lnTo>
                  <a:lnTo>
                    <a:pt x="1732" y="2076"/>
                  </a:lnTo>
                  <a:lnTo>
                    <a:pt x="1798" y="2250"/>
                  </a:lnTo>
                  <a:lnTo>
                    <a:pt x="1889" y="2295"/>
                  </a:lnTo>
                  <a:lnTo>
                    <a:pt x="2228" y="2232"/>
                  </a:lnTo>
                  <a:lnTo>
                    <a:pt x="2206" y="1751"/>
                  </a:lnTo>
                  <a:lnTo>
                    <a:pt x="1979" y="1524"/>
                  </a:lnTo>
                  <a:lnTo>
                    <a:pt x="1866" y="1336"/>
                  </a:lnTo>
                  <a:lnTo>
                    <a:pt x="2056" y="1136"/>
                  </a:lnTo>
                  <a:lnTo>
                    <a:pt x="2084" y="760"/>
                  </a:lnTo>
                  <a:lnTo>
                    <a:pt x="2220" y="608"/>
                  </a:lnTo>
                  <a:lnTo>
                    <a:pt x="1984" y="700"/>
                  </a:lnTo>
                  <a:lnTo>
                    <a:pt x="1940" y="960"/>
                  </a:lnTo>
                  <a:lnTo>
                    <a:pt x="1840" y="1148"/>
                  </a:lnTo>
                  <a:lnTo>
                    <a:pt x="1616" y="1206"/>
                  </a:lnTo>
                  <a:lnTo>
                    <a:pt x="1390" y="1206"/>
                  </a:lnTo>
                  <a:lnTo>
                    <a:pt x="1132" y="1112"/>
                  </a:lnTo>
                  <a:lnTo>
                    <a:pt x="948" y="1008"/>
                  </a:lnTo>
                  <a:lnTo>
                    <a:pt x="872" y="868"/>
                  </a:lnTo>
                  <a:lnTo>
                    <a:pt x="755" y="843"/>
                  </a:lnTo>
                  <a:lnTo>
                    <a:pt x="928" y="672"/>
                  </a:lnTo>
                  <a:lnTo>
                    <a:pt x="932" y="624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539552" y="4966302"/>
            <a:ext cx="4896544" cy="1199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lnSpc>
                <a:spcPct val="90000"/>
              </a:lnSpc>
              <a:spcAft>
                <a:spcPts val="1800"/>
              </a:spcAft>
              <a:buNone/>
            </a:pPr>
            <a:r>
              <a:rPr lang="en-US" sz="2800" b="1" i="1" dirty="0" smtClean="0">
                <a:ea typeface="ＭＳ Ｐゴシック" charset="-128"/>
              </a:rPr>
              <a:t>Time series data is not about the dots, its about the lines.</a:t>
            </a:r>
            <a:endParaRPr lang="en-US" b="1" i="1" dirty="0" smtClean="0">
              <a:ea typeface="ＭＳ Ｐゴシック" charset="-128"/>
            </a:endParaRPr>
          </a:p>
          <a:p>
            <a:pPr>
              <a:lnSpc>
                <a:spcPct val="90000"/>
              </a:lnSpc>
              <a:spcAft>
                <a:spcPts val="1800"/>
              </a:spcAft>
            </a:pPr>
            <a:endParaRPr lang="en-US" dirty="0" smtClean="0">
              <a:ea typeface="ＭＳ Ｐゴシック" charset="-128"/>
            </a:endParaRPr>
          </a:p>
          <a:p>
            <a:pPr>
              <a:lnSpc>
                <a:spcPct val="90000"/>
              </a:lnSpc>
              <a:spcAft>
                <a:spcPts val="1800"/>
              </a:spcAft>
            </a:pPr>
            <a:endParaRPr lang="en-US" dirty="0" smtClean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0082320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Time series point metadata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quality </a:t>
            </a:r>
          </a:p>
          <a:p>
            <a:r>
              <a:rPr lang="en-AU" dirty="0" err="1"/>
              <a:t>nilReason</a:t>
            </a:r>
            <a:r>
              <a:rPr lang="en-AU" dirty="0"/>
              <a:t> </a:t>
            </a:r>
            <a:endParaRPr lang="en-AU" dirty="0" smtClean="0"/>
          </a:p>
          <a:p>
            <a:r>
              <a:rPr lang="en-AU" dirty="0" smtClean="0"/>
              <a:t>comment</a:t>
            </a:r>
            <a:endParaRPr lang="en-AU" dirty="0"/>
          </a:p>
          <a:p>
            <a:r>
              <a:rPr lang="en-AU" dirty="0" smtClean="0"/>
              <a:t>qualifier</a:t>
            </a:r>
            <a:endParaRPr lang="en-AU" dirty="0"/>
          </a:p>
          <a:p>
            <a:r>
              <a:rPr lang="en-AU" dirty="0" smtClean="0"/>
              <a:t>processing</a:t>
            </a:r>
            <a:endParaRPr lang="en-AU" dirty="0"/>
          </a:p>
          <a:p>
            <a:r>
              <a:rPr lang="en-AU" dirty="0" smtClean="0"/>
              <a:t>source</a:t>
            </a:r>
            <a:endParaRPr lang="en-AU" dirty="0"/>
          </a:p>
          <a:p>
            <a:r>
              <a:rPr lang="en-AU" dirty="0" err="1"/>
              <a:t>censoredReason</a:t>
            </a:r>
            <a:r>
              <a:rPr lang="en-AU" dirty="0"/>
              <a:t> </a:t>
            </a:r>
            <a:endParaRPr lang="en-AU" dirty="0" smtClean="0"/>
          </a:p>
          <a:p>
            <a:r>
              <a:rPr lang="en-AU" dirty="0" smtClean="0"/>
              <a:t>accuracy</a:t>
            </a:r>
            <a:endParaRPr lang="en-AU" dirty="0"/>
          </a:p>
          <a:p>
            <a:r>
              <a:rPr lang="en-AU" dirty="0" err="1" smtClean="0"/>
              <a:t>interpolationCode</a:t>
            </a:r>
            <a:endParaRPr lang="en-AU" dirty="0"/>
          </a:p>
          <a:p>
            <a:r>
              <a:rPr lang="en-AU" dirty="0" err="1" smtClean="0"/>
              <a:t>aggregationDuration</a:t>
            </a:r>
            <a:endParaRPr lang="en-AU" dirty="0" smtClean="0"/>
          </a:p>
          <a:p>
            <a:pPr marL="114300" indent="0">
              <a:buNone/>
            </a:pP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2051720" y="6237312"/>
            <a:ext cx="5220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By point, or set the default for the series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878802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Interpolation code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dirty="0" smtClean="0"/>
              <a:t>Its all about the lines….</a:t>
            </a:r>
          </a:p>
          <a:p>
            <a:endParaRPr lang="en-AU" dirty="0"/>
          </a:p>
          <a:p>
            <a:r>
              <a:rPr lang="en-US" dirty="0"/>
              <a:t>Continuous/Instantaneous</a:t>
            </a:r>
          </a:p>
          <a:p>
            <a:r>
              <a:rPr lang="en-US" dirty="0"/>
              <a:t>Discontinuous</a:t>
            </a:r>
          </a:p>
          <a:p>
            <a:r>
              <a:rPr lang="en-US" dirty="0"/>
              <a:t>Instantaneous total</a:t>
            </a:r>
          </a:p>
          <a:p>
            <a:r>
              <a:rPr lang="en-US" dirty="0"/>
              <a:t>Average in preceding interval</a:t>
            </a:r>
          </a:p>
          <a:p>
            <a:r>
              <a:rPr lang="en-US" dirty="0"/>
              <a:t>Maximum in preceding interval</a:t>
            </a:r>
          </a:p>
          <a:p>
            <a:r>
              <a:rPr lang="en-US" dirty="0"/>
              <a:t>Minimum in preceding interval</a:t>
            </a:r>
          </a:p>
          <a:p>
            <a:r>
              <a:rPr lang="en-US" dirty="0"/>
              <a:t>Preceding total</a:t>
            </a:r>
          </a:p>
          <a:p>
            <a:r>
              <a:rPr lang="en-US" dirty="0"/>
              <a:t>Average in succeeding interval</a:t>
            </a:r>
          </a:p>
          <a:p>
            <a:r>
              <a:rPr lang="en-US" dirty="0"/>
              <a:t>Succeeding total</a:t>
            </a:r>
          </a:p>
          <a:p>
            <a:r>
              <a:rPr lang="en-US" dirty="0"/>
              <a:t>Minimum in succeeding interval</a:t>
            </a:r>
          </a:p>
          <a:p>
            <a:r>
              <a:rPr lang="en-US" dirty="0"/>
              <a:t>Maximum in succeeding interval</a:t>
            </a:r>
          </a:p>
          <a:p>
            <a:r>
              <a:rPr lang="en-US" dirty="0"/>
              <a:t>Constant in preceding interval</a:t>
            </a:r>
          </a:p>
          <a:p>
            <a:r>
              <a:rPr lang="en-US" dirty="0"/>
              <a:t>Constant in succeeding interval</a:t>
            </a:r>
          </a:p>
          <a:p>
            <a:r>
              <a:rPr lang="en-US" dirty="0"/>
              <a:t>Statistical</a:t>
            </a:r>
          </a:p>
          <a:p>
            <a:pPr marL="11430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84634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Continuous/Instantaneous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14" t="31346" r="27992" b="7885"/>
          <a:stretch/>
        </p:blipFill>
        <p:spPr bwMode="auto">
          <a:xfrm>
            <a:off x="707929" y="1935937"/>
            <a:ext cx="5880295" cy="4445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83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Discontinuous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57" t="31157" r="29722" b="8462"/>
          <a:stretch/>
        </p:blipFill>
        <p:spPr bwMode="auto">
          <a:xfrm>
            <a:off x="663667" y="1916832"/>
            <a:ext cx="5636525" cy="4417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1312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Instantaneous </a:t>
            </a:r>
            <a:r>
              <a:rPr lang="en-US" dirty="0" smtClean="0"/>
              <a:t>total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32" t="27116" r="34047" b="11345"/>
          <a:stretch/>
        </p:blipFill>
        <p:spPr bwMode="auto">
          <a:xfrm>
            <a:off x="611560" y="1879666"/>
            <a:ext cx="5753686" cy="450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3358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Preceding </a:t>
            </a:r>
            <a:r>
              <a:rPr lang="en-US" dirty="0" smtClean="0"/>
              <a:t>total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57" t="28077" r="32100" b="9808"/>
          <a:stretch/>
        </p:blipFill>
        <p:spPr bwMode="auto">
          <a:xfrm>
            <a:off x="767538" y="1844824"/>
            <a:ext cx="5964702" cy="4543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Connector 5"/>
          <p:cNvCxnSpPr/>
          <p:nvPr/>
        </p:nvCxnSpPr>
        <p:spPr>
          <a:xfrm flipH="1">
            <a:off x="4932040" y="2492896"/>
            <a:ext cx="936104" cy="33843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3059832" y="4653136"/>
            <a:ext cx="936104" cy="12241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2123728" y="3717032"/>
            <a:ext cx="936104" cy="2160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87624" y="4365104"/>
            <a:ext cx="936104" cy="1512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9452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4" t="40873" r="6854" b="17857"/>
          <a:stretch/>
        </p:blipFill>
        <p:spPr bwMode="auto">
          <a:xfrm>
            <a:off x="828289" y="4005064"/>
            <a:ext cx="6552728" cy="2294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16" t="17021" r="29713" b="51813"/>
          <a:stretch>
            <a:fillRect/>
          </a:stretch>
        </p:blipFill>
        <p:spPr bwMode="auto">
          <a:xfrm>
            <a:off x="1116742" y="260648"/>
            <a:ext cx="6264275" cy="308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490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96" t="39484" r="4287" b="12897"/>
          <a:stretch/>
        </p:blipFill>
        <p:spPr bwMode="auto">
          <a:xfrm>
            <a:off x="-16205" y="1772816"/>
            <a:ext cx="8404629" cy="3483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7094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19" t="48611" r="10679" b="27579"/>
          <a:stretch/>
        </p:blipFill>
        <p:spPr bwMode="auto">
          <a:xfrm>
            <a:off x="108432" y="1988840"/>
            <a:ext cx="8279992" cy="1872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7331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vocabulary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6" t="48413" r="18343" b="19246"/>
          <a:stretch/>
        </p:blipFill>
        <p:spPr bwMode="auto">
          <a:xfrm>
            <a:off x="187779" y="2420888"/>
            <a:ext cx="8128637" cy="2671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9580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264</TotalTime>
  <Words>501</Words>
  <Application>Microsoft Office PowerPoint</Application>
  <PresentationFormat>On-screen Show (4:3)</PresentationFormat>
  <Paragraphs>139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Adjacency</vt:lpstr>
      <vt:lpstr>WaterML 2.0 Part 1 - Time Series</vt:lpstr>
      <vt:lpstr>WaterML2.0</vt:lpstr>
      <vt:lpstr>Hydrological observations</vt:lpstr>
      <vt:lpstr>Concepts harmonisation</vt:lpstr>
      <vt:lpstr>Standards based</vt:lpstr>
      <vt:lpstr>O&amp;M Feature mapping</vt:lpstr>
      <vt:lpstr>XML schema overview</vt:lpstr>
      <vt:lpstr>Time series data</vt:lpstr>
      <vt:lpstr>Discrete observations</vt:lpstr>
      <vt:lpstr>Continuous observations</vt:lpstr>
      <vt:lpstr>Time series point metadata</vt:lpstr>
      <vt:lpstr>Interpolation code</vt:lpstr>
      <vt:lpstr>Continuous/Instantaneous</vt:lpstr>
      <vt:lpstr>Discontinuous</vt:lpstr>
      <vt:lpstr>Instantaneous total</vt:lpstr>
      <vt:lpstr>Preceding total</vt:lpstr>
      <vt:lpstr>PowerPoint Presentation</vt:lpstr>
      <vt:lpstr>PowerPoint Presentation</vt:lpstr>
      <vt:lpstr>PowerPoint Presentation</vt:lpstr>
      <vt:lpstr>vocabulary</vt:lpstr>
    </vt:vector>
  </TitlesOfParts>
  <Company>Bureau of Meteorology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Paul Sheahan</dc:creator>
  <cp:lastModifiedBy>Paul Sheahan</cp:lastModifiedBy>
  <cp:revision>34</cp:revision>
  <dcterms:created xsi:type="dcterms:W3CDTF">2014-08-15T17:55:09Z</dcterms:created>
  <dcterms:modified xsi:type="dcterms:W3CDTF">2014-08-15T22:19:42Z</dcterms:modified>
</cp:coreProperties>
</file>