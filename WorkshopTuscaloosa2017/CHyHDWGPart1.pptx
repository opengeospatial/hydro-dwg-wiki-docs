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454" r:id="rId3"/>
    <p:sldId id="455" r:id="rId4"/>
    <p:sldId id="456" r:id="rId5"/>
    <p:sldId id="457" r:id="rId6"/>
    <p:sldId id="463" r:id="rId7"/>
    <p:sldId id="464" r:id="rId8"/>
    <p:sldId id="458" r:id="rId9"/>
    <p:sldId id="459" r:id="rId10"/>
    <p:sldId id="460" r:id="rId11"/>
    <p:sldId id="461" r:id="rId12"/>
    <p:sldId id="462" r:id="rId13"/>
    <p:sldId id="360" r:id="rId14"/>
    <p:sldId id="364" r:id="rId15"/>
    <p:sldId id="365" r:id="rId16"/>
    <p:sldId id="366" r:id="rId17"/>
    <p:sldId id="367" r:id="rId18"/>
    <p:sldId id="370" r:id="rId19"/>
    <p:sldId id="369" r:id="rId20"/>
    <p:sldId id="371" r:id="rId21"/>
    <p:sldId id="372" r:id="rId22"/>
    <p:sldId id="375" r:id="rId23"/>
    <p:sldId id="376" r:id="rId24"/>
    <p:sldId id="377" r:id="rId25"/>
    <p:sldId id="368" r:id="rId26"/>
    <p:sldId id="373" r:id="rId27"/>
    <p:sldId id="374" r:id="rId28"/>
    <p:sldId id="380" r:id="rId29"/>
    <p:sldId id="382" r:id="rId30"/>
    <p:sldId id="386" r:id="rId31"/>
    <p:sldId id="388" r:id="rId32"/>
    <p:sldId id="387" r:id="rId33"/>
    <p:sldId id="389" r:id="rId34"/>
    <p:sldId id="359" r:id="rId35"/>
    <p:sldId id="385" r:id="rId36"/>
    <p:sldId id="384" r:id="rId37"/>
    <p:sldId id="390" r:id="rId38"/>
    <p:sldId id="381" r:id="rId39"/>
    <p:sldId id="383" r:id="rId40"/>
    <p:sldId id="396" r:id="rId41"/>
    <p:sldId id="397" r:id="rId42"/>
    <p:sldId id="398" r:id="rId43"/>
    <p:sldId id="399" r:id="rId44"/>
    <p:sldId id="400" r:id="rId45"/>
    <p:sldId id="453" r:id="rId46"/>
    <p:sldId id="393" r:id="rId47"/>
    <p:sldId id="401" r:id="rId48"/>
    <p:sldId id="395" r:id="rId49"/>
    <p:sldId id="394" r:id="rId50"/>
    <p:sldId id="392" r:id="rId51"/>
    <p:sldId id="402" r:id="rId52"/>
    <p:sldId id="403" r:id="rId53"/>
    <p:sldId id="405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0" autoAdjust="0"/>
    <p:restoredTop sz="94671"/>
  </p:normalViewPr>
  <p:slideViewPr>
    <p:cSldViewPr snapToGrid="0" snapToObjects="1">
      <p:cViewPr varScale="1">
        <p:scale>
          <a:sx n="91" d="100"/>
          <a:sy n="91" d="100"/>
        </p:scale>
        <p:origin x="17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51FC9-AFCF-49EB-A244-BC807F184F05}" type="datetimeFigureOut">
              <a:rPr lang="en-US" smtClean="0"/>
              <a:pPr/>
              <a:t>6/21/17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321C3-9685-46B5-915C-1C4C4FEE7A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3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emanticweb.org/ontologies/hydrology" TargetMode="External"/><Relationship Id="rId4" Type="http://schemas.openxmlformats.org/officeDocument/2006/relationships/hyperlink" Target="http://www.w3.org/1999/02/22-rdf-syntax-ns" TargetMode="External"/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FE348-F6E3-0D4A-9E6C-6330799BBDC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FE348-F6E3-0D4A-9E6C-6330799BBDC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FE348-F6E3-0D4A-9E6C-6330799BBDC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FE348-F6E3-0D4A-9E6C-6330799BBDC4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 err="1" smtClean="0"/>
              <a:t>Make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available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real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time</a:t>
            </a:r>
            <a:r>
              <a:rPr lang="it-IT" baseline="0" dirty="0" smtClean="0"/>
              <a:t> data</a:t>
            </a:r>
            <a:endParaRPr lang="it-IT" dirty="0" smtClean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321C3-9685-46B5-915C-1C4C4FEE7A3D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 err="1" smtClean="0"/>
              <a:t>Make</a:t>
            </a:r>
            <a:r>
              <a:rPr lang="it-IT" dirty="0" smtClean="0"/>
              <a:t> </a:t>
            </a:r>
            <a:r>
              <a:rPr lang="it-IT" dirty="0" err="1" smtClean="0"/>
              <a:t>available</a:t>
            </a:r>
            <a:r>
              <a:rPr lang="it-IT" dirty="0" smtClean="0"/>
              <a:t> </a:t>
            </a:r>
            <a:r>
              <a:rPr lang="it-IT" dirty="0" err="1" smtClean="0"/>
              <a:t>historical</a:t>
            </a:r>
            <a:r>
              <a:rPr lang="it-IT" baseline="0" dirty="0" smtClean="0"/>
              <a:t> data</a:t>
            </a:r>
            <a:endParaRPr lang="it-IT" dirty="0" smtClean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321C3-9685-46B5-915C-1C4C4FEE7A3D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err="1" smtClean="0"/>
              <a:t>hiscentral.ddns.net</a:t>
            </a:r>
            <a:r>
              <a:rPr lang="it-IT" dirty="0" smtClean="0"/>
              <a:t>:8088/</a:t>
            </a:r>
            <a:r>
              <a:rPr lang="it-IT" dirty="0" err="1" smtClean="0"/>
              <a:t>ontology</a:t>
            </a:r>
            <a:r>
              <a:rPr lang="it-IT" dirty="0" smtClean="0"/>
              <a:t>/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FE348-F6E3-0D4A-9E6C-6330799BBDC4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PREFIX : &lt;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  <a:hlinkClick r:id="rId3"/>
              </a:rPr>
              <a:t>http://www.semanticweb.org/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  <a:hlinkClick r:id="rId3"/>
              </a:rPr>
              <a:t>ontologies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  <a:hlinkClick r:id="rId3"/>
              </a:rPr>
              <a:t>/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  <a:hlinkClick r:id="rId3"/>
              </a:rPr>
              <a:t>hydrology#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&gt; 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PREFIX 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rdf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: &lt;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  <a:hlinkClick r:id="rId4"/>
              </a:rPr>
              <a:t>http://www.w3.org/1999/02/22-rdf-syntax-ns#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&gt; 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select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 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distinct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 ?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name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 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where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 {?x 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rdf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: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type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 :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Variable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. 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       ?x :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variablename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 ?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name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. 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       ?x :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searchedBy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 ?y. 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       ?y 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rdf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: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type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 :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Concept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. 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       ?y :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conceptname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 ?z. 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       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filter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 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regex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(?z, "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level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, </a:t>
            </a:r>
            <a:r>
              <a:rPr lang="it-IT" sz="1200" b="0" i="0" kern="1200" dirty="0" err="1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stream</a:t>
            </a:r>
            <a:r>
              <a:rPr lang="it-IT" sz="1200" b="0" i="0" kern="1200" dirty="0" smtClean="0">
                <a:solidFill>
                  <a:schemeClr val="tx1"/>
                </a:solidFill>
                <a:latin typeface="Times" charset="0"/>
                <a:ea typeface="+mn-ea"/>
                <a:cs typeface="+mn-cs"/>
              </a:rPr>
              <a:t>", "i" )} 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FE348-F6E3-0D4A-9E6C-6330799BBDC4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solidFill>
                  <a:srgbClr val="FF0000"/>
                </a:solidFill>
              </a:rPr>
              <a:t>http://codes.wmo.int/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FE348-F6E3-0D4A-9E6C-6330799BBDC4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wmo2016_powerpoint_standard_v2-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51694"/>
            <a:ext cx="198882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3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0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54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27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2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09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8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tit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lang="en-US" sz="1800">
              <a:solidFill>
                <a:prstClr val="black"/>
              </a:solidFill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8" name="Rectangle 1"/>
          <p:cNvSpPr>
            <a:spLocks/>
          </p:cNvSpPr>
          <p:nvPr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lang="en-US" sz="1800">
              <a:solidFill>
                <a:srgbClr val="A3CA4B">
                  <a:lumMod val="60000"/>
                  <a:lumOff val="40000"/>
                </a:srgbClr>
              </a:solidFill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600200"/>
            <a:ext cx="7315200" cy="2057400"/>
          </a:xfrm>
        </p:spPr>
        <p:txBody>
          <a:bodyPr anchor="t"/>
          <a:lstStyle>
            <a:lvl1pPr>
              <a:defRPr lang="en-US" sz="7200" b="1" i="0" kern="1200" baseline="0" dirty="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 dirty="0"/>
              <a:t>BIG but short</a:t>
            </a:r>
            <a:br>
              <a:rPr lang="en-US" dirty="0"/>
            </a:br>
            <a:r>
              <a:rPr lang="en-US" dirty="0"/>
              <a:t>message here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7CD9D8-4C11-4D56-84AC-F9003AC5D8FC}" type="slidenum">
              <a:rPr lang="en-US" smtClean="0">
                <a:latin typeface="Arial"/>
                <a:ea typeface="ＭＳ Ｐゴシック"/>
                <a:cs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7610181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theme" Target="../theme/theme1.xml"/><Relationship Id="rId1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wmo2016_powerpoint_standard_v2-2.jp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51694"/>
            <a:ext cx="198882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61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eg"/><Relationship Id="rId3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4" Type="http://schemas.openxmlformats.org/officeDocument/2006/relationships/image" Target="../media/image28.jpeg"/><Relationship Id="rId5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eg"/><Relationship Id="rId3" Type="http://schemas.openxmlformats.org/officeDocument/2006/relationships/image" Target="../media/image3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" Type="http://schemas.openxmlformats.org/officeDocument/2006/relationships/image" Target="../media/image34.jpe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4" Type="http://schemas.openxmlformats.org/officeDocument/2006/relationships/image" Target="../media/image39.jpe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4" Type="http://schemas.openxmlformats.org/officeDocument/2006/relationships/image" Target="../media/image44.jpeg"/><Relationship Id="rId5" Type="http://schemas.openxmlformats.org/officeDocument/2006/relationships/image" Target="../media/image45.jpeg"/><Relationship Id="rId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eg"/></Relationships>
</file>

<file path=ppt/slides/_rels/slide2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5.png"/><Relationship Id="rId12" Type="http://schemas.openxmlformats.org/officeDocument/2006/relationships/image" Target="../media/image55.jpeg"/><Relationship Id="rId13" Type="http://schemas.openxmlformats.org/officeDocument/2006/relationships/image" Target="../media/image56.jpeg"/><Relationship Id="rId14" Type="http://schemas.openxmlformats.org/officeDocument/2006/relationships/image" Target="../media/image57.jpe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jpeg"/><Relationship Id="rId4" Type="http://schemas.openxmlformats.org/officeDocument/2006/relationships/image" Target="../media/image48.jpeg"/><Relationship Id="rId5" Type="http://schemas.openxmlformats.org/officeDocument/2006/relationships/image" Target="../media/image49.png"/><Relationship Id="rId6" Type="http://schemas.openxmlformats.org/officeDocument/2006/relationships/image" Target="../media/image50.jpe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67.jpeg"/><Relationship Id="rId12" Type="http://schemas.openxmlformats.org/officeDocument/2006/relationships/image" Target="../media/image68.jpeg"/><Relationship Id="rId13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eg"/><Relationship Id="rId3" Type="http://schemas.openxmlformats.org/officeDocument/2006/relationships/image" Target="../media/image59.jpeg"/><Relationship Id="rId4" Type="http://schemas.openxmlformats.org/officeDocument/2006/relationships/image" Target="../media/image60.jpeg"/><Relationship Id="rId5" Type="http://schemas.openxmlformats.org/officeDocument/2006/relationships/image" Target="../media/image61.jpeg"/><Relationship Id="rId6" Type="http://schemas.openxmlformats.org/officeDocument/2006/relationships/image" Target="../media/image62.jpeg"/><Relationship Id="rId7" Type="http://schemas.openxmlformats.org/officeDocument/2006/relationships/image" Target="../media/image63.jpeg"/><Relationship Id="rId8" Type="http://schemas.openxmlformats.org/officeDocument/2006/relationships/image" Target="../media/image64.jpeg"/><Relationship Id="rId9" Type="http://schemas.openxmlformats.org/officeDocument/2006/relationships/image" Target="../media/image65.jpeg"/><Relationship Id="rId10" Type="http://schemas.openxmlformats.org/officeDocument/2006/relationships/image" Target="../media/image66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7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mo2016_powerpoint_standard_v2-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216000" cy="691200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721255" y="2044702"/>
            <a:ext cx="8229600" cy="1951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rgbClr val="000090"/>
                </a:solidFill>
              </a:rPr>
              <a:t>Feedback from WMO</a:t>
            </a:r>
          </a:p>
          <a:p>
            <a:r>
              <a:rPr lang="en-US" sz="4800" b="1" dirty="0" err="1" smtClean="0">
                <a:solidFill>
                  <a:srgbClr val="000090"/>
                </a:solidFill>
              </a:rPr>
              <a:t>HydroDWG</a:t>
            </a:r>
            <a:r>
              <a:rPr lang="en-US" sz="4800" b="1" dirty="0" smtClean="0">
                <a:solidFill>
                  <a:srgbClr val="000090"/>
                </a:solidFill>
              </a:rPr>
              <a:t> contributions to </a:t>
            </a:r>
            <a:r>
              <a:rPr lang="en-US" sz="4800" b="1" dirty="0" err="1" smtClean="0">
                <a:solidFill>
                  <a:srgbClr val="000090"/>
                </a:solidFill>
              </a:rPr>
              <a:t>CHy</a:t>
            </a:r>
            <a:endParaRPr lang="en-US" sz="4800" b="1" dirty="0" smtClean="0">
              <a:solidFill>
                <a:srgbClr val="000090"/>
              </a:solidFill>
            </a:endParaRPr>
          </a:p>
          <a:p>
            <a:r>
              <a:rPr lang="en-US" sz="4800" dirty="0">
                <a:solidFill>
                  <a:srgbClr val="000090"/>
                </a:solidFill>
              </a:rPr>
              <a:t/>
            </a:r>
            <a:br>
              <a:rPr lang="en-US" sz="4800" dirty="0">
                <a:solidFill>
                  <a:srgbClr val="000090"/>
                </a:solidFill>
              </a:rPr>
            </a:br>
            <a:endParaRPr lang="en-US" sz="4800" dirty="0" smtClean="0">
              <a:solidFill>
                <a:srgbClr val="000090"/>
              </a:solidFill>
            </a:endParaRPr>
          </a:p>
          <a:p>
            <a:r>
              <a:rPr lang="en-US" sz="2400" dirty="0" smtClean="0">
                <a:solidFill>
                  <a:srgbClr val="000090"/>
                </a:solidFill>
              </a:rPr>
              <a:t>Silvano </a:t>
            </a:r>
            <a:r>
              <a:rPr lang="en-US" sz="2400" dirty="0" err="1" smtClean="0">
                <a:solidFill>
                  <a:srgbClr val="000090"/>
                </a:solidFill>
              </a:rPr>
              <a:t>Pecora</a:t>
            </a:r>
            <a:endParaRPr lang="en-US" sz="2400" dirty="0" smtClean="0">
              <a:solidFill>
                <a:srgbClr val="000090"/>
              </a:solidFill>
            </a:endParaRPr>
          </a:p>
          <a:p>
            <a:r>
              <a:rPr lang="en-US" sz="2400" dirty="0" smtClean="0">
                <a:solidFill>
                  <a:srgbClr val="000090"/>
                </a:solidFill>
              </a:rPr>
              <a:t>Vice-President of </a:t>
            </a:r>
            <a:r>
              <a:rPr lang="en-US" sz="2400" dirty="0" err="1" smtClean="0">
                <a:solidFill>
                  <a:srgbClr val="000090"/>
                </a:solidFill>
              </a:rPr>
              <a:t>CHy</a:t>
            </a:r>
            <a:endParaRPr lang="en-US" sz="2400" dirty="0" smtClean="0">
              <a:solidFill>
                <a:srgbClr val="000090"/>
              </a:solidFill>
            </a:endParaRPr>
          </a:p>
          <a:p>
            <a:r>
              <a:rPr lang="en-US" sz="2400" dirty="0" smtClean="0">
                <a:solidFill>
                  <a:srgbClr val="000090"/>
                </a:solidFill>
              </a:rPr>
              <a:t>Tony Boston</a:t>
            </a:r>
          </a:p>
          <a:p>
            <a:r>
              <a:rPr lang="en-US" sz="2400" dirty="0" err="1" smtClean="0">
                <a:solidFill>
                  <a:srgbClr val="000090"/>
                </a:solidFill>
              </a:rPr>
              <a:t>HydroDWG</a:t>
            </a:r>
            <a:r>
              <a:rPr lang="en-US" sz="2400" dirty="0" smtClean="0">
                <a:solidFill>
                  <a:srgbClr val="000090"/>
                </a:solidFill>
              </a:rPr>
              <a:t> co-chair</a:t>
            </a:r>
          </a:p>
          <a:p>
            <a:endParaRPr lang="en-US" sz="2400" dirty="0">
              <a:solidFill>
                <a:srgbClr val="00009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294375" y="4299231"/>
            <a:ext cx="7921625" cy="1224236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HDWG Workshop</a:t>
            </a:r>
          </a:p>
          <a:p>
            <a:r>
              <a:rPr lang="en-US" sz="2000" b="1" dirty="0" smtClean="0"/>
              <a:t>National Water Center, Tuscaloosa, USA</a:t>
            </a:r>
          </a:p>
          <a:p>
            <a:r>
              <a:rPr lang="en-US" sz="2000" b="1" dirty="0" smtClean="0"/>
              <a:t>20 June 2017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8926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50006" y="115703"/>
            <a:ext cx="755023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defRPr/>
            </a:pPr>
            <a:r>
              <a:rPr lang="en-CA" sz="3000" b="1" dirty="0" smtClean="0">
                <a:solidFill>
                  <a:srgbClr val="0000FF"/>
                </a:solidFill>
                <a:effectLst>
                  <a:outerShdw blurRad="38100" dist="25400" dir="2700000" algn="tl" rotWithShape="0">
                    <a:srgbClr val="000000">
                      <a:alpha val="60000"/>
                    </a:srgbClr>
                  </a:outerShdw>
                </a:effectLst>
              </a:rPr>
              <a:t>WMO CHy-15 session</a:t>
            </a:r>
          </a:p>
        </p:txBody>
      </p:sp>
      <p:pic>
        <p:nvPicPr>
          <p:cNvPr id="270338" name="Picture 2" descr="http://www.isprambiente.gov.it/resolveuid/a3d075fb9a4d4e42828394efb6ef4e53/@@images/image/larg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85045" y="944450"/>
            <a:ext cx="7315200" cy="4876801"/>
          </a:xfrm>
          <a:prstGeom prst="rect">
            <a:avLst/>
          </a:prstGeom>
          <a:noFill/>
        </p:spPr>
      </p:pic>
      <p:sp>
        <p:nvSpPr>
          <p:cNvPr id="5" name="Rettangolo 4"/>
          <p:cNvSpPr/>
          <p:nvPr/>
        </p:nvSpPr>
        <p:spPr>
          <a:xfrm>
            <a:off x="3234481" y="6040192"/>
            <a:ext cx="3461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b="1" dirty="0" smtClean="0"/>
              <a:t>7 - 13 </a:t>
            </a:r>
            <a:r>
              <a:rPr lang="it-IT" b="1" dirty="0" err="1" smtClean="0"/>
              <a:t>December</a:t>
            </a:r>
            <a:r>
              <a:rPr lang="it-IT" b="1" dirty="0" smtClean="0"/>
              <a:t> 2016, </a:t>
            </a:r>
            <a:r>
              <a:rPr lang="it-IT" b="1" dirty="0" err="1" smtClean="0"/>
              <a:t>Rome</a:t>
            </a:r>
            <a:r>
              <a:rPr lang="it-IT" b="1" dirty="0" smtClean="0"/>
              <a:t>, Italy</a:t>
            </a:r>
            <a:endParaRPr lang="it-IT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986" r="12316"/>
          <a:stretch>
            <a:fillRect/>
          </a:stretch>
        </p:blipFill>
        <p:spPr bwMode="auto">
          <a:xfrm>
            <a:off x="270457" y="0"/>
            <a:ext cx="841590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303" r="12426"/>
          <a:stretch>
            <a:fillRect/>
          </a:stretch>
        </p:blipFill>
        <p:spPr bwMode="auto">
          <a:xfrm>
            <a:off x="206062" y="0"/>
            <a:ext cx="8384147" cy="6870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919" t="11751" r="12316"/>
          <a:stretch>
            <a:fillRect/>
          </a:stretch>
        </p:blipFill>
        <p:spPr bwMode="auto">
          <a:xfrm>
            <a:off x="273663" y="669701"/>
            <a:ext cx="8612761" cy="6188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850006" y="115703"/>
            <a:ext cx="755023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defRPr/>
            </a:pPr>
            <a:r>
              <a:rPr lang="en-CA" sz="3000" b="1" dirty="0" smtClean="0">
                <a:solidFill>
                  <a:srgbClr val="0000FF"/>
                </a:solidFill>
                <a:effectLst>
                  <a:outerShdw blurRad="38100" dist="25400" dir="2700000" algn="tl" rotWithShape="0">
                    <a:srgbClr val="000000">
                      <a:alpha val="60000"/>
                    </a:srgbClr>
                  </a:outerShdw>
                </a:effectLst>
              </a:rPr>
              <a:t>WMO CHy-15 pre-session discussion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3524"/>
            <a:ext cx="9144000" cy="11430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007AC2"/>
                </a:solidFill>
                <a:cs typeface="Avenir LT Std 55 Roman" pitchFamily="34" charset="0"/>
              </a:rPr>
              <a:t>WMO INTEGRATED GLOBAL OBSERVING SYSTEM (WIGOS)</a:t>
            </a:r>
            <a:br>
              <a:rPr lang="en-US" sz="2800" b="1" dirty="0" smtClean="0">
                <a:solidFill>
                  <a:srgbClr val="007AC2"/>
                </a:solidFill>
                <a:cs typeface="Avenir LT Std 55 Roman" pitchFamily="34" charset="0"/>
              </a:rPr>
            </a:br>
            <a:r>
              <a:rPr lang="en-US" sz="2800" b="1" dirty="0" smtClean="0">
                <a:solidFill>
                  <a:srgbClr val="007AC2"/>
                </a:solidFill>
                <a:cs typeface="Avenir LT Std 55 Roman" pitchFamily="34" charset="0"/>
              </a:rPr>
              <a:t>and</a:t>
            </a:r>
            <a:br>
              <a:rPr lang="en-US" sz="2800" b="1" dirty="0" smtClean="0">
                <a:solidFill>
                  <a:srgbClr val="007AC2"/>
                </a:solidFill>
                <a:cs typeface="Avenir LT Std 55 Roman" pitchFamily="34" charset="0"/>
              </a:rPr>
            </a:br>
            <a:r>
              <a:rPr lang="en-US" sz="2800" b="1" dirty="0" smtClean="0">
                <a:solidFill>
                  <a:srgbClr val="007AC2"/>
                </a:solidFill>
                <a:cs typeface="Avenir LT Std 55 Roman" pitchFamily="34" charset="0"/>
              </a:rPr>
              <a:t>WMO HYDROLOGICAL OBSERVING SYSTEM (WHOS)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69614" y="3669181"/>
            <a:ext cx="5150387" cy="3052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8"/>
          <p:cNvSpPr txBox="1"/>
          <p:nvPr/>
        </p:nvSpPr>
        <p:spPr>
          <a:xfrm>
            <a:off x="228600" y="1516701"/>
            <a:ext cx="86449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0"/>
              </a:spcBef>
              <a:spcAft>
                <a:spcPts val="0"/>
              </a:spcAft>
            </a:pPr>
            <a:r>
              <a:rPr lang="en-US" b="1" dirty="0" smtClean="0"/>
              <a:t>In June 2015 the President of </a:t>
            </a:r>
            <a:r>
              <a:rPr lang="en-US" b="1" dirty="0" err="1" smtClean="0"/>
              <a:t>CHy</a:t>
            </a:r>
            <a:r>
              <a:rPr lang="en-US" b="1" dirty="0" smtClean="0"/>
              <a:t> informed Cg-17 of </a:t>
            </a:r>
            <a:r>
              <a:rPr lang="en-US" b="1" dirty="0" err="1" smtClean="0"/>
              <a:t>CHy</a:t>
            </a:r>
            <a:r>
              <a:rPr lang="en-US" b="1" dirty="0" smtClean="0"/>
              <a:t> proposal to develop WHOS as t</a:t>
            </a:r>
            <a:r>
              <a:rPr lang="en-US" b="1" kern="0" dirty="0" smtClean="0"/>
              <a:t>he </a:t>
            </a:r>
            <a:r>
              <a:rPr lang="en-US" b="1" kern="0" dirty="0" err="1" smtClean="0"/>
              <a:t>CHy</a:t>
            </a:r>
            <a:r>
              <a:rPr lang="en-US" b="1" kern="0" dirty="0" smtClean="0"/>
              <a:t> contribution to WIGOS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</a:pPr>
            <a:endParaRPr lang="en-US" sz="1200" b="1" kern="0" dirty="0" smtClean="0"/>
          </a:p>
          <a:p>
            <a:pPr lvl="1">
              <a:spcBef>
                <a:spcPts val="0"/>
              </a:spcBef>
              <a:buFont typeface="Arial"/>
              <a:buChar char="•"/>
            </a:pPr>
            <a:r>
              <a:rPr lang="en-US" dirty="0" smtClean="0"/>
              <a:t>	</a:t>
            </a:r>
            <a:r>
              <a:rPr lang="en-US" i="1" dirty="0" smtClean="0"/>
              <a:t>Congress welcomed the effort and urged the president of </a:t>
            </a:r>
            <a:r>
              <a:rPr lang="en-US" i="1" dirty="0" err="1" smtClean="0"/>
              <a:t>CHy</a:t>
            </a:r>
            <a:r>
              <a:rPr lang="en-US" i="1" dirty="0" smtClean="0"/>
              <a:t> to continue guiding WHOS to full implementation</a:t>
            </a:r>
          </a:p>
          <a:p>
            <a:pPr lvl="1">
              <a:spcBef>
                <a:spcPts val="0"/>
              </a:spcBef>
            </a:pPr>
            <a:endParaRPr lang="en-US" sz="1200" dirty="0" smtClean="0"/>
          </a:p>
          <a:p>
            <a:pPr lvl="1">
              <a:spcBef>
                <a:spcPts val="0"/>
              </a:spcBef>
              <a:buFont typeface="Arial"/>
              <a:buChar char="•"/>
            </a:pPr>
            <a:r>
              <a:rPr lang="en-US" dirty="0" smtClean="0"/>
              <a:t> 	</a:t>
            </a:r>
            <a:r>
              <a:rPr lang="en-US" i="1" dirty="0" smtClean="0"/>
              <a:t>Congress urged the promotion of WHOS among NHSs and the hydrological community</a:t>
            </a:r>
          </a:p>
          <a:p>
            <a:pPr lvl="1">
              <a:spcBef>
                <a:spcPts val="0"/>
              </a:spcBef>
            </a:pPr>
            <a:endParaRPr 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1321063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381000"/>
            <a:ext cx="86868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defRPr/>
            </a:pPr>
            <a:r>
              <a:rPr lang="en-CA" sz="3000" b="1" dirty="0" smtClean="0">
                <a:solidFill>
                  <a:srgbClr val="0000FF"/>
                </a:solidFill>
                <a:effectLst>
                  <a:outerShdw blurRad="38100" dist="25400" dir="2700000" algn="tl" rotWithShape="0">
                    <a:srgbClr val="000000">
                      <a:alpha val="60000"/>
                    </a:srgbClr>
                  </a:outerShdw>
                </a:effectLst>
              </a:rPr>
              <a:t>WMO Hydrological Observing System (WHOS)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1286935"/>
            <a:ext cx="275958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600" b="1" dirty="0" smtClean="0">
                <a:solidFill>
                  <a:srgbClr val="0000CC"/>
                </a:solidFill>
              </a:rPr>
              <a:t>Implementation:</a:t>
            </a:r>
            <a:endParaRPr lang="en-US" sz="2600" b="1" dirty="0">
              <a:solidFill>
                <a:srgbClr val="0000CC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1000" y="1841679"/>
            <a:ext cx="8534400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b="1" dirty="0" smtClean="0"/>
              <a:t>Phase 1: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Map interface with links to those NHSs that make their real-time and historical stage and discharge data available online. implemented in August 2015.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3518079"/>
            <a:ext cx="85344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b="1" dirty="0" smtClean="0"/>
              <a:t>Phase 2: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A fully WIS/WIGOS compliant services-oriented framework linking hydrologic data providers and users through a hydrologic information system enabling data registration, data discovery, and data access.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Beta version for CHy-15 review and endorsement (Dec 2016)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Initial implementation for EC approval (June 2018)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93196" y="313837"/>
            <a:ext cx="5834128" cy="6068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50006" y="115703"/>
            <a:ext cx="755023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defRPr/>
            </a:pPr>
            <a:r>
              <a:rPr lang="en-US" sz="3000" b="1" dirty="0" smtClean="0">
                <a:solidFill>
                  <a:srgbClr val="0000FF"/>
                </a:solidFill>
                <a:effectLst>
                  <a:outerShdw blurRad="38100" dist="25400" dir="2700000" algn="tl" rotWithShape="0">
                    <a:srgbClr val="000000">
                      <a:alpha val="60000"/>
                    </a:srgbClr>
                  </a:outerShdw>
                </a:effectLst>
              </a:rPr>
              <a:t>First Session of </a:t>
            </a:r>
            <a:r>
              <a:rPr lang="en-US" sz="3000" b="1" dirty="0" err="1" smtClean="0">
                <a:solidFill>
                  <a:srgbClr val="0000FF"/>
                </a:solidFill>
                <a:effectLst>
                  <a:outerShdw blurRad="38100" dist="25400" dir="2700000" algn="tl" rotWithShape="0">
                    <a:srgbClr val="000000">
                      <a:alpha val="60000"/>
                    </a:srgbClr>
                  </a:outerShdw>
                </a:effectLst>
              </a:rPr>
              <a:t>CHy</a:t>
            </a:r>
            <a:r>
              <a:rPr lang="en-US" sz="3000" b="1" dirty="0" smtClean="0">
                <a:solidFill>
                  <a:srgbClr val="0000FF"/>
                </a:solidFill>
                <a:effectLst>
                  <a:outerShdw blurRad="38100" dist="25400" dir="2700000" algn="tl" rotWithShape="0">
                    <a:srgbClr val="000000">
                      <a:alpha val="60000"/>
                    </a:srgbClr>
                  </a:outerShdw>
                </a:effectLst>
              </a:rPr>
              <a:t> Advisory Working Group</a:t>
            </a:r>
            <a:endParaRPr lang="en-CA" sz="3000" b="1" dirty="0" smtClean="0">
              <a:solidFill>
                <a:srgbClr val="0000FF"/>
              </a:solidFill>
              <a:effectLst>
                <a:outerShdw blurRad="38100" dist="25400" dir="2700000" algn="tl" rotWithShape="0">
                  <a:srgbClr val="000000">
                    <a:alpha val="60000"/>
                  </a:srgbClr>
                </a:outerShdw>
              </a:effectLst>
            </a:endParaRPr>
          </a:p>
        </p:txBody>
      </p:sp>
      <p:sp>
        <p:nvSpPr>
          <p:cNvPr id="5" name="Rettangolo 4"/>
          <p:cNvSpPr/>
          <p:nvPr/>
        </p:nvSpPr>
        <p:spPr>
          <a:xfrm>
            <a:off x="2435990" y="6224858"/>
            <a:ext cx="48648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27 February - 3 March 2017, Geneva, Switzerland</a:t>
            </a:r>
            <a:endParaRPr lang="it-IT" dirty="0"/>
          </a:p>
        </p:txBody>
      </p:sp>
      <p:pic>
        <p:nvPicPr>
          <p:cNvPr id="286722" name="Picture 2" descr="Group picture first CHy-15 AWG meeting, 27 February - 3 March 201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0006" y="811652"/>
            <a:ext cx="3477964" cy="5228540"/>
          </a:xfrm>
          <a:prstGeom prst="rect">
            <a:avLst/>
          </a:prstGeom>
          <a:noFill/>
        </p:spPr>
      </p:pic>
      <p:pic>
        <p:nvPicPr>
          <p:cNvPr id="2867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7814" y="1584102"/>
            <a:ext cx="4577814" cy="2915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6952" y="419502"/>
            <a:ext cx="7080833" cy="5234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075" y="458274"/>
            <a:ext cx="4352925" cy="622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38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432516"/>
            <a:ext cx="4381500" cy="616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54" y="448347"/>
            <a:ext cx="4400550" cy="622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49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21504" y="304800"/>
            <a:ext cx="4333875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/>
        </p:nvSpPr>
        <p:spPr>
          <a:xfrm>
            <a:off x="0" y="2766568"/>
            <a:ext cx="9144000" cy="48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</a:pPr>
            <a:r>
              <a:rPr lang="en-US" sz="2800" b="1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rPr>
              <a:t>DATA NEEDS IN HYDROLOGY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AC2"/>
              </a:solidFill>
              <a:effectLst/>
              <a:uLnTx/>
              <a:uFillTx/>
              <a:latin typeface="+mj-lt"/>
              <a:ea typeface="+mj-ea"/>
              <a:cs typeface="Avenir LT Std 85 Heavy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Previsioni-meteo-marz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6" name="Immagine 5" descr="omino-lente1-e1451983833647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4005064"/>
            <a:ext cx="3685656" cy="2659114"/>
          </a:xfrm>
          <a:prstGeom prst="rect">
            <a:avLst/>
          </a:prstGeom>
        </p:spPr>
      </p:pic>
      <p:sp>
        <p:nvSpPr>
          <p:cNvPr id="7" name="Fumetto 2 6"/>
          <p:cNvSpPr/>
          <p:nvPr/>
        </p:nvSpPr>
        <p:spPr>
          <a:xfrm>
            <a:off x="2771800" y="1844824"/>
            <a:ext cx="2664296" cy="1080120"/>
          </a:xfrm>
          <a:prstGeom prst="wedgeRoundRectCallout">
            <a:avLst>
              <a:gd name="adj1" fmla="val -59823"/>
              <a:gd name="adj2" fmla="val 129464"/>
              <a:gd name="adj3" fmla="val 16667"/>
            </a:avLst>
          </a:prstGeom>
          <a:ln>
            <a:solidFill>
              <a:srgbClr val="00206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/>
          <p:cNvSpPr txBox="1"/>
          <p:nvPr/>
        </p:nvSpPr>
        <p:spPr>
          <a:xfrm>
            <a:off x="2987824" y="1916832"/>
            <a:ext cx="22322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</a:rPr>
              <a:t>It’s raining,</a:t>
            </a:r>
          </a:p>
          <a:p>
            <a:r>
              <a:rPr lang="en-US" sz="2400" dirty="0" smtClean="0">
                <a:solidFill>
                  <a:srgbClr val="002060"/>
                </a:solidFill>
              </a:rPr>
              <a:t>but how much?</a:t>
            </a:r>
            <a:endParaRPr lang="it-IT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omino tagliat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20272" y="3140968"/>
            <a:ext cx="1912832" cy="3312368"/>
          </a:xfrm>
          <a:prstGeom prst="rect">
            <a:avLst/>
          </a:prstGeom>
        </p:spPr>
      </p:pic>
      <p:pic>
        <p:nvPicPr>
          <p:cNvPr id="2" name="Immagine 1" descr="piena_piazza_pia_1915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836713"/>
            <a:ext cx="6806220" cy="6021287"/>
          </a:xfrm>
          <a:prstGeom prst="rect">
            <a:avLst/>
          </a:prstGeom>
        </p:spPr>
      </p:pic>
      <p:sp>
        <p:nvSpPr>
          <p:cNvPr id="6" name="Fumetto 2 5"/>
          <p:cNvSpPr/>
          <p:nvPr/>
        </p:nvSpPr>
        <p:spPr>
          <a:xfrm>
            <a:off x="0" y="0"/>
            <a:ext cx="9144000" cy="1268760"/>
          </a:xfrm>
          <a:prstGeom prst="wedgeRoundRectCallout">
            <a:avLst>
              <a:gd name="adj1" fmla="val 36164"/>
              <a:gd name="adj2" fmla="val 194091"/>
              <a:gd name="adj3" fmla="val 16667"/>
            </a:avLst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2060"/>
                </a:solidFill>
              </a:rPr>
              <a:t>Rain ... heavy rain ... and there was a severe flood in the city</a:t>
            </a:r>
          </a:p>
          <a:p>
            <a:pPr algn="ctr"/>
            <a:r>
              <a:rPr lang="en-US" sz="2400" dirty="0" smtClean="0">
                <a:solidFill>
                  <a:srgbClr val="002060"/>
                </a:solidFill>
              </a:rPr>
              <a:t>but ... when exactly? And how much? </a:t>
            </a:r>
          </a:p>
          <a:p>
            <a:pPr algn="ctr"/>
            <a:r>
              <a:rPr lang="en-US" sz="2400" dirty="0" smtClean="0">
                <a:solidFill>
                  <a:srgbClr val="002060"/>
                </a:solidFill>
              </a:rPr>
              <a:t>What observed water levels?</a:t>
            </a:r>
            <a:endParaRPr lang="it-IT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fiume-in-secca-67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204864"/>
            <a:ext cx="9144000" cy="4653136"/>
          </a:xfrm>
          <a:prstGeom prst="rect">
            <a:avLst/>
          </a:prstGeom>
        </p:spPr>
      </p:pic>
      <p:pic>
        <p:nvPicPr>
          <p:cNvPr id="3" name="Immagine 2" descr="omino-pc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16632"/>
            <a:ext cx="3720635" cy="2082540"/>
          </a:xfrm>
          <a:prstGeom prst="rect">
            <a:avLst/>
          </a:prstGeom>
        </p:spPr>
      </p:pic>
      <p:sp>
        <p:nvSpPr>
          <p:cNvPr id="4" name="Fumetto 2 3"/>
          <p:cNvSpPr/>
          <p:nvPr/>
        </p:nvSpPr>
        <p:spPr>
          <a:xfrm>
            <a:off x="4139952" y="116632"/>
            <a:ext cx="4896544" cy="1944216"/>
          </a:xfrm>
          <a:prstGeom prst="wedgeRoundRectCallout">
            <a:avLst>
              <a:gd name="adj1" fmla="val -83359"/>
              <a:gd name="adj2" fmla="val -38646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/>
          <p:cNvSpPr txBox="1"/>
          <p:nvPr/>
        </p:nvSpPr>
        <p:spPr>
          <a:xfrm>
            <a:off x="4355976" y="142852"/>
            <a:ext cx="45365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</a:rPr>
              <a:t>??? This year another drought... Is it only affecting the river near my town or everywhere?</a:t>
            </a:r>
          </a:p>
          <a:p>
            <a:r>
              <a:rPr lang="en-US" sz="2400" dirty="0" smtClean="0">
                <a:solidFill>
                  <a:srgbClr val="002060"/>
                </a:solidFill>
              </a:rPr>
              <a:t>Can I compare it with past events? Is it an extreme event?</a:t>
            </a:r>
            <a:endParaRPr lang="it-IT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g_pro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7584" y="1844824"/>
            <a:ext cx="7488832" cy="4032448"/>
          </a:xfrm>
          <a:prstGeom prst="rect">
            <a:avLst/>
          </a:prstGeom>
        </p:spPr>
      </p:pic>
      <p:sp>
        <p:nvSpPr>
          <p:cNvPr id="3" name="Fumetto 2 2"/>
          <p:cNvSpPr/>
          <p:nvPr/>
        </p:nvSpPr>
        <p:spPr>
          <a:xfrm flipH="1">
            <a:off x="611560" y="1556792"/>
            <a:ext cx="1080120" cy="504056"/>
          </a:xfrm>
          <a:prstGeom prst="wedgeRoundRectCallout">
            <a:avLst>
              <a:gd name="adj1" fmla="val -15221"/>
              <a:gd name="adj2" fmla="val 80137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Fumetto 2 3"/>
          <p:cNvSpPr/>
          <p:nvPr/>
        </p:nvSpPr>
        <p:spPr>
          <a:xfrm>
            <a:off x="755576" y="836712"/>
            <a:ext cx="1872208" cy="576064"/>
          </a:xfrm>
          <a:prstGeom prst="wedgeRoundRectCallout">
            <a:avLst>
              <a:gd name="adj1" fmla="val 36114"/>
              <a:gd name="adj2" fmla="val 204054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Fumetto 2 4"/>
          <p:cNvSpPr/>
          <p:nvPr/>
        </p:nvSpPr>
        <p:spPr>
          <a:xfrm>
            <a:off x="2771800" y="1124744"/>
            <a:ext cx="1656184" cy="648072"/>
          </a:xfrm>
          <a:prstGeom prst="wedgeRoundRectCallout">
            <a:avLst>
              <a:gd name="adj1" fmla="val -20833"/>
              <a:gd name="adj2" fmla="val 78177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Fumetto 2 5"/>
          <p:cNvSpPr/>
          <p:nvPr/>
        </p:nvSpPr>
        <p:spPr>
          <a:xfrm>
            <a:off x="3851920" y="1844824"/>
            <a:ext cx="648072" cy="360040"/>
          </a:xfrm>
          <a:prstGeom prst="wedgeRoundRectCallout">
            <a:avLst>
              <a:gd name="adj1" fmla="val -8006"/>
              <a:gd name="adj2" fmla="val 147157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Fumetto 2 6"/>
          <p:cNvSpPr/>
          <p:nvPr/>
        </p:nvSpPr>
        <p:spPr>
          <a:xfrm flipH="1">
            <a:off x="4355976" y="2204864"/>
            <a:ext cx="792088" cy="288032"/>
          </a:xfrm>
          <a:prstGeom prst="wedgeRoundRectCallout">
            <a:avLst>
              <a:gd name="adj1" fmla="val -6174"/>
              <a:gd name="adj2" fmla="val 100980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umetto 2 7"/>
          <p:cNvSpPr/>
          <p:nvPr/>
        </p:nvSpPr>
        <p:spPr>
          <a:xfrm flipH="1">
            <a:off x="4499992" y="1052736"/>
            <a:ext cx="1728192" cy="648072"/>
          </a:xfrm>
          <a:prstGeom prst="wedgeRoundRectCallout">
            <a:avLst>
              <a:gd name="adj1" fmla="val -25910"/>
              <a:gd name="adj2" fmla="val 87263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Fumetto 2 8"/>
          <p:cNvSpPr/>
          <p:nvPr/>
        </p:nvSpPr>
        <p:spPr>
          <a:xfrm>
            <a:off x="6372200" y="1484784"/>
            <a:ext cx="864096" cy="432048"/>
          </a:xfrm>
          <a:prstGeom prst="wedgeRoundRectCallout">
            <a:avLst>
              <a:gd name="adj1" fmla="val -16557"/>
              <a:gd name="adj2" fmla="val 111670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Fumetto 2 9"/>
          <p:cNvSpPr/>
          <p:nvPr/>
        </p:nvSpPr>
        <p:spPr>
          <a:xfrm>
            <a:off x="7380312" y="1628800"/>
            <a:ext cx="864096" cy="360040"/>
          </a:xfrm>
          <a:prstGeom prst="wedgeRoundRectCallout">
            <a:avLst>
              <a:gd name="adj1" fmla="val -15488"/>
              <a:gd name="adj2" fmla="val 111242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/>
          <p:cNvSpPr/>
          <p:nvPr/>
        </p:nvSpPr>
        <p:spPr>
          <a:xfrm>
            <a:off x="4572000" y="1196752"/>
            <a:ext cx="16437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600" dirty="0" err="1" smtClean="0">
                <a:solidFill>
                  <a:srgbClr val="002060"/>
                </a:solidFill>
              </a:rPr>
              <a:t>hydrological</a:t>
            </a:r>
            <a:r>
              <a:rPr lang="it-IT" sz="1600" dirty="0" smtClean="0">
                <a:solidFill>
                  <a:srgbClr val="002060"/>
                </a:solidFill>
              </a:rPr>
              <a:t> data</a:t>
            </a:r>
            <a:endParaRPr lang="it-IT" sz="1600" dirty="0">
              <a:solidFill>
                <a:srgbClr val="002060"/>
              </a:solidFill>
            </a:endParaRPr>
          </a:p>
        </p:txBody>
      </p:sp>
      <p:sp>
        <p:nvSpPr>
          <p:cNvPr id="12" name="Rettangolo 11"/>
          <p:cNvSpPr/>
          <p:nvPr/>
        </p:nvSpPr>
        <p:spPr>
          <a:xfrm>
            <a:off x="2843808" y="1124744"/>
            <a:ext cx="15121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600" dirty="0" err="1" smtClean="0">
                <a:solidFill>
                  <a:srgbClr val="002060"/>
                </a:solidFill>
              </a:rPr>
              <a:t>datos</a:t>
            </a:r>
            <a:r>
              <a:rPr lang="it-IT" sz="1600" dirty="0" smtClean="0">
                <a:solidFill>
                  <a:srgbClr val="002060"/>
                </a:solidFill>
              </a:rPr>
              <a:t> </a:t>
            </a:r>
          </a:p>
          <a:p>
            <a:pPr algn="ctr"/>
            <a:r>
              <a:rPr lang="it-IT" sz="1600" dirty="0" err="1" smtClean="0">
                <a:solidFill>
                  <a:srgbClr val="002060"/>
                </a:solidFill>
              </a:rPr>
              <a:t>hidrológicos</a:t>
            </a:r>
            <a:endParaRPr lang="it-IT" sz="1600" dirty="0" smtClean="0">
              <a:solidFill>
                <a:srgbClr val="002060"/>
              </a:solidFill>
            </a:endParaRPr>
          </a:p>
        </p:txBody>
      </p:sp>
      <p:sp>
        <p:nvSpPr>
          <p:cNvPr id="14" name="Rettangolo 13"/>
          <p:cNvSpPr/>
          <p:nvPr/>
        </p:nvSpPr>
        <p:spPr>
          <a:xfrm>
            <a:off x="3851920" y="1844824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it-IT" sz="1600" b="1" dirty="0" smtClean="0">
                <a:solidFill>
                  <a:srgbClr val="002060"/>
                </a:solidFill>
              </a:rPr>
              <a:t>流れ</a:t>
            </a:r>
            <a:endParaRPr lang="it-IT" sz="1600" b="1" dirty="0">
              <a:solidFill>
                <a:srgbClr val="002060"/>
              </a:solidFill>
            </a:endParaRPr>
          </a:p>
        </p:txBody>
      </p:sp>
      <p:sp>
        <p:nvSpPr>
          <p:cNvPr id="15" name="Rettangolo 14"/>
          <p:cNvSpPr/>
          <p:nvPr/>
        </p:nvSpPr>
        <p:spPr>
          <a:xfrm>
            <a:off x="611560" y="1628800"/>
            <a:ext cx="108222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it-IT" sz="1600" b="1" dirty="0" smtClean="0">
                <a:solidFill>
                  <a:srgbClr val="002060"/>
                </a:solidFill>
              </a:rPr>
              <a:t>水文资料</a:t>
            </a:r>
            <a:endParaRPr lang="it-IT" altLang="it-IT" sz="1600" b="1" dirty="0" smtClean="0">
              <a:solidFill>
                <a:srgbClr val="002060"/>
              </a:solidFill>
            </a:endParaRPr>
          </a:p>
        </p:txBody>
      </p:sp>
      <p:sp>
        <p:nvSpPr>
          <p:cNvPr id="16" name="Rettangolo 15"/>
          <p:cNvSpPr/>
          <p:nvPr/>
        </p:nvSpPr>
        <p:spPr>
          <a:xfrm>
            <a:off x="755576" y="980728"/>
            <a:ext cx="194421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600" dirty="0" err="1" smtClean="0">
                <a:solidFill>
                  <a:srgbClr val="002060"/>
                </a:solidFill>
              </a:rPr>
              <a:t>hidroloških</a:t>
            </a:r>
            <a:r>
              <a:rPr lang="it-IT" sz="1600" dirty="0" smtClean="0">
                <a:solidFill>
                  <a:srgbClr val="002060"/>
                </a:solidFill>
              </a:rPr>
              <a:t> </a:t>
            </a:r>
            <a:r>
              <a:rPr lang="it-IT" sz="1600" dirty="0" err="1" smtClean="0">
                <a:solidFill>
                  <a:srgbClr val="002060"/>
                </a:solidFill>
              </a:rPr>
              <a:t>podataka</a:t>
            </a:r>
            <a:endParaRPr lang="it-IT" sz="1600" dirty="0" smtClean="0">
              <a:solidFill>
                <a:srgbClr val="002060"/>
              </a:solidFill>
            </a:endParaRPr>
          </a:p>
        </p:txBody>
      </p:sp>
      <p:sp>
        <p:nvSpPr>
          <p:cNvPr id="17" name="Rettangolo 16"/>
          <p:cNvSpPr/>
          <p:nvPr/>
        </p:nvSpPr>
        <p:spPr>
          <a:xfrm>
            <a:off x="4355976" y="2154342"/>
            <a:ext cx="7617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00" dirty="0" err="1" smtClean="0">
                <a:solidFill>
                  <a:srgbClr val="002060"/>
                </a:solidFill>
              </a:rPr>
              <a:t>fließen</a:t>
            </a:r>
            <a:endParaRPr lang="it-IT" sz="1600" dirty="0">
              <a:solidFill>
                <a:srgbClr val="002060"/>
              </a:solidFill>
            </a:endParaRPr>
          </a:p>
        </p:txBody>
      </p:sp>
      <p:sp>
        <p:nvSpPr>
          <p:cNvPr id="18" name="Rettangolo 17"/>
          <p:cNvSpPr/>
          <p:nvPr/>
        </p:nvSpPr>
        <p:spPr>
          <a:xfrm>
            <a:off x="7380312" y="1628800"/>
            <a:ext cx="882742" cy="33855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it-IT" sz="1600" dirty="0" err="1" smtClean="0">
                <a:solidFill>
                  <a:srgbClr val="002060"/>
                </a:solidFill>
              </a:rPr>
              <a:t>stromen</a:t>
            </a:r>
            <a:endParaRPr lang="it-IT" sz="1600" dirty="0">
              <a:solidFill>
                <a:srgbClr val="002060"/>
              </a:solidFill>
            </a:endParaRPr>
          </a:p>
        </p:txBody>
      </p:sp>
      <p:sp>
        <p:nvSpPr>
          <p:cNvPr id="19" name="Rettangolo 18"/>
          <p:cNvSpPr/>
          <p:nvPr/>
        </p:nvSpPr>
        <p:spPr>
          <a:xfrm>
            <a:off x="6444208" y="1556792"/>
            <a:ext cx="7530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Cyrl-AZ" sz="1600" dirty="0" smtClean="0">
                <a:solidFill>
                  <a:srgbClr val="002060"/>
                </a:solidFill>
              </a:rPr>
              <a:t>поток</a:t>
            </a:r>
            <a:endParaRPr lang="it-IT" sz="1600" dirty="0">
              <a:solidFill>
                <a:srgbClr val="002060"/>
              </a:solidFill>
            </a:endParaRPr>
          </a:p>
        </p:txBody>
      </p:sp>
      <p:sp>
        <p:nvSpPr>
          <p:cNvPr id="21" name="Rettangolo 20"/>
          <p:cNvSpPr/>
          <p:nvPr/>
        </p:nvSpPr>
        <p:spPr>
          <a:xfrm>
            <a:off x="0" y="5949280"/>
            <a:ext cx="9144000" cy="72008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CasellaDiTesto 21"/>
          <p:cNvSpPr txBox="1"/>
          <p:nvPr/>
        </p:nvSpPr>
        <p:spPr>
          <a:xfrm>
            <a:off x="0" y="6072206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200" dirty="0" smtClean="0">
                <a:solidFill>
                  <a:schemeClr val="bg1"/>
                </a:solidFill>
              </a:rPr>
              <a:t>Different people, </a:t>
            </a:r>
            <a:r>
              <a:rPr lang="it-IT" sz="2200" dirty="0" err="1" smtClean="0">
                <a:solidFill>
                  <a:schemeClr val="bg1"/>
                </a:solidFill>
              </a:rPr>
              <a:t>different</a:t>
            </a:r>
            <a:r>
              <a:rPr lang="it-IT" sz="2200" dirty="0" smtClean="0">
                <a:solidFill>
                  <a:schemeClr val="bg1"/>
                </a:solidFill>
              </a:rPr>
              <a:t> </a:t>
            </a:r>
            <a:r>
              <a:rPr lang="it-IT" sz="2200" dirty="0" err="1" smtClean="0">
                <a:solidFill>
                  <a:schemeClr val="bg1"/>
                </a:solidFill>
              </a:rPr>
              <a:t>languages</a:t>
            </a:r>
            <a:r>
              <a:rPr lang="it-IT" sz="2200" dirty="0" smtClean="0">
                <a:solidFill>
                  <a:schemeClr val="bg1"/>
                </a:solidFill>
              </a:rPr>
              <a:t>, </a:t>
            </a:r>
            <a:r>
              <a:rPr lang="it-IT" sz="2200" dirty="0" err="1" smtClean="0">
                <a:solidFill>
                  <a:schemeClr val="bg1"/>
                </a:solidFill>
              </a:rPr>
              <a:t>different</a:t>
            </a:r>
            <a:r>
              <a:rPr lang="it-IT" sz="2200" dirty="0" smtClean="0">
                <a:solidFill>
                  <a:schemeClr val="bg1"/>
                </a:solidFill>
              </a:rPr>
              <a:t> </a:t>
            </a:r>
            <a:r>
              <a:rPr lang="it-IT" sz="2200" dirty="0" err="1" smtClean="0">
                <a:solidFill>
                  <a:schemeClr val="bg1"/>
                </a:solidFill>
              </a:rPr>
              <a:t>perceptions</a:t>
            </a:r>
            <a:r>
              <a:rPr lang="it-IT" sz="2200" dirty="0" smtClean="0">
                <a:solidFill>
                  <a:schemeClr val="bg1"/>
                </a:solidFill>
              </a:rPr>
              <a:t> </a:t>
            </a:r>
            <a:r>
              <a:rPr lang="it-IT" sz="2200" dirty="0" err="1" smtClean="0">
                <a:solidFill>
                  <a:schemeClr val="bg1"/>
                </a:solidFill>
              </a:rPr>
              <a:t>but</a:t>
            </a:r>
            <a:r>
              <a:rPr lang="it-IT" sz="2200" dirty="0" smtClean="0">
                <a:solidFill>
                  <a:schemeClr val="bg1"/>
                </a:solidFill>
              </a:rPr>
              <a:t> </a:t>
            </a:r>
            <a:r>
              <a:rPr lang="it-IT" sz="2200" dirty="0" err="1" smtClean="0">
                <a:solidFill>
                  <a:schemeClr val="bg1"/>
                </a:solidFill>
              </a:rPr>
              <a:t>same</a:t>
            </a:r>
            <a:r>
              <a:rPr lang="it-IT" sz="2200" dirty="0" smtClean="0">
                <a:solidFill>
                  <a:schemeClr val="bg1"/>
                </a:solidFill>
              </a:rPr>
              <a:t> needs</a:t>
            </a:r>
          </a:p>
        </p:txBody>
      </p:sp>
      <p:sp>
        <p:nvSpPr>
          <p:cNvPr id="23" name="Rettangolo 22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002060"/>
                </a:solidFill>
                <a:latin typeface="Bradley Hand ITC" pitchFamily="66" charset="0"/>
              </a:rPr>
              <a:t>What are you looking for?</a:t>
            </a:r>
            <a:endParaRPr lang="it-IT" sz="4000" b="1" dirty="0">
              <a:solidFill>
                <a:srgbClr val="002060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umetto 2 6"/>
          <p:cNvSpPr/>
          <p:nvPr/>
        </p:nvSpPr>
        <p:spPr>
          <a:xfrm flipH="1">
            <a:off x="4355976" y="2204864"/>
            <a:ext cx="792088" cy="288032"/>
          </a:xfrm>
          <a:prstGeom prst="wedgeRoundRectCallout">
            <a:avLst>
              <a:gd name="adj1" fmla="val -6174"/>
              <a:gd name="adj2" fmla="val 100980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16"/>
          <p:cNvSpPr/>
          <p:nvPr/>
        </p:nvSpPr>
        <p:spPr>
          <a:xfrm>
            <a:off x="4355976" y="2154342"/>
            <a:ext cx="7617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00" dirty="0" err="1" smtClean="0">
                <a:solidFill>
                  <a:srgbClr val="002060"/>
                </a:solidFill>
              </a:rPr>
              <a:t>fließen</a:t>
            </a:r>
            <a:endParaRPr lang="it-IT" sz="1600" dirty="0">
              <a:solidFill>
                <a:srgbClr val="002060"/>
              </a:solidFill>
            </a:endParaRPr>
          </a:p>
        </p:txBody>
      </p:sp>
      <p:sp>
        <p:nvSpPr>
          <p:cNvPr id="21" name="Rettangolo 20"/>
          <p:cNvSpPr/>
          <p:nvPr/>
        </p:nvSpPr>
        <p:spPr>
          <a:xfrm>
            <a:off x="0" y="5949280"/>
            <a:ext cx="9144000" cy="72008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CasellaDiTesto 21"/>
          <p:cNvSpPr txBox="1"/>
          <p:nvPr/>
        </p:nvSpPr>
        <p:spPr>
          <a:xfrm>
            <a:off x="0" y="602128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what is the real need?</a:t>
            </a:r>
            <a:endParaRPr lang="it-IT" sz="2400" dirty="0" smtClean="0">
              <a:solidFill>
                <a:schemeClr val="bg1"/>
              </a:solidFill>
            </a:endParaRPr>
          </a:p>
        </p:txBody>
      </p:sp>
      <p:sp>
        <p:nvSpPr>
          <p:cNvPr id="23" name="Rettangolo 22"/>
          <p:cNvSpPr/>
          <p:nvPr/>
        </p:nvSpPr>
        <p:spPr>
          <a:xfrm>
            <a:off x="0" y="260648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002060"/>
                </a:solidFill>
                <a:latin typeface="Bradley Hand ITC" pitchFamily="66" charset="0"/>
              </a:rPr>
              <a:t>What are you looking for?</a:t>
            </a:r>
            <a:endParaRPr lang="it-IT" sz="4000" b="1" dirty="0">
              <a:solidFill>
                <a:srgbClr val="002060"/>
              </a:solidFill>
              <a:latin typeface="Bradley Hand ITC" pitchFamily="66" charset="0"/>
            </a:endParaRPr>
          </a:p>
        </p:txBody>
      </p:sp>
      <p:pic>
        <p:nvPicPr>
          <p:cNvPr id="24" name="Immagine 23" descr="240_F_72769882_qTj7MEuzCDK86IrCQcJMj4JCoNU6BuG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1052735"/>
            <a:ext cx="7704856" cy="4721667"/>
          </a:xfrm>
          <a:prstGeom prst="rect">
            <a:avLst/>
          </a:prstGeom>
        </p:spPr>
      </p:pic>
      <p:sp>
        <p:nvSpPr>
          <p:cNvPr id="25" name="Rettangolo 24"/>
          <p:cNvSpPr/>
          <p:nvPr/>
        </p:nvSpPr>
        <p:spPr>
          <a:xfrm rot="20968837">
            <a:off x="1209736" y="1871935"/>
            <a:ext cx="20853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</a:rPr>
              <a:t>I need hydrological data to manage water resources conflicts</a:t>
            </a:r>
            <a:endParaRPr lang="it-IT" sz="1600" dirty="0">
              <a:solidFill>
                <a:srgbClr val="002060"/>
              </a:solidFill>
            </a:endParaRPr>
          </a:p>
        </p:txBody>
      </p:sp>
      <p:sp>
        <p:nvSpPr>
          <p:cNvPr id="26" name="Rettangolo 25"/>
          <p:cNvSpPr/>
          <p:nvPr/>
        </p:nvSpPr>
        <p:spPr>
          <a:xfrm rot="582216">
            <a:off x="5634900" y="1876708"/>
            <a:ext cx="210335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rgbClr val="002060"/>
                </a:solidFill>
              </a:rPr>
              <a:t>I need hydrological data to manage emergencies</a:t>
            </a:r>
            <a:endParaRPr lang="it-IT" sz="1600" dirty="0">
              <a:solidFill>
                <a:srgbClr val="002060"/>
              </a:solidFill>
            </a:endParaRPr>
          </a:p>
        </p:txBody>
      </p:sp>
      <p:sp>
        <p:nvSpPr>
          <p:cNvPr id="27" name="Rettangolo 26"/>
          <p:cNvSpPr/>
          <p:nvPr/>
        </p:nvSpPr>
        <p:spPr>
          <a:xfrm>
            <a:off x="3203848" y="1412776"/>
            <a:ext cx="25202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I need hydrological data for river district planning</a:t>
            </a:r>
            <a:endParaRPr lang="it-IT" sz="2000" dirty="0">
              <a:solidFill>
                <a:srgbClr val="002060"/>
              </a:solidFill>
            </a:endParaRPr>
          </a:p>
        </p:txBody>
      </p:sp>
      <p:sp>
        <p:nvSpPr>
          <p:cNvPr id="28" name="Rettangolo 27"/>
          <p:cNvSpPr/>
          <p:nvPr/>
        </p:nvSpPr>
        <p:spPr>
          <a:xfrm>
            <a:off x="-32" y="6137944"/>
            <a:ext cx="9144000" cy="72008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CasellaDiTesto 28"/>
          <p:cNvSpPr txBox="1"/>
          <p:nvPr/>
        </p:nvSpPr>
        <p:spPr>
          <a:xfrm>
            <a:off x="152400" y="617368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What are our exact needs?</a:t>
            </a:r>
            <a:endParaRPr lang="it-IT" sz="24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assistenza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1988840"/>
            <a:ext cx="4896544" cy="4093510"/>
          </a:xfrm>
          <a:prstGeom prst="rect">
            <a:avLst/>
          </a:prstGeom>
        </p:spPr>
      </p:pic>
      <p:sp>
        <p:nvSpPr>
          <p:cNvPr id="3" name="Rettangolo 2"/>
          <p:cNvSpPr/>
          <p:nvPr/>
        </p:nvSpPr>
        <p:spPr>
          <a:xfrm>
            <a:off x="0" y="0"/>
            <a:ext cx="9144000" cy="134076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/>
          <p:cNvSpPr txBox="1"/>
          <p:nvPr/>
        </p:nvSpPr>
        <p:spPr>
          <a:xfrm>
            <a:off x="0" y="260648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We need hydrological data all over the world, of easy, smart and dynamic access and use</a:t>
            </a:r>
            <a:endParaRPr lang="it-IT" sz="2400" dirty="0" smtClean="0">
              <a:solidFill>
                <a:schemeClr val="bg1"/>
              </a:solidFill>
            </a:endParaRPr>
          </a:p>
        </p:txBody>
      </p:sp>
      <p:pic>
        <p:nvPicPr>
          <p:cNvPr id="6" name="Immagine 5" descr="3d-women-question-01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88224" y="3933056"/>
            <a:ext cx="2924944" cy="2924944"/>
          </a:xfrm>
          <a:prstGeom prst="rect">
            <a:avLst/>
          </a:prstGeom>
        </p:spPr>
      </p:pic>
      <p:sp>
        <p:nvSpPr>
          <p:cNvPr id="7" name="Fumetto 2 6"/>
          <p:cNvSpPr/>
          <p:nvPr/>
        </p:nvSpPr>
        <p:spPr>
          <a:xfrm>
            <a:off x="5796136" y="2420888"/>
            <a:ext cx="2880320" cy="1656184"/>
          </a:xfrm>
          <a:prstGeom prst="wedgeRoundRectCallout">
            <a:avLst>
              <a:gd name="adj1" fmla="val 34971"/>
              <a:gd name="adj2" fmla="val 85176"/>
              <a:gd name="adj3" fmla="val 16667"/>
            </a:avLst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/>
          <p:cNvSpPr txBox="1"/>
          <p:nvPr/>
        </p:nvSpPr>
        <p:spPr>
          <a:xfrm>
            <a:off x="6012160" y="2564904"/>
            <a:ext cx="23762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 smtClean="0">
                <a:solidFill>
                  <a:srgbClr val="002060"/>
                </a:solidFill>
                <a:latin typeface="Bradley Hand ITC" pitchFamily="66" charset="0"/>
              </a:rPr>
              <a:t>We</a:t>
            </a:r>
            <a:r>
              <a:rPr lang="it-IT" sz="4000" b="1" dirty="0" smtClean="0">
                <a:solidFill>
                  <a:srgbClr val="002060"/>
                </a:solidFill>
                <a:latin typeface="Bradley Hand ITC" pitchFamily="66" charset="0"/>
              </a:rPr>
              <a:t> </a:t>
            </a:r>
            <a:r>
              <a:rPr lang="it-IT" sz="4000" b="1" dirty="0" err="1" smtClean="0">
                <a:solidFill>
                  <a:srgbClr val="002060"/>
                </a:solidFill>
                <a:latin typeface="Bradley Hand ITC" pitchFamily="66" charset="0"/>
              </a:rPr>
              <a:t>have</a:t>
            </a:r>
            <a:r>
              <a:rPr lang="it-IT" sz="4000" b="1" dirty="0" smtClean="0">
                <a:solidFill>
                  <a:srgbClr val="002060"/>
                </a:solidFill>
                <a:latin typeface="Bradley Hand ITC" pitchFamily="66" charset="0"/>
              </a:rPr>
              <a:t> a </a:t>
            </a:r>
            <a:r>
              <a:rPr lang="it-IT" sz="4000" b="1" dirty="0" err="1" smtClean="0">
                <a:solidFill>
                  <a:srgbClr val="002060"/>
                </a:solidFill>
                <a:latin typeface="Bradley Hand ITC" pitchFamily="66" charset="0"/>
              </a:rPr>
              <a:t>problem</a:t>
            </a:r>
            <a:r>
              <a:rPr lang="it-IT" sz="4000" b="1" dirty="0" smtClean="0">
                <a:solidFill>
                  <a:srgbClr val="002060"/>
                </a:solidFill>
                <a:latin typeface="Bradley Hand ITC" pitchFamily="66" charset="0"/>
              </a:rPr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o 4"/>
          <p:cNvGrpSpPr/>
          <p:nvPr/>
        </p:nvGrpSpPr>
        <p:grpSpPr>
          <a:xfrm>
            <a:off x="0" y="548680"/>
            <a:ext cx="3681760" cy="4058682"/>
            <a:chOff x="251520" y="1556792"/>
            <a:chExt cx="4222328" cy="5066794"/>
          </a:xfrm>
        </p:grpSpPr>
        <p:pic>
          <p:nvPicPr>
            <p:cNvPr id="2" name="Immagine 1" descr="240_F_69436400_vM8UCqRFxs2A5u26KFlZt322o1pOTq1E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520" y="1556792"/>
              <a:ext cx="4222328" cy="5066794"/>
            </a:xfrm>
            <a:prstGeom prst="rect">
              <a:avLst/>
            </a:prstGeom>
          </p:spPr>
        </p:pic>
        <p:pic>
          <p:nvPicPr>
            <p:cNvPr id="3" name="Immagine 2" descr="12153-resized_Lampi-e-fulmini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568" y="4077072"/>
              <a:ext cx="1435183" cy="1641921"/>
            </a:xfrm>
            <a:prstGeom prst="rect">
              <a:avLst/>
            </a:prstGeom>
          </p:spPr>
        </p:pic>
      </p:grpSp>
      <p:sp>
        <p:nvSpPr>
          <p:cNvPr id="6" name="Fumetto 2 5"/>
          <p:cNvSpPr/>
          <p:nvPr/>
        </p:nvSpPr>
        <p:spPr>
          <a:xfrm>
            <a:off x="4283968" y="188640"/>
            <a:ext cx="4680520" cy="3960440"/>
          </a:xfrm>
          <a:prstGeom prst="wedgeRoundRectCallout">
            <a:avLst>
              <a:gd name="adj1" fmla="val -74487"/>
              <a:gd name="adj2" fmla="val -24740"/>
              <a:gd name="adj3" fmla="val 16667"/>
            </a:avLst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002060"/>
                </a:solidFill>
                <a:latin typeface="Bradley Hand ITC" pitchFamily="66" charset="0"/>
              </a:rPr>
              <a:t>We can’t stop extreme events, but we can be prepared to cope them. Everyone should be informed about the current situation</a:t>
            </a:r>
          </a:p>
        </p:txBody>
      </p:sp>
      <p:sp>
        <p:nvSpPr>
          <p:cNvPr id="10" name="Rettangolo 9"/>
          <p:cNvSpPr/>
          <p:nvPr/>
        </p:nvSpPr>
        <p:spPr>
          <a:xfrm>
            <a:off x="0" y="5013176"/>
            <a:ext cx="9144000" cy="184482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2500" dirty="0" smtClean="0"/>
              <a:t>   All over the world people need a</a:t>
            </a:r>
          </a:p>
          <a:p>
            <a:endParaRPr lang="it-IT" dirty="0"/>
          </a:p>
        </p:txBody>
      </p:sp>
      <p:pic>
        <p:nvPicPr>
          <p:cNvPr id="8" name="Immagine 7" descr="240_F_104352773_A8nEIAPv2Dgnmi0lNbmMJArkS5sXhumh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05220" y="5112892"/>
            <a:ext cx="3995936" cy="1628799"/>
          </a:xfrm>
          <a:prstGeom prst="rect">
            <a:avLst/>
          </a:prstGeom>
        </p:spPr>
      </p:pic>
      <p:sp>
        <p:nvSpPr>
          <p:cNvPr id="13314" name="AutoShape 2" descr="Risultati immagini per divieto di access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11" name="Immagine 10" descr="Immagine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71600" y="3068959"/>
            <a:ext cx="1080120" cy="10877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morale_-_basta_bugi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20326056" flipH="1">
            <a:off x="4859021" y="1004980"/>
            <a:ext cx="4620556" cy="5216108"/>
          </a:xfrm>
          <a:prstGeom prst="rect">
            <a:avLst/>
          </a:prstGeom>
        </p:spPr>
      </p:pic>
      <p:sp>
        <p:nvSpPr>
          <p:cNvPr id="4" name="Rettangolo 3"/>
          <p:cNvSpPr/>
          <p:nvPr/>
        </p:nvSpPr>
        <p:spPr>
          <a:xfrm>
            <a:off x="3131840" y="188640"/>
            <a:ext cx="28119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4000" b="1" dirty="0" err="1" smtClean="0">
                <a:solidFill>
                  <a:srgbClr val="002060"/>
                </a:solidFill>
                <a:latin typeface="Bradley Hand ITC" pitchFamily="66" charset="0"/>
              </a:rPr>
              <a:t>Which</a:t>
            </a:r>
            <a:r>
              <a:rPr lang="it-IT" sz="4000" b="1" dirty="0" smtClean="0">
                <a:solidFill>
                  <a:srgbClr val="002060"/>
                </a:solidFill>
                <a:latin typeface="Bradley Hand ITC" pitchFamily="66" charset="0"/>
              </a:rPr>
              <a:t> way?</a:t>
            </a:r>
          </a:p>
        </p:txBody>
      </p:sp>
      <p:sp>
        <p:nvSpPr>
          <p:cNvPr id="6" name="Rettangolo 5"/>
          <p:cNvSpPr/>
          <p:nvPr/>
        </p:nvSpPr>
        <p:spPr>
          <a:xfrm>
            <a:off x="0" y="908720"/>
            <a:ext cx="9144000" cy="40011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An easy way to connect within the “water world”</a:t>
            </a:r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7" name="Rettangolo 6"/>
          <p:cNvSpPr/>
          <p:nvPr/>
        </p:nvSpPr>
        <p:spPr>
          <a:xfrm>
            <a:off x="0" y="5534561"/>
            <a:ext cx="9144000" cy="1323439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8000" dirty="0" smtClean="0">
                <a:solidFill>
                  <a:schemeClr val="bg1"/>
                </a:solidFill>
              </a:rPr>
              <a:t>It exists now! </a:t>
            </a:r>
            <a:endParaRPr lang="it-IT" sz="8000" dirty="0">
              <a:solidFill>
                <a:schemeClr val="bg1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1520" y="1484784"/>
            <a:ext cx="4894544" cy="3893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magine 21" descr="World200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4005064"/>
            <a:ext cx="4067944" cy="2644673"/>
          </a:xfrm>
          <a:prstGeom prst="rect">
            <a:avLst/>
          </a:prstGeom>
          <a:scene3d>
            <a:camera prst="isometricTopUp"/>
            <a:lightRig rig="threePt" dir="t"/>
          </a:scene3d>
        </p:spPr>
      </p:pic>
      <p:sp>
        <p:nvSpPr>
          <p:cNvPr id="4" name="Rettangolo 3"/>
          <p:cNvSpPr/>
          <p:nvPr/>
        </p:nvSpPr>
        <p:spPr>
          <a:xfrm>
            <a:off x="0" y="0"/>
            <a:ext cx="9144000" cy="98072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cs typeface="Arial" pitchFamily="34" charset="0"/>
              </a:rPr>
              <a:t>Hydrological data supports activities…</a:t>
            </a:r>
            <a:endParaRPr lang="it-IT" sz="2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" name="Fumetto 2 4"/>
          <p:cNvSpPr/>
          <p:nvPr/>
        </p:nvSpPr>
        <p:spPr>
          <a:xfrm>
            <a:off x="323528" y="1052736"/>
            <a:ext cx="3605530" cy="1368152"/>
          </a:xfrm>
          <a:prstGeom prst="wedgeRoundRectCallout">
            <a:avLst>
              <a:gd name="adj1" fmla="val -9400"/>
              <a:gd name="adj2" fmla="val 69251"/>
              <a:gd name="adj3" fmla="val 16667"/>
            </a:avLst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/>
          <p:cNvSpPr txBox="1"/>
          <p:nvPr/>
        </p:nvSpPr>
        <p:spPr>
          <a:xfrm>
            <a:off x="428596" y="1142984"/>
            <a:ext cx="35004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>
                <a:solidFill>
                  <a:srgbClr val="002060"/>
                </a:solidFill>
              </a:rPr>
              <a:t>How</a:t>
            </a:r>
            <a:r>
              <a:rPr lang="it-IT" dirty="0" smtClean="0">
                <a:solidFill>
                  <a:srgbClr val="002060"/>
                </a:solidFill>
              </a:rPr>
              <a:t> can I </a:t>
            </a:r>
            <a:r>
              <a:rPr lang="it-IT" dirty="0" err="1" smtClean="0">
                <a:solidFill>
                  <a:srgbClr val="002060"/>
                </a:solidFill>
              </a:rPr>
              <a:t>define</a:t>
            </a:r>
            <a:r>
              <a:rPr lang="it-IT" dirty="0" smtClean="0">
                <a:solidFill>
                  <a:srgbClr val="002060"/>
                </a:solidFill>
              </a:rPr>
              <a:t> a programme </a:t>
            </a:r>
            <a:r>
              <a:rPr lang="it-IT" dirty="0" err="1" smtClean="0">
                <a:solidFill>
                  <a:srgbClr val="002060"/>
                </a:solidFill>
              </a:rPr>
              <a:t>for</a:t>
            </a:r>
            <a:r>
              <a:rPr lang="it-IT" dirty="0" smtClean="0">
                <a:solidFill>
                  <a:srgbClr val="002060"/>
                </a:solidFill>
              </a:rPr>
              <a:t> </a:t>
            </a:r>
            <a:r>
              <a:rPr lang="it-IT" dirty="0" err="1" smtClean="0">
                <a:solidFill>
                  <a:srgbClr val="002060"/>
                </a:solidFill>
              </a:rPr>
              <a:t>hydrological</a:t>
            </a:r>
            <a:r>
              <a:rPr lang="it-IT" dirty="0" smtClean="0">
                <a:solidFill>
                  <a:srgbClr val="002060"/>
                </a:solidFill>
              </a:rPr>
              <a:t> </a:t>
            </a:r>
            <a:r>
              <a:rPr lang="it-IT" dirty="0" err="1" smtClean="0">
                <a:solidFill>
                  <a:srgbClr val="002060"/>
                </a:solidFill>
              </a:rPr>
              <a:t>monitoring</a:t>
            </a:r>
            <a:r>
              <a:rPr lang="it-IT" dirty="0" smtClean="0">
                <a:solidFill>
                  <a:srgbClr val="002060"/>
                </a:solidFill>
              </a:rPr>
              <a:t>?</a:t>
            </a:r>
          </a:p>
          <a:p>
            <a:r>
              <a:rPr lang="it-IT" dirty="0" err="1" smtClean="0">
                <a:solidFill>
                  <a:srgbClr val="002060"/>
                </a:solidFill>
              </a:rPr>
              <a:t>What</a:t>
            </a:r>
            <a:r>
              <a:rPr lang="it-IT" dirty="0" smtClean="0">
                <a:solidFill>
                  <a:srgbClr val="002060"/>
                </a:solidFill>
              </a:rPr>
              <a:t> and </a:t>
            </a:r>
            <a:r>
              <a:rPr lang="it-IT" dirty="0" err="1" smtClean="0">
                <a:solidFill>
                  <a:srgbClr val="002060"/>
                </a:solidFill>
              </a:rPr>
              <a:t>where</a:t>
            </a:r>
            <a:r>
              <a:rPr lang="it-IT" dirty="0" smtClean="0">
                <a:solidFill>
                  <a:srgbClr val="002060"/>
                </a:solidFill>
              </a:rPr>
              <a:t> are the </a:t>
            </a:r>
            <a:r>
              <a:rPr lang="it-IT" dirty="0" err="1" smtClean="0">
                <a:solidFill>
                  <a:srgbClr val="002060"/>
                </a:solidFill>
              </a:rPr>
              <a:t>priorities</a:t>
            </a:r>
            <a:r>
              <a:rPr lang="it-IT" dirty="0" smtClean="0">
                <a:solidFill>
                  <a:srgbClr val="002060"/>
                </a:solidFill>
              </a:rPr>
              <a:t>?</a:t>
            </a:r>
            <a:endParaRPr lang="it-IT" dirty="0">
              <a:solidFill>
                <a:srgbClr val="002060"/>
              </a:solidFill>
            </a:endParaRPr>
          </a:p>
        </p:txBody>
      </p:sp>
      <p:pic>
        <p:nvPicPr>
          <p:cNvPr id="9" name="Immagine 8" descr="omino_lavora_con_noi_o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56744" y="2924944"/>
            <a:ext cx="4287256" cy="3754246"/>
          </a:xfrm>
          <a:prstGeom prst="rect">
            <a:avLst/>
          </a:prstGeom>
        </p:spPr>
      </p:pic>
      <p:cxnSp>
        <p:nvCxnSpPr>
          <p:cNvPr id="11" name="Connettore 1 10"/>
          <p:cNvCxnSpPr/>
          <p:nvPr/>
        </p:nvCxnSpPr>
        <p:spPr>
          <a:xfrm>
            <a:off x="4427984" y="980728"/>
            <a:ext cx="0" cy="5877272"/>
          </a:xfrm>
          <a:prstGeom prst="line">
            <a:avLst/>
          </a:prstGeom>
          <a:ln w="685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29586" y="5517232"/>
            <a:ext cx="864740" cy="62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Fumetto 2 15"/>
          <p:cNvSpPr/>
          <p:nvPr/>
        </p:nvSpPr>
        <p:spPr>
          <a:xfrm>
            <a:off x="6156176" y="1052736"/>
            <a:ext cx="2808312" cy="1584176"/>
          </a:xfrm>
          <a:prstGeom prst="wedgeRoundRectCallout">
            <a:avLst>
              <a:gd name="adj1" fmla="val 15797"/>
              <a:gd name="adj2" fmla="val 82943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Immagine 16" descr="WHOS senza sfondo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516216" y="1502454"/>
            <a:ext cx="2095155" cy="606563"/>
          </a:xfrm>
          <a:prstGeom prst="rect">
            <a:avLst/>
          </a:prstGeom>
        </p:spPr>
      </p:pic>
      <p:sp>
        <p:nvSpPr>
          <p:cNvPr id="18" name="CasellaDiTesto 17"/>
          <p:cNvSpPr txBox="1"/>
          <p:nvPr/>
        </p:nvSpPr>
        <p:spPr>
          <a:xfrm>
            <a:off x="7276954" y="121442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>
                <a:solidFill>
                  <a:srgbClr val="002060"/>
                </a:solidFill>
              </a:rPr>
              <a:t>Using</a:t>
            </a:r>
            <a:endParaRPr lang="it-IT" dirty="0">
              <a:solidFill>
                <a:srgbClr val="002060"/>
              </a:solidFill>
            </a:endParaRPr>
          </a:p>
        </p:txBody>
      </p:sp>
      <p:sp>
        <p:nvSpPr>
          <p:cNvPr id="19" name="CasellaDiTesto 18"/>
          <p:cNvSpPr txBox="1"/>
          <p:nvPr/>
        </p:nvSpPr>
        <p:spPr>
          <a:xfrm>
            <a:off x="6228184" y="2078518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 smtClean="0">
                <a:solidFill>
                  <a:srgbClr val="002060"/>
                </a:solidFill>
              </a:rPr>
              <a:t>We</a:t>
            </a:r>
            <a:r>
              <a:rPr lang="it-IT" dirty="0" smtClean="0">
                <a:solidFill>
                  <a:srgbClr val="002060"/>
                </a:solidFill>
              </a:rPr>
              <a:t> </a:t>
            </a:r>
            <a:r>
              <a:rPr lang="it-IT" dirty="0" err="1" smtClean="0">
                <a:solidFill>
                  <a:srgbClr val="002060"/>
                </a:solidFill>
              </a:rPr>
              <a:t>got</a:t>
            </a:r>
            <a:r>
              <a:rPr lang="it-IT" dirty="0" smtClean="0">
                <a:solidFill>
                  <a:srgbClr val="002060"/>
                </a:solidFill>
              </a:rPr>
              <a:t> the right </a:t>
            </a:r>
            <a:r>
              <a:rPr lang="it-IT" dirty="0" err="1" smtClean="0">
                <a:solidFill>
                  <a:srgbClr val="002060"/>
                </a:solidFill>
              </a:rPr>
              <a:t>solution</a:t>
            </a:r>
            <a:endParaRPr lang="it-IT" dirty="0">
              <a:solidFill>
                <a:srgbClr val="002060"/>
              </a:solidFill>
            </a:endParaRPr>
          </a:p>
        </p:txBody>
      </p:sp>
      <p:sp>
        <p:nvSpPr>
          <p:cNvPr id="20" name="CasellaDiTesto 19"/>
          <p:cNvSpPr txBox="1"/>
          <p:nvPr/>
        </p:nvSpPr>
        <p:spPr>
          <a:xfrm>
            <a:off x="4788024" y="1425347"/>
            <a:ext cx="1355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>
                <a:solidFill>
                  <a:srgbClr val="002060"/>
                </a:solidFill>
              </a:rPr>
              <a:t>Some </a:t>
            </a:r>
            <a:r>
              <a:rPr lang="it-IT" dirty="0" err="1" smtClean="0">
                <a:solidFill>
                  <a:srgbClr val="002060"/>
                </a:solidFill>
              </a:rPr>
              <a:t>days</a:t>
            </a:r>
            <a:r>
              <a:rPr lang="it-IT" dirty="0" smtClean="0">
                <a:solidFill>
                  <a:srgbClr val="002060"/>
                </a:solidFill>
              </a:rPr>
              <a:t> </a:t>
            </a:r>
            <a:r>
              <a:rPr lang="it-IT" dirty="0" err="1" smtClean="0">
                <a:solidFill>
                  <a:srgbClr val="002060"/>
                </a:solidFill>
              </a:rPr>
              <a:t>after…</a:t>
            </a:r>
            <a:endParaRPr lang="it-IT" dirty="0">
              <a:solidFill>
                <a:srgbClr val="002060"/>
              </a:solidFill>
            </a:endParaRPr>
          </a:p>
        </p:txBody>
      </p:sp>
      <p:pic>
        <p:nvPicPr>
          <p:cNvPr id="21" name="Immagine 20" descr="ID-100279498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0" y="2492896"/>
            <a:ext cx="3378484" cy="33784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0" y="0"/>
            <a:ext cx="9144000" cy="98072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cs typeface="Arial" pitchFamily="34" charset="0"/>
              </a:rPr>
              <a:t>Helps in emergency conditions… at the beginning we were in the dark</a:t>
            </a:r>
            <a:endParaRPr lang="it-IT" sz="2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Rettangolo 2"/>
          <p:cNvSpPr/>
          <p:nvPr/>
        </p:nvSpPr>
        <p:spPr>
          <a:xfrm>
            <a:off x="0" y="1052736"/>
            <a:ext cx="4139952" cy="58052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 descr="240_F_70917077_fiZDN9Md64nX4qQOjFXqaa9cp8TChKdC (1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124744"/>
            <a:ext cx="5019526" cy="222677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6" name="CasellaDiTesto 5"/>
          <p:cNvSpPr txBox="1"/>
          <p:nvPr/>
        </p:nvSpPr>
        <p:spPr>
          <a:xfrm rot="223262">
            <a:off x="712707" y="1683886"/>
            <a:ext cx="17286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smtClean="0">
                <a:solidFill>
                  <a:srgbClr val="002060"/>
                </a:solidFill>
              </a:rPr>
              <a:t>EXTREME EVENT</a:t>
            </a:r>
            <a:endParaRPr lang="it-IT" sz="2800" dirty="0">
              <a:solidFill>
                <a:srgbClr val="002060"/>
              </a:solidFill>
            </a:endParaRPr>
          </a:p>
        </p:txBody>
      </p:sp>
      <p:pic>
        <p:nvPicPr>
          <p:cNvPr id="7" name="Immagine 6" descr="question (1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11960" y="3502104"/>
            <a:ext cx="4932040" cy="3355896"/>
          </a:xfrm>
          <a:prstGeom prst="rect">
            <a:avLst/>
          </a:prstGeom>
        </p:spPr>
      </p:pic>
      <p:sp>
        <p:nvSpPr>
          <p:cNvPr id="8" name="CasellaDiTesto 7"/>
          <p:cNvSpPr txBox="1"/>
          <p:nvPr/>
        </p:nvSpPr>
        <p:spPr>
          <a:xfrm>
            <a:off x="107504" y="3645024"/>
            <a:ext cx="40324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 err="1" smtClean="0">
                <a:solidFill>
                  <a:schemeClr val="bg1"/>
                </a:solidFill>
              </a:rPr>
              <a:t>When</a:t>
            </a:r>
            <a:r>
              <a:rPr lang="it-IT" sz="3600" dirty="0" smtClean="0">
                <a:solidFill>
                  <a:schemeClr val="bg1"/>
                </a:solidFill>
              </a:rPr>
              <a:t> </a:t>
            </a:r>
            <a:r>
              <a:rPr lang="it-IT" sz="3600" dirty="0" err="1" smtClean="0">
                <a:solidFill>
                  <a:schemeClr val="bg1"/>
                </a:solidFill>
              </a:rPr>
              <a:t>an</a:t>
            </a:r>
            <a:r>
              <a:rPr lang="it-IT" sz="3600" dirty="0" smtClean="0">
                <a:solidFill>
                  <a:schemeClr val="bg1"/>
                </a:solidFill>
              </a:rPr>
              <a:t> </a:t>
            </a:r>
            <a:r>
              <a:rPr lang="it-IT" sz="3600" dirty="0" err="1" smtClean="0">
                <a:solidFill>
                  <a:schemeClr val="bg1"/>
                </a:solidFill>
              </a:rPr>
              <a:t>extreme</a:t>
            </a:r>
            <a:r>
              <a:rPr lang="it-IT" sz="3600" dirty="0" smtClean="0">
                <a:solidFill>
                  <a:schemeClr val="bg1"/>
                </a:solidFill>
              </a:rPr>
              <a:t> </a:t>
            </a:r>
            <a:r>
              <a:rPr lang="it-IT" sz="3600" dirty="0" err="1" smtClean="0">
                <a:solidFill>
                  <a:schemeClr val="bg1"/>
                </a:solidFill>
              </a:rPr>
              <a:t>event</a:t>
            </a:r>
            <a:r>
              <a:rPr lang="it-IT" sz="3600" dirty="0" smtClean="0">
                <a:solidFill>
                  <a:schemeClr val="bg1"/>
                </a:solidFill>
              </a:rPr>
              <a:t> </a:t>
            </a:r>
            <a:r>
              <a:rPr lang="it-IT" sz="3600" dirty="0" err="1" smtClean="0">
                <a:solidFill>
                  <a:schemeClr val="bg1"/>
                </a:solidFill>
              </a:rPr>
              <a:t>occurs…</a:t>
            </a:r>
            <a:r>
              <a:rPr lang="it-IT" sz="3600" dirty="0" smtClean="0">
                <a:solidFill>
                  <a:schemeClr val="bg1"/>
                </a:solidFill>
              </a:rPr>
              <a:t> </a:t>
            </a:r>
            <a:r>
              <a:rPr lang="it-IT" sz="3600" dirty="0" err="1" smtClean="0">
                <a:solidFill>
                  <a:schemeClr val="bg1"/>
                </a:solidFill>
              </a:rPr>
              <a:t>often</a:t>
            </a:r>
            <a:r>
              <a:rPr lang="it-IT" sz="3600" dirty="0" smtClean="0">
                <a:solidFill>
                  <a:schemeClr val="bg1"/>
                </a:solidFill>
              </a:rPr>
              <a:t> </a:t>
            </a:r>
            <a:r>
              <a:rPr lang="it-IT" sz="3600" dirty="0" err="1" smtClean="0">
                <a:solidFill>
                  <a:schemeClr val="bg1"/>
                </a:solidFill>
              </a:rPr>
              <a:t>we</a:t>
            </a:r>
            <a:r>
              <a:rPr lang="it-IT" sz="3600" dirty="0" smtClean="0">
                <a:solidFill>
                  <a:schemeClr val="bg1"/>
                </a:solidFill>
              </a:rPr>
              <a:t> are in the dark</a:t>
            </a:r>
            <a:endParaRPr lang="it-IT" sz="3600" dirty="0">
              <a:solidFill>
                <a:schemeClr val="bg1"/>
              </a:solidFill>
            </a:endParaRPr>
          </a:p>
        </p:txBody>
      </p:sp>
      <p:sp>
        <p:nvSpPr>
          <p:cNvPr id="9" name="Fumetto 2 8"/>
          <p:cNvSpPr/>
          <p:nvPr/>
        </p:nvSpPr>
        <p:spPr>
          <a:xfrm>
            <a:off x="5580112" y="1700808"/>
            <a:ext cx="3456384" cy="1296144"/>
          </a:xfrm>
          <a:prstGeom prst="wedgeRoundRectCallout">
            <a:avLst>
              <a:gd name="adj1" fmla="val 31951"/>
              <a:gd name="adj2" fmla="val 87588"/>
              <a:gd name="adj3" fmla="val 16667"/>
            </a:avLst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/>
          <p:cNvSpPr txBox="1"/>
          <p:nvPr/>
        </p:nvSpPr>
        <p:spPr>
          <a:xfrm>
            <a:off x="5643570" y="1857364"/>
            <a:ext cx="3275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>
                <a:solidFill>
                  <a:srgbClr val="002060"/>
                </a:solidFill>
              </a:rPr>
              <a:t>Which</a:t>
            </a:r>
            <a:r>
              <a:rPr lang="it-IT" dirty="0" smtClean="0">
                <a:solidFill>
                  <a:srgbClr val="002060"/>
                </a:solidFill>
              </a:rPr>
              <a:t> </a:t>
            </a:r>
            <a:r>
              <a:rPr lang="it-IT" dirty="0" err="1" smtClean="0">
                <a:solidFill>
                  <a:srgbClr val="002060"/>
                </a:solidFill>
              </a:rPr>
              <a:t>is</a:t>
            </a:r>
            <a:r>
              <a:rPr lang="it-IT" dirty="0" smtClean="0">
                <a:solidFill>
                  <a:srgbClr val="002060"/>
                </a:solidFill>
              </a:rPr>
              <a:t> the situation in the </a:t>
            </a:r>
            <a:r>
              <a:rPr lang="it-IT" dirty="0" err="1" smtClean="0">
                <a:solidFill>
                  <a:srgbClr val="002060"/>
                </a:solidFill>
              </a:rPr>
              <a:t>emergency</a:t>
            </a:r>
            <a:r>
              <a:rPr lang="it-IT" dirty="0" smtClean="0">
                <a:solidFill>
                  <a:srgbClr val="002060"/>
                </a:solidFill>
              </a:rPr>
              <a:t> </a:t>
            </a:r>
            <a:r>
              <a:rPr lang="it-IT" dirty="0" err="1" smtClean="0">
                <a:solidFill>
                  <a:srgbClr val="002060"/>
                </a:solidFill>
              </a:rPr>
              <a:t>place</a:t>
            </a:r>
            <a:r>
              <a:rPr lang="it-IT" dirty="0" smtClean="0">
                <a:solidFill>
                  <a:srgbClr val="002060"/>
                </a:solidFill>
              </a:rPr>
              <a:t>?</a:t>
            </a:r>
          </a:p>
          <a:p>
            <a:r>
              <a:rPr lang="it-IT" dirty="0" err="1" smtClean="0">
                <a:solidFill>
                  <a:srgbClr val="002060"/>
                </a:solidFill>
              </a:rPr>
              <a:t>How</a:t>
            </a:r>
            <a:r>
              <a:rPr lang="it-IT" dirty="0" smtClean="0">
                <a:solidFill>
                  <a:srgbClr val="002060"/>
                </a:solidFill>
              </a:rPr>
              <a:t> can I </a:t>
            </a:r>
            <a:r>
              <a:rPr lang="it-IT" dirty="0" err="1" smtClean="0">
                <a:solidFill>
                  <a:srgbClr val="002060"/>
                </a:solidFill>
              </a:rPr>
              <a:t>reach</a:t>
            </a:r>
            <a:r>
              <a:rPr lang="it-IT" dirty="0" smtClean="0">
                <a:solidFill>
                  <a:srgbClr val="002060"/>
                </a:solidFill>
              </a:rPr>
              <a:t> </a:t>
            </a:r>
            <a:r>
              <a:rPr lang="it-IT" dirty="0" err="1" smtClean="0">
                <a:solidFill>
                  <a:srgbClr val="002060"/>
                </a:solidFill>
              </a:rPr>
              <a:t>it</a:t>
            </a:r>
            <a:r>
              <a:rPr lang="it-IT" dirty="0" smtClean="0">
                <a:solidFill>
                  <a:srgbClr val="002060"/>
                </a:solidFill>
              </a:rPr>
              <a:t>?</a:t>
            </a:r>
            <a:endParaRPr lang="it-IT" dirty="0">
              <a:solidFill>
                <a:srgbClr val="002060"/>
              </a:solidFill>
            </a:endParaRPr>
          </a:p>
        </p:txBody>
      </p:sp>
      <p:pic>
        <p:nvPicPr>
          <p:cNvPr id="11" name="Immagine 10" descr="FIRST-7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59632" y="5445224"/>
            <a:ext cx="1368152" cy="123529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0" y="0"/>
            <a:ext cx="9144000" cy="98072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cs typeface="Arial" pitchFamily="34" charset="0"/>
              </a:rPr>
              <a:t>Helps for extreme events</a:t>
            </a:r>
            <a:endParaRPr lang="it-IT" sz="20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4" name="Immagine 3" descr="xSuKBWu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3568" y="1308412"/>
            <a:ext cx="5158482" cy="2840668"/>
          </a:xfrm>
          <a:prstGeom prst="rect">
            <a:avLst/>
          </a:prstGeom>
        </p:spPr>
      </p:pic>
      <p:pic>
        <p:nvPicPr>
          <p:cNvPr id="6" name="Immagine 5" descr="compatibilità-part-time-e-LSU-studio-paseri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68144" y="2564904"/>
            <a:ext cx="3470126" cy="3995903"/>
          </a:xfrm>
          <a:prstGeom prst="rect">
            <a:avLst/>
          </a:prstGeom>
        </p:spPr>
      </p:pic>
      <p:sp>
        <p:nvSpPr>
          <p:cNvPr id="7" name="Fumetto 2 6"/>
          <p:cNvSpPr/>
          <p:nvPr/>
        </p:nvSpPr>
        <p:spPr>
          <a:xfrm>
            <a:off x="251520" y="1052736"/>
            <a:ext cx="6048672" cy="5544616"/>
          </a:xfrm>
          <a:prstGeom prst="wedgeRoundRectCallout">
            <a:avLst>
              <a:gd name="adj1" fmla="val 65664"/>
              <a:gd name="adj2" fmla="val -7266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/>
          <p:cNvSpPr txBox="1"/>
          <p:nvPr/>
        </p:nvSpPr>
        <p:spPr>
          <a:xfrm>
            <a:off x="469254" y="4643446"/>
            <a:ext cx="5460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 smtClean="0"/>
              <a:t>Now</a:t>
            </a:r>
            <a:r>
              <a:rPr lang="it-IT" dirty="0" smtClean="0"/>
              <a:t> I’m </a:t>
            </a:r>
            <a:r>
              <a:rPr lang="it-IT" dirty="0" err="1" smtClean="0"/>
              <a:t>informed</a:t>
            </a:r>
            <a:r>
              <a:rPr lang="it-IT" dirty="0" smtClean="0"/>
              <a:t> </a:t>
            </a:r>
            <a:r>
              <a:rPr lang="it-IT" dirty="0" err="1" smtClean="0"/>
              <a:t>about</a:t>
            </a:r>
            <a:r>
              <a:rPr lang="it-IT" dirty="0" smtClean="0"/>
              <a:t> the </a:t>
            </a:r>
            <a:r>
              <a:rPr lang="it-IT" dirty="0" err="1" smtClean="0"/>
              <a:t>real</a:t>
            </a:r>
            <a:r>
              <a:rPr lang="it-IT" dirty="0" smtClean="0"/>
              <a:t> </a:t>
            </a:r>
            <a:r>
              <a:rPr lang="it-IT" dirty="0" err="1" smtClean="0"/>
              <a:t>situation…</a:t>
            </a:r>
            <a:r>
              <a:rPr lang="it-IT" dirty="0" smtClean="0"/>
              <a:t> </a:t>
            </a:r>
          </a:p>
          <a:p>
            <a:pPr algn="ctr"/>
            <a:r>
              <a:rPr lang="it-IT" dirty="0" err="1" smtClean="0"/>
              <a:t>by</a:t>
            </a:r>
            <a:r>
              <a:rPr lang="it-IT" dirty="0" smtClean="0"/>
              <a:t> </a:t>
            </a:r>
            <a:r>
              <a:rPr lang="it-IT" dirty="0" err="1" smtClean="0"/>
              <a:t>using</a:t>
            </a:r>
            <a:endParaRPr lang="it-IT" dirty="0"/>
          </a:p>
        </p:txBody>
      </p:sp>
      <p:pic>
        <p:nvPicPr>
          <p:cNvPr id="10" name="Immagine 9" descr="WHOS senza sfond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03648" y="5157192"/>
            <a:ext cx="3456384" cy="10006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240_F_71480166_4JvuHr4zOBaBLZ1lYXFLCW9gUCCX45Kz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35896" y="4869160"/>
            <a:ext cx="2145432" cy="1787860"/>
          </a:xfrm>
          <a:prstGeom prst="rect">
            <a:avLst/>
          </a:prstGeom>
          <a:noFill/>
        </p:spPr>
      </p:pic>
      <p:pic>
        <p:nvPicPr>
          <p:cNvPr id="4" name="Immagine 3" descr="carloandreapozzi.com_controllo_normativ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47864" y="1484784"/>
            <a:ext cx="2979318" cy="2804077"/>
          </a:xfrm>
          <a:prstGeom prst="rect">
            <a:avLst/>
          </a:prstGeom>
        </p:spPr>
      </p:pic>
      <p:pic>
        <p:nvPicPr>
          <p:cNvPr id="5" name="Immagine 4" descr="animated-figure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flipH="1">
            <a:off x="0" y="2060848"/>
            <a:ext cx="2810297" cy="2418346"/>
          </a:xfrm>
          <a:prstGeom prst="rect">
            <a:avLst/>
          </a:prstGeom>
        </p:spPr>
      </p:pic>
      <p:sp>
        <p:nvSpPr>
          <p:cNvPr id="6" name="Rettangolo 5"/>
          <p:cNvSpPr/>
          <p:nvPr/>
        </p:nvSpPr>
        <p:spPr>
          <a:xfrm>
            <a:off x="0" y="0"/>
            <a:ext cx="9144000" cy="98072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cs typeface="Arial" pitchFamily="34" charset="0"/>
              </a:rPr>
              <a:t>Hydrological data exchange among different offices…</a:t>
            </a:r>
            <a:endParaRPr lang="it-IT" sz="2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" name="Fumetto 2 6"/>
          <p:cNvSpPr/>
          <p:nvPr/>
        </p:nvSpPr>
        <p:spPr>
          <a:xfrm>
            <a:off x="179512" y="1052736"/>
            <a:ext cx="2160240" cy="720080"/>
          </a:xfrm>
          <a:prstGeom prst="wedgeRoundRectCallout">
            <a:avLst>
              <a:gd name="adj1" fmla="val -27735"/>
              <a:gd name="adj2" fmla="val 131672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/>
          <p:cNvSpPr txBox="1"/>
          <p:nvPr/>
        </p:nvSpPr>
        <p:spPr>
          <a:xfrm>
            <a:off x="500034" y="1142984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>
                <a:solidFill>
                  <a:srgbClr val="002060"/>
                </a:solidFill>
              </a:rPr>
              <a:t>Done…</a:t>
            </a:r>
            <a:endParaRPr lang="it-IT" dirty="0">
              <a:solidFill>
                <a:srgbClr val="002060"/>
              </a:solidFill>
            </a:endParaRPr>
          </a:p>
        </p:txBody>
      </p:sp>
      <p:sp>
        <p:nvSpPr>
          <p:cNvPr id="9" name="Rettangolo 8"/>
          <p:cNvSpPr/>
          <p:nvPr/>
        </p:nvSpPr>
        <p:spPr>
          <a:xfrm>
            <a:off x="2915816" y="980728"/>
            <a:ext cx="144016" cy="331236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/>
          <p:cNvSpPr txBox="1"/>
          <p:nvPr/>
        </p:nvSpPr>
        <p:spPr>
          <a:xfrm>
            <a:off x="3203848" y="1052736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>
                <a:solidFill>
                  <a:srgbClr val="002060"/>
                </a:solidFill>
              </a:rPr>
              <a:t>Some </a:t>
            </a:r>
            <a:r>
              <a:rPr lang="it-IT" dirty="0" err="1" smtClean="0">
                <a:solidFill>
                  <a:srgbClr val="002060"/>
                </a:solidFill>
              </a:rPr>
              <a:t>days</a:t>
            </a:r>
            <a:r>
              <a:rPr lang="it-IT" dirty="0" smtClean="0">
                <a:solidFill>
                  <a:srgbClr val="002060"/>
                </a:solidFill>
              </a:rPr>
              <a:t> </a:t>
            </a:r>
            <a:r>
              <a:rPr lang="it-IT" dirty="0" err="1" smtClean="0">
                <a:solidFill>
                  <a:srgbClr val="002060"/>
                </a:solidFill>
              </a:rPr>
              <a:t>after…</a:t>
            </a:r>
            <a:endParaRPr lang="it-IT" dirty="0">
              <a:solidFill>
                <a:srgbClr val="002060"/>
              </a:solidFill>
            </a:endParaRPr>
          </a:p>
        </p:txBody>
      </p:sp>
      <p:sp>
        <p:nvSpPr>
          <p:cNvPr id="11" name="Fumetto 2 10"/>
          <p:cNvSpPr/>
          <p:nvPr/>
        </p:nvSpPr>
        <p:spPr>
          <a:xfrm>
            <a:off x="5940152" y="1196752"/>
            <a:ext cx="3024336" cy="1584176"/>
          </a:xfrm>
          <a:prstGeom prst="wedgeRoundRectCallout">
            <a:avLst>
              <a:gd name="adj1" fmla="val -82830"/>
              <a:gd name="adj2" fmla="val -2263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002060"/>
              </a:solidFill>
            </a:endParaRPr>
          </a:p>
        </p:txBody>
      </p:sp>
      <p:sp>
        <p:nvSpPr>
          <p:cNvPr id="12" name="CasellaDiTesto 11"/>
          <p:cNvSpPr txBox="1"/>
          <p:nvPr/>
        </p:nvSpPr>
        <p:spPr>
          <a:xfrm>
            <a:off x="6228184" y="1268760"/>
            <a:ext cx="2592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>
                <a:solidFill>
                  <a:srgbClr val="002060"/>
                </a:solidFill>
              </a:rPr>
              <a:t>A </a:t>
            </a:r>
            <a:r>
              <a:rPr lang="it-IT" dirty="0" err="1" smtClean="0">
                <a:solidFill>
                  <a:srgbClr val="002060"/>
                </a:solidFill>
              </a:rPr>
              <a:t>lot</a:t>
            </a:r>
            <a:r>
              <a:rPr lang="it-IT" dirty="0" smtClean="0">
                <a:solidFill>
                  <a:srgbClr val="002060"/>
                </a:solidFill>
              </a:rPr>
              <a:t> </a:t>
            </a:r>
            <a:r>
              <a:rPr lang="it-IT" dirty="0" err="1" smtClean="0">
                <a:solidFill>
                  <a:srgbClr val="002060"/>
                </a:solidFill>
              </a:rPr>
              <a:t>of</a:t>
            </a:r>
            <a:r>
              <a:rPr lang="it-IT" dirty="0" smtClean="0">
                <a:solidFill>
                  <a:srgbClr val="002060"/>
                </a:solidFill>
              </a:rPr>
              <a:t> </a:t>
            </a:r>
            <a:r>
              <a:rPr lang="it-IT" dirty="0" err="1" smtClean="0">
                <a:solidFill>
                  <a:srgbClr val="002060"/>
                </a:solidFill>
              </a:rPr>
              <a:t>documents…</a:t>
            </a:r>
            <a:endParaRPr lang="it-IT" dirty="0" smtClean="0">
              <a:solidFill>
                <a:srgbClr val="002060"/>
              </a:solidFill>
            </a:endParaRPr>
          </a:p>
          <a:p>
            <a:r>
              <a:rPr lang="it-IT" dirty="0" err="1" smtClean="0">
                <a:solidFill>
                  <a:srgbClr val="002060"/>
                </a:solidFill>
              </a:rPr>
              <a:t>What</a:t>
            </a:r>
            <a:r>
              <a:rPr lang="it-IT" dirty="0" smtClean="0">
                <a:solidFill>
                  <a:srgbClr val="002060"/>
                </a:solidFill>
              </a:rPr>
              <a:t> a </a:t>
            </a:r>
            <a:r>
              <a:rPr lang="it-IT" dirty="0" err="1" smtClean="0">
                <a:solidFill>
                  <a:srgbClr val="002060"/>
                </a:solidFill>
              </a:rPr>
              <a:t>confusion</a:t>
            </a:r>
            <a:r>
              <a:rPr lang="it-IT" dirty="0" smtClean="0">
                <a:solidFill>
                  <a:srgbClr val="002060"/>
                </a:solidFill>
              </a:rPr>
              <a:t>!</a:t>
            </a:r>
          </a:p>
          <a:p>
            <a:r>
              <a:rPr lang="it-IT" dirty="0" err="1" smtClean="0">
                <a:solidFill>
                  <a:srgbClr val="002060"/>
                </a:solidFill>
              </a:rPr>
              <a:t>To</a:t>
            </a:r>
            <a:r>
              <a:rPr lang="it-IT" dirty="0" smtClean="0">
                <a:solidFill>
                  <a:srgbClr val="002060"/>
                </a:solidFill>
              </a:rPr>
              <a:t> </a:t>
            </a:r>
            <a:r>
              <a:rPr lang="it-IT" dirty="0" err="1" smtClean="0">
                <a:solidFill>
                  <a:srgbClr val="002060"/>
                </a:solidFill>
              </a:rPr>
              <a:t>manage</a:t>
            </a:r>
            <a:r>
              <a:rPr lang="it-IT" dirty="0" smtClean="0">
                <a:solidFill>
                  <a:srgbClr val="002060"/>
                </a:solidFill>
              </a:rPr>
              <a:t> </a:t>
            </a:r>
            <a:r>
              <a:rPr lang="it-IT" dirty="0" err="1" smtClean="0">
                <a:solidFill>
                  <a:srgbClr val="002060"/>
                </a:solidFill>
              </a:rPr>
              <a:t>all</a:t>
            </a:r>
            <a:r>
              <a:rPr lang="it-IT" dirty="0" smtClean="0">
                <a:solidFill>
                  <a:srgbClr val="002060"/>
                </a:solidFill>
              </a:rPr>
              <a:t> </a:t>
            </a:r>
            <a:r>
              <a:rPr lang="it-IT" dirty="0" err="1" smtClean="0">
                <a:solidFill>
                  <a:srgbClr val="002060"/>
                </a:solidFill>
              </a:rPr>
              <a:t>these</a:t>
            </a:r>
            <a:r>
              <a:rPr lang="it-IT" dirty="0" smtClean="0">
                <a:solidFill>
                  <a:srgbClr val="002060"/>
                </a:solidFill>
              </a:rPr>
              <a:t> data and </a:t>
            </a:r>
            <a:r>
              <a:rPr lang="it-IT" dirty="0" err="1" smtClean="0">
                <a:solidFill>
                  <a:srgbClr val="002060"/>
                </a:solidFill>
              </a:rPr>
              <a:t>information…</a:t>
            </a:r>
            <a:endParaRPr lang="it-IT" dirty="0">
              <a:solidFill>
                <a:srgbClr val="002060"/>
              </a:solidFill>
            </a:endParaRPr>
          </a:p>
        </p:txBody>
      </p:sp>
      <p:sp>
        <p:nvSpPr>
          <p:cNvPr id="13" name="Fumetto 2 12"/>
          <p:cNvSpPr/>
          <p:nvPr/>
        </p:nvSpPr>
        <p:spPr>
          <a:xfrm>
            <a:off x="5580112" y="2852936"/>
            <a:ext cx="3384376" cy="1152128"/>
          </a:xfrm>
          <a:prstGeom prst="wedgeRoundRectCallout">
            <a:avLst>
              <a:gd name="adj1" fmla="val -65591"/>
              <a:gd name="adj2" fmla="val -51018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/>
          <p:cNvSpPr txBox="1"/>
          <p:nvPr/>
        </p:nvSpPr>
        <p:spPr>
          <a:xfrm>
            <a:off x="6072198" y="321468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>
                <a:solidFill>
                  <a:srgbClr val="002060"/>
                </a:solidFill>
              </a:rPr>
              <a:t>I </a:t>
            </a:r>
            <a:r>
              <a:rPr lang="it-IT" dirty="0" err="1" smtClean="0">
                <a:solidFill>
                  <a:srgbClr val="002060"/>
                </a:solidFill>
              </a:rPr>
              <a:t>need</a:t>
            </a:r>
            <a:r>
              <a:rPr lang="it-IT" dirty="0" smtClean="0">
                <a:solidFill>
                  <a:srgbClr val="002060"/>
                </a:solidFill>
              </a:rPr>
              <a:t> a </a:t>
            </a:r>
            <a:r>
              <a:rPr lang="it-IT" dirty="0" err="1" smtClean="0">
                <a:solidFill>
                  <a:srgbClr val="002060"/>
                </a:solidFill>
              </a:rPr>
              <a:t>simple</a:t>
            </a:r>
            <a:r>
              <a:rPr lang="it-IT" dirty="0" smtClean="0">
                <a:solidFill>
                  <a:srgbClr val="002060"/>
                </a:solidFill>
              </a:rPr>
              <a:t> and </a:t>
            </a:r>
            <a:r>
              <a:rPr lang="it-IT" dirty="0" err="1" smtClean="0">
                <a:solidFill>
                  <a:srgbClr val="002060"/>
                </a:solidFill>
              </a:rPr>
              <a:t>efficient</a:t>
            </a:r>
            <a:r>
              <a:rPr lang="it-IT" dirty="0" smtClean="0">
                <a:solidFill>
                  <a:srgbClr val="002060"/>
                </a:solidFill>
              </a:rPr>
              <a:t> </a:t>
            </a:r>
            <a:r>
              <a:rPr lang="it-IT" dirty="0" err="1" smtClean="0">
                <a:solidFill>
                  <a:srgbClr val="002060"/>
                </a:solidFill>
              </a:rPr>
              <a:t>solution</a:t>
            </a:r>
            <a:r>
              <a:rPr lang="it-IT" dirty="0" smtClean="0">
                <a:solidFill>
                  <a:srgbClr val="002060"/>
                </a:solidFill>
              </a:rPr>
              <a:t> </a:t>
            </a:r>
            <a:r>
              <a:rPr lang="it-IT" dirty="0" err="1" smtClean="0">
                <a:solidFill>
                  <a:srgbClr val="002060"/>
                </a:solidFill>
              </a:rPr>
              <a:t>to</a:t>
            </a:r>
            <a:r>
              <a:rPr lang="it-IT" dirty="0" smtClean="0">
                <a:solidFill>
                  <a:srgbClr val="002060"/>
                </a:solidFill>
              </a:rPr>
              <a:t> do </a:t>
            </a:r>
            <a:r>
              <a:rPr lang="it-IT" dirty="0" err="1" smtClean="0">
                <a:solidFill>
                  <a:srgbClr val="002060"/>
                </a:solidFill>
              </a:rPr>
              <a:t>it</a:t>
            </a:r>
            <a:r>
              <a:rPr lang="it-IT" dirty="0" smtClean="0">
                <a:solidFill>
                  <a:srgbClr val="002060"/>
                </a:solidFill>
              </a:rPr>
              <a:t>!!!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15" name="Immagine 14" descr="Fotolia_71850868_XS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9512" y="4797152"/>
            <a:ext cx="3096344" cy="1826049"/>
          </a:xfrm>
          <a:prstGeom prst="rect">
            <a:avLst/>
          </a:prstGeom>
        </p:spPr>
      </p:pic>
      <p:sp>
        <p:nvSpPr>
          <p:cNvPr id="18" name="Rettangolo 17"/>
          <p:cNvSpPr/>
          <p:nvPr/>
        </p:nvSpPr>
        <p:spPr>
          <a:xfrm>
            <a:off x="0" y="4221088"/>
            <a:ext cx="9144000" cy="21602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/>
          <p:cNvSpPr txBox="1"/>
          <p:nvPr/>
        </p:nvSpPr>
        <p:spPr>
          <a:xfrm>
            <a:off x="4211960" y="5373216"/>
            <a:ext cx="432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smtClean="0">
                <a:solidFill>
                  <a:srgbClr val="FF0000"/>
                </a:solidFill>
                <a:latin typeface="Bradley Hand ITC" pitchFamily="66" charset="0"/>
              </a:rPr>
              <a:t>I</a:t>
            </a:r>
          </a:p>
        </p:txBody>
      </p:sp>
      <p:pic>
        <p:nvPicPr>
          <p:cNvPr id="21" name="Immagine 20" descr="WHOS senza sfondo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940152" y="5301208"/>
            <a:ext cx="2744688" cy="1000649"/>
          </a:xfrm>
          <a:prstGeom prst="rect">
            <a:avLst/>
          </a:prstGeom>
        </p:spPr>
      </p:pic>
      <p:sp>
        <p:nvSpPr>
          <p:cNvPr id="22" name="CasellaDiTesto 21"/>
          <p:cNvSpPr txBox="1"/>
          <p:nvPr/>
        </p:nvSpPr>
        <p:spPr>
          <a:xfrm>
            <a:off x="500034" y="5457418"/>
            <a:ext cx="571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smtClean="0">
                <a:solidFill>
                  <a:srgbClr val="FF0000"/>
                </a:solidFill>
                <a:latin typeface="Bradley Hand ITC" pitchFamily="66" charset="0"/>
              </a:rPr>
              <a:t>H</a:t>
            </a:r>
            <a:endParaRPr lang="it-IT" sz="4000" b="1" dirty="0">
              <a:solidFill>
                <a:srgbClr val="FF0000"/>
              </a:solidFill>
              <a:latin typeface="Bradley Hand ITC" pitchFamily="66" charset="0"/>
            </a:endParaRPr>
          </a:p>
        </p:txBody>
      </p:sp>
      <p:sp>
        <p:nvSpPr>
          <p:cNvPr id="23" name="CasellaDiTesto 22"/>
          <p:cNvSpPr txBox="1"/>
          <p:nvPr/>
        </p:nvSpPr>
        <p:spPr>
          <a:xfrm>
            <a:off x="1785918" y="5457418"/>
            <a:ext cx="5000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smtClean="0">
                <a:solidFill>
                  <a:srgbClr val="FF0000"/>
                </a:solidFill>
                <a:latin typeface="Bradley Hand ITC" pitchFamily="66" charset="0"/>
              </a:rPr>
              <a:t>R</a:t>
            </a:r>
            <a:endParaRPr lang="it-IT" sz="4000" b="1" dirty="0">
              <a:solidFill>
                <a:srgbClr val="FF0000"/>
              </a:solidFill>
              <a:latin typeface="Bradley Hand ITC" pitchFamily="66" charset="0"/>
            </a:endParaRPr>
          </a:p>
        </p:txBody>
      </p:sp>
      <p:sp>
        <p:nvSpPr>
          <p:cNvPr id="24" name="CasellaDiTesto 23"/>
          <p:cNvSpPr txBox="1"/>
          <p:nvPr/>
        </p:nvSpPr>
        <p:spPr>
          <a:xfrm>
            <a:off x="1071538" y="5457418"/>
            <a:ext cx="5000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smtClean="0">
                <a:solidFill>
                  <a:srgbClr val="FF0000"/>
                </a:solidFill>
                <a:latin typeface="Bradley Hand ITC" pitchFamily="66" charset="0"/>
              </a:rPr>
              <a:t>E</a:t>
            </a:r>
            <a:endParaRPr lang="it-IT" sz="4000" b="1" dirty="0">
              <a:solidFill>
                <a:srgbClr val="FF0000"/>
              </a:solidFill>
              <a:latin typeface="Bradley Hand ITC" pitchFamily="66" charset="0"/>
            </a:endParaRPr>
          </a:p>
        </p:txBody>
      </p:sp>
      <p:sp>
        <p:nvSpPr>
          <p:cNvPr id="25" name="CasellaDiTesto 24"/>
          <p:cNvSpPr txBox="1"/>
          <p:nvPr/>
        </p:nvSpPr>
        <p:spPr>
          <a:xfrm>
            <a:off x="2500298" y="5457418"/>
            <a:ext cx="5000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smtClean="0">
                <a:solidFill>
                  <a:srgbClr val="FF0000"/>
                </a:solidFill>
                <a:latin typeface="Bradley Hand ITC" pitchFamily="66" charset="0"/>
              </a:rPr>
              <a:t>E</a:t>
            </a:r>
            <a:endParaRPr lang="it-IT" sz="4000" b="1" dirty="0">
              <a:solidFill>
                <a:srgbClr val="FF0000"/>
              </a:solidFill>
              <a:latin typeface="Bradley Hand ITC" pitchFamily="66" charset="0"/>
            </a:endParaRPr>
          </a:p>
        </p:txBody>
      </p:sp>
      <p:sp>
        <p:nvSpPr>
          <p:cNvPr id="26" name="CasellaDiTesto 25"/>
          <p:cNvSpPr txBox="1"/>
          <p:nvPr/>
        </p:nvSpPr>
        <p:spPr>
          <a:xfrm>
            <a:off x="4716016" y="5373216"/>
            <a:ext cx="502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smtClean="0">
                <a:solidFill>
                  <a:srgbClr val="FF0000"/>
                </a:solidFill>
                <a:latin typeface="Bradley Hand ITC" pitchFamily="66" charset="0"/>
              </a:rPr>
              <a:t>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ttangolo arrotondato 78"/>
          <p:cNvSpPr/>
          <p:nvPr/>
        </p:nvSpPr>
        <p:spPr>
          <a:xfrm>
            <a:off x="8452851" y="2508515"/>
            <a:ext cx="626137" cy="2692358"/>
          </a:xfrm>
          <a:prstGeom prst="roundRect">
            <a:avLst/>
          </a:prstGeom>
          <a:solidFill>
            <a:srgbClr val="FF0000"/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bg1"/>
              </a:solidFill>
            </a:endParaRPr>
          </a:p>
        </p:txBody>
      </p:sp>
      <p:pic>
        <p:nvPicPr>
          <p:cNvPr id="43" name="Immagine 42" descr="images_home_ingranaggi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00432" y="5061989"/>
            <a:ext cx="2088409" cy="1796011"/>
          </a:xfrm>
          <a:prstGeom prst="rect">
            <a:avLst/>
          </a:prstGeom>
        </p:spPr>
      </p:pic>
      <p:sp>
        <p:nvSpPr>
          <p:cNvPr id="17" name="Rettangolo arrotondato 16"/>
          <p:cNvSpPr/>
          <p:nvPr/>
        </p:nvSpPr>
        <p:spPr>
          <a:xfrm>
            <a:off x="1330541" y="1700808"/>
            <a:ext cx="1956678" cy="4307773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CasellaDiTesto 17"/>
          <p:cNvSpPr txBox="1"/>
          <p:nvPr/>
        </p:nvSpPr>
        <p:spPr>
          <a:xfrm>
            <a:off x="1330541" y="1700808"/>
            <a:ext cx="2034946" cy="4229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1600" dirty="0" smtClean="0">
                <a:solidFill>
                  <a:schemeClr val="bg1"/>
                </a:solidFill>
              </a:rPr>
              <a:t>rain</a:t>
            </a:r>
          </a:p>
          <a:p>
            <a:pPr algn="ctr">
              <a:lnSpc>
                <a:spcPct val="200000"/>
              </a:lnSpc>
            </a:pPr>
            <a:r>
              <a:rPr lang="en-US" sz="1600" dirty="0" smtClean="0">
                <a:solidFill>
                  <a:schemeClr val="bg1"/>
                </a:solidFill>
              </a:rPr>
              <a:t>drought</a:t>
            </a:r>
          </a:p>
          <a:p>
            <a:pPr algn="ctr">
              <a:lnSpc>
                <a:spcPct val="200000"/>
              </a:lnSpc>
            </a:pPr>
            <a:r>
              <a:rPr lang="en-US" sz="1600" dirty="0" smtClean="0">
                <a:solidFill>
                  <a:schemeClr val="bg1"/>
                </a:solidFill>
              </a:rPr>
              <a:t>discharge</a:t>
            </a:r>
          </a:p>
          <a:p>
            <a:pPr algn="ctr">
              <a:lnSpc>
                <a:spcPct val="200000"/>
              </a:lnSpc>
            </a:pPr>
            <a:r>
              <a:rPr lang="en-US" sz="1600" dirty="0" smtClean="0">
                <a:solidFill>
                  <a:schemeClr val="bg1"/>
                </a:solidFill>
              </a:rPr>
              <a:t>groundwater</a:t>
            </a:r>
          </a:p>
          <a:p>
            <a:pPr algn="ctr">
              <a:lnSpc>
                <a:spcPct val="200000"/>
              </a:lnSpc>
            </a:pPr>
            <a:r>
              <a:rPr lang="en-US" sz="1600" dirty="0" smtClean="0">
                <a:solidFill>
                  <a:schemeClr val="bg1"/>
                </a:solidFill>
              </a:rPr>
              <a:t>numerical model</a:t>
            </a:r>
          </a:p>
          <a:p>
            <a:pPr algn="ctr">
              <a:lnSpc>
                <a:spcPct val="200000"/>
              </a:lnSpc>
            </a:pPr>
            <a:r>
              <a:rPr lang="en-US" sz="1600" dirty="0" smtClean="0">
                <a:solidFill>
                  <a:schemeClr val="bg1"/>
                </a:solidFill>
              </a:rPr>
              <a:t>stochastic model</a:t>
            </a:r>
          </a:p>
          <a:p>
            <a:pPr algn="ctr">
              <a:lnSpc>
                <a:spcPct val="200000"/>
              </a:lnSpc>
            </a:pPr>
            <a:r>
              <a:rPr lang="en-US" sz="1600" dirty="0" smtClean="0">
                <a:solidFill>
                  <a:schemeClr val="bg1"/>
                </a:solidFill>
              </a:rPr>
              <a:t>evapotranspiration</a:t>
            </a:r>
          </a:p>
          <a:p>
            <a:pPr algn="ctr">
              <a:lnSpc>
                <a:spcPct val="200000"/>
              </a:lnSpc>
            </a:pPr>
            <a:r>
              <a:rPr lang="en-US" sz="1600" dirty="0" smtClean="0">
                <a:solidFill>
                  <a:schemeClr val="bg1"/>
                </a:solidFill>
              </a:rPr>
              <a:t>water balance</a:t>
            </a:r>
          </a:p>
          <a:p>
            <a:pPr algn="ctr">
              <a:lnSpc>
                <a:spcPct val="200000"/>
              </a:lnSpc>
            </a:pPr>
            <a:r>
              <a:rPr lang="en-US" sz="1600" dirty="0" smtClean="0">
                <a:solidFill>
                  <a:schemeClr val="bg1"/>
                </a:solidFill>
              </a:rPr>
              <a:t>...</a:t>
            </a:r>
            <a:endParaRPr lang="it-IT" sz="1600" dirty="0">
              <a:solidFill>
                <a:schemeClr val="bg1"/>
              </a:solidFill>
            </a:endParaRPr>
          </a:p>
        </p:txBody>
      </p:sp>
      <p:grpSp>
        <p:nvGrpSpPr>
          <p:cNvPr id="3" name="Gruppo 86"/>
          <p:cNvGrpSpPr/>
          <p:nvPr/>
        </p:nvGrpSpPr>
        <p:grpSpPr>
          <a:xfrm>
            <a:off x="-142908" y="1970044"/>
            <a:ext cx="2214578" cy="3836610"/>
            <a:chOff x="-142908" y="1970044"/>
            <a:chExt cx="2214578" cy="3836610"/>
          </a:xfrm>
        </p:grpSpPr>
        <p:pic>
          <p:nvPicPr>
            <p:cNvPr id="2" name="Immagine 1" descr="donna1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526" y="1970044"/>
              <a:ext cx="547870" cy="471163"/>
            </a:xfrm>
            <a:prstGeom prst="rect">
              <a:avLst/>
            </a:prstGeom>
          </p:spPr>
        </p:pic>
        <p:grpSp>
          <p:nvGrpSpPr>
            <p:cNvPr id="4" name="Gruppo 15"/>
            <p:cNvGrpSpPr/>
            <p:nvPr/>
          </p:nvGrpSpPr>
          <p:grpSpPr>
            <a:xfrm>
              <a:off x="0" y="2714620"/>
              <a:ext cx="939206" cy="673089"/>
              <a:chOff x="395536" y="2268314"/>
              <a:chExt cx="1080120" cy="800646"/>
            </a:xfrm>
          </p:grpSpPr>
          <p:pic>
            <p:nvPicPr>
              <p:cNvPr id="8" name="Immagine 7" descr="donna3.jp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95536" y="2268314"/>
                <a:ext cx="720080" cy="720080"/>
              </a:xfrm>
              <a:prstGeom prst="rect">
                <a:avLst/>
              </a:prstGeom>
            </p:spPr>
          </p:pic>
          <p:pic>
            <p:nvPicPr>
              <p:cNvPr id="7" name="Immagine 6" descr="uomo6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 flipH="1">
                <a:off x="683568" y="2348880"/>
                <a:ext cx="792088" cy="720080"/>
              </a:xfrm>
              <a:prstGeom prst="rect">
                <a:avLst/>
              </a:prstGeom>
            </p:spPr>
          </p:pic>
        </p:grpSp>
        <p:grpSp>
          <p:nvGrpSpPr>
            <p:cNvPr id="5" name="Gruppo 13"/>
            <p:cNvGrpSpPr/>
            <p:nvPr/>
          </p:nvGrpSpPr>
          <p:grpSpPr>
            <a:xfrm flipH="1">
              <a:off x="-142908" y="3571876"/>
              <a:ext cx="1330541" cy="898992"/>
              <a:chOff x="5004048" y="1700808"/>
              <a:chExt cx="1651248" cy="1435224"/>
            </a:xfrm>
          </p:grpSpPr>
          <p:pic>
            <p:nvPicPr>
              <p:cNvPr id="13" name="Immagine 12" descr="uomo10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004048" y="1700808"/>
                <a:ext cx="1147192" cy="1147192"/>
              </a:xfrm>
              <a:prstGeom prst="rect">
                <a:avLst/>
              </a:prstGeom>
            </p:spPr>
          </p:pic>
          <p:pic>
            <p:nvPicPr>
              <p:cNvPr id="12" name="Immagine 11" descr="donna4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52120" y="1844824"/>
                <a:ext cx="1003176" cy="1003176"/>
              </a:xfrm>
              <a:prstGeom prst="rect">
                <a:avLst/>
              </a:prstGeom>
            </p:spPr>
          </p:pic>
          <p:pic>
            <p:nvPicPr>
              <p:cNvPr id="11" name="Immagine 10" descr="uomp9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5292080" y="2204864"/>
                <a:ext cx="931168" cy="931168"/>
              </a:xfrm>
              <a:prstGeom prst="rect">
                <a:avLst/>
              </a:prstGeom>
            </p:spPr>
          </p:pic>
        </p:grpSp>
        <p:grpSp>
          <p:nvGrpSpPr>
            <p:cNvPr id="6" name="Gruppo 45"/>
            <p:cNvGrpSpPr/>
            <p:nvPr/>
          </p:nvGrpSpPr>
          <p:grpSpPr>
            <a:xfrm>
              <a:off x="36724" y="4864329"/>
              <a:ext cx="1034866" cy="942325"/>
              <a:chOff x="467544" y="4653136"/>
              <a:chExt cx="1224136" cy="1296144"/>
            </a:xfrm>
          </p:grpSpPr>
          <p:pic>
            <p:nvPicPr>
              <p:cNvPr id="10" name="Immagine 9" descr="user-group-icon-150x150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 flipH="1">
                <a:off x="467544" y="4653136"/>
                <a:ext cx="1224136" cy="1061054"/>
              </a:xfrm>
              <a:prstGeom prst="rect">
                <a:avLst/>
              </a:prstGeom>
            </p:spPr>
          </p:pic>
          <p:pic>
            <p:nvPicPr>
              <p:cNvPr id="15" name="Immagine 14" descr="uomo7.png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flipH="1">
                <a:off x="755576" y="5085184"/>
                <a:ext cx="838731" cy="864096"/>
              </a:xfrm>
              <a:prstGeom prst="rect">
                <a:avLst/>
              </a:prstGeom>
            </p:spPr>
          </p:pic>
        </p:grpSp>
        <p:cxnSp>
          <p:nvCxnSpPr>
            <p:cNvPr id="22" name="Connettore 2 21"/>
            <p:cNvCxnSpPr/>
            <p:nvPr/>
          </p:nvCxnSpPr>
          <p:spPr>
            <a:xfrm rot="16200000" flipH="1">
              <a:off x="892943" y="4393413"/>
              <a:ext cx="571504" cy="500066"/>
            </a:xfrm>
            <a:prstGeom prst="straightConnector1">
              <a:avLst/>
            </a:prstGeom>
            <a:ln w="57150">
              <a:solidFill>
                <a:srgbClr val="68B89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2 24"/>
            <p:cNvCxnSpPr/>
            <p:nvPr/>
          </p:nvCxnSpPr>
          <p:spPr>
            <a:xfrm flipV="1">
              <a:off x="975930" y="2171971"/>
              <a:ext cx="1095740" cy="807707"/>
            </a:xfrm>
            <a:prstGeom prst="straightConnector1">
              <a:avLst/>
            </a:prstGeom>
            <a:ln w="57150">
              <a:solidFill>
                <a:srgbClr val="68B89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2 26"/>
            <p:cNvCxnSpPr/>
            <p:nvPr/>
          </p:nvCxnSpPr>
          <p:spPr>
            <a:xfrm rot="5400000" flipH="1" flipV="1">
              <a:off x="679473" y="4178255"/>
              <a:ext cx="927006" cy="714380"/>
            </a:xfrm>
            <a:prstGeom prst="straightConnector1">
              <a:avLst/>
            </a:prstGeom>
            <a:ln w="57150">
              <a:solidFill>
                <a:srgbClr val="68B89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2 29"/>
            <p:cNvCxnSpPr/>
            <p:nvPr/>
          </p:nvCxnSpPr>
          <p:spPr>
            <a:xfrm flipV="1">
              <a:off x="975930" y="3071810"/>
              <a:ext cx="881426" cy="648267"/>
            </a:xfrm>
            <a:prstGeom prst="straightConnector1">
              <a:avLst/>
            </a:prstGeom>
            <a:ln w="57150">
              <a:solidFill>
                <a:srgbClr val="68B89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2 31"/>
            <p:cNvCxnSpPr/>
            <p:nvPr/>
          </p:nvCxnSpPr>
          <p:spPr>
            <a:xfrm>
              <a:off x="819396" y="2037353"/>
              <a:ext cx="1174007" cy="0"/>
            </a:xfrm>
            <a:prstGeom prst="straightConnector1">
              <a:avLst/>
            </a:prstGeom>
            <a:ln w="57150">
              <a:solidFill>
                <a:srgbClr val="68B89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2 32"/>
            <p:cNvCxnSpPr/>
            <p:nvPr/>
          </p:nvCxnSpPr>
          <p:spPr>
            <a:xfrm flipV="1">
              <a:off x="975930" y="5500702"/>
              <a:ext cx="595674" cy="104025"/>
            </a:xfrm>
            <a:prstGeom prst="straightConnector1">
              <a:avLst/>
            </a:prstGeom>
            <a:ln w="57150">
              <a:solidFill>
                <a:srgbClr val="68B89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2 35"/>
            <p:cNvCxnSpPr/>
            <p:nvPr/>
          </p:nvCxnSpPr>
          <p:spPr>
            <a:xfrm>
              <a:off x="897663" y="2306589"/>
              <a:ext cx="816817" cy="622345"/>
            </a:xfrm>
            <a:prstGeom prst="straightConnector1">
              <a:avLst/>
            </a:prstGeom>
            <a:ln w="57150">
              <a:solidFill>
                <a:srgbClr val="68B89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2" name="Immagine 41" descr="WHOS senza sfondo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5478700" y="5604727"/>
            <a:ext cx="2257502" cy="786492"/>
          </a:xfrm>
          <a:prstGeom prst="rect">
            <a:avLst/>
          </a:prstGeom>
        </p:spPr>
      </p:pic>
      <p:pic>
        <p:nvPicPr>
          <p:cNvPr id="45" name="Immagine 44" descr="ciclo-acqua1.jp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6104837" y="2845060"/>
            <a:ext cx="2034946" cy="1545151"/>
          </a:xfrm>
          <a:prstGeom prst="rect">
            <a:avLst/>
          </a:prstGeom>
        </p:spPr>
      </p:pic>
      <p:sp>
        <p:nvSpPr>
          <p:cNvPr id="60" name="CasellaDiTesto 59"/>
          <p:cNvSpPr txBox="1"/>
          <p:nvPr/>
        </p:nvSpPr>
        <p:spPr>
          <a:xfrm rot="5400000">
            <a:off x="7249941" y="3651122"/>
            <a:ext cx="3024339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4000" dirty="0" smtClean="0">
                <a:solidFill>
                  <a:schemeClr val="bg1"/>
                </a:solidFill>
              </a:rPr>
              <a:t>HYDROLOGY</a:t>
            </a:r>
            <a:endParaRPr lang="it-IT" sz="4000" dirty="0">
              <a:solidFill>
                <a:schemeClr val="bg1"/>
              </a:solidFill>
            </a:endParaRPr>
          </a:p>
        </p:txBody>
      </p:sp>
      <p:cxnSp>
        <p:nvCxnSpPr>
          <p:cNvPr id="61" name="Connettore 2 60"/>
          <p:cNvCxnSpPr/>
          <p:nvPr/>
        </p:nvCxnSpPr>
        <p:spPr>
          <a:xfrm>
            <a:off x="2661083" y="2037353"/>
            <a:ext cx="1017473" cy="0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ttore 2 63"/>
          <p:cNvCxnSpPr/>
          <p:nvPr/>
        </p:nvCxnSpPr>
        <p:spPr>
          <a:xfrm>
            <a:off x="2817617" y="2508515"/>
            <a:ext cx="860939" cy="0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2 65"/>
          <p:cNvCxnSpPr/>
          <p:nvPr/>
        </p:nvCxnSpPr>
        <p:spPr>
          <a:xfrm>
            <a:off x="2895884" y="2979678"/>
            <a:ext cx="782671" cy="0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ttore 2 67"/>
          <p:cNvCxnSpPr/>
          <p:nvPr/>
        </p:nvCxnSpPr>
        <p:spPr>
          <a:xfrm>
            <a:off x="2974151" y="3416726"/>
            <a:ext cx="704404" cy="0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2 69"/>
          <p:cNvCxnSpPr/>
          <p:nvPr/>
        </p:nvCxnSpPr>
        <p:spPr>
          <a:xfrm>
            <a:off x="3130685" y="3854694"/>
            <a:ext cx="547870" cy="0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ttore 2 70"/>
          <p:cNvCxnSpPr/>
          <p:nvPr/>
        </p:nvCxnSpPr>
        <p:spPr>
          <a:xfrm>
            <a:off x="3130685" y="4318020"/>
            <a:ext cx="556983" cy="7837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ttore 2 72"/>
          <p:cNvCxnSpPr/>
          <p:nvPr/>
        </p:nvCxnSpPr>
        <p:spPr>
          <a:xfrm>
            <a:off x="3208953" y="4797020"/>
            <a:ext cx="469603" cy="0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ttore 2 75"/>
          <p:cNvCxnSpPr/>
          <p:nvPr/>
        </p:nvCxnSpPr>
        <p:spPr>
          <a:xfrm>
            <a:off x="3052418" y="5268182"/>
            <a:ext cx="626137" cy="0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Freccia curva 81"/>
          <p:cNvSpPr/>
          <p:nvPr/>
        </p:nvSpPr>
        <p:spPr>
          <a:xfrm flipV="1">
            <a:off x="2817617" y="6008581"/>
            <a:ext cx="2739350" cy="201927"/>
          </a:xfrm>
          <a:prstGeom prst="bentArrow">
            <a:avLst>
              <a:gd name="adj1" fmla="val 25000"/>
              <a:gd name="adj2" fmla="val 25000"/>
              <a:gd name="adj3" fmla="val 50000"/>
              <a:gd name="adj4" fmla="val 43750"/>
            </a:avLst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cxnSp>
        <p:nvCxnSpPr>
          <p:cNvPr id="84" name="Connettore 2 83"/>
          <p:cNvCxnSpPr/>
          <p:nvPr/>
        </p:nvCxnSpPr>
        <p:spPr>
          <a:xfrm flipH="1" flipV="1">
            <a:off x="5791768" y="2710442"/>
            <a:ext cx="626137" cy="201927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ttore 2 88"/>
          <p:cNvCxnSpPr/>
          <p:nvPr/>
        </p:nvCxnSpPr>
        <p:spPr>
          <a:xfrm flipH="1">
            <a:off x="5791768" y="3585459"/>
            <a:ext cx="391336" cy="0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ttore 2 91"/>
          <p:cNvCxnSpPr/>
          <p:nvPr/>
        </p:nvCxnSpPr>
        <p:spPr>
          <a:xfrm flipH="1">
            <a:off x="5791768" y="4258548"/>
            <a:ext cx="626137" cy="194090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Freccia curva 95"/>
          <p:cNvSpPr/>
          <p:nvPr/>
        </p:nvSpPr>
        <p:spPr>
          <a:xfrm rot="5400000">
            <a:off x="6633930" y="4814237"/>
            <a:ext cx="1211561" cy="234801"/>
          </a:xfrm>
          <a:prstGeom prst="bentArrow">
            <a:avLst>
              <a:gd name="adj1" fmla="val 25000"/>
              <a:gd name="adj2" fmla="val 25000"/>
              <a:gd name="adj3" fmla="val 50000"/>
              <a:gd name="adj4" fmla="val 43750"/>
            </a:avLst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cxnSp>
        <p:nvCxnSpPr>
          <p:cNvPr id="97" name="Connettore 2 96"/>
          <p:cNvCxnSpPr/>
          <p:nvPr/>
        </p:nvCxnSpPr>
        <p:spPr>
          <a:xfrm flipH="1">
            <a:off x="7513645" y="2643133"/>
            <a:ext cx="939206" cy="269236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ttore 2 99"/>
          <p:cNvCxnSpPr/>
          <p:nvPr/>
        </p:nvCxnSpPr>
        <p:spPr>
          <a:xfrm flipH="1">
            <a:off x="7748447" y="2845060"/>
            <a:ext cx="704404" cy="201927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ttore 2 100"/>
          <p:cNvCxnSpPr/>
          <p:nvPr/>
        </p:nvCxnSpPr>
        <p:spPr>
          <a:xfrm flipH="1">
            <a:off x="7983248" y="3114296"/>
            <a:ext cx="451377" cy="150292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Immagine 47" descr="IMG_2695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 rot="5400000">
            <a:off x="3119748" y="2596162"/>
            <a:ext cx="3230828" cy="2113213"/>
          </a:xfrm>
          <a:prstGeom prst="rect">
            <a:avLst/>
          </a:prstGeom>
          <a:ln w="57150">
            <a:solidFill>
              <a:srgbClr val="002060"/>
            </a:solidFill>
          </a:ln>
        </p:spPr>
      </p:pic>
      <p:pic>
        <p:nvPicPr>
          <p:cNvPr id="49" name="Immagine 48" descr="240_F_75224239_sEP30ttabrHrgotV6Rhsjvj9Y0NWJWa1.jp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57224" y="0"/>
            <a:ext cx="3627183" cy="1533381"/>
          </a:xfrm>
          <a:prstGeom prst="rect">
            <a:avLst/>
          </a:prstGeom>
        </p:spPr>
      </p:pic>
      <p:pic>
        <p:nvPicPr>
          <p:cNvPr id="52" name="Immagine 51" descr="240_F_75224239_sEP30ttabrHrgotV6Rhsjvj9Y0NWJWa1.jp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541736" y="0"/>
            <a:ext cx="3627183" cy="1533381"/>
          </a:xfrm>
          <a:prstGeom prst="rect">
            <a:avLst/>
          </a:prstGeom>
        </p:spPr>
      </p:pic>
      <p:sp>
        <p:nvSpPr>
          <p:cNvPr id="54" name="CasellaDiTesto 53"/>
          <p:cNvSpPr txBox="1"/>
          <p:nvPr/>
        </p:nvSpPr>
        <p:spPr>
          <a:xfrm>
            <a:off x="1180752" y="548680"/>
            <a:ext cx="576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smtClean="0">
                <a:solidFill>
                  <a:srgbClr val="FF0000"/>
                </a:solidFill>
                <a:latin typeface="Bradley Hand ITC" pitchFamily="66" charset="0"/>
              </a:rPr>
              <a:t>O</a:t>
            </a:r>
            <a:endParaRPr lang="it-IT" sz="4000" b="1" dirty="0">
              <a:solidFill>
                <a:srgbClr val="FF0000"/>
              </a:solidFill>
              <a:latin typeface="Bradley Hand ITC" pitchFamily="66" charset="0"/>
            </a:endParaRPr>
          </a:p>
        </p:txBody>
      </p:sp>
      <p:sp>
        <p:nvSpPr>
          <p:cNvPr id="55" name="CasellaDiTesto 54"/>
          <p:cNvSpPr txBox="1"/>
          <p:nvPr/>
        </p:nvSpPr>
        <p:spPr>
          <a:xfrm>
            <a:off x="1972840" y="548680"/>
            <a:ext cx="504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smtClean="0">
                <a:solidFill>
                  <a:srgbClr val="FF0000"/>
                </a:solidFill>
                <a:latin typeface="Bradley Hand ITC" pitchFamily="66" charset="0"/>
              </a:rPr>
              <a:t>N</a:t>
            </a:r>
            <a:endParaRPr lang="it-IT" sz="4000" b="1" dirty="0">
              <a:solidFill>
                <a:srgbClr val="FF0000"/>
              </a:solidFill>
              <a:latin typeface="Bradley Hand ITC" pitchFamily="66" charset="0"/>
            </a:endParaRPr>
          </a:p>
        </p:txBody>
      </p:sp>
      <p:sp>
        <p:nvSpPr>
          <p:cNvPr id="56" name="CasellaDiTesto 55"/>
          <p:cNvSpPr txBox="1"/>
          <p:nvPr/>
        </p:nvSpPr>
        <p:spPr>
          <a:xfrm>
            <a:off x="2836936" y="549821"/>
            <a:ext cx="576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smtClean="0">
                <a:solidFill>
                  <a:srgbClr val="FF0000"/>
                </a:solidFill>
                <a:latin typeface="Bradley Hand ITC" pitchFamily="66" charset="0"/>
              </a:rPr>
              <a:t>T</a:t>
            </a:r>
            <a:endParaRPr lang="it-IT" sz="4000" b="1" dirty="0">
              <a:solidFill>
                <a:srgbClr val="FF0000"/>
              </a:solidFill>
              <a:latin typeface="Bradley Hand ITC" pitchFamily="66" charset="0"/>
            </a:endParaRPr>
          </a:p>
        </p:txBody>
      </p:sp>
      <p:sp>
        <p:nvSpPr>
          <p:cNvPr id="69" name="CasellaDiTesto 68"/>
          <p:cNvSpPr txBox="1"/>
          <p:nvPr/>
        </p:nvSpPr>
        <p:spPr>
          <a:xfrm>
            <a:off x="3629024" y="548680"/>
            <a:ext cx="576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smtClean="0">
                <a:solidFill>
                  <a:srgbClr val="FF0000"/>
                </a:solidFill>
                <a:latin typeface="Bradley Hand ITC" pitchFamily="66" charset="0"/>
              </a:rPr>
              <a:t>O</a:t>
            </a:r>
            <a:endParaRPr lang="it-IT" sz="4000" b="1" dirty="0">
              <a:solidFill>
                <a:srgbClr val="FF0000"/>
              </a:solidFill>
              <a:latin typeface="Bradley Hand ITC" pitchFamily="66" charset="0"/>
            </a:endParaRPr>
          </a:p>
        </p:txBody>
      </p:sp>
      <p:sp>
        <p:nvSpPr>
          <p:cNvPr id="72" name="CasellaDiTesto 71"/>
          <p:cNvSpPr txBox="1"/>
          <p:nvPr/>
        </p:nvSpPr>
        <p:spPr>
          <a:xfrm>
            <a:off x="5645248" y="548680"/>
            <a:ext cx="576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smtClean="0">
                <a:solidFill>
                  <a:srgbClr val="FF0000"/>
                </a:solidFill>
                <a:latin typeface="Bradley Hand ITC" pitchFamily="66" charset="0"/>
              </a:rPr>
              <a:t>O</a:t>
            </a:r>
            <a:endParaRPr lang="it-IT" sz="4000" b="1" dirty="0">
              <a:solidFill>
                <a:srgbClr val="FF0000"/>
              </a:solidFill>
              <a:latin typeface="Bradley Hand ITC" pitchFamily="66" charset="0"/>
            </a:endParaRPr>
          </a:p>
        </p:txBody>
      </p:sp>
      <p:sp>
        <p:nvSpPr>
          <p:cNvPr id="75" name="CasellaDiTesto 74"/>
          <p:cNvSpPr txBox="1"/>
          <p:nvPr/>
        </p:nvSpPr>
        <p:spPr>
          <a:xfrm>
            <a:off x="4853160" y="548680"/>
            <a:ext cx="576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smtClean="0">
                <a:solidFill>
                  <a:srgbClr val="FF0000"/>
                </a:solidFill>
                <a:latin typeface="Bradley Hand ITC" pitchFamily="66" charset="0"/>
              </a:rPr>
              <a:t>L</a:t>
            </a:r>
            <a:endParaRPr lang="it-IT" sz="4000" b="1" dirty="0">
              <a:solidFill>
                <a:srgbClr val="FF0000"/>
              </a:solidFill>
              <a:latin typeface="Bradley Hand ITC" pitchFamily="66" charset="0"/>
            </a:endParaRPr>
          </a:p>
        </p:txBody>
      </p:sp>
      <p:sp>
        <p:nvSpPr>
          <p:cNvPr id="77" name="CasellaDiTesto 76"/>
          <p:cNvSpPr txBox="1"/>
          <p:nvPr/>
        </p:nvSpPr>
        <p:spPr>
          <a:xfrm>
            <a:off x="6509344" y="548680"/>
            <a:ext cx="576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smtClean="0">
                <a:solidFill>
                  <a:srgbClr val="FF0000"/>
                </a:solidFill>
                <a:latin typeface="Bradley Hand ITC" pitchFamily="66" charset="0"/>
              </a:rPr>
              <a:t>G</a:t>
            </a:r>
            <a:endParaRPr lang="it-IT" sz="4000" b="1" dirty="0">
              <a:solidFill>
                <a:srgbClr val="FF0000"/>
              </a:solidFill>
              <a:latin typeface="Bradley Hand ITC" pitchFamily="66" charset="0"/>
            </a:endParaRPr>
          </a:p>
        </p:txBody>
      </p:sp>
      <p:sp>
        <p:nvSpPr>
          <p:cNvPr id="78" name="CasellaDiTesto 77"/>
          <p:cNvSpPr txBox="1"/>
          <p:nvPr/>
        </p:nvSpPr>
        <p:spPr>
          <a:xfrm>
            <a:off x="7373440" y="500042"/>
            <a:ext cx="5040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800" b="1" dirty="0" smtClean="0">
                <a:solidFill>
                  <a:srgbClr val="FF0000"/>
                </a:solidFill>
                <a:latin typeface="Bradley Hand ITC" pitchFamily="66" charset="0"/>
              </a:rPr>
              <a:t>Y</a:t>
            </a:r>
            <a:endParaRPr lang="it-IT" sz="3800" b="1" dirty="0">
              <a:solidFill>
                <a:srgbClr val="FF0000"/>
              </a:solidFill>
              <a:latin typeface="Bradley Hand ITC" pitchFamily="66" charset="0"/>
            </a:endParaRPr>
          </a:p>
        </p:txBody>
      </p:sp>
      <p:sp>
        <p:nvSpPr>
          <p:cNvPr id="83" name="Rettangolo 82"/>
          <p:cNvSpPr/>
          <p:nvPr/>
        </p:nvSpPr>
        <p:spPr>
          <a:xfrm>
            <a:off x="0" y="1484784"/>
            <a:ext cx="9144000" cy="14401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17"/>
          <p:cNvGrpSpPr/>
          <p:nvPr/>
        </p:nvGrpSpPr>
        <p:grpSpPr>
          <a:xfrm>
            <a:off x="0" y="1412776"/>
            <a:ext cx="2349500" cy="5472608"/>
            <a:chOff x="0" y="260648"/>
            <a:chExt cx="2349500" cy="5472608"/>
          </a:xfrm>
        </p:grpSpPr>
        <p:pic>
          <p:nvPicPr>
            <p:cNvPr id="3" name="Immagine 2" descr="240_F_75168007_fAmoeiLJWmKjvXc0J66NfLydT7gJ2OKY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60648"/>
              <a:ext cx="2349500" cy="3048000"/>
            </a:xfrm>
            <a:prstGeom prst="rect">
              <a:avLst/>
            </a:prstGeom>
          </p:spPr>
        </p:pic>
        <p:sp>
          <p:nvSpPr>
            <p:cNvPr id="6" name="Rettangolo 5"/>
            <p:cNvSpPr/>
            <p:nvPr/>
          </p:nvSpPr>
          <p:spPr>
            <a:xfrm>
              <a:off x="0" y="3068960"/>
              <a:ext cx="1115616" cy="144016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" name="Immagine 3" descr="240_F_75168007_fAmoeiLJWmKjvXc0J66NfLydT7gJ2OKY.jp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flipH="1">
              <a:off x="1187623" y="3140968"/>
              <a:ext cx="949283" cy="1944216"/>
            </a:xfrm>
            <a:prstGeom prst="rect">
              <a:avLst/>
            </a:prstGeom>
          </p:spPr>
        </p:pic>
        <p:pic>
          <p:nvPicPr>
            <p:cNvPr id="7" name="Immagine 6" descr="240_F_75168007_fAmoeiLJWmKjvXc0J66NfLydT7gJ2OKY.jpg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flipH="1">
              <a:off x="1115616" y="5013176"/>
              <a:ext cx="1021292" cy="686591"/>
            </a:xfrm>
            <a:prstGeom prst="rect">
              <a:avLst/>
            </a:prstGeom>
          </p:spPr>
        </p:pic>
        <p:sp>
          <p:nvSpPr>
            <p:cNvPr id="8" name="CasellaDiTesto 7"/>
            <p:cNvSpPr txBox="1"/>
            <p:nvPr/>
          </p:nvSpPr>
          <p:spPr>
            <a:xfrm rot="20178704">
              <a:off x="1113354" y="417924"/>
              <a:ext cx="5692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000" b="1" dirty="0" smtClean="0">
                  <a:solidFill>
                    <a:srgbClr val="FF0000"/>
                  </a:solidFill>
                  <a:latin typeface="Bradley Hand ITC" pitchFamily="66" charset="0"/>
                </a:rPr>
                <a:t>C</a:t>
              </a:r>
              <a:endParaRPr lang="it-IT" sz="4000" b="1" dirty="0">
                <a:solidFill>
                  <a:srgbClr val="FF0000"/>
                </a:solidFill>
                <a:latin typeface="Bradley Hand ITC" pitchFamily="66" charset="0"/>
              </a:endParaRPr>
            </a:p>
          </p:txBody>
        </p:sp>
        <p:sp>
          <p:nvSpPr>
            <p:cNvPr id="9" name="CasellaDiTesto 8"/>
            <p:cNvSpPr txBox="1"/>
            <p:nvPr/>
          </p:nvSpPr>
          <p:spPr>
            <a:xfrm>
              <a:off x="1259632" y="1268760"/>
              <a:ext cx="64807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000" b="1" dirty="0" smtClean="0">
                  <a:solidFill>
                    <a:srgbClr val="FF0000"/>
                  </a:solidFill>
                  <a:latin typeface="Bradley Hand ITC" pitchFamily="66" charset="0"/>
                </a:rPr>
                <a:t>A</a:t>
              </a:r>
              <a:endParaRPr lang="it-IT" sz="4000" b="1" dirty="0">
                <a:solidFill>
                  <a:srgbClr val="FF0000"/>
                </a:solidFill>
                <a:latin typeface="Bradley Hand ITC" pitchFamily="66" charset="0"/>
              </a:endParaRPr>
            </a:p>
          </p:txBody>
        </p:sp>
        <p:sp>
          <p:nvSpPr>
            <p:cNvPr id="10" name="CasellaDiTesto 9"/>
            <p:cNvSpPr txBox="1"/>
            <p:nvPr/>
          </p:nvSpPr>
          <p:spPr>
            <a:xfrm>
              <a:off x="1331640" y="1844824"/>
              <a:ext cx="64807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000" b="1" dirty="0" smtClean="0">
                  <a:solidFill>
                    <a:srgbClr val="FF0000"/>
                  </a:solidFill>
                  <a:latin typeface="Bradley Hand ITC" pitchFamily="66" charset="0"/>
                </a:rPr>
                <a:t>T</a:t>
              </a:r>
              <a:endParaRPr lang="it-IT" sz="4000" b="1" dirty="0">
                <a:solidFill>
                  <a:srgbClr val="FF0000"/>
                </a:solidFill>
                <a:latin typeface="Bradley Hand ITC" pitchFamily="66" charset="0"/>
              </a:endParaRPr>
            </a:p>
          </p:txBody>
        </p:sp>
        <p:sp>
          <p:nvSpPr>
            <p:cNvPr id="12" name="CasellaDiTesto 11"/>
            <p:cNvSpPr txBox="1"/>
            <p:nvPr/>
          </p:nvSpPr>
          <p:spPr>
            <a:xfrm>
              <a:off x="1619672" y="2492896"/>
              <a:ext cx="5040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000" b="1" dirty="0" smtClean="0">
                  <a:solidFill>
                    <a:srgbClr val="FF0000"/>
                  </a:solidFill>
                  <a:latin typeface="Bradley Hand ITC" pitchFamily="66" charset="0"/>
                </a:rPr>
                <a:t>A</a:t>
              </a:r>
              <a:endParaRPr lang="it-IT" sz="4000" b="1" dirty="0">
                <a:solidFill>
                  <a:srgbClr val="FF0000"/>
                </a:solidFill>
                <a:latin typeface="Bradley Hand ITC" pitchFamily="66" charset="0"/>
              </a:endParaRPr>
            </a:p>
          </p:txBody>
        </p:sp>
        <p:sp>
          <p:nvSpPr>
            <p:cNvPr id="13" name="CasellaDiTesto 12"/>
            <p:cNvSpPr txBox="1"/>
            <p:nvPr/>
          </p:nvSpPr>
          <p:spPr>
            <a:xfrm>
              <a:off x="1619672" y="3140968"/>
              <a:ext cx="5760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000" b="1" dirty="0" smtClean="0">
                  <a:solidFill>
                    <a:srgbClr val="FF0000"/>
                  </a:solidFill>
                  <a:latin typeface="Bradley Hand ITC" pitchFamily="66" charset="0"/>
                </a:rPr>
                <a:t>L</a:t>
              </a:r>
              <a:endParaRPr lang="it-IT" sz="4000" b="1" dirty="0">
                <a:solidFill>
                  <a:srgbClr val="FF0000"/>
                </a:solidFill>
                <a:latin typeface="Bradley Hand ITC" pitchFamily="66" charset="0"/>
              </a:endParaRPr>
            </a:p>
          </p:txBody>
        </p:sp>
        <p:sp>
          <p:nvSpPr>
            <p:cNvPr id="14" name="CasellaDiTesto 13"/>
            <p:cNvSpPr txBox="1"/>
            <p:nvPr/>
          </p:nvSpPr>
          <p:spPr>
            <a:xfrm>
              <a:off x="1547664" y="3717032"/>
              <a:ext cx="64807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000" b="1" dirty="0" smtClean="0">
                  <a:solidFill>
                    <a:srgbClr val="FF0000"/>
                  </a:solidFill>
                  <a:latin typeface="Bradley Hand ITC" pitchFamily="66" charset="0"/>
                </a:rPr>
                <a:t>O</a:t>
              </a:r>
              <a:endParaRPr lang="it-IT" sz="4000" b="1" dirty="0">
                <a:solidFill>
                  <a:srgbClr val="FF0000"/>
                </a:solidFill>
                <a:latin typeface="Bradley Hand ITC" pitchFamily="66" charset="0"/>
              </a:endParaRPr>
            </a:p>
          </p:txBody>
        </p:sp>
        <p:sp>
          <p:nvSpPr>
            <p:cNvPr id="15" name="CasellaDiTesto 14"/>
            <p:cNvSpPr txBox="1"/>
            <p:nvPr/>
          </p:nvSpPr>
          <p:spPr>
            <a:xfrm>
              <a:off x="1259632" y="4365104"/>
              <a:ext cx="64807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000" b="1" dirty="0" smtClean="0">
                  <a:solidFill>
                    <a:srgbClr val="FF0000"/>
                  </a:solidFill>
                  <a:latin typeface="Bradley Hand ITC" pitchFamily="66" charset="0"/>
                </a:rPr>
                <a:t>G</a:t>
              </a:r>
              <a:endParaRPr lang="it-IT" sz="4000" b="1" dirty="0">
                <a:solidFill>
                  <a:srgbClr val="FF0000"/>
                </a:solidFill>
                <a:latin typeface="Bradley Hand ITC" pitchFamily="66" charset="0"/>
              </a:endParaRPr>
            </a:p>
          </p:txBody>
        </p:sp>
        <p:sp>
          <p:nvSpPr>
            <p:cNvPr id="16" name="CasellaDiTesto 15"/>
            <p:cNvSpPr txBox="1"/>
            <p:nvPr/>
          </p:nvSpPr>
          <p:spPr>
            <a:xfrm>
              <a:off x="1187624" y="5025370"/>
              <a:ext cx="64807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000" b="1" dirty="0" smtClean="0">
                  <a:solidFill>
                    <a:srgbClr val="FF0000"/>
                  </a:solidFill>
                  <a:latin typeface="Bradley Hand ITC" pitchFamily="66" charset="0"/>
                </a:rPr>
                <a:t>S</a:t>
              </a:r>
              <a:endParaRPr lang="it-IT" sz="4000" b="1" dirty="0">
                <a:solidFill>
                  <a:srgbClr val="FF0000"/>
                </a:solidFill>
                <a:latin typeface="Bradley Hand ITC" pitchFamily="66" charset="0"/>
              </a:endParaRPr>
            </a:p>
          </p:txBody>
        </p:sp>
      </p:grpSp>
      <p:sp>
        <p:nvSpPr>
          <p:cNvPr id="19" name="Rettangolo 18"/>
          <p:cNvSpPr/>
          <p:nvPr/>
        </p:nvSpPr>
        <p:spPr>
          <a:xfrm>
            <a:off x="0" y="0"/>
            <a:ext cx="9144000" cy="98072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cs typeface="Arial" pitchFamily="34" charset="0"/>
              </a:rPr>
              <a:t>Data all around the world to help you</a:t>
            </a:r>
            <a:endParaRPr lang="it-IT" sz="20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5" name="Gruppo 37"/>
          <p:cNvGrpSpPr/>
          <p:nvPr/>
        </p:nvGrpSpPr>
        <p:grpSpPr>
          <a:xfrm>
            <a:off x="2699792" y="836712"/>
            <a:ext cx="5688632" cy="5040560"/>
            <a:chOff x="3563888" y="4005064"/>
            <a:chExt cx="2347256" cy="2171070"/>
          </a:xfrm>
        </p:grpSpPr>
        <p:pic>
          <p:nvPicPr>
            <p:cNvPr id="37" name="Picture 2" descr="C:\Users\ftugnoli\Pictures\Immagine2-pola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20437408">
              <a:off x="3893382" y="4098003"/>
              <a:ext cx="697356" cy="803069"/>
            </a:xfrm>
            <a:prstGeom prst="rect">
              <a:avLst/>
            </a:prstGeom>
            <a:ln>
              <a:noFill/>
            </a:ln>
            <a:effectLst>
              <a:reflection blurRad="12700" stA="30000" endPos="30000" dist="5000" dir="5400000" sy="-100000" algn="bl" rotWithShape="0"/>
            </a:effectLst>
            <a:scene3d>
              <a:camera prst="perspectiveContrastingLeftFacing">
                <a:rot lat="300000" lon="19800000" rev="0"/>
              </a:camera>
              <a:lightRig rig="threePt" dir="t">
                <a:rot lat="0" lon="0" rev="2700000"/>
              </a:lightRig>
            </a:scene3d>
            <a:sp3d>
              <a:bevelT w="63500" h="50800"/>
            </a:sp3d>
          </p:spPr>
        </p:pic>
        <p:grpSp>
          <p:nvGrpSpPr>
            <p:cNvPr id="11" name="Gruppo 39"/>
            <p:cNvGrpSpPr/>
            <p:nvPr/>
          </p:nvGrpSpPr>
          <p:grpSpPr>
            <a:xfrm>
              <a:off x="3563888" y="4005064"/>
              <a:ext cx="2347256" cy="2171070"/>
              <a:chOff x="519233" y="-22266358"/>
              <a:chExt cx="16295227" cy="17058068"/>
            </a:xfrm>
          </p:grpSpPr>
          <p:pic>
            <p:nvPicPr>
              <p:cNvPr id="28" name="Immagine 27" descr="Immagine4-pola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1270812">
                <a:off x="10723661" y="-20408346"/>
                <a:ext cx="4971803" cy="5832674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30" name="Immagine 29" descr="Immagine5-pola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20757042">
                <a:off x="519233" y="-15926814"/>
                <a:ext cx="4864748" cy="5904685"/>
              </a:xfrm>
              <a:prstGeom prst="rect">
                <a:avLst/>
              </a:prstGeom>
            </p:spPr>
          </p:pic>
          <p:pic>
            <p:nvPicPr>
              <p:cNvPr id="31" name="Immagine 30" descr="Immagine3-pola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518124">
                <a:off x="6968940" y="-22266358"/>
                <a:ext cx="4896509" cy="5832674"/>
              </a:xfrm>
              <a:prstGeom prst="rect">
                <a:avLst/>
              </a:prstGeom>
            </p:spPr>
          </p:pic>
          <p:pic>
            <p:nvPicPr>
              <p:cNvPr id="32" name="Immagine 31" descr="Immagine7-pola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891508" y="-11892459"/>
                <a:ext cx="4888848" cy="5942549"/>
              </a:xfrm>
              <a:prstGeom prst="rect">
                <a:avLst/>
              </a:prstGeom>
            </p:spPr>
          </p:pic>
          <p:pic>
            <p:nvPicPr>
              <p:cNvPr id="33" name="Immagine 32" descr="Immagine6-pola.jpg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301169">
                <a:off x="11917951" y="-16016196"/>
                <a:ext cx="4896509" cy="6048695"/>
              </a:xfrm>
              <a:prstGeom prst="rect">
                <a:avLst/>
              </a:prstGeom>
            </p:spPr>
          </p:pic>
          <p:pic>
            <p:nvPicPr>
              <p:cNvPr id="34" name="Immagine 33" descr="Immagine8-pola.jpg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 rot="1050452">
                <a:off x="5836244" y="-11112974"/>
                <a:ext cx="4824501" cy="5904684"/>
              </a:xfrm>
              <a:prstGeom prst="rect">
                <a:avLst/>
              </a:prstGeom>
            </p:spPr>
          </p:pic>
          <p:pic>
            <p:nvPicPr>
              <p:cNvPr id="35" name="Immagine 34" descr="Immagine9-pola.jpg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 rot="20638671">
                <a:off x="11158955" y="-11892483"/>
                <a:ext cx="5035413" cy="6120705"/>
              </a:xfrm>
              <a:prstGeom prst="rect">
                <a:avLst/>
              </a:prstGeom>
            </p:spPr>
          </p:pic>
          <p:pic>
            <p:nvPicPr>
              <p:cNvPr id="36" name="Immagine 35" descr="mondo.png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3608213" y="-18155162"/>
                <a:ext cx="8625610" cy="8032071"/>
              </a:xfrm>
              <a:prstGeom prst="rect">
                <a:avLst/>
              </a:prstGeom>
            </p:spPr>
          </p:pic>
        </p:grpSp>
      </p:grpSp>
      <p:sp>
        <p:nvSpPr>
          <p:cNvPr id="40" name="CasellaDiTesto 39"/>
          <p:cNvSpPr txBox="1"/>
          <p:nvPr/>
        </p:nvSpPr>
        <p:spPr>
          <a:xfrm>
            <a:off x="2051720" y="5517232"/>
            <a:ext cx="7092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2060"/>
                </a:solidFill>
              </a:rPr>
              <a:t>WHOS allows you to be immediately operative, to create custom “</a:t>
            </a:r>
            <a:r>
              <a:rPr lang="en-US" sz="2400" smtClean="0">
                <a:solidFill>
                  <a:srgbClr val="002060"/>
                </a:solidFill>
              </a:rPr>
              <a:t>data catalogs“ and </a:t>
            </a:r>
            <a:r>
              <a:rPr lang="en-US" sz="2400" dirty="0" smtClean="0">
                <a:solidFill>
                  <a:srgbClr val="002060"/>
                </a:solidFill>
              </a:rPr>
              <a:t>to </a:t>
            </a:r>
            <a:r>
              <a:rPr lang="en-US" sz="2400" dirty="0" smtClean="0">
                <a:solidFill>
                  <a:srgbClr val="FF0000"/>
                </a:solidFill>
              </a:rPr>
              <a:t>increase your knowledge</a:t>
            </a:r>
            <a:r>
              <a:rPr lang="en-US" sz="2400" dirty="0" smtClean="0">
                <a:solidFill>
                  <a:srgbClr val="002060"/>
                </a:solidFill>
              </a:rPr>
              <a:t>, ready to be shared with the world</a:t>
            </a:r>
            <a:endParaRPr lang="it-IT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/>
        </p:nvSpPr>
        <p:spPr>
          <a:xfrm>
            <a:off x="0" y="2766568"/>
            <a:ext cx="9144000" cy="48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</a:pPr>
            <a:r>
              <a:rPr lang="en-US" sz="2800" b="1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rPr>
              <a:t>AN OPERATIONAL PROTOTYPE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AC2"/>
              </a:solidFill>
              <a:effectLst/>
              <a:uLnTx/>
              <a:uFillTx/>
              <a:latin typeface="+mj-lt"/>
              <a:ea typeface="+mj-ea"/>
              <a:cs typeface="Avenir LT Std 85 Heavy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2501"/>
            <a:ext cx="9169758" cy="5731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tangolo 4"/>
          <p:cNvSpPr/>
          <p:nvPr/>
        </p:nvSpPr>
        <p:spPr>
          <a:xfrm>
            <a:off x="2964316" y="6175420"/>
            <a:ext cx="43785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b="1" dirty="0" smtClean="0">
                <a:solidFill>
                  <a:schemeClr val="tx2"/>
                </a:solidFill>
              </a:rPr>
              <a:t>http://hydrolite.ddns.net/whos/</a:t>
            </a:r>
            <a:endParaRPr lang="it-IT" sz="2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60609"/>
            <a:ext cx="9100970" cy="5688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955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44699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76519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12125"/>
            <a:ext cx="9169759" cy="5731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5152" y="489397"/>
            <a:ext cx="9149152" cy="5718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96214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54" y="476519"/>
            <a:ext cx="9128546" cy="5705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5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0455" y="1085500"/>
            <a:ext cx="8654603" cy="447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73487"/>
            <a:ext cx="9144000" cy="571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6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73487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5076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8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8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8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446"/>
          <a:stretch>
            <a:fillRect/>
          </a:stretch>
        </p:blipFill>
        <p:spPr bwMode="auto">
          <a:xfrm>
            <a:off x="51543" y="0"/>
            <a:ext cx="90117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8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446"/>
          <a:stretch>
            <a:fillRect/>
          </a:stretch>
        </p:blipFill>
        <p:spPr bwMode="auto">
          <a:xfrm>
            <a:off x="80682" y="0"/>
            <a:ext cx="8964488" cy="682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ttangolo 2"/>
          <p:cNvSpPr/>
          <p:nvPr/>
        </p:nvSpPr>
        <p:spPr>
          <a:xfrm>
            <a:off x="4716016" y="764704"/>
            <a:ext cx="30059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http://codes.wmo.int/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/>
        </p:nvSpPr>
        <p:spPr>
          <a:xfrm>
            <a:off x="0" y="2766568"/>
            <a:ext cx="9144000" cy="48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</a:pPr>
            <a:r>
              <a:rPr lang="en-US" sz="2800" b="1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rPr>
              <a:t>DATA DISSEMINATION IN WHOS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AC2"/>
              </a:solidFill>
              <a:effectLst/>
              <a:uLnTx/>
              <a:uFillTx/>
              <a:latin typeface="+mj-lt"/>
              <a:ea typeface="+mj-ea"/>
              <a:cs typeface="Avenir LT Std 85 Heavy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450761"/>
            <a:ext cx="9143999" cy="571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37881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76518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47731"/>
            <a:ext cx="9107939" cy="569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3335"/>
            <a:ext cx="9143999" cy="571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270456"/>
            <a:ext cx="9143999" cy="571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73487"/>
            <a:ext cx="9128545" cy="5705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950" y="502277"/>
            <a:ext cx="8947897" cy="5370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MO_WHITE_Powerpoint_en_f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WMO_WHITE_Powerpoint_en_fr</Template>
  <TotalTime>583</TotalTime>
  <Words>634</Words>
  <Application>Microsoft Macintosh PowerPoint</Application>
  <PresentationFormat>On-screen Show (4:3)</PresentationFormat>
  <Paragraphs>136</Paragraphs>
  <Slides>53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Avenir LT Std 55 Roman</vt:lpstr>
      <vt:lpstr>Avenir LT Std 85 Heavy</vt:lpstr>
      <vt:lpstr>Bradley Hand ITC</vt:lpstr>
      <vt:lpstr>Calibri</vt:lpstr>
      <vt:lpstr>ＭＳ Ｐゴシック</vt:lpstr>
      <vt:lpstr>Times</vt:lpstr>
      <vt:lpstr>Arial</vt:lpstr>
      <vt:lpstr>WMO_WHITE_Powerpoint_en_fr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WMO INTEGRATED GLOBAL OBSERVING SYSTEM (WIGOS) and WMO HYDROLOGICAL OBSERVING SYSTEM (WHOS)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World Meteorological Organization</Company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Thomas</dc:creator>
  <cp:lastModifiedBy>Tony Boston</cp:lastModifiedBy>
  <cp:revision>112</cp:revision>
  <dcterms:created xsi:type="dcterms:W3CDTF">2016-08-17T13:13:24Z</dcterms:created>
  <dcterms:modified xsi:type="dcterms:W3CDTF">2017-06-20T18:14:53Z</dcterms:modified>
</cp:coreProperties>
</file>