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2"/>
    <p:sldId id="283" r:id="rId3"/>
    <p:sldId id="285" r:id="rId4"/>
    <p:sldId id="284" r:id="rId5"/>
    <p:sldId id="286" r:id="rId6"/>
    <p:sldId id="292" r:id="rId7"/>
    <p:sldId id="289" r:id="rId8"/>
    <p:sldId id="294" r:id="rId9"/>
    <p:sldId id="295" r:id="rId10"/>
    <p:sldId id="296" r:id="rId11"/>
    <p:sldId id="298" r:id="rId12"/>
    <p:sldId id="299" r:id="rId13"/>
    <p:sldId id="291" r:id="rId14"/>
    <p:sldId id="29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599"/>
    <a:srgbClr val="EA9999"/>
    <a:srgbClr val="CFE2F3"/>
    <a:srgbClr val="B6D7A8"/>
    <a:srgbClr val="FFFFFF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8"/>
  </p:normalViewPr>
  <p:slideViewPr>
    <p:cSldViewPr snapToGrid="0" snapToObjects="1">
      <p:cViewPr varScale="1">
        <p:scale>
          <a:sx n="52" d="100"/>
          <a:sy n="52" d="100"/>
        </p:scale>
        <p:origin x="15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hape 25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309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7097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600" b="1">
                <a:solidFill>
                  <a:srgbClr val="00B1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14035938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4" name="Image" descr="Image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4053" y="2390223"/>
            <a:ext cx="10429948" cy="11325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" descr="Image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374" y="918735"/>
            <a:ext cx="6126909" cy="3121682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2785730"/>
            <a:ext cx="21971000" cy="971878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1500"/>
              </a:spcBef>
              <a:defRPr/>
            </a:lvl2pPr>
            <a:lvl3pPr>
              <a:lnSpc>
                <a:spcPct val="100000"/>
              </a:lnSpc>
              <a:spcBef>
                <a:spcPts val="1500"/>
              </a:spcBef>
              <a:defRPr/>
            </a:lvl3pPr>
            <a:lvl4pPr>
              <a:lnSpc>
                <a:spcPct val="100000"/>
              </a:lnSpc>
              <a:spcBef>
                <a:spcPts val="1500"/>
              </a:spcBef>
              <a:defRPr/>
            </a:lvl4pPr>
            <a:lvl5pPr>
              <a:lnSpc>
                <a:spcPct val="100000"/>
              </a:lnSpc>
              <a:spcBef>
                <a:spcPts val="1500"/>
              </a:spcBef>
              <a:defRPr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4400"/>
            </a:lvl2pPr>
            <a:lvl3pPr>
              <a:defRPr sz="4000"/>
            </a:lvl3pPr>
            <a:lvl4pPr>
              <a:defRPr sz="36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C31B8C-D1BF-8D47-A3EB-AE9638A047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945301" y="12968286"/>
            <a:ext cx="480901" cy="4873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C7AC4-9ADF-FA4E-BD12-A120307F00ED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16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360" y="13080314"/>
            <a:ext cx="418783" cy="3752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2500">
                <a:solidFill>
                  <a:srgbClr val="00B1FF"/>
                </a:solidFill>
                <a:latin typeface="Mont SemiBold"/>
                <a:ea typeface="Mont SemiBold"/>
                <a:cs typeface="Mont SemiBold"/>
                <a:sym typeface="Mont SemiBold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71" r:id="rId3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geospatial/WaterQualityI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umltool.ogc.org/index.ph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Fff2MAq7jciXRuMjogPCeuiv6ClT9gWf0-kku1VSUKQ/edit#gid=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qudt.org/2.1/vocab/unit#MicroGM-PER-L" TargetMode="External"/><Relationship Id="rId3" Type="http://schemas.openxmlformats.org/officeDocument/2006/relationships/hyperlink" Target="https://id.eaufrance.fr/par/1369" TargetMode="External"/><Relationship Id="rId7" Type="http://schemas.openxmlformats.org/officeDocument/2006/relationships/hyperlink" Target="https://id.eaufrance.fr/met/960" TargetMode="External"/><Relationship Id="rId2" Type="http://schemas.openxmlformats.org/officeDocument/2006/relationships/hyperlink" Target="https://qudt.org/2.1/vocab/quantitykind#MassConcentr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.eaufrance.fr/fan/156" TargetMode="External"/><Relationship Id="rId5" Type="http://schemas.openxmlformats.org/officeDocument/2006/relationships/hyperlink" Target="http://id.eaufrance.fr/sup/3" TargetMode="External"/><Relationship Id="rId4" Type="http://schemas.openxmlformats.org/officeDocument/2006/relationships/hyperlink" Target="http://purl.obolibrary.org/obo/CHEBI_27563" TargetMode="External"/><Relationship Id="rId9" Type="http://schemas.openxmlformats.org/officeDocument/2006/relationships/hyperlink" Target="https://w3id.org/iadopt/ont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qudt.org/2.1/vocab/unit#MicroGM-PER-L" TargetMode="External"/><Relationship Id="rId3" Type="http://schemas.openxmlformats.org/officeDocument/2006/relationships/hyperlink" Target="https://qudt.org/2.1/vocab/quantitykind#MassConcentration" TargetMode="External"/><Relationship Id="rId7" Type="http://schemas.openxmlformats.org/officeDocument/2006/relationships/hyperlink" Target="http://id.eaufrance.fr/sup/3" TargetMode="External"/><Relationship Id="rId2" Type="http://schemas.openxmlformats.org/officeDocument/2006/relationships/hyperlink" Target="https://w3id.org/iadopt/on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.eaufrance.fr/fan/156" TargetMode="External"/><Relationship Id="rId5" Type="http://schemas.openxmlformats.org/officeDocument/2006/relationships/hyperlink" Target="https://id.eaufrance.fr/par/1369" TargetMode="External"/><Relationship Id="rId10" Type="http://schemas.openxmlformats.org/officeDocument/2006/relationships/hyperlink" Target="https://id.eaufrance.fr/met/960" TargetMode="External"/><Relationship Id="rId4" Type="http://schemas.openxmlformats.org/officeDocument/2006/relationships/hyperlink" Target="http://purl.obolibrary.org/obo/CHEBI_27563" TargetMode="External"/><Relationship Id="rId9" Type="http://schemas.openxmlformats.org/officeDocument/2006/relationships/hyperlink" Target="https://id.eaufrance.fr/urf/133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gc-demo.k8s.ilt-dmz.iosb.fraunhofer.de/FROST-GeoTech/v1.1/BhTrajectoryThing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gc-demo.k8s.ilt-dmz.iosb.fraunhofer.de/FROST-GeoTech/v1.1/Things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resentation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FR" dirty="0"/>
              <a:t>Water </a:t>
            </a:r>
            <a:r>
              <a:rPr lang="fr-FR" dirty="0" err="1"/>
              <a:t>quality</a:t>
            </a:r>
            <a:r>
              <a:rPr lang="fr-FR" dirty="0"/>
              <a:t> IE update</a:t>
            </a:r>
            <a:endParaRPr dirty="0"/>
          </a:p>
        </p:txBody>
      </p:sp>
      <p:sp>
        <p:nvSpPr>
          <p:cNvPr id="5" name="Presentation Subtitle">
            <a:extLst>
              <a:ext uri="{FF2B5EF4-FFF2-40B4-BE49-F238E27FC236}">
                <a16:creationId xmlns:a16="http://schemas.microsoft.com/office/drawing/2014/main" id="{AD17ED5E-F497-D24E-82F8-50CA37AC85C0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1201340" y="11214114"/>
            <a:ext cx="21971003" cy="1231529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r>
              <a:rPr lang="en-US" sz="14400" dirty="0"/>
              <a:t>Sylvain Grellet, BRGM</a:t>
            </a:r>
          </a:p>
          <a:p>
            <a:r>
              <a:rPr lang="en-US" sz="14400" dirty="0"/>
              <a:t>Kyle Onda, Lincoln Institute</a:t>
            </a:r>
          </a:p>
          <a:p>
            <a:r>
              <a:rPr lang="en-US" sz="14400" dirty="0"/>
              <a:t>Tony Boston, ANU</a:t>
            </a:r>
          </a:p>
          <a:p>
            <a:endParaRPr lang="en-US" sz="14400" dirty="0" smtClean="0"/>
          </a:p>
          <a:p>
            <a:r>
              <a:rPr lang="en-US" sz="14400" dirty="0" smtClean="0"/>
              <a:t>30 May 2023 </a:t>
            </a:r>
            <a:r>
              <a:rPr lang="en-US" sz="14400" dirty="0"/>
              <a:t>- HDWG Spring 2023</a:t>
            </a:r>
          </a:p>
          <a:p>
            <a:endParaRPr lang="en-US" sz="14400" dirty="0" smtClean="0"/>
          </a:p>
          <a:p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 Quality workshop March 2022</a:t>
            </a:r>
          </a:p>
          <a:p>
            <a:endParaRPr lang="en-US" dirty="0"/>
          </a:p>
          <a:p>
            <a:r>
              <a:rPr lang="en-US" dirty="0"/>
              <a:t>Kick-off : 13/09/2022</a:t>
            </a:r>
          </a:p>
          <a:p>
            <a:endParaRPr lang="en-US" dirty="0"/>
          </a:p>
          <a:p>
            <a:r>
              <a:rPr lang="en-US" dirty="0"/>
              <a:t>Weekly </a:t>
            </a:r>
            <a:r>
              <a:rPr lang="en-US" dirty="0" err="1"/>
              <a:t>webconf</a:t>
            </a:r>
            <a:r>
              <a:rPr lang="en-US" dirty="0"/>
              <a:t> every Tuesday since </a:t>
            </a:r>
            <a:r>
              <a:rPr lang="en-US" dirty="0" smtClean="0"/>
              <a:t>then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reference point : </a:t>
            </a:r>
            <a:r>
              <a:rPr lang="en-US" dirty="0">
                <a:hlinkClick r:id="rId3"/>
              </a:rPr>
              <a:t>https://github.com/opengeospatial/WaterQualityIE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 </a:t>
            </a:r>
            <a:endParaRPr lang="en-US" dirty="0"/>
          </a:p>
          <a:p>
            <a:pPr lvl="1"/>
            <a:r>
              <a:rPr lang="en-US" dirty="0"/>
              <a:t>Link to living </a:t>
            </a:r>
            <a:r>
              <a:rPr lang="en-US" dirty="0" err="1"/>
              <a:t>G.Doc</a:t>
            </a:r>
            <a:r>
              <a:rPr lang="en-US" dirty="0"/>
              <a:t> for minutes then GoToMeeting </a:t>
            </a:r>
            <a:r>
              <a:rPr lang="en-US" dirty="0" err="1"/>
              <a:t>webconf</a:t>
            </a:r>
            <a:r>
              <a:rPr lang="en-US" dirty="0"/>
              <a:t> link etc</a:t>
            </a:r>
            <a:r>
              <a:rPr lang="en-US" dirty="0" smtClean="0"/>
              <a:t>…,</a:t>
            </a:r>
          </a:p>
          <a:p>
            <a:pPr lvl="1"/>
            <a:r>
              <a:rPr lang="en-US" dirty="0" smtClean="0"/>
              <a:t>Issues,</a:t>
            </a:r>
          </a:p>
          <a:p>
            <a:pPr lvl="1"/>
            <a:r>
              <a:rPr lang="en-US" dirty="0" smtClean="0"/>
              <a:t>Model : now available under OGC </a:t>
            </a:r>
            <a:r>
              <a:rPr lang="en-US" dirty="0" err="1" smtClean="0"/>
              <a:t>Sparx</a:t>
            </a:r>
            <a:r>
              <a:rPr lang="en-US" dirty="0" smtClean="0"/>
              <a:t> Cloud.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2163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cases identifications and </a:t>
            </a:r>
            <a:r>
              <a:rPr lang="en-US" dirty="0" smtClean="0"/>
              <a:t>phasing</a:t>
            </a:r>
            <a:endParaRPr lang="fr-FR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634" y="2385663"/>
            <a:ext cx="13613488" cy="556401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6465" y="7551632"/>
            <a:ext cx="9977535" cy="616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216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Progress overview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1971000" cy="1093027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Partners expectations regarding the IE</a:t>
            </a:r>
          </a:p>
          <a:p>
            <a:endParaRPr lang="en-US" dirty="0"/>
          </a:p>
          <a:p>
            <a:r>
              <a:rPr lang="en-US" dirty="0"/>
              <a:t>OMS crash </a:t>
            </a:r>
            <a:r>
              <a:rPr lang="en-US" dirty="0" smtClean="0"/>
              <a:t>courses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Use cases identifications and phasing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Conceptual/Logical model -&gt; Object diagrams</a:t>
            </a:r>
            <a:endParaRPr lang="en-US" dirty="0"/>
          </a:p>
          <a:p>
            <a:pPr lvl="1"/>
            <a:r>
              <a:rPr lang="en-US" dirty="0" smtClean="0"/>
              <a:t>From doodles to real ones</a:t>
            </a:r>
          </a:p>
          <a:p>
            <a:pPr lvl="1"/>
            <a:r>
              <a:rPr lang="en-US" dirty="0" smtClean="0"/>
              <a:t>Mapping with partners systems</a:t>
            </a:r>
          </a:p>
          <a:p>
            <a:pPr lvl="1"/>
            <a:r>
              <a:rPr lang="en-US" dirty="0" smtClean="0"/>
              <a:t>Vocabularies =&gt; starting</a:t>
            </a:r>
          </a:p>
          <a:p>
            <a:pPr lvl="1"/>
            <a:endParaRPr lang="en-US" dirty="0"/>
          </a:p>
          <a:p>
            <a:r>
              <a:rPr lang="en-US" dirty="0" smtClean="0"/>
              <a:t>Physical </a:t>
            </a:r>
          </a:p>
          <a:p>
            <a:pPr lvl="1"/>
            <a:r>
              <a:rPr lang="en-US" dirty="0" smtClean="0"/>
              <a:t>Serializations examples &amp; mapping to OGC APIs</a:t>
            </a:r>
          </a:p>
          <a:p>
            <a:endParaRPr lang="en-US" dirty="0"/>
          </a:p>
          <a:p>
            <a:r>
              <a:rPr lang="en-US" dirty="0" smtClean="0"/>
              <a:t>Test implementations from the various partners: server, client</a:t>
            </a:r>
          </a:p>
          <a:p>
            <a:endParaRPr lang="en-US" dirty="0" smtClean="0"/>
          </a:p>
          <a:p>
            <a:r>
              <a:rPr lang="en-US" dirty="0" smtClean="0"/>
              <a:t>Report</a:t>
            </a:r>
            <a:endParaRPr lang="en-US" dirty="0"/>
          </a:p>
          <a:p>
            <a:endParaRPr lang="en-US" dirty="0" smtClean="0"/>
          </a:p>
          <a:p>
            <a:pPr lvl="1"/>
            <a:endParaRPr lang="en-US" dirty="0"/>
          </a:p>
        </p:txBody>
      </p:sp>
      <p:grpSp>
        <p:nvGrpSpPr>
          <p:cNvPr id="8" name="Groupe 7"/>
          <p:cNvGrpSpPr/>
          <p:nvPr/>
        </p:nvGrpSpPr>
        <p:grpSpPr>
          <a:xfrm>
            <a:off x="12963811" y="9974687"/>
            <a:ext cx="8601330" cy="841256"/>
            <a:chOff x="10431624" y="8617864"/>
            <a:chExt cx="8601330" cy="841256"/>
          </a:xfrm>
        </p:grpSpPr>
        <p:sp>
          <p:nvSpPr>
            <p:cNvPr id="3" name="ZoneTexte 2"/>
            <p:cNvSpPr txBox="1"/>
            <p:nvPr/>
          </p:nvSpPr>
          <p:spPr>
            <a:xfrm>
              <a:off x="15538408" y="8617864"/>
              <a:ext cx="3494546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fr-FR" sz="4800" b="0" i="0" u="none" strike="noStrike" cap="none" spc="0" normalizeH="0" baseline="0" dirty="0" err="1" smtClean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Mont Book"/>
                  <a:ea typeface="Mont Book"/>
                  <a:cs typeface="Mont Book"/>
                  <a:sym typeface="Mont Book"/>
                </a:rPr>
                <a:t>We</a:t>
              </a:r>
              <a:r>
                <a:rPr kumimoji="0" lang="fr-FR" sz="4800" b="0" i="0" u="none" strike="noStrike" cap="none" spc="0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Mont Book"/>
                  <a:ea typeface="Mont Book"/>
                  <a:cs typeface="Mont Book"/>
                  <a:sym typeface="Mont Book"/>
                </a:rPr>
                <a:t> are </a:t>
              </a:r>
              <a:r>
                <a:rPr kumimoji="0" lang="fr-FR" sz="4800" b="0" i="0" u="none" strike="noStrike" cap="none" spc="0" normalizeH="0" baseline="0" dirty="0" err="1" smtClean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Mont Book"/>
                  <a:ea typeface="Mont Book"/>
                  <a:cs typeface="Mont Book"/>
                  <a:sym typeface="Mont Book"/>
                </a:rPr>
                <a:t>here</a:t>
              </a:r>
              <a:endParaRPr kumimoji="0" lang="fr-FR" sz="4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endParaRPr>
            </a:p>
          </p:txBody>
        </p:sp>
        <p:cxnSp>
          <p:nvCxnSpPr>
            <p:cNvPr id="5" name="Connecteur droit avec flèche 4"/>
            <p:cNvCxnSpPr/>
            <p:nvPr/>
          </p:nvCxnSpPr>
          <p:spPr>
            <a:xfrm flipH="1">
              <a:off x="10431624" y="9038492"/>
              <a:ext cx="5106785" cy="0"/>
            </a:xfrm>
            <a:prstGeom prst="straightConnector1">
              <a:avLst/>
            </a:prstGeom>
            <a:noFill/>
            <a:ln w="63500" cap="flat">
              <a:solidFill>
                <a:srgbClr val="FF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9" name="Flèche courbée vers la gauche 8"/>
          <p:cNvSpPr/>
          <p:nvPr/>
        </p:nvSpPr>
        <p:spPr>
          <a:xfrm rot="10800000">
            <a:off x="-1" y="5634213"/>
            <a:ext cx="1206499" cy="5967302"/>
          </a:xfrm>
          <a:prstGeom prst="curvedLef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38511" y="7273906"/>
            <a:ext cx="325410" cy="26879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T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E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R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A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T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0093569" y="7590593"/>
            <a:ext cx="430823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dirty="0"/>
              <a:t>80% done on </a:t>
            </a:r>
            <a:r>
              <a:rPr lang="en-US" dirty="0" smtClean="0"/>
              <a:t>Surface Water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6" name="Accolade fermante 5"/>
          <p:cNvSpPr/>
          <p:nvPr/>
        </p:nvSpPr>
        <p:spPr>
          <a:xfrm>
            <a:off x="9442938" y="7273906"/>
            <a:ext cx="615462" cy="1096371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850190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Object </a:t>
            </a:r>
            <a:r>
              <a:rPr lang="fr-FR" dirty="0" err="1" smtClean="0"/>
              <a:t>diagrams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available</a:t>
            </a:r>
            <a:r>
              <a:rPr lang="fr-FR" dirty="0" smtClean="0"/>
              <a:t> </a:t>
            </a:r>
            <a:r>
              <a:rPr lang="fr-FR" dirty="0" err="1" smtClean="0"/>
              <a:t>under</a:t>
            </a:r>
            <a:r>
              <a:rPr lang="fr-FR" dirty="0"/>
              <a:t> </a:t>
            </a:r>
            <a:r>
              <a:rPr lang="fr-FR" dirty="0">
                <a:hlinkClick r:id="rId2"/>
              </a:rPr>
              <a:t>https://</a:t>
            </a:r>
            <a:r>
              <a:rPr lang="fr-FR" dirty="0" smtClean="0">
                <a:hlinkClick r:id="rId2"/>
              </a:rPr>
              <a:t>umltool.ogc.org/index.php</a:t>
            </a:r>
            <a:r>
              <a:rPr lang="fr-FR" dirty="0" smtClean="0"/>
              <a:t> </a:t>
            </a:r>
          </a:p>
          <a:p>
            <a:pPr lvl="1"/>
            <a:r>
              <a:rPr lang="fr-FR" dirty="0" err="1" smtClean="0"/>
              <a:t>Also</a:t>
            </a:r>
            <a:r>
              <a:rPr lang="fr-FR" dirty="0" smtClean="0"/>
              <a:t> </a:t>
            </a:r>
            <a:r>
              <a:rPr lang="fr-FR" dirty="0" err="1" smtClean="0"/>
              <a:t>pushed</a:t>
            </a:r>
            <a:r>
              <a:rPr lang="fr-FR" dirty="0" smtClean="0"/>
              <a:t> </a:t>
            </a:r>
            <a:r>
              <a:rPr lang="fr-FR" dirty="0" err="1" smtClean="0"/>
              <a:t>HY_Features</a:t>
            </a:r>
            <a:r>
              <a:rPr lang="fr-FR" dirty="0" smtClean="0"/>
              <a:t>, GWML2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join</a:t>
            </a:r>
            <a:r>
              <a:rPr lang="fr-FR" dirty="0" smtClean="0"/>
              <a:t> </a:t>
            </a:r>
            <a:r>
              <a:rPr lang="fr-FR" dirty="0" err="1" smtClean="0"/>
              <a:t>soon</a:t>
            </a:r>
            <a:endParaRPr lang="fr-FR" dirty="0" smtClean="0"/>
          </a:p>
          <a:p>
            <a:pPr lvl="1"/>
            <a:endParaRPr lang="fr-FR" dirty="0"/>
          </a:p>
          <a:p>
            <a:r>
              <a:rPr lang="en-US" dirty="0" smtClean="0"/>
              <a:t>Use Cases considered</a:t>
            </a:r>
          </a:p>
          <a:p>
            <a:pPr lvl="1"/>
            <a:r>
              <a:rPr lang="en-US" dirty="0" smtClean="0"/>
              <a:t>Dissolved Oxygen  </a:t>
            </a:r>
            <a:r>
              <a:rPr lang="en-US" dirty="0"/>
              <a:t>&lt;-&gt; </a:t>
            </a:r>
            <a:r>
              <a:rPr lang="en-US" dirty="0" smtClean="0"/>
              <a:t>Temperature</a:t>
            </a:r>
          </a:p>
          <a:p>
            <a:pPr lvl="1"/>
            <a:r>
              <a:rPr lang="en-US" dirty="0" smtClean="0"/>
              <a:t>pH &lt;-&gt; Arsenic</a:t>
            </a:r>
          </a:p>
          <a:p>
            <a:pPr lvl="1"/>
            <a:r>
              <a:rPr lang="en-US" dirty="0" smtClean="0"/>
              <a:t>Flow </a:t>
            </a:r>
            <a:r>
              <a:rPr lang="en-US" dirty="0"/>
              <a:t>&lt;-&gt; Dissolved Oxygen </a:t>
            </a:r>
            <a:r>
              <a:rPr lang="en-US" dirty="0" smtClean="0"/>
              <a:t>&amp; Temperature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Joint pattern </a:t>
            </a:r>
            <a:r>
              <a:rPr lang="fr-FR" dirty="0" err="1" smtClean="0"/>
              <a:t>discussed</a:t>
            </a:r>
            <a:r>
              <a:rPr lang="fr-FR" dirty="0" smtClean="0"/>
              <a:t> and </a:t>
            </a:r>
            <a:r>
              <a:rPr lang="fr-FR" dirty="0" err="1" smtClean="0"/>
              <a:t>identified</a:t>
            </a:r>
            <a:r>
              <a:rPr lang="fr-FR" dirty="0" smtClean="0"/>
              <a:t> </a:t>
            </a:r>
            <a:r>
              <a:rPr lang="fr-FR" dirty="0" err="1" smtClean="0"/>
              <a:t>accross</a:t>
            </a:r>
            <a:endParaRPr lang="fr-FR" dirty="0" smtClean="0"/>
          </a:p>
          <a:p>
            <a:pPr lvl="1"/>
            <a:r>
              <a:rPr lang="en-US" dirty="0" smtClean="0"/>
              <a:t>“In-situ </a:t>
            </a:r>
            <a:r>
              <a:rPr lang="en-US" dirty="0"/>
              <a:t>surface water quality </a:t>
            </a:r>
            <a:r>
              <a:rPr lang="en-US" dirty="0" smtClean="0"/>
              <a:t>observation” -&gt; no Sample</a:t>
            </a:r>
          </a:p>
          <a:p>
            <a:pPr lvl="1"/>
            <a:r>
              <a:rPr lang="en-US" dirty="0"/>
              <a:t>And </a:t>
            </a:r>
            <a:r>
              <a:rPr lang="en-US" dirty="0" smtClean="0"/>
              <a:t>“Lab </a:t>
            </a:r>
            <a:r>
              <a:rPr lang="en-US" dirty="0"/>
              <a:t>surface water quality </a:t>
            </a:r>
            <a:r>
              <a:rPr lang="en-US" dirty="0" smtClean="0"/>
              <a:t>observation”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 smtClean="0"/>
              <a:t> Allows cross-walk between both</a:t>
            </a:r>
          </a:p>
          <a:p>
            <a:pPr marL="609600" lvl="1" indent="0">
              <a:buNone/>
            </a:pPr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000355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67" y="3470988"/>
            <a:ext cx="12387167" cy="1002833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Object </a:t>
            </a:r>
            <a:r>
              <a:rPr lang="fr-FR" dirty="0" err="1" smtClean="0"/>
              <a:t>diagrams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In-situ surface water </a:t>
            </a:r>
            <a:r>
              <a:rPr lang="fr-FR" dirty="0" err="1" smtClean="0"/>
              <a:t>quality</a:t>
            </a:r>
            <a:r>
              <a:rPr lang="fr-FR" dirty="0" smtClean="0"/>
              <a:t> observation: 90% OMS + </a:t>
            </a:r>
            <a:r>
              <a:rPr lang="fr-FR" dirty="0" err="1" smtClean="0"/>
              <a:t>some</a:t>
            </a:r>
            <a:r>
              <a:rPr lang="fr-FR" dirty="0" smtClean="0"/>
              <a:t> additions</a:t>
            </a:r>
            <a:endParaRPr lang="fr-FR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4721289" y="7931020"/>
            <a:ext cx="1716833" cy="839755"/>
          </a:xfrm>
          <a:prstGeom prst="roundRect">
            <a:avLst/>
          </a:prstGeom>
          <a:noFill/>
          <a:ln w="50800" cap="flat">
            <a:solidFill>
              <a:srgbClr val="00B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438122" y="8534813"/>
            <a:ext cx="191719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HY_Features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00B050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</p:spTree>
    <p:extLst>
      <p:ext uri="{BB962C8B-B14F-4D97-AF65-F5344CB8AC3E}">
        <p14:creationId xmlns:p14="http://schemas.microsoft.com/office/powerpoint/2010/main" val="30068108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00" y="3467100"/>
            <a:ext cx="24065399" cy="10187018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Object </a:t>
            </a:r>
            <a:r>
              <a:rPr lang="fr-FR" dirty="0" err="1" smtClean="0"/>
              <a:t>diagrams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Lab</a:t>
            </a:r>
            <a:r>
              <a:rPr lang="fr-FR" dirty="0" smtClean="0"/>
              <a:t> surface water </a:t>
            </a:r>
            <a:r>
              <a:rPr lang="fr-FR" dirty="0" err="1" smtClean="0"/>
              <a:t>quality</a:t>
            </a:r>
            <a:r>
              <a:rPr lang="fr-FR" dirty="0" smtClean="0"/>
              <a:t> observation: 90% </a:t>
            </a:r>
            <a:r>
              <a:rPr lang="fr-FR" dirty="0"/>
              <a:t>OMS + </a:t>
            </a:r>
            <a:r>
              <a:rPr lang="fr-FR" dirty="0" err="1"/>
              <a:t>some</a:t>
            </a:r>
            <a:r>
              <a:rPr lang="fr-FR" dirty="0"/>
              <a:t> additions</a:t>
            </a:r>
          </a:p>
        </p:txBody>
      </p:sp>
      <p:sp>
        <p:nvSpPr>
          <p:cNvPr id="5" name="Rectangle à coins arrondis 4"/>
          <p:cNvSpPr/>
          <p:nvPr/>
        </p:nvSpPr>
        <p:spPr>
          <a:xfrm>
            <a:off x="318600" y="7225245"/>
            <a:ext cx="2127379" cy="839755"/>
          </a:xfrm>
          <a:prstGeom prst="roundRect">
            <a:avLst/>
          </a:prstGeom>
          <a:noFill/>
          <a:ln w="50800" cap="flat">
            <a:solidFill>
              <a:srgbClr val="00B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47903" y="6648598"/>
            <a:ext cx="191719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HY_Features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00B050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</p:spTree>
    <p:extLst>
      <p:ext uri="{BB962C8B-B14F-4D97-AF65-F5344CB8AC3E}">
        <p14:creationId xmlns:p14="http://schemas.microsoft.com/office/powerpoint/2010/main" val="685911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Mapping</a:t>
            </a:r>
            <a:r>
              <a:rPr lang="fr-FR" dirty="0" smtClean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</a:t>
            </a:r>
            <a:r>
              <a:rPr lang="fr-FR" dirty="0" err="1"/>
              <a:t>systems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WQX</a:t>
            </a:r>
          </a:p>
          <a:p>
            <a:pPr lvl="1"/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regular</a:t>
            </a:r>
            <a:r>
              <a:rPr lang="fr-FR" dirty="0"/>
              <a:t> WQX - WQ IE </a:t>
            </a:r>
            <a:r>
              <a:rPr lang="fr-FR" dirty="0" err="1" smtClean="0"/>
              <a:t>mapping</a:t>
            </a:r>
            <a:r>
              <a:rPr lang="fr-FR" dirty="0" smtClean="0"/>
              <a:t> sessions</a:t>
            </a:r>
          </a:p>
          <a:p>
            <a:pPr lvl="1"/>
            <a:r>
              <a:rPr lang="fr-FR" dirty="0">
                <a:hlinkClick r:id="rId2"/>
              </a:rPr>
              <a:t>https://</a:t>
            </a:r>
            <a:r>
              <a:rPr lang="fr-FR" dirty="0" smtClean="0">
                <a:hlinkClick r:id="rId2"/>
              </a:rPr>
              <a:t>docs.google.com/spreadsheets/d/1Fff2MAq7jciXRuMjogPCeuiv6ClT9gWf0-kku1VSUKQ/edit#gid=0</a:t>
            </a:r>
            <a:r>
              <a:rPr lang="fr-FR" dirty="0" smtClean="0"/>
              <a:t> 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French Water information system  : </a:t>
            </a:r>
            <a:r>
              <a:rPr lang="fr-FR" dirty="0" err="1" smtClean="0"/>
              <a:t>also</a:t>
            </a:r>
            <a:r>
              <a:rPr lang="fr-FR" dirty="0" smtClean="0"/>
              <a:t> on-</a:t>
            </a:r>
            <a:r>
              <a:rPr lang="fr-FR" dirty="0" err="1" smtClean="0"/>
              <a:t>going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97358777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Vocabularies</a:t>
            </a:r>
            <a:r>
              <a:rPr lang="fr-FR" dirty="0" smtClean="0"/>
              <a:t> - </a:t>
            </a:r>
            <a:r>
              <a:rPr lang="fr-FR" dirty="0" err="1" smtClean="0"/>
              <a:t>rationale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Method</a:t>
            </a:r>
          </a:p>
          <a:p>
            <a:pPr lvl="1"/>
            <a:r>
              <a:rPr lang="fr-FR" dirty="0" err="1" smtClean="0"/>
              <a:t>Based</a:t>
            </a:r>
            <a:r>
              <a:rPr lang="fr-FR" dirty="0" smtClean="0"/>
              <a:t> on </a:t>
            </a:r>
            <a:r>
              <a:rPr lang="fr-FR" dirty="0"/>
              <a:t>the Use Cases </a:t>
            </a:r>
            <a:r>
              <a:rPr lang="fr-FR" dirty="0" err="1" smtClean="0"/>
              <a:t>considered</a:t>
            </a:r>
            <a:r>
              <a:rPr lang="fr-FR" dirty="0" smtClean="0"/>
              <a:t> in the Object </a:t>
            </a:r>
            <a:r>
              <a:rPr lang="fr-FR" dirty="0" err="1" smtClean="0"/>
              <a:t>Diagrams</a:t>
            </a:r>
            <a:endParaRPr lang="fr-FR" dirty="0" smtClean="0"/>
          </a:p>
          <a:p>
            <a:pPr lvl="1"/>
            <a:r>
              <a:rPr lang="fr-FR" dirty="0" err="1" smtClean="0"/>
              <a:t>Identify</a:t>
            </a:r>
            <a:r>
              <a:rPr lang="fr-FR" dirty="0" smtClean="0"/>
              <a:t> </a:t>
            </a:r>
          </a:p>
          <a:p>
            <a:pPr lvl="2"/>
            <a:r>
              <a:rPr lang="fr-FR" dirty="0" err="1" smtClean="0"/>
              <a:t>core</a:t>
            </a:r>
            <a:r>
              <a:rPr lang="fr-FR" dirty="0" smtClean="0"/>
              <a:t> </a:t>
            </a:r>
            <a:r>
              <a:rPr lang="fr-FR" dirty="0" err="1" smtClean="0"/>
              <a:t>vocabularies</a:t>
            </a:r>
            <a:r>
              <a:rPr lang="fr-FR" dirty="0" smtClean="0"/>
              <a:t> </a:t>
            </a:r>
            <a:r>
              <a:rPr lang="fr-FR" dirty="0" err="1" smtClean="0"/>
              <a:t>elements</a:t>
            </a:r>
            <a:r>
              <a:rPr lang="fr-FR" dirty="0" smtClean="0"/>
              <a:t> </a:t>
            </a:r>
            <a:r>
              <a:rPr lang="fr-FR" dirty="0" err="1" smtClean="0"/>
              <a:t>needed</a:t>
            </a:r>
            <a:endParaRPr lang="fr-FR" dirty="0" smtClean="0"/>
          </a:p>
          <a:p>
            <a:pPr lvl="2"/>
            <a:r>
              <a:rPr lang="fr-FR" dirty="0" err="1" smtClean="0"/>
              <a:t>those</a:t>
            </a:r>
            <a:r>
              <a:rPr lang="fr-FR" dirty="0" smtClean="0"/>
              <a:t> </a:t>
            </a:r>
            <a:r>
              <a:rPr lang="fr-FR" dirty="0" err="1" smtClean="0"/>
              <a:t>used</a:t>
            </a:r>
            <a:r>
              <a:rPr lang="fr-FR" dirty="0" smtClean="0"/>
              <a:t> in the </a:t>
            </a:r>
            <a:r>
              <a:rPr lang="fr-FR" dirty="0" err="1" smtClean="0"/>
              <a:t>current</a:t>
            </a:r>
            <a:r>
              <a:rPr lang="fr-FR" dirty="0" smtClean="0"/>
              <a:t> </a:t>
            </a:r>
            <a:r>
              <a:rPr lang="fr-FR" dirty="0" err="1" smtClean="0"/>
              <a:t>systems</a:t>
            </a:r>
            <a:endParaRPr lang="fr-FR" dirty="0"/>
          </a:p>
          <a:p>
            <a:pPr lvl="1"/>
            <a:r>
              <a:rPr lang="fr-FR" dirty="0" err="1" smtClean="0"/>
              <a:t>Provide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guidance on </a:t>
            </a:r>
            <a:r>
              <a:rPr lang="fr-FR" dirty="0" err="1" smtClean="0"/>
              <a:t>generic</a:t>
            </a:r>
            <a:r>
              <a:rPr lang="fr-FR" dirty="0" smtClean="0"/>
              <a:t> </a:t>
            </a:r>
            <a:r>
              <a:rPr lang="fr-FR" dirty="0" err="1" smtClean="0"/>
              <a:t>ones</a:t>
            </a:r>
            <a:r>
              <a:rPr lang="fr-FR" dirty="0" smtClean="0"/>
              <a:t> </a:t>
            </a:r>
          </a:p>
          <a:p>
            <a:pPr lvl="1"/>
            <a:r>
              <a:rPr lang="fr-FR" dirty="0" smtClean="0"/>
              <a:t>And check if I-ADOPT </a:t>
            </a:r>
            <a:r>
              <a:rPr lang="fr-FR" dirty="0" err="1" smtClean="0"/>
              <a:t>ontology</a:t>
            </a:r>
            <a:r>
              <a:rPr lang="fr-FR" dirty="0" smtClean="0"/>
              <a:t> </a:t>
            </a:r>
            <a:r>
              <a:rPr lang="fr-FR" dirty="0" err="1" smtClean="0"/>
              <a:t>helps</a:t>
            </a:r>
            <a:endParaRPr lang="fr-FR" dirty="0" smtClean="0"/>
          </a:p>
          <a:p>
            <a:pPr marL="6096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38591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Vocabularies</a:t>
            </a:r>
            <a:r>
              <a:rPr lang="fr-FR" dirty="0" smtClean="0"/>
              <a:t> - </a:t>
            </a:r>
            <a:r>
              <a:rPr lang="fr-FR" dirty="0" err="1" smtClean="0"/>
              <a:t>example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3177500" cy="10650352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iop:Variable</a:t>
            </a:r>
            <a:r>
              <a:rPr lang="en-US" dirty="0"/>
              <a:t> “Arsenic concentration in the ‘phase </a:t>
            </a:r>
            <a:r>
              <a:rPr lang="en-US" dirty="0" err="1"/>
              <a:t>particulaire</a:t>
            </a:r>
            <a:r>
              <a:rPr lang="en-US" dirty="0"/>
              <a:t>’ of water”</a:t>
            </a:r>
          </a:p>
          <a:p>
            <a:pPr lvl="1"/>
            <a:r>
              <a:rPr lang="en-US" dirty="0" err="1"/>
              <a:t>iop:hasProperty</a:t>
            </a:r>
            <a:r>
              <a:rPr lang="en-US" dirty="0"/>
              <a:t> : mass concentration </a:t>
            </a:r>
            <a:r>
              <a:rPr lang="en-US" dirty="0" smtClean="0"/>
              <a:t>=&gt; 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qudt.org/2.1/vocab/quantitykind#MassConcentration</a:t>
            </a:r>
            <a:r>
              <a:rPr lang="en-US" dirty="0" smtClean="0"/>
              <a:t> </a:t>
            </a:r>
          </a:p>
          <a:p>
            <a:pPr lvl="1"/>
            <a:r>
              <a:rPr lang="fr-FR" dirty="0" err="1"/>
              <a:t>iop:hasObjectOfInterest</a:t>
            </a:r>
            <a:r>
              <a:rPr lang="fr-FR" dirty="0"/>
              <a:t> : </a:t>
            </a:r>
            <a:endParaRPr lang="fr-FR" dirty="0" smtClean="0"/>
          </a:p>
          <a:p>
            <a:pPr lvl="2"/>
            <a:r>
              <a:rPr lang="fr-FR" dirty="0" err="1" smtClean="0"/>
              <a:t>Sandre:Par:Parametre</a:t>
            </a:r>
            <a:r>
              <a:rPr lang="fr-FR" dirty="0" smtClean="0"/>
              <a:t> </a:t>
            </a:r>
            <a:r>
              <a:rPr lang="fr-FR" dirty="0"/>
              <a:t>(@en ‘</a:t>
            </a:r>
            <a:r>
              <a:rPr lang="fr-FR" dirty="0" err="1"/>
              <a:t>parameter</a:t>
            </a:r>
            <a:r>
              <a:rPr lang="fr-FR" dirty="0"/>
              <a:t>’) : ‘Arsenic’ </a:t>
            </a:r>
            <a:r>
              <a:rPr lang="fr-FR" dirty="0" smtClean="0"/>
              <a:t> </a:t>
            </a:r>
            <a:r>
              <a:rPr lang="fr-FR" dirty="0" smtClean="0">
                <a:hlinkClick r:id="rId3"/>
              </a:rPr>
              <a:t>https</a:t>
            </a:r>
            <a:r>
              <a:rPr lang="fr-FR" dirty="0">
                <a:hlinkClick r:id="rId3"/>
              </a:rPr>
              <a:t>://</a:t>
            </a:r>
            <a:r>
              <a:rPr lang="fr-FR" dirty="0" smtClean="0">
                <a:hlinkClick r:id="rId3"/>
              </a:rPr>
              <a:t>id.eaufrance.fr/par/1369</a:t>
            </a:r>
            <a:r>
              <a:rPr lang="fr-FR" dirty="0" smtClean="0"/>
              <a:t> </a:t>
            </a:r>
          </a:p>
          <a:p>
            <a:pPr lvl="2"/>
            <a:r>
              <a:rPr lang="fr-FR" dirty="0" smtClean="0"/>
              <a:t>WQX ?</a:t>
            </a:r>
          </a:p>
          <a:p>
            <a:pPr lvl="2"/>
            <a:r>
              <a:rPr lang="fr-FR" dirty="0" err="1" smtClean="0"/>
              <a:t>ChEBI</a:t>
            </a:r>
            <a:r>
              <a:rPr lang="fr-FR" dirty="0"/>
              <a:t>: </a:t>
            </a:r>
            <a:r>
              <a:rPr lang="fr-FR" dirty="0">
                <a:hlinkClick r:id="rId4"/>
              </a:rPr>
              <a:t>http://</a:t>
            </a:r>
            <a:r>
              <a:rPr lang="fr-FR" dirty="0" smtClean="0">
                <a:hlinkClick r:id="rId4"/>
              </a:rPr>
              <a:t>purl.obolibrary.org/obo/CHEBI_27563</a:t>
            </a:r>
            <a:r>
              <a:rPr lang="fr-FR" dirty="0" smtClean="0"/>
              <a:t> </a:t>
            </a:r>
          </a:p>
          <a:p>
            <a:pPr lvl="1"/>
            <a:r>
              <a:rPr lang="fr-FR" dirty="0" err="1"/>
              <a:t>iop:hasMatrix</a:t>
            </a:r>
            <a:r>
              <a:rPr lang="fr-FR" dirty="0"/>
              <a:t> -&gt; ? </a:t>
            </a:r>
            <a:r>
              <a:rPr lang="fr-FR" dirty="0" err="1"/>
              <a:t>Sandre:Par:Support</a:t>
            </a:r>
            <a:r>
              <a:rPr lang="fr-FR" dirty="0"/>
              <a:t>?  (&lt;-&gt; Matrix) : </a:t>
            </a:r>
            <a:r>
              <a:rPr lang="fr-FR" dirty="0" smtClean="0"/>
              <a:t>water (</a:t>
            </a:r>
            <a:r>
              <a:rPr lang="fr-FR" dirty="0" smtClean="0">
                <a:hlinkClick r:id="rId5"/>
              </a:rPr>
              <a:t>http</a:t>
            </a:r>
            <a:r>
              <a:rPr lang="fr-FR" dirty="0">
                <a:hlinkClick r:id="rId5"/>
              </a:rPr>
              <a:t>://</a:t>
            </a:r>
            <a:r>
              <a:rPr lang="fr-FR" dirty="0" smtClean="0">
                <a:hlinkClick r:id="rId5"/>
              </a:rPr>
              <a:t>id.eaufrance.fr/sup/3</a:t>
            </a:r>
            <a:r>
              <a:rPr lang="fr-FR" dirty="0"/>
              <a:t>)</a:t>
            </a:r>
          </a:p>
          <a:p>
            <a:pPr lvl="2"/>
            <a:r>
              <a:rPr lang="fr-FR" dirty="0" err="1"/>
              <a:t>iop:hasConstraint</a:t>
            </a:r>
            <a:r>
              <a:rPr lang="fr-FR" dirty="0"/>
              <a:t> (</a:t>
            </a:r>
            <a:r>
              <a:rPr lang="fr-FR" dirty="0" err="1"/>
              <a:t>applies</a:t>
            </a:r>
            <a:r>
              <a:rPr lang="fr-FR" dirty="0"/>
              <a:t> to the Matrix</a:t>
            </a:r>
            <a:r>
              <a:rPr lang="fr-FR" dirty="0" smtClean="0"/>
              <a:t>) : </a:t>
            </a:r>
            <a:r>
              <a:rPr lang="fr-FR" dirty="0" smtClean="0">
                <a:hlinkClick r:id="rId6"/>
              </a:rPr>
              <a:t>https</a:t>
            </a:r>
            <a:r>
              <a:rPr lang="fr-FR" dirty="0">
                <a:hlinkClick r:id="rId6"/>
              </a:rPr>
              <a:t>://</a:t>
            </a:r>
            <a:r>
              <a:rPr lang="fr-FR" dirty="0" smtClean="0">
                <a:hlinkClick r:id="rId6"/>
              </a:rPr>
              <a:t>id.eaufrance.fr/fan/156</a:t>
            </a:r>
            <a:r>
              <a:rPr lang="fr-FR" dirty="0" smtClean="0"/>
              <a:t>  </a:t>
            </a:r>
            <a:r>
              <a:rPr lang="fr-FR" dirty="0" err="1"/>
              <a:t>Sandre:Par:FractionAnalysee</a:t>
            </a:r>
            <a:r>
              <a:rPr lang="fr-FR" dirty="0"/>
              <a:t> (@en ’</a:t>
            </a:r>
            <a:r>
              <a:rPr lang="fr-FR" dirty="0" err="1"/>
              <a:t>Analyzed</a:t>
            </a:r>
            <a:r>
              <a:rPr lang="fr-FR" dirty="0"/>
              <a:t> Fraction’)  : ( l'ensemble des matières en suspension dans l'eau, récupérée généralement après centrifugation ou filtration</a:t>
            </a:r>
            <a:r>
              <a:rPr lang="fr-FR" dirty="0" smtClean="0"/>
              <a:t>)</a:t>
            </a:r>
          </a:p>
          <a:p>
            <a:pPr lvl="1"/>
            <a:r>
              <a:rPr lang="fr-FR" dirty="0" err="1"/>
              <a:t>iop:context</a:t>
            </a:r>
            <a:r>
              <a:rPr lang="fr-FR" dirty="0"/>
              <a:t> </a:t>
            </a:r>
            <a:r>
              <a:rPr lang="fr-FR" dirty="0" err="1" smtClean="0"/>
              <a:t>object</a:t>
            </a:r>
            <a:r>
              <a:rPr lang="fr-FR" dirty="0" smtClean="0"/>
              <a:t> : ? </a:t>
            </a:r>
            <a:r>
              <a:rPr lang="en-US" dirty="0"/>
              <a:t>is it assimilated to our </a:t>
            </a:r>
            <a:r>
              <a:rPr lang="en-US" dirty="0" err="1" smtClean="0"/>
              <a:t>ultimateFeatureOfInterest</a:t>
            </a:r>
            <a:r>
              <a:rPr lang="en-US" dirty="0" smtClean="0"/>
              <a:t> </a:t>
            </a:r>
            <a:r>
              <a:rPr lang="en-US" dirty="0"/>
              <a:t>(thus ‘water sample’) ?</a:t>
            </a:r>
            <a:endParaRPr lang="fr-FR" dirty="0" smtClean="0"/>
          </a:p>
          <a:p>
            <a:r>
              <a:rPr lang="fr-FR" dirty="0" err="1" smtClean="0"/>
              <a:t>observingProcedure</a:t>
            </a:r>
            <a:endParaRPr lang="fr-FR" dirty="0" smtClean="0"/>
          </a:p>
          <a:p>
            <a:pPr lvl="1"/>
            <a:r>
              <a:rPr lang="fr-FR" dirty="0" smtClean="0"/>
              <a:t>Sandre : -&gt; one </a:t>
            </a:r>
            <a:r>
              <a:rPr lang="fr-FR" dirty="0" err="1" smtClean="0"/>
              <a:t>potential</a:t>
            </a:r>
            <a:r>
              <a:rPr lang="fr-FR" dirty="0" smtClean="0"/>
              <a:t> : </a:t>
            </a:r>
            <a:r>
              <a:rPr lang="fr-FR" u="sng" dirty="0">
                <a:hlinkClick r:id="rId7"/>
              </a:rPr>
              <a:t>https://</a:t>
            </a:r>
            <a:r>
              <a:rPr lang="fr-FR" u="sng" dirty="0" smtClean="0">
                <a:hlinkClick r:id="rId7"/>
              </a:rPr>
              <a:t>id.eaufrance.fr/met/960</a:t>
            </a:r>
            <a:endParaRPr lang="fr-FR" u="sng" dirty="0" smtClean="0"/>
          </a:p>
          <a:p>
            <a:pPr lvl="1"/>
            <a:r>
              <a:rPr lang="fr-FR" dirty="0" smtClean="0"/>
              <a:t>WQX ? </a:t>
            </a:r>
          </a:p>
          <a:p>
            <a:r>
              <a:rPr lang="fr-FR" dirty="0" smtClean="0"/>
              <a:t>Unit </a:t>
            </a:r>
          </a:p>
          <a:p>
            <a:pPr lvl="1"/>
            <a:r>
              <a:rPr lang="fr-FR" dirty="0" smtClean="0"/>
              <a:t>Ex </a:t>
            </a:r>
            <a:r>
              <a:rPr lang="fr-FR" dirty="0"/>
              <a:t>: </a:t>
            </a:r>
            <a:r>
              <a:rPr lang="fr-FR" dirty="0" smtClean="0"/>
              <a:t>mg/litre </a:t>
            </a:r>
            <a:r>
              <a:rPr lang="fr-FR" dirty="0" smtClean="0">
                <a:hlinkClick r:id="rId8"/>
              </a:rPr>
              <a:t>https</a:t>
            </a:r>
            <a:r>
              <a:rPr lang="fr-FR" dirty="0">
                <a:hlinkClick r:id="rId8"/>
              </a:rPr>
              <a:t>://</a:t>
            </a:r>
            <a:r>
              <a:rPr lang="fr-FR" dirty="0" smtClean="0">
                <a:hlinkClick r:id="rId8"/>
              </a:rPr>
              <a:t>qudt.org/2.1/vocab/unit#MicroGM-PER-L</a:t>
            </a:r>
            <a:r>
              <a:rPr lang="fr-FR" dirty="0" smtClean="0"/>
              <a:t> </a:t>
            </a:r>
          </a:p>
          <a:p>
            <a:endParaRPr lang="fr-FR" dirty="0" smtClean="0"/>
          </a:p>
        </p:txBody>
      </p:sp>
      <p:sp>
        <p:nvSpPr>
          <p:cNvPr id="4" name="ZoneTexte 3"/>
          <p:cNvSpPr txBox="1"/>
          <p:nvPr/>
        </p:nvSpPr>
        <p:spPr>
          <a:xfrm>
            <a:off x="1238174" y="12964158"/>
            <a:ext cx="455894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fr-FR" dirty="0" err="1" smtClean="0"/>
              <a:t>io</a:t>
            </a: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p</a:t>
            </a: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= </a:t>
            </a:r>
            <a:r>
              <a:rPr lang="fr-FR" u="sng" dirty="0">
                <a:hlinkClick r:id="rId9"/>
              </a:rPr>
              <a:t>https://w3id.org/iadopt/ont</a:t>
            </a:r>
            <a:r>
              <a:rPr lang="fr-FR" u="sng" dirty="0" smtClean="0">
                <a:hlinkClick r:id="rId9"/>
              </a:rPr>
              <a:t>/</a:t>
            </a:r>
            <a:r>
              <a:rPr lang="fr-FR" u="sng" dirty="0" smtClean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16005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Vocabularies</a:t>
            </a:r>
            <a:r>
              <a:rPr lang="fr-FR" dirty="0" smtClean="0"/>
              <a:t> - </a:t>
            </a:r>
            <a:r>
              <a:rPr lang="fr-FR" dirty="0" err="1" smtClean="0"/>
              <a:t>example</a:t>
            </a:r>
            <a:endParaRPr lang="fr-FR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4738601" y="2610103"/>
            <a:ext cx="9900138" cy="1611789"/>
          </a:xfrm>
          <a:prstGeom prst="roundRect">
            <a:avLst/>
          </a:prstGeom>
          <a:solidFill>
            <a:srgbClr val="B6D7A8"/>
          </a:solidFill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spc="0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iop:Variable</a:t>
            </a:r>
            <a:endParaRPr kumimoji="0" lang="fr-FR" sz="3200" b="1" i="0" u="none" strike="noStrike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fr-FR" sz="32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825500"/>
            <a:r>
              <a:rPr lang="en-US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Arsenic concentration in the ‘phase </a:t>
            </a:r>
            <a:r>
              <a:rPr lang="en-US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particulaire</a:t>
            </a:r>
            <a:r>
              <a:rPr lang="en-US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’ of water</a:t>
            </a:r>
            <a:endParaRPr kumimoji="0" lang="fr-FR" i="0" u="none" strike="noStrike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238174" y="12964158"/>
            <a:ext cx="455894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fr-FR" dirty="0" err="1" smtClean="0"/>
              <a:t>io</a:t>
            </a: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p</a:t>
            </a: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= </a:t>
            </a:r>
            <a:r>
              <a:rPr lang="fr-FR" u="sng" dirty="0">
                <a:hlinkClick r:id="rId2"/>
              </a:rPr>
              <a:t>https://w3id.org/iadopt/ont</a:t>
            </a:r>
            <a:r>
              <a:rPr lang="fr-FR" u="sng" dirty="0" smtClean="0">
                <a:hlinkClick r:id="rId2"/>
              </a:rPr>
              <a:t>/</a:t>
            </a:r>
            <a:r>
              <a:rPr lang="fr-FR" u="sng" dirty="0" smtClean="0"/>
              <a:t> </a:t>
            </a:r>
            <a:endParaRPr lang="fr-FR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367978" y="5162806"/>
            <a:ext cx="3959358" cy="3110071"/>
          </a:xfrm>
          <a:prstGeom prst="roundRect">
            <a:avLst/>
          </a:prstGeom>
          <a:solidFill>
            <a:srgbClr val="B6D7A8"/>
          </a:solidFill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spc="0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iop:Property</a:t>
            </a:r>
            <a:endParaRPr kumimoji="0" lang="fr-FR" sz="3200" b="1" i="0" u="none" strike="noStrike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825500"/>
            <a:r>
              <a:rPr lang="en-US" dirty="0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Mass Concentration</a:t>
            </a:r>
          </a:p>
          <a:p>
            <a:pPr defTabSz="825500"/>
            <a:endParaRPr kumimoji="0" lang="en-US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825500"/>
            <a:r>
              <a:rPr lang="en-US" dirty="0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QUDT: </a:t>
            </a:r>
            <a:r>
              <a:rPr lang="en-US" dirty="0">
                <a:hlinkClick r:id="rId3"/>
              </a:rPr>
              <a:t>https://qudt.org/2.1/vocab/quantitykind#MassConcentration</a:t>
            </a:r>
            <a:r>
              <a:rPr lang="en-US" dirty="0"/>
              <a:t> </a:t>
            </a:r>
            <a:r>
              <a:rPr lang="en-US" dirty="0" smtClean="0"/>
              <a:t> </a:t>
            </a:r>
            <a:endParaRPr lang="en-US" dirty="0" smtClean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5729312" y="5519294"/>
            <a:ext cx="3959358" cy="3927316"/>
          </a:xfrm>
          <a:prstGeom prst="roundRect">
            <a:avLst/>
          </a:prstGeom>
          <a:solidFill>
            <a:srgbClr val="CFE2F3"/>
          </a:solidFill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spc="0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iop:Entity</a:t>
            </a:r>
            <a:endParaRPr kumimoji="0" lang="fr-FR" sz="3200" b="1" i="0" u="none" strike="noStrike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825500"/>
            <a:r>
              <a:rPr lang="en-US" dirty="0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Arsenic</a:t>
            </a:r>
          </a:p>
          <a:p>
            <a:pPr defTabSz="825500"/>
            <a:endParaRPr kumimoji="0" lang="en-US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825500"/>
            <a:r>
              <a:rPr lang="en-US" dirty="0" err="1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ChEBI</a:t>
            </a:r>
            <a:r>
              <a:rPr lang="en-US" dirty="0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:</a:t>
            </a:r>
            <a:r>
              <a:rPr lang="fr-FR" dirty="0" smtClean="0">
                <a:hlinkClick r:id="rId4"/>
              </a:rPr>
              <a:t> </a:t>
            </a:r>
            <a:r>
              <a:rPr lang="fr-FR" dirty="0">
                <a:hlinkClick r:id="rId4"/>
              </a:rPr>
              <a:t>http://purl.obolibrary.org/obo/CHEBI_27563</a:t>
            </a:r>
            <a:r>
              <a:rPr lang="fr-FR" dirty="0"/>
              <a:t> </a:t>
            </a:r>
            <a:r>
              <a:rPr lang="fr-FR" dirty="0" smtClean="0"/>
              <a:t> </a:t>
            </a:r>
          </a:p>
          <a:p>
            <a:pPr defTabSz="825500"/>
            <a:r>
              <a:rPr lang="fr-FR" dirty="0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Sandre: </a:t>
            </a:r>
            <a:r>
              <a:rPr lang="fr-FR" dirty="0">
                <a:hlinkClick r:id="rId5"/>
              </a:rPr>
              <a:t>https://id.eaufrance.fr/par/1369</a:t>
            </a:r>
            <a:r>
              <a:rPr lang="fr-FR" dirty="0"/>
              <a:t> </a:t>
            </a:r>
            <a:endParaRPr lang="en-US" dirty="0" smtClean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Connecteur en angle 4"/>
          <p:cNvCxnSpPr>
            <a:stCxn id="3" idx="1"/>
            <a:endCxn id="7" idx="0"/>
          </p:cNvCxnSpPr>
          <p:nvPr/>
        </p:nvCxnSpPr>
        <p:spPr>
          <a:xfrm rot="10800000" flipV="1">
            <a:off x="2347657" y="3415998"/>
            <a:ext cx="2390944" cy="1746808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ZoneTexte 10"/>
          <p:cNvSpPr txBox="1"/>
          <p:nvPr/>
        </p:nvSpPr>
        <p:spPr>
          <a:xfrm>
            <a:off x="-40501" y="4353818"/>
            <a:ext cx="226023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iop</a:t>
            </a:r>
            <a:r>
              <a:rPr lang="fr-FR" dirty="0" err="1" smtClean="0"/>
              <a:t>:hasProperty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041066" y="4282007"/>
            <a:ext cx="333585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iop</a:t>
            </a:r>
            <a:r>
              <a:rPr lang="fr-FR" dirty="0" err="1" smtClean="0"/>
              <a:t>:hasObjectOfInterest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cxnSp>
        <p:nvCxnSpPr>
          <p:cNvPr id="13" name="Connecteur en angle 12"/>
          <p:cNvCxnSpPr>
            <a:stCxn id="3" idx="2"/>
            <a:endCxn id="10" idx="0"/>
          </p:cNvCxnSpPr>
          <p:nvPr/>
        </p:nvCxnSpPr>
        <p:spPr>
          <a:xfrm rot="5400000">
            <a:off x="8050130" y="3880754"/>
            <a:ext cx="1297402" cy="1979679"/>
          </a:xfrm>
          <a:prstGeom prst="bentConnector3">
            <a:avLst>
              <a:gd name="adj1" fmla="val 50000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à coins arrondis 15"/>
          <p:cNvSpPr/>
          <p:nvPr/>
        </p:nvSpPr>
        <p:spPr>
          <a:xfrm>
            <a:off x="10335170" y="6007678"/>
            <a:ext cx="3959358" cy="2701449"/>
          </a:xfrm>
          <a:prstGeom prst="roundRect">
            <a:avLst/>
          </a:prstGeom>
          <a:solidFill>
            <a:srgbClr val="EA9999"/>
          </a:solidFill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spc="0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iop</a:t>
            </a:r>
            <a:r>
              <a:rPr lang="fr-FR" sz="3200" b="1" dirty="0" err="1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:Constraint</a:t>
            </a:r>
            <a:endParaRPr kumimoji="0" lang="fr-FR" sz="3200" b="1" i="0" u="none" strike="noStrike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825500"/>
            <a:r>
              <a:rPr lang="en-US" dirty="0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Particulate phase of water</a:t>
            </a:r>
          </a:p>
          <a:p>
            <a:pPr defTabSz="825500"/>
            <a:endParaRPr kumimoji="0" lang="en-US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825500"/>
            <a:r>
              <a:rPr lang="fr-FR" dirty="0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Sandre: </a:t>
            </a:r>
            <a:r>
              <a:rPr lang="fr-FR" dirty="0">
                <a:hlinkClick r:id="rId6"/>
              </a:rPr>
              <a:t>https://id.eaufrance.fr/fan/156</a:t>
            </a:r>
            <a:endParaRPr lang="en-US" dirty="0" smtClean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à coins arrondis 16"/>
          <p:cNvSpPr/>
          <p:nvPr/>
        </p:nvSpPr>
        <p:spPr>
          <a:xfrm>
            <a:off x="15227521" y="6211988"/>
            <a:ext cx="3959358" cy="2292826"/>
          </a:xfrm>
          <a:prstGeom prst="roundRect">
            <a:avLst/>
          </a:prstGeom>
          <a:solidFill>
            <a:srgbClr val="CFE2F3"/>
          </a:solidFill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spc="0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iop</a:t>
            </a:r>
            <a:r>
              <a:rPr lang="fr-FR" sz="3200" b="1" dirty="0" err="1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:Entity</a:t>
            </a:r>
            <a:endParaRPr kumimoji="0" lang="fr-FR" sz="3200" b="1" i="0" u="none" strike="noStrike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825500"/>
            <a:r>
              <a:rPr lang="en-US" dirty="0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Water</a:t>
            </a:r>
          </a:p>
          <a:p>
            <a:pPr defTabSz="825500"/>
            <a:endParaRPr lang="fr-FR" dirty="0" smtClean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825500"/>
            <a:r>
              <a:rPr lang="fr-FR" dirty="0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Sandre: </a:t>
            </a:r>
            <a:r>
              <a:rPr lang="fr-FR" dirty="0">
                <a:hlinkClick r:id="rId7"/>
              </a:rPr>
              <a:t>http://id.eaufrance.fr/sup/3</a:t>
            </a:r>
            <a:endParaRPr lang="en-US" dirty="0" smtClean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8" name="Connecteur en angle 17"/>
          <p:cNvCxnSpPr>
            <a:endCxn id="17" idx="0"/>
          </p:cNvCxnSpPr>
          <p:nvPr/>
        </p:nvCxnSpPr>
        <p:spPr>
          <a:xfrm>
            <a:off x="12409716" y="4221891"/>
            <a:ext cx="4797484" cy="1990097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ZoneTexte 20"/>
          <p:cNvSpPr txBox="1"/>
          <p:nvPr/>
        </p:nvSpPr>
        <p:spPr>
          <a:xfrm>
            <a:off x="15561704" y="4434407"/>
            <a:ext cx="193482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iop</a:t>
            </a:r>
            <a:r>
              <a:rPr lang="fr-FR" dirty="0" err="1" smtClean="0"/>
              <a:t>:hasMatrix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cxnSp>
        <p:nvCxnSpPr>
          <p:cNvPr id="22" name="Connecteur en angle 21"/>
          <p:cNvCxnSpPr>
            <a:stCxn id="17" idx="2"/>
            <a:endCxn id="16" idx="2"/>
          </p:cNvCxnSpPr>
          <p:nvPr/>
        </p:nvCxnSpPr>
        <p:spPr>
          <a:xfrm rot="5400000">
            <a:off x="14658869" y="6160795"/>
            <a:ext cx="204313" cy="4892351"/>
          </a:xfrm>
          <a:prstGeom prst="bentConnector3">
            <a:avLst>
              <a:gd name="adj1" fmla="val 211887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ZoneTexte 26"/>
          <p:cNvSpPr txBox="1"/>
          <p:nvPr/>
        </p:nvSpPr>
        <p:spPr>
          <a:xfrm>
            <a:off x="12332771" y="9662811"/>
            <a:ext cx="208871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iop</a:t>
            </a:r>
            <a:r>
              <a:rPr lang="fr-FR" dirty="0" err="1" smtClean="0"/>
              <a:t>:constraints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cxnSp>
        <p:nvCxnSpPr>
          <p:cNvPr id="28" name="Connecteur en angle 27"/>
          <p:cNvCxnSpPr>
            <a:endCxn id="16" idx="0"/>
          </p:cNvCxnSpPr>
          <p:nvPr/>
        </p:nvCxnSpPr>
        <p:spPr>
          <a:xfrm>
            <a:off x="10430037" y="4221891"/>
            <a:ext cx="1884812" cy="1785787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ZoneTexte 30"/>
          <p:cNvSpPr txBox="1"/>
          <p:nvPr/>
        </p:nvSpPr>
        <p:spPr>
          <a:xfrm>
            <a:off x="9846271" y="5081881"/>
            <a:ext cx="2500686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iop</a:t>
            </a:r>
            <a:r>
              <a:rPr lang="fr-FR" dirty="0" err="1" smtClean="0"/>
              <a:t>:hasConstraint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32" name="Rectangle à coins arrondis 31"/>
          <p:cNvSpPr/>
          <p:nvPr/>
        </p:nvSpPr>
        <p:spPr>
          <a:xfrm>
            <a:off x="19690664" y="6116258"/>
            <a:ext cx="3959358" cy="2020411"/>
          </a:xfrm>
          <a:prstGeom prst="roundRect">
            <a:avLst/>
          </a:prstGeom>
          <a:solidFill>
            <a:srgbClr val="CFE2F3"/>
          </a:solidFill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spc="0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iop</a:t>
            </a:r>
            <a:r>
              <a:rPr lang="fr-FR" sz="3200" b="1" dirty="0" err="1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:Entity</a:t>
            </a:r>
            <a:endParaRPr kumimoji="0" lang="fr-FR" sz="3200" b="1" i="0" u="none" strike="noStrike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fr-FR" sz="32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825500"/>
            <a:r>
              <a:rPr lang="en-US" dirty="0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? Water Sample type? </a:t>
            </a:r>
          </a:p>
          <a:p>
            <a:pPr defTabSz="825500"/>
            <a:endParaRPr lang="fr-FR" dirty="0" smtClean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ectangle à coins arrondis 32"/>
          <p:cNvSpPr/>
          <p:nvPr/>
        </p:nvSpPr>
        <p:spPr>
          <a:xfrm>
            <a:off x="367978" y="9881786"/>
            <a:ext cx="9101988" cy="2701449"/>
          </a:xfrm>
          <a:prstGeom prst="roundRect">
            <a:avLst/>
          </a:prstGeom>
          <a:solidFill>
            <a:srgbClr val="FFE599"/>
          </a:solidFill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Unit</a:t>
            </a:r>
          </a:p>
          <a:p>
            <a:pPr defTabSz="825500"/>
            <a:r>
              <a:rPr lang="en-US" dirty="0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Microgram per liter</a:t>
            </a:r>
          </a:p>
          <a:p>
            <a:pPr defTabSz="825500"/>
            <a:endParaRPr kumimoji="0" lang="en-US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825500"/>
            <a:r>
              <a:rPr lang="en-US" dirty="0" smtClean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QUDT: </a:t>
            </a:r>
            <a:r>
              <a:rPr lang="fr-FR" dirty="0">
                <a:hlinkClick r:id="rId8"/>
              </a:rPr>
              <a:t>https://qudt.org/2.1/vocab/unit#MicroGM-PER-L</a:t>
            </a:r>
            <a:r>
              <a:rPr lang="fr-FR" dirty="0"/>
              <a:t> </a:t>
            </a:r>
            <a:endParaRPr lang="en-US" dirty="0"/>
          </a:p>
          <a:p>
            <a:pPr defTabSz="825500"/>
            <a:r>
              <a:rPr lang="en-US" dirty="0" err="1" smtClean="0"/>
              <a:t>Sandre</a:t>
            </a:r>
            <a:r>
              <a:rPr lang="en-US" dirty="0" smtClean="0"/>
              <a:t>:</a:t>
            </a:r>
          </a:p>
          <a:p>
            <a:pPr defTabSz="825500"/>
            <a:r>
              <a:rPr lang="fr-FR" u="sng" dirty="0" smtClean="0">
                <a:hlinkClick r:id="rId9"/>
              </a:rPr>
              <a:t>https</a:t>
            </a:r>
            <a:r>
              <a:rPr lang="fr-FR" u="sng" dirty="0">
                <a:hlinkClick r:id="rId9"/>
              </a:rPr>
              <a:t>://id.eaufrance.fr/urf/133</a:t>
            </a:r>
            <a:r>
              <a:rPr lang="en-US" dirty="0" smtClean="0"/>
              <a:t> </a:t>
            </a:r>
            <a:endParaRPr lang="en-US" dirty="0" smtClean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ectangle à coins arrondis 33"/>
          <p:cNvSpPr/>
          <p:nvPr/>
        </p:nvSpPr>
        <p:spPr>
          <a:xfrm>
            <a:off x="12314849" y="10903535"/>
            <a:ext cx="9101988" cy="188420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spc="0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ObservingProcedure</a:t>
            </a:r>
            <a:endParaRPr kumimoji="0" lang="fr-FR" sz="3200" b="1" i="0" u="none" strike="noStrike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825500"/>
            <a:endParaRPr kumimoji="0" lang="en-US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defTabSz="825500"/>
            <a:r>
              <a:rPr lang="en-US" dirty="0" err="1" smtClean="0"/>
              <a:t>Sandre</a:t>
            </a:r>
            <a:r>
              <a:rPr lang="en-US" dirty="0" smtClean="0"/>
              <a:t> one potential candidate</a:t>
            </a:r>
          </a:p>
          <a:p>
            <a:pPr lvl="1"/>
            <a:r>
              <a:rPr lang="fr-FR" u="sng" dirty="0">
                <a:hlinkClick r:id="rId10"/>
              </a:rPr>
              <a:t>https://id.eaufrance.fr/met/960</a:t>
            </a:r>
            <a:endParaRPr lang="fr-FR" u="sng" dirty="0"/>
          </a:p>
        </p:txBody>
      </p:sp>
      <p:cxnSp>
        <p:nvCxnSpPr>
          <p:cNvPr id="35" name="Connecteur en angle 34"/>
          <p:cNvCxnSpPr>
            <a:stCxn id="3" idx="3"/>
            <a:endCxn id="32" idx="0"/>
          </p:cNvCxnSpPr>
          <p:nvPr/>
        </p:nvCxnSpPr>
        <p:spPr>
          <a:xfrm>
            <a:off x="14638739" y="3415998"/>
            <a:ext cx="7031604" cy="2700260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ZoneTexte 37"/>
          <p:cNvSpPr txBox="1"/>
          <p:nvPr/>
        </p:nvSpPr>
        <p:spPr>
          <a:xfrm>
            <a:off x="18820623" y="2848344"/>
            <a:ext cx="296234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iop</a:t>
            </a:r>
            <a:r>
              <a:rPr lang="fr-FR" dirty="0" err="1" smtClean="0"/>
              <a:t>:hasContexObject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</p:spTree>
    <p:extLst>
      <p:ext uri="{BB962C8B-B14F-4D97-AF65-F5344CB8AC3E}">
        <p14:creationId xmlns:p14="http://schemas.microsoft.com/office/powerpoint/2010/main" val="209186566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Serializations examples &amp; mapping to OGC APIs</a:t>
            </a:r>
            <a:br>
              <a:rPr lang="en-US" dirty="0"/>
            </a:b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3333010" cy="9718786"/>
          </a:xfrm>
        </p:spPr>
        <p:txBody>
          <a:bodyPr>
            <a:normAutofit/>
          </a:bodyPr>
          <a:lstStyle/>
          <a:p>
            <a:r>
              <a:rPr lang="fr-FR" dirty="0" smtClean="0"/>
              <a:t>Just </a:t>
            </a:r>
            <a:r>
              <a:rPr lang="fr-FR" dirty="0" err="1" smtClean="0"/>
              <a:t>starting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OMS </a:t>
            </a:r>
            <a:r>
              <a:rPr lang="fr-FR" dirty="0" err="1"/>
              <a:t>serializations</a:t>
            </a:r>
            <a:r>
              <a:rPr lang="fr-FR" dirty="0"/>
              <a:t> </a:t>
            </a:r>
            <a:r>
              <a:rPr lang="fr-FR" dirty="0" err="1" smtClean="0"/>
              <a:t>example</a:t>
            </a:r>
            <a:endParaRPr lang="fr-FR" dirty="0" smtClean="0"/>
          </a:p>
          <a:p>
            <a:pPr lvl="1"/>
            <a:r>
              <a:rPr lang="fr-FR" dirty="0" smtClean="0"/>
              <a:t>? </a:t>
            </a:r>
            <a:r>
              <a:rPr lang="fr-FR" dirty="0"/>
              <a:t>JSON </a:t>
            </a:r>
            <a:r>
              <a:rPr lang="fr-FR" dirty="0" err="1"/>
              <a:t>only</a:t>
            </a:r>
            <a:r>
              <a:rPr lang="fr-FR" dirty="0"/>
              <a:t> ? 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+ « </a:t>
            </a:r>
            <a:r>
              <a:rPr lang="fr-FR" dirty="0" err="1"/>
              <a:t>which</a:t>
            </a:r>
            <a:r>
              <a:rPr lang="fr-FR" dirty="0"/>
              <a:t> API to serve </a:t>
            </a:r>
            <a:r>
              <a:rPr lang="fr-FR" dirty="0" err="1"/>
              <a:t>what</a:t>
            </a:r>
            <a:r>
              <a:rPr lang="fr-FR" dirty="0"/>
              <a:t> ? » </a:t>
            </a:r>
            <a:r>
              <a:rPr lang="fr-FR" dirty="0" smtClean="0"/>
              <a:t>discussion </a:t>
            </a:r>
            <a:r>
              <a:rPr lang="fr-FR" dirty="0" err="1" smtClean="0"/>
              <a:t>based</a:t>
            </a:r>
            <a:r>
              <a:rPr lang="fr-FR" dirty="0" smtClean="0"/>
              <a:t> on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GeoTech</a:t>
            </a:r>
            <a:r>
              <a:rPr lang="fr-FR" dirty="0" smtClean="0"/>
              <a:t> IE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doing</a:t>
            </a:r>
            <a:endParaRPr lang="fr-FR" dirty="0"/>
          </a:p>
          <a:p>
            <a:endParaRPr lang="fr-FR" dirty="0"/>
          </a:p>
          <a:p>
            <a:pPr>
              <a:buFont typeface="Symbol" panose="05050102010706020507" pitchFamily="18" charset="2"/>
              <a:buChar char="Þ"/>
            </a:pPr>
            <a:r>
              <a:rPr lang="fr-FR" dirty="0" smtClean="0"/>
              <a:t> </a:t>
            </a:r>
            <a:r>
              <a:rPr lang="fr-FR" dirty="0" err="1" smtClean="0"/>
              <a:t>Then</a:t>
            </a:r>
            <a:r>
              <a:rPr lang="fr-FR" dirty="0" smtClean="0"/>
              <a:t> </a:t>
            </a:r>
            <a:r>
              <a:rPr lang="fr-FR" dirty="0" err="1" smtClean="0"/>
              <a:t>partners</a:t>
            </a:r>
            <a:r>
              <a:rPr lang="fr-FR" dirty="0" smtClean="0"/>
              <a:t> </a:t>
            </a:r>
            <a:r>
              <a:rPr lang="fr-FR" dirty="0" err="1"/>
              <a:t>implementation</a:t>
            </a:r>
            <a:endParaRPr lang="fr-FR" dirty="0"/>
          </a:p>
          <a:p>
            <a:pPr>
              <a:buFont typeface="Symbol" panose="05050102010706020507" pitchFamily="18" charset="2"/>
              <a:buChar char="Þ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48715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Serializations examples &amp; mapping to OGC APIs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23333010" cy="9718786"/>
          </a:xfrm>
        </p:spPr>
        <p:txBody>
          <a:bodyPr>
            <a:normAutofit/>
          </a:bodyPr>
          <a:lstStyle/>
          <a:p>
            <a:r>
              <a:rPr lang="fr-FR" dirty="0" err="1" smtClean="0"/>
              <a:t>Geotech</a:t>
            </a:r>
            <a:r>
              <a:rPr lang="fr-FR" dirty="0" smtClean="0"/>
              <a:t> IE </a:t>
            </a:r>
            <a:r>
              <a:rPr lang="fr-FR" dirty="0" err="1" smtClean="0"/>
              <a:t>example</a:t>
            </a:r>
            <a:endParaRPr lang="fr-FR" dirty="0" smtClean="0"/>
          </a:p>
          <a:p>
            <a:pPr>
              <a:buFont typeface="Symbol" panose="05050102010706020507" pitchFamily="18" charset="2"/>
              <a:buChar char="Þ"/>
            </a:pP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52" y="3830410"/>
            <a:ext cx="10387402" cy="8241055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452470" y="12116493"/>
            <a:ext cx="7668767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mtClean="0"/>
              <a:t>Elements </a:t>
            </a:r>
            <a:r>
              <a:rPr lang="fr-FR" dirty="0" err="1" smtClean="0"/>
              <a:t>identified</a:t>
            </a:r>
            <a:r>
              <a:rPr lang="fr-FR" dirty="0" smtClean="0"/>
              <a:t> in the </a:t>
            </a:r>
            <a:r>
              <a:rPr lang="fr-FR" dirty="0" err="1" smtClean="0"/>
              <a:t>Geotech</a:t>
            </a:r>
            <a:r>
              <a:rPr lang="fr-FR" dirty="0" smtClean="0"/>
              <a:t> IE </a:t>
            </a:r>
            <a:r>
              <a:rPr lang="fr-FR" dirty="0" err="1" smtClean="0"/>
              <a:t>conceptual</a:t>
            </a:r>
            <a:r>
              <a:rPr lang="fr-FR" dirty="0" smtClean="0"/>
              <a:t> model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 err="1"/>
              <a:t>e</a:t>
            </a:r>
            <a:r>
              <a:rPr lang="fr-FR" dirty="0" err="1" smtClean="0"/>
              <a:t>xtending</a:t>
            </a:r>
            <a:r>
              <a:rPr lang="fr-FR" dirty="0" smtClean="0"/>
              <a:t> ST API 1.1 classes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1946301" y="5936773"/>
            <a:ext cx="12437699" cy="305724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fontAlgn="base"/>
            <a:r>
              <a:rPr lang="en-US" dirty="0" smtClean="0"/>
              <a:t>Each </a:t>
            </a:r>
            <a:r>
              <a:rPr lang="en-US" dirty="0"/>
              <a:t>subclass will </a:t>
            </a:r>
            <a:r>
              <a:rPr lang="en-US" dirty="0" smtClean="0"/>
              <a:t>then have  </a:t>
            </a:r>
            <a:r>
              <a:rPr lang="en-US" dirty="0"/>
              <a:t>its own ‘access’ URL : </a:t>
            </a:r>
            <a:endParaRPr lang="en-US" dirty="0" smtClean="0"/>
          </a:p>
          <a:p>
            <a:pPr fontAlgn="base"/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://ogc-demo.k8s.ilt-dmz.iosb.fraunhofer.de/FROST-GeoTech/v1.1/BhTrajectoryThings</a:t>
            </a:r>
            <a:endParaRPr lang="en-US" dirty="0"/>
          </a:p>
          <a:p>
            <a:pPr fontAlgn="base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But </a:t>
            </a:r>
            <a:r>
              <a:rPr lang="en-US" dirty="0"/>
              <a:t>for ‘generic’ ST API </a:t>
            </a:r>
            <a:r>
              <a:rPr lang="en-US" dirty="0" err="1" smtClean="0"/>
              <a:t>client,compatibility</a:t>
            </a:r>
            <a:r>
              <a:rPr lang="en-US" dirty="0" smtClean="0"/>
              <a:t>,  </a:t>
            </a:r>
            <a:r>
              <a:rPr lang="en-US" dirty="0"/>
              <a:t>an instance in the </a:t>
            </a:r>
            <a:r>
              <a:rPr lang="en-US" dirty="0" err="1">
                <a:hlinkClick r:id="rId3"/>
              </a:rPr>
              <a:t>BhTrajectoryThings</a:t>
            </a:r>
            <a:r>
              <a:rPr lang="en-US" dirty="0"/>
              <a:t> </a:t>
            </a:r>
            <a:endParaRPr lang="en-US" dirty="0" smtClean="0"/>
          </a:p>
          <a:p>
            <a:pPr fontAlgn="base"/>
            <a:r>
              <a:rPr lang="en-US" dirty="0" smtClean="0"/>
              <a:t>will </a:t>
            </a:r>
            <a:r>
              <a:rPr lang="en-US" dirty="0"/>
              <a:t>still be </a:t>
            </a:r>
            <a:r>
              <a:rPr lang="en-US" dirty="0" smtClean="0"/>
              <a:t>accessible</a:t>
            </a:r>
          </a:p>
          <a:p>
            <a:pPr fontAlgn="base"/>
            <a:r>
              <a:rPr lang="en-US" dirty="0" smtClean="0"/>
              <a:t> </a:t>
            </a:r>
            <a:r>
              <a:rPr lang="en-US" dirty="0"/>
              <a:t>under </a:t>
            </a:r>
            <a:r>
              <a:rPr lang="en-US" dirty="0">
                <a:hlinkClick r:id="rId4"/>
              </a:rPr>
              <a:t>https://ogc-demo.k8s.ilt-dmz.iosb.fraunhofer.de/FROST-GeoTech/v1.1/Things</a:t>
            </a:r>
            <a:r>
              <a:rPr lang="en-US" dirty="0"/>
              <a:t> </a:t>
            </a:r>
            <a:endParaRPr lang="en-US" dirty="0" smtClean="0"/>
          </a:p>
          <a:p>
            <a:pPr fontAlgn="base"/>
            <a:r>
              <a:rPr lang="en-US" dirty="0" smtClean="0"/>
              <a:t>(</a:t>
            </a:r>
            <a:r>
              <a:rPr lang="en-US" dirty="0"/>
              <a:t>of course only with generic properties)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5599232" y="5064782"/>
            <a:ext cx="5131836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Implementation</a:t>
            </a: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 </a:t>
            </a:r>
            <a:r>
              <a:rPr kumimoji="0" lang="fr-FR" sz="2400" b="0" i="0" u="none" strike="noStrike" cap="none" spc="0" normalizeH="0" baseline="0" dirty="0" err="1" smtClean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level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sp>
        <p:nvSpPr>
          <p:cNvPr id="11" name="Flèche droite 10"/>
          <p:cNvSpPr/>
          <p:nvPr/>
        </p:nvSpPr>
        <p:spPr>
          <a:xfrm>
            <a:off x="10562254" y="7091265"/>
            <a:ext cx="1384047" cy="859672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247340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and </a:t>
            </a:r>
            <a:r>
              <a:rPr lang="fr-FR" dirty="0" err="1" smtClean="0"/>
              <a:t>thanks</a:t>
            </a:r>
            <a:r>
              <a:rPr lang="fr-FR" dirty="0" smtClean="0"/>
              <a:t> to</a:t>
            </a:r>
            <a:endParaRPr lang="fr-FR" dirty="0"/>
          </a:p>
        </p:txBody>
      </p:sp>
      <p:pic>
        <p:nvPicPr>
          <p:cNvPr id="4" name="Picture 2" descr="C:\Windows\Web\Wallpaper\BRGM\fond_ecran_2013_0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1910443"/>
            <a:ext cx="18314122" cy="1144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250844" y="1910443"/>
            <a:ext cx="81661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400" dirty="0">
                <a:solidFill>
                  <a:srgbClr val="FFFFFF"/>
                </a:solidFill>
                <a:latin typeface="+mj-lt"/>
              </a:rPr>
              <a:t>s.grellet@brgm.fr</a:t>
            </a:r>
          </a:p>
          <a:p>
            <a:pPr algn="l"/>
            <a:r>
              <a:rPr lang="en-US" sz="3400" dirty="0" smtClean="0">
                <a:solidFill>
                  <a:srgbClr val="FFFFFF"/>
                </a:solidFill>
                <a:latin typeface="+mj-lt"/>
              </a:rPr>
              <a:t>The </a:t>
            </a:r>
            <a:r>
              <a:rPr lang="en-US" sz="3400" dirty="0" err="1" smtClean="0">
                <a:solidFill>
                  <a:srgbClr val="FFFFFF"/>
                </a:solidFill>
                <a:latin typeface="+mj-lt"/>
              </a:rPr>
              <a:t>WaterQuality</a:t>
            </a:r>
            <a:r>
              <a:rPr lang="en-US" sz="3400" dirty="0" smtClean="0">
                <a:solidFill>
                  <a:srgbClr val="FFFFFF"/>
                </a:solidFill>
                <a:latin typeface="+mj-lt"/>
              </a:rPr>
              <a:t> IE team</a:t>
            </a:r>
            <a:endParaRPr lang="en-US" sz="3400" dirty="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769968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262626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11365</TotalTime>
  <Words>645</Words>
  <Application>Microsoft Office PowerPoint</Application>
  <PresentationFormat>Personnalisé</PresentationFormat>
  <Paragraphs>160</Paragraphs>
  <Slides>14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2" baseType="lpstr">
      <vt:lpstr>Arial</vt:lpstr>
      <vt:lpstr>Calibri</vt:lpstr>
      <vt:lpstr>Helvetica Neue</vt:lpstr>
      <vt:lpstr>Helvetica Neue Medium</vt:lpstr>
      <vt:lpstr>Mont Book</vt:lpstr>
      <vt:lpstr>Mont SemiBold</vt:lpstr>
      <vt:lpstr>Symbol</vt:lpstr>
      <vt:lpstr>30_BasicColor</vt:lpstr>
      <vt:lpstr>Water quality IE update</vt:lpstr>
      <vt:lpstr>Context</vt:lpstr>
      <vt:lpstr>Use cases identifications and phasing</vt:lpstr>
      <vt:lpstr>Progress overview</vt:lpstr>
      <vt:lpstr>Object diagrams</vt:lpstr>
      <vt:lpstr>Object diagrams</vt:lpstr>
      <vt:lpstr>Object diagrams</vt:lpstr>
      <vt:lpstr>Mapping with partners systems</vt:lpstr>
      <vt:lpstr>Vocabularies - rationale</vt:lpstr>
      <vt:lpstr>Vocabularies - example</vt:lpstr>
      <vt:lpstr>Vocabularies - example</vt:lpstr>
      <vt:lpstr>Serializations examples &amp; mapping to OGC APIs </vt:lpstr>
      <vt:lpstr>Serializations examples &amp; mapping to OGC APIs</vt:lpstr>
      <vt:lpstr>Thank you and thanks 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Grellet Sylvain</cp:lastModifiedBy>
  <cp:revision>79</cp:revision>
  <dcterms:modified xsi:type="dcterms:W3CDTF">2023-06-01T06:42:45Z</dcterms:modified>
</cp:coreProperties>
</file>