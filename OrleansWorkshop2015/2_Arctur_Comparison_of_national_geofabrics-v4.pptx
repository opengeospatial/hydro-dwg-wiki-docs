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sldIdLst>
    <p:sldId id="267" r:id="rId2"/>
    <p:sldId id="269" r:id="rId3"/>
    <p:sldId id="270" r:id="rId4"/>
    <p:sldId id="261" r:id="rId5"/>
    <p:sldId id="263" r:id="rId6"/>
    <p:sldId id="271" r:id="rId7"/>
    <p:sldId id="268" r:id="rId8"/>
    <p:sldId id="264" r:id="rId9"/>
    <p:sldId id="273" r:id="rId10"/>
    <p:sldId id="265" r:id="rId11"/>
    <p:sldId id="266" r:id="rId12"/>
    <p:sldId id="272" r:id="rId13"/>
    <p:sldId id="274" r:id="rId14"/>
    <p:sldId id="288" r:id="rId15"/>
    <p:sldId id="287" r:id="rId16"/>
    <p:sldId id="275" r:id="rId17"/>
    <p:sldId id="276" r:id="rId18"/>
    <p:sldId id="280" r:id="rId19"/>
    <p:sldId id="281" r:id="rId20"/>
    <p:sldId id="285" r:id="rId21"/>
    <p:sldId id="283" r:id="rId22"/>
    <p:sldId id="286" r:id="rId23"/>
    <p:sldId id="289" r:id="rId24"/>
    <p:sldId id="282"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18" autoAdjust="0"/>
    <p:restoredTop sz="89643" autoAdjust="0"/>
  </p:normalViewPr>
  <p:slideViewPr>
    <p:cSldViewPr snapToGrid="0" snapToObjects="1">
      <p:cViewPr varScale="1">
        <p:scale>
          <a:sx n="88" d="100"/>
          <a:sy n="88" d="100"/>
        </p:scale>
        <p:origin x="-504" y="-112"/>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9BC1E2-F4B2-4857-8D0B-1B9A7239C61E}" type="datetimeFigureOut">
              <a:rPr lang="en-US" smtClean="0"/>
              <a:t>9/23/15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7E7374-6A4C-4D52-9D48-6744B62E97EF}" type="slidenum">
              <a:rPr lang="en-US" smtClean="0"/>
              <a:t>‹#›</a:t>
            </a:fld>
            <a:endParaRPr lang="en-US"/>
          </a:p>
        </p:txBody>
      </p:sp>
    </p:spTree>
    <p:extLst>
      <p:ext uri="{BB962C8B-B14F-4D97-AF65-F5344CB8AC3E}">
        <p14:creationId xmlns:p14="http://schemas.microsoft.com/office/powerpoint/2010/main" val="4065585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latin typeface="+mn-lt"/>
                <a:ea typeface="+mn-ea"/>
                <a:cs typeface="+mn-cs"/>
              </a:rPr>
              <a:t>AHGF doesnt in fact have a "reach" implemented in the same sense as NHD. It has a DEM derived stream network - but these are not reliable (for many reasons) - they are artifacts of scale and processing, not necessarily hydrology. Contracted catchments are the highest level of granularity at which something equivalent makes sense, and these are far coarser than NHD.</a:t>
            </a:r>
          </a:p>
          <a:p>
            <a:endParaRPr lang="en-US" sz="1200" kern="1200" smtClean="0">
              <a:solidFill>
                <a:schemeClr val="tx1"/>
              </a:solidFill>
              <a:latin typeface="+mn-lt"/>
              <a:ea typeface="+mn-ea"/>
              <a:cs typeface="+mn-cs"/>
            </a:endParaRPr>
          </a:p>
          <a:p>
            <a:r>
              <a:rPr lang="en-US" sz="1200" kern="1200" smtClean="0">
                <a:solidFill>
                  <a:schemeClr val="tx1"/>
                </a:solidFill>
                <a:latin typeface="+mn-lt"/>
                <a:ea typeface="+mn-ea"/>
                <a:cs typeface="+mn-cs"/>
              </a:rPr>
              <a:t>Contracted catchments are really only available in the latest product for the Murray Darling and Tasmania. The rest is really just a slightly improved stream netowrk - and there are major problems with these too - not including channelised streams in the network for example!</a:t>
            </a:r>
            <a:endParaRPr lang="en-US"/>
          </a:p>
        </p:txBody>
      </p:sp>
      <p:sp>
        <p:nvSpPr>
          <p:cNvPr id="4" name="Slide Number Placeholder 3"/>
          <p:cNvSpPr>
            <a:spLocks noGrp="1"/>
          </p:cNvSpPr>
          <p:nvPr>
            <p:ph type="sldNum" sz="quarter" idx="10"/>
          </p:nvPr>
        </p:nvSpPr>
        <p:spPr/>
        <p:txBody>
          <a:bodyPr/>
          <a:lstStyle/>
          <a:p>
            <a:fld id="{F17E7374-6A4C-4D52-9D48-6744B62E97EF}" type="slidenum">
              <a:rPr lang="en-US" smtClean="0"/>
              <a:t>6</a:t>
            </a:fld>
            <a:endParaRPr lang="en-US"/>
          </a:p>
        </p:txBody>
      </p:sp>
    </p:spTree>
    <p:extLst>
      <p:ext uri="{BB962C8B-B14F-4D97-AF65-F5344CB8AC3E}">
        <p14:creationId xmlns:p14="http://schemas.microsoft.com/office/powerpoint/2010/main" val="841054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a:p>
        </p:txBody>
      </p:sp>
      <p:sp>
        <p:nvSpPr>
          <p:cNvPr id="4" name="Slide Number Placeholder 3"/>
          <p:cNvSpPr>
            <a:spLocks noGrp="1"/>
          </p:cNvSpPr>
          <p:nvPr>
            <p:ph type="sldNum" sz="quarter" idx="10"/>
          </p:nvPr>
        </p:nvSpPr>
        <p:spPr/>
        <p:txBody>
          <a:bodyPr/>
          <a:lstStyle/>
          <a:p>
            <a:fld id="{F17E7374-6A4C-4D52-9D48-6744B62E97EF}" type="slidenum">
              <a:rPr lang="en-US" smtClean="0"/>
              <a:t>10</a:t>
            </a:fld>
            <a:endParaRPr lang="en-US"/>
          </a:p>
        </p:txBody>
      </p:sp>
    </p:spTree>
    <p:extLst>
      <p:ext uri="{BB962C8B-B14F-4D97-AF65-F5344CB8AC3E}">
        <p14:creationId xmlns:p14="http://schemas.microsoft.com/office/powerpoint/2010/main" val="1715680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7E7374-6A4C-4D52-9D48-6744B62E97EF}" type="slidenum">
              <a:rPr lang="en-US" smtClean="0"/>
              <a:t>12</a:t>
            </a:fld>
            <a:endParaRPr lang="en-US"/>
          </a:p>
        </p:txBody>
      </p:sp>
    </p:spTree>
    <p:extLst>
      <p:ext uri="{BB962C8B-B14F-4D97-AF65-F5344CB8AC3E}">
        <p14:creationId xmlns:p14="http://schemas.microsoft.com/office/powerpoint/2010/main" val="2720137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smtClean="0">
                <a:solidFill>
                  <a:schemeClr val="tx1"/>
                </a:solidFill>
                <a:latin typeface="+mn-lt"/>
                <a:ea typeface="+mn-ea"/>
                <a:cs typeface="+mn-cs"/>
              </a:rPr>
              <a:t>AHGF doesnt in fact have a "reach" implemented in the same sense as NHD. It has a DEM derived stream network - but these are not reliable (for many reasons) - they are artifacts of scale and processing, not necessarily hydrology. Contracted catchments are the highest level of granularity at which something equivalent makes sense, and these are far coarser than NHD.</a:t>
            </a:r>
          </a:p>
          <a:p>
            <a:endParaRPr lang="en-US" sz="1200" kern="1200" smtClean="0">
              <a:solidFill>
                <a:schemeClr val="tx1"/>
              </a:solidFill>
              <a:latin typeface="+mn-lt"/>
              <a:ea typeface="+mn-ea"/>
              <a:cs typeface="+mn-cs"/>
            </a:endParaRPr>
          </a:p>
          <a:p>
            <a:r>
              <a:rPr lang="en-US" sz="1200" kern="1200" smtClean="0">
                <a:solidFill>
                  <a:schemeClr val="tx1"/>
                </a:solidFill>
                <a:latin typeface="+mn-lt"/>
                <a:ea typeface="+mn-ea"/>
                <a:cs typeface="+mn-cs"/>
              </a:rPr>
              <a:t>Contracted catchments are really only available in the latest product for the Murray Darling and Tasmania. The rest is really just a slightly improved stream netowrk - and there are major problems with these too - not including channelised streams in the network for example!</a:t>
            </a:r>
            <a:endParaRPr lang="en-US"/>
          </a:p>
        </p:txBody>
      </p:sp>
      <p:sp>
        <p:nvSpPr>
          <p:cNvPr id="4" name="Slide Number Placeholder 3"/>
          <p:cNvSpPr>
            <a:spLocks noGrp="1"/>
          </p:cNvSpPr>
          <p:nvPr>
            <p:ph type="sldNum" sz="quarter" idx="10"/>
          </p:nvPr>
        </p:nvSpPr>
        <p:spPr/>
        <p:txBody>
          <a:bodyPr/>
          <a:lstStyle/>
          <a:p>
            <a:fld id="{F17E7374-6A4C-4D52-9D48-6744B62E97EF}" type="slidenum">
              <a:rPr lang="en-US" smtClean="0"/>
              <a:t>15</a:t>
            </a:fld>
            <a:endParaRPr lang="en-US"/>
          </a:p>
        </p:txBody>
      </p:sp>
    </p:spTree>
    <p:extLst>
      <p:ext uri="{BB962C8B-B14F-4D97-AF65-F5344CB8AC3E}">
        <p14:creationId xmlns:p14="http://schemas.microsoft.com/office/powerpoint/2010/main" val="841054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7"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w="25400" cap="flat">
            <a:noFill/>
            <a:miter lim="800000"/>
            <a:headEnd type="none" w="med" len="med"/>
            <a:tailEnd type="none" w="med" len="med"/>
          </a:ln>
        </p:spPr>
        <p:txBody>
          <a:bodyPr lIns="0" tIns="0" rIns="0" bIns="0">
            <a:prstTxWarp prst="textNoShape">
              <a:avLst/>
            </a:prstTxWarp>
          </a:bodyPr>
          <a:lstStyle/>
          <a:p>
            <a:endParaRPr lang="en-US">
              <a:solidFill>
                <a:prstClr val="black"/>
              </a:solidFill>
              <a:latin typeface="Arial"/>
              <a:ea typeface="ＭＳ Ｐゴシック"/>
              <a:cs typeface="ＭＳ Ｐゴシック"/>
            </a:endParaRPr>
          </a:p>
        </p:txBody>
      </p:sp>
      <p:sp>
        <p:nvSpPr>
          <p:cNvPr id="2" name="Title 1"/>
          <p:cNvSpPr>
            <a:spLocks noGrp="1"/>
          </p:cNvSpPr>
          <p:nvPr>
            <p:ph type="ctrTitle" hasCustomPrompt="1"/>
          </p:nvPr>
        </p:nvSpPr>
        <p:spPr>
          <a:xfrm>
            <a:off x="1371600" y="1828800"/>
            <a:ext cx="6400800" cy="1271016"/>
          </a:xfrm>
        </p:spPr>
        <p:txBody>
          <a:bodyPr rIns="0" anchor="b">
            <a:noAutofit/>
          </a:bodyPr>
          <a:lstStyle>
            <a:lvl1pPr algn="l">
              <a:defRPr sz="5400" b="1" i="0">
                <a:solidFill>
                  <a:srgbClr val="FFFFFF"/>
                </a:solidFill>
                <a:latin typeface="+mj-lt"/>
                <a:cs typeface="Avenir LT Std 55 Roman" pitchFamily="34" charset="0"/>
              </a:defRPr>
            </a:lvl1pPr>
          </a:lstStyle>
          <a:p>
            <a:r>
              <a:rPr lang="en-US" dirty="0"/>
              <a:t>Presentation title</a:t>
            </a:r>
          </a:p>
        </p:txBody>
      </p:sp>
      <p:sp>
        <p:nvSpPr>
          <p:cNvPr id="3" name="Subtitle 2"/>
          <p:cNvSpPr>
            <a:spLocks noGrp="1"/>
          </p:cNvSpPr>
          <p:nvPr>
            <p:ph type="subTitle" idx="1" hasCustomPrompt="1"/>
          </p:nvPr>
        </p:nvSpPr>
        <p:spPr>
          <a:xfrm>
            <a:off x="1371600" y="3246120"/>
            <a:ext cx="6400800" cy="758952"/>
          </a:xfrm>
        </p:spPr>
        <p:txBody>
          <a:bodyPr>
            <a:noAutofit/>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of Presenter(s)</a:t>
            </a:r>
          </a:p>
        </p:txBody>
      </p:sp>
    </p:spTree>
    <p:extLst>
      <p:ext uri="{BB962C8B-B14F-4D97-AF65-F5344CB8AC3E}">
        <p14:creationId xmlns:p14="http://schemas.microsoft.com/office/powerpoint/2010/main" val="105099503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endParaRPr lang="en-US">
              <a:solidFill>
                <a:srgbClr val="A3CA4B">
                  <a:lumMod val="60000"/>
                  <a:lumOff val="40000"/>
                </a:srgbClr>
              </a:solidFill>
              <a:latin typeface="Arial"/>
              <a:ea typeface="ＭＳ Ｐゴシック"/>
              <a:cs typeface="ＭＳ Ｐゴシック"/>
            </a:endParaRPr>
          </a:p>
        </p:txBody>
      </p:sp>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endParaRPr lang="en-US">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5200" cy="484631"/>
          </a:xfrm>
        </p:spPr>
        <p:txBody>
          <a:bodyPr anchor="t"/>
          <a:lstStyle>
            <a:lvl1pPr>
              <a:defRPr lang="en-US" sz="3000" b="1" i="0" kern="1200" dirty="0">
                <a:solidFill>
                  <a:srgbClr val="007AC2"/>
                </a:solidFill>
                <a:latin typeface="+mj-lt"/>
                <a:ea typeface="+mj-ea"/>
                <a:cs typeface="Avenir LT Std 55 Roman"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marL="0" marR="0" lvl="0" indent="0" algn="l" defTabSz="457200" rtl="0" eaLnBrk="1" fontAlgn="auto" latinLnBrk="0" hangingPunct="1">
              <a:lnSpc>
                <a:spcPct val="100000"/>
              </a:lnSpc>
              <a:spcBef>
                <a:spcPts val="300"/>
              </a:spcBef>
              <a:spcAft>
                <a:spcPts val="1200"/>
              </a:spcAft>
              <a:buClrTx/>
              <a:buSzPct val="80000"/>
              <a:buFontTx/>
              <a:buNone/>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body text</a:t>
            </a:r>
          </a:p>
        </p:txBody>
      </p:sp>
    </p:spTree>
    <p:extLst>
      <p:ext uri="{BB962C8B-B14F-4D97-AF65-F5344CB8AC3E}">
        <p14:creationId xmlns:p14="http://schemas.microsoft.com/office/powerpoint/2010/main" val="1796963737"/>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endParaRPr lang="en-US">
              <a:solidFill>
                <a:srgbClr val="A3CA4B">
                  <a:lumMod val="60000"/>
                  <a:lumOff val="40000"/>
                </a:srgbClr>
              </a:solidFill>
              <a:latin typeface="Arial"/>
              <a:ea typeface="ＭＳ Ｐゴシック"/>
              <a:cs typeface="ＭＳ Ｐゴシック"/>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endParaRPr lang="en-US">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a:t>Click to edit master title style</a:t>
            </a:r>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69073135"/>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endParaRPr lang="en-US">
              <a:solidFill>
                <a:prstClr val="black"/>
              </a:solidFill>
              <a:latin typeface="Arial"/>
              <a:ea typeface="ＭＳ Ｐゴシック"/>
              <a:cs typeface="ＭＳ Ｐゴシック"/>
            </a:endParaRPr>
          </a:p>
        </p:txBody>
      </p:sp>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7315200" cy="2057400"/>
          </a:xfrm>
        </p:spPr>
        <p:txBody>
          <a:bodyPr anchor="t"/>
          <a:lstStyle>
            <a:lvl1pPr>
              <a:defRPr lang="en-US" sz="7200" b="1" i="0" kern="1200" baseline="0" dirty="0">
                <a:solidFill>
                  <a:srgbClr val="007AC2"/>
                </a:solidFill>
                <a:latin typeface="+mj-lt"/>
                <a:ea typeface="+mj-ea"/>
                <a:cs typeface="Avenir LT Std 55 Roman" pitchFamily="34" charset="0"/>
              </a:defRPr>
            </a:lvl1pPr>
          </a:lstStyle>
          <a:p>
            <a:r>
              <a:rPr lang="en-US" dirty="0"/>
              <a:t>BIG but short</a:t>
            </a:r>
            <a:br>
              <a:rPr lang="en-US" dirty="0"/>
            </a:br>
            <a:r>
              <a:rPr lang="en-US" dirty="0"/>
              <a:t>message here</a:t>
            </a:r>
          </a:p>
        </p:txBody>
      </p:sp>
    </p:spTree>
    <p:extLst>
      <p:ext uri="{BB962C8B-B14F-4D97-AF65-F5344CB8AC3E}">
        <p14:creationId xmlns:p14="http://schemas.microsoft.com/office/powerpoint/2010/main" val="168148506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endParaRPr lang="en-US">
              <a:solidFill>
                <a:prstClr val="black"/>
              </a:solidFill>
              <a:latin typeface="Arial"/>
              <a:ea typeface="ＭＳ Ｐゴシック"/>
              <a:cs typeface="ＭＳ Ｐゴシック"/>
            </a:endParaRPr>
          </a:p>
        </p:txBody>
      </p:sp>
      <p:sp>
        <p:nvSpPr>
          <p:cNvPr id="8"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5486400" cy="2057400"/>
          </a:xfrm>
        </p:spPr>
        <p:txBody>
          <a:bodyPr anchor="t"/>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dirty="0"/>
              <a:t>“Click to edit quote” </a:t>
            </a:r>
          </a:p>
        </p:txBody>
      </p:sp>
      <p:sp>
        <p:nvSpPr>
          <p:cNvPr id="10" name="Text Placeholder 9"/>
          <p:cNvSpPr>
            <a:spLocks noGrp="1"/>
          </p:cNvSpPr>
          <p:nvPr>
            <p:ph type="body" sz="quarter" idx="10" hasCustomPrompt="1"/>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dirty="0"/>
              <a:t>Name</a:t>
            </a:r>
          </a:p>
        </p:txBody>
      </p:sp>
    </p:spTree>
    <p:extLst>
      <p:ext uri="{BB962C8B-B14F-4D97-AF65-F5344CB8AC3E}">
        <p14:creationId xmlns:p14="http://schemas.microsoft.com/office/powerpoint/2010/main" val="85339274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32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sp>
        <p:nvSpPr>
          <p:cNvPr id="5" name="Content Placeholder 4"/>
          <p:cNvSpPr>
            <a:spLocks noGrp="1"/>
          </p:cNvSpPr>
          <p:nvPr>
            <p:ph sz="quarter" idx="10"/>
          </p:nvPr>
        </p:nvSpPr>
        <p:spPr>
          <a:xfrm>
            <a:off x="685800" y="1620838"/>
            <a:ext cx="7313613" cy="3956050"/>
          </a:xfrm>
        </p:spPr>
        <p:txBody>
          <a:bodyPr/>
          <a:lstStyle>
            <a:lvl4pPr>
              <a:defRPr sz="2000"/>
            </a:lvl4pPr>
          </a:lstStyle>
          <a:p>
            <a:pPr lvl="0"/>
            <a:r>
              <a:rPr lang="en-US"/>
              <a:t>Click to edit Master text styles</a:t>
            </a:r>
          </a:p>
          <a:p>
            <a:pPr lvl="2"/>
            <a:r>
              <a:rPr lang="en-US"/>
              <a:t>Second level</a:t>
            </a:r>
          </a:p>
          <a:p>
            <a:pPr lvl="3"/>
            <a:r>
              <a:rPr lang="en-US"/>
              <a:t>Third level</a:t>
            </a:r>
          </a:p>
          <a:p>
            <a:pPr lvl="4"/>
            <a:r>
              <a:rPr lang="en-US"/>
              <a:t>Fourth level</a:t>
            </a:r>
          </a:p>
        </p:txBody>
      </p:sp>
    </p:spTree>
    <p:extLst>
      <p:ext uri="{BB962C8B-B14F-4D97-AF65-F5344CB8AC3E}">
        <p14:creationId xmlns:p14="http://schemas.microsoft.com/office/powerpoint/2010/main" val="270115415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water">
    <p:spTree>
      <p:nvGrpSpPr>
        <p:cNvPr id="1" name=""/>
        <p:cNvGrpSpPr/>
        <p:nvPr/>
      </p:nvGrpSpPr>
      <p:grpSpPr>
        <a:xfrm>
          <a:off x="0" y="0"/>
          <a:ext cx="0" cy="0"/>
          <a:chOff x="0" y="0"/>
          <a:chExt cx="0" cy="0"/>
        </a:xfrm>
      </p:grpSpPr>
      <p:sp>
        <p:nvSpPr>
          <p:cNvPr id="6" name="Rectangle 2"/>
          <p:cNvSpPr>
            <a:spLocks/>
          </p:cNvSpPr>
          <p:nvPr userDrawn="1"/>
        </p:nvSpPr>
        <p:spPr bwMode="ltGray">
          <a:xfrm>
            <a:off x="0" y="1787703"/>
            <a:ext cx="9144000" cy="5070297"/>
          </a:xfrm>
          <a:prstGeom prst="rect">
            <a:avLst/>
          </a:prstGeom>
          <a:gradFill flip="none" rotWithShape="1">
            <a:gsLst>
              <a:gs pos="12000">
                <a:srgbClr val="00B9F2"/>
              </a:gs>
              <a:gs pos="100000">
                <a:srgbClr val="00B9F2">
                  <a:alpha val="0"/>
                </a:srgbClr>
              </a:gs>
            </a:gsLst>
            <a:lin ang="16200000" scaled="0"/>
            <a:tileRect/>
          </a:gradFill>
          <a:ln w="25400" cap="flat">
            <a:noFill/>
            <a:miter lim="800000"/>
            <a:headEnd type="none" w="med" len="med"/>
            <a:tailEnd type="none" w="med" len="med"/>
          </a:ln>
        </p:spPr>
        <p:txBody>
          <a:bodyPr lIns="0" tIns="0" rIns="0" bIns="0">
            <a:prstTxWarp prst="textNoShape">
              <a:avLst/>
            </a:prstTxWarp>
          </a:bodyPr>
          <a:lstStyle/>
          <a:p>
            <a:endParaRPr lang="en-US">
              <a:solidFill>
                <a:prstClr val="black"/>
              </a:solidFill>
              <a:latin typeface="Arial"/>
              <a:ea typeface="ＭＳ Ｐゴシック"/>
              <a:cs typeface="ＭＳ Ｐゴシック"/>
            </a:endParaRPr>
          </a:p>
        </p:txBody>
      </p:sp>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pic>
        <p:nvPicPr>
          <p:cNvPr id="5" name="Picture 4"/>
          <p:cNvPicPr>
            <a:picLocks noChangeAspect="1"/>
          </p:cNvPicPr>
          <p:nvPr userDrawn="1"/>
        </p:nvPicPr>
        <p:blipFill rotWithShape="1">
          <a:blip r:embed="rId2">
            <a:duotone>
              <a:schemeClr val="accent4">
                <a:shade val="45000"/>
                <a:satMod val="135000"/>
              </a:schemeClr>
              <a:prstClr val="white"/>
            </a:duotone>
            <a:alphaModFix amt="49000"/>
            <a:extLst>
              <a:ext uri="{28A0092B-C50C-407E-A947-70E740481C1C}">
                <a14:useLocalDpi xmlns:a14="http://schemas.microsoft.com/office/drawing/2010/main" val="0"/>
              </a:ext>
            </a:extLst>
          </a:blip>
          <a:srcRect b="42205"/>
          <a:stretch/>
        </p:blipFill>
        <p:spPr>
          <a:xfrm>
            <a:off x="0" y="2947249"/>
            <a:ext cx="9144000" cy="3910751"/>
          </a:xfrm>
          <a:prstGeom prst="rect">
            <a:avLst/>
          </a:prstGeom>
        </p:spPr>
      </p:pic>
      <p:sp>
        <p:nvSpPr>
          <p:cNvPr id="7" name="Content Placeholder 4"/>
          <p:cNvSpPr>
            <a:spLocks noGrp="1"/>
          </p:cNvSpPr>
          <p:nvPr>
            <p:ph sz="quarter" idx="10"/>
          </p:nvPr>
        </p:nvSpPr>
        <p:spPr>
          <a:xfrm>
            <a:off x="685800" y="1620838"/>
            <a:ext cx="7313613" cy="3956050"/>
          </a:xfrm>
        </p:spPr>
        <p:txBody>
          <a:bodyPr/>
          <a:lstStyle>
            <a:lvl4pPr>
              <a:defRPr sz="2000"/>
            </a:lvl4pPr>
          </a:lstStyle>
          <a:p>
            <a:pPr lvl="0"/>
            <a:r>
              <a:rPr lang="en-US"/>
              <a:t>Click to edit Master text styles</a:t>
            </a:r>
          </a:p>
          <a:p>
            <a:pPr lvl="2"/>
            <a:r>
              <a:rPr lang="en-US"/>
              <a:t>Second level</a:t>
            </a:r>
          </a:p>
          <a:p>
            <a:pPr lvl="3"/>
            <a:r>
              <a:rPr lang="en-US"/>
              <a:t>Third level</a:t>
            </a:r>
          </a:p>
          <a:p>
            <a:pPr lvl="4"/>
            <a:r>
              <a:rPr lang="en-US"/>
              <a:t>Fourth level</a:t>
            </a:r>
          </a:p>
        </p:txBody>
      </p:sp>
    </p:spTree>
    <p:extLst>
      <p:ext uri="{BB962C8B-B14F-4D97-AF65-F5344CB8AC3E}">
        <p14:creationId xmlns:p14="http://schemas.microsoft.com/office/powerpoint/2010/main" val="157629220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endParaRPr lang="en-US">
              <a:solidFill>
                <a:srgbClr val="A3CA4B">
                  <a:lumMod val="60000"/>
                  <a:lumOff val="40000"/>
                </a:srgbClr>
              </a:solidFill>
              <a:latin typeface="Arial"/>
              <a:ea typeface="ＭＳ Ｐゴシック"/>
              <a:cs typeface="ＭＳ Ｐゴシック"/>
            </a:endParaRPr>
          </a:p>
        </p:txBody>
      </p:sp>
    </p:spTree>
    <p:extLst>
      <p:ext uri="{BB962C8B-B14F-4D97-AF65-F5344CB8AC3E}">
        <p14:creationId xmlns:p14="http://schemas.microsoft.com/office/powerpoint/2010/main" val="215365258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5"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w="25400" cap="flat">
            <a:noFill/>
            <a:miter lim="800000"/>
            <a:headEnd type="none" w="med" len="med"/>
            <a:tailEnd type="none" w="med" len="med"/>
          </a:ln>
        </p:spPr>
        <p:txBody>
          <a:bodyPr lIns="0" tIns="0" rIns="0" bIns="0">
            <a:prstTxWarp prst="textNoShape">
              <a:avLst/>
            </a:prstTxWarp>
          </a:bodyPr>
          <a:lstStyle/>
          <a:p>
            <a:endParaRPr lang="en-US">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3169587439"/>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3" y="687388"/>
            <a:ext cx="7313612" cy="365760"/>
          </a:xfrm>
        </p:spPr>
        <p:txBody>
          <a:bodyPr lIns="0" tIns="0" rIns="0" bIns="0"/>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3" y="1078992"/>
            <a:ext cx="7313612" cy="342900"/>
          </a:xfrm>
        </p:spPr>
        <p:txBody>
          <a:bodyPr lIns="0" tIns="0" rIns="0" bIns="0"/>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hasCustomPrompt="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r>
              <a:rPr lang="en-US"/>
              <a:t>Click to edit tagline</a:t>
            </a:r>
          </a:p>
        </p:txBody>
      </p:sp>
    </p:spTree>
    <p:extLst>
      <p:ext uri="{BB962C8B-B14F-4D97-AF65-F5344CB8AC3E}">
        <p14:creationId xmlns:p14="http://schemas.microsoft.com/office/powerpoint/2010/main" val="2071692654"/>
      </p:ext>
    </p:extLst>
  </p:cSld>
  <p:clrMapOvr>
    <a:masterClrMapping/>
  </p:clrMapOvr>
  <p:transition xmlns:p14="http://schemas.microsoft.com/office/powerpoint/2010/mai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8650" y="6356351"/>
            <a:ext cx="2057400" cy="365125"/>
          </a:xfrm>
          <a:prstGeom prst="rect">
            <a:avLst/>
          </a:prstGeom>
        </p:spPr>
        <p:txBody>
          <a:bodyPr/>
          <a:lstStyle/>
          <a:p>
            <a:pPr defTabSz="914400"/>
            <a:fld id="{CB9026DB-8994-4DE0-9201-8E1F33B7029B}" type="datetimeFigureOut">
              <a:rPr lang="en-US">
                <a:solidFill>
                  <a:prstClr val="black"/>
                </a:solidFill>
                <a:latin typeface="Arial"/>
                <a:ea typeface="ＭＳ Ｐゴシック"/>
                <a:cs typeface="ＭＳ Ｐゴシック"/>
              </a:rPr>
              <a:pPr defTabSz="914400"/>
              <a:t>9/23/15</a:t>
            </a:fld>
            <a:endParaRPr lang="en-US">
              <a:solidFill>
                <a:prstClr val="black"/>
              </a:solidFill>
              <a:latin typeface="Arial"/>
              <a:ea typeface="ＭＳ Ｐゴシック"/>
              <a:cs typeface="ＭＳ Ｐゴシック"/>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914400"/>
            <a:endParaRPr lang="en-US">
              <a:solidFill>
                <a:prstClr val="black"/>
              </a:solidFill>
              <a:latin typeface="Arial"/>
              <a:ea typeface="ＭＳ Ｐゴシック"/>
              <a:cs typeface="ＭＳ Ｐゴシック"/>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pPr defTabSz="914400"/>
            <a:fld id="{527A5F68-4AF6-4D13-8A4C-F1F90296B2F0}" type="slidenum">
              <a:rPr lang="en-US">
                <a:solidFill>
                  <a:prstClr val="black"/>
                </a:solidFill>
                <a:latin typeface="Arial"/>
                <a:ea typeface="ＭＳ Ｐゴシック"/>
                <a:cs typeface="ＭＳ Ｐゴシック"/>
              </a:rPr>
              <a:pPr defTabSz="914400"/>
              <a:t>‹#›</a:t>
            </a:fld>
            <a:endParaRPr lang="en-US">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284169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28650" y="6356351"/>
            <a:ext cx="2057400" cy="365125"/>
          </a:xfrm>
          <a:prstGeom prst="rect">
            <a:avLst/>
          </a:prstGeom>
        </p:spPr>
        <p:txBody>
          <a:bodyPr/>
          <a:lstStyle/>
          <a:p>
            <a:pPr defTabSz="914400"/>
            <a:fld id="{CB9026DB-8994-4DE0-9201-8E1F33B7029B}" type="datetimeFigureOut">
              <a:rPr lang="en-US">
                <a:solidFill>
                  <a:prstClr val="black"/>
                </a:solidFill>
                <a:latin typeface="Arial"/>
                <a:ea typeface="ＭＳ Ｐゴシック"/>
                <a:cs typeface="ＭＳ Ｐゴシック"/>
              </a:rPr>
              <a:pPr defTabSz="914400"/>
              <a:t>9/23/15</a:t>
            </a:fld>
            <a:endParaRPr lang="en-US">
              <a:solidFill>
                <a:prstClr val="black"/>
              </a:solidFill>
              <a:latin typeface="Arial"/>
              <a:ea typeface="ＭＳ Ｐゴシック"/>
              <a:cs typeface="ＭＳ Ｐゴシック"/>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914400"/>
            <a:endParaRPr lang="en-US">
              <a:solidFill>
                <a:prstClr val="black"/>
              </a:solidFill>
              <a:latin typeface="Arial"/>
              <a:ea typeface="ＭＳ Ｐゴシック"/>
              <a:cs typeface="ＭＳ Ｐゴシック"/>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pPr defTabSz="914400"/>
            <a:fld id="{527A5F68-4AF6-4D13-8A4C-F1F90296B2F0}" type="slidenum">
              <a:rPr lang="en-US">
                <a:solidFill>
                  <a:prstClr val="black"/>
                </a:solidFill>
                <a:latin typeface="Arial"/>
                <a:ea typeface="ＭＳ Ｐゴシック"/>
                <a:cs typeface="ＭＳ Ｐゴシック"/>
              </a:rPr>
              <a:pPr defTabSz="914400"/>
              <a:t>‹#›</a:t>
            </a:fld>
            <a:endParaRPr lang="en-US">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302586800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00"/>
            <a:ext cx="7795802" cy="484631"/>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85799" y="1602421"/>
            <a:ext cx="7795803" cy="3974494"/>
          </a:xfrm>
          <a:prstGeom prst="rect">
            <a:avLst/>
          </a:prstGeom>
        </p:spPr>
        <p:txBody>
          <a:bodyPr vert="horz" lIns="0" tIns="0" rIns="0" bIns="0" rtlCol="0">
            <a:noAutofit/>
          </a:bodyPr>
          <a:lstStyle/>
          <a:p>
            <a:pPr marL="173736" marR="0" lvl="0" indent="-173736" algn="l" defTabSz="457200" rtl="0" eaLnBrk="1" fontAlgn="auto" latinLnBrk="0" hangingPunct="1">
              <a:lnSpc>
                <a:spcPct val="100000"/>
              </a:lnSpc>
              <a:spcBef>
                <a:spcPts val="300"/>
              </a:spcBef>
              <a:spcAft>
                <a:spcPts val="1200"/>
              </a:spcAft>
              <a:buClrTx/>
              <a:buSzPct val="80000"/>
              <a:buFont typeface="Arial"/>
              <a:buChar char="•"/>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master text styles</a:t>
            </a:r>
          </a:p>
          <a:p>
            <a:pPr lvl="2"/>
            <a:r>
              <a:rPr lang="en-US" dirty="0"/>
              <a:t>Second level</a:t>
            </a:r>
          </a:p>
        </p:txBody>
      </p:sp>
    </p:spTree>
    <p:extLst>
      <p:ext uri="{BB962C8B-B14F-4D97-AF65-F5344CB8AC3E}">
        <p14:creationId xmlns:p14="http://schemas.microsoft.com/office/powerpoint/2010/main" val="1642135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xmlns:p14="http://schemas.microsoft.com/office/powerpoint/2010/main" spd="med">
    <p:fade/>
  </p:transition>
  <p:timing>
    <p:tnLst>
      <p:par>
        <p:cTn xmlns:p14="http://schemas.microsoft.com/office/powerpoint/2010/main" id="1" dur="indefinite" restart="never" nodeType="tmRoot"/>
      </p:par>
    </p:tnLst>
  </p:timing>
  <p:txStyles>
    <p:titleStyle>
      <a:lvl1pPr algn="l" defTabSz="457200" rtl="0" eaLnBrk="1" latinLnBrk="0" hangingPunct="1">
        <a:lnSpc>
          <a:spcPct val="100000"/>
        </a:lnSpc>
        <a:spcBef>
          <a:spcPct val="0"/>
        </a:spcBef>
        <a:buNone/>
        <a:defRPr sz="3200" b="1" i="0" kern="1200">
          <a:solidFill>
            <a:schemeClr val="tx1"/>
          </a:solidFill>
          <a:latin typeface="+mj-lt"/>
          <a:ea typeface="+mj-ea"/>
          <a:cs typeface="Avenir LT Std 55 Roman" pitchFamily="34" charset="0"/>
        </a:defRPr>
      </a:lvl1pPr>
    </p:titleStyle>
    <p:body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1" Type="http://schemas.openxmlformats.org/officeDocument/2006/relationships/slideLayout" Target="../slideLayouts/slideLayout8.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1" Type="http://schemas.openxmlformats.org/officeDocument/2006/relationships/slideLayout" Target="../slideLayouts/slideLayout8.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1" Type="http://schemas.openxmlformats.org/officeDocument/2006/relationships/slideLayout" Target="../slideLayouts/slideLayout8.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emf"/><Relationship Id="rId3" Type="http://schemas.openxmlformats.org/officeDocument/2006/relationships/hyperlink" Target="HYF2NHD-catchment-flowline-junction-RA.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emf"/><Relationship Id="rId3" Type="http://schemas.openxmlformats.org/officeDocument/2006/relationships/hyperlink" Target="HYF2NFIE-catchment-flowline-midpoint-streamgage.pd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alphaModFix/>
            <a:extLst>
              <a:ext uri="{28A0092B-C50C-407E-A947-70E740481C1C}">
                <a14:useLocalDpi xmlns:a14="http://schemas.microsoft.com/office/drawing/2010/main" val="0"/>
              </a:ext>
            </a:extLst>
          </a:blip>
          <a:srcRect b="42205"/>
          <a:stretch/>
        </p:blipFill>
        <p:spPr>
          <a:xfrm>
            <a:off x="0" y="2947249"/>
            <a:ext cx="9144000" cy="3910751"/>
          </a:xfrm>
          <a:prstGeom prst="rect">
            <a:avLst/>
          </a:prstGeom>
        </p:spPr>
      </p:pic>
      <p:sp>
        <p:nvSpPr>
          <p:cNvPr id="3" name="TextBox 2"/>
          <p:cNvSpPr txBox="1"/>
          <p:nvPr/>
        </p:nvSpPr>
        <p:spPr>
          <a:xfrm>
            <a:off x="2741612" y="2808543"/>
            <a:ext cx="5715000" cy="1219200"/>
          </a:xfrm>
          <a:prstGeom prst="rect">
            <a:avLst/>
          </a:prstGeom>
          <a:noFill/>
          <a:effectLst/>
        </p:spPr>
        <p:txBody>
          <a:bodyPr wrap="none" lIns="0" tIns="0" rIns="0" bIns="0" rtlCol="0">
            <a:noAutofit/>
          </a:bodyPr>
          <a:lstStyle/>
          <a:p>
            <a:pPr algn="r" defTabSz="914400" eaLnBrk="0" hangingPunct="0"/>
            <a:r>
              <a:rPr lang="en-US" sz="2400" dirty="0">
                <a:solidFill>
                  <a:prstClr val="black"/>
                </a:solidFill>
                <a:latin typeface="Arial"/>
                <a:ea typeface="ＭＳ Ｐゴシック"/>
                <a:cs typeface="ＭＳ Ｐゴシック"/>
              </a:rPr>
              <a:t>David K. Arctur, David R. </a:t>
            </a:r>
            <a:r>
              <a:rPr lang="en-US" sz="2400" dirty="0" smtClean="0">
                <a:solidFill>
                  <a:prstClr val="black"/>
                </a:solidFill>
                <a:latin typeface="Arial"/>
                <a:ea typeface="ＭＳ Ｐゴシック"/>
                <a:cs typeface="ＭＳ Ｐゴシック"/>
              </a:rPr>
              <a:t>Maidment </a:t>
            </a:r>
          </a:p>
          <a:p>
            <a:pPr algn="r" defTabSz="914400" eaLnBrk="0" hangingPunct="0"/>
            <a:r>
              <a:rPr lang="en-US" dirty="0" smtClean="0">
                <a:solidFill>
                  <a:prstClr val="black"/>
                </a:solidFill>
                <a:latin typeface="Arial"/>
                <a:ea typeface="ＭＳ Ｐゴシック"/>
                <a:cs typeface="ＭＳ Ｐゴシック"/>
              </a:rPr>
              <a:t>Center </a:t>
            </a:r>
            <a:r>
              <a:rPr lang="en-US" dirty="0">
                <a:solidFill>
                  <a:prstClr val="black"/>
                </a:solidFill>
                <a:latin typeface="Arial"/>
                <a:ea typeface="ＭＳ Ｐゴシック"/>
                <a:cs typeface="ＭＳ Ｐゴシック"/>
              </a:rPr>
              <a:t>for Research in Water Resources</a:t>
            </a:r>
          </a:p>
          <a:p>
            <a:pPr algn="r" defTabSz="914400" eaLnBrk="0" hangingPunct="0"/>
            <a:r>
              <a:rPr lang="en-US" dirty="0">
                <a:solidFill>
                  <a:prstClr val="black"/>
                </a:solidFill>
                <a:latin typeface="Arial"/>
                <a:ea typeface="ＭＳ Ｐゴシック"/>
                <a:cs typeface="ＭＳ Ｐゴシック"/>
              </a:rPr>
              <a:t>University of Texas at Austin</a:t>
            </a:r>
          </a:p>
        </p:txBody>
      </p:sp>
      <p:sp>
        <p:nvSpPr>
          <p:cNvPr id="8" name="Rectangle 7"/>
          <p:cNvSpPr/>
          <p:nvPr/>
        </p:nvSpPr>
        <p:spPr bwMode="auto">
          <a:xfrm>
            <a:off x="0" y="4952999"/>
            <a:ext cx="9144000" cy="1782847"/>
          </a:xfrm>
          <a:prstGeom prst="rect">
            <a:avLst/>
          </a:prstGeom>
          <a:solidFill>
            <a:srgbClr val="001446">
              <a:alpha val="80000"/>
            </a:srgb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a:ea typeface="ＭＳ Ｐゴシック"/>
              <a:cs typeface="ＭＳ Ｐゴシック"/>
            </a:endParaRPr>
          </a:p>
        </p:txBody>
      </p:sp>
      <p:sp>
        <p:nvSpPr>
          <p:cNvPr id="4" name="TextBox 3"/>
          <p:cNvSpPr txBox="1"/>
          <p:nvPr/>
        </p:nvSpPr>
        <p:spPr>
          <a:xfrm>
            <a:off x="126589" y="5026813"/>
            <a:ext cx="8573427" cy="1640687"/>
          </a:xfrm>
          <a:prstGeom prst="rect">
            <a:avLst/>
          </a:prstGeom>
          <a:noFill/>
          <a:ln>
            <a:noFill/>
          </a:ln>
          <a:effectLst/>
        </p:spPr>
        <p:txBody>
          <a:bodyPr wrap="none" lIns="0" tIns="0" rIns="0" bIns="0" rtlCol="0">
            <a:noAutofit/>
          </a:bodyPr>
          <a:lstStyle/>
          <a:p>
            <a:pPr defTabSz="914400" eaLnBrk="0" hangingPunct="0"/>
            <a:r>
              <a:rPr lang="en-US" sz="1600" dirty="0" smtClean="0">
                <a:solidFill>
                  <a:srgbClr val="FFFFFF"/>
                </a:solidFill>
                <a:latin typeface="Arial"/>
                <a:ea typeface="ＭＳ Ｐゴシック"/>
                <a:cs typeface="ＭＳ Ｐゴシック"/>
              </a:rPr>
              <a:t>OGC Hydro DWG Annual Workshop</a:t>
            </a:r>
          </a:p>
          <a:p>
            <a:pPr defTabSz="914400" eaLnBrk="0" hangingPunct="0"/>
            <a:r>
              <a:rPr lang="en-US" sz="1600" dirty="0">
                <a:solidFill>
                  <a:srgbClr val="FFFFFF"/>
                </a:solidFill>
                <a:latin typeface="Arial"/>
                <a:ea typeface="ＭＳ Ｐゴシック"/>
                <a:cs typeface="ＭＳ Ｐゴシック"/>
              </a:rPr>
              <a:t>BRGM, Orleans France, 20-23 September </a:t>
            </a:r>
            <a:r>
              <a:rPr lang="en-US" sz="1600" dirty="0" smtClean="0">
                <a:solidFill>
                  <a:srgbClr val="FFFFFF"/>
                </a:solidFill>
                <a:latin typeface="Arial"/>
                <a:ea typeface="ＭＳ Ｐゴシック"/>
                <a:cs typeface="ＭＳ Ｐゴシック"/>
              </a:rPr>
              <a:t>2015</a:t>
            </a:r>
          </a:p>
          <a:p>
            <a:pPr defTabSz="914400" eaLnBrk="0" hangingPunct="0"/>
            <a:endParaRPr lang="en-US" sz="1600" dirty="0" smtClean="0">
              <a:solidFill>
                <a:srgbClr val="FFFFFF"/>
              </a:solidFill>
              <a:latin typeface="Arial"/>
              <a:ea typeface="ＭＳ Ｐゴシック"/>
              <a:cs typeface="ＭＳ Ｐゴシック"/>
            </a:endParaRPr>
          </a:p>
          <a:p>
            <a:pPr defTabSz="914400" eaLnBrk="0" hangingPunct="0"/>
            <a:endParaRPr lang="en-US" sz="1600" dirty="0">
              <a:solidFill>
                <a:srgbClr val="FFFFFF"/>
              </a:solidFill>
              <a:latin typeface="Arial"/>
              <a:ea typeface="ＭＳ Ｐゴシック"/>
              <a:cs typeface="ＭＳ Ｐゴシック"/>
            </a:endParaRPr>
          </a:p>
          <a:p>
            <a:pPr defTabSz="914400" eaLnBrk="0" hangingPunct="0"/>
            <a:endParaRPr lang="en-US" sz="1600" dirty="0" smtClean="0">
              <a:solidFill>
                <a:srgbClr val="5EB4E6">
                  <a:lumMod val="40000"/>
                  <a:lumOff val="60000"/>
                </a:srgbClr>
              </a:solidFill>
              <a:latin typeface="Arial"/>
              <a:ea typeface="ＭＳ Ｐゴシック"/>
              <a:cs typeface="ＭＳ Ｐゴシック"/>
            </a:endParaRPr>
          </a:p>
          <a:p>
            <a:pPr defTabSz="914400" eaLnBrk="0" hangingPunct="0"/>
            <a:r>
              <a:rPr lang="en-US" sz="1600" dirty="0" smtClean="0">
                <a:solidFill>
                  <a:srgbClr val="5EB4E6">
                    <a:lumMod val="40000"/>
                    <a:lumOff val="60000"/>
                  </a:srgbClr>
                </a:solidFill>
                <a:latin typeface="Arial"/>
                <a:ea typeface="ＭＳ Ｐゴシック"/>
                <a:cs typeface="ＭＳ Ｐゴシック"/>
              </a:rPr>
              <a:t>This research is supported in part by NSF </a:t>
            </a:r>
            <a:r>
              <a:rPr lang="en-US" sz="1600" dirty="0" err="1" smtClean="0">
                <a:solidFill>
                  <a:srgbClr val="5EB4E6">
                    <a:lumMod val="40000"/>
                    <a:lumOff val="60000"/>
                  </a:srgbClr>
                </a:solidFill>
                <a:latin typeface="Arial"/>
                <a:ea typeface="ＭＳ Ｐゴシック"/>
                <a:cs typeface="ＭＳ Ｐゴシック"/>
              </a:rPr>
              <a:t>EarthCube</a:t>
            </a:r>
            <a:r>
              <a:rPr lang="en-US" sz="1600" dirty="0" smtClean="0">
                <a:solidFill>
                  <a:srgbClr val="5EB4E6">
                    <a:lumMod val="40000"/>
                    <a:lumOff val="60000"/>
                  </a:srgbClr>
                </a:solidFill>
                <a:latin typeface="Arial"/>
                <a:ea typeface="ＭＳ Ｐゴシック"/>
                <a:cs typeface="ＭＳ Ｐゴシック"/>
              </a:rPr>
              <a:t> grant 1343785</a:t>
            </a:r>
            <a:endParaRPr lang="en-US" sz="1600" dirty="0">
              <a:solidFill>
                <a:prstClr val="white"/>
              </a:solidFill>
              <a:latin typeface="Arial"/>
              <a:ea typeface="ＭＳ Ｐゴシック"/>
              <a:cs typeface="ＭＳ Ｐゴシック"/>
            </a:endParaRPr>
          </a:p>
        </p:txBody>
      </p:sp>
      <p:sp>
        <p:nvSpPr>
          <p:cNvPr id="13" name="Title 1"/>
          <p:cNvSpPr txBox="1">
            <a:spLocks/>
          </p:cNvSpPr>
          <p:nvPr/>
        </p:nvSpPr>
        <p:spPr>
          <a:xfrm>
            <a:off x="367441" y="955972"/>
            <a:ext cx="8535143" cy="484632"/>
          </a:xfrm>
          <a:prstGeom prst="rect">
            <a:avLst/>
          </a:prstGeom>
        </p:spPr>
        <p:txBody>
          <a:bodyPr/>
          <a:lstStyle>
            <a:lvl1pPr algn="l" defTabSz="457200" rtl="0" eaLnBrk="1" latinLnBrk="0" hangingPunct="1">
              <a:lnSpc>
                <a:spcPct val="100000"/>
              </a:lnSpc>
              <a:spcBef>
                <a:spcPct val="0"/>
              </a:spcBef>
              <a:buNone/>
              <a:defRPr sz="2800" b="1" i="0" kern="1200">
                <a:solidFill>
                  <a:schemeClr val="tx1"/>
                </a:solidFill>
                <a:latin typeface="+mj-lt"/>
                <a:ea typeface="+mj-ea"/>
                <a:cs typeface="Avenir LT Std 55 Roman" pitchFamily="34" charset="0"/>
              </a:defRPr>
            </a:lvl1pPr>
          </a:lstStyle>
          <a:p>
            <a:r>
              <a:rPr lang="en-US" sz="3600" dirty="0" smtClean="0">
                <a:solidFill>
                  <a:srgbClr val="001446">
                    <a:lumMod val="75000"/>
                    <a:lumOff val="25000"/>
                  </a:srgbClr>
                </a:solidFill>
                <a:latin typeface="Arial"/>
                <a:ea typeface="ＭＳ Ｐゴシック"/>
              </a:rPr>
              <a:t>Comparison of National Geo-Fabrics: </a:t>
            </a:r>
          </a:p>
          <a:p>
            <a:r>
              <a:rPr lang="en-US" sz="3600" dirty="0">
                <a:solidFill>
                  <a:srgbClr val="001446">
                    <a:lumMod val="75000"/>
                    <a:lumOff val="25000"/>
                  </a:srgbClr>
                </a:solidFill>
                <a:latin typeface="Arial"/>
                <a:ea typeface="ＭＳ Ｐゴシック"/>
              </a:rPr>
              <a:t>USA, Canada, Australia, INSPIRE-Italy</a:t>
            </a:r>
            <a:endParaRPr lang="en-US" sz="3600" dirty="0">
              <a:solidFill>
                <a:prstClr val="black"/>
              </a:solidFill>
              <a:latin typeface="Arial"/>
              <a:ea typeface="ＭＳ Ｐゴシック"/>
            </a:endParaRPr>
          </a:p>
        </p:txBody>
      </p:sp>
    </p:spTree>
    <p:extLst>
      <p:ext uri="{BB962C8B-B14F-4D97-AF65-F5344CB8AC3E}">
        <p14:creationId xmlns:p14="http://schemas.microsoft.com/office/powerpoint/2010/main" val="3825908455"/>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Motivation</a:t>
            </a:r>
          </a:p>
        </p:txBody>
      </p:sp>
      <p:sp>
        <p:nvSpPr>
          <p:cNvPr id="3" name="Content Placeholder 2"/>
          <p:cNvSpPr>
            <a:spLocks noGrp="1"/>
          </p:cNvSpPr>
          <p:nvPr>
            <p:ph idx="4294967295"/>
          </p:nvPr>
        </p:nvSpPr>
        <p:spPr>
          <a:xfrm>
            <a:off x="685801" y="1402359"/>
            <a:ext cx="7957422" cy="4495713"/>
          </a:xfrm>
        </p:spPr>
        <p:txBody>
          <a:bodyPr/>
          <a:lstStyle/>
          <a:p>
            <a:r>
              <a:rPr lang="en-US"/>
              <a:t>HY_Features can provide a common information model for describing national hydrologic-geospatial frameworks, sometimes called geo-fabrics</a:t>
            </a:r>
          </a:p>
          <a:p>
            <a:pPr lvl="2"/>
            <a:r>
              <a:rPr lang="en-US" sz="2200"/>
              <a:t>This could enable automated cross-border interoperability and database conversions for watersheds spanning adjacent countries in Europe, Latin America, Africa, etc. </a:t>
            </a:r>
          </a:p>
          <a:p>
            <a:r>
              <a:rPr lang="en-US"/>
              <a:t>However, the national geo-fabrics do not instantiate all the same concepts, so mapping between them can be problematic and lossy. </a:t>
            </a:r>
          </a:p>
          <a:p>
            <a:pPr lvl="2"/>
            <a:r>
              <a:rPr lang="en-US" sz="2200"/>
              <a:t>HY_Features is not the cause of this issue, but could help document it</a:t>
            </a:r>
          </a:p>
        </p:txBody>
      </p:sp>
    </p:spTree>
    <p:extLst>
      <p:ext uri="{BB962C8B-B14F-4D97-AF65-F5344CB8AC3E}">
        <p14:creationId xmlns:p14="http://schemas.microsoft.com/office/powerpoint/2010/main" val="2267207489"/>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Outline</a:t>
            </a:r>
          </a:p>
        </p:txBody>
      </p:sp>
      <p:sp>
        <p:nvSpPr>
          <p:cNvPr id="3" name="Content Placeholder 2"/>
          <p:cNvSpPr>
            <a:spLocks noGrp="1"/>
          </p:cNvSpPr>
          <p:nvPr>
            <p:ph sz="quarter" idx="10"/>
          </p:nvPr>
        </p:nvSpPr>
        <p:spPr>
          <a:xfrm>
            <a:off x="685800" y="1283291"/>
            <a:ext cx="8115019" cy="4293597"/>
          </a:xfrm>
        </p:spPr>
        <p:txBody>
          <a:bodyPr/>
          <a:lstStyle/>
          <a:p>
            <a:r>
              <a:rPr lang="en-US"/>
              <a:t>This presentation focuses on selected core feature classes of 4 national geo-fabrics</a:t>
            </a:r>
          </a:p>
          <a:p>
            <a:pPr lvl="3"/>
            <a:r>
              <a:rPr lang="en-US" sz="2000"/>
              <a:t>USA National Hydrographic Dataset (NHDPlus)</a:t>
            </a:r>
          </a:p>
          <a:p>
            <a:pPr lvl="3"/>
            <a:r>
              <a:rPr lang="en-US" sz="2000"/>
              <a:t>Australia Hydrographic Geo-Fabric (AHGF)</a:t>
            </a:r>
          </a:p>
          <a:p>
            <a:pPr lvl="3"/>
            <a:r>
              <a:rPr lang="en-US" sz="2000"/>
              <a:t>Canada National Hydrographic Network (NHN)</a:t>
            </a:r>
          </a:p>
          <a:p>
            <a:pPr lvl="3"/>
            <a:r>
              <a:rPr lang="en-US" sz="2000"/>
              <a:t>European INSPIRE as implemented in Italy</a:t>
            </a:r>
          </a:p>
          <a:p>
            <a:r>
              <a:rPr lang="en-US" sz="2600"/>
              <a:t>These are based on sample ArcGIS geodatabases, representing a subset of the full specifications. </a:t>
            </a:r>
          </a:p>
          <a:p>
            <a:pPr marL="569912" lvl="3" indent="0">
              <a:buNone/>
            </a:pPr>
            <a:endParaRPr lang="en-US" sz="2600">
              <a:latin typeface="+mn-lt"/>
            </a:endParaRPr>
          </a:p>
          <a:p>
            <a:pPr lvl="1">
              <a:lnSpc>
                <a:spcPct val="90000"/>
              </a:lnSpc>
              <a:buFont typeface="Arial"/>
              <a:buChar char="•"/>
            </a:pPr>
            <a:r>
              <a:rPr lang="en-US" sz="2600">
                <a:latin typeface="+mn-lt"/>
              </a:rPr>
              <a:t>We’ll compare these with each other, and with HY_Features</a:t>
            </a:r>
          </a:p>
        </p:txBody>
      </p:sp>
    </p:spTree>
    <p:extLst>
      <p:ext uri="{BB962C8B-B14F-4D97-AF65-F5344CB8AC3E}">
        <p14:creationId xmlns:p14="http://schemas.microsoft.com/office/powerpoint/2010/main" val="2274968513"/>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0" y="0"/>
            <a:ext cx="9144001" cy="6858000"/>
            <a:chOff x="0" y="0"/>
            <a:chExt cx="9144001" cy="6858000"/>
          </a:xfrm>
        </p:grpSpPr>
        <p:cxnSp>
          <p:nvCxnSpPr>
            <p:cNvPr id="6" name="Straight Connector 5"/>
            <p:cNvCxnSpPr/>
            <p:nvPr/>
          </p:nvCxnSpPr>
          <p:spPr bwMode="auto">
            <a:xfrm>
              <a:off x="4589137" y="0"/>
              <a:ext cx="0" cy="6858000"/>
            </a:xfrm>
            <a:prstGeom prst="line">
              <a:avLst/>
            </a:prstGeom>
            <a:noFill/>
            <a:ln w="19050" cap="flat" cmpd="sng" algn="ctr">
              <a:solidFill>
                <a:schemeClr val="tx2"/>
              </a:solidFill>
              <a:prstDash val="solid"/>
              <a:round/>
              <a:headEnd type="none" w="med" len="med"/>
              <a:tailEnd type="none" w="med" len="med"/>
            </a:ln>
            <a:effectLst/>
          </p:spPr>
        </p:cxnSp>
        <p:cxnSp>
          <p:nvCxnSpPr>
            <p:cNvPr id="8" name="Straight Connector 7"/>
            <p:cNvCxnSpPr/>
            <p:nvPr/>
          </p:nvCxnSpPr>
          <p:spPr bwMode="auto">
            <a:xfrm flipH="1">
              <a:off x="0" y="3419981"/>
              <a:ext cx="9144001" cy="0"/>
            </a:xfrm>
            <a:prstGeom prst="line">
              <a:avLst/>
            </a:prstGeom>
            <a:noFill/>
            <a:ln w="19050" cap="flat" cmpd="sng" algn="ctr">
              <a:solidFill>
                <a:schemeClr val="tx2"/>
              </a:solidFill>
              <a:prstDash val="solid"/>
              <a:round/>
              <a:headEnd type="none" w="med" len="med"/>
              <a:tailEnd type="none" w="med" len="med"/>
            </a:ln>
            <a:effectLst/>
          </p:spPr>
        </p:cxnSp>
      </p:grpSp>
      <p:sp>
        <p:nvSpPr>
          <p:cNvPr id="12" name="TextBox 11"/>
          <p:cNvSpPr txBox="1"/>
          <p:nvPr/>
        </p:nvSpPr>
        <p:spPr>
          <a:xfrm>
            <a:off x="100263" y="1129632"/>
            <a:ext cx="4217737" cy="1109579"/>
          </a:xfrm>
          <a:prstGeom prst="rect">
            <a:avLst/>
          </a:prstGeom>
          <a:noFill/>
          <a:effectLst/>
        </p:spPr>
        <p:txBody>
          <a:bodyPr wrap="square" lIns="0" tIns="0" rIns="0" bIns="0" rtlCol="0" anchor="ctr" anchorCtr="1">
            <a:normAutofit fontScale="77500" lnSpcReduction="20000"/>
          </a:bodyPr>
          <a:lstStyle/>
          <a:p>
            <a:pPr algn="ctr" eaLnBrk="0" hangingPunct="0"/>
            <a:r>
              <a:rPr lang="en-US" sz="3600" b="1" dirty="0" smtClean="0">
                <a:solidFill>
                  <a:srgbClr val="0000FF"/>
                </a:solidFill>
                <a:effectLst>
                  <a:outerShdw blurRad="50800" dist="38100" dir="2700000" algn="tl" rotWithShape="0">
                    <a:srgbClr val="000000">
                      <a:alpha val="43000"/>
                    </a:srgbClr>
                  </a:outerShdw>
                </a:effectLst>
                <a:ea typeface="+mn-ea"/>
                <a:cs typeface="+mn-cs"/>
              </a:rPr>
              <a:t>USA National Hydrographic Dataset (NHDPlus)</a:t>
            </a:r>
          </a:p>
        </p:txBody>
      </p:sp>
      <p:sp>
        <p:nvSpPr>
          <p:cNvPr id="14" name="TextBox 13"/>
          <p:cNvSpPr txBox="1"/>
          <p:nvPr/>
        </p:nvSpPr>
        <p:spPr>
          <a:xfrm>
            <a:off x="4973054" y="1293394"/>
            <a:ext cx="3910262" cy="822155"/>
          </a:xfrm>
          <a:prstGeom prst="rect">
            <a:avLst/>
          </a:prstGeom>
          <a:noFill/>
          <a:effectLst/>
        </p:spPr>
        <p:txBody>
          <a:bodyPr wrap="square" lIns="0" tIns="0" rIns="0" bIns="0" rtlCol="0" anchor="ctr" anchorCtr="1">
            <a:normAutofit/>
          </a:bodyPr>
          <a:lstStyle/>
          <a:p>
            <a:pPr algn="ctr" eaLnBrk="0" hangingPunct="0">
              <a:lnSpc>
                <a:spcPts val="1800"/>
              </a:lnSpc>
            </a:pPr>
            <a:r>
              <a:rPr lang="en-US" sz="2800" b="1" dirty="0" smtClean="0">
                <a:solidFill>
                  <a:srgbClr val="0000FF"/>
                </a:solidFill>
                <a:effectLst>
                  <a:outerShdw blurRad="50800" dist="38100" dir="2700000" algn="tl" rotWithShape="0">
                    <a:srgbClr val="000000">
                      <a:alpha val="43000"/>
                    </a:srgbClr>
                  </a:outerShdw>
                </a:effectLst>
              </a:rPr>
              <a:t>Australia </a:t>
            </a:r>
            <a:r>
              <a:rPr lang="en-US" sz="2800" b="1" dirty="0">
                <a:solidFill>
                  <a:srgbClr val="0000FF"/>
                </a:solidFill>
                <a:effectLst>
                  <a:outerShdw blurRad="50800" dist="38100" dir="2700000" algn="tl" rotWithShape="0">
                    <a:srgbClr val="000000">
                      <a:alpha val="43000"/>
                    </a:srgbClr>
                  </a:outerShdw>
                </a:effectLst>
              </a:rPr>
              <a:t>Hydrologic</a:t>
            </a:r>
          </a:p>
          <a:p>
            <a:pPr algn="ctr" eaLnBrk="0" hangingPunct="0"/>
            <a:r>
              <a:rPr lang="en-US" sz="2800" b="1" dirty="0" smtClean="0">
                <a:solidFill>
                  <a:srgbClr val="0000FF"/>
                </a:solidFill>
                <a:effectLst>
                  <a:outerShdw blurRad="50800" dist="38100" dir="2700000" algn="tl" rotWithShape="0">
                    <a:srgbClr val="000000">
                      <a:alpha val="43000"/>
                    </a:srgbClr>
                  </a:outerShdw>
                </a:effectLst>
              </a:rPr>
              <a:t>Geo-Fabric (AHGF)</a:t>
            </a:r>
          </a:p>
        </p:txBody>
      </p:sp>
      <p:sp>
        <p:nvSpPr>
          <p:cNvPr id="15" name="TextBox 14"/>
          <p:cNvSpPr txBox="1"/>
          <p:nvPr/>
        </p:nvSpPr>
        <p:spPr>
          <a:xfrm>
            <a:off x="100263" y="4604402"/>
            <a:ext cx="4217737" cy="1109579"/>
          </a:xfrm>
          <a:prstGeom prst="rect">
            <a:avLst/>
          </a:prstGeom>
          <a:noFill/>
          <a:effectLst/>
        </p:spPr>
        <p:txBody>
          <a:bodyPr wrap="square" lIns="0" tIns="0" rIns="0" bIns="0" rtlCol="0" anchor="ctr" anchorCtr="1">
            <a:normAutofit fontScale="77500" lnSpcReduction="20000"/>
          </a:bodyPr>
          <a:lstStyle/>
          <a:p>
            <a:pPr algn="ctr" eaLnBrk="0" hangingPunct="0"/>
            <a:r>
              <a:rPr lang="en-US" sz="3600" b="1" dirty="0" smtClean="0">
                <a:solidFill>
                  <a:srgbClr val="0000FF"/>
                </a:solidFill>
                <a:effectLst>
                  <a:outerShdw blurRad="50800" dist="38100" dir="2700000" algn="tl" rotWithShape="0">
                    <a:srgbClr val="000000">
                      <a:alpha val="43000"/>
                    </a:srgbClr>
                  </a:outerShdw>
                </a:effectLst>
                <a:ea typeface="+mn-ea"/>
                <a:cs typeface="+mn-cs"/>
              </a:rPr>
              <a:t>Canada National Hydrographic Network (NHN)</a:t>
            </a:r>
          </a:p>
        </p:txBody>
      </p:sp>
      <p:sp>
        <p:nvSpPr>
          <p:cNvPr id="16" name="TextBox 15"/>
          <p:cNvSpPr txBox="1"/>
          <p:nvPr/>
        </p:nvSpPr>
        <p:spPr>
          <a:xfrm>
            <a:off x="4768535" y="4604402"/>
            <a:ext cx="4217737" cy="1109579"/>
          </a:xfrm>
          <a:prstGeom prst="rect">
            <a:avLst/>
          </a:prstGeom>
          <a:noFill/>
          <a:effectLst/>
        </p:spPr>
        <p:txBody>
          <a:bodyPr wrap="square" lIns="0" tIns="0" rIns="0" bIns="0" rtlCol="0" anchor="ctr" anchorCtr="1">
            <a:normAutofit/>
          </a:bodyPr>
          <a:lstStyle/>
          <a:p>
            <a:pPr algn="ctr" eaLnBrk="0" hangingPunct="0"/>
            <a:r>
              <a:rPr lang="en-US" sz="2800" b="1" dirty="0" smtClean="0">
                <a:solidFill>
                  <a:srgbClr val="0000FF"/>
                </a:solidFill>
                <a:effectLst>
                  <a:outerShdw blurRad="50800" dist="38100" dir="2700000" algn="tl" rotWithShape="0">
                    <a:srgbClr val="000000">
                      <a:alpha val="43000"/>
                    </a:srgbClr>
                  </a:outerShdw>
                </a:effectLst>
                <a:ea typeface="+mn-ea"/>
                <a:cs typeface="+mn-cs"/>
              </a:rPr>
              <a:t>EU INSPIRE Hydrology: Italy Idrografia</a:t>
            </a:r>
          </a:p>
        </p:txBody>
      </p:sp>
    </p:spTree>
    <p:extLst>
      <p:ext uri="{BB962C8B-B14F-4D97-AF65-F5344CB8AC3E}">
        <p14:creationId xmlns:p14="http://schemas.microsoft.com/office/powerpoint/2010/main" val="1470269878"/>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HGF2-SE Coas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568" y="0"/>
            <a:ext cx="4554862" cy="3420085"/>
          </a:xfrm>
          <a:prstGeom prst="rect">
            <a:avLst/>
          </a:prstGeom>
        </p:spPr>
      </p:pic>
      <p:pic>
        <p:nvPicPr>
          <p:cNvPr id="3" name="Picture 2" descr="Italy-01-Po River valley.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1" y="3419981"/>
            <a:ext cx="4557386" cy="3438019"/>
          </a:xfrm>
          <a:prstGeom prst="rect">
            <a:avLst/>
          </a:prstGeom>
        </p:spPr>
      </p:pic>
      <p:pic>
        <p:nvPicPr>
          <p:cNvPr id="2" name="Picture 1" descr="NHN-01-overview.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19981"/>
            <a:ext cx="4566052" cy="3438019"/>
          </a:xfrm>
          <a:prstGeom prst="rect">
            <a:avLst/>
          </a:prstGeom>
        </p:spPr>
      </p:pic>
      <p:pic>
        <p:nvPicPr>
          <p:cNvPr id="23" name="Picture 22" descr="US-NHDPlus-Souris-basin.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4566052" cy="3419981"/>
          </a:xfrm>
          <a:prstGeom prst="rect">
            <a:avLst/>
          </a:prstGeom>
        </p:spPr>
      </p:pic>
      <p:grpSp>
        <p:nvGrpSpPr>
          <p:cNvPr id="11" name="Group 10"/>
          <p:cNvGrpSpPr/>
          <p:nvPr/>
        </p:nvGrpSpPr>
        <p:grpSpPr>
          <a:xfrm>
            <a:off x="0" y="0"/>
            <a:ext cx="9144001" cy="6858000"/>
            <a:chOff x="0" y="0"/>
            <a:chExt cx="9144001" cy="6858000"/>
          </a:xfrm>
        </p:grpSpPr>
        <p:cxnSp>
          <p:nvCxnSpPr>
            <p:cNvPr id="6" name="Straight Connector 5"/>
            <p:cNvCxnSpPr/>
            <p:nvPr/>
          </p:nvCxnSpPr>
          <p:spPr bwMode="auto">
            <a:xfrm>
              <a:off x="4589137" y="0"/>
              <a:ext cx="0" cy="6858000"/>
            </a:xfrm>
            <a:prstGeom prst="line">
              <a:avLst/>
            </a:prstGeom>
            <a:noFill/>
            <a:ln w="19050" cap="flat" cmpd="sng" algn="ctr">
              <a:solidFill>
                <a:schemeClr val="tx2"/>
              </a:solidFill>
              <a:prstDash val="solid"/>
              <a:round/>
              <a:headEnd type="none" w="med" len="med"/>
              <a:tailEnd type="none" w="med" len="med"/>
            </a:ln>
            <a:effectLst/>
          </p:spPr>
        </p:cxnSp>
        <p:cxnSp>
          <p:nvCxnSpPr>
            <p:cNvPr id="8" name="Straight Connector 7"/>
            <p:cNvCxnSpPr/>
            <p:nvPr/>
          </p:nvCxnSpPr>
          <p:spPr bwMode="auto">
            <a:xfrm flipH="1">
              <a:off x="0" y="3419981"/>
              <a:ext cx="9144001" cy="0"/>
            </a:xfrm>
            <a:prstGeom prst="line">
              <a:avLst/>
            </a:prstGeom>
            <a:noFill/>
            <a:ln w="19050" cap="flat" cmpd="sng" algn="ctr">
              <a:solidFill>
                <a:schemeClr val="tx2"/>
              </a:solidFill>
              <a:prstDash val="solid"/>
              <a:round/>
              <a:headEnd type="none" w="med" len="med"/>
              <a:tailEnd type="none" w="med" len="med"/>
            </a:ln>
            <a:effectLst/>
          </p:spPr>
        </p:cxnSp>
      </p:grpSp>
      <p:grpSp>
        <p:nvGrpSpPr>
          <p:cNvPr id="4" name="Group 3"/>
          <p:cNvGrpSpPr/>
          <p:nvPr/>
        </p:nvGrpSpPr>
        <p:grpSpPr>
          <a:xfrm>
            <a:off x="3679080" y="3164644"/>
            <a:ext cx="2118471" cy="524706"/>
            <a:chOff x="3679080" y="3164644"/>
            <a:chExt cx="2118471" cy="524706"/>
          </a:xfrm>
        </p:grpSpPr>
        <p:sp>
          <p:nvSpPr>
            <p:cNvPr id="13" name="TextBox 12"/>
            <p:cNvSpPr txBox="1"/>
            <p:nvPr/>
          </p:nvSpPr>
          <p:spPr>
            <a:xfrm>
              <a:off x="3679080" y="3164644"/>
              <a:ext cx="910057" cy="255336"/>
            </a:xfrm>
            <a:prstGeom prst="rect">
              <a:avLst/>
            </a:prstGeom>
            <a:noFill/>
            <a:effectLst/>
          </p:spPr>
          <p:txBody>
            <a:bodyPr wrap="square" lIns="0" tIns="0" rIns="0" bIns="0" rtlCol="0" anchor="ctr" anchorCtr="1">
              <a:norm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NHDPlus</a:t>
              </a:r>
            </a:p>
          </p:txBody>
        </p:sp>
        <p:sp>
          <p:nvSpPr>
            <p:cNvPr id="14" name="TextBox 13"/>
            <p:cNvSpPr txBox="1"/>
            <p:nvPr/>
          </p:nvSpPr>
          <p:spPr>
            <a:xfrm>
              <a:off x="4540652" y="3164644"/>
              <a:ext cx="706999"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AHGF</a:t>
              </a:r>
            </a:p>
          </p:txBody>
        </p:sp>
        <p:sp>
          <p:nvSpPr>
            <p:cNvPr id="20" name="TextBox 19"/>
            <p:cNvSpPr txBox="1"/>
            <p:nvPr/>
          </p:nvSpPr>
          <p:spPr>
            <a:xfrm>
              <a:off x="4053587" y="3380572"/>
              <a:ext cx="543813"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NHN</a:t>
              </a:r>
            </a:p>
          </p:txBody>
        </p:sp>
        <p:sp>
          <p:nvSpPr>
            <p:cNvPr id="21" name="TextBox 20"/>
            <p:cNvSpPr txBox="1"/>
            <p:nvPr/>
          </p:nvSpPr>
          <p:spPr>
            <a:xfrm>
              <a:off x="4603751" y="3318381"/>
              <a:ext cx="1193800" cy="370969"/>
            </a:xfrm>
            <a:prstGeom prst="rect">
              <a:avLst/>
            </a:prstGeom>
            <a:noFill/>
            <a:effectLst/>
          </p:spPr>
          <p:txBody>
            <a:bodyPr wrap="square" lIns="0" tIns="0" rIns="0" bIns="0" rtlCol="0" anchor="ctr" anchorCtr="1">
              <a:no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INSPIRE-Italy</a:t>
              </a:r>
            </a:p>
          </p:txBody>
        </p:sp>
      </p:grpSp>
      <p:sp>
        <p:nvSpPr>
          <p:cNvPr id="25" name="TextBox 24"/>
          <p:cNvSpPr txBox="1"/>
          <p:nvPr/>
        </p:nvSpPr>
        <p:spPr>
          <a:xfrm>
            <a:off x="100263" y="1129632"/>
            <a:ext cx="4217737" cy="1109579"/>
          </a:xfrm>
          <a:prstGeom prst="rect">
            <a:avLst/>
          </a:prstGeom>
          <a:noFill/>
          <a:effectLst/>
        </p:spPr>
        <p:txBody>
          <a:bodyPr wrap="square" lIns="0" tIns="0" rIns="0" bIns="0" rtlCol="0" anchor="ctr" anchorCtr="1">
            <a:normAutofit/>
          </a:bodyPr>
          <a:lstStyle/>
          <a:p>
            <a:pPr algn="ctr" eaLnBrk="0" hangingPunct="0"/>
            <a:r>
              <a:rPr lang="en-US" sz="2800" b="1" dirty="0" smtClean="0">
                <a:solidFill>
                  <a:srgbClr val="0000FF"/>
                </a:solidFill>
                <a:effectLst>
                  <a:outerShdw blurRad="50800" dist="38100" dir="2700000" algn="tl" rotWithShape="0">
                    <a:srgbClr val="000000">
                      <a:alpha val="43000"/>
                    </a:srgbClr>
                  </a:outerShdw>
                </a:effectLst>
                <a:ea typeface="+mn-ea"/>
                <a:cs typeface="+mn-cs"/>
              </a:rPr>
              <a:t>Souris River Basin</a:t>
            </a:r>
            <a:br>
              <a:rPr lang="en-US" sz="2800" b="1" dirty="0" smtClean="0">
                <a:solidFill>
                  <a:srgbClr val="0000FF"/>
                </a:solidFill>
                <a:effectLst>
                  <a:outerShdw blurRad="50800" dist="38100" dir="2700000" algn="tl" rotWithShape="0">
                    <a:srgbClr val="000000">
                      <a:alpha val="43000"/>
                    </a:srgbClr>
                  </a:outerShdw>
                </a:effectLst>
                <a:ea typeface="+mn-ea"/>
                <a:cs typeface="+mn-cs"/>
              </a:rPr>
            </a:br>
            <a:r>
              <a:rPr lang="en-US" sz="2800" b="1" dirty="0" smtClean="0">
                <a:solidFill>
                  <a:srgbClr val="0000FF"/>
                </a:solidFill>
                <a:effectLst>
                  <a:outerShdw blurRad="50800" dist="38100" dir="2700000" algn="tl" rotWithShape="0">
                    <a:srgbClr val="000000">
                      <a:alpha val="43000"/>
                    </a:srgbClr>
                  </a:outerShdw>
                </a:effectLst>
                <a:ea typeface="+mn-ea"/>
                <a:cs typeface="+mn-cs"/>
              </a:rPr>
              <a:t>N. Dakota, USA</a:t>
            </a:r>
          </a:p>
        </p:txBody>
      </p:sp>
      <p:sp>
        <p:nvSpPr>
          <p:cNvPr id="26" name="TextBox 25"/>
          <p:cNvSpPr txBox="1"/>
          <p:nvPr/>
        </p:nvSpPr>
        <p:spPr>
          <a:xfrm>
            <a:off x="4973054" y="1301607"/>
            <a:ext cx="3910262" cy="937604"/>
          </a:xfrm>
          <a:prstGeom prst="rect">
            <a:avLst/>
          </a:prstGeom>
          <a:noFill/>
          <a:effectLst/>
        </p:spPr>
        <p:txBody>
          <a:bodyPr wrap="square" lIns="0" tIns="0" rIns="0" bIns="0" rtlCol="0" anchor="ctr" anchorCtr="1">
            <a:normAutofit/>
          </a:bodyPr>
          <a:lstStyle/>
          <a:p>
            <a:pPr algn="ctr" eaLnBrk="0" hangingPunct="0">
              <a:lnSpc>
                <a:spcPct val="90000"/>
              </a:lnSpc>
            </a:pPr>
            <a:r>
              <a:rPr lang="en-US" sz="2800" b="1" dirty="0" smtClean="0">
                <a:solidFill>
                  <a:srgbClr val="0000FF"/>
                </a:solidFill>
                <a:effectLst>
                  <a:outerShdw blurRad="50800" dist="38100" dir="2700000" algn="tl" rotWithShape="0">
                    <a:srgbClr val="000000">
                      <a:alpha val="43000"/>
                    </a:srgbClr>
                  </a:outerShdw>
                </a:effectLst>
              </a:rPr>
              <a:t>Southeast Coast</a:t>
            </a:r>
          </a:p>
          <a:p>
            <a:pPr algn="ctr" eaLnBrk="0" hangingPunct="0"/>
            <a:r>
              <a:rPr lang="en-US" sz="2800" b="1" dirty="0">
                <a:solidFill>
                  <a:srgbClr val="0000FF"/>
                </a:solidFill>
                <a:effectLst>
                  <a:outerShdw blurRad="50800" dist="38100" dir="2700000" algn="tl" rotWithShape="0">
                    <a:srgbClr val="000000">
                      <a:alpha val="43000"/>
                    </a:srgbClr>
                  </a:outerShdw>
                </a:effectLst>
              </a:rPr>
              <a:t>Australia</a:t>
            </a:r>
            <a:endParaRPr lang="en-US" sz="2800" b="1" dirty="0" smtClean="0">
              <a:solidFill>
                <a:srgbClr val="0000FF"/>
              </a:solidFill>
              <a:effectLst>
                <a:outerShdw blurRad="50800" dist="38100" dir="2700000" algn="tl" rotWithShape="0">
                  <a:srgbClr val="000000">
                    <a:alpha val="43000"/>
                  </a:srgbClr>
                </a:outerShdw>
              </a:effectLst>
            </a:endParaRPr>
          </a:p>
        </p:txBody>
      </p:sp>
      <p:sp>
        <p:nvSpPr>
          <p:cNvPr id="15" name="TextBox 14"/>
          <p:cNvSpPr txBox="1"/>
          <p:nvPr/>
        </p:nvSpPr>
        <p:spPr>
          <a:xfrm>
            <a:off x="252663" y="4849262"/>
            <a:ext cx="4217737" cy="1109579"/>
          </a:xfrm>
          <a:prstGeom prst="rect">
            <a:avLst/>
          </a:prstGeom>
          <a:noFill/>
          <a:effectLst/>
        </p:spPr>
        <p:txBody>
          <a:bodyPr wrap="square" lIns="0" tIns="0" rIns="0" bIns="0" rtlCol="0" anchor="ctr" anchorCtr="1">
            <a:normAutofit/>
          </a:bodyPr>
          <a:lstStyle/>
          <a:p>
            <a:pPr algn="ctr" eaLnBrk="0" hangingPunct="0"/>
            <a:r>
              <a:rPr lang="en-US" sz="2800" b="1" dirty="0" smtClean="0">
                <a:solidFill>
                  <a:srgbClr val="0000FF"/>
                </a:solidFill>
                <a:effectLst>
                  <a:outerShdw blurRad="50800" dist="38100" dir="2700000" algn="tl" rotWithShape="0">
                    <a:srgbClr val="000000">
                      <a:alpha val="43000"/>
                    </a:srgbClr>
                  </a:outerShdw>
                </a:effectLst>
                <a:ea typeface="+mn-ea"/>
                <a:cs typeface="+mn-cs"/>
              </a:rPr>
              <a:t>Mahoney Lake Basin</a:t>
            </a:r>
            <a:br>
              <a:rPr lang="en-US" sz="2800" b="1" dirty="0" smtClean="0">
                <a:solidFill>
                  <a:srgbClr val="0000FF"/>
                </a:solidFill>
                <a:effectLst>
                  <a:outerShdw blurRad="50800" dist="38100" dir="2700000" algn="tl" rotWithShape="0">
                    <a:srgbClr val="000000">
                      <a:alpha val="43000"/>
                    </a:srgbClr>
                  </a:outerShdw>
                </a:effectLst>
                <a:ea typeface="+mn-ea"/>
                <a:cs typeface="+mn-cs"/>
              </a:rPr>
            </a:br>
            <a:r>
              <a:rPr lang="en-US" sz="2800" b="1" dirty="0" smtClean="0">
                <a:solidFill>
                  <a:srgbClr val="0000FF"/>
                </a:solidFill>
                <a:effectLst>
                  <a:outerShdw blurRad="50800" dist="38100" dir="2700000" algn="tl" rotWithShape="0">
                    <a:srgbClr val="000000">
                      <a:alpha val="43000"/>
                    </a:srgbClr>
                  </a:outerShdw>
                </a:effectLst>
                <a:ea typeface="+mn-ea"/>
                <a:cs typeface="+mn-cs"/>
              </a:rPr>
              <a:t>NW. Canada</a:t>
            </a:r>
          </a:p>
        </p:txBody>
      </p:sp>
      <p:sp>
        <p:nvSpPr>
          <p:cNvPr id="17" name="TextBox 16"/>
          <p:cNvSpPr txBox="1"/>
          <p:nvPr/>
        </p:nvSpPr>
        <p:spPr>
          <a:xfrm>
            <a:off x="4814733" y="4849262"/>
            <a:ext cx="4217737" cy="1109579"/>
          </a:xfrm>
          <a:prstGeom prst="rect">
            <a:avLst/>
          </a:prstGeom>
          <a:noFill/>
          <a:effectLst/>
        </p:spPr>
        <p:txBody>
          <a:bodyPr wrap="square" lIns="0" tIns="0" rIns="0" bIns="0" rtlCol="0" anchor="ctr" anchorCtr="1">
            <a:normAutofit/>
          </a:bodyPr>
          <a:lstStyle/>
          <a:p>
            <a:pPr algn="ctr" eaLnBrk="0" hangingPunct="0"/>
            <a:r>
              <a:rPr lang="en-US" sz="2800" b="1" dirty="0" smtClean="0">
                <a:solidFill>
                  <a:srgbClr val="0000FF"/>
                </a:solidFill>
                <a:effectLst>
                  <a:outerShdw blurRad="50800" dist="38100" dir="2700000" algn="tl" rotWithShape="0">
                    <a:srgbClr val="000000">
                      <a:alpha val="43000"/>
                    </a:srgbClr>
                  </a:outerShdw>
                </a:effectLst>
                <a:ea typeface="+mn-ea"/>
                <a:cs typeface="+mn-cs"/>
              </a:rPr>
              <a:t>Po River Basin</a:t>
            </a:r>
            <a:br>
              <a:rPr lang="en-US" sz="2800" b="1" dirty="0" smtClean="0">
                <a:solidFill>
                  <a:srgbClr val="0000FF"/>
                </a:solidFill>
                <a:effectLst>
                  <a:outerShdw blurRad="50800" dist="38100" dir="2700000" algn="tl" rotWithShape="0">
                    <a:srgbClr val="000000">
                      <a:alpha val="43000"/>
                    </a:srgbClr>
                  </a:outerShdw>
                </a:effectLst>
                <a:ea typeface="+mn-ea"/>
                <a:cs typeface="+mn-cs"/>
              </a:rPr>
            </a:br>
            <a:r>
              <a:rPr lang="en-US" sz="2800" b="1" dirty="0" smtClean="0">
                <a:solidFill>
                  <a:srgbClr val="0000FF"/>
                </a:solidFill>
                <a:effectLst>
                  <a:outerShdw blurRad="50800" dist="38100" dir="2700000" algn="tl" rotWithShape="0">
                    <a:srgbClr val="000000">
                      <a:alpha val="43000"/>
                    </a:srgbClr>
                  </a:outerShdw>
                </a:effectLst>
                <a:ea typeface="+mn-ea"/>
                <a:cs typeface="+mn-cs"/>
              </a:rPr>
              <a:t>N. Italy</a:t>
            </a:r>
          </a:p>
        </p:txBody>
      </p:sp>
    </p:spTree>
    <p:extLst>
      <p:ext uri="{BB962C8B-B14F-4D97-AF65-F5344CB8AC3E}">
        <p14:creationId xmlns:p14="http://schemas.microsoft.com/office/powerpoint/2010/main" val="3770695899"/>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Flowlines and Waterbodies</a:t>
            </a:r>
          </a:p>
        </p:txBody>
      </p:sp>
      <p:sp>
        <p:nvSpPr>
          <p:cNvPr id="3" name="Content Placeholder 2"/>
          <p:cNvSpPr>
            <a:spLocks noGrp="1"/>
          </p:cNvSpPr>
          <p:nvPr>
            <p:ph sz="quarter" idx="10"/>
          </p:nvPr>
        </p:nvSpPr>
        <p:spPr>
          <a:xfrm>
            <a:off x="685800" y="1298472"/>
            <a:ext cx="7919478" cy="5151080"/>
          </a:xfrm>
        </p:spPr>
        <p:txBody>
          <a:bodyPr/>
          <a:lstStyle/>
          <a:p>
            <a:r>
              <a:rPr lang="en-US"/>
              <a:t>All four data models have flowlines and waterbodies</a:t>
            </a:r>
          </a:p>
          <a:p>
            <a:r>
              <a:rPr lang="en-US"/>
              <a:t>NHDPlus flowlines have reliable network topology </a:t>
            </a:r>
          </a:p>
          <a:p>
            <a:r>
              <a:rPr lang="en-US"/>
              <a:t>AHGFNetworkStreams have topology, but AHGFLinks and AHGFNodes have “contracted” topology which is stable and reliable, at a coarser scale than NetworkStreams</a:t>
            </a:r>
          </a:p>
          <a:p>
            <a:endParaRPr lang="en-US"/>
          </a:p>
          <a:p>
            <a:endParaRPr lang="en-US"/>
          </a:p>
        </p:txBody>
      </p:sp>
    </p:spTree>
    <p:extLst>
      <p:ext uri="{BB962C8B-B14F-4D97-AF65-F5344CB8AC3E}">
        <p14:creationId xmlns:p14="http://schemas.microsoft.com/office/powerpoint/2010/main" val="2374895363"/>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HGF2-flowline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2" y="1"/>
            <a:ext cx="4553475" cy="3419980"/>
          </a:xfrm>
          <a:prstGeom prst="rect">
            <a:avLst/>
          </a:prstGeom>
        </p:spPr>
      </p:pic>
      <p:pic>
        <p:nvPicPr>
          <p:cNvPr id="12" name="Picture 11" descr="Italy-02-flowline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3" y="3419982"/>
            <a:ext cx="4571998" cy="3434346"/>
          </a:xfrm>
          <a:prstGeom prst="rect">
            <a:avLst/>
          </a:prstGeom>
        </p:spPr>
      </p:pic>
      <p:pic>
        <p:nvPicPr>
          <p:cNvPr id="2" name="Picture 1" descr="US-NHDPlus-Souris-flowlines.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
            <a:ext cx="4591452" cy="3419981"/>
          </a:xfrm>
          <a:prstGeom prst="rect">
            <a:avLst/>
          </a:prstGeom>
        </p:spPr>
      </p:pic>
      <p:pic>
        <p:nvPicPr>
          <p:cNvPr id="13" name="Picture 12" descr="NHN-02-flowlines.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93" y="3419981"/>
            <a:ext cx="4572043" cy="3438020"/>
          </a:xfrm>
          <a:prstGeom prst="rect">
            <a:avLst/>
          </a:prstGeom>
        </p:spPr>
      </p:pic>
      <p:grpSp>
        <p:nvGrpSpPr>
          <p:cNvPr id="11" name="Group 10"/>
          <p:cNvGrpSpPr/>
          <p:nvPr/>
        </p:nvGrpSpPr>
        <p:grpSpPr>
          <a:xfrm>
            <a:off x="0" y="0"/>
            <a:ext cx="9144001" cy="6858000"/>
            <a:chOff x="0" y="0"/>
            <a:chExt cx="9144001" cy="6858000"/>
          </a:xfrm>
        </p:grpSpPr>
        <p:cxnSp>
          <p:nvCxnSpPr>
            <p:cNvPr id="6" name="Straight Connector 5"/>
            <p:cNvCxnSpPr/>
            <p:nvPr/>
          </p:nvCxnSpPr>
          <p:spPr bwMode="auto">
            <a:xfrm>
              <a:off x="4589137" y="0"/>
              <a:ext cx="0" cy="6858000"/>
            </a:xfrm>
            <a:prstGeom prst="line">
              <a:avLst/>
            </a:prstGeom>
            <a:noFill/>
            <a:ln w="19050" cap="flat" cmpd="sng" algn="ctr">
              <a:solidFill>
                <a:schemeClr val="tx2"/>
              </a:solidFill>
              <a:prstDash val="solid"/>
              <a:round/>
              <a:headEnd type="none" w="med" len="med"/>
              <a:tailEnd type="none" w="med" len="med"/>
            </a:ln>
            <a:effectLst/>
          </p:spPr>
        </p:cxnSp>
        <p:cxnSp>
          <p:nvCxnSpPr>
            <p:cNvPr id="8" name="Straight Connector 7"/>
            <p:cNvCxnSpPr/>
            <p:nvPr/>
          </p:nvCxnSpPr>
          <p:spPr bwMode="auto">
            <a:xfrm flipH="1">
              <a:off x="0" y="3419981"/>
              <a:ext cx="9144001" cy="0"/>
            </a:xfrm>
            <a:prstGeom prst="line">
              <a:avLst/>
            </a:prstGeom>
            <a:noFill/>
            <a:ln w="19050" cap="flat" cmpd="sng" algn="ctr">
              <a:solidFill>
                <a:schemeClr val="tx2"/>
              </a:solidFill>
              <a:prstDash val="solid"/>
              <a:round/>
              <a:headEnd type="none" w="med" len="med"/>
              <a:tailEnd type="none" w="med" len="med"/>
            </a:ln>
            <a:effectLst/>
          </p:spPr>
        </p:cxnSp>
      </p:grpSp>
      <p:sp>
        <p:nvSpPr>
          <p:cNvPr id="7" name="TextBox 6"/>
          <p:cNvSpPr txBox="1"/>
          <p:nvPr/>
        </p:nvSpPr>
        <p:spPr>
          <a:xfrm>
            <a:off x="1155700" y="844550"/>
            <a:ext cx="1200150"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Flowline</a:t>
            </a:r>
          </a:p>
        </p:txBody>
      </p:sp>
      <p:cxnSp>
        <p:nvCxnSpPr>
          <p:cNvPr id="9" name="Straight Arrow Connector 8"/>
          <p:cNvCxnSpPr/>
          <p:nvPr/>
        </p:nvCxnSpPr>
        <p:spPr bwMode="auto">
          <a:xfrm flipH="1">
            <a:off x="1543050" y="1104900"/>
            <a:ext cx="95250" cy="450850"/>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10" name="Straight Arrow Connector 9"/>
          <p:cNvCxnSpPr/>
          <p:nvPr/>
        </p:nvCxnSpPr>
        <p:spPr bwMode="auto">
          <a:xfrm flipV="1">
            <a:off x="2393950" y="768350"/>
            <a:ext cx="584200" cy="127000"/>
          </a:xfrm>
          <a:prstGeom prst="straightConnector1">
            <a:avLst/>
          </a:prstGeom>
          <a:noFill/>
          <a:ln w="19050" cap="flat" cmpd="sng" algn="ctr">
            <a:solidFill>
              <a:srgbClr val="0000FF"/>
            </a:solidFill>
            <a:prstDash val="solid"/>
            <a:round/>
            <a:headEnd type="none" w="med" len="med"/>
            <a:tailEnd type="stealth" w="lg" len="lg"/>
          </a:ln>
          <a:effectLst/>
        </p:spPr>
      </p:cxnSp>
      <p:sp>
        <p:nvSpPr>
          <p:cNvPr id="15" name="TextBox 14"/>
          <p:cNvSpPr txBox="1"/>
          <p:nvPr/>
        </p:nvSpPr>
        <p:spPr>
          <a:xfrm>
            <a:off x="5300353" y="1425575"/>
            <a:ext cx="2758274"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0000FF"/>
                </a:solidFill>
                <a:ea typeface="+mn-ea"/>
                <a:cs typeface="+mn-cs"/>
              </a:rPr>
              <a:t>AHGFNetworkStream</a:t>
            </a:r>
          </a:p>
        </p:txBody>
      </p:sp>
      <p:cxnSp>
        <p:nvCxnSpPr>
          <p:cNvPr id="16" name="Straight Arrow Connector 15"/>
          <p:cNvCxnSpPr/>
          <p:nvPr/>
        </p:nvCxnSpPr>
        <p:spPr bwMode="auto">
          <a:xfrm flipH="1">
            <a:off x="6184900" y="1708150"/>
            <a:ext cx="224743" cy="450850"/>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17" name="Straight Arrow Connector 16"/>
          <p:cNvCxnSpPr/>
          <p:nvPr/>
        </p:nvCxnSpPr>
        <p:spPr bwMode="auto">
          <a:xfrm flipH="1">
            <a:off x="7480300" y="1708150"/>
            <a:ext cx="124995" cy="368300"/>
          </a:xfrm>
          <a:prstGeom prst="straightConnector1">
            <a:avLst/>
          </a:prstGeom>
          <a:noFill/>
          <a:ln w="19050" cap="flat" cmpd="sng" algn="ctr">
            <a:solidFill>
              <a:srgbClr val="0000FF"/>
            </a:solidFill>
            <a:prstDash val="solid"/>
            <a:round/>
            <a:headEnd type="none" w="med" len="med"/>
            <a:tailEnd type="stealth" w="lg" len="lg"/>
          </a:ln>
          <a:effectLst/>
        </p:spPr>
      </p:cxnSp>
      <p:sp>
        <p:nvSpPr>
          <p:cNvPr id="22" name="TextBox 21"/>
          <p:cNvSpPr txBox="1"/>
          <p:nvPr/>
        </p:nvSpPr>
        <p:spPr>
          <a:xfrm>
            <a:off x="259162" y="3926034"/>
            <a:ext cx="4193319"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NHN_HN_PrimaryDirectedNLFlow</a:t>
            </a:r>
          </a:p>
        </p:txBody>
      </p:sp>
      <p:cxnSp>
        <p:nvCxnSpPr>
          <p:cNvPr id="23" name="Straight Arrow Connector 22"/>
          <p:cNvCxnSpPr/>
          <p:nvPr/>
        </p:nvCxnSpPr>
        <p:spPr bwMode="auto">
          <a:xfrm>
            <a:off x="661737" y="4186384"/>
            <a:ext cx="253059" cy="676275"/>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24" name="Straight Arrow Connector 23"/>
          <p:cNvCxnSpPr/>
          <p:nvPr/>
        </p:nvCxnSpPr>
        <p:spPr bwMode="auto">
          <a:xfrm>
            <a:off x="2456782" y="4186384"/>
            <a:ext cx="521368" cy="512616"/>
          </a:xfrm>
          <a:prstGeom prst="straightConnector1">
            <a:avLst/>
          </a:prstGeom>
          <a:noFill/>
          <a:ln w="19050" cap="flat" cmpd="sng" algn="ctr">
            <a:solidFill>
              <a:srgbClr val="0000FF"/>
            </a:solidFill>
            <a:prstDash val="solid"/>
            <a:round/>
            <a:headEnd type="none" w="med" len="med"/>
            <a:tailEnd type="stealth" w="lg" len="lg"/>
          </a:ln>
          <a:effectLst/>
        </p:spPr>
      </p:cxnSp>
      <p:grpSp>
        <p:nvGrpSpPr>
          <p:cNvPr id="25" name="Group 24"/>
          <p:cNvGrpSpPr/>
          <p:nvPr/>
        </p:nvGrpSpPr>
        <p:grpSpPr>
          <a:xfrm>
            <a:off x="3679080" y="3164644"/>
            <a:ext cx="2118471" cy="524706"/>
            <a:chOff x="3679080" y="3164644"/>
            <a:chExt cx="2118471" cy="524706"/>
          </a:xfrm>
        </p:grpSpPr>
        <p:sp>
          <p:nvSpPr>
            <p:cNvPr id="26" name="TextBox 25"/>
            <p:cNvSpPr txBox="1"/>
            <p:nvPr/>
          </p:nvSpPr>
          <p:spPr>
            <a:xfrm>
              <a:off x="3679080" y="3164644"/>
              <a:ext cx="910057" cy="255336"/>
            </a:xfrm>
            <a:prstGeom prst="rect">
              <a:avLst/>
            </a:prstGeom>
            <a:noFill/>
            <a:effectLst/>
          </p:spPr>
          <p:txBody>
            <a:bodyPr wrap="square" lIns="0" tIns="0" rIns="0" bIns="0" rtlCol="0" anchor="ctr" anchorCtr="1">
              <a:norm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NHDPlus</a:t>
              </a:r>
            </a:p>
          </p:txBody>
        </p:sp>
        <p:sp>
          <p:nvSpPr>
            <p:cNvPr id="27" name="TextBox 26"/>
            <p:cNvSpPr txBox="1"/>
            <p:nvPr/>
          </p:nvSpPr>
          <p:spPr>
            <a:xfrm>
              <a:off x="4540652" y="3164644"/>
              <a:ext cx="706999"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AHGF</a:t>
              </a:r>
            </a:p>
          </p:txBody>
        </p:sp>
        <p:sp>
          <p:nvSpPr>
            <p:cNvPr id="28" name="TextBox 27"/>
            <p:cNvSpPr txBox="1"/>
            <p:nvPr/>
          </p:nvSpPr>
          <p:spPr>
            <a:xfrm>
              <a:off x="4053587" y="3380572"/>
              <a:ext cx="543813"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NHN</a:t>
              </a:r>
            </a:p>
          </p:txBody>
        </p:sp>
        <p:sp>
          <p:nvSpPr>
            <p:cNvPr id="29" name="TextBox 28"/>
            <p:cNvSpPr txBox="1"/>
            <p:nvPr/>
          </p:nvSpPr>
          <p:spPr>
            <a:xfrm>
              <a:off x="4603751" y="3318381"/>
              <a:ext cx="1193800" cy="370969"/>
            </a:xfrm>
            <a:prstGeom prst="rect">
              <a:avLst/>
            </a:prstGeom>
            <a:noFill/>
            <a:effectLst/>
          </p:spPr>
          <p:txBody>
            <a:bodyPr wrap="square" lIns="0" tIns="0" rIns="0" bIns="0" rtlCol="0" anchor="ctr" anchorCtr="1">
              <a:no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INSPIRE-Italy</a:t>
              </a:r>
            </a:p>
          </p:txBody>
        </p:sp>
      </p:grpSp>
      <p:sp>
        <p:nvSpPr>
          <p:cNvPr id="30" name="TextBox 29"/>
          <p:cNvSpPr txBox="1"/>
          <p:nvPr/>
        </p:nvSpPr>
        <p:spPr>
          <a:xfrm>
            <a:off x="4603753" y="3926034"/>
            <a:ext cx="2758274"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hy-p:SurfaceWaterL</a:t>
            </a:r>
          </a:p>
        </p:txBody>
      </p:sp>
      <p:cxnSp>
        <p:nvCxnSpPr>
          <p:cNvPr id="31" name="Straight Arrow Connector 30"/>
          <p:cNvCxnSpPr/>
          <p:nvPr/>
        </p:nvCxnSpPr>
        <p:spPr bwMode="auto">
          <a:xfrm flipH="1">
            <a:off x="5355771" y="4186384"/>
            <a:ext cx="289833" cy="450850"/>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32" name="Straight Arrow Connector 31"/>
          <p:cNvCxnSpPr/>
          <p:nvPr/>
        </p:nvCxnSpPr>
        <p:spPr bwMode="auto">
          <a:xfrm>
            <a:off x="6638056" y="4186384"/>
            <a:ext cx="154630" cy="450850"/>
          </a:xfrm>
          <a:prstGeom prst="straightConnector1">
            <a:avLst/>
          </a:prstGeom>
          <a:noFill/>
          <a:ln w="19050" cap="flat" cmpd="sng" algn="ctr">
            <a:solidFill>
              <a:srgbClr val="0000FF"/>
            </a:solidFill>
            <a:prstDash val="solid"/>
            <a:round/>
            <a:headEnd type="none" w="med" len="med"/>
            <a:tailEnd type="stealth" w="lg" len="lg"/>
          </a:ln>
          <a:effectLst/>
        </p:spPr>
      </p:cxnSp>
      <p:sp>
        <p:nvSpPr>
          <p:cNvPr id="33" name="TextBox 32"/>
          <p:cNvSpPr txBox="1"/>
          <p:nvPr/>
        </p:nvSpPr>
        <p:spPr>
          <a:xfrm>
            <a:off x="4988141" y="431800"/>
            <a:ext cx="1314926"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0000FF"/>
                </a:solidFill>
                <a:ea typeface="+mn-ea"/>
                <a:cs typeface="+mn-cs"/>
              </a:rPr>
              <a:t>AHGFLink</a:t>
            </a:r>
          </a:p>
        </p:txBody>
      </p:sp>
      <p:cxnSp>
        <p:nvCxnSpPr>
          <p:cNvPr id="34" name="Straight Arrow Connector 33"/>
          <p:cNvCxnSpPr/>
          <p:nvPr/>
        </p:nvCxnSpPr>
        <p:spPr bwMode="auto">
          <a:xfrm flipH="1">
            <a:off x="5222251" y="704850"/>
            <a:ext cx="224744" cy="412750"/>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35" name="Straight Arrow Connector 34"/>
          <p:cNvCxnSpPr>
            <a:stCxn id="33" idx="3"/>
          </p:cNvCxnSpPr>
          <p:nvPr/>
        </p:nvCxnSpPr>
        <p:spPr bwMode="auto">
          <a:xfrm>
            <a:off x="6303067" y="561975"/>
            <a:ext cx="334989" cy="206375"/>
          </a:xfrm>
          <a:prstGeom prst="straightConnector1">
            <a:avLst/>
          </a:prstGeom>
          <a:noFill/>
          <a:ln w="19050" cap="flat" cmpd="sng" algn="ctr">
            <a:solidFill>
              <a:srgbClr val="0000FF"/>
            </a:solidFill>
            <a:prstDash val="solid"/>
            <a:round/>
            <a:headEnd type="none" w="med" len="med"/>
            <a:tailEnd type="stealth" w="lg" len="lg"/>
          </a:ln>
          <a:effectLst/>
        </p:spPr>
      </p:cxnSp>
      <p:sp>
        <p:nvSpPr>
          <p:cNvPr id="36" name="TextBox 35"/>
          <p:cNvSpPr txBox="1"/>
          <p:nvPr/>
        </p:nvSpPr>
        <p:spPr>
          <a:xfrm>
            <a:off x="7194550" y="301625"/>
            <a:ext cx="1426267"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0000FF"/>
                </a:solidFill>
                <a:ea typeface="+mn-ea"/>
                <a:cs typeface="+mn-cs"/>
              </a:rPr>
              <a:t>AHGFNode</a:t>
            </a:r>
          </a:p>
        </p:txBody>
      </p:sp>
      <p:cxnSp>
        <p:nvCxnSpPr>
          <p:cNvPr id="37" name="Straight Arrow Connector 36"/>
          <p:cNvCxnSpPr/>
          <p:nvPr/>
        </p:nvCxnSpPr>
        <p:spPr bwMode="auto">
          <a:xfrm flipH="1">
            <a:off x="7245350" y="561975"/>
            <a:ext cx="353596" cy="282575"/>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40" name="Straight Arrow Connector 39"/>
          <p:cNvCxnSpPr/>
          <p:nvPr/>
        </p:nvCxnSpPr>
        <p:spPr bwMode="auto">
          <a:xfrm flipH="1">
            <a:off x="6889750" y="441325"/>
            <a:ext cx="304800" cy="92075"/>
          </a:xfrm>
          <a:prstGeom prst="straightConnector1">
            <a:avLst/>
          </a:prstGeom>
          <a:noFill/>
          <a:ln w="19050" cap="flat" cmpd="sng" algn="ctr">
            <a:solidFill>
              <a:srgbClr val="0000FF"/>
            </a:solidFill>
            <a:prstDash val="solid"/>
            <a:round/>
            <a:headEnd type="none" w="med" len="med"/>
            <a:tailEnd type="stealth" w="lg" len="lg"/>
          </a:ln>
          <a:effectLst/>
        </p:spPr>
      </p:cxnSp>
    </p:spTree>
    <p:extLst>
      <p:ext uri="{BB962C8B-B14F-4D97-AF65-F5344CB8AC3E}">
        <p14:creationId xmlns:p14="http://schemas.microsoft.com/office/powerpoint/2010/main" val="2960718448"/>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HGF2-flowlines,waterbodie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6981" y="1"/>
            <a:ext cx="4540246" cy="3419980"/>
          </a:xfrm>
          <a:prstGeom prst="rect">
            <a:avLst/>
          </a:prstGeom>
        </p:spPr>
      </p:pic>
      <p:pic>
        <p:nvPicPr>
          <p:cNvPr id="14" name="Picture 13" descr="Italy-03-flowlines,waterbodie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0" y="3419981"/>
            <a:ext cx="4567587" cy="3438018"/>
          </a:xfrm>
          <a:prstGeom prst="rect">
            <a:avLst/>
          </a:prstGeom>
        </p:spPr>
      </p:pic>
      <p:pic>
        <p:nvPicPr>
          <p:cNvPr id="4" name="Picture 3" descr="NHN-03-flowlines,waterbodies.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99" y="3419981"/>
            <a:ext cx="4614135" cy="3438019"/>
          </a:xfrm>
          <a:prstGeom prst="rect">
            <a:avLst/>
          </a:prstGeom>
        </p:spPr>
      </p:pic>
      <p:pic>
        <p:nvPicPr>
          <p:cNvPr id="3" name="Picture 2" descr="US-NHDPlus-Souris-flowlines,waterbodies.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
            <a:ext cx="4597858" cy="3419981"/>
          </a:xfrm>
          <a:prstGeom prst="rect">
            <a:avLst/>
          </a:prstGeom>
        </p:spPr>
      </p:pic>
      <p:grpSp>
        <p:nvGrpSpPr>
          <p:cNvPr id="11" name="Group 10"/>
          <p:cNvGrpSpPr/>
          <p:nvPr/>
        </p:nvGrpSpPr>
        <p:grpSpPr>
          <a:xfrm>
            <a:off x="0" y="0"/>
            <a:ext cx="9144001" cy="6858000"/>
            <a:chOff x="0" y="0"/>
            <a:chExt cx="9144001" cy="6858000"/>
          </a:xfrm>
        </p:grpSpPr>
        <p:cxnSp>
          <p:nvCxnSpPr>
            <p:cNvPr id="6" name="Straight Connector 5"/>
            <p:cNvCxnSpPr/>
            <p:nvPr/>
          </p:nvCxnSpPr>
          <p:spPr bwMode="auto">
            <a:xfrm>
              <a:off x="4589137" y="0"/>
              <a:ext cx="0" cy="6858000"/>
            </a:xfrm>
            <a:prstGeom prst="line">
              <a:avLst/>
            </a:prstGeom>
            <a:noFill/>
            <a:ln w="19050" cap="flat" cmpd="sng" algn="ctr">
              <a:solidFill>
                <a:schemeClr val="tx2"/>
              </a:solidFill>
              <a:prstDash val="solid"/>
              <a:round/>
              <a:headEnd type="none" w="med" len="med"/>
              <a:tailEnd type="none" w="med" len="med"/>
            </a:ln>
            <a:effectLst/>
          </p:spPr>
        </p:cxnSp>
        <p:cxnSp>
          <p:nvCxnSpPr>
            <p:cNvPr id="8" name="Straight Connector 7"/>
            <p:cNvCxnSpPr/>
            <p:nvPr/>
          </p:nvCxnSpPr>
          <p:spPr bwMode="auto">
            <a:xfrm flipH="1">
              <a:off x="0" y="3419981"/>
              <a:ext cx="9144001" cy="0"/>
            </a:xfrm>
            <a:prstGeom prst="line">
              <a:avLst/>
            </a:prstGeom>
            <a:noFill/>
            <a:ln w="19050" cap="flat" cmpd="sng" algn="ctr">
              <a:solidFill>
                <a:schemeClr val="tx2"/>
              </a:solidFill>
              <a:prstDash val="solid"/>
              <a:round/>
              <a:headEnd type="none" w="med" len="med"/>
              <a:tailEnd type="none" w="med" len="med"/>
            </a:ln>
            <a:effectLst/>
          </p:spPr>
        </p:cxnSp>
      </p:grpSp>
      <p:sp>
        <p:nvSpPr>
          <p:cNvPr id="7" name="TextBox 6"/>
          <p:cNvSpPr txBox="1"/>
          <p:nvPr/>
        </p:nvSpPr>
        <p:spPr>
          <a:xfrm>
            <a:off x="1155700" y="844550"/>
            <a:ext cx="1200150"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rgbClr val="595959"/>
                </a:solidFill>
                <a:ea typeface="+mn-ea"/>
                <a:cs typeface="+mn-cs"/>
              </a:rPr>
              <a:t>Flowline</a:t>
            </a:r>
          </a:p>
        </p:txBody>
      </p:sp>
      <p:cxnSp>
        <p:nvCxnSpPr>
          <p:cNvPr id="9" name="Straight Arrow Connector 8"/>
          <p:cNvCxnSpPr/>
          <p:nvPr/>
        </p:nvCxnSpPr>
        <p:spPr bwMode="auto">
          <a:xfrm flipH="1">
            <a:off x="1543050" y="1104900"/>
            <a:ext cx="95250" cy="450850"/>
          </a:xfrm>
          <a:prstGeom prst="straightConnector1">
            <a:avLst/>
          </a:prstGeom>
          <a:noFill/>
          <a:ln w="19050" cap="flat" cmpd="sng" algn="ctr">
            <a:solidFill>
              <a:srgbClr val="595959"/>
            </a:solidFill>
            <a:prstDash val="solid"/>
            <a:round/>
            <a:headEnd type="none" w="med" len="med"/>
            <a:tailEnd type="stealth" w="lg" len="lg"/>
          </a:ln>
          <a:effectLst/>
        </p:spPr>
      </p:cxnSp>
      <p:cxnSp>
        <p:nvCxnSpPr>
          <p:cNvPr id="10" name="Straight Arrow Connector 9"/>
          <p:cNvCxnSpPr/>
          <p:nvPr/>
        </p:nvCxnSpPr>
        <p:spPr bwMode="auto">
          <a:xfrm flipV="1">
            <a:off x="2393950" y="768350"/>
            <a:ext cx="584200" cy="127000"/>
          </a:xfrm>
          <a:prstGeom prst="straightConnector1">
            <a:avLst/>
          </a:prstGeom>
          <a:noFill/>
          <a:ln w="19050" cap="flat" cmpd="sng" algn="ctr">
            <a:solidFill>
              <a:srgbClr val="595959"/>
            </a:solidFill>
            <a:prstDash val="solid"/>
            <a:round/>
            <a:headEnd type="none" w="med" len="med"/>
            <a:tailEnd type="stealth" w="lg" len="lg"/>
          </a:ln>
          <a:effectLst/>
        </p:spPr>
      </p:cxnSp>
      <p:sp>
        <p:nvSpPr>
          <p:cNvPr id="12" name="TextBox 11"/>
          <p:cNvSpPr txBox="1"/>
          <p:nvPr/>
        </p:nvSpPr>
        <p:spPr>
          <a:xfrm>
            <a:off x="1359893" y="1880240"/>
            <a:ext cx="1587539"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Waterbody</a:t>
            </a:r>
          </a:p>
        </p:txBody>
      </p:sp>
      <p:cxnSp>
        <p:nvCxnSpPr>
          <p:cNvPr id="13" name="Straight Arrow Connector 12"/>
          <p:cNvCxnSpPr/>
          <p:nvPr/>
        </p:nvCxnSpPr>
        <p:spPr bwMode="auto">
          <a:xfrm flipV="1">
            <a:off x="2978150" y="1765557"/>
            <a:ext cx="514608" cy="153167"/>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18" name="Straight Arrow Connector 17"/>
          <p:cNvCxnSpPr/>
          <p:nvPr/>
        </p:nvCxnSpPr>
        <p:spPr bwMode="auto">
          <a:xfrm flipV="1">
            <a:off x="2364511" y="1663700"/>
            <a:ext cx="613639" cy="214454"/>
          </a:xfrm>
          <a:prstGeom prst="straightConnector1">
            <a:avLst/>
          </a:prstGeom>
          <a:noFill/>
          <a:ln w="19050" cap="flat" cmpd="sng" algn="ctr">
            <a:solidFill>
              <a:srgbClr val="0000FF"/>
            </a:solidFill>
            <a:prstDash val="solid"/>
            <a:round/>
            <a:headEnd type="none" w="med" len="med"/>
            <a:tailEnd type="stealth" w="lg" len="lg"/>
          </a:ln>
          <a:effectLst/>
        </p:spPr>
      </p:cxnSp>
      <p:sp>
        <p:nvSpPr>
          <p:cNvPr id="30" name="TextBox 29"/>
          <p:cNvSpPr txBox="1"/>
          <p:nvPr/>
        </p:nvSpPr>
        <p:spPr>
          <a:xfrm>
            <a:off x="661737" y="5359871"/>
            <a:ext cx="2634651"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NHD_HD_Waterbody</a:t>
            </a:r>
          </a:p>
        </p:txBody>
      </p:sp>
      <p:cxnSp>
        <p:nvCxnSpPr>
          <p:cNvPr id="31" name="Straight Arrow Connector 30"/>
          <p:cNvCxnSpPr/>
          <p:nvPr/>
        </p:nvCxnSpPr>
        <p:spPr bwMode="auto">
          <a:xfrm flipV="1">
            <a:off x="2339080" y="4926263"/>
            <a:ext cx="608352" cy="426714"/>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32" name="Straight Arrow Connector 31"/>
          <p:cNvCxnSpPr/>
          <p:nvPr/>
        </p:nvCxnSpPr>
        <p:spPr bwMode="auto">
          <a:xfrm flipV="1">
            <a:off x="1725441" y="4993105"/>
            <a:ext cx="146138" cy="319301"/>
          </a:xfrm>
          <a:prstGeom prst="straightConnector1">
            <a:avLst/>
          </a:prstGeom>
          <a:noFill/>
          <a:ln w="19050" cap="flat" cmpd="sng" algn="ctr">
            <a:solidFill>
              <a:srgbClr val="0000FF"/>
            </a:solidFill>
            <a:prstDash val="solid"/>
            <a:round/>
            <a:headEnd type="none" w="med" len="med"/>
            <a:tailEnd type="stealth" w="lg" len="lg"/>
          </a:ln>
          <a:effectLst/>
        </p:spPr>
      </p:cxnSp>
      <p:sp>
        <p:nvSpPr>
          <p:cNvPr id="38" name="TextBox 37"/>
          <p:cNvSpPr txBox="1"/>
          <p:nvPr/>
        </p:nvSpPr>
        <p:spPr>
          <a:xfrm>
            <a:off x="259162" y="3926034"/>
            <a:ext cx="4193319"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chemeClr val="tx1">
                    <a:lumMod val="65000"/>
                    <a:lumOff val="35000"/>
                  </a:schemeClr>
                </a:solidFill>
                <a:ea typeface="+mn-ea"/>
                <a:cs typeface="+mn-cs"/>
              </a:rPr>
              <a:t>NHN_HN_PrimaryDirectedNLFlow</a:t>
            </a:r>
          </a:p>
        </p:txBody>
      </p:sp>
      <p:cxnSp>
        <p:nvCxnSpPr>
          <p:cNvPr id="39" name="Straight Arrow Connector 38"/>
          <p:cNvCxnSpPr/>
          <p:nvPr/>
        </p:nvCxnSpPr>
        <p:spPr bwMode="auto">
          <a:xfrm>
            <a:off x="661737" y="4186384"/>
            <a:ext cx="253059" cy="676275"/>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cxnSp>
        <p:nvCxnSpPr>
          <p:cNvPr id="40" name="Straight Arrow Connector 39"/>
          <p:cNvCxnSpPr/>
          <p:nvPr/>
        </p:nvCxnSpPr>
        <p:spPr bwMode="auto">
          <a:xfrm>
            <a:off x="2456782" y="4186384"/>
            <a:ext cx="521368" cy="512616"/>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grpSp>
        <p:nvGrpSpPr>
          <p:cNvPr id="41" name="Group 40"/>
          <p:cNvGrpSpPr/>
          <p:nvPr/>
        </p:nvGrpSpPr>
        <p:grpSpPr>
          <a:xfrm>
            <a:off x="3679080" y="3164644"/>
            <a:ext cx="2118471" cy="524706"/>
            <a:chOff x="3679080" y="3164644"/>
            <a:chExt cx="2118471" cy="524706"/>
          </a:xfrm>
        </p:grpSpPr>
        <p:sp>
          <p:nvSpPr>
            <p:cNvPr id="42" name="TextBox 41"/>
            <p:cNvSpPr txBox="1"/>
            <p:nvPr/>
          </p:nvSpPr>
          <p:spPr>
            <a:xfrm>
              <a:off x="3679080" y="3164644"/>
              <a:ext cx="910057" cy="255336"/>
            </a:xfrm>
            <a:prstGeom prst="rect">
              <a:avLst/>
            </a:prstGeom>
            <a:noFill/>
            <a:effectLst/>
          </p:spPr>
          <p:txBody>
            <a:bodyPr wrap="square" lIns="0" tIns="0" rIns="0" bIns="0" rtlCol="0" anchor="ctr" anchorCtr="1">
              <a:norm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NHDPlus</a:t>
              </a:r>
            </a:p>
          </p:txBody>
        </p:sp>
        <p:sp>
          <p:nvSpPr>
            <p:cNvPr id="43" name="TextBox 42"/>
            <p:cNvSpPr txBox="1"/>
            <p:nvPr/>
          </p:nvSpPr>
          <p:spPr>
            <a:xfrm>
              <a:off x="4540652" y="3164644"/>
              <a:ext cx="706999"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AHGF</a:t>
              </a:r>
            </a:p>
          </p:txBody>
        </p:sp>
        <p:sp>
          <p:nvSpPr>
            <p:cNvPr id="44" name="TextBox 43"/>
            <p:cNvSpPr txBox="1"/>
            <p:nvPr/>
          </p:nvSpPr>
          <p:spPr>
            <a:xfrm>
              <a:off x="4053587" y="3380572"/>
              <a:ext cx="543813"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NHN</a:t>
              </a:r>
            </a:p>
          </p:txBody>
        </p:sp>
        <p:sp>
          <p:nvSpPr>
            <p:cNvPr id="45" name="TextBox 44"/>
            <p:cNvSpPr txBox="1"/>
            <p:nvPr/>
          </p:nvSpPr>
          <p:spPr>
            <a:xfrm>
              <a:off x="4603751" y="3318381"/>
              <a:ext cx="1193800" cy="370969"/>
            </a:xfrm>
            <a:prstGeom prst="rect">
              <a:avLst/>
            </a:prstGeom>
            <a:noFill/>
            <a:effectLst/>
          </p:spPr>
          <p:txBody>
            <a:bodyPr wrap="square" lIns="0" tIns="0" rIns="0" bIns="0" rtlCol="0" anchor="ctr" anchorCtr="1">
              <a:no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INSPIRE-Italy</a:t>
              </a:r>
            </a:p>
          </p:txBody>
        </p:sp>
      </p:grpSp>
      <p:cxnSp>
        <p:nvCxnSpPr>
          <p:cNvPr id="46" name="Straight Arrow Connector 45"/>
          <p:cNvCxnSpPr/>
          <p:nvPr/>
        </p:nvCxnSpPr>
        <p:spPr bwMode="auto">
          <a:xfrm flipH="1" flipV="1">
            <a:off x="6741886" y="5696857"/>
            <a:ext cx="316640" cy="465292"/>
          </a:xfrm>
          <a:prstGeom prst="straightConnector1">
            <a:avLst/>
          </a:prstGeom>
          <a:noFill/>
          <a:ln w="19050" cap="flat" cmpd="sng" algn="ctr">
            <a:solidFill>
              <a:srgbClr val="0000FF"/>
            </a:solidFill>
            <a:prstDash val="solid"/>
            <a:round/>
            <a:headEnd type="none" w="med" len="med"/>
            <a:tailEnd type="stealth" w="lg" len="lg"/>
          </a:ln>
          <a:effectLst/>
        </p:spPr>
      </p:cxnSp>
      <p:sp>
        <p:nvSpPr>
          <p:cNvPr id="48" name="TextBox 47"/>
          <p:cNvSpPr txBox="1"/>
          <p:nvPr/>
        </p:nvSpPr>
        <p:spPr>
          <a:xfrm>
            <a:off x="5566229" y="6175416"/>
            <a:ext cx="2488245"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hy-p:SurfaceWaterS</a:t>
            </a:r>
          </a:p>
        </p:txBody>
      </p:sp>
      <p:sp>
        <p:nvSpPr>
          <p:cNvPr id="49" name="TextBox 48"/>
          <p:cNvSpPr txBox="1"/>
          <p:nvPr/>
        </p:nvSpPr>
        <p:spPr>
          <a:xfrm>
            <a:off x="4603753" y="3926034"/>
            <a:ext cx="2758274" cy="260350"/>
          </a:xfrm>
          <a:prstGeom prst="rect">
            <a:avLst/>
          </a:prstGeom>
          <a:solidFill>
            <a:schemeClr val="bg1">
              <a:alpha val="68000"/>
            </a:schemeClr>
          </a:solidFill>
          <a:effectLst/>
        </p:spPr>
        <p:txBody>
          <a:bodyPr wrap="square" lIns="0" tIns="0" rIns="0" bIns="0" rtlCol="0">
            <a:noAutofit/>
          </a:bodyPr>
          <a:lstStyle/>
          <a:p>
            <a:pPr algn="ctr" eaLnBrk="0" hangingPunct="0">
              <a:lnSpc>
                <a:spcPts val="1800"/>
              </a:lnSpc>
            </a:pPr>
            <a:r>
              <a:rPr lang="en-US" sz="2000" b="1" dirty="0" smtClean="0">
                <a:solidFill>
                  <a:srgbClr val="595959"/>
                </a:solidFill>
                <a:ea typeface="+mn-ea"/>
                <a:cs typeface="+mn-cs"/>
              </a:rPr>
              <a:t>hy-p:SurfaceWaterL</a:t>
            </a:r>
          </a:p>
        </p:txBody>
      </p:sp>
      <p:cxnSp>
        <p:nvCxnSpPr>
          <p:cNvPr id="50" name="Straight Arrow Connector 49"/>
          <p:cNvCxnSpPr/>
          <p:nvPr/>
        </p:nvCxnSpPr>
        <p:spPr bwMode="auto">
          <a:xfrm flipH="1">
            <a:off x="5355771" y="4186384"/>
            <a:ext cx="289833" cy="450850"/>
          </a:xfrm>
          <a:prstGeom prst="straightConnector1">
            <a:avLst/>
          </a:prstGeom>
          <a:noFill/>
          <a:ln w="19050" cap="flat" cmpd="sng" algn="ctr">
            <a:solidFill>
              <a:srgbClr val="595959"/>
            </a:solidFill>
            <a:prstDash val="solid"/>
            <a:round/>
            <a:headEnd type="none" w="med" len="med"/>
            <a:tailEnd type="stealth" w="lg" len="lg"/>
          </a:ln>
          <a:effectLst/>
        </p:spPr>
      </p:cxnSp>
      <p:cxnSp>
        <p:nvCxnSpPr>
          <p:cNvPr id="51" name="Straight Arrow Connector 50"/>
          <p:cNvCxnSpPr/>
          <p:nvPr/>
        </p:nvCxnSpPr>
        <p:spPr bwMode="auto">
          <a:xfrm>
            <a:off x="6638056" y="4186384"/>
            <a:ext cx="154630" cy="450850"/>
          </a:xfrm>
          <a:prstGeom prst="straightConnector1">
            <a:avLst/>
          </a:prstGeom>
          <a:noFill/>
          <a:ln w="19050" cap="flat" cmpd="sng" algn="ctr">
            <a:solidFill>
              <a:srgbClr val="595959"/>
            </a:solidFill>
            <a:prstDash val="solid"/>
            <a:round/>
            <a:headEnd type="none" w="med" len="med"/>
            <a:tailEnd type="stealth" w="lg" len="lg"/>
          </a:ln>
          <a:effectLst/>
        </p:spPr>
      </p:cxnSp>
      <p:sp>
        <p:nvSpPr>
          <p:cNvPr id="47" name="TextBox 46"/>
          <p:cNvSpPr txBox="1"/>
          <p:nvPr/>
        </p:nvSpPr>
        <p:spPr>
          <a:xfrm>
            <a:off x="5300353" y="1425575"/>
            <a:ext cx="2758274"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595959"/>
                </a:solidFill>
                <a:ea typeface="+mn-ea"/>
                <a:cs typeface="+mn-cs"/>
              </a:rPr>
              <a:t>AHGFNetworkStream</a:t>
            </a:r>
          </a:p>
        </p:txBody>
      </p:sp>
      <p:cxnSp>
        <p:nvCxnSpPr>
          <p:cNvPr id="52" name="Straight Arrow Connector 51"/>
          <p:cNvCxnSpPr/>
          <p:nvPr/>
        </p:nvCxnSpPr>
        <p:spPr bwMode="auto">
          <a:xfrm flipH="1">
            <a:off x="6184900" y="1708150"/>
            <a:ext cx="224743" cy="450850"/>
          </a:xfrm>
          <a:prstGeom prst="straightConnector1">
            <a:avLst/>
          </a:prstGeom>
          <a:noFill/>
          <a:ln w="19050" cap="flat" cmpd="sng" algn="ctr">
            <a:solidFill>
              <a:srgbClr val="595959"/>
            </a:solidFill>
            <a:prstDash val="solid"/>
            <a:round/>
            <a:headEnd type="none" w="med" len="med"/>
            <a:tailEnd type="stealth" w="lg" len="lg"/>
          </a:ln>
          <a:effectLst/>
        </p:spPr>
      </p:cxnSp>
      <p:cxnSp>
        <p:nvCxnSpPr>
          <p:cNvPr id="53" name="Straight Arrow Connector 52"/>
          <p:cNvCxnSpPr/>
          <p:nvPr/>
        </p:nvCxnSpPr>
        <p:spPr bwMode="auto">
          <a:xfrm flipH="1">
            <a:off x="7480300" y="1708150"/>
            <a:ext cx="124995" cy="368300"/>
          </a:xfrm>
          <a:prstGeom prst="straightConnector1">
            <a:avLst/>
          </a:prstGeom>
          <a:noFill/>
          <a:ln w="19050" cap="flat" cmpd="sng" algn="ctr">
            <a:solidFill>
              <a:srgbClr val="595959"/>
            </a:solidFill>
            <a:prstDash val="solid"/>
            <a:round/>
            <a:headEnd type="none" w="med" len="med"/>
            <a:tailEnd type="stealth" w="lg" len="lg"/>
          </a:ln>
          <a:effectLst/>
        </p:spPr>
      </p:cxnSp>
      <p:sp>
        <p:nvSpPr>
          <p:cNvPr id="54" name="TextBox 53"/>
          <p:cNvSpPr txBox="1"/>
          <p:nvPr/>
        </p:nvSpPr>
        <p:spPr>
          <a:xfrm>
            <a:off x="4988141" y="431800"/>
            <a:ext cx="1314926"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595959"/>
                </a:solidFill>
                <a:ea typeface="+mn-ea"/>
                <a:cs typeface="+mn-cs"/>
              </a:rPr>
              <a:t>AHGFLink</a:t>
            </a:r>
          </a:p>
        </p:txBody>
      </p:sp>
      <p:cxnSp>
        <p:nvCxnSpPr>
          <p:cNvPr id="55" name="Straight Arrow Connector 54"/>
          <p:cNvCxnSpPr/>
          <p:nvPr/>
        </p:nvCxnSpPr>
        <p:spPr bwMode="auto">
          <a:xfrm flipH="1">
            <a:off x="5222251" y="704850"/>
            <a:ext cx="224744" cy="412750"/>
          </a:xfrm>
          <a:prstGeom prst="straightConnector1">
            <a:avLst/>
          </a:prstGeom>
          <a:noFill/>
          <a:ln w="19050" cap="flat" cmpd="sng" algn="ctr">
            <a:solidFill>
              <a:srgbClr val="595959"/>
            </a:solidFill>
            <a:prstDash val="solid"/>
            <a:round/>
            <a:headEnd type="none" w="med" len="med"/>
            <a:tailEnd type="stealth" w="lg" len="lg"/>
          </a:ln>
          <a:effectLst/>
        </p:spPr>
      </p:cxnSp>
      <p:cxnSp>
        <p:nvCxnSpPr>
          <p:cNvPr id="56" name="Straight Arrow Connector 55"/>
          <p:cNvCxnSpPr>
            <a:stCxn id="54" idx="3"/>
          </p:cNvCxnSpPr>
          <p:nvPr/>
        </p:nvCxnSpPr>
        <p:spPr bwMode="auto">
          <a:xfrm>
            <a:off x="6303067" y="561975"/>
            <a:ext cx="334989" cy="206375"/>
          </a:xfrm>
          <a:prstGeom prst="straightConnector1">
            <a:avLst/>
          </a:prstGeom>
          <a:noFill/>
          <a:ln w="19050" cap="flat" cmpd="sng" algn="ctr">
            <a:solidFill>
              <a:srgbClr val="595959"/>
            </a:solidFill>
            <a:prstDash val="solid"/>
            <a:round/>
            <a:headEnd type="none" w="med" len="med"/>
            <a:tailEnd type="stealth" w="lg" len="lg"/>
          </a:ln>
          <a:effectLst/>
        </p:spPr>
      </p:cxnSp>
      <p:sp>
        <p:nvSpPr>
          <p:cNvPr id="57" name="TextBox 56"/>
          <p:cNvSpPr txBox="1"/>
          <p:nvPr/>
        </p:nvSpPr>
        <p:spPr>
          <a:xfrm>
            <a:off x="7194550" y="301625"/>
            <a:ext cx="1426267"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595959"/>
                </a:solidFill>
                <a:ea typeface="+mn-ea"/>
                <a:cs typeface="+mn-cs"/>
              </a:rPr>
              <a:t>AHGFNode</a:t>
            </a:r>
          </a:p>
        </p:txBody>
      </p:sp>
      <p:cxnSp>
        <p:nvCxnSpPr>
          <p:cNvPr id="58" name="Straight Arrow Connector 57"/>
          <p:cNvCxnSpPr/>
          <p:nvPr/>
        </p:nvCxnSpPr>
        <p:spPr bwMode="auto">
          <a:xfrm flipH="1">
            <a:off x="7245350" y="561975"/>
            <a:ext cx="353596" cy="282575"/>
          </a:xfrm>
          <a:prstGeom prst="straightConnector1">
            <a:avLst/>
          </a:prstGeom>
          <a:noFill/>
          <a:ln w="19050" cap="flat" cmpd="sng" algn="ctr">
            <a:solidFill>
              <a:srgbClr val="595959"/>
            </a:solidFill>
            <a:prstDash val="solid"/>
            <a:round/>
            <a:headEnd type="none" w="med" len="med"/>
            <a:tailEnd type="stealth" w="lg" len="lg"/>
          </a:ln>
          <a:effectLst/>
        </p:spPr>
      </p:cxnSp>
      <p:cxnSp>
        <p:nvCxnSpPr>
          <p:cNvPr id="59" name="Straight Arrow Connector 58"/>
          <p:cNvCxnSpPr/>
          <p:nvPr/>
        </p:nvCxnSpPr>
        <p:spPr bwMode="auto">
          <a:xfrm flipH="1">
            <a:off x="6889750" y="441325"/>
            <a:ext cx="304800" cy="92075"/>
          </a:xfrm>
          <a:prstGeom prst="straightConnector1">
            <a:avLst/>
          </a:prstGeom>
          <a:noFill/>
          <a:ln w="19050" cap="flat" cmpd="sng" algn="ctr">
            <a:solidFill>
              <a:srgbClr val="595959"/>
            </a:solidFill>
            <a:prstDash val="solid"/>
            <a:round/>
            <a:headEnd type="none" w="med" len="med"/>
            <a:tailEnd type="stealth" w="lg" len="lg"/>
          </a:ln>
          <a:effectLst/>
        </p:spPr>
      </p:cxnSp>
      <p:sp>
        <p:nvSpPr>
          <p:cNvPr id="60" name="TextBox 59"/>
          <p:cNvSpPr txBox="1"/>
          <p:nvPr/>
        </p:nvSpPr>
        <p:spPr>
          <a:xfrm>
            <a:off x="6409643" y="2416815"/>
            <a:ext cx="2214844"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0000FF"/>
                </a:solidFill>
                <a:ea typeface="+mn-ea"/>
                <a:cs typeface="+mn-cs"/>
              </a:rPr>
              <a:t>AHGFWaterbody</a:t>
            </a:r>
          </a:p>
        </p:txBody>
      </p:sp>
      <p:cxnSp>
        <p:nvCxnSpPr>
          <p:cNvPr id="61" name="Straight Arrow Connector 60"/>
          <p:cNvCxnSpPr/>
          <p:nvPr/>
        </p:nvCxnSpPr>
        <p:spPr bwMode="auto">
          <a:xfrm flipH="1" flipV="1">
            <a:off x="8140700" y="2076450"/>
            <a:ext cx="67262" cy="340366"/>
          </a:xfrm>
          <a:prstGeom prst="straightConnector1">
            <a:avLst/>
          </a:prstGeom>
          <a:noFill/>
          <a:ln w="19050" cap="flat" cmpd="sng" algn="ctr">
            <a:solidFill>
              <a:srgbClr val="0000FF"/>
            </a:solidFill>
            <a:prstDash val="solid"/>
            <a:round/>
            <a:headEnd type="none" w="med" len="med"/>
            <a:tailEnd type="stealth" w="lg" len="lg"/>
          </a:ln>
          <a:effectLst/>
        </p:spPr>
      </p:cxnSp>
    </p:spTree>
    <p:extLst>
      <p:ext uri="{BB962C8B-B14F-4D97-AF65-F5344CB8AC3E}">
        <p14:creationId xmlns:p14="http://schemas.microsoft.com/office/powerpoint/2010/main" val="2711938377"/>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8084503" cy="484632"/>
          </a:xfrm>
        </p:spPr>
        <p:txBody>
          <a:bodyPr/>
          <a:lstStyle/>
          <a:p>
            <a:r>
              <a:rPr lang="en-US" sz="3200"/>
              <a:t>Catchments vs. Basins to a hydrologist</a:t>
            </a:r>
            <a:endParaRPr lang="en-US" sz="3200" b="0"/>
          </a:p>
        </p:txBody>
      </p:sp>
      <p:sp>
        <p:nvSpPr>
          <p:cNvPr id="3" name="Content Placeholder 2"/>
          <p:cNvSpPr>
            <a:spLocks noGrp="1"/>
          </p:cNvSpPr>
          <p:nvPr>
            <p:ph sz="quarter" idx="10"/>
          </p:nvPr>
        </p:nvSpPr>
        <p:spPr>
          <a:xfrm>
            <a:off x="685800" y="1620838"/>
            <a:ext cx="7722937" cy="3956050"/>
          </a:xfrm>
        </p:spPr>
        <p:txBody>
          <a:bodyPr/>
          <a:lstStyle/>
          <a:p>
            <a:r>
              <a:rPr lang="en-US"/>
              <a:t>NHDPlus and AHGF have the concept </a:t>
            </a:r>
            <a:r>
              <a:rPr lang="en-US" b="1">
                <a:solidFill>
                  <a:schemeClr val="accent4">
                    <a:lumMod val="50000"/>
                  </a:schemeClr>
                </a:solidFill>
              </a:rPr>
              <a:t>Reach Catchment </a:t>
            </a:r>
            <a:r>
              <a:rPr lang="en-US"/>
              <a:t>to mean the local drainage area of a single flowline.</a:t>
            </a:r>
          </a:p>
          <a:p>
            <a:r>
              <a:rPr lang="en-US"/>
              <a:t>NHDPlus uses the term </a:t>
            </a:r>
            <a:r>
              <a:rPr lang="en-US" b="1">
                <a:solidFill>
                  <a:srgbClr val="16618C"/>
                </a:solidFill>
              </a:rPr>
              <a:t>Basin</a:t>
            </a:r>
            <a:r>
              <a:rPr lang="en-US">
                <a:solidFill>
                  <a:srgbClr val="16618C"/>
                </a:solidFill>
              </a:rPr>
              <a:t> </a:t>
            </a:r>
            <a:r>
              <a:rPr lang="en-US"/>
              <a:t>to mean a drainage area defined by human means like HUC units.  </a:t>
            </a:r>
          </a:p>
          <a:p>
            <a:r>
              <a:rPr lang="en-US" b="1">
                <a:solidFill>
                  <a:srgbClr val="16618C"/>
                </a:solidFill>
              </a:rPr>
              <a:t>Catchment</a:t>
            </a:r>
            <a:r>
              <a:rPr lang="en-US">
                <a:solidFill>
                  <a:srgbClr val="16618C"/>
                </a:solidFill>
              </a:rPr>
              <a:t> </a:t>
            </a:r>
            <a:r>
              <a:rPr lang="en-US"/>
              <a:t>is considered to be a synonym of </a:t>
            </a:r>
            <a:r>
              <a:rPr lang="en-US" b="1">
                <a:solidFill>
                  <a:srgbClr val="16618C"/>
                </a:solidFill>
              </a:rPr>
              <a:t>Basin</a:t>
            </a:r>
            <a:r>
              <a:rPr lang="en-US"/>
              <a:t>.</a:t>
            </a:r>
          </a:p>
        </p:txBody>
      </p:sp>
    </p:spTree>
    <p:extLst>
      <p:ext uri="{BB962C8B-B14F-4D97-AF65-F5344CB8AC3E}">
        <p14:creationId xmlns:p14="http://schemas.microsoft.com/office/powerpoint/2010/main" val="210310946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descr="AHGF2-catchments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9135" y="0"/>
            <a:ext cx="4568519" cy="3419981"/>
          </a:xfrm>
          <a:prstGeom prst="rect">
            <a:avLst/>
          </a:prstGeom>
        </p:spPr>
      </p:pic>
      <p:pic>
        <p:nvPicPr>
          <p:cNvPr id="31" name="Picture 30" descr="US-NHDPlus-Souris-flowlines,waterbodies,catchments.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4589136" cy="3413836"/>
          </a:xfrm>
          <a:prstGeom prst="rect">
            <a:avLst/>
          </a:prstGeom>
        </p:spPr>
      </p:pic>
      <p:sp>
        <p:nvSpPr>
          <p:cNvPr id="7" name="TextBox 6"/>
          <p:cNvSpPr txBox="1"/>
          <p:nvPr/>
        </p:nvSpPr>
        <p:spPr>
          <a:xfrm>
            <a:off x="1155700" y="844550"/>
            <a:ext cx="1200150" cy="260350"/>
          </a:xfrm>
          <a:prstGeom prst="rect">
            <a:avLst/>
          </a:prstGeom>
          <a:solidFill>
            <a:schemeClr val="bg1">
              <a:alpha val="68000"/>
            </a:schemeClr>
          </a:solidFill>
          <a:ln>
            <a:noFill/>
          </a:ln>
          <a:effectLst/>
        </p:spPr>
        <p:txBody>
          <a:bodyPr wrap="square" lIns="0" tIns="0" rIns="0" bIns="0" rtlCol="0" anchor="ctr" anchorCtr="1">
            <a:noAutofit/>
          </a:bodyPr>
          <a:lstStyle/>
          <a:p>
            <a:pPr algn="ctr" eaLnBrk="0" hangingPunct="0">
              <a:lnSpc>
                <a:spcPts val="1800"/>
              </a:lnSpc>
            </a:pPr>
            <a:r>
              <a:rPr lang="en-US" sz="2000" b="1" dirty="0" smtClean="0">
                <a:solidFill>
                  <a:srgbClr val="595959"/>
                </a:solidFill>
                <a:ea typeface="+mn-ea"/>
                <a:cs typeface="+mn-cs"/>
              </a:rPr>
              <a:t>Flowline</a:t>
            </a:r>
          </a:p>
        </p:txBody>
      </p:sp>
      <p:cxnSp>
        <p:nvCxnSpPr>
          <p:cNvPr id="9" name="Straight Arrow Connector 8"/>
          <p:cNvCxnSpPr/>
          <p:nvPr/>
        </p:nvCxnSpPr>
        <p:spPr bwMode="auto">
          <a:xfrm flipH="1">
            <a:off x="1543050" y="1104900"/>
            <a:ext cx="95250" cy="450850"/>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cxnSp>
        <p:nvCxnSpPr>
          <p:cNvPr id="10" name="Straight Arrow Connector 9"/>
          <p:cNvCxnSpPr/>
          <p:nvPr/>
        </p:nvCxnSpPr>
        <p:spPr bwMode="auto">
          <a:xfrm flipV="1">
            <a:off x="2393950" y="768350"/>
            <a:ext cx="584200" cy="127000"/>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sp>
        <p:nvSpPr>
          <p:cNvPr id="12" name="TextBox 11"/>
          <p:cNvSpPr txBox="1"/>
          <p:nvPr/>
        </p:nvSpPr>
        <p:spPr>
          <a:xfrm>
            <a:off x="1359893" y="1880240"/>
            <a:ext cx="1587539" cy="260350"/>
          </a:xfrm>
          <a:prstGeom prst="rect">
            <a:avLst/>
          </a:prstGeom>
          <a:solidFill>
            <a:schemeClr val="bg1">
              <a:alpha val="68000"/>
            </a:schemeClr>
          </a:solidFill>
          <a:ln>
            <a:noFill/>
          </a:ln>
          <a:effectLst/>
        </p:spPr>
        <p:txBody>
          <a:bodyPr wrap="square" lIns="0" tIns="0" rIns="0" bIns="0" rtlCol="0" anchor="ctr" anchorCtr="1">
            <a:noAutofit/>
          </a:bodyPr>
          <a:lstStyle/>
          <a:p>
            <a:pPr algn="ctr" eaLnBrk="0" hangingPunct="0">
              <a:lnSpc>
                <a:spcPts val="1800"/>
              </a:lnSpc>
            </a:pPr>
            <a:r>
              <a:rPr lang="en-US" sz="2000" b="1" dirty="0" smtClean="0">
                <a:solidFill>
                  <a:srgbClr val="595959"/>
                </a:solidFill>
                <a:ea typeface="+mn-ea"/>
                <a:cs typeface="+mn-cs"/>
              </a:rPr>
              <a:t>Waterbody</a:t>
            </a:r>
          </a:p>
        </p:txBody>
      </p:sp>
      <p:cxnSp>
        <p:nvCxnSpPr>
          <p:cNvPr id="13" name="Straight Arrow Connector 12"/>
          <p:cNvCxnSpPr/>
          <p:nvPr/>
        </p:nvCxnSpPr>
        <p:spPr bwMode="auto">
          <a:xfrm flipV="1">
            <a:off x="2978150" y="1765557"/>
            <a:ext cx="514608" cy="153167"/>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sp>
        <p:nvSpPr>
          <p:cNvPr id="14" name="TextBox 13"/>
          <p:cNvSpPr txBox="1"/>
          <p:nvPr/>
        </p:nvSpPr>
        <p:spPr>
          <a:xfrm>
            <a:off x="533400" y="101600"/>
            <a:ext cx="1536700" cy="260350"/>
          </a:xfrm>
          <a:prstGeom prst="rect">
            <a:avLst/>
          </a:prstGeom>
          <a:noFill/>
          <a:effectLst/>
        </p:spPr>
        <p:txBody>
          <a:bodyPr wrap="square" lIns="0" tIns="0" rIns="0" bIns="0" rtlCol="0">
            <a:noAutofit/>
          </a:bodyPr>
          <a:lstStyle/>
          <a:p>
            <a:pPr algn="l" eaLnBrk="0" hangingPunct="0">
              <a:lnSpc>
                <a:spcPts val="1800"/>
              </a:lnSpc>
            </a:pPr>
            <a:r>
              <a:rPr lang="en-US" sz="2000" b="1" dirty="0" smtClean="0">
                <a:solidFill>
                  <a:srgbClr val="0000FF"/>
                </a:solidFill>
                <a:ea typeface="+mn-ea"/>
                <a:cs typeface="+mn-cs"/>
              </a:rPr>
              <a:t>Catchment</a:t>
            </a:r>
          </a:p>
        </p:txBody>
      </p:sp>
      <p:cxnSp>
        <p:nvCxnSpPr>
          <p:cNvPr id="16" name="Straight Arrow Connector 15"/>
          <p:cNvCxnSpPr/>
          <p:nvPr/>
        </p:nvCxnSpPr>
        <p:spPr bwMode="auto">
          <a:xfrm>
            <a:off x="1708150" y="361950"/>
            <a:ext cx="120650" cy="241300"/>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17" name="Straight Arrow Connector 16"/>
          <p:cNvCxnSpPr/>
          <p:nvPr/>
        </p:nvCxnSpPr>
        <p:spPr bwMode="auto">
          <a:xfrm>
            <a:off x="781050" y="361950"/>
            <a:ext cx="139700" cy="406400"/>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18" name="Straight Arrow Connector 17"/>
          <p:cNvCxnSpPr/>
          <p:nvPr/>
        </p:nvCxnSpPr>
        <p:spPr bwMode="auto">
          <a:xfrm flipV="1">
            <a:off x="2364511" y="1663700"/>
            <a:ext cx="613639" cy="214454"/>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grpSp>
        <p:nvGrpSpPr>
          <p:cNvPr id="11" name="Group 10"/>
          <p:cNvGrpSpPr/>
          <p:nvPr/>
        </p:nvGrpSpPr>
        <p:grpSpPr>
          <a:xfrm>
            <a:off x="0" y="0"/>
            <a:ext cx="9144001" cy="6858000"/>
            <a:chOff x="0" y="0"/>
            <a:chExt cx="9144001" cy="6858000"/>
          </a:xfrm>
        </p:grpSpPr>
        <p:cxnSp>
          <p:nvCxnSpPr>
            <p:cNvPr id="6" name="Straight Connector 5"/>
            <p:cNvCxnSpPr/>
            <p:nvPr/>
          </p:nvCxnSpPr>
          <p:spPr bwMode="auto">
            <a:xfrm>
              <a:off x="4589137" y="0"/>
              <a:ext cx="0" cy="6858000"/>
            </a:xfrm>
            <a:prstGeom prst="line">
              <a:avLst/>
            </a:prstGeom>
            <a:noFill/>
            <a:ln w="19050" cap="flat" cmpd="sng" algn="ctr">
              <a:solidFill>
                <a:schemeClr val="tx2"/>
              </a:solidFill>
              <a:prstDash val="solid"/>
              <a:round/>
              <a:headEnd type="none" w="med" len="med"/>
              <a:tailEnd type="none" w="med" len="med"/>
            </a:ln>
            <a:effectLst/>
          </p:spPr>
        </p:cxnSp>
        <p:cxnSp>
          <p:nvCxnSpPr>
            <p:cNvPr id="8" name="Straight Connector 7"/>
            <p:cNvCxnSpPr/>
            <p:nvPr/>
          </p:nvCxnSpPr>
          <p:spPr bwMode="auto">
            <a:xfrm flipH="1">
              <a:off x="0" y="3419981"/>
              <a:ext cx="9144001" cy="0"/>
            </a:xfrm>
            <a:prstGeom prst="line">
              <a:avLst/>
            </a:prstGeom>
            <a:noFill/>
            <a:ln w="19050" cap="flat" cmpd="sng" algn="ctr">
              <a:solidFill>
                <a:schemeClr val="tx2"/>
              </a:solidFill>
              <a:prstDash val="solid"/>
              <a:round/>
              <a:headEnd type="none" w="med" len="med"/>
              <a:tailEnd type="none" w="med" len="med"/>
            </a:ln>
            <a:effectLst/>
          </p:spPr>
        </p:cxnSp>
      </p:grpSp>
      <p:grpSp>
        <p:nvGrpSpPr>
          <p:cNvPr id="36" name="Group 35"/>
          <p:cNvGrpSpPr/>
          <p:nvPr/>
        </p:nvGrpSpPr>
        <p:grpSpPr>
          <a:xfrm>
            <a:off x="3679080" y="3164644"/>
            <a:ext cx="2118471" cy="524706"/>
            <a:chOff x="3679080" y="3164644"/>
            <a:chExt cx="2118471" cy="524706"/>
          </a:xfrm>
        </p:grpSpPr>
        <p:sp>
          <p:nvSpPr>
            <p:cNvPr id="39" name="TextBox 38"/>
            <p:cNvSpPr txBox="1"/>
            <p:nvPr/>
          </p:nvSpPr>
          <p:spPr>
            <a:xfrm>
              <a:off x="3679080" y="3164644"/>
              <a:ext cx="910057" cy="255336"/>
            </a:xfrm>
            <a:prstGeom prst="rect">
              <a:avLst/>
            </a:prstGeom>
            <a:noFill/>
            <a:effectLst/>
          </p:spPr>
          <p:txBody>
            <a:bodyPr wrap="square" lIns="0" tIns="0" rIns="0" bIns="0" rtlCol="0" anchor="ctr" anchorCtr="1">
              <a:norm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NHDPlus</a:t>
              </a:r>
            </a:p>
          </p:txBody>
        </p:sp>
        <p:sp>
          <p:nvSpPr>
            <p:cNvPr id="40" name="TextBox 39"/>
            <p:cNvSpPr txBox="1"/>
            <p:nvPr/>
          </p:nvSpPr>
          <p:spPr>
            <a:xfrm>
              <a:off x="4540652" y="3164644"/>
              <a:ext cx="706999"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AHGF</a:t>
              </a:r>
            </a:p>
          </p:txBody>
        </p:sp>
        <p:sp>
          <p:nvSpPr>
            <p:cNvPr id="41" name="TextBox 40"/>
            <p:cNvSpPr txBox="1"/>
            <p:nvPr/>
          </p:nvSpPr>
          <p:spPr>
            <a:xfrm>
              <a:off x="4053587" y="3380572"/>
              <a:ext cx="543813"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NHN</a:t>
              </a:r>
            </a:p>
          </p:txBody>
        </p:sp>
        <p:sp>
          <p:nvSpPr>
            <p:cNvPr id="42" name="TextBox 41"/>
            <p:cNvSpPr txBox="1"/>
            <p:nvPr/>
          </p:nvSpPr>
          <p:spPr>
            <a:xfrm>
              <a:off x="4603751" y="3318381"/>
              <a:ext cx="1193800" cy="370969"/>
            </a:xfrm>
            <a:prstGeom prst="rect">
              <a:avLst/>
            </a:prstGeom>
            <a:noFill/>
            <a:effectLst/>
          </p:spPr>
          <p:txBody>
            <a:bodyPr wrap="square" lIns="0" tIns="0" rIns="0" bIns="0" rtlCol="0" anchor="ctr" anchorCtr="1">
              <a:no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INSPIRE-Italy</a:t>
              </a:r>
            </a:p>
          </p:txBody>
        </p:sp>
      </p:grpSp>
      <p:sp>
        <p:nvSpPr>
          <p:cNvPr id="43" name="TextBox 42"/>
          <p:cNvSpPr txBox="1"/>
          <p:nvPr/>
        </p:nvSpPr>
        <p:spPr>
          <a:xfrm>
            <a:off x="730255" y="4899926"/>
            <a:ext cx="2762503" cy="296254"/>
          </a:xfrm>
          <a:prstGeom prst="rect">
            <a:avLst/>
          </a:prstGeom>
          <a:noFill/>
          <a:effectLst/>
        </p:spPr>
        <p:txBody>
          <a:bodyPr wrap="square" lIns="0" tIns="0" rIns="0" bIns="0" rtlCol="0">
            <a:noAutofit/>
          </a:bodyPr>
          <a:lstStyle/>
          <a:p>
            <a:pPr algn="l" eaLnBrk="0" hangingPunct="0">
              <a:lnSpc>
                <a:spcPts val="1800"/>
              </a:lnSpc>
            </a:pPr>
            <a:r>
              <a:rPr lang="en-US" sz="2000" b="1" dirty="0" smtClean="0">
                <a:solidFill>
                  <a:srgbClr val="0000FF"/>
                </a:solidFill>
                <a:ea typeface="+mn-ea"/>
                <a:cs typeface="+mn-cs"/>
              </a:rPr>
              <a:t>No Reach-Catchments</a:t>
            </a:r>
          </a:p>
        </p:txBody>
      </p:sp>
      <p:sp>
        <p:nvSpPr>
          <p:cNvPr id="44" name="TextBox 43"/>
          <p:cNvSpPr txBox="1"/>
          <p:nvPr/>
        </p:nvSpPr>
        <p:spPr>
          <a:xfrm>
            <a:off x="5540650" y="4899926"/>
            <a:ext cx="2762503" cy="296254"/>
          </a:xfrm>
          <a:prstGeom prst="rect">
            <a:avLst/>
          </a:prstGeom>
          <a:noFill/>
          <a:effectLst/>
        </p:spPr>
        <p:txBody>
          <a:bodyPr wrap="square" lIns="0" tIns="0" rIns="0" bIns="0" rtlCol="0">
            <a:noAutofit/>
          </a:bodyPr>
          <a:lstStyle/>
          <a:p>
            <a:pPr algn="l" eaLnBrk="0" hangingPunct="0">
              <a:lnSpc>
                <a:spcPts val="1800"/>
              </a:lnSpc>
            </a:pPr>
            <a:r>
              <a:rPr lang="en-US" sz="2000" b="1" dirty="0" smtClean="0">
                <a:solidFill>
                  <a:srgbClr val="0000FF"/>
                </a:solidFill>
                <a:ea typeface="+mn-ea"/>
                <a:cs typeface="+mn-cs"/>
              </a:rPr>
              <a:t>No Reach-Catchments</a:t>
            </a:r>
          </a:p>
        </p:txBody>
      </p:sp>
      <p:sp>
        <p:nvSpPr>
          <p:cNvPr id="32" name="TextBox 31"/>
          <p:cNvSpPr txBox="1"/>
          <p:nvPr/>
        </p:nvSpPr>
        <p:spPr>
          <a:xfrm>
            <a:off x="4738174" y="2202917"/>
            <a:ext cx="3659497"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0000FF"/>
                </a:solidFill>
                <a:ea typeface="+mn-ea"/>
                <a:cs typeface="+mn-cs"/>
              </a:rPr>
              <a:t>AHGFContractedCatchment</a:t>
            </a:r>
          </a:p>
        </p:txBody>
      </p:sp>
      <p:cxnSp>
        <p:nvCxnSpPr>
          <p:cNvPr id="33" name="Straight Arrow Connector 32"/>
          <p:cNvCxnSpPr/>
          <p:nvPr/>
        </p:nvCxnSpPr>
        <p:spPr bwMode="auto">
          <a:xfrm flipH="1">
            <a:off x="5854839" y="1680248"/>
            <a:ext cx="330655" cy="170618"/>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34" name="Straight Arrow Connector 33"/>
          <p:cNvCxnSpPr/>
          <p:nvPr/>
        </p:nvCxnSpPr>
        <p:spPr bwMode="auto">
          <a:xfrm flipH="1" flipV="1">
            <a:off x="5106089" y="1222375"/>
            <a:ext cx="1062016" cy="441326"/>
          </a:xfrm>
          <a:prstGeom prst="straightConnector1">
            <a:avLst/>
          </a:prstGeom>
          <a:noFill/>
          <a:ln w="19050" cap="flat" cmpd="sng" algn="ctr">
            <a:solidFill>
              <a:srgbClr val="0000FF"/>
            </a:solidFill>
            <a:prstDash val="solid"/>
            <a:round/>
            <a:headEnd type="none" w="med" len="med"/>
            <a:tailEnd type="stealth" w="lg" len="lg"/>
          </a:ln>
          <a:effectLst/>
        </p:spPr>
      </p:cxnSp>
      <p:sp>
        <p:nvSpPr>
          <p:cNvPr id="50" name="TextBox 49"/>
          <p:cNvSpPr txBox="1"/>
          <p:nvPr/>
        </p:nvSpPr>
        <p:spPr>
          <a:xfrm>
            <a:off x="6185494" y="1575131"/>
            <a:ext cx="2212177" cy="260350"/>
          </a:xfrm>
          <a:prstGeom prst="rect">
            <a:avLst/>
          </a:prstGeom>
          <a:solidFill>
            <a:srgbClr val="FFFFFF">
              <a:alpha val="60000"/>
            </a:srgbClr>
          </a:solidFill>
          <a:effectLst/>
        </p:spPr>
        <p:txBody>
          <a:bodyPr wrap="square" lIns="0" tIns="0" rIns="0" bIns="0" rtlCol="0" anchor="b">
            <a:noAutofit/>
          </a:bodyPr>
          <a:lstStyle/>
          <a:p>
            <a:pPr algn="ctr" eaLnBrk="0" hangingPunct="0">
              <a:lnSpc>
                <a:spcPts val="1800"/>
              </a:lnSpc>
            </a:pPr>
            <a:r>
              <a:rPr lang="en-US" sz="2000" b="1" dirty="0" smtClean="0">
                <a:solidFill>
                  <a:srgbClr val="0000FF"/>
                </a:solidFill>
                <a:ea typeface="+mn-ea"/>
                <a:cs typeface="+mn-cs"/>
              </a:rPr>
              <a:t>AHGFCatchment</a:t>
            </a:r>
          </a:p>
        </p:txBody>
      </p:sp>
      <p:cxnSp>
        <p:nvCxnSpPr>
          <p:cNvPr id="51" name="Straight Arrow Connector 50"/>
          <p:cNvCxnSpPr/>
          <p:nvPr/>
        </p:nvCxnSpPr>
        <p:spPr bwMode="auto">
          <a:xfrm>
            <a:off x="7299951" y="2470151"/>
            <a:ext cx="756029" cy="694493"/>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53" name="Straight Arrow Connector 52"/>
          <p:cNvCxnSpPr/>
          <p:nvPr/>
        </p:nvCxnSpPr>
        <p:spPr bwMode="auto">
          <a:xfrm>
            <a:off x="6132582" y="2443691"/>
            <a:ext cx="402154" cy="361027"/>
          </a:xfrm>
          <a:prstGeom prst="straightConnector1">
            <a:avLst/>
          </a:prstGeom>
          <a:noFill/>
          <a:ln w="19050" cap="flat" cmpd="sng" algn="ctr">
            <a:solidFill>
              <a:srgbClr val="0000FF"/>
            </a:solidFill>
            <a:prstDash val="solid"/>
            <a:round/>
            <a:headEnd type="none" w="med" len="med"/>
            <a:tailEnd type="stealth" w="lg" len="lg"/>
          </a:ln>
          <a:effectLst/>
        </p:spPr>
      </p:cxnSp>
      <p:sp>
        <p:nvSpPr>
          <p:cNvPr id="57" name="TextBox 56"/>
          <p:cNvSpPr txBox="1"/>
          <p:nvPr/>
        </p:nvSpPr>
        <p:spPr>
          <a:xfrm>
            <a:off x="6404612" y="884240"/>
            <a:ext cx="2758274"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rgbClr val="595959"/>
                </a:solidFill>
                <a:ea typeface="+mn-ea"/>
                <a:cs typeface="+mn-cs"/>
              </a:rPr>
              <a:t>AHGFNetworkStream</a:t>
            </a:r>
          </a:p>
        </p:txBody>
      </p:sp>
      <p:sp>
        <p:nvSpPr>
          <p:cNvPr id="58" name="TextBox 57"/>
          <p:cNvSpPr txBox="1"/>
          <p:nvPr/>
        </p:nvSpPr>
        <p:spPr>
          <a:xfrm>
            <a:off x="5735235" y="70304"/>
            <a:ext cx="1314926"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chemeClr val="tx1">
                    <a:lumMod val="65000"/>
                    <a:lumOff val="35000"/>
                  </a:schemeClr>
                </a:solidFill>
                <a:ea typeface="+mn-ea"/>
                <a:cs typeface="+mn-cs"/>
              </a:rPr>
              <a:t>AHGFLink</a:t>
            </a:r>
          </a:p>
        </p:txBody>
      </p:sp>
      <p:sp>
        <p:nvSpPr>
          <p:cNvPr id="59" name="TextBox 58"/>
          <p:cNvSpPr txBox="1"/>
          <p:nvPr/>
        </p:nvSpPr>
        <p:spPr>
          <a:xfrm>
            <a:off x="6151895" y="471490"/>
            <a:ext cx="1426267" cy="260350"/>
          </a:xfrm>
          <a:prstGeom prst="rect">
            <a:avLst/>
          </a:prstGeom>
          <a:solidFill>
            <a:schemeClr val="bg1">
              <a:alpha val="68000"/>
            </a:schemeClr>
          </a:solidFill>
          <a:effectLst/>
        </p:spPr>
        <p:txBody>
          <a:bodyPr wrap="square" lIns="0" tIns="0" rIns="0" bIns="0" rtlCol="0" anchor="b">
            <a:noAutofit/>
          </a:bodyPr>
          <a:lstStyle/>
          <a:p>
            <a:pPr algn="ctr" eaLnBrk="0" hangingPunct="0">
              <a:lnSpc>
                <a:spcPts val="1800"/>
              </a:lnSpc>
            </a:pPr>
            <a:r>
              <a:rPr lang="en-US" sz="2000" b="1" dirty="0" smtClean="0">
                <a:solidFill>
                  <a:schemeClr val="tx1">
                    <a:lumMod val="65000"/>
                    <a:lumOff val="35000"/>
                  </a:schemeClr>
                </a:solidFill>
                <a:ea typeface="+mn-ea"/>
                <a:cs typeface="+mn-cs"/>
              </a:rPr>
              <a:t>AHGFNode</a:t>
            </a:r>
          </a:p>
        </p:txBody>
      </p:sp>
      <p:cxnSp>
        <p:nvCxnSpPr>
          <p:cNvPr id="60" name="Straight Arrow Connector 59"/>
          <p:cNvCxnSpPr/>
          <p:nvPr/>
        </p:nvCxnSpPr>
        <p:spPr bwMode="auto">
          <a:xfrm flipH="1">
            <a:off x="5247651" y="189841"/>
            <a:ext cx="487584" cy="0"/>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cxnSp>
        <p:nvCxnSpPr>
          <p:cNvPr id="62" name="Straight Arrow Connector 61"/>
          <p:cNvCxnSpPr/>
          <p:nvPr/>
        </p:nvCxnSpPr>
        <p:spPr bwMode="auto">
          <a:xfrm flipH="1">
            <a:off x="5626012" y="603250"/>
            <a:ext cx="487584" cy="0"/>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cxnSp>
        <p:nvCxnSpPr>
          <p:cNvPr id="63" name="Straight Arrow Connector 62"/>
          <p:cNvCxnSpPr/>
          <p:nvPr/>
        </p:nvCxnSpPr>
        <p:spPr bwMode="auto">
          <a:xfrm flipH="1">
            <a:off x="5941702" y="1025525"/>
            <a:ext cx="487584" cy="0"/>
          </a:xfrm>
          <a:prstGeom prst="straightConnector1">
            <a:avLst/>
          </a:prstGeom>
          <a:noFill/>
          <a:ln w="19050" cap="flat" cmpd="sng" algn="ctr">
            <a:solidFill>
              <a:schemeClr val="tx1">
                <a:lumMod val="65000"/>
                <a:lumOff val="35000"/>
              </a:schemeClr>
            </a:solidFill>
            <a:prstDash val="solid"/>
            <a:round/>
            <a:headEnd type="none" w="med" len="med"/>
            <a:tailEnd type="stealth" w="lg" len="lg"/>
          </a:ln>
          <a:effectLst/>
        </p:spPr>
      </p:cxnSp>
    </p:spTree>
    <p:extLst>
      <p:ext uri="{BB962C8B-B14F-4D97-AF65-F5344CB8AC3E}">
        <p14:creationId xmlns:p14="http://schemas.microsoft.com/office/powerpoint/2010/main" val="3208021391"/>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HGF2-Basin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2420" y="0"/>
            <a:ext cx="4541579" cy="3422202"/>
          </a:xfrm>
          <a:prstGeom prst="rect">
            <a:avLst/>
          </a:prstGeom>
        </p:spPr>
      </p:pic>
      <p:pic>
        <p:nvPicPr>
          <p:cNvPr id="16" name="Picture 15" descr="US-NHDPlus-HUC Region 9.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4603750" cy="3422203"/>
          </a:xfrm>
          <a:prstGeom prst="rect">
            <a:avLst/>
          </a:prstGeom>
        </p:spPr>
      </p:pic>
      <p:pic>
        <p:nvPicPr>
          <p:cNvPr id="15" name="Picture 14" descr="NHN-06-regions.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36" y="3419982"/>
            <a:ext cx="4572001" cy="3446242"/>
          </a:xfrm>
          <a:prstGeom prst="rect">
            <a:avLst/>
          </a:prstGeom>
        </p:spPr>
      </p:pic>
      <p:pic>
        <p:nvPicPr>
          <p:cNvPr id="14" name="Picture 13" descr="Italy-05-basins.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3751" y="3419982"/>
            <a:ext cx="4532355" cy="3438018"/>
          </a:xfrm>
          <a:prstGeom prst="rect">
            <a:avLst/>
          </a:prstGeom>
        </p:spPr>
      </p:pic>
      <p:sp>
        <p:nvSpPr>
          <p:cNvPr id="18" name="TextBox 17"/>
          <p:cNvSpPr txBox="1"/>
          <p:nvPr/>
        </p:nvSpPr>
        <p:spPr>
          <a:xfrm>
            <a:off x="473793" y="1765612"/>
            <a:ext cx="774700" cy="260350"/>
          </a:xfrm>
          <a:prstGeom prst="rect">
            <a:avLst/>
          </a:prstGeom>
          <a:noFill/>
          <a:effectLst/>
        </p:spPr>
        <p:txBody>
          <a:bodyPr wrap="square" lIns="0" tIns="0" rIns="0" bIns="0" rtlCol="0">
            <a:noAutofit/>
          </a:bodyPr>
          <a:lstStyle/>
          <a:p>
            <a:pPr algn="l" eaLnBrk="0" hangingPunct="0">
              <a:lnSpc>
                <a:spcPts val="1800"/>
              </a:lnSpc>
            </a:pPr>
            <a:r>
              <a:rPr lang="en-US" sz="2000" b="1" dirty="0" smtClean="0">
                <a:solidFill>
                  <a:srgbClr val="0000FF"/>
                </a:solidFill>
                <a:ea typeface="+mn-ea"/>
                <a:cs typeface="+mn-cs"/>
              </a:rPr>
              <a:t>Basin</a:t>
            </a:r>
          </a:p>
        </p:txBody>
      </p:sp>
      <p:cxnSp>
        <p:nvCxnSpPr>
          <p:cNvPr id="19" name="Straight Arrow Connector 18"/>
          <p:cNvCxnSpPr/>
          <p:nvPr/>
        </p:nvCxnSpPr>
        <p:spPr bwMode="auto">
          <a:xfrm flipV="1">
            <a:off x="994493" y="1417041"/>
            <a:ext cx="368013" cy="314326"/>
          </a:xfrm>
          <a:prstGeom prst="straightConnector1">
            <a:avLst/>
          </a:prstGeom>
          <a:noFill/>
          <a:ln w="19050" cap="flat" cmpd="sng" algn="ctr">
            <a:solidFill>
              <a:srgbClr val="0000FF"/>
            </a:solidFill>
            <a:prstDash val="solid"/>
            <a:round/>
            <a:headEnd type="none" w="med" len="med"/>
            <a:tailEnd type="stealth" w="lg" len="lg"/>
          </a:ln>
          <a:effectLst/>
        </p:spPr>
      </p:cxnSp>
      <p:sp>
        <p:nvSpPr>
          <p:cNvPr id="48" name="TextBox 47"/>
          <p:cNvSpPr txBox="1"/>
          <p:nvPr/>
        </p:nvSpPr>
        <p:spPr>
          <a:xfrm>
            <a:off x="4707715" y="371774"/>
            <a:ext cx="3174772" cy="308636"/>
          </a:xfrm>
          <a:prstGeom prst="rect">
            <a:avLst/>
          </a:prstGeom>
          <a:solidFill>
            <a:srgbClr val="FFFFFF">
              <a:alpha val="67000"/>
            </a:srgbClr>
          </a:solidFill>
          <a:effectLst/>
        </p:spPr>
        <p:txBody>
          <a:bodyPr wrap="square" lIns="0" tIns="0" rIns="0" bIns="0" rtlCol="0">
            <a:noAutofit/>
          </a:bodyPr>
          <a:lstStyle/>
          <a:p>
            <a:pPr algn="ctr" eaLnBrk="0" hangingPunct="0">
              <a:lnSpc>
                <a:spcPts val="1800"/>
              </a:lnSpc>
            </a:pPr>
            <a:r>
              <a:rPr lang="en-US" b="1" dirty="0" smtClean="0">
                <a:solidFill>
                  <a:srgbClr val="0000FF"/>
                </a:solidFill>
                <a:ea typeface="+mn-ea"/>
                <a:cs typeface="+mn-cs"/>
              </a:rPr>
              <a:t>NCBLevel1DrainageDivision</a:t>
            </a:r>
          </a:p>
        </p:txBody>
      </p:sp>
      <p:sp>
        <p:nvSpPr>
          <p:cNvPr id="54" name="TextBox 53"/>
          <p:cNvSpPr txBox="1"/>
          <p:nvPr/>
        </p:nvSpPr>
        <p:spPr>
          <a:xfrm>
            <a:off x="4707715" y="2859872"/>
            <a:ext cx="3649940" cy="260350"/>
          </a:xfrm>
          <a:prstGeom prst="rect">
            <a:avLst/>
          </a:prstGeom>
          <a:noFill/>
          <a:effectLst/>
        </p:spPr>
        <p:txBody>
          <a:bodyPr wrap="square" lIns="0" tIns="0" rIns="0" bIns="0" rtlCol="0">
            <a:noAutofit/>
          </a:bodyPr>
          <a:lstStyle/>
          <a:p>
            <a:pPr algn="l" eaLnBrk="0" hangingPunct="0">
              <a:lnSpc>
                <a:spcPts val="1800"/>
              </a:lnSpc>
            </a:pPr>
            <a:r>
              <a:rPr lang="en-US" b="1" dirty="0" smtClean="0">
                <a:solidFill>
                  <a:srgbClr val="0000FF"/>
                </a:solidFill>
                <a:ea typeface="+mn-ea"/>
                <a:cs typeface="+mn-cs"/>
              </a:rPr>
              <a:t>NCBLevel2DrainageBasinGroup</a:t>
            </a:r>
          </a:p>
        </p:txBody>
      </p:sp>
      <p:cxnSp>
        <p:nvCxnSpPr>
          <p:cNvPr id="55" name="Straight Arrow Connector 54"/>
          <p:cNvCxnSpPr/>
          <p:nvPr/>
        </p:nvCxnSpPr>
        <p:spPr bwMode="auto">
          <a:xfrm flipV="1">
            <a:off x="6722950" y="2039404"/>
            <a:ext cx="55221" cy="820469"/>
          </a:xfrm>
          <a:prstGeom prst="straightConnector1">
            <a:avLst/>
          </a:prstGeom>
          <a:noFill/>
          <a:ln w="19050" cap="flat" cmpd="sng" algn="ctr">
            <a:solidFill>
              <a:srgbClr val="0000FF"/>
            </a:solidFill>
            <a:prstDash val="solid"/>
            <a:round/>
            <a:headEnd type="none" w="med" len="med"/>
            <a:tailEnd type="stealth" w="lg" len="lg"/>
          </a:ln>
          <a:effectLst/>
        </p:spPr>
      </p:cxnSp>
      <p:grpSp>
        <p:nvGrpSpPr>
          <p:cNvPr id="11" name="Group 10"/>
          <p:cNvGrpSpPr/>
          <p:nvPr/>
        </p:nvGrpSpPr>
        <p:grpSpPr>
          <a:xfrm>
            <a:off x="0" y="0"/>
            <a:ext cx="9144001" cy="6858000"/>
            <a:chOff x="0" y="0"/>
            <a:chExt cx="9144001" cy="6858000"/>
          </a:xfrm>
        </p:grpSpPr>
        <p:cxnSp>
          <p:nvCxnSpPr>
            <p:cNvPr id="6" name="Straight Connector 5"/>
            <p:cNvCxnSpPr/>
            <p:nvPr/>
          </p:nvCxnSpPr>
          <p:spPr bwMode="auto">
            <a:xfrm>
              <a:off x="4589137" y="0"/>
              <a:ext cx="0" cy="6858000"/>
            </a:xfrm>
            <a:prstGeom prst="line">
              <a:avLst/>
            </a:prstGeom>
            <a:noFill/>
            <a:ln w="19050" cap="flat" cmpd="sng" algn="ctr">
              <a:solidFill>
                <a:schemeClr val="tx2"/>
              </a:solidFill>
              <a:prstDash val="solid"/>
              <a:round/>
              <a:headEnd type="none" w="med" len="med"/>
              <a:tailEnd type="none" w="med" len="med"/>
            </a:ln>
            <a:effectLst/>
          </p:spPr>
        </p:cxnSp>
        <p:cxnSp>
          <p:nvCxnSpPr>
            <p:cNvPr id="8" name="Straight Connector 7"/>
            <p:cNvCxnSpPr/>
            <p:nvPr/>
          </p:nvCxnSpPr>
          <p:spPr bwMode="auto">
            <a:xfrm flipH="1">
              <a:off x="0" y="3419981"/>
              <a:ext cx="9144001" cy="0"/>
            </a:xfrm>
            <a:prstGeom prst="line">
              <a:avLst/>
            </a:prstGeom>
            <a:noFill/>
            <a:ln w="19050" cap="flat" cmpd="sng" algn="ctr">
              <a:solidFill>
                <a:schemeClr val="tx2"/>
              </a:solidFill>
              <a:prstDash val="solid"/>
              <a:round/>
              <a:headEnd type="none" w="med" len="med"/>
              <a:tailEnd type="none" w="med" len="med"/>
            </a:ln>
            <a:effectLst/>
          </p:spPr>
        </p:cxnSp>
      </p:grpSp>
      <p:sp>
        <p:nvSpPr>
          <p:cNvPr id="46" name="TextBox 45"/>
          <p:cNvSpPr txBox="1"/>
          <p:nvPr/>
        </p:nvSpPr>
        <p:spPr>
          <a:xfrm>
            <a:off x="1539510" y="4366228"/>
            <a:ext cx="3028950" cy="260350"/>
          </a:xfrm>
          <a:prstGeom prst="rect">
            <a:avLst/>
          </a:prstGeom>
          <a:noFill/>
          <a:effectLst/>
        </p:spPr>
        <p:txBody>
          <a:bodyPr wrap="square" lIns="0" tIns="0" rIns="0" bIns="0" rtlCol="0">
            <a:noAutofit/>
          </a:bodyPr>
          <a:lstStyle/>
          <a:p>
            <a:pPr algn="l" eaLnBrk="0" hangingPunct="0">
              <a:lnSpc>
                <a:spcPts val="1800"/>
              </a:lnSpc>
            </a:pPr>
            <a:r>
              <a:rPr lang="en-US" sz="2000" b="1" dirty="0" smtClean="0">
                <a:solidFill>
                  <a:srgbClr val="0000FF"/>
                </a:solidFill>
                <a:ea typeface="+mn-ea"/>
                <a:cs typeface="+mn-cs"/>
              </a:rPr>
              <a:t>NHN_Workunit_Limit_2</a:t>
            </a:r>
          </a:p>
        </p:txBody>
      </p:sp>
      <p:cxnSp>
        <p:nvCxnSpPr>
          <p:cNvPr id="47" name="Straight Arrow Connector 46"/>
          <p:cNvCxnSpPr/>
          <p:nvPr/>
        </p:nvCxnSpPr>
        <p:spPr bwMode="auto">
          <a:xfrm flipV="1">
            <a:off x="2844800" y="4023836"/>
            <a:ext cx="254000" cy="314325"/>
          </a:xfrm>
          <a:prstGeom prst="straightConnector1">
            <a:avLst/>
          </a:prstGeom>
          <a:noFill/>
          <a:ln w="19050" cap="flat" cmpd="sng" algn="ctr">
            <a:solidFill>
              <a:srgbClr val="0000FF"/>
            </a:solidFill>
            <a:prstDash val="solid"/>
            <a:round/>
            <a:headEnd type="none" w="med" len="med"/>
            <a:tailEnd type="stealth" w="lg" len="lg"/>
          </a:ln>
          <a:effectLst/>
        </p:spPr>
      </p:cxnSp>
      <p:sp>
        <p:nvSpPr>
          <p:cNvPr id="50" name="TextBox 49"/>
          <p:cNvSpPr txBox="1"/>
          <p:nvPr/>
        </p:nvSpPr>
        <p:spPr>
          <a:xfrm>
            <a:off x="629521" y="5709368"/>
            <a:ext cx="2641600" cy="535100"/>
          </a:xfrm>
          <a:prstGeom prst="rect">
            <a:avLst/>
          </a:prstGeom>
          <a:no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NHN_Index_15</a:t>
            </a:r>
          </a:p>
          <a:p>
            <a:pPr algn="ctr" eaLnBrk="0" hangingPunct="0">
              <a:lnSpc>
                <a:spcPts val="1800"/>
              </a:lnSpc>
            </a:pPr>
            <a:r>
              <a:rPr lang="en-US" sz="1600" b="1" dirty="0">
                <a:solidFill>
                  <a:srgbClr val="0000FF"/>
                </a:solidFill>
              </a:rPr>
              <a:t>(groups of Workunits)</a:t>
            </a:r>
            <a:endParaRPr lang="en-US" sz="1100" b="1" dirty="0" smtClean="0">
              <a:solidFill>
                <a:srgbClr val="0000FF"/>
              </a:solidFill>
            </a:endParaRPr>
          </a:p>
        </p:txBody>
      </p:sp>
      <p:grpSp>
        <p:nvGrpSpPr>
          <p:cNvPr id="61" name="Group 60"/>
          <p:cNvGrpSpPr/>
          <p:nvPr/>
        </p:nvGrpSpPr>
        <p:grpSpPr>
          <a:xfrm>
            <a:off x="3679080" y="3164644"/>
            <a:ext cx="2118471" cy="524706"/>
            <a:chOff x="3679080" y="3164644"/>
            <a:chExt cx="2118471" cy="524706"/>
          </a:xfrm>
        </p:grpSpPr>
        <p:sp>
          <p:nvSpPr>
            <p:cNvPr id="62" name="TextBox 61"/>
            <p:cNvSpPr txBox="1"/>
            <p:nvPr/>
          </p:nvSpPr>
          <p:spPr>
            <a:xfrm>
              <a:off x="3679080" y="3164644"/>
              <a:ext cx="910057" cy="255336"/>
            </a:xfrm>
            <a:prstGeom prst="rect">
              <a:avLst/>
            </a:prstGeom>
            <a:noFill/>
            <a:effectLst/>
          </p:spPr>
          <p:txBody>
            <a:bodyPr wrap="square" lIns="0" tIns="0" rIns="0" bIns="0" rtlCol="0" anchor="ctr" anchorCtr="1">
              <a:norm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NHDPlus</a:t>
              </a:r>
            </a:p>
          </p:txBody>
        </p:sp>
        <p:sp>
          <p:nvSpPr>
            <p:cNvPr id="63" name="TextBox 62"/>
            <p:cNvSpPr txBox="1"/>
            <p:nvPr/>
          </p:nvSpPr>
          <p:spPr>
            <a:xfrm>
              <a:off x="4540652" y="3164644"/>
              <a:ext cx="706999"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AHGF</a:t>
              </a:r>
            </a:p>
          </p:txBody>
        </p:sp>
        <p:sp>
          <p:nvSpPr>
            <p:cNvPr id="64" name="TextBox 63"/>
            <p:cNvSpPr txBox="1"/>
            <p:nvPr/>
          </p:nvSpPr>
          <p:spPr>
            <a:xfrm>
              <a:off x="4053587" y="3380572"/>
              <a:ext cx="543813" cy="255336"/>
            </a:xfrm>
            <a:prstGeom prst="rect">
              <a:avLst/>
            </a:prstGeom>
            <a:noFill/>
            <a:effectLst/>
          </p:spPr>
          <p:txBody>
            <a:bodyPr wrap="square" lIns="0" tIns="0" rIns="0" bIns="0" rtlCol="0" anchor="ctr" anchorCtr="1">
              <a:normAutofit/>
            </a:bodyPr>
            <a:lstStyle/>
            <a:p>
              <a:pP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NHN</a:t>
              </a:r>
            </a:p>
          </p:txBody>
        </p:sp>
        <p:sp>
          <p:nvSpPr>
            <p:cNvPr id="65" name="TextBox 64"/>
            <p:cNvSpPr txBox="1"/>
            <p:nvPr/>
          </p:nvSpPr>
          <p:spPr>
            <a:xfrm>
              <a:off x="4603751" y="3318381"/>
              <a:ext cx="1193800" cy="370969"/>
            </a:xfrm>
            <a:prstGeom prst="rect">
              <a:avLst/>
            </a:prstGeom>
            <a:noFill/>
            <a:effectLst/>
          </p:spPr>
          <p:txBody>
            <a:bodyPr wrap="square" lIns="0" tIns="0" rIns="0" bIns="0" rtlCol="0" anchor="ctr" anchorCtr="1">
              <a:noAutofit/>
            </a:bodyPr>
            <a:lstStyle/>
            <a:p>
              <a:pPr algn="ctr" eaLnBrk="0" hangingPunct="0">
                <a:lnSpc>
                  <a:spcPts val="1800"/>
                </a:lnSpc>
              </a:pPr>
              <a:r>
                <a:rPr lang="en-US" sz="1400" b="1" dirty="0" smtClean="0">
                  <a:solidFill>
                    <a:srgbClr val="0000FF"/>
                  </a:solidFill>
                  <a:effectLst>
                    <a:outerShdw blurRad="50800" dist="38100" dir="2700000" algn="tl" rotWithShape="0">
                      <a:srgbClr val="000000">
                        <a:alpha val="43000"/>
                      </a:srgbClr>
                    </a:outerShdw>
                  </a:effectLst>
                  <a:ea typeface="+mn-ea"/>
                  <a:cs typeface="+mn-cs"/>
                </a:rPr>
                <a:t>INSPIRE-Italy</a:t>
              </a:r>
            </a:p>
          </p:txBody>
        </p:sp>
      </p:grpSp>
      <p:cxnSp>
        <p:nvCxnSpPr>
          <p:cNvPr id="66" name="Straight Arrow Connector 65"/>
          <p:cNvCxnSpPr/>
          <p:nvPr/>
        </p:nvCxnSpPr>
        <p:spPr bwMode="auto">
          <a:xfrm flipH="1" flipV="1">
            <a:off x="7866743" y="4724400"/>
            <a:ext cx="107520" cy="243132"/>
          </a:xfrm>
          <a:prstGeom prst="straightConnector1">
            <a:avLst/>
          </a:prstGeom>
          <a:noFill/>
          <a:ln w="19050" cap="flat" cmpd="sng" algn="ctr">
            <a:solidFill>
              <a:srgbClr val="0000FF"/>
            </a:solidFill>
            <a:prstDash val="solid"/>
            <a:round/>
            <a:headEnd type="none" w="med" len="med"/>
            <a:tailEnd type="stealth" w="lg" len="lg"/>
          </a:ln>
          <a:effectLst/>
        </p:spPr>
      </p:cxnSp>
      <p:sp>
        <p:nvSpPr>
          <p:cNvPr id="67" name="TextBox 66"/>
          <p:cNvSpPr txBox="1"/>
          <p:nvPr/>
        </p:nvSpPr>
        <p:spPr>
          <a:xfrm>
            <a:off x="6199829" y="4991184"/>
            <a:ext cx="2638241" cy="260350"/>
          </a:xfrm>
          <a:prstGeom prst="rect">
            <a:avLst/>
          </a:prstGeom>
          <a:no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hy-p:DrainageBasinS</a:t>
            </a:r>
          </a:p>
        </p:txBody>
      </p:sp>
      <p:cxnSp>
        <p:nvCxnSpPr>
          <p:cNvPr id="68" name="Straight Arrow Connector 67"/>
          <p:cNvCxnSpPr/>
          <p:nvPr/>
        </p:nvCxnSpPr>
        <p:spPr bwMode="auto">
          <a:xfrm flipH="1" flipV="1">
            <a:off x="6778171" y="4626578"/>
            <a:ext cx="71512" cy="340954"/>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69" name="Straight Arrow Connector 68"/>
          <p:cNvCxnSpPr/>
          <p:nvPr/>
        </p:nvCxnSpPr>
        <p:spPr bwMode="auto">
          <a:xfrm flipH="1">
            <a:off x="7765143" y="5282226"/>
            <a:ext cx="209122" cy="239846"/>
          </a:xfrm>
          <a:prstGeom prst="straightConnector1">
            <a:avLst/>
          </a:prstGeom>
          <a:noFill/>
          <a:ln w="19050" cap="flat" cmpd="sng" algn="ctr">
            <a:solidFill>
              <a:srgbClr val="0000FF"/>
            </a:solidFill>
            <a:prstDash val="solid"/>
            <a:round/>
            <a:headEnd type="none" w="med" len="med"/>
            <a:tailEnd type="stealth" w="lg" len="lg"/>
          </a:ln>
          <a:effectLst/>
        </p:spPr>
      </p:cxnSp>
      <p:sp>
        <p:nvSpPr>
          <p:cNvPr id="43" name="TextBox 42"/>
          <p:cNvSpPr txBox="1"/>
          <p:nvPr/>
        </p:nvSpPr>
        <p:spPr>
          <a:xfrm>
            <a:off x="1950321" y="680410"/>
            <a:ext cx="1788957" cy="510272"/>
          </a:xfrm>
          <a:prstGeom prst="rect">
            <a:avLst/>
          </a:prstGeom>
          <a:noFill/>
          <a:effectLst/>
        </p:spPr>
        <p:txBody>
          <a:bodyPr wrap="square" lIns="0" tIns="0" rIns="0" bIns="0" rtlCol="0">
            <a:noAutofit/>
          </a:bodyPr>
          <a:lstStyle/>
          <a:p>
            <a:pPr algn="ctr" eaLnBrk="0" hangingPunct="0">
              <a:lnSpc>
                <a:spcPts val="1800"/>
              </a:lnSpc>
            </a:pPr>
            <a:r>
              <a:rPr lang="en-US" sz="2000" b="1" dirty="0" smtClean="0">
                <a:solidFill>
                  <a:srgbClr val="0000FF"/>
                </a:solidFill>
                <a:ea typeface="+mn-ea"/>
                <a:cs typeface="+mn-cs"/>
              </a:rPr>
              <a:t>HUC Region 9</a:t>
            </a:r>
          </a:p>
          <a:p>
            <a:pPr algn="ctr" eaLnBrk="0" hangingPunct="0">
              <a:lnSpc>
                <a:spcPts val="1800"/>
              </a:lnSpc>
            </a:pPr>
            <a:r>
              <a:rPr lang="en-US" sz="1600" b="1" dirty="0">
                <a:solidFill>
                  <a:srgbClr val="0000FF"/>
                </a:solidFill>
              </a:rPr>
              <a:t>(all Basins)</a:t>
            </a:r>
            <a:endParaRPr lang="en-US" sz="1600" b="1" dirty="0" smtClean="0">
              <a:solidFill>
                <a:srgbClr val="0000FF"/>
              </a:solidFill>
            </a:endParaRPr>
          </a:p>
        </p:txBody>
      </p:sp>
      <p:sp>
        <p:nvSpPr>
          <p:cNvPr id="44" name="TextBox 43"/>
          <p:cNvSpPr txBox="1"/>
          <p:nvPr/>
        </p:nvSpPr>
        <p:spPr>
          <a:xfrm>
            <a:off x="63633" y="3120222"/>
            <a:ext cx="3058957" cy="260350"/>
          </a:xfrm>
          <a:prstGeom prst="rect">
            <a:avLst/>
          </a:prstGeom>
          <a:noFill/>
          <a:effectLst/>
        </p:spPr>
        <p:txBody>
          <a:bodyPr wrap="square" lIns="0" tIns="0" rIns="0" bIns="0" rtlCol="0">
            <a:noAutofit/>
          </a:bodyPr>
          <a:lstStyle/>
          <a:p>
            <a:pPr algn="l" eaLnBrk="0" hangingPunct="0">
              <a:lnSpc>
                <a:spcPts val="1800"/>
              </a:lnSpc>
            </a:pPr>
            <a:r>
              <a:rPr lang="en-US" sz="1600" b="1" dirty="0" smtClean="0">
                <a:solidFill>
                  <a:srgbClr val="0000FF"/>
                </a:solidFill>
                <a:ea typeface="+mn-ea"/>
                <a:cs typeface="+mn-cs"/>
              </a:rPr>
              <a:t>HUC = Hydrologic Unit Code</a:t>
            </a:r>
          </a:p>
        </p:txBody>
      </p:sp>
      <p:cxnSp>
        <p:nvCxnSpPr>
          <p:cNvPr id="56" name="Straight Arrow Connector 55"/>
          <p:cNvCxnSpPr/>
          <p:nvPr/>
        </p:nvCxnSpPr>
        <p:spPr bwMode="auto">
          <a:xfrm flipH="1" flipV="1">
            <a:off x="6199829" y="2039404"/>
            <a:ext cx="209396" cy="820468"/>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57" name="Straight Arrow Connector 56"/>
          <p:cNvCxnSpPr/>
          <p:nvPr/>
        </p:nvCxnSpPr>
        <p:spPr bwMode="auto">
          <a:xfrm flipH="1" flipV="1">
            <a:off x="5797551" y="2185169"/>
            <a:ext cx="159972" cy="674703"/>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35" name="Straight Arrow Connector 34"/>
          <p:cNvCxnSpPr/>
          <p:nvPr/>
        </p:nvCxnSpPr>
        <p:spPr bwMode="auto">
          <a:xfrm>
            <a:off x="5423566" y="680410"/>
            <a:ext cx="92597" cy="272136"/>
          </a:xfrm>
          <a:prstGeom prst="straightConnector1">
            <a:avLst/>
          </a:prstGeom>
          <a:noFill/>
          <a:ln w="19050" cap="flat" cmpd="sng" algn="ctr">
            <a:solidFill>
              <a:srgbClr val="0000FF"/>
            </a:solidFill>
            <a:prstDash val="solid"/>
            <a:round/>
            <a:headEnd type="none" w="med" len="med"/>
            <a:tailEnd type="stealth" w="lg" len="lg"/>
          </a:ln>
          <a:effectLst/>
        </p:spPr>
      </p:cxnSp>
      <p:cxnSp>
        <p:nvCxnSpPr>
          <p:cNvPr id="38" name="Straight Arrow Connector 37"/>
          <p:cNvCxnSpPr/>
          <p:nvPr/>
        </p:nvCxnSpPr>
        <p:spPr bwMode="auto">
          <a:xfrm>
            <a:off x="6585749" y="680410"/>
            <a:ext cx="242306" cy="510272"/>
          </a:xfrm>
          <a:prstGeom prst="straightConnector1">
            <a:avLst/>
          </a:prstGeom>
          <a:noFill/>
          <a:ln w="19050" cap="flat" cmpd="sng" algn="ctr">
            <a:solidFill>
              <a:srgbClr val="0000FF"/>
            </a:solidFill>
            <a:prstDash val="solid"/>
            <a:round/>
            <a:headEnd type="none" w="med" len="med"/>
            <a:tailEnd type="stealth" w="lg" len="lg"/>
          </a:ln>
          <a:effectLst/>
        </p:spPr>
      </p:cxnSp>
    </p:spTree>
    <p:extLst>
      <p:ext uri="{BB962C8B-B14F-4D97-AF65-F5344CB8AC3E}">
        <p14:creationId xmlns:p14="http://schemas.microsoft.com/office/powerpoint/2010/main" val="387294539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Relating a Catchment with its Reach</a:t>
            </a:r>
          </a:p>
        </p:txBody>
      </p:sp>
      <p:sp>
        <p:nvSpPr>
          <p:cNvPr id="3" name="Content Placeholder 2"/>
          <p:cNvSpPr>
            <a:spLocks noGrp="1"/>
          </p:cNvSpPr>
          <p:nvPr>
            <p:ph sz="quarter" idx="10"/>
          </p:nvPr>
        </p:nvSpPr>
        <p:spPr>
          <a:xfrm>
            <a:off x="685800" y="1740808"/>
            <a:ext cx="7919478" cy="3836080"/>
          </a:xfrm>
        </p:spPr>
        <p:txBody>
          <a:bodyPr/>
          <a:lstStyle/>
          <a:p>
            <a:r>
              <a:rPr lang="en-US"/>
              <a:t>NHDPlus defines a </a:t>
            </a:r>
            <a:r>
              <a:rPr lang="en-US" b="1">
                <a:solidFill>
                  <a:srgbClr val="16618C"/>
                </a:solidFill>
              </a:rPr>
              <a:t>unique catchment for every reach </a:t>
            </a:r>
          </a:p>
          <a:p>
            <a:pPr lvl="2"/>
            <a:r>
              <a:rPr lang="en-US"/>
              <a:t>NHDPlus has a direct reference between each flowline and its catchment </a:t>
            </a:r>
          </a:p>
          <a:p>
            <a:pPr lvl="3"/>
            <a:r>
              <a:rPr lang="en-US"/>
              <a:t>Catchment:FeatureID = Flowline:COMID</a:t>
            </a:r>
          </a:p>
        </p:txBody>
      </p:sp>
    </p:spTree>
    <p:extLst>
      <p:ext uri="{BB962C8B-B14F-4D97-AF65-F5344CB8AC3E}">
        <p14:creationId xmlns:p14="http://schemas.microsoft.com/office/powerpoint/2010/main" val="342850648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Why Does This Matter? </a:t>
            </a:r>
          </a:p>
        </p:txBody>
      </p:sp>
      <p:sp>
        <p:nvSpPr>
          <p:cNvPr id="3" name="Content Placeholder 2"/>
          <p:cNvSpPr>
            <a:spLocks noGrp="1"/>
          </p:cNvSpPr>
          <p:nvPr>
            <p:ph sz="quarter" idx="10"/>
          </p:nvPr>
        </p:nvSpPr>
        <p:spPr>
          <a:xfrm>
            <a:off x="685801" y="1620838"/>
            <a:ext cx="7619792" cy="3956050"/>
          </a:xfrm>
        </p:spPr>
        <p:txBody>
          <a:bodyPr/>
          <a:lstStyle/>
          <a:p>
            <a:pPr marL="0" indent="0">
              <a:buNone/>
            </a:pPr>
            <a:r>
              <a:rPr lang="en-US" b="1"/>
              <a:t>Flood Forecasting</a:t>
            </a:r>
            <a:r>
              <a:rPr lang="en-US"/>
              <a:t>:</a:t>
            </a:r>
          </a:p>
          <a:p>
            <a:pPr lvl="2">
              <a:lnSpc>
                <a:spcPct val="90000"/>
              </a:lnSpc>
            </a:pPr>
            <a:r>
              <a:rPr lang="en-US"/>
              <a:t>Requires workflow to convert precipitation forecasts to runoff and then to streamflow discharge</a:t>
            </a:r>
          </a:p>
          <a:p>
            <a:pPr lvl="2">
              <a:lnSpc>
                <a:spcPct val="90000"/>
              </a:lnSpc>
            </a:pPr>
            <a:r>
              <a:rPr lang="en-US"/>
              <a:t>Land Surface Models (LSM) such as ECMWF LIS and WRF-Hydro coupled with RAPID require catchment-to-flowline linkage</a:t>
            </a:r>
          </a:p>
          <a:p>
            <a:pPr lvl="2">
              <a:lnSpc>
                <a:spcPct val="90000"/>
              </a:lnSpc>
            </a:pPr>
            <a:r>
              <a:rPr lang="en-US"/>
              <a:t>It may be feasible to work with catchment-flowline connectivity through a shared junction, but direct reference between catchments and their reaches is simpler and performs better</a:t>
            </a:r>
          </a:p>
        </p:txBody>
      </p:sp>
    </p:spTree>
    <p:extLst>
      <p:ext uri="{BB962C8B-B14F-4D97-AF65-F5344CB8AC3E}">
        <p14:creationId xmlns:p14="http://schemas.microsoft.com/office/powerpoint/2010/main" val="963646977"/>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55084"/>
            <a:ext cx="7722937" cy="484632"/>
          </a:xfrm>
        </p:spPr>
        <p:txBody>
          <a:bodyPr/>
          <a:lstStyle/>
          <a:p>
            <a:pPr algn="ctr"/>
            <a:r>
              <a:rPr lang="en-US" sz="3600"/>
              <a:t>National  Models vs. HY_Features</a:t>
            </a:r>
          </a:p>
        </p:txBody>
      </p:sp>
    </p:spTree>
    <p:extLst>
      <p:ext uri="{BB962C8B-B14F-4D97-AF65-F5344CB8AC3E}">
        <p14:creationId xmlns:p14="http://schemas.microsoft.com/office/powerpoint/2010/main" val="1106467325"/>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Hydrologic Representations Vary</a:t>
            </a:r>
          </a:p>
        </p:txBody>
      </p:sp>
      <p:sp>
        <p:nvSpPr>
          <p:cNvPr id="3" name="Content Placeholder 2"/>
          <p:cNvSpPr>
            <a:spLocks noGrp="1"/>
          </p:cNvSpPr>
          <p:nvPr>
            <p:ph sz="quarter" idx="10"/>
          </p:nvPr>
        </p:nvSpPr>
        <p:spPr>
          <a:xfrm>
            <a:off x="685800" y="1172859"/>
            <a:ext cx="8458200" cy="5151080"/>
          </a:xfrm>
        </p:spPr>
        <p:txBody>
          <a:bodyPr/>
          <a:lstStyle/>
          <a:p>
            <a:pPr marL="173736" lvl="3" indent="-173736">
              <a:lnSpc>
                <a:spcPct val="100000"/>
              </a:lnSpc>
              <a:spcBef>
                <a:spcPts val="300"/>
              </a:spcBef>
              <a:spcAft>
                <a:spcPts val="1200"/>
              </a:spcAft>
              <a:buClrTx/>
              <a:buFont typeface="Arial"/>
              <a:buChar char="•"/>
            </a:pPr>
            <a:r>
              <a:rPr lang="en-US" sz="2400"/>
              <a:t>Cartography and connectivity are two distinct types of representation in HY_Features</a:t>
            </a:r>
          </a:p>
          <a:p>
            <a:r>
              <a:rPr lang="en-US"/>
              <a:t>Relationships between network connectivity and cartographic representations vary by data product</a:t>
            </a:r>
          </a:p>
          <a:p>
            <a:pPr lvl="2"/>
            <a:r>
              <a:rPr lang="en-US" b="1"/>
              <a:t>INSPIRE</a:t>
            </a:r>
            <a:r>
              <a:rPr lang="en-US"/>
              <a:t> distinguishes </a:t>
            </a:r>
            <a:r>
              <a:rPr lang="en-US" b="1"/>
              <a:t>SurfaceWater</a:t>
            </a:r>
            <a:r>
              <a:rPr lang="en-US"/>
              <a:t> (cartographic point, curve, surface) from </a:t>
            </a:r>
            <a:r>
              <a:rPr lang="en-US" b="1"/>
              <a:t>NetworkElement</a:t>
            </a:r>
            <a:r>
              <a:rPr lang="en-US"/>
              <a:t> (point, curve, surface) features</a:t>
            </a:r>
          </a:p>
          <a:p>
            <a:pPr lvl="2"/>
            <a:r>
              <a:rPr lang="en-US" b="1"/>
              <a:t>NHDPlus Flowlines </a:t>
            </a:r>
            <a:r>
              <a:rPr lang="en-US"/>
              <a:t>and </a:t>
            </a:r>
            <a:r>
              <a:rPr lang="en-US" b="1"/>
              <a:t>Catchments</a:t>
            </a:r>
            <a:r>
              <a:rPr lang="en-US"/>
              <a:t> are both cartographic and topological</a:t>
            </a:r>
          </a:p>
          <a:p>
            <a:pPr lvl="2"/>
            <a:r>
              <a:rPr lang="en-US" b="1"/>
              <a:t>AHGF</a:t>
            </a:r>
            <a:r>
              <a:rPr lang="en-US"/>
              <a:t> has a </a:t>
            </a:r>
            <a:r>
              <a:rPr lang="en-US" b="1"/>
              <a:t>DEM-derived stream network</a:t>
            </a:r>
            <a:r>
              <a:rPr lang="en-US"/>
              <a:t>. </a:t>
            </a:r>
            <a:r>
              <a:rPr lang="en-US" b="1"/>
              <a:t>Contracted nodes and catchments </a:t>
            </a:r>
            <a:r>
              <a:rPr lang="en-US"/>
              <a:t>are a coarser view of this network, where the connectivity is stable and accurate (see notes) </a:t>
            </a:r>
          </a:p>
        </p:txBody>
      </p:sp>
    </p:spTree>
    <p:extLst>
      <p:ext uri="{BB962C8B-B14F-4D97-AF65-F5344CB8AC3E}">
        <p14:creationId xmlns:p14="http://schemas.microsoft.com/office/powerpoint/2010/main" val="1558625265"/>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691146" cy="484632"/>
          </a:xfrm>
        </p:spPr>
        <p:txBody>
          <a:bodyPr/>
          <a:lstStyle/>
          <a:p>
            <a:r>
              <a:rPr lang="en-US" sz="3200"/>
              <a:t>Basins vs. Catchments in HY_Features</a:t>
            </a:r>
          </a:p>
        </p:txBody>
      </p:sp>
      <p:sp>
        <p:nvSpPr>
          <p:cNvPr id="3" name="Content Placeholder 2"/>
          <p:cNvSpPr>
            <a:spLocks noGrp="1"/>
          </p:cNvSpPr>
          <p:nvPr>
            <p:ph sz="quarter" idx="10"/>
          </p:nvPr>
        </p:nvSpPr>
        <p:spPr>
          <a:xfrm>
            <a:off x="685800" y="1296521"/>
            <a:ext cx="7899308" cy="4280367"/>
          </a:xfrm>
        </p:spPr>
        <p:txBody>
          <a:bodyPr/>
          <a:lstStyle/>
          <a:p>
            <a:r>
              <a:rPr lang="en-US" sz="2400"/>
              <a:t>All four national models have a similar concept of a Basin as a spatial unit for reporting purposes. </a:t>
            </a:r>
          </a:p>
          <a:p>
            <a:pPr lvl="2"/>
            <a:r>
              <a:rPr lang="en-US" sz="2200"/>
              <a:t>Typically organized around major river drainage areas</a:t>
            </a:r>
          </a:p>
          <a:p>
            <a:r>
              <a:rPr lang="en-US" sz="2400"/>
              <a:t>HY_Features distinguishes between arbitrary catchments (HY_Catchment) and catchments which are topologically connected by a stably-identified outflow (HY_Basin) </a:t>
            </a:r>
          </a:p>
          <a:p>
            <a:r>
              <a:rPr lang="en-US" sz="2400"/>
              <a:t>HY_Features allows multiple geometric representations for each catchment, eg, HY_CatchmentArea</a:t>
            </a:r>
          </a:p>
          <a:p>
            <a:r>
              <a:rPr lang="en-US" sz="2400"/>
              <a:t>NHDPlus Catchments would thus be described in terms of both HY_CatchmentArea and HY_Basin, for both geometric and flow concepts</a:t>
            </a:r>
          </a:p>
        </p:txBody>
      </p:sp>
    </p:spTree>
    <p:extLst>
      <p:ext uri="{BB962C8B-B14F-4D97-AF65-F5344CB8AC3E}">
        <p14:creationId xmlns:p14="http://schemas.microsoft.com/office/powerpoint/2010/main" val="146400809"/>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Automating Database Conversions</a:t>
            </a:r>
            <a:endParaRPr lang="en-US" sz="3200" b="0"/>
          </a:p>
        </p:txBody>
      </p:sp>
      <p:sp>
        <p:nvSpPr>
          <p:cNvPr id="3" name="Content Placeholder 2"/>
          <p:cNvSpPr>
            <a:spLocks noGrp="1"/>
          </p:cNvSpPr>
          <p:nvPr>
            <p:ph sz="quarter" idx="10"/>
          </p:nvPr>
        </p:nvSpPr>
        <p:spPr>
          <a:xfrm>
            <a:off x="685801" y="1170050"/>
            <a:ext cx="8119792" cy="5687949"/>
          </a:xfrm>
        </p:spPr>
        <p:txBody>
          <a:bodyPr/>
          <a:lstStyle/>
          <a:p>
            <a:pPr marL="173736" lvl="3" indent="-173736">
              <a:lnSpc>
                <a:spcPct val="100000"/>
              </a:lnSpc>
              <a:spcBef>
                <a:spcPts val="300"/>
              </a:spcBef>
              <a:spcAft>
                <a:spcPts val="1200"/>
              </a:spcAft>
              <a:buClrTx/>
              <a:buFont typeface="Arial"/>
              <a:buChar char="•"/>
            </a:pPr>
            <a:r>
              <a:rPr lang="en-US" sz="2000"/>
              <a:t>One role of HY_Features could be to facilitate data model and database translations across national borders. This would be of great utility, such as </a:t>
            </a:r>
            <a:r>
              <a:rPr lang="en-US"/>
              <a:t>supporting applications for countries that have not developed their own national data models</a:t>
            </a:r>
            <a:endParaRPr lang="en-US" sz="2000"/>
          </a:p>
          <a:p>
            <a:pPr lvl="3">
              <a:lnSpc>
                <a:spcPct val="90000"/>
              </a:lnSpc>
            </a:pPr>
            <a:r>
              <a:rPr lang="en-US"/>
              <a:t>INSPIRE countries may not need this at European-interior borders, but may benefit from mapping to non-INSPIRE countries</a:t>
            </a:r>
          </a:p>
          <a:p>
            <a:r>
              <a:rPr lang="en-US" sz="2000"/>
              <a:t>HY_Features was not considered initially for transforming physical databases, but for </a:t>
            </a:r>
            <a:r>
              <a:rPr lang="en-US" sz="2000" u="sng"/>
              <a:t>describing</a:t>
            </a:r>
            <a:r>
              <a:rPr lang="en-US" sz="2000"/>
              <a:t> the relations between components of a data model, and between data models, in a machine-usable way</a:t>
            </a:r>
          </a:p>
          <a:p>
            <a:pPr lvl="3">
              <a:lnSpc>
                <a:spcPct val="90000"/>
              </a:lnSpc>
            </a:pPr>
            <a:r>
              <a:rPr lang="en-US"/>
              <a:t>By itself, HY_Features does not fix semantic mismatches between national data models, but helps make them explicit</a:t>
            </a:r>
          </a:p>
          <a:p>
            <a:pPr lvl="3">
              <a:lnSpc>
                <a:spcPct val="90000"/>
              </a:lnSpc>
            </a:pPr>
            <a:r>
              <a:rPr lang="en-US"/>
              <a:t>Better, more mature tools are needed to make physical data conversion productive, eg, to make up for lack of river catchment topology</a:t>
            </a:r>
          </a:p>
          <a:p>
            <a:pPr lvl="3">
              <a:lnSpc>
                <a:spcPct val="90000"/>
              </a:lnSpc>
            </a:pPr>
            <a:r>
              <a:rPr lang="en-US"/>
              <a:t>While GIS can create and maintain river topology very well, it does not link the topology with other feature types, which would be of use to more applications than just hydrology</a:t>
            </a:r>
          </a:p>
          <a:p>
            <a:pPr>
              <a:lnSpc>
                <a:spcPct val="90000"/>
              </a:lnSpc>
            </a:pPr>
            <a:endParaRPr lang="en-US" sz="2400"/>
          </a:p>
        </p:txBody>
      </p:sp>
    </p:spTree>
    <p:extLst>
      <p:ext uri="{BB962C8B-B14F-4D97-AF65-F5344CB8AC3E}">
        <p14:creationId xmlns:p14="http://schemas.microsoft.com/office/powerpoint/2010/main" val="3381187421"/>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NHDPlus to HY_Features Mapping - 1</a:t>
            </a:r>
          </a:p>
        </p:txBody>
      </p:sp>
      <p:pic>
        <p:nvPicPr>
          <p:cNvPr id="4" name="Picture 3" descr="HYF2NHD-catchment-flowline-junction-RA.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821" y="1006494"/>
            <a:ext cx="8347001" cy="5851506"/>
          </a:xfrm>
          <a:prstGeom prst="rect">
            <a:avLst/>
          </a:prstGeom>
        </p:spPr>
      </p:pic>
      <p:sp>
        <p:nvSpPr>
          <p:cNvPr id="5" name="TextBox 4">
            <a:hlinkClick r:id="rId3" action="ppaction://hlinkfile"/>
          </p:cNvPr>
          <p:cNvSpPr txBox="1"/>
          <p:nvPr/>
        </p:nvSpPr>
        <p:spPr>
          <a:xfrm>
            <a:off x="105826" y="6509064"/>
            <a:ext cx="4193342" cy="304285"/>
          </a:xfrm>
          <a:prstGeom prst="rect">
            <a:avLst/>
          </a:prstGeom>
          <a:noFill/>
          <a:effectLst/>
        </p:spPr>
        <p:txBody>
          <a:bodyPr wrap="square" lIns="0" tIns="0" rIns="0" bIns="0" rtlCol="0">
            <a:noAutofit/>
          </a:bodyPr>
          <a:lstStyle/>
          <a:p>
            <a:pPr eaLnBrk="0" hangingPunct="0">
              <a:lnSpc>
                <a:spcPts val="1800"/>
              </a:lnSpc>
            </a:pPr>
            <a:r>
              <a:rPr lang="en-US" sz="1400">
                <a:solidFill>
                  <a:srgbClr val="000000"/>
                </a:solidFill>
                <a:latin typeface="Lucida Grande"/>
                <a:ea typeface="Lucida Grande"/>
                <a:cs typeface="Lucida Grande"/>
              </a:rPr>
              <a:t>HYF2NHD-catchment-flowline-junction-RA.pdf</a:t>
            </a:r>
            <a:endParaRPr lang="en-US" sz="1400" b="1" dirty="0" smtClean="0">
              <a:ea typeface="+mn-ea"/>
              <a:cs typeface="+mn-cs"/>
            </a:endParaRPr>
          </a:p>
        </p:txBody>
      </p:sp>
    </p:spTree>
    <p:extLst>
      <p:ext uri="{BB962C8B-B14F-4D97-AF65-F5344CB8AC3E}">
        <p14:creationId xmlns:p14="http://schemas.microsoft.com/office/powerpoint/2010/main" val="172522307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NHDPlus to HY_Features Mapping - 2</a:t>
            </a:r>
          </a:p>
        </p:txBody>
      </p:sp>
      <p:pic>
        <p:nvPicPr>
          <p:cNvPr id="3" name="Picture 2" descr="HYF2NFIE-catchment-flowline-midpoint-streamgage.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302" y="1071408"/>
            <a:ext cx="8254403" cy="5786592"/>
          </a:xfrm>
          <a:prstGeom prst="rect">
            <a:avLst/>
          </a:prstGeom>
        </p:spPr>
      </p:pic>
      <p:sp>
        <p:nvSpPr>
          <p:cNvPr id="5" name="TextBox 4">
            <a:hlinkClick r:id="rId3" action="ppaction://hlinkfile"/>
          </p:cNvPr>
          <p:cNvSpPr txBox="1"/>
          <p:nvPr/>
        </p:nvSpPr>
        <p:spPr>
          <a:xfrm>
            <a:off x="0" y="6548753"/>
            <a:ext cx="5238371" cy="277826"/>
          </a:xfrm>
          <a:prstGeom prst="rect">
            <a:avLst/>
          </a:prstGeom>
          <a:noFill/>
          <a:effectLst/>
        </p:spPr>
        <p:txBody>
          <a:bodyPr wrap="square" lIns="0" tIns="0" rIns="0" bIns="0" rtlCol="0">
            <a:noAutofit/>
          </a:bodyPr>
          <a:lstStyle/>
          <a:p>
            <a:pPr eaLnBrk="0" hangingPunct="0">
              <a:lnSpc>
                <a:spcPts val="1800"/>
              </a:lnSpc>
            </a:pPr>
            <a:r>
              <a:rPr lang="en-US" sz="1400">
                <a:solidFill>
                  <a:srgbClr val="000000"/>
                </a:solidFill>
                <a:latin typeface="Lucida Grande"/>
                <a:ea typeface="Lucida Grande"/>
                <a:cs typeface="Lucida Grande"/>
              </a:rPr>
              <a:t>HYF2NFIE-catchment-flowline-midpoint-streamgage.pdf</a:t>
            </a:r>
            <a:endParaRPr lang="en-US" sz="1400" b="1" dirty="0" smtClean="0">
              <a:ea typeface="+mn-ea"/>
              <a:cs typeface="+mn-cs"/>
            </a:endParaRPr>
          </a:p>
        </p:txBody>
      </p:sp>
    </p:spTree>
    <p:extLst>
      <p:ext uri="{BB962C8B-B14F-4D97-AF65-F5344CB8AC3E}">
        <p14:creationId xmlns:p14="http://schemas.microsoft.com/office/powerpoint/2010/main" val="593368934"/>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GML / GIS Integration Challenges</a:t>
            </a:r>
            <a:endParaRPr lang="en-US" dirty="0"/>
          </a:p>
        </p:txBody>
      </p:sp>
      <p:sp>
        <p:nvSpPr>
          <p:cNvPr id="3" name="Content Placeholder 2"/>
          <p:cNvSpPr>
            <a:spLocks noGrp="1"/>
          </p:cNvSpPr>
          <p:nvPr>
            <p:ph sz="quarter" idx="10"/>
          </p:nvPr>
        </p:nvSpPr>
        <p:spPr>
          <a:xfrm>
            <a:off x="685800" y="1620838"/>
            <a:ext cx="7313613" cy="4969794"/>
          </a:xfrm>
        </p:spPr>
        <p:txBody>
          <a:bodyPr/>
          <a:lstStyle/>
          <a:p>
            <a:pPr marL="0" indent="0">
              <a:buNone/>
            </a:pPr>
            <a:r>
              <a:rPr lang="en-US" dirty="0" smtClean="0"/>
              <a:t>Typical Complex GML Requirements</a:t>
            </a:r>
          </a:p>
          <a:p>
            <a:pPr lvl="2"/>
            <a:r>
              <a:rPr lang="en-US" dirty="0" smtClean="0"/>
              <a:t>Nested objects</a:t>
            </a:r>
          </a:p>
          <a:p>
            <a:pPr lvl="2"/>
            <a:r>
              <a:rPr lang="en-US" dirty="0" smtClean="0"/>
              <a:t>Series / list elements</a:t>
            </a:r>
          </a:p>
          <a:p>
            <a:pPr lvl="2"/>
            <a:r>
              <a:rPr lang="en-US" dirty="0" smtClean="0"/>
              <a:t>Multi-geometries / representations</a:t>
            </a:r>
          </a:p>
          <a:p>
            <a:pPr lvl="2"/>
            <a:r>
              <a:rPr lang="en-US" dirty="0" smtClean="0"/>
              <a:t>Unique ids needed for each level / geometry</a:t>
            </a:r>
          </a:p>
          <a:p>
            <a:pPr lvl="2"/>
            <a:r>
              <a:rPr lang="en-US" dirty="0" smtClean="0"/>
              <a:t>Many required elements not available from source</a:t>
            </a:r>
          </a:p>
          <a:p>
            <a:pPr marL="0" indent="0">
              <a:buNone/>
            </a:pPr>
            <a:r>
              <a:rPr lang="en-US" dirty="0" smtClean="0"/>
              <a:t>Result: Single GML object maps to many child records in multiple related tables</a:t>
            </a:r>
          </a:p>
          <a:p>
            <a:pPr marL="0" indent="0">
              <a:buNone/>
            </a:pPr>
            <a:endParaRPr lang="en-US" dirty="0"/>
          </a:p>
        </p:txBody>
      </p:sp>
    </p:spTree>
    <p:extLst>
      <p:ext uri="{BB962C8B-B14F-4D97-AF65-F5344CB8AC3E}">
        <p14:creationId xmlns:p14="http://schemas.microsoft.com/office/powerpoint/2010/main" val="2134853633"/>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ME-02-featureclass mapping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2783"/>
            <a:ext cx="9144000" cy="4579327"/>
          </a:xfrm>
          <a:prstGeom prst="rect">
            <a:avLst/>
          </a:prstGeom>
        </p:spPr>
      </p:pic>
      <p:sp>
        <p:nvSpPr>
          <p:cNvPr id="2" name="Title 1"/>
          <p:cNvSpPr>
            <a:spLocks noGrp="1"/>
          </p:cNvSpPr>
          <p:nvPr>
            <p:ph type="title"/>
          </p:nvPr>
        </p:nvSpPr>
        <p:spPr>
          <a:xfrm>
            <a:off x="685800" y="359503"/>
            <a:ext cx="8091882" cy="484632"/>
          </a:xfrm>
        </p:spPr>
        <p:txBody>
          <a:bodyPr/>
          <a:lstStyle/>
          <a:p>
            <a:r>
              <a:rPr lang="en-US" dirty="0"/>
              <a:t>GIS to GML: Feature Type Mappings in FME:</a:t>
            </a:r>
            <a:br>
              <a:rPr lang="en-US" dirty="0"/>
            </a:br>
            <a:r>
              <a:rPr lang="en-US" sz="2400" i="1" dirty="0"/>
              <a:t>NHDPlus to HY_Features</a:t>
            </a:r>
            <a:r>
              <a:rPr lang="en-US" dirty="0" smtClean="0"/>
              <a:t/>
            </a:r>
            <a:br>
              <a:rPr lang="en-US" dirty="0" smtClean="0"/>
            </a:br>
            <a:endParaRPr lang="en-US" dirty="0"/>
          </a:p>
        </p:txBody>
      </p:sp>
      <p:sp>
        <p:nvSpPr>
          <p:cNvPr id="5" name="TextBox 4"/>
          <p:cNvSpPr txBox="1"/>
          <p:nvPr/>
        </p:nvSpPr>
        <p:spPr>
          <a:xfrm>
            <a:off x="0" y="5872110"/>
            <a:ext cx="9144000" cy="1031482"/>
          </a:xfrm>
          <a:prstGeom prst="rect">
            <a:avLst/>
          </a:prstGeom>
          <a:solidFill>
            <a:schemeClr val="bg1">
              <a:alpha val="65000"/>
            </a:schemeClr>
          </a:solidFill>
          <a:effectLst>
            <a:outerShdw blurRad="50800" dist="38100" dir="2700000" algn="tl" rotWithShape="0">
              <a:srgbClr val="000000">
                <a:alpha val="43000"/>
              </a:srgbClr>
            </a:outerShdw>
          </a:effectLst>
        </p:spPr>
        <p:txBody>
          <a:bodyPr wrap="square" lIns="0" tIns="0" rIns="0" bIns="0" rtlCol="0">
            <a:noAutofit/>
          </a:bodyPr>
          <a:lstStyle/>
          <a:p>
            <a:pPr algn="ctr" eaLnBrk="0" hangingPunct="0">
              <a:lnSpc>
                <a:spcPct val="90000"/>
              </a:lnSpc>
            </a:pPr>
            <a:r>
              <a:rPr lang="en-US" dirty="0" smtClean="0">
                <a:ea typeface="+mn-ea"/>
                <a:cs typeface="+mn-cs"/>
              </a:rPr>
              <a:t>Some feature classes from the GIS database are described by more than one HY_Features class… this makes the meaning of each source feature class more explicit, but HY_Features is more like metadata about the GIS database model, </a:t>
            </a:r>
          </a:p>
          <a:p>
            <a:pPr algn="ctr" eaLnBrk="0" hangingPunct="0">
              <a:lnSpc>
                <a:spcPct val="90000"/>
              </a:lnSpc>
            </a:pPr>
            <a:r>
              <a:rPr lang="en-US" dirty="0" smtClean="0">
                <a:ea typeface="+mn-ea"/>
                <a:cs typeface="+mn-cs"/>
              </a:rPr>
              <a:t>not another GIS database model itself…</a:t>
            </a:r>
          </a:p>
        </p:txBody>
      </p:sp>
    </p:spTree>
    <p:extLst>
      <p:ext uri="{BB962C8B-B14F-4D97-AF65-F5344CB8AC3E}">
        <p14:creationId xmlns:p14="http://schemas.microsoft.com/office/powerpoint/2010/main" val="269629061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HY_Features</a:t>
            </a:r>
            <a:r>
              <a:rPr lang="en-US" dirty="0" smtClean="0"/>
              <a:t> GML Schemas (FME import)</a:t>
            </a:r>
            <a:endParaRPr lang="en-US" dirty="0"/>
          </a:p>
        </p:txBody>
      </p:sp>
      <p:pic>
        <p:nvPicPr>
          <p:cNvPr id="5" name="Picture 4"/>
          <p:cNvPicPr>
            <a:picLocks noChangeAspect="1"/>
          </p:cNvPicPr>
          <p:nvPr/>
        </p:nvPicPr>
        <p:blipFill>
          <a:blip r:embed="rId2"/>
          <a:stretch>
            <a:fillRect/>
          </a:stretch>
        </p:blipFill>
        <p:spPr>
          <a:xfrm>
            <a:off x="380822" y="1019000"/>
            <a:ext cx="8538892" cy="5839000"/>
          </a:xfrm>
          <a:prstGeom prst="rect">
            <a:avLst/>
          </a:prstGeom>
        </p:spPr>
      </p:pic>
      <p:sp>
        <p:nvSpPr>
          <p:cNvPr id="3" name="TextBox 2"/>
          <p:cNvSpPr txBox="1"/>
          <p:nvPr/>
        </p:nvSpPr>
        <p:spPr>
          <a:xfrm>
            <a:off x="3753213" y="5155429"/>
            <a:ext cx="4722667" cy="1394006"/>
          </a:xfrm>
          <a:prstGeom prst="rect">
            <a:avLst/>
          </a:prstGeom>
          <a:solidFill>
            <a:schemeClr val="bg1">
              <a:alpha val="65000"/>
            </a:schemeClr>
          </a:solidFill>
          <a:effectLst>
            <a:outerShdw blurRad="50800" dist="38100" dir="2700000" algn="tl" rotWithShape="0">
              <a:srgbClr val="000000">
                <a:alpha val="43000"/>
              </a:srgbClr>
            </a:outerShdw>
          </a:effectLst>
        </p:spPr>
        <p:txBody>
          <a:bodyPr wrap="square" lIns="0" tIns="0" rIns="0" bIns="0" rtlCol="0">
            <a:noAutofit/>
          </a:bodyPr>
          <a:lstStyle/>
          <a:p>
            <a:pPr algn="l" eaLnBrk="0" hangingPunct="0">
              <a:lnSpc>
                <a:spcPct val="90000"/>
              </a:lnSpc>
            </a:pPr>
            <a:r>
              <a:rPr lang="en-US" sz="2400" b="1" dirty="0" smtClean="0">
                <a:ea typeface="+mn-ea"/>
                <a:cs typeface="+mn-cs"/>
              </a:rPr>
              <a:t>Many properties of HY_Features schema are for lists of GML-related entities… what should be done with these?  </a:t>
            </a:r>
          </a:p>
        </p:txBody>
      </p:sp>
    </p:spTree>
    <p:extLst>
      <p:ext uri="{BB962C8B-B14F-4D97-AF65-F5344CB8AC3E}">
        <p14:creationId xmlns:p14="http://schemas.microsoft.com/office/powerpoint/2010/main" val="354544121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85972"/>
            <a:ext cx="7762500" cy="484632"/>
          </a:xfrm>
        </p:spPr>
        <p:txBody>
          <a:bodyPr/>
          <a:lstStyle/>
          <a:p>
            <a:r>
              <a:rPr lang="en-US" i="1"/>
              <a:t>Conclusions: </a:t>
            </a:r>
            <a:br>
              <a:rPr lang="en-US" i="1"/>
            </a:br>
            <a:r>
              <a:rPr lang="en-US"/>
              <a:t>If we want to take flood forecasting global…</a:t>
            </a:r>
          </a:p>
        </p:txBody>
      </p:sp>
      <p:sp>
        <p:nvSpPr>
          <p:cNvPr id="3" name="Content Placeholder 2"/>
          <p:cNvSpPr>
            <a:spLocks noGrp="1"/>
          </p:cNvSpPr>
          <p:nvPr>
            <p:ph sz="quarter" idx="10"/>
          </p:nvPr>
        </p:nvSpPr>
        <p:spPr>
          <a:xfrm>
            <a:off x="685799" y="1269934"/>
            <a:ext cx="8162081" cy="5588066"/>
          </a:xfrm>
        </p:spPr>
        <p:txBody>
          <a:bodyPr/>
          <a:lstStyle/>
          <a:p>
            <a:r>
              <a:rPr lang="en-US"/>
              <a:t>We need the concepts of reach-catchments and stream network connectivity to be generally available</a:t>
            </a:r>
          </a:p>
          <a:p>
            <a:pPr lvl="2"/>
            <a:r>
              <a:rPr lang="en-US" sz="2200"/>
              <a:t>Some national models do not currently implement these</a:t>
            </a:r>
          </a:p>
          <a:p>
            <a:pPr lvl="2"/>
            <a:r>
              <a:rPr lang="en-US" sz="2200"/>
              <a:t>HY_Features could be used to clearly &amp; crisply describe river network connectivity for automated use where geometric topology networks have not been created</a:t>
            </a:r>
          </a:p>
          <a:p>
            <a:r>
              <a:rPr lang="en-US"/>
              <a:t>But HY_Features lacks tools &amp; visualization to make mappings easily understood and automated</a:t>
            </a:r>
          </a:p>
          <a:p>
            <a:pPr lvl="2"/>
            <a:r>
              <a:rPr lang="en-US"/>
              <a:t>Neo4J integration for fast river network connectivity</a:t>
            </a:r>
          </a:p>
          <a:p>
            <a:r>
              <a:rPr lang="en-US"/>
              <a:t>In the meantime, current GIS database mapping &amp; processing tools can be used, eg, ArcGIS and FME</a:t>
            </a:r>
          </a:p>
          <a:p>
            <a:endParaRPr lang="en-US"/>
          </a:p>
        </p:txBody>
      </p:sp>
    </p:spTree>
    <p:extLst>
      <p:ext uri="{BB962C8B-B14F-4D97-AF65-F5344CB8AC3E}">
        <p14:creationId xmlns:p14="http://schemas.microsoft.com/office/powerpoint/2010/main" val="195123927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alphaModFix/>
            <a:extLst>
              <a:ext uri="{28A0092B-C50C-407E-A947-70E740481C1C}">
                <a14:useLocalDpi xmlns:a14="http://schemas.microsoft.com/office/drawing/2010/main" val="0"/>
              </a:ext>
            </a:extLst>
          </a:blip>
          <a:srcRect b="42205"/>
          <a:stretch/>
        </p:blipFill>
        <p:spPr>
          <a:xfrm>
            <a:off x="0" y="2947249"/>
            <a:ext cx="9144000" cy="3910751"/>
          </a:xfrm>
          <a:prstGeom prst="rect">
            <a:avLst/>
          </a:prstGeom>
        </p:spPr>
      </p:pic>
      <p:sp>
        <p:nvSpPr>
          <p:cNvPr id="3" name="TextBox 2"/>
          <p:cNvSpPr txBox="1"/>
          <p:nvPr/>
        </p:nvSpPr>
        <p:spPr>
          <a:xfrm>
            <a:off x="2741612" y="2808543"/>
            <a:ext cx="5715000" cy="1219200"/>
          </a:xfrm>
          <a:prstGeom prst="rect">
            <a:avLst/>
          </a:prstGeom>
          <a:noFill/>
          <a:effectLst/>
        </p:spPr>
        <p:txBody>
          <a:bodyPr wrap="none" lIns="0" tIns="0" rIns="0" bIns="0" rtlCol="0">
            <a:noAutofit/>
          </a:bodyPr>
          <a:lstStyle/>
          <a:p>
            <a:pPr algn="r" defTabSz="914400" eaLnBrk="0" hangingPunct="0"/>
            <a:r>
              <a:rPr lang="en-US" sz="2400" dirty="0">
                <a:solidFill>
                  <a:prstClr val="black"/>
                </a:solidFill>
                <a:latin typeface="Arial"/>
                <a:ea typeface="ＭＳ Ｐゴシック"/>
                <a:cs typeface="ＭＳ Ｐゴシック"/>
              </a:rPr>
              <a:t>David K. Arctur, David R. </a:t>
            </a:r>
            <a:r>
              <a:rPr lang="en-US" sz="2400" dirty="0" smtClean="0">
                <a:solidFill>
                  <a:prstClr val="black"/>
                </a:solidFill>
                <a:latin typeface="Arial"/>
                <a:ea typeface="ＭＳ Ｐゴシック"/>
                <a:cs typeface="ＭＳ Ｐゴシック"/>
              </a:rPr>
              <a:t>Maidment </a:t>
            </a:r>
          </a:p>
          <a:p>
            <a:pPr algn="r" defTabSz="914400" eaLnBrk="0" hangingPunct="0"/>
            <a:r>
              <a:rPr lang="en-US" dirty="0" smtClean="0">
                <a:solidFill>
                  <a:prstClr val="black"/>
                </a:solidFill>
                <a:latin typeface="Arial"/>
                <a:ea typeface="ＭＳ Ｐゴシック"/>
                <a:cs typeface="ＭＳ Ｐゴシック"/>
              </a:rPr>
              <a:t>Center </a:t>
            </a:r>
            <a:r>
              <a:rPr lang="en-US" dirty="0">
                <a:solidFill>
                  <a:prstClr val="black"/>
                </a:solidFill>
                <a:latin typeface="Arial"/>
                <a:ea typeface="ＭＳ Ｐゴシック"/>
                <a:cs typeface="ＭＳ Ｐゴシック"/>
              </a:rPr>
              <a:t>for Research in Water Resources</a:t>
            </a:r>
          </a:p>
          <a:p>
            <a:pPr algn="r" defTabSz="914400" eaLnBrk="0" hangingPunct="0"/>
            <a:r>
              <a:rPr lang="en-US" dirty="0">
                <a:solidFill>
                  <a:prstClr val="black"/>
                </a:solidFill>
                <a:latin typeface="Arial"/>
                <a:ea typeface="ＭＳ Ｐゴシック"/>
                <a:cs typeface="ＭＳ Ｐゴシック"/>
              </a:rPr>
              <a:t>University of Texas at Austin</a:t>
            </a:r>
          </a:p>
        </p:txBody>
      </p:sp>
      <p:sp>
        <p:nvSpPr>
          <p:cNvPr id="13" name="Title 1"/>
          <p:cNvSpPr txBox="1">
            <a:spLocks/>
          </p:cNvSpPr>
          <p:nvPr/>
        </p:nvSpPr>
        <p:spPr>
          <a:xfrm>
            <a:off x="367441" y="955972"/>
            <a:ext cx="8535143" cy="484632"/>
          </a:xfrm>
          <a:prstGeom prst="rect">
            <a:avLst/>
          </a:prstGeom>
        </p:spPr>
        <p:txBody>
          <a:bodyPr/>
          <a:lstStyle>
            <a:lvl1pPr algn="l" defTabSz="457200" rtl="0" eaLnBrk="1" latinLnBrk="0" hangingPunct="1">
              <a:lnSpc>
                <a:spcPct val="100000"/>
              </a:lnSpc>
              <a:spcBef>
                <a:spcPct val="0"/>
              </a:spcBef>
              <a:buNone/>
              <a:defRPr sz="2800" b="1" i="0" kern="1200">
                <a:solidFill>
                  <a:schemeClr val="tx1"/>
                </a:solidFill>
                <a:latin typeface="+mj-lt"/>
                <a:ea typeface="+mj-ea"/>
                <a:cs typeface="Avenir LT Std 55 Roman" pitchFamily="34" charset="0"/>
              </a:defRPr>
            </a:lvl1pPr>
          </a:lstStyle>
          <a:p>
            <a:r>
              <a:rPr lang="en-US" sz="3600" dirty="0" smtClean="0">
                <a:solidFill>
                  <a:srgbClr val="001446">
                    <a:lumMod val="75000"/>
                    <a:lumOff val="25000"/>
                  </a:srgbClr>
                </a:solidFill>
                <a:latin typeface="Arial"/>
                <a:ea typeface="ＭＳ Ｐゴシック"/>
              </a:rPr>
              <a:t>Thanks! </a:t>
            </a:r>
          </a:p>
          <a:p>
            <a:r>
              <a:rPr lang="en-US" sz="3600" dirty="0">
                <a:solidFill>
                  <a:srgbClr val="001446">
                    <a:lumMod val="75000"/>
                    <a:lumOff val="25000"/>
                  </a:srgbClr>
                </a:solidFill>
                <a:latin typeface="Arial"/>
                <a:ea typeface="ＭＳ Ｐゴシック"/>
              </a:rPr>
              <a:t>Some work to do yet… </a:t>
            </a:r>
            <a:endParaRPr lang="en-US" sz="3600" dirty="0">
              <a:solidFill>
                <a:prstClr val="black"/>
              </a:solidFill>
              <a:latin typeface="Arial"/>
              <a:ea typeface="ＭＳ Ｐゴシック"/>
            </a:endParaRPr>
          </a:p>
        </p:txBody>
      </p:sp>
    </p:spTree>
    <p:extLst>
      <p:ext uri="{BB962C8B-B14F-4D97-AF65-F5344CB8AC3E}">
        <p14:creationId xmlns:p14="http://schemas.microsoft.com/office/powerpoint/2010/main" val="190499239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theme/theme1.xml><?xml version="1.0" encoding="utf-8"?>
<a:theme xmlns:a="http://schemas.openxmlformats.org/drawingml/2006/main" name="Optional_Corporate_PPT_Template-Arial">
  <a:themeElements>
    <a:clrScheme name="EsriMarketing">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9BCDFF"/>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3492</TotalTime>
  <Words>1422</Words>
  <Application>Microsoft Macintosh PowerPoint</Application>
  <PresentationFormat>On-screen Show (4:3)</PresentationFormat>
  <Paragraphs>167</Paragraphs>
  <Slides>24</Slides>
  <Notes>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Optional_Corporate_PPT_Template-Arial</vt:lpstr>
      <vt:lpstr>PowerPoint Presentation</vt:lpstr>
      <vt:lpstr>Motivation</vt:lpstr>
      <vt:lpstr>Outline</vt:lpstr>
      <vt:lpstr>PowerPoint Presentation</vt:lpstr>
      <vt:lpstr>PowerPoint Presentation</vt:lpstr>
      <vt:lpstr>Flowlines and Waterbodies</vt:lpstr>
      <vt:lpstr>PowerPoint Presentation</vt:lpstr>
      <vt:lpstr>PowerPoint Presentation</vt:lpstr>
      <vt:lpstr>Catchments vs. Basins to a hydrologist</vt:lpstr>
      <vt:lpstr>PowerPoint Presentation</vt:lpstr>
      <vt:lpstr>PowerPoint Presentation</vt:lpstr>
      <vt:lpstr>Relating a Catchment with its Reach</vt:lpstr>
      <vt:lpstr>Why Does This Matter? </vt:lpstr>
      <vt:lpstr>National  Models vs. HY_Features</vt:lpstr>
      <vt:lpstr>Hydrologic Representations Vary</vt:lpstr>
      <vt:lpstr>Basins vs. Catchments in HY_Features</vt:lpstr>
      <vt:lpstr>Automating Database Conversions</vt:lpstr>
      <vt:lpstr>NHDPlus to HY_Features Mapping - 1</vt:lpstr>
      <vt:lpstr>NHDPlus to HY_Features Mapping - 2</vt:lpstr>
      <vt:lpstr>GML / GIS Integration Challenges</vt:lpstr>
      <vt:lpstr>GIS to GML: Feature Type Mappings in FME: NHDPlus to HY_Features </vt:lpstr>
      <vt:lpstr>HY_Features GML Schemas (FME import)</vt:lpstr>
      <vt:lpstr>Conclusions:  If we want to take flood forecasting global…</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Arctur</dc:creator>
  <cp:lastModifiedBy>David Arctur</cp:lastModifiedBy>
  <cp:revision>129</cp:revision>
  <dcterms:created xsi:type="dcterms:W3CDTF">2015-09-08T16:30:53Z</dcterms:created>
  <dcterms:modified xsi:type="dcterms:W3CDTF">2015-09-23T14:51:00Z</dcterms:modified>
</cp:coreProperties>
</file>