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65" r:id="rId3"/>
    <p:sldId id="278" r:id="rId4"/>
    <p:sldId id="279" r:id="rId5"/>
    <p:sldId id="280" r:id="rId6"/>
    <p:sldId id="282" r:id="rId7"/>
    <p:sldId id="283" r:id="rId8"/>
    <p:sldId id="281" r:id="rId9"/>
    <p:sldId id="267" r:id="rId10"/>
    <p:sldId id="277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 snapToObjects="1">
      <p:cViewPr varScale="1">
        <p:scale>
          <a:sx n="39" d="100"/>
          <a:sy n="39" d="100"/>
        </p:scale>
        <p:origin x="149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4760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2785730"/>
            <a:ext cx="21971000" cy="97187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1500"/>
              </a:spcBef>
              <a:defRPr/>
            </a:lvl2pPr>
            <a:lvl3pPr>
              <a:lnSpc>
                <a:spcPct val="100000"/>
              </a:lnSpc>
              <a:spcBef>
                <a:spcPts val="1500"/>
              </a:spcBef>
              <a:defRPr/>
            </a:lvl3pPr>
            <a:lvl4pPr>
              <a:lnSpc>
                <a:spcPct val="100000"/>
              </a:lnSpc>
              <a:spcBef>
                <a:spcPts val="1500"/>
              </a:spcBef>
              <a:defRPr/>
            </a:lvl4pPr>
            <a:lvl5pPr>
              <a:lnSpc>
                <a:spcPct val="100000"/>
              </a:lnSpc>
              <a:spcBef>
                <a:spcPts val="1500"/>
              </a:spcBef>
              <a:defRPr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52B0C06E-0977-954B-BAB3-30BEF9D86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-15246"/>
            <a:ext cx="24580123" cy="1373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14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Section Title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3D Mark.png" descr="3D Mark.png"/>
          <p:cNvPicPr>
            <a:picLocks noChangeAspect="1"/>
          </p:cNvPicPr>
          <p:nvPr/>
        </p:nvPicPr>
        <p:blipFill>
          <a:blip r:embed="rId2" cstate="email">
            <a:alphaModFix amt="28042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6343" y="856308"/>
            <a:ext cx="8393334" cy="8393335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hank You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343969" y="1227969"/>
            <a:ext cx="9779001" cy="14351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500" b="1" spc="-170">
                <a:solidFill>
                  <a:srgbClr val="00B1FF"/>
                </a:solidFill>
              </a:defRPr>
            </a:lvl1pPr>
          </a:lstStyle>
          <a:p>
            <a:r>
              <a:rPr dirty="0"/>
              <a:t>Thank You</a:t>
            </a:r>
          </a:p>
        </p:txBody>
      </p:sp>
      <p:sp>
        <p:nvSpPr>
          <p:cNvPr id="241" name="Rectangle"/>
          <p:cNvSpPr/>
          <p:nvPr/>
        </p:nvSpPr>
        <p:spPr>
          <a:xfrm>
            <a:off x="11343969" y="2853794"/>
            <a:ext cx="3569395" cy="151693"/>
          </a:xfrm>
          <a:prstGeom prst="rect">
            <a:avLst/>
          </a:prstGeom>
          <a:solidFill>
            <a:srgbClr val="00B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Community"/>
          <p:cNvSpPr txBox="1">
            <a:spLocks noGrp="1"/>
          </p:cNvSpPr>
          <p:nvPr>
            <p:ph type="body" sz="quarter" idx="23"/>
          </p:nvPr>
        </p:nvSpPr>
        <p:spPr>
          <a:xfrm>
            <a:off x="11339402" y="3196211"/>
            <a:ext cx="9779001" cy="76633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500" b="1">
                <a:solidFill>
                  <a:srgbClr val="262626"/>
                </a:solidFill>
              </a:defRPr>
            </a:lvl1pPr>
          </a:lstStyle>
          <a:p>
            <a:r>
              <a:rPr dirty="0"/>
              <a:t>Community</a:t>
            </a:r>
          </a:p>
        </p:txBody>
      </p:sp>
      <p:sp>
        <p:nvSpPr>
          <p:cNvPr id="243" name="500+ International Members…"/>
          <p:cNvSpPr txBox="1"/>
          <p:nvPr/>
        </p:nvSpPr>
        <p:spPr>
          <a:xfrm>
            <a:off x="11339402" y="4029351"/>
            <a:ext cx="10439854" cy="2819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500+ International Members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110+ Member Meetings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60+ Alliance and Liaison partners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50+ Standards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45+ Domain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25+ Years of Not for Profit Work</a:t>
            </a:r>
            <a:br>
              <a:rPr dirty="0"/>
            </a:br>
            <a:r>
              <a:rPr dirty="0"/>
              <a:t>10+ Regional and Country Forums</a:t>
            </a:r>
          </a:p>
        </p:txBody>
      </p:sp>
      <p:sp>
        <p:nvSpPr>
          <p:cNvPr id="244" name="Innovation"/>
          <p:cNvSpPr txBox="1"/>
          <p:nvPr/>
        </p:nvSpPr>
        <p:spPr>
          <a:xfrm>
            <a:off x="11339402" y="713570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Innovation</a:t>
            </a:r>
          </a:p>
        </p:txBody>
      </p:sp>
      <p:sp>
        <p:nvSpPr>
          <p:cNvPr id="245" name="120+ Innovation Initiatives…"/>
          <p:cNvSpPr txBox="1"/>
          <p:nvPr/>
        </p:nvSpPr>
        <p:spPr>
          <a:xfrm>
            <a:off x="11339402" y="8053019"/>
            <a:ext cx="10439854" cy="1196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120+ Innovation Initiatives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380+ Technical reports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Quarterly Tech Trends monitoring</a:t>
            </a:r>
          </a:p>
        </p:txBody>
      </p:sp>
      <p:sp>
        <p:nvSpPr>
          <p:cNvPr id="246" name="Standards"/>
          <p:cNvSpPr txBox="1"/>
          <p:nvPr/>
        </p:nvSpPr>
        <p:spPr>
          <a:xfrm>
            <a:off x="11339402" y="946876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Standards</a:t>
            </a:r>
          </a:p>
        </p:txBody>
      </p:sp>
      <p:sp>
        <p:nvSpPr>
          <p:cNvPr id="247" name="65+ Adopted Standards…"/>
          <p:cNvSpPr txBox="1"/>
          <p:nvPr/>
        </p:nvSpPr>
        <p:spPr>
          <a:xfrm>
            <a:off x="11339402" y="10454222"/>
            <a:ext cx="10439854" cy="1602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65+ Adopted Standards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300+ products with 1000+ certified implementations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1,700,000+ Operational Data Sets </a:t>
            </a:r>
            <a:br>
              <a:rPr dirty="0"/>
            </a:br>
            <a:r>
              <a:rPr dirty="0"/>
              <a:t>Using OGC Standards</a:t>
            </a:r>
          </a:p>
        </p:txBody>
      </p:sp>
      <p:pic>
        <p:nvPicPr>
          <p:cNvPr id="248" name="OGC Mark.pdf" descr="OGC Mark.pdf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9743" y="12374675"/>
            <a:ext cx="574285" cy="647902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Copyright © 2021 Open Geospatial Consortium"/>
          <p:cNvSpPr txBox="1"/>
          <p:nvPr/>
        </p:nvSpPr>
        <p:spPr>
          <a:xfrm>
            <a:off x="2058447" y="12456573"/>
            <a:ext cx="10439855" cy="48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ct val="140000"/>
              </a:lnSpc>
              <a:defRPr sz="2000">
                <a:solidFill>
                  <a:srgbClr val="00206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Copyright © 202</a:t>
            </a:r>
            <a:r>
              <a:rPr lang="en-US" dirty="0"/>
              <a:t>2</a:t>
            </a:r>
            <a:r>
              <a:rPr dirty="0"/>
              <a:t> Open Geospatial Consortium</a:t>
            </a:r>
          </a:p>
        </p:txBody>
      </p:sp>
      <p:sp>
        <p:nvSpPr>
          <p:cNvPr id="2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8088" y="12968286"/>
            <a:ext cx="495328" cy="48731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86CB4B4D-7CA3-9044-876B-883B54F8677D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6275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945301" y="12968286"/>
            <a:ext cx="480901" cy="4873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9" r:id="rId3"/>
    <p:sldLayoutId id="2147483670" r:id="rId4"/>
    <p:sldLayoutId id="2147483671" r:id="rId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geospatial/om-swg/projects/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s.grellet@brgm.f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xfrm>
            <a:off x="1206496" y="3240002"/>
            <a:ext cx="14035938" cy="46482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dirty="0" smtClean="0"/>
              <a:t>Observations, </a:t>
            </a:r>
            <a:r>
              <a:rPr lang="fr-FR" dirty="0" err="1" smtClean="0"/>
              <a:t>measurements</a:t>
            </a:r>
            <a:r>
              <a:rPr lang="fr-FR" dirty="0" smtClean="0"/>
              <a:t> and </a:t>
            </a:r>
            <a:r>
              <a:rPr lang="fr-FR" dirty="0" err="1"/>
              <a:t>s</a:t>
            </a:r>
            <a:r>
              <a:rPr lang="fr-FR" dirty="0" err="1" smtClean="0"/>
              <a:t>amples</a:t>
            </a:r>
            <a:r>
              <a:rPr lang="fr-FR" dirty="0" smtClean="0"/>
              <a:t>, update</a:t>
            </a:r>
            <a:endParaRPr dirty="0"/>
          </a:p>
        </p:txBody>
      </p:sp>
      <p:sp>
        <p:nvSpPr>
          <p:cNvPr id="262" name="Author and Date"/>
          <p:cNvSpPr txBox="1">
            <a:spLocks noGrp="1"/>
          </p:cNvSpPr>
          <p:nvPr>
            <p:ph type="body" sz="quarter" idx="1"/>
          </p:nvPr>
        </p:nvSpPr>
        <p:spPr>
          <a:xfrm>
            <a:off x="1201342" y="7875501"/>
            <a:ext cx="21971001" cy="1905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123</a:t>
            </a:r>
            <a:r>
              <a:rPr lang="en-US" baseline="30000" dirty="0"/>
              <a:t>rd</a:t>
            </a:r>
            <a:r>
              <a:rPr lang="en-US" dirty="0"/>
              <a:t> OGC Member Meeting</a:t>
            </a:r>
            <a:endParaRPr dirty="0"/>
          </a:p>
        </p:txBody>
      </p:sp>
      <p:sp>
        <p:nvSpPr>
          <p:cNvPr id="5" name="Presentation Subtitle">
            <a:extLst>
              <a:ext uri="{FF2B5EF4-FFF2-40B4-BE49-F238E27FC236}">
                <a16:creationId xmlns:a16="http://schemas.microsoft.com/office/drawing/2014/main" id="{AD17ED5E-F497-D24E-82F8-50CA37AC85C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201340" y="11847162"/>
            <a:ext cx="21971003" cy="123152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Sylvain Grellet, BRGM</a:t>
            </a:r>
            <a:endParaRPr lang="en-US" dirty="0"/>
          </a:p>
          <a:p>
            <a:r>
              <a:rPr lang="en-US" dirty="0" smtClean="0"/>
              <a:t>13 </a:t>
            </a:r>
            <a:r>
              <a:rPr lang="en-US" dirty="0"/>
              <a:t>June 2022</a:t>
            </a:r>
          </a:p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3617E-90BE-984A-9825-F69529B2D3E4}"/>
              </a:ext>
            </a:extLst>
          </p:cNvPr>
          <p:cNvSpPr txBox="1"/>
          <p:nvPr/>
        </p:nvSpPr>
        <p:spPr>
          <a:xfrm>
            <a:off x="10514909" y="9591125"/>
            <a:ext cx="334386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0096FF"/>
                </a:solidFill>
              </a:rPr>
              <a:t>Meeting sponsor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96FF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pic>
        <p:nvPicPr>
          <p:cNvPr id="3" name="Picture 2" descr="European Union Satellite Centre – European Defence Network">
            <a:extLst>
              <a:ext uri="{FF2B5EF4-FFF2-40B4-BE49-F238E27FC236}">
                <a16:creationId xmlns:a16="http://schemas.microsoft.com/office/drawing/2014/main" id="{A3364186-B759-6286-CF4C-BDB2A3907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396262" y="10382684"/>
            <a:ext cx="3581157" cy="332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DIS Ballot result 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19156 DIS ballot ended on 20th Apr 2022 with 100% approval </a:t>
            </a:r>
            <a:r>
              <a:rPr lang="en-US" dirty="0" smtClean="0"/>
              <a:t>votes</a:t>
            </a:r>
          </a:p>
          <a:p>
            <a:endParaRPr lang="en-US" dirty="0"/>
          </a:p>
          <a:p>
            <a:r>
              <a:rPr lang="en-US" dirty="0"/>
              <a:t>119 comments received in total of which a vast majority was labelled as editorial. All non-editorial comments considered  Clause 3 (Terms and definitions, see next two slides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Initial evaluation of the project team is that no technical changes are required, thus FDIS is not necessary – to be confirmed at the EC </a:t>
            </a:r>
            <a:r>
              <a:rPr lang="en-US" dirty="0" smtClean="0"/>
              <a:t>meeting</a:t>
            </a:r>
          </a:p>
          <a:p>
            <a:endParaRPr lang="en-US" dirty="0"/>
          </a:p>
          <a:p>
            <a:r>
              <a:rPr lang="en-US" dirty="0"/>
              <a:t>Many editorial changes are expected however, thus enough calendar time required to finalize the specification text and </a:t>
            </a:r>
            <a:r>
              <a:rPr lang="en-US" dirty="0" smtClean="0"/>
              <a:t>figures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8;g1271c0c58e1_0_43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0541" y="448887"/>
            <a:ext cx="20649583" cy="12745028"/>
          </a:xfrm>
          <a:prstGeom prst="rect">
            <a:avLst/>
          </a:prstGeom>
          <a:noFill/>
          <a:ln w="12700">
            <a:noFill/>
            <a:miter lim="400000"/>
          </a:ln>
        </p:spPr>
      </p:pic>
    </p:spTree>
    <p:extLst>
      <p:ext uri="{BB962C8B-B14F-4D97-AF65-F5344CB8AC3E}">
        <p14:creationId xmlns:p14="http://schemas.microsoft.com/office/powerpoint/2010/main" val="10398398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 : Comments </a:t>
            </a:r>
            <a:r>
              <a:rPr lang="en-US" dirty="0"/>
              <a:t>for terms and definitions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3.6 ex-situ: Different categorization used in EO: in-situ (sensor in close proximity) vs. remote observations, not ex-situ (observation created from a sample removed from its natural surroundings) vs. in-situ (observation made in the natural surroundings of the target).</a:t>
            </a:r>
          </a:p>
          <a:p>
            <a:r>
              <a:rPr lang="en-US" dirty="0"/>
              <a:t>3.12 measurement: desire to bind term with the term "observation" as "observation of quantity"</a:t>
            </a:r>
          </a:p>
          <a:p>
            <a:r>
              <a:rPr lang="en-US" dirty="0"/>
              <a:t>3.13 observation and 3.14 observer: desire to limit the use observations to only sensor-based data acquisition, not model-based estimation.</a:t>
            </a:r>
          </a:p>
          <a:p>
            <a:r>
              <a:rPr lang="en-US" dirty="0"/>
              <a:t>3.17 property: desire to widen the ISO 19143 definition to include properties of non-object phenomena</a:t>
            </a:r>
          </a:p>
          <a:p>
            <a:r>
              <a:rPr lang="en-US" dirty="0" smtClean="0"/>
              <a:t>3.21 sample: A wider definition is desired including sample pixels etc. which may not be "representative" of the target in EO domain. </a:t>
            </a:r>
            <a:endParaRPr lang="fr-FR" dirty="0"/>
          </a:p>
        </p:txBody>
      </p:sp>
      <p:sp>
        <p:nvSpPr>
          <p:cNvPr id="5" name="Google Shape;127;g1271c0c58e1_0_32"/>
          <p:cNvSpPr txBox="1"/>
          <p:nvPr/>
        </p:nvSpPr>
        <p:spPr>
          <a:xfrm>
            <a:off x="1559243" y="12369693"/>
            <a:ext cx="22027587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4000" dirty="0" smtClean="0">
                <a:solidFill>
                  <a:srgbClr val="CC0000"/>
                </a:solidFill>
                <a:latin typeface="Georgia"/>
                <a:ea typeface="Georgia"/>
                <a:cs typeface="Georgia"/>
                <a:sym typeface="Georgia"/>
              </a:rPr>
              <a:t>Incl. some “last minutes discussions” in the GitHub that should have occurred in the previous commenting rounds</a:t>
            </a:r>
            <a:endParaRPr sz="4000" dirty="0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273278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06500" y="952500"/>
            <a:ext cx="23177500" cy="1433163"/>
          </a:xfrm>
        </p:spPr>
        <p:txBody>
          <a:bodyPr>
            <a:normAutofit fontScale="90000"/>
          </a:bodyPr>
          <a:lstStyle/>
          <a:p>
            <a:r>
              <a:rPr lang="en-US" dirty="0"/>
              <a:t>Comment resolution and Editing Committee  meeting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 smtClean="0"/>
          </a:p>
          <a:p>
            <a:r>
              <a:rPr lang="en-US" dirty="0" smtClean="0"/>
              <a:t>OGC </a:t>
            </a:r>
            <a:r>
              <a:rPr lang="en-US" dirty="0"/>
              <a:t>GitHub issues used for </a:t>
            </a:r>
            <a:r>
              <a:rPr lang="en-US" dirty="0" smtClean="0"/>
              <a:t>processing</a:t>
            </a:r>
            <a:r>
              <a:rPr lang="en-US" dirty="0"/>
              <a:t> </a:t>
            </a:r>
            <a:r>
              <a:rPr lang="en-US" dirty="0" smtClean="0"/>
              <a:t>the proposed </a:t>
            </a:r>
            <a:r>
              <a:rPr lang="en-US" dirty="0"/>
              <a:t>resolutions for all of the </a:t>
            </a:r>
            <a:r>
              <a:rPr lang="en-US" dirty="0" smtClean="0"/>
              <a:t>comments (same as before</a:t>
            </a:r>
            <a:r>
              <a:rPr lang="en-US" dirty="0"/>
              <a:t>) 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github.com/opengeospatial/om-swg/projects/3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/>
              <a:t>Large number of editorial comments (including ISO secretariat ones regarding readability and color usage of some figures) and carefulness required revising the wordings in Clause 3</a:t>
            </a:r>
          </a:p>
          <a:p>
            <a:endParaRPr lang="fr-FR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fr-FR" dirty="0" smtClean="0"/>
              <a:t> ISO 19156 </a:t>
            </a:r>
            <a:r>
              <a:rPr lang="fr-FR" dirty="0" err="1" smtClean="0"/>
              <a:t>Editing</a:t>
            </a:r>
            <a:r>
              <a:rPr lang="fr-FR" dirty="0" smtClean="0"/>
              <a:t> </a:t>
            </a:r>
            <a:r>
              <a:rPr lang="fr-FR" dirty="0" err="1"/>
              <a:t>Committee</a:t>
            </a:r>
            <a:r>
              <a:rPr lang="fr-FR" dirty="0"/>
              <a:t> </a:t>
            </a:r>
            <a:r>
              <a:rPr lang="fr-FR" dirty="0" smtClean="0"/>
              <a:t>meeting : </a:t>
            </a:r>
            <a:r>
              <a:rPr lang="fr-FR" dirty="0" err="1" smtClean="0"/>
              <a:t>June</a:t>
            </a:r>
            <a:r>
              <a:rPr lang="fr-FR" dirty="0" smtClean="0"/>
              <a:t> 21 2022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dirty="0"/>
              <a:t> </a:t>
            </a:r>
            <a:r>
              <a:rPr lang="fr-FR" dirty="0" smtClean="0"/>
              <a:t>final comment </a:t>
            </a:r>
            <a:r>
              <a:rPr lang="fr-FR" dirty="0" err="1" smtClean="0"/>
              <a:t>resolutions</a:t>
            </a:r>
            <a:r>
              <a:rPr lang="fr-FR" dirty="0" smtClean="0"/>
              <a:t> </a:t>
            </a:r>
            <a:r>
              <a:rPr lang="fr-FR" dirty="0" err="1" smtClean="0"/>
              <a:t>agreed</a:t>
            </a:r>
            <a:r>
              <a:rPr lang="fr-FR" dirty="0" smtClean="0"/>
              <a:t> 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85602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96" y="1942528"/>
            <a:ext cx="22783454" cy="11627168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 </a:t>
            </a:r>
            <a:r>
              <a:rPr lang="en-US" dirty="0" smtClean="0"/>
              <a:t>resolution : Today’s status</a:t>
            </a:r>
            <a:endParaRPr lang="fr-FR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19996113" y="9122944"/>
            <a:ext cx="1813779" cy="2768"/>
          </a:xfrm>
          <a:prstGeom prst="straightConnector1">
            <a:avLst/>
          </a:prstGeom>
          <a:noFill/>
          <a:ln w="635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ZoneTexte 8"/>
          <p:cNvSpPr txBox="1"/>
          <p:nvPr/>
        </p:nvSpPr>
        <p:spPr>
          <a:xfrm>
            <a:off x="20357817" y="8261810"/>
            <a:ext cx="281968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fr-FR" b="1" dirty="0" err="1" smtClean="0"/>
              <a:t>After</a:t>
            </a:r>
            <a:r>
              <a:rPr lang="fr-FR" b="1" dirty="0"/>
              <a:t>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err="1" smtClean="0"/>
              <a:t>Editing</a:t>
            </a:r>
            <a:r>
              <a:rPr lang="fr-FR" b="1" dirty="0" smtClean="0"/>
              <a:t> </a:t>
            </a:r>
            <a:r>
              <a:rPr lang="fr-FR" b="1" dirty="0" err="1"/>
              <a:t>Committee</a:t>
            </a:r>
            <a:endParaRPr kumimoji="0" lang="fr-FR" sz="2400" b="1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sym typeface="Mont Book"/>
            </a:endParaRPr>
          </a:p>
        </p:txBody>
      </p:sp>
      <p:sp>
        <p:nvSpPr>
          <p:cNvPr id="11" name="Accolade fermante 10"/>
          <p:cNvSpPr/>
          <p:nvPr/>
        </p:nvSpPr>
        <p:spPr>
          <a:xfrm>
            <a:off x="19495008" y="4937760"/>
            <a:ext cx="566928" cy="8375904"/>
          </a:xfrm>
          <a:prstGeom prst="rightBrace">
            <a:avLst/>
          </a:prstGeom>
          <a:noFill/>
          <a:ln w="635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380898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Abby’s</a:t>
            </a:r>
            <a:r>
              <a:rPr lang="fr-FR" dirty="0" smtClean="0"/>
              <a:t> car </a:t>
            </a:r>
            <a:r>
              <a:rPr lang="fr-FR" dirty="0" err="1" smtClean="0"/>
              <a:t>example</a:t>
            </a:r>
            <a:r>
              <a:rPr lang="fr-FR" dirty="0" smtClean="0"/>
              <a:t> </a:t>
            </a:r>
            <a:r>
              <a:rPr lang="fr-FR" dirty="0" err="1" smtClean="0"/>
              <a:t>saved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0" y="4121931"/>
            <a:ext cx="14714220" cy="959406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2136498"/>
            <a:ext cx="1073467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628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Timeline</a:t>
            </a:r>
            <a:r>
              <a:rPr lang="fr-FR" dirty="0"/>
              <a:t> </a:t>
            </a:r>
            <a:r>
              <a:rPr lang="fr-FR" dirty="0" err="1"/>
              <a:t>towards</a:t>
            </a:r>
            <a:r>
              <a:rPr lang="fr-FR" dirty="0"/>
              <a:t> IS publication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10930270"/>
          </a:xfrm>
        </p:spPr>
        <p:txBody>
          <a:bodyPr>
            <a:normAutofit/>
          </a:bodyPr>
          <a:lstStyle/>
          <a:p>
            <a:r>
              <a:rPr lang="en-US" dirty="0" smtClean="0"/>
              <a:t>10</a:t>
            </a:r>
            <a:r>
              <a:rPr lang="en-US" baseline="30000" dirty="0" smtClean="0"/>
              <a:t>th</a:t>
            </a:r>
            <a:r>
              <a:rPr lang="en-US" dirty="0" smtClean="0"/>
              <a:t> May 2022 : ISO W9 meeting project status update</a:t>
            </a:r>
          </a:p>
          <a:p>
            <a:r>
              <a:rPr lang="en-US" dirty="0" smtClean="0"/>
              <a:t>May </a:t>
            </a:r>
            <a:r>
              <a:rPr lang="en-US" dirty="0"/>
              <a:t>- June 2022: Initial resolution proposals produced by the project </a:t>
            </a:r>
            <a:r>
              <a:rPr lang="en-US" dirty="0" smtClean="0"/>
              <a:t>team</a:t>
            </a:r>
          </a:p>
          <a:p>
            <a:endParaRPr lang="en-US" dirty="0"/>
          </a:p>
          <a:p>
            <a:r>
              <a:rPr lang="en-US" dirty="0" smtClean="0"/>
              <a:t>21</a:t>
            </a:r>
            <a:r>
              <a:rPr lang="en-US" baseline="30000" dirty="0" smtClean="0"/>
              <a:t>st</a:t>
            </a:r>
            <a:r>
              <a:rPr lang="en-US" dirty="0" smtClean="0"/>
              <a:t> June </a:t>
            </a:r>
            <a:r>
              <a:rPr lang="en-US" dirty="0"/>
              <a:t>2022: Online EC meeting, final comment resolutions </a:t>
            </a:r>
            <a:r>
              <a:rPr lang="en-US" dirty="0" smtClean="0"/>
              <a:t>agreed</a:t>
            </a:r>
          </a:p>
          <a:p>
            <a:endParaRPr lang="en-US" dirty="0"/>
          </a:p>
          <a:p>
            <a:r>
              <a:rPr lang="en-US" dirty="0"/>
              <a:t>June - August 2022: Final standard document </a:t>
            </a:r>
            <a:r>
              <a:rPr lang="en-US" dirty="0" smtClean="0"/>
              <a:t>editing</a:t>
            </a:r>
          </a:p>
          <a:p>
            <a:endParaRPr lang="en-US" dirty="0"/>
          </a:p>
          <a:p>
            <a:r>
              <a:rPr lang="en-US" dirty="0" smtClean="0"/>
              <a:t>Stage 50 (Approval): early September 2022. Can be skipped in now FDIS (Final Draft International Standard) stage needed</a:t>
            </a:r>
          </a:p>
          <a:p>
            <a:endParaRPr lang="en-US" dirty="0" smtClean="0"/>
          </a:p>
          <a:p>
            <a:r>
              <a:rPr lang="en-US" dirty="0" smtClean="0"/>
              <a:t>Stage 60 (Publication) : November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11019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ection Title"/>
          <p:cNvSpPr txBox="1">
            <a:spLocks noGrp="1"/>
          </p:cNvSpPr>
          <p:nvPr>
            <p:ph type="title"/>
          </p:nvPr>
        </p:nvSpPr>
        <p:spPr>
          <a:xfrm>
            <a:off x="1206496" y="5388665"/>
            <a:ext cx="21971004" cy="46482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8000" dirty="0" err="1" smtClean="0"/>
              <a:t>Thanks</a:t>
            </a:r>
            <a:r>
              <a:rPr lang="fr-FR" sz="8000" dirty="0" smtClean="0"/>
              <a:t> </a:t>
            </a:r>
            <a:r>
              <a:rPr lang="fr-FR" sz="8000" dirty="0" smtClean="0">
                <a:hlinkClick r:id="rId3"/>
              </a:rPr>
              <a:t>s.grellet@brgm.fr</a:t>
            </a:r>
            <a:r>
              <a:rPr lang="fr-FR" sz="8000" dirty="0" smtClean="0"/>
              <a:t/>
            </a:r>
            <a:br>
              <a:rPr lang="fr-FR" sz="8000" dirty="0" smtClean="0"/>
            </a:br>
            <a:endParaRPr sz="8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429496729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1198" y="1270000"/>
            <a:ext cx="9344152" cy="10780776"/>
          </a:xfrm>
          <a:prstGeom prst="rect">
            <a:avLst/>
          </a:prstGeom>
        </p:spPr>
      </p:pic>
      <p:sp>
        <p:nvSpPr>
          <p:cNvPr id="331" name="Thank You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32" name="Community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dirty="0"/>
              <a:t>Community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9498</TotalTime>
  <Words>446</Words>
  <Application>Microsoft Office PowerPoint</Application>
  <PresentationFormat>Personnalisé</PresentationFormat>
  <Paragraphs>45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Arial</vt:lpstr>
      <vt:lpstr>Georgia</vt:lpstr>
      <vt:lpstr>Helvetica Neue</vt:lpstr>
      <vt:lpstr>Helvetica Neue Medium</vt:lpstr>
      <vt:lpstr>Mont Book</vt:lpstr>
      <vt:lpstr>Mont SemiBold</vt:lpstr>
      <vt:lpstr>Symbol</vt:lpstr>
      <vt:lpstr>30_BasicColor</vt:lpstr>
      <vt:lpstr>Observations, measurements and samples, update</vt:lpstr>
      <vt:lpstr>DIS Ballot result overview</vt:lpstr>
      <vt:lpstr>Présentation PowerPoint</vt:lpstr>
      <vt:lpstr>Ex : Comments for terms and definitions</vt:lpstr>
      <vt:lpstr>Comment resolution and Editing Committee  meeting</vt:lpstr>
      <vt:lpstr>Comment resolution : Today’s status</vt:lpstr>
      <vt:lpstr>Abby’s car example saved</vt:lpstr>
      <vt:lpstr>Timeline towards IS publication</vt:lpstr>
      <vt:lpstr>Thanks s.grellet@brgm.fr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Grellet Sylvain</cp:lastModifiedBy>
  <cp:revision>53</cp:revision>
  <dcterms:modified xsi:type="dcterms:W3CDTF">2022-06-13T15:21:55Z</dcterms:modified>
</cp:coreProperties>
</file>