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ustom.xml" ContentType="application/vnd.openxmlformats-officedocument.custom-properties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emf" ContentType="image/x-emf"/>
  <Default Extension="jpeg" ContentType="image/jpe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2">
  <p:sldMasterIdLst>
    <p:sldMasterId id="2147483648" r:id="rId1"/>
  </p:sldMasterIdLst>
  <p:notesMasterIdLst>
    <p:notesMasterId r:id="rId28"/>
  </p:notesMasterIdLst>
  <p:handoutMasterIdLst>
    <p:handoutMasterId r:id="rId29"/>
  </p:handoutMasterIdLst>
  <p:sldIdLst>
    <p:sldId id="310" r:id="rId2"/>
    <p:sldId id="319" r:id="rId3"/>
    <p:sldId id="320" r:id="rId4"/>
    <p:sldId id="321" r:id="rId5"/>
    <p:sldId id="332" r:id="rId6"/>
    <p:sldId id="333" r:id="rId7"/>
    <p:sldId id="334" r:id="rId8"/>
    <p:sldId id="335" r:id="rId9"/>
    <p:sldId id="344" r:id="rId10"/>
    <p:sldId id="339" r:id="rId11"/>
    <p:sldId id="322" r:id="rId12"/>
    <p:sldId id="330" r:id="rId13"/>
    <p:sldId id="323" r:id="rId14"/>
    <p:sldId id="312" r:id="rId15"/>
    <p:sldId id="337" r:id="rId16"/>
    <p:sldId id="338" r:id="rId17"/>
    <p:sldId id="324" r:id="rId18"/>
    <p:sldId id="336" r:id="rId19"/>
    <p:sldId id="313" r:id="rId20"/>
    <p:sldId id="326" r:id="rId21"/>
    <p:sldId id="327" r:id="rId22"/>
    <p:sldId id="341" r:id="rId23"/>
    <p:sldId id="328" r:id="rId24"/>
    <p:sldId id="329" r:id="rId25"/>
    <p:sldId id="342" r:id="rId26"/>
    <p:sldId id="275" r:id="rId27"/>
  </p:sldIdLst>
  <p:sldSz cx="9144000" cy="6858000" type="screen4x3"/>
  <p:notesSz cx="6797675" cy="9926638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A754A"/>
    <a:srgbClr val="F7F7F7"/>
    <a:srgbClr val="005C3E"/>
    <a:srgbClr val="3FAF6F"/>
    <a:srgbClr val="FFB81C"/>
    <a:srgbClr val="E87722"/>
    <a:srgbClr val="E4002B"/>
    <a:srgbClr val="DF1995"/>
    <a:srgbClr val="6D2077"/>
    <a:srgbClr val="007A53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1EBBBCC-DAD2-459C-BE2E-F6DE35CF9A28}" styleName="Dark Style 2 - Accent 3/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539" autoAdjust="0"/>
    <p:restoredTop sz="99080" autoAdjust="0"/>
  </p:normalViewPr>
  <p:slideViewPr>
    <p:cSldViewPr snapToGrid="0" snapToObjects="1">
      <p:cViewPr>
        <p:scale>
          <a:sx n="80" d="100"/>
          <a:sy n="80" d="100"/>
        </p:scale>
        <p:origin x="-450" y="-78"/>
      </p:cViewPr>
      <p:guideLst>
        <p:guide orient="horz" pos="3676"/>
        <p:guide orient="horz" pos="1967"/>
        <p:guide orient="horz" pos="804"/>
        <p:guide pos="228"/>
      </p:guideLst>
    </p:cSldViewPr>
  </p:slideViewPr>
  <p:outlineViewPr>
    <p:cViewPr>
      <p:scale>
        <a:sx n="33" d="100"/>
        <a:sy n="33" d="100"/>
      </p:scale>
      <p:origin x="0" y="255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762"/>
    </p:cViewPr>
  </p:sorterViewPr>
  <p:notesViewPr>
    <p:cSldViewPr snapToGrid="0" snapToObjects="1">
      <p:cViewPr varScale="1">
        <p:scale>
          <a:sx n="80" d="100"/>
          <a:sy n="80" d="100"/>
        </p:scale>
        <p:origin x="-2580" y="-108"/>
      </p:cViewPr>
      <p:guideLst>
        <p:guide orient="horz" pos="3127"/>
        <p:guide pos="2141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6332"/>
          </a:xfrm>
          <a:prstGeom prst="rect">
            <a:avLst/>
          </a:prstGeom>
        </p:spPr>
        <p:txBody>
          <a:bodyPr vert="horz" lIns="91440" tIns="45719" rIns="91440" bIns="4571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5" y="0"/>
            <a:ext cx="2945659" cy="496332"/>
          </a:xfrm>
          <a:prstGeom prst="rect">
            <a:avLst/>
          </a:prstGeom>
        </p:spPr>
        <p:txBody>
          <a:bodyPr vert="horz" lIns="91440" tIns="45719" rIns="91440" bIns="4571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23F3AE43-4B8B-42E2-AD8D-8893E6575599}" type="datetimeFigureOut">
              <a:rPr lang="en-US"/>
              <a:pPr>
                <a:defRPr/>
              </a:pPr>
              <a:t>9/23/2013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2" y="9428584"/>
            <a:ext cx="2945659" cy="496332"/>
          </a:xfrm>
          <a:prstGeom prst="rect">
            <a:avLst/>
          </a:prstGeom>
        </p:spPr>
        <p:txBody>
          <a:bodyPr vert="horz" lIns="91440" tIns="45719" rIns="91440" bIns="4571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5" y="9428584"/>
            <a:ext cx="2945659" cy="496332"/>
          </a:xfrm>
          <a:prstGeom prst="rect">
            <a:avLst/>
          </a:prstGeom>
        </p:spPr>
        <p:txBody>
          <a:bodyPr vert="horz" lIns="91440" tIns="45719" rIns="91440" bIns="4571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35623A5-B868-4679-8144-13E28063423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8709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2" y="0"/>
            <a:ext cx="2945659" cy="496332"/>
          </a:xfrm>
          <a:prstGeom prst="rect">
            <a:avLst/>
          </a:prstGeom>
        </p:spPr>
        <p:txBody>
          <a:bodyPr vert="horz" lIns="91440" tIns="45719" rIns="91440" bIns="45719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5" y="0"/>
            <a:ext cx="2945659" cy="496332"/>
          </a:xfrm>
          <a:prstGeom prst="rect">
            <a:avLst/>
          </a:prstGeom>
        </p:spPr>
        <p:txBody>
          <a:bodyPr vert="horz" lIns="91440" tIns="45719" rIns="91440" bIns="45719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769BDDD4-07A3-49C3-8D04-6377578ADC4E}" type="datetimeFigureOut">
              <a:rPr lang="en-US"/>
              <a:pPr>
                <a:defRPr/>
              </a:pPr>
              <a:t>9/23/2013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7575" y="744538"/>
            <a:ext cx="4962525" cy="37226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19" rIns="91440" bIns="45719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15154"/>
            <a:ext cx="5438140" cy="4466987"/>
          </a:xfrm>
          <a:prstGeom prst="rect">
            <a:avLst/>
          </a:prstGeom>
        </p:spPr>
        <p:txBody>
          <a:bodyPr vert="horz" lIns="91440" tIns="45719" rIns="91440" bIns="45719" rtlCol="0">
            <a:normAutofit/>
          </a:bodyPr>
          <a:lstStyle/>
          <a:p>
            <a:pPr lvl="0"/>
            <a:r>
              <a:rPr lang="en-AU" noProof="0" smtClean="0"/>
              <a:t>Click to edit Master text styles</a:t>
            </a:r>
          </a:p>
          <a:p>
            <a:pPr lvl="1"/>
            <a:r>
              <a:rPr lang="en-AU" noProof="0" smtClean="0"/>
              <a:t>Second level</a:t>
            </a:r>
          </a:p>
          <a:p>
            <a:pPr lvl="2"/>
            <a:r>
              <a:rPr lang="en-AU" noProof="0" smtClean="0"/>
              <a:t>Third level</a:t>
            </a:r>
          </a:p>
          <a:p>
            <a:pPr lvl="3"/>
            <a:r>
              <a:rPr lang="en-AU" noProof="0" smtClean="0"/>
              <a:t>Fourth level</a:t>
            </a:r>
          </a:p>
          <a:p>
            <a:pPr lvl="4"/>
            <a:r>
              <a:rPr lang="en-AU" noProof="0" smtClean="0"/>
              <a:t>Fifth level</a:t>
            </a:r>
            <a:endParaRPr lang="en-US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2" y="9428584"/>
            <a:ext cx="2945659" cy="496332"/>
          </a:xfrm>
          <a:prstGeom prst="rect">
            <a:avLst/>
          </a:prstGeom>
        </p:spPr>
        <p:txBody>
          <a:bodyPr vert="horz" lIns="91440" tIns="45719" rIns="91440" bIns="45719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5" y="9428584"/>
            <a:ext cx="2945659" cy="496332"/>
          </a:xfrm>
          <a:prstGeom prst="rect">
            <a:avLst/>
          </a:prstGeom>
        </p:spPr>
        <p:txBody>
          <a:bodyPr vert="horz" lIns="91440" tIns="45719" rIns="91440" bIns="45719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348E5230-3F12-4A60-B83A-70DD9883D08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5100421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I have successfully remained peripheral to most of the OneGeology activity, so most of what I’ll cover comes from various presentations by Ian Jackson, the Executive Secretary of OneGeology.</a:t>
            </a:r>
          </a:p>
          <a:p>
            <a:r>
              <a:rPr lang="en-AU" dirty="0" smtClean="0"/>
              <a:t>I’ll also aim to touch on GeoSciML, something I am much more familiar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8E5230-3F12-4A60-B83A-70DD9883D08A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AU" dirty="0" smtClean="0"/>
              <a:t>I have successfully remained peripheral to most of the OneGeology activity, so most of what I’ll cover comes from various presentations by Ian Jackson, the Executive Secretary of OneGeology.</a:t>
            </a:r>
          </a:p>
          <a:p>
            <a:r>
              <a:rPr lang="en-AU" dirty="0" smtClean="0"/>
              <a:t>I’ll also aim to touch on GeoSciML, something I am much more familiar with.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8E5230-3F12-4A60-B83A-70DD9883D08A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348E5230-3F12-4A60-B83A-70DD9883D08A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+ Collaborator logo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/>
          <p:cNvGrpSpPr/>
          <p:nvPr userDrawn="1"/>
        </p:nvGrpSpPr>
        <p:grpSpPr>
          <a:xfrm>
            <a:off x="1497" y="5500319"/>
            <a:ext cx="9170984" cy="1357681"/>
            <a:chOff x="1497" y="5500319"/>
            <a:chExt cx="9170984" cy="1357681"/>
          </a:xfrm>
        </p:grpSpPr>
        <p:sp>
          <p:nvSpPr>
            <p:cNvPr id="2" name="Rectangle 1"/>
            <p:cNvSpPr/>
            <p:nvPr userDrawn="1"/>
          </p:nvSpPr>
          <p:spPr>
            <a:xfrm>
              <a:off x="1497" y="5940320"/>
              <a:ext cx="9158377" cy="9176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35" name="Freeform 7"/>
            <p:cNvSpPr>
              <a:spLocks noEditPoints="1"/>
            </p:cNvSpPr>
            <p:nvPr userDrawn="1"/>
          </p:nvSpPr>
          <p:spPr bwMode="auto">
            <a:xfrm>
              <a:off x="1497" y="5563679"/>
              <a:ext cx="9170984" cy="932871"/>
            </a:xfrm>
            <a:custGeom>
              <a:avLst/>
              <a:gdLst/>
              <a:ahLst/>
              <a:cxnLst>
                <a:cxn ang="0">
                  <a:pos x="2313" y="117"/>
                </a:cxn>
                <a:cxn ang="0">
                  <a:pos x="0" y="117"/>
                </a:cxn>
                <a:cxn ang="0">
                  <a:pos x="0" y="137"/>
                </a:cxn>
                <a:cxn ang="0">
                  <a:pos x="2030" y="137"/>
                </a:cxn>
                <a:cxn ang="0">
                  <a:pos x="2313" y="117"/>
                </a:cxn>
                <a:cxn ang="0">
                  <a:pos x="2880" y="0"/>
                </a:cxn>
                <a:cxn ang="0">
                  <a:pos x="2880" y="0"/>
                </a:cxn>
                <a:cxn ang="0">
                  <a:pos x="2880" y="117"/>
                </a:cxn>
                <a:cxn ang="0">
                  <a:pos x="2313" y="117"/>
                </a:cxn>
                <a:cxn ang="0">
                  <a:pos x="2784" y="293"/>
                </a:cxn>
                <a:cxn ang="0">
                  <a:pos x="2880" y="293"/>
                </a:cxn>
                <a:cxn ang="0">
                  <a:pos x="2880" y="0"/>
                </a:cxn>
              </a:cxnLst>
              <a:rect l="0" t="0" r="r" b="b"/>
              <a:pathLst>
                <a:path w="2880" h="293">
                  <a:moveTo>
                    <a:pt x="2313" y="117"/>
                  </a:moveTo>
                  <a:cubicBezTo>
                    <a:pt x="0" y="117"/>
                    <a:pt x="0" y="117"/>
                    <a:pt x="0" y="117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2030" y="137"/>
                    <a:pt x="2030" y="137"/>
                    <a:pt x="2030" y="137"/>
                  </a:cubicBezTo>
                  <a:cubicBezTo>
                    <a:pt x="2214" y="137"/>
                    <a:pt x="2274" y="132"/>
                    <a:pt x="2313" y="117"/>
                  </a:cubicBezTo>
                  <a:moveTo>
                    <a:pt x="2880" y="0"/>
                  </a:moveTo>
                  <a:cubicBezTo>
                    <a:pt x="2880" y="0"/>
                    <a:pt x="2880" y="0"/>
                    <a:pt x="2880" y="0"/>
                  </a:cubicBezTo>
                  <a:cubicBezTo>
                    <a:pt x="2880" y="117"/>
                    <a:pt x="2880" y="117"/>
                    <a:pt x="2880" y="117"/>
                  </a:cubicBezTo>
                  <a:cubicBezTo>
                    <a:pt x="2313" y="117"/>
                    <a:pt x="2313" y="117"/>
                    <a:pt x="2313" y="117"/>
                  </a:cubicBezTo>
                  <a:cubicBezTo>
                    <a:pt x="2411" y="197"/>
                    <a:pt x="2542" y="293"/>
                    <a:pt x="2784" y="293"/>
                  </a:cubicBezTo>
                  <a:cubicBezTo>
                    <a:pt x="2842" y="293"/>
                    <a:pt x="2880" y="293"/>
                    <a:pt x="2880" y="293"/>
                  </a:cubicBezTo>
                  <a:cubicBezTo>
                    <a:pt x="2880" y="0"/>
                    <a:pt x="2880" y="0"/>
                    <a:pt x="2880" y="0"/>
                  </a:cubicBezTo>
                </a:path>
              </a:pathLst>
            </a:custGeom>
            <a:solidFill>
              <a:srgbClr val="BFBFB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6" name="Freeform 8"/>
            <p:cNvSpPr>
              <a:spLocks noEditPoints="1"/>
            </p:cNvSpPr>
            <p:nvPr userDrawn="1"/>
          </p:nvSpPr>
          <p:spPr bwMode="auto">
            <a:xfrm>
              <a:off x="1497" y="5500319"/>
              <a:ext cx="9170984" cy="435430"/>
            </a:xfrm>
            <a:custGeom>
              <a:avLst/>
              <a:gdLst/>
              <a:ahLst/>
              <a:cxnLst>
                <a:cxn ang="0">
                  <a:pos x="2880" y="20"/>
                </a:cxn>
                <a:cxn ang="0">
                  <a:pos x="2789" y="20"/>
                </a:cxn>
                <a:cxn ang="0">
                  <a:pos x="2313" y="137"/>
                </a:cxn>
                <a:cxn ang="0">
                  <a:pos x="2313" y="137"/>
                </a:cxn>
                <a:cxn ang="0">
                  <a:pos x="2880" y="137"/>
                </a:cxn>
                <a:cxn ang="0">
                  <a:pos x="2880" y="20"/>
                </a:cxn>
                <a:cxn ang="0">
                  <a:pos x="1860" y="0"/>
                </a:cxn>
                <a:cxn ang="0">
                  <a:pos x="0" y="0"/>
                </a:cxn>
                <a:cxn ang="0">
                  <a:pos x="0" y="137"/>
                </a:cxn>
                <a:cxn ang="0">
                  <a:pos x="2313" y="137"/>
                </a:cxn>
                <a:cxn ang="0">
                  <a:pos x="2313" y="137"/>
                </a:cxn>
                <a:cxn ang="0">
                  <a:pos x="2313" y="137"/>
                </a:cxn>
                <a:cxn ang="0">
                  <a:pos x="2313" y="137"/>
                </a:cxn>
                <a:cxn ang="0">
                  <a:pos x="1860" y="0"/>
                </a:cxn>
              </a:cxnLst>
              <a:rect l="0" t="0" r="r" b="b"/>
              <a:pathLst>
                <a:path w="2880" h="137">
                  <a:moveTo>
                    <a:pt x="2880" y="20"/>
                  </a:moveTo>
                  <a:cubicBezTo>
                    <a:pt x="2789" y="20"/>
                    <a:pt x="2789" y="20"/>
                    <a:pt x="2789" y="20"/>
                  </a:cubicBezTo>
                  <a:cubicBezTo>
                    <a:pt x="2500" y="20"/>
                    <a:pt x="2393" y="107"/>
                    <a:pt x="2313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880" y="137"/>
                    <a:pt x="2880" y="137"/>
                    <a:pt x="2880" y="137"/>
                  </a:cubicBezTo>
                  <a:cubicBezTo>
                    <a:pt x="2880" y="20"/>
                    <a:pt x="2880" y="20"/>
                    <a:pt x="2880" y="20"/>
                  </a:cubicBezTo>
                  <a:moveTo>
                    <a:pt x="186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313" y="137"/>
                    <a:pt x="2313" y="137"/>
                    <a:pt x="2313" y="137"/>
                  </a:cubicBezTo>
                  <a:cubicBezTo>
                    <a:pt x="2216" y="57"/>
                    <a:pt x="2053" y="0"/>
                    <a:pt x="1860" y="0"/>
                  </a:cubicBezTo>
                </a:path>
              </a:pathLst>
            </a:custGeom>
            <a:solidFill>
              <a:schemeClr val="accent1">
                <a:lumMod val="75000"/>
              </a:schemeClr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7" name="Freeform 9"/>
            <p:cNvSpPr>
              <a:spLocks/>
            </p:cNvSpPr>
            <p:nvPr userDrawn="1"/>
          </p:nvSpPr>
          <p:spPr bwMode="auto">
            <a:xfrm>
              <a:off x="1497" y="5563679"/>
              <a:ext cx="7365906" cy="432734"/>
            </a:xfrm>
            <a:custGeom>
              <a:avLst/>
              <a:gdLst/>
              <a:ahLst/>
              <a:cxnLst>
                <a:cxn ang="0">
                  <a:pos x="2313" y="117"/>
                </a:cxn>
                <a:cxn ang="0">
                  <a:pos x="1860" y="0"/>
                </a:cxn>
                <a:cxn ang="0">
                  <a:pos x="0" y="0"/>
                </a:cxn>
                <a:cxn ang="0">
                  <a:pos x="0" y="136"/>
                </a:cxn>
                <a:cxn ang="0">
                  <a:pos x="2030" y="136"/>
                </a:cxn>
                <a:cxn ang="0">
                  <a:pos x="2313" y="117"/>
                </a:cxn>
              </a:cxnLst>
              <a:rect l="0" t="0" r="r" b="b"/>
              <a:pathLst>
                <a:path w="2313" h="136">
                  <a:moveTo>
                    <a:pt x="2313" y="117"/>
                  </a:moveTo>
                  <a:cubicBezTo>
                    <a:pt x="2204" y="55"/>
                    <a:pt x="2053" y="0"/>
                    <a:pt x="186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36"/>
                    <a:pt x="0" y="136"/>
                    <a:pt x="0" y="136"/>
                  </a:cubicBezTo>
                  <a:cubicBezTo>
                    <a:pt x="2030" y="136"/>
                    <a:pt x="2030" y="136"/>
                    <a:pt x="2030" y="136"/>
                  </a:cubicBezTo>
                  <a:cubicBezTo>
                    <a:pt x="2214" y="136"/>
                    <a:pt x="2274" y="132"/>
                    <a:pt x="2313" y="117"/>
                  </a:cubicBezTo>
                </a:path>
              </a:pathLst>
            </a:custGeom>
            <a:solidFill>
              <a:schemeClr val="accent2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sp>
          <p:nvSpPr>
            <p:cNvPr id="38" name="Freeform 10"/>
            <p:cNvSpPr>
              <a:spLocks/>
            </p:cNvSpPr>
            <p:nvPr userDrawn="1"/>
          </p:nvSpPr>
          <p:spPr bwMode="auto">
            <a:xfrm>
              <a:off x="7367402" y="5563679"/>
              <a:ext cx="1805078" cy="869511"/>
            </a:xfrm>
            <a:custGeom>
              <a:avLst/>
              <a:gdLst/>
              <a:ahLst/>
              <a:cxnLst>
                <a:cxn ang="0">
                  <a:pos x="476" y="0"/>
                </a:cxn>
                <a:cxn ang="0">
                  <a:pos x="0" y="117"/>
                </a:cxn>
                <a:cxn ang="0">
                  <a:pos x="471" y="273"/>
                </a:cxn>
                <a:cxn ang="0">
                  <a:pos x="567" y="273"/>
                </a:cxn>
                <a:cxn ang="0">
                  <a:pos x="567" y="0"/>
                </a:cxn>
                <a:cxn ang="0">
                  <a:pos x="476" y="0"/>
                </a:cxn>
              </a:cxnLst>
              <a:rect l="0" t="0" r="r" b="b"/>
              <a:pathLst>
                <a:path w="567" h="273">
                  <a:moveTo>
                    <a:pt x="476" y="0"/>
                  </a:moveTo>
                  <a:cubicBezTo>
                    <a:pt x="187" y="0"/>
                    <a:pt x="80" y="87"/>
                    <a:pt x="0" y="117"/>
                  </a:cubicBezTo>
                  <a:cubicBezTo>
                    <a:pt x="128" y="190"/>
                    <a:pt x="229" y="273"/>
                    <a:pt x="471" y="273"/>
                  </a:cubicBezTo>
                  <a:cubicBezTo>
                    <a:pt x="529" y="273"/>
                    <a:pt x="567" y="273"/>
                    <a:pt x="567" y="273"/>
                  </a:cubicBezTo>
                  <a:cubicBezTo>
                    <a:pt x="567" y="0"/>
                    <a:pt x="567" y="0"/>
                    <a:pt x="567" y="0"/>
                  </a:cubicBezTo>
                  <a:lnTo>
                    <a:pt x="476" y="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pic>
          <p:nvPicPr>
            <p:cNvPr id="10" name="Picture 78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169275" y="5675743"/>
              <a:ext cx="655638" cy="655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11" name="Group 19"/>
            <p:cNvGrpSpPr/>
            <p:nvPr userDrawn="1"/>
          </p:nvGrpSpPr>
          <p:grpSpPr>
            <a:xfrm>
              <a:off x="360000" y="5807505"/>
              <a:ext cx="814388" cy="95250"/>
              <a:chOff x="3495675" y="5969000"/>
              <a:chExt cx="814388" cy="95250"/>
            </a:xfrm>
            <a:solidFill>
              <a:schemeClr val="accent1"/>
            </a:solidFill>
          </p:grpSpPr>
          <p:sp>
            <p:nvSpPr>
              <p:cNvPr id="12" name="Freeform 26"/>
              <p:cNvSpPr>
                <a:spLocks/>
              </p:cNvSpPr>
              <p:nvPr/>
            </p:nvSpPr>
            <p:spPr bwMode="auto">
              <a:xfrm>
                <a:off x="34956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1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1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3" name="Freeform 27"/>
              <p:cNvSpPr>
                <a:spLocks/>
              </p:cNvSpPr>
              <p:nvPr/>
            </p:nvSpPr>
            <p:spPr bwMode="auto">
              <a:xfrm>
                <a:off x="360362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4" name="Freeform 28"/>
              <p:cNvSpPr>
                <a:spLocks/>
              </p:cNvSpPr>
              <p:nvPr/>
            </p:nvSpPr>
            <p:spPr bwMode="auto">
              <a:xfrm>
                <a:off x="37115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9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6" name="Oval 29"/>
              <p:cNvSpPr>
                <a:spLocks noChangeArrowheads="1"/>
              </p:cNvSpPr>
              <p:nvPr/>
            </p:nvSpPr>
            <p:spPr bwMode="auto">
              <a:xfrm>
                <a:off x="3819525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8" name="Freeform 30"/>
              <p:cNvSpPr>
                <a:spLocks/>
              </p:cNvSpPr>
              <p:nvPr/>
            </p:nvSpPr>
            <p:spPr bwMode="auto">
              <a:xfrm>
                <a:off x="3851275" y="5997575"/>
                <a:ext cx="50800" cy="66675"/>
              </a:xfrm>
              <a:custGeom>
                <a:avLst/>
                <a:gdLst>
                  <a:gd name="T0" fmla="*/ 16 w 16"/>
                  <a:gd name="T1" fmla="*/ 20 h 21"/>
                  <a:gd name="T2" fmla="*/ 10 w 16"/>
                  <a:gd name="T3" fmla="*/ 21 h 21"/>
                  <a:gd name="T4" fmla="*/ 0 w 16"/>
                  <a:gd name="T5" fmla="*/ 11 h 21"/>
                  <a:gd name="T6" fmla="*/ 10 w 16"/>
                  <a:gd name="T7" fmla="*/ 0 h 21"/>
                  <a:gd name="T8" fmla="*/ 16 w 16"/>
                  <a:gd name="T9" fmla="*/ 1 h 21"/>
                  <a:gd name="T10" fmla="*/ 14 w 16"/>
                  <a:gd name="T11" fmla="*/ 5 h 21"/>
                  <a:gd name="T12" fmla="*/ 11 w 16"/>
                  <a:gd name="T13" fmla="*/ 4 h 21"/>
                  <a:gd name="T14" fmla="*/ 6 w 16"/>
                  <a:gd name="T15" fmla="*/ 10 h 21"/>
                  <a:gd name="T16" fmla="*/ 11 w 16"/>
                  <a:gd name="T17" fmla="*/ 17 h 21"/>
                  <a:gd name="T18" fmla="*/ 15 w 16"/>
                  <a:gd name="T19" fmla="*/ 16 h 21"/>
                  <a:gd name="T20" fmla="*/ 16 w 16"/>
                  <a:gd name="T21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1">
                    <a:moveTo>
                      <a:pt x="16" y="20"/>
                    </a:moveTo>
                    <a:cubicBezTo>
                      <a:pt x="14" y="21"/>
                      <a:pt x="12" y="21"/>
                      <a:pt x="10" y="21"/>
                    </a:cubicBez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6" y="6"/>
                      <a:pt x="6" y="10"/>
                    </a:cubicBezTo>
                    <a:cubicBezTo>
                      <a:pt x="6" y="15"/>
                      <a:pt x="7" y="17"/>
                      <a:pt x="11" y="17"/>
                    </a:cubicBezTo>
                    <a:cubicBezTo>
                      <a:pt x="12" y="17"/>
                      <a:pt x="14" y="17"/>
                      <a:pt x="15" y="16"/>
                    </a:cubicBez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9" name="Freeform 31"/>
              <p:cNvSpPr>
                <a:spLocks/>
              </p:cNvSpPr>
              <p:nvPr/>
            </p:nvSpPr>
            <p:spPr bwMode="auto">
              <a:xfrm>
                <a:off x="3911600" y="5997575"/>
                <a:ext cx="47625" cy="66675"/>
              </a:xfrm>
              <a:custGeom>
                <a:avLst/>
                <a:gdLst>
                  <a:gd name="T0" fmla="*/ 6 w 15"/>
                  <a:gd name="T1" fmla="*/ 21 h 21"/>
                  <a:gd name="T2" fmla="*/ 0 w 15"/>
                  <a:gd name="T3" fmla="*/ 20 h 21"/>
                  <a:gd name="T4" fmla="*/ 1 w 15"/>
                  <a:gd name="T5" fmla="*/ 16 h 21"/>
                  <a:gd name="T6" fmla="*/ 6 w 15"/>
                  <a:gd name="T7" fmla="*/ 17 h 21"/>
                  <a:gd name="T8" fmla="*/ 9 w 15"/>
                  <a:gd name="T9" fmla="*/ 15 h 21"/>
                  <a:gd name="T10" fmla="*/ 6 w 15"/>
                  <a:gd name="T11" fmla="*/ 12 h 21"/>
                  <a:gd name="T12" fmla="*/ 0 w 15"/>
                  <a:gd name="T13" fmla="*/ 6 h 21"/>
                  <a:gd name="T14" fmla="*/ 8 w 15"/>
                  <a:gd name="T15" fmla="*/ 0 h 21"/>
                  <a:gd name="T16" fmla="*/ 13 w 15"/>
                  <a:gd name="T17" fmla="*/ 0 h 21"/>
                  <a:gd name="T18" fmla="*/ 13 w 15"/>
                  <a:gd name="T19" fmla="*/ 4 h 21"/>
                  <a:gd name="T20" fmla="*/ 9 w 15"/>
                  <a:gd name="T21" fmla="*/ 4 h 21"/>
                  <a:gd name="T22" fmla="*/ 6 w 15"/>
                  <a:gd name="T23" fmla="*/ 6 h 21"/>
                  <a:gd name="T24" fmla="*/ 9 w 15"/>
                  <a:gd name="T25" fmla="*/ 9 h 21"/>
                  <a:gd name="T26" fmla="*/ 15 w 15"/>
                  <a:gd name="T27" fmla="*/ 14 h 21"/>
                  <a:gd name="T28" fmla="*/ 6 w 15"/>
                  <a:gd name="T2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21">
                    <a:moveTo>
                      <a:pt x="6" y="21"/>
                    </a:moveTo>
                    <a:cubicBezTo>
                      <a:pt x="4" y="21"/>
                      <a:pt x="2" y="21"/>
                      <a:pt x="0" y="20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3" y="17"/>
                      <a:pt x="5" y="17"/>
                      <a:pt x="6" y="17"/>
                    </a:cubicBezTo>
                    <a:cubicBezTo>
                      <a:pt x="8" y="17"/>
                      <a:pt x="9" y="16"/>
                      <a:pt x="9" y="15"/>
                    </a:cubicBezTo>
                    <a:cubicBezTo>
                      <a:pt x="9" y="14"/>
                      <a:pt x="8" y="13"/>
                      <a:pt x="6" y="12"/>
                    </a:cubicBezTo>
                    <a:cubicBezTo>
                      <a:pt x="3" y="11"/>
                      <a:pt x="0" y="10"/>
                      <a:pt x="0" y="6"/>
                    </a:cubicBezTo>
                    <a:cubicBezTo>
                      <a:pt x="0" y="2"/>
                      <a:pt x="3" y="0"/>
                      <a:pt x="8" y="0"/>
                    </a:cubicBezTo>
                    <a:cubicBezTo>
                      <a:pt x="10" y="0"/>
                      <a:pt x="12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1" y="4"/>
                      <a:pt x="10" y="4"/>
                      <a:pt x="9" y="4"/>
                    </a:cubicBezTo>
                    <a:cubicBezTo>
                      <a:pt x="6" y="4"/>
                      <a:pt x="6" y="5"/>
                      <a:pt x="6" y="6"/>
                    </a:cubicBezTo>
                    <a:cubicBezTo>
                      <a:pt x="6" y="7"/>
                      <a:pt x="7" y="8"/>
                      <a:pt x="9" y="9"/>
                    </a:cubicBezTo>
                    <a:cubicBezTo>
                      <a:pt x="13" y="10"/>
                      <a:pt x="15" y="11"/>
                      <a:pt x="15" y="14"/>
                    </a:cubicBezTo>
                    <a:cubicBezTo>
                      <a:pt x="15" y="18"/>
                      <a:pt x="11" y="21"/>
                      <a:pt x="6" y="21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0" name="Freeform 32"/>
              <p:cNvSpPr>
                <a:spLocks noEditPoints="1"/>
              </p:cNvSpPr>
              <p:nvPr/>
            </p:nvSpPr>
            <p:spPr bwMode="auto">
              <a:xfrm>
                <a:off x="3965575" y="5969000"/>
                <a:ext cx="28575" cy="95250"/>
              </a:xfrm>
              <a:custGeom>
                <a:avLst/>
                <a:gdLst>
                  <a:gd name="T0" fmla="*/ 4 w 9"/>
                  <a:gd name="T1" fmla="*/ 30 h 30"/>
                  <a:gd name="T2" fmla="*/ 4 w 9"/>
                  <a:gd name="T3" fmla="*/ 13 h 30"/>
                  <a:gd name="T4" fmla="*/ 0 w 9"/>
                  <a:gd name="T5" fmla="*/ 13 h 30"/>
                  <a:gd name="T6" fmla="*/ 0 w 9"/>
                  <a:gd name="T7" fmla="*/ 9 h 30"/>
                  <a:gd name="T8" fmla="*/ 9 w 9"/>
                  <a:gd name="T9" fmla="*/ 9 h 30"/>
                  <a:gd name="T10" fmla="*/ 9 w 9"/>
                  <a:gd name="T11" fmla="*/ 30 h 30"/>
                  <a:gd name="T12" fmla="*/ 4 w 9"/>
                  <a:gd name="T13" fmla="*/ 30 h 30"/>
                  <a:gd name="T14" fmla="*/ 6 w 9"/>
                  <a:gd name="T15" fmla="*/ 6 h 30"/>
                  <a:gd name="T16" fmla="*/ 3 w 9"/>
                  <a:gd name="T17" fmla="*/ 3 h 30"/>
                  <a:gd name="T18" fmla="*/ 6 w 9"/>
                  <a:gd name="T19" fmla="*/ 0 h 30"/>
                  <a:gd name="T20" fmla="*/ 9 w 9"/>
                  <a:gd name="T21" fmla="*/ 3 h 30"/>
                  <a:gd name="T22" fmla="*/ 6 w 9"/>
                  <a:gd name="T23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30">
                    <a:moveTo>
                      <a:pt x="4" y="30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4" y="30"/>
                    </a:lnTo>
                    <a:close/>
                    <a:moveTo>
                      <a:pt x="6" y="6"/>
                    </a:moveTo>
                    <a:cubicBezTo>
                      <a:pt x="4" y="6"/>
                      <a:pt x="3" y="5"/>
                      <a:pt x="3" y="3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9" y="1"/>
                      <a:pt x="9" y="3"/>
                    </a:cubicBezTo>
                    <a:cubicBezTo>
                      <a:pt x="9" y="5"/>
                      <a:pt x="8" y="6"/>
                      <a:pt x="6" y="6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1" name="Freeform 33"/>
              <p:cNvSpPr>
                <a:spLocks/>
              </p:cNvSpPr>
              <p:nvPr/>
            </p:nvSpPr>
            <p:spPr bwMode="auto">
              <a:xfrm>
                <a:off x="4013200" y="5997575"/>
                <a:ext cx="39687" cy="66675"/>
              </a:xfrm>
              <a:custGeom>
                <a:avLst/>
                <a:gdLst>
                  <a:gd name="T0" fmla="*/ 11 w 12"/>
                  <a:gd name="T1" fmla="*/ 5 h 21"/>
                  <a:gd name="T2" fmla="*/ 9 w 12"/>
                  <a:gd name="T3" fmla="*/ 5 h 21"/>
                  <a:gd name="T4" fmla="*/ 5 w 12"/>
                  <a:gd name="T5" fmla="*/ 8 h 21"/>
                  <a:gd name="T6" fmla="*/ 5 w 12"/>
                  <a:gd name="T7" fmla="*/ 21 h 21"/>
                  <a:gd name="T8" fmla="*/ 0 w 12"/>
                  <a:gd name="T9" fmla="*/ 21 h 21"/>
                  <a:gd name="T10" fmla="*/ 0 w 12"/>
                  <a:gd name="T11" fmla="*/ 0 h 21"/>
                  <a:gd name="T12" fmla="*/ 4 w 12"/>
                  <a:gd name="T13" fmla="*/ 0 h 21"/>
                  <a:gd name="T14" fmla="*/ 4 w 12"/>
                  <a:gd name="T15" fmla="*/ 4 h 21"/>
                  <a:gd name="T16" fmla="*/ 10 w 12"/>
                  <a:gd name="T17" fmla="*/ 0 h 21"/>
                  <a:gd name="T18" fmla="*/ 12 w 12"/>
                  <a:gd name="T19" fmla="*/ 0 h 21"/>
                  <a:gd name="T20" fmla="*/ 11 w 12"/>
                  <a:gd name="T21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21">
                    <a:moveTo>
                      <a:pt x="11" y="5"/>
                    </a:moveTo>
                    <a:cubicBezTo>
                      <a:pt x="11" y="5"/>
                      <a:pt x="10" y="5"/>
                      <a:pt x="9" y="5"/>
                    </a:cubicBezTo>
                    <a:cubicBezTo>
                      <a:pt x="8" y="5"/>
                      <a:pt x="7" y="6"/>
                      <a:pt x="5" y="8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lnTo>
                      <a:pt x="11" y="5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2" name="Freeform 34"/>
              <p:cNvSpPr>
                <a:spLocks noEditPoints="1"/>
              </p:cNvSpPr>
              <p:nvPr/>
            </p:nvSpPr>
            <p:spPr bwMode="auto">
              <a:xfrm>
                <a:off x="4062413" y="5997575"/>
                <a:ext cx="66675" cy="66675"/>
              </a:xfrm>
              <a:custGeom>
                <a:avLst/>
                <a:gdLst>
                  <a:gd name="T0" fmla="*/ 10 w 21"/>
                  <a:gd name="T1" fmla="*/ 21 h 21"/>
                  <a:gd name="T2" fmla="*/ 0 w 21"/>
                  <a:gd name="T3" fmla="*/ 11 h 21"/>
                  <a:gd name="T4" fmla="*/ 10 w 21"/>
                  <a:gd name="T5" fmla="*/ 0 h 21"/>
                  <a:gd name="T6" fmla="*/ 21 w 21"/>
                  <a:gd name="T7" fmla="*/ 10 h 21"/>
                  <a:gd name="T8" fmla="*/ 10 w 21"/>
                  <a:gd name="T9" fmla="*/ 21 h 21"/>
                  <a:gd name="T10" fmla="*/ 10 w 21"/>
                  <a:gd name="T11" fmla="*/ 4 h 21"/>
                  <a:gd name="T12" fmla="*/ 5 w 21"/>
                  <a:gd name="T13" fmla="*/ 10 h 21"/>
                  <a:gd name="T14" fmla="*/ 10 w 21"/>
                  <a:gd name="T15" fmla="*/ 17 h 21"/>
                  <a:gd name="T16" fmla="*/ 15 w 21"/>
                  <a:gd name="T17" fmla="*/ 11 h 21"/>
                  <a:gd name="T18" fmla="*/ 10 w 21"/>
                  <a:gd name="T19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21">
                    <a:moveTo>
                      <a:pt x="10" y="21"/>
                    </a:move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3" y="0"/>
                      <a:pt x="10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7"/>
                      <a:pt x="17" y="21"/>
                      <a:pt x="10" y="21"/>
                    </a:cubicBezTo>
                    <a:moveTo>
                      <a:pt x="10" y="4"/>
                    </a:moveTo>
                    <a:cubicBezTo>
                      <a:pt x="7" y="4"/>
                      <a:pt x="5" y="7"/>
                      <a:pt x="5" y="10"/>
                    </a:cubicBezTo>
                    <a:cubicBezTo>
                      <a:pt x="5" y="14"/>
                      <a:pt x="6" y="17"/>
                      <a:pt x="10" y="17"/>
                    </a:cubicBezTo>
                    <a:cubicBezTo>
                      <a:pt x="14" y="17"/>
                      <a:pt x="15" y="14"/>
                      <a:pt x="15" y="11"/>
                    </a:cubicBezTo>
                    <a:cubicBezTo>
                      <a:pt x="15" y="6"/>
                      <a:pt x="14" y="4"/>
                      <a:pt x="10" y="4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3" name="Oval 35"/>
              <p:cNvSpPr>
                <a:spLocks noChangeArrowheads="1"/>
              </p:cNvSpPr>
              <p:nvPr/>
            </p:nvSpPr>
            <p:spPr bwMode="auto">
              <a:xfrm>
                <a:off x="4141788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4" name="Freeform 36"/>
              <p:cNvSpPr>
                <a:spLocks noEditPoints="1"/>
              </p:cNvSpPr>
              <p:nvPr/>
            </p:nvSpPr>
            <p:spPr bwMode="auto">
              <a:xfrm>
                <a:off x="41767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3 w 18"/>
                  <a:gd name="T3" fmla="*/ 19 h 21"/>
                  <a:gd name="T4" fmla="*/ 7 w 18"/>
                  <a:gd name="T5" fmla="*/ 21 h 21"/>
                  <a:gd name="T6" fmla="*/ 0 w 18"/>
                  <a:gd name="T7" fmla="*/ 15 h 21"/>
                  <a:gd name="T8" fmla="*/ 10 w 18"/>
                  <a:gd name="T9" fmla="*/ 8 h 21"/>
                  <a:gd name="T10" fmla="*/ 13 w 18"/>
                  <a:gd name="T11" fmla="*/ 8 h 21"/>
                  <a:gd name="T12" fmla="*/ 13 w 18"/>
                  <a:gd name="T13" fmla="*/ 7 h 21"/>
                  <a:gd name="T14" fmla="*/ 8 w 18"/>
                  <a:gd name="T15" fmla="*/ 4 h 21"/>
                  <a:gd name="T16" fmla="*/ 2 w 18"/>
                  <a:gd name="T17" fmla="*/ 5 h 21"/>
                  <a:gd name="T18" fmla="*/ 2 w 18"/>
                  <a:gd name="T19" fmla="*/ 1 h 21"/>
                  <a:gd name="T20" fmla="*/ 9 w 18"/>
                  <a:gd name="T21" fmla="*/ 0 h 21"/>
                  <a:gd name="T22" fmla="*/ 18 w 18"/>
                  <a:gd name="T23" fmla="*/ 7 h 21"/>
                  <a:gd name="T24" fmla="*/ 18 w 18"/>
                  <a:gd name="T25" fmla="*/ 21 h 21"/>
                  <a:gd name="T26" fmla="*/ 14 w 18"/>
                  <a:gd name="T27" fmla="*/ 21 h 21"/>
                  <a:gd name="T28" fmla="*/ 13 w 18"/>
                  <a:gd name="T29" fmla="*/ 12 h 21"/>
                  <a:gd name="T30" fmla="*/ 10 w 18"/>
                  <a:gd name="T31" fmla="*/ 12 h 21"/>
                  <a:gd name="T32" fmla="*/ 5 w 18"/>
                  <a:gd name="T33" fmla="*/ 15 h 21"/>
                  <a:gd name="T34" fmla="*/ 8 w 18"/>
                  <a:gd name="T35" fmla="*/ 17 h 21"/>
                  <a:gd name="T36" fmla="*/ 13 w 18"/>
                  <a:gd name="T37" fmla="*/ 15 h 21"/>
                  <a:gd name="T38" fmla="*/ 13 w 18"/>
                  <a:gd name="T39" fmla="*/ 1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3" y="21"/>
                      <a:pt x="0" y="19"/>
                      <a:pt x="0" y="15"/>
                    </a:cubicBezTo>
                    <a:cubicBezTo>
                      <a:pt x="0" y="10"/>
                      <a:pt x="4" y="8"/>
                      <a:pt x="10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5"/>
                      <a:pt x="12" y="4"/>
                      <a:pt x="8" y="4"/>
                    </a:cubicBezTo>
                    <a:cubicBezTo>
                      <a:pt x="6" y="4"/>
                      <a:pt x="4" y="4"/>
                      <a:pt x="2" y="5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5" y="0"/>
                      <a:pt x="18" y="2"/>
                      <a:pt x="18" y="7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  <a:moveTo>
                      <a:pt x="13" y="12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7" y="12"/>
                      <a:pt x="5" y="13"/>
                      <a:pt x="5" y="15"/>
                    </a:cubicBezTo>
                    <a:cubicBezTo>
                      <a:pt x="5" y="16"/>
                      <a:pt x="6" y="17"/>
                      <a:pt x="8" y="17"/>
                    </a:cubicBezTo>
                    <a:cubicBezTo>
                      <a:pt x="10" y="17"/>
                      <a:pt x="11" y="17"/>
                      <a:pt x="13" y="15"/>
                    </a:cubicBezTo>
                    <a:lnTo>
                      <a:pt x="13" y="12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25" name="Freeform 37"/>
              <p:cNvSpPr>
                <a:spLocks/>
              </p:cNvSpPr>
              <p:nvPr/>
            </p:nvSpPr>
            <p:spPr bwMode="auto">
              <a:xfrm>
                <a:off x="42529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4 w 18"/>
                  <a:gd name="T3" fmla="*/ 18 h 21"/>
                  <a:gd name="T4" fmla="*/ 7 w 18"/>
                  <a:gd name="T5" fmla="*/ 21 h 21"/>
                  <a:gd name="T6" fmla="*/ 0 w 18"/>
                  <a:gd name="T7" fmla="*/ 13 h 21"/>
                  <a:gd name="T8" fmla="*/ 0 w 18"/>
                  <a:gd name="T9" fmla="*/ 0 h 21"/>
                  <a:gd name="T10" fmla="*/ 5 w 18"/>
                  <a:gd name="T11" fmla="*/ 0 h 21"/>
                  <a:gd name="T12" fmla="*/ 5 w 18"/>
                  <a:gd name="T13" fmla="*/ 12 h 21"/>
                  <a:gd name="T14" fmla="*/ 8 w 18"/>
                  <a:gd name="T15" fmla="*/ 17 h 21"/>
                  <a:gd name="T16" fmla="*/ 13 w 18"/>
                  <a:gd name="T17" fmla="*/ 14 h 21"/>
                  <a:gd name="T18" fmla="*/ 13 w 18"/>
                  <a:gd name="T19" fmla="*/ 0 h 21"/>
                  <a:gd name="T20" fmla="*/ 18 w 18"/>
                  <a:gd name="T21" fmla="*/ 0 h 21"/>
                  <a:gd name="T22" fmla="*/ 18 w 18"/>
                  <a:gd name="T23" fmla="*/ 21 h 21"/>
                  <a:gd name="T24" fmla="*/ 14 w 18"/>
                  <a:gd name="T2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4" y="18"/>
                      <a:pt x="14" y="18"/>
                      <a:pt x="14" y="18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2" y="21"/>
                      <a:pt x="0" y="18"/>
                      <a:pt x="0" y="1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5"/>
                      <a:pt x="6" y="17"/>
                      <a:pt x="8" y="17"/>
                    </a:cubicBezTo>
                    <a:cubicBezTo>
                      <a:pt x="10" y="17"/>
                      <a:pt x="11" y="16"/>
                      <a:pt x="13" y="14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</p:grpSp>
      <p:sp>
        <p:nvSpPr>
          <p:cNvPr id="9" name="Text Placeholder 8"/>
          <p:cNvSpPr>
            <a:spLocks noGrp="1"/>
          </p:cNvSpPr>
          <p:nvPr userDrawn="1">
            <p:ph type="body" sz="quarter" idx="13"/>
          </p:nvPr>
        </p:nvSpPr>
        <p:spPr>
          <a:xfrm>
            <a:off x="360000" y="4267725"/>
            <a:ext cx="8043863" cy="316188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200" b="1" baseline="0">
                <a:solidFill>
                  <a:schemeClr val="bg1"/>
                </a:solidFill>
              </a:defRPr>
            </a:lvl1pPr>
            <a:lvl2pPr marL="0" indent="0">
              <a:spcBef>
                <a:spcPts val="0"/>
              </a:spcBef>
              <a:spcAft>
                <a:spcPts val="1417"/>
              </a:spcAft>
              <a:buNone/>
              <a:defRPr sz="4400" b="1">
                <a:solidFill>
                  <a:schemeClr val="bg1"/>
                </a:solidFill>
              </a:defRPr>
            </a:lvl2pPr>
            <a:lvl3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1">
                <a:solidFill>
                  <a:schemeClr val="bg1"/>
                </a:solidFill>
              </a:defRPr>
            </a:lvl3pPr>
            <a:lvl4pPr marL="0" indent="0">
              <a:spcBef>
                <a:spcPts val="0"/>
              </a:spcBef>
              <a:spcAft>
                <a:spcPts val="0"/>
              </a:spcAft>
              <a:buNone/>
              <a:defRPr sz="4400" b="1">
                <a:solidFill>
                  <a:schemeClr val="bg1"/>
                </a:solidFill>
              </a:defRPr>
            </a:lvl4pPr>
            <a:lvl5pPr marL="0" indent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4400" b="1">
                <a:solidFill>
                  <a:schemeClr val="bg1"/>
                </a:solidFill>
              </a:defRPr>
            </a:lvl5pPr>
            <a:lvl6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4400" b="1">
                <a:solidFill>
                  <a:schemeClr val="bg1"/>
                </a:solidFill>
              </a:defRPr>
            </a:lvl6pPr>
            <a:lvl7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4400" b="1">
                <a:solidFill>
                  <a:schemeClr val="bg1"/>
                </a:solidFill>
              </a:defRPr>
            </a:lvl7pPr>
            <a:lvl8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4400" b="1">
                <a:solidFill>
                  <a:schemeClr val="bg1"/>
                </a:solidFill>
              </a:defRPr>
            </a:lvl8pPr>
            <a:lvl9pPr marL="0" indent="0">
              <a:lnSpc>
                <a:spcPct val="85000"/>
              </a:lnSpc>
              <a:spcBef>
                <a:spcPts val="0"/>
              </a:spcBef>
              <a:buFontTx/>
              <a:buNone/>
              <a:defRPr sz="4400" b="1">
                <a:solidFill>
                  <a:schemeClr val="bg1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Text Placeholder 14"/>
          <p:cNvSpPr>
            <a:spLocks noGrp="1"/>
          </p:cNvSpPr>
          <p:nvPr userDrawn="1"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7" name="Title 15"/>
          <p:cNvSpPr>
            <a:spLocks noGrp="1"/>
          </p:cNvSpPr>
          <p:nvPr userDrawn="1">
            <p:ph type="title"/>
          </p:nvPr>
        </p:nvSpPr>
        <p:spPr>
          <a:xfrm>
            <a:off x="360000" y="3122613"/>
            <a:ext cx="8043863" cy="1080000"/>
          </a:xfrm>
          <a:prstGeom prst="rect">
            <a:avLst/>
          </a:prstGeo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xmlns="" val="341313993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3" y="270000"/>
            <a:ext cx="8460000" cy="900000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None/>
              <a:defRPr sz="2800" b="1">
                <a:solidFill>
                  <a:schemeClr val="accent2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sz="quarter" idx="15"/>
          </p:nvPr>
        </p:nvSpPr>
        <p:spPr>
          <a:xfrm>
            <a:off x="360363" y="1276350"/>
            <a:ext cx="8459787" cy="4559300"/>
          </a:xfrm>
        </p:spPr>
        <p:txBody>
          <a:bodyPr>
            <a:noAutofit/>
          </a:bodyPr>
          <a:lstStyle>
            <a:lvl1pPr marL="378000" indent="-378000">
              <a:buFont typeface="+mj-lt"/>
              <a:buAutoNum type="arabicPeriod"/>
              <a:defRPr/>
            </a:lvl1pPr>
            <a:lvl2pPr marL="648000" indent="-270000">
              <a:defRPr/>
            </a:lvl2pPr>
            <a:lvl3pPr marL="648000" indent="-270000">
              <a:defRPr/>
            </a:lvl3pPr>
            <a:lvl4pPr marL="648000" indent="-270000">
              <a:defRPr/>
            </a:lvl4pPr>
            <a:lvl5pPr marL="648000" indent="-270000">
              <a:defRPr/>
            </a:lvl5pPr>
            <a:lvl6pPr marL="648000" indent="-270000">
              <a:defRPr/>
            </a:lvl6pPr>
            <a:lvl7pPr marL="648000" indent="-270000">
              <a:defRPr/>
            </a:lvl7pPr>
            <a:lvl8pPr marL="648000" indent="-270000">
              <a:defRPr/>
            </a:lvl8pPr>
            <a:lvl9pPr marL="648000" indent="-270000">
              <a:defRPr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276350"/>
            <a:ext cx="8460000" cy="4555650"/>
          </a:xfrm>
        </p:spPr>
        <p:txBody>
          <a:bodyPr/>
          <a:lstStyle>
            <a:lvl2pPr marL="252000" indent="-250825">
              <a:defRPr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3" y="270000"/>
            <a:ext cx="8460000" cy="89378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None/>
              <a:defRPr sz="3600" b="1">
                <a:solidFill>
                  <a:schemeClr val="accent2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2200" b="1">
                <a:solidFill>
                  <a:schemeClr val="accent2"/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276350"/>
            <a:ext cx="8460000" cy="4555650"/>
          </a:xfrm>
        </p:spPr>
        <p:txBody>
          <a:bodyPr/>
          <a:lstStyle>
            <a:lvl2pPr marL="252000" indent="-250825">
              <a:defRPr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3" y="270000"/>
            <a:ext cx="8460000" cy="900000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None/>
              <a:defRPr sz="3600" b="1" baseline="0">
                <a:solidFill>
                  <a:schemeClr val="accent2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- text or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363" y="1276350"/>
            <a:ext cx="4140000" cy="455565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3" y="270000"/>
            <a:ext cx="8460000" cy="900000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None/>
              <a:defRPr sz="3600" b="1">
                <a:solidFill>
                  <a:schemeClr val="accent2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5"/>
          </p:nvPr>
        </p:nvSpPr>
        <p:spPr>
          <a:xfrm>
            <a:off x="4680363" y="1276350"/>
            <a:ext cx="4140000" cy="4555650"/>
          </a:xfrm>
        </p:spPr>
        <p:txBody>
          <a:bodyPr rtlCol="0">
            <a:noAutofit/>
          </a:bodyPr>
          <a:lstStyle/>
          <a:p>
            <a:pPr lvl="0"/>
            <a:r>
              <a:rPr lang="en-US" noProof="0" smtClean="0"/>
              <a:t>Click icon to add picture</a:t>
            </a:r>
            <a:endParaRPr lang="en-AU" noProof="0" dirty="0"/>
          </a:p>
        </p:txBody>
      </p:sp>
      <p:sp>
        <p:nvSpPr>
          <p:cNvPr id="7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w 2 pi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60363" y="1276350"/>
            <a:ext cx="4140000" cy="4555650"/>
          </a:xfrm>
        </p:spPr>
        <p:txBody>
          <a:bodyPr>
            <a:noAutofit/>
          </a:bodyPr>
          <a:lstStyle>
            <a:lvl1pPr>
              <a:defRPr sz="2000"/>
            </a:lvl1pPr>
            <a:lvl2pPr>
              <a:defRPr sz="20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4680363" y="1276350"/>
            <a:ext cx="4140000" cy="2251650"/>
          </a:xfrm>
        </p:spPr>
        <p:txBody>
          <a:bodyPr rtlCol="0">
            <a:noAutofit/>
          </a:bodyPr>
          <a:lstStyle/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7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4680363" y="3708000"/>
            <a:ext cx="4140000" cy="2124000"/>
          </a:xfrm>
        </p:spPr>
        <p:txBody>
          <a:bodyPr rtlCol="0">
            <a:noAutofit/>
          </a:bodyPr>
          <a:lstStyle/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3" y="270000"/>
            <a:ext cx="8460000" cy="900000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None/>
              <a:defRPr sz="3600" b="1">
                <a:solidFill>
                  <a:schemeClr val="accent2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363" y="1276350"/>
            <a:ext cx="4140000" cy="540000"/>
          </a:xfrm>
        </p:spPr>
        <p:txBody>
          <a:bodyPr>
            <a:noAutofit/>
          </a:bodyPr>
          <a:lstStyle>
            <a:lvl1pPr marL="0" indent="0"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80363" y="1276350"/>
            <a:ext cx="4140000" cy="540000"/>
          </a:xfrm>
        </p:spPr>
        <p:txBody>
          <a:bodyPr>
            <a:noAutofit/>
          </a:bodyPr>
          <a:lstStyle>
            <a:lvl1pPr marL="0" indent="0"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3" y="270000"/>
            <a:ext cx="8460000" cy="900000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None/>
              <a:defRPr sz="3600" b="1">
                <a:solidFill>
                  <a:schemeClr val="accent2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5"/>
          </p:nvPr>
        </p:nvSpPr>
        <p:spPr>
          <a:xfrm>
            <a:off x="360363" y="1933250"/>
            <a:ext cx="4140000" cy="3902400"/>
          </a:xfrm>
        </p:spPr>
        <p:txBody>
          <a:bodyPr rtlCol="0">
            <a:noAutofit/>
          </a:bodyPr>
          <a:lstStyle/>
          <a:p>
            <a:pPr lvl="0"/>
            <a:r>
              <a:rPr lang="en-US" noProof="0" smtClean="0"/>
              <a:t>Click icon to add picture</a:t>
            </a:r>
            <a:endParaRPr lang="en-AU" noProof="0" dirty="0"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6"/>
          </p:nvPr>
        </p:nvSpPr>
        <p:spPr>
          <a:xfrm>
            <a:off x="4680363" y="1933250"/>
            <a:ext cx="4140000" cy="3902400"/>
          </a:xfrm>
        </p:spPr>
        <p:txBody>
          <a:bodyPr rtlCol="0">
            <a:noAutofit/>
          </a:bodyPr>
          <a:lstStyle/>
          <a:p>
            <a:pPr lvl="0"/>
            <a:r>
              <a:rPr lang="en-US" noProof="0" smtClean="0"/>
              <a:t>Click icon to add picture</a:t>
            </a:r>
            <a:endParaRPr lang="en-AU" noProof="0" dirty="0"/>
          </a:p>
        </p:txBody>
      </p:sp>
      <p:sp>
        <p:nvSpPr>
          <p:cNvPr id="9" name="Footer Placeholder 4"/>
          <p:cNvSpPr>
            <a:spLocks noGrp="1"/>
          </p:cNvSpPr>
          <p:nvPr>
            <p:ph type="ftr" sz="quarter" idx="17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0363" y="1273375"/>
            <a:ext cx="2700000" cy="540000"/>
          </a:xfrm>
        </p:spPr>
        <p:txBody>
          <a:bodyPr>
            <a:noAutofit/>
          </a:bodyPr>
          <a:lstStyle>
            <a:lvl1pPr marL="0" indent="0"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4475" y="1273375"/>
            <a:ext cx="2700000" cy="540000"/>
          </a:xfrm>
        </p:spPr>
        <p:txBody>
          <a:bodyPr>
            <a:noAutofit/>
          </a:bodyPr>
          <a:lstStyle>
            <a:lvl1pPr marL="0" indent="0"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Text Placeholder 4"/>
          <p:cNvSpPr>
            <a:spLocks noGrp="1"/>
          </p:cNvSpPr>
          <p:nvPr>
            <p:ph type="body" sz="quarter" idx="14"/>
          </p:nvPr>
        </p:nvSpPr>
        <p:spPr>
          <a:xfrm>
            <a:off x="6128588" y="1273375"/>
            <a:ext cx="2700000" cy="540000"/>
          </a:xfrm>
        </p:spPr>
        <p:txBody>
          <a:bodyPr>
            <a:noAutofit/>
          </a:bodyPr>
          <a:lstStyle>
            <a:lvl1pPr marL="0" indent="0">
              <a:spcAft>
                <a:spcPts val="0"/>
              </a:spcAft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3" y="270000"/>
            <a:ext cx="8460000" cy="900000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None/>
              <a:defRPr sz="3600" b="1">
                <a:solidFill>
                  <a:schemeClr val="accent2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10" name="Picture Placeholder 11"/>
          <p:cNvSpPr>
            <a:spLocks noGrp="1"/>
          </p:cNvSpPr>
          <p:nvPr>
            <p:ph type="pic" sz="quarter" idx="17"/>
          </p:nvPr>
        </p:nvSpPr>
        <p:spPr>
          <a:xfrm>
            <a:off x="360363" y="1921374"/>
            <a:ext cx="2700000" cy="3914275"/>
          </a:xfrm>
        </p:spPr>
        <p:txBody>
          <a:bodyPr rtlCol="0">
            <a:noAutofit/>
          </a:bodyPr>
          <a:lstStyle/>
          <a:p>
            <a:pPr lvl="0"/>
            <a:r>
              <a:rPr lang="en-US" noProof="0" smtClean="0"/>
              <a:t>Click icon to add picture</a:t>
            </a:r>
            <a:endParaRPr lang="en-AU" noProof="0" dirty="0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8"/>
          </p:nvPr>
        </p:nvSpPr>
        <p:spPr>
          <a:xfrm>
            <a:off x="3244475" y="1921374"/>
            <a:ext cx="2700000" cy="3914275"/>
          </a:xfrm>
        </p:spPr>
        <p:txBody>
          <a:bodyPr rtlCol="0">
            <a:noAutofit/>
          </a:bodyPr>
          <a:lstStyle/>
          <a:p>
            <a:pPr lvl="0"/>
            <a:r>
              <a:rPr lang="en-US" noProof="0" smtClean="0"/>
              <a:t>Click icon to add picture</a:t>
            </a:r>
            <a:endParaRPr lang="en-AU" noProof="0" dirty="0"/>
          </a:p>
        </p:txBody>
      </p:sp>
      <p:sp>
        <p:nvSpPr>
          <p:cNvPr id="13" name="Picture Placeholder 11"/>
          <p:cNvSpPr>
            <a:spLocks noGrp="1"/>
          </p:cNvSpPr>
          <p:nvPr>
            <p:ph type="pic" sz="quarter" idx="19"/>
          </p:nvPr>
        </p:nvSpPr>
        <p:spPr>
          <a:xfrm>
            <a:off x="6128588" y="1921374"/>
            <a:ext cx="2700000" cy="3914275"/>
          </a:xfrm>
        </p:spPr>
        <p:txBody>
          <a:bodyPr rtlCol="0">
            <a:noAutofit/>
          </a:bodyPr>
          <a:lstStyle/>
          <a:p>
            <a:pPr lvl="0"/>
            <a:r>
              <a:rPr lang="en-US" noProof="0" smtClean="0"/>
              <a:t>Click icon to add picture</a:t>
            </a:r>
            <a:endParaRPr lang="en-AU" noProof="0" dirty="0"/>
          </a:p>
        </p:txBody>
      </p:sp>
      <p:sp>
        <p:nvSpPr>
          <p:cNvPr id="14" name="Footer Placeholder 4"/>
          <p:cNvSpPr>
            <a:spLocks noGrp="1"/>
          </p:cNvSpPr>
          <p:nvPr>
            <p:ph type="ftr" sz="quarter" idx="20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276350"/>
            <a:ext cx="8460000" cy="4555650"/>
          </a:xfrm>
        </p:spPr>
        <p:txBody>
          <a:bodyPr numCol="2" spcCol="360000"/>
          <a:lstStyle>
            <a:lvl2pPr marL="252000" indent="-250825">
              <a:defRPr/>
            </a:lvl2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3" y="270000"/>
            <a:ext cx="8460000" cy="900000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None/>
              <a:defRPr sz="3600" b="1">
                <a:solidFill>
                  <a:schemeClr val="accent2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276350"/>
            <a:ext cx="8460000" cy="4555650"/>
          </a:xfrm>
        </p:spPr>
        <p:txBody>
          <a:bodyPr numCol="3" spcCol="360000"/>
          <a:lstStyle>
            <a:lvl2pPr marL="252000" indent="-250825">
              <a:defRPr/>
            </a:lvl2pPr>
            <a:lvl5pPr>
              <a:buClr>
                <a:srgbClr val="4F4C4D"/>
              </a:buClr>
              <a:defRPr>
                <a:solidFill>
                  <a:srgbClr val="484647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3" y="270000"/>
            <a:ext cx="8460000" cy="900000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None/>
              <a:defRPr sz="3600" b="1">
                <a:solidFill>
                  <a:schemeClr val="accent2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276350"/>
            <a:ext cx="8460000" cy="4555650"/>
          </a:xfrm>
        </p:spPr>
        <p:txBody>
          <a:bodyPr/>
          <a:lstStyle>
            <a:lvl1pPr marL="378000" indent="-378000">
              <a:buFont typeface="+mj-lt"/>
              <a:buAutoNum type="arabicPeriod"/>
              <a:defRPr/>
            </a:lvl1pPr>
            <a:lvl2pPr marL="630000" indent="-250825">
              <a:defRPr/>
            </a:lvl2pPr>
            <a:lvl3pPr marL="756000">
              <a:defRPr/>
            </a:lvl3pPr>
            <a:lvl4pPr marL="1008000">
              <a:defRPr/>
            </a:lvl4pPr>
            <a:lvl5pPr marL="1260000">
              <a:buClr>
                <a:srgbClr val="4F4C4D"/>
              </a:buClr>
              <a:defRPr>
                <a:solidFill>
                  <a:srgbClr val="4F4C4D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3" y="270000"/>
            <a:ext cx="8460000" cy="900000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None/>
              <a:defRPr sz="3600" b="1">
                <a:solidFill>
                  <a:schemeClr val="accent2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00" y="1276350"/>
            <a:ext cx="8460000" cy="4559300"/>
          </a:xfrm>
        </p:spPr>
        <p:txBody>
          <a:bodyPr/>
          <a:lstStyle>
            <a:lvl1pPr>
              <a:lnSpc>
                <a:spcPct val="85000"/>
              </a:lnSpc>
              <a:spcAft>
                <a:spcPts val="0"/>
              </a:spcAft>
              <a:defRPr sz="4000" b="1">
                <a:solidFill>
                  <a:schemeClr val="accent1">
                    <a:lumMod val="75000"/>
                  </a:schemeClr>
                </a:solidFill>
              </a:defRPr>
            </a:lvl1pPr>
            <a:lvl2pPr marL="0" indent="0">
              <a:lnSpc>
                <a:spcPct val="85000"/>
              </a:lnSpc>
              <a:spcAft>
                <a:spcPts val="0"/>
              </a:spcAft>
              <a:buNone/>
              <a:defRPr sz="4000" b="1">
                <a:solidFill>
                  <a:schemeClr val="accent2"/>
                </a:solidFill>
              </a:defRPr>
            </a:lvl2pPr>
            <a:lvl3pPr marL="0" indent="0">
              <a:spcBef>
                <a:spcPts val="2200"/>
              </a:spcBef>
              <a:buNone/>
              <a:defRPr b="1">
                <a:solidFill>
                  <a:srgbClr val="00313C"/>
                </a:solidFill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4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3" y="270000"/>
            <a:ext cx="8460000" cy="900000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None/>
              <a:defRPr sz="3600" b="1">
                <a:solidFill>
                  <a:schemeClr val="accent2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w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4"/>
          </p:nvPr>
        </p:nvSpPr>
        <p:spPr>
          <a:xfrm>
            <a:off x="360363" y="1276350"/>
            <a:ext cx="8460000" cy="4559300"/>
          </a:xfrm>
        </p:spPr>
        <p:txBody>
          <a:bodyPr rtlCol="0">
            <a:noAutofit/>
          </a:bodyPr>
          <a:lstStyle/>
          <a:p>
            <a:pPr lvl="0"/>
            <a:r>
              <a:rPr lang="en-US" noProof="0" smtClean="0"/>
              <a:t>Click icon to add picture</a:t>
            </a:r>
            <a:endParaRPr lang="en-US" noProof="0" dirty="0"/>
          </a:p>
        </p:txBody>
      </p:sp>
      <p:sp>
        <p:nvSpPr>
          <p:cNvPr id="5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3" y="270000"/>
            <a:ext cx="8460000" cy="900000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None/>
              <a:defRPr sz="3600" b="1">
                <a:solidFill>
                  <a:schemeClr val="accent2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/>
          <p:cNvGrpSpPr/>
          <p:nvPr userDrawn="1"/>
        </p:nvGrpSpPr>
        <p:grpSpPr>
          <a:xfrm>
            <a:off x="-7938" y="6056313"/>
            <a:ext cx="9161463" cy="801687"/>
            <a:chOff x="-7938" y="6056313"/>
            <a:chExt cx="9161463" cy="801687"/>
          </a:xfrm>
        </p:grpSpPr>
        <p:sp>
          <p:nvSpPr>
            <p:cNvPr id="3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-7938" y="6056313"/>
              <a:ext cx="9161463" cy="80168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grpSp>
          <p:nvGrpSpPr>
            <p:cNvPr id="6" name="Group 1"/>
            <p:cNvGrpSpPr>
              <a:grpSpLocks/>
            </p:cNvGrpSpPr>
            <p:nvPr userDrawn="1"/>
          </p:nvGrpSpPr>
          <p:grpSpPr bwMode="auto">
            <a:xfrm>
              <a:off x="1588" y="6065838"/>
              <a:ext cx="9142412" cy="690562"/>
              <a:chOff x="1495" y="6065893"/>
              <a:chExt cx="9143026" cy="690563"/>
            </a:xfrm>
          </p:grpSpPr>
          <p:sp>
            <p:nvSpPr>
              <p:cNvPr id="7" name="Freeform 8"/>
              <p:cNvSpPr>
                <a:spLocks noEditPoints="1"/>
              </p:cNvSpPr>
              <p:nvPr userDrawn="1"/>
            </p:nvSpPr>
            <p:spPr bwMode="auto">
              <a:xfrm>
                <a:off x="1495" y="6065893"/>
                <a:ext cx="9143026" cy="690563"/>
              </a:xfrm>
              <a:custGeom>
                <a:avLst/>
                <a:gdLst>
                  <a:gd name="T0" fmla="*/ 2880 w 2880"/>
                  <a:gd name="T1" fmla="*/ 14 h 217"/>
                  <a:gd name="T2" fmla="*/ 2817 w 2880"/>
                  <a:gd name="T3" fmla="*/ 14 h 217"/>
                  <a:gd name="T4" fmla="*/ 2486 w 2880"/>
                  <a:gd name="T5" fmla="*/ 95 h 217"/>
                  <a:gd name="T6" fmla="*/ 2486 w 2880"/>
                  <a:gd name="T7" fmla="*/ 95 h 217"/>
                  <a:gd name="T8" fmla="*/ 2880 w 2880"/>
                  <a:gd name="T9" fmla="*/ 95 h 217"/>
                  <a:gd name="T10" fmla="*/ 2880 w 2880"/>
                  <a:gd name="T11" fmla="*/ 217 h 217"/>
                  <a:gd name="T12" fmla="*/ 2880 w 2880"/>
                  <a:gd name="T13" fmla="*/ 217 h 217"/>
                  <a:gd name="T14" fmla="*/ 2880 w 2880"/>
                  <a:gd name="T15" fmla="*/ 14 h 217"/>
                  <a:gd name="T16" fmla="*/ 2171 w 2880"/>
                  <a:gd name="T17" fmla="*/ 0 h 217"/>
                  <a:gd name="T18" fmla="*/ 0 w 2880"/>
                  <a:gd name="T19" fmla="*/ 0 h 217"/>
                  <a:gd name="T20" fmla="*/ 0 w 2880"/>
                  <a:gd name="T21" fmla="*/ 95 h 217"/>
                  <a:gd name="T22" fmla="*/ 2486 w 2880"/>
                  <a:gd name="T23" fmla="*/ 95 h 217"/>
                  <a:gd name="T24" fmla="*/ 2486 w 2880"/>
                  <a:gd name="T25" fmla="*/ 95 h 217"/>
                  <a:gd name="T26" fmla="*/ 2486 w 2880"/>
                  <a:gd name="T27" fmla="*/ 95 h 217"/>
                  <a:gd name="T28" fmla="*/ 2486 w 2880"/>
                  <a:gd name="T29" fmla="*/ 95 h 217"/>
                  <a:gd name="T30" fmla="*/ 2171 w 2880"/>
                  <a:gd name="T31" fmla="*/ 0 h 21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</a:cxnLst>
                <a:rect l="0" t="0" r="r" b="b"/>
                <a:pathLst>
                  <a:path w="2880" h="217">
                    <a:moveTo>
                      <a:pt x="2880" y="14"/>
                    </a:moveTo>
                    <a:cubicBezTo>
                      <a:pt x="2817" y="14"/>
                      <a:pt x="2817" y="14"/>
                      <a:pt x="2817" y="14"/>
                    </a:cubicBezTo>
                    <a:cubicBezTo>
                      <a:pt x="2616" y="14"/>
                      <a:pt x="2542" y="74"/>
                      <a:pt x="2486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880" y="95"/>
                      <a:pt x="2880" y="95"/>
                      <a:pt x="2880" y="95"/>
                    </a:cubicBezTo>
                    <a:cubicBezTo>
                      <a:pt x="2880" y="217"/>
                      <a:pt x="2880" y="217"/>
                      <a:pt x="2880" y="217"/>
                    </a:cubicBezTo>
                    <a:cubicBezTo>
                      <a:pt x="2880" y="217"/>
                      <a:pt x="2880" y="217"/>
                      <a:pt x="2880" y="217"/>
                    </a:cubicBezTo>
                    <a:cubicBezTo>
                      <a:pt x="2880" y="14"/>
                      <a:pt x="2880" y="14"/>
                      <a:pt x="2880" y="14"/>
                    </a:cubicBezTo>
                    <a:moveTo>
                      <a:pt x="2171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95"/>
                      <a:pt x="0" y="95"/>
                      <a:pt x="0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486" y="95"/>
                      <a:pt x="2486" y="95"/>
                      <a:pt x="2486" y="95"/>
                    </a:cubicBezTo>
                    <a:cubicBezTo>
                      <a:pt x="2419" y="39"/>
                      <a:pt x="2306" y="0"/>
                      <a:pt x="2171" y="0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" name="Freeform 9"/>
              <p:cNvSpPr>
                <a:spLocks noEditPoints="1"/>
              </p:cNvSpPr>
              <p:nvPr userDrawn="1"/>
            </p:nvSpPr>
            <p:spPr bwMode="auto">
              <a:xfrm>
                <a:off x="1495" y="6367518"/>
                <a:ext cx="9143026" cy="388938"/>
              </a:xfrm>
              <a:custGeom>
                <a:avLst/>
                <a:gdLst>
                  <a:gd name="T0" fmla="*/ 2486 w 2880"/>
                  <a:gd name="T1" fmla="*/ 0 h 122"/>
                  <a:gd name="T2" fmla="*/ 0 w 2880"/>
                  <a:gd name="T3" fmla="*/ 0 h 122"/>
                  <a:gd name="T4" fmla="*/ 0 w 2880"/>
                  <a:gd name="T5" fmla="*/ 13 h 122"/>
                  <a:gd name="T6" fmla="*/ 2289 w 2880"/>
                  <a:gd name="T7" fmla="*/ 13 h 122"/>
                  <a:gd name="T8" fmla="*/ 2486 w 2880"/>
                  <a:gd name="T9" fmla="*/ 0 h 122"/>
                  <a:gd name="T10" fmla="*/ 2880 w 2880"/>
                  <a:gd name="T11" fmla="*/ 0 h 122"/>
                  <a:gd name="T12" fmla="*/ 2486 w 2880"/>
                  <a:gd name="T13" fmla="*/ 0 h 122"/>
                  <a:gd name="T14" fmla="*/ 2813 w 2880"/>
                  <a:gd name="T15" fmla="*/ 122 h 122"/>
                  <a:gd name="T16" fmla="*/ 2880 w 2880"/>
                  <a:gd name="T17" fmla="*/ 122 h 122"/>
                  <a:gd name="T18" fmla="*/ 2880 w 2880"/>
                  <a:gd name="T19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880" h="122">
                    <a:moveTo>
                      <a:pt x="2486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2289" y="13"/>
                      <a:pt x="2289" y="13"/>
                      <a:pt x="2289" y="13"/>
                    </a:cubicBezTo>
                    <a:cubicBezTo>
                      <a:pt x="2418" y="13"/>
                      <a:pt x="2459" y="10"/>
                      <a:pt x="2486" y="0"/>
                    </a:cubicBezTo>
                    <a:moveTo>
                      <a:pt x="2880" y="0"/>
                    </a:moveTo>
                    <a:cubicBezTo>
                      <a:pt x="2486" y="0"/>
                      <a:pt x="2486" y="0"/>
                      <a:pt x="2486" y="0"/>
                    </a:cubicBezTo>
                    <a:cubicBezTo>
                      <a:pt x="2554" y="56"/>
                      <a:pt x="2645" y="122"/>
                      <a:pt x="2813" y="122"/>
                    </a:cubicBezTo>
                    <a:cubicBezTo>
                      <a:pt x="2854" y="122"/>
                      <a:pt x="2880" y="122"/>
                      <a:pt x="2880" y="122"/>
                    </a:cubicBezTo>
                    <a:cubicBezTo>
                      <a:pt x="2880" y="0"/>
                      <a:pt x="2880" y="0"/>
                      <a:pt x="2880" y="0"/>
                    </a:cubicBezTo>
                  </a:path>
                </a:pathLst>
              </a:custGeom>
              <a:solidFill>
                <a:schemeClr val="accent2">
                  <a:lumMod val="75000"/>
                </a:schemeClr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0" name="Freeform 10"/>
              <p:cNvSpPr>
                <a:spLocks/>
              </p:cNvSpPr>
              <p:nvPr userDrawn="1"/>
            </p:nvSpPr>
            <p:spPr bwMode="auto">
              <a:xfrm>
                <a:off x="1495" y="6110343"/>
                <a:ext cx="7891992" cy="298450"/>
              </a:xfrm>
              <a:custGeom>
                <a:avLst/>
                <a:gdLst>
                  <a:gd name="T0" fmla="*/ 2486 w 2486"/>
                  <a:gd name="T1" fmla="*/ 81 h 94"/>
                  <a:gd name="T2" fmla="*/ 2171 w 2486"/>
                  <a:gd name="T3" fmla="*/ 0 h 94"/>
                  <a:gd name="T4" fmla="*/ 0 w 2486"/>
                  <a:gd name="T5" fmla="*/ 0 h 94"/>
                  <a:gd name="T6" fmla="*/ 0 w 2486"/>
                  <a:gd name="T7" fmla="*/ 94 h 94"/>
                  <a:gd name="T8" fmla="*/ 2289 w 2486"/>
                  <a:gd name="T9" fmla="*/ 94 h 94"/>
                  <a:gd name="T10" fmla="*/ 2486 w 2486"/>
                  <a:gd name="T11" fmla="*/ 81 h 9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486" h="94">
                    <a:moveTo>
                      <a:pt x="2486" y="81"/>
                    </a:moveTo>
                    <a:cubicBezTo>
                      <a:pt x="2410" y="38"/>
                      <a:pt x="2306" y="0"/>
                      <a:pt x="2171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94"/>
                      <a:pt x="0" y="94"/>
                      <a:pt x="0" y="94"/>
                    </a:cubicBezTo>
                    <a:cubicBezTo>
                      <a:pt x="2289" y="94"/>
                      <a:pt x="2289" y="94"/>
                      <a:pt x="2289" y="94"/>
                    </a:cubicBezTo>
                    <a:cubicBezTo>
                      <a:pt x="2418" y="94"/>
                      <a:pt x="2459" y="91"/>
                      <a:pt x="2486" y="81"/>
                    </a:cubicBezTo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11" name="Freeform 11"/>
              <p:cNvSpPr>
                <a:spLocks/>
              </p:cNvSpPr>
              <p:nvPr userDrawn="1"/>
            </p:nvSpPr>
            <p:spPr bwMode="auto">
              <a:xfrm>
                <a:off x="7893487" y="6110343"/>
                <a:ext cx="1251034" cy="601663"/>
              </a:xfrm>
              <a:custGeom>
                <a:avLst/>
                <a:gdLst>
                  <a:gd name="T0" fmla="*/ 331 w 394"/>
                  <a:gd name="T1" fmla="*/ 0 h 189"/>
                  <a:gd name="T2" fmla="*/ 0 w 394"/>
                  <a:gd name="T3" fmla="*/ 81 h 189"/>
                  <a:gd name="T4" fmla="*/ 327 w 394"/>
                  <a:gd name="T5" fmla="*/ 189 h 189"/>
                  <a:gd name="T6" fmla="*/ 394 w 394"/>
                  <a:gd name="T7" fmla="*/ 189 h 189"/>
                  <a:gd name="T8" fmla="*/ 394 w 394"/>
                  <a:gd name="T9" fmla="*/ 0 h 189"/>
                  <a:gd name="T10" fmla="*/ 331 w 394"/>
                  <a:gd name="T11" fmla="*/ 0 h 18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394" h="189">
                    <a:moveTo>
                      <a:pt x="331" y="0"/>
                    </a:moveTo>
                    <a:cubicBezTo>
                      <a:pt x="130" y="0"/>
                      <a:pt x="56" y="60"/>
                      <a:pt x="0" y="81"/>
                    </a:cubicBezTo>
                    <a:cubicBezTo>
                      <a:pt x="89" y="131"/>
                      <a:pt x="159" y="189"/>
                      <a:pt x="327" y="189"/>
                    </a:cubicBezTo>
                    <a:cubicBezTo>
                      <a:pt x="368" y="189"/>
                      <a:pt x="394" y="189"/>
                      <a:pt x="394" y="189"/>
                    </a:cubicBezTo>
                    <a:cubicBezTo>
                      <a:pt x="394" y="0"/>
                      <a:pt x="394" y="0"/>
                      <a:pt x="394" y="0"/>
                    </a:cubicBezTo>
                    <a:lnTo>
                      <a:pt x="331" y="0"/>
                    </a:ln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  <p:pic>
          <p:nvPicPr>
            <p:cNvPr id="12" name="Picture 78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459788" y="6191250"/>
              <a:ext cx="454025" cy="454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9" name="Text Placeholder 8"/>
          <p:cNvSpPr>
            <a:spLocks noGrp="1"/>
          </p:cNvSpPr>
          <p:nvPr>
            <p:ph type="body" sz="quarter" idx="10"/>
          </p:nvPr>
        </p:nvSpPr>
        <p:spPr>
          <a:xfrm>
            <a:off x="360000" y="1276350"/>
            <a:ext cx="7477125" cy="4559301"/>
          </a:xfrm>
        </p:spPr>
        <p:txBody>
          <a:bodyPr/>
          <a:lstStyle>
            <a:lvl1pPr>
              <a:spcAft>
                <a:spcPts val="0"/>
              </a:spcAft>
              <a:defRPr sz="4400" b="1">
                <a:solidFill>
                  <a:schemeClr val="accent1"/>
                </a:solidFill>
              </a:defRPr>
            </a:lvl1pPr>
            <a:lvl2pPr marL="0" indent="0">
              <a:lnSpc>
                <a:spcPct val="75000"/>
              </a:lnSpc>
              <a:spcAft>
                <a:spcPts val="850"/>
              </a:spcAft>
              <a:buNone/>
              <a:defRPr sz="4400" b="1">
                <a:solidFill>
                  <a:schemeClr val="bg1"/>
                </a:solidFill>
              </a:defRPr>
            </a:lvl2pPr>
            <a:lvl3pPr marL="0" indent="0">
              <a:buNone/>
              <a:defRPr sz="2200" b="1">
                <a:solidFill>
                  <a:srgbClr val="FFFFFF"/>
                </a:solidFill>
              </a:defRPr>
            </a:lvl3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13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7"/>
          <p:cNvSpPr>
            <a:spLocks noGrp="1"/>
          </p:cNvSpPr>
          <p:nvPr>
            <p:ph type="body" sz="quarter" idx="13"/>
          </p:nvPr>
        </p:nvSpPr>
        <p:spPr>
          <a:xfrm>
            <a:off x="360363" y="270000"/>
            <a:ext cx="8460000" cy="900000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spcBef>
                <a:spcPts val="0"/>
              </a:spcBef>
              <a:spcAft>
                <a:spcPts val="283"/>
              </a:spcAft>
              <a:buNone/>
              <a:defRPr sz="3600" b="1">
                <a:solidFill>
                  <a:schemeClr val="accent2"/>
                </a:solidFill>
              </a:defRPr>
            </a:lvl1pPr>
            <a:lvl2pPr marL="0" indent="0">
              <a:lnSpc>
                <a:spcPct val="85000"/>
              </a:lnSpc>
              <a:spcBef>
                <a:spcPts val="0"/>
              </a:spcBef>
              <a:buNone/>
              <a:defRPr sz="2200" b="1">
                <a:solidFill>
                  <a:schemeClr val="accent1">
                    <a:lumMod val="75000"/>
                  </a:schemeClr>
                </a:solidFill>
              </a:defRPr>
            </a:lvl2pPr>
            <a:lvl3pPr>
              <a:buNone/>
              <a:defRPr sz="2800">
                <a:solidFill>
                  <a:srgbClr val="00A9CE"/>
                </a:solidFill>
              </a:defRPr>
            </a:lvl3pPr>
            <a:lvl4pPr>
              <a:buNone/>
              <a:defRPr sz="2800">
                <a:solidFill>
                  <a:srgbClr val="00A9CE"/>
                </a:solidFill>
              </a:defRPr>
            </a:lvl4pPr>
            <a:lvl5pPr>
              <a:buNone/>
              <a:defRPr sz="2800">
                <a:solidFill>
                  <a:srgbClr val="00A9CE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360000" y="2866540"/>
            <a:ext cx="7469550" cy="720000"/>
          </a:xfrm>
          <a:prstGeom prst="rect">
            <a:avLst/>
          </a:prstGeom>
        </p:spPr>
        <p:txBody>
          <a:bodyPr>
            <a:noAutofit/>
          </a:bodyPr>
          <a:lstStyle>
            <a:lvl1pPr>
              <a:lnSpc>
                <a:spcPct val="85000"/>
              </a:lnSpc>
              <a:spcAft>
                <a:spcPts val="0"/>
              </a:spcAft>
              <a:defRPr sz="55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3" name="Text Placeholder 12"/>
          <p:cNvSpPr>
            <a:spLocks noGrp="1"/>
          </p:cNvSpPr>
          <p:nvPr>
            <p:ph type="body" sz="quarter" idx="10"/>
          </p:nvPr>
        </p:nvSpPr>
        <p:spPr>
          <a:xfrm>
            <a:off x="360000" y="3712540"/>
            <a:ext cx="2772000" cy="1530000"/>
          </a:xfrm>
        </p:spPr>
        <p:txBody>
          <a:bodyPr>
            <a:noAutofit/>
          </a:bodyPr>
          <a:lstStyle>
            <a:lvl1pPr>
              <a:lnSpc>
                <a:spcPct val="90000"/>
              </a:lnSpc>
              <a:spcAft>
                <a:spcPts val="0"/>
              </a:spcAft>
              <a:defRPr sz="1600" b="1">
                <a:solidFill>
                  <a:srgbClr val="FFFFFF"/>
                </a:solidFill>
              </a:defRPr>
            </a:lvl1pPr>
            <a:lvl2pPr marL="0" indent="0">
              <a:lnSpc>
                <a:spcPct val="90000"/>
              </a:lnSpc>
              <a:spcAft>
                <a:spcPts val="567"/>
              </a:spcAft>
              <a:buNone/>
              <a:defRPr sz="1600">
                <a:solidFill>
                  <a:srgbClr val="FFFFFF"/>
                </a:solidFill>
              </a:defRPr>
            </a:lvl2pPr>
            <a:lvl3pPr marL="266700" indent="-266700">
              <a:lnSpc>
                <a:spcPct val="90000"/>
              </a:lnSpc>
              <a:spcAft>
                <a:spcPts val="0"/>
              </a:spcAft>
              <a:buNone/>
              <a:tabLst>
                <a:tab pos="266700" algn="l"/>
              </a:tabLst>
              <a:defRPr sz="1600">
                <a:solidFill>
                  <a:srgbClr val="FFFFFF"/>
                </a:solidFill>
              </a:defRPr>
            </a:lvl3pPr>
            <a:lvl4pPr>
              <a:defRPr sz="1600">
                <a:solidFill>
                  <a:srgbClr val="FFFFFF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sp>
        <p:nvSpPr>
          <p:cNvPr id="14" name="Text Placeholder 12"/>
          <p:cNvSpPr>
            <a:spLocks noGrp="1"/>
          </p:cNvSpPr>
          <p:nvPr>
            <p:ph type="body" sz="quarter" idx="11"/>
          </p:nvPr>
        </p:nvSpPr>
        <p:spPr>
          <a:xfrm>
            <a:off x="3600000" y="3712540"/>
            <a:ext cx="2772000" cy="1530000"/>
          </a:xfrm>
        </p:spPr>
        <p:txBody>
          <a:bodyPr>
            <a:noAutofit/>
          </a:bodyPr>
          <a:lstStyle>
            <a:lvl1pPr marL="271463" indent="-271463">
              <a:lnSpc>
                <a:spcPct val="90000"/>
              </a:lnSpc>
              <a:spcAft>
                <a:spcPts val="0"/>
              </a:spcAft>
              <a:tabLst>
                <a:tab pos="355600" algn="l"/>
              </a:tabLst>
              <a:defRPr sz="1600" b="1">
                <a:solidFill>
                  <a:srgbClr val="FFFFFF"/>
                </a:solidFill>
              </a:defRPr>
            </a:lvl1pPr>
            <a:lvl2pPr marL="0" indent="0">
              <a:lnSpc>
                <a:spcPct val="90000"/>
              </a:lnSpc>
              <a:spcAft>
                <a:spcPts val="567"/>
              </a:spcAft>
              <a:buNone/>
              <a:defRPr sz="1600">
                <a:solidFill>
                  <a:srgbClr val="FFFFFF"/>
                </a:solidFill>
              </a:defRPr>
            </a:lvl2pPr>
            <a:lvl3pPr marL="271463" indent="-271463">
              <a:lnSpc>
                <a:spcPct val="90000"/>
              </a:lnSpc>
              <a:spcAft>
                <a:spcPts val="0"/>
              </a:spcAft>
              <a:buNone/>
              <a:tabLst>
                <a:tab pos="271463" algn="l"/>
              </a:tabLst>
              <a:defRPr lang="en-AU" sz="1600" kern="120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3pPr>
            <a:lvl4pPr>
              <a:defRPr sz="1600">
                <a:solidFill>
                  <a:srgbClr val="FFFFFF"/>
                </a:solidFill>
              </a:defRPr>
            </a:lvl4pPr>
            <a:lvl5pPr>
              <a:defRPr sz="1600">
                <a:solidFill>
                  <a:srgbClr val="FFFFFF"/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</p:txBody>
      </p:sp>
      <p:grpSp>
        <p:nvGrpSpPr>
          <p:cNvPr id="24" name="Group 23"/>
          <p:cNvGrpSpPr/>
          <p:nvPr userDrawn="1"/>
        </p:nvGrpSpPr>
        <p:grpSpPr>
          <a:xfrm>
            <a:off x="608" y="5500319"/>
            <a:ext cx="9167813" cy="996950"/>
            <a:chOff x="608" y="5500319"/>
            <a:chExt cx="9167813" cy="996950"/>
          </a:xfrm>
        </p:grpSpPr>
        <p:grpSp>
          <p:nvGrpSpPr>
            <p:cNvPr id="62" name="Group 22"/>
            <p:cNvGrpSpPr>
              <a:grpSpLocks/>
            </p:cNvGrpSpPr>
            <p:nvPr userDrawn="1"/>
          </p:nvGrpSpPr>
          <p:grpSpPr bwMode="auto">
            <a:xfrm>
              <a:off x="608" y="5500319"/>
              <a:ext cx="9167813" cy="996950"/>
              <a:chOff x="-7938" y="5668963"/>
              <a:chExt cx="9167813" cy="996950"/>
            </a:xfrm>
          </p:grpSpPr>
          <p:sp>
            <p:nvSpPr>
              <p:cNvPr id="63" name="Freeform 11"/>
              <p:cNvSpPr>
                <a:spLocks noEditPoints="1"/>
              </p:cNvSpPr>
              <p:nvPr userDrawn="1"/>
            </p:nvSpPr>
            <p:spPr bwMode="auto">
              <a:xfrm>
                <a:off x="-7938" y="5668963"/>
                <a:ext cx="9167813" cy="996950"/>
              </a:xfrm>
              <a:custGeom>
                <a:avLst/>
                <a:gdLst>
                  <a:gd name="T0" fmla="*/ 2880 w 2880"/>
                  <a:gd name="T1" fmla="*/ 20 h 313"/>
                  <a:gd name="T2" fmla="*/ 2789 w 2880"/>
                  <a:gd name="T3" fmla="*/ 20 h 313"/>
                  <a:gd name="T4" fmla="*/ 2313 w 2880"/>
                  <a:gd name="T5" fmla="*/ 137 h 313"/>
                  <a:gd name="T6" fmla="*/ 2784 w 2880"/>
                  <a:gd name="T7" fmla="*/ 313 h 313"/>
                  <a:gd name="T8" fmla="*/ 2880 w 2880"/>
                  <a:gd name="T9" fmla="*/ 313 h 313"/>
                  <a:gd name="T10" fmla="*/ 2880 w 2880"/>
                  <a:gd name="T11" fmla="*/ 20 h 313"/>
                  <a:gd name="T12" fmla="*/ 1860 w 2880"/>
                  <a:gd name="T13" fmla="*/ 0 h 313"/>
                  <a:gd name="T14" fmla="*/ 0 w 2880"/>
                  <a:gd name="T15" fmla="*/ 0 h 313"/>
                  <a:gd name="T16" fmla="*/ 0 w 2880"/>
                  <a:gd name="T17" fmla="*/ 157 h 313"/>
                  <a:gd name="T18" fmla="*/ 2030 w 2880"/>
                  <a:gd name="T19" fmla="*/ 157 h 313"/>
                  <a:gd name="T20" fmla="*/ 2313 w 2880"/>
                  <a:gd name="T21" fmla="*/ 137 h 313"/>
                  <a:gd name="T22" fmla="*/ 2313 w 2880"/>
                  <a:gd name="T23" fmla="*/ 137 h 313"/>
                  <a:gd name="T24" fmla="*/ 2313 w 2880"/>
                  <a:gd name="T25" fmla="*/ 137 h 313"/>
                  <a:gd name="T26" fmla="*/ 1860 w 2880"/>
                  <a:gd name="T27" fmla="*/ 0 h 3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880" h="313">
                    <a:moveTo>
                      <a:pt x="2880" y="20"/>
                    </a:moveTo>
                    <a:cubicBezTo>
                      <a:pt x="2789" y="20"/>
                      <a:pt x="2789" y="20"/>
                      <a:pt x="2789" y="20"/>
                    </a:cubicBezTo>
                    <a:cubicBezTo>
                      <a:pt x="2500" y="20"/>
                      <a:pt x="2393" y="107"/>
                      <a:pt x="2313" y="137"/>
                    </a:cubicBezTo>
                    <a:cubicBezTo>
                      <a:pt x="2411" y="217"/>
                      <a:pt x="2542" y="313"/>
                      <a:pt x="2784" y="313"/>
                    </a:cubicBezTo>
                    <a:cubicBezTo>
                      <a:pt x="2842" y="313"/>
                      <a:pt x="2880" y="313"/>
                      <a:pt x="2880" y="313"/>
                    </a:cubicBezTo>
                    <a:cubicBezTo>
                      <a:pt x="2880" y="20"/>
                      <a:pt x="2880" y="20"/>
                      <a:pt x="2880" y="20"/>
                    </a:cubicBezTo>
                    <a:moveTo>
                      <a:pt x="1860" y="0"/>
                    </a:moveTo>
                    <a:cubicBezTo>
                      <a:pt x="0" y="0"/>
                      <a:pt x="0" y="0"/>
                      <a:pt x="0" y="0"/>
                    </a:cubicBezTo>
                    <a:cubicBezTo>
                      <a:pt x="0" y="157"/>
                      <a:pt x="0" y="157"/>
                      <a:pt x="0" y="157"/>
                    </a:cubicBezTo>
                    <a:cubicBezTo>
                      <a:pt x="2030" y="157"/>
                      <a:pt x="2030" y="157"/>
                      <a:pt x="2030" y="157"/>
                    </a:cubicBezTo>
                    <a:cubicBezTo>
                      <a:pt x="2214" y="157"/>
                      <a:pt x="2274" y="152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313" y="137"/>
                      <a:pt x="2313" y="137"/>
                      <a:pt x="2313" y="137"/>
                    </a:cubicBezTo>
                    <a:cubicBezTo>
                      <a:pt x="2216" y="57"/>
                      <a:pt x="2053" y="0"/>
                      <a:pt x="1860" y="0"/>
                    </a:cubicBezTo>
                  </a:path>
                </a:pathLst>
              </a:custGeom>
              <a:solidFill>
                <a:schemeClr val="accent1">
                  <a:lumMod val="75000"/>
                </a:schemeClr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4" name="Freeform 24"/>
              <p:cNvSpPr>
                <a:spLocks/>
              </p:cNvSpPr>
              <p:nvPr userDrawn="1"/>
            </p:nvSpPr>
            <p:spPr bwMode="auto">
              <a:xfrm>
                <a:off x="-7938" y="5732463"/>
                <a:ext cx="7362826" cy="433387"/>
              </a:xfrm>
              <a:custGeom>
                <a:avLst/>
                <a:gdLst>
                  <a:gd name="T0" fmla="*/ 2313 w 2313"/>
                  <a:gd name="T1" fmla="*/ 117 h 136"/>
                  <a:gd name="T2" fmla="*/ 1860 w 2313"/>
                  <a:gd name="T3" fmla="*/ 0 h 136"/>
                  <a:gd name="T4" fmla="*/ 0 w 2313"/>
                  <a:gd name="T5" fmla="*/ 0 h 136"/>
                  <a:gd name="T6" fmla="*/ 0 w 2313"/>
                  <a:gd name="T7" fmla="*/ 136 h 136"/>
                  <a:gd name="T8" fmla="*/ 2030 w 2313"/>
                  <a:gd name="T9" fmla="*/ 136 h 136"/>
                  <a:gd name="T10" fmla="*/ 2313 w 2313"/>
                  <a:gd name="T11" fmla="*/ 117 h 1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2313" h="136">
                    <a:moveTo>
                      <a:pt x="2313" y="117"/>
                    </a:moveTo>
                    <a:cubicBezTo>
                      <a:pt x="2204" y="55"/>
                      <a:pt x="2053" y="0"/>
                      <a:pt x="186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36"/>
                      <a:pt x="0" y="136"/>
                      <a:pt x="0" y="136"/>
                    </a:cubicBezTo>
                    <a:cubicBezTo>
                      <a:pt x="2030" y="136"/>
                      <a:pt x="2030" y="136"/>
                      <a:pt x="2030" y="136"/>
                    </a:cubicBezTo>
                    <a:cubicBezTo>
                      <a:pt x="2214" y="136"/>
                      <a:pt x="2274" y="132"/>
                      <a:pt x="2313" y="117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65" name="Freeform 25"/>
              <p:cNvSpPr>
                <a:spLocks/>
              </p:cNvSpPr>
              <p:nvPr userDrawn="1"/>
            </p:nvSpPr>
            <p:spPr bwMode="auto">
              <a:xfrm>
                <a:off x="7354888" y="5732463"/>
                <a:ext cx="1804987" cy="869950"/>
              </a:xfrm>
              <a:custGeom>
                <a:avLst/>
                <a:gdLst>
                  <a:gd name="T0" fmla="*/ 476 w 567"/>
                  <a:gd name="T1" fmla="*/ 0 h 273"/>
                  <a:gd name="T2" fmla="*/ 0 w 567"/>
                  <a:gd name="T3" fmla="*/ 117 h 273"/>
                  <a:gd name="T4" fmla="*/ 471 w 567"/>
                  <a:gd name="T5" fmla="*/ 273 h 273"/>
                  <a:gd name="T6" fmla="*/ 567 w 567"/>
                  <a:gd name="T7" fmla="*/ 273 h 273"/>
                  <a:gd name="T8" fmla="*/ 567 w 567"/>
                  <a:gd name="T9" fmla="*/ 0 h 273"/>
                  <a:gd name="T10" fmla="*/ 476 w 567"/>
                  <a:gd name="T11" fmla="*/ 0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67" h="273">
                    <a:moveTo>
                      <a:pt x="476" y="0"/>
                    </a:moveTo>
                    <a:cubicBezTo>
                      <a:pt x="187" y="0"/>
                      <a:pt x="80" y="87"/>
                      <a:pt x="0" y="117"/>
                    </a:cubicBezTo>
                    <a:cubicBezTo>
                      <a:pt x="128" y="190"/>
                      <a:pt x="229" y="273"/>
                      <a:pt x="471" y="273"/>
                    </a:cubicBezTo>
                    <a:cubicBezTo>
                      <a:pt x="529" y="273"/>
                      <a:pt x="567" y="273"/>
                      <a:pt x="567" y="273"/>
                    </a:cubicBezTo>
                    <a:cubicBezTo>
                      <a:pt x="567" y="0"/>
                      <a:pt x="567" y="0"/>
                      <a:pt x="567" y="0"/>
                    </a:cubicBezTo>
                    <a:lnTo>
                      <a:pt x="476" y="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  <p:pic>
          <p:nvPicPr>
            <p:cNvPr id="80" name="Picture 78"/>
            <p:cNvPicPr>
              <a:picLocks noChangeAspect="1" noChangeArrowheads="1"/>
            </p:cNvPicPr>
            <p:nvPr userDrawn="1"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8169275" y="5675743"/>
              <a:ext cx="655638" cy="65563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grpSp>
          <p:nvGrpSpPr>
            <p:cNvPr id="81" name="Group 19"/>
            <p:cNvGrpSpPr/>
            <p:nvPr userDrawn="1"/>
          </p:nvGrpSpPr>
          <p:grpSpPr>
            <a:xfrm>
              <a:off x="360000" y="5807505"/>
              <a:ext cx="814388" cy="95250"/>
              <a:chOff x="3495675" y="5969000"/>
              <a:chExt cx="814388" cy="95250"/>
            </a:xfrm>
            <a:solidFill>
              <a:schemeClr val="accent1"/>
            </a:solidFill>
          </p:grpSpPr>
          <p:sp>
            <p:nvSpPr>
              <p:cNvPr id="82" name="Freeform 26"/>
              <p:cNvSpPr>
                <a:spLocks/>
              </p:cNvSpPr>
              <p:nvPr/>
            </p:nvSpPr>
            <p:spPr bwMode="auto">
              <a:xfrm>
                <a:off x="34956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1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1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1" y="13"/>
                      <a:pt x="21" y="13"/>
                      <a:pt x="21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3" name="Freeform 27"/>
              <p:cNvSpPr>
                <a:spLocks/>
              </p:cNvSpPr>
              <p:nvPr/>
            </p:nvSpPr>
            <p:spPr bwMode="auto">
              <a:xfrm>
                <a:off x="360362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8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4" name="Freeform 28"/>
              <p:cNvSpPr>
                <a:spLocks/>
              </p:cNvSpPr>
              <p:nvPr/>
            </p:nvSpPr>
            <p:spPr bwMode="auto">
              <a:xfrm>
                <a:off x="3711575" y="5997575"/>
                <a:ext cx="98425" cy="66675"/>
              </a:xfrm>
              <a:custGeom>
                <a:avLst/>
                <a:gdLst>
                  <a:gd name="T0" fmla="*/ 31 w 31"/>
                  <a:gd name="T1" fmla="*/ 0 h 21"/>
                  <a:gd name="T2" fmla="*/ 25 w 31"/>
                  <a:gd name="T3" fmla="*/ 21 h 21"/>
                  <a:gd name="T4" fmla="*/ 19 w 31"/>
                  <a:gd name="T5" fmla="*/ 21 h 21"/>
                  <a:gd name="T6" fmla="*/ 16 w 31"/>
                  <a:gd name="T7" fmla="*/ 9 h 21"/>
                  <a:gd name="T8" fmla="*/ 15 w 31"/>
                  <a:gd name="T9" fmla="*/ 7 h 21"/>
                  <a:gd name="T10" fmla="*/ 15 w 31"/>
                  <a:gd name="T11" fmla="*/ 7 h 21"/>
                  <a:gd name="T12" fmla="*/ 15 w 31"/>
                  <a:gd name="T13" fmla="*/ 9 h 21"/>
                  <a:gd name="T14" fmla="*/ 12 w 31"/>
                  <a:gd name="T15" fmla="*/ 21 h 21"/>
                  <a:gd name="T16" fmla="*/ 6 w 31"/>
                  <a:gd name="T17" fmla="*/ 21 h 21"/>
                  <a:gd name="T18" fmla="*/ 0 w 31"/>
                  <a:gd name="T19" fmla="*/ 0 h 21"/>
                  <a:gd name="T20" fmla="*/ 5 w 31"/>
                  <a:gd name="T21" fmla="*/ 0 h 21"/>
                  <a:gd name="T22" fmla="*/ 8 w 31"/>
                  <a:gd name="T23" fmla="*/ 13 h 21"/>
                  <a:gd name="T24" fmla="*/ 9 w 31"/>
                  <a:gd name="T25" fmla="*/ 16 h 21"/>
                  <a:gd name="T26" fmla="*/ 9 w 31"/>
                  <a:gd name="T27" fmla="*/ 16 h 21"/>
                  <a:gd name="T28" fmla="*/ 10 w 31"/>
                  <a:gd name="T29" fmla="*/ 13 h 21"/>
                  <a:gd name="T30" fmla="*/ 13 w 31"/>
                  <a:gd name="T31" fmla="*/ 0 h 21"/>
                  <a:gd name="T32" fmla="*/ 18 w 31"/>
                  <a:gd name="T33" fmla="*/ 0 h 21"/>
                  <a:gd name="T34" fmla="*/ 22 w 31"/>
                  <a:gd name="T35" fmla="*/ 13 h 21"/>
                  <a:gd name="T36" fmla="*/ 22 w 31"/>
                  <a:gd name="T37" fmla="*/ 16 h 21"/>
                  <a:gd name="T38" fmla="*/ 22 w 31"/>
                  <a:gd name="T39" fmla="*/ 16 h 21"/>
                  <a:gd name="T40" fmla="*/ 23 w 31"/>
                  <a:gd name="T41" fmla="*/ 12 h 21"/>
                  <a:gd name="T42" fmla="*/ 26 w 31"/>
                  <a:gd name="T43" fmla="*/ 0 h 21"/>
                  <a:gd name="T44" fmla="*/ 31 w 31"/>
                  <a:gd name="T45" fmla="*/ 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31" h="21">
                    <a:moveTo>
                      <a:pt x="31" y="0"/>
                    </a:moveTo>
                    <a:cubicBezTo>
                      <a:pt x="29" y="7"/>
                      <a:pt x="27" y="14"/>
                      <a:pt x="25" y="21"/>
                    </a:cubicBezTo>
                    <a:cubicBezTo>
                      <a:pt x="19" y="21"/>
                      <a:pt x="19" y="21"/>
                      <a:pt x="19" y="21"/>
                    </a:cubicBezTo>
                    <a:cubicBezTo>
                      <a:pt x="16" y="9"/>
                      <a:pt x="16" y="9"/>
                      <a:pt x="16" y="9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7"/>
                      <a:pt x="15" y="7"/>
                      <a:pt x="15" y="7"/>
                    </a:cubicBezTo>
                    <a:cubicBezTo>
                      <a:pt x="15" y="9"/>
                      <a:pt x="15" y="9"/>
                      <a:pt x="15" y="9"/>
                    </a:cubicBezTo>
                    <a:cubicBezTo>
                      <a:pt x="12" y="21"/>
                      <a:pt x="12" y="21"/>
                      <a:pt x="12" y="21"/>
                    </a:cubicBezTo>
                    <a:cubicBezTo>
                      <a:pt x="6" y="21"/>
                      <a:pt x="6" y="21"/>
                      <a:pt x="6" y="21"/>
                    </a:cubicBezTo>
                    <a:cubicBezTo>
                      <a:pt x="4" y="14"/>
                      <a:pt x="2" y="7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6" y="5"/>
                      <a:pt x="7" y="9"/>
                      <a:pt x="8" y="13"/>
                    </a:cubicBezTo>
                    <a:cubicBezTo>
                      <a:pt x="9" y="14"/>
                      <a:pt x="9" y="15"/>
                      <a:pt x="9" y="16"/>
                    </a:cubicBezTo>
                    <a:cubicBezTo>
                      <a:pt x="9" y="16"/>
                      <a:pt x="9" y="16"/>
                      <a:pt x="9" y="16"/>
                    </a:cubicBezTo>
                    <a:cubicBezTo>
                      <a:pt x="10" y="13"/>
                      <a:pt x="10" y="13"/>
                      <a:pt x="10" y="13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22" y="13"/>
                      <a:pt x="22" y="13"/>
                      <a:pt x="22" y="13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2" y="16"/>
                      <a:pt x="22" y="16"/>
                      <a:pt x="22" y="16"/>
                    </a:cubicBezTo>
                    <a:cubicBezTo>
                      <a:pt x="23" y="15"/>
                      <a:pt x="23" y="13"/>
                      <a:pt x="23" y="12"/>
                    </a:cubicBezTo>
                    <a:cubicBezTo>
                      <a:pt x="24" y="8"/>
                      <a:pt x="25" y="4"/>
                      <a:pt x="26" y="0"/>
                    </a:cubicBezTo>
                    <a:lnTo>
                      <a:pt x="31" y="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5" name="Oval 29"/>
              <p:cNvSpPr>
                <a:spLocks noChangeArrowheads="1"/>
              </p:cNvSpPr>
              <p:nvPr/>
            </p:nvSpPr>
            <p:spPr bwMode="auto">
              <a:xfrm>
                <a:off x="3819525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6" name="Freeform 30"/>
              <p:cNvSpPr>
                <a:spLocks/>
              </p:cNvSpPr>
              <p:nvPr/>
            </p:nvSpPr>
            <p:spPr bwMode="auto">
              <a:xfrm>
                <a:off x="3851275" y="5997575"/>
                <a:ext cx="50800" cy="66675"/>
              </a:xfrm>
              <a:custGeom>
                <a:avLst/>
                <a:gdLst>
                  <a:gd name="T0" fmla="*/ 16 w 16"/>
                  <a:gd name="T1" fmla="*/ 20 h 21"/>
                  <a:gd name="T2" fmla="*/ 10 w 16"/>
                  <a:gd name="T3" fmla="*/ 21 h 21"/>
                  <a:gd name="T4" fmla="*/ 0 w 16"/>
                  <a:gd name="T5" fmla="*/ 11 h 21"/>
                  <a:gd name="T6" fmla="*/ 10 w 16"/>
                  <a:gd name="T7" fmla="*/ 0 h 21"/>
                  <a:gd name="T8" fmla="*/ 16 w 16"/>
                  <a:gd name="T9" fmla="*/ 1 h 21"/>
                  <a:gd name="T10" fmla="*/ 14 w 16"/>
                  <a:gd name="T11" fmla="*/ 5 h 21"/>
                  <a:gd name="T12" fmla="*/ 11 w 16"/>
                  <a:gd name="T13" fmla="*/ 4 h 21"/>
                  <a:gd name="T14" fmla="*/ 6 w 16"/>
                  <a:gd name="T15" fmla="*/ 10 h 21"/>
                  <a:gd name="T16" fmla="*/ 11 w 16"/>
                  <a:gd name="T17" fmla="*/ 17 h 21"/>
                  <a:gd name="T18" fmla="*/ 15 w 16"/>
                  <a:gd name="T19" fmla="*/ 16 h 21"/>
                  <a:gd name="T20" fmla="*/ 16 w 16"/>
                  <a:gd name="T21" fmla="*/ 20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6" h="21">
                    <a:moveTo>
                      <a:pt x="16" y="20"/>
                    </a:moveTo>
                    <a:cubicBezTo>
                      <a:pt x="14" y="21"/>
                      <a:pt x="12" y="21"/>
                      <a:pt x="10" y="21"/>
                    </a:cubicBez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4" y="0"/>
                      <a:pt x="10" y="0"/>
                    </a:cubicBezTo>
                    <a:cubicBezTo>
                      <a:pt x="12" y="0"/>
                      <a:pt x="14" y="0"/>
                      <a:pt x="16" y="1"/>
                    </a:cubicBezTo>
                    <a:cubicBezTo>
                      <a:pt x="14" y="5"/>
                      <a:pt x="14" y="5"/>
                      <a:pt x="14" y="5"/>
                    </a:cubicBezTo>
                    <a:cubicBezTo>
                      <a:pt x="13" y="4"/>
                      <a:pt x="12" y="4"/>
                      <a:pt x="11" y="4"/>
                    </a:cubicBezTo>
                    <a:cubicBezTo>
                      <a:pt x="7" y="4"/>
                      <a:pt x="6" y="6"/>
                      <a:pt x="6" y="10"/>
                    </a:cubicBezTo>
                    <a:cubicBezTo>
                      <a:pt x="6" y="15"/>
                      <a:pt x="7" y="17"/>
                      <a:pt x="11" y="17"/>
                    </a:cubicBezTo>
                    <a:cubicBezTo>
                      <a:pt x="12" y="17"/>
                      <a:pt x="14" y="17"/>
                      <a:pt x="15" y="16"/>
                    </a:cubicBezTo>
                    <a:lnTo>
                      <a:pt x="16" y="20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7" name="Freeform 31"/>
              <p:cNvSpPr>
                <a:spLocks/>
              </p:cNvSpPr>
              <p:nvPr/>
            </p:nvSpPr>
            <p:spPr bwMode="auto">
              <a:xfrm>
                <a:off x="3911600" y="5997575"/>
                <a:ext cx="47625" cy="66675"/>
              </a:xfrm>
              <a:custGeom>
                <a:avLst/>
                <a:gdLst>
                  <a:gd name="T0" fmla="*/ 6 w 15"/>
                  <a:gd name="T1" fmla="*/ 21 h 21"/>
                  <a:gd name="T2" fmla="*/ 0 w 15"/>
                  <a:gd name="T3" fmla="*/ 20 h 21"/>
                  <a:gd name="T4" fmla="*/ 1 w 15"/>
                  <a:gd name="T5" fmla="*/ 16 h 21"/>
                  <a:gd name="T6" fmla="*/ 6 w 15"/>
                  <a:gd name="T7" fmla="*/ 17 h 21"/>
                  <a:gd name="T8" fmla="*/ 9 w 15"/>
                  <a:gd name="T9" fmla="*/ 15 h 21"/>
                  <a:gd name="T10" fmla="*/ 6 w 15"/>
                  <a:gd name="T11" fmla="*/ 12 h 21"/>
                  <a:gd name="T12" fmla="*/ 0 w 15"/>
                  <a:gd name="T13" fmla="*/ 6 h 21"/>
                  <a:gd name="T14" fmla="*/ 8 w 15"/>
                  <a:gd name="T15" fmla="*/ 0 h 21"/>
                  <a:gd name="T16" fmla="*/ 13 w 15"/>
                  <a:gd name="T17" fmla="*/ 0 h 21"/>
                  <a:gd name="T18" fmla="*/ 13 w 15"/>
                  <a:gd name="T19" fmla="*/ 4 h 21"/>
                  <a:gd name="T20" fmla="*/ 9 w 15"/>
                  <a:gd name="T21" fmla="*/ 4 h 21"/>
                  <a:gd name="T22" fmla="*/ 6 w 15"/>
                  <a:gd name="T23" fmla="*/ 6 h 21"/>
                  <a:gd name="T24" fmla="*/ 9 w 15"/>
                  <a:gd name="T25" fmla="*/ 9 h 21"/>
                  <a:gd name="T26" fmla="*/ 15 w 15"/>
                  <a:gd name="T27" fmla="*/ 14 h 21"/>
                  <a:gd name="T28" fmla="*/ 6 w 15"/>
                  <a:gd name="T29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</a:cxnLst>
                <a:rect l="0" t="0" r="r" b="b"/>
                <a:pathLst>
                  <a:path w="15" h="21">
                    <a:moveTo>
                      <a:pt x="6" y="21"/>
                    </a:moveTo>
                    <a:cubicBezTo>
                      <a:pt x="4" y="21"/>
                      <a:pt x="2" y="21"/>
                      <a:pt x="0" y="20"/>
                    </a:cubicBezTo>
                    <a:cubicBezTo>
                      <a:pt x="1" y="16"/>
                      <a:pt x="1" y="16"/>
                      <a:pt x="1" y="16"/>
                    </a:cubicBezTo>
                    <a:cubicBezTo>
                      <a:pt x="3" y="17"/>
                      <a:pt x="5" y="17"/>
                      <a:pt x="6" y="17"/>
                    </a:cubicBezTo>
                    <a:cubicBezTo>
                      <a:pt x="8" y="17"/>
                      <a:pt x="9" y="16"/>
                      <a:pt x="9" y="15"/>
                    </a:cubicBezTo>
                    <a:cubicBezTo>
                      <a:pt x="9" y="14"/>
                      <a:pt x="8" y="13"/>
                      <a:pt x="6" y="12"/>
                    </a:cubicBezTo>
                    <a:cubicBezTo>
                      <a:pt x="3" y="11"/>
                      <a:pt x="0" y="10"/>
                      <a:pt x="0" y="6"/>
                    </a:cubicBezTo>
                    <a:cubicBezTo>
                      <a:pt x="0" y="2"/>
                      <a:pt x="3" y="0"/>
                      <a:pt x="8" y="0"/>
                    </a:cubicBezTo>
                    <a:cubicBezTo>
                      <a:pt x="10" y="0"/>
                      <a:pt x="12" y="0"/>
                      <a:pt x="13" y="0"/>
                    </a:cubicBezTo>
                    <a:cubicBezTo>
                      <a:pt x="13" y="4"/>
                      <a:pt x="13" y="4"/>
                      <a:pt x="13" y="4"/>
                    </a:cubicBezTo>
                    <a:cubicBezTo>
                      <a:pt x="11" y="4"/>
                      <a:pt x="10" y="4"/>
                      <a:pt x="9" y="4"/>
                    </a:cubicBezTo>
                    <a:cubicBezTo>
                      <a:pt x="6" y="4"/>
                      <a:pt x="6" y="5"/>
                      <a:pt x="6" y="6"/>
                    </a:cubicBezTo>
                    <a:cubicBezTo>
                      <a:pt x="6" y="7"/>
                      <a:pt x="7" y="8"/>
                      <a:pt x="9" y="9"/>
                    </a:cubicBezTo>
                    <a:cubicBezTo>
                      <a:pt x="13" y="10"/>
                      <a:pt x="15" y="11"/>
                      <a:pt x="15" y="14"/>
                    </a:cubicBezTo>
                    <a:cubicBezTo>
                      <a:pt x="15" y="18"/>
                      <a:pt x="11" y="21"/>
                      <a:pt x="6" y="21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8" name="Freeform 32"/>
              <p:cNvSpPr>
                <a:spLocks noEditPoints="1"/>
              </p:cNvSpPr>
              <p:nvPr/>
            </p:nvSpPr>
            <p:spPr bwMode="auto">
              <a:xfrm>
                <a:off x="3965575" y="5969000"/>
                <a:ext cx="28575" cy="95250"/>
              </a:xfrm>
              <a:custGeom>
                <a:avLst/>
                <a:gdLst>
                  <a:gd name="T0" fmla="*/ 4 w 9"/>
                  <a:gd name="T1" fmla="*/ 30 h 30"/>
                  <a:gd name="T2" fmla="*/ 4 w 9"/>
                  <a:gd name="T3" fmla="*/ 13 h 30"/>
                  <a:gd name="T4" fmla="*/ 0 w 9"/>
                  <a:gd name="T5" fmla="*/ 13 h 30"/>
                  <a:gd name="T6" fmla="*/ 0 w 9"/>
                  <a:gd name="T7" fmla="*/ 9 h 30"/>
                  <a:gd name="T8" fmla="*/ 9 w 9"/>
                  <a:gd name="T9" fmla="*/ 9 h 30"/>
                  <a:gd name="T10" fmla="*/ 9 w 9"/>
                  <a:gd name="T11" fmla="*/ 30 h 30"/>
                  <a:gd name="T12" fmla="*/ 4 w 9"/>
                  <a:gd name="T13" fmla="*/ 30 h 30"/>
                  <a:gd name="T14" fmla="*/ 6 w 9"/>
                  <a:gd name="T15" fmla="*/ 6 h 30"/>
                  <a:gd name="T16" fmla="*/ 3 w 9"/>
                  <a:gd name="T17" fmla="*/ 3 h 30"/>
                  <a:gd name="T18" fmla="*/ 6 w 9"/>
                  <a:gd name="T19" fmla="*/ 0 h 30"/>
                  <a:gd name="T20" fmla="*/ 9 w 9"/>
                  <a:gd name="T21" fmla="*/ 3 h 30"/>
                  <a:gd name="T22" fmla="*/ 6 w 9"/>
                  <a:gd name="T23" fmla="*/ 6 h 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9" h="30">
                    <a:moveTo>
                      <a:pt x="4" y="30"/>
                    </a:moveTo>
                    <a:cubicBezTo>
                      <a:pt x="4" y="13"/>
                      <a:pt x="4" y="13"/>
                      <a:pt x="4" y="13"/>
                    </a:cubicBezTo>
                    <a:cubicBezTo>
                      <a:pt x="0" y="13"/>
                      <a:pt x="0" y="13"/>
                      <a:pt x="0" y="13"/>
                    </a:cubicBezTo>
                    <a:cubicBezTo>
                      <a:pt x="0" y="9"/>
                      <a:pt x="0" y="9"/>
                      <a:pt x="0" y="9"/>
                    </a:cubicBezTo>
                    <a:cubicBezTo>
                      <a:pt x="9" y="9"/>
                      <a:pt x="9" y="9"/>
                      <a:pt x="9" y="9"/>
                    </a:cubicBezTo>
                    <a:cubicBezTo>
                      <a:pt x="9" y="30"/>
                      <a:pt x="9" y="30"/>
                      <a:pt x="9" y="30"/>
                    </a:cubicBezTo>
                    <a:lnTo>
                      <a:pt x="4" y="30"/>
                    </a:lnTo>
                    <a:close/>
                    <a:moveTo>
                      <a:pt x="6" y="6"/>
                    </a:moveTo>
                    <a:cubicBezTo>
                      <a:pt x="4" y="6"/>
                      <a:pt x="3" y="5"/>
                      <a:pt x="3" y="3"/>
                    </a:cubicBezTo>
                    <a:cubicBezTo>
                      <a:pt x="3" y="1"/>
                      <a:pt x="4" y="0"/>
                      <a:pt x="6" y="0"/>
                    </a:cubicBezTo>
                    <a:cubicBezTo>
                      <a:pt x="8" y="0"/>
                      <a:pt x="9" y="1"/>
                      <a:pt x="9" y="3"/>
                    </a:cubicBezTo>
                    <a:cubicBezTo>
                      <a:pt x="9" y="5"/>
                      <a:pt x="8" y="6"/>
                      <a:pt x="6" y="6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89" name="Freeform 33"/>
              <p:cNvSpPr>
                <a:spLocks/>
              </p:cNvSpPr>
              <p:nvPr/>
            </p:nvSpPr>
            <p:spPr bwMode="auto">
              <a:xfrm>
                <a:off x="4013200" y="5997575"/>
                <a:ext cx="39687" cy="66675"/>
              </a:xfrm>
              <a:custGeom>
                <a:avLst/>
                <a:gdLst>
                  <a:gd name="T0" fmla="*/ 11 w 12"/>
                  <a:gd name="T1" fmla="*/ 5 h 21"/>
                  <a:gd name="T2" fmla="*/ 9 w 12"/>
                  <a:gd name="T3" fmla="*/ 5 h 21"/>
                  <a:gd name="T4" fmla="*/ 5 w 12"/>
                  <a:gd name="T5" fmla="*/ 8 h 21"/>
                  <a:gd name="T6" fmla="*/ 5 w 12"/>
                  <a:gd name="T7" fmla="*/ 21 h 21"/>
                  <a:gd name="T8" fmla="*/ 0 w 12"/>
                  <a:gd name="T9" fmla="*/ 21 h 21"/>
                  <a:gd name="T10" fmla="*/ 0 w 12"/>
                  <a:gd name="T11" fmla="*/ 0 h 21"/>
                  <a:gd name="T12" fmla="*/ 4 w 12"/>
                  <a:gd name="T13" fmla="*/ 0 h 21"/>
                  <a:gd name="T14" fmla="*/ 4 w 12"/>
                  <a:gd name="T15" fmla="*/ 4 h 21"/>
                  <a:gd name="T16" fmla="*/ 10 w 12"/>
                  <a:gd name="T17" fmla="*/ 0 h 21"/>
                  <a:gd name="T18" fmla="*/ 12 w 12"/>
                  <a:gd name="T19" fmla="*/ 0 h 21"/>
                  <a:gd name="T20" fmla="*/ 11 w 12"/>
                  <a:gd name="T21" fmla="*/ 5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2" h="21">
                    <a:moveTo>
                      <a:pt x="11" y="5"/>
                    </a:moveTo>
                    <a:cubicBezTo>
                      <a:pt x="11" y="5"/>
                      <a:pt x="10" y="5"/>
                      <a:pt x="9" y="5"/>
                    </a:cubicBezTo>
                    <a:cubicBezTo>
                      <a:pt x="8" y="5"/>
                      <a:pt x="7" y="6"/>
                      <a:pt x="5" y="8"/>
                    </a:cubicBezTo>
                    <a:cubicBezTo>
                      <a:pt x="5" y="21"/>
                      <a:pt x="5" y="21"/>
                      <a:pt x="5" y="21"/>
                    </a:cubicBezTo>
                    <a:cubicBezTo>
                      <a:pt x="0" y="21"/>
                      <a:pt x="0" y="21"/>
                      <a:pt x="0" y="21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4" y="0"/>
                      <a:pt x="4" y="0"/>
                      <a:pt x="4" y="0"/>
                    </a:cubicBezTo>
                    <a:cubicBezTo>
                      <a:pt x="4" y="4"/>
                      <a:pt x="4" y="4"/>
                      <a:pt x="4" y="4"/>
                    </a:cubicBezTo>
                    <a:cubicBezTo>
                      <a:pt x="6" y="1"/>
                      <a:pt x="8" y="0"/>
                      <a:pt x="10" y="0"/>
                    </a:cubicBezTo>
                    <a:cubicBezTo>
                      <a:pt x="11" y="0"/>
                      <a:pt x="11" y="0"/>
                      <a:pt x="12" y="0"/>
                    </a:cubicBezTo>
                    <a:lnTo>
                      <a:pt x="11" y="5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90" name="Freeform 34"/>
              <p:cNvSpPr>
                <a:spLocks noEditPoints="1"/>
              </p:cNvSpPr>
              <p:nvPr/>
            </p:nvSpPr>
            <p:spPr bwMode="auto">
              <a:xfrm>
                <a:off x="4062413" y="5997575"/>
                <a:ext cx="66675" cy="66675"/>
              </a:xfrm>
              <a:custGeom>
                <a:avLst/>
                <a:gdLst>
                  <a:gd name="T0" fmla="*/ 10 w 21"/>
                  <a:gd name="T1" fmla="*/ 21 h 21"/>
                  <a:gd name="T2" fmla="*/ 0 w 21"/>
                  <a:gd name="T3" fmla="*/ 11 h 21"/>
                  <a:gd name="T4" fmla="*/ 10 w 21"/>
                  <a:gd name="T5" fmla="*/ 0 h 21"/>
                  <a:gd name="T6" fmla="*/ 21 w 21"/>
                  <a:gd name="T7" fmla="*/ 10 h 21"/>
                  <a:gd name="T8" fmla="*/ 10 w 21"/>
                  <a:gd name="T9" fmla="*/ 21 h 21"/>
                  <a:gd name="T10" fmla="*/ 10 w 21"/>
                  <a:gd name="T11" fmla="*/ 4 h 21"/>
                  <a:gd name="T12" fmla="*/ 5 w 21"/>
                  <a:gd name="T13" fmla="*/ 10 h 21"/>
                  <a:gd name="T14" fmla="*/ 10 w 21"/>
                  <a:gd name="T15" fmla="*/ 17 h 21"/>
                  <a:gd name="T16" fmla="*/ 15 w 21"/>
                  <a:gd name="T17" fmla="*/ 11 h 21"/>
                  <a:gd name="T18" fmla="*/ 10 w 21"/>
                  <a:gd name="T19" fmla="*/ 4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1" h="21">
                    <a:moveTo>
                      <a:pt x="10" y="21"/>
                    </a:moveTo>
                    <a:cubicBezTo>
                      <a:pt x="3" y="21"/>
                      <a:pt x="0" y="17"/>
                      <a:pt x="0" y="11"/>
                    </a:cubicBezTo>
                    <a:cubicBezTo>
                      <a:pt x="0" y="4"/>
                      <a:pt x="3" y="0"/>
                      <a:pt x="10" y="0"/>
                    </a:cubicBezTo>
                    <a:cubicBezTo>
                      <a:pt x="17" y="0"/>
                      <a:pt x="21" y="4"/>
                      <a:pt x="21" y="10"/>
                    </a:cubicBezTo>
                    <a:cubicBezTo>
                      <a:pt x="21" y="17"/>
                      <a:pt x="17" y="21"/>
                      <a:pt x="10" y="21"/>
                    </a:cubicBezTo>
                    <a:moveTo>
                      <a:pt x="10" y="4"/>
                    </a:moveTo>
                    <a:cubicBezTo>
                      <a:pt x="7" y="4"/>
                      <a:pt x="5" y="7"/>
                      <a:pt x="5" y="10"/>
                    </a:cubicBezTo>
                    <a:cubicBezTo>
                      <a:pt x="5" y="14"/>
                      <a:pt x="6" y="17"/>
                      <a:pt x="10" y="17"/>
                    </a:cubicBezTo>
                    <a:cubicBezTo>
                      <a:pt x="14" y="17"/>
                      <a:pt x="15" y="14"/>
                      <a:pt x="15" y="11"/>
                    </a:cubicBezTo>
                    <a:cubicBezTo>
                      <a:pt x="15" y="6"/>
                      <a:pt x="14" y="4"/>
                      <a:pt x="10" y="4"/>
                    </a:cubicBezTo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91" name="Oval 35"/>
              <p:cNvSpPr>
                <a:spLocks noChangeArrowheads="1"/>
              </p:cNvSpPr>
              <p:nvPr/>
            </p:nvSpPr>
            <p:spPr bwMode="auto">
              <a:xfrm>
                <a:off x="4141788" y="6042025"/>
                <a:ext cx="19050" cy="22225"/>
              </a:xfrm>
              <a:prstGeom prst="ellipse">
                <a:avLst/>
              </a:pr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92" name="Freeform 36"/>
              <p:cNvSpPr>
                <a:spLocks noEditPoints="1"/>
              </p:cNvSpPr>
              <p:nvPr/>
            </p:nvSpPr>
            <p:spPr bwMode="auto">
              <a:xfrm>
                <a:off x="41767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3 w 18"/>
                  <a:gd name="T3" fmla="*/ 19 h 21"/>
                  <a:gd name="T4" fmla="*/ 7 w 18"/>
                  <a:gd name="T5" fmla="*/ 21 h 21"/>
                  <a:gd name="T6" fmla="*/ 0 w 18"/>
                  <a:gd name="T7" fmla="*/ 15 h 21"/>
                  <a:gd name="T8" fmla="*/ 10 w 18"/>
                  <a:gd name="T9" fmla="*/ 8 h 21"/>
                  <a:gd name="T10" fmla="*/ 13 w 18"/>
                  <a:gd name="T11" fmla="*/ 8 h 21"/>
                  <a:gd name="T12" fmla="*/ 13 w 18"/>
                  <a:gd name="T13" fmla="*/ 7 h 21"/>
                  <a:gd name="T14" fmla="*/ 8 w 18"/>
                  <a:gd name="T15" fmla="*/ 4 h 21"/>
                  <a:gd name="T16" fmla="*/ 2 w 18"/>
                  <a:gd name="T17" fmla="*/ 5 h 21"/>
                  <a:gd name="T18" fmla="*/ 2 w 18"/>
                  <a:gd name="T19" fmla="*/ 1 h 21"/>
                  <a:gd name="T20" fmla="*/ 9 w 18"/>
                  <a:gd name="T21" fmla="*/ 0 h 21"/>
                  <a:gd name="T22" fmla="*/ 18 w 18"/>
                  <a:gd name="T23" fmla="*/ 7 h 21"/>
                  <a:gd name="T24" fmla="*/ 18 w 18"/>
                  <a:gd name="T25" fmla="*/ 21 h 21"/>
                  <a:gd name="T26" fmla="*/ 14 w 18"/>
                  <a:gd name="T27" fmla="*/ 21 h 21"/>
                  <a:gd name="T28" fmla="*/ 13 w 18"/>
                  <a:gd name="T29" fmla="*/ 12 h 21"/>
                  <a:gd name="T30" fmla="*/ 10 w 18"/>
                  <a:gd name="T31" fmla="*/ 12 h 21"/>
                  <a:gd name="T32" fmla="*/ 5 w 18"/>
                  <a:gd name="T33" fmla="*/ 15 h 21"/>
                  <a:gd name="T34" fmla="*/ 8 w 18"/>
                  <a:gd name="T35" fmla="*/ 17 h 21"/>
                  <a:gd name="T36" fmla="*/ 13 w 18"/>
                  <a:gd name="T37" fmla="*/ 15 h 21"/>
                  <a:gd name="T38" fmla="*/ 13 w 18"/>
                  <a:gd name="T39" fmla="*/ 12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3" y="19"/>
                      <a:pt x="13" y="19"/>
                      <a:pt x="13" y="19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3" y="21"/>
                      <a:pt x="0" y="19"/>
                      <a:pt x="0" y="15"/>
                    </a:cubicBezTo>
                    <a:cubicBezTo>
                      <a:pt x="0" y="10"/>
                      <a:pt x="4" y="8"/>
                      <a:pt x="10" y="8"/>
                    </a:cubicBezTo>
                    <a:cubicBezTo>
                      <a:pt x="13" y="8"/>
                      <a:pt x="13" y="8"/>
                      <a:pt x="13" y="8"/>
                    </a:cubicBezTo>
                    <a:cubicBezTo>
                      <a:pt x="13" y="7"/>
                      <a:pt x="13" y="7"/>
                      <a:pt x="13" y="7"/>
                    </a:cubicBezTo>
                    <a:cubicBezTo>
                      <a:pt x="13" y="5"/>
                      <a:pt x="12" y="4"/>
                      <a:pt x="8" y="4"/>
                    </a:cubicBezTo>
                    <a:cubicBezTo>
                      <a:pt x="6" y="4"/>
                      <a:pt x="4" y="4"/>
                      <a:pt x="2" y="5"/>
                    </a:cubicBezTo>
                    <a:cubicBezTo>
                      <a:pt x="2" y="1"/>
                      <a:pt x="2" y="1"/>
                      <a:pt x="2" y="1"/>
                    </a:cubicBezTo>
                    <a:cubicBezTo>
                      <a:pt x="4" y="0"/>
                      <a:pt x="6" y="0"/>
                      <a:pt x="9" y="0"/>
                    </a:cubicBezTo>
                    <a:cubicBezTo>
                      <a:pt x="15" y="0"/>
                      <a:pt x="18" y="2"/>
                      <a:pt x="18" y="7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  <a:moveTo>
                      <a:pt x="13" y="12"/>
                    </a:moveTo>
                    <a:cubicBezTo>
                      <a:pt x="10" y="12"/>
                      <a:pt x="10" y="12"/>
                      <a:pt x="10" y="12"/>
                    </a:cubicBezTo>
                    <a:cubicBezTo>
                      <a:pt x="7" y="12"/>
                      <a:pt x="5" y="13"/>
                      <a:pt x="5" y="15"/>
                    </a:cubicBezTo>
                    <a:cubicBezTo>
                      <a:pt x="5" y="16"/>
                      <a:pt x="6" y="17"/>
                      <a:pt x="8" y="17"/>
                    </a:cubicBezTo>
                    <a:cubicBezTo>
                      <a:pt x="10" y="17"/>
                      <a:pt x="11" y="17"/>
                      <a:pt x="13" y="15"/>
                    </a:cubicBezTo>
                    <a:lnTo>
                      <a:pt x="13" y="12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  <p:sp>
            <p:nvSpPr>
              <p:cNvPr id="93" name="Freeform 37"/>
              <p:cNvSpPr>
                <a:spLocks/>
              </p:cNvSpPr>
              <p:nvPr/>
            </p:nvSpPr>
            <p:spPr bwMode="auto">
              <a:xfrm>
                <a:off x="4252913" y="5997575"/>
                <a:ext cx="57150" cy="66675"/>
              </a:xfrm>
              <a:custGeom>
                <a:avLst/>
                <a:gdLst>
                  <a:gd name="T0" fmla="*/ 14 w 18"/>
                  <a:gd name="T1" fmla="*/ 21 h 21"/>
                  <a:gd name="T2" fmla="*/ 14 w 18"/>
                  <a:gd name="T3" fmla="*/ 18 h 21"/>
                  <a:gd name="T4" fmla="*/ 7 w 18"/>
                  <a:gd name="T5" fmla="*/ 21 h 21"/>
                  <a:gd name="T6" fmla="*/ 0 w 18"/>
                  <a:gd name="T7" fmla="*/ 13 h 21"/>
                  <a:gd name="T8" fmla="*/ 0 w 18"/>
                  <a:gd name="T9" fmla="*/ 0 h 21"/>
                  <a:gd name="T10" fmla="*/ 5 w 18"/>
                  <a:gd name="T11" fmla="*/ 0 h 21"/>
                  <a:gd name="T12" fmla="*/ 5 w 18"/>
                  <a:gd name="T13" fmla="*/ 12 h 21"/>
                  <a:gd name="T14" fmla="*/ 8 w 18"/>
                  <a:gd name="T15" fmla="*/ 17 h 21"/>
                  <a:gd name="T16" fmla="*/ 13 w 18"/>
                  <a:gd name="T17" fmla="*/ 14 h 21"/>
                  <a:gd name="T18" fmla="*/ 13 w 18"/>
                  <a:gd name="T19" fmla="*/ 0 h 21"/>
                  <a:gd name="T20" fmla="*/ 18 w 18"/>
                  <a:gd name="T21" fmla="*/ 0 h 21"/>
                  <a:gd name="T22" fmla="*/ 18 w 18"/>
                  <a:gd name="T23" fmla="*/ 21 h 21"/>
                  <a:gd name="T24" fmla="*/ 14 w 18"/>
                  <a:gd name="T25" fmla="*/ 21 h 2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18" h="21">
                    <a:moveTo>
                      <a:pt x="14" y="21"/>
                    </a:moveTo>
                    <a:cubicBezTo>
                      <a:pt x="14" y="18"/>
                      <a:pt x="14" y="18"/>
                      <a:pt x="14" y="18"/>
                    </a:cubicBezTo>
                    <a:cubicBezTo>
                      <a:pt x="12" y="20"/>
                      <a:pt x="10" y="21"/>
                      <a:pt x="7" y="21"/>
                    </a:cubicBezTo>
                    <a:cubicBezTo>
                      <a:pt x="2" y="21"/>
                      <a:pt x="0" y="18"/>
                      <a:pt x="0" y="13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5" y="12"/>
                      <a:pt x="5" y="12"/>
                      <a:pt x="5" y="12"/>
                    </a:cubicBezTo>
                    <a:cubicBezTo>
                      <a:pt x="5" y="15"/>
                      <a:pt x="6" y="17"/>
                      <a:pt x="8" y="17"/>
                    </a:cubicBezTo>
                    <a:cubicBezTo>
                      <a:pt x="10" y="17"/>
                      <a:pt x="11" y="16"/>
                      <a:pt x="13" y="14"/>
                    </a:cubicBezTo>
                    <a:cubicBezTo>
                      <a:pt x="13" y="0"/>
                      <a:pt x="13" y="0"/>
                      <a:pt x="13" y="0"/>
                    </a:cubicBezTo>
                    <a:cubicBezTo>
                      <a:pt x="18" y="0"/>
                      <a:pt x="18" y="0"/>
                      <a:pt x="18" y="0"/>
                    </a:cubicBezTo>
                    <a:cubicBezTo>
                      <a:pt x="18" y="21"/>
                      <a:pt x="18" y="21"/>
                      <a:pt x="18" y="21"/>
                    </a:cubicBezTo>
                    <a:lnTo>
                      <a:pt x="14" y="21"/>
                    </a:lnTo>
                    <a:close/>
                  </a:path>
                </a:pathLst>
              </a:custGeom>
              <a:grpFill/>
              <a:ln>
                <a:noFill/>
              </a:ln>
              <a:extLst/>
            </p:spPr>
            <p:txBody>
              <a:bodyPr/>
              <a:lstStyle/>
              <a:p>
                <a:pPr>
                  <a:defRPr/>
                </a:pPr>
                <a:endParaRPr lang="en-AU"/>
              </a:p>
            </p:txBody>
          </p:sp>
        </p:grpSp>
      </p:grpSp>
      <p:sp>
        <p:nvSpPr>
          <p:cNvPr id="94" name="Text Placeholder 14"/>
          <p:cNvSpPr>
            <a:spLocks noGrp="1"/>
          </p:cNvSpPr>
          <p:nvPr>
            <p:ph type="body" sz="quarter" idx="17"/>
          </p:nvPr>
        </p:nvSpPr>
        <p:spPr>
          <a:xfrm>
            <a:off x="360000" y="5625959"/>
            <a:ext cx="4752000" cy="144000"/>
          </a:xfrm>
        </p:spPr>
        <p:txBody>
          <a:bodyPr anchor="ctr">
            <a:noAutofit/>
          </a:bodyPr>
          <a:lstStyle>
            <a:lvl1pPr>
              <a:defRPr sz="1200" b="1" cap="all" baseline="0">
                <a:solidFill>
                  <a:schemeClr val="bg1"/>
                </a:solidFill>
              </a:defRPr>
            </a:lvl1pPr>
            <a:lvl2pPr marL="0" indent="0">
              <a:buFontTx/>
              <a:buNone/>
              <a:defRPr sz="1200">
                <a:solidFill>
                  <a:schemeClr val="bg2"/>
                </a:solidFill>
              </a:defRPr>
            </a:lvl2pPr>
            <a:lvl3pPr marL="0" indent="0">
              <a:buFontTx/>
              <a:buNone/>
              <a:defRPr sz="1200">
                <a:solidFill>
                  <a:schemeClr val="bg2"/>
                </a:solidFill>
              </a:defRPr>
            </a:lvl3pPr>
            <a:lvl4pPr marL="0" indent="0">
              <a:buFontTx/>
              <a:buNone/>
              <a:defRPr sz="1200">
                <a:solidFill>
                  <a:schemeClr val="bg2"/>
                </a:solidFill>
              </a:defRPr>
            </a:lvl4pPr>
            <a:lvl5pPr marL="0" indent="0">
              <a:buFontTx/>
              <a:buNone/>
              <a:defRPr sz="1200">
                <a:solidFill>
                  <a:schemeClr val="bg2"/>
                </a:solidFill>
              </a:defRPr>
            </a:lvl5pPr>
            <a:lvl6pPr marL="0" indent="0">
              <a:buFontTx/>
              <a:buNone/>
              <a:defRPr sz="1200">
                <a:solidFill>
                  <a:schemeClr val="bg2"/>
                </a:solidFill>
              </a:defRPr>
            </a:lvl6pPr>
            <a:lvl7pPr marL="0" indent="0">
              <a:buFontTx/>
              <a:buNone/>
              <a:defRPr sz="1200">
                <a:solidFill>
                  <a:schemeClr val="bg2"/>
                </a:solidFill>
              </a:defRPr>
            </a:lvl7pPr>
            <a:lvl8pPr marL="0" indent="0">
              <a:buFontTx/>
              <a:buNone/>
              <a:defRPr sz="1200">
                <a:solidFill>
                  <a:schemeClr val="bg2"/>
                </a:solidFill>
              </a:defRPr>
            </a:lvl8pPr>
            <a:lvl9pPr marL="0" indent="0">
              <a:buFontTx/>
              <a:buNone/>
              <a:defRPr sz="1200">
                <a:solidFill>
                  <a:schemeClr val="bg2"/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9525" y="6051550"/>
            <a:ext cx="9169400" cy="849313"/>
            <a:chOff x="-9525" y="6051550"/>
            <a:chExt cx="9169400" cy="849313"/>
          </a:xfrm>
        </p:grpSpPr>
        <p:sp>
          <p:nvSpPr>
            <p:cNvPr id="3" name="AutoShape 4"/>
            <p:cNvSpPr>
              <a:spLocks noChangeAspect="1" noChangeArrowheads="1" noTextEdit="1"/>
            </p:cNvSpPr>
            <p:nvPr userDrawn="1"/>
          </p:nvSpPr>
          <p:spPr bwMode="auto">
            <a:xfrm>
              <a:off x="-7938" y="6056313"/>
              <a:ext cx="9161463" cy="80168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4" name="Rectangle 6"/>
            <p:cNvSpPr>
              <a:spLocks noChangeArrowheads="1"/>
            </p:cNvSpPr>
            <p:nvPr userDrawn="1"/>
          </p:nvSpPr>
          <p:spPr bwMode="auto">
            <a:xfrm>
              <a:off x="1588" y="6367463"/>
              <a:ext cx="9142412" cy="49053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6" name="Rectangle 7"/>
            <p:cNvSpPr>
              <a:spLocks noChangeArrowheads="1"/>
            </p:cNvSpPr>
            <p:nvPr userDrawn="1"/>
          </p:nvSpPr>
          <p:spPr bwMode="auto">
            <a:xfrm>
              <a:off x="1588" y="6367463"/>
              <a:ext cx="9142412" cy="490537"/>
            </a:xfrm>
            <a:prstGeom prst="rect">
              <a:avLst/>
            </a:prstGeom>
            <a:noFill/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7" name="Freeform 8"/>
            <p:cNvSpPr>
              <a:spLocks noEditPoints="1"/>
            </p:cNvSpPr>
            <p:nvPr userDrawn="1"/>
          </p:nvSpPr>
          <p:spPr bwMode="auto">
            <a:xfrm>
              <a:off x="1588" y="6065837"/>
              <a:ext cx="9142412" cy="690562"/>
            </a:xfrm>
            <a:custGeom>
              <a:avLst/>
              <a:gdLst>
                <a:gd name="T0" fmla="*/ 2880 w 2880"/>
                <a:gd name="T1" fmla="*/ 14 h 217"/>
                <a:gd name="T2" fmla="*/ 2817 w 2880"/>
                <a:gd name="T3" fmla="*/ 14 h 217"/>
                <a:gd name="T4" fmla="*/ 2486 w 2880"/>
                <a:gd name="T5" fmla="*/ 95 h 217"/>
                <a:gd name="T6" fmla="*/ 2486 w 2880"/>
                <a:gd name="T7" fmla="*/ 95 h 217"/>
                <a:gd name="T8" fmla="*/ 2880 w 2880"/>
                <a:gd name="T9" fmla="*/ 95 h 217"/>
                <a:gd name="T10" fmla="*/ 2880 w 2880"/>
                <a:gd name="T11" fmla="*/ 217 h 217"/>
                <a:gd name="T12" fmla="*/ 2880 w 2880"/>
                <a:gd name="T13" fmla="*/ 217 h 217"/>
                <a:gd name="T14" fmla="*/ 2880 w 2880"/>
                <a:gd name="T15" fmla="*/ 14 h 217"/>
                <a:gd name="T16" fmla="*/ 2171 w 2880"/>
                <a:gd name="T17" fmla="*/ 0 h 217"/>
                <a:gd name="T18" fmla="*/ 0 w 2880"/>
                <a:gd name="T19" fmla="*/ 0 h 217"/>
                <a:gd name="T20" fmla="*/ 0 w 2880"/>
                <a:gd name="T21" fmla="*/ 95 h 217"/>
                <a:gd name="T22" fmla="*/ 2486 w 2880"/>
                <a:gd name="T23" fmla="*/ 95 h 217"/>
                <a:gd name="T24" fmla="*/ 2486 w 2880"/>
                <a:gd name="T25" fmla="*/ 95 h 217"/>
                <a:gd name="T26" fmla="*/ 2486 w 2880"/>
                <a:gd name="T27" fmla="*/ 95 h 217"/>
                <a:gd name="T28" fmla="*/ 2486 w 2880"/>
                <a:gd name="T29" fmla="*/ 95 h 217"/>
                <a:gd name="T30" fmla="*/ 2171 w 2880"/>
                <a:gd name="T31" fmla="*/ 0 h 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80" h="217">
                  <a:moveTo>
                    <a:pt x="2880" y="14"/>
                  </a:moveTo>
                  <a:cubicBezTo>
                    <a:pt x="2817" y="14"/>
                    <a:pt x="2817" y="14"/>
                    <a:pt x="2817" y="14"/>
                  </a:cubicBezTo>
                  <a:cubicBezTo>
                    <a:pt x="2616" y="14"/>
                    <a:pt x="2542" y="74"/>
                    <a:pt x="2486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880" y="95"/>
                    <a:pt x="2880" y="95"/>
                    <a:pt x="2880" y="95"/>
                  </a:cubicBezTo>
                  <a:cubicBezTo>
                    <a:pt x="2880" y="217"/>
                    <a:pt x="2880" y="217"/>
                    <a:pt x="2880" y="217"/>
                  </a:cubicBezTo>
                  <a:cubicBezTo>
                    <a:pt x="2880" y="217"/>
                    <a:pt x="2880" y="217"/>
                    <a:pt x="2880" y="217"/>
                  </a:cubicBezTo>
                  <a:cubicBezTo>
                    <a:pt x="2880" y="14"/>
                    <a:pt x="2880" y="14"/>
                    <a:pt x="2880" y="14"/>
                  </a:cubicBezTo>
                  <a:moveTo>
                    <a:pt x="2171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486" y="95"/>
                    <a:pt x="2486" y="95"/>
                    <a:pt x="2486" y="95"/>
                  </a:cubicBezTo>
                  <a:cubicBezTo>
                    <a:pt x="2419" y="39"/>
                    <a:pt x="2306" y="0"/>
                    <a:pt x="2171" y="0"/>
                  </a:cubicBezTo>
                </a:path>
              </a:pathLst>
            </a:custGeom>
            <a:solidFill>
              <a:srgbClr val="BFBFBF"/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8" name="Freeform 9"/>
            <p:cNvSpPr>
              <a:spLocks noEditPoints="1"/>
            </p:cNvSpPr>
            <p:nvPr userDrawn="1"/>
          </p:nvSpPr>
          <p:spPr bwMode="auto">
            <a:xfrm>
              <a:off x="1588" y="6367463"/>
              <a:ext cx="9142412" cy="388937"/>
            </a:xfrm>
            <a:custGeom>
              <a:avLst/>
              <a:gdLst>
                <a:gd name="T0" fmla="*/ 2486 w 2880"/>
                <a:gd name="T1" fmla="*/ 0 h 122"/>
                <a:gd name="T2" fmla="*/ 0 w 2880"/>
                <a:gd name="T3" fmla="*/ 0 h 122"/>
                <a:gd name="T4" fmla="*/ 0 w 2880"/>
                <a:gd name="T5" fmla="*/ 13 h 122"/>
                <a:gd name="T6" fmla="*/ 2289 w 2880"/>
                <a:gd name="T7" fmla="*/ 13 h 122"/>
                <a:gd name="T8" fmla="*/ 2486 w 2880"/>
                <a:gd name="T9" fmla="*/ 0 h 122"/>
                <a:gd name="T10" fmla="*/ 2880 w 2880"/>
                <a:gd name="T11" fmla="*/ 0 h 122"/>
                <a:gd name="T12" fmla="*/ 2486 w 2880"/>
                <a:gd name="T13" fmla="*/ 0 h 122"/>
                <a:gd name="T14" fmla="*/ 2813 w 2880"/>
                <a:gd name="T15" fmla="*/ 122 h 122"/>
                <a:gd name="T16" fmla="*/ 2880 w 2880"/>
                <a:gd name="T17" fmla="*/ 122 h 122"/>
                <a:gd name="T18" fmla="*/ 2880 w 2880"/>
                <a:gd name="T19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80" h="122">
                  <a:moveTo>
                    <a:pt x="2486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2289" y="13"/>
                    <a:pt x="2289" y="13"/>
                    <a:pt x="2289" y="13"/>
                  </a:cubicBezTo>
                  <a:cubicBezTo>
                    <a:pt x="2418" y="13"/>
                    <a:pt x="2459" y="10"/>
                    <a:pt x="2486" y="0"/>
                  </a:cubicBezTo>
                  <a:moveTo>
                    <a:pt x="2880" y="0"/>
                  </a:moveTo>
                  <a:cubicBezTo>
                    <a:pt x="2486" y="0"/>
                    <a:pt x="2486" y="0"/>
                    <a:pt x="2486" y="0"/>
                  </a:cubicBezTo>
                  <a:cubicBezTo>
                    <a:pt x="2554" y="56"/>
                    <a:pt x="2645" y="122"/>
                    <a:pt x="2813" y="122"/>
                  </a:cubicBezTo>
                  <a:cubicBezTo>
                    <a:pt x="2854" y="122"/>
                    <a:pt x="2880" y="122"/>
                    <a:pt x="2880" y="122"/>
                  </a:cubicBezTo>
                  <a:cubicBezTo>
                    <a:pt x="2880" y="0"/>
                    <a:pt x="2880" y="0"/>
                    <a:pt x="2880" y="0"/>
                  </a:cubicBezTo>
                </a:path>
              </a:pathLst>
            </a:custGeom>
            <a:solidFill>
              <a:schemeClr val="accent2">
                <a:lumMod val="75000"/>
              </a:schemeClr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9" name="Freeform 10"/>
            <p:cNvSpPr>
              <a:spLocks/>
            </p:cNvSpPr>
            <p:nvPr userDrawn="1"/>
          </p:nvSpPr>
          <p:spPr bwMode="auto">
            <a:xfrm>
              <a:off x="1588" y="6110288"/>
              <a:ext cx="7891462" cy="298450"/>
            </a:xfrm>
            <a:custGeom>
              <a:avLst/>
              <a:gdLst>
                <a:gd name="T0" fmla="*/ 2486 w 2486"/>
                <a:gd name="T1" fmla="*/ 81 h 94"/>
                <a:gd name="T2" fmla="*/ 2171 w 2486"/>
                <a:gd name="T3" fmla="*/ 0 h 94"/>
                <a:gd name="T4" fmla="*/ 0 w 2486"/>
                <a:gd name="T5" fmla="*/ 0 h 94"/>
                <a:gd name="T6" fmla="*/ 0 w 2486"/>
                <a:gd name="T7" fmla="*/ 94 h 94"/>
                <a:gd name="T8" fmla="*/ 2289 w 2486"/>
                <a:gd name="T9" fmla="*/ 94 h 94"/>
                <a:gd name="T10" fmla="*/ 2486 w 2486"/>
                <a:gd name="T11" fmla="*/ 81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2486" h="94">
                  <a:moveTo>
                    <a:pt x="2486" y="81"/>
                  </a:moveTo>
                  <a:cubicBezTo>
                    <a:pt x="2410" y="38"/>
                    <a:pt x="2306" y="0"/>
                    <a:pt x="217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4"/>
                    <a:pt x="0" y="94"/>
                    <a:pt x="0" y="94"/>
                  </a:cubicBezTo>
                  <a:cubicBezTo>
                    <a:pt x="2289" y="94"/>
                    <a:pt x="2289" y="94"/>
                    <a:pt x="2289" y="94"/>
                  </a:cubicBezTo>
                  <a:cubicBezTo>
                    <a:pt x="2418" y="94"/>
                    <a:pt x="2459" y="91"/>
                    <a:pt x="2486" y="81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10" name="Freeform 11"/>
            <p:cNvSpPr>
              <a:spLocks/>
            </p:cNvSpPr>
            <p:nvPr userDrawn="1"/>
          </p:nvSpPr>
          <p:spPr bwMode="auto">
            <a:xfrm>
              <a:off x="7893050" y="6110285"/>
              <a:ext cx="1250950" cy="601662"/>
            </a:xfrm>
            <a:custGeom>
              <a:avLst/>
              <a:gdLst>
                <a:gd name="T0" fmla="*/ 331 w 394"/>
                <a:gd name="T1" fmla="*/ 0 h 189"/>
                <a:gd name="T2" fmla="*/ 0 w 394"/>
                <a:gd name="T3" fmla="*/ 81 h 189"/>
                <a:gd name="T4" fmla="*/ 327 w 394"/>
                <a:gd name="T5" fmla="*/ 189 h 189"/>
                <a:gd name="T6" fmla="*/ 394 w 394"/>
                <a:gd name="T7" fmla="*/ 189 h 189"/>
                <a:gd name="T8" fmla="*/ 394 w 394"/>
                <a:gd name="T9" fmla="*/ 0 h 189"/>
                <a:gd name="T10" fmla="*/ 331 w 394"/>
                <a:gd name="T11" fmla="*/ 0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394" h="189">
                  <a:moveTo>
                    <a:pt x="331" y="0"/>
                  </a:moveTo>
                  <a:cubicBezTo>
                    <a:pt x="130" y="0"/>
                    <a:pt x="56" y="60"/>
                    <a:pt x="0" y="81"/>
                  </a:cubicBezTo>
                  <a:cubicBezTo>
                    <a:pt x="89" y="131"/>
                    <a:pt x="159" y="189"/>
                    <a:pt x="327" y="189"/>
                  </a:cubicBezTo>
                  <a:cubicBezTo>
                    <a:pt x="368" y="189"/>
                    <a:pt x="394" y="189"/>
                    <a:pt x="394" y="189"/>
                  </a:cubicBezTo>
                  <a:cubicBezTo>
                    <a:pt x="394" y="0"/>
                    <a:pt x="394" y="0"/>
                    <a:pt x="394" y="0"/>
                  </a:cubicBezTo>
                  <a:lnTo>
                    <a:pt x="331" y="0"/>
                  </a:lnTo>
                  <a:close/>
                </a:path>
              </a:pathLst>
            </a:custGeom>
            <a:solidFill>
              <a:srgbClr val="F7F7F7"/>
            </a:solidFill>
            <a:ln>
              <a:noFill/>
            </a:ln>
            <a:extLst/>
          </p:spPr>
          <p:txBody>
            <a:bodyPr/>
            <a:lstStyle/>
            <a:p>
              <a:pPr>
                <a:defRPr/>
              </a:pPr>
              <a:endParaRPr lang="en-AU"/>
            </a:p>
          </p:txBody>
        </p:sp>
        <p:sp>
          <p:nvSpPr>
            <p:cNvPr id="1105" name="AutoShape 81"/>
            <p:cNvSpPr>
              <a:spLocks noChangeAspect="1" noChangeArrowheads="1" noTextEdit="1"/>
            </p:cNvSpPr>
            <p:nvPr/>
          </p:nvSpPr>
          <p:spPr bwMode="auto">
            <a:xfrm>
              <a:off x="-9525" y="6051550"/>
              <a:ext cx="9169400" cy="8493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sp>
          <p:nvSpPr>
            <p:cNvPr id="1108" name="Rectangle 84"/>
            <p:cNvSpPr>
              <a:spLocks noChangeArrowheads="1"/>
            </p:cNvSpPr>
            <p:nvPr/>
          </p:nvSpPr>
          <p:spPr bwMode="auto">
            <a:xfrm>
              <a:off x="-9525" y="6356350"/>
              <a:ext cx="9167813" cy="54451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/>
            <a:lstStyle/>
            <a:p>
              <a:pPr>
                <a:defRPr/>
              </a:pPr>
              <a:endParaRPr lang="en-US"/>
            </a:p>
          </p:txBody>
        </p:sp>
        <p:pic>
          <p:nvPicPr>
            <p:cNvPr id="1033" name="Picture 78"/>
            <p:cNvPicPr>
              <a:picLocks noChangeAspect="1" noChangeArrowheads="1"/>
            </p:cNvPicPr>
            <p:nvPr/>
          </p:nvPicPr>
          <p:blipFill>
            <a:blip r:embed="rId19"/>
            <a:srcRect/>
            <a:stretch>
              <a:fillRect/>
            </a:stretch>
          </p:blipFill>
          <p:spPr bwMode="auto">
            <a:xfrm>
              <a:off x="8459788" y="6191250"/>
              <a:ext cx="454025" cy="45402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sp>
        <p:nvSpPr>
          <p:cNvPr id="1029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360363" y="1276350"/>
            <a:ext cx="8459787" cy="4559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 dirty="0" smtClean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900" dirty="0">
                <a:solidFill>
                  <a:schemeClr val="bg1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sp>
        <p:nvSpPr>
          <p:cNvPr id="1031" name="Title Placeholder 1"/>
          <p:cNvSpPr>
            <a:spLocks noGrp="1"/>
          </p:cNvSpPr>
          <p:nvPr>
            <p:ph type="title"/>
          </p:nvPr>
        </p:nvSpPr>
        <p:spPr bwMode="auto">
          <a:xfrm>
            <a:off x="360363" y="269875"/>
            <a:ext cx="8459787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  <a:endParaRPr lang="en-US" dirty="0" smtClean="0"/>
          </a:p>
        </p:txBody>
      </p:sp>
      <p:sp>
        <p:nvSpPr>
          <p:cNvPr id="1070" name="Rectangle 46"/>
          <p:cNvSpPr>
            <a:spLocks noChangeArrowheads="1"/>
          </p:cNvSpPr>
          <p:nvPr/>
        </p:nvSpPr>
        <p:spPr bwMode="auto">
          <a:xfrm>
            <a:off x="-71438" y="6365875"/>
            <a:ext cx="9317038" cy="5445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66" r:id="rId2"/>
    <p:sldLayoutId id="2147483665" r:id="rId3"/>
    <p:sldLayoutId id="2147483664" r:id="rId4"/>
    <p:sldLayoutId id="2147483663" r:id="rId5"/>
    <p:sldLayoutId id="2147483662" r:id="rId6"/>
    <p:sldLayoutId id="2147483661" r:id="rId7"/>
    <p:sldLayoutId id="2147483660" r:id="rId8"/>
    <p:sldLayoutId id="2147483659" r:id="rId9"/>
    <p:sldLayoutId id="2147483658" r:id="rId10"/>
    <p:sldLayoutId id="2147483657" r:id="rId11"/>
    <p:sldLayoutId id="2147483656" r:id="rId12"/>
    <p:sldLayoutId id="2147483655" r:id="rId13"/>
    <p:sldLayoutId id="2147483672" r:id="rId14"/>
    <p:sldLayoutId id="2147483654" r:id="rId15"/>
    <p:sldLayoutId id="2147483653" r:id="rId16"/>
    <p:sldLayoutId id="2147483673" r:id="rId17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pitchFamily="34" charset="0"/>
        </a:defRPr>
      </a:lvl2pPr>
      <a:lvl3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pitchFamily="34" charset="0"/>
        </a:defRPr>
      </a:lvl3pPr>
      <a:lvl4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pitchFamily="34" charset="0"/>
        </a:defRPr>
      </a:lvl4pPr>
      <a:lvl5pPr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600" b="1">
          <a:solidFill>
            <a:schemeClr val="accent1"/>
          </a:solidFill>
          <a:latin typeface="Calibri" pitchFamily="34" charset="0"/>
        </a:defRPr>
      </a:lvl5pPr>
      <a:lvl6pPr marL="457200"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Calibri" pitchFamily="34" charset="0"/>
        </a:defRPr>
      </a:lvl6pPr>
      <a:lvl7pPr marL="914400"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Calibri" pitchFamily="34" charset="0"/>
        </a:defRPr>
      </a:lvl7pPr>
      <a:lvl8pPr marL="1371600"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Calibri" pitchFamily="34" charset="0"/>
        </a:defRPr>
      </a:lvl8pPr>
      <a:lvl9pPr marL="1828800" algn="l" defTabSz="457200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chemeClr val="accent1"/>
          </a:solidFill>
          <a:latin typeface="Calibri" pitchFamily="34" charset="0"/>
        </a:defRPr>
      </a:lvl9pPr>
    </p:titleStyle>
    <p:bodyStyle>
      <a:lvl1pPr algn="l" defTabSz="457200" rtl="0" eaLnBrk="1" fontAlgn="base" hangingPunct="1">
        <a:lnSpc>
          <a:spcPct val="90000"/>
        </a:lnSpc>
        <a:spcBef>
          <a:spcPts val="600"/>
        </a:spcBef>
        <a:spcAft>
          <a:spcPts val="563"/>
        </a:spcAft>
        <a:buFont typeface="Arial" charset="0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250825" indent="-250825" algn="l" defTabSz="457200" rtl="0" eaLnBrk="1" fontAlgn="base" hangingPunct="1">
        <a:lnSpc>
          <a:spcPct val="90000"/>
        </a:lnSpc>
        <a:spcBef>
          <a:spcPct val="0"/>
        </a:spcBef>
        <a:spcAft>
          <a:spcPts val="563"/>
        </a:spcAft>
        <a:buFont typeface="Symbol" pitchFamily="18" charset="2"/>
        <a:buChar char="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503238" indent="-250825" algn="l" defTabSz="457200" rtl="0" eaLnBrk="1" fontAlgn="base" hangingPunct="1">
        <a:lnSpc>
          <a:spcPct val="90000"/>
        </a:lnSpc>
        <a:spcBef>
          <a:spcPct val="0"/>
        </a:spcBef>
        <a:spcAft>
          <a:spcPts val="563"/>
        </a:spcAft>
        <a:buClr>
          <a:srgbClr val="484647"/>
        </a:buClr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755650" indent="-250825" algn="l" defTabSz="457200" rtl="0" eaLnBrk="1" fontAlgn="base" hangingPunct="1">
        <a:lnSpc>
          <a:spcPct val="90000"/>
        </a:lnSpc>
        <a:spcBef>
          <a:spcPct val="0"/>
        </a:spcBef>
        <a:spcAft>
          <a:spcPts val="563"/>
        </a:spcAft>
        <a:buClr>
          <a:srgbClr val="484647"/>
        </a:buClr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008000" indent="-252000" algn="l" defTabSz="457200" rtl="0" eaLnBrk="1" fontAlgn="base" hangingPunct="1">
        <a:lnSpc>
          <a:spcPct val="90000"/>
        </a:lnSpc>
        <a:spcBef>
          <a:spcPct val="0"/>
        </a:spcBef>
        <a:spcAft>
          <a:spcPts val="563"/>
        </a:spcAft>
        <a:buClr>
          <a:schemeClr val="accent2"/>
        </a:buClr>
        <a:buFont typeface="Arial" pitchFamily="34" charset="0"/>
        <a:buChar char="•"/>
        <a:defRPr sz="1800" kern="1200" baseline="0">
          <a:solidFill>
            <a:schemeClr val="accent2"/>
          </a:solidFill>
          <a:latin typeface="+mn-lt"/>
          <a:ea typeface="+mn-ea"/>
          <a:cs typeface="+mn-cs"/>
        </a:defRPr>
      </a:lvl5pPr>
      <a:lvl6pPr marL="756000" indent="-252000" algn="l" defTabSz="457200" rtl="0" eaLnBrk="1" latinLnBrk="0" hangingPunct="1">
        <a:lnSpc>
          <a:spcPct val="90000"/>
        </a:lnSpc>
        <a:spcBef>
          <a:spcPts val="0"/>
        </a:spcBef>
        <a:spcAft>
          <a:spcPts val="567"/>
        </a:spcAft>
        <a:buClr>
          <a:schemeClr val="tx2"/>
        </a:buClr>
        <a:buFont typeface="Arial" pitchFamily="34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6pPr>
      <a:lvl7pPr marL="756000" indent="-252000" algn="l" defTabSz="457200" rtl="0" eaLnBrk="1" latinLnBrk="0" hangingPunct="1">
        <a:lnSpc>
          <a:spcPct val="90000"/>
        </a:lnSpc>
        <a:spcBef>
          <a:spcPts val="0"/>
        </a:spcBef>
        <a:spcAft>
          <a:spcPts val="567"/>
        </a:spcAft>
        <a:buClr>
          <a:schemeClr val="tx2"/>
        </a:buClr>
        <a:buFont typeface="Arial" pitchFamily="34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7pPr>
      <a:lvl8pPr marL="756000" indent="-252000" algn="l" defTabSz="457200" rtl="0" eaLnBrk="1" latinLnBrk="0" hangingPunct="1">
        <a:lnSpc>
          <a:spcPct val="90000"/>
        </a:lnSpc>
        <a:spcBef>
          <a:spcPts val="0"/>
        </a:spcBef>
        <a:spcAft>
          <a:spcPts val="567"/>
        </a:spcAft>
        <a:buClr>
          <a:schemeClr val="tx2"/>
        </a:buClr>
        <a:buFont typeface="Arial" pitchFamily="34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8pPr>
      <a:lvl9pPr marL="756000" indent="-252000" algn="l" defTabSz="457200" rtl="0" eaLnBrk="1" latinLnBrk="0" hangingPunct="1">
        <a:lnSpc>
          <a:spcPct val="90000"/>
        </a:lnSpc>
        <a:spcBef>
          <a:spcPts val="0"/>
        </a:spcBef>
        <a:spcAft>
          <a:spcPts val="567"/>
        </a:spcAft>
        <a:buClr>
          <a:schemeClr val="tx2"/>
        </a:buClr>
        <a:buFont typeface="Arial" pitchFamily="34" charset="0"/>
        <a:buChar char="–"/>
        <a:defRPr sz="20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://www.qudt.org/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1"/>
            <a:ext cx="9144000" cy="3122613"/>
          </a:xfrm>
          <a:prstGeom prst="rect">
            <a:avLst/>
          </a:prstGeom>
          <a:noFill/>
        </p:spPr>
      </p:pic>
      <p:sp>
        <p:nvSpPr>
          <p:cNvPr id="11" name="Text Placeholder 10"/>
          <p:cNvSpPr>
            <a:spLocks noGrp="1"/>
          </p:cNvSpPr>
          <p:nvPr>
            <p:ph type="body" sz="quarter" idx="13"/>
          </p:nvPr>
        </p:nvSpPr>
        <p:spPr/>
        <p:txBody>
          <a:bodyPr rtlCol="0"/>
          <a:lstStyle/>
          <a:p>
            <a:pPr fontAlgn="auto">
              <a:spcAft>
                <a:spcPts val="567"/>
              </a:spcAft>
              <a:defRPr/>
            </a:pPr>
            <a:r>
              <a:rPr lang="en-US" dirty="0" smtClean="0"/>
              <a:t>WaterML 2.0 – part 3 ?</a:t>
            </a:r>
            <a:endParaRPr lang="en-AU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Water Quality data transfer</a:t>
            </a:r>
            <a:endParaRPr lang="en-AU" dirty="0"/>
          </a:p>
        </p:txBody>
      </p:sp>
      <p:sp>
        <p:nvSpPr>
          <p:cNvPr id="22533" name="Footer Placeholder 2"/>
          <p:cNvSpPr txBox="1">
            <a:spLocks/>
          </p:cNvSpPr>
          <p:nvPr/>
        </p:nvSpPr>
        <p:spPr bwMode="auto">
          <a:xfrm>
            <a:off x="360363" y="4700964"/>
            <a:ext cx="8042275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AU" sz="1600" b="1" dirty="0" smtClean="0">
                <a:solidFill>
                  <a:schemeClr val="bg1"/>
                </a:solidFill>
                <a:latin typeface="Calibri" pitchFamily="34" charset="0"/>
              </a:rPr>
              <a:t>Simon Cox</a:t>
            </a:r>
            <a:endParaRPr lang="en-US" sz="16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2534" name="Footer Placeholder 2"/>
          <p:cNvSpPr txBox="1">
            <a:spLocks/>
          </p:cNvSpPr>
          <p:nvPr/>
        </p:nvSpPr>
        <p:spPr bwMode="auto">
          <a:xfrm>
            <a:off x="361950" y="4962901"/>
            <a:ext cx="8042275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fontAlgn="auto">
              <a:spcAft>
                <a:spcPts val="567"/>
              </a:spcAft>
              <a:defRPr/>
            </a:pPr>
            <a:endParaRPr lang="en-AU" sz="16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smtClean="0"/>
              <a:t>Land and Water </a:t>
            </a:r>
          </a:p>
        </p:txBody>
      </p:sp>
    </p:spTree>
    <p:extLst>
      <p:ext uri="{BB962C8B-B14F-4D97-AF65-F5344CB8AC3E}">
        <p14:creationId xmlns:p14="http://schemas.microsoft.com/office/powerpoint/2010/main" xmlns="" val="2836802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Summary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60363" y="1052424"/>
            <a:ext cx="8459787" cy="4238034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AU" dirty="0" smtClean="0"/>
              <a:t>Use of OMXML standard for encoding single measurements</a:t>
            </a:r>
          </a:p>
          <a:p>
            <a:pPr>
              <a:buFont typeface="Arial" pitchFamily="34" charset="0"/>
              <a:buChar char="•"/>
            </a:pPr>
            <a:r>
              <a:rPr lang="en-AU" dirty="0" smtClean="0"/>
              <a:t>Use of </a:t>
            </a:r>
            <a:r>
              <a:rPr lang="en-AU" i="1" dirty="0" smtClean="0"/>
              <a:t>WaterML 2.0 – Part 1</a:t>
            </a:r>
            <a:r>
              <a:rPr lang="en-AU" dirty="0" smtClean="0"/>
              <a:t> (WML2) for water quality time-series data </a:t>
            </a:r>
          </a:p>
          <a:p>
            <a:pPr lvl="1">
              <a:buFont typeface="Arial" pitchFamily="34" charset="0"/>
              <a:buChar char="•"/>
            </a:pPr>
            <a:r>
              <a:rPr lang="en-AU" i="1" dirty="0" smtClean="0"/>
              <a:t>observed property </a:t>
            </a:r>
            <a:r>
              <a:rPr lang="en-AU" dirty="0" smtClean="0"/>
              <a:t>to be taken from water quality </a:t>
            </a:r>
            <a:r>
              <a:rPr lang="en-AU" dirty="0" err="1" smtClean="0"/>
              <a:t>ontologies</a:t>
            </a:r>
            <a:endParaRPr lang="en-AU" dirty="0" smtClean="0"/>
          </a:p>
          <a:p>
            <a:pPr lvl="1">
              <a:buFont typeface="Arial" pitchFamily="34" charset="0"/>
              <a:buChar char="•"/>
            </a:pPr>
            <a:r>
              <a:rPr lang="en-AU" i="1" dirty="0" smtClean="0"/>
              <a:t>units</a:t>
            </a:r>
            <a:r>
              <a:rPr lang="en-AU" dirty="0" smtClean="0"/>
              <a:t> appropriate to the property</a:t>
            </a:r>
          </a:p>
          <a:p>
            <a:pPr lvl="1">
              <a:buFont typeface="Arial" pitchFamily="34" charset="0"/>
              <a:buChar char="•"/>
            </a:pPr>
            <a:r>
              <a:rPr lang="en-AU" i="1" dirty="0" smtClean="0"/>
              <a:t>feature of interest </a:t>
            </a:r>
            <a:r>
              <a:rPr lang="en-AU" dirty="0" smtClean="0"/>
              <a:t>is a water feature.</a:t>
            </a:r>
          </a:p>
          <a:p>
            <a:pPr>
              <a:buFont typeface="Arial" pitchFamily="34" charset="0"/>
              <a:buChar char="•"/>
            </a:pPr>
            <a:r>
              <a:rPr lang="en-AU" dirty="0" smtClean="0"/>
              <a:t>Documentation consistent with OGC and ISO requirements</a:t>
            </a:r>
          </a:p>
          <a:p>
            <a:pPr lvl="1">
              <a:buFont typeface="Arial" pitchFamily="34" charset="0"/>
              <a:buChar char="•"/>
            </a:pPr>
            <a:r>
              <a:rPr lang="en-AU" dirty="0" smtClean="0"/>
              <a:t>explicit, testable requirements</a:t>
            </a:r>
          </a:p>
          <a:p>
            <a:pPr lvl="1">
              <a:buFont typeface="Arial" pitchFamily="34" charset="0"/>
              <a:buChar char="•"/>
            </a:pPr>
            <a:r>
              <a:rPr lang="en-AU" dirty="0" smtClean="0"/>
              <a:t>related to an explicit target artefact or service. </a:t>
            </a:r>
          </a:p>
          <a:p>
            <a:pPr>
              <a:buFont typeface="Arial" pitchFamily="34" charset="0"/>
              <a:buChar char="•"/>
            </a:pPr>
            <a:r>
              <a:rPr lang="en-AU" dirty="0" err="1" smtClean="0"/>
              <a:t>Schematron</a:t>
            </a:r>
            <a:r>
              <a:rPr lang="en-AU" dirty="0" smtClean="0"/>
              <a:t> validation of conformance classes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13756" y="5388513"/>
            <a:ext cx="819089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 smtClean="0"/>
              <a:t>Simons, B.A and Cox, S.J.D., (2013) </a:t>
            </a:r>
            <a:r>
              <a:rPr lang="en-AU" sz="1400" dirty="0" smtClean="0"/>
              <a:t>Water Quality exchange standard for Bioregional Assessments</a:t>
            </a:r>
            <a:r>
              <a:rPr lang="en-US" sz="1400" dirty="0" smtClean="0"/>
              <a:t>. </a:t>
            </a:r>
          </a:p>
          <a:p>
            <a:r>
              <a:rPr lang="en-AU" sz="1400" dirty="0" smtClean="0"/>
              <a:t>Water for a Healthy Country Flagship Report series ISSN: 1835-095X.</a:t>
            </a:r>
            <a:endParaRPr lang="en-AU" sz="1400" dirty="0" err="1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659081" y="278112"/>
            <a:ext cx="5590120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>
                <a:latin typeface="+mj-lt"/>
              </a:rPr>
              <a:t>Water Quality package dependencies</a:t>
            </a:r>
          </a:p>
        </p:txBody>
      </p:sp>
      <p:pic>
        <p:nvPicPr>
          <p:cNvPr id="7" name="Picture 6" descr="Package dependencies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081" y="766363"/>
            <a:ext cx="6175676" cy="575032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WQ classes as sub-types of O&amp;M and WaterML 2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grpSp>
        <p:nvGrpSpPr>
          <p:cNvPr id="786" name="Group 785"/>
          <p:cNvGrpSpPr/>
          <p:nvPr/>
        </p:nvGrpSpPr>
        <p:grpSpPr>
          <a:xfrm>
            <a:off x="1259457" y="872732"/>
            <a:ext cx="5891841" cy="5643956"/>
            <a:chOff x="1814508" y="1577001"/>
            <a:chExt cx="5336790" cy="4939687"/>
          </a:xfrm>
        </p:grpSpPr>
        <p:grpSp>
          <p:nvGrpSpPr>
            <p:cNvPr id="782" name="Group 781"/>
            <p:cNvGrpSpPr/>
            <p:nvPr/>
          </p:nvGrpSpPr>
          <p:grpSpPr>
            <a:xfrm>
              <a:off x="1814508" y="1577001"/>
              <a:ext cx="4408502" cy="2851391"/>
              <a:chOff x="1814508" y="1577001"/>
              <a:chExt cx="4408502" cy="2851391"/>
            </a:xfrm>
          </p:grpSpPr>
          <p:sp>
            <p:nvSpPr>
              <p:cNvPr id="17412" name="Rectangle 4"/>
              <p:cNvSpPr>
                <a:spLocks noChangeArrowheads="1"/>
              </p:cNvSpPr>
              <p:nvPr/>
            </p:nvSpPr>
            <p:spPr bwMode="auto">
              <a:xfrm>
                <a:off x="5265390" y="2897301"/>
                <a:ext cx="831663" cy="370926"/>
              </a:xfrm>
              <a:prstGeom prst="rect">
                <a:avLst/>
              </a:prstGeom>
              <a:solidFill>
                <a:srgbClr val="C0BF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13" name="Rectangle 5"/>
              <p:cNvSpPr>
                <a:spLocks noChangeArrowheads="1"/>
              </p:cNvSpPr>
              <p:nvPr/>
            </p:nvSpPr>
            <p:spPr bwMode="auto">
              <a:xfrm>
                <a:off x="5265390" y="2897301"/>
                <a:ext cx="831663" cy="370926"/>
              </a:xfrm>
              <a:prstGeom prst="rect">
                <a:avLst/>
              </a:prstGeom>
              <a:noFill/>
              <a:ln w="4763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14" name="Rectangle 6"/>
              <p:cNvSpPr>
                <a:spLocks noChangeArrowheads="1"/>
              </p:cNvSpPr>
              <p:nvPr/>
            </p:nvSpPr>
            <p:spPr bwMode="auto">
              <a:xfrm>
                <a:off x="5248135" y="2880961"/>
                <a:ext cx="436537" cy="370926"/>
              </a:xfrm>
              <a:prstGeom prst="rect">
                <a:avLst/>
              </a:prstGeom>
              <a:solidFill>
                <a:srgbClr val="FFC0C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15" name="Rectangle 7"/>
              <p:cNvSpPr>
                <a:spLocks noChangeArrowheads="1"/>
              </p:cNvSpPr>
              <p:nvPr/>
            </p:nvSpPr>
            <p:spPr bwMode="auto">
              <a:xfrm>
                <a:off x="5684672" y="2880961"/>
                <a:ext cx="17254" cy="370926"/>
              </a:xfrm>
              <a:prstGeom prst="rect">
                <a:avLst/>
              </a:prstGeom>
              <a:solidFill>
                <a:srgbClr val="FEBEC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16" name="Rectangle 8"/>
              <p:cNvSpPr>
                <a:spLocks noChangeArrowheads="1"/>
              </p:cNvSpPr>
              <p:nvPr/>
            </p:nvSpPr>
            <p:spPr bwMode="auto">
              <a:xfrm>
                <a:off x="5701927" y="2880961"/>
                <a:ext cx="22431" cy="370926"/>
              </a:xfrm>
              <a:prstGeom prst="rect">
                <a:avLst/>
              </a:prstGeom>
              <a:solidFill>
                <a:srgbClr val="FEBCC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17" name="Rectangle 9"/>
              <p:cNvSpPr>
                <a:spLocks noChangeArrowheads="1"/>
              </p:cNvSpPr>
              <p:nvPr/>
            </p:nvSpPr>
            <p:spPr bwMode="auto">
              <a:xfrm>
                <a:off x="5724357" y="2880961"/>
                <a:ext cx="22431" cy="370926"/>
              </a:xfrm>
              <a:prstGeom prst="rect">
                <a:avLst/>
              </a:prstGeom>
              <a:solidFill>
                <a:srgbClr val="FDBAC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18" name="Rectangle 10"/>
              <p:cNvSpPr>
                <a:spLocks noChangeArrowheads="1"/>
              </p:cNvSpPr>
              <p:nvPr/>
            </p:nvSpPr>
            <p:spPr bwMode="auto">
              <a:xfrm>
                <a:off x="5746788" y="2880961"/>
                <a:ext cx="17254" cy="370926"/>
              </a:xfrm>
              <a:prstGeom prst="rect">
                <a:avLst/>
              </a:prstGeom>
              <a:solidFill>
                <a:srgbClr val="FBB9C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19" name="Rectangle 11"/>
              <p:cNvSpPr>
                <a:spLocks noChangeArrowheads="1"/>
              </p:cNvSpPr>
              <p:nvPr/>
            </p:nvSpPr>
            <p:spPr bwMode="auto">
              <a:xfrm>
                <a:off x="5764043" y="2880961"/>
                <a:ext cx="22431" cy="370926"/>
              </a:xfrm>
              <a:prstGeom prst="rect">
                <a:avLst/>
              </a:prstGeom>
              <a:solidFill>
                <a:srgbClr val="FAB7C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20" name="Rectangle 12"/>
              <p:cNvSpPr>
                <a:spLocks noChangeArrowheads="1"/>
              </p:cNvSpPr>
              <p:nvPr/>
            </p:nvSpPr>
            <p:spPr bwMode="auto">
              <a:xfrm>
                <a:off x="5786473" y="2880961"/>
                <a:ext cx="22431" cy="370926"/>
              </a:xfrm>
              <a:prstGeom prst="rect">
                <a:avLst/>
              </a:prstGeom>
              <a:solidFill>
                <a:srgbClr val="F9B5C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21" name="Rectangle 13"/>
              <p:cNvSpPr>
                <a:spLocks noChangeArrowheads="1"/>
              </p:cNvSpPr>
              <p:nvPr/>
            </p:nvSpPr>
            <p:spPr bwMode="auto">
              <a:xfrm>
                <a:off x="5808904" y="2880961"/>
                <a:ext cx="22431" cy="370926"/>
              </a:xfrm>
              <a:prstGeom prst="rect">
                <a:avLst/>
              </a:prstGeom>
              <a:solidFill>
                <a:srgbClr val="F8B3B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22" name="Rectangle 14"/>
              <p:cNvSpPr>
                <a:spLocks noChangeArrowheads="1"/>
              </p:cNvSpPr>
              <p:nvPr/>
            </p:nvSpPr>
            <p:spPr bwMode="auto">
              <a:xfrm>
                <a:off x="5831334" y="2880961"/>
                <a:ext cx="22431" cy="370926"/>
              </a:xfrm>
              <a:prstGeom prst="rect">
                <a:avLst/>
              </a:prstGeom>
              <a:solidFill>
                <a:srgbClr val="F7B1B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23" name="Rectangle 15"/>
              <p:cNvSpPr>
                <a:spLocks noChangeArrowheads="1"/>
              </p:cNvSpPr>
              <p:nvPr/>
            </p:nvSpPr>
            <p:spPr bwMode="auto">
              <a:xfrm>
                <a:off x="5853766" y="2880961"/>
                <a:ext cx="29333" cy="370926"/>
              </a:xfrm>
              <a:prstGeom prst="rect">
                <a:avLst/>
              </a:prstGeom>
              <a:solidFill>
                <a:srgbClr val="F6AFB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24" name="Rectangle 16"/>
              <p:cNvSpPr>
                <a:spLocks noChangeArrowheads="1"/>
              </p:cNvSpPr>
              <p:nvPr/>
            </p:nvSpPr>
            <p:spPr bwMode="auto">
              <a:xfrm>
                <a:off x="5883098" y="2880961"/>
                <a:ext cx="15530" cy="370926"/>
              </a:xfrm>
              <a:prstGeom prst="rect">
                <a:avLst/>
              </a:prstGeom>
              <a:solidFill>
                <a:srgbClr val="F5ADB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25" name="Rectangle 17"/>
              <p:cNvSpPr>
                <a:spLocks noChangeArrowheads="1"/>
              </p:cNvSpPr>
              <p:nvPr/>
            </p:nvSpPr>
            <p:spPr bwMode="auto">
              <a:xfrm>
                <a:off x="5898627" y="2880961"/>
                <a:ext cx="24156" cy="370926"/>
              </a:xfrm>
              <a:prstGeom prst="rect">
                <a:avLst/>
              </a:prstGeom>
              <a:solidFill>
                <a:srgbClr val="F4ABB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26" name="Rectangle 18"/>
              <p:cNvSpPr>
                <a:spLocks noChangeArrowheads="1"/>
              </p:cNvSpPr>
              <p:nvPr/>
            </p:nvSpPr>
            <p:spPr bwMode="auto">
              <a:xfrm>
                <a:off x="5922783" y="2880961"/>
                <a:ext cx="22431" cy="370926"/>
              </a:xfrm>
              <a:prstGeom prst="rect">
                <a:avLst/>
              </a:prstGeom>
              <a:solidFill>
                <a:srgbClr val="F3A9B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27" name="Rectangle 19"/>
              <p:cNvSpPr>
                <a:spLocks noChangeArrowheads="1"/>
              </p:cNvSpPr>
              <p:nvPr/>
            </p:nvSpPr>
            <p:spPr bwMode="auto">
              <a:xfrm>
                <a:off x="5945213" y="2880961"/>
                <a:ext cx="17254" cy="370926"/>
              </a:xfrm>
              <a:prstGeom prst="rect">
                <a:avLst/>
              </a:prstGeom>
              <a:solidFill>
                <a:srgbClr val="F2A7B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28" name="Rectangle 20"/>
              <p:cNvSpPr>
                <a:spLocks noChangeArrowheads="1"/>
              </p:cNvSpPr>
              <p:nvPr/>
            </p:nvSpPr>
            <p:spPr bwMode="auto">
              <a:xfrm>
                <a:off x="5962468" y="2880961"/>
                <a:ext cx="22431" cy="370926"/>
              </a:xfrm>
              <a:prstGeom prst="rect">
                <a:avLst/>
              </a:prstGeom>
              <a:solidFill>
                <a:srgbClr val="F1A5B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29" name="Rectangle 21"/>
              <p:cNvSpPr>
                <a:spLocks noChangeArrowheads="1"/>
              </p:cNvSpPr>
              <p:nvPr/>
            </p:nvSpPr>
            <p:spPr bwMode="auto">
              <a:xfrm>
                <a:off x="5984899" y="2880961"/>
                <a:ext cx="22431" cy="370926"/>
              </a:xfrm>
              <a:prstGeom prst="rect">
                <a:avLst/>
              </a:prstGeom>
              <a:solidFill>
                <a:srgbClr val="F0A3B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30" name="Rectangle 22"/>
              <p:cNvSpPr>
                <a:spLocks noChangeArrowheads="1"/>
              </p:cNvSpPr>
              <p:nvPr/>
            </p:nvSpPr>
            <p:spPr bwMode="auto">
              <a:xfrm>
                <a:off x="6007329" y="2880961"/>
                <a:ext cx="17254" cy="370926"/>
              </a:xfrm>
              <a:prstGeom prst="rect">
                <a:avLst/>
              </a:prstGeom>
              <a:solidFill>
                <a:srgbClr val="EFA2A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31" name="Rectangle 23"/>
              <p:cNvSpPr>
                <a:spLocks noChangeArrowheads="1"/>
              </p:cNvSpPr>
              <p:nvPr/>
            </p:nvSpPr>
            <p:spPr bwMode="auto">
              <a:xfrm>
                <a:off x="6024584" y="2880961"/>
                <a:ext cx="22431" cy="370926"/>
              </a:xfrm>
              <a:prstGeom prst="rect">
                <a:avLst/>
              </a:prstGeom>
              <a:solidFill>
                <a:srgbClr val="EEA0A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32" name="Rectangle 24"/>
              <p:cNvSpPr>
                <a:spLocks noChangeArrowheads="1"/>
              </p:cNvSpPr>
              <p:nvPr/>
            </p:nvSpPr>
            <p:spPr bwMode="auto">
              <a:xfrm>
                <a:off x="6047015" y="2880961"/>
                <a:ext cx="17254" cy="370926"/>
              </a:xfrm>
              <a:prstGeom prst="rect">
                <a:avLst/>
              </a:prstGeom>
              <a:solidFill>
                <a:srgbClr val="ED9EA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33" name="Rectangle 25"/>
              <p:cNvSpPr>
                <a:spLocks noChangeArrowheads="1"/>
              </p:cNvSpPr>
              <p:nvPr/>
            </p:nvSpPr>
            <p:spPr bwMode="auto">
              <a:xfrm>
                <a:off x="6064269" y="2880961"/>
                <a:ext cx="17254" cy="370926"/>
              </a:xfrm>
              <a:prstGeom prst="rect">
                <a:avLst/>
              </a:prstGeom>
              <a:solidFill>
                <a:srgbClr val="EB9CA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34" name="Rectangle 26"/>
              <p:cNvSpPr>
                <a:spLocks noChangeArrowheads="1"/>
              </p:cNvSpPr>
              <p:nvPr/>
            </p:nvSpPr>
            <p:spPr bwMode="auto">
              <a:xfrm>
                <a:off x="5248135" y="2880961"/>
                <a:ext cx="833388" cy="370926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35" name="Rectangle 27"/>
              <p:cNvSpPr>
                <a:spLocks noChangeArrowheads="1"/>
              </p:cNvSpPr>
              <p:nvPr/>
            </p:nvSpPr>
            <p:spPr bwMode="auto">
              <a:xfrm>
                <a:off x="5463816" y="2913642"/>
                <a:ext cx="36234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«FeatureType»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36" name="Rectangle 28"/>
              <p:cNvSpPr>
                <a:spLocks noChangeArrowheads="1"/>
              </p:cNvSpPr>
              <p:nvPr/>
            </p:nvSpPr>
            <p:spPr bwMode="auto">
              <a:xfrm>
                <a:off x="5456914" y="2983905"/>
                <a:ext cx="386499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measurement::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37" name="Rectangle 29"/>
              <p:cNvSpPr>
                <a:spLocks noChangeArrowheads="1"/>
              </p:cNvSpPr>
              <p:nvPr/>
            </p:nvSpPr>
            <p:spPr bwMode="auto">
              <a:xfrm>
                <a:off x="5412053" y="3052534"/>
                <a:ext cx="453791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OM_Measurement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38" name="Rectangle 30"/>
              <p:cNvSpPr>
                <a:spLocks noChangeArrowheads="1"/>
              </p:cNvSpPr>
              <p:nvPr/>
            </p:nvSpPr>
            <p:spPr bwMode="auto">
              <a:xfrm>
                <a:off x="3610693" y="1591707"/>
                <a:ext cx="2198212" cy="1096438"/>
              </a:xfrm>
              <a:prstGeom prst="rect">
                <a:avLst/>
              </a:prstGeom>
              <a:solidFill>
                <a:srgbClr val="C0BF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39" name="Rectangle 31"/>
              <p:cNvSpPr>
                <a:spLocks noChangeArrowheads="1"/>
              </p:cNvSpPr>
              <p:nvPr/>
            </p:nvSpPr>
            <p:spPr bwMode="auto">
              <a:xfrm>
                <a:off x="3610693" y="1591707"/>
                <a:ext cx="2198212" cy="1096438"/>
              </a:xfrm>
              <a:prstGeom prst="rect">
                <a:avLst/>
              </a:prstGeom>
              <a:noFill/>
              <a:ln w="4763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40" name="Rectangle 32"/>
              <p:cNvSpPr>
                <a:spLocks noChangeArrowheads="1"/>
              </p:cNvSpPr>
              <p:nvPr/>
            </p:nvSpPr>
            <p:spPr bwMode="auto">
              <a:xfrm>
                <a:off x="3593438" y="1577001"/>
                <a:ext cx="1143968" cy="1094803"/>
              </a:xfrm>
              <a:prstGeom prst="rect">
                <a:avLst/>
              </a:prstGeom>
              <a:solidFill>
                <a:srgbClr val="FFC0C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41" name="Rectangle 33"/>
              <p:cNvSpPr>
                <a:spLocks noChangeArrowheads="1"/>
              </p:cNvSpPr>
              <p:nvPr/>
            </p:nvSpPr>
            <p:spPr bwMode="auto">
              <a:xfrm>
                <a:off x="4737405" y="1577001"/>
                <a:ext cx="46587" cy="1094803"/>
              </a:xfrm>
              <a:prstGeom prst="rect">
                <a:avLst/>
              </a:prstGeom>
              <a:solidFill>
                <a:srgbClr val="FEBEC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42" name="Rectangle 34"/>
              <p:cNvSpPr>
                <a:spLocks noChangeArrowheads="1"/>
              </p:cNvSpPr>
              <p:nvPr/>
            </p:nvSpPr>
            <p:spPr bwMode="auto">
              <a:xfrm>
                <a:off x="4783992" y="1577001"/>
                <a:ext cx="32784" cy="1094803"/>
              </a:xfrm>
              <a:prstGeom prst="rect">
                <a:avLst/>
              </a:prstGeom>
              <a:solidFill>
                <a:srgbClr val="FEBDC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43" name="Rectangle 35"/>
              <p:cNvSpPr>
                <a:spLocks noChangeArrowheads="1"/>
              </p:cNvSpPr>
              <p:nvPr/>
            </p:nvSpPr>
            <p:spPr bwMode="auto">
              <a:xfrm>
                <a:off x="4816775" y="1577001"/>
                <a:ext cx="69018" cy="1094803"/>
              </a:xfrm>
              <a:prstGeom prst="rect">
                <a:avLst/>
              </a:prstGeom>
              <a:solidFill>
                <a:srgbClr val="FDBBC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44" name="Rectangle 36"/>
              <p:cNvSpPr>
                <a:spLocks noChangeArrowheads="1"/>
              </p:cNvSpPr>
              <p:nvPr/>
            </p:nvSpPr>
            <p:spPr bwMode="auto">
              <a:xfrm>
                <a:off x="4885793" y="1577001"/>
                <a:ext cx="62116" cy="1094803"/>
              </a:xfrm>
              <a:prstGeom prst="rect">
                <a:avLst/>
              </a:prstGeom>
              <a:solidFill>
                <a:srgbClr val="FCB9C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45" name="Rectangle 37"/>
              <p:cNvSpPr>
                <a:spLocks noChangeArrowheads="1"/>
              </p:cNvSpPr>
              <p:nvPr/>
            </p:nvSpPr>
            <p:spPr bwMode="auto">
              <a:xfrm>
                <a:off x="4947909" y="1577001"/>
                <a:ext cx="32784" cy="1094803"/>
              </a:xfrm>
              <a:prstGeom prst="rect">
                <a:avLst/>
              </a:prstGeom>
              <a:solidFill>
                <a:srgbClr val="FAB8C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46" name="Rectangle 38"/>
              <p:cNvSpPr>
                <a:spLocks noChangeArrowheads="1"/>
              </p:cNvSpPr>
              <p:nvPr/>
            </p:nvSpPr>
            <p:spPr bwMode="auto">
              <a:xfrm>
                <a:off x="4980693" y="1577001"/>
                <a:ext cx="56940" cy="1094803"/>
              </a:xfrm>
              <a:prstGeom prst="rect">
                <a:avLst/>
              </a:prstGeom>
              <a:solidFill>
                <a:srgbClr val="FAB6C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47" name="Rectangle 39"/>
              <p:cNvSpPr>
                <a:spLocks noChangeArrowheads="1"/>
              </p:cNvSpPr>
              <p:nvPr/>
            </p:nvSpPr>
            <p:spPr bwMode="auto">
              <a:xfrm>
                <a:off x="5037632" y="1577001"/>
                <a:ext cx="56940" cy="1094803"/>
              </a:xfrm>
              <a:prstGeom prst="rect">
                <a:avLst/>
              </a:prstGeom>
              <a:solidFill>
                <a:srgbClr val="F9B4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48" name="Rectangle 40"/>
              <p:cNvSpPr>
                <a:spLocks noChangeArrowheads="1"/>
              </p:cNvSpPr>
              <p:nvPr/>
            </p:nvSpPr>
            <p:spPr bwMode="auto">
              <a:xfrm>
                <a:off x="5094572" y="1577001"/>
                <a:ext cx="62116" cy="1094803"/>
              </a:xfrm>
              <a:prstGeom prst="rect">
                <a:avLst/>
              </a:prstGeom>
              <a:solidFill>
                <a:srgbClr val="F8B2B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49" name="Rectangle 41"/>
              <p:cNvSpPr>
                <a:spLocks noChangeArrowheads="1"/>
              </p:cNvSpPr>
              <p:nvPr/>
            </p:nvSpPr>
            <p:spPr bwMode="auto">
              <a:xfrm>
                <a:off x="5156688" y="1577001"/>
                <a:ext cx="62116" cy="1094803"/>
              </a:xfrm>
              <a:prstGeom prst="rect">
                <a:avLst/>
              </a:prstGeom>
              <a:solidFill>
                <a:srgbClr val="F7B0B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50" name="Rectangle 42"/>
              <p:cNvSpPr>
                <a:spLocks noChangeArrowheads="1"/>
              </p:cNvSpPr>
              <p:nvPr/>
            </p:nvSpPr>
            <p:spPr bwMode="auto">
              <a:xfrm>
                <a:off x="5218803" y="1577001"/>
                <a:ext cx="39686" cy="1094803"/>
              </a:xfrm>
              <a:prstGeom prst="rect">
                <a:avLst/>
              </a:prstGeom>
              <a:solidFill>
                <a:srgbClr val="F5AFB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51" name="Rectangle 43"/>
              <p:cNvSpPr>
                <a:spLocks noChangeArrowheads="1"/>
              </p:cNvSpPr>
              <p:nvPr/>
            </p:nvSpPr>
            <p:spPr bwMode="auto">
              <a:xfrm>
                <a:off x="5258488" y="1577001"/>
                <a:ext cx="39686" cy="1094803"/>
              </a:xfrm>
              <a:prstGeom prst="rect">
                <a:avLst/>
              </a:prstGeom>
              <a:solidFill>
                <a:srgbClr val="F5ADB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52" name="Rectangle 44"/>
              <p:cNvSpPr>
                <a:spLocks noChangeArrowheads="1"/>
              </p:cNvSpPr>
              <p:nvPr/>
            </p:nvSpPr>
            <p:spPr bwMode="auto">
              <a:xfrm>
                <a:off x="5298174" y="1577001"/>
                <a:ext cx="39686" cy="1094803"/>
              </a:xfrm>
              <a:prstGeom prst="rect">
                <a:avLst/>
              </a:prstGeom>
              <a:solidFill>
                <a:srgbClr val="F4ACB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53" name="Rectangle 45"/>
              <p:cNvSpPr>
                <a:spLocks noChangeArrowheads="1"/>
              </p:cNvSpPr>
              <p:nvPr/>
            </p:nvSpPr>
            <p:spPr bwMode="auto">
              <a:xfrm>
                <a:off x="5337858" y="1577001"/>
                <a:ext cx="56940" cy="1094803"/>
              </a:xfrm>
              <a:prstGeom prst="rect">
                <a:avLst/>
              </a:prstGeom>
              <a:solidFill>
                <a:srgbClr val="F4AAB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54" name="Rectangle 46"/>
              <p:cNvSpPr>
                <a:spLocks noChangeArrowheads="1"/>
              </p:cNvSpPr>
              <p:nvPr/>
            </p:nvSpPr>
            <p:spPr bwMode="auto">
              <a:xfrm>
                <a:off x="5394798" y="1577001"/>
                <a:ext cx="39686" cy="1094803"/>
              </a:xfrm>
              <a:prstGeom prst="rect">
                <a:avLst/>
              </a:prstGeom>
              <a:solidFill>
                <a:srgbClr val="F3A8B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55" name="Rectangle 47"/>
              <p:cNvSpPr>
                <a:spLocks noChangeArrowheads="1"/>
              </p:cNvSpPr>
              <p:nvPr/>
            </p:nvSpPr>
            <p:spPr bwMode="auto">
              <a:xfrm>
                <a:off x="5434483" y="1577001"/>
                <a:ext cx="44861" cy="1094803"/>
              </a:xfrm>
              <a:prstGeom prst="rect">
                <a:avLst/>
              </a:prstGeom>
              <a:solidFill>
                <a:srgbClr val="F2A7B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56" name="Rectangle 48"/>
              <p:cNvSpPr>
                <a:spLocks noChangeArrowheads="1"/>
              </p:cNvSpPr>
              <p:nvPr/>
            </p:nvSpPr>
            <p:spPr bwMode="auto">
              <a:xfrm>
                <a:off x="5479344" y="1577001"/>
                <a:ext cx="51763" cy="1094803"/>
              </a:xfrm>
              <a:prstGeom prst="rect">
                <a:avLst/>
              </a:prstGeom>
              <a:solidFill>
                <a:srgbClr val="F1A5B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57" name="Rectangle 49"/>
              <p:cNvSpPr>
                <a:spLocks noChangeArrowheads="1"/>
              </p:cNvSpPr>
              <p:nvPr/>
            </p:nvSpPr>
            <p:spPr bwMode="auto">
              <a:xfrm>
                <a:off x="5531108" y="1577001"/>
                <a:ext cx="39686" cy="1094803"/>
              </a:xfrm>
              <a:prstGeom prst="rect">
                <a:avLst/>
              </a:prstGeom>
              <a:solidFill>
                <a:srgbClr val="F0A4B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58" name="Rectangle 50"/>
              <p:cNvSpPr>
                <a:spLocks noChangeArrowheads="1"/>
              </p:cNvSpPr>
              <p:nvPr/>
            </p:nvSpPr>
            <p:spPr bwMode="auto">
              <a:xfrm>
                <a:off x="5570793" y="1577001"/>
                <a:ext cx="44861" cy="1094803"/>
              </a:xfrm>
              <a:prstGeom prst="rect">
                <a:avLst/>
              </a:prstGeom>
              <a:solidFill>
                <a:srgbClr val="EFA2B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59" name="Rectangle 51"/>
              <p:cNvSpPr>
                <a:spLocks noChangeArrowheads="1"/>
              </p:cNvSpPr>
              <p:nvPr/>
            </p:nvSpPr>
            <p:spPr bwMode="auto">
              <a:xfrm>
                <a:off x="5615655" y="1577001"/>
                <a:ext cx="56940" cy="1094803"/>
              </a:xfrm>
              <a:prstGeom prst="rect">
                <a:avLst/>
              </a:prstGeom>
              <a:solidFill>
                <a:srgbClr val="EFA1A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60" name="Rectangle 52"/>
              <p:cNvSpPr>
                <a:spLocks noChangeArrowheads="1"/>
              </p:cNvSpPr>
              <p:nvPr/>
            </p:nvSpPr>
            <p:spPr bwMode="auto">
              <a:xfrm>
                <a:off x="5672594" y="1577001"/>
                <a:ext cx="51763" cy="1094803"/>
              </a:xfrm>
              <a:prstGeom prst="rect">
                <a:avLst/>
              </a:prstGeom>
              <a:solidFill>
                <a:srgbClr val="EE9FA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61" name="Rectangle 53"/>
              <p:cNvSpPr>
                <a:spLocks noChangeArrowheads="1"/>
              </p:cNvSpPr>
              <p:nvPr/>
            </p:nvSpPr>
            <p:spPr bwMode="auto">
              <a:xfrm>
                <a:off x="5724357" y="1577001"/>
                <a:ext cx="50038" cy="1094803"/>
              </a:xfrm>
              <a:prstGeom prst="rect">
                <a:avLst/>
              </a:prstGeom>
              <a:solidFill>
                <a:srgbClr val="EC9D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62" name="Rectangle 54"/>
              <p:cNvSpPr>
                <a:spLocks noChangeArrowheads="1"/>
              </p:cNvSpPr>
              <p:nvPr/>
            </p:nvSpPr>
            <p:spPr bwMode="auto">
              <a:xfrm>
                <a:off x="5774395" y="1577001"/>
                <a:ext cx="17254" cy="1094803"/>
              </a:xfrm>
              <a:prstGeom prst="rect">
                <a:avLst/>
              </a:prstGeom>
              <a:solidFill>
                <a:srgbClr val="EB9BA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63" name="Rectangle 55"/>
              <p:cNvSpPr>
                <a:spLocks noChangeArrowheads="1"/>
              </p:cNvSpPr>
              <p:nvPr/>
            </p:nvSpPr>
            <p:spPr bwMode="auto">
              <a:xfrm>
                <a:off x="3593438" y="1577001"/>
                <a:ext cx="2198212" cy="1094803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64" name="Rectangle 56"/>
              <p:cNvSpPr>
                <a:spLocks noChangeArrowheads="1"/>
              </p:cNvSpPr>
              <p:nvPr/>
            </p:nvSpPr>
            <p:spPr bwMode="auto">
              <a:xfrm>
                <a:off x="4488941" y="1608048"/>
                <a:ext cx="36234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«FeatureType»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65" name="Rectangle 57"/>
              <p:cNvSpPr>
                <a:spLocks noChangeArrowheads="1"/>
              </p:cNvSpPr>
              <p:nvPr/>
            </p:nvSpPr>
            <p:spPr bwMode="auto">
              <a:xfrm>
                <a:off x="4273262" y="1678312"/>
                <a:ext cx="741940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observation::OM_Observation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66" name="Line 58"/>
              <p:cNvSpPr>
                <a:spLocks noChangeShapeType="1"/>
              </p:cNvSpPr>
              <p:nvPr/>
            </p:nvSpPr>
            <p:spPr bwMode="auto">
              <a:xfrm>
                <a:off x="3593438" y="1774719"/>
                <a:ext cx="2198212" cy="1635"/>
              </a:xfrm>
              <a:prstGeom prst="line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67" name="Rectangle 59"/>
              <p:cNvSpPr>
                <a:spLocks noChangeArrowheads="1"/>
              </p:cNvSpPr>
              <p:nvPr/>
            </p:nvSpPr>
            <p:spPr bwMode="auto">
              <a:xfrm>
                <a:off x="3621045" y="1795962"/>
                <a:ext cx="69018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8B0000"/>
                    </a:solidFill>
                    <a:effectLst/>
                    <a:latin typeface="Arial" pitchFamily="34" charset="0"/>
                    <a:cs typeface="Arial" pitchFamily="34" charset="0"/>
                  </a:rPr>
                  <a:t>+ 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68" name="Rectangle 60"/>
              <p:cNvSpPr>
                <a:spLocks noChangeArrowheads="1"/>
              </p:cNvSpPr>
              <p:nvPr/>
            </p:nvSpPr>
            <p:spPr bwMode="auto">
              <a:xfrm>
                <a:off x="3717670" y="1795962"/>
                <a:ext cx="697078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8B0000"/>
                    </a:solidFill>
                    <a:effectLst/>
                    <a:latin typeface="Arial" pitchFamily="34" charset="0"/>
                    <a:cs typeface="Arial" pitchFamily="34" charset="0"/>
                  </a:rPr>
                  <a:t>parameter  :NamedValue [0..*]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69" name="Rectangle 61"/>
              <p:cNvSpPr>
                <a:spLocks noChangeArrowheads="1"/>
              </p:cNvSpPr>
              <p:nvPr/>
            </p:nvSpPr>
            <p:spPr bwMode="auto">
              <a:xfrm>
                <a:off x="3621045" y="1866225"/>
                <a:ext cx="69018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8B0000"/>
                    </a:solidFill>
                    <a:effectLst/>
                    <a:latin typeface="Arial" pitchFamily="34" charset="0"/>
                    <a:cs typeface="Arial" pitchFamily="34" charset="0"/>
                  </a:rPr>
                  <a:t>+ 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70" name="Rectangle 62"/>
              <p:cNvSpPr>
                <a:spLocks noChangeArrowheads="1"/>
              </p:cNvSpPr>
              <p:nvPr/>
            </p:nvSpPr>
            <p:spPr bwMode="auto">
              <a:xfrm>
                <a:off x="3717670" y="1866225"/>
                <a:ext cx="71433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8B0000"/>
                    </a:solidFill>
                    <a:effectLst/>
                    <a:latin typeface="Arial" pitchFamily="34" charset="0"/>
                    <a:cs typeface="Arial" pitchFamily="34" charset="0"/>
                  </a:rPr>
                  <a:t>phenomenonTime  :TM_Object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71" name="Rectangle 63"/>
              <p:cNvSpPr>
                <a:spLocks noChangeArrowheads="1"/>
              </p:cNvSpPr>
              <p:nvPr/>
            </p:nvSpPr>
            <p:spPr bwMode="auto">
              <a:xfrm>
                <a:off x="3621045" y="1936489"/>
                <a:ext cx="69018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8B0000"/>
                    </a:solidFill>
                    <a:effectLst/>
                    <a:latin typeface="Arial" pitchFamily="34" charset="0"/>
                    <a:cs typeface="Arial" pitchFamily="34" charset="0"/>
                  </a:rPr>
                  <a:t>+ 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72" name="Rectangle 64"/>
              <p:cNvSpPr>
                <a:spLocks noChangeArrowheads="1"/>
              </p:cNvSpPr>
              <p:nvPr/>
            </p:nvSpPr>
            <p:spPr bwMode="auto">
              <a:xfrm>
                <a:off x="3717670" y="1936489"/>
                <a:ext cx="754018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8B0000"/>
                    </a:solidFill>
                    <a:effectLst/>
                    <a:latin typeface="Arial" pitchFamily="34" charset="0"/>
                    <a:cs typeface="Arial" pitchFamily="34" charset="0"/>
                  </a:rPr>
                  <a:t>resultQuality  :DQ_Element [0..*]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73" name="Rectangle 65"/>
              <p:cNvSpPr>
                <a:spLocks noChangeArrowheads="1"/>
              </p:cNvSpPr>
              <p:nvPr/>
            </p:nvSpPr>
            <p:spPr bwMode="auto">
              <a:xfrm>
                <a:off x="3621045" y="2005118"/>
                <a:ext cx="69018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8B0000"/>
                    </a:solidFill>
                    <a:effectLst/>
                    <a:latin typeface="Arial" pitchFamily="34" charset="0"/>
                    <a:cs typeface="Arial" pitchFamily="34" charset="0"/>
                  </a:rPr>
                  <a:t>+ 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74" name="Rectangle 66"/>
              <p:cNvSpPr>
                <a:spLocks noChangeArrowheads="1"/>
              </p:cNvSpPr>
              <p:nvPr/>
            </p:nvSpPr>
            <p:spPr bwMode="auto">
              <a:xfrm>
                <a:off x="3717670" y="2005118"/>
                <a:ext cx="550416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8B0000"/>
                    </a:solidFill>
                    <a:effectLst/>
                    <a:latin typeface="Arial" pitchFamily="34" charset="0"/>
                    <a:cs typeface="Arial" pitchFamily="34" charset="0"/>
                  </a:rPr>
                  <a:t>resultTime  :TM_Instant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75" name="Rectangle 67"/>
              <p:cNvSpPr>
                <a:spLocks noChangeArrowheads="1"/>
              </p:cNvSpPr>
              <p:nvPr/>
            </p:nvSpPr>
            <p:spPr bwMode="auto">
              <a:xfrm>
                <a:off x="3621045" y="2075381"/>
                <a:ext cx="69018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8B0000"/>
                    </a:solidFill>
                    <a:effectLst/>
                    <a:latin typeface="Arial" pitchFamily="34" charset="0"/>
                    <a:cs typeface="Arial" pitchFamily="34" charset="0"/>
                  </a:rPr>
                  <a:t>+ 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76" name="Rectangle 68"/>
              <p:cNvSpPr>
                <a:spLocks noChangeArrowheads="1"/>
              </p:cNvSpPr>
              <p:nvPr/>
            </p:nvSpPr>
            <p:spPr bwMode="auto">
              <a:xfrm>
                <a:off x="3717670" y="2075381"/>
                <a:ext cx="652217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8B0000"/>
                    </a:solidFill>
                    <a:effectLst/>
                    <a:latin typeface="Arial" pitchFamily="34" charset="0"/>
                    <a:cs typeface="Arial" pitchFamily="34" charset="0"/>
                  </a:rPr>
                  <a:t>validTime  :TM_Period [0..1]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77" name="Line 69"/>
              <p:cNvSpPr>
                <a:spLocks noChangeShapeType="1"/>
              </p:cNvSpPr>
              <p:nvPr/>
            </p:nvSpPr>
            <p:spPr bwMode="auto">
              <a:xfrm>
                <a:off x="3593438" y="2166887"/>
                <a:ext cx="2198212" cy="1635"/>
              </a:xfrm>
              <a:prstGeom prst="line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78" name="Rectangle 70"/>
              <p:cNvSpPr>
                <a:spLocks noChangeArrowheads="1"/>
              </p:cNvSpPr>
              <p:nvPr/>
            </p:nvSpPr>
            <p:spPr bwMode="auto">
              <a:xfrm>
                <a:off x="4551057" y="2188130"/>
                <a:ext cx="267444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1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constraints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79" name="Rectangle 71"/>
              <p:cNvSpPr>
                <a:spLocks noChangeArrowheads="1"/>
              </p:cNvSpPr>
              <p:nvPr/>
            </p:nvSpPr>
            <p:spPr bwMode="auto">
              <a:xfrm>
                <a:off x="3621045" y="2258393"/>
                <a:ext cx="1835869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{observedProperty shall be a phenomenon associated with the feature of interest}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80" name="Rectangle 72"/>
              <p:cNvSpPr>
                <a:spLocks noChangeArrowheads="1"/>
              </p:cNvSpPr>
              <p:nvPr/>
            </p:nvSpPr>
            <p:spPr bwMode="auto">
              <a:xfrm>
                <a:off x="3621045" y="2328657"/>
                <a:ext cx="114569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{procedure shall be suitable for observedProperty}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81" name="Rectangle 73"/>
              <p:cNvSpPr>
                <a:spLocks noChangeArrowheads="1"/>
              </p:cNvSpPr>
              <p:nvPr/>
            </p:nvSpPr>
            <p:spPr bwMode="auto">
              <a:xfrm>
                <a:off x="3621045" y="2397287"/>
                <a:ext cx="1150870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{result type shall be suitable for observedProperty}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82" name="Rectangle 74"/>
              <p:cNvSpPr>
                <a:spLocks noChangeArrowheads="1"/>
              </p:cNvSpPr>
              <p:nvPr/>
            </p:nvSpPr>
            <p:spPr bwMode="auto">
              <a:xfrm>
                <a:off x="3621045" y="2467550"/>
                <a:ext cx="1195731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{a parameter.name shall not appear more than once}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483" name="Rectangle 75"/>
              <p:cNvSpPr>
                <a:spLocks noChangeArrowheads="1"/>
              </p:cNvSpPr>
              <p:nvPr/>
            </p:nvSpPr>
            <p:spPr bwMode="auto">
              <a:xfrm>
                <a:off x="5151511" y="3982300"/>
                <a:ext cx="1071499" cy="446092"/>
              </a:xfrm>
              <a:prstGeom prst="rect">
                <a:avLst/>
              </a:prstGeom>
              <a:solidFill>
                <a:srgbClr val="C0BF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84" name="Rectangle 76"/>
              <p:cNvSpPr>
                <a:spLocks noChangeArrowheads="1"/>
              </p:cNvSpPr>
              <p:nvPr/>
            </p:nvSpPr>
            <p:spPr bwMode="auto">
              <a:xfrm>
                <a:off x="5151511" y="3982300"/>
                <a:ext cx="1071499" cy="446092"/>
              </a:xfrm>
              <a:prstGeom prst="rect">
                <a:avLst/>
              </a:prstGeom>
              <a:noFill/>
              <a:ln w="4763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85" name="Rectangle 77"/>
              <p:cNvSpPr>
                <a:spLocks noChangeArrowheads="1"/>
              </p:cNvSpPr>
              <p:nvPr/>
            </p:nvSpPr>
            <p:spPr bwMode="auto">
              <a:xfrm>
                <a:off x="5134256" y="3965960"/>
                <a:ext cx="560769" cy="446092"/>
              </a:xfrm>
              <a:prstGeom prst="rect">
                <a:avLst/>
              </a:prstGeom>
              <a:solidFill>
                <a:srgbClr val="FFC0C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86" name="Rectangle 78"/>
              <p:cNvSpPr>
                <a:spLocks noChangeArrowheads="1"/>
              </p:cNvSpPr>
              <p:nvPr/>
            </p:nvSpPr>
            <p:spPr bwMode="auto">
              <a:xfrm>
                <a:off x="5695025" y="3965960"/>
                <a:ext cx="22431" cy="446092"/>
              </a:xfrm>
              <a:prstGeom prst="rect">
                <a:avLst/>
              </a:prstGeom>
              <a:solidFill>
                <a:srgbClr val="FEBEC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87" name="Rectangle 79"/>
              <p:cNvSpPr>
                <a:spLocks noChangeArrowheads="1"/>
              </p:cNvSpPr>
              <p:nvPr/>
            </p:nvSpPr>
            <p:spPr bwMode="auto">
              <a:xfrm>
                <a:off x="5717455" y="3965960"/>
                <a:ext cx="29333" cy="446092"/>
              </a:xfrm>
              <a:prstGeom prst="rect">
                <a:avLst/>
              </a:prstGeom>
              <a:solidFill>
                <a:srgbClr val="FEBCC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88" name="Rectangle 80"/>
              <p:cNvSpPr>
                <a:spLocks noChangeArrowheads="1"/>
              </p:cNvSpPr>
              <p:nvPr/>
            </p:nvSpPr>
            <p:spPr bwMode="auto">
              <a:xfrm>
                <a:off x="5746788" y="3965960"/>
                <a:ext cx="27607" cy="446092"/>
              </a:xfrm>
              <a:prstGeom prst="rect">
                <a:avLst/>
              </a:prstGeom>
              <a:solidFill>
                <a:srgbClr val="FDBAC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89" name="Rectangle 81"/>
              <p:cNvSpPr>
                <a:spLocks noChangeArrowheads="1"/>
              </p:cNvSpPr>
              <p:nvPr/>
            </p:nvSpPr>
            <p:spPr bwMode="auto">
              <a:xfrm>
                <a:off x="5774395" y="3965960"/>
                <a:ext cx="22431" cy="446092"/>
              </a:xfrm>
              <a:prstGeom prst="rect">
                <a:avLst/>
              </a:prstGeom>
              <a:solidFill>
                <a:srgbClr val="FBB9C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90" name="Rectangle 82"/>
              <p:cNvSpPr>
                <a:spLocks noChangeArrowheads="1"/>
              </p:cNvSpPr>
              <p:nvPr/>
            </p:nvSpPr>
            <p:spPr bwMode="auto">
              <a:xfrm>
                <a:off x="5796826" y="3965960"/>
                <a:ext cx="29333" cy="446092"/>
              </a:xfrm>
              <a:prstGeom prst="rect">
                <a:avLst/>
              </a:prstGeom>
              <a:solidFill>
                <a:srgbClr val="FAB7C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91" name="Rectangle 83"/>
              <p:cNvSpPr>
                <a:spLocks noChangeArrowheads="1"/>
              </p:cNvSpPr>
              <p:nvPr/>
            </p:nvSpPr>
            <p:spPr bwMode="auto">
              <a:xfrm>
                <a:off x="5826159" y="3965960"/>
                <a:ext cx="27607" cy="446092"/>
              </a:xfrm>
              <a:prstGeom prst="rect">
                <a:avLst/>
              </a:prstGeom>
              <a:solidFill>
                <a:srgbClr val="F9B5C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92" name="Rectangle 84"/>
              <p:cNvSpPr>
                <a:spLocks noChangeArrowheads="1"/>
              </p:cNvSpPr>
              <p:nvPr/>
            </p:nvSpPr>
            <p:spPr bwMode="auto">
              <a:xfrm>
                <a:off x="5853766" y="3965960"/>
                <a:ext cx="29333" cy="446092"/>
              </a:xfrm>
              <a:prstGeom prst="rect">
                <a:avLst/>
              </a:prstGeom>
              <a:solidFill>
                <a:srgbClr val="F9B3B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93" name="Rectangle 85"/>
              <p:cNvSpPr>
                <a:spLocks noChangeArrowheads="1"/>
              </p:cNvSpPr>
              <p:nvPr/>
            </p:nvSpPr>
            <p:spPr bwMode="auto">
              <a:xfrm>
                <a:off x="5883098" y="3965960"/>
                <a:ext cx="32784" cy="446092"/>
              </a:xfrm>
              <a:prstGeom prst="rect">
                <a:avLst/>
              </a:prstGeom>
              <a:solidFill>
                <a:srgbClr val="F7B1B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94" name="Rectangle 86"/>
              <p:cNvSpPr>
                <a:spLocks noChangeArrowheads="1"/>
              </p:cNvSpPr>
              <p:nvPr/>
            </p:nvSpPr>
            <p:spPr bwMode="auto">
              <a:xfrm>
                <a:off x="5915882" y="3965960"/>
                <a:ext cx="29333" cy="446092"/>
              </a:xfrm>
              <a:prstGeom prst="rect">
                <a:avLst/>
              </a:prstGeom>
              <a:solidFill>
                <a:srgbClr val="F6AFB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95" name="Rectangle 87"/>
              <p:cNvSpPr>
                <a:spLocks noChangeArrowheads="1"/>
              </p:cNvSpPr>
              <p:nvPr/>
            </p:nvSpPr>
            <p:spPr bwMode="auto">
              <a:xfrm>
                <a:off x="5945213" y="3965960"/>
                <a:ext cx="22431" cy="446092"/>
              </a:xfrm>
              <a:prstGeom prst="rect">
                <a:avLst/>
              </a:prstGeom>
              <a:solidFill>
                <a:srgbClr val="F5ADB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96" name="Rectangle 88"/>
              <p:cNvSpPr>
                <a:spLocks noChangeArrowheads="1"/>
              </p:cNvSpPr>
              <p:nvPr/>
            </p:nvSpPr>
            <p:spPr bwMode="auto">
              <a:xfrm>
                <a:off x="5967645" y="3965960"/>
                <a:ext cx="22431" cy="446092"/>
              </a:xfrm>
              <a:prstGeom prst="rect">
                <a:avLst/>
              </a:prstGeom>
              <a:solidFill>
                <a:srgbClr val="F4ACB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97" name="Rectangle 89"/>
              <p:cNvSpPr>
                <a:spLocks noChangeArrowheads="1"/>
              </p:cNvSpPr>
              <p:nvPr/>
            </p:nvSpPr>
            <p:spPr bwMode="auto">
              <a:xfrm>
                <a:off x="5990075" y="3965960"/>
                <a:ext cx="22431" cy="446092"/>
              </a:xfrm>
              <a:prstGeom prst="rect">
                <a:avLst/>
              </a:prstGeom>
              <a:solidFill>
                <a:srgbClr val="F3AAB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98" name="Rectangle 90"/>
              <p:cNvSpPr>
                <a:spLocks noChangeArrowheads="1"/>
              </p:cNvSpPr>
              <p:nvPr/>
            </p:nvSpPr>
            <p:spPr bwMode="auto">
              <a:xfrm>
                <a:off x="6012506" y="3965960"/>
                <a:ext cx="22431" cy="446092"/>
              </a:xfrm>
              <a:prstGeom prst="rect">
                <a:avLst/>
              </a:prstGeom>
              <a:solidFill>
                <a:srgbClr val="F3A8B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499" name="Rectangle 91"/>
              <p:cNvSpPr>
                <a:spLocks noChangeArrowheads="1"/>
              </p:cNvSpPr>
              <p:nvPr/>
            </p:nvSpPr>
            <p:spPr bwMode="auto">
              <a:xfrm>
                <a:off x="6034936" y="3965960"/>
                <a:ext cx="17254" cy="446092"/>
              </a:xfrm>
              <a:prstGeom prst="rect">
                <a:avLst/>
              </a:prstGeom>
              <a:solidFill>
                <a:srgbClr val="F2A7B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00" name="Rectangle 92"/>
              <p:cNvSpPr>
                <a:spLocks noChangeArrowheads="1"/>
              </p:cNvSpPr>
              <p:nvPr/>
            </p:nvSpPr>
            <p:spPr bwMode="auto">
              <a:xfrm>
                <a:off x="6052191" y="3965960"/>
                <a:ext cx="29333" cy="446092"/>
              </a:xfrm>
              <a:prstGeom prst="rect">
                <a:avLst/>
              </a:prstGeom>
              <a:solidFill>
                <a:srgbClr val="F1A5B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01" name="Rectangle 93"/>
              <p:cNvSpPr>
                <a:spLocks noChangeArrowheads="1"/>
              </p:cNvSpPr>
              <p:nvPr/>
            </p:nvSpPr>
            <p:spPr bwMode="auto">
              <a:xfrm>
                <a:off x="6081524" y="3965960"/>
                <a:ext cx="27607" cy="446092"/>
              </a:xfrm>
              <a:prstGeom prst="rect">
                <a:avLst/>
              </a:prstGeom>
              <a:solidFill>
                <a:srgbClr val="F0A3B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02" name="Rectangle 94"/>
              <p:cNvSpPr>
                <a:spLocks noChangeArrowheads="1"/>
              </p:cNvSpPr>
              <p:nvPr/>
            </p:nvSpPr>
            <p:spPr bwMode="auto">
              <a:xfrm>
                <a:off x="6109131" y="3965960"/>
                <a:ext cx="22431" cy="446092"/>
              </a:xfrm>
              <a:prstGeom prst="rect">
                <a:avLst/>
              </a:prstGeom>
              <a:solidFill>
                <a:srgbClr val="EFA2A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03" name="Rectangle 95"/>
              <p:cNvSpPr>
                <a:spLocks noChangeArrowheads="1"/>
              </p:cNvSpPr>
              <p:nvPr/>
            </p:nvSpPr>
            <p:spPr bwMode="auto">
              <a:xfrm>
                <a:off x="6131561" y="3965960"/>
                <a:ext cx="17254" cy="446092"/>
              </a:xfrm>
              <a:prstGeom prst="rect">
                <a:avLst/>
              </a:prstGeom>
              <a:solidFill>
                <a:srgbClr val="EEA0A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04" name="Rectangle 96"/>
              <p:cNvSpPr>
                <a:spLocks noChangeArrowheads="1"/>
              </p:cNvSpPr>
              <p:nvPr/>
            </p:nvSpPr>
            <p:spPr bwMode="auto">
              <a:xfrm>
                <a:off x="6148815" y="3965960"/>
                <a:ext cx="27607" cy="446092"/>
              </a:xfrm>
              <a:prstGeom prst="rect">
                <a:avLst/>
              </a:prstGeom>
              <a:solidFill>
                <a:srgbClr val="EE9FA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05" name="Rectangle 97"/>
              <p:cNvSpPr>
                <a:spLocks noChangeArrowheads="1"/>
              </p:cNvSpPr>
              <p:nvPr/>
            </p:nvSpPr>
            <p:spPr bwMode="auto">
              <a:xfrm>
                <a:off x="6176423" y="3965960"/>
                <a:ext cx="24156" cy="446092"/>
              </a:xfrm>
              <a:prstGeom prst="rect">
                <a:avLst/>
              </a:prstGeom>
              <a:solidFill>
                <a:srgbClr val="EC9D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06" name="Rectangle 98"/>
              <p:cNvSpPr>
                <a:spLocks noChangeArrowheads="1"/>
              </p:cNvSpPr>
              <p:nvPr/>
            </p:nvSpPr>
            <p:spPr bwMode="auto">
              <a:xfrm>
                <a:off x="6200579" y="3965960"/>
                <a:ext cx="5177" cy="446092"/>
              </a:xfrm>
              <a:prstGeom prst="rect">
                <a:avLst/>
              </a:prstGeom>
              <a:solidFill>
                <a:srgbClr val="EB9BA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07" name="Rectangle 99"/>
              <p:cNvSpPr>
                <a:spLocks noChangeArrowheads="1"/>
              </p:cNvSpPr>
              <p:nvPr/>
            </p:nvSpPr>
            <p:spPr bwMode="auto">
              <a:xfrm>
                <a:off x="5134256" y="3965960"/>
                <a:ext cx="1071499" cy="446092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08" name="Rectangle 100"/>
              <p:cNvSpPr>
                <a:spLocks noChangeArrowheads="1"/>
              </p:cNvSpPr>
              <p:nvPr/>
            </p:nvSpPr>
            <p:spPr bwMode="auto">
              <a:xfrm>
                <a:off x="5298174" y="4013346"/>
                <a:ext cx="664295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Units of Measure::Measure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509" name="Rectangle 101"/>
              <p:cNvSpPr>
                <a:spLocks noChangeArrowheads="1"/>
              </p:cNvSpPr>
              <p:nvPr/>
            </p:nvSpPr>
            <p:spPr bwMode="auto">
              <a:xfrm>
                <a:off x="6034936" y="4083610"/>
                <a:ext cx="141486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{root}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510" name="Line 102"/>
              <p:cNvSpPr>
                <a:spLocks noChangeShapeType="1"/>
              </p:cNvSpPr>
              <p:nvPr/>
            </p:nvSpPr>
            <p:spPr bwMode="auto">
              <a:xfrm>
                <a:off x="5134256" y="4180018"/>
                <a:ext cx="1071499" cy="1635"/>
              </a:xfrm>
              <a:prstGeom prst="line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11" name="Rectangle 103"/>
              <p:cNvSpPr>
                <a:spLocks noChangeArrowheads="1"/>
              </p:cNvSpPr>
              <p:nvPr/>
            </p:nvSpPr>
            <p:spPr bwMode="auto">
              <a:xfrm>
                <a:off x="5163589" y="4202894"/>
                <a:ext cx="69018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8B0000"/>
                    </a:solidFill>
                    <a:effectLst/>
                    <a:latin typeface="Arial" pitchFamily="34" charset="0"/>
                    <a:cs typeface="Arial" pitchFamily="34" charset="0"/>
                  </a:rPr>
                  <a:t>+ 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512" name="Rectangle 104"/>
              <p:cNvSpPr>
                <a:spLocks noChangeArrowheads="1"/>
              </p:cNvSpPr>
              <p:nvPr/>
            </p:nvSpPr>
            <p:spPr bwMode="auto">
              <a:xfrm>
                <a:off x="5258488" y="4202894"/>
                <a:ext cx="36234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8B0000"/>
                    </a:solidFill>
                    <a:effectLst/>
                    <a:latin typeface="Arial" pitchFamily="34" charset="0"/>
                    <a:cs typeface="Arial" pitchFamily="34" charset="0"/>
                  </a:rPr>
                  <a:t>value  :Number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513" name="Line 105"/>
              <p:cNvSpPr>
                <a:spLocks noChangeShapeType="1"/>
              </p:cNvSpPr>
              <p:nvPr/>
            </p:nvSpPr>
            <p:spPr bwMode="auto">
              <a:xfrm>
                <a:off x="5134256" y="4292767"/>
                <a:ext cx="1071499" cy="1635"/>
              </a:xfrm>
              <a:prstGeom prst="line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14" name="Rectangle 106"/>
              <p:cNvSpPr>
                <a:spLocks noChangeArrowheads="1"/>
              </p:cNvSpPr>
              <p:nvPr/>
            </p:nvSpPr>
            <p:spPr bwMode="auto">
              <a:xfrm>
                <a:off x="5163589" y="4315643"/>
                <a:ext cx="69018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4040"/>
                    </a:solidFill>
                    <a:effectLst/>
                    <a:latin typeface="Arial" pitchFamily="34" charset="0"/>
                    <a:cs typeface="Arial" pitchFamily="34" charset="0"/>
                  </a:rPr>
                  <a:t>+ 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515" name="Rectangle 107"/>
              <p:cNvSpPr>
                <a:spLocks noChangeArrowheads="1"/>
              </p:cNvSpPr>
              <p:nvPr/>
            </p:nvSpPr>
            <p:spPr bwMode="auto">
              <a:xfrm>
                <a:off x="5258488" y="4315643"/>
                <a:ext cx="816134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dirty="0" smtClean="0">
                    <a:ln>
                      <a:noFill/>
                    </a:ln>
                    <a:solidFill>
                      <a:srgbClr val="004040"/>
                    </a:solidFill>
                    <a:effectLst/>
                    <a:latin typeface="Arial" pitchFamily="34" charset="0"/>
                    <a:cs typeface="Arial" pitchFamily="34" charset="0"/>
                  </a:rPr>
                  <a:t>convert(</a:t>
                </a:r>
                <a:r>
                  <a:rPr kumimoji="0" lang="en-US" sz="400" b="0" i="0" u="none" strike="noStrike" cap="none" normalizeH="0" baseline="0" dirty="0" err="1" smtClean="0">
                    <a:ln>
                      <a:noFill/>
                    </a:ln>
                    <a:solidFill>
                      <a:srgbClr val="004040"/>
                    </a:solidFill>
                    <a:effectLst/>
                    <a:latin typeface="Arial" pitchFamily="34" charset="0"/>
                    <a:cs typeface="Arial" pitchFamily="34" charset="0"/>
                  </a:rPr>
                  <a:t>UnitOfMeasure</a:t>
                </a:r>
                <a:r>
                  <a:rPr kumimoji="0" lang="en-US" sz="400" b="0" i="0" u="none" strike="noStrike" cap="none" normalizeH="0" baseline="0" dirty="0" smtClean="0">
                    <a:ln>
                      <a:noFill/>
                    </a:ln>
                    <a:solidFill>
                      <a:srgbClr val="004040"/>
                    </a:solidFill>
                    <a:effectLst/>
                    <a:latin typeface="Arial" pitchFamily="34" charset="0"/>
                    <a:cs typeface="Arial" pitchFamily="34" charset="0"/>
                  </a:rPr>
                  <a:t>*)  :Measure</a:t>
                </a:r>
                <a:endParaRPr kumimoji="0" lang="en-US" sz="1800" b="0" i="0" u="none" strike="noStrike" cap="none" normalizeH="0" baseline="0" dirty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573" name="Rectangle 165"/>
              <p:cNvSpPr>
                <a:spLocks noChangeArrowheads="1"/>
              </p:cNvSpPr>
              <p:nvPr/>
            </p:nvSpPr>
            <p:spPr bwMode="auto">
              <a:xfrm>
                <a:off x="1831762" y="2591736"/>
                <a:ext cx="860996" cy="338246"/>
              </a:xfrm>
              <a:prstGeom prst="rect">
                <a:avLst/>
              </a:prstGeom>
              <a:solidFill>
                <a:srgbClr val="C0BF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74" name="Rectangle 166"/>
              <p:cNvSpPr>
                <a:spLocks noChangeArrowheads="1"/>
              </p:cNvSpPr>
              <p:nvPr/>
            </p:nvSpPr>
            <p:spPr bwMode="auto">
              <a:xfrm>
                <a:off x="1831762" y="2591736"/>
                <a:ext cx="860996" cy="338246"/>
              </a:xfrm>
              <a:prstGeom prst="rect">
                <a:avLst/>
              </a:prstGeom>
              <a:noFill/>
              <a:ln w="4763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75" name="Rectangle 167"/>
              <p:cNvSpPr>
                <a:spLocks noChangeArrowheads="1"/>
              </p:cNvSpPr>
              <p:nvPr/>
            </p:nvSpPr>
            <p:spPr bwMode="auto">
              <a:xfrm>
                <a:off x="1814508" y="2575396"/>
                <a:ext cx="446890" cy="338246"/>
              </a:xfrm>
              <a:prstGeom prst="rect">
                <a:avLst/>
              </a:prstGeom>
              <a:solidFill>
                <a:srgbClr val="FFC0C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76" name="Rectangle 168"/>
              <p:cNvSpPr>
                <a:spLocks noChangeArrowheads="1"/>
              </p:cNvSpPr>
              <p:nvPr/>
            </p:nvSpPr>
            <p:spPr bwMode="auto">
              <a:xfrm>
                <a:off x="2261398" y="2575396"/>
                <a:ext cx="17254" cy="338246"/>
              </a:xfrm>
              <a:prstGeom prst="rect">
                <a:avLst/>
              </a:prstGeom>
              <a:solidFill>
                <a:srgbClr val="FEBEC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77" name="Rectangle 169"/>
              <p:cNvSpPr>
                <a:spLocks noChangeArrowheads="1"/>
              </p:cNvSpPr>
              <p:nvPr/>
            </p:nvSpPr>
            <p:spPr bwMode="auto">
              <a:xfrm>
                <a:off x="2278652" y="2575396"/>
                <a:ext cx="17254" cy="338246"/>
              </a:xfrm>
              <a:prstGeom prst="rect">
                <a:avLst/>
              </a:prstGeom>
              <a:solidFill>
                <a:srgbClr val="FEBDC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78" name="Rectangle 170"/>
              <p:cNvSpPr>
                <a:spLocks noChangeArrowheads="1"/>
              </p:cNvSpPr>
              <p:nvPr/>
            </p:nvSpPr>
            <p:spPr bwMode="auto">
              <a:xfrm>
                <a:off x="2295907" y="2575396"/>
                <a:ext cx="27607" cy="338246"/>
              </a:xfrm>
              <a:prstGeom prst="rect">
                <a:avLst/>
              </a:prstGeom>
              <a:solidFill>
                <a:srgbClr val="FDBBC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79" name="Rectangle 171"/>
              <p:cNvSpPr>
                <a:spLocks noChangeArrowheads="1"/>
              </p:cNvSpPr>
              <p:nvPr/>
            </p:nvSpPr>
            <p:spPr bwMode="auto">
              <a:xfrm>
                <a:off x="2323514" y="2575396"/>
                <a:ext cx="22431" cy="338246"/>
              </a:xfrm>
              <a:prstGeom prst="rect">
                <a:avLst/>
              </a:prstGeom>
              <a:solidFill>
                <a:srgbClr val="FCB9C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80" name="Rectangle 172"/>
              <p:cNvSpPr>
                <a:spLocks noChangeArrowheads="1"/>
              </p:cNvSpPr>
              <p:nvPr/>
            </p:nvSpPr>
            <p:spPr bwMode="auto">
              <a:xfrm>
                <a:off x="2345944" y="2575396"/>
                <a:ext cx="24156" cy="338246"/>
              </a:xfrm>
              <a:prstGeom prst="rect">
                <a:avLst/>
              </a:prstGeom>
              <a:solidFill>
                <a:srgbClr val="FAB7C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81" name="Rectangle 173"/>
              <p:cNvSpPr>
                <a:spLocks noChangeArrowheads="1"/>
              </p:cNvSpPr>
              <p:nvPr/>
            </p:nvSpPr>
            <p:spPr bwMode="auto">
              <a:xfrm>
                <a:off x="2370100" y="2575396"/>
                <a:ext cx="22431" cy="338246"/>
              </a:xfrm>
              <a:prstGeom prst="rect">
                <a:avLst/>
              </a:prstGeom>
              <a:solidFill>
                <a:srgbClr val="F9B5C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82" name="Rectangle 174"/>
              <p:cNvSpPr>
                <a:spLocks noChangeArrowheads="1"/>
              </p:cNvSpPr>
              <p:nvPr/>
            </p:nvSpPr>
            <p:spPr bwMode="auto">
              <a:xfrm>
                <a:off x="2392531" y="2575396"/>
                <a:ext cx="22431" cy="338246"/>
              </a:xfrm>
              <a:prstGeom prst="rect">
                <a:avLst/>
              </a:prstGeom>
              <a:solidFill>
                <a:srgbClr val="F9B3B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83" name="Rectangle 175"/>
              <p:cNvSpPr>
                <a:spLocks noChangeArrowheads="1"/>
              </p:cNvSpPr>
              <p:nvPr/>
            </p:nvSpPr>
            <p:spPr bwMode="auto">
              <a:xfrm>
                <a:off x="2414961" y="2575396"/>
                <a:ext cx="22431" cy="338246"/>
              </a:xfrm>
              <a:prstGeom prst="rect">
                <a:avLst/>
              </a:prstGeom>
              <a:solidFill>
                <a:srgbClr val="F8B1B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84" name="Rectangle 176"/>
              <p:cNvSpPr>
                <a:spLocks noChangeArrowheads="1"/>
              </p:cNvSpPr>
              <p:nvPr/>
            </p:nvSpPr>
            <p:spPr bwMode="auto">
              <a:xfrm>
                <a:off x="2437393" y="2575396"/>
                <a:ext cx="17254" cy="338246"/>
              </a:xfrm>
              <a:prstGeom prst="rect">
                <a:avLst/>
              </a:prstGeom>
              <a:solidFill>
                <a:srgbClr val="F6B0B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85" name="Rectangle 177"/>
              <p:cNvSpPr>
                <a:spLocks noChangeArrowheads="1"/>
              </p:cNvSpPr>
              <p:nvPr/>
            </p:nvSpPr>
            <p:spPr bwMode="auto">
              <a:xfrm>
                <a:off x="2454647" y="2575396"/>
                <a:ext cx="22431" cy="338246"/>
              </a:xfrm>
              <a:prstGeom prst="rect">
                <a:avLst/>
              </a:prstGeom>
              <a:solidFill>
                <a:srgbClr val="F5AEB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86" name="Rectangle 178"/>
              <p:cNvSpPr>
                <a:spLocks noChangeArrowheads="1"/>
              </p:cNvSpPr>
              <p:nvPr/>
            </p:nvSpPr>
            <p:spPr bwMode="auto">
              <a:xfrm>
                <a:off x="2477077" y="2575396"/>
                <a:ext cx="17254" cy="338246"/>
              </a:xfrm>
              <a:prstGeom prst="rect">
                <a:avLst/>
              </a:prstGeom>
              <a:solidFill>
                <a:srgbClr val="F4ACB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87" name="Rectangle 179"/>
              <p:cNvSpPr>
                <a:spLocks noChangeArrowheads="1"/>
              </p:cNvSpPr>
              <p:nvPr/>
            </p:nvSpPr>
            <p:spPr bwMode="auto">
              <a:xfrm>
                <a:off x="2494332" y="2575396"/>
                <a:ext cx="17254" cy="338246"/>
              </a:xfrm>
              <a:prstGeom prst="rect">
                <a:avLst/>
              </a:prstGeom>
              <a:solidFill>
                <a:srgbClr val="F4ABB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88" name="Rectangle 180"/>
              <p:cNvSpPr>
                <a:spLocks noChangeArrowheads="1"/>
              </p:cNvSpPr>
              <p:nvPr/>
            </p:nvSpPr>
            <p:spPr bwMode="auto">
              <a:xfrm>
                <a:off x="2511586" y="2575396"/>
                <a:ext cx="22431" cy="338246"/>
              </a:xfrm>
              <a:prstGeom prst="rect">
                <a:avLst/>
              </a:prstGeom>
              <a:solidFill>
                <a:srgbClr val="F3A9B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89" name="Rectangle 181"/>
              <p:cNvSpPr>
                <a:spLocks noChangeArrowheads="1"/>
              </p:cNvSpPr>
              <p:nvPr/>
            </p:nvSpPr>
            <p:spPr bwMode="auto">
              <a:xfrm>
                <a:off x="2534017" y="2575396"/>
                <a:ext cx="17254" cy="338246"/>
              </a:xfrm>
              <a:prstGeom prst="rect">
                <a:avLst/>
              </a:prstGeom>
              <a:solidFill>
                <a:srgbClr val="F2A7B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90" name="Rectangle 182"/>
              <p:cNvSpPr>
                <a:spLocks noChangeArrowheads="1"/>
              </p:cNvSpPr>
              <p:nvPr/>
            </p:nvSpPr>
            <p:spPr bwMode="auto">
              <a:xfrm>
                <a:off x="2551272" y="2575396"/>
                <a:ext cx="17254" cy="338246"/>
              </a:xfrm>
              <a:prstGeom prst="rect">
                <a:avLst/>
              </a:prstGeom>
              <a:solidFill>
                <a:srgbClr val="F1A6B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91" name="Rectangle 183"/>
              <p:cNvSpPr>
                <a:spLocks noChangeArrowheads="1"/>
              </p:cNvSpPr>
              <p:nvPr/>
            </p:nvSpPr>
            <p:spPr bwMode="auto">
              <a:xfrm>
                <a:off x="2568526" y="2575396"/>
                <a:ext cx="15530" cy="338246"/>
              </a:xfrm>
              <a:prstGeom prst="rect">
                <a:avLst/>
              </a:prstGeom>
              <a:solidFill>
                <a:srgbClr val="F0A4B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92" name="Rectangle 184"/>
              <p:cNvSpPr>
                <a:spLocks noChangeArrowheads="1"/>
              </p:cNvSpPr>
              <p:nvPr/>
            </p:nvSpPr>
            <p:spPr bwMode="auto">
              <a:xfrm>
                <a:off x="2584055" y="2575396"/>
                <a:ext cx="17254" cy="338246"/>
              </a:xfrm>
              <a:prstGeom prst="rect">
                <a:avLst/>
              </a:prstGeom>
              <a:solidFill>
                <a:srgbClr val="EFA3B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93" name="Rectangle 185"/>
              <p:cNvSpPr>
                <a:spLocks noChangeArrowheads="1"/>
              </p:cNvSpPr>
              <p:nvPr/>
            </p:nvSpPr>
            <p:spPr bwMode="auto">
              <a:xfrm>
                <a:off x="2601309" y="2575396"/>
                <a:ext cx="17254" cy="338246"/>
              </a:xfrm>
              <a:prstGeom prst="rect">
                <a:avLst/>
              </a:prstGeom>
              <a:solidFill>
                <a:srgbClr val="EFA1A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94" name="Rectangle 186"/>
              <p:cNvSpPr>
                <a:spLocks noChangeArrowheads="1"/>
              </p:cNvSpPr>
              <p:nvPr/>
            </p:nvSpPr>
            <p:spPr bwMode="auto">
              <a:xfrm>
                <a:off x="2618563" y="2575396"/>
                <a:ext cx="22431" cy="338246"/>
              </a:xfrm>
              <a:prstGeom prst="rect">
                <a:avLst/>
              </a:prstGeom>
              <a:solidFill>
                <a:srgbClr val="EEA0A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95" name="Rectangle 187"/>
              <p:cNvSpPr>
                <a:spLocks noChangeArrowheads="1"/>
              </p:cNvSpPr>
              <p:nvPr/>
            </p:nvSpPr>
            <p:spPr bwMode="auto">
              <a:xfrm>
                <a:off x="2640995" y="2575396"/>
                <a:ext cx="17254" cy="338246"/>
              </a:xfrm>
              <a:prstGeom prst="rect">
                <a:avLst/>
              </a:prstGeom>
              <a:solidFill>
                <a:srgbClr val="ED9EA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96" name="Rectangle 188"/>
              <p:cNvSpPr>
                <a:spLocks noChangeArrowheads="1"/>
              </p:cNvSpPr>
              <p:nvPr/>
            </p:nvSpPr>
            <p:spPr bwMode="auto">
              <a:xfrm>
                <a:off x="2658249" y="2575396"/>
                <a:ext cx="17254" cy="338246"/>
              </a:xfrm>
              <a:prstGeom prst="rect">
                <a:avLst/>
              </a:prstGeom>
              <a:solidFill>
                <a:srgbClr val="EB9CA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97" name="Rectangle 189"/>
              <p:cNvSpPr>
                <a:spLocks noChangeArrowheads="1"/>
              </p:cNvSpPr>
              <p:nvPr/>
            </p:nvSpPr>
            <p:spPr bwMode="auto">
              <a:xfrm>
                <a:off x="1814508" y="2575396"/>
                <a:ext cx="860996" cy="338246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598" name="Rectangle 190"/>
              <p:cNvSpPr>
                <a:spLocks noChangeArrowheads="1"/>
              </p:cNvSpPr>
              <p:nvPr/>
            </p:nvSpPr>
            <p:spPr bwMode="auto">
              <a:xfrm>
                <a:off x="2080226" y="2606443"/>
                <a:ext cx="307128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«metaclass»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599" name="Rectangle 191"/>
              <p:cNvSpPr>
                <a:spLocks noChangeArrowheads="1"/>
              </p:cNvSpPr>
              <p:nvPr/>
            </p:nvSpPr>
            <p:spPr bwMode="auto">
              <a:xfrm>
                <a:off x="1911133" y="2676706"/>
                <a:ext cx="595278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General Feature Model::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600" name="Rectangle 192"/>
              <p:cNvSpPr>
                <a:spLocks noChangeArrowheads="1"/>
              </p:cNvSpPr>
              <p:nvPr/>
            </p:nvSpPr>
            <p:spPr bwMode="auto">
              <a:xfrm>
                <a:off x="2012934" y="2746970"/>
                <a:ext cx="448615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GF_PropertyType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601" name="Rectangle 193"/>
              <p:cNvSpPr>
                <a:spLocks noChangeArrowheads="1"/>
              </p:cNvSpPr>
              <p:nvPr/>
            </p:nvSpPr>
            <p:spPr bwMode="auto">
              <a:xfrm>
                <a:off x="2504684" y="2817233"/>
                <a:ext cx="141486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{root}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783" name="Group 782"/>
            <p:cNvGrpSpPr/>
            <p:nvPr/>
          </p:nvGrpSpPr>
          <p:grpSpPr>
            <a:xfrm>
              <a:off x="3638299" y="2871157"/>
              <a:ext cx="1185379" cy="1524553"/>
              <a:chOff x="3638299" y="2871157"/>
              <a:chExt cx="1185379" cy="1524553"/>
            </a:xfrm>
          </p:grpSpPr>
          <p:sp>
            <p:nvSpPr>
              <p:cNvPr id="17734" name="Rectangle 326"/>
              <p:cNvSpPr>
                <a:spLocks noChangeArrowheads="1"/>
              </p:cNvSpPr>
              <p:nvPr/>
            </p:nvSpPr>
            <p:spPr bwMode="auto">
              <a:xfrm>
                <a:off x="3655553" y="2885862"/>
                <a:ext cx="1161222" cy="328441"/>
              </a:xfrm>
              <a:prstGeom prst="rect">
                <a:avLst/>
              </a:prstGeom>
              <a:solidFill>
                <a:srgbClr val="C0BF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35" name="Rectangle 327"/>
              <p:cNvSpPr>
                <a:spLocks noChangeArrowheads="1"/>
              </p:cNvSpPr>
              <p:nvPr/>
            </p:nvSpPr>
            <p:spPr bwMode="auto">
              <a:xfrm>
                <a:off x="3655553" y="2885862"/>
                <a:ext cx="1161222" cy="328441"/>
              </a:xfrm>
              <a:prstGeom prst="rect">
                <a:avLst/>
              </a:prstGeom>
              <a:noFill/>
              <a:ln w="4763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36" name="Rectangle 328"/>
              <p:cNvSpPr>
                <a:spLocks noChangeArrowheads="1"/>
              </p:cNvSpPr>
              <p:nvPr/>
            </p:nvSpPr>
            <p:spPr bwMode="auto">
              <a:xfrm>
                <a:off x="3638299" y="2871157"/>
                <a:ext cx="607355" cy="326807"/>
              </a:xfrm>
              <a:prstGeom prst="rect">
                <a:avLst/>
              </a:prstGeom>
              <a:solidFill>
                <a:srgbClr val="FFC0C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37" name="Rectangle 329"/>
              <p:cNvSpPr>
                <a:spLocks noChangeArrowheads="1"/>
              </p:cNvSpPr>
              <p:nvPr/>
            </p:nvSpPr>
            <p:spPr bwMode="auto">
              <a:xfrm>
                <a:off x="4245654" y="2871157"/>
                <a:ext cx="22431" cy="326807"/>
              </a:xfrm>
              <a:prstGeom prst="rect">
                <a:avLst/>
              </a:prstGeom>
              <a:solidFill>
                <a:srgbClr val="FEBEC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38" name="Rectangle 330"/>
              <p:cNvSpPr>
                <a:spLocks noChangeArrowheads="1"/>
              </p:cNvSpPr>
              <p:nvPr/>
            </p:nvSpPr>
            <p:spPr bwMode="auto">
              <a:xfrm>
                <a:off x="4268086" y="2871157"/>
                <a:ext cx="22431" cy="326807"/>
              </a:xfrm>
              <a:prstGeom prst="rect">
                <a:avLst/>
              </a:prstGeom>
              <a:solidFill>
                <a:srgbClr val="FEBDC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39" name="Rectangle 331"/>
              <p:cNvSpPr>
                <a:spLocks noChangeArrowheads="1"/>
              </p:cNvSpPr>
              <p:nvPr/>
            </p:nvSpPr>
            <p:spPr bwMode="auto">
              <a:xfrm>
                <a:off x="4290516" y="2871157"/>
                <a:ext cx="34509" cy="326807"/>
              </a:xfrm>
              <a:prstGeom prst="rect">
                <a:avLst/>
              </a:prstGeom>
              <a:solidFill>
                <a:srgbClr val="FDBBC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40" name="Rectangle 332"/>
              <p:cNvSpPr>
                <a:spLocks noChangeArrowheads="1"/>
              </p:cNvSpPr>
              <p:nvPr/>
            </p:nvSpPr>
            <p:spPr bwMode="auto">
              <a:xfrm>
                <a:off x="4325025" y="2871157"/>
                <a:ext cx="32784" cy="326807"/>
              </a:xfrm>
              <a:prstGeom prst="rect">
                <a:avLst/>
              </a:prstGeom>
              <a:solidFill>
                <a:srgbClr val="FCB9C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41" name="Rectangle 333"/>
              <p:cNvSpPr>
                <a:spLocks noChangeArrowheads="1"/>
              </p:cNvSpPr>
              <p:nvPr/>
            </p:nvSpPr>
            <p:spPr bwMode="auto">
              <a:xfrm>
                <a:off x="4357809" y="2871157"/>
                <a:ext cx="29333" cy="326807"/>
              </a:xfrm>
              <a:prstGeom prst="rect">
                <a:avLst/>
              </a:prstGeom>
              <a:solidFill>
                <a:srgbClr val="FAB7C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42" name="Rectangle 334"/>
              <p:cNvSpPr>
                <a:spLocks noChangeArrowheads="1"/>
              </p:cNvSpPr>
              <p:nvPr/>
            </p:nvSpPr>
            <p:spPr bwMode="auto">
              <a:xfrm>
                <a:off x="4387141" y="2871157"/>
                <a:ext cx="32784" cy="326807"/>
              </a:xfrm>
              <a:prstGeom prst="rect">
                <a:avLst/>
              </a:prstGeom>
              <a:solidFill>
                <a:srgbClr val="F9B5C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43" name="Rectangle 335"/>
              <p:cNvSpPr>
                <a:spLocks noChangeArrowheads="1"/>
              </p:cNvSpPr>
              <p:nvPr/>
            </p:nvSpPr>
            <p:spPr bwMode="auto">
              <a:xfrm>
                <a:off x="4419924" y="2871157"/>
                <a:ext cx="29333" cy="326807"/>
              </a:xfrm>
              <a:prstGeom prst="rect">
                <a:avLst/>
              </a:prstGeom>
              <a:solidFill>
                <a:srgbClr val="F8B3B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44" name="Rectangle 336"/>
              <p:cNvSpPr>
                <a:spLocks noChangeArrowheads="1"/>
              </p:cNvSpPr>
              <p:nvPr/>
            </p:nvSpPr>
            <p:spPr bwMode="auto">
              <a:xfrm>
                <a:off x="4449256" y="2871157"/>
                <a:ext cx="27607" cy="326807"/>
              </a:xfrm>
              <a:prstGeom prst="rect">
                <a:avLst/>
              </a:prstGeom>
              <a:solidFill>
                <a:srgbClr val="F8B1B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45" name="Rectangle 337"/>
              <p:cNvSpPr>
                <a:spLocks noChangeArrowheads="1"/>
              </p:cNvSpPr>
              <p:nvPr/>
            </p:nvSpPr>
            <p:spPr bwMode="auto">
              <a:xfrm>
                <a:off x="4476864" y="2871157"/>
                <a:ext cx="29333" cy="326807"/>
              </a:xfrm>
              <a:prstGeom prst="rect">
                <a:avLst/>
              </a:prstGeom>
              <a:solidFill>
                <a:srgbClr val="F6B0B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46" name="Rectangle 338"/>
              <p:cNvSpPr>
                <a:spLocks noChangeArrowheads="1"/>
              </p:cNvSpPr>
              <p:nvPr/>
            </p:nvSpPr>
            <p:spPr bwMode="auto">
              <a:xfrm>
                <a:off x="4506197" y="2871157"/>
                <a:ext cx="27607" cy="326807"/>
              </a:xfrm>
              <a:prstGeom prst="rect">
                <a:avLst/>
              </a:prstGeom>
              <a:solidFill>
                <a:srgbClr val="F5AEB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47" name="Rectangle 339"/>
              <p:cNvSpPr>
                <a:spLocks noChangeArrowheads="1"/>
              </p:cNvSpPr>
              <p:nvPr/>
            </p:nvSpPr>
            <p:spPr bwMode="auto">
              <a:xfrm>
                <a:off x="4533804" y="2871157"/>
                <a:ext cx="22431" cy="326807"/>
              </a:xfrm>
              <a:prstGeom prst="rect">
                <a:avLst/>
              </a:prstGeom>
              <a:solidFill>
                <a:srgbClr val="F4ACB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48" name="Rectangle 340"/>
              <p:cNvSpPr>
                <a:spLocks noChangeArrowheads="1"/>
              </p:cNvSpPr>
              <p:nvPr/>
            </p:nvSpPr>
            <p:spPr bwMode="auto">
              <a:xfrm>
                <a:off x="4556234" y="2871157"/>
                <a:ext cx="22431" cy="326807"/>
              </a:xfrm>
              <a:prstGeom prst="rect">
                <a:avLst/>
              </a:prstGeom>
              <a:solidFill>
                <a:srgbClr val="F4ABB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49" name="Rectangle 341"/>
              <p:cNvSpPr>
                <a:spLocks noChangeArrowheads="1"/>
              </p:cNvSpPr>
              <p:nvPr/>
            </p:nvSpPr>
            <p:spPr bwMode="auto">
              <a:xfrm>
                <a:off x="4578665" y="2871157"/>
                <a:ext cx="29333" cy="326807"/>
              </a:xfrm>
              <a:prstGeom prst="rect">
                <a:avLst/>
              </a:prstGeom>
              <a:solidFill>
                <a:srgbClr val="F3A9B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50" name="Rectangle 342"/>
              <p:cNvSpPr>
                <a:spLocks noChangeArrowheads="1"/>
              </p:cNvSpPr>
              <p:nvPr/>
            </p:nvSpPr>
            <p:spPr bwMode="auto">
              <a:xfrm>
                <a:off x="4607997" y="2871157"/>
                <a:ext cx="22431" cy="326807"/>
              </a:xfrm>
              <a:prstGeom prst="rect">
                <a:avLst/>
              </a:prstGeom>
              <a:solidFill>
                <a:srgbClr val="F2A7B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51" name="Rectangle 343"/>
              <p:cNvSpPr>
                <a:spLocks noChangeArrowheads="1"/>
              </p:cNvSpPr>
              <p:nvPr/>
            </p:nvSpPr>
            <p:spPr bwMode="auto">
              <a:xfrm>
                <a:off x="4630428" y="2871157"/>
                <a:ext cx="22431" cy="326807"/>
              </a:xfrm>
              <a:prstGeom prst="rect">
                <a:avLst/>
              </a:prstGeom>
              <a:solidFill>
                <a:srgbClr val="F1A6B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52" name="Rectangle 344"/>
              <p:cNvSpPr>
                <a:spLocks noChangeArrowheads="1"/>
              </p:cNvSpPr>
              <p:nvPr/>
            </p:nvSpPr>
            <p:spPr bwMode="auto">
              <a:xfrm>
                <a:off x="4652859" y="2871157"/>
                <a:ext cx="27607" cy="326807"/>
              </a:xfrm>
              <a:prstGeom prst="rect">
                <a:avLst/>
              </a:prstGeom>
              <a:solidFill>
                <a:srgbClr val="F0A4B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53" name="Rectangle 345"/>
              <p:cNvSpPr>
                <a:spLocks noChangeArrowheads="1"/>
              </p:cNvSpPr>
              <p:nvPr/>
            </p:nvSpPr>
            <p:spPr bwMode="auto">
              <a:xfrm>
                <a:off x="4680466" y="2871157"/>
                <a:ext cx="24156" cy="326807"/>
              </a:xfrm>
              <a:prstGeom prst="rect">
                <a:avLst/>
              </a:prstGeom>
              <a:solidFill>
                <a:srgbClr val="EFA3B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54" name="Rectangle 346"/>
              <p:cNvSpPr>
                <a:spLocks noChangeArrowheads="1"/>
              </p:cNvSpPr>
              <p:nvPr/>
            </p:nvSpPr>
            <p:spPr bwMode="auto">
              <a:xfrm>
                <a:off x="4704622" y="2871157"/>
                <a:ext cx="15530" cy="326807"/>
              </a:xfrm>
              <a:prstGeom prst="rect">
                <a:avLst/>
              </a:prstGeom>
              <a:solidFill>
                <a:srgbClr val="EFA1A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55" name="Rectangle 347"/>
              <p:cNvSpPr>
                <a:spLocks noChangeArrowheads="1"/>
              </p:cNvSpPr>
              <p:nvPr/>
            </p:nvSpPr>
            <p:spPr bwMode="auto">
              <a:xfrm>
                <a:off x="4720151" y="2871157"/>
                <a:ext cx="34509" cy="326807"/>
              </a:xfrm>
              <a:prstGeom prst="rect">
                <a:avLst/>
              </a:prstGeom>
              <a:solidFill>
                <a:srgbClr val="EEA0A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56" name="Rectangle 348"/>
              <p:cNvSpPr>
                <a:spLocks noChangeArrowheads="1"/>
              </p:cNvSpPr>
              <p:nvPr/>
            </p:nvSpPr>
            <p:spPr bwMode="auto">
              <a:xfrm>
                <a:off x="4754660" y="2871157"/>
                <a:ext cx="22431" cy="326807"/>
              </a:xfrm>
              <a:prstGeom prst="rect">
                <a:avLst/>
              </a:prstGeom>
              <a:solidFill>
                <a:srgbClr val="ED9EA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57" name="Rectangle 349"/>
              <p:cNvSpPr>
                <a:spLocks noChangeArrowheads="1"/>
              </p:cNvSpPr>
              <p:nvPr/>
            </p:nvSpPr>
            <p:spPr bwMode="auto">
              <a:xfrm>
                <a:off x="4777090" y="2871157"/>
                <a:ext cx="17254" cy="326807"/>
              </a:xfrm>
              <a:prstGeom prst="rect">
                <a:avLst/>
              </a:prstGeom>
              <a:solidFill>
                <a:srgbClr val="EC9DA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58" name="Rectangle 350"/>
              <p:cNvSpPr>
                <a:spLocks noChangeArrowheads="1"/>
              </p:cNvSpPr>
              <p:nvPr/>
            </p:nvSpPr>
            <p:spPr bwMode="auto">
              <a:xfrm>
                <a:off x="4794345" y="2871157"/>
                <a:ext cx="5177" cy="326807"/>
              </a:xfrm>
              <a:prstGeom prst="rect">
                <a:avLst/>
              </a:prstGeom>
              <a:solidFill>
                <a:srgbClr val="EB9BA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59" name="Rectangle 351"/>
              <p:cNvSpPr>
                <a:spLocks noChangeArrowheads="1"/>
              </p:cNvSpPr>
              <p:nvPr/>
            </p:nvSpPr>
            <p:spPr bwMode="auto">
              <a:xfrm>
                <a:off x="3638299" y="2871157"/>
                <a:ext cx="1161222" cy="326807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60" name="Rectangle 352"/>
              <p:cNvSpPr>
                <a:spLocks noChangeArrowheads="1"/>
              </p:cNvSpPr>
              <p:nvPr/>
            </p:nvSpPr>
            <p:spPr bwMode="auto">
              <a:xfrm>
                <a:off x="4017896" y="2902203"/>
                <a:ext cx="36234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«FeatureType»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761" name="Rectangle 353"/>
              <p:cNvSpPr>
                <a:spLocks noChangeArrowheads="1"/>
              </p:cNvSpPr>
              <p:nvPr/>
            </p:nvSpPr>
            <p:spPr bwMode="auto">
              <a:xfrm>
                <a:off x="3898841" y="2972467"/>
                <a:ext cx="572846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coverageObservation::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762" name="Rectangle 354"/>
              <p:cNvSpPr>
                <a:spLocks noChangeArrowheads="1"/>
              </p:cNvSpPr>
              <p:nvPr/>
            </p:nvSpPr>
            <p:spPr bwMode="auto">
              <a:xfrm>
                <a:off x="3729748" y="3042730"/>
                <a:ext cx="85064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OM_DiscreteCoverageObservation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763" name="Rectangle 355"/>
              <p:cNvSpPr>
                <a:spLocks noChangeArrowheads="1"/>
              </p:cNvSpPr>
              <p:nvPr/>
            </p:nvSpPr>
            <p:spPr bwMode="auto">
              <a:xfrm>
                <a:off x="3786687" y="3461042"/>
                <a:ext cx="1036991" cy="326807"/>
              </a:xfrm>
              <a:prstGeom prst="rect">
                <a:avLst/>
              </a:prstGeom>
              <a:solidFill>
                <a:srgbClr val="C0BF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64" name="Rectangle 356"/>
              <p:cNvSpPr>
                <a:spLocks noChangeArrowheads="1"/>
              </p:cNvSpPr>
              <p:nvPr/>
            </p:nvSpPr>
            <p:spPr bwMode="auto">
              <a:xfrm>
                <a:off x="3786687" y="3461042"/>
                <a:ext cx="1036991" cy="326807"/>
              </a:xfrm>
              <a:prstGeom prst="rect">
                <a:avLst/>
              </a:prstGeom>
              <a:noFill/>
              <a:ln w="4763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65" name="Rectangle 357"/>
              <p:cNvSpPr>
                <a:spLocks noChangeArrowheads="1"/>
              </p:cNvSpPr>
              <p:nvPr/>
            </p:nvSpPr>
            <p:spPr bwMode="auto">
              <a:xfrm>
                <a:off x="3769433" y="3444702"/>
                <a:ext cx="538338" cy="328441"/>
              </a:xfrm>
              <a:prstGeom prst="rect">
                <a:avLst/>
              </a:prstGeom>
              <a:solidFill>
                <a:srgbClr val="CC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66" name="Rectangle 358"/>
              <p:cNvSpPr>
                <a:spLocks noChangeArrowheads="1"/>
              </p:cNvSpPr>
              <p:nvPr/>
            </p:nvSpPr>
            <p:spPr bwMode="auto">
              <a:xfrm>
                <a:off x="4307770" y="3444702"/>
                <a:ext cx="27607" cy="328441"/>
              </a:xfrm>
              <a:prstGeom prst="rect">
                <a:avLst/>
              </a:prstGeom>
              <a:solidFill>
                <a:srgbClr val="CAFEF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67" name="Rectangle 359"/>
              <p:cNvSpPr>
                <a:spLocks noChangeArrowheads="1"/>
              </p:cNvSpPr>
              <p:nvPr/>
            </p:nvSpPr>
            <p:spPr bwMode="auto">
              <a:xfrm>
                <a:off x="4335377" y="3444702"/>
                <a:ext cx="29333" cy="328441"/>
              </a:xfrm>
              <a:prstGeom prst="rect">
                <a:avLst/>
              </a:prstGeom>
              <a:solidFill>
                <a:srgbClr val="C8FEF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68" name="Rectangle 360"/>
              <p:cNvSpPr>
                <a:spLocks noChangeArrowheads="1"/>
              </p:cNvSpPr>
              <p:nvPr/>
            </p:nvSpPr>
            <p:spPr bwMode="auto">
              <a:xfrm>
                <a:off x="4364710" y="3444702"/>
                <a:ext cx="22431" cy="328441"/>
              </a:xfrm>
              <a:prstGeom prst="rect">
                <a:avLst/>
              </a:prstGeom>
              <a:solidFill>
                <a:srgbClr val="C6FDF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69" name="Rectangle 361"/>
              <p:cNvSpPr>
                <a:spLocks noChangeArrowheads="1"/>
              </p:cNvSpPr>
              <p:nvPr/>
            </p:nvSpPr>
            <p:spPr bwMode="auto">
              <a:xfrm>
                <a:off x="4387141" y="3444702"/>
                <a:ext cx="27607" cy="328441"/>
              </a:xfrm>
              <a:prstGeom prst="rect">
                <a:avLst/>
              </a:prstGeom>
              <a:solidFill>
                <a:srgbClr val="C4FCF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70" name="Rectangle 362"/>
              <p:cNvSpPr>
                <a:spLocks noChangeArrowheads="1"/>
              </p:cNvSpPr>
              <p:nvPr/>
            </p:nvSpPr>
            <p:spPr bwMode="auto">
              <a:xfrm>
                <a:off x="4414748" y="3444702"/>
                <a:ext cx="22431" cy="328441"/>
              </a:xfrm>
              <a:prstGeom prst="rect">
                <a:avLst/>
              </a:prstGeom>
              <a:solidFill>
                <a:srgbClr val="C2FBF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71" name="Rectangle 363"/>
              <p:cNvSpPr>
                <a:spLocks noChangeArrowheads="1"/>
              </p:cNvSpPr>
              <p:nvPr/>
            </p:nvSpPr>
            <p:spPr bwMode="auto">
              <a:xfrm>
                <a:off x="4437179" y="3444702"/>
                <a:ext cx="29333" cy="328441"/>
              </a:xfrm>
              <a:prstGeom prst="rect">
                <a:avLst/>
              </a:prstGeom>
              <a:solidFill>
                <a:srgbClr val="C0FAF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72" name="Rectangle 364"/>
              <p:cNvSpPr>
                <a:spLocks noChangeArrowheads="1"/>
              </p:cNvSpPr>
              <p:nvPr/>
            </p:nvSpPr>
            <p:spPr bwMode="auto">
              <a:xfrm>
                <a:off x="4466511" y="3444702"/>
                <a:ext cx="27607" cy="328441"/>
              </a:xfrm>
              <a:prstGeom prst="rect">
                <a:avLst/>
              </a:prstGeom>
              <a:solidFill>
                <a:srgbClr val="BEF9F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73" name="Rectangle 365"/>
              <p:cNvSpPr>
                <a:spLocks noChangeArrowheads="1"/>
              </p:cNvSpPr>
              <p:nvPr/>
            </p:nvSpPr>
            <p:spPr bwMode="auto">
              <a:xfrm>
                <a:off x="4494118" y="3444702"/>
                <a:ext cx="34509" cy="328441"/>
              </a:xfrm>
              <a:prstGeom prst="rect">
                <a:avLst/>
              </a:prstGeom>
              <a:solidFill>
                <a:srgbClr val="BCF8F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74" name="Rectangle 366"/>
              <p:cNvSpPr>
                <a:spLocks noChangeArrowheads="1"/>
              </p:cNvSpPr>
              <p:nvPr/>
            </p:nvSpPr>
            <p:spPr bwMode="auto">
              <a:xfrm>
                <a:off x="4528627" y="3444702"/>
                <a:ext cx="27607" cy="328441"/>
              </a:xfrm>
              <a:prstGeom prst="rect">
                <a:avLst/>
              </a:prstGeom>
              <a:solidFill>
                <a:srgbClr val="BAF7F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75" name="Rectangle 367"/>
              <p:cNvSpPr>
                <a:spLocks noChangeArrowheads="1"/>
              </p:cNvSpPr>
              <p:nvPr/>
            </p:nvSpPr>
            <p:spPr bwMode="auto">
              <a:xfrm>
                <a:off x="4556234" y="3444702"/>
                <a:ext cx="29333" cy="328441"/>
              </a:xfrm>
              <a:prstGeom prst="rect">
                <a:avLst/>
              </a:prstGeom>
              <a:solidFill>
                <a:srgbClr val="B8F6F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76" name="Rectangle 368"/>
              <p:cNvSpPr>
                <a:spLocks noChangeArrowheads="1"/>
              </p:cNvSpPr>
              <p:nvPr/>
            </p:nvSpPr>
            <p:spPr bwMode="auto">
              <a:xfrm>
                <a:off x="4585567" y="3444702"/>
                <a:ext cx="22431" cy="328441"/>
              </a:xfrm>
              <a:prstGeom prst="rect">
                <a:avLst/>
              </a:prstGeom>
              <a:solidFill>
                <a:srgbClr val="B6F5F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77" name="Rectangle 369"/>
              <p:cNvSpPr>
                <a:spLocks noChangeArrowheads="1"/>
              </p:cNvSpPr>
              <p:nvPr/>
            </p:nvSpPr>
            <p:spPr bwMode="auto">
              <a:xfrm>
                <a:off x="4607997" y="3444702"/>
                <a:ext cx="27607" cy="328441"/>
              </a:xfrm>
              <a:prstGeom prst="rect">
                <a:avLst/>
              </a:prstGeom>
              <a:solidFill>
                <a:srgbClr val="B4F4F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78" name="Rectangle 370"/>
              <p:cNvSpPr>
                <a:spLocks noChangeArrowheads="1"/>
              </p:cNvSpPr>
              <p:nvPr/>
            </p:nvSpPr>
            <p:spPr bwMode="auto">
              <a:xfrm>
                <a:off x="4635604" y="3444702"/>
                <a:ext cx="22431" cy="328441"/>
              </a:xfrm>
              <a:prstGeom prst="rect">
                <a:avLst/>
              </a:prstGeom>
              <a:solidFill>
                <a:srgbClr val="B2F3F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79" name="Rectangle 371"/>
              <p:cNvSpPr>
                <a:spLocks noChangeArrowheads="1"/>
              </p:cNvSpPr>
              <p:nvPr/>
            </p:nvSpPr>
            <p:spPr bwMode="auto">
              <a:xfrm>
                <a:off x="4658035" y="3444702"/>
                <a:ext cx="29333" cy="328441"/>
              </a:xfrm>
              <a:prstGeom prst="rect">
                <a:avLst/>
              </a:prstGeom>
              <a:solidFill>
                <a:srgbClr val="B0F3F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80" name="Rectangle 372"/>
              <p:cNvSpPr>
                <a:spLocks noChangeArrowheads="1"/>
              </p:cNvSpPr>
              <p:nvPr/>
            </p:nvSpPr>
            <p:spPr bwMode="auto">
              <a:xfrm>
                <a:off x="4687367" y="3444702"/>
                <a:ext cx="22431" cy="328441"/>
              </a:xfrm>
              <a:prstGeom prst="rect">
                <a:avLst/>
              </a:prstGeom>
              <a:solidFill>
                <a:srgbClr val="AEF2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81" name="Rectangle 373"/>
              <p:cNvSpPr>
                <a:spLocks noChangeArrowheads="1"/>
              </p:cNvSpPr>
              <p:nvPr/>
            </p:nvSpPr>
            <p:spPr bwMode="auto">
              <a:xfrm>
                <a:off x="4709799" y="3444702"/>
                <a:ext cx="27607" cy="328441"/>
              </a:xfrm>
              <a:prstGeom prst="rect">
                <a:avLst/>
              </a:prstGeom>
              <a:solidFill>
                <a:srgbClr val="ACF0F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82" name="Rectangle 374"/>
              <p:cNvSpPr>
                <a:spLocks noChangeArrowheads="1"/>
              </p:cNvSpPr>
              <p:nvPr/>
            </p:nvSpPr>
            <p:spPr bwMode="auto">
              <a:xfrm>
                <a:off x="4737406" y="3444702"/>
                <a:ext cx="29333" cy="328441"/>
              </a:xfrm>
              <a:prstGeom prst="rect">
                <a:avLst/>
              </a:prstGeom>
              <a:solidFill>
                <a:srgbClr val="AAEFE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83" name="Rectangle 375"/>
              <p:cNvSpPr>
                <a:spLocks noChangeArrowheads="1"/>
              </p:cNvSpPr>
              <p:nvPr/>
            </p:nvSpPr>
            <p:spPr bwMode="auto">
              <a:xfrm>
                <a:off x="4766738" y="3444702"/>
                <a:ext cx="22431" cy="328441"/>
              </a:xfrm>
              <a:prstGeom prst="rect">
                <a:avLst/>
              </a:prstGeom>
              <a:solidFill>
                <a:srgbClr val="A8EEE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84" name="Rectangle 376"/>
              <p:cNvSpPr>
                <a:spLocks noChangeArrowheads="1"/>
              </p:cNvSpPr>
              <p:nvPr/>
            </p:nvSpPr>
            <p:spPr bwMode="auto">
              <a:xfrm>
                <a:off x="4789169" y="3444702"/>
                <a:ext cx="17254" cy="328441"/>
              </a:xfrm>
              <a:prstGeom prst="rect">
                <a:avLst/>
              </a:prstGeom>
              <a:solidFill>
                <a:srgbClr val="A5EDE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85" name="Rectangle 377"/>
              <p:cNvSpPr>
                <a:spLocks noChangeArrowheads="1"/>
              </p:cNvSpPr>
              <p:nvPr/>
            </p:nvSpPr>
            <p:spPr bwMode="auto">
              <a:xfrm>
                <a:off x="3769433" y="3444702"/>
                <a:ext cx="1036991" cy="328441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86" name="Rectangle 378"/>
              <p:cNvSpPr>
                <a:spLocks noChangeArrowheads="1"/>
              </p:cNvSpPr>
              <p:nvPr/>
            </p:nvSpPr>
            <p:spPr bwMode="auto">
              <a:xfrm>
                <a:off x="4086914" y="3477383"/>
                <a:ext cx="36234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«FeatureType»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787" name="Rectangle 379"/>
              <p:cNvSpPr>
                <a:spLocks noChangeArrowheads="1"/>
              </p:cNvSpPr>
              <p:nvPr/>
            </p:nvSpPr>
            <p:spPr bwMode="auto">
              <a:xfrm>
                <a:off x="3938526" y="3547647"/>
                <a:ext cx="624610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Timeseries Observation::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788" name="Rectangle 380"/>
              <p:cNvSpPr>
                <a:spLocks noChangeArrowheads="1"/>
              </p:cNvSpPr>
              <p:nvPr/>
            </p:nvSpPr>
            <p:spPr bwMode="auto">
              <a:xfrm>
                <a:off x="3960957" y="3616276"/>
                <a:ext cx="57802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TimeseriesObservation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789" name="Rectangle 381"/>
              <p:cNvSpPr>
                <a:spLocks noChangeArrowheads="1"/>
              </p:cNvSpPr>
              <p:nvPr/>
            </p:nvSpPr>
            <p:spPr bwMode="auto">
              <a:xfrm>
                <a:off x="3802217" y="4095048"/>
                <a:ext cx="981777" cy="300662"/>
              </a:xfrm>
              <a:prstGeom prst="rect">
                <a:avLst/>
              </a:prstGeom>
              <a:solidFill>
                <a:srgbClr val="C0BF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90" name="Rectangle 382"/>
              <p:cNvSpPr>
                <a:spLocks noChangeArrowheads="1"/>
              </p:cNvSpPr>
              <p:nvPr/>
            </p:nvSpPr>
            <p:spPr bwMode="auto">
              <a:xfrm>
                <a:off x="3802217" y="4095048"/>
                <a:ext cx="981777" cy="300662"/>
              </a:xfrm>
              <a:prstGeom prst="rect">
                <a:avLst/>
              </a:prstGeom>
              <a:noFill/>
              <a:ln w="4763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91" name="Rectangle 383"/>
              <p:cNvSpPr>
                <a:spLocks noChangeArrowheads="1"/>
              </p:cNvSpPr>
              <p:nvPr/>
            </p:nvSpPr>
            <p:spPr bwMode="auto">
              <a:xfrm>
                <a:off x="3786687" y="4078707"/>
                <a:ext cx="509006" cy="300662"/>
              </a:xfrm>
              <a:prstGeom prst="rect">
                <a:avLst/>
              </a:prstGeom>
              <a:solidFill>
                <a:srgbClr val="CC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92" name="Rectangle 384"/>
              <p:cNvSpPr>
                <a:spLocks noChangeArrowheads="1"/>
              </p:cNvSpPr>
              <p:nvPr/>
            </p:nvSpPr>
            <p:spPr bwMode="auto">
              <a:xfrm>
                <a:off x="4295693" y="4078707"/>
                <a:ext cx="29333" cy="300662"/>
              </a:xfrm>
              <a:prstGeom prst="rect">
                <a:avLst/>
              </a:prstGeom>
              <a:solidFill>
                <a:srgbClr val="CAFEF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93" name="Rectangle 385"/>
              <p:cNvSpPr>
                <a:spLocks noChangeArrowheads="1"/>
              </p:cNvSpPr>
              <p:nvPr/>
            </p:nvSpPr>
            <p:spPr bwMode="auto">
              <a:xfrm>
                <a:off x="4325025" y="4078707"/>
                <a:ext cx="22431" cy="300662"/>
              </a:xfrm>
              <a:prstGeom prst="rect">
                <a:avLst/>
              </a:prstGeom>
              <a:solidFill>
                <a:srgbClr val="C8FDF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94" name="Rectangle 386"/>
              <p:cNvSpPr>
                <a:spLocks noChangeArrowheads="1"/>
              </p:cNvSpPr>
              <p:nvPr/>
            </p:nvSpPr>
            <p:spPr bwMode="auto">
              <a:xfrm>
                <a:off x="4347456" y="4078707"/>
                <a:ext cx="22431" cy="300662"/>
              </a:xfrm>
              <a:prstGeom prst="rect">
                <a:avLst/>
              </a:prstGeom>
              <a:solidFill>
                <a:srgbClr val="C6FDF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95" name="Rectangle 387"/>
              <p:cNvSpPr>
                <a:spLocks noChangeArrowheads="1"/>
              </p:cNvSpPr>
              <p:nvPr/>
            </p:nvSpPr>
            <p:spPr bwMode="auto">
              <a:xfrm>
                <a:off x="4369886" y="4078707"/>
                <a:ext cx="27607" cy="300662"/>
              </a:xfrm>
              <a:prstGeom prst="rect">
                <a:avLst/>
              </a:prstGeom>
              <a:solidFill>
                <a:srgbClr val="C4FCF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96" name="Rectangle 388"/>
              <p:cNvSpPr>
                <a:spLocks noChangeArrowheads="1"/>
              </p:cNvSpPr>
              <p:nvPr/>
            </p:nvSpPr>
            <p:spPr bwMode="auto">
              <a:xfrm>
                <a:off x="4397493" y="4078707"/>
                <a:ext cx="22431" cy="300662"/>
              </a:xfrm>
              <a:prstGeom prst="rect">
                <a:avLst/>
              </a:prstGeom>
              <a:solidFill>
                <a:srgbClr val="C2FBF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97" name="Rectangle 389"/>
              <p:cNvSpPr>
                <a:spLocks noChangeArrowheads="1"/>
              </p:cNvSpPr>
              <p:nvPr/>
            </p:nvSpPr>
            <p:spPr bwMode="auto">
              <a:xfrm>
                <a:off x="4419924" y="4078707"/>
                <a:ext cx="24156" cy="300662"/>
              </a:xfrm>
              <a:prstGeom prst="rect">
                <a:avLst/>
              </a:prstGeom>
              <a:solidFill>
                <a:srgbClr val="C0FAF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98" name="Rectangle 390"/>
              <p:cNvSpPr>
                <a:spLocks noChangeArrowheads="1"/>
              </p:cNvSpPr>
              <p:nvPr/>
            </p:nvSpPr>
            <p:spPr bwMode="auto">
              <a:xfrm>
                <a:off x="4444081" y="4078707"/>
                <a:ext cx="27607" cy="300662"/>
              </a:xfrm>
              <a:prstGeom prst="rect">
                <a:avLst/>
              </a:prstGeom>
              <a:solidFill>
                <a:srgbClr val="BEF9F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799" name="Rectangle 391"/>
              <p:cNvSpPr>
                <a:spLocks noChangeArrowheads="1"/>
              </p:cNvSpPr>
              <p:nvPr/>
            </p:nvSpPr>
            <p:spPr bwMode="auto">
              <a:xfrm>
                <a:off x="4471688" y="4078707"/>
                <a:ext cx="27607" cy="300662"/>
              </a:xfrm>
              <a:prstGeom prst="rect">
                <a:avLst/>
              </a:prstGeom>
              <a:solidFill>
                <a:srgbClr val="BCF8F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00" name="Rectangle 392"/>
              <p:cNvSpPr>
                <a:spLocks noChangeArrowheads="1"/>
              </p:cNvSpPr>
              <p:nvPr/>
            </p:nvSpPr>
            <p:spPr bwMode="auto">
              <a:xfrm>
                <a:off x="4499295" y="4078707"/>
                <a:ext cx="29333" cy="300662"/>
              </a:xfrm>
              <a:prstGeom prst="rect">
                <a:avLst/>
              </a:prstGeom>
              <a:solidFill>
                <a:srgbClr val="BAF7F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01" name="Rectangle 393"/>
              <p:cNvSpPr>
                <a:spLocks noChangeArrowheads="1"/>
              </p:cNvSpPr>
              <p:nvPr/>
            </p:nvSpPr>
            <p:spPr bwMode="auto">
              <a:xfrm>
                <a:off x="4528627" y="4078707"/>
                <a:ext cx="27607" cy="300662"/>
              </a:xfrm>
              <a:prstGeom prst="rect">
                <a:avLst/>
              </a:prstGeom>
              <a:solidFill>
                <a:srgbClr val="B8F6F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02" name="Rectangle 394"/>
              <p:cNvSpPr>
                <a:spLocks noChangeArrowheads="1"/>
              </p:cNvSpPr>
              <p:nvPr/>
            </p:nvSpPr>
            <p:spPr bwMode="auto">
              <a:xfrm>
                <a:off x="4556234" y="4078707"/>
                <a:ext cx="22431" cy="300662"/>
              </a:xfrm>
              <a:prstGeom prst="rect">
                <a:avLst/>
              </a:prstGeom>
              <a:solidFill>
                <a:srgbClr val="B6F5F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03" name="Rectangle 395"/>
              <p:cNvSpPr>
                <a:spLocks noChangeArrowheads="1"/>
              </p:cNvSpPr>
              <p:nvPr/>
            </p:nvSpPr>
            <p:spPr bwMode="auto">
              <a:xfrm>
                <a:off x="4578665" y="4078707"/>
                <a:ext cx="22431" cy="300662"/>
              </a:xfrm>
              <a:prstGeom prst="rect">
                <a:avLst/>
              </a:prstGeom>
              <a:solidFill>
                <a:srgbClr val="B4F4F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04" name="Rectangle 396"/>
              <p:cNvSpPr>
                <a:spLocks noChangeArrowheads="1"/>
              </p:cNvSpPr>
              <p:nvPr/>
            </p:nvSpPr>
            <p:spPr bwMode="auto">
              <a:xfrm>
                <a:off x="4601095" y="4078707"/>
                <a:ext cx="29333" cy="300662"/>
              </a:xfrm>
              <a:prstGeom prst="rect">
                <a:avLst/>
              </a:prstGeom>
              <a:solidFill>
                <a:srgbClr val="B2F3F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05" name="Rectangle 397"/>
              <p:cNvSpPr>
                <a:spLocks noChangeArrowheads="1"/>
              </p:cNvSpPr>
              <p:nvPr/>
            </p:nvSpPr>
            <p:spPr bwMode="auto">
              <a:xfrm>
                <a:off x="4630428" y="4078707"/>
                <a:ext cx="22431" cy="300662"/>
              </a:xfrm>
              <a:prstGeom prst="rect">
                <a:avLst/>
              </a:prstGeom>
              <a:solidFill>
                <a:srgbClr val="B0F2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06" name="Rectangle 398"/>
              <p:cNvSpPr>
                <a:spLocks noChangeArrowheads="1"/>
              </p:cNvSpPr>
              <p:nvPr/>
            </p:nvSpPr>
            <p:spPr bwMode="auto">
              <a:xfrm>
                <a:off x="4652859" y="4078707"/>
                <a:ext cx="22431" cy="300662"/>
              </a:xfrm>
              <a:prstGeom prst="rect">
                <a:avLst/>
              </a:prstGeom>
              <a:solidFill>
                <a:srgbClr val="AEF2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07" name="Rectangle 399"/>
              <p:cNvSpPr>
                <a:spLocks noChangeArrowheads="1"/>
              </p:cNvSpPr>
              <p:nvPr/>
            </p:nvSpPr>
            <p:spPr bwMode="auto">
              <a:xfrm>
                <a:off x="4675290" y="4078707"/>
                <a:ext cx="29333" cy="300662"/>
              </a:xfrm>
              <a:prstGeom prst="rect">
                <a:avLst/>
              </a:prstGeom>
              <a:solidFill>
                <a:srgbClr val="ACF0F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08" name="Rectangle 400"/>
              <p:cNvSpPr>
                <a:spLocks noChangeArrowheads="1"/>
              </p:cNvSpPr>
              <p:nvPr/>
            </p:nvSpPr>
            <p:spPr bwMode="auto">
              <a:xfrm>
                <a:off x="4704622" y="4078707"/>
                <a:ext cx="22431" cy="300662"/>
              </a:xfrm>
              <a:prstGeom prst="rect">
                <a:avLst/>
              </a:prstGeom>
              <a:solidFill>
                <a:srgbClr val="AAEFE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09" name="Rectangle 401"/>
              <p:cNvSpPr>
                <a:spLocks noChangeArrowheads="1"/>
              </p:cNvSpPr>
              <p:nvPr/>
            </p:nvSpPr>
            <p:spPr bwMode="auto">
              <a:xfrm>
                <a:off x="4727053" y="4078707"/>
                <a:ext cx="22431" cy="300662"/>
              </a:xfrm>
              <a:prstGeom prst="rect">
                <a:avLst/>
              </a:prstGeom>
              <a:solidFill>
                <a:srgbClr val="A8EEE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10" name="Rectangle 402"/>
              <p:cNvSpPr>
                <a:spLocks noChangeArrowheads="1"/>
              </p:cNvSpPr>
              <p:nvPr/>
            </p:nvSpPr>
            <p:spPr bwMode="auto">
              <a:xfrm>
                <a:off x="4749483" y="4078707"/>
                <a:ext cx="17254" cy="300662"/>
              </a:xfrm>
              <a:prstGeom prst="rect">
                <a:avLst/>
              </a:prstGeom>
              <a:solidFill>
                <a:srgbClr val="A5EDE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11" name="Rectangle 403"/>
              <p:cNvSpPr>
                <a:spLocks noChangeArrowheads="1"/>
              </p:cNvSpPr>
              <p:nvPr/>
            </p:nvSpPr>
            <p:spPr bwMode="auto">
              <a:xfrm>
                <a:off x="3786687" y="4078707"/>
                <a:ext cx="980051" cy="300662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12" name="Rectangle 404"/>
              <p:cNvSpPr>
                <a:spLocks noChangeArrowheads="1"/>
              </p:cNvSpPr>
              <p:nvPr/>
            </p:nvSpPr>
            <p:spPr bwMode="auto">
              <a:xfrm>
                <a:off x="4074836" y="4111388"/>
                <a:ext cx="36234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«FeatureType»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784" name="Group 783"/>
            <p:cNvGrpSpPr/>
            <p:nvPr/>
          </p:nvGrpSpPr>
          <p:grpSpPr>
            <a:xfrm>
              <a:off x="2295906" y="3541111"/>
              <a:ext cx="4855392" cy="2975577"/>
              <a:chOff x="2295906" y="3541111"/>
              <a:chExt cx="4855392" cy="2975577"/>
            </a:xfrm>
          </p:grpSpPr>
          <p:sp>
            <p:nvSpPr>
              <p:cNvPr id="17814" name="Rectangle 406"/>
              <p:cNvSpPr>
                <a:spLocks noChangeArrowheads="1"/>
              </p:cNvSpPr>
              <p:nvPr/>
            </p:nvSpPr>
            <p:spPr bwMode="auto">
              <a:xfrm>
                <a:off x="3848803" y="4180018"/>
                <a:ext cx="77127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Timeseries (TVP) Observation::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815" name="Rectangle 407"/>
              <p:cNvSpPr>
                <a:spLocks noChangeArrowheads="1"/>
              </p:cNvSpPr>
              <p:nvPr/>
            </p:nvSpPr>
            <p:spPr bwMode="auto">
              <a:xfrm>
                <a:off x="3898841" y="4250282"/>
                <a:ext cx="674648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TimeseriesTVPObservation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863" name="Rectangle 455"/>
              <p:cNvSpPr>
                <a:spLocks noChangeArrowheads="1"/>
              </p:cNvSpPr>
              <p:nvPr/>
            </p:nvSpPr>
            <p:spPr bwMode="auto">
              <a:xfrm>
                <a:off x="4799521" y="5652283"/>
                <a:ext cx="1083577" cy="317003"/>
              </a:xfrm>
              <a:prstGeom prst="rect">
                <a:avLst/>
              </a:prstGeom>
              <a:solidFill>
                <a:srgbClr val="C0BF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64" name="Rectangle 456"/>
              <p:cNvSpPr>
                <a:spLocks noChangeArrowheads="1"/>
              </p:cNvSpPr>
              <p:nvPr/>
            </p:nvSpPr>
            <p:spPr bwMode="auto">
              <a:xfrm>
                <a:off x="4799521" y="5652283"/>
                <a:ext cx="1083577" cy="317003"/>
              </a:xfrm>
              <a:prstGeom prst="rect">
                <a:avLst/>
              </a:prstGeom>
              <a:noFill/>
              <a:ln w="4763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65" name="Rectangle 457"/>
              <p:cNvSpPr>
                <a:spLocks noChangeArrowheads="1"/>
              </p:cNvSpPr>
              <p:nvPr/>
            </p:nvSpPr>
            <p:spPr bwMode="auto">
              <a:xfrm>
                <a:off x="4783992" y="5635943"/>
                <a:ext cx="565945" cy="317003"/>
              </a:xfrm>
              <a:prstGeom prst="rect">
                <a:avLst/>
              </a:prstGeom>
              <a:solidFill>
                <a:srgbClr val="CC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66" name="Rectangle 458"/>
              <p:cNvSpPr>
                <a:spLocks noChangeArrowheads="1"/>
              </p:cNvSpPr>
              <p:nvPr/>
            </p:nvSpPr>
            <p:spPr bwMode="auto">
              <a:xfrm>
                <a:off x="5349937" y="5635943"/>
                <a:ext cx="22431" cy="317003"/>
              </a:xfrm>
              <a:prstGeom prst="rect">
                <a:avLst/>
              </a:prstGeom>
              <a:solidFill>
                <a:srgbClr val="CAFEF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67" name="Rectangle 459"/>
              <p:cNvSpPr>
                <a:spLocks noChangeArrowheads="1"/>
              </p:cNvSpPr>
              <p:nvPr/>
            </p:nvSpPr>
            <p:spPr bwMode="auto">
              <a:xfrm>
                <a:off x="5372368" y="5635943"/>
                <a:ext cx="27607" cy="317003"/>
              </a:xfrm>
              <a:prstGeom prst="rect">
                <a:avLst/>
              </a:prstGeom>
              <a:solidFill>
                <a:srgbClr val="C8FEF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68" name="Rectangle 460"/>
              <p:cNvSpPr>
                <a:spLocks noChangeArrowheads="1"/>
              </p:cNvSpPr>
              <p:nvPr/>
            </p:nvSpPr>
            <p:spPr bwMode="auto">
              <a:xfrm>
                <a:off x="5399975" y="5635943"/>
                <a:ext cx="29333" cy="317003"/>
              </a:xfrm>
              <a:prstGeom prst="rect">
                <a:avLst/>
              </a:prstGeom>
              <a:solidFill>
                <a:srgbClr val="C6FDF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69" name="Rectangle 461"/>
              <p:cNvSpPr>
                <a:spLocks noChangeArrowheads="1"/>
              </p:cNvSpPr>
              <p:nvPr/>
            </p:nvSpPr>
            <p:spPr bwMode="auto">
              <a:xfrm>
                <a:off x="5429307" y="5635943"/>
                <a:ext cx="27607" cy="317003"/>
              </a:xfrm>
              <a:prstGeom prst="rect">
                <a:avLst/>
              </a:prstGeom>
              <a:solidFill>
                <a:srgbClr val="C4FCF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70" name="Rectangle 462"/>
              <p:cNvSpPr>
                <a:spLocks noChangeArrowheads="1"/>
              </p:cNvSpPr>
              <p:nvPr/>
            </p:nvSpPr>
            <p:spPr bwMode="auto">
              <a:xfrm>
                <a:off x="5456914" y="5635943"/>
                <a:ext cx="22431" cy="317003"/>
              </a:xfrm>
              <a:prstGeom prst="rect">
                <a:avLst/>
              </a:prstGeom>
              <a:solidFill>
                <a:srgbClr val="C2FBF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71" name="Rectangle 463"/>
              <p:cNvSpPr>
                <a:spLocks noChangeArrowheads="1"/>
              </p:cNvSpPr>
              <p:nvPr/>
            </p:nvSpPr>
            <p:spPr bwMode="auto">
              <a:xfrm>
                <a:off x="5479345" y="5635943"/>
                <a:ext cx="29333" cy="317003"/>
              </a:xfrm>
              <a:prstGeom prst="rect">
                <a:avLst/>
              </a:prstGeom>
              <a:solidFill>
                <a:srgbClr val="C0FAF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72" name="Rectangle 464"/>
              <p:cNvSpPr>
                <a:spLocks noChangeArrowheads="1"/>
              </p:cNvSpPr>
              <p:nvPr/>
            </p:nvSpPr>
            <p:spPr bwMode="auto">
              <a:xfrm>
                <a:off x="5508677" y="5635943"/>
                <a:ext cx="27607" cy="317003"/>
              </a:xfrm>
              <a:prstGeom prst="rect">
                <a:avLst/>
              </a:prstGeom>
              <a:solidFill>
                <a:srgbClr val="BEF9F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73" name="Rectangle 465"/>
              <p:cNvSpPr>
                <a:spLocks noChangeArrowheads="1"/>
              </p:cNvSpPr>
              <p:nvPr/>
            </p:nvSpPr>
            <p:spPr bwMode="auto">
              <a:xfrm>
                <a:off x="5536284" y="5635943"/>
                <a:ext cx="34509" cy="317003"/>
              </a:xfrm>
              <a:prstGeom prst="rect">
                <a:avLst/>
              </a:prstGeom>
              <a:solidFill>
                <a:srgbClr val="BCF8F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74" name="Rectangle 466"/>
              <p:cNvSpPr>
                <a:spLocks noChangeArrowheads="1"/>
              </p:cNvSpPr>
              <p:nvPr/>
            </p:nvSpPr>
            <p:spPr bwMode="auto">
              <a:xfrm>
                <a:off x="5570793" y="5635943"/>
                <a:ext cx="34509" cy="317003"/>
              </a:xfrm>
              <a:prstGeom prst="rect">
                <a:avLst/>
              </a:prstGeom>
              <a:solidFill>
                <a:srgbClr val="BAF7F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75" name="Rectangle 467"/>
              <p:cNvSpPr>
                <a:spLocks noChangeArrowheads="1"/>
              </p:cNvSpPr>
              <p:nvPr/>
            </p:nvSpPr>
            <p:spPr bwMode="auto">
              <a:xfrm>
                <a:off x="5605302" y="5635943"/>
                <a:ext cx="27607" cy="317003"/>
              </a:xfrm>
              <a:prstGeom prst="rect">
                <a:avLst/>
              </a:prstGeom>
              <a:solidFill>
                <a:srgbClr val="B8F6F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76" name="Rectangle 468"/>
              <p:cNvSpPr>
                <a:spLocks noChangeArrowheads="1"/>
              </p:cNvSpPr>
              <p:nvPr/>
            </p:nvSpPr>
            <p:spPr bwMode="auto">
              <a:xfrm>
                <a:off x="5632909" y="5635943"/>
                <a:ext cx="29333" cy="317003"/>
              </a:xfrm>
              <a:prstGeom prst="rect">
                <a:avLst/>
              </a:prstGeom>
              <a:solidFill>
                <a:srgbClr val="B6F5F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77" name="Rectangle 469"/>
              <p:cNvSpPr>
                <a:spLocks noChangeArrowheads="1"/>
              </p:cNvSpPr>
              <p:nvPr/>
            </p:nvSpPr>
            <p:spPr bwMode="auto">
              <a:xfrm>
                <a:off x="5662242" y="5635943"/>
                <a:ext cx="22431" cy="317003"/>
              </a:xfrm>
              <a:prstGeom prst="rect">
                <a:avLst/>
              </a:prstGeom>
              <a:solidFill>
                <a:srgbClr val="B4F4F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78" name="Rectangle 470"/>
              <p:cNvSpPr>
                <a:spLocks noChangeArrowheads="1"/>
              </p:cNvSpPr>
              <p:nvPr/>
            </p:nvSpPr>
            <p:spPr bwMode="auto">
              <a:xfrm>
                <a:off x="5684672" y="5635943"/>
                <a:ext cx="27607" cy="317003"/>
              </a:xfrm>
              <a:prstGeom prst="rect">
                <a:avLst/>
              </a:prstGeom>
              <a:solidFill>
                <a:srgbClr val="B2F3F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79" name="Rectangle 471"/>
              <p:cNvSpPr>
                <a:spLocks noChangeArrowheads="1"/>
              </p:cNvSpPr>
              <p:nvPr/>
            </p:nvSpPr>
            <p:spPr bwMode="auto">
              <a:xfrm>
                <a:off x="5712279" y="5635943"/>
                <a:ext cx="29333" cy="317003"/>
              </a:xfrm>
              <a:prstGeom prst="rect">
                <a:avLst/>
              </a:prstGeom>
              <a:solidFill>
                <a:srgbClr val="B0F3F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80" name="Rectangle 472"/>
              <p:cNvSpPr>
                <a:spLocks noChangeArrowheads="1"/>
              </p:cNvSpPr>
              <p:nvPr/>
            </p:nvSpPr>
            <p:spPr bwMode="auto">
              <a:xfrm>
                <a:off x="5741612" y="5635943"/>
                <a:ext cx="27607" cy="317003"/>
              </a:xfrm>
              <a:prstGeom prst="rect">
                <a:avLst/>
              </a:prstGeom>
              <a:solidFill>
                <a:srgbClr val="AEF2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81" name="Rectangle 473"/>
              <p:cNvSpPr>
                <a:spLocks noChangeArrowheads="1"/>
              </p:cNvSpPr>
              <p:nvPr/>
            </p:nvSpPr>
            <p:spPr bwMode="auto">
              <a:xfrm>
                <a:off x="5769219" y="5635943"/>
                <a:ext cx="22431" cy="317003"/>
              </a:xfrm>
              <a:prstGeom prst="rect">
                <a:avLst/>
              </a:prstGeom>
              <a:solidFill>
                <a:srgbClr val="ACF0F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82" name="Rectangle 474"/>
              <p:cNvSpPr>
                <a:spLocks noChangeArrowheads="1"/>
              </p:cNvSpPr>
              <p:nvPr/>
            </p:nvSpPr>
            <p:spPr bwMode="auto">
              <a:xfrm>
                <a:off x="5791649" y="5635943"/>
                <a:ext cx="27607" cy="317003"/>
              </a:xfrm>
              <a:prstGeom prst="rect">
                <a:avLst/>
              </a:prstGeom>
              <a:solidFill>
                <a:srgbClr val="AAEFE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83" name="Rectangle 475"/>
              <p:cNvSpPr>
                <a:spLocks noChangeArrowheads="1"/>
              </p:cNvSpPr>
              <p:nvPr/>
            </p:nvSpPr>
            <p:spPr bwMode="auto">
              <a:xfrm>
                <a:off x="5819256" y="5635943"/>
                <a:ext cx="29333" cy="317003"/>
              </a:xfrm>
              <a:prstGeom prst="rect">
                <a:avLst/>
              </a:prstGeom>
              <a:solidFill>
                <a:srgbClr val="A8EEE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84" name="Rectangle 476"/>
              <p:cNvSpPr>
                <a:spLocks noChangeArrowheads="1"/>
              </p:cNvSpPr>
              <p:nvPr/>
            </p:nvSpPr>
            <p:spPr bwMode="auto">
              <a:xfrm>
                <a:off x="5848590" y="5635943"/>
                <a:ext cx="17254" cy="317003"/>
              </a:xfrm>
              <a:prstGeom prst="rect">
                <a:avLst/>
              </a:prstGeom>
              <a:solidFill>
                <a:srgbClr val="A5EDE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85" name="Rectangle 477"/>
              <p:cNvSpPr>
                <a:spLocks noChangeArrowheads="1"/>
              </p:cNvSpPr>
              <p:nvPr/>
            </p:nvSpPr>
            <p:spPr bwMode="auto">
              <a:xfrm>
                <a:off x="4783992" y="5635943"/>
                <a:ext cx="1081852" cy="317003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86" name="Rectangle 478"/>
              <p:cNvSpPr>
                <a:spLocks noChangeArrowheads="1"/>
              </p:cNvSpPr>
              <p:nvPr/>
            </p:nvSpPr>
            <p:spPr bwMode="auto">
              <a:xfrm>
                <a:off x="5225705" y="5668624"/>
                <a:ext cx="193249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«Type»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887" name="Rectangle 479"/>
              <p:cNvSpPr>
                <a:spLocks noChangeArrowheads="1"/>
              </p:cNvSpPr>
              <p:nvPr/>
            </p:nvSpPr>
            <p:spPr bwMode="auto">
              <a:xfrm>
                <a:off x="4878892" y="5737253"/>
                <a:ext cx="805781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Measurement (TVP) Timeseries::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888" name="Rectangle 480"/>
              <p:cNvSpPr>
                <a:spLocks noChangeArrowheads="1"/>
              </p:cNvSpPr>
              <p:nvPr/>
            </p:nvSpPr>
            <p:spPr bwMode="auto">
              <a:xfrm>
                <a:off x="4930655" y="5807516"/>
                <a:ext cx="709157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MeasurementTimeseriesTVP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889" name="Rectangle 481"/>
              <p:cNvSpPr>
                <a:spLocks noChangeArrowheads="1"/>
              </p:cNvSpPr>
              <p:nvPr/>
            </p:nvSpPr>
            <p:spPr bwMode="auto">
              <a:xfrm>
                <a:off x="4856460" y="5013375"/>
                <a:ext cx="969698" cy="369292"/>
              </a:xfrm>
              <a:prstGeom prst="rect">
                <a:avLst/>
              </a:prstGeom>
              <a:solidFill>
                <a:srgbClr val="C0BF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90" name="Rectangle 482"/>
              <p:cNvSpPr>
                <a:spLocks noChangeArrowheads="1"/>
              </p:cNvSpPr>
              <p:nvPr/>
            </p:nvSpPr>
            <p:spPr bwMode="auto">
              <a:xfrm>
                <a:off x="4856460" y="5013375"/>
                <a:ext cx="969698" cy="369292"/>
              </a:xfrm>
              <a:prstGeom prst="rect">
                <a:avLst/>
              </a:prstGeom>
              <a:noFill/>
              <a:ln w="4763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91" name="Rectangle 483"/>
              <p:cNvSpPr>
                <a:spLocks noChangeArrowheads="1"/>
              </p:cNvSpPr>
              <p:nvPr/>
            </p:nvSpPr>
            <p:spPr bwMode="auto">
              <a:xfrm>
                <a:off x="4839206" y="4997035"/>
                <a:ext cx="505555" cy="370926"/>
              </a:xfrm>
              <a:prstGeom prst="rect">
                <a:avLst/>
              </a:prstGeom>
              <a:solidFill>
                <a:srgbClr val="CC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92" name="Rectangle 484"/>
              <p:cNvSpPr>
                <a:spLocks noChangeArrowheads="1"/>
              </p:cNvSpPr>
              <p:nvPr/>
            </p:nvSpPr>
            <p:spPr bwMode="auto">
              <a:xfrm>
                <a:off x="5344761" y="4997035"/>
                <a:ext cx="27607" cy="370926"/>
              </a:xfrm>
              <a:prstGeom prst="rect">
                <a:avLst/>
              </a:prstGeom>
              <a:solidFill>
                <a:srgbClr val="CAFEF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93" name="Rectangle 485"/>
              <p:cNvSpPr>
                <a:spLocks noChangeArrowheads="1"/>
              </p:cNvSpPr>
              <p:nvPr/>
            </p:nvSpPr>
            <p:spPr bwMode="auto">
              <a:xfrm>
                <a:off x="5372368" y="4997035"/>
                <a:ext cx="22431" cy="370926"/>
              </a:xfrm>
              <a:prstGeom prst="rect">
                <a:avLst/>
              </a:prstGeom>
              <a:solidFill>
                <a:srgbClr val="C8FDF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94" name="Rectangle 486"/>
              <p:cNvSpPr>
                <a:spLocks noChangeArrowheads="1"/>
              </p:cNvSpPr>
              <p:nvPr/>
            </p:nvSpPr>
            <p:spPr bwMode="auto">
              <a:xfrm>
                <a:off x="5394798" y="4997035"/>
                <a:ext cx="22431" cy="370926"/>
              </a:xfrm>
              <a:prstGeom prst="rect">
                <a:avLst/>
              </a:prstGeom>
              <a:solidFill>
                <a:srgbClr val="C6FDF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95" name="Rectangle 487"/>
              <p:cNvSpPr>
                <a:spLocks noChangeArrowheads="1"/>
              </p:cNvSpPr>
              <p:nvPr/>
            </p:nvSpPr>
            <p:spPr bwMode="auto">
              <a:xfrm>
                <a:off x="5417229" y="4997035"/>
                <a:ext cx="22431" cy="370926"/>
              </a:xfrm>
              <a:prstGeom prst="rect">
                <a:avLst/>
              </a:prstGeom>
              <a:solidFill>
                <a:srgbClr val="C4FCF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96" name="Rectangle 488"/>
              <p:cNvSpPr>
                <a:spLocks noChangeArrowheads="1"/>
              </p:cNvSpPr>
              <p:nvPr/>
            </p:nvSpPr>
            <p:spPr bwMode="auto">
              <a:xfrm>
                <a:off x="5439659" y="4997035"/>
                <a:ext cx="29333" cy="370926"/>
              </a:xfrm>
              <a:prstGeom prst="rect">
                <a:avLst/>
              </a:prstGeom>
              <a:solidFill>
                <a:srgbClr val="C2FBF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97" name="Rectangle 489"/>
              <p:cNvSpPr>
                <a:spLocks noChangeArrowheads="1"/>
              </p:cNvSpPr>
              <p:nvPr/>
            </p:nvSpPr>
            <p:spPr bwMode="auto">
              <a:xfrm>
                <a:off x="5468993" y="4997035"/>
                <a:ext cx="22431" cy="370926"/>
              </a:xfrm>
              <a:prstGeom prst="rect">
                <a:avLst/>
              </a:prstGeom>
              <a:solidFill>
                <a:srgbClr val="C0FAF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98" name="Rectangle 490"/>
              <p:cNvSpPr>
                <a:spLocks noChangeArrowheads="1"/>
              </p:cNvSpPr>
              <p:nvPr/>
            </p:nvSpPr>
            <p:spPr bwMode="auto">
              <a:xfrm>
                <a:off x="5491423" y="4997035"/>
                <a:ext cx="22431" cy="370926"/>
              </a:xfrm>
              <a:prstGeom prst="rect">
                <a:avLst/>
              </a:prstGeom>
              <a:solidFill>
                <a:srgbClr val="BEF9F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899" name="Rectangle 491"/>
              <p:cNvSpPr>
                <a:spLocks noChangeArrowheads="1"/>
              </p:cNvSpPr>
              <p:nvPr/>
            </p:nvSpPr>
            <p:spPr bwMode="auto">
              <a:xfrm>
                <a:off x="5513854" y="4997035"/>
                <a:ext cx="34509" cy="370926"/>
              </a:xfrm>
              <a:prstGeom prst="rect">
                <a:avLst/>
              </a:prstGeom>
              <a:solidFill>
                <a:srgbClr val="BCF8F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00" name="Rectangle 492"/>
              <p:cNvSpPr>
                <a:spLocks noChangeArrowheads="1"/>
              </p:cNvSpPr>
              <p:nvPr/>
            </p:nvSpPr>
            <p:spPr bwMode="auto">
              <a:xfrm>
                <a:off x="5548363" y="4997035"/>
                <a:ext cx="27607" cy="370926"/>
              </a:xfrm>
              <a:prstGeom prst="rect">
                <a:avLst/>
              </a:prstGeom>
              <a:solidFill>
                <a:srgbClr val="BAF7F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01" name="Rectangle 493"/>
              <p:cNvSpPr>
                <a:spLocks noChangeArrowheads="1"/>
              </p:cNvSpPr>
              <p:nvPr/>
            </p:nvSpPr>
            <p:spPr bwMode="auto">
              <a:xfrm>
                <a:off x="5575970" y="4997035"/>
                <a:ext cx="22431" cy="370926"/>
              </a:xfrm>
              <a:prstGeom prst="rect">
                <a:avLst/>
              </a:prstGeom>
              <a:solidFill>
                <a:srgbClr val="B8F6F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02" name="Rectangle 494"/>
              <p:cNvSpPr>
                <a:spLocks noChangeArrowheads="1"/>
              </p:cNvSpPr>
              <p:nvPr/>
            </p:nvSpPr>
            <p:spPr bwMode="auto">
              <a:xfrm>
                <a:off x="5598400" y="4997035"/>
                <a:ext cx="24156" cy="370926"/>
              </a:xfrm>
              <a:prstGeom prst="rect">
                <a:avLst/>
              </a:prstGeom>
              <a:solidFill>
                <a:srgbClr val="B6F5F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03" name="Rectangle 495"/>
              <p:cNvSpPr>
                <a:spLocks noChangeArrowheads="1"/>
              </p:cNvSpPr>
              <p:nvPr/>
            </p:nvSpPr>
            <p:spPr bwMode="auto">
              <a:xfrm>
                <a:off x="5622556" y="4997035"/>
                <a:ext cx="27607" cy="370926"/>
              </a:xfrm>
              <a:prstGeom prst="rect">
                <a:avLst/>
              </a:prstGeom>
              <a:solidFill>
                <a:srgbClr val="B4F4F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04" name="Rectangle 496"/>
              <p:cNvSpPr>
                <a:spLocks noChangeArrowheads="1"/>
              </p:cNvSpPr>
              <p:nvPr/>
            </p:nvSpPr>
            <p:spPr bwMode="auto">
              <a:xfrm>
                <a:off x="5650163" y="4997035"/>
                <a:ext cx="22431" cy="370926"/>
              </a:xfrm>
              <a:prstGeom prst="rect">
                <a:avLst/>
              </a:prstGeom>
              <a:solidFill>
                <a:srgbClr val="B2F3F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05" name="Rectangle 497"/>
              <p:cNvSpPr>
                <a:spLocks noChangeArrowheads="1"/>
              </p:cNvSpPr>
              <p:nvPr/>
            </p:nvSpPr>
            <p:spPr bwMode="auto">
              <a:xfrm>
                <a:off x="5672595" y="4997035"/>
                <a:ext cx="22431" cy="370926"/>
              </a:xfrm>
              <a:prstGeom prst="rect">
                <a:avLst/>
              </a:prstGeom>
              <a:solidFill>
                <a:srgbClr val="B0F2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06" name="Rectangle 498"/>
              <p:cNvSpPr>
                <a:spLocks noChangeArrowheads="1"/>
              </p:cNvSpPr>
              <p:nvPr/>
            </p:nvSpPr>
            <p:spPr bwMode="auto">
              <a:xfrm>
                <a:off x="5695025" y="4997035"/>
                <a:ext cx="29333" cy="370926"/>
              </a:xfrm>
              <a:prstGeom prst="rect">
                <a:avLst/>
              </a:prstGeom>
              <a:solidFill>
                <a:srgbClr val="AEF2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07" name="Rectangle 499"/>
              <p:cNvSpPr>
                <a:spLocks noChangeArrowheads="1"/>
              </p:cNvSpPr>
              <p:nvPr/>
            </p:nvSpPr>
            <p:spPr bwMode="auto">
              <a:xfrm>
                <a:off x="5724358" y="4997035"/>
                <a:ext cx="22431" cy="370926"/>
              </a:xfrm>
              <a:prstGeom prst="rect">
                <a:avLst/>
              </a:prstGeom>
              <a:solidFill>
                <a:srgbClr val="ACF0F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08" name="Rectangle 500"/>
              <p:cNvSpPr>
                <a:spLocks noChangeArrowheads="1"/>
              </p:cNvSpPr>
              <p:nvPr/>
            </p:nvSpPr>
            <p:spPr bwMode="auto">
              <a:xfrm>
                <a:off x="5746788" y="4997035"/>
                <a:ext cx="22431" cy="370926"/>
              </a:xfrm>
              <a:prstGeom prst="rect">
                <a:avLst/>
              </a:prstGeom>
              <a:solidFill>
                <a:srgbClr val="AAEFE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09" name="Rectangle 501"/>
              <p:cNvSpPr>
                <a:spLocks noChangeArrowheads="1"/>
              </p:cNvSpPr>
              <p:nvPr/>
            </p:nvSpPr>
            <p:spPr bwMode="auto">
              <a:xfrm>
                <a:off x="5769219" y="4997035"/>
                <a:ext cx="22431" cy="370926"/>
              </a:xfrm>
              <a:prstGeom prst="rect">
                <a:avLst/>
              </a:prstGeom>
              <a:solidFill>
                <a:srgbClr val="A8EEE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10" name="Rectangle 502"/>
              <p:cNvSpPr>
                <a:spLocks noChangeArrowheads="1"/>
              </p:cNvSpPr>
              <p:nvPr/>
            </p:nvSpPr>
            <p:spPr bwMode="auto">
              <a:xfrm>
                <a:off x="5791649" y="4997035"/>
                <a:ext cx="17254" cy="370926"/>
              </a:xfrm>
              <a:prstGeom prst="rect">
                <a:avLst/>
              </a:prstGeom>
              <a:solidFill>
                <a:srgbClr val="A5EDE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11" name="Rectangle 503"/>
              <p:cNvSpPr>
                <a:spLocks noChangeArrowheads="1"/>
              </p:cNvSpPr>
              <p:nvPr/>
            </p:nvSpPr>
            <p:spPr bwMode="auto">
              <a:xfrm>
                <a:off x="4839206" y="4997035"/>
                <a:ext cx="969698" cy="370926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12" name="Rectangle 504"/>
              <p:cNvSpPr>
                <a:spLocks noChangeArrowheads="1"/>
              </p:cNvSpPr>
              <p:nvPr/>
            </p:nvSpPr>
            <p:spPr bwMode="auto">
              <a:xfrm>
                <a:off x="5508677" y="5013375"/>
                <a:ext cx="272620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1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Timeseries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13" name="Rectangle 505"/>
              <p:cNvSpPr>
                <a:spLocks noChangeArrowheads="1"/>
              </p:cNvSpPr>
              <p:nvPr/>
            </p:nvSpPr>
            <p:spPr bwMode="auto">
              <a:xfrm>
                <a:off x="5123904" y="5114686"/>
                <a:ext cx="36234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«FeatureType»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14" name="Rectangle 506"/>
              <p:cNvSpPr>
                <a:spLocks noChangeArrowheads="1"/>
              </p:cNvSpPr>
              <p:nvPr/>
            </p:nvSpPr>
            <p:spPr bwMode="auto">
              <a:xfrm>
                <a:off x="4908224" y="5184950"/>
                <a:ext cx="741940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Interleaved (TVP) Timeseries::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15" name="Rectangle 507"/>
              <p:cNvSpPr>
                <a:spLocks noChangeArrowheads="1"/>
              </p:cNvSpPr>
              <p:nvPr/>
            </p:nvSpPr>
            <p:spPr bwMode="auto">
              <a:xfrm>
                <a:off x="5117003" y="5255212"/>
                <a:ext cx="386499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TimeseriesTVP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16" name="Rectangle 508"/>
              <p:cNvSpPr>
                <a:spLocks noChangeArrowheads="1"/>
              </p:cNvSpPr>
              <p:nvPr/>
            </p:nvSpPr>
            <p:spPr bwMode="auto">
              <a:xfrm>
                <a:off x="2313160" y="5570582"/>
                <a:ext cx="1376902" cy="467334"/>
              </a:xfrm>
              <a:prstGeom prst="rect">
                <a:avLst/>
              </a:prstGeom>
              <a:solidFill>
                <a:srgbClr val="C0BF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17" name="Rectangle 509"/>
              <p:cNvSpPr>
                <a:spLocks noChangeArrowheads="1"/>
              </p:cNvSpPr>
              <p:nvPr/>
            </p:nvSpPr>
            <p:spPr bwMode="auto">
              <a:xfrm>
                <a:off x="2313160" y="5570582"/>
                <a:ext cx="1376902" cy="467334"/>
              </a:xfrm>
              <a:prstGeom prst="rect">
                <a:avLst/>
              </a:prstGeom>
              <a:noFill/>
              <a:ln w="4763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18" name="Rectangle 510"/>
              <p:cNvSpPr>
                <a:spLocks noChangeArrowheads="1"/>
              </p:cNvSpPr>
              <p:nvPr/>
            </p:nvSpPr>
            <p:spPr bwMode="auto">
              <a:xfrm>
                <a:off x="2295906" y="5555875"/>
                <a:ext cx="719509" cy="467334"/>
              </a:xfrm>
              <a:prstGeom prst="rect">
                <a:avLst/>
              </a:prstGeom>
              <a:solidFill>
                <a:srgbClr val="CC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19" name="Rectangle 511"/>
              <p:cNvSpPr>
                <a:spLocks noChangeArrowheads="1"/>
              </p:cNvSpPr>
              <p:nvPr/>
            </p:nvSpPr>
            <p:spPr bwMode="auto">
              <a:xfrm>
                <a:off x="3015415" y="5555875"/>
                <a:ext cx="34509" cy="467334"/>
              </a:xfrm>
              <a:prstGeom prst="rect">
                <a:avLst/>
              </a:prstGeom>
              <a:solidFill>
                <a:srgbClr val="CAFEF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20" name="Rectangle 512"/>
              <p:cNvSpPr>
                <a:spLocks noChangeArrowheads="1"/>
              </p:cNvSpPr>
              <p:nvPr/>
            </p:nvSpPr>
            <p:spPr bwMode="auto">
              <a:xfrm>
                <a:off x="3049924" y="5555875"/>
                <a:ext cx="32784" cy="467334"/>
              </a:xfrm>
              <a:prstGeom prst="rect">
                <a:avLst/>
              </a:prstGeom>
              <a:solidFill>
                <a:srgbClr val="C8FDF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21" name="Rectangle 513"/>
              <p:cNvSpPr>
                <a:spLocks noChangeArrowheads="1"/>
              </p:cNvSpPr>
              <p:nvPr/>
            </p:nvSpPr>
            <p:spPr bwMode="auto">
              <a:xfrm>
                <a:off x="3082707" y="5555875"/>
                <a:ext cx="34509" cy="467334"/>
              </a:xfrm>
              <a:prstGeom prst="rect">
                <a:avLst/>
              </a:prstGeom>
              <a:solidFill>
                <a:srgbClr val="C6FDF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22" name="Rectangle 514"/>
              <p:cNvSpPr>
                <a:spLocks noChangeArrowheads="1"/>
              </p:cNvSpPr>
              <p:nvPr/>
            </p:nvSpPr>
            <p:spPr bwMode="auto">
              <a:xfrm>
                <a:off x="3117216" y="5555875"/>
                <a:ext cx="34509" cy="467334"/>
              </a:xfrm>
              <a:prstGeom prst="rect">
                <a:avLst/>
              </a:prstGeom>
              <a:solidFill>
                <a:srgbClr val="C4FCF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23" name="Rectangle 515"/>
              <p:cNvSpPr>
                <a:spLocks noChangeArrowheads="1"/>
              </p:cNvSpPr>
              <p:nvPr/>
            </p:nvSpPr>
            <p:spPr bwMode="auto">
              <a:xfrm>
                <a:off x="3151725" y="5555875"/>
                <a:ext cx="34509" cy="467334"/>
              </a:xfrm>
              <a:prstGeom prst="rect">
                <a:avLst/>
              </a:prstGeom>
              <a:solidFill>
                <a:srgbClr val="C2FBF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24" name="Rectangle 516"/>
              <p:cNvSpPr>
                <a:spLocks noChangeArrowheads="1"/>
              </p:cNvSpPr>
              <p:nvPr/>
            </p:nvSpPr>
            <p:spPr bwMode="auto">
              <a:xfrm>
                <a:off x="3186234" y="5555875"/>
                <a:ext cx="32784" cy="467334"/>
              </a:xfrm>
              <a:prstGeom prst="rect">
                <a:avLst/>
              </a:prstGeom>
              <a:solidFill>
                <a:srgbClr val="C0FAF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25" name="Rectangle 517"/>
              <p:cNvSpPr>
                <a:spLocks noChangeArrowheads="1"/>
              </p:cNvSpPr>
              <p:nvPr/>
            </p:nvSpPr>
            <p:spPr bwMode="auto">
              <a:xfrm>
                <a:off x="3219017" y="5555875"/>
                <a:ext cx="39686" cy="467334"/>
              </a:xfrm>
              <a:prstGeom prst="rect">
                <a:avLst/>
              </a:prstGeom>
              <a:solidFill>
                <a:srgbClr val="BEF9F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26" name="Rectangle 518"/>
              <p:cNvSpPr>
                <a:spLocks noChangeArrowheads="1"/>
              </p:cNvSpPr>
              <p:nvPr/>
            </p:nvSpPr>
            <p:spPr bwMode="auto">
              <a:xfrm>
                <a:off x="3258702" y="5555875"/>
                <a:ext cx="39686" cy="467334"/>
              </a:xfrm>
              <a:prstGeom prst="rect">
                <a:avLst/>
              </a:prstGeom>
              <a:solidFill>
                <a:srgbClr val="BCF8F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27" name="Rectangle 519"/>
              <p:cNvSpPr>
                <a:spLocks noChangeArrowheads="1"/>
              </p:cNvSpPr>
              <p:nvPr/>
            </p:nvSpPr>
            <p:spPr bwMode="auto">
              <a:xfrm>
                <a:off x="3298388" y="5555875"/>
                <a:ext cx="39686" cy="467334"/>
              </a:xfrm>
              <a:prstGeom prst="rect">
                <a:avLst/>
              </a:prstGeom>
              <a:solidFill>
                <a:srgbClr val="BAF7F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28" name="Rectangle 520"/>
              <p:cNvSpPr>
                <a:spLocks noChangeArrowheads="1"/>
              </p:cNvSpPr>
              <p:nvPr/>
            </p:nvSpPr>
            <p:spPr bwMode="auto">
              <a:xfrm>
                <a:off x="3338072" y="5555875"/>
                <a:ext cx="34509" cy="467334"/>
              </a:xfrm>
              <a:prstGeom prst="rect">
                <a:avLst/>
              </a:prstGeom>
              <a:solidFill>
                <a:srgbClr val="B8F6F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29" name="Rectangle 521"/>
              <p:cNvSpPr>
                <a:spLocks noChangeArrowheads="1"/>
              </p:cNvSpPr>
              <p:nvPr/>
            </p:nvSpPr>
            <p:spPr bwMode="auto">
              <a:xfrm>
                <a:off x="3372581" y="5555875"/>
                <a:ext cx="34509" cy="467334"/>
              </a:xfrm>
              <a:prstGeom prst="rect">
                <a:avLst/>
              </a:prstGeom>
              <a:solidFill>
                <a:srgbClr val="B6F5F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30" name="Rectangle 522"/>
              <p:cNvSpPr>
                <a:spLocks noChangeArrowheads="1"/>
              </p:cNvSpPr>
              <p:nvPr/>
            </p:nvSpPr>
            <p:spPr bwMode="auto">
              <a:xfrm>
                <a:off x="3407090" y="5555875"/>
                <a:ext cx="39686" cy="467334"/>
              </a:xfrm>
              <a:prstGeom prst="rect">
                <a:avLst/>
              </a:prstGeom>
              <a:solidFill>
                <a:srgbClr val="B4F4F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31" name="Rectangle 523"/>
              <p:cNvSpPr>
                <a:spLocks noChangeArrowheads="1"/>
              </p:cNvSpPr>
              <p:nvPr/>
            </p:nvSpPr>
            <p:spPr bwMode="auto">
              <a:xfrm>
                <a:off x="3446776" y="5555875"/>
                <a:ext cx="32784" cy="467334"/>
              </a:xfrm>
              <a:prstGeom prst="rect">
                <a:avLst/>
              </a:prstGeom>
              <a:solidFill>
                <a:srgbClr val="B2F3F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32" name="Rectangle 524"/>
              <p:cNvSpPr>
                <a:spLocks noChangeArrowheads="1"/>
              </p:cNvSpPr>
              <p:nvPr/>
            </p:nvSpPr>
            <p:spPr bwMode="auto">
              <a:xfrm>
                <a:off x="3479559" y="5555875"/>
                <a:ext cx="34509" cy="467334"/>
              </a:xfrm>
              <a:prstGeom prst="rect">
                <a:avLst/>
              </a:prstGeom>
              <a:solidFill>
                <a:srgbClr val="B0F2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33" name="Rectangle 525"/>
              <p:cNvSpPr>
                <a:spLocks noChangeArrowheads="1"/>
              </p:cNvSpPr>
              <p:nvPr/>
            </p:nvSpPr>
            <p:spPr bwMode="auto">
              <a:xfrm>
                <a:off x="3514067" y="5555875"/>
                <a:ext cx="34509" cy="467334"/>
              </a:xfrm>
              <a:prstGeom prst="rect">
                <a:avLst/>
              </a:prstGeom>
              <a:solidFill>
                <a:srgbClr val="AEF2F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34" name="Rectangle 526"/>
              <p:cNvSpPr>
                <a:spLocks noChangeArrowheads="1"/>
              </p:cNvSpPr>
              <p:nvPr/>
            </p:nvSpPr>
            <p:spPr bwMode="auto">
              <a:xfrm>
                <a:off x="3548576" y="5555875"/>
                <a:ext cx="32784" cy="467334"/>
              </a:xfrm>
              <a:prstGeom prst="rect">
                <a:avLst/>
              </a:prstGeom>
              <a:solidFill>
                <a:srgbClr val="ACF0F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35" name="Rectangle 527"/>
              <p:cNvSpPr>
                <a:spLocks noChangeArrowheads="1"/>
              </p:cNvSpPr>
              <p:nvPr/>
            </p:nvSpPr>
            <p:spPr bwMode="auto">
              <a:xfrm>
                <a:off x="3581360" y="5555875"/>
                <a:ext cx="34509" cy="467334"/>
              </a:xfrm>
              <a:prstGeom prst="rect">
                <a:avLst/>
              </a:prstGeom>
              <a:solidFill>
                <a:srgbClr val="AAEFE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36" name="Rectangle 528"/>
              <p:cNvSpPr>
                <a:spLocks noChangeArrowheads="1"/>
              </p:cNvSpPr>
              <p:nvPr/>
            </p:nvSpPr>
            <p:spPr bwMode="auto">
              <a:xfrm>
                <a:off x="3615869" y="5555875"/>
                <a:ext cx="34509" cy="467334"/>
              </a:xfrm>
              <a:prstGeom prst="rect">
                <a:avLst/>
              </a:prstGeom>
              <a:solidFill>
                <a:srgbClr val="A8EEE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37" name="Rectangle 529"/>
              <p:cNvSpPr>
                <a:spLocks noChangeArrowheads="1"/>
              </p:cNvSpPr>
              <p:nvPr/>
            </p:nvSpPr>
            <p:spPr bwMode="auto">
              <a:xfrm>
                <a:off x="3650378" y="5555875"/>
                <a:ext cx="22431" cy="467334"/>
              </a:xfrm>
              <a:prstGeom prst="rect">
                <a:avLst/>
              </a:prstGeom>
              <a:solidFill>
                <a:srgbClr val="A5EDE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38" name="Rectangle 530"/>
              <p:cNvSpPr>
                <a:spLocks noChangeArrowheads="1"/>
              </p:cNvSpPr>
              <p:nvPr/>
            </p:nvSpPr>
            <p:spPr bwMode="auto">
              <a:xfrm>
                <a:off x="2295906" y="5555875"/>
                <a:ext cx="1376902" cy="467334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39" name="Rectangle 531"/>
              <p:cNvSpPr>
                <a:spLocks noChangeArrowheads="1"/>
              </p:cNvSpPr>
              <p:nvPr/>
            </p:nvSpPr>
            <p:spPr bwMode="auto">
              <a:xfrm>
                <a:off x="3265604" y="5570582"/>
                <a:ext cx="357167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1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TimeValuePair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40" name="Rectangle 532"/>
              <p:cNvSpPr>
                <a:spLocks noChangeArrowheads="1"/>
              </p:cNvSpPr>
              <p:nvPr/>
            </p:nvSpPr>
            <p:spPr bwMode="auto">
              <a:xfrm>
                <a:off x="2884282" y="5673525"/>
                <a:ext cx="193249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«Type»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41" name="Rectangle 533"/>
              <p:cNvSpPr>
                <a:spLocks noChangeArrowheads="1"/>
              </p:cNvSpPr>
              <p:nvPr/>
            </p:nvSpPr>
            <p:spPr bwMode="auto">
              <a:xfrm>
                <a:off x="2539194" y="5743789"/>
                <a:ext cx="805781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Measurement (TVP) Timeseries::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42" name="Rectangle 534"/>
              <p:cNvSpPr>
                <a:spLocks noChangeArrowheads="1"/>
              </p:cNvSpPr>
              <p:nvPr/>
            </p:nvSpPr>
            <p:spPr bwMode="auto">
              <a:xfrm>
                <a:off x="2663425" y="5812419"/>
                <a:ext cx="572846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MeasureTimeValuePair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43" name="Line 535"/>
              <p:cNvSpPr>
                <a:spLocks noChangeShapeType="1"/>
              </p:cNvSpPr>
              <p:nvPr/>
            </p:nvSpPr>
            <p:spPr bwMode="auto">
              <a:xfrm>
                <a:off x="2295906" y="5910461"/>
                <a:ext cx="1376902" cy="1635"/>
              </a:xfrm>
              <a:prstGeom prst="line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44" name="Rectangle 536"/>
              <p:cNvSpPr>
                <a:spLocks noChangeArrowheads="1"/>
              </p:cNvSpPr>
              <p:nvPr/>
            </p:nvSpPr>
            <p:spPr bwMode="auto">
              <a:xfrm>
                <a:off x="2323513" y="5931703"/>
                <a:ext cx="69018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8B0000"/>
                    </a:solidFill>
                    <a:effectLst/>
                    <a:latin typeface="Arial" pitchFamily="34" charset="0"/>
                    <a:cs typeface="Arial" pitchFamily="34" charset="0"/>
                  </a:rPr>
                  <a:t>+ 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45" name="Rectangle 537"/>
              <p:cNvSpPr>
                <a:spLocks noChangeArrowheads="1"/>
              </p:cNvSpPr>
              <p:nvPr/>
            </p:nvSpPr>
            <p:spPr bwMode="auto">
              <a:xfrm>
                <a:off x="2420138" y="5931703"/>
                <a:ext cx="379597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8B0000"/>
                    </a:solidFill>
                    <a:effectLst/>
                    <a:latin typeface="Arial" pitchFamily="34" charset="0"/>
                    <a:cs typeface="Arial" pitchFamily="34" charset="0"/>
                  </a:rPr>
                  <a:t>value  :Measure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46" name="Rectangle 538"/>
              <p:cNvSpPr>
                <a:spLocks noChangeArrowheads="1"/>
              </p:cNvSpPr>
              <p:nvPr/>
            </p:nvSpPr>
            <p:spPr bwMode="auto">
              <a:xfrm>
                <a:off x="6307557" y="3557451"/>
                <a:ext cx="843741" cy="290858"/>
              </a:xfrm>
              <a:prstGeom prst="rect">
                <a:avLst/>
              </a:prstGeom>
              <a:solidFill>
                <a:srgbClr val="C0BF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47" name="Rectangle 539"/>
              <p:cNvSpPr>
                <a:spLocks noChangeArrowheads="1"/>
              </p:cNvSpPr>
              <p:nvPr/>
            </p:nvSpPr>
            <p:spPr bwMode="auto">
              <a:xfrm>
                <a:off x="6307557" y="3557451"/>
                <a:ext cx="843741" cy="290858"/>
              </a:xfrm>
              <a:prstGeom prst="rect">
                <a:avLst/>
              </a:prstGeom>
              <a:noFill/>
              <a:ln w="4763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48" name="Rectangle 540"/>
              <p:cNvSpPr>
                <a:spLocks noChangeArrowheads="1"/>
              </p:cNvSpPr>
              <p:nvPr/>
            </p:nvSpPr>
            <p:spPr bwMode="auto">
              <a:xfrm>
                <a:off x="6290302" y="3541111"/>
                <a:ext cx="441713" cy="290858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49" name="Rectangle 541"/>
              <p:cNvSpPr>
                <a:spLocks noChangeArrowheads="1"/>
              </p:cNvSpPr>
              <p:nvPr/>
            </p:nvSpPr>
            <p:spPr bwMode="auto">
              <a:xfrm>
                <a:off x="6732015" y="3541111"/>
                <a:ext cx="22431" cy="290858"/>
              </a:xfrm>
              <a:prstGeom prst="rect">
                <a:avLst/>
              </a:prstGeom>
              <a:solidFill>
                <a:srgbClr val="CAFEC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50" name="Rectangle 542"/>
              <p:cNvSpPr>
                <a:spLocks noChangeArrowheads="1"/>
              </p:cNvSpPr>
              <p:nvPr/>
            </p:nvSpPr>
            <p:spPr bwMode="auto">
              <a:xfrm>
                <a:off x="6754445" y="3541111"/>
                <a:ext cx="17254" cy="290858"/>
              </a:xfrm>
              <a:prstGeom prst="rect">
                <a:avLst/>
              </a:prstGeom>
              <a:solidFill>
                <a:srgbClr val="C8FDC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51" name="Rectangle 543"/>
              <p:cNvSpPr>
                <a:spLocks noChangeArrowheads="1"/>
              </p:cNvSpPr>
              <p:nvPr/>
            </p:nvSpPr>
            <p:spPr bwMode="auto">
              <a:xfrm>
                <a:off x="6771700" y="3541111"/>
                <a:ext cx="22431" cy="290858"/>
              </a:xfrm>
              <a:prstGeom prst="rect">
                <a:avLst/>
              </a:prstGeom>
              <a:solidFill>
                <a:srgbClr val="C6FDC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52" name="Rectangle 544"/>
              <p:cNvSpPr>
                <a:spLocks noChangeArrowheads="1"/>
              </p:cNvSpPr>
              <p:nvPr/>
            </p:nvSpPr>
            <p:spPr bwMode="auto">
              <a:xfrm>
                <a:off x="6794131" y="3541111"/>
                <a:ext cx="22431" cy="290858"/>
              </a:xfrm>
              <a:prstGeom prst="rect">
                <a:avLst/>
              </a:prstGeom>
              <a:solidFill>
                <a:srgbClr val="C4FCC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53" name="Rectangle 545"/>
              <p:cNvSpPr>
                <a:spLocks noChangeArrowheads="1"/>
              </p:cNvSpPr>
              <p:nvPr/>
            </p:nvSpPr>
            <p:spPr bwMode="auto">
              <a:xfrm>
                <a:off x="6816561" y="3541111"/>
                <a:ext cx="17254" cy="290858"/>
              </a:xfrm>
              <a:prstGeom prst="rect">
                <a:avLst/>
              </a:prstGeom>
              <a:solidFill>
                <a:srgbClr val="C2FBC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54" name="Rectangle 546"/>
              <p:cNvSpPr>
                <a:spLocks noChangeArrowheads="1"/>
              </p:cNvSpPr>
              <p:nvPr/>
            </p:nvSpPr>
            <p:spPr bwMode="auto">
              <a:xfrm>
                <a:off x="6833816" y="3541111"/>
                <a:ext cx="22431" cy="290858"/>
              </a:xfrm>
              <a:prstGeom prst="rect">
                <a:avLst/>
              </a:prstGeom>
              <a:solidFill>
                <a:srgbClr val="C0FA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55" name="Rectangle 547"/>
              <p:cNvSpPr>
                <a:spLocks noChangeArrowheads="1"/>
              </p:cNvSpPr>
              <p:nvPr/>
            </p:nvSpPr>
            <p:spPr bwMode="auto">
              <a:xfrm>
                <a:off x="6856247" y="3541111"/>
                <a:ext cx="24156" cy="290858"/>
              </a:xfrm>
              <a:prstGeom prst="rect">
                <a:avLst/>
              </a:prstGeom>
              <a:solidFill>
                <a:srgbClr val="BEF9B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56" name="Rectangle 548"/>
              <p:cNvSpPr>
                <a:spLocks noChangeArrowheads="1"/>
              </p:cNvSpPr>
              <p:nvPr/>
            </p:nvSpPr>
            <p:spPr bwMode="auto">
              <a:xfrm>
                <a:off x="6880403" y="3541111"/>
                <a:ext cx="27607" cy="290858"/>
              </a:xfrm>
              <a:prstGeom prst="rect">
                <a:avLst/>
              </a:prstGeom>
              <a:solidFill>
                <a:srgbClr val="BCF8B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57" name="Rectangle 549"/>
              <p:cNvSpPr>
                <a:spLocks noChangeArrowheads="1"/>
              </p:cNvSpPr>
              <p:nvPr/>
            </p:nvSpPr>
            <p:spPr bwMode="auto">
              <a:xfrm>
                <a:off x="6908010" y="3541111"/>
                <a:ext cx="22431" cy="290858"/>
              </a:xfrm>
              <a:prstGeom prst="rect">
                <a:avLst/>
              </a:prstGeom>
              <a:solidFill>
                <a:srgbClr val="BAF7B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58" name="Rectangle 550"/>
              <p:cNvSpPr>
                <a:spLocks noChangeArrowheads="1"/>
              </p:cNvSpPr>
              <p:nvPr/>
            </p:nvSpPr>
            <p:spPr bwMode="auto">
              <a:xfrm>
                <a:off x="6930440" y="3541111"/>
                <a:ext cx="22431" cy="290858"/>
              </a:xfrm>
              <a:prstGeom prst="rect">
                <a:avLst/>
              </a:prstGeom>
              <a:solidFill>
                <a:srgbClr val="B8F6B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59" name="Rectangle 551"/>
              <p:cNvSpPr>
                <a:spLocks noChangeArrowheads="1"/>
              </p:cNvSpPr>
              <p:nvPr/>
            </p:nvSpPr>
            <p:spPr bwMode="auto">
              <a:xfrm>
                <a:off x="6952872" y="3541111"/>
                <a:ext cx="22431" cy="290858"/>
              </a:xfrm>
              <a:prstGeom prst="rect">
                <a:avLst/>
              </a:prstGeom>
              <a:solidFill>
                <a:srgbClr val="B6F5B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60" name="Rectangle 552"/>
              <p:cNvSpPr>
                <a:spLocks noChangeArrowheads="1"/>
              </p:cNvSpPr>
              <p:nvPr/>
            </p:nvSpPr>
            <p:spPr bwMode="auto">
              <a:xfrm>
                <a:off x="6975302" y="3541111"/>
                <a:ext cx="17254" cy="290858"/>
              </a:xfrm>
              <a:prstGeom prst="rect">
                <a:avLst/>
              </a:prstGeom>
              <a:solidFill>
                <a:srgbClr val="B4F4B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61" name="Rectangle 553"/>
              <p:cNvSpPr>
                <a:spLocks noChangeArrowheads="1"/>
              </p:cNvSpPr>
              <p:nvPr/>
            </p:nvSpPr>
            <p:spPr bwMode="auto">
              <a:xfrm>
                <a:off x="6992556" y="3541111"/>
                <a:ext cx="22431" cy="290858"/>
              </a:xfrm>
              <a:prstGeom prst="rect">
                <a:avLst/>
              </a:prstGeom>
              <a:solidFill>
                <a:srgbClr val="B2F3B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62" name="Rectangle 554"/>
              <p:cNvSpPr>
                <a:spLocks noChangeArrowheads="1"/>
              </p:cNvSpPr>
              <p:nvPr/>
            </p:nvSpPr>
            <p:spPr bwMode="auto">
              <a:xfrm>
                <a:off x="7014988" y="3541111"/>
                <a:ext cx="24156" cy="290858"/>
              </a:xfrm>
              <a:prstGeom prst="rect">
                <a:avLst/>
              </a:prstGeom>
              <a:solidFill>
                <a:srgbClr val="B0F3B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63" name="Rectangle 555"/>
              <p:cNvSpPr>
                <a:spLocks noChangeArrowheads="1"/>
              </p:cNvSpPr>
              <p:nvPr/>
            </p:nvSpPr>
            <p:spPr bwMode="auto">
              <a:xfrm>
                <a:off x="7039144" y="3541111"/>
                <a:ext cx="22431" cy="290858"/>
              </a:xfrm>
              <a:prstGeom prst="rect">
                <a:avLst/>
              </a:prstGeom>
              <a:solidFill>
                <a:srgbClr val="AEF1A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64" name="Rectangle 556"/>
              <p:cNvSpPr>
                <a:spLocks noChangeArrowheads="1"/>
              </p:cNvSpPr>
              <p:nvPr/>
            </p:nvSpPr>
            <p:spPr bwMode="auto">
              <a:xfrm>
                <a:off x="7061574" y="3541111"/>
                <a:ext cx="17254" cy="290858"/>
              </a:xfrm>
              <a:prstGeom prst="rect">
                <a:avLst/>
              </a:prstGeom>
              <a:solidFill>
                <a:srgbClr val="ACF0A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65" name="Rectangle 557"/>
              <p:cNvSpPr>
                <a:spLocks noChangeArrowheads="1"/>
              </p:cNvSpPr>
              <p:nvPr/>
            </p:nvSpPr>
            <p:spPr bwMode="auto">
              <a:xfrm>
                <a:off x="7078828" y="3541111"/>
                <a:ext cx="22431" cy="290858"/>
              </a:xfrm>
              <a:prstGeom prst="rect">
                <a:avLst/>
              </a:prstGeom>
              <a:solidFill>
                <a:srgbClr val="AAEFA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66" name="Rectangle 558"/>
              <p:cNvSpPr>
                <a:spLocks noChangeArrowheads="1"/>
              </p:cNvSpPr>
              <p:nvPr/>
            </p:nvSpPr>
            <p:spPr bwMode="auto">
              <a:xfrm>
                <a:off x="7101260" y="3541111"/>
                <a:ext cx="22431" cy="290858"/>
              </a:xfrm>
              <a:prstGeom prst="rect">
                <a:avLst/>
              </a:prstGeom>
              <a:solidFill>
                <a:srgbClr val="A8EEA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67" name="Rectangle 559"/>
              <p:cNvSpPr>
                <a:spLocks noChangeArrowheads="1"/>
              </p:cNvSpPr>
              <p:nvPr/>
            </p:nvSpPr>
            <p:spPr bwMode="auto">
              <a:xfrm>
                <a:off x="7123690" y="3541111"/>
                <a:ext cx="10353" cy="290858"/>
              </a:xfrm>
              <a:prstGeom prst="rect">
                <a:avLst/>
              </a:prstGeom>
              <a:solidFill>
                <a:srgbClr val="A6EDA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68" name="Rectangle 560"/>
              <p:cNvSpPr>
                <a:spLocks noChangeArrowheads="1"/>
              </p:cNvSpPr>
              <p:nvPr/>
            </p:nvSpPr>
            <p:spPr bwMode="auto">
              <a:xfrm>
                <a:off x="6290302" y="3541111"/>
                <a:ext cx="843741" cy="290858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69" name="Rectangle 561"/>
              <p:cNvSpPr>
                <a:spLocks noChangeArrowheads="1"/>
              </p:cNvSpPr>
              <p:nvPr/>
            </p:nvSpPr>
            <p:spPr bwMode="auto">
              <a:xfrm>
                <a:off x="6511159" y="3573792"/>
                <a:ext cx="36234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«FeatureType»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70" name="Rectangle 562"/>
              <p:cNvSpPr>
                <a:spLocks noChangeArrowheads="1"/>
              </p:cNvSpPr>
              <p:nvPr/>
            </p:nvSpPr>
            <p:spPr bwMode="auto">
              <a:xfrm>
                <a:off x="6443866" y="3644055"/>
                <a:ext cx="493476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WQ_Measurement::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71" name="Rectangle 563"/>
              <p:cNvSpPr>
                <a:spLocks noChangeArrowheads="1"/>
              </p:cNvSpPr>
              <p:nvPr/>
            </p:nvSpPr>
            <p:spPr bwMode="auto">
              <a:xfrm>
                <a:off x="6461121" y="3712684"/>
                <a:ext cx="458967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WQ_Measurement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72" name="Rectangle 564"/>
              <p:cNvSpPr>
                <a:spLocks noChangeArrowheads="1"/>
              </p:cNvSpPr>
              <p:nvPr/>
            </p:nvSpPr>
            <p:spPr bwMode="auto">
              <a:xfrm>
                <a:off x="2948123" y="4809122"/>
                <a:ext cx="1439018" cy="263080"/>
              </a:xfrm>
              <a:prstGeom prst="rect">
                <a:avLst/>
              </a:prstGeom>
              <a:solidFill>
                <a:srgbClr val="C0BF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73" name="Rectangle 565"/>
              <p:cNvSpPr>
                <a:spLocks noChangeArrowheads="1"/>
              </p:cNvSpPr>
              <p:nvPr/>
            </p:nvSpPr>
            <p:spPr bwMode="auto">
              <a:xfrm>
                <a:off x="2948123" y="4809122"/>
                <a:ext cx="1439018" cy="263080"/>
              </a:xfrm>
              <a:prstGeom prst="rect">
                <a:avLst/>
              </a:prstGeom>
              <a:noFill/>
              <a:ln w="4763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74" name="Rectangle 566"/>
              <p:cNvSpPr>
                <a:spLocks noChangeArrowheads="1"/>
              </p:cNvSpPr>
              <p:nvPr/>
            </p:nvSpPr>
            <p:spPr bwMode="auto">
              <a:xfrm>
                <a:off x="2930868" y="4792781"/>
                <a:ext cx="747116" cy="263080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75" name="Rectangle 567"/>
              <p:cNvSpPr>
                <a:spLocks noChangeArrowheads="1"/>
              </p:cNvSpPr>
              <p:nvPr/>
            </p:nvSpPr>
            <p:spPr bwMode="auto">
              <a:xfrm>
                <a:off x="3677985" y="4792781"/>
                <a:ext cx="39686" cy="263080"/>
              </a:xfrm>
              <a:prstGeom prst="rect">
                <a:avLst/>
              </a:prstGeom>
              <a:solidFill>
                <a:srgbClr val="CAFEC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76" name="Rectangle 568"/>
              <p:cNvSpPr>
                <a:spLocks noChangeArrowheads="1"/>
              </p:cNvSpPr>
              <p:nvPr/>
            </p:nvSpPr>
            <p:spPr bwMode="auto">
              <a:xfrm>
                <a:off x="3717669" y="4792781"/>
                <a:ext cx="34509" cy="263080"/>
              </a:xfrm>
              <a:prstGeom prst="rect">
                <a:avLst/>
              </a:prstGeom>
              <a:solidFill>
                <a:srgbClr val="C8FDC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77" name="Rectangle 569"/>
              <p:cNvSpPr>
                <a:spLocks noChangeArrowheads="1"/>
              </p:cNvSpPr>
              <p:nvPr/>
            </p:nvSpPr>
            <p:spPr bwMode="auto">
              <a:xfrm>
                <a:off x="3752178" y="4792781"/>
                <a:ext cx="34509" cy="263080"/>
              </a:xfrm>
              <a:prstGeom prst="rect">
                <a:avLst/>
              </a:prstGeom>
              <a:solidFill>
                <a:srgbClr val="C6FDC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78" name="Rectangle 570"/>
              <p:cNvSpPr>
                <a:spLocks noChangeArrowheads="1"/>
              </p:cNvSpPr>
              <p:nvPr/>
            </p:nvSpPr>
            <p:spPr bwMode="auto">
              <a:xfrm>
                <a:off x="3786687" y="4792781"/>
                <a:ext cx="39686" cy="263080"/>
              </a:xfrm>
              <a:prstGeom prst="rect">
                <a:avLst/>
              </a:prstGeom>
              <a:solidFill>
                <a:srgbClr val="C4FCC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79" name="Rectangle 571"/>
              <p:cNvSpPr>
                <a:spLocks noChangeArrowheads="1"/>
              </p:cNvSpPr>
              <p:nvPr/>
            </p:nvSpPr>
            <p:spPr bwMode="auto">
              <a:xfrm>
                <a:off x="3826373" y="4792781"/>
                <a:ext cx="32784" cy="263080"/>
              </a:xfrm>
              <a:prstGeom prst="rect">
                <a:avLst/>
              </a:prstGeom>
              <a:solidFill>
                <a:srgbClr val="C2FBC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80" name="Rectangle 572"/>
              <p:cNvSpPr>
                <a:spLocks noChangeArrowheads="1"/>
              </p:cNvSpPr>
              <p:nvPr/>
            </p:nvSpPr>
            <p:spPr bwMode="auto">
              <a:xfrm>
                <a:off x="3859156" y="4792781"/>
                <a:ext cx="34509" cy="263080"/>
              </a:xfrm>
              <a:prstGeom prst="rect">
                <a:avLst/>
              </a:prstGeom>
              <a:solidFill>
                <a:srgbClr val="C0FA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81" name="Rectangle 573"/>
              <p:cNvSpPr>
                <a:spLocks noChangeArrowheads="1"/>
              </p:cNvSpPr>
              <p:nvPr/>
            </p:nvSpPr>
            <p:spPr bwMode="auto">
              <a:xfrm>
                <a:off x="3893664" y="4792781"/>
                <a:ext cx="39686" cy="263080"/>
              </a:xfrm>
              <a:prstGeom prst="rect">
                <a:avLst/>
              </a:prstGeom>
              <a:solidFill>
                <a:srgbClr val="BEF9B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82" name="Rectangle 574"/>
              <p:cNvSpPr>
                <a:spLocks noChangeArrowheads="1"/>
              </p:cNvSpPr>
              <p:nvPr/>
            </p:nvSpPr>
            <p:spPr bwMode="auto">
              <a:xfrm>
                <a:off x="3933350" y="4792781"/>
                <a:ext cx="44861" cy="263080"/>
              </a:xfrm>
              <a:prstGeom prst="rect">
                <a:avLst/>
              </a:prstGeom>
              <a:solidFill>
                <a:srgbClr val="BCF8B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83" name="Rectangle 575"/>
              <p:cNvSpPr>
                <a:spLocks noChangeArrowheads="1"/>
              </p:cNvSpPr>
              <p:nvPr/>
            </p:nvSpPr>
            <p:spPr bwMode="auto">
              <a:xfrm>
                <a:off x="3978211" y="4792781"/>
                <a:ext cx="46587" cy="263080"/>
              </a:xfrm>
              <a:prstGeom prst="rect">
                <a:avLst/>
              </a:prstGeom>
              <a:solidFill>
                <a:srgbClr val="BAF7B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84" name="Rectangle 576"/>
              <p:cNvSpPr>
                <a:spLocks noChangeArrowheads="1"/>
              </p:cNvSpPr>
              <p:nvPr/>
            </p:nvSpPr>
            <p:spPr bwMode="auto">
              <a:xfrm>
                <a:off x="4024798" y="4792781"/>
                <a:ext cx="32784" cy="263080"/>
              </a:xfrm>
              <a:prstGeom prst="rect">
                <a:avLst/>
              </a:prstGeom>
              <a:solidFill>
                <a:srgbClr val="B8F6B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85" name="Rectangle 577"/>
              <p:cNvSpPr>
                <a:spLocks noChangeArrowheads="1"/>
              </p:cNvSpPr>
              <p:nvPr/>
            </p:nvSpPr>
            <p:spPr bwMode="auto">
              <a:xfrm>
                <a:off x="4057582" y="4792781"/>
                <a:ext cx="34509" cy="263080"/>
              </a:xfrm>
              <a:prstGeom prst="rect">
                <a:avLst/>
              </a:prstGeom>
              <a:solidFill>
                <a:srgbClr val="B6F5B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86" name="Rectangle 578"/>
              <p:cNvSpPr>
                <a:spLocks noChangeArrowheads="1"/>
              </p:cNvSpPr>
              <p:nvPr/>
            </p:nvSpPr>
            <p:spPr bwMode="auto">
              <a:xfrm>
                <a:off x="4092091" y="4792781"/>
                <a:ext cx="39686" cy="263080"/>
              </a:xfrm>
              <a:prstGeom prst="rect">
                <a:avLst/>
              </a:prstGeom>
              <a:solidFill>
                <a:srgbClr val="B4F4B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87" name="Rectangle 579"/>
              <p:cNvSpPr>
                <a:spLocks noChangeArrowheads="1"/>
              </p:cNvSpPr>
              <p:nvPr/>
            </p:nvSpPr>
            <p:spPr bwMode="auto">
              <a:xfrm>
                <a:off x="4131775" y="4792781"/>
                <a:ext cx="34509" cy="263080"/>
              </a:xfrm>
              <a:prstGeom prst="rect">
                <a:avLst/>
              </a:prstGeom>
              <a:solidFill>
                <a:srgbClr val="B2F3B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88" name="Rectangle 580"/>
              <p:cNvSpPr>
                <a:spLocks noChangeArrowheads="1"/>
              </p:cNvSpPr>
              <p:nvPr/>
            </p:nvSpPr>
            <p:spPr bwMode="auto">
              <a:xfrm>
                <a:off x="4166284" y="4792781"/>
                <a:ext cx="32784" cy="263080"/>
              </a:xfrm>
              <a:prstGeom prst="rect">
                <a:avLst/>
              </a:prstGeom>
              <a:solidFill>
                <a:srgbClr val="B0F3B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89" name="Rectangle 581"/>
              <p:cNvSpPr>
                <a:spLocks noChangeArrowheads="1"/>
              </p:cNvSpPr>
              <p:nvPr/>
            </p:nvSpPr>
            <p:spPr bwMode="auto">
              <a:xfrm>
                <a:off x="4199068" y="4792781"/>
                <a:ext cx="39686" cy="263080"/>
              </a:xfrm>
              <a:prstGeom prst="rect">
                <a:avLst/>
              </a:prstGeom>
              <a:solidFill>
                <a:srgbClr val="AEF2A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90" name="Rectangle 582"/>
              <p:cNvSpPr>
                <a:spLocks noChangeArrowheads="1"/>
              </p:cNvSpPr>
              <p:nvPr/>
            </p:nvSpPr>
            <p:spPr bwMode="auto">
              <a:xfrm>
                <a:off x="4238753" y="4792781"/>
                <a:ext cx="34509" cy="263080"/>
              </a:xfrm>
              <a:prstGeom prst="rect">
                <a:avLst/>
              </a:prstGeom>
              <a:solidFill>
                <a:srgbClr val="ACF0A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91" name="Rectangle 583"/>
              <p:cNvSpPr>
                <a:spLocks noChangeArrowheads="1"/>
              </p:cNvSpPr>
              <p:nvPr/>
            </p:nvSpPr>
            <p:spPr bwMode="auto">
              <a:xfrm>
                <a:off x="4273261" y="4792781"/>
                <a:ext cx="34509" cy="263080"/>
              </a:xfrm>
              <a:prstGeom prst="rect">
                <a:avLst/>
              </a:prstGeom>
              <a:solidFill>
                <a:srgbClr val="AAEFA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92" name="Rectangle 584"/>
              <p:cNvSpPr>
                <a:spLocks noChangeArrowheads="1"/>
              </p:cNvSpPr>
              <p:nvPr/>
            </p:nvSpPr>
            <p:spPr bwMode="auto">
              <a:xfrm>
                <a:off x="4307770" y="4792781"/>
                <a:ext cx="39686" cy="263080"/>
              </a:xfrm>
              <a:prstGeom prst="rect">
                <a:avLst/>
              </a:prstGeom>
              <a:solidFill>
                <a:srgbClr val="A8EEA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93" name="Rectangle 585"/>
              <p:cNvSpPr>
                <a:spLocks noChangeArrowheads="1"/>
              </p:cNvSpPr>
              <p:nvPr/>
            </p:nvSpPr>
            <p:spPr bwMode="auto">
              <a:xfrm>
                <a:off x="4347456" y="4792781"/>
                <a:ext cx="22431" cy="263080"/>
              </a:xfrm>
              <a:prstGeom prst="rect">
                <a:avLst/>
              </a:prstGeom>
              <a:solidFill>
                <a:srgbClr val="A5EDA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94" name="Rectangle 586"/>
              <p:cNvSpPr>
                <a:spLocks noChangeArrowheads="1"/>
              </p:cNvSpPr>
              <p:nvPr/>
            </p:nvSpPr>
            <p:spPr bwMode="auto">
              <a:xfrm>
                <a:off x="2930868" y="4792781"/>
                <a:ext cx="1439018" cy="263080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95" name="Rectangle 587"/>
              <p:cNvSpPr>
                <a:spLocks noChangeArrowheads="1"/>
              </p:cNvSpPr>
              <p:nvPr/>
            </p:nvSpPr>
            <p:spPr bwMode="auto">
              <a:xfrm>
                <a:off x="3446776" y="4825462"/>
                <a:ext cx="36234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«FeatureType»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96" name="Rectangle 588"/>
              <p:cNvSpPr>
                <a:spLocks noChangeArrowheads="1"/>
              </p:cNvSpPr>
              <p:nvPr/>
            </p:nvSpPr>
            <p:spPr bwMode="auto">
              <a:xfrm>
                <a:off x="2998161" y="4894091"/>
                <a:ext cx="1156045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WQ_MeasurementTimeSeriesTVPObservation::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97" name="Rectangle 589"/>
              <p:cNvSpPr>
                <a:spLocks noChangeArrowheads="1"/>
              </p:cNvSpPr>
              <p:nvPr/>
            </p:nvSpPr>
            <p:spPr bwMode="auto">
              <a:xfrm>
                <a:off x="3015415" y="4964354"/>
                <a:ext cx="112326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WQ_MeasurementTimeSeriesTVPObservation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7998" name="Rectangle 590"/>
              <p:cNvSpPr>
                <a:spLocks noChangeArrowheads="1"/>
              </p:cNvSpPr>
              <p:nvPr/>
            </p:nvSpPr>
            <p:spPr bwMode="auto">
              <a:xfrm>
                <a:off x="4687367" y="6220927"/>
                <a:ext cx="1307884" cy="295761"/>
              </a:xfrm>
              <a:prstGeom prst="rect">
                <a:avLst/>
              </a:prstGeom>
              <a:solidFill>
                <a:srgbClr val="C0BF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7999" name="Rectangle 591"/>
              <p:cNvSpPr>
                <a:spLocks noChangeArrowheads="1"/>
              </p:cNvSpPr>
              <p:nvPr/>
            </p:nvSpPr>
            <p:spPr bwMode="auto">
              <a:xfrm>
                <a:off x="4687367" y="6220927"/>
                <a:ext cx="1307884" cy="295761"/>
              </a:xfrm>
              <a:prstGeom prst="rect">
                <a:avLst/>
              </a:prstGeom>
              <a:noFill/>
              <a:ln w="4763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00" name="Rectangle 592"/>
              <p:cNvSpPr>
                <a:spLocks noChangeArrowheads="1"/>
              </p:cNvSpPr>
              <p:nvPr/>
            </p:nvSpPr>
            <p:spPr bwMode="auto">
              <a:xfrm>
                <a:off x="4670113" y="6204587"/>
                <a:ext cx="679824" cy="295761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01" name="Rectangle 593"/>
              <p:cNvSpPr>
                <a:spLocks noChangeArrowheads="1"/>
              </p:cNvSpPr>
              <p:nvPr/>
            </p:nvSpPr>
            <p:spPr bwMode="auto">
              <a:xfrm>
                <a:off x="5349937" y="6204587"/>
                <a:ext cx="34509" cy="295761"/>
              </a:xfrm>
              <a:prstGeom prst="rect">
                <a:avLst/>
              </a:prstGeom>
              <a:solidFill>
                <a:srgbClr val="CAFEC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02" name="Rectangle 594"/>
              <p:cNvSpPr>
                <a:spLocks noChangeArrowheads="1"/>
              </p:cNvSpPr>
              <p:nvPr/>
            </p:nvSpPr>
            <p:spPr bwMode="auto">
              <a:xfrm>
                <a:off x="5384445" y="6204587"/>
                <a:ext cx="32784" cy="295761"/>
              </a:xfrm>
              <a:prstGeom prst="rect">
                <a:avLst/>
              </a:prstGeom>
              <a:solidFill>
                <a:srgbClr val="C8FEC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03" name="Rectangle 595"/>
              <p:cNvSpPr>
                <a:spLocks noChangeArrowheads="1"/>
              </p:cNvSpPr>
              <p:nvPr/>
            </p:nvSpPr>
            <p:spPr bwMode="auto">
              <a:xfrm>
                <a:off x="5417229" y="6204587"/>
                <a:ext cx="34509" cy="295761"/>
              </a:xfrm>
              <a:prstGeom prst="rect">
                <a:avLst/>
              </a:prstGeom>
              <a:solidFill>
                <a:srgbClr val="C6FDC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04" name="Rectangle 596"/>
              <p:cNvSpPr>
                <a:spLocks noChangeArrowheads="1"/>
              </p:cNvSpPr>
              <p:nvPr/>
            </p:nvSpPr>
            <p:spPr bwMode="auto">
              <a:xfrm>
                <a:off x="5451738" y="6204587"/>
                <a:ext cx="27607" cy="295761"/>
              </a:xfrm>
              <a:prstGeom prst="rect">
                <a:avLst/>
              </a:prstGeom>
              <a:solidFill>
                <a:srgbClr val="C4FCC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05" name="Rectangle 597"/>
              <p:cNvSpPr>
                <a:spLocks noChangeArrowheads="1"/>
              </p:cNvSpPr>
              <p:nvPr/>
            </p:nvSpPr>
            <p:spPr bwMode="auto">
              <a:xfrm>
                <a:off x="5479345" y="6204587"/>
                <a:ext cx="34509" cy="295761"/>
              </a:xfrm>
              <a:prstGeom prst="rect">
                <a:avLst/>
              </a:prstGeom>
              <a:solidFill>
                <a:srgbClr val="C2FBC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06" name="Rectangle 598"/>
              <p:cNvSpPr>
                <a:spLocks noChangeArrowheads="1"/>
              </p:cNvSpPr>
              <p:nvPr/>
            </p:nvSpPr>
            <p:spPr bwMode="auto">
              <a:xfrm>
                <a:off x="5513854" y="6204587"/>
                <a:ext cx="34509" cy="295761"/>
              </a:xfrm>
              <a:prstGeom prst="rect">
                <a:avLst/>
              </a:prstGeom>
              <a:solidFill>
                <a:srgbClr val="C0FA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07" name="Rectangle 599"/>
              <p:cNvSpPr>
                <a:spLocks noChangeArrowheads="1"/>
              </p:cNvSpPr>
              <p:nvPr/>
            </p:nvSpPr>
            <p:spPr bwMode="auto">
              <a:xfrm>
                <a:off x="5548363" y="6204587"/>
                <a:ext cx="34509" cy="295761"/>
              </a:xfrm>
              <a:prstGeom prst="rect">
                <a:avLst/>
              </a:prstGeom>
              <a:solidFill>
                <a:srgbClr val="BEF9B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08" name="Rectangle 600"/>
              <p:cNvSpPr>
                <a:spLocks noChangeArrowheads="1"/>
              </p:cNvSpPr>
              <p:nvPr/>
            </p:nvSpPr>
            <p:spPr bwMode="auto">
              <a:xfrm>
                <a:off x="5582872" y="6204587"/>
                <a:ext cx="39686" cy="295761"/>
              </a:xfrm>
              <a:prstGeom prst="rect">
                <a:avLst/>
              </a:prstGeom>
              <a:solidFill>
                <a:srgbClr val="BCF8B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09" name="Rectangle 601"/>
              <p:cNvSpPr>
                <a:spLocks noChangeArrowheads="1"/>
              </p:cNvSpPr>
              <p:nvPr/>
            </p:nvSpPr>
            <p:spPr bwMode="auto">
              <a:xfrm>
                <a:off x="5622556" y="6204587"/>
                <a:ext cx="39686" cy="295761"/>
              </a:xfrm>
              <a:prstGeom prst="rect">
                <a:avLst/>
              </a:prstGeom>
              <a:solidFill>
                <a:srgbClr val="BAF7B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10" name="Rectangle 602"/>
              <p:cNvSpPr>
                <a:spLocks noChangeArrowheads="1"/>
              </p:cNvSpPr>
              <p:nvPr/>
            </p:nvSpPr>
            <p:spPr bwMode="auto">
              <a:xfrm>
                <a:off x="5662242" y="6204587"/>
                <a:ext cx="32784" cy="295761"/>
              </a:xfrm>
              <a:prstGeom prst="rect">
                <a:avLst/>
              </a:prstGeom>
              <a:solidFill>
                <a:srgbClr val="B8F6B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11" name="Rectangle 603"/>
              <p:cNvSpPr>
                <a:spLocks noChangeArrowheads="1"/>
              </p:cNvSpPr>
              <p:nvPr/>
            </p:nvSpPr>
            <p:spPr bwMode="auto">
              <a:xfrm>
                <a:off x="5695025" y="6204587"/>
                <a:ext cx="34509" cy="295761"/>
              </a:xfrm>
              <a:prstGeom prst="rect">
                <a:avLst/>
              </a:prstGeom>
              <a:solidFill>
                <a:srgbClr val="B6F5B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12" name="Rectangle 604"/>
              <p:cNvSpPr>
                <a:spLocks noChangeArrowheads="1"/>
              </p:cNvSpPr>
              <p:nvPr/>
            </p:nvSpPr>
            <p:spPr bwMode="auto">
              <a:xfrm>
                <a:off x="5729534" y="6204587"/>
                <a:ext cx="34509" cy="295761"/>
              </a:xfrm>
              <a:prstGeom prst="rect">
                <a:avLst/>
              </a:prstGeom>
              <a:solidFill>
                <a:srgbClr val="B4F4B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13" name="Rectangle 605"/>
              <p:cNvSpPr>
                <a:spLocks noChangeArrowheads="1"/>
              </p:cNvSpPr>
              <p:nvPr/>
            </p:nvSpPr>
            <p:spPr bwMode="auto">
              <a:xfrm>
                <a:off x="5764042" y="6204587"/>
                <a:ext cx="27607" cy="295761"/>
              </a:xfrm>
              <a:prstGeom prst="rect">
                <a:avLst/>
              </a:prstGeom>
              <a:solidFill>
                <a:srgbClr val="B2F3B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  <p:grpSp>
          <p:nvGrpSpPr>
            <p:cNvPr id="785" name="Group 784"/>
            <p:cNvGrpSpPr/>
            <p:nvPr/>
          </p:nvGrpSpPr>
          <p:grpSpPr>
            <a:xfrm>
              <a:off x="1831763" y="2333559"/>
              <a:ext cx="4543087" cy="4166788"/>
              <a:chOff x="1831763" y="2333559"/>
              <a:chExt cx="4543087" cy="4166788"/>
            </a:xfrm>
          </p:grpSpPr>
          <p:sp>
            <p:nvSpPr>
              <p:cNvPr id="18015" name="Rectangle 607"/>
              <p:cNvSpPr>
                <a:spLocks noChangeArrowheads="1"/>
              </p:cNvSpPr>
              <p:nvPr/>
            </p:nvSpPr>
            <p:spPr bwMode="auto">
              <a:xfrm>
                <a:off x="5791650" y="6204586"/>
                <a:ext cx="34509" cy="295761"/>
              </a:xfrm>
              <a:prstGeom prst="rect">
                <a:avLst/>
              </a:prstGeom>
              <a:solidFill>
                <a:srgbClr val="B0F3B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16" name="Rectangle 608"/>
              <p:cNvSpPr>
                <a:spLocks noChangeArrowheads="1"/>
              </p:cNvSpPr>
              <p:nvPr/>
            </p:nvSpPr>
            <p:spPr bwMode="auto">
              <a:xfrm>
                <a:off x="5826159" y="6204586"/>
                <a:ext cx="32784" cy="295761"/>
              </a:xfrm>
              <a:prstGeom prst="rect">
                <a:avLst/>
              </a:prstGeom>
              <a:solidFill>
                <a:srgbClr val="AEF2A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17" name="Rectangle 609"/>
              <p:cNvSpPr>
                <a:spLocks noChangeArrowheads="1"/>
              </p:cNvSpPr>
              <p:nvPr/>
            </p:nvSpPr>
            <p:spPr bwMode="auto">
              <a:xfrm>
                <a:off x="5858943" y="6204586"/>
                <a:ext cx="34509" cy="295761"/>
              </a:xfrm>
              <a:prstGeom prst="rect">
                <a:avLst/>
              </a:prstGeom>
              <a:solidFill>
                <a:srgbClr val="ACF0A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18" name="Rectangle 610"/>
              <p:cNvSpPr>
                <a:spLocks noChangeArrowheads="1"/>
              </p:cNvSpPr>
              <p:nvPr/>
            </p:nvSpPr>
            <p:spPr bwMode="auto">
              <a:xfrm>
                <a:off x="5893451" y="6204586"/>
                <a:ext cx="29333" cy="295761"/>
              </a:xfrm>
              <a:prstGeom prst="rect">
                <a:avLst/>
              </a:prstGeom>
              <a:solidFill>
                <a:srgbClr val="AAEFA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19" name="Rectangle 611"/>
              <p:cNvSpPr>
                <a:spLocks noChangeArrowheads="1"/>
              </p:cNvSpPr>
              <p:nvPr/>
            </p:nvSpPr>
            <p:spPr bwMode="auto">
              <a:xfrm>
                <a:off x="5922783" y="6204586"/>
                <a:ext cx="32784" cy="295761"/>
              </a:xfrm>
              <a:prstGeom prst="rect">
                <a:avLst/>
              </a:prstGeom>
              <a:solidFill>
                <a:srgbClr val="A8EEA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20" name="Rectangle 612"/>
              <p:cNvSpPr>
                <a:spLocks noChangeArrowheads="1"/>
              </p:cNvSpPr>
              <p:nvPr/>
            </p:nvSpPr>
            <p:spPr bwMode="auto">
              <a:xfrm>
                <a:off x="5955567" y="6204586"/>
                <a:ext cx="22431" cy="295761"/>
              </a:xfrm>
              <a:prstGeom prst="rect">
                <a:avLst/>
              </a:prstGeom>
              <a:solidFill>
                <a:srgbClr val="A5EDA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21" name="Rectangle 613"/>
              <p:cNvSpPr>
                <a:spLocks noChangeArrowheads="1"/>
              </p:cNvSpPr>
              <p:nvPr/>
            </p:nvSpPr>
            <p:spPr bwMode="auto">
              <a:xfrm>
                <a:off x="4670113" y="6204586"/>
                <a:ext cx="1307884" cy="295761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22" name="Rectangle 614"/>
              <p:cNvSpPr>
                <a:spLocks noChangeArrowheads="1"/>
              </p:cNvSpPr>
              <p:nvPr/>
            </p:nvSpPr>
            <p:spPr bwMode="auto">
              <a:xfrm>
                <a:off x="5123905" y="6237267"/>
                <a:ext cx="36234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«FeatureType»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023" name="Rectangle 615"/>
              <p:cNvSpPr>
                <a:spLocks noChangeArrowheads="1"/>
              </p:cNvSpPr>
              <p:nvPr/>
            </p:nvSpPr>
            <p:spPr bwMode="auto">
              <a:xfrm>
                <a:off x="4846108" y="6307531"/>
                <a:ext cx="855819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WQ_MeasurementTimeseriesTVP::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024" name="Rectangle 616"/>
              <p:cNvSpPr>
                <a:spLocks noChangeArrowheads="1"/>
              </p:cNvSpPr>
              <p:nvPr/>
            </p:nvSpPr>
            <p:spPr bwMode="auto">
              <a:xfrm>
                <a:off x="4863362" y="6376160"/>
                <a:ext cx="828212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WQ_MeasurementTimeSeriesTVP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025" name="Rectangle 617"/>
              <p:cNvSpPr>
                <a:spLocks noChangeArrowheads="1"/>
              </p:cNvSpPr>
              <p:nvPr/>
            </p:nvSpPr>
            <p:spPr bwMode="auto">
              <a:xfrm>
                <a:off x="1990503" y="3315614"/>
                <a:ext cx="565945" cy="253276"/>
              </a:xfrm>
              <a:prstGeom prst="rect">
                <a:avLst/>
              </a:prstGeom>
              <a:solidFill>
                <a:srgbClr val="C0BF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26" name="Rectangle 618"/>
              <p:cNvSpPr>
                <a:spLocks noChangeArrowheads="1"/>
              </p:cNvSpPr>
              <p:nvPr/>
            </p:nvSpPr>
            <p:spPr bwMode="auto">
              <a:xfrm>
                <a:off x="1990503" y="3315614"/>
                <a:ext cx="565945" cy="253276"/>
              </a:xfrm>
              <a:prstGeom prst="rect">
                <a:avLst/>
              </a:prstGeom>
              <a:noFill/>
              <a:ln w="4763" cap="sq">
                <a:solidFill>
                  <a:srgbClr val="C0BFC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27" name="Rectangle 619"/>
              <p:cNvSpPr>
                <a:spLocks noChangeArrowheads="1"/>
              </p:cNvSpPr>
              <p:nvPr/>
            </p:nvSpPr>
            <p:spPr bwMode="auto">
              <a:xfrm>
                <a:off x="1973249" y="3299273"/>
                <a:ext cx="288149" cy="253276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28" name="Rectangle 620"/>
              <p:cNvSpPr>
                <a:spLocks noChangeArrowheads="1"/>
              </p:cNvSpPr>
              <p:nvPr/>
            </p:nvSpPr>
            <p:spPr bwMode="auto">
              <a:xfrm>
                <a:off x="2261397" y="3299273"/>
                <a:ext cx="6902" cy="253276"/>
              </a:xfrm>
              <a:prstGeom prst="rect">
                <a:avLst/>
              </a:prstGeom>
              <a:solidFill>
                <a:srgbClr val="CBFFC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29" name="Rectangle 621"/>
              <p:cNvSpPr>
                <a:spLocks noChangeArrowheads="1"/>
              </p:cNvSpPr>
              <p:nvPr/>
            </p:nvSpPr>
            <p:spPr bwMode="auto">
              <a:xfrm>
                <a:off x="2268299" y="3299273"/>
                <a:ext cx="10353" cy="253276"/>
              </a:xfrm>
              <a:prstGeom prst="rect">
                <a:avLst/>
              </a:prstGeom>
              <a:solidFill>
                <a:srgbClr val="CAFEC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30" name="Rectangle 622"/>
              <p:cNvSpPr>
                <a:spLocks noChangeArrowheads="1"/>
              </p:cNvSpPr>
              <p:nvPr/>
            </p:nvSpPr>
            <p:spPr bwMode="auto">
              <a:xfrm>
                <a:off x="2278651" y="3299273"/>
                <a:ext cx="5177" cy="253276"/>
              </a:xfrm>
              <a:prstGeom prst="rect">
                <a:avLst/>
              </a:prstGeom>
              <a:solidFill>
                <a:srgbClr val="C9FEC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31" name="Rectangle 623"/>
              <p:cNvSpPr>
                <a:spLocks noChangeArrowheads="1"/>
              </p:cNvSpPr>
              <p:nvPr/>
            </p:nvSpPr>
            <p:spPr bwMode="auto">
              <a:xfrm>
                <a:off x="2283828" y="3299273"/>
                <a:ext cx="6902" cy="253276"/>
              </a:xfrm>
              <a:prstGeom prst="rect">
                <a:avLst/>
              </a:prstGeom>
              <a:solidFill>
                <a:srgbClr val="C8FDC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32" name="Rectangle 624"/>
              <p:cNvSpPr>
                <a:spLocks noChangeArrowheads="1"/>
              </p:cNvSpPr>
              <p:nvPr/>
            </p:nvSpPr>
            <p:spPr bwMode="auto">
              <a:xfrm>
                <a:off x="2290730" y="3299273"/>
                <a:ext cx="5177" cy="253276"/>
              </a:xfrm>
              <a:prstGeom prst="rect">
                <a:avLst/>
              </a:prstGeom>
              <a:solidFill>
                <a:srgbClr val="C7FDC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33" name="Rectangle 625"/>
              <p:cNvSpPr>
                <a:spLocks noChangeArrowheads="1"/>
              </p:cNvSpPr>
              <p:nvPr/>
            </p:nvSpPr>
            <p:spPr bwMode="auto">
              <a:xfrm>
                <a:off x="2295906" y="3299273"/>
                <a:ext cx="5177" cy="253276"/>
              </a:xfrm>
              <a:prstGeom prst="rect">
                <a:avLst/>
              </a:prstGeom>
              <a:solidFill>
                <a:srgbClr val="C6FDC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34" name="Rectangle 626"/>
              <p:cNvSpPr>
                <a:spLocks noChangeArrowheads="1"/>
              </p:cNvSpPr>
              <p:nvPr/>
            </p:nvSpPr>
            <p:spPr bwMode="auto">
              <a:xfrm>
                <a:off x="2301083" y="3299273"/>
                <a:ext cx="6902" cy="253276"/>
              </a:xfrm>
              <a:prstGeom prst="rect">
                <a:avLst/>
              </a:prstGeom>
              <a:solidFill>
                <a:srgbClr val="C6FCC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35" name="Rectangle 627"/>
              <p:cNvSpPr>
                <a:spLocks noChangeArrowheads="1"/>
              </p:cNvSpPr>
              <p:nvPr/>
            </p:nvSpPr>
            <p:spPr bwMode="auto">
              <a:xfrm>
                <a:off x="2307984" y="3299273"/>
                <a:ext cx="5177" cy="253276"/>
              </a:xfrm>
              <a:prstGeom prst="rect">
                <a:avLst/>
              </a:prstGeom>
              <a:solidFill>
                <a:srgbClr val="C5FCC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36" name="Rectangle 628"/>
              <p:cNvSpPr>
                <a:spLocks noChangeArrowheads="1"/>
              </p:cNvSpPr>
              <p:nvPr/>
            </p:nvSpPr>
            <p:spPr bwMode="auto">
              <a:xfrm>
                <a:off x="2313160" y="3299273"/>
                <a:ext cx="5177" cy="253276"/>
              </a:xfrm>
              <a:prstGeom prst="rect">
                <a:avLst/>
              </a:prstGeom>
              <a:solidFill>
                <a:srgbClr val="C4FCC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37" name="Rectangle 629"/>
              <p:cNvSpPr>
                <a:spLocks noChangeArrowheads="1"/>
              </p:cNvSpPr>
              <p:nvPr/>
            </p:nvSpPr>
            <p:spPr bwMode="auto">
              <a:xfrm>
                <a:off x="2318337" y="3299273"/>
                <a:ext cx="5177" cy="253276"/>
              </a:xfrm>
              <a:prstGeom prst="rect">
                <a:avLst/>
              </a:prstGeom>
              <a:solidFill>
                <a:srgbClr val="C3FBC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38" name="Rectangle 630"/>
              <p:cNvSpPr>
                <a:spLocks noChangeArrowheads="1"/>
              </p:cNvSpPr>
              <p:nvPr/>
            </p:nvSpPr>
            <p:spPr bwMode="auto">
              <a:xfrm>
                <a:off x="2323513" y="3299273"/>
                <a:ext cx="12079" cy="253276"/>
              </a:xfrm>
              <a:prstGeom prst="rect">
                <a:avLst/>
              </a:prstGeom>
              <a:solidFill>
                <a:srgbClr val="C2FBC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39" name="Rectangle 631"/>
              <p:cNvSpPr>
                <a:spLocks noChangeArrowheads="1"/>
              </p:cNvSpPr>
              <p:nvPr/>
            </p:nvSpPr>
            <p:spPr bwMode="auto">
              <a:xfrm>
                <a:off x="2335592" y="3299273"/>
                <a:ext cx="5177" cy="253276"/>
              </a:xfrm>
              <a:prstGeom prst="rect">
                <a:avLst/>
              </a:prstGeom>
              <a:solidFill>
                <a:srgbClr val="C1FAC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40" name="Rectangle 632"/>
              <p:cNvSpPr>
                <a:spLocks noChangeArrowheads="1"/>
              </p:cNvSpPr>
              <p:nvPr/>
            </p:nvSpPr>
            <p:spPr bwMode="auto">
              <a:xfrm>
                <a:off x="2340767" y="3299273"/>
                <a:ext cx="5177" cy="253276"/>
              </a:xfrm>
              <a:prstGeom prst="rect">
                <a:avLst/>
              </a:prstGeom>
              <a:solidFill>
                <a:srgbClr val="C0FAC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41" name="Rectangle 633"/>
              <p:cNvSpPr>
                <a:spLocks noChangeArrowheads="1"/>
              </p:cNvSpPr>
              <p:nvPr/>
            </p:nvSpPr>
            <p:spPr bwMode="auto">
              <a:xfrm>
                <a:off x="2345944" y="3299273"/>
                <a:ext cx="6902" cy="253276"/>
              </a:xfrm>
              <a:prstGeom prst="rect">
                <a:avLst/>
              </a:prstGeom>
              <a:solidFill>
                <a:srgbClr val="BFF9B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42" name="Rectangle 634"/>
              <p:cNvSpPr>
                <a:spLocks noChangeArrowheads="1"/>
              </p:cNvSpPr>
              <p:nvPr/>
            </p:nvSpPr>
            <p:spPr bwMode="auto">
              <a:xfrm>
                <a:off x="2352846" y="3299273"/>
                <a:ext cx="5177" cy="253276"/>
              </a:xfrm>
              <a:prstGeom prst="rect">
                <a:avLst/>
              </a:prstGeom>
              <a:solidFill>
                <a:srgbClr val="BEF9B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43" name="Rectangle 635"/>
              <p:cNvSpPr>
                <a:spLocks noChangeArrowheads="1"/>
              </p:cNvSpPr>
              <p:nvPr/>
            </p:nvSpPr>
            <p:spPr bwMode="auto">
              <a:xfrm>
                <a:off x="2358022" y="3299273"/>
                <a:ext cx="5177" cy="253276"/>
              </a:xfrm>
              <a:prstGeom prst="rect">
                <a:avLst/>
              </a:prstGeom>
              <a:solidFill>
                <a:srgbClr val="BEF8B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44" name="Rectangle 636"/>
              <p:cNvSpPr>
                <a:spLocks noChangeArrowheads="1"/>
              </p:cNvSpPr>
              <p:nvPr/>
            </p:nvSpPr>
            <p:spPr bwMode="auto">
              <a:xfrm>
                <a:off x="2363199" y="3299273"/>
                <a:ext cx="6902" cy="253276"/>
              </a:xfrm>
              <a:prstGeom prst="rect">
                <a:avLst/>
              </a:prstGeom>
              <a:solidFill>
                <a:srgbClr val="BDF8B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45" name="Rectangle 637"/>
              <p:cNvSpPr>
                <a:spLocks noChangeArrowheads="1"/>
              </p:cNvSpPr>
              <p:nvPr/>
            </p:nvSpPr>
            <p:spPr bwMode="auto">
              <a:xfrm>
                <a:off x="2370100" y="3299273"/>
                <a:ext cx="5177" cy="253276"/>
              </a:xfrm>
              <a:prstGeom prst="rect">
                <a:avLst/>
              </a:prstGeom>
              <a:solidFill>
                <a:srgbClr val="BCF8B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46" name="Rectangle 638"/>
              <p:cNvSpPr>
                <a:spLocks noChangeArrowheads="1"/>
              </p:cNvSpPr>
              <p:nvPr/>
            </p:nvSpPr>
            <p:spPr bwMode="auto">
              <a:xfrm>
                <a:off x="2375276" y="3299273"/>
                <a:ext cx="5177" cy="253276"/>
              </a:xfrm>
              <a:prstGeom prst="rect">
                <a:avLst/>
              </a:prstGeom>
              <a:solidFill>
                <a:srgbClr val="BCF7B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47" name="Rectangle 639"/>
              <p:cNvSpPr>
                <a:spLocks noChangeArrowheads="1"/>
              </p:cNvSpPr>
              <p:nvPr/>
            </p:nvSpPr>
            <p:spPr bwMode="auto">
              <a:xfrm>
                <a:off x="2380453" y="3299273"/>
                <a:ext cx="5177" cy="253276"/>
              </a:xfrm>
              <a:prstGeom prst="rect">
                <a:avLst/>
              </a:prstGeom>
              <a:solidFill>
                <a:srgbClr val="BBF7B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48" name="Rectangle 640"/>
              <p:cNvSpPr>
                <a:spLocks noChangeArrowheads="1"/>
              </p:cNvSpPr>
              <p:nvPr/>
            </p:nvSpPr>
            <p:spPr bwMode="auto">
              <a:xfrm>
                <a:off x="2385629" y="3299273"/>
                <a:ext cx="6902" cy="253276"/>
              </a:xfrm>
              <a:prstGeom prst="rect">
                <a:avLst/>
              </a:prstGeom>
              <a:solidFill>
                <a:srgbClr val="BAF7B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49" name="Rectangle 641"/>
              <p:cNvSpPr>
                <a:spLocks noChangeArrowheads="1"/>
              </p:cNvSpPr>
              <p:nvPr/>
            </p:nvSpPr>
            <p:spPr bwMode="auto">
              <a:xfrm>
                <a:off x="2392531" y="3299273"/>
                <a:ext cx="5177" cy="253276"/>
              </a:xfrm>
              <a:prstGeom prst="rect">
                <a:avLst/>
              </a:prstGeom>
              <a:solidFill>
                <a:srgbClr val="BAF6B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50" name="Rectangle 642"/>
              <p:cNvSpPr>
                <a:spLocks noChangeArrowheads="1"/>
              </p:cNvSpPr>
              <p:nvPr/>
            </p:nvSpPr>
            <p:spPr bwMode="auto">
              <a:xfrm>
                <a:off x="2397707" y="3299273"/>
                <a:ext cx="5177" cy="253276"/>
              </a:xfrm>
              <a:prstGeom prst="rect">
                <a:avLst/>
              </a:prstGeom>
              <a:solidFill>
                <a:srgbClr val="B9F6B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51" name="Rectangle 643"/>
              <p:cNvSpPr>
                <a:spLocks noChangeArrowheads="1"/>
              </p:cNvSpPr>
              <p:nvPr/>
            </p:nvSpPr>
            <p:spPr bwMode="auto">
              <a:xfrm>
                <a:off x="2402883" y="3299273"/>
                <a:ext cx="6902" cy="253276"/>
              </a:xfrm>
              <a:prstGeom prst="rect">
                <a:avLst/>
              </a:prstGeom>
              <a:solidFill>
                <a:srgbClr val="B8F6B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52" name="Rectangle 644"/>
              <p:cNvSpPr>
                <a:spLocks noChangeArrowheads="1"/>
              </p:cNvSpPr>
              <p:nvPr/>
            </p:nvSpPr>
            <p:spPr bwMode="auto">
              <a:xfrm>
                <a:off x="2409785" y="3299273"/>
                <a:ext cx="10353" cy="253276"/>
              </a:xfrm>
              <a:prstGeom prst="rect">
                <a:avLst/>
              </a:prstGeom>
              <a:solidFill>
                <a:srgbClr val="B7F5B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53" name="Rectangle 645"/>
              <p:cNvSpPr>
                <a:spLocks noChangeArrowheads="1"/>
              </p:cNvSpPr>
              <p:nvPr/>
            </p:nvSpPr>
            <p:spPr bwMode="auto">
              <a:xfrm>
                <a:off x="2420138" y="3299273"/>
                <a:ext cx="5177" cy="253276"/>
              </a:xfrm>
              <a:prstGeom prst="rect">
                <a:avLst/>
              </a:prstGeom>
              <a:solidFill>
                <a:srgbClr val="B6F5B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54" name="Rectangle 646"/>
              <p:cNvSpPr>
                <a:spLocks noChangeArrowheads="1"/>
              </p:cNvSpPr>
              <p:nvPr/>
            </p:nvSpPr>
            <p:spPr bwMode="auto">
              <a:xfrm>
                <a:off x="2425314" y="3299273"/>
                <a:ext cx="6902" cy="253276"/>
              </a:xfrm>
              <a:prstGeom prst="rect">
                <a:avLst/>
              </a:prstGeom>
              <a:solidFill>
                <a:srgbClr val="B5F4B5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55" name="Rectangle 647"/>
              <p:cNvSpPr>
                <a:spLocks noChangeArrowheads="1"/>
              </p:cNvSpPr>
              <p:nvPr/>
            </p:nvSpPr>
            <p:spPr bwMode="auto">
              <a:xfrm>
                <a:off x="2432216" y="3299273"/>
                <a:ext cx="5177" cy="253276"/>
              </a:xfrm>
              <a:prstGeom prst="rect">
                <a:avLst/>
              </a:prstGeom>
              <a:solidFill>
                <a:srgbClr val="B4F4B4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56" name="Rectangle 648"/>
              <p:cNvSpPr>
                <a:spLocks noChangeArrowheads="1"/>
              </p:cNvSpPr>
              <p:nvPr/>
            </p:nvSpPr>
            <p:spPr bwMode="auto">
              <a:xfrm>
                <a:off x="2437392" y="3299273"/>
                <a:ext cx="5177" cy="253276"/>
              </a:xfrm>
              <a:prstGeom prst="rect">
                <a:avLst/>
              </a:prstGeom>
              <a:solidFill>
                <a:srgbClr val="B3F4B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57" name="Rectangle 649"/>
              <p:cNvSpPr>
                <a:spLocks noChangeArrowheads="1"/>
              </p:cNvSpPr>
              <p:nvPr/>
            </p:nvSpPr>
            <p:spPr bwMode="auto">
              <a:xfrm>
                <a:off x="2442569" y="3299273"/>
                <a:ext cx="6902" cy="253276"/>
              </a:xfrm>
              <a:prstGeom prst="rect">
                <a:avLst/>
              </a:prstGeom>
              <a:solidFill>
                <a:srgbClr val="B3F3B3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58" name="Rectangle 650"/>
              <p:cNvSpPr>
                <a:spLocks noChangeArrowheads="1"/>
              </p:cNvSpPr>
              <p:nvPr/>
            </p:nvSpPr>
            <p:spPr bwMode="auto">
              <a:xfrm>
                <a:off x="2449471" y="3299273"/>
                <a:ext cx="5177" cy="253276"/>
              </a:xfrm>
              <a:prstGeom prst="rect">
                <a:avLst/>
              </a:prstGeom>
              <a:solidFill>
                <a:srgbClr val="B2F3B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59" name="Rectangle 651"/>
              <p:cNvSpPr>
                <a:spLocks noChangeArrowheads="1"/>
              </p:cNvSpPr>
              <p:nvPr/>
            </p:nvSpPr>
            <p:spPr bwMode="auto">
              <a:xfrm>
                <a:off x="2454646" y="3299273"/>
                <a:ext cx="5177" cy="253276"/>
              </a:xfrm>
              <a:prstGeom prst="rect">
                <a:avLst/>
              </a:prstGeom>
              <a:solidFill>
                <a:srgbClr val="B1F3B1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60" name="Rectangle 652"/>
              <p:cNvSpPr>
                <a:spLocks noChangeArrowheads="1"/>
              </p:cNvSpPr>
              <p:nvPr/>
            </p:nvSpPr>
            <p:spPr bwMode="auto">
              <a:xfrm>
                <a:off x="2459823" y="3299273"/>
                <a:ext cx="5177" cy="253276"/>
              </a:xfrm>
              <a:prstGeom prst="rect">
                <a:avLst/>
              </a:prstGeom>
              <a:solidFill>
                <a:srgbClr val="B0F2B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61" name="Rectangle 653"/>
              <p:cNvSpPr>
                <a:spLocks noChangeArrowheads="1"/>
              </p:cNvSpPr>
              <p:nvPr/>
            </p:nvSpPr>
            <p:spPr bwMode="auto">
              <a:xfrm>
                <a:off x="2464999" y="3299273"/>
                <a:ext cx="12079" cy="253276"/>
              </a:xfrm>
              <a:prstGeom prst="rect">
                <a:avLst/>
              </a:prstGeom>
              <a:solidFill>
                <a:srgbClr val="AFF2A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62" name="Rectangle 654"/>
              <p:cNvSpPr>
                <a:spLocks noChangeArrowheads="1"/>
              </p:cNvSpPr>
              <p:nvPr/>
            </p:nvSpPr>
            <p:spPr bwMode="auto">
              <a:xfrm>
                <a:off x="2477078" y="3299273"/>
                <a:ext cx="5177" cy="253276"/>
              </a:xfrm>
              <a:prstGeom prst="rect">
                <a:avLst/>
              </a:prstGeom>
              <a:solidFill>
                <a:srgbClr val="AEF1AE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63" name="Rectangle 655"/>
              <p:cNvSpPr>
                <a:spLocks noChangeArrowheads="1"/>
              </p:cNvSpPr>
              <p:nvPr/>
            </p:nvSpPr>
            <p:spPr bwMode="auto">
              <a:xfrm>
                <a:off x="2482254" y="3299273"/>
                <a:ext cx="6902" cy="253276"/>
              </a:xfrm>
              <a:prstGeom prst="rect">
                <a:avLst/>
              </a:prstGeom>
              <a:solidFill>
                <a:srgbClr val="ADF1AD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64" name="Rectangle 656"/>
              <p:cNvSpPr>
                <a:spLocks noChangeArrowheads="1"/>
              </p:cNvSpPr>
              <p:nvPr/>
            </p:nvSpPr>
            <p:spPr bwMode="auto">
              <a:xfrm>
                <a:off x="2489155" y="3299273"/>
                <a:ext cx="5177" cy="253276"/>
              </a:xfrm>
              <a:prstGeom prst="rect">
                <a:avLst/>
              </a:prstGeom>
              <a:solidFill>
                <a:srgbClr val="ACF0A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65" name="Rectangle 657"/>
              <p:cNvSpPr>
                <a:spLocks noChangeArrowheads="1"/>
              </p:cNvSpPr>
              <p:nvPr/>
            </p:nvSpPr>
            <p:spPr bwMode="auto">
              <a:xfrm>
                <a:off x="2494332" y="3299273"/>
                <a:ext cx="5177" cy="253276"/>
              </a:xfrm>
              <a:prstGeom prst="rect">
                <a:avLst/>
              </a:prstGeom>
              <a:solidFill>
                <a:srgbClr val="ABF0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66" name="Rectangle 658"/>
              <p:cNvSpPr>
                <a:spLocks noChangeArrowheads="1"/>
              </p:cNvSpPr>
              <p:nvPr/>
            </p:nvSpPr>
            <p:spPr bwMode="auto">
              <a:xfrm>
                <a:off x="2499508" y="3299273"/>
                <a:ext cx="5177" cy="253276"/>
              </a:xfrm>
              <a:prstGeom prst="rect">
                <a:avLst/>
              </a:prstGeom>
              <a:solidFill>
                <a:srgbClr val="ABEFA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67" name="Rectangle 659"/>
              <p:cNvSpPr>
                <a:spLocks noChangeArrowheads="1"/>
              </p:cNvSpPr>
              <p:nvPr/>
            </p:nvSpPr>
            <p:spPr bwMode="auto">
              <a:xfrm>
                <a:off x="2504685" y="3299273"/>
                <a:ext cx="6902" cy="253276"/>
              </a:xfrm>
              <a:prstGeom prst="rect">
                <a:avLst/>
              </a:prstGeom>
              <a:solidFill>
                <a:srgbClr val="AAEFAA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68" name="Rectangle 660"/>
              <p:cNvSpPr>
                <a:spLocks noChangeArrowheads="1"/>
              </p:cNvSpPr>
              <p:nvPr/>
            </p:nvSpPr>
            <p:spPr bwMode="auto">
              <a:xfrm>
                <a:off x="2511587" y="3299273"/>
                <a:ext cx="5177" cy="253276"/>
              </a:xfrm>
              <a:prstGeom prst="rect">
                <a:avLst/>
              </a:prstGeom>
              <a:solidFill>
                <a:srgbClr val="A9EFA9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69" name="Rectangle 661"/>
              <p:cNvSpPr>
                <a:spLocks noChangeArrowheads="1"/>
              </p:cNvSpPr>
              <p:nvPr/>
            </p:nvSpPr>
            <p:spPr bwMode="auto">
              <a:xfrm>
                <a:off x="2516762" y="3299273"/>
                <a:ext cx="5177" cy="253276"/>
              </a:xfrm>
              <a:prstGeom prst="rect">
                <a:avLst/>
              </a:prstGeom>
              <a:solidFill>
                <a:srgbClr val="A8EEA8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70" name="Rectangle 662"/>
              <p:cNvSpPr>
                <a:spLocks noChangeArrowheads="1"/>
              </p:cNvSpPr>
              <p:nvPr/>
            </p:nvSpPr>
            <p:spPr bwMode="auto">
              <a:xfrm>
                <a:off x="2521939" y="3299273"/>
                <a:ext cx="12079" cy="253276"/>
              </a:xfrm>
              <a:prstGeom prst="rect">
                <a:avLst/>
              </a:prstGeom>
              <a:solidFill>
                <a:srgbClr val="A7EEA7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71" name="Rectangle 663"/>
              <p:cNvSpPr>
                <a:spLocks noChangeArrowheads="1"/>
              </p:cNvSpPr>
              <p:nvPr/>
            </p:nvSpPr>
            <p:spPr bwMode="auto">
              <a:xfrm>
                <a:off x="2534017" y="3299273"/>
                <a:ext cx="5177" cy="253276"/>
              </a:xfrm>
              <a:prstGeom prst="rect">
                <a:avLst/>
              </a:prstGeom>
              <a:solidFill>
                <a:srgbClr val="A6EDA6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72" name="Rectangle 664"/>
              <p:cNvSpPr>
                <a:spLocks noChangeArrowheads="1"/>
              </p:cNvSpPr>
              <p:nvPr/>
            </p:nvSpPr>
            <p:spPr bwMode="auto">
              <a:xfrm>
                <a:off x="1973249" y="3299273"/>
                <a:ext cx="565945" cy="253276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73" name="Rectangle 665"/>
              <p:cNvSpPr>
                <a:spLocks noChangeArrowheads="1"/>
              </p:cNvSpPr>
              <p:nvPr/>
            </p:nvSpPr>
            <p:spPr bwMode="auto">
              <a:xfrm>
                <a:off x="2092304" y="3331954"/>
                <a:ext cx="307129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«metaclass»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074" name="Rectangle 666"/>
              <p:cNvSpPr>
                <a:spLocks noChangeArrowheads="1"/>
              </p:cNvSpPr>
              <p:nvPr/>
            </p:nvSpPr>
            <p:spPr bwMode="auto">
              <a:xfrm>
                <a:off x="2000856" y="3402218"/>
                <a:ext cx="465869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WQ_Observation::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075" name="Rectangle 667"/>
              <p:cNvSpPr>
                <a:spLocks noChangeArrowheads="1"/>
              </p:cNvSpPr>
              <p:nvPr/>
            </p:nvSpPr>
            <p:spPr bwMode="auto">
              <a:xfrm>
                <a:off x="2012933" y="3472481"/>
                <a:ext cx="465869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1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WQ_PropertyType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076" name="Freeform 668"/>
              <p:cNvSpPr>
                <a:spLocks/>
              </p:cNvSpPr>
              <p:nvPr/>
            </p:nvSpPr>
            <p:spPr bwMode="auto">
              <a:xfrm>
                <a:off x="1831763" y="4766636"/>
                <a:ext cx="804056" cy="503283"/>
              </a:xfrm>
              <a:custGeom>
                <a:avLst/>
                <a:gdLst/>
                <a:ahLst/>
                <a:cxnLst>
                  <a:cxn ang="0">
                    <a:pos x="2224" y="0"/>
                  </a:cxn>
                  <a:cxn ang="0">
                    <a:pos x="2272" y="48"/>
                  </a:cxn>
                  <a:cxn ang="0">
                    <a:pos x="2272" y="1456"/>
                  </a:cxn>
                  <a:cxn ang="0">
                    <a:pos x="2224" y="1504"/>
                  </a:cxn>
                  <a:cxn ang="0">
                    <a:pos x="2224" y="1504"/>
                  </a:cxn>
                  <a:cxn ang="0">
                    <a:pos x="48" y="1504"/>
                  </a:cxn>
                  <a:cxn ang="0">
                    <a:pos x="0" y="1456"/>
                  </a:cxn>
                  <a:cxn ang="0">
                    <a:pos x="0" y="48"/>
                  </a:cxn>
                  <a:cxn ang="0">
                    <a:pos x="48" y="0"/>
                  </a:cxn>
                  <a:cxn ang="0">
                    <a:pos x="2224" y="0"/>
                  </a:cxn>
                </a:cxnLst>
                <a:rect l="0" t="0" r="r" b="b"/>
                <a:pathLst>
                  <a:path w="2272" h="1504">
                    <a:moveTo>
                      <a:pt x="2224" y="0"/>
                    </a:moveTo>
                    <a:cubicBezTo>
                      <a:pt x="2251" y="0"/>
                      <a:pt x="2272" y="22"/>
                      <a:pt x="2272" y="48"/>
                    </a:cubicBezTo>
                    <a:lnTo>
                      <a:pt x="2272" y="1456"/>
                    </a:lnTo>
                    <a:cubicBezTo>
                      <a:pt x="2272" y="1483"/>
                      <a:pt x="2251" y="1504"/>
                      <a:pt x="2224" y="1504"/>
                    </a:cubicBezTo>
                    <a:cubicBezTo>
                      <a:pt x="2224" y="1504"/>
                      <a:pt x="2224" y="1504"/>
                      <a:pt x="2224" y="1504"/>
                    </a:cubicBezTo>
                    <a:lnTo>
                      <a:pt x="48" y="1504"/>
                    </a:lnTo>
                    <a:cubicBezTo>
                      <a:pt x="22" y="1504"/>
                      <a:pt x="0" y="1483"/>
                      <a:pt x="0" y="1456"/>
                    </a:cubicBezTo>
                    <a:lnTo>
                      <a:pt x="0" y="48"/>
                    </a:lnTo>
                    <a:cubicBezTo>
                      <a:pt x="0" y="22"/>
                      <a:pt x="22" y="0"/>
                      <a:pt x="48" y="0"/>
                    </a:cubicBezTo>
                    <a:lnTo>
                      <a:pt x="2224" y="0"/>
                    </a:lnTo>
                    <a:close/>
                  </a:path>
                </a:pathLst>
              </a:custGeom>
              <a:solidFill>
                <a:srgbClr val="F0F0F0"/>
              </a:solidFill>
              <a:ln w="0">
                <a:solidFill>
                  <a:srgbClr val="000000"/>
                </a:solidFill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77" name="Freeform 669"/>
              <p:cNvSpPr>
                <a:spLocks/>
              </p:cNvSpPr>
              <p:nvPr/>
            </p:nvSpPr>
            <p:spPr bwMode="auto">
              <a:xfrm>
                <a:off x="1831763" y="4766636"/>
                <a:ext cx="804056" cy="503283"/>
              </a:xfrm>
              <a:custGeom>
                <a:avLst/>
                <a:gdLst/>
                <a:ahLst/>
                <a:cxnLst>
                  <a:cxn ang="0">
                    <a:pos x="2224" y="0"/>
                  </a:cxn>
                  <a:cxn ang="0">
                    <a:pos x="2272" y="48"/>
                  </a:cxn>
                  <a:cxn ang="0">
                    <a:pos x="2272" y="1456"/>
                  </a:cxn>
                  <a:cxn ang="0">
                    <a:pos x="2224" y="1504"/>
                  </a:cxn>
                  <a:cxn ang="0">
                    <a:pos x="2224" y="1504"/>
                  </a:cxn>
                  <a:cxn ang="0">
                    <a:pos x="48" y="1504"/>
                  </a:cxn>
                  <a:cxn ang="0">
                    <a:pos x="0" y="1456"/>
                  </a:cxn>
                  <a:cxn ang="0">
                    <a:pos x="0" y="48"/>
                  </a:cxn>
                  <a:cxn ang="0">
                    <a:pos x="48" y="0"/>
                  </a:cxn>
                  <a:cxn ang="0">
                    <a:pos x="2224" y="0"/>
                  </a:cxn>
                </a:cxnLst>
                <a:rect l="0" t="0" r="r" b="b"/>
                <a:pathLst>
                  <a:path w="2272" h="1504">
                    <a:moveTo>
                      <a:pt x="2224" y="0"/>
                    </a:moveTo>
                    <a:cubicBezTo>
                      <a:pt x="2251" y="0"/>
                      <a:pt x="2272" y="22"/>
                      <a:pt x="2272" y="48"/>
                    </a:cubicBezTo>
                    <a:lnTo>
                      <a:pt x="2272" y="1456"/>
                    </a:lnTo>
                    <a:cubicBezTo>
                      <a:pt x="2272" y="1483"/>
                      <a:pt x="2251" y="1504"/>
                      <a:pt x="2224" y="1504"/>
                    </a:cubicBezTo>
                    <a:cubicBezTo>
                      <a:pt x="2224" y="1504"/>
                      <a:pt x="2224" y="1504"/>
                      <a:pt x="2224" y="1504"/>
                    </a:cubicBezTo>
                    <a:lnTo>
                      <a:pt x="48" y="1504"/>
                    </a:lnTo>
                    <a:cubicBezTo>
                      <a:pt x="22" y="1504"/>
                      <a:pt x="0" y="1483"/>
                      <a:pt x="0" y="1456"/>
                    </a:cubicBezTo>
                    <a:lnTo>
                      <a:pt x="0" y="48"/>
                    </a:lnTo>
                    <a:cubicBezTo>
                      <a:pt x="0" y="22"/>
                      <a:pt x="22" y="0"/>
                      <a:pt x="48" y="0"/>
                    </a:cubicBezTo>
                    <a:lnTo>
                      <a:pt x="2224" y="0"/>
                    </a:lnTo>
                    <a:close/>
                  </a:path>
                </a:pathLst>
              </a:custGeom>
              <a:noFill/>
              <a:ln w="4763" cap="sq">
                <a:solidFill>
                  <a:srgbClr val="D7D7D7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78" name="Rectangle 670"/>
              <p:cNvSpPr>
                <a:spLocks noChangeArrowheads="1"/>
              </p:cNvSpPr>
              <p:nvPr/>
            </p:nvSpPr>
            <p:spPr bwMode="auto">
              <a:xfrm>
                <a:off x="1888702" y="4926771"/>
                <a:ext cx="89723" cy="86604"/>
              </a:xfrm>
              <a:prstGeom prst="rect">
                <a:avLst/>
              </a:prstGeom>
              <a:solidFill>
                <a:srgbClr val="FFC0CB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79" name="Rectangle 671"/>
              <p:cNvSpPr>
                <a:spLocks noChangeArrowheads="1"/>
              </p:cNvSpPr>
              <p:nvPr/>
            </p:nvSpPr>
            <p:spPr bwMode="auto">
              <a:xfrm>
                <a:off x="1888702" y="4926771"/>
                <a:ext cx="89723" cy="86604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80" name="Rectangle 672"/>
              <p:cNvSpPr>
                <a:spLocks noChangeArrowheads="1"/>
              </p:cNvSpPr>
              <p:nvPr/>
            </p:nvSpPr>
            <p:spPr bwMode="auto">
              <a:xfrm>
                <a:off x="2012933" y="4938210"/>
                <a:ext cx="334736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3060"/>
                    </a:solidFill>
                    <a:effectLst/>
                    <a:latin typeface="Arial" pitchFamily="34" charset="0"/>
                    <a:cs typeface="Arial" pitchFamily="34" charset="0"/>
                  </a:rPr>
                  <a:t>O&amp;M Classes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081" name="Rectangle 673"/>
              <p:cNvSpPr>
                <a:spLocks noChangeArrowheads="1"/>
              </p:cNvSpPr>
              <p:nvPr/>
            </p:nvSpPr>
            <p:spPr bwMode="auto">
              <a:xfrm>
                <a:off x="1888702" y="5029716"/>
                <a:ext cx="89723" cy="84970"/>
              </a:xfrm>
              <a:prstGeom prst="rect">
                <a:avLst/>
              </a:prstGeom>
              <a:solidFill>
                <a:srgbClr val="CC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82" name="Rectangle 674"/>
              <p:cNvSpPr>
                <a:spLocks noChangeArrowheads="1"/>
              </p:cNvSpPr>
              <p:nvPr/>
            </p:nvSpPr>
            <p:spPr bwMode="auto">
              <a:xfrm>
                <a:off x="1888702" y="5029716"/>
                <a:ext cx="89723" cy="84970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83" name="Rectangle 675"/>
              <p:cNvSpPr>
                <a:spLocks noChangeArrowheads="1"/>
              </p:cNvSpPr>
              <p:nvPr/>
            </p:nvSpPr>
            <p:spPr bwMode="auto">
              <a:xfrm>
                <a:off x="2012933" y="5039520"/>
                <a:ext cx="465869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3060"/>
                    </a:solidFill>
                    <a:effectLst/>
                    <a:latin typeface="Arial" pitchFamily="34" charset="0"/>
                    <a:cs typeface="Arial" pitchFamily="34" charset="0"/>
                  </a:rPr>
                  <a:t>WaterML 2 Classes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084" name="Rectangle 676"/>
              <p:cNvSpPr>
                <a:spLocks noChangeArrowheads="1"/>
              </p:cNvSpPr>
              <p:nvPr/>
            </p:nvSpPr>
            <p:spPr bwMode="auto">
              <a:xfrm>
                <a:off x="1888702" y="5131026"/>
                <a:ext cx="89723" cy="86604"/>
              </a:xfrm>
              <a:prstGeom prst="rect">
                <a:avLst/>
              </a:prstGeom>
              <a:solidFill>
                <a:srgbClr val="CCFFCC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85" name="Rectangle 677"/>
              <p:cNvSpPr>
                <a:spLocks noChangeArrowheads="1"/>
              </p:cNvSpPr>
              <p:nvPr/>
            </p:nvSpPr>
            <p:spPr bwMode="auto">
              <a:xfrm>
                <a:off x="1888702" y="5131026"/>
                <a:ext cx="89723" cy="86604"/>
              </a:xfrm>
              <a:prstGeom prst="rect">
                <a:avLst/>
              </a:prstGeom>
              <a:noFill/>
              <a:ln w="4763" cap="sq">
                <a:solidFill>
                  <a:srgbClr val="000000"/>
                </a:solidFill>
                <a:prstDash val="solid"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86" name="Rectangle 678"/>
              <p:cNvSpPr>
                <a:spLocks noChangeArrowheads="1"/>
              </p:cNvSpPr>
              <p:nvPr/>
            </p:nvSpPr>
            <p:spPr bwMode="auto">
              <a:xfrm>
                <a:off x="2012933" y="5142464"/>
                <a:ext cx="527985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3060"/>
                    </a:solidFill>
                    <a:effectLst/>
                    <a:latin typeface="Arial" pitchFamily="34" charset="0"/>
                    <a:cs typeface="Arial" pitchFamily="34" charset="0"/>
                  </a:rPr>
                  <a:t>Water Quality Classes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087" name="Rectangle 679"/>
              <p:cNvSpPr>
                <a:spLocks noChangeArrowheads="1"/>
              </p:cNvSpPr>
              <p:nvPr/>
            </p:nvSpPr>
            <p:spPr bwMode="auto">
              <a:xfrm>
                <a:off x="2097481" y="4804219"/>
                <a:ext cx="351990" cy="10621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700" b="1" i="0" u="none" strike="noStrike" cap="none" normalizeH="0" baseline="0" smtClean="0">
                    <a:ln>
                      <a:noFill/>
                    </a:ln>
                    <a:solidFill>
                      <a:srgbClr val="003060"/>
                    </a:solidFill>
                    <a:effectLst/>
                    <a:latin typeface="Arial" pitchFamily="34" charset="0"/>
                    <a:cs typeface="Arial" pitchFamily="34" charset="0"/>
                  </a:rPr>
                  <a:t>Legend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091" name="Line 683"/>
              <p:cNvSpPr>
                <a:spLocks noChangeShapeType="1"/>
              </p:cNvSpPr>
              <p:nvPr/>
            </p:nvSpPr>
            <p:spPr bwMode="auto">
              <a:xfrm flipV="1">
                <a:off x="5310252" y="5372863"/>
                <a:ext cx="1726" cy="263080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92" name="Freeform 684"/>
              <p:cNvSpPr>
                <a:spLocks/>
              </p:cNvSpPr>
              <p:nvPr/>
            </p:nvSpPr>
            <p:spPr bwMode="auto">
              <a:xfrm>
                <a:off x="5275743" y="5372863"/>
                <a:ext cx="69018" cy="84970"/>
              </a:xfrm>
              <a:custGeom>
                <a:avLst/>
                <a:gdLst/>
                <a:ahLst/>
                <a:cxnLst>
                  <a:cxn ang="0">
                    <a:pos x="40" y="52"/>
                  </a:cxn>
                  <a:cxn ang="0">
                    <a:pos x="0" y="52"/>
                  </a:cxn>
                  <a:cxn ang="0">
                    <a:pos x="20" y="0"/>
                  </a:cxn>
                  <a:cxn ang="0">
                    <a:pos x="40" y="52"/>
                  </a:cxn>
                </a:cxnLst>
                <a:rect l="0" t="0" r="r" b="b"/>
                <a:pathLst>
                  <a:path w="40" h="52">
                    <a:moveTo>
                      <a:pt x="40" y="52"/>
                    </a:moveTo>
                    <a:lnTo>
                      <a:pt x="0" y="52"/>
                    </a:lnTo>
                    <a:lnTo>
                      <a:pt x="20" y="0"/>
                    </a:lnTo>
                    <a:lnTo>
                      <a:pt x="40" y="52"/>
                    </a:lnTo>
                    <a:close/>
                  </a:path>
                </a:pathLst>
              </a:custGeom>
              <a:solidFill>
                <a:srgbClr val="FCF2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93" name="Freeform 685"/>
              <p:cNvSpPr>
                <a:spLocks/>
              </p:cNvSpPr>
              <p:nvPr/>
            </p:nvSpPr>
            <p:spPr bwMode="auto">
              <a:xfrm>
                <a:off x="5275743" y="5372863"/>
                <a:ext cx="69018" cy="84970"/>
              </a:xfrm>
              <a:custGeom>
                <a:avLst/>
                <a:gdLst/>
                <a:ahLst/>
                <a:cxnLst>
                  <a:cxn ang="0">
                    <a:pos x="40" y="52"/>
                  </a:cxn>
                  <a:cxn ang="0">
                    <a:pos x="0" y="52"/>
                  </a:cxn>
                  <a:cxn ang="0">
                    <a:pos x="20" y="0"/>
                  </a:cxn>
                  <a:cxn ang="0">
                    <a:pos x="40" y="52"/>
                  </a:cxn>
                </a:cxnLst>
                <a:rect l="0" t="0" r="r" b="b"/>
                <a:pathLst>
                  <a:path w="40" h="52">
                    <a:moveTo>
                      <a:pt x="40" y="52"/>
                    </a:moveTo>
                    <a:lnTo>
                      <a:pt x="0" y="52"/>
                    </a:lnTo>
                    <a:lnTo>
                      <a:pt x="20" y="0"/>
                    </a:lnTo>
                    <a:lnTo>
                      <a:pt x="40" y="52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97" name="Line 689"/>
              <p:cNvSpPr>
                <a:spLocks noChangeShapeType="1"/>
              </p:cNvSpPr>
              <p:nvPr/>
            </p:nvSpPr>
            <p:spPr bwMode="auto">
              <a:xfrm>
                <a:off x="4449257" y="4384272"/>
                <a:ext cx="667746" cy="612763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98" name="Freeform 690"/>
              <p:cNvSpPr>
                <a:spLocks/>
              </p:cNvSpPr>
              <p:nvPr/>
            </p:nvSpPr>
            <p:spPr bwMode="auto">
              <a:xfrm>
                <a:off x="4449257" y="4384272"/>
                <a:ext cx="79370" cy="75166"/>
              </a:xfrm>
              <a:custGeom>
                <a:avLst/>
                <a:gdLst/>
                <a:ahLst/>
                <a:cxnLst>
                  <a:cxn ang="0">
                    <a:pos x="36" y="10"/>
                  </a:cxn>
                  <a:cxn ang="0">
                    <a:pos x="0" y="0"/>
                  </a:cxn>
                  <a:cxn ang="0">
                    <a:pos x="13" y="36"/>
                  </a:cxn>
                  <a:cxn ang="0">
                    <a:pos x="46" y="46"/>
                  </a:cxn>
                  <a:cxn ang="0">
                    <a:pos x="36" y="10"/>
                  </a:cxn>
                </a:cxnLst>
                <a:rect l="0" t="0" r="r" b="b"/>
                <a:pathLst>
                  <a:path w="46" h="46">
                    <a:moveTo>
                      <a:pt x="36" y="10"/>
                    </a:moveTo>
                    <a:lnTo>
                      <a:pt x="0" y="0"/>
                    </a:lnTo>
                    <a:lnTo>
                      <a:pt x="13" y="36"/>
                    </a:lnTo>
                    <a:lnTo>
                      <a:pt x="46" y="46"/>
                    </a:lnTo>
                    <a:lnTo>
                      <a:pt x="36" y="10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099" name="Freeform 691"/>
              <p:cNvSpPr>
                <a:spLocks/>
              </p:cNvSpPr>
              <p:nvPr/>
            </p:nvSpPr>
            <p:spPr bwMode="auto">
              <a:xfrm>
                <a:off x="4449257" y="4384272"/>
                <a:ext cx="79370" cy="75166"/>
              </a:xfrm>
              <a:custGeom>
                <a:avLst/>
                <a:gdLst/>
                <a:ahLst/>
                <a:cxnLst>
                  <a:cxn ang="0">
                    <a:pos x="36" y="10"/>
                  </a:cxn>
                  <a:cxn ang="0">
                    <a:pos x="0" y="0"/>
                  </a:cxn>
                  <a:cxn ang="0">
                    <a:pos x="13" y="36"/>
                  </a:cxn>
                  <a:cxn ang="0">
                    <a:pos x="46" y="46"/>
                  </a:cxn>
                  <a:cxn ang="0">
                    <a:pos x="36" y="10"/>
                  </a:cxn>
                </a:cxnLst>
                <a:rect l="0" t="0" r="r" b="b"/>
                <a:pathLst>
                  <a:path w="46" h="46">
                    <a:moveTo>
                      <a:pt x="36" y="10"/>
                    </a:moveTo>
                    <a:lnTo>
                      <a:pt x="0" y="0"/>
                    </a:lnTo>
                    <a:lnTo>
                      <a:pt x="13" y="36"/>
                    </a:lnTo>
                    <a:lnTo>
                      <a:pt x="46" y="46"/>
                    </a:lnTo>
                    <a:lnTo>
                      <a:pt x="36" y="1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00" name="Freeform 692"/>
              <p:cNvSpPr>
                <a:spLocks noEditPoints="1"/>
              </p:cNvSpPr>
              <p:nvPr/>
            </p:nvSpPr>
            <p:spPr bwMode="auto">
              <a:xfrm>
                <a:off x="5032456" y="4916967"/>
                <a:ext cx="84547" cy="80068"/>
              </a:xfrm>
              <a:custGeom>
                <a:avLst/>
                <a:gdLst/>
                <a:ahLst/>
                <a:cxnLst>
                  <a:cxn ang="0">
                    <a:pos x="49" y="49"/>
                  </a:cxn>
                  <a:cxn ang="0">
                    <a:pos x="0" y="29"/>
                  </a:cxn>
                  <a:cxn ang="0">
                    <a:pos x="49" y="49"/>
                  </a:cxn>
                  <a:cxn ang="0">
                    <a:pos x="26" y="0"/>
                  </a:cxn>
                </a:cxnLst>
                <a:rect l="0" t="0" r="r" b="b"/>
                <a:pathLst>
                  <a:path w="49" h="49">
                    <a:moveTo>
                      <a:pt x="49" y="49"/>
                    </a:moveTo>
                    <a:lnTo>
                      <a:pt x="0" y="29"/>
                    </a:lnTo>
                    <a:moveTo>
                      <a:pt x="49" y="49"/>
                    </a:moveTo>
                    <a:lnTo>
                      <a:pt x="26" y="0"/>
                    </a:ln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01" name="Rectangle 693"/>
              <p:cNvSpPr>
                <a:spLocks noChangeArrowheads="1"/>
              </p:cNvSpPr>
              <p:nvPr/>
            </p:nvSpPr>
            <p:spPr bwMode="auto">
              <a:xfrm>
                <a:off x="4896146" y="4900627"/>
                <a:ext cx="175995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+result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102" name="Line 694"/>
              <p:cNvSpPr>
                <a:spLocks noChangeShapeType="1"/>
              </p:cNvSpPr>
              <p:nvPr/>
            </p:nvSpPr>
            <p:spPr bwMode="auto">
              <a:xfrm flipV="1">
                <a:off x="4233577" y="3778046"/>
                <a:ext cx="1726" cy="300662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03" name="Freeform 695"/>
              <p:cNvSpPr>
                <a:spLocks/>
              </p:cNvSpPr>
              <p:nvPr/>
            </p:nvSpPr>
            <p:spPr bwMode="auto">
              <a:xfrm>
                <a:off x="4199068" y="3778046"/>
                <a:ext cx="69018" cy="84970"/>
              </a:xfrm>
              <a:custGeom>
                <a:avLst/>
                <a:gdLst/>
                <a:ahLst/>
                <a:cxnLst>
                  <a:cxn ang="0">
                    <a:pos x="40" y="52"/>
                  </a:cxn>
                  <a:cxn ang="0">
                    <a:pos x="0" y="52"/>
                  </a:cxn>
                  <a:cxn ang="0">
                    <a:pos x="20" y="0"/>
                  </a:cxn>
                  <a:cxn ang="0">
                    <a:pos x="40" y="52"/>
                  </a:cxn>
                </a:cxnLst>
                <a:rect l="0" t="0" r="r" b="b"/>
                <a:pathLst>
                  <a:path w="40" h="52">
                    <a:moveTo>
                      <a:pt x="40" y="52"/>
                    </a:moveTo>
                    <a:lnTo>
                      <a:pt x="0" y="52"/>
                    </a:lnTo>
                    <a:lnTo>
                      <a:pt x="20" y="0"/>
                    </a:lnTo>
                    <a:lnTo>
                      <a:pt x="40" y="52"/>
                    </a:lnTo>
                    <a:close/>
                  </a:path>
                </a:pathLst>
              </a:custGeom>
              <a:solidFill>
                <a:srgbClr val="FCF2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04" name="Freeform 696"/>
              <p:cNvSpPr>
                <a:spLocks/>
              </p:cNvSpPr>
              <p:nvPr/>
            </p:nvSpPr>
            <p:spPr bwMode="auto">
              <a:xfrm>
                <a:off x="4199068" y="3778046"/>
                <a:ext cx="69018" cy="84970"/>
              </a:xfrm>
              <a:custGeom>
                <a:avLst/>
                <a:gdLst/>
                <a:ahLst/>
                <a:cxnLst>
                  <a:cxn ang="0">
                    <a:pos x="40" y="52"/>
                  </a:cxn>
                  <a:cxn ang="0">
                    <a:pos x="0" y="52"/>
                  </a:cxn>
                  <a:cxn ang="0">
                    <a:pos x="20" y="0"/>
                  </a:cxn>
                  <a:cxn ang="0">
                    <a:pos x="40" y="52"/>
                  </a:cxn>
                </a:cxnLst>
                <a:rect l="0" t="0" r="r" b="b"/>
                <a:pathLst>
                  <a:path w="40" h="52">
                    <a:moveTo>
                      <a:pt x="40" y="52"/>
                    </a:moveTo>
                    <a:lnTo>
                      <a:pt x="0" y="52"/>
                    </a:lnTo>
                    <a:lnTo>
                      <a:pt x="20" y="0"/>
                    </a:lnTo>
                    <a:lnTo>
                      <a:pt x="40" y="52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05" name="Line 697"/>
              <p:cNvSpPr>
                <a:spLocks noChangeShapeType="1"/>
              </p:cNvSpPr>
              <p:nvPr/>
            </p:nvSpPr>
            <p:spPr bwMode="auto">
              <a:xfrm flipV="1">
                <a:off x="4216322" y="3202866"/>
                <a:ext cx="1726" cy="241837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06" name="Freeform 698"/>
              <p:cNvSpPr>
                <a:spLocks/>
              </p:cNvSpPr>
              <p:nvPr/>
            </p:nvSpPr>
            <p:spPr bwMode="auto">
              <a:xfrm>
                <a:off x="4181814" y="3202866"/>
                <a:ext cx="69018" cy="86604"/>
              </a:xfrm>
              <a:custGeom>
                <a:avLst/>
                <a:gdLst/>
                <a:ahLst/>
                <a:cxnLst>
                  <a:cxn ang="0">
                    <a:pos x="40" y="53"/>
                  </a:cxn>
                  <a:cxn ang="0">
                    <a:pos x="0" y="53"/>
                  </a:cxn>
                  <a:cxn ang="0">
                    <a:pos x="20" y="0"/>
                  </a:cxn>
                  <a:cxn ang="0">
                    <a:pos x="40" y="53"/>
                  </a:cxn>
                </a:cxnLst>
                <a:rect l="0" t="0" r="r" b="b"/>
                <a:pathLst>
                  <a:path w="40" h="53">
                    <a:moveTo>
                      <a:pt x="40" y="53"/>
                    </a:moveTo>
                    <a:lnTo>
                      <a:pt x="0" y="53"/>
                    </a:lnTo>
                    <a:lnTo>
                      <a:pt x="20" y="0"/>
                    </a:lnTo>
                    <a:lnTo>
                      <a:pt x="40" y="53"/>
                    </a:lnTo>
                    <a:close/>
                  </a:path>
                </a:pathLst>
              </a:custGeom>
              <a:solidFill>
                <a:srgbClr val="FCF2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07" name="Freeform 699"/>
              <p:cNvSpPr>
                <a:spLocks/>
              </p:cNvSpPr>
              <p:nvPr/>
            </p:nvSpPr>
            <p:spPr bwMode="auto">
              <a:xfrm>
                <a:off x="4181814" y="3202866"/>
                <a:ext cx="69018" cy="86604"/>
              </a:xfrm>
              <a:custGeom>
                <a:avLst/>
                <a:gdLst/>
                <a:ahLst/>
                <a:cxnLst>
                  <a:cxn ang="0">
                    <a:pos x="40" y="53"/>
                  </a:cxn>
                  <a:cxn ang="0">
                    <a:pos x="0" y="53"/>
                  </a:cxn>
                  <a:cxn ang="0">
                    <a:pos x="20" y="0"/>
                  </a:cxn>
                  <a:cxn ang="0">
                    <a:pos x="40" y="53"/>
                  </a:cxn>
                </a:cxnLst>
                <a:rect l="0" t="0" r="r" b="b"/>
                <a:pathLst>
                  <a:path w="40" h="53">
                    <a:moveTo>
                      <a:pt x="40" y="53"/>
                    </a:moveTo>
                    <a:lnTo>
                      <a:pt x="0" y="53"/>
                    </a:lnTo>
                    <a:lnTo>
                      <a:pt x="20" y="0"/>
                    </a:lnTo>
                    <a:lnTo>
                      <a:pt x="40" y="53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08" name="Line 700"/>
              <p:cNvSpPr>
                <a:spLocks noChangeShapeType="1"/>
              </p:cNvSpPr>
              <p:nvPr/>
            </p:nvSpPr>
            <p:spPr bwMode="auto">
              <a:xfrm flipV="1">
                <a:off x="4080012" y="2676707"/>
                <a:ext cx="205328" cy="19445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09" name="Freeform 701"/>
              <p:cNvSpPr>
                <a:spLocks/>
              </p:cNvSpPr>
              <p:nvPr/>
            </p:nvSpPr>
            <p:spPr bwMode="auto">
              <a:xfrm>
                <a:off x="4193891" y="2676707"/>
                <a:ext cx="91449" cy="86604"/>
              </a:xfrm>
              <a:custGeom>
                <a:avLst/>
                <a:gdLst/>
                <a:ahLst/>
                <a:cxnLst>
                  <a:cxn ang="0">
                    <a:pos x="30" y="53"/>
                  </a:cxn>
                  <a:cxn ang="0">
                    <a:pos x="0" y="23"/>
                  </a:cxn>
                  <a:cxn ang="0">
                    <a:pos x="53" y="0"/>
                  </a:cxn>
                  <a:cxn ang="0">
                    <a:pos x="30" y="53"/>
                  </a:cxn>
                </a:cxnLst>
                <a:rect l="0" t="0" r="r" b="b"/>
                <a:pathLst>
                  <a:path w="53" h="53">
                    <a:moveTo>
                      <a:pt x="30" y="53"/>
                    </a:moveTo>
                    <a:lnTo>
                      <a:pt x="0" y="23"/>
                    </a:lnTo>
                    <a:lnTo>
                      <a:pt x="53" y="0"/>
                    </a:lnTo>
                    <a:lnTo>
                      <a:pt x="30" y="53"/>
                    </a:lnTo>
                    <a:close/>
                  </a:path>
                </a:pathLst>
              </a:custGeom>
              <a:solidFill>
                <a:srgbClr val="FCF2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10" name="Freeform 702"/>
              <p:cNvSpPr>
                <a:spLocks/>
              </p:cNvSpPr>
              <p:nvPr/>
            </p:nvSpPr>
            <p:spPr bwMode="auto">
              <a:xfrm>
                <a:off x="4193891" y="2676707"/>
                <a:ext cx="91449" cy="86604"/>
              </a:xfrm>
              <a:custGeom>
                <a:avLst/>
                <a:gdLst/>
                <a:ahLst/>
                <a:cxnLst>
                  <a:cxn ang="0">
                    <a:pos x="30" y="53"/>
                  </a:cxn>
                  <a:cxn ang="0">
                    <a:pos x="0" y="23"/>
                  </a:cxn>
                  <a:cxn ang="0">
                    <a:pos x="53" y="0"/>
                  </a:cxn>
                  <a:cxn ang="0">
                    <a:pos x="30" y="53"/>
                  </a:cxn>
                </a:cxnLst>
                <a:rect l="0" t="0" r="r" b="b"/>
                <a:pathLst>
                  <a:path w="53" h="53">
                    <a:moveTo>
                      <a:pt x="30" y="53"/>
                    </a:moveTo>
                    <a:lnTo>
                      <a:pt x="0" y="23"/>
                    </a:lnTo>
                    <a:lnTo>
                      <a:pt x="53" y="0"/>
                    </a:lnTo>
                    <a:lnTo>
                      <a:pt x="30" y="53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11" name="Line 703"/>
              <p:cNvSpPr>
                <a:spLocks noChangeShapeType="1"/>
              </p:cNvSpPr>
              <p:nvPr/>
            </p:nvSpPr>
            <p:spPr bwMode="auto">
              <a:xfrm flipH="1">
                <a:off x="3677985" y="5716011"/>
                <a:ext cx="1106008" cy="1635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12" name="Freeform 704"/>
              <p:cNvSpPr>
                <a:spLocks/>
              </p:cNvSpPr>
              <p:nvPr/>
            </p:nvSpPr>
            <p:spPr bwMode="auto">
              <a:xfrm>
                <a:off x="4670113" y="5689866"/>
                <a:ext cx="113879" cy="53924"/>
              </a:xfrm>
              <a:custGeom>
                <a:avLst/>
                <a:gdLst/>
                <a:ahLst/>
                <a:cxnLst>
                  <a:cxn ang="0">
                    <a:pos x="33" y="33"/>
                  </a:cxn>
                  <a:cxn ang="0">
                    <a:pos x="66" y="16"/>
                  </a:cxn>
                  <a:cxn ang="0">
                    <a:pos x="33" y="0"/>
                  </a:cxn>
                  <a:cxn ang="0">
                    <a:pos x="0" y="16"/>
                  </a:cxn>
                  <a:cxn ang="0">
                    <a:pos x="33" y="33"/>
                  </a:cxn>
                </a:cxnLst>
                <a:rect l="0" t="0" r="r" b="b"/>
                <a:pathLst>
                  <a:path w="66" h="33">
                    <a:moveTo>
                      <a:pt x="33" y="33"/>
                    </a:moveTo>
                    <a:lnTo>
                      <a:pt x="66" y="16"/>
                    </a:lnTo>
                    <a:lnTo>
                      <a:pt x="33" y="0"/>
                    </a:lnTo>
                    <a:lnTo>
                      <a:pt x="0" y="16"/>
                    </a:lnTo>
                    <a:lnTo>
                      <a:pt x="33" y="33"/>
                    </a:lnTo>
                    <a:close/>
                  </a:path>
                </a:pathLst>
              </a:custGeom>
              <a:solidFill>
                <a:srgbClr val="FCF2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13" name="Freeform 705"/>
              <p:cNvSpPr>
                <a:spLocks/>
              </p:cNvSpPr>
              <p:nvPr/>
            </p:nvSpPr>
            <p:spPr bwMode="auto">
              <a:xfrm>
                <a:off x="4670113" y="5689866"/>
                <a:ext cx="113879" cy="53924"/>
              </a:xfrm>
              <a:custGeom>
                <a:avLst/>
                <a:gdLst/>
                <a:ahLst/>
                <a:cxnLst>
                  <a:cxn ang="0">
                    <a:pos x="33" y="33"/>
                  </a:cxn>
                  <a:cxn ang="0">
                    <a:pos x="66" y="16"/>
                  </a:cxn>
                  <a:cxn ang="0">
                    <a:pos x="33" y="0"/>
                  </a:cxn>
                  <a:cxn ang="0">
                    <a:pos x="0" y="16"/>
                  </a:cxn>
                  <a:cxn ang="0">
                    <a:pos x="33" y="33"/>
                  </a:cxn>
                </a:cxnLst>
                <a:rect l="0" t="0" r="r" b="b"/>
                <a:pathLst>
                  <a:path w="66" h="33">
                    <a:moveTo>
                      <a:pt x="33" y="33"/>
                    </a:moveTo>
                    <a:lnTo>
                      <a:pt x="66" y="16"/>
                    </a:lnTo>
                    <a:lnTo>
                      <a:pt x="33" y="0"/>
                    </a:lnTo>
                    <a:lnTo>
                      <a:pt x="0" y="16"/>
                    </a:lnTo>
                    <a:lnTo>
                      <a:pt x="33" y="33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14" name="Freeform 706"/>
              <p:cNvSpPr>
                <a:spLocks noEditPoints="1"/>
              </p:cNvSpPr>
              <p:nvPr/>
            </p:nvSpPr>
            <p:spPr bwMode="auto">
              <a:xfrm>
                <a:off x="3677985" y="5684963"/>
                <a:ext cx="84547" cy="63728"/>
              </a:xfrm>
              <a:custGeom>
                <a:avLst/>
                <a:gdLst/>
                <a:ahLst/>
                <a:cxnLst>
                  <a:cxn ang="0">
                    <a:pos x="0" y="19"/>
                  </a:cxn>
                  <a:cxn ang="0">
                    <a:pos x="49" y="0"/>
                  </a:cxn>
                  <a:cxn ang="0">
                    <a:pos x="0" y="19"/>
                  </a:cxn>
                  <a:cxn ang="0">
                    <a:pos x="49" y="39"/>
                  </a:cxn>
                </a:cxnLst>
                <a:rect l="0" t="0" r="r" b="b"/>
                <a:pathLst>
                  <a:path w="49" h="39">
                    <a:moveTo>
                      <a:pt x="0" y="19"/>
                    </a:moveTo>
                    <a:lnTo>
                      <a:pt x="49" y="0"/>
                    </a:lnTo>
                    <a:moveTo>
                      <a:pt x="0" y="19"/>
                    </a:moveTo>
                    <a:lnTo>
                      <a:pt x="49" y="39"/>
                    </a:ln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15" name="Rectangle 707"/>
              <p:cNvSpPr>
                <a:spLocks noChangeArrowheads="1"/>
              </p:cNvSpPr>
              <p:nvPr/>
            </p:nvSpPr>
            <p:spPr bwMode="auto">
              <a:xfrm>
                <a:off x="4392317" y="5619602"/>
                <a:ext cx="267444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+collection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116" name="Rectangle 708"/>
              <p:cNvSpPr>
                <a:spLocks noChangeArrowheads="1"/>
              </p:cNvSpPr>
              <p:nvPr/>
            </p:nvSpPr>
            <p:spPr bwMode="auto">
              <a:xfrm>
                <a:off x="4578665" y="5753593"/>
                <a:ext cx="96625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0..*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117" name="Rectangle 709"/>
              <p:cNvSpPr>
                <a:spLocks noChangeArrowheads="1"/>
              </p:cNvSpPr>
              <p:nvPr/>
            </p:nvSpPr>
            <p:spPr bwMode="auto">
              <a:xfrm>
                <a:off x="3990289" y="5753593"/>
                <a:ext cx="431360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CoverageFunction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118" name="Rectangle 710"/>
              <p:cNvSpPr>
                <a:spLocks noChangeArrowheads="1"/>
              </p:cNvSpPr>
              <p:nvPr/>
            </p:nvSpPr>
            <p:spPr bwMode="auto">
              <a:xfrm>
                <a:off x="3684887" y="5609798"/>
                <a:ext cx="232935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+element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119" name="Rectangle 711"/>
              <p:cNvSpPr>
                <a:spLocks noChangeArrowheads="1"/>
              </p:cNvSpPr>
              <p:nvPr/>
            </p:nvSpPr>
            <p:spPr bwMode="auto">
              <a:xfrm>
                <a:off x="3707317" y="5765032"/>
                <a:ext cx="96625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0..*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129" name="Line 721"/>
              <p:cNvSpPr>
                <a:spLocks noChangeShapeType="1"/>
              </p:cNvSpPr>
              <p:nvPr/>
            </p:nvSpPr>
            <p:spPr bwMode="auto">
              <a:xfrm flipH="1" flipV="1">
                <a:off x="5893451" y="3256788"/>
                <a:ext cx="481399" cy="284322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30" name="Freeform 722"/>
              <p:cNvSpPr>
                <a:spLocks/>
              </p:cNvSpPr>
              <p:nvPr/>
            </p:nvSpPr>
            <p:spPr bwMode="auto">
              <a:xfrm>
                <a:off x="5893451" y="3256788"/>
                <a:ext cx="96625" cy="75166"/>
              </a:xfrm>
              <a:custGeom>
                <a:avLst/>
                <a:gdLst/>
                <a:ahLst/>
                <a:cxnLst>
                  <a:cxn ang="0">
                    <a:pos x="56" y="10"/>
                  </a:cxn>
                  <a:cxn ang="0">
                    <a:pos x="33" y="46"/>
                  </a:cxn>
                  <a:cxn ang="0">
                    <a:pos x="0" y="0"/>
                  </a:cxn>
                  <a:cxn ang="0">
                    <a:pos x="56" y="10"/>
                  </a:cxn>
                </a:cxnLst>
                <a:rect l="0" t="0" r="r" b="b"/>
                <a:pathLst>
                  <a:path w="56" h="46">
                    <a:moveTo>
                      <a:pt x="56" y="10"/>
                    </a:moveTo>
                    <a:lnTo>
                      <a:pt x="33" y="46"/>
                    </a:lnTo>
                    <a:lnTo>
                      <a:pt x="0" y="0"/>
                    </a:lnTo>
                    <a:lnTo>
                      <a:pt x="56" y="10"/>
                    </a:lnTo>
                    <a:close/>
                  </a:path>
                </a:pathLst>
              </a:custGeom>
              <a:solidFill>
                <a:srgbClr val="FCF2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31" name="Freeform 723"/>
              <p:cNvSpPr>
                <a:spLocks/>
              </p:cNvSpPr>
              <p:nvPr/>
            </p:nvSpPr>
            <p:spPr bwMode="auto">
              <a:xfrm>
                <a:off x="5893451" y="3256788"/>
                <a:ext cx="96625" cy="75166"/>
              </a:xfrm>
              <a:custGeom>
                <a:avLst/>
                <a:gdLst/>
                <a:ahLst/>
                <a:cxnLst>
                  <a:cxn ang="0">
                    <a:pos x="56" y="10"/>
                  </a:cxn>
                  <a:cxn ang="0">
                    <a:pos x="33" y="46"/>
                  </a:cxn>
                  <a:cxn ang="0">
                    <a:pos x="0" y="0"/>
                  </a:cxn>
                  <a:cxn ang="0">
                    <a:pos x="56" y="10"/>
                  </a:cxn>
                </a:cxnLst>
                <a:rect l="0" t="0" r="r" b="b"/>
                <a:pathLst>
                  <a:path w="56" h="46">
                    <a:moveTo>
                      <a:pt x="56" y="10"/>
                    </a:moveTo>
                    <a:lnTo>
                      <a:pt x="33" y="46"/>
                    </a:lnTo>
                    <a:lnTo>
                      <a:pt x="0" y="0"/>
                    </a:lnTo>
                    <a:lnTo>
                      <a:pt x="56" y="10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32" name="Line 724"/>
              <p:cNvSpPr>
                <a:spLocks noChangeShapeType="1"/>
              </p:cNvSpPr>
              <p:nvPr/>
            </p:nvSpPr>
            <p:spPr bwMode="auto">
              <a:xfrm flipV="1">
                <a:off x="5491423" y="3256788"/>
                <a:ext cx="1726" cy="70917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33" name="Freeform 725"/>
              <p:cNvSpPr>
                <a:spLocks/>
              </p:cNvSpPr>
              <p:nvPr/>
            </p:nvSpPr>
            <p:spPr bwMode="auto">
              <a:xfrm>
                <a:off x="5463816" y="3256788"/>
                <a:ext cx="55214" cy="107846"/>
              </a:xfrm>
              <a:custGeom>
                <a:avLst/>
                <a:gdLst/>
                <a:ahLst/>
                <a:cxnLst>
                  <a:cxn ang="0">
                    <a:pos x="32" y="33"/>
                  </a:cxn>
                  <a:cxn ang="0">
                    <a:pos x="16" y="0"/>
                  </a:cxn>
                  <a:cxn ang="0">
                    <a:pos x="0" y="33"/>
                  </a:cxn>
                  <a:cxn ang="0">
                    <a:pos x="16" y="66"/>
                  </a:cxn>
                  <a:cxn ang="0">
                    <a:pos x="32" y="33"/>
                  </a:cxn>
                </a:cxnLst>
                <a:rect l="0" t="0" r="r" b="b"/>
                <a:pathLst>
                  <a:path w="32" h="66">
                    <a:moveTo>
                      <a:pt x="32" y="33"/>
                    </a:moveTo>
                    <a:lnTo>
                      <a:pt x="16" y="0"/>
                    </a:lnTo>
                    <a:lnTo>
                      <a:pt x="0" y="33"/>
                    </a:lnTo>
                    <a:lnTo>
                      <a:pt x="16" y="66"/>
                    </a:lnTo>
                    <a:lnTo>
                      <a:pt x="32" y="33"/>
                    </a:lnTo>
                    <a:close/>
                  </a:path>
                </a:pathLst>
              </a:custGeom>
              <a:solidFill>
                <a:srgbClr val="000000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34" name="Freeform 726"/>
              <p:cNvSpPr>
                <a:spLocks/>
              </p:cNvSpPr>
              <p:nvPr/>
            </p:nvSpPr>
            <p:spPr bwMode="auto">
              <a:xfrm>
                <a:off x="5463816" y="3256788"/>
                <a:ext cx="55214" cy="107846"/>
              </a:xfrm>
              <a:custGeom>
                <a:avLst/>
                <a:gdLst/>
                <a:ahLst/>
                <a:cxnLst>
                  <a:cxn ang="0">
                    <a:pos x="32" y="33"/>
                  </a:cxn>
                  <a:cxn ang="0">
                    <a:pos x="16" y="0"/>
                  </a:cxn>
                  <a:cxn ang="0">
                    <a:pos x="0" y="33"/>
                  </a:cxn>
                  <a:cxn ang="0">
                    <a:pos x="16" y="66"/>
                  </a:cxn>
                  <a:cxn ang="0">
                    <a:pos x="32" y="33"/>
                  </a:cxn>
                </a:cxnLst>
                <a:rect l="0" t="0" r="r" b="b"/>
                <a:pathLst>
                  <a:path w="32" h="66">
                    <a:moveTo>
                      <a:pt x="32" y="33"/>
                    </a:moveTo>
                    <a:lnTo>
                      <a:pt x="16" y="0"/>
                    </a:lnTo>
                    <a:lnTo>
                      <a:pt x="0" y="33"/>
                    </a:lnTo>
                    <a:lnTo>
                      <a:pt x="16" y="66"/>
                    </a:lnTo>
                    <a:lnTo>
                      <a:pt x="32" y="33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35" name="Freeform 727"/>
              <p:cNvSpPr>
                <a:spLocks noEditPoints="1"/>
              </p:cNvSpPr>
              <p:nvPr/>
            </p:nvSpPr>
            <p:spPr bwMode="auto">
              <a:xfrm>
                <a:off x="5456914" y="3885892"/>
                <a:ext cx="69018" cy="80068"/>
              </a:xfrm>
              <a:custGeom>
                <a:avLst/>
                <a:gdLst/>
                <a:ahLst/>
                <a:cxnLst>
                  <a:cxn ang="0">
                    <a:pos x="20" y="49"/>
                  </a:cxn>
                  <a:cxn ang="0">
                    <a:pos x="40" y="0"/>
                  </a:cxn>
                  <a:cxn ang="0">
                    <a:pos x="20" y="49"/>
                  </a:cxn>
                  <a:cxn ang="0">
                    <a:pos x="0" y="0"/>
                  </a:cxn>
                </a:cxnLst>
                <a:rect l="0" t="0" r="r" b="b"/>
                <a:pathLst>
                  <a:path w="40" h="49">
                    <a:moveTo>
                      <a:pt x="20" y="49"/>
                    </a:moveTo>
                    <a:lnTo>
                      <a:pt x="40" y="0"/>
                    </a:lnTo>
                    <a:moveTo>
                      <a:pt x="20" y="49"/>
                    </a:moveTo>
                    <a:lnTo>
                      <a:pt x="0" y="0"/>
                    </a:ln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36" name="Rectangle 728"/>
              <p:cNvSpPr>
                <a:spLocks noChangeArrowheads="1"/>
              </p:cNvSpPr>
              <p:nvPr/>
            </p:nvSpPr>
            <p:spPr bwMode="auto">
              <a:xfrm>
                <a:off x="5292998" y="3858113"/>
                <a:ext cx="175995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+result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137" name="Rectangle 729"/>
              <p:cNvSpPr>
                <a:spLocks noChangeArrowheads="1"/>
              </p:cNvSpPr>
              <p:nvPr/>
            </p:nvSpPr>
            <p:spPr bwMode="auto">
              <a:xfrm>
                <a:off x="5406877" y="3536209"/>
                <a:ext cx="170819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Range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143" name="Line 735"/>
              <p:cNvSpPr>
                <a:spLocks noChangeShapeType="1"/>
              </p:cNvSpPr>
              <p:nvPr/>
            </p:nvSpPr>
            <p:spPr bwMode="auto">
              <a:xfrm flipH="1">
                <a:off x="2680680" y="2333559"/>
                <a:ext cx="912759" cy="279420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44" name="Freeform 736"/>
              <p:cNvSpPr>
                <a:spLocks noEditPoints="1"/>
              </p:cNvSpPr>
              <p:nvPr/>
            </p:nvSpPr>
            <p:spPr bwMode="auto">
              <a:xfrm>
                <a:off x="2680680" y="2559056"/>
                <a:ext cx="91449" cy="58825"/>
              </a:xfrm>
              <a:custGeom>
                <a:avLst/>
                <a:gdLst/>
                <a:ahLst/>
                <a:cxnLst>
                  <a:cxn ang="0">
                    <a:pos x="0" y="33"/>
                  </a:cxn>
                  <a:cxn ang="0">
                    <a:pos x="40" y="0"/>
                  </a:cxn>
                  <a:cxn ang="0">
                    <a:pos x="0" y="33"/>
                  </a:cxn>
                  <a:cxn ang="0">
                    <a:pos x="53" y="36"/>
                  </a:cxn>
                </a:cxnLst>
                <a:rect l="0" t="0" r="r" b="b"/>
                <a:pathLst>
                  <a:path w="53" h="36">
                    <a:moveTo>
                      <a:pt x="0" y="33"/>
                    </a:moveTo>
                    <a:lnTo>
                      <a:pt x="40" y="0"/>
                    </a:lnTo>
                    <a:moveTo>
                      <a:pt x="0" y="33"/>
                    </a:moveTo>
                    <a:lnTo>
                      <a:pt x="53" y="36"/>
                    </a:ln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45" name="Rectangle 737"/>
              <p:cNvSpPr>
                <a:spLocks noChangeArrowheads="1"/>
              </p:cNvSpPr>
              <p:nvPr/>
            </p:nvSpPr>
            <p:spPr bwMode="auto">
              <a:xfrm>
                <a:off x="2958475" y="2397286"/>
                <a:ext cx="317481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Phenomenon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146" name="Rectangle 738"/>
              <p:cNvSpPr>
                <a:spLocks noChangeArrowheads="1"/>
              </p:cNvSpPr>
              <p:nvPr/>
            </p:nvSpPr>
            <p:spPr bwMode="auto">
              <a:xfrm>
                <a:off x="2703110" y="2644026"/>
                <a:ext cx="453792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+observedProperty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147" name="Rectangle 739"/>
              <p:cNvSpPr>
                <a:spLocks noChangeArrowheads="1"/>
              </p:cNvSpPr>
              <p:nvPr/>
            </p:nvSpPr>
            <p:spPr bwMode="auto">
              <a:xfrm>
                <a:off x="2653073" y="2483891"/>
                <a:ext cx="51763" cy="63728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vert="horz" wrap="none" lIns="0" tIns="0" rIns="0" bIns="0" numCol="1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r>
                  <a:rPr kumimoji="0" lang="en-US" sz="400" b="0" i="0" u="none" strike="noStrike" cap="none" normalizeH="0" baseline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latin typeface="Arial" pitchFamily="34" charset="0"/>
                    <a:cs typeface="Arial" pitchFamily="34" charset="0"/>
                  </a:rPr>
                  <a:t>1</a:t>
                </a:r>
                <a:endParaRPr kumimoji="0" lang="en-US" sz="1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sp>
            <p:nvSpPr>
              <p:cNvPr id="18169" name="Line 761"/>
              <p:cNvSpPr>
                <a:spLocks noChangeShapeType="1"/>
              </p:cNvSpPr>
              <p:nvPr/>
            </p:nvSpPr>
            <p:spPr bwMode="auto">
              <a:xfrm flipH="1" flipV="1">
                <a:off x="5434484" y="2676707"/>
                <a:ext cx="119056" cy="204255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70" name="Freeform 762"/>
              <p:cNvSpPr>
                <a:spLocks/>
              </p:cNvSpPr>
              <p:nvPr/>
            </p:nvSpPr>
            <p:spPr bwMode="auto">
              <a:xfrm>
                <a:off x="5434484" y="2676707"/>
                <a:ext cx="74195" cy="91506"/>
              </a:xfrm>
              <a:custGeom>
                <a:avLst/>
                <a:gdLst/>
                <a:ahLst/>
                <a:cxnLst>
                  <a:cxn ang="0">
                    <a:pos x="43" y="36"/>
                  </a:cxn>
                  <a:cxn ang="0">
                    <a:pos x="7" y="56"/>
                  </a:cxn>
                  <a:cxn ang="0">
                    <a:pos x="0" y="0"/>
                  </a:cxn>
                  <a:cxn ang="0">
                    <a:pos x="43" y="36"/>
                  </a:cxn>
                </a:cxnLst>
                <a:rect l="0" t="0" r="r" b="b"/>
                <a:pathLst>
                  <a:path w="43" h="56">
                    <a:moveTo>
                      <a:pt x="43" y="36"/>
                    </a:moveTo>
                    <a:lnTo>
                      <a:pt x="7" y="56"/>
                    </a:lnTo>
                    <a:lnTo>
                      <a:pt x="0" y="0"/>
                    </a:lnTo>
                    <a:lnTo>
                      <a:pt x="43" y="36"/>
                    </a:lnTo>
                    <a:close/>
                  </a:path>
                </a:pathLst>
              </a:custGeom>
              <a:solidFill>
                <a:srgbClr val="FCF2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71" name="Freeform 763"/>
              <p:cNvSpPr>
                <a:spLocks/>
              </p:cNvSpPr>
              <p:nvPr/>
            </p:nvSpPr>
            <p:spPr bwMode="auto">
              <a:xfrm>
                <a:off x="5434484" y="2676707"/>
                <a:ext cx="74195" cy="91506"/>
              </a:xfrm>
              <a:custGeom>
                <a:avLst/>
                <a:gdLst/>
                <a:ahLst/>
                <a:cxnLst>
                  <a:cxn ang="0">
                    <a:pos x="43" y="36"/>
                  </a:cxn>
                  <a:cxn ang="0">
                    <a:pos x="7" y="56"/>
                  </a:cxn>
                  <a:cxn ang="0">
                    <a:pos x="0" y="0"/>
                  </a:cxn>
                  <a:cxn ang="0">
                    <a:pos x="43" y="36"/>
                  </a:cxn>
                </a:cxnLst>
                <a:rect l="0" t="0" r="r" b="b"/>
                <a:pathLst>
                  <a:path w="43" h="56">
                    <a:moveTo>
                      <a:pt x="43" y="36"/>
                    </a:moveTo>
                    <a:lnTo>
                      <a:pt x="7" y="56"/>
                    </a:lnTo>
                    <a:lnTo>
                      <a:pt x="0" y="0"/>
                    </a:lnTo>
                    <a:lnTo>
                      <a:pt x="43" y="36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72" name="Line 764"/>
              <p:cNvSpPr>
                <a:spLocks noChangeShapeType="1"/>
              </p:cNvSpPr>
              <p:nvPr/>
            </p:nvSpPr>
            <p:spPr bwMode="auto">
              <a:xfrm flipH="1" flipV="1">
                <a:off x="2244143" y="2918544"/>
                <a:ext cx="6902" cy="380731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73" name="Freeform 765"/>
              <p:cNvSpPr>
                <a:spLocks/>
              </p:cNvSpPr>
              <p:nvPr/>
            </p:nvSpPr>
            <p:spPr bwMode="auto">
              <a:xfrm>
                <a:off x="2211360" y="2918544"/>
                <a:ext cx="67293" cy="86604"/>
              </a:xfrm>
              <a:custGeom>
                <a:avLst/>
                <a:gdLst/>
                <a:ahLst/>
                <a:cxnLst>
                  <a:cxn ang="0">
                    <a:pos x="39" y="53"/>
                  </a:cxn>
                  <a:cxn ang="0">
                    <a:pos x="0" y="53"/>
                  </a:cxn>
                  <a:cxn ang="0">
                    <a:pos x="19" y="0"/>
                  </a:cxn>
                  <a:cxn ang="0">
                    <a:pos x="39" y="53"/>
                  </a:cxn>
                </a:cxnLst>
                <a:rect l="0" t="0" r="r" b="b"/>
                <a:pathLst>
                  <a:path w="39" h="53">
                    <a:moveTo>
                      <a:pt x="39" y="53"/>
                    </a:moveTo>
                    <a:lnTo>
                      <a:pt x="0" y="53"/>
                    </a:lnTo>
                    <a:lnTo>
                      <a:pt x="19" y="0"/>
                    </a:lnTo>
                    <a:lnTo>
                      <a:pt x="39" y="53"/>
                    </a:lnTo>
                    <a:close/>
                  </a:path>
                </a:pathLst>
              </a:custGeom>
              <a:solidFill>
                <a:srgbClr val="FCF2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74" name="Freeform 766"/>
              <p:cNvSpPr>
                <a:spLocks/>
              </p:cNvSpPr>
              <p:nvPr/>
            </p:nvSpPr>
            <p:spPr bwMode="auto">
              <a:xfrm>
                <a:off x="2211360" y="2918544"/>
                <a:ext cx="67293" cy="86604"/>
              </a:xfrm>
              <a:custGeom>
                <a:avLst/>
                <a:gdLst/>
                <a:ahLst/>
                <a:cxnLst>
                  <a:cxn ang="0">
                    <a:pos x="39" y="53"/>
                  </a:cxn>
                  <a:cxn ang="0">
                    <a:pos x="0" y="53"/>
                  </a:cxn>
                  <a:cxn ang="0">
                    <a:pos x="19" y="0"/>
                  </a:cxn>
                  <a:cxn ang="0">
                    <a:pos x="39" y="53"/>
                  </a:cxn>
                </a:cxnLst>
                <a:rect l="0" t="0" r="r" b="b"/>
                <a:pathLst>
                  <a:path w="39" h="53">
                    <a:moveTo>
                      <a:pt x="39" y="53"/>
                    </a:moveTo>
                    <a:lnTo>
                      <a:pt x="0" y="53"/>
                    </a:lnTo>
                    <a:lnTo>
                      <a:pt x="19" y="0"/>
                    </a:lnTo>
                    <a:lnTo>
                      <a:pt x="39" y="53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75" name="Line 767"/>
              <p:cNvSpPr>
                <a:spLocks noChangeShapeType="1"/>
              </p:cNvSpPr>
              <p:nvPr/>
            </p:nvSpPr>
            <p:spPr bwMode="auto">
              <a:xfrm flipV="1">
                <a:off x="5305075" y="5957848"/>
                <a:ext cx="5177" cy="246740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76" name="Freeform 768"/>
              <p:cNvSpPr>
                <a:spLocks/>
              </p:cNvSpPr>
              <p:nvPr/>
            </p:nvSpPr>
            <p:spPr bwMode="auto">
              <a:xfrm>
                <a:off x="5275743" y="5957848"/>
                <a:ext cx="69018" cy="86604"/>
              </a:xfrm>
              <a:custGeom>
                <a:avLst/>
                <a:gdLst/>
                <a:ahLst/>
                <a:cxnLst>
                  <a:cxn ang="0">
                    <a:pos x="40" y="53"/>
                  </a:cxn>
                  <a:cxn ang="0">
                    <a:pos x="0" y="53"/>
                  </a:cxn>
                  <a:cxn ang="0">
                    <a:pos x="20" y="0"/>
                  </a:cxn>
                  <a:cxn ang="0">
                    <a:pos x="40" y="53"/>
                  </a:cxn>
                </a:cxnLst>
                <a:rect l="0" t="0" r="r" b="b"/>
                <a:pathLst>
                  <a:path w="40" h="53">
                    <a:moveTo>
                      <a:pt x="40" y="53"/>
                    </a:moveTo>
                    <a:lnTo>
                      <a:pt x="0" y="53"/>
                    </a:lnTo>
                    <a:lnTo>
                      <a:pt x="20" y="0"/>
                    </a:lnTo>
                    <a:lnTo>
                      <a:pt x="40" y="53"/>
                    </a:lnTo>
                    <a:close/>
                  </a:path>
                </a:pathLst>
              </a:custGeom>
              <a:solidFill>
                <a:srgbClr val="FCF2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77" name="Freeform 769"/>
              <p:cNvSpPr>
                <a:spLocks/>
              </p:cNvSpPr>
              <p:nvPr/>
            </p:nvSpPr>
            <p:spPr bwMode="auto">
              <a:xfrm>
                <a:off x="5275743" y="5957848"/>
                <a:ext cx="69018" cy="86604"/>
              </a:xfrm>
              <a:custGeom>
                <a:avLst/>
                <a:gdLst/>
                <a:ahLst/>
                <a:cxnLst>
                  <a:cxn ang="0">
                    <a:pos x="40" y="53"/>
                  </a:cxn>
                  <a:cxn ang="0">
                    <a:pos x="0" y="53"/>
                  </a:cxn>
                  <a:cxn ang="0">
                    <a:pos x="20" y="0"/>
                  </a:cxn>
                  <a:cxn ang="0">
                    <a:pos x="40" y="53"/>
                  </a:cxn>
                </a:cxnLst>
                <a:rect l="0" t="0" r="r" b="b"/>
                <a:pathLst>
                  <a:path w="40" h="53">
                    <a:moveTo>
                      <a:pt x="40" y="53"/>
                    </a:moveTo>
                    <a:lnTo>
                      <a:pt x="0" y="53"/>
                    </a:lnTo>
                    <a:lnTo>
                      <a:pt x="20" y="0"/>
                    </a:lnTo>
                    <a:lnTo>
                      <a:pt x="40" y="53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78" name="Line 770"/>
              <p:cNvSpPr>
                <a:spLocks noChangeShapeType="1"/>
              </p:cNvSpPr>
              <p:nvPr/>
            </p:nvSpPr>
            <p:spPr bwMode="auto">
              <a:xfrm flipV="1">
                <a:off x="3769433" y="4384272"/>
                <a:ext cx="367520" cy="408509"/>
              </a:xfrm>
              <a:prstGeom prst="line">
                <a:avLst/>
              </a:pr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79" name="Freeform 771"/>
              <p:cNvSpPr>
                <a:spLocks/>
              </p:cNvSpPr>
              <p:nvPr/>
            </p:nvSpPr>
            <p:spPr bwMode="auto">
              <a:xfrm>
                <a:off x="4052405" y="4384272"/>
                <a:ext cx="84547" cy="86604"/>
              </a:xfrm>
              <a:custGeom>
                <a:avLst/>
                <a:gdLst/>
                <a:ahLst/>
                <a:cxnLst>
                  <a:cxn ang="0">
                    <a:pos x="29" y="53"/>
                  </a:cxn>
                  <a:cxn ang="0">
                    <a:pos x="0" y="27"/>
                  </a:cxn>
                  <a:cxn ang="0">
                    <a:pos x="49" y="0"/>
                  </a:cxn>
                  <a:cxn ang="0">
                    <a:pos x="29" y="53"/>
                  </a:cxn>
                </a:cxnLst>
                <a:rect l="0" t="0" r="r" b="b"/>
                <a:pathLst>
                  <a:path w="49" h="53">
                    <a:moveTo>
                      <a:pt x="29" y="53"/>
                    </a:moveTo>
                    <a:lnTo>
                      <a:pt x="0" y="27"/>
                    </a:lnTo>
                    <a:lnTo>
                      <a:pt x="49" y="0"/>
                    </a:lnTo>
                    <a:lnTo>
                      <a:pt x="29" y="53"/>
                    </a:lnTo>
                    <a:close/>
                  </a:path>
                </a:pathLst>
              </a:custGeom>
              <a:solidFill>
                <a:srgbClr val="FCF2E3"/>
              </a:solidFill>
              <a:ln w="9525">
                <a:noFill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  <p:sp>
            <p:nvSpPr>
              <p:cNvPr id="18180" name="Freeform 772"/>
              <p:cNvSpPr>
                <a:spLocks/>
              </p:cNvSpPr>
              <p:nvPr/>
            </p:nvSpPr>
            <p:spPr bwMode="auto">
              <a:xfrm>
                <a:off x="4052405" y="4384272"/>
                <a:ext cx="84547" cy="86604"/>
              </a:xfrm>
              <a:custGeom>
                <a:avLst/>
                <a:gdLst/>
                <a:ahLst/>
                <a:cxnLst>
                  <a:cxn ang="0">
                    <a:pos x="29" y="53"/>
                  </a:cxn>
                  <a:cxn ang="0">
                    <a:pos x="0" y="27"/>
                  </a:cxn>
                  <a:cxn ang="0">
                    <a:pos x="49" y="0"/>
                  </a:cxn>
                  <a:cxn ang="0">
                    <a:pos x="29" y="53"/>
                  </a:cxn>
                </a:cxnLst>
                <a:rect l="0" t="0" r="r" b="b"/>
                <a:pathLst>
                  <a:path w="49" h="53">
                    <a:moveTo>
                      <a:pt x="29" y="53"/>
                    </a:moveTo>
                    <a:lnTo>
                      <a:pt x="0" y="27"/>
                    </a:lnTo>
                    <a:lnTo>
                      <a:pt x="49" y="0"/>
                    </a:lnTo>
                    <a:lnTo>
                      <a:pt x="29" y="53"/>
                    </a:lnTo>
                    <a:close/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bevel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AU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Requirements Classes (option 1)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71589" y="723445"/>
            <a:ext cx="5208586" cy="56294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Requirements Classes (option 2)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94023" y="905775"/>
            <a:ext cx="7149816" cy="46520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Conformance Classes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15208" y="836762"/>
            <a:ext cx="6647655" cy="484490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err="1" smtClean="0"/>
              <a:t>Schematron</a:t>
            </a:r>
            <a:r>
              <a:rPr lang="en-AU" dirty="0" smtClean="0"/>
              <a:t> 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pic>
        <p:nvPicPr>
          <p:cNvPr id="45058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785004" y="699735"/>
            <a:ext cx="6825471" cy="529562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Water Quality </a:t>
            </a:r>
            <a:r>
              <a:rPr lang="en-AU" dirty="0" smtClean="0"/>
              <a:t>observable property </a:t>
            </a:r>
            <a:r>
              <a:rPr lang="en-AU" dirty="0" smtClean="0"/>
              <a:t>vocabulary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60363" y="872566"/>
            <a:ext cx="8459787" cy="4559300"/>
          </a:xfrm>
        </p:spPr>
        <p:txBody>
          <a:bodyPr/>
          <a:lstStyle/>
          <a:p>
            <a:r>
              <a:rPr lang="en-AU" sz="2000" dirty="0" smtClean="0"/>
              <a:t>Observable property model </a:t>
            </a:r>
            <a:r>
              <a:rPr lang="en-AU" sz="2000" dirty="0" smtClean="0"/>
              <a:t>as a formal </a:t>
            </a:r>
            <a:r>
              <a:rPr lang="en-AU" sz="2000" dirty="0" smtClean="0"/>
              <a:t>ontology</a:t>
            </a:r>
            <a:r>
              <a:rPr lang="en-AU" sz="2000" dirty="0" smtClean="0"/>
              <a:t> b</a:t>
            </a:r>
            <a:r>
              <a:rPr lang="en-AU" sz="2000" dirty="0" smtClean="0"/>
              <a:t>ased on </a:t>
            </a:r>
            <a:endParaRPr lang="en-AU" sz="2000" dirty="0" smtClean="0"/>
          </a:p>
          <a:p>
            <a:pPr lvl="1"/>
            <a:r>
              <a:rPr lang="en-AU" sz="1800" dirty="0" smtClean="0"/>
              <a:t>OGC </a:t>
            </a:r>
            <a:r>
              <a:rPr lang="en-AU" sz="1800" i="1" dirty="0" smtClean="0"/>
              <a:t>O&amp;M v1.0</a:t>
            </a:r>
            <a:r>
              <a:rPr lang="en-AU" sz="1800" dirty="0" smtClean="0"/>
              <a:t> (</a:t>
            </a:r>
            <a:r>
              <a:rPr lang="en-AU" sz="1800" u="sng" dirty="0" smtClean="0"/>
              <a:t>Cox, 2007</a:t>
            </a:r>
            <a:r>
              <a:rPr lang="en-AU" sz="1800" dirty="0" smtClean="0"/>
              <a:t>) </a:t>
            </a:r>
          </a:p>
          <a:p>
            <a:pPr lvl="1"/>
            <a:r>
              <a:rPr lang="en-AU" sz="1800" i="1" dirty="0" smtClean="0"/>
              <a:t>QUDT v1.1 </a:t>
            </a:r>
            <a:r>
              <a:rPr lang="en-AU" sz="1800" dirty="0" smtClean="0"/>
              <a:t>(</a:t>
            </a:r>
            <a:r>
              <a:rPr lang="en-AU" sz="1800" u="sng" dirty="0" smtClean="0"/>
              <a:t>Hodgson and Keller, 2011</a:t>
            </a:r>
            <a:r>
              <a:rPr lang="en-AU" sz="1800" dirty="0" smtClean="0"/>
              <a:t>)</a:t>
            </a:r>
          </a:p>
          <a:p>
            <a:r>
              <a:rPr lang="en-AU" sz="2000" dirty="0" smtClean="0"/>
              <a:t>Content </a:t>
            </a:r>
            <a:r>
              <a:rPr lang="en-AU" sz="2000" dirty="0" smtClean="0"/>
              <a:t>from </a:t>
            </a:r>
            <a:r>
              <a:rPr lang="en-AU" sz="2000" dirty="0" smtClean="0"/>
              <a:t>various Australian and international projects</a:t>
            </a:r>
          </a:p>
          <a:p>
            <a:r>
              <a:rPr lang="en-AU" sz="2000" dirty="0" smtClean="0"/>
              <a:t>Analytes linked to </a:t>
            </a:r>
            <a:r>
              <a:rPr lang="en-AU" sz="2000" i="1" dirty="0" smtClean="0"/>
              <a:t>Chemical Entities of Biological Interest (ChEBI) </a:t>
            </a:r>
            <a:r>
              <a:rPr lang="en-AU" sz="2000" dirty="0" smtClean="0"/>
              <a:t>ontology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0236" y="6053089"/>
            <a:ext cx="712566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050" dirty="0" smtClean="0">
                <a:solidFill>
                  <a:schemeClr val="bg2"/>
                </a:solidFill>
              </a:rPr>
              <a:t>Simons, B.A, Yu, J. and Cox, S.J.D., (2013) </a:t>
            </a:r>
            <a:r>
              <a:rPr lang="en-AU" sz="1050" dirty="0" smtClean="0">
                <a:solidFill>
                  <a:schemeClr val="bg2"/>
                </a:solidFill>
              </a:rPr>
              <a:t>Water Quality vocabularies for the Bioregional Assessment Framework</a:t>
            </a:r>
            <a:r>
              <a:rPr lang="en-US" sz="1050" dirty="0" smtClean="0">
                <a:solidFill>
                  <a:schemeClr val="bg2"/>
                </a:solidFill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en-AU" sz="1050" dirty="0" smtClean="0">
                <a:solidFill>
                  <a:schemeClr val="bg2"/>
                </a:solidFill>
              </a:rPr>
              <a:t>Water for a Healthy Country Flagship Report series ISSN: 1835-095X</a:t>
            </a:r>
            <a:endParaRPr lang="en-AU" sz="1200" dirty="0" smtClean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28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-1"/>
            <a:ext cx="9144000" cy="3122613"/>
          </a:xfrm>
          <a:prstGeom prst="rect">
            <a:avLst/>
          </a:prstGeom>
          <a:noFill/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0000" y="3312613"/>
            <a:ext cx="8332738" cy="1080000"/>
          </a:xfrm>
        </p:spPr>
        <p:txBody>
          <a:bodyPr/>
          <a:lstStyle/>
          <a:p>
            <a:r>
              <a:rPr lang="en-US" dirty="0" smtClean="0"/>
              <a:t>Water Quality observable </a:t>
            </a:r>
            <a:r>
              <a:rPr lang="en-US" dirty="0" smtClean="0"/>
              <a:t>property </a:t>
            </a:r>
            <a:r>
              <a:rPr lang="en-US" dirty="0" smtClean="0"/>
              <a:t>vocabulary</a:t>
            </a:r>
            <a:endParaRPr lang="en-AU" dirty="0"/>
          </a:p>
        </p:txBody>
      </p:sp>
      <p:sp>
        <p:nvSpPr>
          <p:cNvPr id="22533" name="Footer Placeholder 2"/>
          <p:cNvSpPr txBox="1">
            <a:spLocks/>
          </p:cNvSpPr>
          <p:nvPr/>
        </p:nvSpPr>
        <p:spPr bwMode="auto">
          <a:xfrm>
            <a:off x="360363" y="4700964"/>
            <a:ext cx="8042275" cy="250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r>
              <a:rPr lang="en-AU" sz="1600" b="1" dirty="0" smtClean="0">
                <a:solidFill>
                  <a:schemeClr val="bg1"/>
                </a:solidFill>
                <a:latin typeface="Calibri" pitchFamily="34" charset="0"/>
              </a:rPr>
              <a:t>Simon Cox</a:t>
            </a:r>
            <a:endParaRPr lang="en-US" sz="1600" dirty="0">
              <a:solidFill>
                <a:schemeClr val="bg1"/>
              </a:solidFill>
              <a:latin typeface="Calibri" pitchFamily="34" charset="0"/>
            </a:endParaRPr>
          </a:p>
        </p:txBody>
      </p:sp>
      <p:sp>
        <p:nvSpPr>
          <p:cNvPr id="22534" name="Footer Placeholder 2"/>
          <p:cNvSpPr txBox="1">
            <a:spLocks/>
          </p:cNvSpPr>
          <p:nvPr/>
        </p:nvSpPr>
        <p:spPr bwMode="auto">
          <a:xfrm>
            <a:off x="361950" y="4962901"/>
            <a:ext cx="8042275" cy="252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fontAlgn="auto">
              <a:spcAft>
                <a:spcPts val="567"/>
              </a:spcAft>
              <a:defRPr/>
            </a:pPr>
            <a:endParaRPr lang="en-AU" sz="16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smtClean="0"/>
              <a:t>Land and Water </a:t>
            </a:r>
          </a:p>
        </p:txBody>
      </p:sp>
    </p:spTree>
    <p:extLst>
      <p:ext uri="{BB962C8B-B14F-4D97-AF65-F5344CB8AC3E}">
        <p14:creationId xmlns:p14="http://schemas.microsoft.com/office/powerpoint/2010/main" xmlns="" val="2836802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Water Quality </a:t>
            </a:r>
            <a:r>
              <a:rPr lang="en-AU" dirty="0" smtClean="0"/>
              <a:t>observable property </a:t>
            </a:r>
            <a:r>
              <a:rPr lang="en-AU" dirty="0" smtClean="0"/>
              <a:t>vocabulary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60363" y="872566"/>
            <a:ext cx="8459787" cy="4559300"/>
          </a:xfrm>
        </p:spPr>
        <p:txBody>
          <a:bodyPr/>
          <a:lstStyle/>
          <a:p>
            <a:r>
              <a:rPr lang="en-AU" sz="2000" dirty="0" smtClean="0"/>
              <a:t>Observable property model </a:t>
            </a:r>
            <a:r>
              <a:rPr lang="en-AU" sz="2000" dirty="0" smtClean="0"/>
              <a:t>as a formal </a:t>
            </a:r>
            <a:r>
              <a:rPr lang="en-AU" sz="2000" dirty="0" smtClean="0"/>
              <a:t>ontology</a:t>
            </a:r>
            <a:r>
              <a:rPr lang="en-AU" sz="2000" dirty="0" smtClean="0"/>
              <a:t> b</a:t>
            </a:r>
            <a:r>
              <a:rPr lang="en-AU" sz="2000" dirty="0" smtClean="0"/>
              <a:t>ased on </a:t>
            </a:r>
            <a:endParaRPr lang="en-AU" sz="2000" dirty="0" smtClean="0"/>
          </a:p>
          <a:p>
            <a:pPr lvl="1"/>
            <a:r>
              <a:rPr lang="en-AU" sz="1800" dirty="0" smtClean="0"/>
              <a:t>OGC </a:t>
            </a:r>
            <a:r>
              <a:rPr lang="en-AU" sz="1800" i="1" dirty="0" smtClean="0"/>
              <a:t>O&amp;M v1.0</a:t>
            </a:r>
            <a:r>
              <a:rPr lang="en-AU" sz="1800" dirty="0" smtClean="0"/>
              <a:t> (</a:t>
            </a:r>
            <a:r>
              <a:rPr lang="en-AU" sz="1800" u="sng" dirty="0" smtClean="0"/>
              <a:t>Cox, 2007</a:t>
            </a:r>
            <a:r>
              <a:rPr lang="en-AU" sz="1800" dirty="0" smtClean="0"/>
              <a:t>) </a:t>
            </a:r>
          </a:p>
          <a:p>
            <a:pPr lvl="1"/>
            <a:r>
              <a:rPr lang="en-AU" sz="1800" i="1" dirty="0" smtClean="0"/>
              <a:t>QUDT v1.1 </a:t>
            </a:r>
            <a:r>
              <a:rPr lang="en-AU" sz="1800" dirty="0" smtClean="0"/>
              <a:t>(</a:t>
            </a:r>
            <a:r>
              <a:rPr lang="en-AU" sz="1800" u="sng" dirty="0" smtClean="0"/>
              <a:t>Hodgson and Keller, 2011</a:t>
            </a:r>
            <a:r>
              <a:rPr lang="en-AU" sz="1800" dirty="0" smtClean="0"/>
              <a:t>)</a:t>
            </a:r>
          </a:p>
          <a:p>
            <a:r>
              <a:rPr lang="en-AU" sz="2000" dirty="0" smtClean="0"/>
              <a:t>Content </a:t>
            </a:r>
            <a:r>
              <a:rPr lang="en-AU" sz="2000" dirty="0" smtClean="0"/>
              <a:t>from </a:t>
            </a:r>
            <a:r>
              <a:rPr lang="en-AU" sz="2000" dirty="0" smtClean="0"/>
              <a:t>various Australian and international projects</a:t>
            </a:r>
          </a:p>
          <a:p>
            <a:r>
              <a:rPr lang="en-AU" sz="2000" dirty="0" smtClean="0"/>
              <a:t>Analytes linked to </a:t>
            </a:r>
            <a:r>
              <a:rPr lang="en-AU" sz="2000" i="1" dirty="0" smtClean="0"/>
              <a:t>Chemical Entities of Biological Interest (ChEBI) </a:t>
            </a:r>
            <a:r>
              <a:rPr lang="en-AU" sz="2000" dirty="0" smtClean="0"/>
              <a:t>ontology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0236" y="6053089"/>
            <a:ext cx="712566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050" dirty="0" smtClean="0">
                <a:solidFill>
                  <a:schemeClr val="bg2"/>
                </a:solidFill>
              </a:rPr>
              <a:t>Simons, B.A, Yu, J. and Cox, S.J.D., (2013) </a:t>
            </a:r>
            <a:r>
              <a:rPr lang="en-AU" sz="1050" dirty="0" smtClean="0">
                <a:solidFill>
                  <a:schemeClr val="bg2"/>
                </a:solidFill>
              </a:rPr>
              <a:t>Water Quality vocabularies for the Bioregional Assessment Framework</a:t>
            </a:r>
            <a:r>
              <a:rPr lang="en-US" sz="1050" dirty="0" smtClean="0">
                <a:solidFill>
                  <a:schemeClr val="bg2"/>
                </a:solidFill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en-AU" sz="1050" dirty="0" smtClean="0">
                <a:solidFill>
                  <a:schemeClr val="bg2"/>
                </a:solidFill>
              </a:rPr>
              <a:t>Water for a Healthy Country Flagship Report series ISSN: 1835-095X</a:t>
            </a:r>
            <a:endParaRPr lang="en-AU" sz="1200" dirty="0" smtClean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Healthy Headwaters Terms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365" y="789711"/>
          <a:ext cx="8459997" cy="5120640"/>
        </p:xfrm>
        <a:graphic>
          <a:graphicData uri="http://schemas.openxmlformats.org/drawingml/2006/table">
            <a:tbl>
              <a:tblPr>
                <a:tableStyleId>{284E427A-3D55-4303-BF80-6455036E1DE7}</a:tableStyleId>
              </a:tblPr>
              <a:tblGrid>
                <a:gridCol w="474674"/>
                <a:gridCol w="493245"/>
                <a:gridCol w="575645"/>
                <a:gridCol w="493823"/>
                <a:gridCol w="1480310"/>
                <a:gridCol w="575645"/>
                <a:gridCol w="661527"/>
                <a:gridCol w="661527"/>
                <a:gridCol w="493823"/>
                <a:gridCol w="575645"/>
                <a:gridCol w="411422"/>
                <a:gridCol w="1562711"/>
              </a:tblGrid>
              <a:tr h="230642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 dirty="0" err="1"/>
                        <a:t>cas_rn</a:t>
                      </a:r>
                      <a:r>
                        <a:rPr lang="en-AU" sz="800" dirty="0"/>
                        <a:t/>
                      </a:r>
                      <a:br>
                        <a:rPr lang="en-AU" sz="800" dirty="0"/>
                      </a:br>
                      <a:r>
                        <a:rPr lang="en-AU" sz="800" dirty="0"/>
                        <a:t>number</a:t>
                      </a:r>
                      <a:endParaRPr lang="en-AU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Number</a:t>
                      </a:r>
                      <a:br>
                        <a:rPr lang="en-AU" sz="800"/>
                      </a:br>
                      <a:r>
                        <a:rPr lang="en-AU" sz="800"/>
                        <a:t>of tests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Units_used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ANGDTS Code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ANGDTS Description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WDTF Parameter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chemical name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ADWG name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IUPAC name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Group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Comments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</a:tr>
              <a:tr h="576608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EC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267621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us/cm (256639), ms/cm (10948), mg/L (25)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EC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 dirty="0"/>
                        <a:t>ease at which conduction current can be caused to flow through material in </a:t>
                      </a:r>
                      <a:r>
                        <a:rPr lang="en-AU" sz="800" dirty="0" err="1"/>
                        <a:t>microSiemens</a:t>
                      </a:r>
                      <a:r>
                        <a:rPr lang="en-AU" sz="800" dirty="0"/>
                        <a:t>/centimetre</a:t>
                      </a:r>
                      <a:endParaRPr lang="en-AU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ElectricalConductivityAt25C_uScm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Electrical Conductivity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 dirty="0"/>
                        <a:t>Conductivity</a:t>
                      </a:r>
                      <a:endParaRPr lang="en-AU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us/cs and ms/cm could all be MicroSiemens/cm, </a:t>
                      </a:r>
                      <a:br>
                        <a:rPr lang="en-AU" sz="800"/>
                      </a:br>
                      <a:r>
                        <a:rPr lang="en-AU" sz="800"/>
                        <a:t>but temperature of measurement not recorded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</a:tr>
              <a:tr h="3459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PH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104367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pH units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pH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negative logarithm of hydrogen ion concentration in ph units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WaterpH_pH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pH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pH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 dirty="0"/>
                        <a:t>pH, alkalinity, acidity</a:t>
                      </a:r>
                      <a:endParaRPr lang="en-AU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</a:tr>
              <a:tr h="3459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16887-00-6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90358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mg/L (90357), mg/kg (1)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16887-00-6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 dirty="0"/>
                        <a:t>concentration of chloride as </a:t>
                      </a:r>
                      <a:r>
                        <a:rPr lang="en-AU" sz="800" dirty="0" err="1"/>
                        <a:t>Cl</a:t>
                      </a:r>
                      <a:r>
                        <a:rPr lang="en-AU" sz="800" dirty="0"/>
                        <a:t> in milligrams/litre</a:t>
                      </a:r>
                      <a:endParaRPr lang="en-AU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Chloride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Chloride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Chloride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Anion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Halide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</a:tr>
              <a:tr h="4612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TDS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89918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mg/L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TDS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the portion of total solids that passes through filter and deemed to have been dissolved in sample in milligrams/litre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Total Dissolved Solids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 dirty="0"/>
                        <a:t>Total Dissolved Solids</a:t>
                      </a:r>
                      <a:endParaRPr lang="en-AU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Salinity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Silica + Total Anions + Total Cations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</a:tr>
              <a:tr h="4612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TOTALALKALINITY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89142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mg/L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ALKT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concentration in milligrams/litre CaCO3 of titratable bases using a methyl-orange endpoint of about pH 4.3 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Total Alkalinity (as CaCO3)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pH, alkalinity, acidity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</a:tr>
              <a:tr h="4612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HARDNESS_CACO3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88044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mg/L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HARD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the ability of water to precipitate soap and is sum of calcium and magnesium concentrations as milligrams/litre CaCO3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Hardness (as CaCO3)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Hardness (as calcium carbonate)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Hardness (as calcium carbonate)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</a:tr>
              <a:tr h="3459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TDI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87949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mg/L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Total Dissolved Ions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Salinity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Total Anions + Total Cations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</a:tr>
              <a:tr h="360381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SAR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80643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Ratio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SAR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ratio of sodium to magnesium and calcium and used to assess risk of excess sodium in irrigation water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Sodium Adsorption Ratio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Salinity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SAR = [Na</a:t>
                      </a:r>
                      <a:r>
                        <a:rPr lang="en-AU" sz="800" baseline="30000"/>
                        <a:t>+</a:t>
                      </a:r>
                      <a:r>
                        <a:rPr lang="en-AU" sz="800"/>
                        <a:t>] / {([Ca</a:t>
                      </a:r>
                      <a:r>
                        <a:rPr lang="en-AU" sz="800" baseline="30000"/>
                        <a:t>2+</a:t>
                      </a:r>
                      <a:r>
                        <a:rPr lang="en-AU" sz="800"/>
                        <a:t>] + [Mg</a:t>
                      </a:r>
                      <a:r>
                        <a:rPr lang="en-AU" sz="800" baseline="30000"/>
                        <a:t>2+</a:t>
                      </a:r>
                      <a:r>
                        <a:rPr lang="en-AU" sz="800"/>
                        <a:t>]) / 2}</a:t>
                      </a:r>
                      <a:r>
                        <a:rPr lang="en-AU" sz="800" baseline="30000"/>
                        <a:t>1/2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</a:tr>
              <a:tr h="3459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3812-32-6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72329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mg/L (72328), %MOL (1)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ALKC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alkalinity ascribed to carbonate in milligrams/litre CO3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Carbonate Alkalinity (as CaCO3)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Carbonate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pH, alkalinity, acidity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</a:tr>
              <a:tr h="345966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NITRATE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68072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mg/L (68071), mg/kg (1)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14797-55-8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concentration of nitrate as N in milligrams/litre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Nitrate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Nitrate and Nitrite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Nitrate and Nitrite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Anion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</a:tr>
              <a:tr h="461287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7439-89-6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53215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mg/L (53074), mg/kg (1), ug/L (140)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 algn="ctr">
                        <a:spcAft>
                          <a:spcPts val="0"/>
                        </a:spcAft>
                      </a:pPr>
                      <a:r>
                        <a:rPr lang="en-AU" sz="800"/>
                        <a:t>7439-89-6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concentration of iron as Fe in milligrams/litre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ctr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Iron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endParaRPr lang="en-AU" sz="800">
                        <a:latin typeface="Calibri"/>
                        <a:ea typeface="Times New Roman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Iron 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Metal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/>
                        <a:t>Cation</a:t>
                      </a:r>
                      <a:endParaRPr lang="en-AU" sz="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AU" sz="800" dirty="0"/>
                        <a:t>Transition metal</a:t>
                      </a:r>
                      <a:endParaRPr lang="en-AU" sz="800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45202" marR="45202" marT="0" marB="0" anchor="b"/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O&amp;M V1 Annex C (cut-down version)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pic>
        <p:nvPicPr>
          <p:cNvPr id="5" name="Picture 4" descr="O&amp;M_v1_AnnexC_Figure6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1812" y="1314450"/>
            <a:ext cx="3300376" cy="42291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QUDT - </a:t>
            </a:r>
            <a:r>
              <a:rPr lang="en-AU" dirty="0" err="1" smtClean="0"/>
              <a:t>QuantityKind</a:t>
            </a:r>
            <a:r>
              <a:rPr lang="en-AU" dirty="0" smtClean="0"/>
              <a:t>, Unit, Quantity, </a:t>
            </a:r>
            <a:r>
              <a:rPr lang="en-AU" dirty="0" err="1" smtClean="0"/>
              <a:t>QuantityValue</a:t>
            </a:r>
            <a:r>
              <a:rPr lang="en-AU" dirty="0" smtClean="0"/>
              <a:t>, </a:t>
            </a:r>
            <a:r>
              <a:rPr lang="en-AU" dirty="0" err="1" smtClean="0"/>
              <a:t>SystemOfUnits</a:t>
            </a:r>
            <a:r>
              <a:rPr lang="en-AU" dirty="0" smtClean="0"/>
              <a:t> and </a:t>
            </a:r>
            <a:r>
              <a:rPr lang="en-AU" dirty="0" err="1" smtClean="0"/>
              <a:t>SystemOfQuantities</a:t>
            </a:r>
            <a:r>
              <a:rPr lang="en-AU" dirty="0" smtClean="0"/>
              <a:t> OWL classes</a:t>
            </a:r>
          </a:p>
          <a:p>
            <a:r>
              <a:rPr lang="en-AU" sz="1200" dirty="0" smtClean="0">
                <a:hlinkClick r:id="rId2"/>
              </a:rPr>
              <a:t>http://www.qudt.org/</a:t>
            </a:r>
            <a:endParaRPr lang="en-AU" sz="1200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pic>
        <p:nvPicPr>
          <p:cNvPr id="5" name="Picture 4" descr="QUDT-MainSystemDiagram1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363" y="1496697"/>
            <a:ext cx="8335198" cy="35227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QUDT Core model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pic>
        <p:nvPicPr>
          <p:cNvPr id="5" name="Picture 4" descr="qudt-core.png"/>
          <p:cNvPicPr>
            <a:picLocks noChangeAspect="1"/>
          </p:cNvPicPr>
          <p:nvPr/>
        </p:nvPicPr>
        <p:blipFill>
          <a:blip r:embed="rId2"/>
          <a:srcRect l="8070" r="35173"/>
          <a:stretch>
            <a:fillRect/>
          </a:stretch>
        </p:blipFill>
        <p:spPr>
          <a:xfrm>
            <a:off x="2995942" y="270000"/>
            <a:ext cx="5184475" cy="59626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182238" y="270000"/>
            <a:ext cx="2169081" cy="2995714"/>
          </a:xfrm>
        </p:spPr>
        <p:txBody>
          <a:bodyPr/>
          <a:lstStyle/>
          <a:p>
            <a:r>
              <a:rPr lang="en-AU" dirty="0" smtClean="0"/>
              <a:t>WQ extension to QUDT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pic>
        <p:nvPicPr>
          <p:cNvPr id="5" name="Picture 4" descr="wqop-model.png"/>
          <p:cNvPicPr>
            <a:picLocks noChangeAspect="1"/>
          </p:cNvPicPr>
          <p:nvPr/>
        </p:nvPicPr>
        <p:blipFill>
          <a:blip r:embed="rId2"/>
          <a:srcRect l="3893" t="8018" r="28478"/>
          <a:stretch>
            <a:fillRect/>
          </a:stretch>
        </p:blipFill>
        <p:spPr>
          <a:xfrm>
            <a:off x="2248513" y="234375"/>
            <a:ext cx="6177557" cy="623800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60149" y="1496292"/>
            <a:ext cx="1989671" cy="456923"/>
          </a:xfrm>
          <a:prstGeom prst="rect">
            <a:avLst/>
          </a:prstGeom>
          <a:solidFill>
            <a:schemeClr val="accent3">
              <a:alpha val="1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4470478" y="2367426"/>
            <a:ext cx="3007197" cy="862663"/>
          </a:xfrm>
          <a:prstGeom prst="rect">
            <a:avLst/>
          </a:prstGeom>
          <a:solidFill>
            <a:schemeClr val="accent3">
              <a:alpha val="1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6217571" y="3825422"/>
            <a:ext cx="2016225" cy="576065"/>
          </a:xfrm>
          <a:prstGeom prst="rect">
            <a:avLst/>
          </a:prstGeom>
          <a:solidFill>
            <a:schemeClr val="accent3">
              <a:alpha val="19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Relationship between Water Quality (green), QUDT Unit (blue) and QUDT </a:t>
            </a:r>
            <a:r>
              <a:rPr lang="en-AU" dirty="0" err="1" smtClean="0"/>
              <a:t>QuantityKind</a:t>
            </a:r>
            <a:r>
              <a:rPr lang="en-AU" dirty="0" smtClean="0"/>
              <a:t> (tan) classes.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pic>
        <p:nvPicPr>
          <p:cNvPr id="6" name="Picture 5" descr="Classes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84" y="999479"/>
            <a:ext cx="8210431" cy="485904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WQ dissolved Nitrogen concentration example</a:t>
            </a:r>
            <a:endParaRPr lang="en-AU" dirty="0"/>
          </a:p>
        </p:txBody>
      </p:sp>
      <p:sp>
        <p:nvSpPr>
          <p:cNvPr id="6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</p:spPr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pic>
        <p:nvPicPr>
          <p:cNvPr id="8" name="Picture 7" descr="Nitrogen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4703"/>
            <a:ext cx="9144000" cy="534859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QUDT &amp; WQ instances (Nitrogen and pH)</a:t>
            </a:r>
            <a:endParaRPr lang="en-AU" dirty="0"/>
          </a:p>
        </p:txBody>
      </p:sp>
      <p:sp>
        <p:nvSpPr>
          <p:cNvPr id="7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</p:spPr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pic>
        <p:nvPicPr>
          <p:cNvPr id="11" name="Picture 10" descr="QUDT-WaterQualityWhiteboard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52503"/>
            <a:ext cx="9144000" cy="535299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Associated dissolved nitrogen objects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pic>
        <p:nvPicPr>
          <p:cNvPr id="6" name="Picture 5" descr="Nitrogen_Object.em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829" y="1190279"/>
            <a:ext cx="7436341" cy="4477441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>
            <a:off x="4429496" y="2244436"/>
            <a:ext cx="106878" cy="1401289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4132613" y="2755075"/>
            <a:ext cx="736270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000" i="1" dirty="0" err="1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q</a:t>
            </a:r>
            <a:r>
              <a:rPr lang="en-AU" sz="1000" i="1" dirty="0" err="1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udt:unit</a:t>
            </a:r>
            <a:endParaRPr lang="en-AU" sz="1000" i="1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923928" y="2060848"/>
            <a:ext cx="208685" cy="3104918"/>
          </a:xfrm>
          <a:prstGeom prst="straightConnector1">
            <a:avLst/>
          </a:prstGeom>
          <a:ln w="28575">
            <a:solidFill>
              <a:schemeClr val="tx1"/>
            </a:solidFill>
            <a:tailEnd type="arrow" w="lg" len="lg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449782" y="2508853"/>
            <a:ext cx="748146" cy="24622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000" i="1" dirty="0" err="1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q</a:t>
            </a:r>
            <a:r>
              <a:rPr lang="en-AU" sz="1000" i="1" dirty="0" err="1" smtClean="0">
                <a:latin typeface="Segoe UI" pitchFamily="34" charset="0"/>
                <a:ea typeface="Segoe UI" pitchFamily="34" charset="0"/>
                <a:cs typeface="Segoe UI" pitchFamily="34" charset="0"/>
              </a:rPr>
              <a:t>udt:unit</a:t>
            </a:r>
            <a:endParaRPr lang="en-AU" sz="1000" i="1" dirty="0" smtClean="0">
              <a:latin typeface="Segoe UI" pitchFamily="34" charset="0"/>
              <a:ea typeface="Segoe UI" pitchFamily="34" charset="0"/>
              <a:cs typeface="Segoe U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13"/>
          <p:cNvGrpSpPr/>
          <p:nvPr/>
        </p:nvGrpSpPr>
        <p:grpSpPr>
          <a:xfrm>
            <a:off x="3131840" y="908720"/>
            <a:ext cx="1479796" cy="1410299"/>
            <a:chOff x="990439" y="1401335"/>
            <a:chExt cx="1083751" cy="953311"/>
          </a:xfrm>
        </p:grpSpPr>
        <p:grpSp>
          <p:nvGrpSpPr>
            <p:cNvPr id="3" name="Group 23"/>
            <p:cNvGrpSpPr/>
            <p:nvPr/>
          </p:nvGrpSpPr>
          <p:grpSpPr>
            <a:xfrm>
              <a:off x="990439" y="1401335"/>
              <a:ext cx="1011677" cy="953311"/>
              <a:chOff x="758756" y="1277722"/>
              <a:chExt cx="1011677" cy="953311"/>
            </a:xfrm>
            <a:solidFill>
              <a:schemeClr val="bg1">
                <a:lumMod val="90000"/>
              </a:schemeClr>
            </a:solidFill>
          </p:grpSpPr>
          <p:sp>
            <p:nvSpPr>
              <p:cNvPr id="8" name="Oval 7"/>
              <p:cNvSpPr/>
              <p:nvPr/>
            </p:nvSpPr>
            <p:spPr>
              <a:xfrm>
                <a:off x="758756" y="1277722"/>
                <a:ext cx="1011677" cy="953311"/>
              </a:xfrm>
              <a:prstGeom prst="ellipse">
                <a:avLst/>
              </a:prstGeom>
              <a:grp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grpSp>
            <p:nvGrpSpPr>
              <p:cNvPr id="4" name="Group 33"/>
              <p:cNvGrpSpPr/>
              <p:nvPr/>
            </p:nvGrpSpPr>
            <p:grpSpPr>
              <a:xfrm>
                <a:off x="1077017" y="1455258"/>
                <a:ext cx="509080" cy="477144"/>
                <a:chOff x="1822313" y="1591445"/>
                <a:chExt cx="509080" cy="477144"/>
              </a:xfrm>
              <a:grpFill/>
            </p:grpSpPr>
            <p:sp>
              <p:nvSpPr>
                <p:cNvPr id="27" name="Oval 26"/>
                <p:cNvSpPr/>
                <p:nvPr/>
              </p:nvSpPr>
              <p:spPr>
                <a:xfrm>
                  <a:off x="1822313" y="1591445"/>
                  <a:ext cx="136187" cy="13618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sz="1200"/>
                </a:p>
              </p:txBody>
            </p:sp>
            <p:sp>
              <p:nvSpPr>
                <p:cNvPr id="28" name="Oval 27"/>
                <p:cNvSpPr/>
                <p:nvPr/>
              </p:nvSpPr>
              <p:spPr>
                <a:xfrm>
                  <a:off x="1990926" y="1760058"/>
                  <a:ext cx="136187" cy="13618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sz="1200"/>
                </a:p>
              </p:txBody>
            </p:sp>
            <p:sp>
              <p:nvSpPr>
                <p:cNvPr id="29" name="Oval 28"/>
                <p:cNvSpPr/>
                <p:nvPr/>
              </p:nvSpPr>
              <p:spPr>
                <a:xfrm>
                  <a:off x="2195206" y="1932402"/>
                  <a:ext cx="136187" cy="13618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sz="1200"/>
                </a:p>
              </p:txBody>
            </p:sp>
            <p:sp>
              <p:nvSpPr>
                <p:cNvPr id="30" name="Oval 29"/>
                <p:cNvSpPr/>
                <p:nvPr/>
              </p:nvSpPr>
              <p:spPr>
                <a:xfrm>
                  <a:off x="1822313" y="1932402"/>
                  <a:ext cx="136187" cy="136187"/>
                </a:xfrm>
                <a:prstGeom prst="ellipse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sz="1200"/>
                </a:p>
              </p:txBody>
            </p:sp>
            <p:cxnSp>
              <p:nvCxnSpPr>
                <p:cNvPr id="31" name="Straight Connector 30"/>
                <p:cNvCxnSpPr>
                  <a:stCxn id="27" idx="5"/>
                  <a:endCxn id="28" idx="1"/>
                </p:cNvCxnSpPr>
                <p:nvPr/>
              </p:nvCxnSpPr>
              <p:spPr>
                <a:xfrm>
                  <a:off x="1938556" y="1707688"/>
                  <a:ext cx="72314" cy="72314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2" name="Straight Connector 31"/>
                <p:cNvCxnSpPr>
                  <a:stCxn id="28" idx="5"/>
                  <a:endCxn id="29" idx="1"/>
                </p:cNvCxnSpPr>
                <p:nvPr/>
              </p:nvCxnSpPr>
              <p:spPr>
                <a:xfrm>
                  <a:off x="2107169" y="1876301"/>
                  <a:ext cx="107981" cy="76045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3" name="Straight Connector 32"/>
                <p:cNvCxnSpPr>
                  <a:stCxn id="28" idx="3"/>
                  <a:endCxn id="30" idx="7"/>
                </p:cNvCxnSpPr>
                <p:nvPr/>
              </p:nvCxnSpPr>
              <p:spPr>
                <a:xfrm flipH="1">
                  <a:off x="1938556" y="1876301"/>
                  <a:ext cx="72314" cy="76045"/>
                </a:xfrm>
                <a:prstGeom prst="line">
                  <a:avLst/>
                </a:prstGeom>
                <a:grpFill/>
                <a:ln w="12700">
                  <a:solidFill>
                    <a:schemeClr val="tx1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3" name="TextBox 22"/>
            <p:cNvSpPr txBox="1"/>
            <p:nvPr/>
          </p:nvSpPr>
          <p:spPr>
            <a:xfrm>
              <a:off x="1077293" y="2028445"/>
              <a:ext cx="996897" cy="187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dirty="0" smtClean="0"/>
                <a:t>wq-objects.ttl</a:t>
              </a: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2339752" y="260648"/>
            <a:ext cx="3240360" cy="461665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200" i="1" dirty="0" smtClean="0"/>
              <a:t>Namespace</a:t>
            </a:r>
            <a:r>
              <a:rPr lang="en-AU" sz="1200" dirty="0" smtClean="0"/>
              <a:t>:</a:t>
            </a:r>
          </a:p>
          <a:p>
            <a:r>
              <a:rPr lang="en-AU" sz="1200" dirty="0" err="1" smtClean="0"/>
              <a:t>wqo</a:t>
            </a:r>
            <a:r>
              <a:rPr lang="en-AU" sz="1200" dirty="0" smtClean="0"/>
              <a:t> = [domain]/water/water-quality/</a:t>
            </a:r>
            <a:r>
              <a:rPr lang="en-AU" sz="1200" dirty="0" err="1" smtClean="0"/>
              <a:t>wq</a:t>
            </a:r>
            <a:r>
              <a:rPr lang="en-AU" sz="1200" dirty="0" smtClean="0"/>
              <a:t>-object</a:t>
            </a:r>
          </a:p>
        </p:txBody>
      </p:sp>
      <p:cxnSp>
        <p:nvCxnSpPr>
          <p:cNvPr id="54" name="Straight Connector 53"/>
          <p:cNvCxnSpPr>
            <a:stCxn id="51" idx="2"/>
            <a:endCxn id="8" idx="0"/>
          </p:cNvCxnSpPr>
          <p:nvPr/>
        </p:nvCxnSpPr>
        <p:spPr>
          <a:xfrm flipH="1">
            <a:off x="3822532" y="722313"/>
            <a:ext cx="137400" cy="186407"/>
          </a:xfrm>
          <a:prstGeom prst="line">
            <a:avLst/>
          </a:prstGeom>
          <a:ln w="9525">
            <a:solidFill>
              <a:schemeClr val="tx1"/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043608" y="1239143"/>
            <a:ext cx="1703285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1200" i="1" dirty="0" smtClean="0">
                <a:latin typeface="+mn-lt"/>
              </a:rPr>
              <a:t>Concepts:</a:t>
            </a:r>
          </a:p>
          <a:p>
            <a:r>
              <a:rPr lang="en-AU" sz="1200" dirty="0" err="1" smtClean="0">
                <a:latin typeface="+mn-lt"/>
              </a:rPr>
              <a:t>IdentifiedObject</a:t>
            </a:r>
            <a:r>
              <a:rPr lang="en-AU" sz="1200" dirty="0" smtClean="0">
                <a:latin typeface="+mn-lt"/>
              </a:rPr>
              <a:t> (</a:t>
            </a:r>
            <a:r>
              <a:rPr lang="en-AU" sz="1200" dirty="0" err="1" smtClean="0">
                <a:latin typeface="+mn-lt"/>
              </a:rPr>
              <a:t>wqo</a:t>
            </a:r>
            <a:r>
              <a:rPr lang="en-AU" sz="1200" dirty="0" smtClean="0">
                <a:latin typeface="+mn-lt"/>
              </a:rPr>
              <a:t>)</a:t>
            </a:r>
          </a:p>
        </p:txBody>
      </p:sp>
      <p:grpSp>
        <p:nvGrpSpPr>
          <p:cNvPr id="5" name="Group 197"/>
          <p:cNvGrpSpPr/>
          <p:nvPr/>
        </p:nvGrpSpPr>
        <p:grpSpPr>
          <a:xfrm>
            <a:off x="2915816" y="2852936"/>
            <a:ext cx="1613668" cy="1634414"/>
            <a:chOff x="1389214" y="3644270"/>
            <a:chExt cx="1181794" cy="1104805"/>
          </a:xfrm>
        </p:grpSpPr>
        <p:sp>
          <p:nvSpPr>
            <p:cNvPr id="59" name="Oval 58"/>
            <p:cNvSpPr/>
            <p:nvPr/>
          </p:nvSpPr>
          <p:spPr>
            <a:xfrm>
              <a:off x="1389214" y="3644270"/>
              <a:ext cx="1181794" cy="1104805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/>
            </a:p>
          </p:txBody>
        </p:sp>
        <p:grpSp>
          <p:nvGrpSpPr>
            <p:cNvPr id="6" name="Group 149"/>
            <p:cNvGrpSpPr/>
            <p:nvPr/>
          </p:nvGrpSpPr>
          <p:grpSpPr>
            <a:xfrm>
              <a:off x="1871867" y="3878167"/>
              <a:ext cx="529024" cy="306261"/>
              <a:chOff x="3749086" y="3986103"/>
              <a:chExt cx="529024" cy="306261"/>
            </a:xfrm>
          </p:grpSpPr>
          <p:sp>
            <p:nvSpPr>
              <p:cNvPr id="151" name="Oval 150"/>
              <p:cNvSpPr/>
              <p:nvPr/>
            </p:nvSpPr>
            <p:spPr>
              <a:xfrm>
                <a:off x="3749086" y="413623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152" name="Oval 151"/>
              <p:cNvSpPr/>
              <p:nvPr/>
            </p:nvSpPr>
            <p:spPr>
              <a:xfrm>
                <a:off x="3953366" y="398610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153" name="Oval 152"/>
              <p:cNvSpPr/>
              <p:nvPr/>
            </p:nvSpPr>
            <p:spPr>
              <a:xfrm>
                <a:off x="4141923" y="4156177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cxnSp>
            <p:nvCxnSpPr>
              <p:cNvPr id="154" name="Straight Connector 153"/>
              <p:cNvCxnSpPr>
                <a:stCxn id="152" idx="5"/>
                <a:endCxn id="153" idx="1"/>
              </p:cNvCxnSpPr>
              <p:nvPr/>
            </p:nvCxnSpPr>
            <p:spPr>
              <a:xfrm>
                <a:off x="4069609" y="4102346"/>
                <a:ext cx="92258" cy="7377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5" name="Straight Connector 154"/>
              <p:cNvCxnSpPr>
                <a:stCxn id="152" idx="3"/>
                <a:endCxn id="151" idx="7"/>
              </p:cNvCxnSpPr>
              <p:nvPr/>
            </p:nvCxnSpPr>
            <p:spPr>
              <a:xfrm flipH="1">
                <a:off x="3865329" y="4102346"/>
                <a:ext cx="107981" cy="5383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139"/>
            <p:cNvGrpSpPr/>
            <p:nvPr/>
          </p:nvGrpSpPr>
          <p:grpSpPr>
            <a:xfrm>
              <a:off x="1532315" y="3862685"/>
              <a:ext cx="500943" cy="593387"/>
              <a:chOff x="4219747" y="3817854"/>
              <a:chExt cx="500943" cy="593387"/>
            </a:xfrm>
          </p:grpSpPr>
          <p:sp>
            <p:nvSpPr>
              <p:cNvPr id="133" name="Oval 132"/>
              <p:cNvSpPr/>
              <p:nvPr/>
            </p:nvSpPr>
            <p:spPr>
              <a:xfrm>
                <a:off x="4395946" y="3817854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134" name="Oval 133"/>
              <p:cNvSpPr/>
              <p:nvPr/>
            </p:nvSpPr>
            <p:spPr>
              <a:xfrm>
                <a:off x="4564559" y="3986467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135" name="Oval 134"/>
              <p:cNvSpPr/>
              <p:nvPr/>
            </p:nvSpPr>
            <p:spPr>
              <a:xfrm>
                <a:off x="4584503" y="4275054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4219747" y="4004950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cxnSp>
            <p:nvCxnSpPr>
              <p:cNvPr id="137" name="Straight Connector 136"/>
              <p:cNvCxnSpPr>
                <a:stCxn id="133" idx="5"/>
                <a:endCxn id="134" idx="1"/>
              </p:cNvCxnSpPr>
              <p:nvPr/>
            </p:nvCxnSpPr>
            <p:spPr>
              <a:xfrm>
                <a:off x="4512189" y="3934097"/>
                <a:ext cx="72314" cy="72314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8" name="Straight Connector 137"/>
              <p:cNvCxnSpPr>
                <a:stCxn id="134" idx="4"/>
                <a:endCxn id="135" idx="0"/>
              </p:cNvCxnSpPr>
              <p:nvPr/>
            </p:nvCxnSpPr>
            <p:spPr>
              <a:xfrm>
                <a:off x="4632653" y="4122654"/>
                <a:ext cx="19944" cy="15240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9" name="Straight Connector 138"/>
              <p:cNvCxnSpPr>
                <a:stCxn id="133" idx="3"/>
                <a:endCxn id="136" idx="7"/>
              </p:cNvCxnSpPr>
              <p:nvPr/>
            </p:nvCxnSpPr>
            <p:spPr>
              <a:xfrm flipH="1">
                <a:off x="4335990" y="3934097"/>
                <a:ext cx="79900" cy="90797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33"/>
            <p:cNvGrpSpPr/>
            <p:nvPr/>
          </p:nvGrpSpPr>
          <p:grpSpPr>
            <a:xfrm>
              <a:off x="1707475" y="3866416"/>
              <a:ext cx="509080" cy="477144"/>
              <a:chOff x="1822313" y="1591445"/>
              <a:chExt cx="509080" cy="477144"/>
            </a:xfrm>
          </p:grpSpPr>
          <p:sp>
            <p:nvSpPr>
              <p:cNvPr id="61" name="Oval 60"/>
              <p:cNvSpPr/>
              <p:nvPr/>
            </p:nvSpPr>
            <p:spPr>
              <a:xfrm>
                <a:off x="1822313" y="1591445"/>
                <a:ext cx="136187" cy="13618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62" name="Oval 61"/>
              <p:cNvSpPr/>
              <p:nvPr/>
            </p:nvSpPr>
            <p:spPr>
              <a:xfrm>
                <a:off x="1990926" y="1760058"/>
                <a:ext cx="136187" cy="136187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63" name="Oval 62"/>
              <p:cNvSpPr/>
              <p:nvPr/>
            </p:nvSpPr>
            <p:spPr>
              <a:xfrm>
                <a:off x="2195206" y="1932402"/>
                <a:ext cx="136187" cy="13618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1822313" y="1932402"/>
                <a:ext cx="136187" cy="13618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cxnSp>
            <p:nvCxnSpPr>
              <p:cNvPr id="65" name="Straight Connector 64"/>
              <p:cNvCxnSpPr>
                <a:stCxn id="61" idx="5"/>
                <a:endCxn id="62" idx="1"/>
              </p:cNvCxnSpPr>
              <p:nvPr/>
            </p:nvCxnSpPr>
            <p:spPr>
              <a:xfrm>
                <a:off x="1938556" y="1707688"/>
                <a:ext cx="72314" cy="72314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>
                <a:stCxn id="62" idx="5"/>
                <a:endCxn id="63" idx="1"/>
              </p:cNvCxnSpPr>
              <p:nvPr/>
            </p:nvCxnSpPr>
            <p:spPr>
              <a:xfrm>
                <a:off x="2107169" y="1876301"/>
                <a:ext cx="107981" cy="7604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stCxn id="62" idx="3"/>
                <a:endCxn id="64" idx="7"/>
              </p:cNvCxnSpPr>
              <p:nvPr/>
            </p:nvCxnSpPr>
            <p:spPr>
              <a:xfrm flipH="1">
                <a:off x="1938556" y="1876301"/>
                <a:ext cx="72314" cy="7604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8" name="TextBox 57"/>
            <p:cNvSpPr txBox="1"/>
            <p:nvPr/>
          </p:nvSpPr>
          <p:spPr>
            <a:xfrm>
              <a:off x="1548439" y="4456072"/>
              <a:ext cx="996897" cy="187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dirty="0" smtClean="0"/>
                <a:t>wq_obs_prop.ttl</a:t>
              </a:r>
            </a:p>
          </p:txBody>
        </p:sp>
        <p:sp>
          <p:nvSpPr>
            <p:cNvPr id="116" name="Oval 115"/>
            <p:cNvSpPr/>
            <p:nvPr/>
          </p:nvSpPr>
          <p:spPr>
            <a:xfrm>
              <a:off x="1878047" y="3715123"/>
              <a:ext cx="136187" cy="13618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/>
            </a:p>
          </p:txBody>
        </p:sp>
        <p:cxnSp>
          <p:nvCxnSpPr>
            <p:cNvPr id="119" name="Straight Connector 118"/>
            <p:cNvCxnSpPr>
              <a:stCxn id="116" idx="3"/>
              <a:endCxn id="61" idx="7"/>
            </p:cNvCxnSpPr>
            <p:nvPr/>
          </p:nvCxnSpPr>
          <p:spPr>
            <a:xfrm flipH="1">
              <a:off x="1823718" y="3831366"/>
              <a:ext cx="74273" cy="54994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4" name="TextBox 123"/>
          <p:cNvSpPr txBox="1"/>
          <p:nvPr/>
        </p:nvSpPr>
        <p:spPr>
          <a:xfrm>
            <a:off x="2699792" y="4797152"/>
            <a:ext cx="1782620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1200" i="1" dirty="0" smtClean="0">
                <a:latin typeface="+mn-lt"/>
              </a:rPr>
              <a:t>Concepts:</a:t>
            </a:r>
          </a:p>
          <a:p>
            <a:r>
              <a:rPr lang="en-AU" sz="1200" dirty="0" err="1" smtClean="0">
                <a:latin typeface="+mn-lt"/>
              </a:rPr>
              <a:t>ObservedProperty</a:t>
            </a:r>
            <a:r>
              <a:rPr lang="en-AU" sz="1200" dirty="0" smtClean="0">
                <a:latin typeface="+mn-lt"/>
              </a:rPr>
              <a:t> (</a:t>
            </a:r>
            <a:r>
              <a:rPr lang="en-AU" sz="1200" dirty="0" err="1" smtClean="0">
                <a:latin typeface="+mn-lt"/>
              </a:rPr>
              <a:t>wqq</a:t>
            </a:r>
            <a:r>
              <a:rPr lang="en-AU" sz="1200" dirty="0" smtClean="0">
                <a:latin typeface="+mn-lt"/>
              </a:rPr>
              <a:t>)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57800" y="5415363"/>
            <a:ext cx="2808312" cy="1015663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200" i="1" dirty="0" smtClean="0"/>
              <a:t>Namespaces:</a:t>
            </a:r>
            <a:r>
              <a:rPr lang="en-AU" sz="1200" dirty="0" smtClean="0"/>
              <a:t> </a:t>
            </a:r>
          </a:p>
          <a:p>
            <a:r>
              <a:rPr lang="en-AU" sz="1200" dirty="0" err="1" smtClean="0"/>
              <a:t>wqi</a:t>
            </a:r>
            <a:r>
              <a:rPr lang="en-AU" sz="1200" dirty="0" smtClean="0"/>
              <a:t>=[domain]/water/water-quality/</a:t>
            </a:r>
            <a:r>
              <a:rPr lang="en-AU" sz="1200" dirty="0" err="1" smtClean="0"/>
              <a:t>wq</a:t>
            </a:r>
            <a:r>
              <a:rPr lang="en-AU" sz="1200" dirty="0" smtClean="0"/>
              <a:t>-observed-property/</a:t>
            </a:r>
            <a:r>
              <a:rPr lang="en-AU" sz="1200" dirty="0" err="1" smtClean="0"/>
              <a:t>wqo</a:t>
            </a:r>
            <a:r>
              <a:rPr lang="en-AU" sz="1200" dirty="0" smtClean="0"/>
              <a:t>-instance/</a:t>
            </a:r>
          </a:p>
          <a:p>
            <a:r>
              <a:rPr lang="en-AU" sz="1200" dirty="0" err="1" smtClean="0"/>
              <a:t>wqq</a:t>
            </a:r>
            <a:r>
              <a:rPr lang="en-AU" sz="1200" dirty="0" smtClean="0"/>
              <a:t>= =[domain]/water/water-quality/</a:t>
            </a:r>
            <a:r>
              <a:rPr lang="en-AU" sz="1200" dirty="0" err="1" smtClean="0"/>
              <a:t>wq</a:t>
            </a:r>
            <a:r>
              <a:rPr lang="en-AU" sz="1200" dirty="0" smtClean="0"/>
              <a:t>-observed-property/</a:t>
            </a:r>
          </a:p>
        </p:txBody>
      </p:sp>
      <p:cxnSp>
        <p:nvCxnSpPr>
          <p:cNvPr id="131" name="Straight Arrow Connector 130"/>
          <p:cNvCxnSpPr>
            <a:stCxn id="8" idx="4"/>
            <a:endCxn id="59" idx="0"/>
          </p:cNvCxnSpPr>
          <p:nvPr/>
        </p:nvCxnSpPr>
        <p:spPr>
          <a:xfrm flipH="1">
            <a:off x="3722650" y="2319019"/>
            <a:ext cx="99882" cy="533917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TextBox 131"/>
          <p:cNvSpPr txBox="1"/>
          <p:nvPr/>
        </p:nvSpPr>
        <p:spPr>
          <a:xfrm>
            <a:off x="2195736" y="3429000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i="1" dirty="0" smtClean="0"/>
              <a:t>imports</a:t>
            </a:r>
          </a:p>
          <a:p>
            <a:r>
              <a:rPr lang="en-AU" sz="1200" i="1" dirty="0" smtClean="0"/>
              <a:t>into</a:t>
            </a:r>
          </a:p>
        </p:txBody>
      </p:sp>
      <p:cxnSp>
        <p:nvCxnSpPr>
          <p:cNvPr id="160" name="Straight Arrow Connector 159"/>
          <p:cNvCxnSpPr>
            <a:stCxn id="147" idx="2"/>
          </p:cNvCxnSpPr>
          <p:nvPr/>
        </p:nvCxnSpPr>
        <p:spPr>
          <a:xfrm flipH="1" flipV="1">
            <a:off x="4427985" y="3933057"/>
            <a:ext cx="2016223" cy="777157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3" name="TextBox 162"/>
          <p:cNvSpPr txBox="1"/>
          <p:nvPr/>
        </p:nvSpPr>
        <p:spPr>
          <a:xfrm>
            <a:off x="5652120" y="3933056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i="1" dirty="0" smtClean="0"/>
              <a:t>imports</a:t>
            </a:r>
          </a:p>
          <a:p>
            <a:r>
              <a:rPr lang="en-AU" sz="1200" i="1" dirty="0" smtClean="0"/>
              <a:t>into</a:t>
            </a:r>
          </a:p>
        </p:txBody>
      </p:sp>
      <p:cxnSp>
        <p:nvCxnSpPr>
          <p:cNvPr id="191" name="Straight Connector 190"/>
          <p:cNvCxnSpPr>
            <a:stCxn id="125" idx="0"/>
            <a:endCxn id="59" idx="3"/>
          </p:cNvCxnSpPr>
          <p:nvPr/>
        </p:nvCxnSpPr>
        <p:spPr>
          <a:xfrm flipV="1">
            <a:off x="1461956" y="4247996"/>
            <a:ext cx="1690176" cy="1167367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Straight Connector 192"/>
          <p:cNvCxnSpPr>
            <a:stCxn id="59" idx="4"/>
            <a:endCxn id="124" idx="0"/>
          </p:cNvCxnSpPr>
          <p:nvPr/>
        </p:nvCxnSpPr>
        <p:spPr>
          <a:xfrm flipH="1">
            <a:off x="3591102" y="4487350"/>
            <a:ext cx="131548" cy="309802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0" name="Group 198"/>
          <p:cNvGrpSpPr/>
          <p:nvPr/>
        </p:nvGrpSpPr>
        <p:grpSpPr>
          <a:xfrm>
            <a:off x="6444208" y="4005064"/>
            <a:ext cx="1546512" cy="1410299"/>
            <a:chOff x="3765553" y="4668434"/>
            <a:chExt cx="1132612" cy="953311"/>
          </a:xfrm>
        </p:grpSpPr>
        <p:sp>
          <p:nvSpPr>
            <p:cNvPr id="147" name="Oval 146"/>
            <p:cNvSpPr/>
            <p:nvPr/>
          </p:nvSpPr>
          <p:spPr>
            <a:xfrm>
              <a:off x="3765553" y="4668434"/>
              <a:ext cx="1011677" cy="953311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/>
            </a:p>
          </p:txBody>
        </p:sp>
        <p:sp>
          <p:nvSpPr>
            <p:cNvPr id="158" name="TextBox 157"/>
            <p:cNvSpPr txBox="1"/>
            <p:nvPr/>
          </p:nvSpPr>
          <p:spPr>
            <a:xfrm>
              <a:off x="3901268" y="5185456"/>
              <a:ext cx="996897" cy="187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dirty="0" smtClean="0"/>
                <a:t>wq-unit.ttl</a:t>
              </a:r>
            </a:p>
          </p:txBody>
        </p:sp>
        <p:grpSp>
          <p:nvGrpSpPr>
            <p:cNvPr id="11" name="Group 145"/>
            <p:cNvGrpSpPr/>
            <p:nvPr/>
          </p:nvGrpSpPr>
          <p:grpSpPr>
            <a:xfrm>
              <a:off x="4006880" y="4857548"/>
              <a:ext cx="340467" cy="286317"/>
              <a:chOff x="3749086" y="3986103"/>
              <a:chExt cx="340467" cy="286317"/>
            </a:xfrm>
            <a:solidFill>
              <a:schemeClr val="bg1">
                <a:lumMod val="90000"/>
              </a:schemeClr>
            </a:solidFill>
          </p:grpSpPr>
          <p:sp>
            <p:nvSpPr>
              <p:cNvPr id="141" name="Oval 140"/>
              <p:cNvSpPr/>
              <p:nvPr/>
            </p:nvSpPr>
            <p:spPr>
              <a:xfrm>
                <a:off x="3749086" y="413623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142" name="Oval 141"/>
              <p:cNvSpPr/>
              <p:nvPr/>
            </p:nvSpPr>
            <p:spPr>
              <a:xfrm>
                <a:off x="3953366" y="398610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cxnSp>
            <p:nvCxnSpPr>
              <p:cNvPr id="145" name="Straight Connector 144"/>
              <p:cNvCxnSpPr>
                <a:stCxn id="142" idx="3"/>
                <a:endCxn id="141" idx="7"/>
              </p:cNvCxnSpPr>
              <p:nvPr/>
            </p:nvCxnSpPr>
            <p:spPr>
              <a:xfrm flipH="1">
                <a:off x="3865329" y="4102346"/>
                <a:ext cx="107981" cy="5383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2" name="Group 223"/>
          <p:cNvGrpSpPr/>
          <p:nvPr/>
        </p:nvGrpSpPr>
        <p:grpSpPr>
          <a:xfrm>
            <a:off x="7380312" y="2810789"/>
            <a:ext cx="1489688" cy="1410299"/>
            <a:chOff x="5612036" y="3185568"/>
            <a:chExt cx="1090996" cy="953311"/>
          </a:xfrm>
        </p:grpSpPr>
        <p:grpSp>
          <p:nvGrpSpPr>
            <p:cNvPr id="13" name="Group 222"/>
            <p:cNvGrpSpPr/>
            <p:nvPr/>
          </p:nvGrpSpPr>
          <p:grpSpPr>
            <a:xfrm>
              <a:off x="5612036" y="3185568"/>
              <a:ext cx="1011677" cy="953311"/>
              <a:chOff x="5408993" y="2302299"/>
              <a:chExt cx="1011677" cy="953311"/>
            </a:xfrm>
          </p:grpSpPr>
          <p:sp>
            <p:nvSpPr>
              <p:cNvPr id="202" name="Oval 201"/>
              <p:cNvSpPr/>
              <p:nvPr/>
            </p:nvSpPr>
            <p:spPr>
              <a:xfrm>
                <a:off x="5408993" y="2302299"/>
                <a:ext cx="1011677" cy="953311"/>
              </a:xfrm>
              <a:prstGeom prst="ellipse">
                <a:avLst/>
              </a:prstGeom>
              <a:solidFill>
                <a:schemeClr val="bg1">
                  <a:lumMod val="90000"/>
                </a:schemeClr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grpSp>
            <p:nvGrpSpPr>
              <p:cNvPr id="14" name="Group 86"/>
              <p:cNvGrpSpPr/>
              <p:nvPr/>
            </p:nvGrpSpPr>
            <p:grpSpPr>
              <a:xfrm>
                <a:off x="5607095" y="2346258"/>
                <a:ext cx="500943" cy="593387"/>
                <a:chOff x="4383774" y="3071384"/>
                <a:chExt cx="500943" cy="593387"/>
              </a:xfrm>
            </p:grpSpPr>
            <p:sp>
              <p:nvSpPr>
                <p:cNvPr id="204" name="Oval 203"/>
                <p:cNvSpPr/>
                <p:nvPr/>
              </p:nvSpPr>
              <p:spPr>
                <a:xfrm>
                  <a:off x="4559973" y="3071384"/>
                  <a:ext cx="136187" cy="136187"/>
                </a:xfrm>
                <a:prstGeom prst="ellipse">
                  <a:avLst/>
                </a:prstGeom>
                <a:solidFill>
                  <a:srgbClr val="2A754A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sz="1200"/>
                </a:p>
              </p:txBody>
            </p:sp>
            <p:sp>
              <p:nvSpPr>
                <p:cNvPr id="205" name="Oval 204"/>
                <p:cNvSpPr/>
                <p:nvPr/>
              </p:nvSpPr>
              <p:spPr>
                <a:xfrm>
                  <a:off x="4728586" y="3239997"/>
                  <a:ext cx="136187" cy="136187"/>
                </a:xfrm>
                <a:prstGeom prst="ellipse">
                  <a:avLst/>
                </a:prstGeom>
                <a:solidFill>
                  <a:srgbClr val="2A754A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sz="1200"/>
                </a:p>
              </p:txBody>
            </p:sp>
            <p:sp>
              <p:nvSpPr>
                <p:cNvPr id="206" name="Oval 205"/>
                <p:cNvSpPr/>
                <p:nvPr/>
              </p:nvSpPr>
              <p:spPr>
                <a:xfrm>
                  <a:off x="4748530" y="3528584"/>
                  <a:ext cx="136187" cy="136187"/>
                </a:xfrm>
                <a:prstGeom prst="ellipse">
                  <a:avLst/>
                </a:prstGeom>
                <a:solidFill>
                  <a:srgbClr val="2A754A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sz="1200"/>
                </a:p>
              </p:txBody>
            </p:sp>
            <p:sp>
              <p:nvSpPr>
                <p:cNvPr id="207" name="Oval 206"/>
                <p:cNvSpPr/>
                <p:nvPr/>
              </p:nvSpPr>
              <p:spPr>
                <a:xfrm>
                  <a:off x="4383774" y="3258480"/>
                  <a:ext cx="136187" cy="136187"/>
                </a:xfrm>
                <a:prstGeom prst="ellipse">
                  <a:avLst/>
                </a:prstGeom>
                <a:solidFill>
                  <a:srgbClr val="2A754A"/>
                </a:solidFill>
                <a:ln w="1270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 sz="1200"/>
                </a:p>
              </p:txBody>
            </p:sp>
            <p:cxnSp>
              <p:nvCxnSpPr>
                <p:cNvPr id="208" name="Straight Connector 207"/>
                <p:cNvCxnSpPr>
                  <a:stCxn id="204" idx="5"/>
                  <a:endCxn id="205" idx="1"/>
                </p:cNvCxnSpPr>
                <p:nvPr/>
              </p:nvCxnSpPr>
              <p:spPr>
                <a:xfrm>
                  <a:off x="4676216" y="3187627"/>
                  <a:ext cx="72314" cy="723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9" name="Straight Connector 208"/>
                <p:cNvCxnSpPr>
                  <a:stCxn id="205" idx="4"/>
                  <a:endCxn id="206" idx="0"/>
                </p:cNvCxnSpPr>
                <p:nvPr/>
              </p:nvCxnSpPr>
              <p:spPr>
                <a:xfrm>
                  <a:off x="4796680" y="3376184"/>
                  <a:ext cx="19944" cy="1524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10" name="Straight Connector 209"/>
                <p:cNvCxnSpPr>
                  <a:stCxn id="204" idx="3"/>
                  <a:endCxn id="207" idx="7"/>
                </p:cNvCxnSpPr>
                <p:nvPr/>
              </p:nvCxnSpPr>
              <p:spPr>
                <a:xfrm flipH="1">
                  <a:off x="4500017" y="3187627"/>
                  <a:ext cx="79900" cy="9079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sp>
          <p:nvSpPr>
            <p:cNvPr id="203" name="TextBox 202"/>
            <p:cNvSpPr txBox="1"/>
            <p:nvPr/>
          </p:nvSpPr>
          <p:spPr>
            <a:xfrm>
              <a:off x="5706135" y="3793174"/>
              <a:ext cx="996897" cy="187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dirty="0" smtClean="0"/>
                <a:t>chebi_skos.ttl</a:t>
              </a:r>
            </a:p>
          </p:txBody>
        </p:sp>
      </p:grpSp>
      <p:cxnSp>
        <p:nvCxnSpPr>
          <p:cNvPr id="215" name="Straight Connector 214"/>
          <p:cNvCxnSpPr>
            <a:stCxn id="55" idx="3"/>
            <a:endCxn id="8" idx="2"/>
          </p:cNvCxnSpPr>
          <p:nvPr/>
        </p:nvCxnSpPr>
        <p:spPr>
          <a:xfrm>
            <a:off x="2746893" y="1469976"/>
            <a:ext cx="384947" cy="143894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Straight Arrow Connector 217"/>
          <p:cNvCxnSpPr>
            <a:stCxn id="202" idx="2"/>
            <a:endCxn id="59" idx="6"/>
          </p:cNvCxnSpPr>
          <p:nvPr/>
        </p:nvCxnSpPr>
        <p:spPr>
          <a:xfrm flipH="1">
            <a:off x="4529484" y="3515939"/>
            <a:ext cx="2850828" cy="154204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5" name="Group 246"/>
          <p:cNvGrpSpPr/>
          <p:nvPr/>
        </p:nvGrpSpPr>
        <p:grpSpPr>
          <a:xfrm>
            <a:off x="5508104" y="1484784"/>
            <a:ext cx="1405708" cy="1410299"/>
            <a:chOff x="3500469" y="2629846"/>
            <a:chExt cx="1029491" cy="953311"/>
          </a:xfrm>
        </p:grpSpPr>
        <p:sp>
          <p:nvSpPr>
            <p:cNvPr id="242" name="Oval 241"/>
            <p:cNvSpPr/>
            <p:nvPr/>
          </p:nvSpPr>
          <p:spPr>
            <a:xfrm>
              <a:off x="3500469" y="2629846"/>
              <a:ext cx="1011677" cy="953311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/>
            </a:p>
          </p:txBody>
        </p:sp>
        <p:sp>
          <p:nvSpPr>
            <p:cNvPr id="243" name="Oval 242"/>
            <p:cNvSpPr/>
            <p:nvPr/>
          </p:nvSpPr>
          <p:spPr>
            <a:xfrm>
              <a:off x="3794636" y="2803974"/>
              <a:ext cx="136187" cy="1361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/>
            </a:p>
          </p:txBody>
        </p:sp>
        <p:sp>
          <p:nvSpPr>
            <p:cNvPr id="244" name="Oval 243"/>
            <p:cNvSpPr/>
            <p:nvPr/>
          </p:nvSpPr>
          <p:spPr>
            <a:xfrm>
              <a:off x="4095771" y="2806128"/>
              <a:ext cx="136187" cy="136187"/>
            </a:xfrm>
            <a:prstGeom prst="ellipse">
              <a:avLst/>
            </a:prstGeom>
            <a:solidFill>
              <a:srgbClr val="2A754A"/>
            </a:solidFill>
            <a:ln w="1270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/>
            </a:p>
          </p:txBody>
        </p:sp>
        <p:cxnSp>
          <p:nvCxnSpPr>
            <p:cNvPr id="245" name="Straight Connector 244"/>
            <p:cNvCxnSpPr>
              <a:stCxn id="244" idx="2"/>
              <a:endCxn id="243" idx="6"/>
            </p:cNvCxnSpPr>
            <p:nvPr/>
          </p:nvCxnSpPr>
          <p:spPr>
            <a:xfrm flipH="1" flipV="1">
              <a:off x="3930823" y="2872068"/>
              <a:ext cx="164948" cy="2154"/>
            </a:xfrm>
            <a:prstGeom prst="line">
              <a:avLst/>
            </a:prstGeom>
            <a:ln w="12700">
              <a:solidFill>
                <a:schemeClr val="tx1"/>
              </a:solidFill>
              <a:prstDash val="sysDot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6" name="TextBox 245"/>
            <p:cNvSpPr txBox="1"/>
            <p:nvPr/>
          </p:nvSpPr>
          <p:spPr>
            <a:xfrm>
              <a:off x="3597518" y="3118325"/>
              <a:ext cx="932442" cy="312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dirty="0" err="1" smtClean="0"/>
                <a:t>wq-chebi_skos</a:t>
              </a:r>
              <a:r>
                <a:rPr lang="en-AU" sz="1200" dirty="0" smtClean="0"/>
                <a:t>_</a:t>
              </a:r>
            </a:p>
            <a:p>
              <a:r>
                <a:rPr lang="en-AU" sz="1200" dirty="0" smtClean="0"/>
                <a:t>mapping.ttl</a:t>
              </a:r>
            </a:p>
          </p:txBody>
        </p:sp>
      </p:grpSp>
      <p:sp>
        <p:nvSpPr>
          <p:cNvPr id="248" name="TextBox 247"/>
          <p:cNvSpPr txBox="1"/>
          <p:nvPr/>
        </p:nvSpPr>
        <p:spPr>
          <a:xfrm>
            <a:off x="5580112" y="3212976"/>
            <a:ext cx="95122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i="1" dirty="0" smtClean="0"/>
              <a:t>imports into</a:t>
            </a:r>
          </a:p>
        </p:txBody>
      </p:sp>
      <p:cxnSp>
        <p:nvCxnSpPr>
          <p:cNvPr id="261" name="Straight Arrow Connector 260"/>
          <p:cNvCxnSpPr>
            <a:stCxn id="242" idx="2"/>
            <a:endCxn id="59" idx="7"/>
          </p:cNvCxnSpPr>
          <p:nvPr/>
        </p:nvCxnSpPr>
        <p:spPr>
          <a:xfrm flipH="1">
            <a:off x="4293168" y="2189934"/>
            <a:ext cx="1214936" cy="902356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TextBox 263"/>
          <p:cNvSpPr txBox="1"/>
          <p:nvPr/>
        </p:nvSpPr>
        <p:spPr>
          <a:xfrm>
            <a:off x="2987824" y="2348880"/>
            <a:ext cx="705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i="1" dirty="0" smtClean="0"/>
              <a:t>imports </a:t>
            </a:r>
          </a:p>
          <a:p>
            <a:r>
              <a:rPr lang="en-AU" sz="1200" i="1" dirty="0" smtClean="0"/>
              <a:t>into</a:t>
            </a:r>
          </a:p>
        </p:txBody>
      </p:sp>
      <p:cxnSp>
        <p:nvCxnSpPr>
          <p:cNvPr id="265" name="Straight Arrow Connector 264"/>
          <p:cNvCxnSpPr>
            <a:stCxn id="202" idx="1"/>
            <a:endCxn id="242" idx="5"/>
          </p:cNvCxnSpPr>
          <p:nvPr/>
        </p:nvCxnSpPr>
        <p:spPr>
          <a:xfrm flipH="1" flipV="1">
            <a:off x="6687189" y="2688550"/>
            <a:ext cx="895422" cy="328772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0" name="TextBox 269"/>
          <p:cNvSpPr txBox="1"/>
          <p:nvPr/>
        </p:nvSpPr>
        <p:spPr>
          <a:xfrm>
            <a:off x="6732240" y="2780928"/>
            <a:ext cx="705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i="1" dirty="0" smtClean="0"/>
              <a:t>imports </a:t>
            </a:r>
          </a:p>
          <a:p>
            <a:r>
              <a:rPr lang="en-AU" sz="1200" i="1" dirty="0" smtClean="0"/>
              <a:t>into</a:t>
            </a:r>
          </a:p>
        </p:txBody>
      </p:sp>
      <p:cxnSp>
        <p:nvCxnSpPr>
          <p:cNvPr id="130" name="Straight Connector 129"/>
          <p:cNvCxnSpPr>
            <a:stCxn id="8" idx="6"/>
            <a:endCxn id="242" idx="1"/>
          </p:cNvCxnSpPr>
          <p:nvPr/>
        </p:nvCxnSpPr>
        <p:spPr>
          <a:xfrm>
            <a:off x="4513223" y="1613870"/>
            <a:ext cx="1197180" cy="77447"/>
          </a:xfrm>
          <a:prstGeom prst="line">
            <a:avLst/>
          </a:prstGeom>
          <a:ln w="9525">
            <a:solidFill>
              <a:schemeClr val="tx1"/>
            </a:solidFill>
            <a:prstDash val="sys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8" name="TextBox 147"/>
          <p:cNvSpPr txBox="1"/>
          <p:nvPr/>
        </p:nvSpPr>
        <p:spPr>
          <a:xfrm>
            <a:off x="4716016" y="980728"/>
            <a:ext cx="1197957" cy="461665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AU" sz="1200" i="1" dirty="0" smtClean="0"/>
              <a:t>Subset of </a:t>
            </a:r>
          </a:p>
          <a:p>
            <a:r>
              <a:rPr lang="en-AU" sz="1200" i="1" dirty="0" err="1" smtClean="0"/>
              <a:t>IdentifiedObject</a:t>
            </a:r>
            <a:endParaRPr lang="en-AU" sz="1200" i="1" dirty="0" smtClean="0"/>
          </a:p>
        </p:txBody>
      </p:sp>
      <p:grpSp>
        <p:nvGrpSpPr>
          <p:cNvPr id="16" name="Group 197"/>
          <p:cNvGrpSpPr/>
          <p:nvPr/>
        </p:nvGrpSpPr>
        <p:grpSpPr>
          <a:xfrm>
            <a:off x="395536" y="2852936"/>
            <a:ext cx="1613668" cy="1634414"/>
            <a:chOff x="1389214" y="3644270"/>
            <a:chExt cx="1181794" cy="1104805"/>
          </a:xfrm>
        </p:grpSpPr>
        <p:sp>
          <p:nvSpPr>
            <p:cNvPr id="127" name="Oval 126"/>
            <p:cNvSpPr/>
            <p:nvPr/>
          </p:nvSpPr>
          <p:spPr>
            <a:xfrm>
              <a:off x="1389214" y="3644270"/>
              <a:ext cx="1181794" cy="1104805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/>
            </a:p>
          </p:txBody>
        </p:sp>
        <p:grpSp>
          <p:nvGrpSpPr>
            <p:cNvPr id="17" name="Group 149"/>
            <p:cNvGrpSpPr/>
            <p:nvPr/>
          </p:nvGrpSpPr>
          <p:grpSpPr>
            <a:xfrm>
              <a:off x="1871867" y="3878167"/>
              <a:ext cx="529024" cy="306261"/>
              <a:chOff x="3749086" y="3986103"/>
              <a:chExt cx="529024" cy="306261"/>
            </a:xfrm>
          </p:grpSpPr>
          <p:sp>
            <p:nvSpPr>
              <p:cNvPr id="174" name="Oval 173"/>
              <p:cNvSpPr/>
              <p:nvPr/>
            </p:nvSpPr>
            <p:spPr>
              <a:xfrm>
                <a:off x="3749086" y="413623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175" name="Oval 174"/>
              <p:cNvSpPr/>
              <p:nvPr/>
            </p:nvSpPr>
            <p:spPr>
              <a:xfrm>
                <a:off x="3953366" y="398610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176" name="Oval 175"/>
              <p:cNvSpPr/>
              <p:nvPr/>
            </p:nvSpPr>
            <p:spPr>
              <a:xfrm>
                <a:off x="4141923" y="4156177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cxnSp>
            <p:nvCxnSpPr>
              <p:cNvPr id="177" name="Straight Connector 176"/>
              <p:cNvCxnSpPr>
                <a:stCxn id="175" idx="5"/>
                <a:endCxn id="176" idx="1"/>
              </p:cNvCxnSpPr>
              <p:nvPr/>
            </p:nvCxnSpPr>
            <p:spPr>
              <a:xfrm>
                <a:off x="4069609" y="4102346"/>
                <a:ext cx="92258" cy="7377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8" name="Straight Connector 177"/>
              <p:cNvCxnSpPr>
                <a:stCxn id="175" idx="3"/>
                <a:endCxn id="174" idx="7"/>
              </p:cNvCxnSpPr>
              <p:nvPr/>
            </p:nvCxnSpPr>
            <p:spPr>
              <a:xfrm flipH="1">
                <a:off x="3865329" y="4102346"/>
                <a:ext cx="107981" cy="5383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8" name="Group 139"/>
            <p:cNvGrpSpPr/>
            <p:nvPr/>
          </p:nvGrpSpPr>
          <p:grpSpPr>
            <a:xfrm>
              <a:off x="1532315" y="3862685"/>
              <a:ext cx="500943" cy="593387"/>
              <a:chOff x="4219747" y="3817854"/>
              <a:chExt cx="500943" cy="593387"/>
            </a:xfrm>
          </p:grpSpPr>
          <p:sp>
            <p:nvSpPr>
              <p:cNvPr id="167" name="Oval 166"/>
              <p:cNvSpPr/>
              <p:nvPr/>
            </p:nvSpPr>
            <p:spPr>
              <a:xfrm>
                <a:off x="4395946" y="3817854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168" name="Oval 167"/>
              <p:cNvSpPr/>
              <p:nvPr/>
            </p:nvSpPr>
            <p:spPr>
              <a:xfrm>
                <a:off x="4564559" y="3986467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169" name="Oval 168"/>
              <p:cNvSpPr/>
              <p:nvPr/>
            </p:nvSpPr>
            <p:spPr>
              <a:xfrm>
                <a:off x="4584503" y="4275054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170" name="Oval 169"/>
              <p:cNvSpPr/>
              <p:nvPr/>
            </p:nvSpPr>
            <p:spPr>
              <a:xfrm>
                <a:off x="4219747" y="4004950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cxnSp>
            <p:nvCxnSpPr>
              <p:cNvPr id="171" name="Straight Connector 170"/>
              <p:cNvCxnSpPr>
                <a:stCxn id="167" idx="5"/>
                <a:endCxn id="168" idx="1"/>
              </p:cNvCxnSpPr>
              <p:nvPr/>
            </p:nvCxnSpPr>
            <p:spPr>
              <a:xfrm>
                <a:off x="4512189" y="3934097"/>
                <a:ext cx="72314" cy="72314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2" name="Straight Connector 171"/>
              <p:cNvCxnSpPr>
                <a:stCxn id="168" idx="4"/>
                <a:endCxn id="169" idx="0"/>
              </p:cNvCxnSpPr>
              <p:nvPr/>
            </p:nvCxnSpPr>
            <p:spPr>
              <a:xfrm>
                <a:off x="4632653" y="4122654"/>
                <a:ext cx="19944" cy="15240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3" name="Straight Connector 172"/>
              <p:cNvCxnSpPr>
                <a:stCxn id="167" idx="3"/>
                <a:endCxn id="170" idx="7"/>
              </p:cNvCxnSpPr>
              <p:nvPr/>
            </p:nvCxnSpPr>
            <p:spPr>
              <a:xfrm flipH="1">
                <a:off x="4335990" y="3934097"/>
                <a:ext cx="79900" cy="90797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9" name="Group 33"/>
            <p:cNvGrpSpPr/>
            <p:nvPr/>
          </p:nvGrpSpPr>
          <p:grpSpPr>
            <a:xfrm>
              <a:off x="1707475" y="3866416"/>
              <a:ext cx="509080" cy="477144"/>
              <a:chOff x="1822313" y="1591445"/>
              <a:chExt cx="509080" cy="477144"/>
            </a:xfrm>
          </p:grpSpPr>
          <p:sp>
            <p:nvSpPr>
              <p:cNvPr id="156" name="Oval 155"/>
              <p:cNvSpPr/>
              <p:nvPr/>
            </p:nvSpPr>
            <p:spPr>
              <a:xfrm>
                <a:off x="1822313" y="1591445"/>
                <a:ext cx="136187" cy="13618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157" name="Oval 156"/>
              <p:cNvSpPr/>
              <p:nvPr/>
            </p:nvSpPr>
            <p:spPr>
              <a:xfrm>
                <a:off x="1990926" y="1760058"/>
                <a:ext cx="136187" cy="136187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159" name="Oval 158"/>
              <p:cNvSpPr/>
              <p:nvPr/>
            </p:nvSpPr>
            <p:spPr>
              <a:xfrm>
                <a:off x="2195206" y="1932402"/>
                <a:ext cx="136187" cy="13618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161" name="Oval 160"/>
              <p:cNvSpPr/>
              <p:nvPr/>
            </p:nvSpPr>
            <p:spPr>
              <a:xfrm>
                <a:off x="1822313" y="1932402"/>
                <a:ext cx="136187" cy="13618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cxnSp>
            <p:nvCxnSpPr>
              <p:cNvPr id="162" name="Straight Connector 161"/>
              <p:cNvCxnSpPr>
                <a:stCxn id="156" idx="5"/>
                <a:endCxn id="157" idx="1"/>
              </p:cNvCxnSpPr>
              <p:nvPr/>
            </p:nvCxnSpPr>
            <p:spPr>
              <a:xfrm>
                <a:off x="1938556" y="1707688"/>
                <a:ext cx="72314" cy="72314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4" name="Straight Connector 163"/>
              <p:cNvCxnSpPr>
                <a:stCxn id="157" idx="5"/>
                <a:endCxn id="159" idx="1"/>
              </p:cNvCxnSpPr>
              <p:nvPr/>
            </p:nvCxnSpPr>
            <p:spPr>
              <a:xfrm>
                <a:off x="2107169" y="1876301"/>
                <a:ext cx="107981" cy="7604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5" name="Straight Connector 164"/>
              <p:cNvCxnSpPr>
                <a:stCxn id="157" idx="3"/>
                <a:endCxn id="161" idx="7"/>
              </p:cNvCxnSpPr>
              <p:nvPr/>
            </p:nvCxnSpPr>
            <p:spPr>
              <a:xfrm flipH="1">
                <a:off x="1938556" y="1876301"/>
                <a:ext cx="72314" cy="7604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46" name="TextBox 145"/>
            <p:cNvSpPr txBox="1"/>
            <p:nvPr/>
          </p:nvSpPr>
          <p:spPr>
            <a:xfrm>
              <a:off x="1548439" y="4456072"/>
              <a:ext cx="996897" cy="187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dirty="0" smtClean="0"/>
                <a:t>water-quality.ttl</a:t>
              </a:r>
            </a:p>
          </p:txBody>
        </p:sp>
        <p:sp>
          <p:nvSpPr>
            <p:cNvPr id="149" name="Oval 148"/>
            <p:cNvSpPr/>
            <p:nvPr/>
          </p:nvSpPr>
          <p:spPr>
            <a:xfrm>
              <a:off x="1878047" y="3715123"/>
              <a:ext cx="136187" cy="13618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/>
            </a:p>
          </p:txBody>
        </p:sp>
        <p:cxnSp>
          <p:nvCxnSpPr>
            <p:cNvPr id="150" name="Straight Connector 149"/>
            <p:cNvCxnSpPr>
              <a:stCxn id="149" idx="3"/>
              <a:endCxn id="156" idx="7"/>
            </p:cNvCxnSpPr>
            <p:nvPr/>
          </p:nvCxnSpPr>
          <p:spPr>
            <a:xfrm flipH="1">
              <a:off x="1823718" y="3831366"/>
              <a:ext cx="74273" cy="54994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9" name="Straight Arrow Connector 178"/>
          <p:cNvCxnSpPr>
            <a:stCxn id="59" idx="2"/>
            <a:endCxn id="127" idx="6"/>
          </p:cNvCxnSpPr>
          <p:nvPr/>
        </p:nvCxnSpPr>
        <p:spPr>
          <a:xfrm flipH="1">
            <a:off x="2009204" y="3670143"/>
            <a:ext cx="906612" cy="0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TextBox 181"/>
          <p:cNvSpPr txBox="1"/>
          <p:nvPr/>
        </p:nvSpPr>
        <p:spPr>
          <a:xfrm>
            <a:off x="35496" y="2204864"/>
            <a:ext cx="2673039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AU" sz="1200" i="1" dirty="0" smtClean="0">
                <a:solidFill>
                  <a:schemeClr val="dk1"/>
                </a:solidFill>
              </a:rPr>
              <a:t>Namespace: </a:t>
            </a:r>
          </a:p>
          <a:p>
            <a:r>
              <a:rPr lang="en-AU" sz="1200" dirty="0" err="1" smtClean="0">
                <a:solidFill>
                  <a:schemeClr val="dk1"/>
                </a:solidFill>
              </a:rPr>
              <a:t>wq</a:t>
            </a:r>
            <a:r>
              <a:rPr lang="en-AU" sz="1200" dirty="0" smtClean="0">
                <a:solidFill>
                  <a:schemeClr val="dk1"/>
                </a:solidFill>
              </a:rPr>
              <a:t> =[domain]/water/water-quality/</a:t>
            </a:r>
            <a:r>
              <a:rPr lang="en-AU" sz="1200" dirty="0" err="1" smtClean="0">
                <a:solidFill>
                  <a:schemeClr val="dk1"/>
                </a:solidFill>
              </a:rPr>
              <a:t>wq</a:t>
            </a:r>
            <a:r>
              <a:rPr lang="en-AU" sz="1200" dirty="0" smtClean="0">
                <a:solidFill>
                  <a:schemeClr val="dk1"/>
                </a:solidFill>
              </a:rPr>
              <a:t>/</a:t>
            </a:r>
          </a:p>
        </p:txBody>
      </p:sp>
      <p:cxnSp>
        <p:nvCxnSpPr>
          <p:cNvPr id="184" name="Straight Connector 183"/>
          <p:cNvCxnSpPr>
            <a:stCxn id="127" idx="0"/>
            <a:endCxn id="182" idx="2"/>
          </p:cNvCxnSpPr>
          <p:nvPr/>
        </p:nvCxnSpPr>
        <p:spPr>
          <a:xfrm flipV="1">
            <a:off x="1202370" y="2666529"/>
            <a:ext cx="169646" cy="186407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20" name="Group 198"/>
          <p:cNvGrpSpPr/>
          <p:nvPr/>
        </p:nvGrpSpPr>
        <p:grpSpPr>
          <a:xfrm>
            <a:off x="4788024" y="4653136"/>
            <a:ext cx="1546512" cy="1410299"/>
            <a:chOff x="3765553" y="4668434"/>
            <a:chExt cx="1132612" cy="953311"/>
          </a:xfrm>
        </p:grpSpPr>
        <p:sp>
          <p:nvSpPr>
            <p:cNvPr id="233" name="Oval 232"/>
            <p:cNvSpPr/>
            <p:nvPr/>
          </p:nvSpPr>
          <p:spPr>
            <a:xfrm>
              <a:off x="3765553" y="4668434"/>
              <a:ext cx="1011677" cy="953311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 sz="1200"/>
            </a:p>
          </p:txBody>
        </p:sp>
        <p:sp>
          <p:nvSpPr>
            <p:cNvPr id="234" name="TextBox 233"/>
            <p:cNvSpPr txBox="1"/>
            <p:nvPr/>
          </p:nvSpPr>
          <p:spPr>
            <a:xfrm>
              <a:off x="3901268" y="5185456"/>
              <a:ext cx="996897" cy="31206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1200" dirty="0" smtClean="0"/>
                <a:t>wq-quantity-kind.ttl</a:t>
              </a:r>
            </a:p>
          </p:txBody>
        </p:sp>
        <p:grpSp>
          <p:nvGrpSpPr>
            <p:cNvPr id="21" name="Group 145"/>
            <p:cNvGrpSpPr/>
            <p:nvPr/>
          </p:nvGrpSpPr>
          <p:grpSpPr>
            <a:xfrm>
              <a:off x="4211160" y="4857548"/>
              <a:ext cx="324744" cy="306261"/>
              <a:chOff x="3953366" y="3986103"/>
              <a:chExt cx="324744" cy="306261"/>
            </a:xfrm>
            <a:solidFill>
              <a:schemeClr val="bg1">
                <a:lumMod val="90000"/>
              </a:schemeClr>
            </a:solidFill>
          </p:grpSpPr>
          <p:sp>
            <p:nvSpPr>
              <p:cNvPr id="237" name="Oval 236"/>
              <p:cNvSpPr/>
              <p:nvPr/>
            </p:nvSpPr>
            <p:spPr>
              <a:xfrm>
                <a:off x="3953366" y="398610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sp>
            <p:nvSpPr>
              <p:cNvPr id="238" name="Oval 237"/>
              <p:cNvSpPr/>
              <p:nvPr/>
            </p:nvSpPr>
            <p:spPr>
              <a:xfrm>
                <a:off x="4141923" y="4156177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 sz="1200"/>
              </a:p>
            </p:txBody>
          </p:sp>
          <p:cxnSp>
            <p:nvCxnSpPr>
              <p:cNvPr id="239" name="Straight Connector 238"/>
              <p:cNvCxnSpPr>
                <a:stCxn id="237" idx="5"/>
                <a:endCxn id="238" idx="1"/>
              </p:cNvCxnSpPr>
              <p:nvPr/>
            </p:nvCxnSpPr>
            <p:spPr>
              <a:xfrm>
                <a:off x="4069609" y="4102346"/>
                <a:ext cx="92258" cy="73775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50" name="TextBox 249"/>
          <p:cNvSpPr txBox="1"/>
          <p:nvPr/>
        </p:nvSpPr>
        <p:spPr>
          <a:xfrm>
            <a:off x="4946478" y="2463279"/>
            <a:ext cx="7056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i="1" dirty="0" smtClean="0"/>
              <a:t>imports </a:t>
            </a:r>
          </a:p>
          <a:p>
            <a:r>
              <a:rPr lang="en-AU" sz="1200" i="1" dirty="0" smtClean="0"/>
              <a:t>into</a:t>
            </a:r>
          </a:p>
        </p:txBody>
      </p:sp>
      <p:sp>
        <p:nvSpPr>
          <p:cNvPr id="252" name="TextBox 251"/>
          <p:cNvSpPr txBox="1"/>
          <p:nvPr/>
        </p:nvSpPr>
        <p:spPr>
          <a:xfrm>
            <a:off x="4716016" y="4293096"/>
            <a:ext cx="6703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i="1" dirty="0" smtClean="0"/>
              <a:t>imports</a:t>
            </a:r>
          </a:p>
          <a:p>
            <a:r>
              <a:rPr lang="en-AU" sz="1200" i="1" dirty="0" smtClean="0"/>
              <a:t>into</a:t>
            </a:r>
          </a:p>
        </p:txBody>
      </p:sp>
      <p:cxnSp>
        <p:nvCxnSpPr>
          <p:cNvPr id="253" name="Straight Arrow Connector 252"/>
          <p:cNvCxnSpPr>
            <a:stCxn id="233" idx="1"/>
            <a:endCxn id="59" idx="5"/>
          </p:cNvCxnSpPr>
          <p:nvPr/>
        </p:nvCxnSpPr>
        <p:spPr>
          <a:xfrm flipH="1" flipV="1">
            <a:off x="4293168" y="4247996"/>
            <a:ext cx="697155" cy="611673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8" name="TextBox 257"/>
          <p:cNvSpPr txBox="1"/>
          <p:nvPr/>
        </p:nvSpPr>
        <p:spPr>
          <a:xfrm>
            <a:off x="3707904" y="6165304"/>
            <a:ext cx="2016224" cy="64633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200" i="1" dirty="0" smtClean="0"/>
              <a:t>Namespace:</a:t>
            </a:r>
            <a:r>
              <a:rPr lang="en-AU" sz="1200" dirty="0" smtClean="0"/>
              <a:t> </a:t>
            </a:r>
          </a:p>
          <a:p>
            <a:r>
              <a:rPr lang="en-AU" sz="1200" dirty="0" err="1" smtClean="0"/>
              <a:t>wqk</a:t>
            </a:r>
            <a:r>
              <a:rPr lang="en-AU" sz="1200" dirty="0" smtClean="0"/>
              <a:t>=[domain]/water/water-quality/</a:t>
            </a:r>
            <a:r>
              <a:rPr lang="en-AU" sz="1200" dirty="0" err="1" smtClean="0"/>
              <a:t>wq</a:t>
            </a:r>
            <a:r>
              <a:rPr lang="en-AU" sz="1200" dirty="0" smtClean="0"/>
              <a:t>-quantity-kind/</a:t>
            </a:r>
          </a:p>
        </p:txBody>
      </p:sp>
      <p:sp>
        <p:nvSpPr>
          <p:cNvPr id="259" name="TextBox 258"/>
          <p:cNvSpPr txBox="1"/>
          <p:nvPr/>
        </p:nvSpPr>
        <p:spPr>
          <a:xfrm>
            <a:off x="6876256" y="5517232"/>
            <a:ext cx="2088232" cy="64633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200" i="1" dirty="0" smtClean="0"/>
              <a:t>Namespace:</a:t>
            </a:r>
            <a:r>
              <a:rPr lang="en-AU" sz="1200" dirty="0" smtClean="0"/>
              <a:t> </a:t>
            </a:r>
          </a:p>
          <a:p>
            <a:r>
              <a:rPr lang="en-AU" sz="1200" dirty="0" err="1" smtClean="0"/>
              <a:t>wqu</a:t>
            </a:r>
            <a:r>
              <a:rPr lang="en-AU" sz="1200" dirty="0" smtClean="0"/>
              <a:t> =[domain]/water/water-quality/</a:t>
            </a:r>
            <a:r>
              <a:rPr lang="en-AU" sz="1200" dirty="0" err="1" smtClean="0"/>
              <a:t>wq</a:t>
            </a:r>
            <a:r>
              <a:rPr lang="en-AU" sz="1200" dirty="0" smtClean="0"/>
              <a:t>-unit/</a:t>
            </a:r>
          </a:p>
        </p:txBody>
      </p:sp>
      <p:cxnSp>
        <p:nvCxnSpPr>
          <p:cNvPr id="271" name="Straight Connector 270"/>
          <p:cNvCxnSpPr>
            <a:stCxn id="147" idx="5"/>
            <a:endCxn id="259" idx="0"/>
          </p:cNvCxnSpPr>
          <p:nvPr/>
        </p:nvCxnSpPr>
        <p:spPr>
          <a:xfrm>
            <a:off x="7623292" y="5208830"/>
            <a:ext cx="297080" cy="308402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6" name="Straight Connector 275"/>
          <p:cNvCxnSpPr>
            <a:stCxn id="233" idx="3"/>
            <a:endCxn id="258" idx="0"/>
          </p:cNvCxnSpPr>
          <p:nvPr/>
        </p:nvCxnSpPr>
        <p:spPr>
          <a:xfrm flipH="1">
            <a:off x="4716016" y="5856902"/>
            <a:ext cx="274307" cy="308402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/>
          <p:cNvSpPr txBox="1"/>
          <p:nvPr/>
        </p:nvSpPr>
        <p:spPr>
          <a:xfrm>
            <a:off x="7020272" y="1918573"/>
            <a:ext cx="2088232" cy="64633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200" i="1" dirty="0" smtClean="0"/>
              <a:t>Namespace:</a:t>
            </a:r>
            <a:r>
              <a:rPr lang="en-AU" sz="1200" dirty="0" smtClean="0"/>
              <a:t> </a:t>
            </a:r>
          </a:p>
          <a:p>
            <a:r>
              <a:rPr lang="en-AU" sz="1200" dirty="0" err="1" smtClean="0"/>
              <a:t>chebi-skos</a:t>
            </a:r>
            <a:r>
              <a:rPr lang="en-AU" sz="1200" dirty="0" smtClean="0"/>
              <a:t> = [domain]/water/</a:t>
            </a:r>
          </a:p>
          <a:p>
            <a:r>
              <a:rPr lang="en-AU" sz="1200" dirty="0" smtClean="0"/>
              <a:t>water-quality/</a:t>
            </a:r>
            <a:r>
              <a:rPr lang="en-AU" sz="1200" dirty="0" err="1" smtClean="0"/>
              <a:t>chebi-skos</a:t>
            </a:r>
            <a:r>
              <a:rPr lang="en-AU" sz="1200" dirty="0" smtClean="0"/>
              <a:t>/</a:t>
            </a:r>
          </a:p>
        </p:txBody>
      </p:sp>
      <p:cxnSp>
        <p:nvCxnSpPr>
          <p:cNvPr id="284" name="Straight Connector 283"/>
          <p:cNvCxnSpPr>
            <a:stCxn id="283" idx="2"/>
            <a:endCxn id="202" idx="0"/>
          </p:cNvCxnSpPr>
          <p:nvPr/>
        </p:nvCxnSpPr>
        <p:spPr>
          <a:xfrm>
            <a:off x="8064388" y="2564904"/>
            <a:ext cx="6616" cy="245885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7" name="TextBox 286"/>
          <p:cNvSpPr txBox="1"/>
          <p:nvPr/>
        </p:nvSpPr>
        <p:spPr>
          <a:xfrm>
            <a:off x="6300192" y="404664"/>
            <a:ext cx="2376264" cy="646331"/>
          </a:xfrm>
          <a:prstGeom prst="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AU" sz="1200" i="1" dirty="0" smtClean="0"/>
              <a:t>Namespace:</a:t>
            </a:r>
            <a:r>
              <a:rPr lang="en-AU" sz="1200" dirty="0" smtClean="0"/>
              <a:t> </a:t>
            </a:r>
          </a:p>
          <a:p>
            <a:r>
              <a:rPr lang="en-AU" sz="1200" dirty="0" err="1" smtClean="0"/>
              <a:t>wq</a:t>
            </a:r>
            <a:r>
              <a:rPr lang="en-AU" sz="1200" dirty="0" smtClean="0"/>
              <a:t>-</a:t>
            </a:r>
            <a:r>
              <a:rPr lang="en-AU" sz="1200" dirty="0" err="1" smtClean="0"/>
              <a:t>chebi</a:t>
            </a:r>
            <a:r>
              <a:rPr lang="en-AU" sz="1200" dirty="0" smtClean="0"/>
              <a:t> = [domain]/water/water-quality/</a:t>
            </a:r>
            <a:r>
              <a:rPr lang="en-AU" sz="1200" dirty="0" err="1" smtClean="0"/>
              <a:t>wq-chebi_skos_mapping</a:t>
            </a:r>
            <a:r>
              <a:rPr lang="en-AU" sz="1200" dirty="0" smtClean="0"/>
              <a:t>/</a:t>
            </a:r>
          </a:p>
        </p:txBody>
      </p:sp>
      <p:cxnSp>
        <p:nvCxnSpPr>
          <p:cNvPr id="295" name="Straight Connector 294"/>
          <p:cNvCxnSpPr>
            <a:stCxn id="287" idx="2"/>
            <a:endCxn id="242" idx="7"/>
          </p:cNvCxnSpPr>
          <p:nvPr/>
        </p:nvCxnSpPr>
        <p:spPr>
          <a:xfrm flipH="1">
            <a:off x="6687189" y="1050995"/>
            <a:ext cx="801135" cy="640322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83169" y="270000"/>
            <a:ext cx="8460000" cy="900000"/>
          </a:xfrm>
        </p:spPr>
        <p:txBody>
          <a:bodyPr/>
          <a:lstStyle/>
          <a:p>
            <a:r>
              <a:rPr lang="en-AU" dirty="0" smtClean="0"/>
              <a:t>WQ imports</a:t>
            </a:r>
            <a:endParaRPr lang="en-AU" dirty="0"/>
          </a:p>
        </p:txBody>
      </p:sp>
      <p:sp>
        <p:nvSpPr>
          <p:cNvPr id="14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</p:spPr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WQ Imports</a:t>
            </a:r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pic>
        <p:nvPicPr>
          <p:cNvPr id="5" name="Picture 4" descr="wq-imports.png"/>
          <p:cNvPicPr>
            <a:picLocks noChangeAspect="1"/>
          </p:cNvPicPr>
          <p:nvPr/>
        </p:nvPicPr>
        <p:blipFill>
          <a:blip r:embed="rId2"/>
          <a:srcRect l="18831" b="31833"/>
          <a:stretch>
            <a:fillRect/>
          </a:stretch>
        </p:blipFill>
        <p:spPr>
          <a:xfrm>
            <a:off x="84906" y="1296422"/>
            <a:ext cx="9059095" cy="3548709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277238" y="1983179"/>
            <a:ext cx="3807876" cy="30875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Rectangle 6"/>
          <p:cNvSpPr/>
          <p:nvPr/>
        </p:nvSpPr>
        <p:spPr>
          <a:xfrm>
            <a:off x="3255967" y="2563092"/>
            <a:ext cx="3807876" cy="30875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Rectangle 7"/>
          <p:cNvSpPr/>
          <p:nvPr/>
        </p:nvSpPr>
        <p:spPr>
          <a:xfrm>
            <a:off x="487117" y="3463617"/>
            <a:ext cx="3807876" cy="30875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Rectangle 8"/>
          <p:cNvSpPr/>
          <p:nvPr/>
        </p:nvSpPr>
        <p:spPr>
          <a:xfrm>
            <a:off x="5187642" y="3188517"/>
            <a:ext cx="3807876" cy="308759"/>
          </a:xfrm>
          <a:prstGeom prst="rect">
            <a:avLst/>
          </a:prstGeom>
          <a:solidFill>
            <a:schemeClr val="accent3">
              <a:alpha val="2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2" descr="https://wiki.csiro.au/download/attachments/586319299/methodology-overview.png?version=1&amp;modificationDate=1362533710837&amp;api=v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sp>
        <p:nvSpPr>
          <p:cNvPr id="7" name="AutoShape 4" descr="https://wiki.csiro.au/download/attachments/586319299/methodology-overview.png?version=1&amp;modificationDate=1362533710837&amp;api=v2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AU"/>
          </a:p>
        </p:txBody>
      </p:sp>
      <p:grpSp>
        <p:nvGrpSpPr>
          <p:cNvPr id="2" name="Group 197"/>
          <p:cNvGrpSpPr/>
          <p:nvPr/>
        </p:nvGrpSpPr>
        <p:grpSpPr>
          <a:xfrm>
            <a:off x="548233" y="917535"/>
            <a:ext cx="1181794" cy="1104805"/>
            <a:chOff x="1389214" y="3644270"/>
            <a:chExt cx="1181794" cy="1104805"/>
          </a:xfrm>
        </p:grpSpPr>
        <p:sp>
          <p:nvSpPr>
            <p:cNvPr id="9" name="Oval 8"/>
            <p:cNvSpPr/>
            <p:nvPr/>
          </p:nvSpPr>
          <p:spPr>
            <a:xfrm>
              <a:off x="1389214" y="3644270"/>
              <a:ext cx="1181794" cy="1104805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3" name="Group 149"/>
            <p:cNvGrpSpPr/>
            <p:nvPr/>
          </p:nvGrpSpPr>
          <p:grpSpPr>
            <a:xfrm>
              <a:off x="1871867" y="3878167"/>
              <a:ext cx="529024" cy="306261"/>
              <a:chOff x="3749086" y="3986103"/>
              <a:chExt cx="529024" cy="306261"/>
            </a:xfrm>
          </p:grpSpPr>
          <p:sp>
            <p:nvSpPr>
              <p:cNvPr id="30" name="Oval 29"/>
              <p:cNvSpPr/>
              <p:nvPr/>
            </p:nvSpPr>
            <p:spPr>
              <a:xfrm>
                <a:off x="3749086" y="413623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1" name="Oval 30"/>
              <p:cNvSpPr/>
              <p:nvPr/>
            </p:nvSpPr>
            <p:spPr>
              <a:xfrm>
                <a:off x="3953366" y="398610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2" name="Oval 31"/>
              <p:cNvSpPr/>
              <p:nvPr/>
            </p:nvSpPr>
            <p:spPr>
              <a:xfrm>
                <a:off x="4141923" y="4156177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33" name="Straight Connector 32"/>
              <p:cNvCxnSpPr>
                <a:stCxn id="31" idx="5"/>
                <a:endCxn id="32" idx="1"/>
              </p:cNvCxnSpPr>
              <p:nvPr/>
            </p:nvCxnSpPr>
            <p:spPr>
              <a:xfrm>
                <a:off x="4069609" y="4102346"/>
                <a:ext cx="92258" cy="7377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/>
              <p:cNvCxnSpPr>
                <a:stCxn id="31" idx="3"/>
                <a:endCxn id="30" idx="7"/>
              </p:cNvCxnSpPr>
              <p:nvPr/>
            </p:nvCxnSpPr>
            <p:spPr>
              <a:xfrm flipH="1">
                <a:off x="3865329" y="4102346"/>
                <a:ext cx="107981" cy="5383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4" name="Group 139"/>
            <p:cNvGrpSpPr/>
            <p:nvPr/>
          </p:nvGrpSpPr>
          <p:grpSpPr>
            <a:xfrm>
              <a:off x="1532315" y="3862685"/>
              <a:ext cx="500943" cy="593387"/>
              <a:chOff x="4219747" y="3817854"/>
              <a:chExt cx="500943" cy="593387"/>
            </a:xfrm>
          </p:grpSpPr>
          <p:sp>
            <p:nvSpPr>
              <p:cNvPr id="23" name="Oval 22"/>
              <p:cNvSpPr/>
              <p:nvPr/>
            </p:nvSpPr>
            <p:spPr>
              <a:xfrm>
                <a:off x="4395946" y="3817854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4" name="Oval 23"/>
              <p:cNvSpPr/>
              <p:nvPr/>
            </p:nvSpPr>
            <p:spPr>
              <a:xfrm>
                <a:off x="4564559" y="3986467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5" name="Oval 24"/>
              <p:cNvSpPr/>
              <p:nvPr/>
            </p:nvSpPr>
            <p:spPr>
              <a:xfrm>
                <a:off x="4584503" y="4275054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26" name="Oval 25"/>
              <p:cNvSpPr/>
              <p:nvPr/>
            </p:nvSpPr>
            <p:spPr>
              <a:xfrm>
                <a:off x="4219747" y="4004950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27" name="Straight Connector 26"/>
              <p:cNvCxnSpPr>
                <a:stCxn id="23" idx="5"/>
                <a:endCxn id="24" idx="1"/>
              </p:cNvCxnSpPr>
              <p:nvPr/>
            </p:nvCxnSpPr>
            <p:spPr>
              <a:xfrm>
                <a:off x="4512189" y="3934097"/>
                <a:ext cx="72314" cy="72314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/>
              <p:cNvCxnSpPr>
                <a:stCxn id="24" idx="4"/>
                <a:endCxn id="25" idx="0"/>
              </p:cNvCxnSpPr>
              <p:nvPr/>
            </p:nvCxnSpPr>
            <p:spPr>
              <a:xfrm>
                <a:off x="4632653" y="4122654"/>
                <a:ext cx="19944" cy="15240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>
                <a:stCxn id="23" idx="3"/>
                <a:endCxn id="26" idx="7"/>
              </p:cNvCxnSpPr>
              <p:nvPr/>
            </p:nvCxnSpPr>
            <p:spPr>
              <a:xfrm flipH="1">
                <a:off x="4335990" y="3934097"/>
                <a:ext cx="79900" cy="90797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" name="Group 33"/>
            <p:cNvGrpSpPr/>
            <p:nvPr/>
          </p:nvGrpSpPr>
          <p:grpSpPr>
            <a:xfrm>
              <a:off x="1707475" y="3866416"/>
              <a:ext cx="509080" cy="477144"/>
              <a:chOff x="1822313" y="1591445"/>
              <a:chExt cx="509080" cy="477144"/>
            </a:xfrm>
          </p:grpSpPr>
          <p:sp>
            <p:nvSpPr>
              <p:cNvPr id="16" name="Oval 15"/>
              <p:cNvSpPr/>
              <p:nvPr/>
            </p:nvSpPr>
            <p:spPr>
              <a:xfrm>
                <a:off x="1822313" y="1591445"/>
                <a:ext cx="136187" cy="136187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7" name="Oval 16"/>
              <p:cNvSpPr/>
              <p:nvPr/>
            </p:nvSpPr>
            <p:spPr>
              <a:xfrm>
                <a:off x="1990926" y="1760058"/>
                <a:ext cx="136187" cy="136187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8" name="Oval 17"/>
              <p:cNvSpPr/>
              <p:nvPr/>
            </p:nvSpPr>
            <p:spPr>
              <a:xfrm>
                <a:off x="2195206" y="1932402"/>
                <a:ext cx="136187" cy="136187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9" name="Oval 18"/>
              <p:cNvSpPr/>
              <p:nvPr/>
            </p:nvSpPr>
            <p:spPr>
              <a:xfrm>
                <a:off x="1822313" y="1932402"/>
                <a:ext cx="136187" cy="136187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20" name="Straight Connector 19"/>
              <p:cNvCxnSpPr>
                <a:stCxn id="16" idx="5"/>
                <a:endCxn id="17" idx="1"/>
              </p:cNvCxnSpPr>
              <p:nvPr/>
            </p:nvCxnSpPr>
            <p:spPr>
              <a:xfrm>
                <a:off x="1938556" y="1707688"/>
                <a:ext cx="72314" cy="72314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/>
              <p:cNvCxnSpPr>
                <a:stCxn id="17" idx="5"/>
                <a:endCxn id="18" idx="1"/>
              </p:cNvCxnSpPr>
              <p:nvPr/>
            </p:nvCxnSpPr>
            <p:spPr>
              <a:xfrm>
                <a:off x="2107169" y="1876301"/>
                <a:ext cx="107981" cy="7604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/>
              <p:cNvCxnSpPr>
                <a:stCxn id="17" idx="3"/>
                <a:endCxn id="19" idx="7"/>
              </p:cNvCxnSpPr>
              <p:nvPr/>
            </p:nvCxnSpPr>
            <p:spPr>
              <a:xfrm flipH="1">
                <a:off x="1938556" y="1876301"/>
                <a:ext cx="72314" cy="7604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TextBox 12"/>
            <p:cNvSpPr txBox="1"/>
            <p:nvPr/>
          </p:nvSpPr>
          <p:spPr>
            <a:xfrm>
              <a:off x="1548439" y="4456072"/>
              <a:ext cx="9968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800" dirty="0" smtClean="0"/>
                <a:t>water-quality.ttl</a:t>
              </a:r>
            </a:p>
          </p:txBody>
        </p:sp>
        <p:sp>
          <p:nvSpPr>
            <p:cNvPr id="14" name="Oval 13"/>
            <p:cNvSpPr/>
            <p:nvPr/>
          </p:nvSpPr>
          <p:spPr>
            <a:xfrm>
              <a:off x="1878047" y="3715123"/>
              <a:ext cx="136187" cy="13618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5" name="Straight Connector 14"/>
            <p:cNvCxnSpPr>
              <a:stCxn id="14" idx="3"/>
              <a:endCxn id="16" idx="7"/>
            </p:cNvCxnSpPr>
            <p:nvPr/>
          </p:nvCxnSpPr>
          <p:spPr>
            <a:xfrm flipH="1">
              <a:off x="1823718" y="3831366"/>
              <a:ext cx="74273" cy="54994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5" name="Straight Arrow Connector 34"/>
          <p:cNvCxnSpPr>
            <a:stCxn id="69" idx="0"/>
            <a:endCxn id="49" idx="4"/>
          </p:cNvCxnSpPr>
          <p:nvPr/>
        </p:nvCxnSpPr>
        <p:spPr>
          <a:xfrm flipH="1" flipV="1">
            <a:off x="4611325" y="2954004"/>
            <a:ext cx="337668" cy="951727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stCxn id="91" idx="1"/>
            <a:endCxn id="128" idx="5"/>
          </p:cNvCxnSpPr>
          <p:nvPr/>
        </p:nvCxnSpPr>
        <p:spPr>
          <a:xfrm flipH="1" flipV="1">
            <a:off x="1332252" y="3579922"/>
            <a:ext cx="1213753" cy="485362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6445644" y="2673900"/>
            <a:ext cx="1166439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800" i="1" dirty="0" smtClean="0">
                <a:latin typeface="+mn-lt"/>
              </a:rPr>
              <a:t>QUDT Concepts used:</a:t>
            </a:r>
            <a:endParaRPr lang="en-AU" sz="800" dirty="0" smtClean="0">
              <a:latin typeface="+mn-lt"/>
            </a:endParaRPr>
          </a:p>
          <a:p>
            <a:r>
              <a:rPr lang="en-AU" sz="800" dirty="0" err="1" smtClean="0">
                <a:latin typeface="+mn-lt"/>
              </a:rPr>
              <a:t>qudt:Unit</a:t>
            </a:r>
            <a:r>
              <a:rPr lang="en-AU" sz="800" dirty="0" smtClean="0">
                <a:latin typeface="+mn-lt"/>
              </a:rPr>
              <a:t> </a:t>
            </a:r>
          </a:p>
          <a:p>
            <a:r>
              <a:rPr lang="en-AU" sz="800" dirty="0" err="1" smtClean="0">
                <a:latin typeface="+mn-lt"/>
              </a:rPr>
              <a:t>qudt:QuantityKind</a:t>
            </a:r>
            <a:r>
              <a:rPr lang="en-AU" sz="800" dirty="0" smtClean="0">
                <a:latin typeface="+mn-lt"/>
              </a:rPr>
              <a:t> </a:t>
            </a:r>
          </a:p>
        </p:txBody>
      </p:sp>
      <p:grpSp>
        <p:nvGrpSpPr>
          <p:cNvPr id="8" name="Group 176"/>
          <p:cNvGrpSpPr/>
          <p:nvPr/>
        </p:nvGrpSpPr>
        <p:grpSpPr>
          <a:xfrm>
            <a:off x="7717091" y="2233822"/>
            <a:ext cx="1132612" cy="953311"/>
            <a:chOff x="3525351" y="3644270"/>
            <a:chExt cx="1132612" cy="953311"/>
          </a:xfrm>
        </p:grpSpPr>
        <p:grpSp>
          <p:nvGrpSpPr>
            <p:cNvPr id="10" name="Group 145"/>
            <p:cNvGrpSpPr/>
            <p:nvPr/>
          </p:nvGrpSpPr>
          <p:grpSpPr>
            <a:xfrm>
              <a:off x="3766678" y="3833384"/>
              <a:ext cx="529024" cy="306261"/>
              <a:chOff x="3749086" y="3986103"/>
              <a:chExt cx="529024" cy="306261"/>
            </a:xfrm>
          </p:grpSpPr>
          <p:sp>
            <p:nvSpPr>
              <p:cNvPr id="42" name="Oval 41"/>
              <p:cNvSpPr/>
              <p:nvPr/>
            </p:nvSpPr>
            <p:spPr>
              <a:xfrm>
                <a:off x="3749086" y="413623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rgbClr val="C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3" name="Oval 42"/>
              <p:cNvSpPr/>
              <p:nvPr/>
            </p:nvSpPr>
            <p:spPr>
              <a:xfrm>
                <a:off x="3953366" y="398610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rgbClr val="C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44" name="Oval 43"/>
              <p:cNvSpPr/>
              <p:nvPr/>
            </p:nvSpPr>
            <p:spPr>
              <a:xfrm>
                <a:off x="4141923" y="4156177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rgbClr val="C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45" name="Straight Connector 44"/>
              <p:cNvCxnSpPr>
                <a:stCxn id="43" idx="5"/>
                <a:endCxn id="44" idx="1"/>
              </p:cNvCxnSpPr>
              <p:nvPr/>
            </p:nvCxnSpPr>
            <p:spPr>
              <a:xfrm>
                <a:off x="4069609" y="4102346"/>
                <a:ext cx="92258" cy="73775"/>
              </a:xfrm>
              <a:prstGeom prst="line">
                <a:avLst/>
              </a:prstGeom>
              <a:ln w="12700">
                <a:solidFill>
                  <a:srgbClr val="C00000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Straight Connector 45"/>
              <p:cNvCxnSpPr>
                <a:stCxn id="43" idx="3"/>
                <a:endCxn id="42" idx="7"/>
              </p:cNvCxnSpPr>
              <p:nvPr/>
            </p:nvCxnSpPr>
            <p:spPr>
              <a:xfrm flipH="1">
                <a:off x="3865329" y="4102346"/>
                <a:ext cx="107981" cy="53831"/>
              </a:xfrm>
              <a:prstGeom prst="line">
                <a:avLst/>
              </a:prstGeom>
              <a:ln w="12700">
                <a:solidFill>
                  <a:srgbClr val="C00000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0" name="Oval 39"/>
            <p:cNvSpPr/>
            <p:nvPr/>
          </p:nvSpPr>
          <p:spPr>
            <a:xfrm>
              <a:off x="3525351" y="3644270"/>
              <a:ext cx="1011677" cy="95331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3661066" y="4161292"/>
              <a:ext cx="9968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800" dirty="0" smtClean="0"/>
                <a:t>qudt_owl.ttl</a:t>
              </a:r>
            </a:p>
          </p:txBody>
        </p:sp>
      </p:grpSp>
      <p:cxnSp>
        <p:nvCxnSpPr>
          <p:cNvPr id="47" name="Straight Arrow Connector 46"/>
          <p:cNvCxnSpPr>
            <a:stCxn id="40" idx="2"/>
            <a:endCxn id="61" idx="6"/>
          </p:cNvCxnSpPr>
          <p:nvPr/>
        </p:nvCxnSpPr>
        <p:spPr>
          <a:xfrm flipH="1" flipV="1">
            <a:off x="6833224" y="1981974"/>
            <a:ext cx="883867" cy="728504"/>
          </a:xfrm>
          <a:prstGeom prst="straightConnector1">
            <a:avLst/>
          </a:prstGeom>
          <a:ln w="9525">
            <a:solidFill>
              <a:schemeClr val="tx1"/>
            </a:solidFill>
            <a:prstDash val="dash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11" name="Group 198"/>
          <p:cNvGrpSpPr/>
          <p:nvPr/>
        </p:nvGrpSpPr>
        <p:grpSpPr>
          <a:xfrm>
            <a:off x="4105486" y="2000693"/>
            <a:ext cx="1132612" cy="953311"/>
            <a:chOff x="3765553" y="4668434"/>
            <a:chExt cx="1132612" cy="953311"/>
          </a:xfrm>
        </p:grpSpPr>
        <p:sp>
          <p:nvSpPr>
            <p:cNvPr id="49" name="Oval 48"/>
            <p:cNvSpPr/>
            <p:nvPr/>
          </p:nvSpPr>
          <p:spPr>
            <a:xfrm>
              <a:off x="3765553" y="4668434"/>
              <a:ext cx="1011677" cy="953311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901268" y="5185456"/>
              <a:ext cx="9968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800" dirty="0" smtClean="0"/>
                <a:t>qudt-skos.ttl</a:t>
              </a:r>
            </a:p>
          </p:txBody>
        </p:sp>
        <p:grpSp>
          <p:nvGrpSpPr>
            <p:cNvPr id="12" name="Group 145"/>
            <p:cNvGrpSpPr/>
            <p:nvPr/>
          </p:nvGrpSpPr>
          <p:grpSpPr>
            <a:xfrm>
              <a:off x="4006880" y="4857548"/>
              <a:ext cx="529024" cy="306261"/>
              <a:chOff x="3749086" y="3986103"/>
              <a:chExt cx="529024" cy="306261"/>
            </a:xfrm>
            <a:solidFill>
              <a:schemeClr val="bg1">
                <a:lumMod val="90000"/>
              </a:schemeClr>
            </a:solidFill>
          </p:grpSpPr>
          <p:sp>
            <p:nvSpPr>
              <p:cNvPr id="52" name="Oval 51"/>
              <p:cNvSpPr/>
              <p:nvPr/>
            </p:nvSpPr>
            <p:spPr>
              <a:xfrm>
                <a:off x="3749086" y="413623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3" name="Oval 52"/>
              <p:cNvSpPr/>
              <p:nvPr/>
            </p:nvSpPr>
            <p:spPr>
              <a:xfrm>
                <a:off x="3953366" y="398610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54" name="Oval 53"/>
              <p:cNvSpPr/>
              <p:nvPr/>
            </p:nvSpPr>
            <p:spPr>
              <a:xfrm>
                <a:off x="4141923" y="4156177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55" name="Straight Connector 54"/>
              <p:cNvCxnSpPr>
                <a:stCxn id="53" idx="5"/>
                <a:endCxn id="54" idx="1"/>
              </p:cNvCxnSpPr>
              <p:nvPr/>
            </p:nvCxnSpPr>
            <p:spPr>
              <a:xfrm>
                <a:off x="4069609" y="4102346"/>
                <a:ext cx="92258" cy="73775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Connector 55"/>
              <p:cNvCxnSpPr>
                <a:stCxn id="53" idx="3"/>
                <a:endCxn id="52" idx="7"/>
              </p:cNvCxnSpPr>
              <p:nvPr/>
            </p:nvCxnSpPr>
            <p:spPr>
              <a:xfrm flipH="1">
                <a:off x="3865329" y="4102346"/>
                <a:ext cx="107981" cy="5383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57" name="Straight Arrow Connector 56"/>
          <p:cNvCxnSpPr>
            <a:stCxn id="40" idx="3"/>
            <a:endCxn id="76" idx="7"/>
          </p:cNvCxnSpPr>
          <p:nvPr/>
        </p:nvCxnSpPr>
        <p:spPr>
          <a:xfrm flipH="1">
            <a:off x="7224652" y="3047524"/>
            <a:ext cx="640596" cy="1017760"/>
          </a:xfrm>
          <a:prstGeom prst="straightConnector1">
            <a:avLst/>
          </a:prstGeom>
          <a:ln w="9525">
            <a:solidFill>
              <a:schemeClr val="tx1"/>
            </a:solidFill>
            <a:prstDash val="dashDot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092621" y="1645731"/>
            <a:ext cx="188865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remove </a:t>
            </a:r>
            <a:r>
              <a:rPr lang="en-AU" sz="1000" dirty="0" err="1" smtClean="0"/>
              <a:t>skos:sematicRelation</a:t>
            </a:r>
            <a:r>
              <a:rPr lang="en-AU" sz="1000" dirty="0" smtClean="0"/>
              <a:t> </a:t>
            </a:r>
          </a:p>
          <a:p>
            <a:r>
              <a:rPr lang="en-AU" sz="1000" dirty="0" smtClean="0"/>
              <a:t>properties</a:t>
            </a:r>
          </a:p>
        </p:txBody>
      </p:sp>
      <p:grpSp>
        <p:nvGrpSpPr>
          <p:cNvPr id="38" name="Group 176"/>
          <p:cNvGrpSpPr/>
          <p:nvPr/>
        </p:nvGrpSpPr>
        <p:grpSpPr>
          <a:xfrm>
            <a:off x="5821547" y="1505318"/>
            <a:ext cx="1079170" cy="953311"/>
            <a:chOff x="3525351" y="3644270"/>
            <a:chExt cx="1079170" cy="953311"/>
          </a:xfrm>
        </p:grpSpPr>
        <p:grpSp>
          <p:nvGrpSpPr>
            <p:cNvPr id="39" name="Group 145"/>
            <p:cNvGrpSpPr/>
            <p:nvPr/>
          </p:nvGrpSpPr>
          <p:grpSpPr>
            <a:xfrm>
              <a:off x="3766678" y="3833384"/>
              <a:ext cx="529024" cy="306261"/>
              <a:chOff x="3749086" y="3986103"/>
              <a:chExt cx="529024" cy="306261"/>
            </a:xfrm>
          </p:grpSpPr>
          <p:sp>
            <p:nvSpPr>
              <p:cNvPr id="63" name="Oval 62"/>
              <p:cNvSpPr/>
              <p:nvPr/>
            </p:nvSpPr>
            <p:spPr>
              <a:xfrm>
                <a:off x="3749086" y="413623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rgbClr val="C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4" name="Oval 63"/>
              <p:cNvSpPr/>
              <p:nvPr/>
            </p:nvSpPr>
            <p:spPr>
              <a:xfrm>
                <a:off x="3953366" y="398610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rgbClr val="C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65" name="Oval 64"/>
              <p:cNvSpPr/>
              <p:nvPr/>
            </p:nvSpPr>
            <p:spPr>
              <a:xfrm>
                <a:off x="4141923" y="4156177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rgbClr val="C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66" name="Straight Connector 65"/>
              <p:cNvCxnSpPr>
                <a:stCxn id="64" idx="5"/>
                <a:endCxn id="65" idx="1"/>
              </p:cNvCxnSpPr>
              <p:nvPr/>
            </p:nvCxnSpPr>
            <p:spPr>
              <a:xfrm>
                <a:off x="4069609" y="4102346"/>
                <a:ext cx="92258" cy="73775"/>
              </a:xfrm>
              <a:prstGeom prst="line">
                <a:avLst/>
              </a:prstGeom>
              <a:ln w="12700">
                <a:solidFill>
                  <a:srgbClr val="C00000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>
                <a:stCxn id="64" idx="3"/>
                <a:endCxn id="63" idx="7"/>
              </p:cNvCxnSpPr>
              <p:nvPr/>
            </p:nvCxnSpPr>
            <p:spPr>
              <a:xfrm flipH="1">
                <a:off x="3865329" y="4102346"/>
                <a:ext cx="107981" cy="53831"/>
              </a:xfrm>
              <a:prstGeom prst="line">
                <a:avLst/>
              </a:prstGeom>
              <a:ln w="12700">
                <a:solidFill>
                  <a:srgbClr val="C00000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1" name="Oval 60"/>
            <p:cNvSpPr/>
            <p:nvPr/>
          </p:nvSpPr>
          <p:spPr>
            <a:xfrm>
              <a:off x="3525351" y="3644270"/>
              <a:ext cx="1011677" cy="953311"/>
            </a:xfrm>
            <a:prstGeom prst="ellipse">
              <a:avLst/>
            </a:prstGeom>
            <a:noFill/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3607624" y="4161292"/>
              <a:ext cx="9968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800" dirty="0" smtClean="0"/>
                <a:t>qudt-owl-clean.ttl</a:t>
              </a:r>
            </a:p>
          </p:txBody>
        </p:sp>
      </p:grpSp>
      <p:grpSp>
        <p:nvGrpSpPr>
          <p:cNvPr id="48" name="Group 67"/>
          <p:cNvGrpSpPr/>
          <p:nvPr/>
        </p:nvGrpSpPr>
        <p:grpSpPr>
          <a:xfrm>
            <a:off x="4443154" y="3905731"/>
            <a:ext cx="1036983" cy="953311"/>
            <a:chOff x="4535904" y="2010202"/>
            <a:chExt cx="1036983" cy="953311"/>
          </a:xfrm>
        </p:grpSpPr>
        <p:sp>
          <p:nvSpPr>
            <p:cNvPr id="69" name="Oval 68"/>
            <p:cNvSpPr/>
            <p:nvPr/>
          </p:nvSpPr>
          <p:spPr>
            <a:xfrm>
              <a:off x="4535904" y="2010202"/>
              <a:ext cx="1011677" cy="95331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0" name="Oval 69"/>
            <p:cNvSpPr/>
            <p:nvPr/>
          </p:nvSpPr>
          <p:spPr>
            <a:xfrm>
              <a:off x="4830071" y="2184330"/>
              <a:ext cx="136187" cy="1361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1" name="Oval 70"/>
            <p:cNvSpPr/>
            <p:nvPr/>
          </p:nvSpPr>
          <p:spPr>
            <a:xfrm>
              <a:off x="5131206" y="2186484"/>
              <a:ext cx="136187" cy="136187"/>
            </a:xfrm>
            <a:prstGeom prst="ellipse">
              <a:avLst/>
            </a:prstGeom>
            <a:solidFill>
              <a:srgbClr val="2A754A"/>
            </a:solidFill>
            <a:ln w="127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72" name="Straight Connector 71"/>
            <p:cNvCxnSpPr>
              <a:stCxn id="71" idx="2"/>
              <a:endCxn id="70" idx="6"/>
            </p:cNvCxnSpPr>
            <p:nvPr/>
          </p:nvCxnSpPr>
          <p:spPr>
            <a:xfrm flipH="1" flipV="1">
              <a:off x="4966258" y="2252424"/>
              <a:ext cx="164948" cy="2154"/>
            </a:xfrm>
            <a:prstGeom prst="line">
              <a:avLst/>
            </a:prstGeom>
            <a:ln w="12700">
              <a:solidFill>
                <a:srgbClr val="C00000"/>
              </a:solidFill>
              <a:prstDash val="sysDot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3" name="TextBox 72"/>
            <p:cNvSpPr txBox="1"/>
            <p:nvPr/>
          </p:nvSpPr>
          <p:spPr>
            <a:xfrm>
              <a:off x="4640445" y="2466914"/>
              <a:ext cx="9324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800" dirty="0" smtClean="0"/>
                <a:t>qudt-dbpedia-annotations.rdf</a:t>
              </a:r>
            </a:p>
          </p:txBody>
        </p:sp>
      </p:grpSp>
      <p:sp>
        <p:nvSpPr>
          <p:cNvPr id="74" name="TextBox 73"/>
          <p:cNvSpPr txBox="1"/>
          <p:nvPr/>
        </p:nvSpPr>
        <p:spPr>
          <a:xfrm>
            <a:off x="7390623" y="3709328"/>
            <a:ext cx="18870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export </a:t>
            </a:r>
            <a:r>
              <a:rPr lang="en-AU" sz="1000" dirty="0" err="1" smtClean="0"/>
              <a:t>skos:semanticRelation</a:t>
            </a:r>
            <a:r>
              <a:rPr lang="en-AU" sz="1000" dirty="0" smtClean="0"/>
              <a:t> </a:t>
            </a:r>
          </a:p>
          <a:p>
            <a:r>
              <a:rPr lang="en-AU" sz="1000" dirty="0" smtClean="0"/>
              <a:t>properties</a:t>
            </a:r>
          </a:p>
        </p:txBody>
      </p:sp>
      <p:grpSp>
        <p:nvGrpSpPr>
          <p:cNvPr id="51" name="Group 74"/>
          <p:cNvGrpSpPr/>
          <p:nvPr/>
        </p:nvGrpSpPr>
        <p:grpSpPr>
          <a:xfrm>
            <a:off x="6361132" y="3925675"/>
            <a:ext cx="1029491" cy="953311"/>
            <a:chOff x="4535904" y="2010202"/>
            <a:chExt cx="1029491" cy="953311"/>
          </a:xfrm>
        </p:grpSpPr>
        <p:sp>
          <p:nvSpPr>
            <p:cNvPr id="76" name="Oval 75"/>
            <p:cNvSpPr/>
            <p:nvPr/>
          </p:nvSpPr>
          <p:spPr>
            <a:xfrm>
              <a:off x="4535904" y="2010202"/>
              <a:ext cx="1011677" cy="953311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7" name="Oval 76"/>
            <p:cNvSpPr/>
            <p:nvPr/>
          </p:nvSpPr>
          <p:spPr>
            <a:xfrm>
              <a:off x="4830071" y="2184330"/>
              <a:ext cx="136187" cy="136187"/>
            </a:xfrm>
            <a:prstGeom prst="ellipse">
              <a:avLst/>
            </a:prstGeom>
            <a:solidFill>
              <a:schemeClr val="bg1"/>
            </a:solidFill>
            <a:ln w="127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78" name="Oval 77"/>
            <p:cNvSpPr/>
            <p:nvPr/>
          </p:nvSpPr>
          <p:spPr>
            <a:xfrm>
              <a:off x="5131206" y="2186484"/>
              <a:ext cx="136187" cy="136187"/>
            </a:xfrm>
            <a:prstGeom prst="ellipse">
              <a:avLst/>
            </a:prstGeom>
            <a:solidFill>
              <a:srgbClr val="2A754A"/>
            </a:solidFill>
            <a:ln w="12700">
              <a:solidFill>
                <a:srgbClr val="C0000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79" name="Straight Connector 78"/>
            <p:cNvCxnSpPr>
              <a:stCxn id="78" idx="2"/>
              <a:endCxn id="77" idx="6"/>
            </p:cNvCxnSpPr>
            <p:nvPr/>
          </p:nvCxnSpPr>
          <p:spPr>
            <a:xfrm flipH="1" flipV="1">
              <a:off x="4966258" y="2252424"/>
              <a:ext cx="164948" cy="2154"/>
            </a:xfrm>
            <a:prstGeom prst="line">
              <a:avLst/>
            </a:prstGeom>
            <a:ln w="12700">
              <a:solidFill>
                <a:srgbClr val="C00000"/>
              </a:solidFill>
              <a:prstDash val="sysDot"/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80" name="TextBox 79"/>
            <p:cNvSpPr txBox="1"/>
            <p:nvPr/>
          </p:nvSpPr>
          <p:spPr>
            <a:xfrm>
              <a:off x="4632953" y="2510557"/>
              <a:ext cx="93244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800" dirty="0" smtClean="0"/>
                <a:t>qudt-skos-properties.rdf</a:t>
              </a:r>
            </a:p>
          </p:txBody>
        </p:sp>
      </p:grpSp>
      <p:cxnSp>
        <p:nvCxnSpPr>
          <p:cNvPr id="81" name="Straight Arrow Connector 80"/>
          <p:cNvCxnSpPr>
            <a:stCxn id="76" idx="2"/>
            <a:endCxn id="69" idx="6"/>
          </p:cNvCxnSpPr>
          <p:nvPr/>
        </p:nvCxnSpPr>
        <p:spPr>
          <a:xfrm flipH="1" flipV="1">
            <a:off x="5454831" y="4382387"/>
            <a:ext cx="906301" cy="19944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2" name="TextBox 81"/>
          <p:cNvSpPr txBox="1"/>
          <p:nvPr/>
        </p:nvSpPr>
        <p:spPr>
          <a:xfrm>
            <a:off x="5054704" y="4963138"/>
            <a:ext cx="22333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convert </a:t>
            </a:r>
            <a:r>
              <a:rPr lang="en-AU" sz="1000" dirty="0" err="1" smtClean="0"/>
              <a:t>skos:semanticRelation</a:t>
            </a:r>
            <a:r>
              <a:rPr lang="en-AU" sz="1000" dirty="0" smtClean="0"/>
              <a:t> </a:t>
            </a:r>
          </a:p>
          <a:p>
            <a:r>
              <a:rPr lang="en-AU" sz="1000" dirty="0" smtClean="0"/>
              <a:t>properties to </a:t>
            </a:r>
            <a:r>
              <a:rPr lang="en-AU" sz="1000" dirty="0" err="1" smtClean="0"/>
              <a:t>rdfs:seeAlso</a:t>
            </a:r>
            <a:r>
              <a:rPr lang="en-AU" sz="1000" dirty="0" smtClean="0"/>
              <a:t> properties</a:t>
            </a:r>
          </a:p>
        </p:txBody>
      </p:sp>
      <p:cxnSp>
        <p:nvCxnSpPr>
          <p:cNvPr id="83" name="Straight Arrow Connector 82"/>
          <p:cNvCxnSpPr>
            <a:stCxn id="61" idx="2"/>
            <a:endCxn id="49" idx="7"/>
          </p:cNvCxnSpPr>
          <p:nvPr/>
        </p:nvCxnSpPr>
        <p:spPr>
          <a:xfrm flipH="1">
            <a:off x="4969006" y="1981974"/>
            <a:ext cx="852541" cy="158328"/>
          </a:xfrm>
          <a:prstGeom prst="straightConnector1">
            <a:avLst/>
          </a:prstGeom>
          <a:ln w="9525">
            <a:solidFill>
              <a:schemeClr val="tx1"/>
            </a:solidFill>
            <a:prstDash val="dash"/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TextBox 83"/>
          <p:cNvSpPr txBox="1"/>
          <p:nvPr/>
        </p:nvSpPr>
        <p:spPr>
          <a:xfrm>
            <a:off x="3870472" y="888312"/>
            <a:ext cx="2308645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Add </a:t>
            </a:r>
            <a:r>
              <a:rPr lang="en-AU" sz="1000" dirty="0" err="1" smtClean="0"/>
              <a:t>rdfs:subClassOf</a:t>
            </a:r>
            <a:r>
              <a:rPr lang="en-AU" sz="1000" dirty="0" smtClean="0"/>
              <a:t> = </a:t>
            </a:r>
            <a:r>
              <a:rPr lang="en-AU" sz="1000" dirty="0" err="1" smtClean="0"/>
              <a:t>skos:Concept</a:t>
            </a:r>
            <a:r>
              <a:rPr lang="en-AU" sz="1000" dirty="0" smtClean="0"/>
              <a:t> </a:t>
            </a:r>
          </a:p>
          <a:p>
            <a:r>
              <a:rPr lang="en-AU" sz="1000" dirty="0" smtClean="0"/>
              <a:t>for </a:t>
            </a:r>
            <a:r>
              <a:rPr lang="en-AU" sz="1000" dirty="0" err="1" smtClean="0"/>
              <a:t>qudt:QuantityKind</a:t>
            </a:r>
            <a:r>
              <a:rPr lang="en-AU" sz="1000" dirty="0" smtClean="0"/>
              <a:t>, and </a:t>
            </a:r>
            <a:r>
              <a:rPr lang="en-AU" sz="1000" dirty="0" err="1" smtClean="0"/>
              <a:t>qudt:Unit</a:t>
            </a:r>
            <a:endParaRPr lang="en-AU" sz="1000" dirty="0" smtClean="0"/>
          </a:p>
          <a:p>
            <a:endParaRPr lang="en-AU" sz="1000" dirty="0" smtClean="0"/>
          </a:p>
          <a:p>
            <a:r>
              <a:rPr lang="en-AU" sz="1000" dirty="0" smtClean="0"/>
              <a:t>Add </a:t>
            </a:r>
            <a:r>
              <a:rPr lang="en-AU" sz="1000" dirty="0" err="1" smtClean="0"/>
              <a:t>rdfs:subPropertyOf</a:t>
            </a:r>
            <a:r>
              <a:rPr lang="en-AU" sz="1000" dirty="0" smtClean="0"/>
              <a:t>  </a:t>
            </a:r>
          </a:p>
          <a:p>
            <a:r>
              <a:rPr lang="en-AU" sz="1000" dirty="0" err="1" smtClean="0"/>
              <a:t>skos:semanticRelation</a:t>
            </a:r>
            <a:r>
              <a:rPr lang="en-AU" sz="1000" dirty="0" smtClean="0"/>
              <a:t> for:</a:t>
            </a:r>
          </a:p>
          <a:p>
            <a:r>
              <a:rPr lang="en-AU" sz="1000" dirty="0" err="1" smtClean="0"/>
              <a:t>qudt:quantityKind</a:t>
            </a:r>
            <a:r>
              <a:rPr lang="en-AU" sz="1000" dirty="0" smtClean="0"/>
              <a:t> and </a:t>
            </a:r>
            <a:r>
              <a:rPr lang="en-AU" sz="1000" dirty="0" err="1" smtClean="0"/>
              <a:t>qudt:unit</a:t>
            </a:r>
            <a:endParaRPr lang="en-AU" sz="1000" dirty="0" smtClean="0"/>
          </a:p>
        </p:txBody>
      </p:sp>
      <p:sp>
        <p:nvSpPr>
          <p:cNvPr id="85" name="TextBox 84"/>
          <p:cNvSpPr txBox="1"/>
          <p:nvPr/>
        </p:nvSpPr>
        <p:spPr>
          <a:xfrm>
            <a:off x="4693930" y="3117800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" i="1" dirty="0" smtClean="0"/>
              <a:t>imports </a:t>
            </a:r>
          </a:p>
          <a:p>
            <a:r>
              <a:rPr lang="en-AU" sz="800" i="1" dirty="0" smtClean="0"/>
              <a:t>into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2007706" y="3339996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" i="1" dirty="0" smtClean="0"/>
              <a:t>imports </a:t>
            </a:r>
          </a:p>
          <a:p>
            <a:r>
              <a:rPr lang="en-AU" sz="800" i="1" dirty="0" smtClean="0"/>
              <a:t>into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2344810" y="1547819"/>
            <a:ext cx="10647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Add Unit (</a:t>
            </a:r>
            <a:r>
              <a:rPr lang="en-AU" sz="1000" dirty="0" err="1" smtClean="0"/>
              <a:t>wqu</a:t>
            </a:r>
            <a:r>
              <a:rPr lang="en-AU" sz="1000" dirty="0" smtClean="0"/>
              <a:t>)</a:t>
            </a:r>
          </a:p>
          <a:p>
            <a:r>
              <a:rPr lang="en-AU" sz="1000" dirty="0" smtClean="0"/>
              <a:t>instances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5263392" y="3509273"/>
            <a:ext cx="1166439" cy="461665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AU" sz="800" i="1" dirty="0" smtClean="0">
                <a:latin typeface="+mn-lt"/>
              </a:rPr>
              <a:t>Removes semantic content resulting from links to </a:t>
            </a:r>
            <a:r>
              <a:rPr lang="en-AU" sz="800" i="1" dirty="0" err="1" smtClean="0">
                <a:latin typeface="+mn-lt"/>
              </a:rPr>
              <a:t>dbpedia</a:t>
            </a:r>
            <a:endParaRPr lang="en-AU" sz="800" dirty="0" smtClean="0">
              <a:latin typeface="+mn-lt"/>
            </a:endParaRPr>
          </a:p>
        </p:txBody>
      </p:sp>
      <p:cxnSp>
        <p:nvCxnSpPr>
          <p:cNvPr id="89" name="Straight Connector 88"/>
          <p:cNvCxnSpPr>
            <a:endCxn id="88" idx="2"/>
          </p:cNvCxnSpPr>
          <p:nvPr/>
        </p:nvCxnSpPr>
        <p:spPr>
          <a:xfrm flipV="1">
            <a:off x="5846612" y="3970938"/>
            <a:ext cx="0" cy="455092"/>
          </a:xfrm>
          <a:prstGeom prst="line">
            <a:avLst/>
          </a:prstGeom>
          <a:ln w="9525">
            <a:solidFill>
              <a:schemeClr val="tx2">
                <a:lumMod val="40000"/>
                <a:lumOff val="60000"/>
              </a:schemeClr>
            </a:solidFill>
            <a:tailEnd type="none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9" name="Group 198"/>
          <p:cNvGrpSpPr/>
          <p:nvPr/>
        </p:nvGrpSpPr>
        <p:grpSpPr>
          <a:xfrm>
            <a:off x="2397848" y="3925675"/>
            <a:ext cx="1119012" cy="953311"/>
            <a:chOff x="3765553" y="4668434"/>
            <a:chExt cx="1119012" cy="953311"/>
          </a:xfrm>
        </p:grpSpPr>
        <p:sp>
          <p:nvSpPr>
            <p:cNvPr id="91" name="Oval 90"/>
            <p:cNvSpPr/>
            <p:nvPr/>
          </p:nvSpPr>
          <p:spPr>
            <a:xfrm>
              <a:off x="3765553" y="4668434"/>
              <a:ext cx="1011677" cy="953311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92" name="TextBox 91"/>
            <p:cNvSpPr txBox="1"/>
            <p:nvPr/>
          </p:nvSpPr>
          <p:spPr>
            <a:xfrm>
              <a:off x="3765766" y="5161704"/>
              <a:ext cx="11187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800" dirty="0" smtClean="0"/>
                <a:t>wq-quantity_kind.ttl</a:t>
              </a:r>
            </a:p>
          </p:txBody>
        </p:sp>
        <p:grpSp>
          <p:nvGrpSpPr>
            <p:cNvPr id="60" name="Group 145"/>
            <p:cNvGrpSpPr/>
            <p:nvPr/>
          </p:nvGrpSpPr>
          <p:grpSpPr>
            <a:xfrm>
              <a:off x="4211160" y="4857548"/>
              <a:ext cx="324744" cy="306261"/>
              <a:chOff x="3953366" y="3986103"/>
              <a:chExt cx="324744" cy="306261"/>
            </a:xfrm>
            <a:solidFill>
              <a:schemeClr val="bg1">
                <a:lumMod val="90000"/>
              </a:schemeClr>
            </a:solidFill>
          </p:grpSpPr>
          <p:sp>
            <p:nvSpPr>
              <p:cNvPr id="94" name="Oval 93"/>
              <p:cNvSpPr/>
              <p:nvPr/>
            </p:nvSpPr>
            <p:spPr>
              <a:xfrm>
                <a:off x="3953366" y="398610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4141923" y="4156177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96" name="Straight Connector 95"/>
              <p:cNvCxnSpPr>
                <a:stCxn id="94" idx="5"/>
                <a:endCxn id="95" idx="1"/>
              </p:cNvCxnSpPr>
              <p:nvPr/>
            </p:nvCxnSpPr>
            <p:spPr>
              <a:xfrm>
                <a:off x="4069609" y="4102346"/>
                <a:ext cx="92258" cy="73775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97" name="Straight Arrow Connector 96"/>
          <p:cNvCxnSpPr>
            <a:stCxn id="49" idx="3"/>
            <a:endCxn id="91" idx="7"/>
          </p:cNvCxnSpPr>
          <p:nvPr/>
        </p:nvCxnSpPr>
        <p:spPr>
          <a:xfrm flipH="1">
            <a:off x="3261368" y="2814395"/>
            <a:ext cx="992275" cy="1250889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/>
          <p:cNvCxnSpPr>
            <a:stCxn id="128" idx="0"/>
            <a:endCxn id="9" idx="4"/>
          </p:cNvCxnSpPr>
          <p:nvPr/>
        </p:nvCxnSpPr>
        <p:spPr>
          <a:xfrm flipV="1">
            <a:off x="914425" y="2022340"/>
            <a:ext cx="224705" cy="614572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68" name="Group 198"/>
          <p:cNvGrpSpPr/>
          <p:nvPr/>
        </p:nvGrpSpPr>
        <p:grpSpPr>
          <a:xfrm>
            <a:off x="2360010" y="1981974"/>
            <a:ext cx="1239263" cy="953311"/>
            <a:chOff x="3765553" y="4668434"/>
            <a:chExt cx="1239263" cy="953311"/>
          </a:xfrm>
        </p:grpSpPr>
        <p:sp>
          <p:nvSpPr>
            <p:cNvPr id="112" name="Oval 111"/>
            <p:cNvSpPr/>
            <p:nvPr/>
          </p:nvSpPr>
          <p:spPr>
            <a:xfrm>
              <a:off x="3765553" y="4668434"/>
              <a:ext cx="1011677" cy="953311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3886017" y="5180443"/>
              <a:ext cx="1118799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800" dirty="0" smtClean="0"/>
                <a:t>wq-unit.ttl</a:t>
              </a:r>
            </a:p>
          </p:txBody>
        </p:sp>
        <p:grpSp>
          <p:nvGrpSpPr>
            <p:cNvPr id="75" name="Group 145"/>
            <p:cNvGrpSpPr/>
            <p:nvPr/>
          </p:nvGrpSpPr>
          <p:grpSpPr>
            <a:xfrm>
              <a:off x="4006880" y="4857548"/>
              <a:ext cx="340467" cy="286317"/>
              <a:chOff x="3749086" y="3986103"/>
              <a:chExt cx="340467" cy="286317"/>
            </a:xfrm>
            <a:solidFill>
              <a:schemeClr val="bg1">
                <a:lumMod val="90000"/>
              </a:schemeClr>
            </a:solidFill>
          </p:grpSpPr>
          <p:sp>
            <p:nvSpPr>
              <p:cNvPr id="115" name="Oval 114"/>
              <p:cNvSpPr/>
              <p:nvPr/>
            </p:nvSpPr>
            <p:spPr>
              <a:xfrm>
                <a:off x="3749086" y="413623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16" name="Oval 115"/>
              <p:cNvSpPr/>
              <p:nvPr/>
            </p:nvSpPr>
            <p:spPr>
              <a:xfrm>
                <a:off x="3953366" y="398610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17" name="Straight Connector 116"/>
              <p:cNvCxnSpPr>
                <a:stCxn id="116" idx="3"/>
                <a:endCxn id="115" idx="7"/>
              </p:cNvCxnSpPr>
              <p:nvPr/>
            </p:nvCxnSpPr>
            <p:spPr>
              <a:xfrm flipH="1">
                <a:off x="3865329" y="4102346"/>
                <a:ext cx="107981" cy="53831"/>
              </a:xfrm>
              <a:prstGeom prst="line">
                <a:avLst/>
              </a:prstGeom>
              <a:grpFill/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8" name="TextBox 117"/>
          <p:cNvSpPr txBox="1"/>
          <p:nvPr/>
        </p:nvSpPr>
        <p:spPr>
          <a:xfrm>
            <a:off x="2269624" y="4915634"/>
            <a:ext cx="15247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Add </a:t>
            </a:r>
            <a:r>
              <a:rPr lang="en-AU" sz="1000" dirty="0" err="1" smtClean="0"/>
              <a:t>QuantityKind</a:t>
            </a:r>
            <a:r>
              <a:rPr lang="en-AU" sz="1000" dirty="0" smtClean="0"/>
              <a:t> (</a:t>
            </a:r>
            <a:r>
              <a:rPr lang="en-AU" sz="1000" dirty="0" err="1" smtClean="0"/>
              <a:t>wqk</a:t>
            </a:r>
            <a:r>
              <a:rPr lang="en-AU" sz="1000" dirty="0" smtClean="0"/>
              <a:t>)</a:t>
            </a:r>
          </a:p>
          <a:p>
            <a:r>
              <a:rPr lang="en-AU" sz="1000" dirty="0" smtClean="0"/>
              <a:t>instances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79512" y="4005064"/>
            <a:ext cx="211788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Add water quality </a:t>
            </a:r>
          </a:p>
          <a:p>
            <a:r>
              <a:rPr lang="en-AU" sz="1000" dirty="0" err="1" smtClean="0"/>
              <a:t>ObservedProperty</a:t>
            </a:r>
            <a:r>
              <a:rPr lang="en-AU" sz="1000" dirty="0" smtClean="0"/>
              <a:t> (</a:t>
            </a:r>
            <a:r>
              <a:rPr lang="en-AU" sz="1000" dirty="0" err="1" smtClean="0"/>
              <a:t>wqi</a:t>
            </a:r>
            <a:r>
              <a:rPr lang="en-AU" sz="1000" dirty="0" smtClean="0"/>
              <a:t>), </a:t>
            </a:r>
          </a:p>
          <a:p>
            <a:r>
              <a:rPr lang="en-AU" sz="1000" dirty="0" smtClean="0"/>
              <a:t>Add </a:t>
            </a:r>
            <a:r>
              <a:rPr lang="en-AU" sz="1000" dirty="0" err="1" smtClean="0"/>
              <a:t>wqp:objectOfInterest</a:t>
            </a:r>
            <a:r>
              <a:rPr lang="en-AU" sz="1000" dirty="0" smtClean="0"/>
              <a:t> property</a:t>
            </a:r>
          </a:p>
        </p:txBody>
      </p:sp>
      <p:sp>
        <p:nvSpPr>
          <p:cNvPr id="120" name="TextBox 119"/>
          <p:cNvSpPr txBox="1"/>
          <p:nvPr/>
        </p:nvSpPr>
        <p:spPr>
          <a:xfrm>
            <a:off x="568129" y="2141107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" i="1" dirty="0" smtClean="0"/>
              <a:t>imports </a:t>
            </a:r>
          </a:p>
          <a:p>
            <a:r>
              <a:rPr lang="en-AU" sz="800" i="1" dirty="0" smtClean="0"/>
              <a:t>into</a:t>
            </a:r>
          </a:p>
        </p:txBody>
      </p:sp>
      <p:cxnSp>
        <p:nvCxnSpPr>
          <p:cNvPr id="121" name="Straight Arrow Connector 120"/>
          <p:cNvCxnSpPr>
            <a:stCxn id="49" idx="2"/>
            <a:endCxn id="112" idx="6"/>
          </p:cNvCxnSpPr>
          <p:nvPr/>
        </p:nvCxnSpPr>
        <p:spPr>
          <a:xfrm flipH="1" flipV="1">
            <a:off x="3371687" y="2458630"/>
            <a:ext cx="733799" cy="18719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Straight Arrow Connector 121"/>
          <p:cNvCxnSpPr>
            <a:stCxn id="112" idx="2"/>
            <a:endCxn id="128" idx="7"/>
          </p:cNvCxnSpPr>
          <p:nvPr/>
        </p:nvCxnSpPr>
        <p:spPr>
          <a:xfrm flipH="1">
            <a:off x="1332252" y="2458630"/>
            <a:ext cx="1027758" cy="340077"/>
          </a:xfrm>
          <a:prstGeom prst="straightConnector1">
            <a:avLst/>
          </a:prstGeom>
          <a:ln w="9525">
            <a:solidFill>
              <a:schemeClr val="tx1"/>
            </a:solidFill>
            <a:tailEnd type="arrow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1732630" y="2679471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" i="1" dirty="0" smtClean="0"/>
              <a:t>imports </a:t>
            </a:r>
          </a:p>
          <a:p>
            <a:r>
              <a:rPr lang="en-AU" sz="800" i="1" dirty="0" smtClean="0"/>
              <a:t>into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3465567" y="2084382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" i="1" dirty="0" smtClean="0"/>
              <a:t>imports </a:t>
            </a:r>
          </a:p>
          <a:p>
            <a:r>
              <a:rPr lang="en-AU" sz="800" i="1" dirty="0" smtClean="0"/>
              <a:t>into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261368" y="3047524"/>
            <a:ext cx="55015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" i="1" dirty="0" smtClean="0"/>
              <a:t>imports </a:t>
            </a:r>
          </a:p>
          <a:p>
            <a:r>
              <a:rPr lang="en-AU" sz="800" i="1" dirty="0" smtClean="0"/>
              <a:t>into</a:t>
            </a:r>
          </a:p>
        </p:txBody>
      </p:sp>
      <p:grpSp>
        <p:nvGrpSpPr>
          <p:cNvPr id="90" name="Group 197"/>
          <p:cNvGrpSpPr/>
          <p:nvPr/>
        </p:nvGrpSpPr>
        <p:grpSpPr>
          <a:xfrm>
            <a:off x="323528" y="2636912"/>
            <a:ext cx="1181794" cy="1104805"/>
            <a:chOff x="1389214" y="3644270"/>
            <a:chExt cx="1181794" cy="1104805"/>
          </a:xfrm>
        </p:grpSpPr>
        <p:sp>
          <p:nvSpPr>
            <p:cNvPr id="128" name="Oval 127"/>
            <p:cNvSpPr/>
            <p:nvPr/>
          </p:nvSpPr>
          <p:spPr>
            <a:xfrm>
              <a:off x="1389214" y="3644270"/>
              <a:ext cx="1181794" cy="1104805"/>
            </a:xfrm>
            <a:prstGeom prst="ellipse">
              <a:avLst/>
            </a:prstGeom>
            <a:solidFill>
              <a:schemeClr val="bg1">
                <a:lumMod val="90000"/>
              </a:schemeClr>
            </a:solidFill>
            <a:ln w="19050">
              <a:solidFill>
                <a:schemeClr val="tx1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grpSp>
          <p:nvGrpSpPr>
            <p:cNvPr id="93" name="Group 149"/>
            <p:cNvGrpSpPr/>
            <p:nvPr/>
          </p:nvGrpSpPr>
          <p:grpSpPr>
            <a:xfrm>
              <a:off x="1871867" y="3878167"/>
              <a:ext cx="529024" cy="306261"/>
              <a:chOff x="3749086" y="3986103"/>
              <a:chExt cx="529024" cy="306261"/>
            </a:xfrm>
          </p:grpSpPr>
          <p:sp>
            <p:nvSpPr>
              <p:cNvPr id="149" name="Oval 148"/>
              <p:cNvSpPr/>
              <p:nvPr/>
            </p:nvSpPr>
            <p:spPr>
              <a:xfrm>
                <a:off x="3749086" y="413623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0" name="Oval 149"/>
              <p:cNvSpPr/>
              <p:nvPr/>
            </p:nvSpPr>
            <p:spPr>
              <a:xfrm>
                <a:off x="3953366" y="3986103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51" name="Oval 150"/>
              <p:cNvSpPr/>
              <p:nvPr/>
            </p:nvSpPr>
            <p:spPr>
              <a:xfrm>
                <a:off x="4141923" y="4156177"/>
                <a:ext cx="136187" cy="136187"/>
              </a:xfrm>
              <a:prstGeom prst="ellipse">
                <a:avLst/>
              </a:prstGeom>
              <a:solidFill>
                <a:schemeClr val="bg1">
                  <a:lumMod val="50000"/>
                </a:schemeClr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52" name="Straight Connector 151"/>
              <p:cNvCxnSpPr>
                <a:stCxn id="150" idx="5"/>
                <a:endCxn id="151" idx="1"/>
              </p:cNvCxnSpPr>
              <p:nvPr/>
            </p:nvCxnSpPr>
            <p:spPr>
              <a:xfrm>
                <a:off x="4069609" y="4102346"/>
                <a:ext cx="92258" cy="7377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3" name="Straight Connector 152"/>
              <p:cNvCxnSpPr>
                <a:stCxn id="150" idx="3"/>
                <a:endCxn id="149" idx="7"/>
              </p:cNvCxnSpPr>
              <p:nvPr/>
            </p:nvCxnSpPr>
            <p:spPr>
              <a:xfrm flipH="1">
                <a:off x="3865329" y="4102346"/>
                <a:ext cx="107981" cy="53831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8" name="Group 139"/>
            <p:cNvGrpSpPr/>
            <p:nvPr/>
          </p:nvGrpSpPr>
          <p:grpSpPr>
            <a:xfrm>
              <a:off x="1532315" y="3862685"/>
              <a:ext cx="500943" cy="593387"/>
              <a:chOff x="4219747" y="3817854"/>
              <a:chExt cx="500943" cy="593387"/>
            </a:xfrm>
          </p:grpSpPr>
          <p:sp>
            <p:nvSpPr>
              <p:cNvPr id="142" name="Oval 141"/>
              <p:cNvSpPr/>
              <p:nvPr/>
            </p:nvSpPr>
            <p:spPr>
              <a:xfrm>
                <a:off x="4395946" y="3817854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43" name="Oval 142"/>
              <p:cNvSpPr/>
              <p:nvPr/>
            </p:nvSpPr>
            <p:spPr>
              <a:xfrm>
                <a:off x="4564559" y="3986467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44" name="Oval 143"/>
              <p:cNvSpPr/>
              <p:nvPr/>
            </p:nvSpPr>
            <p:spPr>
              <a:xfrm>
                <a:off x="4584503" y="4275054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45" name="Oval 144"/>
              <p:cNvSpPr/>
              <p:nvPr/>
            </p:nvSpPr>
            <p:spPr>
              <a:xfrm>
                <a:off x="4219747" y="4004950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46" name="Straight Connector 145"/>
              <p:cNvCxnSpPr>
                <a:stCxn id="142" idx="5"/>
                <a:endCxn id="143" idx="1"/>
              </p:cNvCxnSpPr>
              <p:nvPr/>
            </p:nvCxnSpPr>
            <p:spPr>
              <a:xfrm>
                <a:off x="4512189" y="3934097"/>
                <a:ext cx="72314" cy="72314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7" name="Straight Connector 146"/>
              <p:cNvCxnSpPr>
                <a:stCxn id="143" idx="4"/>
                <a:endCxn id="144" idx="0"/>
              </p:cNvCxnSpPr>
              <p:nvPr/>
            </p:nvCxnSpPr>
            <p:spPr>
              <a:xfrm>
                <a:off x="4632653" y="4122654"/>
                <a:ext cx="19944" cy="15240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8" name="Straight Connector 147"/>
              <p:cNvCxnSpPr>
                <a:stCxn id="142" idx="3"/>
                <a:endCxn id="145" idx="7"/>
              </p:cNvCxnSpPr>
              <p:nvPr/>
            </p:nvCxnSpPr>
            <p:spPr>
              <a:xfrm flipH="1">
                <a:off x="4335990" y="3934097"/>
                <a:ext cx="79900" cy="90797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9" name="Group 33"/>
            <p:cNvGrpSpPr/>
            <p:nvPr/>
          </p:nvGrpSpPr>
          <p:grpSpPr>
            <a:xfrm>
              <a:off x="1707475" y="3866416"/>
              <a:ext cx="509080" cy="477144"/>
              <a:chOff x="1822313" y="1591445"/>
              <a:chExt cx="509080" cy="477144"/>
            </a:xfrm>
          </p:grpSpPr>
          <p:sp>
            <p:nvSpPr>
              <p:cNvPr id="135" name="Oval 134"/>
              <p:cNvSpPr/>
              <p:nvPr/>
            </p:nvSpPr>
            <p:spPr>
              <a:xfrm>
                <a:off x="1822313" y="1591445"/>
                <a:ext cx="136187" cy="136187"/>
              </a:xfrm>
              <a:prstGeom prst="ellipse">
                <a:avLst/>
              </a:prstGeom>
              <a:solidFill>
                <a:schemeClr val="bg2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36" name="Oval 135"/>
              <p:cNvSpPr/>
              <p:nvPr/>
            </p:nvSpPr>
            <p:spPr>
              <a:xfrm>
                <a:off x="1990926" y="1760058"/>
                <a:ext cx="136187" cy="136187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37" name="Oval 136"/>
              <p:cNvSpPr/>
              <p:nvPr/>
            </p:nvSpPr>
            <p:spPr>
              <a:xfrm>
                <a:off x="2195206" y="1932402"/>
                <a:ext cx="136187" cy="136187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38" name="Oval 137"/>
              <p:cNvSpPr/>
              <p:nvPr/>
            </p:nvSpPr>
            <p:spPr>
              <a:xfrm>
                <a:off x="1822313" y="1932402"/>
                <a:ext cx="136187" cy="136187"/>
              </a:xfrm>
              <a:prstGeom prst="ellipse">
                <a:avLst/>
              </a:prstGeom>
              <a:noFill/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39" name="Straight Connector 138"/>
              <p:cNvCxnSpPr>
                <a:stCxn id="135" idx="5"/>
                <a:endCxn id="136" idx="1"/>
              </p:cNvCxnSpPr>
              <p:nvPr/>
            </p:nvCxnSpPr>
            <p:spPr>
              <a:xfrm>
                <a:off x="1938556" y="1707688"/>
                <a:ext cx="72314" cy="72314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0" name="Straight Connector 139"/>
              <p:cNvCxnSpPr>
                <a:stCxn id="136" idx="5"/>
                <a:endCxn id="137" idx="1"/>
              </p:cNvCxnSpPr>
              <p:nvPr/>
            </p:nvCxnSpPr>
            <p:spPr>
              <a:xfrm>
                <a:off x="2107169" y="1876301"/>
                <a:ext cx="107981" cy="7604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1" name="Straight Connector 140"/>
              <p:cNvCxnSpPr>
                <a:stCxn id="136" idx="3"/>
                <a:endCxn id="138" idx="7"/>
              </p:cNvCxnSpPr>
              <p:nvPr/>
            </p:nvCxnSpPr>
            <p:spPr>
              <a:xfrm flipH="1">
                <a:off x="1938556" y="1876301"/>
                <a:ext cx="72314" cy="76045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2" name="TextBox 131"/>
            <p:cNvSpPr txBox="1"/>
            <p:nvPr/>
          </p:nvSpPr>
          <p:spPr>
            <a:xfrm>
              <a:off x="1548439" y="4456072"/>
              <a:ext cx="996897" cy="21544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sz="800" dirty="0" smtClean="0"/>
                <a:t>wq_obs_prop.ttl</a:t>
              </a:r>
            </a:p>
          </p:txBody>
        </p:sp>
        <p:sp>
          <p:nvSpPr>
            <p:cNvPr id="133" name="Oval 132"/>
            <p:cNvSpPr/>
            <p:nvPr/>
          </p:nvSpPr>
          <p:spPr>
            <a:xfrm>
              <a:off x="1878047" y="3715123"/>
              <a:ext cx="136187" cy="136187"/>
            </a:xfrm>
            <a:prstGeom prst="ellipse">
              <a:avLst/>
            </a:prstGeom>
            <a:solidFill>
              <a:srgbClr val="FF0000"/>
            </a:solidFill>
            <a:ln w="12700">
              <a:solidFill>
                <a:schemeClr val="tx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AU"/>
            </a:p>
          </p:txBody>
        </p:sp>
        <p:cxnSp>
          <p:nvCxnSpPr>
            <p:cNvPr id="134" name="Straight Connector 133"/>
            <p:cNvCxnSpPr>
              <a:stCxn id="133" idx="3"/>
              <a:endCxn id="135" idx="7"/>
            </p:cNvCxnSpPr>
            <p:nvPr/>
          </p:nvCxnSpPr>
          <p:spPr>
            <a:xfrm flipH="1">
              <a:off x="1823718" y="3831366"/>
              <a:ext cx="74273" cy="54994"/>
            </a:xfrm>
            <a:prstGeom prst="line">
              <a:avLst/>
            </a:prstGeom>
            <a:ln w="12700">
              <a:solidFill>
                <a:schemeClr val="tx1"/>
              </a:solidFill>
              <a:tailEnd type="none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4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83169" y="270000"/>
            <a:ext cx="8460000" cy="900000"/>
          </a:xfrm>
        </p:spPr>
        <p:txBody>
          <a:bodyPr/>
          <a:lstStyle/>
          <a:p>
            <a:r>
              <a:rPr lang="en-AU" dirty="0" smtClean="0"/>
              <a:t>QUDT ‘cleaning’ process</a:t>
            </a:r>
            <a:endParaRPr lang="en-AU" dirty="0"/>
          </a:p>
        </p:txBody>
      </p:sp>
      <p:sp>
        <p:nvSpPr>
          <p:cNvPr id="155" name="Footer Placeholder 15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121"/>
          <p:cNvGrpSpPr/>
          <p:nvPr/>
        </p:nvGrpSpPr>
        <p:grpSpPr>
          <a:xfrm>
            <a:off x="-828600" y="-171400"/>
            <a:ext cx="10441160" cy="6264696"/>
            <a:chOff x="155575" y="-144463"/>
            <a:chExt cx="8718871" cy="4893538"/>
          </a:xfrm>
        </p:grpSpPr>
        <p:sp>
          <p:nvSpPr>
            <p:cNvPr id="6" name="AutoShape 2" descr="https://wiki.csiro.au/download/attachments/586319299/methodology-overview.png?version=1&amp;modificationDate=1362533710837&amp;api=v2"/>
            <p:cNvSpPr>
              <a:spLocks noChangeAspect="1" noChangeArrowheads="1"/>
            </p:cNvSpPr>
            <p:nvPr/>
          </p:nvSpPr>
          <p:spPr bwMode="auto">
            <a:xfrm>
              <a:off x="155575" y="-144463"/>
              <a:ext cx="304800" cy="304801"/>
            </a:xfrm>
            <a:prstGeom prst="rect">
              <a:avLst/>
            </a:prstGeom>
            <a:noFill/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AU"/>
            </a:p>
          </p:txBody>
        </p:sp>
        <p:grpSp>
          <p:nvGrpSpPr>
            <p:cNvPr id="3" name="Group 213"/>
            <p:cNvGrpSpPr/>
            <p:nvPr/>
          </p:nvGrpSpPr>
          <p:grpSpPr>
            <a:xfrm>
              <a:off x="1166638" y="1365707"/>
              <a:ext cx="1083751" cy="953311"/>
              <a:chOff x="990439" y="1401335"/>
              <a:chExt cx="1083751" cy="953311"/>
            </a:xfrm>
          </p:grpSpPr>
          <p:grpSp>
            <p:nvGrpSpPr>
              <p:cNvPr id="4" name="Group 23"/>
              <p:cNvGrpSpPr/>
              <p:nvPr/>
            </p:nvGrpSpPr>
            <p:grpSpPr>
              <a:xfrm>
                <a:off x="990439" y="1401335"/>
                <a:ext cx="1011677" cy="953311"/>
                <a:chOff x="758756" y="1277722"/>
                <a:chExt cx="1011677" cy="953311"/>
              </a:xfrm>
              <a:solidFill>
                <a:schemeClr val="bg1">
                  <a:lumMod val="90000"/>
                </a:schemeClr>
              </a:solidFill>
            </p:grpSpPr>
            <p:sp>
              <p:nvSpPr>
                <p:cNvPr id="11" name="Oval 10"/>
                <p:cNvSpPr/>
                <p:nvPr/>
              </p:nvSpPr>
              <p:spPr>
                <a:xfrm>
                  <a:off x="758756" y="1277722"/>
                  <a:ext cx="1011677" cy="953311"/>
                </a:xfrm>
                <a:prstGeom prst="ellipse">
                  <a:avLst/>
                </a:prstGeom>
                <a:grpFill/>
                <a:ln w="190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grpSp>
              <p:nvGrpSpPr>
                <p:cNvPr id="5" name="Group 33"/>
                <p:cNvGrpSpPr/>
                <p:nvPr/>
              </p:nvGrpSpPr>
              <p:grpSpPr>
                <a:xfrm>
                  <a:off x="1077017" y="1455258"/>
                  <a:ext cx="509080" cy="477144"/>
                  <a:chOff x="1822313" y="1591445"/>
                  <a:chExt cx="509080" cy="477144"/>
                </a:xfrm>
                <a:grpFill/>
              </p:grpSpPr>
              <p:sp>
                <p:nvSpPr>
                  <p:cNvPr id="13" name="Oval 12"/>
                  <p:cNvSpPr/>
                  <p:nvPr/>
                </p:nvSpPr>
                <p:spPr>
                  <a:xfrm>
                    <a:off x="1822313" y="1591445"/>
                    <a:ext cx="136187" cy="136187"/>
                  </a:xfrm>
                  <a:prstGeom prst="ellipse">
                    <a:avLst/>
                  </a:prstGeom>
                  <a:grpFill/>
                  <a:ln w="12700">
                    <a:solidFill>
                      <a:schemeClr val="tx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4" name="Oval 13"/>
                  <p:cNvSpPr/>
                  <p:nvPr/>
                </p:nvSpPr>
                <p:spPr>
                  <a:xfrm>
                    <a:off x="1990926" y="1760058"/>
                    <a:ext cx="136187" cy="136187"/>
                  </a:xfrm>
                  <a:prstGeom prst="ellipse">
                    <a:avLst/>
                  </a:prstGeom>
                  <a:grpFill/>
                  <a:ln w="12700">
                    <a:solidFill>
                      <a:schemeClr val="tx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5" name="Oval 14"/>
                  <p:cNvSpPr/>
                  <p:nvPr/>
                </p:nvSpPr>
                <p:spPr>
                  <a:xfrm>
                    <a:off x="2195206" y="1932402"/>
                    <a:ext cx="136187" cy="136187"/>
                  </a:xfrm>
                  <a:prstGeom prst="ellipse">
                    <a:avLst/>
                  </a:prstGeom>
                  <a:grpFill/>
                  <a:ln w="12700">
                    <a:solidFill>
                      <a:schemeClr val="tx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16" name="Oval 15"/>
                  <p:cNvSpPr/>
                  <p:nvPr/>
                </p:nvSpPr>
                <p:spPr>
                  <a:xfrm>
                    <a:off x="1822313" y="1932402"/>
                    <a:ext cx="136187" cy="136187"/>
                  </a:xfrm>
                  <a:prstGeom prst="ellipse">
                    <a:avLst/>
                  </a:prstGeom>
                  <a:grpFill/>
                  <a:ln w="12700">
                    <a:solidFill>
                      <a:schemeClr val="tx2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cxnSp>
                <p:nvCxnSpPr>
                  <p:cNvPr id="17" name="Straight Connector 16"/>
                  <p:cNvCxnSpPr>
                    <a:stCxn id="13" idx="5"/>
                    <a:endCxn id="14" idx="1"/>
                  </p:cNvCxnSpPr>
                  <p:nvPr/>
                </p:nvCxnSpPr>
                <p:spPr>
                  <a:xfrm>
                    <a:off x="1938556" y="1707688"/>
                    <a:ext cx="72314" cy="72314"/>
                  </a:xfrm>
                  <a:prstGeom prst="line">
                    <a:avLst/>
                  </a:prstGeom>
                  <a:grpFill/>
                  <a:ln w="12700">
                    <a:solidFill>
                      <a:schemeClr val="tx1"/>
                    </a:solidFill>
                    <a:tailEnd type="none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8" name="Straight Connector 17"/>
                  <p:cNvCxnSpPr>
                    <a:stCxn id="14" idx="5"/>
                    <a:endCxn id="15" idx="1"/>
                  </p:cNvCxnSpPr>
                  <p:nvPr/>
                </p:nvCxnSpPr>
                <p:spPr>
                  <a:xfrm>
                    <a:off x="2107169" y="1876301"/>
                    <a:ext cx="107981" cy="76045"/>
                  </a:xfrm>
                  <a:prstGeom prst="line">
                    <a:avLst/>
                  </a:prstGeom>
                  <a:grpFill/>
                  <a:ln w="12700">
                    <a:solidFill>
                      <a:schemeClr val="tx1"/>
                    </a:solidFill>
                    <a:tailEnd type="none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19" name="Straight Connector 18"/>
                  <p:cNvCxnSpPr>
                    <a:stCxn id="14" idx="3"/>
                    <a:endCxn id="16" idx="7"/>
                  </p:cNvCxnSpPr>
                  <p:nvPr/>
                </p:nvCxnSpPr>
                <p:spPr>
                  <a:xfrm flipH="1">
                    <a:off x="1938556" y="1876301"/>
                    <a:ext cx="72314" cy="76045"/>
                  </a:xfrm>
                  <a:prstGeom prst="line">
                    <a:avLst/>
                  </a:prstGeom>
                  <a:grpFill/>
                  <a:ln w="12700">
                    <a:solidFill>
                      <a:schemeClr val="tx1"/>
                    </a:solidFill>
                    <a:tailEnd type="none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10" name="TextBox 9"/>
              <p:cNvSpPr txBox="1"/>
              <p:nvPr/>
            </p:nvSpPr>
            <p:spPr>
              <a:xfrm>
                <a:off x="1077293" y="2028445"/>
                <a:ext cx="99689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 smtClean="0"/>
                  <a:t>wq-objects.ttl</a:t>
                </a:r>
              </a:p>
            </p:txBody>
          </p:sp>
        </p:grpSp>
        <p:grpSp>
          <p:nvGrpSpPr>
            <p:cNvPr id="7" name="Group 225"/>
            <p:cNvGrpSpPr/>
            <p:nvPr/>
          </p:nvGrpSpPr>
          <p:grpSpPr>
            <a:xfrm>
              <a:off x="3283366" y="855954"/>
              <a:ext cx="1142459" cy="953311"/>
              <a:chOff x="2545336" y="1315859"/>
              <a:chExt cx="1142459" cy="953311"/>
            </a:xfrm>
          </p:grpSpPr>
          <p:sp>
            <p:nvSpPr>
              <p:cNvPr id="24" name="Oval 23"/>
              <p:cNvSpPr/>
              <p:nvPr/>
            </p:nvSpPr>
            <p:spPr>
              <a:xfrm>
                <a:off x="2545336" y="1315859"/>
                <a:ext cx="1011677" cy="95331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grpSp>
            <p:nvGrpSpPr>
              <p:cNvPr id="8" name="Group 33"/>
              <p:cNvGrpSpPr/>
              <p:nvPr/>
            </p:nvGrpSpPr>
            <p:grpSpPr>
              <a:xfrm>
                <a:off x="2828330" y="1436968"/>
                <a:ext cx="509080" cy="477144"/>
                <a:chOff x="1822313" y="1591445"/>
                <a:chExt cx="509080" cy="477144"/>
              </a:xfrm>
            </p:grpSpPr>
            <p:sp>
              <p:nvSpPr>
                <p:cNvPr id="27" name="Oval 26"/>
                <p:cNvSpPr/>
                <p:nvPr/>
              </p:nvSpPr>
              <p:spPr>
                <a:xfrm>
                  <a:off x="1822313" y="1591445"/>
                  <a:ext cx="136187" cy="136187"/>
                </a:xfrm>
                <a:prstGeom prst="ellipse">
                  <a:avLst/>
                </a:prstGeom>
                <a:noFill/>
                <a:ln w="12700">
                  <a:solidFill>
                    <a:srgbClr val="C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28" name="Oval 27"/>
                <p:cNvSpPr/>
                <p:nvPr/>
              </p:nvSpPr>
              <p:spPr>
                <a:xfrm>
                  <a:off x="1990926" y="1760058"/>
                  <a:ext cx="136187" cy="136187"/>
                </a:xfrm>
                <a:prstGeom prst="ellipse">
                  <a:avLst/>
                </a:prstGeom>
                <a:noFill/>
                <a:ln w="12700">
                  <a:solidFill>
                    <a:srgbClr val="C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29" name="Oval 28"/>
                <p:cNvSpPr/>
                <p:nvPr/>
              </p:nvSpPr>
              <p:spPr>
                <a:xfrm>
                  <a:off x="2195206" y="1932402"/>
                  <a:ext cx="136187" cy="136187"/>
                </a:xfrm>
                <a:prstGeom prst="ellipse">
                  <a:avLst/>
                </a:prstGeom>
                <a:noFill/>
                <a:ln w="12700">
                  <a:solidFill>
                    <a:srgbClr val="C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30" name="Oval 29"/>
                <p:cNvSpPr/>
                <p:nvPr/>
              </p:nvSpPr>
              <p:spPr>
                <a:xfrm>
                  <a:off x="1822313" y="1932402"/>
                  <a:ext cx="136187" cy="136187"/>
                </a:xfrm>
                <a:prstGeom prst="ellipse">
                  <a:avLst/>
                </a:prstGeom>
                <a:noFill/>
                <a:ln w="12700">
                  <a:solidFill>
                    <a:srgbClr val="C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</p:grpSp>
          <p:sp>
            <p:nvSpPr>
              <p:cNvPr id="26" name="TextBox 25"/>
              <p:cNvSpPr txBox="1"/>
              <p:nvPr/>
            </p:nvSpPr>
            <p:spPr>
              <a:xfrm>
                <a:off x="2690898" y="1905335"/>
                <a:ext cx="99689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 smtClean="0"/>
                  <a:t>wq-owl.ttl</a:t>
                </a:r>
              </a:p>
            </p:txBody>
          </p:sp>
        </p:grpSp>
        <p:grpSp>
          <p:nvGrpSpPr>
            <p:cNvPr id="9" name="Group 109"/>
            <p:cNvGrpSpPr/>
            <p:nvPr/>
          </p:nvGrpSpPr>
          <p:grpSpPr>
            <a:xfrm>
              <a:off x="6543863" y="856240"/>
              <a:ext cx="1143131" cy="953311"/>
              <a:chOff x="5909180" y="270000"/>
              <a:chExt cx="1143131" cy="953311"/>
            </a:xfrm>
          </p:grpSpPr>
          <p:grpSp>
            <p:nvGrpSpPr>
              <p:cNvPr id="12" name="Group 86"/>
              <p:cNvGrpSpPr/>
              <p:nvPr/>
            </p:nvGrpSpPr>
            <p:grpSpPr>
              <a:xfrm>
                <a:off x="6107282" y="367401"/>
                <a:ext cx="500943" cy="593387"/>
                <a:chOff x="4383774" y="3071384"/>
                <a:chExt cx="500943" cy="593387"/>
              </a:xfrm>
            </p:grpSpPr>
            <p:sp>
              <p:nvSpPr>
                <p:cNvPr id="35" name="Oval 34"/>
                <p:cNvSpPr/>
                <p:nvPr/>
              </p:nvSpPr>
              <p:spPr>
                <a:xfrm>
                  <a:off x="4559973" y="3071384"/>
                  <a:ext cx="136187" cy="136187"/>
                </a:xfrm>
                <a:prstGeom prst="ellipse">
                  <a:avLst/>
                </a:prstGeom>
                <a:solidFill>
                  <a:srgbClr val="2A754A"/>
                </a:solidFill>
                <a:ln w="12700">
                  <a:solidFill>
                    <a:srgbClr val="C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36" name="Oval 35"/>
                <p:cNvSpPr/>
                <p:nvPr/>
              </p:nvSpPr>
              <p:spPr>
                <a:xfrm>
                  <a:off x="4728586" y="3239997"/>
                  <a:ext cx="136187" cy="136187"/>
                </a:xfrm>
                <a:prstGeom prst="ellipse">
                  <a:avLst/>
                </a:prstGeom>
                <a:solidFill>
                  <a:srgbClr val="2A754A"/>
                </a:solidFill>
                <a:ln w="12700">
                  <a:solidFill>
                    <a:srgbClr val="C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37" name="Oval 36"/>
                <p:cNvSpPr/>
                <p:nvPr/>
              </p:nvSpPr>
              <p:spPr>
                <a:xfrm>
                  <a:off x="4748530" y="3528584"/>
                  <a:ext cx="136187" cy="136187"/>
                </a:xfrm>
                <a:prstGeom prst="ellipse">
                  <a:avLst/>
                </a:prstGeom>
                <a:solidFill>
                  <a:srgbClr val="2A754A"/>
                </a:solidFill>
                <a:ln w="12700">
                  <a:solidFill>
                    <a:srgbClr val="C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38" name="Oval 37"/>
                <p:cNvSpPr/>
                <p:nvPr/>
              </p:nvSpPr>
              <p:spPr>
                <a:xfrm>
                  <a:off x="4383774" y="3258480"/>
                  <a:ext cx="136187" cy="136187"/>
                </a:xfrm>
                <a:prstGeom prst="ellipse">
                  <a:avLst/>
                </a:prstGeom>
                <a:solidFill>
                  <a:srgbClr val="2A754A"/>
                </a:solidFill>
                <a:ln w="12700">
                  <a:solidFill>
                    <a:srgbClr val="C00000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cxnSp>
              <p:nvCxnSpPr>
                <p:cNvPr id="39" name="Straight Connector 38"/>
                <p:cNvCxnSpPr>
                  <a:stCxn id="35" idx="5"/>
                  <a:endCxn id="36" idx="1"/>
                </p:cNvCxnSpPr>
                <p:nvPr/>
              </p:nvCxnSpPr>
              <p:spPr>
                <a:xfrm>
                  <a:off x="4676216" y="3187627"/>
                  <a:ext cx="72314" cy="72314"/>
                </a:xfrm>
                <a:prstGeom prst="line">
                  <a:avLst/>
                </a:prstGeom>
                <a:ln w="12700">
                  <a:solidFill>
                    <a:srgbClr val="C00000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0" name="Straight Connector 39"/>
                <p:cNvCxnSpPr>
                  <a:stCxn id="36" idx="4"/>
                  <a:endCxn id="37" idx="0"/>
                </p:cNvCxnSpPr>
                <p:nvPr/>
              </p:nvCxnSpPr>
              <p:spPr>
                <a:xfrm>
                  <a:off x="4796680" y="3376184"/>
                  <a:ext cx="19944" cy="152400"/>
                </a:xfrm>
                <a:prstGeom prst="line">
                  <a:avLst/>
                </a:prstGeom>
                <a:ln w="12700">
                  <a:solidFill>
                    <a:srgbClr val="C00000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1" name="Straight Connector 40"/>
                <p:cNvCxnSpPr>
                  <a:stCxn id="35" idx="3"/>
                  <a:endCxn id="38" idx="7"/>
                </p:cNvCxnSpPr>
                <p:nvPr/>
              </p:nvCxnSpPr>
              <p:spPr>
                <a:xfrm flipH="1">
                  <a:off x="4500017" y="3187627"/>
                  <a:ext cx="79900" cy="90797"/>
                </a:xfrm>
                <a:prstGeom prst="line">
                  <a:avLst/>
                </a:prstGeom>
                <a:ln w="12700">
                  <a:solidFill>
                    <a:srgbClr val="C00000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3" name="Oval 32"/>
              <p:cNvSpPr/>
              <p:nvPr/>
            </p:nvSpPr>
            <p:spPr>
              <a:xfrm>
                <a:off x="5909180" y="270000"/>
                <a:ext cx="1011677" cy="95331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34" name="TextBox 33"/>
              <p:cNvSpPr txBox="1"/>
              <p:nvPr/>
            </p:nvSpPr>
            <p:spPr>
              <a:xfrm>
                <a:off x="6055414" y="926800"/>
                <a:ext cx="99689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 smtClean="0"/>
                  <a:t>chebi.owl</a:t>
                </a:r>
              </a:p>
            </p:txBody>
          </p:sp>
        </p:grpSp>
        <p:grpSp>
          <p:nvGrpSpPr>
            <p:cNvPr id="20" name="Group 197"/>
            <p:cNvGrpSpPr/>
            <p:nvPr/>
          </p:nvGrpSpPr>
          <p:grpSpPr>
            <a:xfrm>
              <a:off x="1389214" y="3644270"/>
              <a:ext cx="1181794" cy="1104805"/>
              <a:chOff x="1389214" y="3644270"/>
              <a:chExt cx="1181794" cy="1104805"/>
            </a:xfrm>
          </p:grpSpPr>
          <p:sp>
            <p:nvSpPr>
              <p:cNvPr id="43" name="Oval 42"/>
              <p:cNvSpPr/>
              <p:nvPr/>
            </p:nvSpPr>
            <p:spPr>
              <a:xfrm>
                <a:off x="1389214" y="3644270"/>
                <a:ext cx="1181794" cy="1104805"/>
              </a:xfrm>
              <a:prstGeom prst="ellipse">
                <a:avLst/>
              </a:prstGeom>
              <a:solidFill>
                <a:schemeClr val="bg1">
                  <a:lumMod val="90000"/>
                </a:schemeClr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grpSp>
            <p:nvGrpSpPr>
              <p:cNvPr id="21" name="Group 149"/>
              <p:cNvGrpSpPr/>
              <p:nvPr/>
            </p:nvGrpSpPr>
            <p:grpSpPr>
              <a:xfrm>
                <a:off x="1871867" y="3878167"/>
                <a:ext cx="529024" cy="306261"/>
                <a:chOff x="3749086" y="3986103"/>
                <a:chExt cx="529024" cy="306261"/>
              </a:xfrm>
            </p:grpSpPr>
            <p:sp>
              <p:nvSpPr>
                <p:cNvPr id="64" name="Oval 63"/>
                <p:cNvSpPr/>
                <p:nvPr/>
              </p:nvSpPr>
              <p:spPr>
                <a:xfrm>
                  <a:off x="3749086" y="4136233"/>
                  <a:ext cx="136187" cy="136187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65" name="Oval 64"/>
                <p:cNvSpPr/>
                <p:nvPr/>
              </p:nvSpPr>
              <p:spPr>
                <a:xfrm>
                  <a:off x="3953366" y="3986103"/>
                  <a:ext cx="136187" cy="136187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66" name="Oval 65"/>
                <p:cNvSpPr/>
                <p:nvPr/>
              </p:nvSpPr>
              <p:spPr>
                <a:xfrm>
                  <a:off x="4141923" y="4156177"/>
                  <a:ext cx="136187" cy="136187"/>
                </a:xfrm>
                <a:prstGeom prst="ellipse">
                  <a:avLst/>
                </a:prstGeom>
                <a:solidFill>
                  <a:schemeClr val="bg1">
                    <a:lumMod val="50000"/>
                  </a:schemeClr>
                </a:solidFill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cxnSp>
              <p:nvCxnSpPr>
                <p:cNvPr id="67" name="Straight Connector 66"/>
                <p:cNvCxnSpPr>
                  <a:stCxn id="65" idx="5"/>
                  <a:endCxn id="66" idx="1"/>
                </p:cNvCxnSpPr>
                <p:nvPr/>
              </p:nvCxnSpPr>
              <p:spPr>
                <a:xfrm>
                  <a:off x="4069609" y="4102346"/>
                  <a:ext cx="92258" cy="7377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8" name="Straight Connector 67"/>
                <p:cNvCxnSpPr>
                  <a:stCxn id="65" idx="3"/>
                  <a:endCxn id="64" idx="7"/>
                </p:cNvCxnSpPr>
                <p:nvPr/>
              </p:nvCxnSpPr>
              <p:spPr>
                <a:xfrm flipH="1">
                  <a:off x="3865329" y="4102346"/>
                  <a:ext cx="107981" cy="53831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2" name="Group 139"/>
              <p:cNvGrpSpPr/>
              <p:nvPr/>
            </p:nvGrpSpPr>
            <p:grpSpPr>
              <a:xfrm>
                <a:off x="1532315" y="3862685"/>
                <a:ext cx="500943" cy="593387"/>
                <a:chOff x="4219747" y="3817854"/>
                <a:chExt cx="500943" cy="593387"/>
              </a:xfrm>
            </p:grpSpPr>
            <p:sp>
              <p:nvSpPr>
                <p:cNvPr id="57" name="Oval 56"/>
                <p:cNvSpPr/>
                <p:nvPr/>
              </p:nvSpPr>
              <p:spPr>
                <a:xfrm>
                  <a:off x="4395946" y="3817854"/>
                  <a:ext cx="136187" cy="136187"/>
                </a:xfrm>
                <a:prstGeom prst="ellipse">
                  <a:avLst/>
                </a:prstGeom>
                <a:solidFill>
                  <a:srgbClr val="2A754A"/>
                </a:solidFill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58" name="Oval 57"/>
                <p:cNvSpPr/>
                <p:nvPr/>
              </p:nvSpPr>
              <p:spPr>
                <a:xfrm>
                  <a:off x="4564559" y="3986467"/>
                  <a:ext cx="136187" cy="136187"/>
                </a:xfrm>
                <a:prstGeom prst="ellipse">
                  <a:avLst/>
                </a:prstGeom>
                <a:solidFill>
                  <a:srgbClr val="2A754A"/>
                </a:solidFill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59" name="Oval 58"/>
                <p:cNvSpPr/>
                <p:nvPr/>
              </p:nvSpPr>
              <p:spPr>
                <a:xfrm>
                  <a:off x="4584503" y="4275054"/>
                  <a:ext cx="136187" cy="136187"/>
                </a:xfrm>
                <a:prstGeom prst="ellipse">
                  <a:avLst/>
                </a:prstGeom>
                <a:solidFill>
                  <a:srgbClr val="2A754A"/>
                </a:solidFill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60" name="Oval 59"/>
                <p:cNvSpPr/>
                <p:nvPr/>
              </p:nvSpPr>
              <p:spPr>
                <a:xfrm>
                  <a:off x="4219747" y="4004950"/>
                  <a:ext cx="136187" cy="136187"/>
                </a:xfrm>
                <a:prstGeom prst="ellipse">
                  <a:avLst/>
                </a:prstGeom>
                <a:solidFill>
                  <a:srgbClr val="2A754A"/>
                </a:solidFill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cxnSp>
              <p:nvCxnSpPr>
                <p:cNvPr id="61" name="Straight Connector 60"/>
                <p:cNvCxnSpPr>
                  <a:stCxn id="57" idx="5"/>
                  <a:endCxn id="58" idx="1"/>
                </p:cNvCxnSpPr>
                <p:nvPr/>
              </p:nvCxnSpPr>
              <p:spPr>
                <a:xfrm>
                  <a:off x="4512189" y="3934097"/>
                  <a:ext cx="72314" cy="723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2" name="Straight Connector 61"/>
                <p:cNvCxnSpPr>
                  <a:stCxn id="58" idx="4"/>
                  <a:endCxn id="59" idx="0"/>
                </p:cNvCxnSpPr>
                <p:nvPr/>
              </p:nvCxnSpPr>
              <p:spPr>
                <a:xfrm>
                  <a:off x="4632653" y="4122654"/>
                  <a:ext cx="19944" cy="15240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63" name="Straight Connector 62"/>
                <p:cNvCxnSpPr>
                  <a:stCxn id="57" idx="3"/>
                  <a:endCxn id="60" idx="7"/>
                </p:cNvCxnSpPr>
                <p:nvPr/>
              </p:nvCxnSpPr>
              <p:spPr>
                <a:xfrm flipH="1">
                  <a:off x="4335990" y="3934097"/>
                  <a:ext cx="79900" cy="90797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23" name="Group 33"/>
              <p:cNvGrpSpPr/>
              <p:nvPr/>
            </p:nvGrpSpPr>
            <p:grpSpPr>
              <a:xfrm>
                <a:off x="1707475" y="3866416"/>
                <a:ext cx="509080" cy="477144"/>
                <a:chOff x="1822313" y="1591445"/>
                <a:chExt cx="509080" cy="477144"/>
              </a:xfrm>
            </p:grpSpPr>
            <p:sp>
              <p:nvSpPr>
                <p:cNvPr id="50" name="Oval 49"/>
                <p:cNvSpPr/>
                <p:nvPr/>
              </p:nvSpPr>
              <p:spPr>
                <a:xfrm>
                  <a:off x="1822313" y="1591445"/>
                  <a:ext cx="136187" cy="136187"/>
                </a:xfrm>
                <a:prstGeom prst="ellipse">
                  <a:avLst/>
                </a:prstGeom>
                <a:solidFill>
                  <a:schemeClr val="bg2"/>
                </a:solidFill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51" name="Oval 50"/>
                <p:cNvSpPr/>
                <p:nvPr/>
              </p:nvSpPr>
              <p:spPr>
                <a:xfrm>
                  <a:off x="1990926" y="1760058"/>
                  <a:ext cx="136187" cy="136187"/>
                </a:xfrm>
                <a:prstGeom prst="ellipse">
                  <a:avLst/>
                </a:prstGeom>
                <a:noFill/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52" name="Oval 51"/>
                <p:cNvSpPr/>
                <p:nvPr/>
              </p:nvSpPr>
              <p:spPr>
                <a:xfrm>
                  <a:off x="2195206" y="1932402"/>
                  <a:ext cx="136187" cy="136187"/>
                </a:xfrm>
                <a:prstGeom prst="ellipse">
                  <a:avLst/>
                </a:prstGeom>
                <a:noFill/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sp>
              <p:nvSpPr>
                <p:cNvPr id="53" name="Oval 52"/>
                <p:cNvSpPr/>
                <p:nvPr/>
              </p:nvSpPr>
              <p:spPr>
                <a:xfrm>
                  <a:off x="1822313" y="1932402"/>
                  <a:ext cx="136187" cy="136187"/>
                </a:xfrm>
                <a:prstGeom prst="ellipse">
                  <a:avLst/>
                </a:prstGeom>
                <a:noFill/>
                <a:ln w="12700">
                  <a:solidFill>
                    <a:schemeClr val="tx2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cxnSp>
              <p:nvCxnSpPr>
                <p:cNvPr id="54" name="Straight Connector 53"/>
                <p:cNvCxnSpPr>
                  <a:stCxn id="50" idx="5"/>
                  <a:endCxn id="51" idx="1"/>
                </p:cNvCxnSpPr>
                <p:nvPr/>
              </p:nvCxnSpPr>
              <p:spPr>
                <a:xfrm>
                  <a:off x="1938556" y="1707688"/>
                  <a:ext cx="72314" cy="72314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Straight Connector 54"/>
                <p:cNvCxnSpPr>
                  <a:stCxn id="51" idx="5"/>
                  <a:endCxn id="52" idx="1"/>
                </p:cNvCxnSpPr>
                <p:nvPr/>
              </p:nvCxnSpPr>
              <p:spPr>
                <a:xfrm>
                  <a:off x="2107169" y="1876301"/>
                  <a:ext cx="107981" cy="7604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6" name="Straight Connector 55"/>
                <p:cNvCxnSpPr>
                  <a:stCxn id="51" idx="3"/>
                  <a:endCxn id="53" idx="7"/>
                </p:cNvCxnSpPr>
                <p:nvPr/>
              </p:nvCxnSpPr>
              <p:spPr>
                <a:xfrm flipH="1">
                  <a:off x="1938556" y="1876301"/>
                  <a:ext cx="72314" cy="76045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47" name="TextBox 46"/>
              <p:cNvSpPr txBox="1"/>
              <p:nvPr/>
            </p:nvSpPr>
            <p:spPr>
              <a:xfrm>
                <a:off x="1548439" y="4456072"/>
                <a:ext cx="996897" cy="2051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 smtClean="0"/>
                  <a:t>wq_obs_prop.ttl</a:t>
                </a:r>
              </a:p>
            </p:txBody>
          </p:sp>
          <p:sp>
            <p:nvSpPr>
              <p:cNvPr id="48" name="Oval 47"/>
              <p:cNvSpPr/>
              <p:nvPr/>
            </p:nvSpPr>
            <p:spPr>
              <a:xfrm>
                <a:off x="1878047" y="3715123"/>
                <a:ext cx="136187" cy="136187"/>
              </a:xfrm>
              <a:prstGeom prst="ellipse">
                <a:avLst/>
              </a:prstGeom>
              <a:solidFill>
                <a:srgbClr val="FF0000"/>
              </a:solidFill>
              <a:ln w="12700">
                <a:solidFill>
                  <a:schemeClr val="tx2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49" name="Straight Connector 48"/>
              <p:cNvCxnSpPr>
                <a:stCxn id="48" idx="3"/>
                <a:endCxn id="50" idx="7"/>
              </p:cNvCxnSpPr>
              <p:nvPr/>
            </p:nvCxnSpPr>
            <p:spPr>
              <a:xfrm flipH="1">
                <a:off x="1823718" y="3831366"/>
                <a:ext cx="74273" cy="54994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cxnSp>
          <p:nvCxnSpPr>
            <p:cNvPr id="71" name="Straight Arrow Connector 70"/>
            <p:cNvCxnSpPr>
              <a:stCxn id="11" idx="4"/>
              <a:endCxn id="43" idx="0"/>
            </p:cNvCxnSpPr>
            <p:nvPr/>
          </p:nvCxnSpPr>
          <p:spPr>
            <a:xfrm>
              <a:off x="1672477" y="2319018"/>
              <a:ext cx="307634" cy="1325252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TextBox 71"/>
            <p:cNvSpPr txBox="1"/>
            <p:nvPr/>
          </p:nvSpPr>
          <p:spPr>
            <a:xfrm>
              <a:off x="1218544" y="2865961"/>
              <a:ext cx="6046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000" dirty="0" smtClean="0"/>
                <a:t>imports</a:t>
              </a:r>
            </a:p>
            <a:p>
              <a:r>
                <a:rPr lang="en-AU" sz="1000" dirty="0" smtClean="0"/>
                <a:t>into</a:t>
              </a:r>
            </a:p>
          </p:txBody>
        </p:sp>
        <p:grpSp>
          <p:nvGrpSpPr>
            <p:cNvPr id="25" name="Group 223"/>
            <p:cNvGrpSpPr/>
            <p:nvPr/>
          </p:nvGrpSpPr>
          <p:grpSpPr>
            <a:xfrm>
              <a:off x="6595998" y="3716195"/>
              <a:ext cx="1090996" cy="953311"/>
              <a:chOff x="5612036" y="3185568"/>
              <a:chExt cx="1090996" cy="953311"/>
            </a:xfrm>
          </p:grpSpPr>
          <p:grpSp>
            <p:nvGrpSpPr>
              <p:cNvPr id="31" name="Group 222"/>
              <p:cNvGrpSpPr/>
              <p:nvPr/>
            </p:nvGrpSpPr>
            <p:grpSpPr>
              <a:xfrm>
                <a:off x="5612036" y="3185568"/>
                <a:ext cx="1011677" cy="953311"/>
                <a:chOff x="5408993" y="2302299"/>
                <a:chExt cx="1011677" cy="953311"/>
              </a:xfrm>
            </p:grpSpPr>
            <p:sp>
              <p:nvSpPr>
                <p:cNvPr id="78" name="Oval 77"/>
                <p:cNvSpPr/>
                <p:nvPr/>
              </p:nvSpPr>
              <p:spPr>
                <a:xfrm>
                  <a:off x="5408993" y="2302299"/>
                  <a:ext cx="1011677" cy="953311"/>
                </a:xfrm>
                <a:prstGeom prst="ellipse">
                  <a:avLst/>
                </a:prstGeom>
                <a:solidFill>
                  <a:schemeClr val="bg1">
                    <a:lumMod val="90000"/>
                  </a:schemeClr>
                </a:solidFill>
                <a:ln w="19050">
                  <a:solidFill>
                    <a:schemeClr val="tx1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2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AU"/>
                </a:p>
              </p:txBody>
            </p:sp>
            <p:grpSp>
              <p:nvGrpSpPr>
                <p:cNvPr id="32" name="Group 86"/>
                <p:cNvGrpSpPr/>
                <p:nvPr/>
              </p:nvGrpSpPr>
              <p:grpSpPr>
                <a:xfrm>
                  <a:off x="5607095" y="2346258"/>
                  <a:ext cx="500943" cy="593387"/>
                  <a:chOff x="4383774" y="3071384"/>
                  <a:chExt cx="500943" cy="593387"/>
                </a:xfrm>
              </p:grpSpPr>
              <p:sp>
                <p:nvSpPr>
                  <p:cNvPr id="80" name="Oval 79"/>
                  <p:cNvSpPr/>
                  <p:nvPr/>
                </p:nvSpPr>
                <p:spPr>
                  <a:xfrm>
                    <a:off x="4559973" y="3071384"/>
                    <a:ext cx="136187" cy="136187"/>
                  </a:xfrm>
                  <a:prstGeom prst="ellipse">
                    <a:avLst/>
                  </a:prstGeom>
                  <a:solidFill>
                    <a:srgbClr val="2A754A"/>
                  </a:solidFill>
                  <a:ln w="1270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1" name="Oval 80"/>
                  <p:cNvSpPr/>
                  <p:nvPr/>
                </p:nvSpPr>
                <p:spPr>
                  <a:xfrm>
                    <a:off x="4728586" y="3239997"/>
                    <a:ext cx="136187" cy="136187"/>
                  </a:xfrm>
                  <a:prstGeom prst="ellipse">
                    <a:avLst/>
                  </a:prstGeom>
                  <a:solidFill>
                    <a:srgbClr val="2A754A"/>
                  </a:solidFill>
                  <a:ln w="1270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2" name="Oval 81"/>
                  <p:cNvSpPr/>
                  <p:nvPr/>
                </p:nvSpPr>
                <p:spPr>
                  <a:xfrm>
                    <a:off x="4748530" y="3528584"/>
                    <a:ext cx="136187" cy="136187"/>
                  </a:xfrm>
                  <a:prstGeom prst="ellipse">
                    <a:avLst/>
                  </a:prstGeom>
                  <a:solidFill>
                    <a:srgbClr val="2A754A"/>
                  </a:solidFill>
                  <a:ln w="1270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sp>
                <p:nvSpPr>
                  <p:cNvPr id="83" name="Oval 82"/>
                  <p:cNvSpPr/>
                  <p:nvPr/>
                </p:nvSpPr>
                <p:spPr>
                  <a:xfrm>
                    <a:off x="4383774" y="3258480"/>
                    <a:ext cx="136187" cy="136187"/>
                  </a:xfrm>
                  <a:prstGeom prst="ellipse">
                    <a:avLst/>
                  </a:prstGeom>
                  <a:solidFill>
                    <a:srgbClr val="2A754A"/>
                  </a:solidFill>
                  <a:ln w="12700">
                    <a:solidFill>
                      <a:schemeClr val="tx1"/>
                    </a:solidFill>
                  </a:ln>
                  <a:effectLst/>
                </p:spPr>
                <p:style>
                  <a:lnRef idx="1">
                    <a:schemeClr val="accent1"/>
                  </a:lnRef>
                  <a:fillRef idx="3">
                    <a:schemeClr val="accent1"/>
                  </a:fillRef>
                  <a:effectRef idx="2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AU"/>
                  </a:p>
                </p:txBody>
              </p:sp>
              <p:cxnSp>
                <p:nvCxnSpPr>
                  <p:cNvPr id="84" name="Straight Connector 83"/>
                  <p:cNvCxnSpPr>
                    <a:stCxn id="80" idx="5"/>
                    <a:endCxn id="81" idx="1"/>
                  </p:cNvCxnSpPr>
                  <p:nvPr/>
                </p:nvCxnSpPr>
                <p:spPr>
                  <a:xfrm>
                    <a:off x="4676216" y="3187627"/>
                    <a:ext cx="72314" cy="72314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tailEnd type="none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5" name="Straight Connector 84"/>
                  <p:cNvCxnSpPr>
                    <a:stCxn id="81" idx="4"/>
                    <a:endCxn id="82" idx="0"/>
                  </p:cNvCxnSpPr>
                  <p:nvPr/>
                </p:nvCxnSpPr>
                <p:spPr>
                  <a:xfrm>
                    <a:off x="4796680" y="3376184"/>
                    <a:ext cx="19944" cy="15240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tailEnd type="none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6" name="Straight Connector 85"/>
                  <p:cNvCxnSpPr>
                    <a:stCxn id="80" idx="3"/>
                    <a:endCxn id="83" idx="7"/>
                  </p:cNvCxnSpPr>
                  <p:nvPr/>
                </p:nvCxnSpPr>
                <p:spPr>
                  <a:xfrm flipH="1">
                    <a:off x="4500017" y="3187627"/>
                    <a:ext cx="79900" cy="90797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tailEnd type="none"/>
                  </a:ln>
                  <a:effectLst/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77" name="TextBox 76"/>
              <p:cNvSpPr txBox="1"/>
              <p:nvPr/>
            </p:nvSpPr>
            <p:spPr>
              <a:xfrm>
                <a:off x="5706135" y="3793174"/>
                <a:ext cx="996897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 smtClean="0"/>
                  <a:t>chebi_skos.ttl</a:t>
                </a:r>
              </a:p>
            </p:txBody>
          </p:sp>
        </p:grpSp>
        <p:cxnSp>
          <p:nvCxnSpPr>
            <p:cNvPr id="87" name="Straight Arrow Connector 86"/>
            <p:cNvCxnSpPr>
              <a:stCxn id="33" idx="4"/>
              <a:endCxn id="78" idx="0"/>
            </p:cNvCxnSpPr>
            <p:nvPr/>
          </p:nvCxnSpPr>
          <p:spPr>
            <a:xfrm>
              <a:off x="7049702" y="1809551"/>
              <a:ext cx="52135" cy="1906644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Straight Arrow Connector 89"/>
            <p:cNvCxnSpPr>
              <a:stCxn id="11" idx="6"/>
              <a:endCxn id="24" idx="2"/>
            </p:cNvCxnSpPr>
            <p:nvPr/>
          </p:nvCxnSpPr>
          <p:spPr>
            <a:xfrm flipV="1">
              <a:off x="2178315" y="1332610"/>
              <a:ext cx="1105051" cy="509753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TextBox 90"/>
            <p:cNvSpPr txBox="1"/>
            <p:nvPr/>
          </p:nvSpPr>
          <p:spPr>
            <a:xfrm>
              <a:off x="2400891" y="1679430"/>
              <a:ext cx="992579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AU" sz="1000" dirty="0" err="1" smtClean="0"/>
                <a:t>skos:Concept</a:t>
              </a:r>
              <a:r>
                <a:rPr lang="en-AU" sz="1000" dirty="0" smtClean="0"/>
                <a:t> </a:t>
              </a:r>
            </a:p>
            <a:p>
              <a:r>
                <a:rPr lang="en-AU" sz="1000" dirty="0" smtClean="0"/>
                <a:t>to </a:t>
              </a:r>
              <a:r>
                <a:rPr lang="en-AU" sz="1000" dirty="0" err="1" smtClean="0"/>
                <a:t>owl:Class</a:t>
              </a:r>
              <a:endParaRPr lang="en-AU" sz="1000" dirty="0" smtClean="0"/>
            </a:p>
          </p:txBody>
        </p:sp>
        <p:grpSp>
          <p:nvGrpSpPr>
            <p:cNvPr id="42" name="Group 248"/>
            <p:cNvGrpSpPr/>
            <p:nvPr/>
          </p:nvGrpSpPr>
          <p:grpSpPr>
            <a:xfrm>
              <a:off x="4850015" y="1659486"/>
              <a:ext cx="1029491" cy="953311"/>
              <a:chOff x="4535904" y="2010202"/>
              <a:chExt cx="1029491" cy="953311"/>
            </a:xfrm>
          </p:grpSpPr>
          <p:sp>
            <p:nvSpPr>
              <p:cNvPr id="93" name="Oval 92"/>
              <p:cNvSpPr/>
              <p:nvPr/>
            </p:nvSpPr>
            <p:spPr>
              <a:xfrm>
                <a:off x="4535904" y="2010202"/>
                <a:ext cx="1011677" cy="953311"/>
              </a:xfrm>
              <a:prstGeom prst="ellipse">
                <a:avLst/>
              </a:prstGeom>
              <a:noFill/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4" name="Oval 93"/>
              <p:cNvSpPr/>
              <p:nvPr/>
            </p:nvSpPr>
            <p:spPr>
              <a:xfrm>
                <a:off x="4830071" y="2184330"/>
                <a:ext cx="136187" cy="13618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rgbClr val="C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95" name="Oval 94"/>
              <p:cNvSpPr/>
              <p:nvPr/>
            </p:nvSpPr>
            <p:spPr>
              <a:xfrm>
                <a:off x="5131206" y="2186484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rgbClr val="C0000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96" name="Straight Connector 95"/>
              <p:cNvCxnSpPr>
                <a:stCxn id="95" idx="2"/>
                <a:endCxn id="94" idx="6"/>
              </p:cNvCxnSpPr>
              <p:nvPr/>
            </p:nvCxnSpPr>
            <p:spPr>
              <a:xfrm flipH="1" flipV="1">
                <a:off x="4966258" y="2252424"/>
                <a:ext cx="164948" cy="2154"/>
              </a:xfrm>
              <a:prstGeom prst="line">
                <a:avLst/>
              </a:prstGeom>
              <a:ln w="12700">
                <a:solidFill>
                  <a:srgbClr val="C00000"/>
                </a:solidFill>
                <a:prstDash val="sysDot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7" name="TextBox 96"/>
              <p:cNvSpPr txBox="1"/>
              <p:nvPr/>
            </p:nvSpPr>
            <p:spPr>
              <a:xfrm>
                <a:off x="4632953" y="2510557"/>
                <a:ext cx="9324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 err="1" smtClean="0"/>
                  <a:t>wq_owl-chebi</a:t>
                </a:r>
                <a:r>
                  <a:rPr lang="en-AU" sz="800" dirty="0" smtClean="0"/>
                  <a:t>-</a:t>
                </a:r>
              </a:p>
              <a:p>
                <a:r>
                  <a:rPr lang="en-AU" sz="800" dirty="0" smtClean="0"/>
                  <a:t>mapping.ttl</a:t>
                </a:r>
              </a:p>
            </p:txBody>
          </p:sp>
        </p:grpSp>
        <p:grpSp>
          <p:nvGrpSpPr>
            <p:cNvPr id="44" name="Group 246"/>
            <p:cNvGrpSpPr/>
            <p:nvPr/>
          </p:nvGrpSpPr>
          <p:grpSpPr>
            <a:xfrm>
              <a:off x="3990783" y="2909374"/>
              <a:ext cx="1029491" cy="953311"/>
              <a:chOff x="3500469" y="2629846"/>
              <a:chExt cx="1029491" cy="953311"/>
            </a:xfrm>
          </p:grpSpPr>
          <p:sp>
            <p:nvSpPr>
              <p:cNvPr id="99" name="Oval 98"/>
              <p:cNvSpPr/>
              <p:nvPr/>
            </p:nvSpPr>
            <p:spPr>
              <a:xfrm>
                <a:off x="3500469" y="2629846"/>
                <a:ext cx="1011677" cy="953311"/>
              </a:xfrm>
              <a:prstGeom prst="ellipse">
                <a:avLst/>
              </a:prstGeom>
              <a:solidFill>
                <a:schemeClr val="bg1">
                  <a:lumMod val="90000"/>
                </a:schemeClr>
              </a:solidFill>
              <a:ln w="1905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0" name="Oval 99"/>
              <p:cNvSpPr/>
              <p:nvPr/>
            </p:nvSpPr>
            <p:spPr>
              <a:xfrm>
                <a:off x="3794636" y="2803974"/>
                <a:ext cx="136187" cy="136187"/>
              </a:xfrm>
              <a:prstGeom prst="ellipse">
                <a:avLst/>
              </a:prstGeom>
              <a:solidFill>
                <a:schemeClr val="bg1"/>
              </a:solidFill>
              <a:ln w="127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sp>
            <p:nvSpPr>
              <p:cNvPr id="101" name="Oval 100"/>
              <p:cNvSpPr/>
              <p:nvPr/>
            </p:nvSpPr>
            <p:spPr>
              <a:xfrm>
                <a:off x="4095771" y="2806128"/>
                <a:ext cx="136187" cy="136187"/>
              </a:xfrm>
              <a:prstGeom prst="ellipse">
                <a:avLst/>
              </a:prstGeom>
              <a:solidFill>
                <a:srgbClr val="2A754A"/>
              </a:solidFill>
              <a:ln w="12700">
                <a:solidFill>
                  <a:schemeClr val="tx1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AU"/>
              </a:p>
            </p:txBody>
          </p:sp>
          <p:cxnSp>
            <p:nvCxnSpPr>
              <p:cNvPr id="102" name="Straight Connector 101"/>
              <p:cNvCxnSpPr>
                <a:stCxn id="101" idx="2"/>
                <a:endCxn id="100" idx="6"/>
              </p:cNvCxnSpPr>
              <p:nvPr/>
            </p:nvCxnSpPr>
            <p:spPr>
              <a:xfrm flipH="1" flipV="1">
                <a:off x="3930823" y="2872068"/>
                <a:ext cx="164948" cy="2154"/>
              </a:xfrm>
              <a:prstGeom prst="line">
                <a:avLst/>
              </a:prstGeom>
              <a:ln w="12700">
                <a:solidFill>
                  <a:schemeClr val="tx1"/>
                </a:solidFill>
                <a:prstDash val="sysDot"/>
                <a:tailEnd type="none"/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3" name="TextBox 102"/>
              <p:cNvSpPr txBox="1"/>
              <p:nvPr/>
            </p:nvSpPr>
            <p:spPr>
              <a:xfrm>
                <a:off x="3597518" y="3118325"/>
                <a:ext cx="932442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 err="1" smtClean="0"/>
                  <a:t>wq-chebi_skos</a:t>
                </a:r>
                <a:r>
                  <a:rPr lang="en-AU" sz="800" dirty="0" smtClean="0"/>
                  <a:t>_</a:t>
                </a:r>
              </a:p>
              <a:p>
                <a:r>
                  <a:rPr lang="en-AU" sz="800" dirty="0" smtClean="0"/>
                  <a:t>mapping.ttl</a:t>
                </a:r>
              </a:p>
            </p:txBody>
          </p:sp>
        </p:grpSp>
        <p:cxnSp>
          <p:nvCxnSpPr>
            <p:cNvPr id="105" name="Straight Arrow Connector 104"/>
            <p:cNvCxnSpPr>
              <a:stCxn id="93" idx="4"/>
              <a:endCxn id="99" idx="7"/>
            </p:cNvCxnSpPr>
            <p:nvPr/>
          </p:nvCxnSpPr>
          <p:spPr>
            <a:xfrm flipH="1">
              <a:off x="4854303" y="2612797"/>
              <a:ext cx="501551" cy="436186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dash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6" name="TextBox 105"/>
            <p:cNvSpPr txBox="1"/>
            <p:nvPr/>
          </p:nvSpPr>
          <p:spPr>
            <a:xfrm>
              <a:off x="2192390" y="1308991"/>
              <a:ext cx="788999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000" dirty="0" smtClean="0"/>
                <a:t>transforms</a:t>
              </a:r>
            </a:p>
          </p:txBody>
        </p:sp>
        <p:cxnSp>
          <p:nvCxnSpPr>
            <p:cNvPr id="107" name="Straight Arrow Connector 106"/>
            <p:cNvCxnSpPr>
              <a:stCxn id="24" idx="6"/>
              <a:endCxn id="33" idx="2"/>
            </p:cNvCxnSpPr>
            <p:nvPr/>
          </p:nvCxnSpPr>
          <p:spPr>
            <a:xfrm>
              <a:off x="4295043" y="1332610"/>
              <a:ext cx="2248820" cy="286"/>
            </a:xfrm>
            <a:prstGeom prst="straightConnector1">
              <a:avLst/>
            </a:prstGeom>
            <a:ln w="9525">
              <a:solidFill>
                <a:schemeClr val="tx1"/>
              </a:solidFill>
              <a:prstDash val="sysDot"/>
              <a:headEnd type="arrow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>
              <a:stCxn id="109" idx="2"/>
              <a:endCxn id="93" idx="0"/>
            </p:cNvCxnSpPr>
            <p:nvPr/>
          </p:nvCxnSpPr>
          <p:spPr>
            <a:xfrm>
              <a:off x="5349218" y="1323259"/>
              <a:ext cx="6636" cy="336227"/>
            </a:xfrm>
            <a:prstGeom prst="line">
              <a:avLst/>
            </a:prstGeom>
            <a:ln w="9525">
              <a:solidFill>
                <a:schemeClr val="tx2">
                  <a:lumMod val="40000"/>
                  <a:lumOff val="60000"/>
                </a:schemeClr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9" name="TextBox 108"/>
            <p:cNvSpPr txBox="1"/>
            <p:nvPr/>
          </p:nvSpPr>
          <p:spPr>
            <a:xfrm>
              <a:off x="4674995" y="769261"/>
              <a:ext cx="1348446" cy="553998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AU" sz="1000" dirty="0" smtClean="0"/>
                <a:t>manually create </a:t>
              </a:r>
            </a:p>
            <a:p>
              <a:r>
                <a:rPr lang="en-AU" sz="1000" dirty="0" err="1" smtClean="0"/>
                <a:t>owl:equivalentClass</a:t>
              </a:r>
              <a:r>
                <a:rPr lang="en-AU" sz="1000" dirty="0" smtClean="0"/>
                <a:t> </a:t>
              </a:r>
            </a:p>
            <a:p>
              <a:r>
                <a:rPr lang="en-AU" sz="1000" dirty="0" smtClean="0"/>
                <a:t>statements</a:t>
              </a:r>
            </a:p>
          </p:txBody>
        </p:sp>
        <p:cxnSp>
          <p:nvCxnSpPr>
            <p:cNvPr id="110" name="Straight Arrow Connector 109"/>
            <p:cNvCxnSpPr>
              <a:stCxn id="99" idx="2"/>
              <a:endCxn id="43" idx="7"/>
            </p:cNvCxnSpPr>
            <p:nvPr/>
          </p:nvCxnSpPr>
          <p:spPr>
            <a:xfrm flipH="1">
              <a:off x="2397938" y="3386030"/>
              <a:ext cx="1592845" cy="420035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1" name="TextBox 110"/>
            <p:cNvSpPr txBox="1"/>
            <p:nvPr/>
          </p:nvSpPr>
          <p:spPr>
            <a:xfrm>
              <a:off x="2973350" y="3197798"/>
              <a:ext cx="6399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000" dirty="0" smtClean="0"/>
                <a:t>imports </a:t>
              </a:r>
            </a:p>
            <a:p>
              <a:r>
                <a:rPr lang="en-AU" sz="1000" dirty="0" smtClean="0"/>
                <a:t>into</a:t>
              </a:r>
            </a:p>
          </p:txBody>
        </p:sp>
        <p:cxnSp>
          <p:nvCxnSpPr>
            <p:cNvPr id="112" name="Straight Arrow Connector 111"/>
            <p:cNvCxnSpPr>
              <a:stCxn id="78" idx="1"/>
              <a:endCxn id="99" idx="6"/>
            </p:cNvCxnSpPr>
            <p:nvPr/>
          </p:nvCxnSpPr>
          <p:spPr>
            <a:xfrm flipH="1" flipV="1">
              <a:off x="5002460" y="3386030"/>
              <a:ext cx="1741695" cy="469774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112"/>
            <p:cNvSpPr txBox="1"/>
            <p:nvPr/>
          </p:nvSpPr>
          <p:spPr>
            <a:xfrm>
              <a:off x="5446554" y="3185975"/>
              <a:ext cx="639919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000" dirty="0" smtClean="0"/>
                <a:t>imports </a:t>
              </a:r>
            </a:p>
            <a:p>
              <a:r>
                <a:rPr lang="en-AU" sz="1000" dirty="0" smtClean="0"/>
                <a:t>into</a:t>
              </a: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3620820" y="2355376"/>
              <a:ext cx="1348446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000" dirty="0" smtClean="0"/>
                <a:t>transforms </a:t>
              </a:r>
            </a:p>
            <a:p>
              <a:r>
                <a:rPr lang="en-AU" sz="1000" dirty="0" err="1" smtClean="0"/>
                <a:t>owl:equivalentClass</a:t>
              </a:r>
              <a:r>
                <a:rPr lang="en-AU" sz="1000" dirty="0" smtClean="0"/>
                <a:t> </a:t>
              </a:r>
            </a:p>
            <a:p>
              <a:r>
                <a:rPr lang="en-AU" sz="1000" dirty="0" smtClean="0"/>
                <a:t>to </a:t>
              </a:r>
              <a:r>
                <a:rPr lang="en-AU" sz="1000" dirty="0" err="1" smtClean="0"/>
                <a:t>skos:exactMatch</a:t>
              </a:r>
              <a:endParaRPr lang="en-AU" sz="1000" dirty="0" smtClean="0"/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7086777" y="2285205"/>
              <a:ext cx="1787669" cy="55399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000" dirty="0" smtClean="0"/>
                <a:t>transform </a:t>
              </a:r>
              <a:r>
                <a:rPr lang="en-AU" sz="1000" dirty="0" err="1" smtClean="0"/>
                <a:t>owl:Class</a:t>
              </a:r>
              <a:endParaRPr lang="en-AU" sz="1000" dirty="0" smtClean="0"/>
            </a:p>
            <a:p>
              <a:r>
                <a:rPr lang="en-AU" sz="1000" dirty="0" smtClean="0"/>
                <a:t>to </a:t>
              </a:r>
              <a:r>
                <a:rPr lang="en-AU" sz="1000" dirty="0" err="1" smtClean="0"/>
                <a:t>skos:Concept</a:t>
              </a:r>
              <a:endParaRPr lang="en-AU" sz="1000" dirty="0" smtClean="0"/>
            </a:p>
            <a:p>
              <a:r>
                <a:rPr lang="en-AU" sz="1000" dirty="0" smtClean="0"/>
                <a:t>Add </a:t>
              </a:r>
              <a:r>
                <a:rPr lang="en-AU" sz="1000" dirty="0" err="1" smtClean="0"/>
                <a:t>prov:hadPrimarySource</a:t>
              </a:r>
              <a:endParaRPr lang="en-AU" sz="1000" dirty="0" smtClean="0"/>
            </a:p>
          </p:txBody>
        </p:sp>
        <p:cxnSp>
          <p:nvCxnSpPr>
            <p:cNvPr id="116" name="Straight Arrow Connector 115"/>
            <p:cNvCxnSpPr>
              <a:stCxn id="24" idx="5"/>
              <a:endCxn id="93" idx="2"/>
            </p:cNvCxnSpPr>
            <p:nvPr/>
          </p:nvCxnSpPr>
          <p:spPr>
            <a:xfrm>
              <a:off x="4146886" y="1669656"/>
              <a:ext cx="703129" cy="466486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17" name="TextBox 116"/>
            <p:cNvSpPr txBox="1"/>
            <p:nvPr/>
          </p:nvSpPr>
          <p:spPr>
            <a:xfrm>
              <a:off x="4397807" y="1479375"/>
              <a:ext cx="6046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000" dirty="0" smtClean="0"/>
                <a:t>imports</a:t>
              </a:r>
            </a:p>
            <a:p>
              <a:r>
                <a:rPr lang="en-AU" sz="1000" dirty="0" smtClean="0"/>
                <a:t>into</a:t>
              </a:r>
            </a:p>
          </p:txBody>
        </p:sp>
        <p:sp>
          <p:nvSpPr>
            <p:cNvPr id="118" name="TextBox 117"/>
            <p:cNvSpPr txBox="1"/>
            <p:nvPr/>
          </p:nvSpPr>
          <p:spPr>
            <a:xfrm>
              <a:off x="5908844" y="1553034"/>
              <a:ext cx="604653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AU" sz="1000" dirty="0" smtClean="0"/>
                <a:t>imports</a:t>
              </a:r>
            </a:p>
            <a:p>
              <a:r>
                <a:rPr lang="en-AU" sz="1000" dirty="0" smtClean="0"/>
                <a:t>into</a:t>
              </a:r>
            </a:p>
          </p:txBody>
        </p:sp>
        <p:cxnSp>
          <p:nvCxnSpPr>
            <p:cNvPr id="119" name="Straight Arrow Connector 118"/>
            <p:cNvCxnSpPr>
              <a:stCxn id="33" idx="3"/>
              <a:endCxn id="93" idx="6"/>
            </p:cNvCxnSpPr>
            <p:nvPr/>
          </p:nvCxnSpPr>
          <p:spPr>
            <a:xfrm flipH="1">
              <a:off x="5861692" y="1669942"/>
              <a:ext cx="830328" cy="466200"/>
            </a:xfrm>
            <a:prstGeom prst="straightConnector1">
              <a:avLst/>
            </a:prstGeom>
            <a:ln w="9525">
              <a:solidFill>
                <a:schemeClr val="tx1"/>
              </a:solidFill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0" name="Straight Connector 119"/>
            <p:cNvCxnSpPr>
              <a:stCxn id="11" idx="5"/>
              <a:endCxn id="99" idx="1"/>
            </p:cNvCxnSpPr>
            <p:nvPr/>
          </p:nvCxnSpPr>
          <p:spPr>
            <a:xfrm>
              <a:off x="2030158" y="2179409"/>
              <a:ext cx="2108782" cy="869574"/>
            </a:xfrm>
            <a:prstGeom prst="line">
              <a:avLst/>
            </a:prstGeom>
            <a:ln w="9525">
              <a:solidFill>
                <a:schemeClr val="tx1"/>
              </a:solidFill>
              <a:prstDash val="sysDot"/>
              <a:tailEnd type="arrow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21" name="TextBox 120"/>
            <p:cNvSpPr txBox="1"/>
            <p:nvPr/>
          </p:nvSpPr>
          <p:spPr>
            <a:xfrm>
              <a:off x="2406528" y="2612797"/>
              <a:ext cx="1133644" cy="4001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rtlCol="0">
              <a:spAutoFit/>
            </a:bodyPr>
            <a:lstStyle/>
            <a:p>
              <a:r>
                <a:rPr lang="en-AU" sz="1000" dirty="0" smtClean="0"/>
                <a:t>Subset of </a:t>
              </a:r>
            </a:p>
            <a:p>
              <a:r>
                <a:rPr lang="en-AU" sz="1000" dirty="0" err="1" smtClean="0"/>
                <a:t>IdentifiedObjects</a:t>
              </a:r>
              <a:endParaRPr lang="en-AU" sz="1000" dirty="0" smtClean="0"/>
            </a:p>
          </p:txBody>
        </p:sp>
      </p:grpSp>
      <p:sp>
        <p:nvSpPr>
          <p:cNvPr id="122" name="Text Placeholder 1"/>
          <p:cNvSpPr>
            <a:spLocks noGrp="1"/>
          </p:cNvSpPr>
          <p:nvPr>
            <p:ph type="body" sz="quarter" idx="13"/>
          </p:nvPr>
        </p:nvSpPr>
        <p:spPr>
          <a:xfrm>
            <a:off x="283169" y="270000"/>
            <a:ext cx="8460000" cy="900000"/>
          </a:xfrm>
        </p:spPr>
        <p:txBody>
          <a:bodyPr/>
          <a:lstStyle/>
          <a:p>
            <a:r>
              <a:rPr lang="en-AU" dirty="0" smtClean="0"/>
              <a:t>ChEBI to SKOS process</a:t>
            </a:r>
            <a:endParaRPr lang="en-AU" dirty="0"/>
          </a:p>
        </p:txBody>
      </p:sp>
      <p:sp>
        <p:nvSpPr>
          <p:cNvPr id="123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360363" y="6516688"/>
            <a:ext cx="6119812" cy="107950"/>
          </a:xfrm>
        </p:spPr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AU" dirty="0" smtClean="0"/>
              <a:t>Water Quality </a:t>
            </a:r>
            <a:r>
              <a:rPr lang="en-AU" dirty="0" smtClean="0"/>
              <a:t>observable property </a:t>
            </a:r>
            <a:r>
              <a:rPr lang="en-AU" dirty="0" smtClean="0"/>
              <a:t>vocabulary</a:t>
            </a:r>
            <a:endParaRPr lang="en-AU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5"/>
          </p:nvPr>
        </p:nvSpPr>
        <p:spPr>
          <a:xfrm>
            <a:off x="360363" y="872566"/>
            <a:ext cx="8459787" cy="4559300"/>
          </a:xfrm>
        </p:spPr>
        <p:txBody>
          <a:bodyPr/>
          <a:lstStyle/>
          <a:p>
            <a:r>
              <a:rPr lang="en-AU" sz="2000" dirty="0" smtClean="0"/>
              <a:t>Observable property model as a formal ontology based on </a:t>
            </a:r>
          </a:p>
          <a:p>
            <a:pPr lvl="1"/>
            <a:r>
              <a:rPr lang="en-AU" sz="1800" dirty="0" smtClean="0"/>
              <a:t>OGC </a:t>
            </a:r>
            <a:r>
              <a:rPr lang="en-AU" sz="1800" i="1" dirty="0" smtClean="0"/>
              <a:t>O&amp;M v1.0</a:t>
            </a:r>
            <a:r>
              <a:rPr lang="en-AU" sz="1800" dirty="0" smtClean="0"/>
              <a:t> (</a:t>
            </a:r>
            <a:r>
              <a:rPr lang="en-AU" sz="1800" u="sng" dirty="0" smtClean="0"/>
              <a:t>Cox, 2007</a:t>
            </a:r>
            <a:r>
              <a:rPr lang="en-AU" sz="1800" dirty="0" smtClean="0"/>
              <a:t>) </a:t>
            </a:r>
          </a:p>
          <a:p>
            <a:pPr lvl="1"/>
            <a:r>
              <a:rPr lang="en-AU" sz="1800" i="1" dirty="0" smtClean="0"/>
              <a:t>QUDT v1.1 </a:t>
            </a:r>
            <a:r>
              <a:rPr lang="en-AU" sz="1800" dirty="0" smtClean="0"/>
              <a:t>(</a:t>
            </a:r>
            <a:r>
              <a:rPr lang="en-AU" sz="1800" u="sng" dirty="0" smtClean="0"/>
              <a:t>Hodgson and Keller, 2011</a:t>
            </a:r>
            <a:r>
              <a:rPr lang="en-AU" sz="1800" dirty="0" smtClean="0"/>
              <a:t>)</a:t>
            </a:r>
          </a:p>
          <a:p>
            <a:r>
              <a:rPr lang="en-AU" sz="2000" dirty="0" smtClean="0"/>
              <a:t>Specifies </a:t>
            </a:r>
            <a:r>
              <a:rPr lang="en-AU" sz="2000" dirty="0" smtClean="0"/>
              <a:t>the relationships between </a:t>
            </a:r>
          </a:p>
          <a:p>
            <a:pPr lvl="1"/>
            <a:r>
              <a:rPr lang="en-AU" sz="1800" dirty="0" smtClean="0"/>
              <a:t>measurable water quality properties </a:t>
            </a:r>
          </a:p>
          <a:p>
            <a:pPr lvl="1"/>
            <a:r>
              <a:rPr lang="en-AU" sz="1800" dirty="0" smtClean="0"/>
              <a:t>measurement types</a:t>
            </a:r>
          </a:p>
          <a:p>
            <a:pPr lvl="1"/>
            <a:r>
              <a:rPr lang="en-AU" sz="1800" dirty="0" smtClean="0"/>
              <a:t>permissible units-of-measure</a:t>
            </a:r>
          </a:p>
          <a:p>
            <a:r>
              <a:rPr lang="en-AU" sz="2000" dirty="0" smtClean="0"/>
              <a:t>Content from </a:t>
            </a:r>
          </a:p>
          <a:p>
            <a:pPr lvl="1"/>
            <a:r>
              <a:rPr lang="en-AU" sz="1800" dirty="0" smtClean="0"/>
              <a:t>Healthy Headwaters, </a:t>
            </a:r>
          </a:p>
          <a:p>
            <a:pPr lvl="1"/>
            <a:r>
              <a:rPr lang="en-AU" sz="1800" dirty="0" smtClean="0"/>
              <a:t>Australian National Groundwater Data Transfer Standard</a:t>
            </a:r>
          </a:p>
          <a:p>
            <a:pPr lvl="1"/>
            <a:r>
              <a:rPr lang="en-AU" sz="1800" dirty="0" smtClean="0"/>
              <a:t>CUAHSI Hydrologic Information System terms;</a:t>
            </a:r>
            <a:endParaRPr lang="en-AU" sz="1800" dirty="0"/>
          </a:p>
          <a:p>
            <a:r>
              <a:rPr lang="en-AU" sz="2000" dirty="0" smtClean="0"/>
              <a:t>Analytes linked to </a:t>
            </a:r>
            <a:r>
              <a:rPr lang="en-AU" sz="2000" i="1" dirty="0" smtClean="0"/>
              <a:t>Chemical Entities of Biological Interest (ChEBI) </a:t>
            </a:r>
            <a:r>
              <a:rPr lang="en-AU" sz="2000" dirty="0" smtClean="0"/>
              <a:t>ontology</a:t>
            </a:r>
          </a:p>
          <a:p>
            <a:r>
              <a:rPr lang="en-AU" sz="2000" dirty="0" smtClean="0"/>
              <a:t>Units of measure </a:t>
            </a:r>
            <a:r>
              <a:rPr lang="en-AU" sz="2000" dirty="0" smtClean="0"/>
              <a:t>linked to </a:t>
            </a:r>
            <a:r>
              <a:rPr lang="en-AU" sz="2000" i="1" dirty="0" smtClean="0"/>
              <a:t>QUDT v1.1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WaterML-WQ |  Simon Cox |  Page 2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50236" y="6053089"/>
            <a:ext cx="7125669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0"/>
              </a:spcAft>
            </a:pPr>
            <a:r>
              <a:rPr lang="en-US" sz="1050" dirty="0" smtClean="0">
                <a:solidFill>
                  <a:schemeClr val="bg2"/>
                </a:solidFill>
              </a:rPr>
              <a:t>Simons, B.A, Yu, J. and Cox, S.J.D., (2013) </a:t>
            </a:r>
            <a:r>
              <a:rPr lang="en-AU" sz="1050" dirty="0" smtClean="0">
                <a:solidFill>
                  <a:schemeClr val="bg2"/>
                </a:solidFill>
              </a:rPr>
              <a:t>Water Quality vocabularies for the Bioregional Assessment Framework</a:t>
            </a:r>
            <a:r>
              <a:rPr lang="en-US" sz="1050" dirty="0" smtClean="0">
                <a:solidFill>
                  <a:schemeClr val="bg2"/>
                </a:solidFill>
              </a:rPr>
              <a:t>. </a:t>
            </a:r>
          </a:p>
          <a:p>
            <a:pPr>
              <a:spcAft>
                <a:spcPts val="600"/>
              </a:spcAft>
            </a:pPr>
            <a:r>
              <a:rPr lang="en-AU" sz="1050" dirty="0" smtClean="0">
                <a:solidFill>
                  <a:schemeClr val="bg2"/>
                </a:solidFill>
              </a:rPr>
              <a:t>Water for a Healthy Country Flagship Report series ISSN: 1835-095X</a:t>
            </a:r>
            <a:endParaRPr lang="en-AU" sz="1200" dirty="0" smtClean="0">
              <a:solidFill>
                <a:schemeClr val="bg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spcAft>
                <a:spcPct val="0"/>
              </a:spcAft>
            </a:pPr>
            <a:r>
              <a:rPr lang="en-US" dirty="0" smtClean="0"/>
              <a:t>Thank you</a:t>
            </a:r>
          </a:p>
        </p:txBody>
      </p:sp>
      <p:sp>
        <p:nvSpPr>
          <p:cNvPr id="38914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360000" y="3712540"/>
            <a:ext cx="6329124" cy="1530000"/>
          </a:xfrm>
        </p:spPr>
        <p:txBody>
          <a:bodyPr/>
          <a:lstStyle/>
          <a:p>
            <a:pPr eaLnBrk="1" hangingPunct="1">
              <a:spcAft>
                <a:spcPct val="0"/>
              </a:spcAft>
            </a:pPr>
            <a:r>
              <a:rPr lang="en-US" dirty="0" smtClean="0"/>
              <a:t>Environmental Information Systems</a:t>
            </a:r>
          </a:p>
          <a:p>
            <a:pPr lvl="1" eaLnBrk="1" hangingPunct="1">
              <a:spcAft>
                <a:spcPts val="563"/>
              </a:spcAft>
            </a:pPr>
            <a:r>
              <a:rPr lang="en-US" dirty="0" smtClean="0"/>
              <a:t>Simon Cox</a:t>
            </a:r>
          </a:p>
          <a:p>
            <a:pPr lvl="2" eaLnBrk="1" hangingPunct="1">
              <a:spcAft>
                <a:spcPct val="0"/>
              </a:spcAft>
              <a:tabLst/>
            </a:pPr>
            <a:r>
              <a:rPr lang="en-US" b="1" dirty="0" smtClean="0"/>
              <a:t>t</a:t>
            </a:r>
            <a:r>
              <a:rPr lang="en-US" dirty="0" smtClean="0"/>
              <a:t>	+61 3 9252 6342</a:t>
            </a:r>
          </a:p>
          <a:p>
            <a:pPr lvl="2" eaLnBrk="1" hangingPunct="1">
              <a:spcAft>
                <a:spcPct val="0"/>
              </a:spcAft>
              <a:tabLst/>
            </a:pPr>
            <a:r>
              <a:rPr lang="en-US" b="1" dirty="0" smtClean="0"/>
              <a:t>e</a:t>
            </a:r>
            <a:r>
              <a:rPr lang="en-US" dirty="0" smtClean="0"/>
              <a:t>	simon.cox@csiro.au</a:t>
            </a:r>
          </a:p>
          <a:p>
            <a:pPr lvl="2">
              <a:spcAft>
                <a:spcPct val="0"/>
              </a:spcAft>
              <a:tabLst/>
            </a:pPr>
            <a:r>
              <a:rPr lang="en-US" b="1" dirty="0" smtClean="0"/>
              <a:t>w</a:t>
            </a:r>
            <a:r>
              <a:rPr lang="en-US" dirty="0" smtClean="0"/>
              <a:t>	www.csiro.au/science/Environmental-Information-Systems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7"/>
          </p:nvPr>
        </p:nvSpPr>
        <p:spPr/>
        <p:txBody>
          <a:bodyPr/>
          <a:lstStyle/>
          <a:p>
            <a:r>
              <a:rPr lang="en-AU" dirty="0" smtClean="0"/>
              <a:t>Land and Water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SIRO_PowerPoint_Midday_120210">
  <a:themeElements>
    <a:clrScheme name="CSIRO Midday">
      <a:dk1>
        <a:sysClr val="windowText" lastClr="000000"/>
      </a:dk1>
      <a:lt1>
        <a:srgbClr val="FBFEFF"/>
      </a:lt1>
      <a:dk2>
        <a:srgbClr val="000000"/>
      </a:dk2>
      <a:lt2>
        <a:srgbClr val="FBFEFF"/>
      </a:lt2>
      <a:accent1>
        <a:srgbClr val="00A9CE"/>
      </a:accent1>
      <a:accent2>
        <a:srgbClr val="00313C"/>
      </a:accent2>
      <a:accent3>
        <a:srgbClr val="78BE20"/>
      </a:accent3>
      <a:accent4>
        <a:srgbClr val="4A7729"/>
      </a:accent4>
      <a:accent5>
        <a:srgbClr val="9FAEE5"/>
      </a:accent5>
      <a:accent6>
        <a:srgbClr val="1E22AA"/>
      </a:accent6>
      <a:hlink>
        <a:srgbClr val="41B6E6"/>
      </a:hlink>
      <a:folHlink>
        <a:srgbClr val="004B87"/>
      </a:folHlink>
    </a:clrScheme>
    <a:fontScheme name="CSIRO Fonts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ln w="9525">
          <a:solidFill>
            <a:schemeClr val="tx2">
              <a:lumMod val="40000"/>
              <a:lumOff val="60000"/>
            </a:schemeClr>
          </a:solidFill>
          <a:tailEnd type="arrow"/>
        </a:ln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buFont typeface="Wingdings" pitchFamily="2" charset="2"/>
          <a:buChar char="§"/>
          <a:defRPr dirty="0" err="1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CSIRO_PowerPoint_Midday_120210</Template>
  <TotalTime>5877</TotalTime>
  <Words>1604</Words>
  <Application>Microsoft Office PowerPoint</Application>
  <PresentationFormat>On-screen Show (4:3)</PresentationFormat>
  <Paragraphs>413</Paragraphs>
  <Slides>26</Slides>
  <Notes>3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7" baseType="lpstr">
      <vt:lpstr>CSIRO_PowerPoint_Midday_120210</vt:lpstr>
      <vt:lpstr>Water Quality data transfer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Water Quality observable property vocabulary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Thank you</vt:lpstr>
    </vt:vector>
  </TitlesOfParts>
  <Company>CSIRO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Simons, Bruce (CLW, Highett)</dc:creator>
  <cp:lastModifiedBy>Cox, Simon (CLW, Highett)</cp:lastModifiedBy>
  <cp:revision>451</cp:revision>
  <dcterms:created xsi:type="dcterms:W3CDTF">2012-03-27T21:56:02Z</dcterms:created>
  <dcterms:modified xsi:type="dcterms:W3CDTF">2013-09-23T14:57:52Z</dcterms:modified>
  <cp:category>Master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0x010100529B7581109BE041A80104B7BC62AE32</vt:lpwstr>
  </property>
</Properties>
</file>