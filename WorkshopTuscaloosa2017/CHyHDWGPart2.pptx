
<file path=[Content_Types].xml><?xml version="1.0" encoding="utf-8"?>
<Types xmlns="http://schemas.openxmlformats.org/package/2006/content-types">
  <Default Extension="xml" ContentType="application/xml"/>
  <Default Extension="wmf" ContentType="image/x-wmf"/>
  <Default Extension="jpeg" ContentType="image/jpeg"/>
  <Default Extension="rels" ContentType="application/vnd.openxmlformats-package.relationships+xml"/>
  <Default Extension="emf" ContentType="image/x-emf"/>
  <Default Extension="vml" ContentType="application/vnd.openxmlformats-officedocument.vmlDrawing"/>
  <Default Extension="bin" ContentType="application/vnd.openxmlformats-officedocument.oleObject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46"/>
  </p:notesMasterIdLst>
  <p:sldIdLst>
    <p:sldId id="414" r:id="rId2"/>
    <p:sldId id="408" r:id="rId3"/>
    <p:sldId id="415" r:id="rId4"/>
    <p:sldId id="410" r:id="rId5"/>
    <p:sldId id="411" r:id="rId6"/>
    <p:sldId id="412" r:id="rId7"/>
    <p:sldId id="413" r:id="rId8"/>
    <p:sldId id="439" r:id="rId9"/>
    <p:sldId id="440" r:id="rId10"/>
    <p:sldId id="441" r:id="rId11"/>
    <p:sldId id="442" r:id="rId12"/>
    <p:sldId id="448" r:id="rId13"/>
    <p:sldId id="449" r:id="rId14"/>
    <p:sldId id="450" r:id="rId15"/>
    <p:sldId id="451" r:id="rId16"/>
    <p:sldId id="452" r:id="rId17"/>
    <p:sldId id="416" r:id="rId18"/>
    <p:sldId id="417" r:id="rId19"/>
    <p:sldId id="418" r:id="rId20"/>
    <p:sldId id="419" r:id="rId21"/>
    <p:sldId id="422" r:id="rId22"/>
    <p:sldId id="423" r:id="rId23"/>
    <p:sldId id="424" r:id="rId24"/>
    <p:sldId id="425" r:id="rId25"/>
    <p:sldId id="426" r:id="rId26"/>
    <p:sldId id="427" r:id="rId27"/>
    <p:sldId id="428" r:id="rId28"/>
    <p:sldId id="429" r:id="rId29"/>
    <p:sldId id="430" r:id="rId30"/>
    <p:sldId id="431" r:id="rId31"/>
    <p:sldId id="432" r:id="rId32"/>
    <p:sldId id="433" r:id="rId33"/>
    <p:sldId id="467" r:id="rId34"/>
    <p:sldId id="468" r:id="rId35"/>
    <p:sldId id="469" r:id="rId36"/>
    <p:sldId id="470" r:id="rId37"/>
    <p:sldId id="465" r:id="rId38"/>
    <p:sldId id="466" r:id="rId39"/>
    <p:sldId id="471" r:id="rId40"/>
    <p:sldId id="435" r:id="rId41"/>
    <p:sldId id="436" r:id="rId42"/>
    <p:sldId id="437" r:id="rId43"/>
    <p:sldId id="378" r:id="rId44"/>
    <p:sldId id="438" r:id="rId4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80" autoAdjust="0"/>
    <p:restoredTop sz="94671"/>
  </p:normalViewPr>
  <p:slideViewPr>
    <p:cSldViewPr snapToGrid="0" snapToObjects="1">
      <p:cViewPr varScale="1">
        <p:scale>
          <a:sx n="91" d="100"/>
          <a:sy n="91" d="100"/>
        </p:scale>
        <p:origin x="1736" y="1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46" Type="http://schemas.openxmlformats.org/officeDocument/2006/relationships/notesMaster" Target="notesMasters/notesMaster1.xml"/><Relationship Id="rId47" Type="http://schemas.openxmlformats.org/officeDocument/2006/relationships/presProps" Target="presProps.xml"/><Relationship Id="rId48" Type="http://schemas.openxmlformats.org/officeDocument/2006/relationships/viewProps" Target="viewProps.xml"/><Relationship Id="rId49" Type="http://schemas.openxmlformats.org/officeDocument/2006/relationships/theme" Target="theme/theme1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5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9" Type="http://schemas.openxmlformats.org/officeDocument/2006/relationships/slide" Target="slides/slide8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/Relationships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78.wmf"/><Relationship Id="rId4" Type="http://schemas.openxmlformats.org/officeDocument/2006/relationships/image" Target="../media/image79.wmf"/><Relationship Id="rId1" Type="http://schemas.openxmlformats.org/officeDocument/2006/relationships/image" Target="../media/image77.wmf"/><Relationship Id="rId2" Type="http://schemas.openxmlformats.org/officeDocument/2006/relationships/image" Target="NUL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9A51FC9-AFCF-49EB-A244-BC807F184F05}" type="datetimeFigureOut">
              <a:rPr lang="en-US" smtClean="0"/>
              <a:pPr/>
              <a:t>6/21/17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95321C3-9685-46B5-915C-1C4C4FEE7A3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41393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9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10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1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1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1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1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1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http://wateroffice.ec.gc.ca/index_e.html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557CB4F-95A1-D04C-BDAD-A36BCB04A36A}" type="slidenum">
              <a:rPr lang="en-US" smtClean="0">
                <a:solidFill>
                  <a:prstClr val="black"/>
                </a:solidFill>
                <a:latin typeface="Calibri"/>
              </a:rPr>
              <a:pPr/>
              <a:t>2</a:t>
            </a:fld>
            <a:endParaRPr lang="en-US">
              <a:solidFill>
                <a:prstClr val="black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23635865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557CB4F-95A1-D04C-BDAD-A36BCB04A36A}" type="slidenum">
              <a:rPr lang="en-US" smtClean="0">
                <a:solidFill>
                  <a:prstClr val="black"/>
                </a:solidFill>
                <a:latin typeface="Calibri"/>
              </a:rPr>
              <a:pPr/>
              <a:t>5</a:t>
            </a:fld>
            <a:endParaRPr lang="en-US">
              <a:solidFill>
                <a:prstClr val="black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23635865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557CB4F-95A1-D04C-BDAD-A36BCB04A36A}" type="slidenum">
              <a:rPr lang="en-US" smtClean="0">
                <a:solidFill>
                  <a:prstClr val="black"/>
                </a:solidFill>
                <a:latin typeface="Calibri"/>
              </a:rPr>
              <a:pPr/>
              <a:t>7</a:t>
            </a:fld>
            <a:endParaRPr lang="en-US">
              <a:solidFill>
                <a:prstClr val="black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23635865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917575" y="744538"/>
            <a:ext cx="4962525" cy="3722687"/>
          </a:xfrm>
          <a:ln/>
        </p:spPr>
      </p:sp>
      <p:sp>
        <p:nvSpPr>
          <p:cNvPr id="12291" name="Notes Placeholder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ja-JP" dirty="0" smtClean="0">
              <a:ea typeface="MS PGothic" panose="020B0600070205080204" pitchFamily="34" charset="-128"/>
            </a:endParaRPr>
          </a:p>
        </p:txBody>
      </p:sp>
      <p:sp>
        <p:nvSpPr>
          <p:cNvPr id="12292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 u="sng">
                <a:solidFill>
                  <a:schemeClr val="tx2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000" b="1" u="sng">
                <a:solidFill>
                  <a:schemeClr val="tx2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000" b="1" u="sng">
                <a:solidFill>
                  <a:schemeClr val="tx2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000" b="1" u="sng">
                <a:solidFill>
                  <a:schemeClr val="tx2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000" b="1" u="sng">
                <a:solidFill>
                  <a:schemeClr val="tx2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 u="sng">
                <a:solidFill>
                  <a:schemeClr val="tx2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 u="sng">
                <a:solidFill>
                  <a:schemeClr val="tx2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 u="sng">
                <a:solidFill>
                  <a:schemeClr val="tx2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 u="sng">
                <a:solidFill>
                  <a:schemeClr val="tx2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F1017890-9FF8-4956-B3B9-BE6C350FFE7B}" type="slidenum">
              <a:rPr lang="en-ZA" altLang="ja-JP" sz="1200" b="0" u="none" smtClean="0">
                <a:solidFill>
                  <a:srgbClr val="000000"/>
                </a:solidFill>
                <a:latin typeface="Arial" panose="020B0604020202020204" pitchFamily="34" charset="0"/>
              </a:rPr>
              <a:pPr/>
              <a:t>8</a:t>
            </a:fld>
            <a:endParaRPr lang="en-ZA" altLang="ja-JP" sz="1200" b="0" u="none" smtClean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7580853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5A08714-0123-4697-BB9E-E797D37FF921}" type="slidenum">
              <a:rPr lang="en-US" smtClean="0"/>
              <a:pPr/>
              <a:t>18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5A08714-0123-4697-BB9E-E797D37FF921}" type="slidenum">
              <a:rPr lang="en-US" smtClean="0"/>
              <a:pPr/>
              <a:t>19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20B016F9-CE24-4E5C-871E-3BDA4C18453A}" type="slidenum">
              <a:rPr lang="en-US"/>
              <a:pPr/>
              <a:t>20</a:t>
            </a:fld>
            <a:endParaRPr lang="en-US"/>
          </a:p>
        </p:txBody>
      </p:sp>
      <p:sp>
        <p:nvSpPr>
          <p:cNvPr id="4505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505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557CB4F-95A1-D04C-BDAD-A36BCB04A36A}" type="slidenum">
              <a:rPr lang="en-US" smtClean="0">
                <a:solidFill>
                  <a:prstClr val="black"/>
                </a:solidFill>
                <a:latin typeface="Calibri"/>
              </a:rPr>
              <a:pPr/>
              <a:t>23</a:t>
            </a:fld>
            <a:endParaRPr lang="en-US">
              <a:solidFill>
                <a:prstClr val="black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23635865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7"/>
          <p:cNvSpPr txBox="1">
            <a:spLocks noGrp="1" noChangeArrowheads="1"/>
          </p:cNvSpPr>
          <p:nvPr/>
        </p:nvSpPr>
        <p:spPr bwMode="auto">
          <a:xfrm>
            <a:off x="3885453" y="8686288"/>
            <a:ext cx="2970946" cy="45624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568" tIns="45784" rIns="91568" bIns="45784" anchor="b"/>
          <a:lstStyle/>
          <a:p>
            <a:pPr algn="r"/>
            <a:fld id="{542D30C1-C519-46EF-949F-35A75EF166F5}" type="slidenum">
              <a:rPr lang="it-IT" sz="1200"/>
              <a:pPr algn="r"/>
              <a:t>26</a:t>
            </a:fld>
            <a:endParaRPr lang="it-IT" sz="1200"/>
          </a:p>
        </p:txBody>
      </p:sp>
      <p:sp>
        <p:nvSpPr>
          <p:cNvPr id="768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680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smtClean="0">
              <a:latin typeface="Arial" pitchFamily="34" charset="0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7"/>
          <p:cNvSpPr txBox="1">
            <a:spLocks noGrp="1" noChangeArrowheads="1"/>
          </p:cNvSpPr>
          <p:nvPr/>
        </p:nvSpPr>
        <p:spPr bwMode="auto">
          <a:xfrm>
            <a:off x="3885453" y="8686288"/>
            <a:ext cx="2970946" cy="45624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568" tIns="45784" rIns="91568" bIns="45784" anchor="b"/>
          <a:lstStyle/>
          <a:p>
            <a:pPr algn="r"/>
            <a:fld id="{542D30C1-C519-46EF-949F-35A75EF166F5}" type="slidenum">
              <a:rPr lang="it-IT" sz="1200"/>
              <a:pPr algn="r"/>
              <a:t>27</a:t>
            </a:fld>
            <a:endParaRPr lang="it-IT" sz="1200"/>
          </a:p>
        </p:txBody>
      </p:sp>
      <p:sp>
        <p:nvSpPr>
          <p:cNvPr id="768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680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smtClean="0">
              <a:latin typeface="Arial" pitchFamily="34" charset="0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6" name="Rectangle 7"/>
          <p:cNvSpPr txBox="1">
            <a:spLocks noGrp="1" noChangeArrowheads="1"/>
          </p:cNvSpPr>
          <p:nvPr/>
        </p:nvSpPr>
        <p:spPr bwMode="auto">
          <a:xfrm>
            <a:off x="3885453" y="8686288"/>
            <a:ext cx="2970946" cy="45624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568" tIns="45784" rIns="91568" bIns="45784" anchor="b"/>
          <a:lstStyle/>
          <a:p>
            <a:pPr algn="r"/>
            <a:fld id="{CDFDE890-66C6-42F5-B1FA-8E76708DAC42}" type="slidenum">
              <a:rPr lang="it-IT" sz="1200"/>
              <a:pPr algn="r"/>
              <a:t>29</a:t>
            </a:fld>
            <a:endParaRPr lang="it-IT" sz="1200"/>
          </a:p>
        </p:txBody>
      </p:sp>
      <p:sp>
        <p:nvSpPr>
          <p:cNvPr id="1085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85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smtClean="0">
              <a:latin typeface="Arial" pitchFamily="34" charset="0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6" name="Rectangle 7"/>
          <p:cNvSpPr txBox="1">
            <a:spLocks noGrp="1" noChangeArrowheads="1"/>
          </p:cNvSpPr>
          <p:nvPr/>
        </p:nvSpPr>
        <p:spPr bwMode="auto">
          <a:xfrm>
            <a:off x="3885453" y="8686288"/>
            <a:ext cx="2970946" cy="45624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568" tIns="45784" rIns="91568" bIns="45784" anchor="b"/>
          <a:lstStyle/>
          <a:p>
            <a:pPr algn="r"/>
            <a:fld id="{CDFDE890-66C6-42F5-B1FA-8E76708DAC42}" type="slidenum">
              <a:rPr lang="it-IT" sz="1200"/>
              <a:pPr algn="r"/>
              <a:t>30</a:t>
            </a:fld>
            <a:endParaRPr lang="it-IT" sz="1200"/>
          </a:p>
        </p:txBody>
      </p:sp>
      <p:sp>
        <p:nvSpPr>
          <p:cNvPr id="1085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85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smtClean="0">
              <a:latin typeface="Arial" pitchFamily="34" charset="0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6" name="Rectangle 7"/>
          <p:cNvSpPr txBox="1">
            <a:spLocks noGrp="1" noChangeArrowheads="1"/>
          </p:cNvSpPr>
          <p:nvPr/>
        </p:nvSpPr>
        <p:spPr bwMode="auto">
          <a:xfrm>
            <a:off x="3885453" y="8686288"/>
            <a:ext cx="2970946" cy="45624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568" tIns="45784" rIns="91568" bIns="45784" anchor="b"/>
          <a:lstStyle/>
          <a:p>
            <a:pPr algn="r"/>
            <a:fld id="{CDFDE890-66C6-42F5-B1FA-8E76708DAC42}" type="slidenum">
              <a:rPr lang="it-IT" sz="1200"/>
              <a:pPr algn="r"/>
              <a:t>31</a:t>
            </a:fld>
            <a:endParaRPr lang="it-IT" sz="1200"/>
          </a:p>
        </p:txBody>
      </p:sp>
      <p:sp>
        <p:nvSpPr>
          <p:cNvPr id="1085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85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smtClean="0">
              <a:latin typeface="Arial" pitchFamily="34" charset="0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B0FE348-F6E3-0D4A-9E6C-6330799BBDC4}" type="slidenum">
              <a:rPr lang="en-US" smtClean="0"/>
              <a:pPr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19655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86644028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59AF2F-52C6-9B46-B8B2-0579234AE62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646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59AF2F-52C6-9B46-B8B2-0579234AE62E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Picture 6" descr="wmo2016_powerpoint_standard_v2-2.jpg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5151694"/>
            <a:ext cx="1988820" cy="1714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09313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59AF2F-52C6-9B46-B8B2-0579234AE62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39018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59AF2F-52C6-9B46-B8B2-0579234AE62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6633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59AF2F-52C6-9B46-B8B2-0579234AE62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64548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59AF2F-52C6-9B46-B8B2-0579234AE62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37271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59AF2F-52C6-9B46-B8B2-0579234AE62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3129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59AF2F-52C6-9B46-B8B2-0579234AE62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55096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59AF2F-52C6-9B46-B8B2-0579234AE62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4843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BIG title_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2"/>
          <p:cNvSpPr>
            <a:spLocks/>
          </p:cNvSpPr>
          <p:nvPr/>
        </p:nvSpPr>
        <p:spPr bwMode="ltGray">
          <a:xfrm>
            <a:off x="0" y="5257800"/>
            <a:ext cx="9144000" cy="1600200"/>
          </a:xfrm>
          <a:prstGeom prst="rect">
            <a:avLst/>
          </a:prstGeom>
          <a:gradFill rotWithShape="0">
            <a:gsLst>
              <a:gs pos="0">
                <a:srgbClr val="003053"/>
              </a:gs>
              <a:gs pos="100000">
                <a:srgbClr val="0083D4"/>
              </a:gs>
            </a:gsLst>
            <a:lin ang="2400000" scaled="1"/>
          </a:gradFill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0" tIns="0" rIns="0" bIns="0">
            <a:prstTxWarp prst="textNoShape">
              <a:avLst/>
            </a:prstTxWarp>
          </a:bodyPr>
          <a:lstStyle/>
          <a:p>
            <a:pPr defTabSz="457200" eaLnBrk="1" fontAlgn="auto" hangingPunct="1">
              <a:spcBef>
                <a:spcPts val="0"/>
              </a:spcBef>
              <a:spcAft>
                <a:spcPts val="0"/>
              </a:spcAft>
              <a:buClrTx/>
              <a:buFontTx/>
              <a:buNone/>
            </a:pPr>
            <a:endParaRPr lang="en-US" sz="1800">
              <a:solidFill>
                <a:prstClr val="black"/>
              </a:solidFill>
              <a:latin typeface="Arial"/>
              <a:ea typeface="ＭＳ Ｐゴシック"/>
              <a:cs typeface="ＭＳ Ｐゴシック"/>
            </a:endParaRPr>
          </a:p>
        </p:txBody>
      </p:sp>
      <p:sp>
        <p:nvSpPr>
          <p:cNvPr id="8" name="Rectangle 1"/>
          <p:cNvSpPr>
            <a:spLocks/>
          </p:cNvSpPr>
          <p:nvPr/>
        </p:nvSpPr>
        <p:spPr bwMode="auto">
          <a:xfrm>
            <a:off x="0" y="0"/>
            <a:ext cx="9144000" cy="5257800"/>
          </a:xfrm>
          <a:prstGeom prst="rect">
            <a:avLst/>
          </a:prstGeom>
          <a:solidFill>
            <a:srgbClr val="B9E0F7">
              <a:alpha val="60000"/>
            </a:srgbClr>
          </a:solidFill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0" tIns="0" rIns="0" bIns="0">
            <a:prstTxWarp prst="textNoShape">
              <a:avLst/>
            </a:prstTxWarp>
          </a:bodyPr>
          <a:lstStyle/>
          <a:p>
            <a:pPr defTabSz="457200" eaLnBrk="1" fontAlgn="auto" hangingPunct="1">
              <a:spcBef>
                <a:spcPts val="0"/>
              </a:spcBef>
              <a:spcAft>
                <a:spcPts val="0"/>
              </a:spcAft>
              <a:buClrTx/>
              <a:buFontTx/>
              <a:buNone/>
            </a:pPr>
            <a:endParaRPr lang="en-US" sz="1800">
              <a:solidFill>
                <a:srgbClr val="A3CA4B">
                  <a:lumMod val="60000"/>
                  <a:lumOff val="40000"/>
                </a:srgbClr>
              </a:solidFill>
              <a:latin typeface="Arial"/>
              <a:ea typeface="ＭＳ Ｐゴシック"/>
              <a:cs typeface="ＭＳ Ｐゴシック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914400" y="1600200"/>
            <a:ext cx="7315200" cy="2057400"/>
          </a:xfrm>
        </p:spPr>
        <p:txBody>
          <a:bodyPr anchor="t"/>
          <a:lstStyle>
            <a:lvl1pPr>
              <a:defRPr lang="en-US" sz="7200" b="1" i="0" kern="1200" baseline="0" dirty="0">
                <a:solidFill>
                  <a:srgbClr val="007AC2"/>
                </a:solidFill>
                <a:latin typeface="+mj-lt"/>
                <a:ea typeface="+mj-ea"/>
                <a:cs typeface="Avenir LT Std 55 Roman" pitchFamily="34" charset="0"/>
              </a:defRPr>
            </a:lvl1pPr>
          </a:lstStyle>
          <a:p>
            <a:r>
              <a:rPr lang="en-US" dirty="0"/>
              <a:t>BIG but short</a:t>
            </a:r>
            <a:br>
              <a:rPr lang="en-US" dirty="0"/>
            </a:br>
            <a:r>
              <a:rPr lang="en-US" dirty="0"/>
              <a:t>message here</a:t>
            </a:r>
          </a:p>
        </p:txBody>
      </p:sp>
      <p:sp>
        <p:nvSpPr>
          <p:cNvPr id="5" name="Segnaposto numero diapositiva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47CD9D8-4C11-4D56-84AC-F9003AC5D8FC}" type="slidenum">
              <a:rPr lang="en-US" smtClean="0">
                <a:latin typeface="Arial"/>
                <a:ea typeface="ＭＳ Ｐゴシック"/>
                <a:cs typeface="ＭＳ Ｐゴシック"/>
              </a:rPr>
              <a:pPr/>
              <a:t>‹#›</a:t>
            </a:fld>
            <a:endParaRPr lang="en-US">
              <a:latin typeface="Arial"/>
              <a:ea typeface="ＭＳ Ｐゴシック"/>
              <a:cs typeface="ＭＳ Ｐゴシック"/>
            </a:endParaRPr>
          </a:p>
        </p:txBody>
      </p:sp>
    </p:spTree>
    <p:extLst>
      <p:ext uri="{BB962C8B-B14F-4D97-AF65-F5344CB8AC3E}">
        <p14:creationId xmlns:p14="http://schemas.microsoft.com/office/powerpoint/2010/main" val="1761018151"/>
      </p:ext>
    </p:extLst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Section Title"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hape 13"/>
          <p:cNvSpPr txBox="1">
            <a:spLocks noGrp="1"/>
          </p:cNvSpPr>
          <p:nvPr>
            <p:ph type="title"/>
          </p:nvPr>
        </p:nvSpPr>
        <p:spPr>
          <a:xfrm>
            <a:off x="311701" y="2867800"/>
            <a:ext cx="8520599" cy="1122400"/>
          </a:xfrm>
          <a:prstGeom prst="rect">
            <a:avLst/>
          </a:prstGeom>
        </p:spPr>
        <p:txBody>
          <a:bodyPr lIns="91425" tIns="91425" rIns="91425" bIns="91425" anchor="ctr" anchorCtr="0"/>
          <a:lstStyle>
            <a:lvl1pPr algn="ctr">
              <a:spcBef>
                <a:spcPts val="0"/>
              </a:spcBef>
              <a:buSzPct val="100000"/>
              <a:defRPr sz="3600"/>
            </a:lvl1pPr>
            <a:lvl2pPr algn="ctr">
              <a:spcBef>
                <a:spcPts val="0"/>
              </a:spcBef>
              <a:buSzPct val="100000"/>
              <a:defRPr sz="3600"/>
            </a:lvl2pPr>
            <a:lvl3pPr algn="ctr">
              <a:spcBef>
                <a:spcPts val="0"/>
              </a:spcBef>
              <a:buSzPct val="100000"/>
              <a:defRPr sz="3600"/>
            </a:lvl3pPr>
            <a:lvl4pPr algn="ctr">
              <a:spcBef>
                <a:spcPts val="0"/>
              </a:spcBef>
              <a:buSzPct val="100000"/>
              <a:defRPr sz="3600"/>
            </a:lvl4pPr>
            <a:lvl5pPr algn="ctr">
              <a:spcBef>
                <a:spcPts val="0"/>
              </a:spcBef>
              <a:buSzPct val="100000"/>
              <a:defRPr sz="3600"/>
            </a:lvl5pPr>
            <a:lvl6pPr algn="ctr">
              <a:spcBef>
                <a:spcPts val="0"/>
              </a:spcBef>
              <a:buSzPct val="100000"/>
              <a:defRPr sz="3600"/>
            </a:lvl6pPr>
            <a:lvl7pPr algn="ctr">
              <a:spcBef>
                <a:spcPts val="0"/>
              </a:spcBef>
              <a:buSzPct val="100000"/>
              <a:defRPr sz="3600"/>
            </a:lvl7pPr>
            <a:lvl8pPr algn="ctr">
              <a:spcBef>
                <a:spcPts val="0"/>
              </a:spcBef>
              <a:buSzPct val="100000"/>
              <a:defRPr sz="3600"/>
            </a:lvl8pPr>
            <a:lvl9pPr algn="ctr">
              <a:spcBef>
                <a:spcPts val="0"/>
              </a:spcBef>
              <a:buSzPct val="100000"/>
              <a:defRPr sz="3600"/>
            </a:lvl9pPr>
          </a:lstStyle>
          <a:p>
            <a:endParaRPr/>
          </a:p>
        </p:txBody>
      </p:sp>
      <p:sp>
        <p:nvSpPr>
          <p:cNvPr id="14" name="Shape 14"/>
          <p:cNvSpPr txBox="1">
            <a:spLocks noGrp="1"/>
          </p:cNvSpPr>
          <p:nvPr>
            <p:ph type="sldNum" idx="12"/>
          </p:nvPr>
        </p:nvSpPr>
        <p:spPr>
          <a:xfrm>
            <a:off x="8472458" y="6217621"/>
            <a:ext cx="548699" cy="5248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pPr>
              <a:spcBef>
                <a:spcPts val="0"/>
              </a:spcBef>
              <a:buNone/>
            </a:pPr>
            <a:fld id="{00000000-1234-1234-1234-123412341234}" type="slidenum">
              <a:rPr lang="en-GB"/>
              <a:pPr>
                <a:spcBef>
                  <a:spcPts val="0"/>
                </a:spcBef>
                <a:buNone/>
              </a:pPr>
              <a:t>‹#›</a:t>
            </a:fld>
            <a:endParaRPr lang="en-GB"/>
          </a:p>
        </p:txBody>
      </p:sp>
    </p:spTree>
  </p:cSld>
  <p:clrMapOvr>
    <a:masterClrMapping/>
  </p:clrMapOvr>
  <p:transition advClick="0" advTm="20000">
    <p:fade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Traktanden Variant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026"/>
          <p:cNvSpPr>
            <a:spLocks noGrp="1" noChangeArrowheads="1"/>
          </p:cNvSpPr>
          <p:nvPr>
            <p:ph type="title" hasCustomPrompt="1"/>
          </p:nvPr>
        </p:nvSpPr>
        <p:spPr>
          <a:xfrm>
            <a:off x="1287214" y="260648"/>
            <a:ext cx="7461250" cy="576064"/>
          </a:xfrm>
          <a:prstGeom prst="rect">
            <a:avLst/>
          </a:prstGeom>
          <a:noFill/>
        </p:spPr>
        <p:txBody>
          <a:bodyPr/>
          <a:lstStyle>
            <a:lvl1pPr>
              <a:defRPr sz="3200"/>
            </a:lvl1pPr>
          </a:lstStyle>
          <a:p>
            <a:r>
              <a:rPr lang="de-CH" dirty="0" smtClean="0"/>
              <a:t>Traktanden</a:t>
            </a:r>
            <a:endParaRPr lang="de-CH" dirty="0"/>
          </a:p>
        </p:txBody>
      </p:sp>
      <p:sp>
        <p:nvSpPr>
          <p:cNvPr id="13" name="Rectangle 1029"/>
          <p:cNvSpPr>
            <a:spLocks noGrp="1" noChangeArrowheads="1"/>
          </p:cNvSpPr>
          <p:nvPr>
            <p:ph type="body" idx="1" hasCustomPrompt="1"/>
          </p:nvPr>
        </p:nvSpPr>
        <p:spPr>
          <a:xfrm>
            <a:off x="1285876" y="1412777"/>
            <a:ext cx="7472363" cy="4608512"/>
          </a:xfrm>
          <a:prstGeom prst="rect">
            <a:avLst/>
          </a:prstGeom>
          <a:noFill/>
          <a:ln/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800" i="1"/>
            </a:lvl3pPr>
          </a:lstStyle>
          <a:p>
            <a:r>
              <a:rPr lang="de-CH" dirty="0"/>
              <a:t>Beispieltraktandum</a:t>
            </a:r>
          </a:p>
          <a:p>
            <a:r>
              <a:rPr lang="de-CH" dirty="0"/>
              <a:t>Ein weiteres Thema</a:t>
            </a:r>
          </a:p>
          <a:p>
            <a:r>
              <a:rPr lang="de-CH" dirty="0"/>
              <a:t>Zu behandelnde Anträge</a:t>
            </a:r>
          </a:p>
          <a:p>
            <a:pPr lvl="1"/>
            <a:r>
              <a:rPr lang="de-CH" dirty="0"/>
              <a:t>Eingabe 1</a:t>
            </a:r>
          </a:p>
          <a:p>
            <a:pPr lvl="1"/>
            <a:r>
              <a:rPr lang="de-CH" dirty="0"/>
              <a:t>Eingabe </a:t>
            </a:r>
            <a:r>
              <a:rPr lang="de-CH" dirty="0" smtClean="0"/>
              <a:t>2</a:t>
            </a:r>
          </a:p>
          <a:p>
            <a:pPr lvl="2"/>
            <a:r>
              <a:rPr lang="de-CH" dirty="0" smtClean="0"/>
              <a:t>Lore </a:t>
            </a:r>
            <a:r>
              <a:rPr lang="de-CH" dirty="0" err="1" smtClean="0"/>
              <a:t>ipsum</a:t>
            </a:r>
            <a:endParaRPr lang="de-CH" dirty="0"/>
          </a:p>
          <a:p>
            <a:r>
              <a:rPr lang="de-CH" dirty="0"/>
              <a:t>Zu verabschiedende Anträge</a:t>
            </a:r>
          </a:p>
          <a:p>
            <a:r>
              <a:rPr lang="de-CH" dirty="0"/>
              <a:t>Pause</a:t>
            </a:r>
          </a:p>
          <a:p>
            <a:r>
              <a:rPr lang="de-CH" dirty="0"/>
              <a:t>Varia (nur wenn noch genügend Zeit)</a:t>
            </a:r>
          </a:p>
        </p:txBody>
      </p:sp>
    </p:spTree>
    <p:extLst>
      <p:ext uri="{BB962C8B-B14F-4D97-AF65-F5344CB8AC3E}">
        <p14:creationId xmlns:p14="http://schemas.microsoft.com/office/powerpoint/2010/main" val="95798483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Relationship Id="rId14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259AF2F-52C6-9B46-B8B2-0579234AE62E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Picture 6" descr="wmo2016_powerpoint_standard_v2-2.jpg"/>
          <p:cNvPicPr>
            <a:picLocks noChangeAspect="1"/>
          </p:cNvPicPr>
          <p:nvPr/>
        </p:nvPicPr>
        <p:blipFill>
          <a:blip r:embed="rId1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5151694"/>
            <a:ext cx="1988820" cy="1714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36171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2" r:id="rId12"/>
  </p:sldLayoutIdLst>
  <p:hf hdr="0" dt="0"/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8.xml.rels><?xml version="1.0" encoding="UTF-8" standalone="yes"?>
<Relationships xmlns="http://schemas.openxmlformats.org/package/2006/relationships"><Relationship Id="rId11" Type="http://schemas.openxmlformats.org/officeDocument/2006/relationships/image" Target="../media/image19.png"/><Relationship Id="rId12" Type="http://schemas.openxmlformats.org/officeDocument/2006/relationships/image" Target="../media/image20.png"/><Relationship Id="rId13" Type="http://schemas.openxmlformats.org/officeDocument/2006/relationships/image" Target="../media/image21.jpeg"/><Relationship Id="rId14" Type="http://schemas.openxmlformats.org/officeDocument/2006/relationships/image" Target="../media/image22.jpeg"/><Relationship Id="rId15" Type="http://schemas.openxmlformats.org/officeDocument/2006/relationships/image" Target="../media/image23.jpeg"/><Relationship Id="rId16" Type="http://schemas.openxmlformats.org/officeDocument/2006/relationships/image" Target="../media/image24.png"/><Relationship Id="rId17" Type="http://schemas.openxmlformats.org/officeDocument/2006/relationships/image" Target="../media/image25.png"/><Relationship Id="rId18" Type="http://schemas.openxmlformats.org/officeDocument/2006/relationships/image" Target="../media/image26.png"/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image" Target="../media/image13.jpeg"/><Relationship Id="rId6" Type="http://schemas.openxmlformats.org/officeDocument/2006/relationships/image" Target="../media/image14.png"/><Relationship Id="rId7" Type="http://schemas.openxmlformats.org/officeDocument/2006/relationships/image" Target="../media/image15.png"/><Relationship Id="rId8" Type="http://schemas.openxmlformats.org/officeDocument/2006/relationships/image" Target="../media/image16.jpeg"/><Relationship Id="rId9" Type="http://schemas.openxmlformats.org/officeDocument/2006/relationships/image" Target="../media/image17.png"/><Relationship Id="rId10" Type="http://schemas.openxmlformats.org/officeDocument/2006/relationships/image" Target="../media/image1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4" Type="http://schemas.openxmlformats.org/officeDocument/2006/relationships/image" Target="../media/image29.png"/><Relationship Id="rId5" Type="http://schemas.openxmlformats.org/officeDocument/2006/relationships/image" Target="../media/image30.png"/><Relationship Id="rId6" Type="http://schemas.openxmlformats.org/officeDocument/2006/relationships/image" Target="../media/image31.png"/><Relationship Id="rId7" Type="http://schemas.openxmlformats.org/officeDocument/2006/relationships/image" Target="../media/image32.png"/><Relationship Id="rId8" Type="http://schemas.openxmlformats.org/officeDocument/2006/relationships/image" Target="../media/image33.png"/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4" Type="http://schemas.openxmlformats.org/officeDocument/2006/relationships/image" Target="../media/image37.png"/><Relationship Id="rId5" Type="http://schemas.openxmlformats.org/officeDocument/2006/relationships/image" Target="../media/image38.png"/><Relationship Id="rId6" Type="http://schemas.openxmlformats.org/officeDocument/2006/relationships/image" Target="../media/image39.png"/><Relationship Id="rId7" Type="http://schemas.openxmlformats.org/officeDocument/2006/relationships/image" Target="../media/image40.png"/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1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3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4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wmf"/><Relationship Id="rId4" Type="http://schemas.openxmlformats.org/officeDocument/2006/relationships/image" Target="../media/image46.png"/><Relationship Id="rId5" Type="http://schemas.openxmlformats.org/officeDocument/2006/relationships/image" Target="../media/image47.png"/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8.wmf"/></Relationships>
</file>

<file path=ppt/slides/_rels/slide21.xml.rels><?xml version="1.0" encoding="UTF-8" standalone="yes"?>
<Relationships xmlns="http://schemas.openxmlformats.org/package/2006/relationships"><Relationship Id="rId11" Type="http://schemas.openxmlformats.org/officeDocument/2006/relationships/image" Target="../media/image58.png"/><Relationship Id="rId12" Type="http://schemas.openxmlformats.org/officeDocument/2006/relationships/image" Target="../media/image59.png"/><Relationship Id="rId13" Type="http://schemas.openxmlformats.org/officeDocument/2006/relationships/image" Target="../media/image60.png"/><Relationship Id="rId14" Type="http://schemas.openxmlformats.org/officeDocument/2006/relationships/image" Target="../media/image61.jpeg"/><Relationship Id="rId15" Type="http://schemas.openxmlformats.org/officeDocument/2006/relationships/image" Target="../media/image62.png"/><Relationship Id="rId16" Type="http://schemas.openxmlformats.org/officeDocument/2006/relationships/image" Target="../media/image63.png"/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9.png"/><Relationship Id="rId3" Type="http://schemas.openxmlformats.org/officeDocument/2006/relationships/image" Target="../media/image50.png"/><Relationship Id="rId4" Type="http://schemas.openxmlformats.org/officeDocument/2006/relationships/image" Target="../media/image51.png"/><Relationship Id="rId5" Type="http://schemas.openxmlformats.org/officeDocument/2006/relationships/image" Target="../media/image52.png"/><Relationship Id="rId6" Type="http://schemas.openxmlformats.org/officeDocument/2006/relationships/image" Target="../media/image53.png"/><Relationship Id="rId7" Type="http://schemas.openxmlformats.org/officeDocument/2006/relationships/image" Target="../media/image54.png"/><Relationship Id="rId8" Type="http://schemas.openxmlformats.org/officeDocument/2006/relationships/image" Target="../media/image55.png"/><Relationship Id="rId9" Type="http://schemas.openxmlformats.org/officeDocument/2006/relationships/image" Target="../media/image56.png"/><Relationship Id="rId10" Type="http://schemas.openxmlformats.org/officeDocument/2006/relationships/image" Target="../media/image57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jpeg"/><Relationship Id="rId4" Type="http://schemas.openxmlformats.org/officeDocument/2006/relationships/image" Target="../media/image66.jpeg"/><Relationship Id="rId5" Type="http://schemas.openxmlformats.org/officeDocument/2006/relationships/image" Target="../media/image67.jpeg"/><Relationship Id="rId6" Type="http://schemas.openxmlformats.org/officeDocument/2006/relationships/image" Target="../media/image68.jpeg"/><Relationship Id="rId7" Type="http://schemas.openxmlformats.org/officeDocument/2006/relationships/image" Target="../media/image69.jpeg"/><Relationship Id="rId8" Type="http://schemas.openxmlformats.org/officeDocument/2006/relationships/image" Target="../media/image70.jpeg"/><Relationship Id="rId9" Type="http://schemas.openxmlformats.org/officeDocument/2006/relationships/image" Target="../media/image71.jpeg"/><Relationship Id="rId10" Type="http://schemas.openxmlformats.org/officeDocument/2006/relationships/image" Target="../media/image72.png"/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4.jpe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73.png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4.png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75.png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76.png"/></Relationships>
</file>

<file path=ppt/slides/_rels/slide28.xml.rels><?xml version="1.0" encoding="UTF-8" standalone="yes"?>
<Relationships xmlns="http://schemas.openxmlformats.org/package/2006/relationships"><Relationship Id="rId11" Type="http://schemas.openxmlformats.org/officeDocument/2006/relationships/image" Target="../media/image79.wmf"/><Relationship Id="rId12" Type="http://schemas.openxmlformats.org/officeDocument/2006/relationships/image" Target="../media/image80.jpeg"/><Relationship Id="rId13" Type="http://schemas.openxmlformats.org/officeDocument/2006/relationships/oleObject" Target="../embeddings/oleObject7.bin"/><Relationship Id="rId1" Type="http://schemas.openxmlformats.org/officeDocument/2006/relationships/vmlDrawing" Target="../drawings/vmlDrawing1.vml"/><Relationship Id="rId2" Type="http://schemas.openxmlformats.org/officeDocument/2006/relationships/slideLayout" Target="../slideLayouts/slideLayout7.xml"/><Relationship Id="rId3" Type="http://schemas.openxmlformats.org/officeDocument/2006/relationships/oleObject" Target="../embeddings/oleObject1.bin"/><Relationship Id="rId4" Type="http://schemas.openxmlformats.org/officeDocument/2006/relationships/image" Target="../media/image77.wmf"/><Relationship Id="rId5" Type="http://schemas.openxmlformats.org/officeDocument/2006/relationships/oleObject" Target="../embeddings/oleObject2.bin"/><Relationship Id="rId6" Type="http://schemas.openxmlformats.org/officeDocument/2006/relationships/oleObject" Target="../embeddings/oleObject3.bin"/><Relationship Id="rId7" Type="http://schemas.openxmlformats.org/officeDocument/2006/relationships/oleObject" Target="../embeddings/oleObject4.bin"/><Relationship Id="rId8" Type="http://schemas.openxmlformats.org/officeDocument/2006/relationships/oleObject" Target="../embeddings/oleObject5.bin"/><Relationship Id="rId9" Type="http://schemas.openxmlformats.org/officeDocument/2006/relationships/image" Target="../media/image78.wmf"/><Relationship Id="rId10" Type="http://schemas.openxmlformats.org/officeDocument/2006/relationships/oleObject" Target="../embeddings/oleObject6.bin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81.png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82.png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83.png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4.emf"/><Relationship Id="rId4" Type="http://schemas.openxmlformats.org/officeDocument/2006/relationships/hyperlink" Target="https://www.wmo.int/pages/prog/www/wigos/documents/Cg-17/WIGOS_Metadata.pdf" TargetMode="External"/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4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6.png"/><Relationship Id="rId4" Type="http://schemas.openxmlformats.org/officeDocument/2006/relationships/image" Target="../media/image87.png"/><Relationship Id="rId5" Type="http://schemas.openxmlformats.org/officeDocument/2006/relationships/image" Target="../media/image88.png"/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85.png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9.png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0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2.png"/><Relationship Id="rId4" Type="http://schemas.openxmlformats.org/officeDocument/2006/relationships/image" Target="../media/image93.jpeg"/><Relationship Id="rId5" Type="http://schemas.openxmlformats.org/officeDocument/2006/relationships/image" Target="../media/image94.jpeg"/><Relationship Id="rId6" Type="http://schemas.openxmlformats.org/officeDocument/2006/relationships/image" Target="../media/image95.jpeg"/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91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7.png"/><Relationship Id="rId4" Type="http://schemas.openxmlformats.org/officeDocument/2006/relationships/image" Target="../media/image98.png"/><Relationship Id="rId5" Type="http://schemas.openxmlformats.org/officeDocument/2006/relationships/image" Target="../media/image99.png"/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96.png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0.jpeg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1.png"/><Relationship Id="rId3" Type="http://schemas.openxmlformats.org/officeDocument/2006/relationships/image" Target="../media/image102.png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3.jpeg"/><Relationship Id="rId4" Type="http://schemas.openxmlformats.org/officeDocument/2006/relationships/image" Target="../media/image104.jpeg"/><Relationship Id="rId5" Type="http://schemas.openxmlformats.org/officeDocument/2006/relationships/image" Target="../media/image105.jpeg"/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5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7.jpeg"/><Relationship Id="rId4" Type="http://schemas.openxmlformats.org/officeDocument/2006/relationships/image" Target="../media/image108.png"/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6.jpeg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9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olo 1"/>
          <p:cNvSpPr txBox="1">
            <a:spLocks/>
          </p:cNvSpPr>
          <p:nvPr/>
        </p:nvSpPr>
        <p:spPr>
          <a:xfrm>
            <a:off x="0" y="2766568"/>
            <a:ext cx="9144000" cy="484632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pPr lvl="0" algn="ctr" defTabSz="457200" eaLnBrk="1" fontAlgn="auto" hangingPunct="1">
              <a:spcBef>
                <a:spcPct val="0"/>
              </a:spcBef>
              <a:spcAft>
                <a:spcPts val="0"/>
              </a:spcAft>
              <a:buClrTx/>
            </a:pPr>
            <a:r>
              <a:rPr lang="en-US" sz="2800" b="1" dirty="0" smtClean="0">
                <a:solidFill>
                  <a:srgbClr val="007AC2"/>
                </a:solidFill>
                <a:latin typeface="+mj-lt"/>
                <a:ea typeface="+mj-ea"/>
                <a:cs typeface="Avenir LT Std 85 Heavy"/>
              </a:rPr>
              <a:t>STANDARDS IN OPERATIONAL HYDROLOGY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rgbClr val="007AC2"/>
              </a:solidFill>
              <a:effectLst/>
              <a:uLnTx/>
              <a:uFillTx/>
              <a:latin typeface="+mj-lt"/>
              <a:ea typeface="+mj-ea"/>
              <a:cs typeface="Avenir LT Std 85 Heavy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1076"/>
          <a:stretch>
            <a:fillRect/>
          </a:stretch>
        </p:blipFill>
        <p:spPr bwMode="auto">
          <a:xfrm>
            <a:off x="94965" y="548680"/>
            <a:ext cx="8960547" cy="566124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446090621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9506" name="Picture 2"/>
          <p:cNvPicPr>
            <a:picLocks noChangeAspect="1"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476518"/>
            <a:ext cx="9144000" cy="5715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Rettangolo arrotondato 2"/>
          <p:cNvSpPr/>
          <p:nvPr/>
        </p:nvSpPr>
        <p:spPr>
          <a:xfrm>
            <a:off x="2086377" y="2923504"/>
            <a:ext cx="6748530" cy="682581"/>
          </a:xfrm>
          <a:prstGeom prst="roundRect">
            <a:avLst/>
          </a:prstGeom>
          <a:noFill/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numero diapositiva 1"/>
          <p:cNvSpPr>
            <a:spLocks noGrp="1"/>
          </p:cNvSpPr>
          <p:nvPr>
            <p:ph type="sldNum" sz="quarter" idx="4294967295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947CD9D8-4C11-4D56-84AC-F9003AC5D8FC}" type="slidenum">
              <a:rPr lang="en-US" smtClean="0">
                <a:latin typeface="Arial"/>
                <a:ea typeface="ＭＳ Ｐゴシック"/>
                <a:cs typeface="ＭＳ Ｐゴシック"/>
              </a:rPr>
              <a:pPr/>
              <a:t>4</a:t>
            </a:fld>
            <a:endParaRPr lang="en-US">
              <a:latin typeface="Arial"/>
              <a:ea typeface="ＭＳ Ｐゴシック"/>
              <a:cs typeface="ＭＳ Ｐゴシック"/>
            </a:endParaRPr>
          </a:p>
        </p:txBody>
      </p:sp>
      <p:pic>
        <p:nvPicPr>
          <p:cNvPr id="3" name="Immagine 2" descr="Screenshot 2015-06-01 12.14.26.png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773893"/>
            <a:ext cx="9144000" cy="5310213"/>
          </a:xfrm>
          <a:prstGeom prst="rect">
            <a:avLst/>
          </a:prstGeom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magine 1" descr="Screenshot 2015-05-29 16.12.25.png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9144000" cy="5309419"/>
          </a:xfrm>
          <a:prstGeom prst="rect">
            <a:avLst/>
          </a:prstGeom>
        </p:spPr>
      </p:pic>
      <p:pic>
        <p:nvPicPr>
          <p:cNvPr id="3" name="Immagine 2" descr="Screenshot 2015-05-29 16.12.01.png"/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774290"/>
            <a:ext cx="9144000" cy="5309419"/>
          </a:xfrm>
          <a:prstGeom prst="rect">
            <a:avLst/>
          </a:prstGeom>
        </p:spPr>
      </p:pic>
      <p:pic>
        <p:nvPicPr>
          <p:cNvPr id="4" name="Immagine 3" descr="Screenshot 2015-05-29 16.12.42.png"/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1548581"/>
            <a:ext cx="9144000" cy="53094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6090621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numero diapositiva 1"/>
          <p:cNvSpPr>
            <a:spLocks noGrp="1"/>
          </p:cNvSpPr>
          <p:nvPr>
            <p:ph type="sldNum" sz="quarter" idx="4294967295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947CD9D8-4C11-4D56-84AC-F9003AC5D8FC}" type="slidenum">
              <a:rPr lang="en-US" smtClean="0">
                <a:latin typeface="Arial"/>
                <a:ea typeface="ＭＳ Ｐゴシック"/>
                <a:cs typeface="ＭＳ Ｐゴシック"/>
              </a:rPr>
              <a:pPr/>
              <a:t>6</a:t>
            </a:fld>
            <a:endParaRPr lang="en-US">
              <a:latin typeface="Arial"/>
              <a:ea typeface="ＭＳ Ｐゴシック"/>
              <a:cs typeface="ＭＳ Ｐゴシック"/>
            </a:endParaRPr>
          </a:p>
        </p:txBody>
      </p:sp>
      <p:pic>
        <p:nvPicPr>
          <p:cNvPr id="3" name="Immagine 2" descr="canada-52n.png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571500"/>
            <a:ext cx="9144000" cy="5715000"/>
          </a:xfrm>
          <a:prstGeom prst="rect">
            <a:avLst/>
          </a:prstGeom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magine 1" descr="sweb1.png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9144000" cy="5114940"/>
          </a:xfrm>
          <a:prstGeom prst="rect">
            <a:avLst/>
          </a:prstGeom>
        </p:spPr>
      </p:pic>
      <p:pic>
        <p:nvPicPr>
          <p:cNvPr id="3" name="Immagine 2" descr="sweb2.png"/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1715115"/>
            <a:ext cx="9144000" cy="51428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6090621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572000" y="1556792"/>
            <a:ext cx="1656184" cy="10351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scene3d>
            <a:camera prst="isometricRightUp"/>
            <a:lightRig rig="threePt" dir="t"/>
          </a:scene3d>
        </p:spPr>
      </p:pic>
      <p:grpSp>
        <p:nvGrpSpPr>
          <p:cNvPr id="3" name="Gruppo 82"/>
          <p:cNvGrpSpPr/>
          <p:nvPr/>
        </p:nvGrpSpPr>
        <p:grpSpPr>
          <a:xfrm>
            <a:off x="555626" y="836712"/>
            <a:ext cx="4952478" cy="5206437"/>
            <a:chOff x="555626" y="534524"/>
            <a:chExt cx="4952478" cy="5508625"/>
          </a:xfrm>
        </p:grpSpPr>
        <p:sp>
          <p:nvSpPr>
            <p:cNvPr id="153" name="Fumetto 1 152"/>
            <p:cNvSpPr/>
            <p:nvPr/>
          </p:nvSpPr>
          <p:spPr bwMode="auto">
            <a:xfrm>
              <a:off x="611560" y="3068960"/>
              <a:ext cx="4896544" cy="2974189"/>
            </a:xfrm>
            <a:prstGeom prst="wedgeRectCallout">
              <a:avLst>
                <a:gd name="adj1" fmla="val 47171"/>
                <a:gd name="adj2" fmla="val 31749"/>
              </a:avLst>
            </a:prstGeom>
            <a:solidFill>
              <a:schemeClr val="accent5">
                <a:lumMod val="90000"/>
              </a:schemeClr>
            </a:solidFill>
            <a:ln>
              <a:noFill/>
            </a:ln>
            <a:effectLst/>
            <a:scene3d>
              <a:camera prst="perspectiveHeroicExtremeRightFacing"/>
              <a:lightRig rig="threePt" dir="t"/>
            </a:scene3d>
            <a:extLst>
              <a:ext uri="{909E8E84-426E-40dd-AFC4-6F175D3DCCD1}"/>
              <a:ext uri="{91240B29-F687-4f45-9708-019B960494DF}"/>
              <a:ext uri="{AF507438-7753-43e0-B8FC-AC1667EBCBE1}"/>
            </a:extLst>
          </p:spPr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2000" b="1" u="sng" dirty="0">
                <a:solidFill>
                  <a:srgbClr val="000000"/>
                </a:solidFill>
                <a:latin typeface="Tahoma" panose="020B0604030504040204" pitchFamily="34" charset="0"/>
                <a:ea typeface="MS PGothic" panose="020B0600070205080204" pitchFamily="34" charset="-128"/>
              </a:endParaRPr>
            </a:p>
          </p:txBody>
        </p:sp>
        <p:sp>
          <p:nvSpPr>
            <p:cNvPr id="35" name="Fumetto 1 34"/>
            <p:cNvSpPr/>
            <p:nvPr/>
          </p:nvSpPr>
          <p:spPr bwMode="auto">
            <a:xfrm>
              <a:off x="555626" y="534524"/>
              <a:ext cx="4495799" cy="2925228"/>
            </a:xfrm>
            <a:prstGeom prst="wedgeRectCallout">
              <a:avLst>
                <a:gd name="adj1" fmla="val 86264"/>
                <a:gd name="adj2" fmla="val 53730"/>
              </a:avLst>
            </a:prstGeom>
            <a:solidFill>
              <a:schemeClr val="accent5">
                <a:lumMod val="90000"/>
              </a:schemeClr>
            </a:solidFill>
            <a:ln>
              <a:noFill/>
            </a:ln>
            <a:effectLst/>
            <a:scene3d>
              <a:camera prst="perspectiveHeroicExtremeRightFacing"/>
              <a:lightRig rig="threePt" dir="t"/>
            </a:scene3d>
            <a:extLst>
              <a:ext uri="{909E8E84-426E-40dd-AFC4-6F175D3DCCD1}"/>
              <a:ext uri="{91240B29-F687-4f45-9708-019B960494DF}"/>
              <a:ext uri="{AF507438-7753-43e0-B8FC-AC1667EBCBE1}"/>
            </a:extLst>
          </p:spPr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2000" b="1" u="sng">
                <a:solidFill>
                  <a:srgbClr val="000000"/>
                </a:solidFill>
                <a:latin typeface="Tahoma" panose="020B0604030504040204" pitchFamily="34" charset="0"/>
                <a:ea typeface="MS PGothic" panose="020B0600070205080204" pitchFamily="34" charset="-128"/>
              </a:endParaRPr>
            </a:p>
          </p:txBody>
        </p:sp>
      </p:grpSp>
      <p:sp>
        <p:nvSpPr>
          <p:cNvPr id="11280" name="TextBox 89"/>
          <p:cNvSpPr txBox="1">
            <a:spLocks noChangeArrowheads="1"/>
          </p:cNvSpPr>
          <p:nvPr/>
        </p:nvSpPr>
        <p:spPr bwMode="auto">
          <a:xfrm rot="21179596">
            <a:off x="811939" y="5592941"/>
            <a:ext cx="4498347" cy="276999"/>
          </a:xfrm>
          <a:prstGeom prst="rect">
            <a:avLst/>
          </a:prstGeom>
          <a:noFill/>
          <a:ln>
            <a:noFill/>
          </a:ln>
          <a:scene3d>
            <a:camera prst="perspectiveHeroicExtremeRightFacing"/>
            <a:lightRig rig="threePt" dir="t"/>
          </a:scene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buNone/>
              <a:defRPr/>
            </a:pPr>
            <a:r>
              <a:rPr kumimoji="0" lang="fr-CH" altLang="ja-JP" sz="1200" b="1" dirty="0" err="1" smtClean="0">
                <a:solidFill>
                  <a:srgbClr val="C00000"/>
                </a:solidFill>
              </a:rPr>
              <a:t>Brokered</a:t>
            </a:r>
            <a:r>
              <a:rPr kumimoji="0" lang="fr-CH" altLang="ja-JP" sz="1200" b="1" dirty="0" smtClean="0">
                <a:solidFill>
                  <a:srgbClr val="C00000"/>
                </a:solidFill>
              </a:rPr>
              <a:t> Data Providers </a:t>
            </a:r>
            <a:r>
              <a:rPr kumimoji="0" lang="fr-CH" altLang="ja-JP" sz="1200" dirty="0" smtClean="0">
                <a:solidFill>
                  <a:srgbClr val="C00000"/>
                </a:solidFill>
              </a:rPr>
              <a:t>(</a:t>
            </a:r>
            <a:r>
              <a:rPr kumimoji="0" lang="fr-CH" altLang="ja-JP" sz="1200" dirty="0" err="1" smtClean="0">
                <a:solidFill>
                  <a:srgbClr val="C00000"/>
                </a:solidFill>
              </a:rPr>
              <a:t>capacities</a:t>
            </a:r>
            <a:r>
              <a:rPr kumimoji="0" lang="fr-CH" altLang="ja-JP" sz="1200" dirty="0" smtClean="0">
                <a:solidFill>
                  <a:srgbClr val="C00000"/>
                </a:solidFill>
              </a:rPr>
              <a:t>, </a:t>
            </a:r>
            <a:r>
              <a:rPr kumimoji="0" lang="fr-CH" altLang="ja-JP" sz="1200" dirty="0" err="1" smtClean="0">
                <a:solidFill>
                  <a:srgbClr val="C00000"/>
                </a:solidFill>
              </a:rPr>
              <a:t>systems</a:t>
            </a:r>
            <a:r>
              <a:rPr kumimoji="0" lang="fr-CH" altLang="ja-JP" sz="1200" dirty="0" smtClean="0">
                <a:solidFill>
                  <a:srgbClr val="C00000"/>
                </a:solidFill>
              </a:rPr>
              <a:t>, networks, etc.)</a:t>
            </a:r>
            <a:endParaRPr kumimoji="0" lang="en-US" altLang="ja-JP" sz="1200" dirty="0" smtClean="0">
              <a:solidFill>
                <a:srgbClr val="C00000"/>
              </a:solidFill>
            </a:endParaRPr>
          </a:p>
        </p:txBody>
      </p:sp>
      <p:sp>
        <p:nvSpPr>
          <p:cNvPr id="11297" name="CasellaDiTesto 153"/>
          <p:cNvSpPr txBox="1">
            <a:spLocks noChangeArrowheads="1"/>
          </p:cNvSpPr>
          <p:nvPr/>
        </p:nvSpPr>
        <p:spPr bwMode="auto">
          <a:xfrm>
            <a:off x="2526344" y="5239215"/>
            <a:ext cx="511679" cy="523220"/>
          </a:xfrm>
          <a:prstGeom prst="rect">
            <a:avLst/>
          </a:prstGeom>
          <a:noFill/>
          <a:ln>
            <a:noFill/>
          </a:ln>
          <a:scene3d>
            <a:camera prst="perspectiveHeroicExtremeRightFacing"/>
            <a:lightRig rig="threePt" dir="t"/>
          </a:scene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 fontAlgn="base">
              <a:spcBef>
                <a:spcPct val="0"/>
              </a:spcBef>
              <a:spcAft>
                <a:spcPct val="0"/>
              </a:spcAft>
              <a:buFontTx/>
              <a:buNone/>
              <a:defRPr/>
            </a:pPr>
            <a:r>
              <a:rPr kumimoji="0" lang="en-US" sz="2800" dirty="0" smtClean="0">
                <a:solidFill>
                  <a:srgbClr val="000000"/>
                </a:solidFill>
                <a:latin typeface="Tahoma" panose="020B0604030504040204" pitchFamily="34" charset="0"/>
              </a:rPr>
              <a:t>...</a:t>
            </a:r>
          </a:p>
        </p:txBody>
      </p:sp>
      <p:grpSp>
        <p:nvGrpSpPr>
          <p:cNvPr id="4" name="Gruppo 1"/>
          <p:cNvGrpSpPr/>
          <p:nvPr/>
        </p:nvGrpSpPr>
        <p:grpSpPr>
          <a:xfrm>
            <a:off x="4572000" y="4556125"/>
            <a:ext cx="3859213" cy="2053412"/>
            <a:chOff x="5175250" y="4556125"/>
            <a:chExt cx="3859213" cy="2053412"/>
          </a:xfrm>
          <a:scene3d>
            <a:camera prst="perspectiveHeroicExtremeLeftFacing"/>
            <a:lightRig rig="threePt" dir="t"/>
          </a:scene3d>
        </p:grpSpPr>
        <p:grpSp>
          <p:nvGrpSpPr>
            <p:cNvPr id="8" name="Gruppo 3"/>
            <p:cNvGrpSpPr/>
            <p:nvPr/>
          </p:nvGrpSpPr>
          <p:grpSpPr>
            <a:xfrm>
              <a:off x="5175250" y="4556125"/>
              <a:ext cx="3859213" cy="2053412"/>
              <a:chOff x="5175250" y="4556125"/>
              <a:chExt cx="3859213" cy="2053412"/>
            </a:xfrm>
          </p:grpSpPr>
          <p:sp>
            <p:nvSpPr>
              <p:cNvPr id="11267" name="Fumetto 1 151"/>
              <p:cNvSpPr>
                <a:spLocks noChangeArrowheads="1"/>
              </p:cNvSpPr>
              <p:nvPr/>
            </p:nvSpPr>
            <p:spPr bwMode="auto">
              <a:xfrm>
                <a:off x="5175250" y="4556125"/>
                <a:ext cx="3859213" cy="2038350"/>
              </a:xfrm>
              <a:prstGeom prst="wedgeRectCallout">
                <a:avLst>
                  <a:gd name="adj1" fmla="val -19398"/>
                  <a:gd name="adj2" fmla="val -87269"/>
                </a:avLst>
              </a:prstGeom>
              <a:solidFill>
                <a:srgbClr val="FFC000">
                  <a:alpha val="21960"/>
                </a:srgb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>
                <a:lvl1pPr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algn="ctr" fontAlgn="base">
                  <a:spcBef>
                    <a:spcPct val="0"/>
                  </a:spcBef>
                  <a:spcAft>
                    <a:spcPct val="0"/>
                  </a:spcAft>
                  <a:buFontTx/>
                  <a:buNone/>
                  <a:defRPr/>
                </a:pPr>
                <a:endParaRPr kumimoji="0" lang="en-US" sz="2000" b="1" u="sng" smtClean="0">
                  <a:solidFill>
                    <a:srgbClr val="000000"/>
                  </a:solidFill>
                  <a:latin typeface="Tahoma" panose="020B0604030504040204" pitchFamily="34" charset="0"/>
                </a:endParaRPr>
              </a:p>
            </p:txBody>
          </p:sp>
          <p:sp>
            <p:nvSpPr>
              <p:cNvPr id="11278" name="TextBox 89"/>
              <p:cNvSpPr txBox="1">
                <a:spLocks noChangeArrowheads="1"/>
              </p:cNvSpPr>
              <p:nvPr/>
            </p:nvSpPr>
            <p:spPr bwMode="auto">
              <a:xfrm>
                <a:off x="5532843" y="6332538"/>
                <a:ext cx="3004349" cy="27699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algn="ctr" fontAlgn="base">
                  <a:spcBef>
                    <a:spcPct val="0"/>
                  </a:spcBef>
                  <a:spcAft>
                    <a:spcPct val="0"/>
                  </a:spcAft>
                  <a:buFontTx/>
                  <a:buNone/>
                  <a:defRPr/>
                </a:pPr>
                <a:r>
                  <a:rPr kumimoji="0" lang="fr-CH" altLang="ja-JP" sz="1200" b="1" dirty="0" err="1" smtClean="0">
                    <a:solidFill>
                      <a:srgbClr val="002060"/>
                    </a:solidFill>
                  </a:rPr>
                  <a:t>Hydrologic</a:t>
                </a:r>
                <a:r>
                  <a:rPr kumimoji="0" lang="fr-CH" altLang="ja-JP" sz="1200" b="1" dirty="0" smtClean="0">
                    <a:solidFill>
                      <a:srgbClr val="002060"/>
                    </a:solidFill>
                  </a:rPr>
                  <a:t> </a:t>
                </a:r>
                <a:r>
                  <a:rPr kumimoji="0" lang="fr-CH" altLang="ja-JP" sz="1200" b="1" dirty="0" err="1" smtClean="0">
                    <a:solidFill>
                      <a:srgbClr val="002060"/>
                    </a:solidFill>
                  </a:rPr>
                  <a:t>tools</a:t>
                </a:r>
                <a:r>
                  <a:rPr kumimoji="0" lang="fr-CH" altLang="ja-JP" sz="1200" b="1" dirty="0" smtClean="0">
                    <a:solidFill>
                      <a:srgbClr val="002060"/>
                    </a:solidFill>
                  </a:rPr>
                  <a:t> </a:t>
                </a:r>
                <a:r>
                  <a:rPr kumimoji="0" lang="fr-CH" altLang="ja-JP" sz="1200" dirty="0" smtClean="0">
                    <a:solidFill>
                      <a:srgbClr val="002060"/>
                    </a:solidFill>
                  </a:rPr>
                  <a:t>(</a:t>
                </a:r>
                <a:r>
                  <a:rPr kumimoji="0" lang="fr-CH" altLang="ja-JP" sz="1200" dirty="0" err="1" smtClean="0">
                    <a:solidFill>
                      <a:srgbClr val="002060"/>
                    </a:solidFill>
                  </a:rPr>
                  <a:t>tested</a:t>
                </a:r>
                <a:r>
                  <a:rPr kumimoji="0" lang="fr-CH" altLang="ja-JP" sz="1200" dirty="0" smtClean="0">
                    <a:solidFill>
                      <a:srgbClr val="002060"/>
                    </a:solidFill>
                  </a:rPr>
                  <a:t> </a:t>
                </a:r>
                <a:r>
                  <a:rPr kumimoji="0" lang="fr-CH" altLang="ja-JP" sz="1200" dirty="0" err="1" smtClean="0">
                    <a:solidFill>
                      <a:srgbClr val="002060"/>
                    </a:solidFill>
                  </a:rPr>
                  <a:t>interoperability</a:t>
                </a:r>
                <a:r>
                  <a:rPr kumimoji="0" lang="fr-CH" altLang="ja-JP" sz="1200" dirty="0" smtClean="0">
                    <a:solidFill>
                      <a:srgbClr val="002060"/>
                    </a:solidFill>
                  </a:rPr>
                  <a:t>)</a:t>
                </a:r>
                <a:endParaRPr kumimoji="0" lang="en-US" altLang="ja-JP" sz="1200" dirty="0" smtClean="0">
                  <a:solidFill>
                    <a:srgbClr val="002060"/>
                  </a:solidFill>
                </a:endParaRPr>
              </a:p>
            </p:txBody>
          </p:sp>
          <p:pic>
            <p:nvPicPr>
              <p:cNvPr id="180" name="Immagine 179"/>
              <p:cNvPicPr>
                <a:picLocks noChangeAspect="1"/>
              </p:cNvPicPr>
              <p:nvPr/>
            </p:nvPicPr>
            <p:blipFill>
              <a:blip r:embed="rId4" cstate="email">
                <a:duotone>
                  <a:prstClr val="black"/>
                  <a:schemeClr val="accent3">
                    <a:tint val="45000"/>
                    <a:satMod val="400000"/>
                  </a:schemeClr>
                </a:duotone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 bwMode="auto">
              <a:xfrm flipH="1">
                <a:off x="5380186" y="5491661"/>
                <a:ext cx="1098550" cy="678170"/>
              </a:xfrm>
              <a:prstGeom prst="rect">
                <a:avLst/>
              </a:prstGeom>
            </p:spPr>
          </p:pic>
          <p:grpSp>
            <p:nvGrpSpPr>
              <p:cNvPr id="9" name="Gruppo 61"/>
              <p:cNvGrpSpPr>
                <a:grpSpLocks/>
              </p:cNvGrpSpPr>
              <p:nvPr/>
            </p:nvGrpSpPr>
            <p:grpSpPr bwMode="auto">
              <a:xfrm>
                <a:off x="5286375" y="4664075"/>
                <a:ext cx="1266825" cy="704850"/>
                <a:chOff x="5286174" y="4663844"/>
                <a:chExt cx="1267026" cy="704659"/>
              </a:xfrm>
            </p:grpSpPr>
            <p:pic>
              <p:nvPicPr>
                <p:cNvPr id="11322" name="Picture 103"/>
                <p:cNvPicPr>
                  <a:picLocks noChangeAspect="1" noChangeArrowheads="1"/>
                </p:cNvPicPr>
                <p:nvPr/>
              </p:nvPicPr>
              <p:blipFill>
                <a:blip r:embed="rId5" cstate="email">
                  <a:clrChange>
                    <a:clrFrom>
                      <a:srgbClr val="FFFFFF"/>
                    </a:clrFrom>
                    <a:clrTo>
                      <a:srgbClr val="FFFFFF">
                        <a:alpha val="0"/>
                      </a:srgbClr>
                    </a:clrTo>
                  </a:clrChange>
                  <a:extLst>
                    <a:ext uri="{28A0092B-C50C-407E-A947-70E740481C1C}">
                      <a14:useLocalDpi xmlns:a14="http://schemas.microsoft.com/office/drawing/2010/main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5569794" y="4876800"/>
                  <a:ext cx="983406" cy="49170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pic>
              <p:nvPicPr>
                <p:cNvPr id="181" name="Immagine 180"/>
                <p:cNvPicPr>
                  <a:picLocks noChangeAspect="1"/>
                </p:cNvPicPr>
                <p:nvPr/>
              </p:nvPicPr>
              <p:blipFill>
                <a:blip r:embed="rId6" cstate="email">
                  <a:duotone>
                    <a:prstClr val="black"/>
                    <a:srgbClr val="FF0000">
                      <a:tint val="45000"/>
                      <a:satMod val="400000"/>
                    </a:srgbClr>
                  </a:duotone>
                  <a:extLst>
                    <a:ext uri="{28A0092B-C50C-407E-A947-70E740481C1C}">
                      <a14:useLocalDpi xmlns:a14="http://schemas.microsoft.com/office/drawing/2010/main"/>
                    </a:ext>
                  </a:extLst>
                </a:blip>
                <a:stretch>
                  <a:fillRect/>
                </a:stretch>
              </p:blipFill>
              <p:spPr>
                <a:xfrm flipH="1">
                  <a:off x="5286174" y="4663844"/>
                  <a:ext cx="1091767" cy="655979"/>
                </a:xfrm>
                <a:prstGeom prst="rect">
                  <a:avLst/>
                </a:prstGeom>
              </p:spPr>
            </p:pic>
          </p:grpSp>
          <p:pic>
            <p:nvPicPr>
              <p:cNvPr id="142" name="Immagine 141"/>
              <p:cNvPicPr>
                <a:picLocks noChangeAspect="1"/>
              </p:cNvPicPr>
              <p:nvPr/>
            </p:nvPicPr>
            <p:blipFill>
              <a:blip r:embed="rId4" cstate="email">
                <a:duotone>
                  <a:prstClr val="black"/>
                  <a:schemeClr val="accent3">
                    <a:tint val="45000"/>
                    <a:satMod val="400000"/>
                  </a:schemeClr>
                </a:duotone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 bwMode="auto">
              <a:xfrm flipH="1">
                <a:off x="7792649" y="5473111"/>
                <a:ext cx="1098550" cy="678170"/>
              </a:xfrm>
              <a:prstGeom prst="rect">
                <a:avLst/>
              </a:prstGeom>
            </p:spPr>
          </p:pic>
          <p:grpSp>
            <p:nvGrpSpPr>
              <p:cNvPr id="11" name="Gruppo 37"/>
              <p:cNvGrpSpPr/>
              <p:nvPr/>
            </p:nvGrpSpPr>
            <p:grpSpPr>
              <a:xfrm>
                <a:off x="6418097" y="4630101"/>
                <a:ext cx="1092200" cy="661671"/>
                <a:chOff x="7815263" y="4671288"/>
                <a:chExt cx="1092200" cy="661671"/>
              </a:xfrm>
            </p:grpSpPr>
            <p:pic>
              <p:nvPicPr>
                <p:cNvPr id="11312" name="Immagine 190"/>
                <p:cNvPicPr>
                  <a:picLocks noChangeAspect="1"/>
                </p:cNvPicPr>
                <p:nvPr/>
              </p:nvPicPr>
              <p:blipFill>
                <a:blip r:embed="rId7" cstate="email">
                  <a:grayscl/>
                  <a:biLevel thresh="50000"/>
                  <a:extLst>
                    <a:ext uri="{28A0092B-C50C-407E-A947-70E740481C1C}">
                      <a14:useLocalDpi xmlns:a14="http://schemas.microsoft.com/office/drawing/2010/main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7815263" y="4671288"/>
                  <a:ext cx="1092200" cy="65563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pic>
              <p:nvPicPr>
                <p:cNvPr id="37" name="Immagine 36"/>
                <p:cNvPicPr>
                  <a:picLocks noChangeAspect="1"/>
                </p:cNvPicPr>
                <p:nvPr/>
              </p:nvPicPr>
              <p:blipFill>
                <a:blip r:embed="rId8" cstate="email">
                  <a:clrChange>
                    <a:clrFrom>
                      <a:srgbClr val="FFFFFF"/>
                    </a:clrFrom>
                    <a:clrTo>
                      <a:srgbClr val="FFFFFF">
                        <a:alpha val="0"/>
                      </a:srgbClr>
                    </a:clrTo>
                  </a:clrChange>
                  <a:extLst>
                    <a:ext uri="{28A0092B-C50C-407E-A947-70E740481C1C}">
                      <a14:useLocalDpi xmlns:a14="http://schemas.microsoft.com/office/drawing/2010/main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176161" y="4969164"/>
                  <a:ext cx="687903" cy="363795"/>
                </a:xfrm>
                <a:prstGeom prst="rect">
                  <a:avLst/>
                </a:prstGeom>
              </p:spPr>
            </p:pic>
          </p:grpSp>
          <p:sp>
            <p:nvSpPr>
              <p:cNvPr id="152" name="CasellaDiTesto 153"/>
              <p:cNvSpPr txBox="1">
                <a:spLocks noChangeArrowheads="1"/>
              </p:cNvSpPr>
              <p:nvPr/>
            </p:nvSpPr>
            <p:spPr bwMode="auto">
              <a:xfrm>
                <a:off x="8215883" y="5596832"/>
                <a:ext cx="623887" cy="52387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algn="ctr" fontAlgn="base">
                  <a:spcBef>
                    <a:spcPct val="0"/>
                  </a:spcBef>
                  <a:spcAft>
                    <a:spcPct val="0"/>
                  </a:spcAft>
                  <a:buFontTx/>
                  <a:buNone/>
                  <a:defRPr/>
                </a:pPr>
                <a:r>
                  <a:rPr kumimoji="0" lang="en-US" sz="2800" dirty="0" smtClean="0">
                    <a:solidFill>
                      <a:srgbClr val="000000"/>
                    </a:solidFill>
                    <a:latin typeface="Tahoma" panose="020B0604030504040204" pitchFamily="34" charset="0"/>
                  </a:rPr>
                  <a:t>.. .</a:t>
                </a:r>
              </a:p>
            </p:txBody>
          </p:sp>
        </p:grpSp>
        <p:pic>
          <p:nvPicPr>
            <p:cNvPr id="71" name="Immagine 70"/>
            <p:cNvPicPr>
              <a:picLocks noChangeAspect="1"/>
            </p:cNvPicPr>
            <p:nvPr/>
          </p:nvPicPr>
          <p:blipFill>
            <a:blip r:embed="rId6" cstate="email">
              <a:duotone>
                <a:prstClr val="black"/>
                <a:srgbClr val="FF66FF">
                  <a:tint val="45000"/>
                  <a:satMod val="400000"/>
                </a:srgbClr>
              </a:duotone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 bwMode="auto">
            <a:xfrm flipH="1">
              <a:off x="6422072" y="5584513"/>
              <a:ext cx="1092200" cy="655673"/>
            </a:xfrm>
            <a:prstGeom prst="rect">
              <a:avLst/>
            </a:prstGeom>
          </p:spPr>
        </p:pic>
      </p:grpSp>
      <p:pic>
        <p:nvPicPr>
          <p:cNvPr id="11282" name="Picture 68" descr="GEOSS_Portal_Website_link2"/>
          <p:cNvPicPr>
            <a:picLocks noChangeAspect="1" noChangeArrowheads="1"/>
          </p:cNvPicPr>
          <p:nvPr/>
        </p:nvPicPr>
        <p:blipFill>
          <a:blip r:embed="rId9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804248" y="1052736"/>
            <a:ext cx="1682310" cy="18001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283" name="Line 69"/>
          <p:cNvSpPr>
            <a:spLocks noChangeShapeType="1"/>
          </p:cNvSpPr>
          <p:nvPr/>
        </p:nvSpPr>
        <p:spPr bwMode="auto">
          <a:xfrm flipH="1">
            <a:off x="6831541" y="1122101"/>
            <a:ext cx="962592" cy="38417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000" b="1" u="sng">
              <a:solidFill>
                <a:srgbClr val="000000"/>
              </a:solidFill>
              <a:latin typeface="Tahoma" panose="020B0604030504040204" pitchFamily="34" charset="0"/>
              <a:ea typeface="MS PGothic" panose="020B0600070205080204" pitchFamily="34" charset="-128"/>
            </a:endParaRPr>
          </a:p>
        </p:txBody>
      </p:sp>
      <p:sp>
        <p:nvSpPr>
          <p:cNvPr id="11284" name="Line 70"/>
          <p:cNvSpPr>
            <a:spLocks noChangeShapeType="1"/>
          </p:cNvSpPr>
          <p:nvPr/>
        </p:nvSpPr>
        <p:spPr bwMode="auto">
          <a:xfrm flipH="1">
            <a:off x="7867613" y="1265098"/>
            <a:ext cx="74530" cy="158151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000" b="1" u="sng">
              <a:solidFill>
                <a:srgbClr val="000000"/>
              </a:solidFill>
              <a:latin typeface="Tahoma" panose="020B0604030504040204" pitchFamily="34" charset="0"/>
              <a:ea typeface="MS PGothic" panose="020B0600070205080204" pitchFamily="34" charset="-128"/>
            </a:endParaRPr>
          </a:p>
        </p:txBody>
      </p:sp>
      <p:sp>
        <p:nvSpPr>
          <p:cNvPr id="11285" name="Line 71"/>
          <p:cNvSpPr>
            <a:spLocks noChangeShapeType="1"/>
          </p:cNvSpPr>
          <p:nvPr/>
        </p:nvSpPr>
        <p:spPr bwMode="auto">
          <a:xfrm flipH="1">
            <a:off x="7370046" y="1204271"/>
            <a:ext cx="429335" cy="52290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000" b="1" u="sng">
              <a:solidFill>
                <a:srgbClr val="000000"/>
              </a:solidFill>
              <a:latin typeface="Tahoma" panose="020B0604030504040204" pitchFamily="34" charset="0"/>
              <a:ea typeface="MS PGothic" panose="020B0600070205080204" pitchFamily="34" charset="-128"/>
            </a:endParaRPr>
          </a:p>
        </p:txBody>
      </p:sp>
      <p:sp>
        <p:nvSpPr>
          <p:cNvPr id="11286" name="Freeform 72"/>
          <p:cNvSpPr>
            <a:spLocks/>
          </p:cNvSpPr>
          <p:nvPr/>
        </p:nvSpPr>
        <p:spPr bwMode="auto">
          <a:xfrm>
            <a:off x="7573691" y="1213875"/>
            <a:ext cx="354805" cy="402315"/>
          </a:xfrm>
          <a:custGeom>
            <a:avLst/>
            <a:gdLst>
              <a:gd name="T0" fmla="*/ 0 w 276"/>
              <a:gd name="T1" fmla="*/ 0 h 315"/>
              <a:gd name="T2" fmla="*/ 0 w 276"/>
              <a:gd name="T3" fmla="*/ 2147483646 h 315"/>
              <a:gd name="T4" fmla="*/ 2147483646 w 276"/>
              <a:gd name="T5" fmla="*/ 2147483646 h 315"/>
              <a:gd name="T6" fmla="*/ 2147483646 w 276"/>
              <a:gd name="T7" fmla="*/ 2147483646 h 315"/>
              <a:gd name="T8" fmla="*/ 0 w 276"/>
              <a:gd name="T9" fmla="*/ 0 h 31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76"/>
              <a:gd name="T16" fmla="*/ 0 h 315"/>
              <a:gd name="T17" fmla="*/ 276 w 276"/>
              <a:gd name="T18" fmla="*/ 315 h 31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76" h="315">
                <a:moveTo>
                  <a:pt x="0" y="0"/>
                </a:moveTo>
                <a:lnTo>
                  <a:pt x="0" y="204"/>
                </a:lnTo>
                <a:lnTo>
                  <a:pt x="276" y="315"/>
                </a:lnTo>
                <a:lnTo>
                  <a:pt x="274" y="103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36862"/>
            </a:scheme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000" b="1" u="sng">
              <a:solidFill>
                <a:srgbClr val="000000"/>
              </a:solidFill>
              <a:latin typeface="Tahoma" panose="020B0604030504040204" pitchFamily="34" charset="0"/>
              <a:ea typeface="MS PGothic" panose="020B0600070205080204" pitchFamily="34" charset="-128"/>
            </a:endParaRPr>
          </a:p>
        </p:txBody>
      </p:sp>
      <p:sp>
        <p:nvSpPr>
          <p:cNvPr id="11287" name="Line 73"/>
          <p:cNvSpPr>
            <a:spLocks noChangeShapeType="1"/>
          </p:cNvSpPr>
          <p:nvPr/>
        </p:nvSpPr>
        <p:spPr bwMode="auto">
          <a:xfrm flipH="1">
            <a:off x="7853966" y="1188264"/>
            <a:ext cx="88176" cy="729929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000" b="1" u="sng">
              <a:solidFill>
                <a:srgbClr val="000000"/>
              </a:solidFill>
              <a:latin typeface="Tahoma" panose="020B0604030504040204" pitchFamily="34" charset="0"/>
              <a:ea typeface="MS PGothic" panose="020B0600070205080204" pitchFamily="34" charset="-128"/>
            </a:endParaRPr>
          </a:p>
        </p:txBody>
      </p:sp>
      <p:sp>
        <p:nvSpPr>
          <p:cNvPr id="11269" name="Text Box 72"/>
          <p:cNvSpPr txBox="1">
            <a:spLocks noChangeArrowheads="1"/>
          </p:cNvSpPr>
          <p:nvPr/>
        </p:nvSpPr>
        <p:spPr bwMode="auto">
          <a:xfrm>
            <a:off x="8028384" y="735087"/>
            <a:ext cx="1043609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kumimoji="0" lang="fr-CH" altLang="ja-JP" sz="1200" i="1" dirty="0" smtClean="0">
                <a:solidFill>
                  <a:srgbClr val="C00000"/>
                </a:solidFill>
              </a:rPr>
              <a:t>CIC</a:t>
            </a:r>
            <a:r>
              <a:rPr kumimoji="0" lang="fr-CH" altLang="ja-JP" sz="1200" dirty="0" smtClean="0">
                <a:solidFill>
                  <a:srgbClr val="000000"/>
                </a:solidFill>
              </a:rPr>
              <a:t> 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kumimoji="0" lang="fr-CH" altLang="ja-JP" sz="1200" i="1" dirty="0" smtClean="0">
                <a:solidFill>
                  <a:srgbClr val="C00000"/>
                </a:solidFill>
              </a:rPr>
              <a:t>Home Page</a:t>
            </a:r>
            <a:endParaRPr kumimoji="0" lang="en-US" altLang="ja-JP" sz="1800" dirty="0" smtClean="0">
              <a:solidFill>
                <a:srgbClr val="000000"/>
              </a:solidFill>
            </a:endParaRPr>
          </a:p>
        </p:txBody>
      </p:sp>
      <p:sp>
        <p:nvSpPr>
          <p:cNvPr id="11271" name="Text Box 72"/>
          <p:cNvSpPr txBox="1">
            <a:spLocks noChangeArrowheads="1"/>
          </p:cNvSpPr>
          <p:nvPr/>
        </p:nvSpPr>
        <p:spPr bwMode="auto">
          <a:xfrm>
            <a:off x="7956376" y="2204864"/>
            <a:ext cx="1187624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kumimoji="0" lang="fr-CH" altLang="ja-JP" sz="1200" i="1" dirty="0" smtClean="0">
                <a:solidFill>
                  <a:srgbClr val="C00000"/>
                </a:solidFill>
              </a:rPr>
              <a:t>PLATA HIS</a:t>
            </a:r>
            <a:r>
              <a:rPr kumimoji="0" lang="fr-CH" altLang="ja-JP" sz="1200" dirty="0" smtClean="0">
                <a:solidFill>
                  <a:srgbClr val="000000"/>
                </a:solidFill>
              </a:rPr>
              <a:t>             </a:t>
            </a:r>
            <a:r>
              <a:rPr kumimoji="0" lang="fr-CH" altLang="ja-JP" sz="1200" i="1" dirty="0" smtClean="0">
                <a:solidFill>
                  <a:srgbClr val="C00000"/>
                </a:solidFill>
              </a:rPr>
              <a:t>Portal</a:t>
            </a:r>
            <a:endParaRPr kumimoji="0" lang="en-US" altLang="ja-JP" sz="1800" dirty="0" smtClean="0">
              <a:solidFill>
                <a:srgbClr val="000000"/>
              </a:solidFill>
            </a:endParaRPr>
          </a:p>
        </p:txBody>
      </p:sp>
      <p:sp>
        <p:nvSpPr>
          <p:cNvPr id="11273" name="Rectangle 2"/>
          <p:cNvSpPr>
            <a:spLocks noChangeArrowheads="1"/>
          </p:cNvSpPr>
          <p:nvPr/>
        </p:nvSpPr>
        <p:spPr bwMode="auto">
          <a:xfrm>
            <a:off x="179512" y="50679"/>
            <a:ext cx="9164979" cy="542925"/>
          </a:xfrm>
          <a:prstGeom prst="rect">
            <a:avLst/>
          </a:prstGeom>
          <a:effectLst>
            <a:outerShdw blurRad="50800" dir="14400000">
              <a:srgbClr val="000000">
                <a:alpha val="60000"/>
              </a:srgbClr>
            </a:outerShdw>
          </a:effectLst>
          <a:extLst/>
        </p:spPr>
        <p:txBody>
          <a:bodyPr vert="horz" lIns="91440" tIns="45720" rIns="91440" bIns="45720" rtlCol="0" anchor="b">
            <a:noAutofit/>
          </a:bodyPr>
          <a:lstStyle/>
          <a:p>
            <a:pPr defTabSz="457200">
              <a:spcBef>
                <a:spcPct val="0"/>
              </a:spcBef>
            </a:pPr>
            <a:r>
              <a:rPr lang="fr-CH" altLang="ja-JP" sz="3200" b="1" dirty="0" err="1" smtClean="0">
                <a:solidFill>
                  <a:srgbClr val="002060"/>
                </a:solidFill>
                <a:latin typeface="Corbel" panose="020B0503020204020204" pitchFamily="34" charset="0"/>
                <a:cs typeface="Trebuchet MS"/>
              </a:rPr>
              <a:t>Hydrologic</a:t>
            </a:r>
            <a:r>
              <a:rPr lang="fr-CH" altLang="ja-JP" sz="3200" b="1" dirty="0" smtClean="0">
                <a:solidFill>
                  <a:srgbClr val="002060"/>
                </a:solidFill>
                <a:latin typeface="Corbel" panose="020B0503020204020204" pitchFamily="34" charset="0"/>
                <a:cs typeface="Trebuchet MS"/>
              </a:rPr>
              <a:t>  </a:t>
            </a:r>
            <a:r>
              <a:rPr lang="fr-CH" altLang="ja-JP" sz="3200" b="1" dirty="0">
                <a:solidFill>
                  <a:srgbClr val="002060"/>
                </a:solidFill>
                <a:latin typeface="Corbel" panose="020B0503020204020204" pitchFamily="34" charset="0"/>
                <a:cs typeface="Trebuchet MS"/>
              </a:rPr>
              <a:t>Information </a:t>
            </a:r>
            <a:r>
              <a:rPr lang="fr-CH" altLang="ja-JP" sz="3200" b="1" dirty="0" smtClean="0">
                <a:solidFill>
                  <a:srgbClr val="002060"/>
                </a:solidFill>
                <a:latin typeface="Corbel" panose="020B0503020204020204" pitchFamily="34" charset="0"/>
                <a:cs typeface="Trebuchet MS"/>
              </a:rPr>
              <a:t>System in the </a:t>
            </a:r>
            <a:r>
              <a:rPr lang="fr-CH" altLang="ja-JP" sz="3200" b="1" dirty="0" err="1" smtClean="0">
                <a:solidFill>
                  <a:srgbClr val="002060"/>
                </a:solidFill>
                <a:latin typeface="Corbel" panose="020B0503020204020204" pitchFamily="34" charset="0"/>
                <a:cs typeface="Trebuchet MS"/>
              </a:rPr>
              <a:t>Plata</a:t>
            </a:r>
            <a:r>
              <a:rPr lang="fr-CH" altLang="ja-JP" sz="3200" b="1" dirty="0" smtClean="0">
                <a:solidFill>
                  <a:srgbClr val="002060"/>
                </a:solidFill>
                <a:latin typeface="Corbel" panose="020B0503020204020204" pitchFamily="34" charset="0"/>
                <a:cs typeface="Trebuchet MS"/>
              </a:rPr>
              <a:t> basin</a:t>
            </a:r>
            <a:endParaRPr lang="en-US" altLang="ja-JP" sz="3200" b="1" dirty="0">
              <a:solidFill>
                <a:srgbClr val="002060"/>
              </a:solidFill>
              <a:latin typeface="Corbel" panose="020B0503020204020204" pitchFamily="34" charset="0"/>
              <a:cs typeface="Trebuchet MS"/>
            </a:endParaRPr>
          </a:p>
        </p:txBody>
      </p:sp>
      <p:pic>
        <p:nvPicPr>
          <p:cNvPr id="11279" name="Immagine 3"/>
          <p:cNvPicPr>
            <a:picLocks noChangeAspect="1"/>
          </p:cNvPicPr>
          <p:nvPr/>
        </p:nvPicPr>
        <p:blipFill>
          <a:blip r:embed="rId10" cstate="email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155482" y="723876"/>
            <a:ext cx="641350" cy="636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Immagine 25"/>
          <p:cNvPicPr>
            <a:picLocks noChangeAspect="1"/>
          </p:cNvPicPr>
          <p:nvPr/>
        </p:nvPicPr>
        <p:blipFill>
          <a:blip r:embed="rId11" cstate="email">
            <a:clrChange>
              <a:clrFrom>
                <a:srgbClr val="F5F6E8"/>
              </a:clrFrom>
              <a:clrTo>
                <a:srgbClr val="F5F6E8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 rot="706773">
            <a:off x="5943138" y="1413085"/>
            <a:ext cx="925513" cy="3628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281" name="Immagine 9"/>
          <p:cNvPicPr>
            <a:picLocks noChangeAspect="1"/>
          </p:cNvPicPr>
          <p:nvPr/>
        </p:nvPicPr>
        <p:blipFill>
          <a:blip r:embed="rId1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457107" y="620688"/>
            <a:ext cx="1620838" cy="536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Freccia in giù 2"/>
          <p:cNvSpPr>
            <a:spLocks noChangeArrowheads="1"/>
          </p:cNvSpPr>
          <p:nvPr/>
        </p:nvSpPr>
        <p:spPr bwMode="auto">
          <a:xfrm rot="1877827">
            <a:off x="6615113" y="2495550"/>
            <a:ext cx="509587" cy="712788"/>
          </a:xfrm>
          <a:prstGeom prst="downArrow">
            <a:avLst>
              <a:gd name="adj1" fmla="val 50000"/>
              <a:gd name="adj2" fmla="val 49960"/>
            </a:avLst>
          </a:prstGeom>
          <a:solidFill>
            <a:srgbClr val="FFC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 fontAlgn="base">
              <a:spcBef>
                <a:spcPct val="0"/>
              </a:spcBef>
              <a:spcAft>
                <a:spcPct val="0"/>
              </a:spcAft>
              <a:buFontTx/>
              <a:buNone/>
            </a:pPr>
            <a:endParaRPr kumimoji="0" lang="en-US" altLang="en-US" sz="2000" b="1" u="sng" smtClean="0">
              <a:solidFill>
                <a:srgbClr val="000000"/>
              </a:solidFill>
              <a:latin typeface="Tahoma" panose="020B0604030504040204" pitchFamily="34" charset="0"/>
            </a:endParaRPr>
          </a:p>
        </p:txBody>
      </p:sp>
      <p:pic>
        <p:nvPicPr>
          <p:cNvPr id="10" name="Immagine 9"/>
          <p:cNvPicPr>
            <a:picLocks noChangeAspect="1"/>
          </p:cNvPicPr>
          <p:nvPr/>
        </p:nvPicPr>
        <p:blipFill>
          <a:blip r:embed="rId1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860032" y="2492896"/>
            <a:ext cx="2448272" cy="2338920"/>
          </a:xfrm>
          <a:prstGeom prst="rect">
            <a:avLst/>
          </a:prstGeom>
          <a:scene3d>
            <a:camera prst="perspectiveHeroicExtremeLeftFacing"/>
            <a:lightRig rig="threePt" dir="t"/>
          </a:scene3d>
        </p:spPr>
      </p:pic>
      <p:pic>
        <p:nvPicPr>
          <p:cNvPr id="39" name="Immagine 38"/>
          <p:cNvPicPr>
            <a:picLocks noChangeAspect="1"/>
          </p:cNvPicPr>
          <p:nvPr/>
        </p:nvPicPr>
        <p:blipFill>
          <a:blip r:embed="rId1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515355" y="3927374"/>
            <a:ext cx="742210" cy="522605"/>
          </a:xfrm>
          <a:prstGeom prst="rect">
            <a:avLst/>
          </a:prstGeom>
        </p:spPr>
      </p:pic>
      <p:sp>
        <p:nvSpPr>
          <p:cNvPr id="79" name="Text Box 72"/>
          <p:cNvSpPr txBox="1">
            <a:spLocks noChangeArrowheads="1"/>
          </p:cNvSpPr>
          <p:nvPr/>
        </p:nvSpPr>
        <p:spPr bwMode="auto">
          <a:xfrm>
            <a:off x="8257565" y="3977100"/>
            <a:ext cx="90043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kumimoji="0" lang="fr-CH" altLang="ja-JP" sz="1200" i="1" dirty="0" err="1" smtClean="0">
                <a:solidFill>
                  <a:srgbClr val="C00000"/>
                </a:solidFill>
              </a:rPr>
              <a:t>Semantic</a:t>
            </a:r>
            <a:r>
              <a:rPr kumimoji="0" lang="fr-CH" altLang="ja-JP" sz="1200" i="1" dirty="0" smtClean="0">
                <a:solidFill>
                  <a:srgbClr val="C00000"/>
                </a:solidFill>
              </a:rPr>
              <a:t> </a:t>
            </a:r>
            <a:r>
              <a:rPr kumimoji="0" lang="fr-CH" altLang="ja-JP" sz="1200" i="1" dirty="0" err="1" smtClean="0">
                <a:solidFill>
                  <a:srgbClr val="C00000"/>
                </a:solidFill>
              </a:rPr>
              <a:t>engines</a:t>
            </a:r>
            <a:endParaRPr kumimoji="0" lang="fr-CH" altLang="ja-JP" sz="1200" i="1" dirty="0" smtClean="0">
              <a:solidFill>
                <a:srgbClr val="C00000"/>
              </a:solidFill>
            </a:endParaRPr>
          </a:p>
        </p:txBody>
      </p:sp>
      <p:cxnSp>
        <p:nvCxnSpPr>
          <p:cNvPr id="45" name="Connettore 1 44"/>
          <p:cNvCxnSpPr>
            <a:stCxn id="39" idx="1"/>
          </p:cNvCxnSpPr>
          <p:nvPr/>
        </p:nvCxnSpPr>
        <p:spPr>
          <a:xfrm flipH="1" flipV="1">
            <a:off x="7189399" y="4103552"/>
            <a:ext cx="325956" cy="85125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8" name="Immagine 47"/>
          <p:cNvPicPr>
            <a:picLocks noChangeAspect="1"/>
          </p:cNvPicPr>
          <p:nvPr/>
        </p:nvPicPr>
        <p:blipFill>
          <a:blip r:embed="rId1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593882" y="3423138"/>
            <a:ext cx="475184" cy="419514"/>
          </a:xfrm>
          <a:prstGeom prst="rect">
            <a:avLst/>
          </a:prstGeom>
        </p:spPr>
      </p:pic>
      <p:cxnSp>
        <p:nvCxnSpPr>
          <p:cNvPr id="89" name="Connettore 1 88"/>
          <p:cNvCxnSpPr>
            <a:stCxn id="48" idx="1"/>
          </p:cNvCxnSpPr>
          <p:nvPr/>
        </p:nvCxnSpPr>
        <p:spPr>
          <a:xfrm flipH="1">
            <a:off x="7188921" y="3632895"/>
            <a:ext cx="404961" cy="173891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3" name="Text Box 72"/>
          <p:cNvSpPr txBox="1">
            <a:spLocks noChangeArrowheads="1"/>
          </p:cNvSpPr>
          <p:nvPr/>
        </p:nvSpPr>
        <p:spPr bwMode="auto">
          <a:xfrm>
            <a:off x="8138649" y="3358273"/>
            <a:ext cx="90043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kumimoji="0" lang="fr-CH" altLang="ja-JP" sz="1200" i="1" dirty="0" err="1" smtClean="0">
                <a:solidFill>
                  <a:srgbClr val="C00000"/>
                </a:solidFill>
              </a:rPr>
              <a:t>Systems</a:t>
            </a:r>
            <a:endParaRPr kumimoji="0" lang="fr-CH" altLang="ja-JP" sz="1200" i="1" dirty="0" smtClean="0">
              <a:solidFill>
                <a:srgbClr val="C00000"/>
              </a:solidFill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kumimoji="0" lang="fr-CH" altLang="ja-JP" sz="1200" i="1" dirty="0" err="1" smtClean="0">
                <a:solidFill>
                  <a:srgbClr val="C00000"/>
                </a:solidFill>
              </a:rPr>
              <a:t>Registry</a:t>
            </a:r>
            <a:endParaRPr kumimoji="0" lang="fr-CH" altLang="ja-JP" sz="1200" i="1" dirty="0" smtClean="0">
              <a:solidFill>
                <a:srgbClr val="C00000"/>
              </a:solidFill>
            </a:endParaRPr>
          </a:p>
        </p:txBody>
      </p:sp>
      <p:grpSp>
        <p:nvGrpSpPr>
          <p:cNvPr id="12" name="Gruppo 84"/>
          <p:cNvGrpSpPr/>
          <p:nvPr/>
        </p:nvGrpSpPr>
        <p:grpSpPr>
          <a:xfrm>
            <a:off x="251520" y="836712"/>
            <a:ext cx="2088232" cy="1506688"/>
            <a:chOff x="323528" y="1124744"/>
            <a:chExt cx="2088232" cy="1506688"/>
          </a:xfrm>
        </p:grpSpPr>
        <p:pic>
          <p:nvPicPr>
            <p:cNvPr id="21" name="Immagine 20"/>
            <p:cNvPicPr>
              <a:picLocks noChangeAspect="1"/>
            </p:cNvPicPr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323528" y="1124744"/>
              <a:ext cx="2088232" cy="1506688"/>
            </a:xfrm>
            <a:prstGeom prst="rect">
              <a:avLst/>
            </a:prstGeom>
            <a:scene3d>
              <a:camera prst="perspectiveHeroicExtremeRightFacing"/>
              <a:lightRig rig="threePt" dir="t"/>
            </a:scene3d>
          </p:spPr>
        </p:pic>
        <p:sp>
          <p:nvSpPr>
            <p:cNvPr id="84" name="CasellaDiTesto 83"/>
            <p:cNvSpPr txBox="1"/>
            <p:nvPr/>
          </p:nvSpPr>
          <p:spPr>
            <a:xfrm rot="20890386">
              <a:off x="755576" y="1718224"/>
              <a:ext cx="914400" cy="504056"/>
            </a:xfrm>
            <a:prstGeom prst="rect">
              <a:avLst/>
            </a:prstGeom>
            <a:noFill/>
            <a:effectLst/>
          </p:spPr>
          <p:txBody>
            <a:bodyPr wrap="none" lIns="0" tIns="0" rIns="0" bIns="0" rtlCol="0">
              <a:noAutofit/>
            </a:bodyPr>
            <a:lstStyle/>
            <a:p>
              <a:pPr algn="ctr" eaLnBrk="0" hangingPunct="0">
                <a:lnSpc>
                  <a:spcPts val="1800"/>
                </a:lnSpc>
              </a:pPr>
              <a:r>
                <a:rPr lang="it-IT" sz="1400" b="1" dirty="0" smtClean="0">
                  <a:ea typeface="+mn-ea"/>
                  <a:cs typeface="+mn-cs"/>
                </a:rPr>
                <a:t>Argentina</a:t>
              </a:r>
            </a:p>
          </p:txBody>
        </p:sp>
      </p:grpSp>
      <p:grpSp>
        <p:nvGrpSpPr>
          <p:cNvPr id="13" name="Gruppo 85"/>
          <p:cNvGrpSpPr/>
          <p:nvPr/>
        </p:nvGrpSpPr>
        <p:grpSpPr>
          <a:xfrm>
            <a:off x="2483768" y="980728"/>
            <a:ext cx="2088232" cy="1506688"/>
            <a:chOff x="323528" y="1124744"/>
            <a:chExt cx="2088232" cy="1506688"/>
          </a:xfrm>
        </p:grpSpPr>
        <p:pic>
          <p:nvPicPr>
            <p:cNvPr id="87" name="Immagine 86"/>
            <p:cNvPicPr>
              <a:picLocks noChangeAspect="1"/>
            </p:cNvPicPr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323528" y="1124744"/>
              <a:ext cx="2088232" cy="1506688"/>
            </a:xfrm>
            <a:prstGeom prst="rect">
              <a:avLst/>
            </a:prstGeom>
            <a:scene3d>
              <a:camera prst="perspectiveHeroicExtremeRightFacing"/>
              <a:lightRig rig="threePt" dir="t"/>
            </a:scene3d>
          </p:spPr>
        </p:pic>
        <p:sp>
          <p:nvSpPr>
            <p:cNvPr id="88" name="CasellaDiTesto 87"/>
            <p:cNvSpPr txBox="1"/>
            <p:nvPr/>
          </p:nvSpPr>
          <p:spPr>
            <a:xfrm rot="20890386">
              <a:off x="755576" y="1718224"/>
              <a:ext cx="914400" cy="504056"/>
            </a:xfrm>
            <a:prstGeom prst="rect">
              <a:avLst/>
            </a:prstGeom>
            <a:noFill/>
            <a:effectLst/>
          </p:spPr>
          <p:txBody>
            <a:bodyPr wrap="none" lIns="0" tIns="0" rIns="0" bIns="0" rtlCol="0">
              <a:noAutofit/>
            </a:bodyPr>
            <a:lstStyle/>
            <a:p>
              <a:pPr algn="ctr" eaLnBrk="0" hangingPunct="0">
                <a:lnSpc>
                  <a:spcPts val="1800"/>
                </a:lnSpc>
              </a:pPr>
              <a:r>
                <a:rPr lang="it-IT" sz="1400" b="1" dirty="0" smtClean="0">
                  <a:ea typeface="+mn-ea"/>
                  <a:cs typeface="+mn-cs"/>
                </a:rPr>
                <a:t>Bolivia</a:t>
              </a:r>
            </a:p>
          </p:txBody>
        </p:sp>
      </p:grpSp>
      <p:grpSp>
        <p:nvGrpSpPr>
          <p:cNvPr id="14" name="Gruppo 89"/>
          <p:cNvGrpSpPr/>
          <p:nvPr/>
        </p:nvGrpSpPr>
        <p:grpSpPr>
          <a:xfrm>
            <a:off x="395536" y="2564904"/>
            <a:ext cx="2088232" cy="1506688"/>
            <a:chOff x="323528" y="1124744"/>
            <a:chExt cx="2088232" cy="1506688"/>
          </a:xfrm>
        </p:grpSpPr>
        <p:pic>
          <p:nvPicPr>
            <p:cNvPr id="91" name="Immagine 90"/>
            <p:cNvPicPr>
              <a:picLocks noChangeAspect="1"/>
            </p:cNvPicPr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323528" y="1124744"/>
              <a:ext cx="2088232" cy="1506688"/>
            </a:xfrm>
            <a:prstGeom prst="rect">
              <a:avLst/>
            </a:prstGeom>
            <a:scene3d>
              <a:camera prst="perspectiveHeroicExtremeRightFacing"/>
              <a:lightRig rig="threePt" dir="t"/>
            </a:scene3d>
          </p:spPr>
        </p:pic>
        <p:sp>
          <p:nvSpPr>
            <p:cNvPr id="92" name="CasellaDiTesto 91"/>
            <p:cNvSpPr txBox="1"/>
            <p:nvPr/>
          </p:nvSpPr>
          <p:spPr>
            <a:xfrm rot="20890386">
              <a:off x="755576" y="1718224"/>
              <a:ext cx="914400" cy="504056"/>
            </a:xfrm>
            <a:prstGeom prst="rect">
              <a:avLst/>
            </a:prstGeom>
            <a:noFill/>
            <a:effectLst/>
          </p:spPr>
          <p:txBody>
            <a:bodyPr wrap="none" lIns="0" tIns="0" rIns="0" bIns="0" rtlCol="0">
              <a:noAutofit/>
            </a:bodyPr>
            <a:lstStyle/>
            <a:p>
              <a:pPr algn="ctr" eaLnBrk="0" hangingPunct="0">
                <a:lnSpc>
                  <a:spcPts val="1800"/>
                </a:lnSpc>
              </a:pPr>
              <a:r>
                <a:rPr lang="it-IT" sz="1400" b="1" dirty="0" err="1" smtClean="0">
                  <a:ea typeface="+mn-ea"/>
                  <a:cs typeface="+mn-cs"/>
                </a:rPr>
                <a:t>Brasil</a:t>
              </a:r>
              <a:endParaRPr lang="it-IT" sz="1400" b="1" dirty="0" smtClean="0">
                <a:ea typeface="+mn-ea"/>
                <a:cs typeface="+mn-cs"/>
              </a:endParaRPr>
            </a:p>
          </p:txBody>
        </p:sp>
      </p:grpSp>
      <p:grpSp>
        <p:nvGrpSpPr>
          <p:cNvPr id="15" name="Gruppo 93"/>
          <p:cNvGrpSpPr/>
          <p:nvPr/>
        </p:nvGrpSpPr>
        <p:grpSpPr>
          <a:xfrm>
            <a:off x="2483768" y="2564904"/>
            <a:ext cx="2088232" cy="1506688"/>
            <a:chOff x="323528" y="1124744"/>
            <a:chExt cx="2088232" cy="1506688"/>
          </a:xfrm>
        </p:grpSpPr>
        <p:pic>
          <p:nvPicPr>
            <p:cNvPr id="95" name="Immagine 94"/>
            <p:cNvPicPr>
              <a:picLocks noChangeAspect="1"/>
            </p:cNvPicPr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323528" y="1124744"/>
              <a:ext cx="2088232" cy="1506688"/>
            </a:xfrm>
            <a:prstGeom prst="rect">
              <a:avLst/>
            </a:prstGeom>
            <a:scene3d>
              <a:camera prst="perspectiveHeroicExtremeRightFacing"/>
              <a:lightRig rig="threePt" dir="t"/>
            </a:scene3d>
          </p:spPr>
        </p:pic>
        <p:sp>
          <p:nvSpPr>
            <p:cNvPr id="96" name="CasellaDiTesto 95"/>
            <p:cNvSpPr txBox="1"/>
            <p:nvPr/>
          </p:nvSpPr>
          <p:spPr>
            <a:xfrm rot="20890386">
              <a:off x="755576" y="1718224"/>
              <a:ext cx="914400" cy="504056"/>
            </a:xfrm>
            <a:prstGeom prst="rect">
              <a:avLst/>
            </a:prstGeom>
            <a:noFill/>
            <a:effectLst/>
          </p:spPr>
          <p:txBody>
            <a:bodyPr wrap="none" lIns="0" tIns="0" rIns="0" bIns="0" rtlCol="0">
              <a:noAutofit/>
            </a:bodyPr>
            <a:lstStyle/>
            <a:p>
              <a:pPr algn="ctr" eaLnBrk="0" hangingPunct="0">
                <a:lnSpc>
                  <a:spcPts val="1800"/>
                </a:lnSpc>
              </a:pPr>
              <a:r>
                <a:rPr lang="it-IT" sz="1400" b="1" dirty="0" smtClean="0">
                  <a:ea typeface="+mn-ea"/>
                  <a:cs typeface="+mn-cs"/>
                </a:rPr>
                <a:t>Paraguay</a:t>
              </a:r>
            </a:p>
          </p:txBody>
        </p:sp>
      </p:grpSp>
      <p:grpSp>
        <p:nvGrpSpPr>
          <p:cNvPr id="16" name="Gruppo 96"/>
          <p:cNvGrpSpPr/>
          <p:nvPr/>
        </p:nvGrpSpPr>
        <p:grpSpPr>
          <a:xfrm>
            <a:off x="1475656" y="3861048"/>
            <a:ext cx="2088232" cy="1506688"/>
            <a:chOff x="323528" y="1124744"/>
            <a:chExt cx="2088232" cy="1506688"/>
          </a:xfrm>
        </p:grpSpPr>
        <p:pic>
          <p:nvPicPr>
            <p:cNvPr id="98" name="Immagine 97"/>
            <p:cNvPicPr>
              <a:picLocks noChangeAspect="1"/>
            </p:cNvPicPr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323528" y="1124744"/>
              <a:ext cx="2088232" cy="1506688"/>
            </a:xfrm>
            <a:prstGeom prst="rect">
              <a:avLst/>
            </a:prstGeom>
            <a:scene3d>
              <a:camera prst="perspectiveHeroicExtremeRightFacing"/>
              <a:lightRig rig="threePt" dir="t"/>
            </a:scene3d>
          </p:spPr>
        </p:pic>
        <p:sp>
          <p:nvSpPr>
            <p:cNvPr id="99" name="CasellaDiTesto 98"/>
            <p:cNvSpPr txBox="1"/>
            <p:nvPr/>
          </p:nvSpPr>
          <p:spPr>
            <a:xfrm rot="20890386">
              <a:off x="755576" y="1718224"/>
              <a:ext cx="914400" cy="504056"/>
            </a:xfrm>
            <a:prstGeom prst="rect">
              <a:avLst/>
            </a:prstGeom>
            <a:noFill/>
            <a:effectLst/>
          </p:spPr>
          <p:txBody>
            <a:bodyPr wrap="none" lIns="0" tIns="0" rIns="0" bIns="0" rtlCol="0">
              <a:noAutofit/>
            </a:bodyPr>
            <a:lstStyle/>
            <a:p>
              <a:pPr algn="ctr" eaLnBrk="0" hangingPunct="0">
                <a:lnSpc>
                  <a:spcPts val="1800"/>
                </a:lnSpc>
              </a:pPr>
              <a:r>
                <a:rPr lang="it-IT" sz="1400" b="1" dirty="0" smtClean="0">
                  <a:ea typeface="+mn-ea"/>
                  <a:cs typeface="+mn-cs"/>
                </a:rPr>
                <a:t>Uruguay</a:t>
              </a:r>
            </a:p>
          </p:txBody>
        </p:sp>
      </p:grpSp>
      <p:sp>
        <p:nvSpPr>
          <p:cNvPr id="5" name="CasellaDiTesto 4"/>
          <p:cNvSpPr txBox="1"/>
          <p:nvPr/>
        </p:nvSpPr>
        <p:spPr>
          <a:xfrm>
            <a:off x="323528" y="2420888"/>
            <a:ext cx="5017720" cy="1785104"/>
          </a:xfrm>
          <a:prstGeom prst="rect">
            <a:avLst/>
          </a:prstGeom>
          <a:solidFill>
            <a:schemeClr val="accent5">
              <a:lumMod val="50000"/>
              <a:alpha val="74000"/>
            </a:schemeClr>
          </a:solidFill>
          <a:effectLst>
            <a:softEdge rad="63500"/>
          </a:effectLst>
          <a:scene3d>
            <a:camera prst="perspectiveContrastingRightFacing"/>
            <a:lightRig rig="threePt" dir="t"/>
          </a:scene3d>
        </p:spPr>
        <p:txBody>
          <a:bodyPr wrap="none" rtlCol="0">
            <a:spAutoFit/>
          </a:bodyPr>
          <a:lstStyle/>
          <a:p>
            <a:pPr algn="ctr"/>
            <a:r>
              <a:rPr lang="en-US" sz="4400" b="1" dirty="0" smtClean="0">
                <a:solidFill>
                  <a:srgbClr val="FFC000"/>
                </a:solidFill>
              </a:rPr>
              <a:t>5 national </a:t>
            </a:r>
          </a:p>
          <a:p>
            <a:pPr algn="ctr"/>
            <a:r>
              <a:rPr lang="en-US" sz="4400" b="1" dirty="0" smtClean="0">
                <a:solidFill>
                  <a:srgbClr val="FFC000"/>
                </a:solidFill>
              </a:rPr>
              <a:t>brokered systems</a:t>
            </a:r>
            <a:endParaRPr lang="en-US" sz="4400" b="1" dirty="0">
              <a:solidFill>
                <a:srgbClr val="FFC000"/>
              </a:solidFill>
            </a:endParaRPr>
          </a:p>
        </p:txBody>
      </p:sp>
      <p:pic>
        <p:nvPicPr>
          <p:cNvPr id="100" name="Immagine 99"/>
          <p:cNvPicPr>
            <a:picLocks noChangeAspect="1"/>
          </p:cNvPicPr>
          <p:nvPr/>
        </p:nvPicPr>
        <p:blipFill>
          <a:blip r:embed="rId4" cstate="email">
            <a:duotone>
              <a:prstClr val="black"/>
              <a:schemeClr val="accent3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auto">
          <a:xfrm flipH="1">
            <a:off x="7020272" y="4869160"/>
            <a:ext cx="1098550" cy="678170"/>
          </a:xfrm>
          <a:prstGeom prst="rect">
            <a:avLst/>
          </a:prstGeom>
          <a:scene3d>
            <a:camera prst="perspectiveHeroicExtremeLeftFacing"/>
            <a:lightRig rig="threePt" dir="t"/>
          </a:scene3d>
        </p:spPr>
      </p:pic>
      <p:sp>
        <p:nvSpPr>
          <p:cNvPr id="101" name="CasellaDiTesto 153"/>
          <p:cNvSpPr txBox="1">
            <a:spLocks noChangeArrowheads="1"/>
          </p:cNvSpPr>
          <p:nvPr/>
        </p:nvSpPr>
        <p:spPr bwMode="auto">
          <a:xfrm>
            <a:off x="5292080" y="5445224"/>
            <a:ext cx="623887" cy="523875"/>
          </a:xfrm>
          <a:prstGeom prst="rect">
            <a:avLst/>
          </a:prstGeom>
          <a:noFill/>
          <a:ln>
            <a:noFill/>
          </a:ln>
          <a:scene3d>
            <a:camera prst="perspectiveHeroicExtremeLeftFacing"/>
            <a:lightRig rig="threePt" dir="t"/>
          </a:scene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 fontAlgn="base">
              <a:spcBef>
                <a:spcPct val="0"/>
              </a:spcBef>
              <a:spcAft>
                <a:spcPct val="0"/>
              </a:spcAft>
              <a:buFontTx/>
              <a:buNone/>
              <a:defRPr/>
            </a:pPr>
            <a:r>
              <a:rPr kumimoji="0" lang="en-US" sz="2800" dirty="0" smtClean="0">
                <a:solidFill>
                  <a:srgbClr val="000000"/>
                </a:solidFill>
                <a:latin typeface="Tahoma" panose="020B0604030504040204" pitchFamily="34" charset="0"/>
              </a:rPr>
              <a:t>.. .</a:t>
            </a:r>
          </a:p>
        </p:txBody>
      </p:sp>
      <p:sp>
        <p:nvSpPr>
          <p:cNvPr id="103" name="CasellaDiTesto 153"/>
          <p:cNvSpPr txBox="1">
            <a:spLocks noChangeArrowheads="1"/>
          </p:cNvSpPr>
          <p:nvPr/>
        </p:nvSpPr>
        <p:spPr bwMode="auto">
          <a:xfrm>
            <a:off x="6156176" y="5733256"/>
            <a:ext cx="623887" cy="523875"/>
          </a:xfrm>
          <a:prstGeom prst="rect">
            <a:avLst/>
          </a:prstGeom>
          <a:noFill/>
          <a:ln>
            <a:noFill/>
          </a:ln>
          <a:scene3d>
            <a:camera prst="perspectiveHeroicExtremeLeftFacing"/>
            <a:lightRig rig="threePt" dir="t"/>
          </a:scene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 fontAlgn="base">
              <a:spcBef>
                <a:spcPct val="0"/>
              </a:spcBef>
              <a:spcAft>
                <a:spcPct val="0"/>
              </a:spcAft>
              <a:buFontTx/>
              <a:buNone/>
              <a:defRPr/>
            </a:pPr>
            <a:r>
              <a:rPr kumimoji="0" lang="en-US" sz="2800" dirty="0" smtClean="0">
                <a:solidFill>
                  <a:srgbClr val="000000"/>
                </a:solidFill>
                <a:latin typeface="Tahoma" panose="020B0604030504040204" pitchFamily="34" charset="0"/>
              </a:rPr>
              <a:t>.. .</a:t>
            </a:r>
          </a:p>
        </p:txBody>
      </p:sp>
      <p:sp>
        <p:nvSpPr>
          <p:cNvPr id="106" name="CasellaDiTesto 105"/>
          <p:cNvSpPr txBox="1"/>
          <p:nvPr/>
        </p:nvSpPr>
        <p:spPr>
          <a:xfrm rot="591729">
            <a:off x="5475853" y="3210536"/>
            <a:ext cx="1296144" cy="576064"/>
          </a:xfrm>
          <a:prstGeom prst="rect">
            <a:avLst/>
          </a:prstGeom>
          <a:noFill/>
          <a:effectLst/>
        </p:spPr>
        <p:txBody>
          <a:bodyPr wrap="square" lIns="0" tIns="0" rIns="0" bIns="0" rtlCol="0">
            <a:noAutofit/>
          </a:bodyPr>
          <a:lstStyle/>
          <a:p>
            <a:pPr algn="ctr" eaLnBrk="0" hangingPunct="0">
              <a:lnSpc>
                <a:spcPts val="1800"/>
              </a:lnSpc>
            </a:pPr>
            <a:r>
              <a:rPr lang="it-IT" sz="1400" b="1" dirty="0" smtClean="0">
                <a:solidFill>
                  <a:schemeClr val="tx2">
                    <a:lumMod val="75000"/>
                    <a:lumOff val="25000"/>
                  </a:schemeClr>
                </a:solidFill>
                <a:ea typeface="+mn-ea"/>
                <a:cs typeface="+mn-cs"/>
              </a:rPr>
              <a:t>Broker</a:t>
            </a:r>
          </a:p>
          <a:p>
            <a:pPr algn="ctr" eaLnBrk="0" hangingPunct="0">
              <a:lnSpc>
                <a:spcPts val="1800"/>
              </a:lnSpc>
            </a:pPr>
            <a:r>
              <a:rPr lang="it-IT" sz="1400" b="1" dirty="0" smtClean="0">
                <a:solidFill>
                  <a:schemeClr val="tx2">
                    <a:lumMod val="75000"/>
                    <a:lumOff val="25000"/>
                  </a:schemeClr>
                </a:solidFill>
                <a:ea typeface="+mn-ea"/>
                <a:cs typeface="+mn-cs"/>
              </a:rPr>
              <a:t>and</a:t>
            </a:r>
          </a:p>
          <a:p>
            <a:pPr algn="ctr" eaLnBrk="0" hangingPunct="0">
              <a:lnSpc>
                <a:spcPts val="1800"/>
              </a:lnSpc>
            </a:pPr>
            <a:r>
              <a:rPr lang="it-IT" sz="1400" b="1" dirty="0" err="1" smtClean="0">
                <a:solidFill>
                  <a:schemeClr val="tx2">
                    <a:lumMod val="75000"/>
                    <a:lumOff val="25000"/>
                  </a:schemeClr>
                </a:solidFill>
              </a:rPr>
              <a:t>Mediator</a:t>
            </a:r>
            <a:r>
              <a:rPr lang="it-IT" sz="1400" b="1" dirty="0" smtClean="0">
                <a:solidFill>
                  <a:schemeClr val="tx2">
                    <a:lumMod val="75000"/>
                    <a:lumOff val="25000"/>
                  </a:schemeClr>
                </a:solidFill>
                <a:ea typeface="+mn-ea"/>
                <a:cs typeface="+mn-cs"/>
              </a:rPr>
              <a:t> </a:t>
            </a:r>
          </a:p>
        </p:txBody>
      </p:sp>
      <p:pic>
        <p:nvPicPr>
          <p:cNvPr id="64" name="Immagine 25"/>
          <p:cNvPicPr>
            <a:picLocks noChangeAspect="1"/>
          </p:cNvPicPr>
          <p:nvPr/>
        </p:nvPicPr>
        <p:blipFill>
          <a:blip r:embed="rId17" cstate="email">
            <a:clrChange>
              <a:clrFrom>
                <a:srgbClr val="F5F6E8"/>
              </a:clrFrom>
              <a:clrTo>
                <a:srgbClr val="F5F6E8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 rot="7808897">
            <a:off x="5472395" y="912300"/>
            <a:ext cx="925513" cy="392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5" name="Freccia in giù 64"/>
          <p:cNvSpPr/>
          <p:nvPr/>
        </p:nvSpPr>
        <p:spPr bwMode="auto">
          <a:xfrm rot="9587761">
            <a:off x="5484375" y="2270076"/>
            <a:ext cx="432048" cy="671119"/>
          </a:xfrm>
          <a:prstGeom prst="downArrow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endParaRPr lang="it-IT" sz="1400" b="1" dirty="0">
              <a:solidFill>
                <a:srgbClr val="000000"/>
              </a:solidFill>
              <a:latin typeface="Arial" charset="0"/>
              <a:ea typeface="ＭＳ Ｐゴシック" pitchFamily="16" charset="-128"/>
              <a:cs typeface="ＭＳ Ｐゴシック" pitchFamily="-97" charset="-128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18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 rot="670447" flipV="1">
            <a:off x="7308304" y="5229200"/>
            <a:ext cx="609228" cy="2515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6" name="Text Box 72"/>
          <p:cNvSpPr txBox="1">
            <a:spLocks noChangeArrowheads="1"/>
          </p:cNvSpPr>
          <p:nvPr/>
        </p:nvSpPr>
        <p:spPr bwMode="auto">
          <a:xfrm>
            <a:off x="4644008" y="1196752"/>
            <a:ext cx="1152128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kumimoji="0" lang="fr-CH" altLang="ja-JP" sz="1200" i="1" dirty="0" smtClean="0">
                <a:solidFill>
                  <a:srgbClr val="C00000"/>
                </a:solidFill>
              </a:rPr>
              <a:t>GISC Brasilia</a:t>
            </a:r>
            <a:endParaRPr kumimoji="0" lang="fr-CH" altLang="ja-JP" sz="1200" dirty="0" smtClean="0">
              <a:solidFill>
                <a:srgbClr val="000000"/>
              </a:solidFill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kumimoji="0" lang="fr-CH" altLang="ja-JP" sz="1200" i="1" dirty="0" smtClean="0">
                <a:solidFill>
                  <a:srgbClr val="C00000"/>
                </a:solidFill>
              </a:rPr>
              <a:t>Home Page</a:t>
            </a:r>
            <a:endParaRPr kumimoji="0" lang="en-US" altLang="ja-JP" sz="1800" dirty="0" smtClean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76473205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2"/>
          <p:cNvPicPr>
            <a:picLocks noChangeAspect="1"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3067299"/>
            <a:ext cx="3059832" cy="37907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81974" y="0"/>
            <a:ext cx="3162026" cy="35764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8" name="Picture 2"/>
          <p:cNvPicPr>
            <a:picLocks noChangeAspect="1"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2987824" y="-2"/>
            <a:ext cx="3096344" cy="38990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2987824" cy="32298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2987824" y="3178686"/>
            <a:ext cx="3096344" cy="36793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084168" y="3140968"/>
            <a:ext cx="3059832" cy="379707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" name="Picture 2"/>
          <p:cNvPicPr>
            <a:picLocks noChangeAspect="1" noChangeArrowheads="1"/>
          </p:cNvPicPr>
          <p:nvPr/>
        </p:nvPicPr>
        <p:blipFill>
          <a:blip r:embed="rId8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860032" y="2564904"/>
            <a:ext cx="2304256" cy="25016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2146" name="Picture 2"/>
          <p:cNvPicPr>
            <a:picLocks noChangeAspect="1"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1855" b="5273"/>
          <a:stretch>
            <a:fillRect/>
          </a:stretch>
        </p:blipFill>
        <p:spPr bwMode="auto">
          <a:xfrm>
            <a:off x="467544" y="620688"/>
            <a:ext cx="8280921" cy="59944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4" name="Titolo 1"/>
          <p:cNvSpPr txBox="1">
            <a:spLocks/>
          </p:cNvSpPr>
          <p:nvPr/>
        </p:nvSpPr>
        <p:spPr>
          <a:xfrm>
            <a:off x="441512" y="129648"/>
            <a:ext cx="7312991" cy="484632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it-IT" altLang="en-US" sz="2400" b="1" dirty="0" smtClean="0">
                <a:solidFill>
                  <a:srgbClr val="007AC2"/>
                </a:solidFill>
              </a:rPr>
              <a:t>HIS in</a:t>
            </a:r>
            <a:r>
              <a:rPr lang="en-US" altLang="en-US" sz="2400" b="1" dirty="0" smtClean="0">
                <a:solidFill>
                  <a:srgbClr val="007AC2"/>
                </a:solidFill>
              </a:rPr>
              <a:t> La</a:t>
            </a:r>
            <a:r>
              <a:rPr lang="it-IT" altLang="en-US" sz="2400" b="1" dirty="0" smtClean="0">
                <a:solidFill>
                  <a:srgbClr val="007AC2"/>
                </a:solidFill>
              </a:rPr>
              <a:t> </a:t>
            </a:r>
            <a:r>
              <a:rPr lang="it-IT" altLang="en-US" sz="2400" b="1" dirty="0" err="1" smtClean="0">
                <a:solidFill>
                  <a:srgbClr val="007AC2"/>
                </a:solidFill>
              </a:rPr>
              <a:t>Plata</a:t>
            </a:r>
            <a:r>
              <a:rPr lang="it-IT" altLang="en-US" sz="2400" b="1" dirty="0" smtClean="0">
                <a:solidFill>
                  <a:srgbClr val="007AC2"/>
                </a:solidFill>
              </a:rPr>
              <a:t> </a:t>
            </a:r>
            <a:r>
              <a:rPr lang="it-IT" altLang="en-US" sz="2400" b="1" dirty="0" err="1" smtClean="0">
                <a:solidFill>
                  <a:srgbClr val="007AC2"/>
                </a:solidFill>
              </a:rPr>
              <a:t>Basin</a:t>
            </a:r>
            <a:endParaRPr lang="en-US" altLang="en-US" sz="2400" b="1" dirty="0">
              <a:solidFill>
                <a:srgbClr val="007AC2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1855"/>
          <a:stretch>
            <a:fillRect/>
          </a:stretch>
        </p:blipFill>
        <p:spPr bwMode="auto">
          <a:xfrm>
            <a:off x="0" y="0"/>
            <a:ext cx="9144000" cy="69876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" name="Picture 2"/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1855"/>
          <a:stretch>
            <a:fillRect/>
          </a:stretch>
        </p:blipFill>
        <p:spPr bwMode="auto">
          <a:xfrm>
            <a:off x="-47030" y="0"/>
            <a:ext cx="9343430" cy="71400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-30480" y="0"/>
            <a:ext cx="9292892" cy="71014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5" name="Picture 3"/>
          <p:cNvPicPr>
            <a:picLocks noChangeAspect="1" noChangeArrowheads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1660"/>
          <a:stretch>
            <a:fillRect/>
          </a:stretch>
        </p:blipFill>
        <p:spPr bwMode="auto">
          <a:xfrm>
            <a:off x="0" y="0"/>
            <a:ext cx="9448800" cy="72062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6" name="Picture 4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1214414" y="2285992"/>
            <a:ext cx="6067425" cy="3495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7" name="Picture 5"/>
          <p:cNvPicPr>
            <a:picLocks noChangeAspect="1" noChangeArrowheads="1"/>
          </p:cNvPicPr>
          <p:nvPr/>
        </p:nvPicPr>
        <p:blipFill>
          <a:blip r:embed="rId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2588"/>
          <a:stretch>
            <a:fillRect/>
          </a:stretch>
        </p:blipFill>
        <p:spPr bwMode="auto">
          <a:xfrm>
            <a:off x="2571736" y="2143116"/>
            <a:ext cx="5882598" cy="45291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olo 1"/>
          <p:cNvSpPr txBox="1">
            <a:spLocks/>
          </p:cNvSpPr>
          <p:nvPr/>
        </p:nvSpPr>
        <p:spPr>
          <a:xfrm>
            <a:off x="0" y="2766568"/>
            <a:ext cx="9144000" cy="484632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pPr lvl="0" algn="ctr" defTabSz="457200" eaLnBrk="1" fontAlgn="auto" hangingPunct="1">
              <a:spcBef>
                <a:spcPct val="0"/>
              </a:spcBef>
              <a:spcAft>
                <a:spcPts val="0"/>
              </a:spcAft>
              <a:buClrTx/>
            </a:pPr>
            <a:r>
              <a:rPr lang="en-US" sz="2800" b="1" dirty="0" smtClean="0">
                <a:solidFill>
                  <a:srgbClr val="007AC2"/>
                </a:solidFill>
                <a:latin typeface="+mj-lt"/>
                <a:ea typeface="+mj-ea"/>
                <a:cs typeface="Avenir LT Std 85 Heavy"/>
              </a:rPr>
              <a:t>HYDROLOGICAL CENTERS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rgbClr val="007AC2"/>
              </a:solidFill>
              <a:effectLst/>
              <a:uLnTx/>
              <a:uFillTx/>
              <a:latin typeface="+mj-lt"/>
              <a:ea typeface="+mj-ea"/>
              <a:cs typeface="Avenir LT Std 85 Heavy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4194" name="Picture 2"/>
          <p:cNvPicPr>
            <a:picLocks noChangeAspect="1"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347729"/>
            <a:ext cx="9143999" cy="57310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5218" name="Picture 2"/>
          <p:cNvPicPr>
            <a:picLocks noChangeAspect="1"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399245"/>
            <a:ext cx="9144000" cy="5715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6242" name="Picture 2"/>
          <p:cNvPicPr>
            <a:picLocks noChangeAspect="1"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437883"/>
            <a:ext cx="9144000" cy="5715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7266" name="Picture 2"/>
          <p:cNvPicPr>
            <a:picLocks noChangeAspect="1"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399245"/>
            <a:ext cx="9144000" cy="5715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olo 1"/>
          <p:cNvSpPr txBox="1">
            <a:spLocks/>
          </p:cNvSpPr>
          <p:nvPr/>
        </p:nvSpPr>
        <p:spPr>
          <a:xfrm>
            <a:off x="0" y="2766568"/>
            <a:ext cx="9144000" cy="484632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pPr lvl="0" algn="ctr" defTabSz="457200" eaLnBrk="1" fontAlgn="auto" hangingPunct="1">
              <a:spcBef>
                <a:spcPct val="0"/>
              </a:spcBef>
              <a:spcAft>
                <a:spcPts val="0"/>
              </a:spcAft>
              <a:buClrTx/>
            </a:pPr>
            <a:r>
              <a:rPr lang="en-US" sz="2800" b="1" dirty="0" smtClean="0">
                <a:solidFill>
                  <a:srgbClr val="007AC2"/>
                </a:solidFill>
                <a:latin typeface="+mj-lt"/>
                <a:ea typeface="+mj-ea"/>
                <a:cs typeface="Avenir LT Std 85 Heavy"/>
              </a:rPr>
              <a:t>THE ARCHITECTURE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rgbClr val="007AC2"/>
              </a:solidFill>
              <a:effectLst/>
              <a:uLnTx/>
              <a:uFillTx/>
              <a:latin typeface="+mj-lt"/>
              <a:ea typeface="+mj-ea"/>
              <a:cs typeface="Avenir LT Std 85 Heavy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323528" y="476672"/>
            <a:ext cx="8820472" cy="484188"/>
          </a:xfrm>
        </p:spPr>
        <p:txBody>
          <a:bodyPr>
            <a:normAutofit fontScale="90000"/>
          </a:bodyPr>
          <a:lstStyle/>
          <a:p>
            <a:r>
              <a:rPr lang="en-US" dirty="0" smtClean="0">
                <a:solidFill>
                  <a:srgbClr val="007AC2"/>
                </a:solidFill>
                <a:cs typeface="Avenir LT Std 85 Heavy"/>
              </a:rPr>
              <a:t>The Road Further Ahead in Hydrology</a:t>
            </a:r>
            <a:endParaRPr lang="en-US" dirty="0">
              <a:solidFill>
                <a:srgbClr val="007AC2"/>
              </a:solidFill>
              <a:cs typeface="Avenir LT Std 85 Heavy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3316288" y="1981200"/>
            <a:ext cx="2311400" cy="79057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2600" dirty="0" err="1" smtClean="0"/>
              <a:t>HydroCatalog</a:t>
            </a:r>
            <a:endParaRPr lang="en-US" sz="2600" dirty="0"/>
          </a:p>
        </p:txBody>
      </p:sp>
      <p:sp>
        <p:nvSpPr>
          <p:cNvPr id="6" name="Rectangle 5"/>
          <p:cNvSpPr/>
          <p:nvPr/>
        </p:nvSpPr>
        <p:spPr>
          <a:xfrm>
            <a:off x="1195388" y="4572000"/>
            <a:ext cx="2311400" cy="79057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2600" dirty="0" err="1" smtClean="0"/>
              <a:t>HydroProvider</a:t>
            </a:r>
            <a:endParaRPr lang="en-US" sz="2600" dirty="0"/>
          </a:p>
        </p:txBody>
      </p:sp>
      <p:sp>
        <p:nvSpPr>
          <p:cNvPr id="7" name="Rectangle 6"/>
          <p:cNvSpPr/>
          <p:nvPr/>
        </p:nvSpPr>
        <p:spPr>
          <a:xfrm>
            <a:off x="5538788" y="4572000"/>
            <a:ext cx="2309812" cy="79057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2600" dirty="0" err="1" smtClean="0"/>
              <a:t>HydroClient</a:t>
            </a:r>
            <a:endParaRPr lang="en-US" sz="2600" dirty="0"/>
          </a:p>
        </p:txBody>
      </p:sp>
      <p:grpSp>
        <p:nvGrpSpPr>
          <p:cNvPr id="3" name="Group 7"/>
          <p:cNvGrpSpPr/>
          <p:nvPr/>
        </p:nvGrpSpPr>
        <p:grpSpPr>
          <a:xfrm>
            <a:off x="3346263" y="4495800"/>
            <a:ext cx="2223109" cy="1815882"/>
            <a:chOff x="3346263" y="4495800"/>
            <a:chExt cx="2223109" cy="1815882"/>
          </a:xfrm>
        </p:grpSpPr>
        <p:cxnSp>
          <p:nvCxnSpPr>
            <p:cNvPr id="9" name="Straight Arrow Connector 8"/>
            <p:cNvCxnSpPr>
              <a:stCxn id="6" idx="3"/>
              <a:endCxn id="7" idx="1"/>
            </p:cNvCxnSpPr>
            <p:nvPr/>
          </p:nvCxnSpPr>
          <p:spPr>
            <a:xfrm>
              <a:off x="3506788" y="4967288"/>
              <a:ext cx="2032000" cy="1588"/>
            </a:xfrm>
            <a:prstGeom prst="straightConnector1">
              <a:avLst/>
            </a:prstGeom>
            <a:ln w="57150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TextBox 15"/>
            <p:cNvSpPr txBox="1">
              <a:spLocks noChangeArrowheads="1"/>
            </p:cNvSpPr>
            <p:nvPr/>
          </p:nvSpPr>
          <p:spPr bwMode="auto">
            <a:xfrm>
              <a:off x="3346263" y="4495800"/>
              <a:ext cx="2223109" cy="181588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n-US" sz="2800" b="1" dirty="0" smtClean="0"/>
                <a:t>WFS</a:t>
              </a:r>
            </a:p>
            <a:p>
              <a:pPr algn="ctr"/>
              <a:r>
                <a:rPr lang="en-US" sz="2800" b="1" dirty="0" smtClean="0"/>
                <a:t>SOS2</a:t>
              </a:r>
            </a:p>
            <a:p>
              <a:pPr algn="ctr"/>
              <a:r>
                <a:rPr lang="en-US" sz="2800" b="1" dirty="0" smtClean="0"/>
                <a:t>(WaterML 2)</a:t>
              </a:r>
              <a:endParaRPr lang="en-US" sz="2800" b="1" dirty="0"/>
            </a:p>
          </p:txBody>
        </p:sp>
      </p:grpSp>
      <p:grpSp>
        <p:nvGrpSpPr>
          <p:cNvPr id="4" name="Group 10"/>
          <p:cNvGrpSpPr/>
          <p:nvPr/>
        </p:nvGrpSpPr>
        <p:grpSpPr>
          <a:xfrm>
            <a:off x="4471988" y="2771775"/>
            <a:ext cx="2221706" cy="1800225"/>
            <a:chOff x="4471988" y="2771775"/>
            <a:chExt cx="2221706" cy="1800225"/>
          </a:xfrm>
        </p:grpSpPr>
        <p:cxnSp>
          <p:nvCxnSpPr>
            <p:cNvPr id="12" name="Straight Arrow Connector 11"/>
            <p:cNvCxnSpPr>
              <a:endCxn id="7" idx="0"/>
            </p:cNvCxnSpPr>
            <p:nvPr/>
          </p:nvCxnSpPr>
          <p:spPr>
            <a:xfrm>
              <a:off x="4471988" y="2771775"/>
              <a:ext cx="2221706" cy="1800225"/>
            </a:xfrm>
            <a:prstGeom prst="straightConnector1">
              <a:avLst/>
            </a:prstGeom>
            <a:ln w="57150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TextBox 17"/>
            <p:cNvSpPr txBox="1">
              <a:spLocks noChangeArrowheads="1"/>
            </p:cNvSpPr>
            <p:nvPr/>
          </p:nvSpPr>
          <p:spPr bwMode="auto">
            <a:xfrm rot="2301016">
              <a:off x="5353035" y="3381677"/>
              <a:ext cx="868123" cy="52322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2800" b="1" dirty="0" smtClean="0"/>
                <a:t>CSW</a:t>
              </a:r>
              <a:endParaRPr lang="en-US" sz="2800" b="1" dirty="0"/>
            </a:p>
          </p:txBody>
        </p:sp>
      </p:grpSp>
      <p:grpSp>
        <p:nvGrpSpPr>
          <p:cNvPr id="8" name="Group 13"/>
          <p:cNvGrpSpPr/>
          <p:nvPr/>
        </p:nvGrpSpPr>
        <p:grpSpPr>
          <a:xfrm>
            <a:off x="2351089" y="2771775"/>
            <a:ext cx="2120900" cy="1800225"/>
            <a:chOff x="2351089" y="2771775"/>
            <a:chExt cx="2120900" cy="1800225"/>
          </a:xfrm>
        </p:grpSpPr>
        <p:cxnSp>
          <p:nvCxnSpPr>
            <p:cNvPr id="15" name="Straight Arrow Connector 14"/>
            <p:cNvCxnSpPr>
              <a:stCxn id="6" idx="0"/>
              <a:endCxn id="5" idx="2"/>
            </p:cNvCxnSpPr>
            <p:nvPr/>
          </p:nvCxnSpPr>
          <p:spPr>
            <a:xfrm rot="5400000" flipH="1" flipV="1">
              <a:off x="2511426" y="2611438"/>
              <a:ext cx="1800225" cy="2120900"/>
            </a:xfrm>
            <a:prstGeom prst="straightConnector1">
              <a:avLst/>
            </a:prstGeom>
            <a:ln w="57150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TextBox 16"/>
            <p:cNvSpPr txBox="1">
              <a:spLocks noChangeArrowheads="1"/>
            </p:cNvSpPr>
            <p:nvPr/>
          </p:nvSpPr>
          <p:spPr bwMode="auto">
            <a:xfrm rot="19189103">
              <a:off x="2358073" y="3384721"/>
              <a:ext cx="1541191" cy="52322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2800" b="1" dirty="0" smtClean="0"/>
                <a:t>(register)</a:t>
              </a:r>
              <a:endParaRPr lang="en-US" sz="2800" b="1" dirty="0"/>
            </a:p>
          </p:txBody>
        </p:sp>
      </p:grpSp>
      <p:sp>
        <p:nvSpPr>
          <p:cNvPr id="17" name="Rectangle 16"/>
          <p:cNvSpPr/>
          <p:nvPr/>
        </p:nvSpPr>
        <p:spPr>
          <a:xfrm>
            <a:off x="2428860" y="1214422"/>
            <a:ext cx="471795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 smtClean="0"/>
              <a:t>Using WMO and OGC Standards</a:t>
            </a:r>
            <a:endParaRPr lang="en-US" sz="2400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323528" y="404664"/>
            <a:ext cx="6516216" cy="484188"/>
          </a:xfrm>
        </p:spPr>
        <p:txBody>
          <a:bodyPr>
            <a:normAutofit fontScale="90000"/>
          </a:bodyPr>
          <a:lstStyle/>
          <a:p>
            <a:r>
              <a:rPr lang="en-US" dirty="0" smtClean="0">
                <a:solidFill>
                  <a:srgbClr val="007AC2"/>
                </a:solidFill>
                <a:cs typeface="Avenir LT Std 85 Heavy"/>
              </a:rPr>
              <a:t>WHOS Architecture Overview</a:t>
            </a:r>
            <a:endParaRPr lang="en-US" dirty="0">
              <a:solidFill>
                <a:srgbClr val="007AC2"/>
              </a:solidFill>
              <a:cs typeface="Avenir LT Std 85 Heavy"/>
            </a:endParaRPr>
          </a:p>
        </p:txBody>
      </p:sp>
      <p:grpSp>
        <p:nvGrpSpPr>
          <p:cNvPr id="3" name="Group 52"/>
          <p:cNvGrpSpPr/>
          <p:nvPr/>
        </p:nvGrpSpPr>
        <p:grpSpPr>
          <a:xfrm>
            <a:off x="3950516" y="4995186"/>
            <a:ext cx="2819400" cy="1455501"/>
            <a:chOff x="4724400" y="5528586"/>
            <a:chExt cx="2819400" cy="1455501"/>
          </a:xfrm>
        </p:grpSpPr>
        <p:pic>
          <p:nvPicPr>
            <p:cNvPr id="54" name="Picture 5" descr="C:\Program Files\Microsoft Office\MEDIA\CAGCAT10\j0195384.wmf"/>
            <p:cNvPicPr>
              <a:picLocks noChangeAspect="1" noChangeArrowheads="1"/>
            </p:cNvPicPr>
            <p:nvPr/>
          </p:nvPicPr>
          <p:blipFill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724400" y="5528586"/>
              <a:ext cx="555624" cy="567414"/>
            </a:xfrm>
            <a:prstGeom prst="rect">
              <a:avLst/>
            </a:prstGeom>
            <a:noFill/>
          </p:spPr>
        </p:pic>
        <p:pic>
          <p:nvPicPr>
            <p:cNvPr id="55" name="Picture 5" descr="C:\Program Files\Microsoft Office\MEDIA\CAGCAT10\j0195384.wmf"/>
            <p:cNvPicPr>
              <a:picLocks noChangeAspect="1" noChangeArrowheads="1"/>
            </p:cNvPicPr>
            <p:nvPr/>
          </p:nvPicPr>
          <p:blipFill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813424" y="5528586"/>
              <a:ext cx="555624" cy="567414"/>
            </a:xfrm>
            <a:prstGeom prst="rect">
              <a:avLst/>
            </a:prstGeom>
            <a:noFill/>
          </p:spPr>
        </p:pic>
        <p:pic>
          <p:nvPicPr>
            <p:cNvPr id="56" name="Picture 5" descr="C:\Program Files\Microsoft Office\MEDIA\CAGCAT10\j0195384.wmf"/>
            <p:cNvPicPr>
              <a:picLocks noChangeAspect="1" noChangeArrowheads="1"/>
            </p:cNvPicPr>
            <p:nvPr/>
          </p:nvPicPr>
          <p:blipFill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988176" y="5528586"/>
              <a:ext cx="555624" cy="567414"/>
            </a:xfrm>
            <a:prstGeom prst="rect">
              <a:avLst/>
            </a:prstGeom>
            <a:noFill/>
          </p:spPr>
        </p:pic>
        <p:sp>
          <p:nvSpPr>
            <p:cNvPr id="57" name="TextBox 56"/>
            <p:cNvSpPr txBox="1"/>
            <p:nvPr/>
          </p:nvSpPr>
          <p:spPr>
            <a:xfrm>
              <a:off x="4787664" y="6029980"/>
              <a:ext cx="2681375" cy="95410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800" dirty="0" smtClean="0"/>
                <a:t>Users</a:t>
              </a:r>
              <a:br>
                <a:rPr lang="en-US" sz="2800" dirty="0" smtClean="0"/>
              </a:br>
              <a:r>
                <a:rPr lang="en-US" sz="2800" dirty="0" smtClean="0"/>
                <a:t>(Web &amp; Desktop)</a:t>
              </a:r>
              <a:endParaRPr lang="en-US" sz="2800" dirty="0"/>
            </a:p>
          </p:txBody>
        </p:sp>
      </p:grpSp>
      <p:cxnSp>
        <p:nvCxnSpPr>
          <p:cNvPr id="58" name="Straight Arrow Connector 57"/>
          <p:cNvCxnSpPr/>
          <p:nvPr/>
        </p:nvCxnSpPr>
        <p:spPr>
          <a:xfrm rot="5400000">
            <a:off x="5677297" y="4304903"/>
            <a:ext cx="1143000" cy="794"/>
          </a:xfrm>
          <a:prstGeom prst="straightConnector1">
            <a:avLst/>
          </a:prstGeom>
          <a:ln w="76200">
            <a:solidFill>
              <a:schemeClr val="accent4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Arrow Connector 58"/>
          <p:cNvCxnSpPr/>
          <p:nvPr/>
        </p:nvCxnSpPr>
        <p:spPr>
          <a:xfrm>
            <a:off x="3264716" y="2819400"/>
            <a:ext cx="1828800" cy="1588"/>
          </a:xfrm>
          <a:prstGeom prst="straightConnector1">
            <a:avLst/>
          </a:prstGeom>
          <a:ln w="76200">
            <a:solidFill>
              <a:schemeClr val="accent4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Rectangle 59"/>
          <p:cNvSpPr/>
          <p:nvPr/>
        </p:nvSpPr>
        <p:spPr>
          <a:xfrm>
            <a:off x="1364478" y="1524000"/>
            <a:ext cx="1371600" cy="1066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3" name="Rectangle 72"/>
          <p:cNvSpPr/>
          <p:nvPr/>
        </p:nvSpPr>
        <p:spPr>
          <a:xfrm>
            <a:off x="1428153" y="1600200"/>
            <a:ext cx="58381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800" dirty="0" smtClean="0"/>
              <a:t>NHS</a:t>
            </a:r>
            <a:endParaRPr lang="en-US" sz="1800" dirty="0"/>
          </a:p>
        </p:txBody>
      </p:sp>
      <p:grpSp>
        <p:nvGrpSpPr>
          <p:cNvPr id="4" name="Group 73"/>
          <p:cNvGrpSpPr/>
          <p:nvPr/>
        </p:nvGrpSpPr>
        <p:grpSpPr>
          <a:xfrm>
            <a:off x="1359716" y="2971800"/>
            <a:ext cx="1519242" cy="1066800"/>
            <a:chOff x="995362" y="1371600"/>
            <a:chExt cx="1519242" cy="1066800"/>
          </a:xfrm>
        </p:grpSpPr>
        <p:sp>
          <p:nvSpPr>
            <p:cNvPr id="75" name="Rectangle 74"/>
            <p:cNvSpPr/>
            <p:nvPr/>
          </p:nvSpPr>
          <p:spPr>
            <a:xfrm>
              <a:off x="995362" y="1371600"/>
              <a:ext cx="1371600" cy="106680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5" name="Group 29"/>
            <p:cNvGrpSpPr/>
            <p:nvPr/>
          </p:nvGrpSpPr>
          <p:grpSpPr>
            <a:xfrm flipH="1">
              <a:off x="1681168" y="1905000"/>
              <a:ext cx="833436" cy="357827"/>
              <a:chOff x="5491162" y="4419600"/>
              <a:chExt cx="2662238" cy="1143000"/>
            </a:xfrm>
          </p:grpSpPr>
          <p:sp>
            <p:nvSpPr>
              <p:cNvPr id="79" name="Rectangle 8"/>
              <p:cNvSpPr>
                <a:spLocks noChangeArrowheads="1"/>
              </p:cNvSpPr>
              <p:nvPr/>
            </p:nvSpPr>
            <p:spPr bwMode="auto">
              <a:xfrm>
                <a:off x="5867400" y="4419600"/>
                <a:ext cx="2286000" cy="114300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libri" pitchFamily="34" charset="0"/>
                </a:endParaRPr>
              </a:p>
            </p:txBody>
          </p:sp>
          <p:sp>
            <p:nvSpPr>
              <p:cNvPr id="80" name="Line 9"/>
              <p:cNvSpPr>
                <a:spLocks noChangeShapeType="1"/>
              </p:cNvSpPr>
              <p:nvPr/>
            </p:nvSpPr>
            <p:spPr bwMode="auto">
              <a:xfrm>
                <a:off x="5562600" y="4572000"/>
                <a:ext cx="68580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rial" charset="0"/>
                </a:endParaRPr>
              </a:p>
            </p:txBody>
          </p:sp>
          <p:sp>
            <p:nvSpPr>
              <p:cNvPr id="81" name="Line 10"/>
              <p:cNvSpPr>
                <a:spLocks noChangeShapeType="1"/>
              </p:cNvSpPr>
              <p:nvPr/>
            </p:nvSpPr>
            <p:spPr bwMode="auto">
              <a:xfrm>
                <a:off x="5562600" y="4830763"/>
                <a:ext cx="68580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rial" charset="0"/>
                </a:endParaRPr>
              </a:p>
            </p:txBody>
          </p:sp>
          <p:sp>
            <p:nvSpPr>
              <p:cNvPr id="82" name="Line 11"/>
              <p:cNvSpPr>
                <a:spLocks noChangeShapeType="1"/>
              </p:cNvSpPr>
              <p:nvPr/>
            </p:nvSpPr>
            <p:spPr bwMode="auto">
              <a:xfrm>
                <a:off x="5572125" y="5089525"/>
                <a:ext cx="68580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rial" charset="0"/>
                </a:endParaRPr>
              </a:p>
            </p:txBody>
          </p:sp>
          <p:sp>
            <p:nvSpPr>
              <p:cNvPr id="83" name="Oval 13"/>
              <p:cNvSpPr>
                <a:spLocks noChangeArrowheads="1"/>
              </p:cNvSpPr>
              <p:nvPr/>
            </p:nvSpPr>
            <p:spPr bwMode="auto">
              <a:xfrm>
                <a:off x="5491162" y="4495800"/>
                <a:ext cx="152400" cy="152400"/>
              </a:xfrm>
              <a:prstGeom prst="ellipse">
                <a:avLst/>
              </a:prstGeom>
              <a:solidFill>
                <a:srgbClr val="FF00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libri" pitchFamily="34" charset="0"/>
                </a:endParaRPr>
              </a:p>
            </p:txBody>
          </p:sp>
          <p:sp>
            <p:nvSpPr>
              <p:cNvPr id="84" name="Oval 14"/>
              <p:cNvSpPr>
                <a:spLocks noChangeArrowheads="1"/>
              </p:cNvSpPr>
              <p:nvPr/>
            </p:nvSpPr>
            <p:spPr bwMode="auto">
              <a:xfrm>
                <a:off x="5491162" y="4754563"/>
                <a:ext cx="152400" cy="152400"/>
              </a:xfrm>
              <a:prstGeom prst="ellipse">
                <a:avLst/>
              </a:prstGeom>
              <a:solidFill>
                <a:srgbClr val="FF00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libri" pitchFamily="34" charset="0"/>
                </a:endParaRPr>
              </a:p>
            </p:txBody>
          </p:sp>
          <p:sp>
            <p:nvSpPr>
              <p:cNvPr id="85" name="Oval 15"/>
              <p:cNvSpPr>
                <a:spLocks noChangeArrowheads="1"/>
              </p:cNvSpPr>
              <p:nvPr/>
            </p:nvSpPr>
            <p:spPr bwMode="auto">
              <a:xfrm>
                <a:off x="5491162" y="5013325"/>
                <a:ext cx="152400" cy="152400"/>
              </a:xfrm>
              <a:prstGeom prst="ellipse">
                <a:avLst/>
              </a:prstGeom>
              <a:solidFill>
                <a:srgbClr val="FF00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libri" pitchFamily="34" charset="0"/>
                </a:endParaRPr>
              </a:p>
            </p:txBody>
          </p:sp>
          <p:sp>
            <p:nvSpPr>
              <p:cNvPr id="86" name="AutoShape 30"/>
              <p:cNvSpPr>
                <a:spLocks noChangeArrowheads="1"/>
              </p:cNvSpPr>
              <p:nvPr/>
            </p:nvSpPr>
            <p:spPr bwMode="auto">
              <a:xfrm>
                <a:off x="6400800" y="4572000"/>
                <a:ext cx="1219200" cy="838200"/>
              </a:xfrm>
              <a:prstGeom prst="foldedCorner">
                <a:avLst>
                  <a:gd name="adj" fmla="val 12500"/>
                </a:avLst>
              </a:prstGeom>
              <a:solidFill>
                <a:srgbClr val="00CC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chemeClr val="bg2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libri" pitchFamily="34" charset="0"/>
                </a:endParaRPr>
              </a:p>
            </p:txBody>
          </p:sp>
          <p:sp>
            <p:nvSpPr>
              <p:cNvPr id="87" name="Oval 31"/>
              <p:cNvSpPr>
                <a:spLocks noChangeArrowheads="1"/>
              </p:cNvSpPr>
              <p:nvPr/>
            </p:nvSpPr>
            <p:spPr bwMode="auto">
              <a:xfrm>
                <a:off x="7772400" y="4800600"/>
                <a:ext cx="304800" cy="304800"/>
              </a:xfrm>
              <a:prstGeom prst="ellipse">
                <a:avLst/>
              </a:prstGeom>
              <a:solidFill>
                <a:srgbClr val="FFFF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FFFF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libri" pitchFamily="34" charset="0"/>
                </a:endParaRPr>
              </a:p>
            </p:txBody>
          </p:sp>
          <p:sp>
            <p:nvSpPr>
              <p:cNvPr id="88" name="Line 11"/>
              <p:cNvSpPr>
                <a:spLocks noChangeShapeType="1"/>
              </p:cNvSpPr>
              <p:nvPr/>
            </p:nvSpPr>
            <p:spPr bwMode="auto">
              <a:xfrm>
                <a:off x="5562600" y="5334000"/>
                <a:ext cx="68580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rial" charset="0"/>
                </a:endParaRPr>
              </a:p>
            </p:txBody>
          </p:sp>
          <p:sp>
            <p:nvSpPr>
              <p:cNvPr id="89" name="Oval 15"/>
              <p:cNvSpPr>
                <a:spLocks noChangeArrowheads="1"/>
              </p:cNvSpPr>
              <p:nvPr/>
            </p:nvSpPr>
            <p:spPr bwMode="auto">
              <a:xfrm>
                <a:off x="5491162" y="5257800"/>
                <a:ext cx="152400" cy="152400"/>
              </a:xfrm>
              <a:prstGeom prst="ellipse">
                <a:avLst/>
              </a:prstGeom>
              <a:solidFill>
                <a:srgbClr val="FF00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libri" pitchFamily="34" charset="0"/>
                </a:endParaRPr>
              </a:p>
            </p:txBody>
          </p:sp>
        </p:grpSp>
        <p:sp>
          <p:nvSpPr>
            <p:cNvPr id="77" name="Rectangle 76"/>
            <p:cNvSpPr/>
            <p:nvPr/>
          </p:nvSpPr>
          <p:spPr>
            <a:xfrm>
              <a:off x="1077689" y="1447800"/>
              <a:ext cx="583814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1800" dirty="0" smtClean="0"/>
                <a:t>NHS</a:t>
              </a:r>
              <a:endParaRPr lang="en-US" sz="1800" dirty="0"/>
            </a:p>
          </p:txBody>
        </p:sp>
        <p:sp>
          <p:nvSpPr>
            <p:cNvPr id="78" name="Flowchart: Magnetic Disk 77"/>
            <p:cNvSpPr/>
            <p:nvPr/>
          </p:nvSpPr>
          <p:spPr>
            <a:xfrm>
              <a:off x="1071562" y="1828800"/>
              <a:ext cx="533400" cy="533400"/>
            </a:xfrm>
            <a:prstGeom prst="flowChartMagneticDisk">
              <a:avLst/>
            </a:prstGeom>
            <a:solidFill>
              <a:schemeClr val="accent6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 smtClean="0"/>
                <a:t>Data</a:t>
              </a:r>
              <a:endParaRPr lang="en-US" sz="1200" dirty="0"/>
            </a:p>
          </p:txBody>
        </p:sp>
      </p:grpSp>
      <p:sp>
        <p:nvSpPr>
          <p:cNvPr id="90" name="TextBox 89"/>
          <p:cNvSpPr txBox="1"/>
          <p:nvPr/>
        </p:nvSpPr>
        <p:spPr>
          <a:xfrm>
            <a:off x="944147" y="4114800"/>
            <a:ext cx="230665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dirty="0" smtClean="0"/>
              <a:t>Data Providers</a:t>
            </a:r>
            <a:endParaRPr lang="en-US" sz="2800" dirty="0"/>
          </a:p>
        </p:txBody>
      </p:sp>
      <p:cxnSp>
        <p:nvCxnSpPr>
          <p:cNvPr id="99" name="Straight Arrow Connector 98"/>
          <p:cNvCxnSpPr/>
          <p:nvPr/>
        </p:nvCxnSpPr>
        <p:spPr>
          <a:xfrm rot="16200000" flipH="1">
            <a:off x="3264716" y="3429000"/>
            <a:ext cx="1447800" cy="1295400"/>
          </a:xfrm>
          <a:prstGeom prst="straightConnector1">
            <a:avLst/>
          </a:prstGeom>
          <a:ln w="76200">
            <a:solidFill>
              <a:schemeClr val="accent4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0" name="TextBox 99"/>
          <p:cNvSpPr txBox="1"/>
          <p:nvPr/>
        </p:nvSpPr>
        <p:spPr>
          <a:xfrm>
            <a:off x="6185884" y="3962400"/>
            <a:ext cx="18133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800" dirty="0" smtClean="0"/>
              <a:t>Data Discovery 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3950516" y="3810000"/>
            <a:ext cx="14671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 smtClean="0"/>
              <a:t>Data Access</a:t>
            </a:r>
            <a:endParaRPr lang="en-US" sz="1800" dirty="0"/>
          </a:p>
        </p:txBody>
      </p:sp>
      <p:sp>
        <p:nvSpPr>
          <p:cNvPr id="103" name="Flowchart: Magnetic Disk 102"/>
          <p:cNvSpPr/>
          <p:nvPr/>
        </p:nvSpPr>
        <p:spPr>
          <a:xfrm>
            <a:off x="1435916" y="1981200"/>
            <a:ext cx="533400" cy="533400"/>
          </a:xfrm>
          <a:prstGeom prst="flowChartMagneticDisk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/>
          </a:p>
        </p:txBody>
      </p:sp>
      <p:sp>
        <p:nvSpPr>
          <p:cNvPr id="104" name="Flowchart: Magnetic Disk 103"/>
          <p:cNvSpPr/>
          <p:nvPr/>
        </p:nvSpPr>
        <p:spPr>
          <a:xfrm>
            <a:off x="1440678" y="1981200"/>
            <a:ext cx="533400" cy="533400"/>
          </a:xfrm>
          <a:prstGeom prst="flowChartMagneticDisk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smtClean="0"/>
              <a:t>Data</a:t>
            </a:r>
            <a:endParaRPr lang="en-US" sz="1200" dirty="0"/>
          </a:p>
        </p:txBody>
      </p:sp>
      <p:sp>
        <p:nvSpPr>
          <p:cNvPr id="107" name="TextBox 106"/>
          <p:cNvSpPr txBox="1"/>
          <p:nvPr/>
        </p:nvSpPr>
        <p:spPr>
          <a:xfrm>
            <a:off x="2785977" y="1944469"/>
            <a:ext cx="954108" cy="7848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800" dirty="0" smtClean="0"/>
              <a:t>Web</a:t>
            </a:r>
          </a:p>
          <a:p>
            <a:pPr algn="ctr"/>
            <a:r>
              <a:rPr lang="en-US" sz="1800" dirty="0" smtClean="0"/>
              <a:t>Service</a:t>
            </a:r>
            <a:endParaRPr lang="en-US" sz="1800" dirty="0"/>
          </a:p>
        </p:txBody>
      </p:sp>
      <p:grpSp>
        <p:nvGrpSpPr>
          <p:cNvPr id="6" name="Group 29"/>
          <p:cNvGrpSpPr/>
          <p:nvPr/>
        </p:nvGrpSpPr>
        <p:grpSpPr>
          <a:xfrm flipH="1">
            <a:off x="2050278" y="2057400"/>
            <a:ext cx="833438" cy="357827"/>
            <a:chOff x="5491162" y="4419600"/>
            <a:chExt cx="2662238" cy="1143000"/>
          </a:xfrm>
        </p:grpSpPr>
        <p:sp>
          <p:nvSpPr>
            <p:cNvPr id="62" name="Rectangle 8"/>
            <p:cNvSpPr>
              <a:spLocks noChangeArrowheads="1"/>
            </p:cNvSpPr>
            <p:nvPr/>
          </p:nvSpPr>
          <p:spPr bwMode="auto">
            <a:xfrm>
              <a:off x="5867400" y="4419600"/>
              <a:ext cx="2286000" cy="11430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itchFamily="34" charset="0"/>
              </a:endParaRPr>
            </a:p>
          </p:txBody>
        </p:sp>
        <p:sp>
          <p:nvSpPr>
            <p:cNvPr id="63" name="Line 9"/>
            <p:cNvSpPr>
              <a:spLocks noChangeShapeType="1"/>
            </p:cNvSpPr>
            <p:nvPr/>
          </p:nvSpPr>
          <p:spPr bwMode="auto">
            <a:xfrm>
              <a:off x="5562600" y="4572000"/>
              <a:ext cx="6858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endParaRPr>
            </a:p>
          </p:txBody>
        </p:sp>
        <p:sp>
          <p:nvSpPr>
            <p:cNvPr id="64" name="Line 10"/>
            <p:cNvSpPr>
              <a:spLocks noChangeShapeType="1"/>
            </p:cNvSpPr>
            <p:nvPr/>
          </p:nvSpPr>
          <p:spPr bwMode="auto">
            <a:xfrm>
              <a:off x="5562600" y="4830763"/>
              <a:ext cx="6858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endParaRPr>
            </a:p>
          </p:txBody>
        </p:sp>
        <p:sp>
          <p:nvSpPr>
            <p:cNvPr id="65" name="Line 11"/>
            <p:cNvSpPr>
              <a:spLocks noChangeShapeType="1"/>
            </p:cNvSpPr>
            <p:nvPr/>
          </p:nvSpPr>
          <p:spPr bwMode="auto">
            <a:xfrm>
              <a:off x="5572125" y="5089525"/>
              <a:ext cx="6858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endParaRPr>
            </a:p>
          </p:txBody>
        </p:sp>
        <p:sp>
          <p:nvSpPr>
            <p:cNvPr id="66" name="Oval 13"/>
            <p:cNvSpPr>
              <a:spLocks noChangeArrowheads="1"/>
            </p:cNvSpPr>
            <p:nvPr/>
          </p:nvSpPr>
          <p:spPr bwMode="auto">
            <a:xfrm>
              <a:off x="5491162" y="4495800"/>
              <a:ext cx="152400" cy="152400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itchFamily="34" charset="0"/>
              </a:endParaRPr>
            </a:p>
          </p:txBody>
        </p:sp>
        <p:sp>
          <p:nvSpPr>
            <p:cNvPr id="67" name="Oval 14"/>
            <p:cNvSpPr>
              <a:spLocks noChangeArrowheads="1"/>
            </p:cNvSpPr>
            <p:nvPr/>
          </p:nvSpPr>
          <p:spPr bwMode="auto">
            <a:xfrm>
              <a:off x="5491162" y="4754563"/>
              <a:ext cx="152400" cy="152400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itchFamily="34" charset="0"/>
              </a:endParaRPr>
            </a:p>
          </p:txBody>
        </p:sp>
        <p:sp>
          <p:nvSpPr>
            <p:cNvPr id="68" name="Oval 15"/>
            <p:cNvSpPr>
              <a:spLocks noChangeArrowheads="1"/>
            </p:cNvSpPr>
            <p:nvPr/>
          </p:nvSpPr>
          <p:spPr bwMode="auto">
            <a:xfrm>
              <a:off x="5491162" y="5013325"/>
              <a:ext cx="152400" cy="152400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itchFamily="34" charset="0"/>
              </a:endParaRPr>
            </a:p>
          </p:txBody>
        </p:sp>
        <p:sp>
          <p:nvSpPr>
            <p:cNvPr id="69" name="AutoShape 30"/>
            <p:cNvSpPr>
              <a:spLocks noChangeArrowheads="1"/>
            </p:cNvSpPr>
            <p:nvPr/>
          </p:nvSpPr>
          <p:spPr bwMode="auto">
            <a:xfrm>
              <a:off x="6400800" y="4572000"/>
              <a:ext cx="1219200" cy="838200"/>
            </a:xfrm>
            <a:prstGeom prst="foldedCorner">
              <a:avLst>
                <a:gd name="adj" fmla="val 12500"/>
              </a:avLst>
            </a:prstGeom>
            <a:solidFill>
              <a:srgbClr val="00CC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itchFamily="34" charset="0"/>
              </a:endParaRPr>
            </a:p>
          </p:txBody>
        </p:sp>
        <p:sp>
          <p:nvSpPr>
            <p:cNvPr id="70" name="Oval 31"/>
            <p:cNvSpPr>
              <a:spLocks noChangeArrowheads="1"/>
            </p:cNvSpPr>
            <p:nvPr/>
          </p:nvSpPr>
          <p:spPr bwMode="auto">
            <a:xfrm>
              <a:off x="7772400" y="4800600"/>
              <a:ext cx="304800" cy="304800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itchFamily="34" charset="0"/>
              </a:endParaRPr>
            </a:p>
          </p:txBody>
        </p:sp>
        <p:sp>
          <p:nvSpPr>
            <p:cNvPr id="71" name="Line 11"/>
            <p:cNvSpPr>
              <a:spLocks noChangeShapeType="1"/>
            </p:cNvSpPr>
            <p:nvPr/>
          </p:nvSpPr>
          <p:spPr bwMode="auto">
            <a:xfrm>
              <a:off x="5562600" y="5334000"/>
              <a:ext cx="6858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endParaRPr>
            </a:p>
          </p:txBody>
        </p:sp>
        <p:sp>
          <p:nvSpPr>
            <p:cNvPr id="72" name="Oval 15"/>
            <p:cNvSpPr>
              <a:spLocks noChangeArrowheads="1"/>
            </p:cNvSpPr>
            <p:nvPr/>
          </p:nvSpPr>
          <p:spPr bwMode="auto">
            <a:xfrm>
              <a:off x="5491162" y="5257800"/>
              <a:ext cx="152400" cy="152400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itchFamily="34" charset="0"/>
              </a:endParaRPr>
            </a:p>
          </p:txBody>
        </p:sp>
      </p:grpSp>
      <p:grpSp>
        <p:nvGrpSpPr>
          <p:cNvPr id="7" name="Group 75"/>
          <p:cNvGrpSpPr/>
          <p:nvPr/>
        </p:nvGrpSpPr>
        <p:grpSpPr>
          <a:xfrm>
            <a:off x="5181600" y="1600200"/>
            <a:ext cx="3200400" cy="2057400"/>
            <a:chOff x="5181600" y="1600200"/>
            <a:chExt cx="3200400" cy="2057400"/>
          </a:xfrm>
        </p:grpSpPr>
        <p:sp>
          <p:nvSpPr>
            <p:cNvPr id="91" name="Rectangle 90"/>
            <p:cNvSpPr/>
            <p:nvPr/>
          </p:nvSpPr>
          <p:spPr>
            <a:xfrm>
              <a:off x="5181600" y="1600200"/>
              <a:ext cx="3200400" cy="2057400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4" name="Picture 2"/>
            <p:cNvPicPr>
              <a:picLocks noChangeAspect="1" noChangeArrowheads="1"/>
            </p:cNvPicPr>
            <p:nvPr/>
          </p:nvPicPr>
          <p:blipFill>
            <a:blip r:embed="rId4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967538" y="2819400"/>
              <a:ext cx="1262062" cy="588226"/>
            </a:xfrm>
            <a:prstGeom prst="rect">
              <a:avLst/>
            </a:prstGeom>
            <a:noFill/>
            <a:ln w="3175">
              <a:solidFill>
                <a:schemeClr val="tx1"/>
              </a:solidFill>
              <a:miter lim="800000"/>
              <a:headEnd/>
              <a:tailEnd/>
            </a:ln>
          </p:spPr>
        </p:pic>
        <p:sp>
          <p:nvSpPr>
            <p:cNvPr id="95" name="Flowchart: Magnetic Disk 94"/>
            <p:cNvSpPr/>
            <p:nvPr/>
          </p:nvSpPr>
          <p:spPr>
            <a:xfrm>
              <a:off x="7162800" y="1676400"/>
              <a:ext cx="1066800" cy="609600"/>
            </a:xfrm>
            <a:prstGeom prst="flowChartMagneticDisk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b="1" dirty="0" smtClean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Metadata</a:t>
              </a:r>
            </a:p>
            <a:p>
              <a:pPr algn="ctr"/>
              <a:r>
                <a:rPr lang="en-US" sz="1400" b="1" dirty="0" smtClean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Catalog</a:t>
              </a:r>
              <a:endParaRPr lang="en-US" sz="1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pic>
          <p:nvPicPr>
            <p:cNvPr id="96" name="Picture 5"/>
            <p:cNvPicPr>
              <a:picLocks noChangeAspect="1" noChangeArrowheads="1"/>
            </p:cNvPicPr>
            <p:nvPr/>
          </p:nvPicPr>
          <p:blipFill>
            <a:blip r:embed="rId5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290751" y="2438400"/>
              <a:ext cx="1414849" cy="9906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sp>
          <p:nvSpPr>
            <p:cNvPr id="97" name="Rounded Rectangle 96"/>
            <p:cNvSpPr/>
            <p:nvPr/>
          </p:nvSpPr>
          <p:spPr>
            <a:xfrm>
              <a:off x="5366951" y="2286000"/>
              <a:ext cx="1295400" cy="609600"/>
            </a:xfrm>
            <a:prstGeom prst="roundRect">
              <a:avLst/>
            </a:prstGeom>
            <a:solidFill>
              <a:srgbClr val="92D050">
                <a:alpha val="64000"/>
              </a:srgb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b="1" dirty="0" smtClean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Registry</a:t>
              </a:r>
              <a:endParaRPr lang="en-US" sz="1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98" name="TextBox 97"/>
            <p:cNvSpPr txBox="1"/>
            <p:nvPr/>
          </p:nvSpPr>
          <p:spPr>
            <a:xfrm>
              <a:off x="5417649" y="1686753"/>
              <a:ext cx="1130438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dirty="0" smtClean="0"/>
                <a:t>WHOS</a:t>
              </a:r>
              <a:endParaRPr lang="en-US" sz="2800" dirty="0"/>
            </a:p>
          </p:txBody>
        </p:sp>
        <p:sp>
          <p:nvSpPr>
            <p:cNvPr id="105" name="Rounded Rectangle 104"/>
            <p:cNvSpPr/>
            <p:nvPr/>
          </p:nvSpPr>
          <p:spPr>
            <a:xfrm>
              <a:off x="6934200" y="2361156"/>
              <a:ext cx="1295400" cy="609600"/>
            </a:xfrm>
            <a:prstGeom prst="roundRect">
              <a:avLst/>
            </a:prstGeom>
            <a:solidFill>
              <a:schemeClr val="accent1">
                <a:alpha val="63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b="1" dirty="0" smtClean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Hydrologic Ontology</a:t>
              </a:r>
              <a:endParaRPr lang="en-US" sz="1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</p:grpSp>
      <p:sp>
        <p:nvSpPr>
          <p:cNvPr id="102" name="TextBox 101"/>
          <p:cNvSpPr txBox="1"/>
          <p:nvPr/>
        </p:nvSpPr>
        <p:spPr>
          <a:xfrm>
            <a:off x="3493316" y="2477869"/>
            <a:ext cx="1415772" cy="7848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800" dirty="0" smtClean="0"/>
              <a:t>Data </a:t>
            </a:r>
          </a:p>
          <a:p>
            <a:pPr algn="ctr"/>
            <a:r>
              <a:rPr lang="en-US" sz="1800" dirty="0" smtClean="0"/>
              <a:t>Registration</a:t>
            </a:r>
            <a:endParaRPr lang="en-US" sz="1800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50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50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500"/>
                            </p:stCondLst>
                            <p:childTnLst>
                              <p:par>
                                <p:cTn id="3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1000"/>
                            </p:stCondLst>
                            <p:childTnLst>
                              <p:par>
                                <p:cTn id="39" presetID="23" presetClass="entr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10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10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500"/>
                            </p:stCondLst>
                            <p:childTnLst>
                              <p:par>
                                <p:cTn id="50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1000"/>
                            </p:stCondLst>
                            <p:childTnLst>
                              <p:par>
                                <p:cTn id="54" presetID="23" presetClass="entr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10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10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2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500"/>
                            </p:stCondLst>
                            <p:childTnLst>
                              <p:par>
                                <p:cTn id="64" presetID="23" presetClass="entr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71" dur="2000" fill="hold"/>
                                        <p:tgtEl>
                                          <p:spTgt spid="6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0" grpId="0"/>
      <p:bldP spid="100" grpId="0"/>
      <p:bldP spid="101" grpId="0"/>
      <p:bldP spid="104" grpId="0" animBg="1"/>
      <p:bldP spid="107" grpId="0"/>
      <p:bldP spid="102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/>
          </p:cNvGrpSpPr>
          <p:nvPr/>
        </p:nvGrpSpPr>
        <p:grpSpPr bwMode="auto">
          <a:xfrm>
            <a:off x="381000" y="1524000"/>
            <a:ext cx="2568575" cy="2008188"/>
            <a:chOff x="1351" y="912"/>
            <a:chExt cx="1618" cy="1265"/>
          </a:xfrm>
        </p:grpSpPr>
        <p:sp>
          <p:nvSpPr>
            <p:cNvPr id="449539" name="Freeform 3"/>
            <p:cNvSpPr>
              <a:spLocks/>
            </p:cNvSpPr>
            <p:nvPr/>
          </p:nvSpPr>
          <p:spPr bwMode="auto">
            <a:xfrm>
              <a:off x="1351" y="912"/>
              <a:ext cx="1618" cy="1265"/>
            </a:xfrm>
            <a:custGeom>
              <a:avLst/>
              <a:gdLst/>
              <a:ahLst/>
              <a:cxnLst>
                <a:cxn ang="0">
                  <a:pos x="16" y="702"/>
                </a:cxn>
                <a:cxn ang="0">
                  <a:pos x="29" y="474"/>
                </a:cxn>
                <a:cxn ang="0">
                  <a:pos x="301" y="367"/>
                </a:cxn>
                <a:cxn ang="0">
                  <a:pos x="377" y="303"/>
                </a:cxn>
                <a:cxn ang="0">
                  <a:pos x="447" y="208"/>
                </a:cxn>
                <a:cxn ang="0">
                  <a:pos x="529" y="164"/>
                </a:cxn>
                <a:cxn ang="0">
                  <a:pos x="693" y="183"/>
                </a:cxn>
                <a:cxn ang="0">
                  <a:pos x="738" y="177"/>
                </a:cxn>
                <a:cxn ang="0">
                  <a:pos x="814" y="82"/>
                </a:cxn>
                <a:cxn ang="0">
                  <a:pos x="959" y="6"/>
                </a:cxn>
                <a:cxn ang="0">
                  <a:pos x="1143" y="25"/>
                </a:cxn>
                <a:cxn ang="0">
                  <a:pos x="1156" y="69"/>
                </a:cxn>
                <a:cxn ang="0">
                  <a:pos x="1244" y="120"/>
                </a:cxn>
                <a:cxn ang="0">
                  <a:pos x="1314" y="151"/>
                </a:cxn>
                <a:cxn ang="0">
                  <a:pos x="1409" y="177"/>
                </a:cxn>
                <a:cxn ang="0">
                  <a:pos x="1472" y="208"/>
                </a:cxn>
                <a:cxn ang="0">
                  <a:pos x="1542" y="240"/>
                </a:cxn>
                <a:cxn ang="0">
                  <a:pos x="1535" y="405"/>
                </a:cxn>
                <a:cxn ang="0">
                  <a:pos x="1586" y="525"/>
                </a:cxn>
                <a:cxn ang="0">
                  <a:pos x="1618" y="582"/>
                </a:cxn>
                <a:cxn ang="0">
                  <a:pos x="1580" y="651"/>
                </a:cxn>
                <a:cxn ang="0">
                  <a:pos x="1573" y="670"/>
                </a:cxn>
                <a:cxn ang="0">
                  <a:pos x="1554" y="683"/>
                </a:cxn>
                <a:cxn ang="0">
                  <a:pos x="1542" y="721"/>
                </a:cxn>
                <a:cxn ang="0">
                  <a:pos x="1580" y="886"/>
                </a:cxn>
                <a:cxn ang="0">
                  <a:pos x="1573" y="993"/>
                </a:cxn>
                <a:cxn ang="0">
                  <a:pos x="1504" y="1076"/>
                </a:cxn>
                <a:cxn ang="0">
                  <a:pos x="1409" y="1151"/>
                </a:cxn>
                <a:cxn ang="0">
                  <a:pos x="1333" y="1177"/>
                </a:cxn>
                <a:cxn ang="0">
                  <a:pos x="1200" y="1177"/>
                </a:cxn>
                <a:cxn ang="0">
                  <a:pos x="1149" y="1227"/>
                </a:cxn>
                <a:cxn ang="0">
                  <a:pos x="1111" y="1253"/>
                </a:cxn>
                <a:cxn ang="0">
                  <a:pos x="1073" y="1265"/>
                </a:cxn>
                <a:cxn ang="0">
                  <a:pos x="940" y="1246"/>
                </a:cxn>
                <a:cxn ang="0">
                  <a:pos x="845" y="1189"/>
                </a:cxn>
                <a:cxn ang="0">
                  <a:pos x="535" y="1183"/>
                </a:cxn>
                <a:cxn ang="0">
                  <a:pos x="402" y="1088"/>
                </a:cxn>
                <a:cxn ang="0">
                  <a:pos x="231" y="1069"/>
                </a:cxn>
                <a:cxn ang="0">
                  <a:pos x="174" y="1038"/>
                </a:cxn>
                <a:cxn ang="0">
                  <a:pos x="136" y="1012"/>
                </a:cxn>
                <a:cxn ang="0">
                  <a:pos x="130" y="974"/>
                </a:cxn>
                <a:cxn ang="0">
                  <a:pos x="111" y="962"/>
                </a:cxn>
                <a:cxn ang="0">
                  <a:pos x="98" y="943"/>
                </a:cxn>
                <a:cxn ang="0">
                  <a:pos x="61" y="924"/>
                </a:cxn>
                <a:cxn ang="0">
                  <a:pos x="23" y="784"/>
                </a:cxn>
                <a:cxn ang="0">
                  <a:pos x="16" y="702"/>
                </a:cxn>
              </a:cxnLst>
              <a:rect l="0" t="0" r="r" b="b"/>
              <a:pathLst>
                <a:path w="1618" h="1265">
                  <a:moveTo>
                    <a:pt x="16" y="702"/>
                  </a:moveTo>
                  <a:cubicBezTo>
                    <a:pt x="38" y="601"/>
                    <a:pt x="16" y="713"/>
                    <a:pt x="29" y="474"/>
                  </a:cubicBezTo>
                  <a:cubicBezTo>
                    <a:pt x="36" y="350"/>
                    <a:pt x="238" y="370"/>
                    <a:pt x="301" y="367"/>
                  </a:cubicBezTo>
                  <a:cubicBezTo>
                    <a:pt x="328" y="349"/>
                    <a:pt x="359" y="331"/>
                    <a:pt x="377" y="303"/>
                  </a:cubicBezTo>
                  <a:cubicBezTo>
                    <a:pt x="398" y="272"/>
                    <a:pt x="420" y="234"/>
                    <a:pt x="447" y="208"/>
                  </a:cubicBezTo>
                  <a:cubicBezTo>
                    <a:pt x="468" y="188"/>
                    <a:pt x="504" y="181"/>
                    <a:pt x="529" y="164"/>
                  </a:cubicBezTo>
                  <a:cubicBezTo>
                    <a:pt x="614" y="168"/>
                    <a:pt x="628" y="170"/>
                    <a:pt x="693" y="183"/>
                  </a:cubicBezTo>
                  <a:cubicBezTo>
                    <a:pt x="708" y="181"/>
                    <a:pt x="723" y="181"/>
                    <a:pt x="738" y="177"/>
                  </a:cubicBezTo>
                  <a:cubicBezTo>
                    <a:pt x="770" y="167"/>
                    <a:pt x="794" y="108"/>
                    <a:pt x="814" y="82"/>
                  </a:cubicBezTo>
                  <a:cubicBezTo>
                    <a:pt x="847" y="38"/>
                    <a:pt x="916" y="33"/>
                    <a:pt x="959" y="6"/>
                  </a:cubicBezTo>
                  <a:cubicBezTo>
                    <a:pt x="1060" y="10"/>
                    <a:pt x="1076" y="0"/>
                    <a:pt x="1143" y="25"/>
                  </a:cubicBezTo>
                  <a:cubicBezTo>
                    <a:pt x="1148" y="40"/>
                    <a:pt x="1148" y="56"/>
                    <a:pt x="1156" y="69"/>
                  </a:cubicBezTo>
                  <a:cubicBezTo>
                    <a:pt x="1173" y="99"/>
                    <a:pt x="1214" y="111"/>
                    <a:pt x="1244" y="120"/>
                  </a:cubicBezTo>
                  <a:cubicBezTo>
                    <a:pt x="1269" y="127"/>
                    <a:pt x="1290" y="141"/>
                    <a:pt x="1314" y="151"/>
                  </a:cubicBezTo>
                  <a:cubicBezTo>
                    <a:pt x="1344" y="164"/>
                    <a:pt x="1379" y="166"/>
                    <a:pt x="1409" y="177"/>
                  </a:cubicBezTo>
                  <a:cubicBezTo>
                    <a:pt x="1432" y="186"/>
                    <a:pt x="1449" y="201"/>
                    <a:pt x="1472" y="208"/>
                  </a:cubicBezTo>
                  <a:cubicBezTo>
                    <a:pt x="1494" y="223"/>
                    <a:pt x="1518" y="228"/>
                    <a:pt x="1542" y="240"/>
                  </a:cubicBezTo>
                  <a:cubicBezTo>
                    <a:pt x="1573" y="288"/>
                    <a:pt x="1554" y="354"/>
                    <a:pt x="1535" y="405"/>
                  </a:cubicBezTo>
                  <a:cubicBezTo>
                    <a:pt x="1541" y="455"/>
                    <a:pt x="1543" y="496"/>
                    <a:pt x="1586" y="525"/>
                  </a:cubicBezTo>
                  <a:cubicBezTo>
                    <a:pt x="1599" y="544"/>
                    <a:pt x="1605" y="563"/>
                    <a:pt x="1618" y="582"/>
                  </a:cubicBezTo>
                  <a:cubicBezTo>
                    <a:pt x="1610" y="616"/>
                    <a:pt x="1604" y="627"/>
                    <a:pt x="1580" y="651"/>
                  </a:cubicBezTo>
                  <a:cubicBezTo>
                    <a:pt x="1578" y="657"/>
                    <a:pt x="1577" y="665"/>
                    <a:pt x="1573" y="670"/>
                  </a:cubicBezTo>
                  <a:cubicBezTo>
                    <a:pt x="1568" y="676"/>
                    <a:pt x="1558" y="676"/>
                    <a:pt x="1554" y="683"/>
                  </a:cubicBezTo>
                  <a:cubicBezTo>
                    <a:pt x="1547" y="694"/>
                    <a:pt x="1542" y="721"/>
                    <a:pt x="1542" y="721"/>
                  </a:cubicBezTo>
                  <a:cubicBezTo>
                    <a:pt x="1547" y="779"/>
                    <a:pt x="1560" y="832"/>
                    <a:pt x="1580" y="886"/>
                  </a:cubicBezTo>
                  <a:cubicBezTo>
                    <a:pt x="1578" y="922"/>
                    <a:pt x="1578" y="958"/>
                    <a:pt x="1573" y="993"/>
                  </a:cubicBezTo>
                  <a:cubicBezTo>
                    <a:pt x="1568" y="1028"/>
                    <a:pt x="1528" y="1055"/>
                    <a:pt x="1504" y="1076"/>
                  </a:cubicBezTo>
                  <a:cubicBezTo>
                    <a:pt x="1477" y="1099"/>
                    <a:pt x="1442" y="1135"/>
                    <a:pt x="1409" y="1151"/>
                  </a:cubicBezTo>
                  <a:cubicBezTo>
                    <a:pt x="1385" y="1163"/>
                    <a:pt x="1358" y="1168"/>
                    <a:pt x="1333" y="1177"/>
                  </a:cubicBezTo>
                  <a:cubicBezTo>
                    <a:pt x="1275" y="1170"/>
                    <a:pt x="1263" y="1164"/>
                    <a:pt x="1200" y="1177"/>
                  </a:cubicBezTo>
                  <a:cubicBezTo>
                    <a:pt x="1175" y="1182"/>
                    <a:pt x="1166" y="1212"/>
                    <a:pt x="1149" y="1227"/>
                  </a:cubicBezTo>
                  <a:cubicBezTo>
                    <a:pt x="1137" y="1237"/>
                    <a:pt x="1126" y="1248"/>
                    <a:pt x="1111" y="1253"/>
                  </a:cubicBezTo>
                  <a:cubicBezTo>
                    <a:pt x="1098" y="1257"/>
                    <a:pt x="1073" y="1265"/>
                    <a:pt x="1073" y="1265"/>
                  </a:cubicBezTo>
                  <a:cubicBezTo>
                    <a:pt x="1007" y="1261"/>
                    <a:pt x="989" y="1264"/>
                    <a:pt x="940" y="1246"/>
                  </a:cubicBezTo>
                  <a:cubicBezTo>
                    <a:pt x="916" y="1208"/>
                    <a:pt x="885" y="1200"/>
                    <a:pt x="845" y="1189"/>
                  </a:cubicBezTo>
                  <a:cubicBezTo>
                    <a:pt x="743" y="1196"/>
                    <a:pt x="635" y="1210"/>
                    <a:pt x="535" y="1183"/>
                  </a:cubicBezTo>
                  <a:cubicBezTo>
                    <a:pt x="477" y="1168"/>
                    <a:pt x="449" y="1119"/>
                    <a:pt x="402" y="1088"/>
                  </a:cubicBezTo>
                  <a:cubicBezTo>
                    <a:pt x="354" y="1056"/>
                    <a:pt x="288" y="1072"/>
                    <a:pt x="231" y="1069"/>
                  </a:cubicBezTo>
                  <a:cubicBezTo>
                    <a:pt x="166" y="1048"/>
                    <a:pt x="215" y="1070"/>
                    <a:pt x="174" y="1038"/>
                  </a:cubicBezTo>
                  <a:cubicBezTo>
                    <a:pt x="162" y="1028"/>
                    <a:pt x="136" y="1012"/>
                    <a:pt x="136" y="1012"/>
                  </a:cubicBezTo>
                  <a:cubicBezTo>
                    <a:pt x="134" y="999"/>
                    <a:pt x="136" y="985"/>
                    <a:pt x="130" y="974"/>
                  </a:cubicBezTo>
                  <a:cubicBezTo>
                    <a:pt x="127" y="967"/>
                    <a:pt x="116" y="967"/>
                    <a:pt x="111" y="962"/>
                  </a:cubicBezTo>
                  <a:cubicBezTo>
                    <a:pt x="105" y="957"/>
                    <a:pt x="104" y="948"/>
                    <a:pt x="98" y="943"/>
                  </a:cubicBezTo>
                  <a:cubicBezTo>
                    <a:pt x="87" y="934"/>
                    <a:pt x="73" y="931"/>
                    <a:pt x="61" y="924"/>
                  </a:cubicBezTo>
                  <a:cubicBezTo>
                    <a:pt x="42" y="873"/>
                    <a:pt x="66" y="814"/>
                    <a:pt x="23" y="784"/>
                  </a:cubicBezTo>
                  <a:cubicBezTo>
                    <a:pt x="3" y="754"/>
                    <a:pt x="0" y="736"/>
                    <a:pt x="16" y="702"/>
                  </a:cubicBezTo>
                  <a:close/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 sz="1800"/>
            </a:p>
          </p:txBody>
        </p:sp>
        <p:sp>
          <p:nvSpPr>
            <p:cNvPr id="449540" name="Text Box 4"/>
            <p:cNvSpPr txBox="1">
              <a:spLocks noChangeArrowheads="1"/>
            </p:cNvSpPr>
            <p:nvPr/>
          </p:nvSpPr>
          <p:spPr bwMode="auto">
            <a:xfrm>
              <a:off x="1920" y="1152"/>
              <a:ext cx="738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algn="l"/>
              <a:r>
                <a:rPr lang="en-US" sz="1800" dirty="0" smtClean="0"/>
                <a:t>Locations</a:t>
              </a:r>
              <a:endParaRPr lang="en-US" sz="1800" dirty="0"/>
            </a:p>
          </p:txBody>
        </p:sp>
        <p:sp>
          <p:nvSpPr>
            <p:cNvPr id="449541" name="Text Box 5"/>
            <p:cNvSpPr txBox="1">
              <a:spLocks noChangeArrowheads="1"/>
            </p:cNvSpPr>
            <p:nvPr/>
          </p:nvSpPr>
          <p:spPr bwMode="auto">
            <a:xfrm>
              <a:off x="1609" y="1440"/>
              <a:ext cx="711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algn="l"/>
              <a:r>
                <a:rPr lang="en-US" sz="1800" dirty="0" smtClean="0"/>
                <a:t>Variables</a:t>
              </a:r>
              <a:endParaRPr lang="en-US" sz="1800" dirty="0"/>
            </a:p>
          </p:txBody>
        </p:sp>
        <p:sp>
          <p:nvSpPr>
            <p:cNvPr id="449542" name="Text Box 6"/>
            <p:cNvSpPr txBox="1">
              <a:spLocks noChangeArrowheads="1"/>
            </p:cNvSpPr>
            <p:nvPr/>
          </p:nvSpPr>
          <p:spPr bwMode="auto">
            <a:xfrm>
              <a:off x="1835" y="1737"/>
              <a:ext cx="95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algn="l"/>
              <a:r>
                <a:rPr lang="en-US" sz="1800" dirty="0"/>
                <a:t>Date Ranges</a:t>
              </a:r>
            </a:p>
          </p:txBody>
        </p:sp>
      </p:grpSp>
      <p:sp>
        <p:nvSpPr>
          <p:cNvPr id="449543" name="Rectangle 7"/>
          <p:cNvSpPr>
            <a:spLocks noGrp="1" noChangeArrowheads="1"/>
          </p:cNvSpPr>
          <p:nvPr>
            <p:ph type="title"/>
          </p:nvPr>
        </p:nvSpPr>
        <p:spPr>
          <a:xfrm>
            <a:off x="457200" y="152400"/>
            <a:ext cx="8229600" cy="1143000"/>
          </a:xfrm>
        </p:spPr>
        <p:txBody>
          <a:bodyPr>
            <a:normAutofit/>
          </a:bodyPr>
          <a:lstStyle/>
          <a:p>
            <a:r>
              <a:rPr lang="en-US" sz="4000" dirty="0" smtClean="0">
                <a:solidFill>
                  <a:srgbClr val="007AC2"/>
                </a:solidFill>
                <a:cs typeface="Avenir LT Std 85 Heavy"/>
              </a:rPr>
              <a:t>WaterML2 </a:t>
            </a:r>
            <a:r>
              <a:rPr lang="en-US" sz="4000" dirty="0">
                <a:solidFill>
                  <a:srgbClr val="007AC2"/>
                </a:solidFill>
                <a:cs typeface="Avenir LT Std 85 Heavy"/>
              </a:rPr>
              <a:t>and </a:t>
            </a:r>
            <a:r>
              <a:rPr lang="en-US" sz="4000" dirty="0" smtClean="0">
                <a:solidFill>
                  <a:srgbClr val="007AC2"/>
                </a:solidFill>
                <a:cs typeface="Avenir LT Std 85 Heavy"/>
              </a:rPr>
              <a:t>SOS2</a:t>
            </a:r>
            <a:endParaRPr lang="en-US" sz="4000" dirty="0">
              <a:solidFill>
                <a:srgbClr val="007AC2"/>
              </a:solidFill>
              <a:cs typeface="Avenir LT Std 85 Heavy"/>
            </a:endParaRPr>
          </a:p>
        </p:txBody>
      </p:sp>
      <p:sp>
        <p:nvSpPr>
          <p:cNvPr id="449544" name="Rectangle 8"/>
          <p:cNvSpPr>
            <a:spLocks noChangeArrowheads="1"/>
          </p:cNvSpPr>
          <p:nvPr/>
        </p:nvSpPr>
        <p:spPr bwMode="auto">
          <a:xfrm>
            <a:off x="4191000" y="1828800"/>
            <a:ext cx="2286000" cy="2895600"/>
          </a:xfrm>
          <a:prstGeom prst="rect">
            <a:avLst/>
          </a:prstGeom>
          <a:solidFill>
            <a:srgbClr val="DEFEE3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449545" name="Line 9"/>
          <p:cNvSpPr>
            <a:spLocks noChangeShapeType="1"/>
          </p:cNvSpPr>
          <p:nvPr/>
        </p:nvSpPr>
        <p:spPr bwMode="auto">
          <a:xfrm>
            <a:off x="3886200" y="2118610"/>
            <a:ext cx="685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449546" name="Line 10"/>
          <p:cNvSpPr>
            <a:spLocks noChangeShapeType="1"/>
          </p:cNvSpPr>
          <p:nvPr/>
        </p:nvSpPr>
        <p:spPr bwMode="auto">
          <a:xfrm>
            <a:off x="3886200" y="2390098"/>
            <a:ext cx="685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449547" name="Line 11"/>
          <p:cNvSpPr>
            <a:spLocks noChangeShapeType="1"/>
          </p:cNvSpPr>
          <p:nvPr/>
        </p:nvSpPr>
        <p:spPr bwMode="auto">
          <a:xfrm>
            <a:off x="3886200" y="2661586"/>
            <a:ext cx="685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449548" name="Text Box 12"/>
          <p:cNvSpPr txBox="1">
            <a:spLocks noChangeArrowheads="1"/>
          </p:cNvSpPr>
          <p:nvPr/>
        </p:nvSpPr>
        <p:spPr bwMode="auto">
          <a:xfrm>
            <a:off x="4552950" y="1923871"/>
            <a:ext cx="1770549" cy="12003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</a:pPr>
            <a:r>
              <a:rPr lang="en-US" sz="1800" dirty="0" smtClean="0">
                <a:solidFill>
                  <a:srgbClr val="0066FF"/>
                </a:solidFill>
              </a:rPr>
              <a:t>GetSites</a:t>
            </a:r>
          </a:p>
          <a:p>
            <a:pPr algn="l">
              <a:spcBef>
                <a:spcPts val="0"/>
              </a:spcBef>
            </a:pPr>
            <a:r>
              <a:rPr lang="en-US" sz="1800" dirty="0" err="1" smtClean="0">
                <a:solidFill>
                  <a:srgbClr val="0066FF"/>
                </a:solidFill>
              </a:rPr>
              <a:t>GetSiteInfo</a:t>
            </a:r>
            <a:endParaRPr lang="en-US" sz="1800" dirty="0">
              <a:solidFill>
                <a:srgbClr val="0066FF"/>
              </a:solidFill>
            </a:endParaRPr>
          </a:p>
          <a:p>
            <a:pPr algn="l">
              <a:spcBef>
                <a:spcPts val="0"/>
              </a:spcBef>
            </a:pPr>
            <a:r>
              <a:rPr lang="en-US" sz="1800" dirty="0" err="1">
                <a:solidFill>
                  <a:srgbClr val="0066FF"/>
                </a:solidFill>
              </a:rPr>
              <a:t>GetVariableInfo</a:t>
            </a:r>
            <a:endParaRPr lang="en-US" sz="1800" dirty="0">
              <a:solidFill>
                <a:srgbClr val="0066FF"/>
              </a:solidFill>
            </a:endParaRPr>
          </a:p>
          <a:p>
            <a:pPr algn="l">
              <a:spcBef>
                <a:spcPts val="0"/>
              </a:spcBef>
            </a:pPr>
            <a:r>
              <a:rPr lang="en-US" sz="1800" dirty="0">
                <a:solidFill>
                  <a:srgbClr val="0066FF"/>
                </a:solidFill>
              </a:rPr>
              <a:t>GetValues</a:t>
            </a:r>
          </a:p>
        </p:txBody>
      </p:sp>
      <p:sp>
        <p:nvSpPr>
          <p:cNvPr id="449549" name="Oval 13"/>
          <p:cNvSpPr>
            <a:spLocks noChangeArrowheads="1"/>
          </p:cNvSpPr>
          <p:nvPr/>
        </p:nvSpPr>
        <p:spPr bwMode="auto">
          <a:xfrm>
            <a:off x="3810000" y="2042410"/>
            <a:ext cx="152400" cy="152400"/>
          </a:xfrm>
          <a:prstGeom prst="ellipse">
            <a:avLst/>
          </a:prstGeom>
          <a:solidFill>
            <a:srgbClr val="DEFEE3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449550" name="Oval 14"/>
          <p:cNvSpPr>
            <a:spLocks noChangeArrowheads="1"/>
          </p:cNvSpPr>
          <p:nvPr/>
        </p:nvSpPr>
        <p:spPr bwMode="auto">
          <a:xfrm>
            <a:off x="3810000" y="2313898"/>
            <a:ext cx="152400" cy="152400"/>
          </a:xfrm>
          <a:prstGeom prst="ellipse">
            <a:avLst/>
          </a:prstGeom>
          <a:solidFill>
            <a:srgbClr val="DEFEE3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449551" name="Oval 15"/>
          <p:cNvSpPr>
            <a:spLocks noChangeArrowheads="1"/>
          </p:cNvSpPr>
          <p:nvPr/>
        </p:nvSpPr>
        <p:spPr bwMode="auto">
          <a:xfrm>
            <a:off x="3810000" y="2585386"/>
            <a:ext cx="152400" cy="152400"/>
          </a:xfrm>
          <a:prstGeom prst="ellipse">
            <a:avLst/>
          </a:prstGeom>
          <a:solidFill>
            <a:srgbClr val="DEFEE3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449552" name="Text Box 16"/>
          <p:cNvSpPr txBox="1">
            <a:spLocks noChangeArrowheads="1"/>
          </p:cNvSpPr>
          <p:nvPr/>
        </p:nvSpPr>
        <p:spPr bwMode="auto">
          <a:xfrm>
            <a:off x="4573572" y="4022725"/>
            <a:ext cx="1500219" cy="6771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>
              <a:spcBef>
                <a:spcPts val="0"/>
              </a:spcBef>
            </a:pPr>
            <a:r>
              <a:rPr lang="en-US" sz="1800" b="1" dirty="0" smtClean="0"/>
              <a:t>SOS2</a:t>
            </a:r>
            <a:endParaRPr lang="en-US" sz="1800" b="1" dirty="0"/>
          </a:p>
          <a:p>
            <a:pPr algn="ctr">
              <a:spcBef>
                <a:spcPts val="0"/>
              </a:spcBef>
            </a:pPr>
            <a:r>
              <a:rPr lang="en-US" sz="2000" b="1" dirty="0"/>
              <a:t>Web Service</a:t>
            </a:r>
          </a:p>
        </p:txBody>
      </p:sp>
      <p:pic>
        <p:nvPicPr>
          <p:cNvPr id="449553" name="Picture 17" descr="j0285750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28600" y="3254375"/>
            <a:ext cx="1824038" cy="1120775"/>
          </a:xfrm>
          <a:prstGeom prst="rect">
            <a:avLst/>
          </a:prstGeom>
          <a:noFill/>
        </p:spPr>
      </p:pic>
      <p:sp>
        <p:nvSpPr>
          <p:cNvPr id="449554" name="Text Box 18"/>
          <p:cNvSpPr txBox="1">
            <a:spLocks noChangeArrowheads="1"/>
          </p:cNvSpPr>
          <p:nvPr/>
        </p:nvSpPr>
        <p:spPr bwMode="auto">
          <a:xfrm>
            <a:off x="669925" y="4332288"/>
            <a:ext cx="8890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/>
            <a:r>
              <a:rPr lang="en-US" sz="2000" b="1" dirty="0"/>
              <a:t>Client</a:t>
            </a:r>
          </a:p>
        </p:txBody>
      </p:sp>
      <p:sp>
        <p:nvSpPr>
          <p:cNvPr id="449555" name="AutoShape 19"/>
          <p:cNvSpPr>
            <a:spLocks noChangeArrowheads="1"/>
          </p:cNvSpPr>
          <p:nvPr/>
        </p:nvSpPr>
        <p:spPr bwMode="auto">
          <a:xfrm>
            <a:off x="7696200" y="1752600"/>
            <a:ext cx="533400" cy="685800"/>
          </a:xfrm>
          <a:prstGeom prst="can">
            <a:avLst>
              <a:gd name="adj" fmla="val 32143"/>
            </a:avLst>
          </a:prstGeom>
          <a:solidFill>
            <a:srgbClr val="FFFFCC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1800" dirty="0" smtClean="0"/>
              <a:t>EPA</a:t>
            </a:r>
            <a:endParaRPr lang="en-US" sz="1800" dirty="0"/>
          </a:p>
        </p:txBody>
      </p:sp>
      <p:sp>
        <p:nvSpPr>
          <p:cNvPr id="449556" name="AutoShape 20"/>
          <p:cNvSpPr>
            <a:spLocks noChangeArrowheads="1"/>
          </p:cNvSpPr>
          <p:nvPr/>
        </p:nvSpPr>
        <p:spPr bwMode="auto">
          <a:xfrm>
            <a:off x="7924800" y="2667000"/>
            <a:ext cx="533400" cy="685800"/>
          </a:xfrm>
          <a:prstGeom prst="can">
            <a:avLst>
              <a:gd name="adj" fmla="val 32143"/>
            </a:avLst>
          </a:prstGeom>
          <a:solidFill>
            <a:srgbClr val="F06F2C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1800" dirty="0" smtClean="0"/>
              <a:t>UT</a:t>
            </a:r>
            <a:endParaRPr lang="en-US" sz="1800" dirty="0"/>
          </a:p>
        </p:txBody>
      </p:sp>
      <p:sp>
        <p:nvSpPr>
          <p:cNvPr id="449557" name="AutoShape 21"/>
          <p:cNvSpPr>
            <a:spLocks noChangeArrowheads="1"/>
          </p:cNvSpPr>
          <p:nvPr/>
        </p:nvSpPr>
        <p:spPr bwMode="auto">
          <a:xfrm>
            <a:off x="7162800" y="2819400"/>
            <a:ext cx="533400" cy="685800"/>
          </a:xfrm>
          <a:prstGeom prst="can">
            <a:avLst>
              <a:gd name="adj" fmla="val 32143"/>
            </a:avLst>
          </a:prstGeom>
          <a:solidFill>
            <a:schemeClr val="accent3">
              <a:lumMod val="60000"/>
              <a:lumOff val="40000"/>
            </a:schemeClr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1800" dirty="0" smtClean="0"/>
              <a:t>USGS</a:t>
            </a:r>
            <a:endParaRPr lang="en-US" sz="1800" dirty="0"/>
          </a:p>
        </p:txBody>
      </p:sp>
      <p:sp>
        <p:nvSpPr>
          <p:cNvPr id="449558" name="Text Box 22"/>
          <p:cNvSpPr txBox="1">
            <a:spLocks noChangeArrowheads="1"/>
          </p:cNvSpPr>
          <p:nvPr/>
        </p:nvSpPr>
        <p:spPr bwMode="auto">
          <a:xfrm>
            <a:off x="6934200" y="3733800"/>
            <a:ext cx="1722438" cy="701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spcBef>
                <a:spcPts val="0"/>
              </a:spcBef>
            </a:pPr>
            <a:r>
              <a:rPr lang="en-US" sz="2000" b="1" dirty="0"/>
              <a:t>Data</a:t>
            </a:r>
          </a:p>
          <a:p>
            <a:pPr>
              <a:spcBef>
                <a:spcPts val="0"/>
              </a:spcBef>
            </a:pPr>
            <a:r>
              <a:rPr lang="en-US" sz="2000" b="1" dirty="0"/>
              <a:t>Repositories</a:t>
            </a:r>
          </a:p>
        </p:txBody>
      </p:sp>
      <p:sp>
        <p:nvSpPr>
          <p:cNvPr id="449559" name="Line 23"/>
          <p:cNvSpPr>
            <a:spLocks noChangeShapeType="1"/>
          </p:cNvSpPr>
          <p:nvPr/>
        </p:nvSpPr>
        <p:spPr bwMode="auto">
          <a:xfrm>
            <a:off x="2286000" y="2514600"/>
            <a:ext cx="533400" cy="0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449560" name="AutoShape 24"/>
          <p:cNvSpPr>
            <a:spLocks noChangeArrowheads="1"/>
          </p:cNvSpPr>
          <p:nvPr/>
        </p:nvSpPr>
        <p:spPr bwMode="auto">
          <a:xfrm>
            <a:off x="7391400" y="1828800"/>
            <a:ext cx="609600" cy="533400"/>
          </a:xfrm>
          <a:prstGeom prst="foldedCorner">
            <a:avLst>
              <a:gd name="adj" fmla="val 12500"/>
            </a:avLst>
          </a:prstGeom>
          <a:solidFill>
            <a:srgbClr val="FFFFCC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1800" dirty="0"/>
              <a:t>Data</a:t>
            </a:r>
          </a:p>
        </p:txBody>
      </p:sp>
      <p:sp>
        <p:nvSpPr>
          <p:cNvPr id="449561" name="AutoShape 25"/>
          <p:cNvSpPr>
            <a:spLocks noChangeArrowheads="1"/>
          </p:cNvSpPr>
          <p:nvPr/>
        </p:nvSpPr>
        <p:spPr bwMode="auto">
          <a:xfrm>
            <a:off x="8001000" y="2743200"/>
            <a:ext cx="609600" cy="533400"/>
          </a:xfrm>
          <a:prstGeom prst="foldedCorner">
            <a:avLst>
              <a:gd name="adj" fmla="val 12500"/>
            </a:avLst>
          </a:prstGeom>
          <a:solidFill>
            <a:srgbClr val="F06F2C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1800" dirty="0">
                <a:latin typeface="Algerian" pitchFamily="82" charset="0"/>
              </a:rPr>
              <a:t>Data</a:t>
            </a:r>
          </a:p>
        </p:txBody>
      </p:sp>
      <p:sp>
        <p:nvSpPr>
          <p:cNvPr id="449562" name="AutoShape 26"/>
          <p:cNvSpPr>
            <a:spLocks noChangeArrowheads="1"/>
          </p:cNvSpPr>
          <p:nvPr/>
        </p:nvSpPr>
        <p:spPr bwMode="auto">
          <a:xfrm>
            <a:off x="7086600" y="2895600"/>
            <a:ext cx="609600" cy="533400"/>
          </a:xfrm>
          <a:prstGeom prst="foldedCorner">
            <a:avLst>
              <a:gd name="adj" fmla="val 12500"/>
            </a:avLst>
          </a:prstGeom>
          <a:solidFill>
            <a:schemeClr val="accent3">
              <a:lumMod val="60000"/>
              <a:lumOff val="40000"/>
            </a:schemeClr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1800" i="1" dirty="0">
                <a:latin typeface="Comic Sans MS" pitchFamily="66" charset="0"/>
              </a:rPr>
              <a:t>Data</a:t>
            </a:r>
          </a:p>
        </p:txBody>
      </p:sp>
      <p:sp>
        <p:nvSpPr>
          <p:cNvPr id="449563" name="Text Box 27"/>
          <p:cNvSpPr txBox="1">
            <a:spLocks noChangeArrowheads="1"/>
          </p:cNvSpPr>
          <p:nvPr/>
        </p:nvSpPr>
        <p:spPr bwMode="auto">
          <a:xfrm>
            <a:off x="6918325" y="4684713"/>
            <a:ext cx="12636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/>
            <a:r>
              <a:rPr lang="en-US" sz="1800" b="1">
                <a:solidFill>
                  <a:schemeClr val="accent2"/>
                </a:solidFill>
              </a:rPr>
              <a:t>EXTRACT</a:t>
            </a:r>
          </a:p>
        </p:txBody>
      </p:sp>
      <p:sp>
        <p:nvSpPr>
          <p:cNvPr id="449564" name="Text Box 28"/>
          <p:cNvSpPr txBox="1">
            <a:spLocks noChangeArrowheads="1"/>
          </p:cNvSpPr>
          <p:nvPr/>
        </p:nvSpPr>
        <p:spPr bwMode="auto">
          <a:xfrm>
            <a:off x="4527550" y="4724400"/>
            <a:ext cx="16446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/>
            <a:r>
              <a:rPr lang="en-US" sz="1800" b="1" dirty="0">
                <a:solidFill>
                  <a:schemeClr val="accent2"/>
                </a:solidFill>
              </a:rPr>
              <a:t>TRANSFORM</a:t>
            </a:r>
          </a:p>
        </p:txBody>
      </p:sp>
      <p:sp>
        <p:nvSpPr>
          <p:cNvPr id="449565" name="Text Box 29"/>
          <p:cNvSpPr txBox="1">
            <a:spLocks noChangeArrowheads="1"/>
          </p:cNvSpPr>
          <p:nvPr/>
        </p:nvSpPr>
        <p:spPr bwMode="auto">
          <a:xfrm>
            <a:off x="762000" y="4876800"/>
            <a:ext cx="8318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/>
            <a:r>
              <a:rPr lang="en-US" sz="1800" b="1" dirty="0">
                <a:solidFill>
                  <a:schemeClr val="accent2"/>
                </a:solidFill>
              </a:rPr>
              <a:t>LOAD</a:t>
            </a:r>
          </a:p>
        </p:txBody>
      </p:sp>
      <p:sp>
        <p:nvSpPr>
          <p:cNvPr id="449566" name="AutoShape 30"/>
          <p:cNvSpPr>
            <a:spLocks noChangeArrowheads="1"/>
          </p:cNvSpPr>
          <p:nvPr/>
        </p:nvSpPr>
        <p:spPr bwMode="auto">
          <a:xfrm>
            <a:off x="4724400" y="3200400"/>
            <a:ext cx="1219200" cy="838200"/>
          </a:xfrm>
          <a:prstGeom prst="foldedCorner">
            <a:avLst>
              <a:gd name="adj" fmla="val 12500"/>
            </a:avLst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r>
              <a:rPr lang="en-US" sz="1800" dirty="0" smtClean="0">
                <a:solidFill>
                  <a:schemeClr val="bg1"/>
                </a:solidFill>
              </a:rPr>
              <a:t>WaterML2</a:t>
            </a:r>
            <a:endParaRPr lang="en-US" sz="1800" dirty="0">
              <a:solidFill>
                <a:schemeClr val="bg1"/>
              </a:solidFill>
            </a:endParaRPr>
          </a:p>
        </p:txBody>
      </p:sp>
      <p:sp>
        <p:nvSpPr>
          <p:cNvPr id="449567" name="Oval 31"/>
          <p:cNvSpPr>
            <a:spLocks noChangeArrowheads="1"/>
          </p:cNvSpPr>
          <p:nvPr/>
        </p:nvSpPr>
        <p:spPr bwMode="auto">
          <a:xfrm>
            <a:off x="6096000" y="3429000"/>
            <a:ext cx="304800" cy="304800"/>
          </a:xfrm>
          <a:prstGeom prst="ellipse">
            <a:avLst/>
          </a:prstGeom>
          <a:solidFill>
            <a:schemeClr val="hlink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449568" name="Rectangle 32"/>
          <p:cNvSpPr>
            <a:spLocks noChangeArrowheads="1"/>
          </p:cNvSpPr>
          <p:nvPr/>
        </p:nvSpPr>
        <p:spPr bwMode="auto">
          <a:xfrm>
            <a:off x="152400" y="1295400"/>
            <a:ext cx="4191000" cy="4038600"/>
          </a:xfrm>
          <a:prstGeom prst="rect">
            <a:avLst/>
          </a:prstGeom>
          <a:noFill/>
          <a:ln w="76200">
            <a:solidFill>
              <a:srgbClr val="990033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4" name="Line 11"/>
          <p:cNvSpPr>
            <a:spLocks noChangeShapeType="1"/>
          </p:cNvSpPr>
          <p:nvPr/>
        </p:nvSpPr>
        <p:spPr bwMode="auto">
          <a:xfrm>
            <a:off x="3886200" y="2933075"/>
            <a:ext cx="685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35" name="Oval 15"/>
          <p:cNvSpPr>
            <a:spLocks noChangeArrowheads="1"/>
          </p:cNvSpPr>
          <p:nvPr/>
        </p:nvSpPr>
        <p:spPr bwMode="auto">
          <a:xfrm>
            <a:off x="3810000" y="2856875"/>
            <a:ext cx="152400" cy="152400"/>
          </a:xfrm>
          <a:prstGeom prst="ellipse">
            <a:avLst/>
          </a:prstGeom>
          <a:solidFill>
            <a:srgbClr val="DEFEE3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6" name="Text Box 33"/>
          <p:cNvSpPr txBox="1">
            <a:spLocks noChangeArrowheads="1"/>
          </p:cNvSpPr>
          <p:nvPr/>
        </p:nvSpPr>
        <p:spPr bwMode="auto">
          <a:xfrm>
            <a:off x="1933082" y="5417403"/>
            <a:ext cx="5738559" cy="830997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>
              <a:spcBef>
                <a:spcPts val="0"/>
              </a:spcBef>
            </a:pPr>
            <a:r>
              <a:rPr lang="en-US" sz="2400" b="1" dirty="0" smtClean="0">
                <a:solidFill>
                  <a:schemeClr val="tx2"/>
                </a:solidFill>
              </a:rPr>
              <a:t>SOS2</a:t>
            </a:r>
            <a:r>
              <a:rPr lang="en-US" sz="2400" dirty="0" smtClean="0"/>
              <a:t> </a:t>
            </a:r>
            <a:r>
              <a:rPr lang="en-US" sz="2400" dirty="0"/>
              <a:t>is </a:t>
            </a:r>
            <a:r>
              <a:rPr lang="en-US" sz="2400" dirty="0" smtClean="0"/>
              <a:t>how you ask for data</a:t>
            </a:r>
          </a:p>
          <a:p>
            <a:pPr algn="ctr">
              <a:spcBef>
                <a:spcPts val="0"/>
              </a:spcBef>
            </a:pPr>
            <a:r>
              <a:rPr lang="en-US" sz="2400" b="1" dirty="0" smtClean="0">
                <a:solidFill>
                  <a:schemeClr val="tx2"/>
                </a:solidFill>
              </a:rPr>
              <a:t>WaterML2</a:t>
            </a:r>
            <a:r>
              <a:rPr lang="en-US" sz="2400" dirty="0" smtClean="0"/>
              <a:t> </a:t>
            </a:r>
            <a:r>
              <a:rPr lang="en-US" sz="2400" dirty="0"/>
              <a:t>is </a:t>
            </a:r>
            <a:r>
              <a:rPr lang="en-US" sz="2400" dirty="0" smtClean="0"/>
              <a:t>the format of what comes back</a:t>
            </a:r>
            <a:endParaRPr lang="en-US" sz="2400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95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63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33333E-6 3.33333E-6 L 0.1125 3.33333E-6 " pathEditMode="relative" rAng="0" ptsTypes="AA">
                                      <p:cBhvr>
                                        <p:cTn id="9" dur="2000" fill="hold"/>
                                        <p:tgtEl>
                                          <p:spTgt spid="44955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6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2000"/>
                            </p:stCondLst>
                            <p:childTnLst>
                              <p:par>
                                <p:cTn id="11" presetID="19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2" dur="500" fill="hold"/>
                                        <p:tgtEl>
                                          <p:spTgt spid="44954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animClr clrSpc="rgb" dir="cw">
                                      <p:cBhvr>
                                        <p:cTn id="13" dur="500" fill="hold"/>
                                        <p:tgtEl>
                                          <p:spTgt spid="44954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14" dur="500" fill="hold"/>
                                        <p:tgtEl>
                                          <p:spTgt spid="44954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5" dur="500" fill="hold"/>
                                        <p:tgtEl>
                                          <p:spTgt spid="44954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9" presetClass="emph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7" dur="500" fill="hold"/>
                                        <p:tgtEl>
                                          <p:spTgt spid="44955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animClr clrSpc="rgb" dir="cw">
                                      <p:cBhvr>
                                        <p:cTn id="18" dur="500" fill="hold"/>
                                        <p:tgtEl>
                                          <p:spTgt spid="44955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19" dur="500" fill="hold"/>
                                        <p:tgtEl>
                                          <p:spTgt spid="44955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0" dur="500" fill="hold"/>
                                        <p:tgtEl>
                                          <p:spTgt spid="44955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9" presetClass="emph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2" dur="500" fill="hold"/>
                                        <p:tgtEl>
                                          <p:spTgt spid="44955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animClr clrSpc="rgb" dir="cw">
                                      <p:cBhvr>
                                        <p:cTn id="23" dur="500" fill="hold"/>
                                        <p:tgtEl>
                                          <p:spTgt spid="44955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24" dur="500" fill="hold"/>
                                        <p:tgtEl>
                                          <p:spTgt spid="44955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5" dur="500" fill="hold"/>
                                        <p:tgtEl>
                                          <p:spTgt spid="44955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9" presetClass="emph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7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animClr clrSpc="rgb" dir="cw">
                                      <p:cBhvr>
                                        <p:cTn id="28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29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0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95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0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556 -0.00579 C 0.03819 -0.04329 0.08212 -0.08056 0.11094 -0.1169 C 0.13976 -0.15347 0.15312 -0.23449 0.16701 -0.22431 C 0.1809 -0.21366 0.20208 -0.09144 0.19444 -0.0537 C 0.1868 -0.01574 0.1533 -0.00509 0.12083 0.00393 C 0.08837 0.01319 0.02014 0.00069 1.11111E-6 3.7037E-7 " pathEditMode="relative" rAng="0" ptsTypes="aaaaaA">
                                      <p:cBhvr>
                                        <p:cTn id="37" dur="5000" fill="hold"/>
                                        <p:tgtEl>
                                          <p:spTgt spid="44956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04" y="-105"/>
                                    </p:animMotion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95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4495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95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49" presetClass="path" presetSubtype="0" accel="50000" decel="50000" fill="hold" grpId="1" nodeType="withEffect">
                                  <p:stCondLst>
                                    <p:cond delay="2200"/>
                                  </p:stCondLst>
                                  <p:childTnLst>
                                    <p:animMotion origin="layout" path="M 1.11022E-16 -1.11111E-6 L -0.29757 0.19838 " pathEditMode="relative" rAng="0" ptsTypes="AA">
                                      <p:cBhvr>
                                        <p:cTn id="44" dur="1000" fill="hold"/>
                                        <p:tgtEl>
                                          <p:spTgt spid="44956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49" y="99"/>
                                    </p:animMotion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95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49" presetClass="path" presetSubtype="0" accel="50000" decel="50000" fill="hold" grpId="1" nodeType="withEffect">
                                  <p:stCondLst>
                                    <p:cond delay="2800"/>
                                  </p:stCondLst>
                                  <p:childTnLst>
                                    <p:animMotion origin="layout" path="M -3.33333E-6 -0.00555 L -0.325 0.08889 " pathEditMode="relative" rAng="0" ptsTypes="AA">
                                      <p:cBhvr>
                                        <p:cTn id="48" dur="1000" fill="hold"/>
                                        <p:tgtEl>
                                          <p:spTgt spid="44956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62" y="47"/>
                                    </p:animMotion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3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95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49" presetClass="path" presetSubtype="0" accel="50000" decel="50000" fill="hold" grpId="1" nodeType="withEffect">
                                  <p:stCondLst>
                                    <p:cond delay="3200"/>
                                  </p:stCondLst>
                                  <p:childTnLst>
                                    <p:animMotion origin="layout" path="M -3.33333E-6 -1.11111E-6 L -0.196 0.10185 " pathEditMode="relative" rAng="0" ptsTypes="AA">
                                      <p:cBhvr>
                                        <p:cTn id="52" dur="1000" fill="hold"/>
                                        <p:tgtEl>
                                          <p:spTgt spid="44956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98" y="5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95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4495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500"/>
                            </p:stCondLst>
                            <p:childTnLst>
                              <p:par>
                                <p:cTn id="59" presetID="10" presetClass="exit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0" dur="500"/>
                                        <p:tgtEl>
                                          <p:spTgt spid="44956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495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3" dur="500"/>
                                        <p:tgtEl>
                                          <p:spTgt spid="44956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495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5" presetClass="exit" presetSubtype="10" fill="hold" grpId="2" nodeType="withEffect">
                                  <p:stCondLst>
                                    <p:cond delay="200"/>
                                  </p:stCondLst>
                                  <p:childTnLst>
                                    <p:animEffect transition="out" filter="checkerboard(across)">
                                      <p:cBhvr>
                                        <p:cTn id="66" dur="500"/>
                                        <p:tgtEl>
                                          <p:spTgt spid="44956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495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8" presetID="5" presetClass="exit" presetSubtype="10" fill="hold" grpId="2" nodeType="withEffect">
                                  <p:stCondLst>
                                    <p:cond delay="200"/>
                                  </p:stCondLst>
                                  <p:childTnLst>
                                    <p:animEffect transition="out" filter="checkerboard(across)">
                                      <p:cBhvr>
                                        <p:cTn id="69" dur="500"/>
                                        <p:tgtEl>
                                          <p:spTgt spid="44956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495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5" presetClass="exit" presetSubtype="10" fill="hold" grpId="2" nodeType="withEffect">
                                  <p:stCondLst>
                                    <p:cond delay="200"/>
                                  </p:stCondLst>
                                  <p:childTnLst>
                                    <p:animEffect transition="out" filter="checkerboard(across)">
                                      <p:cBhvr>
                                        <p:cTn id="72" dur="500"/>
                                        <p:tgtEl>
                                          <p:spTgt spid="44956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495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4" presetID="5" presetClass="entr" presetSubtype="1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95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6" dur="500"/>
                                        <p:tgtEl>
                                          <p:spTgt spid="4495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0" dur="500"/>
                                        <p:tgtEl>
                                          <p:spTgt spid="44956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495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2" presetID="49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33333E-6 -3.33333E-6 L -0.30833 0.04445 " pathEditMode="relative" rAng="0" ptsTypes="AA">
                                      <p:cBhvr>
                                        <p:cTn id="83" dur="2000" fill="hold"/>
                                        <p:tgtEl>
                                          <p:spTgt spid="44956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54" y="22"/>
                                    </p:animMotion>
                                  </p:childTnLst>
                                </p:cTn>
                              </p:par>
                              <p:par>
                                <p:cTn id="84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95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4495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95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4495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3" dur="500"/>
                                        <p:tgtEl>
                                          <p:spTgt spid="44956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495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9549" grpId="0" animBg="1"/>
      <p:bldP spid="449550" grpId="0" animBg="1"/>
      <p:bldP spid="449551" grpId="0" animBg="1"/>
      <p:bldP spid="449559" grpId="0" animBg="1"/>
      <p:bldP spid="449559" grpId="1" animBg="1"/>
      <p:bldP spid="449560" grpId="0" animBg="1"/>
      <p:bldP spid="449560" grpId="1" animBg="1"/>
      <p:bldP spid="449560" grpId="2" animBg="1"/>
      <p:bldP spid="449561" grpId="0" animBg="1"/>
      <p:bldP spid="449561" grpId="1" animBg="1"/>
      <p:bldP spid="449561" grpId="2" animBg="1"/>
      <p:bldP spid="449562" grpId="0" animBg="1"/>
      <p:bldP spid="449562" grpId="1" animBg="1"/>
      <p:bldP spid="449562" grpId="2" animBg="1"/>
      <p:bldP spid="449563" grpId="0"/>
      <p:bldP spid="449563" grpId="1"/>
      <p:bldP spid="449564" grpId="0"/>
      <p:bldP spid="449564" grpId="1"/>
      <p:bldP spid="449565" grpId="0"/>
      <p:bldP spid="449565" grpId="1"/>
      <p:bldP spid="449566" grpId="0" animBg="1"/>
      <p:bldP spid="449566" grpId="1" animBg="1"/>
      <p:bldP spid="449567" grpId="0" animBg="1"/>
      <p:bldP spid="449567" grpId="1" animBg="1"/>
      <p:bldP spid="449567" grpId="2" animBg="1"/>
      <p:bldP spid="449568" grpId="0" animBg="1"/>
      <p:bldP spid="35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Arco 6"/>
          <p:cNvSpPr/>
          <p:nvPr/>
        </p:nvSpPr>
        <p:spPr>
          <a:xfrm flipH="1">
            <a:off x="3027293" y="2427413"/>
            <a:ext cx="2157513" cy="4114022"/>
          </a:xfrm>
          <a:prstGeom prst="arc">
            <a:avLst>
              <a:gd name="adj1" fmla="val 16400732"/>
              <a:gd name="adj2" fmla="val 5530688"/>
            </a:avLst>
          </a:prstGeom>
          <a:ln w="76200">
            <a:solidFill>
              <a:srgbClr val="996633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Arco 7"/>
          <p:cNvSpPr/>
          <p:nvPr/>
        </p:nvSpPr>
        <p:spPr>
          <a:xfrm>
            <a:off x="4935320" y="2427414"/>
            <a:ext cx="2157513" cy="4114022"/>
          </a:xfrm>
          <a:prstGeom prst="arc">
            <a:avLst>
              <a:gd name="adj1" fmla="val 16400732"/>
              <a:gd name="adj2" fmla="val 5530688"/>
            </a:avLst>
          </a:prstGeom>
          <a:ln w="76200">
            <a:solidFill>
              <a:srgbClr val="996633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Immagine 8"/>
          <p:cNvPicPr>
            <a:picLocks noChangeAspect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3667142" y="5527608"/>
            <a:ext cx="2524125" cy="1428750"/>
          </a:xfrm>
          <a:prstGeom prst="rect">
            <a:avLst/>
          </a:prstGeom>
        </p:spPr>
      </p:pic>
      <p:grpSp>
        <p:nvGrpSpPr>
          <p:cNvPr id="2" name="Gruppo 9"/>
          <p:cNvGrpSpPr/>
          <p:nvPr/>
        </p:nvGrpSpPr>
        <p:grpSpPr>
          <a:xfrm>
            <a:off x="2065870" y="4284495"/>
            <a:ext cx="2233016" cy="2033986"/>
            <a:chOff x="2065870" y="4020335"/>
            <a:chExt cx="2233016" cy="2033986"/>
          </a:xfrm>
        </p:grpSpPr>
        <p:pic>
          <p:nvPicPr>
            <p:cNvPr id="11" name="Immagine 10"/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3324158" y="4020335"/>
              <a:ext cx="974728" cy="1303867"/>
            </a:xfrm>
            <a:prstGeom prst="rect">
              <a:avLst/>
            </a:prstGeom>
          </p:spPr>
        </p:pic>
        <p:pic>
          <p:nvPicPr>
            <p:cNvPr id="12" name="Immagine 11"/>
            <p:cNvPicPr>
              <a:picLocks noChangeAspect="1"/>
            </p:cNvPicPr>
            <p:nvPr/>
          </p:nvPicPr>
          <p:blipFill>
            <a:blip r:embed="rId4" cstate="email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2065870" y="4816369"/>
              <a:ext cx="1525990" cy="1237952"/>
            </a:xfrm>
            <a:prstGeom prst="rect">
              <a:avLst/>
            </a:prstGeom>
          </p:spPr>
        </p:pic>
      </p:grpSp>
      <p:grpSp>
        <p:nvGrpSpPr>
          <p:cNvPr id="3" name="Gruppo 12"/>
          <p:cNvGrpSpPr/>
          <p:nvPr/>
        </p:nvGrpSpPr>
        <p:grpSpPr>
          <a:xfrm>
            <a:off x="1702807" y="2981478"/>
            <a:ext cx="1841441" cy="1558130"/>
            <a:chOff x="1702807" y="2717318"/>
            <a:chExt cx="1841441" cy="1558130"/>
          </a:xfrm>
        </p:grpSpPr>
        <p:pic>
          <p:nvPicPr>
            <p:cNvPr id="14" name="Immagine 13"/>
            <p:cNvPicPr>
              <a:picLocks noChangeAspect="1"/>
            </p:cNvPicPr>
            <p:nvPr/>
          </p:nvPicPr>
          <p:blipFill rotWithShape="1">
            <a:blip r:embed="rId5" cstate="print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2532938" y="2717318"/>
              <a:ext cx="1011310" cy="1290954"/>
            </a:xfrm>
            <a:prstGeom prst="rect">
              <a:avLst/>
            </a:prstGeom>
          </p:spPr>
        </p:pic>
        <p:pic>
          <p:nvPicPr>
            <p:cNvPr id="15" name="Immagine 14"/>
            <p:cNvPicPr>
              <a:picLocks noChangeAspect="1"/>
            </p:cNvPicPr>
            <p:nvPr/>
          </p:nvPicPr>
          <p:blipFill>
            <a:blip r:embed="rId6" cstate="email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 flipH="1">
              <a:off x="1702807" y="3118953"/>
              <a:ext cx="1197876" cy="1156495"/>
            </a:xfrm>
            <a:prstGeom prst="rect">
              <a:avLst/>
            </a:prstGeom>
          </p:spPr>
        </p:pic>
      </p:grpSp>
      <p:grpSp>
        <p:nvGrpSpPr>
          <p:cNvPr id="5" name="Gruppo 15"/>
          <p:cNvGrpSpPr/>
          <p:nvPr/>
        </p:nvGrpSpPr>
        <p:grpSpPr>
          <a:xfrm>
            <a:off x="5672066" y="4272432"/>
            <a:ext cx="1304205" cy="1454392"/>
            <a:chOff x="5672066" y="4008272"/>
            <a:chExt cx="1304205" cy="1454392"/>
          </a:xfrm>
        </p:grpSpPr>
        <p:pic>
          <p:nvPicPr>
            <p:cNvPr id="17" name="Immagine 16"/>
            <p:cNvPicPr>
              <a:picLocks noChangeAspect="1"/>
            </p:cNvPicPr>
            <p:nvPr/>
          </p:nvPicPr>
          <p:blipFill rotWithShape="1">
            <a:blip r:embed="rId7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5672066" y="4008272"/>
              <a:ext cx="965200" cy="1312334"/>
            </a:xfrm>
            <a:prstGeom prst="rect">
              <a:avLst/>
            </a:prstGeom>
          </p:spPr>
        </p:pic>
        <p:pic>
          <p:nvPicPr>
            <p:cNvPr id="18" name="Immagine 17"/>
            <p:cNvPicPr>
              <a:picLocks noChangeAspect="1"/>
            </p:cNvPicPr>
            <p:nvPr/>
          </p:nvPicPr>
          <p:blipFill>
            <a:blip r:embed="rId8" cstate="email">
              <a:duotone>
                <a:prstClr val="black"/>
                <a:schemeClr val="accent3">
                  <a:tint val="45000"/>
                  <a:satMod val="400000"/>
                </a:schemeClr>
              </a:duotone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6315193" y="4801586"/>
              <a:ext cx="661078" cy="661078"/>
            </a:xfrm>
            <a:prstGeom prst="rect">
              <a:avLst/>
            </a:prstGeom>
          </p:spPr>
        </p:pic>
      </p:grpSp>
      <p:grpSp>
        <p:nvGrpSpPr>
          <p:cNvPr id="6" name="Gruppo 18"/>
          <p:cNvGrpSpPr/>
          <p:nvPr/>
        </p:nvGrpSpPr>
        <p:grpSpPr>
          <a:xfrm>
            <a:off x="5672066" y="1441852"/>
            <a:ext cx="1366729" cy="1323535"/>
            <a:chOff x="5672066" y="1177692"/>
            <a:chExt cx="1366729" cy="1323535"/>
          </a:xfrm>
        </p:grpSpPr>
        <p:pic>
          <p:nvPicPr>
            <p:cNvPr id="20" name="Immagine 19"/>
            <p:cNvPicPr>
              <a:picLocks noChangeAspect="1"/>
            </p:cNvPicPr>
            <p:nvPr/>
          </p:nvPicPr>
          <p:blipFill rotWithShape="1">
            <a:blip r:embed="rId9" cstate="email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5672066" y="1177692"/>
              <a:ext cx="973666" cy="1320801"/>
            </a:xfrm>
            <a:prstGeom prst="rect">
              <a:avLst/>
            </a:prstGeom>
          </p:spPr>
        </p:pic>
        <p:pic>
          <p:nvPicPr>
            <p:cNvPr id="21" name="Immagine 20"/>
            <p:cNvPicPr>
              <a:picLocks noChangeAspect="1"/>
            </p:cNvPicPr>
            <p:nvPr/>
          </p:nvPicPr>
          <p:blipFill>
            <a:blip r:embed="rId8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6377717" y="1840149"/>
              <a:ext cx="661078" cy="661078"/>
            </a:xfrm>
            <a:prstGeom prst="rect">
              <a:avLst/>
            </a:prstGeom>
          </p:spPr>
        </p:pic>
      </p:grpSp>
      <p:grpSp>
        <p:nvGrpSpPr>
          <p:cNvPr id="10" name="Gruppo 21"/>
          <p:cNvGrpSpPr/>
          <p:nvPr/>
        </p:nvGrpSpPr>
        <p:grpSpPr>
          <a:xfrm>
            <a:off x="6548648" y="3022079"/>
            <a:ext cx="1287635" cy="1542891"/>
            <a:chOff x="6548648" y="2757919"/>
            <a:chExt cx="1287635" cy="1542891"/>
          </a:xfrm>
        </p:grpSpPr>
        <p:pic>
          <p:nvPicPr>
            <p:cNvPr id="23" name="Immagine 22"/>
            <p:cNvPicPr>
              <a:picLocks noChangeAspect="1"/>
            </p:cNvPicPr>
            <p:nvPr/>
          </p:nvPicPr>
          <p:blipFill rotWithShape="1">
            <a:blip r:embed="rId10" cstate="email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t="-581"/>
            <a:stretch/>
          </p:blipFill>
          <p:spPr>
            <a:xfrm>
              <a:off x="6548648" y="2757919"/>
              <a:ext cx="998006" cy="1380066"/>
            </a:xfrm>
            <a:prstGeom prst="rect">
              <a:avLst/>
            </a:prstGeom>
          </p:spPr>
        </p:pic>
        <p:pic>
          <p:nvPicPr>
            <p:cNvPr id="24" name="Immagine 23"/>
            <p:cNvPicPr>
              <a:picLocks noChangeAspect="1"/>
            </p:cNvPicPr>
            <p:nvPr/>
          </p:nvPicPr>
          <p:blipFill>
            <a:blip r:embed="rId11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7191413" y="3655940"/>
              <a:ext cx="644870" cy="644870"/>
            </a:xfrm>
            <a:prstGeom prst="rect">
              <a:avLst/>
            </a:prstGeom>
          </p:spPr>
        </p:pic>
      </p:grpSp>
      <p:grpSp>
        <p:nvGrpSpPr>
          <p:cNvPr id="13" name="Gruppo 24"/>
          <p:cNvGrpSpPr/>
          <p:nvPr/>
        </p:nvGrpSpPr>
        <p:grpSpPr>
          <a:xfrm>
            <a:off x="2111906" y="1428951"/>
            <a:ext cx="2472410" cy="1331651"/>
            <a:chOff x="2111906" y="1164791"/>
            <a:chExt cx="2472410" cy="1331651"/>
          </a:xfrm>
        </p:grpSpPr>
        <p:pic>
          <p:nvPicPr>
            <p:cNvPr id="26" name="Immagine 25"/>
            <p:cNvPicPr>
              <a:picLocks noChangeAspect="1"/>
            </p:cNvPicPr>
            <p:nvPr/>
          </p:nvPicPr>
          <p:blipFill rotWithShape="1">
            <a:blip r:embed="rId12" cstate="print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3567860" y="1164791"/>
              <a:ext cx="1016456" cy="1331651"/>
            </a:xfrm>
            <a:prstGeom prst="rect">
              <a:avLst/>
            </a:prstGeom>
          </p:spPr>
        </p:pic>
        <p:pic>
          <p:nvPicPr>
            <p:cNvPr id="27" name="Immagine 26"/>
            <p:cNvPicPr>
              <a:picLocks noChangeAspect="1"/>
            </p:cNvPicPr>
            <p:nvPr/>
          </p:nvPicPr>
          <p:blipFill>
            <a:blip r:embed="rId13" cstate="email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2111906" y="1265888"/>
              <a:ext cx="1577553" cy="1187734"/>
            </a:xfrm>
            <a:prstGeom prst="rect">
              <a:avLst/>
            </a:prstGeom>
          </p:spPr>
        </p:pic>
      </p:grpSp>
      <p:sp>
        <p:nvSpPr>
          <p:cNvPr id="28" name="CasellaDiTesto 27"/>
          <p:cNvSpPr txBox="1"/>
          <p:nvPr/>
        </p:nvSpPr>
        <p:spPr>
          <a:xfrm rot="16200000">
            <a:off x="5401815" y="2694164"/>
            <a:ext cx="5354283" cy="1063315"/>
          </a:xfrm>
          <a:prstGeom prst="rect">
            <a:avLst/>
          </a:prstGeom>
          <a:noFill/>
        </p:spPr>
        <p:txBody>
          <a:bodyPr wrap="none" rtlCol="0">
            <a:prstTxWarp prst="textArchDown">
              <a:avLst>
                <a:gd name="adj" fmla="val 319546"/>
              </a:avLst>
            </a:prstTxWarp>
            <a:spAutoFit/>
          </a:bodyPr>
          <a:lstStyle/>
          <a:p>
            <a:r>
              <a:rPr lang="en-US" sz="4400" dirty="0">
                <a:solidFill>
                  <a:srgbClr val="E64823">
                    <a:lumMod val="75000"/>
                  </a:srgbClr>
                </a:solidFill>
              </a:rPr>
              <a:t>Data  Infrastructures</a:t>
            </a:r>
          </a:p>
        </p:txBody>
      </p:sp>
      <p:sp>
        <p:nvSpPr>
          <p:cNvPr id="29" name="CasellaDiTesto 28"/>
          <p:cNvSpPr txBox="1"/>
          <p:nvPr/>
        </p:nvSpPr>
        <p:spPr>
          <a:xfrm rot="16200000">
            <a:off x="-891264" y="2817059"/>
            <a:ext cx="4879993" cy="1063315"/>
          </a:xfrm>
          <a:prstGeom prst="rect">
            <a:avLst/>
          </a:prstGeom>
          <a:noFill/>
        </p:spPr>
        <p:txBody>
          <a:bodyPr wrap="none" rtlCol="0">
            <a:prstTxWarp prst="textArchUp">
              <a:avLst/>
            </a:prstTxWarp>
            <a:spAutoFit/>
          </a:bodyPr>
          <a:lstStyle/>
          <a:p>
            <a:pPr algn="ctr"/>
            <a:r>
              <a:rPr lang="en-US" sz="4400" dirty="0">
                <a:solidFill>
                  <a:srgbClr val="0070C0"/>
                </a:solidFill>
              </a:rPr>
              <a:t>Data  Applications</a:t>
            </a:r>
          </a:p>
        </p:txBody>
      </p:sp>
      <p:cxnSp>
        <p:nvCxnSpPr>
          <p:cNvPr id="30" name="Connettore 1 29"/>
          <p:cNvCxnSpPr>
            <a:stCxn id="57" idx="6"/>
            <a:endCxn id="52" idx="1"/>
          </p:cNvCxnSpPr>
          <p:nvPr/>
        </p:nvCxnSpPr>
        <p:spPr>
          <a:xfrm>
            <a:off x="4243638" y="2777211"/>
            <a:ext cx="2179991" cy="842237"/>
          </a:xfrm>
          <a:prstGeom prst="line">
            <a:avLst/>
          </a:prstGeom>
          <a:ln w="38100">
            <a:solidFill>
              <a:srgbClr val="C00000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Connettore 1 30"/>
          <p:cNvCxnSpPr>
            <a:stCxn id="55" idx="6"/>
            <a:endCxn id="52" idx="2"/>
          </p:cNvCxnSpPr>
          <p:nvPr/>
        </p:nvCxnSpPr>
        <p:spPr>
          <a:xfrm>
            <a:off x="3734657" y="3619125"/>
            <a:ext cx="2656984" cy="78400"/>
          </a:xfrm>
          <a:prstGeom prst="line">
            <a:avLst/>
          </a:prstGeom>
          <a:ln w="38100">
            <a:solidFill>
              <a:srgbClr val="C00000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Connettore 1 31"/>
          <p:cNvCxnSpPr>
            <a:stCxn id="56" idx="7"/>
            <a:endCxn id="54" idx="3"/>
          </p:cNvCxnSpPr>
          <p:nvPr/>
        </p:nvCxnSpPr>
        <p:spPr>
          <a:xfrm flipV="1">
            <a:off x="4412695" y="2861369"/>
            <a:ext cx="1655945" cy="1951225"/>
          </a:xfrm>
          <a:prstGeom prst="line">
            <a:avLst/>
          </a:prstGeom>
          <a:ln w="38100">
            <a:solidFill>
              <a:srgbClr val="C00000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Connettore 1 32"/>
          <p:cNvCxnSpPr>
            <a:stCxn id="55" idx="5"/>
            <a:endCxn id="53" idx="2"/>
          </p:cNvCxnSpPr>
          <p:nvPr/>
        </p:nvCxnSpPr>
        <p:spPr>
          <a:xfrm>
            <a:off x="3702669" y="3697202"/>
            <a:ext cx="1856853" cy="1209757"/>
          </a:xfrm>
          <a:prstGeom prst="line">
            <a:avLst/>
          </a:prstGeom>
          <a:ln w="38100">
            <a:solidFill>
              <a:srgbClr val="C00000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Connettore 1 33"/>
          <p:cNvCxnSpPr>
            <a:stCxn id="57" idx="5"/>
            <a:endCxn id="53" idx="1"/>
          </p:cNvCxnSpPr>
          <p:nvPr/>
        </p:nvCxnSpPr>
        <p:spPr>
          <a:xfrm>
            <a:off x="4211650" y="2855288"/>
            <a:ext cx="1379860" cy="1973594"/>
          </a:xfrm>
          <a:prstGeom prst="line">
            <a:avLst/>
          </a:prstGeom>
          <a:ln w="38100">
            <a:solidFill>
              <a:srgbClr val="C00000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Connettore 1 34"/>
          <p:cNvCxnSpPr>
            <a:stCxn id="57" idx="6"/>
            <a:endCxn id="54" idx="2"/>
          </p:cNvCxnSpPr>
          <p:nvPr/>
        </p:nvCxnSpPr>
        <p:spPr>
          <a:xfrm>
            <a:off x="4243638" y="2777211"/>
            <a:ext cx="1793014" cy="6081"/>
          </a:xfrm>
          <a:prstGeom prst="line">
            <a:avLst/>
          </a:prstGeom>
          <a:ln w="38100">
            <a:solidFill>
              <a:srgbClr val="C00000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Connettore 1 35"/>
          <p:cNvCxnSpPr>
            <a:endCxn id="53" idx="2"/>
          </p:cNvCxnSpPr>
          <p:nvPr/>
        </p:nvCxnSpPr>
        <p:spPr>
          <a:xfrm flipV="1">
            <a:off x="4444683" y="4906959"/>
            <a:ext cx="1114839" cy="17010"/>
          </a:xfrm>
          <a:prstGeom prst="line">
            <a:avLst/>
          </a:prstGeom>
          <a:ln w="38100">
            <a:solidFill>
              <a:srgbClr val="C00000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Connettore 1 36"/>
          <p:cNvCxnSpPr>
            <a:stCxn id="56" idx="6"/>
            <a:endCxn id="52" idx="3"/>
          </p:cNvCxnSpPr>
          <p:nvPr/>
        </p:nvCxnSpPr>
        <p:spPr>
          <a:xfrm flipV="1">
            <a:off x="4444683" y="3775602"/>
            <a:ext cx="1978946" cy="1115069"/>
          </a:xfrm>
          <a:prstGeom prst="line">
            <a:avLst/>
          </a:prstGeom>
          <a:ln w="38100">
            <a:solidFill>
              <a:srgbClr val="C00000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Connettore 1 37"/>
          <p:cNvCxnSpPr>
            <a:stCxn id="55" idx="7"/>
            <a:endCxn id="54" idx="2"/>
          </p:cNvCxnSpPr>
          <p:nvPr/>
        </p:nvCxnSpPr>
        <p:spPr>
          <a:xfrm flipV="1">
            <a:off x="3702669" y="2783292"/>
            <a:ext cx="2333983" cy="757756"/>
          </a:xfrm>
          <a:prstGeom prst="line">
            <a:avLst/>
          </a:prstGeom>
          <a:ln w="38100">
            <a:solidFill>
              <a:srgbClr val="C00000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Connettore 1 38"/>
          <p:cNvCxnSpPr/>
          <p:nvPr/>
        </p:nvCxnSpPr>
        <p:spPr>
          <a:xfrm>
            <a:off x="3528498" y="3815314"/>
            <a:ext cx="770388" cy="0"/>
          </a:xfrm>
          <a:prstGeom prst="line">
            <a:avLst/>
          </a:prstGeom>
          <a:ln w="57150">
            <a:solidFill>
              <a:srgbClr val="996633"/>
            </a:solidFill>
            <a:headEnd type="stealth" w="med" len="med"/>
            <a:tailEnd type="stealth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Connettore 1 39"/>
          <p:cNvCxnSpPr/>
          <p:nvPr/>
        </p:nvCxnSpPr>
        <p:spPr>
          <a:xfrm>
            <a:off x="5786287" y="3815314"/>
            <a:ext cx="762361" cy="0"/>
          </a:xfrm>
          <a:prstGeom prst="line">
            <a:avLst/>
          </a:prstGeom>
          <a:ln w="57150">
            <a:solidFill>
              <a:srgbClr val="996633"/>
            </a:solidFill>
            <a:headEnd type="stealth" w="med" len="med"/>
            <a:tailEnd type="stealth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Connettore 1 40"/>
          <p:cNvCxnSpPr/>
          <p:nvPr/>
        </p:nvCxnSpPr>
        <p:spPr>
          <a:xfrm>
            <a:off x="3997993" y="2794472"/>
            <a:ext cx="506115" cy="483820"/>
          </a:xfrm>
          <a:prstGeom prst="line">
            <a:avLst/>
          </a:prstGeom>
          <a:ln w="57150">
            <a:solidFill>
              <a:srgbClr val="996633"/>
            </a:solidFill>
            <a:headEnd type="stealth" w="med" len="med"/>
            <a:tailEnd type="stealth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Connettore 1 41"/>
          <p:cNvCxnSpPr/>
          <p:nvPr/>
        </p:nvCxnSpPr>
        <p:spPr>
          <a:xfrm flipH="1">
            <a:off x="4193004" y="4242535"/>
            <a:ext cx="397476" cy="367052"/>
          </a:xfrm>
          <a:prstGeom prst="line">
            <a:avLst/>
          </a:prstGeom>
          <a:ln w="57150">
            <a:solidFill>
              <a:srgbClr val="996633"/>
            </a:solidFill>
            <a:headEnd type="stealth" w="med" len="med"/>
            <a:tailEnd type="stealth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Connettore 1 42"/>
          <p:cNvCxnSpPr/>
          <p:nvPr/>
        </p:nvCxnSpPr>
        <p:spPr>
          <a:xfrm flipH="1">
            <a:off x="5456124" y="2791965"/>
            <a:ext cx="452290" cy="486327"/>
          </a:xfrm>
          <a:prstGeom prst="line">
            <a:avLst/>
          </a:prstGeom>
          <a:ln w="57150">
            <a:solidFill>
              <a:srgbClr val="996633"/>
            </a:solidFill>
            <a:headEnd type="stealth" w="med" len="med"/>
            <a:tailEnd type="stealth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Connettore 1 43"/>
          <p:cNvCxnSpPr/>
          <p:nvPr/>
        </p:nvCxnSpPr>
        <p:spPr>
          <a:xfrm>
            <a:off x="5456124" y="4274202"/>
            <a:ext cx="377455" cy="334648"/>
          </a:xfrm>
          <a:prstGeom prst="line">
            <a:avLst/>
          </a:prstGeom>
          <a:ln w="57150">
            <a:solidFill>
              <a:srgbClr val="996633"/>
            </a:solidFill>
            <a:headEnd type="stealth" w="med" len="med"/>
            <a:tailEnd type="stealth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CasellaDiTesto 44"/>
          <p:cNvSpPr txBox="1"/>
          <p:nvPr/>
        </p:nvSpPr>
        <p:spPr>
          <a:xfrm>
            <a:off x="5605453" y="3489189"/>
            <a:ext cx="106760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>
                <a:ln w="9525">
                  <a:solidFill>
                    <a:prstClr val="white"/>
                  </a:solidFill>
                  <a:prstDash val="solid"/>
                </a:ln>
                <a:solidFill>
                  <a:srgbClr val="FF0000"/>
                </a:solidFill>
              </a:rPr>
              <a:t>Mediation</a:t>
            </a:r>
          </a:p>
        </p:txBody>
      </p:sp>
      <p:sp>
        <p:nvSpPr>
          <p:cNvPr id="46" name="CasellaDiTesto 45"/>
          <p:cNvSpPr txBox="1"/>
          <p:nvPr/>
        </p:nvSpPr>
        <p:spPr>
          <a:xfrm rot="18814794">
            <a:off x="5071653" y="2707584"/>
            <a:ext cx="106760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>
                <a:ln w="9525">
                  <a:solidFill>
                    <a:prstClr val="white"/>
                  </a:solidFill>
                  <a:prstDash val="solid"/>
                </a:ln>
                <a:solidFill>
                  <a:srgbClr val="FF0000"/>
                </a:solidFill>
              </a:rPr>
              <a:t>Mediation</a:t>
            </a:r>
          </a:p>
        </p:txBody>
      </p:sp>
      <p:sp>
        <p:nvSpPr>
          <p:cNvPr id="47" name="CasellaDiTesto 46"/>
          <p:cNvSpPr txBox="1"/>
          <p:nvPr/>
        </p:nvSpPr>
        <p:spPr>
          <a:xfrm rot="2541384">
            <a:off x="5144070" y="4500856"/>
            <a:ext cx="106760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>
                <a:ln w="9525">
                  <a:solidFill>
                    <a:prstClr val="white"/>
                  </a:solidFill>
                  <a:prstDash val="solid"/>
                </a:ln>
                <a:solidFill>
                  <a:srgbClr val="FF0000"/>
                </a:solidFill>
              </a:rPr>
              <a:t>Mediation</a:t>
            </a:r>
          </a:p>
        </p:txBody>
      </p:sp>
      <p:sp>
        <p:nvSpPr>
          <p:cNvPr id="48" name="CasellaDiTesto 47"/>
          <p:cNvSpPr txBox="1"/>
          <p:nvPr/>
        </p:nvSpPr>
        <p:spPr>
          <a:xfrm rot="18814794">
            <a:off x="3867594" y="4482202"/>
            <a:ext cx="106760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>
                <a:ln w="9525">
                  <a:solidFill>
                    <a:prstClr val="white"/>
                  </a:solidFill>
                  <a:prstDash val="solid"/>
                </a:ln>
                <a:solidFill>
                  <a:srgbClr val="E64823"/>
                </a:solidFill>
                <a:effectLst>
                  <a:outerShdw blurRad="12700" dist="38100" dir="2700000" algn="tl" rotWithShape="0">
                    <a:srgbClr val="E64823">
                      <a:lumMod val="60000"/>
                      <a:lumOff val="40000"/>
                    </a:srgbClr>
                  </a:outerShdw>
                </a:effectLst>
              </a:rPr>
              <a:t>Mediation</a:t>
            </a:r>
          </a:p>
        </p:txBody>
      </p:sp>
      <p:sp>
        <p:nvSpPr>
          <p:cNvPr id="49" name="CasellaDiTesto 48"/>
          <p:cNvSpPr txBox="1"/>
          <p:nvPr/>
        </p:nvSpPr>
        <p:spPr>
          <a:xfrm>
            <a:off x="3311506" y="3467895"/>
            <a:ext cx="106760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>
                <a:ln w="9525">
                  <a:solidFill>
                    <a:prstClr val="white"/>
                  </a:solidFill>
                  <a:prstDash val="solid"/>
                </a:ln>
                <a:solidFill>
                  <a:srgbClr val="E64823"/>
                </a:solidFill>
                <a:effectLst>
                  <a:outerShdw blurRad="12700" dist="38100" dir="2700000" algn="tl" rotWithShape="0">
                    <a:srgbClr val="E64823">
                      <a:lumMod val="60000"/>
                      <a:lumOff val="40000"/>
                    </a:srgbClr>
                  </a:outerShdw>
                </a:effectLst>
              </a:rPr>
              <a:t>Mediation</a:t>
            </a:r>
          </a:p>
        </p:txBody>
      </p:sp>
      <p:pic>
        <p:nvPicPr>
          <p:cNvPr id="50" name="Immagine 49"/>
          <p:cNvPicPr>
            <a:picLocks noChangeAspect="1"/>
          </p:cNvPicPr>
          <p:nvPr/>
        </p:nvPicPr>
        <p:blipFill>
          <a:blip r:embed="rId14" cstate="email">
            <a:clrChange>
              <a:clrFrom>
                <a:srgbClr val="FDFDFD"/>
              </a:clrFrom>
              <a:clrTo>
                <a:srgbClr val="FDFDFD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289994" y="3114923"/>
            <a:ext cx="1426859" cy="1383052"/>
          </a:xfrm>
          <a:prstGeom prst="rect">
            <a:avLst/>
          </a:prstGeom>
        </p:spPr>
      </p:pic>
      <p:sp>
        <p:nvSpPr>
          <p:cNvPr id="51" name="CasellaDiTesto 50"/>
          <p:cNvSpPr txBox="1"/>
          <p:nvPr/>
        </p:nvSpPr>
        <p:spPr>
          <a:xfrm rot="2612663">
            <a:off x="3842909" y="2715354"/>
            <a:ext cx="106760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>
                <a:ln w="9525">
                  <a:solidFill>
                    <a:prstClr val="white"/>
                  </a:solidFill>
                  <a:prstDash val="solid"/>
                </a:ln>
                <a:solidFill>
                  <a:srgbClr val="E64823"/>
                </a:solidFill>
                <a:effectLst>
                  <a:outerShdw blurRad="12700" dist="38100" dir="2700000" algn="tl" rotWithShape="0">
                    <a:srgbClr val="E64823">
                      <a:lumMod val="60000"/>
                      <a:lumOff val="40000"/>
                    </a:srgbClr>
                  </a:outerShdw>
                </a:effectLst>
              </a:rPr>
              <a:t>Mediation</a:t>
            </a:r>
          </a:p>
        </p:txBody>
      </p:sp>
      <p:sp>
        <p:nvSpPr>
          <p:cNvPr id="52" name="Ovale 51"/>
          <p:cNvSpPr/>
          <p:nvPr/>
        </p:nvSpPr>
        <p:spPr>
          <a:xfrm>
            <a:off x="6391641" y="3587108"/>
            <a:ext cx="218426" cy="220834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53" name="Ovale 52"/>
          <p:cNvSpPr/>
          <p:nvPr/>
        </p:nvSpPr>
        <p:spPr>
          <a:xfrm>
            <a:off x="5559522" y="4796542"/>
            <a:ext cx="218426" cy="220834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54" name="Ovale 53"/>
          <p:cNvSpPr/>
          <p:nvPr/>
        </p:nvSpPr>
        <p:spPr>
          <a:xfrm>
            <a:off x="6036652" y="2672875"/>
            <a:ext cx="218426" cy="220834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55" name="Ovale 54"/>
          <p:cNvSpPr/>
          <p:nvPr/>
        </p:nvSpPr>
        <p:spPr>
          <a:xfrm>
            <a:off x="3516231" y="3508708"/>
            <a:ext cx="218426" cy="220834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56" name="Ovale 55"/>
          <p:cNvSpPr/>
          <p:nvPr/>
        </p:nvSpPr>
        <p:spPr>
          <a:xfrm>
            <a:off x="4226257" y="4780254"/>
            <a:ext cx="218426" cy="220834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57" name="Ovale 56"/>
          <p:cNvSpPr/>
          <p:nvPr/>
        </p:nvSpPr>
        <p:spPr>
          <a:xfrm>
            <a:off x="4025212" y="2666794"/>
            <a:ext cx="218426" cy="220834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pic>
        <p:nvPicPr>
          <p:cNvPr id="61" name="Immagine 60"/>
          <p:cNvPicPr>
            <a:picLocks noChangeAspect="1"/>
          </p:cNvPicPr>
          <p:nvPr/>
        </p:nvPicPr>
        <p:blipFill>
          <a:blip r:embed="rId1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76949" y="1188054"/>
            <a:ext cx="7067298" cy="4967301"/>
          </a:xfrm>
          <a:prstGeom prst="rect">
            <a:avLst/>
          </a:prstGeom>
          <a:effectLst>
            <a:softEdge rad="127000"/>
          </a:effectLst>
        </p:spPr>
      </p:pic>
      <p:sp>
        <p:nvSpPr>
          <p:cNvPr id="59" name="CasellaDiTesto 58"/>
          <p:cNvSpPr txBox="1"/>
          <p:nvPr/>
        </p:nvSpPr>
        <p:spPr>
          <a:xfrm>
            <a:off x="1670591" y="2642028"/>
            <a:ext cx="553998" cy="2371148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effectLst>
            <a:softEdge rad="127000"/>
          </a:effectLst>
        </p:spPr>
        <p:txBody>
          <a:bodyPr vert="vert270" wrap="square" rtlCol="0">
            <a:spAutoFit/>
          </a:bodyPr>
          <a:lstStyle/>
          <a:p>
            <a:pPr algn="ctr"/>
            <a:r>
              <a:rPr lang="en-US" sz="2400" dirty="0" smtClean="0">
                <a:solidFill>
                  <a:schemeClr val="bg1">
                    <a:lumMod val="50000"/>
                    <a:lumOff val="50000"/>
                  </a:schemeClr>
                </a:solidFill>
              </a:rPr>
              <a:t>Service Users</a:t>
            </a:r>
            <a:endParaRPr lang="en-US" sz="2400" dirty="0">
              <a:solidFill>
                <a:schemeClr val="bg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60" name="CasellaDiTesto 59"/>
          <p:cNvSpPr txBox="1"/>
          <p:nvPr/>
        </p:nvSpPr>
        <p:spPr>
          <a:xfrm>
            <a:off x="7167990" y="2180302"/>
            <a:ext cx="553998" cy="2832874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effectLst>
            <a:softEdge rad="127000"/>
          </a:effectLst>
        </p:spPr>
        <p:txBody>
          <a:bodyPr vert="vert270" wrap="square" rtlCol="0">
            <a:spAutoFit/>
          </a:bodyPr>
          <a:lstStyle>
            <a:defPPr>
              <a:defRPr lang="en-US"/>
            </a:defPPr>
            <a:lvl1pPr>
              <a:defRPr sz="2400">
                <a:solidFill>
                  <a:srgbClr val="002060"/>
                </a:solidFill>
              </a:defRPr>
            </a:lvl1pPr>
          </a:lstStyle>
          <a:p>
            <a:pPr algn="ctr"/>
            <a:r>
              <a:rPr lang="en-US" dirty="0">
                <a:solidFill>
                  <a:schemeClr val="bg1">
                    <a:lumMod val="50000"/>
                    <a:lumOff val="50000"/>
                  </a:schemeClr>
                </a:solidFill>
              </a:rPr>
              <a:t>Service Providers</a:t>
            </a:r>
          </a:p>
        </p:txBody>
      </p:sp>
      <p:grpSp>
        <p:nvGrpSpPr>
          <p:cNvPr id="16" name="Gruppo 2"/>
          <p:cNvGrpSpPr/>
          <p:nvPr/>
        </p:nvGrpSpPr>
        <p:grpSpPr>
          <a:xfrm>
            <a:off x="580482" y="3594921"/>
            <a:ext cx="6244374" cy="3067319"/>
            <a:chOff x="1222987" y="3749765"/>
            <a:chExt cx="6244374" cy="3067319"/>
          </a:xfrm>
        </p:grpSpPr>
        <p:grpSp>
          <p:nvGrpSpPr>
            <p:cNvPr id="19" name="Gruppo 61"/>
            <p:cNvGrpSpPr/>
            <p:nvPr/>
          </p:nvGrpSpPr>
          <p:grpSpPr>
            <a:xfrm>
              <a:off x="1222987" y="3749765"/>
              <a:ext cx="6244374" cy="3067319"/>
              <a:chOff x="1302280" y="2896460"/>
              <a:chExt cx="5790553" cy="2570313"/>
            </a:xfrm>
          </p:grpSpPr>
          <p:sp>
            <p:nvSpPr>
              <p:cNvPr id="63" name="Onda 1 62"/>
              <p:cNvSpPr/>
              <p:nvPr/>
            </p:nvSpPr>
            <p:spPr>
              <a:xfrm>
                <a:off x="1302280" y="2896460"/>
                <a:ext cx="5790553" cy="2570313"/>
              </a:xfrm>
              <a:prstGeom prst="wave">
                <a:avLst>
                  <a:gd name="adj1" fmla="val 11709"/>
                  <a:gd name="adj2" fmla="val 0"/>
                </a:avLst>
              </a:prstGeom>
            </p:spPr>
            <p:style>
              <a:lnRef idx="3">
                <a:schemeClr val="lt1"/>
              </a:lnRef>
              <a:fillRef idx="1">
                <a:schemeClr val="accent6"/>
              </a:fillRef>
              <a:effectRef idx="1">
                <a:schemeClr val="accent6"/>
              </a:effectRef>
              <a:fontRef idx="minor">
                <a:schemeClr val="lt1"/>
              </a:fontRef>
            </p:style>
            <p:txBody>
              <a:bodyPr rtlCol="0" anchor="ctr">
                <a:prstTxWarp prst="textWave1">
                  <a:avLst/>
                </a:prstTxWarp>
              </a:bodyPr>
              <a:lstStyle/>
              <a:p>
                <a:pPr algn="ctr"/>
                <a:r>
                  <a:rPr lang="en-US" dirty="0" smtClean="0"/>
                  <a:t>   </a:t>
                </a:r>
                <a:endParaRPr lang="en-US" dirty="0"/>
              </a:p>
            </p:txBody>
          </p:sp>
          <p:sp>
            <p:nvSpPr>
              <p:cNvPr id="64" name="Rettangolo 63"/>
              <p:cNvSpPr/>
              <p:nvPr/>
            </p:nvSpPr>
            <p:spPr>
              <a:xfrm>
                <a:off x="1573303" y="3453192"/>
                <a:ext cx="5305907" cy="1437479"/>
              </a:xfrm>
              <a:prstGeom prst="rect">
                <a:avLst/>
              </a:prstGeom>
            </p:spPr>
            <p:txBody>
              <a:bodyPr>
                <a:prstTxWarp prst="textWave1">
                  <a:avLst>
                    <a:gd name="adj1" fmla="val 12500"/>
                    <a:gd name="adj2" fmla="val -201"/>
                  </a:avLst>
                </a:prstTxWarp>
                <a:spAutoFit/>
              </a:bodyPr>
              <a:lstStyle/>
              <a:p>
                <a:pPr algn="ctr"/>
                <a:r>
                  <a:rPr lang="en-US" sz="2000" b="1" dirty="0" smtClean="0"/>
                  <a:t>Collaborative-Acknowledged </a:t>
                </a:r>
                <a:br>
                  <a:rPr lang="en-US" sz="2000" b="1" dirty="0" smtClean="0"/>
                </a:br>
                <a:r>
                  <a:rPr lang="en-US" sz="2000" b="1" dirty="0" smtClean="0"/>
                  <a:t>Management approach </a:t>
                </a:r>
                <a:endParaRPr lang="en-US" sz="2000" b="1" dirty="0"/>
              </a:p>
            </p:txBody>
          </p:sp>
        </p:grpSp>
        <p:sp>
          <p:nvSpPr>
            <p:cNvPr id="58" name="CasellaDiTesto 57"/>
            <p:cNvSpPr txBox="1"/>
            <p:nvPr/>
          </p:nvSpPr>
          <p:spPr>
            <a:xfrm rot="21086907">
              <a:off x="5615007" y="6331624"/>
              <a:ext cx="1760888" cy="381867"/>
            </a:xfrm>
            <a:prstGeom prst="rect">
              <a:avLst/>
            </a:prstGeom>
            <a:noFill/>
          </p:spPr>
          <p:txBody>
            <a:bodyPr wrap="none" rtlCol="0">
              <a:prstTxWarp prst="textTriangleInverted">
                <a:avLst/>
              </a:prstTxWarp>
              <a:spAutoFit/>
            </a:bodyPr>
            <a:lstStyle/>
            <a:p>
              <a:r>
                <a:rPr lang="en-US" b="1" dirty="0" smtClean="0">
                  <a:ln w="10160">
                    <a:solidFill>
                      <a:schemeClr val="accent5"/>
                    </a:solidFill>
                    <a:prstDash val="solid"/>
                  </a:ln>
                  <a:solidFill>
                    <a:srgbClr val="FFFFFF"/>
                  </a:solidFill>
                  <a:effectLst>
                    <a:outerShdw blurRad="38100" dist="22860" dir="5400000" algn="tl" rotWithShape="0">
                      <a:srgbClr val="000000">
                        <a:alpha val="30000"/>
                      </a:srgbClr>
                    </a:outerShdw>
                  </a:effectLst>
                </a:rPr>
                <a:t>[Governance]</a:t>
              </a:r>
              <a:endParaRPr lang="en-US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endParaRPr>
            </a:p>
          </p:txBody>
        </p:sp>
      </p:grpSp>
      <p:pic>
        <p:nvPicPr>
          <p:cNvPr id="4" name="Immagine 3"/>
          <p:cNvPicPr>
            <a:picLocks noChangeAspect="1"/>
          </p:cNvPicPr>
          <p:nvPr/>
        </p:nvPicPr>
        <p:blipFill>
          <a:blip r:embed="rId16" cstate="print"/>
          <a:stretch>
            <a:fillRect/>
          </a:stretch>
        </p:blipFill>
        <p:spPr>
          <a:xfrm>
            <a:off x="3886279" y="3547129"/>
            <a:ext cx="4851610" cy="1801717"/>
          </a:xfrm>
          <a:prstGeom prst="rect">
            <a:avLst/>
          </a:prstGeom>
        </p:spPr>
      </p:pic>
      <p:sp>
        <p:nvSpPr>
          <p:cNvPr id="65" name="Titolo 5"/>
          <p:cNvSpPr txBox="1">
            <a:spLocks/>
          </p:cNvSpPr>
          <p:nvPr/>
        </p:nvSpPr>
        <p:spPr>
          <a:xfrm>
            <a:off x="579438" y="119063"/>
            <a:ext cx="8564562" cy="973137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+mj-lt"/>
                <a:ea typeface="+mj-ea"/>
                <a:cs typeface="Avenir LT Std 55 Roman" pitchFamily="34" charset="0"/>
              </a:rPr>
              <a:t>Broker Approach</a:t>
            </a:r>
            <a:endParaRPr kumimoji="0" lang="en-US" sz="4400" b="1" i="0" u="none" strike="noStrike" kern="1200" cap="none" spc="0" normalizeH="0" baseline="0" noProof="0" dirty="0">
              <a:ln>
                <a:noFill/>
              </a:ln>
              <a:solidFill>
                <a:srgbClr val="00B0F0"/>
              </a:solidFill>
              <a:effectLst/>
              <a:uLnTx/>
              <a:uFillTx/>
              <a:latin typeface="+mj-lt"/>
              <a:ea typeface="+mj-ea"/>
              <a:cs typeface="Avenir LT Std 55 Roman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26918672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42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10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42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1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42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6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10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1000"/>
                            </p:stCondLst>
                            <p:childTnLst>
                              <p:par>
                                <p:cTn id="56" presetID="18" presetClass="entr" presetSubtype="3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58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8" presetClass="entr" presetSubtype="3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61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8" presetClass="entr" presetSubtype="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64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1500"/>
                            </p:stCondLst>
                            <p:childTnLst>
                              <p:par>
                                <p:cTn id="6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2000"/>
                            </p:stCondLst>
                            <p:childTnLst>
                              <p:par>
                                <p:cTn id="76" presetID="18" presetClass="entr" presetSubtype="9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Left)">
                                      <p:cBhvr>
                                        <p:cTn id="78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18" presetClass="entr" presetSubtype="1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81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8" presetClass="entr" presetSubtype="1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84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>
                            <p:stCondLst>
                              <p:cond delay="2500"/>
                            </p:stCondLst>
                            <p:childTnLst>
                              <p:par>
                                <p:cTn id="8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9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0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1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2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3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4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5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6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7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18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19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20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21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22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23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24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25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6" fill="hold">
                      <p:stCondLst>
                        <p:cond delay="indefinite"/>
                      </p:stCondLst>
                      <p:childTnLst>
                        <p:par>
                          <p:cTn id="127" fill="hold">
                            <p:stCondLst>
                              <p:cond delay="0"/>
                            </p:stCondLst>
                            <p:childTnLst>
                              <p:par>
                                <p:cTn id="128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0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1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2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3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4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5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6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37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38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39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40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41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42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43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45" grpId="0"/>
      <p:bldP spid="46" grpId="0"/>
      <p:bldP spid="47" grpId="0"/>
      <p:bldP spid="48" grpId="0"/>
      <p:bldP spid="49" grpId="0"/>
      <p:bldP spid="51" grpId="0"/>
      <p:bldP spid="52" grpId="0" animBg="1"/>
      <p:bldP spid="53" grpId="0" animBg="1"/>
      <p:bldP spid="54" grpId="0" animBg="1"/>
      <p:bldP spid="55" grpId="0" animBg="1"/>
      <p:bldP spid="56" grpId="0" animBg="1"/>
      <p:bldP spid="57" grpId="0" animBg="1"/>
      <p:bldP spid="59" grpId="0" animBg="1"/>
      <p:bldP spid="60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asellaDiTesto 13"/>
          <p:cNvSpPr txBox="1"/>
          <p:nvPr/>
        </p:nvSpPr>
        <p:spPr>
          <a:xfrm>
            <a:off x="457200" y="1663700"/>
            <a:ext cx="8407400" cy="4394200"/>
          </a:xfrm>
          <a:prstGeom prst="rect">
            <a:avLst/>
          </a:prstGeom>
          <a:noFill/>
          <a:effectLst/>
        </p:spPr>
        <p:txBody>
          <a:bodyPr wrap="square" lIns="0" tIns="0" rIns="0" bIns="0" rtlCol="0">
            <a:noAutofit/>
          </a:bodyPr>
          <a:lstStyle/>
          <a:p>
            <a:pPr algn="l" eaLnBrk="0" hangingPunct="0">
              <a:lnSpc>
                <a:spcPts val="1800"/>
              </a:lnSpc>
            </a:pPr>
            <a:endParaRPr lang="en-US" sz="1400" b="1" dirty="0" smtClean="0">
              <a:ea typeface="+mn-ea"/>
              <a:cs typeface="+mn-cs"/>
            </a:endParaRPr>
          </a:p>
        </p:txBody>
      </p:sp>
      <p:sp>
        <p:nvSpPr>
          <p:cNvPr id="3" name="Title 1"/>
          <p:cNvSpPr>
            <a:spLocks noGrp="1"/>
          </p:cNvSpPr>
          <p:nvPr>
            <p:ph type="title" idx="4294967295"/>
          </p:nvPr>
        </p:nvSpPr>
        <p:spPr>
          <a:xfrm>
            <a:off x="0" y="89231"/>
            <a:ext cx="9144000" cy="485775"/>
          </a:xfrm>
        </p:spPr>
        <p:txBody>
          <a:bodyPr>
            <a:normAutofit/>
          </a:bodyPr>
          <a:lstStyle/>
          <a:p>
            <a:pPr lvl="0" algn="ctr">
              <a:defRPr/>
            </a:pPr>
            <a:r>
              <a:rPr lang="en-US" sz="2400" dirty="0" smtClean="0">
                <a:solidFill>
                  <a:srgbClr val="0000FF"/>
                </a:solidFill>
                <a:effectLst>
                  <a:outerShdw blurRad="38100" dist="25400" dir="2700000" algn="tl" rotWithShape="0">
                    <a:srgbClr val="000000">
                      <a:alpha val="60000"/>
                    </a:srgbClr>
                  </a:outerShdw>
                </a:effectLst>
                <a:latin typeface="Arial" charset="0"/>
                <a:ea typeface="+mn-ea"/>
                <a:cs typeface="+mn-cs"/>
              </a:rPr>
              <a:t>STANDARDIZED DATA EXCHANGE IN HYDROLOGY</a:t>
            </a:r>
            <a:endParaRPr lang="en-US" sz="2400" dirty="0"/>
          </a:p>
        </p:txBody>
      </p:sp>
      <p:pic>
        <p:nvPicPr>
          <p:cNvPr id="8" name="Immagine 7" descr="earth.jpg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830763" y="2211283"/>
            <a:ext cx="3153729" cy="3039953"/>
          </a:xfrm>
          <a:prstGeom prst="rect">
            <a:avLst/>
          </a:prstGeom>
        </p:spPr>
      </p:pic>
      <p:pic>
        <p:nvPicPr>
          <p:cNvPr id="6" name="Immagine 5" descr="Niger4Map.jpg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43760" y="4398498"/>
            <a:ext cx="2857522" cy="2194560"/>
          </a:xfrm>
          <a:prstGeom prst="rect">
            <a:avLst/>
          </a:prstGeom>
        </p:spPr>
      </p:pic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84492" y="2585720"/>
            <a:ext cx="3111500" cy="2333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5" name="Immagine 4" descr="China4Map.jpg"/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5591319" y="566420"/>
            <a:ext cx="2857522" cy="2194560"/>
          </a:xfrm>
          <a:prstGeom prst="rect">
            <a:avLst/>
          </a:prstGeom>
        </p:spPr>
      </p:pic>
      <p:pic>
        <p:nvPicPr>
          <p:cNvPr id="7" name="Immagine 6" descr="NZ4Map.jpg"/>
          <p:cNvPicPr>
            <a:picLocks noChangeAspect="1"/>
          </p:cNvPicPr>
          <p:nvPr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5743719" y="4398498"/>
            <a:ext cx="2857522" cy="2194560"/>
          </a:xfrm>
          <a:prstGeom prst="rect">
            <a:avLst/>
          </a:prstGeom>
        </p:spPr>
      </p:pic>
      <p:pic>
        <p:nvPicPr>
          <p:cNvPr id="9" name="Immagine 8" descr="Sadc4Map.jpg"/>
          <p:cNvPicPr>
            <a:picLocks noChangeAspect="1"/>
          </p:cNvPicPr>
          <p:nvPr/>
        </p:nvPicPr>
        <p:blipFill>
          <a:blip r:embed="rId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2886197" y="4663440"/>
            <a:ext cx="2857522" cy="2194560"/>
          </a:xfrm>
          <a:prstGeom prst="rect">
            <a:avLst/>
          </a:prstGeom>
        </p:spPr>
      </p:pic>
      <p:pic>
        <p:nvPicPr>
          <p:cNvPr id="10" name="Immagine 9" descr="05_RAIV_Obs_Map.jpg"/>
          <p:cNvPicPr>
            <a:picLocks noChangeAspect="1"/>
          </p:cNvPicPr>
          <p:nvPr/>
        </p:nvPicPr>
        <p:blipFill>
          <a:blip r:embed="rId8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457200" y="934720"/>
            <a:ext cx="2857522" cy="2194560"/>
          </a:xfrm>
          <a:prstGeom prst="rect">
            <a:avLst/>
          </a:prstGeom>
        </p:spPr>
      </p:pic>
      <p:pic>
        <p:nvPicPr>
          <p:cNvPr id="11" name="Immagine 10" descr="Arctic4Map.jpg"/>
          <p:cNvPicPr>
            <a:picLocks noChangeAspect="1"/>
          </p:cNvPicPr>
          <p:nvPr/>
        </p:nvPicPr>
        <p:blipFill>
          <a:blip r:embed="rId9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2830763" y="566420"/>
            <a:ext cx="2857522" cy="2194560"/>
          </a:xfrm>
          <a:prstGeom prst="rect">
            <a:avLst/>
          </a:prstGeom>
        </p:spPr>
      </p:pic>
      <p:pic>
        <p:nvPicPr>
          <p:cNvPr id="12" name="Picture 1"/>
          <p:cNvPicPr>
            <a:picLocks noChangeAspect="1" noChangeArrowheads="1"/>
          </p:cNvPicPr>
          <p:nvPr/>
        </p:nvPicPr>
        <p:blipFill>
          <a:blip r:embed="rId10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43760" y="2643188"/>
            <a:ext cx="2687003" cy="20202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8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out)">
                                      <p:cBhvr>
                                        <p:cTn id="12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8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out)">
                                      <p:cBhvr>
                                        <p:cTn id="22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8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out)">
                                      <p:cBhvr>
                                        <p:cTn id="32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8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out)">
                                      <p:cBhvr>
                                        <p:cTn id="42" dur="2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818" name="Picture 2"/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-1" y="257577"/>
            <a:ext cx="9158781" cy="59242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446090621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0" y="2766568"/>
            <a:ext cx="9144000" cy="484632"/>
          </a:xfrm>
        </p:spPr>
        <p:txBody>
          <a:bodyPr>
            <a:noAutofit/>
          </a:bodyPr>
          <a:lstStyle/>
          <a:p>
            <a:pPr algn="ctr"/>
            <a:r>
              <a:rPr lang="it-IT" sz="2800" b="1" smtClean="0">
                <a:solidFill>
                  <a:srgbClr val="007AC2"/>
                </a:solidFill>
                <a:cs typeface="Avenir LT Std 85 Heavy"/>
              </a:rPr>
              <a:t>HYDROLOGICAL APPLICATIONS</a:t>
            </a:r>
            <a:endParaRPr lang="en-US" sz="2800" b="1" dirty="0">
              <a:solidFill>
                <a:srgbClr val="007AC2"/>
              </a:solidFill>
              <a:cs typeface="Avenir LT Std 85 Heavy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650" name="Picture 2"/>
          <p:cNvPicPr>
            <a:picLocks noChangeAspect="1"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57158" y="428604"/>
            <a:ext cx="8388350" cy="6094413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/>
          </p:cNvSpPr>
          <p:nvPr/>
        </p:nvSpPr>
        <p:spPr>
          <a:xfrm>
            <a:off x="142844" y="376610"/>
            <a:ext cx="9001156" cy="828660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en-US" b="1" dirty="0" smtClean="0">
                <a:solidFill>
                  <a:srgbClr val="007AC2"/>
                </a:solidFill>
              </a:rPr>
              <a:t>Import data from a WaterML2 </a:t>
            </a:r>
            <a:r>
              <a:rPr lang="en-US" altLang="en-US" b="1" dirty="0" err="1" smtClean="0">
                <a:solidFill>
                  <a:srgbClr val="007AC2"/>
                </a:solidFill>
              </a:rPr>
              <a:t>webserver</a:t>
            </a:r>
            <a:endParaRPr lang="en-US" altLang="en-US" b="1" dirty="0">
              <a:solidFill>
                <a:srgbClr val="007AC2"/>
              </a:solidFill>
            </a:endParaRPr>
          </a:p>
        </p:txBody>
      </p:sp>
      <p:pic>
        <p:nvPicPr>
          <p:cNvPr id="326658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14282" y="1059853"/>
            <a:ext cx="8620125" cy="5467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7682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42900" y="1027663"/>
            <a:ext cx="8458200" cy="5438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" name="Title 1"/>
          <p:cNvSpPr txBox="1">
            <a:spLocks/>
          </p:cNvSpPr>
          <p:nvPr/>
        </p:nvSpPr>
        <p:spPr>
          <a:xfrm>
            <a:off x="142844" y="316650"/>
            <a:ext cx="9001156" cy="828660"/>
          </a:xfrm>
          <a:prstGeom prst="rect">
            <a:avLst/>
          </a:prstGeom>
        </p:spPr>
        <p:txBody>
          <a:bodyPr/>
          <a:lstStyle/>
          <a:p>
            <a:pPr lvl="0" eaLnBrk="0" hangingPunct="0"/>
            <a:r>
              <a:rPr lang="en-US" altLang="en-US" b="1" dirty="0" smtClean="0">
                <a:solidFill>
                  <a:srgbClr val="007AC2"/>
                </a:solidFill>
              </a:rPr>
              <a:t>Import WaterML2 data from a directory</a:t>
            </a:r>
            <a:endParaRPr lang="en-US" altLang="en-US" b="1" dirty="0">
              <a:solidFill>
                <a:srgbClr val="007AC2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285720" y="428604"/>
            <a:ext cx="7000892" cy="484188"/>
          </a:xfrm>
        </p:spPr>
        <p:txBody>
          <a:bodyPr/>
          <a:lstStyle/>
          <a:p>
            <a:pPr algn="l"/>
            <a:r>
              <a:rPr lang="en-US" altLang="en-US" sz="2400" dirty="0" smtClean="0">
                <a:solidFill>
                  <a:srgbClr val="007AC2"/>
                </a:solidFill>
                <a:latin typeface="Arial" charset="0"/>
                <a:ea typeface="+mn-ea"/>
                <a:cs typeface="+mn-cs"/>
              </a:rPr>
              <a:t>Archive use case analysis</a:t>
            </a:r>
            <a:endParaRPr lang="en-GB" altLang="en-US" sz="2400" dirty="0">
              <a:solidFill>
                <a:srgbClr val="007AC2"/>
              </a:solidFill>
              <a:latin typeface="Arial" charset="0"/>
              <a:ea typeface="+mn-ea"/>
              <a:cs typeface="+mn-cs"/>
            </a:endParaRPr>
          </a:p>
        </p:txBody>
      </p:sp>
      <p:sp>
        <p:nvSpPr>
          <p:cNvPr id="4" name="Flowchart: Document 3"/>
          <p:cNvSpPr/>
          <p:nvPr/>
        </p:nvSpPr>
        <p:spPr>
          <a:xfrm>
            <a:off x="2407700" y="3482726"/>
            <a:ext cx="964860" cy="527709"/>
          </a:xfrm>
          <a:prstGeom prst="flowChartDocument">
            <a:avLst/>
          </a:prstGeom>
          <a:solidFill>
            <a:schemeClr val="accent1">
              <a:lumMod val="9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 smtClean="0">
                <a:solidFill>
                  <a:schemeClr val="tx1"/>
                </a:solidFill>
              </a:rPr>
              <a:t>Rating Curves</a:t>
            </a:r>
          </a:p>
        </p:txBody>
      </p:sp>
      <p:sp>
        <p:nvSpPr>
          <p:cNvPr id="5" name="Flowchart: Document 4"/>
          <p:cNvSpPr/>
          <p:nvPr/>
        </p:nvSpPr>
        <p:spPr>
          <a:xfrm>
            <a:off x="7284280" y="2474614"/>
            <a:ext cx="964860" cy="527709"/>
          </a:xfrm>
          <a:prstGeom prst="flowChartDocument">
            <a:avLst/>
          </a:prstGeom>
          <a:solidFill>
            <a:schemeClr val="accent5"/>
          </a:solidFill>
          <a:ln>
            <a:solidFill>
              <a:schemeClr val="accent3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 smtClean="0">
                <a:solidFill>
                  <a:schemeClr val="tx1"/>
                </a:solidFill>
              </a:rPr>
              <a:t>Forecast Products</a:t>
            </a:r>
          </a:p>
        </p:txBody>
      </p:sp>
      <p:sp>
        <p:nvSpPr>
          <p:cNvPr id="6" name="Flowchart: Document 5"/>
          <p:cNvSpPr/>
          <p:nvPr/>
        </p:nvSpPr>
        <p:spPr>
          <a:xfrm>
            <a:off x="3549755" y="3482726"/>
            <a:ext cx="1318081" cy="527709"/>
          </a:xfrm>
          <a:prstGeom prst="flowChartDocumen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 smtClean="0">
                <a:solidFill>
                  <a:schemeClr val="bg1"/>
                </a:solidFill>
              </a:rPr>
              <a:t>Observations</a:t>
            </a:r>
          </a:p>
        </p:txBody>
      </p:sp>
      <p:sp>
        <p:nvSpPr>
          <p:cNvPr id="7" name="Flowchart: Document 6"/>
          <p:cNvSpPr/>
          <p:nvPr/>
        </p:nvSpPr>
        <p:spPr>
          <a:xfrm>
            <a:off x="1815355" y="2402606"/>
            <a:ext cx="1147278" cy="527709"/>
          </a:xfrm>
          <a:prstGeom prst="flowChartDocumen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 smtClean="0">
                <a:solidFill>
                  <a:schemeClr val="bg1"/>
                </a:solidFill>
              </a:rPr>
              <a:t>Simulation results</a:t>
            </a:r>
          </a:p>
        </p:txBody>
      </p:sp>
      <p:sp>
        <p:nvSpPr>
          <p:cNvPr id="8" name="Flowchart: Document 7"/>
          <p:cNvSpPr/>
          <p:nvPr/>
        </p:nvSpPr>
        <p:spPr>
          <a:xfrm>
            <a:off x="1211606" y="3482726"/>
            <a:ext cx="1045265" cy="527709"/>
          </a:xfrm>
          <a:prstGeom prst="flowChartDocumen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 smtClean="0">
                <a:solidFill>
                  <a:schemeClr val="bg1"/>
                </a:solidFill>
              </a:rPr>
              <a:t>NWP forecasts</a:t>
            </a:r>
          </a:p>
        </p:txBody>
      </p:sp>
      <p:sp>
        <p:nvSpPr>
          <p:cNvPr id="9" name="Flowchart: Document 8"/>
          <p:cNvSpPr/>
          <p:nvPr/>
        </p:nvSpPr>
        <p:spPr>
          <a:xfrm>
            <a:off x="5344580" y="3194694"/>
            <a:ext cx="1298267" cy="527709"/>
          </a:xfrm>
          <a:prstGeom prst="flowChartDocument">
            <a:avLst/>
          </a:prstGeom>
          <a:solidFill>
            <a:schemeClr val="accent1">
              <a:lumMod val="9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 smtClean="0">
                <a:solidFill>
                  <a:schemeClr val="tx1"/>
                </a:solidFill>
              </a:rPr>
              <a:t>Initial model state</a:t>
            </a:r>
          </a:p>
        </p:txBody>
      </p:sp>
      <p:sp>
        <p:nvSpPr>
          <p:cNvPr id="10" name="Flowchart: Document 9"/>
          <p:cNvSpPr/>
          <p:nvPr/>
        </p:nvSpPr>
        <p:spPr>
          <a:xfrm>
            <a:off x="4047565" y="2402606"/>
            <a:ext cx="1219760" cy="527709"/>
          </a:xfrm>
          <a:prstGeom prst="flowChartDocument">
            <a:avLst/>
          </a:prstGeom>
          <a:solidFill>
            <a:schemeClr val="accent5"/>
          </a:solidFill>
          <a:ln>
            <a:solidFill>
              <a:schemeClr val="accent3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 smtClean="0">
                <a:solidFill>
                  <a:schemeClr val="tx1"/>
                </a:solidFill>
              </a:rPr>
              <a:t>Post event reports</a:t>
            </a:r>
          </a:p>
        </p:txBody>
      </p:sp>
      <p:sp>
        <p:nvSpPr>
          <p:cNvPr id="11" name="Flowchart: Document 10"/>
          <p:cNvSpPr/>
          <p:nvPr/>
        </p:nvSpPr>
        <p:spPr>
          <a:xfrm>
            <a:off x="5404496" y="2546622"/>
            <a:ext cx="1601421" cy="527709"/>
          </a:xfrm>
          <a:prstGeom prst="flowChartDocument">
            <a:avLst/>
          </a:prstGeom>
          <a:solidFill>
            <a:schemeClr val="accent5"/>
          </a:solidFill>
          <a:ln>
            <a:solidFill>
              <a:schemeClr val="accent3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 smtClean="0">
                <a:solidFill>
                  <a:schemeClr val="tx1"/>
                </a:solidFill>
              </a:rPr>
              <a:t>Communication notes</a:t>
            </a:r>
          </a:p>
        </p:txBody>
      </p:sp>
      <p:sp>
        <p:nvSpPr>
          <p:cNvPr id="12" name="Flowchart: Document 11"/>
          <p:cNvSpPr/>
          <p:nvPr/>
        </p:nvSpPr>
        <p:spPr>
          <a:xfrm>
            <a:off x="6146471" y="3806326"/>
            <a:ext cx="964860" cy="527709"/>
          </a:xfrm>
          <a:prstGeom prst="flowChartDocument">
            <a:avLst/>
          </a:prstGeom>
          <a:solidFill>
            <a:schemeClr val="accent1">
              <a:lumMod val="9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 smtClean="0">
                <a:solidFill>
                  <a:schemeClr val="tx1"/>
                </a:solidFill>
              </a:rPr>
              <a:t>Model setup</a:t>
            </a:r>
          </a:p>
        </p:txBody>
      </p:sp>
      <p:sp>
        <p:nvSpPr>
          <p:cNvPr id="13" name="Flowchart: Document 12"/>
          <p:cNvSpPr/>
          <p:nvPr/>
        </p:nvSpPr>
        <p:spPr>
          <a:xfrm>
            <a:off x="7221052" y="3194694"/>
            <a:ext cx="1116124" cy="527709"/>
          </a:xfrm>
          <a:prstGeom prst="flowChartDocument">
            <a:avLst/>
          </a:prstGeom>
          <a:solidFill>
            <a:schemeClr val="accent1">
              <a:lumMod val="9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 smtClean="0">
                <a:solidFill>
                  <a:schemeClr val="tx1"/>
                </a:solidFill>
              </a:rPr>
              <a:t>Model run settings</a:t>
            </a:r>
          </a:p>
        </p:txBody>
      </p:sp>
      <p:grpSp>
        <p:nvGrpSpPr>
          <p:cNvPr id="3" name="Group 13"/>
          <p:cNvGrpSpPr/>
          <p:nvPr/>
        </p:nvGrpSpPr>
        <p:grpSpPr>
          <a:xfrm>
            <a:off x="6036447" y="829393"/>
            <a:ext cx="2945628" cy="1573213"/>
            <a:chOff x="6108455" y="688800"/>
            <a:chExt cx="2945628" cy="1573213"/>
          </a:xfrm>
        </p:grpSpPr>
        <p:graphicFrame>
          <p:nvGraphicFramePr>
            <p:cNvPr id="15" name="Object 14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904994811"/>
                </p:ext>
              </p:extLst>
            </p:nvPr>
          </p:nvGraphicFramePr>
          <p:xfrm>
            <a:off x="6108455" y="688800"/>
            <a:ext cx="1108075" cy="157321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55696" name="Visio" r:id="rId3" imgW="1108710" imgH="1572260" progId="">
                    <p:embed/>
                  </p:oleObj>
                </mc:Choice>
                <mc:Fallback>
                  <p:oleObj name="Visio" r:id="rId3" imgW="1108710" imgH="1572260" progId="">
                    <p:embed/>
                    <p:pic>
                      <p:nvPicPr>
                        <p:cNvPr id="0" name="Picture 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108455" y="688800"/>
                          <a:ext cx="1108075" cy="157321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blurRad="63500" dist="38099" dir="2700000" algn="ctr" rotWithShape="0">
                                  <a:schemeClr val="bg2">
                                    <a:alpha val="74998"/>
                                  </a:scheme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6" name="TextBox 15"/>
            <p:cNvSpPr txBox="1"/>
            <p:nvPr/>
          </p:nvSpPr>
          <p:spPr>
            <a:xfrm>
              <a:off x="7216530" y="1057697"/>
              <a:ext cx="1837553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b="1" dirty="0" smtClean="0">
                  <a:latin typeface="+mn-lt"/>
                </a:rPr>
                <a:t>Event review/ inquiry</a:t>
              </a:r>
              <a:endParaRPr lang="en-GB" sz="1400" b="1" dirty="0">
                <a:latin typeface="+mn-lt"/>
              </a:endParaRPr>
            </a:p>
          </p:txBody>
        </p:sp>
      </p:grpSp>
      <p:grpSp>
        <p:nvGrpSpPr>
          <p:cNvPr id="14" name="Group 16"/>
          <p:cNvGrpSpPr/>
          <p:nvPr/>
        </p:nvGrpSpPr>
        <p:grpSpPr>
          <a:xfrm>
            <a:off x="3395489" y="4608562"/>
            <a:ext cx="1224136" cy="1423030"/>
            <a:chOff x="3635896" y="5085184"/>
            <a:chExt cx="1224136" cy="1423030"/>
          </a:xfrm>
        </p:grpSpPr>
        <p:graphicFrame>
          <p:nvGraphicFramePr>
            <p:cNvPr id="18" name="Object 17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989240641"/>
                </p:ext>
              </p:extLst>
            </p:nvPr>
          </p:nvGraphicFramePr>
          <p:xfrm>
            <a:off x="3783621" y="5085184"/>
            <a:ext cx="928687" cy="12128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55697" name="Visio" r:id="rId5" imgW="0" imgH="0" progId="">
                    <p:embed/>
                  </p:oleObj>
                </mc:Choice>
                <mc:Fallback>
                  <p:oleObj name="Visio" r:id="rId5" imgW="0" imgH="0" progId="">
                    <p:embed/>
                    <p:pic>
                      <p:nvPicPr>
                        <p:cNvPr id="0" name="AutoShape 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783621" y="5085184"/>
                          <a:ext cx="928687" cy="121285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blurRad="63500" dist="38099" dir="2700000" algn="ctr" rotWithShape="0">
                                  <a:schemeClr val="bg2">
                                    <a:alpha val="74998"/>
                                  </a:scheme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9" name="TextBox 18"/>
            <p:cNvSpPr txBox="1"/>
            <p:nvPr/>
          </p:nvSpPr>
          <p:spPr>
            <a:xfrm>
              <a:off x="3635896" y="5877272"/>
              <a:ext cx="1224136" cy="63094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b="1" dirty="0" smtClean="0">
                  <a:latin typeface="+mn-lt"/>
                </a:rPr>
                <a:t>Model </a:t>
              </a:r>
            </a:p>
            <a:p>
              <a:pPr algn="ctr"/>
              <a:r>
                <a:rPr lang="en-US" sz="1400" b="1" dirty="0" smtClean="0">
                  <a:latin typeface="+mn-lt"/>
                </a:rPr>
                <a:t>calibration</a:t>
              </a:r>
              <a:endParaRPr lang="en-GB" sz="1400" b="1" dirty="0">
                <a:latin typeface="+mn-lt"/>
              </a:endParaRPr>
            </a:p>
          </p:txBody>
        </p:sp>
      </p:grpSp>
      <p:grpSp>
        <p:nvGrpSpPr>
          <p:cNvPr id="17" name="Group 19"/>
          <p:cNvGrpSpPr/>
          <p:nvPr/>
        </p:nvGrpSpPr>
        <p:grpSpPr>
          <a:xfrm>
            <a:off x="6347817" y="4342651"/>
            <a:ext cx="1872208" cy="1855078"/>
            <a:chOff x="6372200" y="4365104"/>
            <a:chExt cx="1872208" cy="1855078"/>
          </a:xfrm>
        </p:grpSpPr>
        <p:graphicFrame>
          <p:nvGraphicFramePr>
            <p:cNvPr id="21" name="Object 20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558258583"/>
                </p:ext>
              </p:extLst>
            </p:nvPr>
          </p:nvGraphicFramePr>
          <p:xfrm>
            <a:off x="6804248" y="4365104"/>
            <a:ext cx="928688" cy="1752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55698" name="Visio" r:id="rId6" imgW="0" imgH="0" progId="">
                    <p:embed/>
                  </p:oleObj>
                </mc:Choice>
                <mc:Fallback>
                  <p:oleObj name="Visio" r:id="rId6" imgW="0" imgH="0" progId="">
                    <p:embed/>
                    <p:pic>
                      <p:nvPicPr>
                        <p:cNvPr id="0" name="AutoShape 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804248" y="4365104"/>
                          <a:ext cx="928688" cy="17526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blurRad="63500" dist="38099" dir="2700000" algn="ctr" rotWithShape="0">
                                  <a:schemeClr val="bg2">
                                    <a:alpha val="74998"/>
                                  </a:scheme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2" name="TextBox 21"/>
            <p:cNvSpPr txBox="1"/>
            <p:nvPr/>
          </p:nvSpPr>
          <p:spPr>
            <a:xfrm>
              <a:off x="6372200" y="5589240"/>
              <a:ext cx="1872208" cy="63094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b="1" dirty="0" smtClean="0">
                  <a:latin typeface="+mn-lt"/>
                </a:rPr>
                <a:t>Training </a:t>
              </a:r>
            </a:p>
            <a:p>
              <a:pPr algn="ctr"/>
              <a:r>
                <a:rPr lang="en-US" sz="1400" b="1" dirty="0" smtClean="0">
                  <a:latin typeface="+mn-lt"/>
                </a:rPr>
                <a:t>materials</a:t>
              </a:r>
              <a:endParaRPr lang="en-GB" sz="1400" b="1" dirty="0">
                <a:latin typeface="+mn-lt"/>
              </a:endParaRPr>
            </a:p>
          </p:txBody>
        </p:sp>
      </p:grpSp>
      <p:grpSp>
        <p:nvGrpSpPr>
          <p:cNvPr id="20" name="Group 22"/>
          <p:cNvGrpSpPr/>
          <p:nvPr/>
        </p:nvGrpSpPr>
        <p:grpSpPr>
          <a:xfrm>
            <a:off x="2862858" y="938064"/>
            <a:ext cx="1813917" cy="1212850"/>
            <a:chOff x="2843808" y="404664"/>
            <a:chExt cx="1813917" cy="1212850"/>
          </a:xfrm>
        </p:grpSpPr>
        <p:sp>
          <p:nvSpPr>
            <p:cNvPr id="24" name="TextBox 23"/>
            <p:cNvSpPr txBox="1"/>
            <p:nvPr/>
          </p:nvSpPr>
          <p:spPr>
            <a:xfrm>
              <a:off x="3670201" y="474390"/>
              <a:ext cx="987524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dirty="0" smtClean="0">
                  <a:latin typeface="+mn-lt"/>
                </a:rPr>
                <a:t>Event analysis</a:t>
              </a:r>
              <a:endParaRPr lang="en-GB" sz="1400" b="1" dirty="0">
                <a:latin typeface="+mn-lt"/>
              </a:endParaRPr>
            </a:p>
          </p:txBody>
        </p:sp>
        <p:graphicFrame>
          <p:nvGraphicFramePr>
            <p:cNvPr id="25" name="Object 24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293124758"/>
                </p:ext>
              </p:extLst>
            </p:nvPr>
          </p:nvGraphicFramePr>
          <p:xfrm>
            <a:off x="2843808" y="404664"/>
            <a:ext cx="928688" cy="12128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55699" name="Visio" r:id="rId7" imgW="0" imgH="0" progId="">
                    <p:embed/>
                  </p:oleObj>
                </mc:Choice>
                <mc:Fallback>
                  <p:oleObj name="Visio" r:id="rId7" imgW="0" imgH="0" progId="">
                    <p:embed/>
                    <p:pic>
                      <p:nvPicPr>
                        <p:cNvPr id="0" name="AutoShape 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843808" y="404664"/>
                          <a:ext cx="928688" cy="121285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blurRad="63500" dist="38099" dir="2700000" algn="ctr" rotWithShape="0">
                                  <a:schemeClr val="bg2">
                                    <a:alpha val="74998"/>
                                  </a:scheme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3" name="Group 25"/>
          <p:cNvGrpSpPr/>
          <p:nvPr/>
        </p:nvGrpSpPr>
        <p:grpSpPr>
          <a:xfrm>
            <a:off x="4979665" y="4608562"/>
            <a:ext cx="1440160" cy="1351022"/>
            <a:chOff x="4932040" y="4437112"/>
            <a:chExt cx="1440160" cy="1351022"/>
          </a:xfrm>
        </p:grpSpPr>
        <p:graphicFrame>
          <p:nvGraphicFramePr>
            <p:cNvPr id="27" name="Object 26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366664081"/>
                </p:ext>
              </p:extLst>
            </p:nvPr>
          </p:nvGraphicFramePr>
          <p:xfrm>
            <a:off x="5148064" y="4437112"/>
            <a:ext cx="928688" cy="12128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55700" name="Visio" r:id="rId8" imgW="928370" imgH="1212850" progId="">
                    <p:embed/>
                  </p:oleObj>
                </mc:Choice>
                <mc:Fallback>
                  <p:oleObj name="Visio" r:id="rId8" imgW="928370" imgH="1212850" progId="">
                    <p:embed/>
                    <p:pic>
                      <p:nvPicPr>
                        <p:cNvPr id="0" name="Picture 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148064" y="4437112"/>
                          <a:ext cx="928688" cy="121285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blurRad="63500" dist="38099" dir="2700000" algn="ctr" rotWithShape="0">
                                  <a:schemeClr val="bg2">
                                    <a:alpha val="74998"/>
                                  </a:scheme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8" name="TextBox 27"/>
            <p:cNvSpPr txBox="1"/>
            <p:nvPr/>
          </p:nvSpPr>
          <p:spPr>
            <a:xfrm>
              <a:off x="4932040" y="5157192"/>
              <a:ext cx="1440160" cy="63094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b="1" dirty="0" smtClean="0">
                  <a:latin typeface="+mn-lt"/>
                </a:rPr>
                <a:t>Informative </a:t>
              </a:r>
            </a:p>
            <a:p>
              <a:pPr algn="ctr"/>
              <a:r>
                <a:rPr lang="en-US" sz="1400" b="1" dirty="0" smtClean="0">
                  <a:latin typeface="+mn-lt"/>
                </a:rPr>
                <a:t>event</a:t>
              </a:r>
              <a:endParaRPr lang="en-GB" sz="1400" b="1" dirty="0">
                <a:latin typeface="+mn-lt"/>
              </a:endParaRPr>
            </a:p>
          </p:txBody>
        </p:sp>
      </p:grpSp>
      <p:grpSp>
        <p:nvGrpSpPr>
          <p:cNvPr id="26" name="Group 28"/>
          <p:cNvGrpSpPr/>
          <p:nvPr/>
        </p:nvGrpSpPr>
        <p:grpSpPr>
          <a:xfrm>
            <a:off x="1883321" y="4536554"/>
            <a:ext cx="1296144" cy="1423030"/>
            <a:chOff x="1835696" y="5013176"/>
            <a:chExt cx="1296144" cy="1423030"/>
          </a:xfrm>
        </p:grpSpPr>
        <p:graphicFrame>
          <p:nvGraphicFramePr>
            <p:cNvPr id="30" name="Object 29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001697201"/>
                </p:ext>
              </p:extLst>
            </p:nvPr>
          </p:nvGraphicFramePr>
          <p:xfrm>
            <a:off x="1979712" y="5013176"/>
            <a:ext cx="928688" cy="12128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55701" name="Visio" r:id="rId10" imgW="928370" imgH="1212850" progId="">
                    <p:embed/>
                  </p:oleObj>
                </mc:Choice>
                <mc:Fallback>
                  <p:oleObj name="Visio" r:id="rId10" imgW="928370" imgH="1212850" progId="">
                    <p:embed/>
                    <p:pic>
                      <p:nvPicPr>
                        <p:cNvPr id="0" name="Picture 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979712" y="5013176"/>
                          <a:ext cx="928688" cy="121285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blurRad="63500" dist="38099" dir="2700000" algn="ctr" rotWithShape="0">
                                  <a:schemeClr val="bg2">
                                    <a:alpha val="74998"/>
                                  </a:scheme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1" name="TextBox 30"/>
            <p:cNvSpPr txBox="1"/>
            <p:nvPr/>
          </p:nvSpPr>
          <p:spPr>
            <a:xfrm>
              <a:off x="1835696" y="5805264"/>
              <a:ext cx="1296144" cy="63094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b="1" dirty="0" smtClean="0">
                  <a:latin typeface="+mn-lt"/>
                </a:rPr>
                <a:t>Model </a:t>
              </a:r>
            </a:p>
            <a:p>
              <a:pPr algn="ctr"/>
              <a:r>
                <a:rPr lang="en-US" sz="1400" b="1" dirty="0" smtClean="0">
                  <a:latin typeface="+mn-lt"/>
                </a:rPr>
                <a:t>verification</a:t>
              </a:r>
              <a:endParaRPr lang="en-GB" sz="1400" b="1" dirty="0">
                <a:latin typeface="+mn-lt"/>
              </a:endParaRPr>
            </a:p>
          </p:txBody>
        </p:sp>
      </p:grpSp>
      <p:sp>
        <p:nvSpPr>
          <p:cNvPr id="32" name="Rectangle 31"/>
          <p:cNvSpPr/>
          <p:nvPr/>
        </p:nvSpPr>
        <p:spPr>
          <a:xfrm>
            <a:off x="941293" y="2210965"/>
            <a:ext cx="7705165" cy="2266905"/>
          </a:xfrm>
          <a:prstGeom prst="rect">
            <a:avLst/>
          </a:prstGeom>
          <a:noFill/>
          <a:ln>
            <a:solidFill>
              <a:schemeClr val="tx1">
                <a:lumMod val="65000"/>
                <a:lumOff val="3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400" b="1"/>
          </a:p>
        </p:txBody>
      </p:sp>
      <p:cxnSp>
        <p:nvCxnSpPr>
          <p:cNvPr id="33" name="Straight Connector 32"/>
          <p:cNvCxnSpPr>
            <a:stCxn id="6" idx="2"/>
          </p:cNvCxnSpPr>
          <p:nvPr/>
        </p:nvCxnSpPr>
        <p:spPr>
          <a:xfrm flipH="1">
            <a:off x="4085108" y="3975548"/>
            <a:ext cx="123688" cy="701227"/>
          </a:xfrm>
          <a:prstGeom prst="line">
            <a:avLst/>
          </a:prstGeom>
          <a:ln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/>
          <p:cNvCxnSpPr>
            <a:stCxn id="4" idx="2"/>
          </p:cNvCxnSpPr>
          <p:nvPr/>
        </p:nvCxnSpPr>
        <p:spPr>
          <a:xfrm>
            <a:off x="2890130" y="3975548"/>
            <a:ext cx="713683" cy="758377"/>
          </a:xfrm>
          <a:prstGeom prst="line">
            <a:avLst/>
          </a:prstGeom>
          <a:ln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/>
          <p:cNvCxnSpPr>
            <a:stCxn id="8" idx="2"/>
          </p:cNvCxnSpPr>
          <p:nvPr/>
        </p:nvCxnSpPr>
        <p:spPr>
          <a:xfrm>
            <a:off x="1734239" y="3975548"/>
            <a:ext cx="304673" cy="663127"/>
          </a:xfrm>
          <a:prstGeom prst="line">
            <a:avLst/>
          </a:prstGeom>
          <a:ln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/>
          <p:cNvCxnSpPr>
            <a:stCxn id="4" idx="2"/>
          </p:cNvCxnSpPr>
          <p:nvPr/>
        </p:nvCxnSpPr>
        <p:spPr>
          <a:xfrm flipH="1">
            <a:off x="2546540" y="3975548"/>
            <a:ext cx="343590" cy="663127"/>
          </a:xfrm>
          <a:prstGeom prst="line">
            <a:avLst/>
          </a:prstGeom>
          <a:ln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/>
          <p:cNvCxnSpPr>
            <a:stCxn id="6" idx="2"/>
          </p:cNvCxnSpPr>
          <p:nvPr/>
        </p:nvCxnSpPr>
        <p:spPr>
          <a:xfrm flipH="1">
            <a:off x="2808758" y="3975548"/>
            <a:ext cx="1400038" cy="806002"/>
          </a:xfrm>
          <a:prstGeom prst="line">
            <a:avLst/>
          </a:prstGeom>
          <a:ln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/>
          <p:cNvCxnSpPr>
            <a:endCxn id="6" idx="0"/>
          </p:cNvCxnSpPr>
          <p:nvPr/>
        </p:nvCxnSpPr>
        <p:spPr>
          <a:xfrm>
            <a:off x="3376460" y="1754535"/>
            <a:ext cx="832336" cy="1728191"/>
          </a:xfrm>
          <a:prstGeom prst="line">
            <a:avLst/>
          </a:prstGeom>
          <a:ln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/>
          <p:cNvCxnSpPr>
            <a:endCxn id="7" idx="0"/>
          </p:cNvCxnSpPr>
          <p:nvPr/>
        </p:nvCxnSpPr>
        <p:spPr>
          <a:xfrm flipH="1">
            <a:off x="2388994" y="1682527"/>
            <a:ext cx="573638" cy="720079"/>
          </a:xfrm>
          <a:prstGeom prst="line">
            <a:avLst/>
          </a:prstGeom>
          <a:ln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/>
          <p:cNvCxnSpPr>
            <a:endCxn id="10" idx="0"/>
          </p:cNvCxnSpPr>
          <p:nvPr/>
        </p:nvCxnSpPr>
        <p:spPr>
          <a:xfrm>
            <a:off x="3726954" y="1682527"/>
            <a:ext cx="930491" cy="720079"/>
          </a:xfrm>
          <a:prstGeom prst="line">
            <a:avLst/>
          </a:prstGeom>
          <a:ln>
            <a:solidFill>
              <a:schemeClr val="accent1">
                <a:lumMod val="50000"/>
              </a:schemeClr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/>
          <p:cNvCxnSpPr>
            <a:stCxn id="6" idx="2"/>
          </p:cNvCxnSpPr>
          <p:nvPr/>
        </p:nvCxnSpPr>
        <p:spPr>
          <a:xfrm>
            <a:off x="4208796" y="3975548"/>
            <a:ext cx="962159" cy="825052"/>
          </a:xfrm>
          <a:prstGeom prst="line">
            <a:avLst/>
          </a:prstGeom>
          <a:ln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/>
          <p:cNvCxnSpPr/>
          <p:nvPr/>
        </p:nvCxnSpPr>
        <p:spPr>
          <a:xfrm flipH="1">
            <a:off x="7153891" y="2028850"/>
            <a:ext cx="2" cy="615660"/>
          </a:xfrm>
          <a:prstGeom prst="line">
            <a:avLst/>
          </a:prstGeom>
          <a:ln>
            <a:solidFill>
              <a:schemeClr val="accent1">
                <a:lumMod val="50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/>
          <p:cNvCxnSpPr/>
          <p:nvPr/>
        </p:nvCxnSpPr>
        <p:spPr>
          <a:xfrm>
            <a:off x="7370787" y="3955157"/>
            <a:ext cx="0" cy="720080"/>
          </a:xfrm>
          <a:prstGeom prst="line">
            <a:avLst/>
          </a:prstGeom>
          <a:ln>
            <a:solidFill>
              <a:schemeClr val="accent1">
                <a:lumMod val="50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Flowchart: Document 43"/>
          <p:cNvSpPr/>
          <p:nvPr/>
        </p:nvSpPr>
        <p:spPr>
          <a:xfrm>
            <a:off x="1619672" y="6118412"/>
            <a:ext cx="936104" cy="556281"/>
          </a:xfrm>
          <a:prstGeom prst="flowChartDocumen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 smtClean="0">
                <a:solidFill>
                  <a:schemeClr val="bg1"/>
                </a:solidFill>
              </a:rPr>
              <a:t>Time series</a:t>
            </a:r>
          </a:p>
        </p:txBody>
      </p:sp>
      <p:sp>
        <p:nvSpPr>
          <p:cNvPr id="45" name="Flowchart: Document 44"/>
          <p:cNvSpPr/>
          <p:nvPr/>
        </p:nvSpPr>
        <p:spPr>
          <a:xfrm>
            <a:off x="2843807" y="6118412"/>
            <a:ext cx="1176863" cy="556281"/>
          </a:xfrm>
          <a:prstGeom prst="flowChartDocument">
            <a:avLst/>
          </a:prstGeom>
          <a:solidFill>
            <a:schemeClr val="accent1">
              <a:lumMod val="9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 smtClean="0">
                <a:solidFill>
                  <a:schemeClr val="tx1"/>
                </a:solidFill>
              </a:rPr>
              <a:t>Model data</a:t>
            </a:r>
          </a:p>
          <a:p>
            <a:pPr algn="ctr"/>
            <a:r>
              <a:rPr lang="en-US" sz="1400" b="1" dirty="0" smtClean="0">
                <a:solidFill>
                  <a:schemeClr val="tx1"/>
                </a:solidFill>
              </a:rPr>
              <a:t>(native)</a:t>
            </a:r>
          </a:p>
        </p:txBody>
      </p:sp>
      <p:sp>
        <p:nvSpPr>
          <p:cNvPr id="46" name="Flowchart: Document 45"/>
          <p:cNvSpPr/>
          <p:nvPr/>
        </p:nvSpPr>
        <p:spPr>
          <a:xfrm>
            <a:off x="4202413" y="6118412"/>
            <a:ext cx="1378115" cy="556281"/>
          </a:xfrm>
          <a:prstGeom prst="flowChartDocument">
            <a:avLst/>
          </a:prstGeom>
          <a:solidFill>
            <a:schemeClr val="accent5"/>
          </a:solidFill>
          <a:ln>
            <a:solidFill>
              <a:schemeClr val="accent3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 smtClean="0">
                <a:solidFill>
                  <a:schemeClr val="tx1"/>
                </a:solidFill>
              </a:rPr>
              <a:t>Documents </a:t>
            </a:r>
          </a:p>
          <a:p>
            <a:pPr algn="ctr"/>
            <a:r>
              <a:rPr lang="en-US" sz="1400" b="1" dirty="0" smtClean="0">
                <a:solidFill>
                  <a:schemeClr val="tx1"/>
                </a:solidFill>
              </a:rPr>
              <a:t>&amp; images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31291" y="6121622"/>
            <a:ext cx="114807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b="1" dirty="0" smtClean="0">
                <a:latin typeface="+mn-lt"/>
              </a:rPr>
              <a:t>Data types:</a:t>
            </a:r>
            <a:endParaRPr lang="en-GB" sz="1400" b="1" dirty="0">
              <a:latin typeface="+mn-lt"/>
            </a:endParaRPr>
          </a:p>
        </p:txBody>
      </p:sp>
      <p:pic>
        <p:nvPicPr>
          <p:cNvPr id="48" name="Picture 2" descr="D:\grijze\Documents\code review\coder.jpg"/>
          <p:cNvPicPr>
            <a:picLocks noChangeAspect="1" noChangeArrowheads="1"/>
          </p:cNvPicPr>
          <p:nvPr/>
        </p:nvPicPr>
        <p:blipFill>
          <a:blip r:embed="rId1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2527896" y="905297"/>
            <a:ext cx="1263650" cy="10810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50" name="Object 2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01697201"/>
              </p:ext>
            </p:extLst>
          </p:nvPr>
        </p:nvGraphicFramePr>
        <p:xfrm>
          <a:off x="3395489" y="4608562"/>
          <a:ext cx="928688" cy="1212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5702" name="Visio" r:id="rId13" imgW="928370" imgH="1212850" progId="">
                  <p:embed/>
                </p:oleObj>
              </mc:Choice>
              <mc:Fallback>
                <p:oleObj name="Visio" r:id="rId13" imgW="928370" imgH="1212850" progId="">
                  <p:embed/>
                  <p:pic>
                    <p:nvPicPr>
                      <p:cNvPr id="0" name="Picture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95489" y="4608562"/>
                        <a:ext cx="928688" cy="12128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2" name="Flowchart: Multidocument 17"/>
          <p:cNvSpPr/>
          <p:nvPr/>
        </p:nvSpPr>
        <p:spPr>
          <a:xfrm>
            <a:off x="6874262" y="4800600"/>
            <a:ext cx="994729" cy="766187"/>
          </a:xfrm>
          <a:prstGeom prst="flowChartMultidocumen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US" dirty="0" smtClean="0"/>
              <a:t>docs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780768632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8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3" fill="hold">
                            <p:stCondLst>
                              <p:cond delay="500"/>
                            </p:stCondLst>
                            <p:childTnLst>
                              <p:par>
                                <p:cTn id="94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6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7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8" fill="hold">
                            <p:stCondLst>
                              <p:cond delay="1000"/>
                            </p:stCondLst>
                            <p:childTnLst>
                              <p:par>
                                <p:cTn id="99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1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2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3" fill="hold">
                            <p:stCondLst>
                              <p:cond delay="1500"/>
                            </p:stCondLst>
                            <p:childTnLst>
                              <p:par>
                                <p:cTn id="104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6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7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8" fill="hold">
                            <p:stCondLst>
                              <p:cond delay="2000"/>
                            </p:stCondLst>
                            <p:childTnLst>
                              <p:par>
                                <p:cTn id="109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1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2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32" grpId="0" animBg="1"/>
      <p:bldP spid="44" grpId="0" animBg="1"/>
      <p:bldP spid="45" grpId="0" animBg="1"/>
      <p:bldP spid="46" grpId="0" animBg="1"/>
      <p:bldP spid="47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/>
          </p:cNvSpPr>
          <p:nvPr/>
        </p:nvSpPr>
        <p:spPr>
          <a:xfrm>
            <a:off x="142844" y="357166"/>
            <a:ext cx="9001156" cy="828660"/>
          </a:xfrm>
          <a:prstGeom prst="rect">
            <a:avLst/>
          </a:prstGeom>
        </p:spPr>
        <p:txBody>
          <a:bodyPr/>
          <a:lstStyle/>
          <a:p>
            <a:pPr lvl="0" eaLnBrk="0" hangingPunct="0"/>
            <a:r>
              <a:rPr lang="en-US" altLang="en-US" b="1" dirty="0" smtClean="0">
                <a:solidFill>
                  <a:srgbClr val="007AC2"/>
                </a:solidFill>
              </a:rPr>
              <a:t>DEWETRA and the Po river basin</a:t>
            </a:r>
            <a:endParaRPr lang="en-US" altLang="en-US" b="1" dirty="0">
              <a:solidFill>
                <a:srgbClr val="007AC2"/>
              </a:solidFill>
            </a:endParaRPr>
          </a:p>
        </p:txBody>
      </p:sp>
      <p:pic>
        <p:nvPicPr>
          <p:cNvPr id="3" name="Immagine 2" descr="fews_sections.png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1203886"/>
            <a:ext cx="9144000" cy="4812883"/>
          </a:xfrm>
          <a:prstGeom prst="rect">
            <a:avLst/>
          </a:prstGeom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magine 2" descr="fews_sections2.png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1022684"/>
            <a:ext cx="9144000" cy="4812632"/>
          </a:xfrm>
          <a:prstGeom prst="rect">
            <a:avLst/>
          </a:prstGeom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magine 2" descr="fews_sections3.png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854568"/>
            <a:ext cx="9144000" cy="5148863"/>
          </a:xfrm>
          <a:prstGeom prst="rect">
            <a:avLst/>
          </a:prstGeom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olo 1"/>
          <p:cNvSpPr txBox="1">
            <a:spLocks/>
          </p:cNvSpPr>
          <p:nvPr/>
        </p:nvSpPr>
        <p:spPr>
          <a:xfrm>
            <a:off x="0" y="2766568"/>
            <a:ext cx="9144000" cy="484632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pPr lvl="0" algn="ctr" defTabSz="457200" eaLnBrk="1" fontAlgn="auto" hangingPunct="1">
              <a:spcBef>
                <a:spcPct val="0"/>
              </a:spcBef>
              <a:spcAft>
                <a:spcPts val="0"/>
              </a:spcAft>
              <a:buClrTx/>
            </a:pPr>
            <a:r>
              <a:rPr lang="en-US" sz="2800" b="1" dirty="0" smtClean="0">
                <a:solidFill>
                  <a:srgbClr val="007AC2"/>
                </a:solidFill>
                <a:latin typeface="+mj-lt"/>
                <a:ea typeface="+mj-ea"/>
                <a:cs typeface="Avenir LT Std 85 Heavy"/>
              </a:rPr>
              <a:t>WHOS</a:t>
            </a:r>
          </a:p>
          <a:p>
            <a:pPr lvl="0" algn="ctr" defTabSz="457200" eaLnBrk="1" fontAlgn="auto" hangingPunct="1">
              <a:spcBef>
                <a:spcPct val="0"/>
              </a:spcBef>
              <a:spcAft>
                <a:spcPts val="0"/>
              </a:spcAft>
              <a:buClrTx/>
            </a:pPr>
            <a:r>
              <a:rPr kumimoji="0" lang="en-US" sz="28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7AC2"/>
                </a:solidFill>
                <a:effectLst/>
                <a:uLnTx/>
                <a:uFillTx/>
                <a:latin typeface="+mj-lt"/>
                <a:ea typeface="+mj-ea"/>
                <a:cs typeface="Avenir LT Std 85 Heavy"/>
              </a:rPr>
              <a:t>current</a:t>
            </a:r>
            <a:r>
              <a:rPr kumimoji="0" lang="en-US" sz="2800" b="1" i="0" u="none" strike="noStrike" kern="1200" cap="none" spc="0" normalizeH="0" noProof="0" dirty="0" smtClean="0">
                <a:ln>
                  <a:noFill/>
                </a:ln>
                <a:solidFill>
                  <a:srgbClr val="007AC2"/>
                </a:solidFill>
                <a:effectLst/>
                <a:uLnTx/>
                <a:uFillTx/>
                <a:latin typeface="+mj-lt"/>
                <a:ea typeface="+mj-ea"/>
                <a:cs typeface="Avenir LT Std 85 Heavy"/>
              </a:rPr>
              <a:t> developments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rgbClr val="007AC2"/>
              </a:solidFill>
              <a:effectLst/>
              <a:uLnTx/>
              <a:uFillTx/>
              <a:latin typeface="+mj-lt"/>
              <a:ea typeface="+mj-ea"/>
              <a:cs typeface="Avenir LT Std 85 Heavy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305128" y="0"/>
            <a:ext cx="4875384" cy="6309320"/>
          </a:xfrm>
          <a:prstGeom prst="rect">
            <a:avLst/>
          </a:prstGeom>
        </p:spPr>
      </p:pic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179512" y="2708920"/>
            <a:ext cx="3923928" cy="792162"/>
          </a:xfrm>
        </p:spPr>
        <p:txBody>
          <a:bodyPr>
            <a:normAutofit fontScale="90000"/>
          </a:bodyPr>
          <a:lstStyle/>
          <a:p>
            <a:r>
              <a:rPr lang="en-US" sz="3000" b="1" dirty="0" smtClean="0"/>
              <a:t>WIGOS Metadata Standard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- </a:t>
            </a:r>
            <a:r>
              <a:rPr lang="en-US" sz="3000" dirty="0" smtClean="0"/>
              <a:t>Approved at Cg-17 June 2015</a:t>
            </a:r>
            <a:endParaRPr lang="en-US" sz="3000" dirty="0"/>
          </a:p>
        </p:txBody>
      </p:sp>
      <p:sp>
        <p:nvSpPr>
          <p:cNvPr id="9" name="TextBox 4"/>
          <p:cNvSpPr txBox="1"/>
          <p:nvPr/>
        </p:nvSpPr>
        <p:spPr>
          <a:xfrm>
            <a:off x="0" y="4797152"/>
            <a:ext cx="4294465" cy="6924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00" dirty="0"/>
              <a:t>S</a:t>
            </a:r>
            <a:r>
              <a:rPr lang="en-US" sz="1300" dirty="0" smtClean="0"/>
              <a:t>ource:     </a:t>
            </a:r>
            <a:r>
              <a:rPr lang="en-US" sz="1300" dirty="0">
                <a:hlinkClick r:id="rId4"/>
              </a:rPr>
              <a:t>https://</a:t>
            </a:r>
            <a:r>
              <a:rPr lang="en-US" sz="1300" dirty="0" err="1">
                <a:hlinkClick r:id="rId4"/>
              </a:rPr>
              <a:t>www.wmo.int</a:t>
            </a:r>
            <a:r>
              <a:rPr lang="en-US" sz="1300" dirty="0">
                <a:hlinkClick r:id="rId4"/>
              </a:rPr>
              <a:t>/pages/</a:t>
            </a:r>
            <a:r>
              <a:rPr lang="en-US" sz="1300" dirty="0" err="1">
                <a:hlinkClick r:id="rId4"/>
              </a:rPr>
              <a:t>prog</a:t>
            </a:r>
            <a:r>
              <a:rPr lang="en-US" sz="1300" dirty="0">
                <a:hlinkClick r:id="rId4"/>
              </a:rPr>
              <a:t>/www/</a:t>
            </a:r>
            <a:r>
              <a:rPr lang="en-US" sz="1300" dirty="0" err="1">
                <a:hlinkClick r:id="rId4"/>
              </a:rPr>
              <a:t>wigos</a:t>
            </a:r>
            <a:r>
              <a:rPr lang="en-US" sz="1300" dirty="0">
                <a:hlinkClick r:id="rId4"/>
              </a:rPr>
              <a:t>/documents/Cg-17/</a:t>
            </a:r>
            <a:r>
              <a:rPr lang="en-US" sz="1300" dirty="0" err="1">
                <a:hlinkClick r:id="rId4"/>
              </a:rPr>
              <a:t>WIGOS_Metadata.pdf</a:t>
            </a:r>
            <a:endParaRPr lang="en-US" sz="1300" dirty="0"/>
          </a:p>
        </p:txBody>
      </p:sp>
    </p:spTree>
    <p:extLst>
      <p:ext uri="{BB962C8B-B14F-4D97-AF65-F5344CB8AC3E}">
        <p14:creationId xmlns:p14="http://schemas.microsoft.com/office/powerpoint/2010/main" val="1741035948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de-CH" dirty="0" smtClean="0"/>
              <a:t>OSCAR quick </a:t>
            </a:r>
            <a:r>
              <a:rPr lang="de-CH" dirty="0" err="1" smtClean="0"/>
              <a:t>access</a:t>
            </a:r>
            <a:r>
              <a:rPr lang="de-CH" dirty="0" smtClean="0"/>
              <a:t> &amp; </a:t>
            </a:r>
            <a:r>
              <a:rPr lang="de-CH" dirty="0" err="1" smtClean="0"/>
              <a:t>reports</a:t>
            </a:r>
            <a:endParaRPr lang="en-US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2987825" y="2861196"/>
            <a:ext cx="3228657" cy="2648939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23528" y="1916832"/>
            <a:ext cx="2146494" cy="39511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  <p:pic>
        <p:nvPicPr>
          <p:cNvPr id="3076" name="Picture 4"/>
          <p:cNvPicPr>
            <a:picLocks noChangeAspect="1"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724128" y="1391531"/>
            <a:ext cx="1789648" cy="1050603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7" name="Picture 5"/>
          <p:cNvPicPr>
            <a:picLocks noChangeAspect="1" noChangeArrowheads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772532" y="2861197"/>
            <a:ext cx="1975624" cy="3039047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Oval Callout 4"/>
          <p:cNvSpPr/>
          <p:nvPr/>
        </p:nvSpPr>
        <p:spPr bwMode="auto">
          <a:xfrm>
            <a:off x="1403921" y="1124744"/>
            <a:ext cx="1943945" cy="968864"/>
          </a:xfrm>
          <a:prstGeom prst="wedgeEllipseCallout">
            <a:avLst>
              <a:gd name="adj1" fmla="val -35870"/>
              <a:gd name="adj2" fmla="val 155173"/>
            </a:avLst>
          </a:prstGeom>
          <a:solidFill>
            <a:schemeClr val="bg2">
              <a:lumMod val="20000"/>
              <a:lumOff val="8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de-CH" sz="1400" b="1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</a:rPr>
              <a:t>Quick </a:t>
            </a:r>
            <a:r>
              <a:rPr kumimoji="0" lang="de-CH" sz="1400" b="1" i="0" u="none" strike="noStrike" cap="none" normalizeH="0" baseline="0" dirty="0" err="1" smtClean="0">
                <a:ln>
                  <a:noFill/>
                </a:ln>
                <a:solidFill>
                  <a:srgbClr val="FF0000"/>
                </a:solidFill>
                <a:effectLst/>
              </a:rPr>
              <a:t>access</a:t>
            </a:r>
            <a:endParaRPr kumimoji="0" lang="de-CH" sz="1400" b="1" i="0" u="none" strike="noStrike" cap="none" normalizeH="0" baseline="0" dirty="0" smtClean="0">
              <a:ln>
                <a:noFill/>
              </a:ln>
              <a:solidFill>
                <a:srgbClr val="FF0000"/>
              </a:solidFill>
              <a:effectLst/>
            </a:endParaRPr>
          </a:p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de-CH" sz="1400" b="1" dirty="0" smtClean="0">
                <a:solidFill>
                  <a:srgbClr val="FF0000"/>
                </a:solidFill>
              </a:rPr>
              <a:t>&amp;</a:t>
            </a:r>
            <a:endParaRPr lang="de-CH" sz="1400" b="1" dirty="0">
              <a:solidFill>
                <a:srgbClr val="FF0000"/>
              </a:solidFill>
            </a:endParaRPr>
          </a:p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de-CH" sz="1400" b="1" dirty="0" err="1" smtClean="0">
                <a:solidFill>
                  <a:srgbClr val="FF0000"/>
                </a:solidFill>
              </a:rPr>
              <a:t>Map</a:t>
            </a:r>
            <a:r>
              <a:rPr lang="de-CH" sz="1400" b="1" dirty="0" smtClean="0">
                <a:solidFill>
                  <a:srgbClr val="FF0000"/>
                </a:solidFill>
              </a:rPr>
              <a:t> </a:t>
            </a:r>
            <a:r>
              <a:rPr lang="de-CH" sz="1400" b="1" dirty="0" err="1" smtClean="0">
                <a:solidFill>
                  <a:srgbClr val="FF0000"/>
                </a:solidFill>
              </a:rPr>
              <a:t>filter</a:t>
            </a:r>
            <a:endParaRPr kumimoji="0" lang="en-US" sz="1400" b="1" i="0" u="none" strike="noStrike" cap="none" normalizeH="0" baseline="0" dirty="0" smtClean="0">
              <a:ln>
                <a:noFill/>
              </a:ln>
              <a:solidFill>
                <a:srgbClr val="FF0000"/>
              </a:solidFill>
              <a:effectLst/>
            </a:endParaRPr>
          </a:p>
        </p:txBody>
      </p:sp>
      <p:sp>
        <p:nvSpPr>
          <p:cNvPr id="10" name="Oval Callout 9"/>
          <p:cNvSpPr/>
          <p:nvPr/>
        </p:nvSpPr>
        <p:spPr bwMode="auto">
          <a:xfrm>
            <a:off x="4828589" y="5157192"/>
            <a:ext cx="1943945" cy="832957"/>
          </a:xfrm>
          <a:prstGeom prst="wedgeEllipseCallout">
            <a:avLst>
              <a:gd name="adj1" fmla="val 77806"/>
              <a:gd name="adj2" fmla="val -132296"/>
            </a:avLst>
          </a:prstGeom>
          <a:solidFill>
            <a:schemeClr val="bg2">
              <a:lumMod val="20000"/>
              <a:lumOff val="8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de-CH" sz="1400" b="1" i="0" u="none" strike="noStrike" cap="none" normalizeH="0" baseline="0" dirty="0" err="1" smtClean="0">
                <a:ln>
                  <a:noFill/>
                </a:ln>
                <a:solidFill>
                  <a:srgbClr val="FF0000"/>
                </a:solidFill>
                <a:effectLst/>
              </a:rPr>
              <a:t>Detailed</a:t>
            </a:r>
            <a:r>
              <a:rPr kumimoji="0" lang="de-CH" sz="1400" b="1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</a:rPr>
              <a:t> </a:t>
            </a:r>
            <a:r>
              <a:rPr kumimoji="0" lang="de-CH" sz="1400" b="1" i="0" u="none" strike="noStrike" cap="none" normalizeH="0" baseline="0" dirty="0" err="1" smtClean="0">
                <a:ln>
                  <a:noFill/>
                </a:ln>
                <a:solidFill>
                  <a:srgbClr val="FF0000"/>
                </a:solidFill>
                <a:effectLst/>
              </a:rPr>
              <a:t>station</a:t>
            </a:r>
            <a:r>
              <a:rPr kumimoji="0" lang="de-CH" sz="1400" b="1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</a:rPr>
              <a:t> </a:t>
            </a:r>
            <a:r>
              <a:rPr kumimoji="0" lang="de-CH" sz="1400" b="1" i="0" u="none" strike="noStrike" cap="none" normalizeH="0" baseline="0" dirty="0" err="1" smtClean="0">
                <a:ln>
                  <a:noFill/>
                </a:ln>
                <a:solidFill>
                  <a:srgbClr val="FF0000"/>
                </a:solidFill>
                <a:effectLst/>
              </a:rPr>
              <a:t>report</a:t>
            </a:r>
            <a:endParaRPr kumimoji="0" lang="en-US" sz="1400" b="1" i="0" u="none" strike="noStrike" cap="none" normalizeH="0" baseline="0" dirty="0" smtClean="0">
              <a:ln>
                <a:noFill/>
              </a:ln>
              <a:solidFill>
                <a:srgbClr val="FF0000"/>
              </a:solidFill>
              <a:effectLst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772534" y="1709085"/>
            <a:ext cx="1763485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CH" dirty="0" smtClean="0"/>
              <a:t>          + </a:t>
            </a:r>
            <a:r>
              <a:rPr lang="de-CH" dirty="0" err="1" smtClean="0"/>
              <a:t>click</a:t>
            </a:r>
            <a:endParaRPr lang="de-CH" dirty="0" smtClean="0"/>
          </a:p>
          <a:p>
            <a:endParaRPr lang="de-CH" dirty="0"/>
          </a:p>
          <a:p>
            <a:r>
              <a:rPr lang="de-CH" dirty="0" smtClean="0"/>
              <a:t>          =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70443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07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07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0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21337 0.06921 L -0.00712 -0.03588 " pathEditMode="relative" rAng="0" ptsTypes="AA">
                                      <p:cBhvr>
                                        <p:cTn id="11" dur="2000" fill="hold"/>
                                        <p:tgtEl>
                                          <p:spTgt spid="307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1024" y="-525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0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307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307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0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14966 0.38843 L 3.88889E-6 -1.48148E-6 " pathEditMode="relative" rAng="0" ptsTypes="AA">
                                      <p:cBhvr>
                                        <p:cTn id="24" dur="2000" fill="hold"/>
                                        <p:tgtEl>
                                          <p:spTgt spid="307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7483" y="-1942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2000"/>
                            </p:stCondLst>
                            <p:childTnLst>
                              <p:par>
                                <p:cTn id="2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2500"/>
                            </p:stCondLst>
                            <p:childTnLst>
                              <p:par>
                                <p:cTn id="3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0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3000"/>
                            </p:stCondLst>
                            <p:childTnLst>
                              <p:par>
                                <p:cTn id="3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10" grpId="0" animBg="1"/>
      <p:bldP spid="6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magine 1" descr="features1.png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639913"/>
            <a:ext cx="9144000" cy="5578174"/>
          </a:xfrm>
          <a:prstGeom prst="rect">
            <a:avLst/>
          </a:prstGeom>
        </p:spPr>
      </p:pic>
      <p:sp>
        <p:nvSpPr>
          <p:cNvPr id="3" name="Title 1"/>
          <p:cNvSpPr txBox="1">
            <a:spLocks/>
          </p:cNvSpPr>
          <p:nvPr/>
        </p:nvSpPr>
        <p:spPr>
          <a:xfrm>
            <a:off x="179512" y="0"/>
            <a:ext cx="8964488" cy="620688"/>
          </a:xfrm>
          <a:prstGeom prst="rect">
            <a:avLst/>
          </a:prstGeo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2">
                    <a:lumMod val="75000"/>
                    <a:lumOff val="25000"/>
                  </a:schemeClr>
                </a:solidFill>
                <a:effectLst/>
                <a:uLnTx/>
                <a:uFillTx/>
                <a:latin typeface="+mj-lt"/>
                <a:ea typeface="+mj-ea"/>
                <a:cs typeface="Avenir LT Std 55 Roman" pitchFamily="34" charset="0"/>
              </a:rPr>
              <a:t>QGIS and WEBSERVICES</a:t>
            </a:r>
            <a:endParaRPr kumimoji="0" lang="en-US" sz="3000" b="1" i="0" u="none" strike="noStrike" kern="1200" cap="none" spc="0" normalizeH="0" baseline="0" noProof="0" dirty="0">
              <a:ln>
                <a:noFill/>
              </a:ln>
              <a:solidFill>
                <a:schemeClr val="tx2">
                  <a:lumMod val="75000"/>
                  <a:lumOff val="25000"/>
                </a:schemeClr>
              </a:solidFill>
              <a:effectLst/>
              <a:uLnTx/>
              <a:uFillTx/>
              <a:latin typeface="+mj-lt"/>
              <a:ea typeface="+mj-ea"/>
              <a:cs typeface="Avenir LT Std 55 Roman" pitchFamily="34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magine 1" descr="features2.png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892167"/>
            <a:ext cx="9144000" cy="5073666"/>
          </a:xfrm>
          <a:prstGeom prst="rect">
            <a:avLst/>
          </a:prstGeom>
        </p:spPr>
      </p:pic>
      <p:sp>
        <p:nvSpPr>
          <p:cNvPr id="3" name="Title 1"/>
          <p:cNvSpPr txBox="1">
            <a:spLocks/>
          </p:cNvSpPr>
          <p:nvPr/>
        </p:nvSpPr>
        <p:spPr>
          <a:xfrm>
            <a:off x="0" y="0"/>
            <a:ext cx="9144000" cy="620688"/>
          </a:xfrm>
          <a:prstGeom prst="rect">
            <a:avLst/>
          </a:prstGeo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2">
                    <a:lumMod val="75000"/>
                    <a:lumOff val="25000"/>
                  </a:schemeClr>
                </a:solidFill>
                <a:effectLst/>
                <a:uLnTx/>
                <a:uFillTx/>
                <a:latin typeface="+mj-lt"/>
                <a:ea typeface="+mj-ea"/>
                <a:cs typeface="Avenir LT Std 55 Roman" pitchFamily="34" charset="0"/>
              </a:rPr>
              <a:t>HYDROLOGICAL ANALYSIS BY WEBSERVICES</a:t>
            </a:r>
            <a:endParaRPr kumimoji="0" lang="en-US" sz="3000" b="1" i="0" u="none" strike="noStrike" kern="1200" cap="none" spc="0" normalizeH="0" baseline="0" noProof="0" dirty="0">
              <a:ln>
                <a:noFill/>
              </a:ln>
              <a:solidFill>
                <a:schemeClr val="tx2">
                  <a:lumMod val="75000"/>
                  <a:lumOff val="25000"/>
                </a:schemeClr>
              </a:solidFill>
              <a:effectLst/>
              <a:uLnTx/>
              <a:uFillTx/>
              <a:latin typeface="+mj-lt"/>
              <a:ea typeface="+mj-ea"/>
              <a:cs typeface="Avenir LT Std 55 Roman" pitchFamily="34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 descr="https://lh5.googleusercontent.com/RPdxcuQ1JCZrhOoQbYTqZCQi3E-ufEj63My6d3FAR7u7nSmBBTNm6MXdDsJhWPs-_HAoYSXhWCxSNoVq1EPBsXoVZjTTd8t0xY-uwoDpDEP2XWTYq2KRoLKbu8GWtPR3yM6Q"/>
          <p:cNvPicPr>
            <a:picLocks noChangeAspect="1"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373793"/>
            <a:ext cx="4780589" cy="58338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2" descr="https://lh5.googleusercontent.com/w1CN5M1UJkXrlt6tNEwUZ_nplX3gMiX6AZaYOPTUFZEq7tISsW1KbiQh6InxwIp8qsEW5ojcvslvWhq5mOIaITt323wtv9QSMdiZbc4KiP1UKh8ejoeWv1hT_kS1fGAXIi4Y"/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463056" y="3335629"/>
            <a:ext cx="4617672" cy="33045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2" descr="C:\temp\PLOT03.JPG"/>
          <p:cNvPicPr>
            <a:picLocks noChangeAspect="1"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780589" y="194071"/>
            <a:ext cx="3569377" cy="26770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3" descr="C:\temp\PLOT02.JPG"/>
          <p:cNvPicPr>
            <a:picLocks noChangeAspect="1" noChangeArrowheads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98384" y="2125058"/>
            <a:ext cx="2468711" cy="18515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2" descr="C:\temp\PLOT01.JPG"/>
          <p:cNvPicPr>
            <a:picLocks noChangeAspect="1" noChangeArrowheads="1"/>
          </p:cNvPicPr>
          <p:nvPr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150812" y="1532587"/>
            <a:ext cx="2057727" cy="15432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2468"/>
            <a:ext cx="8048625" cy="3609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" y="3308718"/>
            <a:ext cx="5576552" cy="35492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487450" y="1511368"/>
            <a:ext cx="4656550" cy="27259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5081856" y="5133988"/>
            <a:ext cx="3590925" cy="1228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/>
          </p:cNvSpPr>
          <p:nvPr/>
        </p:nvSpPr>
        <p:spPr>
          <a:xfrm>
            <a:off x="0" y="89231"/>
            <a:ext cx="9144000" cy="485775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FF"/>
                </a:solidFill>
                <a:effectLst>
                  <a:outerShdw blurRad="38100" dist="25400" dir="2700000" algn="tl" rotWithShape="0">
                    <a:srgbClr val="000000">
                      <a:alpha val="60000"/>
                    </a:srgbClr>
                  </a:outerShdw>
                </a:effectLst>
                <a:uLnTx/>
                <a:uFillTx/>
                <a:latin typeface="Arial" charset="0"/>
                <a:ea typeface="+mn-ea"/>
                <a:cs typeface="+mn-cs"/>
              </a:rPr>
              <a:t>WHOS IN THE CLOUD</a:t>
            </a:r>
            <a:r>
              <a:rPr kumimoji="0" lang="en-US" sz="2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Avenir LT Std 55 Roman" pitchFamily="34" charset="0"/>
              </a:rPr>
              <a:t/>
            </a:r>
            <a:br>
              <a:rPr kumimoji="0" lang="en-US" sz="2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Avenir LT Std 55 Roman" pitchFamily="34" charset="0"/>
              </a:rPr>
            </a:b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Avenir LT Std 55 Roman" pitchFamily="34" charset="0"/>
            </a:endParaRPr>
          </a:p>
        </p:txBody>
      </p:sp>
      <p:pic>
        <p:nvPicPr>
          <p:cNvPr id="13314" name="Picture 2" descr="http://www.iyiz.com/wp-content/uploads/2012/04/cloud_computing_storage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83568" y="692696"/>
            <a:ext cx="7620000" cy="5715000"/>
          </a:xfrm>
          <a:prstGeom prst="rect">
            <a:avLst/>
          </a:prstGeom>
          <a:noFill/>
        </p:spPr>
      </p:pic>
      <p:sp>
        <p:nvSpPr>
          <p:cNvPr id="4" name="Rettangolo 3"/>
          <p:cNvSpPr/>
          <p:nvPr/>
        </p:nvSpPr>
        <p:spPr>
          <a:xfrm rot="1093690">
            <a:off x="4505991" y="1760745"/>
            <a:ext cx="2339102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bevelT w="29210" h="16510"/>
              <a:contourClr>
                <a:schemeClr val="accent4">
                  <a:alpha val="95000"/>
                </a:schemeClr>
              </a:contourClr>
            </a:sp3d>
          </a:bodyPr>
          <a:lstStyle/>
          <a:p>
            <a:pPr algn="ctr"/>
            <a:r>
              <a:rPr lang="it-IT" sz="5400" b="1" cap="none" spc="0" dirty="0" smtClean="0">
                <a:ln>
                  <a:prstDash val="solid"/>
                </a:ln>
                <a:gradFill rotWithShape="1">
                  <a:gsLst>
                    <a:gs pos="0">
                      <a:schemeClr val="accent4">
                        <a:tint val="70000"/>
                        <a:satMod val="200000"/>
                      </a:schemeClr>
                    </a:gs>
                    <a:gs pos="40000">
                      <a:schemeClr val="accent4">
                        <a:tint val="90000"/>
                        <a:satMod val="130000"/>
                      </a:schemeClr>
                    </a:gs>
                    <a:gs pos="50000">
                      <a:schemeClr val="accent4">
                        <a:tint val="90000"/>
                        <a:satMod val="130000"/>
                      </a:schemeClr>
                    </a:gs>
                    <a:gs pos="68000">
                      <a:schemeClr val="accent4">
                        <a:tint val="90000"/>
                        <a:satMod val="130000"/>
                      </a:schemeClr>
                    </a:gs>
                    <a:gs pos="100000">
                      <a:schemeClr val="accent4">
                        <a:tint val="70000"/>
                        <a:satMod val="200000"/>
                      </a:schemeClr>
                    </a:gs>
                  </a:gsLst>
                  <a:lin ang="5400000"/>
                </a:gradFill>
                <a:effectLst>
                  <a:outerShdw blurRad="88000" dist="50800" dir="5040000" algn="tl">
                    <a:schemeClr val="accent4">
                      <a:tint val="80000"/>
                      <a:satMod val="250000"/>
                      <a:alpha val="45000"/>
                    </a:schemeClr>
                  </a:outerShdw>
                </a:effectLst>
              </a:rPr>
              <a:t>WHOS</a:t>
            </a:r>
            <a:endParaRPr lang="it-IT" sz="5400" b="1" cap="none" spc="0" dirty="0">
              <a:ln>
                <a:prstDash val="solid"/>
              </a:ln>
              <a:gradFill rotWithShape="1">
                <a:gsLst>
                  <a:gs pos="0">
                    <a:schemeClr val="accent4">
                      <a:tint val="70000"/>
                      <a:satMod val="200000"/>
                    </a:schemeClr>
                  </a:gs>
                  <a:gs pos="40000">
                    <a:schemeClr val="accent4">
                      <a:tint val="90000"/>
                      <a:satMod val="130000"/>
                    </a:schemeClr>
                  </a:gs>
                  <a:gs pos="50000">
                    <a:schemeClr val="accent4">
                      <a:tint val="90000"/>
                      <a:satMod val="130000"/>
                    </a:schemeClr>
                  </a:gs>
                  <a:gs pos="68000">
                    <a:schemeClr val="accent4">
                      <a:tint val="90000"/>
                      <a:satMod val="130000"/>
                    </a:schemeClr>
                  </a:gs>
                  <a:gs pos="100000">
                    <a:schemeClr val="accent4">
                      <a:tint val="70000"/>
                      <a:satMod val="200000"/>
                    </a:schemeClr>
                  </a:gs>
                </a:gsLst>
                <a:lin ang="5400000"/>
              </a:gradFill>
              <a:effectLst>
                <a:outerShdw blurRad="88000" dist="50800" dir="5040000" algn="tl">
                  <a:schemeClr val="accent4">
                    <a:tint val="80000"/>
                    <a:satMod val="250000"/>
                    <a:alpha val="45000"/>
                  </a:schemeClr>
                </a:outerShdw>
              </a:effectLst>
            </a:endParaRPr>
          </a:p>
        </p:txBody>
      </p:sp>
      <p:sp>
        <p:nvSpPr>
          <p:cNvPr id="5" name="CasellaDiTesto 4"/>
          <p:cNvSpPr txBox="1"/>
          <p:nvPr/>
        </p:nvSpPr>
        <p:spPr>
          <a:xfrm>
            <a:off x="2548038" y="3374265"/>
            <a:ext cx="4104393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it-IT" b="1" dirty="0" smtClean="0"/>
              <a:t>Big Data </a:t>
            </a:r>
            <a:r>
              <a:rPr lang="it-IT" b="1" dirty="0" err="1" smtClean="0"/>
              <a:t>dimensionalities</a:t>
            </a:r>
            <a:r>
              <a:rPr lang="it-IT" b="1" dirty="0" smtClean="0"/>
              <a:t> </a:t>
            </a:r>
            <a:r>
              <a:rPr lang="it-IT" b="1" dirty="0" err="1" smtClean="0"/>
              <a:t>know</a:t>
            </a:r>
            <a:r>
              <a:rPr lang="it-IT" b="1" dirty="0" smtClean="0"/>
              <a:t> </a:t>
            </a:r>
            <a:r>
              <a:rPr lang="it-IT" b="1" dirty="0" err="1" smtClean="0"/>
              <a:t>as</a:t>
            </a:r>
            <a:r>
              <a:rPr lang="it-IT" b="1" dirty="0" smtClean="0"/>
              <a:t> </a:t>
            </a:r>
            <a:r>
              <a:rPr lang="en-US" b="1" dirty="0" smtClean="0"/>
              <a:t>V axes</a:t>
            </a:r>
          </a:p>
          <a:p>
            <a:pPr algn="ctr"/>
            <a:r>
              <a:rPr lang="en-US" b="1" dirty="0" smtClean="0">
                <a:solidFill>
                  <a:srgbClr val="FF0000"/>
                </a:solidFill>
              </a:rPr>
              <a:t>volume</a:t>
            </a:r>
          </a:p>
          <a:p>
            <a:pPr algn="ctr"/>
            <a:r>
              <a:rPr lang="en-US" b="1" dirty="0" smtClean="0">
                <a:solidFill>
                  <a:srgbClr val="FF0000"/>
                </a:solidFill>
              </a:rPr>
              <a:t>variety</a:t>
            </a:r>
          </a:p>
          <a:p>
            <a:pPr algn="ctr"/>
            <a:r>
              <a:rPr lang="en-US" b="1" dirty="0" smtClean="0">
                <a:solidFill>
                  <a:srgbClr val="FF0000"/>
                </a:solidFill>
              </a:rPr>
              <a:t>velocity</a:t>
            </a:r>
          </a:p>
          <a:p>
            <a:pPr algn="ctr"/>
            <a:r>
              <a:rPr lang="en-US" b="1" dirty="0" smtClean="0">
                <a:solidFill>
                  <a:srgbClr val="FF0000"/>
                </a:solidFill>
              </a:rPr>
              <a:t>veracity</a:t>
            </a:r>
          </a:p>
          <a:p>
            <a:pPr algn="ctr"/>
            <a:r>
              <a:rPr lang="en-US" b="1" dirty="0" smtClean="0">
                <a:solidFill>
                  <a:srgbClr val="FF0000"/>
                </a:solidFill>
              </a:rPr>
              <a:t>visualization</a:t>
            </a:r>
            <a:endParaRPr lang="it-IT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707" name="Picture 3"/>
          <p:cNvPicPr>
            <a:picLocks noChangeAspect="1"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5736" y="908720"/>
            <a:ext cx="4576577" cy="54424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2708" name="Picture 4"/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675071" y="939784"/>
            <a:ext cx="4428811" cy="5400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Title 1"/>
          <p:cNvSpPr txBox="1">
            <a:spLocks/>
          </p:cNvSpPr>
          <p:nvPr/>
        </p:nvSpPr>
        <p:spPr>
          <a:xfrm>
            <a:off x="0" y="89231"/>
            <a:ext cx="9144000" cy="485775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FF"/>
                </a:solidFill>
                <a:effectLst>
                  <a:outerShdw blurRad="38100" dist="25400" dir="2700000" algn="tl" rotWithShape="0">
                    <a:srgbClr val="000000">
                      <a:alpha val="60000"/>
                    </a:srgbClr>
                  </a:outerShdw>
                </a:effectLst>
                <a:uLnTx/>
                <a:uFillTx/>
                <a:latin typeface="Arial" charset="0"/>
                <a:ea typeface="+mn-ea"/>
                <a:cs typeface="+mn-cs"/>
              </a:rPr>
              <a:t>TRAINING</a:t>
            </a:r>
            <a:r>
              <a:rPr kumimoji="0" lang="en-US" sz="2400" b="1" i="0" u="none" strike="noStrike" kern="1200" cap="none" spc="0" normalizeH="0" noProof="0" dirty="0" smtClean="0">
                <a:ln>
                  <a:noFill/>
                </a:ln>
                <a:solidFill>
                  <a:srgbClr val="0000FF"/>
                </a:solidFill>
                <a:effectLst>
                  <a:outerShdw blurRad="38100" dist="25400" dir="2700000" algn="tl" rotWithShape="0">
                    <a:srgbClr val="000000">
                      <a:alpha val="60000"/>
                    </a:srgbClr>
                  </a:outerShdw>
                </a:effectLst>
                <a:uLnTx/>
                <a:uFillTx/>
                <a:latin typeface="Arial" charset="0"/>
                <a:ea typeface="+mn-ea"/>
                <a:cs typeface="+mn-cs"/>
              </a:rPr>
              <a:t> on HYDROLOGIC DATA SHARING</a:t>
            </a:r>
            <a:r>
              <a:rPr kumimoji="0" lang="en-US" sz="2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Avenir LT Std 55 Roman" pitchFamily="34" charset="0"/>
              </a:rPr>
              <a:t/>
            </a:r>
            <a:br>
              <a:rPr kumimoji="0" lang="en-US" sz="2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Avenir LT Std 55 Roman" pitchFamily="34" charset="0"/>
              </a:rPr>
            </a:b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Avenir LT Std 55 Roman" pitchFamily="34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0" y="2766568"/>
            <a:ext cx="9144000" cy="484632"/>
          </a:xfrm>
        </p:spPr>
        <p:txBody>
          <a:bodyPr>
            <a:noAutofit/>
          </a:bodyPr>
          <a:lstStyle/>
          <a:p>
            <a:pPr algn="ctr"/>
            <a:r>
              <a:rPr lang="it-IT" sz="2800" b="1" dirty="0" smtClean="0">
                <a:solidFill>
                  <a:srgbClr val="007AC2"/>
                </a:solidFill>
                <a:cs typeface="Avenir LT Std 85 Heavy"/>
              </a:rPr>
              <a:t>THE REAL ESSENCE OF WHOS</a:t>
            </a:r>
            <a:endParaRPr lang="en-US" sz="2800" b="1" dirty="0">
              <a:solidFill>
                <a:srgbClr val="007AC2"/>
              </a:solidFill>
              <a:cs typeface="Avenir LT Std 85 Heavy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http://epixeirein.gr/wp-content/uploads/2015/01/people-network-960x405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4" descr="http://www.canmaps.com/topomaps/nts50/toporama/orthoimages/094n08.jpg"/>
          <p:cNvPicPr>
            <a:picLocks noChangeAspect="1" noChangeArrowheads="1"/>
          </p:cNvPicPr>
          <p:nvPr/>
        </p:nvPicPr>
        <p:blipFill rotWithShape="1"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-62"/>
          <a:stretch/>
        </p:blipFill>
        <p:spPr bwMode="auto">
          <a:xfrm>
            <a:off x="-77" y="-19600"/>
            <a:ext cx="9144000" cy="6877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ectangle 6"/>
          <p:cNvSpPr/>
          <p:nvPr/>
        </p:nvSpPr>
        <p:spPr>
          <a:xfrm>
            <a:off x="-77" y="-19600"/>
            <a:ext cx="9143923" cy="6877600"/>
          </a:xfrm>
          <a:prstGeom prst="rect">
            <a:avLst/>
          </a:prstGeom>
          <a:blipFill dpi="0" rotWithShape="1">
            <a:blip r:embed="rId5" cstate="print">
              <a:alphaModFix amt="5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8" name="Shape 65"/>
          <p:cNvSpPr txBox="1">
            <a:spLocks/>
          </p:cNvSpPr>
          <p:nvPr/>
        </p:nvSpPr>
        <p:spPr>
          <a:xfrm>
            <a:off x="-77" y="4555067"/>
            <a:ext cx="4406977" cy="2302933"/>
          </a:xfrm>
          <a:prstGeom prst="rect">
            <a:avLst/>
          </a:prstGeom>
          <a:solidFill>
            <a:srgbClr val="99CCFF">
              <a:alpha val="74902"/>
            </a:srgbClr>
          </a:solidFill>
          <a:ln>
            <a:noFill/>
          </a:ln>
        </p:spPr>
        <p:txBody>
          <a:bodyPr lIns="91425" tIns="91425" rIns="91425" bIns="91425" anchor="t" anchorCtr="0">
            <a:noAutofit/>
          </a:bodyPr>
          <a:lstStyle>
            <a:def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lvl="0" indent="0" algn="ctr">
              <a:spcAft>
                <a:spcPts val="1600"/>
              </a:spcAft>
              <a:buClr>
                <a:schemeClr val="dk1"/>
              </a:buClr>
              <a:buSzPct val="100000"/>
              <a:defRPr sz="3600" b="1">
                <a:solidFill>
                  <a:srgbClr val="073661"/>
                </a:solidFill>
                <a:latin typeface="Montserrat"/>
                <a:ea typeface="Montserrat"/>
                <a:cs typeface="Montserrat"/>
              </a:defRPr>
            </a:lvl1pPr>
            <a:lvl2pPr>
              <a:buClr>
                <a:schemeClr val="dk1"/>
              </a:buClr>
              <a:buSzPct val="100000"/>
              <a:defRPr sz="2800">
                <a:solidFill>
                  <a:schemeClr val="dk1"/>
                </a:solidFill>
              </a:defRPr>
            </a:lvl2pPr>
            <a:lvl3pPr>
              <a:buClr>
                <a:schemeClr val="dk1"/>
              </a:buClr>
              <a:buSzPct val="100000"/>
              <a:defRPr sz="2800">
                <a:solidFill>
                  <a:schemeClr val="dk1"/>
                </a:solidFill>
              </a:defRPr>
            </a:lvl3pPr>
            <a:lvl4pPr>
              <a:buClr>
                <a:schemeClr val="dk1"/>
              </a:buClr>
              <a:buSzPct val="100000"/>
              <a:defRPr sz="2800">
                <a:solidFill>
                  <a:schemeClr val="dk1"/>
                </a:solidFill>
              </a:defRPr>
            </a:lvl4pPr>
            <a:lvl5pPr>
              <a:buClr>
                <a:schemeClr val="dk1"/>
              </a:buClr>
              <a:buSzPct val="100000"/>
              <a:defRPr sz="2800">
                <a:solidFill>
                  <a:schemeClr val="dk1"/>
                </a:solidFill>
              </a:defRPr>
            </a:lvl5pPr>
            <a:lvl6pPr>
              <a:buClr>
                <a:schemeClr val="dk1"/>
              </a:buClr>
              <a:buSzPct val="100000"/>
              <a:defRPr sz="2800">
                <a:solidFill>
                  <a:schemeClr val="dk1"/>
                </a:solidFill>
              </a:defRPr>
            </a:lvl6pPr>
            <a:lvl7pPr>
              <a:buClr>
                <a:schemeClr val="dk1"/>
              </a:buClr>
              <a:buSzPct val="100000"/>
              <a:defRPr sz="2800">
                <a:solidFill>
                  <a:schemeClr val="dk1"/>
                </a:solidFill>
              </a:defRPr>
            </a:lvl7pPr>
            <a:lvl8pPr>
              <a:buClr>
                <a:schemeClr val="dk1"/>
              </a:buClr>
              <a:buSzPct val="100000"/>
              <a:defRPr sz="2800">
                <a:solidFill>
                  <a:schemeClr val="dk1"/>
                </a:solidFill>
              </a:defRPr>
            </a:lvl8pPr>
            <a:lvl9pPr>
              <a:buClr>
                <a:schemeClr val="dk1"/>
              </a:buClr>
              <a:buSzPct val="100000"/>
              <a:defRPr sz="2800">
                <a:solidFill>
                  <a:schemeClr val="dk1"/>
                </a:solidFill>
              </a:defRPr>
            </a:lvl9pPr>
          </a:lstStyle>
          <a:p>
            <a:pPr algn="l"/>
            <a:r>
              <a:rPr lang="en-US" dirty="0" smtClean="0">
                <a:sym typeface="Montserrat"/>
              </a:rPr>
              <a:t>Linking people everywhere with hydrologic data, maps and models</a:t>
            </a:r>
            <a:endParaRPr lang="en-GB" dirty="0">
              <a:sym typeface="Montserrat"/>
            </a:endParaRPr>
          </a:p>
        </p:txBody>
      </p:sp>
    </p:spTree>
    <p:extLst>
      <p:ext uri="{BB962C8B-B14F-4D97-AF65-F5344CB8AC3E}">
        <p14:creationId xmlns:p14="http://schemas.microsoft.com/office/powerpoint/2010/main" val="3613781641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Risultati immagini per arcobaleno foto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44000" cy="4365104"/>
          </a:xfrm>
          <a:prstGeom prst="rect">
            <a:avLst/>
          </a:prstGeom>
          <a:noFill/>
        </p:spPr>
      </p:pic>
      <p:sp>
        <p:nvSpPr>
          <p:cNvPr id="2" name="Rettangolo 1"/>
          <p:cNvSpPr/>
          <p:nvPr/>
        </p:nvSpPr>
        <p:spPr>
          <a:xfrm>
            <a:off x="0" y="188640"/>
            <a:ext cx="9144000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it-IT" sz="4000" b="1" dirty="0" err="1" smtClean="0">
                <a:solidFill>
                  <a:schemeClr val="bg1"/>
                </a:solidFill>
                <a:latin typeface="Bradley Hand ITC" pitchFamily="66" charset="0"/>
              </a:rPr>
              <a:t>looking</a:t>
            </a:r>
            <a:r>
              <a:rPr lang="it-IT" sz="4000" b="1" dirty="0" smtClean="0">
                <a:solidFill>
                  <a:schemeClr val="bg1"/>
                </a:solidFill>
                <a:latin typeface="Bradley Hand ITC" pitchFamily="66" charset="0"/>
              </a:rPr>
              <a:t> </a:t>
            </a:r>
            <a:r>
              <a:rPr lang="it-IT" sz="4000" b="1" dirty="0" err="1" smtClean="0">
                <a:solidFill>
                  <a:schemeClr val="bg1"/>
                </a:solidFill>
                <a:latin typeface="Bradley Hand ITC" pitchFamily="66" charset="0"/>
              </a:rPr>
              <a:t>for</a:t>
            </a:r>
            <a:r>
              <a:rPr lang="it-IT" sz="4000" b="1" dirty="0" smtClean="0">
                <a:solidFill>
                  <a:schemeClr val="bg1"/>
                </a:solidFill>
                <a:latin typeface="Bradley Hand ITC" pitchFamily="66" charset="0"/>
              </a:rPr>
              <a:t> </a:t>
            </a:r>
          </a:p>
          <a:p>
            <a:r>
              <a:rPr lang="it-IT" sz="4000" b="1" dirty="0" err="1" smtClean="0">
                <a:solidFill>
                  <a:schemeClr val="bg1"/>
                </a:solidFill>
                <a:latin typeface="Bradley Hand ITC" pitchFamily="66" charset="0"/>
              </a:rPr>
              <a:t>hydrological</a:t>
            </a:r>
            <a:r>
              <a:rPr lang="it-IT" sz="4000" b="1" dirty="0" smtClean="0">
                <a:solidFill>
                  <a:schemeClr val="bg1"/>
                </a:solidFill>
                <a:latin typeface="Bradley Hand ITC" pitchFamily="66" charset="0"/>
              </a:rPr>
              <a:t> data?</a:t>
            </a:r>
            <a:endParaRPr lang="it-IT" sz="4000" b="1" dirty="0">
              <a:solidFill>
                <a:schemeClr val="bg1"/>
              </a:solidFill>
              <a:latin typeface="Bradley Hand ITC" pitchFamily="66" charset="0"/>
            </a:endParaRPr>
          </a:p>
        </p:txBody>
      </p:sp>
      <p:pic>
        <p:nvPicPr>
          <p:cNvPr id="5" name="Immagine 4" descr="240_F_70916898_2BP2gH1GTkEtgih5F34gjwLpB2L3XQ6P.jp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0" y="4365104"/>
            <a:ext cx="3657600" cy="2492896"/>
          </a:xfrm>
          <a:prstGeom prst="rect">
            <a:avLst/>
          </a:prstGeom>
        </p:spPr>
      </p:pic>
      <p:sp>
        <p:nvSpPr>
          <p:cNvPr id="3" name="Rettangolo 2"/>
          <p:cNvSpPr/>
          <p:nvPr/>
        </p:nvSpPr>
        <p:spPr>
          <a:xfrm>
            <a:off x="971600" y="5589240"/>
            <a:ext cx="244827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it-IT" sz="2400" dirty="0" smtClean="0">
                <a:solidFill>
                  <a:srgbClr val="FF0000"/>
                </a:solidFill>
              </a:rPr>
              <a:t>STAY SUNNY USE</a:t>
            </a:r>
            <a:endParaRPr lang="it-IT" sz="2400" dirty="0">
              <a:solidFill>
                <a:srgbClr val="FF0000"/>
              </a:solidFill>
            </a:endParaRPr>
          </a:p>
        </p:txBody>
      </p:sp>
      <p:pic>
        <p:nvPicPr>
          <p:cNvPr id="6" name="Immagine 5" descr="WHOS senza sfondo.pn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3491880" y="4941168"/>
            <a:ext cx="5328592" cy="1542667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wmo2016_powerpoint_standard_v2.jpg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7" name="Title 1"/>
          <p:cNvSpPr txBox="1">
            <a:spLocks/>
          </p:cNvSpPr>
          <p:nvPr/>
        </p:nvSpPr>
        <p:spPr>
          <a:xfrm>
            <a:off x="457200" y="2002370"/>
            <a:ext cx="8229600" cy="18408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800" dirty="0">
                <a:solidFill>
                  <a:srgbClr val="000090"/>
                </a:solidFill>
              </a:rPr>
              <a:t>Thank you for your attention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59AF2F-52C6-9B46-B8B2-0579234AE62E}" type="slidenum">
              <a:rPr lang="en-US" smtClean="0"/>
              <a:pPr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2284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WMO_WHITE_Powerpoint_en_fr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WMO_WHITE_Powerpoint_en_fr</Template>
  <TotalTime>582</TotalTime>
  <Words>367</Words>
  <Application>Microsoft Macintosh PowerPoint</Application>
  <PresentationFormat>On-screen Show (4:3)</PresentationFormat>
  <Paragraphs>176</Paragraphs>
  <Slides>44</Slides>
  <Notes>15</Notes>
  <HiddenSlides>0</HiddenSlides>
  <MMClips>0</MMClips>
  <ScaleCrop>false</ScaleCrop>
  <HeadingPairs>
    <vt:vector size="8" baseType="variant">
      <vt:variant>
        <vt:lpstr>Fonts Used</vt:lpstr>
      </vt:variant>
      <vt:variant>
        <vt:i4>13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44</vt:i4>
      </vt:variant>
    </vt:vector>
  </HeadingPairs>
  <TitlesOfParts>
    <vt:vector size="59" baseType="lpstr">
      <vt:lpstr>Algerian</vt:lpstr>
      <vt:lpstr>Avenir LT Std 55 Roman</vt:lpstr>
      <vt:lpstr>Avenir LT Std 85 Heavy</vt:lpstr>
      <vt:lpstr>Bradley Hand ITC</vt:lpstr>
      <vt:lpstr>Calibri</vt:lpstr>
      <vt:lpstr>Comic Sans MS</vt:lpstr>
      <vt:lpstr>Corbel</vt:lpstr>
      <vt:lpstr>Montserrat</vt:lpstr>
      <vt:lpstr>MS PGothic</vt:lpstr>
      <vt:lpstr>ＭＳ Ｐゴシック</vt:lpstr>
      <vt:lpstr>Tahoma</vt:lpstr>
      <vt:lpstr>Trebuchet MS</vt:lpstr>
      <vt:lpstr>Arial</vt:lpstr>
      <vt:lpstr>WMO_WHITE_Powerpoint_en_fr</vt:lpstr>
      <vt:lpstr>Visio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The Road Further Ahead in Hydrology</vt:lpstr>
      <vt:lpstr>WHOS Architecture Overview</vt:lpstr>
      <vt:lpstr>WaterML2 and SOS2</vt:lpstr>
      <vt:lpstr>PowerPoint Presentation</vt:lpstr>
      <vt:lpstr>STANDARDIZED DATA EXCHANGE IN HYDROLOGY</vt:lpstr>
      <vt:lpstr>PowerPoint Presentation</vt:lpstr>
      <vt:lpstr>HYDROLOGICAL APPLICATIONS</vt:lpstr>
      <vt:lpstr>PowerPoint Presentation</vt:lpstr>
      <vt:lpstr>PowerPoint Presentation</vt:lpstr>
      <vt:lpstr>PowerPoint Presentation</vt:lpstr>
      <vt:lpstr>Archive use case analysis</vt:lpstr>
      <vt:lpstr>PowerPoint Presentation</vt:lpstr>
      <vt:lpstr>PowerPoint Presentation</vt:lpstr>
      <vt:lpstr>PowerPoint Presentation</vt:lpstr>
      <vt:lpstr>PowerPoint Presentation</vt:lpstr>
      <vt:lpstr>WIGOS Metadata Standard - Approved at Cg-17 June 2015</vt:lpstr>
      <vt:lpstr>OSCAR quick access &amp; reports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THE REAL ESSENCE OF WHOS</vt:lpstr>
      <vt:lpstr>PowerPoint Presentation</vt:lpstr>
      <vt:lpstr>PowerPoint Presentation</vt:lpstr>
      <vt:lpstr>PowerPoint Presentation</vt:lpstr>
    </vt:vector>
  </TitlesOfParts>
  <Company>World Meteorological Organization</Company>
  <LinksUpToDate>false</LinksUpToDate>
  <SharedDoc>false</SharedDoc>
  <HyperlinksChanged>false</HyperlinksChanged>
  <AppVersion>15.0035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David Thomas</dc:creator>
  <cp:lastModifiedBy>Tony Boston</cp:lastModifiedBy>
  <cp:revision>113</cp:revision>
  <dcterms:created xsi:type="dcterms:W3CDTF">2016-08-17T13:13:24Z</dcterms:created>
  <dcterms:modified xsi:type="dcterms:W3CDTF">2017-06-20T18:15:57Z</dcterms:modified>
</cp:coreProperties>
</file>