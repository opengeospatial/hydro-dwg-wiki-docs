
<file path=[Content_Types].xml><?xml version="1.0" encoding="utf-8"?>
<Types xmlns="http://schemas.openxmlformats.org/package/2006/content-types">
  <Default Extension="rels" ContentType="application/vnd.openxmlformats-package.relationships+xml"/>
  <Override PartName="/ppt/slideLayouts/slideLayout1.xml" ContentType="application/vnd.openxmlformats-officedocument.presentationml.slideLayout+xml"/>
  <Default Extension="png" ContentType="image/png"/>
  <Default Extension="xml" ContentType="application/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8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theme/theme2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Default Extension="bin" ContentType="application/vnd.openxmlformats-officedocument.presentationml.printerSettings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s/slide6.xml" ContentType="application/vnd.openxmlformats-officedocument.presentationml.slide+xml"/>
  <Default Extension="pdf" ContentType="application/pdf"/>
  <Override PartName="/ppt/notesMasters/notesMaster1.xml" ContentType="application/vnd.openxmlformats-officedocument.presentationml.notesMaster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Layouts/slideLayout3.xml" ContentType="application/vnd.openxmlformats-officedocument.presentationml.slideLayout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63" r:id="rId3"/>
    <p:sldId id="257" r:id="rId4"/>
    <p:sldId id="264" r:id="rId5"/>
    <p:sldId id="258" r:id="rId6"/>
    <p:sldId id="259" r:id="rId7"/>
    <p:sldId id="260" r:id="rId8"/>
    <p:sldId id="262" r:id="rId9"/>
    <p:sldId id="26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-1144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6D574B-5B85-0B44-8557-5C015E965FE1}" type="datetimeFigureOut">
              <a:rPr lang="en-US" smtClean="0"/>
              <a:pPr/>
              <a:t>3/19/12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20CD87-BF45-9B41-9AF5-9DA4A92F06A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20CD87-BF45-9B41-9AF5-9DA4A92F06A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404813" y="6083300"/>
            <a:ext cx="201612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r="http://schemas.openxmlformats.org/officeDocument/2006/relationships" xmlns:mc="http://schemas.openxmlformats.org/markup-compatibility/2006" xmlns:mv="urn:schemas-microsoft-com:mac:vml" xmlns:a14="http://schemas.microsoft.com/office/drawing/2010/main" xmlns:a="http://schemas.openxmlformats.org/drawingml/2006/main" xmlns:p="http://schemas.openxmlformats.org/presentation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r="http://schemas.openxmlformats.org/officeDocument/2006/relationships" xmlns:mc="http://schemas.openxmlformats.org/markup-compatibility/2006" xmlns:mv="urn:schemas-microsoft-com:mac:vml" xmlns:a14="http://schemas.microsoft.com/office/drawing/2010/main" xmlns:a="http://schemas.openxmlformats.org/drawingml/2006/main" xmlns:p="http://schemas.openxmlformats.org/presentationml/2006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r="http://schemas.openxmlformats.org/officeDocument/2006/relationships" xmlns:mc="http://schemas.openxmlformats.org/markup-compatibility/2006" xmlns:mv="urn:schemas-microsoft-com:mac:vml" xmlns:a14="http://schemas.microsoft.com/office/drawing/2010/main" xmlns:a="http://schemas.openxmlformats.org/drawingml/2006/main" xmlns:p="http://schemas.openxmlformats.org/presentationml/2006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8900" tIns="44450" rIns="88900" bIns="44450">
            <a:spAutoFit/>
          </a:bodyPr>
          <a:lstStyle/>
          <a:p>
            <a:pPr defTabSz="885825">
              <a:defRPr/>
            </a:pPr>
            <a:r>
              <a:rPr lang="en-US" altLang="en-US" sz="1000" b="1">
                <a:solidFill>
                  <a:schemeClr val="bg1"/>
                </a:solidFill>
                <a:ea typeface="ＭＳ Ｐゴシック" charset="0"/>
                <a:cs typeface="+mn-cs"/>
              </a:rPr>
              <a:t>U.S. Department of the Interior</a:t>
            </a:r>
          </a:p>
          <a:p>
            <a:pPr defTabSz="885825">
              <a:defRPr/>
            </a:pPr>
            <a:r>
              <a:rPr lang="en-US" altLang="en-US" sz="1000" b="1">
                <a:solidFill>
                  <a:schemeClr val="bg1"/>
                </a:solidFill>
                <a:ea typeface="ＭＳ Ｐゴシック" charset="0"/>
                <a:cs typeface="+mn-cs"/>
              </a:rPr>
              <a:t>U.S. Geological Survey</a:t>
            </a:r>
          </a:p>
        </p:txBody>
      </p:sp>
      <p:pic>
        <p:nvPicPr>
          <p:cNvPr id="5" name="Picture 9" descr="D:\Vugraph Info\Vugraph Templates\Templates-NEW-NMP and Bureau\ident_4_onscreen_png.png"/>
          <p:cNvPicPr>
            <a:picLocks noChangeAspect="1" noChangeArrowheads="1"/>
          </p:cNvPicPr>
          <p:nvPr/>
        </p:nvPicPr>
        <p:blipFill>
          <a:blip r:embed="rId2">
            <a:lum bright="100000"/>
          </a:blip>
          <a:srcRect/>
          <a:stretch>
            <a:fillRect/>
          </a:stretch>
        </p:blipFill>
        <p:spPr bwMode="black">
          <a:xfrm>
            <a:off x="457200" y="461963"/>
            <a:ext cx="2057400" cy="757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4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2286000"/>
            <a:ext cx="8305800" cy="1143000"/>
          </a:xfrm>
        </p:spPr>
        <p:txBody>
          <a:bodyPr/>
          <a:lstStyle>
            <a:lvl1pPr>
              <a:defRPr sz="4400"/>
            </a:lvl1pPr>
          </a:lstStyle>
          <a:p>
            <a:pPr lvl="0"/>
            <a:r>
              <a:rPr lang="en-US" altLang="en-US" noProof="0" smtClean="0"/>
              <a:t>Click to edit Master title style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3886200"/>
            <a:ext cx="8305800" cy="17526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40767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0767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152400"/>
            <a:ext cx="2076450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07695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rgbClr val="002F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305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r="http://schemas.openxmlformats.org/officeDocument/2006/relationships" xmlns:mc="http://schemas.openxmlformats.org/markup-compatibility/2006" xmlns:mv="urn:schemas-microsoft-com:mac:vml" xmlns:a14="http://schemas.microsoft.com/office/drawing/2010/main" xmlns:a="http://schemas.openxmlformats.org/drawingml/2006/main" xmlns:p="http://schemas.openxmlformats.org/presentation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r="http://schemas.openxmlformats.org/officeDocument/2006/relationships" xmlns:mc="http://schemas.openxmlformats.org/markup-compatibility/2006" xmlns:mv="urn:schemas-microsoft-com:mac:vml" xmlns:a14="http://schemas.microsoft.com/office/drawing/2010/main" xmlns:a="http://schemas.openxmlformats.org/drawingml/2006/main" xmlns:p="http://schemas.openxmlformats.org/presentationml/2006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r="http://schemas.openxmlformats.org/officeDocument/2006/relationships" xmlns:mc="http://schemas.openxmlformats.org/markup-compatibility/2006" xmlns:mv="urn:schemas-microsoft-com:mac:vml" xmlns:a14="http://schemas.microsoft.com/office/drawing/2010/main" xmlns:a="http://schemas.openxmlformats.org/drawingml/2006/main" xmlns:p="http://schemas.openxmlformats.org/presentationml/2006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r="http://schemas.openxmlformats.org/officeDocument/2006/relationships" xmlns:mc="http://schemas.openxmlformats.org/markup-compatibility/2006" xmlns:mv="urn:schemas-microsoft-com:mac:vml" xmlns:ma14="http://schemas.microsoft.com/office/mac/drawingml/2011/main" xmlns:a="http://schemas.openxmlformats.org/drawingml/2006/main" xmlns:p="http://schemas.openxmlformats.org/presentationml/2006/main" xmlns="" val="1"/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71600"/>
            <a:ext cx="83058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r="http://schemas.openxmlformats.org/officeDocument/2006/relationships" xmlns:mc="http://schemas.openxmlformats.org/markup-compatibility/2006" xmlns:mv="urn:schemas-microsoft-com:mac:vml" xmlns:a14="http://schemas.microsoft.com/office/drawing/2010/main" xmlns:a="http://schemas.openxmlformats.org/drawingml/2006/main" xmlns:p="http://schemas.openxmlformats.org/presentation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r="http://schemas.openxmlformats.org/officeDocument/2006/relationships" xmlns:mc="http://schemas.openxmlformats.org/markup-compatibility/2006" xmlns:mv="urn:schemas-microsoft-com:mac:vml" xmlns:a14="http://schemas.microsoft.com/office/drawing/2010/main" xmlns:a="http://schemas.openxmlformats.org/drawingml/2006/main" xmlns:p="http://schemas.openxmlformats.org/presentationml/2006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r="http://schemas.openxmlformats.org/officeDocument/2006/relationships" xmlns:mc="http://schemas.openxmlformats.org/markup-compatibility/2006" xmlns:mv="urn:schemas-microsoft-com:mac:vml" xmlns:a14="http://schemas.microsoft.com/office/drawing/2010/main" xmlns:a="http://schemas.openxmlformats.org/drawingml/2006/main" xmlns:p="http://schemas.openxmlformats.org/presentationml/2006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r="http://schemas.openxmlformats.org/officeDocument/2006/relationships" xmlns:mc="http://schemas.openxmlformats.org/markup-compatibility/2006" xmlns:mv="urn:schemas-microsoft-com:mac:vml" xmlns:ma14="http://schemas.microsoft.com/office/mac/drawingml/2011/main" xmlns:a="http://schemas.openxmlformats.org/drawingml/2006/main" xmlns:p="http://schemas.openxmlformats.org/presentationml/2006/main" xmlns="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First level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11" descr="D:\Vugraph Info\Vugraph Templates\Templates-NEW-NMP and Bureau\ident-small_4_onscreen_png.png"/>
          <p:cNvPicPr>
            <a:picLocks noChangeAspect="1" noChangeArrowheads="1"/>
          </p:cNvPicPr>
          <p:nvPr/>
        </p:nvPicPr>
        <p:blipFill>
          <a:blip r:embed="rId13">
            <a:lum bright="100000"/>
          </a:blip>
          <a:srcRect/>
          <a:stretch>
            <a:fillRect/>
          </a:stretch>
        </p:blipFill>
        <p:spPr bwMode="black">
          <a:xfrm>
            <a:off x="457200" y="6094413"/>
            <a:ext cx="1143000" cy="420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+mj-lt"/>
          <a:ea typeface="+mj-ea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sz="2800" b="1">
          <a:solidFill>
            <a:schemeClr val="bg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sz="2400" b="1">
          <a:solidFill>
            <a:schemeClr val="bg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sz="2000" b="1">
          <a:solidFill>
            <a:schemeClr val="bg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b="1">
          <a:solidFill>
            <a:schemeClr val="bg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b="1">
          <a:solidFill>
            <a:schemeClr val="bg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b="1">
          <a:solidFill>
            <a:schemeClr val="bg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b="1">
          <a:solidFill>
            <a:schemeClr val="bg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b="1">
          <a:solidFill>
            <a:schemeClr val="bg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b="1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df"/><Relationship Id="rId3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df"/><Relationship Id="rId3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US </a:t>
            </a:r>
            <a:r>
              <a:rPr lang="en-US" dirty="0" err="1" smtClean="0"/>
              <a:t>WaterSmart</a:t>
            </a:r>
            <a:r>
              <a:rPr lang="en-US" dirty="0" smtClean="0"/>
              <a:t> Water Census Portal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Platform for Modeled and Observed Water </a:t>
            </a:r>
            <a:r>
              <a:rPr lang="en-US" dirty="0" smtClean="0"/>
              <a:t>Data</a:t>
            </a:r>
          </a:p>
          <a:p>
            <a:endParaRPr lang="en-US" dirty="0" smtClean="0"/>
          </a:p>
          <a:p>
            <a:r>
              <a:rPr lang="en-US" dirty="0" smtClean="0"/>
              <a:t>David L Blodgett, U.S. Geological Survey</a:t>
            </a:r>
          </a:p>
          <a:p>
            <a:r>
              <a:rPr lang="en-US" dirty="0" smtClean="0"/>
              <a:t>OGC TC Austin, 3/19/2012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alphaModFix amt="59000"/>
          </a:blip>
          <a:stretch>
            <a:fillRect/>
          </a:stretch>
        </p:blipFill>
        <p:spPr>
          <a:xfrm>
            <a:off x="6517446" y="126592"/>
            <a:ext cx="2498638" cy="13909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Scope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Provide a national web portal for information about water availability, quality, and ecological integrity.</a:t>
            </a:r>
          </a:p>
          <a:p>
            <a:endParaRPr lang="en-US" dirty="0" smtClean="0"/>
          </a:p>
          <a:p>
            <a:r>
              <a:rPr lang="en-US" dirty="0" smtClean="0"/>
              <a:t>Build a platform for nationally consistent multi-scale hydrologic and related modeling support.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8177"/>
            <a:ext cx="8305800" cy="1143000"/>
          </a:xfrm>
        </p:spPr>
        <p:txBody>
          <a:bodyPr/>
          <a:lstStyle/>
          <a:p>
            <a:r>
              <a:rPr lang="en-US" dirty="0" smtClean="0"/>
              <a:t>Near Term Project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999" y="1221177"/>
            <a:ext cx="8492907" cy="4495800"/>
          </a:xfrm>
        </p:spPr>
        <p:txBody>
          <a:bodyPr/>
          <a:lstStyle/>
          <a:p>
            <a:r>
              <a:rPr lang="en-US" dirty="0" smtClean="0"/>
              <a:t>Develop a public web portal to serve daily flow estimates and stats at </a:t>
            </a:r>
            <a:r>
              <a:rPr lang="en-US" dirty="0" err="1" smtClean="0"/>
              <a:t>ungauged</a:t>
            </a:r>
            <a:r>
              <a:rPr lang="en-US" dirty="0" smtClean="0"/>
              <a:t> sites.</a:t>
            </a:r>
          </a:p>
          <a:p>
            <a:pPr lvl="1"/>
            <a:r>
              <a:rPr lang="en-US" dirty="0" smtClean="0"/>
              <a:t>Initially support model </a:t>
            </a:r>
            <a:r>
              <a:rPr lang="en-US" dirty="0" err="1" smtClean="0"/>
              <a:t>intercomparison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Extend to offer hydro/eco statistical indicators.</a:t>
            </a:r>
          </a:p>
          <a:p>
            <a:pPr lvl="1"/>
            <a:r>
              <a:rPr lang="en-US" dirty="0" smtClean="0"/>
              <a:t>Provide access to ecologically relevant data.</a:t>
            </a:r>
          </a:p>
          <a:p>
            <a:pPr lvl="2"/>
            <a:r>
              <a:rPr lang="en-US" dirty="0" smtClean="0"/>
              <a:t>Aquatic biology and QW data via OGC-service stack.</a:t>
            </a:r>
          </a:p>
          <a:p>
            <a:r>
              <a:rPr lang="en-US" dirty="0" smtClean="0"/>
              <a:t>Enhanced hydrologic model creation methods.</a:t>
            </a:r>
          </a:p>
          <a:p>
            <a:pPr lvl="1"/>
            <a:r>
              <a:rPr lang="en-US" dirty="0" smtClean="0"/>
              <a:t>Web Processing Service “data brokering”</a:t>
            </a:r>
          </a:p>
          <a:p>
            <a:pPr lvl="1"/>
            <a:r>
              <a:rPr lang="en-US" dirty="0" smtClean="0"/>
              <a:t>Services to support integration of Bio/Eco data</a:t>
            </a:r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05800" cy="878413"/>
          </a:xfrm>
        </p:spPr>
        <p:txBody>
          <a:bodyPr/>
          <a:lstStyle/>
          <a:p>
            <a:r>
              <a:rPr lang="en-US" dirty="0" smtClean="0"/>
              <a:t>Decision Support for Eco-Flows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30813"/>
            <a:ext cx="8305800" cy="4836587"/>
          </a:xfrm>
        </p:spPr>
        <p:txBody>
          <a:bodyPr/>
          <a:lstStyle/>
          <a:p>
            <a:r>
              <a:rPr lang="en-US" dirty="0" smtClean="0"/>
              <a:t>Currently scoping work to integrate aquatic biology and water quality data with </a:t>
            </a:r>
            <a:r>
              <a:rPr lang="en-US" dirty="0" err="1" smtClean="0"/>
              <a:t>ungauged</a:t>
            </a:r>
            <a:r>
              <a:rPr lang="en-US" dirty="0" smtClean="0"/>
              <a:t> flow estimates.</a:t>
            </a:r>
          </a:p>
          <a:p>
            <a:r>
              <a:rPr lang="en-US" dirty="0" smtClean="0"/>
              <a:t>Based on work done to integrate STORET and NWIS/QW (WQP)</a:t>
            </a:r>
          </a:p>
          <a:p>
            <a:r>
              <a:rPr lang="en-US" dirty="0" smtClean="0"/>
              <a:t>The US </a:t>
            </a:r>
            <a:r>
              <a:rPr lang="en-US" dirty="0" err="1" smtClean="0"/>
              <a:t>BioData/BioShare</a:t>
            </a:r>
            <a:r>
              <a:rPr lang="en-US" dirty="0" smtClean="0"/>
              <a:t> program plans to build standard services for aquatic biology</a:t>
            </a:r>
          </a:p>
          <a:p>
            <a:pPr lvl="1"/>
            <a:r>
              <a:rPr lang="en-US" dirty="0" smtClean="0"/>
              <a:t>Implementation will support both enterprise and “project-level” data systems (based on </a:t>
            </a:r>
            <a:r>
              <a:rPr lang="en-US" dirty="0" err="1" smtClean="0"/>
              <a:t>GeoServer</a:t>
            </a:r>
            <a:r>
              <a:rPr lang="en-US" dirty="0" smtClean="0"/>
              <a:t>)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ctor_block_diagram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780397" y="955292"/>
            <a:ext cx="7767160" cy="57837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05800" cy="944385"/>
          </a:xfrm>
        </p:spPr>
        <p:txBody>
          <a:bodyPr/>
          <a:lstStyle/>
          <a:p>
            <a:r>
              <a:rPr lang="en-US" dirty="0" smtClean="0"/>
              <a:t>High level conceptual architecture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aterSmart_specific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2250729" y="1295400"/>
            <a:ext cx="4447048" cy="4953000"/>
          </a:xfrm>
          <a:prstGeom prst="rect">
            <a:avLst/>
          </a:prstGeom>
        </p:spPr>
      </p:pic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WaterSmart</a:t>
            </a:r>
            <a:r>
              <a:rPr lang="en-US" dirty="0" smtClean="0"/>
              <a:t> Specific Architecture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Modeling-decision support lifecycle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999" y="1371600"/>
            <a:ext cx="8305801" cy="4495800"/>
          </a:xfrm>
        </p:spPr>
        <p:txBody>
          <a:bodyPr/>
          <a:lstStyle/>
          <a:p>
            <a:pPr marL="514350" indent="-514350">
              <a:spcBef>
                <a:spcPts val="2472"/>
              </a:spcBef>
              <a:buFont typeface="+mj-lt"/>
              <a:buAutoNum type="arabicPeriod"/>
            </a:pPr>
            <a:r>
              <a:rPr lang="en-US" dirty="0" smtClean="0"/>
              <a:t>Models built using enterprise data and services.</a:t>
            </a:r>
          </a:p>
          <a:p>
            <a:pPr marL="514350" indent="-514350">
              <a:spcBef>
                <a:spcPts val="2472"/>
              </a:spcBef>
              <a:buFont typeface="+mj-lt"/>
              <a:buAutoNum type="arabicPeriod"/>
            </a:pPr>
            <a:r>
              <a:rPr lang="en-US" dirty="0" smtClean="0"/>
              <a:t>Calibrated model parameters and output contributed back to community portal.</a:t>
            </a:r>
          </a:p>
          <a:p>
            <a:pPr marL="514350" indent="-514350">
              <a:spcBef>
                <a:spcPts val="2472"/>
              </a:spcBef>
              <a:buFont typeface="+mj-lt"/>
              <a:buAutoNum type="arabicPeriod"/>
            </a:pPr>
            <a:r>
              <a:rPr lang="en-US" dirty="0" smtClean="0"/>
              <a:t>Model input and output tracked and available to decision support via common standards.</a:t>
            </a:r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Screen shot 2012-03-16 at 1.11.37 PM.png"/>
          <p:cNvPicPr>
            <a:picLocks noGrp="1" noChangeAspect="1"/>
          </p:cNvPicPr>
          <p:nvPr>
            <p:ph idx="1"/>
          </p:nvPr>
        </p:nvPicPr>
        <p:blipFill>
          <a:blip r:embed="rId2"/>
          <a:srcRect l="-77" r="-44"/>
          <a:stretch>
            <a:fillRect/>
          </a:stretch>
        </p:blipFill>
        <p:spPr>
          <a:xfrm>
            <a:off x="375994" y="191362"/>
            <a:ext cx="8455720" cy="5810665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Service Integrations to Note: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3000"/>
              </a:spcAft>
            </a:pPr>
            <a:r>
              <a:rPr lang="en-US" dirty="0" smtClean="0"/>
              <a:t>ISO 19115/119-CSW Metadata Drives App.</a:t>
            </a:r>
          </a:p>
          <a:p>
            <a:pPr>
              <a:spcAft>
                <a:spcPts val="3000"/>
              </a:spcAft>
            </a:pPr>
            <a:r>
              <a:rPr lang="en-US" dirty="0" smtClean="0"/>
              <a:t>Feature time series – WMS/WFS and SOS.</a:t>
            </a:r>
          </a:p>
          <a:p>
            <a:pPr>
              <a:spcAft>
                <a:spcPts val="3000"/>
              </a:spcAft>
            </a:pPr>
            <a:r>
              <a:rPr lang="en-US" dirty="0" smtClean="0"/>
              <a:t>WPS outputs SOS or other web service.</a:t>
            </a:r>
          </a:p>
          <a:p>
            <a:pPr>
              <a:spcAft>
                <a:spcPts val="3000"/>
              </a:spcAft>
            </a:pPr>
            <a:r>
              <a:rPr lang="en-US" dirty="0" smtClean="0"/>
              <a:t>WPS “data-broker” consumes SOS to calculate Hydro/Eco statistics.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GS_2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Desktop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:a="http://schemas.openxmlformats.org/drawingml/2006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:a="http://schemas.openxmlformats.org/drawingml/2006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Deskt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ktop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ktop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ktop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ktop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ktop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ktop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USGS.thmx</Template>
  <TotalTime>256</TotalTime>
  <Words>300</Words>
  <Application>Microsoft Macintosh PowerPoint</Application>
  <PresentationFormat>On-screen Show (4:3)</PresentationFormat>
  <Paragraphs>35</Paragraphs>
  <Slides>9</Slides>
  <Notes>1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USGS_2</vt:lpstr>
      <vt:lpstr>US WaterSmart Water Census Portal</vt:lpstr>
      <vt:lpstr>Project Scope</vt:lpstr>
      <vt:lpstr>Near Term Project Objectives</vt:lpstr>
      <vt:lpstr>Decision Support for Eco-Flows</vt:lpstr>
      <vt:lpstr>High level conceptual architecture</vt:lpstr>
      <vt:lpstr>WaterSmart Specific Architecture</vt:lpstr>
      <vt:lpstr>Modeling-decision support lifecycle</vt:lpstr>
      <vt:lpstr>Slide 8</vt:lpstr>
      <vt:lpstr>Service Integrations to Note:</vt:lpstr>
    </vt:vector>
  </TitlesOfParts>
  <Company>US Geological Survey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David Blodgett</dc:creator>
  <cp:lastModifiedBy>David Blodgett</cp:lastModifiedBy>
  <cp:revision>8</cp:revision>
  <dcterms:created xsi:type="dcterms:W3CDTF">2012-03-19T18:34:16Z</dcterms:created>
  <dcterms:modified xsi:type="dcterms:W3CDTF">2012-03-19T18:35:03Z</dcterms:modified>
</cp:coreProperties>
</file>