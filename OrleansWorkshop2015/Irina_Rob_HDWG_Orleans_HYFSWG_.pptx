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4" r:id="rId1"/>
  </p:sldMasterIdLst>
  <p:notesMasterIdLst>
    <p:notesMasterId r:id="rId14"/>
  </p:notesMasterIdLst>
  <p:handoutMasterIdLst>
    <p:handoutMasterId r:id="rId15"/>
  </p:handoutMasterIdLst>
  <p:sldIdLst>
    <p:sldId id="256" r:id="rId2"/>
    <p:sldId id="430" r:id="rId3"/>
    <p:sldId id="431" r:id="rId4"/>
    <p:sldId id="433" r:id="rId5"/>
    <p:sldId id="434" r:id="rId6"/>
    <p:sldId id="432" r:id="rId7"/>
    <p:sldId id="428" r:id="rId8"/>
    <p:sldId id="429" r:id="rId9"/>
    <p:sldId id="325" r:id="rId10"/>
    <p:sldId id="435" r:id="rId11"/>
    <p:sldId id="356" r:id="rId12"/>
    <p:sldId id="407" r:id="rId13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CCFF"/>
    <a:srgbClr val="FFFFFF"/>
    <a:srgbClr val="092E5C"/>
    <a:srgbClr val="B2B2B2"/>
    <a:srgbClr val="0000FF"/>
    <a:srgbClr val="0000CC"/>
    <a:srgbClr val="C3DBF9"/>
    <a:srgbClr val="CC99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8" autoAdjust="0"/>
    <p:restoredTop sz="87244" autoAdjust="0"/>
  </p:normalViewPr>
  <p:slideViewPr>
    <p:cSldViewPr showGuides="1">
      <p:cViewPr>
        <p:scale>
          <a:sx n="100" d="100"/>
          <a:sy n="100" d="100"/>
        </p:scale>
        <p:origin x="-107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339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339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E172AEAA-A912-41BA-91FC-FF7763BC90F3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50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339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565" y="4716250"/>
            <a:ext cx="4984545" cy="446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339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C123297-CA6C-48F9-94E3-71CDB3C52E8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27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534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b="0" smtClean="0">
              <a:solidFill>
                <a:schemeClr val="tx2"/>
              </a:solidFill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smtClean="0">
                <a:solidFill>
                  <a:schemeClr val="tx2"/>
                </a:solidFill>
              </a:rPr>
              <a:t>so that conceptual issues can be addressed separate from the GML schemas and the machine-readable OWL versions </a:t>
            </a:r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25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800" dirty="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pic>
        <p:nvPicPr>
          <p:cNvPr id="7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611505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71386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ln/>
        </p:spPr>
        <p:txBody>
          <a:bodyPr/>
          <a:lstStyle>
            <a:lvl1pPr>
              <a:defRPr sz="900"/>
            </a:lvl1pPr>
          </a:lstStyle>
          <a:p>
            <a:r>
              <a:rPr lang="en-GB" altLang="en-US" kern="0" smtClean="0">
                <a:cs typeface="Arial" pitchFamily="34" charset="0"/>
              </a:rPr>
              <a:t>5th, Workshop of OGC Hydro DWG, New York, 11-15 Aug 2014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129D0-DFFA-44F8-BA3B-A4FAE77A70BA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63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36BA-EB45-43BA-8973-92FEFA06CE3A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53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1678-7CCE-4001-AE80-C0DA3761CC30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9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68557-3EC0-4E40-BD03-BD918E1CDD05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45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CDBE2-DD47-41F3-8579-D8E533D95D6F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27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2E1BE-8CDA-4433-BFF1-BAA91AEA66D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36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BDE7-1BD4-413C-B8BF-A4EA12E83AD7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178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C245E-A03E-4E42-9FEE-C11F743D1CCF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4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16C38-7E66-41AF-931A-501F5F45D453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00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134C2-33D7-4F0D-85DC-CBD7B352552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508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</a:p>
          <a:p>
            <a:pPr lvl="2"/>
            <a:r>
              <a:rPr lang="en-US" altLang="en-US" dirty="0" smtClean="0"/>
              <a:t>Third level</a:t>
            </a:r>
          </a:p>
          <a:p>
            <a:pPr lvl="3"/>
            <a:r>
              <a:rPr lang="en-US" altLang="en-US" dirty="0" smtClean="0"/>
              <a:t>Fourth level</a:t>
            </a:r>
          </a:p>
          <a:p>
            <a:pPr lvl="4"/>
            <a:r>
              <a:rPr lang="en-US" altLang="en-US" dirty="0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15100"/>
            <a:ext cx="3579812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GB" dirty="0" smtClean="0"/>
              <a:t>5th, Workshop of OGC Hydro DWG, New York, 11-15 Aug 2014</a:t>
            </a:r>
            <a:endParaRPr lang="en-US" dirty="0"/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7E725F1A-1E3F-4657-9D4B-5DCBC0B76A54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dirty="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chemeClr val="tx2"/>
                </a:solidFill>
                <a:latin typeface="Arial" pitchFamily="34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opengeospatial.org/files/?artifact_id=55157" TargetMode="External"/><Relationship Id="rId7" Type="http://schemas.openxmlformats.org/officeDocument/2006/relationships/hyperlink" Target="https://svnserv.csiro.au/svn/SIRF/public/def/schema/hy_features/abstracthydrofeature.rdf#HY_Basi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emo.sirf.net/def/schema/hy_features/abstracthydrofeature/HY_Basin" TargetMode="External"/><Relationship Id="rId5" Type="http://schemas.openxmlformats.org/officeDocument/2006/relationships/hyperlink" Target="http://demo.sirf.net/def/schema/hydrology/%7bschemafilename%7d/%7bconcept" TargetMode="External"/><Relationship Id="rId4" Type="http://schemas.openxmlformats.org/officeDocument/2006/relationships/hyperlink" Target="http://www.bafg.de/GRDC/EN/02_srvcs/24_rprtsrs/report_43r1.html?nn=201572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491005"/>
            <a:ext cx="8382000" cy="1224181"/>
          </a:xfr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i="1" smtClean="0"/>
              <a:t>Hydrologic Features SWG</a:t>
            </a:r>
            <a:r>
              <a:rPr lang="en-US" sz="2800"/>
              <a:t/>
            </a:r>
            <a:br>
              <a:rPr lang="en-US" sz="2800"/>
            </a:br>
            <a:r>
              <a:rPr lang="en-US" sz="2400">
                <a:solidFill>
                  <a:srgbClr val="002060"/>
                </a:solidFill>
                <a:latin typeface="Arial" charset="0"/>
              </a:rPr>
              <a:t>- </a:t>
            </a:r>
            <a:r>
              <a:rPr lang="en-US" sz="2400" smtClean="0">
                <a:solidFill>
                  <a:srgbClr val="002060"/>
                </a:solidFill>
                <a:latin typeface="Arial" charset="0"/>
              </a:rPr>
              <a:t>status, scope, workplan -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19600"/>
            <a:ext cx="6400800" cy="1371600"/>
          </a:xfrm>
        </p:spPr>
        <p:txBody>
          <a:bodyPr/>
          <a:lstStyle/>
          <a:p>
            <a:r>
              <a:rPr lang="en-US" altLang="en-US">
                <a:cs typeface="Arial" charset="0"/>
              </a:rPr>
              <a:t>6</a:t>
            </a:r>
            <a:r>
              <a:rPr lang="en-US" altLang="en-US" baseline="30000">
                <a:cs typeface="Arial" charset="0"/>
              </a:rPr>
              <a:t>th</a:t>
            </a:r>
            <a:r>
              <a:rPr lang="en-US" altLang="en-US">
                <a:cs typeface="Arial" charset="0"/>
              </a:rPr>
              <a:t>, WMO/OGC Hydrology DWG</a:t>
            </a:r>
          </a:p>
          <a:p>
            <a:r>
              <a:rPr lang="en-US" altLang="en-US">
                <a:cs typeface="Arial" charset="0"/>
              </a:rPr>
              <a:t> Orleans, BRGM, September 21 – 23, 2015</a:t>
            </a:r>
          </a:p>
          <a:p>
            <a:pPr>
              <a:spcBef>
                <a:spcPct val="0"/>
              </a:spcBef>
            </a:pPr>
            <a:endParaRPr lang="en-US" altLang="en-US">
              <a:cs typeface="Arial" charset="0"/>
            </a:endParaRPr>
          </a:p>
          <a:p>
            <a:pPr>
              <a:spcBef>
                <a:spcPct val="0"/>
              </a:spcBef>
            </a:pPr>
            <a:r>
              <a:rPr lang="en-US" altLang="en-US">
                <a:cs typeface="Arial" charset="0"/>
              </a:rPr>
              <a:t>Irina Dornblut, GRDC of WMO at BfG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5867400"/>
            <a:ext cx="990600" cy="99060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510" y="1328737"/>
            <a:ext cx="1704975" cy="695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smtClean="0">
                <a:solidFill>
                  <a:schemeClr val="tx2"/>
                </a:solidFill>
              </a:rPr>
              <a:t>Purpose of the Hydrologic Features SWG</a:t>
            </a:r>
            <a:endParaRPr lang="en-GB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685800" y="1295400"/>
            <a:ext cx="8229600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800" b="0" dirty="0" smtClean="0">
                <a:solidFill>
                  <a:schemeClr val="tx2"/>
                </a:solidFill>
              </a:rPr>
              <a:t>progress </a:t>
            </a:r>
            <a:r>
              <a:rPr lang="en-US" sz="1800" b="0" dirty="0">
                <a:solidFill>
                  <a:schemeClr val="tx2"/>
                </a:solidFill>
              </a:rPr>
              <a:t>the </a:t>
            </a:r>
            <a:r>
              <a:rPr lang="en-US" sz="1800" i="1" dirty="0" err="1">
                <a:solidFill>
                  <a:schemeClr val="tx2"/>
                </a:solidFill>
              </a:rPr>
              <a:t>HY_Features</a:t>
            </a:r>
            <a:r>
              <a:rPr lang="en-US" sz="1800" b="0" dirty="0">
                <a:solidFill>
                  <a:schemeClr val="tx2"/>
                </a:solidFill>
              </a:rPr>
              <a:t> common hydrologic feature model to the state </a:t>
            </a:r>
            <a:r>
              <a:rPr lang="en-US" sz="1800" b="0" dirty="0" smtClean="0">
                <a:solidFill>
                  <a:schemeClr val="tx2"/>
                </a:solidFill>
              </a:rPr>
              <a:t>of </a:t>
            </a:r>
            <a:r>
              <a:rPr lang="en-US" sz="1800" b="0" dirty="0">
                <a:solidFill>
                  <a:schemeClr val="tx2"/>
                </a:solidFill>
              </a:rPr>
              <a:t>an adopted </a:t>
            </a:r>
            <a:r>
              <a:rPr lang="en-US" sz="1800" dirty="0">
                <a:solidFill>
                  <a:schemeClr val="tx2"/>
                </a:solidFill>
              </a:rPr>
              <a:t>OGC standard </a:t>
            </a:r>
            <a:r>
              <a:rPr lang="en-US" sz="1800" b="0" dirty="0">
                <a:solidFill>
                  <a:schemeClr val="tx2"/>
                </a:solidFill>
              </a:rPr>
              <a:t>for a common and stable </a:t>
            </a:r>
            <a:r>
              <a:rPr lang="en-US" sz="1800" dirty="0">
                <a:solidFill>
                  <a:schemeClr val="tx2"/>
                </a:solidFill>
              </a:rPr>
              <a:t>identification and referencing of hydrologic </a:t>
            </a:r>
            <a:r>
              <a:rPr lang="en-US" sz="1800" dirty="0" smtClean="0">
                <a:solidFill>
                  <a:schemeClr val="tx2"/>
                </a:solidFill>
              </a:rPr>
              <a:t>features</a:t>
            </a:r>
            <a:r>
              <a:rPr lang="en-US" sz="1800" b="0" dirty="0" smtClean="0">
                <a:solidFill>
                  <a:schemeClr val="tx2"/>
                </a:solidFill>
              </a:rPr>
              <a:t>,</a:t>
            </a:r>
            <a:endParaRPr lang="en-GB" sz="1800" b="0" dirty="0">
              <a:solidFill>
                <a:schemeClr val="tx2"/>
              </a:solidFill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800" b="0" dirty="0">
                <a:solidFill>
                  <a:schemeClr val="tx2"/>
                </a:solidFill>
              </a:rPr>
              <a:t>m</a:t>
            </a:r>
            <a:r>
              <a:rPr lang="en-US" sz="1800" b="0" dirty="0" smtClean="0">
                <a:solidFill>
                  <a:schemeClr val="tx2"/>
                </a:solidFill>
              </a:rPr>
              <a:t>ultipart candidate standard: </a:t>
            </a:r>
            <a:endParaRPr lang="en-US" sz="1800" b="0" dirty="0" smtClean="0">
              <a:solidFill>
                <a:schemeClr val="tx2"/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 smtClean="0">
                <a:solidFill>
                  <a:schemeClr val="tx2"/>
                </a:solidFill>
              </a:rPr>
              <a:t>Part 1: </a:t>
            </a:r>
            <a:r>
              <a:rPr lang="en-US" sz="1600" b="0" dirty="0" err="1" smtClean="0">
                <a:solidFill>
                  <a:schemeClr val="tx2"/>
                </a:solidFill>
              </a:rPr>
              <a:t>HY_Features</a:t>
            </a:r>
            <a:r>
              <a:rPr lang="en-US" sz="1600" b="0" dirty="0" smtClean="0">
                <a:solidFill>
                  <a:schemeClr val="tx2"/>
                </a:solidFill>
              </a:rPr>
              <a:t> conceptual model (</a:t>
            </a:r>
            <a:r>
              <a:rPr lang="en-US" sz="1600" b="0" i="1" dirty="0" smtClean="0">
                <a:solidFill>
                  <a:schemeClr val="tx2"/>
                </a:solidFill>
              </a:rPr>
              <a:t>OGC14-111</a:t>
            </a:r>
            <a:r>
              <a:rPr lang="en-US" sz="1600" b="0" dirty="0" smtClean="0">
                <a:solidFill>
                  <a:schemeClr val="tx2"/>
                </a:solidFill>
              </a:rPr>
              <a:t>). The normative model is a machine-readable UML artefact published by OGC,</a:t>
            </a:r>
            <a:endParaRPr lang="en-GB" sz="1600" b="0" dirty="0" smtClean="0">
              <a:solidFill>
                <a:schemeClr val="tx2"/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 smtClean="0">
                <a:solidFill>
                  <a:schemeClr val="tx2"/>
                </a:solidFill>
              </a:rPr>
              <a:t>Part 2: GML implementation schema suitable for data transfer of </a:t>
            </a:r>
            <a:r>
              <a:rPr lang="en-US" sz="1600" b="0" i="1" dirty="0" err="1" smtClean="0">
                <a:solidFill>
                  <a:schemeClr val="tx2"/>
                </a:solidFill>
              </a:rPr>
              <a:t>HY_Features</a:t>
            </a:r>
            <a:r>
              <a:rPr lang="en-US" sz="1600" b="0" dirty="0" smtClean="0">
                <a:solidFill>
                  <a:schemeClr val="tx2"/>
                </a:solidFill>
              </a:rPr>
              <a:t> object instances, based on ISO 19136 Annex E encoding rules for Application Schema,</a:t>
            </a:r>
            <a:endParaRPr lang="en-GB" sz="1600" b="0" dirty="0" smtClean="0">
              <a:solidFill>
                <a:schemeClr val="tx2"/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 smtClean="0">
                <a:solidFill>
                  <a:schemeClr val="tx2"/>
                </a:solidFill>
              </a:rPr>
              <a:t>Part 3: OWL and RDF representation suitable for defining links between features that implement the </a:t>
            </a:r>
            <a:r>
              <a:rPr lang="en-US" sz="1600" b="0" i="1" dirty="0" err="1" smtClean="0">
                <a:solidFill>
                  <a:schemeClr val="tx2"/>
                </a:solidFill>
              </a:rPr>
              <a:t>HY_Features</a:t>
            </a:r>
            <a:r>
              <a:rPr lang="en-US" sz="1600" b="0" dirty="0" smtClean="0">
                <a:solidFill>
                  <a:schemeClr val="tx2"/>
                </a:solidFill>
              </a:rPr>
              <a:t> model, based on ISO 19150 encoding rules. </a:t>
            </a:r>
            <a:endParaRPr lang="en-GB" sz="1600" b="0" dirty="0" smtClean="0">
              <a:solidFill>
                <a:schemeClr val="tx2"/>
              </a:solidFill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800" b="0" dirty="0" smtClean="0">
                <a:solidFill>
                  <a:schemeClr val="tx2"/>
                </a:solidFill>
              </a:rPr>
              <a:t>publish </a:t>
            </a:r>
            <a:r>
              <a:rPr lang="en-US" sz="1800" b="0" dirty="0">
                <a:solidFill>
                  <a:schemeClr val="tx2"/>
                </a:solidFill>
              </a:rPr>
              <a:t>a </a:t>
            </a:r>
            <a:r>
              <a:rPr lang="en-US" sz="1800" b="0" dirty="0" smtClean="0">
                <a:solidFill>
                  <a:schemeClr val="tx2"/>
                </a:solidFill>
              </a:rPr>
              <a:t>candidate standard doc for each intended part for public comment,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800" b="0" dirty="0" smtClean="0">
                <a:solidFill>
                  <a:schemeClr val="tx2"/>
                </a:solidFill>
              </a:rPr>
              <a:t>process </a:t>
            </a:r>
            <a:r>
              <a:rPr lang="en-US" sz="1800" b="0" dirty="0">
                <a:solidFill>
                  <a:schemeClr val="tx2"/>
                </a:solidFill>
              </a:rPr>
              <a:t>comments received during a public comment </a:t>
            </a:r>
            <a:r>
              <a:rPr lang="en-US" sz="1800" b="0" dirty="0" smtClean="0">
                <a:solidFill>
                  <a:schemeClr val="tx2"/>
                </a:solidFill>
              </a:rPr>
              <a:t>period,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800" b="0" dirty="0" smtClean="0">
                <a:solidFill>
                  <a:schemeClr val="tx2"/>
                </a:solidFill>
              </a:rPr>
              <a:t>submit for consideration </a:t>
            </a:r>
            <a:r>
              <a:rPr lang="en-US" sz="1800" b="0" dirty="0">
                <a:solidFill>
                  <a:schemeClr val="tx2"/>
                </a:solidFill>
              </a:rPr>
              <a:t>by the OGC membership for approval as an OGC standard and include contribution to the OGC Abstract Specification. </a:t>
            </a:r>
            <a:endParaRPr lang="en-GB" sz="18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2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676275" y="1143000"/>
            <a:ext cx="8086725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sz="2000" b="0" dirty="0" err="1" smtClean="0">
                <a:solidFill>
                  <a:schemeClr val="tx2"/>
                </a:solidFill>
              </a:rPr>
              <a:t>Coordinate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the</a:t>
            </a:r>
            <a:r>
              <a:rPr lang="de-DE" sz="2000" b="0" dirty="0" smtClean="0">
                <a:solidFill>
                  <a:schemeClr val="tx2"/>
                </a:solidFill>
              </a:rPr>
              <a:t> RFC </a:t>
            </a:r>
            <a:r>
              <a:rPr lang="de-DE" sz="2000" b="0" dirty="0" err="1" smtClean="0">
                <a:solidFill>
                  <a:schemeClr val="tx2"/>
                </a:solidFill>
              </a:rPr>
              <a:t>process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for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each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of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the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intended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parts</a:t>
            </a:r>
            <a:endParaRPr lang="en-GB" sz="2000" b="0" dirty="0">
              <a:solidFill>
                <a:schemeClr val="tx2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chemeClr val="tx2"/>
                </a:solidFill>
              </a:rPr>
              <a:t>A</a:t>
            </a:r>
            <a:r>
              <a:rPr lang="en-US" sz="2000" b="0" dirty="0" smtClean="0">
                <a:solidFill>
                  <a:schemeClr val="tx2"/>
                </a:solidFill>
              </a:rPr>
              <a:t>ssist </a:t>
            </a:r>
            <a:r>
              <a:rPr lang="en-US" sz="2000" b="0" dirty="0">
                <a:solidFill>
                  <a:schemeClr val="tx2"/>
                </a:solidFill>
              </a:rPr>
              <a:t>the development of example use cases </a:t>
            </a:r>
            <a:r>
              <a:rPr lang="en-US" sz="2000" b="0" dirty="0" smtClean="0">
                <a:solidFill>
                  <a:schemeClr val="tx2"/>
                </a:solidFill>
              </a:rPr>
              <a:t>to </a:t>
            </a:r>
            <a:r>
              <a:rPr lang="en-US" sz="2000" b="0" dirty="0">
                <a:solidFill>
                  <a:schemeClr val="tx2"/>
                </a:solidFill>
              </a:rPr>
              <a:t>improve the semantic interoperability of web </a:t>
            </a:r>
            <a:r>
              <a:rPr lang="en-US" sz="2000" b="0" dirty="0" smtClean="0">
                <a:solidFill>
                  <a:schemeClr val="tx2"/>
                </a:solidFill>
              </a:rPr>
              <a:t>services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dirty="0" smtClean="0">
                <a:solidFill>
                  <a:schemeClr val="tx2"/>
                </a:solidFill>
              </a:rPr>
              <a:t>Example: discovery</a:t>
            </a:r>
            <a:r>
              <a:rPr lang="en-US" sz="1800" b="0" dirty="0">
                <a:solidFill>
                  <a:schemeClr val="tx2"/>
                </a:solidFill>
              </a:rPr>
              <a:t>, access, and use of relationships between hydrologic features represented in data sets exposed as web </a:t>
            </a:r>
            <a:r>
              <a:rPr lang="en-US" sz="1800" b="0" dirty="0" smtClean="0">
                <a:solidFill>
                  <a:schemeClr val="tx2"/>
                </a:solidFill>
              </a:rPr>
              <a:t>services, </a:t>
            </a:r>
            <a:endParaRPr lang="en-GB" sz="1800" b="0" dirty="0">
              <a:solidFill>
                <a:schemeClr val="tx2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chemeClr val="tx2"/>
                </a:solidFill>
              </a:rPr>
              <a:t>P</a:t>
            </a:r>
            <a:r>
              <a:rPr lang="en-US" sz="2000" b="0" dirty="0" smtClean="0">
                <a:solidFill>
                  <a:schemeClr val="tx2"/>
                </a:solidFill>
              </a:rPr>
              <a:t>repare </a:t>
            </a:r>
            <a:r>
              <a:rPr lang="en-US" sz="2000" b="0" dirty="0">
                <a:solidFill>
                  <a:schemeClr val="tx2"/>
                </a:solidFill>
              </a:rPr>
              <a:t>some explanatory material </a:t>
            </a:r>
            <a:r>
              <a:rPr lang="en-US" sz="2000" b="0" dirty="0" smtClean="0">
                <a:solidFill>
                  <a:schemeClr val="tx2"/>
                </a:solidFill>
              </a:rPr>
              <a:t>to </a:t>
            </a:r>
            <a:r>
              <a:rPr lang="en-US" sz="2000" b="0" dirty="0">
                <a:solidFill>
                  <a:schemeClr val="tx2"/>
                </a:solidFill>
              </a:rPr>
              <a:t>define and handle the conceptual </a:t>
            </a:r>
            <a:r>
              <a:rPr lang="en-US" sz="2000" b="0" dirty="0" smtClean="0">
                <a:solidFill>
                  <a:schemeClr val="tx2"/>
                </a:solidFill>
              </a:rPr>
              <a:t>mapping of a </a:t>
            </a:r>
            <a:r>
              <a:rPr lang="en-US" sz="2000" b="0" dirty="0">
                <a:solidFill>
                  <a:schemeClr val="tx2"/>
                </a:solidFill>
              </a:rPr>
              <a:t>realized </a:t>
            </a:r>
            <a:r>
              <a:rPr lang="en-US" sz="2000" b="0" dirty="0" smtClean="0">
                <a:solidFill>
                  <a:schemeClr val="tx2"/>
                </a:solidFill>
              </a:rPr>
              <a:t>domain </a:t>
            </a:r>
            <a:r>
              <a:rPr lang="en-US" sz="2000" b="0" dirty="0">
                <a:solidFill>
                  <a:schemeClr val="tx2"/>
                </a:solidFill>
              </a:rPr>
              <a:t>feature concept to </a:t>
            </a:r>
            <a:r>
              <a:rPr lang="en-US" sz="2000" b="0" dirty="0" smtClean="0">
                <a:solidFill>
                  <a:schemeClr val="tx2"/>
                </a:solidFill>
              </a:rPr>
              <a:t>the concept of a </a:t>
            </a:r>
            <a:r>
              <a:rPr lang="en-US" sz="2000" b="0" dirty="0">
                <a:solidFill>
                  <a:schemeClr val="tx2"/>
                </a:solidFill>
              </a:rPr>
              <a:t>particular feature of </a:t>
            </a:r>
            <a:r>
              <a:rPr lang="en-US" sz="2000" b="0" dirty="0" smtClean="0">
                <a:solidFill>
                  <a:schemeClr val="tx2"/>
                </a:solidFill>
              </a:rPr>
              <a:t>interest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dirty="0" smtClean="0">
                <a:solidFill>
                  <a:schemeClr val="tx2"/>
                </a:solidFill>
              </a:rPr>
              <a:t>Outline principles and requirements of a mapping framework (Part 1)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dirty="0" smtClean="0">
                <a:solidFill>
                  <a:schemeClr val="tx2"/>
                </a:solidFill>
              </a:rPr>
              <a:t>Develop guidelines for a mapping framework (Part 2 and 3)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 dirty="0" smtClean="0">
                <a:solidFill>
                  <a:schemeClr val="tx2"/>
                </a:solidFill>
              </a:rPr>
              <a:t>Out of scope: 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dirty="0" smtClean="0">
                <a:solidFill>
                  <a:schemeClr val="tx2"/>
                </a:solidFill>
              </a:rPr>
              <a:t>Specific </a:t>
            </a:r>
            <a:r>
              <a:rPr lang="en-US" sz="1800" b="0" dirty="0">
                <a:solidFill>
                  <a:schemeClr val="tx2"/>
                </a:solidFill>
              </a:rPr>
              <a:t>communication technology or </a:t>
            </a:r>
            <a:r>
              <a:rPr lang="en-US" sz="1800" b="0" dirty="0" smtClean="0">
                <a:solidFill>
                  <a:schemeClr val="tx2"/>
                </a:solidFill>
              </a:rPr>
              <a:t>service interface</a:t>
            </a:r>
            <a:endParaRPr lang="en-GB" sz="1800" b="0" dirty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smtClean="0">
                <a:solidFill>
                  <a:schemeClr val="tx2"/>
                </a:solidFill>
              </a:rPr>
              <a:t>Scope of work</a:t>
            </a:r>
            <a:endParaRPr lang="en-GB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41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990600" y="1371600"/>
            <a:ext cx="7543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000" b="0" i="1">
                <a:solidFill>
                  <a:schemeClr val="tx2"/>
                </a:solidFill>
              </a:rPr>
              <a:t>Federal Institute of Hydrology (BfG), Germany</a:t>
            </a:r>
            <a:endParaRPr lang="en-GB" sz="2000" b="0" i="1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000" b="0" i="1">
                <a:solidFill>
                  <a:schemeClr val="tx2"/>
                </a:solidFill>
              </a:rPr>
              <a:t>BRGM (French Geological Survey) </a:t>
            </a:r>
            <a:endParaRPr lang="en-GB" sz="2000" b="0" i="1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000" b="0" i="1">
                <a:solidFill>
                  <a:schemeClr val="tx2"/>
                </a:solidFill>
              </a:rPr>
              <a:t>Bureau of Meteorology (BoM), Australia</a:t>
            </a:r>
            <a:endParaRPr lang="en-GB" sz="2000" b="0" i="1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000" b="0" i="1">
                <a:solidFill>
                  <a:schemeClr val="tx2"/>
                </a:solidFill>
              </a:rPr>
              <a:t>US Geological Survey (USGS)</a:t>
            </a:r>
            <a:endParaRPr lang="en-GB" sz="2000" b="0" i="1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000" b="0" i="1">
                <a:solidFill>
                  <a:schemeClr val="tx2"/>
                </a:solidFill>
              </a:rPr>
              <a:t>MetaLinkage, Australia</a:t>
            </a:r>
            <a:endParaRPr lang="en-GB" sz="2000" b="0" i="1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s-ES_tradnl" sz="2000" b="0" i="1">
                <a:solidFill>
                  <a:schemeClr val="tx2"/>
                </a:solidFill>
              </a:rPr>
              <a:t>Commonwealth </a:t>
            </a:r>
            <a:r>
              <a:rPr lang="en-AU" sz="2000" b="0" i="1">
                <a:solidFill>
                  <a:schemeClr val="tx2"/>
                </a:solidFill>
              </a:rPr>
              <a:t>Scientific</a:t>
            </a:r>
            <a:r>
              <a:rPr lang="es-ES_tradnl" sz="2000" b="0" i="1">
                <a:solidFill>
                  <a:schemeClr val="tx2"/>
                </a:solidFill>
              </a:rPr>
              <a:t> and Industrial </a:t>
            </a:r>
            <a:r>
              <a:rPr lang="en-AU" sz="2000" b="0" i="1">
                <a:solidFill>
                  <a:schemeClr val="tx2"/>
                </a:solidFill>
              </a:rPr>
              <a:t>Research</a:t>
            </a:r>
            <a:r>
              <a:rPr lang="es-ES_tradnl" sz="2000" b="0" i="1">
                <a:solidFill>
                  <a:schemeClr val="tx2"/>
                </a:solidFill>
              </a:rPr>
              <a:t> Organisation (CSIRO), Australia</a:t>
            </a:r>
            <a:endParaRPr lang="en-GB" sz="2000" b="0" i="1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AU" sz="2000" b="0" i="1" smtClean="0">
                <a:solidFill>
                  <a:schemeClr val="tx2"/>
                </a:solidFill>
              </a:rPr>
              <a:t>INCLAM </a:t>
            </a:r>
            <a:r>
              <a:rPr lang="en-AU" sz="2000" b="0" i="1">
                <a:solidFill>
                  <a:schemeClr val="tx2"/>
                </a:solidFill>
              </a:rPr>
              <a:t>S.A., </a:t>
            </a:r>
            <a:r>
              <a:rPr lang="en-AU" sz="2000" b="0" i="1" smtClean="0">
                <a:solidFill>
                  <a:schemeClr val="tx2"/>
                </a:solidFill>
              </a:rPr>
              <a:t>Spain</a:t>
            </a:r>
            <a:endParaRPr lang="en-GB" sz="2000" b="0" i="1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AU" sz="2000" b="0" i="1">
                <a:solidFill>
                  <a:schemeClr val="tx2"/>
                </a:solidFill>
              </a:rPr>
              <a:t>Bdigital, </a:t>
            </a:r>
            <a:r>
              <a:rPr lang="en-AU" sz="2000" b="0" i="1" smtClean="0">
                <a:solidFill>
                  <a:schemeClr val="tx2"/>
                </a:solidFill>
              </a:rPr>
              <a:t>Spain (</a:t>
            </a:r>
            <a:r>
              <a:rPr lang="en-AU" sz="2000" b="0" i="1">
                <a:solidFill>
                  <a:schemeClr val="tx2"/>
                </a:solidFill>
              </a:rPr>
              <a:t>now: </a:t>
            </a:r>
            <a:r>
              <a:rPr lang="en-GB" sz="2000" b="0" i="1">
                <a:solidFill>
                  <a:schemeClr val="tx2"/>
                </a:solidFill>
              </a:rPr>
              <a:t>Eurecat - Centro Tecnológico de Catalunya)</a:t>
            </a: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000" b="0" i="1">
                <a:solidFill>
                  <a:schemeClr val="tx2"/>
                </a:solidFill>
              </a:rPr>
              <a:t>52°North, Germany</a:t>
            </a:r>
            <a:endParaRPr lang="en-GB" sz="2000" b="0" i="1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US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Participating organizations </a:t>
            </a:r>
            <a:endParaRPr lang="en-GB" sz="28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058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790575" y="1143000"/>
            <a:ext cx="80772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</a:pPr>
            <a:endParaRPr lang="en-US" sz="1600" b="0" smtClean="0">
              <a:solidFill>
                <a:schemeClr val="tx2"/>
              </a:solidFill>
            </a:endParaRPr>
          </a:p>
          <a:p>
            <a:pPr lvl="0">
              <a:spcBef>
                <a:spcPts val="600"/>
              </a:spcBef>
            </a:pPr>
            <a:endParaRPr lang="en-US" sz="1600" b="0">
              <a:solidFill>
                <a:schemeClr val="tx2"/>
              </a:solidFill>
            </a:endParaRPr>
          </a:p>
          <a:p>
            <a:pPr lvl="0">
              <a:spcBef>
                <a:spcPts val="600"/>
              </a:spcBef>
            </a:pPr>
            <a:endParaRPr lang="en-US" sz="1600" b="0" smtClean="0">
              <a:solidFill>
                <a:schemeClr val="tx2"/>
              </a:solidFill>
            </a:endParaRPr>
          </a:p>
          <a:p>
            <a:pPr lvl="0">
              <a:spcBef>
                <a:spcPts val="600"/>
              </a:spcBef>
            </a:pPr>
            <a:endParaRPr lang="en-US" sz="1600" b="0">
              <a:solidFill>
                <a:schemeClr val="tx2"/>
              </a:solidFill>
            </a:endParaRPr>
          </a:p>
          <a:p>
            <a:pPr lvl="0">
              <a:spcBef>
                <a:spcPts val="600"/>
              </a:spcBef>
            </a:pPr>
            <a:endParaRPr lang="en-US" sz="1600" b="0" smtClean="0">
              <a:solidFill>
                <a:schemeClr val="tx2"/>
              </a:solidFill>
            </a:endParaRPr>
          </a:p>
          <a:p>
            <a:pPr lvl="0">
              <a:spcBef>
                <a:spcPts val="600"/>
              </a:spcBef>
            </a:pPr>
            <a:endParaRPr lang="en-US" sz="1600" b="0">
              <a:solidFill>
                <a:schemeClr val="tx2"/>
              </a:solidFill>
            </a:endParaRPr>
          </a:p>
          <a:p>
            <a:pPr lvl="0">
              <a:spcBef>
                <a:spcPts val="600"/>
              </a:spcBef>
            </a:pPr>
            <a:endParaRPr lang="en-US" sz="1600" b="0" smtClean="0">
              <a:solidFill>
                <a:schemeClr val="tx2"/>
              </a:solidFill>
            </a:endParaRPr>
          </a:p>
          <a:p>
            <a:pPr lvl="0">
              <a:spcBef>
                <a:spcPts val="600"/>
              </a:spcBef>
            </a:pPr>
            <a:endParaRPr lang="en-US" sz="1600" b="0">
              <a:solidFill>
                <a:schemeClr val="tx2"/>
              </a:solidFill>
            </a:endParaRPr>
          </a:p>
          <a:p>
            <a:pPr lvl="0">
              <a:spcBef>
                <a:spcPts val="600"/>
              </a:spcBef>
            </a:pPr>
            <a:endParaRPr lang="en-US" sz="1600" b="0" smtClean="0">
              <a:solidFill>
                <a:schemeClr val="tx2"/>
              </a:solidFill>
            </a:endParaRPr>
          </a:p>
          <a:p>
            <a:pPr lvl="0">
              <a:spcBef>
                <a:spcPts val="600"/>
              </a:spcBef>
            </a:pPr>
            <a:endParaRPr lang="en-US" sz="1600" b="0">
              <a:solidFill>
                <a:schemeClr val="tx2"/>
              </a:solidFill>
            </a:endParaRPr>
          </a:p>
          <a:p>
            <a:pPr lvl="0">
              <a:spcBef>
                <a:spcPts val="600"/>
              </a:spcBef>
            </a:pPr>
            <a:endParaRPr lang="en-US" sz="1600" b="0" smtClean="0">
              <a:solidFill>
                <a:schemeClr val="tx2"/>
              </a:solidFill>
            </a:endParaRPr>
          </a:p>
          <a:p>
            <a:pPr lvl="0">
              <a:spcBef>
                <a:spcPts val="600"/>
              </a:spcBef>
            </a:pPr>
            <a:endParaRPr lang="en-US" sz="1600" b="0">
              <a:solidFill>
                <a:schemeClr val="tx2"/>
              </a:solidFill>
            </a:endParaRPr>
          </a:p>
          <a:p>
            <a:pPr lvl="0">
              <a:spcBef>
                <a:spcPts val="600"/>
              </a:spcBef>
            </a:pPr>
            <a:endParaRPr lang="en-US" sz="1600" b="0" smtClean="0">
              <a:solidFill>
                <a:schemeClr val="tx2"/>
              </a:solidFill>
            </a:endParaRPr>
          </a:p>
          <a:p>
            <a:pPr lvl="0">
              <a:spcBef>
                <a:spcPts val="600"/>
              </a:spcBef>
            </a:pPr>
            <a:endParaRPr lang="en-US" sz="1400" b="0" smtClean="0">
              <a:solidFill>
                <a:schemeClr val="tx2"/>
              </a:solidFill>
            </a:endParaRPr>
          </a:p>
          <a:p>
            <a:pPr lvl="0">
              <a:spcBef>
                <a:spcPts val="600"/>
              </a:spcBef>
            </a:pPr>
            <a:r>
              <a:rPr lang="en-US" sz="1400" b="0" smtClean="0">
                <a:solidFill>
                  <a:schemeClr val="tx2"/>
                </a:solidFill>
              </a:rPr>
              <a:t>The </a:t>
            </a:r>
            <a:r>
              <a:rPr lang="en-US" sz="1400" b="0">
                <a:solidFill>
                  <a:schemeClr val="tx2"/>
                </a:solidFill>
              </a:rPr>
              <a:t>charter members agree to the SoW and IPR terms as defined in this charter. The charter members have voting rights beginning the day the SWG is officially formed. Charter Members </a:t>
            </a:r>
            <a:r>
              <a:rPr lang="en-US" sz="1400" b="0" smtClean="0">
                <a:solidFill>
                  <a:schemeClr val="tx2"/>
                </a:solidFill>
              </a:rPr>
              <a:t>will be </a:t>
            </a:r>
            <a:r>
              <a:rPr lang="en-US" sz="1400" b="0">
                <a:solidFill>
                  <a:schemeClr val="tx2"/>
                </a:solidFill>
              </a:rPr>
              <a:t>shown on the public SWG page</a:t>
            </a:r>
            <a:r>
              <a:rPr lang="en-US" sz="1400" b="0" smtClean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US" sz="2800">
                <a:solidFill>
                  <a:schemeClr val="tx2"/>
                </a:solidFill>
              </a:rPr>
              <a:t>SWG Founding or Charter </a:t>
            </a:r>
            <a:r>
              <a:rPr lang="en-US" sz="2800" smtClean="0">
                <a:solidFill>
                  <a:schemeClr val="tx2"/>
                </a:solidFill>
              </a:rPr>
              <a:t>members</a:t>
            </a:r>
            <a:r>
              <a:rPr lang="en-US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GB" sz="28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295694"/>
              </p:ext>
            </p:extLst>
          </p:nvPr>
        </p:nvGraphicFramePr>
        <p:xfrm>
          <a:off x="1857375" y="1181100"/>
          <a:ext cx="5943600" cy="4267199"/>
        </p:xfrm>
        <a:graphic>
          <a:graphicData uri="http://schemas.openxmlformats.org/drawingml/2006/table">
            <a:tbl>
              <a:tblPr/>
              <a:tblGrid>
                <a:gridCol w="2339647"/>
                <a:gridCol w="3603953"/>
              </a:tblGrid>
              <a:tr h="215513">
                <a:tc>
                  <a:txBody>
                    <a:bodyPr/>
                    <a:lstStyle/>
                    <a:p>
                      <a:pPr marL="91440" indent="-91440" algn="ctr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b="1">
                          <a:effectLst/>
                          <a:latin typeface="Arial"/>
                          <a:ea typeface="Times New Roman"/>
                        </a:rPr>
                        <a:t>Name</a:t>
                      </a:r>
                      <a:endParaRPr lang="en-GB" sz="1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ctr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b="1">
                          <a:effectLst/>
                          <a:latin typeface="Arial"/>
                          <a:ea typeface="Times New Roman"/>
                        </a:rPr>
                        <a:t>Organization</a:t>
                      </a:r>
                      <a:endParaRPr lang="en-GB" sz="10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830"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Bruce Simons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Simon Cox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Peter Taylor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CSIRO, Australia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830"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Darren Smith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Bruce Bannerman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Tony Boston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Bureau of Meteorology, Australia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08"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Irina Dornblut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Federal Institute of Hydrology ( BfG), Germany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04"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Rob Atkinson 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Metalinkage, Australia 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868"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fr-CH" sz="1000">
                          <a:effectLst/>
                          <a:latin typeface="Arial"/>
                          <a:ea typeface="Times New Roman"/>
                        </a:rPr>
                        <a:t>Gabriel Anzaldi Varas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fr-CH" sz="1000">
                          <a:effectLst/>
                          <a:latin typeface="Arial"/>
                          <a:ea typeface="Times New Roman"/>
                        </a:rPr>
                        <a:t>Aitor Corchero Rodriguez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Bdigital, Spain 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04"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Antonio Moya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INCLAM S. A., Spain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04"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Simon Jirka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</a:rPr>
                        <a:t>52°North, Germany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830"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fr-CH" sz="1000">
                          <a:effectLst/>
                          <a:latin typeface="Arial"/>
                          <a:ea typeface="Times New Roman"/>
                        </a:rPr>
                        <a:t>Sylvain Grellet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fr-CH" sz="1000">
                          <a:effectLst/>
                          <a:latin typeface="Arial"/>
                          <a:ea typeface="Times New Roman"/>
                        </a:rPr>
                        <a:t>François Robida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fr-CH" sz="1000">
                          <a:effectLst/>
                          <a:latin typeface="Arial"/>
                          <a:ea typeface="Times New Roman"/>
                        </a:rPr>
                        <a:t>Anthony Mauclerc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fr-CH" sz="1000">
                          <a:effectLst/>
                          <a:latin typeface="Arial"/>
                          <a:ea typeface="Times New Roman"/>
                        </a:rPr>
                        <a:t>BRGM, France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04"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fr-CH" sz="1000">
                          <a:effectLst/>
                          <a:latin typeface="Arial"/>
                          <a:ea typeface="Times New Roman"/>
                        </a:rPr>
                        <a:t>David Blodgett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fr-CH" sz="1000">
                          <a:effectLst/>
                          <a:latin typeface="Arial"/>
                          <a:ea typeface="Times New Roman"/>
                        </a:rPr>
                        <a:t>USGS, USA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04"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fr-CH" sz="1000">
                          <a:effectLst/>
                          <a:latin typeface="Arial"/>
                          <a:ea typeface="Times New Roman"/>
                        </a:rPr>
                        <a:t>David Arctur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lnSpc>
                          <a:spcPct val="8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000">
                          <a:effectLst/>
                          <a:latin typeface="Arial"/>
                          <a:ea typeface="Times New Roman"/>
                        </a:rPr>
                        <a:t>University of Texas at Austin, USA</a:t>
                      </a:r>
                      <a:endParaRPr lang="en-GB" sz="1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70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647700" y="1371600"/>
            <a:ext cx="8086725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 smtClean="0">
                <a:solidFill>
                  <a:schemeClr val="tx2"/>
                </a:solidFill>
              </a:rPr>
              <a:t>Candidate standards documents for comment 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smtClean="0">
                <a:solidFill>
                  <a:schemeClr val="tx2"/>
                </a:solidFill>
              </a:rPr>
              <a:t>Part 1:Conceptual model – </a:t>
            </a:r>
            <a:r>
              <a:rPr lang="en-US" sz="1800" b="0" i="1" smtClean="0">
                <a:solidFill>
                  <a:schemeClr val="tx2"/>
                </a:solidFill>
              </a:rPr>
              <a:t>HY_Features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smtClean="0">
                <a:solidFill>
                  <a:schemeClr val="tx2"/>
                </a:solidFill>
              </a:rPr>
              <a:t>Part 2: GML implementation of the Hydrologic </a:t>
            </a:r>
            <a:r>
              <a:rPr lang="en-US" sz="1800" b="0">
                <a:solidFill>
                  <a:schemeClr val="tx2"/>
                </a:solidFill>
              </a:rPr>
              <a:t>Features specification </a:t>
            </a:r>
            <a:endParaRPr lang="en-US" sz="1800" b="0" smtClean="0">
              <a:solidFill>
                <a:schemeClr val="tx2"/>
              </a:solidFill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smtClean="0">
                <a:solidFill>
                  <a:schemeClr val="tx2"/>
                </a:solidFill>
              </a:rPr>
              <a:t>Part 3. RDF/OWL implemenation </a:t>
            </a:r>
            <a:r>
              <a:rPr lang="en-US" sz="1800" b="0">
                <a:solidFill>
                  <a:schemeClr val="tx2"/>
                </a:solidFill>
              </a:rPr>
              <a:t>of the Hydrologic Features specification </a:t>
            </a: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 smtClean="0">
                <a:solidFill>
                  <a:schemeClr val="tx2"/>
                </a:solidFill>
              </a:rPr>
              <a:t>Annotated </a:t>
            </a:r>
            <a:r>
              <a:rPr lang="en-US" sz="2000" b="0">
                <a:solidFill>
                  <a:schemeClr val="tx2"/>
                </a:solidFill>
              </a:rPr>
              <a:t>list of </a:t>
            </a:r>
            <a:r>
              <a:rPr lang="en-US" sz="2000" b="0" smtClean="0">
                <a:solidFill>
                  <a:schemeClr val="tx2"/>
                </a:solidFill>
              </a:rPr>
              <a:t>comments </a:t>
            </a:r>
            <a:r>
              <a:rPr lang="en-US" sz="2000" b="0">
                <a:solidFill>
                  <a:schemeClr val="tx2"/>
                </a:solidFill>
              </a:rPr>
              <a:t>submitted during the 30-day public comment period, including the comment, submitter, rationale, comment type/priority, and the response of the SWG.</a:t>
            </a:r>
            <a:endParaRPr lang="en-GB" sz="2000" b="0">
              <a:solidFill>
                <a:schemeClr val="tx2"/>
              </a:solidFill>
            </a:endParaRPr>
          </a:p>
          <a:p>
            <a:pPr marL="342900" lvl="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>
                <a:solidFill>
                  <a:schemeClr val="tx2"/>
                </a:solidFill>
              </a:rPr>
              <a:t>Final versions of Part 1, 2 and 3 of the Hydrologic Features specification as well as ATS documents for submission to the TC. </a:t>
            </a:r>
            <a:endParaRPr lang="en-GB" sz="2000" b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smtClean="0">
                <a:solidFill>
                  <a:schemeClr val="tx2"/>
                </a:solidFill>
              </a:rPr>
              <a:t>Deliverables</a:t>
            </a:r>
            <a:endParaRPr lang="en-GB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11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685800" y="1219200"/>
            <a:ext cx="8077200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>
                <a:solidFill>
                  <a:schemeClr val="tx2"/>
                </a:solidFill>
              </a:rPr>
              <a:t>The following activities are planned with respect to “Hydrologic Features, </a:t>
            </a:r>
            <a:r>
              <a:rPr lang="en-US" sz="2000">
                <a:solidFill>
                  <a:schemeClr val="tx2"/>
                </a:solidFill>
              </a:rPr>
              <a:t>Part 1: Conceptual model</a:t>
            </a:r>
            <a:r>
              <a:rPr lang="en-US" sz="2000" b="0" smtClean="0">
                <a:solidFill>
                  <a:schemeClr val="tx2"/>
                </a:solidFill>
              </a:rPr>
              <a:t>”:</a:t>
            </a:r>
            <a:endParaRPr lang="en-GB" sz="2000" b="0">
              <a:solidFill>
                <a:schemeClr val="tx2"/>
              </a:solidFill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smtClean="0">
                <a:solidFill>
                  <a:schemeClr val="tx2"/>
                </a:solidFill>
              </a:rPr>
              <a:t>Prepare document incl. Annexes (ATS, Mapping, …). </a:t>
            </a:r>
            <a:r>
              <a:rPr lang="en-US" sz="1800" b="0" smtClean="0">
                <a:solidFill>
                  <a:srgbClr val="3333FF"/>
                </a:solidFill>
              </a:rPr>
              <a:t>2015 November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smtClean="0">
                <a:solidFill>
                  <a:schemeClr val="tx2"/>
                </a:solidFill>
              </a:rPr>
              <a:t>SWG </a:t>
            </a:r>
            <a:r>
              <a:rPr lang="en-US" sz="1800" b="0">
                <a:solidFill>
                  <a:schemeClr val="tx2"/>
                </a:solidFill>
              </a:rPr>
              <a:t>vote to release Hydrologic Features, Part 1: Conceptual model for public comment (HYF-P1).  </a:t>
            </a:r>
            <a:r>
              <a:rPr lang="en-US" sz="1800" b="0">
                <a:solidFill>
                  <a:srgbClr val="3333FF"/>
                </a:solidFill>
              </a:rPr>
              <a:t>2015 </a:t>
            </a:r>
            <a:r>
              <a:rPr lang="en-US" sz="1800" b="0" smtClean="0">
                <a:solidFill>
                  <a:srgbClr val="3333FF"/>
                </a:solidFill>
              </a:rPr>
              <a:t>November (e-mail vote)</a:t>
            </a:r>
            <a:endParaRPr lang="en-GB" sz="1800" b="0">
              <a:solidFill>
                <a:srgbClr val="3333FF"/>
              </a:solidFill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>
                <a:solidFill>
                  <a:schemeClr val="tx2"/>
                </a:solidFill>
              </a:rPr>
              <a:t>Release HYF-P1 for public comment. </a:t>
            </a:r>
            <a:r>
              <a:rPr lang="en-US" sz="1800" b="0">
                <a:solidFill>
                  <a:srgbClr val="3333FF"/>
                </a:solidFill>
              </a:rPr>
              <a:t>2015 November/December</a:t>
            </a:r>
            <a:endParaRPr lang="en-GB" sz="1800" b="0">
              <a:solidFill>
                <a:srgbClr val="3333FF"/>
              </a:solidFill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>
                <a:solidFill>
                  <a:schemeClr val="tx2"/>
                </a:solidFill>
              </a:rPr>
              <a:t>Consolidation of comments and edits to HYF-P1 document based on comments. </a:t>
            </a:r>
            <a:r>
              <a:rPr lang="en-US" sz="1800" b="0">
                <a:solidFill>
                  <a:srgbClr val="3333FF"/>
                </a:solidFill>
              </a:rPr>
              <a:t>2016 February/March </a:t>
            </a:r>
            <a:endParaRPr lang="en-GB" sz="1800" b="0">
              <a:solidFill>
                <a:srgbClr val="3333FF"/>
              </a:solidFill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>
                <a:solidFill>
                  <a:schemeClr val="tx2"/>
                </a:solidFill>
              </a:rPr>
              <a:t>Recommendation of the candidate standard to the Membership. </a:t>
            </a:r>
            <a:r>
              <a:rPr lang="en-US" sz="1800" b="0" smtClean="0">
                <a:solidFill>
                  <a:srgbClr val="3333FF"/>
                </a:solidFill>
              </a:rPr>
              <a:t>March 2016</a:t>
            </a:r>
            <a:endParaRPr lang="en-GB" sz="1800" b="0">
              <a:solidFill>
                <a:srgbClr val="3333FF"/>
              </a:solidFill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>
                <a:solidFill>
                  <a:schemeClr val="tx2"/>
                </a:solidFill>
              </a:rPr>
              <a:t>60 day IPR review period and associated TC e-vote to approve “Hydrologic Features, Part 1: Conceptual model” candidate standard as an adopted OGC Standard. </a:t>
            </a:r>
            <a:endParaRPr lang="en-GB" sz="1800" b="0">
              <a:solidFill>
                <a:schemeClr val="tx2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 smtClean="0">
                <a:solidFill>
                  <a:schemeClr val="tx2"/>
                </a:solidFill>
              </a:rPr>
              <a:t>The </a:t>
            </a:r>
            <a:r>
              <a:rPr lang="en-US" sz="2000" b="0">
                <a:solidFill>
                  <a:schemeClr val="tx2"/>
                </a:solidFill>
              </a:rPr>
              <a:t>intended </a:t>
            </a:r>
            <a:r>
              <a:rPr lang="en-US" sz="2000">
                <a:solidFill>
                  <a:schemeClr val="tx2"/>
                </a:solidFill>
              </a:rPr>
              <a:t>Part </a:t>
            </a:r>
            <a:r>
              <a:rPr lang="en-US" sz="2000" smtClean="0">
                <a:solidFill>
                  <a:schemeClr val="tx2"/>
                </a:solidFill>
              </a:rPr>
              <a:t>2 </a:t>
            </a:r>
            <a:r>
              <a:rPr lang="en-US" sz="2000">
                <a:solidFill>
                  <a:schemeClr val="tx2"/>
                </a:solidFill>
              </a:rPr>
              <a:t>and Part 3 </a:t>
            </a:r>
            <a:r>
              <a:rPr lang="en-US" sz="2000" smtClean="0">
                <a:solidFill>
                  <a:schemeClr val="tx2"/>
                </a:solidFill>
              </a:rPr>
              <a:t>may </a:t>
            </a:r>
            <a:r>
              <a:rPr lang="en-US" sz="2000">
                <a:solidFill>
                  <a:schemeClr val="tx2"/>
                </a:solidFill>
              </a:rPr>
              <a:t>require further testing </a:t>
            </a:r>
            <a:r>
              <a:rPr lang="en-US" sz="2000" b="0">
                <a:solidFill>
                  <a:schemeClr val="tx2"/>
                </a:solidFill>
              </a:rPr>
              <a:t>and will be scheduled by the SWG after the adoption of Part 1. </a:t>
            </a:r>
            <a:endParaRPr lang="en-GB" sz="2000" b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dirty="0" smtClean="0">
                <a:solidFill>
                  <a:schemeClr val="tx2"/>
                </a:solidFill>
              </a:rPr>
              <a:t>Draft </a:t>
            </a:r>
            <a:r>
              <a:rPr lang="en-GB" sz="2800" dirty="0" err="1" smtClean="0">
                <a:solidFill>
                  <a:schemeClr val="tx2"/>
                </a:solidFill>
              </a:rPr>
              <a:t>w</a:t>
            </a:r>
            <a:r>
              <a:rPr lang="en-GB" sz="2800" dirty="0" err="1" smtClean="0">
                <a:solidFill>
                  <a:schemeClr val="tx2"/>
                </a:solidFill>
              </a:rPr>
              <a:t>orkplan</a:t>
            </a:r>
            <a:r>
              <a:rPr lang="en-GB" sz="2800" dirty="0" smtClean="0">
                <a:solidFill>
                  <a:schemeClr val="tx2"/>
                </a:solidFill>
              </a:rPr>
              <a:t> </a:t>
            </a:r>
            <a:r>
              <a:rPr lang="en-GB" sz="2800" dirty="0" smtClean="0">
                <a:solidFill>
                  <a:schemeClr val="tx2"/>
                </a:solidFill>
              </a:rPr>
              <a:t>to an adopted OGC Standard</a:t>
            </a:r>
            <a:endParaRPr lang="en-GB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39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smtClean="0">
                <a:solidFill>
                  <a:schemeClr val="tx2"/>
                </a:solidFill>
              </a:rPr>
              <a:t>Status in September 2015 </a:t>
            </a:r>
            <a:endParaRPr lang="en-GB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676274" y="1219200"/>
            <a:ext cx="8239126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b="0" dirty="0" smtClean="0">
                <a:solidFill>
                  <a:schemeClr val="tx2"/>
                </a:solidFill>
              </a:rPr>
              <a:t>Discussion in Boulder June 2015 to initiate the HYF-SWG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Charter</a:t>
            </a:r>
            <a:r>
              <a:rPr lang="en-US" sz="2000" b="0" dirty="0">
                <a:solidFill>
                  <a:schemeClr val="tx2"/>
                </a:solidFill>
              </a:rPr>
              <a:t> review process (July/August) </a:t>
            </a:r>
            <a:r>
              <a:rPr lang="en-US" sz="2000" b="0" dirty="0">
                <a:solidFill>
                  <a:schemeClr val="tx2"/>
                </a:solidFill>
                <a:sym typeface="Wingdings" panose="05000000000000000000" pitchFamily="2" charset="2"/>
              </a:rPr>
              <a:t> </a:t>
            </a:r>
            <a:r>
              <a:rPr lang="en-US" sz="2000" dirty="0">
                <a:solidFill>
                  <a:schemeClr val="tx2"/>
                </a:solidFill>
              </a:rPr>
              <a:t>OGC15-070r2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chemeClr val="tx2"/>
                </a:solidFill>
              </a:rPr>
              <a:t>TC-Vote for the formation of the HYF-SWG </a:t>
            </a:r>
            <a:r>
              <a:rPr lang="en-US" sz="2000" b="0" dirty="0" smtClean="0">
                <a:solidFill>
                  <a:schemeClr val="tx2"/>
                </a:solidFill>
              </a:rPr>
              <a:t>(</a:t>
            </a:r>
            <a:r>
              <a:rPr lang="en-US" sz="2000" b="0" dirty="0" smtClean="0">
                <a:solidFill>
                  <a:schemeClr val="tx2"/>
                </a:solidFill>
              </a:rPr>
              <a:t>quorum)</a:t>
            </a:r>
            <a:endParaRPr lang="en-US" sz="2000" b="0" dirty="0">
              <a:solidFill>
                <a:schemeClr val="tx2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The first meeting</a:t>
            </a:r>
            <a:r>
              <a:rPr lang="en-US" sz="2000" b="0" dirty="0"/>
              <a:t>: </a:t>
            </a:r>
            <a:endParaRPr lang="en-US" sz="1800" b="0" dirty="0">
              <a:solidFill>
                <a:schemeClr val="tx2"/>
              </a:solidFill>
            </a:endParaRP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dirty="0">
                <a:solidFill>
                  <a:schemeClr val="tx2"/>
                </a:solidFill>
              </a:rPr>
              <a:t>select the lead for the RFC submission </a:t>
            </a:r>
            <a:r>
              <a:rPr lang="en-US" sz="1800" b="0" dirty="0" smtClean="0">
                <a:solidFill>
                  <a:schemeClr val="tx2"/>
                </a:solidFill>
              </a:rPr>
              <a:t>(</a:t>
            </a:r>
            <a:r>
              <a:rPr lang="en-US" sz="1800" b="0" dirty="0" smtClean="0">
                <a:solidFill>
                  <a:schemeClr val="tx2"/>
                </a:solidFill>
              </a:rPr>
              <a:t>OGC voting member)</a:t>
            </a:r>
            <a:r>
              <a:rPr lang="en-US" sz="1800" b="0" dirty="0" smtClean="0">
                <a:solidFill>
                  <a:schemeClr val="tx2"/>
                </a:solidFill>
              </a:rPr>
              <a:t>, </a:t>
            </a:r>
            <a:endParaRPr lang="en-US" sz="1800" b="0" dirty="0">
              <a:solidFill>
                <a:schemeClr val="tx2"/>
              </a:solidFill>
            </a:endParaRP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dirty="0">
                <a:solidFill>
                  <a:schemeClr val="tx2"/>
                </a:solidFill>
              </a:rPr>
              <a:t>primary editors for Part 1, 2 and 3 of the standard, 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dirty="0">
                <a:solidFill>
                  <a:schemeClr val="tx2"/>
                </a:solidFill>
              </a:rPr>
              <a:t>agree on scope and </a:t>
            </a:r>
            <a:r>
              <a:rPr lang="en-US" sz="1800" b="0" dirty="0" err="1">
                <a:solidFill>
                  <a:schemeClr val="tx2"/>
                </a:solidFill>
              </a:rPr>
              <a:t>workplan</a:t>
            </a:r>
            <a:r>
              <a:rPr lang="en-US" sz="1800" b="0" dirty="0">
                <a:solidFill>
                  <a:schemeClr val="tx2"/>
                </a:solidFill>
              </a:rPr>
              <a:t>, including regular meetings if required.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Starting point: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dirty="0" err="1">
                <a:solidFill>
                  <a:schemeClr val="tx2"/>
                </a:solidFill>
              </a:rPr>
              <a:t>HY_Features</a:t>
            </a:r>
            <a:r>
              <a:rPr lang="en-US" sz="1800" b="0" dirty="0">
                <a:solidFill>
                  <a:schemeClr val="tx2"/>
                </a:solidFill>
              </a:rPr>
              <a:t> common hydrologic feature model (DP11-039r3) </a:t>
            </a:r>
            <a:r>
              <a:rPr lang="en-US" sz="1800" b="0" dirty="0">
                <a:solidFill>
                  <a:schemeClr val="tx2"/>
                </a:solidFill>
                <a:sym typeface="Wingdings" panose="05000000000000000000" pitchFamily="2" charset="2"/>
              </a:rPr>
              <a:t>	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1800" b="0" dirty="0">
                <a:solidFill>
                  <a:schemeClr val="tx2"/>
                </a:solidFill>
                <a:sym typeface="Wingdings" panose="05000000000000000000" pitchFamily="2" charset="2"/>
              </a:rPr>
              <a:t>	 Hydrologic Features, </a:t>
            </a:r>
            <a:r>
              <a:rPr lang="en-US" sz="1800" b="0" dirty="0">
                <a:solidFill>
                  <a:schemeClr val="tx2"/>
                </a:solidFill>
              </a:rPr>
              <a:t>Part 1: Conceptual model 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dirty="0">
                <a:solidFill>
                  <a:schemeClr val="tx2"/>
                </a:solidFill>
                <a:sym typeface="Wingdings" panose="05000000000000000000" pitchFamily="2" charset="2"/>
              </a:rPr>
              <a:t>use case from OWS-10 CCI Hydro that can be further developed 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1800" b="0" dirty="0">
                <a:solidFill>
                  <a:schemeClr val="tx2"/>
                </a:solidFill>
                <a:sym typeface="Wingdings" panose="05000000000000000000" pitchFamily="2" charset="2"/>
              </a:rPr>
              <a:t>	 new test scenarios  Part 2:GML and Part 3:OWL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dirty="0">
                <a:solidFill>
                  <a:schemeClr val="tx2"/>
                </a:solidFill>
              </a:rPr>
              <a:t>a few same-structured mappings of implementation concepts 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1800" b="0" dirty="0">
                <a:solidFill>
                  <a:schemeClr val="tx2"/>
                </a:solidFill>
                <a:sym typeface="Wingdings" panose="05000000000000000000" pitchFamily="2" charset="2"/>
              </a:rPr>
              <a:t>	 framework for conceptual </a:t>
            </a:r>
            <a:r>
              <a:rPr lang="en-US" sz="1800" b="0" dirty="0">
                <a:solidFill>
                  <a:schemeClr val="tx2"/>
                </a:solidFill>
              </a:rPr>
              <a:t>mapping using a domain model</a:t>
            </a:r>
            <a:endParaRPr lang="en-US" sz="1800" b="0" dirty="0">
              <a:solidFill>
                <a:schemeClr val="tx2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7439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230187" y="152400"/>
            <a:ext cx="8683625" cy="685800"/>
          </a:xfrm>
        </p:spPr>
        <p:txBody>
          <a:bodyPr/>
          <a:lstStyle/>
          <a:p>
            <a:r>
              <a:rPr lang="en-US" dirty="0" smtClean="0"/>
              <a:t>Thank you </a:t>
            </a:r>
            <a:r>
              <a:rPr lang="en-US" smtClean="0"/>
              <a:t>!   </a:t>
            </a:r>
            <a:endParaRPr lang="en-GB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9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1143000"/>
            <a:ext cx="7134225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el 3"/>
          <p:cNvSpPr txBox="1">
            <a:spLocks/>
          </p:cNvSpPr>
          <p:nvPr/>
        </p:nvSpPr>
        <p:spPr bwMode="auto">
          <a:xfrm>
            <a:off x="306387" y="5334000"/>
            <a:ext cx="8837613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9pPr>
          </a:lstStyle>
          <a:p>
            <a:pPr marL="457200" indent="-457200"/>
            <a:r>
              <a:rPr lang="en-GB" sz="2800" b="0" kern="0" smtClean="0">
                <a:solidFill>
                  <a:schemeClr val="tx2"/>
                </a:solidFill>
                <a:sym typeface="Wingdings" panose="05000000000000000000" pitchFamily="2" charset="2"/>
              </a:rPr>
              <a:t> </a:t>
            </a:r>
            <a:r>
              <a:rPr lang="en-GB" sz="2800" b="0" kern="0" smtClean="0">
                <a:solidFill>
                  <a:schemeClr val="tx2"/>
                </a:solidFill>
              </a:rPr>
              <a:t>1</a:t>
            </a:r>
            <a:r>
              <a:rPr lang="en-GB" sz="2800" b="0" kern="0" baseline="30000" smtClean="0">
                <a:solidFill>
                  <a:schemeClr val="tx2"/>
                </a:solidFill>
              </a:rPr>
              <a:t>st</a:t>
            </a:r>
            <a:r>
              <a:rPr lang="en-GB" sz="2800" b="0" kern="0" smtClean="0">
                <a:solidFill>
                  <a:schemeClr val="tx2"/>
                </a:solidFill>
              </a:rPr>
              <a:t>, HYF-SWG, Orleans, Sep 23, 2015 </a:t>
            </a:r>
            <a:endParaRPr lang="en-GB" sz="2800" b="0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7785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smtClean="0">
                <a:solidFill>
                  <a:schemeClr val="tx2"/>
                </a:solidFill>
              </a:rPr>
              <a:t>1</a:t>
            </a:r>
            <a:r>
              <a:rPr lang="en-GB" sz="2800" baseline="30000" smtClean="0">
                <a:solidFill>
                  <a:schemeClr val="tx2"/>
                </a:solidFill>
              </a:rPr>
              <a:t>st</a:t>
            </a:r>
            <a:r>
              <a:rPr lang="en-GB" sz="2800" smtClean="0">
                <a:solidFill>
                  <a:schemeClr val="tx2"/>
                </a:solidFill>
              </a:rPr>
              <a:t>, HYF-SWG, Orleans, Sep 23, 2015 </a:t>
            </a:r>
            <a:endParaRPr lang="en-GB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838199" y="1219200"/>
            <a:ext cx="770096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dirty="0" smtClean="0">
                <a:solidFill>
                  <a:schemeClr val="tx2"/>
                </a:solidFill>
              </a:rPr>
              <a:t>Select the lead for the RFC submission (letter of intent)</a:t>
            </a:r>
          </a:p>
          <a:p>
            <a:pPr marL="914400" lvl="1" indent="-4572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dirty="0" smtClean="0">
                <a:solidFill>
                  <a:schemeClr val="tx2"/>
                </a:solidFill>
              </a:rPr>
              <a:t>CSIRO	/ BoM / BRGM / USGS </a:t>
            </a:r>
          </a:p>
          <a:p>
            <a:pPr marL="457200" indent="-4572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endParaRPr lang="en-US" sz="2000" b="0" dirty="0" smtClean="0">
              <a:solidFill>
                <a:schemeClr val="tx2"/>
              </a:solidFill>
            </a:endParaRPr>
          </a:p>
          <a:p>
            <a:pPr marL="457200" indent="-4572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dirty="0" smtClean="0">
                <a:solidFill>
                  <a:schemeClr val="tx2"/>
                </a:solidFill>
              </a:rPr>
              <a:t>Select primary editors for Part 1, 2 and 3</a:t>
            </a:r>
          </a:p>
          <a:p>
            <a:pPr marL="914400" lvl="1" indent="-4572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dirty="0" smtClean="0">
                <a:solidFill>
                  <a:schemeClr val="tx2"/>
                </a:solidFill>
              </a:rPr>
              <a:t>Conceptual model – Irina, Rob, </a:t>
            </a:r>
            <a:r>
              <a:rPr lang="en-US" sz="2000" b="0" dirty="0" smtClean="0">
                <a:solidFill>
                  <a:schemeClr val="tx2"/>
                </a:solidFill>
              </a:rPr>
              <a:t>Bruce S</a:t>
            </a:r>
            <a:endParaRPr lang="en-US" sz="2000" b="0" dirty="0" smtClean="0">
              <a:solidFill>
                <a:schemeClr val="tx2"/>
              </a:solidFill>
            </a:endParaRPr>
          </a:p>
          <a:p>
            <a:pPr marL="914400" lvl="1" indent="-4572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dirty="0" smtClean="0">
                <a:solidFill>
                  <a:schemeClr val="tx2"/>
                </a:solidFill>
              </a:rPr>
              <a:t>GML implementation –</a:t>
            </a:r>
          </a:p>
          <a:p>
            <a:pPr marL="914400" lvl="1" indent="-4572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dirty="0" smtClean="0">
                <a:solidFill>
                  <a:schemeClr val="tx2"/>
                </a:solidFill>
              </a:rPr>
              <a:t>OWL implementation –</a:t>
            </a:r>
          </a:p>
          <a:p>
            <a:pPr marL="457200" indent="-4572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endParaRPr lang="en-US" sz="2000" b="0" dirty="0">
              <a:solidFill>
                <a:schemeClr val="tx2"/>
              </a:solidFill>
            </a:endParaRPr>
          </a:p>
          <a:p>
            <a:pPr marL="457200" indent="-4572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dirty="0" smtClean="0">
                <a:solidFill>
                  <a:schemeClr val="tx2"/>
                </a:solidFill>
              </a:rPr>
              <a:t>Scope:</a:t>
            </a:r>
          </a:p>
          <a:p>
            <a:pPr marL="457200" indent="-4572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dirty="0" err="1" smtClean="0">
                <a:solidFill>
                  <a:schemeClr val="tx2"/>
                </a:solidFill>
              </a:rPr>
              <a:t>Workplan</a:t>
            </a:r>
            <a:r>
              <a:rPr lang="en-US" sz="2000" b="0" dirty="0" smtClean="0">
                <a:solidFill>
                  <a:schemeClr val="tx2"/>
                </a:solidFill>
              </a:rPr>
              <a:t>: </a:t>
            </a:r>
          </a:p>
          <a:p>
            <a:pPr marL="457200" indent="-4572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dirty="0" smtClean="0">
                <a:solidFill>
                  <a:schemeClr val="tx2"/>
                </a:solidFill>
              </a:rPr>
              <a:t>Meetings: </a:t>
            </a:r>
            <a:endParaRPr lang="en-US" sz="18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478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609600" y="1138565"/>
            <a:ext cx="83058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1800" b="0" dirty="0" smtClean="0">
                <a:solidFill>
                  <a:schemeClr val="tx2"/>
                </a:solidFill>
              </a:rPr>
              <a:t>OGC </a:t>
            </a:r>
            <a:r>
              <a:rPr lang="en-GB" sz="1800" b="0" dirty="0">
                <a:solidFill>
                  <a:schemeClr val="tx2"/>
                </a:solidFill>
              </a:rPr>
              <a:t>HY_Features</a:t>
            </a:r>
            <a:r>
              <a:rPr lang="en-GB" sz="1800" b="0" dirty="0" smtClean="0">
                <a:solidFill>
                  <a:schemeClr val="tx2"/>
                </a:solidFill>
              </a:rPr>
              <a:t>: a </a:t>
            </a:r>
            <a:r>
              <a:rPr lang="en-GB" sz="1800" b="0" dirty="0">
                <a:solidFill>
                  <a:schemeClr val="tx2"/>
                </a:solidFill>
              </a:rPr>
              <a:t>Common Hydrologic Feature </a:t>
            </a:r>
            <a:r>
              <a:rPr lang="en-GB" sz="1800" b="0" dirty="0" smtClean="0">
                <a:solidFill>
                  <a:schemeClr val="tx2"/>
                </a:solidFill>
              </a:rPr>
              <a:t>Model (OGC-DP 11-039r3) 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0" dirty="0" smtClean="0">
                <a:solidFill>
                  <a:schemeClr val="tx2"/>
                </a:solidFill>
                <a:hlinkClick r:id="rId3"/>
              </a:rPr>
              <a:t>https</a:t>
            </a:r>
            <a:r>
              <a:rPr lang="en-GB" sz="1600" b="0" dirty="0">
                <a:solidFill>
                  <a:schemeClr val="tx2"/>
                </a:solidFill>
                <a:hlinkClick r:id="rId3"/>
              </a:rPr>
              <a:t>://portal.opengeospatial.org/files/?</a:t>
            </a:r>
            <a:r>
              <a:rPr lang="en-GB" sz="1600" b="0" dirty="0" smtClean="0">
                <a:solidFill>
                  <a:schemeClr val="tx2"/>
                </a:solidFill>
                <a:hlinkClick r:id="rId3"/>
              </a:rPr>
              <a:t>artifact_id=55157</a:t>
            </a:r>
            <a:r>
              <a:rPr lang="en-GB" sz="1600" b="0" dirty="0" smtClean="0">
                <a:solidFill>
                  <a:schemeClr val="tx2"/>
                </a:solidFill>
              </a:rPr>
              <a:t> 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GB" sz="1800" b="0" dirty="0" smtClean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1800" b="0" dirty="0" smtClean="0">
                <a:solidFill>
                  <a:schemeClr val="tx2"/>
                </a:solidFill>
              </a:rPr>
              <a:t>HY_Features: a geographic information model for the hydrology domain (</a:t>
            </a:r>
            <a:r>
              <a:rPr lang="en-GB" sz="1800" b="0" dirty="0">
                <a:solidFill>
                  <a:schemeClr val="tx2"/>
                </a:solidFill>
              </a:rPr>
              <a:t>GRDC Report </a:t>
            </a:r>
            <a:r>
              <a:rPr lang="en-GB" sz="1800" b="0" dirty="0" smtClean="0">
                <a:solidFill>
                  <a:schemeClr val="tx2"/>
                </a:solidFill>
              </a:rPr>
              <a:t>43, 2013) 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tx2"/>
                </a:solidFill>
                <a:hlinkClick r:id="rId4"/>
              </a:rPr>
              <a:t>http://</a:t>
            </a:r>
            <a:r>
              <a:rPr lang="en-GB" sz="1600" b="0" dirty="0" smtClean="0">
                <a:solidFill>
                  <a:schemeClr val="tx2"/>
                </a:solidFill>
                <a:hlinkClick r:id="rId4"/>
              </a:rPr>
              <a:t>www.bafg.de/GRDC/EN/02_srvcs/24_rprtsrs/report_43r1.html?nn=201572</a:t>
            </a:r>
            <a:r>
              <a:rPr lang="en-GB" sz="1600" b="0" dirty="0" smtClean="0">
                <a:solidFill>
                  <a:schemeClr val="tx2"/>
                </a:solidFill>
              </a:rPr>
              <a:t>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GB" sz="1800" b="0" dirty="0" smtClean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1800" b="0" dirty="0" smtClean="0">
                <a:solidFill>
                  <a:schemeClr val="tx2"/>
                </a:solidFill>
              </a:rPr>
              <a:t>The </a:t>
            </a:r>
            <a:r>
              <a:rPr lang="en-GB" sz="1800" b="0" dirty="0">
                <a:solidFill>
                  <a:schemeClr val="tx2"/>
                </a:solidFill>
              </a:rPr>
              <a:t>HY_Features model is </a:t>
            </a:r>
            <a:r>
              <a:rPr lang="en-GB" sz="1800" b="0" dirty="0" smtClean="0">
                <a:solidFill>
                  <a:schemeClr val="tx2"/>
                </a:solidFill>
              </a:rPr>
              <a:t>now available </a:t>
            </a:r>
            <a:r>
              <a:rPr lang="en-GB" sz="1800" b="0" dirty="0">
                <a:solidFill>
                  <a:schemeClr val="tx2"/>
                </a:solidFill>
              </a:rPr>
              <a:t>via a </a:t>
            </a:r>
            <a:r>
              <a:rPr lang="en-GB" sz="1800" b="0" dirty="0" smtClean="0">
                <a:solidFill>
                  <a:schemeClr val="tx2"/>
                </a:solidFill>
              </a:rPr>
              <a:t>“Feature </a:t>
            </a:r>
            <a:r>
              <a:rPr lang="en-GB" sz="1800" b="0" dirty="0">
                <a:solidFill>
                  <a:schemeClr val="tx2"/>
                </a:solidFill>
              </a:rPr>
              <a:t>Type </a:t>
            </a:r>
            <a:r>
              <a:rPr lang="en-GB" sz="1800" b="0" dirty="0" smtClean="0">
                <a:solidFill>
                  <a:schemeClr val="tx2"/>
                </a:solidFill>
              </a:rPr>
              <a:t>Catalogue </a:t>
            </a:r>
            <a:r>
              <a:rPr lang="en-GB" sz="1800" b="0" dirty="0">
                <a:solidFill>
                  <a:schemeClr val="tx2"/>
                </a:solidFill>
              </a:rPr>
              <a:t>Linked Data </a:t>
            </a:r>
            <a:r>
              <a:rPr lang="en-GB" sz="1800" b="0" dirty="0" smtClean="0">
                <a:solidFill>
                  <a:schemeClr val="tx2"/>
                </a:solidFill>
              </a:rPr>
              <a:t>API” </a:t>
            </a:r>
            <a:r>
              <a:rPr lang="en-GB" sz="1800" b="0" dirty="0">
                <a:solidFill>
                  <a:schemeClr val="tx2"/>
                </a:solidFill>
              </a:rPr>
              <a:t>using a temporary </a:t>
            </a:r>
            <a:r>
              <a:rPr lang="en-GB" sz="1800" b="0" dirty="0" smtClean="0">
                <a:solidFill>
                  <a:schemeClr val="tx2"/>
                </a:solidFill>
              </a:rPr>
              <a:t>namespace (for the time being at CSIRO). </a:t>
            </a:r>
          </a:p>
          <a:p>
            <a:pPr marL="266700" indent="-2667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tx2"/>
                </a:solidFill>
              </a:rPr>
              <a:t>Concepts in the HY_Features model may be accessed using the URI pattern: </a:t>
            </a:r>
            <a:r>
              <a:rPr lang="en-GB" sz="1600" b="0" dirty="0">
                <a:solidFill>
                  <a:schemeClr val="tx2"/>
                </a:solidFill>
                <a:hlinkClick r:id="rId5"/>
              </a:rPr>
              <a:t>http://demo.sirf.net/def/schema/hydrology/{schemafilename}/{concept</a:t>
            </a:r>
            <a:r>
              <a:rPr lang="en-GB" sz="1600" b="0" dirty="0">
                <a:solidFill>
                  <a:schemeClr val="tx2"/>
                </a:solidFill>
              </a:rPr>
              <a:t> } , e.g. </a:t>
            </a:r>
            <a:r>
              <a:rPr lang="en-GB" sz="1600" b="0" dirty="0">
                <a:hlinkClick r:id="rId6"/>
              </a:rPr>
              <a:t>http://demo.sirf.net/def/schema/hy_features/abstracthydrofeature/HY_Basin</a:t>
            </a:r>
            <a:r>
              <a:rPr lang="en-GB" sz="1600" b="0" dirty="0"/>
              <a:t> or </a:t>
            </a:r>
            <a:r>
              <a:rPr lang="en-GB" sz="1600" b="0" dirty="0">
                <a:hlinkClick r:id="rId7"/>
              </a:rPr>
              <a:t>https://</a:t>
            </a:r>
            <a:r>
              <a:rPr lang="en-GB" sz="1600" b="0" dirty="0" smtClean="0">
                <a:hlinkClick r:id="rId7"/>
              </a:rPr>
              <a:t>svnserv.csiro.au/svn/SIRF/public/def/schema/hy_features/abstracthydrofeature.rdf#HY_Basin</a:t>
            </a:r>
            <a:endParaRPr lang="en-GB" sz="1600" b="0" dirty="0" smtClean="0"/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GB" altLang="en-US" sz="1600" b="0" dirty="0" smtClean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altLang="en-US" sz="1600" b="0" dirty="0" smtClean="0">
                <a:solidFill>
                  <a:schemeClr val="tx2"/>
                </a:solidFill>
              </a:rPr>
              <a:t>Atkinson</a:t>
            </a:r>
            <a:r>
              <a:rPr lang="en-GB" altLang="en-US" sz="1600" b="0" dirty="0">
                <a:solidFill>
                  <a:schemeClr val="tx2"/>
                </a:solidFill>
              </a:rPr>
              <a:t>, R., I. Dornblut and D. </a:t>
            </a:r>
            <a:r>
              <a:rPr lang="en-GB" altLang="en-US" sz="1600" b="0" dirty="0" smtClean="0">
                <a:solidFill>
                  <a:schemeClr val="tx2"/>
                </a:solidFill>
              </a:rPr>
              <a:t>Smith (2012): An </a:t>
            </a:r>
            <a:r>
              <a:rPr lang="en-GB" altLang="en-US" sz="1600" b="0" dirty="0">
                <a:solidFill>
                  <a:schemeClr val="tx2"/>
                </a:solidFill>
              </a:rPr>
              <a:t>international standard conceptual model for sharing references to hydrologic features. Journal of Hydrology, </a:t>
            </a:r>
            <a:r>
              <a:rPr lang="en-GB" altLang="en-US" sz="1400" b="0" dirty="0" smtClean="0">
                <a:solidFill>
                  <a:schemeClr val="tx2"/>
                </a:solidFill>
              </a:rPr>
              <a:t>424-425(2012</a:t>
            </a:r>
            <a:r>
              <a:rPr lang="en-GB" altLang="en-US" sz="1400" b="0" dirty="0">
                <a:solidFill>
                  <a:schemeClr val="tx2"/>
                </a:solidFill>
              </a:rPr>
              <a:t>): p.24-36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GB" sz="1600" b="0" dirty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i="1" dirty="0" smtClean="0">
                <a:solidFill>
                  <a:schemeClr val="tx2"/>
                </a:solidFill>
              </a:rPr>
              <a:t>HY_Features</a:t>
            </a:r>
            <a:r>
              <a:rPr lang="en-GB" sz="2800" dirty="0" smtClean="0">
                <a:solidFill>
                  <a:schemeClr val="tx2"/>
                </a:solidFill>
              </a:rPr>
              <a:t> – Where to find ?</a:t>
            </a:r>
            <a:endParaRPr lang="en-GB" sz="2800" i="1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24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cs typeface="+mj-cs"/>
              </a:rPr>
              <a:t>s</a:t>
            </a:r>
            <a:r>
              <a:rPr lang="en-GB" smtClean="0">
                <a:cs typeface="+mj-cs"/>
              </a:rPr>
              <a:t>ome Definitions</a:t>
            </a:r>
            <a:endParaRPr lang="en-GB" dirty="0">
              <a:cs typeface="+mj-cs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838200" y="1066800"/>
            <a:ext cx="8077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rgbClr val="092E5C"/>
                </a:solidFill>
              </a:rPr>
              <a:t>Data: </a:t>
            </a:r>
            <a:r>
              <a:rPr lang="en-GB" sz="1600" b="0" dirty="0" smtClean="0">
                <a:solidFill>
                  <a:srgbClr val="092E5C"/>
                </a:solidFill>
              </a:rPr>
              <a:t>notion </a:t>
            </a:r>
            <a:r>
              <a:rPr lang="en-GB" sz="1600" b="0" dirty="0">
                <a:solidFill>
                  <a:srgbClr val="092E5C"/>
                </a:solidFill>
              </a:rPr>
              <a:t>of a documented value of some characteristics of a </a:t>
            </a:r>
            <a:r>
              <a:rPr lang="en-GB" sz="1600" b="0" dirty="0" smtClean="0">
                <a:solidFill>
                  <a:srgbClr val="092E5C"/>
                </a:solidFill>
              </a:rPr>
              <a:t>phenomenon</a:t>
            </a:r>
            <a:r>
              <a:rPr lang="en-GB" sz="1600" b="0" dirty="0">
                <a:solidFill>
                  <a:srgbClr val="092E5C"/>
                </a:solidFill>
              </a:rPr>
              <a:t>. </a:t>
            </a:r>
          </a:p>
          <a:p>
            <a:endParaRPr lang="en-GB" sz="1600" b="0" dirty="0">
              <a:solidFill>
                <a:srgbClr val="092E5C"/>
              </a:solidFill>
            </a:endParaRPr>
          </a:p>
          <a:p>
            <a:r>
              <a:rPr lang="en-GB" sz="1600" dirty="0">
                <a:solidFill>
                  <a:srgbClr val="092E5C"/>
                </a:solidFill>
              </a:rPr>
              <a:t>Dataset: </a:t>
            </a:r>
            <a:r>
              <a:rPr lang="en-GB" sz="1600" b="0" dirty="0">
                <a:solidFill>
                  <a:srgbClr val="092E5C"/>
                </a:solidFill>
              </a:rPr>
              <a:t>identifiable collection of data. [ISO19115:2003] </a:t>
            </a:r>
          </a:p>
          <a:p>
            <a:endParaRPr lang="en-GB" sz="1600" dirty="0" smtClean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Coverage</a:t>
            </a:r>
            <a:r>
              <a:rPr lang="en-GB" sz="1600" dirty="0">
                <a:solidFill>
                  <a:srgbClr val="092E5C"/>
                </a:solidFill>
              </a:rPr>
              <a:t>: </a:t>
            </a:r>
            <a:r>
              <a:rPr lang="en-GB" sz="1600" b="0" dirty="0">
                <a:solidFill>
                  <a:srgbClr val="092E5C"/>
                </a:solidFill>
              </a:rPr>
              <a:t>set of attribute values arranged with respect to a particular </a:t>
            </a:r>
            <a:r>
              <a:rPr lang="en-GB" sz="1600" b="0" dirty="0" smtClean="0">
                <a:solidFill>
                  <a:srgbClr val="092E5C"/>
                </a:solidFill>
              </a:rPr>
              <a:t>domain. – function to return values from its range for any direct position within its spatial, temporal or spatiotemporal domain. </a:t>
            </a:r>
            <a:r>
              <a:rPr lang="en-GB" sz="1600" b="0" dirty="0">
                <a:solidFill>
                  <a:srgbClr val="092E5C"/>
                </a:solidFill>
              </a:rPr>
              <a:t>[</a:t>
            </a:r>
            <a:r>
              <a:rPr lang="en-GB" sz="1600" b="0" dirty="0" smtClean="0">
                <a:solidFill>
                  <a:srgbClr val="092E5C"/>
                </a:solidFill>
              </a:rPr>
              <a:t>ISO19123:2005]</a:t>
            </a:r>
          </a:p>
          <a:p>
            <a:endParaRPr lang="en-GB" sz="1600" dirty="0" smtClean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Feature: </a:t>
            </a:r>
            <a:r>
              <a:rPr lang="en-GB" sz="1600" b="0" dirty="0">
                <a:solidFill>
                  <a:srgbClr val="092E5C"/>
                </a:solidFill>
              </a:rPr>
              <a:t>abstraction (abstract notion) of real-world phenomena</a:t>
            </a:r>
            <a:r>
              <a:rPr lang="en-GB" sz="1600" b="0" dirty="0" smtClean="0">
                <a:solidFill>
                  <a:srgbClr val="092E5C"/>
                </a:solidFill>
              </a:rPr>
              <a:t>. [ISO19101:2002];      the fundamental unit of geographic information. [ISO19109:2005]</a:t>
            </a:r>
            <a:endParaRPr lang="en-GB" sz="1600" b="0" dirty="0">
              <a:solidFill>
                <a:srgbClr val="092E5C"/>
              </a:solidFill>
            </a:endParaRPr>
          </a:p>
          <a:p>
            <a:endParaRPr lang="en-GB" sz="1600" dirty="0" smtClean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Hydrologic Feature: </a:t>
            </a:r>
            <a:r>
              <a:rPr lang="en-GB" sz="1600" b="0" dirty="0" smtClean="0">
                <a:solidFill>
                  <a:srgbClr val="092E5C"/>
                </a:solidFill>
              </a:rPr>
              <a:t>abstract notion </a:t>
            </a:r>
            <a:r>
              <a:rPr lang="en-GB" sz="1600" b="0" dirty="0">
                <a:solidFill>
                  <a:srgbClr val="092E5C"/>
                </a:solidFill>
              </a:rPr>
              <a:t>of </a:t>
            </a:r>
            <a:r>
              <a:rPr lang="en-GB" sz="1600" b="0" dirty="0" smtClean="0">
                <a:solidFill>
                  <a:srgbClr val="092E5C"/>
                </a:solidFill>
              </a:rPr>
              <a:t>the hydrology phenomenon. [OGC 11-039r3]</a:t>
            </a:r>
            <a:endParaRPr lang="en-GB" sz="1600" dirty="0" smtClean="0">
              <a:solidFill>
                <a:srgbClr val="092E5C"/>
              </a:solidFill>
            </a:endParaRPr>
          </a:p>
          <a:p>
            <a:endParaRPr lang="en-GB" sz="1600" dirty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Property</a:t>
            </a:r>
            <a:r>
              <a:rPr lang="en-GB" sz="1600" dirty="0">
                <a:solidFill>
                  <a:srgbClr val="092E5C"/>
                </a:solidFill>
              </a:rPr>
              <a:t>: </a:t>
            </a:r>
            <a:r>
              <a:rPr lang="en-GB" sz="1600" b="0" dirty="0">
                <a:solidFill>
                  <a:srgbClr val="092E5C"/>
                </a:solidFill>
              </a:rPr>
              <a:t>notion of a characteristic property of a real-world phenomenon</a:t>
            </a:r>
            <a:r>
              <a:rPr lang="en-GB" sz="1600" dirty="0">
                <a:solidFill>
                  <a:srgbClr val="092E5C"/>
                </a:solidFill>
              </a:rPr>
              <a:t>. </a:t>
            </a:r>
            <a:endParaRPr lang="en-GB" sz="1600" dirty="0" smtClean="0">
              <a:solidFill>
                <a:srgbClr val="092E5C"/>
              </a:solidFill>
            </a:endParaRPr>
          </a:p>
          <a:p>
            <a:endParaRPr lang="en-GB" sz="1600" dirty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Observation: </a:t>
            </a:r>
            <a:r>
              <a:rPr lang="en-GB" sz="1600" b="0" dirty="0">
                <a:solidFill>
                  <a:srgbClr val="092E5C"/>
                </a:solidFill>
              </a:rPr>
              <a:t>act of observing a property or phenomenon, with the goal of producing an estimate of the value of the </a:t>
            </a:r>
            <a:r>
              <a:rPr lang="en-GB" sz="1600" b="0" dirty="0" smtClean="0">
                <a:solidFill>
                  <a:srgbClr val="092E5C"/>
                </a:solidFill>
              </a:rPr>
              <a:t>property. [</a:t>
            </a:r>
            <a:r>
              <a:rPr lang="en-GB" sz="1600" b="0" dirty="0">
                <a:solidFill>
                  <a:srgbClr val="092E5C"/>
                </a:solidFill>
              </a:rPr>
              <a:t>ISO19156:2011]</a:t>
            </a:r>
          </a:p>
          <a:p>
            <a:endParaRPr lang="en-GB" sz="1600" dirty="0" smtClean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Variable: </a:t>
            </a:r>
            <a:r>
              <a:rPr lang="en-GB" sz="1600" b="0" dirty="0" smtClean="0">
                <a:solidFill>
                  <a:srgbClr val="092E5C"/>
                </a:solidFill>
              </a:rPr>
              <a:t>feature properties whose values may change with Space, Time, or Observation. A variable may take any value in a range of possible values [WMO, 1992].</a:t>
            </a:r>
            <a:endParaRPr lang="en-GB" sz="1600" dirty="0" smtClean="0">
              <a:solidFill>
                <a:srgbClr val="092E5C"/>
              </a:solidFill>
            </a:endParaRPr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15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1351</Words>
  <Application>Microsoft Office PowerPoint</Application>
  <PresentationFormat>Bildschirmpräsentation (4:3)</PresentationFormat>
  <Paragraphs>184</Paragraphs>
  <Slides>12</Slides>
  <Notes>11</Notes>
  <HiddenSlides>1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3" baseType="lpstr">
      <vt:lpstr>OGC_PowerPoint_Template</vt:lpstr>
      <vt:lpstr>Hydrologic Features SWG - status, scope, workplan -</vt:lpstr>
      <vt:lpstr>Purpose of the Hydrologic Features SWG</vt:lpstr>
      <vt:lpstr>Scope of work</vt:lpstr>
      <vt:lpstr>Participating organizations </vt:lpstr>
      <vt:lpstr>SWG Founding or Charter members:</vt:lpstr>
      <vt:lpstr>Deliverables</vt:lpstr>
      <vt:lpstr>Draft workplan to an adopted OGC Standard</vt:lpstr>
      <vt:lpstr>Status in September 2015 </vt:lpstr>
      <vt:lpstr>Thank you !   </vt:lpstr>
      <vt:lpstr>1st, HYF-SWG, Orleans, Sep 23, 2015 </vt:lpstr>
      <vt:lpstr>HY_Features – Where to find ?</vt:lpstr>
      <vt:lpstr>some Definitions</vt:lpstr>
    </vt:vector>
  </TitlesOfParts>
  <Company>OGC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OGC TC/PC</dc:subject>
  <dc:creator>GRDC/ID</dc:creator>
  <cp:lastModifiedBy>iche</cp:lastModifiedBy>
  <cp:revision>978</cp:revision>
  <cp:lastPrinted>2014-07-31T11:45:23Z</cp:lastPrinted>
  <dcterms:created xsi:type="dcterms:W3CDTF">2009-10-20T16:54:31Z</dcterms:created>
  <dcterms:modified xsi:type="dcterms:W3CDTF">2015-09-20T21:29:19Z</dcterms:modified>
</cp:coreProperties>
</file>