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1"/>
  </p:notesMasterIdLst>
  <p:sldIdLst>
    <p:sldId id="256" r:id="rId2"/>
    <p:sldId id="286" r:id="rId3"/>
    <p:sldId id="261" r:id="rId4"/>
    <p:sldId id="274" r:id="rId5"/>
    <p:sldId id="275" r:id="rId6"/>
    <p:sldId id="276" r:id="rId7"/>
    <p:sldId id="264" r:id="rId8"/>
    <p:sldId id="265" r:id="rId9"/>
    <p:sldId id="267" r:id="rId10"/>
    <p:sldId id="269" r:id="rId11"/>
    <p:sldId id="272" r:id="rId12"/>
    <p:sldId id="288" r:id="rId13"/>
    <p:sldId id="290" r:id="rId14"/>
    <p:sldId id="291" r:id="rId15"/>
    <p:sldId id="292" r:id="rId16"/>
    <p:sldId id="295" r:id="rId17"/>
    <p:sldId id="294" r:id="rId18"/>
    <p:sldId id="289" r:id="rId19"/>
    <p:sldId id="271" r:id="rId20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urav Kumar" initials="SK" lastIdx="1" clrIdx="0">
    <p:extLst>
      <p:ext uri="{19B8F6BF-5375-455C-9EA6-DF929625EA0E}">
        <p15:presenceInfo xmlns:p15="http://schemas.microsoft.com/office/powerpoint/2012/main" userId="e328c20fce2c7db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E2344"/>
    <a:srgbClr val="A262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7033" autoAdjust="0"/>
    <p:restoredTop sz="64632" autoAdjust="0"/>
  </p:normalViewPr>
  <p:slideViewPr>
    <p:cSldViewPr snapToGrid="0">
      <p:cViewPr varScale="1">
        <p:scale>
          <a:sx n="59" d="100"/>
          <a:sy n="59" d="100"/>
        </p:scale>
        <p:origin x="1776" y="78"/>
      </p:cViewPr>
      <p:guideLst/>
    </p:cSldViewPr>
  </p:slideViewPr>
  <p:outlineViewPr>
    <p:cViewPr>
      <p:scale>
        <a:sx n="33" d="100"/>
        <a:sy n="33" d="100"/>
      </p:scale>
      <p:origin x="0" y="-231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969D347F-97CD-4EFA-8647-ABFA24F60746}" type="datetimeFigureOut">
              <a:rPr lang="en-US" smtClean="0"/>
              <a:t>8/14/2014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97013" y="1200150"/>
            <a:ext cx="432117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9615780E-C60A-4BC8-8703-DAA2F6D5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740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 am going to talk about some of the work we have done and are doing at</a:t>
            </a:r>
            <a:r>
              <a:rPr lang="en-US" baseline="0" dirty="0" smtClean="0"/>
              <a:t> the OWML to make our data and modeling tools more accessible to the stakeholders and hopefully how the work we are doing at OWML may be extended to other places.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15780E-C60A-4BC8-8703-DAA2F6D5677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162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15780E-C60A-4BC8-8703-DAA2F6D5677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1779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OccViz was</a:t>
            </a:r>
            <a:r>
              <a:rPr lang="en-US" baseline="0" dirty="0" smtClean="0"/>
              <a:t> designed as</a:t>
            </a:r>
            <a:r>
              <a:rPr lang="en-US" dirty="0" smtClean="0"/>
              <a:t> a solution</a:t>
            </a:r>
            <a:r>
              <a:rPr lang="en-US" baseline="0" dirty="0" smtClean="0"/>
              <a:t> to manage, curate, and analyze water resources data, including water quantity and quality data. </a:t>
            </a:r>
          </a:p>
          <a:p>
            <a:endParaRPr lang="en-US" baseline="0" dirty="0" smtClean="0"/>
          </a:p>
          <a:p>
            <a:r>
              <a:rPr lang="en-US" baseline="0" dirty="0" smtClean="0"/>
              <a:t>The schematic shows the key components and functionalities of the OccViz.</a:t>
            </a:r>
          </a:p>
          <a:p>
            <a:endParaRPr lang="en-US" baseline="0" dirty="0" smtClean="0"/>
          </a:p>
          <a:p>
            <a:r>
              <a:rPr lang="en-US" baseline="0" dirty="0" smtClean="0"/>
              <a:t>&lt;c&gt;</a:t>
            </a:r>
          </a:p>
          <a:p>
            <a:endParaRPr lang="en-US" baseline="0" dirty="0" smtClean="0"/>
          </a:p>
          <a:p>
            <a:r>
              <a:rPr lang="en-US" baseline="0" dirty="0" smtClean="0"/>
              <a:t>First objective of OccViz to collect various water quality data from all sources field stations, Rain gauge, LIMS, etc.. Into a central repository. </a:t>
            </a:r>
          </a:p>
          <a:p>
            <a:endParaRPr lang="en-US" baseline="0" dirty="0" smtClean="0"/>
          </a:p>
          <a:p>
            <a:r>
              <a:rPr lang="en-US" baseline="0" dirty="0" smtClean="0"/>
              <a:t>&lt;c&gt;</a:t>
            </a:r>
          </a:p>
          <a:p>
            <a:r>
              <a:rPr lang="en-US" baseline="0" dirty="0" smtClean="0"/>
              <a:t>Central Water Resources Data Warehouse is that central repository</a:t>
            </a:r>
          </a:p>
          <a:p>
            <a:endParaRPr lang="en-US" baseline="0" dirty="0" smtClean="0"/>
          </a:p>
          <a:p>
            <a:r>
              <a:rPr lang="en-US" baseline="0" dirty="0" smtClean="0"/>
              <a:t>&lt;c&gt;</a:t>
            </a:r>
          </a:p>
          <a:p>
            <a:r>
              <a:rPr lang="en-US" baseline="0" dirty="0" smtClean="0"/>
              <a:t>From the central repository we mine the data that will be analyzed through the web tools and put it in the web database server optimized for web retrieval and analysis. </a:t>
            </a:r>
          </a:p>
          <a:p>
            <a:r>
              <a:rPr lang="en-US" baseline="0" dirty="0" smtClean="0"/>
              <a:t>Several statistical parameters that may be helpful in analysis, such as percentile are computed in this step, and the data also goes through a curation scheme to flag outlier for further verification.</a:t>
            </a:r>
          </a:p>
          <a:p>
            <a:endParaRPr lang="en-US" baseline="0" dirty="0" smtClean="0"/>
          </a:p>
          <a:p>
            <a:r>
              <a:rPr lang="en-US" baseline="0" dirty="0" smtClean="0"/>
              <a:t>&lt;c&gt;</a:t>
            </a:r>
          </a:p>
          <a:p>
            <a:r>
              <a:rPr lang="en-US" baseline="0" dirty="0" smtClean="0"/>
              <a:t>There are other databases in this Web database server to manage the users, their login and preferences etc. Configuration of the web front-end, things like description of the sites, pictures of the site etc.</a:t>
            </a:r>
          </a:p>
          <a:p>
            <a:endParaRPr lang="en-US" baseline="0" dirty="0" smtClean="0"/>
          </a:p>
          <a:p>
            <a:r>
              <a:rPr lang="en-US" baseline="0" dirty="0" smtClean="0"/>
              <a:t>&lt;c&gt;</a:t>
            </a:r>
          </a:p>
          <a:p>
            <a:r>
              <a:rPr lang="en-US" baseline="0" dirty="0" smtClean="0"/>
              <a:t>The data is also made available through web-services for others to consume. This component is still a work in progress and eventually we will serve data in </a:t>
            </a:r>
            <a:r>
              <a:rPr lang="en-US" baseline="0" dirty="0" err="1" smtClean="0"/>
              <a:t>WaterML</a:t>
            </a:r>
            <a:r>
              <a:rPr lang="en-US" baseline="0" dirty="0" smtClean="0"/>
              <a:t> and JSON formats.</a:t>
            </a:r>
          </a:p>
          <a:p>
            <a:endParaRPr lang="en-US" baseline="0" dirty="0" smtClean="0"/>
          </a:p>
          <a:p>
            <a:r>
              <a:rPr lang="en-US" baseline="0" dirty="0" smtClean="0"/>
              <a:t>&lt;c&gt;</a:t>
            </a:r>
          </a:p>
          <a:p>
            <a:r>
              <a:rPr lang="en-US" baseline="0" dirty="0" smtClean="0"/>
              <a:t>And Finally the webserver.</a:t>
            </a:r>
          </a:p>
          <a:p>
            <a:endParaRPr lang="en-US" baseline="0" dirty="0" smtClean="0"/>
          </a:p>
          <a:p>
            <a:r>
              <a:rPr lang="en-US" baseline="0" dirty="0" smtClean="0"/>
              <a:t>&lt;c&gt;</a:t>
            </a:r>
          </a:p>
          <a:p>
            <a:r>
              <a:rPr lang="en-US" baseline="0" dirty="0" smtClean="0"/>
              <a:t>Webserver facilitates all interactions through the web browser including data management, configuration and visualization. We will see this component in detail in the demo pretty soon.</a:t>
            </a:r>
          </a:p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1411F-FD6D-4A48-B002-E767076713EC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0249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15780E-C60A-4BC8-8703-DAA2F6D5677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2742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15780E-C60A-4BC8-8703-DAA2F6D5677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817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15780E-C60A-4BC8-8703-DAA2F6D5677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1495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1411F-FD6D-4A48-B002-E767076713EC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06296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15780E-C60A-4BC8-8703-DAA2F6D5677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7659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1411F-FD6D-4A48-B002-E767076713EC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15140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1411F-FD6D-4A48-B002-E767076713EC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50232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We started</a:t>
            </a:r>
            <a:r>
              <a:rPr lang="en-US" baseline="0" dirty="0" smtClean="0"/>
              <a:t> using the OccViz implementation as the primary data distribution portal since December of 2013. </a:t>
            </a:r>
          </a:p>
          <a:p>
            <a:endParaRPr lang="en-US" baseline="0" dirty="0" smtClean="0"/>
          </a:p>
          <a:p>
            <a:r>
              <a:rPr lang="en-US" baseline="0" dirty="0" smtClean="0"/>
              <a:t>And in the short term we also have gotten some request for features, these include: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15780E-C60A-4BC8-8703-DAA2F6D5677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9015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15780E-C60A-4BC8-8703-DAA2F6D5677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1372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15780E-C60A-4BC8-8703-DAA2F6D5677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8649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15780E-C60A-4BC8-8703-DAA2F6D5677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0786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15780E-C60A-4BC8-8703-DAA2F6D5677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6966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15780E-C60A-4BC8-8703-DAA2F6D5677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2058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15780E-C60A-4BC8-8703-DAA2F6D5677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8266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43A731-3E75-4D3D-BCFE-2D6928BC6E0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0596166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838200"/>
            <a:ext cx="7886700" cy="852488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715014-30DC-4C9E-893A-E15E758EA46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12463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1DE50E-BAEE-4CBC-99D4-0CC8077FA94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4866965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75425"/>
            <a:ext cx="7886700" cy="9144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724025"/>
            <a:ext cx="3810000" cy="45243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24025"/>
            <a:ext cx="3810000" cy="45243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DD851D-0DC6-4747-95B3-3E95F76C26D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083663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762000"/>
            <a:ext cx="7886700" cy="928688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FE68BD-3FBA-47B2-BD41-168511F3B34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067127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762001"/>
            <a:ext cx="7886700" cy="762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548BD7-DEC8-475A-9449-92A19778B1C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322573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3E16DB-8C49-4E90-BB70-C3259C41989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2452906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24C15E-2550-4412-B0C2-97BE2BE104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207643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D62D4D-499F-4452-9CC7-AAFA901EC1E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8278111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B43DFF-B89D-477C-9FB9-5E34EDAEA58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3771838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8327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832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7F1097-7EBA-451A-B6D8-86F760EADEC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7488322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724025"/>
            <a:ext cx="7772400" cy="452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10595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1059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6464E5E3-D622-4C8F-9E53-05F2E2F09FA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029" name="Text Box 5"/>
          <p:cNvSpPr txBox="1">
            <a:spLocks noChangeArrowheads="1"/>
          </p:cNvSpPr>
          <p:nvPr userDrawn="1"/>
        </p:nvSpPr>
        <p:spPr bwMode="auto">
          <a:xfrm>
            <a:off x="2266950" y="166688"/>
            <a:ext cx="2609850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400" b="1" dirty="0">
                <a:solidFill>
                  <a:srgbClr val="8E2344"/>
                </a:solidFill>
                <a:latin typeface="Franklin Gothic Medium Cond" panose="020B0606030402020204" pitchFamily="34" charset="0"/>
              </a:rPr>
              <a:t>The Charles E. Via, Jr. Department of Civil and Environmental Engineering</a:t>
            </a:r>
          </a:p>
        </p:txBody>
      </p:sp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2362200" y="152400"/>
            <a:ext cx="0" cy="5334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031" name="Line 10"/>
          <p:cNvSpPr>
            <a:spLocks noChangeShapeType="1"/>
          </p:cNvSpPr>
          <p:nvPr/>
        </p:nvSpPr>
        <p:spPr bwMode="auto">
          <a:xfrm>
            <a:off x="2362200" y="152400"/>
            <a:ext cx="2514600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pic>
        <p:nvPicPr>
          <p:cNvPr id="1032" name="Picture 11" descr="vt_shield_tag_onwhite230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266700"/>
            <a:ext cx="219075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3" name="Line 17"/>
          <p:cNvSpPr>
            <a:spLocks noChangeShapeType="1"/>
          </p:cNvSpPr>
          <p:nvPr userDrawn="1"/>
        </p:nvSpPr>
        <p:spPr bwMode="auto">
          <a:xfrm>
            <a:off x="228600" y="685800"/>
            <a:ext cx="0" cy="58674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034" name="Line 18"/>
          <p:cNvSpPr>
            <a:spLocks noChangeShapeType="1"/>
          </p:cNvSpPr>
          <p:nvPr userDrawn="1"/>
        </p:nvSpPr>
        <p:spPr bwMode="auto">
          <a:xfrm>
            <a:off x="228600" y="6553200"/>
            <a:ext cx="2971800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035" name="Text Box 19"/>
          <p:cNvSpPr txBox="1">
            <a:spLocks noChangeArrowheads="1"/>
          </p:cNvSpPr>
          <p:nvPr userDrawn="1"/>
        </p:nvSpPr>
        <p:spPr bwMode="auto">
          <a:xfrm>
            <a:off x="6781800" y="6621463"/>
            <a:ext cx="1676400" cy="246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000" dirty="0"/>
              <a:t>OWML, Manassas, VA</a:t>
            </a:r>
          </a:p>
        </p:txBody>
      </p:sp>
    </p:spTree>
    <p:extLst>
      <p:ext uri="{BB962C8B-B14F-4D97-AF65-F5344CB8AC3E}">
        <p14:creationId xmlns:p14="http://schemas.microsoft.com/office/powerpoint/2010/main" val="3403218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/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rgbClr val="8E2344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E2344"/>
          </a:solidFill>
          <a:effectLst>
            <a:outerShdw blurRad="38100" dist="38100" dir="2700000" algn="tl">
              <a:srgbClr val="C0C0C0"/>
            </a:outerShdw>
          </a:effectLst>
          <a:latin typeface="Franklin Gothic Demi" panose="020B07030201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E2344"/>
          </a:solidFill>
          <a:effectLst>
            <a:outerShdw blurRad="38100" dist="38100" dir="2700000" algn="tl">
              <a:srgbClr val="C0C0C0"/>
            </a:outerShdw>
          </a:effectLst>
          <a:latin typeface="Franklin Gothic Demi" panose="020B07030201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E2344"/>
          </a:solidFill>
          <a:effectLst>
            <a:outerShdw blurRad="38100" dist="38100" dir="2700000" algn="tl">
              <a:srgbClr val="C0C0C0"/>
            </a:outerShdw>
          </a:effectLst>
          <a:latin typeface="Franklin Gothic Demi" panose="020B07030201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E2344"/>
          </a:solidFill>
          <a:effectLst>
            <a:outerShdw blurRad="38100" dist="38100" dir="2700000" algn="tl">
              <a:srgbClr val="C0C0C0"/>
            </a:outerShdw>
          </a:effectLst>
          <a:latin typeface="Franklin Gothic Demi" panose="020B07030201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rgbClr val="8E2344"/>
          </a:solidFill>
          <a:effectLst>
            <a:outerShdw blurRad="38100" dist="38100" dir="2700000" algn="tl">
              <a:srgbClr val="C0C0C0"/>
            </a:outerShdw>
          </a:effectLst>
          <a:latin typeface="Franklin Gothic Demi" panose="020B07030201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rgbClr val="8E2344"/>
          </a:solidFill>
          <a:effectLst>
            <a:outerShdw blurRad="38100" dist="38100" dir="2700000" algn="tl">
              <a:srgbClr val="C0C0C0"/>
            </a:outerShdw>
          </a:effectLst>
          <a:latin typeface="Franklin Gothic Demi" panose="020B07030201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rgbClr val="8E2344"/>
          </a:solidFill>
          <a:effectLst>
            <a:outerShdw blurRad="38100" dist="38100" dir="2700000" algn="tl">
              <a:srgbClr val="C0C0C0"/>
            </a:outerShdw>
          </a:effectLst>
          <a:latin typeface="Franklin Gothic Demi" panose="020B07030201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rgbClr val="8E2344"/>
          </a:solidFill>
          <a:effectLst>
            <a:outerShdw blurRad="38100" dist="38100" dir="2700000" algn="tl">
              <a:srgbClr val="C0C0C0"/>
            </a:outerShdw>
          </a:effectLst>
          <a:latin typeface="Franklin Gothic Demi" panose="020B07030201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3F6075"/>
        </a:buClr>
        <a:buFont typeface="Wingdings" panose="05000000000000000000" pitchFamily="2" charset="2"/>
        <a:buChar char="Ø"/>
        <a:defRPr sz="3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3F6075"/>
        </a:buClr>
        <a:buFont typeface="Wingdings" panose="05000000000000000000" pitchFamily="2" charset="2"/>
        <a:buChar char="Ø"/>
        <a:defRPr sz="2800" kern="1200">
          <a:solidFill>
            <a:srgbClr val="E8751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3F6075"/>
        </a:buClr>
        <a:buFont typeface="Wingdings" panose="05000000000000000000" pitchFamily="2" charset="2"/>
        <a:buChar char="Ø"/>
        <a:defRPr sz="2400" kern="1200">
          <a:solidFill>
            <a:srgbClr val="8CAFAD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3F6075"/>
        </a:buClr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3F6075"/>
        </a:buClr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saurav@vt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qdata.owml.vt.edu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9634" y="625975"/>
            <a:ext cx="8464732" cy="2387600"/>
          </a:xfrm>
        </p:spPr>
        <p:txBody>
          <a:bodyPr/>
          <a:lstStyle/>
          <a:p>
            <a:r>
              <a:rPr lang="en-US" sz="3600" b="0" dirty="0"/>
              <a:t/>
            </a:r>
            <a:br>
              <a:rPr lang="en-US" sz="3600" b="0" dirty="0"/>
            </a:br>
            <a:r>
              <a:rPr lang="en-US" sz="4800" b="0" dirty="0"/>
              <a:t> </a:t>
            </a:r>
            <a:r>
              <a:rPr lang="en-US" sz="4800" dirty="0" smtClean="0"/>
              <a:t>OccViz </a:t>
            </a:r>
            <a:br>
              <a:rPr lang="en-US" sz="4800" dirty="0" smtClean="0"/>
            </a:br>
            <a:r>
              <a:rPr lang="en-US" sz="4800" smtClean="0"/>
              <a:t>status anddirection</a:t>
            </a: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013575"/>
            <a:ext cx="8072846" cy="1655762"/>
          </a:xfrm>
        </p:spPr>
        <p:txBody>
          <a:bodyPr/>
          <a:lstStyle/>
          <a:p>
            <a:pPr algn="r"/>
            <a:endParaRPr lang="en-US" u="sng" dirty="0" smtClean="0"/>
          </a:p>
          <a:p>
            <a:pPr algn="r"/>
            <a:r>
              <a:rPr lang="en-US" u="sng" dirty="0" smtClean="0"/>
              <a:t>Saurav Kumar </a:t>
            </a:r>
            <a:r>
              <a:rPr lang="en-US" dirty="0" smtClean="0"/>
              <a:t>(</a:t>
            </a:r>
            <a:r>
              <a:rPr lang="en-US" dirty="0" smtClean="0">
                <a:hlinkClick r:id="rId3"/>
              </a:rPr>
              <a:t>saurav@vt.edu</a:t>
            </a:r>
            <a:r>
              <a:rPr lang="en-US" dirty="0" smtClean="0"/>
              <a:t>)</a:t>
            </a:r>
          </a:p>
          <a:p>
            <a:pPr algn="r"/>
            <a:endParaRPr lang="en-US" dirty="0" smtClean="0"/>
          </a:p>
          <a:p>
            <a:pPr algn="l"/>
            <a:r>
              <a:rPr lang="en-US" dirty="0" smtClean="0">
                <a:solidFill>
                  <a:srgbClr val="8E2344"/>
                </a:solidFill>
              </a:rPr>
              <a:t>Research Associate </a:t>
            </a:r>
          </a:p>
          <a:p>
            <a:pPr algn="l"/>
            <a:r>
              <a:rPr lang="en-US" dirty="0" smtClean="0">
                <a:solidFill>
                  <a:srgbClr val="8E2344"/>
                </a:solidFill>
              </a:rPr>
              <a:t>Occoquan Watershed Monitoring Laboratory  (OWML</a:t>
            </a:r>
            <a:r>
              <a:rPr lang="en-US" dirty="0" smtClean="0">
                <a:solidFill>
                  <a:srgbClr val="8E2344"/>
                </a:solidFill>
              </a:rPr>
              <a:t>), </a:t>
            </a:r>
            <a:endParaRPr lang="en-US" dirty="0" smtClean="0">
              <a:solidFill>
                <a:srgbClr val="8E2344"/>
              </a:solidFill>
            </a:endParaRPr>
          </a:p>
          <a:p>
            <a:pPr algn="l"/>
            <a:r>
              <a:rPr lang="en-US" dirty="0" smtClean="0">
                <a:solidFill>
                  <a:srgbClr val="8E2344"/>
                </a:solidFill>
              </a:rPr>
              <a:t>Manassas, </a:t>
            </a:r>
            <a:r>
              <a:rPr lang="en-US" dirty="0" smtClean="0">
                <a:solidFill>
                  <a:srgbClr val="8E2344"/>
                </a:solidFill>
              </a:rPr>
              <a:t>VA</a:t>
            </a:r>
            <a:endParaRPr lang="en-US" dirty="0">
              <a:solidFill>
                <a:srgbClr val="8E234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07889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OccViz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Demo (Occoquan System Implementation)</a:t>
            </a:r>
          </a:p>
          <a:p>
            <a:r>
              <a:rPr lang="en-US" dirty="0" smtClean="0">
                <a:hlinkClick r:id="rId3"/>
              </a:rPr>
              <a:t>https://wqdata.owml.vt.edu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15877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OccViz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494" y="196810"/>
            <a:ext cx="7350856" cy="64995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37492" y="1690688"/>
            <a:ext cx="1459523" cy="175589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411572" y="1886224"/>
            <a:ext cx="1607237" cy="1428476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236908" y="1789243"/>
            <a:ext cx="1607237" cy="136482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839922" y="1007010"/>
            <a:ext cx="2551478" cy="72535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236908" y="196811"/>
            <a:ext cx="2154492" cy="44585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379989" y="1949875"/>
            <a:ext cx="1057538" cy="149670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4445000" y="3873500"/>
            <a:ext cx="2934989" cy="22733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401515" y="4055810"/>
            <a:ext cx="20955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Web-based</a:t>
            </a:r>
            <a:r>
              <a:rPr lang="en-US" b="1" dirty="0"/>
              <a:t>, interactive solutions for water/watershed data management, curation, visualization, analytics, </a:t>
            </a:r>
            <a:r>
              <a:rPr lang="en-US" b="1" dirty="0" smtClean="0"/>
              <a:t>and modeling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6520361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Map 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 descr="C:\Users\saurav\ownCloud\conferences\2014 IMESS\screenshot.png"/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62"/>
          <a:stretch/>
        </p:blipFill>
        <p:spPr bwMode="auto">
          <a:xfrm>
            <a:off x="1159328" y="1690688"/>
            <a:ext cx="6825343" cy="480740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54536238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Graph 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C:\Users\saurav\ownCloud\conferences\2014 IMESS\screenshot2.png"/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3" r="369"/>
          <a:stretch/>
        </p:blipFill>
        <p:spPr bwMode="auto">
          <a:xfrm>
            <a:off x="1322070" y="1690688"/>
            <a:ext cx="6499860" cy="488428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48331665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Administrator Mode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t="8184" r="2980" b="6399"/>
          <a:stretch/>
        </p:blipFill>
        <p:spPr>
          <a:xfrm>
            <a:off x="452794" y="1764166"/>
            <a:ext cx="9126635" cy="4517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1900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works: Visualization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t="10248" b="5713"/>
          <a:stretch/>
        </p:blipFill>
        <p:spPr>
          <a:xfrm>
            <a:off x="403737" y="1690688"/>
            <a:ext cx="8938713" cy="4223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73266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 works: </a:t>
            </a:r>
            <a:r>
              <a:rPr lang="en-US" dirty="0" smtClean="0"/>
              <a:t>Below Detect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920304"/>
            <a:ext cx="7772400" cy="4131816"/>
          </a:xfrm>
        </p:spPr>
      </p:pic>
      <p:cxnSp>
        <p:nvCxnSpPr>
          <p:cNvPr id="5" name="Straight Arrow Connector 4"/>
          <p:cNvCxnSpPr/>
          <p:nvPr/>
        </p:nvCxnSpPr>
        <p:spPr>
          <a:xfrm>
            <a:off x="1429658" y="5442857"/>
            <a:ext cx="580571" cy="725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46500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works: Modeling and Forecasting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4032" y="2210254"/>
            <a:ext cx="7772400" cy="4524375"/>
          </a:xfrm>
        </p:spPr>
        <p:txBody>
          <a:bodyPr/>
          <a:lstStyle/>
          <a:p>
            <a:r>
              <a:rPr lang="en-US" sz="2800" dirty="0" smtClean="0"/>
              <a:t>Forecasting using meteorological data </a:t>
            </a:r>
          </a:p>
          <a:p>
            <a:pPr lvl="1"/>
            <a:r>
              <a:rPr lang="en-US" dirty="0" smtClean="0"/>
              <a:t>Simple Rainfall-Runoff models</a:t>
            </a:r>
          </a:p>
          <a:p>
            <a:pPr marL="457200" lvl="1" indent="0">
              <a:buNone/>
            </a:pPr>
            <a:endParaRPr lang="en-US" dirty="0" smtClean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 smtClean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811530" y="3506446"/>
            <a:ext cx="7357403" cy="672217"/>
            <a:chOff x="1631852" y="2985383"/>
            <a:chExt cx="7357403" cy="672217"/>
          </a:xfrm>
        </p:grpSpPr>
        <p:sp>
          <p:nvSpPr>
            <p:cNvPr id="4" name="Rectangle 3"/>
            <p:cNvSpPr/>
            <p:nvPr/>
          </p:nvSpPr>
          <p:spPr>
            <a:xfrm>
              <a:off x="3249637" y="2988419"/>
              <a:ext cx="1617785" cy="66918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Rainfall-Runoff Model </a:t>
              </a:r>
              <a:endParaRPr lang="en-US" dirty="0"/>
            </a:p>
          </p:txBody>
        </p:sp>
        <p:sp>
          <p:nvSpPr>
            <p:cNvPr id="9" name="Right Arrow 8"/>
            <p:cNvSpPr/>
            <p:nvPr/>
          </p:nvSpPr>
          <p:spPr>
            <a:xfrm>
              <a:off x="1631852" y="3073790"/>
              <a:ext cx="1617785" cy="49236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Precipitation</a:t>
              </a:r>
              <a:endParaRPr lang="en-US" dirty="0"/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4867422" y="3073790"/>
              <a:ext cx="1252024" cy="492369"/>
            </a:xfrm>
            <a:prstGeom prst="right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Flow</a:t>
              </a:r>
              <a:endParaRPr lang="en-US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119446" y="2985383"/>
              <a:ext cx="1617785" cy="66918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Statistical Models</a:t>
              </a:r>
              <a:endParaRPr lang="en-US" dirty="0"/>
            </a:p>
          </p:txBody>
        </p:sp>
        <p:sp>
          <p:nvSpPr>
            <p:cNvPr id="12" name="Right Arrow 11"/>
            <p:cNvSpPr/>
            <p:nvPr/>
          </p:nvSpPr>
          <p:spPr>
            <a:xfrm>
              <a:off x="7737231" y="3073790"/>
              <a:ext cx="1252024" cy="492369"/>
            </a:xfrm>
            <a:prstGeom prst="right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WQ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4117819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Smarter-Data Curation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Spatio-temporal relations</a:t>
            </a:r>
          </a:p>
          <a:p>
            <a:endParaRPr lang="en-US" dirty="0"/>
          </a:p>
        </p:txBody>
      </p:sp>
      <p:sp>
        <p:nvSpPr>
          <p:cNvPr id="5" name="Right Arrow 4"/>
          <p:cNvSpPr/>
          <p:nvPr/>
        </p:nvSpPr>
        <p:spPr>
          <a:xfrm>
            <a:off x="1266089" y="2649829"/>
            <a:ext cx="1899139" cy="450167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Auto-correlation</a:t>
            </a:r>
            <a:endParaRPr lang="en-US" dirty="0"/>
          </a:p>
        </p:txBody>
      </p:sp>
      <p:sp>
        <p:nvSpPr>
          <p:cNvPr id="8" name="Right Arrow 7"/>
          <p:cNvSpPr/>
          <p:nvPr/>
        </p:nvSpPr>
        <p:spPr>
          <a:xfrm>
            <a:off x="1266087" y="4162715"/>
            <a:ext cx="1899139" cy="450167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Surrogates</a:t>
            </a:r>
            <a:endParaRPr lang="en-US" dirty="0"/>
          </a:p>
        </p:txBody>
      </p:sp>
      <p:sp>
        <p:nvSpPr>
          <p:cNvPr id="9" name="Right Arrow 8"/>
          <p:cNvSpPr/>
          <p:nvPr/>
        </p:nvSpPr>
        <p:spPr>
          <a:xfrm>
            <a:off x="1266086" y="5601112"/>
            <a:ext cx="1899139" cy="450167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Neighbors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3165230" y="2222695"/>
            <a:ext cx="1491176" cy="130443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Outlier?</a:t>
            </a:r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3165225" y="3687925"/>
            <a:ext cx="1491176" cy="130443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Outlier?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3165225" y="5130471"/>
            <a:ext cx="1491176" cy="130443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Outlier?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5729930" y="3859544"/>
            <a:ext cx="1434905" cy="22656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Expert Weighted </a:t>
            </a:r>
          </a:p>
          <a:p>
            <a:pPr algn="ctr"/>
            <a:r>
              <a:rPr lang="en-US" dirty="0" smtClean="0"/>
              <a:t>Statistical Model </a:t>
            </a:r>
            <a:endParaRPr lang="en-US" dirty="0"/>
          </a:p>
        </p:txBody>
      </p:sp>
      <p:cxnSp>
        <p:nvCxnSpPr>
          <p:cNvPr id="15" name="Straight Arrow Connector 14"/>
          <p:cNvCxnSpPr>
            <a:stCxn id="10" idx="6"/>
          </p:cNvCxnSpPr>
          <p:nvPr/>
        </p:nvCxnSpPr>
        <p:spPr>
          <a:xfrm>
            <a:off x="4656406" y="2874913"/>
            <a:ext cx="1073524" cy="9846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1" idx="6"/>
            <a:endCxn id="13" idx="1"/>
          </p:cNvCxnSpPr>
          <p:nvPr/>
        </p:nvCxnSpPr>
        <p:spPr>
          <a:xfrm>
            <a:off x="4656401" y="4340143"/>
            <a:ext cx="1073529" cy="652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4642331" y="5826195"/>
            <a:ext cx="1073529" cy="17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Right Arrow 22"/>
          <p:cNvSpPr/>
          <p:nvPr/>
        </p:nvSpPr>
        <p:spPr>
          <a:xfrm>
            <a:off x="7178905" y="4666251"/>
            <a:ext cx="1852550" cy="65221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Verify ?</a:t>
            </a:r>
            <a:endParaRPr lang="en-US" dirty="0"/>
          </a:p>
        </p:txBody>
      </p:sp>
      <p:sp>
        <p:nvSpPr>
          <p:cNvPr id="18" name="Right Arrow 17"/>
          <p:cNvSpPr/>
          <p:nvPr/>
        </p:nvSpPr>
        <p:spPr>
          <a:xfrm rot="5400000">
            <a:off x="5424042" y="802304"/>
            <a:ext cx="1990419" cy="45016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Parameter property</a:t>
            </a:r>
            <a:endParaRPr lang="en-US" dirty="0"/>
          </a:p>
        </p:txBody>
      </p:sp>
      <p:sp>
        <p:nvSpPr>
          <p:cNvPr id="20" name="Oval 19"/>
          <p:cNvSpPr/>
          <p:nvPr/>
        </p:nvSpPr>
        <p:spPr>
          <a:xfrm>
            <a:off x="5701795" y="2022597"/>
            <a:ext cx="1491176" cy="130443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Outlier?</a:t>
            </a:r>
            <a:endParaRPr lang="en-US" dirty="0"/>
          </a:p>
        </p:txBody>
      </p:sp>
      <p:cxnSp>
        <p:nvCxnSpPr>
          <p:cNvPr id="25" name="Straight Arrow Connector 24"/>
          <p:cNvCxnSpPr>
            <a:stCxn id="20" idx="4"/>
            <a:endCxn id="13" idx="0"/>
          </p:cNvCxnSpPr>
          <p:nvPr/>
        </p:nvCxnSpPr>
        <p:spPr>
          <a:xfrm>
            <a:off x="6447383" y="3327033"/>
            <a:ext cx="0" cy="5325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1041736" y="2222695"/>
            <a:ext cx="4165497" cy="4324277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69468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Works: User Feedback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637" y="1690688"/>
            <a:ext cx="7772400" cy="4524375"/>
          </a:xfrm>
        </p:spPr>
        <p:txBody>
          <a:bodyPr/>
          <a:lstStyle/>
          <a:p>
            <a:r>
              <a:rPr lang="en-US" dirty="0" smtClean="0"/>
              <a:t>Triggers for kayakers</a:t>
            </a:r>
          </a:p>
          <a:p>
            <a:r>
              <a:rPr lang="en-US" dirty="0" smtClean="0"/>
              <a:t>Computed parameters </a:t>
            </a:r>
          </a:p>
          <a:p>
            <a:pPr lvl="1"/>
            <a:r>
              <a:rPr lang="en-US" dirty="0"/>
              <a:t>Thiessen average rain for the watershed</a:t>
            </a:r>
          </a:p>
          <a:p>
            <a:pPr lvl="1"/>
            <a:r>
              <a:rPr lang="en-US" dirty="0" smtClean="0"/>
              <a:t>DO percentage saturation </a:t>
            </a:r>
          </a:p>
          <a:p>
            <a:r>
              <a:rPr lang="en-US" dirty="0" smtClean="0"/>
              <a:t>Explore relations among parameters using scatter plots</a:t>
            </a:r>
          </a:p>
          <a:p>
            <a:r>
              <a:rPr lang="en-US" dirty="0" smtClean="0"/>
              <a:t>More map based (snapshots in time) visualization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670518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OccViz – version 2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Emphasis on web-services and adopting standards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464483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3651" y="838200"/>
            <a:ext cx="7438449" cy="39730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JSON for Plot – v1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69900" y="4046647"/>
            <a:ext cx="8496300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[new Date('2013/08/14 00:00:00'), 95.50, 12.84, 0.00],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[new Date('2013/08/14 01:00:00'), 99.40, 12.44, 0.00],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[new Date('2013/08/14 01:44:00'), 116.40, null, null],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[new Date('2013/08/14 01:45:00'), 116.40, null, null],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[new Date('2013/08/14 02:00:00'), 123.40, 12.84, 0.00],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[new Date('2013/08/14 02:15:00'), 131.90, null, null],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[new Date('2013/08/14 02:30:00'), 138.80, null, null],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[new Date('2013/08/14 02:45:00'), 147.80, null, null],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[new Date('2013/08/14 03:00:00'), 159.00, 12.44, 0.00],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...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]#SPLIT#{ ['Record Date','ST45 flow 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cfs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  ','ST25 flow 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cfs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  ','LMAN Hourly Sum-rainfall (inch) ']}#SPLIT#'1'#SPLIT#{[0,0,4]}#SPLIT#{[24,13,42]}#SPLIT#'1'</a:t>
            </a:r>
          </a:p>
        </p:txBody>
      </p:sp>
    </p:spTree>
    <p:extLst>
      <p:ext uri="{BB962C8B-B14F-4D97-AF65-F5344CB8AC3E}">
        <p14:creationId xmlns:p14="http://schemas.microsoft.com/office/powerpoint/2010/main" val="421175644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Metadata, User and Station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1500" y="1588957"/>
            <a:ext cx="5682806" cy="502311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711700" y="2260600"/>
            <a:ext cx="2812606" cy="17272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98948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6285" y="3409265"/>
            <a:ext cx="3361220" cy="29347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Current version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232607" y="5412343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MySQL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871394" y="4775543"/>
            <a:ext cx="1498600" cy="1250950"/>
          </a:xfrm>
          <a:prstGeom prst="rect">
            <a:avLst/>
          </a:prstGeom>
          <a:solidFill>
            <a:srgbClr val="FFC000">
              <a:alpha val="53000"/>
            </a:srgbClr>
          </a:solidFill>
          <a:ln w="3810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rgbClr val="FF0000"/>
                </a:solidFill>
              </a:rPr>
              <a:t>Eclipselink</a:t>
            </a:r>
            <a:r>
              <a:rPr lang="en-US" dirty="0" smtClean="0">
                <a:solidFill>
                  <a:srgbClr val="FF0000"/>
                </a:solidFill>
              </a:rPr>
              <a:t>- JPA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527299" y="3052762"/>
            <a:ext cx="5702909" cy="1163638"/>
          </a:xfrm>
          <a:prstGeom prst="roundRect">
            <a:avLst/>
          </a:prstGeom>
          <a:solidFill>
            <a:schemeClr val="accent1">
              <a:alpha val="5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JSF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854200" y="2413001"/>
            <a:ext cx="6604000" cy="4029078"/>
          </a:xfrm>
          <a:prstGeom prst="roundRect">
            <a:avLst/>
          </a:prstGeom>
          <a:solidFill>
            <a:schemeClr val="accent2">
              <a:lumMod val="20000"/>
              <a:lumOff val="80000"/>
              <a:alpha val="2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055477" y="2483083"/>
            <a:ext cx="25165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JAVA Universe</a:t>
            </a:r>
            <a:endParaRPr lang="en-US" sz="360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6996" y="3086099"/>
            <a:ext cx="1053213" cy="147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82265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8" grpId="0" animBg="1"/>
      <p:bldP spid="11" grpId="0" animBg="1"/>
      <p:bldP spid="12" grpId="0" animBg="1"/>
      <p:bldP spid="1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Planned version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1037" y="2057840"/>
            <a:ext cx="3173663" cy="41905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2586456" y="4635500"/>
            <a:ext cx="3046663" cy="1797566"/>
          </a:xfrm>
          <a:prstGeom prst="roundRect">
            <a:avLst/>
          </a:prstGeom>
          <a:solidFill>
            <a:schemeClr val="accent1">
              <a:alpha val="5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662656" y="6089134"/>
            <a:ext cx="1349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JAVA Universe</a:t>
            </a:r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2662656" y="1930400"/>
            <a:ext cx="3293644" cy="1209457"/>
          </a:xfrm>
          <a:prstGeom prst="roundRect">
            <a:avLst/>
          </a:prstGeom>
          <a:solidFill>
            <a:schemeClr val="accent1">
              <a:alpha val="4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292041" y="2540000"/>
            <a:ext cx="16826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 smtClean="0"/>
              <a:t>Javascript</a:t>
            </a:r>
            <a:endParaRPr lang="en-US" dirty="0"/>
          </a:p>
          <a:p>
            <a:pPr algn="r"/>
            <a:r>
              <a:rPr lang="en-US" dirty="0" smtClean="0"/>
              <a:t>Browser Universe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109787" y="3817640"/>
            <a:ext cx="1315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smtClean="0"/>
              <a:t>Web Services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390931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standards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TimeseriesML</a:t>
            </a:r>
            <a:r>
              <a:rPr lang="en-US" dirty="0" smtClean="0"/>
              <a:t> / </a:t>
            </a:r>
            <a:r>
              <a:rPr lang="en-US" dirty="0" err="1" smtClean="0"/>
              <a:t>WaterML</a:t>
            </a:r>
            <a:endParaRPr lang="en-US" dirty="0" smtClean="0"/>
          </a:p>
          <a:p>
            <a:pPr lvl="1"/>
            <a:r>
              <a:rPr lang="en-US" dirty="0" err="1" smtClean="0"/>
              <a:t>TimeseriesML</a:t>
            </a:r>
            <a:r>
              <a:rPr lang="en-US" dirty="0" smtClean="0"/>
              <a:t> → JSON</a:t>
            </a:r>
            <a:r>
              <a:rPr lang="en-US" dirty="0"/>
              <a:t> </a:t>
            </a:r>
            <a:r>
              <a:rPr lang="en-US" dirty="0" smtClean="0"/>
              <a:t>→Plotting</a:t>
            </a:r>
          </a:p>
          <a:p>
            <a:pPr lvl="1"/>
            <a:r>
              <a:rPr lang="en-US" dirty="0" smtClean="0"/>
              <a:t>JSON standard?</a:t>
            </a:r>
          </a:p>
          <a:p>
            <a:pPr lvl="2"/>
            <a:r>
              <a:rPr lang="en-US" dirty="0" smtClean="0"/>
              <a:t>Directly visualize and process with JavaScript easily.</a:t>
            </a:r>
          </a:p>
          <a:p>
            <a:pPr lvl="2"/>
            <a:r>
              <a:rPr lang="en-US" dirty="0" smtClean="0"/>
              <a:t>Potentially faster.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903371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Collaboration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Eventually Open Source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57730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915" y="1690688"/>
            <a:ext cx="8564170" cy="4134427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Questions/ Comments 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606378" y="5609968"/>
            <a:ext cx="1535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SAURAV@vt.edu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542736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irginia Tech-Branding Update022206">
  <a:themeElements>
    <a:clrScheme name="Virginia Tech-Branding Update022206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Virginia Tech-Branding Update022206">
      <a:majorFont>
        <a:latin typeface="Franklin Gothic Demi"/>
        <a:ea typeface=""/>
        <a:cs typeface=""/>
      </a:majorFont>
      <a:minorFont>
        <a:latin typeface="Franklin Gothic Medium C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Virginia Tech-Branding Update022206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irginia Tech-Branding Update022206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irginia Tech-Branding Update022206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irginia Tech-Branding Update022206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irginia Tech-Branding Update022206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irginia Tech-Branding Update022206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irginia Tech-Branding Update022206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irginia Tech-Branding Update022206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irginia Tech-Branding Update022206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irginia Tech-Branding Update022206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irginia Tech-Branding Update022206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irginia Tech-Branding Update022206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574</TotalTime>
  <Words>744</Words>
  <Application>Microsoft Office PowerPoint</Application>
  <PresentationFormat>On-screen Show (4:3)</PresentationFormat>
  <Paragraphs>132</Paragraphs>
  <Slides>19</Slides>
  <Notes>17</Notes>
  <HiddenSlides>3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Courier New</vt:lpstr>
      <vt:lpstr>Franklin Gothic Demi</vt:lpstr>
      <vt:lpstr>Franklin Gothic Medium Cond</vt:lpstr>
      <vt:lpstr>Wingdings</vt:lpstr>
      <vt:lpstr>Virginia Tech-Branding Update022206</vt:lpstr>
      <vt:lpstr>  OccViz  status anddirection</vt:lpstr>
      <vt:lpstr>OccViz</vt:lpstr>
      <vt:lpstr>OccViz</vt:lpstr>
      <vt:lpstr>Map View</vt:lpstr>
      <vt:lpstr>Graph View</vt:lpstr>
      <vt:lpstr>Administrator Mode</vt:lpstr>
      <vt:lpstr>In works: Visualization</vt:lpstr>
      <vt:lpstr>In works: Below Detect </vt:lpstr>
      <vt:lpstr>In works: Modeling and Forecasting</vt:lpstr>
      <vt:lpstr>Smarter-Data Curation</vt:lpstr>
      <vt:lpstr>In Works: User Feedback</vt:lpstr>
      <vt:lpstr>OccViz – version 2 </vt:lpstr>
      <vt:lpstr>JSON for Plot – v1</vt:lpstr>
      <vt:lpstr>Metadata, User and Station </vt:lpstr>
      <vt:lpstr>Current version</vt:lpstr>
      <vt:lpstr>Planned version</vt:lpstr>
      <vt:lpstr>Using standards</vt:lpstr>
      <vt:lpstr>Collaboration</vt:lpstr>
      <vt:lpstr>Questions/ Comments </vt:lpstr>
    </vt:vector>
  </TitlesOfParts>
  <Company>Toshiba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Extendable Experiment with GIS and ICT to make Environmental Data and Modelling User-Friendly and Accessible</dc:title>
  <dc:creator>Saurav Kumar</dc:creator>
  <cp:lastModifiedBy>Saurav Kumar</cp:lastModifiedBy>
  <cp:revision>54</cp:revision>
  <cp:lastPrinted>2014-06-16T05:00:15Z</cp:lastPrinted>
  <dcterms:created xsi:type="dcterms:W3CDTF">2014-06-15T01:08:51Z</dcterms:created>
  <dcterms:modified xsi:type="dcterms:W3CDTF">2014-08-15T01:57:20Z</dcterms:modified>
</cp:coreProperties>
</file>