
<file path=[Content_Types].xml><?xml version="1.0" encoding="utf-8"?>
<Types xmlns="http://schemas.openxmlformats.org/package/2006/content-types">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slides/slide2.xml" ContentType="application/vnd.openxmlformats-officedocument.presentationml.slide+xml"/>
  <Override PartName="/ppt/theme/theme1.xml" ContentType="application/vnd.openxmlformats-officedocument.theme+xml"/>
  <Override PartName="/ppt/slideLayouts/slideLayout6.xml" ContentType="application/vnd.openxmlformats-officedocument.presentationml.slideLayout+xml"/>
  <Override PartName="/ppt/presentation.xml" ContentType="application/vnd.openxmlformats-officedocument.presentationml.presentation.main+xml"/>
  <Override PartName="/docProps/app.xml" ContentType="application/vnd.openxmlformats-officedocument.extended-properties+xml"/>
  <Override PartName="/ppt/slides/slide5.xml" ContentType="application/vnd.openxmlformats-officedocument.presentationml.slide+xml"/>
  <Override PartName="/ppt/slideLayouts/slideLayout7.xml" ContentType="application/vnd.openxmlformats-officedocument.presentationml.slideLayout+xml"/>
  <Override PartName="/ppt/presProps.xml" ContentType="application/vnd.openxmlformats-officedocument.presentationml.presProps+xml"/>
  <Default Extension="jpeg" ContentType="image/jpeg"/>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3.xml" ContentType="application/vnd.openxmlformats-officedocument.presentationml.slide+xml"/>
  <Override PartName="/ppt/slides/slide4.xml" ContentType="application/vnd.openxmlformats-officedocument.presentationml.slide+xml"/>
  <Override PartName="/ppt/slideLayouts/slideLayout11.xml" ContentType="application/vnd.openxmlformats-officedocument.presentationml.slideLayout+xml"/>
  <Default Extension="png" ContentType="image/png"/>
  <Override PartName="/ppt/notesMasters/notesMaster1.xml" ContentType="application/vnd.openxmlformats-officedocument.presentationml.notesMaster+xml"/>
  <Override PartName="/ppt/slides/slide1.xml" ContentType="application/vnd.openxmlformats-officedocument.presentationml.slide+xml"/>
  <Override PartName="/ppt/tableStyles.xml" ContentType="application/vnd.openxmlformats-officedocument.presentationml.tableStyles+xml"/>
  <Default Extension="xml" ContentType="application/xml"/>
  <Override PartName="/ppt/viewProps.xml" ContentType="application/vnd.openxmlformats-officedocument.presentationml.viewProps+xml"/>
  <Override PartName="/ppt/notesSlides/notesSlide3.xml" ContentType="application/vnd.openxmlformats-officedocument.presentationml.notesSlide+xml"/>
  <Override PartName="/ppt/slideMasters/slideMaster1.xml" ContentType="application/vnd.openxmlformats-officedocument.presentationml.slideMaster+xml"/>
  <Override PartName="/docProps/core.xml" ContentType="application/vnd.openxmlformats-package.core-properties+xml"/>
  <Default Extension="bin" ContentType="application/vnd.openxmlformats-officedocument.presentationml.printerSettings"/>
  <Override PartName="/ppt/notesSlides/notesSlide4.xml" ContentType="application/vnd.openxmlformats-officedocument.presentationml.notesSlide+xml"/>
  <Default Extension="rels" ContentType="application/vnd.openxmlformats-package.relationships+xml"/>
</Types>
</file>

<file path=_rels/.rels><?xml version="1.0" encoding="UTF-8" standalone="yes"?>
<Relationships xmlns="http://schemas.openxmlformats.org/package/2006/relationships"><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p:sldMasterIdLst>
    <p:sldMasterId id="2147483651" r:id="rId1"/>
  </p:sldMasterIdLst>
  <p:notesMasterIdLst>
    <p:notesMasterId r:id="rId7"/>
  </p:notesMasterIdLst>
  <p:sldIdLst>
    <p:sldId id="257" r:id="rId2"/>
    <p:sldId id="259" r:id="rId3"/>
    <p:sldId id="262" r:id="rId4"/>
    <p:sldId id="267" r:id="rId5"/>
    <p:sldId id="268" r:id="rId6"/>
  </p:sldIdLst>
  <p:sldSz cx="9144000" cy="6858000" type="screen4x3"/>
  <p:notesSz cx="6858000" cy="9144000"/>
  <p:defaultTextStyle>
    <a:defPPr>
      <a:defRPr lang="en-US"/>
    </a:defPPr>
    <a:lvl1pPr algn="l" rtl="0" eaLnBrk="0" fontAlgn="base" hangingPunct="0">
      <a:spcBef>
        <a:spcPct val="0"/>
      </a:spcBef>
      <a:spcAft>
        <a:spcPct val="0"/>
      </a:spcAft>
      <a:defRPr sz="1000" b="1" kern="1200">
        <a:solidFill>
          <a:schemeClr val="tx1"/>
        </a:solidFill>
        <a:latin typeface="CG Times" pitchFamily="18" charset="0"/>
        <a:ea typeface="+mn-ea"/>
        <a:cs typeface="Arial" pitchFamily="34" charset="0"/>
      </a:defRPr>
    </a:lvl1pPr>
    <a:lvl2pPr marL="457200" algn="l" rtl="0" eaLnBrk="0" fontAlgn="base" hangingPunct="0">
      <a:spcBef>
        <a:spcPct val="0"/>
      </a:spcBef>
      <a:spcAft>
        <a:spcPct val="0"/>
      </a:spcAft>
      <a:defRPr sz="1000" b="1" kern="1200">
        <a:solidFill>
          <a:schemeClr val="tx1"/>
        </a:solidFill>
        <a:latin typeface="CG Times" pitchFamily="18" charset="0"/>
        <a:ea typeface="+mn-ea"/>
        <a:cs typeface="Arial" pitchFamily="34" charset="0"/>
      </a:defRPr>
    </a:lvl2pPr>
    <a:lvl3pPr marL="914400" algn="l" rtl="0" eaLnBrk="0" fontAlgn="base" hangingPunct="0">
      <a:spcBef>
        <a:spcPct val="0"/>
      </a:spcBef>
      <a:spcAft>
        <a:spcPct val="0"/>
      </a:spcAft>
      <a:defRPr sz="1000" b="1" kern="1200">
        <a:solidFill>
          <a:schemeClr val="tx1"/>
        </a:solidFill>
        <a:latin typeface="CG Times" pitchFamily="18" charset="0"/>
        <a:ea typeface="+mn-ea"/>
        <a:cs typeface="Arial" pitchFamily="34" charset="0"/>
      </a:defRPr>
    </a:lvl3pPr>
    <a:lvl4pPr marL="1371600" algn="l" rtl="0" eaLnBrk="0" fontAlgn="base" hangingPunct="0">
      <a:spcBef>
        <a:spcPct val="0"/>
      </a:spcBef>
      <a:spcAft>
        <a:spcPct val="0"/>
      </a:spcAft>
      <a:defRPr sz="1000" b="1" kern="1200">
        <a:solidFill>
          <a:schemeClr val="tx1"/>
        </a:solidFill>
        <a:latin typeface="CG Times" pitchFamily="18" charset="0"/>
        <a:ea typeface="+mn-ea"/>
        <a:cs typeface="Arial" pitchFamily="34" charset="0"/>
      </a:defRPr>
    </a:lvl4pPr>
    <a:lvl5pPr marL="1828800" algn="l" rtl="0" eaLnBrk="0" fontAlgn="base" hangingPunct="0">
      <a:spcBef>
        <a:spcPct val="0"/>
      </a:spcBef>
      <a:spcAft>
        <a:spcPct val="0"/>
      </a:spcAft>
      <a:defRPr sz="1000" b="1" kern="1200">
        <a:solidFill>
          <a:schemeClr val="tx1"/>
        </a:solidFill>
        <a:latin typeface="CG Times" pitchFamily="18" charset="0"/>
        <a:ea typeface="+mn-ea"/>
        <a:cs typeface="Arial" pitchFamily="34" charset="0"/>
      </a:defRPr>
    </a:lvl5pPr>
    <a:lvl6pPr marL="2286000" algn="l" defTabSz="914400" rtl="0" eaLnBrk="1" latinLnBrk="0" hangingPunct="1">
      <a:defRPr sz="1000" b="1" kern="1200">
        <a:solidFill>
          <a:schemeClr val="tx1"/>
        </a:solidFill>
        <a:latin typeface="CG Times" pitchFamily="18" charset="0"/>
        <a:ea typeface="+mn-ea"/>
        <a:cs typeface="Arial" pitchFamily="34" charset="0"/>
      </a:defRPr>
    </a:lvl6pPr>
    <a:lvl7pPr marL="2743200" algn="l" defTabSz="914400" rtl="0" eaLnBrk="1" latinLnBrk="0" hangingPunct="1">
      <a:defRPr sz="1000" b="1" kern="1200">
        <a:solidFill>
          <a:schemeClr val="tx1"/>
        </a:solidFill>
        <a:latin typeface="CG Times" pitchFamily="18" charset="0"/>
        <a:ea typeface="+mn-ea"/>
        <a:cs typeface="Arial" pitchFamily="34" charset="0"/>
      </a:defRPr>
    </a:lvl7pPr>
    <a:lvl8pPr marL="3200400" algn="l" defTabSz="914400" rtl="0" eaLnBrk="1" latinLnBrk="0" hangingPunct="1">
      <a:defRPr sz="1000" b="1" kern="1200">
        <a:solidFill>
          <a:schemeClr val="tx1"/>
        </a:solidFill>
        <a:latin typeface="CG Times" pitchFamily="18" charset="0"/>
        <a:ea typeface="+mn-ea"/>
        <a:cs typeface="Arial" pitchFamily="34" charset="0"/>
      </a:defRPr>
    </a:lvl8pPr>
    <a:lvl9pPr marL="3657600" algn="l" defTabSz="914400" rtl="0" eaLnBrk="1" latinLnBrk="0" hangingPunct="1">
      <a:defRPr sz="1000" b="1" kern="1200">
        <a:solidFill>
          <a:schemeClr val="tx1"/>
        </a:solidFill>
        <a:latin typeface="CG Times" pitchFamily="18"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lrMru>
    <a:srgbClr val="000099"/>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lastView="sldThumbnailView">
  <p:normalViewPr showOutlineIcons="0" horzBarState="maximized">
    <p:restoredLeft sz="10946" autoAdjust="0"/>
    <p:restoredTop sz="86364" autoAdjust="0"/>
  </p:normalViewPr>
  <p:slideViewPr>
    <p:cSldViewPr>
      <p:cViewPr varScale="1">
        <p:scale>
          <a:sx n="62" d="100"/>
          <a:sy n="62" d="100"/>
        </p:scale>
        <p:origin x="-792" y="-1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printerSettings" Target="printerSettings/printerSettings1.bin"/><Relationship Id="rId4" Type="http://schemas.openxmlformats.org/officeDocument/2006/relationships/slide" Target="slides/slide3.xml"/><Relationship Id="rId10" Type="http://schemas.openxmlformats.org/officeDocument/2006/relationships/viewProps" Target="viewProps.xml"/><Relationship Id="rId5" Type="http://schemas.openxmlformats.org/officeDocument/2006/relationships/slide" Target="slides/slide4.xml"/><Relationship Id="rId7" Type="http://schemas.openxmlformats.org/officeDocument/2006/relationships/notesMaster" Target="notesMasters/notesMaster1.xml"/><Relationship Id="rId11" Type="http://schemas.openxmlformats.org/officeDocument/2006/relationships/theme" Target="theme/theme1.xml"/><Relationship Id="rId12"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presProps" Target="presProps.xml"/><Relationship Id="rId3" Type="http://schemas.openxmlformats.org/officeDocument/2006/relationships/slide" Target="slides/slide2.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atin typeface="Arial" pitchFamily="34" charset="0"/>
                <a:cs typeface="Arial" pitchFamily="34" charset="0"/>
              </a:defRPr>
            </a:lvl1pPr>
          </a:lstStyle>
          <a:p>
            <a:pPr>
              <a:defRPr/>
            </a:pPr>
            <a:endParaRPr lang="en-US"/>
          </a:p>
        </p:txBody>
      </p:sp>
      <p:sp>
        <p:nvSpPr>
          <p:cNvPr id="1536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pitchFamily="34" charset="0"/>
                <a:cs typeface="Arial" pitchFamily="34" charset="0"/>
              </a:defRPr>
            </a:lvl1pPr>
          </a:lstStyle>
          <a:p>
            <a:pPr>
              <a:defRPr/>
            </a:pPr>
            <a:endParaRPr lang="en-US"/>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atin typeface="Arial" pitchFamily="34" charset="0"/>
                <a:cs typeface="Arial" pitchFamily="34" charset="0"/>
              </a:defRPr>
            </a:lvl1pPr>
          </a:lstStyle>
          <a:p>
            <a:pPr>
              <a:defRPr/>
            </a:pPr>
            <a:endParaRPr lang="en-US"/>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pitchFamily="34" charset="0"/>
                <a:cs typeface="Arial" pitchFamily="34" charset="0"/>
              </a:defRPr>
            </a:lvl1pPr>
          </a:lstStyle>
          <a:p>
            <a:pPr>
              <a:defRPr/>
            </a:pPr>
            <a:fld id="{9585FFB0-9843-435C-BD4C-A6E6202DB750}"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p>
            <a:fld id="{1FDD1A0B-4EF4-44BD-A2E7-79D83368B9F5}" type="slidenum">
              <a:rPr lang="en-US" smtClean="0"/>
              <a:pPr/>
              <a:t>1</a:t>
            </a:fld>
            <a:endParaRPr lang="en-US" smtClean="0"/>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p:spPr>
        <p:txBody>
          <a:bodyPr/>
          <a:lstStyle/>
          <a:p>
            <a:pPr eaLnBrk="1" hangingPunct="1"/>
            <a:endParaRPr lang="en-AU"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p>
            <a:fld id="{4EE25327-9ED5-4A3F-A975-A9F8EE0B8F5D}" type="slidenum">
              <a:rPr lang="en-US" smtClean="0"/>
              <a:pPr/>
              <a:t>2</a:t>
            </a:fld>
            <a:endParaRPr lang="en-US" smtClean="0"/>
          </a:p>
        </p:txBody>
      </p:sp>
      <p:sp>
        <p:nvSpPr>
          <p:cNvPr id="10243" name="Rectangle 2"/>
          <p:cNvSpPr>
            <a:spLocks noGrp="1" noRot="1" noChangeAspect="1" noChangeArrowheads="1" noTextEdit="1"/>
          </p:cNvSpPr>
          <p:nvPr>
            <p:ph type="sldImg"/>
          </p:nvPr>
        </p:nvSpPr>
        <p:spPr>
          <a:xfrm>
            <a:off x="1141413" y="685800"/>
            <a:ext cx="4573587" cy="3430588"/>
          </a:xfrm>
          <a:solidFill>
            <a:srgbClr val="FFFFFF"/>
          </a:solidFill>
          <a:ln/>
        </p:spPr>
      </p:sp>
      <p:sp>
        <p:nvSpPr>
          <p:cNvPr id="10244" name="Rectangle 3"/>
          <p:cNvSpPr>
            <a:spLocks noGrp="1" noChangeArrowheads="1"/>
          </p:cNvSpPr>
          <p:nvPr>
            <p:ph type="body" idx="1"/>
          </p:nvPr>
        </p:nvSpPr>
        <p:spPr>
          <a:solidFill>
            <a:srgbClr val="FFFFFF"/>
          </a:solidFill>
          <a:ln>
            <a:solidFill>
              <a:srgbClr val="000000"/>
            </a:solidFill>
          </a:ln>
        </p:spPr>
        <p:txBody>
          <a:bodyPr lIns="91259" tIns="45629" rIns="91259" bIns="45629"/>
          <a:lstStyle/>
          <a:p>
            <a:pPr eaLnBrk="1" hangingPunct="1"/>
            <a:endParaRPr lang="en-AU"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a:noFill/>
          <a:ln/>
        </p:spPr>
        <p:txBody>
          <a:bodyPr/>
          <a:lstStyle/>
          <a:p>
            <a:endParaRPr lang="en-AU"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a:noFill/>
          <a:ln/>
        </p:spPr>
        <p:txBody>
          <a:bodyPr/>
          <a:lstStyle/>
          <a:p>
            <a:endParaRPr lang="en-AU"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spTree>
      <p:nvGrpSpPr>
        <p:cNvPr id="1" name=""/>
        <p:cNvGrpSpPr/>
        <p:nvPr/>
      </p:nvGrpSpPr>
      <p:grpSpPr>
        <a:xfrm>
          <a:off x="0" y="0"/>
          <a:ext cx="0" cy="0"/>
          <a:chOff x="0" y="0"/>
          <a:chExt cx="0" cy="0"/>
        </a:xfrm>
      </p:grpSpPr>
      <p:pic>
        <p:nvPicPr>
          <p:cNvPr id="4" name="Picture 2" descr="\\.host\Shared Folders\LinuxDesktop\templates\ppt_image_081104.tif"/>
          <p:cNvPicPr>
            <a:picLocks noChangeAspect="1" noChangeArrowheads="1"/>
          </p:cNvPicPr>
          <p:nvPr/>
        </p:nvPicPr>
        <p:blipFill>
          <a:blip r:embed="rId2" cstate="print"/>
          <a:srcRect/>
          <a:stretch>
            <a:fillRect/>
          </a:stretch>
        </p:blipFill>
        <p:spPr bwMode="auto">
          <a:xfrm>
            <a:off x="1588" y="1588"/>
            <a:ext cx="9142412" cy="6856412"/>
          </a:xfrm>
          <a:prstGeom prst="rect">
            <a:avLst/>
          </a:prstGeom>
          <a:noFill/>
          <a:ln w="9525">
            <a:noFill/>
            <a:miter lim="800000"/>
            <a:headEnd/>
            <a:tailEnd/>
          </a:ln>
        </p:spPr>
      </p:pic>
      <p:sp>
        <p:nvSpPr>
          <p:cNvPr id="31748" name="Rectangle 4"/>
          <p:cNvSpPr>
            <a:spLocks noGrp="1" noChangeArrowheads="1"/>
          </p:cNvSpPr>
          <p:nvPr>
            <p:ph type="ctrTitle"/>
          </p:nvPr>
        </p:nvSpPr>
        <p:spPr>
          <a:xfrm>
            <a:off x="762000" y="2286000"/>
            <a:ext cx="7772400" cy="1143000"/>
          </a:xfrm>
        </p:spPr>
        <p:txBody>
          <a:bodyPr/>
          <a:lstStyle>
            <a:lvl1pPr>
              <a:defRPr>
                <a:latin typeface="Arial Black" pitchFamily="34" charset="0"/>
              </a:defRPr>
            </a:lvl1pPr>
          </a:lstStyle>
          <a:p>
            <a:r>
              <a:rPr lang="en-US"/>
              <a:t>Click to edit Master title style</a:t>
            </a:r>
          </a:p>
        </p:txBody>
      </p:sp>
      <p:sp>
        <p:nvSpPr>
          <p:cNvPr id="31767" name="Rectangle 23"/>
          <p:cNvSpPr>
            <a:spLocks noGrp="1" noChangeArrowheads="1"/>
          </p:cNvSpPr>
          <p:nvPr>
            <p:ph type="subTitle" idx="1"/>
          </p:nvPr>
        </p:nvSpPr>
        <p:spPr>
          <a:xfrm>
            <a:off x="1447800" y="4752975"/>
            <a:ext cx="6400800" cy="1371600"/>
          </a:xfrm>
        </p:spPr>
        <p:txBody>
          <a:bodyPr/>
          <a:lstStyle>
            <a:lvl1pPr marL="0" indent="0" algn="ctr">
              <a:buFontTx/>
              <a:buNone/>
              <a:defRPr sz="1800">
                <a:solidFill>
                  <a:srgbClr val="092E5C"/>
                </a:solidFill>
              </a:defRPr>
            </a:lvl1pPr>
          </a:lstStyle>
          <a:p>
            <a:r>
              <a:rPr lang="en-US"/>
              <a:t>58th OGC Technical Committee</a:t>
            </a:r>
          </a:p>
          <a:p>
            <a:r>
              <a:rPr lang="en-US"/>
              <a:t>Tysons Corners</a:t>
            </a:r>
          </a:p>
          <a:p>
            <a:r>
              <a:rPr lang="en-US"/>
              <a:t>&lt;Chair name here&gt;</a:t>
            </a:r>
          </a:p>
          <a:p>
            <a:r>
              <a:rPr lang="en-US"/>
              <a:t>October 5, 2006</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CC3A54BC-81F2-4F83-8EA7-CFE585B4F64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64F0F2E2-1B77-4A86-9579-E0EEBC998ED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46075" y="1279525"/>
            <a:ext cx="4152900" cy="4799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1375" y="1279525"/>
            <a:ext cx="4152900" cy="47990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pPr>
              <a:defRPr/>
            </a:pPr>
            <a:fld id="{07DF9932-0B40-453D-9315-0EB5FA6C7FB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pPr>
              <a:defRPr/>
            </a:pPr>
            <a:fld id="{044BB692-7617-4AA0-8C4F-6B6C665D9C4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pPr>
              <a:defRPr/>
            </a:pPr>
            <a:fld id="{F98D26DB-AE8A-4E95-8513-40C73642910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52A3D0BB-35FA-4A13-8980-C58D160992A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7B9F2F73-C76C-4D47-89D1-9D2BF5B8FADF}"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A00EA358-6D99-4B9E-8AA1-E9C41A97495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B9933388-9E45-405C-A36E-E6AA6640982E}"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9725" y="319088"/>
            <a:ext cx="2114550" cy="57594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46075" y="319088"/>
            <a:ext cx="6191250" cy="5759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pPr>
              <a:defRPr/>
            </a:pPr>
            <a:fld id="{763D7954-5A45-4FDE-80DD-9B0AE77C0CC0}"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4" Type="http://schemas.openxmlformats.org/officeDocument/2006/relationships/image" Target="../media/image2.png"/><Relationship Id="rId4" Type="http://schemas.openxmlformats.org/officeDocument/2006/relationships/slideLayout" Target="../slideLayouts/slideLayout4.xml"/><Relationship Id="rId7" Type="http://schemas.openxmlformats.org/officeDocument/2006/relationships/slideLayout" Target="../slideLayouts/slideLayout7.xml"/><Relationship Id="rId11" Type="http://schemas.openxmlformats.org/officeDocument/2006/relationships/slideLayout" Target="../slideLayouts/slideLayout11.xml"/><Relationship Id="rId1" Type="http://schemas.openxmlformats.org/officeDocument/2006/relationships/slideLayout" Target="../slideLayouts/slideLayout1.xml"/><Relationship Id="rId6" Type="http://schemas.openxmlformats.org/officeDocument/2006/relationships/slideLayout" Target="../slideLayouts/slideLayout6.xml"/><Relationship Id="rId8" Type="http://schemas.openxmlformats.org/officeDocument/2006/relationships/slideLayout" Target="../slideLayouts/slideLayout8.xml"/><Relationship Id="rId13" Type="http://schemas.openxmlformats.org/officeDocument/2006/relationships/image" Target="../media/image1.png"/><Relationship Id="rId10" Type="http://schemas.openxmlformats.org/officeDocument/2006/relationships/slideLayout" Target="../slideLayouts/slideLayout10.xml"/><Relationship Id="rId5" Type="http://schemas.openxmlformats.org/officeDocument/2006/relationships/slideLayout" Target="../slideLayouts/slideLayout5.xml"/><Relationship Id="rId12" Type="http://schemas.openxmlformats.org/officeDocument/2006/relationships/theme" Target="../theme/theme1.xml"/><Relationship Id="rId2" Type="http://schemas.openxmlformats.org/officeDocument/2006/relationships/slideLayout" Target="../slideLayouts/slideLayout2.xml"/><Relationship Id="rId9" Type="http://schemas.openxmlformats.org/officeDocument/2006/relationships/slideLayout" Target="../slideLayouts/slideLayout9.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46075" y="319088"/>
            <a:ext cx="8458200" cy="685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342900" y="1295400"/>
            <a:ext cx="8458200" cy="4799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9" name="Text Box 5"/>
          <p:cNvSpPr txBox="1">
            <a:spLocks noChangeArrowheads="1"/>
          </p:cNvSpPr>
          <p:nvPr/>
        </p:nvSpPr>
        <p:spPr bwMode="auto">
          <a:xfrm>
            <a:off x="-1539875" y="3059113"/>
            <a:ext cx="184150" cy="304800"/>
          </a:xfrm>
          <a:prstGeom prst="rect">
            <a:avLst/>
          </a:prstGeom>
          <a:noFill/>
          <a:ln w="9525">
            <a:noFill/>
            <a:miter lim="800000"/>
            <a:headEnd/>
            <a:tailEnd/>
          </a:ln>
          <a:effectLst/>
        </p:spPr>
        <p:txBody>
          <a:bodyPr wrap="none">
            <a:spAutoFit/>
          </a:bodyPr>
          <a:lstStyle/>
          <a:p>
            <a:pPr>
              <a:defRPr/>
            </a:pPr>
            <a:endParaRPr lang="en-US" sz="1400">
              <a:effectLst>
                <a:outerShdw blurRad="38100" dist="38100" dir="2700000" algn="tl">
                  <a:srgbClr val="C0C0C0"/>
                </a:outerShdw>
              </a:effectLst>
              <a:latin typeface="Arial" pitchFamily="34" charset="0"/>
            </a:endParaRPr>
          </a:p>
        </p:txBody>
      </p:sp>
      <p:sp>
        <p:nvSpPr>
          <p:cNvPr id="1030" name="Rectangle 6"/>
          <p:cNvSpPr>
            <a:spLocks noGrp="1" noChangeArrowheads="1"/>
          </p:cNvSpPr>
          <p:nvPr>
            <p:ph type="sldNum" sz="quarter" idx="4"/>
          </p:nvPr>
        </p:nvSpPr>
        <p:spPr bwMode="auto">
          <a:xfrm>
            <a:off x="6896100" y="65532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b="0">
                <a:solidFill>
                  <a:srgbClr val="092E5C"/>
                </a:solidFill>
                <a:latin typeface="+mn-lt"/>
                <a:cs typeface="Arial" pitchFamily="34" charset="0"/>
              </a:defRPr>
            </a:lvl1pPr>
          </a:lstStyle>
          <a:p>
            <a:pPr>
              <a:defRPr/>
            </a:pPr>
            <a:fld id="{6D3D34C4-9B29-422E-AE47-0AE8A0706663}" type="slidenum">
              <a:rPr lang="en-US"/>
              <a:pPr>
                <a:defRPr/>
              </a:pPr>
              <a:t>‹#›</a:t>
            </a:fld>
            <a:endParaRPr lang="en-US"/>
          </a:p>
        </p:txBody>
      </p:sp>
      <p:sp>
        <p:nvSpPr>
          <p:cNvPr id="1031" name="Rectangle 7"/>
          <p:cNvSpPr>
            <a:spLocks noChangeArrowheads="1"/>
          </p:cNvSpPr>
          <p:nvPr/>
        </p:nvSpPr>
        <p:spPr bwMode="auto">
          <a:xfrm>
            <a:off x="304800" y="6477000"/>
            <a:ext cx="1905000" cy="228600"/>
          </a:xfrm>
          <a:prstGeom prst="rect">
            <a:avLst/>
          </a:prstGeom>
          <a:noFill/>
          <a:ln w="9525">
            <a:noFill/>
            <a:miter lim="800000"/>
            <a:headEnd/>
            <a:tailEnd/>
          </a:ln>
          <a:effectLst/>
        </p:spPr>
        <p:txBody>
          <a:bodyPr/>
          <a:lstStyle/>
          <a:p>
            <a:pPr>
              <a:defRPr/>
            </a:pPr>
            <a:endParaRPr lang="en-US">
              <a:effectLst>
                <a:outerShdw blurRad="38100" dist="38100" dir="2700000" algn="tl">
                  <a:srgbClr val="C0C0C0"/>
                </a:outerShdw>
              </a:effectLst>
              <a:latin typeface="Arial" pitchFamily="34" charset="0"/>
            </a:endParaRPr>
          </a:p>
        </p:txBody>
      </p:sp>
      <p:sp>
        <p:nvSpPr>
          <p:cNvPr id="1033" name="Text Box 9"/>
          <p:cNvSpPr txBox="1">
            <a:spLocks noChangeArrowheads="1"/>
          </p:cNvSpPr>
          <p:nvPr/>
        </p:nvSpPr>
        <p:spPr bwMode="auto">
          <a:xfrm>
            <a:off x="6845300" y="6340475"/>
            <a:ext cx="1955800" cy="365125"/>
          </a:xfrm>
          <a:prstGeom prst="rect">
            <a:avLst/>
          </a:prstGeom>
          <a:noFill/>
          <a:ln w="9525">
            <a:noFill/>
            <a:miter lim="800000"/>
            <a:headEnd/>
            <a:tailEnd/>
          </a:ln>
          <a:effectLst/>
        </p:spPr>
        <p:txBody>
          <a:bodyPr wrap="none">
            <a:spAutoFit/>
          </a:bodyPr>
          <a:lstStyle/>
          <a:p>
            <a:pPr>
              <a:defRPr/>
            </a:pPr>
            <a:r>
              <a:rPr lang="en-US" sz="900" b="0" i="1">
                <a:solidFill>
                  <a:srgbClr val="003399"/>
                </a:solidFill>
              </a:rPr>
              <a:t>Helping the World to Communicate</a:t>
            </a:r>
          </a:p>
          <a:p>
            <a:pPr>
              <a:defRPr/>
            </a:pPr>
            <a:r>
              <a:rPr lang="en-US" sz="900" b="0" i="1">
                <a:solidFill>
                  <a:srgbClr val="003399"/>
                </a:solidFill>
              </a:rPr>
              <a:t>Geographically</a:t>
            </a:r>
          </a:p>
        </p:txBody>
      </p:sp>
      <p:pic>
        <p:nvPicPr>
          <p:cNvPr id="1032" name="Picture 10" descr="hexagons.png                                                   0005D1B2JeffToo                        ABA78158:"/>
          <p:cNvPicPr>
            <a:picLocks noChangeAspect="1" noChangeArrowheads="1"/>
          </p:cNvPicPr>
          <p:nvPr/>
        </p:nvPicPr>
        <p:blipFill>
          <a:blip r:embed="rId13" cstate="print"/>
          <a:srcRect/>
          <a:stretch>
            <a:fillRect/>
          </a:stretch>
        </p:blipFill>
        <p:spPr bwMode="auto">
          <a:xfrm>
            <a:off x="152400" y="762000"/>
            <a:ext cx="8839200" cy="503238"/>
          </a:xfrm>
          <a:prstGeom prst="rect">
            <a:avLst/>
          </a:prstGeom>
          <a:noFill/>
          <a:ln w="9525">
            <a:noFill/>
            <a:miter lim="800000"/>
            <a:headEnd/>
            <a:tailEnd/>
          </a:ln>
        </p:spPr>
      </p:pic>
      <p:pic>
        <p:nvPicPr>
          <p:cNvPr id="2" name="Picture 11" descr="C:\Documents and Settings\Greg Buehler.JUMBO\Desktop\OGC_Logo_No_Border_Blue_3D.bmp"/>
          <p:cNvPicPr>
            <a:picLocks noChangeAspect="1" noChangeArrowheads="1"/>
          </p:cNvPicPr>
          <p:nvPr/>
        </p:nvPicPr>
        <p:blipFill>
          <a:blip r:embed="rId14" cstate="print"/>
          <a:srcRect/>
          <a:stretch>
            <a:fillRect/>
          </a:stretch>
        </p:blipFill>
        <p:spPr bwMode="auto">
          <a:xfrm>
            <a:off x="381000" y="6248400"/>
            <a:ext cx="1403350" cy="484188"/>
          </a:xfrm>
          <a:prstGeom prst="rect">
            <a:avLst/>
          </a:prstGeom>
          <a:noFill/>
          <a:ln w="9525">
            <a:noFill/>
            <a:miter lim="800000"/>
            <a:headEnd/>
            <a:tailEnd/>
          </a:ln>
        </p:spPr>
      </p:pic>
      <p:sp>
        <p:nvSpPr>
          <p:cNvPr id="1035" name="Text Box 11"/>
          <p:cNvSpPr txBox="1">
            <a:spLocks noChangeArrowheads="1"/>
          </p:cNvSpPr>
          <p:nvPr userDrawn="1"/>
        </p:nvSpPr>
        <p:spPr bwMode="auto">
          <a:xfrm>
            <a:off x="3263900" y="6308725"/>
            <a:ext cx="2627313" cy="244475"/>
          </a:xfrm>
          <a:prstGeom prst="rect">
            <a:avLst/>
          </a:prstGeom>
          <a:noFill/>
          <a:ln w="9525">
            <a:noFill/>
            <a:miter lim="800000"/>
            <a:headEnd/>
            <a:tailEnd/>
          </a:ln>
          <a:effectLst/>
        </p:spPr>
        <p:txBody>
          <a:bodyPr wrap="none">
            <a:spAutoFit/>
          </a:bodyPr>
          <a:lstStyle/>
          <a:p>
            <a:pPr algn="ctr">
              <a:defRPr/>
            </a:pPr>
            <a:r>
              <a:rPr lang="en-US" b="0">
                <a:cs typeface="Arial" charset="0"/>
              </a:rPr>
              <a:t>Copyright © 2009 Open Geospatial Consortium</a:t>
            </a:r>
          </a:p>
        </p:txBody>
      </p:sp>
    </p:spTree>
  </p:cSld>
  <p:clrMap bg1="lt1" tx1="dk1" bg2="lt2" tx2="dk2" accent1="accent1" accent2="accent2" accent3="accent3" accent4="accent4" accent5="accent5" accent6="accent6" hlink="hlink" folHlink="folHlink"/>
  <p:sldLayoutIdLst>
    <p:sldLayoutId id="2147483722"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sldNum="0" hdr="0" dt="0"/>
  <p:txStyles>
    <p:titleStyle>
      <a:lvl1pPr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2pPr>
      <a:lvl3pPr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3pPr>
      <a:lvl4pPr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4pPr>
      <a:lvl5pPr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5pPr>
      <a:lvl6pPr marL="457200"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6pPr>
      <a:lvl7pPr marL="914400"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7pPr>
      <a:lvl8pPr marL="1371600"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8pPr>
      <a:lvl9pPr marL="1828800" algn="ctr" rtl="0" eaLnBrk="0" fontAlgn="base" hangingPunct="0">
        <a:spcBef>
          <a:spcPct val="0"/>
        </a:spcBef>
        <a:spcAft>
          <a:spcPct val="0"/>
        </a:spcAft>
        <a:defRPr sz="3200">
          <a:solidFill>
            <a:srgbClr val="092E5C"/>
          </a:solidFill>
          <a:effectLst>
            <a:outerShdw blurRad="38100" dist="38100" dir="2700000" algn="tl">
              <a:srgbClr val="C0C0C0"/>
            </a:outerShdw>
          </a:effectLst>
          <a:latin typeface="Arial" pitchFamily="34" charset="0"/>
        </a:defRPr>
      </a:lvl9pPr>
    </p:titleStyle>
    <p:bodyStyle>
      <a:lvl1pPr marL="233363" indent="-233363" algn="l" rtl="0" eaLnBrk="0" fontAlgn="base" hangingPunct="0">
        <a:spcBef>
          <a:spcPct val="20000"/>
        </a:spcBef>
        <a:spcAft>
          <a:spcPct val="0"/>
        </a:spcAft>
        <a:buClr>
          <a:srgbClr val="092E5C"/>
        </a:buClr>
        <a:buChar char="•"/>
        <a:defRPr sz="2400">
          <a:solidFill>
            <a:schemeClr val="tx1"/>
          </a:solidFill>
          <a:latin typeface="+mn-lt"/>
          <a:ea typeface="+mn-ea"/>
          <a:cs typeface="+mn-cs"/>
        </a:defRPr>
      </a:lvl1pPr>
      <a:lvl2pPr marL="569913" indent="-222250" algn="l" rtl="0" eaLnBrk="0" fontAlgn="base" hangingPunct="0">
        <a:spcBef>
          <a:spcPct val="20000"/>
        </a:spcBef>
        <a:spcAft>
          <a:spcPct val="0"/>
        </a:spcAft>
        <a:buClr>
          <a:srgbClr val="092E5C"/>
        </a:buClr>
        <a:buChar char="–"/>
        <a:defRPr sz="2000">
          <a:solidFill>
            <a:schemeClr val="tx1"/>
          </a:solidFill>
          <a:latin typeface="+mn-lt"/>
        </a:defRPr>
      </a:lvl2pPr>
      <a:lvl3pPr marL="912813" indent="-228600" algn="l" rtl="0" eaLnBrk="0" fontAlgn="base" hangingPunct="0">
        <a:spcBef>
          <a:spcPct val="20000"/>
        </a:spcBef>
        <a:spcAft>
          <a:spcPct val="0"/>
        </a:spcAft>
        <a:buClr>
          <a:srgbClr val="092E5C"/>
        </a:buClr>
        <a:buChar char="•"/>
        <a:defRPr>
          <a:solidFill>
            <a:schemeClr val="tx1"/>
          </a:solidFill>
          <a:latin typeface="+mn-lt"/>
        </a:defRPr>
      </a:lvl3pPr>
      <a:lvl4pPr marL="1255713" indent="-228600" algn="l" rtl="0" eaLnBrk="0" fontAlgn="base" hangingPunct="0">
        <a:spcBef>
          <a:spcPct val="20000"/>
        </a:spcBef>
        <a:spcAft>
          <a:spcPct val="0"/>
        </a:spcAft>
        <a:buClr>
          <a:srgbClr val="092E5C"/>
        </a:buClr>
        <a:buChar char="–"/>
        <a:defRPr sz="1600">
          <a:solidFill>
            <a:schemeClr val="tx1"/>
          </a:solidFill>
          <a:latin typeface="+mn-lt"/>
        </a:defRPr>
      </a:lvl4pPr>
      <a:lvl5pPr marL="1598613" indent="-228600" algn="l" rtl="0" eaLnBrk="0" fontAlgn="base" hangingPunct="0">
        <a:spcBef>
          <a:spcPct val="20000"/>
        </a:spcBef>
        <a:spcAft>
          <a:spcPct val="0"/>
        </a:spcAft>
        <a:buClr>
          <a:srgbClr val="092E5C"/>
        </a:buClr>
        <a:buChar char="»"/>
        <a:defRPr sz="1600">
          <a:solidFill>
            <a:schemeClr val="tx1"/>
          </a:solidFill>
          <a:latin typeface="+mn-lt"/>
        </a:defRPr>
      </a:lvl5pPr>
      <a:lvl6pPr marL="2055813" indent="-228600" algn="l" rtl="0" eaLnBrk="0" fontAlgn="base" hangingPunct="0">
        <a:spcBef>
          <a:spcPct val="20000"/>
        </a:spcBef>
        <a:spcAft>
          <a:spcPct val="0"/>
        </a:spcAft>
        <a:buClr>
          <a:srgbClr val="092E5C"/>
        </a:buClr>
        <a:buChar char="»"/>
        <a:defRPr sz="1600">
          <a:solidFill>
            <a:schemeClr val="tx1"/>
          </a:solidFill>
          <a:latin typeface="+mn-lt"/>
        </a:defRPr>
      </a:lvl6pPr>
      <a:lvl7pPr marL="2513013" indent="-228600" algn="l" rtl="0" eaLnBrk="0" fontAlgn="base" hangingPunct="0">
        <a:spcBef>
          <a:spcPct val="20000"/>
        </a:spcBef>
        <a:spcAft>
          <a:spcPct val="0"/>
        </a:spcAft>
        <a:buClr>
          <a:srgbClr val="092E5C"/>
        </a:buClr>
        <a:buChar char="»"/>
        <a:defRPr sz="1600">
          <a:solidFill>
            <a:schemeClr val="tx1"/>
          </a:solidFill>
          <a:latin typeface="+mn-lt"/>
        </a:defRPr>
      </a:lvl7pPr>
      <a:lvl8pPr marL="2970213" indent="-228600" algn="l" rtl="0" eaLnBrk="0" fontAlgn="base" hangingPunct="0">
        <a:spcBef>
          <a:spcPct val="20000"/>
        </a:spcBef>
        <a:spcAft>
          <a:spcPct val="0"/>
        </a:spcAft>
        <a:buClr>
          <a:srgbClr val="092E5C"/>
        </a:buClr>
        <a:buChar char="»"/>
        <a:defRPr sz="1600">
          <a:solidFill>
            <a:schemeClr val="tx1"/>
          </a:solidFill>
          <a:latin typeface="+mn-lt"/>
        </a:defRPr>
      </a:lvl8pPr>
      <a:lvl9pPr marL="3427413" indent="-228600" algn="l" rtl="0" eaLnBrk="0" fontAlgn="base" hangingPunct="0">
        <a:spcBef>
          <a:spcPct val="20000"/>
        </a:spcBef>
        <a:spcAft>
          <a:spcPct val="0"/>
        </a:spcAft>
        <a:buClr>
          <a:srgbClr val="092E5C"/>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image" Target="../media/image5.jpe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3" Type="http://schemas.openxmlformats.org/officeDocument/2006/relationships/hyperlink" Target="https://lists.opengeospatial.org/mailman/listinfo/hydro.dw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 name="Rectangle 3"/>
          <p:cNvSpPr>
            <a:spLocks noGrp="1" noChangeArrowheads="1"/>
          </p:cNvSpPr>
          <p:nvPr>
            <p:ph type="ftr" sz="quarter" idx="4294967295"/>
          </p:nvPr>
        </p:nvSpPr>
        <p:spPr bwMode="auto">
          <a:xfrm>
            <a:off x="2933700" y="6477000"/>
            <a:ext cx="3276600" cy="228600"/>
          </a:xfrm>
          <a:prstGeom prst="rect">
            <a:avLst/>
          </a:prstGeom>
          <a:ln>
            <a:miter lim="800000"/>
            <a:headEnd/>
            <a:tailEnd/>
          </a:ln>
        </p:spPr>
        <p:txBody>
          <a:bodyPr/>
          <a:lstStyle/>
          <a:p>
            <a:pPr algn="ctr">
              <a:defRPr/>
            </a:pPr>
            <a:r>
              <a:rPr lang="en-US" sz="900" b="0">
                <a:solidFill>
                  <a:srgbClr val="092E5C"/>
                </a:solidFill>
                <a:effectLst>
                  <a:outerShdw blurRad="38100" dist="38100" dir="2700000" algn="tl">
                    <a:srgbClr val="C0C0C0"/>
                  </a:outerShdw>
                </a:effectLst>
                <a:latin typeface="Arial" charset="0"/>
                <a:cs typeface="Arial" charset="0"/>
              </a:rPr>
              <a:t>Copyright © 2009, Open Geospatial Consortium, Inc.</a:t>
            </a:r>
          </a:p>
        </p:txBody>
      </p:sp>
      <p:sp>
        <p:nvSpPr>
          <p:cNvPr id="3077" name="Rectangle 5"/>
          <p:cNvSpPr>
            <a:spLocks noGrp="1" noChangeArrowheads="1"/>
          </p:cNvSpPr>
          <p:nvPr>
            <p:ph type="ctrTitle"/>
          </p:nvPr>
        </p:nvSpPr>
        <p:spPr>
          <a:xfrm>
            <a:off x="785813" y="2928938"/>
            <a:ext cx="7772400" cy="838200"/>
          </a:xfrm>
        </p:spPr>
        <p:txBody>
          <a:bodyPr/>
          <a:lstStyle/>
          <a:p>
            <a:pPr>
              <a:defRPr/>
            </a:pPr>
            <a:r>
              <a:rPr lang="en-US" sz="2800" smtClean="0"/>
              <a:t>Hydrology DWG</a:t>
            </a:r>
          </a:p>
        </p:txBody>
      </p:sp>
      <p:sp>
        <p:nvSpPr>
          <p:cNvPr id="3076" name="Rectangle 3"/>
          <p:cNvSpPr>
            <a:spLocks noGrp="1" noChangeArrowheads="1"/>
          </p:cNvSpPr>
          <p:nvPr>
            <p:ph type="subTitle" idx="1"/>
          </p:nvPr>
        </p:nvSpPr>
        <p:spPr>
          <a:xfrm>
            <a:off x="1447800" y="4267200"/>
            <a:ext cx="6400800" cy="1857375"/>
          </a:xfrm>
          <a:solidFill>
            <a:srgbClr val="FFFFFF"/>
          </a:solidFill>
          <a:ln>
            <a:solidFill>
              <a:srgbClr val="000000"/>
            </a:solidFill>
          </a:ln>
        </p:spPr>
        <p:txBody>
          <a:bodyPr/>
          <a:lstStyle/>
          <a:p>
            <a:endParaRPr lang="en-US" sz="1600" smtClean="0"/>
          </a:p>
          <a:p>
            <a:r>
              <a:rPr lang="en-US" smtClean="0"/>
              <a:t> </a:t>
            </a:r>
          </a:p>
          <a:p>
            <a:endParaRPr lang="en-US" smtClean="0"/>
          </a:p>
        </p:txBody>
      </p:sp>
      <p:sp>
        <p:nvSpPr>
          <p:cNvPr id="2" name="Rectangle 15"/>
          <p:cNvSpPr>
            <a:spLocks noChangeArrowheads="1"/>
          </p:cNvSpPr>
          <p:nvPr/>
        </p:nvSpPr>
        <p:spPr bwMode="auto">
          <a:xfrm>
            <a:off x="1447800" y="4419600"/>
            <a:ext cx="6400800" cy="1371600"/>
          </a:xfrm>
          <a:prstGeom prst="rect">
            <a:avLst/>
          </a:prstGeom>
          <a:noFill/>
          <a:ln w="9525">
            <a:noFill/>
            <a:miter lim="800000"/>
            <a:headEnd/>
            <a:tailEnd/>
          </a:ln>
        </p:spPr>
        <p:txBody>
          <a:bodyPr/>
          <a:lstStyle/>
          <a:p>
            <a:pPr algn="ctr">
              <a:spcBef>
                <a:spcPct val="20000"/>
              </a:spcBef>
              <a:buClr>
                <a:srgbClr val="092E5C"/>
              </a:buClr>
            </a:pPr>
            <a:r>
              <a:rPr lang="en-US" sz="2000" b="0">
                <a:solidFill>
                  <a:srgbClr val="092E5C"/>
                </a:solidFill>
                <a:latin typeface="Arial" pitchFamily="34" charset="0"/>
              </a:rPr>
              <a:t>69th OGC Technical Committee</a:t>
            </a:r>
          </a:p>
          <a:p>
            <a:pPr algn="ctr">
              <a:spcBef>
                <a:spcPct val="20000"/>
              </a:spcBef>
              <a:buClr>
                <a:srgbClr val="092E5C"/>
              </a:buClr>
            </a:pPr>
            <a:r>
              <a:rPr lang="en-US" sz="2000" b="0">
                <a:solidFill>
                  <a:srgbClr val="092E5C"/>
                </a:solidFill>
                <a:latin typeface="Arial" pitchFamily="34" charset="0"/>
              </a:rPr>
              <a:t>Boston, MA, USA</a:t>
            </a:r>
          </a:p>
          <a:p>
            <a:pPr algn="ctr">
              <a:spcBef>
                <a:spcPct val="20000"/>
              </a:spcBef>
              <a:buClr>
                <a:srgbClr val="092E5C"/>
              </a:buClr>
            </a:pPr>
            <a:r>
              <a:rPr lang="en-US" sz="2000" b="0">
                <a:solidFill>
                  <a:srgbClr val="092E5C"/>
                </a:solidFill>
                <a:latin typeface="Arial" pitchFamily="34" charset="0"/>
              </a:rPr>
              <a:t>Ilya Zaslavsky, David Lemon</a:t>
            </a:r>
          </a:p>
          <a:p>
            <a:pPr algn="ctr">
              <a:spcBef>
                <a:spcPct val="20000"/>
              </a:spcBef>
              <a:buClr>
                <a:srgbClr val="092E5C"/>
              </a:buClr>
            </a:pPr>
            <a:r>
              <a:rPr lang="en-US" sz="2000" b="0">
                <a:solidFill>
                  <a:srgbClr val="092E5C"/>
                </a:solidFill>
                <a:latin typeface="Arial" pitchFamily="34" charset="0"/>
              </a:rPr>
              <a:t>June 22, 2009</a:t>
            </a:r>
          </a:p>
        </p:txBody>
      </p:sp>
      <p:sp>
        <p:nvSpPr>
          <p:cNvPr id="3078" name="Rectangle 16"/>
          <p:cNvSpPr>
            <a:spLocks noChangeArrowheads="1"/>
          </p:cNvSpPr>
          <p:nvPr/>
        </p:nvSpPr>
        <p:spPr bwMode="auto">
          <a:xfrm>
            <a:off x="3257550" y="3235325"/>
            <a:ext cx="9144000" cy="0"/>
          </a:xfrm>
          <a:prstGeom prst="rect">
            <a:avLst/>
          </a:prstGeom>
          <a:solidFill>
            <a:srgbClr val="F0F0F0"/>
          </a:solidFill>
          <a:ln w="9525">
            <a:noFill/>
            <a:miter lim="800000"/>
            <a:headEnd/>
            <a:tailEnd/>
          </a:ln>
        </p:spPr>
        <p:txBody>
          <a:bodyPr lIns="36501" tIns="33327" rIns="36501" bIns="33327">
            <a:spAutoFit/>
          </a:bodyPr>
          <a:lstStyle/>
          <a:p>
            <a:endParaRPr lang="en-AU"/>
          </a:p>
        </p:txBody>
      </p:sp>
      <p:sp>
        <p:nvSpPr>
          <p:cNvPr id="3079" name="Rectangle 17"/>
          <p:cNvSpPr>
            <a:spLocks noChangeArrowheads="1"/>
          </p:cNvSpPr>
          <p:nvPr/>
        </p:nvSpPr>
        <p:spPr bwMode="auto">
          <a:xfrm>
            <a:off x="3257550" y="3235325"/>
            <a:ext cx="9144000" cy="0"/>
          </a:xfrm>
          <a:prstGeom prst="rect">
            <a:avLst/>
          </a:prstGeom>
          <a:solidFill>
            <a:srgbClr val="F0F0F0"/>
          </a:solidFill>
          <a:ln w="9525">
            <a:noFill/>
            <a:miter lim="800000"/>
            <a:headEnd/>
            <a:tailEnd/>
          </a:ln>
        </p:spPr>
        <p:txBody>
          <a:bodyPr>
            <a:spAutoFit/>
          </a:bodyPr>
          <a:lstStyle/>
          <a:p>
            <a:endParaRPr lang="en-AU"/>
          </a:p>
        </p:txBody>
      </p:sp>
      <p:sp>
        <p:nvSpPr>
          <p:cNvPr id="3080" name="Rectangle 18"/>
          <p:cNvSpPr>
            <a:spLocks noChangeArrowheads="1"/>
          </p:cNvSpPr>
          <p:nvPr/>
        </p:nvSpPr>
        <p:spPr bwMode="auto">
          <a:xfrm>
            <a:off x="3257550" y="3235325"/>
            <a:ext cx="9144000" cy="0"/>
          </a:xfrm>
          <a:prstGeom prst="rect">
            <a:avLst/>
          </a:prstGeom>
          <a:solidFill>
            <a:srgbClr val="F0F0F0"/>
          </a:solidFill>
          <a:ln w="9525">
            <a:noFill/>
            <a:miter lim="800000"/>
            <a:headEnd/>
            <a:tailEnd/>
          </a:ln>
        </p:spPr>
        <p:txBody>
          <a:bodyPr>
            <a:spAutoFit/>
          </a:bodyPr>
          <a:lstStyle/>
          <a:p>
            <a:endParaRPr lang="en-AU"/>
          </a:p>
        </p:txBody>
      </p:sp>
      <p:sp>
        <p:nvSpPr>
          <p:cNvPr id="3081" name="Rectangle 21"/>
          <p:cNvSpPr>
            <a:spLocks noChangeArrowheads="1"/>
          </p:cNvSpPr>
          <p:nvPr/>
        </p:nvSpPr>
        <p:spPr bwMode="auto">
          <a:xfrm>
            <a:off x="0" y="2649538"/>
            <a:ext cx="9144000" cy="0"/>
          </a:xfrm>
          <a:prstGeom prst="rect">
            <a:avLst/>
          </a:prstGeom>
          <a:solidFill>
            <a:srgbClr val="F0F0F0"/>
          </a:solidFill>
          <a:ln w="9525">
            <a:noFill/>
            <a:miter lim="800000"/>
            <a:headEnd/>
            <a:tailEnd/>
          </a:ln>
        </p:spPr>
        <p:txBody>
          <a:bodyPr lIns="36501" tIns="33327" rIns="36501" bIns="33327">
            <a:spAutoFit/>
          </a:bodyPr>
          <a:lstStyle/>
          <a:p>
            <a:endParaRPr lang="en-AU"/>
          </a:p>
        </p:txBody>
      </p:sp>
      <p:sp>
        <p:nvSpPr>
          <p:cNvPr id="3082" name="Rectangle 22"/>
          <p:cNvSpPr>
            <a:spLocks noChangeArrowheads="1"/>
          </p:cNvSpPr>
          <p:nvPr/>
        </p:nvSpPr>
        <p:spPr bwMode="auto">
          <a:xfrm>
            <a:off x="0" y="2649538"/>
            <a:ext cx="9144000" cy="0"/>
          </a:xfrm>
          <a:prstGeom prst="rect">
            <a:avLst/>
          </a:prstGeom>
          <a:solidFill>
            <a:srgbClr val="F0F0F0"/>
          </a:solidFill>
          <a:ln w="9525">
            <a:noFill/>
            <a:miter lim="800000"/>
            <a:headEnd/>
            <a:tailEnd/>
          </a:ln>
        </p:spPr>
        <p:txBody>
          <a:bodyPr>
            <a:spAutoFit/>
          </a:bodyPr>
          <a:lstStyle/>
          <a:p>
            <a:endParaRPr lang="en-AU"/>
          </a:p>
        </p:txBody>
      </p:sp>
      <p:sp>
        <p:nvSpPr>
          <p:cNvPr id="3083" name="Rectangle 23"/>
          <p:cNvSpPr>
            <a:spLocks noChangeArrowheads="1"/>
          </p:cNvSpPr>
          <p:nvPr/>
        </p:nvSpPr>
        <p:spPr bwMode="auto">
          <a:xfrm>
            <a:off x="0" y="2649538"/>
            <a:ext cx="9144000" cy="0"/>
          </a:xfrm>
          <a:prstGeom prst="rect">
            <a:avLst/>
          </a:prstGeom>
          <a:solidFill>
            <a:srgbClr val="F0F0F0"/>
          </a:solidFill>
          <a:ln w="9525">
            <a:noFill/>
            <a:miter lim="800000"/>
            <a:headEnd/>
            <a:tailEnd/>
          </a:ln>
        </p:spPr>
        <p:txBody>
          <a:bodyPr>
            <a:spAutoFit/>
          </a:bodyPr>
          <a:lstStyle/>
          <a:p>
            <a:endParaRPr lang="en-AU"/>
          </a:p>
        </p:txBody>
      </p:sp>
      <p:sp>
        <p:nvSpPr>
          <p:cNvPr id="3084" name="Rectangle 31"/>
          <p:cNvSpPr>
            <a:spLocks noChangeArrowheads="1"/>
          </p:cNvSpPr>
          <p:nvPr/>
        </p:nvSpPr>
        <p:spPr bwMode="auto">
          <a:xfrm>
            <a:off x="0" y="1793875"/>
            <a:ext cx="9144000" cy="0"/>
          </a:xfrm>
          <a:prstGeom prst="rect">
            <a:avLst/>
          </a:prstGeom>
          <a:solidFill>
            <a:srgbClr val="F0F0F0"/>
          </a:solidFill>
          <a:ln w="9525">
            <a:noFill/>
            <a:miter lim="800000"/>
            <a:headEnd/>
            <a:tailEnd/>
          </a:ln>
        </p:spPr>
        <p:txBody>
          <a:bodyPr>
            <a:spAutoFit/>
          </a:bodyPr>
          <a:lstStyle/>
          <a:p>
            <a:endParaRPr lang="en-AU"/>
          </a:p>
        </p:txBody>
      </p:sp>
      <p:sp>
        <p:nvSpPr>
          <p:cNvPr id="3085" name="Rectangle 32"/>
          <p:cNvSpPr>
            <a:spLocks noChangeArrowheads="1"/>
          </p:cNvSpPr>
          <p:nvPr/>
        </p:nvSpPr>
        <p:spPr bwMode="auto">
          <a:xfrm>
            <a:off x="0" y="1793875"/>
            <a:ext cx="9144000" cy="0"/>
          </a:xfrm>
          <a:prstGeom prst="rect">
            <a:avLst/>
          </a:prstGeom>
          <a:solidFill>
            <a:srgbClr val="F0F0F0"/>
          </a:solidFill>
          <a:ln w="9525">
            <a:noFill/>
            <a:miter lim="800000"/>
            <a:headEnd/>
            <a:tailEnd/>
          </a:ln>
        </p:spPr>
        <p:txBody>
          <a:bodyPr>
            <a:spAutoFit/>
          </a:bodyPr>
          <a:lstStyle/>
          <a:p>
            <a:endParaRPr lang="en-AU"/>
          </a:p>
        </p:txBody>
      </p:sp>
      <p:sp>
        <p:nvSpPr>
          <p:cNvPr id="3086" name="Rectangle 40"/>
          <p:cNvSpPr>
            <a:spLocks noChangeArrowheads="1"/>
          </p:cNvSpPr>
          <p:nvPr/>
        </p:nvSpPr>
        <p:spPr bwMode="auto">
          <a:xfrm>
            <a:off x="19050" y="3008313"/>
            <a:ext cx="9144000" cy="0"/>
          </a:xfrm>
          <a:prstGeom prst="rect">
            <a:avLst/>
          </a:prstGeom>
          <a:solidFill>
            <a:srgbClr val="F0F0F0"/>
          </a:solidFill>
          <a:ln w="9525">
            <a:noFill/>
            <a:miter lim="800000"/>
            <a:headEnd/>
            <a:tailEnd/>
          </a:ln>
        </p:spPr>
        <p:txBody>
          <a:bodyPr>
            <a:spAutoFit/>
          </a:bodyPr>
          <a:lstStyle/>
          <a:p>
            <a:endParaRPr lang="en-AU"/>
          </a:p>
        </p:txBody>
      </p:sp>
      <p:sp>
        <p:nvSpPr>
          <p:cNvPr id="3087" name="Rectangle 41"/>
          <p:cNvSpPr>
            <a:spLocks noChangeArrowheads="1"/>
          </p:cNvSpPr>
          <p:nvPr/>
        </p:nvSpPr>
        <p:spPr bwMode="auto">
          <a:xfrm>
            <a:off x="19050" y="3008313"/>
            <a:ext cx="9144000" cy="0"/>
          </a:xfrm>
          <a:prstGeom prst="rect">
            <a:avLst/>
          </a:prstGeom>
          <a:solidFill>
            <a:srgbClr val="F0F0F0"/>
          </a:solidFill>
          <a:ln w="9525">
            <a:noFill/>
            <a:miter lim="800000"/>
            <a:headEnd/>
            <a:tailEnd/>
          </a:ln>
        </p:spPr>
        <p:txBody>
          <a:bodyPr>
            <a:spAutoFit/>
          </a:bodyPr>
          <a:lstStyle/>
          <a:p>
            <a:endParaRPr lang="en-AU"/>
          </a:p>
        </p:txBody>
      </p:sp>
      <p:sp>
        <p:nvSpPr>
          <p:cNvPr id="3088" name="Rectangle 46"/>
          <p:cNvSpPr>
            <a:spLocks noChangeArrowheads="1"/>
          </p:cNvSpPr>
          <p:nvPr/>
        </p:nvSpPr>
        <p:spPr bwMode="auto">
          <a:xfrm>
            <a:off x="0" y="3086100"/>
            <a:ext cx="9144000" cy="0"/>
          </a:xfrm>
          <a:prstGeom prst="rect">
            <a:avLst/>
          </a:prstGeom>
          <a:solidFill>
            <a:srgbClr val="F0F0F0"/>
          </a:solidFill>
          <a:ln w="9525">
            <a:noFill/>
            <a:miter lim="800000"/>
            <a:headEnd/>
            <a:tailEnd/>
          </a:ln>
        </p:spPr>
        <p:txBody>
          <a:bodyPr>
            <a:spAutoFit/>
          </a:bodyPr>
          <a:lstStyle/>
          <a:p>
            <a:endParaRPr lang="en-AU"/>
          </a:p>
        </p:txBody>
      </p:sp>
      <p:sp>
        <p:nvSpPr>
          <p:cNvPr id="3089" name="Rectangle 47"/>
          <p:cNvSpPr>
            <a:spLocks noChangeArrowheads="1"/>
          </p:cNvSpPr>
          <p:nvPr/>
        </p:nvSpPr>
        <p:spPr bwMode="auto">
          <a:xfrm>
            <a:off x="0" y="3086100"/>
            <a:ext cx="9144000" cy="0"/>
          </a:xfrm>
          <a:prstGeom prst="rect">
            <a:avLst/>
          </a:prstGeom>
          <a:solidFill>
            <a:srgbClr val="F0F0F0"/>
          </a:solidFill>
          <a:ln w="9525">
            <a:noFill/>
            <a:miter lim="800000"/>
            <a:headEnd/>
            <a:tailEnd/>
          </a:ln>
        </p:spPr>
        <p:txBody>
          <a:bodyPr>
            <a:spAutoFit/>
          </a:bodyPr>
          <a:lstStyle/>
          <a:p>
            <a:endParaRPr lang="en-AU"/>
          </a:p>
        </p:txBody>
      </p:sp>
      <p:sp>
        <p:nvSpPr>
          <p:cNvPr id="3090" name="Rectangle 52"/>
          <p:cNvSpPr>
            <a:spLocks noChangeArrowheads="1"/>
          </p:cNvSpPr>
          <p:nvPr/>
        </p:nvSpPr>
        <p:spPr bwMode="auto">
          <a:xfrm>
            <a:off x="0" y="2914650"/>
            <a:ext cx="9144000" cy="0"/>
          </a:xfrm>
          <a:prstGeom prst="rect">
            <a:avLst/>
          </a:prstGeom>
          <a:solidFill>
            <a:srgbClr val="F0F0F0"/>
          </a:solidFill>
          <a:ln w="9525">
            <a:noFill/>
            <a:miter lim="800000"/>
            <a:headEnd/>
            <a:tailEnd/>
          </a:ln>
        </p:spPr>
        <p:txBody>
          <a:bodyPr>
            <a:spAutoFit/>
          </a:bodyPr>
          <a:lstStyle/>
          <a:p>
            <a:endParaRPr lang="en-AU"/>
          </a:p>
        </p:txBody>
      </p:sp>
      <p:sp>
        <p:nvSpPr>
          <p:cNvPr id="3091" name="Rectangle 53"/>
          <p:cNvSpPr>
            <a:spLocks noChangeArrowheads="1"/>
          </p:cNvSpPr>
          <p:nvPr/>
        </p:nvSpPr>
        <p:spPr bwMode="auto">
          <a:xfrm>
            <a:off x="0" y="2914650"/>
            <a:ext cx="9144000" cy="0"/>
          </a:xfrm>
          <a:prstGeom prst="rect">
            <a:avLst/>
          </a:prstGeom>
          <a:solidFill>
            <a:srgbClr val="F0F0F0"/>
          </a:solidFill>
          <a:ln w="9525">
            <a:noFill/>
            <a:miter lim="800000"/>
            <a:headEnd/>
            <a:tailEnd/>
          </a:ln>
        </p:spPr>
        <p:txBody>
          <a:bodyPr>
            <a:spAutoFit/>
          </a:bodyPr>
          <a:lstStyle/>
          <a:p>
            <a:endParaRPr lang="en-AU"/>
          </a:p>
        </p:txBody>
      </p:sp>
      <p:sp>
        <p:nvSpPr>
          <p:cNvPr id="3092" name="Rectangle 57"/>
          <p:cNvSpPr>
            <a:spLocks noChangeArrowheads="1"/>
          </p:cNvSpPr>
          <p:nvPr/>
        </p:nvSpPr>
        <p:spPr bwMode="auto">
          <a:xfrm>
            <a:off x="0" y="1257300"/>
            <a:ext cx="9144000" cy="0"/>
          </a:xfrm>
          <a:prstGeom prst="rect">
            <a:avLst/>
          </a:prstGeom>
          <a:solidFill>
            <a:srgbClr val="F0F0F0"/>
          </a:solidFill>
          <a:ln w="9525">
            <a:noFill/>
            <a:miter lim="800000"/>
            <a:headEnd/>
            <a:tailEnd/>
          </a:ln>
        </p:spPr>
        <p:txBody>
          <a:bodyPr>
            <a:spAutoFit/>
          </a:bodyPr>
          <a:lstStyle/>
          <a:p>
            <a:endParaRPr lang="en-AU"/>
          </a:p>
        </p:txBody>
      </p:sp>
      <p:sp>
        <p:nvSpPr>
          <p:cNvPr id="3093" name="Rectangle 58"/>
          <p:cNvSpPr>
            <a:spLocks noChangeArrowheads="1"/>
          </p:cNvSpPr>
          <p:nvPr/>
        </p:nvSpPr>
        <p:spPr bwMode="auto">
          <a:xfrm>
            <a:off x="0" y="1257300"/>
            <a:ext cx="9144000" cy="0"/>
          </a:xfrm>
          <a:prstGeom prst="rect">
            <a:avLst/>
          </a:prstGeom>
          <a:solidFill>
            <a:srgbClr val="F0F0F0"/>
          </a:solidFill>
          <a:ln w="9525">
            <a:noFill/>
            <a:miter lim="800000"/>
            <a:headEnd/>
            <a:tailEnd/>
          </a:ln>
        </p:spPr>
        <p:txBody>
          <a:bodyPr>
            <a:spAutoFit/>
          </a:bodyPr>
          <a:lstStyle/>
          <a:p>
            <a:endParaRPr lang="en-AU"/>
          </a:p>
        </p:txBody>
      </p:sp>
      <p:sp>
        <p:nvSpPr>
          <p:cNvPr id="3094" name="Rectangle 63"/>
          <p:cNvSpPr>
            <a:spLocks noChangeArrowheads="1"/>
          </p:cNvSpPr>
          <p:nvPr/>
        </p:nvSpPr>
        <p:spPr bwMode="auto">
          <a:xfrm>
            <a:off x="0" y="4078288"/>
            <a:ext cx="9144000" cy="0"/>
          </a:xfrm>
          <a:prstGeom prst="rect">
            <a:avLst/>
          </a:prstGeom>
          <a:solidFill>
            <a:srgbClr val="F0F0F0"/>
          </a:solidFill>
          <a:ln w="9525">
            <a:noFill/>
            <a:miter lim="800000"/>
            <a:headEnd/>
            <a:tailEnd/>
          </a:ln>
        </p:spPr>
        <p:txBody>
          <a:bodyPr>
            <a:spAutoFit/>
          </a:bodyPr>
          <a:lstStyle/>
          <a:p>
            <a:endParaRPr lang="en-AU"/>
          </a:p>
        </p:txBody>
      </p:sp>
      <p:sp>
        <p:nvSpPr>
          <p:cNvPr id="3095" name="Rectangle 66"/>
          <p:cNvSpPr>
            <a:spLocks noChangeArrowheads="1"/>
          </p:cNvSpPr>
          <p:nvPr/>
        </p:nvSpPr>
        <p:spPr bwMode="auto">
          <a:xfrm>
            <a:off x="0" y="3086100"/>
            <a:ext cx="9144000" cy="0"/>
          </a:xfrm>
          <a:prstGeom prst="rect">
            <a:avLst/>
          </a:prstGeom>
          <a:solidFill>
            <a:srgbClr val="F0F0F0"/>
          </a:solidFill>
          <a:ln w="9525">
            <a:noFill/>
            <a:miter lim="800000"/>
            <a:headEnd/>
            <a:tailEnd/>
          </a:ln>
        </p:spPr>
        <p:txBody>
          <a:bodyPr>
            <a:spAutoFit/>
          </a:bodyPr>
          <a:lstStyle/>
          <a:p>
            <a:endParaRPr lang="en-AU"/>
          </a:p>
        </p:txBody>
      </p:sp>
      <p:sp>
        <p:nvSpPr>
          <p:cNvPr id="3096" name="Rectangle 67"/>
          <p:cNvSpPr>
            <a:spLocks noChangeArrowheads="1"/>
          </p:cNvSpPr>
          <p:nvPr/>
        </p:nvSpPr>
        <p:spPr bwMode="auto">
          <a:xfrm>
            <a:off x="0" y="3086100"/>
            <a:ext cx="9144000" cy="0"/>
          </a:xfrm>
          <a:prstGeom prst="rect">
            <a:avLst/>
          </a:prstGeom>
          <a:solidFill>
            <a:srgbClr val="F0F0F0"/>
          </a:solidFill>
          <a:ln w="9525">
            <a:noFill/>
            <a:miter lim="800000"/>
            <a:headEnd/>
            <a:tailEnd/>
          </a:ln>
        </p:spPr>
        <p:txBody>
          <a:bodyPr>
            <a:spAutoFit/>
          </a:bodyPr>
          <a:lstStyle/>
          <a:p>
            <a:endParaRPr lang="en-AU"/>
          </a:p>
        </p:txBody>
      </p:sp>
      <p:sp>
        <p:nvSpPr>
          <p:cNvPr id="3097" name="Text Box 73"/>
          <p:cNvSpPr txBox="1">
            <a:spLocks noChangeArrowheads="1"/>
          </p:cNvSpPr>
          <p:nvPr/>
        </p:nvSpPr>
        <p:spPr bwMode="auto">
          <a:xfrm>
            <a:off x="3914775" y="914400"/>
            <a:ext cx="1312863" cy="336550"/>
          </a:xfrm>
          <a:prstGeom prst="rect">
            <a:avLst/>
          </a:prstGeom>
          <a:noFill/>
          <a:ln w="9525">
            <a:noFill/>
            <a:miter lim="800000"/>
            <a:headEnd/>
            <a:tailEnd/>
          </a:ln>
        </p:spPr>
        <p:txBody>
          <a:bodyPr wrap="none">
            <a:spAutoFit/>
          </a:bodyPr>
          <a:lstStyle/>
          <a:p>
            <a:pPr algn="ctr"/>
            <a:r>
              <a:rPr lang="en-US" sz="1600"/>
              <a:t>Sponsoredby</a:t>
            </a:r>
          </a:p>
        </p:txBody>
      </p:sp>
      <p:pic>
        <p:nvPicPr>
          <p:cNvPr id="3098" name="Picture 30" descr="MITRE"/>
          <p:cNvPicPr>
            <a:picLocks noChangeAspect="1" noChangeArrowheads="1"/>
          </p:cNvPicPr>
          <p:nvPr/>
        </p:nvPicPr>
        <p:blipFill>
          <a:blip r:embed="rId3" cstate="print"/>
          <a:srcRect/>
          <a:stretch>
            <a:fillRect/>
          </a:stretch>
        </p:blipFill>
        <p:spPr bwMode="auto">
          <a:xfrm>
            <a:off x="1763713" y="1700213"/>
            <a:ext cx="1666875" cy="495300"/>
          </a:xfrm>
          <a:prstGeom prst="rect">
            <a:avLst/>
          </a:prstGeom>
          <a:noFill/>
          <a:ln w="9525">
            <a:noFill/>
            <a:miter lim="800000"/>
            <a:headEnd/>
            <a:tailEnd/>
          </a:ln>
        </p:spPr>
      </p:pic>
      <p:pic>
        <p:nvPicPr>
          <p:cNvPr id="3099" name="Picture 32" descr="MIT Lincoln Labs"/>
          <p:cNvPicPr>
            <a:picLocks noChangeAspect="1" noChangeArrowheads="1"/>
          </p:cNvPicPr>
          <p:nvPr/>
        </p:nvPicPr>
        <p:blipFill>
          <a:blip r:embed="rId4" cstate="print"/>
          <a:srcRect/>
          <a:stretch>
            <a:fillRect/>
          </a:stretch>
        </p:blipFill>
        <p:spPr bwMode="auto">
          <a:xfrm>
            <a:off x="3779838" y="1628775"/>
            <a:ext cx="1666875" cy="695325"/>
          </a:xfrm>
          <a:prstGeom prst="rect">
            <a:avLst/>
          </a:prstGeom>
          <a:noFill/>
          <a:ln w="9525">
            <a:noFill/>
            <a:miter lim="800000"/>
            <a:headEnd/>
            <a:tailEnd/>
          </a:ln>
        </p:spPr>
      </p:pic>
      <p:pic>
        <p:nvPicPr>
          <p:cNvPr id="3100" name="Picture 34" descr="MIT"/>
          <p:cNvPicPr>
            <a:picLocks noChangeAspect="1" noChangeArrowheads="1"/>
          </p:cNvPicPr>
          <p:nvPr/>
        </p:nvPicPr>
        <p:blipFill>
          <a:blip r:embed="rId5" cstate="print"/>
          <a:srcRect/>
          <a:stretch>
            <a:fillRect/>
          </a:stretch>
        </p:blipFill>
        <p:spPr bwMode="auto">
          <a:xfrm>
            <a:off x="6011863" y="1628775"/>
            <a:ext cx="1666875" cy="828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defRPr/>
            </a:pPr>
            <a:r>
              <a:rPr lang="en-US" dirty="0" smtClean="0"/>
              <a:t>Agenda</a:t>
            </a:r>
          </a:p>
        </p:txBody>
      </p:sp>
      <p:sp>
        <p:nvSpPr>
          <p:cNvPr id="4099" name="Rectangle 3"/>
          <p:cNvSpPr>
            <a:spLocks noGrp="1" noChangeArrowheads="1"/>
          </p:cNvSpPr>
          <p:nvPr>
            <p:ph type="body" idx="1"/>
          </p:nvPr>
        </p:nvSpPr>
        <p:spPr/>
        <p:txBody>
          <a:bodyPr/>
          <a:lstStyle/>
          <a:p>
            <a:pPr>
              <a:lnSpc>
                <a:spcPct val="80000"/>
              </a:lnSpc>
            </a:pPr>
            <a:r>
              <a:rPr lang="en-US" sz="1800" i="1" smtClean="0"/>
              <a:t>1. Introduction and elections of DWG co-chairs (10 min)</a:t>
            </a:r>
            <a:br>
              <a:rPr lang="en-US" sz="1800" i="1" smtClean="0"/>
            </a:br>
            <a:r>
              <a:rPr lang="en-US" sz="1800" i="1" smtClean="0"/>
              <a:t/>
            </a:r>
            <a:br>
              <a:rPr lang="en-US" sz="1800" i="1" smtClean="0"/>
            </a:br>
            <a:r>
              <a:rPr lang="en-US" sz="1800" i="1" smtClean="0"/>
              <a:t>2. Presentations (talk titles are tentative, 15-20min each):</a:t>
            </a:r>
            <a:br>
              <a:rPr lang="en-US" sz="1800" i="1" smtClean="0"/>
            </a:br>
            <a:r>
              <a:rPr lang="en-US" sz="1800" i="1" smtClean="0"/>
              <a:t/>
            </a:r>
            <a:br>
              <a:rPr lang="en-US" sz="1800" i="1" smtClean="0"/>
            </a:br>
            <a:r>
              <a:rPr lang="en-US" sz="1800" i="1" smtClean="0"/>
              <a:t>        a. Nathaniel Booth: "USGS Water Data Exchange Services" </a:t>
            </a:r>
            <a:br>
              <a:rPr lang="en-US" sz="1800" i="1" smtClean="0"/>
            </a:br>
            <a:r>
              <a:rPr lang="en-US" sz="1800" i="1" smtClean="0"/>
              <a:t/>
            </a:r>
            <a:br>
              <a:rPr lang="en-US" sz="1800" i="1" smtClean="0"/>
            </a:br>
            <a:r>
              <a:rPr lang="en-US" sz="1800" i="1" smtClean="0"/>
              <a:t>        b. Zichuan Ye, Dean Djokic (ESRI) "What is needed to support an</a:t>
            </a:r>
            <a:br>
              <a:rPr lang="en-US" sz="1800" i="1" smtClean="0"/>
            </a:br>
            <a:r>
              <a:rPr lang="en-US" sz="1800" i="1" smtClean="0"/>
              <a:t>integrated geo-temporal system based on CUAHSI experience"</a:t>
            </a:r>
            <a:br>
              <a:rPr lang="en-US" sz="1800" i="1" smtClean="0"/>
            </a:br>
            <a:r>
              <a:rPr lang="en-US" sz="1800" i="1" smtClean="0"/>
              <a:t/>
            </a:r>
            <a:br>
              <a:rPr lang="en-US" sz="1800" i="1" smtClean="0"/>
            </a:br>
            <a:r>
              <a:rPr lang="en-US" sz="1800" i="1" smtClean="0"/>
              <a:t>        c. Boyan Brodaric (Geoconnections - Geological Survey of Canada)</a:t>
            </a:r>
            <a:br>
              <a:rPr lang="en-US" sz="1800" i="1" smtClean="0"/>
            </a:br>
            <a:r>
              <a:rPr lang="en-US" sz="1800" i="1" smtClean="0"/>
              <a:t>"Geospatial Information Interoperability in the Canadian Groundwater</a:t>
            </a:r>
            <a:br>
              <a:rPr lang="en-US" sz="1800" i="1" smtClean="0"/>
            </a:br>
            <a:r>
              <a:rPr lang="en-US" sz="1800" i="1" smtClean="0"/>
              <a:t>Information Network".</a:t>
            </a:r>
            <a:br>
              <a:rPr lang="en-US" sz="1800" i="1" smtClean="0"/>
            </a:br>
            <a:r>
              <a:rPr lang="en-US" sz="1800" i="1" smtClean="0"/>
              <a:t/>
            </a:r>
            <a:br>
              <a:rPr lang="en-US" sz="1800" i="1" smtClean="0"/>
            </a:br>
            <a:r>
              <a:rPr lang="en-US" sz="1800" i="1" smtClean="0"/>
              <a:t>        d. David Lemon, Peter Fitch (CSIRO): "The Hydrologists Workbench</a:t>
            </a:r>
            <a:br>
              <a:rPr lang="en-US" sz="1800" i="1" smtClean="0"/>
            </a:br>
            <a:r>
              <a:rPr lang="en-US" sz="1800" i="1" smtClean="0"/>
              <a:t>- an application of scientific workflows to hydrology problems"</a:t>
            </a:r>
            <a:br>
              <a:rPr lang="en-US" sz="1800" i="1" smtClean="0"/>
            </a:br>
            <a:r>
              <a:rPr lang="en-US" sz="1800" i="1" smtClean="0"/>
              <a:t/>
            </a:r>
            <a:br>
              <a:rPr lang="en-US" sz="1800" i="1" smtClean="0"/>
            </a:br>
            <a:r>
              <a:rPr lang="en-US" sz="1800" i="1" smtClean="0"/>
              <a:t>        e. David Valentine, Ilya Zaslavsky (SDSC and CUAHSI HIS) "Time</a:t>
            </a:r>
            <a:br>
              <a:rPr lang="en-US" sz="1800" i="1" smtClean="0"/>
            </a:br>
            <a:r>
              <a:rPr lang="en-US" sz="1800" i="1" smtClean="0"/>
              <a:t>series management in WaterML 1.1 and CUAHSI Water Data Services"</a:t>
            </a:r>
            <a:br>
              <a:rPr lang="en-US" sz="1800" i="1" smtClean="0"/>
            </a:br>
            <a:r>
              <a:rPr lang="en-US" sz="1800" i="1" smtClean="0"/>
              <a:t/>
            </a:r>
            <a:br>
              <a:rPr lang="en-US" sz="1800" i="1" smtClean="0"/>
            </a:br>
            <a:r>
              <a:rPr lang="en-US" sz="1800" i="1" smtClean="0"/>
              <a:t>3. Discussion of the DWG mission and first steps (Charter: document 08-095r4)</a:t>
            </a:r>
            <a:r>
              <a:rPr lang="en-US" sz="1800" smtClean="0"/>
              <a:t> </a:t>
            </a:r>
            <a:endParaRPr lang="en-US" sz="1400" i="1"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noFill/>
        </p:spPr>
        <p:txBody>
          <a:bodyPr/>
          <a:lstStyle/>
          <a:p>
            <a:r>
              <a:rPr lang="en-AU" smtClean="0">
                <a:effectLst/>
              </a:rPr>
              <a:t>DWG Charter and Mission</a:t>
            </a:r>
          </a:p>
        </p:txBody>
      </p:sp>
      <p:sp>
        <p:nvSpPr>
          <p:cNvPr id="5123" name="Rectangle 3"/>
          <p:cNvSpPr>
            <a:spLocks noGrp="1" noChangeArrowheads="1"/>
          </p:cNvSpPr>
          <p:nvPr>
            <p:ph type="body" idx="1"/>
          </p:nvPr>
        </p:nvSpPr>
        <p:spPr>
          <a:xfrm>
            <a:off x="342900" y="1295400"/>
            <a:ext cx="8261350" cy="4438650"/>
          </a:xfrm>
        </p:spPr>
        <p:txBody>
          <a:bodyPr/>
          <a:lstStyle/>
          <a:p>
            <a:pPr marL="457200" indent="-457200">
              <a:lnSpc>
                <a:spcPct val="80000"/>
              </a:lnSpc>
            </a:pPr>
            <a:r>
              <a:rPr lang="en-US" sz="2000" smtClean="0"/>
              <a:t>The purpose of the Hydrology DWG is to provide a venue and mechanism for seeking technical and institutional solutions to the challenge of describing and exchanging data describing the state and location of water resources, both above and below the ground surface. </a:t>
            </a:r>
          </a:p>
          <a:p>
            <a:pPr marL="457200" indent="-457200">
              <a:lnSpc>
                <a:spcPct val="80000"/>
              </a:lnSpc>
            </a:pPr>
            <a:r>
              <a:rPr lang="en-US" sz="2000" smtClean="0"/>
              <a:t>The problem is two-fold. </a:t>
            </a:r>
          </a:p>
          <a:p>
            <a:pPr marL="793750" lvl="1" indent="-457200">
              <a:lnSpc>
                <a:spcPct val="80000"/>
              </a:lnSpc>
            </a:pPr>
            <a:r>
              <a:rPr lang="en-US" smtClean="0"/>
              <a:t>Firstly, a </a:t>
            </a:r>
            <a:r>
              <a:rPr lang="en-US" b="1" smtClean="0"/>
              <a:t>consistent set of formalisms that reflect core hydrologic notions</a:t>
            </a:r>
            <a:r>
              <a:rPr lang="en-US" smtClean="0"/>
              <a:t> (e.g. watersheds, estuaries, river channels, different types of measurement points), common types of hydrologic sampling features (e.g. transects, vertical profiles), typical ways of organizing hydrologic data (e.g. time series), and canonical usage scenarios for hydrologic data are needed. </a:t>
            </a:r>
          </a:p>
          <a:p>
            <a:pPr marL="793750" lvl="1" indent="-457200">
              <a:lnSpc>
                <a:spcPct val="80000"/>
              </a:lnSpc>
            </a:pPr>
            <a:r>
              <a:rPr lang="en-US" smtClean="0"/>
              <a:t>Secondly, such formalisms need to be </a:t>
            </a:r>
            <a:r>
              <a:rPr lang="en-US" b="1" smtClean="0"/>
              <a:t>expressed using general and consistent notation</a:t>
            </a:r>
            <a:r>
              <a:rPr lang="en-US" smtClean="0"/>
              <a:t> to ensure that hydrologic data are unambiguously interpreted and interoperable with data from related disciplines.</a:t>
            </a:r>
            <a:br>
              <a:rPr lang="en-US" smtClean="0"/>
            </a:br>
            <a:endParaRPr lang="en-US" sz="1600" smtClean="0"/>
          </a:p>
          <a:p>
            <a:pPr marL="457200" indent="-457200">
              <a:lnSpc>
                <a:spcPct val="80000"/>
              </a:lnSpc>
            </a:pPr>
            <a:r>
              <a:rPr lang="en-AU" sz="2000" smtClean="0"/>
              <a:t>Specialize work in ESS, and contribute to OGC methodology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p:spPr>
        <p:txBody>
          <a:bodyPr/>
          <a:lstStyle/>
          <a:p>
            <a:r>
              <a:rPr lang="en-AU" smtClean="0">
                <a:effectLst/>
              </a:rPr>
              <a:t>Looking forward</a:t>
            </a:r>
          </a:p>
        </p:txBody>
      </p:sp>
      <p:sp>
        <p:nvSpPr>
          <p:cNvPr id="6147" name="Rectangle 3"/>
          <p:cNvSpPr>
            <a:spLocks noGrp="1" noChangeArrowheads="1"/>
          </p:cNvSpPr>
          <p:nvPr>
            <p:ph type="body" idx="1"/>
          </p:nvPr>
        </p:nvSpPr>
        <p:spPr/>
        <p:txBody>
          <a:bodyPr/>
          <a:lstStyle/>
          <a:p>
            <a:r>
              <a:rPr lang="en-AU" dirty="0" smtClean="0"/>
              <a:t>Public mailing list </a:t>
            </a:r>
            <a:r>
              <a:rPr lang="en-AU" sz="1800" dirty="0" smtClean="0"/>
              <a:t>(</a:t>
            </a:r>
            <a:r>
              <a:rPr lang="en-US" sz="1800" u="sng" dirty="0" smtClean="0">
                <a:hlinkClick r:id="rId3"/>
              </a:rPr>
              <a:t>https://lists.opengeospatial.org/mailman/listinfo/hydro.dwg </a:t>
            </a:r>
            <a:r>
              <a:rPr lang="en-US" u="sng" dirty="0" smtClean="0"/>
              <a:t>) </a:t>
            </a:r>
            <a:r>
              <a:rPr lang="en-AU" dirty="0" smtClean="0"/>
              <a:t>and </a:t>
            </a:r>
            <a:r>
              <a:rPr lang="en-AU" dirty="0" err="1" smtClean="0"/>
              <a:t>Twiki</a:t>
            </a:r>
            <a:r>
              <a:rPr lang="en-AU" dirty="0" smtClean="0"/>
              <a:t> created: bringing in government, industry, research groups </a:t>
            </a:r>
          </a:p>
          <a:p>
            <a:r>
              <a:rPr lang="en-AU" dirty="0" smtClean="0"/>
              <a:t>Motions, and expectations for September TC:</a:t>
            </a:r>
          </a:p>
          <a:p>
            <a:pPr lvl="1"/>
            <a:r>
              <a:rPr lang="en-AU" dirty="0" smtClean="0"/>
              <a:t>For the next TC:</a:t>
            </a:r>
          </a:p>
          <a:p>
            <a:pPr lvl="2"/>
            <a:r>
              <a:rPr lang="en-AU" dirty="0" smtClean="0"/>
              <a:t>standards in WISE and other European initiative?</a:t>
            </a:r>
          </a:p>
          <a:p>
            <a:pPr lvl="2"/>
            <a:r>
              <a:rPr lang="en-AU" dirty="0" smtClean="0"/>
              <a:t>update from WMO, and WMO-nominated co-chair</a:t>
            </a:r>
          </a:p>
          <a:p>
            <a:pPr lvl="1"/>
            <a:r>
              <a:rPr lang="en-AU" dirty="0" smtClean="0"/>
              <a:t>Activities:</a:t>
            </a:r>
          </a:p>
          <a:p>
            <a:pPr lvl="2"/>
            <a:r>
              <a:rPr lang="en-AU" dirty="0" smtClean="0"/>
              <a:t>Explore hydro interoperability experiment</a:t>
            </a:r>
          </a:p>
          <a:p>
            <a:pPr lvl="2"/>
            <a:r>
              <a:rPr lang="en-AU" dirty="0" smtClean="0"/>
              <a:t>Discussion papers and Best practice documents?</a:t>
            </a:r>
          </a:p>
          <a:p>
            <a:pPr lvl="2"/>
            <a:r>
              <a:rPr lang="en-AU" dirty="0" smtClean="0"/>
              <a:t>Coordination with other OGC groups (</a:t>
            </a:r>
            <a:r>
              <a:rPr lang="en-AU" dirty="0" err="1" smtClean="0"/>
              <a:t>Meteo</a:t>
            </a:r>
            <a:r>
              <a:rPr lang="en-AU" dirty="0" smtClean="0"/>
              <a:t>, ESS, Oceans IE,..)</a:t>
            </a:r>
          </a:p>
          <a:p>
            <a:pPr lvl="2"/>
            <a:r>
              <a:rPr lang="en-AU" dirty="0" smtClean="0"/>
              <a:t>Evening get together?</a:t>
            </a:r>
          </a:p>
          <a:p>
            <a:pPr lvl="1"/>
            <a:r>
              <a:rPr lang="en-AU" dirty="0" smtClean="0"/>
              <a:t>Motions</a:t>
            </a:r>
          </a:p>
          <a:p>
            <a:pPr lvl="2"/>
            <a:r>
              <a:rPr lang="en-AU" dirty="0" smtClean="0"/>
              <a:t>OGC Co-chairs?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4294967295"/>
          </p:nvPr>
        </p:nvSpPr>
        <p:spPr bwMode="auto">
          <a:xfrm>
            <a:off x="6896100" y="6553200"/>
            <a:ext cx="1905000" cy="228600"/>
          </a:xfrm>
          <a:prstGeom prst="rect">
            <a:avLst/>
          </a:prstGeom>
          <a:ln>
            <a:miter lim="800000"/>
            <a:headEnd/>
            <a:tailEnd/>
          </a:ln>
        </p:spPr>
        <p:txBody>
          <a:bodyPr/>
          <a:lstStyle/>
          <a:p>
            <a:pPr algn="r">
              <a:defRPr/>
            </a:pPr>
            <a:r>
              <a:rPr lang="en-US" sz="900" b="0">
                <a:solidFill>
                  <a:srgbClr val="092E5C"/>
                </a:solidFill>
                <a:latin typeface="+mn-lt"/>
              </a:rPr>
              <a:t>Copyright © 2008, Open Geospatial Consortium, Inc., All Rights Reserved.</a:t>
            </a:r>
          </a:p>
        </p:txBody>
      </p:sp>
      <p:sp>
        <p:nvSpPr>
          <p:cNvPr id="34818" name="Rectangle 2"/>
          <p:cNvSpPr>
            <a:spLocks noGrp="1" noChangeArrowheads="1"/>
          </p:cNvSpPr>
          <p:nvPr>
            <p:ph type="title"/>
          </p:nvPr>
        </p:nvSpPr>
        <p:spPr/>
        <p:txBody>
          <a:bodyPr/>
          <a:lstStyle/>
          <a:p>
            <a:pPr>
              <a:defRPr/>
            </a:pPr>
            <a:r>
              <a:rPr lang="en-US"/>
              <a:t>Motions</a:t>
            </a:r>
          </a:p>
        </p:txBody>
      </p:sp>
      <p:sp>
        <p:nvSpPr>
          <p:cNvPr id="7172" name="Rectangle 3"/>
          <p:cNvSpPr>
            <a:spLocks noGrp="1" noChangeArrowheads="1"/>
          </p:cNvSpPr>
          <p:nvPr>
            <p:ph type="body" idx="1"/>
          </p:nvPr>
        </p:nvSpPr>
        <p:spPr/>
        <p:txBody>
          <a:bodyPr/>
          <a:lstStyle/>
          <a:p>
            <a:r>
              <a:rPr lang="en-US" smtClean="0"/>
              <a:t>Motion: Ilya Zaslavsky is nominated for Hydro DWG co-chair. </a:t>
            </a:r>
          </a:p>
          <a:p>
            <a:pPr lvl="1"/>
            <a:r>
              <a:rPr lang="en-US" smtClean="0"/>
              <a:t>Motion: David Lemon, CSIRO</a:t>
            </a:r>
          </a:p>
          <a:p>
            <a:pPr lvl="1"/>
            <a:r>
              <a:rPr lang="en-US" smtClean="0"/>
              <a:t>Second: Aaron Braeckel, NCAR</a:t>
            </a:r>
          </a:p>
          <a:p>
            <a:r>
              <a:rPr lang="en-US" smtClean="0"/>
              <a:t>No objection to unanimous consent</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
      <a:dk1>
        <a:srgbClr val="000000"/>
      </a:dk1>
      <a:lt1>
        <a:srgbClr val="FFFFCC"/>
      </a:lt1>
      <a:dk2>
        <a:srgbClr val="092E5C"/>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000" b="1" i="0" u="none" strike="noStrike" cap="none" normalizeH="0" baseline="0" smtClean="0">
            <a:ln>
              <a:noFill/>
            </a:ln>
            <a:solidFill>
              <a:schemeClr val="tx1"/>
            </a:solidFill>
            <a:effectLst/>
            <a:latin typeface="CG Times" pitchFamily="18" charset="0"/>
            <a:cs typeface="Arial"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000" b="1" i="0" u="none" strike="noStrike" cap="none" normalizeH="0" baseline="0" smtClean="0">
            <a:ln>
              <a:noFill/>
            </a:ln>
            <a:solidFill>
              <a:schemeClr val="tx1"/>
            </a:solidFill>
            <a:effectLst/>
            <a:latin typeface="CG Times" pitchFamily="18" charset="0"/>
            <a:cs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8887</TotalTime>
  <Words>576</Words>
  <Application>Microsoft Office PowerPoint</Application>
  <PresentationFormat>On-screen Show (4:3)</PresentationFormat>
  <Paragraphs>38</Paragraphs>
  <Slides>5</Slides>
  <Notes>4</Notes>
  <HiddenSlides>0</HiddenSlides>
  <MMClips>0</MMClips>
  <ScaleCrop>false</ScaleCrop>
  <HeadingPairs>
    <vt:vector size="4" baseType="variant">
      <vt:variant>
        <vt:lpstr>Design Template</vt:lpstr>
      </vt:variant>
      <vt:variant>
        <vt:i4>1</vt:i4>
      </vt:variant>
      <vt:variant>
        <vt:lpstr>Slide Titles</vt:lpstr>
      </vt:variant>
      <vt:variant>
        <vt:i4>5</vt:i4>
      </vt:variant>
    </vt:vector>
  </HeadingPairs>
  <TitlesOfParts>
    <vt:vector size="6" baseType="lpstr">
      <vt:lpstr>Default Design</vt:lpstr>
      <vt:lpstr>Hydrology DWG</vt:lpstr>
      <vt:lpstr>Agenda</vt:lpstr>
      <vt:lpstr>DWG Charter and Mission</vt:lpstr>
      <vt:lpstr>Looking forward</vt:lpstr>
      <vt:lpstr>Motions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Group Title]</dc:title>
  <dc:creator>Greg Buehler</dc:creator>
  <cp:lastModifiedBy>David Arctur</cp:lastModifiedBy>
  <cp:revision>55</cp:revision>
  <dcterms:created xsi:type="dcterms:W3CDTF">2009-06-22T18:21:14Z</dcterms:created>
  <dcterms:modified xsi:type="dcterms:W3CDTF">2009-06-22T18:32:00Z</dcterms:modified>
</cp:coreProperties>
</file>